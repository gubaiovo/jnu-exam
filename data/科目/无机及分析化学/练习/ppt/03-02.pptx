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661" r:id="rId2"/>
  </p:sldMasterIdLst>
  <p:notesMasterIdLst>
    <p:notesMasterId r:id="rId9"/>
  </p:notesMasterIdLst>
  <p:sldIdLst>
    <p:sldId id="256" r:id="rId3"/>
    <p:sldId id="277" r:id="rId4"/>
    <p:sldId id="278" r:id="rId5"/>
    <p:sldId id="285" r:id="rId6"/>
    <p:sldId id="282" r:id="rId7"/>
    <p:sldId id="284" r:id="rId8"/>
  </p:sldIdLst>
  <p:sldSz cx="11522075" cy="6480175"/>
  <p:notesSz cx="6858000" cy="9144000"/>
  <p:custDataLst>
    <p:tags r:id="rId10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FFFFFF"/>
    <a:srgbClr val="F8F8F8"/>
    <a:srgbClr val="FF00FF"/>
    <a:srgbClr val="0000FF"/>
    <a:srgbClr val="FF330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>
      <p:cViewPr varScale="1">
        <p:scale>
          <a:sx n="73" d="100"/>
          <a:sy n="73" d="100"/>
        </p:scale>
        <p:origin x="750" y="66"/>
      </p:cViewPr>
      <p:guideLst>
        <p:guide orient="horz" pos="2034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9A7ED8B0-C072-4290-B3D5-C7EB83048B16}" type="datetimeFigureOut">
              <a:rPr lang="zh-CN" altLang="en-US"/>
              <a:pPr>
                <a:defRPr/>
              </a:pPr>
              <a:t>2022/9/14</a:t>
            </a:fld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7A5D593A-BF71-450F-B548-BD1921C332A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432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8469" y="863823"/>
            <a:ext cx="10369550" cy="4276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1pPr>
            <a:lvl2pPr marL="4572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2pPr>
            <a:lvl3pPr marL="9144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3pPr>
            <a:lvl4pPr marL="13716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4pPr>
            <a:lvl5pPr marL="1828800" indent="0">
              <a:buNone/>
              <a:defRPr sz="2500">
                <a:latin typeface="楷体_GB2312" pitchFamily="49" charset="-122"/>
                <a:ea typeface="楷体_GB2312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2"/>
          <p:cNvGrpSpPr>
            <a:grpSpLocks/>
          </p:cNvGrpSpPr>
          <p:nvPr userDrawn="1"/>
        </p:nvGrpSpPr>
        <p:grpSpPr bwMode="auto">
          <a:xfrm>
            <a:off x="-34925" y="107950"/>
            <a:ext cx="11588750" cy="6408738"/>
            <a:chOff x="-22" y="68"/>
            <a:chExt cx="7300" cy="4037"/>
          </a:xfrm>
        </p:grpSpPr>
        <p:sp>
          <p:nvSpPr>
            <p:cNvPr id="1028" name="Freeform 1027"/>
            <p:cNvSpPr>
              <a:spLocks/>
            </p:cNvSpPr>
            <p:nvPr userDrawn="1"/>
          </p:nvSpPr>
          <p:spPr bwMode="auto">
            <a:xfrm>
              <a:off x="80" y="431"/>
              <a:ext cx="7080" cy="3174"/>
            </a:xfrm>
            <a:custGeom>
              <a:avLst/>
              <a:gdLst>
                <a:gd name="T0" fmla="*/ 12781 w 5269"/>
                <a:gd name="T1" fmla="*/ 0 h 2977"/>
                <a:gd name="T2" fmla="*/ 0 w 5269"/>
                <a:gd name="T3" fmla="*/ 0 h 2977"/>
                <a:gd name="T4" fmla="*/ 0 w 5269"/>
                <a:gd name="T5" fmla="*/ 3607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0" y="0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B2B2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grpSp>
          <p:nvGrpSpPr>
            <p:cNvPr id="1029" name="Group 1042"/>
            <p:cNvGrpSpPr>
              <a:grpSpLocks/>
            </p:cNvGrpSpPr>
            <p:nvPr userDrawn="1"/>
          </p:nvGrpSpPr>
          <p:grpSpPr bwMode="auto">
            <a:xfrm rot="5400000">
              <a:off x="3597" y="-3112"/>
              <a:ext cx="68" cy="7141"/>
              <a:chOff x="336" y="1103"/>
              <a:chExt cx="97" cy="2785"/>
            </a:xfrm>
          </p:grpSpPr>
          <p:sp>
            <p:nvSpPr>
              <p:cNvPr id="1039" name="Rectangle 1043"/>
              <p:cNvSpPr>
                <a:spLocks noChangeArrowheads="1"/>
              </p:cNvSpPr>
              <p:nvPr userDrawn="1"/>
            </p:nvSpPr>
            <p:spPr bwMode="auto">
              <a:xfrm>
                <a:off x="338" y="1104"/>
                <a:ext cx="97" cy="2784"/>
              </a:xfrm>
              <a:prstGeom prst="rect">
                <a:avLst/>
              </a:prstGeom>
              <a:solidFill>
                <a:srgbClr val="DDDDDD"/>
              </a:solidFill>
              <a:ln w="1587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40" name="Freeform 1044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41" name="Freeform 1045"/>
              <p:cNvSpPr>
                <a:spLocks/>
              </p:cNvSpPr>
              <p:nvPr userDrawn="1"/>
            </p:nvSpPr>
            <p:spPr bwMode="auto">
              <a:xfrm>
                <a:off x="338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5875" cap="rnd">
                <a:noFill/>
                <a:round/>
                <a:headEnd type="none" w="sm" len="sm"/>
                <a:tailEnd type="none" w="sm" len="sm"/>
              </a:ln>
            </p:spPr>
            <p:txBody>
              <a:bodyPr rot="10800000" vert="eaVert"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0" name="Freeform 1028"/>
            <p:cNvSpPr>
              <a:spLocks/>
            </p:cNvSpPr>
            <p:nvPr userDrawn="1"/>
          </p:nvSpPr>
          <p:spPr bwMode="auto">
            <a:xfrm>
              <a:off x="96" y="431"/>
              <a:ext cx="7080" cy="3174"/>
            </a:xfrm>
            <a:custGeom>
              <a:avLst/>
              <a:gdLst>
                <a:gd name="T0" fmla="*/ 12781 w 5269"/>
                <a:gd name="T1" fmla="*/ 0 h 2977"/>
                <a:gd name="T2" fmla="*/ 12781 w 5269"/>
                <a:gd name="T3" fmla="*/ 3607 h 2977"/>
                <a:gd name="T4" fmla="*/ 0 w 5269"/>
                <a:gd name="T5" fmla="*/ 3607 h 29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69" h="2977">
                  <a:moveTo>
                    <a:pt x="5268" y="0"/>
                  </a:moveTo>
                  <a:lnTo>
                    <a:pt x="5268" y="2976"/>
                  </a:lnTo>
                  <a:lnTo>
                    <a:pt x="0" y="2976"/>
                  </a:lnTo>
                </a:path>
              </a:pathLst>
            </a:custGeom>
            <a:noFill/>
            <a:ln w="127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1" name="Rectangle 1036"/>
            <p:cNvSpPr>
              <a:spLocks noChangeArrowheads="1"/>
            </p:cNvSpPr>
            <p:nvPr userDrawn="1"/>
          </p:nvSpPr>
          <p:spPr bwMode="auto">
            <a:xfrm>
              <a:off x="61" y="68"/>
              <a:ext cx="7141" cy="3584"/>
            </a:xfrm>
            <a:prstGeom prst="rect">
              <a:avLst/>
            </a:prstGeom>
            <a:noFill/>
            <a:ln w="254000">
              <a:pattFill prst="dkHorz">
                <a:fgClr>
                  <a:srgbClr val="C8C8C8"/>
                </a:fgClr>
                <a:bgClr>
                  <a:schemeClr val="bg1"/>
                </a:bgClr>
              </a:patt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1600">
                <a:ea typeface="楷体_GB2312" pitchFamily="49" charset="-122"/>
              </a:endParaRPr>
            </a:p>
          </p:txBody>
        </p:sp>
        <p:grpSp>
          <p:nvGrpSpPr>
            <p:cNvPr id="1032" name="Group 1038"/>
            <p:cNvGrpSpPr>
              <a:grpSpLocks/>
            </p:cNvGrpSpPr>
            <p:nvPr userDrawn="1"/>
          </p:nvGrpSpPr>
          <p:grpSpPr bwMode="auto">
            <a:xfrm>
              <a:off x="306" y="584"/>
              <a:ext cx="68" cy="2879"/>
              <a:chOff x="336" y="1103"/>
              <a:chExt cx="97" cy="2785"/>
            </a:xfrm>
          </p:grpSpPr>
          <p:sp>
            <p:nvSpPr>
              <p:cNvPr id="1036" name="Rectangle 1039"/>
              <p:cNvSpPr>
                <a:spLocks noChangeArrowheads="1"/>
              </p:cNvSpPr>
              <p:nvPr userDrawn="1"/>
            </p:nvSpPr>
            <p:spPr bwMode="auto">
              <a:xfrm>
                <a:off x="336" y="1104"/>
                <a:ext cx="96" cy="2784"/>
              </a:xfrm>
              <a:prstGeom prst="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zh-CN" sz="2400">
                  <a:ea typeface="宋体" pitchFamily="2" charset="-122"/>
                </a:endParaRPr>
              </a:p>
            </p:txBody>
          </p:sp>
          <p:sp>
            <p:nvSpPr>
              <p:cNvPr id="1037" name="Freeform 1040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96 w 97"/>
                  <a:gd name="T3" fmla="*/ 2784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96" y="2784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  <p:sp>
            <p:nvSpPr>
              <p:cNvPr id="1038" name="Freeform 1041"/>
              <p:cNvSpPr>
                <a:spLocks/>
              </p:cNvSpPr>
              <p:nvPr userDrawn="1"/>
            </p:nvSpPr>
            <p:spPr bwMode="auto">
              <a:xfrm>
                <a:off x="336" y="1103"/>
                <a:ext cx="97" cy="2785"/>
              </a:xfrm>
              <a:custGeom>
                <a:avLst/>
                <a:gdLst>
                  <a:gd name="T0" fmla="*/ 0 w 97"/>
                  <a:gd name="T1" fmla="*/ 2784 h 2785"/>
                  <a:gd name="T2" fmla="*/ 0 w 97"/>
                  <a:gd name="T3" fmla="*/ 0 h 2785"/>
                  <a:gd name="T4" fmla="*/ 96 w 97"/>
                  <a:gd name="T5" fmla="*/ 0 h 2785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2785"/>
                  <a:gd name="T11" fmla="*/ 97 w 97"/>
                  <a:gd name="T12" fmla="*/ 2785 h 2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2785">
                    <a:moveTo>
                      <a:pt x="0" y="2784"/>
                    </a:moveTo>
                    <a:lnTo>
                      <a:pt x="0" y="0"/>
                    </a:lnTo>
                    <a:lnTo>
                      <a:pt x="96" y="0"/>
                    </a:lnTo>
                  </a:path>
                </a:pathLst>
              </a:custGeom>
              <a:solidFill>
                <a:srgbClr val="DDDDDD"/>
              </a:solidFill>
              <a:ln w="12700" cap="rnd">
                <a:solidFill>
                  <a:srgbClr val="FFFFFF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宋体" pitchFamily="2" charset="-122"/>
                </a:endParaRPr>
              </a:p>
            </p:txBody>
          </p:sp>
        </p:grpSp>
        <p:sp>
          <p:nvSpPr>
            <p:cNvPr id="1033" name="Rectangle 139" descr="深色横线"/>
            <p:cNvSpPr>
              <a:spLocks noChangeArrowheads="1"/>
            </p:cNvSpPr>
            <p:nvPr userDrawn="1"/>
          </p:nvSpPr>
          <p:spPr bwMode="auto">
            <a:xfrm>
              <a:off x="-22" y="3652"/>
              <a:ext cx="7300" cy="453"/>
            </a:xfrm>
            <a:prstGeom prst="rect">
              <a:avLst/>
            </a:prstGeom>
            <a:pattFill prst="dkHorz">
              <a:fgClr>
                <a:srgbClr val="C8C8C8"/>
              </a:fgClr>
              <a:bgClr>
                <a:schemeClr val="bg1"/>
              </a:bgClr>
            </a:patt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4" name="AutoShape 143"/>
            <p:cNvSpPr>
              <a:spLocks noChangeArrowheads="1"/>
            </p:cNvSpPr>
            <p:nvPr userDrawn="1"/>
          </p:nvSpPr>
          <p:spPr bwMode="auto">
            <a:xfrm>
              <a:off x="136" y="136"/>
              <a:ext cx="6994" cy="295"/>
            </a:xfrm>
            <a:prstGeom prst="flowChartAlternateProcess">
              <a:avLst/>
            </a:prstGeom>
            <a:solidFill>
              <a:srgbClr val="EAEAEA"/>
            </a:solidFill>
            <a:ln w="31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1035" name="Rectangle 146"/>
            <p:cNvSpPr>
              <a:spLocks noChangeArrowheads="1"/>
            </p:cNvSpPr>
            <p:nvPr userDrawn="1"/>
          </p:nvSpPr>
          <p:spPr bwMode="auto">
            <a:xfrm>
              <a:off x="136" y="499"/>
              <a:ext cx="6982" cy="3083"/>
            </a:xfrm>
            <a:prstGeom prst="rect">
              <a:avLst/>
            </a:prstGeom>
            <a:solidFill>
              <a:srgbClr val="EAEAEA">
                <a:alpha val="85097"/>
              </a:srgbClr>
            </a:solidFill>
            <a:ln w="19050">
              <a:solidFill>
                <a:srgbClr val="F8F8F8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ea typeface="宋体" pitchFamily="2" charset="-122"/>
              </a:endParaRPr>
            </a:p>
          </p:txBody>
        </p:sp>
      </p:grpSp>
      <p:sp>
        <p:nvSpPr>
          <p:cNvPr id="1027" name="Rectangle 149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1036955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+mj-lt"/>
          <a:ea typeface="黑体" pitchFamily="2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rgbClr val="FF0000"/>
          </a:solidFill>
          <a:latin typeface="Times New Roman" pitchFamily="18" charset="0"/>
          <a:ea typeface="黑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slow">
    <p:split orient="vert"/>
  </p:transition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03-01.pptx" TargetMode="External"/><Relationship Id="rId7" Type="http://schemas.openxmlformats.org/officeDocument/2006/relationships/hyperlink" Target="03-06.ppt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hyperlink" Target="03-05.pptx" TargetMode="External"/><Relationship Id="rId5" Type="http://schemas.openxmlformats.org/officeDocument/2006/relationships/hyperlink" Target="03-04.pptx" TargetMode="External"/><Relationship Id="rId4" Type="http://schemas.openxmlformats.org/officeDocument/2006/relationships/hyperlink" Target="03-03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3/03-02-&#20363;&#39064;.pptx#-1,1,&#24187;&#28783;&#29255; 1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hyperlink" Target="../../03EXAMPLE/ch03/03-02-&#20363;&#39064;.pptx#-1,2,&#24187;&#28783;&#29255; 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../../03EXAMPLE/ch03/03-02-&#20363;&#39064;.pptx#-1,3,&#24187;&#28783;&#29255; 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../03EXAMPLE/ch03/03-02-&#20363;&#39064;.pptx#-1,4,&#24187;&#28783;&#29255; 4" TargetMode="External"/><Relationship Id="rId2" Type="http://schemas.openxmlformats.org/officeDocument/2006/relationships/hyperlink" Target="../../04MEDIA/ch03/&#21516;&#31163;&#23376;&#25928;&#24212;.sw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03-03.pptx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3117831" y="954071"/>
            <a:ext cx="5643602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defRPr/>
            </a:pP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  <a:hlinkClick r:id="rId3" action="ppaction://hlinkpres?slideindex=1&amp;slidetitle="/>
              </a:rPr>
              <a:t>3.1</a:t>
            </a:r>
            <a:r>
              <a:rPr 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 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</a:t>
            </a:r>
            <a:r>
              <a:rPr lang="zh-CN" altLang="en-US" sz="2800" b="1" kern="0" dirty="0">
                <a:solidFill>
                  <a:srgbClr val="FFFF00"/>
                </a:solidFill>
                <a:ea typeface="黑体" pitchFamily="49" charset="-122"/>
                <a:cs typeface="+mj-cs"/>
              </a:rPr>
              <a:t>碱质子理论与</a:t>
            </a:r>
            <a:r>
              <a:rPr lang="zh-CN" altLang="en-US" sz="2800" b="1" kern="0" dirty="0" smtClean="0">
                <a:solidFill>
                  <a:srgbClr val="FFFF00"/>
                </a:solidFill>
                <a:ea typeface="黑体" pitchFamily="49" charset="-122"/>
                <a:cs typeface="+mj-cs"/>
              </a:rPr>
              <a:t>酸碱平衡</a:t>
            </a:r>
            <a:endParaRPr lang="en-US" altLang="zh-CN" sz="2800" b="1" kern="0" dirty="0" smtClean="0">
              <a:solidFill>
                <a:srgbClr val="FFFF00"/>
              </a:solidFill>
              <a:ea typeface="黑体" pitchFamily="49" charset="-122"/>
              <a:cs typeface="+mj-cs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3.2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酸碱平衡的移动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4" action="ppaction://hlinkpres?slideindex=1&amp;slidetitle="/>
              </a:rPr>
              <a:t>3.3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组分的分布与浓度的计算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5" action="ppaction://hlinkpres?slideindex=1&amp;slidetitle="/>
              </a:rPr>
              <a:t>3.4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溶液酸度的计算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6" action="ppaction://hlinkpres?slideindex=1&amp;slidetitle="/>
              </a:rPr>
              <a:t>3.5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溶液酸度的控制与酸碱指示剂</a:t>
            </a:r>
            <a:endParaRPr lang="en-US" altLang="zh-CN" sz="2800" b="1" dirty="0" smtClean="0">
              <a:solidFill>
                <a:srgbClr val="FFFFFF"/>
              </a:solidFill>
              <a:ea typeface="黑体" pitchFamily="49" charset="-122"/>
            </a:endParaRPr>
          </a:p>
          <a:p>
            <a:pPr eaLnBrk="0" hangingPunct="0">
              <a:lnSpc>
                <a:spcPct val="120000"/>
              </a:lnSpc>
              <a:defRPr/>
            </a:pP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  <a:hlinkClick r:id="rId7" action="ppaction://hlinkpres?slideindex=1&amp;slidetitle="/>
              </a:rPr>
              <a:t>3.6</a:t>
            </a:r>
            <a:r>
              <a:rPr lang="en-US" altLang="zh-CN" sz="2800" b="1" dirty="0" smtClean="0">
                <a:solidFill>
                  <a:srgbClr val="FFFFFF"/>
                </a:solidFill>
                <a:ea typeface="黑体" pitchFamily="49" charset="-122"/>
              </a:rPr>
              <a:t> </a:t>
            </a:r>
            <a:r>
              <a:rPr lang="zh-CN" altLang="en-US" sz="2800" b="1" dirty="0" smtClean="0">
                <a:solidFill>
                  <a:srgbClr val="FFFFFF"/>
                </a:solidFill>
                <a:ea typeface="黑体" pitchFamily="49" charset="-122"/>
              </a:rPr>
              <a:t>酸碱滴定法</a:t>
            </a:r>
            <a:endParaRPr lang="en-US" altLang="zh-CN" sz="28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ea typeface="黑体" pitchFamily="49" charset="-122"/>
              <a:cs typeface="+mj-cs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60350" y="239713"/>
            <a:ext cx="9890125" cy="430212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3.2</a:t>
            </a:r>
            <a:r>
              <a:rPr lang="zh-CN" altLang="en-US" smtClean="0">
                <a:ea typeface="黑体" pitchFamily="49" charset="-122"/>
              </a:rPr>
              <a:t>影响酸碱解离的主要因素</a:t>
            </a:r>
            <a:endParaRPr lang="zh-CN" altLang="en-US" sz="1800" smtClean="0">
              <a:ea typeface="黑体" pitchFamily="49" charset="-122"/>
            </a:endParaRPr>
          </a:p>
        </p:txBody>
      </p:sp>
      <p:sp>
        <p:nvSpPr>
          <p:cNvPr id="3075" name="AutoShape 6">
            <a:hlinkClick r:id="rId2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3903663" y="2025650"/>
            <a:ext cx="490537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3076" name="AutoShape 7">
            <a:hlinkClick r:id="rId3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3903663" y="2811463"/>
            <a:ext cx="490537" cy="407987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44040" name="Text Box 8"/>
          <p:cNvSpPr txBox="1">
            <a:spLocks noChangeArrowheads="1"/>
          </p:cNvSpPr>
          <p:nvPr/>
        </p:nvSpPr>
        <p:spPr bwMode="auto">
          <a:xfrm>
            <a:off x="4403725" y="1597025"/>
            <a:ext cx="3684588" cy="2678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800" b="1">
                <a:ea typeface="黑体" pitchFamily="49" charset="-122"/>
              </a:rPr>
              <a:t>3.2.1 </a:t>
            </a:r>
            <a:r>
              <a:rPr lang="zh-CN" altLang="en-US" sz="2800" b="1">
                <a:ea typeface="黑体" pitchFamily="49" charset="-122"/>
              </a:rPr>
              <a:t>稀释定律</a:t>
            </a:r>
          </a:p>
          <a:p>
            <a:pPr>
              <a:lnSpc>
                <a:spcPct val="200000"/>
              </a:lnSpc>
            </a:pPr>
            <a:r>
              <a:rPr lang="en-US" altLang="zh-CN" sz="2800" b="1">
                <a:ea typeface="黑体" pitchFamily="49" charset="-122"/>
              </a:rPr>
              <a:t>3.2.2 </a:t>
            </a:r>
            <a:r>
              <a:rPr lang="zh-CN" altLang="en-US" sz="2800" b="1">
                <a:ea typeface="黑体" pitchFamily="49" charset="-122"/>
              </a:rPr>
              <a:t>同离子效应</a:t>
            </a:r>
          </a:p>
          <a:p>
            <a:pPr>
              <a:lnSpc>
                <a:spcPct val="200000"/>
              </a:lnSpc>
            </a:pPr>
            <a:r>
              <a:rPr lang="en-US" altLang="zh-CN" sz="2800" b="1">
                <a:ea typeface="黑体" pitchFamily="49" charset="-122"/>
              </a:rPr>
              <a:t>3.2.3 </a:t>
            </a:r>
            <a:r>
              <a:rPr lang="zh-CN" altLang="en-US" sz="2800" b="1">
                <a:ea typeface="黑体" pitchFamily="49" charset="-122"/>
              </a:rPr>
              <a:t>其它因素</a:t>
            </a:r>
          </a:p>
        </p:txBody>
      </p:sp>
      <p:sp>
        <p:nvSpPr>
          <p:cNvPr id="3078" name="AutoShape 1">
            <a:hlinkClick r:id="rId4" action="ppaction://hlinksldjump" highlightClick="1"/>
          </p:cNvPr>
          <p:cNvSpPr>
            <a:spLocks noChangeAspect="1" noChangeArrowheads="1"/>
          </p:cNvSpPr>
          <p:nvPr/>
        </p:nvSpPr>
        <p:spPr bwMode="auto">
          <a:xfrm>
            <a:off x="3903663" y="3597275"/>
            <a:ext cx="490537" cy="407988"/>
          </a:xfrm>
          <a:prstGeom prst="actionButtonForwardNext">
            <a:avLst/>
          </a:prstGeom>
          <a:solidFill>
            <a:srgbClr val="C0C0C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3079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80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440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40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440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7" name="Rectangle 11"/>
          <p:cNvSpPr>
            <a:spLocks noChangeArrowheads="1"/>
          </p:cNvSpPr>
          <p:nvPr/>
        </p:nvSpPr>
        <p:spPr bwMode="auto">
          <a:xfrm>
            <a:off x="2760663" y="1902990"/>
            <a:ext cx="2449512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 dirty="0">
                <a:latin typeface="+mn-ea"/>
                <a:ea typeface="+mn-ea"/>
              </a:rPr>
              <a:t>n</a:t>
            </a:r>
            <a:r>
              <a:rPr lang="zh-CN" altLang="en-US" sz="2500" b="1" baseline="-25000" dirty="0">
                <a:latin typeface="楷体_GB2312" pitchFamily="49" charset="-122"/>
                <a:ea typeface="楷体_GB2312" pitchFamily="49" charset="-122"/>
              </a:rPr>
              <a:t>该弱酸</a:t>
            </a:r>
            <a:r>
              <a:rPr lang="en-US" altLang="zh-CN" sz="2500" b="1" baseline="-2500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500" b="1" baseline="-25000" dirty="0">
                <a:latin typeface="楷体_GB2312" pitchFamily="49" charset="-122"/>
                <a:ea typeface="楷体_GB2312" pitchFamily="49" charset="-122"/>
              </a:rPr>
              <a:t>或弱碱</a:t>
            </a:r>
            <a:r>
              <a:rPr lang="en-US" altLang="zh-CN" sz="2500" b="1" baseline="-25000" dirty="0"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24588" name="Rectangle 12"/>
          <p:cNvSpPr>
            <a:spLocks noChangeArrowheads="1"/>
          </p:cNvSpPr>
          <p:nvPr/>
        </p:nvSpPr>
        <p:spPr bwMode="auto">
          <a:xfrm>
            <a:off x="974725" y="1688677"/>
            <a:ext cx="1333500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解离度</a:t>
            </a:r>
            <a:r>
              <a:rPr lang="en-US" altLang="zh-CN" sz="2500" b="1" dirty="0">
                <a:latin typeface="+mn-ea"/>
                <a:ea typeface="+mn-ea"/>
              </a:rPr>
              <a:t>=</a:t>
            </a:r>
          </a:p>
        </p:txBody>
      </p:sp>
      <p:sp>
        <p:nvSpPr>
          <p:cNvPr id="24590" name="Line 14"/>
          <p:cNvSpPr>
            <a:spLocks noChangeShapeType="1"/>
          </p:cNvSpPr>
          <p:nvPr/>
        </p:nvSpPr>
        <p:spPr bwMode="auto">
          <a:xfrm flipV="1">
            <a:off x="2474913" y="1902990"/>
            <a:ext cx="3630612" cy="23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91" name="Rectangle 15"/>
          <p:cNvSpPr>
            <a:spLocks noChangeArrowheads="1"/>
          </p:cNvSpPr>
          <p:nvPr/>
        </p:nvSpPr>
        <p:spPr bwMode="auto">
          <a:xfrm>
            <a:off x="2546350" y="1430958"/>
            <a:ext cx="3813175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i="1" dirty="0">
                <a:latin typeface="+mn-ea"/>
                <a:ea typeface="+mn-ea"/>
              </a:rPr>
              <a:t>n</a:t>
            </a:r>
            <a:r>
              <a:rPr lang="zh-CN" altLang="en-US" sz="2500" b="1" baseline="-25000" dirty="0">
                <a:latin typeface="楷体_GB2312" pitchFamily="49" charset="-122"/>
                <a:ea typeface="楷体_GB2312" pitchFamily="49" charset="-122"/>
              </a:rPr>
              <a:t>已解离部分的弱酸</a:t>
            </a:r>
            <a:r>
              <a:rPr lang="en-US" altLang="zh-CN" sz="2500" b="1" baseline="-25000" dirty="0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500" b="1" baseline="-25000" dirty="0">
                <a:latin typeface="楷体_GB2312" pitchFamily="49" charset="-122"/>
                <a:ea typeface="楷体_GB2312" pitchFamily="49" charset="-122"/>
              </a:rPr>
              <a:t>或弱碱</a:t>
            </a:r>
            <a:r>
              <a:rPr lang="en-US" altLang="zh-CN" sz="2500" b="1" baseline="-25000" dirty="0"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500" b="1" baseline="300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92" name="Rectangle 16"/>
          <p:cNvSpPr>
            <a:spLocks noChangeArrowheads="1"/>
          </p:cNvSpPr>
          <p:nvPr/>
        </p:nvSpPr>
        <p:spPr bwMode="auto">
          <a:xfrm>
            <a:off x="704821" y="3403176"/>
            <a:ext cx="912812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  <a:hlinkClick r:id="rId3" action="ppaction://hlinkpres?slideindex=1&amp;slidetitle=幻灯片 1"/>
              </a:rPr>
              <a:t>解</a:t>
            </a:r>
            <a:r>
              <a:rPr lang="en-US" altLang="zh-CN" sz="2500" b="1" dirty="0" smtClean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chemeClr val="bg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600" name="Rectangle 24"/>
          <p:cNvSpPr>
            <a:spLocks noChangeArrowheads="1"/>
          </p:cNvSpPr>
          <p:nvPr/>
        </p:nvSpPr>
        <p:spPr bwMode="auto">
          <a:xfrm>
            <a:off x="579438" y="863600"/>
            <a:ext cx="2051050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(1)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解离度</a:t>
            </a:r>
            <a:r>
              <a:rPr lang="zh-CN" altLang="en-US" sz="2500" b="1" i="1" dirty="0">
                <a:solidFill>
                  <a:srgbClr val="FF0000"/>
                </a:solidFill>
                <a:latin typeface="+mn-ea"/>
                <a:ea typeface="+mn-ea"/>
                <a:sym typeface="Symbol" pitchFamily="18" charset="2"/>
              </a:rPr>
              <a:t></a:t>
            </a:r>
            <a:r>
              <a:rPr lang="zh-CN" altLang="en-US" sz="2500" b="1" dirty="0">
                <a:solidFill>
                  <a:srgbClr val="FF0000"/>
                </a:solidFill>
                <a:latin typeface="+mn-ea"/>
                <a:ea typeface="楷体_GB2312" pitchFamily="49" charset="-122"/>
                <a:sym typeface="Symbol" pitchFamily="18" charset="2"/>
              </a:rPr>
              <a:t>：</a:t>
            </a:r>
            <a:endParaRPr lang="en-US" altLang="zh-CN" sz="2500" b="1" dirty="0">
              <a:solidFill>
                <a:srgbClr val="FF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4" name="Rectangle 32"/>
          <p:cNvSpPr>
            <a:spLocks noGrp="1" noChangeArrowheads="1"/>
          </p:cNvSpPr>
          <p:nvPr>
            <p:ph type="title"/>
          </p:nvPr>
        </p:nvSpPr>
        <p:spPr>
          <a:xfrm>
            <a:off x="122238" y="287338"/>
            <a:ext cx="10369550" cy="431800"/>
          </a:xfrm>
        </p:spPr>
        <p:txBody>
          <a:bodyPr/>
          <a:lstStyle/>
          <a:p>
            <a:r>
              <a:rPr lang="en-US" altLang="zh-CN" dirty="0" smtClean="0">
                <a:ea typeface="黑体" pitchFamily="49" charset="-122"/>
              </a:rPr>
              <a:t>3.2.1</a:t>
            </a:r>
            <a:r>
              <a:rPr lang="zh-CN" altLang="en-US" dirty="0" smtClean="0">
                <a:ea typeface="黑体" pitchFamily="49" charset="-122"/>
              </a:rPr>
              <a:t>稀释定律</a:t>
            </a:r>
          </a:p>
        </p:txBody>
      </p:sp>
      <p:sp>
        <p:nvSpPr>
          <p:cNvPr id="19" name="Rectangle 16"/>
          <p:cNvSpPr>
            <a:spLocks noChangeArrowheads="1"/>
          </p:cNvSpPr>
          <p:nvPr/>
        </p:nvSpPr>
        <p:spPr bwMode="auto">
          <a:xfrm>
            <a:off x="760377" y="4689060"/>
            <a:ext cx="912812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 smtClean="0">
                <a:latin typeface="楷体_GB2312" pitchFamily="49" charset="-122"/>
                <a:ea typeface="楷体_GB2312" pitchFamily="49" charset="-122"/>
                <a:hlinkClick r:id="rId4" action="ppaction://hlinkpres?slideindex=2&amp;slidetitle=幻灯片 2"/>
              </a:rPr>
              <a:t>解</a:t>
            </a:r>
            <a:r>
              <a:rPr lang="en-US" altLang="zh-CN" sz="2500" b="1" dirty="0" smtClean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5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1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832052"/>
            <a:ext cx="360363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88939" y="2515430"/>
            <a:ext cx="10787099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solidFill>
                  <a:schemeClr val="bg2"/>
                </a:solidFill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solidFill>
                  <a:schemeClr val="bg2"/>
                </a:solidFill>
                <a:latin typeface="+mn-lt"/>
                <a:ea typeface="楷体_GB2312" pitchFamily="49" charset="-122"/>
              </a:rPr>
              <a:t>1.</a:t>
            </a:r>
            <a:r>
              <a:rPr lang="zh-CN" altLang="en-US" sz="2500" b="1" dirty="0" smtClean="0">
                <a:solidFill>
                  <a:schemeClr val="bg2"/>
                </a:solidFill>
                <a:latin typeface="+mn-lt"/>
                <a:ea typeface="楷体_GB2312" pitchFamily="49" charset="-122"/>
              </a:rPr>
              <a:t>已知</a:t>
            </a:r>
            <a:r>
              <a:rPr lang="en-US" altLang="zh-CN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25℃</a:t>
            </a:r>
            <a:r>
              <a:rPr lang="zh-CN" altLang="en-US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时</a:t>
            </a:r>
            <a:r>
              <a:rPr lang="en-US" altLang="zh-CN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, 0.200 mol·L</a:t>
            </a:r>
            <a:r>
              <a:rPr lang="en-US" altLang="zh-CN" sz="2500" b="1" baseline="30000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-1</a:t>
            </a:r>
            <a:r>
              <a:rPr lang="zh-CN" altLang="en-US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氨水的解离度为</a:t>
            </a:r>
            <a:r>
              <a:rPr lang="en-US" altLang="zh-CN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0.93%. </a:t>
            </a:r>
            <a:r>
              <a:rPr lang="zh-CN" altLang="en-US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求溶液的</a:t>
            </a:r>
            <a:r>
              <a:rPr lang="en-US" altLang="zh-CN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[H</a:t>
            </a:r>
            <a:r>
              <a:rPr lang="en-US" altLang="zh-CN" sz="2500" b="1" baseline="30000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+</a:t>
            </a:r>
            <a:r>
              <a:rPr lang="en-US" altLang="zh-CN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]</a:t>
            </a:r>
            <a:r>
              <a:rPr lang="zh-CN" altLang="en-US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以及氨的解离常数</a:t>
            </a:r>
            <a:r>
              <a:rPr lang="en-US" altLang="zh-CN" sz="2500" b="1" dirty="0">
                <a:solidFill>
                  <a:schemeClr val="bg2"/>
                </a:solidFill>
                <a:latin typeface="+mn-lt"/>
                <a:ea typeface="楷体_GB2312" pitchFamily="49" charset="-122"/>
              </a:rPr>
              <a:t>.</a:t>
            </a:r>
          </a:p>
        </p:txBody>
      </p: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688939" y="3891481"/>
            <a:ext cx="10572824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2.HAc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在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25℃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时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,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</a:t>
            </a:r>
            <a:r>
              <a:rPr lang="en-US" altLang="zh-CN" sz="2500" b="1" i="1" dirty="0" err="1">
                <a:latin typeface="+mn-lt"/>
                <a:ea typeface="楷体_GB2312" pitchFamily="49" charset="-122"/>
              </a:rPr>
              <a:t>K</a:t>
            </a:r>
            <a:r>
              <a:rPr lang="en-US" altLang="zh-CN" sz="1600" b="1" baseline="100000" dirty="0" err="1">
                <a:latin typeface="+mn-lt"/>
                <a:ea typeface="楷体_GB2312" pitchFamily="49" charset="-122"/>
                <a:sym typeface="Webdings" pitchFamily="18" charset="2"/>
              </a:rPr>
              <a:t></a:t>
            </a:r>
            <a:r>
              <a:rPr lang="en-US" altLang="zh-CN" sz="2500" b="1" baseline="-25000" dirty="0" err="1">
                <a:latin typeface="+mn-lt"/>
                <a:ea typeface="楷体_GB2312" pitchFamily="49" charset="-122"/>
                <a:sym typeface="Webdings" pitchFamily="18" charset="2"/>
              </a:rPr>
              <a:t>a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(</a:t>
            </a:r>
            <a:r>
              <a:rPr lang="en-US" altLang="zh-CN" sz="2500" b="1" dirty="0" err="1">
                <a:latin typeface="+mn-lt"/>
                <a:ea typeface="楷体_GB2312" pitchFamily="49" charset="-122"/>
                <a:sym typeface="Webdings" pitchFamily="18" charset="2"/>
              </a:rPr>
              <a:t>HAc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) = 1.76×10</a:t>
            </a:r>
            <a:r>
              <a:rPr lang="en-US" altLang="zh-CN" sz="2500" b="1" baseline="30000" dirty="0">
                <a:latin typeface="+mn-lt"/>
                <a:ea typeface="楷体_GB2312" pitchFamily="49" charset="-122"/>
                <a:sym typeface="Webdings" pitchFamily="18" charset="2"/>
              </a:rPr>
              <a:t>-5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  <a:sym typeface="Webdings" pitchFamily="18" charset="2"/>
              </a:rPr>
              <a:t>求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0.20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  <a:sym typeface="Webdings" pitchFamily="18" charset="2"/>
              </a:rPr>
              <a:t>HAc</a:t>
            </a:r>
            <a:r>
              <a:rPr lang="zh-CN" altLang="en-US" sz="2500" b="1" dirty="0" smtClean="0">
                <a:latin typeface="+mn-lt"/>
                <a:ea typeface="楷体_GB2312" pitchFamily="49" charset="-122"/>
                <a:sym typeface="Webdings" pitchFamily="18" charset="2"/>
              </a:rPr>
              <a:t>的解离度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46795" y="833103"/>
            <a:ext cx="3587842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相当于化学平衡的转化率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7" grpId="0" autoUpdateAnimBg="0"/>
      <p:bldP spid="24588" grpId="0" autoUpdateAnimBg="0"/>
      <p:bldP spid="24590" grpId="0" animBg="1"/>
      <p:bldP spid="24591" grpId="0" autoUpdateAnimBg="0"/>
      <p:bldP spid="24592" grpId="0" autoUpdateAnimBg="0"/>
      <p:bldP spid="24600" grpId="0" autoUpdateAnimBg="0"/>
      <p:bldP spid="19" grpId="0" autoUpdateAnimBg="0"/>
      <p:bldP spid="18" grpId="0"/>
      <p:bldP spid="22" grpId="0" autoUpdateAnimBg="0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Rectangle 32"/>
          <p:cNvSpPr>
            <a:spLocks noGrp="1" noChangeArrowheads="1"/>
          </p:cNvSpPr>
          <p:nvPr>
            <p:ph type="title"/>
          </p:nvPr>
        </p:nvSpPr>
        <p:spPr>
          <a:xfrm>
            <a:off x="122238" y="287338"/>
            <a:ext cx="10369550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3.2.1</a:t>
            </a:r>
            <a:r>
              <a:rPr lang="zh-CN" altLang="en-US" smtClean="0">
                <a:ea typeface="黑体" pitchFamily="49" charset="-122"/>
              </a:rPr>
              <a:t>稀释定律</a:t>
            </a:r>
          </a:p>
        </p:txBody>
      </p:sp>
      <p:sp>
        <p:nvSpPr>
          <p:cNvPr id="20" name="Rectangle 26"/>
          <p:cNvSpPr>
            <a:spLocks noChangeArrowheads="1"/>
          </p:cNvSpPr>
          <p:nvPr/>
        </p:nvSpPr>
        <p:spPr bwMode="auto">
          <a:xfrm>
            <a:off x="688975" y="833428"/>
            <a:ext cx="4079875" cy="5238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altLang="zh-CN" sz="2500" b="1" dirty="0">
                <a:solidFill>
                  <a:srgbClr val="FF0000"/>
                </a:solidFill>
                <a:ea typeface="楷体_GB2312" pitchFamily="49" charset="-122"/>
                <a:cs typeface="Times New Roman" pitchFamily="18" charset="0"/>
              </a:rPr>
              <a:t>(2)</a:t>
            </a:r>
            <a:r>
              <a:rPr lang="zh-CN" altLang="en-US" sz="25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稀释定律</a:t>
            </a:r>
            <a:r>
              <a:rPr lang="en-US" altLang="zh-CN" sz="2800" b="1" dirty="0">
                <a:solidFill>
                  <a:srgbClr val="FF3300"/>
                </a:solidFill>
                <a:latin typeface="仿宋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500" b="1" dirty="0">
                <a:solidFill>
                  <a:srgbClr val="0000FF"/>
                </a:solidFill>
                <a:ea typeface="楷体_GB2312" pitchFamily="49" charset="-122"/>
                <a:cs typeface="Times New Roman" pitchFamily="18" charset="0"/>
              </a:rPr>
              <a:t>dilution law</a:t>
            </a:r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  <a:cs typeface="Times New Roman" pitchFamily="18" charset="0"/>
              </a:rPr>
              <a:t>)</a:t>
            </a:r>
            <a:r>
              <a:rPr lang="en-US" altLang="zh-CN" sz="2500" dirty="0"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ea typeface="楷体_GB2312" pitchFamily="49" charset="-122"/>
                <a:cs typeface="Times New Roman" pitchFamily="18" charset="0"/>
              </a:rPr>
              <a:t>:</a:t>
            </a:r>
          </a:p>
        </p:txBody>
      </p:sp>
      <p:sp>
        <p:nvSpPr>
          <p:cNvPr id="21" name="Rectangle 27"/>
          <p:cNvSpPr>
            <a:spLocks noChangeArrowheads="1"/>
          </p:cNvSpPr>
          <p:nvPr/>
        </p:nvSpPr>
        <p:spPr bwMode="auto">
          <a:xfrm>
            <a:off x="1338273" y="1382699"/>
            <a:ext cx="6065838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>
                <a:latin typeface="楷体_GB2312" pitchFamily="49" charset="-122"/>
                <a:ea typeface="楷体_GB2312" pitchFamily="49" charset="-122"/>
              </a:rPr>
              <a:t>弱酸</a:t>
            </a:r>
            <a:r>
              <a:rPr lang="en-US" altLang="zh-CN" sz="2500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</a:rPr>
              <a:t>或弱碱</a:t>
            </a:r>
            <a:r>
              <a:rPr lang="en-US" altLang="zh-CN" sz="2500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500" b="1">
                <a:latin typeface="楷体_GB2312" pitchFamily="49" charset="-122"/>
                <a:ea typeface="楷体_GB2312" pitchFamily="49" charset="-122"/>
              </a:rPr>
              <a:t>解离度随水溶液稀释而增大</a:t>
            </a:r>
            <a:r>
              <a:rPr lang="en-US" altLang="zh-CN" sz="2500" b="1"/>
              <a:t>.</a:t>
            </a:r>
          </a:p>
        </p:txBody>
      </p:sp>
      <p:sp>
        <p:nvSpPr>
          <p:cNvPr id="27" name="Rectangle 25"/>
          <p:cNvSpPr>
            <a:spLocks noChangeArrowheads="1"/>
          </p:cNvSpPr>
          <p:nvPr/>
        </p:nvSpPr>
        <p:spPr bwMode="auto">
          <a:xfrm>
            <a:off x="1974814" y="2811459"/>
            <a:ext cx="4718050" cy="86201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500" b="1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①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解离度与离子浓度的关系；</a:t>
            </a:r>
            <a:endParaRPr lang="en-US" altLang="zh-CN" sz="2500" b="1" dirty="0">
              <a:latin typeface="楷体_GB2312" pitchFamily="49" charset="-122"/>
              <a:ea typeface="楷体_GB2312" pitchFamily="49" charset="-122"/>
              <a:sym typeface="Monotype Sorts" pitchFamily="2" charset="2"/>
            </a:endParaRPr>
          </a:p>
          <a:p>
            <a:pPr>
              <a:defRPr/>
            </a:pPr>
            <a:r>
              <a:rPr lang="en-US" altLang="zh-CN" sz="2500" b="1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②</a:t>
            </a:r>
            <a:r>
              <a:rPr lang="en-US" altLang="zh-CN" sz="2500" b="1" i="1" dirty="0">
                <a:latin typeface="+mn-ea"/>
                <a:ea typeface="+mn-ea"/>
                <a:sym typeface="Symbol" pitchFamily="18" charset="2"/>
              </a:rPr>
              <a:t></a:t>
            </a:r>
            <a:r>
              <a:rPr lang="en-US" altLang="zh-CN" sz="2500" b="1" dirty="0">
                <a:latin typeface="+mn-ea"/>
                <a:ea typeface="+mn-ea"/>
                <a:sym typeface="Monotype Sorts" pitchFamily="2" charset="2"/>
              </a:rPr>
              <a:t> 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和</a:t>
            </a:r>
            <a:r>
              <a:rPr lang="en-US" altLang="zh-CN" sz="2500" b="1" i="1" dirty="0"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en-US" altLang="zh-CN" sz="1600" b="1" baseline="100000" dirty="0">
                <a:latin typeface="+mn-ea"/>
                <a:ea typeface="+mn-ea"/>
                <a:sym typeface="Webdings" pitchFamily="18" charset="2"/>
              </a:rPr>
              <a:t>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的异同点</a:t>
            </a:r>
            <a:r>
              <a:rPr lang="en-US" altLang="zh-CN" sz="25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760377" y="2882896"/>
            <a:ext cx="1071562" cy="4778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500" b="1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注意</a:t>
            </a:r>
            <a:r>
              <a:rPr lang="en-US" altLang="zh-CN" sz="2500" b="1" dirty="0">
                <a:solidFill>
                  <a:srgbClr val="FF00FF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5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" name="AutoShape 26"/>
          <p:cNvSpPr>
            <a:spLocks/>
          </p:cNvSpPr>
          <p:nvPr/>
        </p:nvSpPr>
        <p:spPr bwMode="auto">
          <a:xfrm>
            <a:off x="1831939" y="2882896"/>
            <a:ext cx="142875" cy="681038"/>
          </a:xfrm>
          <a:prstGeom prst="leftBrace">
            <a:avLst>
              <a:gd name="adj1" fmla="val 4181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2500"/>
          </a:p>
        </p:txBody>
      </p:sp>
      <p:sp>
        <p:nvSpPr>
          <p:cNvPr id="30" name="Rectangle 16"/>
          <p:cNvSpPr>
            <a:spLocks noChangeArrowheads="1"/>
          </p:cNvSpPr>
          <p:nvPr/>
        </p:nvSpPr>
        <p:spPr bwMode="auto">
          <a:xfrm>
            <a:off x="760377" y="2382831"/>
            <a:ext cx="91281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latin typeface="楷体_GB2312" pitchFamily="49" charset="-122"/>
                <a:ea typeface="楷体_GB2312" pitchFamily="49" charset="-122"/>
                <a:hlinkClick r:id="rId2" action="ppaction://hlinkpres?slideindex=3&amp;slidetitle=幻灯片 3"/>
              </a:rPr>
              <a:t>解</a:t>
            </a:r>
            <a:r>
              <a:rPr lang="en-US" altLang="zh-CN" sz="2500" b="1" dirty="0" smtClean="0">
                <a:latin typeface="楷体_GB2312" pitchFamily="49" charset="-122"/>
                <a:ea typeface="楷体_GB2312" pitchFamily="49" charset="-122"/>
              </a:rPr>
              <a:t>:</a:t>
            </a:r>
            <a:endParaRPr lang="en-US" altLang="zh-CN" sz="25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1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13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26088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688939" y="1882765"/>
            <a:ext cx="7286676" cy="477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3.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试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求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2.0×10</a:t>
            </a:r>
            <a:r>
              <a:rPr lang="en-US" altLang="zh-CN" sz="2500" b="1" baseline="30000" dirty="0" smtClean="0">
                <a:latin typeface="+mn-lt"/>
                <a:ea typeface="楷体_GB2312" pitchFamily="49" charset="-122"/>
              </a:rPr>
              <a:t>-2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mol·L</a:t>
            </a:r>
            <a:r>
              <a:rPr lang="en-US" altLang="zh-CN" sz="2500" b="1" baseline="30000" dirty="0" smtClean="0">
                <a:latin typeface="+mn-lt"/>
                <a:ea typeface="楷体_GB2312" pitchFamily="49" charset="-122"/>
              </a:rPr>
              <a:t>-1 </a:t>
            </a:r>
            <a:r>
              <a:rPr lang="en-US" altLang="zh-CN" sz="2500" b="1" dirty="0" err="1" smtClean="0">
                <a:latin typeface="+mn-lt"/>
                <a:ea typeface="楷体_GB2312" pitchFamily="49" charset="-122"/>
              </a:rPr>
              <a:t>HAc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溶液的解离度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.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utoUpdateAnimBg="0"/>
      <p:bldP spid="21" grpId="0" build="p" autoUpdateAnimBg="0"/>
      <p:bldP spid="27" grpId="0" build="p" autoUpdateAnimBg="0"/>
      <p:bldP spid="28" grpId="0" autoUpdateAnimBg="0"/>
      <p:bldP spid="29" grpId="0" animBg="1"/>
      <p:bldP spid="30" grpId="0" autoUpdateAnimBg="0"/>
      <p:bldP spid="1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1046129" y="1382699"/>
            <a:ext cx="1903085" cy="4770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  <a:hlinkClick r:id="rId2" action="ppaction://hlinkfile"/>
              </a:rPr>
              <a:t>同离子效应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31762" name="Rectangle 18"/>
          <p:cNvSpPr>
            <a:spLocks noChangeArrowheads="1"/>
          </p:cNvSpPr>
          <p:nvPr/>
        </p:nvSpPr>
        <p:spPr bwMode="auto">
          <a:xfrm>
            <a:off x="2974956" y="1382699"/>
            <a:ext cx="8215370" cy="86177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</a:rPr>
              <a:t>含有</a:t>
            </a:r>
            <a:r>
              <a:rPr lang="zh-CN" altLang="en-US" sz="2500" b="1" dirty="0">
                <a:ea typeface="楷体_GB2312" pitchFamily="49" charset="-122"/>
              </a:rPr>
              <a:t>共同离子的易溶强电解质的加入</a:t>
            </a:r>
            <a:r>
              <a:rPr lang="en-US" altLang="zh-CN" sz="2500" b="1" dirty="0">
                <a:ea typeface="楷体_GB2312" pitchFamily="49" charset="-122"/>
              </a:rPr>
              <a:t>,</a:t>
            </a:r>
            <a:r>
              <a:rPr lang="zh-CN" altLang="en-US" sz="2500" b="1" dirty="0">
                <a:ea typeface="楷体_GB2312" pitchFamily="49" charset="-122"/>
              </a:rPr>
              <a:t>使得弱酸</a:t>
            </a:r>
            <a:r>
              <a:rPr lang="en-US" altLang="zh-CN" sz="2500" b="1" dirty="0">
                <a:ea typeface="楷体_GB2312" pitchFamily="49" charset="-122"/>
              </a:rPr>
              <a:t>(</a:t>
            </a:r>
            <a:r>
              <a:rPr lang="zh-CN" altLang="en-US" sz="2500" b="1" dirty="0">
                <a:ea typeface="楷体_GB2312" pitchFamily="49" charset="-122"/>
              </a:rPr>
              <a:t>或弱碱</a:t>
            </a:r>
            <a:r>
              <a:rPr lang="en-US" altLang="zh-CN" sz="2500" b="1" dirty="0">
                <a:ea typeface="楷体_GB2312" pitchFamily="49" charset="-122"/>
              </a:rPr>
              <a:t>)</a:t>
            </a:r>
            <a:r>
              <a:rPr lang="zh-CN" altLang="en-US" sz="2500" b="1" dirty="0">
                <a:ea typeface="楷体_GB2312" pitchFamily="49" charset="-122"/>
              </a:rPr>
              <a:t>解离度降低</a:t>
            </a:r>
            <a:r>
              <a:rPr lang="en-US" altLang="zh-CN" sz="2500" b="1" dirty="0">
                <a:ea typeface="楷体_GB2312" pitchFamily="49" charset="-122"/>
              </a:rPr>
              <a:t>.</a:t>
            </a:r>
          </a:p>
        </p:txBody>
      </p:sp>
      <p:sp>
        <p:nvSpPr>
          <p:cNvPr id="5124" name="Rectangle 30"/>
          <p:cNvSpPr>
            <a:spLocks noGrp="1" noChangeArrowheads="1"/>
          </p:cNvSpPr>
          <p:nvPr>
            <p:ph type="title"/>
          </p:nvPr>
        </p:nvSpPr>
        <p:spPr>
          <a:xfrm>
            <a:off x="331788" y="239713"/>
            <a:ext cx="2519362" cy="431800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3.2.2</a:t>
            </a:r>
            <a:r>
              <a:rPr lang="zh-CN" altLang="en-US" smtClean="0">
                <a:latin typeface="黑体" pitchFamily="49" charset="-122"/>
                <a:ea typeface="黑体" pitchFamily="49" charset="-122"/>
              </a:rPr>
              <a:t>同离子效应</a:t>
            </a:r>
          </a:p>
        </p:txBody>
      </p:sp>
      <p:sp>
        <p:nvSpPr>
          <p:cNvPr id="18" name="Rectangle 16"/>
          <p:cNvSpPr>
            <a:spLocks noChangeArrowheads="1"/>
          </p:cNvSpPr>
          <p:nvPr/>
        </p:nvSpPr>
        <p:spPr bwMode="auto">
          <a:xfrm>
            <a:off x="847695" y="4202409"/>
            <a:ext cx="7699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500" b="1" dirty="0" smtClean="0">
                <a:ea typeface="楷体_GB2312" pitchFamily="49" charset="-122"/>
                <a:hlinkClick r:id="rId3" action="ppaction://hlinkpres?slideindex=4&amp;slidetitle=幻灯片 4"/>
              </a:rPr>
              <a:t>解</a:t>
            </a:r>
            <a:r>
              <a:rPr lang="en-US" altLang="zh-CN" sz="2500" b="1" dirty="0" smtClean="0">
                <a:ea typeface="楷体_GB2312" pitchFamily="49" charset="-122"/>
              </a:rPr>
              <a:t>:</a:t>
            </a:r>
            <a:endParaRPr lang="en-US" altLang="zh-CN" sz="2500" b="1" dirty="0">
              <a:ea typeface="楷体_GB2312" pitchFamily="49" charset="-122"/>
            </a:endParaRPr>
          </a:p>
        </p:txBody>
      </p:sp>
      <p:sp>
        <p:nvSpPr>
          <p:cNvPr id="5136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97525"/>
            <a:ext cx="360363" cy="360363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7" name="Oval 27" descr="图片9">
            <a:hlinkClick r:id="" action="ppaction://hlinkshowjump?jump=nextslide"/>
          </p:cNvPr>
          <p:cNvSpPr>
            <a:spLocks noChangeAspect="1" noChangeArrowheads="1"/>
          </p:cNvSpPr>
          <p:nvPr/>
        </p:nvSpPr>
        <p:spPr bwMode="gray">
          <a:xfrm>
            <a:off x="11161713" y="5597525"/>
            <a:ext cx="360362" cy="360363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719272" y="882633"/>
            <a:ext cx="2238113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zh-CN" altLang="en-US" sz="25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⑶同离子效应</a:t>
            </a:r>
            <a:r>
              <a:rPr lang="en-US" altLang="zh-CN" sz="2800" b="1" dirty="0" smtClean="0">
                <a:solidFill>
                  <a:srgbClr val="FF3300"/>
                </a:solidFill>
                <a:ea typeface="楷体_GB2312" pitchFamily="49" charset="-122"/>
                <a:cs typeface="Times New Roman" pitchFamily="18" charset="0"/>
              </a:rPr>
              <a:t>:</a:t>
            </a:r>
            <a:endParaRPr lang="en-US" altLang="zh-CN" sz="2800" b="1" dirty="0">
              <a:solidFill>
                <a:srgbClr val="FF3300"/>
              </a:solidFill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" name="Text Box 19"/>
          <p:cNvSpPr txBox="1">
            <a:spLocks noChangeArrowheads="1"/>
          </p:cNvSpPr>
          <p:nvPr/>
        </p:nvSpPr>
        <p:spPr bwMode="auto">
          <a:xfrm>
            <a:off x="831815" y="3345153"/>
            <a:ext cx="10287072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500" b="1" dirty="0" smtClean="0">
                <a:latin typeface="+mn-lt"/>
                <a:ea typeface="楷体_GB2312" pitchFamily="49" charset="-122"/>
              </a:rPr>
              <a:t>例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4.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在 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0.20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HAc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 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溶液中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加入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NaAc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固体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使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NaAc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的浓度为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0.10 mol·L</a:t>
            </a:r>
            <a:r>
              <a:rPr lang="en-US" altLang="zh-CN" sz="2500" b="1" baseline="30000" dirty="0">
                <a:latin typeface="+mn-lt"/>
                <a:ea typeface="楷体_GB2312" pitchFamily="49" charset="-122"/>
              </a:rPr>
              <a:t>-1</a:t>
            </a:r>
            <a:r>
              <a:rPr lang="en-US" altLang="zh-CN" sz="2500" b="1" dirty="0">
                <a:latin typeface="+mn-lt"/>
                <a:ea typeface="楷体_GB2312" pitchFamily="49" charset="-122"/>
              </a:rPr>
              <a:t>.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计算</a:t>
            </a:r>
            <a:r>
              <a:rPr lang="en-US" altLang="zh-CN" sz="2500" b="1" dirty="0" err="1">
                <a:latin typeface="+mn-lt"/>
                <a:ea typeface="楷体_GB2312" pitchFamily="49" charset="-122"/>
              </a:rPr>
              <a:t>HAc</a:t>
            </a:r>
            <a:r>
              <a:rPr lang="zh-CN" altLang="en-US" sz="2500" b="1" dirty="0">
                <a:latin typeface="+mn-lt"/>
                <a:ea typeface="楷体_GB2312" pitchFamily="49" charset="-122"/>
              </a:rPr>
              <a:t>的</a:t>
            </a:r>
            <a:r>
              <a:rPr lang="zh-CN" altLang="en-US" sz="2500" b="1" dirty="0" smtClean="0">
                <a:latin typeface="+mn-lt"/>
                <a:ea typeface="楷体_GB2312" pitchFamily="49" charset="-122"/>
              </a:rPr>
              <a:t>解离度（忽略体积的变化）</a:t>
            </a:r>
            <a:r>
              <a:rPr lang="en-US" altLang="zh-CN" sz="2500" b="1" dirty="0" smtClean="0">
                <a:latin typeface="+mn-lt"/>
                <a:ea typeface="楷体_GB2312" pitchFamily="49" charset="-122"/>
              </a:rPr>
              <a:t>.</a:t>
            </a:r>
            <a:endParaRPr lang="en-US" altLang="zh-CN" sz="2500" b="1" dirty="0">
              <a:latin typeface="+mn-lt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1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4" grpId="0"/>
      <p:bldP spid="31762" grpId="0" build="p" autoUpdateAnimBg="0"/>
      <p:bldP spid="18" grpId="0" autoUpdateAnimBg="0"/>
      <p:bldP spid="22" grpId="0" autoUpdateAnimBg="0"/>
      <p:bldP spid="23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/>
          <p:cNvSpPr>
            <a:spLocks noChangeArrowheads="1"/>
          </p:cNvSpPr>
          <p:nvPr/>
        </p:nvSpPr>
        <p:spPr bwMode="auto">
          <a:xfrm>
            <a:off x="903253" y="882633"/>
            <a:ext cx="3222625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chemeClr val="tx2"/>
                </a:solidFill>
                <a:ea typeface="楷体_GB2312" pitchFamily="49" charset="-122"/>
                <a:cs typeface="Times New Roman" pitchFamily="18" charset="0"/>
                <a:sym typeface="Webdings" pitchFamily="18" charset="2"/>
              </a:rPr>
              <a:t>(1)</a:t>
            </a:r>
            <a:r>
              <a:rPr lang="zh-CN" altLang="en-US" sz="25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ebdings" pitchFamily="18" charset="2"/>
              </a:rPr>
              <a:t>温度</a:t>
            </a:r>
          </a:p>
        </p:txBody>
      </p:sp>
      <p:sp>
        <p:nvSpPr>
          <p:cNvPr id="6147" name="Rectangle 8"/>
          <p:cNvSpPr>
            <a:spLocks noGrp="1" noChangeArrowheads="1"/>
          </p:cNvSpPr>
          <p:nvPr>
            <p:ph type="title"/>
          </p:nvPr>
        </p:nvSpPr>
        <p:spPr>
          <a:xfrm>
            <a:off x="474663" y="168275"/>
            <a:ext cx="2786062" cy="769938"/>
          </a:xfrm>
        </p:spPr>
        <p:txBody>
          <a:bodyPr/>
          <a:lstStyle/>
          <a:p>
            <a:r>
              <a:rPr lang="en-US" altLang="zh-CN" smtClean="0">
                <a:ea typeface="黑体" pitchFamily="49" charset="-122"/>
              </a:rPr>
              <a:t>3.2.2 </a:t>
            </a:r>
            <a:r>
              <a:rPr lang="zh-CN" altLang="en-US" smtClean="0">
                <a:ea typeface="黑体" pitchFamily="49" charset="-122"/>
              </a:rPr>
              <a:t>其他因素</a:t>
            </a:r>
          </a:p>
        </p:txBody>
      </p:sp>
      <p:sp>
        <p:nvSpPr>
          <p:cNvPr id="73743" name="Text Box 15"/>
          <p:cNvSpPr txBox="1">
            <a:spLocks noChangeArrowheads="1"/>
          </p:cNvSpPr>
          <p:nvPr/>
        </p:nvSpPr>
        <p:spPr bwMode="auto">
          <a:xfrm>
            <a:off x="903253" y="1382699"/>
            <a:ext cx="8031163" cy="477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altLang="zh-CN" sz="2500" b="1" dirty="0">
                <a:solidFill>
                  <a:srgbClr val="FF3300"/>
                </a:solidFill>
                <a:ea typeface="楷体_GB2312" pitchFamily="49" charset="-122"/>
              </a:rPr>
              <a:t>(2)</a:t>
            </a:r>
            <a:r>
              <a:rPr lang="zh-CN" altLang="en-US" sz="2500" b="1" dirty="0" smtClean="0">
                <a:solidFill>
                  <a:srgbClr val="FF3300"/>
                </a:solidFill>
                <a:ea typeface="楷体_GB2312" pitchFamily="49" charset="-122"/>
              </a:rPr>
              <a:t>盐效应</a:t>
            </a:r>
            <a:r>
              <a:rPr lang="en-US" altLang="zh-CN" sz="2500" b="1" dirty="0" smtClean="0">
                <a:solidFill>
                  <a:srgbClr val="FF3300"/>
                </a:solidFill>
                <a:ea typeface="楷体_GB2312" pitchFamily="49" charset="-122"/>
              </a:rPr>
              <a:t>:</a:t>
            </a:r>
            <a:endParaRPr lang="en-US" altLang="zh-CN" sz="2500" b="1" dirty="0">
              <a:solidFill>
                <a:srgbClr val="FF3300"/>
              </a:solidFill>
              <a:ea typeface="楷体_GB2312" pitchFamily="49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896938" y="1882765"/>
            <a:ext cx="10625137" cy="8604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    在</a:t>
            </a:r>
            <a:r>
              <a:rPr lang="zh-CN" altLang="en-US" sz="2500" b="1" dirty="0">
                <a:ea typeface="楷体_GB2312" pitchFamily="49" charset="-122"/>
              </a:rPr>
              <a:t>弱电解质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溶液中加入</a:t>
            </a:r>
            <a:r>
              <a:rPr lang="zh-CN" altLang="en-US" sz="25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易溶强电解质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时</a:t>
            </a:r>
            <a:r>
              <a:rPr lang="en-US" altLang="zh-CN" sz="2500" b="1" dirty="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使该弱电解质</a:t>
            </a:r>
            <a:r>
              <a:rPr lang="zh-CN" altLang="en-US" sz="25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解离度增大</a:t>
            </a:r>
            <a:r>
              <a:rPr lang="zh-CN" altLang="en-US" sz="2500" b="1" dirty="0">
                <a:latin typeface="楷体_GB2312" pitchFamily="49" charset="-122"/>
                <a:ea typeface="楷体_GB2312" pitchFamily="49" charset="-122"/>
              </a:rPr>
              <a:t>的现象</a:t>
            </a:r>
            <a:r>
              <a:rPr lang="en-US" altLang="zh-CN" sz="25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6152" name="Oval 26" descr="图片8">
            <a:hlinkClick r:id="" action="ppaction://hlinkshowjump?jump=previousslide"/>
          </p:cNvPr>
          <p:cNvSpPr>
            <a:spLocks noChangeAspect="1" noChangeArrowheads="1"/>
          </p:cNvSpPr>
          <p:nvPr/>
        </p:nvSpPr>
        <p:spPr bwMode="gray">
          <a:xfrm>
            <a:off x="0" y="5580000"/>
            <a:ext cx="360363" cy="360363"/>
          </a:xfrm>
          <a:prstGeom prst="ellipse">
            <a:avLst/>
          </a:prstGeom>
          <a:blipFill dpi="0" rotWithShape="1">
            <a:blip r:embed="rId2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椭圆 62544" descr="图片1">
            <a:hlinkClick r:id="rId3" action="ppaction://hlinkpres?slideindex=1&amp;slidetitle="/>
          </p:cNvPr>
          <p:cNvSpPr>
            <a:spLocks noChangeAspect="1" noChangeArrowheads="1"/>
          </p:cNvSpPr>
          <p:nvPr/>
        </p:nvSpPr>
        <p:spPr bwMode="auto">
          <a:xfrm>
            <a:off x="11155363" y="5580000"/>
            <a:ext cx="360362" cy="360362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 w="9525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sz="1200" b="1" dirty="0" smtClean="0">
                <a:solidFill>
                  <a:srgbClr val="000000"/>
                </a:solidFill>
                <a:ea typeface="楷体_GB2312" pitchFamily="49" charset="-122"/>
              </a:rPr>
              <a:t>下节</a:t>
            </a:r>
            <a:endParaRPr lang="zh-CN" altLang="en-US" sz="1200" b="1" dirty="0">
              <a:solidFill>
                <a:srgbClr val="000000"/>
              </a:solidFill>
              <a:ea typeface="楷体_GB2312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565" y="2817276"/>
            <a:ext cx="2646878" cy="46166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  <a:ea typeface="楷体_GB2312"/>
              </a:rPr>
              <a:t>与同离子效应相反</a:t>
            </a:r>
            <a:endParaRPr lang="zh-CN" altLang="en-US" sz="2400" b="1" dirty="0">
              <a:solidFill>
                <a:srgbClr val="FF0000"/>
              </a:solidFill>
              <a:ea typeface="楷体_GB2312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/>
      <p:bldP spid="73743" grpId="0" autoUpdateAnimBg="0"/>
      <p:bldP spid="12" grpId="0" autoUpdateAnimBg="0"/>
      <p:bldP spid="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c13cd34a6b4b985716bd9c852b975156f3f9"/>
</p:tagLst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000000"/>
      </a:accent4>
      <a:accent5>
        <a:srgbClr val="AAAAAA"/>
      </a:accent5>
      <a:accent6>
        <a:srgbClr val="E700E7"/>
      </a:accent6>
      <a:hlink>
        <a:srgbClr val="FF9900"/>
      </a:hlink>
      <a:folHlink>
        <a:srgbClr val="6600FF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66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医学研究PPT模板">
  <a:themeElements>
    <a:clrScheme name="1_医学研究PPT模板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1_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7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8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医学研究PPT模板 9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AAAAAA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医学研究PPT模板 10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医学研究PPT模板</Template>
  <TotalTime>3330</TotalTime>
  <Pages>0</Pages>
  <Words>283</Words>
  <Characters>0</Characters>
  <Application>Microsoft Office PowerPoint</Application>
  <DocSecurity>0</DocSecurity>
  <PresentationFormat>自定义</PresentationFormat>
  <Lines>0</Lines>
  <Paragraphs>40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Monotype Sorts</vt:lpstr>
      <vt:lpstr>仿宋_GB2312</vt:lpstr>
      <vt:lpstr>黑体</vt:lpstr>
      <vt:lpstr>楷体_GB2312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1_医学研究PPT模板</vt:lpstr>
      <vt:lpstr>PowerPoint 演示文稿</vt:lpstr>
      <vt:lpstr>3.2影响酸碱解离的主要因素</vt:lpstr>
      <vt:lpstr>3.2.1稀释定律</vt:lpstr>
      <vt:lpstr>3.2.1稀释定律</vt:lpstr>
      <vt:lpstr>3.2.2同离子效应</vt:lpstr>
      <vt:lpstr>3.2.2 其他因素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ch03-02</dc:title>
  <dc:creator>江南大学</dc:creator>
  <cp:lastModifiedBy>USER</cp:lastModifiedBy>
  <cp:revision>312</cp:revision>
  <cp:lastPrinted>1601-01-01T00:00:00Z</cp:lastPrinted>
  <dcterms:created xsi:type="dcterms:W3CDTF">2012-06-20T03:37:37Z</dcterms:created>
  <dcterms:modified xsi:type="dcterms:W3CDTF">2022-09-14T08:23:19Z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2052-8.1.0.3089</vt:lpwstr>
  </property>
</Properties>
</file>