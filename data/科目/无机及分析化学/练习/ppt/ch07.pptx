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661" r:id="rId2"/>
  </p:sldMasterIdLst>
  <p:notesMasterIdLst>
    <p:notesMasterId r:id="rId23"/>
  </p:notesMasterIdLst>
  <p:sldIdLst>
    <p:sldId id="277" r:id="rId3"/>
    <p:sldId id="279" r:id="rId4"/>
    <p:sldId id="280" r:id="rId5"/>
    <p:sldId id="281" r:id="rId6"/>
    <p:sldId id="282" r:id="rId7"/>
    <p:sldId id="285" r:id="rId8"/>
    <p:sldId id="283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4" r:id="rId17"/>
    <p:sldId id="295" r:id="rId18"/>
    <p:sldId id="296" r:id="rId19"/>
    <p:sldId id="297" r:id="rId20"/>
    <p:sldId id="299" r:id="rId21"/>
    <p:sldId id="300" r:id="rId22"/>
  </p:sldIdLst>
  <p:sldSz cx="11522075" cy="6480175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FF99CC"/>
    <a:srgbClr val="000000"/>
    <a:srgbClr val="FFFF00"/>
    <a:srgbClr val="FFFFFF"/>
    <a:srgbClr val="F8F8F8"/>
    <a:srgbClr val="66CCFF"/>
    <a:srgbClr val="85D9F7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E8034E78-7F5D-4C2E-B375-FC64B27BC917}" styleName="深色样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2" autoAdjust="0"/>
    <p:restoredTop sz="94620" autoAdjust="0"/>
  </p:normalViewPr>
  <p:slideViewPr>
    <p:cSldViewPr>
      <p:cViewPr varScale="1">
        <p:scale>
          <a:sx n="70" d="100"/>
          <a:sy n="70" d="100"/>
        </p:scale>
        <p:origin x="-354" y="-108"/>
      </p:cViewPr>
      <p:guideLst>
        <p:guide orient="horz" pos="2034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D66D0BB7-709C-4592-AFE5-299728B9CF85}" type="datetimeFigureOut">
              <a:rPr lang="zh-CN" altLang="en-US"/>
              <a:pPr>
                <a:defRPr/>
              </a:pPr>
              <a:t>2017/8/24</a:t>
            </a:fld>
            <a:endParaRPr lang="en-US" altLang="zh-CN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6DF4EA2C-A0C8-4B83-AEB3-646E29D654E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12"/>
          <p:cNvGrpSpPr>
            <a:grpSpLocks/>
          </p:cNvGrpSpPr>
          <p:nvPr userDrawn="1"/>
        </p:nvGrpSpPr>
        <p:grpSpPr bwMode="auto">
          <a:xfrm>
            <a:off x="0" y="0"/>
            <a:ext cx="11522075" cy="6513513"/>
            <a:chOff x="0" y="0"/>
            <a:chExt cx="7258" cy="4103"/>
          </a:xfrm>
        </p:grpSpPr>
        <p:grpSp>
          <p:nvGrpSpPr>
            <p:cNvPr id="1027" name="Group 100"/>
            <p:cNvGrpSpPr>
              <a:grpSpLocks/>
            </p:cNvGrpSpPr>
            <p:nvPr userDrawn="1"/>
          </p:nvGrpSpPr>
          <p:grpSpPr bwMode="auto">
            <a:xfrm>
              <a:off x="0" y="0"/>
              <a:ext cx="3627" cy="4103"/>
              <a:chOff x="204" y="45"/>
              <a:chExt cx="6325" cy="3401"/>
            </a:xfrm>
          </p:grpSpPr>
          <p:pic>
            <p:nvPicPr>
              <p:cNvPr id="1031" name="Picture 60" descr="图片2"/>
              <p:cNvPicPr>
                <a:picLocks noChangeArrowheads="1"/>
              </p:cNvPicPr>
              <p:nvPr userDrawn="1"/>
            </p:nvPicPr>
            <p:blipFill>
              <a:blip r:embed="rId13"/>
              <a:srcRect/>
              <a:stretch>
                <a:fillRect/>
              </a:stretch>
            </p:blipFill>
            <p:spPr bwMode="auto">
              <a:xfrm>
                <a:off x="391" y="181"/>
                <a:ext cx="5962" cy="3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032" name="Picture 67" descr="01"/>
              <p:cNvPicPr>
                <a:picLocks noChangeArrowheads="1"/>
              </p:cNvPicPr>
              <p:nvPr userDrawn="1"/>
            </p:nvPicPr>
            <p:blipFill>
              <a:blip r:embed="rId1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204" y="45"/>
                <a:ext cx="6325" cy="34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1028" name="Group 103"/>
            <p:cNvGrpSpPr>
              <a:grpSpLocks/>
            </p:cNvGrpSpPr>
            <p:nvPr userDrawn="1"/>
          </p:nvGrpSpPr>
          <p:grpSpPr bwMode="auto">
            <a:xfrm>
              <a:off x="3631" y="0"/>
              <a:ext cx="3627" cy="4103"/>
              <a:chOff x="204" y="45"/>
              <a:chExt cx="6325" cy="3401"/>
            </a:xfrm>
          </p:grpSpPr>
          <p:pic>
            <p:nvPicPr>
              <p:cNvPr id="1029" name="Picture 60" descr="图片2"/>
              <p:cNvPicPr>
                <a:picLocks noChangeArrowheads="1"/>
              </p:cNvPicPr>
              <p:nvPr userDrawn="1"/>
            </p:nvPicPr>
            <p:blipFill>
              <a:blip r:embed="rId13"/>
              <a:srcRect/>
              <a:stretch>
                <a:fillRect/>
              </a:stretch>
            </p:blipFill>
            <p:spPr bwMode="auto">
              <a:xfrm>
                <a:off x="391" y="181"/>
                <a:ext cx="5962" cy="3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030" name="Picture 67" descr="01"/>
              <p:cNvPicPr>
                <a:picLocks noChangeArrowheads="1"/>
              </p:cNvPicPr>
              <p:nvPr userDrawn="1"/>
            </p:nvPicPr>
            <p:blipFill>
              <a:blip r:embed="rId1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204" y="45"/>
                <a:ext cx="6325" cy="34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 spd="slow">
    <p:split orient="vert"/>
  </p:transition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split orient="vert"/>
  </p:transition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02" name="Rectangle 38"/>
          <p:cNvSpPr>
            <a:spLocks noChangeArrowheads="1"/>
          </p:cNvSpPr>
          <p:nvPr/>
        </p:nvSpPr>
        <p:spPr bwMode="auto">
          <a:xfrm>
            <a:off x="6008688" y="358775"/>
            <a:ext cx="2735262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 dirty="0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解题思路：</a:t>
            </a:r>
          </a:p>
        </p:txBody>
      </p:sp>
      <p:sp>
        <p:nvSpPr>
          <p:cNvPr id="2051" name="Text Box 39"/>
          <p:cNvSpPr txBox="1">
            <a:spLocks noChangeArrowheads="1"/>
          </p:cNvSpPr>
          <p:nvPr/>
        </p:nvSpPr>
        <p:spPr bwMode="auto">
          <a:xfrm>
            <a:off x="179388" y="358775"/>
            <a:ext cx="1657350" cy="4730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习题</a:t>
            </a:r>
            <a:r>
              <a:rPr lang="en-US" altLang="zh-CN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7-1</a:t>
            </a: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：</a:t>
            </a:r>
          </a:p>
        </p:txBody>
      </p:sp>
      <p:sp>
        <p:nvSpPr>
          <p:cNvPr id="62504" name="Rectangle 40"/>
          <p:cNvSpPr>
            <a:spLocks noChangeArrowheads="1"/>
          </p:cNvSpPr>
          <p:nvPr/>
        </p:nvSpPr>
        <p:spPr bwMode="auto">
          <a:xfrm>
            <a:off x="227013" y="358775"/>
            <a:ext cx="5327650" cy="3646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 dirty="0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                当氢原子的一个电子从第二能级跃入第一能级，发射光子的波长是</a:t>
            </a:r>
            <a:r>
              <a:rPr lang="en-US" altLang="zh-CN" sz="2500" b="1" dirty="0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121.6nm</a:t>
            </a:r>
            <a:r>
              <a:rPr lang="zh-CN" altLang="en-US" sz="2500" b="1" dirty="0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；当电子从第三能级跃入第二能级，发射光子的波长是</a:t>
            </a:r>
            <a:r>
              <a:rPr lang="en-US" altLang="zh-CN" sz="2500" b="1" dirty="0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656.5 nm.</a:t>
            </a:r>
          </a:p>
          <a:p>
            <a:pPr eaLnBrk="0" hangingPunct="0"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zh-CN" sz="2500" b="1" dirty="0">
                <a:ea typeface="华文新魏" pitchFamily="2" charset="-122"/>
                <a:cs typeface="Times New Roman" pitchFamily="18" charset="0"/>
              </a:rPr>
              <a:t>①</a:t>
            </a:r>
            <a:r>
              <a:rPr lang="zh-CN" altLang="en-US" sz="2500" b="1" dirty="0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哪一个光子的能量大</a:t>
            </a:r>
            <a:r>
              <a:rPr lang="en-US" altLang="zh-CN" sz="2500" b="1" dirty="0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?</a:t>
            </a:r>
          </a:p>
          <a:p>
            <a:pPr eaLnBrk="0" hangingPunct="0"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zh-CN" sz="2500" b="1" dirty="0">
                <a:ea typeface="华文新魏" pitchFamily="2" charset="-122"/>
                <a:cs typeface="Times New Roman" pitchFamily="18" charset="0"/>
              </a:rPr>
              <a:t>②</a:t>
            </a:r>
            <a:r>
              <a:rPr lang="zh-CN" altLang="en-US" sz="2500" b="1" dirty="0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根据</a:t>
            </a:r>
            <a:r>
              <a:rPr lang="zh-CN" altLang="zh-CN" sz="2500" b="1" dirty="0">
                <a:ea typeface="华文新魏" pitchFamily="2" charset="-122"/>
                <a:cs typeface="Times New Roman" pitchFamily="18" charset="0"/>
              </a:rPr>
              <a:t>①</a:t>
            </a:r>
            <a:r>
              <a:rPr lang="zh-CN" altLang="en-US" sz="2500" b="1" dirty="0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的计算结果，说明原子中电子在各轨道上所具有的能量是连续的还是量子化的</a:t>
            </a:r>
            <a:r>
              <a:rPr lang="en-US" altLang="zh-CN" sz="2500" b="1" dirty="0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?</a:t>
            </a:r>
          </a:p>
        </p:txBody>
      </p:sp>
      <p:sp>
        <p:nvSpPr>
          <p:cNvPr id="5" name="Rectangle 38"/>
          <p:cNvSpPr>
            <a:spLocks noChangeArrowheads="1"/>
          </p:cNvSpPr>
          <p:nvPr/>
        </p:nvSpPr>
        <p:spPr bwMode="auto">
          <a:xfrm>
            <a:off x="5988050" y="2982913"/>
            <a:ext cx="2735263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参考答案：</a:t>
            </a: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7070725" y="2952750"/>
            <a:ext cx="391001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en-US" altLang="zh-CN" sz="2500" b="1" i="1">
                <a:ea typeface="华文新魏" pitchFamily="2" charset="-122"/>
                <a:cs typeface="Times New Roman" pitchFamily="18" charset="0"/>
              </a:rPr>
              <a:t>       E</a:t>
            </a:r>
            <a:r>
              <a:rPr lang="en-US" altLang="zh-CN" sz="2500" b="1" baseline="-25000">
                <a:ea typeface="华文新魏" pitchFamily="2" charset="-122"/>
                <a:cs typeface="Times New Roman" pitchFamily="18" charset="0"/>
              </a:rPr>
              <a:t>2-1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大；量子化；</a:t>
            </a:r>
            <a:endParaRPr lang="zh-CN" altLang="en-US" sz="2500" b="1">
              <a:solidFill>
                <a:srgbClr val="FFFFFF"/>
              </a:solidFill>
              <a:ea typeface="华文新魏" pitchFamily="2" charset="-122"/>
              <a:cs typeface="Times New Roman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7561263" y="935038"/>
          <a:ext cx="1955800" cy="868362"/>
        </p:xfrm>
        <a:graphic>
          <a:graphicData uri="http://schemas.openxmlformats.org/presentationml/2006/ole">
            <p:oleObj spid="_x0000_s2055" name="公式" r:id="rId4" imgW="888614" imgH="393529" progId="Equation.3">
              <p:embed/>
            </p:oleObj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502" grpId="0" autoUpdateAnimBg="0"/>
      <p:bldP spid="5" grpId="0" autoUpdateAnimBg="0"/>
      <p:bldP spid="7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6008688" y="3024188"/>
            <a:ext cx="5224462" cy="1246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                  7.27×l0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-10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m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；电子速度为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0 m·s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-1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时，波长为无穷大；高速运动的电子才呈现波动性；</a:t>
            </a:r>
            <a:endParaRPr lang="zh-CN" altLang="en-US" sz="2500" b="1">
              <a:solidFill>
                <a:srgbClr val="FFFFFF"/>
              </a:solidFill>
              <a:ea typeface="华文新魏" pitchFamily="2" charset="-122"/>
              <a:cs typeface="Times New Roman" pitchFamily="18" charset="0"/>
            </a:endParaRPr>
          </a:p>
        </p:txBody>
      </p:sp>
      <p:sp>
        <p:nvSpPr>
          <p:cNvPr id="62502" name="Rectangle 38"/>
          <p:cNvSpPr>
            <a:spLocks noChangeArrowheads="1"/>
          </p:cNvSpPr>
          <p:nvPr/>
        </p:nvSpPr>
        <p:spPr bwMode="auto">
          <a:xfrm>
            <a:off x="6008688" y="358775"/>
            <a:ext cx="2735262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解题思路：</a:t>
            </a:r>
          </a:p>
        </p:txBody>
      </p:sp>
      <p:sp>
        <p:nvSpPr>
          <p:cNvPr id="3076" name="Text Box 39"/>
          <p:cNvSpPr txBox="1">
            <a:spLocks noChangeArrowheads="1"/>
          </p:cNvSpPr>
          <p:nvPr/>
        </p:nvSpPr>
        <p:spPr bwMode="auto">
          <a:xfrm>
            <a:off x="179388" y="358775"/>
            <a:ext cx="1657350" cy="4730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习题</a:t>
            </a:r>
            <a:r>
              <a:rPr lang="en-US" altLang="zh-CN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7-2</a:t>
            </a: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：</a:t>
            </a:r>
          </a:p>
        </p:txBody>
      </p:sp>
      <p:sp>
        <p:nvSpPr>
          <p:cNvPr id="62504" name="Rectangle 40"/>
          <p:cNvSpPr>
            <a:spLocks noChangeArrowheads="1"/>
          </p:cNvSpPr>
          <p:nvPr/>
        </p:nvSpPr>
        <p:spPr bwMode="auto">
          <a:xfrm>
            <a:off x="231775" y="358775"/>
            <a:ext cx="532765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indent="-342900" eaLnBrk="0" hangingPunct="0"/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              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计算质量为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9.11×l0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-31kg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的电子，以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l0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6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m·s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-1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的速度运动时产生的电子波的波长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(nm).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如果这个电子的速度为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0m·s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-1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(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静止不动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)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，则波长为多少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?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通过计算说明电子在什么情况下才呈现波动性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?</a:t>
            </a:r>
            <a:endParaRPr lang="zh-CN" altLang="zh-CN" sz="2500" b="1">
              <a:ea typeface="华文新魏" pitchFamily="2" charset="-122"/>
              <a:cs typeface="Times New Roman" pitchFamily="18" charset="0"/>
            </a:endParaRPr>
          </a:p>
        </p:txBody>
      </p:sp>
      <p:sp>
        <p:nvSpPr>
          <p:cNvPr id="5" name="Rectangle 38"/>
          <p:cNvSpPr>
            <a:spLocks noChangeArrowheads="1"/>
          </p:cNvSpPr>
          <p:nvPr/>
        </p:nvSpPr>
        <p:spPr bwMode="auto">
          <a:xfrm>
            <a:off x="5988050" y="3054350"/>
            <a:ext cx="2735263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参考答案：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7543800" y="844550"/>
          <a:ext cx="1905000" cy="955675"/>
        </p:xfrm>
        <a:graphic>
          <a:graphicData uri="http://schemas.openxmlformats.org/presentationml/2006/ole">
            <p:oleObj spid="_x0000_s3079" name="公式" r:id="rId4" imgW="774364" imgH="418918" progId="Equation.3">
              <p:embed/>
            </p:oleObj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62502" grpId="0" autoUpdateAnimBg="0"/>
      <p:bldP spid="62504" grpId="0" autoUpdateAnimBg="0"/>
      <p:bldP spid="5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04" name="Rectangle 40"/>
          <p:cNvSpPr>
            <a:spLocks noChangeArrowheads="1"/>
          </p:cNvSpPr>
          <p:nvPr/>
        </p:nvSpPr>
        <p:spPr bwMode="auto">
          <a:xfrm>
            <a:off x="179388" y="358775"/>
            <a:ext cx="5380037" cy="547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>
              <a:defRPr/>
            </a:pPr>
            <a:r>
              <a:rPr lang="en-US" altLang="zh-CN" sz="2500" b="1" dirty="0" smtClean="0">
                <a:ea typeface="华文新魏" panose="02010800040101010101" pitchFamily="2" charset="-122"/>
                <a:cs typeface="Times New Roman" panose="02020603050405020304" pitchFamily="18" charset="0"/>
              </a:rPr>
              <a:t>               </a:t>
            </a:r>
            <a:r>
              <a:rPr lang="zh-CN" altLang="zh-CN" sz="2500" b="1" dirty="0" smtClean="0">
                <a:ea typeface="华文新魏" panose="02010800040101010101" pitchFamily="2" charset="-122"/>
                <a:cs typeface="Times New Roman" panose="02020603050405020304" pitchFamily="18" charset="0"/>
              </a:rPr>
              <a:t>写出</a:t>
            </a:r>
            <a:r>
              <a:rPr lang="en-US" altLang="zh-CN" sz="2500" b="1" dirty="0" smtClean="0">
                <a:ea typeface="华文新魏" panose="020108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2500" b="1" dirty="0" smtClean="0">
                <a:ea typeface="华文新魏" panose="02010800040101010101" pitchFamily="2" charset="-122"/>
                <a:cs typeface="Times New Roman" panose="02020603050405020304" pitchFamily="18" charset="0"/>
              </a:rPr>
              <a:t>＝</a:t>
            </a:r>
            <a:r>
              <a:rPr lang="en-US" altLang="zh-CN" sz="2500" b="1" dirty="0" smtClean="0">
                <a:ea typeface="华文新魏" panose="020108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2500" b="1" dirty="0" smtClean="0">
                <a:ea typeface="华文新魏" panose="02010800040101010101" pitchFamily="2" charset="-122"/>
                <a:cs typeface="Times New Roman" panose="02020603050405020304" pitchFamily="18" charset="0"/>
              </a:rPr>
              <a:t>主层中各个电子的</a:t>
            </a:r>
            <a:r>
              <a:rPr lang="en-US" altLang="zh-CN" sz="2500" b="1" i="1" dirty="0" smtClean="0">
                <a:ea typeface="华文新魏" panose="020108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2500" b="1" i="1" dirty="0" smtClean="0">
                <a:ea typeface="华文新魏" panose="020108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500" b="1" i="1" dirty="0" smtClean="0">
                <a:ea typeface="华文新魏" panose="0201080004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sz="2500" b="1" i="1" dirty="0" smtClean="0">
                <a:ea typeface="华文新魏" panose="020108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500" b="1" i="1" dirty="0" smtClean="0">
                <a:ea typeface="华文新魏" panose="0201080004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sz="2500" b="1" dirty="0" smtClean="0">
                <a:ea typeface="华文新魏" panose="02010800040101010101" pitchFamily="2" charset="-122"/>
                <a:cs typeface="Times New Roman" panose="02020603050405020304" pitchFamily="18" charset="0"/>
              </a:rPr>
              <a:t>量子数与所在轨道符号，并指出各亚层中的轨道数和最多能容纳的电子数，总的轨道数和最多能容纳的总的电子数，各轨道之间的能量关系如何</a:t>
            </a:r>
            <a:r>
              <a:rPr lang="en-US" altLang="zh-CN" sz="2500" b="1" dirty="0" smtClean="0">
                <a:ea typeface="华文新魏" panose="02010800040101010101" pitchFamily="2" charset="-122"/>
                <a:cs typeface="Times New Roman" panose="02020603050405020304" pitchFamily="18" charset="0"/>
              </a:rPr>
              <a:t>?(</a:t>
            </a:r>
            <a:r>
              <a:rPr lang="zh-CN" altLang="zh-CN" sz="2500" b="1" dirty="0" smtClean="0">
                <a:ea typeface="华文新魏" panose="02010800040101010101" pitchFamily="2" charset="-122"/>
                <a:cs typeface="Times New Roman" panose="02020603050405020304" pitchFamily="18" charset="0"/>
              </a:rPr>
              <a:t>统一按下面的方法列表表示</a:t>
            </a:r>
            <a:r>
              <a:rPr lang="en-US" altLang="zh-CN" sz="2500" b="1" dirty="0" smtClean="0">
                <a:ea typeface="华文新魏" panose="02010800040101010101" pitchFamily="2" charset="-122"/>
                <a:cs typeface="Times New Roman" panose="02020603050405020304" pitchFamily="18" charset="0"/>
              </a:rPr>
              <a:t>).</a:t>
            </a:r>
            <a:endParaRPr lang="zh-CN" altLang="zh-CN" sz="2500" b="1" dirty="0" smtClean="0"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500" b="1" dirty="0" smtClean="0">
                <a:ea typeface="华文新魏" panose="0201080004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500" b="1" i="1" dirty="0" smtClean="0">
                <a:ea typeface="华文新魏" panose="020108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500" b="1" dirty="0" smtClean="0">
                <a:ea typeface="华文新魏" panose="02010800040101010101" pitchFamily="2" charset="-122"/>
                <a:cs typeface="Times New Roman" panose="02020603050405020304" pitchFamily="18" charset="0"/>
              </a:rPr>
              <a:t>=</a:t>
            </a:r>
            <a:endParaRPr lang="zh-CN" altLang="zh-CN" sz="2500" b="1" dirty="0" smtClean="0"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500" b="1" dirty="0" smtClean="0">
                <a:ea typeface="华文新魏" panose="0201080004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500" b="1" i="1" dirty="0" smtClean="0">
                <a:ea typeface="华文新魏" panose="020108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500" b="1" dirty="0" smtClean="0">
                <a:ea typeface="华文新魏" panose="02010800040101010101" pitchFamily="2" charset="-122"/>
                <a:cs typeface="Times New Roman" panose="02020603050405020304" pitchFamily="18" charset="0"/>
              </a:rPr>
              <a:t>=</a:t>
            </a:r>
            <a:endParaRPr lang="zh-CN" altLang="zh-CN" sz="2500" b="1" dirty="0" smtClean="0"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500" b="1" dirty="0" smtClean="0">
                <a:ea typeface="华文新魏" panose="0201080004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500" b="1" i="1" dirty="0" smtClean="0">
                <a:ea typeface="华文新魏" panose="0201080004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500" b="1" dirty="0" smtClean="0">
                <a:ea typeface="华文新魏" panose="02010800040101010101" pitchFamily="2" charset="-122"/>
                <a:cs typeface="Times New Roman" panose="02020603050405020304" pitchFamily="18" charset="0"/>
              </a:rPr>
              <a:t>=</a:t>
            </a:r>
            <a:endParaRPr lang="zh-CN" altLang="zh-CN" sz="2500" b="1" dirty="0" smtClean="0"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500" b="1" dirty="0" smtClean="0">
                <a:ea typeface="华文新魏" panose="0201080004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zh-CN" sz="2500" b="1" dirty="0" smtClean="0">
                <a:ea typeface="华文新魏" panose="02010800040101010101" pitchFamily="2" charset="-122"/>
                <a:cs typeface="Times New Roman" panose="02020603050405020304" pitchFamily="18" charset="0"/>
              </a:rPr>
              <a:t>轨道符号：</a:t>
            </a:r>
          </a:p>
          <a:p>
            <a:pPr>
              <a:defRPr/>
            </a:pPr>
            <a:r>
              <a:rPr lang="en-US" altLang="zh-CN" sz="2500" b="1" dirty="0" smtClean="0">
                <a:ea typeface="华文新魏" panose="0201080004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zh-CN" sz="2500" b="1" dirty="0" smtClean="0">
                <a:ea typeface="华文新魏" panose="02010800040101010101" pitchFamily="2" charset="-122"/>
                <a:cs typeface="Times New Roman" panose="02020603050405020304" pitchFamily="18" charset="0"/>
              </a:rPr>
              <a:t>亚层轨道数：</a:t>
            </a:r>
          </a:p>
          <a:p>
            <a:pPr>
              <a:defRPr/>
            </a:pPr>
            <a:r>
              <a:rPr lang="en-US" altLang="zh-CN" sz="2500" b="1" dirty="0" smtClean="0">
                <a:ea typeface="华文新魏" panose="0201080004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zh-CN" sz="2500" b="1" dirty="0" smtClean="0">
                <a:ea typeface="华文新魏" panose="02010800040101010101" pitchFamily="2" charset="-122"/>
                <a:cs typeface="Times New Roman" panose="02020603050405020304" pitchFamily="18" charset="0"/>
              </a:rPr>
              <a:t>电子数：</a:t>
            </a:r>
            <a:endParaRPr lang="en-US" altLang="zh-CN" sz="2500" b="1" dirty="0" smtClean="0"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500" b="1" dirty="0" smtClean="0">
                <a:ea typeface="华文新魏" panose="0201080004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zh-CN" sz="2500" b="1" dirty="0" smtClean="0">
                <a:ea typeface="华文新魏" panose="02010800040101010101" pitchFamily="2" charset="-122"/>
                <a:cs typeface="Times New Roman" panose="02020603050405020304" pitchFamily="18" charset="0"/>
              </a:rPr>
              <a:t>总的轨道数：</a:t>
            </a:r>
          </a:p>
          <a:p>
            <a:pPr>
              <a:defRPr/>
            </a:pPr>
            <a:r>
              <a:rPr lang="en-US" altLang="zh-CN" sz="2500" b="1" dirty="0" smtClean="0">
                <a:ea typeface="华文新魏" panose="0201080004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zh-CN" sz="2500" b="1" dirty="0" smtClean="0">
                <a:ea typeface="华文新魏" panose="02010800040101010101" pitchFamily="2" charset="-122"/>
                <a:cs typeface="Times New Roman" panose="02020603050405020304" pitchFamily="18" charset="0"/>
              </a:rPr>
              <a:t>总的电子数：</a:t>
            </a:r>
          </a:p>
        </p:txBody>
      </p:sp>
      <p:sp>
        <p:nvSpPr>
          <p:cNvPr id="62502" name="Rectangle 38"/>
          <p:cNvSpPr>
            <a:spLocks noChangeArrowheads="1"/>
          </p:cNvSpPr>
          <p:nvPr/>
        </p:nvSpPr>
        <p:spPr bwMode="auto">
          <a:xfrm>
            <a:off x="6008688" y="358775"/>
            <a:ext cx="2735262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解题思路：</a:t>
            </a:r>
          </a:p>
        </p:txBody>
      </p:sp>
      <p:sp>
        <p:nvSpPr>
          <p:cNvPr id="4100" name="Text Box 39"/>
          <p:cNvSpPr txBox="1">
            <a:spLocks noChangeArrowheads="1"/>
          </p:cNvSpPr>
          <p:nvPr/>
        </p:nvSpPr>
        <p:spPr bwMode="auto">
          <a:xfrm>
            <a:off x="179388" y="358775"/>
            <a:ext cx="1657350" cy="4730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习题</a:t>
            </a:r>
            <a:r>
              <a:rPr lang="en-US" altLang="zh-CN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7-3</a:t>
            </a: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：</a:t>
            </a:r>
          </a:p>
        </p:txBody>
      </p:sp>
      <p:sp>
        <p:nvSpPr>
          <p:cNvPr id="5" name="Rectangle 38"/>
          <p:cNvSpPr>
            <a:spLocks noChangeArrowheads="1"/>
          </p:cNvSpPr>
          <p:nvPr/>
        </p:nvSpPr>
        <p:spPr bwMode="auto">
          <a:xfrm>
            <a:off x="5976938" y="2667000"/>
            <a:ext cx="2735262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参考答案：</a:t>
            </a: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7577138" y="360363"/>
            <a:ext cx="3729037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四个量子数的取值和意义</a:t>
            </a:r>
            <a:endParaRPr lang="zh-CN" altLang="en-US" sz="2500" b="1">
              <a:ea typeface="华文新魏" pitchFamily="2" charset="-122"/>
              <a:cs typeface="Times New Roman" pitchFamily="18" charset="0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6065838" y="3154363"/>
          <a:ext cx="5145087" cy="29654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7469"/>
                <a:gridCol w="397559"/>
                <a:gridCol w="708745"/>
                <a:gridCol w="1108842"/>
                <a:gridCol w="1592472"/>
              </a:tblGrid>
              <a:tr h="370681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n=</a:t>
                      </a:r>
                      <a:endParaRPr lang="zh-CN" sz="1800" b="1" kern="100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8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1800" b="1" dirty="0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52" marR="91452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4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400" b="1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</a:tr>
              <a:tr h="370681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l=</a:t>
                      </a:r>
                      <a:endParaRPr lang="zh-CN" sz="1800" b="1" kern="100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800" b="1" kern="100" dirty="0"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800" b="1" kern="100" dirty="0"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1800" b="1" kern="100" dirty="0"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1800" b="1" kern="100" dirty="0"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681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m=</a:t>
                      </a:r>
                      <a:endParaRPr lang="zh-CN" sz="1800" b="1" kern="100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800" b="1" kern="100" dirty="0"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zh-CN" sz="18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8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±</a:t>
                      </a:r>
                      <a:r>
                        <a:rPr lang="en-US" sz="1800" b="1" kern="100" dirty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800" b="1" kern="100" dirty="0"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zh-CN" sz="18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8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±1</a:t>
                      </a:r>
                      <a:r>
                        <a:rPr lang="en-US" altLang="zh-CN" sz="18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8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±</a:t>
                      </a:r>
                      <a:r>
                        <a:rPr lang="en-US" sz="1800" b="1" kern="100" dirty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1800" b="1" kern="100" dirty="0"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zh-CN" sz="18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8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±1</a:t>
                      </a:r>
                      <a:r>
                        <a:rPr lang="en-US" altLang="zh-CN" sz="18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8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±2</a:t>
                      </a:r>
                      <a:r>
                        <a:rPr lang="en-US" altLang="zh-CN" sz="18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8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±</a:t>
                      </a:r>
                      <a:r>
                        <a:rPr lang="en-US" sz="1800" b="1" kern="100" dirty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1800" b="1" kern="100" dirty="0"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681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轨道</a:t>
                      </a:r>
                      <a:r>
                        <a:rPr lang="zh-CN" sz="1800" b="1" kern="100" dirty="0" smtClean="0"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符号</a:t>
                      </a:r>
                      <a:endParaRPr lang="zh-CN" sz="1800" b="1" kern="100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4s</a:t>
                      </a:r>
                      <a:endParaRPr lang="zh-CN" sz="1800" b="1" kern="100"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4p</a:t>
                      </a:r>
                      <a:endParaRPr lang="zh-CN" sz="1800" b="1" kern="100" dirty="0"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4d</a:t>
                      </a:r>
                      <a:endParaRPr lang="zh-CN" sz="1800" b="1" kern="100"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4f</a:t>
                      </a:r>
                      <a:endParaRPr lang="zh-CN" sz="1800" b="1" kern="100" dirty="0"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681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亚层轨道</a:t>
                      </a:r>
                      <a:r>
                        <a:rPr lang="zh-CN" sz="1800" b="1" kern="100" dirty="0" smtClean="0"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数</a:t>
                      </a:r>
                      <a:endParaRPr lang="zh-CN" sz="1800" b="1" kern="100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800" b="1" kern="100"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1800" b="1" kern="100" dirty="0"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sz="1800" b="1" kern="100"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lang="zh-CN" sz="1800" b="1" kern="100" dirty="0"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681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电子</a:t>
                      </a:r>
                      <a:r>
                        <a:rPr lang="zh-CN" sz="1800" b="1" kern="100" dirty="0" smtClean="0"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数</a:t>
                      </a:r>
                      <a:endParaRPr lang="zh-CN" sz="1800" b="1" kern="100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1800" b="1" kern="100"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lang="zh-CN" sz="1800" b="1" kern="100" dirty="0"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lang="zh-CN" sz="1800" b="1" kern="100"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14</a:t>
                      </a:r>
                      <a:endParaRPr lang="zh-CN" sz="1800" b="1" kern="100" dirty="0"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681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总的轨道</a:t>
                      </a:r>
                      <a:r>
                        <a:rPr lang="zh-CN" sz="1800" b="1" kern="100" dirty="0" smtClean="0"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数</a:t>
                      </a:r>
                      <a:endParaRPr lang="zh-CN" sz="1800" b="1" kern="100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  <a:endParaRPr lang="zh-CN" altLang="en-US" sz="1800" b="1" dirty="0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52" marR="91452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681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总的电子</a:t>
                      </a:r>
                      <a:r>
                        <a:rPr lang="zh-CN" sz="1800" b="1" kern="100" dirty="0" smtClean="0"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数</a:t>
                      </a:r>
                      <a:endParaRPr lang="zh-CN" sz="1800" b="1" kern="100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32</a:t>
                      </a:r>
                      <a:endParaRPr lang="zh-CN" altLang="en-US" sz="1800" b="1" dirty="0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52" marR="91452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504" grpId="0" autoUpdateAnimBg="0"/>
      <p:bldP spid="62502" grpId="0" autoUpdateAnimBg="0"/>
      <p:bldP spid="5" grpId="0" autoUpdateAnimBg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04" name="Rectangle 40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231135" y="358894"/>
            <a:ext cx="5328592" cy="3077253"/>
          </a:xfrm>
          <a:prstGeom prst="rect">
            <a:avLst/>
          </a:prstGeom>
          <a:blipFill rotWithShape="1">
            <a:blip r:embed="rId3"/>
            <a:stretch>
              <a:fillRect l="-1945" t="-1386" r="-1831" b="-1386"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62502" name="Rectangle 38"/>
          <p:cNvSpPr>
            <a:spLocks noChangeArrowheads="1"/>
          </p:cNvSpPr>
          <p:nvPr/>
        </p:nvSpPr>
        <p:spPr bwMode="auto">
          <a:xfrm>
            <a:off x="6008688" y="358775"/>
            <a:ext cx="2735262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解题思路：</a:t>
            </a:r>
          </a:p>
        </p:txBody>
      </p:sp>
      <p:sp>
        <p:nvSpPr>
          <p:cNvPr id="5124" name="Text Box 39"/>
          <p:cNvSpPr txBox="1">
            <a:spLocks noChangeArrowheads="1"/>
          </p:cNvSpPr>
          <p:nvPr/>
        </p:nvSpPr>
        <p:spPr bwMode="auto">
          <a:xfrm>
            <a:off x="179388" y="358775"/>
            <a:ext cx="1657350" cy="4730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习题</a:t>
            </a:r>
            <a:r>
              <a:rPr lang="en-US" altLang="zh-CN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7-4</a:t>
            </a: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：</a:t>
            </a:r>
          </a:p>
        </p:txBody>
      </p:sp>
      <p:sp>
        <p:nvSpPr>
          <p:cNvPr id="5" name="Rectangle 38"/>
          <p:cNvSpPr>
            <a:spLocks noChangeArrowheads="1"/>
          </p:cNvSpPr>
          <p:nvPr/>
        </p:nvSpPr>
        <p:spPr bwMode="auto">
          <a:xfrm>
            <a:off x="6024563" y="3198813"/>
            <a:ext cx="2735262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参考答案：</a:t>
            </a: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6089650" y="3184525"/>
            <a:ext cx="511810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                  </a:t>
            </a:r>
            <a:r>
              <a:rPr lang="zh-CN" altLang="en-US" sz="2500" b="1">
                <a:ea typeface="华文新魏" pitchFamily="2" charset="-122"/>
                <a:cs typeface="Times New Roman" pitchFamily="18" charset="0"/>
              </a:rPr>
              <a:t>①②不存在，③④存在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;</a:t>
            </a:r>
            <a:endParaRPr lang="zh-CN" altLang="en-US" sz="2500" b="1">
              <a:solidFill>
                <a:srgbClr val="FFFFFF"/>
              </a:solidFill>
              <a:ea typeface="华文新魏" pitchFamily="2" charset="-122"/>
              <a:cs typeface="Times New Roman" pitchFamily="18" charset="0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7577138" y="360363"/>
            <a:ext cx="33909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ea typeface="华文新魏" pitchFamily="2" charset="-122"/>
                <a:cs typeface="Times New Roman" pitchFamily="18" charset="0"/>
              </a:rPr>
              <a:t>四个量子数的取值范围</a:t>
            </a:r>
          </a:p>
        </p:txBody>
      </p:sp>
      <p:sp>
        <p:nvSpPr>
          <p:cNvPr id="5128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502" grpId="0" autoUpdateAnimBg="0"/>
      <p:bldP spid="5" grpId="0" autoUpdateAnimBg="0"/>
      <p:bldP spid="7" grpId="0" autoUpdateAnimBg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04" name="Rectangle 40"/>
          <p:cNvSpPr>
            <a:spLocks noChangeArrowheads="1"/>
          </p:cNvSpPr>
          <p:nvPr/>
        </p:nvSpPr>
        <p:spPr bwMode="auto">
          <a:xfrm>
            <a:off x="231775" y="358775"/>
            <a:ext cx="5327650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indent="-342900" eaLnBrk="0" hangingPunct="0"/>
            <a:r>
              <a:rPr lang="zh-CN" altLang="en-US" sz="2500" b="1">
                <a:ea typeface="华文新魏" pitchFamily="2" charset="-122"/>
                <a:cs typeface="Times New Roman" pitchFamily="18" charset="0"/>
              </a:rPr>
              <a:t>               写出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Ne</a:t>
            </a:r>
            <a:r>
              <a:rPr lang="zh-CN" altLang="en-US" sz="2500" b="1">
                <a:ea typeface="华文新魏" pitchFamily="2" charset="-122"/>
                <a:cs typeface="Times New Roman" pitchFamily="18" charset="0"/>
              </a:rPr>
              <a:t>原子中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10</a:t>
            </a:r>
            <a:r>
              <a:rPr lang="zh-CN" altLang="en-US" sz="2500" b="1">
                <a:ea typeface="华文新魏" pitchFamily="2" charset="-122"/>
                <a:cs typeface="Times New Roman" pitchFamily="18" charset="0"/>
              </a:rPr>
              <a:t>个电子各自的四个量子数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.</a:t>
            </a:r>
            <a:endParaRPr lang="zh-CN" altLang="zh-CN" sz="2500" b="1">
              <a:ea typeface="华文新魏" pitchFamily="2" charset="-122"/>
              <a:cs typeface="Times New Roman" pitchFamily="18" charset="0"/>
            </a:endParaRPr>
          </a:p>
        </p:txBody>
      </p:sp>
      <p:sp>
        <p:nvSpPr>
          <p:cNvPr id="62502" name="Rectangle 38"/>
          <p:cNvSpPr>
            <a:spLocks noChangeArrowheads="1"/>
          </p:cNvSpPr>
          <p:nvPr/>
        </p:nvSpPr>
        <p:spPr bwMode="auto">
          <a:xfrm>
            <a:off x="6008688" y="358775"/>
            <a:ext cx="2735262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解题思路：</a:t>
            </a:r>
          </a:p>
        </p:txBody>
      </p:sp>
      <p:sp>
        <p:nvSpPr>
          <p:cNvPr id="6148" name="Text Box 39"/>
          <p:cNvSpPr txBox="1">
            <a:spLocks noChangeArrowheads="1"/>
          </p:cNvSpPr>
          <p:nvPr/>
        </p:nvSpPr>
        <p:spPr bwMode="auto">
          <a:xfrm>
            <a:off x="179388" y="358775"/>
            <a:ext cx="1657350" cy="4730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习题</a:t>
            </a:r>
            <a:r>
              <a:rPr lang="en-US" altLang="zh-CN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7-5</a:t>
            </a: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：</a:t>
            </a:r>
          </a:p>
        </p:txBody>
      </p:sp>
      <p:sp>
        <p:nvSpPr>
          <p:cNvPr id="5" name="Rectangle 38"/>
          <p:cNvSpPr>
            <a:spLocks noChangeArrowheads="1"/>
          </p:cNvSpPr>
          <p:nvPr/>
        </p:nvSpPr>
        <p:spPr bwMode="auto">
          <a:xfrm>
            <a:off x="6008688" y="3054350"/>
            <a:ext cx="2735262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参考答案：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6024563" y="358775"/>
            <a:ext cx="5205412" cy="1246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>
                <a:ea typeface="华文新魏" pitchFamily="2" charset="-122"/>
                <a:cs typeface="Times New Roman" pitchFamily="18" charset="0"/>
              </a:rPr>
              <a:t>                   可用四个量子数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(n</a:t>
            </a:r>
            <a:r>
              <a:rPr lang="zh-CN" altLang="en-US" sz="2500" b="1">
                <a:ea typeface="华文新魏" pitchFamily="2" charset="-122"/>
                <a:cs typeface="Times New Roman" pitchFamily="18" charset="0"/>
              </a:rPr>
              <a:t>，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l</a:t>
            </a:r>
            <a:r>
              <a:rPr lang="zh-CN" altLang="en-US" sz="2500" b="1">
                <a:ea typeface="华文新魏" pitchFamily="2" charset="-122"/>
                <a:cs typeface="Times New Roman" pitchFamily="18" charset="0"/>
              </a:rPr>
              <a:t>，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m</a:t>
            </a:r>
            <a:r>
              <a:rPr lang="zh-CN" altLang="en-US" sz="2500" b="1">
                <a:ea typeface="华文新魏" pitchFamily="2" charset="-122"/>
                <a:cs typeface="Times New Roman" pitchFamily="18" charset="0"/>
              </a:rPr>
              <a:t>，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ms)</a:t>
            </a:r>
            <a:r>
              <a:rPr lang="zh-CN" altLang="en-US" sz="2500" b="1">
                <a:ea typeface="华文新魏" pitchFamily="2" charset="-122"/>
                <a:cs typeface="Times New Roman" pitchFamily="18" charset="0"/>
              </a:rPr>
              <a:t>来描述原子核外每个电子的运动状态</a:t>
            </a:r>
          </a:p>
        </p:txBody>
      </p:sp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40438" y="3384550"/>
            <a:ext cx="5121275" cy="285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504" grpId="0" autoUpdateAnimBg="0"/>
      <p:bldP spid="62502" grpId="0" autoUpdateAnimBg="0"/>
      <p:bldP spid="5" grpId="0" autoUpdateAnimBg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0"/>
          <p:cNvSpPr>
            <a:spLocks noChangeArrowheads="1"/>
          </p:cNvSpPr>
          <p:nvPr/>
        </p:nvSpPr>
        <p:spPr bwMode="auto">
          <a:xfrm>
            <a:off x="179388" y="338138"/>
            <a:ext cx="3997325" cy="1246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zh-CN" altLang="en-US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                写出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Ni</a:t>
            </a:r>
            <a:r>
              <a:rPr lang="zh-CN" altLang="en-US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原子最外两个电子层中每个电子的四个量子数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.</a:t>
            </a:r>
            <a:endParaRPr lang="zh-CN" altLang="en-US" sz="2500" b="1">
              <a:solidFill>
                <a:srgbClr val="FFFFFF"/>
              </a:solidFill>
              <a:ea typeface="华文新魏" pitchFamily="2" charset="-122"/>
              <a:cs typeface="Times New Roman" pitchFamily="18" charset="0"/>
            </a:endParaRPr>
          </a:p>
        </p:txBody>
      </p:sp>
      <p:sp>
        <p:nvSpPr>
          <p:cNvPr id="7171" name="Text Box 39"/>
          <p:cNvSpPr txBox="1">
            <a:spLocks noChangeArrowheads="1"/>
          </p:cNvSpPr>
          <p:nvPr/>
        </p:nvSpPr>
        <p:spPr bwMode="auto">
          <a:xfrm>
            <a:off x="179388" y="358775"/>
            <a:ext cx="1836737" cy="4778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习题</a:t>
            </a:r>
            <a:r>
              <a:rPr lang="en-US" altLang="zh-CN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7-6</a:t>
            </a: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：</a:t>
            </a:r>
          </a:p>
        </p:txBody>
      </p:sp>
      <p:sp>
        <p:nvSpPr>
          <p:cNvPr id="5" name="Rectangle 38"/>
          <p:cNvSpPr>
            <a:spLocks noChangeArrowheads="1"/>
          </p:cNvSpPr>
          <p:nvPr/>
        </p:nvSpPr>
        <p:spPr bwMode="auto">
          <a:xfrm>
            <a:off x="4608513" y="261938"/>
            <a:ext cx="6627812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                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按照鲍林近似能级顺序和核外电子排布规则，可知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Ni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原子的核外电子排布式为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1</a:t>
            </a:r>
            <a:r>
              <a:rPr lang="en-US" altLang="zh-CN" sz="2500" b="1" i="1">
                <a:ea typeface="华文新魏" pitchFamily="2" charset="-122"/>
                <a:cs typeface="Times New Roman" pitchFamily="18" charset="0"/>
              </a:rPr>
              <a:t>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2 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500" b="1" i="1">
                <a:ea typeface="华文新魏" pitchFamily="2" charset="-122"/>
                <a:cs typeface="Times New Roman" pitchFamily="18" charset="0"/>
              </a:rPr>
              <a:t>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500" b="1" i="1"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6 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3</a:t>
            </a:r>
            <a:r>
              <a:rPr lang="en-US" altLang="zh-CN" sz="2500" b="1" i="1">
                <a:ea typeface="华文新魏" pitchFamily="2" charset="-122"/>
                <a:cs typeface="Times New Roman" pitchFamily="18" charset="0"/>
              </a:rPr>
              <a:t>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3</a:t>
            </a:r>
            <a:r>
              <a:rPr lang="en-US" altLang="zh-CN" sz="2500" b="1" i="1"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6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3</a:t>
            </a:r>
            <a:r>
              <a:rPr lang="en-US" altLang="zh-CN" sz="2500" b="1" i="1">
                <a:ea typeface="华文新魏" pitchFamily="2" charset="-122"/>
                <a:cs typeface="Times New Roman" pitchFamily="18" charset="0"/>
              </a:rPr>
              <a:t>d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8 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4</a:t>
            </a:r>
            <a:r>
              <a:rPr lang="en-US" altLang="zh-CN" sz="2500" b="1" i="1">
                <a:ea typeface="华文新魏" pitchFamily="2" charset="-122"/>
                <a:cs typeface="Times New Roman" pitchFamily="18" charset="0"/>
              </a:rPr>
              <a:t>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，其中最外两个电子层的电子排布为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3</a:t>
            </a:r>
            <a:r>
              <a:rPr lang="en-US" altLang="zh-CN" sz="2500" b="1" i="1">
                <a:ea typeface="华文新魏" pitchFamily="2" charset="-122"/>
                <a:cs typeface="Times New Roman" pitchFamily="18" charset="0"/>
              </a:rPr>
              <a:t>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3</a:t>
            </a:r>
            <a:r>
              <a:rPr lang="en-US" altLang="zh-CN" sz="2500" b="1" i="1"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6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3</a:t>
            </a:r>
            <a:r>
              <a:rPr lang="en-US" altLang="zh-CN" sz="2500" b="1" i="1">
                <a:ea typeface="华文新魏" pitchFamily="2" charset="-122"/>
                <a:cs typeface="Times New Roman" pitchFamily="18" charset="0"/>
              </a:rPr>
              <a:t>d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8 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4</a:t>
            </a:r>
            <a:r>
              <a:rPr lang="en-US" altLang="zh-CN" sz="2500" b="1" i="1">
                <a:ea typeface="华文新魏" pitchFamily="2" charset="-122"/>
                <a:cs typeface="Times New Roman" pitchFamily="18" charset="0"/>
              </a:rPr>
              <a:t>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，然后用四个量子数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(</a:t>
            </a:r>
            <a:r>
              <a:rPr lang="en-US" altLang="zh-CN" sz="2500" b="1" i="1">
                <a:ea typeface="华文新魏" pitchFamily="2" charset="-122"/>
                <a:cs typeface="Times New Roman" pitchFamily="18" charset="0"/>
              </a:rPr>
              <a:t>n</a:t>
            </a:r>
            <a:r>
              <a:rPr lang="zh-CN" altLang="zh-CN" sz="2500" b="1" i="1">
                <a:ea typeface="华文新魏" pitchFamily="2" charset="-122"/>
                <a:cs typeface="Times New Roman" pitchFamily="18" charset="0"/>
              </a:rPr>
              <a:t>，</a:t>
            </a:r>
            <a:r>
              <a:rPr lang="en-US" altLang="zh-CN" sz="2500" b="1" i="1">
                <a:ea typeface="华文新魏" pitchFamily="2" charset="-122"/>
                <a:cs typeface="Times New Roman" pitchFamily="18" charset="0"/>
              </a:rPr>
              <a:t>l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，</a:t>
            </a:r>
            <a:r>
              <a:rPr lang="en-US" altLang="zh-CN" sz="2500" b="1" i="1">
                <a:ea typeface="华文新魏" pitchFamily="2" charset="-122"/>
                <a:cs typeface="Times New Roman" pitchFamily="18" charset="0"/>
              </a:rPr>
              <a:t>m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，</a:t>
            </a:r>
            <a:r>
              <a:rPr lang="en-US" altLang="zh-CN" sz="2500" b="1" i="1">
                <a:ea typeface="华文新魏" pitchFamily="2" charset="-122"/>
                <a:cs typeface="Times New Roman" pitchFamily="18" charset="0"/>
              </a:rPr>
              <a:t>m</a:t>
            </a:r>
            <a:r>
              <a:rPr lang="en-US" altLang="zh-CN" sz="2500" b="1" i="1" baseline="-25000">
                <a:ea typeface="华文新魏" pitchFamily="2" charset="-122"/>
                <a:cs typeface="Times New Roman" pitchFamily="18" charset="0"/>
              </a:rPr>
              <a:t>s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)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来描述最外两个电子层中每个电子的运动状态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.</a:t>
            </a:r>
            <a:endParaRPr lang="zh-CN" altLang="zh-CN" sz="2500" b="1">
              <a:solidFill>
                <a:srgbClr val="FFFFFF"/>
              </a:solidFill>
              <a:ea typeface="华文新魏" pitchFamily="2" charset="-122"/>
              <a:cs typeface="Times New Roman" pitchFamily="18" charset="0"/>
            </a:endParaRPr>
          </a:p>
        </p:txBody>
      </p:sp>
      <p:sp>
        <p:nvSpPr>
          <p:cNvPr id="2" name="Rectangle 38"/>
          <p:cNvSpPr>
            <a:spLocks noChangeArrowheads="1"/>
          </p:cNvSpPr>
          <p:nvPr/>
        </p:nvSpPr>
        <p:spPr bwMode="auto">
          <a:xfrm>
            <a:off x="4608513" y="265113"/>
            <a:ext cx="18002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/>
            <a:r>
              <a:rPr lang="zh-CN" altLang="zh-CN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解题思路：</a:t>
            </a:r>
          </a:p>
        </p:txBody>
      </p:sp>
      <p:sp>
        <p:nvSpPr>
          <p:cNvPr id="6" name="Rectangle 38"/>
          <p:cNvSpPr>
            <a:spLocks noChangeArrowheads="1"/>
          </p:cNvSpPr>
          <p:nvPr/>
        </p:nvSpPr>
        <p:spPr bwMode="auto">
          <a:xfrm>
            <a:off x="4625975" y="2479675"/>
            <a:ext cx="2735263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参考答案：</a:t>
            </a:r>
          </a:p>
        </p:txBody>
      </p:sp>
      <p:sp>
        <p:nvSpPr>
          <p:cNvPr id="7" name="Rectangle 3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625898" y="2817831"/>
            <a:ext cx="6319715" cy="3415550"/>
          </a:xfrm>
          <a:prstGeom prst="rect">
            <a:avLst/>
          </a:prstGeom>
          <a:blipFill rotWithShape="1">
            <a:blip r:embed="rId3"/>
            <a:stretch>
              <a:fillRect l="-1639" b="-713"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  <p:bldP spid="2" grpId="0"/>
      <p:bldP spid="6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04" name="Rectangle 40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231135" y="358894"/>
            <a:ext cx="5328592" cy="4954433"/>
          </a:xfrm>
          <a:prstGeom prst="rect">
            <a:avLst/>
          </a:prstGeom>
          <a:blipFill rotWithShape="1">
            <a:blip r:embed="rId3"/>
            <a:stretch>
              <a:fillRect l="-1945" t="-861" r="-1831" b="-492"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zh-CN" altLang="en-US" b="1">
                <a:noFill/>
              </a:rPr>
              <a:t> </a:t>
            </a:r>
          </a:p>
        </p:txBody>
      </p:sp>
      <p:sp>
        <p:nvSpPr>
          <p:cNvPr id="62502" name="Rectangle 38"/>
          <p:cNvSpPr>
            <a:spLocks noChangeArrowheads="1"/>
          </p:cNvSpPr>
          <p:nvPr/>
        </p:nvSpPr>
        <p:spPr bwMode="auto">
          <a:xfrm>
            <a:off x="6008688" y="358775"/>
            <a:ext cx="2735262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解题思路：</a:t>
            </a:r>
          </a:p>
        </p:txBody>
      </p:sp>
      <p:sp>
        <p:nvSpPr>
          <p:cNvPr id="8196" name="Text Box 39"/>
          <p:cNvSpPr txBox="1">
            <a:spLocks noChangeArrowheads="1"/>
          </p:cNvSpPr>
          <p:nvPr/>
        </p:nvSpPr>
        <p:spPr bwMode="auto">
          <a:xfrm>
            <a:off x="179388" y="358775"/>
            <a:ext cx="1657350" cy="4730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习题</a:t>
            </a:r>
            <a:r>
              <a:rPr lang="en-US" altLang="zh-CN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7-7</a:t>
            </a: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：</a:t>
            </a:r>
          </a:p>
        </p:txBody>
      </p:sp>
      <p:sp>
        <p:nvSpPr>
          <p:cNvPr id="5" name="Rectangle 38"/>
          <p:cNvSpPr>
            <a:spLocks noChangeArrowheads="1"/>
          </p:cNvSpPr>
          <p:nvPr/>
        </p:nvSpPr>
        <p:spPr bwMode="auto">
          <a:xfrm>
            <a:off x="6008688" y="2978150"/>
            <a:ext cx="2735262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参考答案：</a:t>
            </a: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7632700" y="2978150"/>
            <a:ext cx="3122613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②&gt;①=④&gt;⑥&gt;③&gt;⑤</a:t>
            </a:r>
            <a:endParaRPr lang="zh-CN" altLang="en-US" sz="2500" b="1">
              <a:solidFill>
                <a:srgbClr val="FFFFFF"/>
              </a:solidFill>
              <a:ea typeface="华文新魏" pitchFamily="2" charset="-122"/>
              <a:cs typeface="Times New Roman" pitchFamily="18" charset="0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6024563" y="358775"/>
            <a:ext cx="5205412" cy="1246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                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电子能量由</a:t>
            </a:r>
            <a:r>
              <a:rPr lang="en-US" altLang="zh-CN" sz="2500" b="1" i="1">
                <a:ea typeface="华文新魏" pitchFamily="2" charset="-122"/>
                <a:cs typeface="Times New Roman" pitchFamily="18" charset="0"/>
              </a:rPr>
              <a:t>n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、</a:t>
            </a:r>
            <a:r>
              <a:rPr lang="en-US" altLang="zh-CN" sz="2500" b="1" i="1">
                <a:ea typeface="华文新魏" pitchFamily="2" charset="-122"/>
                <a:cs typeface="Times New Roman" pitchFamily="18" charset="0"/>
              </a:rPr>
              <a:t>l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决定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.</a:t>
            </a:r>
            <a:r>
              <a:rPr lang="en-US" altLang="zh-CN" sz="2500" b="1" i="1">
                <a:ea typeface="华文新魏" pitchFamily="2" charset="-122"/>
                <a:cs typeface="Times New Roman" pitchFamily="18" charset="0"/>
              </a:rPr>
              <a:t>n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值越大，能量越高；</a:t>
            </a:r>
            <a:r>
              <a:rPr lang="en-US" altLang="zh-CN" sz="2500" b="1" i="1">
                <a:ea typeface="华文新魏" pitchFamily="2" charset="-122"/>
                <a:cs typeface="Times New Roman" pitchFamily="18" charset="0"/>
              </a:rPr>
              <a:t>n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值相同时，</a:t>
            </a:r>
            <a:r>
              <a:rPr lang="en-US" altLang="zh-CN" sz="2500" b="1" i="1">
                <a:ea typeface="华文新魏" pitchFamily="2" charset="-122"/>
                <a:cs typeface="Times New Roman" pitchFamily="18" charset="0"/>
              </a:rPr>
              <a:t>l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值越大，能量越高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.</a:t>
            </a:r>
            <a:endParaRPr lang="zh-CN" altLang="en-US" sz="2500" b="1">
              <a:ea typeface="华文新魏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502" grpId="0" autoUpdateAnimBg="0"/>
      <p:bldP spid="5" grpId="0" autoUpdateAnimBg="0"/>
      <p:bldP spid="7" grpId="0" autoUpdateAnimBg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5976938" y="347663"/>
            <a:ext cx="5329237" cy="4710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                  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完全按照鲍林近似能级顺序和核外电子排布规则进行的电子排布，属于原子的基态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.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按照鲍林近似能级顺序和核外电子排布规则进行电子排布时，违背了能量最低原理，即电子填入能量较高的轨道时，比该轨道能量更低的轨道尚未完全充满，此种排布属于原子的激发态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(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洪特规则特例除外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).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未按照鲍林近似能级顺序进行电子排布，或者违背四个量子数的取值规则以及保里不相容原理等， 都属于错误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.</a:t>
            </a:r>
            <a:endParaRPr lang="zh-CN" altLang="en-US" sz="2500" b="1">
              <a:ea typeface="华文新魏" pitchFamily="2" charset="-122"/>
              <a:cs typeface="Times New Roman" pitchFamily="18" charset="0"/>
            </a:endParaRPr>
          </a:p>
        </p:txBody>
      </p:sp>
      <p:sp>
        <p:nvSpPr>
          <p:cNvPr id="62504" name="Rectangle 40"/>
          <p:cNvSpPr>
            <a:spLocks noChangeArrowheads="1"/>
          </p:cNvSpPr>
          <p:nvPr/>
        </p:nvSpPr>
        <p:spPr bwMode="auto">
          <a:xfrm>
            <a:off x="231775" y="358775"/>
            <a:ext cx="5327650" cy="470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indent="-342900" eaLnBrk="0" hangingPunct="0"/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             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当原子被激发时，通常是它的最外层电子向更高的能级跃迁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.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在下列各电子排布中哪种属于原子的基态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?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哪种属于原子的激发态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?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哪种纯属错误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?</a:t>
            </a:r>
            <a:endParaRPr lang="zh-CN" altLang="zh-CN" sz="2500" b="1">
              <a:ea typeface="华文新魏" pitchFamily="2" charset="-122"/>
              <a:cs typeface="Times New Roman" pitchFamily="18" charset="0"/>
            </a:endParaRPr>
          </a:p>
          <a:p>
            <a:pPr indent="-342900" eaLnBrk="0" hangingPunct="0"/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  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①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1s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2s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1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；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        </a:t>
            </a:r>
          </a:p>
          <a:p>
            <a:pPr indent="-342900" eaLnBrk="0" hangingPunct="0"/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  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②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1s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2s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2d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1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；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   </a:t>
            </a:r>
          </a:p>
          <a:p>
            <a:pPr indent="-342900" eaLnBrk="0" hangingPunct="0"/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  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③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1s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2s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2p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4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3s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1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；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   </a:t>
            </a:r>
          </a:p>
          <a:p>
            <a:pPr indent="-342900" eaLnBrk="0" hangingPunct="0"/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  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④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1s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2s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4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2p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；</a:t>
            </a:r>
            <a:endParaRPr lang="en-US" altLang="zh-CN" sz="2500" b="1">
              <a:ea typeface="华文新魏" pitchFamily="2" charset="-122"/>
              <a:cs typeface="Times New Roman" pitchFamily="18" charset="0"/>
            </a:endParaRPr>
          </a:p>
          <a:p>
            <a:pPr indent="-342900" eaLnBrk="0" hangingPunct="0"/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  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⑤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[Ne]3s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3p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8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4s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1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；</a:t>
            </a:r>
          </a:p>
          <a:p>
            <a:pPr indent="-342900" eaLnBrk="0" hangingPunct="0"/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  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⑥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[Ne]3s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3p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5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4s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1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；</a:t>
            </a:r>
          </a:p>
          <a:p>
            <a:pPr indent="-342900" eaLnBrk="0" hangingPunct="0"/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  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⑦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[Ar]4s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3d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3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.</a:t>
            </a:r>
            <a:endParaRPr lang="zh-CN" altLang="zh-CN" sz="2500" b="1">
              <a:ea typeface="华文新魏" pitchFamily="2" charset="-122"/>
              <a:cs typeface="Times New Roman" pitchFamily="18" charset="0"/>
            </a:endParaRPr>
          </a:p>
        </p:txBody>
      </p:sp>
      <p:sp>
        <p:nvSpPr>
          <p:cNvPr id="62502" name="Rectangle 38"/>
          <p:cNvSpPr>
            <a:spLocks noChangeArrowheads="1"/>
          </p:cNvSpPr>
          <p:nvPr/>
        </p:nvSpPr>
        <p:spPr bwMode="auto">
          <a:xfrm>
            <a:off x="6008688" y="358775"/>
            <a:ext cx="2735262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解题思路：</a:t>
            </a:r>
          </a:p>
        </p:txBody>
      </p:sp>
      <p:sp>
        <p:nvSpPr>
          <p:cNvPr id="9221" name="Text Box 39"/>
          <p:cNvSpPr txBox="1">
            <a:spLocks noChangeArrowheads="1"/>
          </p:cNvSpPr>
          <p:nvPr/>
        </p:nvSpPr>
        <p:spPr bwMode="auto">
          <a:xfrm>
            <a:off x="179388" y="358775"/>
            <a:ext cx="1657350" cy="4730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习题</a:t>
            </a:r>
            <a:r>
              <a:rPr lang="en-US" altLang="zh-CN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7-8</a:t>
            </a: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：</a:t>
            </a:r>
          </a:p>
        </p:txBody>
      </p:sp>
      <p:sp>
        <p:nvSpPr>
          <p:cNvPr id="5" name="Rectangle 38"/>
          <p:cNvSpPr>
            <a:spLocks noChangeArrowheads="1"/>
          </p:cNvSpPr>
          <p:nvPr/>
        </p:nvSpPr>
        <p:spPr bwMode="auto">
          <a:xfrm>
            <a:off x="6013450" y="4922838"/>
            <a:ext cx="2735263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参考答案：</a:t>
            </a: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6013450" y="4922838"/>
            <a:ext cx="5292725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                  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基态①⑦；激发态③⑥；错误②④⑤</a:t>
            </a:r>
            <a:r>
              <a:rPr lang="zh-CN" altLang="en-US" sz="2500" b="1">
                <a:ea typeface="华文新魏" pitchFamily="2" charset="-122"/>
                <a:cs typeface="Times New Roman" pitchFamily="18" charset="0"/>
              </a:rPr>
              <a:t>；</a:t>
            </a:r>
            <a:endParaRPr lang="zh-CN" altLang="en-US" sz="2500" b="1">
              <a:solidFill>
                <a:srgbClr val="FFFFFF"/>
              </a:solidFill>
              <a:ea typeface="华文新魏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2504" grpId="0" autoUpdateAnimBg="0"/>
      <p:bldP spid="62502" grpId="0" autoUpdateAnimBg="0"/>
      <p:bldP spid="5" grpId="0" autoUpdateAnimBg="0"/>
      <p:bldP spid="7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5976938" y="287338"/>
            <a:ext cx="5329237" cy="278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>
                <a:ea typeface="华文新魏" pitchFamily="2" charset="-122"/>
                <a:cs typeface="Times New Roman" pitchFamily="18" charset="0"/>
              </a:rPr>
              <a:t>                    按照鲍林近似能级顺序和核外电子排布规则，书写基态原子的核外电子排布式；周期数 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= </a:t>
            </a:r>
            <a:r>
              <a:rPr lang="zh-CN" altLang="en-US" sz="2500" b="1">
                <a:ea typeface="华文新魏" pitchFamily="2" charset="-122"/>
                <a:cs typeface="Times New Roman" pitchFamily="18" charset="0"/>
              </a:rPr>
              <a:t>电子层数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(Pd</a:t>
            </a:r>
            <a:r>
              <a:rPr lang="zh-CN" altLang="en-US" sz="2500" b="1">
                <a:ea typeface="华文新魏" pitchFamily="2" charset="-122"/>
                <a:cs typeface="Times New Roman" pitchFamily="18" charset="0"/>
              </a:rPr>
              <a:t>除外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)</a:t>
            </a:r>
            <a:r>
              <a:rPr lang="zh-CN" altLang="en-US" sz="2500" b="1">
                <a:ea typeface="华文新魏" pitchFamily="2" charset="-122"/>
                <a:cs typeface="Times New Roman" pitchFamily="18" charset="0"/>
              </a:rPr>
              <a:t>＝最高能级组数；族数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=</a:t>
            </a:r>
            <a:r>
              <a:rPr lang="zh-CN" altLang="en-US" sz="2500" b="1">
                <a:ea typeface="华文新魏" pitchFamily="2" charset="-122"/>
                <a:cs typeface="Times New Roman" pitchFamily="18" charset="0"/>
              </a:rPr>
              <a:t>价电子数＝最高氧化数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(</a:t>
            </a:r>
            <a:r>
              <a:rPr lang="zh-CN" altLang="en-US" sz="2500" b="1">
                <a:ea typeface="华文新魏" pitchFamily="2" charset="-122"/>
                <a:cs typeface="Times New Roman" pitchFamily="18" charset="0"/>
              </a:rPr>
              <a:t>有例外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)</a:t>
            </a:r>
            <a:r>
              <a:rPr lang="zh-CN" altLang="en-US" sz="2500" b="1">
                <a:ea typeface="华文新魏" pitchFamily="2" charset="-122"/>
                <a:cs typeface="Times New Roman" pitchFamily="18" charset="0"/>
              </a:rPr>
              <a:t>，可参考该原子的价电子层构型，确定所属第几族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.</a:t>
            </a:r>
            <a:endParaRPr lang="zh-CN" altLang="en-US" sz="2500" b="1">
              <a:ea typeface="华文新魏" pitchFamily="2" charset="-122"/>
              <a:cs typeface="Times New Roman" pitchFamily="18" charset="0"/>
            </a:endParaRPr>
          </a:p>
        </p:txBody>
      </p:sp>
      <p:sp>
        <p:nvSpPr>
          <p:cNvPr id="62504" name="Rectangle 40"/>
          <p:cNvSpPr>
            <a:spLocks noChangeArrowheads="1"/>
          </p:cNvSpPr>
          <p:nvPr/>
        </p:nvSpPr>
        <p:spPr bwMode="auto">
          <a:xfrm>
            <a:off x="231775" y="358775"/>
            <a:ext cx="5327650" cy="163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             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写出下列原子的电子排布式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.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并指出它们各属于第几周期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?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第几族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?</a:t>
            </a:r>
            <a:endParaRPr lang="zh-CN" altLang="zh-CN" sz="2500" b="1">
              <a:ea typeface="华文新魏" pitchFamily="2" charset="-122"/>
              <a:cs typeface="Times New Roman" pitchFamily="18" charset="0"/>
            </a:endParaRPr>
          </a:p>
          <a:p>
            <a:pPr eaLnBrk="0" hangingPunct="0"/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①</a:t>
            </a:r>
            <a:r>
              <a:rPr lang="en-US" altLang="zh-CN" sz="2500" b="1" baseline="-25000">
                <a:ea typeface="华文新魏" pitchFamily="2" charset="-122"/>
                <a:cs typeface="Times New Roman" pitchFamily="18" charset="0"/>
              </a:rPr>
              <a:t>13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A1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；②</a:t>
            </a:r>
            <a:r>
              <a:rPr lang="en-US" altLang="zh-CN" sz="2500" b="1" baseline="-25000">
                <a:ea typeface="华文新魏" pitchFamily="2" charset="-122"/>
                <a:cs typeface="Times New Roman" pitchFamily="18" charset="0"/>
              </a:rPr>
              <a:t>17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C1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；③</a:t>
            </a:r>
            <a:r>
              <a:rPr lang="en-US" altLang="zh-CN" sz="2500" b="1" baseline="-25000">
                <a:ea typeface="华文新魏" pitchFamily="2" charset="-122"/>
                <a:cs typeface="Times New Roman" pitchFamily="18" charset="0"/>
              </a:rPr>
              <a:t>24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Cr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；④</a:t>
            </a:r>
            <a:r>
              <a:rPr lang="en-US" altLang="zh-CN" sz="2500" b="1" baseline="-25000">
                <a:ea typeface="华文新魏" pitchFamily="2" charset="-122"/>
                <a:cs typeface="Times New Roman" pitchFamily="18" charset="0"/>
              </a:rPr>
              <a:t>26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Fe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；</a:t>
            </a:r>
            <a:endParaRPr lang="en-US" altLang="zh-CN" sz="2500" b="1">
              <a:ea typeface="华文新魏" pitchFamily="2" charset="-122"/>
              <a:cs typeface="Times New Roman" pitchFamily="18" charset="0"/>
            </a:endParaRPr>
          </a:p>
          <a:p>
            <a:pPr eaLnBrk="0" hangingPunct="0"/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⑤</a:t>
            </a:r>
            <a:r>
              <a:rPr lang="en-US" altLang="zh-CN" sz="2500" b="1" baseline="-25000">
                <a:ea typeface="华文新魏" pitchFamily="2" charset="-122"/>
                <a:cs typeface="Times New Roman" pitchFamily="18" charset="0"/>
              </a:rPr>
              <a:t>47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Ag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；⑥</a:t>
            </a:r>
            <a:r>
              <a:rPr lang="en-US" altLang="zh-CN" sz="2500" b="1" baseline="-25000">
                <a:ea typeface="华文新魏" pitchFamily="2" charset="-122"/>
                <a:cs typeface="Times New Roman" pitchFamily="18" charset="0"/>
              </a:rPr>
              <a:t>82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Pb.</a:t>
            </a:r>
            <a:endParaRPr lang="zh-CN" altLang="zh-CN" sz="2500" b="1">
              <a:ea typeface="华文新魏" pitchFamily="2" charset="-122"/>
              <a:cs typeface="Times New Roman" pitchFamily="18" charset="0"/>
            </a:endParaRPr>
          </a:p>
        </p:txBody>
      </p:sp>
      <p:sp>
        <p:nvSpPr>
          <p:cNvPr id="62502" name="Rectangle 38"/>
          <p:cNvSpPr>
            <a:spLocks noChangeArrowheads="1"/>
          </p:cNvSpPr>
          <p:nvPr/>
        </p:nvSpPr>
        <p:spPr bwMode="auto">
          <a:xfrm>
            <a:off x="6008688" y="298450"/>
            <a:ext cx="2735262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解题思路：</a:t>
            </a:r>
          </a:p>
        </p:txBody>
      </p:sp>
      <p:sp>
        <p:nvSpPr>
          <p:cNvPr id="10245" name="Text Box 39"/>
          <p:cNvSpPr txBox="1">
            <a:spLocks noChangeArrowheads="1"/>
          </p:cNvSpPr>
          <p:nvPr/>
        </p:nvSpPr>
        <p:spPr bwMode="auto">
          <a:xfrm>
            <a:off x="179388" y="358775"/>
            <a:ext cx="1657350" cy="4730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习题</a:t>
            </a:r>
            <a:r>
              <a:rPr lang="en-US" altLang="zh-CN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7-9</a:t>
            </a: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：</a:t>
            </a:r>
          </a:p>
        </p:txBody>
      </p:sp>
      <p:sp>
        <p:nvSpPr>
          <p:cNvPr id="5" name="Rectangle 38"/>
          <p:cNvSpPr>
            <a:spLocks noChangeArrowheads="1"/>
          </p:cNvSpPr>
          <p:nvPr/>
        </p:nvSpPr>
        <p:spPr bwMode="auto">
          <a:xfrm>
            <a:off x="5988050" y="2952750"/>
            <a:ext cx="2735263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参考答案：</a:t>
            </a: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5976938" y="3341688"/>
            <a:ext cx="5545137" cy="267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/>
            <a:r>
              <a:rPr lang="zh-CN" altLang="zh-CN" sz="2400" b="1">
                <a:ea typeface="华文新魏" pitchFamily="2" charset="-122"/>
                <a:cs typeface="Times New Roman" pitchFamily="18" charset="0"/>
              </a:rPr>
              <a:t>①</a:t>
            </a:r>
            <a:r>
              <a:rPr lang="en-US" altLang="zh-CN" sz="2400" b="1" baseline="-25000">
                <a:ea typeface="华文新魏" pitchFamily="2" charset="-122"/>
                <a:cs typeface="Times New Roman" pitchFamily="18" charset="0"/>
              </a:rPr>
              <a:t>13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A1: 1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s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2 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s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6 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3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s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3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1</a:t>
            </a:r>
            <a:endParaRPr lang="zh-CN" altLang="zh-CN" sz="2400" b="1">
              <a:ea typeface="华文新魏" pitchFamily="2" charset="-122"/>
              <a:cs typeface="Times New Roman" pitchFamily="18" charset="0"/>
            </a:endParaRPr>
          </a:p>
          <a:p>
            <a:pPr marL="342900" indent="-342900" eaLnBrk="0" hangingPunct="0"/>
            <a:r>
              <a:rPr lang="zh-CN" altLang="zh-CN" sz="2400" b="1">
                <a:ea typeface="华文新魏" pitchFamily="2" charset="-122"/>
                <a:cs typeface="Times New Roman" pitchFamily="18" charset="0"/>
              </a:rPr>
              <a:t>②</a:t>
            </a:r>
            <a:r>
              <a:rPr lang="en-US" altLang="zh-CN" sz="2400" b="1" baseline="-25000">
                <a:ea typeface="华文新魏" pitchFamily="2" charset="-122"/>
                <a:cs typeface="Times New Roman" pitchFamily="18" charset="0"/>
              </a:rPr>
              <a:t>17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C1: 1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s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2 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s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6 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3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s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3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5</a:t>
            </a:r>
            <a:endParaRPr lang="zh-CN" altLang="zh-CN" sz="2400" b="1">
              <a:ea typeface="华文新魏" pitchFamily="2" charset="-122"/>
              <a:cs typeface="Times New Roman" pitchFamily="18" charset="0"/>
            </a:endParaRPr>
          </a:p>
          <a:p>
            <a:pPr marL="342900" indent="-342900" eaLnBrk="0" hangingPunct="0"/>
            <a:r>
              <a:rPr lang="zh-CN" altLang="zh-CN" sz="2400" b="1">
                <a:ea typeface="华文新魏" pitchFamily="2" charset="-122"/>
                <a:cs typeface="Times New Roman" pitchFamily="18" charset="0"/>
              </a:rPr>
              <a:t>③</a:t>
            </a:r>
            <a:r>
              <a:rPr lang="en-US" altLang="zh-CN" sz="2400" b="1" baseline="-25000">
                <a:ea typeface="华文新魏" pitchFamily="2" charset="-122"/>
                <a:cs typeface="Times New Roman" pitchFamily="18" charset="0"/>
              </a:rPr>
              <a:t>24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Cr : 1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s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2 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s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6 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3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s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3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6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3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d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5 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4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s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1</a:t>
            </a:r>
            <a:endParaRPr lang="zh-CN" altLang="zh-CN" sz="2400" b="1">
              <a:ea typeface="华文新魏" pitchFamily="2" charset="-122"/>
              <a:cs typeface="Times New Roman" pitchFamily="18" charset="0"/>
            </a:endParaRPr>
          </a:p>
          <a:p>
            <a:pPr marL="342900" indent="-342900" eaLnBrk="0" hangingPunct="0"/>
            <a:r>
              <a:rPr lang="zh-CN" altLang="zh-CN" sz="2400" b="1">
                <a:ea typeface="华文新魏" pitchFamily="2" charset="-122"/>
                <a:cs typeface="Times New Roman" pitchFamily="18" charset="0"/>
              </a:rPr>
              <a:t>④</a:t>
            </a:r>
            <a:r>
              <a:rPr lang="en-US" altLang="zh-CN" sz="2400" b="1" baseline="-25000">
                <a:ea typeface="华文新魏" pitchFamily="2" charset="-122"/>
                <a:cs typeface="Times New Roman" pitchFamily="18" charset="0"/>
              </a:rPr>
              <a:t>26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Fe : 1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s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2 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s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6 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3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s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3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6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3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d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6 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4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s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2</a:t>
            </a:r>
            <a:endParaRPr lang="zh-CN" altLang="zh-CN" sz="2400" b="1">
              <a:ea typeface="华文新魏" pitchFamily="2" charset="-122"/>
              <a:cs typeface="Times New Roman" pitchFamily="18" charset="0"/>
            </a:endParaRPr>
          </a:p>
          <a:p>
            <a:pPr marL="342900" indent="-342900" eaLnBrk="0" hangingPunct="0"/>
            <a:r>
              <a:rPr lang="zh-CN" altLang="zh-CN" sz="2400" b="1">
                <a:ea typeface="华文新魏" pitchFamily="2" charset="-122"/>
                <a:cs typeface="Times New Roman" pitchFamily="18" charset="0"/>
              </a:rPr>
              <a:t>⑤</a:t>
            </a:r>
            <a:r>
              <a:rPr lang="en-US" altLang="zh-CN" sz="2400" b="1" baseline="-25000">
                <a:ea typeface="华文新魏" pitchFamily="2" charset="-122"/>
                <a:cs typeface="Times New Roman" pitchFamily="18" charset="0"/>
              </a:rPr>
              <a:t>47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Ag : 1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s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s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6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3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s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3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6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3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d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10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4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s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4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6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4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d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10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5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s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1</a:t>
            </a:r>
            <a:endParaRPr lang="zh-CN" altLang="zh-CN" sz="2400" b="1">
              <a:ea typeface="华文新魏" pitchFamily="2" charset="-122"/>
              <a:cs typeface="Times New Roman" pitchFamily="18" charset="0"/>
            </a:endParaRPr>
          </a:p>
          <a:p>
            <a:pPr marL="342900" indent="-342900" eaLnBrk="0" hangingPunct="0"/>
            <a:r>
              <a:rPr lang="zh-CN" altLang="zh-CN" sz="2400" b="1">
                <a:ea typeface="华文新魏" pitchFamily="2" charset="-122"/>
                <a:cs typeface="Times New Roman" pitchFamily="18" charset="0"/>
              </a:rPr>
              <a:t>⑥</a:t>
            </a:r>
            <a:r>
              <a:rPr lang="en-US" altLang="zh-CN" sz="2400" b="1" baseline="-25000">
                <a:ea typeface="华文新魏" pitchFamily="2" charset="-122"/>
                <a:cs typeface="Times New Roman" pitchFamily="18" charset="0"/>
              </a:rPr>
              <a:t>82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Pb : 1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s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s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6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3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s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3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6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3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d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10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4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s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4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6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4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d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10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4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f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14        </a:t>
            </a:r>
          </a:p>
          <a:p>
            <a:pPr marL="342900" indent="-342900" eaLnBrk="0" hangingPunct="0"/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                      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5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s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5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6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5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d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10 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6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s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400" b="1">
                <a:ea typeface="华文新魏" pitchFamily="2" charset="-122"/>
                <a:cs typeface="Times New Roman" pitchFamily="18" charset="0"/>
              </a:rPr>
              <a:t>6</a:t>
            </a:r>
            <a:r>
              <a:rPr lang="en-US" altLang="zh-CN" sz="2400" b="1" i="1"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sz="2400" b="1" baseline="30000">
                <a:ea typeface="华文新魏" pitchFamily="2" charset="-122"/>
                <a:cs typeface="Times New Roman" pitchFamily="18" charset="0"/>
              </a:rPr>
              <a:t>2</a:t>
            </a:r>
            <a:endParaRPr lang="zh-CN" altLang="en-US" sz="2400" b="1">
              <a:solidFill>
                <a:srgbClr val="FFFFFF"/>
              </a:solidFill>
              <a:ea typeface="华文新魏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2504" grpId="0" autoUpdateAnimBg="0"/>
      <p:bldP spid="62502" grpId="0" autoUpdateAnimBg="0"/>
      <p:bldP spid="5" grpId="0" autoUpdateAnimBg="0"/>
      <p:bldP spid="7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0"/>
          <p:cNvSpPr>
            <a:spLocks noChangeArrowheads="1"/>
          </p:cNvSpPr>
          <p:nvPr/>
        </p:nvSpPr>
        <p:spPr bwMode="auto">
          <a:xfrm>
            <a:off x="179388" y="338138"/>
            <a:ext cx="3997325" cy="163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                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写出下列离子的电子排布式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.</a:t>
            </a:r>
            <a:endParaRPr lang="zh-CN" altLang="zh-CN" sz="2500" b="1">
              <a:ea typeface="华文新魏" pitchFamily="2" charset="-122"/>
              <a:cs typeface="Times New Roman" pitchFamily="18" charset="0"/>
            </a:endParaRPr>
          </a:p>
          <a:p>
            <a:pPr eaLnBrk="0" hangingPunct="0"/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①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2-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；②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K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+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；③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Mn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2+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；</a:t>
            </a:r>
            <a:endParaRPr lang="en-US" altLang="zh-CN" sz="2500" b="1">
              <a:ea typeface="华文新魏" pitchFamily="2" charset="-122"/>
              <a:cs typeface="Times New Roman" pitchFamily="18" charset="0"/>
            </a:endParaRPr>
          </a:p>
          <a:p>
            <a:pPr eaLnBrk="0" hangingPunct="0"/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④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Fe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2+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.</a:t>
            </a:r>
            <a:endParaRPr lang="zh-CN" altLang="en-US" sz="2500" b="1">
              <a:solidFill>
                <a:srgbClr val="FFFFFF"/>
              </a:solidFill>
              <a:ea typeface="华文新魏" pitchFamily="2" charset="-122"/>
              <a:cs typeface="Times New Roman" pitchFamily="18" charset="0"/>
            </a:endParaRPr>
          </a:p>
        </p:txBody>
      </p:sp>
      <p:sp>
        <p:nvSpPr>
          <p:cNvPr id="11267" name="Text Box 39"/>
          <p:cNvSpPr txBox="1">
            <a:spLocks noChangeArrowheads="1"/>
          </p:cNvSpPr>
          <p:nvPr/>
        </p:nvSpPr>
        <p:spPr bwMode="auto">
          <a:xfrm>
            <a:off x="179388" y="358775"/>
            <a:ext cx="1836737" cy="4778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习题</a:t>
            </a:r>
            <a:r>
              <a:rPr lang="en-US" altLang="zh-CN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7-10</a:t>
            </a: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：</a:t>
            </a:r>
          </a:p>
        </p:txBody>
      </p:sp>
      <p:sp>
        <p:nvSpPr>
          <p:cNvPr id="5" name="Rectangle 38"/>
          <p:cNvSpPr>
            <a:spLocks noChangeArrowheads="1"/>
          </p:cNvSpPr>
          <p:nvPr/>
        </p:nvSpPr>
        <p:spPr bwMode="auto">
          <a:xfrm>
            <a:off x="4608513" y="261938"/>
            <a:ext cx="6627812" cy="317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zh-CN" altLang="en-US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                   按照鲍林近似能级顺序和核外电子排布规则，书写基态原子核外电子排布式，然后再把得失的电子数加上或减去即可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.</a:t>
            </a:r>
            <a:r>
              <a:rPr lang="zh-CN" altLang="en-US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注意，原子失电子顺序并不是填充电子顺序的逆方向，一般情况下，优先失去最外电子层的电子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.  </a:t>
            </a:r>
          </a:p>
          <a:p>
            <a:pPr eaLnBrk="0" hangingPunct="0"/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       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书写离子的核外电子排布式时，可以简写为“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[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原子实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]+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最高能级组”的形式，不能只写“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[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原子实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]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”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.</a:t>
            </a:r>
            <a:endParaRPr lang="zh-CN" altLang="zh-CN" sz="2500" b="1">
              <a:solidFill>
                <a:srgbClr val="FFFFFF"/>
              </a:solidFill>
              <a:ea typeface="华文新魏" pitchFamily="2" charset="-122"/>
              <a:cs typeface="Times New Roman" pitchFamily="18" charset="0"/>
            </a:endParaRPr>
          </a:p>
        </p:txBody>
      </p:sp>
      <p:sp>
        <p:nvSpPr>
          <p:cNvPr id="2" name="Rectangle 38"/>
          <p:cNvSpPr>
            <a:spLocks noChangeArrowheads="1"/>
          </p:cNvSpPr>
          <p:nvPr/>
        </p:nvSpPr>
        <p:spPr bwMode="auto">
          <a:xfrm>
            <a:off x="4608513" y="265113"/>
            <a:ext cx="18002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/>
            <a:r>
              <a:rPr lang="zh-CN" altLang="zh-CN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解题思路：</a:t>
            </a:r>
          </a:p>
        </p:txBody>
      </p:sp>
      <p:sp>
        <p:nvSpPr>
          <p:cNvPr id="6" name="Rectangle 38"/>
          <p:cNvSpPr>
            <a:spLocks noChangeArrowheads="1"/>
          </p:cNvSpPr>
          <p:nvPr/>
        </p:nvSpPr>
        <p:spPr bwMode="auto">
          <a:xfrm>
            <a:off x="4608513" y="3311525"/>
            <a:ext cx="2735262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参考答案：</a:t>
            </a: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4630738" y="3671888"/>
            <a:ext cx="6319837" cy="163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/>
            <a:r>
              <a:rPr lang="zh-CN" altLang="zh-CN" sz="2500" b="1">
                <a:cs typeface="Times New Roman" pitchFamily="18" charset="0"/>
              </a:rPr>
              <a:t>①</a:t>
            </a:r>
            <a:r>
              <a:rPr lang="en-US" altLang="zh-CN" sz="2500" b="1">
                <a:cs typeface="Times New Roman" pitchFamily="18" charset="0"/>
              </a:rPr>
              <a:t>S</a:t>
            </a:r>
            <a:r>
              <a:rPr lang="en-US" altLang="zh-CN" sz="2500" b="1" baseline="30000">
                <a:cs typeface="Times New Roman" pitchFamily="18" charset="0"/>
              </a:rPr>
              <a:t>2-</a:t>
            </a:r>
            <a:r>
              <a:rPr lang="zh-CN" altLang="zh-CN" sz="2500" b="1">
                <a:cs typeface="Times New Roman" pitchFamily="18" charset="0"/>
              </a:rPr>
              <a:t>：</a:t>
            </a:r>
            <a:r>
              <a:rPr lang="en-US" altLang="zh-CN" sz="2500" b="1">
                <a:cs typeface="Times New Roman" pitchFamily="18" charset="0"/>
              </a:rPr>
              <a:t>1</a:t>
            </a:r>
            <a:r>
              <a:rPr lang="en-US" altLang="zh-CN" sz="2500" b="1" i="1">
                <a:cs typeface="Times New Roman" pitchFamily="18" charset="0"/>
              </a:rPr>
              <a:t>s</a:t>
            </a:r>
            <a:r>
              <a:rPr lang="en-US" altLang="zh-CN" sz="2500" b="1" baseline="30000">
                <a:cs typeface="Times New Roman" pitchFamily="18" charset="0"/>
              </a:rPr>
              <a:t>2</a:t>
            </a:r>
            <a:r>
              <a:rPr lang="en-US" altLang="zh-CN" sz="2500" b="1">
                <a:cs typeface="Times New Roman" pitchFamily="18" charset="0"/>
              </a:rPr>
              <a:t>2</a:t>
            </a:r>
            <a:r>
              <a:rPr lang="en-US" altLang="zh-CN" sz="2500" b="1" i="1">
                <a:cs typeface="Times New Roman" pitchFamily="18" charset="0"/>
              </a:rPr>
              <a:t>s</a:t>
            </a:r>
            <a:r>
              <a:rPr lang="en-US" altLang="zh-CN" sz="2500" b="1" baseline="30000">
                <a:cs typeface="Times New Roman" pitchFamily="18" charset="0"/>
              </a:rPr>
              <a:t>2</a:t>
            </a:r>
            <a:r>
              <a:rPr lang="en-US" altLang="zh-CN" sz="2500" b="1">
                <a:cs typeface="Times New Roman" pitchFamily="18" charset="0"/>
              </a:rPr>
              <a:t>2</a:t>
            </a:r>
            <a:r>
              <a:rPr lang="en-US" altLang="zh-CN" sz="2500" b="1" i="1">
                <a:cs typeface="Times New Roman" pitchFamily="18" charset="0"/>
              </a:rPr>
              <a:t>p</a:t>
            </a:r>
            <a:r>
              <a:rPr lang="en-US" altLang="zh-CN" sz="2500" b="1" baseline="30000">
                <a:cs typeface="Times New Roman" pitchFamily="18" charset="0"/>
              </a:rPr>
              <a:t>6</a:t>
            </a:r>
            <a:r>
              <a:rPr lang="en-US" altLang="zh-CN" sz="2500" b="1">
                <a:cs typeface="Times New Roman" pitchFamily="18" charset="0"/>
              </a:rPr>
              <a:t>3</a:t>
            </a:r>
            <a:r>
              <a:rPr lang="en-US" altLang="zh-CN" sz="2500" b="1" i="1">
                <a:cs typeface="Times New Roman" pitchFamily="18" charset="0"/>
              </a:rPr>
              <a:t>s</a:t>
            </a:r>
            <a:r>
              <a:rPr lang="en-US" altLang="zh-CN" sz="2500" b="1" baseline="30000">
                <a:cs typeface="Times New Roman" pitchFamily="18" charset="0"/>
              </a:rPr>
              <a:t>2</a:t>
            </a:r>
            <a:r>
              <a:rPr lang="en-US" altLang="zh-CN" sz="2500" b="1">
                <a:cs typeface="Times New Roman" pitchFamily="18" charset="0"/>
              </a:rPr>
              <a:t>3</a:t>
            </a:r>
            <a:r>
              <a:rPr lang="en-US" altLang="zh-CN" sz="2500" b="1" i="1">
                <a:cs typeface="Times New Roman" pitchFamily="18" charset="0"/>
              </a:rPr>
              <a:t>p</a:t>
            </a:r>
            <a:r>
              <a:rPr lang="en-US" altLang="zh-CN" sz="2500" b="1" baseline="30000">
                <a:cs typeface="Times New Roman" pitchFamily="18" charset="0"/>
              </a:rPr>
              <a:t>6</a:t>
            </a:r>
            <a:r>
              <a:rPr lang="en-US" altLang="zh-CN" sz="2500" b="1">
                <a:cs typeface="Times New Roman" pitchFamily="18" charset="0"/>
              </a:rPr>
              <a:t> or [Ne]3</a:t>
            </a:r>
            <a:r>
              <a:rPr lang="en-US" altLang="zh-CN" sz="2500" b="1" i="1">
                <a:cs typeface="Times New Roman" pitchFamily="18" charset="0"/>
              </a:rPr>
              <a:t>s</a:t>
            </a:r>
            <a:r>
              <a:rPr lang="en-US" altLang="zh-CN" sz="2500" b="1" baseline="30000">
                <a:cs typeface="Times New Roman" pitchFamily="18" charset="0"/>
              </a:rPr>
              <a:t>2</a:t>
            </a:r>
            <a:r>
              <a:rPr lang="en-US" altLang="zh-CN" sz="2500" b="1">
                <a:cs typeface="Times New Roman" pitchFamily="18" charset="0"/>
              </a:rPr>
              <a:t>3</a:t>
            </a:r>
            <a:r>
              <a:rPr lang="en-US" altLang="zh-CN" sz="2500" b="1" i="1">
                <a:cs typeface="Times New Roman" pitchFamily="18" charset="0"/>
              </a:rPr>
              <a:t>p</a:t>
            </a:r>
            <a:r>
              <a:rPr lang="en-US" altLang="zh-CN" sz="2500" b="1" baseline="30000">
                <a:cs typeface="Times New Roman" pitchFamily="18" charset="0"/>
              </a:rPr>
              <a:t>6</a:t>
            </a:r>
            <a:r>
              <a:rPr lang="zh-CN" altLang="zh-CN" sz="2500" b="1">
                <a:cs typeface="Times New Roman" pitchFamily="18" charset="0"/>
              </a:rPr>
              <a:t>；</a:t>
            </a:r>
            <a:r>
              <a:rPr lang="en-US" altLang="zh-CN" sz="2500" b="1">
                <a:cs typeface="Times New Roman" pitchFamily="18" charset="0"/>
              </a:rPr>
              <a:t>      </a:t>
            </a:r>
            <a:endParaRPr lang="zh-CN" altLang="zh-CN" sz="2500" b="1">
              <a:cs typeface="Times New Roman" pitchFamily="18" charset="0"/>
            </a:endParaRPr>
          </a:p>
          <a:p>
            <a:pPr marL="342900" indent="-342900" eaLnBrk="0" hangingPunct="0"/>
            <a:r>
              <a:rPr lang="zh-CN" altLang="zh-CN" sz="2500" b="1">
                <a:cs typeface="Times New Roman" pitchFamily="18" charset="0"/>
              </a:rPr>
              <a:t>②</a:t>
            </a:r>
            <a:r>
              <a:rPr lang="en-US" altLang="zh-CN" sz="2500" b="1">
                <a:cs typeface="Times New Roman" pitchFamily="18" charset="0"/>
              </a:rPr>
              <a:t>K</a:t>
            </a:r>
            <a:r>
              <a:rPr lang="en-US" altLang="zh-CN" sz="2500" b="1" baseline="30000">
                <a:cs typeface="Times New Roman" pitchFamily="18" charset="0"/>
              </a:rPr>
              <a:t>+</a:t>
            </a:r>
            <a:r>
              <a:rPr lang="zh-CN" altLang="zh-CN" sz="2500" b="1">
                <a:cs typeface="Times New Roman" pitchFamily="18" charset="0"/>
              </a:rPr>
              <a:t>：</a:t>
            </a:r>
            <a:r>
              <a:rPr lang="en-US" altLang="zh-CN" sz="2500" b="1">
                <a:cs typeface="Times New Roman" pitchFamily="18" charset="0"/>
              </a:rPr>
              <a:t>1</a:t>
            </a:r>
            <a:r>
              <a:rPr lang="en-US" altLang="zh-CN" sz="2500" b="1" i="1">
                <a:cs typeface="Times New Roman" pitchFamily="18" charset="0"/>
              </a:rPr>
              <a:t>s</a:t>
            </a:r>
            <a:r>
              <a:rPr lang="en-US" altLang="zh-CN" sz="2500" b="1" baseline="30000">
                <a:cs typeface="Times New Roman" pitchFamily="18" charset="0"/>
              </a:rPr>
              <a:t>2</a:t>
            </a:r>
            <a:r>
              <a:rPr lang="en-US" altLang="zh-CN" sz="2500" b="1">
                <a:cs typeface="Times New Roman" pitchFamily="18" charset="0"/>
              </a:rPr>
              <a:t>2</a:t>
            </a:r>
            <a:r>
              <a:rPr lang="en-US" altLang="zh-CN" sz="2500" b="1" i="1">
                <a:cs typeface="Times New Roman" pitchFamily="18" charset="0"/>
              </a:rPr>
              <a:t>s</a:t>
            </a:r>
            <a:r>
              <a:rPr lang="en-US" altLang="zh-CN" sz="2500" b="1" baseline="30000">
                <a:cs typeface="Times New Roman" pitchFamily="18" charset="0"/>
              </a:rPr>
              <a:t>2</a:t>
            </a:r>
            <a:r>
              <a:rPr lang="en-US" altLang="zh-CN" sz="2500" b="1">
                <a:cs typeface="Times New Roman" pitchFamily="18" charset="0"/>
              </a:rPr>
              <a:t>2</a:t>
            </a:r>
            <a:r>
              <a:rPr lang="en-US" altLang="zh-CN" sz="2500" b="1" i="1">
                <a:cs typeface="Times New Roman" pitchFamily="18" charset="0"/>
              </a:rPr>
              <a:t>p</a:t>
            </a:r>
            <a:r>
              <a:rPr lang="en-US" altLang="zh-CN" sz="2500" b="1" baseline="30000">
                <a:cs typeface="Times New Roman" pitchFamily="18" charset="0"/>
              </a:rPr>
              <a:t>6</a:t>
            </a:r>
            <a:r>
              <a:rPr lang="en-US" altLang="zh-CN" sz="2500" b="1">
                <a:cs typeface="Times New Roman" pitchFamily="18" charset="0"/>
              </a:rPr>
              <a:t>3</a:t>
            </a:r>
            <a:r>
              <a:rPr lang="en-US" altLang="zh-CN" sz="2500" b="1" i="1">
                <a:cs typeface="Times New Roman" pitchFamily="18" charset="0"/>
              </a:rPr>
              <a:t>s</a:t>
            </a:r>
            <a:r>
              <a:rPr lang="en-US" altLang="zh-CN" sz="2500" b="1" baseline="30000">
                <a:cs typeface="Times New Roman" pitchFamily="18" charset="0"/>
              </a:rPr>
              <a:t>2</a:t>
            </a:r>
            <a:r>
              <a:rPr lang="en-US" altLang="zh-CN" sz="2500" b="1">
                <a:cs typeface="Times New Roman" pitchFamily="18" charset="0"/>
              </a:rPr>
              <a:t>3</a:t>
            </a:r>
            <a:r>
              <a:rPr lang="en-US" altLang="zh-CN" sz="2500" b="1" i="1">
                <a:cs typeface="Times New Roman" pitchFamily="18" charset="0"/>
              </a:rPr>
              <a:t>p</a:t>
            </a:r>
            <a:r>
              <a:rPr lang="en-US" altLang="zh-CN" sz="2500" b="1" baseline="30000">
                <a:cs typeface="Times New Roman" pitchFamily="18" charset="0"/>
              </a:rPr>
              <a:t>6</a:t>
            </a:r>
            <a:r>
              <a:rPr lang="en-US" altLang="zh-CN" sz="2500" b="1">
                <a:cs typeface="Times New Roman" pitchFamily="18" charset="0"/>
              </a:rPr>
              <a:t> or [Ne]3</a:t>
            </a:r>
            <a:r>
              <a:rPr lang="en-US" altLang="zh-CN" sz="2500" b="1" i="1">
                <a:cs typeface="Times New Roman" pitchFamily="18" charset="0"/>
              </a:rPr>
              <a:t>s</a:t>
            </a:r>
            <a:r>
              <a:rPr lang="en-US" altLang="zh-CN" sz="2500" b="1" baseline="30000">
                <a:cs typeface="Times New Roman" pitchFamily="18" charset="0"/>
              </a:rPr>
              <a:t>2</a:t>
            </a:r>
            <a:r>
              <a:rPr lang="en-US" altLang="zh-CN" sz="2500" b="1">
                <a:cs typeface="Times New Roman" pitchFamily="18" charset="0"/>
              </a:rPr>
              <a:t>3</a:t>
            </a:r>
            <a:r>
              <a:rPr lang="en-US" altLang="zh-CN" sz="2500" b="1" i="1">
                <a:cs typeface="Times New Roman" pitchFamily="18" charset="0"/>
              </a:rPr>
              <a:t>p</a:t>
            </a:r>
            <a:r>
              <a:rPr lang="en-US" altLang="zh-CN" sz="2500" b="1" baseline="30000">
                <a:cs typeface="Times New Roman" pitchFamily="18" charset="0"/>
              </a:rPr>
              <a:t>6</a:t>
            </a:r>
            <a:r>
              <a:rPr lang="zh-CN" altLang="zh-CN" sz="2500" b="1">
                <a:cs typeface="Times New Roman" pitchFamily="18" charset="0"/>
              </a:rPr>
              <a:t>；</a:t>
            </a:r>
          </a:p>
          <a:p>
            <a:pPr marL="342900" indent="-342900" eaLnBrk="0" hangingPunct="0"/>
            <a:r>
              <a:rPr lang="zh-CN" altLang="zh-CN" sz="2500" b="1">
                <a:cs typeface="Times New Roman" pitchFamily="18" charset="0"/>
              </a:rPr>
              <a:t>③</a:t>
            </a:r>
            <a:r>
              <a:rPr lang="en-US" altLang="zh-CN" sz="2500" b="1">
                <a:cs typeface="Times New Roman" pitchFamily="18" charset="0"/>
              </a:rPr>
              <a:t>Mn</a:t>
            </a:r>
            <a:r>
              <a:rPr lang="en-US" altLang="zh-CN" sz="2500" b="1" baseline="30000">
                <a:cs typeface="Times New Roman" pitchFamily="18" charset="0"/>
              </a:rPr>
              <a:t>2+</a:t>
            </a:r>
            <a:r>
              <a:rPr lang="zh-CN" altLang="zh-CN" sz="2500" b="1">
                <a:cs typeface="Times New Roman" pitchFamily="18" charset="0"/>
              </a:rPr>
              <a:t>：</a:t>
            </a:r>
            <a:r>
              <a:rPr lang="en-US" altLang="zh-CN" sz="2500" b="1">
                <a:cs typeface="Times New Roman" pitchFamily="18" charset="0"/>
              </a:rPr>
              <a:t>1</a:t>
            </a:r>
            <a:r>
              <a:rPr lang="en-US" altLang="zh-CN" sz="2500" b="1" i="1">
                <a:cs typeface="Times New Roman" pitchFamily="18" charset="0"/>
              </a:rPr>
              <a:t>s</a:t>
            </a:r>
            <a:r>
              <a:rPr lang="en-US" altLang="zh-CN" sz="2500" b="1" baseline="30000">
                <a:cs typeface="Times New Roman" pitchFamily="18" charset="0"/>
              </a:rPr>
              <a:t>2</a:t>
            </a:r>
            <a:r>
              <a:rPr lang="en-US" altLang="zh-CN" sz="2500" b="1">
                <a:cs typeface="Times New Roman" pitchFamily="18" charset="0"/>
              </a:rPr>
              <a:t>2</a:t>
            </a:r>
            <a:r>
              <a:rPr lang="en-US" altLang="zh-CN" sz="2500" b="1" i="1">
                <a:cs typeface="Times New Roman" pitchFamily="18" charset="0"/>
              </a:rPr>
              <a:t>s</a:t>
            </a:r>
            <a:r>
              <a:rPr lang="en-US" altLang="zh-CN" sz="2500" b="1" baseline="30000">
                <a:cs typeface="Times New Roman" pitchFamily="18" charset="0"/>
              </a:rPr>
              <a:t>2</a:t>
            </a:r>
            <a:r>
              <a:rPr lang="en-US" altLang="zh-CN" sz="2500" b="1">
                <a:cs typeface="Times New Roman" pitchFamily="18" charset="0"/>
              </a:rPr>
              <a:t>2</a:t>
            </a:r>
            <a:r>
              <a:rPr lang="en-US" altLang="zh-CN" sz="2500" b="1" i="1">
                <a:cs typeface="Times New Roman" pitchFamily="18" charset="0"/>
              </a:rPr>
              <a:t>p</a:t>
            </a:r>
            <a:r>
              <a:rPr lang="en-US" altLang="zh-CN" sz="2500" b="1" baseline="30000">
                <a:cs typeface="Times New Roman" pitchFamily="18" charset="0"/>
              </a:rPr>
              <a:t>6</a:t>
            </a:r>
            <a:r>
              <a:rPr lang="en-US" altLang="zh-CN" sz="2500" b="1">
                <a:cs typeface="Times New Roman" pitchFamily="18" charset="0"/>
              </a:rPr>
              <a:t>3</a:t>
            </a:r>
            <a:r>
              <a:rPr lang="en-US" altLang="zh-CN" sz="2500" b="1" i="1">
                <a:cs typeface="Times New Roman" pitchFamily="18" charset="0"/>
              </a:rPr>
              <a:t>s</a:t>
            </a:r>
            <a:r>
              <a:rPr lang="en-US" altLang="zh-CN" sz="2500" b="1" baseline="30000">
                <a:cs typeface="Times New Roman" pitchFamily="18" charset="0"/>
              </a:rPr>
              <a:t>2</a:t>
            </a:r>
            <a:r>
              <a:rPr lang="en-US" altLang="zh-CN" sz="2500" b="1">
                <a:cs typeface="Times New Roman" pitchFamily="18" charset="0"/>
              </a:rPr>
              <a:t>3</a:t>
            </a:r>
            <a:r>
              <a:rPr lang="en-US" altLang="zh-CN" sz="2500" b="1" i="1">
                <a:cs typeface="Times New Roman" pitchFamily="18" charset="0"/>
              </a:rPr>
              <a:t>p</a:t>
            </a:r>
            <a:r>
              <a:rPr lang="en-US" altLang="zh-CN" sz="2500" b="1" baseline="30000">
                <a:cs typeface="Times New Roman" pitchFamily="18" charset="0"/>
              </a:rPr>
              <a:t>6</a:t>
            </a:r>
            <a:r>
              <a:rPr lang="en-US" altLang="zh-CN" sz="2500" b="1">
                <a:cs typeface="Times New Roman" pitchFamily="18" charset="0"/>
              </a:rPr>
              <a:t>3</a:t>
            </a:r>
            <a:r>
              <a:rPr lang="en-US" altLang="zh-CN" sz="2500" b="1" i="1">
                <a:cs typeface="Times New Roman" pitchFamily="18" charset="0"/>
              </a:rPr>
              <a:t>d</a:t>
            </a:r>
            <a:r>
              <a:rPr lang="en-US" altLang="zh-CN" sz="2500" b="1" baseline="30000">
                <a:cs typeface="Times New Roman" pitchFamily="18" charset="0"/>
              </a:rPr>
              <a:t>5</a:t>
            </a:r>
            <a:r>
              <a:rPr lang="en-US" altLang="zh-CN" sz="2500" b="1">
                <a:cs typeface="Times New Roman" pitchFamily="18" charset="0"/>
              </a:rPr>
              <a:t> or [Ar]3</a:t>
            </a:r>
            <a:r>
              <a:rPr lang="en-US" altLang="zh-CN" sz="2500" b="1" i="1">
                <a:cs typeface="Times New Roman" pitchFamily="18" charset="0"/>
              </a:rPr>
              <a:t>d</a:t>
            </a:r>
            <a:r>
              <a:rPr lang="en-US" altLang="zh-CN" sz="2500" b="1" baseline="30000">
                <a:cs typeface="Times New Roman" pitchFamily="18" charset="0"/>
              </a:rPr>
              <a:t>5</a:t>
            </a:r>
            <a:r>
              <a:rPr lang="zh-CN" altLang="zh-CN" sz="2500" b="1">
                <a:cs typeface="Times New Roman" pitchFamily="18" charset="0"/>
              </a:rPr>
              <a:t>；</a:t>
            </a:r>
            <a:r>
              <a:rPr lang="en-US" altLang="zh-CN" sz="2500" b="1">
                <a:cs typeface="Times New Roman" pitchFamily="18" charset="0"/>
              </a:rPr>
              <a:t>    </a:t>
            </a:r>
            <a:endParaRPr lang="zh-CN" altLang="zh-CN" sz="2500" b="1">
              <a:cs typeface="Times New Roman" pitchFamily="18" charset="0"/>
            </a:endParaRPr>
          </a:p>
          <a:p>
            <a:pPr marL="342900" indent="-342900" eaLnBrk="0" hangingPunct="0"/>
            <a:r>
              <a:rPr lang="zh-CN" altLang="zh-CN" sz="2500" b="1">
                <a:cs typeface="Times New Roman" pitchFamily="18" charset="0"/>
              </a:rPr>
              <a:t>④</a:t>
            </a:r>
            <a:r>
              <a:rPr lang="en-US" altLang="zh-CN" sz="2500" b="1">
                <a:cs typeface="Times New Roman" pitchFamily="18" charset="0"/>
              </a:rPr>
              <a:t>Fe</a:t>
            </a:r>
            <a:r>
              <a:rPr lang="en-US" altLang="zh-CN" sz="2500" b="1" baseline="30000">
                <a:cs typeface="Times New Roman" pitchFamily="18" charset="0"/>
              </a:rPr>
              <a:t>2+</a:t>
            </a:r>
            <a:r>
              <a:rPr lang="zh-CN" altLang="zh-CN" sz="2500" b="1">
                <a:cs typeface="Times New Roman" pitchFamily="18" charset="0"/>
              </a:rPr>
              <a:t>：</a:t>
            </a:r>
            <a:r>
              <a:rPr lang="en-US" altLang="zh-CN" sz="2500" b="1">
                <a:cs typeface="Times New Roman" pitchFamily="18" charset="0"/>
              </a:rPr>
              <a:t>1</a:t>
            </a:r>
            <a:r>
              <a:rPr lang="en-US" altLang="zh-CN" sz="2500" b="1" i="1">
                <a:cs typeface="Times New Roman" pitchFamily="18" charset="0"/>
              </a:rPr>
              <a:t>s</a:t>
            </a:r>
            <a:r>
              <a:rPr lang="en-US" altLang="zh-CN" sz="2500" b="1" baseline="30000">
                <a:cs typeface="Times New Roman" pitchFamily="18" charset="0"/>
              </a:rPr>
              <a:t>2</a:t>
            </a:r>
            <a:r>
              <a:rPr lang="en-US" altLang="zh-CN" sz="2500" b="1">
                <a:cs typeface="Times New Roman" pitchFamily="18" charset="0"/>
              </a:rPr>
              <a:t>2</a:t>
            </a:r>
            <a:r>
              <a:rPr lang="en-US" altLang="zh-CN" sz="2500" b="1" i="1">
                <a:cs typeface="Times New Roman" pitchFamily="18" charset="0"/>
              </a:rPr>
              <a:t>s</a:t>
            </a:r>
            <a:r>
              <a:rPr lang="en-US" altLang="zh-CN" sz="2500" b="1" baseline="30000">
                <a:cs typeface="Times New Roman" pitchFamily="18" charset="0"/>
              </a:rPr>
              <a:t>2</a:t>
            </a:r>
            <a:r>
              <a:rPr lang="en-US" altLang="zh-CN" sz="2500" b="1">
                <a:cs typeface="Times New Roman" pitchFamily="18" charset="0"/>
              </a:rPr>
              <a:t>2</a:t>
            </a:r>
            <a:r>
              <a:rPr lang="en-US" altLang="zh-CN" sz="2500" b="1" i="1">
                <a:cs typeface="Times New Roman" pitchFamily="18" charset="0"/>
              </a:rPr>
              <a:t>p</a:t>
            </a:r>
            <a:r>
              <a:rPr lang="en-US" altLang="zh-CN" sz="2500" b="1" baseline="30000">
                <a:cs typeface="Times New Roman" pitchFamily="18" charset="0"/>
              </a:rPr>
              <a:t>6</a:t>
            </a:r>
            <a:r>
              <a:rPr lang="en-US" altLang="zh-CN" sz="2500" b="1">
                <a:cs typeface="Times New Roman" pitchFamily="18" charset="0"/>
              </a:rPr>
              <a:t>3</a:t>
            </a:r>
            <a:r>
              <a:rPr lang="en-US" altLang="zh-CN" sz="2500" b="1" i="1">
                <a:cs typeface="Times New Roman" pitchFamily="18" charset="0"/>
              </a:rPr>
              <a:t>s</a:t>
            </a:r>
            <a:r>
              <a:rPr lang="en-US" altLang="zh-CN" sz="2500" b="1" baseline="30000">
                <a:cs typeface="Times New Roman" pitchFamily="18" charset="0"/>
              </a:rPr>
              <a:t>2</a:t>
            </a:r>
            <a:r>
              <a:rPr lang="en-US" altLang="zh-CN" sz="2500" b="1">
                <a:cs typeface="Times New Roman" pitchFamily="18" charset="0"/>
              </a:rPr>
              <a:t>3</a:t>
            </a:r>
            <a:r>
              <a:rPr lang="en-US" altLang="zh-CN" sz="2500" b="1" i="1">
                <a:cs typeface="Times New Roman" pitchFamily="18" charset="0"/>
              </a:rPr>
              <a:t>p</a:t>
            </a:r>
            <a:r>
              <a:rPr lang="en-US" altLang="zh-CN" sz="2500" b="1" baseline="30000">
                <a:cs typeface="Times New Roman" pitchFamily="18" charset="0"/>
              </a:rPr>
              <a:t>6</a:t>
            </a:r>
            <a:r>
              <a:rPr lang="en-US" altLang="zh-CN" sz="2500" b="1">
                <a:cs typeface="Times New Roman" pitchFamily="18" charset="0"/>
              </a:rPr>
              <a:t>3</a:t>
            </a:r>
            <a:r>
              <a:rPr lang="en-US" altLang="zh-CN" sz="2500" b="1" i="1">
                <a:cs typeface="Times New Roman" pitchFamily="18" charset="0"/>
              </a:rPr>
              <a:t>d</a:t>
            </a:r>
            <a:r>
              <a:rPr lang="en-US" altLang="zh-CN" sz="2500" b="1" baseline="30000">
                <a:cs typeface="Times New Roman" pitchFamily="18" charset="0"/>
              </a:rPr>
              <a:t>6</a:t>
            </a:r>
            <a:r>
              <a:rPr lang="en-US" altLang="zh-CN" sz="2500" b="1">
                <a:cs typeface="Times New Roman" pitchFamily="18" charset="0"/>
              </a:rPr>
              <a:t> or [Ar]3</a:t>
            </a:r>
            <a:r>
              <a:rPr lang="en-US" altLang="zh-CN" sz="2500" b="1" i="1">
                <a:cs typeface="Times New Roman" pitchFamily="18" charset="0"/>
              </a:rPr>
              <a:t>d</a:t>
            </a:r>
            <a:r>
              <a:rPr lang="en-US" altLang="zh-CN" sz="2500" b="1" baseline="30000">
                <a:cs typeface="Times New Roman" pitchFamily="18" charset="0"/>
              </a:rPr>
              <a:t>6</a:t>
            </a:r>
            <a:r>
              <a:rPr lang="zh-CN" altLang="zh-CN" sz="2500" b="1">
                <a:cs typeface="Times New Roman" pitchFamily="18" charset="0"/>
              </a:rPr>
              <a:t>；</a:t>
            </a:r>
            <a:endParaRPr lang="en-US" altLang="zh-CN" sz="2500" b="1">
              <a:solidFill>
                <a:srgbClr val="FFFFFF"/>
              </a:solidFill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  <p:bldP spid="2" grpId="0"/>
      <p:bldP spid="6" grpId="0" autoUpdateAnimBg="0"/>
      <p:bldP spid="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5976938" y="287338"/>
            <a:ext cx="5329237" cy="163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                   </a:t>
            </a:r>
            <a:r>
              <a:rPr lang="zh-CN" altLang="en-US" sz="2500" b="1">
                <a:ea typeface="华文新魏" pitchFamily="2" charset="-122"/>
                <a:cs typeface="Times New Roman" pitchFamily="18" charset="0"/>
              </a:rPr>
              <a:t>根据已知信息，确定该元素在周期表中的位置，进而写出元素名称、原子序数或原子核外电子排布式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.</a:t>
            </a:r>
            <a:endParaRPr lang="zh-CN" altLang="en-US" sz="2500" b="1">
              <a:solidFill>
                <a:srgbClr val="FFFFFF"/>
              </a:solidFill>
              <a:ea typeface="华文新魏" pitchFamily="2" charset="-122"/>
              <a:cs typeface="Times New Roman" pitchFamily="18" charset="0"/>
            </a:endParaRPr>
          </a:p>
        </p:txBody>
      </p:sp>
      <p:sp>
        <p:nvSpPr>
          <p:cNvPr id="62504" name="Rectangle 40"/>
          <p:cNvSpPr>
            <a:spLocks noChangeArrowheads="1"/>
          </p:cNvSpPr>
          <p:nvPr/>
        </p:nvSpPr>
        <p:spPr bwMode="auto">
          <a:xfrm>
            <a:off x="231775" y="358775"/>
            <a:ext cx="5327650" cy="317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                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以①为例，完成下列②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~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⑥题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.</a:t>
            </a:r>
          </a:p>
          <a:p>
            <a:pPr eaLnBrk="0" hangingPunct="0"/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①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Na(</a:t>
            </a:r>
            <a:r>
              <a:rPr lang="en-US" altLang="zh-CN" sz="2500" b="1" i="1">
                <a:ea typeface="华文新魏" pitchFamily="2" charset="-122"/>
                <a:cs typeface="Times New Roman" pitchFamily="18" charset="0"/>
              </a:rPr>
              <a:t>z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＝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11)  ls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2s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2p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6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3s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1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；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        </a:t>
            </a:r>
          </a:p>
          <a:p>
            <a:pPr eaLnBrk="0" hangingPunct="0"/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②</a:t>
            </a:r>
            <a:r>
              <a:rPr lang="en-US" altLang="zh-CN" sz="2500" b="1" u="sng">
                <a:ea typeface="华文新魏" pitchFamily="2" charset="-122"/>
                <a:cs typeface="Times New Roman" pitchFamily="18" charset="0"/>
              </a:rPr>
              <a:t>               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1s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2s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2p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6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3s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3p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3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；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      </a:t>
            </a:r>
          </a:p>
          <a:p>
            <a:pPr eaLnBrk="0" hangingPunct="0"/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③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Ca(z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＝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20)</a:t>
            </a:r>
            <a:r>
              <a:rPr lang="en-US" altLang="zh-CN" sz="2500" b="1" u="sng">
                <a:ea typeface="华文新魏" pitchFamily="2" charset="-122"/>
                <a:cs typeface="Times New Roman" pitchFamily="18" charset="0"/>
              </a:rPr>
              <a:t>                       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；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       </a:t>
            </a:r>
          </a:p>
          <a:p>
            <a:pPr eaLnBrk="0" hangingPunct="0"/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④</a:t>
            </a:r>
            <a:r>
              <a:rPr lang="en-US" altLang="zh-CN" sz="2500" b="1" u="sng">
                <a:ea typeface="华文新魏" pitchFamily="2" charset="-122"/>
                <a:cs typeface="Times New Roman" pitchFamily="18" charset="0"/>
              </a:rPr>
              <a:t>          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(z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＝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24)  [    ]3d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5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4s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1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；</a:t>
            </a:r>
          </a:p>
          <a:p>
            <a:pPr eaLnBrk="0" hangingPunct="0"/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⑤</a:t>
            </a:r>
            <a:r>
              <a:rPr lang="en-US" altLang="zh-CN" sz="2500" b="1" u="sng">
                <a:ea typeface="华文新魏" pitchFamily="2" charset="-122"/>
                <a:cs typeface="Times New Roman" pitchFamily="18" charset="0"/>
              </a:rPr>
              <a:t>          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[Ar]3d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10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4s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1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；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</a:t>
            </a:r>
            <a:endParaRPr lang="zh-CN" altLang="zh-CN" sz="2500" b="1">
              <a:ea typeface="华文新魏" pitchFamily="2" charset="-122"/>
              <a:cs typeface="Times New Roman" pitchFamily="18" charset="0"/>
            </a:endParaRPr>
          </a:p>
          <a:p>
            <a:pPr eaLnBrk="0" hangingPunct="0"/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⑥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Kr(z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＝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36)  [   ]3d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?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4s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?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4p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?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.</a:t>
            </a:r>
            <a:endParaRPr lang="zh-CN" altLang="zh-CN" sz="2500" b="1">
              <a:solidFill>
                <a:srgbClr val="FFFFFF"/>
              </a:solidFill>
              <a:ea typeface="华文新魏" pitchFamily="2" charset="-122"/>
              <a:cs typeface="Times New Roman" pitchFamily="18" charset="0"/>
            </a:endParaRPr>
          </a:p>
        </p:txBody>
      </p:sp>
      <p:sp>
        <p:nvSpPr>
          <p:cNvPr id="62502" name="Rectangle 38"/>
          <p:cNvSpPr>
            <a:spLocks noChangeArrowheads="1"/>
          </p:cNvSpPr>
          <p:nvPr/>
        </p:nvSpPr>
        <p:spPr bwMode="auto">
          <a:xfrm>
            <a:off x="6008688" y="298450"/>
            <a:ext cx="2735262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解题思路：</a:t>
            </a:r>
          </a:p>
        </p:txBody>
      </p:sp>
      <p:sp>
        <p:nvSpPr>
          <p:cNvPr id="12293" name="Text Box 39"/>
          <p:cNvSpPr txBox="1">
            <a:spLocks noChangeArrowheads="1"/>
          </p:cNvSpPr>
          <p:nvPr/>
        </p:nvSpPr>
        <p:spPr bwMode="auto">
          <a:xfrm>
            <a:off x="179388" y="358775"/>
            <a:ext cx="1836737" cy="4778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习题</a:t>
            </a:r>
            <a:r>
              <a:rPr lang="en-US" altLang="zh-CN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7-11</a:t>
            </a: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：</a:t>
            </a:r>
          </a:p>
        </p:txBody>
      </p:sp>
      <p:sp>
        <p:nvSpPr>
          <p:cNvPr id="5" name="Rectangle 38"/>
          <p:cNvSpPr>
            <a:spLocks noChangeArrowheads="1"/>
          </p:cNvSpPr>
          <p:nvPr/>
        </p:nvSpPr>
        <p:spPr bwMode="auto">
          <a:xfrm>
            <a:off x="5978525" y="3095625"/>
            <a:ext cx="2735263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参考答案：</a:t>
            </a: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6008688" y="3455988"/>
            <a:ext cx="5545137" cy="2014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②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P (z=15)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；</a:t>
            </a:r>
            <a:endParaRPr lang="en-US" altLang="zh-CN" sz="2500" b="1">
              <a:ea typeface="华文新魏" pitchFamily="2" charset="-122"/>
              <a:cs typeface="Times New Roman" pitchFamily="18" charset="0"/>
            </a:endParaRPr>
          </a:p>
          <a:p>
            <a:pPr eaLnBrk="0" hangingPunct="0"/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③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[Ar] 4</a:t>
            </a:r>
            <a:r>
              <a:rPr lang="en-US" altLang="zh-CN" sz="2500" b="1" i="1">
                <a:ea typeface="华文新魏" pitchFamily="2" charset="-122"/>
                <a:cs typeface="Times New Roman" pitchFamily="18" charset="0"/>
              </a:rPr>
              <a:t>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；</a:t>
            </a:r>
            <a:endParaRPr lang="en-US" altLang="zh-CN" sz="2500" b="1">
              <a:ea typeface="华文新魏" pitchFamily="2" charset="-122"/>
              <a:cs typeface="Times New Roman" pitchFamily="18" charset="0"/>
            </a:endParaRPr>
          </a:p>
          <a:p>
            <a:pPr eaLnBrk="0" hangingPunct="0"/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④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Cr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、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Ar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；</a:t>
            </a:r>
            <a:endParaRPr lang="en-US" altLang="zh-CN" sz="2500" b="1">
              <a:ea typeface="华文新魏" pitchFamily="2" charset="-122"/>
              <a:cs typeface="Times New Roman" pitchFamily="18" charset="0"/>
            </a:endParaRPr>
          </a:p>
          <a:p>
            <a:pPr eaLnBrk="0" hangingPunct="0"/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⑤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Cu (z=29)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；</a:t>
            </a:r>
            <a:endParaRPr lang="en-US" altLang="zh-CN" sz="2500" b="1">
              <a:ea typeface="华文新魏" pitchFamily="2" charset="-122"/>
              <a:cs typeface="Times New Roman" pitchFamily="18" charset="0"/>
            </a:endParaRPr>
          </a:p>
          <a:p>
            <a:pPr eaLnBrk="0" hangingPunct="0"/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⑥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Ar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、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10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、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2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、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6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；</a:t>
            </a:r>
            <a:endParaRPr lang="zh-CN" altLang="en-US" sz="2500" b="1">
              <a:solidFill>
                <a:srgbClr val="FFFFFF"/>
              </a:solidFill>
              <a:ea typeface="华文新魏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2504" grpId="0" autoUpdateAnimBg="0"/>
      <p:bldP spid="62502" grpId="0" autoUpdateAnimBg="0"/>
      <p:bldP spid="5" grpId="0" autoUpdateAnimBg="0"/>
      <p:bldP spid="7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5976938" y="287338"/>
            <a:ext cx="5329237" cy="163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>
                <a:ea typeface="华文新魏" pitchFamily="2" charset="-122"/>
                <a:cs typeface="Times New Roman" pitchFamily="18" charset="0"/>
              </a:rPr>
              <a:t>                    基态原子电子层结构随原子序数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(</a:t>
            </a:r>
            <a:r>
              <a:rPr lang="zh-CN" altLang="en-US" sz="2500" b="1">
                <a:ea typeface="华文新魏" pitchFamily="2" charset="-122"/>
                <a:cs typeface="Times New Roman" pitchFamily="18" charset="0"/>
              </a:rPr>
              <a:t>核电荷数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)</a:t>
            </a:r>
            <a:r>
              <a:rPr lang="zh-CN" altLang="en-US" sz="2500" b="1">
                <a:ea typeface="华文新魏" pitchFamily="2" charset="-122"/>
                <a:cs typeface="Times New Roman" pitchFamily="18" charset="0"/>
              </a:rPr>
              <a:t>递增而呈周期性变化，例如周期、族、区、价电子层结构等的周期性变化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.</a:t>
            </a:r>
            <a:endParaRPr lang="zh-CN" altLang="en-US" sz="2500" b="1">
              <a:solidFill>
                <a:srgbClr val="FFFFFF"/>
              </a:solidFill>
              <a:ea typeface="华文新魏" pitchFamily="2" charset="-122"/>
              <a:cs typeface="Times New Roman" pitchFamily="18" charset="0"/>
            </a:endParaRPr>
          </a:p>
        </p:txBody>
      </p:sp>
      <p:sp>
        <p:nvSpPr>
          <p:cNvPr id="62504" name="Rectangle 40"/>
          <p:cNvSpPr>
            <a:spLocks noChangeArrowheads="1"/>
          </p:cNvSpPr>
          <p:nvPr/>
        </p:nvSpPr>
        <p:spPr bwMode="auto">
          <a:xfrm>
            <a:off x="231775" y="358775"/>
            <a:ext cx="5327650" cy="1246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                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根据元素在周期表中所处的位置，写出下表中各元素原子的价电子层结构、原子序数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.</a:t>
            </a:r>
            <a:endParaRPr lang="zh-CN" altLang="zh-CN" sz="2500" b="1">
              <a:solidFill>
                <a:srgbClr val="FFFFFF"/>
              </a:solidFill>
              <a:ea typeface="华文新魏" pitchFamily="2" charset="-122"/>
              <a:cs typeface="Times New Roman" pitchFamily="18" charset="0"/>
            </a:endParaRPr>
          </a:p>
        </p:txBody>
      </p:sp>
      <p:sp>
        <p:nvSpPr>
          <p:cNvPr id="62502" name="Rectangle 38"/>
          <p:cNvSpPr>
            <a:spLocks noChangeArrowheads="1"/>
          </p:cNvSpPr>
          <p:nvPr/>
        </p:nvSpPr>
        <p:spPr bwMode="auto">
          <a:xfrm>
            <a:off x="6008688" y="298450"/>
            <a:ext cx="2735262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解题思路：</a:t>
            </a:r>
          </a:p>
        </p:txBody>
      </p:sp>
      <p:sp>
        <p:nvSpPr>
          <p:cNvPr id="13317" name="Text Box 39"/>
          <p:cNvSpPr txBox="1">
            <a:spLocks noChangeArrowheads="1"/>
          </p:cNvSpPr>
          <p:nvPr/>
        </p:nvSpPr>
        <p:spPr bwMode="auto">
          <a:xfrm>
            <a:off x="179388" y="358775"/>
            <a:ext cx="1836737" cy="4778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习题</a:t>
            </a:r>
            <a:r>
              <a:rPr lang="en-US" altLang="zh-CN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7-12</a:t>
            </a: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：</a:t>
            </a:r>
          </a:p>
        </p:txBody>
      </p:sp>
      <p:sp>
        <p:nvSpPr>
          <p:cNvPr id="5" name="Rectangle 38"/>
          <p:cNvSpPr>
            <a:spLocks noChangeArrowheads="1"/>
          </p:cNvSpPr>
          <p:nvPr/>
        </p:nvSpPr>
        <p:spPr bwMode="auto">
          <a:xfrm>
            <a:off x="5978525" y="3095625"/>
            <a:ext cx="2735263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参考答案：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049963" y="3597275"/>
          <a:ext cx="5184775" cy="194627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{C4B1156A-380E-4F78-BDF5-A606A8083BF9}</a:tableStyleId>
              </a:tblPr>
              <a:tblGrid>
                <a:gridCol w="1150608"/>
                <a:gridCol w="1152172"/>
                <a:gridCol w="1585801"/>
                <a:gridCol w="1296194"/>
              </a:tblGrid>
              <a:tr h="386099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周期</a:t>
                      </a:r>
                    </a:p>
                  </a:txBody>
                  <a:tcPr marL="68583" marR="685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族次</a:t>
                      </a:r>
                    </a:p>
                  </a:txBody>
                  <a:tcPr marL="68583" marR="685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价电子层结构</a:t>
                      </a:r>
                    </a:p>
                  </a:txBody>
                  <a:tcPr marL="68583" marR="685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原子序数</a:t>
                      </a:r>
                    </a:p>
                  </a:txBody>
                  <a:tcPr marL="68583" marR="685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0044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1800" b="1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Ⅱ</a:t>
                      </a:r>
                      <a:r>
                        <a:rPr lang="en-US" sz="1800" b="1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lang="zh-CN" sz="1800" b="1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3s</a:t>
                      </a:r>
                      <a:r>
                        <a:rPr lang="en-US" sz="1800" b="1" kern="100" baseline="30000" dirty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1800" b="1" kern="100" dirty="0"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endParaRPr lang="zh-CN" sz="1800" b="1" kern="100"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0044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1800" b="1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Ⅳ</a:t>
                      </a:r>
                      <a:r>
                        <a:rPr lang="en-US" sz="18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lang="zh-CN" sz="18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3d</a:t>
                      </a:r>
                      <a:r>
                        <a:rPr lang="en-US" sz="1800" b="1" kern="100" baseline="30000" dirty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800" b="1" kern="100" dirty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4s</a:t>
                      </a:r>
                      <a:r>
                        <a:rPr lang="en-US" sz="1800" b="1" kern="100" baseline="30000" dirty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1800" b="1" kern="100" dirty="0"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22</a:t>
                      </a:r>
                      <a:endParaRPr lang="zh-CN" sz="1800" b="1" kern="100" dirty="0"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0044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sz="1800" b="1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Ⅲ</a:t>
                      </a:r>
                      <a:r>
                        <a:rPr lang="en-US" sz="1800" b="1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lang="zh-CN" sz="1800" b="1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4d</a:t>
                      </a:r>
                      <a:r>
                        <a:rPr lang="en-US" sz="1800" b="1" kern="100" baseline="3000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800" b="1" kern="10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5s</a:t>
                      </a:r>
                      <a:r>
                        <a:rPr lang="en-US" sz="1800" b="1" kern="100" baseline="3000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1800" b="1" kern="100"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39</a:t>
                      </a:r>
                      <a:endParaRPr lang="zh-CN" sz="1800" b="1" kern="100" dirty="0"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0044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lang="zh-CN" sz="1800" b="1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Ⅵ</a:t>
                      </a:r>
                      <a:r>
                        <a:rPr lang="en-US" sz="18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lang="zh-CN" sz="18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6s</a:t>
                      </a:r>
                      <a:r>
                        <a:rPr lang="en-US" sz="1800" b="1" kern="100" baseline="3000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800" b="1" kern="10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6p</a:t>
                      </a:r>
                      <a:r>
                        <a:rPr lang="en-US" sz="1800" b="1" kern="100" baseline="3000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1800" b="1" kern="100"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84</a:t>
                      </a:r>
                      <a:endParaRPr lang="zh-CN" sz="1800" b="1" kern="100" dirty="0"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296863" y="1630363"/>
          <a:ext cx="5184775" cy="194627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{C4B1156A-380E-4F78-BDF5-A606A8083BF9}</a:tableStyleId>
              </a:tblPr>
              <a:tblGrid>
                <a:gridCol w="1150608"/>
                <a:gridCol w="1152172"/>
                <a:gridCol w="1585801"/>
                <a:gridCol w="1296194"/>
              </a:tblGrid>
              <a:tr h="386099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周期</a:t>
                      </a: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族次</a:t>
                      </a: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价电子层结构</a:t>
                      </a: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原子序数</a:t>
                      </a: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0044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1800" b="1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Ⅱ</a:t>
                      </a:r>
                      <a:r>
                        <a:rPr lang="en-US" sz="1800" b="1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lang="zh-CN" sz="1800" b="1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zh-CN" sz="1800" b="1" kern="100" dirty="0">
                        <a:solidFill>
                          <a:srgbClr val="FF99CC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zh-CN" sz="1800" b="1" kern="100">
                        <a:solidFill>
                          <a:srgbClr val="FF99CC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0044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1800" b="1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Ⅳ</a:t>
                      </a:r>
                      <a:r>
                        <a:rPr lang="en-US" sz="1800" b="1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lang="zh-CN" sz="1800" b="1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zh-CN" sz="1800" b="1" kern="100" dirty="0">
                        <a:solidFill>
                          <a:srgbClr val="FF99CC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zh-CN" sz="1800" b="1" kern="100" dirty="0">
                        <a:solidFill>
                          <a:srgbClr val="FF99CC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0044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sz="1800" b="1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Ⅲ</a:t>
                      </a:r>
                      <a:r>
                        <a:rPr lang="en-US" sz="1800" b="1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lang="zh-CN" sz="1800" b="1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zh-CN" sz="1800" b="1" kern="100">
                        <a:solidFill>
                          <a:srgbClr val="FF99CC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zh-CN" sz="1800" b="1" kern="100" dirty="0">
                        <a:solidFill>
                          <a:srgbClr val="FF99CC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0044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lang="zh-CN" sz="1800" b="1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Ⅵ</a:t>
                      </a:r>
                      <a:r>
                        <a:rPr lang="en-US" sz="18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lang="zh-CN" sz="18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zh-CN" sz="1800" b="1" kern="100" dirty="0">
                        <a:solidFill>
                          <a:srgbClr val="FF99CC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zh-CN" sz="1800" b="1" kern="100" dirty="0">
                        <a:solidFill>
                          <a:srgbClr val="FF99CC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3" marR="6858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2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2504" grpId="0" autoUpdateAnimBg="0"/>
      <p:bldP spid="62502" grpId="0" autoUpdateAnimBg="0"/>
      <p:bldP spid="5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0"/>
          <p:cNvSpPr>
            <a:spLocks noChangeArrowheads="1"/>
          </p:cNvSpPr>
          <p:nvPr/>
        </p:nvSpPr>
        <p:spPr bwMode="auto">
          <a:xfrm>
            <a:off x="179388" y="338138"/>
            <a:ext cx="3997325" cy="317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                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已知四种元素的原子的价电子层结构分别为①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4s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;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②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3s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3p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5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;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③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3d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3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4s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2 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;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④</a:t>
            </a:r>
            <a:r>
              <a:rPr lang="zh-CN" altLang="zh-CN" sz="2500" b="1" baseline="30000">
                <a:ea typeface="华文新魏" pitchFamily="2" charset="-122"/>
                <a:cs typeface="Times New Roman" pitchFamily="18" charset="0"/>
              </a:rPr>
              <a:t> 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5d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10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6s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;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试指出：</a:t>
            </a:r>
          </a:p>
          <a:p>
            <a:pPr eaLnBrk="0" hangingPunct="0"/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⑴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它们在周期表中各处于哪一区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?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哪一周期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?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哪一族？</a:t>
            </a:r>
          </a:p>
          <a:p>
            <a:pPr eaLnBrk="0" hangingPunct="0"/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⑵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它们的电负性的相对大小？</a:t>
            </a:r>
            <a:endParaRPr lang="zh-CN" altLang="en-US" sz="2500" b="1">
              <a:solidFill>
                <a:srgbClr val="FFFFFF"/>
              </a:solidFill>
              <a:ea typeface="华文新魏" pitchFamily="2" charset="-122"/>
              <a:cs typeface="Times New Roman" pitchFamily="18" charset="0"/>
            </a:endParaRPr>
          </a:p>
        </p:txBody>
      </p:sp>
      <p:sp>
        <p:nvSpPr>
          <p:cNvPr id="14339" name="Text Box 39"/>
          <p:cNvSpPr txBox="1">
            <a:spLocks noChangeArrowheads="1"/>
          </p:cNvSpPr>
          <p:nvPr/>
        </p:nvSpPr>
        <p:spPr bwMode="auto">
          <a:xfrm>
            <a:off x="179388" y="358775"/>
            <a:ext cx="1836737" cy="4778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习题</a:t>
            </a:r>
            <a:r>
              <a:rPr lang="en-US" altLang="zh-CN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7-13</a:t>
            </a: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：</a:t>
            </a:r>
          </a:p>
        </p:txBody>
      </p:sp>
      <p:sp>
        <p:nvSpPr>
          <p:cNvPr id="5" name="Rectangle 38"/>
          <p:cNvSpPr>
            <a:spLocks noChangeArrowheads="1"/>
          </p:cNvSpPr>
          <p:nvPr/>
        </p:nvSpPr>
        <p:spPr bwMode="auto">
          <a:xfrm>
            <a:off x="4608513" y="261938"/>
            <a:ext cx="6627812" cy="355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                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基态原子电子层结构随原子序数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(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核电荷数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)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递增而呈周期性变化，例如周期、族、区、价电子层结构等的周期性变化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.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根据价电子层结构，可以判断该元素所属的区、周期和族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.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周期数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=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电子层数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(Pd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除外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)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＝最高能级组数；族数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=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价电子数＝最高氧化数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(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有例外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).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同一周期从左至右，电负性逐渐增大；同一主族从上至下，电负性逐渐减小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.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元素的电负性越大，非金属性越强；元素的电负性越小，金属性越强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.</a:t>
            </a:r>
            <a:endParaRPr lang="zh-CN" altLang="zh-CN" sz="2500" b="1">
              <a:solidFill>
                <a:srgbClr val="FFFFFF"/>
              </a:solidFill>
              <a:ea typeface="华文新魏" pitchFamily="2" charset="-122"/>
              <a:cs typeface="Times New Roman" pitchFamily="18" charset="0"/>
            </a:endParaRPr>
          </a:p>
        </p:txBody>
      </p:sp>
      <p:sp>
        <p:nvSpPr>
          <p:cNvPr id="2" name="Rectangle 38"/>
          <p:cNvSpPr>
            <a:spLocks noChangeArrowheads="1"/>
          </p:cNvSpPr>
          <p:nvPr/>
        </p:nvSpPr>
        <p:spPr bwMode="auto">
          <a:xfrm>
            <a:off x="4608513" y="231775"/>
            <a:ext cx="18002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zh-CN" altLang="zh-CN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解题思路：</a:t>
            </a:r>
          </a:p>
        </p:txBody>
      </p:sp>
      <p:sp>
        <p:nvSpPr>
          <p:cNvPr id="6" name="Rectangle 38"/>
          <p:cNvSpPr>
            <a:spLocks noChangeArrowheads="1"/>
          </p:cNvSpPr>
          <p:nvPr/>
        </p:nvSpPr>
        <p:spPr bwMode="auto">
          <a:xfrm>
            <a:off x="4591050" y="3638550"/>
            <a:ext cx="2735263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参考答案：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5184775" y="4129088"/>
          <a:ext cx="5400675" cy="155892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587888"/>
                <a:gridCol w="952732"/>
                <a:gridCol w="953661"/>
                <a:gridCol w="952732"/>
                <a:gridCol w="953661"/>
              </a:tblGrid>
              <a:tr h="309257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价电子层结构</a:t>
                      </a:r>
                    </a:p>
                  </a:txBody>
                  <a:tcPr marL="68581" marR="685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区</a:t>
                      </a:r>
                    </a:p>
                  </a:txBody>
                  <a:tcPr marL="68581" marR="685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周期</a:t>
                      </a:r>
                    </a:p>
                  </a:txBody>
                  <a:tcPr marL="68581" marR="685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族</a:t>
                      </a:r>
                    </a:p>
                  </a:txBody>
                  <a:tcPr marL="68581" marR="685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元素</a:t>
                      </a:r>
                    </a:p>
                  </a:txBody>
                  <a:tcPr marL="68581" marR="685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2417">
                <a:tc>
                  <a:txBody>
                    <a:bodyPr/>
                    <a:lstStyle/>
                    <a:p>
                      <a:pPr marL="133350" algn="just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①</a:t>
                      </a: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 4s</a:t>
                      </a:r>
                      <a:r>
                        <a:rPr lang="en-US" sz="1800" b="1" kern="100" baseline="30000" dirty="0"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1800" b="1" kern="100" dirty="0"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endParaRPr lang="zh-CN" sz="1800" b="1" kern="100" dirty="0"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四</a:t>
                      </a:r>
                    </a:p>
                  </a:txBody>
                  <a:tcPr marL="68581" marR="685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Ⅱ</a:t>
                      </a:r>
                      <a:r>
                        <a:rPr lang="en-US" sz="1800" b="1" kern="10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lang="zh-CN" sz="1800" b="1" kern="100"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Ca</a:t>
                      </a:r>
                      <a:endParaRPr lang="zh-CN" sz="1800" b="1" kern="100" dirty="0"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2417">
                <a:tc>
                  <a:txBody>
                    <a:bodyPr/>
                    <a:lstStyle/>
                    <a:p>
                      <a:pPr marL="133350" algn="just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②</a:t>
                      </a: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 3s</a:t>
                      </a:r>
                      <a:r>
                        <a:rPr lang="en-US" sz="1800" b="1" kern="100" baseline="30000" dirty="0"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3p</a:t>
                      </a:r>
                      <a:r>
                        <a:rPr lang="en-US" sz="1800" b="1" kern="100" baseline="30000" dirty="0"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sz="1800" b="1" kern="100" dirty="0"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endParaRPr lang="zh-CN" sz="1800" b="1" kern="100"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三</a:t>
                      </a:r>
                    </a:p>
                  </a:txBody>
                  <a:tcPr marL="68581" marR="685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Ⅶ</a:t>
                      </a:r>
                      <a:r>
                        <a:rPr lang="en-US" sz="1800" b="1" kern="100" dirty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lang="zh-CN" sz="1800" b="1" kern="100" dirty="0"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Cl</a:t>
                      </a:r>
                      <a:endParaRPr lang="zh-CN" sz="1800" b="1" kern="100" dirty="0"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2417">
                <a:tc>
                  <a:txBody>
                    <a:bodyPr/>
                    <a:lstStyle/>
                    <a:p>
                      <a:pPr marL="133350" algn="just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③</a:t>
                      </a:r>
                      <a:r>
                        <a:rPr lang="en-US" sz="1800" b="1" kern="100"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 3d</a:t>
                      </a:r>
                      <a:r>
                        <a:rPr lang="en-US" sz="1800" b="1" kern="100" baseline="30000"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sz="1800" b="1" kern="100"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4s</a:t>
                      </a:r>
                      <a:r>
                        <a:rPr lang="en-US" sz="1800" b="1" kern="100" baseline="30000"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1800" b="1" kern="100"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lang="zh-CN" sz="1800" b="1" kern="100"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四</a:t>
                      </a:r>
                    </a:p>
                  </a:txBody>
                  <a:tcPr marL="68581" marR="685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Ⅴ</a:t>
                      </a:r>
                      <a:r>
                        <a:rPr lang="en-US" sz="1800" b="1" kern="100" dirty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lang="zh-CN" sz="1800" b="1" kern="100" dirty="0"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endParaRPr lang="zh-CN" sz="1800" b="1" kern="100" dirty="0"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2417">
                <a:tc>
                  <a:txBody>
                    <a:bodyPr/>
                    <a:lstStyle/>
                    <a:p>
                      <a:pPr marL="133350" algn="just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④</a:t>
                      </a:r>
                      <a:r>
                        <a:rPr lang="en-US" sz="1800" b="1" kern="100"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 5d</a:t>
                      </a:r>
                      <a:r>
                        <a:rPr lang="en-US" sz="1800" b="1" kern="100" baseline="30000"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en-US" sz="1800" b="1" kern="100"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6s</a:t>
                      </a:r>
                      <a:r>
                        <a:rPr lang="en-US" sz="1800" b="1" kern="100" baseline="30000"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1800" b="1" kern="100"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ds</a:t>
                      </a:r>
                      <a:endParaRPr lang="zh-CN" sz="1800" b="1" kern="100"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六</a:t>
                      </a:r>
                    </a:p>
                  </a:txBody>
                  <a:tcPr marL="68581" marR="685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Ⅱ</a:t>
                      </a:r>
                      <a:r>
                        <a:rPr lang="en-US" sz="1800" b="1" kern="10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lang="zh-CN" sz="1800" b="1" kern="100"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Hg</a:t>
                      </a:r>
                      <a:endParaRPr lang="zh-CN" sz="1800" b="1" kern="100" dirty="0"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1" marR="685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6121400" y="3652838"/>
            <a:ext cx="191293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0" hangingPunct="0"/>
            <a:r>
              <a:rPr lang="en-US" altLang="zh-CN" sz="2500" b="1">
                <a:solidFill>
                  <a:schemeClr val="bg1"/>
                </a:solidFill>
                <a:ea typeface="华文新魏" pitchFamily="2" charset="-122"/>
                <a:cs typeface="Times New Roman" pitchFamily="18" charset="0"/>
              </a:rPr>
              <a:t>⑴</a:t>
            </a:r>
            <a:endParaRPr lang="zh-CN" altLang="en-US" sz="2500" b="1">
              <a:solidFill>
                <a:schemeClr val="bg1"/>
              </a:solidFill>
              <a:ea typeface="华文新魏" pitchFamily="2" charset="-122"/>
              <a:cs typeface="Times New Roman" pitchFamily="18" charset="0"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4587875" y="5688013"/>
            <a:ext cx="64087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0" hangingPunct="0"/>
            <a:r>
              <a:rPr lang="en-US" altLang="zh-CN" sz="2500" b="1">
                <a:solidFill>
                  <a:schemeClr val="bg1"/>
                </a:solidFill>
                <a:ea typeface="华文新魏" pitchFamily="2" charset="-122"/>
                <a:cs typeface="Times New Roman" pitchFamily="18" charset="0"/>
              </a:rPr>
              <a:t>⑵</a:t>
            </a:r>
            <a:r>
              <a:rPr lang="zh-CN" altLang="en-US" sz="2500" b="1">
                <a:solidFill>
                  <a:schemeClr val="bg1"/>
                </a:solidFill>
                <a:ea typeface="华文新魏" pitchFamily="2" charset="-122"/>
                <a:cs typeface="Times New Roman" pitchFamily="18" charset="0"/>
              </a:rPr>
              <a:t>电负性的相对大小：②＞④＞③＞①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  <p:bldP spid="2" grpId="0"/>
      <p:bldP spid="6" grpId="0" autoUpdateAnimBg="0"/>
      <p:bldP spid="8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5976938" y="287338"/>
            <a:ext cx="5329237" cy="163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                  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第四周期中元素的角量子数为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2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的轨道是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3d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轨道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,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半满时有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5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个电子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,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电子排布式为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1s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2s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2p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6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3s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3p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6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3d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5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,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加上失去的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3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个电子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,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应为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26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号元素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.</a:t>
            </a:r>
            <a:endParaRPr lang="zh-CN" altLang="en-US" sz="2500" b="1">
              <a:solidFill>
                <a:srgbClr val="FFFFFF"/>
              </a:solidFill>
              <a:ea typeface="华文新魏" pitchFamily="2" charset="-122"/>
              <a:cs typeface="Times New Roman" pitchFamily="18" charset="0"/>
            </a:endParaRPr>
          </a:p>
        </p:txBody>
      </p:sp>
      <p:sp>
        <p:nvSpPr>
          <p:cNvPr id="62504" name="Rectangle 40"/>
          <p:cNvSpPr>
            <a:spLocks noChangeArrowheads="1"/>
          </p:cNvSpPr>
          <p:nvPr/>
        </p:nvSpPr>
        <p:spPr bwMode="auto">
          <a:xfrm>
            <a:off x="231775" y="358775"/>
            <a:ext cx="5327650" cy="201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                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第四周期某元素，其原子失去了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3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个电子，在角量子数为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2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的轨道内的电子恰好为半充满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.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试推断该元素的原子序数，并指出该元素的名称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.</a:t>
            </a:r>
            <a:endParaRPr lang="zh-CN" altLang="zh-CN" sz="2500" b="1">
              <a:solidFill>
                <a:srgbClr val="FFFFFF"/>
              </a:solidFill>
              <a:ea typeface="华文新魏" pitchFamily="2" charset="-122"/>
              <a:cs typeface="Times New Roman" pitchFamily="18" charset="0"/>
            </a:endParaRPr>
          </a:p>
        </p:txBody>
      </p:sp>
      <p:sp>
        <p:nvSpPr>
          <p:cNvPr id="62502" name="Rectangle 38"/>
          <p:cNvSpPr>
            <a:spLocks noChangeArrowheads="1"/>
          </p:cNvSpPr>
          <p:nvPr/>
        </p:nvSpPr>
        <p:spPr bwMode="auto">
          <a:xfrm>
            <a:off x="6008688" y="298450"/>
            <a:ext cx="2735262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解题思路：</a:t>
            </a:r>
          </a:p>
        </p:txBody>
      </p:sp>
      <p:sp>
        <p:nvSpPr>
          <p:cNvPr id="15365" name="Text Box 39"/>
          <p:cNvSpPr txBox="1">
            <a:spLocks noChangeArrowheads="1"/>
          </p:cNvSpPr>
          <p:nvPr/>
        </p:nvSpPr>
        <p:spPr bwMode="auto">
          <a:xfrm>
            <a:off x="179388" y="358775"/>
            <a:ext cx="1765300" cy="4778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习题</a:t>
            </a:r>
            <a:r>
              <a:rPr lang="en-US" altLang="zh-CN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7-14</a:t>
            </a: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：</a:t>
            </a:r>
          </a:p>
        </p:txBody>
      </p:sp>
      <p:sp>
        <p:nvSpPr>
          <p:cNvPr id="5" name="Rectangle 38"/>
          <p:cNvSpPr>
            <a:spLocks noChangeArrowheads="1"/>
          </p:cNvSpPr>
          <p:nvPr/>
        </p:nvSpPr>
        <p:spPr bwMode="auto">
          <a:xfrm>
            <a:off x="5988050" y="3095625"/>
            <a:ext cx="2735263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参考答案：</a:t>
            </a: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7500938" y="3124200"/>
            <a:ext cx="1512887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/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26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，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Fe</a:t>
            </a:r>
            <a:endParaRPr lang="zh-CN" altLang="en-US" sz="2500" b="1">
              <a:solidFill>
                <a:srgbClr val="FFFFFF"/>
              </a:solidFill>
              <a:ea typeface="华文新魏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2504" grpId="0" autoUpdateAnimBg="0"/>
      <p:bldP spid="62502" grpId="0" autoUpdateAnimBg="0"/>
      <p:bldP spid="5" grpId="0" autoUpdateAnimBg="0"/>
      <p:bldP spid="7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8"/>
          <p:cNvSpPr>
            <a:spLocks noChangeArrowheads="1"/>
          </p:cNvSpPr>
          <p:nvPr/>
        </p:nvSpPr>
        <p:spPr bwMode="auto">
          <a:xfrm>
            <a:off x="4608513" y="261938"/>
            <a:ext cx="6627812" cy="3208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                  </a:t>
            </a:r>
            <a:r>
              <a:rPr lang="zh-CN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基态原子电子层结构随原子序数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(</a:t>
            </a:r>
            <a:r>
              <a:rPr lang="zh-CN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核电荷数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)</a:t>
            </a:r>
            <a:r>
              <a:rPr lang="zh-CN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递增而呈周期性变化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, </a:t>
            </a:r>
            <a:r>
              <a:rPr lang="zh-CN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例如周期、族、区、价电子层结构等的周期性变化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. </a:t>
            </a:r>
            <a:r>
              <a:rPr lang="zh-CN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根据价电子层结构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, </a:t>
            </a:r>
            <a:r>
              <a:rPr lang="zh-CN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可以判断该元素所属的区、周期和族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. </a:t>
            </a:r>
            <a:r>
              <a:rPr lang="zh-CN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周期数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 = </a:t>
            </a:r>
            <a:r>
              <a:rPr lang="zh-CN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电子层数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(Pd</a:t>
            </a:r>
            <a:r>
              <a:rPr lang="zh-CN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除外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)</a:t>
            </a:r>
            <a:r>
              <a:rPr lang="zh-CN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＝最高能级组数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; </a:t>
            </a:r>
            <a:r>
              <a:rPr lang="zh-CN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族数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=</a:t>
            </a:r>
            <a:r>
              <a:rPr lang="zh-CN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价电子数＝最高氧化数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(</a:t>
            </a:r>
            <a:r>
              <a:rPr lang="zh-CN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有例外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).  </a:t>
            </a:r>
            <a:r>
              <a:rPr lang="zh-CN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同一周期从左至右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, </a:t>
            </a:r>
            <a:r>
              <a:rPr lang="zh-CN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电负性逐渐增大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; </a:t>
            </a:r>
            <a:r>
              <a:rPr lang="zh-CN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同一主族从上至下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, </a:t>
            </a:r>
            <a:r>
              <a:rPr lang="zh-CN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电负性逐渐减小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. </a:t>
            </a:r>
            <a:r>
              <a:rPr lang="zh-CN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元素的电负性越大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, </a:t>
            </a:r>
            <a:r>
              <a:rPr lang="zh-CN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非金属性越强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;</a:t>
            </a:r>
            <a:r>
              <a:rPr lang="zh-CN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元素的电负性越小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, </a:t>
            </a:r>
            <a:r>
              <a:rPr lang="zh-CN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金属性越强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.</a:t>
            </a:r>
            <a:endParaRPr lang="zh-CN" altLang="zh-CN" sz="2500" b="1">
              <a:solidFill>
                <a:srgbClr val="FFFFFF"/>
              </a:solidFill>
              <a:ea typeface="华文新魏" pitchFamily="2" charset="-122"/>
              <a:cs typeface="Times New Roman" pitchFamily="18" charset="0"/>
            </a:endParaRPr>
          </a:p>
        </p:txBody>
      </p:sp>
      <p:sp>
        <p:nvSpPr>
          <p:cNvPr id="2" name="Rectangle 38"/>
          <p:cNvSpPr>
            <a:spLocks noChangeArrowheads="1"/>
          </p:cNvSpPr>
          <p:nvPr/>
        </p:nvSpPr>
        <p:spPr bwMode="auto">
          <a:xfrm>
            <a:off x="4608513" y="231775"/>
            <a:ext cx="18002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zh-CN" altLang="zh-CN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解题思路：</a:t>
            </a:r>
          </a:p>
        </p:txBody>
      </p:sp>
      <p:sp>
        <p:nvSpPr>
          <p:cNvPr id="6" name="Rectangle 38"/>
          <p:cNvSpPr>
            <a:spLocks noChangeArrowheads="1"/>
          </p:cNvSpPr>
          <p:nvPr/>
        </p:nvSpPr>
        <p:spPr bwMode="auto">
          <a:xfrm>
            <a:off x="4608513" y="3360738"/>
            <a:ext cx="2735262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参考答案：</a:t>
            </a:r>
          </a:p>
        </p:txBody>
      </p:sp>
      <p:sp>
        <p:nvSpPr>
          <p:cNvPr id="13" name="Rectangle 40"/>
          <p:cNvSpPr>
            <a:spLocks noChangeArrowheads="1"/>
          </p:cNvSpPr>
          <p:nvPr/>
        </p:nvSpPr>
        <p:spPr bwMode="auto">
          <a:xfrm>
            <a:off x="231775" y="358775"/>
            <a:ext cx="3944938" cy="201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               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已知甲元素是第三周期</a:t>
            </a:r>
            <a:r>
              <a:rPr lang="en-US" altLang="zh-CN" sz="2500" b="1" i="1">
                <a:ea typeface="华文新魏" pitchFamily="2" charset="-122"/>
                <a:cs typeface="Times New Roman" pitchFamily="18" charset="0"/>
              </a:rPr>
              <a:t>p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区元素，其最低氧化值为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–1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，乙元素是第四周期</a:t>
            </a:r>
            <a:r>
              <a:rPr lang="en-US" altLang="zh-CN" sz="2500" b="1" i="1">
                <a:ea typeface="华文新魏" pitchFamily="2" charset="-122"/>
                <a:cs typeface="Times New Roman" pitchFamily="18" charset="0"/>
              </a:rPr>
              <a:t>d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区的元素，其最高氧化值为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+4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，试填下表：</a:t>
            </a:r>
            <a:endParaRPr lang="zh-CN" altLang="zh-CN" sz="2500" b="1">
              <a:solidFill>
                <a:srgbClr val="FFFFFF"/>
              </a:solidFill>
              <a:ea typeface="华文新魏" pitchFamily="2" charset="-122"/>
              <a:cs typeface="Times New Roman" pitchFamily="18" charset="0"/>
            </a:endParaRPr>
          </a:p>
        </p:txBody>
      </p:sp>
      <p:sp>
        <p:nvSpPr>
          <p:cNvPr id="16390" name="Text Box 39"/>
          <p:cNvSpPr txBox="1">
            <a:spLocks noChangeArrowheads="1"/>
          </p:cNvSpPr>
          <p:nvPr/>
        </p:nvSpPr>
        <p:spPr bwMode="auto">
          <a:xfrm>
            <a:off x="179388" y="358775"/>
            <a:ext cx="1836737" cy="4778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习题</a:t>
            </a:r>
            <a:r>
              <a:rPr lang="en-US" altLang="zh-CN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7-15</a:t>
            </a: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：</a:t>
            </a:r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5051425" y="3816350"/>
          <a:ext cx="5822950" cy="180022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{EB344D84-9AFB-497E-A393-DC336BA19D2E}</a:tableStyleId>
              </a:tblPr>
              <a:tblGrid>
                <a:gridCol w="654867"/>
                <a:gridCol w="1575862"/>
                <a:gridCol w="670746"/>
                <a:gridCol w="1575862"/>
                <a:gridCol w="1345613"/>
              </a:tblGrid>
              <a:tr h="609695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元素</a:t>
                      </a:r>
                    </a:p>
                  </a:txBody>
                  <a:tcPr marL="68602" marR="68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价电子层结构</a:t>
                      </a:r>
                    </a:p>
                  </a:txBody>
                  <a:tcPr marL="68602" marR="68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族</a:t>
                      </a:r>
                    </a:p>
                  </a:txBody>
                  <a:tcPr marL="68602" marR="68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金属或非金属</a:t>
                      </a:r>
                    </a:p>
                  </a:txBody>
                  <a:tcPr marL="68602" marR="68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电负性高低</a:t>
                      </a:r>
                    </a:p>
                  </a:txBody>
                  <a:tcPr marL="68602" marR="68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5265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甲</a:t>
                      </a:r>
                    </a:p>
                  </a:txBody>
                  <a:tcPr marL="68602" marR="68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3s</a:t>
                      </a:r>
                      <a:r>
                        <a:rPr lang="en-US" sz="1800" b="1" kern="100" baseline="30000" dirty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en-US" sz="1800" b="1" kern="100" dirty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3p</a:t>
                      </a:r>
                      <a:r>
                        <a:rPr lang="en-US" sz="1800" b="1" kern="100" baseline="30000" dirty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5</a:t>
                      </a:r>
                      <a:endParaRPr lang="zh-CN" sz="1800" b="1" kern="100" dirty="0">
                        <a:solidFill>
                          <a:srgbClr val="FF3300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L="68602" marR="68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Ⅶ</a:t>
                      </a:r>
                      <a:r>
                        <a:rPr lang="en-US" sz="1800" b="1" kern="100" dirty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A</a:t>
                      </a:r>
                      <a:endParaRPr lang="zh-CN" sz="1800" b="1" kern="100" dirty="0">
                        <a:solidFill>
                          <a:srgbClr val="FF3300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L="68602" marR="68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非金属</a:t>
                      </a:r>
                    </a:p>
                  </a:txBody>
                  <a:tcPr marL="68602" marR="68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高</a:t>
                      </a:r>
                    </a:p>
                  </a:txBody>
                  <a:tcPr marL="68602" marR="68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5265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乙</a:t>
                      </a:r>
                    </a:p>
                  </a:txBody>
                  <a:tcPr marL="68602" marR="68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3d</a:t>
                      </a:r>
                      <a:r>
                        <a:rPr lang="en-US" sz="1800" b="1" kern="100" baseline="30000" dirty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en-US" sz="1800" b="1" kern="100" dirty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4s</a:t>
                      </a:r>
                      <a:r>
                        <a:rPr lang="en-US" sz="1800" b="1" kern="100" baseline="30000" dirty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2</a:t>
                      </a:r>
                      <a:endParaRPr lang="zh-CN" sz="1800" b="1" kern="100" dirty="0">
                        <a:solidFill>
                          <a:srgbClr val="FF3300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L="68602" marR="68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Ⅳ</a:t>
                      </a:r>
                      <a:r>
                        <a:rPr lang="en-US" sz="1800" b="1" kern="10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B</a:t>
                      </a:r>
                      <a:endParaRPr lang="zh-CN" sz="1800" b="1" kern="100">
                        <a:solidFill>
                          <a:srgbClr val="FF3300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L="68602" marR="68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金属</a:t>
                      </a:r>
                    </a:p>
                  </a:txBody>
                  <a:tcPr marL="68602" marR="68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低</a:t>
                      </a:r>
                    </a:p>
                  </a:txBody>
                  <a:tcPr marL="68602" marR="68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231775" y="2374900"/>
          <a:ext cx="3800475" cy="150812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{EB344D84-9AFB-497E-A393-DC336BA19D2E}</a:tableStyleId>
              </a:tblPr>
              <a:tblGrid>
                <a:gridCol w="701059"/>
                <a:gridCol w="848650"/>
                <a:gridCol w="701059"/>
                <a:gridCol w="848650"/>
                <a:gridCol w="701059"/>
              </a:tblGrid>
              <a:tr h="904875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元素</a:t>
                      </a:r>
                    </a:p>
                  </a:txBody>
                  <a:tcPr marL="68569" marR="6856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价电子层结构</a:t>
                      </a:r>
                    </a:p>
                  </a:txBody>
                  <a:tcPr marL="68569" marR="6856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族</a:t>
                      </a:r>
                    </a:p>
                  </a:txBody>
                  <a:tcPr marL="68569" marR="6856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金属或非金属</a:t>
                      </a:r>
                    </a:p>
                  </a:txBody>
                  <a:tcPr marL="68569" marR="6856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电负性高低</a:t>
                      </a:r>
                    </a:p>
                  </a:txBody>
                  <a:tcPr marL="68569" marR="6856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甲</a:t>
                      </a:r>
                    </a:p>
                  </a:txBody>
                  <a:tcPr marL="68569" marR="6856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zh-CN" sz="1800" kern="100" dirty="0">
                        <a:effectLst/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L="68569" marR="6856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zh-CN" sz="1800" kern="100" dirty="0">
                        <a:effectLst/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L="68569" marR="6856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zh-CN" sz="1800" kern="100" dirty="0">
                        <a:effectLst/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L="68569" marR="6856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effectLst/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L="68569" marR="6856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乙</a:t>
                      </a:r>
                    </a:p>
                  </a:txBody>
                  <a:tcPr marL="68569" marR="6856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zh-CN" sz="1800" kern="100" dirty="0">
                        <a:effectLst/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L="68569" marR="6856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effectLst/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L="68569" marR="6856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zh-CN" sz="1800" kern="100" dirty="0">
                        <a:effectLst/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L="68569" marR="6856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zh-CN" sz="1800" kern="100" dirty="0">
                        <a:effectLst/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L="68569" marR="6856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2" grpId="0"/>
      <p:bldP spid="6" grpId="0" autoUpdateAnimBg="0"/>
      <p:bldP spid="13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8"/>
          <p:cNvSpPr>
            <a:spLocks noChangeArrowheads="1"/>
          </p:cNvSpPr>
          <p:nvPr/>
        </p:nvSpPr>
        <p:spPr bwMode="auto">
          <a:xfrm>
            <a:off x="4608513" y="261938"/>
            <a:ext cx="6627812" cy="278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                 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基态原子电子层结构随原子序数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(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核电荷数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)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递增而呈周期性变化，例如周期、族、区、价电子层结构等的周期性变化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.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根据已知信息，可以判断该元素在周期表中位置，进而写出其核外电子排布式及所属的区、周期和族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.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周期数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=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电子层数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(Pd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除外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)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＝最高能级组数；族数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=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价电子数＝最高氧化数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(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有例外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).</a:t>
            </a:r>
            <a:endParaRPr lang="zh-CN" altLang="zh-CN" sz="2500" b="1">
              <a:solidFill>
                <a:srgbClr val="FFFFFF"/>
              </a:solidFill>
              <a:ea typeface="华文新魏" pitchFamily="2" charset="-122"/>
              <a:cs typeface="Times New Roman" pitchFamily="18" charset="0"/>
            </a:endParaRPr>
          </a:p>
        </p:txBody>
      </p:sp>
      <p:sp>
        <p:nvSpPr>
          <p:cNvPr id="2" name="Rectangle 38"/>
          <p:cNvSpPr>
            <a:spLocks noChangeArrowheads="1"/>
          </p:cNvSpPr>
          <p:nvPr/>
        </p:nvSpPr>
        <p:spPr bwMode="auto">
          <a:xfrm>
            <a:off x="4608513" y="252413"/>
            <a:ext cx="18002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zh-CN" altLang="zh-CN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解题思路：</a:t>
            </a:r>
          </a:p>
        </p:txBody>
      </p:sp>
      <p:sp>
        <p:nvSpPr>
          <p:cNvPr id="6" name="Rectangle 38"/>
          <p:cNvSpPr>
            <a:spLocks noChangeArrowheads="1"/>
          </p:cNvSpPr>
          <p:nvPr/>
        </p:nvSpPr>
        <p:spPr bwMode="auto">
          <a:xfrm>
            <a:off x="4591050" y="2887663"/>
            <a:ext cx="2735263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参考答案：</a:t>
            </a:r>
          </a:p>
        </p:txBody>
      </p:sp>
      <p:sp>
        <p:nvSpPr>
          <p:cNvPr id="13" name="Rectangle 40"/>
          <p:cNvSpPr>
            <a:spLocks noChangeArrowheads="1"/>
          </p:cNvSpPr>
          <p:nvPr/>
        </p:nvSpPr>
        <p:spPr bwMode="auto">
          <a:xfrm>
            <a:off x="160338" y="358775"/>
            <a:ext cx="3944937" cy="432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               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已知某副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7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族元素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A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的原子，电子最后填入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3</a:t>
            </a:r>
            <a:r>
              <a:rPr lang="en-US" altLang="zh-CN" sz="2500" b="1" i="1">
                <a:ea typeface="华文新魏" pitchFamily="2" charset="-122"/>
                <a:cs typeface="Times New Roman" pitchFamily="18" charset="0"/>
              </a:rPr>
              <a:t>d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，最高氧化值为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+4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；元素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B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的原子，电子最后排入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4</a:t>
            </a:r>
            <a:r>
              <a:rPr lang="en-US" altLang="zh-CN" sz="2500" b="1" i="1">
                <a:ea typeface="华文新魏" pitchFamily="2" charset="-122"/>
                <a:cs typeface="Times New Roman" pitchFamily="18" charset="0"/>
              </a:rPr>
              <a:t>p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，最高氧化值为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+5.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回答下列问题：</a:t>
            </a:r>
          </a:p>
          <a:p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①写出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A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、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B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元素原子的电子排布式；</a:t>
            </a:r>
          </a:p>
          <a:p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②根据电子排布式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,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指出他们在周期表中的位置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(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周期、族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).</a:t>
            </a:r>
            <a:endParaRPr lang="zh-CN" altLang="zh-CN" sz="2500" b="1">
              <a:solidFill>
                <a:srgbClr val="FFFFFF"/>
              </a:solidFill>
              <a:ea typeface="华文新魏" pitchFamily="2" charset="-122"/>
              <a:cs typeface="Times New Roman" pitchFamily="18" charset="0"/>
            </a:endParaRPr>
          </a:p>
        </p:txBody>
      </p:sp>
      <p:sp>
        <p:nvSpPr>
          <p:cNvPr id="17414" name="Text Box 39"/>
          <p:cNvSpPr txBox="1">
            <a:spLocks noChangeArrowheads="1"/>
          </p:cNvSpPr>
          <p:nvPr/>
        </p:nvSpPr>
        <p:spPr bwMode="auto">
          <a:xfrm>
            <a:off x="107950" y="358775"/>
            <a:ext cx="1836738" cy="4778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习题</a:t>
            </a:r>
            <a:r>
              <a:rPr lang="en-US" altLang="zh-CN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7-16</a:t>
            </a: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：</a:t>
            </a:r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4752975" y="3360738"/>
          <a:ext cx="6408738" cy="180022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{EB344D84-9AFB-497E-A393-DC336BA19D2E}</a:tableStyleId>
              </a:tblPr>
              <a:tblGrid>
                <a:gridCol w="1602185"/>
                <a:gridCol w="1710172"/>
                <a:gridCol w="1494197"/>
                <a:gridCol w="1602185"/>
              </a:tblGrid>
              <a:tr h="600075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元素</a:t>
                      </a: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电子排布式</a:t>
                      </a: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周期</a:t>
                      </a: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族</a:t>
                      </a: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A</a:t>
                      </a:r>
                      <a:endParaRPr lang="zh-CN" sz="1800" b="1" kern="100">
                        <a:effectLst/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3335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[</a:t>
                      </a:r>
                      <a:r>
                        <a:rPr lang="en-US" sz="1800" b="1" kern="100" dirty="0" err="1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Ar</a:t>
                      </a:r>
                      <a:r>
                        <a:rPr lang="en-US" sz="1800" b="1" kern="100" dirty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]3</a:t>
                      </a:r>
                      <a:r>
                        <a:rPr lang="en-US" sz="1800" b="1" i="1" kern="100" dirty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d</a:t>
                      </a:r>
                      <a:r>
                        <a:rPr lang="en-US" sz="1800" b="1" kern="100" baseline="30000" dirty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en-US" sz="1800" b="1" kern="100" dirty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4</a:t>
                      </a:r>
                      <a:r>
                        <a:rPr lang="en-US" sz="1800" b="1" i="1" kern="100" dirty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s</a:t>
                      </a:r>
                      <a:r>
                        <a:rPr lang="en-US" sz="1800" b="1" kern="100" baseline="30000" dirty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2</a:t>
                      </a:r>
                      <a:endParaRPr lang="zh-CN" sz="1800" b="1" kern="100" dirty="0">
                        <a:solidFill>
                          <a:srgbClr val="FF3300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四</a:t>
                      </a: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Ⅳ</a:t>
                      </a:r>
                      <a:r>
                        <a:rPr lang="en-US" sz="1800" b="1" kern="100" dirty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B</a:t>
                      </a:r>
                      <a:endParaRPr lang="zh-CN" sz="1800" b="1" kern="100" dirty="0">
                        <a:solidFill>
                          <a:srgbClr val="FF3300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B</a:t>
                      </a:r>
                      <a:endParaRPr lang="zh-CN" sz="1800" b="1" kern="100" dirty="0">
                        <a:effectLst/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3335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[Ar]3</a:t>
                      </a:r>
                      <a:r>
                        <a:rPr lang="en-US" sz="1800" b="1" i="1" kern="10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d</a:t>
                      </a:r>
                      <a:r>
                        <a:rPr lang="en-US" sz="1800" b="1" kern="100" baseline="3000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10</a:t>
                      </a:r>
                      <a:r>
                        <a:rPr lang="en-US" sz="1800" b="1" kern="10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4</a:t>
                      </a:r>
                      <a:r>
                        <a:rPr lang="en-US" sz="1800" b="1" i="1" kern="10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s</a:t>
                      </a:r>
                      <a:r>
                        <a:rPr lang="en-US" sz="1800" b="1" kern="100" baseline="3000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en-US" sz="1800" b="1" kern="10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4</a:t>
                      </a:r>
                      <a:r>
                        <a:rPr lang="en-US" sz="1800" b="1" i="1" kern="10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p</a:t>
                      </a:r>
                      <a:r>
                        <a:rPr lang="en-US" sz="1800" b="1" kern="100" baseline="3000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3</a:t>
                      </a:r>
                      <a:endParaRPr lang="zh-CN" sz="1800" b="1" kern="100">
                        <a:solidFill>
                          <a:srgbClr val="FF3300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四</a:t>
                      </a: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Ⅴ</a:t>
                      </a:r>
                      <a:r>
                        <a:rPr lang="en-US" sz="1800" b="1" kern="100" dirty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A</a:t>
                      </a:r>
                      <a:endParaRPr lang="zh-CN" sz="1800" b="1" kern="100" dirty="0">
                        <a:solidFill>
                          <a:srgbClr val="FF3300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L="68581" marR="685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2" grpId="0"/>
      <p:bldP spid="6" grpId="0" autoUpdateAnimBg="0"/>
      <p:bldP spid="13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5976938" y="287338"/>
            <a:ext cx="5329237" cy="163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                  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由题意，最外层为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ns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，次外层为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(n-1)s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(n-1)p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6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(n-1)d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5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，价电子层构型为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(n-1)d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5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ns</a:t>
            </a:r>
            <a:r>
              <a:rPr lang="en-US" altLang="zh-CN" sz="2500" b="1" baseline="30000">
                <a:ea typeface="华文新魏" pitchFamily="2" charset="-122"/>
                <a:cs typeface="Times New Roman" pitchFamily="18" charset="0"/>
              </a:rPr>
              <a:t>2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，属于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d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区Ⅶ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B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族元素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.</a:t>
            </a:r>
            <a:endParaRPr lang="zh-CN" altLang="en-US" sz="2500" b="1">
              <a:solidFill>
                <a:srgbClr val="FFFFFF"/>
              </a:solidFill>
              <a:ea typeface="华文新魏" pitchFamily="2" charset="-122"/>
              <a:cs typeface="Times New Roman" pitchFamily="18" charset="0"/>
            </a:endParaRPr>
          </a:p>
        </p:txBody>
      </p:sp>
      <p:sp>
        <p:nvSpPr>
          <p:cNvPr id="62504" name="Rectangle 40"/>
          <p:cNvSpPr>
            <a:spLocks noChangeArrowheads="1"/>
          </p:cNvSpPr>
          <p:nvPr/>
        </p:nvSpPr>
        <p:spPr bwMode="auto">
          <a:xfrm>
            <a:off x="231775" y="358775"/>
            <a:ext cx="5327650" cy="163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                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某些元素其最外层有两个电子，次外层有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13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个电子，问这些元素在周期表中应属于哪族？最高氧化值是多少？是金属还是非金属？</a:t>
            </a:r>
            <a:endParaRPr lang="zh-CN" altLang="zh-CN" sz="2500" b="1">
              <a:solidFill>
                <a:srgbClr val="FFFFFF"/>
              </a:solidFill>
              <a:ea typeface="华文新魏" pitchFamily="2" charset="-122"/>
              <a:cs typeface="Times New Roman" pitchFamily="18" charset="0"/>
            </a:endParaRPr>
          </a:p>
        </p:txBody>
      </p:sp>
      <p:sp>
        <p:nvSpPr>
          <p:cNvPr id="62502" name="Rectangle 38"/>
          <p:cNvSpPr>
            <a:spLocks noChangeArrowheads="1"/>
          </p:cNvSpPr>
          <p:nvPr/>
        </p:nvSpPr>
        <p:spPr bwMode="auto">
          <a:xfrm>
            <a:off x="6008688" y="298450"/>
            <a:ext cx="2735262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解题思路：</a:t>
            </a:r>
          </a:p>
        </p:txBody>
      </p:sp>
      <p:sp>
        <p:nvSpPr>
          <p:cNvPr id="18437" name="Text Box 39"/>
          <p:cNvSpPr txBox="1">
            <a:spLocks noChangeArrowheads="1"/>
          </p:cNvSpPr>
          <p:nvPr/>
        </p:nvSpPr>
        <p:spPr bwMode="auto">
          <a:xfrm>
            <a:off x="179388" y="358775"/>
            <a:ext cx="1836737" cy="4778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习题</a:t>
            </a:r>
            <a:r>
              <a:rPr lang="en-US" altLang="zh-CN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7-17</a:t>
            </a: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：</a:t>
            </a:r>
          </a:p>
        </p:txBody>
      </p:sp>
      <p:sp>
        <p:nvSpPr>
          <p:cNvPr id="5" name="Rectangle 38"/>
          <p:cNvSpPr>
            <a:spLocks noChangeArrowheads="1"/>
          </p:cNvSpPr>
          <p:nvPr/>
        </p:nvSpPr>
        <p:spPr bwMode="auto">
          <a:xfrm>
            <a:off x="5978525" y="3176588"/>
            <a:ext cx="2735263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参考答案：</a:t>
            </a: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7556500" y="3195638"/>
            <a:ext cx="299243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ⅦB</a:t>
            </a:r>
            <a:r>
              <a:rPr lang="zh-CN" altLang="en-US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族；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+7</a:t>
            </a:r>
            <a:r>
              <a:rPr lang="zh-CN" altLang="en-US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；金属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2504" grpId="0" autoUpdateAnimBg="0"/>
      <p:bldP spid="62502" grpId="0" autoUpdateAnimBg="0"/>
      <p:bldP spid="5" grpId="0" autoUpdateAnimBg="0"/>
      <p:bldP spid="7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4608513" y="3455988"/>
            <a:ext cx="6627812" cy="201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                  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按照鲍林近似能级顺序，由于能级交错，原子最外层只有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s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和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p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亚层，最多排布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8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个电子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.d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亚层只能在次外层，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f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亚层只能在倒数第三层，所以次外层为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(n-1)s(n-1)p(n-1)d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，最多能排布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18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个电子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.</a:t>
            </a:r>
            <a:endParaRPr lang="zh-CN" altLang="en-US" sz="2500" b="1">
              <a:ea typeface="华文新魏" pitchFamily="2" charset="-122"/>
              <a:cs typeface="Times New Roman" pitchFamily="18" charset="0"/>
            </a:endParaRPr>
          </a:p>
        </p:txBody>
      </p:sp>
      <p:sp>
        <p:nvSpPr>
          <p:cNvPr id="4" name="Rectangle 40"/>
          <p:cNvSpPr>
            <a:spLocks noChangeArrowheads="1"/>
          </p:cNvSpPr>
          <p:nvPr/>
        </p:nvSpPr>
        <p:spPr bwMode="auto">
          <a:xfrm>
            <a:off x="179388" y="338138"/>
            <a:ext cx="3997325" cy="201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zh-CN" altLang="en-US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                   为什么任何原子的最外层上最多只能有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8</a:t>
            </a:r>
            <a:r>
              <a:rPr lang="zh-CN" altLang="en-US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个电子，次外层上最多只能有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18</a:t>
            </a:r>
            <a:r>
              <a:rPr lang="zh-CN" altLang="en-US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个电子？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(</a:t>
            </a:r>
            <a:r>
              <a:rPr lang="zh-CN" altLang="en-US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提示：从能级交错上去考虑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)</a:t>
            </a:r>
            <a:endParaRPr lang="zh-CN" altLang="en-US" sz="2500" b="1">
              <a:solidFill>
                <a:srgbClr val="FFFFFF"/>
              </a:solidFill>
              <a:ea typeface="华文新魏" pitchFamily="2" charset="-122"/>
              <a:cs typeface="Times New Roman" pitchFamily="18" charset="0"/>
            </a:endParaRPr>
          </a:p>
        </p:txBody>
      </p:sp>
      <p:sp>
        <p:nvSpPr>
          <p:cNvPr id="19460" name="Text Box 39"/>
          <p:cNvSpPr txBox="1">
            <a:spLocks noChangeArrowheads="1"/>
          </p:cNvSpPr>
          <p:nvPr/>
        </p:nvSpPr>
        <p:spPr bwMode="auto">
          <a:xfrm>
            <a:off x="179388" y="358775"/>
            <a:ext cx="1836737" cy="4778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习题</a:t>
            </a:r>
            <a:r>
              <a:rPr lang="en-US" altLang="zh-CN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7-18</a:t>
            </a: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：</a:t>
            </a:r>
          </a:p>
        </p:txBody>
      </p:sp>
      <p:sp>
        <p:nvSpPr>
          <p:cNvPr id="5" name="Rectangle 38"/>
          <p:cNvSpPr>
            <a:spLocks noChangeArrowheads="1"/>
          </p:cNvSpPr>
          <p:nvPr/>
        </p:nvSpPr>
        <p:spPr bwMode="auto">
          <a:xfrm>
            <a:off x="4608513" y="333375"/>
            <a:ext cx="6627812" cy="317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zh-CN" altLang="en-US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                   基态原子外层轨道能级高低顺序为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ns &lt; (n - 2)f &lt; (n - 1)d &lt; np.</a:t>
            </a:r>
            <a:r>
              <a:rPr lang="zh-CN" altLang="en-US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从能级交错的角度考虑，由于能级交错现象的存在，使原子的最外层只有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s</a:t>
            </a:r>
            <a:r>
              <a:rPr lang="zh-CN" altLang="en-US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和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p</a:t>
            </a:r>
            <a:r>
              <a:rPr lang="zh-CN" altLang="en-US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亚层，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d</a:t>
            </a:r>
            <a:r>
              <a:rPr lang="zh-CN" altLang="en-US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能级能量虽然有时高于最外层的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s</a:t>
            </a:r>
            <a:r>
              <a:rPr lang="zh-CN" altLang="en-US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能级，但总是处于次外层，因此最外层只能容纳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8</a:t>
            </a:r>
            <a:r>
              <a:rPr lang="zh-CN" altLang="en-US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个电子，只有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Pd</a:t>
            </a:r>
            <a:r>
              <a:rPr lang="zh-CN" altLang="en-US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除外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.</a:t>
            </a:r>
            <a:r>
              <a:rPr lang="zh-CN" altLang="en-US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次外层最多有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(n-1)s(n-1)p(n-1)d</a:t>
            </a:r>
            <a:r>
              <a:rPr lang="zh-CN" altLang="en-US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亚层，全填满电子是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18</a:t>
            </a:r>
            <a:r>
              <a:rPr lang="zh-CN" altLang="en-US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个电子，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(n-2)f</a:t>
            </a:r>
            <a:r>
              <a:rPr lang="zh-CN" altLang="en-US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在倒数第三层</a:t>
            </a:r>
            <a:r>
              <a:rPr lang="en-US" altLang="zh-CN" sz="2500" b="1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.</a:t>
            </a:r>
            <a:endParaRPr lang="zh-CN" altLang="zh-CN" sz="2500" b="1">
              <a:solidFill>
                <a:srgbClr val="FFFFFF"/>
              </a:solidFill>
              <a:ea typeface="华文新魏" pitchFamily="2" charset="-122"/>
              <a:cs typeface="Times New Roman" pitchFamily="18" charset="0"/>
            </a:endParaRPr>
          </a:p>
        </p:txBody>
      </p:sp>
      <p:sp>
        <p:nvSpPr>
          <p:cNvPr id="2" name="Rectangle 38"/>
          <p:cNvSpPr>
            <a:spLocks noChangeArrowheads="1"/>
          </p:cNvSpPr>
          <p:nvPr/>
        </p:nvSpPr>
        <p:spPr bwMode="auto">
          <a:xfrm>
            <a:off x="4608513" y="336550"/>
            <a:ext cx="18002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/>
            <a:r>
              <a:rPr lang="zh-CN" altLang="zh-CN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解题思路：</a:t>
            </a:r>
          </a:p>
        </p:txBody>
      </p:sp>
      <p:sp>
        <p:nvSpPr>
          <p:cNvPr id="6" name="Rectangle 38"/>
          <p:cNvSpPr>
            <a:spLocks noChangeArrowheads="1"/>
          </p:cNvSpPr>
          <p:nvPr/>
        </p:nvSpPr>
        <p:spPr bwMode="auto">
          <a:xfrm>
            <a:off x="4608513" y="3487738"/>
            <a:ext cx="2735262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参考答案：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build="p"/>
      <p:bldP spid="2" grpId="0"/>
      <p:bldP spid="6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5976938" y="307975"/>
            <a:ext cx="5329237" cy="394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                 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由题意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, A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、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B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、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C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为第三周期元素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,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因为同周期元素原子半径从左至右逐渐减小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,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所以它们应该是第三周期最左边的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Na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、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Mg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、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Al.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与氢化合生成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HD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和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HE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的非金属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,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一定是卤族元素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,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单质为液体的卤素只能是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Br</a:t>
            </a:r>
            <a:r>
              <a:rPr lang="en-US" altLang="zh-CN" sz="2500" b="1" baseline="-25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,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单质为固体的卤素只能是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I</a:t>
            </a:r>
            <a:r>
              <a:rPr lang="en-US" altLang="zh-CN" sz="2500" b="1" baseline="-2500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.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所有元素中电负性最大的是位于周期表右上角的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F.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第四周期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,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最高氧化值为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+7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的金属元素是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Mn. </a:t>
            </a:r>
            <a:endParaRPr lang="zh-CN" altLang="en-US" sz="2500" b="1">
              <a:solidFill>
                <a:srgbClr val="FFFFFF"/>
              </a:solidFill>
              <a:ea typeface="华文新魏" pitchFamily="2" charset="-122"/>
              <a:cs typeface="Times New Roman" pitchFamily="18" charset="0"/>
            </a:endParaRPr>
          </a:p>
        </p:txBody>
      </p:sp>
      <p:sp>
        <p:nvSpPr>
          <p:cNvPr id="62502" name="Rectangle 38"/>
          <p:cNvSpPr>
            <a:spLocks noChangeArrowheads="1"/>
          </p:cNvSpPr>
          <p:nvPr/>
        </p:nvSpPr>
        <p:spPr bwMode="auto">
          <a:xfrm>
            <a:off x="6008688" y="287338"/>
            <a:ext cx="2735262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解题思路：</a:t>
            </a:r>
          </a:p>
        </p:txBody>
      </p:sp>
      <p:sp>
        <p:nvSpPr>
          <p:cNvPr id="9" name="Rectangle 40"/>
          <p:cNvSpPr>
            <a:spLocks noChangeArrowheads="1"/>
          </p:cNvSpPr>
          <p:nvPr/>
        </p:nvSpPr>
        <p:spPr bwMode="auto">
          <a:xfrm>
            <a:off x="144463" y="338138"/>
            <a:ext cx="5472112" cy="5862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                 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设有元素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A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、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B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、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C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、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D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、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E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、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G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、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M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，试按下列所给予的条件，推断出它们的元素符号及在周期表中的位置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(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周期、族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)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，并写出它们的外层电子构型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.</a:t>
            </a:r>
            <a:endParaRPr lang="zh-CN" altLang="zh-CN" sz="2500" b="1">
              <a:ea typeface="华文新魏" pitchFamily="2" charset="-122"/>
              <a:cs typeface="Times New Roman" pitchFamily="18" charset="0"/>
            </a:endParaRPr>
          </a:p>
          <a:p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①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A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、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B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、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C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为同一周期的金属元素，已知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C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有三个电子层，它们的原子半径在所属的周期中为最大，并且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A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＞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B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＞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C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；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</a:t>
            </a:r>
            <a:endParaRPr lang="zh-CN" altLang="zh-CN" sz="2500" b="1">
              <a:ea typeface="华文新魏" pitchFamily="2" charset="-122"/>
              <a:cs typeface="Times New Roman" pitchFamily="18" charset="0"/>
            </a:endParaRPr>
          </a:p>
          <a:p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②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D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、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E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为非金属元素，与氢化合生成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HD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和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HE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，在室温时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D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单质为液体，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E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的单质为固体；</a:t>
            </a:r>
          </a:p>
          <a:p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③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G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是所有元素中电负性最大的元素，</a:t>
            </a:r>
          </a:p>
          <a:p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④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M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为金属元素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,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有四个电子层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,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它的最高氧化值与氯的最高氧化值相同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.</a:t>
            </a:r>
            <a:endParaRPr lang="zh-CN" altLang="zh-CN" sz="2500" b="1">
              <a:ea typeface="华文新魏" pitchFamily="2" charset="-122"/>
              <a:cs typeface="Times New Roman" pitchFamily="18" charset="0"/>
            </a:endParaRPr>
          </a:p>
        </p:txBody>
      </p:sp>
      <p:sp>
        <p:nvSpPr>
          <p:cNvPr id="20485" name="Text Box 39"/>
          <p:cNvSpPr txBox="1">
            <a:spLocks noChangeArrowheads="1"/>
          </p:cNvSpPr>
          <p:nvPr/>
        </p:nvSpPr>
        <p:spPr bwMode="auto">
          <a:xfrm>
            <a:off x="179388" y="358775"/>
            <a:ext cx="1836737" cy="4778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习题</a:t>
            </a:r>
            <a:r>
              <a:rPr lang="en-US" altLang="zh-CN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7-19</a:t>
            </a: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：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2502" grpId="0" autoUpdateAnimBg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8"/>
          <p:cNvSpPr>
            <a:spLocks noChangeArrowheads="1"/>
          </p:cNvSpPr>
          <p:nvPr/>
        </p:nvSpPr>
        <p:spPr bwMode="auto">
          <a:xfrm>
            <a:off x="5965825" y="317500"/>
            <a:ext cx="2735263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参考答案：</a:t>
            </a:r>
          </a:p>
        </p:txBody>
      </p:sp>
      <p:sp>
        <p:nvSpPr>
          <p:cNvPr id="21507" name="Rectangle 40"/>
          <p:cNvSpPr>
            <a:spLocks noChangeArrowheads="1"/>
          </p:cNvSpPr>
          <p:nvPr/>
        </p:nvSpPr>
        <p:spPr bwMode="auto">
          <a:xfrm>
            <a:off x="144463" y="338138"/>
            <a:ext cx="5472112" cy="5862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                 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设有元素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A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、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B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、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C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、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D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、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E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、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G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、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M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，试按下列所给予的条件，推断出它们的元素符号及在周期表中的位置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(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周期、族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)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，并写出它们的外层电子构型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.</a:t>
            </a:r>
            <a:endParaRPr lang="zh-CN" altLang="zh-CN" sz="2500" b="1">
              <a:ea typeface="华文新魏" pitchFamily="2" charset="-122"/>
              <a:cs typeface="Times New Roman" pitchFamily="18" charset="0"/>
            </a:endParaRPr>
          </a:p>
          <a:p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①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A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、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B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、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C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为同一周期的金属元素，已知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C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有三个电子层，它们的原子半径在所属的周期中为最大，并且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A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＞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B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＞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C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；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 </a:t>
            </a:r>
            <a:endParaRPr lang="zh-CN" altLang="zh-CN" sz="2500" b="1">
              <a:ea typeface="华文新魏" pitchFamily="2" charset="-122"/>
              <a:cs typeface="Times New Roman" pitchFamily="18" charset="0"/>
            </a:endParaRPr>
          </a:p>
          <a:p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②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D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、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E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为非金属元素，与氢化合生成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HD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和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HE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，在室温时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D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单质为液体，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E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的单质为固体；</a:t>
            </a:r>
          </a:p>
          <a:p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③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G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是所有元素中电负性最大的元素，</a:t>
            </a:r>
          </a:p>
          <a:p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④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M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为金属元素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,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有四个电子层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, </a:t>
            </a:r>
            <a:r>
              <a:rPr lang="zh-CN" altLang="zh-CN" sz="2500" b="1">
                <a:ea typeface="华文新魏" pitchFamily="2" charset="-122"/>
                <a:cs typeface="Times New Roman" pitchFamily="18" charset="0"/>
              </a:rPr>
              <a:t>它的最高氧化值与氯的最高氧化值相同</a:t>
            </a:r>
            <a:r>
              <a:rPr lang="en-US" altLang="zh-CN" sz="2500" b="1">
                <a:ea typeface="华文新魏" pitchFamily="2" charset="-122"/>
                <a:cs typeface="Times New Roman" pitchFamily="18" charset="0"/>
              </a:rPr>
              <a:t>.</a:t>
            </a:r>
            <a:endParaRPr lang="zh-CN" altLang="zh-CN" sz="2500" b="1">
              <a:ea typeface="华文新魏" pitchFamily="2" charset="-122"/>
              <a:cs typeface="Times New Roman" pitchFamily="18" charset="0"/>
            </a:endParaRPr>
          </a:p>
        </p:txBody>
      </p:sp>
      <p:sp>
        <p:nvSpPr>
          <p:cNvPr id="21508" name="Text Box 39"/>
          <p:cNvSpPr txBox="1">
            <a:spLocks noChangeArrowheads="1"/>
          </p:cNvSpPr>
          <p:nvPr/>
        </p:nvSpPr>
        <p:spPr bwMode="auto">
          <a:xfrm>
            <a:off x="179388" y="358775"/>
            <a:ext cx="1836737" cy="4778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</a:pP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习题</a:t>
            </a:r>
            <a:r>
              <a:rPr lang="en-US" altLang="zh-CN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7-19</a:t>
            </a: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Times New Roman" pitchFamily="18" charset="0"/>
              </a:rPr>
              <a:t>：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6067425" y="835025"/>
          <a:ext cx="5178425" cy="37449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0405"/>
                <a:gridCol w="1262380"/>
                <a:gridCol w="700405"/>
                <a:gridCol w="744855"/>
                <a:gridCol w="1770380"/>
              </a:tblGrid>
              <a:tr h="46811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2000" b="1" kern="100" dirty="0" smtClean="0"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元素</a:t>
                      </a:r>
                      <a:endParaRPr lang="zh-CN" altLang="en-US" sz="2000" b="1" dirty="0"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2000" b="1" kern="100" dirty="0" smtClean="0"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元素符号</a:t>
                      </a:r>
                      <a:endParaRPr lang="zh-CN" altLang="en-US" sz="2000" b="1" dirty="0"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2000" b="1" kern="100" dirty="0" smtClean="0"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周期</a:t>
                      </a:r>
                      <a:endParaRPr lang="zh-CN" altLang="en-US" sz="2000" b="1" dirty="0"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2000" b="1" kern="100" dirty="0" smtClean="0"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族</a:t>
                      </a:r>
                      <a:endParaRPr lang="zh-CN" altLang="en-US" sz="2000" b="1" dirty="0"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2000" b="1" kern="100" dirty="0" smtClean="0"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外层电子结构</a:t>
                      </a:r>
                    </a:p>
                  </a:txBody>
                  <a:tcPr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811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A</a:t>
                      </a:r>
                      <a:endParaRPr lang="zh-CN" altLang="en-US" sz="2000" b="1" dirty="0"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Na</a:t>
                      </a:r>
                      <a:endParaRPr lang="zh-CN" altLang="zh-CN" sz="2000" b="1" kern="100" dirty="0" smtClean="0">
                        <a:solidFill>
                          <a:srgbClr val="FF3300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 smtClean="0">
                          <a:solidFill>
                            <a:srgbClr val="FF3300"/>
                          </a:solidFill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三</a:t>
                      </a:r>
                      <a:endParaRPr lang="zh-CN" altLang="en-US" sz="2000" b="1" dirty="0">
                        <a:solidFill>
                          <a:srgbClr val="FF3300"/>
                        </a:solidFill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20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Ⅰ</a:t>
                      </a:r>
                      <a:r>
                        <a:rPr lang="en-US" altLang="zh-CN" sz="20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A</a:t>
                      </a:r>
                      <a:endParaRPr lang="zh-CN" altLang="zh-CN" sz="2000" b="1" kern="100" dirty="0" smtClean="0">
                        <a:solidFill>
                          <a:srgbClr val="FF3300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3s</a:t>
                      </a:r>
                      <a:r>
                        <a:rPr lang="en-US" altLang="zh-CN" sz="2000" b="1" kern="100" baseline="300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1</a:t>
                      </a:r>
                      <a:endParaRPr lang="zh-CN" altLang="zh-CN" sz="2000" b="1" kern="100" dirty="0">
                        <a:solidFill>
                          <a:srgbClr val="FF3300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811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B</a:t>
                      </a:r>
                      <a:endParaRPr lang="zh-CN" altLang="en-US" sz="2000" b="1" dirty="0"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Mg</a:t>
                      </a:r>
                      <a:endParaRPr lang="zh-CN" altLang="zh-CN" sz="2000" b="1" kern="100" dirty="0" smtClean="0">
                        <a:solidFill>
                          <a:srgbClr val="FF3300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 smtClean="0">
                          <a:solidFill>
                            <a:srgbClr val="FF3300"/>
                          </a:solidFill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三</a:t>
                      </a:r>
                      <a:endParaRPr lang="zh-CN" altLang="en-US" sz="2000" b="1" dirty="0">
                        <a:solidFill>
                          <a:srgbClr val="FF3300"/>
                        </a:solidFill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20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Ⅱ</a:t>
                      </a:r>
                      <a:r>
                        <a:rPr lang="en-US" altLang="zh-CN" sz="20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A</a:t>
                      </a:r>
                      <a:endParaRPr lang="zh-CN" altLang="zh-CN" sz="2000" b="1" kern="100" dirty="0" smtClean="0">
                        <a:solidFill>
                          <a:srgbClr val="FF3300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3s</a:t>
                      </a:r>
                      <a:r>
                        <a:rPr lang="en-US" altLang="zh-CN" sz="2000" b="1" kern="100" baseline="300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2</a:t>
                      </a:r>
                      <a:endParaRPr lang="zh-CN" altLang="zh-CN" sz="2000" b="1" kern="100" dirty="0" smtClean="0">
                        <a:solidFill>
                          <a:srgbClr val="FF3300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811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C</a:t>
                      </a:r>
                      <a:endParaRPr lang="zh-CN" altLang="en-US" sz="2000" b="1" dirty="0"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Al</a:t>
                      </a:r>
                      <a:endParaRPr lang="zh-CN" altLang="zh-CN" sz="2000" b="1" kern="100" dirty="0" smtClean="0">
                        <a:solidFill>
                          <a:srgbClr val="FF3300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 smtClean="0">
                          <a:solidFill>
                            <a:srgbClr val="FF3300"/>
                          </a:solidFill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三</a:t>
                      </a:r>
                      <a:endParaRPr lang="zh-CN" altLang="en-US" sz="2000" b="1" dirty="0">
                        <a:solidFill>
                          <a:srgbClr val="FF3300"/>
                        </a:solidFill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20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Ⅲ</a:t>
                      </a:r>
                      <a:r>
                        <a:rPr lang="en-US" altLang="zh-CN" sz="20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A</a:t>
                      </a:r>
                      <a:endParaRPr lang="zh-CN" altLang="zh-CN" sz="2000" b="1" kern="100" dirty="0" smtClean="0">
                        <a:solidFill>
                          <a:srgbClr val="FF3300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3s</a:t>
                      </a:r>
                      <a:r>
                        <a:rPr lang="en-US" altLang="zh-CN" sz="2000" b="1" kern="100" baseline="300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en-US" altLang="zh-CN" sz="20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3p</a:t>
                      </a:r>
                      <a:r>
                        <a:rPr lang="en-US" altLang="zh-CN" sz="2000" b="1" kern="100" baseline="300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1</a:t>
                      </a:r>
                      <a:endParaRPr lang="zh-CN" altLang="zh-CN" sz="2000" b="1" kern="100" dirty="0" smtClean="0">
                        <a:solidFill>
                          <a:srgbClr val="FF3300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811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D</a:t>
                      </a:r>
                      <a:endParaRPr lang="zh-CN" altLang="en-US" sz="2000" b="1" dirty="0"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Br</a:t>
                      </a:r>
                      <a:endParaRPr lang="zh-CN" altLang="zh-CN" sz="2000" b="1" kern="100" dirty="0" smtClean="0">
                        <a:solidFill>
                          <a:srgbClr val="FF3300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 smtClean="0">
                          <a:solidFill>
                            <a:srgbClr val="FF3300"/>
                          </a:solidFill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四</a:t>
                      </a:r>
                      <a:endParaRPr lang="zh-CN" altLang="en-US" sz="2000" b="1" dirty="0">
                        <a:solidFill>
                          <a:srgbClr val="FF3300"/>
                        </a:solidFill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20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Ⅶ</a:t>
                      </a:r>
                      <a:r>
                        <a:rPr lang="en-US" altLang="zh-CN" sz="20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A</a:t>
                      </a:r>
                      <a:endParaRPr lang="zh-CN" altLang="zh-CN" sz="2000" b="1" kern="100" dirty="0" smtClean="0">
                        <a:solidFill>
                          <a:srgbClr val="FF3300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4s</a:t>
                      </a:r>
                      <a:r>
                        <a:rPr lang="en-US" altLang="zh-CN" sz="2000" b="1" kern="100" baseline="300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en-US" altLang="zh-CN" sz="20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4p</a:t>
                      </a:r>
                      <a:r>
                        <a:rPr lang="en-US" altLang="zh-CN" sz="2000" b="1" kern="100" baseline="300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5</a:t>
                      </a:r>
                      <a:endParaRPr lang="zh-CN" altLang="zh-CN" sz="2000" b="1" kern="100" dirty="0" smtClean="0">
                        <a:solidFill>
                          <a:srgbClr val="FF3300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811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E</a:t>
                      </a:r>
                      <a:endParaRPr lang="zh-CN" altLang="en-US" sz="2000" b="1" dirty="0"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rgbClr val="FF3300"/>
                          </a:solidFill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I</a:t>
                      </a:r>
                      <a:endParaRPr lang="zh-CN" altLang="en-US" sz="2000" b="1" dirty="0">
                        <a:solidFill>
                          <a:srgbClr val="FF3300"/>
                        </a:solidFill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 smtClean="0">
                          <a:solidFill>
                            <a:srgbClr val="FF3300"/>
                          </a:solidFill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五</a:t>
                      </a:r>
                      <a:endParaRPr lang="zh-CN" altLang="en-US" sz="2000" b="1" dirty="0">
                        <a:solidFill>
                          <a:srgbClr val="FF3300"/>
                        </a:solidFill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0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Ⅶ</a:t>
                      </a:r>
                      <a:r>
                        <a:rPr lang="en-US" altLang="zh-CN" sz="20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A</a:t>
                      </a:r>
                      <a:endParaRPr lang="zh-CN" altLang="en-US" sz="2000" b="1" dirty="0">
                        <a:solidFill>
                          <a:srgbClr val="FF3300"/>
                        </a:solidFill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5s</a:t>
                      </a:r>
                      <a:r>
                        <a:rPr lang="en-US" altLang="zh-CN" sz="2000" b="1" kern="100" baseline="300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en-US" altLang="zh-CN" sz="20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5p</a:t>
                      </a:r>
                      <a:r>
                        <a:rPr lang="en-US" altLang="zh-CN" sz="2000" b="1" kern="100" baseline="300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5</a:t>
                      </a:r>
                      <a:endParaRPr lang="zh-CN" altLang="zh-CN" sz="2000" b="1" kern="100" dirty="0" smtClean="0">
                        <a:solidFill>
                          <a:srgbClr val="FF3300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811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G</a:t>
                      </a:r>
                      <a:endParaRPr lang="zh-CN" altLang="en-US" sz="2000" b="1" dirty="0"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rgbClr val="FF3300"/>
                          </a:solidFill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F</a:t>
                      </a:r>
                      <a:endParaRPr lang="zh-CN" altLang="en-US" sz="2000" b="1" dirty="0">
                        <a:solidFill>
                          <a:srgbClr val="FF3300"/>
                        </a:solidFill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 smtClean="0">
                          <a:solidFill>
                            <a:srgbClr val="FF3300"/>
                          </a:solidFill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二</a:t>
                      </a:r>
                      <a:endParaRPr lang="zh-CN" altLang="en-US" sz="2000" b="1" dirty="0">
                        <a:solidFill>
                          <a:srgbClr val="FF3300"/>
                        </a:solidFill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20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Ⅶ</a:t>
                      </a:r>
                      <a:r>
                        <a:rPr lang="en-US" altLang="zh-CN" sz="20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A</a:t>
                      </a:r>
                      <a:endParaRPr lang="zh-CN" altLang="en-US" sz="2000" b="1" dirty="0" smtClean="0">
                        <a:solidFill>
                          <a:srgbClr val="FF3300"/>
                        </a:solidFill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2s</a:t>
                      </a:r>
                      <a:r>
                        <a:rPr lang="en-US" altLang="zh-CN" sz="2000" b="1" kern="100" baseline="300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en-US" altLang="zh-CN" sz="20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2p</a:t>
                      </a:r>
                      <a:r>
                        <a:rPr lang="en-US" altLang="zh-CN" sz="2000" b="1" kern="100" baseline="300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5</a:t>
                      </a:r>
                      <a:endParaRPr lang="zh-CN" altLang="zh-CN" sz="2000" b="1" kern="100" dirty="0" smtClean="0">
                        <a:solidFill>
                          <a:srgbClr val="FF3300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811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M</a:t>
                      </a:r>
                      <a:endParaRPr lang="zh-CN" altLang="en-US" sz="2000" b="1" dirty="0"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 dirty="0" err="1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Mn</a:t>
                      </a:r>
                      <a:endParaRPr lang="zh-CN" altLang="zh-CN" sz="2000" b="1" kern="100" dirty="0" smtClean="0">
                        <a:solidFill>
                          <a:srgbClr val="FF3300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 smtClean="0">
                          <a:solidFill>
                            <a:srgbClr val="FF3300"/>
                          </a:solidFill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四</a:t>
                      </a:r>
                      <a:endParaRPr lang="zh-CN" altLang="en-US" sz="2000" b="1" dirty="0">
                        <a:solidFill>
                          <a:srgbClr val="FF3300"/>
                        </a:solidFill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20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Ⅶ</a:t>
                      </a:r>
                      <a:r>
                        <a:rPr lang="en-US" altLang="zh-CN" sz="20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B</a:t>
                      </a:r>
                      <a:endParaRPr lang="zh-CN" altLang="zh-CN" sz="2000" b="1" kern="100" dirty="0" smtClean="0">
                        <a:solidFill>
                          <a:srgbClr val="FF3300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3d</a:t>
                      </a:r>
                      <a:r>
                        <a:rPr lang="en-US" altLang="zh-CN" sz="2000" b="1" kern="100" baseline="300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5</a:t>
                      </a:r>
                      <a:r>
                        <a:rPr lang="en-US" altLang="zh-CN" sz="2000" b="1" kern="1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4s</a:t>
                      </a:r>
                      <a:r>
                        <a:rPr lang="en-US" altLang="zh-CN" sz="2000" b="1" kern="100" baseline="30000" dirty="0" smtClean="0"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  <a:cs typeface="Times New Roman" pitchFamily="18" charset="0"/>
                        </a:rPr>
                        <a:t>2</a:t>
                      </a:r>
                      <a:endParaRPr lang="zh-CN" altLang="zh-CN" sz="2000" b="1" kern="100" dirty="0" smtClean="0">
                        <a:solidFill>
                          <a:srgbClr val="FF3300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T="45726" marB="45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theme/theme1.xml><?xml version="1.0" encoding="utf-8"?>
<a:theme xmlns:a="http://schemas.openxmlformats.org/drawingml/2006/main" name="医学研究PPT模板">
  <a:themeElements>
    <a:clrScheme name="医学研究PPT模板 1">
      <a:dk1>
        <a:srgbClr val="FFFFFF"/>
      </a:dk1>
      <a:lt1>
        <a:srgbClr val="FFFFFF"/>
      </a:lt1>
      <a:dk2>
        <a:srgbClr val="000000"/>
      </a:dk2>
      <a:lt2>
        <a:srgbClr val="000000"/>
      </a:lt2>
      <a:accent1>
        <a:srgbClr val="000000"/>
      </a:accent1>
      <a:accent2>
        <a:srgbClr val="FF00FF"/>
      </a:accent2>
      <a:accent3>
        <a:srgbClr val="FFFFFF"/>
      </a:accent3>
      <a:accent4>
        <a:srgbClr val="DADADA"/>
      </a:accent4>
      <a:accent5>
        <a:srgbClr val="AAAAAA"/>
      </a:accent5>
      <a:accent6>
        <a:srgbClr val="E700E7"/>
      </a:accent6>
      <a:hlink>
        <a:srgbClr val="FFCCFF"/>
      </a:hlink>
      <a:folHlink>
        <a:srgbClr val="66FF33"/>
      </a:folHlink>
    </a:clrScheme>
    <a:fontScheme name="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CCFF"/>
        </a:hlink>
        <a:folHlink>
          <a:srgbClr val="66FF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医学研究PPT模板">
  <a:themeElements>
    <a:clrScheme name="医学研究PPT模板 1">
      <a:dk1>
        <a:srgbClr val="FFFFFF"/>
      </a:dk1>
      <a:lt1>
        <a:srgbClr val="FFFFFF"/>
      </a:lt1>
      <a:dk2>
        <a:srgbClr val="000000"/>
      </a:dk2>
      <a:lt2>
        <a:srgbClr val="000000"/>
      </a:lt2>
      <a:accent1>
        <a:srgbClr val="000000"/>
      </a:accent1>
      <a:accent2>
        <a:srgbClr val="FF00FF"/>
      </a:accent2>
      <a:accent3>
        <a:srgbClr val="FFFFFF"/>
      </a:accent3>
      <a:accent4>
        <a:srgbClr val="DADADA"/>
      </a:accent4>
      <a:accent5>
        <a:srgbClr val="AAAAAA"/>
      </a:accent5>
      <a:accent6>
        <a:srgbClr val="E700E7"/>
      </a:accent6>
      <a:hlink>
        <a:srgbClr val="FFCCFF"/>
      </a:hlink>
      <a:folHlink>
        <a:srgbClr val="66FF33"/>
      </a:folHlink>
    </a:clrScheme>
    <a:fontScheme name="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CCFF"/>
        </a:hlink>
        <a:folHlink>
          <a:srgbClr val="66FF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2811</TotalTime>
  <Pages>0</Pages>
  <Words>2778</Words>
  <Characters>0</Characters>
  <Application>Microsoft Office PowerPoint</Application>
  <DocSecurity>0</DocSecurity>
  <PresentationFormat>自定义</PresentationFormat>
  <Lines>0</Lines>
  <Paragraphs>324</Paragraphs>
  <Slides>20</Slides>
  <Notes>20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3" baseType="lpstr">
      <vt:lpstr>医学研究PPT模板</vt:lpstr>
      <vt:lpstr>1_医学研究PPT模板</vt:lpstr>
      <vt:lpstr>公式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</vt:vector>
  </TitlesOfParts>
  <LinksUpToDate>false</LinksUpToDate>
  <CharactersWithSpaces>0</CharactersWithSpaces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ch07原子结构习题指导</dc:title>
  <dc:creator>江南大学</dc:creator>
  <cp:lastModifiedBy>ASUS</cp:lastModifiedBy>
  <cp:revision>275</cp:revision>
  <cp:lastPrinted>1601-01-01T00:00:00Z</cp:lastPrinted>
  <dcterms:created xsi:type="dcterms:W3CDTF">2012-06-20T03:37:37Z</dcterms:created>
  <dcterms:modified xsi:type="dcterms:W3CDTF">2017-08-23T23:05:54Z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2052-8.1.0.3089</vt:lpwstr>
  </property>
</Properties>
</file>