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17"/>
  </p:notesMasterIdLst>
  <p:sldIdLst>
    <p:sldId id="293" r:id="rId2"/>
    <p:sldId id="321" r:id="rId3"/>
    <p:sldId id="322" r:id="rId4"/>
    <p:sldId id="323" r:id="rId5"/>
    <p:sldId id="327" r:id="rId6"/>
    <p:sldId id="324" r:id="rId7"/>
    <p:sldId id="325" r:id="rId8"/>
    <p:sldId id="326" r:id="rId9"/>
    <p:sldId id="295" r:id="rId10"/>
    <p:sldId id="296" r:id="rId11"/>
    <p:sldId id="297" r:id="rId12"/>
    <p:sldId id="298" r:id="rId13"/>
    <p:sldId id="305" r:id="rId14"/>
    <p:sldId id="306" r:id="rId15"/>
    <p:sldId id="317" r:id="rId16"/>
  </p:sldIdLst>
  <p:sldSz cx="11522075" cy="6480175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34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FF"/>
    <a:srgbClr val="F8F8F8"/>
    <a:srgbClr val="66CCFF"/>
    <a:srgbClr val="85D9F7"/>
    <a:srgbClr val="57BBFF"/>
    <a:srgbClr val="00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20" autoAdjust="0"/>
  </p:normalViewPr>
  <p:slideViewPr>
    <p:cSldViewPr>
      <p:cViewPr varScale="1">
        <p:scale>
          <a:sx n="73" d="100"/>
          <a:sy n="73" d="100"/>
        </p:scale>
        <p:origin x="750" y="72"/>
      </p:cViewPr>
      <p:guideLst>
        <p:guide orient="horz" pos="2034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77164152-92E5-4B0F-B37F-3232FCBADA66}" type="datetimeFigureOut">
              <a:rPr lang="zh-CN" altLang="en-US"/>
              <a:pPr>
                <a:defRPr/>
              </a:pPr>
              <a:t>2021/12/2</a:t>
            </a:fld>
            <a:endParaRPr lang="en-US" altLang="zh-CN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917122EA-898B-4F8F-86A0-E1C987AD4E9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/>
              <a:t>商少明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AFDFFB44-2795-4F0A-8A42-D9AC4E64F4B4}" type="datetime1">
              <a:rPr lang="zh-CN" altLang="en-US" smtClean="0"/>
              <a:pPr/>
              <a:t>2021/12/2</a:t>
            </a:fld>
            <a:endParaRPr lang="en-US" altLang="zh-CN" smtClean="0"/>
          </a:p>
        </p:txBody>
      </p:sp>
      <p:sp>
        <p:nvSpPr>
          <p:cNvPr id="204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6238E7-AE04-476A-86E9-871922A5D1F8}" type="slidenum">
              <a:rPr lang="en-US" altLang="zh-CN" smtClean="0"/>
              <a:pPr/>
              <a:t>9</a:t>
            </a:fld>
            <a:endParaRPr lang="en-US" altLang="zh-CN" smtClean="0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/>
              <a:t>商少明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43344B6-8730-457B-B69D-7B0A47A87569}" type="datetime1">
              <a:rPr lang="zh-CN" altLang="en-US" smtClean="0"/>
              <a:pPr/>
              <a:t>2021/12/2</a:t>
            </a:fld>
            <a:endParaRPr lang="en-US" altLang="zh-CN" smtClean="0"/>
          </a:p>
        </p:txBody>
      </p:sp>
      <p:sp>
        <p:nvSpPr>
          <p:cNvPr id="215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866DC1-4811-442D-BD89-12B56FC4E883}" type="slidenum">
              <a:rPr lang="en-US" altLang="zh-CN" smtClean="0"/>
              <a:pPr/>
              <a:t>10</a:t>
            </a:fld>
            <a:endParaRPr lang="en-US" altLang="zh-CN" smtClean="0"/>
          </a:p>
        </p:txBody>
      </p:sp>
      <p:sp>
        <p:nvSpPr>
          <p:cNvPr id="215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 smtClean="0"/>
              <a:t>转化的完全程度同样可用转化反应常数衡量。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/>
              <a:t>商少明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609170A4-0A9F-4321-AB08-9EC0DC93A9C3}" type="datetime1">
              <a:rPr lang="zh-CN" altLang="en-US" smtClean="0"/>
              <a:pPr/>
              <a:t>2021/12/2</a:t>
            </a:fld>
            <a:endParaRPr lang="en-US" altLang="zh-CN" smtClean="0"/>
          </a:p>
        </p:txBody>
      </p:sp>
      <p:sp>
        <p:nvSpPr>
          <p:cNvPr id="225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B6543C-586F-4763-B61A-A91A57D7881B}" type="slidenum">
              <a:rPr lang="en-US" altLang="zh-CN" smtClean="0"/>
              <a:pPr/>
              <a:t>11</a:t>
            </a:fld>
            <a:endParaRPr lang="en-US" altLang="zh-CN" smtClean="0"/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/>
              <a:t>商少明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99DC7A77-4164-4C36-9CE0-E6C5A2343CEE}" type="datetime1">
              <a:rPr lang="zh-CN" altLang="en-US" smtClean="0"/>
              <a:pPr/>
              <a:t>2021/12/2</a:t>
            </a:fld>
            <a:endParaRPr lang="en-US" altLang="zh-CN" smtClean="0"/>
          </a:p>
        </p:txBody>
      </p:sp>
      <p:sp>
        <p:nvSpPr>
          <p:cNvPr id="235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F60FDD-CC11-47EF-979D-219465FC16F0}" type="slidenum">
              <a:rPr lang="en-US" altLang="zh-CN" smtClean="0"/>
              <a:pPr/>
              <a:t>12</a:t>
            </a:fld>
            <a:endParaRPr lang="en-US" altLang="zh-CN" smtClean="0"/>
          </a:p>
        </p:txBody>
      </p:sp>
      <p:sp>
        <p:nvSpPr>
          <p:cNvPr id="235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/>
              <a:t>商少明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0FA9B32-C6EF-4D20-B13D-CD65F0A13B4D}" type="datetime1">
              <a:rPr lang="zh-CN" altLang="en-US" smtClean="0"/>
              <a:pPr/>
              <a:t>2021/12/2</a:t>
            </a:fld>
            <a:endParaRPr lang="en-US" altLang="zh-CN" smtClean="0"/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99D9C8-1027-4CB0-9172-FA30584EE14A}" type="slidenum">
              <a:rPr lang="en-US" altLang="zh-CN" smtClean="0"/>
              <a:pPr/>
              <a:t>13</a:t>
            </a:fld>
            <a:endParaRPr lang="en-US" altLang="zh-CN" smtClean="0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/>
              <a:t>商少明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5AD98111-0700-4535-900E-87D44CCC4B75}" type="datetime1">
              <a:rPr lang="zh-CN" altLang="en-US" smtClean="0"/>
              <a:pPr/>
              <a:t>2021/12/2</a:t>
            </a:fld>
            <a:endParaRPr lang="en-US" altLang="zh-CN" smtClean="0"/>
          </a:p>
        </p:txBody>
      </p:sp>
      <p:sp>
        <p:nvSpPr>
          <p:cNvPr id="256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7CEE4E-D1DF-4B1D-8D56-0F206E8D3FB4}" type="slidenum">
              <a:rPr lang="en-US" altLang="zh-CN" smtClean="0"/>
              <a:pPr/>
              <a:t>14</a:t>
            </a:fld>
            <a:endParaRPr lang="en-US" altLang="zh-CN" smtClean="0"/>
          </a:p>
        </p:txBody>
      </p:sp>
      <p:sp>
        <p:nvSpPr>
          <p:cNvPr id="256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2081" y="306008"/>
            <a:ext cx="9793764" cy="4308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56190" y="1656045"/>
            <a:ext cx="4800865" cy="388810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049089" y="1656045"/>
            <a:ext cx="4800865" cy="18720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49089" y="3672099"/>
            <a:ext cx="4800865" cy="18720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906463" y="5949950"/>
            <a:ext cx="2268537" cy="407988"/>
          </a:xfrm>
          <a:prstGeom prst="rect">
            <a:avLst/>
          </a:prstGeom>
        </p:spPr>
        <p:txBody>
          <a:bodyPr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>
          <a:xfrm>
            <a:off x="5530850" y="5949950"/>
            <a:ext cx="544513" cy="407988"/>
          </a:xfrm>
          <a:prstGeom prst="rect">
            <a:avLst/>
          </a:prstGeom>
        </p:spPr>
        <p:txBody>
          <a:bodyPr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fld id="{DBDF9DE0-7C24-46DC-A6F9-1604297F8E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121" descr="地砖背景1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-20638" y="-17463"/>
            <a:ext cx="11563351" cy="6516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</p:sldLayoutIdLst>
  <p:transition spd="slow">
    <p:split orient="vert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3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4" Type="http://schemas.openxmlformats.org/officeDocument/2006/relationships/audio" Target="../media/audio3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audio" Target="../media/audio2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3.wav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5.bin"/><Relationship Id="rId4" Type="http://schemas.openxmlformats.org/officeDocument/2006/relationships/audio" Target="../media/audio1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1"/>
          <p:cNvSpPr txBox="1">
            <a:spLocks noChangeArrowheads="1"/>
          </p:cNvSpPr>
          <p:nvPr/>
        </p:nvSpPr>
        <p:spPr bwMode="auto">
          <a:xfrm>
            <a:off x="188896" y="382567"/>
            <a:ext cx="3286125" cy="25082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200" b="1" dirty="0">
                <a:solidFill>
                  <a:srgbClr val="FFFF00"/>
                </a:solidFill>
                <a:ea typeface="华文新魏" pitchFamily="2" charset="-122"/>
              </a:rPr>
              <a:t>例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</a:rPr>
              <a:t>1:</a:t>
            </a:r>
          </a:p>
          <a:p>
            <a:r>
              <a:rPr lang="zh-CN" altLang="en-US" sz="2200" b="1" dirty="0">
                <a:ea typeface="华文新魏" pitchFamily="2" charset="-122"/>
              </a:rPr>
              <a:t>室温下</a:t>
            </a:r>
            <a:r>
              <a:rPr lang="en-US" altLang="zh-CN" sz="2200" b="1" dirty="0">
                <a:ea typeface="华文新魏" pitchFamily="2" charset="-122"/>
              </a:rPr>
              <a:t>,0.010mol</a:t>
            </a:r>
            <a:r>
              <a:rPr lang="zh-CN" altLang="en-US" sz="2200" b="1" dirty="0">
                <a:ea typeface="华文新魏" pitchFamily="2" charset="-122"/>
              </a:rPr>
              <a:t>的</a:t>
            </a:r>
            <a:r>
              <a:rPr lang="en-US" altLang="zh-CN" sz="2200" b="1" dirty="0">
                <a:ea typeface="华文新魏" pitchFamily="2" charset="-122"/>
              </a:rPr>
              <a:t>AgNO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en-US" altLang="zh-CN" sz="2200" b="1" dirty="0">
                <a:ea typeface="华文新魏" pitchFamily="2" charset="-122"/>
              </a:rPr>
              <a:t>(s)</a:t>
            </a:r>
            <a:r>
              <a:rPr lang="zh-CN" altLang="en-US" sz="2200" b="1" dirty="0">
                <a:ea typeface="华文新魏" pitchFamily="2" charset="-122"/>
              </a:rPr>
              <a:t>溶于</a:t>
            </a:r>
            <a:r>
              <a:rPr lang="en-US" altLang="zh-CN" sz="2200" b="1" dirty="0">
                <a:ea typeface="华文新魏" pitchFamily="2" charset="-122"/>
              </a:rPr>
              <a:t>1.0L 0.030 mol·L</a:t>
            </a:r>
            <a:r>
              <a:rPr lang="en-US" altLang="zh-CN" sz="2200" b="1" baseline="30000" dirty="0">
                <a:ea typeface="华文新魏" pitchFamily="2" charset="-122"/>
              </a:rPr>
              <a:t>-1</a:t>
            </a:r>
            <a:r>
              <a:rPr lang="zh-CN" altLang="en-US" sz="2200" b="1" dirty="0">
                <a:ea typeface="华文新魏" pitchFamily="2" charset="-122"/>
              </a:rPr>
              <a:t>的</a:t>
            </a:r>
            <a:r>
              <a:rPr lang="en-US" altLang="zh-CN" sz="2200" b="1" dirty="0">
                <a:ea typeface="华文新魏" pitchFamily="2" charset="-122"/>
              </a:rPr>
              <a:t>NH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en-US" altLang="zh-CN" sz="2200" b="1" dirty="0">
                <a:ea typeface="华文新魏" pitchFamily="2" charset="-122"/>
              </a:rPr>
              <a:t>·H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O</a:t>
            </a:r>
            <a:r>
              <a:rPr lang="zh-CN" altLang="en-US" sz="2200" b="1" dirty="0">
                <a:ea typeface="华文新魏" pitchFamily="2" charset="-122"/>
              </a:rPr>
              <a:t>中</a:t>
            </a:r>
            <a:r>
              <a:rPr lang="en-US" altLang="zh-CN" sz="2200" b="1" dirty="0">
                <a:ea typeface="华文新魏" pitchFamily="2" charset="-122"/>
              </a:rPr>
              <a:t>(</a:t>
            </a:r>
            <a:r>
              <a:rPr lang="zh-CN" altLang="en-US" sz="2200" b="1" dirty="0">
                <a:ea typeface="华文新魏" pitchFamily="2" charset="-122"/>
              </a:rPr>
              <a:t>设体积不变</a:t>
            </a:r>
            <a:r>
              <a:rPr lang="en-US" altLang="zh-CN" sz="2200" b="1" dirty="0">
                <a:ea typeface="华文新魏" pitchFamily="2" charset="-122"/>
              </a:rPr>
              <a:t>),</a:t>
            </a:r>
            <a:r>
              <a:rPr lang="zh-CN" altLang="en-US" sz="2200" b="1" dirty="0">
                <a:ea typeface="华文新魏" pitchFamily="2" charset="-122"/>
              </a:rPr>
              <a:t>计算该溶液中游离</a:t>
            </a:r>
            <a:r>
              <a:rPr lang="en-US" altLang="zh-CN" sz="2200" b="1" dirty="0">
                <a:ea typeface="华文新魏" pitchFamily="2" charset="-122"/>
              </a:rPr>
              <a:t>Ag</a:t>
            </a:r>
            <a:r>
              <a:rPr lang="en-US" altLang="zh-CN" sz="2200" b="1" baseline="30000" dirty="0">
                <a:ea typeface="华文新魏" pitchFamily="2" charset="-122"/>
              </a:rPr>
              <a:t>+</a:t>
            </a:r>
            <a:r>
              <a:rPr lang="zh-CN" altLang="en-US" sz="2200" b="1" dirty="0">
                <a:ea typeface="华文新魏" pitchFamily="2" charset="-122"/>
              </a:rPr>
              <a:t>、</a:t>
            </a:r>
            <a:r>
              <a:rPr lang="en-US" altLang="zh-CN" sz="2200" b="1" dirty="0">
                <a:ea typeface="华文新魏" pitchFamily="2" charset="-122"/>
              </a:rPr>
              <a:t>NH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zh-CN" altLang="en-US" sz="2200" b="1" dirty="0">
                <a:ea typeface="华文新魏" pitchFamily="2" charset="-122"/>
              </a:rPr>
              <a:t>和</a:t>
            </a:r>
            <a:r>
              <a:rPr lang="en-US" altLang="zh-CN" sz="2200" b="1" dirty="0">
                <a:ea typeface="华文新魏" pitchFamily="2" charset="-122"/>
              </a:rPr>
              <a:t>[Ag(NH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en-US" altLang="zh-CN" sz="2200" b="1" dirty="0">
                <a:ea typeface="华文新魏" pitchFamily="2" charset="-122"/>
              </a:rPr>
              <a:t>)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]</a:t>
            </a:r>
            <a:r>
              <a:rPr lang="en-US" altLang="zh-CN" sz="2200" b="1" baseline="30000" dirty="0">
                <a:ea typeface="华文新魏" pitchFamily="2" charset="-122"/>
              </a:rPr>
              <a:t>+</a:t>
            </a:r>
            <a:r>
              <a:rPr lang="zh-CN" altLang="en-US" sz="2200" b="1" dirty="0">
                <a:ea typeface="华文新魏" pitchFamily="2" charset="-122"/>
              </a:rPr>
              <a:t>的浓度</a:t>
            </a:r>
            <a:r>
              <a:rPr lang="en-US" altLang="zh-CN" sz="2500" b="1" dirty="0">
                <a:ea typeface="华文新魏" pitchFamily="2" charset="-122"/>
              </a:rPr>
              <a:t>.</a:t>
            </a:r>
          </a:p>
        </p:txBody>
      </p:sp>
      <p:sp>
        <p:nvSpPr>
          <p:cNvPr id="6" name="Rectangle 52"/>
          <p:cNvSpPr>
            <a:spLocks noChangeArrowheads="1"/>
          </p:cNvSpPr>
          <p:nvPr/>
        </p:nvSpPr>
        <p:spPr bwMode="auto">
          <a:xfrm>
            <a:off x="4046538" y="454025"/>
            <a:ext cx="6127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</a:rPr>
              <a:t>:</a:t>
            </a:r>
          </a:p>
        </p:txBody>
      </p:sp>
      <p:sp>
        <p:nvSpPr>
          <p:cNvPr id="7" name="Text Box 53"/>
          <p:cNvSpPr txBox="1">
            <a:spLocks noChangeArrowheads="1"/>
          </p:cNvSpPr>
          <p:nvPr/>
        </p:nvSpPr>
        <p:spPr bwMode="auto">
          <a:xfrm>
            <a:off x="4832350" y="454025"/>
            <a:ext cx="4224338" cy="4762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华文新魏" pitchFamily="2" charset="-122"/>
              </a:rPr>
              <a:t>查得</a:t>
            </a:r>
            <a:r>
              <a:rPr lang="en-US" altLang="zh-CN" sz="2500" b="1" dirty="0">
                <a:ea typeface="华文新魏" pitchFamily="2" charset="-122"/>
              </a:rPr>
              <a:t>:</a:t>
            </a:r>
            <a:r>
              <a:rPr lang="en-US" altLang="zh-CN" sz="2500" b="1" i="1" dirty="0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zh-CN" altLang="en-US" sz="2500" b="1" dirty="0">
                <a:ea typeface="华文新魏" pitchFamily="2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=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7.05</a:t>
            </a:r>
            <a:r>
              <a:rPr lang="en-US" altLang="zh-CN" sz="2500" b="1" dirty="0">
                <a:ea typeface="华文新魏" pitchFamily="2" charset="-122"/>
              </a:rPr>
              <a:t>. </a:t>
            </a:r>
          </a:p>
        </p:txBody>
      </p:sp>
      <p:sp>
        <p:nvSpPr>
          <p:cNvPr id="9" name="Rectangle 1037"/>
          <p:cNvSpPr>
            <a:spLocks noChangeArrowheads="1"/>
          </p:cNvSpPr>
          <p:nvPr/>
        </p:nvSpPr>
        <p:spPr bwMode="auto">
          <a:xfrm>
            <a:off x="6261100" y="1311275"/>
            <a:ext cx="4572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Ag</a:t>
            </a:r>
            <a:r>
              <a:rPr lang="en-US" altLang="zh-CN" sz="2500" b="1" baseline="30000" dirty="0">
                <a:ea typeface="华文新魏" pitchFamily="2" charset="-122"/>
              </a:rPr>
              <a:t>+</a:t>
            </a:r>
            <a:r>
              <a:rPr lang="en-US" altLang="zh-CN" sz="2500" b="1" dirty="0">
                <a:ea typeface="华文新魏" pitchFamily="2" charset="-122"/>
              </a:rPr>
              <a:t>  +  2NH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    ⇋    [Ag(NH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)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]</a:t>
            </a:r>
            <a:r>
              <a:rPr lang="en-US" altLang="zh-CN" sz="2500" b="1" baseline="30000" dirty="0">
                <a:ea typeface="华文新魏" pitchFamily="2" charset="-122"/>
              </a:rPr>
              <a:t>+</a:t>
            </a:r>
          </a:p>
        </p:txBody>
      </p:sp>
      <p:sp>
        <p:nvSpPr>
          <p:cNvPr id="10" name="Text Box 1038"/>
          <p:cNvSpPr txBox="1">
            <a:spLocks noChangeArrowheads="1"/>
          </p:cNvSpPr>
          <p:nvPr/>
        </p:nvSpPr>
        <p:spPr bwMode="auto">
          <a:xfrm>
            <a:off x="3851275" y="1484313"/>
            <a:ext cx="2624138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>
                <a:solidFill>
                  <a:srgbClr val="FFFF00"/>
                </a:solidFill>
                <a:ea typeface="华文新魏" pitchFamily="2" charset="-122"/>
              </a:rPr>
              <a:t>反应前</a:t>
            </a:r>
            <a:r>
              <a:rPr lang="en-US" altLang="zh-CN" sz="2200" b="1" i="1">
                <a:solidFill>
                  <a:srgbClr val="FFFF00"/>
                </a:solidFill>
                <a:ea typeface="华文新魏" pitchFamily="2" charset="-122"/>
              </a:rPr>
              <a:t>c</a:t>
            </a:r>
            <a:r>
              <a:rPr lang="en-US" altLang="zh-CN" sz="2200" b="1">
                <a:solidFill>
                  <a:srgbClr val="FFFF00"/>
                </a:solidFill>
                <a:ea typeface="华文新魏" pitchFamily="2" charset="-122"/>
              </a:rPr>
              <a:t>/mol·L</a:t>
            </a:r>
            <a:r>
              <a:rPr lang="en-US" altLang="zh-CN" sz="2200" b="1" baseline="30000">
                <a:solidFill>
                  <a:srgbClr val="FFFF00"/>
                </a:solidFill>
                <a:ea typeface="华文新魏" pitchFamily="2" charset="-122"/>
              </a:rPr>
              <a:t>-1</a:t>
            </a:r>
          </a:p>
          <a:p>
            <a:pPr>
              <a:lnSpc>
                <a:spcPct val="150000"/>
              </a:lnSpc>
            </a:pPr>
            <a:r>
              <a:rPr lang="zh-CN" altLang="en-US" sz="2200" b="1">
                <a:solidFill>
                  <a:srgbClr val="FFFF00"/>
                </a:solidFill>
                <a:ea typeface="华文新魏" pitchFamily="2" charset="-122"/>
              </a:rPr>
              <a:t>平衡时</a:t>
            </a:r>
            <a:r>
              <a:rPr lang="en-US" altLang="zh-CN" sz="2200" b="1" i="1">
                <a:solidFill>
                  <a:srgbClr val="FFFF00"/>
                </a:solidFill>
                <a:ea typeface="华文新魏" pitchFamily="2" charset="-122"/>
              </a:rPr>
              <a:t>c</a:t>
            </a:r>
            <a:r>
              <a:rPr lang="en-US" altLang="zh-CN" sz="2200" b="1">
                <a:solidFill>
                  <a:srgbClr val="FFFF00"/>
                </a:solidFill>
                <a:ea typeface="华文新魏" pitchFamily="2" charset="-122"/>
              </a:rPr>
              <a:t>/mol·L</a:t>
            </a:r>
            <a:r>
              <a:rPr lang="en-US" altLang="zh-CN" sz="2200" b="1" baseline="30000">
                <a:solidFill>
                  <a:srgbClr val="FFFF00"/>
                </a:solidFill>
                <a:ea typeface="华文新魏" pitchFamily="2" charset="-122"/>
              </a:rPr>
              <a:t>-1</a:t>
            </a:r>
          </a:p>
        </p:txBody>
      </p:sp>
      <p:sp>
        <p:nvSpPr>
          <p:cNvPr id="11" name="Text Box 1039"/>
          <p:cNvSpPr txBox="1">
            <a:spLocks noChangeArrowheads="1"/>
          </p:cNvSpPr>
          <p:nvPr/>
        </p:nvSpPr>
        <p:spPr bwMode="auto">
          <a:xfrm>
            <a:off x="6403975" y="1739900"/>
            <a:ext cx="47148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500" b="1">
                <a:ea typeface="华文新魏" pitchFamily="2" charset="-122"/>
              </a:rPr>
              <a:t>0.010     0.030                 0.0</a:t>
            </a:r>
          </a:p>
        </p:txBody>
      </p:sp>
      <p:sp>
        <p:nvSpPr>
          <p:cNvPr id="12" name="Rectangle 1040"/>
          <p:cNvSpPr>
            <a:spLocks noChangeArrowheads="1"/>
          </p:cNvSpPr>
          <p:nvPr/>
        </p:nvSpPr>
        <p:spPr bwMode="auto">
          <a:xfrm>
            <a:off x="6618288" y="2097088"/>
            <a:ext cx="34448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华文新魏" pitchFamily="2" charset="-122"/>
              </a:rPr>
              <a:t>x</a:t>
            </a:r>
          </a:p>
        </p:txBody>
      </p:sp>
      <p:sp>
        <p:nvSpPr>
          <p:cNvPr id="13" name="Rectangle 1041"/>
          <p:cNvSpPr>
            <a:spLocks noChangeArrowheads="1"/>
          </p:cNvSpPr>
          <p:nvPr/>
        </p:nvSpPr>
        <p:spPr bwMode="auto">
          <a:xfrm>
            <a:off x="7332663" y="2097088"/>
            <a:ext cx="140970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华文新魏" pitchFamily="2" charset="-122"/>
              </a:rPr>
              <a:t>0.010+2</a:t>
            </a:r>
            <a:r>
              <a:rPr lang="en-US" altLang="zh-CN" sz="2500" b="1" i="1">
                <a:ea typeface="华文新魏" pitchFamily="2" charset="-122"/>
              </a:rPr>
              <a:t>x</a:t>
            </a:r>
          </a:p>
        </p:txBody>
      </p:sp>
      <p:sp>
        <p:nvSpPr>
          <p:cNvPr id="14" name="Rectangle 1042"/>
          <p:cNvSpPr>
            <a:spLocks noChangeArrowheads="1"/>
          </p:cNvSpPr>
          <p:nvPr/>
        </p:nvSpPr>
        <p:spPr bwMode="auto">
          <a:xfrm>
            <a:off x="9190038" y="2097088"/>
            <a:ext cx="117316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500" b="1" dirty="0">
                <a:ea typeface="华文新魏" pitchFamily="2" charset="-122"/>
              </a:rPr>
              <a:t>0.010-</a:t>
            </a:r>
            <a:r>
              <a:rPr lang="en-US" altLang="zh-CN" sz="2500" b="1" i="1" dirty="0">
                <a:ea typeface="华文新魏" pitchFamily="2" charset="-122"/>
              </a:rPr>
              <a:t>x</a:t>
            </a:r>
          </a:p>
        </p:txBody>
      </p:sp>
      <p:sp>
        <p:nvSpPr>
          <p:cNvPr id="15" name="Rectangle 1043"/>
          <p:cNvSpPr>
            <a:spLocks noChangeArrowheads="1"/>
          </p:cNvSpPr>
          <p:nvPr/>
        </p:nvSpPr>
        <p:spPr bwMode="auto">
          <a:xfrm>
            <a:off x="3851275" y="3568700"/>
            <a:ext cx="4438650" cy="97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500" b="1" baseline="30000">
                <a:ea typeface="华文新魏" pitchFamily="2" charset="-122"/>
                <a:sym typeface="Webdings" pitchFamily="18" charset="2"/>
              </a:rPr>
              <a:t>          </a:t>
            </a:r>
            <a:r>
              <a:rPr lang="en-US" altLang="zh-CN" sz="2500" b="1">
                <a:ea typeface="华文新魏" pitchFamily="2" charset="-122"/>
                <a:sym typeface="Webdings" pitchFamily="18" charset="2"/>
              </a:rPr>
              <a:t>= (0.010 - </a:t>
            </a:r>
            <a:r>
              <a:rPr lang="en-US" altLang="zh-CN" sz="2500" b="1" i="1">
                <a:ea typeface="华文新魏" pitchFamily="2" charset="-122"/>
              </a:rPr>
              <a:t>x</a:t>
            </a:r>
            <a:r>
              <a:rPr lang="en-US" altLang="zh-CN" sz="2500" b="1">
                <a:ea typeface="华文新魏" pitchFamily="2" charset="-122"/>
                <a:sym typeface="Webdings" pitchFamily="18" charset="2"/>
              </a:rPr>
              <a:t>)/</a:t>
            </a:r>
            <a:r>
              <a:rPr lang="en-US" altLang="zh-CN" sz="2500" b="1" i="1">
                <a:ea typeface="华文新魏" pitchFamily="2" charset="-122"/>
              </a:rPr>
              <a:t>x</a:t>
            </a:r>
            <a:r>
              <a:rPr lang="en-US" altLang="zh-CN" sz="2500" b="1">
                <a:ea typeface="华文新魏" pitchFamily="2" charset="-122"/>
                <a:sym typeface="Webdings" pitchFamily="18" charset="2"/>
              </a:rPr>
              <a:t>(0.010 + 2</a:t>
            </a:r>
            <a:r>
              <a:rPr lang="en-US" altLang="zh-CN" sz="2500" b="1" i="1">
                <a:ea typeface="华文新魏" pitchFamily="2" charset="-122"/>
              </a:rPr>
              <a:t>x</a:t>
            </a:r>
            <a:r>
              <a:rPr lang="en-US" altLang="zh-CN" sz="2500" b="1">
                <a:ea typeface="华文新魏" pitchFamily="2" charset="-122"/>
                <a:sym typeface="Webdings" pitchFamily="18" charset="2"/>
              </a:rPr>
              <a:t>)</a:t>
            </a:r>
            <a:r>
              <a:rPr lang="en-US" altLang="zh-CN" sz="2500" b="1" baseline="30000">
                <a:ea typeface="华文新魏" pitchFamily="2" charset="-122"/>
                <a:sym typeface="Webdings" pitchFamily="18" charset="2"/>
              </a:rPr>
              <a:t>2</a:t>
            </a:r>
          </a:p>
          <a:p>
            <a:pPr>
              <a:lnSpc>
                <a:spcPct val="120000"/>
              </a:lnSpc>
            </a:pPr>
            <a:r>
              <a:rPr lang="en-US" altLang="zh-CN" sz="2500" b="1">
                <a:ea typeface="华文新魏" pitchFamily="2" charset="-122"/>
              </a:rPr>
              <a:t>       </a:t>
            </a:r>
            <a:r>
              <a:rPr lang="en-US" altLang="zh-CN" sz="2500" b="1" i="1">
                <a:ea typeface="华文新魏" pitchFamily="2" charset="-122"/>
              </a:rPr>
              <a:t>x</a:t>
            </a:r>
            <a:r>
              <a:rPr lang="en-US" altLang="zh-CN" sz="2500" b="1">
                <a:ea typeface="华文新魏" pitchFamily="2" charset="-122"/>
              </a:rPr>
              <a:t> = 8.9</a:t>
            </a:r>
            <a:r>
              <a:rPr lang="en-US" altLang="zh-CN" sz="2500" b="1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500" b="1" baseline="30000">
                <a:ea typeface="华文新魏" pitchFamily="2" charset="-122"/>
                <a:sym typeface="Symbol" pitchFamily="18" charset="2"/>
              </a:rPr>
              <a:t>-6 </a:t>
            </a:r>
            <a:r>
              <a:rPr lang="en-US" altLang="zh-CN" sz="2500" b="1">
                <a:ea typeface="华文新魏" pitchFamily="2" charset="-122"/>
              </a:rPr>
              <a:t>mol·L</a:t>
            </a:r>
            <a:r>
              <a:rPr lang="en-US" altLang="zh-CN" sz="2500" b="1" baseline="30000">
                <a:ea typeface="华文新魏" pitchFamily="2" charset="-122"/>
              </a:rPr>
              <a:t>-1</a:t>
            </a:r>
            <a:r>
              <a:rPr lang="en-US" altLang="zh-CN" sz="2500" b="1" baseline="30000"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500" b="1">
                <a:ea typeface="华文新魏" pitchFamily="2" charset="-122"/>
                <a:sym typeface="Symbol" pitchFamily="18" charset="2"/>
              </a:rPr>
              <a:t>= [Ag</a:t>
            </a:r>
            <a:r>
              <a:rPr lang="en-US" altLang="zh-CN" sz="2500" b="1" baseline="30000">
                <a:ea typeface="华文新魏" pitchFamily="2" charset="-122"/>
                <a:sym typeface="Symbol" pitchFamily="18" charset="2"/>
              </a:rPr>
              <a:t>+</a:t>
            </a:r>
            <a:r>
              <a:rPr lang="en-US" altLang="zh-CN" sz="2500" b="1">
                <a:ea typeface="华文新魏" pitchFamily="2" charset="-122"/>
                <a:sym typeface="Symbol" pitchFamily="18" charset="2"/>
              </a:rPr>
              <a:t>]</a:t>
            </a:r>
          </a:p>
        </p:txBody>
      </p:sp>
      <p:sp>
        <p:nvSpPr>
          <p:cNvPr id="16" name="Text Box 1046"/>
          <p:cNvSpPr txBox="1">
            <a:spLocks noChangeArrowheads="1"/>
          </p:cNvSpPr>
          <p:nvPr/>
        </p:nvSpPr>
        <p:spPr bwMode="auto">
          <a:xfrm>
            <a:off x="3851275" y="4670425"/>
            <a:ext cx="6838984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[NH</a:t>
            </a:r>
            <a:r>
              <a:rPr lang="en-US" altLang="zh-CN" sz="2500" b="1" baseline="-25000" dirty="0">
                <a:ea typeface="华文新魏" pitchFamily="2" charset="-122"/>
                <a:sym typeface="Symbol" pitchFamily="18" charset="2"/>
              </a:rPr>
              <a:t>3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] = [Ag(NH</a:t>
            </a:r>
            <a:r>
              <a:rPr lang="en-US" altLang="zh-CN" sz="2500" b="1" baseline="-25000" dirty="0">
                <a:ea typeface="华文新魏" pitchFamily="2" charset="-122"/>
                <a:sym typeface="Symbol" pitchFamily="18" charset="2"/>
              </a:rPr>
              <a:t>3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)</a:t>
            </a:r>
            <a:r>
              <a:rPr lang="en-US" altLang="zh-CN" sz="2500" b="1" baseline="-25000" dirty="0">
                <a:ea typeface="华文新魏" pitchFamily="2" charset="-122"/>
                <a:sym typeface="Symbol" pitchFamily="18" charset="2"/>
              </a:rPr>
              <a:t>2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+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]≈0.010 </a:t>
            </a:r>
            <a:r>
              <a:rPr lang="en-US" altLang="zh-CN" sz="2500" b="1" dirty="0">
                <a:ea typeface="华文新魏" pitchFamily="2" charset="-122"/>
              </a:rPr>
              <a:t>mol·L</a:t>
            </a:r>
            <a:r>
              <a:rPr lang="en-US" altLang="zh-CN" sz="2500" b="1" baseline="30000" dirty="0">
                <a:ea typeface="华文新魏" pitchFamily="2" charset="-122"/>
              </a:rPr>
              <a:t>-1</a:t>
            </a:r>
          </a:p>
        </p:txBody>
      </p:sp>
      <p:sp>
        <p:nvSpPr>
          <p:cNvPr id="17" name="Rectangle 1057"/>
          <p:cNvSpPr>
            <a:spLocks noChangeArrowheads="1"/>
          </p:cNvSpPr>
          <p:nvPr/>
        </p:nvSpPr>
        <p:spPr bwMode="auto">
          <a:xfrm>
            <a:off x="4546600" y="2811463"/>
            <a:ext cx="93027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i="1">
                <a:ea typeface="华文新魏" pitchFamily="2" charset="-122"/>
              </a:rPr>
              <a:t>K</a:t>
            </a:r>
            <a:r>
              <a:rPr lang="en-US" altLang="zh-CN" sz="1600" b="1" baseline="10000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500" b="1" baseline="-25000">
                <a:ea typeface="华文新魏" pitchFamily="2" charset="-122"/>
                <a:sym typeface="Webdings" pitchFamily="18" charset="2"/>
              </a:rPr>
              <a:t>稳</a:t>
            </a:r>
            <a:r>
              <a:rPr lang="en-US" altLang="zh-CN" sz="2500" b="1">
                <a:ea typeface="华文新魏" pitchFamily="2" charset="-122"/>
                <a:sym typeface="Webdings" pitchFamily="18" charset="2"/>
              </a:rPr>
              <a:t>=</a:t>
            </a:r>
            <a:endParaRPr lang="en-US" altLang="zh-CN" sz="2500" b="1" baseline="30000">
              <a:ea typeface="华文新魏" pitchFamily="2" charset="-122"/>
              <a:sym typeface="Webdings" pitchFamily="18" charset="2"/>
            </a:endParaRPr>
          </a:p>
        </p:txBody>
      </p:sp>
      <p:sp>
        <p:nvSpPr>
          <p:cNvPr id="18" name="Rectangle 1058"/>
          <p:cNvSpPr>
            <a:spLocks noChangeArrowheads="1"/>
          </p:cNvSpPr>
          <p:nvPr/>
        </p:nvSpPr>
        <p:spPr bwMode="auto">
          <a:xfrm>
            <a:off x="8289925" y="2878138"/>
            <a:ext cx="114458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= 10</a:t>
            </a:r>
            <a:r>
              <a:rPr lang="en-US" altLang="zh-CN" sz="2500" b="1" baseline="30000" dirty="0">
                <a:ea typeface="华文新魏" pitchFamily="2" charset="-122"/>
                <a:sym typeface="Webdings" pitchFamily="18" charset="2"/>
              </a:rPr>
              <a:t>7.05</a:t>
            </a:r>
          </a:p>
        </p:txBody>
      </p:sp>
      <p:sp>
        <p:nvSpPr>
          <p:cNvPr id="19" name="Line 1059"/>
          <p:cNvSpPr>
            <a:spLocks noChangeShapeType="1"/>
          </p:cNvSpPr>
          <p:nvPr/>
        </p:nvSpPr>
        <p:spPr bwMode="auto">
          <a:xfrm>
            <a:off x="5530850" y="3105150"/>
            <a:ext cx="27193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" name="Rectangle 1060"/>
          <p:cNvSpPr>
            <a:spLocks noChangeArrowheads="1"/>
          </p:cNvSpPr>
          <p:nvPr/>
        </p:nvSpPr>
        <p:spPr bwMode="auto">
          <a:xfrm>
            <a:off x="5589588" y="2573338"/>
            <a:ext cx="182403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>
                <a:ea typeface="华文新魏" pitchFamily="2" charset="-122"/>
                <a:sym typeface="Webdings" pitchFamily="18" charset="2"/>
              </a:rPr>
              <a:t>[Ag(NH</a:t>
            </a:r>
            <a:r>
              <a:rPr lang="en-US" altLang="zh-CN" sz="2500" b="1" baseline="-25000">
                <a:ea typeface="华文新魏" pitchFamily="2" charset="-122"/>
                <a:sym typeface="Webdings" pitchFamily="18" charset="2"/>
              </a:rPr>
              <a:t>3</a:t>
            </a:r>
            <a:r>
              <a:rPr lang="en-US" altLang="zh-CN" sz="2500" b="1">
                <a:ea typeface="华文新魏" pitchFamily="2" charset="-122"/>
                <a:sym typeface="Webdings" pitchFamily="18" charset="2"/>
              </a:rPr>
              <a:t>)</a:t>
            </a:r>
            <a:r>
              <a:rPr lang="en-US" altLang="zh-CN" sz="2500" b="1" baseline="-25000">
                <a:ea typeface="华文新魏" pitchFamily="2" charset="-122"/>
                <a:sym typeface="Webdings" pitchFamily="18" charset="2"/>
              </a:rPr>
              <a:t>2</a:t>
            </a:r>
            <a:r>
              <a:rPr lang="en-US" altLang="zh-CN" sz="2500" b="1" baseline="30000">
                <a:ea typeface="华文新魏" pitchFamily="2" charset="-122"/>
                <a:sym typeface="Webdings" pitchFamily="18" charset="2"/>
              </a:rPr>
              <a:t>+</a:t>
            </a:r>
            <a:r>
              <a:rPr lang="en-US" altLang="zh-CN" sz="2500" b="1">
                <a:ea typeface="华文新魏" pitchFamily="2" charset="-122"/>
                <a:sym typeface="Webdings" pitchFamily="18" charset="2"/>
              </a:rPr>
              <a:t>]</a:t>
            </a:r>
          </a:p>
        </p:txBody>
      </p:sp>
      <p:sp>
        <p:nvSpPr>
          <p:cNvPr id="21" name="Rectangle 1061"/>
          <p:cNvSpPr>
            <a:spLocks noChangeArrowheads="1"/>
          </p:cNvSpPr>
          <p:nvPr/>
        </p:nvSpPr>
        <p:spPr bwMode="auto">
          <a:xfrm>
            <a:off x="5618163" y="3097213"/>
            <a:ext cx="91281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>
                <a:ea typeface="华文新魏" pitchFamily="2" charset="-122"/>
                <a:sym typeface="Webdings" pitchFamily="18" charset="2"/>
              </a:rPr>
              <a:t>[Ag</a:t>
            </a:r>
            <a:r>
              <a:rPr lang="en-US" altLang="zh-CN" sz="2500" b="1" baseline="30000">
                <a:ea typeface="华文新魏" pitchFamily="2" charset="-122"/>
                <a:sym typeface="Webdings" pitchFamily="18" charset="2"/>
              </a:rPr>
              <a:t>+</a:t>
            </a:r>
            <a:r>
              <a:rPr lang="en-US" altLang="zh-CN" sz="2500" b="1">
                <a:ea typeface="华文新魏" pitchFamily="2" charset="-122"/>
                <a:sym typeface="Webdings" pitchFamily="18" charset="2"/>
              </a:rPr>
              <a:t>]</a:t>
            </a:r>
          </a:p>
        </p:txBody>
      </p:sp>
      <p:sp>
        <p:nvSpPr>
          <p:cNvPr id="22" name="Rectangle 1062"/>
          <p:cNvSpPr>
            <a:spLocks noChangeArrowheads="1"/>
          </p:cNvSpPr>
          <p:nvPr/>
        </p:nvSpPr>
        <p:spPr bwMode="auto">
          <a:xfrm>
            <a:off x="6475413" y="3097213"/>
            <a:ext cx="109537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>
                <a:ea typeface="华文新魏" pitchFamily="2" charset="-122"/>
                <a:sym typeface="Webdings" pitchFamily="18" charset="2"/>
              </a:rPr>
              <a:t>[NH</a:t>
            </a:r>
            <a:r>
              <a:rPr lang="en-US" altLang="zh-CN" sz="2500" b="1" baseline="-25000">
                <a:ea typeface="华文新魏" pitchFamily="2" charset="-122"/>
                <a:sym typeface="Webdings" pitchFamily="18" charset="2"/>
              </a:rPr>
              <a:t>3</a:t>
            </a:r>
            <a:r>
              <a:rPr lang="en-US" altLang="zh-CN" sz="2500" b="1">
                <a:ea typeface="华文新魏" pitchFamily="2" charset="-122"/>
                <a:sym typeface="Webdings" pitchFamily="18" charset="2"/>
              </a:rPr>
              <a:t>]</a:t>
            </a:r>
            <a:r>
              <a:rPr lang="en-US" altLang="zh-CN" sz="2500" b="1" baseline="30000">
                <a:ea typeface="华文新魏" pitchFamily="2" charset="-122"/>
                <a:sym typeface="Webdings" pitchFamily="18" charset="2"/>
              </a:rPr>
              <a:t>2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  <p:bldP spid="15" grpId="0" build="p" autoUpdateAnimBg="0"/>
      <p:bldP spid="16" grpId="0" autoUpdateAnimBg="0"/>
      <p:bldP spid="17" grpId="0" autoUpdateAnimBg="0"/>
      <p:bldP spid="18" grpId="0" autoUpdateAnimBg="0"/>
      <p:bldP spid="19" grpId="0" animBg="1"/>
      <p:bldP spid="20" grpId="0" autoUpdateAnimBg="0"/>
      <p:bldP spid="21" grpId="0" autoUpdateAnimBg="0"/>
      <p:bldP spid="22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2"/>
          <p:cNvSpPr txBox="1">
            <a:spLocks noChangeArrowheads="1"/>
          </p:cNvSpPr>
          <p:nvPr/>
        </p:nvSpPr>
        <p:spPr bwMode="auto">
          <a:xfrm>
            <a:off x="260350" y="454025"/>
            <a:ext cx="2857500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200" b="1" dirty="0">
                <a:solidFill>
                  <a:srgbClr val="FFFF00"/>
                </a:solidFill>
                <a:ea typeface="华文新魏" pitchFamily="2" charset="-122"/>
              </a:rPr>
              <a:t>例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</a:rPr>
              <a:t>2:</a:t>
            </a:r>
            <a:r>
              <a:rPr lang="zh-CN" altLang="en-US" sz="2200" b="1" dirty="0">
                <a:ea typeface="华文新魏" pitchFamily="2" charset="-122"/>
              </a:rPr>
              <a:t>在</a:t>
            </a:r>
            <a:r>
              <a:rPr lang="en-US" altLang="zh-CN" sz="2200" b="1" dirty="0">
                <a:ea typeface="华文新魏" pitchFamily="2" charset="-122"/>
              </a:rPr>
              <a:t>1L</a:t>
            </a:r>
            <a:r>
              <a:rPr lang="zh-CN" altLang="en-US" sz="2200" b="1" dirty="0">
                <a:ea typeface="华文新魏" pitchFamily="2" charset="-122"/>
              </a:rPr>
              <a:t>含</a:t>
            </a:r>
            <a:r>
              <a:rPr lang="en-US" altLang="zh-CN" sz="2200" b="1" dirty="0">
                <a:ea typeface="华文新魏" pitchFamily="2" charset="-122"/>
              </a:rPr>
              <a:t>1.0 mol·L</a:t>
            </a:r>
            <a:r>
              <a:rPr lang="en-US" altLang="zh-CN" sz="2200" b="1" baseline="30000" dirty="0">
                <a:ea typeface="华文新魏" pitchFamily="2" charset="-122"/>
              </a:rPr>
              <a:t>-1</a:t>
            </a:r>
            <a:r>
              <a:rPr lang="zh-CN" altLang="en-US" sz="2200" b="1" dirty="0">
                <a:ea typeface="华文新魏" pitchFamily="2" charset="-122"/>
              </a:rPr>
              <a:t>游离</a:t>
            </a:r>
            <a:r>
              <a:rPr lang="en-US" altLang="zh-CN" sz="2200" b="1" dirty="0">
                <a:ea typeface="华文新魏" pitchFamily="2" charset="-122"/>
              </a:rPr>
              <a:t>NH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zh-CN" altLang="en-US" sz="2200" b="1" dirty="0">
                <a:ea typeface="华文新魏" pitchFamily="2" charset="-122"/>
              </a:rPr>
              <a:t>及</a:t>
            </a:r>
            <a:r>
              <a:rPr lang="en-US" altLang="zh-CN" sz="2200" b="1" dirty="0">
                <a:ea typeface="华文新魏" pitchFamily="2" charset="-122"/>
              </a:rPr>
              <a:t>1.0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200" b="1" baseline="30000" dirty="0">
                <a:ea typeface="华文新魏" pitchFamily="2" charset="-122"/>
                <a:sym typeface="Symbol" pitchFamily="18" charset="2"/>
              </a:rPr>
              <a:t>-3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  </a:t>
            </a:r>
            <a:r>
              <a:rPr lang="en-US" altLang="zh-CN" sz="2200" b="1" dirty="0">
                <a:ea typeface="华文新魏" pitchFamily="2" charset="-122"/>
              </a:rPr>
              <a:t>mol·L</a:t>
            </a:r>
            <a:r>
              <a:rPr lang="en-US" altLang="zh-CN" sz="2200" b="1" baseline="30000" dirty="0">
                <a:ea typeface="华文新魏" pitchFamily="2" charset="-122"/>
              </a:rPr>
              <a:t>-1 </a:t>
            </a:r>
            <a:r>
              <a:rPr lang="en-US" altLang="zh-CN" sz="2200" b="1" dirty="0">
                <a:ea typeface="华文新魏" pitchFamily="2" charset="-122"/>
              </a:rPr>
              <a:t>[Cu(NH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en-US" altLang="zh-CN" sz="2200" b="1" dirty="0">
                <a:ea typeface="华文新魏" pitchFamily="2" charset="-122"/>
              </a:rPr>
              <a:t>)</a:t>
            </a:r>
            <a:r>
              <a:rPr lang="en-US" altLang="zh-CN" sz="2200" b="1" baseline="-25000" dirty="0">
                <a:ea typeface="华文新魏" pitchFamily="2" charset="-122"/>
              </a:rPr>
              <a:t>4</a:t>
            </a:r>
            <a:r>
              <a:rPr lang="en-US" altLang="zh-CN" sz="2200" b="1" dirty="0">
                <a:ea typeface="华文新魏" pitchFamily="2" charset="-122"/>
              </a:rPr>
              <a:t>]</a:t>
            </a:r>
            <a:r>
              <a:rPr lang="en-US" altLang="zh-CN" sz="2200" b="1" baseline="30000" dirty="0">
                <a:ea typeface="华文新魏" pitchFamily="2" charset="-122"/>
              </a:rPr>
              <a:t>2+</a:t>
            </a:r>
            <a:r>
              <a:rPr lang="zh-CN" altLang="en-US" sz="2200" b="1" dirty="0">
                <a:ea typeface="华文新魏" pitchFamily="2" charset="-122"/>
              </a:rPr>
              <a:t>溶液中</a:t>
            </a:r>
            <a:r>
              <a:rPr lang="zh-CN" altLang="en-US" sz="2200" b="1" dirty="0">
                <a:solidFill>
                  <a:srgbClr val="FFFF00"/>
                </a:solidFill>
                <a:ea typeface="华文新魏" pitchFamily="2" charset="-122"/>
                <a:sym typeface="Monotype Sorts" pitchFamily="2" charset="2"/>
              </a:rPr>
              <a:t>①</a:t>
            </a:r>
            <a:r>
              <a:rPr lang="zh-CN" altLang="en-US" sz="2200" b="1" dirty="0">
                <a:ea typeface="华文新魏" pitchFamily="2" charset="-122"/>
              </a:rPr>
              <a:t>加入</a:t>
            </a:r>
            <a:r>
              <a:rPr lang="en-US" altLang="zh-CN" sz="2200" b="1" dirty="0">
                <a:ea typeface="华文新魏" pitchFamily="2" charset="-122"/>
              </a:rPr>
              <a:t>1.0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200" b="1" baseline="30000" dirty="0">
                <a:ea typeface="华文新魏" pitchFamily="2" charset="-122"/>
                <a:sym typeface="Symbol" pitchFamily="18" charset="2"/>
              </a:rPr>
              <a:t>-3</a:t>
            </a:r>
            <a:r>
              <a:rPr lang="en-US" altLang="zh-CN" sz="2200" b="1" dirty="0">
                <a:ea typeface="华文新魏" pitchFamily="2" charset="-122"/>
              </a:rPr>
              <a:t>mol Na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S,</a:t>
            </a:r>
            <a:r>
              <a:rPr lang="zh-CN" altLang="en-US" sz="2200" b="1" dirty="0">
                <a:ea typeface="华文新魏" pitchFamily="2" charset="-122"/>
              </a:rPr>
              <a:t>问是否有</a:t>
            </a:r>
            <a:r>
              <a:rPr lang="en-US" altLang="zh-CN" sz="2200" b="1" dirty="0" err="1">
                <a:ea typeface="华文新魏" pitchFamily="2" charset="-122"/>
              </a:rPr>
              <a:t>CuS</a:t>
            </a:r>
            <a:r>
              <a:rPr lang="zh-CN" altLang="en-US" sz="2200" b="1" dirty="0">
                <a:ea typeface="华文新魏" pitchFamily="2" charset="-122"/>
              </a:rPr>
              <a:t>沉淀生成</a:t>
            </a:r>
            <a:r>
              <a:rPr lang="en-US" altLang="zh-CN" sz="2200" b="1" dirty="0">
                <a:ea typeface="华文新魏" pitchFamily="2" charset="-122"/>
              </a:rPr>
              <a:t>?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  <a:sym typeface="Monotype Sorts" pitchFamily="2" charset="2"/>
              </a:rPr>
              <a:t>②</a:t>
            </a:r>
            <a:r>
              <a:rPr lang="zh-CN" altLang="en-US" sz="2200" b="1" dirty="0">
                <a:ea typeface="华文新魏" pitchFamily="2" charset="-122"/>
                <a:sym typeface="Monotype Sorts" pitchFamily="2" charset="2"/>
              </a:rPr>
              <a:t>若是加入</a:t>
            </a:r>
            <a:r>
              <a:rPr lang="en-US" altLang="zh-CN" sz="2200" b="1" dirty="0" err="1">
                <a:ea typeface="华文新魏" pitchFamily="2" charset="-122"/>
                <a:sym typeface="Monotype Sorts" pitchFamily="2" charset="2"/>
              </a:rPr>
              <a:t>NaOH</a:t>
            </a:r>
            <a:r>
              <a:rPr lang="en-US" altLang="zh-CN" sz="2200" b="1" dirty="0">
                <a:ea typeface="华文新魏" pitchFamily="2" charset="-122"/>
                <a:sym typeface="Monotype Sorts" pitchFamily="2" charset="2"/>
              </a:rPr>
              <a:t> </a:t>
            </a:r>
            <a:r>
              <a:rPr lang="en-US" altLang="zh-CN" sz="2200" b="1" dirty="0">
                <a:ea typeface="华文新魏" pitchFamily="2" charset="-122"/>
              </a:rPr>
              <a:t>1.0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200" b="1" baseline="30000" dirty="0">
                <a:ea typeface="华文新魏" pitchFamily="2" charset="-122"/>
                <a:sym typeface="Symbol" pitchFamily="18" charset="2"/>
              </a:rPr>
              <a:t>-3 </a:t>
            </a:r>
            <a:r>
              <a:rPr lang="en-US" altLang="zh-CN" sz="2200" b="1" dirty="0">
                <a:ea typeface="华文新魏" pitchFamily="2" charset="-122"/>
              </a:rPr>
              <a:t>mol,</a:t>
            </a:r>
            <a:r>
              <a:rPr lang="zh-CN" altLang="en-US" sz="2200" b="1" dirty="0">
                <a:ea typeface="华文新魏" pitchFamily="2" charset="-122"/>
              </a:rPr>
              <a:t>问是否有</a:t>
            </a:r>
            <a:r>
              <a:rPr lang="en-US" altLang="zh-CN" sz="2200" b="1" dirty="0">
                <a:ea typeface="华文新魏" pitchFamily="2" charset="-122"/>
              </a:rPr>
              <a:t>Cu(OH)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zh-CN" altLang="en-US" sz="2200" b="1" dirty="0">
                <a:ea typeface="华文新魏" pitchFamily="2" charset="-122"/>
              </a:rPr>
              <a:t>沉淀？</a:t>
            </a:r>
          </a:p>
        </p:txBody>
      </p:sp>
      <p:sp>
        <p:nvSpPr>
          <p:cNvPr id="1029" name="灯片编号占位符 5"/>
          <p:cNvSpPr txBox="1">
            <a:spLocks/>
          </p:cNvSpPr>
          <p:nvPr/>
        </p:nvSpPr>
        <p:spPr bwMode="auto">
          <a:xfrm>
            <a:off x="5888038" y="5807075"/>
            <a:ext cx="544512" cy="407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fld id="{19C60A31-110D-4F28-953F-1B8DEC0BC635}" type="slidenum">
              <a:rPr lang="en-US" altLang="zh-CN">
                <a:ea typeface="楷体_GB2312" pitchFamily="49" charset="-122"/>
              </a:rPr>
              <a:pPr/>
              <a:t>2</a:t>
            </a:fld>
            <a:endParaRPr lang="en-US" altLang="zh-CN" dirty="0">
              <a:ea typeface="楷体_GB2312" pitchFamily="49" charset="-122"/>
            </a:endParaRPr>
          </a:p>
        </p:txBody>
      </p:sp>
      <p:sp>
        <p:nvSpPr>
          <p:cNvPr id="5" name="Rectangle 24"/>
          <p:cNvSpPr>
            <a:spLocks noChangeArrowheads="1"/>
          </p:cNvSpPr>
          <p:nvPr/>
        </p:nvSpPr>
        <p:spPr bwMode="auto">
          <a:xfrm>
            <a:off x="4403725" y="454025"/>
            <a:ext cx="6929438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ea typeface="华文新魏" pitchFamily="2" charset="-122"/>
              </a:rPr>
              <a:t>已知</a:t>
            </a:r>
            <a:r>
              <a:rPr lang="en-US" altLang="zh-CN" sz="25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华文新魏" pitchFamily="2" charset="-122"/>
                <a:sym typeface="Webdings" pitchFamily="18" charset="2"/>
              </a:rPr>
              <a:t>sp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(</a:t>
            </a:r>
            <a:r>
              <a:rPr lang="en-US" altLang="zh-CN" sz="2500" b="1" dirty="0" err="1">
                <a:ea typeface="华文新魏" pitchFamily="2" charset="-122"/>
                <a:sym typeface="Webdings" pitchFamily="18" charset="2"/>
              </a:rPr>
              <a:t>CuS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) = 6.3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-36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; </a:t>
            </a:r>
          </a:p>
          <a:p>
            <a:pPr>
              <a:lnSpc>
                <a:spcPct val="110000"/>
              </a:lnSpc>
            </a:pPr>
            <a:r>
              <a:rPr lang="en-US" altLang="zh-CN" sz="2500" b="1" i="1" dirty="0"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500" b="1" i="1" dirty="0" err="1">
                <a:ea typeface="华文新魏" pitchFamily="2" charset="-122"/>
              </a:rPr>
              <a:t>K</a:t>
            </a:r>
            <a:r>
              <a:rPr lang="en-US" altLang="zh-CN" sz="1600" b="1" baseline="8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华文新魏" pitchFamily="2" charset="-122"/>
                <a:sym typeface="Webdings" pitchFamily="18" charset="2"/>
              </a:rPr>
              <a:t>sp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(Cu(OH)</a:t>
            </a:r>
            <a:r>
              <a:rPr lang="en-US" altLang="zh-CN" sz="2500" b="1" baseline="-25000" dirty="0">
                <a:ea typeface="华文新魏" pitchFamily="2" charset="-122"/>
                <a:sym typeface="Webdings" pitchFamily="18" charset="2"/>
              </a:rPr>
              <a:t>2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) = 2.2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-20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500" b="1" dirty="0" err="1">
                <a:ea typeface="华文新魏" pitchFamily="2" charset="-122"/>
                <a:sym typeface="Symbol" pitchFamily="18" charset="2"/>
              </a:rPr>
              <a:t>lg</a:t>
            </a:r>
            <a:r>
              <a:rPr lang="en-US" altLang="zh-CN" sz="25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(Cu(NH</a:t>
            </a:r>
            <a:r>
              <a:rPr lang="en-US" altLang="zh-CN" sz="2500" b="1" baseline="-25000" dirty="0">
                <a:ea typeface="华文新魏" pitchFamily="2" charset="-122"/>
                <a:sym typeface="Webdings" pitchFamily="18" charset="2"/>
              </a:rPr>
              <a:t>3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)</a:t>
            </a:r>
            <a:r>
              <a:rPr lang="en-US" altLang="zh-CN" sz="2500" b="1" baseline="-25000" dirty="0">
                <a:ea typeface="华文新魏" pitchFamily="2" charset="-122"/>
                <a:sym typeface="Webdings" pitchFamily="18" charset="2"/>
              </a:rPr>
              <a:t>4</a:t>
            </a:r>
            <a:r>
              <a:rPr lang="en-US" altLang="zh-CN" sz="2500" b="1" baseline="30000" dirty="0">
                <a:ea typeface="华文新魏" pitchFamily="2" charset="-122"/>
                <a:sym typeface="Webdings" pitchFamily="18" charset="2"/>
              </a:rPr>
              <a:t>2+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) =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13.32.</a:t>
            </a:r>
            <a:endParaRPr lang="en-US" altLang="zh-CN" sz="2500" b="1" baseline="30000" dirty="0">
              <a:ea typeface="华文新魏" pitchFamily="2" charset="-122"/>
              <a:sym typeface="Symbol" pitchFamily="18" charset="2"/>
            </a:endParaRPr>
          </a:p>
        </p:txBody>
      </p:sp>
      <p:sp>
        <p:nvSpPr>
          <p:cNvPr id="6" name="Rectangle 33"/>
          <p:cNvSpPr>
            <a:spLocks noChangeArrowheads="1"/>
          </p:cNvSpPr>
          <p:nvPr/>
        </p:nvSpPr>
        <p:spPr bwMode="auto">
          <a:xfrm>
            <a:off x="3760788" y="382588"/>
            <a:ext cx="82708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</a:rPr>
              <a:t>:</a:t>
            </a:r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/>
        </p:nvGraphicFramePr>
        <p:xfrm>
          <a:off x="4332288" y="2668583"/>
          <a:ext cx="5078412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公式" r:id="rId3" imgW="1828800" imgH="457200" progId="Equation.3">
                  <p:embed/>
                </p:oleObj>
              </mc:Choice>
              <mc:Fallback>
                <p:oleObj name="公式" r:id="rId3" imgW="182880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2288" y="2668583"/>
                        <a:ext cx="5078412" cy="9525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4333894" y="3811591"/>
          <a:ext cx="421322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公式" r:id="rId5" imgW="1473120" imgH="444240" progId="Equation.3">
                  <p:embed/>
                </p:oleObj>
              </mc:Choice>
              <mc:Fallback>
                <p:oleObj name="公式" r:id="rId5" imgW="1473120" imgH="4442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3894" y="3811591"/>
                        <a:ext cx="4213225" cy="9525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4"/>
          <p:cNvSpPr>
            <a:spLocks noChangeArrowheads="1"/>
          </p:cNvSpPr>
          <p:nvPr/>
        </p:nvSpPr>
        <p:spPr bwMode="auto">
          <a:xfrm>
            <a:off x="4760913" y="1954213"/>
            <a:ext cx="5214937" cy="51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>
                <a:ea typeface="华文新魏" pitchFamily="2" charset="-122"/>
              </a:rPr>
              <a:t>Cu</a:t>
            </a:r>
            <a:r>
              <a:rPr lang="en-US" altLang="zh-CN" sz="2500" b="1" baseline="30000">
                <a:ea typeface="华文新魏" pitchFamily="2" charset="-122"/>
              </a:rPr>
              <a:t>2+</a:t>
            </a:r>
            <a:r>
              <a:rPr lang="en-US" altLang="zh-CN" sz="2500" b="1">
                <a:ea typeface="华文新魏" pitchFamily="2" charset="-122"/>
              </a:rPr>
              <a:t> + 4NH</a:t>
            </a:r>
            <a:r>
              <a:rPr lang="en-US" altLang="zh-CN" sz="2500" b="1" baseline="-25000">
                <a:ea typeface="华文新魏" pitchFamily="2" charset="-122"/>
              </a:rPr>
              <a:t>3 </a:t>
            </a:r>
            <a:r>
              <a:rPr lang="en-US" altLang="zh-CN" sz="2500" b="1">
                <a:ea typeface="华文新魏" pitchFamily="2" charset="-122"/>
              </a:rPr>
              <a:t>⇋ [Cu(NH</a:t>
            </a:r>
            <a:r>
              <a:rPr lang="en-US" altLang="zh-CN" sz="2500" b="1" baseline="-25000">
                <a:ea typeface="华文新魏" pitchFamily="2" charset="-122"/>
              </a:rPr>
              <a:t>3</a:t>
            </a:r>
            <a:r>
              <a:rPr lang="en-US" altLang="zh-CN" sz="2500" b="1">
                <a:ea typeface="华文新魏" pitchFamily="2" charset="-122"/>
              </a:rPr>
              <a:t>)</a:t>
            </a:r>
            <a:r>
              <a:rPr lang="en-US" altLang="zh-CN" sz="2500" b="1" baseline="-25000">
                <a:ea typeface="华文新魏" pitchFamily="2" charset="-122"/>
              </a:rPr>
              <a:t>4</a:t>
            </a:r>
            <a:r>
              <a:rPr lang="en-US" altLang="zh-CN" sz="2500" b="1">
                <a:ea typeface="华文新魏" pitchFamily="2" charset="-122"/>
              </a:rPr>
              <a:t>]</a:t>
            </a:r>
            <a:r>
              <a:rPr lang="en-US" altLang="zh-CN" sz="2500" b="1" baseline="30000">
                <a:ea typeface="华文新魏" pitchFamily="2" charset="-122"/>
              </a:rPr>
              <a:t>2+</a:t>
            </a:r>
          </a:p>
        </p:txBody>
      </p:sp>
      <p:sp>
        <p:nvSpPr>
          <p:cNvPr id="12" name="Rectangle 38"/>
          <p:cNvSpPr>
            <a:spLocks noChangeArrowheads="1"/>
          </p:cNvSpPr>
          <p:nvPr/>
        </p:nvSpPr>
        <p:spPr bwMode="auto">
          <a:xfrm>
            <a:off x="5475288" y="4883150"/>
            <a:ext cx="3357562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 = 4.810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-17 </a:t>
            </a:r>
            <a:r>
              <a:rPr lang="en-US" altLang="zh-CN" sz="2500" b="1" dirty="0">
                <a:ea typeface="华文新魏" pitchFamily="2" charset="-122"/>
              </a:rPr>
              <a:t>mol·L</a:t>
            </a:r>
            <a:r>
              <a:rPr lang="en-US" altLang="zh-CN" sz="2500" b="1" baseline="30000" dirty="0">
                <a:ea typeface="华文新魏" pitchFamily="2" charset="-122"/>
              </a:rPr>
              <a:t>-1</a:t>
            </a:r>
          </a:p>
        </p:txBody>
      </p:sp>
      <p:sp>
        <p:nvSpPr>
          <p:cNvPr id="10" name="Rectangle 24"/>
          <p:cNvSpPr>
            <a:spLocks noChangeArrowheads="1"/>
          </p:cNvSpPr>
          <p:nvPr/>
        </p:nvSpPr>
        <p:spPr bwMode="auto">
          <a:xfrm>
            <a:off x="0" y="3722823"/>
            <a:ext cx="3528392" cy="1954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200" b="1" i="1" dirty="0" err="1" smtClean="0">
                <a:ea typeface="华文新魏" pitchFamily="2" charset="-122"/>
              </a:rPr>
              <a:t>K</a:t>
            </a:r>
            <a:r>
              <a:rPr lang="en-US" altLang="zh-CN" sz="2200" b="1" baseline="10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200" b="1" baseline="-25000" dirty="0" err="1">
                <a:ea typeface="华文新魏" pitchFamily="2" charset="-122"/>
                <a:sym typeface="Webdings" pitchFamily="18" charset="2"/>
              </a:rPr>
              <a:t>sp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(</a:t>
            </a:r>
            <a:r>
              <a:rPr lang="en-US" altLang="zh-CN" sz="2200" b="1" dirty="0" err="1">
                <a:ea typeface="华文新魏" pitchFamily="2" charset="-122"/>
                <a:sym typeface="Webdings" pitchFamily="18" charset="2"/>
              </a:rPr>
              <a:t>CuS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) = 6.3 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200" b="1" baseline="30000" dirty="0">
                <a:ea typeface="华文新魏" pitchFamily="2" charset="-122"/>
                <a:sym typeface="Symbol" pitchFamily="18" charset="2"/>
              </a:rPr>
              <a:t>-36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; </a:t>
            </a:r>
          </a:p>
          <a:p>
            <a:pPr>
              <a:lnSpc>
                <a:spcPct val="110000"/>
              </a:lnSpc>
            </a:pPr>
            <a:r>
              <a:rPr lang="en-US" altLang="zh-CN" sz="2200" b="1" i="1" dirty="0"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200" b="1" i="1" dirty="0">
                <a:ea typeface="华文新魏" pitchFamily="2" charset="-122"/>
              </a:rPr>
              <a:t>K</a:t>
            </a:r>
            <a:r>
              <a:rPr lang="en-US" altLang="zh-CN" sz="2200" b="1" baseline="80000" dirty="0" smtClean="0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200" b="1" dirty="0" smtClean="0">
                <a:ea typeface="华文新魏" pitchFamily="2" charset="-122"/>
                <a:sym typeface="Webdings" pitchFamily="18" charset="2"/>
              </a:rPr>
              <a:t>(Cu(OH)</a:t>
            </a:r>
            <a:r>
              <a:rPr lang="en-US" altLang="zh-CN" sz="2200" b="1" baseline="-25000" dirty="0" smtClean="0">
                <a:ea typeface="华文新魏" pitchFamily="2" charset="-122"/>
                <a:sym typeface="Webdings" pitchFamily="18" charset="2"/>
              </a:rPr>
              <a:t>2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) </a:t>
            </a:r>
            <a:endParaRPr lang="en-US" altLang="zh-CN" sz="2200" b="1" dirty="0" smtClean="0">
              <a:ea typeface="华文新魏" pitchFamily="2" charset="-122"/>
              <a:sym typeface="Webdings" pitchFamily="18" charset="2"/>
            </a:endParaRPr>
          </a:p>
          <a:p>
            <a:pPr>
              <a:lnSpc>
                <a:spcPct val="110000"/>
              </a:lnSpc>
            </a:pP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 </a:t>
            </a:r>
            <a:r>
              <a:rPr lang="en-US" altLang="zh-CN" sz="2200" b="1" dirty="0" smtClean="0">
                <a:ea typeface="华文新魏" pitchFamily="2" charset="-122"/>
                <a:sym typeface="Webdings" pitchFamily="18" charset="2"/>
              </a:rPr>
              <a:t>    = 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2.2 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200" b="1" baseline="30000" dirty="0">
                <a:ea typeface="华文新魏" pitchFamily="2" charset="-122"/>
                <a:sym typeface="Symbol" pitchFamily="18" charset="2"/>
              </a:rPr>
              <a:t>-20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200" b="1" dirty="0" err="1">
                <a:ea typeface="华文新魏" pitchFamily="2" charset="-122"/>
                <a:sym typeface="Symbol" pitchFamily="18" charset="2"/>
              </a:rPr>
              <a:t>lg</a:t>
            </a:r>
            <a:r>
              <a:rPr lang="en-US" altLang="zh-CN" sz="2200" b="1" i="1" dirty="0" err="1">
                <a:ea typeface="华文新魏" pitchFamily="2" charset="-122"/>
              </a:rPr>
              <a:t>K</a:t>
            </a:r>
            <a:r>
              <a:rPr lang="en-US" altLang="zh-CN" sz="22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2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(Cu(NH</a:t>
            </a:r>
            <a:r>
              <a:rPr lang="en-US" altLang="zh-CN" sz="2200" b="1" baseline="-25000" dirty="0">
                <a:ea typeface="华文新魏" pitchFamily="2" charset="-122"/>
                <a:sym typeface="Webdings" pitchFamily="18" charset="2"/>
              </a:rPr>
              <a:t>3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)</a:t>
            </a:r>
            <a:r>
              <a:rPr lang="en-US" altLang="zh-CN" sz="2200" b="1" baseline="-25000" dirty="0">
                <a:ea typeface="华文新魏" pitchFamily="2" charset="-122"/>
                <a:sym typeface="Webdings" pitchFamily="18" charset="2"/>
              </a:rPr>
              <a:t>4</a:t>
            </a:r>
            <a:r>
              <a:rPr lang="en-US" altLang="zh-CN" sz="2200" b="1" baseline="30000" dirty="0">
                <a:ea typeface="华文新魏" pitchFamily="2" charset="-122"/>
                <a:sym typeface="Webdings" pitchFamily="18" charset="2"/>
              </a:rPr>
              <a:t>2</a:t>
            </a:r>
            <a:r>
              <a:rPr lang="en-US" altLang="zh-CN" sz="2200" b="1" baseline="30000" dirty="0" smtClean="0">
                <a:ea typeface="华文新魏" pitchFamily="2" charset="-122"/>
                <a:sym typeface="Webdings" pitchFamily="18" charset="2"/>
              </a:rPr>
              <a:t>+</a:t>
            </a:r>
            <a:r>
              <a:rPr lang="en-US" altLang="zh-CN" sz="2200" b="1" dirty="0" smtClean="0">
                <a:ea typeface="华文新魏" pitchFamily="2" charset="-122"/>
                <a:sym typeface="Webdings" pitchFamily="18" charset="2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CN" sz="2200" b="1" dirty="0" smtClean="0">
                <a:ea typeface="华文新魏" pitchFamily="2" charset="-122"/>
                <a:sym typeface="Webdings" pitchFamily="18" charset="2"/>
              </a:rPr>
              <a:t>     = 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13.32.</a:t>
            </a:r>
            <a:endParaRPr lang="en-US" altLang="zh-CN" sz="2200" b="1" baseline="30000" dirty="0">
              <a:ea typeface="华文新魏" pitchFamily="2" charset="-122"/>
              <a:sym typeface="Symbol" pitchFamily="18" charset="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6" grpId="0" autoUpdateAnimBg="0"/>
      <p:bldP spid="11" grpId="0" build="p" autoUpdateAnimBg="0"/>
      <p:bldP spid="12" grpId="0" build="p" autoUpdateAnimBg="0"/>
      <p:bldP spid="10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8"/>
          <p:cNvSpPr>
            <a:spLocks noChangeArrowheads="1"/>
          </p:cNvSpPr>
          <p:nvPr/>
        </p:nvSpPr>
        <p:spPr bwMode="auto">
          <a:xfrm>
            <a:off x="4332290" y="596900"/>
            <a:ext cx="5357812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  <a:sym typeface="Monotype Sorts" pitchFamily="2" charset="2"/>
              </a:rPr>
              <a:t>①</a:t>
            </a:r>
            <a:r>
              <a:rPr lang="zh-CN" altLang="en-US" sz="2500" b="1" dirty="0">
                <a:ea typeface="华文新魏" pitchFamily="2" charset="-122"/>
              </a:rPr>
              <a:t>加入</a:t>
            </a:r>
            <a:r>
              <a:rPr lang="en-US" altLang="zh-CN" sz="2500" b="1" dirty="0">
                <a:ea typeface="华文新魏" pitchFamily="2" charset="-122"/>
              </a:rPr>
              <a:t>1.0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-3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500" b="1" dirty="0">
                <a:ea typeface="华文新魏" pitchFamily="2" charset="-122"/>
              </a:rPr>
              <a:t>mol Na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S</a:t>
            </a:r>
            <a:r>
              <a:rPr lang="zh-CN" altLang="en-US" sz="2500" b="1" dirty="0">
                <a:ea typeface="华文新魏" pitchFamily="2" charset="-122"/>
              </a:rPr>
              <a:t>时</a:t>
            </a:r>
            <a:r>
              <a:rPr lang="en-US" altLang="zh-CN" sz="2500" b="1" dirty="0">
                <a:ea typeface="华文新魏" pitchFamily="2" charset="-122"/>
              </a:rPr>
              <a:t>,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ea typeface="华文新魏" pitchFamily="2" charset="-122"/>
              </a:rPr>
              <a:t>      [S</a:t>
            </a:r>
            <a:r>
              <a:rPr lang="en-US" altLang="zh-CN" sz="2500" b="1" baseline="30000" dirty="0">
                <a:ea typeface="华文新魏" pitchFamily="2" charset="-122"/>
              </a:rPr>
              <a:t>2-</a:t>
            </a:r>
            <a:r>
              <a:rPr lang="en-US" altLang="zh-CN" sz="2500" b="1" dirty="0">
                <a:ea typeface="华文新魏" pitchFamily="2" charset="-122"/>
              </a:rPr>
              <a:t>]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≈1.010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-3 </a:t>
            </a:r>
            <a:r>
              <a:rPr lang="en-US" altLang="zh-CN" sz="2500" b="1" dirty="0">
                <a:ea typeface="华文新魏" pitchFamily="2" charset="-122"/>
              </a:rPr>
              <a:t>mol·L</a:t>
            </a:r>
            <a:r>
              <a:rPr lang="en-US" altLang="zh-CN" sz="2500" b="1" baseline="30000" dirty="0">
                <a:ea typeface="华文新魏" pitchFamily="2" charset="-122"/>
              </a:rPr>
              <a:t>-1</a:t>
            </a:r>
            <a:r>
              <a:rPr lang="en-US" altLang="zh-CN" sz="2500" b="1" dirty="0">
                <a:ea typeface="华文新魏" pitchFamily="2" charset="-12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zh-CN" sz="2500" b="1" i="1" dirty="0">
                <a:ea typeface="华文新魏" pitchFamily="2" charset="-122"/>
                <a:sym typeface="Webdings" pitchFamily="18" charset="2"/>
              </a:rPr>
              <a:t>Q</a:t>
            </a:r>
            <a:r>
              <a:rPr lang="en-US" altLang="zh-CN" sz="2500" b="1" i="1" baseline="-25000" dirty="0">
                <a:ea typeface="华文新魏" pitchFamily="2" charset="-122"/>
                <a:sym typeface="Webdings" pitchFamily="18" charset="2"/>
              </a:rPr>
              <a:t>c</a:t>
            </a:r>
            <a:r>
              <a:rPr lang="zh-CN" altLang="en-US" sz="2500" b="1" dirty="0">
                <a:ea typeface="华文新魏" pitchFamily="2" charset="-122"/>
                <a:sym typeface="Webdings" pitchFamily="18" charset="2"/>
              </a:rPr>
              <a:t>＝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[Cu</a:t>
            </a:r>
            <a:r>
              <a:rPr lang="en-US" altLang="zh-CN" sz="2500" b="1" baseline="30000" dirty="0">
                <a:ea typeface="华文新魏" pitchFamily="2" charset="-122"/>
                <a:sym typeface="Webdings" pitchFamily="18" charset="2"/>
              </a:rPr>
              <a:t>2+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]</a:t>
            </a:r>
            <a:r>
              <a:rPr lang="en-US" altLang="zh-CN" sz="2500" b="1" i="1" dirty="0">
                <a:ea typeface="华文新魏" pitchFamily="2" charset="-122"/>
              </a:rPr>
              <a:t>c</a:t>
            </a:r>
            <a:r>
              <a:rPr lang="en-US" altLang="zh-CN" sz="2500" b="1" dirty="0">
                <a:ea typeface="华文新魏" pitchFamily="2" charset="-122"/>
              </a:rPr>
              <a:t>(S</a:t>
            </a:r>
            <a:r>
              <a:rPr lang="en-US" altLang="zh-CN" sz="2500" b="1" baseline="30000" dirty="0">
                <a:ea typeface="华文新魏" pitchFamily="2" charset="-122"/>
              </a:rPr>
              <a:t>2-</a:t>
            </a:r>
            <a:r>
              <a:rPr lang="en-US" altLang="zh-CN" sz="2500" b="1" dirty="0">
                <a:ea typeface="华文新魏" pitchFamily="2" charset="-122"/>
              </a:rPr>
              <a:t>) =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4.810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-17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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1.010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-3</a:t>
            </a:r>
            <a:endParaRPr lang="en-US" altLang="zh-CN" sz="2500" b="1" dirty="0">
              <a:ea typeface="华文新魏" pitchFamily="2" charset="-122"/>
            </a:endParaRPr>
          </a:p>
        </p:txBody>
      </p:sp>
      <p:sp>
        <p:nvSpPr>
          <p:cNvPr id="3" name="Rectangle 47"/>
          <p:cNvSpPr>
            <a:spLocks noChangeArrowheads="1"/>
          </p:cNvSpPr>
          <p:nvPr/>
        </p:nvSpPr>
        <p:spPr bwMode="auto">
          <a:xfrm>
            <a:off x="6761165" y="1954213"/>
            <a:ext cx="2813050" cy="48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b="1" baseline="30000" dirty="0"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&gt; 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sp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 dirty="0" err="1">
                <a:ea typeface="楷体_GB2312" pitchFamily="49" charset="-122"/>
                <a:sym typeface="Webdings" pitchFamily="18" charset="2"/>
              </a:rPr>
              <a:t>CuS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)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;</a:t>
            </a:r>
          </a:p>
        </p:txBody>
      </p:sp>
      <p:sp>
        <p:nvSpPr>
          <p:cNvPr id="8196" name="Text Box 32"/>
          <p:cNvSpPr txBox="1">
            <a:spLocks noChangeArrowheads="1"/>
          </p:cNvSpPr>
          <p:nvPr/>
        </p:nvSpPr>
        <p:spPr bwMode="auto">
          <a:xfrm>
            <a:off x="260350" y="454025"/>
            <a:ext cx="2857500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200" b="1">
                <a:solidFill>
                  <a:srgbClr val="FFFF00"/>
                </a:solidFill>
                <a:ea typeface="华文新魏" pitchFamily="2" charset="-122"/>
              </a:rPr>
              <a:t>例</a:t>
            </a:r>
            <a:r>
              <a:rPr lang="en-US" altLang="zh-CN" sz="2200" b="1">
                <a:solidFill>
                  <a:srgbClr val="FFFF00"/>
                </a:solidFill>
                <a:ea typeface="华文新魏" pitchFamily="2" charset="-122"/>
              </a:rPr>
              <a:t>2:</a:t>
            </a:r>
            <a:r>
              <a:rPr lang="zh-CN" altLang="en-US" sz="2200" b="1">
                <a:ea typeface="华文新魏" pitchFamily="2" charset="-122"/>
              </a:rPr>
              <a:t>在</a:t>
            </a:r>
            <a:r>
              <a:rPr lang="en-US" altLang="zh-CN" sz="2200" b="1">
                <a:ea typeface="华文新魏" pitchFamily="2" charset="-122"/>
              </a:rPr>
              <a:t>1L</a:t>
            </a:r>
            <a:r>
              <a:rPr lang="zh-CN" altLang="en-US" sz="2200" b="1">
                <a:ea typeface="华文新魏" pitchFamily="2" charset="-122"/>
              </a:rPr>
              <a:t>含</a:t>
            </a:r>
            <a:r>
              <a:rPr lang="en-US" altLang="zh-CN" sz="2200" b="1">
                <a:ea typeface="华文新魏" pitchFamily="2" charset="-122"/>
              </a:rPr>
              <a:t>1.0 mol·L</a:t>
            </a:r>
            <a:r>
              <a:rPr lang="en-US" altLang="zh-CN" sz="2200" b="1" baseline="30000">
                <a:ea typeface="华文新魏" pitchFamily="2" charset="-122"/>
              </a:rPr>
              <a:t>-1</a:t>
            </a:r>
            <a:r>
              <a:rPr lang="zh-CN" altLang="en-US" sz="2200" b="1">
                <a:ea typeface="华文新魏" pitchFamily="2" charset="-122"/>
              </a:rPr>
              <a:t>游离</a:t>
            </a:r>
            <a:r>
              <a:rPr lang="en-US" altLang="zh-CN" sz="2200" b="1">
                <a:ea typeface="华文新魏" pitchFamily="2" charset="-122"/>
              </a:rPr>
              <a:t>NH</a:t>
            </a:r>
            <a:r>
              <a:rPr lang="en-US" altLang="zh-CN" sz="2200" b="1" baseline="-25000">
                <a:ea typeface="华文新魏" pitchFamily="2" charset="-122"/>
              </a:rPr>
              <a:t>3</a:t>
            </a:r>
            <a:r>
              <a:rPr lang="zh-CN" altLang="en-US" sz="2200" b="1">
                <a:ea typeface="华文新魏" pitchFamily="2" charset="-122"/>
              </a:rPr>
              <a:t>及</a:t>
            </a:r>
            <a:r>
              <a:rPr lang="en-US" altLang="zh-CN" sz="2200" b="1">
                <a:ea typeface="华文新魏" pitchFamily="2" charset="-122"/>
              </a:rPr>
              <a:t>1.0</a:t>
            </a:r>
            <a:r>
              <a:rPr lang="en-US" altLang="zh-CN" sz="2200" b="1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200" b="1" baseline="30000">
                <a:ea typeface="华文新魏" pitchFamily="2" charset="-122"/>
                <a:sym typeface="Symbol" pitchFamily="18" charset="2"/>
              </a:rPr>
              <a:t>-3</a:t>
            </a:r>
            <a:r>
              <a:rPr lang="en-US" altLang="zh-CN" sz="2200" b="1">
                <a:ea typeface="华文新魏" pitchFamily="2" charset="-122"/>
                <a:sym typeface="Symbol" pitchFamily="18" charset="2"/>
              </a:rPr>
              <a:t>  </a:t>
            </a:r>
            <a:r>
              <a:rPr lang="en-US" altLang="zh-CN" sz="2200" b="1">
                <a:ea typeface="华文新魏" pitchFamily="2" charset="-122"/>
              </a:rPr>
              <a:t>mol·L</a:t>
            </a:r>
            <a:r>
              <a:rPr lang="en-US" altLang="zh-CN" sz="2200" b="1" baseline="30000">
                <a:ea typeface="华文新魏" pitchFamily="2" charset="-122"/>
              </a:rPr>
              <a:t>-1 </a:t>
            </a:r>
            <a:r>
              <a:rPr lang="en-US" altLang="zh-CN" sz="2200" b="1">
                <a:ea typeface="华文新魏" pitchFamily="2" charset="-122"/>
              </a:rPr>
              <a:t>[Cu(NH</a:t>
            </a:r>
            <a:r>
              <a:rPr lang="en-US" altLang="zh-CN" sz="2200" b="1" baseline="-25000">
                <a:ea typeface="华文新魏" pitchFamily="2" charset="-122"/>
              </a:rPr>
              <a:t>3</a:t>
            </a:r>
            <a:r>
              <a:rPr lang="en-US" altLang="zh-CN" sz="2200" b="1">
                <a:ea typeface="华文新魏" pitchFamily="2" charset="-122"/>
              </a:rPr>
              <a:t>)</a:t>
            </a:r>
            <a:r>
              <a:rPr lang="en-US" altLang="zh-CN" sz="2200" b="1" baseline="-25000">
                <a:ea typeface="华文新魏" pitchFamily="2" charset="-122"/>
              </a:rPr>
              <a:t>4</a:t>
            </a:r>
            <a:r>
              <a:rPr lang="en-US" altLang="zh-CN" sz="2200" b="1">
                <a:ea typeface="华文新魏" pitchFamily="2" charset="-122"/>
              </a:rPr>
              <a:t>]</a:t>
            </a:r>
            <a:r>
              <a:rPr lang="en-US" altLang="zh-CN" sz="2200" b="1" baseline="30000">
                <a:ea typeface="华文新魏" pitchFamily="2" charset="-122"/>
              </a:rPr>
              <a:t>2+</a:t>
            </a:r>
            <a:r>
              <a:rPr lang="zh-CN" altLang="en-US" sz="2200" b="1">
                <a:ea typeface="华文新魏" pitchFamily="2" charset="-122"/>
              </a:rPr>
              <a:t>溶液中</a:t>
            </a:r>
            <a:r>
              <a:rPr lang="zh-CN" altLang="en-US" sz="2200" b="1">
                <a:solidFill>
                  <a:srgbClr val="FFFF00"/>
                </a:solidFill>
                <a:ea typeface="华文新魏" pitchFamily="2" charset="-122"/>
                <a:sym typeface="Monotype Sorts" pitchFamily="2" charset="2"/>
              </a:rPr>
              <a:t>①</a:t>
            </a:r>
            <a:r>
              <a:rPr lang="zh-CN" altLang="en-US" sz="2200" b="1">
                <a:ea typeface="华文新魏" pitchFamily="2" charset="-122"/>
              </a:rPr>
              <a:t>加入</a:t>
            </a:r>
            <a:r>
              <a:rPr lang="en-US" altLang="zh-CN" sz="2200" b="1">
                <a:ea typeface="华文新魏" pitchFamily="2" charset="-122"/>
              </a:rPr>
              <a:t>1.0</a:t>
            </a:r>
            <a:r>
              <a:rPr lang="en-US" altLang="zh-CN" sz="2200" b="1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200" b="1" baseline="30000">
                <a:ea typeface="华文新魏" pitchFamily="2" charset="-122"/>
                <a:sym typeface="Symbol" pitchFamily="18" charset="2"/>
              </a:rPr>
              <a:t>-3</a:t>
            </a:r>
            <a:r>
              <a:rPr lang="en-US" altLang="zh-CN" sz="2200" b="1">
                <a:ea typeface="华文新魏" pitchFamily="2" charset="-122"/>
              </a:rPr>
              <a:t>mol Na</a:t>
            </a:r>
            <a:r>
              <a:rPr lang="en-US" altLang="zh-CN" sz="2200" b="1" baseline="-25000">
                <a:ea typeface="华文新魏" pitchFamily="2" charset="-122"/>
              </a:rPr>
              <a:t>2</a:t>
            </a:r>
            <a:r>
              <a:rPr lang="en-US" altLang="zh-CN" sz="2200" b="1">
                <a:ea typeface="华文新魏" pitchFamily="2" charset="-122"/>
              </a:rPr>
              <a:t>S,</a:t>
            </a:r>
            <a:r>
              <a:rPr lang="zh-CN" altLang="en-US" sz="2200" b="1">
                <a:ea typeface="华文新魏" pitchFamily="2" charset="-122"/>
              </a:rPr>
              <a:t>问是否有</a:t>
            </a:r>
            <a:r>
              <a:rPr lang="en-US" altLang="zh-CN" sz="2200" b="1">
                <a:ea typeface="华文新魏" pitchFamily="2" charset="-122"/>
              </a:rPr>
              <a:t>CuS</a:t>
            </a:r>
            <a:r>
              <a:rPr lang="zh-CN" altLang="en-US" sz="2200" b="1">
                <a:ea typeface="华文新魏" pitchFamily="2" charset="-122"/>
              </a:rPr>
              <a:t>沉淀生成</a:t>
            </a:r>
            <a:r>
              <a:rPr lang="en-US" altLang="zh-CN" sz="2200" b="1">
                <a:ea typeface="华文新魏" pitchFamily="2" charset="-122"/>
              </a:rPr>
              <a:t>?</a:t>
            </a:r>
            <a:r>
              <a:rPr lang="en-US" altLang="zh-CN" sz="2200" b="1">
                <a:solidFill>
                  <a:srgbClr val="FFFF00"/>
                </a:solidFill>
                <a:ea typeface="华文新魏" pitchFamily="2" charset="-122"/>
                <a:sym typeface="Monotype Sorts" pitchFamily="2" charset="2"/>
              </a:rPr>
              <a:t>②</a:t>
            </a:r>
            <a:r>
              <a:rPr lang="zh-CN" altLang="en-US" sz="2200" b="1">
                <a:ea typeface="华文新魏" pitchFamily="2" charset="-122"/>
                <a:sym typeface="Monotype Sorts" pitchFamily="2" charset="2"/>
              </a:rPr>
              <a:t>若是加入</a:t>
            </a:r>
            <a:r>
              <a:rPr lang="en-US" altLang="zh-CN" sz="2200" b="1">
                <a:ea typeface="华文新魏" pitchFamily="2" charset="-122"/>
                <a:sym typeface="Monotype Sorts" pitchFamily="2" charset="2"/>
              </a:rPr>
              <a:t>NaOH </a:t>
            </a:r>
            <a:r>
              <a:rPr lang="en-US" altLang="zh-CN" sz="2200" b="1">
                <a:ea typeface="华文新魏" pitchFamily="2" charset="-122"/>
              </a:rPr>
              <a:t>1.0</a:t>
            </a:r>
            <a:r>
              <a:rPr lang="en-US" altLang="zh-CN" sz="2200" b="1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200" b="1" baseline="30000">
                <a:ea typeface="华文新魏" pitchFamily="2" charset="-122"/>
                <a:sym typeface="Symbol" pitchFamily="18" charset="2"/>
              </a:rPr>
              <a:t>-3 </a:t>
            </a:r>
            <a:r>
              <a:rPr lang="en-US" altLang="zh-CN" sz="2200" b="1">
                <a:ea typeface="华文新魏" pitchFamily="2" charset="-122"/>
              </a:rPr>
              <a:t>mol,</a:t>
            </a:r>
            <a:r>
              <a:rPr lang="zh-CN" altLang="en-US" sz="2200" b="1">
                <a:ea typeface="华文新魏" pitchFamily="2" charset="-122"/>
              </a:rPr>
              <a:t>问是否有</a:t>
            </a:r>
            <a:r>
              <a:rPr lang="en-US" altLang="zh-CN" sz="2200" b="1">
                <a:ea typeface="华文新魏" pitchFamily="2" charset="-122"/>
              </a:rPr>
              <a:t>Cu(OH)</a:t>
            </a:r>
            <a:r>
              <a:rPr lang="en-US" altLang="zh-CN" sz="2200" b="1" baseline="-25000">
                <a:ea typeface="华文新魏" pitchFamily="2" charset="-122"/>
              </a:rPr>
              <a:t>2</a:t>
            </a:r>
            <a:r>
              <a:rPr lang="zh-CN" altLang="en-US" sz="2200" b="1">
                <a:ea typeface="华文新魏" pitchFamily="2" charset="-122"/>
              </a:rPr>
              <a:t>沉淀？</a:t>
            </a:r>
          </a:p>
        </p:txBody>
      </p:sp>
      <p:sp>
        <p:nvSpPr>
          <p:cNvPr id="6" name="Rectangle 29"/>
          <p:cNvSpPr>
            <a:spLocks noChangeArrowheads="1"/>
          </p:cNvSpPr>
          <p:nvPr/>
        </p:nvSpPr>
        <p:spPr bwMode="auto">
          <a:xfrm>
            <a:off x="4260852" y="2525707"/>
            <a:ext cx="6858035" cy="938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  <a:sym typeface="Monotype Sorts" pitchFamily="2" charset="2"/>
              </a:rPr>
              <a:t>②</a:t>
            </a:r>
            <a:r>
              <a:rPr lang="zh-CN" altLang="en-US" sz="2500" b="1" dirty="0">
                <a:ea typeface="华文新魏" pitchFamily="2" charset="-122"/>
              </a:rPr>
              <a:t>若加入</a:t>
            </a:r>
            <a:r>
              <a:rPr lang="en-US" altLang="zh-CN" sz="2500" b="1" dirty="0">
                <a:ea typeface="华文新魏" pitchFamily="2" charset="-122"/>
              </a:rPr>
              <a:t>1.0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-3</a:t>
            </a:r>
            <a:r>
              <a:rPr lang="en-US" altLang="zh-CN" sz="2500" b="1" dirty="0">
                <a:ea typeface="华文新魏" pitchFamily="2" charset="-122"/>
              </a:rPr>
              <a:t>mol </a:t>
            </a:r>
            <a:r>
              <a:rPr lang="en-US" altLang="zh-CN" sz="2500" b="1" dirty="0" err="1">
                <a:ea typeface="华文新魏" pitchFamily="2" charset="-122"/>
              </a:rPr>
              <a:t>NaOH</a:t>
            </a:r>
            <a:r>
              <a:rPr lang="en-US" altLang="zh-CN" sz="2500" b="1" dirty="0">
                <a:ea typeface="华文新魏" pitchFamily="2" charset="-122"/>
              </a:rPr>
              <a:t>,</a:t>
            </a:r>
          </a:p>
          <a:p>
            <a:pPr>
              <a:lnSpc>
                <a:spcPct val="110000"/>
              </a:lnSpc>
            </a:pPr>
            <a:r>
              <a:rPr lang="en-US" altLang="zh-CN" sz="2500" b="1" i="1" dirty="0">
                <a:ea typeface="华文新魏" pitchFamily="2" charset="-122"/>
              </a:rPr>
              <a:t>        c</a:t>
            </a:r>
            <a:r>
              <a:rPr lang="en-US" altLang="zh-CN" sz="2500" b="1" dirty="0">
                <a:ea typeface="华文新魏" pitchFamily="2" charset="-122"/>
              </a:rPr>
              <a:t>(OH</a:t>
            </a:r>
            <a:r>
              <a:rPr lang="en-US" altLang="zh-CN" sz="2500" b="1" baseline="30000" dirty="0">
                <a:ea typeface="华文新魏" pitchFamily="2" charset="-122"/>
              </a:rPr>
              <a:t>-</a:t>
            </a:r>
            <a:r>
              <a:rPr lang="en-US" altLang="zh-CN" sz="2500" b="1" dirty="0">
                <a:ea typeface="华文新魏" pitchFamily="2" charset="-122"/>
              </a:rPr>
              <a:t>)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≈1.010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-3  </a:t>
            </a:r>
            <a:r>
              <a:rPr lang="en-US" altLang="zh-CN" sz="2500" b="1" dirty="0">
                <a:ea typeface="华文新魏" pitchFamily="2" charset="-122"/>
              </a:rPr>
              <a:t>mol·L</a:t>
            </a:r>
            <a:r>
              <a:rPr lang="en-US" altLang="zh-CN" sz="2500" b="1" baseline="30000" dirty="0">
                <a:ea typeface="华文新魏" pitchFamily="2" charset="-122"/>
              </a:rPr>
              <a:t>-1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4332290" y="3454394"/>
            <a:ext cx="6429375" cy="93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[Cu</a:t>
            </a:r>
            <a:r>
              <a:rPr lang="en-US" altLang="zh-CN" sz="2500" b="1" baseline="30000" dirty="0">
                <a:ea typeface="华文新魏" pitchFamily="2" charset="-122"/>
                <a:sym typeface="Webdings" pitchFamily="18" charset="2"/>
              </a:rPr>
              <a:t>2+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]{</a:t>
            </a:r>
            <a:r>
              <a:rPr lang="en-US" altLang="zh-CN" sz="2500" b="1" i="1" dirty="0">
                <a:ea typeface="华文新魏" pitchFamily="2" charset="-122"/>
              </a:rPr>
              <a:t>c</a:t>
            </a:r>
            <a:r>
              <a:rPr lang="en-US" altLang="zh-CN" sz="2500" b="1" dirty="0">
                <a:ea typeface="华文新魏" pitchFamily="2" charset="-122"/>
              </a:rPr>
              <a:t>(OH</a:t>
            </a:r>
            <a:r>
              <a:rPr lang="en-US" altLang="zh-CN" sz="2500" b="1" baseline="30000" dirty="0">
                <a:ea typeface="华文新魏" pitchFamily="2" charset="-122"/>
              </a:rPr>
              <a:t>-</a:t>
            </a:r>
            <a:r>
              <a:rPr lang="en-US" altLang="zh-CN" sz="2500" b="1" dirty="0">
                <a:ea typeface="华文新魏" pitchFamily="2" charset="-122"/>
              </a:rPr>
              <a:t>)}</a:t>
            </a:r>
            <a:r>
              <a:rPr lang="en-US" altLang="zh-CN" sz="2500" b="1" baseline="30000" dirty="0">
                <a:ea typeface="华文新魏" pitchFamily="2" charset="-122"/>
              </a:rPr>
              <a:t>2 </a:t>
            </a:r>
            <a:r>
              <a:rPr lang="en-US" altLang="zh-CN" sz="2500" b="1" dirty="0">
                <a:ea typeface="华文新魏" pitchFamily="2" charset="-122"/>
              </a:rPr>
              <a:t>=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4.810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-17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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(1.010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-3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)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 2 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                      = 4.8 10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-23 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&lt; </a:t>
            </a:r>
            <a:r>
              <a:rPr lang="en-US" altLang="zh-CN" sz="25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华文新魏" pitchFamily="2" charset="-122"/>
                <a:sym typeface="Webdings" pitchFamily="18" charset="2"/>
              </a:rPr>
              <a:t>sp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{Cu(OH)</a:t>
            </a:r>
            <a:r>
              <a:rPr lang="en-US" altLang="zh-CN" sz="2500" b="1" baseline="-25000" dirty="0">
                <a:ea typeface="华文新魏" pitchFamily="2" charset="-122"/>
                <a:sym typeface="Webdings" pitchFamily="18" charset="2"/>
              </a:rPr>
              <a:t>2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}.</a:t>
            </a:r>
          </a:p>
        </p:txBody>
      </p:sp>
      <p:sp>
        <p:nvSpPr>
          <p:cNvPr id="7" name="Rectangle 33"/>
          <p:cNvSpPr>
            <a:spLocks noChangeArrowheads="1"/>
          </p:cNvSpPr>
          <p:nvPr/>
        </p:nvSpPr>
        <p:spPr bwMode="auto">
          <a:xfrm>
            <a:off x="3760788" y="382588"/>
            <a:ext cx="82708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</a:rPr>
              <a:t>:</a:t>
            </a:r>
          </a:p>
        </p:txBody>
      </p:sp>
      <p:sp>
        <p:nvSpPr>
          <p:cNvPr id="9" name="Rectangle 24"/>
          <p:cNvSpPr>
            <a:spLocks noChangeArrowheads="1"/>
          </p:cNvSpPr>
          <p:nvPr/>
        </p:nvSpPr>
        <p:spPr bwMode="auto">
          <a:xfrm>
            <a:off x="196678" y="3744143"/>
            <a:ext cx="3528392" cy="1954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200" b="1" i="1" dirty="0" err="1" smtClean="0">
                <a:ea typeface="华文新魏" pitchFamily="2" charset="-122"/>
              </a:rPr>
              <a:t>K</a:t>
            </a:r>
            <a:r>
              <a:rPr lang="en-US" altLang="zh-CN" sz="2200" b="1" baseline="10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200" b="1" baseline="-25000" dirty="0" err="1">
                <a:ea typeface="华文新魏" pitchFamily="2" charset="-122"/>
                <a:sym typeface="Webdings" pitchFamily="18" charset="2"/>
              </a:rPr>
              <a:t>sp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(</a:t>
            </a:r>
            <a:r>
              <a:rPr lang="en-US" altLang="zh-CN" sz="2200" b="1" dirty="0" err="1">
                <a:ea typeface="华文新魏" pitchFamily="2" charset="-122"/>
                <a:sym typeface="Webdings" pitchFamily="18" charset="2"/>
              </a:rPr>
              <a:t>CuS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) = 6.3 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200" b="1" baseline="30000" dirty="0">
                <a:ea typeface="华文新魏" pitchFamily="2" charset="-122"/>
                <a:sym typeface="Symbol" pitchFamily="18" charset="2"/>
              </a:rPr>
              <a:t>-36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; </a:t>
            </a:r>
          </a:p>
          <a:p>
            <a:pPr>
              <a:lnSpc>
                <a:spcPct val="110000"/>
              </a:lnSpc>
            </a:pPr>
            <a:r>
              <a:rPr lang="en-US" altLang="zh-CN" sz="2200" b="1" i="1" dirty="0"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200" b="1" i="1" dirty="0">
                <a:ea typeface="华文新魏" pitchFamily="2" charset="-122"/>
              </a:rPr>
              <a:t>K</a:t>
            </a:r>
            <a:r>
              <a:rPr lang="en-US" altLang="zh-CN" sz="2200" b="1" baseline="80000" dirty="0" smtClean="0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200" b="1" dirty="0" smtClean="0">
                <a:ea typeface="华文新魏" pitchFamily="2" charset="-122"/>
                <a:sym typeface="Webdings" pitchFamily="18" charset="2"/>
              </a:rPr>
              <a:t>(Cu(OH)</a:t>
            </a:r>
            <a:r>
              <a:rPr lang="en-US" altLang="zh-CN" sz="2200" b="1" baseline="-25000" dirty="0" smtClean="0">
                <a:ea typeface="华文新魏" pitchFamily="2" charset="-122"/>
                <a:sym typeface="Webdings" pitchFamily="18" charset="2"/>
              </a:rPr>
              <a:t>2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) </a:t>
            </a:r>
            <a:endParaRPr lang="en-US" altLang="zh-CN" sz="2200" b="1" dirty="0" smtClean="0">
              <a:ea typeface="华文新魏" pitchFamily="2" charset="-122"/>
              <a:sym typeface="Webdings" pitchFamily="18" charset="2"/>
            </a:endParaRPr>
          </a:p>
          <a:p>
            <a:pPr>
              <a:lnSpc>
                <a:spcPct val="110000"/>
              </a:lnSpc>
            </a:pP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 </a:t>
            </a:r>
            <a:r>
              <a:rPr lang="en-US" altLang="zh-CN" sz="2200" b="1" dirty="0" smtClean="0">
                <a:ea typeface="华文新魏" pitchFamily="2" charset="-122"/>
                <a:sym typeface="Webdings" pitchFamily="18" charset="2"/>
              </a:rPr>
              <a:t>    = 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2.2 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200" b="1" baseline="30000" dirty="0">
                <a:ea typeface="华文新魏" pitchFamily="2" charset="-122"/>
                <a:sym typeface="Symbol" pitchFamily="18" charset="2"/>
              </a:rPr>
              <a:t>-20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200" b="1" dirty="0" err="1">
                <a:ea typeface="华文新魏" pitchFamily="2" charset="-122"/>
                <a:sym typeface="Symbol" pitchFamily="18" charset="2"/>
              </a:rPr>
              <a:t>lg</a:t>
            </a:r>
            <a:r>
              <a:rPr lang="en-US" altLang="zh-CN" sz="2200" b="1" i="1" dirty="0" err="1">
                <a:ea typeface="华文新魏" pitchFamily="2" charset="-122"/>
              </a:rPr>
              <a:t>K</a:t>
            </a:r>
            <a:r>
              <a:rPr lang="en-US" altLang="zh-CN" sz="22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2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(Cu(NH</a:t>
            </a:r>
            <a:r>
              <a:rPr lang="en-US" altLang="zh-CN" sz="2200" b="1" baseline="-25000" dirty="0">
                <a:ea typeface="华文新魏" pitchFamily="2" charset="-122"/>
                <a:sym typeface="Webdings" pitchFamily="18" charset="2"/>
              </a:rPr>
              <a:t>3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)</a:t>
            </a:r>
            <a:r>
              <a:rPr lang="en-US" altLang="zh-CN" sz="2200" b="1" baseline="-25000" dirty="0">
                <a:ea typeface="华文新魏" pitchFamily="2" charset="-122"/>
                <a:sym typeface="Webdings" pitchFamily="18" charset="2"/>
              </a:rPr>
              <a:t>4</a:t>
            </a:r>
            <a:r>
              <a:rPr lang="en-US" altLang="zh-CN" sz="2200" b="1" baseline="30000" dirty="0">
                <a:ea typeface="华文新魏" pitchFamily="2" charset="-122"/>
                <a:sym typeface="Webdings" pitchFamily="18" charset="2"/>
              </a:rPr>
              <a:t>2</a:t>
            </a:r>
            <a:r>
              <a:rPr lang="en-US" altLang="zh-CN" sz="2200" b="1" baseline="30000" dirty="0" smtClean="0">
                <a:ea typeface="华文新魏" pitchFamily="2" charset="-122"/>
                <a:sym typeface="Webdings" pitchFamily="18" charset="2"/>
              </a:rPr>
              <a:t>+</a:t>
            </a:r>
            <a:r>
              <a:rPr lang="en-US" altLang="zh-CN" sz="2200" b="1" dirty="0" smtClean="0">
                <a:ea typeface="华文新魏" pitchFamily="2" charset="-122"/>
                <a:sym typeface="Webdings" pitchFamily="18" charset="2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CN" sz="2200" b="1" dirty="0" smtClean="0">
                <a:ea typeface="华文新魏" pitchFamily="2" charset="-122"/>
                <a:sym typeface="Webdings" pitchFamily="18" charset="2"/>
              </a:rPr>
              <a:t>     = 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13.32.</a:t>
            </a:r>
            <a:endParaRPr lang="en-US" altLang="zh-CN" sz="2200" b="1" baseline="30000" dirty="0">
              <a:ea typeface="华文新魏" pitchFamily="2" charset="-122"/>
              <a:sym typeface="Symbol" pitchFamily="18" charset="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3" grpId="0" autoUpdateAnimBg="0"/>
      <p:bldP spid="6" grpId="0" build="p" autoUpdateAnimBg="0"/>
      <p:bldP spid="8" grpId="0" uiExpand="1" build="p" autoUpdateAnimBg="0"/>
      <p:bldP spid="9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1"/>
          <p:cNvSpPr>
            <a:spLocks noChangeArrowheads="1"/>
          </p:cNvSpPr>
          <p:nvPr/>
        </p:nvSpPr>
        <p:spPr bwMode="auto">
          <a:xfrm>
            <a:off x="5046663" y="525463"/>
            <a:ext cx="5143500" cy="51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 err="1">
                <a:ea typeface="华文新魏" pitchFamily="2" charset="-122"/>
              </a:rPr>
              <a:t>AgCl</a:t>
            </a:r>
            <a:r>
              <a:rPr lang="zh-CN" altLang="en-US" sz="2500" b="1" dirty="0">
                <a:ea typeface="华文新魏" pitchFamily="2" charset="-122"/>
              </a:rPr>
              <a:t>的溶解反应为</a:t>
            </a:r>
            <a:r>
              <a:rPr lang="en-US" altLang="zh-CN" sz="2500" b="1" dirty="0">
                <a:ea typeface="华文新魏" pitchFamily="2" charset="-122"/>
              </a:rPr>
              <a:t>:</a:t>
            </a:r>
          </a:p>
        </p:txBody>
      </p:sp>
      <p:sp>
        <p:nvSpPr>
          <p:cNvPr id="9219" name="Rectangle 33"/>
          <p:cNvSpPr>
            <a:spLocks noChangeArrowheads="1"/>
          </p:cNvSpPr>
          <p:nvPr/>
        </p:nvSpPr>
        <p:spPr bwMode="auto">
          <a:xfrm>
            <a:off x="260350" y="382588"/>
            <a:ext cx="2857500" cy="2671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b="1" dirty="0">
                <a:solidFill>
                  <a:srgbClr val="FFFF00"/>
                </a:solidFill>
                <a:ea typeface="华文新魏" pitchFamily="2" charset="-122"/>
              </a:rPr>
              <a:t>例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</a:rPr>
              <a:t>3:</a:t>
            </a:r>
            <a:r>
              <a:rPr lang="zh-CN" altLang="en-US" sz="2200" b="1" dirty="0">
                <a:ea typeface="华文新魏" pitchFamily="2" charset="-122"/>
              </a:rPr>
              <a:t>求完全溶解</a:t>
            </a:r>
            <a:r>
              <a:rPr lang="en-US" altLang="zh-CN" sz="2200" b="1" dirty="0">
                <a:ea typeface="华文新魏" pitchFamily="2" charset="-122"/>
              </a:rPr>
              <a:t>0.010mol</a:t>
            </a:r>
            <a:r>
              <a:rPr lang="zh-CN" altLang="en-US" sz="2200" b="1" dirty="0">
                <a:ea typeface="华文新魏" pitchFamily="2" charset="-122"/>
              </a:rPr>
              <a:t>的</a:t>
            </a:r>
            <a:r>
              <a:rPr lang="en-US" altLang="zh-CN" sz="2200" b="1" dirty="0" err="1">
                <a:ea typeface="华文新魏" pitchFamily="2" charset="-122"/>
              </a:rPr>
              <a:t>AgCl</a:t>
            </a:r>
            <a:r>
              <a:rPr lang="zh-CN" altLang="en-US" sz="2200" b="1" dirty="0">
                <a:ea typeface="华文新魏" pitchFamily="2" charset="-122"/>
              </a:rPr>
              <a:t>所需要</a:t>
            </a:r>
            <a:r>
              <a:rPr lang="en-US" altLang="zh-CN" sz="2200" b="1" dirty="0">
                <a:ea typeface="华文新魏" pitchFamily="2" charset="-122"/>
              </a:rPr>
              <a:t>1L</a:t>
            </a:r>
            <a:r>
              <a:rPr lang="zh-CN" altLang="en-US" sz="2200" b="1" dirty="0">
                <a:ea typeface="华文新魏" pitchFamily="2" charset="-122"/>
              </a:rPr>
              <a:t>的</a:t>
            </a:r>
            <a:r>
              <a:rPr lang="en-US" altLang="zh-CN" sz="2200" b="1" dirty="0">
                <a:ea typeface="华文新魏" pitchFamily="2" charset="-122"/>
              </a:rPr>
              <a:t>NH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zh-CN" altLang="en-US" sz="2200" b="1" dirty="0">
                <a:ea typeface="华文新魏" pitchFamily="2" charset="-122"/>
              </a:rPr>
              <a:t>溶液的浓度</a:t>
            </a:r>
            <a:r>
              <a:rPr lang="en-US" altLang="zh-CN" sz="2200" b="1" dirty="0">
                <a:ea typeface="华文新魏" pitchFamily="2" charset="-12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2200" b="1" dirty="0">
                <a:ea typeface="华文新魏" pitchFamily="2" charset="-122"/>
              </a:rPr>
              <a:t>已知</a:t>
            </a:r>
            <a:r>
              <a:rPr lang="en-US" altLang="zh-CN" sz="22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200" b="1" baseline="-25000" dirty="0" err="1">
                <a:ea typeface="华文新魏" pitchFamily="2" charset="-122"/>
                <a:sym typeface="Webdings" pitchFamily="18" charset="2"/>
              </a:rPr>
              <a:t>sp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(</a:t>
            </a:r>
            <a:r>
              <a:rPr lang="en-US" altLang="zh-CN" sz="2200" b="1" dirty="0" err="1">
                <a:ea typeface="华文新魏" pitchFamily="2" charset="-122"/>
                <a:sym typeface="Webdings" pitchFamily="18" charset="2"/>
              </a:rPr>
              <a:t>AgCl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) = 1.77 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200" b="1" baseline="30000" dirty="0">
                <a:ea typeface="华文新魏" pitchFamily="2" charset="-122"/>
                <a:sym typeface="Symbol" pitchFamily="18" charset="2"/>
              </a:rPr>
              <a:t>-10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; </a:t>
            </a:r>
            <a:r>
              <a:rPr lang="en-US" altLang="zh-CN" sz="2200" b="1" dirty="0" err="1">
                <a:ea typeface="华文新魏" pitchFamily="2" charset="-122"/>
                <a:sym typeface="Symbol" pitchFamily="18" charset="2"/>
              </a:rPr>
              <a:t>lg</a:t>
            </a:r>
            <a:r>
              <a:rPr lang="en-US" altLang="zh-CN" sz="22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2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zh-CN" altLang="en-US" sz="2200" b="1" dirty="0">
                <a:ea typeface="华文新魏" pitchFamily="2" charset="-122"/>
                <a:sym typeface="Webdings" pitchFamily="18" charset="2"/>
              </a:rPr>
              <a:t> 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(Ag(NH</a:t>
            </a:r>
            <a:r>
              <a:rPr lang="en-US" altLang="zh-CN" sz="2200" b="1" baseline="-25000" dirty="0">
                <a:ea typeface="华文新魏" pitchFamily="2" charset="-122"/>
                <a:sym typeface="Webdings" pitchFamily="18" charset="2"/>
              </a:rPr>
              <a:t>3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)</a:t>
            </a:r>
            <a:r>
              <a:rPr lang="en-US" altLang="zh-CN" sz="2200" b="1" baseline="-25000" dirty="0">
                <a:ea typeface="华文新魏" pitchFamily="2" charset="-122"/>
                <a:sym typeface="Webdings" pitchFamily="18" charset="2"/>
              </a:rPr>
              <a:t>2</a:t>
            </a:r>
            <a:r>
              <a:rPr lang="en-US" altLang="zh-CN" sz="2200" b="1" baseline="30000" dirty="0">
                <a:ea typeface="华文新魏" pitchFamily="2" charset="-122"/>
                <a:sym typeface="Webdings" pitchFamily="18" charset="2"/>
              </a:rPr>
              <a:t>+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) = 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7.05</a:t>
            </a:r>
            <a:r>
              <a:rPr lang="en-US" altLang="zh-CN" sz="2200" b="1" dirty="0">
                <a:ea typeface="华文新魏" pitchFamily="2" charset="-122"/>
              </a:rPr>
              <a:t>.</a:t>
            </a:r>
          </a:p>
        </p:txBody>
      </p:sp>
      <p:sp>
        <p:nvSpPr>
          <p:cNvPr id="6" name="Rectangle 39"/>
          <p:cNvSpPr>
            <a:spLocks noChangeArrowheads="1"/>
          </p:cNvSpPr>
          <p:nvPr/>
        </p:nvSpPr>
        <p:spPr bwMode="auto">
          <a:xfrm>
            <a:off x="4689475" y="1025525"/>
            <a:ext cx="60007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 err="1">
                <a:ea typeface="华文新魏" pitchFamily="2" charset="-122"/>
              </a:rPr>
              <a:t>AgCl</a:t>
            </a:r>
            <a:r>
              <a:rPr lang="en-US" altLang="zh-CN" sz="2500" b="1" dirty="0">
                <a:ea typeface="华文新魏" pitchFamily="2" charset="-122"/>
              </a:rPr>
              <a:t>  + 2NH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 ⇋ [Ag(NH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)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]</a:t>
            </a:r>
            <a:r>
              <a:rPr lang="en-US" altLang="zh-CN" sz="2500" b="1" baseline="30000" dirty="0">
                <a:ea typeface="华文新魏" pitchFamily="2" charset="-122"/>
              </a:rPr>
              <a:t>+  </a:t>
            </a:r>
            <a:r>
              <a:rPr lang="en-US" altLang="zh-CN" sz="2500" b="1" dirty="0">
                <a:ea typeface="华文新魏" pitchFamily="2" charset="-122"/>
              </a:rPr>
              <a:t>+ </a:t>
            </a:r>
            <a:r>
              <a:rPr lang="en-US" altLang="zh-CN" sz="2500" b="1" dirty="0" err="1">
                <a:ea typeface="华文新魏" pitchFamily="2" charset="-122"/>
              </a:rPr>
              <a:t>Cl</a:t>
            </a:r>
            <a:r>
              <a:rPr lang="en-US" altLang="zh-CN" sz="2500" b="1" baseline="30000" dirty="0">
                <a:ea typeface="华文新魏" pitchFamily="2" charset="-122"/>
              </a:rPr>
              <a:t>-</a:t>
            </a:r>
          </a:p>
        </p:txBody>
      </p:sp>
      <p:sp>
        <p:nvSpPr>
          <p:cNvPr id="14" name="Rectangle 20"/>
          <p:cNvSpPr>
            <a:spLocks noChangeArrowheads="1"/>
          </p:cNvSpPr>
          <p:nvPr/>
        </p:nvSpPr>
        <p:spPr bwMode="auto">
          <a:xfrm>
            <a:off x="3832225" y="1882775"/>
            <a:ext cx="7699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100000" dirty="0">
                <a:ea typeface="华文新魏" pitchFamily="2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华文新魏" pitchFamily="2" charset="-122"/>
              </a:rPr>
              <a:t>=</a:t>
            </a:r>
            <a:endParaRPr lang="en-US" altLang="zh-CN" sz="2500" b="1" baseline="30000" dirty="0">
              <a:ea typeface="华文新魏" pitchFamily="2" charset="-122"/>
            </a:endParaRPr>
          </a:p>
        </p:txBody>
      </p:sp>
      <p:sp>
        <p:nvSpPr>
          <p:cNvPr id="15" name="Rectangle 21"/>
          <p:cNvSpPr>
            <a:spLocks noChangeArrowheads="1"/>
          </p:cNvSpPr>
          <p:nvPr/>
        </p:nvSpPr>
        <p:spPr bwMode="auto">
          <a:xfrm>
            <a:off x="5118100" y="1525588"/>
            <a:ext cx="24288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[Ag(NH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)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baseline="30000" dirty="0">
                <a:ea typeface="华文新魏" pitchFamily="2" charset="-122"/>
              </a:rPr>
              <a:t>+</a:t>
            </a:r>
            <a:r>
              <a:rPr lang="en-US" altLang="zh-CN" sz="2500" b="1" dirty="0">
                <a:ea typeface="华文新魏" pitchFamily="2" charset="-122"/>
              </a:rPr>
              <a:t>][Cl</a:t>
            </a:r>
            <a:r>
              <a:rPr lang="en-US" altLang="zh-CN" sz="2500" b="1" baseline="30000" dirty="0">
                <a:ea typeface="华文新魏" pitchFamily="2" charset="-122"/>
              </a:rPr>
              <a:t>-</a:t>
            </a:r>
            <a:r>
              <a:rPr lang="en-US" altLang="zh-CN" sz="2500" b="1" dirty="0">
                <a:ea typeface="华文新魏" pitchFamily="2" charset="-122"/>
              </a:rPr>
              <a:t>]</a:t>
            </a:r>
          </a:p>
        </p:txBody>
      </p:sp>
      <p:sp>
        <p:nvSpPr>
          <p:cNvPr id="16" name="Rectangle 22"/>
          <p:cNvSpPr>
            <a:spLocks noChangeArrowheads="1"/>
          </p:cNvSpPr>
          <p:nvPr/>
        </p:nvSpPr>
        <p:spPr bwMode="auto">
          <a:xfrm>
            <a:off x="5689600" y="2239963"/>
            <a:ext cx="109537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[NH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]</a:t>
            </a:r>
            <a:r>
              <a:rPr lang="en-US" altLang="zh-CN" sz="2500" b="1" baseline="30000" dirty="0">
                <a:ea typeface="华文新魏" pitchFamily="2" charset="-122"/>
              </a:rPr>
              <a:t>2</a:t>
            </a:r>
          </a:p>
        </p:txBody>
      </p:sp>
      <p:sp>
        <p:nvSpPr>
          <p:cNvPr id="17" name="Line 23"/>
          <p:cNvSpPr>
            <a:spLocks noChangeShapeType="1"/>
          </p:cNvSpPr>
          <p:nvPr/>
        </p:nvSpPr>
        <p:spPr bwMode="auto">
          <a:xfrm>
            <a:off x="4689475" y="2168525"/>
            <a:ext cx="46085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" name="Rectangle 24"/>
          <p:cNvSpPr>
            <a:spLocks noChangeArrowheads="1"/>
          </p:cNvSpPr>
          <p:nvPr/>
        </p:nvSpPr>
        <p:spPr bwMode="auto">
          <a:xfrm>
            <a:off x="7904163" y="1525575"/>
            <a:ext cx="9112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chemeClr val="accent2"/>
                </a:solidFill>
                <a:ea typeface="华文新魏" pitchFamily="2" charset="-122"/>
              </a:rPr>
              <a:t>[Ag</a:t>
            </a:r>
            <a:r>
              <a:rPr lang="en-US" altLang="zh-CN" sz="2500" b="1" baseline="30000" dirty="0">
                <a:solidFill>
                  <a:schemeClr val="accent2"/>
                </a:solidFill>
                <a:ea typeface="华文新魏" pitchFamily="2" charset="-122"/>
              </a:rPr>
              <a:t>+</a:t>
            </a:r>
            <a:r>
              <a:rPr lang="en-US" altLang="zh-CN" sz="2500" b="1" dirty="0">
                <a:solidFill>
                  <a:schemeClr val="accent2"/>
                </a:solidFill>
                <a:ea typeface="华文新魏" pitchFamily="2" charset="-122"/>
              </a:rPr>
              <a:t>]</a:t>
            </a:r>
          </a:p>
        </p:txBody>
      </p:sp>
      <p:sp>
        <p:nvSpPr>
          <p:cNvPr id="19" name="Rectangle 25"/>
          <p:cNvSpPr>
            <a:spLocks noChangeArrowheads="1"/>
          </p:cNvSpPr>
          <p:nvPr/>
        </p:nvSpPr>
        <p:spPr bwMode="auto">
          <a:xfrm>
            <a:off x="7546975" y="2239950"/>
            <a:ext cx="9112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chemeClr val="accent2"/>
                </a:solidFill>
                <a:ea typeface="华文新魏" pitchFamily="2" charset="-122"/>
              </a:rPr>
              <a:t>[Ag</a:t>
            </a:r>
            <a:r>
              <a:rPr lang="en-US" altLang="zh-CN" sz="2500" b="1" baseline="30000">
                <a:solidFill>
                  <a:schemeClr val="accent2"/>
                </a:solidFill>
                <a:ea typeface="华文新魏" pitchFamily="2" charset="-122"/>
              </a:rPr>
              <a:t>+</a:t>
            </a:r>
            <a:r>
              <a:rPr lang="en-US" altLang="zh-CN" sz="2500" b="1">
                <a:solidFill>
                  <a:schemeClr val="accent2"/>
                </a:solidFill>
                <a:ea typeface="华文新魏" pitchFamily="2" charset="-122"/>
              </a:rPr>
              <a:t>]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3546475" y="2882900"/>
            <a:ext cx="6072188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500" b="1" dirty="0">
                <a:ea typeface="华文新魏" pitchFamily="2" charset="-122"/>
              </a:rPr>
              <a:t>          = </a:t>
            </a:r>
            <a:r>
              <a:rPr lang="en-US" altLang="zh-CN" sz="2500" b="1" i="1" dirty="0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{Ag(NH</a:t>
            </a:r>
            <a:r>
              <a:rPr lang="en-US" altLang="zh-CN" sz="2500" b="1" baseline="-25000" dirty="0">
                <a:ea typeface="华文新魏" pitchFamily="2" charset="-122"/>
                <a:sym typeface="Webdings" pitchFamily="18" charset="2"/>
              </a:rPr>
              <a:t>3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)</a:t>
            </a:r>
            <a:r>
              <a:rPr lang="en-US" altLang="zh-CN" sz="2500" b="1" baseline="-25000" dirty="0">
                <a:ea typeface="华文新魏" pitchFamily="2" charset="-122"/>
                <a:sym typeface="Webdings" pitchFamily="18" charset="2"/>
              </a:rPr>
              <a:t>2</a:t>
            </a:r>
            <a:r>
              <a:rPr lang="en-US" altLang="zh-CN" sz="2500" b="1" baseline="30000" dirty="0">
                <a:ea typeface="华文新魏" pitchFamily="2" charset="-122"/>
                <a:sym typeface="Webdings" pitchFamily="18" charset="2"/>
              </a:rPr>
              <a:t>+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}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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 </a:t>
            </a:r>
            <a:r>
              <a:rPr lang="en-US" altLang="zh-CN" sz="25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华文新魏" pitchFamily="2" charset="-122"/>
                <a:sym typeface="Webdings" pitchFamily="18" charset="2"/>
              </a:rPr>
              <a:t>sp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(</a:t>
            </a:r>
            <a:r>
              <a:rPr lang="en-US" altLang="zh-CN" sz="2500" b="1" dirty="0" err="1">
                <a:ea typeface="华文新魏" pitchFamily="2" charset="-122"/>
                <a:sym typeface="Webdings" pitchFamily="18" charset="2"/>
              </a:rPr>
              <a:t>AgCl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          =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7.05</a:t>
            </a:r>
            <a:r>
              <a:rPr lang="en-US" altLang="zh-CN" sz="2500" b="1" baseline="30000" dirty="0">
                <a:ea typeface="华文新魏" pitchFamily="2" charset="-122"/>
              </a:rPr>
              <a:t>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 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1.77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-10 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= 2.0 10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-3</a:t>
            </a:r>
          </a:p>
        </p:txBody>
      </p:sp>
      <p:sp>
        <p:nvSpPr>
          <p:cNvPr id="9228" name="Rectangle 33"/>
          <p:cNvSpPr>
            <a:spLocks noChangeArrowheads="1"/>
          </p:cNvSpPr>
          <p:nvPr/>
        </p:nvSpPr>
        <p:spPr bwMode="auto">
          <a:xfrm>
            <a:off x="3760788" y="382588"/>
            <a:ext cx="82708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</a:rPr>
              <a:t>: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6" grpId="0" autoUpdateAnimBg="0"/>
      <p:bldP spid="14" grpId="0" autoUpdateAnimBg="0"/>
      <p:bldP spid="15" grpId="0" autoUpdateAnimBg="0"/>
      <p:bldP spid="16" grpId="0" autoUpdateAnimBg="0"/>
      <p:bldP spid="17" grpId="0" animBg="1"/>
      <p:bldP spid="18" grpId="0" autoUpdateAnimBg="0"/>
      <p:bldP spid="19" grpId="0" autoUpdateAnimBg="0"/>
      <p:bldP spid="20" grpId="0" build="p" autoUpdateAnimBg="0"/>
      <p:bldP spid="92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1"/>
          <p:cNvSpPr>
            <a:spLocks noChangeArrowheads="1"/>
          </p:cNvSpPr>
          <p:nvPr/>
        </p:nvSpPr>
        <p:spPr bwMode="auto">
          <a:xfrm>
            <a:off x="5475288" y="2052230"/>
            <a:ext cx="657228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500" b="1" dirty="0">
                <a:ea typeface="华文新魏" pitchFamily="2" charset="-122"/>
              </a:rPr>
              <a:t>假定</a:t>
            </a:r>
            <a:r>
              <a:rPr lang="en-US" altLang="zh-CN" sz="2500" b="1" dirty="0" err="1">
                <a:ea typeface="华文新魏" pitchFamily="2" charset="-122"/>
              </a:rPr>
              <a:t>AgCl</a:t>
            </a:r>
            <a:r>
              <a:rPr lang="zh-CN" altLang="en-US" sz="2500" b="1" dirty="0">
                <a:ea typeface="华文新魏" pitchFamily="2" charset="-122"/>
              </a:rPr>
              <a:t>溶解后</a:t>
            </a:r>
            <a:r>
              <a:rPr lang="en-US" altLang="zh-CN" sz="2500" b="1" dirty="0">
                <a:ea typeface="华文新魏" pitchFamily="2" charset="-122"/>
              </a:rPr>
              <a:t>,</a:t>
            </a:r>
            <a:r>
              <a:rPr lang="zh-CN" altLang="en-US" sz="2500" b="1" dirty="0">
                <a:ea typeface="华文新魏" pitchFamily="2" charset="-122"/>
              </a:rPr>
              <a:t>全部转化为</a:t>
            </a:r>
            <a:r>
              <a:rPr lang="en-US" altLang="zh-CN" sz="2500" b="1" dirty="0">
                <a:ea typeface="华文新魏" pitchFamily="2" charset="-122"/>
              </a:rPr>
              <a:t>[Ag(NH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)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]</a:t>
            </a:r>
            <a:r>
              <a:rPr lang="en-US" altLang="zh-CN" sz="2500" b="1" baseline="30000" dirty="0">
                <a:ea typeface="华文新魏" pitchFamily="2" charset="-122"/>
              </a:rPr>
              <a:t>+</a:t>
            </a:r>
            <a:endParaRPr lang="en-US" altLang="zh-CN" sz="2500" b="1" dirty="0">
              <a:ea typeface="华文新魏" pitchFamily="2" charset="-122"/>
            </a:endParaRPr>
          </a:p>
        </p:txBody>
      </p:sp>
      <p:sp>
        <p:nvSpPr>
          <p:cNvPr id="2055" name="矩形 7"/>
          <p:cNvSpPr>
            <a:spLocks noChangeArrowheads="1"/>
          </p:cNvSpPr>
          <p:nvPr/>
        </p:nvSpPr>
        <p:spPr bwMode="auto">
          <a:xfrm>
            <a:off x="3530936" y="2019278"/>
            <a:ext cx="2616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华文新魏" pitchFamily="2" charset="-122"/>
                <a:sym typeface="Symbol" pitchFamily="18" charset="2"/>
              </a:rPr>
              <a:t> 达到平衡时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:        </a:t>
            </a:r>
            <a:endParaRPr lang="zh-CN" altLang="en-US" sz="2500" dirty="0"/>
          </a:p>
        </p:txBody>
      </p:sp>
      <p:sp>
        <p:nvSpPr>
          <p:cNvPr id="8" name="Rectangle 33"/>
          <p:cNvSpPr>
            <a:spLocks noChangeArrowheads="1"/>
          </p:cNvSpPr>
          <p:nvPr/>
        </p:nvSpPr>
        <p:spPr bwMode="auto">
          <a:xfrm>
            <a:off x="3760788" y="382588"/>
            <a:ext cx="82708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</a:rPr>
              <a:t>:</a:t>
            </a:r>
          </a:p>
        </p:txBody>
      </p:sp>
      <p:sp>
        <p:nvSpPr>
          <p:cNvPr id="9" name="Rectangle 33"/>
          <p:cNvSpPr>
            <a:spLocks noChangeArrowheads="1"/>
          </p:cNvSpPr>
          <p:nvPr/>
        </p:nvSpPr>
        <p:spPr bwMode="auto">
          <a:xfrm>
            <a:off x="260350" y="382588"/>
            <a:ext cx="2857500" cy="2671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b="1" dirty="0">
                <a:solidFill>
                  <a:srgbClr val="FFFF00"/>
                </a:solidFill>
                <a:ea typeface="华文新魏" pitchFamily="2" charset="-122"/>
              </a:rPr>
              <a:t>例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</a:rPr>
              <a:t>3:</a:t>
            </a:r>
            <a:r>
              <a:rPr lang="zh-CN" altLang="en-US" sz="2200" b="1" dirty="0">
                <a:ea typeface="华文新魏" pitchFamily="2" charset="-122"/>
              </a:rPr>
              <a:t>求完全溶解</a:t>
            </a:r>
            <a:r>
              <a:rPr lang="en-US" altLang="zh-CN" sz="2200" b="1" dirty="0">
                <a:ea typeface="华文新魏" pitchFamily="2" charset="-122"/>
              </a:rPr>
              <a:t>0.010mol</a:t>
            </a:r>
            <a:r>
              <a:rPr lang="zh-CN" altLang="en-US" sz="2200" b="1" dirty="0">
                <a:ea typeface="华文新魏" pitchFamily="2" charset="-122"/>
              </a:rPr>
              <a:t>的</a:t>
            </a:r>
            <a:r>
              <a:rPr lang="en-US" altLang="zh-CN" sz="2200" b="1" dirty="0" err="1">
                <a:ea typeface="华文新魏" pitchFamily="2" charset="-122"/>
              </a:rPr>
              <a:t>AgCl</a:t>
            </a:r>
            <a:r>
              <a:rPr lang="zh-CN" altLang="en-US" sz="2200" b="1" dirty="0">
                <a:ea typeface="华文新魏" pitchFamily="2" charset="-122"/>
              </a:rPr>
              <a:t>所需要</a:t>
            </a:r>
            <a:r>
              <a:rPr lang="en-US" altLang="zh-CN" sz="2200" b="1" dirty="0">
                <a:ea typeface="华文新魏" pitchFamily="2" charset="-122"/>
              </a:rPr>
              <a:t>1L</a:t>
            </a:r>
            <a:r>
              <a:rPr lang="zh-CN" altLang="en-US" sz="2200" b="1" dirty="0">
                <a:ea typeface="华文新魏" pitchFamily="2" charset="-122"/>
              </a:rPr>
              <a:t>的</a:t>
            </a:r>
            <a:r>
              <a:rPr lang="en-US" altLang="zh-CN" sz="2200" b="1" dirty="0">
                <a:ea typeface="华文新魏" pitchFamily="2" charset="-122"/>
              </a:rPr>
              <a:t>NH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zh-CN" altLang="en-US" sz="2200" b="1" dirty="0">
                <a:ea typeface="华文新魏" pitchFamily="2" charset="-122"/>
              </a:rPr>
              <a:t>溶液的浓度</a:t>
            </a:r>
            <a:r>
              <a:rPr lang="en-US" altLang="zh-CN" sz="2200" b="1" dirty="0">
                <a:ea typeface="华文新魏" pitchFamily="2" charset="-12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2200" b="1" dirty="0">
                <a:ea typeface="华文新魏" pitchFamily="2" charset="-122"/>
              </a:rPr>
              <a:t>已知</a:t>
            </a:r>
            <a:r>
              <a:rPr lang="en-US" altLang="zh-CN" sz="22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200" b="1" baseline="-25000" dirty="0" err="1">
                <a:ea typeface="华文新魏" pitchFamily="2" charset="-122"/>
                <a:sym typeface="Webdings" pitchFamily="18" charset="2"/>
              </a:rPr>
              <a:t>sp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(</a:t>
            </a:r>
            <a:r>
              <a:rPr lang="en-US" altLang="zh-CN" sz="2200" b="1" dirty="0" err="1">
                <a:ea typeface="华文新魏" pitchFamily="2" charset="-122"/>
                <a:sym typeface="Webdings" pitchFamily="18" charset="2"/>
              </a:rPr>
              <a:t>AgCl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) = 1.77 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200" b="1" baseline="30000" dirty="0">
                <a:ea typeface="华文新魏" pitchFamily="2" charset="-122"/>
                <a:sym typeface="Symbol" pitchFamily="18" charset="2"/>
              </a:rPr>
              <a:t>-10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; </a:t>
            </a:r>
            <a:r>
              <a:rPr lang="en-US" altLang="zh-CN" sz="2200" b="1" dirty="0" err="1">
                <a:ea typeface="华文新魏" pitchFamily="2" charset="-122"/>
                <a:sym typeface="Symbol" pitchFamily="18" charset="2"/>
              </a:rPr>
              <a:t>lg</a:t>
            </a:r>
            <a:r>
              <a:rPr lang="en-US" altLang="zh-CN" sz="22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2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zh-CN" altLang="en-US" sz="2200" b="1" dirty="0">
                <a:ea typeface="华文新魏" pitchFamily="2" charset="-122"/>
                <a:sym typeface="Webdings" pitchFamily="18" charset="2"/>
              </a:rPr>
              <a:t> 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(Ag(NH</a:t>
            </a:r>
            <a:r>
              <a:rPr lang="en-US" altLang="zh-CN" sz="2200" b="1" baseline="-25000" dirty="0">
                <a:ea typeface="华文新魏" pitchFamily="2" charset="-122"/>
                <a:sym typeface="Webdings" pitchFamily="18" charset="2"/>
              </a:rPr>
              <a:t>3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)</a:t>
            </a:r>
            <a:r>
              <a:rPr lang="en-US" altLang="zh-CN" sz="2200" b="1" baseline="-25000" dirty="0">
                <a:ea typeface="华文新魏" pitchFamily="2" charset="-122"/>
                <a:sym typeface="Webdings" pitchFamily="18" charset="2"/>
              </a:rPr>
              <a:t>2</a:t>
            </a:r>
            <a:r>
              <a:rPr lang="en-US" altLang="zh-CN" sz="2200" b="1" baseline="30000" dirty="0">
                <a:ea typeface="华文新魏" pitchFamily="2" charset="-122"/>
                <a:sym typeface="Webdings" pitchFamily="18" charset="2"/>
              </a:rPr>
              <a:t>+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) = 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7.05</a:t>
            </a:r>
            <a:r>
              <a:rPr lang="en-US" altLang="zh-CN" sz="2200" b="1" dirty="0">
                <a:ea typeface="华文新魏" pitchFamily="2" charset="-122"/>
              </a:rPr>
              <a:t>.</a:t>
            </a:r>
          </a:p>
        </p:txBody>
      </p:sp>
      <p:sp>
        <p:nvSpPr>
          <p:cNvPr id="10" name="Rectangle 24"/>
          <p:cNvSpPr>
            <a:spLocks noChangeArrowheads="1"/>
          </p:cNvSpPr>
          <p:nvPr/>
        </p:nvSpPr>
        <p:spPr bwMode="auto">
          <a:xfrm>
            <a:off x="4814861" y="522036"/>
            <a:ext cx="5500688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 err="1" smtClean="0">
                <a:ea typeface="华文新魏" pitchFamily="2" charset="-122"/>
              </a:rPr>
              <a:t>AgCl</a:t>
            </a:r>
            <a:r>
              <a:rPr lang="en-US" altLang="zh-CN" sz="2500" b="1" dirty="0" smtClean="0">
                <a:ea typeface="华文新魏" pitchFamily="2" charset="-122"/>
              </a:rPr>
              <a:t>  </a:t>
            </a:r>
            <a:r>
              <a:rPr lang="en-US" altLang="zh-CN" sz="2500" b="1" dirty="0">
                <a:ea typeface="华文新魏" pitchFamily="2" charset="-122"/>
              </a:rPr>
              <a:t>+  2NH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   ⇋   [Ag(NH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)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]</a:t>
            </a:r>
            <a:r>
              <a:rPr lang="en-US" altLang="zh-CN" sz="2500" b="1" baseline="30000" dirty="0">
                <a:ea typeface="华文新魏" pitchFamily="2" charset="-122"/>
              </a:rPr>
              <a:t>+   </a:t>
            </a:r>
            <a:r>
              <a:rPr lang="en-US" altLang="zh-CN" sz="2500" b="1" dirty="0">
                <a:ea typeface="华文新魏" pitchFamily="2" charset="-122"/>
              </a:rPr>
              <a:t>+   Cl</a:t>
            </a:r>
            <a:r>
              <a:rPr lang="en-US" altLang="zh-CN" sz="2500" b="1" baseline="30000" dirty="0">
                <a:ea typeface="华文新魏" pitchFamily="2" charset="-122"/>
              </a:rPr>
              <a:t>-</a:t>
            </a:r>
          </a:p>
        </p:txBody>
      </p:sp>
      <p:sp>
        <p:nvSpPr>
          <p:cNvPr id="11" name="Rectangle 30"/>
          <p:cNvSpPr>
            <a:spLocks noChangeArrowheads="1"/>
          </p:cNvSpPr>
          <p:nvPr/>
        </p:nvSpPr>
        <p:spPr bwMode="auto">
          <a:xfrm>
            <a:off x="4332288" y="1222152"/>
            <a:ext cx="7699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100000" dirty="0">
                <a:ea typeface="华文新魏" pitchFamily="2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华文新魏" pitchFamily="2" charset="-122"/>
              </a:rPr>
              <a:t>=</a:t>
            </a:r>
            <a:endParaRPr lang="en-US" altLang="zh-CN" sz="2500" b="1" baseline="30000" dirty="0">
              <a:ea typeface="华文新魏" pitchFamily="2" charset="-122"/>
            </a:endParaRPr>
          </a:p>
        </p:txBody>
      </p:sp>
      <p:sp>
        <p:nvSpPr>
          <p:cNvPr id="12" name="Rectangle 31"/>
          <p:cNvSpPr>
            <a:spLocks noChangeArrowheads="1"/>
          </p:cNvSpPr>
          <p:nvPr/>
        </p:nvSpPr>
        <p:spPr bwMode="auto">
          <a:xfrm>
            <a:off x="5903913" y="1007839"/>
            <a:ext cx="24288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[Ag(NH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)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baseline="30000" dirty="0">
                <a:ea typeface="华文新魏" pitchFamily="2" charset="-122"/>
              </a:rPr>
              <a:t>+</a:t>
            </a:r>
            <a:r>
              <a:rPr lang="en-US" altLang="zh-CN" sz="2500" b="1" dirty="0">
                <a:ea typeface="华文新魏" pitchFamily="2" charset="-122"/>
              </a:rPr>
              <a:t>][</a:t>
            </a:r>
            <a:r>
              <a:rPr lang="en-US" altLang="zh-CN" sz="2500" b="1" dirty="0" err="1">
                <a:ea typeface="华文新魏" pitchFamily="2" charset="-122"/>
              </a:rPr>
              <a:t>Cl</a:t>
            </a:r>
            <a:r>
              <a:rPr lang="en-US" altLang="zh-CN" sz="2500" b="1" baseline="30000" dirty="0">
                <a:ea typeface="华文新魏" pitchFamily="2" charset="-122"/>
              </a:rPr>
              <a:t>-</a:t>
            </a:r>
            <a:r>
              <a:rPr lang="en-US" altLang="zh-CN" sz="2500" b="1" dirty="0">
                <a:ea typeface="华文新魏" pitchFamily="2" charset="-122"/>
              </a:rPr>
              <a:t>]</a:t>
            </a:r>
          </a:p>
        </p:txBody>
      </p:sp>
      <p:sp>
        <p:nvSpPr>
          <p:cNvPr id="13" name="Line 32"/>
          <p:cNvSpPr>
            <a:spLocks noChangeShapeType="1"/>
          </p:cNvSpPr>
          <p:nvPr/>
        </p:nvSpPr>
        <p:spPr bwMode="auto">
          <a:xfrm>
            <a:off x="5475288" y="1507902"/>
            <a:ext cx="38401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" name="Rectangle 33"/>
          <p:cNvSpPr>
            <a:spLocks noChangeArrowheads="1"/>
          </p:cNvSpPr>
          <p:nvPr/>
        </p:nvSpPr>
        <p:spPr bwMode="auto">
          <a:xfrm>
            <a:off x="6403975" y="1579339"/>
            <a:ext cx="10953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华文新魏" pitchFamily="2" charset="-122"/>
              </a:rPr>
              <a:t>[NH</a:t>
            </a:r>
            <a:r>
              <a:rPr lang="en-US" altLang="zh-CN" sz="2500" b="1" baseline="-25000">
                <a:ea typeface="华文新魏" pitchFamily="2" charset="-122"/>
              </a:rPr>
              <a:t>3</a:t>
            </a:r>
            <a:r>
              <a:rPr lang="en-US" altLang="zh-CN" sz="2500" b="1">
                <a:ea typeface="华文新魏" pitchFamily="2" charset="-122"/>
              </a:rPr>
              <a:t>]</a:t>
            </a:r>
            <a:r>
              <a:rPr lang="en-US" altLang="zh-CN" sz="2500" b="1" baseline="30000">
                <a:ea typeface="华文新魏" pitchFamily="2" charset="-122"/>
              </a:rPr>
              <a:t>2</a:t>
            </a:r>
          </a:p>
        </p:txBody>
      </p:sp>
      <p:sp>
        <p:nvSpPr>
          <p:cNvPr id="15" name="Rectangle 34"/>
          <p:cNvSpPr>
            <a:spLocks noChangeArrowheads="1"/>
          </p:cNvSpPr>
          <p:nvPr/>
        </p:nvSpPr>
        <p:spPr bwMode="auto">
          <a:xfrm>
            <a:off x="9332913" y="1293589"/>
            <a:ext cx="1601787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华文新魏" pitchFamily="2" charset="-122"/>
                <a:sym typeface="Symbol" pitchFamily="18" charset="2"/>
              </a:rPr>
              <a:t>= 2.0 10</a:t>
            </a:r>
            <a:r>
              <a:rPr lang="en-US" altLang="zh-CN" sz="2500" b="1" baseline="30000">
                <a:ea typeface="华文新魏" pitchFamily="2" charset="-122"/>
                <a:sym typeface="Symbol" pitchFamily="18" charset="2"/>
              </a:rPr>
              <a:t>-3</a:t>
            </a:r>
          </a:p>
        </p:txBody>
      </p:sp>
      <p:sp>
        <p:nvSpPr>
          <p:cNvPr id="16" name="Rectangle 24"/>
          <p:cNvSpPr>
            <a:spLocks noChangeArrowheads="1"/>
          </p:cNvSpPr>
          <p:nvPr/>
        </p:nvSpPr>
        <p:spPr bwMode="auto">
          <a:xfrm>
            <a:off x="4814861" y="2720177"/>
            <a:ext cx="5500688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 err="1" smtClean="0">
                <a:ea typeface="华文新魏" pitchFamily="2" charset="-122"/>
              </a:rPr>
              <a:t>AgCl</a:t>
            </a:r>
            <a:r>
              <a:rPr lang="en-US" altLang="zh-CN" sz="2500" b="1" dirty="0" smtClean="0">
                <a:ea typeface="华文新魏" pitchFamily="2" charset="-122"/>
              </a:rPr>
              <a:t>  </a:t>
            </a:r>
            <a:r>
              <a:rPr lang="en-US" altLang="zh-CN" sz="2500" b="1" dirty="0">
                <a:ea typeface="华文新魏" pitchFamily="2" charset="-122"/>
              </a:rPr>
              <a:t>+  2NH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   ⇋   [Ag(NH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)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]</a:t>
            </a:r>
            <a:r>
              <a:rPr lang="en-US" altLang="zh-CN" sz="2500" b="1" baseline="30000" dirty="0">
                <a:ea typeface="华文新魏" pitchFamily="2" charset="-122"/>
              </a:rPr>
              <a:t>+   </a:t>
            </a:r>
            <a:r>
              <a:rPr lang="en-US" altLang="zh-CN" sz="2500" b="1" dirty="0">
                <a:ea typeface="华文新魏" pitchFamily="2" charset="-122"/>
              </a:rPr>
              <a:t>+   Cl</a:t>
            </a:r>
            <a:r>
              <a:rPr lang="en-US" altLang="zh-CN" sz="2500" b="1" baseline="30000" dirty="0">
                <a:ea typeface="华文新魏" pitchFamily="2" charset="-122"/>
              </a:rPr>
              <a:t>-</a:t>
            </a:r>
          </a:p>
        </p:txBody>
      </p:sp>
      <p:sp>
        <p:nvSpPr>
          <p:cNvPr id="7" name="矩形 6"/>
          <p:cNvSpPr/>
          <p:nvPr/>
        </p:nvSpPr>
        <p:spPr>
          <a:xfrm>
            <a:off x="7771576" y="3256177"/>
            <a:ext cx="11224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ea typeface="华文新魏" pitchFamily="2" charset="-122"/>
                <a:sym typeface="Symbol" pitchFamily="18" charset="2"/>
              </a:rPr>
              <a:t>≈0.010 </a:t>
            </a:r>
            <a:endParaRPr lang="zh-CN" altLang="en-US" sz="2400" dirty="0"/>
          </a:p>
        </p:txBody>
      </p:sp>
      <p:sp>
        <p:nvSpPr>
          <p:cNvPr id="17" name="矩形 16"/>
          <p:cNvSpPr/>
          <p:nvPr/>
        </p:nvSpPr>
        <p:spPr>
          <a:xfrm>
            <a:off x="9256643" y="3272984"/>
            <a:ext cx="8771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ea typeface="华文新魏" pitchFamily="2" charset="-122"/>
              </a:rPr>
              <a:t>0.010</a:t>
            </a:r>
            <a:endParaRPr lang="zh-CN" altLang="en-US" sz="2400" dirty="0"/>
          </a:p>
        </p:txBody>
      </p:sp>
      <p:graphicFrame>
        <p:nvGraphicFramePr>
          <p:cNvPr id="1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4660114"/>
              </p:ext>
            </p:extLst>
          </p:nvPr>
        </p:nvGraphicFramePr>
        <p:xfrm>
          <a:off x="5102225" y="3888159"/>
          <a:ext cx="3224976" cy="826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公式" r:id="rId4" imgW="1765080" imgH="419040" progId="Equation.3">
                  <p:embed/>
                </p:oleObj>
              </mc:Choice>
              <mc:Fallback>
                <p:oleObj name="公式" r:id="rId4" imgW="1765080" imgH="419040" progId="Equation.3">
                  <p:embed/>
                  <p:pic>
                    <p:nvPicPr>
                      <p:cNvPr id="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2225" y="3888159"/>
                        <a:ext cx="3224976" cy="826917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/>
          <p:cNvSpPr/>
          <p:nvPr/>
        </p:nvSpPr>
        <p:spPr>
          <a:xfrm>
            <a:off x="8327201" y="4027567"/>
            <a:ext cx="2026517" cy="4830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400" b="1" dirty="0">
                <a:ea typeface="华文新魏" pitchFamily="2" charset="-122"/>
              </a:rPr>
              <a:t>= 0.22 mol·L</a:t>
            </a:r>
            <a:r>
              <a:rPr lang="en-US" altLang="zh-CN" sz="2400" b="1" baseline="30000" dirty="0">
                <a:ea typeface="华文新魏" pitchFamily="2" charset="-122"/>
              </a:rPr>
              <a:t>-1</a:t>
            </a:r>
          </a:p>
        </p:txBody>
      </p:sp>
      <p:sp>
        <p:nvSpPr>
          <p:cNvPr id="21" name="矩形 20"/>
          <p:cNvSpPr/>
          <p:nvPr/>
        </p:nvSpPr>
        <p:spPr>
          <a:xfrm>
            <a:off x="5102225" y="5048951"/>
            <a:ext cx="34275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 smtClean="0">
                <a:solidFill>
                  <a:srgbClr val="FF0000"/>
                </a:solidFill>
                <a:ea typeface="楷体_GB2312"/>
              </a:rPr>
              <a:t>未</a:t>
            </a:r>
            <a:r>
              <a:rPr lang="zh-CN" altLang="en-US" sz="3600" b="1" dirty="0" smtClean="0">
                <a:solidFill>
                  <a:srgbClr val="FF0000"/>
                </a:solidFill>
                <a:ea typeface="楷体_GB2312"/>
              </a:rPr>
              <a:t>完</a:t>
            </a:r>
            <a:r>
              <a:rPr lang="zh-CN" altLang="en-US" sz="3600" b="1" dirty="0">
                <a:solidFill>
                  <a:srgbClr val="FF0000"/>
                </a:solidFill>
                <a:ea typeface="楷体_GB2312"/>
              </a:rPr>
              <a:t>待续</a:t>
            </a:r>
            <a:r>
              <a:rPr lang="zh-CN" altLang="en-US" sz="3600" b="1" dirty="0" smtClean="0">
                <a:solidFill>
                  <a:srgbClr val="FF0000"/>
                </a:solidFill>
                <a:ea typeface="楷体_GB2312"/>
              </a:rPr>
              <a:t>！！！</a:t>
            </a:r>
            <a:endParaRPr lang="zh-CN" altLang="en-US" sz="3600" b="1" dirty="0">
              <a:solidFill>
                <a:srgbClr val="FF0000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86067647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2055" grpId="0"/>
      <p:bldP spid="10" grpId="0" autoUpdateAnimBg="0"/>
      <p:bldP spid="11" grpId="0" autoUpdateAnimBg="0"/>
      <p:bldP spid="12" grpId="0" autoUpdateAnimBg="0"/>
      <p:bldP spid="13" grpId="0" animBg="1"/>
      <p:bldP spid="14" grpId="0" autoUpdateAnimBg="0"/>
      <p:bldP spid="15" grpId="0" autoUpdateAnimBg="0"/>
      <p:bldP spid="16" grpId="0" autoUpdateAnimBg="0"/>
      <p:bldP spid="7" grpId="0"/>
      <p:bldP spid="17" grpId="0"/>
      <p:bldP spid="18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/>
        </p:nvSpPr>
        <p:spPr bwMode="auto">
          <a:xfrm>
            <a:off x="3802063" y="719807"/>
            <a:ext cx="7072312" cy="4369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500" b="1" dirty="0" smtClean="0">
                <a:ea typeface="华文新魏" pitchFamily="2" charset="-122"/>
                <a:sym typeface="Symbol" pitchFamily="18" charset="2"/>
              </a:rPr>
              <a:t>[</a:t>
            </a:r>
            <a:r>
              <a:rPr lang="en-US" altLang="zh-CN" sz="2500" b="1" dirty="0">
                <a:ea typeface="华文新魏" pitchFamily="2" charset="-122"/>
              </a:rPr>
              <a:t>NH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] = 0.22 </a:t>
            </a:r>
            <a:r>
              <a:rPr lang="en-US" altLang="zh-CN" sz="2500" b="1" dirty="0" smtClean="0">
                <a:ea typeface="华文新魏" pitchFamily="2" charset="-122"/>
              </a:rPr>
              <a:t>mol·L</a:t>
            </a:r>
            <a:r>
              <a:rPr lang="en-US" altLang="zh-CN" sz="2500" b="1" baseline="30000" dirty="0" smtClean="0">
                <a:ea typeface="华文新魏" pitchFamily="2" charset="-122"/>
              </a:rPr>
              <a:t>-1 </a:t>
            </a:r>
            <a:r>
              <a:rPr lang="zh-CN" altLang="en-US" sz="2500" b="1" dirty="0" smtClean="0">
                <a:solidFill>
                  <a:srgbClr val="FF0000"/>
                </a:solidFill>
                <a:ea typeface="华文新魏" pitchFamily="2" charset="-122"/>
              </a:rPr>
              <a:t>为平衡时的浓度，还要加反应消耗的浓度！！</a:t>
            </a:r>
            <a:endParaRPr lang="en-US" altLang="zh-CN" sz="2500" b="1" dirty="0" smtClean="0">
              <a:solidFill>
                <a:srgbClr val="FF0000"/>
              </a:solidFill>
              <a:ea typeface="华文新魏" pitchFamily="2" charset="-122"/>
            </a:endParaRPr>
          </a:p>
          <a:p>
            <a:pPr>
              <a:lnSpc>
                <a:spcPct val="115000"/>
              </a:lnSpc>
            </a:pPr>
            <a:endParaRPr lang="en-US" altLang="zh-CN" sz="2500" b="1" baseline="30000" dirty="0">
              <a:solidFill>
                <a:srgbClr val="FF0000"/>
              </a:solidFill>
              <a:ea typeface="华文新魏" pitchFamily="2" charset="-122"/>
            </a:endParaRPr>
          </a:p>
          <a:p>
            <a:pPr>
              <a:lnSpc>
                <a:spcPct val="115000"/>
              </a:lnSpc>
            </a:pPr>
            <a:endParaRPr lang="en-US" altLang="zh-CN" sz="2500" b="1" baseline="30000" dirty="0" smtClean="0">
              <a:solidFill>
                <a:srgbClr val="FF0000"/>
              </a:solidFill>
              <a:ea typeface="华文新魏" pitchFamily="2" charset="-122"/>
            </a:endParaRPr>
          </a:p>
          <a:p>
            <a:pPr>
              <a:lnSpc>
                <a:spcPct val="115000"/>
              </a:lnSpc>
            </a:pPr>
            <a:endParaRPr lang="en-US" altLang="zh-CN" sz="2500" b="1" baseline="30000" dirty="0">
              <a:solidFill>
                <a:srgbClr val="FF0000"/>
              </a:solidFill>
              <a:ea typeface="华文新魏" pitchFamily="2" charset="-122"/>
            </a:endParaRPr>
          </a:p>
          <a:p>
            <a:pPr>
              <a:lnSpc>
                <a:spcPct val="115000"/>
              </a:lnSpc>
            </a:pPr>
            <a:r>
              <a:rPr lang="zh-CN" altLang="en-US" sz="2500" b="1" dirty="0" smtClean="0">
                <a:ea typeface="华文新魏" pitchFamily="2" charset="-122"/>
              </a:rPr>
              <a:t>溶解</a:t>
            </a:r>
            <a:r>
              <a:rPr lang="en-US" altLang="zh-CN" sz="2500" b="1" dirty="0" err="1" smtClean="0">
                <a:ea typeface="华文新魏" pitchFamily="2" charset="-122"/>
              </a:rPr>
              <a:t>AgCl</a:t>
            </a:r>
            <a:r>
              <a:rPr lang="zh-CN" altLang="en-US" sz="2500" b="1" dirty="0" smtClean="0">
                <a:ea typeface="华文新魏" pitchFamily="2" charset="-122"/>
              </a:rPr>
              <a:t>，则生成</a:t>
            </a:r>
            <a:r>
              <a:rPr lang="en-US" altLang="zh-CN" sz="2500" b="1" dirty="0">
                <a:ea typeface="华文新魏" pitchFamily="2" charset="-122"/>
              </a:rPr>
              <a:t>[Ag(NH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)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]</a:t>
            </a:r>
            <a:r>
              <a:rPr lang="en-US" altLang="zh-CN" sz="2500" b="1" baseline="30000" dirty="0">
                <a:ea typeface="华文新魏" pitchFamily="2" charset="-122"/>
              </a:rPr>
              <a:t>+ </a:t>
            </a:r>
            <a:r>
              <a:rPr lang="en-US" altLang="zh-CN" sz="2500" b="1" baseline="30000" dirty="0" smtClean="0">
                <a:ea typeface="华文新魏" pitchFamily="2" charset="-122"/>
              </a:rPr>
              <a:t> </a:t>
            </a:r>
            <a:r>
              <a:rPr lang="en-US" altLang="zh-CN" sz="2500" b="1" dirty="0" smtClean="0">
                <a:ea typeface="华文新魏" pitchFamily="2" charset="-122"/>
              </a:rPr>
              <a:t>0.01 mol·L</a:t>
            </a:r>
            <a:r>
              <a:rPr lang="en-US" altLang="zh-CN" sz="2500" b="1" baseline="30000" dirty="0" smtClean="0">
                <a:ea typeface="华文新魏" pitchFamily="2" charset="-122"/>
              </a:rPr>
              <a:t>-1</a:t>
            </a:r>
            <a:endParaRPr lang="en-US" altLang="zh-CN" sz="2500" b="1" dirty="0">
              <a:ea typeface="华文新魏" pitchFamily="2" charset="-122"/>
            </a:endParaRPr>
          </a:p>
          <a:p>
            <a:pPr>
              <a:lnSpc>
                <a:spcPct val="115000"/>
              </a:lnSpc>
            </a:pPr>
            <a:r>
              <a:rPr lang="zh-CN" altLang="en-US" sz="2500" b="1" dirty="0" smtClean="0">
                <a:ea typeface="华文新魏" pitchFamily="2" charset="-122"/>
              </a:rPr>
              <a:t>同时消耗</a:t>
            </a:r>
            <a:r>
              <a:rPr lang="en-US" altLang="zh-CN" sz="2500" b="1" dirty="0" smtClean="0">
                <a:ea typeface="华文新魏" pitchFamily="2" charset="-122"/>
              </a:rPr>
              <a:t>NH</a:t>
            </a:r>
            <a:r>
              <a:rPr lang="en-US" altLang="zh-CN" sz="2500" b="1" baseline="-25000" dirty="0" smtClean="0">
                <a:ea typeface="华文新魏" pitchFamily="2" charset="-122"/>
              </a:rPr>
              <a:t>3</a:t>
            </a:r>
            <a:r>
              <a:rPr lang="zh-CN" altLang="en-US" sz="2500" b="1" dirty="0">
                <a:ea typeface="华文新魏" pitchFamily="2" charset="-122"/>
              </a:rPr>
              <a:t>的量为</a:t>
            </a:r>
            <a:endParaRPr lang="en-US" altLang="zh-CN" sz="2500" b="1" dirty="0">
              <a:ea typeface="华文新魏" pitchFamily="2" charset="-122"/>
            </a:endParaRPr>
          </a:p>
          <a:p>
            <a:pPr>
              <a:lnSpc>
                <a:spcPct val="115000"/>
              </a:lnSpc>
            </a:pPr>
            <a:r>
              <a:rPr lang="en-US" altLang="zh-CN" sz="2500" b="1" dirty="0" smtClean="0">
                <a:ea typeface="华文新魏" pitchFamily="2" charset="-122"/>
              </a:rPr>
              <a:t>2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 0.010 = 0.020 </a:t>
            </a:r>
            <a:r>
              <a:rPr lang="en-US" altLang="zh-CN" sz="2500" b="1" dirty="0" smtClean="0">
                <a:ea typeface="华文新魏" pitchFamily="2" charset="-122"/>
              </a:rPr>
              <a:t>mol·L</a:t>
            </a:r>
            <a:r>
              <a:rPr lang="en-US" altLang="zh-CN" sz="2500" b="1" baseline="30000" dirty="0" smtClean="0">
                <a:ea typeface="华文新魏" pitchFamily="2" charset="-122"/>
              </a:rPr>
              <a:t>-1</a:t>
            </a:r>
          </a:p>
          <a:p>
            <a:pPr>
              <a:lnSpc>
                <a:spcPct val="115000"/>
              </a:lnSpc>
            </a:pPr>
            <a:endParaRPr lang="en-US" altLang="zh-CN" sz="2500" b="1" baseline="30000" dirty="0">
              <a:ea typeface="华文新魏" pitchFamily="2" charset="-122"/>
            </a:endParaRPr>
          </a:p>
          <a:p>
            <a:pPr>
              <a:lnSpc>
                <a:spcPct val="115000"/>
              </a:lnSpc>
            </a:pPr>
            <a:r>
              <a:rPr lang="en-US" altLang="zh-CN" sz="2500" b="1" dirty="0">
                <a:ea typeface="华文新魏" pitchFamily="2" charset="-122"/>
              </a:rPr>
              <a:t>∴</a:t>
            </a:r>
            <a:r>
              <a:rPr lang="zh-CN" altLang="en-US" sz="2500" b="1" dirty="0">
                <a:ea typeface="华文新魏" pitchFamily="2" charset="-122"/>
              </a:rPr>
              <a:t>溶解</a:t>
            </a:r>
            <a:r>
              <a:rPr lang="en-US" altLang="zh-CN" sz="2500" b="1" dirty="0">
                <a:ea typeface="华文新魏" pitchFamily="2" charset="-122"/>
              </a:rPr>
              <a:t>0.010 mol </a:t>
            </a:r>
            <a:r>
              <a:rPr lang="en-US" altLang="zh-CN" sz="2500" b="1" dirty="0" err="1">
                <a:ea typeface="华文新魏" pitchFamily="2" charset="-122"/>
              </a:rPr>
              <a:t>AgCl</a:t>
            </a:r>
            <a:r>
              <a:rPr lang="zh-CN" altLang="en-US" sz="2500" b="1" dirty="0">
                <a:ea typeface="华文新魏" pitchFamily="2" charset="-122"/>
              </a:rPr>
              <a:t>所需氨水浓度</a:t>
            </a:r>
            <a:r>
              <a:rPr lang="en-US" altLang="zh-CN" sz="2500" b="1" dirty="0">
                <a:ea typeface="华文新魏" pitchFamily="2" charset="-122"/>
              </a:rPr>
              <a:t>:</a:t>
            </a:r>
          </a:p>
          <a:p>
            <a:pPr>
              <a:lnSpc>
                <a:spcPct val="115000"/>
              </a:lnSpc>
            </a:pPr>
            <a:r>
              <a:rPr lang="en-US" altLang="zh-CN" sz="2500" b="1" dirty="0">
                <a:ea typeface="华文新魏" pitchFamily="2" charset="-122"/>
              </a:rPr>
              <a:t>0.22 + 0.020 = 0.24 mol·L</a:t>
            </a:r>
            <a:r>
              <a:rPr lang="en-US" altLang="zh-CN" sz="2500" b="1" baseline="30000" dirty="0">
                <a:ea typeface="华文新魏" pitchFamily="2" charset="-122"/>
              </a:rPr>
              <a:t>-1</a:t>
            </a:r>
            <a:endParaRPr lang="en-US" altLang="zh-CN" sz="2500" b="1" dirty="0">
              <a:ea typeface="华文新魏" pitchFamily="2" charset="-122"/>
            </a:endParaRPr>
          </a:p>
        </p:txBody>
      </p:sp>
      <p:sp>
        <p:nvSpPr>
          <p:cNvPr id="8" name="Rectangle 33"/>
          <p:cNvSpPr>
            <a:spLocks noChangeArrowheads="1"/>
          </p:cNvSpPr>
          <p:nvPr/>
        </p:nvSpPr>
        <p:spPr bwMode="auto">
          <a:xfrm>
            <a:off x="3760788" y="382588"/>
            <a:ext cx="82708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</a:rPr>
              <a:t>:</a:t>
            </a:r>
          </a:p>
        </p:txBody>
      </p:sp>
      <p:sp>
        <p:nvSpPr>
          <p:cNvPr id="9" name="Rectangle 33"/>
          <p:cNvSpPr>
            <a:spLocks noChangeArrowheads="1"/>
          </p:cNvSpPr>
          <p:nvPr/>
        </p:nvSpPr>
        <p:spPr bwMode="auto">
          <a:xfrm>
            <a:off x="260350" y="382588"/>
            <a:ext cx="2857500" cy="2671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b="1" dirty="0">
                <a:solidFill>
                  <a:srgbClr val="FFFF00"/>
                </a:solidFill>
                <a:ea typeface="华文新魏" pitchFamily="2" charset="-122"/>
              </a:rPr>
              <a:t>例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</a:rPr>
              <a:t>3:</a:t>
            </a:r>
            <a:r>
              <a:rPr lang="zh-CN" altLang="en-US" sz="2200" b="1" dirty="0">
                <a:ea typeface="华文新魏" pitchFamily="2" charset="-122"/>
              </a:rPr>
              <a:t>求完全溶解</a:t>
            </a:r>
            <a:r>
              <a:rPr lang="en-US" altLang="zh-CN" sz="2200" b="1" dirty="0">
                <a:ea typeface="华文新魏" pitchFamily="2" charset="-122"/>
              </a:rPr>
              <a:t>0.010mol</a:t>
            </a:r>
            <a:r>
              <a:rPr lang="zh-CN" altLang="en-US" sz="2200" b="1" dirty="0">
                <a:ea typeface="华文新魏" pitchFamily="2" charset="-122"/>
              </a:rPr>
              <a:t>的</a:t>
            </a:r>
            <a:r>
              <a:rPr lang="en-US" altLang="zh-CN" sz="2200" b="1" dirty="0" err="1">
                <a:ea typeface="华文新魏" pitchFamily="2" charset="-122"/>
              </a:rPr>
              <a:t>AgCl</a:t>
            </a:r>
            <a:r>
              <a:rPr lang="zh-CN" altLang="en-US" sz="2200" b="1" dirty="0">
                <a:ea typeface="华文新魏" pitchFamily="2" charset="-122"/>
              </a:rPr>
              <a:t>所需要</a:t>
            </a:r>
            <a:r>
              <a:rPr lang="en-US" altLang="zh-CN" sz="2200" b="1" dirty="0">
                <a:ea typeface="华文新魏" pitchFamily="2" charset="-122"/>
              </a:rPr>
              <a:t>1L</a:t>
            </a:r>
            <a:r>
              <a:rPr lang="zh-CN" altLang="en-US" sz="2200" b="1" dirty="0">
                <a:ea typeface="华文新魏" pitchFamily="2" charset="-122"/>
              </a:rPr>
              <a:t>的</a:t>
            </a:r>
            <a:r>
              <a:rPr lang="en-US" altLang="zh-CN" sz="2200" b="1" dirty="0">
                <a:ea typeface="华文新魏" pitchFamily="2" charset="-122"/>
              </a:rPr>
              <a:t>NH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zh-CN" altLang="en-US" sz="2200" b="1" dirty="0">
                <a:ea typeface="华文新魏" pitchFamily="2" charset="-122"/>
              </a:rPr>
              <a:t>溶液的浓度</a:t>
            </a:r>
            <a:r>
              <a:rPr lang="en-US" altLang="zh-CN" sz="2200" b="1" dirty="0">
                <a:ea typeface="华文新魏" pitchFamily="2" charset="-12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2200" b="1" dirty="0">
                <a:ea typeface="华文新魏" pitchFamily="2" charset="-122"/>
              </a:rPr>
              <a:t>已知</a:t>
            </a:r>
            <a:r>
              <a:rPr lang="en-US" altLang="zh-CN" sz="22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200" b="1" baseline="-25000" dirty="0" err="1">
                <a:ea typeface="华文新魏" pitchFamily="2" charset="-122"/>
                <a:sym typeface="Webdings" pitchFamily="18" charset="2"/>
              </a:rPr>
              <a:t>sp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(</a:t>
            </a:r>
            <a:r>
              <a:rPr lang="en-US" altLang="zh-CN" sz="2200" b="1" dirty="0" err="1">
                <a:ea typeface="华文新魏" pitchFamily="2" charset="-122"/>
                <a:sym typeface="Webdings" pitchFamily="18" charset="2"/>
              </a:rPr>
              <a:t>AgCl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) = 1.77 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200" b="1" baseline="30000" dirty="0">
                <a:ea typeface="华文新魏" pitchFamily="2" charset="-122"/>
                <a:sym typeface="Symbol" pitchFamily="18" charset="2"/>
              </a:rPr>
              <a:t>-10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; </a:t>
            </a:r>
            <a:r>
              <a:rPr lang="en-US" altLang="zh-CN" sz="2200" b="1" dirty="0" err="1">
                <a:ea typeface="华文新魏" pitchFamily="2" charset="-122"/>
                <a:sym typeface="Symbol" pitchFamily="18" charset="2"/>
              </a:rPr>
              <a:t>lg</a:t>
            </a:r>
            <a:r>
              <a:rPr lang="en-US" altLang="zh-CN" sz="22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2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zh-CN" altLang="en-US" sz="2200" b="1" dirty="0">
                <a:ea typeface="华文新魏" pitchFamily="2" charset="-122"/>
                <a:sym typeface="Webdings" pitchFamily="18" charset="2"/>
              </a:rPr>
              <a:t> 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(Ag(NH</a:t>
            </a:r>
            <a:r>
              <a:rPr lang="en-US" altLang="zh-CN" sz="2200" b="1" baseline="-25000" dirty="0">
                <a:ea typeface="华文新魏" pitchFamily="2" charset="-122"/>
                <a:sym typeface="Webdings" pitchFamily="18" charset="2"/>
              </a:rPr>
              <a:t>3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)</a:t>
            </a:r>
            <a:r>
              <a:rPr lang="en-US" altLang="zh-CN" sz="2200" b="1" baseline="-25000" dirty="0">
                <a:ea typeface="华文新魏" pitchFamily="2" charset="-122"/>
                <a:sym typeface="Webdings" pitchFamily="18" charset="2"/>
              </a:rPr>
              <a:t>2</a:t>
            </a:r>
            <a:r>
              <a:rPr lang="en-US" altLang="zh-CN" sz="2200" b="1" baseline="30000" dirty="0">
                <a:ea typeface="华文新魏" pitchFamily="2" charset="-122"/>
                <a:sym typeface="Webdings" pitchFamily="18" charset="2"/>
              </a:rPr>
              <a:t>+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) = 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7.05</a:t>
            </a:r>
            <a:r>
              <a:rPr lang="en-US" altLang="zh-CN" sz="2200" b="1" dirty="0">
                <a:ea typeface="华文新魏" pitchFamily="2" charset="-122"/>
              </a:rPr>
              <a:t>.</a:t>
            </a:r>
          </a:p>
        </p:txBody>
      </p:sp>
      <p:sp>
        <p:nvSpPr>
          <p:cNvPr id="10" name="Rectangle 24"/>
          <p:cNvSpPr>
            <a:spLocks noChangeArrowheads="1"/>
          </p:cNvSpPr>
          <p:nvPr/>
        </p:nvSpPr>
        <p:spPr bwMode="auto">
          <a:xfrm>
            <a:off x="4587875" y="1703308"/>
            <a:ext cx="5500688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 err="1" smtClean="0">
                <a:ea typeface="华文新魏" pitchFamily="2" charset="-122"/>
              </a:rPr>
              <a:t>AgCl</a:t>
            </a:r>
            <a:r>
              <a:rPr lang="en-US" altLang="zh-CN" sz="2500" b="1" dirty="0" smtClean="0">
                <a:ea typeface="华文新魏" pitchFamily="2" charset="-122"/>
              </a:rPr>
              <a:t>  </a:t>
            </a:r>
            <a:r>
              <a:rPr lang="en-US" altLang="zh-CN" sz="2500" b="1" dirty="0">
                <a:ea typeface="华文新魏" pitchFamily="2" charset="-122"/>
              </a:rPr>
              <a:t>+  2NH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   ⇋   [Ag(NH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)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]</a:t>
            </a:r>
            <a:r>
              <a:rPr lang="en-US" altLang="zh-CN" sz="2500" b="1" baseline="30000" dirty="0">
                <a:ea typeface="华文新魏" pitchFamily="2" charset="-122"/>
              </a:rPr>
              <a:t>+   </a:t>
            </a:r>
            <a:r>
              <a:rPr lang="en-US" altLang="zh-CN" sz="2500" b="1" dirty="0">
                <a:ea typeface="华文新魏" pitchFamily="2" charset="-122"/>
              </a:rPr>
              <a:t>+   Cl</a:t>
            </a:r>
            <a:r>
              <a:rPr lang="en-US" altLang="zh-CN" sz="2500" b="1" baseline="30000" dirty="0">
                <a:ea typeface="华文新魏" pitchFamily="2" charset="-122"/>
              </a:rPr>
              <a:t>-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 autoUpdateAnimBg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5"/>
          <p:cNvSpPr>
            <a:spLocks noChangeArrowheads="1"/>
          </p:cNvSpPr>
          <p:nvPr/>
        </p:nvSpPr>
        <p:spPr bwMode="auto">
          <a:xfrm>
            <a:off x="188913" y="382588"/>
            <a:ext cx="2928937" cy="1446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200" b="1" dirty="0">
                <a:solidFill>
                  <a:srgbClr val="FFFF00"/>
                </a:solidFill>
                <a:ea typeface="华文新魏" pitchFamily="2" charset="-122"/>
              </a:rPr>
              <a:t>例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</a:rPr>
              <a:t>4:</a:t>
            </a:r>
            <a:r>
              <a:rPr lang="en-US" altLang="zh-CN" sz="2200" b="1" dirty="0">
                <a:ea typeface="华文新魏" pitchFamily="2" charset="-122"/>
              </a:rPr>
              <a:t>1L 6 mol·L</a:t>
            </a:r>
            <a:r>
              <a:rPr lang="en-US" altLang="zh-CN" sz="2200" b="1" baseline="30000" dirty="0">
                <a:ea typeface="华文新魏" pitchFamily="2" charset="-122"/>
              </a:rPr>
              <a:t>-1</a:t>
            </a:r>
            <a:r>
              <a:rPr lang="zh-CN" altLang="en-US" sz="2200" b="1" dirty="0">
                <a:ea typeface="华文新魏" pitchFamily="2" charset="-122"/>
              </a:rPr>
              <a:t>氨水和</a:t>
            </a:r>
            <a:r>
              <a:rPr lang="en-US" altLang="zh-CN" sz="2200" b="1" dirty="0">
                <a:ea typeface="华文新魏" pitchFamily="2" charset="-122"/>
              </a:rPr>
              <a:t>1L 1mol·L</a:t>
            </a:r>
            <a:r>
              <a:rPr lang="en-US" altLang="zh-CN" sz="2200" b="1" baseline="30000" dirty="0">
                <a:ea typeface="华文新魏" pitchFamily="2" charset="-122"/>
              </a:rPr>
              <a:t>-1</a:t>
            </a:r>
            <a:r>
              <a:rPr lang="en-US" altLang="zh-CN" sz="2200" b="1" dirty="0">
                <a:ea typeface="华文新魏" pitchFamily="2" charset="-122"/>
              </a:rPr>
              <a:t> </a:t>
            </a:r>
            <a:r>
              <a:rPr lang="zh-CN" altLang="en-US" sz="2200" b="1" dirty="0">
                <a:ea typeface="华文新魏" pitchFamily="2" charset="-122"/>
              </a:rPr>
              <a:t>的</a:t>
            </a:r>
            <a:r>
              <a:rPr lang="en-US" altLang="zh-CN" sz="2200" b="1" dirty="0">
                <a:ea typeface="华文新魏" pitchFamily="2" charset="-122"/>
              </a:rPr>
              <a:t>KCN</a:t>
            </a:r>
            <a:r>
              <a:rPr lang="zh-CN" altLang="en-US" sz="2200" b="1" dirty="0">
                <a:ea typeface="华文新魏" pitchFamily="2" charset="-122"/>
              </a:rPr>
              <a:t>溶液</a:t>
            </a:r>
            <a:r>
              <a:rPr lang="en-US" altLang="zh-CN" sz="2200" b="1" dirty="0">
                <a:ea typeface="华文新魏" pitchFamily="2" charset="-122"/>
              </a:rPr>
              <a:t>,</a:t>
            </a:r>
            <a:r>
              <a:rPr lang="zh-CN" altLang="en-US" sz="2200" b="1" dirty="0">
                <a:ea typeface="华文新魏" pitchFamily="2" charset="-122"/>
              </a:rPr>
              <a:t>哪个可溶解较多的</a:t>
            </a:r>
            <a:r>
              <a:rPr lang="en-US" altLang="zh-CN" sz="2200" b="1" dirty="0" err="1">
                <a:ea typeface="华文新魏" pitchFamily="2" charset="-122"/>
              </a:rPr>
              <a:t>AgCl</a:t>
            </a:r>
            <a:r>
              <a:rPr lang="en-US" altLang="zh-CN" sz="2200" b="1" dirty="0">
                <a:ea typeface="华文新魏" pitchFamily="2" charset="-122"/>
              </a:rPr>
              <a:t>?</a:t>
            </a:r>
          </a:p>
        </p:txBody>
      </p:sp>
      <p:sp>
        <p:nvSpPr>
          <p:cNvPr id="3" name="Rectangle 15"/>
          <p:cNvSpPr>
            <a:spLocks noChangeArrowheads="1"/>
          </p:cNvSpPr>
          <p:nvPr/>
        </p:nvSpPr>
        <p:spPr bwMode="auto">
          <a:xfrm>
            <a:off x="188913" y="1811338"/>
            <a:ext cx="3214687" cy="1555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b="1" dirty="0">
                <a:ea typeface="华文新魏" pitchFamily="2" charset="-122"/>
              </a:rPr>
              <a:t>已知</a:t>
            </a:r>
            <a:r>
              <a:rPr lang="en-US" altLang="zh-CN" sz="22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200" b="1" baseline="-25000" dirty="0" err="1">
                <a:ea typeface="华文新魏" pitchFamily="2" charset="-122"/>
                <a:sym typeface="Webdings" pitchFamily="18" charset="2"/>
              </a:rPr>
              <a:t>sp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(</a:t>
            </a:r>
            <a:r>
              <a:rPr lang="en-US" altLang="zh-CN" sz="2200" b="1" dirty="0" err="1">
                <a:ea typeface="华文新魏" pitchFamily="2" charset="-122"/>
                <a:sym typeface="Webdings" pitchFamily="18" charset="2"/>
              </a:rPr>
              <a:t>AgCl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) = 1.77 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200" b="1" baseline="30000" dirty="0">
                <a:ea typeface="华文新魏" pitchFamily="2" charset="-122"/>
                <a:sym typeface="Symbol" pitchFamily="18" charset="2"/>
              </a:rPr>
              <a:t>-10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; </a:t>
            </a:r>
            <a:r>
              <a:rPr lang="en-US" altLang="zh-CN" sz="2200" b="1" dirty="0" err="1">
                <a:ea typeface="华文新魏" pitchFamily="2" charset="-122"/>
                <a:sym typeface="Symbol" pitchFamily="18" charset="2"/>
              </a:rPr>
              <a:t>lg</a:t>
            </a:r>
            <a:r>
              <a:rPr lang="en-US" altLang="zh-CN" sz="22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2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{Ag(NH</a:t>
            </a:r>
            <a:r>
              <a:rPr lang="en-US" altLang="zh-CN" sz="2200" b="1" baseline="-25000" dirty="0">
                <a:ea typeface="华文新魏" pitchFamily="2" charset="-122"/>
                <a:sym typeface="Webdings" pitchFamily="18" charset="2"/>
              </a:rPr>
              <a:t>3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)</a:t>
            </a:r>
            <a:r>
              <a:rPr lang="en-US" altLang="zh-CN" sz="2200" b="1" baseline="-25000" dirty="0">
                <a:ea typeface="华文新魏" pitchFamily="2" charset="-122"/>
                <a:sym typeface="Webdings" pitchFamily="18" charset="2"/>
              </a:rPr>
              <a:t>2</a:t>
            </a:r>
            <a:r>
              <a:rPr lang="en-US" altLang="zh-CN" sz="2200" b="1" baseline="30000" dirty="0">
                <a:ea typeface="华文新魏" pitchFamily="2" charset="-122"/>
                <a:sym typeface="Webdings" pitchFamily="18" charset="2"/>
              </a:rPr>
              <a:t>+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} = 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7.05</a:t>
            </a:r>
            <a:r>
              <a:rPr lang="en-US" altLang="zh-CN" sz="2200" b="1" dirty="0">
                <a:ea typeface="华文新魏" pitchFamily="2" charset="-122"/>
              </a:rPr>
              <a:t>; </a:t>
            </a:r>
            <a:r>
              <a:rPr lang="en-US" altLang="zh-CN" sz="2200" b="1" dirty="0" err="1">
                <a:ea typeface="华文新魏" pitchFamily="2" charset="-122"/>
              </a:rPr>
              <a:t>lg</a:t>
            </a:r>
            <a:r>
              <a:rPr lang="en-US" altLang="zh-CN" sz="22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2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(</a:t>
            </a:r>
            <a:r>
              <a:rPr lang="en-US" altLang="zh-CN" sz="2200" b="1" dirty="0">
                <a:ea typeface="华文新魏" pitchFamily="2" charset="-122"/>
              </a:rPr>
              <a:t>Ag(CN)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baseline="30000" dirty="0">
                <a:ea typeface="华文新魏" pitchFamily="2" charset="-122"/>
              </a:rPr>
              <a:t>-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) = 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21.1</a:t>
            </a:r>
            <a:r>
              <a:rPr lang="en-US" altLang="zh-CN" sz="2200" b="1" dirty="0" smtClean="0">
                <a:ea typeface="华文新魏" pitchFamily="2" charset="-122"/>
                <a:sym typeface="Symbol" pitchFamily="18" charset="2"/>
              </a:rPr>
              <a:t>.</a:t>
            </a:r>
            <a:endParaRPr lang="en-US" altLang="zh-CN" sz="2500" b="1" dirty="0">
              <a:solidFill>
                <a:srgbClr val="0000FF"/>
              </a:solidFill>
              <a:ea typeface="华文新魏" pitchFamily="2" charset="-122"/>
            </a:endParaRPr>
          </a:p>
        </p:txBody>
      </p:sp>
      <p:sp>
        <p:nvSpPr>
          <p:cNvPr id="4" name="Rectangle 24"/>
          <p:cNvSpPr>
            <a:spLocks noChangeArrowheads="1"/>
          </p:cNvSpPr>
          <p:nvPr/>
        </p:nvSpPr>
        <p:spPr bwMode="auto">
          <a:xfrm>
            <a:off x="5546725" y="668317"/>
            <a:ext cx="5500688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 err="1">
                <a:ea typeface="华文新魏" pitchFamily="2" charset="-122"/>
              </a:rPr>
              <a:t>AgCl</a:t>
            </a:r>
            <a:r>
              <a:rPr lang="zh-CN" altLang="en-US" sz="2500" b="1" dirty="0">
                <a:ea typeface="华文新魏" pitchFamily="2" charset="-122"/>
              </a:rPr>
              <a:t>在氨水中的溶解反应为</a:t>
            </a:r>
            <a:r>
              <a:rPr lang="en-US" altLang="zh-CN" sz="2500" b="1" dirty="0">
                <a:ea typeface="华文新魏" pitchFamily="2" charset="-122"/>
              </a:rPr>
              <a:t>:</a:t>
            </a:r>
          </a:p>
          <a:p>
            <a:r>
              <a:rPr lang="en-US" altLang="zh-CN" sz="2500" b="1" dirty="0" err="1">
                <a:ea typeface="华文新魏" pitchFamily="2" charset="-122"/>
              </a:rPr>
              <a:t>AgCl</a:t>
            </a:r>
            <a:r>
              <a:rPr lang="en-US" altLang="zh-CN" sz="2500" b="1" dirty="0">
                <a:ea typeface="华文新魏" pitchFamily="2" charset="-122"/>
              </a:rPr>
              <a:t>  +  2NH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   ⇋   [Ag(NH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)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]</a:t>
            </a:r>
            <a:r>
              <a:rPr lang="en-US" altLang="zh-CN" sz="2500" b="1" baseline="30000" dirty="0">
                <a:ea typeface="华文新魏" pitchFamily="2" charset="-122"/>
              </a:rPr>
              <a:t>+   </a:t>
            </a:r>
            <a:r>
              <a:rPr lang="en-US" altLang="zh-CN" sz="2500" b="1" dirty="0">
                <a:ea typeface="华文新魏" pitchFamily="2" charset="-122"/>
              </a:rPr>
              <a:t>+   Cl</a:t>
            </a:r>
            <a:r>
              <a:rPr lang="en-US" altLang="zh-CN" sz="2500" b="1" baseline="30000" dirty="0">
                <a:ea typeface="华文新魏" pitchFamily="2" charset="-122"/>
              </a:rPr>
              <a:t>-</a:t>
            </a:r>
          </a:p>
        </p:txBody>
      </p:sp>
      <p:sp>
        <p:nvSpPr>
          <p:cNvPr id="5" name="Text Box 25"/>
          <p:cNvSpPr txBox="1">
            <a:spLocks noChangeArrowheads="1"/>
          </p:cNvSpPr>
          <p:nvPr/>
        </p:nvSpPr>
        <p:spPr bwMode="auto">
          <a:xfrm>
            <a:off x="3832225" y="1597004"/>
            <a:ext cx="1500188" cy="90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</a:rPr>
              <a:t>反应前</a:t>
            </a:r>
            <a:r>
              <a:rPr lang="en-US" altLang="zh-CN" sz="2500" b="1" i="1">
                <a:solidFill>
                  <a:srgbClr val="FFFF00"/>
                </a:solidFill>
                <a:ea typeface="华文新魏" pitchFamily="2" charset="-122"/>
              </a:rPr>
              <a:t>n</a:t>
            </a:r>
          </a:p>
          <a:p>
            <a:pPr>
              <a:lnSpc>
                <a:spcPct val="105000"/>
              </a:lnSpc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</a:rPr>
              <a:t>平衡时</a:t>
            </a:r>
            <a:r>
              <a:rPr lang="en-US" altLang="zh-CN" sz="2500" b="1" i="1">
                <a:solidFill>
                  <a:srgbClr val="FFFF00"/>
                </a:solidFill>
                <a:ea typeface="华文新魏" pitchFamily="2" charset="-122"/>
              </a:rPr>
              <a:t>n</a:t>
            </a:r>
            <a:endParaRPr lang="en-US" altLang="zh-CN" sz="2500" b="1" baseline="3000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6"/>
          <p:cNvSpPr>
            <a:spLocks noChangeArrowheads="1"/>
          </p:cNvSpPr>
          <p:nvPr/>
        </p:nvSpPr>
        <p:spPr bwMode="auto">
          <a:xfrm>
            <a:off x="7118350" y="1525567"/>
            <a:ext cx="37115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华文新魏" pitchFamily="2" charset="-122"/>
              </a:rPr>
              <a:t>6                    0                  0</a:t>
            </a:r>
            <a:endParaRPr lang="en-US" altLang="zh-CN" sz="2500" b="1" i="1">
              <a:ea typeface="华文新魏" pitchFamily="2" charset="-122"/>
            </a:endParaRPr>
          </a:p>
        </p:txBody>
      </p:sp>
      <p:sp>
        <p:nvSpPr>
          <p:cNvPr id="7" name="Rectangle 27"/>
          <p:cNvSpPr>
            <a:spLocks noChangeArrowheads="1"/>
          </p:cNvSpPr>
          <p:nvPr/>
        </p:nvSpPr>
        <p:spPr bwMode="auto">
          <a:xfrm>
            <a:off x="10475913" y="2097067"/>
            <a:ext cx="34448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华文新魏" pitchFamily="2" charset="-122"/>
              </a:rPr>
              <a:t>x</a:t>
            </a:r>
          </a:p>
        </p:txBody>
      </p:sp>
      <p:sp>
        <p:nvSpPr>
          <p:cNvPr id="8" name="Rectangle 28"/>
          <p:cNvSpPr>
            <a:spLocks noChangeArrowheads="1"/>
          </p:cNvSpPr>
          <p:nvPr/>
        </p:nvSpPr>
        <p:spPr bwMode="auto">
          <a:xfrm>
            <a:off x="8832850" y="2097079"/>
            <a:ext cx="34448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i="1" dirty="0">
                <a:ea typeface="华文新魏" pitchFamily="2" charset="-122"/>
              </a:rPr>
              <a:t>x</a:t>
            </a:r>
          </a:p>
        </p:txBody>
      </p:sp>
      <p:sp>
        <p:nvSpPr>
          <p:cNvPr id="9" name="Rectangle 29"/>
          <p:cNvSpPr>
            <a:spLocks noChangeArrowheads="1"/>
          </p:cNvSpPr>
          <p:nvPr/>
        </p:nvSpPr>
        <p:spPr bwMode="auto">
          <a:xfrm>
            <a:off x="6975475" y="2097067"/>
            <a:ext cx="773113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500" b="1">
                <a:ea typeface="华文新魏" pitchFamily="2" charset="-122"/>
              </a:rPr>
              <a:t>6-2</a:t>
            </a:r>
            <a:r>
              <a:rPr lang="en-US" altLang="zh-CN" sz="2500" b="1" i="1">
                <a:ea typeface="华文新魏" pitchFamily="2" charset="-122"/>
              </a:rPr>
              <a:t>x</a:t>
            </a:r>
          </a:p>
        </p:txBody>
      </p:sp>
      <p:sp>
        <p:nvSpPr>
          <p:cNvPr id="10" name="Rectangle 30"/>
          <p:cNvSpPr>
            <a:spLocks noChangeArrowheads="1"/>
          </p:cNvSpPr>
          <p:nvPr/>
        </p:nvSpPr>
        <p:spPr bwMode="auto">
          <a:xfrm>
            <a:off x="4332288" y="2954317"/>
            <a:ext cx="7699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100000" dirty="0">
                <a:ea typeface="华文新魏" pitchFamily="2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华文新魏" pitchFamily="2" charset="-122"/>
              </a:rPr>
              <a:t>=</a:t>
            </a:r>
            <a:endParaRPr lang="en-US" altLang="zh-CN" sz="2500" b="1" baseline="30000" dirty="0">
              <a:ea typeface="华文新魏" pitchFamily="2" charset="-122"/>
            </a:endParaRPr>
          </a:p>
        </p:txBody>
      </p:sp>
      <p:sp>
        <p:nvSpPr>
          <p:cNvPr id="11" name="Rectangle 31"/>
          <p:cNvSpPr>
            <a:spLocks noChangeArrowheads="1"/>
          </p:cNvSpPr>
          <p:nvPr/>
        </p:nvSpPr>
        <p:spPr bwMode="auto">
          <a:xfrm>
            <a:off x="5903913" y="2740004"/>
            <a:ext cx="24288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[Ag(NH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)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baseline="30000" dirty="0">
                <a:ea typeface="华文新魏" pitchFamily="2" charset="-122"/>
              </a:rPr>
              <a:t>+</a:t>
            </a:r>
            <a:r>
              <a:rPr lang="en-US" altLang="zh-CN" sz="2500" b="1" dirty="0">
                <a:ea typeface="华文新魏" pitchFamily="2" charset="-122"/>
              </a:rPr>
              <a:t>][</a:t>
            </a:r>
            <a:r>
              <a:rPr lang="en-US" altLang="zh-CN" sz="2500" b="1" dirty="0" err="1">
                <a:ea typeface="华文新魏" pitchFamily="2" charset="-122"/>
              </a:rPr>
              <a:t>Cl</a:t>
            </a:r>
            <a:r>
              <a:rPr lang="en-US" altLang="zh-CN" sz="2500" b="1" baseline="30000" dirty="0">
                <a:ea typeface="华文新魏" pitchFamily="2" charset="-122"/>
              </a:rPr>
              <a:t>-</a:t>
            </a:r>
            <a:r>
              <a:rPr lang="en-US" altLang="zh-CN" sz="2500" b="1" dirty="0">
                <a:ea typeface="华文新魏" pitchFamily="2" charset="-122"/>
              </a:rPr>
              <a:t>]</a:t>
            </a:r>
          </a:p>
        </p:txBody>
      </p:sp>
      <p:sp>
        <p:nvSpPr>
          <p:cNvPr id="12" name="Line 32"/>
          <p:cNvSpPr>
            <a:spLocks noChangeShapeType="1"/>
          </p:cNvSpPr>
          <p:nvPr/>
        </p:nvSpPr>
        <p:spPr bwMode="auto">
          <a:xfrm>
            <a:off x="5475288" y="3240067"/>
            <a:ext cx="38401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" name="Rectangle 33"/>
          <p:cNvSpPr>
            <a:spLocks noChangeArrowheads="1"/>
          </p:cNvSpPr>
          <p:nvPr/>
        </p:nvSpPr>
        <p:spPr bwMode="auto">
          <a:xfrm>
            <a:off x="6403975" y="3311504"/>
            <a:ext cx="10953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华文新魏" pitchFamily="2" charset="-122"/>
              </a:rPr>
              <a:t>[NH</a:t>
            </a:r>
            <a:r>
              <a:rPr lang="en-US" altLang="zh-CN" sz="2500" b="1" baseline="-25000">
                <a:ea typeface="华文新魏" pitchFamily="2" charset="-122"/>
              </a:rPr>
              <a:t>3</a:t>
            </a:r>
            <a:r>
              <a:rPr lang="en-US" altLang="zh-CN" sz="2500" b="1">
                <a:ea typeface="华文新魏" pitchFamily="2" charset="-122"/>
              </a:rPr>
              <a:t>]</a:t>
            </a:r>
            <a:r>
              <a:rPr lang="en-US" altLang="zh-CN" sz="2500" b="1" baseline="30000">
                <a:ea typeface="华文新魏" pitchFamily="2" charset="-122"/>
              </a:rPr>
              <a:t>2</a:t>
            </a:r>
          </a:p>
        </p:txBody>
      </p:sp>
      <p:sp>
        <p:nvSpPr>
          <p:cNvPr id="14" name="Rectangle 34"/>
          <p:cNvSpPr>
            <a:spLocks noChangeArrowheads="1"/>
          </p:cNvSpPr>
          <p:nvPr/>
        </p:nvSpPr>
        <p:spPr bwMode="auto">
          <a:xfrm>
            <a:off x="9332913" y="3025754"/>
            <a:ext cx="1601787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华文新魏" pitchFamily="2" charset="-122"/>
                <a:sym typeface="Symbol" pitchFamily="18" charset="2"/>
              </a:rPr>
              <a:t>= 2.0 10</a:t>
            </a:r>
            <a:r>
              <a:rPr lang="en-US" altLang="zh-CN" sz="2500" b="1" baseline="30000">
                <a:ea typeface="华文新魏" pitchFamily="2" charset="-122"/>
                <a:sym typeface="Symbol" pitchFamily="18" charset="2"/>
              </a:rPr>
              <a:t>-3</a:t>
            </a:r>
          </a:p>
        </p:txBody>
      </p:sp>
      <p:sp>
        <p:nvSpPr>
          <p:cNvPr id="15" name="Rectangle 36"/>
          <p:cNvSpPr>
            <a:spLocks noChangeArrowheads="1"/>
          </p:cNvSpPr>
          <p:nvPr/>
        </p:nvSpPr>
        <p:spPr bwMode="auto">
          <a:xfrm>
            <a:off x="8332788" y="4097317"/>
            <a:ext cx="2006600" cy="48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ea typeface="华文新魏" pitchFamily="2" charset="-122"/>
              </a:rPr>
              <a:t>, </a:t>
            </a:r>
            <a:r>
              <a:rPr lang="en-US" altLang="zh-CN" sz="2500" b="1" i="1" dirty="0">
                <a:ea typeface="华文新魏" pitchFamily="2" charset="-122"/>
              </a:rPr>
              <a:t>x </a:t>
            </a:r>
            <a:r>
              <a:rPr lang="en-US" altLang="zh-CN" sz="2500" b="1" dirty="0">
                <a:ea typeface="华文新魏" pitchFamily="2" charset="-122"/>
              </a:rPr>
              <a:t>= 0.25 mol</a:t>
            </a:r>
            <a:endParaRPr lang="en-US" altLang="zh-CN" sz="2500" b="1" baseline="30000" dirty="0">
              <a:ea typeface="华文新魏" pitchFamily="2" charset="-122"/>
            </a:endParaRPr>
          </a:p>
        </p:txBody>
      </p:sp>
      <p:graphicFrame>
        <p:nvGraphicFramePr>
          <p:cNvPr id="16" name="Object 2"/>
          <p:cNvGraphicFramePr>
            <a:graphicFrameLocks noChangeAspect="1"/>
          </p:cNvGraphicFramePr>
          <p:nvPr/>
        </p:nvGraphicFramePr>
        <p:xfrm>
          <a:off x="4189413" y="3883004"/>
          <a:ext cx="388302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公式" r:id="rId5" imgW="1358640" imgH="444240" progId="Equation.3">
                  <p:embed/>
                </p:oleObj>
              </mc:Choice>
              <mc:Fallback>
                <p:oleObj name="公式" r:id="rId5" imgW="1358640" imgH="4442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9413" y="3883004"/>
                        <a:ext cx="3883025" cy="9525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9" name="Rectangle 33"/>
          <p:cNvSpPr>
            <a:spLocks noChangeArrowheads="1"/>
          </p:cNvSpPr>
          <p:nvPr/>
        </p:nvSpPr>
        <p:spPr bwMode="auto">
          <a:xfrm>
            <a:off x="3903663" y="382567"/>
            <a:ext cx="82708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</a:rPr>
              <a:t>: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nimBg="1"/>
      <p:bldP spid="13" grpId="0" autoUpdateAnimBg="0"/>
      <p:bldP spid="14" grpId="0" autoUpdateAnimBg="0"/>
      <p:bldP spid="15" grpId="0" autoUpdateAnimBg="0"/>
      <p:bldP spid="308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3"/>
          <p:cNvSpPr>
            <a:spLocks noChangeArrowheads="1"/>
          </p:cNvSpPr>
          <p:nvPr/>
        </p:nvSpPr>
        <p:spPr bwMode="auto">
          <a:xfrm>
            <a:off x="8618538" y="2025641"/>
            <a:ext cx="3270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华文新魏" pitchFamily="2" charset="-122"/>
              </a:rPr>
              <a:t>y</a:t>
            </a:r>
          </a:p>
        </p:txBody>
      </p:sp>
      <p:sp>
        <p:nvSpPr>
          <p:cNvPr id="3" name="Rectangle 1034"/>
          <p:cNvSpPr>
            <a:spLocks noChangeArrowheads="1"/>
          </p:cNvSpPr>
          <p:nvPr/>
        </p:nvSpPr>
        <p:spPr bwMode="auto">
          <a:xfrm>
            <a:off x="4689475" y="596900"/>
            <a:ext cx="4279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华文新魏" pitchFamily="2" charset="-122"/>
              </a:rPr>
              <a:t>AgCl</a:t>
            </a:r>
            <a:r>
              <a:rPr lang="zh-CN" altLang="en-US" sz="2500" b="1">
                <a:ea typeface="华文新魏" pitchFamily="2" charset="-122"/>
              </a:rPr>
              <a:t>在</a:t>
            </a:r>
            <a:r>
              <a:rPr lang="en-US" altLang="zh-CN" sz="2500" b="1">
                <a:ea typeface="华文新魏" pitchFamily="2" charset="-122"/>
              </a:rPr>
              <a:t>KCN</a:t>
            </a:r>
            <a:r>
              <a:rPr lang="zh-CN" altLang="en-US" sz="2500" b="1">
                <a:ea typeface="华文新魏" pitchFamily="2" charset="-122"/>
              </a:rPr>
              <a:t>中的溶解反应为</a:t>
            </a:r>
            <a:r>
              <a:rPr lang="en-US" altLang="zh-CN" sz="2500" b="1">
                <a:ea typeface="华文新魏" pitchFamily="2" charset="-122"/>
              </a:rPr>
              <a:t>:</a:t>
            </a:r>
          </a:p>
        </p:txBody>
      </p:sp>
      <p:sp>
        <p:nvSpPr>
          <p:cNvPr id="4" name="Rectangle 1035"/>
          <p:cNvSpPr>
            <a:spLocks noChangeArrowheads="1"/>
          </p:cNvSpPr>
          <p:nvPr/>
        </p:nvSpPr>
        <p:spPr bwMode="auto">
          <a:xfrm>
            <a:off x="4689475" y="1004888"/>
            <a:ext cx="65008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            </a:t>
            </a:r>
            <a:r>
              <a:rPr lang="en-US" altLang="zh-CN" sz="2500" b="1" dirty="0" err="1">
                <a:ea typeface="华文新魏" pitchFamily="2" charset="-122"/>
              </a:rPr>
              <a:t>AgCl</a:t>
            </a:r>
            <a:r>
              <a:rPr lang="en-US" altLang="zh-CN" sz="2500" b="1" dirty="0">
                <a:ea typeface="华文新魏" pitchFamily="2" charset="-122"/>
              </a:rPr>
              <a:t>  +  2CN</a:t>
            </a:r>
            <a:r>
              <a:rPr lang="en-US" altLang="zh-CN" sz="2500" b="1" baseline="30000" dirty="0">
                <a:ea typeface="华文新魏" pitchFamily="2" charset="-122"/>
              </a:rPr>
              <a:t>-</a:t>
            </a:r>
            <a:r>
              <a:rPr lang="en-US" altLang="zh-CN" sz="2500" b="1" dirty="0">
                <a:ea typeface="华文新魏" pitchFamily="2" charset="-122"/>
              </a:rPr>
              <a:t>   ⇋   [Ag(CN)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]</a:t>
            </a:r>
            <a:r>
              <a:rPr lang="en-US" altLang="zh-CN" sz="2500" b="1" baseline="30000" dirty="0">
                <a:ea typeface="华文新魏" pitchFamily="2" charset="-122"/>
              </a:rPr>
              <a:t>-   </a:t>
            </a:r>
            <a:r>
              <a:rPr lang="en-US" altLang="zh-CN" sz="2500" b="1" dirty="0">
                <a:ea typeface="华文新魏" pitchFamily="2" charset="-122"/>
              </a:rPr>
              <a:t>+   </a:t>
            </a:r>
            <a:r>
              <a:rPr lang="en-US" altLang="zh-CN" sz="2500" b="1" dirty="0" err="1">
                <a:ea typeface="华文新魏" pitchFamily="2" charset="-122"/>
              </a:rPr>
              <a:t>Cl</a:t>
            </a:r>
            <a:r>
              <a:rPr lang="en-US" altLang="zh-CN" sz="2500" b="1" baseline="30000" dirty="0">
                <a:ea typeface="华文新魏" pitchFamily="2" charset="-122"/>
              </a:rPr>
              <a:t>-</a:t>
            </a:r>
          </a:p>
        </p:txBody>
      </p:sp>
      <p:sp>
        <p:nvSpPr>
          <p:cNvPr id="5" name="Text Box 1036"/>
          <p:cNvSpPr txBox="1">
            <a:spLocks noChangeArrowheads="1"/>
          </p:cNvSpPr>
          <p:nvPr/>
        </p:nvSpPr>
        <p:spPr bwMode="auto">
          <a:xfrm>
            <a:off x="3963988" y="1412875"/>
            <a:ext cx="2400300" cy="102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500" b="1">
                <a:ea typeface="华文新魏" pitchFamily="2" charset="-122"/>
              </a:rPr>
              <a:t>反应前</a:t>
            </a:r>
            <a:r>
              <a:rPr lang="en-US" altLang="zh-CN" sz="2500" b="1" i="1">
                <a:ea typeface="华文新魏" pitchFamily="2" charset="-122"/>
              </a:rPr>
              <a:t>n</a:t>
            </a:r>
          </a:p>
          <a:p>
            <a:pPr>
              <a:lnSpc>
                <a:spcPct val="125000"/>
              </a:lnSpc>
            </a:pPr>
            <a:r>
              <a:rPr lang="zh-CN" altLang="en-US" sz="2500" b="1">
                <a:ea typeface="华文新魏" pitchFamily="2" charset="-122"/>
              </a:rPr>
              <a:t>平衡时</a:t>
            </a:r>
            <a:r>
              <a:rPr lang="en-US" altLang="zh-CN" sz="2500" b="1" i="1">
                <a:ea typeface="华文新魏" pitchFamily="2" charset="-122"/>
              </a:rPr>
              <a:t>n</a:t>
            </a:r>
            <a:endParaRPr lang="en-US" altLang="zh-CN" sz="2500" b="1" baseline="30000">
              <a:ea typeface="华文新魏" pitchFamily="2" charset="-122"/>
            </a:endParaRPr>
          </a:p>
        </p:txBody>
      </p:sp>
      <p:sp>
        <p:nvSpPr>
          <p:cNvPr id="6" name="Rectangle 1037"/>
          <p:cNvSpPr>
            <a:spLocks noChangeArrowheads="1"/>
          </p:cNvSpPr>
          <p:nvPr/>
        </p:nvSpPr>
        <p:spPr bwMode="auto">
          <a:xfrm>
            <a:off x="7046913" y="1382713"/>
            <a:ext cx="36306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华文新魏" pitchFamily="2" charset="-122"/>
              </a:rPr>
              <a:t>1                  0                   0</a:t>
            </a:r>
            <a:endParaRPr lang="en-US" altLang="zh-CN" sz="2500" b="1" i="1">
              <a:ea typeface="华文新魏" pitchFamily="2" charset="-122"/>
            </a:endParaRPr>
          </a:p>
        </p:txBody>
      </p:sp>
      <p:sp>
        <p:nvSpPr>
          <p:cNvPr id="7" name="Rectangle 1038"/>
          <p:cNvSpPr>
            <a:spLocks noChangeArrowheads="1"/>
          </p:cNvSpPr>
          <p:nvPr/>
        </p:nvSpPr>
        <p:spPr bwMode="auto">
          <a:xfrm>
            <a:off x="6904038" y="2025650"/>
            <a:ext cx="75565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500" b="1">
                <a:ea typeface="华文新魏" pitchFamily="2" charset="-122"/>
              </a:rPr>
              <a:t>1-2</a:t>
            </a:r>
            <a:r>
              <a:rPr lang="en-US" altLang="zh-CN" sz="2500" b="1" i="1">
                <a:ea typeface="华文新魏" pitchFamily="2" charset="-122"/>
              </a:rPr>
              <a:t>y</a:t>
            </a:r>
          </a:p>
        </p:txBody>
      </p:sp>
      <p:sp>
        <p:nvSpPr>
          <p:cNvPr id="8" name="Rectangle 1039"/>
          <p:cNvSpPr>
            <a:spLocks noChangeArrowheads="1"/>
          </p:cNvSpPr>
          <p:nvPr/>
        </p:nvSpPr>
        <p:spPr bwMode="auto">
          <a:xfrm>
            <a:off x="10333038" y="2025650"/>
            <a:ext cx="3270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华文新魏" pitchFamily="2" charset="-122"/>
              </a:rPr>
              <a:t>y</a:t>
            </a:r>
          </a:p>
        </p:txBody>
      </p:sp>
      <p:sp>
        <p:nvSpPr>
          <p:cNvPr id="9" name="Rectangle 1040"/>
          <p:cNvSpPr>
            <a:spLocks noChangeArrowheads="1"/>
          </p:cNvSpPr>
          <p:nvPr/>
        </p:nvSpPr>
        <p:spPr bwMode="auto">
          <a:xfrm>
            <a:off x="3903663" y="2525713"/>
            <a:ext cx="7215187" cy="186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500" b="1" i="1" dirty="0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100000" dirty="0">
                <a:ea typeface="华文新魏" pitchFamily="2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华文新魏" pitchFamily="2" charset="-122"/>
              </a:rPr>
              <a:t>= 2.2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11</a:t>
            </a:r>
          </a:p>
          <a:p>
            <a:pPr>
              <a:lnSpc>
                <a:spcPct val="115000"/>
              </a:lnSpc>
            </a:pP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500" b="1" i="1" dirty="0">
                <a:ea typeface="华文新魏" pitchFamily="2" charset="-122"/>
              </a:rPr>
              <a:t>y </a:t>
            </a:r>
            <a:r>
              <a:rPr lang="en-US" altLang="zh-CN" sz="2500" b="1" dirty="0">
                <a:ea typeface="华文新魏" pitchFamily="2" charset="-122"/>
              </a:rPr>
              <a:t>= 0.50 mol.</a:t>
            </a:r>
          </a:p>
          <a:p>
            <a:pPr>
              <a:lnSpc>
                <a:spcPct val="115000"/>
              </a:lnSpc>
            </a:pPr>
            <a:r>
              <a:rPr lang="en-US" altLang="zh-CN" sz="2500" b="1" dirty="0">
                <a:ea typeface="华文新魏" pitchFamily="2" charset="-122"/>
              </a:rPr>
              <a:t>1L 1mol·L</a:t>
            </a:r>
            <a:r>
              <a:rPr lang="en-US" altLang="zh-CN" sz="2500" b="1" baseline="30000" dirty="0">
                <a:ea typeface="华文新魏" pitchFamily="2" charset="-122"/>
              </a:rPr>
              <a:t>-1</a:t>
            </a:r>
            <a:r>
              <a:rPr lang="en-US" altLang="zh-CN" sz="2500" b="1" dirty="0">
                <a:ea typeface="华文新魏" pitchFamily="2" charset="-122"/>
              </a:rPr>
              <a:t> KCN</a:t>
            </a:r>
            <a:r>
              <a:rPr lang="zh-CN" altLang="en-US" sz="2500" b="1" dirty="0">
                <a:ea typeface="华文新魏" pitchFamily="2" charset="-122"/>
              </a:rPr>
              <a:t>溶液比</a:t>
            </a:r>
            <a:r>
              <a:rPr lang="en-US" altLang="zh-CN" sz="2500" b="1" dirty="0">
                <a:ea typeface="华文新魏" pitchFamily="2" charset="-122"/>
              </a:rPr>
              <a:t>1L 6 mol·L</a:t>
            </a:r>
            <a:r>
              <a:rPr lang="en-US" altLang="zh-CN" sz="2500" b="1" baseline="30000" dirty="0">
                <a:ea typeface="华文新魏" pitchFamily="2" charset="-122"/>
              </a:rPr>
              <a:t>-1</a:t>
            </a:r>
            <a:r>
              <a:rPr lang="zh-CN" altLang="en-US" sz="2500" b="1" dirty="0">
                <a:ea typeface="华文新魏" pitchFamily="2" charset="-122"/>
              </a:rPr>
              <a:t>氨水溶解较多的</a:t>
            </a:r>
            <a:r>
              <a:rPr lang="en-US" altLang="zh-CN" sz="2500" b="1" dirty="0" err="1">
                <a:ea typeface="华文新魏" pitchFamily="2" charset="-122"/>
              </a:rPr>
              <a:t>AgCl</a:t>
            </a:r>
            <a:r>
              <a:rPr lang="en-US" altLang="zh-CN" sz="2500" b="1" dirty="0">
                <a:ea typeface="华文新魏" pitchFamily="2" charset="-122"/>
              </a:rPr>
              <a:t>.</a:t>
            </a:r>
          </a:p>
        </p:txBody>
      </p:sp>
      <p:sp>
        <p:nvSpPr>
          <p:cNvPr id="13" name="Rectangle 35"/>
          <p:cNvSpPr>
            <a:spLocks noChangeArrowheads="1"/>
          </p:cNvSpPr>
          <p:nvPr/>
        </p:nvSpPr>
        <p:spPr bwMode="auto">
          <a:xfrm>
            <a:off x="188913" y="382588"/>
            <a:ext cx="2928937" cy="1446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200" b="1" dirty="0">
                <a:solidFill>
                  <a:srgbClr val="FFFF00"/>
                </a:solidFill>
                <a:ea typeface="华文新魏" pitchFamily="2" charset="-122"/>
              </a:rPr>
              <a:t>例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</a:rPr>
              <a:t>4:</a:t>
            </a:r>
            <a:r>
              <a:rPr lang="en-US" altLang="zh-CN" sz="2200" b="1" dirty="0">
                <a:ea typeface="华文新魏" pitchFamily="2" charset="-122"/>
              </a:rPr>
              <a:t>1L 6 mol·L</a:t>
            </a:r>
            <a:r>
              <a:rPr lang="en-US" altLang="zh-CN" sz="2200" b="1" baseline="30000" dirty="0">
                <a:ea typeface="华文新魏" pitchFamily="2" charset="-122"/>
              </a:rPr>
              <a:t>-1</a:t>
            </a:r>
            <a:r>
              <a:rPr lang="zh-CN" altLang="en-US" sz="2200" b="1" dirty="0">
                <a:ea typeface="华文新魏" pitchFamily="2" charset="-122"/>
              </a:rPr>
              <a:t>氨水和</a:t>
            </a:r>
            <a:r>
              <a:rPr lang="en-US" altLang="zh-CN" sz="2200" b="1" dirty="0">
                <a:ea typeface="华文新魏" pitchFamily="2" charset="-122"/>
              </a:rPr>
              <a:t>1L 1mol·L</a:t>
            </a:r>
            <a:r>
              <a:rPr lang="en-US" altLang="zh-CN" sz="2200" b="1" baseline="30000" dirty="0">
                <a:ea typeface="华文新魏" pitchFamily="2" charset="-122"/>
              </a:rPr>
              <a:t>-1</a:t>
            </a:r>
            <a:r>
              <a:rPr lang="en-US" altLang="zh-CN" sz="2200" b="1" dirty="0">
                <a:ea typeface="华文新魏" pitchFamily="2" charset="-122"/>
              </a:rPr>
              <a:t> </a:t>
            </a:r>
            <a:r>
              <a:rPr lang="zh-CN" altLang="en-US" sz="2200" b="1" dirty="0">
                <a:ea typeface="华文新魏" pitchFamily="2" charset="-122"/>
              </a:rPr>
              <a:t>的</a:t>
            </a:r>
            <a:r>
              <a:rPr lang="en-US" altLang="zh-CN" sz="2200" b="1" dirty="0">
                <a:ea typeface="华文新魏" pitchFamily="2" charset="-122"/>
              </a:rPr>
              <a:t>KCN</a:t>
            </a:r>
            <a:r>
              <a:rPr lang="zh-CN" altLang="en-US" sz="2200" b="1" dirty="0">
                <a:ea typeface="华文新魏" pitchFamily="2" charset="-122"/>
              </a:rPr>
              <a:t>溶液</a:t>
            </a:r>
            <a:r>
              <a:rPr lang="en-US" altLang="zh-CN" sz="2200" b="1" dirty="0">
                <a:ea typeface="华文新魏" pitchFamily="2" charset="-122"/>
              </a:rPr>
              <a:t>,</a:t>
            </a:r>
            <a:r>
              <a:rPr lang="zh-CN" altLang="en-US" sz="2200" b="1" dirty="0">
                <a:ea typeface="华文新魏" pitchFamily="2" charset="-122"/>
              </a:rPr>
              <a:t>哪个可溶解较多的</a:t>
            </a:r>
            <a:r>
              <a:rPr lang="en-US" altLang="zh-CN" sz="2200" b="1" dirty="0" err="1">
                <a:ea typeface="华文新魏" pitchFamily="2" charset="-122"/>
              </a:rPr>
              <a:t>AgCl</a:t>
            </a:r>
            <a:r>
              <a:rPr lang="en-US" altLang="zh-CN" sz="2200" b="1" dirty="0">
                <a:ea typeface="华文新魏" pitchFamily="2" charset="-122"/>
              </a:rPr>
              <a:t>?</a:t>
            </a:r>
          </a:p>
        </p:txBody>
      </p:sp>
      <p:sp>
        <p:nvSpPr>
          <p:cNvPr id="14" name="Rectangle 15"/>
          <p:cNvSpPr>
            <a:spLocks noChangeArrowheads="1"/>
          </p:cNvSpPr>
          <p:nvPr/>
        </p:nvSpPr>
        <p:spPr bwMode="auto">
          <a:xfrm>
            <a:off x="188913" y="1811338"/>
            <a:ext cx="3214687" cy="1555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b="1" dirty="0">
                <a:ea typeface="华文新魏" pitchFamily="2" charset="-122"/>
              </a:rPr>
              <a:t>已知</a:t>
            </a:r>
            <a:r>
              <a:rPr lang="en-US" altLang="zh-CN" sz="22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200" b="1" baseline="-25000" dirty="0" err="1">
                <a:ea typeface="华文新魏" pitchFamily="2" charset="-122"/>
                <a:sym typeface="Webdings" pitchFamily="18" charset="2"/>
              </a:rPr>
              <a:t>sp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(</a:t>
            </a:r>
            <a:r>
              <a:rPr lang="en-US" altLang="zh-CN" sz="2200" b="1" dirty="0" err="1">
                <a:ea typeface="华文新魏" pitchFamily="2" charset="-122"/>
                <a:sym typeface="Webdings" pitchFamily="18" charset="2"/>
              </a:rPr>
              <a:t>AgCl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) = 1.77 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200" b="1" baseline="30000" dirty="0">
                <a:ea typeface="华文新魏" pitchFamily="2" charset="-122"/>
                <a:sym typeface="Symbol" pitchFamily="18" charset="2"/>
              </a:rPr>
              <a:t>-10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; </a:t>
            </a:r>
            <a:r>
              <a:rPr lang="en-US" altLang="zh-CN" sz="2200" b="1" dirty="0" err="1">
                <a:ea typeface="华文新魏" pitchFamily="2" charset="-122"/>
                <a:sym typeface="Symbol" pitchFamily="18" charset="2"/>
              </a:rPr>
              <a:t>lg</a:t>
            </a:r>
            <a:r>
              <a:rPr lang="en-US" altLang="zh-CN" sz="22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2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{Ag(NH</a:t>
            </a:r>
            <a:r>
              <a:rPr lang="en-US" altLang="zh-CN" sz="2200" b="1" baseline="-25000" dirty="0">
                <a:ea typeface="华文新魏" pitchFamily="2" charset="-122"/>
                <a:sym typeface="Webdings" pitchFamily="18" charset="2"/>
              </a:rPr>
              <a:t>3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)</a:t>
            </a:r>
            <a:r>
              <a:rPr lang="en-US" altLang="zh-CN" sz="2200" b="1" baseline="-25000" dirty="0">
                <a:ea typeface="华文新魏" pitchFamily="2" charset="-122"/>
                <a:sym typeface="Webdings" pitchFamily="18" charset="2"/>
              </a:rPr>
              <a:t>2</a:t>
            </a:r>
            <a:r>
              <a:rPr lang="en-US" altLang="zh-CN" sz="2200" b="1" baseline="30000" dirty="0">
                <a:ea typeface="华文新魏" pitchFamily="2" charset="-122"/>
                <a:sym typeface="Webdings" pitchFamily="18" charset="2"/>
              </a:rPr>
              <a:t>+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} = 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7.05</a:t>
            </a:r>
            <a:r>
              <a:rPr lang="en-US" altLang="zh-CN" sz="2200" b="1" dirty="0">
                <a:ea typeface="华文新魏" pitchFamily="2" charset="-122"/>
              </a:rPr>
              <a:t>; </a:t>
            </a:r>
            <a:r>
              <a:rPr lang="en-US" altLang="zh-CN" sz="2200" b="1" dirty="0" err="1">
                <a:ea typeface="华文新魏" pitchFamily="2" charset="-122"/>
              </a:rPr>
              <a:t>lg</a:t>
            </a:r>
            <a:r>
              <a:rPr lang="en-US" altLang="zh-CN" sz="22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2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(</a:t>
            </a:r>
            <a:r>
              <a:rPr lang="en-US" altLang="zh-CN" sz="2200" b="1" dirty="0">
                <a:ea typeface="华文新魏" pitchFamily="2" charset="-122"/>
              </a:rPr>
              <a:t>Ag(CN)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baseline="30000" dirty="0">
                <a:ea typeface="华文新魏" pitchFamily="2" charset="-122"/>
              </a:rPr>
              <a:t>-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) = </a:t>
            </a:r>
            <a:r>
              <a:rPr lang="en-US" altLang="zh-CN" sz="2200" b="1" dirty="0">
                <a:ea typeface="华文新魏" pitchFamily="2" charset="-122"/>
                <a:sym typeface="Symbol" pitchFamily="18" charset="2"/>
              </a:rPr>
              <a:t>21.1</a:t>
            </a:r>
            <a:r>
              <a:rPr lang="en-US" altLang="zh-CN" sz="2200" b="1" dirty="0" smtClean="0">
                <a:ea typeface="华文新魏" pitchFamily="2" charset="-122"/>
                <a:sym typeface="Symbol" pitchFamily="18" charset="2"/>
              </a:rPr>
              <a:t>.</a:t>
            </a:r>
            <a:endParaRPr lang="en-US" altLang="zh-CN" sz="2500" b="1" dirty="0">
              <a:solidFill>
                <a:srgbClr val="0000FF"/>
              </a:solidFill>
              <a:ea typeface="华文新魏" pitchFamily="2" charset="-122"/>
            </a:endParaRPr>
          </a:p>
        </p:txBody>
      </p:sp>
      <p:sp>
        <p:nvSpPr>
          <p:cNvPr id="15" name="Rectangle 33"/>
          <p:cNvSpPr>
            <a:spLocks noChangeArrowheads="1"/>
          </p:cNvSpPr>
          <p:nvPr/>
        </p:nvSpPr>
        <p:spPr bwMode="auto">
          <a:xfrm>
            <a:off x="3903663" y="382567"/>
            <a:ext cx="82708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</a:rPr>
              <a:t>: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uiExpand="1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4" name="Rectangle 32"/>
          <p:cNvSpPr>
            <a:spLocks noChangeArrowheads="1"/>
          </p:cNvSpPr>
          <p:nvPr/>
        </p:nvSpPr>
        <p:spPr bwMode="auto">
          <a:xfrm>
            <a:off x="260331" y="454025"/>
            <a:ext cx="2857500" cy="307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b="1" dirty="0">
                <a:solidFill>
                  <a:srgbClr val="FFFF00"/>
                </a:solidFill>
                <a:ea typeface="华文新魏" pitchFamily="2" charset="-122"/>
              </a:rPr>
              <a:t>例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</a:rPr>
              <a:t>5:</a:t>
            </a:r>
            <a:r>
              <a:rPr lang="zh-CN" altLang="en-US" sz="2200" b="1" dirty="0">
                <a:ea typeface="华文新魏" pitchFamily="2" charset="-122"/>
              </a:rPr>
              <a:t>在含有</a:t>
            </a:r>
            <a:r>
              <a:rPr lang="en-US" altLang="zh-CN" sz="2200" b="1" dirty="0">
                <a:ea typeface="华文新魏" pitchFamily="2" charset="-122"/>
              </a:rPr>
              <a:t>NH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zh-CN" altLang="en-US" sz="2200" b="1" dirty="0">
                <a:ea typeface="华文新魏" pitchFamily="2" charset="-122"/>
              </a:rPr>
              <a:t>和</a:t>
            </a:r>
            <a:r>
              <a:rPr lang="en-US" altLang="zh-CN" sz="2200" b="1" dirty="0">
                <a:ea typeface="华文新魏" pitchFamily="2" charset="-122"/>
              </a:rPr>
              <a:t>CN</a:t>
            </a:r>
            <a:r>
              <a:rPr lang="en-US" altLang="zh-CN" sz="2200" b="1" baseline="30000" dirty="0">
                <a:ea typeface="华文新魏" pitchFamily="2" charset="-122"/>
              </a:rPr>
              <a:t>-</a:t>
            </a:r>
            <a:r>
              <a:rPr lang="zh-CN" altLang="en-US" sz="2200" b="1" dirty="0">
                <a:ea typeface="华文新魏" pitchFamily="2" charset="-122"/>
              </a:rPr>
              <a:t>的溶液中加入</a:t>
            </a:r>
            <a:r>
              <a:rPr lang="en-US" altLang="zh-CN" sz="2200" b="1" dirty="0">
                <a:ea typeface="华文新魏" pitchFamily="2" charset="-122"/>
              </a:rPr>
              <a:t>Ag</a:t>
            </a:r>
            <a:r>
              <a:rPr lang="en-US" altLang="zh-CN" sz="2200" b="1" baseline="30000" dirty="0">
                <a:ea typeface="华文新魏" pitchFamily="2" charset="-122"/>
              </a:rPr>
              <a:t>+</a:t>
            </a:r>
            <a:r>
              <a:rPr lang="en-US" altLang="zh-CN" sz="2200" b="1" dirty="0">
                <a:ea typeface="华文新魏" pitchFamily="2" charset="-122"/>
              </a:rPr>
              <a:t>,</a:t>
            </a:r>
            <a:r>
              <a:rPr lang="zh-CN" altLang="en-US" sz="2200" b="1" dirty="0">
                <a:ea typeface="华文新魏" pitchFamily="2" charset="-122"/>
              </a:rPr>
              <a:t>可能会形成</a:t>
            </a:r>
            <a:r>
              <a:rPr lang="en-US" altLang="zh-CN" sz="2200" b="1" dirty="0">
                <a:ea typeface="华文新魏" pitchFamily="2" charset="-122"/>
              </a:rPr>
              <a:t>[Ag(NH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en-US" altLang="zh-CN" sz="2200" b="1" dirty="0">
                <a:ea typeface="华文新魏" pitchFamily="2" charset="-122"/>
              </a:rPr>
              <a:t>)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]</a:t>
            </a:r>
            <a:r>
              <a:rPr lang="en-US" altLang="zh-CN" sz="2200" b="1" baseline="30000" dirty="0">
                <a:ea typeface="华文新魏" pitchFamily="2" charset="-122"/>
              </a:rPr>
              <a:t>+</a:t>
            </a:r>
            <a:r>
              <a:rPr lang="zh-CN" altLang="en-US" sz="2200" b="1" dirty="0">
                <a:ea typeface="华文新魏" pitchFamily="2" charset="-122"/>
              </a:rPr>
              <a:t>和</a:t>
            </a:r>
            <a:r>
              <a:rPr lang="en-US" altLang="zh-CN" sz="2200" b="1" dirty="0">
                <a:ea typeface="华文新魏" pitchFamily="2" charset="-122"/>
              </a:rPr>
              <a:t>[Ag(CN)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]</a:t>
            </a:r>
            <a:r>
              <a:rPr lang="en-US" altLang="zh-CN" sz="2200" b="1" baseline="30000" dirty="0">
                <a:ea typeface="华文新魏" pitchFamily="2" charset="-122"/>
              </a:rPr>
              <a:t>-</a:t>
            </a:r>
            <a:r>
              <a:rPr lang="en-US" altLang="zh-CN" sz="2200" b="1" dirty="0">
                <a:ea typeface="华文新魏" pitchFamily="2" charset="-122"/>
              </a:rPr>
              <a:t>. 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  <a:sym typeface="Monotype Sorts" pitchFamily="2" charset="2"/>
              </a:rPr>
              <a:t>①</a:t>
            </a:r>
            <a:r>
              <a:rPr lang="zh-CN" altLang="en-US" sz="2200" b="1" dirty="0">
                <a:ea typeface="华文新魏" pitchFamily="2" charset="-122"/>
              </a:rPr>
              <a:t>试问哪种配离子先形成</a:t>
            </a:r>
            <a:r>
              <a:rPr lang="en-US" altLang="zh-CN" sz="2200" b="1" dirty="0">
                <a:ea typeface="华文新魏" pitchFamily="2" charset="-122"/>
              </a:rPr>
              <a:t>? 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  <a:sym typeface="Monotype Sorts" pitchFamily="2" charset="2"/>
              </a:rPr>
              <a:t>②</a:t>
            </a:r>
            <a:r>
              <a:rPr lang="zh-CN" altLang="en-US" sz="2200" b="1" dirty="0">
                <a:ea typeface="华文新魏" pitchFamily="2" charset="-122"/>
              </a:rPr>
              <a:t>若在</a:t>
            </a:r>
            <a:r>
              <a:rPr lang="en-US" altLang="zh-CN" sz="2200" b="1" dirty="0">
                <a:ea typeface="华文新魏" pitchFamily="2" charset="-122"/>
              </a:rPr>
              <a:t>[Ag(NH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en-US" altLang="zh-CN" sz="2200" b="1" dirty="0">
                <a:ea typeface="华文新魏" pitchFamily="2" charset="-122"/>
              </a:rPr>
              <a:t>)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]</a:t>
            </a:r>
            <a:r>
              <a:rPr lang="en-US" altLang="zh-CN" sz="2200" b="1" baseline="30000" dirty="0">
                <a:ea typeface="华文新魏" pitchFamily="2" charset="-122"/>
              </a:rPr>
              <a:t>+</a:t>
            </a:r>
            <a:r>
              <a:rPr lang="zh-CN" altLang="en-US" sz="2200" b="1" dirty="0">
                <a:ea typeface="华文新魏" pitchFamily="2" charset="-122"/>
              </a:rPr>
              <a:t>溶液中加入</a:t>
            </a:r>
            <a:r>
              <a:rPr lang="en-US" altLang="zh-CN" sz="2200" b="1" dirty="0">
                <a:ea typeface="华文新魏" pitchFamily="2" charset="-122"/>
              </a:rPr>
              <a:t>KCN,</a:t>
            </a:r>
            <a:r>
              <a:rPr lang="zh-CN" altLang="en-US" sz="2200" b="1" dirty="0">
                <a:ea typeface="华文新魏" pitchFamily="2" charset="-122"/>
              </a:rPr>
              <a:t>问否能发生配离子的转化</a:t>
            </a:r>
            <a:r>
              <a:rPr lang="en-US" altLang="zh-CN" sz="2200" b="1" dirty="0">
                <a:ea typeface="华文新魏" pitchFamily="2" charset="-122"/>
              </a:rPr>
              <a:t>?</a:t>
            </a:r>
          </a:p>
        </p:txBody>
      </p:sp>
      <p:sp>
        <p:nvSpPr>
          <p:cNvPr id="13345" name="Rectangle 33"/>
          <p:cNvSpPr>
            <a:spLocks noChangeArrowheads="1"/>
          </p:cNvSpPr>
          <p:nvPr/>
        </p:nvSpPr>
        <p:spPr bwMode="auto">
          <a:xfrm>
            <a:off x="4618038" y="525463"/>
            <a:ext cx="25368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华文新魏" pitchFamily="2" charset="-122"/>
                <a:sym typeface="Monotype Sorts" pitchFamily="2" charset="2"/>
              </a:rPr>
              <a:t>①</a:t>
            </a:r>
            <a:r>
              <a:rPr lang="zh-CN" altLang="en-US" sz="2500" b="1">
                <a:ea typeface="华文新魏" pitchFamily="2" charset="-122"/>
              </a:rPr>
              <a:t>由附录可查得</a:t>
            </a:r>
            <a:r>
              <a:rPr lang="en-US" altLang="zh-CN" sz="2500" b="1">
                <a:ea typeface="华文新魏" pitchFamily="2" charset="-122"/>
              </a:rPr>
              <a:t>:</a:t>
            </a:r>
          </a:p>
        </p:txBody>
      </p:sp>
      <p:sp>
        <p:nvSpPr>
          <p:cNvPr id="13346" name="Rectangle 34"/>
          <p:cNvSpPr>
            <a:spLocks noChangeArrowheads="1"/>
          </p:cNvSpPr>
          <p:nvPr/>
        </p:nvSpPr>
        <p:spPr bwMode="auto">
          <a:xfrm>
            <a:off x="4546600" y="1168400"/>
            <a:ext cx="3606800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[Ag(NH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)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]</a:t>
            </a:r>
            <a:r>
              <a:rPr lang="en-US" altLang="zh-CN" sz="2500" b="1" baseline="30000" dirty="0">
                <a:ea typeface="华文新魏" pitchFamily="2" charset="-122"/>
              </a:rPr>
              <a:t>+ </a:t>
            </a:r>
            <a:r>
              <a:rPr lang="en-US" altLang="zh-CN" sz="2500" b="1" i="1" dirty="0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zh-CN" altLang="en-US" sz="2500" b="1" dirty="0">
                <a:ea typeface="华文新魏" pitchFamily="2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=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7.05</a:t>
            </a:r>
            <a:r>
              <a:rPr lang="en-US" altLang="zh-CN" sz="2500" b="1" baseline="30000" dirty="0">
                <a:ea typeface="华文新魏" pitchFamily="2" charset="-122"/>
              </a:rPr>
              <a:t> </a:t>
            </a:r>
          </a:p>
          <a:p>
            <a:r>
              <a:rPr lang="en-US" altLang="zh-CN" sz="2500" b="1" dirty="0">
                <a:ea typeface="华文新魏" pitchFamily="2" charset="-122"/>
              </a:rPr>
              <a:t>[Ag(CN)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]</a:t>
            </a:r>
            <a:r>
              <a:rPr lang="en-US" altLang="zh-CN" sz="2500" b="1" baseline="30000" dirty="0">
                <a:ea typeface="华文新魏" pitchFamily="2" charset="-122"/>
              </a:rPr>
              <a:t>-</a:t>
            </a:r>
            <a:r>
              <a:rPr lang="en-US" altLang="zh-CN" sz="2500" b="1" dirty="0">
                <a:ea typeface="华文新魏" pitchFamily="2" charset="-122"/>
              </a:rPr>
              <a:t>   </a:t>
            </a:r>
            <a:r>
              <a:rPr lang="en-US" altLang="zh-CN" sz="2500" b="1" i="1" dirty="0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zh-CN" altLang="en-US" sz="2500" b="1" dirty="0">
                <a:ea typeface="华文新魏" pitchFamily="2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=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21.1</a:t>
            </a:r>
          </a:p>
        </p:txBody>
      </p:sp>
      <p:sp>
        <p:nvSpPr>
          <p:cNvPr id="13347" name="Rectangle 35"/>
          <p:cNvSpPr>
            <a:spLocks noChangeArrowheads="1"/>
          </p:cNvSpPr>
          <p:nvPr/>
        </p:nvSpPr>
        <p:spPr bwMode="auto">
          <a:xfrm>
            <a:off x="4046563" y="2097088"/>
            <a:ext cx="5500688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        </a:t>
            </a:r>
            <a:r>
              <a:rPr lang="zh-CN" altLang="en-US" sz="2500" b="1" u="sng" dirty="0">
                <a:ea typeface="华文新魏" pitchFamily="2" charset="-122"/>
              </a:rPr>
              <a:t>同型配离子</a:t>
            </a:r>
            <a:r>
              <a:rPr lang="en-US" altLang="zh-CN" sz="2500" b="1" dirty="0">
                <a:ea typeface="华文新魏" pitchFamily="2" charset="-122"/>
              </a:rPr>
              <a:t>,</a:t>
            </a:r>
            <a:r>
              <a:rPr lang="zh-CN" altLang="en-US" sz="2500" b="1" dirty="0">
                <a:ea typeface="华文新魏" pitchFamily="2" charset="-122"/>
              </a:rPr>
              <a:t>一般是</a:t>
            </a:r>
            <a:r>
              <a:rPr lang="zh-CN" altLang="en-US" sz="2500" b="1" u="sng" dirty="0">
                <a:ea typeface="华文新魏" pitchFamily="2" charset="-122"/>
              </a:rPr>
              <a:t>稳定性大的配离子先形成</a:t>
            </a:r>
            <a:r>
              <a:rPr lang="en-US" altLang="zh-CN" sz="2500" b="1" dirty="0">
                <a:ea typeface="华文新魏" pitchFamily="2" charset="-122"/>
              </a:rPr>
              <a:t>.</a:t>
            </a:r>
          </a:p>
        </p:txBody>
      </p:sp>
      <p:sp>
        <p:nvSpPr>
          <p:cNvPr id="11271" name="矩形 9"/>
          <p:cNvSpPr>
            <a:spLocks noChangeArrowheads="1"/>
          </p:cNvSpPr>
          <p:nvPr/>
        </p:nvSpPr>
        <p:spPr bwMode="auto">
          <a:xfrm>
            <a:off x="3975100" y="454025"/>
            <a:ext cx="612775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</a:rPr>
              <a:t>:</a:t>
            </a: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45" grpId="0" autoUpdateAnimBg="0"/>
      <p:bldP spid="13346" grpId="0" autoUpdateAnimBg="0"/>
      <p:bldP spid="13347" grpId="0" autoUpdateAnimBg="0"/>
      <p:bldP spid="1127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9" name="Rectangle 19"/>
          <p:cNvSpPr>
            <a:spLocks noChangeArrowheads="1"/>
          </p:cNvSpPr>
          <p:nvPr/>
        </p:nvSpPr>
        <p:spPr bwMode="auto">
          <a:xfrm>
            <a:off x="4117975" y="862021"/>
            <a:ext cx="5886450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500" b="1">
                <a:ea typeface="楷体_GB2312" pitchFamily="49" charset="-122"/>
              </a:rPr>
              <a:t>[Ag(NH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>
                <a:ea typeface="楷体_GB2312" pitchFamily="49" charset="-122"/>
              </a:rPr>
              <a:t>)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]</a:t>
            </a:r>
            <a:r>
              <a:rPr lang="en-US" altLang="zh-CN" sz="2500" b="1" baseline="30000">
                <a:ea typeface="楷体_GB2312" pitchFamily="49" charset="-122"/>
              </a:rPr>
              <a:t>+ </a:t>
            </a:r>
            <a:r>
              <a:rPr lang="en-US" altLang="zh-CN" sz="2500" b="1">
                <a:ea typeface="楷体_GB2312" pitchFamily="49" charset="-122"/>
              </a:rPr>
              <a:t>+ 2CN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</a:rPr>
              <a:t> ⇋ [Ag(CN)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]</a:t>
            </a:r>
            <a:r>
              <a:rPr lang="en-US" altLang="zh-CN" sz="2500" b="1" baseline="30000">
                <a:ea typeface="楷体_GB2312" pitchFamily="49" charset="-122"/>
              </a:rPr>
              <a:t>- </a:t>
            </a:r>
            <a:r>
              <a:rPr lang="en-US" altLang="zh-CN" sz="2500" b="1">
                <a:ea typeface="楷体_GB2312" pitchFamily="49" charset="-122"/>
              </a:rPr>
              <a:t>+ 2NH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</p:txBody>
      </p:sp>
      <p:sp>
        <p:nvSpPr>
          <p:cNvPr id="15380" name="Rectangle 20"/>
          <p:cNvSpPr>
            <a:spLocks noChangeArrowheads="1"/>
          </p:cNvSpPr>
          <p:nvPr/>
        </p:nvSpPr>
        <p:spPr bwMode="auto">
          <a:xfrm>
            <a:off x="4705350" y="1814521"/>
            <a:ext cx="7699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10000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=</a:t>
            </a:r>
          </a:p>
        </p:txBody>
      </p:sp>
      <p:sp>
        <p:nvSpPr>
          <p:cNvPr id="15381" name="Line 21"/>
          <p:cNvSpPr>
            <a:spLocks noChangeShapeType="1"/>
          </p:cNvSpPr>
          <p:nvPr/>
        </p:nvSpPr>
        <p:spPr bwMode="auto">
          <a:xfrm>
            <a:off x="5794375" y="2043121"/>
            <a:ext cx="48974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382" name="Rectangle 22"/>
          <p:cNvSpPr>
            <a:spLocks noChangeArrowheads="1"/>
          </p:cNvSpPr>
          <p:nvPr/>
        </p:nvSpPr>
        <p:spPr bwMode="auto">
          <a:xfrm>
            <a:off x="5886450" y="1508133"/>
            <a:ext cx="25558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[Ag(CN)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][NH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2</a:t>
            </a:r>
          </a:p>
        </p:txBody>
      </p:sp>
      <p:sp>
        <p:nvSpPr>
          <p:cNvPr id="15383" name="Rectangle 23"/>
          <p:cNvSpPr>
            <a:spLocks noChangeArrowheads="1"/>
          </p:cNvSpPr>
          <p:nvPr/>
        </p:nvSpPr>
        <p:spPr bwMode="auto">
          <a:xfrm>
            <a:off x="5794375" y="2087571"/>
            <a:ext cx="2676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[Ag(NH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)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2+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][CN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2</a:t>
            </a:r>
          </a:p>
        </p:txBody>
      </p:sp>
      <p:sp>
        <p:nvSpPr>
          <p:cNvPr id="15384" name="Rectangle 24"/>
          <p:cNvSpPr>
            <a:spLocks noChangeArrowheads="1"/>
          </p:cNvSpPr>
          <p:nvPr/>
        </p:nvSpPr>
        <p:spPr bwMode="auto">
          <a:xfrm>
            <a:off x="9286875" y="1508133"/>
            <a:ext cx="9652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FF00"/>
                </a:solidFill>
                <a:ea typeface="楷体_GB2312" pitchFamily="49" charset="-122"/>
                <a:sym typeface="Webdings" pitchFamily="18" charset="2"/>
              </a:rPr>
              <a:t>[Ag</a:t>
            </a:r>
            <a:r>
              <a:rPr lang="en-US" altLang="zh-CN" sz="2500" b="1" baseline="30000">
                <a:solidFill>
                  <a:srgbClr val="FFFF00"/>
                </a:solidFill>
                <a:ea typeface="楷体_GB2312" pitchFamily="49" charset="-122"/>
                <a:sym typeface="Webdings" pitchFamily="18" charset="2"/>
              </a:rPr>
              <a:t>+</a:t>
            </a:r>
            <a:r>
              <a:rPr lang="en-US" altLang="zh-CN" sz="2500" b="1">
                <a:solidFill>
                  <a:srgbClr val="FFFF00"/>
                </a:solidFill>
                <a:ea typeface="楷体_GB2312" pitchFamily="49" charset="-122"/>
                <a:sym typeface="Webdings" pitchFamily="18" charset="2"/>
              </a:rPr>
              <a:t>]</a:t>
            </a:r>
            <a:r>
              <a:rPr lang="en-US" altLang="zh-CN" sz="2500" b="1" baseline="30000">
                <a:solidFill>
                  <a:srgbClr val="FFFF00"/>
                </a:solidFill>
                <a:ea typeface="楷体_GB2312" pitchFamily="49" charset="-122"/>
                <a:sym typeface="Webdings" pitchFamily="18" charset="2"/>
              </a:rPr>
              <a:t> </a:t>
            </a:r>
          </a:p>
        </p:txBody>
      </p:sp>
      <p:sp>
        <p:nvSpPr>
          <p:cNvPr id="15385" name="Rectangle 25"/>
          <p:cNvSpPr>
            <a:spLocks noChangeArrowheads="1"/>
          </p:cNvSpPr>
          <p:nvPr/>
        </p:nvSpPr>
        <p:spPr bwMode="auto">
          <a:xfrm>
            <a:off x="9377363" y="2087571"/>
            <a:ext cx="9112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FF00"/>
                </a:solidFill>
                <a:ea typeface="楷体_GB2312" pitchFamily="49" charset="-122"/>
                <a:sym typeface="Webdings" pitchFamily="18" charset="2"/>
              </a:rPr>
              <a:t>[Ag</a:t>
            </a:r>
            <a:r>
              <a:rPr lang="en-US" altLang="zh-CN" sz="2500" b="1" baseline="30000">
                <a:solidFill>
                  <a:srgbClr val="FFFF00"/>
                </a:solidFill>
                <a:ea typeface="楷体_GB2312" pitchFamily="49" charset="-122"/>
                <a:sym typeface="Webdings" pitchFamily="18" charset="2"/>
              </a:rPr>
              <a:t>+</a:t>
            </a:r>
            <a:r>
              <a:rPr lang="en-US" altLang="zh-CN" sz="2500" b="1">
                <a:solidFill>
                  <a:srgbClr val="FFFF00"/>
                </a:solidFill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15386" name="Rectangle 26"/>
          <p:cNvSpPr>
            <a:spLocks noChangeArrowheads="1"/>
          </p:cNvSpPr>
          <p:nvPr/>
        </p:nvSpPr>
        <p:spPr bwMode="auto">
          <a:xfrm>
            <a:off x="5260975" y="2647958"/>
            <a:ext cx="5351463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500" b="1">
                <a:ea typeface="楷体_GB2312" pitchFamily="49" charset="-122"/>
              </a:rPr>
              <a:t>= 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>
                <a:ea typeface="楷体_GB2312" pitchFamily="49" charset="-122"/>
              </a:rPr>
              <a:t>[Ag(CN)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]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</a:rPr>
              <a:t>)/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>
                <a:ea typeface="楷体_GB2312" pitchFamily="49" charset="-122"/>
              </a:rPr>
              <a:t>[Ag(NH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>
                <a:ea typeface="楷体_GB2312" pitchFamily="49" charset="-122"/>
              </a:rPr>
              <a:t>)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]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)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</a:t>
            </a:r>
          </a:p>
          <a:p>
            <a:pPr>
              <a:lnSpc>
                <a:spcPct val="130000"/>
              </a:lnSpc>
            </a:pP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= 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10</a:t>
            </a:r>
            <a:r>
              <a:rPr lang="en-US" altLang="zh-CN" sz="2500" b="1" baseline="30000">
                <a:ea typeface="楷体_GB2312" pitchFamily="49" charset="-122"/>
                <a:sym typeface="Symbol" pitchFamily="18" charset="2"/>
              </a:rPr>
              <a:t>21.1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/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10</a:t>
            </a:r>
            <a:r>
              <a:rPr lang="en-US" altLang="zh-CN" sz="2500" b="1" baseline="30000">
                <a:ea typeface="楷体_GB2312" pitchFamily="49" charset="-122"/>
                <a:sym typeface="Symbol" pitchFamily="18" charset="2"/>
              </a:rPr>
              <a:t>7.05 </a:t>
            </a:r>
            <a:r>
              <a:rPr lang="en-US" altLang="zh-CN" sz="2500" b="1">
                <a:ea typeface="楷体_GB2312" pitchFamily="49" charset="-122"/>
              </a:rPr>
              <a:t>= 10</a:t>
            </a:r>
            <a:r>
              <a:rPr lang="en-US" altLang="zh-CN" sz="2500" b="1" baseline="30000">
                <a:ea typeface="楷体_GB2312" pitchFamily="49" charset="-122"/>
              </a:rPr>
              <a:t>14.0</a:t>
            </a:r>
          </a:p>
        </p:txBody>
      </p:sp>
      <p:sp>
        <p:nvSpPr>
          <p:cNvPr id="15396" name="Rectangle 36"/>
          <p:cNvSpPr>
            <a:spLocks noChangeArrowheads="1"/>
          </p:cNvSpPr>
          <p:nvPr/>
        </p:nvSpPr>
        <p:spPr bwMode="auto">
          <a:xfrm>
            <a:off x="4260839" y="3976696"/>
            <a:ext cx="9096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solidFill>
                  <a:srgbClr val="FF00FF"/>
                </a:solidFill>
                <a:ea typeface="华文新魏" pitchFamily="2" charset="-122"/>
              </a:rPr>
              <a:t>结论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13" name="Rectangle 32"/>
          <p:cNvSpPr>
            <a:spLocks noChangeArrowheads="1"/>
          </p:cNvSpPr>
          <p:nvPr/>
        </p:nvSpPr>
        <p:spPr bwMode="auto">
          <a:xfrm>
            <a:off x="260331" y="454025"/>
            <a:ext cx="2857500" cy="307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b="1" dirty="0">
                <a:solidFill>
                  <a:srgbClr val="FFFF00"/>
                </a:solidFill>
                <a:ea typeface="华文新魏" pitchFamily="2" charset="-122"/>
              </a:rPr>
              <a:t>例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</a:rPr>
              <a:t>5:</a:t>
            </a:r>
            <a:r>
              <a:rPr lang="zh-CN" altLang="en-US" sz="2200" b="1" dirty="0">
                <a:ea typeface="华文新魏" pitchFamily="2" charset="-122"/>
              </a:rPr>
              <a:t>在含有</a:t>
            </a:r>
            <a:r>
              <a:rPr lang="en-US" altLang="zh-CN" sz="2200" b="1" dirty="0">
                <a:ea typeface="华文新魏" pitchFamily="2" charset="-122"/>
              </a:rPr>
              <a:t>NH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zh-CN" altLang="en-US" sz="2200" b="1" dirty="0">
                <a:ea typeface="华文新魏" pitchFamily="2" charset="-122"/>
              </a:rPr>
              <a:t>和</a:t>
            </a:r>
            <a:r>
              <a:rPr lang="en-US" altLang="zh-CN" sz="2200" b="1" dirty="0">
                <a:ea typeface="华文新魏" pitchFamily="2" charset="-122"/>
              </a:rPr>
              <a:t>CN</a:t>
            </a:r>
            <a:r>
              <a:rPr lang="en-US" altLang="zh-CN" sz="2200" b="1" baseline="30000" dirty="0">
                <a:ea typeface="华文新魏" pitchFamily="2" charset="-122"/>
              </a:rPr>
              <a:t>-</a:t>
            </a:r>
            <a:r>
              <a:rPr lang="zh-CN" altLang="en-US" sz="2200" b="1" dirty="0">
                <a:ea typeface="华文新魏" pitchFamily="2" charset="-122"/>
              </a:rPr>
              <a:t>的溶液中加入</a:t>
            </a:r>
            <a:r>
              <a:rPr lang="en-US" altLang="zh-CN" sz="2200" b="1" dirty="0">
                <a:ea typeface="华文新魏" pitchFamily="2" charset="-122"/>
              </a:rPr>
              <a:t>Ag</a:t>
            </a:r>
            <a:r>
              <a:rPr lang="en-US" altLang="zh-CN" sz="2200" b="1" baseline="30000" dirty="0">
                <a:ea typeface="华文新魏" pitchFamily="2" charset="-122"/>
              </a:rPr>
              <a:t>+</a:t>
            </a:r>
            <a:r>
              <a:rPr lang="en-US" altLang="zh-CN" sz="2200" b="1" dirty="0">
                <a:ea typeface="华文新魏" pitchFamily="2" charset="-122"/>
              </a:rPr>
              <a:t>,</a:t>
            </a:r>
            <a:r>
              <a:rPr lang="zh-CN" altLang="en-US" sz="2200" b="1" dirty="0">
                <a:ea typeface="华文新魏" pitchFamily="2" charset="-122"/>
              </a:rPr>
              <a:t>可能会形成</a:t>
            </a:r>
            <a:r>
              <a:rPr lang="en-US" altLang="zh-CN" sz="2200" b="1" dirty="0">
                <a:ea typeface="华文新魏" pitchFamily="2" charset="-122"/>
              </a:rPr>
              <a:t>[Ag(NH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en-US" altLang="zh-CN" sz="2200" b="1" dirty="0">
                <a:ea typeface="华文新魏" pitchFamily="2" charset="-122"/>
              </a:rPr>
              <a:t>)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]</a:t>
            </a:r>
            <a:r>
              <a:rPr lang="en-US" altLang="zh-CN" sz="2200" b="1" baseline="30000" dirty="0">
                <a:ea typeface="华文新魏" pitchFamily="2" charset="-122"/>
              </a:rPr>
              <a:t>+</a:t>
            </a:r>
            <a:r>
              <a:rPr lang="zh-CN" altLang="en-US" sz="2200" b="1" dirty="0">
                <a:ea typeface="华文新魏" pitchFamily="2" charset="-122"/>
              </a:rPr>
              <a:t>和</a:t>
            </a:r>
            <a:r>
              <a:rPr lang="en-US" altLang="zh-CN" sz="2200" b="1" dirty="0">
                <a:ea typeface="华文新魏" pitchFamily="2" charset="-122"/>
              </a:rPr>
              <a:t>[Ag(CN)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]</a:t>
            </a:r>
            <a:r>
              <a:rPr lang="en-US" altLang="zh-CN" sz="2200" b="1" baseline="30000" dirty="0">
                <a:ea typeface="华文新魏" pitchFamily="2" charset="-122"/>
              </a:rPr>
              <a:t>-</a:t>
            </a:r>
            <a:r>
              <a:rPr lang="en-US" altLang="zh-CN" sz="2200" b="1" dirty="0">
                <a:ea typeface="华文新魏" pitchFamily="2" charset="-122"/>
              </a:rPr>
              <a:t>. 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  <a:sym typeface="Monotype Sorts" pitchFamily="2" charset="2"/>
              </a:rPr>
              <a:t>①</a:t>
            </a:r>
            <a:r>
              <a:rPr lang="zh-CN" altLang="en-US" sz="2200" b="1" dirty="0">
                <a:ea typeface="华文新魏" pitchFamily="2" charset="-122"/>
              </a:rPr>
              <a:t>试问哪种配离子先形成</a:t>
            </a:r>
            <a:r>
              <a:rPr lang="en-US" altLang="zh-CN" sz="2200" b="1" dirty="0">
                <a:ea typeface="华文新魏" pitchFamily="2" charset="-122"/>
              </a:rPr>
              <a:t>? 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  <a:sym typeface="Monotype Sorts" pitchFamily="2" charset="2"/>
              </a:rPr>
              <a:t>②</a:t>
            </a:r>
            <a:r>
              <a:rPr lang="zh-CN" altLang="en-US" sz="2200" b="1" dirty="0">
                <a:ea typeface="华文新魏" pitchFamily="2" charset="-122"/>
              </a:rPr>
              <a:t>若在</a:t>
            </a:r>
            <a:r>
              <a:rPr lang="en-US" altLang="zh-CN" sz="2200" b="1" dirty="0">
                <a:ea typeface="华文新魏" pitchFamily="2" charset="-122"/>
              </a:rPr>
              <a:t>[Ag(NH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en-US" altLang="zh-CN" sz="2200" b="1" dirty="0">
                <a:ea typeface="华文新魏" pitchFamily="2" charset="-122"/>
              </a:rPr>
              <a:t>)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]</a:t>
            </a:r>
            <a:r>
              <a:rPr lang="en-US" altLang="zh-CN" sz="2200" b="1" baseline="30000" dirty="0">
                <a:ea typeface="华文新魏" pitchFamily="2" charset="-122"/>
              </a:rPr>
              <a:t>+</a:t>
            </a:r>
            <a:r>
              <a:rPr lang="zh-CN" altLang="en-US" sz="2200" b="1" dirty="0">
                <a:ea typeface="华文新魏" pitchFamily="2" charset="-122"/>
              </a:rPr>
              <a:t>溶液中加入</a:t>
            </a:r>
            <a:r>
              <a:rPr lang="en-US" altLang="zh-CN" sz="2200" b="1" dirty="0">
                <a:ea typeface="华文新魏" pitchFamily="2" charset="-122"/>
              </a:rPr>
              <a:t>KCN,</a:t>
            </a:r>
            <a:r>
              <a:rPr lang="zh-CN" altLang="en-US" sz="2200" b="1" dirty="0">
                <a:ea typeface="华文新魏" pitchFamily="2" charset="-122"/>
              </a:rPr>
              <a:t>问否能发生配离子的转化</a:t>
            </a:r>
            <a:r>
              <a:rPr lang="en-US" altLang="zh-CN" sz="2200" b="1" dirty="0">
                <a:ea typeface="华文新魏" pitchFamily="2" charset="-122"/>
              </a:rPr>
              <a:t>?</a:t>
            </a:r>
          </a:p>
        </p:txBody>
      </p:sp>
      <p:sp>
        <p:nvSpPr>
          <p:cNvPr id="14" name="矩形 9"/>
          <p:cNvSpPr>
            <a:spLocks noChangeArrowheads="1"/>
          </p:cNvSpPr>
          <p:nvPr/>
        </p:nvSpPr>
        <p:spPr bwMode="auto">
          <a:xfrm>
            <a:off x="3975100" y="454025"/>
            <a:ext cx="612775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</a:rPr>
              <a:t>:</a:t>
            </a: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53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53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53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53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5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5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53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9" grpId="0" autoUpdateAnimBg="0"/>
      <p:bldP spid="15380" grpId="0" autoUpdateAnimBg="0"/>
      <p:bldP spid="15381" grpId="0" animBg="1"/>
      <p:bldP spid="15382" grpId="0" autoUpdateAnimBg="0"/>
      <p:bldP spid="15383" grpId="0" autoUpdateAnimBg="0"/>
      <p:bldP spid="15384" grpId="0" autoUpdateAnimBg="0"/>
      <p:bldP spid="15385" grpId="0" autoUpdateAnimBg="0"/>
      <p:bldP spid="15386" grpId="0" build="p" autoUpdateAnimBg="0"/>
      <p:bldP spid="1539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1" name="Text Box 23"/>
          <p:cNvSpPr txBox="1">
            <a:spLocks noChangeArrowheads="1"/>
          </p:cNvSpPr>
          <p:nvPr/>
        </p:nvSpPr>
        <p:spPr bwMode="auto">
          <a:xfrm>
            <a:off x="331768" y="382588"/>
            <a:ext cx="2714625" cy="32908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200" b="1" dirty="0">
                <a:solidFill>
                  <a:srgbClr val="FFFF00"/>
                </a:solidFill>
                <a:ea typeface="华文新魏" pitchFamily="2" charset="-122"/>
              </a:rPr>
              <a:t>例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</a:rPr>
              <a:t>6</a:t>
            </a:r>
            <a:r>
              <a:rPr lang="en-US" altLang="zh-CN" sz="2200" b="1" dirty="0" smtClean="0">
                <a:solidFill>
                  <a:srgbClr val="FFFF00"/>
                </a:solidFill>
                <a:ea typeface="华文新魏" pitchFamily="2" charset="-122"/>
              </a:rPr>
              <a:t>:  </a:t>
            </a:r>
            <a:r>
              <a:rPr lang="en-US" altLang="zh-CN" sz="2200" b="1" dirty="0" smtClean="0">
                <a:solidFill>
                  <a:srgbClr val="FFFFFF"/>
                </a:solidFill>
                <a:ea typeface="华文新魏" pitchFamily="2" charset="-122"/>
              </a:rPr>
              <a:t>25</a:t>
            </a:r>
            <a:r>
              <a:rPr lang="en-US" altLang="zh-CN" sz="2200" b="1" dirty="0">
                <a:ea typeface="华文新魏" pitchFamily="2" charset="-122"/>
              </a:rPr>
              <a:t>℃</a:t>
            </a:r>
            <a:r>
              <a:rPr lang="zh-CN" altLang="en-US" sz="2200" b="1" dirty="0">
                <a:ea typeface="华文新魏" pitchFamily="2" charset="-122"/>
              </a:rPr>
              <a:t>时</a:t>
            </a:r>
            <a:r>
              <a:rPr lang="en-US" altLang="zh-CN" sz="2200" b="1" dirty="0">
                <a:ea typeface="华文新魏" pitchFamily="2" charset="-122"/>
              </a:rPr>
              <a:t>[Ag(NH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en-US" altLang="zh-CN" sz="2200" b="1" dirty="0">
                <a:ea typeface="华文新魏" pitchFamily="2" charset="-122"/>
              </a:rPr>
              <a:t>)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]</a:t>
            </a:r>
            <a:r>
              <a:rPr lang="en-US" altLang="zh-CN" sz="2200" b="1" baseline="30000" dirty="0">
                <a:ea typeface="华文新魏" pitchFamily="2" charset="-122"/>
              </a:rPr>
              <a:t>+</a:t>
            </a:r>
            <a:r>
              <a:rPr lang="zh-CN" altLang="en-US" sz="2200" b="1" dirty="0">
                <a:ea typeface="华文新魏" pitchFamily="2" charset="-122"/>
              </a:rPr>
              <a:t>溶液中</a:t>
            </a:r>
            <a:r>
              <a:rPr lang="en-US" altLang="zh-CN" sz="2200" b="1" i="1" dirty="0">
                <a:ea typeface="华文新魏" pitchFamily="2" charset="-122"/>
              </a:rPr>
              <a:t>c</a:t>
            </a:r>
            <a:r>
              <a:rPr lang="en-US" altLang="zh-CN" sz="2200" b="1" dirty="0">
                <a:ea typeface="华文新魏" pitchFamily="2" charset="-122"/>
              </a:rPr>
              <a:t>([Ag(NH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en-US" altLang="zh-CN" sz="2200" b="1" dirty="0">
                <a:ea typeface="华文新魏" pitchFamily="2" charset="-122"/>
              </a:rPr>
              <a:t>)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]</a:t>
            </a:r>
            <a:r>
              <a:rPr lang="en-US" altLang="zh-CN" sz="2200" b="1" baseline="30000" dirty="0">
                <a:ea typeface="华文新魏" pitchFamily="2" charset="-122"/>
              </a:rPr>
              <a:t>+</a:t>
            </a:r>
            <a:r>
              <a:rPr lang="en-US" altLang="zh-CN" sz="2200" b="1" dirty="0">
                <a:ea typeface="华文新魏" pitchFamily="2" charset="-122"/>
              </a:rPr>
              <a:t>) = 0.10 mol·L</a:t>
            </a:r>
            <a:r>
              <a:rPr lang="en-US" altLang="zh-CN" sz="2200" b="1" baseline="30000" dirty="0">
                <a:ea typeface="华文新魏" pitchFamily="2" charset="-122"/>
              </a:rPr>
              <a:t>-1</a:t>
            </a:r>
            <a:r>
              <a:rPr lang="en-US" altLang="zh-CN" sz="2200" b="1" dirty="0">
                <a:ea typeface="华文新魏" pitchFamily="2" charset="-122"/>
              </a:rPr>
              <a:t>, </a:t>
            </a:r>
            <a:r>
              <a:rPr lang="en-US" altLang="zh-CN" sz="2200" b="1" i="1" dirty="0">
                <a:ea typeface="华文新魏" pitchFamily="2" charset="-122"/>
              </a:rPr>
              <a:t>c</a:t>
            </a:r>
            <a:r>
              <a:rPr lang="en-US" altLang="zh-CN" sz="2200" b="1" dirty="0">
                <a:ea typeface="华文新魏" pitchFamily="2" charset="-122"/>
              </a:rPr>
              <a:t>(NH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en-US" altLang="zh-CN" sz="2200" b="1" dirty="0">
                <a:ea typeface="华文新魏" pitchFamily="2" charset="-122"/>
              </a:rPr>
              <a:t>) = 1.0 mol·L</a:t>
            </a:r>
            <a:r>
              <a:rPr lang="en-US" altLang="zh-CN" sz="2200" b="1" baseline="30000" dirty="0">
                <a:ea typeface="华文新魏" pitchFamily="2" charset="-122"/>
              </a:rPr>
              <a:t>-1</a:t>
            </a:r>
            <a:r>
              <a:rPr lang="en-US" altLang="zh-CN" sz="2200" b="1" dirty="0">
                <a:ea typeface="华文新魏" pitchFamily="2" charset="-122"/>
              </a:rPr>
              <a:t>. </a:t>
            </a:r>
            <a:r>
              <a:rPr lang="zh-CN" altLang="en-US" sz="2200" b="1" dirty="0">
                <a:ea typeface="华文新魏" pitchFamily="2" charset="-122"/>
              </a:rPr>
              <a:t>现加入</a:t>
            </a:r>
            <a:r>
              <a:rPr lang="en-US" altLang="zh-CN" sz="2200" b="1" dirty="0">
                <a:ea typeface="华文新魏" pitchFamily="2" charset="-122"/>
              </a:rPr>
              <a:t>Na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S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ea typeface="华文新魏" pitchFamily="2" charset="-122"/>
              </a:rPr>
              <a:t>3 </a:t>
            </a:r>
            <a:r>
              <a:rPr lang="en-US" altLang="zh-CN" sz="2200" b="1" dirty="0">
                <a:ea typeface="华文新魏" pitchFamily="2" charset="-122"/>
              </a:rPr>
              <a:t>, </a:t>
            </a:r>
            <a:r>
              <a:rPr lang="zh-CN" altLang="en-US" sz="2200" b="1" dirty="0">
                <a:ea typeface="华文新魏" pitchFamily="2" charset="-122"/>
              </a:rPr>
              <a:t>使</a:t>
            </a:r>
            <a:r>
              <a:rPr lang="en-US" altLang="zh-CN" sz="2200" b="1" i="1" dirty="0">
                <a:ea typeface="华文新魏" pitchFamily="2" charset="-122"/>
              </a:rPr>
              <a:t>c</a:t>
            </a:r>
            <a:r>
              <a:rPr lang="en-US" altLang="zh-CN" sz="2200" b="1" dirty="0">
                <a:ea typeface="华文新魏" pitchFamily="2" charset="-122"/>
              </a:rPr>
              <a:t>(S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en-US" altLang="zh-CN" sz="2200" b="1" baseline="30000" dirty="0">
                <a:ea typeface="华文新魏" pitchFamily="2" charset="-122"/>
              </a:rPr>
              <a:t>2-</a:t>
            </a:r>
            <a:r>
              <a:rPr lang="en-US" altLang="zh-CN" sz="2200" b="1" dirty="0">
                <a:ea typeface="华文新魏" pitchFamily="2" charset="-122"/>
              </a:rPr>
              <a:t>) = 1.0 mol·L</a:t>
            </a:r>
            <a:r>
              <a:rPr lang="en-US" altLang="zh-CN" sz="2200" b="1" baseline="30000" dirty="0">
                <a:ea typeface="华文新魏" pitchFamily="2" charset="-122"/>
              </a:rPr>
              <a:t>-1</a:t>
            </a:r>
            <a:r>
              <a:rPr lang="en-US" altLang="zh-CN" sz="2200" b="1" dirty="0">
                <a:ea typeface="华文新魏" pitchFamily="2" charset="-122"/>
              </a:rPr>
              <a:t>.</a:t>
            </a:r>
            <a:r>
              <a:rPr lang="zh-CN" altLang="en-US" sz="2200" b="1" dirty="0">
                <a:ea typeface="华文新魏" pitchFamily="2" charset="-122"/>
              </a:rPr>
              <a:t>计算平衡时溶液中</a:t>
            </a:r>
            <a:r>
              <a:rPr lang="en-US" altLang="zh-CN" sz="2200" b="1" dirty="0">
                <a:ea typeface="华文新魏" pitchFamily="2" charset="-122"/>
              </a:rPr>
              <a:t>NH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zh-CN" altLang="en-US" sz="2200" b="1" dirty="0">
                <a:ea typeface="华文新魏" pitchFamily="2" charset="-122"/>
              </a:rPr>
              <a:t>、</a:t>
            </a:r>
            <a:r>
              <a:rPr lang="en-US" altLang="zh-CN" sz="2200" b="1" dirty="0">
                <a:ea typeface="华文新魏" pitchFamily="2" charset="-122"/>
              </a:rPr>
              <a:t>[Ag(NH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en-US" altLang="zh-CN" sz="2200" b="1" dirty="0">
                <a:ea typeface="华文新魏" pitchFamily="2" charset="-122"/>
              </a:rPr>
              <a:t>)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]</a:t>
            </a:r>
            <a:r>
              <a:rPr lang="en-US" altLang="zh-CN" sz="2200" b="1" baseline="30000" dirty="0">
                <a:ea typeface="华文新魏" pitchFamily="2" charset="-122"/>
              </a:rPr>
              <a:t>+</a:t>
            </a:r>
            <a:r>
              <a:rPr lang="zh-CN" altLang="en-US" sz="2200" b="1" dirty="0">
                <a:ea typeface="华文新魏" pitchFamily="2" charset="-122"/>
              </a:rPr>
              <a:t>的浓度</a:t>
            </a:r>
            <a:r>
              <a:rPr lang="en-US" altLang="zh-CN" sz="2200" b="1" dirty="0">
                <a:ea typeface="华文新魏" pitchFamily="2" charset="-122"/>
              </a:rPr>
              <a:t>.</a:t>
            </a:r>
          </a:p>
        </p:txBody>
      </p:sp>
      <p:sp>
        <p:nvSpPr>
          <p:cNvPr id="17432" name="Rectangle 24"/>
          <p:cNvSpPr>
            <a:spLocks noChangeArrowheads="1"/>
          </p:cNvSpPr>
          <p:nvPr/>
        </p:nvSpPr>
        <p:spPr bwMode="auto">
          <a:xfrm>
            <a:off x="3975087" y="882650"/>
            <a:ext cx="6500497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 smtClean="0">
                <a:ea typeface="华文新魏" pitchFamily="2" charset="-122"/>
              </a:rPr>
              <a:t>        由</a:t>
            </a:r>
            <a:r>
              <a:rPr lang="zh-CN" altLang="en-US" sz="2500" b="1" dirty="0">
                <a:ea typeface="华文新魏" pitchFamily="2" charset="-122"/>
              </a:rPr>
              <a:t>附录可查得</a:t>
            </a:r>
            <a:r>
              <a:rPr lang="en-US" altLang="zh-CN" sz="2500" b="1" dirty="0">
                <a:ea typeface="华文新魏" pitchFamily="2" charset="-122"/>
              </a:rPr>
              <a:t>: [Ag(NH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)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]</a:t>
            </a:r>
            <a:r>
              <a:rPr lang="en-US" altLang="zh-CN" sz="2500" b="1" baseline="30000" dirty="0">
                <a:ea typeface="华文新魏" pitchFamily="2" charset="-122"/>
              </a:rPr>
              <a:t>+ </a:t>
            </a:r>
            <a:r>
              <a:rPr lang="en-US" altLang="zh-CN" sz="2500" b="1" i="1" dirty="0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zh-CN" altLang="en-US" sz="2500" b="1" dirty="0">
                <a:ea typeface="华文新魏" pitchFamily="2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=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7.05</a:t>
            </a:r>
            <a:r>
              <a:rPr lang="en-US" altLang="zh-CN" sz="2500" b="1" baseline="30000" dirty="0">
                <a:ea typeface="华文新魏" pitchFamily="2" charset="-122"/>
              </a:rPr>
              <a:t> </a:t>
            </a:r>
          </a:p>
          <a:p>
            <a:r>
              <a:rPr lang="en-US" altLang="zh-CN" sz="2500" b="1" dirty="0">
                <a:ea typeface="华文新魏" pitchFamily="2" charset="-122"/>
              </a:rPr>
              <a:t>                           </a:t>
            </a:r>
            <a:r>
              <a:rPr lang="en-US" altLang="zh-CN" sz="2500" b="1" dirty="0" smtClean="0">
                <a:ea typeface="华文新魏" pitchFamily="2" charset="-122"/>
              </a:rPr>
              <a:t>        [</a:t>
            </a:r>
            <a:r>
              <a:rPr lang="en-US" altLang="zh-CN" sz="2500" b="1" dirty="0">
                <a:ea typeface="华文新魏" pitchFamily="2" charset="-122"/>
              </a:rPr>
              <a:t>Ag(S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O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)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]</a:t>
            </a:r>
            <a:r>
              <a:rPr lang="en-US" altLang="zh-CN" sz="2500" b="1" baseline="30000" dirty="0">
                <a:ea typeface="华文新魏" pitchFamily="2" charset="-122"/>
              </a:rPr>
              <a:t>3- </a:t>
            </a:r>
            <a:r>
              <a:rPr lang="en-US" altLang="zh-CN" sz="2500" b="1" i="1" dirty="0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zh-CN" altLang="en-US" sz="2500" b="1" dirty="0">
                <a:ea typeface="华文新魏" pitchFamily="2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=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13.46</a:t>
            </a:r>
          </a:p>
        </p:txBody>
      </p:sp>
      <p:sp>
        <p:nvSpPr>
          <p:cNvPr id="17440" name="Rectangle 32"/>
          <p:cNvSpPr>
            <a:spLocks noChangeArrowheads="1"/>
          </p:cNvSpPr>
          <p:nvPr/>
        </p:nvSpPr>
        <p:spPr bwMode="auto">
          <a:xfrm>
            <a:off x="5189538" y="1954213"/>
            <a:ext cx="5781675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200" b="1">
                <a:ea typeface="华文新魏" pitchFamily="2" charset="-122"/>
              </a:rPr>
              <a:t>[Ag(NH</a:t>
            </a:r>
            <a:r>
              <a:rPr lang="en-US" altLang="zh-CN" sz="2200" b="1" baseline="-25000">
                <a:ea typeface="华文新魏" pitchFamily="2" charset="-122"/>
              </a:rPr>
              <a:t>3</a:t>
            </a:r>
            <a:r>
              <a:rPr lang="en-US" altLang="zh-CN" sz="2200" b="1">
                <a:ea typeface="华文新魏" pitchFamily="2" charset="-122"/>
              </a:rPr>
              <a:t>)</a:t>
            </a:r>
            <a:r>
              <a:rPr lang="en-US" altLang="zh-CN" sz="2200" b="1" baseline="-25000">
                <a:ea typeface="华文新魏" pitchFamily="2" charset="-122"/>
              </a:rPr>
              <a:t>2</a:t>
            </a:r>
            <a:r>
              <a:rPr lang="en-US" altLang="zh-CN" sz="2200" b="1">
                <a:ea typeface="华文新魏" pitchFamily="2" charset="-122"/>
              </a:rPr>
              <a:t>]</a:t>
            </a:r>
            <a:r>
              <a:rPr lang="en-US" altLang="zh-CN" sz="2200" b="1" baseline="30000">
                <a:ea typeface="华文新魏" pitchFamily="2" charset="-122"/>
              </a:rPr>
              <a:t>+ </a:t>
            </a:r>
            <a:r>
              <a:rPr lang="en-US" altLang="zh-CN" sz="2200" b="1">
                <a:ea typeface="华文新魏" pitchFamily="2" charset="-122"/>
              </a:rPr>
              <a:t>+ 2S</a:t>
            </a:r>
            <a:r>
              <a:rPr lang="en-US" altLang="zh-CN" sz="2200" b="1" baseline="-25000">
                <a:ea typeface="华文新魏" pitchFamily="2" charset="-122"/>
              </a:rPr>
              <a:t>2</a:t>
            </a:r>
            <a:r>
              <a:rPr lang="en-US" altLang="zh-CN" sz="2200" b="1">
                <a:ea typeface="华文新魏" pitchFamily="2" charset="-122"/>
              </a:rPr>
              <a:t>O</a:t>
            </a:r>
            <a:r>
              <a:rPr lang="en-US" altLang="zh-CN" sz="2200" b="1" baseline="-25000">
                <a:ea typeface="华文新魏" pitchFamily="2" charset="-122"/>
              </a:rPr>
              <a:t>3</a:t>
            </a:r>
            <a:r>
              <a:rPr lang="en-US" altLang="zh-CN" sz="2200" b="1" baseline="30000">
                <a:ea typeface="华文新魏" pitchFamily="2" charset="-122"/>
              </a:rPr>
              <a:t>2</a:t>
            </a:r>
            <a:r>
              <a:rPr lang="en-US" altLang="zh-CN" sz="2200" b="1">
                <a:ea typeface="华文新魏" pitchFamily="2" charset="-122"/>
              </a:rPr>
              <a:t> </a:t>
            </a:r>
            <a:r>
              <a:rPr lang="en-US" altLang="zh-CN" sz="2200" b="1" baseline="30000">
                <a:ea typeface="华文新魏" pitchFamily="2" charset="-122"/>
              </a:rPr>
              <a:t>-  </a:t>
            </a:r>
            <a:r>
              <a:rPr lang="en-US" altLang="zh-CN" sz="2200" b="1">
                <a:ea typeface="华文新魏" pitchFamily="2" charset="-122"/>
              </a:rPr>
              <a:t>⇋  [Ag(S</a:t>
            </a:r>
            <a:r>
              <a:rPr lang="en-US" altLang="zh-CN" sz="2200" b="1" baseline="-25000">
                <a:ea typeface="华文新魏" pitchFamily="2" charset="-122"/>
              </a:rPr>
              <a:t>2</a:t>
            </a:r>
            <a:r>
              <a:rPr lang="en-US" altLang="zh-CN" sz="2200" b="1">
                <a:ea typeface="华文新魏" pitchFamily="2" charset="-122"/>
              </a:rPr>
              <a:t>O</a:t>
            </a:r>
            <a:r>
              <a:rPr lang="en-US" altLang="zh-CN" sz="2200" b="1" baseline="-25000">
                <a:ea typeface="华文新魏" pitchFamily="2" charset="-122"/>
              </a:rPr>
              <a:t>3</a:t>
            </a:r>
            <a:r>
              <a:rPr lang="en-US" altLang="zh-CN" sz="2200" b="1">
                <a:ea typeface="华文新魏" pitchFamily="2" charset="-122"/>
              </a:rPr>
              <a:t>)</a:t>
            </a:r>
            <a:r>
              <a:rPr lang="en-US" altLang="zh-CN" sz="2200" b="1" baseline="-25000">
                <a:ea typeface="华文新魏" pitchFamily="2" charset="-122"/>
              </a:rPr>
              <a:t>2</a:t>
            </a:r>
            <a:r>
              <a:rPr lang="en-US" altLang="zh-CN" sz="2200" b="1">
                <a:ea typeface="华文新魏" pitchFamily="2" charset="-122"/>
              </a:rPr>
              <a:t>]</a:t>
            </a:r>
            <a:r>
              <a:rPr lang="en-US" altLang="zh-CN" sz="2200" b="1" baseline="30000">
                <a:ea typeface="华文新魏" pitchFamily="2" charset="-122"/>
              </a:rPr>
              <a:t>3- </a:t>
            </a:r>
            <a:r>
              <a:rPr lang="en-US" altLang="zh-CN" sz="2200" b="1">
                <a:ea typeface="华文新魏" pitchFamily="2" charset="-122"/>
              </a:rPr>
              <a:t>+ 2NH</a:t>
            </a:r>
            <a:r>
              <a:rPr lang="en-US" altLang="zh-CN" sz="2200" b="1" baseline="-25000">
                <a:ea typeface="华文新魏" pitchFamily="2" charset="-122"/>
              </a:rPr>
              <a:t>3</a:t>
            </a:r>
          </a:p>
        </p:txBody>
      </p:sp>
      <p:sp>
        <p:nvSpPr>
          <p:cNvPr id="17441" name="Text Box 33"/>
          <p:cNvSpPr txBox="1">
            <a:spLocks noChangeArrowheads="1"/>
          </p:cNvSpPr>
          <p:nvPr/>
        </p:nvSpPr>
        <p:spPr bwMode="auto">
          <a:xfrm>
            <a:off x="3832225" y="2311400"/>
            <a:ext cx="2400300" cy="102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</a:rPr>
              <a:t>反应前</a:t>
            </a:r>
            <a:r>
              <a:rPr lang="en-US" altLang="zh-CN" sz="2500" b="1" i="1">
                <a:solidFill>
                  <a:srgbClr val="FFFF00"/>
                </a:solidFill>
                <a:ea typeface="华文新魏" pitchFamily="2" charset="-122"/>
              </a:rPr>
              <a:t>c</a:t>
            </a:r>
          </a:p>
          <a:p>
            <a:pPr>
              <a:lnSpc>
                <a:spcPct val="125000"/>
              </a:lnSpc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</a:rPr>
              <a:t>平衡时</a:t>
            </a:r>
            <a:r>
              <a:rPr lang="en-US" altLang="zh-CN" sz="2500" b="1" i="1">
                <a:solidFill>
                  <a:srgbClr val="FFFF00"/>
                </a:solidFill>
                <a:ea typeface="华文新魏" pitchFamily="2" charset="-122"/>
              </a:rPr>
              <a:t>c</a:t>
            </a:r>
            <a:endParaRPr lang="en-US" altLang="zh-CN" sz="2500" b="1" baseline="3000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17442" name="Rectangle 34"/>
          <p:cNvSpPr>
            <a:spLocks noChangeArrowheads="1"/>
          </p:cNvSpPr>
          <p:nvPr/>
        </p:nvSpPr>
        <p:spPr bwMode="auto">
          <a:xfrm>
            <a:off x="5403850" y="2382838"/>
            <a:ext cx="5554663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华文新魏" pitchFamily="2" charset="-122"/>
              </a:rPr>
              <a:t>0.10                1.0                  0             1.0</a:t>
            </a:r>
            <a:endParaRPr lang="en-US" altLang="zh-CN" sz="2500" b="1" i="1">
              <a:ea typeface="华文新魏" pitchFamily="2" charset="-122"/>
            </a:endParaRPr>
          </a:p>
        </p:txBody>
      </p:sp>
      <p:sp>
        <p:nvSpPr>
          <p:cNvPr id="17443" name="Rectangle 35"/>
          <p:cNvSpPr>
            <a:spLocks noChangeArrowheads="1"/>
          </p:cNvSpPr>
          <p:nvPr/>
        </p:nvSpPr>
        <p:spPr bwMode="auto">
          <a:xfrm>
            <a:off x="5546725" y="2882900"/>
            <a:ext cx="3460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华文新魏" pitchFamily="2" charset="-122"/>
              </a:rPr>
              <a:t>x</a:t>
            </a:r>
          </a:p>
        </p:txBody>
      </p:sp>
      <p:sp>
        <p:nvSpPr>
          <p:cNvPr id="17444" name="Rectangle 36"/>
          <p:cNvSpPr>
            <a:spLocks noChangeArrowheads="1"/>
          </p:cNvSpPr>
          <p:nvPr/>
        </p:nvSpPr>
        <p:spPr bwMode="auto">
          <a:xfrm>
            <a:off x="6975475" y="2882900"/>
            <a:ext cx="1249363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0.80+2</a:t>
            </a:r>
            <a:r>
              <a:rPr lang="en-US" altLang="zh-CN" sz="2500" b="1" i="1" dirty="0">
                <a:ea typeface="华文新魏" pitchFamily="2" charset="-122"/>
              </a:rPr>
              <a:t>x</a:t>
            </a:r>
          </a:p>
        </p:txBody>
      </p:sp>
      <p:sp>
        <p:nvSpPr>
          <p:cNvPr id="17445" name="Rectangle 37"/>
          <p:cNvSpPr>
            <a:spLocks noChangeArrowheads="1"/>
          </p:cNvSpPr>
          <p:nvPr/>
        </p:nvSpPr>
        <p:spPr bwMode="auto">
          <a:xfrm>
            <a:off x="8547100" y="2882900"/>
            <a:ext cx="109378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华文新魏" pitchFamily="2" charset="-122"/>
              </a:rPr>
              <a:t>0. 10-</a:t>
            </a:r>
            <a:r>
              <a:rPr lang="en-US" altLang="zh-CN" sz="2500" b="1" i="1">
                <a:ea typeface="华文新魏" pitchFamily="2" charset="-122"/>
              </a:rPr>
              <a:t>x</a:t>
            </a:r>
          </a:p>
        </p:txBody>
      </p:sp>
      <p:sp>
        <p:nvSpPr>
          <p:cNvPr id="17446" name="Rectangle 38"/>
          <p:cNvSpPr>
            <a:spLocks noChangeArrowheads="1"/>
          </p:cNvSpPr>
          <p:nvPr/>
        </p:nvSpPr>
        <p:spPr bwMode="auto">
          <a:xfrm>
            <a:off x="9904413" y="2882900"/>
            <a:ext cx="10128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500" b="1">
                <a:ea typeface="华文新魏" pitchFamily="2" charset="-122"/>
              </a:rPr>
              <a:t>1.2-2</a:t>
            </a:r>
            <a:r>
              <a:rPr lang="en-US" altLang="zh-CN" sz="2500" b="1" i="1">
                <a:ea typeface="华文新魏" pitchFamily="2" charset="-122"/>
              </a:rPr>
              <a:t>x</a:t>
            </a:r>
          </a:p>
        </p:txBody>
      </p:sp>
      <p:sp>
        <p:nvSpPr>
          <p:cNvPr id="17450" name="Rectangle 42"/>
          <p:cNvSpPr>
            <a:spLocks noChangeArrowheads="1"/>
          </p:cNvSpPr>
          <p:nvPr/>
        </p:nvSpPr>
        <p:spPr bwMode="auto">
          <a:xfrm>
            <a:off x="4046538" y="3525838"/>
            <a:ext cx="4354512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500" b="1" dirty="0">
                <a:ea typeface="华文新魏" pitchFamily="2" charset="-122"/>
              </a:rPr>
              <a:t>[NH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]</a:t>
            </a:r>
            <a:r>
              <a:rPr lang="en-US" altLang="zh-CN" sz="2500" b="1" baseline="30000" dirty="0">
                <a:ea typeface="华文新魏" pitchFamily="2" charset="-122"/>
              </a:rPr>
              <a:t>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≈</a:t>
            </a:r>
            <a:r>
              <a:rPr lang="en-US" altLang="zh-CN" sz="2500" b="1" baseline="30000" dirty="0">
                <a:ea typeface="华文新魏" pitchFamily="2" charset="-122"/>
              </a:rPr>
              <a:t> </a:t>
            </a:r>
            <a:r>
              <a:rPr lang="en-US" altLang="zh-CN" sz="2500" b="1" dirty="0">
                <a:ea typeface="华文新魏" pitchFamily="2" charset="-122"/>
              </a:rPr>
              <a:t>1.2 mol·L</a:t>
            </a:r>
            <a:r>
              <a:rPr lang="en-US" altLang="zh-CN" sz="2500" b="1" baseline="30000" dirty="0">
                <a:ea typeface="华文新魏" pitchFamily="2" charset="-122"/>
              </a:rPr>
              <a:t>-1</a:t>
            </a:r>
            <a:r>
              <a:rPr lang="en-US" altLang="zh-CN" sz="2500" b="1" dirty="0">
                <a:ea typeface="华文新魏" pitchFamily="2" charset="-122"/>
              </a:rPr>
              <a:t> </a:t>
            </a:r>
          </a:p>
        </p:txBody>
      </p:sp>
      <p:sp>
        <p:nvSpPr>
          <p:cNvPr id="13324" name="矩形 19"/>
          <p:cNvSpPr>
            <a:spLocks noChangeArrowheads="1"/>
          </p:cNvSpPr>
          <p:nvPr/>
        </p:nvSpPr>
        <p:spPr bwMode="auto">
          <a:xfrm>
            <a:off x="3903663" y="382588"/>
            <a:ext cx="612775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500" b="1" dirty="0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</a:rPr>
              <a:t>:</a:t>
            </a: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7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74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4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4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4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4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4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7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32" grpId="0" autoUpdateAnimBg="0"/>
      <p:bldP spid="17440" grpId="0" autoUpdateAnimBg="0"/>
      <p:bldP spid="17441" grpId="0" autoUpdateAnimBg="0"/>
      <p:bldP spid="17442" grpId="0" autoUpdateAnimBg="0"/>
      <p:bldP spid="17443" grpId="0" autoUpdateAnimBg="0"/>
      <p:bldP spid="17444" grpId="0" autoUpdateAnimBg="0"/>
      <p:bldP spid="17445" grpId="0" autoUpdateAnimBg="0"/>
      <p:bldP spid="17446" grpId="0" autoUpdateAnimBg="0"/>
      <p:bldP spid="17450" grpId="0" build="p" autoUpdateAnimBg="0"/>
      <p:bldP spid="133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9" name="Rectangle 23"/>
          <p:cNvSpPr>
            <a:spLocks noChangeArrowheads="1"/>
          </p:cNvSpPr>
          <p:nvPr/>
        </p:nvSpPr>
        <p:spPr bwMode="auto">
          <a:xfrm>
            <a:off x="4260850" y="3454400"/>
            <a:ext cx="5357813" cy="55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500" b="1" i="1" dirty="0">
                <a:ea typeface="楷体_GB2312" pitchFamily="49" charset="-122"/>
              </a:rPr>
              <a:t>x</a:t>
            </a:r>
            <a:r>
              <a:rPr lang="en-US" altLang="zh-CN" sz="2500" b="1" dirty="0">
                <a:ea typeface="楷体_GB2312" pitchFamily="49" charset="-122"/>
              </a:rPr>
              <a:t> = 8.0 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10</a:t>
            </a:r>
            <a:r>
              <a:rPr lang="en-US" altLang="zh-CN" sz="2500" b="1" baseline="30000" dirty="0">
                <a:ea typeface="楷体_GB2312" pitchFamily="49" charset="-122"/>
                <a:sym typeface="Symbol" pitchFamily="18" charset="2"/>
              </a:rPr>
              <a:t>-8 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= </a:t>
            </a:r>
            <a:r>
              <a:rPr lang="en-US" altLang="zh-CN" sz="2500" b="1" dirty="0">
                <a:ea typeface="楷体_GB2312" pitchFamily="49" charset="-122"/>
              </a:rPr>
              <a:t>[Ag(NH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</a:p>
        </p:txBody>
      </p:sp>
      <p:graphicFrame>
        <p:nvGraphicFramePr>
          <p:cNvPr id="137216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4046538" y="930275"/>
          <a:ext cx="6846887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0" name="公式" r:id="rId5" imgW="3085920" imgH="482400" progId="Equation.3">
                  <p:embed/>
                </p:oleObj>
              </mc:Choice>
              <mc:Fallback>
                <p:oleObj name="公式" r:id="rId5" imgW="3085920" imgH="482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6538" y="930275"/>
                        <a:ext cx="6846887" cy="107156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17" name="Object 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260850" y="2359025"/>
          <a:ext cx="6307138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name="公式" r:id="rId7" imgW="2209680" imgH="444240" progId="Equation.3">
                  <p:embed/>
                </p:oleObj>
              </mc:Choice>
              <mc:Fallback>
                <p:oleObj name="公式" r:id="rId7" imgW="2209680" imgH="4442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0850" y="2359025"/>
                        <a:ext cx="6307138" cy="9525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23"/>
          <p:cNvSpPr txBox="1">
            <a:spLocks noChangeArrowheads="1"/>
          </p:cNvSpPr>
          <p:nvPr/>
        </p:nvSpPr>
        <p:spPr bwMode="auto">
          <a:xfrm>
            <a:off x="331768" y="382588"/>
            <a:ext cx="2714625" cy="32908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200" b="1" dirty="0">
                <a:solidFill>
                  <a:srgbClr val="FFFF00"/>
                </a:solidFill>
                <a:ea typeface="华文新魏" pitchFamily="2" charset="-122"/>
              </a:rPr>
              <a:t>例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</a:rPr>
              <a:t>6</a:t>
            </a:r>
            <a:r>
              <a:rPr lang="en-US" altLang="zh-CN" sz="2200" b="1" dirty="0" smtClean="0">
                <a:solidFill>
                  <a:srgbClr val="FFFF00"/>
                </a:solidFill>
                <a:ea typeface="华文新魏" pitchFamily="2" charset="-122"/>
              </a:rPr>
              <a:t>:  </a:t>
            </a:r>
            <a:r>
              <a:rPr lang="en-US" altLang="zh-CN" sz="2200" b="1" dirty="0" smtClean="0">
                <a:solidFill>
                  <a:srgbClr val="FFFFFF"/>
                </a:solidFill>
                <a:ea typeface="华文新魏" pitchFamily="2" charset="-122"/>
              </a:rPr>
              <a:t>25</a:t>
            </a:r>
            <a:r>
              <a:rPr lang="en-US" altLang="zh-CN" sz="2200" b="1" dirty="0">
                <a:ea typeface="华文新魏" pitchFamily="2" charset="-122"/>
              </a:rPr>
              <a:t>℃</a:t>
            </a:r>
            <a:r>
              <a:rPr lang="zh-CN" altLang="en-US" sz="2200" b="1" dirty="0">
                <a:ea typeface="华文新魏" pitchFamily="2" charset="-122"/>
              </a:rPr>
              <a:t>时</a:t>
            </a:r>
            <a:r>
              <a:rPr lang="en-US" altLang="zh-CN" sz="2200" b="1" dirty="0">
                <a:ea typeface="华文新魏" pitchFamily="2" charset="-122"/>
              </a:rPr>
              <a:t>[Ag(NH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en-US" altLang="zh-CN" sz="2200" b="1" dirty="0">
                <a:ea typeface="华文新魏" pitchFamily="2" charset="-122"/>
              </a:rPr>
              <a:t>)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]</a:t>
            </a:r>
            <a:r>
              <a:rPr lang="en-US" altLang="zh-CN" sz="2200" b="1" baseline="30000" dirty="0">
                <a:ea typeface="华文新魏" pitchFamily="2" charset="-122"/>
              </a:rPr>
              <a:t>+</a:t>
            </a:r>
            <a:r>
              <a:rPr lang="zh-CN" altLang="en-US" sz="2200" b="1" dirty="0">
                <a:ea typeface="华文新魏" pitchFamily="2" charset="-122"/>
              </a:rPr>
              <a:t>溶液中</a:t>
            </a:r>
            <a:r>
              <a:rPr lang="en-US" altLang="zh-CN" sz="2200" b="1" i="1" dirty="0">
                <a:ea typeface="华文新魏" pitchFamily="2" charset="-122"/>
              </a:rPr>
              <a:t>c</a:t>
            </a:r>
            <a:r>
              <a:rPr lang="en-US" altLang="zh-CN" sz="2200" b="1" dirty="0">
                <a:ea typeface="华文新魏" pitchFamily="2" charset="-122"/>
              </a:rPr>
              <a:t>([Ag(NH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en-US" altLang="zh-CN" sz="2200" b="1" dirty="0">
                <a:ea typeface="华文新魏" pitchFamily="2" charset="-122"/>
              </a:rPr>
              <a:t>)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]</a:t>
            </a:r>
            <a:r>
              <a:rPr lang="en-US" altLang="zh-CN" sz="2200" b="1" baseline="30000" dirty="0">
                <a:ea typeface="华文新魏" pitchFamily="2" charset="-122"/>
              </a:rPr>
              <a:t>+</a:t>
            </a:r>
            <a:r>
              <a:rPr lang="en-US" altLang="zh-CN" sz="2200" b="1" dirty="0">
                <a:ea typeface="华文新魏" pitchFamily="2" charset="-122"/>
              </a:rPr>
              <a:t>) = 0.10 mol·L</a:t>
            </a:r>
            <a:r>
              <a:rPr lang="en-US" altLang="zh-CN" sz="2200" b="1" baseline="30000" dirty="0">
                <a:ea typeface="华文新魏" pitchFamily="2" charset="-122"/>
              </a:rPr>
              <a:t>-1</a:t>
            </a:r>
            <a:r>
              <a:rPr lang="en-US" altLang="zh-CN" sz="2200" b="1" dirty="0">
                <a:ea typeface="华文新魏" pitchFamily="2" charset="-122"/>
              </a:rPr>
              <a:t>, </a:t>
            </a:r>
            <a:r>
              <a:rPr lang="en-US" altLang="zh-CN" sz="2200" b="1" i="1" dirty="0">
                <a:ea typeface="华文新魏" pitchFamily="2" charset="-122"/>
              </a:rPr>
              <a:t>c</a:t>
            </a:r>
            <a:r>
              <a:rPr lang="en-US" altLang="zh-CN" sz="2200" b="1" dirty="0">
                <a:ea typeface="华文新魏" pitchFamily="2" charset="-122"/>
              </a:rPr>
              <a:t>(NH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en-US" altLang="zh-CN" sz="2200" b="1" dirty="0">
                <a:ea typeface="华文新魏" pitchFamily="2" charset="-122"/>
              </a:rPr>
              <a:t>) = 1.0 mol·L</a:t>
            </a:r>
            <a:r>
              <a:rPr lang="en-US" altLang="zh-CN" sz="2200" b="1" baseline="30000" dirty="0">
                <a:ea typeface="华文新魏" pitchFamily="2" charset="-122"/>
              </a:rPr>
              <a:t>-1</a:t>
            </a:r>
            <a:r>
              <a:rPr lang="en-US" altLang="zh-CN" sz="2200" b="1" dirty="0">
                <a:ea typeface="华文新魏" pitchFamily="2" charset="-122"/>
              </a:rPr>
              <a:t>. </a:t>
            </a:r>
            <a:r>
              <a:rPr lang="zh-CN" altLang="en-US" sz="2200" b="1" dirty="0">
                <a:ea typeface="华文新魏" pitchFamily="2" charset="-122"/>
              </a:rPr>
              <a:t>现加入</a:t>
            </a:r>
            <a:r>
              <a:rPr lang="en-US" altLang="zh-CN" sz="2200" b="1" dirty="0">
                <a:ea typeface="华文新魏" pitchFamily="2" charset="-122"/>
              </a:rPr>
              <a:t>Na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S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ea typeface="华文新魏" pitchFamily="2" charset="-122"/>
              </a:rPr>
              <a:t>3 </a:t>
            </a:r>
            <a:r>
              <a:rPr lang="en-US" altLang="zh-CN" sz="2200" b="1" dirty="0">
                <a:ea typeface="华文新魏" pitchFamily="2" charset="-122"/>
              </a:rPr>
              <a:t>, </a:t>
            </a:r>
            <a:r>
              <a:rPr lang="zh-CN" altLang="en-US" sz="2200" b="1" dirty="0">
                <a:ea typeface="华文新魏" pitchFamily="2" charset="-122"/>
              </a:rPr>
              <a:t>使</a:t>
            </a:r>
            <a:r>
              <a:rPr lang="en-US" altLang="zh-CN" sz="2200" b="1" i="1" dirty="0">
                <a:ea typeface="华文新魏" pitchFamily="2" charset="-122"/>
              </a:rPr>
              <a:t>c</a:t>
            </a:r>
            <a:r>
              <a:rPr lang="en-US" altLang="zh-CN" sz="2200" b="1" dirty="0">
                <a:ea typeface="华文新魏" pitchFamily="2" charset="-122"/>
              </a:rPr>
              <a:t>(S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en-US" altLang="zh-CN" sz="2200" b="1" baseline="30000" dirty="0">
                <a:ea typeface="华文新魏" pitchFamily="2" charset="-122"/>
              </a:rPr>
              <a:t>2-</a:t>
            </a:r>
            <a:r>
              <a:rPr lang="en-US" altLang="zh-CN" sz="2200" b="1" dirty="0">
                <a:ea typeface="华文新魏" pitchFamily="2" charset="-122"/>
              </a:rPr>
              <a:t>) = 1.0 mol·L</a:t>
            </a:r>
            <a:r>
              <a:rPr lang="en-US" altLang="zh-CN" sz="2200" b="1" baseline="30000" dirty="0">
                <a:ea typeface="华文新魏" pitchFamily="2" charset="-122"/>
              </a:rPr>
              <a:t>-1</a:t>
            </a:r>
            <a:r>
              <a:rPr lang="en-US" altLang="zh-CN" sz="2200" b="1" dirty="0">
                <a:ea typeface="华文新魏" pitchFamily="2" charset="-122"/>
              </a:rPr>
              <a:t>.</a:t>
            </a:r>
            <a:r>
              <a:rPr lang="zh-CN" altLang="en-US" sz="2200" b="1" dirty="0">
                <a:ea typeface="华文新魏" pitchFamily="2" charset="-122"/>
              </a:rPr>
              <a:t>计算平衡时溶液中</a:t>
            </a:r>
            <a:r>
              <a:rPr lang="en-US" altLang="zh-CN" sz="2200" b="1" dirty="0">
                <a:ea typeface="华文新魏" pitchFamily="2" charset="-122"/>
              </a:rPr>
              <a:t>NH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zh-CN" altLang="en-US" sz="2200" b="1" dirty="0">
                <a:ea typeface="华文新魏" pitchFamily="2" charset="-122"/>
              </a:rPr>
              <a:t>、</a:t>
            </a:r>
            <a:r>
              <a:rPr lang="en-US" altLang="zh-CN" sz="2200" b="1" dirty="0">
                <a:ea typeface="华文新魏" pitchFamily="2" charset="-122"/>
              </a:rPr>
              <a:t>[Ag(NH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en-US" altLang="zh-CN" sz="2200" b="1" dirty="0">
                <a:ea typeface="华文新魏" pitchFamily="2" charset="-122"/>
              </a:rPr>
              <a:t>)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]</a:t>
            </a:r>
            <a:r>
              <a:rPr lang="en-US" altLang="zh-CN" sz="2200" b="1" baseline="30000" dirty="0">
                <a:ea typeface="华文新魏" pitchFamily="2" charset="-122"/>
              </a:rPr>
              <a:t>+</a:t>
            </a:r>
            <a:r>
              <a:rPr lang="zh-CN" altLang="en-US" sz="2200" b="1" dirty="0">
                <a:ea typeface="华文新魏" pitchFamily="2" charset="-122"/>
              </a:rPr>
              <a:t>的浓度</a:t>
            </a:r>
            <a:r>
              <a:rPr lang="en-US" altLang="zh-CN" sz="2200" b="1" dirty="0">
                <a:ea typeface="华文新魏" pitchFamily="2" charset="-122"/>
              </a:rPr>
              <a:t>.</a:t>
            </a:r>
          </a:p>
        </p:txBody>
      </p:sp>
      <p:sp>
        <p:nvSpPr>
          <p:cNvPr id="8" name="矩形 19"/>
          <p:cNvSpPr>
            <a:spLocks noChangeArrowheads="1"/>
          </p:cNvSpPr>
          <p:nvPr/>
        </p:nvSpPr>
        <p:spPr bwMode="auto">
          <a:xfrm>
            <a:off x="3903663" y="382588"/>
            <a:ext cx="612775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500" b="1" dirty="0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</a:rPr>
              <a:t>:</a:t>
            </a: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7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7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9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79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2" name="Rectangle 16"/>
          <p:cNvSpPr>
            <a:spLocks noChangeArrowheads="1"/>
          </p:cNvSpPr>
          <p:nvPr/>
        </p:nvSpPr>
        <p:spPr bwMode="auto">
          <a:xfrm>
            <a:off x="260332" y="382588"/>
            <a:ext cx="2928937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200" b="1" dirty="0">
                <a:solidFill>
                  <a:srgbClr val="FFFF00"/>
                </a:solidFill>
                <a:ea typeface="华文新魏" pitchFamily="2" charset="-122"/>
              </a:rPr>
              <a:t>例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</a:rPr>
              <a:t>7</a:t>
            </a:r>
            <a:r>
              <a:rPr lang="en-US" altLang="zh-CN" sz="2200" b="1" dirty="0" smtClean="0">
                <a:solidFill>
                  <a:srgbClr val="FFFF00"/>
                </a:solidFill>
                <a:ea typeface="华文新魏" pitchFamily="2" charset="-122"/>
              </a:rPr>
              <a:t>: </a:t>
            </a:r>
            <a:r>
              <a:rPr lang="zh-CN" altLang="en-US" sz="2200" b="1" dirty="0" smtClean="0">
                <a:ea typeface="华文新魏" pitchFamily="2" charset="-122"/>
              </a:rPr>
              <a:t>据</a:t>
            </a:r>
            <a:r>
              <a:rPr lang="en-US" altLang="zh-CN" sz="2200" b="1" i="1" dirty="0">
                <a:ea typeface="华文新魏" pitchFamily="2" charset="-122"/>
                <a:sym typeface="Symbol" pitchFamily="18" charset="2"/>
              </a:rPr>
              <a:t>E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(Au</a:t>
            </a:r>
            <a:r>
              <a:rPr lang="en-US" altLang="zh-CN" sz="2200" b="1" baseline="30000" dirty="0">
                <a:ea typeface="华文新魏" pitchFamily="2" charset="-122"/>
                <a:sym typeface="Webdings" pitchFamily="18" charset="2"/>
              </a:rPr>
              <a:t>+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/Au) = +1.692V,Au</a:t>
            </a:r>
            <a:r>
              <a:rPr lang="zh-CN" altLang="en-US" sz="2200" b="1" dirty="0">
                <a:ea typeface="华文新魏" pitchFamily="2" charset="-122"/>
                <a:sym typeface="Webdings" pitchFamily="18" charset="2"/>
              </a:rPr>
              <a:t>很难被氧化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.</a:t>
            </a:r>
            <a:r>
              <a:rPr lang="zh-CN" altLang="en-US" sz="2200" b="1" dirty="0">
                <a:ea typeface="华文新魏" pitchFamily="2" charset="-122"/>
                <a:sym typeface="Webdings" pitchFamily="18" charset="2"/>
              </a:rPr>
              <a:t>若加入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KCN,</a:t>
            </a:r>
            <a:r>
              <a:rPr lang="zh-CN" altLang="en-US" sz="2200" b="1" dirty="0">
                <a:ea typeface="华文新魏" pitchFamily="2" charset="-122"/>
                <a:sym typeface="Webdings" pitchFamily="18" charset="2"/>
              </a:rPr>
              <a:t>就可以在碱性条件下利用空气中的氧将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Au</a:t>
            </a:r>
            <a:r>
              <a:rPr lang="zh-CN" altLang="en-US" sz="2200" b="1" dirty="0">
                <a:ea typeface="华文新魏" pitchFamily="2" charset="-122"/>
                <a:sym typeface="Webdings" pitchFamily="18" charset="2"/>
              </a:rPr>
              <a:t>氧化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(</a:t>
            </a:r>
            <a:r>
              <a:rPr lang="zh-CN" altLang="en-US" sz="2200" b="1" dirty="0">
                <a:ea typeface="华文新魏" pitchFamily="2" charset="-122"/>
                <a:sym typeface="Webdings" pitchFamily="18" charset="2"/>
              </a:rPr>
              <a:t>已知</a:t>
            </a:r>
            <a:r>
              <a:rPr lang="en-US" altLang="zh-CN" sz="2200" b="1" i="1" dirty="0">
                <a:ea typeface="华文新魏" pitchFamily="2" charset="-122"/>
                <a:sym typeface="Symbol" pitchFamily="18" charset="2"/>
              </a:rPr>
              <a:t>E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(O</a:t>
            </a:r>
            <a:r>
              <a:rPr lang="en-US" altLang="zh-CN" sz="2200" b="1" baseline="-25000" dirty="0">
                <a:ea typeface="华文新魏" pitchFamily="2" charset="-122"/>
                <a:sym typeface="Webdings" pitchFamily="18" charset="2"/>
              </a:rPr>
              <a:t>2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/OH</a:t>
            </a:r>
            <a:r>
              <a:rPr lang="en-US" altLang="zh-CN" sz="2200" b="1" baseline="30000" dirty="0">
                <a:ea typeface="华文新魏" pitchFamily="2" charset="-122"/>
                <a:sym typeface="Webdings" pitchFamily="18" charset="2"/>
              </a:rPr>
              <a:t>-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) = 0.401V</a:t>
            </a:r>
            <a:r>
              <a:rPr lang="en-US" altLang="zh-CN" sz="2200" b="1" dirty="0" smtClean="0">
                <a:ea typeface="华文新魏" pitchFamily="2" charset="-122"/>
                <a:sym typeface="Webdings" pitchFamily="18" charset="2"/>
              </a:rPr>
              <a:t>).</a:t>
            </a:r>
            <a:r>
              <a:rPr lang="zh-CN" altLang="en-US" sz="2200" b="1" dirty="0" smtClean="0">
                <a:ea typeface="华文新魏" pitchFamily="2" charset="-122"/>
                <a:sym typeface="Webdings" pitchFamily="18" charset="2"/>
              </a:rPr>
              <a:t>（</a:t>
            </a:r>
            <a:r>
              <a:rPr lang="zh-CN" altLang="en-US" sz="2200" b="1" dirty="0" smtClean="0">
                <a:solidFill>
                  <a:srgbClr val="FFFF00"/>
                </a:solidFill>
                <a:ea typeface="华文新魏" pitchFamily="2" charset="-122"/>
                <a:sym typeface="Webdings" pitchFamily="18" charset="2"/>
              </a:rPr>
              <a:t>以标准状态下为例）</a:t>
            </a:r>
            <a:endParaRPr lang="en-US" altLang="zh-CN" sz="2200" b="1" dirty="0">
              <a:solidFill>
                <a:srgbClr val="FFFF00"/>
              </a:solidFill>
              <a:ea typeface="华文新魏" pitchFamily="2" charset="-122"/>
              <a:sym typeface="Webdings" pitchFamily="18" charset="2"/>
            </a:endParaRPr>
          </a:p>
          <a:p>
            <a:r>
              <a:rPr lang="zh-CN" altLang="en-US" sz="2200" b="1" dirty="0">
                <a:ea typeface="华文新魏" pitchFamily="2" charset="-122"/>
                <a:sym typeface="Webdings" pitchFamily="18" charset="2"/>
              </a:rPr>
              <a:t>试计算说明 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(</a:t>
            </a:r>
            <a:r>
              <a:rPr lang="en-US" altLang="zh-CN" sz="2200" b="1" dirty="0" err="1">
                <a:ea typeface="华文新魏" pitchFamily="2" charset="-122"/>
                <a:sym typeface="Webdings" pitchFamily="18" charset="2"/>
              </a:rPr>
              <a:t>lg</a:t>
            </a:r>
            <a:r>
              <a:rPr lang="en-US" altLang="zh-CN" sz="22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2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zh-CN" altLang="en-US" sz="2200" b="1" dirty="0">
                <a:ea typeface="华文新魏" pitchFamily="2" charset="-122"/>
                <a:sym typeface="Webdings" pitchFamily="18" charset="2"/>
              </a:rPr>
              <a:t> 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{Au(CN)</a:t>
            </a:r>
            <a:r>
              <a:rPr lang="en-US" altLang="zh-CN" sz="2200" b="1" baseline="-25000" dirty="0">
                <a:ea typeface="华文新魏" pitchFamily="2" charset="-122"/>
                <a:sym typeface="Webdings" pitchFamily="18" charset="2"/>
              </a:rPr>
              <a:t>2</a:t>
            </a:r>
            <a:r>
              <a:rPr lang="en-US" altLang="zh-CN" sz="2200" b="1" baseline="30000" dirty="0">
                <a:ea typeface="华文新魏" pitchFamily="2" charset="-122"/>
                <a:sym typeface="Webdings" pitchFamily="18" charset="2"/>
              </a:rPr>
              <a:t>-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} = 38.3).</a:t>
            </a:r>
          </a:p>
        </p:txBody>
      </p:sp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5098256" y="937119"/>
            <a:ext cx="5214937" cy="48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sz="2500" b="1" i="1" dirty="0" err="1">
                <a:ea typeface="华文新魏" pitchFamily="2" charset="-122"/>
                <a:sym typeface="Symbol" pitchFamily="18" charset="2"/>
              </a:rPr>
              <a:t>E</a:t>
            </a:r>
            <a:r>
              <a:rPr lang="en-US" altLang="zh-CN" sz="2500" b="1" baseline="-25000" dirty="0" err="1">
                <a:ea typeface="华文新魏" pitchFamily="2" charset="-122"/>
                <a:sym typeface="Symbol" pitchFamily="18" charset="2"/>
              </a:rPr>
              <a:t>Au</a:t>
            </a:r>
            <a:r>
              <a:rPr lang="en-US" altLang="zh-CN" sz="2500" b="1" baseline="-5000" dirty="0">
                <a:ea typeface="华文新魏" pitchFamily="2" charset="-122"/>
                <a:sym typeface="Symbol" pitchFamily="18" charset="2"/>
              </a:rPr>
              <a:t>+</a:t>
            </a:r>
            <a:r>
              <a:rPr lang="en-US" altLang="zh-CN" sz="2500" b="1" baseline="-25000" dirty="0">
                <a:ea typeface="华文新魏" pitchFamily="2" charset="-122"/>
                <a:sym typeface="Symbol" pitchFamily="18" charset="2"/>
              </a:rPr>
              <a:t>/Au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 = </a:t>
            </a:r>
            <a:r>
              <a:rPr lang="en-US" altLang="zh-CN" sz="2500" b="1" i="1" dirty="0" err="1">
                <a:ea typeface="华文新魏" pitchFamily="2" charset="-122"/>
                <a:sym typeface="Symbol" pitchFamily="18" charset="2"/>
              </a:rPr>
              <a:t>E</a:t>
            </a:r>
            <a:r>
              <a:rPr lang="en-US" altLang="zh-CN" sz="1600" b="1" baseline="10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华文新魏" pitchFamily="2" charset="-122"/>
                <a:sym typeface="Symbol" pitchFamily="18" charset="2"/>
              </a:rPr>
              <a:t>Au</a:t>
            </a:r>
            <a:r>
              <a:rPr lang="en-US" altLang="zh-CN" sz="2500" b="1" baseline="-5000" dirty="0">
                <a:ea typeface="华文新魏" pitchFamily="2" charset="-122"/>
                <a:sym typeface="Symbol" pitchFamily="18" charset="2"/>
              </a:rPr>
              <a:t>+</a:t>
            </a:r>
            <a:r>
              <a:rPr lang="en-US" altLang="zh-CN" sz="2500" b="1" baseline="-25000" dirty="0">
                <a:ea typeface="华文新魏" pitchFamily="2" charset="-122"/>
                <a:sym typeface="Symbol" pitchFamily="18" charset="2"/>
              </a:rPr>
              <a:t>/Au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 + 0.0592</a:t>
            </a:r>
            <a:r>
              <a:rPr lang="en-US" altLang="zh-CN" sz="2500" b="1" dirty="0">
                <a:effectLst>
                  <a:outerShdw blurRad="38100" dist="38100" dir="2700000" algn="tl">
                    <a:srgbClr val="FFFFFF"/>
                  </a:outerShdw>
                </a:effectLst>
                <a:ea typeface="华文新魏" pitchFamily="2" charset="-122"/>
              </a:rPr>
              <a:t>lg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[Au</a:t>
            </a:r>
            <a:r>
              <a:rPr lang="en-US" altLang="zh-CN" sz="2500" b="1" baseline="30000" dirty="0" smtClean="0">
                <a:ea typeface="华文新魏" pitchFamily="2" charset="-122"/>
                <a:sym typeface="Symbol" pitchFamily="18" charset="2"/>
              </a:rPr>
              <a:t>+</a:t>
            </a:r>
            <a:r>
              <a:rPr lang="en-US" altLang="zh-CN" sz="2500" b="1" dirty="0" smtClean="0">
                <a:ea typeface="华文新魏" pitchFamily="2" charset="-122"/>
                <a:sym typeface="Symbol" pitchFamily="18" charset="2"/>
              </a:rPr>
              <a:t>]</a:t>
            </a:r>
            <a:endParaRPr lang="en-US" altLang="zh-CN" sz="2500" b="1" dirty="0">
              <a:ea typeface="华文新魏" pitchFamily="2" charset="-122"/>
              <a:sym typeface="Symbol" pitchFamily="18" charset="2"/>
            </a:endParaRPr>
          </a:p>
        </p:txBody>
      </p:sp>
      <p:sp>
        <p:nvSpPr>
          <p:cNvPr id="29713" name="Rectangle 17"/>
          <p:cNvSpPr>
            <a:spLocks noChangeArrowheads="1"/>
          </p:cNvSpPr>
          <p:nvPr/>
        </p:nvSpPr>
        <p:spPr bwMode="auto">
          <a:xfrm>
            <a:off x="4856745" y="3346611"/>
            <a:ext cx="4580100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∴</a:t>
            </a:r>
            <a:r>
              <a:rPr lang="en-US" altLang="zh-CN" sz="2500" b="1" dirty="0" smtClean="0">
                <a:ea typeface="华文新魏" pitchFamily="2" charset="-122"/>
                <a:sym typeface="Webdings" pitchFamily="18" charset="2"/>
              </a:rPr>
              <a:t>[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Au</a:t>
            </a:r>
            <a:r>
              <a:rPr lang="en-US" altLang="zh-CN" sz="2500" b="1" baseline="30000" dirty="0">
                <a:ea typeface="华文新魏" pitchFamily="2" charset="-122"/>
                <a:sym typeface="Webdings" pitchFamily="18" charset="2"/>
              </a:rPr>
              <a:t>+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] = </a:t>
            </a:r>
            <a:r>
              <a:rPr lang="en-US" altLang="zh-CN" sz="2500" b="1" dirty="0">
                <a:ea typeface="华文新魏" pitchFamily="2" charset="-122"/>
              </a:rPr>
              <a:t>[Au(CN)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baseline="30000" dirty="0">
                <a:ea typeface="华文新魏" pitchFamily="2" charset="-122"/>
              </a:rPr>
              <a:t>-</a:t>
            </a:r>
            <a:r>
              <a:rPr lang="en-US" altLang="zh-CN" sz="2500" b="1" dirty="0">
                <a:ea typeface="华文新魏" pitchFamily="2" charset="-122"/>
              </a:rPr>
              <a:t>]/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[CN</a:t>
            </a:r>
            <a:r>
              <a:rPr lang="en-US" altLang="zh-CN" sz="2500" b="1" baseline="30000" dirty="0">
                <a:ea typeface="华文新魏" pitchFamily="2" charset="-122"/>
                <a:sym typeface="Webdings" pitchFamily="18" charset="2"/>
              </a:rPr>
              <a:t>-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]</a:t>
            </a:r>
            <a:r>
              <a:rPr lang="en-US" altLang="zh-CN" sz="2500" b="1" baseline="30000" dirty="0">
                <a:ea typeface="华文新魏" pitchFamily="2" charset="-122"/>
                <a:sym typeface="Webdings" pitchFamily="18" charset="2"/>
              </a:rPr>
              <a:t>2</a:t>
            </a:r>
            <a:r>
              <a:rPr lang="en-US" altLang="zh-CN" sz="2500" b="1" i="1" dirty="0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华文新魏" pitchFamily="2" charset="-122"/>
                <a:sym typeface="Webdings" pitchFamily="18" charset="2"/>
              </a:rPr>
              <a:t>稳</a:t>
            </a:r>
          </a:p>
        </p:txBody>
      </p:sp>
      <p:sp>
        <p:nvSpPr>
          <p:cNvPr id="29722" name="Rectangle 26"/>
          <p:cNvSpPr>
            <a:spLocks noChangeArrowheads="1"/>
          </p:cNvSpPr>
          <p:nvPr/>
        </p:nvSpPr>
        <p:spPr bwMode="auto">
          <a:xfrm>
            <a:off x="4903788" y="2672919"/>
            <a:ext cx="9302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i="1" dirty="0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=</a:t>
            </a:r>
            <a:endParaRPr lang="en-US" altLang="zh-CN" sz="2500" b="1" baseline="30000" dirty="0">
              <a:ea typeface="华文新魏" pitchFamily="2" charset="-122"/>
              <a:sym typeface="Webdings" pitchFamily="18" charset="2"/>
            </a:endParaRPr>
          </a:p>
        </p:txBody>
      </p:sp>
      <p:sp>
        <p:nvSpPr>
          <p:cNvPr id="29723" name="Rectangle 27"/>
          <p:cNvSpPr>
            <a:spLocks noChangeArrowheads="1"/>
          </p:cNvSpPr>
          <p:nvPr/>
        </p:nvSpPr>
        <p:spPr bwMode="auto">
          <a:xfrm>
            <a:off x="6475413" y="2240747"/>
            <a:ext cx="16621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dirty="0">
                <a:ea typeface="华文新魏" pitchFamily="2" charset="-122"/>
              </a:rPr>
              <a:t>[Au(CN)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baseline="30000" dirty="0">
                <a:ea typeface="华文新魏" pitchFamily="2" charset="-122"/>
              </a:rPr>
              <a:t>-</a:t>
            </a:r>
            <a:r>
              <a:rPr lang="en-US" altLang="zh-CN" sz="2500" b="1" dirty="0">
                <a:ea typeface="华文新魏" pitchFamily="2" charset="-122"/>
              </a:rPr>
              <a:t>]</a:t>
            </a:r>
            <a:endParaRPr lang="en-US" altLang="zh-CN" sz="2500" b="1" baseline="30000" dirty="0">
              <a:ea typeface="华文新魏" pitchFamily="2" charset="-122"/>
              <a:sym typeface="Webdings" pitchFamily="18" charset="2"/>
            </a:endParaRPr>
          </a:p>
        </p:txBody>
      </p:sp>
      <p:sp>
        <p:nvSpPr>
          <p:cNvPr id="29725" name="Line 29"/>
          <p:cNvSpPr>
            <a:spLocks noChangeShapeType="1"/>
          </p:cNvSpPr>
          <p:nvPr/>
        </p:nvSpPr>
        <p:spPr bwMode="auto">
          <a:xfrm>
            <a:off x="5975350" y="2887232"/>
            <a:ext cx="3263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9726" name="Rectangle 30"/>
          <p:cNvSpPr>
            <a:spLocks noChangeArrowheads="1"/>
          </p:cNvSpPr>
          <p:nvPr/>
        </p:nvSpPr>
        <p:spPr bwMode="auto">
          <a:xfrm>
            <a:off x="6332538" y="2887232"/>
            <a:ext cx="93027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>
                <a:ea typeface="华文新魏" pitchFamily="2" charset="-122"/>
                <a:sym typeface="Webdings" pitchFamily="18" charset="2"/>
              </a:rPr>
              <a:t>[Au</a:t>
            </a:r>
            <a:r>
              <a:rPr lang="en-US" altLang="zh-CN" sz="2500" b="1" baseline="30000">
                <a:ea typeface="华文新魏" pitchFamily="2" charset="-122"/>
                <a:sym typeface="Webdings" pitchFamily="18" charset="2"/>
              </a:rPr>
              <a:t>+</a:t>
            </a:r>
            <a:r>
              <a:rPr lang="en-US" altLang="zh-CN" sz="2500" b="1">
                <a:ea typeface="华文新魏" pitchFamily="2" charset="-122"/>
                <a:sym typeface="Webdings" pitchFamily="18" charset="2"/>
              </a:rPr>
              <a:t>]</a:t>
            </a:r>
          </a:p>
        </p:txBody>
      </p:sp>
      <p:sp>
        <p:nvSpPr>
          <p:cNvPr id="29727" name="Rectangle 31"/>
          <p:cNvSpPr>
            <a:spLocks noChangeArrowheads="1"/>
          </p:cNvSpPr>
          <p:nvPr/>
        </p:nvSpPr>
        <p:spPr bwMode="auto">
          <a:xfrm>
            <a:off x="7186613" y="2882469"/>
            <a:ext cx="10382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>
                <a:ea typeface="华文新魏" pitchFamily="2" charset="-122"/>
                <a:sym typeface="Webdings" pitchFamily="18" charset="2"/>
              </a:rPr>
              <a:t>[CN</a:t>
            </a:r>
            <a:r>
              <a:rPr lang="en-US" altLang="zh-CN" sz="2500" b="1" baseline="30000">
                <a:ea typeface="华文新魏" pitchFamily="2" charset="-122"/>
                <a:sym typeface="Webdings" pitchFamily="18" charset="2"/>
              </a:rPr>
              <a:t>-</a:t>
            </a:r>
            <a:r>
              <a:rPr lang="en-US" altLang="zh-CN" sz="2500" b="1">
                <a:ea typeface="华文新魏" pitchFamily="2" charset="-122"/>
                <a:sym typeface="Webdings" pitchFamily="18" charset="2"/>
              </a:rPr>
              <a:t>]</a:t>
            </a:r>
            <a:r>
              <a:rPr lang="en-US" altLang="zh-CN" sz="2500" b="1" baseline="30000">
                <a:ea typeface="华文新魏" pitchFamily="2" charset="-122"/>
                <a:sym typeface="Webdings" pitchFamily="18" charset="2"/>
              </a:rPr>
              <a:t>2</a:t>
            </a:r>
          </a:p>
        </p:txBody>
      </p:sp>
      <p:sp>
        <p:nvSpPr>
          <p:cNvPr id="14347" name="矩形 17"/>
          <p:cNvSpPr>
            <a:spLocks noChangeArrowheads="1"/>
          </p:cNvSpPr>
          <p:nvPr/>
        </p:nvSpPr>
        <p:spPr bwMode="auto">
          <a:xfrm>
            <a:off x="3866349" y="371023"/>
            <a:ext cx="6143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solidFill>
                  <a:srgbClr val="FFFF00"/>
                </a:solidFill>
                <a:ea typeface="华文新魏" pitchFamily="2" charset="-122"/>
                <a:sym typeface="Webdings" pitchFamily="18" charset="2"/>
              </a:rPr>
              <a:t>解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  <a:sym typeface="Webdings" pitchFamily="18" charset="2"/>
              </a:rPr>
              <a:t>:</a:t>
            </a:r>
          </a:p>
        </p:txBody>
      </p:sp>
      <p:sp>
        <p:nvSpPr>
          <p:cNvPr id="2" name="矩形 1"/>
          <p:cNvSpPr/>
          <p:nvPr/>
        </p:nvSpPr>
        <p:spPr>
          <a:xfrm>
            <a:off x="4856745" y="431775"/>
            <a:ext cx="254749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latin typeface="Times New Roman"/>
                <a:ea typeface="楷体_GB2312" pitchFamily="49" charset="-122"/>
                <a:sym typeface="Symbol" pitchFamily="18" charset="2"/>
              </a:rPr>
              <a:t>E</a:t>
            </a:r>
            <a:r>
              <a:rPr lang="en-US" altLang="zh-CN" sz="2400" b="1" baseline="100000" dirty="0">
                <a:latin typeface="Times New Roman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400" b="1" dirty="0">
                <a:latin typeface="Times New Roman"/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400" b="1" dirty="0">
                <a:ea typeface="楷体_GB2312" pitchFamily="49" charset="-122"/>
                <a:sym typeface="Webdings" pitchFamily="18" charset="2"/>
              </a:rPr>
              <a:t>Au(CN)</a:t>
            </a:r>
            <a:r>
              <a:rPr lang="en-US" altLang="zh-CN" sz="2400" b="1" baseline="-25000" dirty="0"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400" b="1" baseline="30000" dirty="0">
                <a:ea typeface="楷体_GB2312" pitchFamily="49" charset="-122"/>
                <a:sym typeface="Webdings" pitchFamily="18" charset="2"/>
              </a:rPr>
              <a:t>- </a:t>
            </a:r>
            <a:r>
              <a:rPr lang="en-US" altLang="zh-CN" sz="2400" b="1" dirty="0">
                <a:latin typeface="Times New Roman"/>
                <a:ea typeface="楷体_GB2312" pitchFamily="49" charset="-122"/>
                <a:sym typeface="Webdings" pitchFamily="18" charset="2"/>
              </a:rPr>
              <a:t>/Au</a:t>
            </a:r>
            <a:r>
              <a:rPr lang="en-US" altLang="zh-CN" sz="2400" b="1" dirty="0" smtClean="0">
                <a:latin typeface="Times New Roman"/>
                <a:ea typeface="楷体_GB2312" pitchFamily="49" charset="-122"/>
                <a:sym typeface="Webdings" pitchFamily="18" charset="2"/>
              </a:rPr>
              <a:t>)</a:t>
            </a:r>
          </a:p>
          <a:p>
            <a:r>
              <a:rPr lang="en-US" altLang="zh-CN" sz="2400" b="1" dirty="0" smtClean="0">
                <a:latin typeface="Times New Roman"/>
                <a:ea typeface="楷体_GB2312" pitchFamily="49" charset="-122"/>
                <a:sym typeface="Webdings" pitchFamily="18" charset="2"/>
              </a:rPr>
              <a:t>= </a:t>
            </a:r>
            <a:endParaRPr lang="zh-CN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5540586" y="1631264"/>
            <a:ext cx="3727302" cy="4687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sz="2400" b="1" dirty="0">
                <a:ea typeface="华文新魏" pitchFamily="2" charset="-122"/>
              </a:rPr>
              <a:t>Au</a:t>
            </a:r>
            <a:r>
              <a:rPr lang="en-US" altLang="zh-CN" sz="2400" b="1" baseline="30000" dirty="0">
                <a:ea typeface="华文新魏" pitchFamily="2" charset="-122"/>
              </a:rPr>
              <a:t>+</a:t>
            </a:r>
            <a:r>
              <a:rPr lang="en-US" altLang="zh-CN" sz="2400" b="1" dirty="0">
                <a:ea typeface="华文新魏" pitchFamily="2" charset="-122"/>
              </a:rPr>
              <a:t>  +  2CN</a:t>
            </a:r>
            <a:r>
              <a:rPr lang="en-US" altLang="zh-CN" sz="2400" b="1" baseline="30000" dirty="0">
                <a:ea typeface="华文新魏" pitchFamily="2" charset="-122"/>
              </a:rPr>
              <a:t>-</a:t>
            </a:r>
            <a:r>
              <a:rPr lang="en-US" altLang="zh-CN" sz="2400" b="1" dirty="0">
                <a:ea typeface="华文新魏" pitchFamily="2" charset="-122"/>
              </a:rPr>
              <a:t> ⇋ </a:t>
            </a:r>
            <a:r>
              <a:rPr lang="en-US" altLang="zh-CN" sz="2400" b="1" dirty="0">
                <a:ea typeface="华文新魏" pitchFamily="2" charset="-122"/>
                <a:sym typeface="Symbol" pitchFamily="18" charset="2"/>
              </a:rPr>
              <a:t>[Au(CN)</a:t>
            </a:r>
            <a:r>
              <a:rPr lang="en-US" altLang="zh-CN" sz="2400" b="1" baseline="-25000" dirty="0">
                <a:ea typeface="华文新魏" pitchFamily="2" charset="-122"/>
                <a:sym typeface="Symbol" pitchFamily="18" charset="2"/>
              </a:rPr>
              <a:t>2</a:t>
            </a:r>
            <a:r>
              <a:rPr lang="en-US" altLang="zh-CN" sz="2400" b="1" dirty="0">
                <a:ea typeface="华文新魏" pitchFamily="2" charset="-122"/>
                <a:sym typeface="Symbol" pitchFamily="18" charset="2"/>
              </a:rPr>
              <a:t>]</a:t>
            </a:r>
            <a:r>
              <a:rPr lang="en-US" altLang="zh-CN" sz="2400" b="1" baseline="30000" dirty="0">
                <a:ea typeface="华文新魏" pitchFamily="2" charset="-122"/>
                <a:sym typeface="Symbol" pitchFamily="18" charset="2"/>
              </a:rPr>
              <a:t>- </a:t>
            </a:r>
          </a:p>
        </p:txBody>
      </p:sp>
      <p:sp>
        <p:nvSpPr>
          <p:cNvPr id="4" name="矩形 3"/>
          <p:cNvSpPr/>
          <p:nvPr/>
        </p:nvSpPr>
        <p:spPr>
          <a:xfrm>
            <a:off x="5362548" y="4387554"/>
            <a:ext cx="44198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FF00"/>
                </a:solidFill>
                <a:ea typeface="华文新魏" pitchFamily="2" charset="-122"/>
              </a:rPr>
              <a:t>[Au(CN)</a:t>
            </a:r>
            <a:r>
              <a:rPr lang="en-US" altLang="zh-CN" sz="2400" b="1" baseline="-25000" dirty="0">
                <a:solidFill>
                  <a:srgbClr val="FFFF00"/>
                </a:solidFill>
                <a:ea typeface="华文新魏" pitchFamily="2" charset="-122"/>
              </a:rPr>
              <a:t>2</a:t>
            </a:r>
            <a:r>
              <a:rPr lang="en-US" altLang="zh-CN" sz="2400" b="1" baseline="30000" dirty="0">
                <a:solidFill>
                  <a:srgbClr val="FFFF00"/>
                </a:solidFill>
                <a:ea typeface="华文新魏" pitchFamily="2" charset="-122"/>
              </a:rPr>
              <a:t>-</a:t>
            </a:r>
            <a:r>
              <a:rPr lang="en-US" altLang="zh-CN" sz="2400" b="1" dirty="0">
                <a:solidFill>
                  <a:srgbClr val="FFFF00"/>
                </a:solidFill>
                <a:ea typeface="华文新魏" pitchFamily="2" charset="-122"/>
              </a:rPr>
              <a:t>] = </a:t>
            </a:r>
            <a:r>
              <a:rPr lang="en-US" altLang="zh-CN" sz="2400" b="1" dirty="0">
                <a:solidFill>
                  <a:srgbClr val="FFFF00"/>
                </a:solidFill>
                <a:ea typeface="华文新魏" pitchFamily="2" charset="-122"/>
                <a:sym typeface="Webdings" pitchFamily="18" charset="2"/>
              </a:rPr>
              <a:t>[CN</a:t>
            </a:r>
            <a:r>
              <a:rPr lang="en-US" altLang="zh-CN" sz="2400" b="1" baseline="30000" dirty="0">
                <a:solidFill>
                  <a:srgbClr val="FFFF00"/>
                </a:solidFill>
                <a:ea typeface="华文新魏" pitchFamily="2" charset="-122"/>
                <a:sym typeface="Webdings" pitchFamily="18" charset="2"/>
              </a:rPr>
              <a:t>-</a:t>
            </a:r>
            <a:r>
              <a:rPr lang="en-US" altLang="zh-CN" sz="2400" b="1" dirty="0">
                <a:solidFill>
                  <a:srgbClr val="FFFF00"/>
                </a:solidFill>
                <a:ea typeface="华文新魏" pitchFamily="2" charset="-122"/>
                <a:sym typeface="Webdings" pitchFamily="18" charset="2"/>
              </a:rPr>
              <a:t>] = 1.0 </a:t>
            </a:r>
            <a:r>
              <a:rPr lang="en-US" altLang="zh-CN" sz="2400" b="1" dirty="0">
                <a:solidFill>
                  <a:srgbClr val="FFFF00"/>
                </a:solidFill>
                <a:ea typeface="华文新魏" pitchFamily="2" charset="-122"/>
              </a:rPr>
              <a:t>mol·L</a:t>
            </a:r>
            <a:r>
              <a:rPr lang="en-US" altLang="zh-CN" sz="2400" b="1" baseline="30000" dirty="0">
                <a:solidFill>
                  <a:srgbClr val="FFFF00"/>
                </a:solidFill>
                <a:ea typeface="华文新魏" pitchFamily="2" charset="-122"/>
              </a:rPr>
              <a:t>-1</a:t>
            </a:r>
            <a:endParaRPr lang="zh-CN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4615979" y="3881035"/>
            <a:ext cx="70430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/>
                <a:ea typeface="楷体_GB2312" pitchFamily="49" charset="-122"/>
                <a:sym typeface="Symbol" pitchFamily="18" charset="2"/>
              </a:rPr>
              <a:t>因为</a:t>
            </a:r>
            <a:r>
              <a:rPr lang="en-US" altLang="zh-CN" sz="2400" b="1" i="1" dirty="0" smtClean="0">
                <a:latin typeface="Times New Roman"/>
                <a:ea typeface="楷体_GB2312" pitchFamily="49" charset="-122"/>
                <a:sym typeface="Symbol" pitchFamily="18" charset="2"/>
              </a:rPr>
              <a:t>E</a:t>
            </a:r>
            <a:r>
              <a:rPr lang="en-US" altLang="zh-CN" sz="2400" b="1" baseline="100000" dirty="0">
                <a:latin typeface="Times New Roman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400" b="1" dirty="0">
                <a:latin typeface="Times New Roman"/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400" b="1" dirty="0">
                <a:ea typeface="楷体_GB2312" pitchFamily="49" charset="-122"/>
                <a:sym typeface="Webdings" pitchFamily="18" charset="2"/>
              </a:rPr>
              <a:t>Au(CN)</a:t>
            </a:r>
            <a:r>
              <a:rPr lang="en-US" altLang="zh-CN" sz="2400" b="1" baseline="-25000" dirty="0"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400" b="1" baseline="30000" dirty="0">
                <a:ea typeface="楷体_GB2312" pitchFamily="49" charset="-122"/>
                <a:sym typeface="Webdings" pitchFamily="18" charset="2"/>
              </a:rPr>
              <a:t>- </a:t>
            </a:r>
            <a:r>
              <a:rPr lang="en-US" altLang="zh-CN" sz="2400" b="1" dirty="0">
                <a:latin typeface="Times New Roman"/>
                <a:ea typeface="楷体_GB2312" pitchFamily="49" charset="-122"/>
                <a:sym typeface="Webdings" pitchFamily="18" charset="2"/>
              </a:rPr>
              <a:t>/Au</a:t>
            </a:r>
            <a:r>
              <a:rPr lang="en-US" altLang="zh-CN" sz="2400" b="1" dirty="0" smtClean="0">
                <a:latin typeface="Times New Roman"/>
                <a:ea typeface="楷体_GB2312" pitchFamily="49" charset="-122"/>
                <a:sym typeface="Webdings" pitchFamily="18" charset="2"/>
              </a:rPr>
              <a:t>)</a:t>
            </a:r>
            <a:r>
              <a:rPr lang="zh-CN" altLang="en-US" sz="2400" b="1" dirty="0" smtClean="0">
                <a:latin typeface="Times New Roman"/>
                <a:ea typeface="楷体_GB2312" pitchFamily="49" charset="-122"/>
                <a:sym typeface="Webdings" pitchFamily="18" charset="2"/>
              </a:rPr>
              <a:t>是标准状态下</a:t>
            </a:r>
            <a:endParaRPr lang="en-US" altLang="zh-CN" sz="2400" b="1" dirty="0" smtClean="0">
              <a:latin typeface="Times New Roman"/>
              <a:ea typeface="楷体_GB2312" pitchFamily="49" charset="-122"/>
              <a:sym typeface="Webdings" pitchFamily="18" charset="2"/>
            </a:endParaRPr>
          </a:p>
          <a:p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6130491" y="5033885"/>
            <a:ext cx="26725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ea typeface="华文新魏" pitchFamily="2" charset="-122"/>
              </a:rPr>
              <a:t>∴</a:t>
            </a:r>
            <a:r>
              <a:rPr lang="en-US" altLang="zh-CN" sz="2800" b="1" dirty="0">
                <a:ea typeface="华文新魏" pitchFamily="2" charset="-122"/>
                <a:sym typeface="Webdings" pitchFamily="18" charset="2"/>
              </a:rPr>
              <a:t>[Au</a:t>
            </a:r>
            <a:r>
              <a:rPr lang="en-US" altLang="zh-CN" sz="2800" b="1" baseline="30000" dirty="0">
                <a:ea typeface="华文新魏" pitchFamily="2" charset="-122"/>
                <a:sym typeface="Webdings" pitchFamily="18" charset="2"/>
              </a:rPr>
              <a:t>+</a:t>
            </a:r>
            <a:r>
              <a:rPr lang="en-US" altLang="zh-CN" sz="2800" b="1" dirty="0">
                <a:ea typeface="华文新魏" pitchFamily="2" charset="-122"/>
                <a:sym typeface="Webdings" pitchFamily="18" charset="2"/>
              </a:rPr>
              <a:t>] </a:t>
            </a:r>
            <a:r>
              <a:rPr lang="en-US" altLang="zh-CN" sz="2800" b="1" dirty="0" smtClean="0">
                <a:ea typeface="华文新魏" pitchFamily="2" charset="-122"/>
                <a:sym typeface="Webdings" pitchFamily="18" charset="2"/>
              </a:rPr>
              <a:t>=1/</a:t>
            </a:r>
            <a:r>
              <a:rPr lang="en-US" altLang="zh-CN" sz="2800" b="1" i="1" dirty="0" smtClean="0">
                <a:ea typeface="华文新魏" pitchFamily="2" charset="-122"/>
              </a:rPr>
              <a:t>K</a:t>
            </a:r>
            <a:r>
              <a:rPr lang="en-US" altLang="zh-CN" sz="28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800" b="1" baseline="-25000" dirty="0">
                <a:ea typeface="华文新魏" pitchFamily="2" charset="-122"/>
                <a:sym typeface="Webdings" pitchFamily="18" charset="2"/>
              </a:rPr>
              <a:t>稳</a:t>
            </a: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9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97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97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97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4" grpId="0" build="p" autoUpdateAnimBg="0"/>
      <p:bldP spid="29713" grpId="0" autoUpdateAnimBg="0"/>
      <p:bldP spid="29722" grpId="0" autoUpdateAnimBg="0"/>
      <p:bldP spid="29723" grpId="0" autoUpdateAnimBg="0"/>
      <p:bldP spid="29725" grpId="0" animBg="1"/>
      <p:bldP spid="29726" grpId="0" autoUpdateAnimBg="0"/>
      <p:bldP spid="29727" grpId="0" autoUpdateAnimBg="0"/>
      <p:bldP spid="1434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2" name="Rectangle 8"/>
          <p:cNvSpPr>
            <a:spLocks noChangeArrowheads="1"/>
          </p:cNvSpPr>
          <p:nvPr/>
        </p:nvSpPr>
        <p:spPr bwMode="auto">
          <a:xfrm>
            <a:off x="4687992" y="1015507"/>
            <a:ext cx="6132513" cy="20469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en-US" altLang="zh-CN" sz="2800" b="1" i="1" dirty="0" err="1" smtClean="0">
                <a:ea typeface="华文新魏" pitchFamily="2" charset="-122"/>
                <a:sym typeface="Symbol" pitchFamily="18" charset="2"/>
              </a:rPr>
              <a:t>E</a:t>
            </a:r>
            <a:r>
              <a:rPr lang="en-US" altLang="zh-CN" sz="2800" b="1" baseline="-25000" dirty="0" err="1" smtClean="0">
                <a:ea typeface="华文新魏" pitchFamily="2" charset="-122"/>
                <a:sym typeface="Symbol" pitchFamily="18" charset="2"/>
              </a:rPr>
              <a:t>Au</a:t>
            </a:r>
            <a:r>
              <a:rPr lang="en-US" altLang="zh-CN" sz="2800" b="1" baseline="-5000" dirty="0">
                <a:ea typeface="华文新魏" pitchFamily="2" charset="-122"/>
                <a:sym typeface="Symbol" pitchFamily="18" charset="2"/>
              </a:rPr>
              <a:t>+</a:t>
            </a:r>
            <a:r>
              <a:rPr lang="en-US" altLang="zh-CN" sz="2800" b="1" baseline="-25000" dirty="0">
                <a:ea typeface="华文新魏" pitchFamily="2" charset="-122"/>
                <a:sym typeface="Symbol" pitchFamily="18" charset="2"/>
              </a:rPr>
              <a:t>/Au</a:t>
            </a:r>
            <a:r>
              <a:rPr lang="en-US" altLang="zh-CN" sz="2800" b="1" dirty="0"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800" b="1" dirty="0" smtClean="0">
                <a:ea typeface="华文新魏" pitchFamily="2" charset="-122"/>
                <a:sym typeface="Symbol" pitchFamily="18" charset="2"/>
              </a:rPr>
              <a:t>= </a:t>
            </a:r>
            <a:r>
              <a:rPr lang="en-US" altLang="zh-CN" sz="2800" b="1" i="1" dirty="0" err="1">
                <a:ea typeface="华文新魏" pitchFamily="2" charset="-122"/>
                <a:sym typeface="Symbol" pitchFamily="18" charset="2"/>
              </a:rPr>
              <a:t>E</a:t>
            </a:r>
            <a:r>
              <a:rPr lang="en-US" altLang="zh-CN" sz="2800" b="1" baseline="10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800" b="1" baseline="-25000" dirty="0" err="1">
                <a:ea typeface="华文新魏" pitchFamily="2" charset="-122"/>
                <a:sym typeface="Symbol" pitchFamily="18" charset="2"/>
              </a:rPr>
              <a:t>Au</a:t>
            </a:r>
            <a:r>
              <a:rPr lang="en-US" altLang="zh-CN" sz="2800" b="1" baseline="-5000" dirty="0">
                <a:ea typeface="华文新魏" pitchFamily="2" charset="-122"/>
                <a:sym typeface="Symbol" pitchFamily="18" charset="2"/>
              </a:rPr>
              <a:t>+</a:t>
            </a:r>
            <a:r>
              <a:rPr lang="en-US" altLang="zh-CN" sz="2800" b="1" baseline="-25000" dirty="0">
                <a:ea typeface="华文新魏" pitchFamily="2" charset="-122"/>
                <a:sym typeface="Symbol" pitchFamily="18" charset="2"/>
              </a:rPr>
              <a:t>/Au</a:t>
            </a:r>
            <a:r>
              <a:rPr lang="en-US" altLang="zh-CN" sz="2800" b="1" dirty="0">
                <a:ea typeface="华文新魏" pitchFamily="2" charset="-122"/>
                <a:sym typeface="Symbol" pitchFamily="18" charset="2"/>
              </a:rPr>
              <a:t> + 0.0592</a:t>
            </a:r>
            <a:r>
              <a:rPr lang="en-US" altLang="zh-CN" sz="2800" b="1" dirty="0">
                <a:effectLst>
                  <a:outerShdw blurRad="38100" dist="38100" dir="2700000" algn="tl">
                    <a:srgbClr val="FFFFFF"/>
                  </a:outerShdw>
                </a:effectLst>
                <a:ea typeface="华文新魏" pitchFamily="2" charset="-122"/>
              </a:rPr>
              <a:t>lg</a:t>
            </a:r>
            <a:r>
              <a:rPr lang="en-US" altLang="zh-CN" sz="2800" b="1" dirty="0">
                <a:ea typeface="华文新魏" pitchFamily="2" charset="-122"/>
              </a:rPr>
              <a:t>1/</a:t>
            </a:r>
            <a:r>
              <a:rPr lang="en-US" altLang="zh-CN" sz="2800" b="1" i="1" dirty="0">
                <a:ea typeface="华文新魏" pitchFamily="2" charset="-122"/>
              </a:rPr>
              <a:t>K</a:t>
            </a:r>
            <a:r>
              <a:rPr lang="en-US" altLang="zh-CN" sz="28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800" b="1" baseline="-25000" dirty="0">
                <a:ea typeface="华文新魏" pitchFamily="2" charset="-122"/>
                <a:sym typeface="Webdings" pitchFamily="18" charset="2"/>
              </a:rPr>
              <a:t>稳</a:t>
            </a:r>
          </a:p>
          <a:p>
            <a:pPr>
              <a:lnSpc>
                <a:spcPct val="115000"/>
              </a:lnSpc>
              <a:defRPr/>
            </a:pPr>
            <a:r>
              <a:rPr lang="zh-CN" altLang="en-US" sz="2800" b="1" dirty="0">
                <a:ea typeface="华文新魏" pitchFamily="2" charset="-122"/>
                <a:sym typeface="Symbol" pitchFamily="18" charset="2"/>
              </a:rPr>
              <a:t>             </a:t>
            </a:r>
            <a:r>
              <a:rPr lang="en-US" altLang="zh-CN" sz="2800" b="1" dirty="0">
                <a:ea typeface="华文新魏" pitchFamily="2" charset="-122"/>
                <a:sym typeface="Symbol" pitchFamily="18" charset="2"/>
              </a:rPr>
              <a:t>= 1.692 + 0.0592</a:t>
            </a:r>
            <a:r>
              <a:rPr lang="en-US" altLang="zh-CN" sz="2800" b="1" dirty="0">
                <a:ea typeface="华文新魏" pitchFamily="2" charset="-122"/>
              </a:rPr>
              <a:t>lg</a:t>
            </a:r>
            <a:r>
              <a:rPr lang="en-US" altLang="zh-CN" sz="2800" b="1" dirty="0">
                <a:ea typeface="华文新魏" pitchFamily="2" charset="-122"/>
                <a:sym typeface="Symbol" pitchFamily="18" charset="2"/>
              </a:rPr>
              <a:t>10</a:t>
            </a:r>
            <a:r>
              <a:rPr lang="en-US" altLang="zh-CN" sz="2800" b="1" baseline="30000" dirty="0">
                <a:ea typeface="华文新魏" pitchFamily="2" charset="-122"/>
                <a:sym typeface="Symbol" pitchFamily="18" charset="2"/>
              </a:rPr>
              <a:t>-38.3 </a:t>
            </a:r>
            <a:r>
              <a:rPr lang="en-US" altLang="zh-CN" sz="2800" b="1" dirty="0">
                <a:ea typeface="华文新魏" pitchFamily="2" charset="-122"/>
                <a:sym typeface="Symbol" pitchFamily="18" charset="2"/>
              </a:rPr>
              <a:t>= -0.575V.</a:t>
            </a:r>
          </a:p>
          <a:p>
            <a:pPr>
              <a:lnSpc>
                <a:spcPct val="115000"/>
              </a:lnSpc>
              <a:defRPr/>
            </a:pPr>
            <a:r>
              <a:rPr lang="zh-CN" altLang="en-US" sz="2800" b="1" dirty="0">
                <a:ea typeface="华文新魏" pitchFamily="2" charset="-122"/>
                <a:sym typeface="Symbol" pitchFamily="18" charset="2"/>
              </a:rPr>
              <a:t>已知</a:t>
            </a:r>
            <a:r>
              <a:rPr lang="en-US" altLang="zh-CN" sz="2800" b="1" dirty="0">
                <a:ea typeface="华文新魏" pitchFamily="2" charset="-122"/>
                <a:sym typeface="Symbol" pitchFamily="18" charset="2"/>
              </a:rPr>
              <a:t>: </a:t>
            </a:r>
            <a:r>
              <a:rPr lang="en-US" altLang="zh-CN" sz="2800" b="1" i="1" dirty="0">
                <a:ea typeface="华文新魏" pitchFamily="2" charset="-122"/>
                <a:sym typeface="Symbol" pitchFamily="18" charset="2"/>
              </a:rPr>
              <a:t>E</a:t>
            </a:r>
            <a:r>
              <a:rPr lang="en-US" altLang="zh-CN" sz="28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800" b="1" baseline="-25000" dirty="0">
                <a:ea typeface="华文新魏" pitchFamily="2" charset="-122"/>
                <a:sym typeface="Webdings" pitchFamily="18" charset="2"/>
              </a:rPr>
              <a:t>O</a:t>
            </a:r>
            <a:r>
              <a:rPr lang="en-US" altLang="zh-CN" sz="2800" b="1" baseline="-40000" dirty="0">
                <a:ea typeface="华文新魏" pitchFamily="2" charset="-122"/>
                <a:sym typeface="Webdings" pitchFamily="18" charset="2"/>
              </a:rPr>
              <a:t>2</a:t>
            </a:r>
            <a:r>
              <a:rPr lang="en-US" altLang="zh-CN" sz="2800" b="1" baseline="-25000" dirty="0">
                <a:ea typeface="华文新魏" pitchFamily="2" charset="-122"/>
                <a:sym typeface="Webdings" pitchFamily="18" charset="2"/>
              </a:rPr>
              <a:t>/OH</a:t>
            </a:r>
            <a:r>
              <a:rPr lang="en-US" altLang="zh-CN" sz="2800" b="1" baseline="-5000" dirty="0">
                <a:ea typeface="华文新魏" pitchFamily="2" charset="-122"/>
                <a:sym typeface="Webdings" pitchFamily="18" charset="2"/>
              </a:rPr>
              <a:t>-</a:t>
            </a:r>
            <a:r>
              <a:rPr lang="en-US" altLang="zh-CN" sz="2800" b="1" dirty="0">
                <a:ea typeface="华文新魏" pitchFamily="2" charset="-122"/>
                <a:sym typeface="Webdings" pitchFamily="18" charset="2"/>
              </a:rPr>
              <a:t> = 0.401V.</a:t>
            </a:r>
          </a:p>
        </p:txBody>
      </p:sp>
      <p:sp>
        <p:nvSpPr>
          <p:cNvPr id="31758" name="Rectangle 14"/>
          <p:cNvSpPr>
            <a:spLocks noChangeArrowheads="1"/>
          </p:cNvSpPr>
          <p:nvPr/>
        </p:nvSpPr>
        <p:spPr bwMode="auto">
          <a:xfrm>
            <a:off x="4968949" y="3816151"/>
            <a:ext cx="4023858" cy="495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zh-CN" altLang="en-US" sz="2500" b="1" dirty="0">
                <a:ea typeface="华文新魏" pitchFamily="2" charset="-122"/>
                <a:sym typeface="Symbol" pitchFamily="18" charset="2"/>
              </a:rPr>
              <a:t>显然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:</a:t>
            </a:r>
            <a:r>
              <a:rPr lang="en-US" altLang="zh-CN" sz="2500" b="1" i="1" dirty="0">
                <a:solidFill>
                  <a:srgbClr val="FF0000"/>
                </a:solidFill>
                <a:ea typeface="华文新魏" pitchFamily="2" charset="-122"/>
                <a:sym typeface="Symbol" pitchFamily="18" charset="2"/>
              </a:rPr>
              <a:t>E</a:t>
            </a:r>
            <a:r>
              <a:rPr lang="en-US" altLang="zh-CN" sz="1600" b="1" baseline="100000" dirty="0">
                <a:solidFill>
                  <a:srgbClr val="FF0000"/>
                </a:solidFill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solidFill>
                  <a:srgbClr val="FF0000"/>
                </a:solidFill>
                <a:ea typeface="华文新魏" pitchFamily="2" charset="-122"/>
                <a:sym typeface="Webdings" pitchFamily="18" charset="2"/>
              </a:rPr>
              <a:t>O</a:t>
            </a:r>
            <a:r>
              <a:rPr lang="en-US" altLang="zh-CN" sz="2500" b="1" baseline="-40000" dirty="0">
                <a:solidFill>
                  <a:srgbClr val="FF0000"/>
                </a:solidFill>
                <a:ea typeface="华文新魏" pitchFamily="2" charset="-122"/>
                <a:sym typeface="Webdings" pitchFamily="18" charset="2"/>
              </a:rPr>
              <a:t>2</a:t>
            </a:r>
            <a:r>
              <a:rPr lang="en-US" altLang="zh-CN" sz="2500" b="1" baseline="-25000" dirty="0">
                <a:solidFill>
                  <a:srgbClr val="FF0000"/>
                </a:solidFill>
                <a:ea typeface="华文新魏" pitchFamily="2" charset="-122"/>
                <a:sym typeface="Webdings" pitchFamily="18" charset="2"/>
              </a:rPr>
              <a:t>/OH</a:t>
            </a:r>
            <a:r>
              <a:rPr lang="en-US" altLang="zh-CN" sz="2500" b="1" baseline="-5000" dirty="0">
                <a:solidFill>
                  <a:srgbClr val="FF0000"/>
                </a:solidFill>
                <a:ea typeface="华文新魏" pitchFamily="2" charset="-122"/>
                <a:sym typeface="Webdings" pitchFamily="18" charset="2"/>
              </a:rPr>
              <a:t>-</a:t>
            </a:r>
            <a:r>
              <a:rPr lang="en-US" altLang="zh-CN" sz="2500" b="1" dirty="0">
                <a:solidFill>
                  <a:srgbClr val="FF0000"/>
                </a:solidFill>
                <a:ea typeface="华文新魏" pitchFamily="2" charset="-122"/>
                <a:sym typeface="Webdings" pitchFamily="18" charset="2"/>
              </a:rPr>
              <a:t> &gt; </a:t>
            </a:r>
            <a:r>
              <a:rPr lang="en-US" altLang="zh-CN" sz="2500" b="1" i="1" dirty="0" err="1">
                <a:solidFill>
                  <a:srgbClr val="FF0000"/>
                </a:solidFill>
                <a:ea typeface="华文新魏" pitchFamily="2" charset="-122"/>
                <a:sym typeface="Symbol" pitchFamily="18" charset="2"/>
              </a:rPr>
              <a:t>E</a:t>
            </a:r>
            <a:r>
              <a:rPr lang="en-US" altLang="zh-CN" sz="1600" b="1" baseline="100000" dirty="0" err="1">
                <a:solidFill>
                  <a:srgbClr val="FF0000"/>
                </a:solidFill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solidFill>
                  <a:srgbClr val="FF0000"/>
                </a:solidFill>
                <a:ea typeface="华文新魏" pitchFamily="2" charset="-122"/>
              </a:rPr>
              <a:t>Au</a:t>
            </a:r>
            <a:r>
              <a:rPr lang="en-US" altLang="zh-CN" sz="2500" b="1" baseline="-25000" dirty="0">
                <a:solidFill>
                  <a:srgbClr val="FF0000"/>
                </a:solidFill>
                <a:ea typeface="华文新魏" pitchFamily="2" charset="-122"/>
              </a:rPr>
              <a:t>(CN)</a:t>
            </a:r>
            <a:r>
              <a:rPr lang="en-US" altLang="zh-CN" sz="2500" b="1" baseline="-40000" dirty="0">
                <a:solidFill>
                  <a:srgbClr val="FF0000"/>
                </a:solidFill>
                <a:ea typeface="华文新魏" pitchFamily="2" charset="-122"/>
              </a:rPr>
              <a:t>2</a:t>
            </a:r>
            <a:r>
              <a:rPr lang="en-US" altLang="zh-CN" sz="2500" b="1" baseline="-5000" dirty="0">
                <a:solidFill>
                  <a:srgbClr val="FF0000"/>
                </a:solidFill>
                <a:ea typeface="华文新魏" pitchFamily="2" charset="-122"/>
              </a:rPr>
              <a:t>-</a:t>
            </a:r>
            <a:r>
              <a:rPr lang="en-US" altLang="zh-CN" sz="2500" b="1" baseline="-25000" dirty="0">
                <a:solidFill>
                  <a:srgbClr val="FF0000"/>
                </a:solidFill>
                <a:ea typeface="华文新魏" pitchFamily="2" charset="-122"/>
                <a:sym typeface="Symbol" pitchFamily="18" charset="2"/>
              </a:rPr>
              <a:t>/Au</a:t>
            </a:r>
            <a:r>
              <a:rPr lang="en-US" altLang="zh-CN" sz="2500" b="1" dirty="0">
                <a:solidFill>
                  <a:srgbClr val="FF0000"/>
                </a:solidFill>
                <a:ea typeface="华文新魏" pitchFamily="2" charset="-122"/>
                <a:sym typeface="Symbol" pitchFamily="18" charset="2"/>
              </a:rPr>
              <a:t>.</a:t>
            </a:r>
          </a:p>
        </p:txBody>
      </p:sp>
      <p:sp>
        <p:nvSpPr>
          <p:cNvPr id="6" name="Rectangle 16"/>
          <p:cNvSpPr>
            <a:spLocks noChangeArrowheads="1"/>
          </p:cNvSpPr>
          <p:nvPr/>
        </p:nvSpPr>
        <p:spPr bwMode="auto">
          <a:xfrm>
            <a:off x="260332" y="382588"/>
            <a:ext cx="2928937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200" b="1" dirty="0">
                <a:solidFill>
                  <a:srgbClr val="FFFF00"/>
                </a:solidFill>
                <a:ea typeface="华文新魏" pitchFamily="2" charset="-122"/>
              </a:rPr>
              <a:t>例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</a:rPr>
              <a:t>7</a:t>
            </a:r>
            <a:r>
              <a:rPr lang="en-US" altLang="zh-CN" sz="2200" b="1" dirty="0" smtClean="0">
                <a:solidFill>
                  <a:srgbClr val="FFFF00"/>
                </a:solidFill>
                <a:ea typeface="华文新魏" pitchFamily="2" charset="-122"/>
              </a:rPr>
              <a:t>: </a:t>
            </a:r>
            <a:r>
              <a:rPr lang="zh-CN" altLang="en-US" sz="2200" b="1" dirty="0" smtClean="0">
                <a:ea typeface="华文新魏" pitchFamily="2" charset="-122"/>
              </a:rPr>
              <a:t>据</a:t>
            </a:r>
            <a:r>
              <a:rPr lang="en-US" altLang="zh-CN" sz="2200" b="1" i="1" dirty="0">
                <a:ea typeface="华文新魏" pitchFamily="2" charset="-122"/>
                <a:sym typeface="Symbol" pitchFamily="18" charset="2"/>
              </a:rPr>
              <a:t>E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(Au</a:t>
            </a:r>
            <a:r>
              <a:rPr lang="en-US" altLang="zh-CN" sz="2200" b="1" baseline="30000" dirty="0">
                <a:ea typeface="华文新魏" pitchFamily="2" charset="-122"/>
                <a:sym typeface="Webdings" pitchFamily="18" charset="2"/>
              </a:rPr>
              <a:t>+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/Au) = +1.692V,Au</a:t>
            </a:r>
            <a:r>
              <a:rPr lang="zh-CN" altLang="en-US" sz="2200" b="1" dirty="0">
                <a:ea typeface="华文新魏" pitchFamily="2" charset="-122"/>
                <a:sym typeface="Webdings" pitchFamily="18" charset="2"/>
              </a:rPr>
              <a:t>很难被氧化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.</a:t>
            </a:r>
            <a:r>
              <a:rPr lang="zh-CN" altLang="en-US" sz="2200" b="1" dirty="0">
                <a:ea typeface="华文新魏" pitchFamily="2" charset="-122"/>
                <a:sym typeface="Webdings" pitchFamily="18" charset="2"/>
              </a:rPr>
              <a:t>若加入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KCN,</a:t>
            </a:r>
            <a:r>
              <a:rPr lang="zh-CN" altLang="en-US" sz="2200" b="1" dirty="0">
                <a:ea typeface="华文新魏" pitchFamily="2" charset="-122"/>
                <a:sym typeface="Webdings" pitchFamily="18" charset="2"/>
              </a:rPr>
              <a:t>就可以在碱性条件下利用空气中的氧将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Au</a:t>
            </a:r>
            <a:r>
              <a:rPr lang="zh-CN" altLang="en-US" sz="2200" b="1" dirty="0">
                <a:ea typeface="华文新魏" pitchFamily="2" charset="-122"/>
                <a:sym typeface="Webdings" pitchFamily="18" charset="2"/>
              </a:rPr>
              <a:t>氧化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(</a:t>
            </a:r>
            <a:r>
              <a:rPr lang="zh-CN" altLang="en-US" sz="2200" b="1" dirty="0">
                <a:ea typeface="华文新魏" pitchFamily="2" charset="-122"/>
                <a:sym typeface="Webdings" pitchFamily="18" charset="2"/>
              </a:rPr>
              <a:t>已知</a:t>
            </a:r>
            <a:r>
              <a:rPr lang="en-US" altLang="zh-CN" sz="2200" b="1" i="1" dirty="0">
                <a:ea typeface="华文新魏" pitchFamily="2" charset="-122"/>
                <a:sym typeface="Symbol" pitchFamily="18" charset="2"/>
              </a:rPr>
              <a:t>E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(O</a:t>
            </a:r>
            <a:r>
              <a:rPr lang="en-US" altLang="zh-CN" sz="2200" b="1" baseline="-25000" dirty="0">
                <a:ea typeface="华文新魏" pitchFamily="2" charset="-122"/>
                <a:sym typeface="Webdings" pitchFamily="18" charset="2"/>
              </a:rPr>
              <a:t>2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/OH</a:t>
            </a:r>
            <a:r>
              <a:rPr lang="en-US" altLang="zh-CN" sz="2200" b="1" baseline="30000" dirty="0">
                <a:ea typeface="华文新魏" pitchFamily="2" charset="-122"/>
                <a:sym typeface="Webdings" pitchFamily="18" charset="2"/>
              </a:rPr>
              <a:t>-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) = 0.401V</a:t>
            </a:r>
            <a:r>
              <a:rPr lang="en-US" altLang="zh-CN" sz="2200" b="1" dirty="0" smtClean="0">
                <a:ea typeface="华文新魏" pitchFamily="2" charset="-122"/>
                <a:sym typeface="Webdings" pitchFamily="18" charset="2"/>
              </a:rPr>
              <a:t>).</a:t>
            </a:r>
            <a:r>
              <a:rPr lang="zh-CN" altLang="en-US" sz="2200" b="1" dirty="0" smtClean="0">
                <a:ea typeface="华文新魏" pitchFamily="2" charset="-122"/>
                <a:sym typeface="Webdings" pitchFamily="18" charset="2"/>
              </a:rPr>
              <a:t>（</a:t>
            </a:r>
            <a:r>
              <a:rPr lang="zh-CN" altLang="en-US" sz="2200" b="1" dirty="0" smtClean="0">
                <a:solidFill>
                  <a:srgbClr val="FFFF00"/>
                </a:solidFill>
                <a:ea typeface="华文新魏" pitchFamily="2" charset="-122"/>
                <a:sym typeface="Webdings" pitchFamily="18" charset="2"/>
              </a:rPr>
              <a:t>以标准状态下为例）</a:t>
            </a:r>
            <a:endParaRPr lang="en-US" altLang="zh-CN" sz="2200" b="1" dirty="0">
              <a:solidFill>
                <a:srgbClr val="FFFF00"/>
              </a:solidFill>
              <a:ea typeface="华文新魏" pitchFamily="2" charset="-122"/>
              <a:sym typeface="Webdings" pitchFamily="18" charset="2"/>
            </a:endParaRPr>
          </a:p>
          <a:p>
            <a:r>
              <a:rPr lang="zh-CN" altLang="en-US" sz="2200" b="1" dirty="0">
                <a:ea typeface="华文新魏" pitchFamily="2" charset="-122"/>
                <a:sym typeface="Webdings" pitchFamily="18" charset="2"/>
              </a:rPr>
              <a:t>试计算说明 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(</a:t>
            </a:r>
            <a:r>
              <a:rPr lang="en-US" altLang="zh-CN" sz="2200" b="1" dirty="0" err="1">
                <a:ea typeface="华文新魏" pitchFamily="2" charset="-122"/>
                <a:sym typeface="Webdings" pitchFamily="18" charset="2"/>
              </a:rPr>
              <a:t>lg</a:t>
            </a:r>
            <a:r>
              <a:rPr lang="en-US" altLang="zh-CN" sz="22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2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zh-CN" altLang="en-US" sz="2200" b="1" dirty="0">
                <a:ea typeface="华文新魏" pitchFamily="2" charset="-122"/>
                <a:sym typeface="Webdings" pitchFamily="18" charset="2"/>
              </a:rPr>
              <a:t> 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{Au(CN)</a:t>
            </a:r>
            <a:r>
              <a:rPr lang="en-US" altLang="zh-CN" sz="2200" b="1" baseline="-25000" dirty="0">
                <a:ea typeface="华文新魏" pitchFamily="2" charset="-122"/>
                <a:sym typeface="Webdings" pitchFamily="18" charset="2"/>
              </a:rPr>
              <a:t>2</a:t>
            </a:r>
            <a:r>
              <a:rPr lang="en-US" altLang="zh-CN" sz="2200" b="1" baseline="30000" dirty="0">
                <a:ea typeface="华文新魏" pitchFamily="2" charset="-122"/>
                <a:sym typeface="Webdings" pitchFamily="18" charset="2"/>
              </a:rPr>
              <a:t>-</a:t>
            </a:r>
            <a:r>
              <a:rPr lang="en-US" altLang="zh-CN" sz="2200" b="1" dirty="0">
                <a:ea typeface="华文新魏" pitchFamily="2" charset="-122"/>
                <a:sym typeface="Webdings" pitchFamily="18" charset="2"/>
              </a:rPr>
              <a:t>} = 38.3).</a:t>
            </a:r>
          </a:p>
        </p:txBody>
      </p:sp>
      <p:sp>
        <p:nvSpPr>
          <p:cNvPr id="7" name="矩形 17"/>
          <p:cNvSpPr>
            <a:spLocks noChangeArrowheads="1"/>
          </p:cNvSpPr>
          <p:nvPr/>
        </p:nvSpPr>
        <p:spPr bwMode="auto">
          <a:xfrm>
            <a:off x="4046538" y="382588"/>
            <a:ext cx="6143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solidFill>
                  <a:srgbClr val="FFFF00"/>
                </a:solidFill>
                <a:ea typeface="华文新魏" pitchFamily="2" charset="-122"/>
                <a:sym typeface="Webdings" pitchFamily="18" charset="2"/>
              </a:rPr>
              <a:t>解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  <a:sym typeface="Webdings" pitchFamily="18" charset="2"/>
              </a:rPr>
              <a:t>:</a:t>
            </a: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17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17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17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2" grpId="0" build="p" autoUpdateAnimBg="0"/>
      <p:bldP spid="3175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39" name="Text Box 31"/>
          <p:cNvSpPr txBox="1">
            <a:spLocks noChangeArrowheads="1"/>
          </p:cNvSpPr>
          <p:nvPr/>
        </p:nvSpPr>
        <p:spPr bwMode="auto">
          <a:xfrm>
            <a:off x="260350" y="454025"/>
            <a:ext cx="3000375" cy="110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200" b="1" dirty="0">
                <a:solidFill>
                  <a:srgbClr val="FFFF00"/>
                </a:solidFill>
                <a:ea typeface="华文新魏" pitchFamily="2" charset="-122"/>
              </a:rPr>
              <a:t>例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</a:rPr>
              <a:t>8:</a:t>
            </a:r>
            <a:r>
              <a:rPr lang="zh-CN" altLang="en-US" sz="2200" b="1" dirty="0">
                <a:ea typeface="华文新魏" pitchFamily="2" charset="-122"/>
              </a:rPr>
              <a:t>计算</a:t>
            </a:r>
            <a:r>
              <a:rPr lang="en-US" altLang="zh-CN" sz="2200" b="1" dirty="0">
                <a:ea typeface="华文新魏" pitchFamily="2" charset="-122"/>
              </a:rPr>
              <a:t>pH = 2.0</a:t>
            </a:r>
            <a:r>
              <a:rPr lang="zh-CN" altLang="en-US" sz="2200" b="1" dirty="0">
                <a:ea typeface="华文新魏" pitchFamily="2" charset="-122"/>
              </a:rPr>
              <a:t>和</a:t>
            </a:r>
            <a:r>
              <a:rPr lang="en-US" altLang="zh-CN" sz="2200" b="1" dirty="0">
                <a:ea typeface="华文新魏" pitchFamily="2" charset="-122"/>
              </a:rPr>
              <a:t>pH = 5.0</a:t>
            </a:r>
            <a:r>
              <a:rPr lang="zh-CN" altLang="en-US" sz="2200" b="1" dirty="0">
                <a:ea typeface="华文新魏" pitchFamily="2" charset="-122"/>
              </a:rPr>
              <a:t>时</a:t>
            </a:r>
            <a:r>
              <a:rPr lang="en-US" altLang="zh-CN" sz="2200" b="1" dirty="0">
                <a:ea typeface="华文新魏" pitchFamily="2" charset="-122"/>
              </a:rPr>
              <a:t>ZnY</a:t>
            </a:r>
            <a:r>
              <a:rPr lang="en-US" altLang="zh-CN" sz="2200" b="1" baseline="30000" dirty="0">
                <a:ea typeface="华文新魏" pitchFamily="2" charset="-122"/>
              </a:rPr>
              <a:t>2-</a:t>
            </a:r>
            <a:r>
              <a:rPr lang="zh-CN" altLang="en-US" sz="2200" b="1" dirty="0">
                <a:ea typeface="华文新魏" pitchFamily="2" charset="-122"/>
              </a:rPr>
              <a:t>的条件稳定常数</a:t>
            </a:r>
            <a:r>
              <a:rPr lang="en-US" altLang="zh-CN" sz="2200" b="1" dirty="0" err="1">
                <a:ea typeface="华文新魏" pitchFamily="2" charset="-122"/>
              </a:rPr>
              <a:t>lg</a:t>
            </a:r>
            <a:r>
              <a:rPr lang="en-US" altLang="zh-CN" sz="22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200" b="1">
                <a:ea typeface="华文新魏" pitchFamily="2" charset="-122"/>
                <a:sym typeface="Webdings" pitchFamily="18" charset="2"/>
              </a:rPr>
              <a:t>’</a:t>
            </a:r>
            <a:r>
              <a:rPr lang="en-US" altLang="zh-CN" sz="2200" b="1" baseline="-25000">
                <a:ea typeface="华文新魏" pitchFamily="2" charset="-122"/>
                <a:sym typeface="Webdings" pitchFamily="18" charset="2"/>
              </a:rPr>
              <a:t>ZnY</a:t>
            </a:r>
            <a:r>
              <a:rPr lang="en-US" altLang="zh-CN" sz="2200" b="1" dirty="0">
                <a:ea typeface="华文新魏" pitchFamily="2" charset="-122"/>
              </a:rPr>
              <a:t>.</a:t>
            </a:r>
          </a:p>
        </p:txBody>
      </p:sp>
      <p:sp>
        <p:nvSpPr>
          <p:cNvPr id="43040" name="Rectangle 32"/>
          <p:cNvSpPr>
            <a:spLocks noChangeArrowheads="1"/>
          </p:cNvSpPr>
          <p:nvPr/>
        </p:nvSpPr>
        <p:spPr bwMode="auto">
          <a:xfrm>
            <a:off x="4975225" y="668338"/>
            <a:ext cx="9334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华文新魏" pitchFamily="2" charset="-122"/>
              </a:rPr>
              <a:t>查表</a:t>
            </a:r>
            <a:r>
              <a:rPr lang="en-US" altLang="zh-CN" sz="2500" b="1">
                <a:ea typeface="华文新魏" pitchFamily="2" charset="-122"/>
              </a:rPr>
              <a:t>:</a:t>
            </a:r>
          </a:p>
        </p:txBody>
      </p:sp>
      <p:sp>
        <p:nvSpPr>
          <p:cNvPr id="43041" name="Rectangle 33"/>
          <p:cNvSpPr>
            <a:spLocks noChangeArrowheads="1"/>
          </p:cNvSpPr>
          <p:nvPr/>
        </p:nvSpPr>
        <p:spPr bwMode="auto">
          <a:xfrm>
            <a:off x="5975350" y="668338"/>
            <a:ext cx="21463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 err="1">
                <a:ea typeface="华文新魏" pitchFamily="2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华文新魏" pitchFamily="2" charset="-122"/>
              </a:rPr>
              <a:t>ZnY</a:t>
            </a:r>
            <a:r>
              <a:rPr lang="en-US" altLang="zh-CN" sz="2500" b="1" dirty="0">
                <a:ea typeface="华文新魏" pitchFamily="2" charset="-122"/>
              </a:rPr>
              <a:t> = 16.4</a:t>
            </a:r>
          </a:p>
        </p:txBody>
      </p:sp>
      <p:sp>
        <p:nvSpPr>
          <p:cNvPr id="43042" name="Rectangle 34"/>
          <p:cNvSpPr>
            <a:spLocks noChangeArrowheads="1"/>
          </p:cNvSpPr>
          <p:nvPr/>
        </p:nvSpPr>
        <p:spPr bwMode="auto">
          <a:xfrm>
            <a:off x="4903788" y="1239838"/>
            <a:ext cx="9334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华文新魏" pitchFamily="2" charset="-122"/>
              </a:rPr>
              <a:t>查表</a:t>
            </a:r>
            <a:r>
              <a:rPr lang="en-US" altLang="zh-CN" sz="2500" b="1">
                <a:ea typeface="华文新魏" pitchFamily="2" charset="-122"/>
              </a:rPr>
              <a:t>:</a:t>
            </a:r>
          </a:p>
        </p:txBody>
      </p:sp>
      <p:sp>
        <p:nvSpPr>
          <p:cNvPr id="43043" name="Rectangle 35"/>
          <p:cNvSpPr>
            <a:spLocks noChangeArrowheads="1"/>
          </p:cNvSpPr>
          <p:nvPr/>
        </p:nvSpPr>
        <p:spPr bwMode="auto">
          <a:xfrm>
            <a:off x="5832475" y="1382713"/>
            <a:ext cx="3816994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pH = 2.0 </a:t>
            </a:r>
            <a:r>
              <a:rPr lang="zh-CN" altLang="en-US" sz="2500" b="1" dirty="0">
                <a:ea typeface="华文新魏" pitchFamily="2" charset="-122"/>
              </a:rPr>
              <a:t>时</a:t>
            </a:r>
            <a:r>
              <a:rPr lang="en-US" altLang="zh-CN" sz="2500" b="1" dirty="0">
                <a:ea typeface="华文新魏" pitchFamily="2" charset="-122"/>
              </a:rPr>
              <a:t>, </a:t>
            </a:r>
            <a:r>
              <a:rPr lang="en-US" altLang="zh-CN" sz="2500" b="1" dirty="0" err="1">
                <a:ea typeface="华文新魏" pitchFamily="2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</a:rPr>
              <a:t>α</a:t>
            </a:r>
            <a:r>
              <a:rPr lang="en-US" altLang="zh-CN" sz="2500" b="1" baseline="-25000" dirty="0" err="1">
                <a:ea typeface="华文新魏" pitchFamily="2" charset="-122"/>
              </a:rPr>
              <a:t>Y</a:t>
            </a:r>
            <a:r>
              <a:rPr lang="en-US" altLang="zh-CN" sz="2500" b="1" baseline="-25000" dirty="0">
                <a:ea typeface="华文新魏" pitchFamily="2" charset="-122"/>
              </a:rPr>
              <a:t>(H) </a:t>
            </a:r>
            <a:r>
              <a:rPr lang="en-US" altLang="zh-CN" sz="2500" b="1" dirty="0">
                <a:ea typeface="华文新魏" pitchFamily="2" charset="-122"/>
              </a:rPr>
              <a:t>= 13.51</a:t>
            </a:r>
          </a:p>
          <a:p>
            <a:r>
              <a:rPr lang="en-US" altLang="zh-CN" sz="2500" b="1" dirty="0">
                <a:ea typeface="华文新魏" pitchFamily="2" charset="-122"/>
              </a:rPr>
              <a:t>pH = 5.0 </a:t>
            </a:r>
            <a:r>
              <a:rPr lang="zh-CN" altLang="en-US" sz="2500" b="1" dirty="0">
                <a:ea typeface="华文新魏" pitchFamily="2" charset="-122"/>
              </a:rPr>
              <a:t>时</a:t>
            </a:r>
            <a:r>
              <a:rPr lang="en-US" altLang="zh-CN" sz="2500" b="1" dirty="0">
                <a:ea typeface="华文新魏" pitchFamily="2" charset="-122"/>
              </a:rPr>
              <a:t>, </a:t>
            </a:r>
            <a:r>
              <a:rPr lang="en-US" altLang="zh-CN" sz="2500" b="1" dirty="0" err="1">
                <a:ea typeface="华文新魏" pitchFamily="2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</a:rPr>
              <a:t>α</a:t>
            </a:r>
            <a:r>
              <a:rPr lang="en-US" altLang="zh-CN" sz="2500" b="1" baseline="-25000" dirty="0" err="1">
                <a:ea typeface="华文新魏" pitchFamily="2" charset="-122"/>
              </a:rPr>
              <a:t>Y</a:t>
            </a:r>
            <a:r>
              <a:rPr lang="en-US" altLang="zh-CN" sz="2500" b="1" baseline="-25000" dirty="0">
                <a:ea typeface="华文新魏" pitchFamily="2" charset="-122"/>
              </a:rPr>
              <a:t>(H) </a:t>
            </a:r>
            <a:r>
              <a:rPr lang="en-US" altLang="zh-CN" sz="2500" b="1" dirty="0">
                <a:ea typeface="华文新魏" pitchFamily="2" charset="-122"/>
              </a:rPr>
              <a:t>= 6.45</a:t>
            </a:r>
          </a:p>
        </p:txBody>
      </p:sp>
      <p:sp>
        <p:nvSpPr>
          <p:cNvPr id="16391" name="矩形 17"/>
          <p:cNvSpPr>
            <a:spLocks noChangeArrowheads="1"/>
          </p:cNvSpPr>
          <p:nvPr/>
        </p:nvSpPr>
        <p:spPr bwMode="auto">
          <a:xfrm>
            <a:off x="4046525" y="477821"/>
            <a:ext cx="60483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解</a:t>
            </a:r>
            <a:r>
              <a:rPr lang="en-US" altLang="zh-CN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:</a:t>
            </a:r>
          </a:p>
        </p:txBody>
      </p:sp>
      <p:sp>
        <p:nvSpPr>
          <p:cNvPr id="19" name="Rectangle 1032"/>
          <p:cNvSpPr>
            <a:spLocks noChangeArrowheads="1"/>
          </p:cNvSpPr>
          <p:nvPr/>
        </p:nvSpPr>
        <p:spPr bwMode="auto">
          <a:xfrm>
            <a:off x="4117975" y="2954338"/>
            <a:ext cx="6786563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500" b="1" dirty="0">
                <a:ea typeface="华文新魏" pitchFamily="2" charset="-122"/>
              </a:rPr>
              <a:t>得</a:t>
            </a:r>
            <a:r>
              <a:rPr lang="en-US" altLang="zh-CN" sz="2500" b="1" dirty="0">
                <a:ea typeface="华文新魏" pitchFamily="2" charset="-122"/>
              </a:rPr>
              <a:t>:</a:t>
            </a:r>
          </a:p>
          <a:p>
            <a:pPr>
              <a:lnSpc>
                <a:spcPct val="105000"/>
              </a:lnSpc>
            </a:pPr>
            <a:r>
              <a:rPr lang="en-US" altLang="zh-CN" sz="2500" b="1" dirty="0">
                <a:ea typeface="华文新魏" pitchFamily="2" charset="-122"/>
              </a:rPr>
              <a:t>     pH = 2.0</a:t>
            </a:r>
            <a:r>
              <a:rPr lang="zh-CN" altLang="en-US" sz="2500" b="1" dirty="0">
                <a:ea typeface="华文新魏" pitchFamily="2" charset="-122"/>
              </a:rPr>
              <a:t>时</a:t>
            </a:r>
            <a:r>
              <a:rPr lang="en-US" altLang="zh-CN" sz="2500" b="1" dirty="0">
                <a:ea typeface="华文新魏" pitchFamily="2" charset="-122"/>
              </a:rPr>
              <a:t>, </a:t>
            </a:r>
            <a:r>
              <a:rPr lang="en-US" altLang="zh-CN" sz="2500" b="1" dirty="0" err="1">
                <a:ea typeface="华文新魏" pitchFamily="2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dirty="0" err="1">
                <a:ea typeface="华文新魏" pitchFamily="2" charset="-122"/>
                <a:sym typeface="Webdings" pitchFamily="18" charset="2"/>
              </a:rPr>
              <a:t>’</a:t>
            </a:r>
            <a:r>
              <a:rPr lang="en-US" altLang="zh-CN" sz="2500" b="1" baseline="-25000" dirty="0" err="1">
                <a:ea typeface="华文新魏" pitchFamily="2" charset="-122"/>
              </a:rPr>
              <a:t>ZnY</a:t>
            </a:r>
            <a:r>
              <a:rPr lang="en-US" altLang="zh-CN" sz="2500" b="1" baseline="-25000" dirty="0">
                <a:ea typeface="华文新魏" pitchFamily="2" charset="-122"/>
              </a:rPr>
              <a:t> </a:t>
            </a:r>
            <a:r>
              <a:rPr lang="en-US" altLang="zh-CN" sz="2500" b="1" dirty="0">
                <a:ea typeface="华文新魏" pitchFamily="2" charset="-122"/>
              </a:rPr>
              <a:t>= 16.4 -13.51 = 2.9</a:t>
            </a:r>
          </a:p>
          <a:p>
            <a:pPr>
              <a:lnSpc>
                <a:spcPct val="105000"/>
              </a:lnSpc>
            </a:pPr>
            <a:r>
              <a:rPr lang="en-US" altLang="zh-CN" sz="2500" b="1" dirty="0">
                <a:ea typeface="华文新魏" pitchFamily="2" charset="-122"/>
              </a:rPr>
              <a:t>     pH = 5.0</a:t>
            </a:r>
            <a:r>
              <a:rPr lang="zh-CN" altLang="en-US" sz="2500" b="1" dirty="0">
                <a:ea typeface="华文新魏" pitchFamily="2" charset="-122"/>
              </a:rPr>
              <a:t>时</a:t>
            </a:r>
            <a:r>
              <a:rPr lang="en-US" altLang="zh-CN" sz="2500" b="1" dirty="0">
                <a:ea typeface="华文新魏" pitchFamily="2" charset="-122"/>
              </a:rPr>
              <a:t>, </a:t>
            </a:r>
            <a:r>
              <a:rPr lang="en-US" altLang="zh-CN" sz="2500" b="1" dirty="0" err="1">
                <a:ea typeface="华文新魏" pitchFamily="2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dirty="0" err="1">
                <a:ea typeface="华文新魏" pitchFamily="2" charset="-122"/>
                <a:sym typeface="Webdings" pitchFamily="18" charset="2"/>
              </a:rPr>
              <a:t>’</a:t>
            </a:r>
            <a:r>
              <a:rPr lang="en-US" altLang="zh-CN" sz="2500" b="1" baseline="-25000" dirty="0" err="1">
                <a:ea typeface="华文新魏" pitchFamily="2" charset="-122"/>
              </a:rPr>
              <a:t>ZnY</a:t>
            </a:r>
            <a:r>
              <a:rPr lang="en-US" altLang="zh-CN" sz="2500" b="1" baseline="-25000" dirty="0">
                <a:ea typeface="华文新魏" pitchFamily="2" charset="-122"/>
              </a:rPr>
              <a:t> </a:t>
            </a:r>
            <a:r>
              <a:rPr lang="en-US" altLang="zh-CN" sz="2500" b="1" dirty="0">
                <a:ea typeface="华文新魏" pitchFamily="2" charset="-122"/>
              </a:rPr>
              <a:t>= 16.4 - 6.45 = 10.0</a:t>
            </a:r>
          </a:p>
        </p:txBody>
      </p:sp>
      <p:sp>
        <p:nvSpPr>
          <p:cNvPr id="20" name="Rectangle 1052"/>
          <p:cNvSpPr>
            <a:spLocks noChangeArrowheads="1"/>
          </p:cNvSpPr>
          <p:nvPr/>
        </p:nvSpPr>
        <p:spPr bwMode="auto">
          <a:xfrm>
            <a:off x="4475163" y="2454275"/>
            <a:ext cx="621506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500" b="1" dirty="0">
                <a:ea typeface="华文新魏" pitchFamily="2" charset="-122"/>
              </a:rPr>
              <a:t>由</a:t>
            </a:r>
            <a:r>
              <a:rPr lang="en-US" altLang="zh-CN" sz="2500" b="1" dirty="0">
                <a:ea typeface="华文新魏" pitchFamily="2" charset="-122"/>
              </a:rPr>
              <a:t>:</a:t>
            </a:r>
            <a:r>
              <a:rPr lang="en-US" altLang="zh-CN" sz="2500" b="1" dirty="0" err="1">
                <a:ea typeface="华文新魏" pitchFamily="2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dirty="0" err="1">
                <a:ea typeface="华文新魏" pitchFamily="2" charset="-122"/>
                <a:sym typeface="Webdings" pitchFamily="18" charset="2"/>
              </a:rPr>
              <a:t>’</a:t>
            </a:r>
            <a:r>
              <a:rPr lang="en-US" altLang="zh-CN" sz="2500" b="1" baseline="-25000" dirty="0" err="1">
                <a:ea typeface="华文新魏" pitchFamily="2" charset="-122"/>
                <a:sym typeface="Webdings" pitchFamily="18" charset="2"/>
              </a:rPr>
              <a:t>MY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 = </a:t>
            </a:r>
            <a:r>
              <a:rPr lang="en-US" altLang="zh-CN" sz="2500" b="1" dirty="0" err="1">
                <a:ea typeface="华文新魏" pitchFamily="2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华文新魏" pitchFamily="2" charset="-122"/>
                <a:sym typeface="Webdings" pitchFamily="18" charset="2"/>
              </a:rPr>
              <a:t>MY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 - </a:t>
            </a:r>
            <a:r>
              <a:rPr lang="en-US" altLang="zh-CN" sz="2500" b="1" dirty="0" err="1">
                <a:ea typeface="华文新魏" pitchFamily="2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</a:rPr>
              <a:t>α</a:t>
            </a:r>
            <a:r>
              <a:rPr lang="en-US" altLang="zh-CN" sz="2500" b="1" baseline="-25000" dirty="0" err="1">
                <a:ea typeface="华文新魏" pitchFamily="2" charset="-122"/>
              </a:rPr>
              <a:t>Y</a:t>
            </a:r>
            <a:r>
              <a:rPr lang="en-US" altLang="zh-CN" sz="2500" b="1" baseline="-25000" dirty="0">
                <a:ea typeface="华文新魏" pitchFamily="2" charset="-122"/>
              </a:rPr>
              <a:t>(H)</a:t>
            </a:r>
            <a:endParaRPr lang="en-US" altLang="zh-CN" sz="2500" b="1" dirty="0">
              <a:ea typeface="华文新魏" pitchFamily="2" charset="-122"/>
            </a:endParaRP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3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3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3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43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40" grpId="0" autoUpdateAnimBg="0"/>
      <p:bldP spid="43041" grpId="0" autoUpdateAnimBg="0"/>
      <p:bldP spid="43042" grpId="0" autoUpdateAnimBg="0"/>
      <p:bldP spid="43043" grpId="0" autoUpdateAnimBg="0"/>
      <p:bldP spid="16391" grpId="0"/>
      <p:bldP spid="19" grpId="0" uiExpand="1" build="p" autoUpdateAnimBg="0"/>
      <p:bldP spid="20" grpId="0" build="p" autoUpdateAnimBg="0"/>
    </p:bldLst>
  </p:timing>
</p:sld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DADADA"/>
      </a:accent4>
      <a:accent5>
        <a:srgbClr val="AAAAAA"/>
      </a:accent5>
      <a:accent6>
        <a:srgbClr val="E700E7"/>
      </a:accent6>
      <a:hlink>
        <a:srgbClr val="FFCCFF"/>
      </a:hlink>
      <a:folHlink>
        <a:srgbClr val="66FF33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CCFF"/>
        </a:hlink>
        <a:folHlink>
          <a:srgbClr val="66FF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6415</TotalTime>
  <Pages>0</Pages>
  <Words>1655</Words>
  <Characters>0</Characters>
  <Application>Microsoft Office PowerPoint</Application>
  <DocSecurity>0</DocSecurity>
  <PresentationFormat>自定义</PresentationFormat>
  <Lines>0</Lines>
  <Paragraphs>203</Paragraphs>
  <Slides>15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Monotype Sorts</vt:lpstr>
      <vt:lpstr>华文新魏</vt:lpstr>
      <vt:lpstr>楷体_GB2312</vt:lpstr>
      <vt:lpstr>宋体</vt:lpstr>
      <vt:lpstr>Calibri</vt:lpstr>
      <vt:lpstr>Symbol</vt:lpstr>
      <vt:lpstr>Times New Roman</vt:lpstr>
      <vt:lpstr>Webdings</vt:lpstr>
      <vt:lpstr>Wingdings</vt:lpstr>
      <vt:lpstr>医学研究PPT模板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例题教学模板(教室版)</dc:title>
  <dc:creator>江南大学商少明</dc:creator>
  <cp:lastModifiedBy>USER</cp:lastModifiedBy>
  <cp:revision>306</cp:revision>
  <cp:lastPrinted>1601-01-01T00:00:00Z</cp:lastPrinted>
  <dcterms:created xsi:type="dcterms:W3CDTF">2012-06-20T03:37:37Z</dcterms:created>
  <dcterms:modified xsi:type="dcterms:W3CDTF">2021-12-02T07:31:20Z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2052-8.1.0.3089</vt:lpwstr>
  </property>
</Properties>
</file>