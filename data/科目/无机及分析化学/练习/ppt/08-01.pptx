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Default Extension="wav" ContentType="audio/wav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1" r:id="rId2"/>
  </p:sldMasterIdLst>
  <p:notesMasterIdLst>
    <p:notesMasterId r:id="rId35"/>
  </p:notesMasterIdLst>
  <p:handoutMasterIdLst>
    <p:handoutMasterId r:id="rId36"/>
  </p:handoutMasterIdLst>
  <p:sldIdLst>
    <p:sldId id="256" r:id="rId3"/>
    <p:sldId id="294" r:id="rId4"/>
    <p:sldId id="33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326" r:id="rId31"/>
    <p:sldId id="327" r:id="rId32"/>
    <p:sldId id="328" r:id="rId33"/>
    <p:sldId id="329" r:id="rId34"/>
  </p:sldIdLst>
  <p:sldSz cx="11522075" cy="6480175"/>
  <p:notesSz cx="6858000" cy="9144000"/>
  <p:custDataLst>
    <p:tags r:id="rId3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allowPng="1" imgSz="1024x768" encoding="gb2312"/>
  <p:clrMru>
    <a:srgbClr val="FFFFFF"/>
    <a:srgbClr val="FF0000"/>
    <a:srgbClr val="0000FF"/>
    <a:srgbClr val="FF00FF"/>
    <a:srgbClr val="FFFF00"/>
    <a:srgbClr val="F8F8F8"/>
    <a:srgbClr val="FF3300"/>
    <a:srgbClr val="EAEAEA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48" autoAdjust="0"/>
    <p:restoredTop sz="94620" autoAdjust="0"/>
  </p:normalViewPr>
  <p:slideViewPr>
    <p:cSldViewPr>
      <p:cViewPr varScale="1">
        <p:scale>
          <a:sx n="70" d="100"/>
          <a:sy n="70" d="100"/>
        </p:scale>
        <p:origin x="-348" y="-108"/>
      </p:cViewPr>
      <p:guideLst>
        <p:guide orient="horz" pos="2034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B7D9A9ED-70B8-40D0-A869-E2345B3EEA17}" type="datetimeFigureOut">
              <a:rPr lang="zh-CN" altLang="en-US"/>
              <a:pPr>
                <a:defRPr/>
              </a:pPr>
              <a:t>2017/8/24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D193A9DD-E159-4F38-985F-0C183054B0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46C18577-29F7-4154-BBDE-3501C2F15C91}" type="datetimeFigureOut">
              <a:rPr lang="zh-CN" altLang="en-US"/>
              <a:pPr>
                <a:defRPr/>
              </a:pPr>
              <a:t>2017/8/24</a:t>
            </a:fld>
            <a:endParaRPr lang="en-US" altLang="zh-CN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E4097A3A-AD08-43F9-BD28-587A80D79C3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432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8469" y="863823"/>
            <a:ext cx="10369550" cy="427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1pPr>
            <a:lvl2pPr marL="4572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2pPr>
            <a:lvl3pPr marL="9144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3pPr>
            <a:lvl4pPr marL="13716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4pPr>
            <a:lvl5pPr marL="18288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88975" y="1311275"/>
            <a:ext cx="9644063" cy="476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>
                <a:latin typeface="楷体_GB2312"/>
              </a:rPr>
              <a:t>都不敢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1749" y="0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8873" y="-117499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3187" y="1168385"/>
            <a:ext cx="10369550" cy="4276725"/>
          </a:xfrm>
          <a:prstGeom prst="rect">
            <a:avLst/>
          </a:prstGeom>
        </p:spPr>
        <p:txBody>
          <a:bodyPr vert="eaVert"/>
          <a:lstStyle>
            <a:lvl1pPr>
              <a:defRPr sz="2500"/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单击此处编辑母版标题样式第五级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52"/>
          <p:cNvGrpSpPr>
            <a:grpSpLocks/>
          </p:cNvGrpSpPr>
          <p:nvPr userDrawn="1"/>
        </p:nvGrpSpPr>
        <p:grpSpPr bwMode="auto">
          <a:xfrm>
            <a:off x="-34925" y="107950"/>
            <a:ext cx="11588750" cy="6408738"/>
            <a:chOff x="-22" y="68"/>
            <a:chExt cx="7300" cy="4037"/>
          </a:xfrm>
        </p:grpSpPr>
        <p:sp>
          <p:nvSpPr>
            <p:cNvPr id="1028" name="Freeform 1027"/>
            <p:cNvSpPr>
              <a:spLocks/>
            </p:cNvSpPr>
            <p:nvPr userDrawn="1"/>
          </p:nvSpPr>
          <p:spPr bwMode="auto">
            <a:xfrm>
              <a:off x="80" y="431"/>
              <a:ext cx="7080" cy="3174"/>
            </a:xfrm>
            <a:custGeom>
              <a:avLst/>
              <a:gdLst>
                <a:gd name="T0" fmla="*/ 9512 w 5269"/>
                <a:gd name="T1" fmla="*/ 0 h 2977"/>
                <a:gd name="T2" fmla="*/ 0 w 5269"/>
                <a:gd name="T3" fmla="*/ 0 h 2977"/>
                <a:gd name="T4" fmla="*/ 0 w 5269"/>
                <a:gd name="T5" fmla="*/ 3383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0" y="0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029" name="Group 1042"/>
            <p:cNvGrpSpPr>
              <a:grpSpLocks/>
            </p:cNvGrpSpPr>
            <p:nvPr userDrawn="1"/>
          </p:nvGrpSpPr>
          <p:grpSpPr bwMode="auto">
            <a:xfrm rot="5400000">
              <a:off x="3597" y="-3112"/>
              <a:ext cx="68" cy="7141"/>
              <a:chOff x="336" y="1103"/>
              <a:chExt cx="97" cy="2785"/>
            </a:xfrm>
          </p:grpSpPr>
          <p:sp>
            <p:nvSpPr>
              <p:cNvPr id="1039" name="Rectangle 1043"/>
              <p:cNvSpPr>
                <a:spLocks noChangeArrowheads="1"/>
              </p:cNvSpPr>
              <p:nvPr userDrawn="1"/>
            </p:nvSpPr>
            <p:spPr bwMode="auto">
              <a:xfrm>
                <a:off x="338" y="1104"/>
                <a:ext cx="97" cy="2784"/>
              </a:xfrm>
              <a:prstGeom prst="rect">
                <a:avLst/>
              </a:prstGeom>
              <a:solidFill>
                <a:srgbClr val="DDDDDD"/>
              </a:solidFill>
              <a:ln w="158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/>
              </a:p>
            </p:txBody>
          </p:sp>
          <p:sp>
            <p:nvSpPr>
              <p:cNvPr id="1040" name="Freeform 1044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041" name="Freeform 1045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030" name="Freeform 1028"/>
            <p:cNvSpPr>
              <a:spLocks/>
            </p:cNvSpPr>
            <p:nvPr userDrawn="1"/>
          </p:nvSpPr>
          <p:spPr bwMode="auto">
            <a:xfrm>
              <a:off x="96" y="431"/>
              <a:ext cx="7080" cy="3174"/>
            </a:xfrm>
            <a:custGeom>
              <a:avLst/>
              <a:gdLst>
                <a:gd name="T0" fmla="*/ 9512 w 5269"/>
                <a:gd name="T1" fmla="*/ 0 h 2977"/>
                <a:gd name="T2" fmla="*/ 9512 w 5269"/>
                <a:gd name="T3" fmla="*/ 3383 h 2977"/>
                <a:gd name="T4" fmla="*/ 0 w 5269"/>
                <a:gd name="T5" fmla="*/ 3383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5268" y="2976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1" name="Rectangle 1036"/>
            <p:cNvSpPr>
              <a:spLocks noChangeArrowheads="1"/>
            </p:cNvSpPr>
            <p:nvPr userDrawn="1"/>
          </p:nvSpPr>
          <p:spPr bwMode="auto">
            <a:xfrm>
              <a:off x="61" y="68"/>
              <a:ext cx="7141" cy="3584"/>
            </a:xfrm>
            <a:prstGeom prst="rect">
              <a:avLst/>
            </a:prstGeom>
            <a:noFill/>
            <a:ln w="254000">
              <a:pattFill prst="dkHorz">
                <a:fgClr>
                  <a:srgbClr val="C8C8C8"/>
                </a:fgClr>
                <a:bgClr>
                  <a:schemeClr val="bg1"/>
                </a:bgClr>
              </a:patt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1600">
                <a:ea typeface="楷体_GB2312" pitchFamily="49" charset="-122"/>
              </a:endParaRPr>
            </a:p>
          </p:txBody>
        </p:sp>
        <p:grpSp>
          <p:nvGrpSpPr>
            <p:cNvPr id="1032" name="Group 1038"/>
            <p:cNvGrpSpPr>
              <a:grpSpLocks/>
            </p:cNvGrpSpPr>
            <p:nvPr userDrawn="1"/>
          </p:nvGrpSpPr>
          <p:grpSpPr bwMode="auto">
            <a:xfrm>
              <a:off x="306" y="584"/>
              <a:ext cx="68" cy="2879"/>
              <a:chOff x="336" y="1103"/>
              <a:chExt cx="97" cy="2785"/>
            </a:xfrm>
          </p:grpSpPr>
          <p:sp>
            <p:nvSpPr>
              <p:cNvPr id="1036" name="Rectangle 1039"/>
              <p:cNvSpPr>
                <a:spLocks noChangeArrowheads="1"/>
              </p:cNvSpPr>
              <p:nvPr userDrawn="1"/>
            </p:nvSpPr>
            <p:spPr bwMode="auto"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/>
              </a:p>
            </p:txBody>
          </p:sp>
          <p:sp>
            <p:nvSpPr>
              <p:cNvPr id="1037" name="Freeform 1040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038" name="Freeform 1041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033" name="Rectangle 139" descr="深色横线"/>
            <p:cNvSpPr>
              <a:spLocks noChangeArrowheads="1"/>
            </p:cNvSpPr>
            <p:nvPr userDrawn="1"/>
          </p:nvSpPr>
          <p:spPr bwMode="auto">
            <a:xfrm>
              <a:off x="-22" y="3652"/>
              <a:ext cx="7300" cy="453"/>
            </a:xfrm>
            <a:prstGeom prst="rect">
              <a:avLst/>
            </a:prstGeom>
            <a:pattFill prst="dkHorz">
              <a:fgClr>
                <a:srgbClr val="C8C8C8"/>
              </a:fgClr>
              <a:bgClr>
                <a:schemeClr val="bg1"/>
              </a:bgClr>
            </a:patt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4" name="AutoShape 143"/>
            <p:cNvSpPr>
              <a:spLocks noChangeArrowheads="1"/>
            </p:cNvSpPr>
            <p:nvPr userDrawn="1"/>
          </p:nvSpPr>
          <p:spPr bwMode="auto">
            <a:xfrm>
              <a:off x="136" y="136"/>
              <a:ext cx="6994" cy="295"/>
            </a:xfrm>
            <a:prstGeom prst="flowChartAlternateProcess">
              <a:avLst/>
            </a:prstGeom>
            <a:solidFill>
              <a:srgbClr val="EAEAEA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5" name="Rectangle 146"/>
            <p:cNvSpPr>
              <a:spLocks noChangeArrowheads="1"/>
            </p:cNvSpPr>
            <p:nvPr userDrawn="1"/>
          </p:nvSpPr>
          <p:spPr bwMode="auto">
            <a:xfrm>
              <a:off x="136" y="499"/>
              <a:ext cx="6982" cy="3083"/>
            </a:xfrm>
            <a:prstGeom prst="rect">
              <a:avLst/>
            </a:prstGeom>
            <a:solidFill>
              <a:srgbClr val="EAEAEA">
                <a:alpha val="85097"/>
              </a:srgbClr>
            </a:solidFill>
            <a:ln w="19050">
              <a:solidFill>
                <a:srgbClr val="F8F8F8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027" name="Rectangle 149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15900"/>
            <a:ext cx="1036955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44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+mj-lt"/>
          <a:ea typeface="楷体_GB231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楷体_GB2312" pitchFamily="49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ch07/07-1.ppt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hyperlink" Target="../ch09/09-01.pptx" TargetMode="Externa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08-03.pptm" TargetMode="External"/><Relationship Id="rId2" Type="http://schemas.openxmlformats.org/officeDocument/2006/relationships/hyperlink" Target="08-02.pptm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08-04.ppt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audio" Target="../media/audio1.wav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4.wav"/><Relationship Id="rId5" Type="http://schemas.openxmlformats.org/officeDocument/2006/relationships/audio" Target="../media/audio3.wav"/><Relationship Id="rId4" Type="http://schemas.openxmlformats.org/officeDocument/2006/relationships/audio" Target="../media/audio2.wav"/><Relationship Id="rId9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5.jpeg"/><Relationship Id="rId4" Type="http://schemas.openxmlformats.org/officeDocument/2006/relationships/audio" Target="../media/audio3.wav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audio" Target="../media/audio3.wav"/><Relationship Id="rId7" Type="http://schemas.openxmlformats.org/officeDocument/2006/relationships/hyperlink" Target="../../04MEDIA/ch08/&#20849;&#20215;&#38190;&#26041;&#21521;&#24615;.swf" TargetMode="External"/><Relationship Id="rId12" Type="http://schemas.openxmlformats.org/officeDocument/2006/relationships/hyperlink" Target="../../04MEDIA/ch08/(p-p)&#963;&#38190;.sw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../../04MEDIA/ch08/&#20849;&#20215;&#38190;&#39281;&#21644;&#24615;.swf" TargetMode="External"/><Relationship Id="rId11" Type="http://schemas.openxmlformats.org/officeDocument/2006/relationships/hyperlink" Target="../../04MEDIA/ch08/(s-px)&#963;&#38190;.swf" TargetMode="External"/><Relationship Id="rId5" Type="http://schemas.openxmlformats.org/officeDocument/2006/relationships/image" Target="../media/image4.jpeg"/><Relationship Id="rId10" Type="http://schemas.openxmlformats.org/officeDocument/2006/relationships/hyperlink" Target="../../04MEDIA/ch08/(s-s)&#963;&#38190;.swf" TargetMode="External"/><Relationship Id="rId4" Type="http://schemas.openxmlformats.org/officeDocument/2006/relationships/image" Target="../media/image5.jpeg"/><Relationship Id="rId9" Type="http://schemas.openxmlformats.org/officeDocument/2006/relationships/hyperlink" Target="../../04MEDIA/ch08/(p-p)&#960;&#38190;.swf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notesSlide" Target="../notesSlides/notesSlide6.xml"/><Relationship Id="rId7" Type="http://schemas.openxmlformats.org/officeDocument/2006/relationships/audio" Target="../media/audio5.wav"/><Relationship Id="rId2" Type="http://schemas.openxmlformats.org/officeDocument/2006/relationships/slideLayout" Target="../slideLayouts/slideLayout7.xml"/><Relationship Id="rId1" Type="http://schemas.openxmlformats.org/officeDocument/2006/relationships/video" Target="file:///H:\VBFILE~1\dzja\&#31532;&#20061;&#31456;\lan-sp.avi" TargetMode="External"/><Relationship Id="rId6" Type="http://schemas.openxmlformats.org/officeDocument/2006/relationships/audio" Target="../media/audio6.wav"/><Relationship Id="rId11" Type="http://schemas.openxmlformats.org/officeDocument/2006/relationships/image" Target="../media/image8.png"/><Relationship Id="rId5" Type="http://schemas.openxmlformats.org/officeDocument/2006/relationships/audio" Target="../media/audio4.wav"/><Relationship Id="rId10" Type="http://schemas.openxmlformats.org/officeDocument/2006/relationships/hyperlink" Target="../../04MEDIA/ch08/N2&#25104;&#38190;&#36807;&#31243;.swf" TargetMode="External"/><Relationship Id="rId4" Type="http://schemas.openxmlformats.org/officeDocument/2006/relationships/audio" Target="../media/audio3.wav"/><Relationship Id="rId9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audio" Target="../media/audio5.wav"/><Relationship Id="rId4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../../04MEDIA/ch08/BeCl2.avi" TargetMode="External"/><Relationship Id="rId3" Type="http://schemas.openxmlformats.org/officeDocument/2006/relationships/image" Target="../media/image4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hyperlink" Target="../../04MEDIA/ch08/SP.AVI" TargetMode="External"/><Relationship Id="rId4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4.jpeg"/><Relationship Id="rId7" Type="http://schemas.openxmlformats.org/officeDocument/2006/relationships/hyperlink" Target="../../04MEDIA/ch08/BF3.avi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hyperlink" Target="../../04MEDIA/ch08/SP2.AVI" TargetMode="External"/><Relationship Id="rId4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4.jpeg"/><Relationship Id="rId7" Type="http://schemas.openxmlformats.org/officeDocument/2006/relationships/hyperlink" Target="../../04MEDIA/ch08/CH4+.AVI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hyperlink" Target="../../04MEDIA/ch08/SP3.AVI" TargetMode="External"/><Relationship Id="rId4" Type="http://schemas.openxmlformats.org/officeDocument/2006/relationships/image" Target="../media/image5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4.jpe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hyperlink" Target="../../04MEDIA/ch08/H2O.avi" TargetMode="External"/><Relationship Id="rId5" Type="http://schemas.openxmlformats.org/officeDocument/2006/relationships/hyperlink" Target="../../04MEDIA/ch08/NH3.avi" TargetMode="External"/><Relationship Id="rId4" Type="http://schemas.openxmlformats.org/officeDocument/2006/relationships/image" Target="../media/image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audio" Target="../media/audio1.wav"/><Relationship Id="rId4" Type="http://schemas.openxmlformats.org/officeDocument/2006/relationships/audio" Target="../media/audio5.wav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5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5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audio" Target="../media/audio5.wav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7.wav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hyperlink" Target="08-02.pptm" TargetMode="Externa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62544" descr="图片1">
            <a:hlinkClick r:id="rId3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0" y="5580000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上章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6" name="椭圆 62544" descr="图片1">
            <a:hlinkClick r:id="rId5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60000" y="5580000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下章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189137" y="1652920"/>
            <a:ext cx="7072362" cy="1015663"/>
          </a:xfrm>
          <a:prstGeom prst="rect">
            <a:avLst/>
          </a:prstGeom>
          <a:noFill/>
          <a:ln>
            <a:noFill/>
          </a:ln>
          <a:effectLst>
            <a:outerShdw dist="53882" dir="2700000" algn="ctr" rotWithShape="0">
              <a:srgbClr val="000000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wrap="square" anchor="ctr">
            <a:spAutoFit/>
          </a:bodyPr>
          <a:lstStyle/>
          <a:p>
            <a:pPr algn="ctr" eaLnBrk="0" hangingPunct="0">
              <a:defRPr/>
            </a:pPr>
            <a:r>
              <a:rPr lang="zh-CN" altLang="en-US" sz="32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</a:rPr>
              <a:t>第</a:t>
            </a:r>
            <a:r>
              <a:rPr lang="en-US" altLang="zh-CN" sz="32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</a:rPr>
              <a:t>8</a:t>
            </a:r>
            <a:r>
              <a:rPr lang="zh-CN" altLang="en-US" sz="32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</a:rPr>
              <a:t>章 分子结构与晶体结构</a:t>
            </a:r>
            <a:endParaRPr lang="zh-CN" altLang="en-US" sz="40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itchFamily="2" charset="-122"/>
            </a:endParaRPr>
          </a:p>
          <a:p>
            <a:pPr algn="ctr" eaLnBrk="0" hangingPunct="0">
              <a:defRPr/>
            </a:pPr>
            <a:r>
              <a:rPr kumimoji="1" lang="en-US" altLang="zh-CN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Molecular Structure</a:t>
            </a:r>
            <a:r>
              <a:rPr kumimoji="1" lang="en-US" altLang="zh-CN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kumimoji="1" lang="en-US" altLang="zh-CN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Crystal Structure</a:t>
            </a:r>
            <a:endParaRPr kumimoji="1" lang="en-US" altLang="zh-CN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17897" y="1382699"/>
            <a:ext cx="4330032" cy="2332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 smtClean="0">
                <a:latin typeface="+mn-lt"/>
                <a:ea typeface="黑体" pitchFamily="49" charset="-122"/>
              </a:rPr>
              <a:t>8.1 </a:t>
            </a:r>
            <a:r>
              <a:rPr lang="zh-CN" altLang="en-US" sz="2800" b="1" dirty="0" smtClean="0">
                <a:latin typeface="+mn-lt"/>
                <a:ea typeface="黑体" pitchFamily="49" charset="-122"/>
              </a:rPr>
              <a:t>共价化合物</a:t>
            </a:r>
            <a:endParaRPr lang="en-US" altLang="zh-CN" sz="2800" b="1" dirty="0" smtClean="0">
              <a:latin typeface="+mn-lt"/>
              <a:ea typeface="黑体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 smtClean="0">
                <a:latin typeface="+mn-lt"/>
                <a:ea typeface="黑体" pitchFamily="49" charset="-122"/>
                <a:hlinkClick r:id="rId2" action="ppaction://hlinkpres?slideindex=1&amp;slidetitle="/>
              </a:rPr>
              <a:t>8.2</a:t>
            </a:r>
            <a:r>
              <a:rPr lang="en-US" altLang="zh-CN" sz="2800" b="1" dirty="0" smtClean="0"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latin typeface="+mn-lt"/>
                <a:ea typeface="黑体" pitchFamily="49" charset="-122"/>
              </a:rPr>
              <a:t>配位化合物</a:t>
            </a:r>
            <a:endParaRPr lang="en-US" altLang="zh-CN" sz="2800" b="1" dirty="0" smtClean="0">
              <a:latin typeface="+mn-lt"/>
              <a:ea typeface="黑体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 smtClean="0">
                <a:latin typeface="+mn-lt"/>
                <a:ea typeface="黑体" pitchFamily="49" charset="-122"/>
                <a:hlinkClick r:id="rId3" action="ppaction://hlinkpres?slideindex=1&amp;slidetitle="/>
              </a:rPr>
              <a:t>8.3</a:t>
            </a:r>
            <a:r>
              <a:rPr lang="en-US" altLang="zh-CN" sz="2800" b="1" dirty="0" smtClean="0"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latin typeface="+mn-lt"/>
                <a:ea typeface="黑体" pitchFamily="49" charset="-122"/>
              </a:rPr>
              <a:t>分子间作用力</a:t>
            </a:r>
            <a:endParaRPr lang="en-US" altLang="zh-CN" sz="2800" b="1" dirty="0" smtClean="0">
              <a:latin typeface="+mn-lt"/>
              <a:ea typeface="黑体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 smtClean="0">
                <a:latin typeface="+mn-lt"/>
                <a:ea typeface="黑体" pitchFamily="49" charset="-122"/>
                <a:hlinkClick r:id="rId4" action="ppaction://hlinkpres?slideindex=1&amp;slidetitle="/>
              </a:rPr>
              <a:t>8.4</a:t>
            </a:r>
            <a:r>
              <a:rPr lang="en-US" altLang="zh-CN" sz="2800" b="1" dirty="0" smtClean="0"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latin typeface="+mn-lt"/>
                <a:ea typeface="黑体" pitchFamily="49" charset="-122"/>
              </a:rPr>
              <a:t>离子化合物和晶体结构</a:t>
            </a:r>
            <a:endParaRPr lang="zh-CN" altLang="en-US" sz="2800" b="1" dirty="0">
              <a:latin typeface="+mn-lt"/>
              <a:ea typeface="黑体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17699" y="4421496"/>
            <a:ext cx="7271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+mn-lt"/>
                <a:ea typeface="黑体" pitchFamily="49" charset="-122"/>
              </a:rPr>
              <a:t>(</a:t>
            </a:r>
            <a:r>
              <a:rPr lang="zh-CN" altLang="en-US" sz="2400" b="1" dirty="0" smtClean="0">
                <a:latin typeface="+mn-lt"/>
                <a:ea typeface="黑体" pitchFamily="49" charset="-122"/>
              </a:rPr>
              <a:t>注</a:t>
            </a:r>
            <a:r>
              <a:rPr lang="zh-CN" altLang="en-US" sz="2400" b="1" dirty="0" smtClean="0">
                <a:latin typeface="+mn-lt"/>
                <a:ea typeface="黑体" pitchFamily="49" charset="-122"/>
              </a:rPr>
              <a:t>：</a:t>
            </a:r>
            <a:r>
              <a:rPr lang="en-US" altLang="zh-CN" sz="2400" b="1" dirty="0" smtClean="0">
                <a:latin typeface="+mn-lt"/>
                <a:ea typeface="黑体" pitchFamily="49" charset="-122"/>
              </a:rPr>
              <a:t>8.4</a:t>
            </a:r>
            <a:r>
              <a:rPr lang="zh-CN" altLang="en-US" sz="2400" b="1" dirty="0" smtClean="0">
                <a:latin typeface="+mn-lt"/>
                <a:ea typeface="黑体" pitchFamily="49" charset="-122"/>
              </a:rPr>
              <a:t>可根据专业要求选择性讲授或自学部分内容</a:t>
            </a:r>
            <a:r>
              <a:rPr lang="en-US" altLang="zh-CN" sz="2400" b="1" dirty="0" smtClean="0">
                <a:latin typeface="+mn-lt"/>
                <a:ea typeface="黑体" pitchFamily="49" charset="-122"/>
              </a:rPr>
              <a:t>)</a:t>
            </a:r>
            <a:endParaRPr lang="zh-CN" altLang="en-US" sz="2400" b="1" dirty="0">
              <a:latin typeface="+mn-lt"/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ChangeArrowheads="1"/>
          </p:cNvSpPr>
          <p:nvPr/>
        </p:nvSpPr>
        <p:spPr bwMode="auto">
          <a:xfrm>
            <a:off x="331788" y="239713"/>
            <a:ext cx="2297112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68288" eaLnBrk="0" hangingPunct="0"/>
            <a:r>
              <a:rPr lang="en-US" altLang="zh-CN" sz="2200" b="1">
                <a:solidFill>
                  <a:srgbClr val="FF0000"/>
                </a:solidFill>
                <a:ea typeface="黑体" pitchFamily="49" charset="-122"/>
              </a:rPr>
              <a:t>8.1 </a:t>
            </a:r>
            <a:r>
              <a:rPr lang="zh-CN" altLang="en-US" sz="2200" b="1">
                <a:solidFill>
                  <a:srgbClr val="FF0000"/>
                </a:solidFill>
                <a:ea typeface="黑体" pitchFamily="49" charset="-122"/>
              </a:rPr>
              <a:t>共价化合物</a:t>
            </a:r>
          </a:p>
        </p:txBody>
      </p:sp>
      <p:sp>
        <p:nvSpPr>
          <p:cNvPr id="5123" name="TextBox 4"/>
          <p:cNvSpPr txBox="1">
            <a:spLocks noChangeArrowheads="1"/>
          </p:cNvSpPr>
          <p:nvPr/>
        </p:nvSpPr>
        <p:spPr bwMode="auto">
          <a:xfrm>
            <a:off x="2903538" y="1739900"/>
            <a:ext cx="7143750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>
                <a:ea typeface="黑体" pitchFamily="49" charset="-122"/>
              </a:rPr>
              <a:t>8.1.1  </a:t>
            </a:r>
            <a:r>
              <a:rPr lang="zh-CN" altLang="en-US" sz="2800" b="1">
                <a:ea typeface="黑体" pitchFamily="49" charset="-122"/>
              </a:rPr>
              <a:t>价键理论</a:t>
            </a:r>
            <a:endParaRPr lang="en-US" altLang="zh-CN" sz="2800" b="1"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>
                <a:ea typeface="黑体" pitchFamily="49" charset="-122"/>
              </a:rPr>
              <a:t>8.1.2  </a:t>
            </a:r>
            <a:r>
              <a:rPr lang="zh-CN" altLang="en-US" sz="2800" b="1">
                <a:ea typeface="黑体" pitchFamily="49" charset="-122"/>
              </a:rPr>
              <a:t>杂化轨道理论与分子的几何构型</a:t>
            </a:r>
            <a:endParaRPr lang="en-US" altLang="zh-CN" sz="2800" b="1"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>
                <a:ea typeface="黑体" pitchFamily="49" charset="-122"/>
              </a:rPr>
              <a:t>8.1.3  </a:t>
            </a:r>
            <a:r>
              <a:rPr lang="zh-CN" altLang="en-US" sz="2800" b="1">
                <a:ea typeface="黑体" pitchFamily="49" charset="-122"/>
              </a:rPr>
              <a:t>分子轨道理论</a:t>
            </a:r>
            <a:endParaRPr lang="en-US" altLang="zh-CN" sz="2800" b="1">
              <a:ea typeface="黑体" pitchFamily="49" charset="-122"/>
            </a:endParaRPr>
          </a:p>
        </p:txBody>
      </p:sp>
      <p:sp>
        <p:nvSpPr>
          <p:cNvPr id="5124" name="动作按钮: 前进或下一项 74757">
            <a:hlinkClick r:id="rId2" action="ppaction://hlinksldjump"/>
          </p:cNvPr>
          <p:cNvSpPr>
            <a:spLocks noChangeAspect="1"/>
          </p:cNvSpPr>
          <p:nvPr/>
        </p:nvSpPr>
        <p:spPr bwMode="auto">
          <a:xfrm>
            <a:off x="2474913" y="2597150"/>
            <a:ext cx="431800" cy="431800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sz="1700" noProof="1">
              <a:ea typeface="黑体" pitchFamily="49" charset="-122"/>
            </a:endParaRPr>
          </a:p>
        </p:txBody>
      </p:sp>
      <p:sp>
        <p:nvSpPr>
          <p:cNvPr id="5125" name="动作按钮: 前进或下一项 1">
            <a:hlinkClick r:id="" action="ppaction://hlinkshowjump?jump=nextslide"/>
          </p:cNvPr>
          <p:cNvSpPr>
            <a:spLocks noChangeAspect="1"/>
          </p:cNvSpPr>
          <p:nvPr/>
        </p:nvSpPr>
        <p:spPr bwMode="auto">
          <a:xfrm>
            <a:off x="2474913" y="1954213"/>
            <a:ext cx="431800" cy="431800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noProof="1">
              <a:ea typeface="黑体" pitchFamily="49" charset="-122"/>
            </a:endParaRPr>
          </a:p>
        </p:txBody>
      </p:sp>
      <p:sp>
        <p:nvSpPr>
          <p:cNvPr id="5126" name="动作按钮: 前进或下一项 1">
            <a:hlinkClick r:id="rId3" action="ppaction://hlinksldjump"/>
          </p:cNvPr>
          <p:cNvSpPr>
            <a:spLocks noChangeAspect="1"/>
          </p:cNvSpPr>
          <p:nvPr/>
        </p:nvSpPr>
        <p:spPr bwMode="auto">
          <a:xfrm>
            <a:off x="2474913" y="3240088"/>
            <a:ext cx="431800" cy="431800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noProof="1">
              <a:ea typeface="黑体" pitchFamily="49" charset="-122"/>
            </a:endParaRPr>
          </a:p>
        </p:txBody>
      </p:sp>
      <p:sp>
        <p:nvSpPr>
          <p:cNvPr id="5127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>
              <a:solidFill>
                <a:srgbClr val="000000"/>
              </a:solidFill>
              <a:latin typeface="楷体_GB2312" pitchFamily="49" charset="-122"/>
            </a:endParaRPr>
          </a:p>
        </p:txBody>
      </p:sp>
      <p:sp>
        <p:nvSpPr>
          <p:cNvPr id="5128" name="Oval 45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26088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>
              <a:solidFill>
                <a:srgbClr val="00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Oval 45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26088"/>
            <a:ext cx="360362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58416" name="Rectangle 48"/>
          <p:cNvSpPr>
            <a:spLocks noChangeArrowheads="1"/>
          </p:cNvSpPr>
          <p:nvPr/>
        </p:nvSpPr>
        <p:spPr bwMode="auto">
          <a:xfrm>
            <a:off x="760413" y="1096963"/>
            <a:ext cx="600233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2500" b="1" dirty="0">
                <a:ea typeface="楷体_GB2312" pitchFamily="49" charset="-122"/>
                <a:sym typeface="Monotype Sorts" pitchFamily="2" charset="2"/>
              </a:rPr>
              <a:t>1916</a:t>
            </a:r>
            <a:r>
              <a:rPr kumimoji="1" lang="zh-CN" altLang="en-US" sz="2500" b="1" dirty="0">
                <a:ea typeface="楷体_GB2312" pitchFamily="49" charset="-122"/>
                <a:sym typeface="Monotype Sorts" pitchFamily="2" charset="2"/>
              </a:rPr>
              <a:t>年</a:t>
            </a:r>
            <a:r>
              <a:rPr kumimoji="1" lang="en-US" altLang="zh-CN" sz="2500" b="1" dirty="0">
                <a:ea typeface="楷体_GB2312" pitchFamily="49" charset="-122"/>
                <a:sym typeface="Monotype Sorts" pitchFamily="2" charset="2"/>
              </a:rPr>
              <a:t>,</a:t>
            </a:r>
            <a:r>
              <a:rPr kumimoji="1" lang="zh-CN" altLang="en-US" sz="2500" b="1" dirty="0">
                <a:ea typeface="楷体_GB2312" pitchFamily="49" charset="-122"/>
                <a:sym typeface="Monotype Sorts" pitchFamily="2" charset="2"/>
              </a:rPr>
              <a:t>路易斯</a:t>
            </a:r>
            <a:r>
              <a:rPr kumimoji="1" lang="en-US" altLang="zh-CN" sz="2500" b="1" dirty="0">
                <a:ea typeface="楷体_GB2312" pitchFamily="49" charset="-122"/>
                <a:sym typeface="Monotype Sorts" pitchFamily="2" charset="2"/>
              </a:rPr>
              <a:t>: </a:t>
            </a:r>
            <a:r>
              <a:rPr kumimoji="1" lang="zh-CN" altLang="en-US" sz="2500" b="1" dirty="0">
                <a:ea typeface="楷体_GB2312" pitchFamily="49" charset="-122"/>
                <a:sym typeface="Monotype Sorts" pitchFamily="2" charset="2"/>
              </a:rPr>
              <a:t>共价键理论（优、缺点）</a:t>
            </a:r>
            <a:r>
              <a:rPr kumimoji="1" lang="en-US" altLang="zh-CN" sz="2500" b="1" dirty="0">
                <a:ea typeface="楷体_GB2312" pitchFamily="49" charset="-122"/>
                <a:sym typeface="Monotype Sorts" pitchFamily="2" charset="2"/>
              </a:rPr>
              <a:t>.</a:t>
            </a:r>
            <a:endParaRPr kumimoji="1" lang="zh-CN" altLang="en-US" sz="2500" b="1" dirty="0">
              <a:ea typeface="楷体_GB2312" pitchFamily="49" charset="-122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 rot="5400000">
            <a:off x="1181100" y="1481138"/>
            <a:ext cx="457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chemeClr val="accent2"/>
                </a:solidFill>
              </a:rPr>
              <a:t>⇒</a:t>
            </a:r>
            <a:endParaRPr lang="zh-CN" altLang="en-US" sz="2500" b="1">
              <a:solidFill>
                <a:schemeClr val="accent2"/>
              </a:solidFill>
            </a:endParaRP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760413" y="1811338"/>
            <a:ext cx="74104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2500" b="1" dirty="0">
                <a:ea typeface="楷体_GB2312" pitchFamily="49" charset="-122"/>
                <a:sym typeface="Monotype Sorts" pitchFamily="2" charset="2"/>
              </a:rPr>
              <a:t>1927</a:t>
            </a:r>
            <a:r>
              <a:rPr kumimoji="1" lang="zh-CN" altLang="en-US" sz="2500" b="1" dirty="0">
                <a:ea typeface="楷体_GB2312" pitchFamily="49" charset="-122"/>
                <a:sym typeface="Monotype Sorts" pitchFamily="2" charset="2"/>
              </a:rPr>
              <a:t>年</a:t>
            </a:r>
            <a:r>
              <a:rPr kumimoji="1" lang="en-US" altLang="zh-CN" sz="2500" b="1" dirty="0">
                <a:ea typeface="楷体_GB2312" pitchFamily="49" charset="-122"/>
                <a:sym typeface="Monotype Sorts" pitchFamily="2" charset="2"/>
              </a:rPr>
              <a:t>,</a:t>
            </a:r>
            <a:r>
              <a:rPr kumimoji="1" lang="zh-CN" altLang="en-US" sz="2500" b="1" dirty="0">
                <a:ea typeface="楷体_GB2312" pitchFamily="49" charset="-122"/>
                <a:sym typeface="Monotype Sorts" pitchFamily="2" charset="2"/>
              </a:rPr>
              <a:t>海特勒和伦敦</a:t>
            </a:r>
            <a:r>
              <a:rPr kumimoji="1" lang="en-US" altLang="zh-CN" sz="2500" b="1" dirty="0">
                <a:ea typeface="楷体_GB2312" pitchFamily="49" charset="-122"/>
                <a:sym typeface="Monotype Sorts" pitchFamily="2" charset="2"/>
              </a:rPr>
              <a:t>: H</a:t>
            </a:r>
            <a:r>
              <a:rPr kumimoji="1" lang="en-US" altLang="zh-CN" sz="2500" b="1" baseline="-25000" dirty="0">
                <a:ea typeface="楷体_GB2312" pitchFamily="49" charset="-122"/>
                <a:sym typeface="Monotype Sorts" pitchFamily="2" charset="2"/>
              </a:rPr>
              <a:t>2</a:t>
            </a:r>
            <a:r>
              <a:rPr kumimoji="1" lang="zh-CN" altLang="en-US" sz="2500" b="1" dirty="0">
                <a:ea typeface="楷体_GB2312" pitchFamily="49" charset="-122"/>
                <a:sym typeface="Monotype Sorts" pitchFamily="2" charset="2"/>
              </a:rPr>
              <a:t>分子的形成</a:t>
            </a:r>
            <a:r>
              <a:rPr kumimoji="1" lang="en-US" altLang="zh-CN" sz="2500" b="1" dirty="0">
                <a:ea typeface="楷体_GB2312" pitchFamily="49" charset="-122"/>
                <a:sym typeface="Monotype Sorts" pitchFamily="2" charset="2"/>
              </a:rPr>
              <a:t>,</a:t>
            </a:r>
            <a:r>
              <a:rPr kumimoji="1" lang="zh-CN" altLang="en-US" sz="2500" b="1" dirty="0">
                <a:ea typeface="楷体_GB2312" pitchFamily="49" charset="-122"/>
                <a:sym typeface="Monotype Sorts" pitchFamily="2" charset="2"/>
              </a:rPr>
              <a:t>初步揭示本质</a:t>
            </a:r>
            <a:r>
              <a:rPr kumimoji="1" lang="en-US" altLang="zh-CN" sz="2500" b="1" dirty="0">
                <a:ea typeface="楷体_GB2312" pitchFamily="49" charset="-122"/>
                <a:sym typeface="Monotype Sorts" pitchFamily="2" charset="2"/>
              </a:rPr>
              <a:t>.</a:t>
            </a:r>
            <a:endParaRPr kumimoji="1" lang="zh-CN" altLang="en-US" sz="2500" b="1" dirty="0">
              <a:ea typeface="楷体_GB2312" pitchFamily="49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 rot="5400000">
            <a:off x="1181100" y="2197100"/>
            <a:ext cx="457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chemeClr val="accent2"/>
                </a:solidFill>
              </a:rPr>
              <a:t>⇒</a:t>
            </a:r>
            <a:endParaRPr lang="zh-CN" altLang="en-US" sz="2500" b="1">
              <a:solidFill>
                <a:schemeClr val="accent2"/>
              </a:solidFill>
            </a:endParaRPr>
          </a:p>
        </p:txBody>
      </p:sp>
      <p:sp>
        <p:nvSpPr>
          <p:cNvPr id="10" name="Rectangle 48"/>
          <p:cNvSpPr>
            <a:spLocks noChangeArrowheads="1"/>
          </p:cNvSpPr>
          <p:nvPr/>
        </p:nvSpPr>
        <p:spPr bwMode="auto">
          <a:xfrm>
            <a:off x="760413" y="2597150"/>
            <a:ext cx="2936875" cy="124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2500" b="1">
                <a:ea typeface="楷体_GB2312" pitchFamily="49" charset="-122"/>
                <a:sym typeface="Monotype Sorts" pitchFamily="2" charset="2"/>
              </a:rPr>
              <a:t>1931</a:t>
            </a:r>
            <a:r>
              <a:rPr kumimoji="1" lang="zh-CN" altLang="en-US" sz="2500" b="1">
                <a:ea typeface="楷体_GB2312" pitchFamily="49" charset="-122"/>
                <a:sym typeface="Monotype Sorts" pitchFamily="2" charset="2"/>
              </a:rPr>
              <a:t>年</a:t>
            </a:r>
            <a:r>
              <a:rPr kumimoji="1" lang="en-US" altLang="zh-CN" sz="2500" b="1">
                <a:ea typeface="楷体_GB2312" pitchFamily="49" charset="-122"/>
                <a:sym typeface="Monotype Sorts" pitchFamily="2" charset="2"/>
              </a:rPr>
              <a:t>,</a:t>
            </a:r>
          </a:p>
          <a:p>
            <a:r>
              <a:rPr kumimoji="1" lang="zh-CN" altLang="en-US" sz="2500" b="1">
                <a:ea typeface="楷体_GB2312" pitchFamily="49" charset="-122"/>
                <a:sym typeface="Monotype Sorts" pitchFamily="2" charset="2"/>
              </a:rPr>
              <a:t>鲍林和斯莱特</a:t>
            </a:r>
            <a:r>
              <a:rPr kumimoji="1" lang="en-US" altLang="zh-CN" sz="2500" b="1">
                <a:ea typeface="楷体_GB2312" pitchFamily="49" charset="-122"/>
                <a:sym typeface="Monotype Sorts" pitchFamily="2" charset="2"/>
              </a:rPr>
              <a:t>:</a:t>
            </a:r>
          </a:p>
          <a:p>
            <a:r>
              <a:rPr kumimoji="1" lang="zh-CN" altLang="en-US" sz="2500" b="1">
                <a:ea typeface="楷体_GB2312" pitchFamily="49" charset="-122"/>
                <a:sym typeface="Monotype Sorts" pitchFamily="2" charset="2"/>
              </a:rPr>
              <a:t>提出价键理论</a:t>
            </a:r>
            <a:r>
              <a:rPr kumimoji="1" lang="en-US" altLang="zh-CN" sz="2500" b="1">
                <a:ea typeface="楷体_GB2312" pitchFamily="49" charset="-122"/>
                <a:sym typeface="Monotype Sorts" pitchFamily="2" charset="2"/>
              </a:rPr>
              <a:t> (</a:t>
            </a:r>
            <a:r>
              <a:rPr kumimoji="1" lang="en-US" altLang="zh-CN" sz="2500" b="1">
                <a:solidFill>
                  <a:srgbClr val="FF00FF"/>
                </a:solidFill>
                <a:ea typeface="楷体_GB2312" pitchFamily="49" charset="-122"/>
                <a:sym typeface="Monotype Sorts" pitchFamily="2" charset="2"/>
              </a:rPr>
              <a:t>VB</a:t>
            </a:r>
            <a:r>
              <a:rPr kumimoji="1" lang="en-US" altLang="zh-CN" sz="2500" b="1">
                <a:ea typeface="楷体_GB2312" pitchFamily="49" charset="-122"/>
                <a:sym typeface="Monotype Sorts" pitchFamily="2" charset="2"/>
              </a:rPr>
              <a:t>).</a:t>
            </a:r>
            <a:endParaRPr kumimoji="1" lang="zh-CN" altLang="en-US" sz="2500" b="1">
              <a:ea typeface="楷体_GB2312" pitchFamily="49" charset="-122"/>
            </a:endParaRPr>
          </a:p>
        </p:txBody>
      </p:sp>
      <p:sp>
        <p:nvSpPr>
          <p:cNvPr id="16" name="Oval 66"/>
          <p:cNvSpPr>
            <a:spLocks noChangeAspect="1" noChangeArrowheads="1"/>
          </p:cNvSpPr>
          <p:nvPr/>
        </p:nvSpPr>
        <p:spPr bwMode="auto">
          <a:xfrm>
            <a:off x="5475288" y="2668588"/>
            <a:ext cx="539750" cy="5397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2500"/>
          </a:p>
        </p:txBody>
      </p:sp>
      <p:sp>
        <p:nvSpPr>
          <p:cNvPr id="17" name="Oval 67"/>
          <p:cNvSpPr>
            <a:spLocks noChangeAspect="1" noChangeArrowheads="1"/>
          </p:cNvSpPr>
          <p:nvPr/>
        </p:nvSpPr>
        <p:spPr bwMode="auto">
          <a:xfrm>
            <a:off x="6046788" y="2668588"/>
            <a:ext cx="539750" cy="5397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2500"/>
          </a:p>
        </p:txBody>
      </p:sp>
      <p:sp>
        <p:nvSpPr>
          <p:cNvPr id="19" name="Line 69"/>
          <p:cNvSpPr>
            <a:spLocks noChangeShapeType="1"/>
          </p:cNvSpPr>
          <p:nvPr/>
        </p:nvSpPr>
        <p:spPr bwMode="auto">
          <a:xfrm flipV="1">
            <a:off x="5761038" y="2740025"/>
            <a:ext cx="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70"/>
          <p:cNvSpPr>
            <a:spLocks noChangeShapeType="1"/>
          </p:cNvSpPr>
          <p:nvPr/>
        </p:nvSpPr>
        <p:spPr bwMode="auto">
          <a:xfrm flipV="1">
            <a:off x="6332538" y="2740025"/>
            <a:ext cx="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1" name="Picture 79" descr="共价键形成曲线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689725" y="2239963"/>
            <a:ext cx="3951288" cy="3484562"/>
          </a:xfrm>
          <a:prstGeom prst="rect">
            <a:avLst/>
          </a:prstGeom>
          <a:noFill/>
          <a:ln w="25400">
            <a:solidFill>
              <a:schemeClr val="tx1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/>
          </a:extLst>
        </p:spPr>
      </p:pic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8761413" y="2382838"/>
            <a:ext cx="21177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 sz="2500" b="1">
                <a:solidFill>
                  <a:srgbClr val="0000FF"/>
                </a:solidFill>
                <a:ea typeface="楷体_GB2312" pitchFamily="49" charset="-122"/>
              </a:rPr>
              <a:t>氢分子的形成</a:t>
            </a:r>
            <a:endParaRPr lang="en-US" altLang="zh-CN" sz="2500" b="1">
              <a:solidFill>
                <a:srgbClr val="FF3300"/>
              </a:solidFill>
            </a:endParaRPr>
          </a:p>
        </p:txBody>
      </p:sp>
      <p:sp>
        <p:nvSpPr>
          <p:cNvPr id="44" name="Rectangle 64"/>
          <p:cNvSpPr>
            <a:spLocks noChangeArrowheads="1"/>
          </p:cNvSpPr>
          <p:nvPr/>
        </p:nvSpPr>
        <p:spPr bwMode="auto">
          <a:xfrm>
            <a:off x="7332663" y="5383213"/>
            <a:ext cx="11906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0000FF"/>
                </a:solidFill>
              </a:rPr>
              <a:t>74.2pm</a:t>
            </a:r>
          </a:p>
        </p:txBody>
      </p:sp>
      <p:sp>
        <p:nvSpPr>
          <p:cNvPr id="45" name="Rectangle 71"/>
          <p:cNvSpPr>
            <a:spLocks noChangeArrowheads="1"/>
          </p:cNvSpPr>
          <p:nvPr/>
        </p:nvSpPr>
        <p:spPr bwMode="auto">
          <a:xfrm>
            <a:off x="8231188" y="4783138"/>
            <a:ext cx="19431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0000FF"/>
                </a:solidFill>
                <a:ea typeface="华文新魏" pitchFamily="2" charset="-122"/>
              </a:rPr>
              <a:t>(</a:t>
            </a:r>
            <a:r>
              <a:rPr lang="zh-CN" altLang="en-US" sz="2500" b="1">
                <a:solidFill>
                  <a:srgbClr val="0000FF"/>
                </a:solidFill>
                <a:latin typeface="黑体" pitchFamily="49" charset="-122"/>
                <a:ea typeface="楷体_GB2312" pitchFamily="49" charset="-122"/>
              </a:rPr>
              <a:t>基态</a:t>
            </a:r>
            <a:r>
              <a:rPr lang="en-US" altLang="zh-CN" sz="2500" b="1">
                <a:solidFill>
                  <a:srgbClr val="0000FF"/>
                </a:solidFill>
                <a:ea typeface="华文新魏" pitchFamily="2" charset="-122"/>
              </a:rPr>
              <a:t>) 436kJ</a:t>
            </a:r>
          </a:p>
        </p:txBody>
      </p:sp>
      <p:sp>
        <p:nvSpPr>
          <p:cNvPr id="50" name="Freeform 77"/>
          <p:cNvSpPr>
            <a:spLocks/>
          </p:cNvSpPr>
          <p:nvPr/>
        </p:nvSpPr>
        <p:spPr bwMode="auto">
          <a:xfrm>
            <a:off x="7364413" y="2276475"/>
            <a:ext cx="2859087" cy="1219200"/>
          </a:xfrm>
          <a:custGeom>
            <a:avLst/>
            <a:gdLst>
              <a:gd name="T0" fmla="*/ 0 w 2304"/>
              <a:gd name="T1" fmla="*/ 0 h 1064"/>
              <a:gd name="T2" fmla="*/ 2147483647 w 2304"/>
              <a:gd name="T3" fmla="*/ 2147483647 h 1064"/>
              <a:gd name="T4" fmla="*/ 2147483647 w 2304"/>
              <a:gd name="T5" fmla="*/ 2147483647 h 1064"/>
              <a:gd name="T6" fmla="*/ 2147483647 w 2304"/>
              <a:gd name="T7" fmla="*/ 2147483647 h 1064"/>
              <a:gd name="T8" fmla="*/ 2147483647 w 2304"/>
              <a:gd name="T9" fmla="*/ 2147483647 h 10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04"/>
              <a:gd name="T16" fmla="*/ 0 h 1064"/>
              <a:gd name="T17" fmla="*/ 2304 w 2304"/>
              <a:gd name="T18" fmla="*/ 1064 h 10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04" h="1064">
                <a:moveTo>
                  <a:pt x="0" y="0"/>
                </a:moveTo>
                <a:cubicBezTo>
                  <a:pt x="56" y="276"/>
                  <a:pt x="112" y="552"/>
                  <a:pt x="240" y="720"/>
                </a:cubicBezTo>
                <a:cubicBezTo>
                  <a:pt x="368" y="888"/>
                  <a:pt x="568" y="952"/>
                  <a:pt x="768" y="1008"/>
                </a:cubicBezTo>
                <a:cubicBezTo>
                  <a:pt x="968" y="1064"/>
                  <a:pt x="1184" y="1048"/>
                  <a:pt x="1440" y="1056"/>
                </a:cubicBezTo>
                <a:cubicBezTo>
                  <a:pt x="1696" y="1064"/>
                  <a:pt x="2000" y="1060"/>
                  <a:pt x="2304" y="1056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59" name="Rectangle 96"/>
          <p:cNvSpPr>
            <a:spLocks noChangeArrowheads="1"/>
          </p:cNvSpPr>
          <p:nvPr/>
        </p:nvSpPr>
        <p:spPr bwMode="auto">
          <a:xfrm>
            <a:off x="7921625" y="2895600"/>
            <a:ext cx="13668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0000FF"/>
                </a:solidFill>
                <a:ea typeface="华文新魏" pitchFamily="2" charset="-122"/>
              </a:rPr>
              <a:t>(</a:t>
            </a:r>
            <a:r>
              <a:rPr lang="zh-CN" altLang="en-US" sz="2500" b="1">
                <a:solidFill>
                  <a:srgbClr val="0000FF"/>
                </a:solidFill>
                <a:latin typeface="黑体" pitchFamily="49" charset="-122"/>
                <a:ea typeface="楷体_GB2312" pitchFamily="49" charset="-122"/>
              </a:rPr>
              <a:t>排斥态</a:t>
            </a:r>
            <a:r>
              <a:rPr lang="en-US" altLang="zh-CN" sz="2500" b="1">
                <a:solidFill>
                  <a:srgbClr val="0000FF"/>
                </a:solidFill>
                <a:ea typeface="华文新魏" pitchFamily="2" charset="-122"/>
              </a:rPr>
              <a:t>)</a:t>
            </a:r>
          </a:p>
        </p:txBody>
      </p:sp>
      <p:grpSp>
        <p:nvGrpSpPr>
          <p:cNvPr id="3" name="组合 59"/>
          <p:cNvGrpSpPr>
            <a:grpSpLocks/>
          </p:cNvGrpSpPr>
          <p:nvPr/>
        </p:nvGrpSpPr>
        <p:grpSpPr bwMode="auto">
          <a:xfrm>
            <a:off x="10010775" y="3600450"/>
            <a:ext cx="468313" cy="582613"/>
            <a:chOff x="9663011" y="3196929"/>
            <a:chExt cx="337336" cy="496750"/>
          </a:xfrm>
        </p:grpSpPr>
        <p:sp>
          <p:nvSpPr>
            <p:cNvPr id="61" name="椭圆 60"/>
            <p:cNvSpPr/>
            <p:nvPr/>
          </p:nvSpPr>
          <p:spPr>
            <a:xfrm>
              <a:off x="9663011" y="3293916"/>
              <a:ext cx="337336" cy="399763"/>
            </a:xfrm>
            <a:prstGeom prst="ellipse">
              <a:avLst/>
            </a:prstGeom>
            <a:gradFill flip="none" rotWithShape="1">
              <a:gsLst>
                <a:gs pos="0">
                  <a:srgbClr val="0000CC">
                    <a:tint val="66000"/>
                    <a:satMod val="160000"/>
                  </a:srgbClr>
                </a:gs>
                <a:gs pos="50000">
                  <a:srgbClr val="0000CC">
                    <a:tint val="44500"/>
                    <a:satMod val="160000"/>
                  </a:srgbClr>
                </a:gs>
                <a:gs pos="100000">
                  <a:srgbClr val="0000CC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500"/>
            </a:p>
          </p:txBody>
        </p:sp>
        <p:sp>
          <p:nvSpPr>
            <p:cNvPr id="62" name="椭圆 61"/>
            <p:cNvSpPr/>
            <p:nvPr/>
          </p:nvSpPr>
          <p:spPr>
            <a:xfrm>
              <a:off x="9821959" y="3485234"/>
              <a:ext cx="19439" cy="175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500"/>
            </a:p>
          </p:txBody>
        </p:sp>
        <p:sp>
          <p:nvSpPr>
            <p:cNvPr id="6216" name="Rectangle 22"/>
            <p:cNvSpPr>
              <a:spLocks noChangeAspect="1" noChangeArrowheads="1"/>
            </p:cNvSpPr>
            <p:nvPr/>
          </p:nvSpPr>
          <p:spPr bwMode="auto">
            <a:xfrm>
              <a:off x="9699603" y="3196929"/>
              <a:ext cx="244712" cy="406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r>
                <a:rPr lang="en-US" altLang="zh-CN" sz="2500" b="1">
                  <a:solidFill>
                    <a:schemeClr val="accent1"/>
                  </a:solidFill>
                  <a:ea typeface="华文新魏" pitchFamily="2" charset="-122"/>
                </a:rPr>
                <a:t>H</a:t>
              </a:r>
            </a:p>
          </p:txBody>
        </p:sp>
      </p:grpSp>
      <p:grpSp>
        <p:nvGrpSpPr>
          <p:cNvPr id="4" name="组合 63"/>
          <p:cNvGrpSpPr>
            <a:grpSpLocks/>
          </p:cNvGrpSpPr>
          <p:nvPr/>
        </p:nvGrpSpPr>
        <p:grpSpPr bwMode="auto">
          <a:xfrm>
            <a:off x="9459913" y="3581400"/>
            <a:ext cx="468312" cy="581025"/>
            <a:chOff x="9663011" y="3196929"/>
            <a:chExt cx="337336" cy="496750"/>
          </a:xfrm>
        </p:grpSpPr>
        <p:sp>
          <p:nvSpPr>
            <p:cNvPr id="65" name="椭圆 64"/>
            <p:cNvSpPr/>
            <p:nvPr/>
          </p:nvSpPr>
          <p:spPr>
            <a:xfrm>
              <a:off x="9663011" y="3293916"/>
              <a:ext cx="337336" cy="399763"/>
            </a:xfrm>
            <a:prstGeom prst="ellipse">
              <a:avLst/>
            </a:pr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500"/>
            </a:p>
          </p:txBody>
        </p:sp>
        <p:sp>
          <p:nvSpPr>
            <p:cNvPr id="66" name="椭圆 65"/>
            <p:cNvSpPr/>
            <p:nvPr/>
          </p:nvSpPr>
          <p:spPr>
            <a:xfrm>
              <a:off x="9821959" y="3484664"/>
              <a:ext cx="19440" cy="176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500"/>
            </a:p>
          </p:txBody>
        </p:sp>
        <p:sp>
          <p:nvSpPr>
            <p:cNvPr id="6211" name="Rectangle 22"/>
            <p:cNvSpPr>
              <a:spLocks noChangeAspect="1" noChangeArrowheads="1"/>
            </p:cNvSpPr>
            <p:nvPr/>
          </p:nvSpPr>
          <p:spPr bwMode="auto">
            <a:xfrm>
              <a:off x="9699603" y="3196929"/>
              <a:ext cx="244711" cy="4078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r>
                <a:rPr lang="en-US" altLang="zh-CN" sz="2500" b="1">
                  <a:solidFill>
                    <a:schemeClr val="accent1"/>
                  </a:solidFill>
                  <a:ea typeface="华文新魏" pitchFamily="2" charset="-122"/>
                </a:rPr>
                <a:t>H</a:t>
              </a:r>
            </a:p>
          </p:txBody>
        </p:sp>
      </p:grpSp>
      <p:grpSp>
        <p:nvGrpSpPr>
          <p:cNvPr id="5" name="组合 71"/>
          <p:cNvGrpSpPr>
            <a:grpSpLocks/>
          </p:cNvGrpSpPr>
          <p:nvPr/>
        </p:nvGrpSpPr>
        <p:grpSpPr bwMode="auto">
          <a:xfrm>
            <a:off x="8159750" y="3749675"/>
            <a:ext cx="468313" cy="581025"/>
            <a:chOff x="9663011" y="3196929"/>
            <a:chExt cx="337336" cy="496750"/>
          </a:xfrm>
        </p:grpSpPr>
        <p:sp>
          <p:nvSpPr>
            <p:cNvPr id="73" name="椭圆 72"/>
            <p:cNvSpPr/>
            <p:nvPr/>
          </p:nvSpPr>
          <p:spPr>
            <a:xfrm>
              <a:off x="9663011" y="3293916"/>
              <a:ext cx="337336" cy="399763"/>
            </a:xfrm>
            <a:prstGeom prst="ellipse">
              <a:avLst/>
            </a:pr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500"/>
            </a:p>
          </p:txBody>
        </p:sp>
        <p:sp>
          <p:nvSpPr>
            <p:cNvPr id="74" name="椭圆 73"/>
            <p:cNvSpPr/>
            <p:nvPr/>
          </p:nvSpPr>
          <p:spPr>
            <a:xfrm>
              <a:off x="9821959" y="3484664"/>
              <a:ext cx="19439" cy="176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500"/>
            </a:p>
          </p:txBody>
        </p:sp>
        <p:sp>
          <p:nvSpPr>
            <p:cNvPr id="6206" name="Rectangle 22"/>
            <p:cNvSpPr>
              <a:spLocks noChangeAspect="1" noChangeArrowheads="1"/>
            </p:cNvSpPr>
            <p:nvPr/>
          </p:nvSpPr>
          <p:spPr bwMode="auto">
            <a:xfrm>
              <a:off x="9699603" y="3196929"/>
              <a:ext cx="244712" cy="4078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r>
                <a:rPr lang="en-US" altLang="zh-CN" sz="2500" b="1">
                  <a:solidFill>
                    <a:schemeClr val="accent1"/>
                  </a:solidFill>
                  <a:ea typeface="华文新魏" pitchFamily="2" charset="-122"/>
                </a:rPr>
                <a:t>H</a:t>
              </a:r>
            </a:p>
          </p:txBody>
        </p:sp>
      </p:grpSp>
      <p:grpSp>
        <p:nvGrpSpPr>
          <p:cNvPr id="6" name="组合 79"/>
          <p:cNvGrpSpPr>
            <a:grpSpLocks/>
          </p:cNvGrpSpPr>
          <p:nvPr/>
        </p:nvGrpSpPr>
        <p:grpSpPr bwMode="auto">
          <a:xfrm>
            <a:off x="7312025" y="4657725"/>
            <a:ext cx="468313" cy="581025"/>
            <a:chOff x="9663011" y="3196929"/>
            <a:chExt cx="337336" cy="496750"/>
          </a:xfrm>
        </p:grpSpPr>
        <p:sp>
          <p:nvSpPr>
            <p:cNvPr id="81" name="椭圆 80"/>
            <p:cNvSpPr/>
            <p:nvPr/>
          </p:nvSpPr>
          <p:spPr>
            <a:xfrm>
              <a:off x="9663011" y="3293916"/>
              <a:ext cx="337336" cy="399763"/>
            </a:xfrm>
            <a:prstGeom prst="ellipse">
              <a:avLst/>
            </a:pr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500"/>
            </a:p>
          </p:txBody>
        </p:sp>
        <p:sp>
          <p:nvSpPr>
            <p:cNvPr id="82" name="椭圆 81"/>
            <p:cNvSpPr/>
            <p:nvPr/>
          </p:nvSpPr>
          <p:spPr>
            <a:xfrm>
              <a:off x="9821959" y="3484664"/>
              <a:ext cx="19439" cy="176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500"/>
            </a:p>
          </p:txBody>
        </p:sp>
        <p:sp>
          <p:nvSpPr>
            <p:cNvPr id="6201" name="Rectangle 22"/>
            <p:cNvSpPr>
              <a:spLocks noChangeAspect="1" noChangeArrowheads="1"/>
            </p:cNvSpPr>
            <p:nvPr/>
          </p:nvSpPr>
          <p:spPr bwMode="auto">
            <a:xfrm>
              <a:off x="9699603" y="3196929"/>
              <a:ext cx="244712" cy="4078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r>
                <a:rPr lang="en-US" altLang="zh-CN" sz="2500" b="1">
                  <a:solidFill>
                    <a:schemeClr val="accent1"/>
                  </a:solidFill>
                  <a:ea typeface="华文新魏" pitchFamily="2" charset="-122"/>
                </a:rPr>
                <a:t>H</a:t>
              </a:r>
            </a:p>
          </p:txBody>
        </p:sp>
      </p:grpSp>
      <p:grpSp>
        <p:nvGrpSpPr>
          <p:cNvPr id="7" name="组合 83"/>
          <p:cNvGrpSpPr>
            <a:grpSpLocks/>
          </p:cNvGrpSpPr>
          <p:nvPr/>
        </p:nvGrpSpPr>
        <p:grpSpPr bwMode="auto">
          <a:xfrm>
            <a:off x="8053388" y="2371725"/>
            <a:ext cx="468312" cy="581025"/>
            <a:chOff x="9663011" y="3196929"/>
            <a:chExt cx="337336" cy="496750"/>
          </a:xfrm>
        </p:grpSpPr>
        <p:sp>
          <p:nvSpPr>
            <p:cNvPr id="85" name="椭圆 84"/>
            <p:cNvSpPr/>
            <p:nvPr/>
          </p:nvSpPr>
          <p:spPr>
            <a:xfrm>
              <a:off x="9663011" y="3293916"/>
              <a:ext cx="337336" cy="399763"/>
            </a:xfrm>
            <a:prstGeom prst="ellipse">
              <a:avLst/>
            </a:pr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500"/>
            </a:p>
          </p:txBody>
        </p:sp>
        <p:sp>
          <p:nvSpPr>
            <p:cNvPr id="86" name="椭圆 85"/>
            <p:cNvSpPr/>
            <p:nvPr/>
          </p:nvSpPr>
          <p:spPr>
            <a:xfrm>
              <a:off x="9821959" y="3484664"/>
              <a:ext cx="19440" cy="176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500"/>
            </a:p>
          </p:txBody>
        </p:sp>
        <p:sp>
          <p:nvSpPr>
            <p:cNvPr id="6196" name="Rectangle 22"/>
            <p:cNvSpPr>
              <a:spLocks noChangeAspect="1" noChangeArrowheads="1"/>
            </p:cNvSpPr>
            <p:nvPr/>
          </p:nvSpPr>
          <p:spPr bwMode="auto">
            <a:xfrm>
              <a:off x="9699603" y="3196929"/>
              <a:ext cx="244711" cy="4078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r>
                <a:rPr lang="en-US" altLang="zh-CN" sz="2500" b="1">
                  <a:solidFill>
                    <a:schemeClr val="accent1"/>
                  </a:solidFill>
                  <a:ea typeface="华文新魏" pitchFamily="2" charset="-122"/>
                </a:rPr>
                <a:t>H</a:t>
              </a:r>
            </a:p>
          </p:txBody>
        </p:sp>
      </p:grpSp>
      <p:grpSp>
        <p:nvGrpSpPr>
          <p:cNvPr id="11" name="组合 87"/>
          <p:cNvGrpSpPr>
            <a:grpSpLocks/>
          </p:cNvGrpSpPr>
          <p:nvPr/>
        </p:nvGrpSpPr>
        <p:grpSpPr bwMode="auto">
          <a:xfrm>
            <a:off x="7673975" y="2379663"/>
            <a:ext cx="468313" cy="581025"/>
            <a:chOff x="9663011" y="3196929"/>
            <a:chExt cx="337336" cy="496750"/>
          </a:xfrm>
        </p:grpSpPr>
        <p:sp>
          <p:nvSpPr>
            <p:cNvPr id="89" name="椭圆 88"/>
            <p:cNvSpPr/>
            <p:nvPr/>
          </p:nvSpPr>
          <p:spPr>
            <a:xfrm>
              <a:off x="9663011" y="3293916"/>
              <a:ext cx="337336" cy="399763"/>
            </a:xfrm>
            <a:prstGeom prst="ellipse">
              <a:avLst/>
            </a:pr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500"/>
            </a:p>
          </p:txBody>
        </p:sp>
        <p:sp>
          <p:nvSpPr>
            <p:cNvPr id="90" name="椭圆 89"/>
            <p:cNvSpPr/>
            <p:nvPr/>
          </p:nvSpPr>
          <p:spPr>
            <a:xfrm>
              <a:off x="9821959" y="3484664"/>
              <a:ext cx="19439" cy="176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500"/>
            </a:p>
          </p:txBody>
        </p:sp>
        <p:sp>
          <p:nvSpPr>
            <p:cNvPr id="6191" name="Rectangle 22"/>
            <p:cNvSpPr>
              <a:spLocks noChangeAspect="1" noChangeArrowheads="1"/>
            </p:cNvSpPr>
            <p:nvPr/>
          </p:nvSpPr>
          <p:spPr bwMode="auto">
            <a:xfrm>
              <a:off x="9699603" y="3196929"/>
              <a:ext cx="244712" cy="4078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r>
                <a:rPr lang="en-US" altLang="zh-CN" sz="2500" b="1">
                  <a:solidFill>
                    <a:schemeClr val="accent1"/>
                  </a:solidFill>
                  <a:ea typeface="华文新魏" pitchFamily="2" charset="-122"/>
                </a:rPr>
                <a:t>H</a:t>
              </a:r>
            </a:p>
          </p:txBody>
        </p:sp>
      </p:grpSp>
      <p:sp>
        <p:nvSpPr>
          <p:cNvPr id="13" name="Rectangle 60"/>
          <p:cNvSpPr>
            <a:spLocks noChangeArrowheads="1"/>
          </p:cNvSpPr>
          <p:nvPr/>
        </p:nvSpPr>
        <p:spPr bwMode="auto">
          <a:xfrm>
            <a:off x="9332913" y="2668588"/>
            <a:ext cx="102711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chemeClr val="bg2"/>
                </a:solidFill>
              </a:rPr>
              <a:t>H + H</a:t>
            </a:r>
          </a:p>
        </p:txBody>
      </p:sp>
      <p:sp>
        <p:nvSpPr>
          <p:cNvPr id="92" name="Oval 66"/>
          <p:cNvSpPr>
            <a:spLocks noChangeAspect="1" noChangeArrowheads="1"/>
          </p:cNvSpPr>
          <p:nvPr/>
        </p:nvSpPr>
        <p:spPr bwMode="auto">
          <a:xfrm>
            <a:off x="5407025" y="4197350"/>
            <a:ext cx="539750" cy="5397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2500"/>
          </a:p>
        </p:txBody>
      </p:sp>
      <p:sp>
        <p:nvSpPr>
          <p:cNvPr id="93" name="Oval 67"/>
          <p:cNvSpPr>
            <a:spLocks noChangeAspect="1" noChangeArrowheads="1"/>
          </p:cNvSpPr>
          <p:nvPr/>
        </p:nvSpPr>
        <p:spPr bwMode="auto">
          <a:xfrm>
            <a:off x="6029325" y="4197350"/>
            <a:ext cx="539750" cy="5397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2500"/>
          </a:p>
        </p:txBody>
      </p:sp>
      <p:sp>
        <p:nvSpPr>
          <p:cNvPr id="94" name="Line 69"/>
          <p:cNvSpPr>
            <a:spLocks noChangeShapeType="1"/>
          </p:cNvSpPr>
          <p:nvPr/>
        </p:nvSpPr>
        <p:spPr bwMode="auto">
          <a:xfrm flipV="1">
            <a:off x="5661025" y="4267200"/>
            <a:ext cx="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" name="Line 68"/>
          <p:cNvSpPr>
            <a:spLocks noChangeShapeType="1"/>
          </p:cNvSpPr>
          <p:nvPr/>
        </p:nvSpPr>
        <p:spPr bwMode="auto">
          <a:xfrm rot="10800000" flipV="1">
            <a:off x="6307138" y="4267200"/>
            <a:ext cx="0" cy="381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" name="组合 96"/>
          <p:cNvGrpSpPr>
            <a:grpSpLocks/>
          </p:cNvGrpSpPr>
          <p:nvPr/>
        </p:nvGrpSpPr>
        <p:grpSpPr bwMode="auto">
          <a:xfrm>
            <a:off x="8601075" y="3740150"/>
            <a:ext cx="468313" cy="581025"/>
            <a:chOff x="9663011" y="3196929"/>
            <a:chExt cx="337336" cy="496750"/>
          </a:xfrm>
        </p:grpSpPr>
        <p:sp>
          <p:nvSpPr>
            <p:cNvPr id="98" name="椭圆 97"/>
            <p:cNvSpPr/>
            <p:nvPr/>
          </p:nvSpPr>
          <p:spPr>
            <a:xfrm>
              <a:off x="9663011" y="3293916"/>
              <a:ext cx="337336" cy="399763"/>
            </a:xfrm>
            <a:prstGeom prst="ellipse">
              <a:avLst/>
            </a:prstGeom>
            <a:gradFill flip="none" rotWithShape="1">
              <a:gsLst>
                <a:gs pos="0">
                  <a:srgbClr val="0000CC">
                    <a:tint val="66000"/>
                    <a:satMod val="160000"/>
                  </a:srgbClr>
                </a:gs>
                <a:gs pos="50000">
                  <a:srgbClr val="0000CC">
                    <a:tint val="44500"/>
                    <a:satMod val="160000"/>
                  </a:srgbClr>
                </a:gs>
                <a:gs pos="100000">
                  <a:srgbClr val="0000CC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500"/>
            </a:p>
          </p:txBody>
        </p:sp>
        <p:sp>
          <p:nvSpPr>
            <p:cNvPr id="99" name="椭圆 98"/>
            <p:cNvSpPr/>
            <p:nvPr/>
          </p:nvSpPr>
          <p:spPr>
            <a:xfrm>
              <a:off x="9821959" y="3484664"/>
              <a:ext cx="19439" cy="176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500"/>
            </a:p>
          </p:txBody>
        </p:sp>
        <p:sp>
          <p:nvSpPr>
            <p:cNvPr id="6186" name="Rectangle 22"/>
            <p:cNvSpPr>
              <a:spLocks noChangeAspect="1" noChangeArrowheads="1"/>
            </p:cNvSpPr>
            <p:nvPr/>
          </p:nvSpPr>
          <p:spPr bwMode="auto">
            <a:xfrm>
              <a:off x="9699603" y="3196929"/>
              <a:ext cx="244712" cy="4078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r>
                <a:rPr lang="en-US" altLang="zh-CN" sz="2500" b="1">
                  <a:solidFill>
                    <a:schemeClr val="accent1"/>
                  </a:solidFill>
                  <a:ea typeface="华文新魏" pitchFamily="2" charset="-122"/>
                </a:rPr>
                <a:t>H</a:t>
              </a:r>
            </a:p>
          </p:txBody>
        </p:sp>
      </p:grpSp>
      <p:grpSp>
        <p:nvGrpSpPr>
          <p:cNvPr id="14" name="组合 100"/>
          <p:cNvGrpSpPr>
            <a:grpSpLocks/>
          </p:cNvGrpSpPr>
          <p:nvPr/>
        </p:nvGrpSpPr>
        <p:grpSpPr bwMode="auto">
          <a:xfrm>
            <a:off x="7689850" y="4668838"/>
            <a:ext cx="468313" cy="581025"/>
            <a:chOff x="9663011" y="3196929"/>
            <a:chExt cx="337336" cy="496750"/>
          </a:xfrm>
        </p:grpSpPr>
        <p:sp>
          <p:nvSpPr>
            <p:cNvPr id="102" name="椭圆 101"/>
            <p:cNvSpPr/>
            <p:nvPr/>
          </p:nvSpPr>
          <p:spPr>
            <a:xfrm>
              <a:off x="9663011" y="3293916"/>
              <a:ext cx="337336" cy="399763"/>
            </a:xfrm>
            <a:prstGeom prst="ellipse">
              <a:avLst/>
            </a:prstGeom>
            <a:gradFill flip="none" rotWithShape="1">
              <a:gsLst>
                <a:gs pos="0">
                  <a:srgbClr val="0000CC">
                    <a:tint val="66000"/>
                    <a:satMod val="160000"/>
                  </a:srgbClr>
                </a:gs>
                <a:gs pos="50000">
                  <a:srgbClr val="0000CC">
                    <a:tint val="44500"/>
                    <a:satMod val="160000"/>
                  </a:srgbClr>
                </a:gs>
                <a:gs pos="100000">
                  <a:srgbClr val="0000CC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500"/>
            </a:p>
          </p:txBody>
        </p:sp>
        <p:sp>
          <p:nvSpPr>
            <p:cNvPr id="103" name="椭圆 102"/>
            <p:cNvSpPr/>
            <p:nvPr/>
          </p:nvSpPr>
          <p:spPr>
            <a:xfrm>
              <a:off x="9821959" y="3484664"/>
              <a:ext cx="19439" cy="176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500"/>
            </a:p>
          </p:txBody>
        </p:sp>
        <p:sp>
          <p:nvSpPr>
            <p:cNvPr id="6181" name="Rectangle 22"/>
            <p:cNvSpPr>
              <a:spLocks noChangeAspect="1" noChangeArrowheads="1"/>
            </p:cNvSpPr>
            <p:nvPr/>
          </p:nvSpPr>
          <p:spPr bwMode="auto">
            <a:xfrm>
              <a:off x="9699603" y="3196929"/>
              <a:ext cx="244712" cy="4078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r>
                <a:rPr lang="en-US" altLang="zh-CN" sz="2500" b="1">
                  <a:solidFill>
                    <a:schemeClr val="accent1"/>
                  </a:solidFill>
                  <a:ea typeface="华文新魏" pitchFamily="2" charset="-122"/>
                </a:rPr>
                <a:t>H</a:t>
              </a:r>
            </a:p>
          </p:txBody>
        </p:sp>
      </p:grpSp>
      <p:sp>
        <p:nvSpPr>
          <p:cNvPr id="6175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335756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8.1.1</a:t>
            </a:r>
            <a:r>
              <a:rPr kumimoji="1"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价键理论</a:t>
            </a:r>
          </a:p>
        </p:txBody>
      </p:sp>
      <p:sp>
        <p:nvSpPr>
          <p:cNvPr id="6176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117475" y="5597525"/>
            <a:ext cx="360363" cy="360363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8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IVEB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IVEB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IVEB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1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IVEB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9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16" grpId="0" build="p" autoUpdateAnimBg="0"/>
      <p:bldP spid="2" grpId="0"/>
      <p:bldP spid="8" grpId="0" build="p" autoUpdateAnimBg="0"/>
      <p:bldP spid="9" grpId="0"/>
      <p:bldP spid="10" grpId="0" build="p" autoUpdateAnimBg="0"/>
      <p:bldP spid="16" grpId="0" animBg="1" autoUpdateAnimBg="0"/>
      <p:bldP spid="17" grpId="0" animBg="1" autoUpdateAnimBg="0"/>
      <p:bldP spid="19" grpId="0" animBg="1"/>
      <p:bldP spid="20" grpId="0" animBg="1"/>
      <p:bldP spid="22" grpId="0" autoUpdateAnimBg="0"/>
      <p:bldP spid="44" grpId="0" autoUpdateAnimBg="0"/>
      <p:bldP spid="45" grpId="0" autoUpdateAnimBg="0"/>
      <p:bldP spid="50" grpId="0" animBg="1"/>
      <p:bldP spid="59" grpId="0" autoUpdateAnimBg="0"/>
      <p:bldP spid="13" grpId="0" autoUpdateAnimBg="0"/>
      <p:bldP spid="92" grpId="0" animBg="1" autoUpdateAnimBg="0"/>
      <p:bldP spid="93" grpId="0" animBg="1" autoUpdateAnimBg="0"/>
      <p:bldP spid="94" grpId="0" animBg="1"/>
      <p:bldP spid="9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Oval 45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68" name="Text Box 47"/>
          <p:cNvSpPr txBox="1">
            <a:spLocks noChangeArrowheads="1"/>
          </p:cNvSpPr>
          <p:nvPr/>
        </p:nvSpPr>
        <p:spPr bwMode="auto">
          <a:xfrm>
            <a:off x="760413" y="954088"/>
            <a:ext cx="273843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1. </a:t>
            </a:r>
            <a:r>
              <a:rPr kumimoji="1"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共价键的形成</a:t>
            </a:r>
          </a:p>
        </p:txBody>
      </p:sp>
      <p:grpSp>
        <p:nvGrpSpPr>
          <p:cNvPr id="2" name="组合 2"/>
          <p:cNvGrpSpPr>
            <a:grpSpLocks/>
          </p:cNvGrpSpPr>
          <p:nvPr/>
        </p:nvGrpSpPr>
        <p:grpSpPr bwMode="auto">
          <a:xfrm>
            <a:off x="3308350" y="1025525"/>
            <a:ext cx="3446463" cy="1879600"/>
            <a:chOff x="4402138" y="1007839"/>
            <a:chExt cx="3446462" cy="1880388"/>
          </a:xfrm>
        </p:grpSpPr>
        <p:grpSp>
          <p:nvGrpSpPr>
            <p:cNvPr id="7191" name="组合 3"/>
            <p:cNvGrpSpPr>
              <a:grpSpLocks/>
            </p:cNvGrpSpPr>
            <p:nvPr/>
          </p:nvGrpSpPr>
          <p:grpSpPr bwMode="auto">
            <a:xfrm>
              <a:off x="5977385" y="1007839"/>
              <a:ext cx="936178" cy="927100"/>
              <a:chOff x="5977385" y="1007839"/>
              <a:chExt cx="936178" cy="927100"/>
            </a:xfrm>
          </p:grpSpPr>
          <p:sp>
            <p:nvSpPr>
              <p:cNvPr id="18" name="椭圆 17"/>
              <p:cNvSpPr/>
              <p:nvPr/>
            </p:nvSpPr>
            <p:spPr bwMode="auto">
              <a:xfrm>
                <a:off x="5977385" y="1007839"/>
                <a:ext cx="936178" cy="927100"/>
              </a:xfrm>
              <a:prstGeom prst="ellipse">
                <a:avLst/>
              </a:prstGeom>
              <a:gradFill flip="none" rotWithShape="1">
                <a:gsLst>
                  <a:gs pos="0">
                    <a:srgbClr val="FF0000">
                      <a:tint val="66000"/>
                      <a:satMod val="160000"/>
                    </a:srgbClr>
                  </a:gs>
                  <a:gs pos="50000">
                    <a:srgbClr val="FF0000">
                      <a:tint val="44500"/>
                      <a:satMod val="160000"/>
                    </a:srgbClr>
                  </a:gs>
                  <a:gs pos="100000">
                    <a:srgbClr val="FF000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5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Line 10"/>
              <p:cNvSpPr>
                <a:spLocks noChangeShapeType="1"/>
              </p:cNvSpPr>
              <p:nvPr/>
            </p:nvSpPr>
            <p:spPr bwMode="auto">
              <a:xfrm flipV="1">
                <a:off x="6434138" y="1123776"/>
                <a:ext cx="9525" cy="709910"/>
              </a:xfrm>
              <a:prstGeom prst="line">
                <a:avLst/>
              </a:prstGeom>
              <a:noFill/>
              <a:ln w="57150">
                <a:solidFill>
                  <a:schemeClr val="bg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/>
                <a:ext uri="{AF507438-7753-43E0-B8FC-AC1667EBCBE1}"/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500">
                  <a:ln w="38100">
                    <a:solidFill>
                      <a:schemeClr val="tx1"/>
                    </a:solidFill>
                  </a:ln>
                  <a:latin typeface="Times New Roman" charset="0"/>
                  <a:ea typeface="宋体" charset="0"/>
                </a:endParaRPr>
              </a:p>
            </p:txBody>
          </p:sp>
        </p:grpSp>
        <p:grpSp>
          <p:nvGrpSpPr>
            <p:cNvPr id="7192" name="组合 1"/>
            <p:cNvGrpSpPr>
              <a:grpSpLocks/>
            </p:cNvGrpSpPr>
            <p:nvPr/>
          </p:nvGrpSpPr>
          <p:grpSpPr bwMode="auto">
            <a:xfrm>
              <a:off x="5297488" y="1007839"/>
              <a:ext cx="936178" cy="927100"/>
              <a:chOff x="5297488" y="1007839"/>
              <a:chExt cx="936178" cy="927100"/>
            </a:xfrm>
          </p:grpSpPr>
          <p:sp>
            <p:nvSpPr>
              <p:cNvPr id="17" name="椭圆 16"/>
              <p:cNvSpPr/>
              <p:nvPr/>
            </p:nvSpPr>
            <p:spPr bwMode="auto">
              <a:xfrm>
                <a:off x="5297488" y="1007839"/>
                <a:ext cx="936178" cy="927100"/>
              </a:xfrm>
              <a:prstGeom prst="ellipse">
                <a:avLst/>
              </a:prstGeom>
              <a:gradFill flip="none" rotWithShape="1">
                <a:gsLst>
                  <a:gs pos="0">
                    <a:srgbClr val="FF0000">
                      <a:tint val="66000"/>
                      <a:satMod val="160000"/>
                    </a:srgbClr>
                  </a:gs>
                  <a:gs pos="50000">
                    <a:srgbClr val="FF0000">
                      <a:tint val="44500"/>
                      <a:satMod val="160000"/>
                    </a:srgbClr>
                  </a:gs>
                  <a:gs pos="100000">
                    <a:srgbClr val="FF000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50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Line 10"/>
              <p:cNvSpPr>
                <a:spLocks noChangeShapeType="1"/>
              </p:cNvSpPr>
              <p:nvPr/>
            </p:nvSpPr>
            <p:spPr bwMode="auto">
              <a:xfrm flipV="1">
                <a:off x="5737226" y="1117423"/>
                <a:ext cx="11112" cy="708322"/>
              </a:xfrm>
              <a:prstGeom prst="line">
                <a:avLst/>
              </a:prstGeom>
              <a:noFill/>
              <a:ln w="57150">
                <a:solidFill>
                  <a:schemeClr val="bg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/>
                <a:ext uri="{AF507438-7753-43E0-B8FC-AC1667EBCBE1}"/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500">
                  <a:ln w="38100">
                    <a:solidFill>
                      <a:schemeClr val="tx1"/>
                    </a:solidFill>
                  </a:ln>
                  <a:latin typeface="Times New Roman" charset="0"/>
                  <a:ea typeface="宋体" charset="0"/>
                </a:endParaRPr>
              </a:p>
            </p:txBody>
          </p:sp>
        </p:grpSp>
        <p:sp>
          <p:nvSpPr>
            <p:cNvPr id="19" name="椭圆 18"/>
            <p:cNvSpPr/>
            <p:nvPr/>
          </p:nvSpPr>
          <p:spPr bwMode="auto">
            <a:xfrm>
              <a:off x="5992813" y="1168244"/>
              <a:ext cx="215900" cy="6225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 sz="2500">
                <a:solidFill>
                  <a:schemeClr val="tx1"/>
                </a:solidFill>
              </a:endParaRPr>
            </a:p>
          </p:txBody>
        </p:sp>
        <p:sp>
          <p:nvSpPr>
            <p:cNvPr id="7194" name="Text Box 47"/>
            <p:cNvSpPr txBox="1">
              <a:spLocks noChangeArrowheads="1"/>
            </p:cNvSpPr>
            <p:nvPr/>
          </p:nvSpPr>
          <p:spPr bwMode="auto">
            <a:xfrm>
              <a:off x="4402138" y="2025982"/>
              <a:ext cx="3446462" cy="862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zh-CN" altLang="en-US" sz="2500" b="1">
                  <a:ea typeface="楷体_GB2312" pitchFamily="49" charset="-122"/>
                </a:rPr>
                <a:t>排斥态</a:t>
              </a:r>
              <a:r>
                <a:rPr kumimoji="1" lang="en-US" altLang="zh-CN" sz="2500" b="1">
                  <a:ea typeface="楷体_GB2312" pitchFamily="49" charset="-122"/>
                </a:rPr>
                <a:t>,</a:t>
              </a:r>
              <a:r>
                <a:rPr kumimoji="1" lang="zh-CN" altLang="en-US" sz="2500" b="1">
                  <a:ea typeface="楷体_GB2312" pitchFamily="49" charset="-122"/>
                </a:rPr>
                <a:t>不稳定</a:t>
              </a:r>
            </a:p>
            <a:p>
              <a:pPr algn="ctr"/>
              <a:r>
                <a:rPr kumimoji="1" lang="zh-CN" altLang="en-US" sz="2500" b="1">
                  <a:ea typeface="楷体_GB2312" pitchFamily="49" charset="-122"/>
                </a:rPr>
                <a:t>体系能量升高</a:t>
              </a:r>
            </a:p>
          </p:txBody>
        </p:sp>
      </p:grpSp>
      <p:grpSp>
        <p:nvGrpSpPr>
          <p:cNvPr id="5" name="组合 6"/>
          <p:cNvGrpSpPr>
            <a:grpSpLocks/>
          </p:cNvGrpSpPr>
          <p:nvPr/>
        </p:nvGrpSpPr>
        <p:grpSpPr bwMode="auto">
          <a:xfrm>
            <a:off x="6332538" y="1025525"/>
            <a:ext cx="3448050" cy="1879600"/>
            <a:chOff x="7426325" y="1007839"/>
            <a:chExt cx="3448050" cy="1880386"/>
          </a:xfrm>
        </p:grpSpPr>
        <p:sp>
          <p:nvSpPr>
            <p:cNvPr id="7178" name="Text Box 47"/>
            <p:cNvSpPr txBox="1">
              <a:spLocks noChangeArrowheads="1"/>
            </p:cNvSpPr>
            <p:nvPr/>
          </p:nvSpPr>
          <p:spPr bwMode="auto">
            <a:xfrm>
              <a:off x="7426325" y="2025981"/>
              <a:ext cx="3448050" cy="8622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zh-CN" altLang="en-US" sz="2500" b="1">
                  <a:ea typeface="楷体_GB2312" pitchFamily="49" charset="-122"/>
                </a:rPr>
                <a:t>基态</a:t>
              </a:r>
              <a:r>
                <a:rPr kumimoji="1" lang="en-US" altLang="zh-CN" sz="2500" b="1">
                  <a:ea typeface="楷体_GB2312" pitchFamily="49" charset="-122"/>
                </a:rPr>
                <a:t>,</a:t>
              </a:r>
              <a:r>
                <a:rPr kumimoji="1" lang="zh-CN" altLang="en-US" sz="2500" b="1">
                  <a:ea typeface="楷体_GB2312" pitchFamily="49" charset="-122"/>
                </a:rPr>
                <a:t>稳定</a:t>
              </a:r>
            </a:p>
            <a:p>
              <a:pPr algn="ctr"/>
              <a:r>
                <a:rPr kumimoji="1" lang="zh-CN" altLang="en-US" sz="2500" b="1">
                  <a:ea typeface="楷体_GB2312" pitchFamily="49" charset="-122"/>
                </a:rPr>
                <a:t>体系能量降低</a:t>
              </a:r>
            </a:p>
          </p:txBody>
        </p:sp>
        <p:grpSp>
          <p:nvGrpSpPr>
            <p:cNvPr id="7179" name="组合 4"/>
            <p:cNvGrpSpPr>
              <a:grpSpLocks/>
            </p:cNvGrpSpPr>
            <p:nvPr/>
          </p:nvGrpSpPr>
          <p:grpSpPr bwMode="auto">
            <a:xfrm>
              <a:off x="8331798" y="1007839"/>
              <a:ext cx="936178" cy="927100"/>
              <a:chOff x="8331798" y="1007839"/>
              <a:chExt cx="936178" cy="927100"/>
            </a:xfrm>
          </p:grpSpPr>
          <p:sp>
            <p:nvSpPr>
              <p:cNvPr id="32" name="椭圆 31"/>
              <p:cNvSpPr/>
              <p:nvPr/>
            </p:nvSpPr>
            <p:spPr bwMode="auto">
              <a:xfrm>
                <a:off x="8331798" y="1007839"/>
                <a:ext cx="936178" cy="927100"/>
              </a:xfrm>
              <a:prstGeom prst="ellipse">
                <a:avLst/>
              </a:prstGeom>
              <a:gradFill flip="none" rotWithShape="1">
                <a:gsLst>
                  <a:gs pos="0">
                    <a:srgbClr val="FF0000">
                      <a:tint val="66000"/>
                      <a:satMod val="160000"/>
                    </a:srgbClr>
                  </a:gs>
                  <a:gs pos="50000">
                    <a:srgbClr val="FF0000">
                      <a:tint val="44500"/>
                      <a:satMod val="160000"/>
                    </a:srgbClr>
                  </a:gs>
                  <a:gs pos="100000">
                    <a:srgbClr val="FF000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50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Line 10"/>
              <p:cNvSpPr>
                <a:spLocks noChangeShapeType="1"/>
              </p:cNvSpPr>
              <p:nvPr/>
            </p:nvSpPr>
            <p:spPr bwMode="auto">
              <a:xfrm flipV="1">
                <a:off x="8788400" y="1115834"/>
                <a:ext cx="11112" cy="708321"/>
              </a:xfrm>
              <a:prstGeom prst="line">
                <a:avLst/>
              </a:prstGeom>
              <a:noFill/>
              <a:ln w="57150">
                <a:solidFill>
                  <a:schemeClr val="bg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/>
                <a:ext uri="{AF507438-7753-43E0-B8FC-AC1667EBCBE1}"/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500">
                  <a:ln w="38100">
                    <a:solidFill>
                      <a:schemeClr val="tx1"/>
                    </a:solidFill>
                  </a:ln>
                  <a:latin typeface="Times New Roman" charset="0"/>
                  <a:ea typeface="宋体" charset="0"/>
                </a:endParaRPr>
              </a:p>
            </p:txBody>
          </p:sp>
        </p:grpSp>
        <p:grpSp>
          <p:nvGrpSpPr>
            <p:cNvPr id="7180" name="组合 5"/>
            <p:cNvGrpSpPr>
              <a:grpSpLocks/>
            </p:cNvGrpSpPr>
            <p:nvPr/>
          </p:nvGrpSpPr>
          <p:grpSpPr bwMode="auto">
            <a:xfrm>
              <a:off x="9011699" y="1007839"/>
              <a:ext cx="936178" cy="927100"/>
              <a:chOff x="9011699" y="1007839"/>
              <a:chExt cx="936178" cy="927100"/>
            </a:xfrm>
          </p:grpSpPr>
          <p:grpSp>
            <p:nvGrpSpPr>
              <p:cNvPr id="7181" name="组 4"/>
              <p:cNvGrpSpPr>
                <a:grpSpLocks/>
              </p:cNvGrpSpPr>
              <p:nvPr/>
            </p:nvGrpSpPr>
            <p:grpSpPr bwMode="auto">
              <a:xfrm>
                <a:off x="9011699" y="1007839"/>
                <a:ext cx="936178" cy="927100"/>
                <a:chOff x="7417221" y="1309076"/>
                <a:chExt cx="936104" cy="928602"/>
              </a:xfrm>
            </p:grpSpPr>
            <p:sp>
              <p:nvSpPr>
                <p:cNvPr id="21" name="椭圆 20"/>
                <p:cNvSpPr/>
                <p:nvPr/>
              </p:nvSpPr>
              <p:spPr bwMode="auto">
                <a:xfrm>
                  <a:off x="7417221" y="1309076"/>
                  <a:ext cx="936104" cy="92860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0432FF">
                        <a:tint val="66000"/>
                        <a:satMod val="160000"/>
                      </a:srgbClr>
                    </a:gs>
                    <a:gs pos="50000">
                      <a:srgbClr val="0432FF">
                        <a:tint val="44500"/>
                        <a:satMod val="160000"/>
                      </a:srgbClr>
                    </a:gs>
                    <a:gs pos="100000">
                      <a:srgbClr val="0432FF">
                        <a:tint val="23500"/>
                        <a:satMod val="16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25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椭圆 22"/>
                <p:cNvSpPr/>
                <p:nvPr/>
              </p:nvSpPr>
              <p:spPr>
                <a:xfrm>
                  <a:off x="7425696" y="1461787"/>
                  <a:ext cx="249217" cy="623569"/>
                </a:xfrm>
                <a:prstGeom prst="ellipse">
                  <a:avLst/>
                </a:prstGeom>
                <a:solidFill>
                  <a:srgbClr val="000000">
                    <a:alpha val="63529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kumimoji="1" lang="zh-CN" altLang="en-US" sz="250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9" name="Line 10"/>
              <p:cNvSpPr>
                <a:spLocks noChangeShapeType="1"/>
              </p:cNvSpPr>
              <p:nvPr/>
            </p:nvSpPr>
            <p:spPr bwMode="auto">
              <a:xfrm>
                <a:off x="9491662" y="1126952"/>
                <a:ext cx="9525" cy="709909"/>
              </a:xfrm>
              <a:prstGeom prst="line">
                <a:avLst/>
              </a:prstGeom>
              <a:noFill/>
              <a:ln w="57150">
                <a:solidFill>
                  <a:schemeClr val="bg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/>
                <a:ext uri="{AF507438-7753-43E0-B8FC-AC1667EBCBE1}"/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500">
                  <a:ln w="38100">
                    <a:solidFill>
                      <a:schemeClr val="tx1"/>
                    </a:solidFill>
                  </a:ln>
                  <a:latin typeface="Times New Roman" charset="0"/>
                  <a:ea typeface="宋体" charset="0"/>
                </a:endParaRPr>
              </a:p>
            </p:txBody>
          </p:sp>
        </p:grpSp>
      </p:grpSp>
      <p:sp>
        <p:nvSpPr>
          <p:cNvPr id="36" name="Text Box 47"/>
          <p:cNvSpPr txBox="1">
            <a:spLocks noChangeArrowheads="1"/>
          </p:cNvSpPr>
          <p:nvPr/>
        </p:nvSpPr>
        <p:spPr bwMode="auto">
          <a:xfrm>
            <a:off x="831850" y="3097213"/>
            <a:ext cx="27384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2. </a:t>
            </a:r>
            <a:r>
              <a:rPr kumimoji="1"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价键理论的要点</a:t>
            </a:r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903288" y="3597275"/>
            <a:ext cx="76962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 sz="2500" b="1" dirty="0">
                <a:solidFill>
                  <a:schemeClr val="bg2"/>
                </a:solidFill>
                <a:latin typeface="黑体" pitchFamily="49" charset="-122"/>
                <a:ea typeface="楷体_GB2312" pitchFamily="49" charset="-122"/>
                <a:sym typeface="Monotype Sorts" pitchFamily="2" charset="2"/>
              </a:rPr>
              <a:t>①</a:t>
            </a:r>
            <a:r>
              <a:rPr lang="en-US" altLang="zh-CN" sz="2500" b="1" dirty="0">
                <a:solidFill>
                  <a:srgbClr val="FFFF00"/>
                </a:solidFill>
                <a:latin typeface="黑体" pitchFamily="49" charset="-122"/>
                <a:ea typeface="楷体_GB2312" pitchFamily="49" charset="-122"/>
                <a:sym typeface="Monotype Sorts" pitchFamily="2" charset="2"/>
              </a:rPr>
              <a:t> </a:t>
            </a:r>
            <a:r>
              <a:rPr lang="zh-CN" altLang="en-US" sz="2500" b="1" dirty="0">
                <a:latin typeface="黑体" pitchFamily="49" charset="-122"/>
                <a:ea typeface="楷体_GB2312" pitchFamily="49" charset="-122"/>
              </a:rPr>
              <a:t>各提供自旋方向相反的未成对价电子</a:t>
            </a:r>
            <a:r>
              <a:rPr lang="en-US" altLang="zh-CN" sz="2500" b="1" dirty="0">
                <a:latin typeface="黑体" pitchFamily="49" charset="-122"/>
                <a:ea typeface="楷体_GB2312" pitchFamily="49" charset="-122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zh-CN" altLang="zh-CN" sz="2500" b="1" dirty="0">
                <a:solidFill>
                  <a:schemeClr val="bg2"/>
                </a:solidFill>
                <a:latin typeface="黑体" pitchFamily="49" charset="-122"/>
                <a:ea typeface="楷体_GB2312" pitchFamily="49" charset="-122"/>
                <a:sym typeface="Monotype Sorts" pitchFamily="2" charset="2"/>
              </a:rPr>
              <a:t>②</a:t>
            </a:r>
            <a:r>
              <a:rPr lang="en-US" altLang="zh-CN" sz="2500" b="1" dirty="0">
                <a:solidFill>
                  <a:srgbClr val="FFFF00"/>
                </a:solidFill>
                <a:latin typeface="黑体" pitchFamily="49" charset="-122"/>
                <a:ea typeface="楷体_GB2312" pitchFamily="49" charset="-122"/>
                <a:sym typeface="Monotype Sorts" pitchFamily="2" charset="2"/>
              </a:rPr>
              <a:t> </a:t>
            </a:r>
            <a:r>
              <a:rPr lang="zh-CN" altLang="en-US" sz="2500" b="1" dirty="0">
                <a:latin typeface="黑体" pitchFamily="49" charset="-122"/>
                <a:ea typeface="楷体_GB2312" pitchFamily="49" charset="-122"/>
              </a:rPr>
              <a:t>原子轨道尽可能最大程度重叠</a:t>
            </a:r>
            <a:r>
              <a:rPr lang="en-US" altLang="zh-CN" sz="2500" b="1" dirty="0">
                <a:latin typeface="黑体" pitchFamily="49" charset="-122"/>
                <a:ea typeface="楷体_GB2312" pitchFamily="49" charset="-122"/>
              </a:rPr>
              <a:t>(</a:t>
            </a:r>
            <a:r>
              <a:rPr lang="zh-CN" altLang="en-US" sz="2500" b="1" dirty="0">
                <a:latin typeface="黑体" pitchFamily="49" charset="-122"/>
                <a:ea typeface="楷体_GB2312" pitchFamily="49" charset="-122"/>
              </a:rPr>
              <a:t>最大重叠原理</a:t>
            </a:r>
            <a:r>
              <a:rPr lang="en-US" altLang="zh-CN" sz="2500" b="1" dirty="0">
                <a:latin typeface="黑体" pitchFamily="49" charset="-122"/>
                <a:ea typeface="楷体_GB2312" pitchFamily="49" charset="-122"/>
              </a:rPr>
              <a:t>).</a:t>
            </a:r>
            <a:endParaRPr lang="en-US" altLang="zh-CN" sz="2500" b="1" dirty="0">
              <a:solidFill>
                <a:srgbClr val="FF3300"/>
              </a:solidFill>
              <a:latin typeface="黑体" pitchFamily="49" charset="-122"/>
              <a:ea typeface="楷体_GB2312" pitchFamily="49" charset="-122"/>
            </a:endParaRPr>
          </a:p>
        </p:txBody>
      </p:sp>
      <p:sp>
        <p:nvSpPr>
          <p:cNvPr id="7176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117475" y="5597525"/>
            <a:ext cx="360363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7177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335756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8.1.1</a:t>
            </a:r>
            <a:r>
              <a:rPr kumimoji="1"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价键理论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36" grpId="0"/>
      <p:bldP spid="3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Oval 45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Rectangle 37"/>
          <p:cNvSpPr>
            <a:spLocks noChangeArrowheads="1"/>
          </p:cNvSpPr>
          <p:nvPr/>
        </p:nvSpPr>
        <p:spPr bwMode="auto">
          <a:xfrm>
            <a:off x="688975" y="882650"/>
            <a:ext cx="80295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5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重叠类型</a:t>
            </a:r>
            <a:r>
              <a:rPr lang="en-US" altLang="zh-CN" sz="25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31" name="Rectangle 51"/>
          <p:cNvSpPr>
            <a:spLocks noChangeArrowheads="1"/>
          </p:cNvSpPr>
          <p:nvPr/>
        </p:nvSpPr>
        <p:spPr bwMode="auto">
          <a:xfrm>
            <a:off x="2211388" y="4041775"/>
            <a:ext cx="5983287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③同号重叠部分与异号重叠部分正好抵消</a:t>
            </a:r>
            <a:endParaRPr lang="en-US" altLang="zh-CN" sz="2500" b="1">
              <a:latin typeface="黑体" pitchFamily="49" charset="-122"/>
              <a:ea typeface="楷体_GB2312" pitchFamily="49" charset="-122"/>
            </a:endParaRPr>
          </a:p>
        </p:txBody>
      </p:sp>
      <p:sp>
        <p:nvSpPr>
          <p:cNvPr id="33" name="Rectangle 52"/>
          <p:cNvSpPr>
            <a:spLocks noChangeArrowheads="1"/>
          </p:cNvSpPr>
          <p:nvPr/>
        </p:nvSpPr>
        <p:spPr bwMode="auto">
          <a:xfrm>
            <a:off x="2211388" y="2632075"/>
            <a:ext cx="5984875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②不同符号部分重叠</a:t>
            </a:r>
            <a:r>
              <a:rPr lang="en-US" altLang="zh-CN" sz="2500" b="1">
                <a:latin typeface="黑体" pitchFamily="49" charset="-122"/>
                <a:ea typeface="楷体_GB2312" pitchFamily="49" charset="-122"/>
              </a:rPr>
              <a:t>(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或认为波函数相减</a:t>
            </a:r>
            <a:r>
              <a:rPr lang="en-US" altLang="zh-CN" sz="2500" b="1">
                <a:latin typeface="黑体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41" name="Rectangle 57"/>
          <p:cNvSpPr>
            <a:spLocks noChangeArrowheads="1"/>
          </p:cNvSpPr>
          <p:nvPr/>
        </p:nvSpPr>
        <p:spPr bwMode="auto">
          <a:xfrm>
            <a:off x="5551488" y="4743450"/>
            <a:ext cx="2763837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楷体_GB2312"/>
              </a:rPr>
              <a:t>零重叠</a:t>
            </a:r>
            <a:r>
              <a:rPr lang="en-US" altLang="zh-CN" sz="2500" b="1" dirty="0">
                <a:latin typeface="黑体" panose="02010609060101010101" pitchFamily="49" charset="-122"/>
                <a:ea typeface="楷体_GB2312"/>
              </a:rPr>
              <a:t>(</a:t>
            </a:r>
            <a:r>
              <a:rPr lang="zh-CN" altLang="en-US" sz="2500" b="1" dirty="0">
                <a:latin typeface="黑体" panose="02010609060101010101" pitchFamily="49" charset="-122"/>
                <a:ea typeface="楷体_GB2312"/>
              </a:rPr>
              <a:t>无效重叠</a:t>
            </a:r>
            <a:r>
              <a:rPr lang="en-US" altLang="zh-CN" sz="2500" b="1" dirty="0">
                <a:latin typeface="黑体" panose="02010609060101010101" pitchFamily="49" charset="-122"/>
                <a:ea typeface="楷体_GB2312"/>
              </a:rPr>
              <a:t>)</a:t>
            </a:r>
          </a:p>
        </p:txBody>
      </p:sp>
      <p:grpSp>
        <p:nvGrpSpPr>
          <p:cNvPr id="2" name="Group 69"/>
          <p:cNvGrpSpPr>
            <a:grpSpLocks/>
          </p:cNvGrpSpPr>
          <p:nvPr/>
        </p:nvGrpSpPr>
        <p:grpSpPr bwMode="auto">
          <a:xfrm>
            <a:off x="3835400" y="1922463"/>
            <a:ext cx="1073150" cy="539750"/>
            <a:chOff x="2160" y="1632"/>
            <a:chExt cx="676" cy="340"/>
          </a:xfrm>
        </p:grpSpPr>
        <p:sp>
          <p:nvSpPr>
            <p:cNvPr id="8224" name="Oval 41"/>
            <p:cNvSpPr>
              <a:spLocks noChangeAspect="1" noChangeArrowheads="1"/>
            </p:cNvSpPr>
            <p:nvPr/>
          </p:nvSpPr>
          <p:spPr bwMode="auto">
            <a:xfrm>
              <a:off x="2160" y="1632"/>
              <a:ext cx="340" cy="3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3600">
                  <a:solidFill>
                    <a:schemeClr val="bg2"/>
                  </a:solidFill>
                  <a:ea typeface="华文新魏" pitchFamily="2" charset="-122"/>
                </a:rPr>
                <a:t>-</a:t>
              </a:r>
            </a:p>
          </p:txBody>
        </p:sp>
        <p:sp>
          <p:nvSpPr>
            <p:cNvPr id="44" name="Oval 42"/>
            <p:cNvSpPr>
              <a:spLocks noChangeAspect="1" noChangeArrowheads="1"/>
            </p:cNvSpPr>
            <p:nvPr/>
          </p:nvSpPr>
          <p:spPr bwMode="auto">
            <a:xfrm>
              <a:off x="2496" y="1632"/>
              <a:ext cx="340" cy="340"/>
            </a:xfrm>
            <a:prstGeom prst="ellipse">
              <a:avLst/>
            </a:pr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3200" b="1">
                  <a:solidFill>
                    <a:schemeClr val="bg2"/>
                  </a:solidFill>
                  <a:ea typeface="华文新魏" pitchFamily="2" charset="-122"/>
                </a:rPr>
                <a:t>+</a:t>
              </a:r>
            </a:p>
          </p:txBody>
        </p:sp>
      </p:grpSp>
      <p:sp>
        <p:nvSpPr>
          <p:cNvPr id="45" name="Oval 53"/>
          <p:cNvSpPr>
            <a:spLocks noChangeArrowheads="1"/>
          </p:cNvSpPr>
          <p:nvPr/>
        </p:nvSpPr>
        <p:spPr bwMode="auto">
          <a:xfrm>
            <a:off x="4760905" y="1811327"/>
            <a:ext cx="762000" cy="762000"/>
          </a:xfrm>
          <a:prstGeom prst="ellipse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3600" b="1">
                <a:solidFill>
                  <a:schemeClr val="bg2"/>
                </a:solidFill>
                <a:ea typeface="华文新魏" pitchFamily="2" charset="-122"/>
              </a:rPr>
              <a:t>+</a:t>
            </a:r>
          </a:p>
        </p:txBody>
      </p:sp>
      <p:sp>
        <p:nvSpPr>
          <p:cNvPr id="46" name="Rectangle 58"/>
          <p:cNvSpPr>
            <a:spLocks noChangeArrowheads="1"/>
          </p:cNvSpPr>
          <p:nvPr/>
        </p:nvSpPr>
        <p:spPr bwMode="auto">
          <a:xfrm>
            <a:off x="5551488" y="1939925"/>
            <a:ext cx="2763837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楷体_GB2312"/>
              </a:rPr>
              <a:t>正重叠</a:t>
            </a:r>
            <a:r>
              <a:rPr lang="en-US" altLang="zh-CN" sz="2500" b="1" dirty="0">
                <a:latin typeface="黑体" panose="02010609060101010101" pitchFamily="49" charset="-122"/>
                <a:ea typeface="楷体_GB2312"/>
              </a:rPr>
              <a:t>(</a:t>
            </a:r>
            <a:r>
              <a:rPr lang="zh-CN" altLang="en-US" sz="2500" b="1" dirty="0">
                <a:latin typeface="黑体" panose="02010609060101010101" pitchFamily="49" charset="-122"/>
                <a:ea typeface="楷体_GB2312"/>
              </a:rPr>
              <a:t>有效重叠</a:t>
            </a:r>
            <a:r>
              <a:rPr lang="en-US" altLang="zh-CN" sz="2500" b="1" dirty="0">
                <a:latin typeface="黑体" panose="02010609060101010101" pitchFamily="49" charset="-122"/>
                <a:ea typeface="楷体_GB2312"/>
              </a:rPr>
              <a:t>)</a:t>
            </a:r>
          </a:p>
        </p:txBody>
      </p:sp>
      <p:sp>
        <p:nvSpPr>
          <p:cNvPr id="51" name="Rectangle 59"/>
          <p:cNvSpPr>
            <a:spLocks noChangeArrowheads="1"/>
          </p:cNvSpPr>
          <p:nvPr/>
        </p:nvSpPr>
        <p:spPr bwMode="auto">
          <a:xfrm>
            <a:off x="5551488" y="3324225"/>
            <a:ext cx="2763837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楷体_GB2312"/>
              </a:rPr>
              <a:t>负重叠</a:t>
            </a:r>
            <a:r>
              <a:rPr lang="en-US" altLang="zh-CN" sz="2500" b="1" dirty="0">
                <a:latin typeface="黑体" panose="02010609060101010101" pitchFamily="49" charset="-122"/>
                <a:ea typeface="楷体_GB2312"/>
              </a:rPr>
              <a:t>(</a:t>
            </a:r>
            <a:r>
              <a:rPr lang="zh-CN" altLang="en-US" sz="2500" b="1" dirty="0">
                <a:latin typeface="黑体" panose="02010609060101010101" pitchFamily="49" charset="-122"/>
                <a:ea typeface="楷体_GB2312"/>
              </a:rPr>
              <a:t>无效重叠</a:t>
            </a:r>
            <a:r>
              <a:rPr lang="en-US" altLang="zh-CN" sz="2500" b="1" dirty="0">
                <a:latin typeface="黑体" panose="02010609060101010101" pitchFamily="49" charset="-122"/>
                <a:ea typeface="楷体_GB2312"/>
              </a:rPr>
              <a:t>)</a:t>
            </a:r>
          </a:p>
        </p:txBody>
      </p:sp>
      <p:sp>
        <p:nvSpPr>
          <p:cNvPr id="52" name="Rectangle 60"/>
          <p:cNvSpPr>
            <a:spLocks noChangeArrowheads="1"/>
          </p:cNvSpPr>
          <p:nvPr/>
        </p:nvSpPr>
        <p:spPr bwMode="auto">
          <a:xfrm>
            <a:off x="2260600" y="1311275"/>
            <a:ext cx="276066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①同符号部分重叠</a:t>
            </a:r>
            <a:endParaRPr lang="en-US" altLang="zh-CN" sz="2500" b="1">
              <a:latin typeface="黑体" pitchFamily="49" charset="-122"/>
              <a:ea typeface="楷体_GB2312" pitchFamily="49" charset="-122"/>
            </a:endParaRPr>
          </a:p>
        </p:txBody>
      </p:sp>
      <p:sp>
        <p:nvSpPr>
          <p:cNvPr id="53" name="Oval 53"/>
          <p:cNvSpPr>
            <a:spLocks noChangeArrowheads="1"/>
          </p:cNvSpPr>
          <p:nvPr/>
        </p:nvSpPr>
        <p:spPr bwMode="auto">
          <a:xfrm>
            <a:off x="4760905" y="3170993"/>
            <a:ext cx="762000" cy="762000"/>
          </a:xfrm>
          <a:prstGeom prst="ellipse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3600" b="1">
                <a:solidFill>
                  <a:schemeClr val="bg2"/>
                </a:solidFill>
                <a:ea typeface="华文新魏" pitchFamily="2" charset="-122"/>
              </a:rPr>
              <a:t>+</a:t>
            </a:r>
          </a:p>
        </p:txBody>
      </p:sp>
      <p:grpSp>
        <p:nvGrpSpPr>
          <p:cNvPr id="3" name="Group 69"/>
          <p:cNvGrpSpPr>
            <a:grpSpLocks/>
          </p:cNvGrpSpPr>
          <p:nvPr/>
        </p:nvGrpSpPr>
        <p:grpSpPr bwMode="auto">
          <a:xfrm>
            <a:off x="3789363" y="3260725"/>
            <a:ext cx="1087437" cy="539750"/>
            <a:chOff x="2155" y="1632"/>
            <a:chExt cx="685" cy="340"/>
          </a:xfrm>
        </p:grpSpPr>
        <p:sp>
          <p:nvSpPr>
            <p:cNvPr id="8220" name="Oval 41"/>
            <p:cNvSpPr>
              <a:spLocks noChangeAspect="1" noChangeArrowheads="1"/>
            </p:cNvSpPr>
            <p:nvPr/>
          </p:nvSpPr>
          <p:spPr bwMode="auto">
            <a:xfrm>
              <a:off x="2500" y="1632"/>
              <a:ext cx="340" cy="3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3600">
                  <a:solidFill>
                    <a:schemeClr val="bg2"/>
                  </a:solidFill>
                  <a:ea typeface="华文新魏" pitchFamily="2" charset="-122"/>
                </a:rPr>
                <a:t>-</a:t>
              </a:r>
            </a:p>
          </p:txBody>
        </p:sp>
        <p:sp>
          <p:nvSpPr>
            <p:cNvPr id="56" name="Oval 42"/>
            <p:cNvSpPr>
              <a:spLocks noChangeAspect="1" noChangeArrowheads="1"/>
            </p:cNvSpPr>
            <p:nvPr/>
          </p:nvSpPr>
          <p:spPr bwMode="auto">
            <a:xfrm>
              <a:off x="2155" y="1632"/>
              <a:ext cx="340" cy="340"/>
            </a:xfrm>
            <a:prstGeom prst="ellipse">
              <a:avLst/>
            </a:pr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3200" b="1">
                  <a:solidFill>
                    <a:schemeClr val="bg2"/>
                  </a:solidFill>
                  <a:ea typeface="华文新魏" pitchFamily="2" charset="-122"/>
                </a:rPr>
                <a:t>+</a:t>
              </a:r>
            </a:p>
          </p:txBody>
        </p:sp>
      </p:grpSp>
      <p:sp>
        <p:nvSpPr>
          <p:cNvPr id="57" name="Oval 53"/>
          <p:cNvSpPr>
            <a:spLocks noChangeArrowheads="1"/>
          </p:cNvSpPr>
          <p:nvPr/>
        </p:nvSpPr>
        <p:spPr bwMode="auto">
          <a:xfrm>
            <a:off x="4760905" y="4734099"/>
            <a:ext cx="762000" cy="762000"/>
          </a:xfrm>
          <a:prstGeom prst="ellipse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3600" b="1">
                <a:solidFill>
                  <a:schemeClr val="bg2"/>
                </a:solidFill>
                <a:ea typeface="华文新魏" pitchFamily="2" charset="-122"/>
              </a:rPr>
              <a:t>+</a:t>
            </a:r>
          </a:p>
        </p:txBody>
      </p:sp>
      <p:grpSp>
        <p:nvGrpSpPr>
          <p:cNvPr id="4" name="Group 69"/>
          <p:cNvGrpSpPr>
            <a:grpSpLocks/>
          </p:cNvGrpSpPr>
          <p:nvPr/>
        </p:nvGrpSpPr>
        <p:grpSpPr bwMode="auto">
          <a:xfrm>
            <a:off x="4368800" y="4627563"/>
            <a:ext cx="539750" cy="1079500"/>
            <a:chOff x="2513" y="1443"/>
            <a:chExt cx="340" cy="680"/>
          </a:xfrm>
        </p:grpSpPr>
        <p:sp>
          <p:nvSpPr>
            <p:cNvPr id="8216" name="Oval 41"/>
            <p:cNvSpPr>
              <a:spLocks noChangeAspect="1" noChangeArrowheads="1"/>
            </p:cNvSpPr>
            <p:nvPr/>
          </p:nvSpPr>
          <p:spPr bwMode="auto">
            <a:xfrm>
              <a:off x="2513" y="1783"/>
              <a:ext cx="340" cy="3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3600">
                  <a:solidFill>
                    <a:schemeClr val="bg2"/>
                  </a:solidFill>
                  <a:ea typeface="华文新魏" pitchFamily="2" charset="-122"/>
                </a:rPr>
                <a:t>-</a:t>
              </a:r>
            </a:p>
          </p:txBody>
        </p:sp>
        <p:sp>
          <p:nvSpPr>
            <p:cNvPr id="60" name="Oval 42"/>
            <p:cNvSpPr>
              <a:spLocks noChangeAspect="1" noChangeArrowheads="1"/>
            </p:cNvSpPr>
            <p:nvPr/>
          </p:nvSpPr>
          <p:spPr bwMode="auto">
            <a:xfrm>
              <a:off x="2513" y="1443"/>
              <a:ext cx="340" cy="340"/>
            </a:xfrm>
            <a:prstGeom prst="ellipse">
              <a:avLst/>
            </a:pr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3200" b="1">
                  <a:solidFill>
                    <a:schemeClr val="bg2"/>
                  </a:solidFill>
                  <a:ea typeface="华文新魏" pitchFamily="2" charset="-122"/>
                </a:rPr>
                <a:t>+</a:t>
              </a:r>
            </a:p>
          </p:txBody>
        </p:sp>
      </p:grpSp>
      <p:sp>
        <p:nvSpPr>
          <p:cNvPr id="8214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5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335756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8.1.1</a:t>
            </a:r>
            <a:r>
              <a:rPr kumimoji="1"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价键理论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utoUpdateAnimBg="0"/>
      <p:bldP spid="31" grpId="0" autoUpdateAnimBg="0"/>
      <p:bldP spid="33" grpId="0" autoUpdateAnimBg="0"/>
      <p:bldP spid="41" grpId="0" build="p" autoUpdateAnimBg="0"/>
      <p:bldP spid="46" grpId="0" autoUpdateAnimBg="0"/>
      <p:bldP spid="51" grpId="0" autoUpdateAnimBg="0"/>
      <p:bldP spid="5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Oval 45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9219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28" name="Text Box 47"/>
          <p:cNvSpPr txBox="1">
            <a:spLocks noChangeArrowheads="1"/>
          </p:cNvSpPr>
          <p:nvPr/>
        </p:nvSpPr>
        <p:spPr bwMode="auto">
          <a:xfrm>
            <a:off x="957263" y="796925"/>
            <a:ext cx="273843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3. </a:t>
            </a:r>
            <a:r>
              <a:rPr kumimoji="1"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共价键的特点</a:t>
            </a:r>
          </a:p>
        </p:txBody>
      </p: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1355725" y="1284288"/>
            <a:ext cx="20288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>
                <a:ea typeface="楷体_GB2312" pitchFamily="49" charset="-122"/>
                <a:hlinkClick r:id="rId6" action="ppaction://hlinkfile"/>
              </a:rPr>
              <a:t>饱和性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  <a:endParaRPr lang="en-US" altLang="zh-CN" sz="2500" dirty="0">
              <a:ea typeface="楷体_GB2312" pitchFamily="49" charset="-122"/>
            </a:endParaRPr>
          </a:p>
        </p:txBody>
      </p:sp>
      <p:sp>
        <p:nvSpPr>
          <p:cNvPr id="32" name="Rectangle 16"/>
          <p:cNvSpPr>
            <a:spLocks noChangeArrowheads="1"/>
          </p:cNvSpPr>
          <p:nvPr/>
        </p:nvSpPr>
        <p:spPr bwMode="auto">
          <a:xfrm>
            <a:off x="2832100" y="1311275"/>
            <a:ext cx="4572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单键与多重键</a:t>
            </a:r>
            <a:r>
              <a:rPr lang="en-US" altLang="zh-CN" sz="2500" b="1" dirty="0">
                <a:ea typeface="楷体_GB2312" pitchFamily="49" charset="-122"/>
                <a:cs typeface="Times New Roman" pitchFamily="18" charset="0"/>
                <a:sym typeface="Symbol" pitchFamily="18" charset="2"/>
              </a:rPr>
              <a:t>(multiple bond)</a:t>
            </a:r>
            <a:r>
              <a:rPr lang="en-US" altLang="zh-CN" sz="2500" b="1" dirty="0">
                <a:ea typeface="楷体_GB2312" pitchFamily="49" charset="-122"/>
                <a:cs typeface="Times New Roman" pitchFamily="18" charset="0"/>
              </a:rPr>
              <a:t>.</a:t>
            </a:r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2832100" y="1795463"/>
            <a:ext cx="359568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沿轨道伸展方向重叠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36" name="Rectangle 7"/>
          <p:cNvSpPr>
            <a:spLocks noChangeArrowheads="1"/>
          </p:cNvSpPr>
          <p:nvPr/>
        </p:nvSpPr>
        <p:spPr bwMode="auto">
          <a:xfrm>
            <a:off x="1395413" y="1800225"/>
            <a:ext cx="163353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 dirty="0">
                <a:ea typeface="楷体_GB2312" pitchFamily="49" charset="-122"/>
                <a:hlinkClick r:id="rId7" action="ppaction://hlinkfile"/>
              </a:rPr>
              <a:t>方向性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rcRect l="15247" t="7155" r="20723" b="8704"/>
          <a:stretch>
            <a:fillRect/>
          </a:stretch>
        </p:blipFill>
        <p:spPr bwMode="auto">
          <a:xfrm>
            <a:off x="8047038" y="954088"/>
            <a:ext cx="17272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Text Box 47"/>
          <p:cNvSpPr txBox="1">
            <a:spLocks noChangeArrowheads="1"/>
          </p:cNvSpPr>
          <p:nvPr/>
        </p:nvSpPr>
        <p:spPr bwMode="auto">
          <a:xfrm>
            <a:off x="958850" y="2422525"/>
            <a:ext cx="27384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4. </a:t>
            </a:r>
            <a:r>
              <a:rPr kumimoji="1"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共价键的类型</a:t>
            </a:r>
          </a:p>
        </p:txBody>
      </p:sp>
      <p:sp>
        <p:nvSpPr>
          <p:cNvPr id="40" name="Rectangle 41"/>
          <p:cNvSpPr>
            <a:spLocks noChangeArrowheads="1"/>
          </p:cNvSpPr>
          <p:nvPr/>
        </p:nvSpPr>
        <p:spPr bwMode="auto">
          <a:xfrm>
            <a:off x="1209675" y="2971800"/>
            <a:ext cx="112871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①</a:t>
            </a:r>
            <a:r>
              <a:rPr lang="en-US" altLang="zh-CN" sz="2500" b="1" i="1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</a:t>
            </a: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键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:</a:t>
            </a:r>
          </a:p>
        </p:txBody>
      </p:sp>
      <p:sp>
        <p:nvSpPr>
          <p:cNvPr id="47" name="Rectangle 42"/>
          <p:cNvSpPr>
            <a:spLocks noChangeArrowheads="1"/>
          </p:cNvSpPr>
          <p:nvPr/>
        </p:nvSpPr>
        <p:spPr bwMode="auto">
          <a:xfrm>
            <a:off x="2220913" y="2952750"/>
            <a:ext cx="43465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对键轴呈圆柱形对称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(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头碰头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).</a:t>
            </a:r>
          </a:p>
        </p:txBody>
      </p:sp>
      <p:sp>
        <p:nvSpPr>
          <p:cNvPr id="48" name="Text Box 43"/>
          <p:cNvSpPr txBox="1">
            <a:spLocks noChangeArrowheads="1"/>
          </p:cNvSpPr>
          <p:nvPr/>
        </p:nvSpPr>
        <p:spPr bwMode="auto">
          <a:xfrm>
            <a:off x="2195513" y="3932238"/>
            <a:ext cx="3733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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电子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: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形成</a:t>
            </a:r>
            <a:r>
              <a:rPr lang="zh-CN" altLang="en-US" sz="2500" b="1" i="1" dirty="0">
                <a:ea typeface="楷体_GB2312" pitchFamily="49" charset="-122"/>
                <a:sym typeface="Symbol" pitchFamily="18" charset="2"/>
              </a:rPr>
              <a:t>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键的电子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</a:p>
        </p:txBody>
      </p:sp>
      <p:sp>
        <p:nvSpPr>
          <p:cNvPr id="49" name="AutoShape 44"/>
          <p:cNvSpPr>
            <a:spLocks/>
          </p:cNvSpPr>
          <p:nvPr/>
        </p:nvSpPr>
        <p:spPr bwMode="auto">
          <a:xfrm>
            <a:off x="1138238" y="3182938"/>
            <a:ext cx="142875" cy="1366837"/>
          </a:xfrm>
          <a:prstGeom prst="leftBrace">
            <a:avLst>
              <a:gd name="adj1" fmla="val 7972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>
              <a:ea typeface="楷体_GB2312" pitchFamily="49" charset="-122"/>
            </a:endParaRPr>
          </a:p>
        </p:txBody>
      </p:sp>
      <p:sp>
        <p:nvSpPr>
          <p:cNvPr id="50" name="Rectangle 45"/>
          <p:cNvSpPr>
            <a:spLocks noChangeArrowheads="1"/>
          </p:cNvSpPr>
          <p:nvPr/>
        </p:nvSpPr>
        <p:spPr bwMode="auto">
          <a:xfrm>
            <a:off x="1209675" y="4321175"/>
            <a:ext cx="1600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solidFill>
                  <a:srgbClr val="FFFF00"/>
                </a:solidFill>
                <a:ea typeface="楷体_GB2312" pitchFamily="49" charset="-122"/>
                <a:sym typeface="Monotype Sorts" pitchFamily="2" charset="2"/>
                <a:hlinkClick r:id="rId9" action="ppaction://hlinkfile"/>
              </a:rPr>
              <a:t>②</a:t>
            </a:r>
            <a:r>
              <a:rPr lang="en-US" altLang="zh-CN" sz="2500" b="1" i="1" dirty="0">
                <a:solidFill>
                  <a:srgbClr val="FFFF00"/>
                </a:solidFill>
                <a:ea typeface="楷体_GB2312" pitchFamily="49" charset="-122"/>
                <a:sym typeface="Symbol" pitchFamily="18" charset="2"/>
                <a:hlinkClick r:id="rId9" action="ppaction://hlinkfile"/>
              </a:rPr>
              <a:t></a:t>
            </a:r>
            <a:r>
              <a:rPr lang="zh-CN" altLang="en-US" sz="2500" b="1" dirty="0">
                <a:solidFill>
                  <a:srgbClr val="FFFF00"/>
                </a:solidFill>
                <a:ea typeface="楷体_GB2312" pitchFamily="49" charset="-122"/>
                <a:sym typeface="Symbol" pitchFamily="18" charset="2"/>
                <a:hlinkClick r:id="rId9" action="ppaction://hlinkfile"/>
              </a:rPr>
              <a:t>键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:</a:t>
            </a:r>
          </a:p>
        </p:txBody>
      </p:sp>
      <p:sp>
        <p:nvSpPr>
          <p:cNvPr id="61" name="Rectangle 46"/>
          <p:cNvSpPr>
            <a:spLocks noChangeArrowheads="1"/>
          </p:cNvSpPr>
          <p:nvPr/>
        </p:nvSpPr>
        <p:spPr bwMode="auto">
          <a:xfrm>
            <a:off x="2689225" y="4311650"/>
            <a:ext cx="677068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对键轴所在的某一特定平面具反对称性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(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肩并肩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)</a:t>
            </a:r>
          </a:p>
        </p:txBody>
      </p:sp>
      <p:sp>
        <p:nvSpPr>
          <p:cNvPr id="62" name="Text Box 47"/>
          <p:cNvSpPr txBox="1">
            <a:spLocks noChangeArrowheads="1"/>
          </p:cNvSpPr>
          <p:nvPr/>
        </p:nvSpPr>
        <p:spPr bwMode="auto">
          <a:xfrm>
            <a:off x="2147888" y="4754563"/>
            <a:ext cx="356393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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电子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: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形成</a:t>
            </a:r>
            <a:r>
              <a:rPr lang="zh-CN" altLang="en-US" sz="2500" b="1" i="1" dirty="0">
                <a:ea typeface="楷体_GB2312" pitchFamily="49" charset="-122"/>
                <a:sym typeface="Symbol" pitchFamily="18" charset="2"/>
              </a:rPr>
              <a:t>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键的电子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</a:p>
        </p:txBody>
      </p:sp>
      <p:sp>
        <p:nvSpPr>
          <p:cNvPr id="63" name="Text Box 54"/>
          <p:cNvSpPr txBox="1">
            <a:spLocks noChangeArrowheads="1"/>
          </p:cNvSpPr>
          <p:nvPr/>
        </p:nvSpPr>
        <p:spPr bwMode="auto">
          <a:xfrm>
            <a:off x="2195513" y="3422650"/>
            <a:ext cx="43227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  <a:sym typeface="Symbol" pitchFamily="18" charset="2"/>
                <a:hlinkClick r:id="rId10" action="ppaction://hlinkfile"/>
              </a:rPr>
              <a:t>s-s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  <a:hlinkClick r:id="rId10" action="ppaction://hlinkfile"/>
              </a:rPr>
              <a:t>重叠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;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  <a:hlinkClick r:id="rId11" action="ppaction://hlinkfile"/>
              </a:rPr>
              <a:t>s-p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  <a:hlinkClick r:id="rId11" action="ppaction://hlinkfile"/>
              </a:rPr>
              <a:t>重叠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;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  <a:hlinkClick r:id="rId12" action="ppaction://hlinkfile"/>
              </a:rPr>
              <a:t>p-p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  <a:hlinkClick r:id="rId12" action="ppaction://hlinkfile"/>
              </a:rPr>
              <a:t>重叠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260475" y="5168900"/>
            <a:ext cx="37211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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键、</a:t>
            </a:r>
            <a:r>
              <a:rPr lang="zh-CN" altLang="en-US" sz="2500" b="1" i="1" dirty="0">
                <a:ea typeface="楷体_GB2312" pitchFamily="49" charset="-122"/>
                <a:sym typeface="Symbol" pitchFamily="18" charset="2"/>
              </a:rPr>
              <a:t>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键的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特征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: 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稳定性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  <a:endParaRPr lang="zh-CN" altLang="en-US" sz="2500" b="1" dirty="0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9236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335756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8.1.1</a:t>
            </a:r>
            <a:r>
              <a:rPr kumimoji="1" lang="zh-CN" altLang="en-US" sz="2200" b="1">
                <a:solidFill>
                  <a:srgbClr val="FF0000"/>
                </a:solidFill>
                <a:ea typeface="黑体" pitchFamily="49" charset="-122"/>
              </a:rPr>
              <a:t>价键理论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autoUpdateAnimBg="0"/>
      <p:bldP spid="32" grpId="0" autoUpdateAnimBg="0"/>
      <p:bldP spid="34" grpId="0" autoUpdateAnimBg="0"/>
      <p:bldP spid="36" grpId="0" autoUpdateAnimBg="0"/>
      <p:bldP spid="39" grpId="0" build="p"/>
      <p:bldP spid="40" grpId="0" autoUpdateAnimBg="0"/>
      <p:bldP spid="47" grpId="0" autoUpdateAnimBg="0"/>
      <p:bldP spid="48" grpId="0" autoUpdateAnimBg="0"/>
      <p:bldP spid="49" grpId="0" animBg="1"/>
      <p:bldP spid="50" grpId="0" autoUpdateAnimBg="0"/>
      <p:bldP spid="61" grpId="0" autoUpdateAnimBg="0"/>
      <p:bldP spid="62" grpId="0" autoUpdateAnimBg="0"/>
      <p:bldP spid="63" grpId="0" autoUpdateAnimBg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Oval 45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Text Box 63"/>
          <p:cNvSpPr txBox="1">
            <a:spLocks noChangeArrowheads="1"/>
          </p:cNvSpPr>
          <p:nvPr/>
        </p:nvSpPr>
        <p:spPr bwMode="auto">
          <a:xfrm>
            <a:off x="1331913" y="811213"/>
            <a:ext cx="70516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在双键或三键的两个原子间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既有</a:t>
            </a:r>
            <a:r>
              <a:rPr lang="zh-CN" altLang="en-US" sz="2500" b="1" i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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键</a:t>
            </a:r>
            <a:r>
              <a:rPr lang="zh-CN" altLang="en-US" sz="2500" b="1" dirty="0">
                <a:ea typeface="楷体_GB2312" pitchFamily="49" charset="-122"/>
              </a:rPr>
              <a:t>又有</a:t>
            </a:r>
            <a:r>
              <a:rPr lang="zh-CN" altLang="en-US" sz="2500" b="1" i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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键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30" name="Text Box 4"/>
          <p:cNvSpPr txBox="1">
            <a:spLocks noChangeArrowheads="1"/>
          </p:cNvSpPr>
          <p:nvPr/>
        </p:nvSpPr>
        <p:spPr bwMode="auto">
          <a:xfrm>
            <a:off x="6262688" y="1327150"/>
            <a:ext cx="20256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如</a:t>
            </a:r>
            <a:r>
              <a:rPr lang="en-US" altLang="zh-CN" sz="2500" b="1">
                <a:solidFill>
                  <a:srgbClr val="FFFF00"/>
                </a:solidFill>
                <a:ea typeface="楷体_GB2312" pitchFamily="49" charset="-122"/>
                <a:cs typeface="Times New Roman" pitchFamily="18" charset="0"/>
                <a:hlinkClick r:id="rId10" action="ppaction://hlinkfile"/>
              </a:rPr>
              <a:t>N</a:t>
            </a:r>
            <a:r>
              <a:rPr lang="en-US" altLang="zh-CN" sz="2500" b="1" baseline="-25000">
                <a:solidFill>
                  <a:srgbClr val="FFFF00"/>
                </a:solidFill>
                <a:ea typeface="楷体_GB2312" pitchFamily="49" charset="-122"/>
                <a:cs typeface="Times New Roman" pitchFamily="18" charset="0"/>
                <a:hlinkClick r:id="rId10" action="ppaction://hlinkfile"/>
              </a:rPr>
              <a:t>2</a:t>
            </a:r>
            <a:r>
              <a:rPr lang="zh-CN" altLang="en-US" sz="2500" b="1">
                <a:ea typeface="楷体_GB2312" pitchFamily="49" charset="-122"/>
                <a:hlinkClick r:id="rId10" action="ppaction://hlinkfile"/>
              </a:rPr>
              <a:t>的成键</a:t>
            </a:r>
            <a:endParaRPr lang="en-US" altLang="zh-CN" sz="2500" b="1">
              <a:ea typeface="楷体_GB2312" pitchFamily="49" charset="-122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460500" y="1482725"/>
            <a:ext cx="2286000" cy="990600"/>
            <a:chOff x="528" y="2400"/>
            <a:chExt cx="1440" cy="624"/>
          </a:xfrm>
        </p:grpSpPr>
        <p:sp>
          <p:nvSpPr>
            <p:cNvPr id="10286" name="Oval 11"/>
            <p:cNvSpPr>
              <a:spLocks noChangeArrowheads="1"/>
            </p:cNvSpPr>
            <p:nvPr/>
          </p:nvSpPr>
          <p:spPr bwMode="auto">
            <a:xfrm>
              <a:off x="1584" y="2400"/>
              <a:ext cx="384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10287" name="Oval 12"/>
            <p:cNvSpPr>
              <a:spLocks noChangeArrowheads="1"/>
            </p:cNvSpPr>
            <p:nvPr/>
          </p:nvSpPr>
          <p:spPr bwMode="auto">
            <a:xfrm>
              <a:off x="1200" y="2400"/>
              <a:ext cx="384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10288" name="Oval 13"/>
            <p:cNvSpPr>
              <a:spLocks noChangeArrowheads="1"/>
            </p:cNvSpPr>
            <p:nvPr/>
          </p:nvSpPr>
          <p:spPr bwMode="auto">
            <a:xfrm>
              <a:off x="816" y="2400"/>
              <a:ext cx="384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10289" name="Oval 14"/>
            <p:cNvSpPr>
              <a:spLocks noChangeArrowheads="1"/>
            </p:cNvSpPr>
            <p:nvPr/>
          </p:nvSpPr>
          <p:spPr bwMode="auto">
            <a:xfrm>
              <a:off x="528" y="2640"/>
              <a:ext cx="384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10290" name="Line 15"/>
            <p:cNvSpPr>
              <a:spLocks noChangeShapeType="1"/>
            </p:cNvSpPr>
            <p:nvPr/>
          </p:nvSpPr>
          <p:spPr bwMode="auto">
            <a:xfrm flipV="1">
              <a:off x="679" y="2711"/>
              <a:ext cx="1" cy="24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1" name="Line 16"/>
            <p:cNvSpPr>
              <a:spLocks noChangeShapeType="1"/>
            </p:cNvSpPr>
            <p:nvPr/>
          </p:nvSpPr>
          <p:spPr bwMode="auto">
            <a:xfrm flipV="1">
              <a:off x="996" y="2481"/>
              <a:ext cx="1" cy="24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2" name="Line 17"/>
            <p:cNvSpPr>
              <a:spLocks noChangeShapeType="1"/>
            </p:cNvSpPr>
            <p:nvPr/>
          </p:nvSpPr>
          <p:spPr bwMode="auto">
            <a:xfrm flipV="1">
              <a:off x="1385" y="2469"/>
              <a:ext cx="1" cy="24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3" name="Line 18"/>
            <p:cNvSpPr>
              <a:spLocks noChangeShapeType="1"/>
            </p:cNvSpPr>
            <p:nvPr/>
          </p:nvSpPr>
          <p:spPr bwMode="auto">
            <a:xfrm flipV="1">
              <a:off x="1774" y="2469"/>
              <a:ext cx="1" cy="24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4" name="Line 19"/>
            <p:cNvSpPr>
              <a:spLocks noChangeShapeType="1"/>
            </p:cNvSpPr>
            <p:nvPr/>
          </p:nvSpPr>
          <p:spPr bwMode="auto">
            <a:xfrm>
              <a:off x="755" y="2714"/>
              <a:ext cx="1" cy="24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2" name="Rectangle 21"/>
          <p:cNvSpPr>
            <a:spLocks noChangeArrowheads="1"/>
          </p:cNvSpPr>
          <p:nvPr/>
        </p:nvSpPr>
        <p:spPr bwMode="auto">
          <a:xfrm>
            <a:off x="1398588" y="1379538"/>
            <a:ext cx="45878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>
                <a:ea typeface="楷体_GB2312" pitchFamily="49" charset="-122"/>
              </a:rPr>
              <a:t>2</a:t>
            </a:r>
            <a:r>
              <a:rPr lang="en-US" altLang="zh-CN" sz="2400" b="1" i="1">
                <a:ea typeface="楷体_GB2312" pitchFamily="49" charset="-122"/>
              </a:rPr>
              <a:t>s</a:t>
            </a:r>
            <a:endParaRPr lang="en-US" altLang="zh-CN" sz="2400" b="1">
              <a:ea typeface="楷体_GB2312" pitchFamily="49" charset="-122"/>
            </a:endParaRPr>
          </a:p>
        </p:txBody>
      </p:sp>
      <p:sp>
        <p:nvSpPr>
          <p:cNvPr id="53" name="Rectangle 22"/>
          <p:cNvSpPr>
            <a:spLocks noChangeArrowheads="1"/>
          </p:cNvSpPr>
          <p:nvPr/>
        </p:nvSpPr>
        <p:spPr bwMode="auto">
          <a:xfrm>
            <a:off x="3706813" y="1308100"/>
            <a:ext cx="4953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>
                <a:ea typeface="楷体_GB2312" pitchFamily="49" charset="-122"/>
              </a:rPr>
              <a:t>2</a:t>
            </a:r>
            <a:r>
              <a:rPr lang="en-US" altLang="zh-CN" sz="2400" b="1" i="1">
                <a:ea typeface="楷体_GB2312" pitchFamily="49" charset="-122"/>
              </a:rPr>
              <a:t>p</a:t>
            </a:r>
            <a:endParaRPr lang="en-US" altLang="zh-CN" sz="2400" b="1">
              <a:ea typeface="楷体_GB2312" pitchFamily="49" charset="-122"/>
            </a:endParaRPr>
          </a:p>
        </p:txBody>
      </p: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2339975" y="2449513"/>
            <a:ext cx="2879725" cy="2605087"/>
            <a:chOff x="521" y="1885"/>
            <a:chExt cx="1814" cy="1641"/>
          </a:xfrm>
        </p:grpSpPr>
        <p:pic>
          <p:nvPicPr>
            <p:cNvPr id="10283" name="lan-sp.avi">
              <a:hlinkClick r:id="" action="ppaction://media"/>
            </p:cNvPr>
            <p:cNvPicPr>
              <a:picLocks noRot="1" noChangeArrowheads="1"/>
            </p:cNvPicPr>
            <p:nvPr>
              <a:videoFile r:link="rId1"/>
            </p:nvPr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521" y="1926"/>
              <a:ext cx="1814" cy="1587"/>
            </a:xfrm>
            <a:prstGeom prst="rect">
              <a:avLst/>
            </a:prstGeom>
            <a:noFill/>
            <a:ln w="28575">
              <a:solidFill>
                <a:srgbClr val="FF00FF"/>
              </a:solidFill>
              <a:miter lim="800000"/>
              <a:headEnd/>
              <a:tailEnd/>
            </a:ln>
          </p:spPr>
        </p:pic>
        <p:sp>
          <p:nvSpPr>
            <p:cNvPr id="10284" name="Rectangle 9"/>
            <p:cNvSpPr>
              <a:spLocks noChangeArrowheads="1"/>
            </p:cNvSpPr>
            <p:nvPr/>
          </p:nvSpPr>
          <p:spPr bwMode="auto">
            <a:xfrm>
              <a:off x="1082" y="3235"/>
              <a:ext cx="898" cy="291"/>
            </a:xfrm>
            <a:prstGeom prst="rect">
              <a:avLst/>
            </a:prstGeom>
            <a:noFill/>
            <a:ln w="9525">
              <a:noFill/>
              <a:prstDash val="sysDot"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ea typeface="楷体_GB2312" pitchFamily="49" charset="-122"/>
                  <a:cs typeface="Times New Roman" pitchFamily="18" charset="0"/>
                </a:rPr>
                <a:t>2s2p</a:t>
              </a:r>
              <a:r>
                <a:rPr lang="zh-CN" altLang="zh-CN" sz="2400" b="1">
                  <a:ea typeface="楷体_GB2312" pitchFamily="49" charset="-122"/>
                  <a:cs typeface="Times New Roman" pitchFamily="18" charset="0"/>
                </a:rPr>
                <a:t>轨道</a:t>
              </a:r>
              <a:endParaRPr lang="zh-CN" altLang="en-US" sz="2400" b="1"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10285" name="Rectangle 28"/>
            <p:cNvSpPr>
              <a:spLocks noChangeArrowheads="1"/>
            </p:cNvSpPr>
            <p:nvPr/>
          </p:nvSpPr>
          <p:spPr bwMode="auto">
            <a:xfrm>
              <a:off x="521" y="1885"/>
              <a:ext cx="257" cy="291"/>
            </a:xfrm>
            <a:prstGeom prst="rect">
              <a:avLst/>
            </a:prstGeom>
            <a:noFill/>
            <a:ln w="9525">
              <a:noFill/>
              <a:prstDash val="sysDot"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ea typeface="楷体_GB2312" pitchFamily="49" charset="-122"/>
                  <a:cs typeface="Times New Roman" pitchFamily="18" charset="0"/>
                </a:rPr>
                <a:t>N</a:t>
              </a:r>
            </a:p>
          </p:txBody>
        </p:sp>
      </p:grp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5254625" y="1946275"/>
            <a:ext cx="2879725" cy="2600325"/>
            <a:chOff x="2357" y="1885"/>
            <a:chExt cx="1814" cy="1638"/>
          </a:xfrm>
        </p:grpSpPr>
        <p:pic>
          <p:nvPicPr>
            <p:cNvPr id="10280" name="lan-sp.avi">
              <a:hlinkClick r:id="" action="ppaction://media"/>
            </p:cNvPr>
            <p:cNvPicPr>
              <a:picLocks noRot="1" noChangeArrowheads="1"/>
            </p:cNvPicPr>
            <p:nvPr>
              <a:videoFile r:link="rId1"/>
            </p:nvPr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2357" y="1926"/>
              <a:ext cx="1814" cy="1587"/>
            </a:xfrm>
            <a:prstGeom prst="rect">
              <a:avLst/>
            </a:prstGeom>
            <a:noFill/>
            <a:ln w="25400">
              <a:solidFill>
                <a:srgbClr val="FF00FF"/>
              </a:solidFill>
              <a:miter lim="800000"/>
              <a:headEnd/>
              <a:tailEnd/>
            </a:ln>
          </p:spPr>
        </p:pic>
        <p:sp>
          <p:nvSpPr>
            <p:cNvPr id="10281" name="Rectangle 27"/>
            <p:cNvSpPr>
              <a:spLocks noChangeArrowheads="1"/>
            </p:cNvSpPr>
            <p:nvPr/>
          </p:nvSpPr>
          <p:spPr bwMode="auto">
            <a:xfrm>
              <a:off x="2894" y="3232"/>
              <a:ext cx="898" cy="291"/>
            </a:xfrm>
            <a:prstGeom prst="rect">
              <a:avLst/>
            </a:prstGeom>
            <a:noFill/>
            <a:ln w="9525">
              <a:noFill/>
              <a:prstDash val="sysDot"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ea typeface="楷体_GB2312" pitchFamily="49" charset="-122"/>
                  <a:cs typeface="Times New Roman" pitchFamily="18" charset="0"/>
                </a:rPr>
                <a:t>2s2p</a:t>
              </a:r>
              <a:r>
                <a:rPr lang="zh-CN" altLang="zh-CN" sz="2400" b="1">
                  <a:ea typeface="楷体_GB2312" pitchFamily="49" charset="-122"/>
                  <a:cs typeface="Times New Roman" pitchFamily="18" charset="0"/>
                </a:rPr>
                <a:t>轨道</a:t>
              </a:r>
              <a:endParaRPr lang="zh-CN" altLang="en-US" sz="2400" b="1"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10282" name="Rectangle 29"/>
            <p:cNvSpPr>
              <a:spLocks noChangeArrowheads="1"/>
            </p:cNvSpPr>
            <p:nvPr/>
          </p:nvSpPr>
          <p:spPr bwMode="auto">
            <a:xfrm>
              <a:off x="3899" y="1885"/>
              <a:ext cx="257" cy="291"/>
            </a:xfrm>
            <a:prstGeom prst="rect">
              <a:avLst/>
            </a:prstGeom>
            <a:noFill/>
            <a:ln w="9525">
              <a:noFill/>
              <a:prstDash val="sysDot"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ea typeface="楷体_GB2312" pitchFamily="49" charset="-122"/>
                  <a:cs typeface="Times New Roman" pitchFamily="18" charset="0"/>
                </a:rPr>
                <a:t>N</a:t>
              </a:r>
            </a:p>
          </p:txBody>
        </p:sp>
      </p:grpSp>
      <p:sp>
        <p:nvSpPr>
          <p:cNvPr id="65" name="Rectangle 30"/>
          <p:cNvSpPr>
            <a:spLocks noChangeArrowheads="1"/>
          </p:cNvSpPr>
          <p:nvPr/>
        </p:nvSpPr>
        <p:spPr bwMode="auto">
          <a:xfrm>
            <a:off x="2071688" y="2039938"/>
            <a:ext cx="369887" cy="461962"/>
          </a:xfrm>
          <a:prstGeom prst="rect">
            <a:avLst/>
          </a:prstGeom>
          <a:noFill/>
          <a:ln w="9525">
            <a:noFill/>
            <a:prstDash val="sysDot"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</a:t>
            </a:r>
          </a:p>
        </p:txBody>
      </p:sp>
      <p:sp>
        <p:nvSpPr>
          <p:cNvPr id="66" name="Rectangle 31"/>
          <p:cNvSpPr>
            <a:spLocks noChangeArrowheads="1"/>
          </p:cNvSpPr>
          <p:nvPr/>
        </p:nvSpPr>
        <p:spPr bwMode="auto">
          <a:xfrm>
            <a:off x="2646363" y="2039938"/>
            <a:ext cx="352425" cy="461962"/>
          </a:xfrm>
          <a:prstGeom prst="rect">
            <a:avLst/>
          </a:prstGeom>
          <a:noFill/>
          <a:ln w="9525">
            <a:noFill/>
            <a:prstDash val="sysDot"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</a:t>
            </a:r>
          </a:p>
        </p:txBody>
      </p:sp>
      <p:sp>
        <p:nvSpPr>
          <p:cNvPr id="67" name="Rectangle 32"/>
          <p:cNvSpPr>
            <a:spLocks noChangeArrowheads="1"/>
          </p:cNvSpPr>
          <p:nvPr/>
        </p:nvSpPr>
        <p:spPr bwMode="auto">
          <a:xfrm>
            <a:off x="3222625" y="2039938"/>
            <a:ext cx="352425" cy="461962"/>
          </a:xfrm>
          <a:prstGeom prst="rect">
            <a:avLst/>
          </a:prstGeom>
          <a:noFill/>
          <a:ln w="9525">
            <a:noFill/>
            <a:prstDash val="sysDot"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</a:t>
            </a:r>
          </a:p>
        </p:txBody>
      </p:sp>
      <p:sp>
        <p:nvSpPr>
          <p:cNvPr id="68" name="Line 35"/>
          <p:cNvSpPr>
            <a:spLocks noChangeShapeType="1"/>
          </p:cNvSpPr>
          <p:nvPr/>
        </p:nvSpPr>
        <p:spPr bwMode="auto">
          <a:xfrm flipH="1">
            <a:off x="5254625" y="3343275"/>
            <a:ext cx="609600" cy="1524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36"/>
          <p:cNvSpPr>
            <a:spLocks noChangeShapeType="1"/>
          </p:cNvSpPr>
          <p:nvPr/>
        </p:nvSpPr>
        <p:spPr bwMode="auto">
          <a:xfrm rot="480000" flipV="1">
            <a:off x="4535488" y="3451225"/>
            <a:ext cx="609600" cy="2286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Line 37"/>
          <p:cNvSpPr>
            <a:spLocks noChangeShapeType="1"/>
          </p:cNvSpPr>
          <p:nvPr/>
        </p:nvSpPr>
        <p:spPr bwMode="auto">
          <a:xfrm rot="60000" flipH="1">
            <a:off x="2303463" y="3883025"/>
            <a:ext cx="647700" cy="1524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Line 38"/>
          <p:cNvSpPr>
            <a:spLocks noChangeShapeType="1"/>
          </p:cNvSpPr>
          <p:nvPr/>
        </p:nvSpPr>
        <p:spPr bwMode="auto">
          <a:xfrm rot="180000" flipH="1">
            <a:off x="7377113" y="3019425"/>
            <a:ext cx="647700" cy="1524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Rectangle 39"/>
          <p:cNvSpPr>
            <a:spLocks noChangeArrowheads="1"/>
          </p:cNvSpPr>
          <p:nvPr/>
        </p:nvSpPr>
        <p:spPr bwMode="auto">
          <a:xfrm>
            <a:off x="4643438" y="3060700"/>
            <a:ext cx="338137" cy="460375"/>
          </a:xfrm>
          <a:prstGeom prst="rect">
            <a:avLst/>
          </a:prstGeom>
          <a:noFill/>
          <a:ln w="9525">
            <a:noFill/>
            <a:prstDash val="sysDot"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i="1">
                <a:ea typeface="楷体_GB2312" pitchFamily="49" charset="-122"/>
                <a:cs typeface="Times New Roman" pitchFamily="18" charset="0"/>
              </a:rPr>
              <a:t>x</a:t>
            </a:r>
            <a:endParaRPr lang="en-US" altLang="zh-CN" sz="2400" b="1"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73" name="Rectangle 40"/>
          <p:cNvSpPr>
            <a:spLocks noChangeArrowheads="1"/>
          </p:cNvSpPr>
          <p:nvPr/>
        </p:nvSpPr>
        <p:spPr bwMode="auto">
          <a:xfrm>
            <a:off x="5326063" y="2917825"/>
            <a:ext cx="338137" cy="460375"/>
          </a:xfrm>
          <a:prstGeom prst="rect">
            <a:avLst/>
          </a:prstGeom>
          <a:noFill/>
          <a:ln w="9525">
            <a:noFill/>
            <a:prstDash val="sysDot"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i="1">
                <a:ea typeface="楷体_GB2312" pitchFamily="49" charset="-122"/>
                <a:cs typeface="Times New Roman" pitchFamily="18" charset="0"/>
              </a:rPr>
              <a:t>x</a:t>
            </a:r>
            <a:endParaRPr lang="en-US" altLang="zh-CN" sz="2400" b="1"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75" name="Rectangle 46"/>
          <p:cNvSpPr>
            <a:spLocks noChangeArrowheads="1"/>
          </p:cNvSpPr>
          <p:nvPr/>
        </p:nvSpPr>
        <p:spPr bwMode="auto">
          <a:xfrm>
            <a:off x="2119313" y="5246688"/>
            <a:ext cx="2225675" cy="476250"/>
          </a:xfrm>
          <a:prstGeom prst="rect">
            <a:avLst/>
          </a:prstGeom>
          <a:noFill/>
          <a:ln w="9525">
            <a:noFill/>
            <a:prstDash val="sysDot"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路易斯结构式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:</a:t>
            </a:r>
          </a:p>
        </p:txBody>
      </p:sp>
      <p:sp>
        <p:nvSpPr>
          <p:cNvPr id="76" name="Rectangle 48"/>
          <p:cNvSpPr>
            <a:spLocks noChangeArrowheads="1"/>
          </p:cNvSpPr>
          <p:nvPr/>
        </p:nvSpPr>
        <p:spPr bwMode="auto">
          <a:xfrm>
            <a:off x="5273675" y="4930775"/>
            <a:ext cx="2116138" cy="476250"/>
          </a:xfrm>
          <a:prstGeom prst="rect">
            <a:avLst/>
          </a:prstGeom>
          <a:noFill/>
          <a:ln w="9525">
            <a:noFill/>
            <a:prstDash val="sysDot"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价键结构式：</a:t>
            </a:r>
            <a:endParaRPr lang="en-US" altLang="zh-CN" sz="2500" b="1">
              <a:ea typeface="楷体_GB2312" pitchFamily="49" charset="-122"/>
              <a:sym typeface="Symbol" pitchFamily="18" charset="2"/>
            </a:endParaRPr>
          </a:p>
        </p:txBody>
      </p:sp>
      <p:grpSp>
        <p:nvGrpSpPr>
          <p:cNvPr id="5" name="Group 62"/>
          <p:cNvGrpSpPr>
            <a:grpSpLocks/>
          </p:cNvGrpSpPr>
          <p:nvPr/>
        </p:nvGrpSpPr>
        <p:grpSpPr bwMode="auto">
          <a:xfrm>
            <a:off x="7202488" y="4532313"/>
            <a:ext cx="1292225" cy="1190625"/>
            <a:chOff x="4286" y="3253"/>
            <a:chExt cx="814" cy="750"/>
          </a:xfrm>
        </p:grpSpPr>
        <p:sp>
          <p:nvSpPr>
            <p:cNvPr id="10273" name="Rectangle 50"/>
            <p:cNvSpPr>
              <a:spLocks noChangeArrowheads="1"/>
            </p:cNvSpPr>
            <p:nvPr/>
          </p:nvSpPr>
          <p:spPr bwMode="auto">
            <a:xfrm>
              <a:off x="4286" y="3505"/>
              <a:ext cx="814" cy="327"/>
            </a:xfrm>
            <a:prstGeom prst="rect">
              <a:avLst/>
            </a:prstGeom>
            <a:noFill/>
            <a:ln w="9525">
              <a:noFill/>
              <a:prstDash val="sysDot"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ea typeface="华文新魏" pitchFamily="2" charset="-122"/>
                </a:rPr>
                <a:t>:N––N:</a:t>
              </a:r>
            </a:p>
          </p:txBody>
        </p:sp>
        <p:grpSp>
          <p:nvGrpSpPr>
            <p:cNvPr id="10274" name="Group 51"/>
            <p:cNvGrpSpPr>
              <a:grpSpLocks/>
            </p:cNvGrpSpPr>
            <p:nvPr/>
          </p:nvGrpSpPr>
          <p:grpSpPr bwMode="auto">
            <a:xfrm>
              <a:off x="4332" y="3253"/>
              <a:ext cx="748" cy="327"/>
              <a:chOff x="1722" y="1915"/>
              <a:chExt cx="907" cy="362"/>
            </a:xfrm>
          </p:grpSpPr>
          <p:sp>
            <p:nvSpPr>
              <p:cNvPr id="10278" name="Rectangle 52"/>
              <p:cNvSpPr>
                <a:spLocks noChangeArrowheads="1"/>
              </p:cNvSpPr>
              <p:nvPr/>
            </p:nvSpPr>
            <p:spPr bwMode="auto">
              <a:xfrm>
                <a:off x="1722" y="2064"/>
                <a:ext cx="907" cy="15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79" name="Rectangle 53"/>
              <p:cNvSpPr>
                <a:spLocks noChangeArrowheads="1"/>
              </p:cNvSpPr>
              <p:nvPr/>
            </p:nvSpPr>
            <p:spPr bwMode="auto">
              <a:xfrm>
                <a:off x="1836" y="1915"/>
                <a:ext cx="684" cy="362"/>
              </a:xfrm>
              <a:prstGeom prst="rect">
                <a:avLst/>
              </a:prstGeom>
              <a:noFill/>
              <a:ln w="9525">
                <a:noFill/>
                <a:prstDash val="sysDot"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>
                    <a:ea typeface="华文新魏" pitchFamily="2" charset="-122"/>
                  </a:rPr>
                  <a:t>.      .</a:t>
                </a:r>
              </a:p>
            </p:txBody>
          </p:sp>
        </p:grpSp>
        <p:grpSp>
          <p:nvGrpSpPr>
            <p:cNvPr id="10275" name="Group 54"/>
            <p:cNvGrpSpPr>
              <a:grpSpLocks/>
            </p:cNvGrpSpPr>
            <p:nvPr/>
          </p:nvGrpSpPr>
          <p:grpSpPr bwMode="auto">
            <a:xfrm>
              <a:off x="4332" y="3676"/>
              <a:ext cx="748" cy="327"/>
              <a:chOff x="1722" y="1915"/>
              <a:chExt cx="907" cy="362"/>
            </a:xfrm>
          </p:grpSpPr>
          <p:sp>
            <p:nvSpPr>
              <p:cNvPr id="10276" name="Rectangle 55"/>
              <p:cNvSpPr>
                <a:spLocks noChangeArrowheads="1"/>
              </p:cNvSpPr>
              <p:nvPr/>
            </p:nvSpPr>
            <p:spPr bwMode="auto">
              <a:xfrm>
                <a:off x="1722" y="2064"/>
                <a:ext cx="907" cy="15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77" name="Rectangle 56"/>
              <p:cNvSpPr>
                <a:spLocks noChangeArrowheads="1"/>
              </p:cNvSpPr>
              <p:nvPr/>
            </p:nvSpPr>
            <p:spPr bwMode="auto">
              <a:xfrm>
                <a:off x="1836" y="1915"/>
                <a:ext cx="684" cy="362"/>
              </a:xfrm>
              <a:prstGeom prst="rect">
                <a:avLst/>
              </a:prstGeom>
              <a:noFill/>
              <a:ln w="9525">
                <a:noFill/>
                <a:prstDash val="sysDot"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>
                    <a:ea typeface="华文新魏" pitchFamily="2" charset="-122"/>
                  </a:rPr>
                  <a:t>.      .</a:t>
                </a:r>
              </a:p>
            </p:txBody>
          </p:sp>
        </p:grpSp>
      </p:grpSp>
      <p:grpSp>
        <p:nvGrpSpPr>
          <p:cNvPr id="8" name="Group 4"/>
          <p:cNvGrpSpPr>
            <a:grpSpLocks noChangeAspect="1"/>
          </p:cNvGrpSpPr>
          <p:nvPr/>
        </p:nvGrpSpPr>
        <p:grpSpPr bwMode="auto">
          <a:xfrm>
            <a:off x="4271963" y="5246688"/>
            <a:ext cx="1030287" cy="468312"/>
            <a:chOff x="3864" y="3093"/>
            <a:chExt cx="649" cy="295"/>
          </a:xfrm>
        </p:grpSpPr>
        <p:sp>
          <p:nvSpPr>
            <p:cNvPr id="10265" name="AutoShape 3"/>
            <p:cNvSpPr>
              <a:spLocks noChangeAspect="1" noChangeArrowheads="1" noTextEdit="1"/>
            </p:cNvSpPr>
            <p:nvPr/>
          </p:nvSpPr>
          <p:spPr bwMode="auto">
            <a:xfrm>
              <a:off x="3864" y="3093"/>
              <a:ext cx="648" cy="2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6" name="Rectangle 5"/>
            <p:cNvSpPr>
              <a:spLocks noChangeArrowheads="1"/>
            </p:cNvSpPr>
            <p:nvPr/>
          </p:nvSpPr>
          <p:spPr bwMode="auto">
            <a:xfrm>
              <a:off x="3942" y="3144"/>
              <a:ext cx="14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zh-CN" sz="2500"/>
                <a:t>N</a:t>
              </a:r>
            </a:p>
          </p:txBody>
        </p:sp>
        <p:sp>
          <p:nvSpPr>
            <p:cNvPr id="10267" name="Rectangle 6"/>
            <p:cNvSpPr>
              <a:spLocks noChangeArrowheads="1"/>
            </p:cNvSpPr>
            <p:nvPr/>
          </p:nvSpPr>
          <p:spPr bwMode="auto">
            <a:xfrm>
              <a:off x="4300" y="3144"/>
              <a:ext cx="14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zh-CN" sz="2500"/>
                <a:t>N</a:t>
              </a:r>
            </a:p>
          </p:txBody>
        </p:sp>
        <p:sp>
          <p:nvSpPr>
            <p:cNvPr id="10268" name="Line 7"/>
            <p:cNvSpPr>
              <a:spLocks noChangeShapeType="1"/>
            </p:cNvSpPr>
            <p:nvPr/>
          </p:nvSpPr>
          <p:spPr bwMode="auto">
            <a:xfrm>
              <a:off x="4093" y="3317"/>
              <a:ext cx="177" cy="0"/>
            </a:xfrm>
            <a:prstGeom prst="line">
              <a:avLst/>
            </a:prstGeom>
            <a:noFill/>
            <a:ln w="17463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9" name="Line 8"/>
            <p:cNvSpPr>
              <a:spLocks noChangeShapeType="1"/>
            </p:cNvSpPr>
            <p:nvPr/>
          </p:nvSpPr>
          <p:spPr bwMode="auto">
            <a:xfrm>
              <a:off x="4093" y="3203"/>
              <a:ext cx="177" cy="0"/>
            </a:xfrm>
            <a:prstGeom prst="line">
              <a:avLst/>
            </a:prstGeom>
            <a:noFill/>
            <a:ln w="17463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0" name="Line 9"/>
            <p:cNvSpPr>
              <a:spLocks noChangeShapeType="1"/>
            </p:cNvSpPr>
            <p:nvPr/>
          </p:nvSpPr>
          <p:spPr bwMode="auto">
            <a:xfrm>
              <a:off x="4093" y="3257"/>
              <a:ext cx="177" cy="0"/>
            </a:xfrm>
            <a:prstGeom prst="line">
              <a:avLst/>
            </a:prstGeom>
            <a:noFill/>
            <a:ln w="17463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1" name="Rectangle 10"/>
            <p:cNvSpPr>
              <a:spLocks noChangeArrowheads="1"/>
            </p:cNvSpPr>
            <p:nvPr/>
          </p:nvSpPr>
          <p:spPr bwMode="auto">
            <a:xfrm>
              <a:off x="3871" y="3128"/>
              <a:ext cx="68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zh-CN" sz="2500" b="1"/>
                <a:t>:</a:t>
              </a:r>
            </a:p>
          </p:txBody>
        </p:sp>
        <p:sp>
          <p:nvSpPr>
            <p:cNvPr id="10272" name="Rectangle 11"/>
            <p:cNvSpPr>
              <a:spLocks noChangeArrowheads="1"/>
            </p:cNvSpPr>
            <p:nvPr/>
          </p:nvSpPr>
          <p:spPr bwMode="auto">
            <a:xfrm>
              <a:off x="4445" y="3128"/>
              <a:ext cx="68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zh-CN" sz="2500" b="1"/>
                <a:t>:</a:t>
              </a:r>
            </a:p>
          </p:txBody>
        </p:sp>
      </p:grpSp>
      <p:sp>
        <p:nvSpPr>
          <p:cNvPr id="60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335756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 dirty="0">
                <a:solidFill>
                  <a:srgbClr val="FF0000"/>
                </a:solidFill>
                <a:ea typeface="黑体" pitchFamily="49" charset="-122"/>
              </a:rPr>
              <a:t>8.1.1</a:t>
            </a:r>
            <a:r>
              <a:rPr kumimoji="1" lang="zh-CN" altLang="en-US" sz="2200" b="1" dirty="0">
                <a:solidFill>
                  <a:srgbClr val="FF0000"/>
                </a:solidFill>
                <a:ea typeface="黑体" pitchFamily="49" charset="-122"/>
              </a:rPr>
              <a:t>价键理论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utoUpdateAnimBg="0"/>
      <p:bldP spid="30" grpId="0" autoUpdateAnimBg="0"/>
      <p:bldP spid="52" grpId="0" autoUpdateAnimBg="0"/>
      <p:bldP spid="53" grpId="0" autoUpdateAnimBg="0"/>
      <p:bldP spid="65" grpId="0" autoUpdateAnimBg="0"/>
      <p:bldP spid="66" grpId="0" autoUpdateAnimBg="0"/>
      <p:bldP spid="67" grpId="0" autoUpdateAnimBg="0"/>
      <p:bldP spid="68" grpId="0" animBg="1"/>
      <p:bldP spid="69" grpId="0" animBg="1"/>
      <p:bldP spid="70" grpId="0" animBg="1"/>
      <p:bldP spid="71" grpId="0" animBg="1"/>
      <p:bldP spid="72" grpId="0" autoUpdateAnimBg="0"/>
      <p:bldP spid="73" grpId="0" autoUpdateAnimBg="0"/>
      <p:bldP spid="75" grpId="0" autoUpdateAnimBg="0"/>
      <p:bldP spid="7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Oval 45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11267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98" name="Rectangle 30"/>
          <p:cNvSpPr>
            <a:spLocks noChangeArrowheads="1"/>
          </p:cNvSpPr>
          <p:nvPr/>
        </p:nvSpPr>
        <p:spPr bwMode="auto">
          <a:xfrm>
            <a:off x="2260600" y="1382713"/>
            <a:ext cx="327025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500" b="1" dirty="0">
                <a:ea typeface="楷体_GB2312" pitchFamily="49" charset="-122"/>
              </a:rPr>
              <a:t>①</a:t>
            </a:r>
            <a:r>
              <a:rPr lang="zh-CN" altLang="en-US" sz="2500" b="1" dirty="0">
                <a:ea typeface="楷体_GB2312" pitchFamily="49" charset="-122"/>
              </a:rPr>
              <a:t>正常共价键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>
              <a:lnSpc>
                <a:spcPct val="130000"/>
              </a:lnSpc>
            </a:pPr>
            <a:r>
              <a:rPr lang="en-US" altLang="zh-CN" sz="2500" b="1" dirty="0">
                <a:ea typeface="楷体_GB2312" pitchFamily="49" charset="-122"/>
              </a:rPr>
              <a:t>②</a:t>
            </a:r>
            <a:r>
              <a:rPr lang="zh-CN" altLang="en-US" sz="2500" b="1" dirty="0">
                <a:ea typeface="楷体_GB2312" pitchFamily="49" charset="-122"/>
              </a:rPr>
              <a:t>特殊共价键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配位键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99" name="Rectangle 36"/>
          <p:cNvSpPr>
            <a:spLocks noChangeArrowheads="1"/>
          </p:cNvSpPr>
          <p:nvPr/>
        </p:nvSpPr>
        <p:spPr bwMode="auto">
          <a:xfrm>
            <a:off x="1976438" y="2559050"/>
            <a:ext cx="13239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如</a:t>
            </a:r>
            <a:r>
              <a:rPr lang="en-US" altLang="zh-CN" sz="2500" b="1">
                <a:ea typeface="楷体_GB2312" pitchFamily="49" charset="-122"/>
              </a:rPr>
              <a:t>:</a:t>
            </a:r>
            <a:r>
              <a:rPr lang="en-US" altLang="zh-CN" sz="2500" b="1">
                <a:ea typeface="华文新魏" pitchFamily="2" charset="-122"/>
              </a:rPr>
              <a:t>NH</a:t>
            </a:r>
            <a:r>
              <a:rPr lang="en-US" altLang="zh-CN" sz="2500" b="1" baseline="-25000">
                <a:ea typeface="华文新魏" pitchFamily="2" charset="-122"/>
              </a:rPr>
              <a:t>4</a:t>
            </a:r>
            <a:r>
              <a:rPr lang="en-US" altLang="zh-CN" sz="2500" b="1" baseline="30000">
                <a:ea typeface="华文新魏" pitchFamily="2" charset="-122"/>
              </a:rPr>
              <a:t>+</a:t>
            </a:r>
            <a:endParaRPr lang="en-US" altLang="zh-CN" sz="2500" b="1">
              <a:ea typeface="华文新魏" pitchFamily="2" charset="-122"/>
            </a:endParaRPr>
          </a:p>
        </p:txBody>
      </p:sp>
      <p:sp>
        <p:nvSpPr>
          <p:cNvPr id="100" name="Rectangle 54"/>
          <p:cNvSpPr>
            <a:spLocks noChangeArrowheads="1"/>
          </p:cNvSpPr>
          <p:nvPr/>
        </p:nvSpPr>
        <p:spPr bwMode="auto">
          <a:xfrm>
            <a:off x="7259638" y="1612900"/>
            <a:ext cx="665162" cy="477838"/>
          </a:xfrm>
          <a:prstGeom prst="rect">
            <a:avLst/>
          </a:prstGeom>
          <a:noFill/>
          <a:ln w="9525">
            <a:noFill/>
            <a:prstDash val="sysDot"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</a:rPr>
              <a:t>CO</a:t>
            </a:r>
          </a:p>
        </p:txBody>
      </p:sp>
      <p:sp>
        <p:nvSpPr>
          <p:cNvPr id="101" name="Rectangle 55"/>
          <p:cNvSpPr>
            <a:spLocks noChangeArrowheads="1"/>
          </p:cNvSpPr>
          <p:nvPr/>
        </p:nvSpPr>
        <p:spPr bwMode="auto">
          <a:xfrm>
            <a:off x="4260850" y="2559050"/>
            <a:ext cx="985838" cy="476250"/>
          </a:xfrm>
          <a:prstGeom prst="rect">
            <a:avLst/>
          </a:prstGeom>
          <a:noFill/>
          <a:ln w="9525">
            <a:noFill/>
            <a:prstDash val="sysDot"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</a:rPr>
              <a:t>[BF</a:t>
            </a:r>
            <a:r>
              <a:rPr lang="en-US" altLang="zh-CN" sz="2500" b="1" baseline="-25000">
                <a:ea typeface="华文新魏" pitchFamily="2" charset="-122"/>
              </a:rPr>
              <a:t>4</a:t>
            </a:r>
            <a:r>
              <a:rPr lang="en-US" altLang="zh-CN" sz="2500" b="1">
                <a:ea typeface="华文新魏" pitchFamily="2" charset="-122"/>
              </a:rPr>
              <a:t>]</a:t>
            </a:r>
            <a:r>
              <a:rPr lang="en-US" altLang="zh-CN" sz="2500" b="1" baseline="30000">
                <a:ea typeface="华文新魏" pitchFamily="2" charset="-122"/>
              </a:rPr>
              <a:t>-</a:t>
            </a:r>
            <a:endParaRPr lang="en-US" altLang="zh-CN" sz="2500" b="1">
              <a:ea typeface="华文新魏" pitchFamily="2" charset="-122"/>
            </a:endParaRPr>
          </a:p>
        </p:txBody>
      </p:sp>
      <p:sp>
        <p:nvSpPr>
          <p:cNvPr id="102" name="Rectangle 56"/>
          <p:cNvSpPr>
            <a:spLocks noChangeArrowheads="1"/>
          </p:cNvSpPr>
          <p:nvPr/>
        </p:nvSpPr>
        <p:spPr bwMode="auto">
          <a:xfrm>
            <a:off x="7845425" y="3173413"/>
            <a:ext cx="738188" cy="1631950"/>
          </a:xfrm>
          <a:prstGeom prst="rect">
            <a:avLst/>
          </a:prstGeom>
          <a:noFill/>
          <a:ln w="9525">
            <a:noFill/>
            <a:prstDash val="sysDot"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</a:rPr>
              <a:t>2s</a:t>
            </a:r>
            <a:r>
              <a:rPr lang="en-US" altLang="zh-CN" sz="2500" b="1" baseline="30000">
                <a:ea typeface="华文新魏" pitchFamily="2" charset="-122"/>
              </a:rPr>
              <a:t>2</a:t>
            </a:r>
          </a:p>
          <a:p>
            <a:r>
              <a:rPr lang="en-US" altLang="zh-CN" sz="2500" b="1">
                <a:ea typeface="华文新魏" pitchFamily="2" charset="-122"/>
              </a:rPr>
              <a:t>2p</a:t>
            </a:r>
            <a:r>
              <a:rPr lang="en-US" altLang="zh-CN" sz="2500" b="1" i="1" baseline="-25000">
                <a:ea typeface="华文新魏" pitchFamily="2" charset="-122"/>
              </a:rPr>
              <a:t>x</a:t>
            </a:r>
            <a:r>
              <a:rPr lang="en-US" altLang="zh-CN" sz="2500" b="1" baseline="30000">
                <a:ea typeface="华文新魏" pitchFamily="2" charset="-122"/>
              </a:rPr>
              <a:t>1</a:t>
            </a:r>
          </a:p>
          <a:p>
            <a:r>
              <a:rPr lang="en-US" altLang="zh-CN" sz="2500" b="1">
                <a:ea typeface="华文新魏" pitchFamily="2" charset="-122"/>
              </a:rPr>
              <a:t>2p</a:t>
            </a:r>
            <a:r>
              <a:rPr lang="en-US" altLang="zh-CN" sz="2500" b="1" i="1" baseline="-25000">
                <a:ea typeface="华文新魏" pitchFamily="2" charset="-122"/>
              </a:rPr>
              <a:t>y</a:t>
            </a:r>
            <a:r>
              <a:rPr lang="en-US" altLang="zh-CN" sz="2500" b="1" baseline="30000">
                <a:ea typeface="华文新魏" pitchFamily="2" charset="-122"/>
              </a:rPr>
              <a:t>1</a:t>
            </a:r>
          </a:p>
          <a:p>
            <a:r>
              <a:rPr lang="en-US" altLang="zh-CN" sz="2500" b="1">
                <a:solidFill>
                  <a:srgbClr val="FF0000"/>
                </a:solidFill>
                <a:ea typeface="华文新魏" pitchFamily="2" charset="-122"/>
              </a:rPr>
              <a:t>2p</a:t>
            </a:r>
            <a:r>
              <a:rPr lang="en-US" altLang="zh-CN" sz="2500" b="1" i="1" baseline="-25000">
                <a:solidFill>
                  <a:srgbClr val="FF0000"/>
                </a:solidFill>
                <a:ea typeface="华文新魏" pitchFamily="2" charset="-122"/>
              </a:rPr>
              <a:t>z</a:t>
            </a:r>
            <a:r>
              <a:rPr lang="en-US" altLang="zh-CN" sz="2500" b="1" baseline="30000">
                <a:solidFill>
                  <a:srgbClr val="FF0000"/>
                </a:solidFill>
                <a:ea typeface="华文新魏" pitchFamily="2" charset="-122"/>
              </a:rPr>
              <a:t>2</a:t>
            </a:r>
          </a:p>
        </p:txBody>
      </p:sp>
      <p:sp>
        <p:nvSpPr>
          <p:cNvPr id="103" name="Rectangle 57"/>
          <p:cNvSpPr>
            <a:spLocks noChangeArrowheads="1"/>
          </p:cNvSpPr>
          <p:nvPr/>
        </p:nvSpPr>
        <p:spPr bwMode="auto">
          <a:xfrm>
            <a:off x="6977063" y="3157538"/>
            <a:ext cx="784225" cy="1887537"/>
          </a:xfrm>
          <a:prstGeom prst="rect">
            <a:avLst/>
          </a:prstGeom>
          <a:noFill/>
          <a:ln w="9525">
            <a:solidFill>
              <a:schemeClr val="accent2"/>
            </a:solidFill>
            <a:prstDash val="sysDot"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华文新魏" pitchFamily="2" charset="-122"/>
              </a:rPr>
              <a:t>2s</a:t>
            </a:r>
            <a:r>
              <a:rPr lang="en-US" altLang="zh-CN" sz="2500" b="1" baseline="30000">
                <a:ea typeface="华文新魏" pitchFamily="2" charset="-122"/>
              </a:rPr>
              <a:t>2</a:t>
            </a:r>
          </a:p>
          <a:p>
            <a:r>
              <a:rPr lang="en-US" altLang="zh-CN" sz="2500" b="1">
                <a:ea typeface="华文新魏" pitchFamily="2" charset="-122"/>
              </a:rPr>
              <a:t>2p</a:t>
            </a:r>
            <a:r>
              <a:rPr lang="en-US" altLang="zh-CN" sz="2500" b="1" i="1" baseline="-25000">
                <a:ea typeface="华文新魏" pitchFamily="2" charset="-122"/>
              </a:rPr>
              <a:t>x</a:t>
            </a:r>
            <a:r>
              <a:rPr lang="en-US" altLang="zh-CN" sz="2500" b="1" baseline="30000">
                <a:ea typeface="华文新魏" pitchFamily="2" charset="-122"/>
              </a:rPr>
              <a:t>1</a:t>
            </a:r>
          </a:p>
          <a:p>
            <a:r>
              <a:rPr lang="en-US" altLang="zh-CN" sz="2500" b="1">
                <a:ea typeface="华文新魏" pitchFamily="2" charset="-122"/>
              </a:rPr>
              <a:t>2p</a:t>
            </a:r>
            <a:r>
              <a:rPr lang="en-US" altLang="zh-CN" sz="2500" b="1" i="1" baseline="-25000">
                <a:ea typeface="华文新魏" pitchFamily="2" charset="-122"/>
              </a:rPr>
              <a:t>y</a:t>
            </a:r>
            <a:r>
              <a:rPr lang="en-US" altLang="zh-CN" sz="2500" b="1" baseline="30000">
                <a:ea typeface="华文新魏" pitchFamily="2" charset="-122"/>
              </a:rPr>
              <a:t>1</a:t>
            </a:r>
          </a:p>
          <a:p>
            <a:r>
              <a:rPr lang="en-US" altLang="zh-CN" sz="2500" b="1">
                <a:solidFill>
                  <a:srgbClr val="FF0000"/>
                </a:solidFill>
                <a:ea typeface="华文新魏" pitchFamily="2" charset="-122"/>
              </a:rPr>
              <a:t>2p</a:t>
            </a:r>
            <a:r>
              <a:rPr lang="en-US" altLang="zh-CN" sz="2500" b="1" i="1" baseline="-25000">
                <a:solidFill>
                  <a:srgbClr val="FF0000"/>
                </a:solidFill>
                <a:ea typeface="华文新魏" pitchFamily="2" charset="-122"/>
              </a:rPr>
              <a:t>y</a:t>
            </a:r>
            <a:r>
              <a:rPr lang="en-US" altLang="zh-CN" sz="2500" b="1" baseline="30000">
                <a:solidFill>
                  <a:srgbClr val="FF0000"/>
                </a:solidFill>
                <a:ea typeface="华文新魏" pitchFamily="2" charset="-122"/>
              </a:rPr>
              <a:t>0</a:t>
            </a:r>
          </a:p>
          <a:p>
            <a:endParaRPr lang="en-US" altLang="zh-CN" sz="2500" b="1" baseline="30000">
              <a:ea typeface="华文新魏" pitchFamily="2" charset="-122"/>
            </a:endParaRPr>
          </a:p>
        </p:txBody>
      </p:sp>
      <p:sp>
        <p:nvSpPr>
          <p:cNvPr id="107" name="Text Box 60"/>
          <p:cNvSpPr txBox="1">
            <a:spLocks noChangeArrowheads="1"/>
          </p:cNvSpPr>
          <p:nvPr/>
        </p:nvSpPr>
        <p:spPr bwMode="auto">
          <a:xfrm>
            <a:off x="1595438" y="915988"/>
            <a:ext cx="61658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共用电子对由成键原子提供方式的不同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09" name="AutoShape 44"/>
          <p:cNvSpPr>
            <a:spLocks/>
          </p:cNvSpPr>
          <p:nvPr/>
        </p:nvSpPr>
        <p:spPr bwMode="auto">
          <a:xfrm>
            <a:off x="2166938" y="1590675"/>
            <a:ext cx="144462" cy="638175"/>
          </a:xfrm>
          <a:prstGeom prst="leftBrace">
            <a:avLst>
              <a:gd name="adj1" fmla="val 79885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>
              <a:ea typeface="楷体_GB2312" pitchFamily="49" charset="-122"/>
            </a:endParaRPr>
          </a:p>
        </p:txBody>
      </p:sp>
      <p:grpSp>
        <p:nvGrpSpPr>
          <p:cNvPr id="2" name="组合 12"/>
          <p:cNvGrpSpPr>
            <a:grpSpLocks/>
          </p:cNvGrpSpPr>
          <p:nvPr/>
        </p:nvGrpSpPr>
        <p:grpSpPr bwMode="auto">
          <a:xfrm>
            <a:off x="2101850" y="3136900"/>
            <a:ext cx="1565275" cy="1924050"/>
            <a:chOff x="4001672" y="2292863"/>
            <a:chExt cx="1564451" cy="1924483"/>
          </a:xfrm>
        </p:grpSpPr>
        <p:grpSp>
          <p:nvGrpSpPr>
            <p:cNvPr id="11298" name="Group 49"/>
            <p:cNvGrpSpPr>
              <a:grpSpLocks/>
            </p:cNvGrpSpPr>
            <p:nvPr/>
          </p:nvGrpSpPr>
          <p:grpSpPr bwMode="auto">
            <a:xfrm>
              <a:off x="4791196" y="2693950"/>
              <a:ext cx="0" cy="1092943"/>
              <a:chOff x="1344" y="2496"/>
              <a:chExt cx="0" cy="768"/>
            </a:xfrm>
          </p:grpSpPr>
          <p:sp>
            <p:nvSpPr>
              <p:cNvPr id="11306" name="Line 12"/>
              <p:cNvSpPr>
                <a:spLocks noChangeShapeType="1"/>
              </p:cNvSpPr>
              <p:nvPr/>
            </p:nvSpPr>
            <p:spPr bwMode="auto">
              <a:xfrm flipV="1">
                <a:off x="1344" y="2496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7" name="Line 13"/>
              <p:cNvSpPr>
                <a:spLocks noChangeShapeType="1"/>
              </p:cNvSpPr>
              <p:nvPr/>
            </p:nvSpPr>
            <p:spPr bwMode="auto">
              <a:xfrm>
                <a:off x="1344" y="3072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299" name="Rectangle 36"/>
            <p:cNvSpPr>
              <a:spLocks noChangeArrowheads="1"/>
            </p:cNvSpPr>
            <p:nvPr/>
          </p:nvSpPr>
          <p:spPr bwMode="auto">
            <a:xfrm>
              <a:off x="4590042" y="3027055"/>
              <a:ext cx="415303" cy="477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500" b="1">
                  <a:ea typeface="华文新魏" pitchFamily="2" charset="-122"/>
                </a:rPr>
                <a:t>N</a:t>
              </a:r>
            </a:p>
          </p:txBody>
        </p:sp>
        <p:sp>
          <p:nvSpPr>
            <p:cNvPr id="11300" name="Rectangle 36"/>
            <p:cNvSpPr>
              <a:spLocks noChangeArrowheads="1"/>
            </p:cNvSpPr>
            <p:nvPr/>
          </p:nvSpPr>
          <p:spPr bwMode="auto">
            <a:xfrm>
              <a:off x="4608839" y="2292863"/>
              <a:ext cx="434530" cy="477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500" b="1">
                  <a:solidFill>
                    <a:srgbClr val="FF0000"/>
                  </a:solidFill>
                  <a:ea typeface="华文新魏" pitchFamily="2" charset="-122"/>
                </a:rPr>
                <a:t>H</a:t>
              </a:r>
            </a:p>
          </p:txBody>
        </p:sp>
        <p:sp>
          <p:nvSpPr>
            <p:cNvPr id="11301" name="Rectangle 36"/>
            <p:cNvSpPr>
              <a:spLocks noChangeArrowheads="1"/>
            </p:cNvSpPr>
            <p:nvPr/>
          </p:nvSpPr>
          <p:spPr bwMode="auto">
            <a:xfrm>
              <a:off x="4579439" y="3740108"/>
              <a:ext cx="434530" cy="477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500" b="1">
                  <a:ea typeface="华文新魏" pitchFamily="2" charset="-122"/>
                </a:rPr>
                <a:t>H</a:t>
              </a:r>
            </a:p>
          </p:txBody>
        </p:sp>
        <p:sp>
          <p:nvSpPr>
            <p:cNvPr id="11302" name="Rectangle 36"/>
            <p:cNvSpPr>
              <a:spLocks noChangeArrowheads="1"/>
            </p:cNvSpPr>
            <p:nvPr/>
          </p:nvSpPr>
          <p:spPr bwMode="auto">
            <a:xfrm>
              <a:off x="5131593" y="3014414"/>
              <a:ext cx="434530" cy="477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500" b="1">
                  <a:ea typeface="华文新魏" pitchFamily="2" charset="-122"/>
                </a:rPr>
                <a:t>H</a:t>
              </a:r>
            </a:p>
          </p:txBody>
        </p:sp>
        <p:sp>
          <p:nvSpPr>
            <p:cNvPr id="11303" name="Rectangle 36"/>
            <p:cNvSpPr>
              <a:spLocks noChangeArrowheads="1"/>
            </p:cNvSpPr>
            <p:nvPr/>
          </p:nvSpPr>
          <p:spPr bwMode="auto">
            <a:xfrm>
              <a:off x="4001672" y="3014414"/>
              <a:ext cx="434530" cy="477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500" b="1">
                  <a:ea typeface="华文新魏" pitchFamily="2" charset="-122"/>
                </a:rPr>
                <a:t>H</a:t>
              </a: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4921937" y="3258280"/>
              <a:ext cx="28718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>
              <a:off x="4365019" y="3258280"/>
              <a:ext cx="28718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116"/>
          <p:cNvGrpSpPr>
            <a:grpSpLocks/>
          </p:cNvGrpSpPr>
          <p:nvPr/>
        </p:nvGrpSpPr>
        <p:grpSpPr bwMode="auto">
          <a:xfrm>
            <a:off x="3902075" y="3160713"/>
            <a:ext cx="1509713" cy="1924050"/>
            <a:chOff x="4001672" y="2292863"/>
            <a:chExt cx="1510245" cy="1924483"/>
          </a:xfrm>
        </p:grpSpPr>
        <p:grpSp>
          <p:nvGrpSpPr>
            <p:cNvPr id="11288" name="Group 49"/>
            <p:cNvGrpSpPr>
              <a:grpSpLocks/>
            </p:cNvGrpSpPr>
            <p:nvPr/>
          </p:nvGrpSpPr>
          <p:grpSpPr bwMode="auto">
            <a:xfrm>
              <a:off x="4791196" y="2693950"/>
              <a:ext cx="0" cy="1092943"/>
              <a:chOff x="1344" y="2496"/>
              <a:chExt cx="0" cy="768"/>
            </a:xfrm>
          </p:grpSpPr>
          <p:sp>
            <p:nvSpPr>
              <p:cNvPr id="11296" name="Line 12"/>
              <p:cNvSpPr>
                <a:spLocks noChangeShapeType="1"/>
              </p:cNvSpPr>
              <p:nvPr/>
            </p:nvSpPr>
            <p:spPr bwMode="auto">
              <a:xfrm>
                <a:off x="1344" y="2496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97" name="Line 13"/>
              <p:cNvSpPr>
                <a:spLocks noChangeShapeType="1"/>
              </p:cNvSpPr>
              <p:nvPr/>
            </p:nvSpPr>
            <p:spPr bwMode="auto">
              <a:xfrm>
                <a:off x="1344" y="3072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289" name="Rectangle 36"/>
            <p:cNvSpPr>
              <a:spLocks noChangeArrowheads="1"/>
            </p:cNvSpPr>
            <p:nvPr/>
          </p:nvSpPr>
          <p:spPr bwMode="auto">
            <a:xfrm>
              <a:off x="4590042" y="3027055"/>
              <a:ext cx="397962" cy="477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500" b="1">
                  <a:ea typeface="华文新魏" pitchFamily="2" charset="-122"/>
                </a:rPr>
                <a:t>B</a:t>
              </a:r>
            </a:p>
          </p:txBody>
        </p:sp>
        <p:sp>
          <p:nvSpPr>
            <p:cNvPr id="11290" name="Rectangle 36"/>
            <p:cNvSpPr>
              <a:spLocks noChangeArrowheads="1"/>
            </p:cNvSpPr>
            <p:nvPr/>
          </p:nvSpPr>
          <p:spPr bwMode="auto">
            <a:xfrm>
              <a:off x="4608839" y="2292863"/>
              <a:ext cx="380324" cy="477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500" b="1">
                  <a:solidFill>
                    <a:srgbClr val="FF0000"/>
                  </a:solidFill>
                  <a:ea typeface="华文新魏" pitchFamily="2" charset="-122"/>
                </a:rPr>
                <a:t>F</a:t>
              </a:r>
            </a:p>
          </p:txBody>
        </p:sp>
        <p:sp>
          <p:nvSpPr>
            <p:cNvPr id="11291" name="Rectangle 36"/>
            <p:cNvSpPr>
              <a:spLocks noChangeArrowheads="1"/>
            </p:cNvSpPr>
            <p:nvPr/>
          </p:nvSpPr>
          <p:spPr bwMode="auto">
            <a:xfrm>
              <a:off x="4579439" y="3740108"/>
              <a:ext cx="380324" cy="477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500" b="1">
                  <a:ea typeface="华文新魏" pitchFamily="2" charset="-122"/>
                </a:rPr>
                <a:t>F</a:t>
              </a:r>
            </a:p>
          </p:txBody>
        </p:sp>
        <p:sp>
          <p:nvSpPr>
            <p:cNvPr id="11292" name="Rectangle 36"/>
            <p:cNvSpPr>
              <a:spLocks noChangeArrowheads="1"/>
            </p:cNvSpPr>
            <p:nvPr/>
          </p:nvSpPr>
          <p:spPr bwMode="auto">
            <a:xfrm>
              <a:off x="5131593" y="3014414"/>
              <a:ext cx="380324" cy="477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500" b="1">
                  <a:ea typeface="华文新魏" pitchFamily="2" charset="-122"/>
                </a:rPr>
                <a:t>F</a:t>
              </a:r>
            </a:p>
          </p:txBody>
        </p:sp>
        <p:sp>
          <p:nvSpPr>
            <p:cNvPr id="11293" name="Rectangle 36"/>
            <p:cNvSpPr>
              <a:spLocks noChangeArrowheads="1"/>
            </p:cNvSpPr>
            <p:nvPr/>
          </p:nvSpPr>
          <p:spPr bwMode="auto">
            <a:xfrm>
              <a:off x="4001672" y="3014414"/>
              <a:ext cx="380324" cy="477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500" b="1">
                  <a:ea typeface="华文新魏" pitchFamily="2" charset="-122"/>
                </a:rPr>
                <a:t>F</a:t>
              </a:r>
            </a:p>
          </p:txBody>
        </p:sp>
        <p:cxnSp>
          <p:nvCxnSpPr>
            <p:cNvPr id="124" name="直接连接符 123"/>
            <p:cNvCxnSpPr/>
            <p:nvPr/>
          </p:nvCxnSpPr>
          <p:spPr>
            <a:xfrm>
              <a:off x="4921159" y="3258280"/>
              <a:ext cx="28902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>
              <a:off x="4363750" y="3258280"/>
              <a:ext cx="28902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13"/>
          <p:cNvGrpSpPr>
            <a:grpSpLocks/>
          </p:cNvGrpSpPr>
          <p:nvPr/>
        </p:nvGrpSpPr>
        <p:grpSpPr bwMode="auto">
          <a:xfrm>
            <a:off x="7046913" y="2168525"/>
            <a:ext cx="1233487" cy="1087438"/>
            <a:chOff x="8901236" y="2720470"/>
            <a:chExt cx="1232304" cy="1086104"/>
          </a:xfrm>
        </p:grpSpPr>
        <p:grpSp>
          <p:nvGrpSpPr>
            <p:cNvPr id="11280" name="Group 51"/>
            <p:cNvGrpSpPr>
              <a:grpSpLocks noChangeAspect="1"/>
            </p:cNvGrpSpPr>
            <p:nvPr/>
          </p:nvGrpSpPr>
          <p:grpSpPr bwMode="auto">
            <a:xfrm>
              <a:off x="9376775" y="3214812"/>
              <a:ext cx="280875" cy="182344"/>
              <a:chOff x="4320" y="2832"/>
              <a:chExt cx="192" cy="144"/>
            </a:xfrm>
          </p:grpSpPr>
          <p:sp>
            <p:nvSpPr>
              <p:cNvPr id="11285" name="Line 18"/>
              <p:cNvSpPr>
                <a:spLocks noChangeAspect="1" noChangeShapeType="1"/>
              </p:cNvSpPr>
              <p:nvPr/>
            </p:nvSpPr>
            <p:spPr bwMode="auto">
              <a:xfrm flipH="1">
                <a:off x="4320" y="2832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6" name="Line 19"/>
              <p:cNvSpPr>
                <a:spLocks noChangeAspect="1" noChangeShapeType="1"/>
              </p:cNvSpPr>
              <p:nvPr/>
            </p:nvSpPr>
            <p:spPr bwMode="auto">
              <a:xfrm>
                <a:off x="4320" y="2976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7" name="Line 19"/>
              <p:cNvSpPr>
                <a:spLocks noChangeAspect="1" noChangeShapeType="1"/>
              </p:cNvSpPr>
              <p:nvPr/>
            </p:nvSpPr>
            <p:spPr bwMode="auto">
              <a:xfrm>
                <a:off x="4320" y="2915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281" name="Rectangle 58"/>
            <p:cNvSpPr>
              <a:spLocks noChangeArrowheads="1"/>
            </p:cNvSpPr>
            <p:nvPr/>
          </p:nvSpPr>
          <p:spPr bwMode="auto">
            <a:xfrm>
              <a:off x="9329882" y="2720470"/>
              <a:ext cx="360714" cy="476793"/>
            </a:xfrm>
            <a:prstGeom prst="rect">
              <a:avLst/>
            </a:prstGeom>
            <a:noFill/>
            <a:ln w="9525">
              <a:noFill/>
              <a:prstDash val="sysDot"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500" b="1" i="1">
                  <a:ea typeface="华文新魏" pitchFamily="2" charset="-122"/>
                  <a:sym typeface="Symbol" pitchFamily="18" charset="2"/>
                </a:rPr>
                <a:t></a:t>
              </a:r>
            </a:p>
          </p:txBody>
        </p:sp>
        <p:sp>
          <p:nvSpPr>
            <p:cNvPr id="11282" name="Rectangle 59"/>
            <p:cNvSpPr>
              <a:spLocks noChangeArrowheads="1"/>
            </p:cNvSpPr>
            <p:nvPr/>
          </p:nvSpPr>
          <p:spPr bwMode="auto">
            <a:xfrm>
              <a:off x="9309100" y="3329781"/>
              <a:ext cx="360714" cy="476793"/>
            </a:xfrm>
            <a:prstGeom prst="rect">
              <a:avLst/>
            </a:prstGeom>
            <a:noFill/>
            <a:ln w="9525">
              <a:noFill/>
              <a:prstDash val="sysDot"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500" b="1" i="1">
                  <a:ea typeface="华文新魏" pitchFamily="2" charset="-122"/>
                  <a:sym typeface="Symbol" pitchFamily="18" charset="2"/>
                </a:rPr>
                <a:t></a:t>
              </a:r>
            </a:p>
          </p:txBody>
        </p:sp>
        <p:sp>
          <p:nvSpPr>
            <p:cNvPr id="11283" name="Rectangle 36"/>
            <p:cNvSpPr>
              <a:spLocks noChangeArrowheads="1"/>
            </p:cNvSpPr>
            <p:nvPr/>
          </p:nvSpPr>
          <p:spPr bwMode="auto">
            <a:xfrm>
              <a:off x="9699146" y="3038019"/>
              <a:ext cx="434394" cy="4767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500" b="1">
                  <a:ea typeface="华文新魏" pitchFamily="2" charset="-122"/>
                </a:rPr>
                <a:t>O</a:t>
              </a:r>
            </a:p>
          </p:txBody>
        </p:sp>
        <p:sp>
          <p:nvSpPr>
            <p:cNvPr id="11284" name="Rectangle 36"/>
            <p:cNvSpPr>
              <a:spLocks noChangeArrowheads="1"/>
            </p:cNvSpPr>
            <p:nvPr/>
          </p:nvSpPr>
          <p:spPr bwMode="auto">
            <a:xfrm>
              <a:off x="8901236" y="3048765"/>
              <a:ext cx="415173" cy="4767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500" b="1">
                  <a:ea typeface="华文新魏" pitchFamily="2" charset="-122"/>
                </a:rPr>
                <a:t>C</a:t>
              </a:r>
            </a:p>
          </p:txBody>
        </p:sp>
      </p:grpSp>
      <p:sp>
        <p:nvSpPr>
          <p:cNvPr id="11279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335756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8.1.1</a:t>
            </a:r>
            <a:r>
              <a:rPr kumimoji="1" lang="zh-CN" altLang="en-US" sz="2200" b="1">
                <a:solidFill>
                  <a:srgbClr val="FF0000"/>
                </a:solidFill>
                <a:ea typeface="黑体" pitchFamily="49" charset="-122"/>
              </a:rPr>
              <a:t>价键理论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build="p" autoUpdateAnimBg="0"/>
      <p:bldP spid="99" grpId="0" autoUpdateAnimBg="0"/>
      <p:bldP spid="100" grpId="0" autoUpdateAnimBg="0"/>
      <p:bldP spid="101" grpId="0" autoUpdateAnimBg="0"/>
      <p:bldP spid="102" grpId="0"/>
      <p:bldP spid="103" grpId="0" animBg="1"/>
      <p:bldP spid="107" grpId="0" autoUpdateAnimBg="0"/>
      <p:bldP spid="10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Oval 45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12291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233613" y="884238"/>
            <a:ext cx="44529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表征化学键性质的某些物理量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50" name="Text Box 47"/>
          <p:cNvSpPr txBox="1">
            <a:spLocks noChangeArrowheads="1"/>
          </p:cNvSpPr>
          <p:nvPr/>
        </p:nvSpPr>
        <p:spPr bwMode="auto">
          <a:xfrm>
            <a:off x="719138" y="890588"/>
            <a:ext cx="167481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solidFill>
                  <a:srgbClr val="FF0000"/>
                </a:solidFill>
                <a:ea typeface="楷体_GB2312" pitchFamily="49" charset="-122"/>
              </a:rPr>
              <a:t>5. </a:t>
            </a:r>
            <a:r>
              <a:rPr kumimoji="1" lang="zh-CN" altLang="en-US" sz="2500" b="1">
                <a:solidFill>
                  <a:srgbClr val="FF0000"/>
                </a:solidFill>
                <a:ea typeface="楷体_GB2312" pitchFamily="49" charset="-122"/>
              </a:rPr>
              <a:t>键参数</a:t>
            </a:r>
            <a:r>
              <a:rPr kumimoji="1" lang="en-US" altLang="zh-CN" sz="2500" b="1">
                <a:solidFill>
                  <a:srgbClr val="FF0000"/>
                </a:solidFill>
                <a:ea typeface="楷体_GB2312" pitchFamily="49" charset="-122"/>
              </a:rPr>
              <a:t>:</a:t>
            </a:r>
            <a:endParaRPr kumimoji="1" lang="zh-CN" altLang="en-US" sz="2500" b="1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51" name="矩形 50"/>
          <p:cNvSpPr>
            <a:spLocks noChangeArrowheads="1"/>
          </p:cNvSpPr>
          <p:nvPr/>
        </p:nvSpPr>
        <p:spPr bwMode="auto">
          <a:xfrm>
            <a:off x="1009650" y="1384300"/>
            <a:ext cx="739298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1) 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键能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zh-CN" altLang="en-US" sz="2500" b="1" dirty="0">
                <a:ea typeface="楷体_GB2312" pitchFamily="49" charset="-122"/>
              </a:rPr>
              <a:t>一定</a:t>
            </a:r>
            <a:r>
              <a:rPr lang="en-US" altLang="zh-CN" sz="2500" b="1" i="1" dirty="0">
                <a:ea typeface="楷体_GB2312" pitchFamily="49" charset="-122"/>
                <a:cs typeface="Times New Roman" pitchFamily="18" charset="0"/>
              </a:rPr>
              <a:t>T</a:t>
            </a:r>
            <a:r>
              <a:rPr lang="zh-CN" altLang="en-US" sz="2500" b="1" dirty="0">
                <a:ea typeface="楷体_GB2312" pitchFamily="49" charset="-122"/>
              </a:rPr>
              <a:t>和标准压下断裂</a:t>
            </a:r>
            <a:r>
              <a:rPr lang="en-US" altLang="zh-CN" sz="2500" b="1" dirty="0">
                <a:ea typeface="楷体_GB2312" pitchFamily="49" charset="-122"/>
              </a:rPr>
              <a:t>1mol</a:t>
            </a:r>
            <a:r>
              <a:rPr lang="zh-CN" altLang="en-US" sz="2500" b="1" dirty="0">
                <a:ea typeface="楷体_GB2312" pitchFamily="49" charset="-122"/>
              </a:rPr>
              <a:t>化学键所需能量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52" name="Rectangle 2"/>
          <p:cNvSpPr>
            <a:spLocks noChangeArrowheads="1"/>
          </p:cNvSpPr>
          <p:nvPr/>
        </p:nvSpPr>
        <p:spPr bwMode="auto">
          <a:xfrm>
            <a:off x="1260475" y="2311400"/>
            <a:ext cx="9929813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离解能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zh-CN" altLang="en-US" sz="2500" b="1" dirty="0">
                <a:ea typeface="楷体_GB2312" pitchFamily="49" charset="-122"/>
              </a:rPr>
              <a:t>一定</a:t>
            </a:r>
            <a:r>
              <a:rPr lang="en-US" altLang="zh-CN" sz="2500" b="1" i="1" dirty="0">
                <a:ea typeface="楷体_GB2312" pitchFamily="49" charset="-122"/>
                <a:cs typeface="Times New Roman" pitchFamily="18" charset="0"/>
              </a:rPr>
              <a:t>T</a:t>
            </a:r>
            <a:r>
              <a:rPr lang="zh-CN" altLang="en-US" sz="2500" b="1" dirty="0">
                <a:ea typeface="楷体_GB2312" pitchFamily="49" charset="-122"/>
              </a:rPr>
              <a:t>和标准压下将</a:t>
            </a:r>
            <a:r>
              <a:rPr lang="en-US" altLang="zh-CN" sz="2500" b="1" dirty="0">
                <a:ea typeface="楷体_GB2312" pitchFamily="49" charset="-122"/>
              </a:rPr>
              <a:t>1mol</a:t>
            </a:r>
            <a:r>
              <a:rPr lang="zh-CN" altLang="en-US" sz="2500" b="1" dirty="0">
                <a:ea typeface="楷体_GB2312" pitchFamily="49" charset="-122"/>
              </a:rPr>
              <a:t>理想气态分子离解成理想气态原子所需能量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FFFF00"/>
                </a:solidFill>
                <a:ea typeface="楷体_GB2312" pitchFamily="49" charset="-122"/>
              </a:rPr>
              <a:t>  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因素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zh-CN" altLang="en-US" sz="2500" b="1" dirty="0">
                <a:ea typeface="楷体_GB2312" pitchFamily="49" charset="-122"/>
              </a:rPr>
              <a:t>键的性质、成键原子以及键长等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403350" y="1811338"/>
            <a:ext cx="5527675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共价键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zh-CN" altLang="en-US" sz="2500" b="1" dirty="0">
                <a:ea typeface="楷体_GB2312" pitchFamily="49" charset="-122"/>
              </a:rPr>
              <a:t>离解能或多次离解能的平均值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56" name="矩形 55"/>
          <p:cNvSpPr>
            <a:spLocks noChangeArrowheads="1"/>
          </p:cNvSpPr>
          <p:nvPr/>
        </p:nvSpPr>
        <p:spPr bwMode="auto">
          <a:xfrm>
            <a:off x="1009650" y="3690938"/>
            <a:ext cx="619760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2) </a:t>
            </a: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键长</a:t>
            </a:r>
            <a:r>
              <a:rPr lang="en-US" altLang="zh-CN" sz="2500" b="1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zh-CN" altLang="en-US" sz="2500" b="1">
                <a:ea typeface="楷体_GB2312" pitchFamily="49" charset="-122"/>
              </a:rPr>
              <a:t>分子内成键两原子核间的平均距离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474788" y="5240338"/>
            <a:ext cx="5419725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键能和键长可解释一些化合物的性质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58" name="矩形 57"/>
          <p:cNvSpPr>
            <a:spLocks noChangeArrowheads="1"/>
          </p:cNvSpPr>
          <p:nvPr/>
        </p:nvSpPr>
        <p:spPr bwMode="auto">
          <a:xfrm>
            <a:off x="1009650" y="4217988"/>
            <a:ext cx="676910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3) </a:t>
            </a: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键角</a:t>
            </a:r>
            <a:r>
              <a:rPr lang="en-US" altLang="zh-CN" sz="2500" b="1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zh-CN" altLang="en-US" sz="2500" b="1">
                <a:ea typeface="楷体_GB2312" pitchFamily="49" charset="-122"/>
              </a:rPr>
              <a:t>分子中两个相邻化学键间的夹角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59" name="矩形 58"/>
          <p:cNvSpPr>
            <a:spLocks noChangeArrowheads="1"/>
          </p:cNvSpPr>
          <p:nvPr/>
        </p:nvSpPr>
        <p:spPr bwMode="auto">
          <a:xfrm>
            <a:off x="1474788" y="4740275"/>
            <a:ext cx="60642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>
                <a:ea typeface="楷体_GB2312" pitchFamily="49" charset="-122"/>
              </a:rPr>
              <a:t>键长和键角是描述分子几何构型的两要素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12301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335756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8.1.1</a:t>
            </a:r>
            <a:r>
              <a:rPr kumimoji="1" lang="zh-CN" altLang="en-US" sz="2200" b="1">
                <a:solidFill>
                  <a:srgbClr val="FF0000"/>
                </a:solidFill>
                <a:ea typeface="黑体" pitchFamily="49" charset="-122"/>
              </a:rPr>
              <a:t>价键理论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0" grpId="0"/>
      <p:bldP spid="51" grpId="0"/>
      <p:bldP spid="52" grpId="0" build="p" autoUpdateAnimBg="0"/>
      <p:bldP spid="4" grpId="0"/>
      <p:bldP spid="56" grpId="0"/>
      <p:bldP spid="6" grpId="0"/>
      <p:bldP spid="58" grpId="0"/>
      <p:bldP spid="5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Oval 45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5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455738" y="1203325"/>
            <a:ext cx="7910512" cy="2516188"/>
            <a:chOff x="273" y="974"/>
            <a:chExt cx="5461" cy="1821"/>
          </a:xfrm>
        </p:grpSpPr>
        <p:sp>
          <p:nvSpPr>
            <p:cNvPr id="20" name="Rectangle 8"/>
            <p:cNvSpPr>
              <a:spLocks noChangeArrowheads="1"/>
            </p:cNvSpPr>
            <p:nvPr/>
          </p:nvSpPr>
          <p:spPr bwMode="auto">
            <a:xfrm>
              <a:off x="273" y="1012"/>
              <a:ext cx="5461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zh-CN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楷体_GB2312"/>
                </a:rPr>
                <a:t>共价键</a:t>
              </a:r>
              <a:r>
                <a:rPr lang="zh-CN" altLang="zh-CN" sz="2000" b="1" dirty="0">
                  <a:solidFill>
                    <a:srgbClr val="FF0000"/>
                  </a:solidFill>
                  <a:latin typeface="黑体" panose="02010609060101010101" pitchFamily="49" charset="-122"/>
                  <a:ea typeface="楷体_GB2312"/>
                </a:rPr>
                <a:t>  键能</a:t>
              </a:r>
              <a:r>
                <a:rPr lang="zh-CN" altLang="zh-CN" sz="2000" b="1" dirty="0">
                  <a:latin typeface="黑体" panose="02010609060101010101" pitchFamily="49" charset="-122"/>
                  <a:ea typeface="楷体_GB2312"/>
                </a:rPr>
                <a:t>/</a:t>
              </a:r>
              <a:r>
                <a:rPr lang="en-US" altLang="zh-CN" sz="2000" b="1" dirty="0">
                  <a:ea typeface="楷体_GB2312"/>
                  <a:cs typeface="Times New Roman" panose="02020603050405020304" pitchFamily="18" charset="0"/>
                </a:rPr>
                <a:t>kJ·mol</a:t>
              </a:r>
              <a:r>
                <a:rPr lang="en-US" altLang="zh-CN" sz="2000" b="1" baseline="30000" dirty="0">
                  <a:ea typeface="楷体_GB2312"/>
                  <a:cs typeface="Times New Roman" panose="02020603050405020304" pitchFamily="18" charset="0"/>
                </a:rPr>
                <a:t>-1</a:t>
              </a:r>
              <a:r>
                <a:rPr lang="en-US" altLang="zh-CN" sz="2000" b="1" dirty="0"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000" b="1" dirty="0">
                  <a:latin typeface="黑体" panose="02010609060101010101" pitchFamily="49" charset="-122"/>
                  <a:ea typeface="楷体_GB2312"/>
                </a:rPr>
                <a:t> </a:t>
              </a:r>
              <a:r>
                <a:rPr lang="zh-CN" altLang="zh-CN" sz="2000" b="1" dirty="0">
                  <a:solidFill>
                    <a:srgbClr val="FF0000"/>
                  </a:solidFill>
                  <a:latin typeface="黑体" panose="02010609060101010101" pitchFamily="49" charset="-122"/>
                  <a:ea typeface="楷体_GB2312"/>
                </a:rPr>
                <a:t>键长</a:t>
              </a:r>
              <a:r>
                <a:rPr lang="zh-CN" altLang="zh-CN" sz="2000" b="1" dirty="0">
                  <a:latin typeface="黑体" panose="02010609060101010101" pitchFamily="49" charset="-122"/>
                  <a:ea typeface="楷体_GB2312"/>
                </a:rPr>
                <a:t>/</a:t>
              </a:r>
              <a:r>
                <a:rPr lang="en-US" altLang="zh-CN" sz="2000" b="1" dirty="0">
                  <a:ea typeface="楷体_GB2312"/>
                  <a:cs typeface="Times New Roman" panose="02020603050405020304" pitchFamily="18" charset="0"/>
                </a:rPr>
                <a:t>pm</a:t>
              </a:r>
              <a:r>
                <a:rPr lang="en-US" altLang="zh-CN" sz="2000" b="1" dirty="0">
                  <a:latin typeface="黑体" panose="02010609060101010101" pitchFamily="49" charset="-122"/>
                  <a:ea typeface="楷体_GB2312"/>
                </a:rPr>
                <a:t> </a:t>
              </a:r>
              <a:r>
                <a:rPr lang="zh-CN" altLang="zh-CN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楷体_GB2312"/>
                </a:rPr>
                <a:t>共价键</a:t>
              </a:r>
              <a:r>
                <a:rPr lang="zh-CN" altLang="zh-CN" sz="2000" b="1" dirty="0">
                  <a:solidFill>
                    <a:srgbClr val="FF0000"/>
                  </a:solidFill>
                  <a:latin typeface="黑体" panose="02010609060101010101" pitchFamily="49" charset="-122"/>
                  <a:ea typeface="楷体_GB2312"/>
                </a:rPr>
                <a:t>  键能</a:t>
              </a:r>
              <a:r>
                <a:rPr lang="zh-CN" altLang="zh-CN" sz="2000" b="1" dirty="0">
                  <a:latin typeface="黑体" panose="02010609060101010101" pitchFamily="49" charset="-122"/>
                  <a:ea typeface="楷体_GB2312"/>
                </a:rPr>
                <a:t>/</a:t>
              </a:r>
              <a:r>
                <a:rPr lang="en-US" altLang="zh-CN" sz="2000" b="1" dirty="0">
                  <a:ea typeface="楷体_GB2312"/>
                  <a:cs typeface="Times New Roman" panose="02020603050405020304" pitchFamily="18" charset="0"/>
                </a:rPr>
                <a:t>kJ·mol</a:t>
              </a:r>
              <a:r>
                <a:rPr lang="en-US" altLang="zh-CN" sz="2000" b="1" baseline="30000" dirty="0">
                  <a:ea typeface="楷体_GB2312"/>
                  <a:cs typeface="Times New Roman" panose="02020603050405020304" pitchFamily="18" charset="0"/>
                </a:rPr>
                <a:t>-1</a:t>
              </a:r>
              <a:r>
                <a:rPr lang="en-US" altLang="zh-CN" sz="2000" b="1" baseline="30000" dirty="0">
                  <a:latin typeface="黑体" panose="02010609060101010101" pitchFamily="49" charset="-122"/>
                  <a:ea typeface="楷体_GB2312"/>
                </a:rPr>
                <a:t> </a:t>
              </a:r>
              <a:r>
                <a:rPr lang="en-US" altLang="zh-CN" sz="2000" b="1" dirty="0">
                  <a:latin typeface="黑体" panose="02010609060101010101" pitchFamily="49" charset="-122"/>
                  <a:ea typeface="楷体_GB2312"/>
                </a:rPr>
                <a:t> </a:t>
              </a:r>
              <a:r>
                <a:rPr lang="zh-CN" altLang="zh-CN" sz="2000" b="1" dirty="0">
                  <a:solidFill>
                    <a:srgbClr val="FF0000"/>
                  </a:solidFill>
                  <a:latin typeface="黑体" panose="02010609060101010101" pitchFamily="49" charset="-122"/>
                  <a:ea typeface="楷体_GB2312"/>
                </a:rPr>
                <a:t>键长</a:t>
              </a:r>
              <a:r>
                <a:rPr lang="zh-CN" altLang="zh-CN" sz="2000" b="1" dirty="0">
                  <a:latin typeface="黑体" panose="02010609060101010101" pitchFamily="49" charset="-122"/>
                  <a:ea typeface="楷体_GB2312"/>
                </a:rPr>
                <a:t>/</a:t>
              </a:r>
              <a:r>
                <a:rPr lang="en-US" altLang="zh-CN" sz="2000" b="1" dirty="0">
                  <a:ea typeface="楷体_GB2312"/>
                  <a:cs typeface="Times New Roman" panose="02020603050405020304" pitchFamily="18" charset="0"/>
                </a:rPr>
                <a:t>pm</a:t>
              </a:r>
            </a:p>
          </p:txBody>
        </p:sp>
        <p:sp>
          <p:nvSpPr>
            <p:cNvPr id="13354" name="Line 9"/>
            <p:cNvSpPr>
              <a:spLocks noChangeShapeType="1"/>
            </p:cNvSpPr>
            <p:nvPr/>
          </p:nvSpPr>
          <p:spPr bwMode="auto">
            <a:xfrm>
              <a:off x="340" y="974"/>
              <a:ext cx="52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55" name="Line 10"/>
            <p:cNvSpPr>
              <a:spLocks noChangeShapeType="1"/>
            </p:cNvSpPr>
            <p:nvPr/>
          </p:nvSpPr>
          <p:spPr bwMode="auto">
            <a:xfrm>
              <a:off x="340" y="1359"/>
              <a:ext cx="52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56" name="Line 11"/>
            <p:cNvSpPr>
              <a:spLocks noChangeShapeType="1"/>
            </p:cNvSpPr>
            <p:nvPr/>
          </p:nvSpPr>
          <p:spPr bwMode="auto">
            <a:xfrm>
              <a:off x="340" y="2795"/>
              <a:ext cx="52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4" name="Rectangle 12"/>
          <p:cNvSpPr>
            <a:spLocks noChangeArrowheads="1"/>
          </p:cNvSpPr>
          <p:nvPr/>
        </p:nvSpPr>
        <p:spPr bwMode="auto">
          <a:xfrm>
            <a:off x="3332163" y="811213"/>
            <a:ext cx="3871912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 sz="2200" b="1">
                <a:solidFill>
                  <a:srgbClr val="FF0000"/>
                </a:solidFill>
                <a:ea typeface="楷体_GB2312" pitchFamily="49" charset="-122"/>
              </a:rPr>
              <a:t>一些共价键键能</a:t>
            </a:r>
            <a:r>
              <a:rPr lang="zh-CN" altLang="en-US" sz="2200" b="1">
                <a:solidFill>
                  <a:srgbClr val="FF0000"/>
                </a:solidFill>
                <a:ea typeface="楷体_GB2312" pitchFamily="49" charset="-122"/>
              </a:rPr>
              <a:t>、</a:t>
            </a:r>
            <a:r>
              <a:rPr lang="zh-CN" altLang="zh-CN" sz="2200" b="1">
                <a:solidFill>
                  <a:srgbClr val="FF0000"/>
                </a:solidFill>
                <a:ea typeface="楷体_GB2312" pitchFamily="49" charset="-122"/>
              </a:rPr>
              <a:t>键长</a:t>
            </a:r>
            <a:r>
              <a:rPr lang="zh-CN" altLang="en-US" sz="2200" b="1">
                <a:solidFill>
                  <a:srgbClr val="FF0000"/>
                </a:solidFill>
                <a:ea typeface="楷体_GB2312" pitchFamily="49" charset="-122"/>
              </a:rPr>
              <a:t>和键角</a:t>
            </a:r>
            <a:endParaRPr lang="zh-CN" altLang="en-US" sz="2200" b="1">
              <a:solidFill>
                <a:srgbClr val="FF0000"/>
              </a:solidFill>
            </a:endParaRPr>
          </a:p>
        </p:txBody>
      </p:sp>
      <p:sp>
        <p:nvSpPr>
          <p:cNvPr id="25" name="Rectangle 3"/>
          <p:cNvSpPr>
            <a:spLocks noChangeArrowheads="1"/>
          </p:cNvSpPr>
          <p:nvPr/>
        </p:nvSpPr>
        <p:spPr bwMode="auto">
          <a:xfrm>
            <a:off x="2865438" y="1731963"/>
            <a:ext cx="569912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 sz="2000" b="1">
                <a:ea typeface="华文新魏" pitchFamily="2" charset="-122"/>
              </a:rPr>
              <a:t>346</a:t>
            </a:r>
          </a:p>
          <a:p>
            <a:r>
              <a:rPr lang="zh-CN" altLang="zh-CN" sz="2000" b="1">
                <a:ea typeface="华文新魏" pitchFamily="2" charset="-122"/>
              </a:rPr>
              <a:t>602</a:t>
            </a:r>
          </a:p>
          <a:p>
            <a:r>
              <a:rPr lang="zh-CN" altLang="zh-CN" sz="2000" b="1">
                <a:ea typeface="华文新魏" pitchFamily="2" charset="-122"/>
              </a:rPr>
              <a:t>835</a:t>
            </a:r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4378325" y="1731963"/>
            <a:ext cx="569913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 sz="2000" b="1">
                <a:ea typeface="华文新魏" pitchFamily="2" charset="-122"/>
              </a:rPr>
              <a:t>154</a:t>
            </a:r>
          </a:p>
          <a:p>
            <a:r>
              <a:rPr lang="en-US" altLang="zh-CN" sz="2000" b="1">
                <a:ea typeface="华文新魏" pitchFamily="2" charset="-122"/>
              </a:rPr>
              <a:t>134</a:t>
            </a:r>
          </a:p>
          <a:p>
            <a:r>
              <a:rPr lang="en-US" altLang="zh-CN" sz="2000" b="1">
                <a:ea typeface="华文新魏" pitchFamily="2" charset="-122"/>
              </a:rPr>
              <a:t>120</a:t>
            </a: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5411788" y="1731963"/>
            <a:ext cx="830262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F-F</a:t>
            </a:r>
          </a:p>
          <a:p>
            <a:pPr algn="ctr"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Cl-Cl</a:t>
            </a:r>
          </a:p>
          <a:p>
            <a:pPr algn="ctr"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Br-Br</a:t>
            </a:r>
          </a:p>
          <a:p>
            <a:pPr algn="ctr"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I-I</a:t>
            </a:r>
            <a:endParaRPr lang="en-US" altLang="zh-CN" sz="2000" b="1" dirty="0">
              <a:ea typeface="华文新魏" panose="02010800040101010101" pitchFamily="2" charset="-122"/>
            </a:endParaRPr>
          </a:p>
        </p:txBody>
      </p:sp>
      <p:sp>
        <p:nvSpPr>
          <p:cNvPr id="30" name="Rectangle 6"/>
          <p:cNvSpPr>
            <a:spLocks noChangeArrowheads="1"/>
          </p:cNvSpPr>
          <p:nvPr/>
        </p:nvSpPr>
        <p:spPr bwMode="auto">
          <a:xfrm>
            <a:off x="1576388" y="1731963"/>
            <a:ext cx="703262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C-C</a:t>
            </a:r>
          </a:p>
          <a:p>
            <a:pPr algn="ctr"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C=C</a:t>
            </a:r>
          </a:p>
          <a:p>
            <a:pPr algn="ctr"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C</a:t>
            </a:r>
            <a:r>
              <a:rPr lang="en-US" altLang="zh-CN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  <a:sym typeface="Symbol" panose="05050102010706020507" pitchFamily="18" charset="2"/>
              </a:rPr>
              <a:t></a:t>
            </a:r>
            <a:r>
              <a:rPr lang="en-US" altLang="zh-CN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C</a:t>
            </a:r>
            <a:endParaRPr lang="en-US" altLang="zh-CN" sz="2000" b="1" dirty="0">
              <a:ea typeface="华文新魏" panose="02010800040101010101" pitchFamily="2" charset="-122"/>
            </a:endParaRPr>
          </a:p>
        </p:txBody>
      </p:sp>
      <p:sp>
        <p:nvSpPr>
          <p:cNvPr id="31" name="Rectangle 13"/>
          <p:cNvSpPr>
            <a:spLocks noChangeArrowheads="1"/>
          </p:cNvSpPr>
          <p:nvPr/>
        </p:nvSpPr>
        <p:spPr bwMode="auto">
          <a:xfrm>
            <a:off x="6908800" y="1731963"/>
            <a:ext cx="56832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 sz="2000" b="1">
                <a:ea typeface="华文新魏" pitchFamily="2" charset="-122"/>
              </a:rPr>
              <a:t>159</a:t>
            </a:r>
          </a:p>
          <a:p>
            <a:r>
              <a:rPr lang="zh-CN" altLang="zh-CN" sz="2000" b="1">
                <a:ea typeface="华文新魏" pitchFamily="2" charset="-122"/>
              </a:rPr>
              <a:t>243</a:t>
            </a:r>
          </a:p>
          <a:p>
            <a:r>
              <a:rPr lang="zh-CN" altLang="zh-CN" sz="2000" b="1">
                <a:ea typeface="华文新魏" pitchFamily="2" charset="-122"/>
              </a:rPr>
              <a:t>193</a:t>
            </a:r>
          </a:p>
          <a:p>
            <a:r>
              <a:rPr lang="zh-CN" altLang="zh-CN" sz="2000" b="1">
                <a:ea typeface="华文新魏" pitchFamily="2" charset="-122"/>
              </a:rPr>
              <a:t>151</a:t>
            </a:r>
            <a:endParaRPr lang="en-US" altLang="zh-CN" sz="2000" b="1">
              <a:ea typeface="华文新魏" pitchFamily="2" charset="-122"/>
            </a:endParaRPr>
          </a:p>
        </p:txBody>
      </p: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8312150" y="1731963"/>
            <a:ext cx="56832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b="1">
                <a:ea typeface="华文新魏" pitchFamily="2" charset="-122"/>
              </a:rPr>
              <a:t>141</a:t>
            </a:r>
          </a:p>
          <a:p>
            <a:r>
              <a:rPr lang="en-US" altLang="zh-CN" sz="2000" b="1">
                <a:ea typeface="华文新魏" pitchFamily="2" charset="-122"/>
              </a:rPr>
              <a:t>199</a:t>
            </a:r>
          </a:p>
          <a:p>
            <a:r>
              <a:rPr lang="en-US" altLang="zh-CN" sz="2000" b="1">
                <a:ea typeface="华文新魏" pitchFamily="2" charset="-122"/>
              </a:rPr>
              <a:t>228</a:t>
            </a:r>
          </a:p>
          <a:p>
            <a:r>
              <a:rPr lang="en-US" altLang="zh-CN" sz="2000" b="1">
                <a:ea typeface="华文新魏" pitchFamily="2" charset="-122"/>
              </a:rPr>
              <a:t>267</a:t>
            </a:r>
          </a:p>
        </p:txBody>
      </p:sp>
      <p:sp>
        <p:nvSpPr>
          <p:cNvPr id="33" name="Rectangle 15"/>
          <p:cNvSpPr>
            <a:spLocks noChangeArrowheads="1"/>
          </p:cNvSpPr>
          <p:nvPr/>
        </p:nvSpPr>
        <p:spPr bwMode="auto">
          <a:xfrm>
            <a:off x="8312150" y="2986088"/>
            <a:ext cx="56832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b="1">
                <a:ea typeface="华文新魏" pitchFamily="2" charset="-122"/>
              </a:rPr>
              <a:t>141</a:t>
            </a:r>
          </a:p>
          <a:p>
            <a:r>
              <a:rPr lang="en-US" altLang="zh-CN" sz="2000" b="1">
                <a:ea typeface="华文新魏" pitchFamily="2" charset="-122"/>
              </a:rPr>
              <a:t>161</a:t>
            </a:r>
          </a:p>
        </p:txBody>
      </p:sp>
      <p:sp>
        <p:nvSpPr>
          <p:cNvPr id="34" name="Rectangle 16"/>
          <p:cNvSpPr>
            <a:spLocks noChangeArrowheads="1"/>
          </p:cNvSpPr>
          <p:nvPr/>
        </p:nvSpPr>
        <p:spPr bwMode="auto">
          <a:xfrm>
            <a:off x="6908800" y="2986088"/>
            <a:ext cx="56832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 sz="2000" b="1">
                <a:ea typeface="华文新魏" pitchFamily="2" charset="-122"/>
              </a:rPr>
              <a:t>366</a:t>
            </a:r>
          </a:p>
          <a:p>
            <a:r>
              <a:rPr lang="zh-CN" altLang="zh-CN" sz="2000" b="1">
                <a:ea typeface="华文新魏" pitchFamily="2" charset="-122"/>
              </a:rPr>
              <a:t>298</a:t>
            </a:r>
            <a:endParaRPr lang="en-US" altLang="zh-CN" sz="2000" b="1">
              <a:ea typeface="华文新魏" pitchFamily="2" charset="-122"/>
            </a:endParaRPr>
          </a:p>
        </p:txBody>
      </p:sp>
      <p:sp>
        <p:nvSpPr>
          <p:cNvPr id="36" name="Rectangle 19"/>
          <p:cNvSpPr>
            <a:spLocks noChangeArrowheads="1"/>
          </p:cNvSpPr>
          <p:nvPr/>
        </p:nvSpPr>
        <p:spPr bwMode="auto">
          <a:xfrm>
            <a:off x="5470525" y="2986088"/>
            <a:ext cx="754063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H-Br</a:t>
            </a:r>
          </a:p>
          <a:p>
            <a:pPr algn="ctr"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H-I</a:t>
            </a:r>
            <a:endParaRPr lang="en-US" altLang="zh-CN" sz="2000" b="1" dirty="0">
              <a:ea typeface="华文新魏" panose="02010800040101010101" pitchFamily="2" charset="-122"/>
            </a:endParaRPr>
          </a:p>
        </p:txBody>
      </p:sp>
      <p:sp>
        <p:nvSpPr>
          <p:cNvPr id="37" name="Rectangle 15"/>
          <p:cNvSpPr>
            <a:spLocks noChangeArrowheads="1"/>
          </p:cNvSpPr>
          <p:nvPr/>
        </p:nvSpPr>
        <p:spPr bwMode="auto">
          <a:xfrm>
            <a:off x="4378325" y="2986088"/>
            <a:ext cx="56991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b="1">
                <a:ea typeface="华文新魏" pitchFamily="2" charset="-122"/>
              </a:rPr>
              <a:t>92</a:t>
            </a:r>
          </a:p>
          <a:p>
            <a:r>
              <a:rPr lang="en-US" altLang="zh-CN" sz="2000" b="1">
                <a:ea typeface="华文新魏" pitchFamily="2" charset="-122"/>
              </a:rPr>
              <a:t>127</a:t>
            </a:r>
          </a:p>
        </p:txBody>
      </p:sp>
      <p:sp>
        <p:nvSpPr>
          <p:cNvPr id="39" name="Rectangle 16"/>
          <p:cNvSpPr>
            <a:spLocks noChangeArrowheads="1"/>
          </p:cNvSpPr>
          <p:nvPr/>
        </p:nvSpPr>
        <p:spPr bwMode="auto">
          <a:xfrm>
            <a:off x="2865438" y="2986088"/>
            <a:ext cx="569912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 sz="2000" b="1">
                <a:ea typeface="华文新魏" pitchFamily="2" charset="-122"/>
              </a:rPr>
              <a:t>570</a:t>
            </a:r>
          </a:p>
          <a:p>
            <a:r>
              <a:rPr lang="zh-CN" altLang="zh-CN" sz="2000" b="1">
                <a:ea typeface="华文新魏" pitchFamily="2" charset="-122"/>
              </a:rPr>
              <a:t>432</a:t>
            </a:r>
          </a:p>
        </p:txBody>
      </p:sp>
      <p:sp>
        <p:nvSpPr>
          <p:cNvPr id="40" name="Rectangle 19"/>
          <p:cNvSpPr>
            <a:spLocks noChangeArrowheads="1"/>
          </p:cNvSpPr>
          <p:nvPr/>
        </p:nvSpPr>
        <p:spPr bwMode="auto">
          <a:xfrm>
            <a:off x="1552575" y="2986088"/>
            <a:ext cx="723900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H-F </a:t>
            </a:r>
          </a:p>
          <a:p>
            <a:pPr algn="ctr"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H-Cl</a:t>
            </a:r>
          </a:p>
        </p:txBody>
      </p: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450975" y="3768725"/>
            <a:ext cx="7745413" cy="1931988"/>
            <a:chOff x="291" y="1944"/>
            <a:chExt cx="4879" cy="1217"/>
          </a:xfrm>
        </p:grpSpPr>
        <p:sp>
          <p:nvSpPr>
            <p:cNvPr id="43" name="Rectangle 8"/>
            <p:cNvSpPr>
              <a:spLocks noChangeArrowheads="1"/>
            </p:cNvSpPr>
            <p:nvPr/>
          </p:nvSpPr>
          <p:spPr bwMode="auto">
            <a:xfrm>
              <a:off x="291" y="1944"/>
              <a:ext cx="487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zh-CN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华文新魏" panose="02010800040101010101" pitchFamily="2" charset="-122"/>
                </a:rPr>
                <a:t> </a:t>
              </a:r>
              <a:r>
                <a:rPr lang="zh-CN" altLang="zh-CN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楷体_GB2312"/>
                </a:rPr>
                <a:t>分子式</a:t>
              </a:r>
              <a:r>
                <a:rPr lang="zh-CN" altLang="zh-CN" sz="2000" b="1" dirty="0">
                  <a:solidFill>
                    <a:srgbClr val="FF0000"/>
                  </a:solidFill>
                  <a:latin typeface="黑体" panose="02010609060101010101" pitchFamily="49" charset="-122"/>
                  <a:ea typeface="楷体_GB2312"/>
                </a:rPr>
                <a:t> </a:t>
              </a:r>
              <a:r>
                <a:rPr lang="en-US" altLang="zh-CN" sz="2000" b="1" dirty="0">
                  <a:solidFill>
                    <a:srgbClr val="FF0000"/>
                  </a:solidFill>
                  <a:latin typeface="黑体" panose="02010609060101010101" pitchFamily="49" charset="-122"/>
                  <a:ea typeface="楷体_GB2312"/>
                </a:rPr>
                <a:t> </a:t>
              </a:r>
              <a:r>
                <a:rPr lang="zh-CN" altLang="zh-CN" sz="2000" b="1" dirty="0">
                  <a:solidFill>
                    <a:srgbClr val="FF0000"/>
                  </a:solidFill>
                  <a:latin typeface="黑体" panose="02010609060101010101" pitchFamily="49" charset="-122"/>
                  <a:ea typeface="楷体_GB2312"/>
                </a:rPr>
                <a:t>   键长</a:t>
              </a:r>
              <a:r>
                <a:rPr lang="zh-CN" altLang="zh-CN" sz="2000" b="1" dirty="0">
                  <a:latin typeface="黑体" panose="02010609060101010101" pitchFamily="49" charset="-122"/>
                  <a:ea typeface="楷体_GB2312"/>
                </a:rPr>
                <a:t>/</a:t>
              </a:r>
              <a:r>
                <a:rPr lang="en-US" altLang="zh-CN" sz="2000" b="1" dirty="0">
                  <a:latin typeface="黑体" panose="02010609060101010101" pitchFamily="49" charset="-122"/>
                  <a:ea typeface="楷体_GB2312"/>
                </a:rPr>
                <a:t>pm(</a:t>
              </a:r>
              <a:r>
                <a:rPr lang="zh-CN" altLang="zh-CN" sz="2000" b="1" dirty="0">
                  <a:latin typeface="黑体" panose="02010609060101010101" pitchFamily="49" charset="-122"/>
                  <a:ea typeface="楷体_GB2312"/>
                </a:rPr>
                <a:t>实验值)  </a:t>
              </a:r>
              <a:r>
                <a:rPr lang="en-US" altLang="zh-CN" sz="2000" b="1" dirty="0">
                  <a:latin typeface="黑体" panose="02010609060101010101" pitchFamily="49" charset="-122"/>
                  <a:ea typeface="楷体_GB2312"/>
                </a:rPr>
                <a:t>  </a:t>
              </a:r>
              <a:r>
                <a:rPr lang="zh-CN" altLang="zh-CN" sz="2000" b="1" dirty="0">
                  <a:latin typeface="黑体" panose="02010609060101010101" pitchFamily="49" charset="-122"/>
                  <a:ea typeface="楷体_GB2312"/>
                </a:rPr>
                <a:t> </a:t>
              </a:r>
              <a:r>
                <a:rPr lang="zh-CN" altLang="zh-CN" sz="2000" b="1" dirty="0">
                  <a:solidFill>
                    <a:srgbClr val="FF0000"/>
                  </a:solidFill>
                  <a:latin typeface="黑体" panose="02010609060101010101" pitchFamily="49" charset="-122"/>
                  <a:ea typeface="楷体_GB2312"/>
                </a:rPr>
                <a:t>键角</a:t>
              </a:r>
              <a:r>
                <a:rPr lang="zh-CN" altLang="zh-CN" sz="2000" b="1" i="1" dirty="0">
                  <a:latin typeface="黑体" panose="02010609060101010101" pitchFamily="49" charset="-122"/>
                  <a:ea typeface="楷体_GB2312"/>
                  <a:sym typeface="Symbol" panose="05050102010706020507" pitchFamily="18" charset="2"/>
                </a:rPr>
                <a:t></a:t>
              </a:r>
              <a:r>
                <a:rPr lang="zh-CN" altLang="zh-CN" sz="2000" b="1" baseline="30000" dirty="0">
                  <a:latin typeface="黑体" panose="02010609060101010101" pitchFamily="49" charset="-122"/>
                  <a:ea typeface="楷体_GB2312"/>
                </a:rPr>
                <a:t> </a:t>
              </a:r>
              <a:r>
                <a:rPr lang="zh-CN" altLang="zh-CN" sz="2000" b="1" dirty="0">
                  <a:latin typeface="黑体" panose="02010609060101010101" pitchFamily="49" charset="-122"/>
                  <a:ea typeface="楷体_GB2312"/>
                </a:rPr>
                <a:t>(实验值) </a:t>
              </a:r>
              <a:r>
                <a:rPr lang="en-US" altLang="zh-CN" sz="2000" b="1" dirty="0">
                  <a:latin typeface="黑体" panose="02010609060101010101" pitchFamily="49" charset="-122"/>
                  <a:ea typeface="楷体_GB2312"/>
                </a:rPr>
                <a:t>    </a:t>
              </a:r>
              <a:r>
                <a:rPr lang="zh-CN" altLang="zh-CN" sz="2000" b="1" dirty="0">
                  <a:solidFill>
                    <a:srgbClr val="FF0000"/>
                  </a:solidFill>
                  <a:latin typeface="黑体" panose="02010609060101010101" pitchFamily="49" charset="-122"/>
                  <a:ea typeface="楷体_GB2312"/>
                </a:rPr>
                <a:t>几何构型</a:t>
              </a:r>
              <a:endPara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楷体_GB2312"/>
              </a:endParaRPr>
            </a:p>
          </p:txBody>
        </p:sp>
        <p:sp>
          <p:nvSpPr>
            <p:cNvPr id="13351" name="Line 9"/>
            <p:cNvSpPr>
              <a:spLocks noChangeShapeType="1"/>
            </p:cNvSpPr>
            <p:nvPr/>
          </p:nvSpPr>
          <p:spPr bwMode="auto">
            <a:xfrm>
              <a:off x="340" y="2237"/>
              <a:ext cx="48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52" name="Line 10"/>
            <p:cNvSpPr>
              <a:spLocks noChangeShapeType="1"/>
            </p:cNvSpPr>
            <p:nvPr/>
          </p:nvSpPr>
          <p:spPr bwMode="auto">
            <a:xfrm>
              <a:off x="340" y="3161"/>
              <a:ext cx="48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6" name="Rectangle 12"/>
          <p:cNvSpPr>
            <a:spLocks noChangeArrowheads="1"/>
          </p:cNvSpPr>
          <p:nvPr/>
        </p:nvSpPr>
        <p:spPr bwMode="auto">
          <a:xfrm>
            <a:off x="1608138" y="4216400"/>
            <a:ext cx="654050" cy="150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H</a:t>
            </a:r>
            <a:r>
              <a:rPr lang="en-US" altLang="zh-CN" sz="2000" b="1" baseline="-25000" dirty="0"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2</a:t>
            </a:r>
            <a:r>
              <a:rPr lang="en-US" altLang="zh-CN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S</a:t>
            </a:r>
          </a:p>
          <a:p>
            <a:pPr algn="ctr">
              <a:lnSpc>
                <a:spcPct val="115000"/>
              </a:lnSpc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CO</a:t>
            </a:r>
            <a:r>
              <a:rPr lang="en-US" altLang="zh-CN" sz="2000" b="1" baseline="-25000" dirty="0"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2</a:t>
            </a:r>
            <a:endParaRPr lang="en-US" altLang="zh-CN" sz="2000" b="1" dirty="0">
              <a:effectLst>
                <a:outerShdw blurRad="38100" dist="38100" dir="2700000" algn="tl">
                  <a:srgbClr val="000000"/>
                </a:outerShdw>
              </a:effectLst>
              <a:ea typeface="华文新魏" panose="02010800040101010101" pitchFamily="2" charset="-122"/>
            </a:endParaRPr>
          </a:p>
          <a:p>
            <a:pPr algn="ctr">
              <a:lnSpc>
                <a:spcPct val="115000"/>
              </a:lnSpc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NH</a:t>
            </a:r>
            <a:r>
              <a:rPr lang="en-US" altLang="zh-CN" sz="2000" b="1" baseline="-25000" dirty="0"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3</a:t>
            </a:r>
            <a:endParaRPr lang="en-US" altLang="zh-CN" sz="2000" b="1" dirty="0">
              <a:effectLst>
                <a:outerShdw blurRad="38100" dist="38100" dir="2700000" algn="tl">
                  <a:srgbClr val="000000"/>
                </a:outerShdw>
              </a:effectLst>
              <a:ea typeface="华文新魏" panose="02010800040101010101" pitchFamily="2" charset="-122"/>
            </a:endParaRPr>
          </a:p>
          <a:p>
            <a:pPr algn="ctr">
              <a:lnSpc>
                <a:spcPct val="115000"/>
              </a:lnSpc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CH</a:t>
            </a:r>
            <a:r>
              <a:rPr lang="en-US" altLang="zh-CN" sz="2000" b="1" baseline="-25000" dirty="0"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4</a:t>
            </a:r>
            <a:endParaRPr lang="en-US" altLang="zh-CN" sz="2000" b="1" dirty="0">
              <a:ea typeface="华文新魏" panose="02010800040101010101" pitchFamily="2" charset="-122"/>
            </a:endParaRPr>
          </a:p>
        </p:txBody>
      </p:sp>
      <p:sp>
        <p:nvSpPr>
          <p:cNvPr id="47" name="Rectangle 13"/>
          <p:cNvSpPr>
            <a:spLocks noChangeArrowheads="1"/>
          </p:cNvSpPr>
          <p:nvPr/>
        </p:nvSpPr>
        <p:spPr bwMode="auto">
          <a:xfrm>
            <a:off x="3435350" y="4257675"/>
            <a:ext cx="32194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 sz="2000" b="1">
                <a:ea typeface="华文新魏" pitchFamily="2" charset="-122"/>
              </a:rPr>
              <a:t>134            </a:t>
            </a:r>
            <a:r>
              <a:rPr lang="en-US" altLang="zh-CN" sz="2000" b="1">
                <a:ea typeface="华文新魏" pitchFamily="2" charset="-122"/>
              </a:rPr>
              <a:t>               </a:t>
            </a:r>
            <a:r>
              <a:rPr lang="zh-CN" altLang="zh-CN" sz="2000" b="1">
                <a:ea typeface="华文新魏" pitchFamily="2" charset="-122"/>
              </a:rPr>
              <a:t>         92º</a:t>
            </a:r>
            <a:endParaRPr lang="en-US" altLang="zh-CN" sz="2000" b="1">
              <a:ea typeface="华文新魏" pitchFamily="2" charset="-122"/>
            </a:endParaRPr>
          </a:p>
        </p:txBody>
      </p:sp>
      <p:sp>
        <p:nvSpPr>
          <p:cNvPr id="49" name="Rectangle 14"/>
          <p:cNvSpPr>
            <a:spLocks noChangeArrowheads="1"/>
          </p:cNvSpPr>
          <p:nvPr/>
        </p:nvSpPr>
        <p:spPr bwMode="auto">
          <a:xfrm>
            <a:off x="3435350" y="4605338"/>
            <a:ext cx="33321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b="1">
                <a:ea typeface="华文新魏" pitchFamily="2" charset="-122"/>
              </a:rPr>
              <a:t>116.2                                 </a:t>
            </a:r>
            <a:r>
              <a:rPr lang="zh-CN" altLang="zh-CN" sz="2000" b="1">
                <a:ea typeface="华文新魏" pitchFamily="2" charset="-122"/>
              </a:rPr>
              <a:t>180º</a:t>
            </a:r>
            <a:endParaRPr lang="en-US" altLang="zh-CN" sz="2000" b="1">
              <a:ea typeface="华文新魏" pitchFamily="2" charset="-122"/>
            </a:endParaRPr>
          </a:p>
        </p:txBody>
      </p:sp>
      <p:sp>
        <p:nvSpPr>
          <p:cNvPr id="50" name="Rectangle 15"/>
          <p:cNvSpPr>
            <a:spLocks noChangeArrowheads="1"/>
          </p:cNvSpPr>
          <p:nvPr/>
        </p:nvSpPr>
        <p:spPr bwMode="auto">
          <a:xfrm>
            <a:off x="3435350" y="4927600"/>
            <a:ext cx="38592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b="1">
                <a:ea typeface="华文新魏" pitchFamily="2" charset="-122"/>
              </a:rPr>
              <a:t>101                                    </a:t>
            </a:r>
            <a:r>
              <a:rPr lang="zh-CN" altLang="zh-CN" sz="2000" b="1">
                <a:ea typeface="华文新魏" pitchFamily="2" charset="-122"/>
              </a:rPr>
              <a:t>107º18’</a:t>
            </a:r>
            <a:endParaRPr lang="en-US" altLang="zh-CN" sz="2000" b="1">
              <a:ea typeface="华文新魏" pitchFamily="2" charset="-122"/>
            </a:endParaRPr>
          </a:p>
        </p:txBody>
      </p:sp>
      <p:sp>
        <p:nvSpPr>
          <p:cNvPr id="51" name="Rectangle 16"/>
          <p:cNvSpPr>
            <a:spLocks noChangeArrowheads="1"/>
          </p:cNvSpPr>
          <p:nvPr/>
        </p:nvSpPr>
        <p:spPr bwMode="auto">
          <a:xfrm>
            <a:off x="3432175" y="5299075"/>
            <a:ext cx="3860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b="1">
                <a:ea typeface="华文新魏" pitchFamily="2" charset="-122"/>
              </a:rPr>
              <a:t>109                                    </a:t>
            </a:r>
            <a:r>
              <a:rPr lang="zh-CN" altLang="zh-CN" sz="2000" b="1">
                <a:ea typeface="华文新魏" pitchFamily="2" charset="-122"/>
              </a:rPr>
              <a:t>109º28’</a:t>
            </a:r>
            <a:endParaRPr lang="en-US" altLang="zh-CN" sz="2000" b="1">
              <a:ea typeface="华文新魏" pitchFamily="2" charset="-122"/>
            </a:endParaRPr>
          </a:p>
        </p:txBody>
      </p: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8312150" y="4926013"/>
            <a:ext cx="527050" cy="338137"/>
            <a:chOff x="4224" y="2496"/>
            <a:chExt cx="432" cy="240"/>
          </a:xfrm>
        </p:grpSpPr>
        <p:sp>
          <p:nvSpPr>
            <p:cNvPr id="13347" name="Line 20"/>
            <p:cNvSpPr>
              <a:spLocks noChangeShapeType="1"/>
            </p:cNvSpPr>
            <p:nvPr/>
          </p:nvSpPr>
          <p:spPr bwMode="auto">
            <a:xfrm rot="-1426026">
              <a:off x="4464" y="2496"/>
              <a:ext cx="1" cy="2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8" name="Line 21"/>
            <p:cNvSpPr>
              <a:spLocks noChangeShapeType="1"/>
            </p:cNvSpPr>
            <p:nvPr/>
          </p:nvSpPr>
          <p:spPr bwMode="auto">
            <a:xfrm rot="3004328">
              <a:off x="4343" y="2473"/>
              <a:ext cx="1" cy="2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9" name="Line 22"/>
            <p:cNvSpPr>
              <a:spLocks noChangeShapeType="1"/>
            </p:cNvSpPr>
            <p:nvPr/>
          </p:nvSpPr>
          <p:spPr bwMode="auto">
            <a:xfrm rot="-4439329">
              <a:off x="4535" y="2425"/>
              <a:ext cx="1" cy="2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3"/>
          <p:cNvGrpSpPr>
            <a:grpSpLocks/>
          </p:cNvGrpSpPr>
          <p:nvPr/>
        </p:nvGrpSpPr>
        <p:grpSpPr bwMode="auto">
          <a:xfrm rot="10800000">
            <a:off x="8486775" y="4264025"/>
            <a:ext cx="142875" cy="276225"/>
            <a:chOff x="4992" y="2493"/>
            <a:chExt cx="132" cy="243"/>
          </a:xfrm>
        </p:grpSpPr>
        <p:sp>
          <p:nvSpPr>
            <p:cNvPr id="13345" name="Line 24"/>
            <p:cNvSpPr>
              <a:spLocks noChangeShapeType="1"/>
            </p:cNvSpPr>
            <p:nvPr/>
          </p:nvSpPr>
          <p:spPr bwMode="auto">
            <a:xfrm rot="1838125">
              <a:off x="5123" y="2493"/>
              <a:ext cx="1" cy="2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6" name="Line 25"/>
            <p:cNvSpPr>
              <a:spLocks noChangeShapeType="1"/>
            </p:cNvSpPr>
            <p:nvPr/>
          </p:nvSpPr>
          <p:spPr bwMode="auto">
            <a:xfrm rot="-2189160">
              <a:off x="4992" y="2496"/>
              <a:ext cx="1" cy="2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9" name="Line 26"/>
          <p:cNvSpPr>
            <a:spLocks noChangeShapeType="1"/>
          </p:cNvSpPr>
          <p:nvPr/>
        </p:nvSpPr>
        <p:spPr bwMode="auto">
          <a:xfrm>
            <a:off x="8380413" y="4768850"/>
            <a:ext cx="354012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8334375" y="5249863"/>
            <a:ext cx="471488" cy="427037"/>
            <a:chOff x="3408" y="2256"/>
            <a:chExt cx="432" cy="432"/>
          </a:xfrm>
        </p:grpSpPr>
        <p:sp>
          <p:nvSpPr>
            <p:cNvPr id="13341" name="Line 28"/>
            <p:cNvSpPr>
              <a:spLocks noChangeShapeType="1"/>
            </p:cNvSpPr>
            <p:nvPr/>
          </p:nvSpPr>
          <p:spPr bwMode="auto">
            <a:xfrm rot="-4908116">
              <a:off x="3719" y="2377"/>
              <a:ext cx="1" cy="2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2" name="Line 29"/>
            <p:cNvSpPr>
              <a:spLocks noChangeShapeType="1"/>
            </p:cNvSpPr>
            <p:nvPr/>
          </p:nvSpPr>
          <p:spPr bwMode="auto">
            <a:xfrm rot="-1645401">
              <a:off x="3648" y="2448"/>
              <a:ext cx="1" cy="2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3" name="Line 30"/>
            <p:cNvSpPr>
              <a:spLocks noChangeShapeType="1"/>
            </p:cNvSpPr>
            <p:nvPr/>
          </p:nvSpPr>
          <p:spPr bwMode="auto">
            <a:xfrm>
              <a:off x="3600" y="2256"/>
              <a:ext cx="0" cy="2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4" name="Line 31"/>
            <p:cNvSpPr>
              <a:spLocks noChangeShapeType="1"/>
            </p:cNvSpPr>
            <p:nvPr/>
          </p:nvSpPr>
          <p:spPr bwMode="auto">
            <a:xfrm rot="2861657">
              <a:off x="3527" y="2425"/>
              <a:ext cx="1" cy="2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340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335756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8.1.1</a:t>
            </a:r>
            <a:r>
              <a:rPr kumimoji="1"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价键理论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1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utoUpdateAnimBg="0"/>
      <p:bldP spid="25" grpId="0" build="p" autoUpdateAnimBg="0"/>
      <p:bldP spid="28" grpId="0" build="p" autoUpdateAnimBg="0"/>
      <p:bldP spid="29" grpId="0" autoUpdateAnimBg="0"/>
      <p:bldP spid="30" grpId="0" autoUpdateAnimBg="0"/>
      <p:bldP spid="31" grpId="0" build="p" autoUpdateAnimBg="0"/>
      <p:bldP spid="32" grpId="0" build="p" autoUpdateAnimBg="0"/>
      <p:bldP spid="33" grpId="0" autoUpdateAnimBg="0"/>
      <p:bldP spid="34" grpId="0" build="p" autoUpdateAnimBg="0"/>
      <p:bldP spid="36" grpId="0" autoUpdateAnimBg="0"/>
      <p:bldP spid="37" grpId="0" autoUpdateAnimBg="0"/>
      <p:bldP spid="39" grpId="0" build="p" autoUpdateAnimBg="0"/>
      <p:bldP spid="40" grpId="0" autoUpdateAnimBg="0"/>
      <p:bldP spid="46" grpId="0" autoUpdateAnimBg="0"/>
      <p:bldP spid="47" grpId="0" autoUpdateAnimBg="0"/>
      <p:bldP spid="49" grpId="0" autoUpdateAnimBg="0"/>
      <p:bldP spid="50" grpId="0" autoUpdateAnimBg="0"/>
      <p:bldP spid="51" grpId="0" autoUpdateAnimBg="0"/>
      <p:bldP spid="5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14339" name="Oval 6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331913" y="954088"/>
            <a:ext cx="78613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现代价键理论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  <a:r>
              <a:rPr lang="zh-CN" altLang="en-US" sz="2500" b="1" dirty="0">
                <a:ea typeface="楷体_GB2312" pitchFamily="49" charset="-122"/>
              </a:rPr>
              <a:t>揭示共价键的形成本质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缺陷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  <a:r>
              <a:rPr lang="zh-CN" altLang="en-US" sz="2500" b="1" dirty="0">
                <a:ea typeface="楷体_GB2312" pitchFamily="49" charset="-122"/>
              </a:rPr>
              <a:t>空间结构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  <a:endParaRPr lang="zh-CN" altLang="en-US" sz="2500" dirty="0">
              <a:ea typeface="楷体_GB2312" pitchFamily="49" charset="-122"/>
            </a:endParaRPr>
          </a:p>
        </p:txBody>
      </p:sp>
      <p:grpSp>
        <p:nvGrpSpPr>
          <p:cNvPr id="3" name="组合 5"/>
          <p:cNvGrpSpPr>
            <a:grpSpLocks/>
          </p:cNvGrpSpPr>
          <p:nvPr/>
        </p:nvGrpSpPr>
        <p:grpSpPr bwMode="auto">
          <a:xfrm>
            <a:off x="2128838" y="2293938"/>
            <a:ext cx="2311400" cy="1408112"/>
            <a:chOff x="1090216" y="2480945"/>
            <a:chExt cx="2311400" cy="1408945"/>
          </a:xfrm>
        </p:grpSpPr>
        <p:grpSp>
          <p:nvGrpSpPr>
            <p:cNvPr id="14371" name="Group 14"/>
            <p:cNvGrpSpPr>
              <a:grpSpLocks/>
            </p:cNvGrpSpPr>
            <p:nvPr/>
          </p:nvGrpSpPr>
          <p:grpSpPr bwMode="auto">
            <a:xfrm>
              <a:off x="1090216" y="2480945"/>
              <a:ext cx="2311400" cy="990600"/>
              <a:chOff x="128" y="768"/>
              <a:chExt cx="1456" cy="624"/>
            </a:xfrm>
          </p:grpSpPr>
          <p:sp>
            <p:nvSpPr>
              <p:cNvPr id="14374" name="Oval 15"/>
              <p:cNvSpPr>
                <a:spLocks noChangeArrowheads="1"/>
              </p:cNvSpPr>
              <p:nvPr/>
            </p:nvSpPr>
            <p:spPr bwMode="auto">
              <a:xfrm>
                <a:off x="128" y="1008"/>
                <a:ext cx="384" cy="37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endParaRPr lang="zh-CN" altLang="en-US" sz="2500">
                  <a:ea typeface="华文楷体" pitchFamily="2" charset="-122"/>
                  <a:cs typeface="楷体_GB2312" pitchFamily="49" charset="-122"/>
                </a:endParaRPr>
              </a:p>
            </p:txBody>
          </p:sp>
          <p:sp>
            <p:nvSpPr>
              <p:cNvPr id="14375" name="Oval 16"/>
              <p:cNvSpPr>
                <a:spLocks noChangeArrowheads="1"/>
              </p:cNvSpPr>
              <p:nvPr/>
            </p:nvSpPr>
            <p:spPr bwMode="auto">
              <a:xfrm>
                <a:off x="1200" y="768"/>
                <a:ext cx="384" cy="37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endParaRPr lang="zh-CN" altLang="en-US" sz="2500">
                  <a:ea typeface="华文楷体" pitchFamily="2" charset="-122"/>
                  <a:cs typeface="楷体_GB2312" pitchFamily="49" charset="-122"/>
                </a:endParaRPr>
              </a:p>
            </p:txBody>
          </p:sp>
          <p:sp>
            <p:nvSpPr>
              <p:cNvPr id="14376" name="Oval 17"/>
              <p:cNvSpPr>
                <a:spLocks noChangeArrowheads="1"/>
              </p:cNvSpPr>
              <p:nvPr/>
            </p:nvSpPr>
            <p:spPr bwMode="auto">
              <a:xfrm>
                <a:off x="816" y="768"/>
                <a:ext cx="384" cy="37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endParaRPr lang="zh-CN" altLang="en-US" sz="2500">
                  <a:ea typeface="华文楷体" pitchFamily="2" charset="-122"/>
                  <a:cs typeface="楷体_GB2312" pitchFamily="49" charset="-122"/>
                </a:endParaRPr>
              </a:p>
            </p:txBody>
          </p:sp>
          <p:sp>
            <p:nvSpPr>
              <p:cNvPr id="14377" name="Oval 18"/>
              <p:cNvSpPr>
                <a:spLocks noChangeArrowheads="1"/>
              </p:cNvSpPr>
              <p:nvPr/>
            </p:nvSpPr>
            <p:spPr bwMode="auto">
              <a:xfrm>
                <a:off x="432" y="768"/>
                <a:ext cx="384" cy="37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endParaRPr lang="zh-CN" altLang="en-US" sz="2500">
                  <a:ea typeface="华文楷体" pitchFamily="2" charset="-122"/>
                  <a:cs typeface="楷体_GB2312" pitchFamily="49" charset="-122"/>
                </a:endParaRPr>
              </a:p>
            </p:txBody>
          </p:sp>
          <p:sp>
            <p:nvSpPr>
              <p:cNvPr id="14378" name="Line 19"/>
              <p:cNvSpPr>
                <a:spLocks noChangeShapeType="1"/>
              </p:cNvSpPr>
              <p:nvPr/>
            </p:nvSpPr>
            <p:spPr bwMode="auto">
              <a:xfrm flipV="1">
                <a:off x="272" y="1083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79" name="Line 21"/>
              <p:cNvSpPr>
                <a:spLocks noChangeShapeType="1"/>
              </p:cNvSpPr>
              <p:nvPr/>
            </p:nvSpPr>
            <p:spPr bwMode="auto">
              <a:xfrm flipV="1">
                <a:off x="972" y="834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80" name="Line 22"/>
              <p:cNvSpPr>
                <a:spLocks noChangeShapeType="1"/>
              </p:cNvSpPr>
              <p:nvPr/>
            </p:nvSpPr>
            <p:spPr bwMode="auto">
              <a:xfrm flipV="1">
                <a:off x="588" y="834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372" name="Rectangle 40"/>
            <p:cNvSpPr>
              <a:spLocks noChangeArrowheads="1"/>
            </p:cNvSpPr>
            <p:nvPr/>
          </p:nvSpPr>
          <p:spPr bwMode="auto">
            <a:xfrm>
              <a:off x="1191816" y="3412288"/>
              <a:ext cx="470001" cy="4776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500" b="1">
                  <a:solidFill>
                    <a:srgbClr val="FF0000"/>
                  </a:solidFill>
                  <a:ea typeface="华文楷体" pitchFamily="2" charset="-122"/>
                  <a:cs typeface="楷体_GB2312" pitchFamily="49" charset="-122"/>
                </a:rPr>
                <a:t>2s</a:t>
              </a:r>
            </a:p>
          </p:txBody>
        </p:sp>
        <p:sp>
          <p:nvSpPr>
            <p:cNvPr id="14373" name="Rectangle 42"/>
            <p:cNvSpPr>
              <a:spLocks noChangeArrowheads="1"/>
            </p:cNvSpPr>
            <p:nvPr/>
          </p:nvSpPr>
          <p:spPr bwMode="auto">
            <a:xfrm>
              <a:off x="2255441" y="3022903"/>
              <a:ext cx="522900" cy="4776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500" b="1">
                  <a:solidFill>
                    <a:srgbClr val="FF0000"/>
                  </a:solidFill>
                  <a:ea typeface="华文楷体" pitchFamily="2" charset="-122"/>
                  <a:cs typeface="楷体_GB2312" pitchFamily="49" charset="-122"/>
                </a:rPr>
                <a:t>2p</a:t>
              </a:r>
            </a:p>
          </p:txBody>
        </p:sp>
      </p:grpSp>
      <p:sp>
        <p:nvSpPr>
          <p:cNvPr id="17" name="Rectangle 44"/>
          <p:cNvSpPr>
            <a:spLocks noChangeArrowheads="1"/>
          </p:cNvSpPr>
          <p:nvPr/>
        </p:nvSpPr>
        <p:spPr bwMode="auto">
          <a:xfrm>
            <a:off x="1885950" y="1547813"/>
            <a:ext cx="73628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例如</a:t>
            </a:r>
            <a:r>
              <a:rPr lang="en-US" altLang="zh-CN" sz="2500" b="1">
                <a:ea typeface="楷体_GB2312" pitchFamily="49" charset="-122"/>
              </a:rPr>
              <a:t>:</a:t>
            </a:r>
            <a:r>
              <a:rPr lang="zh-CN" altLang="en-US" sz="2500" b="1">
                <a:ea typeface="楷体_GB2312" pitchFamily="49" charset="-122"/>
              </a:rPr>
              <a:t>碳原子</a:t>
            </a:r>
            <a:r>
              <a:rPr lang="en-US" altLang="zh-CN" sz="2500" b="1">
                <a:ea typeface="楷体_GB2312" pitchFamily="49" charset="-122"/>
                <a:cs typeface="Times New Roman" pitchFamily="18" charset="0"/>
              </a:rPr>
              <a:t>C</a:t>
            </a:r>
            <a:r>
              <a:rPr lang="zh-CN" altLang="en-US" sz="2500" b="1">
                <a:ea typeface="楷体_GB2312" pitchFamily="49" charset="-122"/>
              </a:rPr>
              <a:t>的核外电子排布：</a:t>
            </a:r>
            <a:r>
              <a:rPr lang="en-US" altLang="zh-CN" sz="2500" b="1">
                <a:ea typeface="楷体_GB2312" pitchFamily="49" charset="-122"/>
              </a:rPr>
              <a:t>[He]2s</a:t>
            </a:r>
            <a:r>
              <a:rPr lang="en-US" altLang="zh-CN" sz="2500" b="1" baseline="30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2p</a:t>
            </a:r>
            <a:r>
              <a:rPr lang="en-US" altLang="zh-CN" sz="2500" b="1" baseline="30000">
                <a:ea typeface="楷体_GB2312" pitchFamily="49" charset="-122"/>
              </a:rPr>
              <a:t>2</a:t>
            </a:r>
          </a:p>
        </p:txBody>
      </p:sp>
      <p:sp>
        <p:nvSpPr>
          <p:cNvPr id="18" name="Line 20"/>
          <p:cNvSpPr>
            <a:spLocks noChangeShapeType="1"/>
          </p:cNvSpPr>
          <p:nvPr/>
        </p:nvSpPr>
        <p:spPr bwMode="auto">
          <a:xfrm>
            <a:off x="2960688" y="4841875"/>
            <a:ext cx="0" cy="360363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>
            <a:off x="3568700" y="4830763"/>
            <a:ext cx="0" cy="3603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文本框 19"/>
          <p:cNvSpPr txBox="1">
            <a:spLocks noChangeArrowheads="1"/>
          </p:cNvSpPr>
          <p:nvPr/>
        </p:nvSpPr>
        <p:spPr bwMode="auto">
          <a:xfrm>
            <a:off x="5638800" y="2717800"/>
            <a:ext cx="4349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0000"/>
                </a:solidFill>
                <a:ea typeface="华文楷体" pitchFamily="2" charset="-122"/>
              </a:rPr>
              <a:t>H</a:t>
            </a:r>
            <a:endParaRPr lang="zh-CN" altLang="en-US" sz="2500" b="1">
              <a:solidFill>
                <a:srgbClr val="FF0000"/>
              </a:solidFill>
              <a:ea typeface="华文楷体" pitchFamily="2" charset="-122"/>
            </a:endParaRPr>
          </a:p>
        </p:txBody>
      </p: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4937125" y="2079625"/>
            <a:ext cx="4349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0000"/>
                </a:solidFill>
                <a:ea typeface="华文楷体" pitchFamily="2" charset="-122"/>
              </a:rPr>
              <a:t>H</a:t>
            </a:r>
            <a:endParaRPr lang="zh-CN" altLang="en-US" sz="2500" b="1">
              <a:solidFill>
                <a:srgbClr val="FF0000"/>
              </a:solidFill>
              <a:ea typeface="华文楷体" pitchFamily="2" charset="-122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4905375" y="3151188"/>
            <a:ext cx="38576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最简单的</a:t>
            </a:r>
            <a:r>
              <a:rPr lang="en-US" altLang="zh-CN" sz="2500" b="1">
                <a:ea typeface="楷体_GB2312" pitchFamily="49" charset="-122"/>
                <a:cs typeface="Times New Roman" pitchFamily="18" charset="0"/>
              </a:rPr>
              <a:t>CH</a:t>
            </a:r>
            <a:r>
              <a:rPr lang="zh-CN" altLang="en-US" sz="2500" b="1">
                <a:ea typeface="楷体_GB2312" pitchFamily="49" charset="-122"/>
              </a:rPr>
              <a:t>化合物</a:t>
            </a:r>
            <a:r>
              <a:rPr lang="en-US" altLang="zh-CN" sz="2500" b="1">
                <a:ea typeface="楷体_GB2312" pitchFamily="49" charset="-122"/>
              </a:rPr>
              <a:t>: CH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?</a:t>
            </a:r>
            <a:endParaRPr lang="zh-CN" altLang="en-US" sz="2500" b="1">
              <a:ea typeface="楷体_GB2312" pitchFamily="49" charset="-122"/>
            </a:endParaRPr>
          </a:p>
        </p:txBody>
      </p: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3249613" y="3867150"/>
            <a:ext cx="3302000" cy="1812925"/>
            <a:chOff x="362" y="-99"/>
            <a:chExt cx="2080" cy="1142"/>
          </a:xfrm>
        </p:grpSpPr>
        <p:grpSp>
          <p:nvGrpSpPr>
            <p:cNvPr id="14359" name="Group 43"/>
            <p:cNvGrpSpPr>
              <a:grpSpLocks/>
            </p:cNvGrpSpPr>
            <p:nvPr/>
          </p:nvGrpSpPr>
          <p:grpSpPr bwMode="auto">
            <a:xfrm>
              <a:off x="362" y="0"/>
              <a:ext cx="908" cy="1043"/>
              <a:chOff x="0" y="0"/>
              <a:chExt cx="908" cy="1043"/>
            </a:xfrm>
          </p:grpSpPr>
          <p:sp>
            <p:nvSpPr>
              <p:cNvPr id="14361" name="Line 44"/>
              <p:cNvSpPr>
                <a:spLocks noChangeShapeType="1"/>
              </p:cNvSpPr>
              <p:nvPr/>
            </p:nvSpPr>
            <p:spPr bwMode="auto">
              <a:xfrm flipH="1" flipV="1">
                <a:off x="589" y="589"/>
                <a:ext cx="181" cy="4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4362" name="Group 45"/>
              <p:cNvGrpSpPr>
                <a:grpSpLocks/>
              </p:cNvGrpSpPr>
              <p:nvPr/>
            </p:nvGrpSpPr>
            <p:grpSpPr bwMode="auto">
              <a:xfrm>
                <a:off x="0" y="0"/>
                <a:ext cx="908" cy="1043"/>
                <a:chOff x="0" y="0"/>
                <a:chExt cx="908" cy="1043"/>
              </a:xfrm>
            </p:grpSpPr>
            <p:sp>
              <p:nvSpPr>
                <p:cNvPr id="14363" name="Line 46"/>
                <p:cNvSpPr>
                  <a:spLocks noChangeShapeType="1"/>
                </p:cNvSpPr>
                <p:nvPr/>
              </p:nvSpPr>
              <p:spPr bwMode="auto">
                <a:xfrm>
                  <a:off x="454" y="181"/>
                  <a:ext cx="0" cy="273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4" name="Oval 47"/>
                <p:cNvSpPr>
                  <a:spLocks noChangeArrowheads="1"/>
                </p:cNvSpPr>
                <p:nvPr/>
              </p:nvSpPr>
              <p:spPr bwMode="auto">
                <a:xfrm>
                  <a:off x="363" y="0"/>
                  <a:ext cx="182" cy="18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500" b="1">
                    <a:ea typeface="华文楷体" pitchFamily="2" charset="-122"/>
                  </a:endParaRPr>
                </a:p>
              </p:txBody>
            </p:sp>
            <p:sp>
              <p:nvSpPr>
                <p:cNvPr id="14365" name="Oval 48"/>
                <p:cNvSpPr>
                  <a:spLocks noChangeArrowheads="1"/>
                </p:cNvSpPr>
                <p:nvPr/>
              </p:nvSpPr>
              <p:spPr bwMode="auto">
                <a:xfrm>
                  <a:off x="726" y="862"/>
                  <a:ext cx="181" cy="18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500" b="1">
                    <a:ea typeface="华文楷体" pitchFamily="2" charset="-122"/>
                  </a:endParaRPr>
                </a:p>
              </p:txBody>
            </p:sp>
            <p:sp>
              <p:nvSpPr>
                <p:cNvPr id="14366" name="Oval 49"/>
                <p:cNvSpPr>
                  <a:spLocks noChangeArrowheads="1"/>
                </p:cNvSpPr>
                <p:nvPr/>
              </p:nvSpPr>
              <p:spPr bwMode="auto">
                <a:xfrm>
                  <a:off x="317" y="454"/>
                  <a:ext cx="273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rgbClr val="FF6600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FF66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r>
                    <a:rPr lang="en-US" altLang="zh-CN" sz="2500" b="1">
                      <a:solidFill>
                        <a:schemeClr val="bg2"/>
                      </a:solidFill>
                      <a:ea typeface="华文楷体" pitchFamily="2" charset="-122"/>
                    </a:rPr>
                    <a:t>C</a:t>
                  </a:r>
                  <a:endParaRPr lang="zh-CN" altLang="en-US" sz="2500" b="1">
                    <a:solidFill>
                      <a:schemeClr val="bg2"/>
                    </a:solidFill>
                    <a:ea typeface="华文楷体" pitchFamily="2" charset="-122"/>
                  </a:endParaRPr>
                </a:p>
              </p:txBody>
            </p:sp>
            <p:sp>
              <p:nvSpPr>
                <p:cNvPr id="14367" name="Oval 50"/>
                <p:cNvSpPr>
                  <a:spLocks noChangeArrowheads="1"/>
                </p:cNvSpPr>
                <p:nvPr/>
              </p:nvSpPr>
              <p:spPr bwMode="auto">
                <a:xfrm>
                  <a:off x="0" y="771"/>
                  <a:ext cx="182" cy="18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500" b="1">
                    <a:ea typeface="华文楷体" pitchFamily="2" charset="-122"/>
                  </a:endParaRPr>
                </a:p>
              </p:txBody>
            </p:sp>
            <p:sp>
              <p:nvSpPr>
                <p:cNvPr id="14368" name="Oval 51"/>
                <p:cNvSpPr>
                  <a:spLocks noChangeArrowheads="1"/>
                </p:cNvSpPr>
                <p:nvPr/>
              </p:nvSpPr>
              <p:spPr bwMode="auto">
                <a:xfrm>
                  <a:off x="726" y="544"/>
                  <a:ext cx="182" cy="18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500" b="1">
                    <a:ea typeface="华文楷体" pitchFamily="2" charset="-122"/>
                  </a:endParaRPr>
                </a:p>
              </p:txBody>
            </p:sp>
            <p:sp>
              <p:nvSpPr>
                <p:cNvPr id="14369" name="Line 52"/>
                <p:cNvSpPr>
                  <a:spLocks noChangeShapeType="1"/>
                </p:cNvSpPr>
                <p:nvPr/>
              </p:nvSpPr>
              <p:spPr bwMode="auto">
                <a:xfrm flipH="1">
                  <a:off x="136" y="680"/>
                  <a:ext cx="227" cy="13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70" name="Line 53"/>
                <p:cNvSpPr>
                  <a:spLocks noChangeShapeType="1"/>
                </p:cNvSpPr>
                <p:nvPr/>
              </p:nvSpPr>
              <p:spPr bwMode="auto">
                <a:xfrm>
                  <a:off x="544" y="680"/>
                  <a:ext cx="227" cy="227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4360" name="Text Box 54"/>
            <p:cNvSpPr txBox="1">
              <a:spLocks noChangeArrowheads="1"/>
            </p:cNvSpPr>
            <p:nvPr/>
          </p:nvSpPr>
          <p:spPr bwMode="auto">
            <a:xfrm>
              <a:off x="1407" y="-99"/>
              <a:ext cx="1035" cy="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500" b="1" dirty="0">
                  <a:ea typeface="华文楷体" pitchFamily="2" charset="-122"/>
                </a:rPr>
                <a:t>CH</a:t>
              </a:r>
              <a:r>
                <a:rPr lang="zh-CN" altLang="zh-CN" sz="2500" b="1" baseline="-25000" dirty="0">
                  <a:ea typeface="华文楷体" pitchFamily="2" charset="-122"/>
                </a:rPr>
                <a:t>4</a:t>
              </a:r>
              <a:r>
                <a:rPr lang="zh-CN" altLang="zh-CN" sz="2500" b="1" dirty="0">
                  <a:ea typeface="楷体_GB2312" pitchFamily="49" charset="-122"/>
                </a:rPr>
                <a:t>分子</a:t>
              </a:r>
            </a:p>
          </p:txBody>
        </p:sp>
      </p:grpSp>
      <p:grpSp>
        <p:nvGrpSpPr>
          <p:cNvPr id="8" name="组合 35"/>
          <p:cNvGrpSpPr>
            <a:grpSpLocks/>
          </p:cNvGrpSpPr>
          <p:nvPr/>
        </p:nvGrpSpPr>
        <p:grpSpPr bwMode="auto">
          <a:xfrm>
            <a:off x="4945063" y="2381250"/>
            <a:ext cx="936625" cy="814388"/>
            <a:chOff x="5485139" y="2362653"/>
            <a:chExt cx="936296" cy="812126"/>
          </a:xfrm>
        </p:grpSpPr>
        <p:grpSp>
          <p:nvGrpSpPr>
            <p:cNvPr id="14354" name="组合 6"/>
            <p:cNvGrpSpPr>
              <a:grpSpLocks/>
            </p:cNvGrpSpPr>
            <p:nvPr/>
          </p:nvGrpSpPr>
          <p:grpSpPr bwMode="auto">
            <a:xfrm>
              <a:off x="5485139" y="2486252"/>
              <a:ext cx="662958" cy="688527"/>
              <a:chOff x="5485443" y="2485770"/>
              <a:chExt cx="662790" cy="688391"/>
            </a:xfrm>
          </p:grpSpPr>
          <p:sp>
            <p:nvSpPr>
              <p:cNvPr id="14356" name="文本框 2"/>
              <p:cNvSpPr txBox="1">
                <a:spLocks noChangeArrowheads="1"/>
              </p:cNvSpPr>
              <p:nvPr/>
            </p:nvSpPr>
            <p:spPr bwMode="auto">
              <a:xfrm>
                <a:off x="5485443" y="2698067"/>
                <a:ext cx="415007" cy="4760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500" b="1">
                    <a:ea typeface="华文楷体" pitchFamily="2" charset="-122"/>
                  </a:rPr>
                  <a:t>C</a:t>
                </a:r>
                <a:endParaRPr lang="zh-CN" altLang="en-US" sz="2500" b="1">
                  <a:ea typeface="华文楷体" pitchFamily="2" charset="-122"/>
                </a:endParaRPr>
              </a:p>
            </p:txBody>
          </p:sp>
          <p:cxnSp>
            <p:nvCxnSpPr>
              <p:cNvPr id="14357" name="直接连接符 58"/>
              <p:cNvCxnSpPr>
                <a:cxnSpLocks noChangeShapeType="1"/>
              </p:cNvCxnSpPr>
              <p:nvPr/>
            </p:nvCxnSpPr>
            <p:spPr bwMode="auto">
              <a:xfrm rot="5400000">
                <a:off x="5538681" y="2629150"/>
                <a:ext cx="286759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4358" name="直接连接符 62"/>
              <p:cNvCxnSpPr>
                <a:cxnSpLocks noChangeShapeType="1"/>
              </p:cNvCxnSpPr>
              <p:nvPr/>
            </p:nvCxnSpPr>
            <p:spPr bwMode="auto">
              <a:xfrm flipV="1">
                <a:off x="5861236" y="2949971"/>
                <a:ext cx="286997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14355" name="文本框 45"/>
            <p:cNvSpPr txBox="1">
              <a:spLocks noChangeArrowheads="1"/>
            </p:cNvSpPr>
            <p:nvPr/>
          </p:nvSpPr>
          <p:spPr bwMode="auto">
            <a:xfrm>
              <a:off x="5742073" y="2362653"/>
              <a:ext cx="679362" cy="4761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l-GR" altLang="zh-CN" sz="2500" b="1">
                  <a:solidFill>
                    <a:srgbClr val="FF0000"/>
                  </a:solidFill>
                  <a:ea typeface="华文楷体" pitchFamily="2" charset="-122"/>
                </a:rPr>
                <a:t>σ</a:t>
              </a:r>
              <a:r>
                <a:rPr lang="zh-CN" altLang="en-US" sz="2500" b="1">
                  <a:solidFill>
                    <a:srgbClr val="FF0000"/>
                  </a:solidFill>
                  <a:ea typeface="华文楷体" pitchFamily="2" charset="-122"/>
                </a:rPr>
                <a:t>键</a:t>
              </a:r>
            </a:p>
          </p:txBody>
        </p:sp>
      </p:grpSp>
      <p:sp>
        <p:nvSpPr>
          <p:cNvPr id="44" name="文本框 43"/>
          <p:cNvSpPr txBox="1">
            <a:spLocks noChangeArrowheads="1"/>
          </p:cNvSpPr>
          <p:nvPr/>
        </p:nvSpPr>
        <p:spPr bwMode="auto">
          <a:xfrm>
            <a:off x="6224588" y="2705100"/>
            <a:ext cx="3438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0000"/>
                </a:solidFill>
                <a:ea typeface="华文楷体" pitchFamily="2" charset="-122"/>
              </a:rPr>
              <a:t>2</a:t>
            </a: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个</a:t>
            </a:r>
            <a:r>
              <a:rPr lang="zh-CN" altLang="en-US" sz="2500" b="1">
                <a:ea typeface="华文楷体" pitchFamily="2" charset="-122"/>
              </a:rPr>
              <a:t> </a:t>
            </a:r>
            <a:r>
              <a:rPr lang="en-US" altLang="zh-CN" sz="2500" b="1">
                <a:ea typeface="华文楷体" pitchFamily="2" charset="-122"/>
              </a:rPr>
              <a:t>C-H </a:t>
            </a:r>
            <a:r>
              <a:rPr lang="el-GR" altLang="zh-CN" sz="2500" b="1">
                <a:ea typeface="华文楷体" pitchFamily="2" charset="-122"/>
              </a:rPr>
              <a:t>σ</a:t>
            </a:r>
            <a:r>
              <a:rPr lang="en-US" altLang="zh-CN" sz="2500" b="1">
                <a:ea typeface="华文楷体" pitchFamily="2" charset="-122"/>
              </a:rPr>
              <a:t> </a:t>
            </a:r>
            <a:r>
              <a:rPr lang="zh-CN" altLang="en-US" sz="2500" b="1">
                <a:ea typeface="楷体_GB2312" pitchFamily="49" charset="-122"/>
              </a:rPr>
              <a:t>键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键角</a:t>
            </a:r>
            <a:r>
              <a:rPr lang="en-US" altLang="zh-CN" sz="2500" b="1">
                <a:ea typeface="华文楷体" pitchFamily="2" charset="-122"/>
              </a:rPr>
              <a:t>90°</a:t>
            </a:r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45" name="Line 20"/>
          <p:cNvSpPr>
            <a:spLocks noChangeShapeType="1"/>
          </p:cNvSpPr>
          <p:nvPr/>
        </p:nvSpPr>
        <p:spPr bwMode="auto">
          <a:xfrm>
            <a:off x="2471738" y="2819400"/>
            <a:ext cx="0" cy="381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Text Box 54"/>
          <p:cNvSpPr txBox="1">
            <a:spLocks noChangeArrowheads="1"/>
          </p:cNvSpPr>
          <p:nvPr/>
        </p:nvSpPr>
        <p:spPr bwMode="auto">
          <a:xfrm>
            <a:off x="4903788" y="4311650"/>
            <a:ext cx="3857625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solidFill>
                  <a:srgbClr val="FF0000"/>
                </a:solidFill>
                <a:ea typeface="华文楷体" pitchFamily="2" charset="-122"/>
              </a:rPr>
              <a:t>4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个</a:t>
            </a:r>
            <a:r>
              <a:rPr lang="zh-CN" altLang="en-US" sz="2500" b="1" dirty="0">
                <a:solidFill>
                  <a:srgbClr val="FFFF00"/>
                </a:solidFill>
                <a:ea typeface="华文楷体" pitchFamily="2" charset="-122"/>
              </a:rPr>
              <a:t> </a:t>
            </a:r>
            <a:r>
              <a:rPr lang="el-GR" altLang="zh-CN" sz="2500" b="1" dirty="0">
                <a:ea typeface="华文楷体" pitchFamily="2" charset="-122"/>
              </a:rPr>
              <a:t>σ</a:t>
            </a:r>
            <a:r>
              <a:rPr lang="en-US" altLang="zh-CN" sz="2500" b="1" dirty="0">
                <a:ea typeface="华文楷体" pitchFamily="2" charset="-122"/>
              </a:rPr>
              <a:t>  </a:t>
            </a:r>
            <a:r>
              <a:rPr lang="zh-CN" altLang="en-US" sz="2500" b="1" dirty="0">
                <a:ea typeface="楷体_GB2312" pitchFamily="49" charset="-122"/>
              </a:rPr>
              <a:t>键</a:t>
            </a:r>
            <a:r>
              <a:rPr lang="zh-CN" altLang="en-US" sz="2500" b="1" dirty="0">
                <a:ea typeface="华文楷体" pitchFamily="2" charset="-122"/>
              </a:rPr>
              <a:t>，</a:t>
            </a:r>
            <a:r>
              <a:rPr lang="zh-CN" altLang="en-US" sz="2500" b="1" dirty="0">
                <a:ea typeface="楷体_GB2312" pitchFamily="49" charset="-122"/>
              </a:rPr>
              <a:t>正四面体</a:t>
            </a:r>
            <a:endParaRPr lang="en-US" altLang="zh-CN" sz="2500" b="1" dirty="0">
              <a:ea typeface="楷体_GB2312" pitchFamily="49" charset="-122"/>
            </a:endParaRPr>
          </a:p>
          <a:p>
            <a:r>
              <a:rPr lang="en-US" altLang="zh-CN" sz="2500" b="1" dirty="0">
                <a:ea typeface="华文楷体" pitchFamily="2" charset="-122"/>
              </a:rPr>
              <a:t>HCH</a:t>
            </a:r>
            <a:r>
              <a:rPr lang="zh-CN" altLang="en-US" sz="2500" b="1" dirty="0">
                <a:ea typeface="楷体_GB2312" pitchFamily="49" charset="-122"/>
              </a:rPr>
              <a:t>键角</a:t>
            </a:r>
            <a:r>
              <a:rPr lang="en-US" altLang="zh-CN" sz="2500" b="1" dirty="0">
                <a:ea typeface="华文楷体" pitchFamily="2" charset="-122"/>
              </a:rPr>
              <a:t>:109.5°</a:t>
            </a:r>
            <a:endParaRPr lang="zh-CN" altLang="zh-CN" sz="2500" b="1" dirty="0">
              <a:ea typeface="华文楷体" pitchFamily="2" charset="-122"/>
            </a:endParaRPr>
          </a:p>
        </p:txBody>
      </p:sp>
      <p:sp>
        <p:nvSpPr>
          <p:cNvPr id="14353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335756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8.1.1</a:t>
            </a:r>
            <a:r>
              <a:rPr kumimoji="1" lang="zh-CN" altLang="en-US" sz="2200" b="1">
                <a:solidFill>
                  <a:srgbClr val="FF0000"/>
                </a:solidFill>
                <a:ea typeface="黑体" pitchFamily="49" charset="-122"/>
              </a:rPr>
              <a:t>价键理论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1292E-6 -4.30181E-6 L 0.00455 -0.37628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" y="-188"/>
                                    </p:animMotion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5497E-6 8.52523E-7 L 0.00441 -0.37359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" y="-187"/>
                                    </p:animMotion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7" grpId="0"/>
      <p:bldP spid="18" grpId="0" animBg="1"/>
      <p:bldP spid="18" grpId="1" animBg="1"/>
      <p:bldP spid="19" grpId="0" animBg="1"/>
      <p:bldP spid="19" grpId="1" animBg="1"/>
      <p:bldP spid="20" grpId="0"/>
      <p:bldP spid="21" grpId="0"/>
      <p:bldP spid="22" grpId="0"/>
      <p:bldP spid="44" grpId="0"/>
      <p:bldP spid="45" grpId="0" animBg="1"/>
      <p:bldP spid="4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3" name="Oval 6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4" name="矩形 1"/>
          <p:cNvSpPr>
            <a:spLocks noChangeArrowheads="1"/>
          </p:cNvSpPr>
          <p:nvPr/>
        </p:nvSpPr>
        <p:spPr bwMode="auto">
          <a:xfrm>
            <a:off x="1276350" y="906463"/>
            <a:ext cx="79200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现代价键理论</a:t>
            </a:r>
            <a:r>
              <a:rPr lang="en-US" altLang="zh-CN" sz="2500" b="1">
                <a:latin typeface="黑体" pitchFamily="49" charset="-122"/>
                <a:ea typeface="楷体_GB2312" pitchFamily="49" charset="-122"/>
              </a:rPr>
              <a:t>: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揭示共价键的形成本质</a:t>
            </a:r>
            <a:r>
              <a:rPr lang="en-US" altLang="zh-CN" sz="2500" b="1">
                <a:latin typeface="黑体" pitchFamily="49" charset="-122"/>
                <a:ea typeface="楷体_GB2312" pitchFamily="49" charset="-122"/>
              </a:rPr>
              <a:t>,</a:t>
            </a:r>
            <a:r>
              <a:rPr lang="zh-CN" altLang="en-US" sz="25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缺陷</a:t>
            </a:r>
            <a:r>
              <a:rPr lang="en-US" altLang="zh-CN" sz="2500" b="1">
                <a:latin typeface="黑体" pitchFamily="49" charset="-122"/>
                <a:ea typeface="楷体_GB2312" pitchFamily="49" charset="-122"/>
              </a:rPr>
              <a:t>: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空间结构</a:t>
            </a:r>
            <a:r>
              <a:rPr lang="en-US" altLang="zh-CN" sz="2500" b="1">
                <a:latin typeface="黑体" pitchFamily="49" charset="-122"/>
                <a:ea typeface="楷体_GB2312" pitchFamily="49" charset="-122"/>
              </a:rPr>
              <a:t>.</a:t>
            </a:r>
            <a:endParaRPr lang="zh-CN" altLang="en-US" sz="2500">
              <a:latin typeface="黑体" pitchFamily="49" charset="-122"/>
              <a:ea typeface="楷体_GB2312" pitchFamily="49" charset="-122"/>
            </a:endParaRPr>
          </a:p>
        </p:txBody>
      </p:sp>
      <p:grpSp>
        <p:nvGrpSpPr>
          <p:cNvPr id="15365" name="组合 5"/>
          <p:cNvGrpSpPr>
            <a:grpSpLocks/>
          </p:cNvGrpSpPr>
          <p:nvPr/>
        </p:nvGrpSpPr>
        <p:grpSpPr bwMode="auto">
          <a:xfrm>
            <a:off x="1519238" y="2278063"/>
            <a:ext cx="2311400" cy="1408112"/>
            <a:chOff x="1090216" y="2480945"/>
            <a:chExt cx="2311400" cy="1408945"/>
          </a:xfrm>
        </p:grpSpPr>
        <p:grpSp>
          <p:nvGrpSpPr>
            <p:cNvPr id="15405" name="Group 14"/>
            <p:cNvGrpSpPr>
              <a:grpSpLocks/>
            </p:cNvGrpSpPr>
            <p:nvPr/>
          </p:nvGrpSpPr>
          <p:grpSpPr bwMode="auto">
            <a:xfrm>
              <a:off x="1090216" y="2480945"/>
              <a:ext cx="2311400" cy="990600"/>
              <a:chOff x="128" y="768"/>
              <a:chExt cx="1456" cy="624"/>
            </a:xfrm>
          </p:grpSpPr>
          <p:sp>
            <p:nvSpPr>
              <p:cNvPr id="10" name="Oval 15"/>
              <p:cNvSpPr>
                <a:spLocks noChangeArrowheads="1"/>
              </p:cNvSpPr>
              <p:nvPr/>
            </p:nvSpPr>
            <p:spPr bwMode="auto">
              <a:xfrm>
                <a:off x="128" y="1008"/>
                <a:ext cx="384" cy="37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charset="2"/>
                  <a:buChar char="u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 charset="2"/>
                  <a:buChar char="u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endParaRPr lang="zh-CN" altLang="en-US" sz="2500" smtClean="0">
                  <a:latin typeface="+mn-lt"/>
                  <a:ea typeface="华文楷体" panose="02010600040101010101" pitchFamily="2" charset="-122"/>
                  <a:cs typeface="楷体_GB2312" charset="0"/>
                </a:endParaRPr>
              </a:p>
            </p:txBody>
          </p:sp>
          <p:sp>
            <p:nvSpPr>
              <p:cNvPr id="11" name="Oval 16"/>
              <p:cNvSpPr>
                <a:spLocks noChangeArrowheads="1"/>
              </p:cNvSpPr>
              <p:nvPr/>
            </p:nvSpPr>
            <p:spPr bwMode="auto">
              <a:xfrm>
                <a:off x="1200" y="768"/>
                <a:ext cx="384" cy="37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charset="2"/>
                  <a:buChar char="u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 charset="2"/>
                  <a:buChar char="u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endParaRPr lang="zh-CN" altLang="en-US" sz="2500" smtClean="0">
                  <a:latin typeface="+mn-lt"/>
                  <a:ea typeface="华文楷体" panose="02010600040101010101" pitchFamily="2" charset="-122"/>
                  <a:cs typeface="楷体_GB2312" charset="0"/>
                </a:endParaRPr>
              </a:p>
            </p:txBody>
          </p:sp>
          <p:sp>
            <p:nvSpPr>
              <p:cNvPr id="12" name="Oval 17"/>
              <p:cNvSpPr>
                <a:spLocks noChangeArrowheads="1"/>
              </p:cNvSpPr>
              <p:nvPr/>
            </p:nvSpPr>
            <p:spPr bwMode="auto">
              <a:xfrm>
                <a:off x="816" y="768"/>
                <a:ext cx="384" cy="37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charset="2"/>
                  <a:buChar char="u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 charset="2"/>
                  <a:buChar char="u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endParaRPr lang="zh-CN" altLang="en-US" sz="2500" smtClean="0">
                  <a:latin typeface="+mn-lt"/>
                  <a:ea typeface="华文楷体" panose="02010600040101010101" pitchFamily="2" charset="-122"/>
                  <a:cs typeface="楷体_GB2312" charset="0"/>
                </a:endParaRPr>
              </a:p>
            </p:txBody>
          </p:sp>
          <p:sp>
            <p:nvSpPr>
              <p:cNvPr id="13" name="Oval 18"/>
              <p:cNvSpPr>
                <a:spLocks noChangeArrowheads="1"/>
              </p:cNvSpPr>
              <p:nvPr/>
            </p:nvSpPr>
            <p:spPr bwMode="auto">
              <a:xfrm>
                <a:off x="432" y="768"/>
                <a:ext cx="384" cy="37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charset="2"/>
                  <a:buChar char="u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 charset="2"/>
                  <a:buChar char="u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endParaRPr lang="zh-CN" altLang="en-US" sz="2500" smtClean="0">
                  <a:latin typeface="+mn-lt"/>
                  <a:ea typeface="华文楷体" panose="02010600040101010101" pitchFamily="2" charset="-122"/>
                  <a:cs typeface="楷体_GB2312" charset="0"/>
                </a:endParaRPr>
              </a:p>
            </p:txBody>
          </p:sp>
          <p:sp>
            <p:nvSpPr>
              <p:cNvPr id="14" name="Line 19"/>
              <p:cNvSpPr>
                <a:spLocks noChangeShapeType="1"/>
              </p:cNvSpPr>
              <p:nvPr/>
            </p:nvSpPr>
            <p:spPr bwMode="auto">
              <a:xfrm flipV="1">
                <a:off x="272" y="1083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/>
                <a:ext uri="{AF507438-7753-43E0-B8FC-AC1667EBCBE1}"/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500">
                  <a:latin typeface="+mn-lt"/>
                  <a:ea typeface="华文楷体" panose="02010600040101010101" pitchFamily="2" charset="-122"/>
                  <a:cs typeface="楷体_GB2312" charset="0"/>
                </a:endParaRPr>
              </a:p>
            </p:txBody>
          </p:sp>
          <p:sp>
            <p:nvSpPr>
              <p:cNvPr id="15" name="Line 21"/>
              <p:cNvSpPr>
                <a:spLocks noChangeShapeType="1"/>
              </p:cNvSpPr>
              <p:nvPr/>
            </p:nvSpPr>
            <p:spPr bwMode="auto">
              <a:xfrm flipV="1">
                <a:off x="972" y="834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/>
                <a:ext uri="{AF507438-7753-43E0-B8FC-AC1667EBCBE1}"/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500">
                  <a:latin typeface="+mn-lt"/>
                  <a:ea typeface="华文楷体" panose="02010600040101010101" pitchFamily="2" charset="-122"/>
                  <a:cs typeface="楷体_GB2312" charset="0"/>
                </a:endParaRPr>
              </a:p>
            </p:txBody>
          </p:sp>
          <p:sp>
            <p:nvSpPr>
              <p:cNvPr id="16" name="Line 22"/>
              <p:cNvSpPr>
                <a:spLocks noChangeShapeType="1"/>
              </p:cNvSpPr>
              <p:nvPr/>
            </p:nvSpPr>
            <p:spPr bwMode="auto">
              <a:xfrm flipV="1">
                <a:off x="588" y="834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/>
                <a:ext uri="{AF507438-7753-43E0-B8FC-AC1667EBCBE1}"/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500">
                  <a:latin typeface="+mn-lt"/>
                  <a:ea typeface="华文楷体" panose="02010600040101010101" pitchFamily="2" charset="-122"/>
                  <a:cs typeface="楷体_GB2312" charset="0"/>
                </a:endParaRPr>
              </a:p>
            </p:txBody>
          </p:sp>
        </p:grpSp>
        <p:sp>
          <p:nvSpPr>
            <p:cNvPr id="8" name="Rectangle 40"/>
            <p:cNvSpPr>
              <a:spLocks noChangeArrowheads="1"/>
            </p:cNvSpPr>
            <p:nvPr/>
          </p:nvSpPr>
          <p:spPr bwMode="auto">
            <a:xfrm>
              <a:off x="1191816" y="3411770"/>
              <a:ext cx="469900" cy="478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2"/>
                <a:buChar char="u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charset="2"/>
                <a:buChar char="u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500" b="1" dirty="0" smtClean="0">
                  <a:solidFill>
                    <a:srgbClr val="FF0000"/>
                  </a:solidFill>
                  <a:latin typeface="+mn-lt"/>
                  <a:ea typeface="华文楷体" panose="02010600040101010101" pitchFamily="2" charset="-122"/>
                  <a:cs typeface="楷体_GB2312" charset="0"/>
                </a:rPr>
                <a:t>2s</a:t>
              </a:r>
            </a:p>
          </p:txBody>
        </p:sp>
        <p:sp>
          <p:nvSpPr>
            <p:cNvPr id="9" name="Rectangle 42"/>
            <p:cNvSpPr>
              <a:spLocks noChangeArrowheads="1"/>
            </p:cNvSpPr>
            <p:nvPr/>
          </p:nvSpPr>
          <p:spPr bwMode="auto">
            <a:xfrm>
              <a:off x="2255441" y="3022602"/>
              <a:ext cx="522287" cy="478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2"/>
                <a:buChar char="u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charset="2"/>
                <a:buChar char="u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500" b="1" smtClean="0">
                  <a:solidFill>
                    <a:srgbClr val="FF0000"/>
                  </a:solidFill>
                  <a:latin typeface="+mn-lt"/>
                  <a:ea typeface="华文楷体" panose="02010600040101010101" pitchFamily="2" charset="-122"/>
                  <a:cs typeface="楷体_GB2312" charset="0"/>
                </a:rPr>
                <a:t>2p</a:t>
              </a:r>
            </a:p>
          </p:txBody>
        </p:sp>
      </p:grpSp>
      <p:sp>
        <p:nvSpPr>
          <p:cNvPr id="15366" name="Rectangle 44"/>
          <p:cNvSpPr>
            <a:spLocks noChangeArrowheads="1"/>
          </p:cNvSpPr>
          <p:nvPr/>
        </p:nvSpPr>
        <p:spPr bwMode="auto">
          <a:xfrm>
            <a:off x="1276350" y="1531938"/>
            <a:ext cx="73628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5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例如：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碳原子</a:t>
            </a:r>
            <a:r>
              <a:rPr lang="en-US" altLang="zh-CN" sz="2500" b="1">
                <a:ea typeface="楷体_GB2312" pitchFamily="49" charset="-122"/>
                <a:cs typeface="Times New Roman" pitchFamily="18" charset="0"/>
              </a:rPr>
              <a:t>C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的核外电子排布：</a:t>
            </a:r>
            <a:r>
              <a:rPr lang="en-US" altLang="zh-CN" sz="2500" b="1">
                <a:ea typeface="楷体_GB2312" pitchFamily="49" charset="-122"/>
              </a:rPr>
              <a:t>[He]2s</a:t>
            </a:r>
            <a:r>
              <a:rPr lang="en-US" altLang="zh-CN" sz="2500" b="1" baseline="30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2p</a:t>
            </a:r>
            <a:r>
              <a:rPr lang="en-US" altLang="zh-CN" sz="2500" b="1" baseline="30000">
                <a:ea typeface="楷体_GB2312" pitchFamily="49" charset="-122"/>
              </a:rPr>
              <a:t>2</a:t>
            </a:r>
          </a:p>
        </p:txBody>
      </p:sp>
      <p:sp>
        <p:nvSpPr>
          <p:cNvPr id="45" name="Line 20"/>
          <p:cNvSpPr>
            <a:spLocks noChangeShapeType="1"/>
          </p:cNvSpPr>
          <p:nvPr/>
        </p:nvSpPr>
        <p:spPr bwMode="auto">
          <a:xfrm>
            <a:off x="1862138" y="2803525"/>
            <a:ext cx="0" cy="381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/>
            <a:ext uri="{AF507438-7753-43E0-B8FC-AC1667EBCBE1}"/>
          </a:extLst>
        </p:spPr>
        <p:txBody>
          <a:bodyPr wrap="none" anchor="ctr"/>
          <a:lstStyle/>
          <a:p>
            <a:pPr>
              <a:defRPr/>
            </a:pPr>
            <a:endParaRPr lang="zh-CN" altLang="en-US" sz="2500">
              <a:latin typeface="+mn-lt"/>
              <a:ea typeface="华文楷体" panose="02010600040101010101" pitchFamily="2" charset="-122"/>
              <a:cs typeface="楷体_GB2312" charset="0"/>
            </a:endParaRPr>
          </a:p>
        </p:txBody>
      </p:sp>
      <p:grpSp>
        <p:nvGrpSpPr>
          <p:cNvPr id="6" name="Group 14"/>
          <p:cNvGrpSpPr>
            <a:grpSpLocks/>
          </p:cNvGrpSpPr>
          <p:nvPr/>
        </p:nvGrpSpPr>
        <p:grpSpPr bwMode="auto">
          <a:xfrm>
            <a:off x="5303838" y="2279650"/>
            <a:ext cx="2311400" cy="989013"/>
            <a:chOff x="128" y="768"/>
            <a:chExt cx="1456" cy="624"/>
          </a:xfrm>
        </p:grpSpPr>
        <p:sp>
          <p:nvSpPr>
            <p:cNvPr id="23" name="Oval 15"/>
            <p:cNvSpPr>
              <a:spLocks noChangeArrowheads="1"/>
            </p:cNvSpPr>
            <p:nvPr/>
          </p:nvSpPr>
          <p:spPr bwMode="auto">
            <a:xfrm>
              <a:off x="128" y="1008"/>
              <a:ext cx="384" cy="38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2"/>
                <a:buChar char="u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charset="2"/>
                <a:buChar char="u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2500" smtClean="0">
                <a:latin typeface="+mn-lt"/>
                <a:ea typeface="华文楷体" panose="02010600040101010101" pitchFamily="2" charset="-122"/>
                <a:cs typeface="楷体_GB2312" charset="0"/>
              </a:endParaRPr>
            </a:p>
          </p:txBody>
        </p:sp>
        <p:sp>
          <p:nvSpPr>
            <p:cNvPr id="24" name="Oval 16"/>
            <p:cNvSpPr>
              <a:spLocks noChangeArrowheads="1"/>
            </p:cNvSpPr>
            <p:nvPr/>
          </p:nvSpPr>
          <p:spPr bwMode="auto">
            <a:xfrm>
              <a:off x="1200" y="768"/>
              <a:ext cx="384" cy="38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2"/>
                <a:buChar char="u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charset="2"/>
                <a:buChar char="u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2500" smtClean="0">
                <a:latin typeface="+mn-lt"/>
                <a:ea typeface="华文楷体" panose="02010600040101010101" pitchFamily="2" charset="-122"/>
                <a:cs typeface="楷体_GB2312" charset="0"/>
              </a:endParaRPr>
            </a:p>
          </p:txBody>
        </p:sp>
        <p:sp>
          <p:nvSpPr>
            <p:cNvPr id="25" name="Oval 17"/>
            <p:cNvSpPr>
              <a:spLocks noChangeArrowheads="1"/>
            </p:cNvSpPr>
            <p:nvPr/>
          </p:nvSpPr>
          <p:spPr bwMode="auto">
            <a:xfrm>
              <a:off x="816" y="768"/>
              <a:ext cx="384" cy="38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2"/>
                <a:buChar char="u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charset="2"/>
                <a:buChar char="u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2500" smtClean="0">
                <a:latin typeface="+mn-lt"/>
                <a:ea typeface="华文楷体" panose="02010600040101010101" pitchFamily="2" charset="-122"/>
                <a:cs typeface="楷体_GB2312" charset="0"/>
              </a:endParaRPr>
            </a:p>
          </p:txBody>
        </p:sp>
        <p:sp>
          <p:nvSpPr>
            <p:cNvPr id="26" name="Oval 18"/>
            <p:cNvSpPr>
              <a:spLocks noChangeArrowheads="1"/>
            </p:cNvSpPr>
            <p:nvPr/>
          </p:nvSpPr>
          <p:spPr bwMode="auto">
            <a:xfrm>
              <a:off x="432" y="768"/>
              <a:ext cx="384" cy="38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2"/>
                <a:buChar char="u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charset="2"/>
                <a:buChar char="u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2500" smtClean="0">
                <a:latin typeface="+mn-lt"/>
                <a:ea typeface="华文楷体" panose="02010600040101010101" pitchFamily="2" charset="-122"/>
                <a:cs typeface="楷体_GB2312" charset="0"/>
              </a:endParaRPr>
            </a:p>
          </p:txBody>
        </p:sp>
        <p:sp>
          <p:nvSpPr>
            <p:cNvPr id="27" name="Line 19"/>
            <p:cNvSpPr>
              <a:spLocks noChangeShapeType="1"/>
            </p:cNvSpPr>
            <p:nvPr/>
          </p:nvSpPr>
          <p:spPr bwMode="auto">
            <a:xfrm flipV="1">
              <a:off x="272" y="1087"/>
              <a:ext cx="0" cy="24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2500">
                <a:latin typeface="+mn-lt"/>
                <a:ea typeface="华文楷体" panose="02010600040101010101" pitchFamily="2" charset="-122"/>
                <a:cs typeface="楷体_GB2312" charset="0"/>
              </a:endParaRPr>
            </a:p>
          </p:txBody>
        </p:sp>
        <p:sp>
          <p:nvSpPr>
            <p:cNvPr id="28" name="Line 21"/>
            <p:cNvSpPr>
              <a:spLocks noChangeShapeType="1"/>
            </p:cNvSpPr>
            <p:nvPr/>
          </p:nvSpPr>
          <p:spPr bwMode="auto">
            <a:xfrm flipV="1">
              <a:off x="972" y="834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2500">
                <a:latin typeface="+mn-lt"/>
                <a:ea typeface="华文楷体" panose="02010600040101010101" pitchFamily="2" charset="-122"/>
                <a:cs typeface="楷体_GB2312" charset="0"/>
              </a:endParaRPr>
            </a:p>
          </p:txBody>
        </p:sp>
        <p:sp>
          <p:nvSpPr>
            <p:cNvPr id="29" name="Line 22"/>
            <p:cNvSpPr>
              <a:spLocks noChangeShapeType="1"/>
            </p:cNvSpPr>
            <p:nvPr/>
          </p:nvSpPr>
          <p:spPr bwMode="auto">
            <a:xfrm flipV="1">
              <a:off x="588" y="834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2500">
                <a:latin typeface="+mn-lt"/>
                <a:ea typeface="华文楷体" panose="02010600040101010101" pitchFamily="2" charset="-122"/>
                <a:cs typeface="楷体_GB2312" charset="0"/>
              </a:endParaRPr>
            </a:p>
          </p:txBody>
        </p:sp>
      </p:grpSp>
      <p:sp>
        <p:nvSpPr>
          <p:cNvPr id="30" name="Line 20"/>
          <p:cNvSpPr>
            <a:spLocks noChangeShapeType="1"/>
          </p:cNvSpPr>
          <p:nvPr/>
        </p:nvSpPr>
        <p:spPr bwMode="auto">
          <a:xfrm>
            <a:off x="5646738" y="2805113"/>
            <a:ext cx="0" cy="381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/>
            <a:ext uri="{AF507438-7753-43E0-B8FC-AC1667EBCBE1}"/>
          </a:extLst>
        </p:spPr>
        <p:txBody>
          <a:bodyPr wrap="none" anchor="ctr"/>
          <a:lstStyle/>
          <a:p>
            <a:pPr>
              <a:defRPr/>
            </a:pPr>
            <a:endParaRPr lang="zh-CN" altLang="en-US" sz="2500">
              <a:latin typeface="+mn-lt"/>
              <a:ea typeface="华文楷体" panose="02010600040101010101" pitchFamily="2" charset="-122"/>
              <a:cs typeface="楷体_GB2312" charset="0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4079875" y="2659063"/>
            <a:ext cx="108108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4192588" y="2173288"/>
            <a:ext cx="82867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激发</a:t>
            </a:r>
            <a:endParaRPr lang="zh-CN" altLang="en-US" sz="2500"/>
          </a:p>
        </p:txBody>
      </p:sp>
      <p:sp>
        <p:nvSpPr>
          <p:cNvPr id="34" name="矩形 33"/>
          <p:cNvSpPr>
            <a:spLocks noChangeArrowheads="1"/>
          </p:cNvSpPr>
          <p:nvPr/>
        </p:nvSpPr>
        <p:spPr bwMode="auto">
          <a:xfrm>
            <a:off x="7685088" y="2351088"/>
            <a:ext cx="124618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latin typeface="黑体" pitchFamily="49" charset="-122"/>
                <a:ea typeface="楷体_GB2312" pitchFamily="49" charset="-122"/>
              </a:rPr>
              <a:t>4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个</a:t>
            </a:r>
            <a:r>
              <a:rPr lang="el-GR" altLang="zh-CN" sz="2500" b="1">
                <a:ea typeface="华文楷体" pitchFamily="2" charset="-122"/>
              </a:rPr>
              <a:t>σ</a:t>
            </a:r>
            <a:r>
              <a:rPr lang="en-US" altLang="zh-CN" sz="2500" b="1">
                <a:ea typeface="华文楷体" pitchFamily="2" charset="-122"/>
              </a:rPr>
              <a:t> 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键</a:t>
            </a:r>
            <a:endParaRPr lang="zh-CN" altLang="en-US" sz="2500"/>
          </a:p>
        </p:txBody>
      </p: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7483475" y="2886075"/>
            <a:ext cx="17938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空间构型？</a:t>
            </a:r>
            <a:endParaRPr lang="zh-CN" altLang="en-US" sz="2500">
              <a:solidFill>
                <a:srgbClr val="FF0000"/>
              </a:solidFill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>
            <a:off x="6630988" y="3503613"/>
            <a:ext cx="0" cy="85725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6700838" y="3621088"/>
            <a:ext cx="126047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latin typeface="黑体" pitchFamily="49" charset="-122"/>
                <a:ea typeface="楷体_GB2312" pitchFamily="49" charset="-122"/>
              </a:rPr>
              <a:t>sp</a:t>
            </a:r>
            <a:r>
              <a:rPr lang="en-US" altLang="zh-CN" sz="2500" b="1" baseline="30000">
                <a:latin typeface="黑体" pitchFamily="49" charset="-122"/>
                <a:ea typeface="楷体_GB2312" pitchFamily="49" charset="-122"/>
              </a:rPr>
              <a:t>3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杂化</a:t>
            </a:r>
            <a:endParaRPr lang="zh-CN" altLang="en-US" sz="2500"/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5424488" y="4511675"/>
            <a:ext cx="2432050" cy="608013"/>
            <a:chOff x="52" y="768"/>
            <a:chExt cx="1532" cy="383"/>
          </a:xfrm>
        </p:grpSpPr>
        <p:sp>
          <p:nvSpPr>
            <p:cNvPr id="43" name="Oval 15"/>
            <p:cNvSpPr>
              <a:spLocks noChangeArrowheads="1"/>
            </p:cNvSpPr>
            <p:nvPr/>
          </p:nvSpPr>
          <p:spPr bwMode="auto">
            <a:xfrm>
              <a:off x="52" y="768"/>
              <a:ext cx="384" cy="38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2"/>
                <a:buChar char="u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charset="2"/>
                <a:buChar char="u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2500" smtClean="0">
                <a:latin typeface="+mn-lt"/>
                <a:ea typeface="华文楷体" panose="02010600040101010101" pitchFamily="2" charset="-122"/>
                <a:cs typeface="楷体_GB2312" charset="0"/>
              </a:endParaRPr>
            </a:p>
          </p:txBody>
        </p:sp>
        <p:sp>
          <p:nvSpPr>
            <p:cNvPr id="44" name="Oval 16"/>
            <p:cNvSpPr>
              <a:spLocks noChangeArrowheads="1"/>
            </p:cNvSpPr>
            <p:nvPr/>
          </p:nvSpPr>
          <p:spPr bwMode="auto">
            <a:xfrm>
              <a:off x="1200" y="768"/>
              <a:ext cx="384" cy="38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2"/>
                <a:buChar char="u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charset="2"/>
                <a:buChar char="u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2500" smtClean="0">
                <a:latin typeface="+mn-lt"/>
                <a:ea typeface="华文楷体" panose="02010600040101010101" pitchFamily="2" charset="-122"/>
                <a:cs typeface="楷体_GB2312" charset="0"/>
              </a:endParaRP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6" y="768"/>
              <a:ext cx="384" cy="38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2"/>
                <a:buChar char="u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charset="2"/>
                <a:buChar char="u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2500" smtClean="0">
                <a:latin typeface="+mn-lt"/>
                <a:ea typeface="华文楷体" panose="02010600040101010101" pitchFamily="2" charset="-122"/>
                <a:cs typeface="楷体_GB2312" charset="0"/>
              </a:endParaRP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432" y="768"/>
              <a:ext cx="384" cy="38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2"/>
                <a:buChar char="u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charset="2"/>
                <a:buChar char="u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2500" smtClean="0">
                <a:latin typeface="+mn-lt"/>
                <a:ea typeface="华文楷体" panose="02010600040101010101" pitchFamily="2" charset="-122"/>
                <a:cs typeface="楷体_GB2312" charset="0"/>
              </a:endParaRPr>
            </a:p>
          </p:txBody>
        </p:sp>
        <p:sp>
          <p:nvSpPr>
            <p:cNvPr id="48" name="Line 19"/>
            <p:cNvSpPr>
              <a:spLocks noChangeShapeType="1"/>
            </p:cNvSpPr>
            <p:nvPr/>
          </p:nvSpPr>
          <p:spPr bwMode="auto">
            <a:xfrm flipV="1">
              <a:off x="244" y="839"/>
              <a:ext cx="0" cy="24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2500">
                <a:latin typeface="+mn-lt"/>
                <a:ea typeface="华文楷体" panose="02010600040101010101" pitchFamily="2" charset="-122"/>
                <a:cs typeface="楷体_GB2312" charset="0"/>
              </a:endParaRPr>
            </a:p>
          </p:txBody>
        </p:sp>
        <p:sp>
          <p:nvSpPr>
            <p:cNvPr id="49" name="Line 21"/>
            <p:cNvSpPr>
              <a:spLocks noChangeShapeType="1"/>
            </p:cNvSpPr>
            <p:nvPr/>
          </p:nvSpPr>
          <p:spPr bwMode="auto">
            <a:xfrm flipV="1">
              <a:off x="1008" y="834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2500">
                <a:latin typeface="+mn-lt"/>
                <a:ea typeface="华文楷体" panose="02010600040101010101" pitchFamily="2" charset="-122"/>
                <a:cs typeface="楷体_GB2312" charset="0"/>
              </a:endParaRPr>
            </a:p>
          </p:txBody>
        </p:sp>
        <p:sp>
          <p:nvSpPr>
            <p:cNvPr id="50" name="Line 22"/>
            <p:cNvSpPr>
              <a:spLocks noChangeShapeType="1"/>
            </p:cNvSpPr>
            <p:nvPr/>
          </p:nvSpPr>
          <p:spPr bwMode="auto">
            <a:xfrm flipV="1">
              <a:off x="612" y="834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2500">
                <a:latin typeface="+mn-lt"/>
                <a:ea typeface="华文楷体" panose="02010600040101010101" pitchFamily="2" charset="-122"/>
                <a:cs typeface="楷体_GB2312" charset="0"/>
              </a:endParaRPr>
            </a:p>
          </p:txBody>
        </p:sp>
        <p:sp>
          <p:nvSpPr>
            <p:cNvPr id="51" name="Line 21"/>
            <p:cNvSpPr>
              <a:spLocks noChangeShapeType="1"/>
            </p:cNvSpPr>
            <p:nvPr/>
          </p:nvSpPr>
          <p:spPr bwMode="auto">
            <a:xfrm flipV="1">
              <a:off x="1392" y="839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2500">
                <a:latin typeface="+mn-lt"/>
                <a:ea typeface="华文楷体" panose="02010600040101010101" pitchFamily="2" charset="-122"/>
                <a:cs typeface="楷体_GB2312" charset="0"/>
              </a:endParaRPr>
            </a:p>
          </p:txBody>
        </p:sp>
      </p:grpSp>
      <p:sp>
        <p:nvSpPr>
          <p:cNvPr id="52" name="矩形 51"/>
          <p:cNvSpPr>
            <a:spLocks noChangeArrowheads="1"/>
          </p:cNvSpPr>
          <p:nvPr/>
        </p:nvSpPr>
        <p:spPr bwMode="auto">
          <a:xfrm>
            <a:off x="5118100" y="5240338"/>
            <a:ext cx="31956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latin typeface="黑体" pitchFamily="49" charset="-122"/>
                <a:ea typeface="楷体_GB2312" pitchFamily="49" charset="-122"/>
              </a:rPr>
              <a:t>4</a:t>
            </a:r>
            <a:r>
              <a:rPr lang="zh-CN" altLang="en-US" sz="2500" b="1" dirty="0">
                <a:latin typeface="黑体" pitchFamily="49" charset="-122"/>
                <a:ea typeface="楷体_GB2312" pitchFamily="49" charset="-122"/>
              </a:rPr>
              <a:t>个</a:t>
            </a:r>
            <a:r>
              <a:rPr lang="en-US" altLang="zh-CN" sz="2500" b="1" dirty="0">
                <a:latin typeface="黑体" pitchFamily="49" charset="-122"/>
                <a:ea typeface="楷体_GB2312" pitchFamily="49" charset="-122"/>
              </a:rPr>
              <a:t>sp</a:t>
            </a:r>
            <a:r>
              <a:rPr lang="en-US" altLang="zh-CN" sz="2500" b="1" baseline="30000" dirty="0">
                <a:latin typeface="黑体" pitchFamily="49" charset="-122"/>
                <a:ea typeface="楷体_GB2312" pitchFamily="49" charset="-122"/>
              </a:rPr>
              <a:t>3</a:t>
            </a:r>
            <a:r>
              <a:rPr lang="zh-CN" altLang="en-US" sz="2500" b="1" dirty="0">
                <a:latin typeface="黑体" pitchFamily="49" charset="-122"/>
                <a:ea typeface="楷体_GB2312" pitchFamily="49" charset="-122"/>
              </a:rPr>
              <a:t>杂化轨道</a:t>
            </a:r>
            <a:r>
              <a:rPr lang="en-US" altLang="zh-CN" sz="2500" b="1" dirty="0">
                <a:latin typeface="黑体" pitchFamily="49" charset="-122"/>
                <a:ea typeface="楷体_GB2312" pitchFamily="49" charset="-122"/>
              </a:rPr>
              <a:t>,</a:t>
            </a:r>
            <a:r>
              <a:rPr lang="zh-CN" altLang="en-US" sz="2500" b="1" dirty="0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均等</a:t>
            </a:r>
            <a:endParaRPr lang="zh-CN" altLang="en-US" sz="2500" dirty="0">
              <a:solidFill>
                <a:srgbClr val="FF0000"/>
              </a:solidFill>
            </a:endParaRPr>
          </a:p>
        </p:txBody>
      </p:sp>
      <p:grpSp>
        <p:nvGrpSpPr>
          <p:cNvPr id="17" name="Group 43"/>
          <p:cNvGrpSpPr>
            <a:grpSpLocks/>
          </p:cNvGrpSpPr>
          <p:nvPr/>
        </p:nvGrpSpPr>
        <p:grpSpPr bwMode="auto">
          <a:xfrm>
            <a:off x="3325813" y="4044950"/>
            <a:ext cx="1441450" cy="1655763"/>
            <a:chOff x="0" y="0"/>
            <a:chExt cx="908" cy="1043"/>
          </a:xfrm>
        </p:grpSpPr>
        <p:sp>
          <p:nvSpPr>
            <p:cNvPr id="56" name="Line 44"/>
            <p:cNvSpPr>
              <a:spLocks noChangeShapeType="1"/>
            </p:cNvSpPr>
            <p:nvPr/>
          </p:nvSpPr>
          <p:spPr bwMode="auto">
            <a:xfrm flipH="1" flipV="1">
              <a:off x="589" y="589"/>
              <a:ext cx="181" cy="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/>
            <a:lstStyle/>
            <a:p>
              <a:pPr>
                <a:defRPr/>
              </a:pPr>
              <a:endParaRPr lang="zh-CN" altLang="en-US" sz="2500">
                <a:latin typeface="+mn-lt"/>
                <a:ea typeface="华文楷体" panose="02010600040101010101" pitchFamily="2" charset="-122"/>
              </a:endParaRPr>
            </a:p>
          </p:txBody>
        </p:sp>
        <p:grpSp>
          <p:nvGrpSpPr>
            <p:cNvPr id="15381" name="Group 45"/>
            <p:cNvGrpSpPr>
              <a:grpSpLocks/>
            </p:cNvGrpSpPr>
            <p:nvPr/>
          </p:nvGrpSpPr>
          <p:grpSpPr bwMode="auto">
            <a:xfrm>
              <a:off x="0" y="0"/>
              <a:ext cx="908" cy="1043"/>
              <a:chOff x="0" y="0"/>
              <a:chExt cx="908" cy="1043"/>
            </a:xfrm>
          </p:grpSpPr>
          <p:sp>
            <p:nvSpPr>
              <p:cNvPr id="58" name="Line 46"/>
              <p:cNvSpPr>
                <a:spLocks noChangeShapeType="1"/>
              </p:cNvSpPr>
              <p:nvPr/>
            </p:nvSpPr>
            <p:spPr bwMode="auto">
              <a:xfrm>
                <a:off x="454" y="181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/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2500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59" name="Oval 47"/>
              <p:cNvSpPr>
                <a:spLocks noChangeArrowheads="1"/>
              </p:cNvSpPr>
              <p:nvPr/>
            </p:nvSpPr>
            <p:spPr bwMode="auto">
              <a:xfrm>
                <a:off x="363" y="0"/>
                <a:ext cx="182" cy="18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x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zh-CN" altLang="en-US" sz="2500" b="1" dirty="0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60" name="Oval 48"/>
              <p:cNvSpPr>
                <a:spLocks noChangeArrowheads="1"/>
              </p:cNvSpPr>
              <p:nvPr/>
            </p:nvSpPr>
            <p:spPr bwMode="auto">
              <a:xfrm>
                <a:off x="726" y="862"/>
                <a:ext cx="181" cy="18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x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zh-CN" altLang="en-US" sz="2500" b="1" dirty="0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61" name="Oval 49"/>
              <p:cNvSpPr>
                <a:spLocks noChangeArrowheads="1"/>
              </p:cNvSpPr>
              <p:nvPr/>
            </p:nvSpPr>
            <p:spPr bwMode="auto">
              <a:xfrm>
                <a:off x="317" y="454"/>
                <a:ext cx="273" cy="272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FF6600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zh-CN" sz="2500" b="1" dirty="0" smtClean="0">
                    <a:solidFill>
                      <a:schemeClr val="bg2"/>
                    </a:solidFill>
                    <a:latin typeface="+mn-lt"/>
                    <a:ea typeface="华文楷体" panose="02010600040101010101" pitchFamily="2" charset="-122"/>
                  </a:rPr>
                  <a:t>C</a:t>
                </a:r>
                <a:endParaRPr lang="zh-CN" altLang="en-US" sz="2500" b="1" dirty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62" name="Oval 50"/>
              <p:cNvSpPr>
                <a:spLocks noChangeArrowheads="1"/>
              </p:cNvSpPr>
              <p:nvPr/>
            </p:nvSpPr>
            <p:spPr bwMode="auto">
              <a:xfrm>
                <a:off x="0" y="771"/>
                <a:ext cx="182" cy="18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x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zh-CN" altLang="en-US" sz="2500" b="1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63" name="Oval 51"/>
              <p:cNvSpPr>
                <a:spLocks noChangeArrowheads="1"/>
              </p:cNvSpPr>
              <p:nvPr/>
            </p:nvSpPr>
            <p:spPr bwMode="auto">
              <a:xfrm>
                <a:off x="726" y="544"/>
                <a:ext cx="182" cy="18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x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zh-CN" altLang="en-US" sz="2500" b="1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64" name="Line 52"/>
              <p:cNvSpPr>
                <a:spLocks noChangeShapeType="1"/>
              </p:cNvSpPr>
              <p:nvPr/>
            </p:nvSpPr>
            <p:spPr bwMode="auto">
              <a:xfrm flipH="1">
                <a:off x="136" y="680"/>
                <a:ext cx="227" cy="1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/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2500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65" name="Line 53"/>
              <p:cNvSpPr>
                <a:spLocks noChangeShapeType="1"/>
              </p:cNvSpPr>
              <p:nvPr/>
            </p:nvSpPr>
            <p:spPr bwMode="auto">
              <a:xfrm>
                <a:off x="544" y="680"/>
                <a:ext cx="227" cy="22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/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2500">
                  <a:latin typeface="+mn-lt"/>
                  <a:ea typeface="华文楷体" panose="02010600040101010101" pitchFamily="2" charset="-122"/>
                </a:endParaRPr>
              </a:p>
            </p:txBody>
          </p:sp>
        </p:grpSp>
      </p:grpSp>
      <p:sp>
        <p:nvSpPr>
          <p:cNvPr id="15379" name="Text Box 47"/>
          <p:cNvSpPr txBox="1">
            <a:spLocks noChangeArrowheads="1"/>
          </p:cNvSpPr>
          <p:nvPr/>
        </p:nvSpPr>
        <p:spPr bwMode="auto">
          <a:xfrm>
            <a:off x="260350" y="311150"/>
            <a:ext cx="335756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8.1.1</a:t>
            </a:r>
            <a:r>
              <a:rPr kumimoji="1"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价键理论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6412E-6 -0.00686 L -3.76412E-6 -0.00662 C 0.00221 -0.00392 0.00441 -0.00049 0.00662 0.0022 C 0.01089 0.00735 0.01034 0.00539 0.01475 0.00808 C 0.01544 0.00833 0.01599 0.00955 0.01668 0.01004 C 0.01833 0.01078 0.01984 0.01102 0.0215 0.012 L 0.06848 0.01004 C 0.07454 0.00955 0.07523 0.00661 0.08129 0.00416 L 0.08598 0.0022 C 0.08708 0.00122 0.08818 -0.00049 0.08928 -0.00147 C 0.09094 -0.00294 0.09383 -0.00417 0.09535 -0.0049 C 0.09631 -0.00564 0.09714 -0.00662 0.0981 -0.00686 C 0.0992 -0.0076 0.10031 -0.00809 0.10141 -0.00882 C 0.1032 -0.01005 0.10513 -0.01103 0.10678 -0.01274 C 0.10968 -0.01519 0.10816 -0.01421 0.1116 -0.01642 C 0.11216 -0.01764 0.11284 -0.01911 0.11353 -0.02034 C 0.11422 -0.02107 0.11491 -0.02132 0.1156 -0.02181 C 0.11725 -0.02328 0.11863 -0.02377 0.12028 -0.02573 C 0.12125 -0.02671 0.12208 -0.02842 0.1229 -0.0294 C 0.12428 -0.03112 0.12635 -0.0321 0.12772 -0.03332 C 0.12896 -0.03552 0.13062 -0.03748 0.13172 -0.04067 C 0.13213 -0.04214 0.13255 -0.04361 0.1331 -0.04434 C 0.13365 -0.04557 0.13434 -0.04557 0.13503 -0.0463 C 0.13861 -0.06125 0.13392 -0.04336 0.13847 -0.05561 C 0.13902 -0.05708 0.1393 -0.05929 0.13971 -0.06125 C 0.13999 -0.06321 0.14013 -0.06517 0.1404 -0.06688 C 0.14081 -0.0686 0.14137 -0.06933 0.14178 -0.07056 C 0.14522 -0.08232 0.14123 -0.0708 0.14453 -0.08011 L 0.14522 -0.08526 L 0.14522 -0.08501 L 0.14522 -0.08526 L 0.14522 -0.08501 " pathEditMode="relative" rAng="0" ptsTypes="AAAAAAAAAAAAAAAAAAAAAAAAAAAAAAAA">
                                      <p:cBhvr>
                                        <p:cTn id="19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" y="-30"/>
                                    </p:animMotion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21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4" grpId="0"/>
      <p:bldP spid="35" grpId="0"/>
      <p:bldP spid="38" grpId="0"/>
      <p:bldP spid="5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 b="1"/>
          </a:p>
        </p:txBody>
      </p:sp>
      <p:sp>
        <p:nvSpPr>
          <p:cNvPr id="16387" name="Oval 6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 b="1"/>
          </a:p>
        </p:txBody>
      </p:sp>
      <p:sp>
        <p:nvSpPr>
          <p:cNvPr id="66" name="Text Box 47"/>
          <p:cNvSpPr txBox="1">
            <a:spLocks noChangeArrowheads="1"/>
          </p:cNvSpPr>
          <p:nvPr/>
        </p:nvSpPr>
        <p:spPr bwMode="auto">
          <a:xfrm>
            <a:off x="903288" y="954088"/>
            <a:ext cx="28606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solidFill>
                  <a:srgbClr val="FF0000"/>
                </a:solidFill>
                <a:ea typeface="楷体_GB2312" pitchFamily="49" charset="-122"/>
              </a:rPr>
              <a:t>1. </a:t>
            </a:r>
            <a:r>
              <a:rPr kumimoji="1" lang="zh-CN" altLang="en-US" sz="2500" b="1">
                <a:solidFill>
                  <a:srgbClr val="FF0000"/>
                </a:solidFill>
                <a:ea typeface="楷体_GB2312" pitchFamily="49" charset="-122"/>
              </a:rPr>
              <a:t>杂化轨道的概念</a:t>
            </a:r>
          </a:p>
        </p:txBody>
      </p:sp>
      <p:sp>
        <p:nvSpPr>
          <p:cNvPr id="67" name="Text Box 3"/>
          <p:cNvSpPr txBox="1">
            <a:spLocks noChangeArrowheads="1"/>
          </p:cNvSpPr>
          <p:nvPr/>
        </p:nvSpPr>
        <p:spPr bwMode="auto">
          <a:xfrm>
            <a:off x="546100" y="2597150"/>
            <a:ext cx="10548938" cy="263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ts val="600"/>
              </a:spcBef>
              <a:defRPr/>
            </a:pPr>
            <a:r>
              <a:rPr lang="zh-CN" altLang="en-US" sz="2500" b="1" dirty="0">
                <a:solidFill>
                  <a:srgbClr val="FF0000"/>
                </a:solidFill>
                <a:ea typeface="楷体_GB2312"/>
              </a:rPr>
              <a:t>原因</a:t>
            </a:r>
            <a:r>
              <a:rPr lang="en-US" altLang="zh-CN" sz="2500" b="1" dirty="0">
                <a:solidFill>
                  <a:srgbClr val="FF0000"/>
                </a:solidFill>
                <a:ea typeface="楷体_GB2312"/>
              </a:rPr>
              <a:t>: </a:t>
            </a:r>
            <a:r>
              <a:rPr lang="zh-CN" altLang="en-US" sz="2500" b="1" dirty="0">
                <a:ea typeface="楷体_GB2312"/>
              </a:rPr>
              <a:t>在形成分子时</a:t>
            </a:r>
            <a:r>
              <a:rPr lang="en-US" altLang="zh-CN" sz="2500" b="1" dirty="0">
                <a:ea typeface="楷体_GB2312"/>
              </a:rPr>
              <a:t>,</a:t>
            </a:r>
            <a:r>
              <a:rPr lang="zh-CN" altLang="en-US" sz="2500" b="1" dirty="0">
                <a:ea typeface="楷体_GB2312"/>
              </a:rPr>
              <a:t>由于原子间的相互影响</a:t>
            </a:r>
            <a:r>
              <a:rPr lang="en-US" altLang="zh-CN" sz="2500" b="1" dirty="0">
                <a:ea typeface="楷体_GB2312"/>
              </a:rPr>
              <a:t>;</a:t>
            </a:r>
          </a:p>
          <a:p>
            <a:pPr marL="895350" indent="-895350" algn="just">
              <a:spcBef>
                <a:spcPts val="600"/>
              </a:spcBef>
              <a:defRPr/>
            </a:pPr>
            <a:r>
              <a:rPr lang="zh-CN" altLang="en-US" sz="2500" b="1" dirty="0">
                <a:solidFill>
                  <a:srgbClr val="FF0000"/>
                </a:solidFill>
                <a:ea typeface="楷体_GB2312"/>
              </a:rPr>
              <a:t>过程</a:t>
            </a:r>
            <a:r>
              <a:rPr lang="en-US" altLang="zh-CN" sz="2500" b="1" dirty="0">
                <a:solidFill>
                  <a:srgbClr val="FF0000"/>
                </a:solidFill>
                <a:ea typeface="楷体_GB2312"/>
              </a:rPr>
              <a:t>: </a:t>
            </a:r>
            <a:r>
              <a:rPr lang="zh-CN" altLang="en-US" sz="2500" b="1" dirty="0">
                <a:ea typeface="楷体_GB2312"/>
              </a:rPr>
              <a:t>同一原子中的若干不同类型、能量相近的原子轨道混合起来</a:t>
            </a:r>
            <a:r>
              <a:rPr lang="en-US" altLang="zh-CN" sz="2500" b="1" dirty="0">
                <a:ea typeface="楷体_GB2312"/>
              </a:rPr>
              <a:t>,</a:t>
            </a:r>
            <a:r>
              <a:rPr lang="zh-CN" altLang="en-US" sz="2500" b="1" dirty="0">
                <a:ea typeface="楷体_GB2312"/>
              </a:rPr>
              <a:t>重新分配能量和调整空间方向</a:t>
            </a:r>
            <a:r>
              <a:rPr lang="en-US" altLang="zh-CN" sz="2500" b="1" dirty="0">
                <a:ea typeface="楷体_GB2312"/>
              </a:rPr>
              <a:t>;</a:t>
            </a:r>
          </a:p>
          <a:p>
            <a:pPr algn="just">
              <a:spcBef>
                <a:spcPts val="600"/>
              </a:spcBef>
              <a:defRPr/>
            </a:pPr>
            <a:r>
              <a:rPr lang="zh-CN" altLang="en-US" sz="2500" b="1" dirty="0">
                <a:solidFill>
                  <a:srgbClr val="FF0000"/>
                </a:solidFill>
                <a:ea typeface="楷体_GB2312"/>
              </a:rPr>
              <a:t>目标</a:t>
            </a:r>
            <a:r>
              <a:rPr lang="en-US" altLang="zh-CN" sz="2500" b="1" dirty="0">
                <a:solidFill>
                  <a:srgbClr val="FF0000"/>
                </a:solidFill>
                <a:ea typeface="楷体_GB2312"/>
              </a:rPr>
              <a:t>: </a:t>
            </a:r>
            <a:r>
              <a:rPr lang="zh-CN" altLang="en-US" sz="2500" b="1" dirty="0">
                <a:ea typeface="楷体_GB2312"/>
              </a:rPr>
              <a:t>组成数目相同、能量相等的新的原子轨道</a:t>
            </a:r>
            <a:r>
              <a:rPr lang="en-US" altLang="zh-CN" sz="2500" b="1" dirty="0">
                <a:ea typeface="楷体_GB2312"/>
              </a:rPr>
              <a:t>,</a:t>
            </a:r>
            <a:r>
              <a:rPr lang="zh-CN" altLang="en-US" sz="2500" b="1" dirty="0">
                <a:ea typeface="楷体_GB2312"/>
              </a:rPr>
              <a:t>以满足化学键结合的需要</a:t>
            </a:r>
            <a:r>
              <a:rPr lang="en-US" altLang="zh-CN" sz="2500" b="1" dirty="0">
                <a:ea typeface="楷体_GB2312"/>
              </a:rPr>
              <a:t>.</a:t>
            </a:r>
          </a:p>
          <a:p>
            <a:pPr indent="719138" algn="just">
              <a:spcBef>
                <a:spcPts val="600"/>
              </a:spcBef>
              <a:defRPr/>
            </a:pPr>
            <a:r>
              <a:rPr lang="zh-CN" altLang="en-US" sz="2500" b="1" dirty="0">
                <a:ea typeface="楷体_GB2312"/>
              </a:rPr>
              <a:t> 这种轨道重新组合的过程称为原子轨道的</a:t>
            </a:r>
            <a:r>
              <a:rPr lang="zh-CN" altLang="en-US" sz="2500" b="1" dirty="0">
                <a:solidFill>
                  <a:srgbClr val="FF0000"/>
                </a:solidFill>
                <a:ea typeface="楷体_GB2312"/>
              </a:rPr>
              <a:t>“杂化”</a:t>
            </a:r>
            <a:r>
              <a:rPr lang="zh-CN" altLang="en-US" sz="2500" b="1" dirty="0">
                <a:ea typeface="楷体_GB2312"/>
              </a:rPr>
              <a:t>（</a:t>
            </a:r>
            <a:r>
              <a:rPr lang="en-US" altLang="zh-CN" sz="2500" b="1" dirty="0">
                <a:ea typeface="楷体_GB2312"/>
                <a:cs typeface="Times New Roman" pitchFamily="18" charset="0"/>
              </a:rPr>
              <a:t>Hybridization</a:t>
            </a:r>
            <a:r>
              <a:rPr lang="en-US" altLang="zh-CN" sz="2500" b="1" dirty="0">
                <a:ea typeface="楷体_GB2312"/>
              </a:rPr>
              <a:t>,</a:t>
            </a:r>
            <a:r>
              <a:rPr lang="zh-CN" altLang="en-US" sz="2500" b="1" dirty="0">
                <a:ea typeface="楷体_GB2312"/>
              </a:rPr>
              <a:t>混合平均化）</a:t>
            </a:r>
            <a:r>
              <a:rPr lang="en-US" altLang="zh-CN" sz="2500" b="1" dirty="0">
                <a:ea typeface="楷体_GB2312"/>
              </a:rPr>
              <a:t>.</a:t>
            </a:r>
            <a:endParaRPr lang="zh-CN" altLang="en-US" sz="2500" b="1" dirty="0">
              <a:ea typeface="楷体_GB2312"/>
            </a:endParaRP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474788" y="1239838"/>
            <a:ext cx="6881812" cy="1116012"/>
            <a:chOff x="3814465" y="780821"/>
            <a:chExt cx="6881812" cy="1116013"/>
          </a:xfrm>
        </p:grpSpPr>
        <p:grpSp>
          <p:nvGrpSpPr>
            <p:cNvPr id="16392" name="Group 6"/>
            <p:cNvGrpSpPr>
              <a:grpSpLocks/>
            </p:cNvGrpSpPr>
            <p:nvPr/>
          </p:nvGrpSpPr>
          <p:grpSpPr bwMode="auto">
            <a:xfrm>
              <a:off x="3814465" y="780821"/>
              <a:ext cx="1981200" cy="1100138"/>
              <a:chOff x="375" y="738"/>
              <a:chExt cx="1248" cy="693"/>
            </a:xfrm>
          </p:grpSpPr>
          <p:sp>
            <p:nvSpPr>
              <p:cNvPr id="69" name="Rectangle 7"/>
              <p:cNvSpPr>
                <a:spLocks noChangeArrowheads="1"/>
              </p:cNvSpPr>
              <p:nvPr/>
            </p:nvSpPr>
            <p:spPr bwMode="auto">
              <a:xfrm>
                <a:off x="375" y="1093"/>
                <a:ext cx="240" cy="23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zh-CN" altLang="en-US" sz="1800" b="1">
                  <a:latin typeface="+mn-lt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16425" name="Group 8"/>
              <p:cNvGrpSpPr>
                <a:grpSpLocks/>
              </p:cNvGrpSpPr>
              <p:nvPr/>
            </p:nvGrpSpPr>
            <p:grpSpPr bwMode="auto">
              <a:xfrm>
                <a:off x="471" y="1133"/>
                <a:ext cx="48" cy="158"/>
                <a:chOff x="912" y="2400"/>
                <a:chExt cx="48" cy="192"/>
              </a:xfrm>
            </p:grpSpPr>
            <p:sp>
              <p:nvSpPr>
                <p:cNvPr id="80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912" y="240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/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b="1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81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960" y="240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/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b="1">
                    <a:latin typeface="+mn-lt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16426" name="Group 11"/>
              <p:cNvGrpSpPr>
                <a:grpSpLocks/>
              </p:cNvGrpSpPr>
              <p:nvPr/>
            </p:nvGrpSpPr>
            <p:grpSpPr bwMode="auto">
              <a:xfrm>
                <a:off x="759" y="975"/>
                <a:ext cx="720" cy="237"/>
                <a:chOff x="672" y="960"/>
                <a:chExt cx="720" cy="288"/>
              </a:xfrm>
            </p:grpSpPr>
            <p:sp>
              <p:nvSpPr>
                <p:cNvPr id="77" name="Rectangle 12"/>
                <p:cNvSpPr>
                  <a:spLocks noChangeArrowheads="1"/>
                </p:cNvSpPr>
                <p:nvPr/>
              </p:nvSpPr>
              <p:spPr bwMode="auto">
                <a:xfrm>
                  <a:off x="672" y="960"/>
                  <a:ext cx="240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 b="1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8" name="Rectangle 13"/>
                <p:cNvSpPr>
                  <a:spLocks noChangeArrowheads="1"/>
                </p:cNvSpPr>
                <p:nvPr/>
              </p:nvSpPr>
              <p:spPr bwMode="auto">
                <a:xfrm>
                  <a:off x="912" y="960"/>
                  <a:ext cx="240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 b="1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9" name="Rectangle 14"/>
                <p:cNvSpPr>
                  <a:spLocks noChangeArrowheads="1"/>
                </p:cNvSpPr>
                <p:nvPr/>
              </p:nvSpPr>
              <p:spPr bwMode="auto">
                <a:xfrm>
                  <a:off x="1152" y="960"/>
                  <a:ext cx="240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 b="1">
                    <a:latin typeface="+mn-lt"/>
                    <a:ea typeface="华文楷体" panose="02010600040101010101" pitchFamily="2" charset="-122"/>
                  </a:endParaRPr>
                </a:p>
              </p:txBody>
            </p:sp>
          </p:grpSp>
          <p:sp>
            <p:nvSpPr>
              <p:cNvPr id="72" name="Text Box 15"/>
              <p:cNvSpPr txBox="1">
                <a:spLocks noChangeArrowheads="1"/>
              </p:cNvSpPr>
              <p:nvPr/>
            </p:nvSpPr>
            <p:spPr bwMode="auto">
              <a:xfrm>
                <a:off x="375" y="888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zh-CN" sz="2000" b="1" i="1">
                    <a:latin typeface="+mn-lt"/>
                    <a:ea typeface="华文楷体" panose="02010600040101010101" pitchFamily="2" charset="-122"/>
                  </a:rPr>
                  <a:t>ns</a:t>
                </a:r>
                <a:endParaRPr lang="en-US" altLang="zh-CN" sz="2000" b="1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73" name="Text Box 16"/>
              <p:cNvSpPr txBox="1">
                <a:spLocks noChangeArrowheads="1"/>
              </p:cNvSpPr>
              <p:nvPr/>
            </p:nvSpPr>
            <p:spPr bwMode="auto">
              <a:xfrm>
                <a:off x="999" y="738"/>
                <a:ext cx="288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zh-CN" sz="2000" b="1" i="1">
                    <a:latin typeface="+mn-lt"/>
                    <a:ea typeface="华文楷体" panose="02010600040101010101" pitchFamily="2" charset="-122"/>
                  </a:rPr>
                  <a:t>np</a:t>
                </a:r>
                <a:endParaRPr lang="en-US" altLang="zh-CN" sz="2000" b="1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16429" name="Text Box 17"/>
              <p:cNvSpPr txBox="1">
                <a:spLocks noChangeArrowheads="1"/>
              </p:cNvSpPr>
              <p:nvPr/>
            </p:nvSpPr>
            <p:spPr bwMode="auto">
              <a:xfrm>
                <a:off x="903" y="1181"/>
                <a:ext cx="72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>
                    <a:latin typeface="黑体" pitchFamily="49" charset="-122"/>
                    <a:ea typeface="楷体_GB2312" pitchFamily="49" charset="-122"/>
                  </a:rPr>
                  <a:t>基态</a:t>
                </a:r>
              </a:p>
            </p:txBody>
          </p:sp>
          <p:sp>
            <p:nvSpPr>
              <p:cNvPr id="75" name="Line 18"/>
              <p:cNvSpPr>
                <a:spLocks noChangeShapeType="1"/>
              </p:cNvSpPr>
              <p:nvPr/>
            </p:nvSpPr>
            <p:spPr bwMode="auto">
              <a:xfrm flipV="1">
                <a:off x="855" y="1023"/>
                <a:ext cx="0" cy="158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76" name="Line 19"/>
              <p:cNvSpPr>
                <a:spLocks noChangeShapeType="1"/>
              </p:cNvSpPr>
              <p:nvPr/>
            </p:nvSpPr>
            <p:spPr bwMode="auto">
              <a:xfrm flipV="1">
                <a:off x="1095" y="1023"/>
                <a:ext cx="0" cy="158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latin typeface="+mn-lt"/>
                  <a:ea typeface="华文楷体" panose="02010600040101010101" pitchFamily="2" charset="-122"/>
                </a:endParaRPr>
              </a:p>
            </p:txBody>
          </p:sp>
        </p:grpSp>
        <p:grpSp>
          <p:nvGrpSpPr>
            <p:cNvPr id="16393" name="Group 35"/>
            <p:cNvGrpSpPr>
              <a:grpSpLocks/>
            </p:cNvGrpSpPr>
            <p:nvPr/>
          </p:nvGrpSpPr>
          <p:grpSpPr bwMode="auto">
            <a:xfrm>
              <a:off x="9172277" y="1157059"/>
              <a:ext cx="1524000" cy="739775"/>
              <a:chOff x="3888" y="1872"/>
              <a:chExt cx="960" cy="567"/>
            </a:xfrm>
          </p:grpSpPr>
          <p:grpSp>
            <p:nvGrpSpPr>
              <p:cNvPr id="16411" name="Group 36"/>
              <p:cNvGrpSpPr>
                <a:grpSpLocks/>
              </p:cNvGrpSpPr>
              <p:nvPr/>
            </p:nvGrpSpPr>
            <p:grpSpPr bwMode="auto">
              <a:xfrm>
                <a:off x="3888" y="1872"/>
                <a:ext cx="480" cy="290"/>
                <a:chOff x="2928" y="1776"/>
                <a:chExt cx="480" cy="290"/>
              </a:xfrm>
            </p:grpSpPr>
            <p:sp>
              <p:nvSpPr>
                <p:cNvPr id="94" name="Rectangle 37"/>
                <p:cNvSpPr>
                  <a:spLocks noChangeArrowheads="1"/>
                </p:cNvSpPr>
                <p:nvPr/>
              </p:nvSpPr>
              <p:spPr bwMode="auto">
                <a:xfrm>
                  <a:off x="2928" y="1776"/>
                  <a:ext cx="240" cy="29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 b="1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95" name="Rectangle 38"/>
                <p:cNvSpPr>
                  <a:spLocks noChangeArrowheads="1"/>
                </p:cNvSpPr>
                <p:nvPr/>
              </p:nvSpPr>
              <p:spPr bwMode="auto">
                <a:xfrm>
                  <a:off x="3168" y="1776"/>
                  <a:ext cx="240" cy="29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 b="1">
                    <a:latin typeface="+mn-lt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16412" name="Group 39"/>
              <p:cNvGrpSpPr>
                <a:grpSpLocks/>
              </p:cNvGrpSpPr>
              <p:nvPr/>
            </p:nvGrpSpPr>
            <p:grpSpPr bwMode="auto">
              <a:xfrm>
                <a:off x="4368" y="1872"/>
                <a:ext cx="480" cy="290"/>
                <a:chOff x="4368" y="1872"/>
                <a:chExt cx="480" cy="290"/>
              </a:xfrm>
            </p:grpSpPr>
            <p:sp>
              <p:nvSpPr>
                <p:cNvPr id="92" name="Rectangle 40"/>
                <p:cNvSpPr>
                  <a:spLocks noChangeArrowheads="1"/>
                </p:cNvSpPr>
                <p:nvPr/>
              </p:nvSpPr>
              <p:spPr bwMode="auto">
                <a:xfrm>
                  <a:off x="4368" y="1872"/>
                  <a:ext cx="240" cy="29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 b="1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93" name="Rectangle 41"/>
                <p:cNvSpPr>
                  <a:spLocks noChangeArrowheads="1"/>
                </p:cNvSpPr>
                <p:nvPr/>
              </p:nvSpPr>
              <p:spPr bwMode="auto">
                <a:xfrm>
                  <a:off x="4608" y="1872"/>
                  <a:ext cx="240" cy="29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 b="1">
                    <a:latin typeface="+mn-lt"/>
                    <a:ea typeface="华文楷体" panose="02010600040101010101" pitchFamily="2" charset="-122"/>
                  </a:endParaRPr>
                </a:p>
              </p:txBody>
            </p:sp>
          </p:grpSp>
          <p:sp>
            <p:nvSpPr>
              <p:cNvPr id="85" name="Text Box 43"/>
              <p:cNvSpPr txBox="1">
                <a:spLocks noChangeArrowheads="1"/>
              </p:cNvSpPr>
              <p:nvPr/>
            </p:nvSpPr>
            <p:spPr bwMode="auto">
              <a:xfrm>
                <a:off x="3960" y="2135"/>
                <a:ext cx="864" cy="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zh-CN" sz="2000" b="1" i="1" dirty="0">
                    <a:latin typeface="+mn-lt"/>
                    <a:ea typeface="华文楷体" panose="02010600040101010101" pitchFamily="2" charset="-122"/>
                  </a:rPr>
                  <a:t>sp</a:t>
                </a:r>
                <a:r>
                  <a:rPr lang="en-US" altLang="zh-CN" sz="2000" b="1" baseline="30000" dirty="0">
                    <a:latin typeface="+mn-lt"/>
                    <a:ea typeface="华文楷体" panose="02010600040101010101" pitchFamily="2" charset="-122"/>
                  </a:rPr>
                  <a:t>3  </a:t>
                </a:r>
                <a:r>
                  <a:rPr lang="zh-CN" altLang="en-US" sz="2000" b="1" dirty="0">
                    <a:latin typeface="黑体" panose="02010609060101010101" pitchFamily="49" charset="-122"/>
                    <a:ea typeface="楷体_GB2312"/>
                  </a:rPr>
                  <a:t>杂化态</a:t>
                </a:r>
              </a:p>
            </p:txBody>
          </p:sp>
          <p:grpSp>
            <p:nvGrpSpPr>
              <p:cNvPr id="16414" name="Group 44"/>
              <p:cNvGrpSpPr>
                <a:grpSpLocks/>
              </p:cNvGrpSpPr>
              <p:nvPr/>
            </p:nvGrpSpPr>
            <p:grpSpPr bwMode="auto">
              <a:xfrm>
                <a:off x="3984" y="1920"/>
                <a:ext cx="720" cy="192"/>
                <a:chOff x="3984" y="1920"/>
                <a:chExt cx="720" cy="192"/>
              </a:xfrm>
            </p:grpSpPr>
            <p:grpSp>
              <p:nvGrpSpPr>
                <p:cNvPr id="16415" name="Group 45"/>
                <p:cNvGrpSpPr>
                  <a:grpSpLocks/>
                </p:cNvGrpSpPr>
                <p:nvPr/>
              </p:nvGrpSpPr>
              <p:grpSpPr bwMode="auto">
                <a:xfrm>
                  <a:off x="3984" y="1920"/>
                  <a:ext cx="240" cy="192"/>
                  <a:chOff x="3024" y="1824"/>
                  <a:chExt cx="240" cy="192"/>
                </a:xfrm>
              </p:grpSpPr>
              <p:sp>
                <p:nvSpPr>
                  <p:cNvPr id="90" name="Line 4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024" y="1821"/>
                    <a:ext cx="0" cy="192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/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zh-CN" altLang="en-US" b="1">
                      <a:latin typeface="+mn-lt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91" name="Line 47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264" y="1821"/>
                    <a:ext cx="0" cy="192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/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zh-CN" altLang="en-US" b="1">
                      <a:latin typeface="+mn-lt"/>
                      <a:ea typeface="华文楷体" panose="02010600040101010101" pitchFamily="2" charset="-122"/>
                    </a:endParaRPr>
                  </a:p>
                </p:txBody>
              </p:sp>
            </p:grpSp>
            <p:sp>
              <p:nvSpPr>
                <p:cNvPr id="88" name="Line 48"/>
                <p:cNvSpPr>
                  <a:spLocks noChangeShapeType="1"/>
                </p:cNvSpPr>
                <p:nvPr/>
              </p:nvSpPr>
              <p:spPr bwMode="auto">
                <a:xfrm flipV="1">
                  <a:off x="4464" y="1917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/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b="1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89" name="Line 49"/>
                <p:cNvSpPr>
                  <a:spLocks noChangeShapeType="1"/>
                </p:cNvSpPr>
                <p:nvPr/>
              </p:nvSpPr>
              <p:spPr bwMode="auto">
                <a:xfrm flipV="1">
                  <a:off x="4704" y="1917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/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b="1">
                    <a:latin typeface="+mn-lt"/>
                    <a:ea typeface="华文楷体" panose="02010600040101010101" pitchFamily="2" charset="-122"/>
                  </a:endParaRPr>
                </a:p>
              </p:txBody>
            </p:sp>
          </p:grpSp>
        </p:grpSp>
        <p:grpSp>
          <p:nvGrpSpPr>
            <p:cNvPr id="16394" name="Group 6"/>
            <p:cNvGrpSpPr>
              <a:grpSpLocks/>
            </p:cNvGrpSpPr>
            <p:nvPr/>
          </p:nvGrpSpPr>
          <p:grpSpPr bwMode="auto">
            <a:xfrm>
              <a:off x="6513215" y="780821"/>
              <a:ext cx="1878012" cy="1112838"/>
              <a:chOff x="375" y="738"/>
              <a:chExt cx="1183" cy="701"/>
            </a:xfrm>
          </p:grpSpPr>
          <p:sp>
            <p:nvSpPr>
              <p:cNvPr id="97" name="Rectangle 7"/>
              <p:cNvSpPr>
                <a:spLocks noChangeArrowheads="1"/>
              </p:cNvSpPr>
              <p:nvPr/>
            </p:nvSpPr>
            <p:spPr bwMode="auto">
              <a:xfrm>
                <a:off x="375" y="1093"/>
                <a:ext cx="240" cy="23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zh-CN" altLang="en-US" sz="1800" b="1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98" name="Line 9"/>
              <p:cNvSpPr>
                <a:spLocks noChangeShapeType="1"/>
              </p:cNvSpPr>
              <p:nvPr/>
            </p:nvSpPr>
            <p:spPr bwMode="auto">
              <a:xfrm flipV="1">
                <a:off x="491" y="1133"/>
                <a:ext cx="0" cy="158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latin typeface="+mn-lt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16401" name="Group 11"/>
              <p:cNvGrpSpPr>
                <a:grpSpLocks/>
              </p:cNvGrpSpPr>
              <p:nvPr/>
            </p:nvGrpSpPr>
            <p:grpSpPr bwMode="auto">
              <a:xfrm>
                <a:off x="759" y="975"/>
                <a:ext cx="720" cy="237"/>
                <a:chOff x="672" y="960"/>
                <a:chExt cx="720" cy="288"/>
              </a:xfrm>
            </p:grpSpPr>
            <p:sp>
              <p:nvSpPr>
                <p:cNvPr id="106" name="Rectangle 12"/>
                <p:cNvSpPr>
                  <a:spLocks noChangeArrowheads="1"/>
                </p:cNvSpPr>
                <p:nvPr/>
              </p:nvSpPr>
              <p:spPr bwMode="auto">
                <a:xfrm>
                  <a:off x="672" y="960"/>
                  <a:ext cx="240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 b="1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07" name="Rectangle 13"/>
                <p:cNvSpPr>
                  <a:spLocks noChangeArrowheads="1"/>
                </p:cNvSpPr>
                <p:nvPr/>
              </p:nvSpPr>
              <p:spPr bwMode="auto">
                <a:xfrm>
                  <a:off x="912" y="960"/>
                  <a:ext cx="240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 b="1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08" name="Rectangle 14"/>
                <p:cNvSpPr>
                  <a:spLocks noChangeArrowheads="1"/>
                </p:cNvSpPr>
                <p:nvPr/>
              </p:nvSpPr>
              <p:spPr bwMode="auto">
                <a:xfrm>
                  <a:off x="1152" y="960"/>
                  <a:ext cx="240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 b="1">
                    <a:latin typeface="+mn-lt"/>
                    <a:ea typeface="华文楷体" panose="02010600040101010101" pitchFamily="2" charset="-122"/>
                  </a:endParaRPr>
                </a:p>
              </p:txBody>
            </p:sp>
          </p:grpSp>
          <p:sp>
            <p:nvSpPr>
              <p:cNvPr id="100" name="Text Box 15"/>
              <p:cNvSpPr txBox="1">
                <a:spLocks noChangeArrowheads="1"/>
              </p:cNvSpPr>
              <p:nvPr/>
            </p:nvSpPr>
            <p:spPr bwMode="auto">
              <a:xfrm>
                <a:off x="375" y="888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zh-CN" sz="2000" b="1" i="1">
                    <a:latin typeface="+mn-lt"/>
                    <a:ea typeface="华文楷体" panose="02010600040101010101" pitchFamily="2" charset="-122"/>
                  </a:rPr>
                  <a:t>ns</a:t>
                </a:r>
                <a:endParaRPr lang="en-US" altLang="zh-CN" sz="2000" b="1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101" name="Text Box 16"/>
              <p:cNvSpPr txBox="1">
                <a:spLocks noChangeArrowheads="1"/>
              </p:cNvSpPr>
              <p:nvPr/>
            </p:nvSpPr>
            <p:spPr bwMode="auto">
              <a:xfrm>
                <a:off x="999" y="738"/>
                <a:ext cx="288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zh-CN" sz="2000" b="1" i="1">
                    <a:latin typeface="+mn-lt"/>
                    <a:ea typeface="华文楷体" panose="02010600040101010101" pitchFamily="2" charset="-122"/>
                  </a:rPr>
                  <a:t>np</a:t>
                </a:r>
                <a:endParaRPr lang="en-US" altLang="zh-CN" sz="2000" b="1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16404" name="Text Box 17"/>
              <p:cNvSpPr txBox="1">
                <a:spLocks noChangeArrowheads="1"/>
              </p:cNvSpPr>
              <p:nvPr/>
            </p:nvSpPr>
            <p:spPr bwMode="auto">
              <a:xfrm>
                <a:off x="838" y="1189"/>
                <a:ext cx="72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>
                    <a:latin typeface="黑体" pitchFamily="49" charset="-122"/>
                    <a:ea typeface="楷体_GB2312" pitchFamily="49" charset="-122"/>
                  </a:rPr>
                  <a:t>激发态</a:t>
                </a:r>
              </a:p>
            </p:txBody>
          </p:sp>
          <p:sp>
            <p:nvSpPr>
              <p:cNvPr id="103" name="Line 18"/>
              <p:cNvSpPr>
                <a:spLocks noChangeShapeType="1"/>
              </p:cNvSpPr>
              <p:nvPr/>
            </p:nvSpPr>
            <p:spPr bwMode="auto">
              <a:xfrm flipV="1">
                <a:off x="855" y="1023"/>
                <a:ext cx="0" cy="158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104" name="Line 19"/>
              <p:cNvSpPr>
                <a:spLocks noChangeShapeType="1"/>
              </p:cNvSpPr>
              <p:nvPr/>
            </p:nvSpPr>
            <p:spPr bwMode="auto">
              <a:xfrm flipV="1">
                <a:off x="1095" y="1023"/>
                <a:ext cx="0" cy="158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105" name="Line 19"/>
              <p:cNvSpPr>
                <a:spLocks noChangeShapeType="1"/>
              </p:cNvSpPr>
              <p:nvPr/>
            </p:nvSpPr>
            <p:spPr bwMode="auto">
              <a:xfrm flipV="1">
                <a:off x="1357" y="1014"/>
                <a:ext cx="0" cy="158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latin typeface="+mn-lt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109" name="AutoShape 4"/>
            <p:cNvSpPr>
              <a:spLocks noChangeArrowheads="1"/>
            </p:cNvSpPr>
            <p:nvPr/>
          </p:nvSpPr>
          <p:spPr bwMode="auto">
            <a:xfrm>
              <a:off x="5775027" y="1245958"/>
              <a:ext cx="457200" cy="250825"/>
            </a:xfrm>
            <a:prstGeom prst="rightArrow">
              <a:avLst>
                <a:gd name="adj1" fmla="val 50000"/>
                <a:gd name="adj2" fmla="val 45570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800" b="1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10" name="AutoShape 5"/>
            <p:cNvSpPr>
              <a:spLocks noChangeArrowheads="1"/>
            </p:cNvSpPr>
            <p:nvPr/>
          </p:nvSpPr>
          <p:spPr bwMode="auto">
            <a:xfrm>
              <a:off x="8492827" y="1233258"/>
              <a:ext cx="457200" cy="250825"/>
            </a:xfrm>
            <a:prstGeom prst="rightArrow">
              <a:avLst>
                <a:gd name="adj1" fmla="val 50000"/>
                <a:gd name="adj2" fmla="val 45570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800" b="1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6397" name="Text Box 63"/>
            <p:cNvSpPr txBox="1">
              <a:spLocks noChangeArrowheads="1"/>
            </p:cNvSpPr>
            <p:nvPr/>
          </p:nvSpPr>
          <p:spPr bwMode="auto">
            <a:xfrm>
              <a:off x="5668665" y="910996"/>
              <a:ext cx="1350962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0000"/>
                  </a:solidFill>
                  <a:latin typeface="黑体" pitchFamily="49" charset="-122"/>
                  <a:ea typeface="楷体_GB2312" pitchFamily="49" charset="-122"/>
                </a:rPr>
                <a:t>激发</a:t>
              </a:r>
            </a:p>
          </p:txBody>
        </p:sp>
        <p:sp>
          <p:nvSpPr>
            <p:cNvPr id="16398" name="Text Box 63"/>
            <p:cNvSpPr txBox="1">
              <a:spLocks noChangeArrowheads="1"/>
            </p:cNvSpPr>
            <p:nvPr/>
          </p:nvSpPr>
          <p:spPr bwMode="auto">
            <a:xfrm>
              <a:off x="8359477" y="904646"/>
              <a:ext cx="13509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0000"/>
                  </a:solidFill>
                  <a:latin typeface="黑体" pitchFamily="49" charset="-122"/>
                  <a:ea typeface="楷体_GB2312" pitchFamily="49" charset="-122"/>
                </a:rPr>
                <a:t>杂化</a:t>
              </a:r>
            </a:p>
          </p:txBody>
        </p:sp>
      </p:grpSp>
      <p:sp>
        <p:nvSpPr>
          <p:cNvPr id="16391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5572125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8.1.2</a:t>
            </a:r>
            <a:r>
              <a:rPr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杂化轨道理论与分子的几何构型</a:t>
            </a:r>
            <a:endParaRPr lang="zh-CN" altLang="en-US" sz="220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900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117475" y="5597525"/>
            <a:ext cx="360363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1" name="Oval 6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Text Box 47"/>
          <p:cNvSpPr txBox="1">
            <a:spLocks noChangeArrowheads="1"/>
          </p:cNvSpPr>
          <p:nvPr/>
        </p:nvSpPr>
        <p:spPr bwMode="auto">
          <a:xfrm>
            <a:off x="617538" y="1025525"/>
            <a:ext cx="38703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solidFill>
                  <a:srgbClr val="FF0000"/>
                </a:solidFill>
                <a:ea typeface="楷体_GB2312" pitchFamily="49" charset="-122"/>
              </a:rPr>
              <a:t>2. </a:t>
            </a:r>
            <a:r>
              <a:rPr kumimoji="1" lang="zh-CN" altLang="en-US" sz="2500" b="1">
                <a:solidFill>
                  <a:srgbClr val="FF0000"/>
                </a:solidFill>
                <a:ea typeface="楷体_GB2312" pitchFamily="49" charset="-122"/>
              </a:rPr>
              <a:t>杂化轨道理论的要点</a:t>
            </a:r>
          </a:p>
        </p:txBody>
      </p:sp>
      <p:sp>
        <p:nvSpPr>
          <p:cNvPr id="57" name="矩形 56"/>
          <p:cNvSpPr>
            <a:spLocks noChangeArrowheads="1"/>
          </p:cNvSpPr>
          <p:nvPr/>
        </p:nvSpPr>
        <p:spPr bwMode="auto">
          <a:xfrm>
            <a:off x="903288" y="1597025"/>
            <a:ext cx="8023225" cy="159226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600"/>
              </a:spcBef>
              <a:buClrTx/>
              <a:buSzTx/>
              <a:buFont typeface="+mj-lt"/>
              <a:buAutoNum type="alphaLcParenR"/>
              <a:defRPr/>
            </a:pPr>
            <a:r>
              <a:rPr lang="zh-CN" altLang="en-US" sz="2500" b="1" dirty="0">
                <a:ea typeface="楷体_GB2312"/>
              </a:rPr>
              <a:t>孤立原子的轨道本身不会</a:t>
            </a:r>
            <a:r>
              <a:rPr lang="zh-CN" altLang="en-US" sz="2500" b="1">
                <a:ea typeface="楷体_GB2312"/>
              </a:rPr>
              <a:t>发生</a:t>
            </a:r>
            <a:r>
              <a:rPr lang="zh-CN" altLang="en-US" sz="2500" b="1" smtClean="0">
                <a:ea typeface="楷体_GB2312"/>
              </a:rPr>
              <a:t>杂化</a:t>
            </a:r>
            <a:r>
              <a:rPr lang="en-US" altLang="zh-CN" sz="2500" b="1" smtClean="0">
                <a:ea typeface="楷体_GB2312"/>
              </a:rPr>
              <a:t>;</a:t>
            </a:r>
            <a:endParaRPr lang="en-US" altLang="zh-CN" sz="2500" b="1" dirty="0" smtClean="0">
              <a:ea typeface="楷体_GB231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Tx/>
              <a:buSzTx/>
              <a:buFontTx/>
              <a:buAutoNum type="alphaLcParenR"/>
              <a:defRPr/>
            </a:pPr>
            <a:r>
              <a:rPr lang="zh-CN" altLang="en-US" sz="2500" b="1" dirty="0" smtClean="0">
                <a:ea typeface="楷体_GB2312"/>
              </a:rPr>
              <a:t>参与</a:t>
            </a:r>
            <a:r>
              <a:rPr lang="zh-CN" altLang="en-US" sz="2500" b="1" dirty="0">
                <a:ea typeface="楷体_GB2312"/>
              </a:rPr>
              <a:t>杂化的轨道</a:t>
            </a:r>
            <a:r>
              <a:rPr lang="zh-CN" altLang="en-US" sz="2500" b="1">
                <a:ea typeface="楷体_GB2312"/>
              </a:rPr>
              <a:t>能量</a:t>
            </a:r>
            <a:r>
              <a:rPr lang="zh-CN" altLang="en-US" sz="2500" b="1" smtClean="0">
                <a:ea typeface="楷体_GB2312"/>
              </a:rPr>
              <a:t>相近</a:t>
            </a:r>
            <a:r>
              <a:rPr lang="en-US" altLang="zh-CN" sz="2500" b="1" smtClean="0">
                <a:ea typeface="楷体_GB2312"/>
              </a:rPr>
              <a:t>;</a:t>
            </a:r>
            <a:endParaRPr lang="en-US" altLang="zh-CN" sz="2500" b="1" dirty="0">
              <a:ea typeface="楷体_GB2312"/>
            </a:endParaRPr>
          </a:p>
          <a:p>
            <a:pPr marL="0" indent="0">
              <a:spcBef>
                <a:spcPts val="600"/>
              </a:spcBef>
              <a:buClrTx/>
              <a:buSzTx/>
              <a:buFont typeface="Monotype Sorts"/>
              <a:buNone/>
              <a:defRPr/>
            </a:pPr>
            <a:endParaRPr lang="en-US" altLang="zh-CN" sz="2500" b="1" dirty="0">
              <a:ea typeface="华文楷体" panose="02010600040101010101" pitchFamily="2" charset="-122"/>
            </a:endParaRPr>
          </a:p>
        </p:txBody>
      </p:sp>
      <p:grpSp>
        <p:nvGrpSpPr>
          <p:cNvPr id="2" name="组合 59"/>
          <p:cNvGrpSpPr>
            <a:grpSpLocks/>
          </p:cNvGrpSpPr>
          <p:nvPr/>
        </p:nvGrpSpPr>
        <p:grpSpPr bwMode="auto">
          <a:xfrm>
            <a:off x="1295400" y="2794000"/>
            <a:ext cx="3603625" cy="2030413"/>
            <a:chOff x="3050603" y="2412529"/>
            <a:chExt cx="3604284" cy="2030689"/>
          </a:xfrm>
        </p:grpSpPr>
        <p:grpSp>
          <p:nvGrpSpPr>
            <p:cNvPr id="17426" name="组合 32"/>
            <p:cNvGrpSpPr>
              <a:grpSpLocks/>
            </p:cNvGrpSpPr>
            <p:nvPr/>
          </p:nvGrpSpPr>
          <p:grpSpPr bwMode="auto">
            <a:xfrm>
              <a:off x="3191515" y="2412529"/>
              <a:ext cx="3463372" cy="1240474"/>
              <a:chOff x="3191515" y="2412529"/>
              <a:chExt cx="3463372" cy="1240474"/>
            </a:xfrm>
          </p:grpSpPr>
          <p:sp>
            <p:nvSpPr>
              <p:cNvPr id="63" name="Oval 15"/>
              <p:cNvSpPr>
                <a:spLocks noChangeArrowheads="1"/>
              </p:cNvSpPr>
              <p:nvPr/>
            </p:nvSpPr>
            <p:spPr bwMode="auto">
              <a:xfrm>
                <a:off x="3222085" y="2898370"/>
                <a:ext cx="392185" cy="39534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 pitchFamily="2" charset="2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endParaRPr lang="zh-CN" altLang="en-US" sz="1600">
                  <a:ea typeface="华文楷体" panose="02010600040101010101" pitchFamily="2" charset="-122"/>
                </a:endParaRPr>
              </a:p>
            </p:txBody>
          </p:sp>
          <p:sp>
            <p:nvSpPr>
              <p:cNvPr id="64" name="Oval 16"/>
              <p:cNvSpPr>
                <a:spLocks noChangeArrowheads="1"/>
              </p:cNvSpPr>
              <p:nvPr/>
            </p:nvSpPr>
            <p:spPr bwMode="auto">
              <a:xfrm>
                <a:off x="4324011" y="2644336"/>
                <a:ext cx="392185" cy="393754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 pitchFamily="2" charset="2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endParaRPr lang="zh-CN" altLang="en-US" sz="1600">
                  <a:ea typeface="华文楷体" panose="02010600040101010101" pitchFamily="2" charset="-122"/>
                </a:endParaRPr>
              </a:p>
            </p:txBody>
          </p:sp>
          <p:sp>
            <p:nvSpPr>
              <p:cNvPr id="65" name="Oval 17"/>
              <p:cNvSpPr>
                <a:spLocks noChangeArrowheads="1"/>
              </p:cNvSpPr>
              <p:nvPr/>
            </p:nvSpPr>
            <p:spPr bwMode="auto">
              <a:xfrm>
                <a:off x="3931827" y="2644336"/>
                <a:ext cx="392184" cy="393754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 pitchFamily="2" charset="2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endParaRPr lang="zh-CN" altLang="en-US" sz="1600">
                  <a:ea typeface="华文楷体" panose="02010600040101010101" pitchFamily="2" charset="-122"/>
                </a:endParaRPr>
              </a:p>
            </p:txBody>
          </p:sp>
          <p:sp>
            <p:nvSpPr>
              <p:cNvPr id="113" name="Oval 18"/>
              <p:cNvSpPr>
                <a:spLocks noChangeArrowheads="1"/>
              </p:cNvSpPr>
              <p:nvPr/>
            </p:nvSpPr>
            <p:spPr bwMode="auto">
              <a:xfrm>
                <a:off x="3539643" y="2644336"/>
                <a:ext cx="392185" cy="393754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 pitchFamily="2" charset="2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endParaRPr lang="zh-CN" altLang="en-US" sz="1600">
                  <a:ea typeface="华文楷体" panose="02010600040101010101" pitchFamily="2" charset="-122"/>
                </a:endParaRPr>
              </a:p>
            </p:txBody>
          </p:sp>
          <p:sp>
            <p:nvSpPr>
              <p:cNvPr id="114" name="Oval 16"/>
              <p:cNvSpPr>
                <a:spLocks noChangeArrowheads="1"/>
              </p:cNvSpPr>
              <p:nvPr/>
            </p:nvSpPr>
            <p:spPr bwMode="auto">
              <a:xfrm>
                <a:off x="5462457" y="2412529"/>
                <a:ext cx="390596" cy="393754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 pitchFamily="2" charset="2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endParaRPr lang="zh-CN" altLang="en-US" sz="1600">
                  <a:ea typeface="华文楷体" panose="02010600040101010101" pitchFamily="2" charset="-122"/>
                </a:endParaRPr>
              </a:p>
            </p:txBody>
          </p:sp>
          <p:sp>
            <p:nvSpPr>
              <p:cNvPr id="115" name="Oval 17"/>
              <p:cNvSpPr>
                <a:spLocks noChangeArrowheads="1"/>
              </p:cNvSpPr>
              <p:nvPr/>
            </p:nvSpPr>
            <p:spPr bwMode="auto">
              <a:xfrm>
                <a:off x="5070272" y="2412529"/>
                <a:ext cx="392185" cy="393754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 pitchFamily="2" charset="2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endParaRPr lang="zh-CN" altLang="en-US" sz="1600">
                  <a:ea typeface="华文楷体" panose="02010600040101010101" pitchFamily="2" charset="-122"/>
                </a:endParaRPr>
              </a:p>
            </p:txBody>
          </p:sp>
          <p:sp>
            <p:nvSpPr>
              <p:cNvPr id="116" name="Oval 18"/>
              <p:cNvSpPr>
                <a:spLocks noChangeArrowheads="1"/>
              </p:cNvSpPr>
              <p:nvPr/>
            </p:nvSpPr>
            <p:spPr bwMode="auto">
              <a:xfrm>
                <a:off x="4678089" y="2412529"/>
                <a:ext cx="392184" cy="393754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 pitchFamily="2" charset="2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endParaRPr lang="zh-CN" altLang="en-US" sz="1600">
                  <a:ea typeface="华文楷体" panose="02010600040101010101" pitchFamily="2" charset="-122"/>
                </a:endParaRPr>
              </a:p>
            </p:txBody>
          </p:sp>
          <p:sp>
            <p:nvSpPr>
              <p:cNvPr id="120" name="Oval 16"/>
              <p:cNvSpPr>
                <a:spLocks noChangeArrowheads="1"/>
              </p:cNvSpPr>
              <p:nvPr/>
            </p:nvSpPr>
            <p:spPr bwMode="auto">
              <a:xfrm>
                <a:off x="6262703" y="2412529"/>
                <a:ext cx="392184" cy="393754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 pitchFamily="2" charset="2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endParaRPr lang="zh-CN" altLang="en-US" sz="1600">
                  <a:ea typeface="华文楷体" panose="02010600040101010101" pitchFamily="2" charset="-122"/>
                </a:endParaRPr>
              </a:p>
            </p:txBody>
          </p:sp>
          <p:sp>
            <p:nvSpPr>
              <p:cNvPr id="121" name="Oval 17"/>
              <p:cNvSpPr>
                <a:spLocks noChangeArrowheads="1"/>
              </p:cNvSpPr>
              <p:nvPr/>
            </p:nvSpPr>
            <p:spPr bwMode="auto">
              <a:xfrm>
                <a:off x="5870519" y="2412529"/>
                <a:ext cx="392185" cy="393754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 pitchFamily="2" charset="2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endParaRPr lang="zh-CN" altLang="en-US" sz="1600">
                  <a:ea typeface="华文楷体" panose="02010600040101010101" pitchFamily="2" charset="-122"/>
                </a:endParaRPr>
              </a:p>
            </p:txBody>
          </p:sp>
          <p:sp>
            <p:nvSpPr>
              <p:cNvPr id="17437" name="文本框 51"/>
              <p:cNvSpPr txBox="1">
                <a:spLocks noChangeArrowheads="1"/>
              </p:cNvSpPr>
              <p:nvPr/>
            </p:nvSpPr>
            <p:spPr bwMode="auto">
              <a:xfrm>
                <a:off x="5432289" y="2712608"/>
                <a:ext cx="528735" cy="4620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solidFill>
                      <a:srgbClr val="FF0000"/>
                    </a:solidFill>
                    <a:ea typeface="华文楷体" pitchFamily="2" charset="-122"/>
                  </a:rPr>
                  <a:t>n</a:t>
                </a:r>
                <a:r>
                  <a:rPr lang="en-US" altLang="zh-CN" sz="2400" b="1">
                    <a:solidFill>
                      <a:srgbClr val="FF0000"/>
                    </a:solidFill>
                    <a:ea typeface="华文楷体" pitchFamily="2" charset="-122"/>
                  </a:rPr>
                  <a:t>d</a:t>
                </a:r>
                <a:endParaRPr lang="zh-CN" altLang="en-US" sz="2400" b="1">
                  <a:solidFill>
                    <a:srgbClr val="FF0000"/>
                  </a:solidFill>
                  <a:ea typeface="华文楷体" pitchFamily="2" charset="-122"/>
                </a:endParaRPr>
              </a:p>
            </p:txBody>
          </p:sp>
          <p:sp>
            <p:nvSpPr>
              <p:cNvPr id="17438" name="文本框 52"/>
              <p:cNvSpPr txBox="1">
                <a:spLocks noChangeArrowheads="1"/>
              </p:cNvSpPr>
              <p:nvPr/>
            </p:nvSpPr>
            <p:spPr bwMode="auto">
              <a:xfrm>
                <a:off x="3895308" y="2941239"/>
                <a:ext cx="527146" cy="4620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solidFill>
                      <a:srgbClr val="FF0000"/>
                    </a:solidFill>
                    <a:ea typeface="华文楷体" pitchFamily="2" charset="-122"/>
                  </a:rPr>
                  <a:t>n</a:t>
                </a:r>
                <a:r>
                  <a:rPr lang="en-US" altLang="zh-CN" sz="2400" b="1">
                    <a:solidFill>
                      <a:srgbClr val="FF0000"/>
                    </a:solidFill>
                    <a:ea typeface="华文楷体" pitchFamily="2" charset="-122"/>
                  </a:rPr>
                  <a:t>p</a:t>
                </a:r>
                <a:endParaRPr lang="zh-CN" altLang="en-US" sz="2400" b="1">
                  <a:solidFill>
                    <a:srgbClr val="FF0000"/>
                  </a:solidFill>
                  <a:ea typeface="华文楷体" pitchFamily="2" charset="-122"/>
                </a:endParaRPr>
              </a:p>
            </p:txBody>
          </p:sp>
          <p:sp>
            <p:nvSpPr>
              <p:cNvPr id="17439" name="文本框 53"/>
              <p:cNvSpPr txBox="1">
                <a:spLocks noChangeArrowheads="1"/>
              </p:cNvSpPr>
              <p:nvPr/>
            </p:nvSpPr>
            <p:spPr bwMode="auto">
              <a:xfrm>
                <a:off x="3191917" y="3190510"/>
                <a:ext cx="476337" cy="4620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solidFill>
                      <a:srgbClr val="FF0000"/>
                    </a:solidFill>
                    <a:ea typeface="华文楷体" pitchFamily="2" charset="-122"/>
                  </a:rPr>
                  <a:t>n</a:t>
                </a:r>
                <a:r>
                  <a:rPr lang="en-US" altLang="zh-CN" sz="2400" b="1">
                    <a:solidFill>
                      <a:srgbClr val="FF0000"/>
                    </a:solidFill>
                    <a:ea typeface="华文楷体" pitchFamily="2" charset="-122"/>
                  </a:rPr>
                  <a:t>s</a:t>
                </a:r>
                <a:endParaRPr lang="zh-CN" altLang="en-US" sz="2400" b="1">
                  <a:solidFill>
                    <a:srgbClr val="FF0000"/>
                  </a:solidFill>
                  <a:ea typeface="华文楷体" pitchFamily="2" charset="-122"/>
                </a:endParaRPr>
              </a:p>
            </p:txBody>
          </p:sp>
        </p:grpSp>
        <p:sp>
          <p:nvSpPr>
            <p:cNvPr id="17427" name="矩形 33"/>
            <p:cNvSpPr>
              <a:spLocks noChangeArrowheads="1"/>
            </p:cNvSpPr>
            <p:nvPr/>
          </p:nvSpPr>
          <p:spPr bwMode="auto">
            <a:xfrm>
              <a:off x="3050603" y="3612842"/>
              <a:ext cx="2910420" cy="8303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400" b="1">
                  <a:solidFill>
                    <a:srgbClr val="FF0000"/>
                  </a:solidFill>
                  <a:ea typeface="楷体_GB2312" pitchFamily="49" charset="-122"/>
                </a:rPr>
                <a:t>例如</a:t>
              </a:r>
              <a:r>
                <a:rPr lang="zh-CN" altLang="en-US" sz="2400" b="1">
                  <a:solidFill>
                    <a:srgbClr val="FF0000"/>
                  </a:solidFill>
                  <a:ea typeface="华文楷体" pitchFamily="2" charset="-122"/>
                </a:rPr>
                <a:t>：</a:t>
              </a:r>
              <a:r>
                <a:rPr lang="en-US" altLang="zh-CN" sz="2400" b="1" i="1">
                  <a:solidFill>
                    <a:srgbClr val="FF0000"/>
                  </a:solidFill>
                  <a:ea typeface="华文楷体" pitchFamily="2" charset="-122"/>
                </a:rPr>
                <a:t>n</a:t>
              </a:r>
              <a:r>
                <a:rPr lang="en-US" altLang="zh-CN" sz="2400" b="1">
                  <a:solidFill>
                    <a:srgbClr val="FF0000"/>
                  </a:solidFill>
                  <a:ea typeface="华文楷体" pitchFamily="2" charset="-122"/>
                </a:rPr>
                <a:t>s-</a:t>
              </a:r>
              <a:r>
                <a:rPr lang="en-US" altLang="zh-CN" sz="2400" b="1" i="1">
                  <a:solidFill>
                    <a:srgbClr val="FF0000"/>
                  </a:solidFill>
                  <a:ea typeface="华文楷体" pitchFamily="2" charset="-122"/>
                </a:rPr>
                <a:t>n</a:t>
              </a:r>
              <a:r>
                <a:rPr lang="en-US" altLang="zh-CN" sz="2400" b="1">
                  <a:solidFill>
                    <a:srgbClr val="FF0000"/>
                  </a:solidFill>
                  <a:ea typeface="华文楷体" pitchFamily="2" charset="-122"/>
                </a:rPr>
                <a:t>p</a:t>
              </a:r>
              <a:r>
                <a:rPr lang="zh-CN" altLang="en-US" sz="2400" b="1">
                  <a:solidFill>
                    <a:srgbClr val="FF0000"/>
                  </a:solidFill>
                  <a:ea typeface="楷体_GB2312" pitchFamily="49" charset="-122"/>
                </a:rPr>
                <a:t>杂化</a:t>
              </a:r>
              <a:endParaRPr lang="en-US" altLang="zh-CN" sz="2400" b="1">
                <a:solidFill>
                  <a:srgbClr val="FF0000"/>
                </a:solidFill>
                <a:ea typeface="楷体_GB2312" pitchFamily="49" charset="-122"/>
              </a:endParaRPr>
            </a:p>
            <a:p>
              <a:r>
                <a:rPr lang="en-US" altLang="zh-CN" sz="2400" b="1" i="1">
                  <a:solidFill>
                    <a:srgbClr val="FF0000"/>
                  </a:solidFill>
                  <a:ea typeface="华文楷体" pitchFamily="2" charset="-122"/>
                </a:rPr>
                <a:t>            n</a:t>
              </a:r>
              <a:r>
                <a:rPr lang="en-US" altLang="zh-CN" sz="2400" b="1">
                  <a:solidFill>
                    <a:srgbClr val="FF0000"/>
                  </a:solidFill>
                  <a:ea typeface="华文楷体" pitchFamily="2" charset="-122"/>
                </a:rPr>
                <a:t>s-</a:t>
              </a:r>
              <a:r>
                <a:rPr lang="en-US" altLang="zh-CN" sz="2400" b="1" i="1">
                  <a:solidFill>
                    <a:srgbClr val="FF0000"/>
                  </a:solidFill>
                  <a:ea typeface="华文楷体" pitchFamily="2" charset="-122"/>
                </a:rPr>
                <a:t>n</a:t>
              </a:r>
              <a:r>
                <a:rPr lang="en-US" altLang="zh-CN" sz="2400" b="1">
                  <a:solidFill>
                    <a:srgbClr val="FF0000"/>
                  </a:solidFill>
                  <a:ea typeface="华文楷体" pitchFamily="2" charset="-122"/>
                </a:rPr>
                <a:t>p-</a:t>
              </a:r>
              <a:r>
                <a:rPr lang="en-US" altLang="zh-CN" sz="2400" b="1" i="1">
                  <a:solidFill>
                    <a:srgbClr val="FF0000"/>
                  </a:solidFill>
                  <a:ea typeface="华文楷体" pitchFamily="2" charset="-122"/>
                </a:rPr>
                <a:t>n</a:t>
              </a:r>
              <a:r>
                <a:rPr lang="en-US" altLang="zh-CN" sz="2400" b="1">
                  <a:solidFill>
                    <a:srgbClr val="FF0000"/>
                  </a:solidFill>
                  <a:ea typeface="华文楷体" pitchFamily="2" charset="-122"/>
                </a:rPr>
                <a:t>d</a:t>
              </a:r>
              <a:r>
                <a:rPr lang="zh-CN" altLang="en-US" sz="2400" b="1">
                  <a:solidFill>
                    <a:srgbClr val="FF0000"/>
                  </a:solidFill>
                  <a:ea typeface="楷体_GB2312" pitchFamily="49" charset="-122"/>
                </a:rPr>
                <a:t>杂化</a:t>
              </a:r>
              <a:endParaRPr lang="en-US" altLang="zh-CN" sz="2400" b="1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4" name="组合 127"/>
          <p:cNvGrpSpPr>
            <a:grpSpLocks/>
          </p:cNvGrpSpPr>
          <p:nvPr/>
        </p:nvGrpSpPr>
        <p:grpSpPr bwMode="auto">
          <a:xfrm>
            <a:off x="6197600" y="1292225"/>
            <a:ext cx="1762125" cy="1898650"/>
            <a:chOff x="6732766" y="2412286"/>
            <a:chExt cx="1441450" cy="1655762"/>
          </a:xfrm>
        </p:grpSpPr>
        <p:sp>
          <p:nvSpPr>
            <p:cNvPr id="17418" name="Line 44"/>
            <p:cNvSpPr>
              <a:spLocks noChangeShapeType="1"/>
            </p:cNvSpPr>
            <p:nvPr/>
          </p:nvSpPr>
          <p:spPr bwMode="auto">
            <a:xfrm flipH="1" flipV="1">
              <a:off x="7667761" y="3346767"/>
              <a:ext cx="286992" cy="719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9" name="Line 46"/>
            <p:cNvSpPr>
              <a:spLocks noChangeShapeType="1"/>
            </p:cNvSpPr>
            <p:nvPr/>
          </p:nvSpPr>
          <p:spPr bwMode="auto">
            <a:xfrm>
              <a:off x="7453491" y="2700245"/>
              <a:ext cx="0" cy="43332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0" name="Line 52"/>
            <p:cNvSpPr>
              <a:spLocks noChangeShapeType="1"/>
            </p:cNvSpPr>
            <p:nvPr/>
          </p:nvSpPr>
          <p:spPr bwMode="auto">
            <a:xfrm flipH="1">
              <a:off x="6948334" y="3492131"/>
              <a:ext cx="361012" cy="2159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1" name="Line 53"/>
            <p:cNvSpPr>
              <a:spLocks noChangeShapeType="1"/>
            </p:cNvSpPr>
            <p:nvPr/>
          </p:nvSpPr>
          <p:spPr bwMode="auto">
            <a:xfrm>
              <a:off x="7596338" y="3492131"/>
              <a:ext cx="361012" cy="3599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2" name="Oval 47"/>
            <p:cNvSpPr>
              <a:spLocks noChangeArrowheads="1"/>
            </p:cNvSpPr>
            <p:nvPr/>
          </p:nvSpPr>
          <p:spPr bwMode="auto">
            <a:xfrm>
              <a:off x="7309346" y="2412286"/>
              <a:ext cx="288290" cy="287959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 b="1">
                <a:ea typeface="华文楷体" pitchFamily="2" charset="-122"/>
              </a:endParaRPr>
            </a:p>
          </p:txBody>
        </p:sp>
        <p:sp>
          <p:nvSpPr>
            <p:cNvPr id="17423" name="Oval 48"/>
            <p:cNvSpPr>
              <a:spLocks noChangeArrowheads="1"/>
            </p:cNvSpPr>
            <p:nvPr/>
          </p:nvSpPr>
          <p:spPr bwMode="auto">
            <a:xfrm>
              <a:off x="7885926" y="3780089"/>
              <a:ext cx="286992" cy="287959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 b="1">
                <a:ea typeface="华文楷体" pitchFamily="2" charset="-122"/>
              </a:endParaRPr>
            </a:p>
          </p:txBody>
        </p:sp>
        <p:sp>
          <p:nvSpPr>
            <p:cNvPr id="17424" name="Oval 50"/>
            <p:cNvSpPr>
              <a:spLocks noChangeArrowheads="1"/>
            </p:cNvSpPr>
            <p:nvPr/>
          </p:nvSpPr>
          <p:spPr bwMode="auto">
            <a:xfrm>
              <a:off x="6732766" y="3636110"/>
              <a:ext cx="288290" cy="287959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 b="1">
                <a:ea typeface="华文楷体" pitchFamily="2" charset="-122"/>
              </a:endParaRPr>
            </a:p>
          </p:txBody>
        </p:sp>
        <p:sp>
          <p:nvSpPr>
            <p:cNvPr id="17425" name="Oval 51"/>
            <p:cNvSpPr>
              <a:spLocks noChangeArrowheads="1"/>
            </p:cNvSpPr>
            <p:nvPr/>
          </p:nvSpPr>
          <p:spPr bwMode="auto">
            <a:xfrm>
              <a:off x="7885926" y="3276162"/>
              <a:ext cx="288290" cy="2865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 b="1">
                <a:ea typeface="华文楷体" pitchFamily="2" charset="-122"/>
              </a:endParaRPr>
            </a:p>
          </p:txBody>
        </p:sp>
      </p:grpSp>
      <p:sp>
        <p:nvSpPr>
          <p:cNvPr id="59" name="Oval 49"/>
          <p:cNvSpPr>
            <a:spLocks noChangeArrowheads="1"/>
          </p:cNvSpPr>
          <p:nvPr/>
        </p:nvSpPr>
        <p:spPr bwMode="auto">
          <a:xfrm>
            <a:off x="6827838" y="2124075"/>
            <a:ext cx="528637" cy="4953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FF66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3200" b="1">
                <a:solidFill>
                  <a:schemeClr val="bg2"/>
                </a:solidFill>
                <a:ea typeface="华文楷体" pitchFamily="2" charset="-122"/>
              </a:rPr>
              <a:t>C</a:t>
            </a:r>
            <a:endParaRPr lang="zh-CN" altLang="en-US" sz="3200" b="1">
              <a:solidFill>
                <a:schemeClr val="bg2"/>
              </a:solidFill>
              <a:ea typeface="华文楷体" pitchFamily="2" charset="-122"/>
            </a:endParaRPr>
          </a:p>
        </p:txBody>
      </p:sp>
      <p:sp>
        <p:nvSpPr>
          <p:cNvPr id="17417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5572125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8.1.2</a:t>
            </a:r>
            <a:r>
              <a:rPr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杂化轨道理论与分子的几何构型</a:t>
            </a:r>
            <a:endParaRPr lang="zh-CN" altLang="en-US" sz="220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1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100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build="p"/>
      <p:bldP spid="5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5" name="Oval 6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6" name="Text Box 47"/>
          <p:cNvSpPr txBox="1">
            <a:spLocks noChangeArrowheads="1"/>
          </p:cNvSpPr>
          <p:nvPr/>
        </p:nvSpPr>
        <p:spPr bwMode="auto">
          <a:xfrm>
            <a:off x="617538" y="882650"/>
            <a:ext cx="38703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400" b="1">
                <a:solidFill>
                  <a:srgbClr val="FF0000"/>
                </a:solidFill>
                <a:ea typeface="楷体_GB2312" pitchFamily="49" charset="-122"/>
              </a:rPr>
              <a:t>2. </a:t>
            </a:r>
            <a:r>
              <a:rPr kumimoji="1" lang="zh-CN" altLang="en-US" sz="2400" b="1">
                <a:solidFill>
                  <a:srgbClr val="FF0000"/>
                </a:solidFill>
                <a:ea typeface="楷体_GB2312" pitchFamily="49" charset="-122"/>
              </a:rPr>
              <a:t>杂化轨道理论的要点</a:t>
            </a:r>
          </a:p>
        </p:txBody>
      </p:sp>
      <p:sp>
        <p:nvSpPr>
          <p:cNvPr id="57" name="矩形 56"/>
          <p:cNvSpPr>
            <a:spLocks noChangeArrowheads="1"/>
          </p:cNvSpPr>
          <p:nvPr/>
        </p:nvSpPr>
        <p:spPr bwMode="auto">
          <a:xfrm>
            <a:off x="546100" y="1382713"/>
            <a:ext cx="8023225" cy="153828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600"/>
              </a:spcBef>
              <a:buClrTx/>
              <a:buSzTx/>
              <a:buFont typeface="+mj-lt"/>
              <a:buAutoNum type="alphaLcParenR"/>
              <a:defRPr/>
            </a:pPr>
            <a:r>
              <a:rPr lang="zh-CN" altLang="en-US" sz="2400" b="1" dirty="0">
                <a:ea typeface="楷体_GB2312"/>
              </a:rPr>
              <a:t>孤立原子的轨道本身不会</a:t>
            </a:r>
            <a:r>
              <a:rPr lang="zh-CN" altLang="en-US" sz="2400" b="1">
                <a:ea typeface="楷体_GB2312"/>
              </a:rPr>
              <a:t>发生</a:t>
            </a:r>
            <a:r>
              <a:rPr lang="zh-CN" altLang="en-US" sz="2400" b="1" smtClean="0">
                <a:ea typeface="楷体_GB2312"/>
              </a:rPr>
              <a:t>杂化</a:t>
            </a:r>
            <a:r>
              <a:rPr lang="en-US" altLang="zh-CN" sz="2400" b="1" smtClean="0">
                <a:ea typeface="楷体_GB2312"/>
              </a:rPr>
              <a:t>;</a:t>
            </a:r>
            <a:endParaRPr lang="en-US" altLang="zh-CN" sz="2400" b="1" dirty="0" smtClean="0">
              <a:ea typeface="楷体_GB231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Tx/>
              <a:buSzTx/>
              <a:buFontTx/>
              <a:buAutoNum type="alphaLcParenR"/>
              <a:defRPr/>
            </a:pPr>
            <a:r>
              <a:rPr lang="zh-CN" altLang="en-US" sz="2400" b="1" dirty="0" smtClean="0">
                <a:ea typeface="楷体_GB2312"/>
              </a:rPr>
              <a:t>参与</a:t>
            </a:r>
            <a:r>
              <a:rPr lang="zh-CN" altLang="en-US" sz="2400" b="1" dirty="0">
                <a:ea typeface="楷体_GB2312"/>
              </a:rPr>
              <a:t>杂化的轨道</a:t>
            </a:r>
            <a:r>
              <a:rPr lang="zh-CN" altLang="en-US" sz="2400" b="1">
                <a:ea typeface="楷体_GB2312"/>
              </a:rPr>
              <a:t>能量</a:t>
            </a:r>
            <a:r>
              <a:rPr lang="zh-CN" altLang="en-US" sz="2400" b="1" smtClean="0">
                <a:ea typeface="楷体_GB2312"/>
              </a:rPr>
              <a:t>相近</a:t>
            </a:r>
            <a:r>
              <a:rPr lang="en-US" altLang="zh-CN" sz="2400" b="1" smtClean="0">
                <a:ea typeface="楷体_GB2312"/>
              </a:rPr>
              <a:t>;</a:t>
            </a:r>
            <a:endParaRPr lang="en-US" altLang="zh-CN" sz="2400" b="1" dirty="0">
              <a:ea typeface="楷体_GB2312"/>
            </a:endParaRPr>
          </a:p>
          <a:p>
            <a:pPr marL="0" indent="0">
              <a:spcBef>
                <a:spcPts val="600"/>
              </a:spcBef>
              <a:buClrTx/>
              <a:buSzTx/>
              <a:buFont typeface="Monotype Sorts"/>
              <a:buNone/>
              <a:defRPr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c)   </a:t>
            </a:r>
            <a:r>
              <a:rPr lang="zh-CN" altLang="en-US" sz="2400" b="1" dirty="0">
                <a:ea typeface="楷体_GB2312"/>
              </a:rPr>
              <a:t>杂化前后轨道</a:t>
            </a:r>
            <a:r>
              <a:rPr lang="zh-CN" altLang="en-US" sz="2400" b="1">
                <a:ea typeface="楷体_GB2312"/>
              </a:rPr>
              <a:t>的</a:t>
            </a:r>
            <a:r>
              <a:rPr lang="zh-CN" altLang="en-US" sz="2400" b="1" smtClean="0">
                <a:ea typeface="楷体_GB2312"/>
              </a:rPr>
              <a:t>变化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34" name="文本框 33"/>
          <p:cNvSpPr txBox="1">
            <a:spLocks noChangeArrowheads="1"/>
          </p:cNvSpPr>
          <p:nvPr/>
        </p:nvSpPr>
        <p:spPr bwMode="auto">
          <a:xfrm>
            <a:off x="520700" y="3025775"/>
            <a:ext cx="11001375" cy="177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2400" b="1">
                <a:solidFill>
                  <a:srgbClr val="FF0000"/>
                </a:solidFill>
                <a:ea typeface="楷体_GB2312" pitchFamily="49" charset="-122"/>
              </a:rPr>
              <a:t>①</a:t>
            </a:r>
            <a:r>
              <a:rPr lang="zh-CN" altLang="en-US" sz="2400" b="1">
                <a:ea typeface="楷体_GB2312" pitchFamily="49" charset="-122"/>
              </a:rPr>
              <a:t> 轨道数目不变</a:t>
            </a:r>
            <a:r>
              <a:rPr lang="en-US" altLang="zh-CN" sz="2400" b="1">
                <a:ea typeface="楷体_GB2312" pitchFamily="49" charset="-122"/>
              </a:rPr>
              <a:t>;</a:t>
            </a:r>
          </a:p>
          <a:p>
            <a:pPr>
              <a:lnSpc>
                <a:spcPct val="114000"/>
              </a:lnSpc>
            </a:pPr>
            <a:r>
              <a:rPr lang="zh-CN" altLang="en-US" sz="2400" b="1">
                <a:solidFill>
                  <a:srgbClr val="FF0000"/>
                </a:solidFill>
                <a:ea typeface="楷体_GB2312" pitchFamily="49" charset="-122"/>
              </a:rPr>
              <a:t>②</a:t>
            </a:r>
            <a:r>
              <a:rPr lang="zh-CN" altLang="en-US" sz="2400" b="1">
                <a:ea typeface="楷体_GB2312" pitchFamily="49" charset="-122"/>
              </a:rPr>
              <a:t> 轨道能量、形状、大小变为相同</a:t>
            </a:r>
            <a:r>
              <a:rPr lang="en-US" altLang="zh-CN" sz="2400" b="1">
                <a:ea typeface="楷体_GB2312" pitchFamily="49" charset="-122"/>
              </a:rPr>
              <a:t>;</a:t>
            </a:r>
          </a:p>
          <a:p>
            <a:pPr>
              <a:lnSpc>
                <a:spcPct val="114000"/>
              </a:lnSpc>
            </a:pPr>
            <a:r>
              <a:rPr lang="zh-CN" altLang="en-US" sz="2400" b="1">
                <a:solidFill>
                  <a:srgbClr val="FF0000"/>
                </a:solidFill>
                <a:ea typeface="楷体_GB2312" pitchFamily="49" charset="-122"/>
              </a:rPr>
              <a:t>③</a:t>
            </a:r>
            <a:r>
              <a:rPr lang="zh-CN" altLang="en-US" sz="2400" b="1">
                <a:ea typeface="楷体_GB2312" pitchFamily="49" charset="-122"/>
              </a:rPr>
              <a:t> 轨道方向改变</a:t>
            </a:r>
            <a:r>
              <a:rPr lang="en-US" altLang="zh-CN" sz="2400" b="1">
                <a:ea typeface="楷体_GB2312" pitchFamily="49" charset="-122"/>
              </a:rPr>
              <a:t>,</a:t>
            </a:r>
            <a:r>
              <a:rPr lang="zh-CN" altLang="en-US" sz="2400" b="1">
                <a:ea typeface="楷体_GB2312" pitchFamily="49" charset="-122"/>
              </a:rPr>
              <a:t>呈对称性</a:t>
            </a:r>
            <a:r>
              <a:rPr lang="en-US" altLang="zh-CN" sz="2400" b="1">
                <a:ea typeface="楷体_GB2312" pitchFamily="49" charset="-122"/>
              </a:rPr>
              <a:t>,</a:t>
            </a:r>
            <a:r>
              <a:rPr lang="zh-CN" altLang="en-US" sz="2400" b="1">
                <a:ea typeface="楷体_GB2312" pitchFamily="49" charset="-122"/>
              </a:rPr>
              <a:t>减小斥力</a:t>
            </a:r>
            <a:r>
              <a:rPr lang="en-US" altLang="zh-CN" sz="2400" b="1">
                <a:ea typeface="楷体_GB2312" pitchFamily="49" charset="-122"/>
              </a:rPr>
              <a:t>,</a:t>
            </a:r>
            <a:r>
              <a:rPr lang="zh-CN" altLang="en-US" sz="2400" b="1">
                <a:ea typeface="楷体_GB2312" pitchFamily="49" charset="-122"/>
              </a:rPr>
              <a:t>利于轨道重叠、成键</a:t>
            </a:r>
            <a:r>
              <a:rPr lang="en-US" altLang="zh-CN" sz="2400" b="1">
                <a:ea typeface="楷体_GB2312" pitchFamily="49" charset="-122"/>
              </a:rPr>
              <a:t>,</a:t>
            </a:r>
            <a:r>
              <a:rPr lang="zh-CN" altLang="en-US" sz="2400" b="1">
                <a:ea typeface="楷体_GB2312" pitchFamily="49" charset="-122"/>
              </a:rPr>
              <a:t>决定分子空间构型</a:t>
            </a:r>
            <a:r>
              <a:rPr lang="en-US" altLang="zh-CN" sz="2400" b="1">
                <a:ea typeface="楷体_GB2312" pitchFamily="49" charset="-122"/>
              </a:rPr>
              <a:t>;</a:t>
            </a:r>
          </a:p>
          <a:p>
            <a:pPr>
              <a:lnSpc>
                <a:spcPct val="114000"/>
              </a:lnSpc>
            </a:pPr>
            <a:r>
              <a:rPr lang="zh-CN" altLang="en-US" sz="2400" b="1">
                <a:solidFill>
                  <a:srgbClr val="FF0000"/>
                </a:solidFill>
                <a:ea typeface="楷体_GB2312" pitchFamily="49" charset="-122"/>
              </a:rPr>
              <a:t>④</a:t>
            </a:r>
            <a:r>
              <a:rPr lang="zh-CN" altLang="en-US" sz="2400" b="1">
                <a:ea typeface="楷体_GB2312" pitchFamily="49" charset="-122"/>
              </a:rPr>
              <a:t> 杂化轨道一头大一头小</a:t>
            </a:r>
            <a:r>
              <a:rPr lang="en-US" altLang="zh-CN" sz="2400" b="1">
                <a:ea typeface="楷体_GB2312" pitchFamily="49" charset="-122"/>
              </a:rPr>
              <a:t>,</a:t>
            </a:r>
            <a:r>
              <a:rPr lang="zh-CN" altLang="en-US" sz="2400" b="1">
                <a:ea typeface="楷体_GB2312" pitchFamily="49" charset="-122"/>
              </a:rPr>
              <a:t>大的用于成键</a:t>
            </a:r>
            <a:r>
              <a:rPr lang="en-US" altLang="zh-CN" sz="2400" b="1">
                <a:ea typeface="楷体_GB2312" pitchFamily="49" charset="-122"/>
              </a:rPr>
              <a:t>(</a:t>
            </a:r>
            <a:r>
              <a:rPr lang="zh-CN" altLang="en-US" sz="2400" b="1">
                <a:ea typeface="楷体_GB2312" pitchFamily="49" charset="-122"/>
              </a:rPr>
              <a:t>稳定</a:t>
            </a:r>
            <a:r>
              <a:rPr lang="en-US" altLang="zh-CN" sz="2400" b="1">
                <a:ea typeface="楷体_GB2312" pitchFamily="49" charset="-122"/>
              </a:rPr>
              <a:t>),</a:t>
            </a:r>
            <a:r>
              <a:rPr lang="zh-CN" altLang="en-US" sz="2400" b="1">
                <a:ea typeface="楷体_GB2312" pitchFamily="49" charset="-122"/>
              </a:rPr>
              <a:t>且只用于形成</a:t>
            </a:r>
            <a:r>
              <a:rPr lang="el-GR" altLang="en-US" sz="2400" b="1">
                <a:ea typeface="楷体_GB2312" pitchFamily="49" charset="-122"/>
              </a:rPr>
              <a:t>σ</a:t>
            </a:r>
            <a:r>
              <a:rPr lang="zh-CN" altLang="en-US" sz="2400" b="1">
                <a:ea typeface="楷体_GB2312" pitchFamily="49" charset="-122"/>
              </a:rPr>
              <a:t>键或容纳孤对电子</a:t>
            </a:r>
            <a:r>
              <a:rPr lang="en-US" altLang="zh-CN" sz="2400" b="1">
                <a:ea typeface="楷体_GB2312" pitchFamily="49" charset="-122"/>
              </a:rPr>
              <a:t>.</a:t>
            </a:r>
            <a:endParaRPr lang="zh-CN" altLang="en-US" sz="2400" b="1">
              <a:ea typeface="楷体_GB2312" pitchFamily="49" charset="-122"/>
            </a:endParaRPr>
          </a:p>
        </p:txBody>
      </p:sp>
      <p:sp>
        <p:nvSpPr>
          <p:cNvPr id="18439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5572125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8.1.2</a:t>
            </a:r>
            <a:r>
              <a:rPr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杂化轨道理论与分子的几何构型</a:t>
            </a:r>
            <a:endParaRPr lang="zh-CN" altLang="en-US" sz="220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9" name="Oval 6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Text Box 47"/>
          <p:cNvSpPr txBox="1">
            <a:spLocks noChangeArrowheads="1"/>
          </p:cNvSpPr>
          <p:nvPr/>
        </p:nvSpPr>
        <p:spPr bwMode="auto">
          <a:xfrm>
            <a:off x="974725" y="954088"/>
            <a:ext cx="53800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solidFill>
                  <a:srgbClr val="FF0000"/>
                </a:solidFill>
                <a:ea typeface="楷体_GB2312" pitchFamily="49" charset="-122"/>
              </a:rPr>
              <a:t>3. </a:t>
            </a:r>
            <a:r>
              <a:rPr kumimoji="1" lang="zh-CN" altLang="en-US" sz="2500" b="1">
                <a:solidFill>
                  <a:srgbClr val="FF0000"/>
                </a:solidFill>
                <a:ea typeface="楷体_GB2312" pitchFamily="49" charset="-122"/>
              </a:rPr>
              <a:t>杂化轨道的类型与分子的几何构型</a:t>
            </a:r>
          </a:p>
        </p:txBody>
      </p:sp>
      <p:sp>
        <p:nvSpPr>
          <p:cNvPr id="20" name="Text Box 47"/>
          <p:cNvSpPr txBox="1">
            <a:spLocks noChangeArrowheads="1"/>
          </p:cNvSpPr>
          <p:nvPr/>
        </p:nvSpPr>
        <p:spPr bwMode="auto">
          <a:xfrm>
            <a:off x="1385888" y="1370013"/>
            <a:ext cx="18526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ea typeface="楷体_GB2312" pitchFamily="49" charset="-122"/>
                <a:hlinkClick r:id="rId5" action="ppaction://hlinkfile"/>
              </a:rPr>
              <a:t>1)sp</a:t>
            </a:r>
            <a:r>
              <a:rPr kumimoji="1" lang="zh-CN" altLang="en-US" sz="2500" b="1">
                <a:ea typeface="楷体_GB2312" pitchFamily="49" charset="-122"/>
                <a:hlinkClick r:id="rId5" action="ppaction://hlinkfile"/>
              </a:rPr>
              <a:t>杂化</a:t>
            </a:r>
            <a:r>
              <a:rPr kumimoji="1" lang="en-US" altLang="zh-CN" sz="2500" b="1">
                <a:ea typeface="楷体_GB2312" pitchFamily="49" charset="-122"/>
              </a:rPr>
              <a:t>:</a:t>
            </a:r>
            <a:endParaRPr kumimoji="1" lang="zh-CN" altLang="en-US" sz="2500" b="1">
              <a:ea typeface="楷体_GB2312" pitchFamily="49" charset="-122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041650" y="1363663"/>
            <a:ext cx="30797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0000"/>
                </a:solidFill>
              </a:rPr>
              <a:t>1/2</a:t>
            </a:r>
            <a:r>
              <a:rPr lang="en-US" altLang="zh-CN" sz="2500" b="1"/>
              <a:t> s</a:t>
            </a:r>
            <a:r>
              <a:rPr lang="zh-CN" altLang="en-US" sz="2500" b="1">
                <a:ea typeface="楷体_GB2312" pitchFamily="49" charset="-122"/>
              </a:rPr>
              <a:t>轨道</a:t>
            </a:r>
            <a:r>
              <a:rPr lang="zh-CN" altLang="en-US" sz="2500" b="1"/>
              <a:t>和</a:t>
            </a:r>
            <a:r>
              <a:rPr lang="en-US" altLang="zh-CN" sz="2500" b="1">
                <a:solidFill>
                  <a:srgbClr val="FF0000"/>
                </a:solidFill>
              </a:rPr>
              <a:t>1/2</a:t>
            </a:r>
            <a:r>
              <a:rPr lang="en-US" altLang="zh-CN" sz="2500" b="1"/>
              <a:t> p</a:t>
            </a:r>
            <a:r>
              <a:rPr lang="zh-CN" altLang="en-US" sz="2500" b="1">
                <a:ea typeface="楷体_GB2312" pitchFamily="49" charset="-122"/>
              </a:rPr>
              <a:t>轨道</a:t>
            </a:r>
          </a:p>
        </p:txBody>
      </p:sp>
      <p:sp>
        <p:nvSpPr>
          <p:cNvPr id="23" name="右箭头 22"/>
          <p:cNvSpPr>
            <a:spLocks noChangeArrowheads="1"/>
          </p:cNvSpPr>
          <p:nvPr/>
        </p:nvSpPr>
        <p:spPr bwMode="auto">
          <a:xfrm>
            <a:off x="3859213" y="2255838"/>
            <a:ext cx="1085850" cy="2889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endParaRPr lang="zh-CN" altLang="en-US">
              <a:ea typeface="华文楷体" pitchFamily="2" charset="-122"/>
            </a:endParaRPr>
          </a:p>
        </p:txBody>
      </p:sp>
      <p:sp>
        <p:nvSpPr>
          <p:cNvPr id="24" name="文本框 9"/>
          <p:cNvSpPr txBox="1">
            <a:spLocks noChangeArrowheads="1"/>
          </p:cNvSpPr>
          <p:nvPr/>
        </p:nvSpPr>
        <p:spPr bwMode="auto">
          <a:xfrm>
            <a:off x="3878263" y="1928813"/>
            <a:ext cx="113188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2500" b="1">
                <a:solidFill>
                  <a:srgbClr val="FF0000"/>
                </a:solidFill>
                <a:ea typeface="华文楷体" pitchFamily="2" charset="-122"/>
                <a:cs typeface="楷体_GB2312" pitchFamily="49" charset="-122"/>
              </a:rPr>
              <a:t>sp</a:t>
            </a:r>
            <a:r>
              <a:rPr kumimoji="1" lang="zh-CN" altLang="en-US" sz="2500" b="1">
                <a:solidFill>
                  <a:srgbClr val="FF0000"/>
                </a:solidFill>
                <a:ea typeface="华文楷体" pitchFamily="2" charset="-122"/>
                <a:cs typeface="楷体_GB2312" pitchFamily="49" charset="-122"/>
              </a:rPr>
              <a:t>杂化</a:t>
            </a:r>
          </a:p>
        </p:txBody>
      </p:sp>
      <p:grpSp>
        <p:nvGrpSpPr>
          <p:cNvPr id="3" name="组合 45"/>
          <p:cNvGrpSpPr>
            <a:grpSpLocks/>
          </p:cNvGrpSpPr>
          <p:nvPr/>
        </p:nvGrpSpPr>
        <p:grpSpPr bwMode="auto">
          <a:xfrm>
            <a:off x="1927192" y="2071671"/>
            <a:ext cx="1778000" cy="841375"/>
            <a:chOff x="2266950" y="1615804"/>
            <a:chExt cx="1777556" cy="841101"/>
          </a:xfrm>
          <a:noFill/>
        </p:grpSpPr>
        <p:sp>
          <p:nvSpPr>
            <p:cNvPr id="47" name="Oval 15"/>
            <p:cNvSpPr>
              <a:spLocks noChangeArrowheads="1"/>
            </p:cNvSpPr>
            <p:nvPr/>
          </p:nvSpPr>
          <p:spPr bwMode="auto">
            <a:xfrm>
              <a:off x="2266950" y="1985572"/>
              <a:ext cx="466608" cy="471333"/>
            </a:xfrm>
            <a:prstGeom prst="ellipse">
              <a:avLst/>
            </a:prstGeom>
            <a:grp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1600">
                <a:ea typeface="华文楷体" panose="02010600040101010101" pitchFamily="2" charset="-122"/>
              </a:endParaRPr>
            </a:p>
          </p:txBody>
        </p:sp>
        <p:sp>
          <p:nvSpPr>
            <p:cNvPr id="48" name="Oval 16"/>
            <p:cNvSpPr>
              <a:spLocks noChangeArrowheads="1"/>
            </p:cNvSpPr>
            <p:nvPr/>
          </p:nvSpPr>
          <p:spPr bwMode="auto">
            <a:xfrm>
              <a:off x="3568375" y="1684045"/>
              <a:ext cx="466608" cy="468159"/>
            </a:xfrm>
            <a:prstGeom prst="ellipse">
              <a:avLst/>
            </a:prstGeom>
            <a:grp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1600">
                <a:ea typeface="华文楷体" panose="02010600040101010101" pitchFamily="2" charset="-122"/>
              </a:endParaRPr>
            </a:p>
          </p:txBody>
        </p:sp>
        <p:sp>
          <p:nvSpPr>
            <p:cNvPr id="49" name="Oval 17"/>
            <p:cNvSpPr>
              <a:spLocks noChangeArrowheads="1"/>
            </p:cNvSpPr>
            <p:nvPr/>
          </p:nvSpPr>
          <p:spPr bwMode="auto">
            <a:xfrm>
              <a:off x="3101766" y="1684045"/>
              <a:ext cx="466608" cy="468159"/>
            </a:xfrm>
            <a:prstGeom prst="ellipse">
              <a:avLst/>
            </a:prstGeom>
            <a:grp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1600">
                <a:ea typeface="华文楷体" panose="02010600040101010101" pitchFamily="2" charset="-122"/>
              </a:endParaRPr>
            </a:p>
          </p:txBody>
        </p:sp>
        <p:sp>
          <p:nvSpPr>
            <p:cNvPr id="50" name="Oval 18"/>
            <p:cNvSpPr>
              <a:spLocks noChangeArrowheads="1"/>
            </p:cNvSpPr>
            <p:nvPr/>
          </p:nvSpPr>
          <p:spPr bwMode="auto">
            <a:xfrm>
              <a:off x="2635158" y="1684045"/>
              <a:ext cx="466608" cy="468159"/>
            </a:xfrm>
            <a:prstGeom prst="ellipse">
              <a:avLst/>
            </a:prstGeom>
            <a:grp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1600">
                <a:ea typeface="华文楷体" panose="02010600040101010101" pitchFamily="2" charset="-122"/>
              </a:endParaRPr>
            </a:p>
          </p:txBody>
        </p:sp>
        <p:sp>
          <p:nvSpPr>
            <p:cNvPr id="51" name="文本框 53"/>
            <p:cNvSpPr txBox="1">
              <a:spLocks noChangeArrowheads="1"/>
            </p:cNvSpPr>
            <p:nvPr/>
          </p:nvSpPr>
          <p:spPr bwMode="auto">
            <a:xfrm>
              <a:off x="2357415" y="1979224"/>
              <a:ext cx="304724" cy="461812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b="1" dirty="0" smtClean="0">
                  <a:solidFill>
                    <a:schemeClr val="bg2"/>
                  </a:solidFill>
                  <a:ea typeface="华文楷体" panose="02010600040101010101" pitchFamily="2" charset="-122"/>
                </a:rPr>
                <a:t>s</a:t>
              </a:r>
              <a:endParaRPr lang="zh-CN" altLang="en-US" sz="2400" b="1" dirty="0">
                <a:solidFill>
                  <a:schemeClr val="bg2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52" name="文本框 52"/>
            <p:cNvSpPr txBox="1">
              <a:spLocks noChangeArrowheads="1"/>
            </p:cNvSpPr>
            <p:nvPr/>
          </p:nvSpPr>
          <p:spPr bwMode="auto">
            <a:xfrm>
              <a:off x="2676423" y="1615804"/>
              <a:ext cx="458673" cy="46181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b="1" dirty="0" err="1" smtClean="0">
                  <a:solidFill>
                    <a:schemeClr val="bg2"/>
                  </a:solidFill>
                  <a:ea typeface="华文楷体" panose="02010600040101010101" pitchFamily="2" charset="-122"/>
                </a:rPr>
                <a:t>p</a:t>
              </a:r>
              <a:r>
                <a:rPr lang="en-US" altLang="zh-CN" sz="2400" b="1" i="1" baseline="-25000" dirty="0" err="1" smtClean="0">
                  <a:solidFill>
                    <a:schemeClr val="bg2"/>
                  </a:solidFill>
                  <a:ea typeface="华文楷体" panose="02010600040101010101" pitchFamily="2" charset="-122"/>
                </a:rPr>
                <a:t>x</a:t>
              </a:r>
              <a:endParaRPr lang="zh-CN" altLang="en-US" sz="2400" b="1" i="1" baseline="-25000" dirty="0">
                <a:solidFill>
                  <a:schemeClr val="bg2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53" name="文本框 52"/>
            <p:cNvSpPr txBox="1">
              <a:spLocks noChangeArrowheads="1"/>
            </p:cNvSpPr>
            <p:nvPr/>
          </p:nvSpPr>
          <p:spPr bwMode="auto">
            <a:xfrm>
              <a:off x="3150967" y="1615804"/>
              <a:ext cx="447563" cy="46181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b="1" dirty="0" err="1" smtClean="0">
                  <a:solidFill>
                    <a:schemeClr val="bg2"/>
                  </a:solidFill>
                  <a:ea typeface="华文楷体" panose="02010600040101010101" pitchFamily="2" charset="-122"/>
                </a:rPr>
                <a:t>p</a:t>
              </a:r>
              <a:r>
                <a:rPr lang="en-US" altLang="zh-CN" sz="2400" b="1" i="1" baseline="-25000" dirty="0" err="1" smtClean="0">
                  <a:solidFill>
                    <a:schemeClr val="bg2"/>
                  </a:solidFill>
                  <a:ea typeface="华文楷体" panose="02010600040101010101" pitchFamily="2" charset="-122"/>
                </a:rPr>
                <a:t>y</a:t>
              </a:r>
              <a:endParaRPr lang="zh-CN" altLang="en-US" sz="2400" b="1" i="1" baseline="-25000" dirty="0">
                <a:solidFill>
                  <a:schemeClr val="bg2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54" name="文本框 52"/>
            <p:cNvSpPr txBox="1">
              <a:spLocks noChangeArrowheads="1"/>
            </p:cNvSpPr>
            <p:nvPr/>
          </p:nvSpPr>
          <p:spPr bwMode="auto">
            <a:xfrm>
              <a:off x="3608053" y="1615804"/>
              <a:ext cx="436453" cy="46181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b="1" dirty="0" err="1" smtClean="0">
                  <a:solidFill>
                    <a:schemeClr val="bg2"/>
                  </a:solidFill>
                  <a:ea typeface="华文楷体" panose="02010600040101010101" pitchFamily="2" charset="-122"/>
                </a:rPr>
                <a:t>p</a:t>
              </a:r>
              <a:r>
                <a:rPr lang="en-US" altLang="zh-CN" sz="2400" b="1" i="1" baseline="-25000" dirty="0" err="1" smtClean="0">
                  <a:solidFill>
                    <a:schemeClr val="bg2"/>
                  </a:solidFill>
                  <a:ea typeface="华文楷体" panose="02010600040101010101" pitchFamily="2" charset="-122"/>
                </a:rPr>
                <a:t>z</a:t>
              </a:r>
              <a:endParaRPr lang="zh-CN" altLang="en-US" sz="2400" b="1" i="1" baseline="-25000" dirty="0">
                <a:solidFill>
                  <a:schemeClr val="bg2"/>
                </a:solidFill>
                <a:ea typeface="华文楷体" panose="02010600040101010101" pitchFamily="2" charset="-122"/>
              </a:endParaRPr>
            </a:p>
          </p:txBody>
        </p:sp>
      </p:grpSp>
      <p:grpSp>
        <p:nvGrpSpPr>
          <p:cNvPr id="4" name="组合 57"/>
          <p:cNvGrpSpPr>
            <a:grpSpLocks/>
          </p:cNvGrpSpPr>
          <p:nvPr/>
        </p:nvGrpSpPr>
        <p:grpSpPr bwMode="auto">
          <a:xfrm>
            <a:off x="5227638" y="2068513"/>
            <a:ext cx="1858962" cy="1031875"/>
            <a:chOff x="5254625" y="1612552"/>
            <a:chExt cx="1859149" cy="1032266"/>
          </a:xfrm>
        </p:grpSpPr>
        <p:sp>
          <p:nvSpPr>
            <p:cNvPr id="19472" name="Oval 15"/>
            <p:cNvSpPr>
              <a:spLocks noChangeArrowheads="1"/>
            </p:cNvSpPr>
            <p:nvPr/>
          </p:nvSpPr>
          <p:spPr bwMode="auto">
            <a:xfrm>
              <a:off x="5254625" y="1871413"/>
              <a:ext cx="466772" cy="471666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endParaRPr lang="zh-CN" altLang="en-US" sz="1600">
                <a:ea typeface="华文楷体" pitchFamily="2" charset="-122"/>
              </a:endParaRPr>
            </a:p>
          </p:txBody>
        </p:sp>
        <p:sp>
          <p:nvSpPr>
            <p:cNvPr id="19473" name="Oval 16"/>
            <p:cNvSpPr>
              <a:spLocks noChangeArrowheads="1"/>
            </p:cNvSpPr>
            <p:nvPr/>
          </p:nvSpPr>
          <p:spPr bwMode="auto">
            <a:xfrm>
              <a:off x="6634301" y="1684017"/>
              <a:ext cx="466772" cy="46848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endParaRPr lang="zh-CN" altLang="en-US" sz="1600">
                <a:ea typeface="华文楷体" pitchFamily="2" charset="-122"/>
              </a:endParaRPr>
            </a:p>
          </p:txBody>
        </p:sp>
        <p:sp>
          <p:nvSpPr>
            <p:cNvPr id="19474" name="Oval 17"/>
            <p:cNvSpPr>
              <a:spLocks noChangeArrowheads="1"/>
            </p:cNvSpPr>
            <p:nvPr/>
          </p:nvSpPr>
          <p:spPr bwMode="auto">
            <a:xfrm>
              <a:off x="6167529" y="1684017"/>
              <a:ext cx="466772" cy="46848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endParaRPr lang="zh-CN" altLang="en-US" sz="1600">
                <a:ea typeface="华文楷体" pitchFamily="2" charset="-122"/>
              </a:endParaRPr>
            </a:p>
          </p:txBody>
        </p:sp>
        <p:sp>
          <p:nvSpPr>
            <p:cNvPr id="19475" name="Oval 18"/>
            <p:cNvSpPr>
              <a:spLocks noChangeArrowheads="1"/>
            </p:cNvSpPr>
            <p:nvPr/>
          </p:nvSpPr>
          <p:spPr bwMode="auto">
            <a:xfrm>
              <a:off x="5726159" y="1871413"/>
              <a:ext cx="466772" cy="468489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endParaRPr lang="zh-CN" altLang="en-US" sz="1600">
                <a:ea typeface="华文楷体" pitchFamily="2" charset="-122"/>
              </a:endParaRPr>
            </a:p>
          </p:txBody>
        </p:sp>
        <p:sp>
          <p:nvSpPr>
            <p:cNvPr id="19476" name="文本框 62"/>
            <p:cNvSpPr txBox="1">
              <a:spLocks noChangeArrowheads="1"/>
            </p:cNvSpPr>
            <p:nvPr/>
          </p:nvSpPr>
          <p:spPr bwMode="auto">
            <a:xfrm>
              <a:off x="6219922" y="1612552"/>
              <a:ext cx="447720" cy="462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2"/>
                  </a:solidFill>
                  <a:ea typeface="华文楷体" pitchFamily="2" charset="-122"/>
                </a:rPr>
                <a:t>p</a:t>
              </a:r>
              <a:r>
                <a:rPr lang="en-US" altLang="zh-CN" sz="2400" b="1" i="1" baseline="-25000">
                  <a:solidFill>
                    <a:schemeClr val="bg2"/>
                  </a:solidFill>
                  <a:ea typeface="华文楷体" pitchFamily="2" charset="-122"/>
                </a:rPr>
                <a:t>y</a:t>
              </a:r>
              <a:endParaRPr lang="zh-CN" altLang="en-US" sz="2400" b="1" i="1" baseline="-25000">
                <a:solidFill>
                  <a:schemeClr val="bg2"/>
                </a:solidFill>
                <a:ea typeface="华文楷体" pitchFamily="2" charset="-122"/>
              </a:endParaRPr>
            </a:p>
          </p:txBody>
        </p:sp>
        <p:sp>
          <p:nvSpPr>
            <p:cNvPr id="19477" name="文本框 52"/>
            <p:cNvSpPr txBox="1">
              <a:spLocks noChangeArrowheads="1"/>
            </p:cNvSpPr>
            <p:nvPr/>
          </p:nvSpPr>
          <p:spPr bwMode="auto">
            <a:xfrm>
              <a:off x="6677168" y="1612552"/>
              <a:ext cx="436606" cy="462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2"/>
                  </a:solidFill>
                  <a:ea typeface="华文楷体" pitchFamily="2" charset="-122"/>
                </a:rPr>
                <a:t>p</a:t>
              </a:r>
              <a:r>
                <a:rPr lang="en-US" altLang="zh-CN" sz="2400" b="1" i="1" baseline="-25000">
                  <a:solidFill>
                    <a:schemeClr val="bg2"/>
                  </a:solidFill>
                  <a:ea typeface="华文楷体" pitchFamily="2" charset="-122"/>
                </a:rPr>
                <a:t>z</a:t>
              </a:r>
              <a:endParaRPr lang="zh-CN" altLang="en-US" sz="2400" b="1" i="1" baseline="-25000">
                <a:solidFill>
                  <a:schemeClr val="bg2"/>
                </a:solidFill>
                <a:ea typeface="华文楷体" pitchFamily="2" charset="-122"/>
              </a:endParaRPr>
            </a:p>
          </p:txBody>
        </p:sp>
        <p:sp>
          <p:nvSpPr>
            <p:cNvPr id="19478" name="文本框 64"/>
            <p:cNvSpPr txBox="1">
              <a:spLocks noChangeArrowheads="1"/>
            </p:cNvSpPr>
            <p:nvPr/>
          </p:nvSpPr>
          <p:spPr bwMode="auto">
            <a:xfrm>
              <a:off x="5518177" y="2182681"/>
              <a:ext cx="476298" cy="462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FFFF00"/>
                  </a:solidFill>
                  <a:ea typeface="华文楷体" pitchFamily="2" charset="-122"/>
                </a:rPr>
                <a:t>sp</a:t>
              </a:r>
              <a:endParaRPr lang="zh-CN" altLang="en-US" sz="2400" b="1" i="1" baseline="-25000">
                <a:solidFill>
                  <a:srgbClr val="FFFF00"/>
                </a:solidFill>
                <a:ea typeface="华文楷体" pitchFamily="2" charset="-122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rcRect r="48195"/>
          <a:stretch>
            <a:fillRect/>
          </a:stretch>
        </p:blipFill>
        <p:spPr bwMode="auto">
          <a:xfrm>
            <a:off x="1903413" y="3025775"/>
            <a:ext cx="2779712" cy="1395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475288" y="3025775"/>
            <a:ext cx="1371600" cy="1395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" name="右箭头 71"/>
          <p:cNvSpPr>
            <a:spLocks noChangeArrowheads="1"/>
          </p:cNvSpPr>
          <p:nvPr/>
        </p:nvSpPr>
        <p:spPr bwMode="auto">
          <a:xfrm>
            <a:off x="4760913" y="3525838"/>
            <a:ext cx="784225" cy="288925"/>
          </a:xfrm>
          <a:prstGeom prst="rightArrow">
            <a:avLst>
              <a:gd name="adj1" fmla="val 50000"/>
              <a:gd name="adj2" fmla="val 50001"/>
            </a:avLst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endParaRPr lang="zh-CN" altLang="en-US">
              <a:ea typeface="华文楷体" pitchFamily="2" charset="-122"/>
            </a:endParaRPr>
          </a:p>
        </p:txBody>
      </p:sp>
      <p:sp>
        <p:nvSpPr>
          <p:cNvPr id="73" name="矩形 72"/>
          <p:cNvSpPr>
            <a:spLocks noChangeArrowheads="1"/>
          </p:cNvSpPr>
          <p:nvPr/>
        </p:nvSpPr>
        <p:spPr bwMode="auto">
          <a:xfrm>
            <a:off x="1189038" y="4525963"/>
            <a:ext cx="5643562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500" b="1">
                <a:ea typeface="楷体_GB2312" pitchFamily="49" charset="-122"/>
              </a:rPr>
              <a:t>直线型分子</a:t>
            </a:r>
            <a:r>
              <a:rPr lang="en-US" altLang="zh-CN" sz="2500" b="1">
                <a:ea typeface="楷体_GB2312" pitchFamily="49" charset="-122"/>
              </a:rPr>
              <a:t>,180°.</a:t>
            </a:r>
          </a:p>
          <a:p>
            <a:pPr>
              <a:lnSpc>
                <a:spcPct val="130000"/>
              </a:lnSpc>
            </a:pP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例如</a:t>
            </a:r>
            <a:r>
              <a:rPr lang="en-US" altLang="zh-CN" sz="2500" b="1">
                <a:ea typeface="楷体_GB2312" pitchFamily="49" charset="-122"/>
              </a:rPr>
              <a:t>:</a:t>
            </a:r>
            <a:r>
              <a:rPr lang="en-US" altLang="zh-CN" sz="2500" b="1">
                <a:solidFill>
                  <a:srgbClr val="FFFF00"/>
                </a:solidFill>
                <a:ea typeface="楷体_GB2312" pitchFamily="49" charset="-122"/>
                <a:cs typeface="Times New Roman" pitchFamily="18" charset="0"/>
                <a:hlinkClick r:id="rId8" action="ppaction://hlinkfile"/>
              </a:rPr>
              <a:t>BeCl</a:t>
            </a:r>
            <a:r>
              <a:rPr lang="en-US" altLang="zh-CN" sz="2500" b="1" baseline="-25000">
                <a:solidFill>
                  <a:srgbClr val="FFFF00"/>
                </a:solidFill>
                <a:ea typeface="楷体_GB2312" pitchFamily="49" charset="-122"/>
                <a:cs typeface="Times New Roman" pitchFamily="18" charset="0"/>
                <a:hlinkClick r:id="rId8" action="ppaction://hlinkfile"/>
              </a:rPr>
              <a:t>2</a:t>
            </a:r>
            <a:r>
              <a:rPr lang="zh-CN" altLang="en-US" sz="2500" b="1">
                <a:ea typeface="楷体_GB2312" pitchFamily="49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楷体_GB2312" pitchFamily="49" charset="-122"/>
                <a:cs typeface="Times New Roman" pitchFamily="18" charset="0"/>
              </a:rPr>
              <a:t> CO</a:t>
            </a:r>
            <a:r>
              <a:rPr lang="en-US" altLang="zh-CN" sz="2500" b="1" baseline="-25000">
                <a:ea typeface="楷体_GB2312" pitchFamily="49" charset="-122"/>
                <a:cs typeface="Times New Roman" pitchFamily="18" charset="0"/>
              </a:rPr>
              <a:t>2</a:t>
            </a:r>
            <a:r>
              <a:rPr lang="zh-CN" altLang="en-US" sz="2500" b="1">
                <a:ea typeface="楷体_GB2312" pitchFamily="49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500" b="1" baseline="-25000"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楷体_GB2312" pitchFamily="49" charset="-122"/>
                <a:cs typeface="Times New Roman" pitchFamily="18" charset="0"/>
              </a:rPr>
              <a:t>H</a:t>
            </a:r>
            <a:r>
              <a:rPr lang="en-US" altLang="zh-CN" sz="2500" b="1" baseline="-25000">
                <a:ea typeface="楷体_GB2312" pitchFamily="49" charset="-122"/>
                <a:cs typeface="Times New Roman" pitchFamily="18" charset="0"/>
              </a:rPr>
              <a:t>2</a:t>
            </a:r>
            <a:r>
              <a:rPr lang="zh-CN" altLang="en-US" sz="2500" b="1">
                <a:ea typeface="楷体_GB2312" pitchFamily="49" charset="-122"/>
              </a:rPr>
              <a:t>等</a:t>
            </a:r>
            <a:r>
              <a:rPr lang="en-US" altLang="zh-CN" sz="2500" b="1">
                <a:ea typeface="楷体_GB2312" pitchFamily="49" charset="-122"/>
              </a:rPr>
              <a:t>.</a:t>
            </a:r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19471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5572125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8.1.2</a:t>
            </a:r>
            <a:r>
              <a:rPr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杂化轨道理论与分子的几何构型</a:t>
            </a:r>
            <a:endParaRPr lang="zh-CN" altLang="en-US" sz="220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  <p:bldP spid="20" grpId="0" build="p"/>
      <p:bldP spid="2" grpId="0"/>
      <p:bldP spid="23" grpId="0" animBg="1"/>
      <p:bldP spid="24" grpId="0"/>
      <p:bldP spid="72" grpId="0" animBg="1"/>
      <p:bldP spid="7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117475" y="552608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3" name="Oval 6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4" name="Text Box 47"/>
          <p:cNvSpPr txBox="1">
            <a:spLocks noChangeArrowheads="1"/>
          </p:cNvSpPr>
          <p:nvPr/>
        </p:nvSpPr>
        <p:spPr bwMode="auto">
          <a:xfrm>
            <a:off x="903288" y="882650"/>
            <a:ext cx="5380037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ea typeface="楷体_GB2312" pitchFamily="49" charset="-122"/>
              </a:rPr>
              <a:t>3. </a:t>
            </a:r>
            <a:r>
              <a:rPr kumimoji="1" lang="zh-CN" altLang="en-US" sz="2500" b="1">
                <a:ea typeface="楷体_GB2312" pitchFamily="49" charset="-122"/>
              </a:rPr>
              <a:t>杂化轨道的类型与分子的几何构型</a:t>
            </a:r>
          </a:p>
        </p:txBody>
      </p:sp>
      <p:sp>
        <p:nvSpPr>
          <p:cNvPr id="20485" name="Text Box 47"/>
          <p:cNvSpPr txBox="1">
            <a:spLocks noChangeArrowheads="1"/>
          </p:cNvSpPr>
          <p:nvPr/>
        </p:nvSpPr>
        <p:spPr bwMode="auto">
          <a:xfrm>
            <a:off x="1171575" y="1298575"/>
            <a:ext cx="185261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solidFill>
                  <a:srgbClr val="FF0000"/>
                </a:solidFill>
                <a:ea typeface="楷体_GB2312" pitchFamily="49" charset="-122"/>
              </a:rPr>
              <a:t>1</a:t>
            </a:r>
            <a:r>
              <a:rPr kumimoji="1" lang="zh-CN" altLang="en-US" sz="2500" b="1">
                <a:solidFill>
                  <a:srgbClr val="FF0000"/>
                </a:solidFill>
                <a:ea typeface="楷体_GB2312" pitchFamily="49" charset="-122"/>
              </a:rPr>
              <a:t>）</a:t>
            </a:r>
            <a:r>
              <a:rPr kumimoji="1" lang="en-US" altLang="zh-CN" sz="2500" b="1">
                <a:solidFill>
                  <a:srgbClr val="FF0000"/>
                </a:solidFill>
                <a:ea typeface="楷体_GB2312" pitchFamily="49" charset="-122"/>
              </a:rPr>
              <a:t>sp</a:t>
            </a:r>
            <a:r>
              <a:rPr kumimoji="1" lang="zh-CN" altLang="en-US" sz="2500" b="1">
                <a:solidFill>
                  <a:srgbClr val="FF0000"/>
                </a:solidFill>
                <a:ea typeface="楷体_GB2312" pitchFamily="49" charset="-122"/>
              </a:rPr>
              <a:t>杂化：</a:t>
            </a:r>
          </a:p>
        </p:txBody>
      </p:sp>
      <p:sp>
        <p:nvSpPr>
          <p:cNvPr id="20486" name="矩形 1"/>
          <p:cNvSpPr>
            <a:spLocks noChangeArrowheads="1"/>
          </p:cNvSpPr>
          <p:nvPr/>
        </p:nvSpPr>
        <p:spPr bwMode="auto">
          <a:xfrm>
            <a:off x="2827338" y="1292225"/>
            <a:ext cx="307975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0000"/>
                </a:solidFill>
              </a:rPr>
              <a:t>1/2</a:t>
            </a:r>
            <a:r>
              <a:rPr lang="en-US" altLang="zh-CN" sz="2500" b="1"/>
              <a:t> s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轨道</a:t>
            </a:r>
            <a:r>
              <a:rPr lang="zh-CN" altLang="en-US" sz="2500" b="1"/>
              <a:t>和</a:t>
            </a:r>
            <a:r>
              <a:rPr lang="en-US" altLang="zh-CN" sz="2500" b="1">
                <a:solidFill>
                  <a:srgbClr val="FF0000"/>
                </a:solidFill>
              </a:rPr>
              <a:t>1/2 </a:t>
            </a:r>
            <a:r>
              <a:rPr lang="en-US" altLang="zh-CN" sz="2500" b="1"/>
              <a:t>p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轨道</a:t>
            </a: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74813" y="1854200"/>
            <a:ext cx="5113337" cy="3840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8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5572125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8.1.2</a:t>
            </a:r>
            <a:r>
              <a:rPr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杂化轨道理论与分子的几何构型</a:t>
            </a:r>
            <a:endParaRPr lang="zh-CN" altLang="en-US" sz="220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7" name="Oval 6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Text Box 47"/>
          <p:cNvSpPr txBox="1">
            <a:spLocks noChangeArrowheads="1"/>
          </p:cNvSpPr>
          <p:nvPr/>
        </p:nvSpPr>
        <p:spPr bwMode="auto">
          <a:xfrm>
            <a:off x="1035050" y="911225"/>
            <a:ext cx="185261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ea typeface="楷体_GB2312" pitchFamily="49" charset="-122"/>
              </a:rPr>
              <a:t>2</a:t>
            </a:r>
            <a:r>
              <a:rPr kumimoji="1" lang="zh-CN" altLang="en-US" sz="2500" b="1">
                <a:ea typeface="楷体_GB2312" pitchFamily="49" charset="-122"/>
              </a:rPr>
              <a:t>）</a:t>
            </a:r>
            <a:r>
              <a:rPr kumimoji="1" lang="en-US" altLang="zh-CN" sz="2500" b="1">
                <a:ea typeface="楷体_GB2312" pitchFamily="49" charset="-122"/>
                <a:hlinkClick r:id="rId5" action="ppaction://hlinkfile"/>
              </a:rPr>
              <a:t>sp</a:t>
            </a:r>
            <a:r>
              <a:rPr kumimoji="1" lang="en-US" altLang="zh-CN" sz="2500" b="1" baseline="30000">
                <a:ea typeface="楷体_GB2312" pitchFamily="49" charset="-122"/>
                <a:hlinkClick r:id="rId5" action="ppaction://hlinkfile"/>
              </a:rPr>
              <a:t>2</a:t>
            </a:r>
            <a:r>
              <a:rPr kumimoji="1" lang="zh-CN" altLang="en-US" sz="2500" b="1">
                <a:ea typeface="楷体_GB2312" pitchFamily="49" charset="-122"/>
                <a:hlinkClick r:id="rId5" action="ppaction://hlinkfile"/>
              </a:rPr>
              <a:t>杂化</a:t>
            </a:r>
            <a:r>
              <a:rPr kumimoji="1" lang="zh-CN" altLang="en-US" sz="2500" b="1">
                <a:ea typeface="楷体_GB2312" pitchFamily="49" charset="-122"/>
              </a:rPr>
              <a:t>：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832100" y="954088"/>
            <a:ext cx="30797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0000"/>
                </a:solidFill>
              </a:rPr>
              <a:t>1/3</a:t>
            </a:r>
            <a:r>
              <a:rPr lang="en-US" altLang="zh-CN" sz="2500" b="1"/>
              <a:t> s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轨道</a:t>
            </a:r>
            <a:r>
              <a:rPr lang="zh-CN" altLang="en-US" sz="2500" b="1"/>
              <a:t>和</a:t>
            </a:r>
            <a:r>
              <a:rPr lang="en-US" altLang="zh-CN" sz="2500" b="1">
                <a:solidFill>
                  <a:srgbClr val="FF0000"/>
                </a:solidFill>
              </a:rPr>
              <a:t>2/3 </a:t>
            </a:r>
            <a:r>
              <a:rPr lang="en-US" altLang="zh-CN" sz="2500" b="1"/>
              <a:t>p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轨道</a:t>
            </a:r>
          </a:p>
        </p:txBody>
      </p:sp>
      <p:sp>
        <p:nvSpPr>
          <p:cNvPr id="23" name="右箭头 22"/>
          <p:cNvSpPr/>
          <p:nvPr/>
        </p:nvSpPr>
        <p:spPr bwMode="auto">
          <a:xfrm>
            <a:off x="3508375" y="1749425"/>
            <a:ext cx="1085850" cy="288925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zh-CN" altLang="en-US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24" name="文本框 9"/>
          <p:cNvSpPr txBox="1">
            <a:spLocks noChangeArrowheads="1"/>
          </p:cNvSpPr>
          <p:nvPr/>
        </p:nvSpPr>
        <p:spPr bwMode="auto">
          <a:xfrm>
            <a:off x="3527425" y="1422400"/>
            <a:ext cx="10287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2000" b="1">
                <a:solidFill>
                  <a:srgbClr val="FF0000"/>
                </a:solidFill>
                <a:ea typeface="华文楷体" pitchFamily="2" charset="-122"/>
                <a:cs typeface="楷体_GB2312" pitchFamily="49" charset="-122"/>
              </a:rPr>
              <a:t>sp</a:t>
            </a:r>
            <a:r>
              <a:rPr kumimoji="1" lang="en-US" altLang="zh-CN" sz="2000" b="1" baseline="30000">
                <a:solidFill>
                  <a:srgbClr val="FF0000"/>
                </a:solidFill>
                <a:ea typeface="华文楷体" pitchFamily="2" charset="-122"/>
                <a:cs typeface="楷体_GB2312" pitchFamily="49" charset="-122"/>
              </a:rPr>
              <a:t>2</a:t>
            </a:r>
            <a:r>
              <a:rPr kumimoji="1" lang="zh-CN" altLang="en-US" sz="2000" b="1">
                <a:solidFill>
                  <a:srgbClr val="FF0000"/>
                </a:solidFill>
                <a:latin typeface="黑体" pitchFamily="49" charset="-122"/>
                <a:ea typeface="华文楷体" pitchFamily="2" charset="-122"/>
                <a:cs typeface="楷体_GB2312" pitchFamily="49" charset="-122"/>
              </a:rPr>
              <a:t>杂化</a:t>
            </a:r>
          </a:p>
        </p:txBody>
      </p:sp>
      <p:grpSp>
        <p:nvGrpSpPr>
          <p:cNvPr id="4" name="组合 45"/>
          <p:cNvGrpSpPr>
            <a:grpSpLocks/>
          </p:cNvGrpSpPr>
          <p:nvPr/>
        </p:nvGrpSpPr>
        <p:grpSpPr bwMode="auto">
          <a:xfrm>
            <a:off x="1576388" y="1565275"/>
            <a:ext cx="1778000" cy="841375"/>
            <a:chOff x="2266950" y="1615804"/>
            <a:chExt cx="1777556" cy="841101"/>
          </a:xfrm>
        </p:grpSpPr>
        <p:sp>
          <p:nvSpPr>
            <p:cNvPr id="47" name="Oval 15"/>
            <p:cNvSpPr>
              <a:spLocks noChangeArrowheads="1"/>
            </p:cNvSpPr>
            <p:nvPr/>
          </p:nvSpPr>
          <p:spPr bwMode="auto">
            <a:xfrm>
              <a:off x="2266950" y="1985572"/>
              <a:ext cx="466608" cy="47133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16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48" name="Oval 16"/>
            <p:cNvSpPr>
              <a:spLocks noChangeArrowheads="1"/>
            </p:cNvSpPr>
            <p:nvPr/>
          </p:nvSpPr>
          <p:spPr bwMode="auto">
            <a:xfrm>
              <a:off x="3568375" y="1684045"/>
              <a:ext cx="466608" cy="468159"/>
            </a:xfrm>
            <a:prstGeom prst="ellips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16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49" name="Oval 17"/>
            <p:cNvSpPr>
              <a:spLocks noChangeArrowheads="1"/>
            </p:cNvSpPr>
            <p:nvPr/>
          </p:nvSpPr>
          <p:spPr bwMode="auto">
            <a:xfrm>
              <a:off x="3101766" y="1684045"/>
              <a:ext cx="466608" cy="468159"/>
            </a:xfrm>
            <a:prstGeom prst="ellips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16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50" name="Oval 18"/>
            <p:cNvSpPr>
              <a:spLocks noChangeArrowheads="1"/>
            </p:cNvSpPr>
            <p:nvPr/>
          </p:nvSpPr>
          <p:spPr bwMode="auto">
            <a:xfrm>
              <a:off x="2635158" y="1684045"/>
              <a:ext cx="466608" cy="46815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16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51" name="文本框 53"/>
            <p:cNvSpPr txBox="1">
              <a:spLocks noChangeArrowheads="1"/>
            </p:cNvSpPr>
            <p:nvPr/>
          </p:nvSpPr>
          <p:spPr bwMode="auto">
            <a:xfrm>
              <a:off x="2357414" y="1979224"/>
              <a:ext cx="304724" cy="461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b="1" dirty="0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s</a:t>
              </a:r>
              <a:endParaRPr lang="zh-CN" altLang="en-US" sz="2400" b="1" dirty="0">
                <a:solidFill>
                  <a:schemeClr val="bg2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52" name="文本框 52"/>
            <p:cNvSpPr txBox="1">
              <a:spLocks noChangeArrowheads="1"/>
            </p:cNvSpPr>
            <p:nvPr/>
          </p:nvSpPr>
          <p:spPr bwMode="auto">
            <a:xfrm>
              <a:off x="2676423" y="1615804"/>
              <a:ext cx="458672" cy="461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b="1" dirty="0" err="1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p</a:t>
              </a:r>
              <a:r>
                <a:rPr lang="en-US" altLang="zh-CN" sz="2400" b="1" i="1" baseline="-25000" dirty="0" err="1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x</a:t>
              </a:r>
              <a:endParaRPr lang="zh-CN" altLang="en-US" sz="2400" b="1" i="1" baseline="-25000" dirty="0">
                <a:solidFill>
                  <a:schemeClr val="bg2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53" name="文本框 52"/>
            <p:cNvSpPr txBox="1">
              <a:spLocks noChangeArrowheads="1"/>
            </p:cNvSpPr>
            <p:nvPr/>
          </p:nvSpPr>
          <p:spPr bwMode="auto">
            <a:xfrm>
              <a:off x="3150966" y="1615804"/>
              <a:ext cx="447563" cy="461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b="1" dirty="0" err="1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p</a:t>
              </a:r>
              <a:r>
                <a:rPr lang="en-US" altLang="zh-CN" sz="2400" b="1" i="1" baseline="-25000" dirty="0" err="1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y</a:t>
              </a:r>
              <a:endParaRPr lang="zh-CN" altLang="en-US" sz="2400" b="1" i="1" baseline="-25000" dirty="0">
                <a:solidFill>
                  <a:schemeClr val="bg2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54" name="文本框 52"/>
            <p:cNvSpPr txBox="1">
              <a:spLocks noChangeArrowheads="1"/>
            </p:cNvSpPr>
            <p:nvPr/>
          </p:nvSpPr>
          <p:spPr bwMode="auto">
            <a:xfrm>
              <a:off x="3608052" y="1615804"/>
              <a:ext cx="436454" cy="461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b="1" dirty="0" err="1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p</a:t>
              </a:r>
              <a:r>
                <a:rPr lang="en-US" altLang="zh-CN" sz="2400" b="1" i="1" baseline="-25000" dirty="0" err="1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z</a:t>
              </a:r>
              <a:endParaRPr lang="zh-CN" altLang="en-US" sz="2400" b="1" i="1" baseline="-25000" dirty="0">
                <a:solidFill>
                  <a:schemeClr val="bg2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</p:grpSp>
      <p:grpSp>
        <p:nvGrpSpPr>
          <p:cNvPr id="5" name="组合 57"/>
          <p:cNvGrpSpPr>
            <a:grpSpLocks/>
          </p:cNvGrpSpPr>
          <p:nvPr/>
        </p:nvGrpSpPr>
        <p:grpSpPr bwMode="auto">
          <a:xfrm>
            <a:off x="4876800" y="1562100"/>
            <a:ext cx="1858963" cy="1058863"/>
            <a:chOff x="5254625" y="1612552"/>
            <a:chExt cx="1859149" cy="1058562"/>
          </a:xfrm>
        </p:grpSpPr>
        <p:sp>
          <p:nvSpPr>
            <p:cNvPr id="59" name="Oval 15"/>
            <p:cNvSpPr>
              <a:spLocks noChangeArrowheads="1"/>
            </p:cNvSpPr>
            <p:nvPr/>
          </p:nvSpPr>
          <p:spPr bwMode="auto">
            <a:xfrm>
              <a:off x="5254625" y="1871241"/>
              <a:ext cx="466772" cy="471353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16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60" name="Oval 16"/>
            <p:cNvSpPr>
              <a:spLocks noChangeArrowheads="1"/>
            </p:cNvSpPr>
            <p:nvPr/>
          </p:nvSpPr>
          <p:spPr bwMode="auto">
            <a:xfrm>
              <a:off x="6634301" y="1683970"/>
              <a:ext cx="466772" cy="4681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16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62" name="Oval 18"/>
            <p:cNvSpPr>
              <a:spLocks noChangeArrowheads="1"/>
            </p:cNvSpPr>
            <p:nvPr/>
          </p:nvSpPr>
          <p:spPr bwMode="auto">
            <a:xfrm>
              <a:off x="5726160" y="1871241"/>
              <a:ext cx="466772" cy="468179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16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64" name="文本框 52"/>
            <p:cNvSpPr txBox="1">
              <a:spLocks noChangeArrowheads="1"/>
            </p:cNvSpPr>
            <p:nvPr/>
          </p:nvSpPr>
          <p:spPr bwMode="auto">
            <a:xfrm>
              <a:off x="6677167" y="1612552"/>
              <a:ext cx="436607" cy="461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b="1" dirty="0" err="1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p</a:t>
              </a:r>
              <a:r>
                <a:rPr lang="en-US" altLang="zh-CN" sz="2400" b="1" i="1" baseline="-25000" dirty="0" err="1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z</a:t>
              </a:r>
              <a:endParaRPr lang="zh-CN" altLang="en-US" sz="2400" b="1" i="1" baseline="-25000" dirty="0">
                <a:solidFill>
                  <a:schemeClr val="bg2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65" name="文本框 64"/>
            <p:cNvSpPr txBox="1">
              <a:spLocks noChangeArrowheads="1"/>
            </p:cNvSpPr>
            <p:nvPr/>
          </p:nvSpPr>
          <p:spPr bwMode="auto">
            <a:xfrm>
              <a:off x="5711871" y="2209282"/>
              <a:ext cx="577908" cy="461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b="1" dirty="0" smtClean="0">
                  <a:solidFill>
                    <a:srgbClr val="FF0000"/>
                  </a:solidFill>
                  <a:latin typeface="+mn-lt"/>
                  <a:ea typeface="华文楷体" panose="02010600040101010101" pitchFamily="2" charset="-122"/>
                </a:rPr>
                <a:t>sp</a:t>
              </a:r>
              <a:r>
                <a:rPr lang="en-US" altLang="zh-CN" sz="2400" b="1" baseline="30000" dirty="0" smtClean="0">
                  <a:solidFill>
                    <a:srgbClr val="FF0000"/>
                  </a:solidFill>
                  <a:latin typeface="+mn-lt"/>
                  <a:ea typeface="华文楷体" panose="02010600040101010101" pitchFamily="2" charset="-122"/>
                </a:rPr>
                <a:t>2</a:t>
              </a:r>
              <a:endParaRPr lang="zh-CN" altLang="en-US" sz="2400" b="1" i="1" baseline="30000" dirty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6" name="Oval 18"/>
            <p:cNvSpPr>
              <a:spLocks noChangeArrowheads="1"/>
            </p:cNvSpPr>
            <p:nvPr/>
          </p:nvSpPr>
          <p:spPr bwMode="auto">
            <a:xfrm>
              <a:off x="6191344" y="1880764"/>
              <a:ext cx="466772" cy="468179"/>
            </a:xfrm>
            <a:prstGeom prst="ellips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1600">
                <a:latin typeface="+mn-lt"/>
                <a:ea typeface="华文楷体" panose="02010600040101010101" pitchFamily="2" charset="-122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rcRect r="26877"/>
          <a:stretch>
            <a:fillRect/>
          </a:stretch>
        </p:blipFill>
        <p:spPr bwMode="auto">
          <a:xfrm>
            <a:off x="1576388" y="2630488"/>
            <a:ext cx="3922712" cy="1395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" name="右箭头 71"/>
          <p:cNvSpPr/>
          <p:nvPr/>
        </p:nvSpPr>
        <p:spPr bwMode="auto">
          <a:xfrm>
            <a:off x="5588000" y="3232150"/>
            <a:ext cx="776288" cy="288925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zh-CN" altLang="en-US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73" name="矩形 72"/>
          <p:cNvSpPr>
            <a:spLocks noChangeArrowheads="1"/>
          </p:cNvSpPr>
          <p:nvPr/>
        </p:nvSpPr>
        <p:spPr bwMode="auto">
          <a:xfrm>
            <a:off x="1474788" y="4097338"/>
            <a:ext cx="4171950" cy="1052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>
                <a:latin typeface="黑体" pitchFamily="49" charset="-122"/>
                <a:ea typeface="楷体_GB2312" pitchFamily="49" charset="-122"/>
              </a:rPr>
              <a:t>平面正三角形，键角</a:t>
            </a:r>
            <a:r>
              <a:rPr lang="en-US" altLang="zh-CN" sz="2400" b="1">
                <a:latin typeface="黑体" pitchFamily="49" charset="-122"/>
                <a:ea typeface="楷体_GB2312" pitchFamily="49" charset="-122"/>
              </a:rPr>
              <a:t>120°.</a:t>
            </a:r>
          </a:p>
          <a:p>
            <a:pPr>
              <a:lnSpc>
                <a:spcPct val="130000"/>
              </a:lnSpc>
            </a:pPr>
            <a:r>
              <a:rPr lang="zh-CN" altLang="en-US" sz="24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例如：</a:t>
            </a:r>
            <a:r>
              <a:rPr lang="en-US" altLang="zh-CN" sz="2400" b="1">
                <a:solidFill>
                  <a:srgbClr val="FFFF00"/>
                </a:solidFill>
                <a:ea typeface="楷体_GB2312" pitchFamily="49" charset="-122"/>
                <a:cs typeface="Times New Roman" pitchFamily="18" charset="0"/>
                <a:hlinkClick r:id="rId7" action="ppaction://hlinkfile"/>
              </a:rPr>
              <a:t>BF</a:t>
            </a:r>
            <a:r>
              <a:rPr lang="en-US" altLang="zh-CN" sz="2400" b="1" baseline="-25000">
                <a:solidFill>
                  <a:srgbClr val="FFFF00"/>
                </a:solidFill>
                <a:ea typeface="楷体_GB2312" pitchFamily="49" charset="-122"/>
                <a:cs typeface="Times New Roman" pitchFamily="18" charset="0"/>
                <a:hlinkClick r:id="rId7" action="ppaction://hlinkfile"/>
              </a:rPr>
              <a:t>3</a:t>
            </a:r>
            <a:r>
              <a:rPr lang="zh-CN" altLang="en-US" sz="2400" b="1">
                <a:ea typeface="楷体_GB2312" pitchFamily="49" charset="-122"/>
                <a:cs typeface="Times New Roman" pitchFamily="18" charset="0"/>
              </a:rPr>
              <a:t>、</a:t>
            </a:r>
            <a:r>
              <a:rPr lang="en-US" altLang="zh-CN" sz="2400" b="1">
                <a:ea typeface="楷体_GB2312" pitchFamily="49" charset="-122"/>
                <a:cs typeface="Times New Roman" pitchFamily="18" charset="0"/>
              </a:rPr>
              <a:t> CO</a:t>
            </a:r>
            <a:r>
              <a:rPr lang="en-US" altLang="zh-CN" sz="2400" b="1" baseline="-25000"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sz="2400" b="1" baseline="30000">
                <a:ea typeface="楷体_GB2312" pitchFamily="49" charset="-122"/>
                <a:cs typeface="Times New Roman" pitchFamily="18" charset="0"/>
              </a:rPr>
              <a:t>2-</a:t>
            </a:r>
            <a:r>
              <a:rPr lang="zh-CN" altLang="en-US" sz="2400" b="1">
                <a:ea typeface="楷体_GB2312" pitchFamily="49" charset="-122"/>
                <a:cs typeface="Times New Roman" pitchFamily="18" charset="0"/>
              </a:rPr>
              <a:t>、</a:t>
            </a:r>
            <a:r>
              <a:rPr lang="en-US" altLang="zh-CN" sz="2400" b="1"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400" b="1" baseline="-25000"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400" b="1">
                <a:ea typeface="楷体_GB2312" pitchFamily="49" charset="-122"/>
                <a:cs typeface="Times New Roman" pitchFamily="18" charset="0"/>
              </a:rPr>
              <a:t>H</a:t>
            </a:r>
            <a:r>
              <a:rPr lang="en-US" altLang="zh-CN" sz="2400" b="1" baseline="-25000">
                <a:ea typeface="楷体_GB2312" pitchFamily="49" charset="-122"/>
                <a:cs typeface="Times New Roman" pitchFamily="18" charset="0"/>
              </a:rPr>
              <a:t>4</a:t>
            </a:r>
            <a:r>
              <a:rPr lang="zh-CN" altLang="en-US" sz="2400" b="1">
                <a:latin typeface="黑体" pitchFamily="49" charset="-122"/>
                <a:ea typeface="楷体_GB2312" pitchFamily="49" charset="-122"/>
              </a:rPr>
              <a:t>等</a:t>
            </a:r>
            <a:r>
              <a:rPr lang="en-US" altLang="zh-CN" sz="2400" b="1">
                <a:latin typeface="黑体" pitchFamily="49" charset="-122"/>
                <a:ea typeface="楷体_GB2312" pitchFamily="49" charset="-122"/>
              </a:rPr>
              <a:t>.</a:t>
            </a:r>
            <a:endParaRPr lang="zh-CN" altLang="en-US" sz="2400" b="1">
              <a:latin typeface="黑体" pitchFamily="49" charset="-122"/>
              <a:ea typeface="楷体_GB2312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rcRect l="13147" r="16310"/>
          <a:stretch>
            <a:fillRect/>
          </a:stretch>
        </p:blipFill>
        <p:spPr bwMode="auto">
          <a:xfrm>
            <a:off x="6505575" y="2633663"/>
            <a:ext cx="1627188" cy="1398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18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5572125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8.1.2</a:t>
            </a:r>
            <a:r>
              <a:rPr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杂化轨道理论与分子的几何构型</a:t>
            </a:r>
            <a:endParaRPr lang="zh-CN" altLang="en-US" sz="220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P spid="2" grpId="0"/>
      <p:bldP spid="23" grpId="0" animBg="1"/>
      <p:bldP spid="24" grpId="0"/>
      <p:bldP spid="72" grpId="0" animBg="1"/>
      <p:bldP spid="7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1" name="Oval 6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2" name="Text Box 47"/>
          <p:cNvSpPr txBox="1">
            <a:spLocks noChangeArrowheads="1"/>
          </p:cNvSpPr>
          <p:nvPr/>
        </p:nvSpPr>
        <p:spPr bwMode="auto">
          <a:xfrm>
            <a:off x="903288" y="1025525"/>
            <a:ext cx="1852612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solidFill>
                  <a:srgbClr val="FF0000"/>
                </a:solidFill>
                <a:ea typeface="楷体_GB2312" pitchFamily="49" charset="-122"/>
              </a:rPr>
              <a:t>2</a:t>
            </a:r>
            <a:r>
              <a:rPr kumimoji="1" lang="zh-CN" altLang="en-US" sz="2500" b="1">
                <a:solidFill>
                  <a:srgbClr val="FF0000"/>
                </a:solidFill>
                <a:ea typeface="楷体_GB2312" pitchFamily="49" charset="-122"/>
              </a:rPr>
              <a:t>）</a:t>
            </a:r>
            <a:r>
              <a:rPr kumimoji="1" lang="en-US" altLang="zh-CN" sz="2500" b="1">
                <a:solidFill>
                  <a:srgbClr val="FF0000"/>
                </a:solidFill>
                <a:ea typeface="楷体_GB2312" pitchFamily="49" charset="-122"/>
              </a:rPr>
              <a:t>sp</a:t>
            </a:r>
            <a:r>
              <a:rPr kumimoji="1" lang="en-US" altLang="zh-CN" sz="2500" b="1" baseline="30000">
                <a:solidFill>
                  <a:srgbClr val="FF0000"/>
                </a:solidFill>
                <a:ea typeface="楷体_GB2312" pitchFamily="49" charset="-122"/>
              </a:rPr>
              <a:t>2</a:t>
            </a:r>
            <a:r>
              <a:rPr kumimoji="1" lang="zh-CN" altLang="en-US" sz="2500" b="1">
                <a:solidFill>
                  <a:srgbClr val="FF0000"/>
                </a:solidFill>
                <a:ea typeface="楷体_GB2312" pitchFamily="49" charset="-122"/>
              </a:rPr>
              <a:t>杂化：</a:t>
            </a:r>
          </a:p>
        </p:txBody>
      </p:sp>
      <p:sp>
        <p:nvSpPr>
          <p:cNvPr id="22533" name="矩形 1"/>
          <p:cNvSpPr>
            <a:spLocks noChangeArrowheads="1"/>
          </p:cNvSpPr>
          <p:nvPr/>
        </p:nvSpPr>
        <p:spPr bwMode="auto">
          <a:xfrm>
            <a:off x="2974975" y="1025525"/>
            <a:ext cx="307975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0000"/>
                </a:solidFill>
              </a:rPr>
              <a:t>1/3</a:t>
            </a:r>
            <a:r>
              <a:rPr lang="en-US" altLang="zh-CN" sz="2500" b="1"/>
              <a:t> s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轨道</a:t>
            </a:r>
            <a:r>
              <a:rPr lang="zh-CN" altLang="en-US" sz="2500" b="1"/>
              <a:t>和</a:t>
            </a:r>
            <a:r>
              <a:rPr lang="en-US" altLang="zh-CN" sz="2500" b="1">
                <a:solidFill>
                  <a:srgbClr val="FF0000"/>
                </a:solidFill>
              </a:rPr>
              <a:t>2/3</a:t>
            </a:r>
            <a:r>
              <a:rPr lang="en-US" altLang="zh-CN" sz="2500" b="1"/>
              <a:t> p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轨道</a:t>
            </a: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60600" y="1597025"/>
            <a:ext cx="5184775" cy="390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5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5572125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8.1.2</a:t>
            </a:r>
            <a:r>
              <a:rPr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杂化轨道理论与分子的几何构型</a:t>
            </a:r>
            <a:endParaRPr lang="zh-CN" altLang="en-US" sz="220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5" name="Oval 6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Text Box 47"/>
          <p:cNvSpPr txBox="1">
            <a:spLocks noChangeArrowheads="1"/>
          </p:cNvSpPr>
          <p:nvPr/>
        </p:nvSpPr>
        <p:spPr bwMode="auto">
          <a:xfrm>
            <a:off x="1390650" y="960438"/>
            <a:ext cx="185261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ea typeface="楷体_GB2312" pitchFamily="49" charset="-122"/>
              </a:rPr>
              <a:t>3</a:t>
            </a:r>
            <a:r>
              <a:rPr kumimoji="1" lang="zh-CN" altLang="en-US" sz="2500" b="1">
                <a:ea typeface="楷体_GB2312" pitchFamily="49" charset="-122"/>
              </a:rPr>
              <a:t>）</a:t>
            </a:r>
            <a:r>
              <a:rPr kumimoji="1" lang="en-US" altLang="zh-CN" sz="2500" b="1">
                <a:ea typeface="楷体_GB2312" pitchFamily="49" charset="-122"/>
                <a:hlinkClick r:id="rId5" action="ppaction://hlinkfile"/>
              </a:rPr>
              <a:t>sp</a:t>
            </a:r>
            <a:r>
              <a:rPr kumimoji="1" lang="en-US" altLang="zh-CN" sz="2500" b="1" baseline="30000">
                <a:ea typeface="楷体_GB2312" pitchFamily="49" charset="-122"/>
                <a:hlinkClick r:id="rId5" action="ppaction://hlinkfile"/>
              </a:rPr>
              <a:t>3</a:t>
            </a:r>
            <a:r>
              <a:rPr kumimoji="1" lang="zh-CN" altLang="en-US" sz="2500" b="1">
                <a:ea typeface="楷体_GB2312" pitchFamily="49" charset="-122"/>
                <a:hlinkClick r:id="rId5" action="ppaction://hlinkfile"/>
              </a:rPr>
              <a:t>杂化</a:t>
            </a:r>
            <a:r>
              <a:rPr kumimoji="1" lang="zh-CN" altLang="en-US" sz="2500" b="1">
                <a:ea typeface="楷体_GB2312" pitchFamily="49" charset="-122"/>
              </a:rPr>
              <a:t>：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046413" y="954088"/>
            <a:ext cx="30797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0000"/>
                </a:solidFill>
              </a:rPr>
              <a:t>1/4</a:t>
            </a:r>
            <a:r>
              <a:rPr lang="en-US" altLang="zh-CN" sz="2500" b="1"/>
              <a:t> s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轨道</a:t>
            </a:r>
            <a:r>
              <a:rPr lang="zh-CN" altLang="en-US" sz="2500" b="1"/>
              <a:t>和</a:t>
            </a:r>
            <a:r>
              <a:rPr lang="en-US" altLang="zh-CN" sz="2500" b="1">
                <a:solidFill>
                  <a:srgbClr val="FF0000"/>
                </a:solidFill>
              </a:rPr>
              <a:t>3/4</a:t>
            </a:r>
            <a:r>
              <a:rPr lang="en-US" altLang="zh-CN" sz="2500" b="1"/>
              <a:t> p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轨道</a:t>
            </a:r>
          </a:p>
        </p:txBody>
      </p:sp>
      <p:sp>
        <p:nvSpPr>
          <p:cNvPr id="23" name="右箭头 22"/>
          <p:cNvSpPr/>
          <p:nvPr/>
        </p:nvSpPr>
        <p:spPr bwMode="auto">
          <a:xfrm>
            <a:off x="3863975" y="1798638"/>
            <a:ext cx="1085850" cy="288925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zh-CN" altLang="en-US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24" name="文本框 9"/>
          <p:cNvSpPr txBox="1">
            <a:spLocks noChangeArrowheads="1"/>
          </p:cNvSpPr>
          <p:nvPr/>
        </p:nvSpPr>
        <p:spPr bwMode="auto">
          <a:xfrm>
            <a:off x="3883025" y="1471613"/>
            <a:ext cx="10287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2000" b="1">
                <a:solidFill>
                  <a:srgbClr val="FF0000"/>
                </a:solidFill>
                <a:ea typeface="华文楷体" pitchFamily="2" charset="-122"/>
                <a:cs typeface="楷体_GB2312" pitchFamily="49" charset="-122"/>
              </a:rPr>
              <a:t>sp</a:t>
            </a:r>
            <a:r>
              <a:rPr kumimoji="1" lang="en-US" altLang="zh-CN" sz="2000" b="1" baseline="30000">
                <a:solidFill>
                  <a:srgbClr val="FF0000"/>
                </a:solidFill>
                <a:ea typeface="华文楷体" pitchFamily="2" charset="-122"/>
                <a:cs typeface="楷体_GB2312" pitchFamily="49" charset="-122"/>
              </a:rPr>
              <a:t>3</a:t>
            </a:r>
            <a:r>
              <a:rPr kumimoji="1" lang="zh-CN" altLang="en-US" sz="2000" b="1">
                <a:solidFill>
                  <a:srgbClr val="FF0000"/>
                </a:solidFill>
                <a:latin typeface="黑体" pitchFamily="49" charset="-122"/>
                <a:ea typeface="华文楷体" pitchFamily="2" charset="-122"/>
                <a:cs typeface="楷体_GB2312" pitchFamily="49" charset="-122"/>
              </a:rPr>
              <a:t>杂化</a:t>
            </a:r>
          </a:p>
        </p:txBody>
      </p:sp>
      <p:grpSp>
        <p:nvGrpSpPr>
          <p:cNvPr id="3" name="组合 45"/>
          <p:cNvGrpSpPr>
            <a:grpSpLocks/>
          </p:cNvGrpSpPr>
          <p:nvPr/>
        </p:nvGrpSpPr>
        <p:grpSpPr bwMode="auto">
          <a:xfrm>
            <a:off x="1931988" y="1614488"/>
            <a:ext cx="1778000" cy="841375"/>
            <a:chOff x="2266950" y="1615804"/>
            <a:chExt cx="1777556" cy="841101"/>
          </a:xfrm>
        </p:grpSpPr>
        <p:sp>
          <p:nvSpPr>
            <p:cNvPr id="47" name="Oval 15"/>
            <p:cNvSpPr>
              <a:spLocks noChangeArrowheads="1"/>
            </p:cNvSpPr>
            <p:nvPr/>
          </p:nvSpPr>
          <p:spPr bwMode="auto">
            <a:xfrm>
              <a:off x="2266950" y="1985571"/>
              <a:ext cx="466608" cy="471334"/>
            </a:xfrm>
            <a:prstGeom prst="ellips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16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48" name="Oval 16"/>
            <p:cNvSpPr>
              <a:spLocks noChangeArrowheads="1"/>
            </p:cNvSpPr>
            <p:nvPr/>
          </p:nvSpPr>
          <p:spPr bwMode="auto">
            <a:xfrm>
              <a:off x="3568375" y="1684044"/>
              <a:ext cx="466608" cy="468160"/>
            </a:xfrm>
            <a:prstGeom prst="ellips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16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49" name="Oval 17"/>
            <p:cNvSpPr>
              <a:spLocks noChangeArrowheads="1"/>
            </p:cNvSpPr>
            <p:nvPr/>
          </p:nvSpPr>
          <p:spPr bwMode="auto">
            <a:xfrm>
              <a:off x="3101766" y="1684044"/>
              <a:ext cx="466608" cy="468160"/>
            </a:xfrm>
            <a:prstGeom prst="ellips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16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50" name="Oval 18"/>
            <p:cNvSpPr>
              <a:spLocks noChangeArrowheads="1"/>
            </p:cNvSpPr>
            <p:nvPr/>
          </p:nvSpPr>
          <p:spPr bwMode="auto">
            <a:xfrm>
              <a:off x="2635158" y="1684044"/>
              <a:ext cx="466608" cy="468160"/>
            </a:xfrm>
            <a:prstGeom prst="ellips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16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51" name="文本框 53"/>
            <p:cNvSpPr txBox="1">
              <a:spLocks noChangeArrowheads="1"/>
            </p:cNvSpPr>
            <p:nvPr/>
          </p:nvSpPr>
          <p:spPr bwMode="auto">
            <a:xfrm>
              <a:off x="2357414" y="1979223"/>
              <a:ext cx="304724" cy="461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b="1" dirty="0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s</a:t>
              </a:r>
              <a:endParaRPr lang="zh-CN" altLang="en-US" sz="2400" b="1" dirty="0">
                <a:solidFill>
                  <a:schemeClr val="bg2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52" name="文本框 52"/>
            <p:cNvSpPr txBox="1">
              <a:spLocks noChangeArrowheads="1"/>
            </p:cNvSpPr>
            <p:nvPr/>
          </p:nvSpPr>
          <p:spPr bwMode="auto">
            <a:xfrm>
              <a:off x="2676423" y="1615804"/>
              <a:ext cx="458672" cy="461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b="1" dirty="0" err="1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p</a:t>
              </a:r>
              <a:r>
                <a:rPr lang="en-US" altLang="zh-CN" sz="2400" b="1" i="1" baseline="-25000" dirty="0" err="1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x</a:t>
              </a:r>
              <a:endParaRPr lang="zh-CN" altLang="en-US" sz="2400" b="1" i="1" baseline="-25000" dirty="0">
                <a:solidFill>
                  <a:schemeClr val="bg2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53" name="文本框 52"/>
            <p:cNvSpPr txBox="1">
              <a:spLocks noChangeArrowheads="1"/>
            </p:cNvSpPr>
            <p:nvPr/>
          </p:nvSpPr>
          <p:spPr bwMode="auto">
            <a:xfrm>
              <a:off x="3150966" y="1615804"/>
              <a:ext cx="447563" cy="461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b="1" dirty="0" err="1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p</a:t>
              </a:r>
              <a:r>
                <a:rPr lang="en-US" altLang="zh-CN" sz="2400" b="1" i="1" baseline="-25000" dirty="0" err="1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y</a:t>
              </a:r>
              <a:endParaRPr lang="zh-CN" altLang="en-US" sz="2400" b="1" i="1" baseline="-25000" dirty="0">
                <a:solidFill>
                  <a:schemeClr val="bg2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54" name="文本框 52"/>
            <p:cNvSpPr txBox="1">
              <a:spLocks noChangeArrowheads="1"/>
            </p:cNvSpPr>
            <p:nvPr/>
          </p:nvSpPr>
          <p:spPr bwMode="auto">
            <a:xfrm>
              <a:off x="3608052" y="1615804"/>
              <a:ext cx="436454" cy="461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b="1" dirty="0" err="1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p</a:t>
              </a:r>
              <a:r>
                <a:rPr lang="en-US" altLang="zh-CN" sz="2400" b="1" i="1" baseline="-25000" dirty="0" err="1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z</a:t>
              </a:r>
              <a:endParaRPr lang="zh-CN" altLang="en-US" sz="2400" b="1" i="1" baseline="-25000" dirty="0">
                <a:solidFill>
                  <a:schemeClr val="bg2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</p:grpSp>
      <p:grpSp>
        <p:nvGrpSpPr>
          <p:cNvPr id="5" name="组合 57"/>
          <p:cNvGrpSpPr>
            <a:grpSpLocks/>
          </p:cNvGrpSpPr>
          <p:nvPr/>
        </p:nvGrpSpPr>
        <p:grpSpPr bwMode="auto">
          <a:xfrm>
            <a:off x="5232400" y="1817688"/>
            <a:ext cx="2538413" cy="530225"/>
            <a:chOff x="5254625" y="1819091"/>
            <a:chExt cx="2537157" cy="529656"/>
          </a:xfrm>
        </p:grpSpPr>
        <p:sp>
          <p:nvSpPr>
            <p:cNvPr id="59" name="Oval 15"/>
            <p:cNvSpPr>
              <a:spLocks noChangeArrowheads="1"/>
            </p:cNvSpPr>
            <p:nvPr/>
          </p:nvSpPr>
          <p:spPr bwMode="auto">
            <a:xfrm>
              <a:off x="5254625" y="1871422"/>
              <a:ext cx="466494" cy="470982"/>
            </a:xfrm>
            <a:prstGeom prst="ellips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16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62" name="Oval 18"/>
            <p:cNvSpPr>
              <a:spLocks noChangeArrowheads="1"/>
            </p:cNvSpPr>
            <p:nvPr/>
          </p:nvSpPr>
          <p:spPr bwMode="auto">
            <a:xfrm>
              <a:off x="5725880" y="1871422"/>
              <a:ext cx="466494" cy="440851"/>
            </a:xfrm>
            <a:prstGeom prst="ellips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16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65" name="文本框 64"/>
            <p:cNvSpPr txBox="1">
              <a:spLocks noChangeArrowheads="1"/>
            </p:cNvSpPr>
            <p:nvPr/>
          </p:nvSpPr>
          <p:spPr bwMode="auto">
            <a:xfrm>
              <a:off x="7212631" y="1819091"/>
              <a:ext cx="579151" cy="461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b="1" dirty="0" smtClean="0">
                  <a:solidFill>
                    <a:srgbClr val="FF0000"/>
                  </a:solidFill>
                  <a:latin typeface="+mn-lt"/>
                  <a:ea typeface="华文楷体" panose="02010600040101010101" pitchFamily="2" charset="-122"/>
                </a:rPr>
                <a:t>sp</a:t>
              </a:r>
              <a:r>
                <a:rPr lang="en-US" altLang="zh-CN" sz="2400" b="1" baseline="30000" dirty="0" smtClean="0">
                  <a:solidFill>
                    <a:srgbClr val="FF0000"/>
                  </a:solidFill>
                  <a:latin typeface="+mn-lt"/>
                  <a:ea typeface="华文楷体" panose="02010600040101010101" pitchFamily="2" charset="-122"/>
                </a:rPr>
                <a:t>3</a:t>
              </a:r>
              <a:endParaRPr lang="zh-CN" altLang="en-US" sz="2400" b="1" i="1" baseline="30000" dirty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6" name="Oval 18"/>
            <p:cNvSpPr>
              <a:spLocks noChangeArrowheads="1"/>
            </p:cNvSpPr>
            <p:nvPr/>
          </p:nvSpPr>
          <p:spPr bwMode="auto">
            <a:xfrm>
              <a:off x="6190787" y="1880937"/>
              <a:ext cx="468081" cy="467810"/>
            </a:xfrm>
            <a:prstGeom prst="ellips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16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7" name="Oval 18"/>
            <p:cNvSpPr>
              <a:spLocks noChangeArrowheads="1"/>
            </p:cNvSpPr>
            <p:nvPr/>
          </p:nvSpPr>
          <p:spPr bwMode="auto">
            <a:xfrm>
              <a:off x="6649348" y="1871422"/>
              <a:ext cx="466494" cy="467810"/>
            </a:xfrm>
            <a:prstGeom prst="ellips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lang="zh-CN" altLang="en-US" sz="1600">
                <a:latin typeface="+mn-lt"/>
                <a:ea typeface="华文楷体" panose="02010600040101010101" pitchFamily="2" charset="-122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rcRect r="-1312"/>
          <a:stretch>
            <a:fillRect/>
          </a:stretch>
        </p:blipFill>
        <p:spPr bwMode="auto">
          <a:xfrm>
            <a:off x="1263650" y="2652713"/>
            <a:ext cx="5435600" cy="1395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" name="右箭头 71"/>
          <p:cNvSpPr/>
          <p:nvPr/>
        </p:nvSpPr>
        <p:spPr bwMode="auto">
          <a:xfrm>
            <a:off x="6699250" y="3238500"/>
            <a:ext cx="307975" cy="288925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zh-CN" altLang="en-US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73" name="矩形 72"/>
          <p:cNvSpPr>
            <a:spLocks noChangeArrowheads="1"/>
          </p:cNvSpPr>
          <p:nvPr/>
        </p:nvSpPr>
        <p:spPr bwMode="auto">
          <a:xfrm>
            <a:off x="1830388" y="4146550"/>
            <a:ext cx="4302125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正四面体型，键角</a:t>
            </a:r>
            <a:r>
              <a:rPr lang="en-US" altLang="zh-CN" sz="2500" b="1">
                <a:latin typeface="黑体" pitchFamily="49" charset="-122"/>
                <a:ea typeface="楷体_GB2312" pitchFamily="49" charset="-122"/>
              </a:rPr>
              <a:t>109.5°.</a:t>
            </a:r>
          </a:p>
          <a:p>
            <a:pPr>
              <a:lnSpc>
                <a:spcPct val="130000"/>
              </a:lnSpc>
            </a:pPr>
            <a:r>
              <a:rPr lang="zh-CN" altLang="en-US" sz="25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例如：</a:t>
            </a:r>
            <a:r>
              <a:rPr lang="en-US" altLang="zh-CN" sz="2500" b="1">
                <a:solidFill>
                  <a:srgbClr val="FFFF00"/>
                </a:solidFill>
                <a:ea typeface="楷体_GB2312" pitchFamily="49" charset="-122"/>
                <a:cs typeface="Times New Roman" pitchFamily="18" charset="0"/>
                <a:hlinkClick r:id="rId7" action="ppaction://hlinkfile"/>
              </a:rPr>
              <a:t>CH</a:t>
            </a:r>
            <a:r>
              <a:rPr lang="en-US" altLang="zh-CN" sz="2500" b="1" baseline="-25000">
                <a:solidFill>
                  <a:srgbClr val="FFFF00"/>
                </a:solidFill>
                <a:ea typeface="楷体_GB2312" pitchFamily="49" charset="-122"/>
                <a:cs typeface="Times New Roman" pitchFamily="18" charset="0"/>
                <a:hlinkClick r:id="rId7" action="ppaction://hlinkfile"/>
              </a:rPr>
              <a:t>4</a:t>
            </a:r>
            <a:r>
              <a:rPr lang="zh-CN" altLang="en-US" sz="2500" b="1">
                <a:ea typeface="楷体_GB2312" pitchFamily="49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楷体_GB2312" pitchFamily="49" charset="-122"/>
                <a:cs typeface="Times New Roman" pitchFamily="18" charset="0"/>
              </a:rPr>
              <a:t> CCl</a:t>
            </a:r>
            <a:r>
              <a:rPr lang="en-US" altLang="zh-CN" sz="2500" b="1" baseline="-25000">
                <a:ea typeface="楷体_GB2312" pitchFamily="49" charset="-122"/>
                <a:cs typeface="Times New Roman" pitchFamily="18" charset="0"/>
              </a:rPr>
              <a:t>4</a:t>
            </a:r>
            <a:r>
              <a:rPr lang="zh-CN" altLang="en-US" sz="2500" b="1">
                <a:ea typeface="楷体_GB2312" pitchFamily="49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楷体_GB2312" pitchFamily="49" charset="-122"/>
                <a:cs typeface="Times New Roman" pitchFamily="18" charset="0"/>
              </a:rPr>
              <a:t>SiCl</a:t>
            </a:r>
            <a:r>
              <a:rPr lang="en-US" altLang="zh-CN" sz="2500" b="1" baseline="-25000">
                <a:ea typeface="楷体_GB2312" pitchFamily="49" charset="-122"/>
                <a:cs typeface="Times New Roman" pitchFamily="18" charset="0"/>
              </a:rPr>
              <a:t>4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等</a:t>
            </a:r>
            <a:r>
              <a:rPr lang="en-US" altLang="zh-CN" sz="2500" b="1">
                <a:latin typeface="黑体" pitchFamily="49" charset="-122"/>
                <a:ea typeface="楷体_GB2312" pitchFamily="49" charset="-122"/>
              </a:rPr>
              <a:t>.</a:t>
            </a:r>
            <a:endParaRPr lang="zh-CN" altLang="en-US" sz="2500" b="1">
              <a:latin typeface="黑体" pitchFamily="49" charset="-122"/>
              <a:ea typeface="楷体_GB2312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219950" y="2660650"/>
            <a:ext cx="1431925" cy="139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1806575" y="5199063"/>
            <a:ext cx="6958013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此外，</a:t>
            </a:r>
            <a:r>
              <a:rPr lang="en-US" altLang="zh-CN" sz="2500" b="1">
                <a:latin typeface="黑体" pitchFamily="49" charset="-122"/>
                <a:ea typeface="楷体_GB2312" pitchFamily="49" charset="-122"/>
              </a:rPr>
              <a:t>d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轨道也可以参与杂化，如</a:t>
            </a:r>
            <a:r>
              <a:rPr lang="en-US" altLang="zh-CN" sz="25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dsp</a:t>
            </a:r>
            <a:r>
              <a:rPr lang="en-US" altLang="zh-CN" sz="2500" b="1" baseline="30000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2</a:t>
            </a:r>
            <a:r>
              <a:rPr lang="zh-CN" altLang="en-US" sz="25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、</a:t>
            </a:r>
            <a:r>
              <a:rPr lang="en-US" altLang="zh-CN" sz="25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sp</a:t>
            </a:r>
            <a:r>
              <a:rPr lang="en-US" altLang="zh-CN" sz="2500" b="1" baseline="30000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3</a:t>
            </a:r>
            <a:r>
              <a:rPr lang="en-US" altLang="zh-CN" sz="25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d</a:t>
            </a:r>
            <a:r>
              <a:rPr lang="en-US" altLang="zh-CN" sz="2500" b="1" baseline="30000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2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等</a:t>
            </a:r>
            <a:r>
              <a:rPr lang="en-US" altLang="zh-CN" sz="2500" b="1">
                <a:latin typeface="黑体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23567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5572125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8.1.2</a:t>
            </a:r>
            <a:r>
              <a:rPr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杂化轨道理论与分子的几何构型</a:t>
            </a:r>
            <a:endParaRPr lang="zh-CN" altLang="en-US" sz="220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P spid="2" grpId="0"/>
      <p:bldP spid="23" grpId="0" animBg="1"/>
      <p:bldP spid="24" grpId="0"/>
      <p:bldP spid="72" grpId="0" animBg="1"/>
      <p:bldP spid="73" grpId="0"/>
      <p:bldP spid="4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79" name="Oval 6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Text Box 47"/>
          <p:cNvSpPr txBox="1">
            <a:spLocks noChangeArrowheads="1"/>
          </p:cNvSpPr>
          <p:nvPr/>
        </p:nvSpPr>
        <p:spPr bwMode="auto">
          <a:xfrm>
            <a:off x="755650" y="838200"/>
            <a:ext cx="35210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ea typeface="楷体_GB2312" pitchFamily="49" charset="-122"/>
              </a:rPr>
              <a:t>4) </a:t>
            </a:r>
            <a:r>
              <a:rPr kumimoji="1" lang="zh-CN" altLang="en-US" sz="2500" b="1">
                <a:ea typeface="楷体_GB2312" pitchFamily="49" charset="-122"/>
              </a:rPr>
              <a:t>不等性</a:t>
            </a:r>
            <a:r>
              <a:rPr kumimoji="1" lang="en-US" altLang="zh-CN" sz="2500" b="1">
                <a:ea typeface="楷体_GB2312" pitchFamily="49" charset="-122"/>
              </a:rPr>
              <a:t>sp</a:t>
            </a:r>
            <a:r>
              <a:rPr kumimoji="1" lang="en-US" altLang="zh-CN" sz="2500" b="1" baseline="30000">
                <a:ea typeface="楷体_GB2312" pitchFamily="49" charset="-122"/>
              </a:rPr>
              <a:t>3</a:t>
            </a:r>
            <a:r>
              <a:rPr kumimoji="1" lang="zh-CN" altLang="en-US" sz="2500" b="1">
                <a:ea typeface="楷体_GB2312" pitchFamily="49" charset="-122"/>
              </a:rPr>
              <a:t>杂化：</a:t>
            </a:r>
          </a:p>
        </p:txBody>
      </p:sp>
      <p:sp>
        <p:nvSpPr>
          <p:cNvPr id="38" name="Rectangle 44"/>
          <p:cNvSpPr>
            <a:spLocks noChangeArrowheads="1"/>
          </p:cNvSpPr>
          <p:nvPr/>
        </p:nvSpPr>
        <p:spPr bwMode="auto">
          <a:xfrm>
            <a:off x="3698875" y="703263"/>
            <a:ext cx="7675563" cy="1052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① 孤对电子占有的轨道参与杂化，但不参与成键；</a:t>
            </a:r>
            <a:endParaRPr lang="en-US" altLang="zh-CN" sz="2500" b="1">
              <a:latin typeface="黑体" pitchFamily="49" charset="-122"/>
              <a:ea typeface="楷体_GB2312" pitchFamily="49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② 形成能量、成分不完全相同的不等性杂化轨道。</a:t>
            </a:r>
            <a:endParaRPr lang="en-US" altLang="zh-CN" sz="2500" b="1" baseline="30000">
              <a:latin typeface="黑体" pitchFamily="49" charset="-122"/>
              <a:ea typeface="楷体_GB2312" pitchFamily="49" charset="-122"/>
            </a:endParaRPr>
          </a:p>
        </p:txBody>
      </p:sp>
      <p:sp>
        <p:nvSpPr>
          <p:cNvPr id="41" name="Rectangle 44"/>
          <p:cNvSpPr>
            <a:spLocks noChangeArrowheads="1"/>
          </p:cNvSpPr>
          <p:nvPr/>
        </p:nvSpPr>
        <p:spPr bwMode="auto">
          <a:xfrm>
            <a:off x="709613" y="2301875"/>
            <a:ext cx="279558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ClrTx/>
              <a:buSzTx/>
              <a:buFont typeface="Monotype Sorts"/>
              <a:buNone/>
              <a:defRPr/>
            </a:pPr>
            <a:r>
              <a:rPr lang="zh-CN" altLang="en-US" sz="2400" b="1" dirty="0" smtClean="0">
                <a:solidFill>
                  <a:srgbClr val="FF0000"/>
                </a:solidFill>
                <a:latin typeface="黑体" panose="02010609060101010101" pitchFamily="49" charset="-122"/>
                <a:ea typeface="楷体_GB2312"/>
              </a:rPr>
              <a:t>例如：</a:t>
            </a:r>
            <a:r>
              <a:rPr lang="en-US" altLang="zh-CN" sz="2400" b="1" dirty="0" smtClean="0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hlinkClick r:id="rId5" action="ppaction://hlinkfile"/>
              </a:rPr>
              <a:t>N</a:t>
            </a:r>
            <a:r>
              <a:rPr lang="en-US" altLang="zh-CN" sz="2400" b="1" dirty="0" smtClean="0">
                <a:latin typeface="+mn-lt"/>
                <a:ea typeface="华文楷体" panose="02010600040101010101" pitchFamily="2" charset="-122"/>
                <a:hlinkClick r:id="rId5" action="ppaction://hlinkfile"/>
              </a:rPr>
              <a:t>H</a:t>
            </a:r>
            <a:r>
              <a:rPr lang="en-US" altLang="zh-CN" sz="2400" b="1" baseline="-25000" dirty="0" smtClean="0">
                <a:latin typeface="+mn-lt"/>
                <a:ea typeface="华文楷体" panose="02010600040101010101" pitchFamily="2" charset="-122"/>
                <a:hlinkClick r:id="rId5" action="ppaction://hlinkfile"/>
              </a:rPr>
              <a:t>3</a:t>
            </a:r>
            <a:r>
              <a:rPr lang="zh-CN" altLang="en-US" sz="2400" b="1" dirty="0">
                <a:latin typeface="+mn-lt"/>
                <a:ea typeface="华文楷体" panose="02010600040101010101" pitchFamily="2" charset="-122"/>
              </a:rPr>
              <a:t> </a:t>
            </a:r>
            <a:r>
              <a:rPr lang="zh-CN" altLang="en-US" sz="2400" b="1" dirty="0" smtClean="0">
                <a:latin typeface="+mn-lt"/>
                <a:ea typeface="华文楷体" panose="02010600040101010101" pitchFamily="2" charset="-122"/>
              </a:rPr>
              <a:t>、</a:t>
            </a:r>
            <a:r>
              <a:rPr lang="en-US" altLang="zh-CN" sz="2400" b="1" dirty="0" smtClean="0">
                <a:latin typeface="+mn-lt"/>
                <a:ea typeface="华文楷体" panose="02010600040101010101" pitchFamily="2" charset="-122"/>
                <a:hlinkClick r:id="rId6" action="ppaction://hlinkfile"/>
              </a:rPr>
              <a:t>H</a:t>
            </a:r>
            <a:r>
              <a:rPr lang="en-US" altLang="zh-CN" sz="2400" b="1" baseline="-25000" dirty="0" smtClean="0">
                <a:latin typeface="+mn-lt"/>
                <a:ea typeface="华文楷体" panose="02010600040101010101" pitchFamily="2" charset="-122"/>
                <a:hlinkClick r:id="rId6" action="ppaction://hlinkfile"/>
              </a:rPr>
              <a:t>2</a:t>
            </a:r>
            <a:r>
              <a:rPr lang="en-US" altLang="zh-CN" sz="2400" b="1" dirty="0" smtClean="0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hlinkClick r:id="rId6" action="ppaction://hlinkfile"/>
              </a:rPr>
              <a:t>O</a:t>
            </a:r>
            <a:endParaRPr lang="en-US" altLang="zh-CN" sz="2400" b="1" baseline="-25000" dirty="0" smtClean="0">
              <a:solidFill>
                <a:srgbClr val="FFFF00"/>
              </a:solidFill>
              <a:latin typeface="+mn-lt"/>
              <a:ea typeface="华文楷体" panose="02010600040101010101" pitchFamily="2" charset="-122"/>
            </a:endParaRPr>
          </a:p>
        </p:txBody>
      </p:sp>
      <p:grpSp>
        <p:nvGrpSpPr>
          <p:cNvPr id="2" name="组合 41"/>
          <p:cNvGrpSpPr>
            <a:grpSpLocks/>
          </p:cNvGrpSpPr>
          <p:nvPr/>
        </p:nvGrpSpPr>
        <p:grpSpPr bwMode="auto">
          <a:xfrm>
            <a:off x="738188" y="2762250"/>
            <a:ext cx="5614987" cy="1203325"/>
            <a:chOff x="901904" y="3046864"/>
            <a:chExt cx="5614312" cy="1203374"/>
          </a:xfrm>
        </p:grpSpPr>
        <p:grpSp>
          <p:nvGrpSpPr>
            <p:cNvPr id="24619" name="Group 6"/>
            <p:cNvGrpSpPr>
              <a:grpSpLocks/>
            </p:cNvGrpSpPr>
            <p:nvPr/>
          </p:nvGrpSpPr>
          <p:grpSpPr bwMode="auto">
            <a:xfrm>
              <a:off x="1492672" y="3046864"/>
              <a:ext cx="1760538" cy="1169988"/>
              <a:chOff x="375" y="738"/>
              <a:chExt cx="1109" cy="737"/>
            </a:xfrm>
          </p:grpSpPr>
          <p:sp>
            <p:nvSpPr>
              <p:cNvPr id="81" name="Rectangle 7"/>
              <p:cNvSpPr>
                <a:spLocks noChangeArrowheads="1"/>
              </p:cNvSpPr>
              <p:nvPr/>
            </p:nvSpPr>
            <p:spPr bwMode="auto">
              <a:xfrm>
                <a:off x="375" y="1093"/>
                <a:ext cx="240" cy="23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zh-CN" altLang="en-US" sz="1800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82" name="Line 9"/>
              <p:cNvSpPr>
                <a:spLocks noChangeShapeType="1"/>
              </p:cNvSpPr>
              <p:nvPr/>
            </p:nvSpPr>
            <p:spPr bwMode="auto">
              <a:xfrm flipV="1">
                <a:off x="471" y="1133"/>
                <a:ext cx="0" cy="15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+mn-lt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24641" name="Group 11"/>
              <p:cNvGrpSpPr>
                <a:grpSpLocks/>
              </p:cNvGrpSpPr>
              <p:nvPr/>
            </p:nvGrpSpPr>
            <p:grpSpPr bwMode="auto">
              <a:xfrm>
                <a:off x="672" y="975"/>
                <a:ext cx="720" cy="237"/>
                <a:chOff x="585" y="960"/>
                <a:chExt cx="720" cy="288"/>
              </a:xfrm>
            </p:grpSpPr>
            <p:sp>
              <p:nvSpPr>
                <p:cNvPr id="87" name="Rectangle 12"/>
                <p:cNvSpPr>
                  <a:spLocks noChangeArrowheads="1"/>
                </p:cNvSpPr>
                <p:nvPr/>
              </p:nvSpPr>
              <p:spPr bwMode="auto">
                <a:xfrm>
                  <a:off x="585" y="960"/>
                  <a:ext cx="240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88" name="Rectangle 13"/>
                <p:cNvSpPr>
                  <a:spLocks noChangeArrowheads="1"/>
                </p:cNvSpPr>
                <p:nvPr/>
              </p:nvSpPr>
              <p:spPr bwMode="auto">
                <a:xfrm>
                  <a:off x="825" y="960"/>
                  <a:ext cx="240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89" name="Rectangle 14"/>
                <p:cNvSpPr>
                  <a:spLocks noChangeArrowheads="1"/>
                </p:cNvSpPr>
                <p:nvPr/>
              </p:nvSpPr>
              <p:spPr bwMode="auto">
                <a:xfrm>
                  <a:off x="1065" y="960"/>
                  <a:ext cx="240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>
                    <a:latin typeface="+mn-lt"/>
                    <a:ea typeface="华文楷体" panose="02010600040101010101" pitchFamily="2" charset="-122"/>
                  </a:endParaRPr>
                </a:p>
              </p:txBody>
            </p:sp>
          </p:grpSp>
          <p:sp>
            <p:nvSpPr>
              <p:cNvPr id="84" name="Text Box 15"/>
              <p:cNvSpPr txBox="1">
                <a:spLocks noChangeArrowheads="1"/>
              </p:cNvSpPr>
              <p:nvPr/>
            </p:nvSpPr>
            <p:spPr bwMode="auto">
              <a:xfrm>
                <a:off x="375" y="888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zh-CN" sz="2000" dirty="0" smtClean="0">
                    <a:latin typeface="+mn-lt"/>
                    <a:ea typeface="华文楷体" panose="02010600040101010101" pitchFamily="2" charset="-122"/>
                  </a:rPr>
                  <a:t>2s</a:t>
                </a:r>
                <a:endParaRPr lang="en-US" altLang="zh-CN" sz="2000" dirty="0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85" name="Text Box 16"/>
              <p:cNvSpPr txBox="1">
                <a:spLocks noChangeArrowheads="1"/>
              </p:cNvSpPr>
              <p:nvPr/>
            </p:nvSpPr>
            <p:spPr bwMode="auto">
              <a:xfrm>
                <a:off x="907" y="738"/>
                <a:ext cx="288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zh-CN" sz="2000" dirty="0" smtClean="0">
                    <a:latin typeface="+mn-lt"/>
                    <a:ea typeface="华文楷体" panose="02010600040101010101" pitchFamily="2" charset="-122"/>
                  </a:rPr>
                  <a:t>2p</a:t>
                </a:r>
                <a:endParaRPr lang="en-US" altLang="zh-CN" sz="2000" dirty="0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24644" name="Text Box 17"/>
              <p:cNvSpPr txBox="1">
                <a:spLocks noChangeArrowheads="1"/>
              </p:cNvSpPr>
              <p:nvPr/>
            </p:nvSpPr>
            <p:spPr bwMode="auto">
              <a:xfrm>
                <a:off x="764" y="1225"/>
                <a:ext cx="72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>
                    <a:latin typeface="黑体" pitchFamily="49" charset="-122"/>
                    <a:ea typeface="楷体_GB2312" pitchFamily="49" charset="-122"/>
                  </a:rPr>
                  <a:t>基态</a:t>
                </a:r>
              </a:p>
            </p:txBody>
          </p:sp>
        </p:grpSp>
        <p:sp>
          <p:nvSpPr>
            <p:cNvPr id="44" name="Rectangle 44"/>
            <p:cNvSpPr>
              <a:spLocks noChangeArrowheads="1"/>
            </p:cNvSpPr>
            <p:nvPr/>
          </p:nvSpPr>
          <p:spPr bwMode="auto">
            <a:xfrm>
              <a:off x="901904" y="3348501"/>
              <a:ext cx="461906" cy="5238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lang="en-US" altLang="zh-CN" sz="2800" b="1" dirty="0" smtClean="0">
                  <a:solidFill>
                    <a:srgbClr val="FF0000"/>
                  </a:solidFill>
                  <a:latin typeface="+mn-lt"/>
                  <a:ea typeface="华文楷体" panose="02010600040101010101" pitchFamily="2" charset="-122"/>
                </a:rPr>
                <a:t>N</a:t>
              </a:r>
              <a:endParaRPr lang="en-US" altLang="zh-CN" sz="2800" b="1" baseline="30000" dirty="0" smtClean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45" name="Line 10"/>
            <p:cNvSpPr>
              <a:spLocks noChangeShapeType="1"/>
            </p:cNvSpPr>
            <p:nvPr/>
          </p:nvSpPr>
          <p:spPr bwMode="auto">
            <a:xfrm flipH="1">
              <a:off x="1720956" y="3689828"/>
              <a:ext cx="0" cy="25083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lt"/>
                <a:ea typeface="华文楷体" panose="02010600040101010101" pitchFamily="2" charset="-122"/>
              </a:endParaRPr>
            </a:p>
          </p:txBody>
        </p:sp>
        <p:grpSp>
          <p:nvGrpSpPr>
            <p:cNvPr id="24622" name="组合 56"/>
            <p:cNvGrpSpPr>
              <a:grpSpLocks/>
            </p:cNvGrpSpPr>
            <p:nvPr/>
          </p:nvGrpSpPr>
          <p:grpSpPr bwMode="auto">
            <a:xfrm>
              <a:off x="3172245" y="3150377"/>
              <a:ext cx="3343971" cy="1099861"/>
              <a:chOff x="2939205" y="1732314"/>
              <a:chExt cx="3343971" cy="1099861"/>
            </a:xfrm>
          </p:grpSpPr>
          <p:sp>
            <p:nvSpPr>
              <p:cNvPr id="66" name="AutoShape 5"/>
              <p:cNvSpPr>
                <a:spLocks noChangeArrowheads="1"/>
              </p:cNvSpPr>
              <p:nvPr/>
            </p:nvSpPr>
            <p:spPr bwMode="auto">
              <a:xfrm>
                <a:off x="2938716" y="2062206"/>
                <a:ext cx="1460324" cy="250835"/>
              </a:xfrm>
              <a:prstGeom prst="rightArrow">
                <a:avLst>
                  <a:gd name="adj1" fmla="val 50000"/>
                  <a:gd name="adj2" fmla="val 4557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zh-CN" altLang="en-US" sz="1800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67" name="Text Box 63"/>
              <p:cNvSpPr txBox="1">
                <a:spLocks noChangeArrowheads="1"/>
              </p:cNvSpPr>
              <p:nvPr/>
            </p:nvSpPr>
            <p:spPr bwMode="auto">
              <a:xfrm>
                <a:off x="2984748" y="1731993"/>
                <a:ext cx="1350801" cy="3968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zh-CN" sz="2000" b="1" dirty="0" smtClean="0">
                    <a:solidFill>
                      <a:srgbClr val="FF0000"/>
                    </a:solidFill>
                    <a:latin typeface="+mn-lt"/>
                    <a:ea typeface="华文楷体" panose="02010600040101010101" pitchFamily="2" charset="-122"/>
                  </a:rPr>
                  <a:t>sp</a:t>
                </a:r>
                <a:r>
                  <a:rPr lang="en-US" altLang="zh-CN" sz="2000" b="1" baseline="30000" dirty="0" smtClean="0">
                    <a:solidFill>
                      <a:srgbClr val="FF0000"/>
                    </a:solidFill>
                    <a:latin typeface="+mn-lt"/>
                    <a:ea typeface="华文楷体" panose="02010600040101010101" pitchFamily="2" charset="-122"/>
                  </a:rPr>
                  <a:t>3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楷体_GB2312"/>
                  </a:rPr>
                  <a:t>杂化</a:t>
                </a:r>
                <a:endParaRPr lang="zh-CN" altLang="en-US" sz="2000" dirty="0">
                  <a:latin typeface="黑体" panose="02010609060101010101" pitchFamily="49" charset="-122"/>
                  <a:ea typeface="楷体_GB2312"/>
                </a:endParaRPr>
              </a:p>
            </p:txBody>
          </p:sp>
          <p:grpSp>
            <p:nvGrpSpPr>
              <p:cNvPr id="24629" name="Group 6"/>
              <p:cNvGrpSpPr>
                <a:grpSpLocks/>
              </p:cNvGrpSpPr>
              <p:nvPr/>
            </p:nvGrpSpPr>
            <p:grpSpPr bwMode="auto">
              <a:xfrm>
                <a:off x="4530576" y="2075683"/>
                <a:ext cx="1525588" cy="376238"/>
                <a:chOff x="375" y="1046"/>
                <a:chExt cx="961" cy="237"/>
              </a:xfrm>
            </p:grpSpPr>
            <p:sp>
              <p:nvSpPr>
                <p:cNvPr id="71" name="Rectangle 7"/>
                <p:cNvSpPr>
                  <a:spLocks noChangeArrowheads="1"/>
                </p:cNvSpPr>
                <p:nvPr/>
              </p:nvSpPr>
              <p:spPr bwMode="auto">
                <a:xfrm>
                  <a:off x="615" y="1046"/>
                  <a:ext cx="240" cy="237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4" name="Rectangle 7"/>
                <p:cNvSpPr>
                  <a:spLocks noChangeArrowheads="1"/>
                </p:cNvSpPr>
                <p:nvPr/>
              </p:nvSpPr>
              <p:spPr bwMode="auto">
                <a:xfrm>
                  <a:off x="856" y="1046"/>
                  <a:ext cx="240" cy="237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5" name="Rectangle 7"/>
                <p:cNvSpPr>
                  <a:spLocks noChangeArrowheads="1"/>
                </p:cNvSpPr>
                <p:nvPr/>
              </p:nvSpPr>
              <p:spPr bwMode="auto">
                <a:xfrm>
                  <a:off x="1096" y="1046"/>
                  <a:ext cx="240" cy="237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6" name="Rectangle 7"/>
                <p:cNvSpPr>
                  <a:spLocks noChangeArrowheads="1"/>
                </p:cNvSpPr>
                <p:nvPr/>
              </p:nvSpPr>
              <p:spPr bwMode="auto">
                <a:xfrm>
                  <a:off x="375" y="1046"/>
                  <a:ext cx="240" cy="237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7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452" y="1086"/>
                  <a:ext cx="0" cy="158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/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8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730" y="1086"/>
                  <a:ext cx="0" cy="158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/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9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971" y="1086"/>
                  <a:ext cx="0" cy="158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 type="triangle" w="med" len="med"/>
                </a:ln>
                <a:ex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80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1211" y="1089"/>
                  <a:ext cx="0" cy="158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 type="triangle" w="med" len="med"/>
                </a:ln>
                <a:ex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+mn-lt"/>
                    <a:ea typeface="华文楷体" panose="02010600040101010101" pitchFamily="2" charset="-122"/>
                  </a:endParaRPr>
                </a:p>
              </p:txBody>
            </p:sp>
          </p:grpSp>
          <p:sp>
            <p:nvSpPr>
              <p:cNvPr id="24630" name="Text Box 43"/>
              <p:cNvSpPr txBox="1">
                <a:spLocks noChangeArrowheads="1"/>
              </p:cNvSpPr>
              <p:nvPr/>
            </p:nvSpPr>
            <p:spPr bwMode="auto">
              <a:xfrm>
                <a:off x="4911576" y="2432065"/>
                <a:ext cx="137160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>
                    <a:latin typeface="黑体" pitchFamily="49" charset="-122"/>
                    <a:ea typeface="楷体_GB2312" pitchFamily="49" charset="-122"/>
                  </a:rPr>
                  <a:t>杂化态</a:t>
                </a:r>
              </a:p>
            </p:txBody>
          </p:sp>
        </p:grpSp>
        <p:sp>
          <p:nvSpPr>
            <p:cNvPr id="60" name="Line 9"/>
            <p:cNvSpPr>
              <a:spLocks noChangeShapeType="1"/>
            </p:cNvSpPr>
            <p:nvPr/>
          </p:nvSpPr>
          <p:spPr bwMode="auto">
            <a:xfrm flipV="1">
              <a:off x="2141592" y="3499320"/>
              <a:ext cx="0" cy="25083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61" name="Line 9"/>
            <p:cNvSpPr>
              <a:spLocks noChangeShapeType="1"/>
            </p:cNvSpPr>
            <p:nvPr/>
          </p:nvSpPr>
          <p:spPr bwMode="auto">
            <a:xfrm flipV="1">
              <a:off x="2535245" y="3494557"/>
              <a:ext cx="0" cy="25083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63" name="Line 9"/>
            <p:cNvSpPr>
              <a:spLocks noChangeShapeType="1"/>
            </p:cNvSpPr>
            <p:nvPr/>
          </p:nvSpPr>
          <p:spPr bwMode="auto">
            <a:xfrm flipV="1">
              <a:off x="2924136" y="3496145"/>
              <a:ext cx="0" cy="25083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64" name="Line 10"/>
            <p:cNvSpPr>
              <a:spLocks noChangeShapeType="1"/>
            </p:cNvSpPr>
            <p:nvPr/>
          </p:nvSpPr>
          <p:spPr bwMode="auto">
            <a:xfrm flipH="1">
              <a:off x="4970177" y="3564410"/>
              <a:ext cx="0" cy="25083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lt"/>
                <a:ea typeface="华文楷体" panose="02010600040101010101" pitchFamily="2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326188" y="2413000"/>
            <a:ext cx="1576387" cy="146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332538" y="4025900"/>
            <a:ext cx="1562100" cy="176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" name="组合 146"/>
          <p:cNvGrpSpPr>
            <a:grpSpLocks/>
          </p:cNvGrpSpPr>
          <p:nvPr/>
        </p:nvGrpSpPr>
        <p:grpSpPr bwMode="auto">
          <a:xfrm>
            <a:off x="765175" y="4065588"/>
            <a:ext cx="5613400" cy="1203325"/>
            <a:chOff x="901904" y="3046864"/>
            <a:chExt cx="5614312" cy="1203374"/>
          </a:xfrm>
        </p:grpSpPr>
        <p:grpSp>
          <p:nvGrpSpPr>
            <p:cNvPr id="24588" name="Group 6"/>
            <p:cNvGrpSpPr>
              <a:grpSpLocks/>
            </p:cNvGrpSpPr>
            <p:nvPr/>
          </p:nvGrpSpPr>
          <p:grpSpPr bwMode="auto">
            <a:xfrm>
              <a:off x="1492672" y="3046864"/>
              <a:ext cx="1760538" cy="1169988"/>
              <a:chOff x="375" y="738"/>
              <a:chExt cx="1109" cy="737"/>
            </a:xfrm>
          </p:grpSpPr>
          <p:sp>
            <p:nvSpPr>
              <p:cNvPr id="168" name="Rectangle 7"/>
              <p:cNvSpPr>
                <a:spLocks noChangeArrowheads="1"/>
              </p:cNvSpPr>
              <p:nvPr/>
            </p:nvSpPr>
            <p:spPr bwMode="auto">
              <a:xfrm>
                <a:off x="375" y="1093"/>
                <a:ext cx="240" cy="23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zh-CN" altLang="en-US" sz="1800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169" name="Line 9"/>
              <p:cNvSpPr>
                <a:spLocks noChangeShapeType="1"/>
              </p:cNvSpPr>
              <p:nvPr/>
            </p:nvSpPr>
            <p:spPr bwMode="auto">
              <a:xfrm flipV="1">
                <a:off x="471" y="1133"/>
                <a:ext cx="0" cy="15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+mn-lt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24611" name="Group 11"/>
              <p:cNvGrpSpPr>
                <a:grpSpLocks/>
              </p:cNvGrpSpPr>
              <p:nvPr/>
            </p:nvGrpSpPr>
            <p:grpSpPr bwMode="auto">
              <a:xfrm>
                <a:off x="672" y="975"/>
                <a:ext cx="720" cy="237"/>
                <a:chOff x="585" y="960"/>
                <a:chExt cx="720" cy="288"/>
              </a:xfrm>
            </p:grpSpPr>
            <p:sp>
              <p:nvSpPr>
                <p:cNvPr id="174" name="Rectangle 12"/>
                <p:cNvSpPr>
                  <a:spLocks noChangeArrowheads="1"/>
                </p:cNvSpPr>
                <p:nvPr/>
              </p:nvSpPr>
              <p:spPr bwMode="auto">
                <a:xfrm>
                  <a:off x="585" y="960"/>
                  <a:ext cx="240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75" name="Rectangle 13"/>
                <p:cNvSpPr>
                  <a:spLocks noChangeArrowheads="1"/>
                </p:cNvSpPr>
                <p:nvPr/>
              </p:nvSpPr>
              <p:spPr bwMode="auto">
                <a:xfrm>
                  <a:off x="825" y="960"/>
                  <a:ext cx="240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76" name="Rectangle 14"/>
                <p:cNvSpPr>
                  <a:spLocks noChangeArrowheads="1"/>
                </p:cNvSpPr>
                <p:nvPr/>
              </p:nvSpPr>
              <p:spPr bwMode="auto">
                <a:xfrm>
                  <a:off x="1065" y="960"/>
                  <a:ext cx="240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>
                    <a:latin typeface="+mn-lt"/>
                    <a:ea typeface="华文楷体" panose="02010600040101010101" pitchFamily="2" charset="-122"/>
                  </a:endParaRPr>
                </a:p>
              </p:txBody>
            </p:sp>
          </p:grpSp>
          <p:sp>
            <p:nvSpPr>
              <p:cNvPr id="171" name="Text Box 15"/>
              <p:cNvSpPr txBox="1">
                <a:spLocks noChangeArrowheads="1"/>
              </p:cNvSpPr>
              <p:nvPr/>
            </p:nvSpPr>
            <p:spPr bwMode="auto">
              <a:xfrm>
                <a:off x="375" y="888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zh-CN" sz="2000" dirty="0" smtClean="0">
                    <a:latin typeface="+mn-lt"/>
                    <a:ea typeface="华文楷体" panose="02010600040101010101" pitchFamily="2" charset="-122"/>
                  </a:rPr>
                  <a:t>2s</a:t>
                </a:r>
                <a:endParaRPr lang="en-US" altLang="zh-CN" sz="2000" dirty="0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172" name="Text Box 16"/>
              <p:cNvSpPr txBox="1">
                <a:spLocks noChangeArrowheads="1"/>
              </p:cNvSpPr>
              <p:nvPr/>
            </p:nvSpPr>
            <p:spPr bwMode="auto">
              <a:xfrm>
                <a:off x="907" y="738"/>
                <a:ext cx="288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zh-CN" sz="2000" dirty="0" smtClean="0">
                    <a:latin typeface="+mn-lt"/>
                    <a:ea typeface="华文楷体" panose="02010600040101010101" pitchFamily="2" charset="-122"/>
                  </a:rPr>
                  <a:t>2p</a:t>
                </a:r>
                <a:endParaRPr lang="en-US" altLang="zh-CN" sz="2000" dirty="0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24614" name="Text Box 17"/>
              <p:cNvSpPr txBox="1">
                <a:spLocks noChangeArrowheads="1"/>
              </p:cNvSpPr>
              <p:nvPr/>
            </p:nvSpPr>
            <p:spPr bwMode="auto">
              <a:xfrm>
                <a:off x="764" y="1225"/>
                <a:ext cx="72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>
                    <a:latin typeface="黑体" pitchFamily="49" charset="-122"/>
                    <a:ea typeface="楷体_GB2312" pitchFamily="49" charset="-122"/>
                  </a:rPr>
                  <a:t>基态</a:t>
                </a:r>
              </a:p>
            </p:txBody>
          </p:sp>
          <p:sp>
            <p:nvSpPr>
              <p:cNvPr id="177" name="Line 9"/>
              <p:cNvSpPr>
                <a:spLocks noChangeShapeType="1"/>
              </p:cNvSpPr>
              <p:nvPr/>
            </p:nvSpPr>
            <p:spPr bwMode="auto">
              <a:xfrm flipV="1">
                <a:off x="770" y="1011"/>
                <a:ext cx="0" cy="15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+mn-lt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149" name="Rectangle 44"/>
            <p:cNvSpPr>
              <a:spLocks noChangeArrowheads="1"/>
            </p:cNvSpPr>
            <p:nvPr/>
          </p:nvSpPr>
          <p:spPr bwMode="auto">
            <a:xfrm>
              <a:off x="901904" y="3348501"/>
              <a:ext cx="463625" cy="5238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lang="en-US" altLang="zh-CN" sz="2800" b="1" dirty="0" smtClean="0">
                  <a:solidFill>
                    <a:srgbClr val="FF0000"/>
                  </a:solidFill>
                  <a:latin typeface="+mn-lt"/>
                  <a:ea typeface="华文楷体" panose="02010600040101010101" pitchFamily="2" charset="-122"/>
                </a:rPr>
                <a:t>O</a:t>
              </a:r>
              <a:endParaRPr lang="en-US" altLang="zh-CN" sz="2800" b="1" baseline="30000" dirty="0" smtClean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50" name="Line 10"/>
            <p:cNvSpPr>
              <a:spLocks noChangeShapeType="1"/>
            </p:cNvSpPr>
            <p:nvPr/>
          </p:nvSpPr>
          <p:spPr bwMode="auto">
            <a:xfrm flipH="1">
              <a:off x="1721187" y="3689827"/>
              <a:ext cx="0" cy="25083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lt"/>
                <a:ea typeface="华文楷体" panose="02010600040101010101" pitchFamily="2" charset="-122"/>
              </a:endParaRPr>
            </a:p>
          </p:txBody>
        </p:sp>
        <p:grpSp>
          <p:nvGrpSpPr>
            <p:cNvPr id="24591" name="组合 150"/>
            <p:cNvGrpSpPr>
              <a:grpSpLocks/>
            </p:cNvGrpSpPr>
            <p:nvPr/>
          </p:nvGrpSpPr>
          <p:grpSpPr bwMode="auto">
            <a:xfrm>
              <a:off x="3172245" y="3150377"/>
              <a:ext cx="3343971" cy="1099861"/>
              <a:chOff x="2939205" y="1732314"/>
              <a:chExt cx="3343971" cy="1099861"/>
            </a:xfrm>
          </p:grpSpPr>
          <p:sp>
            <p:nvSpPr>
              <p:cNvPr id="156" name="AutoShape 5"/>
              <p:cNvSpPr>
                <a:spLocks noChangeArrowheads="1"/>
              </p:cNvSpPr>
              <p:nvPr/>
            </p:nvSpPr>
            <p:spPr bwMode="auto">
              <a:xfrm>
                <a:off x="2939358" y="2062205"/>
                <a:ext cx="1460737" cy="250835"/>
              </a:xfrm>
              <a:prstGeom prst="rightArrow">
                <a:avLst>
                  <a:gd name="adj1" fmla="val 50000"/>
                  <a:gd name="adj2" fmla="val 4557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zh-CN" altLang="en-US" sz="1800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157" name="Text Box 63"/>
              <p:cNvSpPr txBox="1">
                <a:spLocks noChangeArrowheads="1"/>
              </p:cNvSpPr>
              <p:nvPr/>
            </p:nvSpPr>
            <p:spPr bwMode="auto">
              <a:xfrm>
                <a:off x="2985404" y="1731992"/>
                <a:ext cx="1351181" cy="3968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zh-CN" sz="2000" b="1" dirty="0" smtClean="0">
                    <a:solidFill>
                      <a:srgbClr val="FF0000"/>
                    </a:solidFill>
                    <a:latin typeface="+mn-lt"/>
                    <a:ea typeface="华文楷体" panose="02010600040101010101" pitchFamily="2" charset="-122"/>
                  </a:rPr>
                  <a:t>sp</a:t>
                </a:r>
                <a:r>
                  <a:rPr lang="en-US" altLang="zh-CN" sz="2000" b="1" baseline="30000" dirty="0" smtClean="0">
                    <a:solidFill>
                      <a:srgbClr val="FF0000"/>
                    </a:solidFill>
                    <a:latin typeface="+mn-lt"/>
                    <a:ea typeface="华文楷体" panose="02010600040101010101" pitchFamily="2" charset="-122"/>
                  </a:rPr>
                  <a:t>3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楷体_GB2312"/>
                  </a:rPr>
                  <a:t>杂化</a:t>
                </a:r>
                <a:endParaRPr lang="zh-CN" altLang="en-US" sz="2000" dirty="0">
                  <a:latin typeface="黑体" panose="02010609060101010101" pitchFamily="49" charset="-122"/>
                  <a:ea typeface="楷体_GB2312"/>
                </a:endParaRPr>
              </a:p>
            </p:txBody>
          </p:sp>
          <p:grpSp>
            <p:nvGrpSpPr>
              <p:cNvPr id="24599" name="Group 6"/>
              <p:cNvGrpSpPr>
                <a:grpSpLocks/>
              </p:cNvGrpSpPr>
              <p:nvPr/>
            </p:nvGrpSpPr>
            <p:grpSpPr bwMode="auto">
              <a:xfrm>
                <a:off x="4530576" y="2075683"/>
                <a:ext cx="1525588" cy="376238"/>
                <a:chOff x="375" y="1046"/>
                <a:chExt cx="961" cy="237"/>
              </a:xfrm>
            </p:grpSpPr>
            <p:sp>
              <p:nvSpPr>
                <p:cNvPr id="160" name="Rectangle 7"/>
                <p:cNvSpPr>
                  <a:spLocks noChangeArrowheads="1"/>
                </p:cNvSpPr>
                <p:nvPr/>
              </p:nvSpPr>
              <p:spPr bwMode="auto">
                <a:xfrm>
                  <a:off x="615" y="1046"/>
                  <a:ext cx="240" cy="237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61" name="Rectangle 7"/>
                <p:cNvSpPr>
                  <a:spLocks noChangeArrowheads="1"/>
                </p:cNvSpPr>
                <p:nvPr/>
              </p:nvSpPr>
              <p:spPr bwMode="auto">
                <a:xfrm>
                  <a:off x="856" y="1046"/>
                  <a:ext cx="240" cy="237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62" name="Rectangle 7"/>
                <p:cNvSpPr>
                  <a:spLocks noChangeArrowheads="1"/>
                </p:cNvSpPr>
                <p:nvPr/>
              </p:nvSpPr>
              <p:spPr bwMode="auto">
                <a:xfrm>
                  <a:off x="1096" y="1046"/>
                  <a:ext cx="240" cy="237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63" name="Rectangle 7"/>
                <p:cNvSpPr>
                  <a:spLocks noChangeArrowheads="1"/>
                </p:cNvSpPr>
                <p:nvPr/>
              </p:nvSpPr>
              <p:spPr bwMode="auto">
                <a:xfrm>
                  <a:off x="375" y="1046"/>
                  <a:ext cx="240" cy="237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»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Monotype Sorts"/>
                    <a:buChar char="u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64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452" y="1086"/>
                  <a:ext cx="0" cy="158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/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66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971" y="1086"/>
                  <a:ext cx="0" cy="158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 type="triangle" w="med" len="med"/>
                </a:ln>
                <a:ex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67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1211" y="1089"/>
                  <a:ext cx="0" cy="158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 type="triangle" w="med" len="med"/>
                </a:ln>
                <a:ex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79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707" y="1086"/>
                  <a:ext cx="0" cy="158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/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+mn-lt"/>
                    <a:ea typeface="华文楷体" panose="02010600040101010101" pitchFamily="2" charset="-122"/>
                  </a:endParaRPr>
                </a:p>
              </p:txBody>
            </p:sp>
          </p:grpSp>
          <p:sp>
            <p:nvSpPr>
              <p:cNvPr id="24600" name="Text Box 43"/>
              <p:cNvSpPr txBox="1">
                <a:spLocks noChangeArrowheads="1"/>
              </p:cNvSpPr>
              <p:nvPr/>
            </p:nvSpPr>
            <p:spPr bwMode="auto">
              <a:xfrm>
                <a:off x="4911576" y="2432065"/>
                <a:ext cx="137160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>
                    <a:latin typeface="黑体" pitchFamily="49" charset="-122"/>
                    <a:ea typeface="楷体_GB2312" pitchFamily="49" charset="-122"/>
                  </a:rPr>
                  <a:t>杂化态</a:t>
                </a:r>
              </a:p>
            </p:txBody>
          </p:sp>
        </p:grpSp>
        <p:sp>
          <p:nvSpPr>
            <p:cNvPr id="153" name="Line 9"/>
            <p:cNvSpPr>
              <a:spLocks noChangeShapeType="1"/>
            </p:cNvSpPr>
            <p:nvPr/>
          </p:nvSpPr>
          <p:spPr bwMode="auto">
            <a:xfrm flipV="1">
              <a:off x="2534119" y="3494557"/>
              <a:ext cx="0" cy="25083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54" name="Line 9"/>
            <p:cNvSpPr>
              <a:spLocks noChangeShapeType="1"/>
            </p:cNvSpPr>
            <p:nvPr/>
          </p:nvSpPr>
          <p:spPr bwMode="auto">
            <a:xfrm flipV="1">
              <a:off x="2924708" y="3496144"/>
              <a:ext cx="0" cy="25083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55" name="Line 10"/>
            <p:cNvSpPr>
              <a:spLocks noChangeShapeType="1"/>
            </p:cNvSpPr>
            <p:nvPr/>
          </p:nvSpPr>
          <p:spPr bwMode="auto">
            <a:xfrm flipH="1">
              <a:off x="4969740" y="3564410"/>
              <a:ext cx="0" cy="25083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78" name="Line 10"/>
            <p:cNvSpPr>
              <a:spLocks noChangeShapeType="1"/>
            </p:cNvSpPr>
            <p:nvPr/>
          </p:nvSpPr>
          <p:spPr bwMode="auto">
            <a:xfrm flipH="1">
              <a:off x="2195927" y="3494557"/>
              <a:ext cx="0" cy="25083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80" name="Line 10"/>
            <p:cNvSpPr>
              <a:spLocks noChangeShapeType="1"/>
            </p:cNvSpPr>
            <p:nvPr/>
          </p:nvSpPr>
          <p:spPr bwMode="auto">
            <a:xfrm flipH="1">
              <a:off x="5374619" y="3564410"/>
              <a:ext cx="0" cy="25083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lt"/>
                <a:ea typeface="华文楷体" panose="02010600040101010101" pitchFamily="2" charset="-122"/>
              </a:endParaRPr>
            </a:p>
          </p:txBody>
        </p:sp>
      </p:grpSp>
      <p:sp>
        <p:nvSpPr>
          <p:cNvPr id="24587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5572125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8.1.2</a:t>
            </a:r>
            <a:r>
              <a:rPr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杂化轨道理论与分子的几何构型</a:t>
            </a:r>
            <a:endParaRPr lang="zh-CN" altLang="en-US" sz="220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3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P spid="38" grpId="0"/>
      <p:bldP spid="4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3" name="Oval 6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" name="Text Box 2"/>
          <p:cNvSpPr txBox="1">
            <a:spLocks noChangeArrowheads="1"/>
          </p:cNvSpPr>
          <p:nvPr/>
        </p:nvSpPr>
        <p:spPr bwMode="auto">
          <a:xfrm>
            <a:off x="2182813" y="1123950"/>
            <a:ext cx="554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ea typeface="楷体_GB2312" pitchFamily="49" charset="-122"/>
              </a:rPr>
              <a:t>小结</a:t>
            </a:r>
            <a:r>
              <a:rPr lang="en-US" altLang="zh-CN" sz="2400" b="1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zh-CN" altLang="en-US" sz="2400" b="1">
                <a:ea typeface="楷体_GB2312" pitchFamily="49" charset="-122"/>
              </a:rPr>
              <a:t>杂化轨道的类型与分子的空间构型</a:t>
            </a:r>
          </a:p>
        </p:txBody>
      </p:sp>
      <p:sp>
        <p:nvSpPr>
          <p:cNvPr id="91" name="Text Box 3"/>
          <p:cNvSpPr txBox="1">
            <a:spLocks noChangeArrowheads="1"/>
          </p:cNvSpPr>
          <p:nvPr/>
        </p:nvSpPr>
        <p:spPr bwMode="auto">
          <a:xfrm>
            <a:off x="896938" y="1747838"/>
            <a:ext cx="2351087" cy="290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altLang="en-US" sz="2400" b="1">
                <a:ea typeface="楷体_GB2312" pitchFamily="49" charset="-122"/>
              </a:rPr>
              <a:t>杂化轨道类型</a:t>
            </a:r>
          </a:p>
          <a:p>
            <a:pPr algn="r">
              <a:lnSpc>
                <a:spcPct val="140000"/>
              </a:lnSpc>
            </a:pPr>
            <a:r>
              <a:rPr lang="zh-CN" altLang="en-US" sz="2400" b="1">
                <a:ea typeface="楷体_GB2312" pitchFamily="49" charset="-122"/>
              </a:rPr>
              <a:t>参加杂化的轨道</a:t>
            </a:r>
          </a:p>
          <a:p>
            <a:pPr algn="r">
              <a:lnSpc>
                <a:spcPct val="140000"/>
              </a:lnSpc>
            </a:pPr>
            <a:r>
              <a:rPr lang="zh-CN" altLang="en-US" sz="2400" b="1">
                <a:ea typeface="楷体_GB2312" pitchFamily="49" charset="-122"/>
              </a:rPr>
              <a:t>  杂化轨道数</a:t>
            </a:r>
          </a:p>
          <a:p>
            <a:pPr algn="r">
              <a:lnSpc>
                <a:spcPct val="140000"/>
              </a:lnSpc>
            </a:pPr>
            <a:r>
              <a:rPr lang="zh-CN" altLang="en-US" sz="2400" b="1">
                <a:ea typeface="楷体_GB2312" pitchFamily="49" charset="-122"/>
              </a:rPr>
              <a:t>成键轨道夹角</a:t>
            </a:r>
          </a:p>
          <a:p>
            <a:pPr algn="r">
              <a:lnSpc>
                <a:spcPct val="140000"/>
              </a:lnSpc>
              <a:spcBef>
                <a:spcPts val="1800"/>
              </a:spcBef>
            </a:pPr>
            <a:r>
              <a:rPr lang="zh-CN" altLang="en-US" sz="2400" b="1">
                <a:ea typeface="楷体_GB2312" pitchFamily="49" charset="-122"/>
              </a:rPr>
              <a:t>分子空间构型</a:t>
            </a:r>
          </a:p>
        </p:txBody>
      </p:sp>
      <p:sp>
        <p:nvSpPr>
          <p:cNvPr id="92" name="Text Box 4"/>
          <p:cNvSpPr txBox="1">
            <a:spLocks noChangeArrowheads="1"/>
          </p:cNvSpPr>
          <p:nvPr/>
        </p:nvSpPr>
        <p:spPr bwMode="auto">
          <a:xfrm>
            <a:off x="3265488" y="2319338"/>
            <a:ext cx="8048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/>
              <a:t>s + p</a:t>
            </a:r>
          </a:p>
        </p:txBody>
      </p:sp>
      <p:sp>
        <p:nvSpPr>
          <p:cNvPr id="93" name="Text Box 5"/>
          <p:cNvSpPr txBox="1">
            <a:spLocks noChangeArrowheads="1"/>
          </p:cNvSpPr>
          <p:nvPr/>
        </p:nvSpPr>
        <p:spPr bwMode="auto">
          <a:xfrm>
            <a:off x="5302250" y="2319338"/>
            <a:ext cx="9588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/>
              <a:t>s + </a:t>
            </a:r>
            <a:r>
              <a:rPr lang="en-US" altLang="zh-CN" sz="2400" b="1">
                <a:solidFill>
                  <a:srgbClr val="FF0000"/>
                </a:solidFill>
              </a:rPr>
              <a:t>3</a:t>
            </a:r>
            <a:r>
              <a:rPr lang="en-US" altLang="zh-CN" sz="2400" b="1"/>
              <a:t>p</a:t>
            </a:r>
          </a:p>
        </p:txBody>
      </p:sp>
      <p:sp>
        <p:nvSpPr>
          <p:cNvPr id="94" name="Text Box 6"/>
          <p:cNvSpPr txBox="1">
            <a:spLocks noChangeArrowheads="1"/>
          </p:cNvSpPr>
          <p:nvPr/>
        </p:nvSpPr>
        <p:spPr bwMode="auto">
          <a:xfrm>
            <a:off x="4294188" y="2319338"/>
            <a:ext cx="8048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/>
              <a:t>s+</a:t>
            </a:r>
            <a:r>
              <a:rPr lang="en-US" altLang="zh-CN" sz="2400" b="1">
                <a:solidFill>
                  <a:srgbClr val="FF0000"/>
                </a:solidFill>
              </a:rPr>
              <a:t>2</a:t>
            </a:r>
            <a:r>
              <a:rPr lang="en-US" altLang="zh-CN" sz="2400" b="1"/>
              <a:t>p</a:t>
            </a:r>
          </a:p>
        </p:txBody>
      </p:sp>
      <p:sp>
        <p:nvSpPr>
          <p:cNvPr id="95" name="Text Box 7"/>
          <p:cNvSpPr txBox="1">
            <a:spLocks noChangeArrowheads="1"/>
          </p:cNvSpPr>
          <p:nvPr/>
        </p:nvSpPr>
        <p:spPr bwMode="auto">
          <a:xfrm>
            <a:off x="6902450" y="2319338"/>
            <a:ext cx="9588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/>
              <a:t>s + </a:t>
            </a:r>
            <a:r>
              <a:rPr lang="en-US" altLang="zh-CN" sz="2400" b="1">
                <a:solidFill>
                  <a:srgbClr val="FF0000"/>
                </a:solidFill>
              </a:rPr>
              <a:t>3</a:t>
            </a:r>
            <a:r>
              <a:rPr lang="en-US" altLang="zh-CN" sz="2400" b="1"/>
              <a:t>p</a:t>
            </a:r>
          </a:p>
        </p:txBody>
      </p:sp>
      <p:sp>
        <p:nvSpPr>
          <p:cNvPr id="96" name="Text Box 8"/>
          <p:cNvSpPr txBox="1">
            <a:spLocks noChangeArrowheads="1"/>
          </p:cNvSpPr>
          <p:nvPr/>
        </p:nvSpPr>
        <p:spPr bwMode="auto">
          <a:xfrm>
            <a:off x="3498850" y="2851150"/>
            <a:ext cx="3381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/>
              <a:t>2</a:t>
            </a:r>
          </a:p>
        </p:txBody>
      </p:sp>
      <p:sp>
        <p:nvSpPr>
          <p:cNvPr id="97" name="Text Box 9"/>
          <p:cNvSpPr txBox="1">
            <a:spLocks noChangeArrowheads="1"/>
          </p:cNvSpPr>
          <p:nvPr/>
        </p:nvSpPr>
        <p:spPr bwMode="auto">
          <a:xfrm>
            <a:off x="7221538" y="2851150"/>
            <a:ext cx="3381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/>
              <a:t>4</a:t>
            </a:r>
          </a:p>
        </p:txBody>
      </p:sp>
      <p:sp>
        <p:nvSpPr>
          <p:cNvPr id="98" name="Text Box 10"/>
          <p:cNvSpPr txBox="1">
            <a:spLocks noChangeArrowheads="1"/>
          </p:cNvSpPr>
          <p:nvPr/>
        </p:nvSpPr>
        <p:spPr bwMode="auto">
          <a:xfrm>
            <a:off x="5613400" y="2851150"/>
            <a:ext cx="3381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/>
              <a:t>4</a:t>
            </a:r>
          </a:p>
        </p:txBody>
      </p:sp>
      <p:sp>
        <p:nvSpPr>
          <p:cNvPr id="99" name="Text Box 11"/>
          <p:cNvSpPr txBox="1">
            <a:spLocks noChangeArrowheads="1"/>
          </p:cNvSpPr>
          <p:nvPr/>
        </p:nvSpPr>
        <p:spPr bwMode="auto">
          <a:xfrm>
            <a:off x="4527550" y="2851150"/>
            <a:ext cx="3381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/>
              <a:t>3</a:t>
            </a:r>
          </a:p>
        </p:txBody>
      </p:sp>
      <p:sp>
        <p:nvSpPr>
          <p:cNvPr id="104" name="Line 18"/>
          <p:cNvSpPr>
            <a:spLocks noChangeShapeType="1"/>
          </p:cNvSpPr>
          <p:nvPr/>
        </p:nvSpPr>
        <p:spPr bwMode="auto">
          <a:xfrm>
            <a:off x="3362325" y="4354513"/>
            <a:ext cx="6096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54"/>
          <p:cNvGrpSpPr>
            <a:grpSpLocks/>
          </p:cNvGrpSpPr>
          <p:nvPr/>
        </p:nvGrpSpPr>
        <p:grpSpPr bwMode="auto">
          <a:xfrm>
            <a:off x="7975600" y="4240213"/>
            <a:ext cx="209550" cy="385762"/>
            <a:chOff x="4992" y="2493"/>
            <a:chExt cx="132" cy="243"/>
          </a:xfrm>
        </p:grpSpPr>
        <p:sp>
          <p:nvSpPr>
            <p:cNvPr id="25638" name="Line 22"/>
            <p:cNvSpPr>
              <a:spLocks noChangeShapeType="1"/>
            </p:cNvSpPr>
            <p:nvPr/>
          </p:nvSpPr>
          <p:spPr bwMode="auto">
            <a:xfrm rot="1838125">
              <a:off x="5123" y="2493"/>
              <a:ext cx="1" cy="24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9" name="Line 24"/>
            <p:cNvSpPr>
              <a:spLocks noChangeShapeType="1"/>
            </p:cNvSpPr>
            <p:nvPr/>
          </p:nvSpPr>
          <p:spPr bwMode="auto">
            <a:xfrm rot="-2189160">
              <a:off x="4992" y="2496"/>
              <a:ext cx="1" cy="24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4548188" y="4100513"/>
            <a:ext cx="457200" cy="685800"/>
            <a:chOff x="2784" y="2256"/>
            <a:chExt cx="288" cy="432"/>
          </a:xfrm>
        </p:grpSpPr>
        <p:sp>
          <p:nvSpPr>
            <p:cNvPr id="25635" name="Line 19"/>
            <p:cNvSpPr>
              <a:spLocks noChangeShapeType="1"/>
            </p:cNvSpPr>
            <p:nvPr/>
          </p:nvSpPr>
          <p:spPr bwMode="auto">
            <a:xfrm>
              <a:off x="2880" y="2256"/>
              <a:ext cx="0" cy="24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6" name="Line 20"/>
            <p:cNvSpPr>
              <a:spLocks noChangeShapeType="1"/>
            </p:cNvSpPr>
            <p:nvPr/>
          </p:nvSpPr>
          <p:spPr bwMode="auto">
            <a:xfrm rot="2445521">
              <a:off x="2784" y="2448"/>
              <a:ext cx="1" cy="24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7" name="Line 26"/>
            <p:cNvSpPr>
              <a:spLocks noChangeShapeType="1"/>
            </p:cNvSpPr>
            <p:nvPr/>
          </p:nvSpPr>
          <p:spPr bwMode="auto">
            <a:xfrm rot="-2703429">
              <a:off x="2952" y="2424"/>
              <a:ext cx="0" cy="24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52"/>
          <p:cNvGrpSpPr>
            <a:grpSpLocks/>
          </p:cNvGrpSpPr>
          <p:nvPr/>
        </p:nvGrpSpPr>
        <p:grpSpPr bwMode="auto">
          <a:xfrm>
            <a:off x="5438775" y="4102100"/>
            <a:ext cx="685800" cy="685800"/>
            <a:chOff x="3408" y="2256"/>
            <a:chExt cx="432" cy="432"/>
          </a:xfrm>
        </p:grpSpPr>
        <p:sp>
          <p:nvSpPr>
            <p:cNvPr id="25631" name="Line 21"/>
            <p:cNvSpPr>
              <a:spLocks noChangeShapeType="1"/>
            </p:cNvSpPr>
            <p:nvPr/>
          </p:nvSpPr>
          <p:spPr bwMode="auto">
            <a:xfrm rot="-4908116">
              <a:off x="3719" y="2377"/>
              <a:ext cx="1" cy="24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2" name="Line 25"/>
            <p:cNvSpPr>
              <a:spLocks noChangeShapeType="1"/>
            </p:cNvSpPr>
            <p:nvPr/>
          </p:nvSpPr>
          <p:spPr bwMode="auto">
            <a:xfrm rot="-1645401">
              <a:off x="3648" y="2448"/>
              <a:ext cx="1" cy="24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3" name="Line 27"/>
            <p:cNvSpPr>
              <a:spLocks noChangeShapeType="1"/>
            </p:cNvSpPr>
            <p:nvPr/>
          </p:nvSpPr>
          <p:spPr bwMode="auto">
            <a:xfrm>
              <a:off x="3600" y="2256"/>
              <a:ext cx="0" cy="24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4" name="Line 28"/>
            <p:cNvSpPr>
              <a:spLocks noChangeShapeType="1"/>
            </p:cNvSpPr>
            <p:nvPr/>
          </p:nvSpPr>
          <p:spPr bwMode="auto">
            <a:xfrm rot="2861657">
              <a:off x="3527" y="2425"/>
              <a:ext cx="1" cy="24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53"/>
          <p:cNvGrpSpPr>
            <a:grpSpLocks/>
          </p:cNvGrpSpPr>
          <p:nvPr/>
        </p:nvGrpSpPr>
        <p:grpSpPr bwMode="auto">
          <a:xfrm>
            <a:off x="6751638" y="4270375"/>
            <a:ext cx="685800" cy="381000"/>
            <a:chOff x="4224" y="2496"/>
            <a:chExt cx="432" cy="240"/>
          </a:xfrm>
        </p:grpSpPr>
        <p:sp>
          <p:nvSpPr>
            <p:cNvPr id="25628" name="Line 23"/>
            <p:cNvSpPr>
              <a:spLocks noChangeShapeType="1"/>
            </p:cNvSpPr>
            <p:nvPr/>
          </p:nvSpPr>
          <p:spPr bwMode="auto">
            <a:xfrm rot="-1426026">
              <a:off x="4464" y="2496"/>
              <a:ext cx="1" cy="24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9" name="Line 29"/>
            <p:cNvSpPr>
              <a:spLocks noChangeShapeType="1"/>
            </p:cNvSpPr>
            <p:nvPr/>
          </p:nvSpPr>
          <p:spPr bwMode="auto">
            <a:xfrm rot="3004328">
              <a:off x="4343" y="2473"/>
              <a:ext cx="1" cy="24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0" name="Line 30"/>
            <p:cNvSpPr>
              <a:spLocks noChangeShapeType="1"/>
            </p:cNvSpPr>
            <p:nvPr/>
          </p:nvSpPr>
          <p:spPr bwMode="auto">
            <a:xfrm rot="-4439329">
              <a:off x="4535" y="2425"/>
              <a:ext cx="1" cy="24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1" name="Text Box 31"/>
          <p:cNvSpPr txBox="1">
            <a:spLocks noChangeArrowheads="1"/>
          </p:cNvSpPr>
          <p:nvPr/>
        </p:nvSpPr>
        <p:spPr bwMode="auto">
          <a:xfrm>
            <a:off x="6704013" y="1757363"/>
            <a:ext cx="1828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>
                <a:latin typeface="黑体" pitchFamily="49" charset="-122"/>
                <a:ea typeface="楷体_GB2312" pitchFamily="49" charset="-122"/>
              </a:rPr>
              <a:t>不等性</a:t>
            </a:r>
            <a:r>
              <a:rPr lang="en-US" altLang="zh-CN" sz="2400" b="1">
                <a:ea typeface="华文新魏" pitchFamily="2" charset="-122"/>
              </a:rPr>
              <a:t>sp</a:t>
            </a:r>
            <a:r>
              <a:rPr lang="en-US" altLang="zh-CN" sz="2400" b="1" baseline="30000">
                <a:ea typeface="华文新魏" pitchFamily="2" charset="-122"/>
              </a:rPr>
              <a:t>3</a:t>
            </a:r>
            <a:endParaRPr lang="en-US" altLang="zh-CN" sz="2400" b="1">
              <a:ea typeface="华文新魏" pitchFamily="2" charset="-122"/>
            </a:endParaRPr>
          </a:p>
        </p:txBody>
      </p:sp>
      <p:sp>
        <p:nvSpPr>
          <p:cNvPr id="122" name="Rectangle 34"/>
          <p:cNvSpPr>
            <a:spLocks noChangeArrowheads="1"/>
          </p:cNvSpPr>
          <p:nvPr/>
        </p:nvSpPr>
        <p:spPr bwMode="auto">
          <a:xfrm>
            <a:off x="3429000" y="1757363"/>
            <a:ext cx="47625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/>
              <a:t>sp</a:t>
            </a:r>
            <a:endParaRPr lang="en-US" altLang="zh-CN" sz="2400" b="1" baseline="30000"/>
          </a:p>
        </p:txBody>
      </p:sp>
      <p:sp>
        <p:nvSpPr>
          <p:cNvPr id="123" name="Rectangle 35"/>
          <p:cNvSpPr>
            <a:spLocks noChangeArrowheads="1"/>
          </p:cNvSpPr>
          <p:nvPr/>
        </p:nvSpPr>
        <p:spPr bwMode="auto">
          <a:xfrm>
            <a:off x="4406900" y="1757363"/>
            <a:ext cx="579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/>
              <a:t>sp</a:t>
            </a:r>
            <a:r>
              <a:rPr lang="en-US" altLang="zh-CN" sz="2400" b="1" baseline="30000"/>
              <a:t>2</a:t>
            </a:r>
          </a:p>
        </p:txBody>
      </p:sp>
      <p:sp>
        <p:nvSpPr>
          <p:cNvPr id="124" name="Rectangle 36"/>
          <p:cNvSpPr>
            <a:spLocks noChangeArrowheads="1"/>
          </p:cNvSpPr>
          <p:nvPr/>
        </p:nvSpPr>
        <p:spPr bwMode="auto">
          <a:xfrm>
            <a:off x="5492750" y="1757363"/>
            <a:ext cx="579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/>
              <a:t>sp</a:t>
            </a:r>
            <a:r>
              <a:rPr lang="en-US" altLang="zh-CN" sz="2400" b="1" baseline="30000"/>
              <a:t>3</a:t>
            </a:r>
          </a:p>
        </p:txBody>
      </p:sp>
      <p:sp>
        <p:nvSpPr>
          <p:cNvPr id="125" name="Rectangle 37"/>
          <p:cNvSpPr>
            <a:spLocks noChangeArrowheads="1"/>
          </p:cNvSpPr>
          <p:nvPr/>
        </p:nvSpPr>
        <p:spPr bwMode="auto">
          <a:xfrm>
            <a:off x="3294063" y="3384550"/>
            <a:ext cx="7477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/>
              <a:t>180º</a:t>
            </a:r>
          </a:p>
        </p:txBody>
      </p:sp>
      <p:sp>
        <p:nvSpPr>
          <p:cNvPr id="126" name="Rectangle 38"/>
          <p:cNvSpPr>
            <a:spLocks noChangeArrowheads="1"/>
          </p:cNvSpPr>
          <p:nvPr/>
        </p:nvSpPr>
        <p:spPr bwMode="auto">
          <a:xfrm>
            <a:off x="4343400" y="3373438"/>
            <a:ext cx="1066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/>
              <a:t>120º</a:t>
            </a:r>
          </a:p>
        </p:txBody>
      </p:sp>
      <p:sp>
        <p:nvSpPr>
          <p:cNvPr id="127" name="Rectangle 39"/>
          <p:cNvSpPr>
            <a:spLocks noChangeArrowheads="1"/>
          </p:cNvSpPr>
          <p:nvPr/>
        </p:nvSpPr>
        <p:spPr bwMode="auto">
          <a:xfrm>
            <a:off x="5203825" y="3384550"/>
            <a:ext cx="11572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/>
              <a:t>109º28’</a:t>
            </a:r>
          </a:p>
        </p:txBody>
      </p:sp>
      <p:sp>
        <p:nvSpPr>
          <p:cNvPr id="128" name="Rectangle 40"/>
          <p:cNvSpPr>
            <a:spLocks noChangeArrowheads="1"/>
          </p:cNvSpPr>
          <p:nvPr/>
        </p:nvSpPr>
        <p:spPr bwMode="auto">
          <a:xfrm>
            <a:off x="6464300" y="3384550"/>
            <a:ext cx="22304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/>
              <a:t>90º&lt; </a:t>
            </a:r>
            <a:r>
              <a:rPr lang="en-US" altLang="zh-CN" sz="2400" b="1" i="1">
                <a:sym typeface="Symbol" pitchFamily="18" charset="2"/>
              </a:rPr>
              <a:t></a:t>
            </a:r>
            <a:r>
              <a:rPr lang="en-US" altLang="zh-CN" sz="2400" b="1"/>
              <a:t> &lt;109º28’</a:t>
            </a:r>
          </a:p>
        </p:txBody>
      </p:sp>
      <p:sp>
        <p:nvSpPr>
          <p:cNvPr id="25627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5572125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8.1.2</a:t>
            </a:r>
            <a:r>
              <a:rPr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杂化轨道理论与分子的几何构型</a:t>
            </a:r>
            <a:endParaRPr lang="zh-CN" altLang="en-US" sz="220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utoUpdateAnimBg="0"/>
      <p:bldP spid="91" grpId="0" autoUpdateAnimBg="0"/>
      <p:bldP spid="92" grpId="0" autoUpdateAnimBg="0"/>
      <p:bldP spid="93" grpId="0" autoUpdateAnimBg="0"/>
      <p:bldP spid="94" grpId="0" autoUpdateAnimBg="0"/>
      <p:bldP spid="95" grpId="0" autoUpdateAnimBg="0"/>
      <p:bldP spid="96" grpId="0" autoUpdateAnimBg="0"/>
      <p:bldP spid="97" grpId="0" autoUpdateAnimBg="0"/>
      <p:bldP spid="98" grpId="0" autoUpdateAnimBg="0"/>
      <p:bldP spid="99" grpId="0" autoUpdateAnimBg="0"/>
      <p:bldP spid="104" grpId="0" animBg="1"/>
      <p:bldP spid="121" grpId="0" autoUpdateAnimBg="0"/>
      <p:bldP spid="122" grpId="0" autoUpdateAnimBg="0"/>
      <p:bldP spid="123" grpId="0" autoUpdateAnimBg="0"/>
      <p:bldP spid="124" grpId="0" autoUpdateAnimBg="0"/>
      <p:bldP spid="125" grpId="0" autoUpdateAnimBg="0"/>
      <p:bldP spid="126" grpId="0" autoUpdateAnimBg="0"/>
      <p:bldP spid="127" grpId="0" autoUpdateAnimBg="0"/>
      <p:bldP spid="128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27" name="Oval 6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974725" y="1096963"/>
            <a:ext cx="79216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黑体" pitchFamily="49" charset="-122"/>
                <a:ea typeface="楷体_GB2312" pitchFamily="49" charset="-122"/>
              </a:rPr>
              <a:t>现代价键 </a:t>
            </a:r>
            <a:r>
              <a:rPr lang="en-US" altLang="zh-CN" sz="2400" b="1">
                <a:latin typeface="黑体" pitchFamily="49" charset="-122"/>
                <a:ea typeface="楷体_GB2312" pitchFamily="49" charset="-122"/>
              </a:rPr>
              <a:t>+ </a:t>
            </a:r>
            <a:r>
              <a:rPr lang="zh-CN" altLang="en-US" sz="2400" b="1">
                <a:latin typeface="黑体" pitchFamily="49" charset="-122"/>
                <a:ea typeface="楷体_GB2312" pitchFamily="49" charset="-122"/>
              </a:rPr>
              <a:t>杂化轨道理论：是以</a:t>
            </a:r>
            <a:r>
              <a:rPr lang="zh-CN" altLang="en-US" sz="24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电子对</a:t>
            </a:r>
            <a:r>
              <a:rPr lang="zh-CN" altLang="en-US" sz="2400" b="1">
                <a:latin typeface="黑体" pitchFamily="49" charset="-122"/>
                <a:ea typeface="楷体_GB2312" pitchFamily="49" charset="-122"/>
              </a:rPr>
              <a:t>为基础，有缺陷</a:t>
            </a:r>
            <a:r>
              <a:rPr lang="en-US" altLang="zh-CN" sz="2400" b="1">
                <a:latin typeface="黑体" pitchFamily="49" charset="-122"/>
                <a:ea typeface="楷体_GB2312" pitchFamily="49" charset="-122"/>
              </a:rPr>
              <a:t>.</a:t>
            </a:r>
            <a:endParaRPr lang="zh-CN" altLang="en-US" sz="2400">
              <a:latin typeface="黑体" pitchFamily="49" charset="-122"/>
              <a:ea typeface="楷体_GB2312" pitchFamily="49" charset="-122"/>
            </a:endParaRPr>
          </a:p>
        </p:txBody>
      </p: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688975" y="1668463"/>
            <a:ext cx="11128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黑体" pitchFamily="49" charset="-122"/>
                <a:ea typeface="楷体_GB2312" pitchFamily="49" charset="-122"/>
              </a:rPr>
              <a:t>例如：</a:t>
            </a:r>
            <a:endParaRPr lang="zh-CN" altLang="en-US" sz="2400" b="1" baseline="-25000"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47111" name="矩形 2"/>
          <p:cNvSpPr>
            <a:spLocks noChangeArrowheads="1"/>
          </p:cNvSpPr>
          <p:nvPr/>
        </p:nvSpPr>
        <p:spPr bwMode="auto">
          <a:xfrm>
            <a:off x="1617663" y="1668463"/>
            <a:ext cx="6842125" cy="107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:Ö=Ö:</a:t>
            </a:r>
            <a:r>
              <a:rPr lang="zh-CN" altLang="en-US" sz="2400" b="1" dirty="0">
                <a:latin typeface="黑体" pitchFamily="49" charset="-122"/>
                <a:ea typeface="楷体_GB2312" pitchFamily="49" charset="-122"/>
                <a:cs typeface="Times New Roman" pitchFamily="18" charset="0"/>
              </a:rPr>
              <a:t>，电子均成对，应显反磁性，磁矩为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  <a:cs typeface="Times New Roman" pitchFamily="18" charset="0"/>
              </a:rPr>
              <a:t>零</a:t>
            </a:r>
            <a:r>
              <a:rPr lang="zh-CN" altLang="en-US" sz="2400" b="1" dirty="0">
                <a:latin typeface="黑体" pitchFamily="49" charset="-122"/>
                <a:ea typeface="楷体_GB2312" pitchFamily="49" charset="-122"/>
                <a:cs typeface="Times New Roman" pitchFamily="18" charset="0"/>
              </a:rPr>
              <a:t>；但实际有磁性，液固态可被磁铁吸引</a:t>
            </a:r>
            <a:r>
              <a:rPr lang="en-US" altLang="zh-CN" sz="2400" b="1" dirty="0">
                <a:latin typeface="黑体" pitchFamily="49" charset="-122"/>
                <a:ea typeface="楷体_GB2312" pitchFamily="49" charset="-122"/>
                <a:cs typeface="Times New Roman" pitchFamily="18" charset="0"/>
              </a:rPr>
              <a:t>.</a:t>
            </a:r>
            <a:endParaRPr lang="en-US" altLang="zh-CN" sz="2400" b="1" baseline="30000" dirty="0">
              <a:latin typeface="黑体" pitchFamily="49" charset="-122"/>
              <a:ea typeface="楷体_GB2312" pitchFamily="49" charset="-122"/>
              <a:cs typeface="Times New Roman" pitchFamily="18" charset="0"/>
            </a:endParaRPr>
          </a:p>
          <a:p>
            <a:endParaRPr lang="en-US" altLang="zh-CN" sz="2400" b="1" baseline="30000" dirty="0">
              <a:latin typeface="黑体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47113" name="矩形 51"/>
          <p:cNvSpPr>
            <a:spLocks noChangeArrowheads="1"/>
          </p:cNvSpPr>
          <p:nvPr/>
        </p:nvSpPr>
        <p:spPr bwMode="auto">
          <a:xfrm>
            <a:off x="903288" y="2525713"/>
            <a:ext cx="10358437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黑体" pitchFamily="49" charset="-122"/>
                <a:ea typeface="楷体_GB2312" pitchFamily="49" charset="-122"/>
              </a:rPr>
              <a:t>    也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无法说明</a:t>
            </a:r>
            <a:r>
              <a:rPr lang="zh-CN" altLang="en-US" sz="2400" b="1" dirty="0">
                <a:latin typeface="黑体" pitchFamily="49" charset="-122"/>
                <a:ea typeface="楷体_GB2312" pitchFamily="49" charset="-122"/>
              </a:rPr>
              <a:t>有些含有奇数电子的分子或离子</a:t>
            </a:r>
            <a:r>
              <a:rPr lang="zh-CN" altLang="en-US" sz="2400" b="1" dirty="0"/>
              <a:t>（</a:t>
            </a:r>
            <a:r>
              <a:rPr lang="zh-CN" altLang="en-US" sz="2400" b="1" dirty="0">
                <a:latin typeface="黑体" pitchFamily="49" charset="-122"/>
                <a:ea typeface="楷体_GB2312" pitchFamily="49" charset="-122"/>
              </a:rPr>
              <a:t>如</a:t>
            </a:r>
            <a:r>
              <a:rPr lang="en-US" altLang="zh-CN" sz="2400" b="1" dirty="0"/>
              <a:t>H</a:t>
            </a:r>
            <a:r>
              <a:rPr lang="en-US" altLang="zh-CN" sz="2400" b="1" baseline="-25000" dirty="0"/>
              <a:t>2</a:t>
            </a:r>
            <a:r>
              <a:rPr lang="en-US" altLang="zh-CN" sz="2400" b="1" baseline="30000" dirty="0"/>
              <a:t>+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O</a:t>
            </a:r>
            <a:r>
              <a:rPr lang="en-US" altLang="zh-CN" sz="2400" b="1" baseline="-25000" dirty="0"/>
              <a:t>2</a:t>
            </a:r>
            <a:r>
              <a:rPr lang="en-US" altLang="zh-CN" sz="2400" b="1" baseline="30000" dirty="0"/>
              <a:t>+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NO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NO</a:t>
            </a:r>
            <a:r>
              <a:rPr lang="en-US" altLang="zh-CN" sz="2400" b="1" baseline="-25000" dirty="0"/>
              <a:t>2</a:t>
            </a:r>
            <a:r>
              <a:rPr lang="zh-CN" altLang="en-US" sz="2400" b="1" dirty="0">
                <a:latin typeface="黑体" pitchFamily="49" charset="-122"/>
                <a:ea typeface="楷体_GB2312" pitchFamily="49" charset="-122"/>
              </a:rPr>
              <a:t>等</a:t>
            </a:r>
            <a:r>
              <a:rPr lang="zh-CN" altLang="en-US" sz="2400" b="1" dirty="0"/>
              <a:t>）</a:t>
            </a:r>
            <a:r>
              <a:rPr lang="zh-CN" altLang="en-US" sz="2400" b="1" dirty="0">
                <a:latin typeface="黑体" pitchFamily="49" charset="-122"/>
                <a:ea typeface="楷体_GB2312" pitchFamily="49" charset="-122"/>
              </a:rPr>
              <a:t>能够稳定存在的原因</a:t>
            </a:r>
            <a:r>
              <a:rPr lang="en-US" altLang="zh-CN" sz="2400" b="1" dirty="0">
                <a:latin typeface="黑体" pitchFamily="49" charset="-122"/>
                <a:ea typeface="楷体_GB2312" pitchFamily="49" charset="-122"/>
              </a:rPr>
              <a:t>.</a:t>
            </a:r>
            <a:endParaRPr lang="en-US" altLang="zh-CN" sz="2400" b="1" baseline="30000" dirty="0">
              <a:latin typeface="黑体" pitchFamily="49" charset="-122"/>
              <a:ea typeface="楷体_GB2312" pitchFamily="49" charset="-122"/>
            </a:endParaRP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5"/>
          <a:srcRect t="12038" b="6142"/>
          <a:stretch>
            <a:fillRect/>
          </a:stretch>
        </p:blipFill>
        <p:spPr bwMode="auto">
          <a:xfrm>
            <a:off x="760413" y="3454400"/>
            <a:ext cx="1835150" cy="236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" name="Rectangle 2"/>
          <p:cNvSpPr>
            <a:spLocks noChangeArrowheads="1"/>
          </p:cNvSpPr>
          <p:nvPr/>
        </p:nvSpPr>
        <p:spPr bwMode="auto">
          <a:xfrm>
            <a:off x="2832100" y="3525838"/>
            <a:ext cx="8132763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="1" dirty="0">
                <a:ea typeface="Baoli SC"/>
                <a:cs typeface="Baoli SC"/>
              </a:rPr>
              <a:t>        </a:t>
            </a:r>
            <a:r>
              <a:rPr lang="en-US" altLang="zh-CN" sz="2400" b="1" dirty="0">
                <a:ea typeface="楷体_GB2312" pitchFamily="49" charset="-122"/>
                <a:cs typeface="Times New Roman" pitchFamily="18" charset="0"/>
              </a:rPr>
              <a:t>1932</a:t>
            </a:r>
            <a:r>
              <a:rPr lang="zh-CN" altLang="en-US" sz="2400" b="1" dirty="0">
                <a:latin typeface="黑体" pitchFamily="49" charset="-122"/>
                <a:ea typeface="楷体_GB2312" pitchFamily="49" charset="-122"/>
                <a:cs typeface="Baoli SC"/>
              </a:rPr>
              <a:t>年，美国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  <a:cs typeface="Baoli SC"/>
              </a:rPr>
              <a:t>密立根</a:t>
            </a:r>
            <a:r>
              <a:rPr lang="zh-CN" altLang="en-US" sz="2400" b="1" dirty="0">
                <a:latin typeface="黑体" pitchFamily="49" charset="-122"/>
                <a:ea typeface="楷体_GB2312" pitchFamily="49" charset="-122"/>
                <a:cs typeface="Baoli SC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  <a:cs typeface="Baoli SC"/>
              </a:rPr>
              <a:t>洪特</a:t>
            </a:r>
            <a:r>
              <a:rPr lang="zh-CN" altLang="en-US" sz="2400" b="1" dirty="0">
                <a:latin typeface="黑体" pitchFamily="49" charset="-122"/>
                <a:ea typeface="楷体_GB2312" pitchFamily="49" charset="-122"/>
                <a:cs typeface="Baoli SC"/>
              </a:rPr>
              <a:t>等人提出新的理论解决此问题，即分子轨道理论（</a:t>
            </a:r>
            <a:r>
              <a:rPr lang="en-US" altLang="zh-CN" sz="2400" b="1" dirty="0">
                <a:ea typeface="Baoli SC"/>
                <a:cs typeface="Baoli SC"/>
              </a:rPr>
              <a:t>Molecular  orbital  theory</a:t>
            </a:r>
            <a:r>
              <a:rPr lang="zh-CN" altLang="en-US" sz="2400" b="1" dirty="0">
                <a:ea typeface="Baoli SC"/>
                <a:cs typeface="Baoli SC"/>
              </a:rPr>
              <a:t>，</a:t>
            </a:r>
            <a:r>
              <a:rPr lang="en-US" altLang="zh-CN" sz="2400" b="1" dirty="0">
                <a:solidFill>
                  <a:srgbClr val="FF0000"/>
                </a:solidFill>
                <a:ea typeface="Baoli SC"/>
                <a:cs typeface="Baoli SC"/>
              </a:rPr>
              <a:t>MO</a:t>
            </a:r>
            <a:r>
              <a:rPr lang="zh-CN" altLang="en-US" sz="2400" b="1" dirty="0">
                <a:latin typeface="黑体" pitchFamily="49" charset="-122"/>
                <a:ea typeface="楷体_GB2312" pitchFamily="49" charset="-122"/>
              </a:rPr>
              <a:t>）。</a:t>
            </a:r>
          </a:p>
        </p:txBody>
      </p:sp>
      <p:sp>
        <p:nvSpPr>
          <p:cNvPr id="26634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335756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8.1.3</a:t>
            </a:r>
            <a:r>
              <a:rPr kumimoji="1"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分子轨道理论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7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7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7" grpId="0" build="p"/>
      <p:bldP spid="47111" grpId="0" build="p"/>
      <p:bldP spid="47113" grpId="0" build="p"/>
      <p:bldP spid="5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27651" name="Oval 6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49159" name="Text Box 47"/>
          <p:cNvSpPr txBox="1">
            <a:spLocks noChangeArrowheads="1"/>
          </p:cNvSpPr>
          <p:nvPr/>
        </p:nvSpPr>
        <p:spPr bwMode="auto">
          <a:xfrm>
            <a:off x="638175" y="774700"/>
            <a:ext cx="230505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solidFill>
                  <a:srgbClr val="FF0000"/>
                </a:solidFill>
                <a:ea typeface="楷体_GB2312" pitchFamily="49" charset="-122"/>
              </a:rPr>
              <a:t>1) </a:t>
            </a:r>
            <a:r>
              <a:rPr kumimoji="1" lang="zh-CN" altLang="en-US" sz="2500" b="1">
                <a:solidFill>
                  <a:srgbClr val="FF0000"/>
                </a:solidFill>
                <a:ea typeface="楷体_GB2312" pitchFamily="49" charset="-122"/>
              </a:rPr>
              <a:t>分子轨道</a:t>
            </a:r>
          </a:p>
        </p:txBody>
      </p:sp>
      <p:sp>
        <p:nvSpPr>
          <p:cNvPr id="49160" name="文本框 4"/>
          <p:cNvSpPr txBox="1">
            <a:spLocks noChangeArrowheads="1"/>
          </p:cNvSpPr>
          <p:nvPr/>
        </p:nvSpPr>
        <p:spPr bwMode="auto">
          <a:xfrm>
            <a:off x="954088" y="1201738"/>
            <a:ext cx="7605712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描述分子中电子运动的波函数，是多电子、多中心的，轨道中电子属于整个分子</a:t>
            </a:r>
            <a:r>
              <a:rPr lang="en-US" altLang="zh-CN" sz="2500" b="1">
                <a:latin typeface="黑体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49162" name="Text Box 47"/>
          <p:cNvSpPr txBox="1">
            <a:spLocks noChangeArrowheads="1"/>
          </p:cNvSpPr>
          <p:nvPr/>
        </p:nvSpPr>
        <p:spPr bwMode="auto">
          <a:xfrm>
            <a:off x="638175" y="2095500"/>
            <a:ext cx="230505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2) </a:t>
            </a:r>
            <a:r>
              <a:rPr kumimoji="1"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理论要点</a:t>
            </a:r>
          </a:p>
        </p:txBody>
      </p:sp>
      <p:sp>
        <p:nvSpPr>
          <p:cNvPr id="49163" name="矩形 5"/>
          <p:cNvSpPr>
            <a:spLocks noChangeArrowheads="1"/>
          </p:cNvSpPr>
          <p:nvPr/>
        </p:nvSpPr>
        <p:spPr bwMode="auto">
          <a:xfrm>
            <a:off x="974725" y="2525713"/>
            <a:ext cx="7585075" cy="278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①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 电子在整个分子范围内运动；</a:t>
            </a:r>
            <a:endParaRPr lang="en-US" altLang="zh-CN" sz="2500" b="1">
              <a:latin typeface="黑体" pitchFamily="49" charset="-122"/>
              <a:ea typeface="楷体_GB2312" pitchFamily="49" charset="-122"/>
            </a:endParaRPr>
          </a:p>
          <a:p>
            <a:r>
              <a:rPr lang="en-US" altLang="zh-CN" sz="25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②</a:t>
            </a:r>
            <a:r>
              <a:rPr lang="en-US" altLang="zh-CN" sz="2500" b="1">
                <a:latin typeface="黑体" pitchFamily="49" charset="-122"/>
                <a:ea typeface="楷体_GB2312" pitchFamily="49" charset="-122"/>
              </a:rPr>
              <a:t> </a:t>
            </a:r>
            <a:r>
              <a:rPr lang="en-US" altLang="zh-CN" sz="2500" b="1">
                <a:ea typeface="楷体_GB2312" pitchFamily="49" charset="-122"/>
                <a:cs typeface="Times New Roman" pitchFamily="18" charset="0"/>
              </a:rPr>
              <a:t>MO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由成键</a:t>
            </a:r>
            <a:r>
              <a:rPr lang="en-US" altLang="zh-CN" sz="2500" b="1">
                <a:ea typeface="楷体_GB2312" pitchFamily="49" charset="-122"/>
              </a:rPr>
              <a:t>AO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组合而成；</a:t>
            </a:r>
            <a:endParaRPr lang="en-US" altLang="zh-CN" sz="2500" b="1">
              <a:latin typeface="黑体" pitchFamily="49" charset="-122"/>
              <a:ea typeface="楷体_GB2312" pitchFamily="49" charset="-122"/>
            </a:endParaRPr>
          </a:p>
          <a:p>
            <a:r>
              <a:rPr lang="en-US" altLang="zh-CN" sz="25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③</a:t>
            </a:r>
            <a:r>
              <a:rPr lang="en-US" altLang="zh-CN" sz="2500" b="1">
                <a:latin typeface="黑体" pitchFamily="49" charset="-122"/>
                <a:ea typeface="楷体_GB2312" pitchFamily="49" charset="-122"/>
              </a:rPr>
              <a:t> 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电子逐个填入</a:t>
            </a:r>
            <a:r>
              <a:rPr lang="en-US" altLang="zh-CN" sz="2500" b="1">
                <a:ea typeface="楷体_GB2312" pitchFamily="49" charset="-122"/>
              </a:rPr>
              <a:t>MO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，规则与填入</a:t>
            </a:r>
            <a:r>
              <a:rPr lang="en-US" altLang="zh-CN" sz="2500" b="1">
                <a:ea typeface="楷体_GB2312" pitchFamily="49" charset="-122"/>
              </a:rPr>
              <a:t>AO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的规则相同；</a:t>
            </a:r>
            <a:endParaRPr lang="en-US" altLang="zh-CN" sz="2500" b="1">
              <a:latin typeface="黑体" pitchFamily="49" charset="-122"/>
              <a:ea typeface="楷体_GB2312" pitchFamily="49" charset="-122"/>
            </a:endParaRPr>
          </a:p>
          <a:p>
            <a:r>
              <a:rPr lang="zh-CN" altLang="en-US" sz="25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④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 </a:t>
            </a:r>
            <a:r>
              <a:rPr lang="en-US" altLang="zh-CN" sz="2500" b="1">
                <a:ea typeface="楷体_GB2312" pitchFamily="49" charset="-122"/>
              </a:rPr>
              <a:t>AO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要有效组成</a:t>
            </a:r>
            <a:r>
              <a:rPr lang="en-US" altLang="zh-CN" sz="2500" b="1">
                <a:ea typeface="楷体_GB2312" pitchFamily="49" charset="-122"/>
              </a:rPr>
              <a:t>MO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必须符合成键</a:t>
            </a:r>
            <a:r>
              <a:rPr lang="en-US" altLang="zh-CN" sz="25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3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原则，</a:t>
            </a:r>
            <a:endParaRPr lang="en-US" altLang="zh-CN" sz="2500" b="1">
              <a:latin typeface="黑体" pitchFamily="49" charset="-122"/>
              <a:ea typeface="楷体_GB2312" pitchFamily="49" charset="-122"/>
            </a:endParaRPr>
          </a:p>
          <a:p>
            <a:r>
              <a:rPr lang="en-US" altLang="zh-CN" sz="2500" b="1">
                <a:latin typeface="黑体" pitchFamily="49" charset="-122"/>
                <a:ea typeface="楷体_GB2312" pitchFamily="49" charset="-122"/>
              </a:rPr>
              <a:t>   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即：</a:t>
            </a: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能量近似、</a:t>
            </a:r>
            <a:endParaRPr lang="en-US" altLang="zh-CN" sz="2500" b="1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轨道最大重叠、</a:t>
            </a:r>
            <a:endParaRPr lang="en-US" altLang="zh-CN" sz="2500" b="1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    相对键轴轨道对称性匹配原则</a:t>
            </a:r>
            <a:r>
              <a:rPr lang="en-US" altLang="zh-CN" sz="25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27656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335756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8.1.3</a:t>
            </a:r>
            <a:r>
              <a:rPr kumimoji="1"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分子轨道理论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9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9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9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9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9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9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9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9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49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49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9" grpId="0" build="p"/>
      <p:bldP spid="49160" grpId="0" build="p"/>
      <p:bldP spid="49162" grpId="0" build="p"/>
      <p:bldP spid="4916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5" name="Oval 6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10" name="Text Box 47"/>
          <p:cNvSpPr txBox="1">
            <a:spLocks noChangeArrowheads="1"/>
          </p:cNvSpPr>
          <p:nvPr/>
        </p:nvSpPr>
        <p:spPr bwMode="auto">
          <a:xfrm>
            <a:off x="1068388" y="968375"/>
            <a:ext cx="33813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ea typeface="楷体_GB2312" pitchFamily="49" charset="-122"/>
              </a:rPr>
              <a:t>  1) s-s</a:t>
            </a:r>
            <a:r>
              <a:rPr kumimoji="1" lang="zh-CN" altLang="en-US" sz="2500" b="1">
                <a:ea typeface="楷体_GB2312" pitchFamily="49" charset="-122"/>
              </a:rPr>
              <a:t>原子轨道的组合</a:t>
            </a:r>
          </a:p>
        </p:txBody>
      </p:sp>
      <p:cxnSp>
        <p:nvCxnSpPr>
          <p:cNvPr id="23" name="直接箭头连接符 22"/>
          <p:cNvCxnSpPr>
            <a:cxnSpLocks noChangeShapeType="1"/>
          </p:cNvCxnSpPr>
          <p:nvPr/>
        </p:nvCxnSpPr>
        <p:spPr bwMode="auto">
          <a:xfrm flipV="1">
            <a:off x="8575675" y="1652588"/>
            <a:ext cx="0" cy="2239962"/>
          </a:xfrm>
          <a:prstGeom prst="straightConnector1">
            <a:avLst/>
          </a:prstGeom>
          <a:noFill/>
          <a:ln w="38100" algn="ctr">
            <a:solidFill>
              <a:srgbClr val="FFFF00"/>
            </a:solidFill>
            <a:round/>
            <a:headEnd/>
            <a:tailEnd type="triangle" w="med" len="med"/>
          </a:ln>
        </p:spPr>
      </p:cxn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8145463" y="1014413"/>
            <a:ext cx="8286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Monotype Sorts" pitchFamily="2" charset="2"/>
              <a:buNone/>
            </a:pP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能量</a:t>
            </a: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338263" y="1652588"/>
            <a:ext cx="7004050" cy="2800350"/>
            <a:chOff x="3563938" y="1001713"/>
            <a:chExt cx="7004050" cy="2800350"/>
          </a:xfrm>
        </p:grpSpPr>
        <p:sp>
          <p:nvSpPr>
            <p:cNvPr id="28682" name="Rectangle 5"/>
            <p:cNvSpPr>
              <a:spLocks noChangeArrowheads="1"/>
            </p:cNvSpPr>
            <p:nvPr/>
          </p:nvSpPr>
          <p:spPr bwMode="auto">
            <a:xfrm>
              <a:off x="8545513" y="3155950"/>
              <a:ext cx="1803400" cy="646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r>
                <a:rPr lang="zh-CN" altLang="en-US" sz="2400" b="1">
                  <a:solidFill>
                    <a:srgbClr val="FF0000"/>
                  </a:solidFill>
                  <a:latin typeface="黑体" pitchFamily="49" charset="-122"/>
                  <a:ea typeface="楷体_GB2312" pitchFamily="49" charset="-122"/>
                </a:rPr>
                <a:t>成键轨道</a:t>
              </a:r>
              <a:r>
                <a:rPr lang="zh-CN" altLang="en-US" sz="2400" b="1" i="1">
                  <a:solidFill>
                    <a:srgbClr val="0000FF"/>
                  </a:solidFill>
                  <a:ea typeface="楷体_GB2312" pitchFamily="49" charset="-122"/>
                </a:rPr>
                <a:t>𝛔</a:t>
              </a:r>
              <a:r>
                <a:rPr lang="en-US" altLang="zh-CN" sz="2400" b="1" i="1" baseline="-25000">
                  <a:solidFill>
                    <a:srgbClr val="0000FF"/>
                  </a:solidFill>
                  <a:ea typeface="楷体_GB2312" pitchFamily="49" charset="-122"/>
                </a:rPr>
                <a:t>n</a:t>
              </a:r>
              <a:r>
                <a:rPr lang="en-US" altLang="zh-CN" sz="2400" b="1" baseline="-25000">
                  <a:solidFill>
                    <a:srgbClr val="0000FF"/>
                  </a:solidFill>
                  <a:ea typeface="楷体_GB2312" pitchFamily="49" charset="-122"/>
                </a:rPr>
                <a:t>s</a:t>
              </a:r>
              <a:endParaRPr lang="zh-CN" altLang="en-US" sz="2400" b="1" baseline="-25000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28683" name="Rectangle 5"/>
            <p:cNvSpPr>
              <a:spLocks noChangeArrowheads="1"/>
            </p:cNvSpPr>
            <p:nvPr/>
          </p:nvSpPr>
          <p:spPr bwMode="auto">
            <a:xfrm>
              <a:off x="8548688" y="1690688"/>
              <a:ext cx="1906291" cy="5745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r>
                <a:rPr lang="zh-CN" altLang="en-US" sz="2400" b="1">
                  <a:solidFill>
                    <a:srgbClr val="FF0000"/>
                  </a:solidFill>
                  <a:latin typeface="黑体" pitchFamily="49" charset="-122"/>
                  <a:ea typeface="楷体_GB2312" pitchFamily="49" charset="-122"/>
                </a:rPr>
                <a:t>反键轨道</a:t>
              </a:r>
              <a:r>
                <a:rPr lang="zh-CN" altLang="en-US" sz="2400" b="1" i="1">
                  <a:solidFill>
                    <a:srgbClr val="0000FF"/>
                  </a:solidFill>
                  <a:ea typeface="楷体_GB2312" pitchFamily="49" charset="-122"/>
                </a:rPr>
                <a:t>𝛔</a:t>
              </a:r>
              <a:r>
                <a:rPr lang="en-US" altLang="zh-CN" sz="2400" b="1" i="1" baseline="-25000">
                  <a:solidFill>
                    <a:srgbClr val="0000FF"/>
                  </a:solidFill>
                  <a:ea typeface="楷体_GB2312" pitchFamily="49" charset="-122"/>
                </a:rPr>
                <a:t>n</a:t>
              </a:r>
              <a:r>
                <a:rPr lang="en-US" altLang="zh-CN" sz="2400" b="1" baseline="-25000">
                  <a:solidFill>
                    <a:srgbClr val="0000FF"/>
                  </a:solidFill>
                  <a:ea typeface="楷体_GB2312" pitchFamily="49" charset="-122"/>
                </a:rPr>
                <a:t>s</a:t>
              </a:r>
              <a:r>
                <a:rPr lang="zh-CN" altLang="en-US" sz="2400" b="1" baseline="30000">
                  <a:solidFill>
                    <a:srgbClr val="0000FF"/>
                  </a:solidFill>
                  <a:ea typeface="楷体_GB2312" pitchFamily="49" charset="-122"/>
                </a:rPr>
                <a:t>*</a:t>
              </a:r>
            </a:p>
          </p:txBody>
        </p:sp>
        <p:grpSp>
          <p:nvGrpSpPr>
            <p:cNvPr id="28684" name="组合 24"/>
            <p:cNvGrpSpPr>
              <a:grpSpLocks/>
            </p:cNvGrpSpPr>
            <p:nvPr/>
          </p:nvGrpSpPr>
          <p:grpSpPr bwMode="auto">
            <a:xfrm>
              <a:off x="3563938" y="1716088"/>
              <a:ext cx="1687512" cy="1195387"/>
              <a:chOff x="799818" y="3332327"/>
              <a:chExt cx="1687354" cy="1194207"/>
            </a:xfrm>
          </p:grpSpPr>
          <p:sp>
            <p:nvSpPr>
              <p:cNvPr id="28724" name="Rectangle 5"/>
              <p:cNvSpPr>
                <a:spLocks noChangeArrowheads="1"/>
              </p:cNvSpPr>
              <p:nvPr/>
            </p:nvSpPr>
            <p:spPr bwMode="auto">
              <a:xfrm>
                <a:off x="849025" y="3873130"/>
                <a:ext cx="476205" cy="6454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  <a:buFont typeface="Monotype Sorts" pitchFamily="2" charset="2"/>
                  <a:buNone/>
                </a:pPr>
                <a:r>
                  <a:rPr lang="en-US" altLang="zh-CN" sz="2400" b="1" i="1">
                    <a:ea typeface="楷体_GB2312" pitchFamily="49" charset="-122"/>
                  </a:rPr>
                  <a:t>n</a:t>
                </a:r>
                <a:r>
                  <a:rPr lang="en-US" altLang="zh-CN" sz="2400" b="1">
                    <a:ea typeface="楷体_GB2312" pitchFamily="49" charset="-122"/>
                  </a:rPr>
                  <a:t>s</a:t>
                </a:r>
                <a:endParaRPr lang="zh-CN" altLang="en-US" sz="2400" b="1">
                  <a:ea typeface="楷体_GB2312" pitchFamily="49" charset="-122"/>
                </a:endParaRPr>
              </a:p>
            </p:txBody>
          </p:sp>
          <p:grpSp>
            <p:nvGrpSpPr>
              <p:cNvPr id="28725" name="组 19"/>
              <p:cNvGrpSpPr>
                <a:grpSpLocks/>
              </p:cNvGrpSpPr>
              <p:nvPr/>
            </p:nvGrpSpPr>
            <p:grpSpPr bwMode="auto">
              <a:xfrm>
                <a:off x="1911172" y="3458273"/>
                <a:ext cx="576000" cy="1068261"/>
                <a:chOff x="2548326" y="2786573"/>
                <a:chExt cx="576000" cy="1068261"/>
              </a:xfrm>
            </p:grpSpPr>
            <p:grpSp>
              <p:nvGrpSpPr>
                <p:cNvPr id="28730" name="组 7"/>
                <p:cNvGrpSpPr>
                  <a:grpSpLocks/>
                </p:cNvGrpSpPr>
                <p:nvPr/>
              </p:nvGrpSpPr>
              <p:grpSpPr bwMode="auto">
                <a:xfrm>
                  <a:off x="2548326" y="2786573"/>
                  <a:ext cx="576000" cy="576000"/>
                  <a:chOff x="1115616" y="2786573"/>
                  <a:chExt cx="576000" cy="576000"/>
                </a:xfrm>
              </p:grpSpPr>
              <p:sp>
                <p:nvSpPr>
                  <p:cNvPr id="28732" name="椭圆 33"/>
                  <p:cNvSpPr>
                    <a:spLocks noChangeAspect="1"/>
                  </p:cNvSpPr>
                  <p:nvPr/>
                </p:nvSpPr>
                <p:spPr bwMode="auto">
                  <a:xfrm>
                    <a:off x="1115616" y="2786573"/>
                    <a:ext cx="576000" cy="576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algn="ctr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  <p:sp>
                <p:nvSpPr>
                  <p:cNvPr id="35" name="椭圆 34"/>
                  <p:cNvSpPr>
                    <a:spLocks noChangeAspect="1"/>
                  </p:cNvSpPr>
                  <p:nvPr/>
                </p:nvSpPr>
                <p:spPr bwMode="auto">
                  <a:xfrm>
                    <a:off x="1367796" y="3038080"/>
                    <a:ext cx="71431" cy="55507"/>
                  </a:xfrm>
                  <a:prstGeom prst="ellipse">
                    <a:avLst/>
                  </a:prstGeom>
                  <a:solidFill>
                    <a:schemeClr val="bg1">
                      <a:lumMod val="2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/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  <a:defRPr/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</p:grpSp>
            <p:sp>
              <p:nvSpPr>
                <p:cNvPr id="28731" name="Rectangle 5"/>
                <p:cNvSpPr>
                  <a:spLocks noChangeArrowheads="1"/>
                </p:cNvSpPr>
                <p:nvPr/>
              </p:nvSpPr>
              <p:spPr bwMode="auto">
                <a:xfrm>
                  <a:off x="2597325" y="3207774"/>
                  <a:ext cx="477793" cy="6470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50000"/>
                    </a:lnSpc>
                    <a:buFont typeface="Monotype Sorts" pitchFamily="2" charset="2"/>
                    <a:buNone/>
                  </a:pPr>
                  <a:r>
                    <a:rPr lang="en-US" altLang="zh-CN" sz="2400" b="1" i="1">
                      <a:ea typeface="楷体_GB2312" pitchFamily="49" charset="-122"/>
                    </a:rPr>
                    <a:t>n</a:t>
                  </a:r>
                  <a:r>
                    <a:rPr lang="en-US" altLang="zh-CN" sz="2400" b="1">
                      <a:ea typeface="楷体_GB2312" pitchFamily="49" charset="-122"/>
                    </a:rPr>
                    <a:t>s</a:t>
                  </a:r>
                  <a:endParaRPr lang="zh-CN" altLang="en-US" sz="2400" b="1">
                    <a:ea typeface="楷体_GB2312" pitchFamily="49" charset="-122"/>
                  </a:endParaRPr>
                </a:p>
              </p:txBody>
            </p:sp>
          </p:grpSp>
          <p:sp>
            <p:nvSpPr>
              <p:cNvPr id="28726" name="Rectangle 5"/>
              <p:cNvSpPr>
                <a:spLocks noChangeArrowheads="1"/>
              </p:cNvSpPr>
              <p:nvPr/>
            </p:nvSpPr>
            <p:spPr bwMode="auto">
              <a:xfrm>
                <a:off x="1376026" y="3332327"/>
                <a:ext cx="544462" cy="6565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  <a:buFont typeface="Monotype Sorts" pitchFamily="2" charset="2"/>
                  <a:buNone/>
                </a:pPr>
                <a:r>
                  <a:rPr lang="en-US" altLang="zh-CN" sz="2800" b="1">
                    <a:solidFill>
                      <a:srgbClr val="FF0000"/>
                    </a:solidFill>
                    <a:ea typeface="楷体_GB2312" pitchFamily="49" charset="-122"/>
                  </a:rPr>
                  <a:t>±</a:t>
                </a:r>
                <a:endParaRPr lang="zh-CN" altLang="en-US" sz="2800" b="1">
                  <a:solidFill>
                    <a:srgbClr val="FF0000"/>
                  </a:solidFill>
                  <a:ea typeface="楷体_GB2312" pitchFamily="49" charset="-122"/>
                </a:endParaRPr>
              </a:p>
            </p:txBody>
          </p:sp>
          <p:grpSp>
            <p:nvGrpSpPr>
              <p:cNvPr id="28727" name="组 6"/>
              <p:cNvGrpSpPr>
                <a:grpSpLocks/>
              </p:cNvGrpSpPr>
              <p:nvPr/>
            </p:nvGrpSpPr>
            <p:grpSpPr bwMode="auto">
              <a:xfrm>
                <a:off x="799818" y="3458273"/>
                <a:ext cx="576000" cy="576000"/>
                <a:chOff x="1115616" y="2786573"/>
                <a:chExt cx="576000" cy="576000"/>
              </a:xfrm>
            </p:grpSpPr>
            <p:sp>
              <p:nvSpPr>
                <p:cNvPr id="28728" name="椭圆 29"/>
                <p:cNvSpPr>
                  <a:spLocks noChangeAspect="1"/>
                </p:cNvSpPr>
                <p:nvPr/>
              </p:nvSpPr>
              <p:spPr bwMode="auto">
                <a:xfrm>
                  <a:off x="1115616" y="2786573"/>
                  <a:ext cx="576000" cy="576000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</a:pPr>
                  <a:endParaRPr kumimoji="1" lang="zh-CN" altLang="en-US" sz="1600">
                    <a:ea typeface="楷体_GB2312" pitchFamily="49" charset="-122"/>
                  </a:endParaRPr>
                </a:p>
              </p:txBody>
            </p:sp>
            <p:sp>
              <p:nvSpPr>
                <p:cNvPr id="31" name="椭圆 30"/>
                <p:cNvSpPr>
                  <a:spLocks noChangeAspect="1"/>
                </p:cNvSpPr>
                <p:nvPr/>
              </p:nvSpPr>
              <p:spPr bwMode="auto">
                <a:xfrm>
                  <a:off x="1368004" y="3038080"/>
                  <a:ext cx="71431" cy="72953"/>
                </a:xfrm>
                <a:prstGeom prst="ellipse">
                  <a:avLst/>
                </a:prstGeom>
                <a:solidFill>
                  <a:schemeClr val="bg1">
                    <a:lumMod val="2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  <a:defRPr/>
                  </a:pPr>
                  <a:endParaRPr kumimoji="1" lang="zh-CN" altLang="en-US" sz="1600">
                    <a:ea typeface="楷体_GB2312" pitchFamily="49" charset="-122"/>
                  </a:endParaRPr>
                </a:p>
              </p:txBody>
            </p:sp>
          </p:grpSp>
        </p:grpSp>
        <p:grpSp>
          <p:nvGrpSpPr>
            <p:cNvPr id="28685" name="组合 35"/>
            <p:cNvGrpSpPr>
              <a:grpSpLocks/>
            </p:cNvGrpSpPr>
            <p:nvPr/>
          </p:nvGrpSpPr>
          <p:grpSpPr bwMode="auto">
            <a:xfrm>
              <a:off x="5384800" y="2166938"/>
              <a:ext cx="4921250" cy="1074737"/>
              <a:chOff x="2620270" y="3782273"/>
              <a:chExt cx="4920822" cy="1075266"/>
            </a:xfrm>
          </p:grpSpPr>
          <p:cxnSp>
            <p:nvCxnSpPr>
              <p:cNvPr id="28704" name="直线箭头连接符 15"/>
              <p:cNvCxnSpPr>
                <a:cxnSpLocks noChangeShapeType="1"/>
              </p:cNvCxnSpPr>
              <p:nvPr/>
            </p:nvCxnSpPr>
            <p:spPr bwMode="auto">
              <a:xfrm>
                <a:off x="2916928" y="3785111"/>
                <a:ext cx="720080" cy="796017"/>
              </a:xfrm>
              <a:prstGeom prst="straightConnector1">
                <a:avLst/>
              </a:prstGeom>
              <a:noFill/>
              <a:ln w="76200" algn="ctr">
                <a:solidFill>
                  <a:schemeClr val="bg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05" name="直线连接符 13"/>
              <p:cNvCxnSpPr>
                <a:cxnSpLocks noChangeShapeType="1"/>
              </p:cNvCxnSpPr>
              <p:nvPr/>
            </p:nvCxnSpPr>
            <p:spPr bwMode="auto">
              <a:xfrm>
                <a:off x="2620270" y="3782273"/>
                <a:ext cx="324000" cy="0"/>
              </a:xfrm>
              <a:prstGeom prst="line">
                <a:avLst/>
              </a:prstGeom>
              <a:noFill/>
              <a:ln w="7620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pic>
            <p:nvPicPr>
              <p:cNvPr id="28706" name="图片 38"/>
              <p:cNvPicPr>
                <a:picLocks noChangeAspect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5900942" y="4034273"/>
                <a:ext cx="1640150" cy="8232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8707" name="Rectangle 5"/>
              <p:cNvSpPr>
                <a:spLocks noChangeArrowheads="1"/>
              </p:cNvSpPr>
              <p:nvPr/>
            </p:nvSpPr>
            <p:spPr bwMode="auto">
              <a:xfrm>
                <a:off x="2815516" y="3814039"/>
                <a:ext cx="390491" cy="6607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  <a:buFont typeface="Monotype Sorts" pitchFamily="2" charset="2"/>
                  <a:buNone/>
                </a:pPr>
                <a:r>
                  <a:rPr lang="en-US" altLang="zh-CN" sz="2800" b="1" i="1">
                    <a:solidFill>
                      <a:srgbClr val="FF0000"/>
                    </a:solidFill>
                    <a:ea typeface="楷体_GB2312" pitchFamily="49" charset="-122"/>
                  </a:rPr>
                  <a:t>+</a:t>
                </a:r>
                <a:endParaRPr lang="zh-CN" altLang="en-US" sz="2800" b="1">
                  <a:solidFill>
                    <a:srgbClr val="FF0000"/>
                  </a:solidFill>
                  <a:ea typeface="楷体_GB2312" pitchFamily="49" charset="-122"/>
                </a:endParaRPr>
              </a:p>
            </p:txBody>
          </p:sp>
          <p:grpSp>
            <p:nvGrpSpPr>
              <p:cNvPr id="28708" name="组合 40"/>
              <p:cNvGrpSpPr>
                <a:grpSpLocks/>
              </p:cNvGrpSpPr>
              <p:nvPr/>
            </p:nvGrpSpPr>
            <p:grpSpPr bwMode="auto">
              <a:xfrm>
                <a:off x="3800164" y="4231352"/>
                <a:ext cx="576000" cy="576000"/>
                <a:chOff x="799818" y="3458273"/>
                <a:chExt cx="576000" cy="576000"/>
              </a:xfrm>
            </p:grpSpPr>
            <p:grpSp>
              <p:nvGrpSpPr>
                <p:cNvPr id="28718" name="组 6"/>
                <p:cNvGrpSpPr>
                  <a:grpSpLocks/>
                </p:cNvGrpSpPr>
                <p:nvPr/>
              </p:nvGrpSpPr>
              <p:grpSpPr bwMode="auto">
                <a:xfrm>
                  <a:off x="799818" y="3458273"/>
                  <a:ext cx="576000" cy="576000"/>
                  <a:chOff x="1115616" y="2786573"/>
                  <a:chExt cx="576000" cy="576000"/>
                </a:xfrm>
              </p:grpSpPr>
              <p:sp>
                <p:nvSpPr>
                  <p:cNvPr id="28722" name="椭圆 54"/>
                  <p:cNvSpPr>
                    <a:spLocks noChangeAspect="1"/>
                  </p:cNvSpPr>
                  <p:nvPr/>
                </p:nvSpPr>
                <p:spPr bwMode="auto">
                  <a:xfrm>
                    <a:off x="1115616" y="2786573"/>
                    <a:ext cx="576000" cy="576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9050" algn="ctr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  <p:sp>
                <p:nvSpPr>
                  <p:cNvPr id="56" name="椭圆 55"/>
                  <p:cNvSpPr>
                    <a:spLocks noChangeAspect="1"/>
                  </p:cNvSpPr>
                  <p:nvPr/>
                </p:nvSpPr>
                <p:spPr bwMode="auto">
                  <a:xfrm>
                    <a:off x="1367522" y="3037925"/>
                    <a:ext cx="71432" cy="73061"/>
                  </a:xfrm>
                  <a:prstGeom prst="ellipse">
                    <a:avLst/>
                  </a:prstGeom>
                  <a:solidFill>
                    <a:schemeClr val="bg1">
                      <a:lumMod val="2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/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  <a:defRPr/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28719" name="组合 51"/>
                <p:cNvGrpSpPr>
                  <a:grpSpLocks/>
                </p:cNvGrpSpPr>
                <p:nvPr/>
              </p:nvGrpSpPr>
              <p:grpSpPr bwMode="auto">
                <a:xfrm>
                  <a:off x="1018531" y="3511957"/>
                  <a:ext cx="144000" cy="144000"/>
                  <a:chOff x="1018531" y="3514113"/>
                  <a:chExt cx="180000" cy="180000"/>
                </a:xfrm>
              </p:grpSpPr>
              <p:cxnSp>
                <p:nvCxnSpPr>
                  <p:cNvPr id="28720" name="直接连接符 52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018531" y="3604113"/>
                    <a:ext cx="180000" cy="0"/>
                  </a:xfrm>
                  <a:prstGeom prst="line">
                    <a:avLst/>
                  </a:prstGeom>
                  <a:noFill/>
                  <a:ln w="44450" algn="ctr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28721" name="直接连接符 53"/>
                  <p:cNvCxnSpPr>
                    <a:cxnSpLocks noChangeShapeType="1"/>
                  </p:cNvCxnSpPr>
                  <p:nvPr/>
                </p:nvCxnSpPr>
                <p:spPr bwMode="auto">
                  <a:xfrm rot="-5400000">
                    <a:off x="1018531" y="3604113"/>
                    <a:ext cx="180000" cy="0"/>
                  </a:xfrm>
                  <a:prstGeom prst="line">
                    <a:avLst/>
                  </a:prstGeom>
                  <a:noFill/>
                  <a:ln w="44450" algn="ctr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</p:cxnSp>
            </p:grpSp>
          </p:grpSp>
          <p:grpSp>
            <p:nvGrpSpPr>
              <p:cNvPr id="28709" name="组合 41"/>
              <p:cNvGrpSpPr>
                <a:grpSpLocks/>
              </p:cNvGrpSpPr>
              <p:nvPr/>
            </p:nvGrpSpPr>
            <p:grpSpPr bwMode="auto">
              <a:xfrm>
                <a:off x="4709224" y="4255124"/>
                <a:ext cx="576000" cy="576000"/>
                <a:chOff x="799818" y="3458273"/>
                <a:chExt cx="576000" cy="576000"/>
              </a:xfrm>
            </p:grpSpPr>
            <p:grpSp>
              <p:nvGrpSpPr>
                <p:cNvPr id="28712" name="组 6"/>
                <p:cNvGrpSpPr>
                  <a:grpSpLocks/>
                </p:cNvGrpSpPr>
                <p:nvPr/>
              </p:nvGrpSpPr>
              <p:grpSpPr bwMode="auto">
                <a:xfrm>
                  <a:off x="799818" y="3458273"/>
                  <a:ext cx="576000" cy="576000"/>
                  <a:chOff x="1115616" y="2786573"/>
                  <a:chExt cx="576000" cy="576000"/>
                </a:xfrm>
              </p:grpSpPr>
              <p:sp>
                <p:nvSpPr>
                  <p:cNvPr id="28716" name="椭圆 48"/>
                  <p:cNvSpPr>
                    <a:spLocks noChangeAspect="1"/>
                  </p:cNvSpPr>
                  <p:nvPr/>
                </p:nvSpPr>
                <p:spPr bwMode="auto">
                  <a:xfrm>
                    <a:off x="1115616" y="2786573"/>
                    <a:ext cx="576000" cy="576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9050" algn="ctr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  <p:sp>
                <p:nvSpPr>
                  <p:cNvPr id="50" name="椭圆 49"/>
                  <p:cNvSpPr>
                    <a:spLocks noChangeAspect="1"/>
                  </p:cNvSpPr>
                  <p:nvPr/>
                </p:nvSpPr>
                <p:spPr bwMode="auto">
                  <a:xfrm>
                    <a:off x="1368021" y="3037979"/>
                    <a:ext cx="71431" cy="73061"/>
                  </a:xfrm>
                  <a:prstGeom prst="ellipse">
                    <a:avLst/>
                  </a:prstGeom>
                  <a:solidFill>
                    <a:schemeClr val="bg1">
                      <a:lumMod val="2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/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  <a:defRPr/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28713" name="组合 45"/>
                <p:cNvGrpSpPr>
                  <a:grpSpLocks/>
                </p:cNvGrpSpPr>
                <p:nvPr/>
              </p:nvGrpSpPr>
              <p:grpSpPr bwMode="auto">
                <a:xfrm>
                  <a:off x="1018531" y="3503331"/>
                  <a:ext cx="144000" cy="144000"/>
                  <a:chOff x="1018531" y="3503331"/>
                  <a:chExt cx="180000" cy="180000"/>
                </a:xfrm>
              </p:grpSpPr>
              <p:cxnSp>
                <p:nvCxnSpPr>
                  <p:cNvPr id="28714" name="直接连接符 46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018531" y="3593331"/>
                    <a:ext cx="180000" cy="0"/>
                  </a:xfrm>
                  <a:prstGeom prst="line">
                    <a:avLst/>
                  </a:prstGeom>
                  <a:noFill/>
                  <a:ln w="44450" algn="ctr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28715" name="直接连接符 47"/>
                  <p:cNvCxnSpPr>
                    <a:cxnSpLocks noChangeShapeType="1"/>
                  </p:cNvCxnSpPr>
                  <p:nvPr/>
                </p:nvCxnSpPr>
                <p:spPr bwMode="auto">
                  <a:xfrm rot="-5400000">
                    <a:off x="1018531" y="3593331"/>
                    <a:ext cx="180000" cy="0"/>
                  </a:xfrm>
                  <a:prstGeom prst="line">
                    <a:avLst/>
                  </a:prstGeom>
                  <a:noFill/>
                  <a:ln w="44450" algn="ctr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</p:cxnSp>
            </p:grpSp>
          </p:grpSp>
          <p:sp>
            <p:nvSpPr>
              <p:cNvPr id="28710" name="Rectangle 5"/>
              <p:cNvSpPr>
                <a:spLocks noChangeArrowheads="1"/>
              </p:cNvSpPr>
              <p:nvPr/>
            </p:nvSpPr>
            <p:spPr bwMode="auto">
              <a:xfrm>
                <a:off x="4345733" y="4109459"/>
                <a:ext cx="390491" cy="6623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  <a:buFont typeface="Monotype Sorts" pitchFamily="2" charset="2"/>
                  <a:buNone/>
                </a:pPr>
                <a:r>
                  <a:rPr lang="en-US" altLang="zh-CN" sz="2800" b="1" i="1">
                    <a:ea typeface="楷体_GB2312" pitchFamily="49" charset="-122"/>
                  </a:rPr>
                  <a:t>+</a:t>
                </a:r>
                <a:endParaRPr lang="zh-CN" altLang="en-US" sz="2800" b="1">
                  <a:ea typeface="楷体_GB2312" pitchFamily="49" charset="-122"/>
                </a:endParaRPr>
              </a:p>
            </p:txBody>
          </p:sp>
          <p:sp>
            <p:nvSpPr>
              <p:cNvPr id="28711" name="右箭头 43"/>
              <p:cNvSpPr>
                <a:spLocks noChangeArrowheads="1"/>
              </p:cNvSpPr>
              <p:nvPr/>
            </p:nvSpPr>
            <p:spPr bwMode="auto">
              <a:xfrm>
                <a:off x="5372714" y="4372181"/>
                <a:ext cx="360040" cy="280955"/>
              </a:xfrm>
              <a:prstGeom prst="rightArrow">
                <a:avLst>
                  <a:gd name="adj1" fmla="val 50000"/>
                  <a:gd name="adj2" fmla="val 50002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spcBef>
                    <a:spcPct val="50000"/>
                  </a:spcBef>
                </a:pPr>
                <a:endParaRPr kumimoji="1" lang="zh-CN" altLang="en-US" sz="1600">
                  <a:ea typeface="楷体_GB2312" pitchFamily="49" charset="-122"/>
                </a:endParaRPr>
              </a:p>
            </p:txBody>
          </p:sp>
        </p:grpSp>
        <p:grpSp>
          <p:nvGrpSpPr>
            <p:cNvPr id="28686" name="组合 56"/>
            <p:cNvGrpSpPr>
              <a:grpSpLocks/>
            </p:cNvGrpSpPr>
            <p:nvPr/>
          </p:nvGrpSpPr>
          <p:grpSpPr bwMode="auto">
            <a:xfrm>
              <a:off x="5689600" y="1001713"/>
              <a:ext cx="4878388" cy="1166812"/>
              <a:chOff x="2924442" y="2618154"/>
              <a:chExt cx="4878570" cy="1166956"/>
            </a:xfrm>
          </p:grpSpPr>
          <p:cxnSp>
            <p:nvCxnSpPr>
              <p:cNvPr id="28687" name="直线箭头连接符 18"/>
              <p:cNvCxnSpPr>
                <a:cxnSpLocks noChangeShapeType="1"/>
              </p:cNvCxnSpPr>
              <p:nvPr/>
            </p:nvCxnSpPr>
            <p:spPr bwMode="auto">
              <a:xfrm flipV="1">
                <a:off x="2924442" y="2989093"/>
                <a:ext cx="720080" cy="796017"/>
              </a:xfrm>
              <a:prstGeom prst="straightConnector1">
                <a:avLst/>
              </a:prstGeom>
              <a:noFill/>
              <a:ln w="76200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pic>
            <p:nvPicPr>
              <p:cNvPr id="28688" name="图片 58"/>
              <p:cNvPicPr>
                <a:picLocks noChangeAspect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5892010" y="2618154"/>
                <a:ext cx="1911002" cy="8089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3" name="直接连接符 59"/>
              <p:cNvCxnSpPr>
                <a:cxnSpLocks noChangeShapeType="1"/>
              </p:cNvCxnSpPr>
              <p:nvPr/>
            </p:nvCxnSpPr>
            <p:spPr bwMode="auto">
              <a:xfrm>
                <a:off x="2943493" y="3278636"/>
                <a:ext cx="180982" cy="0"/>
              </a:xfrm>
              <a:prstGeom prst="line">
                <a:avLst/>
              </a:prstGeom>
              <a:ln>
                <a:solidFill>
                  <a:srgbClr val="FF0000"/>
                </a:solidFill>
                <a:headEnd/>
                <a:tailEnd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28690" name="组合 60"/>
              <p:cNvGrpSpPr>
                <a:grpSpLocks/>
              </p:cNvGrpSpPr>
              <p:nvPr/>
            </p:nvGrpSpPr>
            <p:grpSpPr bwMode="auto">
              <a:xfrm>
                <a:off x="3779912" y="2713386"/>
                <a:ext cx="576000" cy="576000"/>
                <a:chOff x="799818" y="3458273"/>
                <a:chExt cx="576000" cy="576000"/>
              </a:xfrm>
            </p:grpSpPr>
            <p:grpSp>
              <p:nvGrpSpPr>
                <p:cNvPr id="28698" name="组 6"/>
                <p:cNvGrpSpPr>
                  <a:grpSpLocks/>
                </p:cNvGrpSpPr>
                <p:nvPr/>
              </p:nvGrpSpPr>
              <p:grpSpPr bwMode="auto">
                <a:xfrm>
                  <a:off x="799818" y="3458273"/>
                  <a:ext cx="576000" cy="576000"/>
                  <a:chOff x="1115616" y="2786573"/>
                  <a:chExt cx="576000" cy="576000"/>
                </a:xfrm>
              </p:grpSpPr>
              <p:sp>
                <p:nvSpPr>
                  <p:cNvPr id="28702" name="椭圆 72"/>
                  <p:cNvSpPr>
                    <a:spLocks noChangeAspect="1"/>
                  </p:cNvSpPr>
                  <p:nvPr/>
                </p:nvSpPr>
                <p:spPr bwMode="auto">
                  <a:xfrm>
                    <a:off x="1115616" y="2786573"/>
                    <a:ext cx="576000" cy="576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algn="ctr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  <p:sp>
                <p:nvSpPr>
                  <p:cNvPr id="74" name="椭圆 73"/>
                  <p:cNvSpPr>
                    <a:spLocks noChangeAspect="1"/>
                  </p:cNvSpPr>
                  <p:nvPr/>
                </p:nvSpPr>
                <p:spPr bwMode="auto">
                  <a:xfrm>
                    <a:off x="1368262" y="3039046"/>
                    <a:ext cx="71441" cy="71447"/>
                  </a:xfrm>
                  <a:prstGeom prst="ellipse">
                    <a:avLst/>
                  </a:prstGeom>
                  <a:solidFill>
                    <a:schemeClr val="bg1">
                      <a:lumMod val="2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/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  <a:defRPr/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28699" name="组合 69"/>
                <p:cNvGrpSpPr>
                  <a:grpSpLocks/>
                </p:cNvGrpSpPr>
                <p:nvPr/>
              </p:nvGrpSpPr>
              <p:grpSpPr bwMode="auto">
                <a:xfrm>
                  <a:off x="1018531" y="3503331"/>
                  <a:ext cx="144000" cy="144000"/>
                  <a:chOff x="1018531" y="3503331"/>
                  <a:chExt cx="180000" cy="180000"/>
                </a:xfrm>
              </p:grpSpPr>
              <p:cxnSp>
                <p:nvCxnSpPr>
                  <p:cNvPr id="28700" name="直接连接符 7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018531" y="3593331"/>
                    <a:ext cx="180000" cy="0"/>
                  </a:xfrm>
                  <a:prstGeom prst="line">
                    <a:avLst/>
                  </a:prstGeom>
                  <a:noFill/>
                  <a:ln w="44450" algn="ctr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28701" name="直接连接符 71"/>
                  <p:cNvCxnSpPr>
                    <a:cxnSpLocks noChangeShapeType="1"/>
                  </p:cNvCxnSpPr>
                  <p:nvPr/>
                </p:nvCxnSpPr>
                <p:spPr bwMode="auto">
                  <a:xfrm rot="-5400000">
                    <a:off x="1018531" y="3593331"/>
                    <a:ext cx="180000" cy="0"/>
                  </a:xfrm>
                  <a:prstGeom prst="line">
                    <a:avLst/>
                  </a:prstGeom>
                  <a:noFill/>
                  <a:ln w="44450" algn="ctr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</p:cxnSp>
            </p:grpSp>
          </p:grpSp>
          <p:grpSp>
            <p:nvGrpSpPr>
              <p:cNvPr id="28691" name="组合 61"/>
              <p:cNvGrpSpPr>
                <a:grpSpLocks/>
              </p:cNvGrpSpPr>
              <p:nvPr/>
            </p:nvGrpSpPr>
            <p:grpSpPr bwMode="auto">
              <a:xfrm>
                <a:off x="4715515" y="2727105"/>
                <a:ext cx="576000" cy="576000"/>
                <a:chOff x="761718" y="3458273"/>
                <a:chExt cx="576000" cy="576000"/>
              </a:xfrm>
            </p:grpSpPr>
            <p:grpSp>
              <p:nvGrpSpPr>
                <p:cNvPr id="28694" name="组 6"/>
                <p:cNvGrpSpPr>
                  <a:grpSpLocks/>
                </p:cNvGrpSpPr>
                <p:nvPr/>
              </p:nvGrpSpPr>
              <p:grpSpPr bwMode="auto">
                <a:xfrm>
                  <a:off x="761718" y="3458273"/>
                  <a:ext cx="576000" cy="576000"/>
                  <a:chOff x="1077516" y="2786573"/>
                  <a:chExt cx="576000" cy="576000"/>
                </a:xfrm>
              </p:grpSpPr>
              <p:sp>
                <p:nvSpPr>
                  <p:cNvPr id="28696" name="椭圆 66"/>
                  <p:cNvSpPr>
                    <a:spLocks noChangeAspect="1"/>
                  </p:cNvSpPr>
                  <p:nvPr/>
                </p:nvSpPr>
                <p:spPr bwMode="auto">
                  <a:xfrm>
                    <a:off x="1077516" y="2786573"/>
                    <a:ext cx="576000" cy="576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algn="ctr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  <p:sp>
                <p:nvSpPr>
                  <p:cNvPr id="68" name="椭圆 67"/>
                  <p:cNvSpPr>
                    <a:spLocks noChangeAspect="1"/>
                  </p:cNvSpPr>
                  <p:nvPr/>
                </p:nvSpPr>
                <p:spPr bwMode="auto">
                  <a:xfrm>
                    <a:off x="1329632" y="3038028"/>
                    <a:ext cx="71440" cy="73034"/>
                  </a:xfrm>
                  <a:prstGeom prst="ellipse">
                    <a:avLst/>
                  </a:prstGeom>
                  <a:solidFill>
                    <a:schemeClr val="bg1">
                      <a:lumMod val="2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/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  <a:defRPr/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</p:grpSp>
            <p:cxnSp>
              <p:nvCxnSpPr>
                <p:cNvPr id="28695" name="直接连接符 65"/>
                <p:cNvCxnSpPr>
                  <a:cxnSpLocks noChangeShapeType="1"/>
                </p:cNvCxnSpPr>
                <p:nvPr/>
              </p:nvCxnSpPr>
              <p:spPr bwMode="auto">
                <a:xfrm>
                  <a:off x="980431" y="3599360"/>
                  <a:ext cx="144000" cy="0"/>
                </a:xfrm>
                <a:prstGeom prst="line">
                  <a:avLst/>
                </a:prstGeom>
                <a:noFill/>
                <a:ln w="44450" algn="ctr">
                  <a:solidFill>
                    <a:schemeClr val="bg2"/>
                  </a:solidFill>
                  <a:round/>
                  <a:headEnd/>
                  <a:tailEnd/>
                </a:ln>
              </p:spPr>
            </p:cxnSp>
          </p:grpSp>
          <p:sp>
            <p:nvSpPr>
              <p:cNvPr id="28692" name="Rectangle 5"/>
              <p:cNvSpPr>
                <a:spLocks noChangeArrowheads="1"/>
              </p:cNvSpPr>
              <p:nvPr/>
            </p:nvSpPr>
            <p:spPr bwMode="auto">
              <a:xfrm>
                <a:off x="4346895" y="2618154"/>
                <a:ext cx="388953" cy="6604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  <a:buFont typeface="Monotype Sorts" pitchFamily="2" charset="2"/>
                  <a:buNone/>
                </a:pPr>
                <a:r>
                  <a:rPr lang="en-US" altLang="zh-CN" sz="2800" b="1" i="1">
                    <a:ea typeface="楷体_GB2312" pitchFamily="49" charset="-122"/>
                  </a:rPr>
                  <a:t>+</a:t>
                </a:r>
                <a:endParaRPr lang="zh-CN" altLang="en-US" sz="2800" b="1">
                  <a:ea typeface="楷体_GB2312" pitchFamily="49" charset="-122"/>
                </a:endParaRPr>
              </a:p>
            </p:txBody>
          </p:sp>
          <p:sp>
            <p:nvSpPr>
              <p:cNvPr id="28693" name="右箭头 63"/>
              <p:cNvSpPr>
                <a:spLocks noChangeArrowheads="1"/>
              </p:cNvSpPr>
              <p:nvPr/>
            </p:nvSpPr>
            <p:spPr bwMode="auto">
              <a:xfrm>
                <a:off x="5372714" y="2896908"/>
                <a:ext cx="360040" cy="280955"/>
              </a:xfrm>
              <a:prstGeom prst="rightArrow">
                <a:avLst>
                  <a:gd name="adj1" fmla="val 50000"/>
                  <a:gd name="adj2" fmla="val 50002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spcBef>
                    <a:spcPct val="50000"/>
                  </a:spcBef>
                </a:pPr>
                <a:endParaRPr kumimoji="1" lang="zh-CN" altLang="en-US" sz="1600">
                  <a:ea typeface="楷体_GB2312" pitchFamily="49" charset="-122"/>
                </a:endParaRPr>
              </a:p>
            </p:txBody>
          </p:sp>
        </p:grpSp>
      </p:grpSp>
      <p:sp>
        <p:nvSpPr>
          <p:cNvPr id="75" name="Text Box 47"/>
          <p:cNvSpPr txBox="1">
            <a:spLocks noChangeArrowheads="1"/>
          </p:cNvSpPr>
          <p:nvPr/>
        </p:nvSpPr>
        <p:spPr bwMode="auto">
          <a:xfrm>
            <a:off x="1331913" y="4168775"/>
            <a:ext cx="5297487" cy="1125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2500" b="1">
                <a:ea typeface="楷体_GB2312" pitchFamily="49" charset="-122"/>
              </a:rPr>
              <a:t>成键轨道</a:t>
            </a:r>
            <a:r>
              <a:rPr lang="zh-CN" altLang="en-US" sz="2500" b="1" i="1">
                <a:solidFill>
                  <a:srgbClr val="FF0000"/>
                </a:solidFill>
                <a:ea typeface="楷体_GB2312" pitchFamily="49" charset="-122"/>
              </a:rPr>
              <a:t>𝛔</a:t>
            </a:r>
            <a:r>
              <a:rPr lang="en-US" altLang="zh-CN" sz="2500" b="1" i="1" baseline="-25000">
                <a:solidFill>
                  <a:srgbClr val="FF0000"/>
                </a:solidFill>
                <a:ea typeface="楷体_GB2312" pitchFamily="49" charset="-122"/>
              </a:rPr>
              <a:t>n</a:t>
            </a:r>
            <a:r>
              <a:rPr lang="en-US" altLang="zh-CN" sz="2500" b="1" baseline="-25000">
                <a:solidFill>
                  <a:srgbClr val="FF0000"/>
                </a:solidFill>
                <a:ea typeface="楷体_GB2312" pitchFamily="49" charset="-122"/>
              </a:rPr>
              <a:t>s</a:t>
            </a:r>
            <a:r>
              <a:rPr kumimoji="1" lang="zh-CN" altLang="en-US" sz="2500" b="1">
                <a:ea typeface="楷体_GB2312" pitchFamily="49" charset="-122"/>
              </a:rPr>
              <a:t>能量</a:t>
            </a:r>
            <a:r>
              <a:rPr kumimoji="1" lang="zh-CN" altLang="en-US" sz="2500" b="1">
                <a:solidFill>
                  <a:srgbClr val="FF0000"/>
                </a:solidFill>
                <a:ea typeface="楷体_GB2312" pitchFamily="49" charset="-122"/>
              </a:rPr>
              <a:t>下降</a:t>
            </a:r>
            <a:r>
              <a:rPr kumimoji="1" lang="zh-CN" altLang="en-US" sz="2500" b="1">
                <a:ea typeface="楷体_GB2312" pitchFamily="49" charset="-122"/>
              </a:rPr>
              <a:t>，利于成键；</a:t>
            </a:r>
            <a:endParaRPr kumimoji="1" lang="en-US" altLang="zh-CN" sz="2500" b="1">
              <a:ea typeface="楷体_GB2312" pitchFamily="49" charset="-122"/>
            </a:endParaRPr>
          </a:p>
          <a:p>
            <a:pPr>
              <a:lnSpc>
                <a:spcPct val="140000"/>
              </a:lnSpc>
            </a:pPr>
            <a:r>
              <a:rPr kumimoji="1" lang="zh-CN" altLang="en-US" sz="2500" b="1">
                <a:ea typeface="楷体_GB2312" pitchFamily="49" charset="-122"/>
              </a:rPr>
              <a:t>反键轨道</a:t>
            </a:r>
            <a:r>
              <a:rPr kumimoji="1" lang="zh-CN" altLang="en-US" sz="2500" b="1">
                <a:solidFill>
                  <a:srgbClr val="FF0000"/>
                </a:solidFill>
                <a:ea typeface="楷体_GB2312" pitchFamily="49" charset="-122"/>
              </a:rPr>
              <a:t>𝛔</a:t>
            </a:r>
            <a:r>
              <a:rPr kumimoji="1" lang="en-US" altLang="zh-CN" sz="2500" b="1" i="1" baseline="-25000">
                <a:solidFill>
                  <a:srgbClr val="FF0000"/>
                </a:solidFill>
                <a:ea typeface="楷体_GB2312" pitchFamily="49" charset="-122"/>
              </a:rPr>
              <a:t>ns</a:t>
            </a:r>
            <a:r>
              <a:rPr kumimoji="1" lang="en-US" altLang="zh-CN" sz="2500" b="1">
                <a:solidFill>
                  <a:srgbClr val="FF0000"/>
                </a:solidFill>
                <a:ea typeface="楷体_GB2312" pitchFamily="49" charset="-122"/>
              </a:rPr>
              <a:t>*</a:t>
            </a:r>
            <a:r>
              <a:rPr kumimoji="1" lang="zh-CN" altLang="en-US" sz="2500" b="1">
                <a:ea typeface="楷体_GB2312" pitchFamily="49" charset="-122"/>
              </a:rPr>
              <a:t>能量</a:t>
            </a:r>
            <a:r>
              <a:rPr kumimoji="1" lang="zh-CN" altLang="en-US" sz="2500" b="1">
                <a:solidFill>
                  <a:srgbClr val="FF0000"/>
                </a:solidFill>
                <a:ea typeface="楷体_GB2312" pitchFamily="49" charset="-122"/>
              </a:rPr>
              <a:t>上升</a:t>
            </a:r>
            <a:r>
              <a:rPr kumimoji="1" lang="zh-CN" altLang="en-US" sz="2500" b="1">
                <a:ea typeface="楷体_GB2312" pitchFamily="49" charset="-122"/>
              </a:rPr>
              <a:t>，不利成键</a:t>
            </a:r>
            <a:r>
              <a:rPr kumimoji="1" lang="en-US" altLang="zh-CN" sz="2500" b="1">
                <a:ea typeface="楷体_GB2312" pitchFamily="49" charset="-122"/>
              </a:rPr>
              <a:t>.</a:t>
            </a:r>
            <a:endParaRPr kumimoji="1" lang="zh-CN" altLang="en-US" sz="2500" b="1">
              <a:ea typeface="楷体_GB2312" pitchFamily="49" charset="-122"/>
            </a:endParaRPr>
          </a:p>
        </p:txBody>
      </p:sp>
      <p:sp>
        <p:nvSpPr>
          <p:cNvPr id="28681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335756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8.1.3</a:t>
            </a:r>
            <a:r>
              <a:rPr kumimoji="1"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分子轨道理论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1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10" grpId="0" build="p"/>
      <p:bldP spid="24" grpId="0"/>
      <p:bldP spid="7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699" name="Oval 6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58" name="Text Box 47"/>
          <p:cNvSpPr txBox="1">
            <a:spLocks noChangeArrowheads="1"/>
          </p:cNvSpPr>
          <p:nvPr/>
        </p:nvSpPr>
        <p:spPr bwMode="auto">
          <a:xfrm>
            <a:off x="968375" y="817563"/>
            <a:ext cx="33813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400" b="1">
                <a:ea typeface="楷体_GB2312" pitchFamily="49" charset="-122"/>
              </a:rPr>
              <a:t>  2) p-p</a:t>
            </a:r>
            <a:r>
              <a:rPr kumimoji="1" lang="zh-CN" altLang="en-US" sz="2400" b="1">
                <a:ea typeface="楷体_GB2312" pitchFamily="49" charset="-122"/>
              </a:rPr>
              <a:t>原子轨道的组合</a:t>
            </a:r>
          </a:p>
        </p:txBody>
      </p:sp>
      <p:sp>
        <p:nvSpPr>
          <p:cNvPr id="78" name="Rectangle 5"/>
          <p:cNvSpPr>
            <a:spLocks noChangeArrowheads="1"/>
          </p:cNvSpPr>
          <p:nvPr/>
        </p:nvSpPr>
        <p:spPr bwMode="auto">
          <a:xfrm>
            <a:off x="1128713" y="1238250"/>
            <a:ext cx="2659062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Monotype Sorts" pitchFamily="2" charset="2"/>
              <a:buNone/>
            </a:pPr>
            <a:r>
              <a:rPr lang="zh-CN" altLang="en-US" sz="24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①</a:t>
            </a:r>
            <a:r>
              <a:rPr lang="zh-CN" altLang="en-US" sz="2400" b="1">
                <a:latin typeface="黑体" pitchFamily="49" charset="-122"/>
                <a:ea typeface="楷体_GB2312" pitchFamily="49" charset="-122"/>
              </a:rPr>
              <a:t>“头碰头”方式</a:t>
            </a:r>
            <a:endParaRPr lang="zh-CN" altLang="en-US" sz="2400" b="1" i="1" baseline="-25000">
              <a:latin typeface="黑体" pitchFamily="49" charset="-122"/>
              <a:ea typeface="楷体_GB2312" pitchFamily="49" charset="-122"/>
            </a:endParaRPr>
          </a:p>
        </p:txBody>
      </p:sp>
      <p:sp>
        <p:nvSpPr>
          <p:cNvPr id="79" name="Rectangle 5"/>
          <p:cNvSpPr>
            <a:spLocks noChangeArrowheads="1"/>
          </p:cNvSpPr>
          <p:nvPr/>
        </p:nvSpPr>
        <p:spPr bwMode="auto">
          <a:xfrm>
            <a:off x="1117600" y="3216275"/>
            <a:ext cx="265906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Monotype Sorts" pitchFamily="2" charset="2"/>
              <a:buNone/>
            </a:pPr>
            <a:r>
              <a:rPr lang="zh-CN" altLang="en-US" sz="24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②</a:t>
            </a:r>
            <a:r>
              <a:rPr lang="zh-CN" altLang="en-US" sz="2400" b="1">
                <a:latin typeface="黑体" pitchFamily="49" charset="-122"/>
                <a:ea typeface="楷体_GB2312" pitchFamily="49" charset="-122"/>
              </a:rPr>
              <a:t>“肩并肩”方式</a:t>
            </a:r>
            <a:endParaRPr lang="zh-CN" altLang="en-US" sz="2400" b="1" i="1" baseline="-25000">
              <a:latin typeface="黑体" pitchFamily="49" charset="-122"/>
              <a:ea typeface="楷体_GB2312" pitchFamily="49" charset="-122"/>
            </a:endParaRP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969963" y="1481138"/>
            <a:ext cx="7562850" cy="1600200"/>
            <a:chOff x="3454400" y="981075"/>
            <a:chExt cx="7563503" cy="1600200"/>
          </a:xfrm>
        </p:grpSpPr>
        <p:grpSp>
          <p:nvGrpSpPr>
            <p:cNvPr id="29776" name="组合 80"/>
            <p:cNvGrpSpPr>
              <a:grpSpLocks noChangeAspect="1"/>
            </p:cNvGrpSpPr>
            <p:nvPr/>
          </p:nvGrpSpPr>
          <p:grpSpPr bwMode="auto">
            <a:xfrm rot="5400000">
              <a:off x="3683000" y="1497013"/>
              <a:ext cx="431800" cy="889000"/>
              <a:chOff x="1403250" y="2166602"/>
              <a:chExt cx="432000" cy="889878"/>
            </a:xfrm>
          </p:grpSpPr>
          <p:grpSp>
            <p:nvGrpSpPr>
              <p:cNvPr id="29836" name="组 4"/>
              <p:cNvGrpSpPr>
                <a:grpSpLocks/>
              </p:cNvGrpSpPr>
              <p:nvPr/>
            </p:nvGrpSpPr>
            <p:grpSpPr bwMode="auto">
              <a:xfrm>
                <a:off x="1403250" y="2166602"/>
                <a:ext cx="432000" cy="889878"/>
                <a:chOff x="1726127" y="3943891"/>
                <a:chExt cx="432000" cy="889878"/>
              </a:xfrm>
            </p:grpSpPr>
            <p:sp>
              <p:nvSpPr>
                <p:cNvPr id="142" name="椭圆 141"/>
                <p:cNvSpPr>
                  <a:spLocks noChangeAspect="1"/>
                </p:cNvSpPr>
                <p:nvPr/>
              </p:nvSpPr>
              <p:spPr bwMode="auto">
                <a:xfrm>
                  <a:off x="1726126" y="3943814"/>
                  <a:ext cx="432000" cy="432264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  <a:defRPr/>
                  </a:pPr>
                  <a:endParaRPr kumimoji="1" lang="zh-CN" altLang="en-US" sz="1600">
                    <a:ea typeface="楷体_GB2312" pitchFamily="49" charset="-122"/>
                  </a:endParaRPr>
                </a:p>
              </p:txBody>
            </p:sp>
            <p:sp>
              <p:nvSpPr>
                <p:cNvPr id="29839" name="椭圆 142"/>
                <p:cNvSpPr>
                  <a:spLocks noChangeAspect="1"/>
                </p:cNvSpPr>
                <p:nvPr/>
              </p:nvSpPr>
              <p:spPr bwMode="auto">
                <a:xfrm>
                  <a:off x="1726127" y="4401769"/>
                  <a:ext cx="432000" cy="432000"/>
                </a:xfrm>
                <a:prstGeom prst="ellipse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</a:pPr>
                  <a:endParaRPr kumimoji="1" lang="zh-CN" altLang="en-US" sz="1600">
                    <a:ea typeface="楷体_GB2312" pitchFamily="49" charset="-122"/>
                  </a:endParaRPr>
                </a:p>
              </p:txBody>
            </p:sp>
          </p:grpSp>
          <p:sp>
            <p:nvSpPr>
              <p:cNvPr id="29837" name="椭圆 140"/>
              <p:cNvSpPr>
                <a:spLocks noChangeAspect="1"/>
              </p:cNvSpPr>
              <p:nvPr/>
            </p:nvSpPr>
            <p:spPr bwMode="auto">
              <a:xfrm>
                <a:off x="1583250" y="2575541"/>
                <a:ext cx="72000" cy="72000"/>
              </a:xfrm>
              <a:prstGeom prst="ellipse">
                <a:avLst/>
              </a:prstGeom>
              <a:solidFill>
                <a:schemeClr val="bg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spcBef>
                    <a:spcPct val="50000"/>
                  </a:spcBef>
                </a:pPr>
                <a:endParaRPr kumimoji="1" lang="zh-CN" altLang="en-US" sz="1600">
                  <a:ea typeface="楷体_GB2312" pitchFamily="49" charset="-122"/>
                </a:endParaRPr>
              </a:p>
            </p:txBody>
          </p:sp>
        </p:grpSp>
        <p:grpSp>
          <p:nvGrpSpPr>
            <p:cNvPr id="29777" name="组合 81"/>
            <p:cNvGrpSpPr>
              <a:grpSpLocks/>
            </p:cNvGrpSpPr>
            <p:nvPr/>
          </p:nvGrpSpPr>
          <p:grpSpPr bwMode="auto">
            <a:xfrm rot="-5400000">
              <a:off x="5017294" y="1496219"/>
              <a:ext cx="431800" cy="890588"/>
              <a:chOff x="1403250" y="2166602"/>
              <a:chExt cx="432000" cy="889878"/>
            </a:xfrm>
          </p:grpSpPr>
          <p:grpSp>
            <p:nvGrpSpPr>
              <p:cNvPr id="29832" name="组 4"/>
              <p:cNvGrpSpPr>
                <a:grpSpLocks/>
              </p:cNvGrpSpPr>
              <p:nvPr/>
            </p:nvGrpSpPr>
            <p:grpSpPr bwMode="auto">
              <a:xfrm>
                <a:off x="1403250" y="2166602"/>
                <a:ext cx="432000" cy="889878"/>
                <a:chOff x="1726127" y="3943891"/>
                <a:chExt cx="432000" cy="889878"/>
              </a:xfrm>
            </p:grpSpPr>
            <p:sp>
              <p:nvSpPr>
                <p:cNvPr id="138" name="椭圆 137"/>
                <p:cNvSpPr>
                  <a:spLocks noChangeAspect="1"/>
                </p:cNvSpPr>
                <p:nvPr/>
              </p:nvSpPr>
              <p:spPr bwMode="auto">
                <a:xfrm>
                  <a:off x="1726128" y="3944006"/>
                  <a:ext cx="432000" cy="431493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  <a:defRPr/>
                  </a:pPr>
                  <a:endParaRPr kumimoji="1" lang="zh-CN" altLang="en-US" sz="1600">
                    <a:ea typeface="楷体_GB2312" pitchFamily="49" charset="-122"/>
                  </a:endParaRPr>
                </a:p>
              </p:txBody>
            </p:sp>
            <p:sp>
              <p:nvSpPr>
                <p:cNvPr id="29835" name="椭圆 138"/>
                <p:cNvSpPr>
                  <a:spLocks noChangeAspect="1"/>
                </p:cNvSpPr>
                <p:nvPr/>
              </p:nvSpPr>
              <p:spPr bwMode="auto">
                <a:xfrm>
                  <a:off x="1726127" y="4401769"/>
                  <a:ext cx="432000" cy="432000"/>
                </a:xfrm>
                <a:prstGeom prst="ellipse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</a:pPr>
                  <a:endParaRPr kumimoji="1" lang="zh-CN" altLang="en-US" sz="1600">
                    <a:ea typeface="楷体_GB2312" pitchFamily="49" charset="-122"/>
                  </a:endParaRPr>
                </a:p>
              </p:txBody>
            </p:sp>
          </p:grpSp>
          <p:sp>
            <p:nvSpPr>
              <p:cNvPr id="29833" name="椭圆 136"/>
              <p:cNvSpPr>
                <a:spLocks noChangeAspect="1"/>
              </p:cNvSpPr>
              <p:nvPr/>
            </p:nvSpPr>
            <p:spPr bwMode="auto">
              <a:xfrm>
                <a:off x="1583250" y="2575541"/>
                <a:ext cx="72000" cy="72000"/>
              </a:xfrm>
              <a:prstGeom prst="ellipse">
                <a:avLst/>
              </a:prstGeom>
              <a:solidFill>
                <a:schemeClr val="bg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spcBef>
                    <a:spcPct val="50000"/>
                  </a:spcBef>
                </a:pPr>
                <a:endParaRPr kumimoji="1" lang="zh-CN" altLang="en-US" sz="1600">
                  <a:ea typeface="楷体_GB2312" pitchFamily="49" charset="-122"/>
                </a:endParaRPr>
              </a:p>
            </p:txBody>
          </p:sp>
        </p:grpSp>
        <p:sp>
          <p:nvSpPr>
            <p:cNvPr id="29778" name="Rectangle 5"/>
            <p:cNvSpPr>
              <a:spLocks noChangeArrowheads="1"/>
            </p:cNvSpPr>
            <p:nvPr/>
          </p:nvSpPr>
          <p:spPr bwMode="auto">
            <a:xfrm>
              <a:off x="4294188" y="1528763"/>
              <a:ext cx="493712" cy="576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r>
                <a:rPr lang="en-US" altLang="zh-CN" sz="2400" b="1">
                  <a:solidFill>
                    <a:srgbClr val="FF0000"/>
                  </a:solidFill>
                  <a:ea typeface="楷体_GB2312" pitchFamily="49" charset="-122"/>
                </a:rPr>
                <a:t>±</a:t>
              </a:r>
              <a:endParaRPr lang="zh-CN" altLang="en-US" sz="2400" b="1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  <p:cxnSp>
          <p:nvCxnSpPr>
            <p:cNvPr id="29779" name="直线箭头连接符 15"/>
            <p:cNvCxnSpPr>
              <a:cxnSpLocks noChangeShapeType="1"/>
            </p:cNvCxnSpPr>
            <p:nvPr/>
          </p:nvCxnSpPr>
          <p:spPr bwMode="auto">
            <a:xfrm>
              <a:off x="5986463" y="1931988"/>
              <a:ext cx="433387" cy="371475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9780" name="直线连接符 13"/>
            <p:cNvCxnSpPr>
              <a:cxnSpLocks noChangeShapeType="1"/>
            </p:cNvCxnSpPr>
            <p:nvPr/>
          </p:nvCxnSpPr>
          <p:spPr bwMode="auto">
            <a:xfrm>
              <a:off x="5803900" y="1936750"/>
              <a:ext cx="180975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9781" name="直线箭头连接符 15"/>
            <p:cNvCxnSpPr>
              <a:cxnSpLocks noChangeShapeType="1"/>
            </p:cNvCxnSpPr>
            <p:nvPr/>
          </p:nvCxnSpPr>
          <p:spPr bwMode="auto">
            <a:xfrm flipV="1">
              <a:off x="5986463" y="1563688"/>
              <a:ext cx="409575" cy="376237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grpSp>
          <p:nvGrpSpPr>
            <p:cNvPr id="29782" name="组合 1"/>
            <p:cNvGrpSpPr>
              <a:grpSpLocks/>
            </p:cNvGrpSpPr>
            <p:nvPr/>
          </p:nvGrpSpPr>
          <p:grpSpPr bwMode="auto">
            <a:xfrm>
              <a:off x="6521450" y="1214438"/>
              <a:ext cx="1631950" cy="1296987"/>
              <a:chOff x="6676673" y="1214438"/>
              <a:chExt cx="1631693" cy="1296987"/>
            </a:xfrm>
          </p:grpSpPr>
          <p:grpSp>
            <p:nvGrpSpPr>
              <p:cNvPr id="29793" name="组合 86"/>
              <p:cNvGrpSpPr>
                <a:grpSpLocks noChangeAspect="1"/>
              </p:cNvGrpSpPr>
              <p:nvPr/>
            </p:nvGrpSpPr>
            <p:grpSpPr bwMode="auto">
              <a:xfrm rot="5400000">
                <a:off x="7802897" y="1227114"/>
                <a:ext cx="324194" cy="667341"/>
                <a:chOff x="1403250" y="2166602"/>
                <a:chExt cx="432000" cy="889878"/>
              </a:xfrm>
            </p:grpSpPr>
            <p:grpSp>
              <p:nvGrpSpPr>
                <p:cNvPr id="29828" name="组 4"/>
                <p:cNvGrpSpPr>
                  <a:grpSpLocks/>
                </p:cNvGrpSpPr>
                <p:nvPr/>
              </p:nvGrpSpPr>
              <p:grpSpPr bwMode="auto">
                <a:xfrm>
                  <a:off x="1403250" y="2166602"/>
                  <a:ext cx="432000" cy="889878"/>
                  <a:chOff x="1726127" y="3943891"/>
                  <a:chExt cx="432000" cy="889878"/>
                </a:xfrm>
              </p:grpSpPr>
              <p:sp>
                <p:nvSpPr>
                  <p:cNvPr id="134" name="椭圆 133"/>
                  <p:cNvSpPr>
                    <a:spLocks noChangeAspect="1"/>
                  </p:cNvSpPr>
                  <p:nvPr/>
                </p:nvSpPr>
                <p:spPr bwMode="auto">
                  <a:xfrm>
                    <a:off x="1725994" y="3919830"/>
                    <a:ext cx="431542" cy="431813"/>
                  </a:xfrm>
                  <a:prstGeom prst="ellipse">
                    <a:avLst/>
                  </a:prstGeom>
                  <a:solidFill>
                    <a:schemeClr val="bg1">
                      <a:lumMod val="2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/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  <a:defRPr/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  <p:sp>
                <p:nvSpPr>
                  <p:cNvPr id="29831" name="椭圆 134"/>
                  <p:cNvSpPr>
                    <a:spLocks noChangeAspect="1"/>
                  </p:cNvSpPr>
                  <p:nvPr/>
                </p:nvSpPr>
                <p:spPr bwMode="auto">
                  <a:xfrm>
                    <a:off x="1726127" y="4401769"/>
                    <a:ext cx="432000" cy="43200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</p:grpSp>
            <p:sp>
              <p:nvSpPr>
                <p:cNvPr id="133" name="椭圆 132"/>
                <p:cNvSpPr>
                  <a:spLocks noChangeAspect="1"/>
                </p:cNvSpPr>
                <p:nvPr/>
              </p:nvSpPr>
              <p:spPr bwMode="auto">
                <a:xfrm>
                  <a:off x="1582927" y="2574355"/>
                  <a:ext cx="71924" cy="74085"/>
                </a:xfrm>
                <a:prstGeom prst="ellipse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  <a:defRPr/>
                  </a:pPr>
                  <a:endParaRPr kumimoji="1" lang="zh-CN" altLang="en-US" sz="1600"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29794" name="组合 87"/>
              <p:cNvGrpSpPr>
                <a:grpSpLocks noChangeAspect="1"/>
              </p:cNvGrpSpPr>
              <p:nvPr/>
            </p:nvGrpSpPr>
            <p:grpSpPr bwMode="auto">
              <a:xfrm rot="5400000">
                <a:off x="6857949" y="1949156"/>
                <a:ext cx="324194" cy="667341"/>
                <a:chOff x="1403250" y="2166602"/>
                <a:chExt cx="432000" cy="889878"/>
              </a:xfrm>
            </p:grpSpPr>
            <p:grpSp>
              <p:nvGrpSpPr>
                <p:cNvPr id="29824" name="组 4"/>
                <p:cNvGrpSpPr>
                  <a:grpSpLocks/>
                </p:cNvGrpSpPr>
                <p:nvPr/>
              </p:nvGrpSpPr>
              <p:grpSpPr bwMode="auto">
                <a:xfrm>
                  <a:off x="1403250" y="2166602"/>
                  <a:ext cx="432000" cy="889878"/>
                  <a:chOff x="1726127" y="3943891"/>
                  <a:chExt cx="432000" cy="889878"/>
                </a:xfrm>
              </p:grpSpPr>
              <p:sp>
                <p:nvSpPr>
                  <p:cNvPr id="130" name="椭圆 129"/>
                  <p:cNvSpPr>
                    <a:spLocks noChangeAspect="1"/>
                  </p:cNvSpPr>
                  <p:nvPr/>
                </p:nvSpPr>
                <p:spPr bwMode="auto">
                  <a:xfrm>
                    <a:off x="1726354" y="3925575"/>
                    <a:ext cx="431542" cy="444514"/>
                  </a:xfrm>
                  <a:prstGeom prst="ellipse">
                    <a:avLst/>
                  </a:prstGeom>
                  <a:solidFill>
                    <a:schemeClr val="bg1">
                      <a:lumMod val="2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/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  <a:defRPr/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  <p:sp>
                <p:nvSpPr>
                  <p:cNvPr id="29827" name="椭圆 130"/>
                  <p:cNvSpPr>
                    <a:spLocks noChangeAspect="1"/>
                  </p:cNvSpPr>
                  <p:nvPr/>
                </p:nvSpPr>
                <p:spPr bwMode="auto">
                  <a:xfrm>
                    <a:off x="1726127" y="4401769"/>
                    <a:ext cx="432000" cy="43200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</p:grpSp>
            <p:sp>
              <p:nvSpPr>
                <p:cNvPr id="129" name="椭圆 128"/>
                <p:cNvSpPr>
                  <a:spLocks noChangeAspect="1"/>
                </p:cNvSpPr>
                <p:nvPr/>
              </p:nvSpPr>
              <p:spPr bwMode="auto">
                <a:xfrm>
                  <a:off x="1583286" y="2554699"/>
                  <a:ext cx="71924" cy="71969"/>
                </a:xfrm>
                <a:prstGeom prst="ellipse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  <a:defRPr/>
                  </a:pPr>
                  <a:endParaRPr kumimoji="1" lang="zh-CN" altLang="en-US" sz="1600"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29795" name="组合 88"/>
              <p:cNvGrpSpPr>
                <a:grpSpLocks noChangeAspect="1"/>
              </p:cNvGrpSpPr>
              <p:nvPr/>
            </p:nvGrpSpPr>
            <p:grpSpPr bwMode="auto">
              <a:xfrm rot="16200000" flipH="1">
                <a:off x="7812599" y="1941151"/>
                <a:ext cx="324194" cy="667341"/>
                <a:chOff x="1403250" y="2166602"/>
                <a:chExt cx="432000" cy="889878"/>
              </a:xfrm>
            </p:grpSpPr>
            <p:grpSp>
              <p:nvGrpSpPr>
                <p:cNvPr id="29820" name="组 4"/>
                <p:cNvGrpSpPr>
                  <a:grpSpLocks/>
                </p:cNvGrpSpPr>
                <p:nvPr/>
              </p:nvGrpSpPr>
              <p:grpSpPr bwMode="auto">
                <a:xfrm>
                  <a:off x="1403250" y="2166602"/>
                  <a:ext cx="432000" cy="889878"/>
                  <a:chOff x="1726127" y="3943891"/>
                  <a:chExt cx="432000" cy="889878"/>
                </a:xfrm>
              </p:grpSpPr>
              <p:sp>
                <p:nvSpPr>
                  <p:cNvPr id="126" name="椭圆 125"/>
                  <p:cNvSpPr>
                    <a:spLocks noChangeAspect="1"/>
                  </p:cNvSpPr>
                  <p:nvPr/>
                </p:nvSpPr>
                <p:spPr bwMode="auto">
                  <a:xfrm>
                    <a:off x="1726443" y="3955867"/>
                    <a:ext cx="431542" cy="421230"/>
                  </a:xfrm>
                  <a:prstGeom prst="ellipse">
                    <a:avLst/>
                  </a:prstGeom>
                  <a:solidFill>
                    <a:schemeClr val="bg1">
                      <a:lumMod val="2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/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  <a:defRPr/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  <p:sp>
                <p:nvSpPr>
                  <p:cNvPr id="29823" name="椭圆 126"/>
                  <p:cNvSpPr>
                    <a:spLocks noChangeAspect="1"/>
                  </p:cNvSpPr>
                  <p:nvPr/>
                </p:nvSpPr>
                <p:spPr bwMode="auto">
                  <a:xfrm>
                    <a:off x="1726127" y="4401769"/>
                    <a:ext cx="432000" cy="43200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</p:grpSp>
            <p:sp>
              <p:nvSpPr>
                <p:cNvPr id="125" name="椭圆 124"/>
                <p:cNvSpPr>
                  <a:spLocks noChangeAspect="1"/>
                </p:cNvSpPr>
                <p:nvPr/>
              </p:nvSpPr>
              <p:spPr bwMode="auto">
                <a:xfrm>
                  <a:off x="1583377" y="2576523"/>
                  <a:ext cx="71924" cy="74086"/>
                </a:xfrm>
                <a:prstGeom prst="ellipse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  <a:defRPr/>
                  </a:pPr>
                  <a:endParaRPr kumimoji="1" lang="zh-CN" altLang="en-US" sz="1600">
                    <a:ea typeface="楷体_GB2312" pitchFamily="49" charset="-122"/>
                  </a:endParaRPr>
                </a:p>
              </p:txBody>
            </p:sp>
          </p:grpSp>
          <p:sp>
            <p:nvSpPr>
              <p:cNvPr id="29796" name="Rectangle 5"/>
              <p:cNvSpPr>
                <a:spLocks noChangeArrowheads="1"/>
              </p:cNvSpPr>
              <p:nvPr/>
            </p:nvSpPr>
            <p:spPr bwMode="auto">
              <a:xfrm>
                <a:off x="7306812" y="1214438"/>
                <a:ext cx="358719" cy="5794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  <a:buFont typeface="Monotype Sorts" pitchFamily="2" charset="2"/>
                  <a:buNone/>
                </a:pPr>
                <a:r>
                  <a:rPr lang="en-US" altLang="zh-CN" sz="2400" b="1" i="1">
                    <a:ea typeface="楷体_GB2312" pitchFamily="49" charset="-122"/>
                  </a:rPr>
                  <a:t>+</a:t>
                </a:r>
                <a:endParaRPr lang="zh-CN" altLang="en-US" sz="2400" b="1">
                  <a:ea typeface="楷体_GB2312" pitchFamily="49" charset="-122"/>
                </a:endParaRPr>
              </a:p>
            </p:txBody>
          </p:sp>
          <p:sp>
            <p:nvSpPr>
              <p:cNvPr id="29797" name="Rectangle 5"/>
              <p:cNvSpPr>
                <a:spLocks noChangeArrowheads="1"/>
              </p:cNvSpPr>
              <p:nvPr/>
            </p:nvSpPr>
            <p:spPr bwMode="auto">
              <a:xfrm>
                <a:off x="7309986" y="1931988"/>
                <a:ext cx="360305" cy="5794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  <a:buFont typeface="Monotype Sorts" pitchFamily="2" charset="2"/>
                  <a:buNone/>
                </a:pPr>
                <a:r>
                  <a:rPr lang="en-US" altLang="zh-CN" sz="2400" b="1" i="1">
                    <a:ea typeface="楷体_GB2312" pitchFamily="49" charset="-122"/>
                  </a:rPr>
                  <a:t>+</a:t>
                </a:r>
                <a:endParaRPr lang="zh-CN" altLang="en-US" sz="2400" b="1">
                  <a:ea typeface="楷体_GB2312" pitchFamily="49" charset="-122"/>
                </a:endParaRPr>
              </a:p>
            </p:txBody>
          </p:sp>
          <p:cxnSp>
            <p:nvCxnSpPr>
              <p:cNvPr id="92" name="直接连接符 91"/>
              <p:cNvCxnSpPr/>
              <p:nvPr/>
            </p:nvCxnSpPr>
            <p:spPr bwMode="auto">
              <a:xfrm>
                <a:off x="6786467" y="2284412"/>
                <a:ext cx="109530" cy="0"/>
              </a:xfrm>
              <a:prstGeom prst="line">
                <a:avLst/>
              </a:prstGeom>
              <a:solidFill>
                <a:schemeClr val="accent1"/>
              </a:solidFill>
              <a:ln w="44450" cap="flat" cmpd="sng" algn="ctr">
                <a:solidFill>
                  <a:schemeClr val="bg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/>
              </a:extLst>
            </p:spPr>
          </p:cxnSp>
          <p:cxnSp>
            <p:nvCxnSpPr>
              <p:cNvPr id="93" name="直接连接符 92"/>
              <p:cNvCxnSpPr/>
              <p:nvPr/>
            </p:nvCxnSpPr>
            <p:spPr bwMode="auto">
              <a:xfrm>
                <a:off x="8088125" y="2274887"/>
                <a:ext cx="107942" cy="0"/>
              </a:xfrm>
              <a:prstGeom prst="line">
                <a:avLst/>
              </a:prstGeom>
              <a:solidFill>
                <a:schemeClr val="accent1"/>
              </a:solidFill>
              <a:ln w="44450" cap="flat" cmpd="sng" algn="ctr">
                <a:solidFill>
                  <a:schemeClr val="bg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/>
              </a:extLst>
            </p:spPr>
          </p:cxnSp>
          <p:cxnSp>
            <p:nvCxnSpPr>
              <p:cNvPr id="94" name="直接连接符 93"/>
              <p:cNvCxnSpPr/>
              <p:nvPr/>
            </p:nvCxnSpPr>
            <p:spPr bwMode="auto">
              <a:xfrm>
                <a:off x="7743662" y="1568450"/>
                <a:ext cx="107942" cy="0"/>
              </a:xfrm>
              <a:prstGeom prst="line">
                <a:avLst/>
              </a:prstGeom>
              <a:solidFill>
                <a:schemeClr val="accent1"/>
              </a:solidFill>
              <a:ln w="44450" cap="flat" cmpd="sng" algn="ctr">
                <a:solidFill>
                  <a:schemeClr val="bg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/>
              </a:extLst>
            </p:spPr>
          </p:cxnSp>
          <p:grpSp>
            <p:nvGrpSpPr>
              <p:cNvPr id="29801" name="组合 94"/>
              <p:cNvGrpSpPr>
                <a:grpSpLocks/>
              </p:cNvGrpSpPr>
              <p:nvPr/>
            </p:nvGrpSpPr>
            <p:grpSpPr bwMode="auto">
              <a:xfrm>
                <a:off x="8085625" y="1511363"/>
                <a:ext cx="107989" cy="108065"/>
                <a:chOff x="5739136" y="2466959"/>
                <a:chExt cx="108000" cy="108000"/>
              </a:xfrm>
            </p:grpSpPr>
            <p:cxnSp>
              <p:nvCxnSpPr>
                <p:cNvPr id="29818" name="直接连接符 121"/>
                <p:cNvCxnSpPr>
                  <a:cxnSpLocks noChangeShapeType="1"/>
                </p:cNvCxnSpPr>
                <p:nvPr/>
              </p:nvCxnSpPr>
              <p:spPr bwMode="auto">
                <a:xfrm>
                  <a:off x="5739136" y="2520958"/>
                  <a:ext cx="108000" cy="0"/>
                </a:xfrm>
                <a:prstGeom prst="line">
                  <a:avLst/>
                </a:prstGeom>
                <a:noFill/>
                <a:ln w="44450" algn="ctr">
                  <a:solidFill>
                    <a:srgbClr val="FFFFFF"/>
                  </a:solidFill>
                  <a:round/>
                  <a:headEnd/>
                  <a:tailEnd/>
                </a:ln>
              </p:spPr>
            </p:cxnSp>
            <p:cxnSp>
              <p:nvCxnSpPr>
                <p:cNvPr id="29819" name="直接连接符 122"/>
                <p:cNvCxnSpPr>
                  <a:cxnSpLocks noChangeShapeType="1"/>
                </p:cNvCxnSpPr>
                <p:nvPr/>
              </p:nvCxnSpPr>
              <p:spPr bwMode="auto">
                <a:xfrm rot="-5400000">
                  <a:off x="5739136" y="2520959"/>
                  <a:ext cx="108000" cy="0"/>
                </a:xfrm>
                <a:prstGeom prst="line">
                  <a:avLst/>
                </a:prstGeom>
                <a:noFill/>
                <a:ln w="44450" algn="ctr">
                  <a:solidFill>
                    <a:srgbClr val="FFFFFF"/>
                  </a:solidFill>
                  <a:round/>
                  <a:headEnd/>
                  <a:tailEnd/>
                </a:ln>
              </p:spPr>
            </p:cxnSp>
          </p:grpSp>
          <p:grpSp>
            <p:nvGrpSpPr>
              <p:cNvPr id="29802" name="组合 95"/>
              <p:cNvGrpSpPr>
                <a:grpSpLocks/>
              </p:cNvGrpSpPr>
              <p:nvPr/>
            </p:nvGrpSpPr>
            <p:grpSpPr bwMode="auto">
              <a:xfrm>
                <a:off x="6676673" y="1406693"/>
                <a:ext cx="667341" cy="324194"/>
                <a:chOff x="3965884" y="2353726"/>
                <a:chExt cx="667409" cy="324000"/>
              </a:xfrm>
            </p:grpSpPr>
            <p:grpSp>
              <p:nvGrpSpPr>
                <p:cNvPr id="29809" name="组合 112"/>
                <p:cNvGrpSpPr>
                  <a:grpSpLocks noChangeAspect="1"/>
                </p:cNvGrpSpPr>
                <p:nvPr/>
              </p:nvGrpSpPr>
              <p:grpSpPr bwMode="auto">
                <a:xfrm rot="5400000">
                  <a:off x="4137589" y="2182021"/>
                  <a:ext cx="324000" cy="667409"/>
                  <a:chOff x="1403250" y="2166602"/>
                  <a:chExt cx="432000" cy="889878"/>
                </a:xfrm>
              </p:grpSpPr>
              <p:grpSp>
                <p:nvGrpSpPr>
                  <p:cNvPr id="29814" name="组 4"/>
                  <p:cNvGrpSpPr>
                    <a:grpSpLocks/>
                  </p:cNvGrpSpPr>
                  <p:nvPr/>
                </p:nvGrpSpPr>
                <p:grpSpPr bwMode="auto">
                  <a:xfrm>
                    <a:off x="1403250" y="2166602"/>
                    <a:ext cx="432000" cy="889878"/>
                    <a:chOff x="1726127" y="3943891"/>
                    <a:chExt cx="432000" cy="889878"/>
                  </a:xfrm>
                </p:grpSpPr>
                <p:sp>
                  <p:nvSpPr>
                    <p:cNvPr id="120" name="椭圆 119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725904" y="3944388"/>
                      <a:ext cx="431542" cy="431813"/>
                    </a:xfrm>
                    <a:prstGeom prst="ellipse">
                      <a:avLst/>
                    </a:prstGeom>
                    <a:solidFill>
                      <a:schemeClr val="bg1">
                        <a:lumMod val="25000"/>
                      </a:schemeClr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/>
                  </p:spPr>
                  <p:txBody>
                    <a:bodyPr/>
                    <a:lstStyle/>
                    <a:p>
                      <a:pPr>
                        <a:spcBef>
                          <a:spcPct val="50000"/>
                        </a:spcBef>
                        <a:defRPr/>
                      </a:pPr>
                      <a:endParaRPr kumimoji="1" lang="zh-CN" altLang="en-US" sz="1600">
                        <a:ea typeface="楷体_GB2312" pitchFamily="49" charset="-122"/>
                      </a:endParaRPr>
                    </a:p>
                  </p:txBody>
                </p:sp>
                <p:sp>
                  <p:nvSpPr>
                    <p:cNvPr id="29817" name="椭圆 120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726127" y="4401769"/>
                      <a:ext cx="432000" cy="43200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>
                        <a:spcBef>
                          <a:spcPct val="50000"/>
                        </a:spcBef>
                      </a:pPr>
                      <a:endParaRPr kumimoji="1" lang="zh-CN" altLang="en-US" sz="1600">
                        <a:ea typeface="楷体_GB2312" pitchFamily="49" charset="-122"/>
                      </a:endParaRPr>
                    </a:p>
                  </p:txBody>
                </p:sp>
              </p:grpSp>
              <p:sp>
                <p:nvSpPr>
                  <p:cNvPr id="119" name="椭圆 118"/>
                  <p:cNvSpPr>
                    <a:spLocks noChangeAspect="1"/>
                  </p:cNvSpPr>
                  <p:nvPr/>
                </p:nvSpPr>
                <p:spPr bwMode="auto">
                  <a:xfrm>
                    <a:off x="1582836" y="2575629"/>
                    <a:ext cx="71924" cy="71969"/>
                  </a:xfrm>
                  <a:prstGeom prst="ellipse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/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  <a:defRPr/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</p:grpSp>
            <p:cxnSp>
              <p:nvCxnSpPr>
                <p:cNvPr id="114" name="直接连接符 113"/>
                <p:cNvCxnSpPr/>
                <p:nvPr/>
              </p:nvCxnSpPr>
              <p:spPr bwMode="auto">
                <a:xfrm>
                  <a:off x="4085215" y="2510626"/>
                  <a:ext cx="107953" cy="0"/>
                </a:xfrm>
                <a:prstGeom prst="line">
                  <a:avLst/>
                </a:prstGeom>
                <a:solidFill>
                  <a:schemeClr val="accent1"/>
                </a:solidFill>
                <a:ln w="44450" cap="flat" cmpd="sng" algn="ctr">
                  <a:solidFill>
                    <a:schemeClr val="bg1">
                      <a:lumMod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/>
                </a:extLst>
              </p:spPr>
            </p:cxnSp>
            <p:grpSp>
              <p:nvGrpSpPr>
                <p:cNvPr id="29811" name="组合 114"/>
                <p:cNvGrpSpPr>
                  <a:grpSpLocks/>
                </p:cNvGrpSpPr>
                <p:nvPr/>
              </p:nvGrpSpPr>
              <p:grpSpPr bwMode="auto">
                <a:xfrm>
                  <a:off x="4397646" y="2448950"/>
                  <a:ext cx="108000" cy="108000"/>
                  <a:chOff x="5739136" y="2466959"/>
                  <a:chExt cx="108000" cy="108000"/>
                </a:xfrm>
              </p:grpSpPr>
              <p:cxnSp>
                <p:nvCxnSpPr>
                  <p:cNvPr id="29812" name="直接连接符 115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5739136" y="2520958"/>
                    <a:ext cx="108000" cy="0"/>
                  </a:xfrm>
                  <a:prstGeom prst="line">
                    <a:avLst/>
                  </a:prstGeom>
                  <a:noFill/>
                  <a:ln w="444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29813" name="直接连接符 116"/>
                  <p:cNvCxnSpPr>
                    <a:cxnSpLocks noChangeShapeType="1"/>
                  </p:cNvCxnSpPr>
                  <p:nvPr/>
                </p:nvCxnSpPr>
                <p:spPr bwMode="auto">
                  <a:xfrm rot="-5400000">
                    <a:off x="5739136" y="2520959"/>
                    <a:ext cx="108000" cy="0"/>
                  </a:xfrm>
                  <a:prstGeom prst="line">
                    <a:avLst/>
                  </a:prstGeom>
                  <a:noFill/>
                  <a:ln w="444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</p:cxnSp>
            </p:grpSp>
          </p:grpSp>
          <p:grpSp>
            <p:nvGrpSpPr>
              <p:cNvPr id="29803" name="组合 96"/>
              <p:cNvGrpSpPr>
                <a:grpSpLocks/>
              </p:cNvGrpSpPr>
              <p:nvPr/>
            </p:nvGrpSpPr>
            <p:grpSpPr bwMode="auto">
              <a:xfrm>
                <a:off x="7150077" y="2235326"/>
                <a:ext cx="107989" cy="108065"/>
                <a:chOff x="5739136" y="2466959"/>
                <a:chExt cx="108000" cy="108000"/>
              </a:xfrm>
            </p:grpSpPr>
            <p:cxnSp>
              <p:nvCxnSpPr>
                <p:cNvPr id="29807" name="直接连接符 110"/>
                <p:cNvCxnSpPr>
                  <a:cxnSpLocks noChangeShapeType="1"/>
                </p:cNvCxnSpPr>
                <p:nvPr/>
              </p:nvCxnSpPr>
              <p:spPr bwMode="auto">
                <a:xfrm>
                  <a:off x="5739136" y="2520958"/>
                  <a:ext cx="108000" cy="0"/>
                </a:xfrm>
                <a:prstGeom prst="line">
                  <a:avLst/>
                </a:prstGeom>
                <a:noFill/>
                <a:ln w="44450" algn="ctr">
                  <a:solidFill>
                    <a:srgbClr val="FFFFFF"/>
                  </a:solidFill>
                  <a:round/>
                  <a:headEnd/>
                  <a:tailEnd/>
                </a:ln>
              </p:spPr>
            </p:cxnSp>
            <p:cxnSp>
              <p:nvCxnSpPr>
                <p:cNvPr id="29808" name="直接连接符 111"/>
                <p:cNvCxnSpPr>
                  <a:cxnSpLocks noChangeShapeType="1"/>
                </p:cNvCxnSpPr>
                <p:nvPr/>
              </p:nvCxnSpPr>
              <p:spPr bwMode="auto">
                <a:xfrm rot="-5400000">
                  <a:off x="5739136" y="2520959"/>
                  <a:ext cx="108000" cy="0"/>
                </a:xfrm>
                <a:prstGeom prst="line">
                  <a:avLst/>
                </a:prstGeom>
                <a:noFill/>
                <a:ln w="44450" algn="ctr">
                  <a:solidFill>
                    <a:srgbClr val="FFFFFF"/>
                  </a:solidFill>
                  <a:round/>
                  <a:headEnd/>
                  <a:tailEnd/>
                </a:ln>
              </p:spPr>
            </p:cxnSp>
          </p:grpSp>
          <p:grpSp>
            <p:nvGrpSpPr>
              <p:cNvPr id="29804" name="组合 97"/>
              <p:cNvGrpSpPr>
                <a:grpSpLocks/>
              </p:cNvGrpSpPr>
              <p:nvPr/>
            </p:nvGrpSpPr>
            <p:grpSpPr bwMode="auto">
              <a:xfrm>
                <a:off x="7756563" y="2228958"/>
                <a:ext cx="107989" cy="108065"/>
                <a:chOff x="5739136" y="2466959"/>
                <a:chExt cx="108000" cy="108000"/>
              </a:xfrm>
            </p:grpSpPr>
            <p:cxnSp>
              <p:nvCxnSpPr>
                <p:cNvPr id="29805" name="直接连接符 108"/>
                <p:cNvCxnSpPr>
                  <a:cxnSpLocks noChangeShapeType="1"/>
                </p:cNvCxnSpPr>
                <p:nvPr/>
              </p:nvCxnSpPr>
              <p:spPr bwMode="auto">
                <a:xfrm>
                  <a:off x="5739136" y="2520958"/>
                  <a:ext cx="108000" cy="0"/>
                </a:xfrm>
                <a:prstGeom prst="line">
                  <a:avLst/>
                </a:prstGeom>
                <a:noFill/>
                <a:ln w="44450" algn="ctr">
                  <a:solidFill>
                    <a:srgbClr val="FFFFFF"/>
                  </a:solidFill>
                  <a:round/>
                  <a:headEnd/>
                  <a:tailEnd/>
                </a:ln>
              </p:spPr>
            </p:cxnSp>
            <p:cxnSp>
              <p:nvCxnSpPr>
                <p:cNvPr id="29806" name="直接连接符 109"/>
                <p:cNvCxnSpPr>
                  <a:cxnSpLocks noChangeShapeType="1"/>
                </p:cNvCxnSpPr>
                <p:nvPr/>
              </p:nvCxnSpPr>
              <p:spPr bwMode="auto">
                <a:xfrm rot="-5400000">
                  <a:off x="5739136" y="2520959"/>
                  <a:ext cx="108000" cy="0"/>
                </a:xfrm>
                <a:prstGeom prst="line">
                  <a:avLst/>
                </a:prstGeom>
                <a:noFill/>
                <a:ln w="44450" algn="ctr">
                  <a:solidFill>
                    <a:srgbClr val="FFFFFF"/>
                  </a:solidFill>
                  <a:round/>
                  <a:headEnd/>
                  <a:tailEnd/>
                </a:ln>
              </p:spPr>
            </p:cxnSp>
          </p:grpSp>
        </p:grpSp>
        <p:sp>
          <p:nvSpPr>
            <p:cNvPr id="29783" name="右箭头 98"/>
            <p:cNvSpPr>
              <a:spLocks noChangeArrowheads="1"/>
            </p:cNvSpPr>
            <p:nvPr/>
          </p:nvSpPr>
          <p:spPr bwMode="auto">
            <a:xfrm>
              <a:off x="8224838" y="2133600"/>
              <a:ext cx="360362" cy="282575"/>
            </a:xfrm>
            <a:prstGeom prst="rightArrow">
              <a:avLst>
                <a:gd name="adj1" fmla="val 50000"/>
                <a:gd name="adj2" fmla="val 49795"/>
              </a:avLst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kumimoji="1" lang="zh-CN" altLang="en-US" sz="1600">
                <a:ea typeface="楷体_GB2312" pitchFamily="49" charset="-122"/>
              </a:endParaRPr>
            </a:p>
          </p:txBody>
        </p:sp>
        <p:sp>
          <p:nvSpPr>
            <p:cNvPr id="29784" name="右箭头 99"/>
            <p:cNvSpPr>
              <a:spLocks noChangeArrowheads="1"/>
            </p:cNvSpPr>
            <p:nvPr/>
          </p:nvSpPr>
          <p:spPr bwMode="auto">
            <a:xfrm>
              <a:off x="8224838" y="1389063"/>
              <a:ext cx="360362" cy="280987"/>
            </a:xfrm>
            <a:prstGeom prst="rightArrow">
              <a:avLst>
                <a:gd name="adj1" fmla="val 50000"/>
                <a:gd name="adj2" fmla="val 50076"/>
              </a:avLst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kumimoji="1" lang="zh-CN" altLang="en-US" sz="1600">
                <a:ea typeface="楷体_GB2312" pitchFamily="49" charset="-122"/>
              </a:endParaRPr>
            </a:p>
          </p:txBody>
        </p:sp>
        <p:pic>
          <p:nvPicPr>
            <p:cNvPr id="29785" name="图片 100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8723313" y="1984375"/>
              <a:ext cx="1600200" cy="596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9786" name="图片 101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8699500" y="1062038"/>
              <a:ext cx="1624013" cy="769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9787" name="Rectangle 5"/>
            <p:cNvSpPr>
              <a:spLocks noChangeArrowheads="1"/>
            </p:cNvSpPr>
            <p:nvPr/>
          </p:nvSpPr>
          <p:spPr bwMode="auto">
            <a:xfrm>
              <a:off x="3690938" y="1182688"/>
              <a:ext cx="411162" cy="498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r>
                <a:rPr lang="en-US" altLang="zh-CN" sz="2000" b="1">
                  <a:ea typeface="楷体_GB2312" pitchFamily="49" charset="-122"/>
                </a:rPr>
                <a:t>p</a:t>
              </a:r>
              <a:r>
                <a:rPr lang="en-US" altLang="zh-CN" sz="2000" b="1" i="1" baseline="-25000">
                  <a:ea typeface="楷体_GB2312" pitchFamily="49" charset="-122"/>
                </a:rPr>
                <a:t>x</a:t>
              </a:r>
              <a:endParaRPr lang="zh-CN" altLang="en-US" sz="2000" b="1" i="1" baseline="-25000">
                <a:ea typeface="楷体_GB2312" pitchFamily="49" charset="-122"/>
              </a:endParaRPr>
            </a:p>
          </p:txBody>
        </p:sp>
        <p:sp>
          <p:nvSpPr>
            <p:cNvPr id="29788" name="Rectangle 5"/>
            <p:cNvSpPr>
              <a:spLocks noChangeArrowheads="1"/>
            </p:cNvSpPr>
            <p:nvPr/>
          </p:nvSpPr>
          <p:spPr bwMode="auto">
            <a:xfrm>
              <a:off x="5013325" y="1179513"/>
              <a:ext cx="411163" cy="498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r>
                <a:rPr lang="en-US" altLang="zh-CN" sz="2000" b="1">
                  <a:ea typeface="楷体_GB2312" pitchFamily="49" charset="-122"/>
                </a:rPr>
                <a:t>p</a:t>
              </a:r>
              <a:r>
                <a:rPr lang="en-US" altLang="zh-CN" sz="2000" b="1" i="1" baseline="-25000">
                  <a:ea typeface="楷体_GB2312" pitchFamily="49" charset="-122"/>
                </a:rPr>
                <a:t>x</a:t>
              </a:r>
              <a:endParaRPr lang="zh-CN" altLang="en-US" sz="2000" b="1" i="1" baseline="-25000">
                <a:ea typeface="楷体_GB2312" pitchFamily="49" charset="-122"/>
              </a:endParaRPr>
            </a:p>
          </p:txBody>
        </p:sp>
        <p:sp>
          <p:nvSpPr>
            <p:cNvPr id="29789" name="Rectangle 5"/>
            <p:cNvSpPr>
              <a:spLocks noChangeArrowheads="1"/>
            </p:cNvSpPr>
            <p:nvPr/>
          </p:nvSpPr>
          <p:spPr bwMode="auto">
            <a:xfrm>
              <a:off x="10326688" y="981075"/>
              <a:ext cx="691215" cy="577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r>
                <a:rPr lang="zh-CN" altLang="en-US" sz="2400" b="1" i="1">
                  <a:solidFill>
                    <a:srgbClr val="FF0000"/>
                  </a:solidFill>
                  <a:ea typeface="楷体_GB2312" pitchFamily="49" charset="-122"/>
                </a:rPr>
                <a:t>𝛔</a:t>
              </a:r>
              <a:r>
                <a:rPr lang="en-US" altLang="zh-CN" sz="2400" b="1" baseline="-25000">
                  <a:solidFill>
                    <a:srgbClr val="FF0000"/>
                  </a:solidFill>
                  <a:ea typeface="楷体_GB2312" pitchFamily="49" charset="-122"/>
                </a:rPr>
                <a:t>p</a:t>
              </a:r>
              <a:r>
                <a:rPr lang="en-US" altLang="zh-CN" sz="2400" b="1" i="1" baseline="-25000">
                  <a:solidFill>
                    <a:srgbClr val="FF0000"/>
                  </a:solidFill>
                  <a:ea typeface="楷体_GB2312" pitchFamily="49" charset="-122"/>
                </a:rPr>
                <a:t>x</a:t>
              </a:r>
              <a:r>
                <a:rPr lang="en-US" altLang="zh-CN" sz="2400" b="1" baseline="30000">
                  <a:solidFill>
                    <a:srgbClr val="FF0000"/>
                  </a:solidFill>
                  <a:ea typeface="楷体_GB2312" pitchFamily="49" charset="-122"/>
                </a:rPr>
                <a:t>*</a:t>
              </a:r>
              <a:endParaRPr lang="zh-CN" altLang="en-US" sz="2400" b="1" baseline="30000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  <p:sp>
          <p:nvSpPr>
            <p:cNvPr id="29790" name="Rectangle 5"/>
            <p:cNvSpPr>
              <a:spLocks noChangeArrowheads="1"/>
            </p:cNvSpPr>
            <p:nvPr/>
          </p:nvSpPr>
          <p:spPr bwMode="auto">
            <a:xfrm>
              <a:off x="10336213" y="1887538"/>
              <a:ext cx="588962" cy="577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r>
                <a:rPr lang="zh-CN" altLang="en-US" sz="2400" b="1" i="1">
                  <a:solidFill>
                    <a:srgbClr val="FF0000"/>
                  </a:solidFill>
                  <a:ea typeface="楷体_GB2312" pitchFamily="49" charset="-122"/>
                </a:rPr>
                <a:t>𝛔</a:t>
              </a:r>
              <a:r>
                <a:rPr lang="en-US" altLang="zh-CN" sz="2400" b="1" baseline="-25000">
                  <a:solidFill>
                    <a:srgbClr val="FF0000"/>
                  </a:solidFill>
                  <a:ea typeface="楷体_GB2312" pitchFamily="49" charset="-122"/>
                </a:rPr>
                <a:t>p</a:t>
              </a:r>
              <a:r>
                <a:rPr lang="en-US" altLang="zh-CN" sz="2400" b="1" i="1" baseline="-25000">
                  <a:solidFill>
                    <a:srgbClr val="FF0000"/>
                  </a:solidFill>
                  <a:ea typeface="楷体_GB2312" pitchFamily="49" charset="-122"/>
                </a:rPr>
                <a:t>x</a:t>
              </a:r>
              <a:endParaRPr lang="zh-CN" altLang="en-US" sz="2400" b="1" i="1" baseline="-25000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  <p:sp>
          <p:nvSpPr>
            <p:cNvPr id="29791" name="Rectangle 5"/>
            <p:cNvSpPr>
              <a:spLocks noChangeArrowheads="1"/>
            </p:cNvSpPr>
            <p:nvPr/>
          </p:nvSpPr>
          <p:spPr bwMode="auto">
            <a:xfrm>
              <a:off x="5815013" y="1771650"/>
              <a:ext cx="390525" cy="6604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r>
                <a:rPr lang="en-US" altLang="zh-CN" sz="2800" b="1" i="1">
                  <a:solidFill>
                    <a:srgbClr val="FF0000"/>
                  </a:solidFill>
                  <a:ea typeface="楷体_GB2312" pitchFamily="49" charset="-122"/>
                </a:rPr>
                <a:t>+</a:t>
              </a:r>
              <a:endParaRPr lang="zh-CN" altLang="en-US" sz="2800" b="1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  <p:cxnSp>
          <p:nvCxnSpPr>
            <p:cNvPr id="29792" name="直接连接符 107"/>
            <p:cNvCxnSpPr>
              <a:cxnSpLocks noChangeShapeType="1"/>
            </p:cNvCxnSpPr>
            <p:nvPr/>
          </p:nvCxnSpPr>
          <p:spPr bwMode="auto">
            <a:xfrm>
              <a:off x="5924550" y="1668463"/>
              <a:ext cx="179388" cy="0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</p:spPr>
        </p:cxnSp>
      </p:grpSp>
      <p:grpSp>
        <p:nvGrpSpPr>
          <p:cNvPr id="21" name="组合 2"/>
          <p:cNvGrpSpPr>
            <a:grpSpLocks/>
          </p:cNvGrpSpPr>
          <p:nvPr/>
        </p:nvGrpSpPr>
        <p:grpSpPr bwMode="auto">
          <a:xfrm>
            <a:off x="1189038" y="3525838"/>
            <a:ext cx="7642225" cy="1819275"/>
            <a:chOff x="3673475" y="3168650"/>
            <a:chExt cx="7642225" cy="1819275"/>
          </a:xfrm>
        </p:grpSpPr>
        <p:sp>
          <p:nvSpPr>
            <p:cNvPr id="29706" name="Rectangle 5"/>
            <p:cNvSpPr>
              <a:spLocks noChangeArrowheads="1"/>
            </p:cNvSpPr>
            <p:nvPr/>
          </p:nvSpPr>
          <p:spPr bwMode="auto">
            <a:xfrm>
              <a:off x="3983038" y="4452938"/>
              <a:ext cx="395287" cy="498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r>
                <a:rPr lang="en-US" altLang="zh-CN" sz="2000" b="1">
                  <a:ea typeface="楷体_GB2312" pitchFamily="49" charset="-122"/>
                </a:rPr>
                <a:t>p</a:t>
              </a:r>
              <a:r>
                <a:rPr lang="en-US" altLang="zh-CN" sz="2000" b="1" i="1" baseline="-25000">
                  <a:ea typeface="楷体_GB2312" pitchFamily="49" charset="-122"/>
                </a:rPr>
                <a:t>z</a:t>
              </a:r>
              <a:endParaRPr lang="zh-CN" altLang="en-US" sz="2000" b="1" i="1" baseline="-25000">
                <a:ea typeface="楷体_GB2312" pitchFamily="49" charset="-122"/>
              </a:endParaRPr>
            </a:p>
          </p:txBody>
        </p:sp>
        <p:sp>
          <p:nvSpPr>
            <p:cNvPr id="29707" name="Rectangle 5"/>
            <p:cNvSpPr>
              <a:spLocks noChangeArrowheads="1"/>
            </p:cNvSpPr>
            <p:nvPr/>
          </p:nvSpPr>
          <p:spPr bwMode="auto">
            <a:xfrm>
              <a:off x="5253038" y="4425950"/>
              <a:ext cx="393700" cy="500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r>
                <a:rPr lang="en-US" altLang="zh-CN" sz="2000" b="1">
                  <a:ea typeface="楷体_GB2312" pitchFamily="49" charset="-122"/>
                </a:rPr>
                <a:t>p</a:t>
              </a:r>
              <a:r>
                <a:rPr lang="en-US" altLang="zh-CN" sz="2000" b="1" i="1" baseline="-25000">
                  <a:ea typeface="楷体_GB2312" pitchFamily="49" charset="-122"/>
                </a:rPr>
                <a:t>z</a:t>
              </a:r>
              <a:endParaRPr lang="zh-CN" altLang="en-US" sz="2000" b="1" i="1" baseline="-25000">
                <a:ea typeface="楷体_GB2312" pitchFamily="49" charset="-122"/>
              </a:endParaRPr>
            </a:p>
          </p:txBody>
        </p:sp>
        <p:sp>
          <p:nvSpPr>
            <p:cNvPr id="29708" name="Rectangle 5"/>
            <p:cNvSpPr>
              <a:spLocks noChangeArrowheads="1"/>
            </p:cNvSpPr>
            <p:nvPr/>
          </p:nvSpPr>
          <p:spPr bwMode="auto">
            <a:xfrm>
              <a:off x="10161588" y="4084638"/>
              <a:ext cx="569912" cy="5794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r>
                <a:rPr lang="el-GR" altLang="zh-CN" sz="2400" b="1" i="1">
                  <a:ea typeface="楷体_GB2312" pitchFamily="49" charset="-122"/>
                </a:rPr>
                <a:t>π</a:t>
              </a:r>
              <a:r>
                <a:rPr lang="en-US" altLang="zh-CN" sz="2400" b="1" baseline="-25000">
                  <a:ea typeface="楷体_GB2312" pitchFamily="49" charset="-122"/>
                </a:rPr>
                <a:t>py</a:t>
              </a:r>
              <a:endParaRPr lang="zh-CN" altLang="en-US" sz="2400" b="1" baseline="-25000">
                <a:ea typeface="楷体_GB2312" pitchFamily="49" charset="-122"/>
              </a:endParaRPr>
            </a:p>
          </p:txBody>
        </p:sp>
        <p:grpSp>
          <p:nvGrpSpPr>
            <p:cNvPr id="29709" name="组合 148"/>
            <p:cNvGrpSpPr>
              <a:grpSpLocks/>
            </p:cNvGrpSpPr>
            <p:nvPr/>
          </p:nvGrpSpPr>
          <p:grpSpPr bwMode="auto">
            <a:xfrm>
              <a:off x="5024438" y="3717925"/>
              <a:ext cx="433387" cy="890588"/>
              <a:chOff x="1403250" y="2166602"/>
              <a:chExt cx="432000" cy="889878"/>
            </a:xfrm>
          </p:grpSpPr>
          <p:grpSp>
            <p:nvGrpSpPr>
              <p:cNvPr id="29772" name="组 4"/>
              <p:cNvGrpSpPr>
                <a:grpSpLocks/>
              </p:cNvGrpSpPr>
              <p:nvPr/>
            </p:nvGrpSpPr>
            <p:grpSpPr bwMode="auto">
              <a:xfrm>
                <a:off x="1403250" y="2166602"/>
                <a:ext cx="432000" cy="889878"/>
                <a:chOff x="1726127" y="3943891"/>
                <a:chExt cx="432000" cy="889878"/>
              </a:xfrm>
            </p:grpSpPr>
            <p:sp>
              <p:nvSpPr>
                <p:cNvPr id="214" name="椭圆 213"/>
                <p:cNvSpPr>
                  <a:spLocks noChangeAspect="1"/>
                </p:cNvSpPr>
                <p:nvPr/>
              </p:nvSpPr>
              <p:spPr bwMode="auto">
                <a:xfrm>
                  <a:off x="1726126" y="3943891"/>
                  <a:ext cx="432001" cy="431456"/>
                </a:xfrm>
                <a:prstGeom prst="ellipse">
                  <a:avLst/>
                </a:prstGeom>
                <a:solidFill>
                  <a:schemeClr val="tx1">
                    <a:lumMod val="6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  <a:defRPr/>
                  </a:pPr>
                  <a:endParaRPr kumimoji="1" lang="zh-CN" altLang="en-US" sz="1600">
                    <a:ea typeface="楷体_GB2312" pitchFamily="49" charset="-122"/>
                  </a:endParaRPr>
                </a:p>
              </p:txBody>
            </p:sp>
            <p:sp>
              <p:nvSpPr>
                <p:cNvPr id="29775" name="椭圆 214"/>
                <p:cNvSpPr>
                  <a:spLocks noChangeAspect="1"/>
                </p:cNvSpPr>
                <p:nvPr/>
              </p:nvSpPr>
              <p:spPr bwMode="auto">
                <a:xfrm>
                  <a:off x="1726127" y="4401769"/>
                  <a:ext cx="432000" cy="432000"/>
                </a:xfrm>
                <a:prstGeom prst="ellipse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</a:pPr>
                  <a:endParaRPr kumimoji="1" lang="zh-CN" altLang="en-US" sz="1600">
                    <a:ea typeface="楷体_GB2312" pitchFamily="49" charset="-122"/>
                  </a:endParaRPr>
                </a:p>
              </p:txBody>
            </p:sp>
          </p:grpSp>
          <p:sp>
            <p:nvSpPr>
              <p:cNvPr id="29773" name="椭圆 212"/>
              <p:cNvSpPr>
                <a:spLocks noChangeAspect="1"/>
              </p:cNvSpPr>
              <p:nvPr/>
            </p:nvSpPr>
            <p:spPr bwMode="auto">
              <a:xfrm>
                <a:off x="1583541" y="2576026"/>
                <a:ext cx="71436" cy="71423"/>
              </a:xfrm>
              <a:prstGeom prst="ellipse">
                <a:avLst/>
              </a:prstGeom>
              <a:solidFill>
                <a:schemeClr val="bg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spcBef>
                    <a:spcPct val="50000"/>
                  </a:spcBef>
                </a:pPr>
                <a:endParaRPr kumimoji="1" lang="zh-CN" altLang="en-US" sz="1600">
                  <a:ea typeface="楷体_GB2312" pitchFamily="49" charset="-122"/>
                </a:endParaRPr>
              </a:p>
            </p:txBody>
          </p:sp>
        </p:grpSp>
        <p:grpSp>
          <p:nvGrpSpPr>
            <p:cNvPr id="29710" name="组合 149"/>
            <p:cNvGrpSpPr>
              <a:grpSpLocks/>
            </p:cNvGrpSpPr>
            <p:nvPr/>
          </p:nvGrpSpPr>
          <p:grpSpPr bwMode="auto">
            <a:xfrm>
              <a:off x="3816350" y="3673475"/>
              <a:ext cx="433388" cy="890588"/>
              <a:chOff x="1403250" y="2166963"/>
              <a:chExt cx="432394" cy="889517"/>
            </a:xfrm>
          </p:grpSpPr>
          <p:grpSp>
            <p:nvGrpSpPr>
              <p:cNvPr id="29768" name="组 4"/>
              <p:cNvGrpSpPr>
                <a:grpSpLocks/>
              </p:cNvGrpSpPr>
              <p:nvPr/>
            </p:nvGrpSpPr>
            <p:grpSpPr bwMode="auto">
              <a:xfrm>
                <a:off x="1403250" y="2166963"/>
                <a:ext cx="432394" cy="889517"/>
                <a:chOff x="1726127" y="3944252"/>
                <a:chExt cx="432394" cy="889517"/>
              </a:xfrm>
            </p:grpSpPr>
            <p:sp>
              <p:nvSpPr>
                <p:cNvPr id="210" name="椭圆 209"/>
                <p:cNvSpPr>
                  <a:spLocks noChangeAspect="1"/>
                </p:cNvSpPr>
                <p:nvPr/>
              </p:nvSpPr>
              <p:spPr bwMode="auto">
                <a:xfrm>
                  <a:off x="1726127" y="3944252"/>
                  <a:ext cx="432393" cy="431281"/>
                </a:xfrm>
                <a:prstGeom prst="ellipse">
                  <a:avLst/>
                </a:prstGeom>
                <a:solidFill>
                  <a:schemeClr val="tx1">
                    <a:lumMod val="6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  <a:defRPr/>
                  </a:pPr>
                  <a:endParaRPr kumimoji="1" lang="zh-CN" altLang="en-US" sz="1600">
                    <a:ea typeface="楷体_GB2312" pitchFamily="49" charset="-122"/>
                  </a:endParaRPr>
                </a:p>
              </p:txBody>
            </p:sp>
            <p:sp>
              <p:nvSpPr>
                <p:cNvPr id="29771" name="椭圆 210"/>
                <p:cNvSpPr>
                  <a:spLocks noChangeAspect="1"/>
                </p:cNvSpPr>
                <p:nvPr/>
              </p:nvSpPr>
              <p:spPr bwMode="auto">
                <a:xfrm>
                  <a:off x="1726127" y="4401769"/>
                  <a:ext cx="432000" cy="432000"/>
                </a:xfrm>
                <a:prstGeom prst="ellipse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</a:pPr>
                  <a:endParaRPr kumimoji="1" lang="zh-CN" altLang="en-US" sz="1600">
                    <a:ea typeface="楷体_GB2312" pitchFamily="49" charset="-122"/>
                  </a:endParaRPr>
                </a:p>
              </p:txBody>
            </p:sp>
          </p:grpSp>
          <p:sp>
            <p:nvSpPr>
              <p:cNvPr id="29769" name="椭圆 208"/>
              <p:cNvSpPr>
                <a:spLocks noChangeAspect="1"/>
              </p:cNvSpPr>
              <p:nvPr/>
            </p:nvSpPr>
            <p:spPr bwMode="auto">
              <a:xfrm>
                <a:off x="1583240" y="2576454"/>
                <a:ext cx="73023" cy="71422"/>
              </a:xfrm>
              <a:prstGeom prst="ellipse">
                <a:avLst/>
              </a:prstGeom>
              <a:solidFill>
                <a:schemeClr val="bg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spcBef>
                    <a:spcPct val="50000"/>
                  </a:spcBef>
                </a:pPr>
                <a:endParaRPr kumimoji="1" lang="zh-CN" altLang="en-US" sz="1600">
                  <a:ea typeface="楷体_GB2312" pitchFamily="49" charset="-122"/>
                </a:endParaRPr>
              </a:p>
            </p:txBody>
          </p:sp>
        </p:grpSp>
        <p:sp>
          <p:nvSpPr>
            <p:cNvPr id="29711" name="Rectangle 5"/>
            <p:cNvSpPr>
              <a:spLocks noChangeArrowheads="1"/>
            </p:cNvSpPr>
            <p:nvPr/>
          </p:nvSpPr>
          <p:spPr bwMode="auto">
            <a:xfrm>
              <a:off x="4391025" y="3779838"/>
              <a:ext cx="493713" cy="576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r>
                <a:rPr lang="en-US" altLang="zh-CN" sz="2400" b="1">
                  <a:solidFill>
                    <a:srgbClr val="FF0000"/>
                  </a:solidFill>
                  <a:ea typeface="楷体_GB2312" pitchFamily="49" charset="-122"/>
                </a:rPr>
                <a:t>±</a:t>
              </a:r>
              <a:endParaRPr lang="zh-CN" altLang="en-US" sz="2400" b="1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  <p:grpSp>
          <p:nvGrpSpPr>
            <p:cNvPr id="29712" name="组合 154"/>
            <p:cNvGrpSpPr>
              <a:grpSpLocks/>
            </p:cNvGrpSpPr>
            <p:nvPr/>
          </p:nvGrpSpPr>
          <p:grpSpPr bwMode="auto">
            <a:xfrm rot="5400000">
              <a:off x="7466013" y="3457575"/>
              <a:ext cx="666750" cy="323850"/>
              <a:chOff x="3965884" y="2353726"/>
              <a:chExt cx="667409" cy="324000"/>
            </a:xfrm>
          </p:grpSpPr>
          <p:grpSp>
            <p:nvGrpSpPr>
              <p:cNvPr id="29759" name="组合 198"/>
              <p:cNvGrpSpPr>
                <a:grpSpLocks noChangeAspect="1"/>
              </p:cNvGrpSpPr>
              <p:nvPr/>
            </p:nvGrpSpPr>
            <p:grpSpPr bwMode="auto">
              <a:xfrm rot="5400000">
                <a:off x="4137589" y="2182021"/>
                <a:ext cx="324000" cy="667409"/>
                <a:chOff x="1403250" y="2166602"/>
                <a:chExt cx="432000" cy="889878"/>
              </a:xfrm>
            </p:grpSpPr>
            <p:grpSp>
              <p:nvGrpSpPr>
                <p:cNvPr id="29764" name="组 4"/>
                <p:cNvGrpSpPr>
                  <a:grpSpLocks/>
                </p:cNvGrpSpPr>
                <p:nvPr/>
              </p:nvGrpSpPr>
              <p:grpSpPr bwMode="auto">
                <a:xfrm>
                  <a:off x="1403250" y="2166602"/>
                  <a:ext cx="432000" cy="889878"/>
                  <a:chOff x="1726127" y="3943891"/>
                  <a:chExt cx="432000" cy="889878"/>
                </a:xfrm>
              </p:grpSpPr>
              <p:sp>
                <p:nvSpPr>
                  <p:cNvPr id="206" name="椭圆 205"/>
                  <p:cNvSpPr>
                    <a:spLocks noChangeAspect="1"/>
                  </p:cNvSpPr>
                  <p:nvPr/>
                </p:nvSpPr>
                <p:spPr bwMode="auto">
                  <a:xfrm>
                    <a:off x="1740951" y="3943891"/>
                    <a:ext cx="432000" cy="432226"/>
                  </a:xfrm>
                  <a:prstGeom prst="ellipse">
                    <a:avLst/>
                  </a:prstGeom>
                  <a:solidFill>
                    <a:schemeClr val="bg1">
                      <a:lumMod val="2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/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  <a:defRPr/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  <p:sp>
                <p:nvSpPr>
                  <p:cNvPr id="29767" name="椭圆 206"/>
                  <p:cNvSpPr>
                    <a:spLocks noChangeAspect="1"/>
                  </p:cNvSpPr>
                  <p:nvPr/>
                </p:nvSpPr>
                <p:spPr bwMode="auto">
                  <a:xfrm>
                    <a:off x="1726127" y="4401769"/>
                    <a:ext cx="432000" cy="43200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</p:grpSp>
            <p:sp>
              <p:nvSpPr>
                <p:cNvPr id="29765" name="椭圆 204"/>
                <p:cNvSpPr>
                  <a:spLocks noChangeAspect="1"/>
                </p:cNvSpPr>
                <p:nvPr/>
              </p:nvSpPr>
              <p:spPr bwMode="auto">
                <a:xfrm>
                  <a:off x="1583047" y="2575586"/>
                  <a:ext cx="71964" cy="71952"/>
                </a:xfrm>
                <a:prstGeom prst="ellipse">
                  <a:avLst/>
                </a:prstGeom>
                <a:solidFill>
                  <a:schemeClr val="bg2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</a:pPr>
                  <a:endParaRPr kumimoji="1" lang="zh-CN" altLang="en-US" sz="1600">
                    <a:ea typeface="楷体_GB2312" pitchFamily="49" charset="-122"/>
                  </a:endParaRPr>
                </a:p>
              </p:txBody>
            </p:sp>
          </p:grpSp>
          <p:cxnSp>
            <p:nvCxnSpPr>
              <p:cNvPr id="200" name="直接连接符 199"/>
              <p:cNvCxnSpPr/>
              <p:nvPr/>
            </p:nvCxnSpPr>
            <p:spPr bwMode="auto">
              <a:xfrm>
                <a:off x="4085064" y="2510962"/>
                <a:ext cx="108057" cy="0"/>
              </a:xfrm>
              <a:prstGeom prst="line">
                <a:avLst/>
              </a:prstGeom>
              <a:solidFill>
                <a:schemeClr val="accent1"/>
              </a:solidFill>
              <a:ln w="44450" cap="flat" cmpd="sng" algn="ctr">
                <a:solidFill>
                  <a:schemeClr val="bg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/>
              </a:extLst>
            </p:spPr>
          </p:cxnSp>
          <p:grpSp>
            <p:nvGrpSpPr>
              <p:cNvPr id="29761" name="组合 200"/>
              <p:cNvGrpSpPr>
                <a:grpSpLocks/>
              </p:cNvGrpSpPr>
              <p:nvPr/>
            </p:nvGrpSpPr>
            <p:grpSpPr bwMode="auto">
              <a:xfrm>
                <a:off x="4397646" y="2448950"/>
                <a:ext cx="108000" cy="108000"/>
                <a:chOff x="5739136" y="2466959"/>
                <a:chExt cx="108000" cy="108000"/>
              </a:xfrm>
            </p:grpSpPr>
            <p:cxnSp>
              <p:nvCxnSpPr>
                <p:cNvPr id="29762" name="直接连接符 201"/>
                <p:cNvCxnSpPr>
                  <a:cxnSpLocks noChangeShapeType="1"/>
                </p:cNvCxnSpPr>
                <p:nvPr/>
              </p:nvCxnSpPr>
              <p:spPr bwMode="auto">
                <a:xfrm>
                  <a:off x="5739136" y="2520958"/>
                  <a:ext cx="108000" cy="0"/>
                </a:xfrm>
                <a:prstGeom prst="line">
                  <a:avLst/>
                </a:prstGeom>
                <a:noFill/>
                <a:ln w="44450" algn="ctr">
                  <a:solidFill>
                    <a:srgbClr val="FFFFFF"/>
                  </a:solidFill>
                  <a:round/>
                  <a:headEnd/>
                  <a:tailEnd/>
                </a:ln>
              </p:spPr>
            </p:cxnSp>
            <p:cxnSp>
              <p:nvCxnSpPr>
                <p:cNvPr id="29763" name="直接连接符 202"/>
                <p:cNvCxnSpPr>
                  <a:cxnSpLocks noChangeShapeType="1"/>
                </p:cNvCxnSpPr>
                <p:nvPr/>
              </p:nvCxnSpPr>
              <p:spPr bwMode="auto">
                <a:xfrm rot="-5400000">
                  <a:off x="5739136" y="2520959"/>
                  <a:ext cx="108000" cy="0"/>
                </a:xfrm>
                <a:prstGeom prst="line">
                  <a:avLst/>
                </a:prstGeom>
                <a:noFill/>
                <a:ln w="44450" algn="ctr">
                  <a:solidFill>
                    <a:srgbClr val="FFFFFF"/>
                  </a:solidFill>
                  <a:round/>
                  <a:headEnd/>
                  <a:tailEnd/>
                </a:ln>
              </p:spPr>
            </p:cxnSp>
          </p:grpSp>
        </p:grpSp>
        <p:grpSp>
          <p:nvGrpSpPr>
            <p:cNvPr id="29713" name="组合 155"/>
            <p:cNvGrpSpPr>
              <a:grpSpLocks/>
            </p:cNvGrpSpPr>
            <p:nvPr/>
          </p:nvGrpSpPr>
          <p:grpSpPr bwMode="auto">
            <a:xfrm rot="16200000" flipV="1">
              <a:off x="6494463" y="3457575"/>
              <a:ext cx="666750" cy="323850"/>
              <a:chOff x="3965884" y="2353726"/>
              <a:chExt cx="667409" cy="324000"/>
            </a:xfrm>
          </p:grpSpPr>
          <p:grpSp>
            <p:nvGrpSpPr>
              <p:cNvPr id="29750" name="组合 189"/>
              <p:cNvGrpSpPr>
                <a:grpSpLocks noChangeAspect="1"/>
              </p:cNvGrpSpPr>
              <p:nvPr/>
            </p:nvGrpSpPr>
            <p:grpSpPr bwMode="auto">
              <a:xfrm rot="5400000">
                <a:off x="4137589" y="2182021"/>
                <a:ext cx="324000" cy="667409"/>
                <a:chOff x="1403250" y="2166602"/>
                <a:chExt cx="432000" cy="889878"/>
              </a:xfrm>
            </p:grpSpPr>
            <p:grpSp>
              <p:nvGrpSpPr>
                <p:cNvPr id="29755" name="组 4"/>
                <p:cNvGrpSpPr>
                  <a:grpSpLocks/>
                </p:cNvGrpSpPr>
                <p:nvPr/>
              </p:nvGrpSpPr>
              <p:grpSpPr bwMode="auto">
                <a:xfrm>
                  <a:off x="1403250" y="2166602"/>
                  <a:ext cx="432000" cy="889878"/>
                  <a:chOff x="1726127" y="3943891"/>
                  <a:chExt cx="432000" cy="889878"/>
                </a:xfrm>
              </p:grpSpPr>
              <p:sp>
                <p:nvSpPr>
                  <p:cNvPr id="197" name="椭圆 196"/>
                  <p:cNvSpPr>
                    <a:spLocks noChangeAspect="1"/>
                  </p:cNvSpPr>
                  <p:nvPr/>
                </p:nvSpPr>
                <p:spPr bwMode="auto">
                  <a:xfrm>
                    <a:off x="1726128" y="3920584"/>
                    <a:ext cx="432000" cy="432226"/>
                  </a:xfrm>
                  <a:prstGeom prst="ellipse">
                    <a:avLst/>
                  </a:prstGeom>
                  <a:solidFill>
                    <a:schemeClr val="bg1">
                      <a:lumMod val="2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/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  <a:defRPr/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  <p:sp>
                <p:nvSpPr>
                  <p:cNvPr id="29758" name="椭圆 197"/>
                  <p:cNvSpPr>
                    <a:spLocks noChangeAspect="1"/>
                  </p:cNvSpPr>
                  <p:nvPr/>
                </p:nvSpPr>
                <p:spPr bwMode="auto">
                  <a:xfrm>
                    <a:off x="1726127" y="4401769"/>
                    <a:ext cx="432000" cy="43200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</p:grpSp>
            <p:sp>
              <p:nvSpPr>
                <p:cNvPr id="29756" name="椭圆 195"/>
                <p:cNvSpPr>
                  <a:spLocks noChangeAspect="1"/>
                </p:cNvSpPr>
                <p:nvPr/>
              </p:nvSpPr>
              <p:spPr bwMode="auto">
                <a:xfrm>
                  <a:off x="1583792" y="2575544"/>
                  <a:ext cx="71964" cy="71952"/>
                </a:xfrm>
                <a:prstGeom prst="ellipse">
                  <a:avLst/>
                </a:prstGeom>
                <a:solidFill>
                  <a:schemeClr val="bg2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</a:pPr>
                  <a:endParaRPr kumimoji="1" lang="zh-CN" altLang="en-US" sz="1600">
                    <a:ea typeface="楷体_GB2312" pitchFamily="49" charset="-122"/>
                  </a:endParaRPr>
                </a:p>
              </p:txBody>
            </p:sp>
          </p:grpSp>
          <p:cxnSp>
            <p:nvCxnSpPr>
              <p:cNvPr id="191" name="直接连接符 190"/>
              <p:cNvCxnSpPr/>
              <p:nvPr/>
            </p:nvCxnSpPr>
            <p:spPr bwMode="auto">
              <a:xfrm>
                <a:off x="4085065" y="2510962"/>
                <a:ext cx="108057" cy="0"/>
              </a:xfrm>
              <a:prstGeom prst="line">
                <a:avLst/>
              </a:prstGeom>
              <a:solidFill>
                <a:schemeClr val="accent1"/>
              </a:solidFill>
              <a:ln w="44450" cap="flat" cmpd="sng" algn="ctr">
                <a:solidFill>
                  <a:schemeClr val="bg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/>
              </a:extLst>
            </p:spPr>
          </p:cxnSp>
          <p:grpSp>
            <p:nvGrpSpPr>
              <p:cNvPr id="29752" name="组合 191"/>
              <p:cNvGrpSpPr>
                <a:grpSpLocks/>
              </p:cNvGrpSpPr>
              <p:nvPr/>
            </p:nvGrpSpPr>
            <p:grpSpPr bwMode="auto">
              <a:xfrm>
                <a:off x="4397646" y="2448950"/>
                <a:ext cx="108000" cy="108000"/>
                <a:chOff x="5739136" y="2466959"/>
                <a:chExt cx="108000" cy="108000"/>
              </a:xfrm>
            </p:grpSpPr>
            <p:cxnSp>
              <p:nvCxnSpPr>
                <p:cNvPr id="29753" name="直接连接符 192"/>
                <p:cNvCxnSpPr>
                  <a:cxnSpLocks noChangeShapeType="1"/>
                </p:cNvCxnSpPr>
                <p:nvPr/>
              </p:nvCxnSpPr>
              <p:spPr bwMode="auto">
                <a:xfrm>
                  <a:off x="5739136" y="2520958"/>
                  <a:ext cx="108000" cy="0"/>
                </a:xfrm>
                <a:prstGeom prst="line">
                  <a:avLst/>
                </a:prstGeom>
                <a:noFill/>
                <a:ln w="44450" algn="ctr">
                  <a:solidFill>
                    <a:srgbClr val="FFFFFF"/>
                  </a:solidFill>
                  <a:round/>
                  <a:headEnd/>
                  <a:tailEnd/>
                </a:ln>
              </p:spPr>
            </p:cxnSp>
            <p:cxnSp>
              <p:nvCxnSpPr>
                <p:cNvPr id="29754" name="直接连接符 193"/>
                <p:cNvCxnSpPr>
                  <a:cxnSpLocks noChangeShapeType="1"/>
                </p:cNvCxnSpPr>
                <p:nvPr/>
              </p:nvCxnSpPr>
              <p:spPr bwMode="auto">
                <a:xfrm rot="-5400000">
                  <a:off x="5739136" y="2520959"/>
                  <a:ext cx="108000" cy="0"/>
                </a:xfrm>
                <a:prstGeom prst="line">
                  <a:avLst/>
                </a:prstGeom>
                <a:noFill/>
                <a:ln w="44450" algn="ctr">
                  <a:solidFill>
                    <a:srgbClr val="FFFFFF"/>
                  </a:solidFill>
                  <a:round/>
                  <a:headEnd/>
                  <a:tailEnd/>
                </a:ln>
              </p:spPr>
            </p:cxnSp>
          </p:grpSp>
        </p:grpSp>
        <p:grpSp>
          <p:nvGrpSpPr>
            <p:cNvPr id="29714" name="组合 156"/>
            <p:cNvGrpSpPr>
              <a:grpSpLocks/>
            </p:cNvGrpSpPr>
            <p:nvPr/>
          </p:nvGrpSpPr>
          <p:grpSpPr bwMode="auto">
            <a:xfrm rot="16200000" flipV="1">
              <a:off x="6493669" y="4375944"/>
              <a:ext cx="668338" cy="323850"/>
              <a:chOff x="3965884" y="2353726"/>
              <a:chExt cx="667409" cy="324000"/>
            </a:xfrm>
          </p:grpSpPr>
          <p:grpSp>
            <p:nvGrpSpPr>
              <p:cNvPr id="29741" name="组合 180"/>
              <p:cNvGrpSpPr>
                <a:grpSpLocks noChangeAspect="1"/>
              </p:cNvGrpSpPr>
              <p:nvPr/>
            </p:nvGrpSpPr>
            <p:grpSpPr bwMode="auto">
              <a:xfrm rot="5400000">
                <a:off x="4137589" y="2182021"/>
                <a:ext cx="324000" cy="667409"/>
                <a:chOff x="1403250" y="2166602"/>
                <a:chExt cx="432000" cy="889878"/>
              </a:xfrm>
            </p:grpSpPr>
            <p:grpSp>
              <p:nvGrpSpPr>
                <p:cNvPr id="29746" name="组 4"/>
                <p:cNvGrpSpPr>
                  <a:grpSpLocks/>
                </p:cNvGrpSpPr>
                <p:nvPr/>
              </p:nvGrpSpPr>
              <p:grpSpPr bwMode="auto">
                <a:xfrm>
                  <a:off x="1403250" y="2166602"/>
                  <a:ext cx="432000" cy="889878"/>
                  <a:chOff x="1726127" y="3943891"/>
                  <a:chExt cx="432000" cy="889878"/>
                </a:xfrm>
              </p:grpSpPr>
              <p:sp>
                <p:nvSpPr>
                  <p:cNvPr id="188" name="椭圆 187"/>
                  <p:cNvSpPr>
                    <a:spLocks noChangeAspect="1"/>
                  </p:cNvSpPr>
                  <p:nvPr/>
                </p:nvSpPr>
                <p:spPr bwMode="auto">
                  <a:xfrm>
                    <a:off x="1726128" y="3943892"/>
                    <a:ext cx="432000" cy="431199"/>
                  </a:xfrm>
                  <a:prstGeom prst="ellipse">
                    <a:avLst/>
                  </a:prstGeom>
                  <a:solidFill>
                    <a:schemeClr val="bg1">
                      <a:lumMod val="2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/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  <a:defRPr/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  <p:sp>
                <p:nvSpPr>
                  <p:cNvPr id="29749" name="椭圆 188"/>
                  <p:cNvSpPr>
                    <a:spLocks noChangeAspect="1"/>
                  </p:cNvSpPr>
                  <p:nvPr/>
                </p:nvSpPr>
                <p:spPr bwMode="auto">
                  <a:xfrm>
                    <a:off x="1726127" y="4401769"/>
                    <a:ext cx="432000" cy="43200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</p:grpSp>
            <p:sp>
              <p:nvSpPr>
                <p:cNvPr id="29747" name="椭圆 186"/>
                <p:cNvSpPr>
                  <a:spLocks noChangeAspect="1"/>
                </p:cNvSpPr>
                <p:nvPr/>
              </p:nvSpPr>
              <p:spPr bwMode="auto">
                <a:xfrm>
                  <a:off x="1583791" y="2576492"/>
                  <a:ext cx="71964" cy="71952"/>
                </a:xfrm>
                <a:prstGeom prst="ellipse">
                  <a:avLst/>
                </a:prstGeom>
                <a:solidFill>
                  <a:schemeClr val="bg2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</a:pPr>
                  <a:endParaRPr kumimoji="1" lang="zh-CN" altLang="en-US" sz="1600">
                    <a:ea typeface="楷体_GB2312" pitchFamily="49" charset="-122"/>
                  </a:endParaRPr>
                </a:p>
              </p:txBody>
            </p:sp>
          </p:grpSp>
          <p:cxnSp>
            <p:nvCxnSpPr>
              <p:cNvPr id="182" name="直接连接符 181"/>
              <p:cNvCxnSpPr/>
              <p:nvPr/>
            </p:nvCxnSpPr>
            <p:spPr bwMode="auto">
              <a:xfrm>
                <a:off x="4068929" y="2510962"/>
                <a:ext cx="107800" cy="0"/>
              </a:xfrm>
              <a:prstGeom prst="line">
                <a:avLst/>
              </a:prstGeom>
              <a:solidFill>
                <a:schemeClr val="accent1"/>
              </a:solidFill>
              <a:ln w="44450" cap="flat" cmpd="sng" algn="ctr">
                <a:solidFill>
                  <a:schemeClr val="bg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/>
              </a:extLst>
            </p:spPr>
          </p:cxnSp>
          <p:grpSp>
            <p:nvGrpSpPr>
              <p:cNvPr id="29743" name="组合 182"/>
              <p:cNvGrpSpPr>
                <a:grpSpLocks/>
              </p:cNvGrpSpPr>
              <p:nvPr/>
            </p:nvGrpSpPr>
            <p:grpSpPr bwMode="auto">
              <a:xfrm>
                <a:off x="4397646" y="2448950"/>
                <a:ext cx="108000" cy="108000"/>
                <a:chOff x="5739136" y="2466959"/>
                <a:chExt cx="108000" cy="108000"/>
              </a:xfrm>
            </p:grpSpPr>
            <p:cxnSp>
              <p:nvCxnSpPr>
                <p:cNvPr id="29744" name="直接连接符 183"/>
                <p:cNvCxnSpPr>
                  <a:cxnSpLocks noChangeShapeType="1"/>
                </p:cNvCxnSpPr>
                <p:nvPr/>
              </p:nvCxnSpPr>
              <p:spPr bwMode="auto">
                <a:xfrm>
                  <a:off x="5739136" y="2520958"/>
                  <a:ext cx="108000" cy="0"/>
                </a:xfrm>
                <a:prstGeom prst="line">
                  <a:avLst/>
                </a:prstGeom>
                <a:noFill/>
                <a:ln w="44450" algn="ctr">
                  <a:solidFill>
                    <a:srgbClr val="FFFFFF"/>
                  </a:solidFill>
                  <a:round/>
                  <a:headEnd/>
                  <a:tailEnd/>
                </a:ln>
              </p:spPr>
            </p:cxnSp>
            <p:cxnSp>
              <p:nvCxnSpPr>
                <p:cNvPr id="29745" name="直接连接符 184"/>
                <p:cNvCxnSpPr>
                  <a:cxnSpLocks noChangeShapeType="1"/>
                </p:cNvCxnSpPr>
                <p:nvPr/>
              </p:nvCxnSpPr>
              <p:spPr bwMode="auto">
                <a:xfrm rot="-5400000">
                  <a:off x="5739136" y="2520959"/>
                  <a:ext cx="108000" cy="0"/>
                </a:xfrm>
                <a:prstGeom prst="line">
                  <a:avLst/>
                </a:prstGeom>
                <a:noFill/>
                <a:ln w="44450" algn="ctr">
                  <a:solidFill>
                    <a:srgbClr val="FFFFFF"/>
                  </a:solidFill>
                  <a:round/>
                  <a:headEnd/>
                  <a:tailEnd/>
                </a:ln>
              </p:spPr>
            </p:cxnSp>
          </p:grpSp>
        </p:grpSp>
        <p:grpSp>
          <p:nvGrpSpPr>
            <p:cNvPr id="29715" name="组合 157"/>
            <p:cNvGrpSpPr>
              <a:grpSpLocks/>
            </p:cNvGrpSpPr>
            <p:nvPr/>
          </p:nvGrpSpPr>
          <p:grpSpPr bwMode="auto">
            <a:xfrm rot="16200000" flipV="1">
              <a:off x="7466013" y="4400550"/>
              <a:ext cx="666750" cy="323850"/>
              <a:chOff x="3965884" y="2353726"/>
              <a:chExt cx="667409" cy="324000"/>
            </a:xfrm>
          </p:grpSpPr>
          <p:grpSp>
            <p:nvGrpSpPr>
              <p:cNvPr id="29732" name="组合 171"/>
              <p:cNvGrpSpPr>
                <a:grpSpLocks noChangeAspect="1"/>
              </p:cNvGrpSpPr>
              <p:nvPr/>
            </p:nvGrpSpPr>
            <p:grpSpPr bwMode="auto">
              <a:xfrm rot="5400000">
                <a:off x="4137589" y="2182021"/>
                <a:ext cx="324000" cy="667409"/>
                <a:chOff x="1403250" y="2166602"/>
                <a:chExt cx="432000" cy="889878"/>
              </a:xfrm>
            </p:grpSpPr>
            <p:grpSp>
              <p:nvGrpSpPr>
                <p:cNvPr id="29737" name="组 4"/>
                <p:cNvGrpSpPr>
                  <a:grpSpLocks/>
                </p:cNvGrpSpPr>
                <p:nvPr/>
              </p:nvGrpSpPr>
              <p:grpSpPr bwMode="auto">
                <a:xfrm>
                  <a:off x="1403250" y="2166602"/>
                  <a:ext cx="432000" cy="889878"/>
                  <a:chOff x="1726127" y="3943891"/>
                  <a:chExt cx="432000" cy="889878"/>
                </a:xfrm>
              </p:grpSpPr>
              <p:sp>
                <p:nvSpPr>
                  <p:cNvPr id="179" name="椭圆 178"/>
                  <p:cNvSpPr>
                    <a:spLocks noChangeAspect="1"/>
                  </p:cNvSpPr>
                  <p:nvPr/>
                </p:nvSpPr>
                <p:spPr bwMode="auto">
                  <a:xfrm>
                    <a:off x="1726128" y="3922703"/>
                    <a:ext cx="432000" cy="432226"/>
                  </a:xfrm>
                  <a:prstGeom prst="ellipse">
                    <a:avLst/>
                  </a:prstGeom>
                  <a:solidFill>
                    <a:schemeClr val="bg1">
                      <a:lumMod val="2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/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  <a:defRPr/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  <p:sp>
                <p:nvSpPr>
                  <p:cNvPr id="29740" name="椭圆 179"/>
                  <p:cNvSpPr>
                    <a:spLocks noChangeAspect="1"/>
                  </p:cNvSpPr>
                  <p:nvPr/>
                </p:nvSpPr>
                <p:spPr bwMode="auto">
                  <a:xfrm>
                    <a:off x="1726127" y="4401769"/>
                    <a:ext cx="432000" cy="43200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spcBef>
                        <a:spcPct val="50000"/>
                      </a:spcBef>
                    </a:pPr>
                    <a:endParaRPr kumimoji="1" lang="zh-CN" altLang="en-US" sz="1600">
                      <a:ea typeface="楷体_GB2312" pitchFamily="49" charset="-122"/>
                    </a:endParaRPr>
                  </a:p>
                </p:txBody>
              </p:sp>
            </p:grpSp>
            <p:sp>
              <p:nvSpPr>
                <p:cNvPr id="29738" name="椭圆 177"/>
                <p:cNvSpPr>
                  <a:spLocks noChangeAspect="1"/>
                </p:cNvSpPr>
                <p:nvPr/>
              </p:nvSpPr>
              <p:spPr bwMode="auto">
                <a:xfrm>
                  <a:off x="1583046" y="2575470"/>
                  <a:ext cx="71964" cy="74068"/>
                </a:xfrm>
                <a:prstGeom prst="ellipse">
                  <a:avLst/>
                </a:prstGeom>
                <a:solidFill>
                  <a:schemeClr val="bg2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</a:pPr>
                  <a:endParaRPr kumimoji="1" lang="zh-CN" altLang="en-US" sz="1600">
                    <a:ea typeface="楷体_GB2312" pitchFamily="49" charset="-122"/>
                  </a:endParaRPr>
                </a:p>
              </p:txBody>
            </p:sp>
          </p:grpSp>
          <p:cxnSp>
            <p:nvCxnSpPr>
              <p:cNvPr id="173" name="直接连接符 172"/>
              <p:cNvCxnSpPr/>
              <p:nvPr/>
            </p:nvCxnSpPr>
            <p:spPr bwMode="auto">
              <a:xfrm>
                <a:off x="4081887" y="2510962"/>
                <a:ext cx="108057" cy="0"/>
              </a:xfrm>
              <a:prstGeom prst="line">
                <a:avLst/>
              </a:prstGeom>
              <a:solidFill>
                <a:schemeClr val="accent1"/>
              </a:solidFill>
              <a:ln w="44450" cap="flat" cmpd="sng" algn="ctr">
                <a:solidFill>
                  <a:schemeClr val="bg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/>
              </a:extLst>
            </p:spPr>
          </p:cxnSp>
          <p:grpSp>
            <p:nvGrpSpPr>
              <p:cNvPr id="29734" name="组合 173"/>
              <p:cNvGrpSpPr>
                <a:grpSpLocks/>
              </p:cNvGrpSpPr>
              <p:nvPr/>
            </p:nvGrpSpPr>
            <p:grpSpPr bwMode="auto">
              <a:xfrm>
                <a:off x="4397646" y="2448950"/>
                <a:ext cx="108000" cy="108000"/>
                <a:chOff x="5739136" y="2466959"/>
                <a:chExt cx="108000" cy="108000"/>
              </a:xfrm>
            </p:grpSpPr>
            <p:cxnSp>
              <p:nvCxnSpPr>
                <p:cNvPr id="29735" name="直接连接符 174"/>
                <p:cNvCxnSpPr>
                  <a:cxnSpLocks noChangeShapeType="1"/>
                </p:cNvCxnSpPr>
                <p:nvPr/>
              </p:nvCxnSpPr>
              <p:spPr bwMode="auto">
                <a:xfrm>
                  <a:off x="5739136" y="2520958"/>
                  <a:ext cx="108000" cy="0"/>
                </a:xfrm>
                <a:prstGeom prst="line">
                  <a:avLst/>
                </a:prstGeom>
                <a:noFill/>
                <a:ln w="44450" algn="ctr">
                  <a:solidFill>
                    <a:srgbClr val="FFFFFF"/>
                  </a:solidFill>
                  <a:round/>
                  <a:headEnd/>
                  <a:tailEnd/>
                </a:ln>
              </p:spPr>
            </p:cxnSp>
            <p:cxnSp>
              <p:nvCxnSpPr>
                <p:cNvPr id="29736" name="直接连接符 175"/>
                <p:cNvCxnSpPr>
                  <a:cxnSpLocks noChangeShapeType="1"/>
                </p:cNvCxnSpPr>
                <p:nvPr/>
              </p:nvCxnSpPr>
              <p:spPr bwMode="auto">
                <a:xfrm rot="-5400000">
                  <a:off x="5739136" y="2520959"/>
                  <a:ext cx="108000" cy="0"/>
                </a:xfrm>
                <a:prstGeom prst="line">
                  <a:avLst/>
                </a:prstGeom>
                <a:noFill/>
                <a:ln w="44450" algn="ctr">
                  <a:solidFill>
                    <a:srgbClr val="FFFFFF"/>
                  </a:solidFill>
                  <a:round/>
                  <a:headEnd/>
                  <a:tailEnd/>
                </a:ln>
              </p:spPr>
            </p:cxnSp>
          </p:grpSp>
        </p:grpSp>
        <p:sp>
          <p:nvSpPr>
            <p:cNvPr id="29716" name="Rectangle 5"/>
            <p:cNvSpPr>
              <a:spLocks noChangeArrowheads="1"/>
            </p:cNvSpPr>
            <p:nvPr/>
          </p:nvSpPr>
          <p:spPr bwMode="auto">
            <a:xfrm>
              <a:off x="7121525" y="3224213"/>
              <a:ext cx="358775" cy="58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r>
                <a:rPr lang="en-US" altLang="zh-CN" sz="2400" b="1" i="1">
                  <a:ea typeface="楷体_GB2312" pitchFamily="49" charset="-122"/>
                </a:rPr>
                <a:t>+</a:t>
              </a:r>
              <a:endParaRPr lang="zh-CN" altLang="en-US" sz="2400" b="1">
                <a:ea typeface="楷体_GB2312" pitchFamily="49" charset="-122"/>
              </a:endParaRPr>
            </a:p>
          </p:txBody>
        </p:sp>
        <p:sp>
          <p:nvSpPr>
            <p:cNvPr id="29717" name="Rectangle 5"/>
            <p:cNvSpPr>
              <a:spLocks noChangeArrowheads="1"/>
            </p:cNvSpPr>
            <p:nvPr/>
          </p:nvSpPr>
          <p:spPr bwMode="auto">
            <a:xfrm>
              <a:off x="7121525" y="4122738"/>
              <a:ext cx="358775" cy="5794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r>
                <a:rPr lang="en-US" altLang="zh-CN" sz="2400" b="1" i="1">
                  <a:ea typeface="楷体_GB2312" pitchFamily="49" charset="-122"/>
                </a:rPr>
                <a:t>+</a:t>
              </a:r>
              <a:endParaRPr lang="zh-CN" altLang="en-US" sz="2400" b="1">
                <a:ea typeface="楷体_GB2312" pitchFamily="49" charset="-122"/>
              </a:endParaRPr>
            </a:p>
          </p:txBody>
        </p:sp>
        <p:sp>
          <p:nvSpPr>
            <p:cNvPr id="29718" name="右箭头 160"/>
            <p:cNvSpPr>
              <a:spLocks noChangeArrowheads="1"/>
            </p:cNvSpPr>
            <p:nvPr/>
          </p:nvSpPr>
          <p:spPr bwMode="auto">
            <a:xfrm>
              <a:off x="8224838" y="4333875"/>
              <a:ext cx="360362" cy="280988"/>
            </a:xfrm>
            <a:prstGeom prst="rightArrow">
              <a:avLst>
                <a:gd name="adj1" fmla="val 50000"/>
                <a:gd name="adj2" fmla="val 50052"/>
              </a:avLst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kumimoji="1" lang="zh-CN" altLang="en-US" sz="1600">
                <a:ea typeface="楷体_GB2312" pitchFamily="49" charset="-122"/>
              </a:endParaRPr>
            </a:p>
          </p:txBody>
        </p:sp>
        <p:sp>
          <p:nvSpPr>
            <p:cNvPr id="29719" name="右箭头 161"/>
            <p:cNvSpPr>
              <a:spLocks noChangeArrowheads="1"/>
            </p:cNvSpPr>
            <p:nvPr/>
          </p:nvSpPr>
          <p:spPr bwMode="auto">
            <a:xfrm>
              <a:off x="8224838" y="3538538"/>
              <a:ext cx="360362" cy="280987"/>
            </a:xfrm>
            <a:prstGeom prst="rightArrow">
              <a:avLst>
                <a:gd name="adj1" fmla="val 50000"/>
                <a:gd name="adj2" fmla="val 50053"/>
              </a:avLst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kumimoji="1" lang="zh-CN" altLang="en-US" sz="1600">
                <a:ea typeface="楷体_GB2312" pitchFamily="49" charset="-122"/>
              </a:endParaRPr>
            </a:p>
          </p:txBody>
        </p:sp>
        <p:pic>
          <p:nvPicPr>
            <p:cNvPr id="29720" name="图片 162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8728075" y="4079875"/>
              <a:ext cx="1309688" cy="766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9721" name="图片 163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8718550" y="3213100"/>
              <a:ext cx="1438275" cy="747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9722" name="Rectangle 5"/>
            <p:cNvSpPr>
              <a:spLocks noChangeArrowheads="1"/>
            </p:cNvSpPr>
            <p:nvPr/>
          </p:nvSpPr>
          <p:spPr bwMode="auto">
            <a:xfrm>
              <a:off x="10698163" y="4083050"/>
              <a:ext cx="558800" cy="579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r>
                <a:rPr lang="el-GR" altLang="zh-CN" sz="2400" b="1" i="1">
                  <a:ea typeface="楷体_GB2312" pitchFamily="49" charset="-122"/>
                </a:rPr>
                <a:t>π</a:t>
              </a:r>
              <a:r>
                <a:rPr lang="en-US" altLang="zh-CN" sz="2400" b="1" baseline="-25000">
                  <a:ea typeface="楷体_GB2312" pitchFamily="49" charset="-122"/>
                </a:rPr>
                <a:t>pz</a:t>
              </a:r>
              <a:endParaRPr lang="zh-CN" altLang="en-US" sz="2400" b="1" baseline="-25000">
                <a:ea typeface="楷体_GB2312" pitchFamily="49" charset="-122"/>
              </a:endParaRPr>
            </a:p>
          </p:txBody>
        </p:sp>
        <p:sp>
          <p:nvSpPr>
            <p:cNvPr id="29723" name="Rectangle 5"/>
            <p:cNvSpPr>
              <a:spLocks noChangeArrowheads="1"/>
            </p:cNvSpPr>
            <p:nvPr/>
          </p:nvSpPr>
          <p:spPr bwMode="auto">
            <a:xfrm>
              <a:off x="10126663" y="3168650"/>
              <a:ext cx="671512" cy="97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r>
                <a:rPr lang="el-GR" altLang="zh-CN" sz="2400" b="1" i="1">
                  <a:ea typeface="楷体_GB2312" pitchFamily="49" charset="-122"/>
                </a:rPr>
                <a:t>π</a:t>
              </a:r>
              <a:r>
                <a:rPr lang="en-US" altLang="zh-CN" sz="2400" b="1" baseline="-25000">
                  <a:ea typeface="楷体_GB2312" pitchFamily="49" charset="-122"/>
                </a:rPr>
                <a:t>py</a:t>
              </a:r>
              <a:r>
                <a:rPr lang="en-US" altLang="zh-CN" sz="2400" b="1" baseline="30000">
                  <a:ea typeface="楷体_GB2312" pitchFamily="49" charset="-122"/>
                </a:rPr>
                <a:t>*</a:t>
              </a:r>
              <a:endParaRPr lang="zh-CN" altLang="en-US" sz="2400" b="1" baseline="30000">
                <a:ea typeface="楷体_GB2312" pitchFamily="49" charset="-122"/>
              </a:endParaRPr>
            </a:p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endParaRPr lang="zh-CN" altLang="en-US" sz="2400" b="1" baseline="-25000">
                <a:ea typeface="楷体_GB2312" pitchFamily="49" charset="-122"/>
              </a:endParaRPr>
            </a:p>
          </p:txBody>
        </p:sp>
        <p:sp>
          <p:nvSpPr>
            <p:cNvPr id="29724" name="Rectangle 5"/>
            <p:cNvSpPr>
              <a:spLocks noChangeArrowheads="1"/>
            </p:cNvSpPr>
            <p:nvPr/>
          </p:nvSpPr>
          <p:spPr bwMode="auto">
            <a:xfrm>
              <a:off x="10655300" y="3175000"/>
              <a:ext cx="660400" cy="969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r>
                <a:rPr lang="el-GR" altLang="zh-CN" sz="2400" b="1" i="1">
                  <a:ea typeface="楷体_GB2312" pitchFamily="49" charset="-122"/>
                </a:rPr>
                <a:t>π</a:t>
              </a:r>
              <a:r>
                <a:rPr lang="en-US" altLang="zh-CN" sz="2400" b="1" baseline="-25000">
                  <a:ea typeface="楷体_GB2312" pitchFamily="49" charset="-122"/>
                </a:rPr>
                <a:t>pz</a:t>
              </a:r>
              <a:r>
                <a:rPr lang="en-US" altLang="zh-CN" sz="2400" b="1" baseline="30000">
                  <a:ea typeface="楷体_GB2312" pitchFamily="49" charset="-122"/>
                </a:rPr>
                <a:t>*</a:t>
              </a:r>
              <a:endParaRPr lang="zh-CN" altLang="en-US" sz="2400" b="1" baseline="30000">
                <a:ea typeface="楷体_GB2312" pitchFamily="49" charset="-122"/>
              </a:endParaRPr>
            </a:p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endParaRPr lang="zh-CN" altLang="en-US" sz="2400" b="1" baseline="-25000">
                <a:solidFill>
                  <a:schemeClr val="bg2"/>
                </a:solidFill>
                <a:ea typeface="楷体_GB2312" pitchFamily="49" charset="-122"/>
              </a:endParaRPr>
            </a:p>
          </p:txBody>
        </p:sp>
        <p:sp>
          <p:nvSpPr>
            <p:cNvPr id="29725" name="Rectangle 5"/>
            <p:cNvSpPr>
              <a:spLocks noChangeArrowheads="1"/>
            </p:cNvSpPr>
            <p:nvPr/>
          </p:nvSpPr>
          <p:spPr bwMode="auto">
            <a:xfrm>
              <a:off x="3673475" y="4433888"/>
              <a:ext cx="401638" cy="5540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r>
                <a:rPr lang="en-US" altLang="zh-CN" sz="2000" b="1">
                  <a:ea typeface="楷体_GB2312" pitchFamily="49" charset="-122"/>
                </a:rPr>
                <a:t>p</a:t>
              </a:r>
              <a:r>
                <a:rPr lang="en-US" altLang="zh-CN" sz="2000" b="1" i="1" baseline="-25000">
                  <a:ea typeface="楷体_GB2312" pitchFamily="49" charset="-122"/>
                </a:rPr>
                <a:t>y</a:t>
              </a:r>
              <a:endParaRPr lang="zh-CN" altLang="en-US" sz="2000" b="1" i="1" baseline="-25000">
                <a:ea typeface="楷体_GB2312" pitchFamily="49" charset="-122"/>
              </a:endParaRPr>
            </a:p>
          </p:txBody>
        </p:sp>
        <p:sp>
          <p:nvSpPr>
            <p:cNvPr id="29726" name="Rectangle 5"/>
            <p:cNvSpPr>
              <a:spLocks noChangeArrowheads="1"/>
            </p:cNvSpPr>
            <p:nvPr/>
          </p:nvSpPr>
          <p:spPr bwMode="auto">
            <a:xfrm>
              <a:off x="4929188" y="4446588"/>
              <a:ext cx="403225" cy="498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r>
                <a:rPr lang="en-US" altLang="zh-CN" sz="2000" b="1">
                  <a:ea typeface="楷体_GB2312" pitchFamily="49" charset="-122"/>
                </a:rPr>
                <a:t>p</a:t>
              </a:r>
              <a:r>
                <a:rPr lang="en-US" altLang="zh-CN" sz="2000" b="1" i="1" baseline="-25000">
                  <a:ea typeface="楷体_GB2312" pitchFamily="49" charset="-122"/>
                </a:rPr>
                <a:t>y</a:t>
              </a:r>
              <a:endParaRPr lang="zh-CN" altLang="en-US" sz="2000" b="1" i="1" baseline="-25000">
                <a:ea typeface="楷体_GB2312" pitchFamily="49" charset="-122"/>
              </a:endParaRPr>
            </a:p>
          </p:txBody>
        </p:sp>
        <p:cxnSp>
          <p:nvCxnSpPr>
            <p:cNvPr id="29727" name="直线箭头连接符 15"/>
            <p:cNvCxnSpPr>
              <a:cxnSpLocks noChangeShapeType="1"/>
            </p:cNvCxnSpPr>
            <p:nvPr/>
          </p:nvCxnSpPr>
          <p:spPr bwMode="auto">
            <a:xfrm>
              <a:off x="5992813" y="4132263"/>
              <a:ext cx="431800" cy="371475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9728" name="直线连接符 13"/>
            <p:cNvCxnSpPr>
              <a:cxnSpLocks noChangeShapeType="1"/>
            </p:cNvCxnSpPr>
            <p:nvPr/>
          </p:nvCxnSpPr>
          <p:spPr bwMode="auto">
            <a:xfrm>
              <a:off x="5808663" y="4137025"/>
              <a:ext cx="180975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9729" name="直线箭头连接符 15"/>
            <p:cNvCxnSpPr>
              <a:cxnSpLocks noChangeShapeType="1"/>
            </p:cNvCxnSpPr>
            <p:nvPr/>
          </p:nvCxnSpPr>
          <p:spPr bwMode="auto">
            <a:xfrm flipV="1">
              <a:off x="5991225" y="3763963"/>
              <a:ext cx="409575" cy="376237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9730" name="Rectangle 5"/>
            <p:cNvSpPr>
              <a:spLocks noChangeArrowheads="1"/>
            </p:cNvSpPr>
            <p:nvPr/>
          </p:nvSpPr>
          <p:spPr bwMode="auto">
            <a:xfrm>
              <a:off x="5819775" y="3971925"/>
              <a:ext cx="390525" cy="6604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r>
                <a:rPr lang="en-US" altLang="zh-CN" sz="2800" b="1" i="1">
                  <a:solidFill>
                    <a:srgbClr val="FF0000"/>
                  </a:solidFill>
                  <a:ea typeface="楷体_GB2312" pitchFamily="49" charset="-122"/>
                </a:rPr>
                <a:t>+</a:t>
              </a:r>
              <a:endParaRPr lang="zh-CN" altLang="en-US" sz="2800" b="1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  <p:cxnSp>
          <p:nvCxnSpPr>
            <p:cNvPr id="29731" name="直接连接符 107"/>
            <p:cNvCxnSpPr>
              <a:cxnSpLocks noChangeShapeType="1"/>
            </p:cNvCxnSpPr>
            <p:nvPr/>
          </p:nvCxnSpPr>
          <p:spPr bwMode="auto">
            <a:xfrm>
              <a:off x="5929313" y="3868738"/>
              <a:ext cx="179387" cy="0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</p:spPr>
        </p:cxnSp>
      </p:grpSp>
      <p:sp>
        <p:nvSpPr>
          <p:cNvPr id="29705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335756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8.1.3</a:t>
            </a:r>
            <a:r>
              <a:rPr kumimoji="1"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分子轨道理论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3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8" grpId="0" build="p"/>
      <p:bldP spid="78" grpId="0" build="p"/>
      <p:bldP spid="79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3" name="Oval 6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" name="Rectangle 5"/>
          <p:cNvSpPr>
            <a:spLocks noChangeArrowheads="1"/>
          </p:cNvSpPr>
          <p:nvPr/>
        </p:nvSpPr>
        <p:spPr bwMode="auto">
          <a:xfrm>
            <a:off x="3346450" y="873125"/>
            <a:ext cx="48418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Monotype Sorts" pitchFamily="2" charset="2"/>
              <a:buNone/>
            </a:pP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①</a:t>
            </a:r>
            <a:r>
              <a:rPr lang="zh-CN" altLang="en-US" sz="2500" b="1">
                <a:ea typeface="楷体_GB2312" pitchFamily="49" charset="-122"/>
              </a:rPr>
              <a:t>原子轨道能级</a:t>
            </a:r>
            <a:r>
              <a:rPr lang="en-US" altLang="zh-CN" sz="2500" b="1">
                <a:ea typeface="楷体_GB2312" pitchFamily="49" charset="-122"/>
              </a:rPr>
              <a:t>;</a:t>
            </a: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②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线性组合状况</a:t>
            </a:r>
            <a:r>
              <a:rPr lang="en-US" altLang="zh-CN" sz="2500" b="1">
                <a:latin typeface="黑体" pitchFamily="49" charset="-122"/>
                <a:ea typeface="楷体_GB2312" pitchFamily="49" charset="-122"/>
              </a:rPr>
              <a:t>.</a:t>
            </a:r>
            <a:endParaRPr lang="zh-CN" altLang="en-US" sz="2500" b="1">
              <a:latin typeface="黑体" pitchFamily="49" charset="-122"/>
              <a:ea typeface="楷体_GB2312" pitchFamily="49" charset="-122"/>
            </a:endParaRPr>
          </a:p>
        </p:txBody>
      </p:sp>
      <p:sp>
        <p:nvSpPr>
          <p:cNvPr id="55309" name="Text Box 47"/>
          <p:cNvSpPr txBox="1">
            <a:spLocks noChangeArrowheads="1"/>
          </p:cNvSpPr>
          <p:nvPr/>
        </p:nvSpPr>
        <p:spPr bwMode="auto">
          <a:xfrm>
            <a:off x="831850" y="882650"/>
            <a:ext cx="290988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ea typeface="楷体_GB2312" pitchFamily="49" charset="-122"/>
              </a:rPr>
              <a:t>3.</a:t>
            </a:r>
            <a:r>
              <a:rPr kumimoji="1" lang="zh-CN" altLang="en-US" sz="2500" b="1">
                <a:ea typeface="楷体_GB2312" pitchFamily="49" charset="-122"/>
              </a:rPr>
              <a:t>分子轨道能级图</a:t>
            </a:r>
          </a:p>
        </p:txBody>
      </p:sp>
      <p:grpSp>
        <p:nvGrpSpPr>
          <p:cNvPr id="2" name="组合 319"/>
          <p:cNvGrpSpPr>
            <a:grpSpLocks/>
          </p:cNvGrpSpPr>
          <p:nvPr/>
        </p:nvGrpSpPr>
        <p:grpSpPr bwMode="auto">
          <a:xfrm>
            <a:off x="1619250" y="3895725"/>
            <a:ext cx="412750" cy="498475"/>
            <a:chOff x="1586390" y="4304819"/>
            <a:chExt cx="411835" cy="498628"/>
          </a:xfrm>
        </p:grpSpPr>
        <p:sp>
          <p:nvSpPr>
            <p:cNvPr id="321" name="椭圆 320"/>
            <p:cNvSpPr>
              <a:spLocks noChangeAspect="1"/>
            </p:cNvSpPr>
            <p:nvPr/>
          </p:nvSpPr>
          <p:spPr bwMode="auto">
            <a:xfrm>
              <a:off x="1633909" y="4449326"/>
              <a:ext cx="323132" cy="323949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 sz="16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22" name="Rectangle 5"/>
            <p:cNvSpPr>
              <a:spLocks noChangeArrowheads="1"/>
            </p:cNvSpPr>
            <p:nvPr/>
          </p:nvSpPr>
          <p:spPr bwMode="auto">
            <a:xfrm>
              <a:off x="1586390" y="4304819"/>
              <a:ext cx="411835" cy="4986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  <a:buClrTx/>
                <a:buSzTx/>
                <a:buFont typeface="Monotype Sorts"/>
                <a:buNone/>
                <a:defRPr/>
              </a:pPr>
              <a:r>
                <a:rPr lang="en-US" altLang="zh-CN" sz="2000" b="1" dirty="0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1s</a:t>
              </a:r>
              <a:endParaRPr lang="zh-CN" altLang="en-US" sz="2000" b="1" baseline="-25000" dirty="0" smtClean="0">
                <a:solidFill>
                  <a:schemeClr val="bg2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</p:grpSp>
      <p:grpSp>
        <p:nvGrpSpPr>
          <p:cNvPr id="3" name="组合 322"/>
          <p:cNvGrpSpPr>
            <a:grpSpLocks/>
          </p:cNvGrpSpPr>
          <p:nvPr/>
        </p:nvGrpSpPr>
        <p:grpSpPr bwMode="auto">
          <a:xfrm>
            <a:off x="3246438" y="3879850"/>
            <a:ext cx="412750" cy="498475"/>
            <a:chOff x="3212828" y="4315717"/>
            <a:chExt cx="413424" cy="498628"/>
          </a:xfrm>
        </p:grpSpPr>
        <p:sp>
          <p:nvSpPr>
            <p:cNvPr id="324" name="椭圆 323"/>
            <p:cNvSpPr>
              <a:spLocks noChangeAspect="1"/>
            </p:cNvSpPr>
            <p:nvPr/>
          </p:nvSpPr>
          <p:spPr bwMode="auto">
            <a:xfrm>
              <a:off x="3249400" y="4449108"/>
              <a:ext cx="324379" cy="323949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 sz="16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25" name="Rectangle 5"/>
            <p:cNvSpPr>
              <a:spLocks noChangeArrowheads="1"/>
            </p:cNvSpPr>
            <p:nvPr/>
          </p:nvSpPr>
          <p:spPr bwMode="auto">
            <a:xfrm>
              <a:off x="3212828" y="4315717"/>
              <a:ext cx="413424" cy="4986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  <a:buClrTx/>
                <a:buSzTx/>
                <a:buFont typeface="Monotype Sorts"/>
                <a:buNone/>
                <a:defRPr/>
              </a:pPr>
              <a:r>
                <a:rPr lang="en-US" altLang="zh-CN" sz="2000" b="1" dirty="0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1s</a:t>
              </a:r>
              <a:endParaRPr lang="zh-CN" altLang="en-US" sz="2000" b="1" baseline="-25000" dirty="0" smtClean="0">
                <a:solidFill>
                  <a:schemeClr val="bg2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</p:grpSp>
      <p:grpSp>
        <p:nvGrpSpPr>
          <p:cNvPr id="4" name="组合 325"/>
          <p:cNvGrpSpPr>
            <a:grpSpLocks/>
          </p:cNvGrpSpPr>
          <p:nvPr/>
        </p:nvGrpSpPr>
        <p:grpSpPr bwMode="auto">
          <a:xfrm>
            <a:off x="1609725" y="2994025"/>
            <a:ext cx="412750" cy="498475"/>
            <a:chOff x="1593876" y="3465256"/>
            <a:chExt cx="411835" cy="498628"/>
          </a:xfrm>
        </p:grpSpPr>
        <p:sp>
          <p:nvSpPr>
            <p:cNvPr id="327" name="椭圆 326"/>
            <p:cNvSpPr>
              <a:spLocks noChangeAspect="1"/>
            </p:cNvSpPr>
            <p:nvPr/>
          </p:nvSpPr>
          <p:spPr bwMode="auto">
            <a:xfrm>
              <a:off x="1633476" y="3612939"/>
              <a:ext cx="324716" cy="323949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 sz="16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28" name="Rectangle 5"/>
            <p:cNvSpPr>
              <a:spLocks noChangeArrowheads="1"/>
            </p:cNvSpPr>
            <p:nvPr/>
          </p:nvSpPr>
          <p:spPr bwMode="auto">
            <a:xfrm>
              <a:off x="1593876" y="3465256"/>
              <a:ext cx="411835" cy="4986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  <a:buClrTx/>
                <a:buSzTx/>
                <a:buFont typeface="Monotype Sorts"/>
                <a:buNone/>
                <a:defRPr/>
              </a:pPr>
              <a:r>
                <a:rPr lang="en-US" altLang="zh-CN" sz="2000" b="1" dirty="0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2s</a:t>
              </a:r>
              <a:endParaRPr lang="zh-CN" altLang="en-US" sz="2000" b="1" baseline="-25000" dirty="0" smtClean="0">
                <a:solidFill>
                  <a:schemeClr val="bg2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</p:grpSp>
      <p:grpSp>
        <p:nvGrpSpPr>
          <p:cNvPr id="5" name="组合 328"/>
          <p:cNvGrpSpPr>
            <a:grpSpLocks/>
          </p:cNvGrpSpPr>
          <p:nvPr/>
        </p:nvGrpSpPr>
        <p:grpSpPr bwMode="auto">
          <a:xfrm>
            <a:off x="3238500" y="3005138"/>
            <a:ext cx="412750" cy="498475"/>
            <a:chOff x="3206257" y="3478837"/>
            <a:chExt cx="411835" cy="500060"/>
          </a:xfrm>
        </p:grpSpPr>
        <p:sp>
          <p:nvSpPr>
            <p:cNvPr id="330" name="椭圆 329"/>
            <p:cNvSpPr>
              <a:spLocks noChangeAspect="1"/>
            </p:cNvSpPr>
            <p:nvPr/>
          </p:nvSpPr>
          <p:spPr bwMode="auto">
            <a:xfrm>
              <a:off x="3250608" y="3612611"/>
              <a:ext cx="323132" cy="324880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 sz="16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31" name="Rectangle 5"/>
            <p:cNvSpPr>
              <a:spLocks noChangeArrowheads="1"/>
            </p:cNvSpPr>
            <p:nvPr/>
          </p:nvSpPr>
          <p:spPr bwMode="auto">
            <a:xfrm>
              <a:off x="3206257" y="3478837"/>
              <a:ext cx="411835" cy="5000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  <a:buClrTx/>
                <a:buSzTx/>
                <a:buFont typeface="Monotype Sorts"/>
                <a:buNone/>
                <a:defRPr/>
              </a:pPr>
              <a:r>
                <a:rPr lang="en-US" altLang="zh-CN" sz="2000" b="1" dirty="0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2s</a:t>
              </a:r>
              <a:endParaRPr lang="zh-CN" altLang="en-US" sz="2000" b="1" baseline="-25000" dirty="0" smtClean="0">
                <a:solidFill>
                  <a:schemeClr val="bg2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</p:grpSp>
      <p:grpSp>
        <p:nvGrpSpPr>
          <p:cNvPr id="6" name="组合 331"/>
          <p:cNvGrpSpPr/>
          <p:nvPr/>
        </p:nvGrpSpPr>
        <p:grpSpPr>
          <a:xfrm>
            <a:off x="3293678" y="1941344"/>
            <a:ext cx="994688" cy="498663"/>
            <a:chOff x="3260814" y="2377410"/>
            <a:chExt cx="994688" cy="498663"/>
          </a:xfrm>
          <a:solidFill>
            <a:schemeClr val="bg1">
              <a:lumMod val="90000"/>
            </a:schemeClr>
          </a:solidFill>
        </p:grpSpPr>
        <p:grpSp>
          <p:nvGrpSpPr>
            <p:cNvPr id="7" name="组合 332"/>
            <p:cNvGrpSpPr/>
            <p:nvPr/>
          </p:nvGrpSpPr>
          <p:grpSpPr>
            <a:xfrm>
              <a:off x="3260814" y="2527341"/>
              <a:ext cx="994688" cy="324000"/>
              <a:chOff x="2447800" y="3102855"/>
              <a:chExt cx="994688" cy="324000"/>
            </a:xfrm>
            <a:grpFill/>
          </p:grpSpPr>
          <p:sp>
            <p:nvSpPr>
              <p:cNvPr id="335" name="椭圆 334"/>
              <p:cNvSpPr>
                <a:spLocks noChangeAspect="1"/>
              </p:cNvSpPr>
              <p:nvPr/>
            </p:nvSpPr>
            <p:spPr bwMode="auto">
              <a:xfrm>
                <a:off x="2786964" y="3102855"/>
                <a:ext cx="324000" cy="324000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/>
              <a:lstStyle/>
              <a:p>
                <a:pPr>
                  <a:spcBef>
                    <a:spcPct val="50000"/>
                  </a:spcBef>
                  <a:defRPr/>
                </a:pPr>
                <a:endParaRPr kumimoji="1" lang="zh-CN" altLang="en-US" sz="1600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336" name="椭圆 335"/>
              <p:cNvSpPr>
                <a:spLocks noChangeAspect="1"/>
              </p:cNvSpPr>
              <p:nvPr/>
            </p:nvSpPr>
            <p:spPr bwMode="auto">
              <a:xfrm>
                <a:off x="3118488" y="3102855"/>
                <a:ext cx="324000" cy="324000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/>
              <a:lstStyle/>
              <a:p>
                <a:pPr>
                  <a:spcBef>
                    <a:spcPct val="50000"/>
                  </a:spcBef>
                  <a:defRPr/>
                </a:pPr>
                <a:endParaRPr kumimoji="1" lang="zh-CN" altLang="en-US" sz="1600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337" name="椭圆 336"/>
              <p:cNvSpPr>
                <a:spLocks noChangeAspect="1"/>
              </p:cNvSpPr>
              <p:nvPr/>
            </p:nvSpPr>
            <p:spPr bwMode="auto">
              <a:xfrm>
                <a:off x="2447800" y="3102855"/>
                <a:ext cx="324000" cy="324000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/>
              <a:lstStyle/>
              <a:p>
                <a:pPr>
                  <a:spcBef>
                    <a:spcPct val="50000"/>
                  </a:spcBef>
                  <a:defRPr/>
                </a:pPr>
                <a:endParaRPr kumimoji="1" lang="zh-CN" altLang="en-US" sz="1600">
                  <a:latin typeface="+mn-lt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334" name="Rectangle 5"/>
            <p:cNvSpPr>
              <a:spLocks noChangeArrowheads="1"/>
            </p:cNvSpPr>
            <p:nvPr/>
          </p:nvSpPr>
          <p:spPr bwMode="auto">
            <a:xfrm>
              <a:off x="3541636" y="2377410"/>
              <a:ext cx="455574" cy="498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  <a:buClrTx/>
                <a:buSzTx/>
                <a:buFont typeface="Monotype Sorts"/>
                <a:buNone/>
                <a:defRPr/>
              </a:pPr>
              <a:r>
                <a:rPr lang="en-US" altLang="zh-CN" sz="2000" b="1" dirty="0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2p</a:t>
              </a:r>
              <a:endParaRPr lang="zh-CN" altLang="en-US" sz="2000" b="1" baseline="-25000" dirty="0" smtClean="0">
                <a:solidFill>
                  <a:schemeClr val="bg2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</p:grpSp>
      <p:grpSp>
        <p:nvGrpSpPr>
          <p:cNvPr id="8" name="组合 337"/>
          <p:cNvGrpSpPr/>
          <p:nvPr/>
        </p:nvGrpSpPr>
        <p:grpSpPr>
          <a:xfrm>
            <a:off x="1001787" y="1900416"/>
            <a:ext cx="994688" cy="498663"/>
            <a:chOff x="968923" y="2336482"/>
            <a:chExt cx="994688" cy="498663"/>
          </a:xfrm>
          <a:solidFill>
            <a:schemeClr val="bg1">
              <a:lumMod val="90000"/>
            </a:schemeClr>
          </a:solidFill>
        </p:grpSpPr>
        <p:grpSp>
          <p:nvGrpSpPr>
            <p:cNvPr id="9" name="组合 338"/>
            <p:cNvGrpSpPr/>
            <p:nvPr/>
          </p:nvGrpSpPr>
          <p:grpSpPr>
            <a:xfrm>
              <a:off x="968923" y="2505868"/>
              <a:ext cx="994688" cy="324000"/>
              <a:chOff x="2600200" y="3255255"/>
              <a:chExt cx="994688" cy="324000"/>
            </a:xfrm>
            <a:grpFill/>
          </p:grpSpPr>
          <p:sp>
            <p:nvSpPr>
              <p:cNvPr id="341" name="椭圆 340"/>
              <p:cNvSpPr>
                <a:spLocks noChangeAspect="1"/>
              </p:cNvSpPr>
              <p:nvPr/>
            </p:nvSpPr>
            <p:spPr bwMode="auto">
              <a:xfrm>
                <a:off x="2939364" y="3255255"/>
                <a:ext cx="324000" cy="324000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/>
              <a:lstStyle/>
              <a:p>
                <a:pPr>
                  <a:spcBef>
                    <a:spcPct val="50000"/>
                  </a:spcBef>
                  <a:defRPr/>
                </a:pPr>
                <a:endParaRPr kumimoji="1" lang="zh-CN" altLang="en-US" sz="1600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342" name="椭圆 341"/>
              <p:cNvSpPr>
                <a:spLocks noChangeAspect="1"/>
              </p:cNvSpPr>
              <p:nvPr/>
            </p:nvSpPr>
            <p:spPr bwMode="auto">
              <a:xfrm>
                <a:off x="3270888" y="3255255"/>
                <a:ext cx="324000" cy="324000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/>
              <a:lstStyle/>
              <a:p>
                <a:pPr>
                  <a:spcBef>
                    <a:spcPct val="50000"/>
                  </a:spcBef>
                  <a:defRPr/>
                </a:pPr>
                <a:endParaRPr kumimoji="1" lang="zh-CN" altLang="en-US" sz="1600"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343" name="椭圆 342"/>
              <p:cNvSpPr>
                <a:spLocks noChangeAspect="1"/>
              </p:cNvSpPr>
              <p:nvPr/>
            </p:nvSpPr>
            <p:spPr bwMode="auto">
              <a:xfrm>
                <a:off x="2600200" y="3255255"/>
                <a:ext cx="324000" cy="324000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/>
              <a:lstStyle/>
              <a:p>
                <a:pPr>
                  <a:spcBef>
                    <a:spcPct val="50000"/>
                  </a:spcBef>
                  <a:defRPr/>
                </a:pPr>
                <a:endParaRPr kumimoji="1" lang="zh-CN" altLang="en-US" sz="1600">
                  <a:latin typeface="+mn-lt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340" name="Rectangle 5"/>
            <p:cNvSpPr>
              <a:spLocks noChangeArrowheads="1"/>
            </p:cNvSpPr>
            <p:nvPr/>
          </p:nvSpPr>
          <p:spPr bwMode="auto">
            <a:xfrm>
              <a:off x="1265714" y="2336482"/>
              <a:ext cx="455574" cy="498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  <a:buClrTx/>
                <a:buSzTx/>
                <a:buFont typeface="Monotype Sorts"/>
                <a:buNone/>
                <a:defRPr/>
              </a:pPr>
              <a:r>
                <a:rPr lang="en-US" altLang="zh-CN" sz="2000" b="1" dirty="0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2p</a:t>
              </a:r>
              <a:endParaRPr lang="zh-CN" altLang="en-US" sz="2000" b="1" baseline="-25000" dirty="0" smtClean="0">
                <a:solidFill>
                  <a:schemeClr val="bg2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</p:grpSp>
      <p:sp>
        <p:nvSpPr>
          <p:cNvPr id="344" name="矩形 343"/>
          <p:cNvSpPr/>
          <p:nvPr/>
        </p:nvSpPr>
        <p:spPr>
          <a:xfrm>
            <a:off x="2400300" y="3992563"/>
            <a:ext cx="461963" cy="457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b="1" i="1" dirty="0">
                <a:latin typeface="+mn-lt"/>
                <a:ea typeface="华文楷体" panose="02010600040101010101" pitchFamily="2" charset="-122"/>
              </a:rPr>
              <a:t>𝛔</a:t>
            </a:r>
            <a:r>
              <a:rPr lang="en-US" altLang="zh-CN" b="1" baseline="-25000" dirty="0">
                <a:latin typeface="+mn-lt"/>
                <a:ea typeface="华文楷体" panose="02010600040101010101" pitchFamily="2" charset="-122"/>
              </a:rPr>
              <a:t>1s</a:t>
            </a:r>
            <a:endParaRPr lang="zh-CN" altLang="en-US" b="1" baseline="-25000" dirty="0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345" name="矩形 344"/>
          <p:cNvSpPr/>
          <p:nvPr/>
        </p:nvSpPr>
        <p:spPr>
          <a:xfrm>
            <a:off x="2397125" y="3127375"/>
            <a:ext cx="461963" cy="457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b="1" i="1" dirty="0">
                <a:latin typeface="+mn-lt"/>
                <a:ea typeface="华文楷体" panose="02010600040101010101" pitchFamily="2" charset="-122"/>
              </a:rPr>
              <a:t>𝛔</a:t>
            </a:r>
            <a:r>
              <a:rPr lang="en-US" altLang="zh-CN" b="1" baseline="-25000" dirty="0">
                <a:latin typeface="+mn-lt"/>
                <a:ea typeface="华文楷体" panose="02010600040101010101" pitchFamily="2" charset="-122"/>
              </a:rPr>
              <a:t>2s</a:t>
            </a:r>
            <a:endParaRPr lang="zh-CN" altLang="en-US" b="1" baseline="-25000" dirty="0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346" name="矩形 345"/>
          <p:cNvSpPr/>
          <p:nvPr/>
        </p:nvSpPr>
        <p:spPr>
          <a:xfrm>
            <a:off x="2328863" y="2292350"/>
            <a:ext cx="565150" cy="457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b="1" i="1" dirty="0">
                <a:latin typeface="+mn-lt"/>
                <a:ea typeface="华文楷体" panose="02010600040101010101" pitchFamily="2" charset="-122"/>
              </a:rPr>
              <a:t>𝛔</a:t>
            </a:r>
            <a:r>
              <a:rPr lang="en-US" altLang="zh-CN" b="1" baseline="-25000" dirty="0">
                <a:latin typeface="+mn-lt"/>
                <a:ea typeface="华文楷体" panose="02010600040101010101" pitchFamily="2" charset="-122"/>
              </a:rPr>
              <a:t>2p</a:t>
            </a:r>
            <a:r>
              <a:rPr lang="en-US" altLang="zh-CN" b="1" i="1" baseline="-25000" dirty="0">
                <a:latin typeface="+mn-lt"/>
                <a:ea typeface="华文楷体" panose="02010600040101010101" pitchFamily="2" charset="-122"/>
              </a:rPr>
              <a:t>x</a:t>
            </a:r>
            <a:endParaRPr lang="zh-CN" altLang="en-US" b="1" i="1" baseline="-25000" dirty="0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347" name="矩形 346"/>
          <p:cNvSpPr/>
          <p:nvPr/>
        </p:nvSpPr>
        <p:spPr>
          <a:xfrm>
            <a:off x="2147888" y="1947863"/>
            <a:ext cx="542925" cy="4587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l-GR" altLang="zh-CN" b="1" i="1" dirty="0">
                <a:latin typeface="+mn-lt"/>
                <a:ea typeface="华文楷体" panose="02010600040101010101" pitchFamily="2" charset="-122"/>
              </a:rPr>
              <a:t>π</a:t>
            </a:r>
            <a:r>
              <a:rPr lang="en-US" altLang="zh-CN" b="1" baseline="-25000" dirty="0">
                <a:latin typeface="+mn-lt"/>
                <a:ea typeface="华文楷体" panose="02010600040101010101" pitchFamily="2" charset="-122"/>
              </a:rPr>
              <a:t>2p</a:t>
            </a:r>
            <a:r>
              <a:rPr lang="en-US" altLang="zh-CN" b="1" i="1" baseline="-25000" dirty="0">
                <a:latin typeface="+mn-lt"/>
                <a:ea typeface="华文楷体" panose="02010600040101010101" pitchFamily="2" charset="-122"/>
              </a:rPr>
              <a:t>y</a:t>
            </a:r>
            <a:endParaRPr lang="zh-CN" altLang="en-US" b="1" i="1" baseline="-25000" dirty="0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348" name="矩形 347"/>
          <p:cNvSpPr/>
          <p:nvPr/>
        </p:nvSpPr>
        <p:spPr>
          <a:xfrm>
            <a:off x="2582863" y="1944688"/>
            <a:ext cx="531812" cy="4587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l-GR" altLang="zh-CN" b="1" i="1" dirty="0">
                <a:latin typeface="+mn-lt"/>
                <a:ea typeface="华文楷体" panose="02010600040101010101" pitchFamily="2" charset="-122"/>
              </a:rPr>
              <a:t>π</a:t>
            </a:r>
            <a:r>
              <a:rPr lang="en-US" altLang="zh-CN" b="1" baseline="-25000" dirty="0">
                <a:latin typeface="+mn-lt"/>
                <a:ea typeface="华文楷体" panose="02010600040101010101" pitchFamily="2" charset="-122"/>
              </a:rPr>
              <a:t>2p</a:t>
            </a:r>
            <a:r>
              <a:rPr lang="en-US" altLang="zh-CN" b="1" i="1" baseline="-25000" dirty="0">
                <a:latin typeface="+mn-lt"/>
                <a:ea typeface="华文楷体" panose="02010600040101010101" pitchFamily="2" charset="-122"/>
              </a:rPr>
              <a:t>z</a:t>
            </a:r>
            <a:endParaRPr lang="zh-CN" altLang="en-US" b="1" i="1" baseline="-25000" dirty="0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349" name="矩形 348"/>
          <p:cNvSpPr/>
          <p:nvPr/>
        </p:nvSpPr>
        <p:spPr>
          <a:xfrm>
            <a:off x="2189163" y="1597025"/>
            <a:ext cx="542925" cy="45878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l-GR" altLang="zh-CN" b="1" i="1" dirty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rPr>
              <a:t>π</a:t>
            </a:r>
            <a:r>
              <a:rPr lang="en-US" altLang="zh-CN" b="1" baseline="-25000" dirty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rPr>
              <a:t>2p</a:t>
            </a:r>
            <a:r>
              <a:rPr lang="en-US" altLang="zh-CN" b="1" i="1" baseline="-25000" dirty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rPr>
              <a:t>y</a:t>
            </a:r>
            <a:endParaRPr lang="zh-CN" altLang="en-US" b="1" i="1" baseline="-25000" dirty="0">
              <a:solidFill>
                <a:srgbClr val="FF0000"/>
              </a:solidFill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350" name="矩形 349"/>
          <p:cNvSpPr>
            <a:spLocks noChangeArrowheads="1"/>
          </p:cNvSpPr>
          <p:nvPr/>
        </p:nvSpPr>
        <p:spPr bwMode="auto">
          <a:xfrm>
            <a:off x="2332038" y="1597025"/>
            <a:ext cx="300037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FF0000"/>
                </a:solidFill>
                <a:ea typeface="华文楷体" pitchFamily="2" charset="-122"/>
              </a:rPr>
              <a:t>*</a:t>
            </a:r>
          </a:p>
        </p:txBody>
      </p:sp>
      <p:grpSp>
        <p:nvGrpSpPr>
          <p:cNvPr id="10" name="组合 350"/>
          <p:cNvGrpSpPr>
            <a:grpSpLocks/>
          </p:cNvGrpSpPr>
          <p:nvPr/>
        </p:nvGrpSpPr>
        <p:grpSpPr bwMode="auto">
          <a:xfrm>
            <a:off x="2587625" y="1525588"/>
            <a:ext cx="531813" cy="517525"/>
            <a:chOff x="2555352" y="1914220"/>
            <a:chExt cx="531170" cy="515592"/>
          </a:xfrm>
        </p:grpSpPr>
        <p:sp>
          <p:nvSpPr>
            <p:cNvPr id="352" name="矩形 351"/>
            <p:cNvSpPr/>
            <p:nvPr/>
          </p:nvSpPr>
          <p:spPr>
            <a:xfrm>
              <a:off x="2555352" y="1972738"/>
              <a:ext cx="531170" cy="4570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l-GR" altLang="zh-CN" b="1" i="1" dirty="0">
                  <a:solidFill>
                    <a:srgbClr val="FF0000"/>
                  </a:solidFill>
                  <a:latin typeface="+mn-lt"/>
                  <a:ea typeface="华文楷体" panose="02010600040101010101" pitchFamily="2" charset="-122"/>
                </a:rPr>
                <a:t>π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+mn-lt"/>
                  <a:ea typeface="华文楷体" panose="02010600040101010101" pitchFamily="2" charset="-122"/>
                </a:rPr>
                <a:t>2p</a:t>
              </a:r>
              <a:r>
                <a:rPr lang="en-US" altLang="zh-CN" b="1" i="1" baseline="-25000" dirty="0">
                  <a:solidFill>
                    <a:srgbClr val="FF0000"/>
                  </a:solidFill>
                  <a:latin typeface="+mn-lt"/>
                  <a:ea typeface="华文楷体" panose="02010600040101010101" pitchFamily="2" charset="-122"/>
                </a:rPr>
                <a:t>z</a:t>
              </a:r>
              <a:endParaRPr lang="zh-CN" altLang="en-US" b="1" i="1" baseline="-25000" dirty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0847" name="矩形 352"/>
            <p:cNvSpPr>
              <a:spLocks noChangeArrowheads="1"/>
            </p:cNvSpPr>
            <p:nvPr/>
          </p:nvSpPr>
          <p:spPr bwMode="auto">
            <a:xfrm>
              <a:off x="2728159" y="1914220"/>
              <a:ext cx="299676" cy="457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>
                  <a:solidFill>
                    <a:srgbClr val="FF0000"/>
                  </a:solidFill>
                  <a:ea typeface="华文楷体" pitchFamily="2" charset="-122"/>
                </a:rPr>
                <a:t>*</a:t>
              </a:r>
            </a:p>
          </p:txBody>
        </p:sp>
      </p:grpSp>
      <p:grpSp>
        <p:nvGrpSpPr>
          <p:cNvPr id="11" name="组合 353"/>
          <p:cNvGrpSpPr>
            <a:grpSpLocks/>
          </p:cNvGrpSpPr>
          <p:nvPr/>
        </p:nvGrpSpPr>
        <p:grpSpPr bwMode="auto">
          <a:xfrm>
            <a:off x="2403475" y="1168400"/>
            <a:ext cx="571500" cy="579438"/>
            <a:chOff x="2749287" y="2319708"/>
            <a:chExt cx="570347" cy="578198"/>
          </a:xfrm>
        </p:grpSpPr>
        <p:sp>
          <p:nvSpPr>
            <p:cNvPr id="355" name="矩形 354"/>
            <p:cNvSpPr/>
            <p:nvPr/>
          </p:nvSpPr>
          <p:spPr>
            <a:xfrm>
              <a:off x="2749287" y="2390993"/>
              <a:ext cx="570347" cy="5069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b="1" i="1" dirty="0">
                  <a:solidFill>
                    <a:srgbClr val="FF0000"/>
                  </a:solidFill>
                  <a:latin typeface="+mn-lt"/>
                  <a:ea typeface="华文楷体" panose="02010600040101010101" pitchFamily="2" charset="-122"/>
                </a:rPr>
                <a:t>𝛔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+mn-lt"/>
                  <a:ea typeface="华文楷体" panose="02010600040101010101" pitchFamily="2" charset="-122"/>
                </a:rPr>
                <a:t>2p</a:t>
              </a:r>
              <a:r>
                <a:rPr lang="en-US" altLang="zh-CN" b="1" i="1" baseline="-25000" dirty="0">
                  <a:solidFill>
                    <a:srgbClr val="FF0000"/>
                  </a:solidFill>
                  <a:latin typeface="+mn-lt"/>
                  <a:ea typeface="华文楷体" panose="02010600040101010101" pitchFamily="2" charset="-122"/>
                </a:rPr>
                <a:t>x</a:t>
              </a:r>
              <a:endParaRPr lang="zh-CN" altLang="en-US" b="1" baseline="30000" dirty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0845" name="矩形 355"/>
            <p:cNvSpPr>
              <a:spLocks noChangeArrowheads="1"/>
            </p:cNvSpPr>
            <p:nvPr/>
          </p:nvSpPr>
          <p:spPr bwMode="auto">
            <a:xfrm>
              <a:off x="2963170" y="2319708"/>
              <a:ext cx="299431" cy="4579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>
                  <a:solidFill>
                    <a:srgbClr val="FF0000"/>
                  </a:solidFill>
                  <a:ea typeface="华文楷体" pitchFamily="2" charset="-122"/>
                </a:rPr>
                <a:t>*</a:t>
              </a:r>
            </a:p>
          </p:txBody>
        </p:sp>
      </p:grpSp>
      <p:grpSp>
        <p:nvGrpSpPr>
          <p:cNvPr id="12" name="组合 356"/>
          <p:cNvGrpSpPr>
            <a:grpSpLocks/>
          </p:cNvGrpSpPr>
          <p:nvPr/>
        </p:nvGrpSpPr>
        <p:grpSpPr bwMode="auto">
          <a:xfrm>
            <a:off x="2398713" y="3492500"/>
            <a:ext cx="465137" cy="485775"/>
            <a:chOff x="2395036" y="3846215"/>
            <a:chExt cx="463976" cy="485085"/>
          </a:xfrm>
        </p:grpSpPr>
        <p:sp>
          <p:nvSpPr>
            <p:cNvPr id="358" name="矩形 357"/>
            <p:cNvSpPr/>
            <p:nvPr/>
          </p:nvSpPr>
          <p:spPr>
            <a:xfrm>
              <a:off x="2395036" y="3874749"/>
              <a:ext cx="460809" cy="4565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b="1" i="1" dirty="0">
                  <a:solidFill>
                    <a:srgbClr val="FF0000"/>
                  </a:solidFill>
                  <a:latin typeface="+mn-lt"/>
                  <a:ea typeface="华文楷体" panose="02010600040101010101" pitchFamily="2" charset="-122"/>
                </a:rPr>
                <a:t>𝛔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+mn-lt"/>
                  <a:ea typeface="华文楷体" panose="02010600040101010101" pitchFamily="2" charset="-122"/>
                </a:rPr>
                <a:t>1s</a:t>
              </a:r>
              <a:endParaRPr lang="zh-CN" altLang="en-US" b="1" baseline="30000" dirty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0843" name="矩形 358"/>
            <p:cNvSpPr>
              <a:spLocks noChangeArrowheads="1"/>
            </p:cNvSpPr>
            <p:nvPr/>
          </p:nvSpPr>
          <p:spPr bwMode="auto">
            <a:xfrm>
              <a:off x="2559724" y="3846215"/>
              <a:ext cx="299288" cy="458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>
                  <a:solidFill>
                    <a:srgbClr val="FF0000"/>
                  </a:solidFill>
                  <a:ea typeface="华文楷体" pitchFamily="2" charset="-122"/>
                </a:rPr>
                <a:t>*</a:t>
              </a:r>
            </a:p>
          </p:txBody>
        </p:sp>
      </p:grpSp>
      <p:grpSp>
        <p:nvGrpSpPr>
          <p:cNvPr id="13" name="组合 359"/>
          <p:cNvGrpSpPr>
            <a:grpSpLocks/>
          </p:cNvGrpSpPr>
          <p:nvPr/>
        </p:nvGrpSpPr>
        <p:grpSpPr bwMode="auto">
          <a:xfrm>
            <a:off x="2406650" y="2622550"/>
            <a:ext cx="463550" cy="536575"/>
            <a:chOff x="2377748" y="3026431"/>
            <a:chExt cx="464022" cy="535644"/>
          </a:xfrm>
        </p:grpSpPr>
        <p:sp>
          <p:nvSpPr>
            <p:cNvPr id="361" name="矩形 360"/>
            <p:cNvSpPr/>
            <p:nvPr/>
          </p:nvSpPr>
          <p:spPr>
            <a:xfrm>
              <a:off x="2377748" y="3054956"/>
              <a:ext cx="462433" cy="5071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b="1" i="1" dirty="0">
                  <a:solidFill>
                    <a:srgbClr val="FF0000"/>
                  </a:solidFill>
                  <a:latin typeface="+mn-lt"/>
                  <a:ea typeface="华文楷体" panose="02010600040101010101" pitchFamily="2" charset="-122"/>
                </a:rPr>
                <a:t>𝛔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+mn-lt"/>
                  <a:ea typeface="华文楷体" panose="02010600040101010101" pitchFamily="2" charset="-122"/>
                </a:rPr>
                <a:t>2</a:t>
              </a:r>
              <a:r>
                <a:rPr lang="en-US" altLang="zh-CN" b="1" baseline="-25000" dirty="0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</a:rPr>
                <a:t>s</a:t>
              </a:r>
              <a:endParaRPr lang="zh-CN" altLang="en-US" b="1" baseline="30000" dirty="0">
                <a:solidFill>
                  <a:srgbClr val="FFFF00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0841" name="矩形 361"/>
            <p:cNvSpPr>
              <a:spLocks noChangeArrowheads="1"/>
            </p:cNvSpPr>
            <p:nvPr/>
          </p:nvSpPr>
          <p:spPr bwMode="auto">
            <a:xfrm>
              <a:off x="2541426" y="3026431"/>
              <a:ext cx="300344" cy="458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>
                  <a:solidFill>
                    <a:srgbClr val="FF0000"/>
                  </a:solidFill>
                  <a:ea typeface="华文楷体" pitchFamily="2" charset="-122"/>
                </a:rPr>
                <a:t>*</a:t>
              </a:r>
            </a:p>
          </p:txBody>
        </p:sp>
      </p:grpSp>
      <p:cxnSp>
        <p:nvCxnSpPr>
          <p:cNvPr id="363" name="直接箭头连接符 362"/>
          <p:cNvCxnSpPr>
            <a:cxnSpLocks noChangeShapeType="1"/>
          </p:cNvCxnSpPr>
          <p:nvPr/>
        </p:nvCxnSpPr>
        <p:spPr bwMode="auto">
          <a:xfrm flipH="1" flipV="1">
            <a:off x="4702175" y="1839913"/>
            <a:ext cx="1588" cy="2473325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64" name="Rectangle 5"/>
          <p:cNvSpPr>
            <a:spLocks noChangeArrowheads="1"/>
          </p:cNvSpPr>
          <p:nvPr/>
        </p:nvSpPr>
        <p:spPr bwMode="auto">
          <a:xfrm>
            <a:off x="4449763" y="4171950"/>
            <a:ext cx="493712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Monotype Sorts" pitchFamily="2" charset="2"/>
              <a:buNone/>
            </a:pPr>
            <a:r>
              <a:rPr lang="zh-CN" altLang="en-US" sz="24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低</a:t>
            </a:r>
            <a:endParaRPr lang="zh-CN" altLang="en-US" sz="2400" b="1" baseline="-25000">
              <a:solidFill>
                <a:srgbClr val="FF0000"/>
              </a:solidFill>
              <a:latin typeface="黑体" pitchFamily="49" charset="-122"/>
              <a:ea typeface="楷体_GB2312" pitchFamily="49" charset="-122"/>
            </a:endParaRPr>
          </a:p>
        </p:txBody>
      </p:sp>
      <p:sp>
        <p:nvSpPr>
          <p:cNvPr id="365" name="Rectangle 5"/>
          <p:cNvSpPr>
            <a:spLocks noChangeArrowheads="1"/>
          </p:cNvSpPr>
          <p:nvPr/>
        </p:nvSpPr>
        <p:spPr bwMode="auto">
          <a:xfrm>
            <a:off x="4437063" y="1277938"/>
            <a:ext cx="493712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Monotype Sorts" pitchFamily="2" charset="2"/>
              <a:buNone/>
            </a:pPr>
            <a:r>
              <a:rPr lang="zh-CN" altLang="en-US" sz="24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高</a:t>
            </a:r>
            <a:endParaRPr lang="zh-CN" altLang="en-US" sz="2400" b="1" baseline="-25000">
              <a:solidFill>
                <a:srgbClr val="FF0000"/>
              </a:solidFill>
              <a:latin typeface="黑体" pitchFamily="49" charset="-122"/>
              <a:ea typeface="楷体_GB2312" pitchFamily="49" charset="-122"/>
            </a:endParaRPr>
          </a:p>
        </p:txBody>
      </p:sp>
      <p:sp>
        <p:nvSpPr>
          <p:cNvPr id="366" name="矩形 365"/>
          <p:cNvSpPr/>
          <p:nvPr/>
        </p:nvSpPr>
        <p:spPr>
          <a:xfrm>
            <a:off x="6548438" y="1995488"/>
            <a:ext cx="565150" cy="508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b="1" i="1" dirty="0">
                <a:solidFill>
                  <a:schemeClr val="accent2"/>
                </a:solidFill>
                <a:latin typeface="+mn-lt"/>
                <a:ea typeface="华文楷体" panose="02010600040101010101" pitchFamily="2" charset="-122"/>
              </a:rPr>
              <a:t>𝛔</a:t>
            </a:r>
            <a:r>
              <a:rPr lang="en-US" altLang="zh-CN" b="1" baseline="-25000" dirty="0">
                <a:latin typeface="+mn-lt"/>
                <a:ea typeface="华文楷体" panose="02010600040101010101" pitchFamily="2" charset="-122"/>
              </a:rPr>
              <a:t>2p</a:t>
            </a:r>
            <a:r>
              <a:rPr lang="en-US" altLang="zh-CN" b="1" i="1" baseline="-25000" dirty="0">
                <a:latin typeface="+mn-lt"/>
                <a:ea typeface="华文楷体" panose="02010600040101010101" pitchFamily="2" charset="-122"/>
              </a:rPr>
              <a:t>x</a:t>
            </a:r>
            <a:endParaRPr lang="zh-CN" altLang="en-US" b="1" i="1" baseline="-25000" dirty="0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367" name="矩形 366"/>
          <p:cNvSpPr/>
          <p:nvPr/>
        </p:nvSpPr>
        <p:spPr>
          <a:xfrm>
            <a:off x="6399213" y="2328863"/>
            <a:ext cx="542925" cy="508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l-GR" altLang="zh-CN" b="1" i="1" dirty="0">
                <a:solidFill>
                  <a:schemeClr val="accent2"/>
                </a:solidFill>
                <a:latin typeface="+mn-lt"/>
                <a:ea typeface="华文楷体" panose="02010600040101010101" pitchFamily="2" charset="-122"/>
              </a:rPr>
              <a:t>π</a:t>
            </a:r>
            <a:r>
              <a:rPr lang="en-US" altLang="zh-CN" b="1" baseline="-25000" dirty="0">
                <a:latin typeface="+mn-lt"/>
                <a:ea typeface="华文楷体" panose="02010600040101010101" pitchFamily="2" charset="-122"/>
              </a:rPr>
              <a:t>2p</a:t>
            </a:r>
            <a:r>
              <a:rPr lang="en-US" altLang="zh-CN" b="1" i="1" baseline="-25000" dirty="0">
                <a:latin typeface="+mn-lt"/>
                <a:ea typeface="华文楷体" panose="02010600040101010101" pitchFamily="2" charset="-122"/>
              </a:rPr>
              <a:t>y</a:t>
            </a:r>
            <a:endParaRPr lang="zh-CN" altLang="en-US" b="1" i="1" baseline="-25000" dirty="0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368" name="矩形 367"/>
          <p:cNvSpPr/>
          <p:nvPr/>
        </p:nvSpPr>
        <p:spPr>
          <a:xfrm>
            <a:off x="6797675" y="2328863"/>
            <a:ext cx="531813" cy="508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l-GR" altLang="zh-CN" b="1" i="1" dirty="0">
                <a:solidFill>
                  <a:schemeClr val="accent2"/>
                </a:solidFill>
                <a:latin typeface="+mn-lt"/>
                <a:ea typeface="华文楷体" panose="02010600040101010101" pitchFamily="2" charset="-122"/>
              </a:rPr>
              <a:t>π</a:t>
            </a:r>
            <a:r>
              <a:rPr lang="en-US" altLang="zh-CN" b="1" baseline="-25000" dirty="0">
                <a:latin typeface="+mn-lt"/>
                <a:ea typeface="华文楷体" panose="02010600040101010101" pitchFamily="2" charset="-122"/>
              </a:rPr>
              <a:t>2p</a:t>
            </a:r>
            <a:r>
              <a:rPr lang="en-US" altLang="zh-CN" b="1" i="1" baseline="-25000" dirty="0">
                <a:latin typeface="+mn-lt"/>
                <a:ea typeface="华文楷体" panose="02010600040101010101" pitchFamily="2" charset="-122"/>
              </a:rPr>
              <a:t>z</a:t>
            </a:r>
            <a:endParaRPr lang="zh-CN" altLang="en-US" b="1" i="1" baseline="-25000" dirty="0">
              <a:latin typeface="+mn-lt"/>
              <a:ea typeface="华文楷体" panose="02010600040101010101" pitchFamily="2" charset="-122"/>
            </a:endParaRPr>
          </a:p>
        </p:txBody>
      </p:sp>
      <p:grpSp>
        <p:nvGrpSpPr>
          <p:cNvPr id="14" name="组合 370"/>
          <p:cNvGrpSpPr>
            <a:grpSpLocks/>
          </p:cNvGrpSpPr>
          <p:nvPr/>
        </p:nvGrpSpPr>
        <p:grpSpPr bwMode="auto">
          <a:xfrm>
            <a:off x="1117600" y="4668838"/>
            <a:ext cx="3255963" cy="981075"/>
            <a:chOff x="1730260" y="4875272"/>
            <a:chExt cx="2039368" cy="982055"/>
          </a:xfrm>
        </p:grpSpPr>
        <p:sp>
          <p:nvSpPr>
            <p:cNvPr id="372" name="Rectangle 5"/>
            <p:cNvSpPr>
              <a:spLocks noChangeArrowheads="1"/>
            </p:cNvSpPr>
            <p:nvPr/>
          </p:nvSpPr>
          <p:spPr bwMode="auto">
            <a:xfrm>
              <a:off x="1730260" y="5186733"/>
              <a:ext cx="2039368" cy="670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  <a:buClrTx/>
                <a:buSzTx/>
                <a:buFont typeface="Monotype Sorts"/>
                <a:buNone/>
                <a:defRPr/>
              </a:pPr>
              <a:r>
                <a:rPr lang="zh-CN" altLang="en-US" sz="2500" b="1" dirty="0">
                  <a:solidFill>
                    <a:srgbClr val="FF0000"/>
                  </a:solidFill>
                  <a:latin typeface="黑体" panose="02010609060101010101" pitchFamily="49" charset="-122"/>
                  <a:ea typeface="楷体_GB2312"/>
                </a:rPr>
                <a:t>适用于</a:t>
              </a:r>
              <a:r>
                <a:rPr lang="en-US" altLang="zh-CN" sz="2500" b="1" dirty="0" smtClean="0">
                  <a:latin typeface="+mn-lt"/>
                  <a:ea typeface="华文楷体" panose="02010600040101010101" pitchFamily="2" charset="-122"/>
                </a:rPr>
                <a:t>O</a:t>
              </a:r>
              <a:r>
                <a:rPr lang="zh-CN" altLang="en-US" sz="2500" b="1" dirty="0" smtClean="0">
                  <a:latin typeface="+mn-lt"/>
                  <a:ea typeface="华文楷体" panose="02010600040101010101" pitchFamily="2" charset="-122"/>
                </a:rPr>
                <a:t>、</a:t>
              </a:r>
              <a:r>
                <a:rPr lang="en-US" altLang="zh-CN" sz="2500" b="1" dirty="0" smtClean="0">
                  <a:latin typeface="+mn-lt"/>
                  <a:ea typeface="华文楷体" panose="02010600040101010101" pitchFamily="2" charset="-122"/>
                </a:rPr>
                <a:t>F</a:t>
              </a:r>
              <a:r>
                <a:rPr lang="zh-CN" altLang="en-US" sz="2500" b="1" dirty="0" smtClean="0">
                  <a:latin typeface="+mn-lt"/>
                  <a:ea typeface="华文楷体" panose="02010600040101010101" pitchFamily="2" charset="-122"/>
                </a:rPr>
                <a:t>、</a:t>
              </a:r>
              <a:r>
                <a:rPr lang="en-US" altLang="zh-CN" sz="2500" b="1" dirty="0" smtClean="0">
                  <a:latin typeface="+mn-lt"/>
                  <a:ea typeface="华文楷体" panose="02010600040101010101" pitchFamily="2" charset="-122"/>
                </a:rPr>
                <a:t>Ne</a:t>
              </a:r>
              <a:r>
                <a:rPr lang="zh-CN" altLang="en-US" sz="2500" b="1" dirty="0" smtClean="0">
                  <a:latin typeface="黑体" panose="02010609060101010101" pitchFamily="49" charset="-122"/>
                  <a:ea typeface="楷体_GB2312"/>
                </a:rPr>
                <a:t>原子</a:t>
              </a:r>
              <a:endParaRPr lang="zh-CN" altLang="en-US" sz="2500" b="1" baseline="-25000" dirty="0" smtClean="0">
                <a:latin typeface="黑体" panose="02010609060101010101" pitchFamily="49" charset="-122"/>
                <a:ea typeface="楷体_GB2312"/>
              </a:endParaRPr>
            </a:p>
          </p:txBody>
        </p:sp>
        <p:sp>
          <p:nvSpPr>
            <p:cNvPr id="373" name="Rectangle 5"/>
            <p:cNvSpPr>
              <a:spLocks noChangeArrowheads="1"/>
            </p:cNvSpPr>
            <p:nvPr/>
          </p:nvSpPr>
          <p:spPr bwMode="auto">
            <a:xfrm>
              <a:off x="2313931" y="4875272"/>
              <a:ext cx="973447" cy="670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  <a:buClrTx/>
                <a:buSzTx/>
                <a:buFont typeface="Monotype Sorts"/>
                <a:buNone/>
                <a:defRPr/>
              </a:pPr>
              <a:r>
                <a:rPr lang="en-US" altLang="zh-CN" sz="2500" b="1" dirty="0" smtClean="0">
                  <a:latin typeface="+mn-lt"/>
                  <a:ea typeface="华文楷体" panose="02010600040101010101" pitchFamily="2" charset="-122"/>
                </a:rPr>
                <a:t>E</a:t>
              </a:r>
              <a:r>
                <a:rPr lang="en-US" altLang="zh-CN" sz="2500" b="1" baseline="-25000" dirty="0" smtClean="0">
                  <a:solidFill>
                    <a:srgbClr val="FF0000"/>
                  </a:solidFill>
                  <a:latin typeface="+mn-lt"/>
                  <a:ea typeface="华文楷体" panose="02010600040101010101" pitchFamily="2" charset="-122"/>
                </a:rPr>
                <a:t>2p</a:t>
              </a:r>
              <a:r>
                <a:rPr lang="en-US" altLang="zh-CN" sz="2500" b="1" dirty="0" smtClean="0">
                  <a:solidFill>
                    <a:srgbClr val="FF0000"/>
                  </a:solidFill>
                  <a:latin typeface="+mn-lt"/>
                  <a:ea typeface="华文楷体" panose="02010600040101010101" pitchFamily="2" charset="-122"/>
                </a:rPr>
                <a:t> </a:t>
              </a:r>
              <a:r>
                <a:rPr lang="en-US" altLang="zh-CN" sz="2500" b="1" dirty="0" smtClean="0">
                  <a:latin typeface="+mn-lt"/>
                  <a:ea typeface="华文楷体" panose="02010600040101010101" pitchFamily="2" charset="-122"/>
                </a:rPr>
                <a:t>&gt;&gt; </a:t>
              </a:r>
              <a:r>
                <a:rPr lang="en-US" altLang="zh-CN" sz="2500" b="1" dirty="0" smtClean="0">
                  <a:solidFill>
                    <a:srgbClr val="FF0000"/>
                  </a:solidFill>
                  <a:latin typeface="+mn-lt"/>
                  <a:ea typeface="华文楷体" panose="02010600040101010101" pitchFamily="2" charset="-122"/>
                </a:rPr>
                <a:t>E</a:t>
              </a:r>
              <a:r>
                <a:rPr lang="en-US" altLang="zh-CN" sz="2500" b="1" baseline="-25000" dirty="0" smtClean="0">
                  <a:solidFill>
                    <a:srgbClr val="FF0000"/>
                  </a:solidFill>
                  <a:latin typeface="+mn-lt"/>
                  <a:ea typeface="华文楷体" panose="02010600040101010101" pitchFamily="2" charset="-122"/>
                </a:rPr>
                <a:t>2s</a:t>
              </a:r>
              <a:endParaRPr lang="zh-CN" altLang="en-US" sz="2500" b="1" baseline="-25000" dirty="0" smtClean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</p:grpSp>
      <p:grpSp>
        <p:nvGrpSpPr>
          <p:cNvPr id="15" name="组合 374"/>
          <p:cNvGrpSpPr>
            <a:grpSpLocks/>
          </p:cNvGrpSpPr>
          <p:nvPr/>
        </p:nvGrpSpPr>
        <p:grpSpPr bwMode="auto">
          <a:xfrm>
            <a:off x="5214938" y="1725613"/>
            <a:ext cx="3287712" cy="1692275"/>
            <a:chOff x="5182596" y="2466071"/>
            <a:chExt cx="3286578" cy="1691824"/>
          </a:xfrm>
        </p:grpSpPr>
        <p:grpSp>
          <p:nvGrpSpPr>
            <p:cNvPr id="30796" name="组合 375"/>
            <p:cNvGrpSpPr>
              <a:grpSpLocks/>
            </p:cNvGrpSpPr>
            <p:nvPr/>
          </p:nvGrpSpPr>
          <p:grpSpPr bwMode="auto">
            <a:xfrm>
              <a:off x="5182596" y="2466071"/>
              <a:ext cx="3286578" cy="1691824"/>
              <a:chOff x="5182596" y="2466071"/>
              <a:chExt cx="3286578" cy="1691824"/>
            </a:xfrm>
          </p:grpSpPr>
          <p:grpSp>
            <p:nvGrpSpPr>
              <p:cNvPr id="30798" name="组合 377"/>
              <p:cNvGrpSpPr>
                <a:grpSpLocks/>
              </p:cNvGrpSpPr>
              <p:nvPr/>
            </p:nvGrpSpPr>
            <p:grpSpPr bwMode="auto">
              <a:xfrm>
                <a:off x="7474486" y="2866220"/>
                <a:ext cx="994688" cy="324000"/>
                <a:chOff x="2447800" y="3102855"/>
                <a:chExt cx="994688" cy="324000"/>
              </a:xfrm>
            </p:grpSpPr>
            <p:sp>
              <p:nvSpPr>
                <p:cNvPr id="415" name="椭圆 414"/>
                <p:cNvSpPr>
                  <a:spLocks noChangeAspect="1"/>
                </p:cNvSpPr>
                <p:nvPr/>
              </p:nvSpPr>
              <p:spPr bwMode="auto">
                <a:xfrm>
                  <a:off x="2787077" y="3102649"/>
                  <a:ext cx="323738" cy="323764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  <a:defRPr/>
                  </a:pPr>
                  <a:endParaRPr kumimoji="1" lang="zh-CN" altLang="en-US" sz="1600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16" name="椭圆 415"/>
                <p:cNvSpPr>
                  <a:spLocks noChangeAspect="1"/>
                </p:cNvSpPr>
                <p:nvPr/>
              </p:nvSpPr>
              <p:spPr bwMode="auto">
                <a:xfrm>
                  <a:off x="3118750" y="3102649"/>
                  <a:ext cx="323738" cy="323764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  <a:defRPr/>
                  </a:pPr>
                  <a:endParaRPr kumimoji="1" lang="zh-CN" altLang="en-US" sz="1600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17" name="椭圆 416"/>
                <p:cNvSpPr>
                  <a:spLocks noChangeAspect="1"/>
                </p:cNvSpPr>
                <p:nvPr/>
              </p:nvSpPr>
              <p:spPr bwMode="auto">
                <a:xfrm>
                  <a:off x="2447469" y="3102649"/>
                  <a:ext cx="323738" cy="323764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  <a:defRPr/>
                  </a:pPr>
                  <a:endParaRPr kumimoji="1" lang="zh-CN" altLang="en-US" sz="1600">
                    <a:latin typeface="+mn-lt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30799" name="组合 378"/>
              <p:cNvGrpSpPr>
                <a:grpSpLocks/>
              </p:cNvGrpSpPr>
              <p:nvPr/>
            </p:nvGrpSpPr>
            <p:grpSpPr bwMode="auto">
              <a:xfrm>
                <a:off x="5182596" y="2845383"/>
                <a:ext cx="995019" cy="323764"/>
                <a:chOff x="2600201" y="3255891"/>
                <a:chExt cx="995019" cy="323764"/>
              </a:xfrm>
            </p:grpSpPr>
            <p:sp>
              <p:nvSpPr>
                <p:cNvPr id="412" name="椭圆 411"/>
                <p:cNvSpPr>
                  <a:spLocks noChangeAspect="1"/>
                </p:cNvSpPr>
                <p:nvPr/>
              </p:nvSpPr>
              <p:spPr bwMode="auto">
                <a:xfrm>
                  <a:off x="2939809" y="3255890"/>
                  <a:ext cx="323738" cy="323764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  <a:defRPr/>
                  </a:pPr>
                  <a:endParaRPr kumimoji="1" lang="zh-CN" altLang="en-US" sz="1600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13" name="椭圆 412"/>
                <p:cNvSpPr>
                  <a:spLocks noChangeAspect="1"/>
                </p:cNvSpPr>
                <p:nvPr/>
              </p:nvSpPr>
              <p:spPr bwMode="auto">
                <a:xfrm>
                  <a:off x="3271482" y="3255890"/>
                  <a:ext cx="323738" cy="323764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  <a:defRPr/>
                  </a:pPr>
                  <a:endParaRPr kumimoji="1" lang="zh-CN" altLang="en-US" sz="1600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14" name="椭圆 413"/>
                <p:cNvSpPr>
                  <a:spLocks noChangeAspect="1"/>
                </p:cNvSpPr>
                <p:nvPr/>
              </p:nvSpPr>
              <p:spPr bwMode="auto">
                <a:xfrm>
                  <a:off x="2600201" y="3255890"/>
                  <a:ext cx="323738" cy="323764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  <a:defRPr/>
                  </a:pPr>
                  <a:endParaRPr kumimoji="1" lang="zh-CN" altLang="en-US" sz="1600">
                    <a:latin typeface="+mn-lt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30800" name="组合 379"/>
              <p:cNvGrpSpPr>
                <a:grpSpLocks/>
              </p:cNvGrpSpPr>
              <p:nvPr/>
            </p:nvGrpSpPr>
            <p:grpSpPr bwMode="auto">
              <a:xfrm>
                <a:off x="6446708" y="3547666"/>
                <a:ext cx="731144" cy="0"/>
                <a:chOff x="5243513" y="2708920"/>
                <a:chExt cx="731144" cy="0"/>
              </a:xfrm>
            </p:grpSpPr>
            <p:cxnSp>
              <p:nvCxnSpPr>
                <p:cNvPr id="30830" name="直接连接符 409"/>
                <p:cNvCxnSpPr>
                  <a:cxnSpLocks noChangeShapeType="1"/>
                </p:cNvCxnSpPr>
                <p:nvPr/>
              </p:nvCxnSpPr>
              <p:spPr bwMode="auto">
                <a:xfrm>
                  <a:off x="5243513" y="2708920"/>
                  <a:ext cx="324000" cy="0"/>
                </a:xfrm>
                <a:prstGeom prst="line">
                  <a:avLst/>
                </a:prstGeom>
                <a:noFill/>
                <a:ln w="38100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30831" name="直接连接符 410"/>
                <p:cNvCxnSpPr>
                  <a:cxnSpLocks noChangeShapeType="1"/>
                </p:cNvCxnSpPr>
                <p:nvPr/>
              </p:nvCxnSpPr>
              <p:spPr bwMode="auto">
                <a:xfrm>
                  <a:off x="5650657" y="2708920"/>
                  <a:ext cx="324000" cy="0"/>
                </a:xfrm>
                <a:prstGeom prst="line">
                  <a:avLst/>
                </a:prstGeom>
                <a:noFill/>
                <a:ln w="38100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</p:grpSp>
          <p:grpSp>
            <p:nvGrpSpPr>
              <p:cNvPr id="30801" name="组合 380"/>
              <p:cNvGrpSpPr>
                <a:grpSpLocks/>
              </p:cNvGrpSpPr>
              <p:nvPr/>
            </p:nvGrpSpPr>
            <p:grpSpPr bwMode="auto">
              <a:xfrm>
                <a:off x="5847568" y="3681293"/>
                <a:ext cx="1940468" cy="476602"/>
                <a:chOff x="1543462" y="4629914"/>
                <a:chExt cx="1940468" cy="476602"/>
              </a:xfrm>
            </p:grpSpPr>
            <p:sp>
              <p:nvSpPr>
                <p:cNvPr id="400" name="椭圆 399"/>
                <p:cNvSpPr>
                  <a:spLocks noChangeAspect="1"/>
                </p:cNvSpPr>
                <p:nvPr/>
              </p:nvSpPr>
              <p:spPr bwMode="auto">
                <a:xfrm>
                  <a:off x="1543423" y="4679592"/>
                  <a:ext cx="323738" cy="323764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  <a:defRPr/>
                  </a:pPr>
                  <a:endParaRPr kumimoji="1" lang="zh-CN" altLang="en-US" sz="1600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01" name="椭圆 400"/>
                <p:cNvSpPr>
                  <a:spLocks noChangeAspect="1"/>
                </p:cNvSpPr>
                <p:nvPr/>
              </p:nvSpPr>
              <p:spPr bwMode="auto">
                <a:xfrm>
                  <a:off x="3160528" y="4679592"/>
                  <a:ext cx="323738" cy="323764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  <a:defRPr/>
                  </a:pPr>
                  <a:endParaRPr kumimoji="1" lang="zh-CN" altLang="en-US" sz="1600">
                    <a:latin typeface="+mn-lt"/>
                    <a:ea typeface="华文楷体" panose="02010600040101010101" pitchFamily="2" charset="-122"/>
                  </a:endParaRPr>
                </a:p>
              </p:txBody>
            </p:sp>
            <p:cxnSp>
              <p:nvCxnSpPr>
                <p:cNvPr id="30822" name="直接连接符 401"/>
                <p:cNvCxnSpPr>
                  <a:cxnSpLocks noChangeShapeType="1"/>
                </p:cNvCxnSpPr>
                <p:nvPr/>
              </p:nvCxnSpPr>
              <p:spPr bwMode="auto">
                <a:xfrm>
                  <a:off x="2348007" y="4633567"/>
                  <a:ext cx="323738" cy="0"/>
                </a:xfrm>
                <a:prstGeom prst="line">
                  <a:avLst/>
                </a:prstGeom>
                <a:noFill/>
                <a:ln w="38100" algn="ctr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0823" name="直接连接符 402"/>
                <p:cNvCxnSpPr>
                  <a:cxnSpLocks noChangeShapeType="1"/>
                </p:cNvCxnSpPr>
                <p:nvPr/>
              </p:nvCxnSpPr>
              <p:spPr bwMode="auto">
                <a:xfrm>
                  <a:off x="2354355" y="5106516"/>
                  <a:ext cx="323738" cy="0"/>
                </a:xfrm>
                <a:prstGeom prst="line">
                  <a:avLst/>
                </a:prstGeom>
                <a:noFill/>
                <a:ln w="38100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grpSp>
              <p:nvGrpSpPr>
                <p:cNvPr id="30824" name="组合 403"/>
                <p:cNvGrpSpPr>
                  <a:grpSpLocks/>
                </p:cNvGrpSpPr>
                <p:nvPr/>
              </p:nvGrpSpPr>
              <p:grpSpPr bwMode="auto">
                <a:xfrm>
                  <a:off x="1867462" y="4633704"/>
                  <a:ext cx="481964" cy="472812"/>
                  <a:chOff x="1867462" y="4618464"/>
                  <a:chExt cx="481964" cy="472812"/>
                </a:xfrm>
              </p:grpSpPr>
              <p:cxnSp>
                <p:nvCxnSpPr>
                  <p:cNvPr id="30828" name="直接连接符 407"/>
                  <p:cNvCxnSpPr>
                    <a:cxnSpLocks noChangeShapeType="1"/>
                    <a:stCxn id="400" idx="6"/>
                  </p:cNvCxnSpPr>
                  <p:nvPr/>
                </p:nvCxnSpPr>
                <p:spPr bwMode="auto">
                  <a:xfrm flipV="1">
                    <a:off x="1867462" y="4618464"/>
                    <a:ext cx="481964" cy="207593"/>
                  </a:xfrm>
                  <a:prstGeom prst="line">
                    <a:avLst/>
                  </a:prstGeom>
                  <a:noFill/>
                  <a:ln w="12700" algn="ctr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30829" name="直接连接符 408"/>
                  <p:cNvCxnSpPr>
                    <a:cxnSpLocks noChangeShapeType="1"/>
                    <a:stCxn id="400" idx="6"/>
                  </p:cNvCxnSpPr>
                  <p:nvPr/>
                </p:nvCxnSpPr>
                <p:spPr bwMode="auto">
                  <a:xfrm>
                    <a:off x="1867462" y="4826057"/>
                    <a:ext cx="481964" cy="265219"/>
                  </a:xfrm>
                  <a:prstGeom prst="line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</p:grpSp>
            <p:grpSp>
              <p:nvGrpSpPr>
                <p:cNvPr id="30825" name="组合 404"/>
                <p:cNvGrpSpPr>
                  <a:grpSpLocks/>
                </p:cNvGrpSpPr>
                <p:nvPr/>
              </p:nvGrpSpPr>
              <p:grpSpPr bwMode="auto">
                <a:xfrm flipH="1">
                  <a:off x="2677966" y="4629914"/>
                  <a:ext cx="481964" cy="472812"/>
                  <a:chOff x="1859919" y="4609130"/>
                  <a:chExt cx="481964" cy="472812"/>
                </a:xfrm>
              </p:grpSpPr>
              <p:cxnSp>
                <p:nvCxnSpPr>
                  <p:cNvPr id="30826" name="直接连接符 405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1859919" y="4609130"/>
                    <a:ext cx="481964" cy="213138"/>
                  </a:xfrm>
                  <a:prstGeom prst="line">
                    <a:avLst/>
                  </a:prstGeom>
                  <a:noFill/>
                  <a:ln w="12700" algn="ctr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30827" name="直接连接符 406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859919" y="4833612"/>
                    <a:ext cx="474421" cy="248330"/>
                  </a:xfrm>
                  <a:prstGeom prst="line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</p:grpSp>
          </p:grpSp>
          <p:cxnSp>
            <p:nvCxnSpPr>
              <p:cNvPr id="30802" name="直接连接符 381"/>
              <p:cNvCxnSpPr>
                <a:cxnSpLocks noChangeShapeType="1"/>
              </p:cNvCxnSpPr>
              <p:nvPr/>
            </p:nvCxnSpPr>
            <p:spPr bwMode="auto">
              <a:xfrm>
                <a:off x="6651833" y="3219504"/>
                <a:ext cx="324000" cy="0"/>
              </a:xfrm>
              <a:prstGeom prst="line">
                <a:avLst/>
              </a:prstGeom>
              <a:noFill/>
              <a:ln w="3810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grpSp>
            <p:nvGrpSpPr>
              <p:cNvPr id="30803" name="组合 382"/>
              <p:cNvGrpSpPr>
                <a:grpSpLocks/>
              </p:cNvGrpSpPr>
              <p:nvPr/>
            </p:nvGrpSpPr>
            <p:grpSpPr bwMode="auto">
              <a:xfrm>
                <a:off x="6446708" y="2819614"/>
                <a:ext cx="731144" cy="0"/>
                <a:chOff x="5243513" y="2708920"/>
                <a:chExt cx="731144" cy="0"/>
              </a:xfrm>
            </p:grpSpPr>
            <p:cxnSp>
              <p:nvCxnSpPr>
                <p:cNvPr id="30818" name="直接连接符 397"/>
                <p:cNvCxnSpPr>
                  <a:cxnSpLocks noChangeShapeType="1"/>
                </p:cNvCxnSpPr>
                <p:nvPr/>
              </p:nvCxnSpPr>
              <p:spPr bwMode="auto">
                <a:xfrm>
                  <a:off x="5244202" y="2709296"/>
                  <a:ext cx="323738" cy="0"/>
                </a:xfrm>
                <a:prstGeom prst="line">
                  <a:avLst/>
                </a:prstGeom>
                <a:noFill/>
                <a:ln w="38100" algn="ctr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0819" name="直接连接符 398"/>
                <p:cNvCxnSpPr>
                  <a:cxnSpLocks noChangeShapeType="1"/>
                </p:cNvCxnSpPr>
                <p:nvPr/>
              </p:nvCxnSpPr>
              <p:spPr bwMode="auto">
                <a:xfrm>
                  <a:off x="5650462" y="2709296"/>
                  <a:ext cx="323738" cy="0"/>
                </a:xfrm>
                <a:prstGeom prst="line">
                  <a:avLst/>
                </a:prstGeom>
                <a:noFill/>
                <a:ln w="38100" algn="ctr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</p:grpSp>
          <p:cxnSp>
            <p:nvCxnSpPr>
              <p:cNvPr id="30804" name="直接连接符 383"/>
              <p:cNvCxnSpPr>
                <a:cxnSpLocks noChangeShapeType="1"/>
              </p:cNvCxnSpPr>
              <p:nvPr/>
            </p:nvCxnSpPr>
            <p:spPr bwMode="auto">
              <a:xfrm>
                <a:off x="6652113" y="2467659"/>
                <a:ext cx="323738" cy="0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30805" name="直接连接符 384"/>
              <p:cNvCxnSpPr>
                <a:cxnSpLocks noChangeShapeType="1"/>
                <a:stCxn id="413" idx="6"/>
              </p:cNvCxnSpPr>
              <p:nvPr/>
            </p:nvCxnSpPr>
            <p:spPr bwMode="auto">
              <a:xfrm flipV="1">
                <a:off x="6177283" y="2466878"/>
                <a:ext cx="474550" cy="539869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30806" name="直接连接符 385"/>
              <p:cNvCxnSpPr>
                <a:cxnSpLocks noChangeShapeType="1"/>
                <a:stCxn id="413" idx="6"/>
              </p:cNvCxnSpPr>
              <p:nvPr/>
            </p:nvCxnSpPr>
            <p:spPr bwMode="auto">
              <a:xfrm flipV="1">
                <a:off x="6177283" y="2844746"/>
                <a:ext cx="269425" cy="162001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30807" name="直接连接符 386"/>
              <p:cNvCxnSpPr>
                <a:cxnSpLocks noChangeShapeType="1"/>
                <a:stCxn id="413" idx="6"/>
              </p:cNvCxnSpPr>
              <p:nvPr/>
            </p:nvCxnSpPr>
            <p:spPr bwMode="auto">
              <a:xfrm>
                <a:off x="6177283" y="3006747"/>
                <a:ext cx="487836" cy="20853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808" name="直接连接符 387"/>
              <p:cNvCxnSpPr>
                <a:cxnSpLocks noChangeShapeType="1"/>
                <a:stCxn id="413" idx="6"/>
              </p:cNvCxnSpPr>
              <p:nvPr/>
            </p:nvCxnSpPr>
            <p:spPr bwMode="auto">
              <a:xfrm>
                <a:off x="6177283" y="3006747"/>
                <a:ext cx="273727" cy="538938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809" name="直接连接符 388"/>
              <p:cNvCxnSpPr>
                <a:cxnSpLocks noChangeShapeType="1"/>
                <a:stCxn id="417" idx="2"/>
              </p:cNvCxnSpPr>
              <p:nvPr/>
            </p:nvCxnSpPr>
            <p:spPr bwMode="auto">
              <a:xfrm flipH="1" flipV="1">
                <a:off x="7177852" y="2819614"/>
                <a:ext cx="296634" cy="208606"/>
              </a:xfrm>
              <a:prstGeom prst="line">
                <a:avLst/>
              </a:prstGeom>
              <a:noFill/>
              <a:ln w="9525" algn="ctr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30810" name="直接连接符 389"/>
              <p:cNvCxnSpPr>
                <a:cxnSpLocks noChangeShapeType="1"/>
                <a:stCxn id="417" idx="2"/>
              </p:cNvCxnSpPr>
              <p:nvPr/>
            </p:nvCxnSpPr>
            <p:spPr bwMode="auto">
              <a:xfrm flipH="1">
                <a:off x="6960394" y="3028220"/>
                <a:ext cx="514092" cy="191819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811" name="直接连接符 390"/>
              <p:cNvCxnSpPr>
                <a:cxnSpLocks noChangeShapeType="1"/>
                <a:stCxn id="417" idx="2"/>
              </p:cNvCxnSpPr>
              <p:nvPr/>
            </p:nvCxnSpPr>
            <p:spPr bwMode="auto">
              <a:xfrm flipH="1">
                <a:off x="7186955" y="3028220"/>
                <a:ext cx="287531" cy="528713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812" name="直接连接符 391"/>
              <p:cNvCxnSpPr>
                <a:cxnSpLocks noChangeShapeType="1"/>
                <a:stCxn id="417" idx="2"/>
              </p:cNvCxnSpPr>
              <p:nvPr/>
            </p:nvCxnSpPr>
            <p:spPr bwMode="auto">
              <a:xfrm flipH="1" flipV="1">
                <a:off x="6975833" y="2466071"/>
                <a:ext cx="498653" cy="562149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</p:spPr>
          </p:cxnSp>
          <p:sp>
            <p:nvSpPr>
              <p:cNvPr id="393" name="Rectangle 5"/>
              <p:cNvSpPr>
                <a:spLocks noChangeArrowheads="1"/>
              </p:cNvSpPr>
              <p:nvPr/>
            </p:nvSpPr>
            <p:spPr bwMode="auto">
              <a:xfrm>
                <a:off x="5795160" y="3581786"/>
                <a:ext cx="412608" cy="4983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/>
                <a:ext uri="{91240B29-F687-4F45-9708-019B960494DF}"/>
                <a:ext uri="{AF507438-7753-43E0-B8FC-AC1667EBCBE1}"/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 typeface="Monotype Sorts"/>
                  <a:buNone/>
                  <a:defRPr/>
                </a:pPr>
                <a:r>
                  <a:rPr lang="en-US" altLang="zh-CN" sz="2000" b="1" dirty="0" smtClean="0">
                    <a:solidFill>
                      <a:schemeClr val="bg2"/>
                    </a:solidFill>
                    <a:latin typeface="+mn-lt"/>
                    <a:ea typeface="华文楷体" panose="02010600040101010101" pitchFamily="2" charset="-122"/>
                  </a:rPr>
                  <a:t>2s</a:t>
                </a:r>
                <a:endParaRPr lang="zh-CN" altLang="en-US" sz="2000" b="1" baseline="-25000" dirty="0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394" name="Rectangle 5"/>
              <p:cNvSpPr>
                <a:spLocks noChangeArrowheads="1"/>
              </p:cNvSpPr>
              <p:nvPr/>
            </p:nvSpPr>
            <p:spPr bwMode="auto">
              <a:xfrm>
                <a:off x="7432895" y="3581786"/>
                <a:ext cx="412608" cy="4983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/>
                <a:ext uri="{91240B29-F687-4F45-9708-019B960494DF}"/>
                <a:ext uri="{AF507438-7753-43E0-B8FC-AC1667EBCBE1}"/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 typeface="Monotype Sorts"/>
                  <a:buNone/>
                  <a:defRPr/>
                </a:pPr>
                <a:r>
                  <a:rPr lang="en-US" altLang="zh-CN" sz="2000" b="1" dirty="0" smtClean="0">
                    <a:solidFill>
                      <a:schemeClr val="bg2"/>
                    </a:solidFill>
                    <a:latin typeface="+mn-lt"/>
                    <a:ea typeface="华文楷体" panose="02010600040101010101" pitchFamily="2" charset="-122"/>
                  </a:rPr>
                  <a:t>2s</a:t>
                </a:r>
                <a:endParaRPr lang="zh-CN" altLang="en-US" sz="2000" b="1" baseline="-25000" dirty="0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395" name="Rectangle 5"/>
              <p:cNvSpPr>
                <a:spLocks noChangeArrowheads="1"/>
              </p:cNvSpPr>
              <p:nvPr/>
            </p:nvSpPr>
            <p:spPr bwMode="auto">
              <a:xfrm>
                <a:off x="7761393" y="2708893"/>
                <a:ext cx="455456" cy="4983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/>
                <a:ext uri="{91240B29-F687-4F45-9708-019B960494DF}"/>
                <a:ext uri="{AF507438-7753-43E0-B8FC-AC1667EBCBE1}"/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»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Monotype Sorts"/>
                  <a:buChar char="u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 typeface="Monotype Sorts"/>
                  <a:buNone/>
                  <a:defRPr/>
                </a:pPr>
                <a:r>
                  <a:rPr lang="en-US" altLang="zh-CN" sz="2000" b="1" dirty="0" smtClean="0">
                    <a:solidFill>
                      <a:schemeClr val="bg2"/>
                    </a:solidFill>
                    <a:latin typeface="+mn-lt"/>
                    <a:ea typeface="华文楷体" panose="02010600040101010101" pitchFamily="2" charset="-122"/>
                  </a:rPr>
                  <a:t>2p</a:t>
                </a:r>
                <a:endParaRPr lang="zh-CN" altLang="en-US" sz="2000" b="1" baseline="-25000" dirty="0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endParaRPr>
              </a:p>
            </p:txBody>
          </p:sp>
          <p:cxnSp>
            <p:nvCxnSpPr>
              <p:cNvPr id="30816" name="直接连接符 395"/>
              <p:cNvCxnSpPr>
                <a:cxnSpLocks noChangeShapeType="1"/>
                <a:stCxn id="400" idx="6"/>
              </p:cNvCxnSpPr>
              <p:nvPr/>
            </p:nvCxnSpPr>
            <p:spPr bwMode="auto">
              <a:xfrm flipV="1">
                <a:off x="6171568" y="3554437"/>
                <a:ext cx="273561" cy="338239"/>
              </a:xfrm>
              <a:prstGeom prst="line">
                <a:avLst/>
              </a:prstGeom>
              <a:noFill/>
              <a:ln w="19050" algn="ctr">
                <a:solidFill>
                  <a:srgbClr val="FF0000"/>
                </a:solidFill>
                <a:prstDash val="sysDot"/>
                <a:round/>
                <a:headEnd/>
                <a:tailEnd/>
              </a:ln>
            </p:spPr>
          </p:cxnSp>
          <p:cxnSp>
            <p:nvCxnSpPr>
              <p:cNvPr id="30817" name="直接连接符 396"/>
              <p:cNvCxnSpPr>
                <a:cxnSpLocks noChangeShapeType="1"/>
                <a:stCxn id="401" idx="2"/>
              </p:cNvCxnSpPr>
              <p:nvPr/>
            </p:nvCxnSpPr>
            <p:spPr bwMode="auto">
              <a:xfrm flipH="1" flipV="1">
                <a:off x="7185376" y="3559575"/>
                <a:ext cx="278660" cy="333101"/>
              </a:xfrm>
              <a:prstGeom prst="line">
                <a:avLst/>
              </a:prstGeom>
              <a:noFill/>
              <a:ln w="19050" algn="ctr">
                <a:solidFill>
                  <a:srgbClr val="FF0000"/>
                </a:solidFill>
                <a:prstDash val="sysDot"/>
                <a:round/>
                <a:headEnd/>
                <a:tailEnd/>
              </a:ln>
            </p:spPr>
          </p:cxnSp>
        </p:grpSp>
        <p:sp>
          <p:nvSpPr>
            <p:cNvPr id="377" name="Rectangle 5"/>
            <p:cNvSpPr>
              <a:spLocks noChangeArrowheads="1"/>
            </p:cNvSpPr>
            <p:nvPr/>
          </p:nvSpPr>
          <p:spPr bwMode="auto">
            <a:xfrm>
              <a:off x="5471421" y="2689848"/>
              <a:ext cx="455455" cy="4983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»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  <a:buClrTx/>
                <a:buSzTx/>
                <a:buFont typeface="Monotype Sorts"/>
                <a:buNone/>
                <a:defRPr/>
              </a:pPr>
              <a:r>
                <a:rPr lang="en-US" altLang="zh-CN" sz="2000" b="1" dirty="0" smtClean="0">
                  <a:solidFill>
                    <a:schemeClr val="bg2"/>
                  </a:solidFill>
                  <a:latin typeface="+mn-lt"/>
                  <a:ea typeface="华文楷体" panose="02010600040101010101" pitchFamily="2" charset="-122"/>
                </a:rPr>
                <a:t>2p</a:t>
              </a:r>
              <a:endParaRPr lang="zh-CN" altLang="en-US" sz="2000" b="1" baseline="-25000" dirty="0" smtClean="0">
                <a:solidFill>
                  <a:schemeClr val="bg2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</p:grpSp>
      <p:grpSp>
        <p:nvGrpSpPr>
          <p:cNvPr id="24" name="组合 417"/>
          <p:cNvGrpSpPr>
            <a:grpSpLocks/>
          </p:cNvGrpSpPr>
          <p:nvPr/>
        </p:nvGrpSpPr>
        <p:grpSpPr bwMode="auto">
          <a:xfrm>
            <a:off x="1974850" y="1739900"/>
            <a:ext cx="1317625" cy="2759075"/>
            <a:chOff x="1946830" y="2017420"/>
            <a:chExt cx="1316806" cy="2759362"/>
          </a:xfrm>
        </p:grpSpPr>
        <p:grpSp>
          <p:nvGrpSpPr>
            <p:cNvPr id="30760" name="组合 418"/>
            <p:cNvGrpSpPr>
              <a:grpSpLocks/>
            </p:cNvGrpSpPr>
            <p:nvPr/>
          </p:nvGrpSpPr>
          <p:grpSpPr bwMode="auto">
            <a:xfrm>
              <a:off x="2233036" y="2025667"/>
              <a:ext cx="731144" cy="1084312"/>
              <a:chOff x="2233036" y="2025667"/>
              <a:chExt cx="731144" cy="1084312"/>
            </a:xfrm>
          </p:grpSpPr>
          <p:grpSp>
            <p:nvGrpSpPr>
              <p:cNvPr id="30788" name="组合 446"/>
              <p:cNvGrpSpPr>
                <a:grpSpLocks/>
              </p:cNvGrpSpPr>
              <p:nvPr/>
            </p:nvGrpSpPr>
            <p:grpSpPr bwMode="auto">
              <a:xfrm>
                <a:off x="2233036" y="2773128"/>
                <a:ext cx="731144" cy="0"/>
                <a:chOff x="5243513" y="2708920"/>
                <a:chExt cx="731144" cy="0"/>
              </a:xfrm>
            </p:grpSpPr>
            <p:cxnSp>
              <p:nvCxnSpPr>
                <p:cNvPr id="30794" name="直接连接符 452"/>
                <p:cNvCxnSpPr>
                  <a:cxnSpLocks noChangeShapeType="1"/>
                </p:cNvCxnSpPr>
                <p:nvPr/>
              </p:nvCxnSpPr>
              <p:spPr bwMode="auto">
                <a:xfrm>
                  <a:off x="5243513" y="2708920"/>
                  <a:ext cx="324000" cy="0"/>
                </a:xfrm>
                <a:prstGeom prst="line">
                  <a:avLst/>
                </a:prstGeom>
                <a:noFill/>
                <a:ln w="38100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30795" name="直接连接符 453"/>
                <p:cNvCxnSpPr>
                  <a:cxnSpLocks noChangeShapeType="1"/>
                </p:cNvCxnSpPr>
                <p:nvPr/>
              </p:nvCxnSpPr>
              <p:spPr bwMode="auto">
                <a:xfrm>
                  <a:off x="5650657" y="2708920"/>
                  <a:ext cx="324000" cy="0"/>
                </a:xfrm>
                <a:prstGeom prst="line">
                  <a:avLst/>
                </a:prstGeom>
                <a:noFill/>
                <a:ln w="38100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</p:grpSp>
          <p:cxnSp>
            <p:nvCxnSpPr>
              <p:cNvPr id="30789" name="直接连接符 447"/>
              <p:cNvCxnSpPr>
                <a:cxnSpLocks noChangeShapeType="1"/>
              </p:cNvCxnSpPr>
              <p:nvPr/>
            </p:nvCxnSpPr>
            <p:spPr bwMode="auto">
              <a:xfrm>
                <a:off x="2438161" y="3109979"/>
                <a:ext cx="324000" cy="0"/>
              </a:xfrm>
              <a:prstGeom prst="line">
                <a:avLst/>
              </a:prstGeom>
              <a:noFill/>
              <a:ln w="3810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grpSp>
            <p:nvGrpSpPr>
              <p:cNvPr id="30790" name="组合 448"/>
              <p:cNvGrpSpPr>
                <a:grpSpLocks/>
              </p:cNvGrpSpPr>
              <p:nvPr/>
            </p:nvGrpSpPr>
            <p:grpSpPr bwMode="auto">
              <a:xfrm>
                <a:off x="2233036" y="2378403"/>
                <a:ext cx="731144" cy="0"/>
                <a:chOff x="5243513" y="2708920"/>
                <a:chExt cx="731144" cy="0"/>
              </a:xfrm>
            </p:grpSpPr>
            <p:cxnSp>
              <p:nvCxnSpPr>
                <p:cNvPr id="30792" name="直接连接符 450"/>
                <p:cNvCxnSpPr>
                  <a:cxnSpLocks noChangeShapeType="1"/>
                </p:cNvCxnSpPr>
                <p:nvPr/>
              </p:nvCxnSpPr>
              <p:spPr bwMode="auto">
                <a:xfrm>
                  <a:off x="5243513" y="2708920"/>
                  <a:ext cx="324000" cy="0"/>
                </a:xfrm>
                <a:prstGeom prst="line">
                  <a:avLst/>
                </a:prstGeom>
                <a:noFill/>
                <a:ln w="38100" algn="ctr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0793" name="直接连接符 451"/>
                <p:cNvCxnSpPr>
                  <a:cxnSpLocks noChangeShapeType="1"/>
                </p:cNvCxnSpPr>
                <p:nvPr/>
              </p:nvCxnSpPr>
              <p:spPr bwMode="auto">
                <a:xfrm>
                  <a:off x="5650657" y="2708920"/>
                  <a:ext cx="324000" cy="0"/>
                </a:xfrm>
                <a:prstGeom prst="line">
                  <a:avLst/>
                </a:prstGeom>
                <a:noFill/>
                <a:ln w="38100" algn="ctr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</p:grpSp>
          <p:cxnSp>
            <p:nvCxnSpPr>
              <p:cNvPr id="30791" name="直接连接符 449"/>
              <p:cNvCxnSpPr>
                <a:cxnSpLocks noChangeShapeType="1"/>
              </p:cNvCxnSpPr>
              <p:nvPr/>
            </p:nvCxnSpPr>
            <p:spPr bwMode="auto">
              <a:xfrm>
                <a:off x="2438161" y="2025667"/>
                <a:ext cx="324000" cy="0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/>
              </a:ln>
            </p:spPr>
          </p:cxnSp>
        </p:grpSp>
        <p:grpSp>
          <p:nvGrpSpPr>
            <p:cNvPr id="30761" name="组合 419"/>
            <p:cNvGrpSpPr>
              <a:grpSpLocks/>
            </p:cNvGrpSpPr>
            <p:nvPr/>
          </p:nvGrpSpPr>
          <p:grpSpPr bwMode="auto">
            <a:xfrm>
              <a:off x="1946830" y="2017420"/>
              <a:ext cx="1316806" cy="2759362"/>
              <a:chOff x="1946830" y="2017420"/>
              <a:chExt cx="1316806" cy="2759362"/>
            </a:xfrm>
          </p:grpSpPr>
          <p:grpSp>
            <p:nvGrpSpPr>
              <p:cNvPr id="30762" name="组合 420"/>
              <p:cNvGrpSpPr>
                <a:grpSpLocks/>
              </p:cNvGrpSpPr>
              <p:nvPr/>
            </p:nvGrpSpPr>
            <p:grpSpPr bwMode="auto">
              <a:xfrm>
                <a:off x="1955317" y="2017420"/>
                <a:ext cx="474550" cy="1091931"/>
                <a:chOff x="1955317" y="2017420"/>
                <a:chExt cx="474550" cy="1091931"/>
              </a:xfrm>
            </p:grpSpPr>
            <p:cxnSp>
              <p:nvCxnSpPr>
                <p:cNvPr id="30784" name="直接连接符 442"/>
                <p:cNvCxnSpPr>
                  <a:cxnSpLocks noChangeShapeType="1"/>
                </p:cNvCxnSpPr>
                <p:nvPr/>
              </p:nvCxnSpPr>
              <p:spPr bwMode="auto">
                <a:xfrm flipV="1">
                  <a:off x="1955317" y="2017420"/>
                  <a:ext cx="474550" cy="539869"/>
                </a:xfrm>
                <a:prstGeom prst="line">
                  <a:avLst/>
                </a:prstGeom>
                <a:noFill/>
                <a:ln w="12700" algn="ctr">
                  <a:solidFill>
                    <a:srgbClr val="FFFF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0785" name="直接连接符 443"/>
                <p:cNvCxnSpPr>
                  <a:cxnSpLocks noChangeShapeType="1"/>
                </p:cNvCxnSpPr>
                <p:nvPr/>
              </p:nvCxnSpPr>
              <p:spPr bwMode="auto">
                <a:xfrm flipV="1">
                  <a:off x="1955317" y="2395288"/>
                  <a:ext cx="269425" cy="162001"/>
                </a:xfrm>
                <a:prstGeom prst="line">
                  <a:avLst/>
                </a:prstGeom>
                <a:noFill/>
                <a:ln w="12700" algn="ctr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0786" name="直接连接符 444"/>
                <p:cNvCxnSpPr>
                  <a:cxnSpLocks noChangeShapeType="1"/>
                </p:cNvCxnSpPr>
                <p:nvPr/>
              </p:nvCxnSpPr>
              <p:spPr bwMode="auto">
                <a:xfrm>
                  <a:off x="1955317" y="2557291"/>
                  <a:ext cx="284196" cy="193943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30787" name="直接连接符 445"/>
                <p:cNvCxnSpPr>
                  <a:cxnSpLocks noChangeShapeType="1"/>
                </p:cNvCxnSpPr>
                <p:nvPr/>
              </p:nvCxnSpPr>
              <p:spPr bwMode="auto">
                <a:xfrm>
                  <a:off x="1955317" y="2557291"/>
                  <a:ext cx="474550" cy="55206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</p:grpSp>
          <p:grpSp>
            <p:nvGrpSpPr>
              <p:cNvPr id="30763" name="组合 421"/>
              <p:cNvGrpSpPr>
                <a:grpSpLocks/>
              </p:cNvGrpSpPr>
              <p:nvPr/>
            </p:nvGrpSpPr>
            <p:grpSpPr bwMode="auto">
              <a:xfrm>
                <a:off x="2745029" y="2029315"/>
                <a:ext cx="518607" cy="1092735"/>
                <a:chOff x="2745029" y="2029315"/>
                <a:chExt cx="518607" cy="1092735"/>
              </a:xfrm>
            </p:grpSpPr>
            <p:cxnSp>
              <p:nvCxnSpPr>
                <p:cNvPr id="30780" name="直接连接符 438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2962262" y="2382858"/>
                  <a:ext cx="296634" cy="208606"/>
                </a:xfrm>
                <a:prstGeom prst="line">
                  <a:avLst/>
                </a:prstGeom>
                <a:noFill/>
                <a:ln w="12700" algn="ctr">
                  <a:solidFill>
                    <a:srgbClr val="FFFF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0781" name="直接连接符 439"/>
                <p:cNvCxnSpPr>
                  <a:cxnSpLocks noChangeShapeType="1"/>
                </p:cNvCxnSpPr>
                <p:nvPr/>
              </p:nvCxnSpPr>
              <p:spPr bwMode="auto">
                <a:xfrm flipH="1">
                  <a:off x="2967002" y="2599080"/>
                  <a:ext cx="296634" cy="186118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30782" name="直接连接符 440"/>
                <p:cNvCxnSpPr>
                  <a:cxnSpLocks noChangeShapeType="1"/>
                </p:cNvCxnSpPr>
                <p:nvPr/>
              </p:nvCxnSpPr>
              <p:spPr bwMode="auto">
                <a:xfrm flipH="1">
                  <a:off x="2745029" y="2599080"/>
                  <a:ext cx="518607" cy="52297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30783" name="直接连接符 441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2760215" y="2029315"/>
                  <a:ext cx="498653" cy="562149"/>
                </a:xfrm>
                <a:prstGeom prst="line">
                  <a:avLst/>
                </a:prstGeom>
                <a:noFill/>
                <a:ln w="12700" algn="ctr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</p:grpSp>
          <p:cxnSp>
            <p:nvCxnSpPr>
              <p:cNvPr id="30764" name="直接连接符 422"/>
              <p:cNvCxnSpPr>
                <a:cxnSpLocks noChangeShapeType="1"/>
              </p:cNvCxnSpPr>
              <p:nvPr/>
            </p:nvCxnSpPr>
            <p:spPr bwMode="auto">
              <a:xfrm>
                <a:off x="2439860" y="3434372"/>
                <a:ext cx="324000" cy="0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30765" name="直接连接符 423"/>
              <p:cNvCxnSpPr>
                <a:cxnSpLocks noChangeShapeType="1"/>
              </p:cNvCxnSpPr>
              <p:nvPr/>
            </p:nvCxnSpPr>
            <p:spPr bwMode="auto">
              <a:xfrm>
                <a:off x="2439860" y="3907184"/>
                <a:ext cx="324000" cy="0"/>
              </a:xfrm>
              <a:prstGeom prst="line">
                <a:avLst/>
              </a:prstGeom>
              <a:noFill/>
              <a:ln w="3810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grpSp>
            <p:nvGrpSpPr>
              <p:cNvPr id="30766" name="组合 424"/>
              <p:cNvGrpSpPr>
                <a:grpSpLocks/>
              </p:cNvGrpSpPr>
              <p:nvPr/>
            </p:nvGrpSpPr>
            <p:grpSpPr bwMode="auto">
              <a:xfrm>
                <a:off x="1950158" y="3431740"/>
                <a:ext cx="481964" cy="472812"/>
                <a:chOff x="1850717" y="4710182"/>
                <a:chExt cx="481964" cy="472812"/>
              </a:xfrm>
            </p:grpSpPr>
            <p:cxnSp>
              <p:nvCxnSpPr>
                <p:cNvPr id="30778" name="直接连接符 436"/>
                <p:cNvCxnSpPr>
                  <a:cxnSpLocks noChangeShapeType="1"/>
                </p:cNvCxnSpPr>
                <p:nvPr/>
              </p:nvCxnSpPr>
              <p:spPr bwMode="auto">
                <a:xfrm flipV="1">
                  <a:off x="1850717" y="4710182"/>
                  <a:ext cx="481964" cy="207593"/>
                </a:xfrm>
                <a:prstGeom prst="line">
                  <a:avLst/>
                </a:prstGeom>
                <a:noFill/>
                <a:ln w="12700" algn="ctr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0779" name="直接连接符 437"/>
                <p:cNvCxnSpPr>
                  <a:cxnSpLocks noChangeShapeType="1"/>
                </p:cNvCxnSpPr>
                <p:nvPr/>
              </p:nvCxnSpPr>
              <p:spPr bwMode="auto">
                <a:xfrm>
                  <a:off x="1850717" y="4917775"/>
                  <a:ext cx="481964" cy="265219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</p:grpSp>
          <p:grpSp>
            <p:nvGrpSpPr>
              <p:cNvPr id="30767" name="组合 425"/>
              <p:cNvGrpSpPr>
                <a:grpSpLocks/>
              </p:cNvGrpSpPr>
              <p:nvPr/>
            </p:nvGrpSpPr>
            <p:grpSpPr bwMode="auto">
              <a:xfrm flipH="1">
                <a:off x="2760857" y="3434372"/>
                <a:ext cx="481964" cy="472812"/>
                <a:chOff x="1867462" y="4803420"/>
                <a:chExt cx="481964" cy="472812"/>
              </a:xfrm>
            </p:grpSpPr>
            <p:cxnSp>
              <p:nvCxnSpPr>
                <p:cNvPr id="30776" name="直接连接符 434"/>
                <p:cNvCxnSpPr>
                  <a:cxnSpLocks noChangeShapeType="1"/>
                </p:cNvCxnSpPr>
                <p:nvPr/>
              </p:nvCxnSpPr>
              <p:spPr bwMode="auto">
                <a:xfrm flipV="1">
                  <a:off x="1867462" y="4803420"/>
                  <a:ext cx="481964" cy="213138"/>
                </a:xfrm>
                <a:prstGeom prst="line">
                  <a:avLst/>
                </a:prstGeom>
                <a:noFill/>
                <a:ln w="12700" algn="ctr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0777" name="直接连接符 435"/>
                <p:cNvCxnSpPr>
                  <a:cxnSpLocks noChangeShapeType="1"/>
                </p:cNvCxnSpPr>
                <p:nvPr/>
              </p:nvCxnSpPr>
              <p:spPr bwMode="auto">
                <a:xfrm>
                  <a:off x="1867462" y="5027902"/>
                  <a:ext cx="474421" cy="24833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</p:grpSp>
          <p:cxnSp>
            <p:nvCxnSpPr>
              <p:cNvPr id="30768" name="直接连接符 426"/>
              <p:cNvCxnSpPr>
                <a:cxnSpLocks noChangeShapeType="1"/>
              </p:cNvCxnSpPr>
              <p:nvPr/>
            </p:nvCxnSpPr>
            <p:spPr bwMode="auto">
              <a:xfrm>
                <a:off x="2439247" y="4301269"/>
                <a:ext cx="324000" cy="0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/>
              </a:ln>
            </p:spPr>
          </p:cxnSp>
          <p:grpSp>
            <p:nvGrpSpPr>
              <p:cNvPr id="30769" name="组合 427"/>
              <p:cNvGrpSpPr>
                <a:grpSpLocks/>
              </p:cNvGrpSpPr>
              <p:nvPr/>
            </p:nvGrpSpPr>
            <p:grpSpPr bwMode="auto">
              <a:xfrm>
                <a:off x="1946830" y="4303970"/>
                <a:ext cx="481966" cy="472812"/>
                <a:chOff x="1866098" y="4759071"/>
                <a:chExt cx="481966" cy="472812"/>
              </a:xfrm>
            </p:grpSpPr>
            <p:cxnSp>
              <p:nvCxnSpPr>
                <p:cNvPr id="30774" name="直接连接符 432"/>
                <p:cNvCxnSpPr>
                  <a:cxnSpLocks noChangeShapeType="1"/>
                </p:cNvCxnSpPr>
                <p:nvPr/>
              </p:nvCxnSpPr>
              <p:spPr bwMode="auto">
                <a:xfrm flipV="1">
                  <a:off x="1866100" y="4759071"/>
                  <a:ext cx="481964" cy="207593"/>
                </a:xfrm>
                <a:prstGeom prst="line">
                  <a:avLst/>
                </a:prstGeom>
                <a:noFill/>
                <a:ln w="12700" algn="ctr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0775" name="直接连接符 433"/>
                <p:cNvCxnSpPr>
                  <a:cxnSpLocks noChangeShapeType="1"/>
                </p:cNvCxnSpPr>
                <p:nvPr/>
              </p:nvCxnSpPr>
              <p:spPr bwMode="auto">
                <a:xfrm>
                  <a:off x="1866098" y="4966664"/>
                  <a:ext cx="481964" cy="265219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</p:grpSp>
          <p:grpSp>
            <p:nvGrpSpPr>
              <p:cNvPr id="30770" name="组合 428"/>
              <p:cNvGrpSpPr>
                <a:grpSpLocks/>
              </p:cNvGrpSpPr>
              <p:nvPr/>
            </p:nvGrpSpPr>
            <p:grpSpPr bwMode="auto">
              <a:xfrm flipH="1">
                <a:off x="2760244" y="4301269"/>
                <a:ext cx="481964" cy="472812"/>
                <a:chOff x="1867462" y="4833900"/>
                <a:chExt cx="481964" cy="472812"/>
              </a:xfrm>
            </p:grpSpPr>
            <p:cxnSp>
              <p:nvCxnSpPr>
                <p:cNvPr id="30772" name="直接连接符 430"/>
                <p:cNvCxnSpPr>
                  <a:cxnSpLocks noChangeShapeType="1"/>
                </p:cNvCxnSpPr>
                <p:nvPr/>
              </p:nvCxnSpPr>
              <p:spPr bwMode="auto">
                <a:xfrm flipV="1">
                  <a:off x="1867462" y="4833900"/>
                  <a:ext cx="481964" cy="213138"/>
                </a:xfrm>
                <a:prstGeom prst="line">
                  <a:avLst/>
                </a:prstGeom>
                <a:noFill/>
                <a:ln w="12700" algn="ctr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0773" name="直接连接符 431"/>
                <p:cNvCxnSpPr>
                  <a:cxnSpLocks noChangeShapeType="1"/>
                </p:cNvCxnSpPr>
                <p:nvPr/>
              </p:nvCxnSpPr>
              <p:spPr bwMode="auto">
                <a:xfrm>
                  <a:off x="1867462" y="5058382"/>
                  <a:ext cx="474421" cy="24833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</p:grpSp>
          <p:cxnSp>
            <p:nvCxnSpPr>
              <p:cNvPr id="30771" name="直接连接符 429"/>
              <p:cNvCxnSpPr>
                <a:cxnSpLocks noChangeShapeType="1"/>
              </p:cNvCxnSpPr>
              <p:nvPr/>
            </p:nvCxnSpPr>
            <p:spPr bwMode="auto">
              <a:xfrm>
                <a:off x="2439247" y="4774081"/>
                <a:ext cx="324000" cy="0"/>
              </a:xfrm>
              <a:prstGeom prst="line">
                <a:avLst/>
              </a:prstGeom>
              <a:noFill/>
              <a:ln w="38100" algn="ctr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</p:grpSp>
      <p:sp>
        <p:nvSpPr>
          <p:cNvPr id="455" name="椭圆 454"/>
          <p:cNvSpPr/>
          <p:nvPr/>
        </p:nvSpPr>
        <p:spPr bwMode="auto">
          <a:xfrm>
            <a:off x="6003925" y="2193925"/>
            <a:ext cx="1643063" cy="695325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kumimoji="1" lang="zh-CN" altLang="en-US" sz="1600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456" name="Rectangle 5"/>
          <p:cNvSpPr>
            <a:spLocks noChangeArrowheads="1"/>
          </p:cNvSpPr>
          <p:nvPr/>
        </p:nvSpPr>
        <p:spPr bwMode="auto">
          <a:xfrm>
            <a:off x="5403850" y="5026025"/>
            <a:ext cx="3111500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Monotype Sorts"/>
              <a:buNone/>
              <a:defRPr/>
            </a:pPr>
            <a:r>
              <a:rPr lang="zh-CN" altLang="en-US" sz="2500" b="1" dirty="0" smtClean="0">
                <a:solidFill>
                  <a:srgbClr val="FF0000"/>
                </a:solidFill>
                <a:latin typeface="黑体" panose="02010609060101010101" pitchFamily="49" charset="-122"/>
                <a:ea typeface="楷体_GB2312"/>
              </a:rPr>
              <a:t>适用于</a:t>
            </a:r>
            <a:r>
              <a:rPr lang="en-US" altLang="zh-CN" sz="2500" b="1" dirty="0" smtClean="0">
                <a:latin typeface="+mn-lt"/>
                <a:ea typeface="华文楷体" panose="02010600040101010101" pitchFamily="2" charset="-122"/>
              </a:rPr>
              <a:t>B</a:t>
            </a:r>
            <a:r>
              <a:rPr lang="zh-CN" altLang="en-US" sz="2500" b="1" dirty="0" smtClean="0">
                <a:latin typeface="+mn-lt"/>
                <a:ea typeface="华文楷体" panose="02010600040101010101" pitchFamily="2" charset="-122"/>
              </a:rPr>
              <a:t>、</a:t>
            </a:r>
            <a:r>
              <a:rPr lang="en-US" altLang="zh-CN" sz="2500" b="1" dirty="0" smtClean="0">
                <a:latin typeface="+mn-lt"/>
                <a:ea typeface="华文楷体" panose="02010600040101010101" pitchFamily="2" charset="-122"/>
              </a:rPr>
              <a:t>C</a:t>
            </a:r>
            <a:r>
              <a:rPr lang="zh-CN" altLang="en-US" sz="2500" b="1" dirty="0" smtClean="0">
                <a:latin typeface="+mn-lt"/>
                <a:ea typeface="华文楷体" panose="02010600040101010101" pitchFamily="2" charset="-122"/>
              </a:rPr>
              <a:t>、</a:t>
            </a:r>
            <a:r>
              <a:rPr lang="en-US" altLang="zh-CN" sz="2500" b="1" dirty="0" smtClean="0">
                <a:latin typeface="+mn-lt"/>
                <a:ea typeface="华文楷体" panose="02010600040101010101" pitchFamily="2" charset="-122"/>
              </a:rPr>
              <a:t>N</a:t>
            </a:r>
            <a:r>
              <a:rPr lang="zh-CN" altLang="en-US" sz="2500" b="1" dirty="0" smtClean="0">
                <a:latin typeface="黑体" panose="02010609060101010101" pitchFamily="49" charset="-122"/>
                <a:ea typeface="楷体_GB2312"/>
              </a:rPr>
              <a:t>原子</a:t>
            </a:r>
            <a:endParaRPr lang="zh-CN" altLang="en-US" sz="2500" b="1" baseline="-25000" dirty="0" smtClean="0">
              <a:latin typeface="黑体" panose="02010609060101010101" pitchFamily="49" charset="-122"/>
              <a:ea typeface="楷体_GB2312"/>
            </a:endParaRPr>
          </a:p>
        </p:txBody>
      </p:sp>
      <p:sp>
        <p:nvSpPr>
          <p:cNvPr id="457" name="Rectangle 5"/>
          <p:cNvSpPr>
            <a:spLocks noChangeArrowheads="1"/>
          </p:cNvSpPr>
          <p:nvPr/>
        </p:nvSpPr>
        <p:spPr bwMode="auto">
          <a:xfrm>
            <a:off x="6261100" y="4668838"/>
            <a:ext cx="1365250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Monotype Sorts"/>
              <a:buNone/>
              <a:defRPr/>
            </a:pPr>
            <a:r>
              <a:rPr lang="en-US" altLang="zh-CN" sz="2500" b="1" dirty="0" smtClean="0">
                <a:latin typeface="+mn-lt"/>
                <a:ea typeface="华文楷体" panose="02010600040101010101" pitchFamily="2" charset="-122"/>
              </a:rPr>
              <a:t>E</a:t>
            </a:r>
            <a:r>
              <a:rPr lang="en-US" altLang="zh-CN" sz="2500" b="1" baseline="-25000" dirty="0" smtClean="0">
                <a:solidFill>
                  <a:schemeClr val="accent2"/>
                </a:solidFill>
                <a:latin typeface="+mn-lt"/>
                <a:ea typeface="华文楷体" panose="02010600040101010101" pitchFamily="2" charset="-122"/>
              </a:rPr>
              <a:t>2p</a:t>
            </a:r>
            <a:r>
              <a:rPr lang="en-US" altLang="zh-CN" sz="2500" b="1" dirty="0" smtClean="0">
                <a:latin typeface="+mn-lt"/>
                <a:ea typeface="华文楷体" panose="02010600040101010101" pitchFamily="2" charset="-122"/>
              </a:rPr>
              <a:t> </a:t>
            </a:r>
            <a:r>
              <a:rPr lang="zh-CN" altLang="en-US" sz="2500" b="1" dirty="0" smtClean="0">
                <a:latin typeface="+mn-lt"/>
                <a:ea typeface="华文楷体" panose="02010600040101010101" pitchFamily="2" charset="-122"/>
              </a:rPr>
              <a:t>≈</a:t>
            </a:r>
            <a:r>
              <a:rPr lang="en-US" altLang="zh-CN" sz="2500" b="1" dirty="0" smtClean="0">
                <a:latin typeface="+mn-lt"/>
                <a:ea typeface="华文楷体" panose="02010600040101010101" pitchFamily="2" charset="-122"/>
              </a:rPr>
              <a:t> E</a:t>
            </a:r>
            <a:r>
              <a:rPr lang="en-US" altLang="zh-CN" sz="2500" b="1" baseline="-25000" dirty="0" smtClean="0">
                <a:solidFill>
                  <a:schemeClr val="accent2"/>
                </a:solidFill>
                <a:latin typeface="+mn-lt"/>
                <a:ea typeface="华文楷体" panose="02010600040101010101" pitchFamily="2" charset="-122"/>
              </a:rPr>
              <a:t>2s</a:t>
            </a:r>
            <a:endParaRPr lang="zh-CN" altLang="en-US" sz="2500" b="1" baseline="-25000" dirty="0" smtClean="0">
              <a:solidFill>
                <a:schemeClr val="accent2"/>
              </a:solidFill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458" name="Rectangle 5"/>
          <p:cNvSpPr>
            <a:spLocks noChangeArrowheads="1"/>
          </p:cNvSpPr>
          <p:nvPr/>
        </p:nvSpPr>
        <p:spPr bwMode="auto">
          <a:xfrm>
            <a:off x="5715000" y="3327400"/>
            <a:ext cx="235267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Monotype Sorts"/>
              <a:buNone/>
              <a:defRPr/>
            </a:pPr>
            <a:r>
              <a:rPr lang="zh-CN" altLang="en-US" sz="2400" b="1" i="1" dirty="0" smtClean="0">
                <a:solidFill>
                  <a:schemeClr val="accent2"/>
                </a:solidFill>
                <a:latin typeface="+mn-lt"/>
                <a:ea typeface="华文楷体" panose="02010600040101010101" pitchFamily="2" charset="-122"/>
              </a:rPr>
              <a:t>𝛔</a:t>
            </a:r>
            <a:r>
              <a:rPr lang="en-US" altLang="zh-CN" sz="2400" b="1" baseline="-25000" dirty="0" smtClean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rPr>
              <a:t>2p</a:t>
            </a:r>
            <a:r>
              <a:rPr lang="en-US" altLang="zh-CN" sz="2400" b="1" i="1" baseline="-25000" dirty="0" smtClean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rPr>
              <a:t>x </a:t>
            </a:r>
            <a:r>
              <a:rPr lang="en-US" altLang="zh-CN" sz="2400" b="1" i="1" dirty="0" smtClean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rPr>
              <a:t>&gt;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rPr>
              <a:t> </a:t>
            </a:r>
            <a:r>
              <a:rPr lang="el-GR" altLang="zh-CN" sz="2400" b="1" i="1" dirty="0" smtClean="0">
                <a:solidFill>
                  <a:schemeClr val="accent2"/>
                </a:solidFill>
                <a:latin typeface="+mn-lt"/>
                <a:ea typeface="华文楷体" panose="02010600040101010101" pitchFamily="2" charset="-122"/>
              </a:rPr>
              <a:t>π</a:t>
            </a:r>
            <a:r>
              <a:rPr lang="en-US" altLang="zh-CN" sz="2400" b="1" baseline="-25000" dirty="0" smtClean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rPr>
              <a:t>2p</a:t>
            </a:r>
            <a:r>
              <a:rPr lang="en-US" altLang="zh-CN" sz="2400" b="1" i="1" baseline="-25000" dirty="0" smtClean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rPr>
              <a:t>y</a:t>
            </a:r>
            <a:r>
              <a:rPr lang="en-US" altLang="zh-CN" sz="2400" b="1" dirty="0" smtClean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rPr>
              <a:t> =</a:t>
            </a:r>
            <a:r>
              <a:rPr lang="el-GR" altLang="zh-CN" sz="2400" b="1" i="1" dirty="0" smtClean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rPr>
              <a:t> </a:t>
            </a:r>
            <a:r>
              <a:rPr lang="el-GR" altLang="zh-CN" sz="2400" b="1" i="1" dirty="0">
                <a:solidFill>
                  <a:schemeClr val="accent2"/>
                </a:solidFill>
                <a:latin typeface="+mn-lt"/>
                <a:ea typeface="华文楷体" panose="02010600040101010101" pitchFamily="2" charset="-122"/>
              </a:rPr>
              <a:t>π</a:t>
            </a:r>
            <a:r>
              <a:rPr lang="en-US" altLang="zh-CN" sz="2400" b="1" baseline="-25000" dirty="0" smtClean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rPr>
              <a:t>2pz</a:t>
            </a:r>
            <a:r>
              <a:rPr lang="en-US" altLang="zh-CN" sz="2400" b="1" i="1" dirty="0" smtClean="0">
                <a:solidFill>
                  <a:schemeClr val="accent3"/>
                </a:solidFill>
                <a:latin typeface="+mn-lt"/>
                <a:ea typeface="华文楷体" panose="02010600040101010101" pitchFamily="2" charset="-122"/>
              </a:rPr>
              <a:t> </a:t>
            </a:r>
            <a:endParaRPr lang="zh-CN" altLang="en-US" sz="2400" b="1" i="1" baseline="-25000" dirty="0">
              <a:solidFill>
                <a:schemeClr val="accent3"/>
              </a:solidFill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166" name="Rectangle 5"/>
          <p:cNvSpPr>
            <a:spLocks noChangeArrowheads="1"/>
          </p:cNvSpPr>
          <p:nvPr/>
        </p:nvSpPr>
        <p:spPr bwMode="auto">
          <a:xfrm>
            <a:off x="1539875" y="4535488"/>
            <a:ext cx="5683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</a:pPr>
            <a:r>
              <a:rPr lang="en-US" altLang="zh-CN" sz="2000" b="1">
                <a:ea typeface="楷体_GB2312" pitchFamily="49" charset="-122"/>
                <a:cs typeface="Times New Roman" pitchFamily="18" charset="0"/>
              </a:rPr>
              <a:t>AO</a:t>
            </a:r>
            <a:endParaRPr lang="zh-CN" altLang="en-US" sz="2000" b="1" baseline="-25000">
              <a:solidFill>
                <a:srgbClr val="FFFF00"/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67" name="Rectangle 5"/>
          <p:cNvSpPr>
            <a:spLocks noChangeArrowheads="1"/>
          </p:cNvSpPr>
          <p:nvPr/>
        </p:nvSpPr>
        <p:spPr bwMode="auto">
          <a:xfrm>
            <a:off x="3160713" y="4535488"/>
            <a:ext cx="5683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</a:pPr>
            <a:r>
              <a:rPr lang="en-US" altLang="zh-CN" sz="2000" b="1">
                <a:ea typeface="楷体_GB2312" pitchFamily="49" charset="-122"/>
                <a:cs typeface="Times New Roman" pitchFamily="18" charset="0"/>
              </a:rPr>
              <a:t>AO</a:t>
            </a:r>
            <a:endParaRPr lang="zh-CN" altLang="en-US" sz="2000" b="1" baseline="-25000">
              <a:solidFill>
                <a:srgbClr val="FFFF00"/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68" name="Rectangle 5"/>
          <p:cNvSpPr>
            <a:spLocks noChangeArrowheads="1"/>
          </p:cNvSpPr>
          <p:nvPr/>
        </p:nvSpPr>
        <p:spPr bwMode="auto">
          <a:xfrm>
            <a:off x="2311400" y="4535488"/>
            <a:ext cx="6254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</a:pPr>
            <a:r>
              <a:rPr lang="en-US" altLang="zh-CN" sz="2000" b="1">
                <a:ea typeface="楷体_GB2312" pitchFamily="49" charset="-122"/>
                <a:cs typeface="Times New Roman" pitchFamily="18" charset="0"/>
              </a:rPr>
              <a:t>MO</a:t>
            </a:r>
            <a:endParaRPr lang="zh-CN" altLang="en-US" sz="2000" b="1" baseline="-25000"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0759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335756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8.1.3</a:t>
            </a:r>
            <a:r>
              <a:rPr kumimoji="1"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分子轨道理论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/>
      <p:bldP spid="55309" grpId="0"/>
      <p:bldP spid="344" grpId="0"/>
      <p:bldP spid="345" grpId="0"/>
      <p:bldP spid="346" grpId="0"/>
      <p:bldP spid="347" grpId="0"/>
      <p:bldP spid="348" grpId="0"/>
      <p:bldP spid="349" grpId="0" animBg="1"/>
      <p:bldP spid="350" grpId="0"/>
      <p:bldP spid="364" grpId="0"/>
      <p:bldP spid="365" grpId="0"/>
      <p:bldP spid="366" grpId="0"/>
      <p:bldP spid="367" grpId="0"/>
      <p:bldP spid="368" grpId="0"/>
      <p:bldP spid="455" grpId="0" animBg="1"/>
      <p:bldP spid="456" grpId="0"/>
      <p:bldP spid="457" grpId="0"/>
      <p:bldP spid="458" grpId="0"/>
      <p:bldP spid="166" grpId="0"/>
      <p:bldP spid="167" grpId="0"/>
      <p:bldP spid="16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117475" y="552608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31747" name="Oval 6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48" name="Rectangle 5"/>
          <p:cNvSpPr>
            <a:spLocks noChangeArrowheads="1"/>
          </p:cNvSpPr>
          <p:nvPr/>
        </p:nvSpPr>
        <p:spPr bwMode="auto">
          <a:xfrm>
            <a:off x="974725" y="1668463"/>
            <a:ext cx="48418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Monotype Sorts" pitchFamily="2" charset="2"/>
              <a:buNone/>
            </a:pP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①</a:t>
            </a:r>
            <a:r>
              <a:rPr lang="zh-CN" altLang="en-US" sz="2500" b="1">
                <a:ea typeface="楷体_GB2312" pitchFamily="49" charset="-122"/>
              </a:rPr>
              <a:t>原子轨道能级</a:t>
            </a:r>
            <a:r>
              <a:rPr lang="en-US" altLang="zh-CN" sz="2500" b="1">
                <a:ea typeface="楷体_GB2312" pitchFamily="49" charset="-122"/>
              </a:rPr>
              <a:t>;</a:t>
            </a: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②</a:t>
            </a:r>
            <a:r>
              <a:rPr lang="zh-CN" altLang="en-US" sz="2500" b="1">
                <a:ea typeface="楷体_GB2312" pitchFamily="49" charset="-122"/>
              </a:rPr>
              <a:t>线性组合状况</a:t>
            </a:r>
            <a:r>
              <a:rPr lang="en-US" altLang="zh-CN" sz="2500" b="1">
                <a:ea typeface="楷体_GB2312" pitchFamily="49" charset="-122"/>
              </a:rPr>
              <a:t>.</a:t>
            </a:r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31749" name="Text Box 47"/>
          <p:cNvSpPr txBox="1">
            <a:spLocks noChangeArrowheads="1"/>
          </p:cNvSpPr>
          <p:nvPr/>
        </p:nvSpPr>
        <p:spPr bwMode="auto">
          <a:xfrm>
            <a:off x="903288" y="1025525"/>
            <a:ext cx="290988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solidFill>
                  <a:srgbClr val="FF0000"/>
                </a:solidFill>
                <a:ea typeface="楷体_GB2312" pitchFamily="49" charset="-122"/>
              </a:rPr>
              <a:t>3.</a:t>
            </a:r>
            <a:r>
              <a:rPr kumimoji="1" lang="zh-CN" altLang="en-US" sz="2500" b="1">
                <a:solidFill>
                  <a:srgbClr val="FF0000"/>
                </a:solidFill>
                <a:ea typeface="楷体_GB2312" pitchFamily="49" charset="-122"/>
              </a:rPr>
              <a:t>分子轨道能级图</a:t>
            </a:r>
          </a:p>
        </p:txBody>
      </p:sp>
      <p:grpSp>
        <p:nvGrpSpPr>
          <p:cNvPr id="3" name="组合 152"/>
          <p:cNvGrpSpPr>
            <a:grpSpLocks/>
          </p:cNvGrpSpPr>
          <p:nvPr/>
        </p:nvGrpSpPr>
        <p:grpSpPr bwMode="auto">
          <a:xfrm>
            <a:off x="1117600" y="2311400"/>
            <a:ext cx="7013575" cy="590550"/>
            <a:chOff x="3493224" y="4364754"/>
            <a:chExt cx="7013108" cy="589914"/>
          </a:xfrm>
        </p:grpSpPr>
        <p:sp>
          <p:nvSpPr>
            <p:cNvPr id="154" name="矩形 153"/>
            <p:cNvSpPr/>
            <p:nvPr/>
          </p:nvSpPr>
          <p:spPr>
            <a:xfrm>
              <a:off x="7474409" y="4585179"/>
              <a:ext cx="1079428" cy="35838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1759" name="Rectangle 5"/>
            <p:cNvSpPr>
              <a:spLocks noChangeArrowheads="1"/>
            </p:cNvSpPr>
            <p:nvPr/>
          </p:nvSpPr>
          <p:spPr bwMode="auto">
            <a:xfrm>
              <a:off x="3493224" y="4364754"/>
              <a:ext cx="7013108" cy="5899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buFont typeface="Monotype Sorts" pitchFamily="2" charset="2"/>
                <a:buNone/>
              </a:pPr>
              <a:r>
                <a:rPr lang="en-US" altLang="zh-CN" sz="2400" b="1">
                  <a:ea typeface="华文楷体" pitchFamily="2" charset="-122"/>
                </a:rPr>
                <a:t>O</a:t>
              </a:r>
              <a:r>
                <a:rPr lang="zh-CN" altLang="en-US" sz="2400" b="1">
                  <a:ea typeface="华文楷体" pitchFamily="2" charset="-122"/>
                </a:rPr>
                <a:t>、</a:t>
              </a:r>
              <a:r>
                <a:rPr lang="en-US" altLang="zh-CN" sz="2400" b="1">
                  <a:ea typeface="华文楷体" pitchFamily="2" charset="-122"/>
                </a:rPr>
                <a:t>F</a:t>
              </a:r>
              <a:r>
                <a:rPr lang="zh-CN" altLang="en-US" sz="2400" b="1">
                  <a:ea typeface="华文楷体" pitchFamily="2" charset="-122"/>
                </a:rPr>
                <a:t>、</a:t>
              </a:r>
              <a:r>
                <a:rPr lang="en-US" altLang="zh-CN" sz="2400" b="1">
                  <a:ea typeface="华文楷体" pitchFamily="2" charset="-122"/>
                </a:rPr>
                <a:t>Ne</a:t>
              </a:r>
              <a:r>
                <a:rPr lang="zh-CN" altLang="en-US" sz="2400" b="1">
                  <a:ea typeface="华文楷体" pitchFamily="2" charset="-122"/>
                </a:rPr>
                <a:t>：</a:t>
              </a:r>
              <a:r>
                <a:rPr lang="zh-CN" altLang="en-US" sz="2400" b="1" i="1">
                  <a:ea typeface="华文楷体" pitchFamily="2" charset="-122"/>
                </a:rPr>
                <a:t>𝛔</a:t>
              </a:r>
              <a:r>
                <a:rPr lang="en-US" altLang="zh-CN" sz="2400" b="1" baseline="-25000">
                  <a:ea typeface="华文楷体" pitchFamily="2" charset="-122"/>
                </a:rPr>
                <a:t>1s</a:t>
              </a:r>
              <a:r>
                <a:rPr lang="zh-CN" altLang="en-US" sz="2400" b="1" i="1">
                  <a:solidFill>
                    <a:srgbClr val="FF0000"/>
                  </a:solidFill>
                  <a:ea typeface="华文楷体" pitchFamily="2" charset="-122"/>
                </a:rPr>
                <a:t>𝛔</a:t>
              </a:r>
              <a:r>
                <a:rPr lang="en-US" altLang="zh-CN" sz="2400" b="1" baseline="-25000">
                  <a:solidFill>
                    <a:srgbClr val="FF0000"/>
                  </a:solidFill>
                  <a:ea typeface="华文楷体" pitchFamily="2" charset="-122"/>
                </a:rPr>
                <a:t>1s</a:t>
              </a:r>
              <a:r>
                <a:rPr lang="zh-CN" altLang="en-US" sz="2400" b="1" baseline="30000">
                  <a:solidFill>
                    <a:srgbClr val="FF0000"/>
                  </a:solidFill>
                  <a:ea typeface="华文楷体" pitchFamily="2" charset="-122"/>
                </a:rPr>
                <a:t>*</a:t>
              </a:r>
              <a:r>
                <a:rPr lang="zh-CN" altLang="en-US" sz="2400" b="1" i="1">
                  <a:ea typeface="华文楷体" pitchFamily="2" charset="-122"/>
                </a:rPr>
                <a:t>𝛔</a:t>
              </a:r>
              <a:r>
                <a:rPr lang="en-US" altLang="zh-CN" sz="2400" b="1" baseline="-25000">
                  <a:ea typeface="华文楷体" pitchFamily="2" charset="-122"/>
                </a:rPr>
                <a:t>2s</a:t>
              </a:r>
              <a:r>
                <a:rPr lang="zh-CN" altLang="en-US" sz="2400" b="1" i="1">
                  <a:solidFill>
                    <a:srgbClr val="FF0000"/>
                  </a:solidFill>
                  <a:ea typeface="华文楷体" pitchFamily="2" charset="-122"/>
                </a:rPr>
                <a:t>𝛔</a:t>
              </a:r>
              <a:r>
                <a:rPr lang="en-US" altLang="zh-CN" sz="2400" b="1" baseline="-25000">
                  <a:solidFill>
                    <a:srgbClr val="FF0000"/>
                  </a:solidFill>
                  <a:ea typeface="华文楷体" pitchFamily="2" charset="-122"/>
                </a:rPr>
                <a:t>2s</a:t>
              </a:r>
              <a:r>
                <a:rPr lang="zh-CN" altLang="en-US" sz="2400" b="1" baseline="30000">
                  <a:solidFill>
                    <a:srgbClr val="FF0000"/>
                  </a:solidFill>
                  <a:ea typeface="华文楷体" pitchFamily="2" charset="-122"/>
                </a:rPr>
                <a:t>*</a:t>
              </a:r>
              <a:r>
                <a:rPr lang="zh-CN" altLang="en-US" sz="2400" b="1" i="1">
                  <a:ea typeface="华文楷体" pitchFamily="2" charset="-122"/>
                </a:rPr>
                <a:t>𝛔</a:t>
              </a:r>
              <a:r>
                <a:rPr lang="en-US" altLang="zh-CN" sz="2400" b="1" baseline="-25000">
                  <a:ea typeface="华文楷体" pitchFamily="2" charset="-122"/>
                </a:rPr>
                <a:t>2p</a:t>
              </a:r>
              <a:r>
                <a:rPr lang="en-US" altLang="zh-CN" sz="2400" b="1" i="1" baseline="-25000">
                  <a:ea typeface="华文楷体" pitchFamily="2" charset="-122"/>
                </a:rPr>
                <a:t>x</a:t>
              </a:r>
              <a:r>
                <a:rPr lang="el-GR" altLang="zh-CN" sz="2400" b="1" i="1">
                  <a:solidFill>
                    <a:schemeClr val="accent2"/>
                  </a:solidFill>
                  <a:ea typeface="华文楷体" pitchFamily="2" charset="-122"/>
                </a:rPr>
                <a:t> </a:t>
              </a:r>
              <a:r>
                <a:rPr lang="el-GR" altLang="zh-CN" sz="2400" b="1" i="1">
                  <a:ea typeface="华文楷体" pitchFamily="2" charset="-122"/>
                </a:rPr>
                <a:t>π</a:t>
              </a:r>
              <a:r>
                <a:rPr lang="en-US" altLang="zh-CN" sz="2400" b="1" baseline="-25000">
                  <a:solidFill>
                    <a:srgbClr val="FF0000"/>
                  </a:solidFill>
                  <a:ea typeface="华文楷体" pitchFamily="2" charset="-122"/>
                </a:rPr>
                <a:t>2p</a:t>
              </a:r>
              <a:r>
                <a:rPr lang="en-US" altLang="zh-CN" sz="2400" b="1" i="1" baseline="-25000">
                  <a:solidFill>
                    <a:srgbClr val="FF0000"/>
                  </a:solidFill>
                  <a:ea typeface="华文楷体" pitchFamily="2" charset="-122"/>
                </a:rPr>
                <a:t>y</a:t>
              </a:r>
              <a:r>
                <a:rPr lang="el-GR" altLang="zh-CN" sz="2400" b="1" i="1">
                  <a:solidFill>
                    <a:schemeClr val="accent2"/>
                  </a:solidFill>
                  <a:ea typeface="华文楷体" pitchFamily="2" charset="-122"/>
                </a:rPr>
                <a:t> </a:t>
              </a:r>
              <a:r>
                <a:rPr lang="el-GR" altLang="zh-CN" sz="2400" b="1" i="1">
                  <a:ea typeface="华文楷体" pitchFamily="2" charset="-122"/>
                </a:rPr>
                <a:t>π</a:t>
              </a:r>
              <a:r>
                <a:rPr lang="en-US" altLang="zh-CN" sz="2400" b="1" baseline="-25000">
                  <a:solidFill>
                    <a:srgbClr val="FF0000"/>
                  </a:solidFill>
                  <a:ea typeface="华文楷体" pitchFamily="2" charset="-122"/>
                </a:rPr>
                <a:t>2p</a:t>
              </a:r>
              <a:r>
                <a:rPr lang="en-US" altLang="zh-CN" sz="2400" b="1" i="1" baseline="-25000">
                  <a:solidFill>
                    <a:srgbClr val="FF0000"/>
                  </a:solidFill>
                  <a:ea typeface="华文楷体" pitchFamily="2" charset="-122"/>
                </a:rPr>
                <a:t>z</a:t>
              </a:r>
              <a:r>
                <a:rPr lang="el-GR" altLang="zh-CN" sz="2400" b="1" i="1">
                  <a:solidFill>
                    <a:schemeClr val="accent2"/>
                  </a:solidFill>
                  <a:ea typeface="华文楷体" pitchFamily="2" charset="-122"/>
                </a:rPr>
                <a:t> </a:t>
              </a:r>
              <a:r>
                <a:rPr lang="el-GR" altLang="zh-CN" sz="2400" b="1" i="1">
                  <a:solidFill>
                    <a:srgbClr val="FF0000"/>
                  </a:solidFill>
                  <a:ea typeface="华文楷体" pitchFamily="2" charset="-122"/>
                </a:rPr>
                <a:t>π</a:t>
              </a:r>
              <a:r>
                <a:rPr lang="en-US" altLang="zh-CN" sz="2400" b="1" baseline="-25000">
                  <a:solidFill>
                    <a:srgbClr val="FF0000"/>
                  </a:solidFill>
                  <a:ea typeface="华文楷体" pitchFamily="2" charset="-122"/>
                </a:rPr>
                <a:t>2p</a:t>
              </a:r>
              <a:r>
                <a:rPr lang="en-US" altLang="zh-CN" sz="2400" b="1" i="1" baseline="-25000">
                  <a:solidFill>
                    <a:srgbClr val="FF0000"/>
                  </a:solidFill>
                  <a:ea typeface="华文楷体" pitchFamily="2" charset="-122"/>
                </a:rPr>
                <a:t>y</a:t>
              </a:r>
              <a:r>
                <a:rPr lang="zh-CN" altLang="en-US" sz="2400" b="1" baseline="30000">
                  <a:solidFill>
                    <a:srgbClr val="FF0000"/>
                  </a:solidFill>
                  <a:ea typeface="华文楷体" pitchFamily="2" charset="-122"/>
                </a:rPr>
                <a:t>*</a:t>
              </a:r>
              <a:r>
                <a:rPr lang="el-GR" altLang="zh-CN" sz="2400" b="1" i="1">
                  <a:solidFill>
                    <a:srgbClr val="FF0000"/>
                  </a:solidFill>
                  <a:ea typeface="华文楷体" pitchFamily="2" charset="-122"/>
                </a:rPr>
                <a:t>π</a:t>
              </a:r>
              <a:r>
                <a:rPr lang="en-US" altLang="zh-CN" sz="2400" b="1" baseline="-25000">
                  <a:solidFill>
                    <a:srgbClr val="FF0000"/>
                  </a:solidFill>
                  <a:ea typeface="华文楷体" pitchFamily="2" charset="-122"/>
                </a:rPr>
                <a:t>2p</a:t>
              </a:r>
              <a:r>
                <a:rPr lang="en-US" altLang="zh-CN" sz="2400" b="1" i="1" baseline="-25000">
                  <a:solidFill>
                    <a:srgbClr val="FF0000"/>
                  </a:solidFill>
                  <a:ea typeface="华文楷体" pitchFamily="2" charset="-122"/>
                </a:rPr>
                <a:t>z</a:t>
              </a:r>
              <a:r>
                <a:rPr lang="zh-CN" altLang="en-US" sz="2400" b="1" baseline="30000">
                  <a:solidFill>
                    <a:srgbClr val="FF0000"/>
                  </a:solidFill>
                  <a:ea typeface="华文楷体" pitchFamily="2" charset="-122"/>
                </a:rPr>
                <a:t>*</a:t>
              </a:r>
              <a:r>
                <a:rPr lang="zh-CN" altLang="en-US" sz="2400" b="1" i="1">
                  <a:solidFill>
                    <a:srgbClr val="FF0000"/>
                  </a:solidFill>
                  <a:ea typeface="华文楷体" pitchFamily="2" charset="-122"/>
                </a:rPr>
                <a:t>𝛔</a:t>
              </a:r>
              <a:r>
                <a:rPr lang="en-US" altLang="zh-CN" sz="2400" b="1" baseline="-25000">
                  <a:solidFill>
                    <a:srgbClr val="FF0000"/>
                  </a:solidFill>
                  <a:ea typeface="华文楷体" pitchFamily="2" charset="-122"/>
                </a:rPr>
                <a:t>2p</a:t>
              </a:r>
              <a:r>
                <a:rPr lang="en-US" altLang="zh-CN" sz="2400" b="1" i="1" baseline="-25000">
                  <a:solidFill>
                    <a:srgbClr val="FF0000"/>
                  </a:solidFill>
                  <a:ea typeface="华文楷体" pitchFamily="2" charset="-122"/>
                </a:rPr>
                <a:t>x</a:t>
              </a:r>
              <a:r>
                <a:rPr lang="zh-CN" altLang="en-US" sz="2400" b="1" baseline="30000">
                  <a:solidFill>
                    <a:srgbClr val="FF0000"/>
                  </a:solidFill>
                  <a:ea typeface="华文楷体" pitchFamily="2" charset="-122"/>
                </a:rPr>
                <a:t>*</a:t>
              </a:r>
              <a:endParaRPr lang="zh-CN" altLang="en-US" sz="2400" b="1" i="1" baseline="-25000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  <p:sp>
          <p:nvSpPr>
            <p:cNvPr id="156" name="矩形 155"/>
            <p:cNvSpPr/>
            <p:nvPr/>
          </p:nvSpPr>
          <p:spPr>
            <a:xfrm>
              <a:off x="8553837" y="4585179"/>
              <a:ext cx="1200070" cy="35838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57" name="Rectangle 5"/>
          <p:cNvSpPr>
            <a:spLocks noChangeArrowheads="1"/>
          </p:cNvSpPr>
          <p:nvPr/>
        </p:nvSpPr>
        <p:spPr bwMode="auto">
          <a:xfrm>
            <a:off x="4592638" y="3405188"/>
            <a:ext cx="1811337" cy="579437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Monotype Sorts"/>
              <a:buNone/>
              <a:defRPr/>
            </a:pPr>
            <a:r>
              <a:rPr lang="el-GR" altLang="zh-CN" sz="2400" b="1" i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π</a:t>
            </a:r>
            <a:r>
              <a:rPr lang="en-US" altLang="zh-CN" sz="2400" b="1" baseline="-25000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2p</a:t>
            </a:r>
            <a:r>
              <a:rPr lang="en-US" altLang="zh-CN" sz="2400" b="1" i="1" baseline="-25000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y</a:t>
            </a:r>
            <a:r>
              <a:rPr lang="en-US" altLang="zh-CN" sz="2400" b="1" i="1" baseline="-25000" dirty="0" smtClean="0">
                <a:solidFill>
                  <a:schemeClr val="accent3"/>
                </a:solidFill>
                <a:ea typeface="华文楷体" panose="02010600040101010101" pitchFamily="2" charset="-122"/>
              </a:rPr>
              <a:t> </a:t>
            </a:r>
            <a:r>
              <a:rPr lang="el-GR" altLang="zh-CN" sz="2400" b="1" i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π</a:t>
            </a:r>
            <a:r>
              <a:rPr lang="en-US" altLang="zh-CN" sz="2400" b="1" baseline="-25000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2p</a:t>
            </a:r>
            <a:r>
              <a:rPr lang="en-US" altLang="zh-CN" sz="2400" b="1" i="1" baseline="-25000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z</a:t>
            </a:r>
            <a:r>
              <a:rPr lang="en-US" altLang="zh-CN" sz="2400" b="1" i="1" baseline="-25000" dirty="0" smtClean="0">
                <a:solidFill>
                  <a:schemeClr val="accent3"/>
                </a:solidFill>
                <a:ea typeface="华文楷体" panose="02010600040101010101" pitchFamily="2" charset="-122"/>
              </a:rPr>
              <a:t> </a:t>
            </a:r>
            <a:r>
              <a:rPr lang="zh-CN" altLang="en-US" sz="2400" b="1" i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𝛔</a:t>
            </a:r>
            <a:r>
              <a:rPr lang="en-US" altLang="zh-CN" sz="2400" b="1" baseline="-25000" dirty="0">
                <a:ea typeface="华文楷体" panose="02010600040101010101" pitchFamily="2" charset="-122"/>
              </a:rPr>
              <a:t>2p</a:t>
            </a:r>
            <a:r>
              <a:rPr lang="en-US" altLang="zh-CN" sz="2400" b="1" i="1" baseline="-25000" dirty="0">
                <a:ea typeface="华文楷体" panose="02010600040101010101" pitchFamily="2" charset="-122"/>
              </a:rPr>
              <a:t>x</a:t>
            </a:r>
            <a:r>
              <a:rPr lang="el-GR" altLang="zh-CN" sz="2400" b="1" i="1" dirty="0">
                <a:solidFill>
                  <a:schemeClr val="accent2"/>
                </a:solidFill>
                <a:ea typeface="华文楷体" panose="02010600040101010101" pitchFamily="2" charset="-122"/>
              </a:rPr>
              <a:t> </a:t>
            </a:r>
            <a:endParaRPr lang="zh-CN" altLang="en-US" sz="2400" b="1" i="1" baseline="-25000" dirty="0" smtClean="0">
              <a:solidFill>
                <a:srgbClr val="FFFF00"/>
              </a:solidFill>
              <a:ea typeface="楷体_GB2312"/>
            </a:endParaRPr>
          </a:p>
        </p:txBody>
      </p:sp>
      <p:sp>
        <p:nvSpPr>
          <p:cNvPr id="158" name="Rectangle 5"/>
          <p:cNvSpPr>
            <a:spLocks noChangeArrowheads="1"/>
          </p:cNvSpPr>
          <p:nvPr/>
        </p:nvSpPr>
        <p:spPr bwMode="auto">
          <a:xfrm>
            <a:off x="5359400" y="2927350"/>
            <a:ext cx="8207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Monotype Sorts" pitchFamily="2" charset="2"/>
              <a:buNone/>
            </a:pPr>
            <a:r>
              <a:rPr lang="zh-CN" altLang="en-US" sz="2000" b="1">
                <a:ea typeface="楷体_GB2312" pitchFamily="49" charset="-122"/>
              </a:rPr>
              <a:t>等价</a:t>
            </a:r>
          </a:p>
        </p:txBody>
      </p:sp>
      <p:sp>
        <p:nvSpPr>
          <p:cNvPr id="159" name="矩形 158"/>
          <p:cNvSpPr/>
          <p:nvPr/>
        </p:nvSpPr>
        <p:spPr>
          <a:xfrm>
            <a:off x="4602163" y="3654425"/>
            <a:ext cx="1104900" cy="35877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987675" y="3603625"/>
            <a:ext cx="180816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楷体" pitchFamily="2" charset="-122"/>
              </a:rPr>
              <a:t>B</a:t>
            </a:r>
            <a:r>
              <a:rPr lang="zh-CN" altLang="en-US" sz="2500" b="1">
                <a:ea typeface="华文楷体" pitchFamily="2" charset="-122"/>
              </a:rPr>
              <a:t>、</a:t>
            </a:r>
            <a:r>
              <a:rPr lang="en-US" altLang="zh-CN" sz="2500" b="1">
                <a:ea typeface="华文楷体" pitchFamily="2" charset="-122"/>
              </a:rPr>
              <a:t>C</a:t>
            </a:r>
            <a:r>
              <a:rPr lang="zh-CN" altLang="en-US" sz="2500" b="1">
                <a:ea typeface="华文楷体" pitchFamily="2" charset="-122"/>
              </a:rPr>
              <a:t>、</a:t>
            </a:r>
            <a:r>
              <a:rPr lang="en-US" altLang="zh-CN" sz="2500" b="1">
                <a:ea typeface="华文楷体" pitchFamily="2" charset="-122"/>
              </a:rPr>
              <a:t>N</a:t>
            </a:r>
            <a:r>
              <a:rPr lang="zh-CN" altLang="en-US" sz="2400" b="1">
                <a:ea typeface="华文楷体" pitchFamily="2" charset="-122"/>
              </a:rPr>
              <a:t>：</a:t>
            </a:r>
            <a:endParaRPr lang="zh-CN" altLang="en-US" sz="2400"/>
          </a:p>
        </p:txBody>
      </p:sp>
      <p:sp>
        <p:nvSpPr>
          <p:cNvPr id="165" name="Rectangle 5"/>
          <p:cNvSpPr>
            <a:spLocks noChangeArrowheads="1"/>
          </p:cNvSpPr>
          <p:nvPr/>
        </p:nvSpPr>
        <p:spPr bwMode="auto">
          <a:xfrm>
            <a:off x="6427788" y="2943225"/>
            <a:ext cx="8191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Monotype Sorts" pitchFamily="2" charset="2"/>
              <a:buNone/>
            </a:pPr>
            <a:r>
              <a:rPr lang="zh-CN" altLang="en-US" sz="2000" b="1">
                <a:solidFill>
                  <a:srgbClr val="FF0000"/>
                </a:solidFill>
                <a:ea typeface="楷体_GB2312" pitchFamily="49" charset="-122"/>
              </a:rPr>
              <a:t>等价</a:t>
            </a:r>
          </a:p>
        </p:txBody>
      </p:sp>
      <p:sp>
        <p:nvSpPr>
          <p:cNvPr id="169" name="Rectangle 5"/>
          <p:cNvSpPr>
            <a:spLocks noChangeArrowheads="1"/>
          </p:cNvSpPr>
          <p:nvPr/>
        </p:nvSpPr>
        <p:spPr bwMode="auto">
          <a:xfrm>
            <a:off x="1117600" y="4240213"/>
            <a:ext cx="5399088" cy="124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Monotype Sorts" pitchFamily="2" charset="2"/>
              <a:buNone/>
            </a:pPr>
            <a:r>
              <a:rPr lang="zh-CN" altLang="en-US" sz="2500" b="1">
                <a:ea typeface="楷体_GB2312" pitchFamily="49" charset="-122"/>
              </a:rPr>
              <a:t>电子填充规则：</a:t>
            </a: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①</a:t>
            </a:r>
            <a:r>
              <a:rPr lang="zh-CN" altLang="en-US" sz="2500" b="1">
                <a:ea typeface="楷体_GB2312" pitchFamily="49" charset="-122"/>
              </a:rPr>
              <a:t> 能量最低原理；</a:t>
            </a:r>
            <a:endParaRPr lang="en-US" altLang="zh-CN" sz="2500" b="1">
              <a:ea typeface="楷体_GB2312" pitchFamily="49" charset="-122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2500" b="1">
                <a:ea typeface="楷体_GB2312" pitchFamily="49" charset="-122"/>
              </a:rPr>
              <a:t>                            </a:t>
            </a: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②</a:t>
            </a:r>
            <a:r>
              <a:rPr lang="zh-CN" altLang="en-US" sz="2500" b="1">
                <a:ea typeface="楷体_GB2312" pitchFamily="49" charset="-122"/>
              </a:rPr>
              <a:t> 保利不相容原理；</a:t>
            </a:r>
            <a:endParaRPr lang="en-US" altLang="zh-CN" sz="2500" b="1">
              <a:ea typeface="楷体_GB2312" pitchFamily="49" charset="-122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2500" b="1">
                <a:ea typeface="楷体_GB2312" pitchFamily="49" charset="-122"/>
              </a:rPr>
              <a:t>                            </a:t>
            </a: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③</a:t>
            </a:r>
            <a:r>
              <a:rPr lang="zh-CN" altLang="en-US" sz="2500" b="1">
                <a:ea typeface="楷体_GB2312" pitchFamily="49" charset="-122"/>
              </a:rPr>
              <a:t> 洪特规则</a:t>
            </a:r>
            <a:r>
              <a:rPr lang="en-US" altLang="zh-CN" sz="2500" b="1">
                <a:ea typeface="楷体_GB2312" pitchFamily="49" charset="-122"/>
              </a:rPr>
              <a:t>.</a:t>
            </a:r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31757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335756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8.1.3</a:t>
            </a:r>
            <a:r>
              <a:rPr kumimoji="1"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分子轨道理论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animBg="1"/>
      <p:bldP spid="158" grpId="0"/>
      <p:bldP spid="159" grpId="0" animBg="1"/>
      <p:bldP spid="2" grpId="0"/>
      <p:bldP spid="165" grpId="0"/>
      <p:bldP spid="16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1" name="Oval 6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09" name="Text Box 47"/>
          <p:cNvSpPr txBox="1">
            <a:spLocks noChangeArrowheads="1"/>
          </p:cNvSpPr>
          <p:nvPr/>
        </p:nvSpPr>
        <p:spPr bwMode="auto">
          <a:xfrm>
            <a:off x="811213" y="1025525"/>
            <a:ext cx="1109662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ea typeface="楷体_GB2312" pitchFamily="49" charset="-122"/>
              </a:rPr>
              <a:t>4.</a:t>
            </a:r>
            <a:r>
              <a:rPr kumimoji="1" lang="zh-CN" altLang="en-US" sz="2500" b="1">
                <a:ea typeface="楷体_GB2312" pitchFamily="49" charset="-122"/>
              </a:rPr>
              <a:t>键级：</a:t>
            </a: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1903413" y="1025525"/>
            <a:ext cx="48418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Monotype Sorts" pitchFamily="2" charset="2"/>
              <a:buNone/>
            </a:pPr>
            <a:r>
              <a:rPr lang="zh-CN" altLang="en-US" sz="2500" b="1">
                <a:ea typeface="楷体_GB2312" pitchFamily="49" charset="-122"/>
              </a:rPr>
              <a:t>表示键的牢靠程度</a:t>
            </a:r>
            <a:r>
              <a:rPr lang="en-US" altLang="zh-CN" sz="2500" b="1">
                <a:ea typeface="楷体_GB2312" pitchFamily="49" charset="-122"/>
              </a:rPr>
              <a:t>.</a:t>
            </a:r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1903413" y="1516063"/>
            <a:ext cx="571500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Monotype Sorts" pitchFamily="2" charset="2"/>
              <a:buNone/>
            </a:pP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定义：</a:t>
            </a:r>
            <a:r>
              <a:rPr lang="zh-CN" altLang="en-US" sz="2500" b="1">
                <a:ea typeface="楷体_GB2312" pitchFamily="49" charset="-122"/>
              </a:rPr>
              <a:t>分子中净成键电子数的一半</a:t>
            </a:r>
            <a:r>
              <a:rPr lang="en-US" altLang="zh-CN" sz="2500" b="1">
                <a:ea typeface="楷体_GB2312" pitchFamily="49" charset="-122"/>
              </a:rPr>
              <a:t>.</a:t>
            </a:r>
            <a:endParaRPr lang="zh-CN" altLang="en-US" sz="2500" b="1">
              <a:ea typeface="楷体_GB2312" pitchFamily="49" charset="-122"/>
            </a:endParaRPr>
          </a:p>
        </p:txBody>
      </p:sp>
      <p:grpSp>
        <p:nvGrpSpPr>
          <p:cNvPr id="2" name="组合 27"/>
          <p:cNvGrpSpPr>
            <a:grpSpLocks/>
          </p:cNvGrpSpPr>
          <p:nvPr/>
        </p:nvGrpSpPr>
        <p:grpSpPr bwMode="auto">
          <a:xfrm>
            <a:off x="1901825" y="2224088"/>
            <a:ext cx="6356350" cy="990600"/>
            <a:chOff x="3071502" y="3917121"/>
            <a:chExt cx="6356190" cy="990525"/>
          </a:xfrm>
        </p:grpSpPr>
        <p:sp>
          <p:nvSpPr>
            <p:cNvPr id="32779" name="矩形 28"/>
            <p:cNvSpPr>
              <a:spLocks noChangeArrowheads="1"/>
            </p:cNvSpPr>
            <p:nvPr/>
          </p:nvSpPr>
          <p:spPr bwMode="auto">
            <a:xfrm>
              <a:off x="3071502" y="4138793"/>
              <a:ext cx="1092049" cy="4770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500" b="1">
                  <a:solidFill>
                    <a:srgbClr val="FF0000"/>
                  </a:solidFill>
                  <a:ea typeface="楷体_GB2312" pitchFamily="49" charset="-122"/>
                </a:rPr>
                <a:t>键级</a:t>
              </a:r>
              <a:r>
                <a:rPr lang="zh-CN" altLang="en-US" sz="2500" b="1">
                  <a:ea typeface="楷体_GB2312" pitchFamily="49" charset="-122"/>
                </a:rPr>
                <a:t> </a:t>
              </a:r>
              <a:r>
                <a:rPr lang="en-US" altLang="zh-CN" sz="2500" b="1">
                  <a:ea typeface="楷体_GB2312" pitchFamily="49" charset="-122"/>
                </a:rPr>
                <a:t>=</a:t>
              </a:r>
              <a:endParaRPr lang="zh-CN" altLang="en-US" sz="2500">
                <a:ea typeface="楷体_GB2312" pitchFamily="49" charset="-122"/>
              </a:endParaRPr>
            </a:p>
          </p:txBody>
        </p:sp>
        <p:cxnSp>
          <p:nvCxnSpPr>
            <p:cNvPr id="32780" name="直接连接符 29"/>
            <p:cNvCxnSpPr>
              <a:cxnSpLocks noChangeShapeType="1"/>
            </p:cNvCxnSpPr>
            <p:nvPr/>
          </p:nvCxnSpPr>
          <p:spPr bwMode="auto">
            <a:xfrm>
              <a:off x="4189966" y="4378785"/>
              <a:ext cx="523772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32781" name="矩形 30"/>
            <p:cNvSpPr>
              <a:spLocks noChangeArrowheads="1"/>
            </p:cNvSpPr>
            <p:nvPr/>
          </p:nvSpPr>
          <p:spPr bwMode="auto">
            <a:xfrm>
              <a:off x="4295603" y="3917121"/>
              <a:ext cx="5016498" cy="4770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500" b="1">
                  <a:solidFill>
                    <a:srgbClr val="FF0000"/>
                  </a:solidFill>
                  <a:ea typeface="楷体_GB2312" pitchFamily="49" charset="-122"/>
                </a:rPr>
                <a:t>成键</a:t>
              </a:r>
              <a:r>
                <a:rPr lang="zh-CN" altLang="en-US" sz="2500" b="1">
                  <a:ea typeface="楷体_GB2312" pitchFamily="49" charset="-122"/>
                </a:rPr>
                <a:t>轨道电子数 </a:t>
              </a:r>
              <a:r>
                <a:rPr lang="en-US" altLang="zh-CN" sz="2500" b="1">
                  <a:ea typeface="楷体_GB2312" pitchFamily="49" charset="-122"/>
                </a:rPr>
                <a:t>– </a:t>
              </a:r>
              <a:r>
                <a:rPr lang="zh-CN" altLang="en-US" sz="2500" b="1">
                  <a:solidFill>
                    <a:srgbClr val="FF0000"/>
                  </a:solidFill>
                  <a:ea typeface="楷体_GB2312" pitchFamily="49" charset="-122"/>
                </a:rPr>
                <a:t>反键</a:t>
              </a:r>
              <a:r>
                <a:rPr lang="zh-CN" altLang="en-US" sz="2500" b="1">
                  <a:ea typeface="楷体_GB2312" pitchFamily="49" charset="-122"/>
                </a:rPr>
                <a:t>轨道电子数</a:t>
              </a:r>
              <a:endParaRPr lang="zh-CN" altLang="en-US" sz="2500">
                <a:ea typeface="楷体_GB2312" pitchFamily="49" charset="-122"/>
              </a:endParaRPr>
            </a:p>
          </p:txBody>
        </p:sp>
        <p:sp>
          <p:nvSpPr>
            <p:cNvPr id="32782" name="矩形 31"/>
            <p:cNvSpPr>
              <a:spLocks noChangeArrowheads="1"/>
            </p:cNvSpPr>
            <p:nvPr/>
          </p:nvSpPr>
          <p:spPr bwMode="auto">
            <a:xfrm>
              <a:off x="6694497" y="4430457"/>
              <a:ext cx="346620" cy="477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500" b="1">
                  <a:ea typeface="楷体_GB2312" pitchFamily="49" charset="-122"/>
                </a:rPr>
                <a:t>2</a:t>
              </a:r>
              <a:endParaRPr lang="zh-CN" altLang="en-US" sz="2500">
                <a:ea typeface="楷体_GB2312" pitchFamily="49" charset="-122"/>
              </a:endParaRPr>
            </a:p>
          </p:txBody>
        </p:sp>
      </p:grp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993775" y="3295650"/>
            <a:ext cx="743426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键级越大</a:t>
            </a:r>
            <a:r>
              <a:rPr lang="zh-CN" altLang="en-US" sz="2500" b="1">
                <a:ea typeface="楷体_GB2312" pitchFamily="49" charset="-122"/>
              </a:rPr>
              <a:t>：键能越大、共价键越牢固、分子越稳定</a:t>
            </a:r>
            <a:r>
              <a:rPr lang="en-US" altLang="zh-CN" sz="2500" b="1">
                <a:ea typeface="楷体_GB2312" pitchFamily="49" charset="-122"/>
              </a:rPr>
              <a:t>.</a:t>
            </a:r>
            <a:endParaRPr lang="zh-CN" altLang="en-US" sz="2500">
              <a:ea typeface="楷体_GB2312" pitchFamily="49" charset="-122"/>
            </a:endParaRPr>
          </a:p>
        </p:txBody>
      </p:sp>
      <p:sp>
        <p:nvSpPr>
          <p:cNvPr id="34" name="矩形 33"/>
          <p:cNvSpPr>
            <a:spLocks noChangeArrowheads="1"/>
          </p:cNvSpPr>
          <p:nvPr/>
        </p:nvSpPr>
        <p:spPr bwMode="auto">
          <a:xfrm>
            <a:off x="993775" y="3773488"/>
            <a:ext cx="560070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键级 </a:t>
            </a:r>
            <a:r>
              <a:rPr lang="en-US" altLang="zh-CN" sz="2500" b="1">
                <a:solidFill>
                  <a:srgbClr val="FF0000"/>
                </a:solidFill>
                <a:ea typeface="楷体_GB2312" pitchFamily="49" charset="-122"/>
              </a:rPr>
              <a:t>= 0</a:t>
            </a:r>
            <a:r>
              <a:rPr lang="zh-CN" altLang="en-US" sz="2500" b="1">
                <a:ea typeface="楷体_GB2312" pitchFamily="49" charset="-122"/>
              </a:rPr>
              <a:t>：原子间不能形成稳定的分子</a:t>
            </a:r>
            <a:r>
              <a:rPr lang="en-US" altLang="zh-CN" sz="2500" b="1">
                <a:ea typeface="楷体_GB2312" pitchFamily="49" charset="-122"/>
              </a:rPr>
              <a:t>.</a:t>
            </a:r>
            <a:endParaRPr lang="zh-CN" altLang="en-US" sz="2500">
              <a:ea typeface="楷体_GB2312" pitchFamily="49" charset="-122"/>
            </a:endParaRPr>
          </a:p>
        </p:txBody>
      </p:sp>
      <p:sp>
        <p:nvSpPr>
          <p:cNvPr id="32778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335756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8.1.3</a:t>
            </a:r>
            <a:r>
              <a:rPr kumimoji="1"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分子轨道理论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8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9" grpId="0"/>
      <p:bldP spid="25" grpId="0"/>
      <p:bldP spid="26" grpId="0"/>
      <p:bldP spid="33" grpId="0"/>
      <p:bldP spid="3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33795" name="Oval 6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55309" name="Text Box 47"/>
          <p:cNvSpPr txBox="1">
            <a:spLocks noChangeArrowheads="1"/>
          </p:cNvSpPr>
          <p:nvPr/>
        </p:nvSpPr>
        <p:spPr bwMode="auto">
          <a:xfrm>
            <a:off x="890588" y="1111250"/>
            <a:ext cx="3341687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ea typeface="楷体_GB2312" pitchFamily="49" charset="-122"/>
              </a:rPr>
              <a:t>4.</a:t>
            </a:r>
            <a:r>
              <a:rPr kumimoji="1" lang="zh-CN" altLang="en-US" sz="2500" b="1">
                <a:ea typeface="楷体_GB2312" pitchFamily="49" charset="-122"/>
              </a:rPr>
              <a:t>分子轨道理论的应用：</a:t>
            </a:r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4475163" y="1025525"/>
            <a:ext cx="4841875" cy="124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Monotype Sorts" pitchFamily="2" charset="2"/>
              <a:buNone/>
            </a:pPr>
            <a:r>
              <a:rPr lang="zh-CN" altLang="en-US" sz="25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①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 推测分子的存在性和稳定性；</a:t>
            </a:r>
            <a:endParaRPr lang="en-US" altLang="zh-CN" sz="2500" b="1">
              <a:latin typeface="黑体" pitchFamily="49" charset="-122"/>
              <a:ea typeface="楷体_GB2312" pitchFamily="49" charset="-122"/>
            </a:endParaRPr>
          </a:p>
          <a:p>
            <a:pPr>
              <a:buFont typeface="Monotype Sorts" pitchFamily="2" charset="2"/>
              <a:buNone/>
            </a:pPr>
            <a:r>
              <a:rPr lang="zh-CN" altLang="en-US" sz="25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②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 判断分子的结构；</a:t>
            </a:r>
            <a:endParaRPr lang="en-US" altLang="zh-CN" sz="2500" b="1">
              <a:latin typeface="黑体" pitchFamily="49" charset="-122"/>
              <a:ea typeface="楷体_GB2312" pitchFamily="49" charset="-122"/>
            </a:endParaRPr>
          </a:p>
          <a:p>
            <a:pPr>
              <a:buFont typeface="Monotype Sorts" pitchFamily="2" charset="2"/>
              <a:buNone/>
            </a:pPr>
            <a:r>
              <a:rPr lang="zh-CN" altLang="en-US" sz="25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③</a:t>
            </a:r>
            <a:r>
              <a:rPr lang="zh-CN" altLang="en-US" sz="2500" b="1">
                <a:latin typeface="黑体" pitchFamily="49" charset="-122"/>
                <a:ea typeface="楷体_GB2312" pitchFamily="49" charset="-122"/>
              </a:rPr>
              <a:t> 预言分子的磁性</a:t>
            </a:r>
            <a:r>
              <a:rPr lang="en-US" altLang="zh-CN" sz="2500" b="1">
                <a:latin typeface="黑体" pitchFamily="49" charset="-122"/>
                <a:ea typeface="楷体_GB2312" pitchFamily="49" charset="-122"/>
              </a:rPr>
              <a:t>.</a:t>
            </a:r>
            <a:endParaRPr lang="zh-CN" altLang="en-US" sz="2500" b="1">
              <a:latin typeface="黑体" pitchFamily="49" charset="-122"/>
              <a:ea typeface="楷体_GB2312" pitchFamily="49" charset="-122"/>
            </a:endParaRPr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1136650" y="2382838"/>
            <a:ext cx="44640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(1) He</a:t>
            </a:r>
            <a:r>
              <a:rPr kumimoji="1" lang="en-US" altLang="zh-CN" sz="2500" b="1" baseline="-25000" dirty="0">
                <a:latin typeface="+mn-lt"/>
                <a:ea typeface="楷体_GB2312" pitchFamily="49" charset="-122"/>
                <a:cs typeface="楷体_GB2312" pitchFamily="49" charset="-122"/>
              </a:rPr>
              <a:t>2</a:t>
            </a:r>
            <a:r>
              <a:rPr kumimoji="1"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和</a:t>
            </a:r>
            <a:r>
              <a:rPr kumimoji="1"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He</a:t>
            </a:r>
            <a:r>
              <a:rPr kumimoji="1" lang="en-US" altLang="zh-CN" sz="2500" b="1" baseline="-25000" dirty="0">
                <a:latin typeface="+mn-lt"/>
                <a:ea typeface="楷体_GB2312" pitchFamily="49" charset="-122"/>
                <a:cs typeface="楷体_GB2312" pitchFamily="49" charset="-122"/>
              </a:rPr>
              <a:t>2</a:t>
            </a:r>
            <a:r>
              <a:rPr kumimoji="1" lang="en-US" altLang="zh-CN" sz="2500" b="1" baseline="30000" dirty="0">
                <a:latin typeface="+mn-lt"/>
                <a:ea typeface="楷体_GB2312" pitchFamily="49" charset="-122"/>
                <a:cs typeface="楷体_GB2312" pitchFamily="49" charset="-122"/>
              </a:rPr>
              <a:t>+</a:t>
            </a:r>
            <a:r>
              <a:rPr kumimoji="1"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能否</a:t>
            </a:r>
            <a:r>
              <a:rPr kumimoji="1" lang="zh-CN" altLang="en-US" sz="2500" b="1" dirty="0">
                <a:solidFill>
                  <a:srgbClr val="FF0000"/>
                </a:solidFill>
                <a:latin typeface="+mn-lt"/>
                <a:ea typeface="楷体_GB2312" pitchFamily="49" charset="-122"/>
                <a:cs typeface="楷体_GB2312" pitchFamily="49" charset="-122"/>
              </a:rPr>
              <a:t>稳定存在</a:t>
            </a:r>
            <a:r>
              <a:rPr kumimoji="1"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?</a:t>
            </a:r>
          </a:p>
        </p:txBody>
      </p:sp>
      <p:sp>
        <p:nvSpPr>
          <p:cNvPr id="35" name="Rectangle 10"/>
          <p:cNvSpPr>
            <a:spLocks noChangeArrowheads="1"/>
          </p:cNvSpPr>
          <p:nvPr/>
        </p:nvSpPr>
        <p:spPr bwMode="auto">
          <a:xfrm>
            <a:off x="2532063" y="2843213"/>
            <a:ext cx="7842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500" b="1">
                <a:ea typeface="华文新魏" pitchFamily="2" charset="-122"/>
                <a:cs typeface="楷体_GB2312" pitchFamily="49" charset="-122"/>
                <a:sym typeface="Symbol" pitchFamily="18" charset="2"/>
              </a:rPr>
              <a:t>(</a:t>
            </a:r>
            <a:r>
              <a:rPr kumimoji="1" lang="en-US" altLang="zh-CN" sz="2500" b="1" i="1">
                <a:ea typeface="华文新魏" pitchFamily="2" charset="-122"/>
                <a:cs typeface="楷体_GB2312" pitchFamily="49" charset="-122"/>
                <a:sym typeface="Symbol" pitchFamily="18" charset="2"/>
              </a:rPr>
              <a:t></a:t>
            </a:r>
            <a:r>
              <a:rPr kumimoji="1" lang="en-US" altLang="zh-CN" sz="2500" b="1" baseline="-25000">
                <a:ea typeface="华文新魏" pitchFamily="2" charset="-122"/>
                <a:cs typeface="楷体_GB2312" pitchFamily="49" charset="-122"/>
                <a:sym typeface="Symbol" pitchFamily="18" charset="2"/>
              </a:rPr>
              <a:t>1</a:t>
            </a:r>
            <a:r>
              <a:rPr kumimoji="1" lang="en-US" altLang="zh-CN" sz="2500" b="1" i="1" baseline="-25000">
                <a:ea typeface="华文新魏" pitchFamily="2" charset="-122"/>
                <a:cs typeface="楷体_GB2312" pitchFamily="49" charset="-122"/>
                <a:sym typeface="Symbol" pitchFamily="18" charset="2"/>
              </a:rPr>
              <a:t>s</a:t>
            </a:r>
            <a:r>
              <a:rPr kumimoji="1" lang="en-US" altLang="zh-CN" sz="2500" b="1">
                <a:ea typeface="华文新魏" pitchFamily="2" charset="-122"/>
                <a:cs typeface="楷体_GB2312" pitchFamily="49" charset="-122"/>
                <a:sym typeface="Symbol" pitchFamily="18" charset="2"/>
              </a:rPr>
              <a:t>)</a:t>
            </a:r>
          </a:p>
        </p:txBody>
      </p:sp>
      <p:sp>
        <p:nvSpPr>
          <p:cNvPr id="36" name="Rectangle 11"/>
          <p:cNvSpPr>
            <a:spLocks noChangeArrowheads="1"/>
          </p:cNvSpPr>
          <p:nvPr/>
        </p:nvSpPr>
        <p:spPr bwMode="auto">
          <a:xfrm>
            <a:off x="3165475" y="2919413"/>
            <a:ext cx="2921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500" b="1" baseline="30000">
                <a:solidFill>
                  <a:srgbClr val="FF0000"/>
                </a:solidFill>
                <a:ea typeface="华文新魏" pitchFamily="2" charset="-122"/>
                <a:cs typeface="楷体_GB2312" pitchFamily="49" charset="-122"/>
                <a:sym typeface="Symbol" pitchFamily="18" charset="2"/>
              </a:rPr>
              <a:t>2</a:t>
            </a:r>
          </a:p>
        </p:txBody>
      </p:sp>
      <p:sp>
        <p:nvSpPr>
          <p:cNvPr id="37" name="Rectangle 12"/>
          <p:cNvSpPr>
            <a:spLocks noChangeArrowheads="1"/>
          </p:cNvSpPr>
          <p:nvPr/>
        </p:nvSpPr>
        <p:spPr bwMode="auto">
          <a:xfrm>
            <a:off x="1560513" y="2836863"/>
            <a:ext cx="79216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500" b="1">
                <a:ea typeface="华文新魏" pitchFamily="2" charset="-122"/>
                <a:cs typeface="楷体_GB2312" pitchFamily="49" charset="-122"/>
              </a:rPr>
              <a:t>He</a:t>
            </a:r>
            <a:r>
              <a:rPr kumimoji="1" lang="en-US" altLang="zh-CN" sz="2500" b="1" baseline="-25000">
                <a:ea typeface="华文新魏" pitchFamily="2" charset="-122"/>
                <a:cs typeface="楷体_GB2312" pitchFamily="49" charset="-122"/>
              </a:rPr>
              <a:t>2</a:t>
            </a:r>
            <a:r>
              <a:rPr kumimoji="1" lang="en-US" altLang="zh-CN" sz="2500" b="1">
                <a:ea typeface="华文新魏" pitchFamily="2" charset="-122"/>
                <a:cs typeface="楷体_GB2312" pitchFamily="49" charset="-122"/>
              </a:rPr>
              <a:t>:</a:t>
            </a:r>
            <a:endParaRPr kumimoji="1" lang="en-US" altLang="zh-CN" sz="2500" b="1" baseline="-25000">
              <a:ea typeface="华文新魏" pitchFamily="2" charset="-122"/>
              <a:cs typeface="楷体_GB2312" pitchFamily="49" charset="-122"/>
            </a:endParaRPr>
          </a:p>
        </p:txBody>
      </p:sp>
      <p:sp>
        <p:nvSpPr>
          <p:cNvPr id="38" name="Rectangle 13"/>
          <p:cNvSpPr>
            <a:spLocks noChangeArrowheads="1"/>
          </p:cNvSpPr>
          <p:nvPr/>
        </p:nvSpPr>
        <p:spPr bwMode="auto">
          <a:xfrm>
            <a:off x="3295650" y="2843213"/>
            <a:ext cx="94456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500" b="1">
                <a:ea typeface="华文新魏" pitchFamily="2" charset="-122"/>
                <a:cs typeface="楷体_GB2312" pitchFamily="49" charset="-122"/>
                <a:sym typeface="Symbol" pitchFamily="18" charset="2"/>
              </a:rPr>
              <a:t>(</a:t>
            </a:r>
            <a:r>
              <a:rPr kumimoji="1" lang="en-US" altLang="zh-CN" sz="2500" b="1" i="1">
                <a:ea typeface="华文新魏" pitchFamily="2" charset="-122"/>
                <a:cs typeface="楷体_GB2312" pitchFamily="49" charset="-122"/>
                <a:sym typeface="Symbol" pitchFamily="18" charset="2"/>
              </a:rPr>
              <a:t></a:t>
            </a:r>
            <a:r>
              <a:rPr kumimoji="1" lang="en-US" altLang="zh-CN" sz="2500" b="1" baseline="-25000">
                <a:ea typeface="华文新魏" pitchFamily="2" charset="-122"/>
                <a:cs typeface="楷体_GB2312" pitchFamily="49" charset="-122"/>
                <a:sym typeface="Symbol" pitchFamily="18" charset="2"/>
              </a:rPr>
              <a:t>1s</a:t>
            </a:r>
            <a:r>
              <a:rPr kumimoji="1" lang="en-US" altLang="zh-CN" sz="2500" b="1">
                <a:ea typeface="华文新魏" pitchFamily="2" charset="-122"/>
                <a:cs typeface="楷体_GB2312" pitchFamily="49" charset="-122"/>
                <a:sym typeface="Symbol" pitchFamily="18" charset="2"/>
              </a:rPr>
              <a:t>*)</a:t>
            </a:r>
          </a:p>
        </p:txBody>
      </p:sp>
      <p:sp>
        <p:nvSpPr>
          <p:cNvPr id="39" name="Rectangle 14"/>
          <p:cNvSpPr>
            <a:spLocks noChangeArrowheads="1"/>
          </p:cNvSpPr>
          <p:nvPr/>
        </p:nvSpPr>
        <p:spPr bwMode="auto">
          <a:xfrm>
            <a:off x="4065588" y="2913063"/>
            <a:ext cx="2921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500" b="1" baseline="30000">
                <a:solidFill>
                  <a:srgbClr val="FF0000"/>
                </a:solidFill>
                <a:ea typeface="华文新魏" pitchFamily="2" charset="-122"/>
                <a:cs typeface="楷体_GB2312" pitchFamily="49" charset="-122"/>
                <a:sym typeface="Symbol" pitchFamily="18" charset="2"/>
              </a:rPr>
              <a:t>2</a:t>
            </a:r>
          </a:p>
        </p:txBody>
      </p:sp>
      <p:sp>
        <p:nvSpPr>
          <p:cNvPr id="40" name="Rectangle 16"/>
          <p:cNvSpPr>
            <a:spLocks noChangeArrowheads="1"/>
          </p:cNvSpPr>
          <p:nvPr/>
        </p:nvSpPr>
        <p:spPr bwMode="auto">
          <a:xfrm>
            <a:off x="1560513" y="3311525"/>
            <a:ext cx="2728912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5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键级</a:t>
            </a:r>
            <a:r>
              <a:rPr kumimoji="1" lang="zh-CN" altLang="en-US" sz="2500" b="1">
                <a:ea typeface="华文新魏" pitchFamily="2" charset="-122"/>
                <a:cs typeface="楷体_GB2312" pitchFamily="49" charset="-122"/>
              </a:rPr>
              <a:t> </a:t>
            </a:r>
            <a:r>
              <a:rPr kumimoji="1" lang="en-US" altLang="zh-CN" sz="2500" b="1">
                <a:ea typeface="华文新魏" pitchFamily="2" charset="-122"/>
                <a:cs typeface="楷体_GB2312" pitchFamily="49" charset="-122"/>
              </a:rPr>
              <a:t>= (2 - 2)/2 = 0</a:t>
            </a:r>
          </a:p>
        </p:txBody>
      </p:sp>
      <p:sp>
        <p:nvSpPr>
          <p:cNvPr id="41" name="Rectangle 15"/>
          <p:cNvSpPr>
            <a:spLocks noChangeArrowheads="1"/>
          </p:cNvSpPr>
          <p:nvPr/>
        </p:nvSpPr>
        <p:spPr bwMode="auto">
          <a:xfrm>
            <a:off x="1560513" y="3736975"/>
            <a:ext cx="80645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500" b="1">
                <a:ea typeface="华文新魏" pitchFamily="2" charset="-122"/>
                <a:cs typeface="楷体_GB2312" pitchFamily="49" charset="-122"/>
              </a:rPr>
              <a:t>He</a:t>
            </a:r>
            <a:r>
              <a:rPr kumimoji="1" lang="en-US" altLang="zh-CN" sz="2500" b="1" baseline="-25000">
                <a:ea typeface="华文新魏" pitchFamily="2" charset="-122"/>
                <a:cs typeface="楷体_GB2312" pitchFamily="49" charset="-122"/>
              </a:rPr>
              <a:t>2</a:t>
            </a:r>
            <a:r>
              <a:rPr kumimoji="1" lang="en-US" altLang="zh-CN" sz="2500" b="1" baseline="30000">
                <a:ea typeface="华文新魏" pitchFamily="2" charset="-122"/>
                <a:cs typeface="楷体_GB2312" pitchFamily="49" charset="-122"/>
              </a:rPr>
              <a:t>+</a:t>
            </a:r>
          </a:p>
        </p:txBody>
      </p:sp>
      <p:sp>
        <p:nvSpPr>
          <p:cNvPr id="42" name="Rectangle 17"/>
          <p:cNvSpPr>
            <a:spLocks noChangeArrowheads="1"/>
          </p:cNvSpPr>
          <p:nvPr/>
        </p:nvSpPr>
        <p:spPr bwMode="auto">
          <a:xfrm>
            <a:off x="2532063" y="3743325"/>
            <a:ext cx="7842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500" b="1">
                <a:ea typeface="华文新魏" pitchFamily="2" charset="-122"/>
                <a:cs typeface="楷体_GB2312" pitchFamily="49" charset="-122"/>
                <a:sym typeface="Symbol" pitchFamily="18" charset="2"/>
              </a:rPr>
              <a:t>(</a:t>
            </a:r>
            <a:r>
              <a:rPr kumimoji="1" lang="en-US" altLang="zh-CN" sz="2500" b="1" i="1">
                <a:ea typeface="华文新魏" pitchFamily="2" charset="-122"/>
                <a:cs typeface="楷体_GB2312" pitchFamily="49" charset="-122"/>
                <a:sym typeface="Symbol" pitchFamily="18" charset="2"/>
              </a:rPr>
              <a:t></a:t>
            </a:r>
            <a:r>
              <a:rPr kumimoji="1" lang="en-US" altLang="zh-CN" sz="2500" b="1" baseline="-25000">
                <a:ea typeface="华文新魏" pitchFamily="2" charset="-122"/>
                <a:cs typeface="楷体_GB2312" pitchFamily="49" charset="-122"/>
                <a:sym typeface="Symbol" pitchFamily="18" charset="2"/>
              </a:rPr>
              <a:t>1</a:t>
            </a:r>
            <a:r>
              <a:rPr kumimoji="1" lang="en-US" altLang="zh-CN" sz="2500" b="1" i="1" baseline="-25000">
                <a:ea typeface="华文新魏" pitchFamily="2" charset="-122"/>
                <a:cs typeface="楷体_GB2312" pitchFamily="49" charset="-122"/>
                <a:sym typeface="Symbol" pitchFamily="18" charset="2"/>
              </a:rPr>
              <a:t>s</a:t>
            </a:r>
            <a:r>
              <a:rPr kumimoji="1" lang="en-US" altLang="zh-CN" sz="2500" b="1">
                <a:ea typeface="华文新魏" pitchFamily="2" charset="-122"/>
                <a:cs typeface="楷体_GB2312" pitchFamily="49" charset="-122"/>
                <a:sym typeface="Symbol" pitchFamily="18" charset="2"/>
              </a:rPr>
              <a:t>)</a:t>
            </a:r>
            <a:endParaRPr kumimoji="1" lang="en-US" altLang="zh-CN" sz="2500" b="1">
              <a:solidFill>
                <a:srgbClr val="FF0000"/>
              </a:solidFill>
              <a:ea typeface="华文新魏" pitchFamily="2" charset="-122"/>
              <a:cs typeface="楷体_GB2312" pitchFamily="49" charset="-122"/>
              <a:sym typeface="Symbol" pitchFamily="18" charset="2"/>
            </a:endParaRPr>
          </a:p>
        </p:txBody>
      </p:sp>
      <p:sp>
        <p:nvSpPr>
          <p:cNvPr id="43" name="Rectangle 18"/>
          <p:cNvSpPr>
            <a:spLocks noChangeArrowheads="1"/>
          </p:cNvSpPr>
          <p:nvPr/>
        </p:nvSpPr>
        <p:spPr bwMode="auto">
          <a:xfrm>
            <a:off x="3163888" y="3790950"/>
            <a:ext cx="2921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500" b="1" baseline="30000">
                <a:solidFill>
                  <a:srgbClr val="FF0000"/>
                </a:solidFill>
                <a:ea typeface="华文新魏" pitchFamily="2" charset="-122"/>
                <a:cs typeface="楷体_GB2312" pitchFamily="49" charset="-122"/>
                <a:sym typeface="Symbol" pitchFamily="18" charset="2"/>
              </a:rPr>
              <a:t>2</a:t>
            </a:r>
          </a:p>
        </p:txBody>
      </p:sp>
      <p:sp>
        <p:nvSpPr>
          <p:cNvPr id="44" name="Rectangle 19"/>
          <p:cNvSpPr>
            <a:spLocks noChangeArrowheads="1"/>
          </p:cNvSpPr>
          <p:nvPr/>
        </p:nvSpPr>
        <p:spPr bwMode="auto">
          <a:xfrm>
            <a:off x="3303588" y="3743325"/>
            <a:ext cx="944562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500" b="1">
                <a:ea typeface="华文新魏" pitchFamily="2" charset="-122"/>
                <a:cs typeface="楷体_GB2312" pitchFamily="49" charset="-122"/>
                <a:sym typeface="Symbol" pitchFamily="18" charset="2"/>
              </a:rPr>
              <a:t>(</a:t>
            </a:r>
            <a:r>
              <a:rPr kumimoji="1" lang="en-US" altLang="zh-CN" sz="2500" b="1" i="1">
                <a:ea typeface="华文新魏" pitchFamily="2" charset="-122"/>
                <a:cs typeface="楷体_GB2312" pitchFamily="49" charset="-122"/>
                <a:sym typeface="Symbol" pitchFamily="18" charset="2"/>
              </a:rPr>
              <a:t></a:t>
            </a:r>
            <a:r>
              <a:rPr kumimoji="1" lang="en-US" altLang="zh-CN" sz="2500" b="1" baseline="-25000">
                <a:ea typeface="华文新魏" pitchFamily="2" charset="-122"/>
                <a:cs typeface="楷体_GB2312" pitchFamily="49" charset="-122"/>
                <a:sym typeface="Symbol" pitchFamily="18" charset="2"/>
              </a:rPr>
              <a:t>1s</a:t>
            </a:r>
            <a:r>
              <a:rPr kumimoji="1" lang="en-US" altLang="zh-CN" sz="2500" b="1">
                <a:ea typeface="华文新魏" pitchFamily="2" charset="-122"/>
                <a:cs typeface="楷体_GB2312" pitchFamily="49" charset="-122"/>
                <a:sym typeface="Symbol" pitchFamily="18" charset="2"/>
              </a:rPr>
              <a:t>*)</a:t>
            </a:r>
          </a:p>
        </p:txBody>
      </p:sp>
      <p:sp>
        <p:nvSpPr>
          <p:cNvPr id="45" name="Rectangle 20"/>
          <p:cNvSpPr>
            <a:spLocks noChangeArrowheads="1"/>
          </p:cNvSpPr>
          <p:nvPr/>
        </p:nvSpPr>
        <p:spPr bwMode="auto">
          <a:xfrm>
            <a:off x="4095750" y="3790950"/>
            <a:ext cx="2921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500" b="1" baseline="30000">
                <a:solidFill>
                  <a:srgbClr val="FF0000"/>
                </a:solidFill>
                <a:ea typeface="华文新魏" pitchFamily="2" charset="-122"/>
                <a:cs typeface="楷体_GB2312" pitchFamily="49" charset="-122"/>
                <a:sym typeface="Symbol" pitchFamily="18" charset="2"/>
              </a:rPr>
              <a:t>1</a:t>
            </a:r>
          </a:p>
        </p:txBody>
      </p:sp>
      <p:sp>
        <p:nvSpPr>
          <p:cNvPr id="46" name="Rectangle 21"/>
          <p:cNvSpPr>
            <a:spLocks noChangeArrowheads="1"/>
          </p:cNvSpPr>
          <p:nvPr/>
        </p:nvSpPr>
        <p:spPr bwMode="auto">
          <a:xfrm>
            <a:off x="1560513" y="4283075"/>
            <a:ext cx="34194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500" b="1">
                <a:solidFill>
                  <a:srgbClr val="FF0000"/>
                </a:solidFill>
                <a:latin typeface="黑体" pitchFamily="49" charset="-122"/>
                <a:ea typeface="楷体_GB2312" pitchFamily="49" charset="-122"/>
              </a:rPr>
              <a:t>键级</a:t>
            </a:r>
            <a:r>
              <a:rPr kumimoji="1" lang="zh-CN" altLang="en-US" sz="2500" b="1">
                <a:latin typeface="黑体" pitchFamily="49" charset="-122"/>
                <a:ea typeface="楷体_GB2312" pitchFamily="49" charset="-122"/>
              </a:rPr>
              <a:t> </a:t>
            </a:r>
            <a:r>
              <a:rPr kumimoji="1" lang="zh-CN" altLang="en-US" sz="2500" b="1">
                <a:ea typeface="华文新魏" pitchFamily="2" charset="-122"/>
                <a:cs typeface="楷体_GB2312" pitchFamily="49" charset="-122"/>
              </a:rPr>
              <a:t>≠ </a:t>
            </a:r>
            <a:r>
              <a:rPr kumimoji="1" lang="en-US" altLang="zh-CN" sz="2500" b="1">
                <a:ea typeface="华文新魏" pitchFamily="2" charset="-122"/>
                <a:cs typeface="楷体_GB2312" pitchFamily="49" charset="-122"/>
              </a:rPr>
              <a:t>0</a:t>
            </a:r>
            <a:r>
              <a:rPr kumimoji="1" lang="zh-CN" altLang="en-US" sz="2500" b="1">
                <a:ea typeface="华文新魏" pitchFamily="2" charset="-122"/>
                <a:cs typeface="楷体_GB2312" pitchFamily="49" charset="-122"/>
              </a:rPr>
              <a:t>，</a:t>
            </a:r>
            <a:r>
              <a:rPr kumimoji="1" lang="zh-CN" altLang="en-US" sz="2500" b="1">
                <a:latin typeface="黑体" pitchFamily="49" charset="-122"/>
                <a:ea typeface="楷体_GB2312" pitchFamily="49" charset="-122"/>
              </a:rPr>
              <a:t>能稳定存在</a:t>
            </a:r>
            <a:r>
              <a:rPr kumimoji="1" lang="en-US" altLang="zh-CN" sz="2500" b="1">
                <a:ea typeface="华文新魏" pitchFamily="2" charset="-122"/>
              </a:rPr>
              <a:t>.</a:t>
            </a:r>
          </a:p>
        </p:txBody>
      </p:sp>
      <p:sp>
        <p:nvSpPr>
          <p:cNvPr id="47" name="Rectangle 22"/>
          <p:cNvSpPr>
            <a:spLocks noChangeArrowheads="1"/>
          </p:cNvSpPr>
          <p:nvPr/>
        </p:nvSpPr>
        <p:spPr bwMode="auto">
          <a:xfrm>
            <a:off x="4475163" y="3311525"/>
            <a:ext cx="2198687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500" b="1">
                <a:latin typeface="黑体" pitchFamily="49" charset="-122"/>
                <a:ea typeface="楷体_GB2312" pitchFamily="49" charset="-122"/>
              </a:rPr>
              <a:t>不能稳定存在</a:t>
            </a:r>
            <a:r>
              <a:rPr kumimoji="1" lang="en-US" altLang="zh-CN" sz="2500" b="1">
                <a:ea typeface="华文新魏" pitchFamily="2" charset="-122"/>
                <a:cs typeface="楷体_GB2312" pitchFamily="49" charset="-122"/>
              </a:rPr>
              <a:t>.</a:t>
            </a:r>
          </a:p>
        </p:txBody>
      </p:sp>
      <p:sp>
        <p:nvSpPr>
          <p:cNvPr id="33812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335756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8.1.3</a:t>
            </a:r>
            <a:r>
              <a:rPr kumimoji="1"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分子轨道理论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9" grpId="0"/>
      <p:bldP spid="26" grpId="0"/>
      <p:bldP spid="27" grpId="0" autoUpdateAnimBg="0"/>
      <p:bldP spid="35" grpId="0" autoUpdateAnimBg="0"/>
      <p:bldP spid="36" grpId="0" autoUpdateAnimBg="0"/>
      <p:bldP spid="37" grpId="0" autoUpdateAnimBg="0"/>
      <p:bldP spid="38" grpId="0" autoUpdateAnimBg="0"/>
      <p:bldP spid="39" grpId="0" autoUpdateAnimBg="0"/>
      <p:bldP spid="40" grpId="0" autoUpdateAnimBg="0"/>
      <p:bldP spid="41" grpId="0" autoUpdateAnimBg="0"/>
      <p:bldP spid="42" grpId="0" autoUpdateAnimBg="0"/>
      <p:bldP spid="43" grpId="0" autoUpdateAnimBg="0"/>
      <p:bldP spid="44" grpId="0" autoUpdateAnimBg="0"/>
      <p:bldP spid="45" grpId="0" autoUpdateAnimBg="0"/>
      <p:bldP spid="46" grpId="0" autoUpdateAnimBg="0"/>
      <p:bldP spid="47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Oval 6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80000"/>
            <a:ext cx="360363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546100" y="1168400"/>
            <a:ext cx="44640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500" b="1" dirty="0">
                <a:solidFill>
                  <a:srgbClr val="FF0000"/>
                </a:solidFill>
                <a:latin typeface="+mn-lt"/>
                <a:ea typeface="楷体_GB2312" pitchFamily="49" charset="-122"/>
                <a:cs typeface="楷体_GB2312" pitchFamily="49" charset="-122"/>
              </a:rPr>
              <a:t>(2) O</a:t>
            </a:r>
            <a:r>
              <a:rPr kumimoji="1" lang="en-US" altLang="zh-CN" sz="2500" b="1" baseline="-25000" dirty="0">
                <a:solidFill>
                  <a:srgbClr val="FF0000"/>
                </a:solidFill>
                <a:latin typeface="+mn-lt"/>
                <a:ea typeface="楷体_GB2312" pitchFamily="49" charset="-122"/>
                <a:cs typeface="楷体_GB2312" pitchFamily="49" charset="-122"/>
              </a:rPr>
              <a:t>2</a:t>
            </a:r>
            <a:r>
              <a:rPr kumimoji="1" lang="zh-CN" altLang="en-US" sz="2500" b="1" dirty="0">
                <a:solidFill>
                  <a:srgbClr val="FF0000"/>
                </a:solidFill>
                <a:latin typeface="+mn-lt"/>
                <a:ea typeface="楷体_GB2312" pitchFamily="49" charset="-122"/>
                <a:cs typeface="楷体_GB2312" pitchFamily="49" charset="-122"/>
              </a:rPr>
              <a:t>分子的结构及磁性</a:t>
            </a:r>
            <a:endParaRPr kumimoji="1" lang="en-US" altLang="zh-CN" sz="2500" b="1" dirty="0">
              <a:solidFill>
                <a:srgbClr val="FF0000"/>
              </a:solidFill>
              <a:latin typeface="+mn-lt"/>
              <a:ea typeface="楷体_GB2312" pitchFamily="49" charset="-122"/>
              <a:cs typeface="楷体_GB2312" pitchFamily="49" charset="-122"/>
            </a:endParaRPr>
          </a:p>
        </p:txBody>
      </p:sp>
      <p:grpSp>
        <p:nvGrpSpPr>
          <p:cNvPr id="2" name="组合 29"/>
          <p:cNvGrpSpPr>
            <a:grpSpLocks/>
          </p:cNvGrpSpPr>
          <p:nvPr/>
        </p:nvGrpSpPr>
        <p:grpSpPr bwMode="auto">
          <a:xfrm>
            <a:off x="3546475" y="2597150"/>
            <a:ext cx="993775" cy="323850"/>
            <a:chOff x="2447800" y="3102855"/>
            <a:chExt cx="994688" cy="324000"/>
          </a:xfrm>
        </p:grpSpPr>
        <p:sp>
          <p:nvSpPr>
            <p:cNvPr id="31" name="椭圆 30"/>
            <p:cNvSpPr>
              <a:spLocks noChangeAspect="1"/>
            </p:cNvSpPr>
            <p:nvPr/>
          </p:nvSpPr>
          <p:spPr bwMode="auto">
            <a:xfrm>
              <a:off x="2786249" y="3102855"/>
              <a:ext cx="324148" cy="324000"/>
            </a:xfrm>
            <a:prstGeom prst="ellips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 sz="25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2" name="椭圆 31"/>
            <p:cNvSpPr>
              <a:spLocks noChangeAspect="1"/>
            </p:cNvSpPr>
            <p:nvPr/>
          </p:nvSpPr>
          <p:spPr bwMode="auto">
            <a:xfrm>
              <a:off x="3118340" y="3102855"/>
              <a:ext cx="324148" cy="324000"/>
            </a:xfrm>
            <a:prstGeom prst="ellips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 sz="25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3" name="椭圆 32"/>
            <p:cNvSpPr>
              <a:spLocks noChangeAspect="1"/>
            </p:cNvSpPr>
            <p:nvPr/>
          </p:nvSpPr>
          <p:spPr bwMode="auto">
            <a:xfrm>
              <a:off x="2447800" y="3102855"/>
              <a:ext cx="324148" cy="324000"/>
            </a:xfrm>
            <a:prstGeom prst="ellips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 sz="2500">
                <a:latin typeface="+mn-lt"/>
                <a:ea typeface="华文楷体" panose="02010600040101010101" pitchFamily="2" charset="-122"/>
              </a:endParaRPr>
            </a:p>
          </p:txBody>
        </p:sp>
      </p:grpSp>
      <p:grpSp>
        <p:nvGrpSpPr>
          <p:cNvPr id="3" name="组合 33"/>
          <p:cNvGrpSpPr>
            <a:grpSpLocks/>
          </p:cNvGrpSpPr>
          <p:nvPr/>
        </p:nvGrpSpPr>
        <p:grpSpPr bwMode="auto">
          <a:xfrm>
            <a:off x="1260475" y="2525713"/>
            <a:ext cx="995363" cy="325437"/>
            <a:chOff x="2600200" y="3255255"/>
            <a:chExt cx="994688" cy="324000"/>
          </a:xfrm>
        </p:grpSpPr>
        <p:sp>
          <p:nvSpPr>
            <p:cNvPr id="48" name="椭圆 47"/>
            <p:cNvSpPr>
              <a:spLocks noChangeAspect="1"/>
            </p:cNvSpPr>
            <p:nvPr/>
          </p:nvSpPr>
          <p:spPr bwMode="auto">
            <a:xfrm>
              <a:off x="2939695" y="3255255"/>
              <a:ext cx="323630" cy="324000"/>
            </a:xfrm>
            <a:prstGeom prst="ellips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 sz="25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49" name="椭圆 48"/>
            <p:cNvSpPr>
              <a:spLocks noChangeAspect="1"/>
            </p:cNvSpPr>
            <p:nvPr/>
          </p:nvSpPr>
          <p:spPr bwMode="auto">
            <a:xfrm>
              <a:off x="3271258" y="3255255"/>
              <a:ext cx="323630" cy="324000"/>
            </a:xfrm>
            <a:prstGeom prst="ellips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 sz="25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50" name="椭圆 49"/>
            <p:cNvSpPr>
              <a:spLocks noChangeAspect="1"/>
            </p:cNvSpPr>
            <p:nvPr/>
          </p:nvSpPr>
          <p:spPr bwMode="auto">
            <a:xfrm>
              <a:off x="2600200" y="3255255"/>
              <a:ext cx="323630" cy="324000"/>
            </a:xfrm>
            <a:prstGeom prst="ellips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 sz="2500">
                <a:latin typeface="+mn-lt"/>
                <a:ea typeface="华文楷体" panose="02010600040101010101" pitchFamily="2" charset="-122"/>
              </a:endParaRPr>
            </a:p>
          </p:txBody>
        </p:sp>
      </p:grpSp>
      <p:sp>
        <p:nvSpPr>
          <p:cNvPr id="54" name="椭圆 53"/>
          <p:cNvSpPr>
            <a:spLocks noChangeAspect="1"/>
          </p:cNvSpPr>
          <p:nvPr/>
        </p:nvSpPr>
        <p:spPr bwMode="auto">
          <a:xfrm>
            <a:off x="1943100" y="3644900"/>
            <a:ext cx="323850" cy="323850"/>
          </a:xfrm>
          <a:prstGeom prst="ellips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kumimoji="1" lang="zh-CN" altLang="en-US" sz="2500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55" name="椭圆 54"/>
          <p:cNvSpPr>
            <a:spLocks noChangeAspect="1"/>
          </p:cNvSpPr>
          <p:nvPr/>
        </p:nvSpPr>
        <p:spPr bwMode="auto">
          <a:xfrm>
            <a:off x="3559175" y="3644900"/>
            <a:ext cx="323850" cy="323850"/>
          </a:xfrm>
          <a:prstGeom prst="ellips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kumimoji="1" lang="zh-CN" altLang="en-US" sz="2500">
              <a:latin typeface="+mn-lt"/>
              <a:ea typeface="华文楷体" panose="02010600040101010101" pitchFamily="2" charset="-122"/>
            </a:endParaRPr>
          </a:p>
        </p:txBody>
      </p:sp>
      <p:cxnSp>
        <p:nvCxnSpPr>
          <p:cNvPr id="56" name="直接连接符 55"/>
          <p:cNvCxnSpPr>
            <a:cxnSpLocks noChangeShapeType="1"/>
          </p:cNvCxnSpPr>
          <p:nvPr/>
        </p:nvCxnSpPr>
        <p:spPr bwMode="auto">
          <a:xfrm>
            <a:off x="2749550" y="3598863"/>
            <a:ext cx="323850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57" name="直接连接符 56"/>
          <p:cNvCxnSpPr>
            <a:cxnSpLocks noChangeShapeType="1"/>
          </p:cNvCxnSpPr>
          <p:nvPr/>
        </p:nvCxnSpPr>
        <p:spPr bwMode="auto">
          <a:xfrm>
            <a:off x="2749550" y="4071938"/>
            <a:ext cx="32385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4" name="组合 57"/>
          <p:cNvGrpSpPr>
            <a:grpSpLocks/>
          </p:cNvGrpSpPr>
          <p:nvPr/>
        </p:nvGrpSpPr>
        <p:grpSpPr bwMode="auto">
          <a:xfrm>
            <a:off x="2260600" y="3597275"/>
            <a:ext cx="481013" cy="473075"/>
            <a:chOff x="291177" y="4009802"/>
            <a:chExt cx="481964" cy="472814"/>
          </a:xfrm>
        </p:grpSpPr>
        <p:cxnSp>
          <p:nvCxnSpPr>
            <p:cNvPr id="34903" name="直接连接符 58"/>
            <p:cNvCxnSpPr>
              <a:cxnSpLocks noChangeShapeType="1"/>
              <a:stCxn id="54" idx="6"/>
            </p:cNvCxnSpPr>
            <p:nvPr/>
          </p:nvCxnSpPr>
          <p:spPr bwMode="auto">
            <a:xfrm flipV="1">
              <a:off x="291177" y="4009802"/>
              <a:ext cx="481964" cy="207593"/>
            </a:xfrm>
            <a:prstGeom prst="line">
              <a:avLst/>
            </a:prstGeom>
            <a:noFill/>
            <a:ln w="127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4904" name="直接连接符 59"/>
            <p:cNvCxnSpPr>
              <a:cxnSpLocks noChangeShapeType="1"/>
              <a:stCxn id="54" idx="6"/>
            </p:cNvCxnSpPr>
            <p:nvPr/>
          </p:nvCxnSpPr>
          <p:spPr bwMode="auto">
            <a:xfrm>
              <a:off x="291177" y="4217396"/>
              <a:ext cx="481964" cy="265220"/>
            </a:xfrm>
            <a:prstGeom prst="line">
              <a:avLst/>
            </a:prstGeom>
            <a:noFill/>
            <a:ln w="12700" algn="ctr">
              <a:solidFill>
                <a:srgbClr val="FF0000"/>
              </a:solidFill>
              <a:round/>
              <a:headEnd/>
              <a:tailEnd/>
            </a:ln>
          </p:spPr>
        </p:cxnSp>
      </p:grpSp>
      <p:grpSp>
        <p:nvGrpSpPr>
          <p:cNvPr id="5" name="组合 60"/>
          <p:cNvGrpSpPr>
            <a:grpSpLocks/>
          </p:cNvGrpSpPr>
          <p:nvPr/>
        </p:nvGrpSpPr>
        <p:grpSpPr bwMode="auto">
          <a:xfrm flipH="1">
            <a:off x="3070225" y="3598863"/>
            <a:ext cx="481013" cy="473075"/>
            <a:chOff x="1867462" y="4833900"/>
            <a:chExt cx="481964" cy="472812"/>
          </a:xfrm>
        </p:grpSpPr>
        <p:cxnSp>
          <p:nvCxnSpPr>
            <p:cNvPr id="34901" name="直接连接符 61"/>
            <p:cNvCxnSpPr>
              <a:cxnSpLocks noChangeShapeType="1"/>
            </p:cNvCxnSpPr>
            <p:nvPr/>
          </p:nvCxnSpPr>
          <p:spPr bwMode="auto">
            <a:xfrm flipV="1">
              <a:off x="1867462" y="4833900"/>
              <a:ext cx="481964" cy="213138"/>
            </a:xfrm>
            <a:prstGeom prst="line">
              <a:avLst/>
            </a:prstGeom>
            <a:noFill/>
            <a:ln w="127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4902" name="直接连接符 62"/>
            <p:cNvCxnSpPr>
              <a:cxnSpLocks noChangeShapeType="1"/>
            </p:cNvCxnSpPr>
            <p:nvPr/>
          </p:nvCxnSpPr>
          <p:spPr bwMode="auto">
            <a:xfrm>
              <a:off x="1867462" y="5058382"/>
              <a:ext cx="474421" cy="24833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64" name="直接连接符 63"/>
          <p:cNvCxnSpPr>
            <a:cxnSpLocks noChangeShapeType="1"/>
          </p:cNvCxnSpPr>
          <p:nvPr/>
        </p:nvCxnSpPr>
        <p:spPr bwMode="auto">
          <a:xfrm>
            <a:off x="2747963" y="3243263"/>
            <a:ext cx="32385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8" name="直接连接符 67"/>
          <p:cNvCxnSpPr>
            <a:cxnSpLocks noChangeShapeType="1"/>
          </p:cNvCxnSpPr>
          <p:nvPr/>
        </p:nvCxnSpPr>
        <p:spPr bwMode="auto">
          <a:xfrm>
            <a:off x="2747963" y="2159000"/>
            <a:ext cx="323850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69" name="椭圆 68"/>
          <p:cNvSpPr>
            <a:spLocks noChangeAspect="1"/>
          </p:cNvSpPr>
          <p:nvPr/>
        </p:nvSpPr>
        <p:spPr bwMode="auto">
          <a:xfrm>
            <a:off x="1943100" y="4481513"/>
            <a:ext cx="323850" cy="32385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kumimoji="1" lang="zh-CN" altLang="en-US" sz="2500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70" name="椭圆 69"/>
          <p:cNvSpPr>
            <a:spLocks noChangeAspect="1"/>
          </p:cNvSpPr>
          <p:nvPr/>
        </p:nvSpPr>
        <p:spPr bwMode="auto">
          <a:xfrm>
            <a:off x="3559175" y="4481513"/>
            <a:ext cx="323850" cy="323850"/>
          </a:xfrm>
          <a:prstGeom prst="ellips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kumimoji="1" lang="zh-CN" altLang="en-US" sz="2500">
              <a:latin typeface="+mn-lt"/>
              <a:ea typeface="华文楷体" panose="02010600040101010101" pitchFamily="2" charset="-122"/>
            </a:endParaRPr>
          </a:p>
        </p:txBody>
      </p:sp>
      <p:cxnSp>
        <p:nvCxnSpPr>
          <p:cNvPr id="71" name="直接连接符 70"/>
          <p:cNvCxnSpPr>
            <a:cxnSpLocks noChangeShapeType="1"/>
          </p:cNvCxnSpPr>
          <p:nvPr/>
        </p:nvCxnSpPr>
        <p:spPr bwMode="auto">
          <a:xfrm>
            <a:off x="2747963" y="4435475"/>
            <a:ext cx="323850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72" name="直接连接符 71"/>
          <p:cNvCxnSpPr>
            <a:cxnSpLocks noChangeShapeType="1"/>
          </p:cNvCxnSpPr>
          <p:nvPr/>
        </p:nvCxnSpPr>
        <p:spPr bwMode="auto">
          <a:xfrm>
            <a:off x="2747963" y="4908550"/>
            <a:ext cx="32385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6" name="组合 72"/>
          <p:cNvGrpSpPr>
            <a:grpSpLocks/>
          </p:cNvGrpSpPr>
          <p:nvPr/>
        </p:nvGrpSpPr>
        <p:grpSpPr bwMode="auto">
          <a:xfrm>
            <a:off x="2260600" y="4454525"/>
            <a:ext cx="482600" cy="471488"/>
            <a:chOff x="300853" y="4011341"/>
            <a:chExt cx="481964" cy="472813"/>
          </a:xfrm>
        </p:grpSpPr>
        <p:cxnSp>
          <p:nvCxnSpPr>
            <p:cNvPr id="34899" name="直接连接符 73"/>
            <p:cNvCxnSpPr>
              <a:cxnSpLocks noChangeShapeType="1"/>
              <a:stCxn id="69" idx="6"/>
            </p:cNvCxnSpPr>
            <p:nvPr/>
          </p:nvCxnSpPr>
          <p:spPr bwMode="auto">
            <a:xfrm flipV="1">
              <a:off x="300853" y="4011341"/>
              <a:ext cx="481964" cy="207593"/>
            </a:xfrm>
            <a:prstGeom prst="line">
              <a:avLst/>
            </a:prstGeom>
            <a:noFill/>
            <a:ln w="127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4900" name="直接连接符 74"/>
            <p:cNvCxnSpPr>
              <a:cxnSpLocks noChangeShapeType="1"/>
              <a:stCxn id="69" idx="6"/>
            </p:cNvCxnSpPr>
            <p:nvPr/>
          </p:nvCxnSpPr>
          <p:spPr bwMode="auto">
            <a:xfrm>
              <a:off x="300853" y="4218935"/>
              <a:ext cx="481964" cy="265219"/>
            </a:xfrm>
            <a:prstGeom prst="line">
              <a:avLst/>
            </a:prstGeom>
            <a:noFill/>
            <a:ln w="12700" algn="ctr">
              <a:solidFill>
                <a:srgbClr val="FF0000"/>
              </a:solidFill>
              <a:round/>
              <a:headEnd/>
              <a:tailEnd/>
            </a:ln>
          </p:spPr>
        </p:cxnSp>
      </p:grpSp>
      <p:grpSp>
        <p:nvGrpSpPr>
          <p:cNvPr id="7" name="组合 75"/>
          <p:cNvGrpSpPr>
            <a:grpSpLocks/>
          </p:cNvGrpSpPr>
          <p:nvPr/>
        </p:nvGrpSpPr>
        <p:grpSpPr bwMode="auto">
          <a:xfrm flipH="1">
            <a:off x="3068638" y="4435475"/>
            <a:ext cx="482600" cy="473075"/>
            <a:chOff x="1867462" y="4833900"/>
            <a:chExt cx="481964" cy="472812"/>
          </a:xfrm>
        </p:grpSpPr>
        <p:cxnSp>
          <p:nvCxnSpPr>
            <p:cNvPr id="34897" name="直接连接符 76"/>
            <p:cNvCxnSpPr>
              <a:cxnSpLocks noChangeShapeType="1"/>
            </p:cNvCxnSpPr>
            <p:nvPr/>
          </p:nvCxnSpPr>
          <p:spPr bwMode="auto">
            <a:xfrm flipV="1">
              <a:off x="1867462" y="4833900"/>
              <a:ext cx="481964" cy="213138"/>
            </a:xfrm>
            <a:prstGeom prst="line">
              <a:avLst/>
            </a:prstGeom>
            <a:noFill/>
            <a:ln w="127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4898" name="直接连接符 77"/>
            <p:cNvCxnSpPr>
              <a:cxnSpLocks noChangeShapeType="1"/>
            </p:cNvCxnSpPr>
            <p:nvPr/>
          </p:nvCxnSpPr>
          <p:spPr bwMode="auto">
            <a:xfrm>
              <a:off x="1867462" y="5058382"/>
              <a:ext cx="474421" cy="24833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79" name="直接连接符 78"/>
          <p:cNvCxnSpPr>
            <a:cxnSpLocks noChangeShapeType="1"/>
          </p:cNvCxnSpPr>
          <p:nvPr/>
        </p:nvCxnSpPr>
        <p:spPr bwMode="auto">
          <a:xfrm flipV="1">
            <a:off x="2273300" y="2159000"/>
            <a:ext cx="474663" cy="539750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80" name="直接连接符 79"/>
          <p:cNvCxnSpPr>
            <a:cxnSpLocks noChangeShapeType="1"/>
          </p:cNvCxnSpPr>
          <p:nvPr/>
        </p:nvCxnSpPr>
        <p:spPr bwMode="auto">
          <a:xfrm flipV="1">
            <a:off x="2273300" y="2536825"/>
            <a:ext cx="268288" cy="161925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81" name="直接连接符 80"/>
          <p:cNvCxnSpPr>
            <a:cxnSpLocks noChangeShapeType="1"/>
          </p:cNvCxnSpPr>
          <p:nvPr/>
        </p:nvCxnSpPr>
        <p:spPr bwMode="auto">
          <a:xfrm>
            <a:off x="2273300" y="2698750"/>
            <a:ext cx="284163" cy="195263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82" name="直接连接符 81"/>
          <p:cNvCxnSpPr>
            <a:cxnSpLocks noChangeShapeType="1"/>
          </p:cNvCxnSpPr>
          <p:nvPr/>
        </p:nvCxnSpPr>
        <p:spPr bwMode="auto">
          <a:xfrm>
            <a:off x="2273300" y="2698750"/>
            <a:ext cx="474663" cy="55245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83" name="直接连接符 82"/>
          <p:cNvCxnSpPr>
            <a:cxnSpLocks noChangeShapeType="1"/>
          </p:cNvCxnSpPr>
          <p:nvPr/>
        </p:nvCxnSpPr>
        <p:spPr bwMode="auto">
          <a:xfrm flipH="1" flipV="1">
            <a:off x="3260725" y="2525713"/>
            <a:ext cx="296863" cy="207962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84" name="直接连接符 83"/>
          <p:cNvCxnSpPr>
            <a:cxnSpLocks noChangeShapeType="1"/>
          </p:cNvCxnSpPr>
          <p:nvPr/>
        </p:nvCxnSpPr>
        <p:spPr bwMode="auto">
          <a:xfrm flipH="1">
            <a:off x="3260725" y="2668588"/>
            <a:ext cx="296863" cy="18573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85" name="直接连接符 84"/>
          <p:cNvCxnSpPr>
            <a:cxnSpLocks noChangeShapeType="1"/>
          </p:cNvCxnSpPr>
          <p:nvPr/>
        </p:nvCxnSpPr>
        <p:spPr bwMode="auto">
          <a:xfrm flipH="1">
            <a:off x="3051175" y="2720975"/>
            <a:ext cx="519113" cy="5222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86" name="直接连接符 85"/>
          <p:cNvCxnSpPr>
            <a:cxnSpLocks noChangeShapeType="1"/>
          </p:cNvCxnSpPr>
          <p:nvPr/>
        </p:nvCxnSpPr>
        <p:spPr bwMode="auto">
          <a:xfrm flipH="1" flipV="1">
            <a:off x="3071813" y="2159000"/>
            <a:ext cx="498475" cy="561975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87" name="Rectangle 5"/>
          <p:cNvSpPr>
            <a:spLocks noChangeArrowheads="1"/>
          </p:cNvSpPr>
          <p:nvPr/>
        </p:nvSpPr>
        <p:spPr bwMode="auto">
          <a:xfrm>
            <a:off x="1506538" y="4297363"/>
            <a:ext cx="469900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Monotype Sorts"/>
              <a:buNone/>
              <a:defRPr/>
            </a:pPr>
            <a:r>
              <a:rPr lang="en-US" altLang="zh-CN" sz="2500" b="1" dirty="0" smtClean="0">
                <a:latin typeface="+mn-lt"/>
                <a:ea typeface="华文楷体" panose="02010600040101010101" pitchFamily="2" charset="-122"/>
              </a:rPr>
              <a:t>1s</a:t>
            </a:r>
            <a:endParaRPr lang="zh-CN" altLang="en-US" sz="2500" b="1" baseline="-25000" dirty="0" smtClean="0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88" name="Rectangle 5"/>
          <p:cNvSpPr>
            <a:spLocks noChangeArrowheads="1"/>
          </p:cNvSpPr>
          <p:nvPr/>
        </p:nvSpPr>
        <p:spPr bwMode="auto">
          <a:xfrm>
            <a:off x="3865563" y="4302125"/>
            <a:ext cx="469900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Monotype Sorts"/>
              <a:buNone/>
              <a:defRPr/>
            </a:pPr>
            <a:r>
              <a:rPr lang="en-US" altLang="zh-CN" sz="2500" b="1" dirty="0" smtClean="0">
                <a:latin typeface="+mn-lt"/>
                <a:ea typeface="华文楷体" panose="02010600040101010101" pitchFamily="2" charset="-122"/>
              </a:rPr>
              <a:t>1s</a:t>
            </a:r>
            <a:endParaRPr lang="zh-CN" altLang="en-US" sz="2500" b="1" baseline="-25000" dirty="0" smtClean="0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89" name="Rectangle 5"/>
          <p:cNvSpPr>
            <a:spLocks noChangeArrowheads="1"/>
          </p:cNvSpPr>
          <p:nvPr/>
        </p:nvSpPr>
        <p:spPr bwMode="auto">
          <a:xfrm>
            <a:off x="1508125" y="3422650"/>
            <a:ext cx="469900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Monotype Sorts"/>
              <a:buNone/>
              <a:defRPr/>
            </a:pPr>
            <a:r>
              <a:rPr lang="en-US" altLang="zh-CN" sz="2500" b="1" dirty="0" smtClean="0">
                <a:latin typeface="+mn-lt"/>
                <a:ea typeface="华文楷体" panose="02010600040101010101" pitchFamily="2" charset="-122"/>
              </a:rPr>
              <a:t>2s</a:t>
            </a:r>
            <a:endParaRPr lang="zh-CN" altLang="en-US" sz="2500" b="1" baseline="-25000" dirty="0" smtClean="0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90" name="Rectangle 5"/>
          <p:cNvSpPr>
            <a:spLocks noChangeArrowheads="1"/>
          </p:cNvSpPr>
          <p:nvPr/>
        </p:nvSpPr>
        <p:spPr bwMode="auto">
          <a:xfrm>
            <a:off x="3890963" y="3449638"/>
            <a:ext cx="469900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Monotype Sorts"/>
              <a:buNone/>
              <a:defRPr/>
            </a:pPr>
            <a:r>
              <a:rPr lang="en-US" altLang="zh-CN" sz="2500" b="1" dirty="0" smtClean="0">
                <a:latin typeface="+mn-lt"/>
                <a:ea typeface="华文楷体" panose="02010600040101010101" pitchFamily="2" charset="-122"/>
              </a:rPr>
              <a:t>2s</a:t>
            </a:r>
            <a:endParaRPr lang="zh-CN" altLang="en-US" sz="2500" b="1" baseline="-25000" dirty="0" smtClean="0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91" name="Rectangle 5"/>
          <p:cNvSpPr>
            <a:spLocks noChangeArrowheads="1"/>
          </p:cNvSpPr>
          <p:nvPr/>
        </p:nvSpPr>
        <p:spPr bwMode="auto">
          <a:xfrm>
            <a:off x="766763" y="2298700"/>
            <a:ext cx="522287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Monotype Sorts"/>
              <a:buNone/>
              <a:defRPr/>
            </a:pPr>
            <a:r>
              <a:rPr lang="en-US" altLang="zh-CN" sz="2500" b="1" dirty="0" smtClean="0">
                <a:latin typeface="+mn-lt"/>
                <a:ea typeface="华文楷体" panose="02010600040101010101" pitchFamily="2" charset="-122"/>
              </a:rPr>
              <a:t>2p</a:t>
            </a:r>
            <a:endParaRPr lang="zh-CN" altLang="en-US" sz="2500" b="1" baseline="-25000" dirty="0" smtClean="0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92" name="Rectangle 5"/>
          <p:cNvSpPr>
            <a:spLocks noChangeArrowheads="1"/>
          </p:cNvSpPr>
          <p:nvPr/>
        </p:nvSpPr>
        <p:spPr bwMode="auto">
          <a:xfrm>
            <a:off x="4608513" y="2339975"/>
            <a:ext cx="522287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Monotype Sorts"/>
              <a:buNone/>
              <a:defRPr/>
            </a:pPr>
            <a:r>
              <a:rPr lang="en-US" altLang="zh-CN" sz="2500" b="1" dirty="0" smtClean="0">
                <a:latin typeface="+mn-lt"/>
                <a:ea typeface="华文楷体" panose="02010600040101010101" pitchFamily="2" charset="-122"/>
              </a:rPr>
              <a:t>2p</a:t>
            </a:r>
            <a:endParaRPr lang="zh-CN" altLang="en-US" sz="2500" b="1" baseline="-25000" dirty="0" smtClean="0">
              <a:latin typeface="+mn-lt"/>
              <a:ea typeface="华文楷体" panose="02010600040101010101" pitchFamily="2" charset="-122"/>
            </a:endParaRPr>
          </a:p>
        </p:txBody>
      </p:sp>
      <p:cxnSp>
        <p:nvCxnSpPr>
          <p:cNvPr id="93" name="直接箭头连接符 92"/>
          <p:cNvCxnSpPr>
            <a:cxnSpLocks noChangeShapeType="1"/>
          </p:cNvCxnSpPr>
          <p:nvPr/>
        </p:nvCxnSpPr>
        <p:spPr bwMode="auto">
          <a:xfrm flipV="1">
            <a:off x="3700463" y="2595563"/>
            <a:ext cx="0" cy="252412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94" name="直接箭头连接符 93"/>
          <p:cNvCxnSpPr>
            <a:cxnSpLocks noChangeShapeType="1"/>
          </p:cNvCxnSpPr>
          <p:nvPr/>
        </p:nvCxnSpPr>
        <p:spPr bwMode="auto">
          <a:xfrm flipV="1">
            <a:off x="2065338" y="4508500"/>
            <a:ext cx="0" cy="250825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95" name="直接箭头连接符 94"/>
          <p:cNvCxnSpPr>
            <a:cxnSpLocks noChangeShapeType="1"/>
          </p:cNvCxnSpPr>
          <p:nvPr/>
        </p:nvCxnSpPr>
        <p:spPr bwMode="auto">
          <a:xfrm>
            <a:off x="2139950" y="4508500"/>
            <a:ext cx="0" cy="250825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96" name="直接箭头连接符 95"/>
          <p:cNvCxnSpPr>
            <a:cxnSpLocks noChangeShapeType="1"/>
          </p:cNvCxnSpPr>
          <p:nvPr/>
        </p:nvCxnSpPr>
        <p:spPr bwMode="auto">
          <a:xfrm flipV="1">
            <a:off x="3692525" y="4516438"/>
            <a:ext cx="0" cy="252412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97" name="直接箭头连接符 96"/>
          <p:cNvCxnSpPr>
            <a:cxnSpLocks noChangeShapeType="1"/>
          </p:cNvCxnSpPr>
          <p:nvPr/>
        </p:nvCxnSpPr>
        <p:spPr bwMode="auto">
          <a:xfrm>
            <a:off x="3767138" y="4516438"/>
            <a:ext cx="0" cy="252412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98" name="直接箭头连接符 97"/>
          <p:cNvCxnSpPr>
            <a:cxnSpLocks noChangeShapeType="1"/>
          </p:cNvCxnSpPr>
          <p:nvPr/>
        </p:nvCxnSpPr>
        <p:spPr bwMode="auto">
          <a:xfrm flipV="1">
            <a:off x="1417638" y="2568575"/>
            <a:ext cx="0" cy="252413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99" name="直接箭头连接符 98"/>
          <p:cNvCxnSpPr>
            <a:cxnSpLocks noChangeShapeType="1"/>
          </p:cNvCxnSpPr>
          <p:nvPr/>
        </p:nvCxnSpPr>
        <p:spPr bwMode="auto">
          <a:xfrm flipV="1">
            <a:off x="4065588" y="2600325"/>
            <a:ext cx="0" cy="250825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100" name="直接箭头连接符 99"/>
          <p:cNvCxnSpPr>
            <a:cxnSpLocks noChangeShapeType="1"/>
          </p:cNvCxnSpPr>
          <p:nvPr/>
        </p:nvCxnSpPr>
        <p:spPr bwMode="auto">
          <a:xfrm flipV="1">
            <a:off x="1778000" y="2573338"/>
            <a:ext cx="0" cy="252412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101" name="直接箭头连接符 100"/>
          <p:cNvCxnSpPr>
            <a:cxnSpLocks noChangeShapeType="1"/>
          </p:cNvCxnSpPr>
          <p:nvPr/>
        </p:nvCxnSpPr>
        <p:spPr bwMode="auto">
          <a:xfrm flipV="1">
            <a:off x="4394200" y="2595563"/>
            <a:ext cx="0" cy="250825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102" name="直接箭头连接符 101"/>
          <p:cNvCxnSpPr>
            <a:cxnSpLocks noChangeShapeType="1"/>
          </p:cNvCxnSpPr>
          <p:nvPr/>
        </p:nvCxnSpPr>
        <p:spPr bwMode="auto">
          <a:xfrm flipV="1">
            <a:off x="2105025" y="2568575"/>
            <a:ext cx="0" cy="252413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103" name="直接箭头连接符 102"/>
          <p:cNvCxnSpPr>
            <a:cxnSpLocks noChangeShapeType="1"/>
          </p:cNvCxnSpPr>
          <p:nvPr/>
        </p:nvCxnSpPr>
        <p:spPr bwMode="auto">
          <a:xfrm>
            <a:off x="1484313" y="2579688"/>
            <a:ext cx="0" cy="252412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104" name="直接箭头连接符 103"/>
          <p:cNvCxnSpPr>
            <a:cxnSpLocks noChangeShapeType="1"/>
          </p:cNvCxnSpPr>
          <p:nvPr/>
        </p:nvCxnSpPr>
        <p:spPr bwMode="auto">
          <a:xfrm>
            <a:off x="3773488" y="2609850"/>
            <a:ext cx="0" cy="252413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sp>
        <p:nvSpPr>
          <p:cNvPr id="105" name="Rectangle 5"/>
          <p:cNvSpPr>
            <a:spLocks noChangeArrowheads="1"/>
          </p:cNvSpPr>
          <p:nvPr/>
        </p:nvSpPr>
        <p:spPr bwMode="auto">
          <a:xfrm>
            <a:off x="4903788" y="1239838"/>
            <a:ext cx="2578100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 typeface="Monotype Sorts"/>
              <a:buNone/>
              <a:defRPr/>
            </a:pPr>
            <a:r>
              <a:rPr lang="en-US" altLang="zh-CN" sz="2500" b="1" dirty="0" smtClean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rPr>
              <a:t>O</a:t>
            </a:r>
            <a:r>
              <a:rPr lang="zh-CN" altLang="en-US" sz="2500" b="1" dirty="0" smtClean="0">
                <a:solidFill>
                  <a:srgbClr val="FF0000"/>
                </a:solidFill>
                <a:latin typeface="黑体" panose="02010609060101010101" pitchFamily="49" charset="-122"/>
                <a:ea typeface="楷体_GB2312"/>
              </a:rPr>
              <a:t>原子</a:t>
            </a:r>
            <a:r>
              <a:rPr lang="en-US" altLang="zh-CN" sz="2500" b="1" dirty="0" smtClean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rPr>
              <a:t>:  </a:t>
            </a:r>
            <a:r>
              <a:rPr lang="en-US" altLang="zh-CN" sz="2500" b="1" dirty="0" smtClean="0">
                <a:latin typeface="+mn-lt"/>
                <a:ea typeface="华文楷体" panose="02010600040101010101" pitchFamily="2" charset="-122"/>
              </a:rPr>
              <a:t>1s</a:t>
            </a:r>
            <a:r>
              <a:rPr lang="en-US" altLang="zh-CN" sz="2500" b="1" baseline="30000" dirty="0" smtClean="0">
                <a:latin typeface="+mn-lt"/>
                <a:ea typeface="华文楷体" panose="02010600040101010101" pitchFamily="2" charset="-122"/>
              </a:rPr>
              <a:t>2</a:t>
            </a:r>
            <a:r>
              <a:rPr lang="en-US" altLang="zh-CN" sz="2500" b="1" dirty="0" smtClean="0">
                <a:latin typeface="+mn-lt"/>
                <a:ea typeface="华文楷体" panose="02010600040101010101" pitchFamily="2" charset="-122"/>
              </a:rPr>
              <a:t>2s</a:t>
            </a:r>
            <a:r>
              <a:rPr lang="en-US" altLang="zh-CN" sz="2500" b="1" baseline="30000" dirty="0" smtClean="0">
                <a:latin typeface="+mn-lt"/>
                <a:ea typeface="华文楷体" panose="02010600040101010101" pitchFamily="2" charset="-122"/>
              </a:rPr>
              <a:t>2</a:t>
            </a:r>
            <a:r>
              <a:rPr lang="en-US" altLang="zh-CN" sz="2500" b="1" dirty="0" smtClean="0">
                <a:latin typeface="+mn-lt"/>
                <a:ea typeface="华文楷体" panose="02010600040101010101" pitchFamily="2" charset="-122"/>
              </a:rPr>
              <a:t>2p</a:t>
            </a:r>
            <a:r>
              <a:rPr lang="en-US" altLang="zh-CN" sz="2500" b="1" baseline="30000" dirty="0" smtClean="0">
                <a:latin typeface="+mn-lt"/>
                <a:ea typeface="华文楷体" panose="02010600040101010101" pitchFamily="2" charset="-122"/>
              </a:rPr>
              <a:t>4</a:t>
            </a:r>
            <a:endParaRPr lang="zh-CN" altLang="en-US" sz="2500" b="1" baseline="30000" dirty="0" smtClean="0">
              <a:latin typeface="+mn-lt"/>
              <a:ea typeface="华文楷体" panose="02010600040101010101" pitchFamily="2" charset="-122"/>
            </a:endParaRPr>
          </a:p>
        </p:txBody>
      </p:sp>
      <p:cxnSp>
        <p:nvCxnSpPr>
          <p:cNvPr id="108" name="直接箭头连接符 107"/>
          <p:cNvCxnSpPr>
            <a:cxnSpLocks noChangeShapeType="1"/>
          </p:cNvCxnSpPr>
          <p:nvPr/>
        </p:nvCxnSpPr>
        <p:spPr bwMode="auto">
          <a:xfrm flipV="1">
            <a:off x="2071688" y="3659188"/>
            <a:ext cx="0" cy="252412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109" name="直接箭头连接符 108"/>
          <p:cNvCxnSpPr>
            <a:cxnSpLocks noChangeShapeType="1"/>
          </p:cNvCxnSpPr>
          <p:nvPr/>
        </p:nvCxnSpPr>
        <p:spPr bwMode="auto">
          <a:xfrm>
            <a:off x="2146300" y="3659188"/>
            <a:ext cx="0" cy="252412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110" name="直接箭头连接符 109"/>
          <p:cNvCxnSpPr>
            <a:cxnSpLocks noChangeShapeType="1"/>
          </p:cNvCxnSpPr>
          <p:nvPr/>
        </p:nvCxnSpPr>
        <p:spPr bwMode="auto">
          <a:xfrm flipV="1">
            <a:off x="3698875" y="3668713"/>
            <a:ext cx="0" cy="252412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111" name="直接箭头连接符 110"/>
          <p:cNvCxnSpPr>
            <a:cxnSpLocks noChangeShapeType="1"/>
          </p:cNvCxnSpPr>
          <p:nvPr/>
        </p:nvCxnSpPr>
        <p:spPr bwMode="auto">
          <a:xfrm>
            <a:off x="3773488" y="3668713"/>
            <a:ext cx="0" cy="252412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sp>
        <p:nvSpPr>
          <p:cNvPr id="118" name="闪电形 117"/>
          <p:cNvSpPr/>
          <p:nvPr/>
        </p:nvSpPr>
        <p:spPr bwMode="auto">
          <a:xfrm flipH="1">
            <a:off x="3117850" y="2168525"/>
            <a:ext cx="1006475" cy="284163"/>
          </a:xfrm>
          <a:prstGeom prst="lightningBol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kumimoji="1" lang="zh-CN" altLang="en-US" sz="2500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119" name="Rectangle 5"/>
          <p:cNvSpPr>
            <a:spLocks noChangeArrowheads="1"/>
          </p:cNvSpPr>
          <p:nvPr/>
        </p:nvSpPr>
        <p:spPr bwMode="auto">
          <a:xfrm>
            <a:off x="3975100" y="1882775"/>
            <a:ext cx="46434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Monotype Sorts" pitchFamily="2" charset="2"/>
              <a:buNone/>
            </a:pPr>
            <a:r>
              <a:rPr lang="zh-CN" altLang="en-US" sz="2500" b="1" dirty="0">
                <a:ea typeface="楷体_GB2312" pitchFamily="49" charset="-122"/>
              </a:rPr>
              <a:t>存在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2</a:t>
            </a:r>
            <a:r>
              <a:rPr lang="zh-CN" altLang="en-US" sz="2500" b="1" dirty="0">
                <a:ea typeface="楷体_GB2312" pitchFamily="49" charset="-122"/>
              </a:rPr>
              <a:t>个单电子，显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顺磁性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  <a:endParaRPr lang="zh-CN" altLang="en-US" sz="2500" b="1" dirty="0">
              <a:ea typeface="楷体_GB2312" pitchFamily="49" charset="-122"/>
            </a:endParaRPr>
          </a:p>
        </p:txBody>
      </p:sp>
      <p:sp>
        <p:nvSpPr>
          <p:cNvPr id="147" name="Rectangle 52"/>
          <p:cNvSpPr>
            <a:spLocks noChangeArrowheads="1"/>
          </p:cNvSpPr>
          <p:nvPr/>
        </p:nvSpPr>
        <p:spPr bwMode="auto">
          <a:xfrm>
            <a:off x="6118225" y="2740025"/>
            <a:ext cx="2728913" cy="477838"/>
          </a:xfrm>
          <a:prstGeom prst="rect">
            <a:avLst/>
          </a:prstGeom>
          <a:noFill/>
          <a:ln w="9525">
            <a:noFill/>
            <a:prstDash val="sysDot"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键级</a:t>
            </a:r>
            <a:r>
              <a:rPr kumimoji="1" lang="zh-CN" altLang="en-US" sz="2500" b="1" dirty="0">
                <a:ea typeface="楷体_GB2312" pitchFamily="49" charset="-122"/>
              </a:rPr>
              <a:t> </a:t>
            </a:r>
            <a:r>
              <a:rPr kumimoji="1" lang="en-US" altLang="zh-CN" sz="2500" b="1" dirty="0">
                <a:ea typeface="楷体_GB2312" pitchFamily="49" charset="-122"/>
              </a:rPr>
              <a:t>= (6 - 2)/2 = 2</a:t>
            </a:r>
          </a:p>
        </p:txBody>
      </p:sp>
      <p:sp>
        <p:nvSpPr>
          <p:cNvPr id="55315" name="矩形 55314"/>
          <p:cNvSpPr>
            <a:spLocks noChangeArrowheads="1"/>
          </p:cNvSpPr>
          <p:nvPr/>
        </p:nvSpPr>
        <p:spPr bwMode="auto">
          <a:xfrm>
            <a:off x="6118225" y="3382963"/>
            <a:ext cx="3452813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华文楷体" pitchFamily="2" charset="-122"/>
              </a:rPr>
              <a:t>O=O</a:t>
            </a:r>
          </a:p>
          <a:p>
            <a:r>
              <a:rPr lang="en-US" altLang="zh-CN" sz="2500" b="1" dirty="0">
                <a:ea typeface="华文楷体" pitchFamily="2" charset="-122"/>
              </a:rPr>
              <a:t>1</a:t>
            </a:r>
            <a:r>
              <a:rPr lang="zh-CN" altLang="en-US" sz="2500" b="1" dirty="0">
                <a:latin typeface="黑体" pitchFamily="49" charset="-122"/>
                <a:ea typeface="楷体_GB2312" pitchFamily="49" charset="-122"/>
              </a:rPr>
              <a:t>个</a:t>
            </a:r>
            <a:r>
              <a:rPr lang="zh-CN" altLang="en-US" sz="2500" b="1" dirty="0">
                <a:solidFill>
                  <a:srgbClr val="FF0000"/>
                </a:solidFill>
                <a:ea typeface="华文楷体" pitchFamily="2" charset="-122"/>
              </a:rPr>
              <a:t>𝛔</a:t>
            </a:r>
            <a:r>
              <a:rPr lang="zh-CN" altLang="en-US" sz="2500" b="1" dirty="0">
                <a:latin typeface="黑体" pitchFamily="49" charset="-122"/>
                <a:ea typeface="楷体_GB2312" pitchFamily="49" charset="-122"/>
              </a:rPr>
              <a:t>键</a:t>
            </a:r>
            <a:r>
              <a:rPr lang="zh-CN" altLang="en-US" sz="2500" b="1" dirty="0">
                <a:ea typeface="华文楷体" pitchFamily="2" charset="-122"/>
              </a:rPr>
              <a:t>，</a:t>
            </a:r>
            <a:r>
              <a:rPr lang="en-US" altLang="zh-CN" sz="2500" b="1" dirty="0">
                <a:ea typeface="华文楷体" pitchFamily="2" charset="-122"/>
              </a:rPr>
              <a:t>2</a:t>
            </a:r>
            <a:r>
              <a:rPr lang="zh-CN" altLang="en-US" sz="2500" b="1" dirty="0">
                <a:latin typeface="黑体" pitchFamily="49" charset="-122"/>
                <a:ea typeface="楷体_GB2312" pitchFamily="49" charset="-122"/>
              </a:rPr>
              <a:t>个三电子</a:t>
            </a:r>
            <a:r>
              <a:rPr lang="el-GR" altLang="zh-CN" sz="2500" b="1" dirty="0">
                <a:solidFill>
                  <a:srgbClr val="FF0000"/>
                </a:solidFill>
                <a:ea typeface="华文楷体" pitchFamily="2" charset="-122"/>
              </a:rPr>
              <a:t>π</a:t>
            </a:r>
            <a:r>
              <a:rPr lang="zh-CN" altLang="en-US" sz="2500" b="1" dirty="0">
                <a:latin typeface="黑体" pitchFamily="49" charset="-122"/>
                <a:ea typeface="楷体_GB2312" pitchFamily="49" charset="-122"/>
              </a:rPr>
              <a:t>键</a:t>
            </a:r>
            <a:endParaRPr lang="zh-CN" altLang="en-US" sz="2500" dirty="0">
              <a:latin typeface="黑体" pitchFamily="49" charset="-122"/>
              <a:ea typeface="楷体_GB2312" pitchFamily="49" charset="-122"/>
            </a:endParaRPr>
          </a:p>
        </p:txBody>
      </p:sp>
      <p:grpSp>
        <p:nvGrpSpPr>
          <p:cNvPr id="8" name="组合 148"/>
          <p:cNvGrpSpPr>
            <a:grpSpLocks/>
          </p:cNvGrpSpPr>
          <p:nvPr/>
        </p:nvGrpSpPr>
        <p:grpSpPr bwMode="auto">
          <a:xfrm>
            <a:off x="6261100" y="4311650"/>
            <a:ext cx="1225550" cy="922338"/>
            <a:chOff x="6463421" y="4656155"/>
            <a:chExt cx="1224120" cy="921985"/>
          </a:xfrm>
        </p:grpSpPr>
        <p:sp>
          <p:nvSpPr>
            <p:cNvPr id="150" name="矩形 149"/>
            <p:cNvSpPr/>
            <p:nvPr/>
          </p:nvSpPr>
          <p:spPr>
            <a:xfrm>
              <a:off x="6485620" y="4816432"/>
              <a:ext cx="434467" cy="477654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500" b="1" dirty="0">
                  <a:latin typeface="+mn-lt"/>
                  <a:ea typeface="华文楷体" panose="02010600040101010101" pitchFamily="2" charset="-122"/>
                </a:rPr>
                <a:t>O</a:t>
              </a:r>
              <a:endParaRPr lang="zh-CN" altLang="en-US" sz="2500" dirty="0">
                <a:latin typeface="+mn-lt"/>
                <a:ea typeface="华文楷体" panose="02010600040101010101" pitchFamily="2" charset="-122"/>
              </a:endParaRPr>
            </a:p>
          </p:txBody>
        </p:sp>
        <p:cxnSp>
          <p:nvCxnSpPr>
            <p:cNvPr id="34883" name="直接连接符 150"/>
            <p:cNvCxnSpPr>
              <a:cxnSpLocks noChangeShapeType="1"/>
            </p:cNvCxnSpPr>
            <p:nvPr/>
          </p:nvCxnSpPr>
          <p:spPr bwMode="auto">
            <a:xfrm>
              <a:off x="6910182" y="5083699"/>
              <a:ext cx="288032" cy="0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152" name="矩形 151"/>
            <p:cNvSpPr/>
            <p:nvPr/>
          </p:nvSpPr>
          <p:spPr>
            <a:xfrm>
              <a:off x="7195990" y="4816432"/>
              <a:ext cx="434467" cy="477654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500" b="1" dirty="0">
                  <a:latin typeface="+mn-lt"/>
                  <a:ea typeface="华文楷体" panose="02010600040101010101" pitchFamily="2" charset="-122"/>
                </a:rPr>
                <a:t>O</a:t>
              </a:r>
              <a:endParaRPr lang="zh-CN" altLang="en-US" sz="25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53" name="椭圆 152"/>
            <p:cNvSpPr/>
            <p:nvPr/>
          </p:nvSpPr>
          <p:spPr bwMode="auto">
            <a:xfrm>
              <a:off x="6463421" y="4986229"/>
              <a:ext cx="71355" cy="7141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 sz="25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54" name="椭圆 153"/>
            <p:cNvSpPr/>
            <p:nvPr/>
          </p:nvSpPr>
          <p:spPr bwMode="auto">
            <a:xfrm>
              <a:off x="6463421" y="5157613"/>
              <a:ext cx="71355" cy="72997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 sz="25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55" name="椭圆 154"/>
            <p:cNvSpPr/>
            <p:nvPr/>
          </p:nvSpPr>
          <p:spPr bwMode="auto">
            <a:xfrm>
              <a:off x="7616187" y="4986229"/>
              <a:ext cx="71354" cy="7141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 sz="25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56" name="椭圆 155"/>
            <p:cNvSpPr/>
            <p:nvPr/>
          </p:nvSpPr>
          <p:spPr bwMode="auto">
            <a:xfrm>
              <a:off x="7616187" y="5157613"/>
              <a:ext cx="71354" cy="72997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 sz="25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57" name="椭圆 156"/>
            <p:cNvSpPr/>
            <p:nvPr/>
          </p:nvSpPr>
          <p:spPr bwMode="auto">
            <a:xfrm>
              <a:off x="6633086" y="4770411"/>
              <a:ext cx="72940" cy="72997"/>
            </a:xfrm>
            <a:prstGeom prst="ellipse">
              <a:avLst/>
            </a:prstGeom>
            <a:solidFill>
              <a:srgbClr val="FFFF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 sz="25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58" name="椭圆 157"/>
            <p:cNvSpPr/>
            <p:nvPr/>
          </p:nvSpPr>
          <p:spPr bwMode="auto">
            <a:xfrm>
              <a:off x="7026326" y="4770411"/>
              <a:ext cx="72940" cy="72997"/>
            </a:xfrm>
            <a:prstGeom prst="ellipse">
              <a:avLst/>
            </a:prstGeom>
            <a:solidFill>
              <a:srgbClr val="FFFF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 sz="25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59" name="椭圆 158"/>
            <p:cNvSpPr/>
            <p:nvPr/>
          </p:nvSpPr>
          <p:spPr bwMode="auto">
            <a:xfrm>
              <a:off x="7441766" y="4770411"/>
              <a:ext cx="71354" cy="72997"/>
            </a:xfrm>
            <a:prstGeom prst="ellipse">
              <a:avLst/>
            </a:prstGeom>
            <a:solidFill>
              <a:srgbClr val="FFFF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 sz="25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63" name="矩形 162"/>
            <p:cNvSpPr/>
            <p:nvPr/>
          </p:nvSpPr>
          <p:spPr bwMode="auto">
            <a:xfrm>
              <a:off x="6485620" y="4656155"/>
              <a:ext cx="1130567" cy="276119"/>
            </a:xfrm>
            <a:prstGeom prst="rect">
              <a:avLst/>
            </a:prstGeom>
            <a:noFill/>
            <a:ln w="1905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 sz="25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65" name="椭圆 164"/>
            <p:cNvSpPr/>
            <p:nvPr/>
          </p:nvSpPr>
          <p:spPr bwMode="auto">
            <a:xfrm>
              <a:off x="6626743" y="5417863"/>
              <a:ext cx="71354" cy="71411"/>
            </a:xfrm>
            <a:prstGeom prst="ellipse">
              <a:avLst/>
            </a:prstGeom>
            <a:solidFill>
              <a:srgbClr val="FFFF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 sz="25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66" name="椭圆 165"/>
            <p:cNvSpPr/>
            <p:nvPr/>
          </p:nvSpPr>
          <p:spPr bwMode="auto">
            <a:xfrm>
              <a:off x="7019984" y="5417863"/>
              <a:ext cx="71354" cy="71411"/>
            </a:xfrm>
            <a:prstGeom prst="ellipse">
              <a:avLst/>
            </a:prstGeom>
            <a:solidFill>
              <a:srgbClr val="FFFF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 sz="25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67" name="椭圆 166"/>
            <p:cNvSpPr/>
            <p:nvPr/>
          </p:nvSpPr>
          <p:spPr bwMode="auto">
            <a:xfrm>
              <a:off x="7435424" y="5417863"/>
              <a:ext cx="71354" cy="71411"/>
            </a:xfrm>
            <a:prstGeom prst="ellipse">
              <a:avLst/>
            </a:prstGeom>
            <a:solidFill>
              <a:srgbClr val="FFFF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 sz="250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68" name="矩形 167"/>
            <p:cNvSpPr/>
            <p:nvPr/>
          </p:nvSpPr>
          <p:spPr bwMode="auto">
            <a:xfrm>
              <a:off x="6477692" y="5302021"/>
              <a:ext cx="1130566" cy="276119"/>
            </a:xfrm>
            <a:prstGeom prst="rect">
              <a:avLst/>
            </a:prstGeom>
            <a:noFill/>
            <a:ln w="1905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 sz="2500">
                <a:latin typeface="+mn-lt"/>
                <a:ea typeface="华文楷体" panose="02010600040101010101" pitchFamily="2" charset="-122"/>
              </a:endParaRPr>
            </a:p>
          </p:txBody>
        </p:sp>
      </p:grpSp>
      <p:sp>
        <p:nvSpPr>
          <p:cNvPr id="169" name="Rectangle 52"/>
          <p:cNvSpPr>
            <a:spLocks noChangeArrowheads="1"/>
          </p:cNvSpPr>
          <p:nvPr/>
        </p:nvSpPr>
        <p:spPr bwMode="auto">
          <a:xfrm>
            <a:off x="7618413" y="4525963"/>
            <a:ext cx="2058987" cy="477837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500" b="1">
                <a:solidFill>
                  <a:srgbClr val="FF0000"/>
                </a:solidFill>
                <a:ea typeface="楷体_GB2312" pitchFamily="49" charset="-122"/>
              </a:rPr>
              <a:t>→</a:t>
            </a:r>
            <a:r>
              <a:rPr kumimoji="1" lang="en-US" altLang="zh-CN" sz="2500" b="1">
                <a:solidFill>
                  <a:srgbClr val="FF0000"/>
                </a:solidFill>
                <a:ea typeface="楷体_GB2312" pitchFamily="49" charset="-122"/>
              </a:rPr>
              <a:t>1/2</a:t>
            </a:r>
            <a:r>
              <a:rPr kumimoji="1" lang="zh-CN" altLang="en-US" sz="2500" b="1">
                <a:ea typeface="楷体_GB2312" pitchFamily="49" charset="-122"/>
              </a:rPr>
              <a:t>正常</a:t>
            </a:r>
            <a:r>
              <a:rPr kumimoji="1" lang="el-GR" altLang="zh-CN" sz="2500" b="1">
                <a:solidFill>
                  <a:srgbClr val="FF0000"/>
                </a:solidFill>
                <a:ea typeface="华文楷体" pitchFamily="2" charset="-122"/>
                <a:cs typeface="楷体_GB2312" pitchFamily="49" charset="-122"/>
              </a:rPr>
              <a:t>π</a:t>
            </a:r>
            <a:r>
              <a:rPr kumimoji="1" lang="zh-CN" altLang="en-US" sz="2500" b="1">
                <a:latin typeface="黑体" pitchFamily="49" charset="-122"/>
                <a:ea typeface="楷体_GB2312" pitchFamily="49" charset="-122"/>
              </a:rPr>
              <a:t>键</a:t>
            </a:r>
            <a:endParaRPr kumimoji="1" lang="en-US" altLang="zh-CN" sz="2500" b="1">
              <a:ea typeface="楷体_GB2312" pitchFamily="49" charset="-122"/>
            </a:endParaRPr>
          </a:p>
        </p:txBody>
      </p:sp>
      <p:sp>
        <p:nvSpPr>
          <p:cNvPr id="170" name="Rectangle 5"/>
          <p:cNvSpPr>
            <a:spLocks noChangeArrowheads="1"/>
          </p:cNvSpPr>
          <p:nvPr/>
        </p:nvSpPr>
        <p:spPr bwMode="auto">
          <a:xfrm>
            <a:off x="2605088" y="4962525"/>
            <a:ext cx="738187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 typeface="Monotype Sorts"/>
              <a:buNone/>
              <a:defRPr/>
            </a:pPr>
            <a:r>
              <a:rPr lang="en-US" altLang="zh-CN" sz="2500" b="1" dirty="0" smtClean="0">
                <a:latin typeface="+mn-lt"/>
                <a:ea typeface="华文楷体" panose="02010600040101010101" pitchFamily="2" charset="-122"/>
              </a:rPr>
              <a:t>MO</a:t>
            </a:r>
            <a:endParaRPr lang="zh-CN" altLang="en-US" sz="2500" b="1" baseline="30000" dirty="0" smtClean="0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171" name="Rectangle 5"/>
          <p:cNvSpPr>
            <a:spLocks noChangeArrowheads="1"/>
          </p:cNvSpPr>
          <p:nvPr/>
        </p:nvSpPr>
        <p:spPr bwMode="auto">
          <a:xfrm>
            <a:off x="1671638" y="4975225"/>
            <a:ext cx="665162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 typeface="Monotype Sorts"/>
              <a:buNone/>
              <a:defRPr/>
            </a:pPr>
            <a:r>
              <a:rPr lang="en-US" altLang="zh-CN" sz="2500" b="1" dirty="0" smtClean="0">
                <a:latin typeface="+mn-lt"/>
                <a:ea typeface="华文楷体" panose="02010600040101010101" pitchFamily="2" charset="-122"/>
              </a:rPr>
              <a:t>AO</a:t>
            </a:r>
            <a:endParaRPr lang="zh-CN" altLang="en-US" sz="2500" b="1" baseline="30000" dirty="0" smtClean="0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172" name="Rectangle 5"/>
          <p:cNvSpPr>
            <a:spLocks noChangeArrowheads="1"/>
          </p:cNvSpPr>
          <p:nvPr/>
        </p:nvSpPr>
        <p:spPr bwMode="auto">
          <a:xfrm>
            <a:off x="3508375" y="4975225"/>
            <a:ext cx="665163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 typeface="Monotype Sorts"/>
              <a:buNone/>
              <a:defRPr/>
            </a:pPr>
            <a:r>
              <a:rPr lang="en-US" altLang="zh-CN" sz="2500" b="1" dirty="0">
                <a:latin typeface="+mn-lt"/>
                <a:ea typeface="华文楷体" panose="02010600040101010101" pitchFamily="2" charset="-122"/>
              </a:rPr>
              <a:t>A</a:t>
            </a:r>
            <a:r>
              <a:rPr lang="en-US" altLang="zh-CN" sz="2500" b="1" dirty="0" smtClean="0">
                <a:latin typeface="+mn-lt"/>
                <a:ea typeface="华文楷体" panose="02010600040101010101" pitchFamily="2" charset="-122"/>
              </a:rPr>
              <a:t>O</a:t>
            </a:r>
            <a:endParaRPr lang="zh-CN" altLang="en-US" sz="2500" b="1" baseline="30000" dirty="0" smtClean="0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34877" name="Text Box 47"/>
          <p:cNvSpPr txBox="1">
            <a:spLocks noChangeArrowheads="1"/>
          </p:cNvSpPr>
          <p:nvPr/>
        </p:nvSpPr>
        <p:spPr bwMode="auto">
          <a:xfrm>
            <a:off x="546100" y="311150"/>
            <a:ext cx="335756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200" b="1">
                <a:solidFill>
                  <a:srgbClr val="FF0000"/>
                </a:solidFill>
                <a:ea typeface="黑体" pitchFamily="49" charset="-122"/>
              </a:rPr>
              <a:t>8.1.3</a:t>
            </a:r>
            <a:r>
              <a:rPr kumimoji="1" lang="zh-CN" altLang="en-US" sz="2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分子轨道理论</a:t>
            </a:r>
          </a:p>
        </p:txBody>
      </p:sp>
      <p:cxnSp>
        <p:nvCxnSpPr>
          <p:cNvPr id="114" name="直接连接符 113"/>
          <p:cNvCxnSpPr>
            <a:cxnSpLocks noChangeShapeType="1"/>
          </p:cNvCxnSpPr>
          <p:nvPr/>
        </p:nvCxnSpPr>
        <p:spPr bwMode="auto">
          <a:xfrm>
            <a:off x="2546350" y="2525713"/>
            <a:ext cx="323850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15" name="直接连接符 114"/>
          <p:cNvCxnSpPr>
            <a:cxnSpLocks noChangeShapeType="1"/>
          </p:cNvCxnSpPr>
          <p:nvPr/>
        </p:nvCxnSpPr>
        <p:spPr bwMode="auto">
          <a:xfrm>
            <a:off x="2903538" y="2525713"/>
            <a:ext cx="323850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16" name="直接连接符 115"/>
          <p:cNvCxnSpPr>
            <a:cxnSpLocks noChangeShapeType="1"/>
          </p:cNvCxnSpPr>
          <p:nvPr/>
        </p:nvCxnSpPr>
        <p:spPr bwMode="auto">
          <a:xfrm>
            <a:off x="2546350" y="2882900"/>
            <a:ext cx="323850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17" name="直接连接符 116"/>
          <p:cNvCxnSpPr>
            <a:cxnSpLocks noChangeShapeType="1"/>
          </p:cNvCxnSpPr>
          <p:nvPr/>
        </p:nvCxnSpPr>
        <p:spPr bwMode="auto">
          <a:xfrm>
            <a:off x="2903538" y="2882900"/>
            <a:ext cx="323850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106" name="椭圆 62544" descr="图片1">
            <a:hlinkClick r:id="rId5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55363" y="5580000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下节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6" presetClass="entr" presetSubtype="2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6" presetClass="entr" presetSubtype="2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6" presetClass="entr" presetSubtype="2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6" presetClass="entr" presetSubtype="2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6" presetClass="entr" presetSubtype="2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6" presetClass="entr" presetSubtype="2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7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7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5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3681E-6 3.00833E-6 L 0.03913 3.00833E-6 C 0.05663 3.00833E-6 0.0784 0.00441 0.0784 0.00808 L 0.0784 0.01617 " pathEditMode="relative" rAng="0" ptsTypes="AAAA">
                                      <p:cBhvr>
                                        <p:cTn id="17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8"/>
                                    </p:animMotion>
                                  </p:childTnLst>
                                </p:cTn>
                              </p:par>
                              <p:par>
                                <p:cTn id="177" presetID="5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7.27473E-7 -1.88143E-6 L -0.04092 -1.88143E-6 C -0.05938 -1.88143E-6 -0.08184 0.00417 -0.08184 0.00809 L -0.08184 0.01642 " pathEditMode="relative" rAng="0" ptsTypes="AAAA">
                                      <p:cBhvr>
                                        <p:cTn id="17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" y="8"/>
                                    </p:animMotion>
                                  </p:childTnLst>
                                </p:cTn>
                              </p:par>
                              <p:par>
                                <p:cTn id="179" presetID="7" presetClass="emph" presetSubtype="2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8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7" presetClass="emph" presetSubtype="2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8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50" presetClass="path" presetSubtype="0" accel="50000" decel="5000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2.75007E-6 3.00833E-6 L 0.03678 3.00833E-6 C 0.05332 3.00833E-6 0.07412 -0.01642 0.07412 -0.02891 L 0.07412 -0.0561 " pathEditMode="relative" rAng="0" ptsTypes="AAAA">
                                      <p:cBhvr>
                                        <p:cTn id="18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" y="-28"/>
                                    </p:animMotion>
                                  </p:childTnLst>
                                </p:cTn>
                              </p:par>
                              <p:par>
                                <p:cTn id="187" presetID="50" presetClass="path" presetSubtype="0" accel="50000" decel="5000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4.88564E-6 -1.88143E-6 L -0.03776 -1.88143E-6 C -0.0547 -1.88143E-6 -0.07537 -0.01617 -0.07537 -0.02842 L -0.07537 -0.05512 " pathEditMode="relative" rAng="0" ptsTypes="AAAA">
                                      <p:cBhvr>
                                        <p:cTn id="18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" y="-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9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9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5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75282E-6 -3.78736E-6 L 0.03996 -3.78736E-6 C 0.05801 -3.78736E-6 0.08019 0.00441 0.08019 0.00809 L 0.08019 0.01642 " pathEditMode="relative" rAng="0" ptsTypes="AAAA">
                                      <p:cBhvr>
                                        <p:cTn id="19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" y="8"/>
                                    </p:animMotion>
                                  </p:childTnLst>
                                </p:cTn>
                              </p:par>
                              <p:par>
                                <p:cTn id="199" presetID="5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84348E-6 -3.65507E-6 L -0.04133 -3.65507E-6 C -0.05993 -3.65507E-6 -0.08253 0.00441 -0.08253 0.00858 L -0.08253 0.01715 " pathEditMode="relative" rAng="0" ptsTypes="AAAA">
                                      <p:cBhvr>
                                        <p:cTn id="200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" y="9"/>
                                    </p:animMotion>
                                  </p:childTnLst>
                                </p:cTn>
                              </p:par>
                              <p:par>
                                <p:cTn id="201" presetID="7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0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7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0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50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1.63406E-6 -3.78736E-6 L 0.03679 -3.78736E-6 C 0.05318 -3.78736E-6 0.07371 -0.01469 0.07371 -0.02621 L 0.07371 -0.05169 " pathEditMode="relative" rAng="0" ptsTypes="AAAA">
                                      <p:cBhvr>
                                        <p:cTn id="20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" y="-26"/>
                                    </p:animMotion>
                                  </p:childTnLst>
                                </p:cTn>
                              </p:par>
                              <p:par>
                                <p:cTn id="209" presetID="50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3.76963E-6 -3.65507E-6 L -0.03803 -3.65507E-6 C -0.05525 -3.65507E-6 -0.07606 -0.01518 -0.07606 -0.02719 L -0.07606 -0.05389 " pathEditMode="relative" rAng="0" ptsTypes="AAAA">
                                      <p:cBhvr>
                                        <p:cTn id="210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" y="-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21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21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5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1962E-6 -3.93435E-6 L 0.0682 -3.93435E-6 C 0.09865 -3.93435E-6 0.13654 0.01544 0.13654 0.02818 L 0.13654 0.05757 " pathEditMode="relative" rAng="0" ptsTypes="AAAA">
                                      <p:cBhvr>
                                        <p:cTn id="22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" y="29"/>
                                    </p:animMotion>
                                  </p:childTnLst>
                                </p:cTn>
                              </p:par>
                              <p:par>
                                <p:cTn id="221" presetID="5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84348E-6 -3.3611E-6 L -0.04188 -3.3611E-6 C -0.0609 -3.3611E-6 -0.08363 0.0147 -0.08363 0.02695 L -0.08363 0.05488 " pathEditMode="relative" rAng="0" ptsTypes="AAAA">
                                      <p:cBhvr>
                                        <p:cTn id="22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" y="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  <p:set>
                                      <p:cBhvr>
                                        <p:cTn id="23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  <p:set>
                                      <p:cBhvr>
                                        <p:cTn id="24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5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88812E-6 -3.93435E-6 L 0.04188 -3.93435E-6 C 0.06089 -3.93435E-6 0.08432 -0.01543 0.08432 -0.02743 L 0.08432 -0.05389 " pathEditMode="relative" rAng="0" ptsTypes="AAAA">
                                      <p:cBhvr>
                                        <p:cTn id="242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" y="-27"/>
                                    </p:animMotion>
                                  </p:childTnLst>
                                </p:cTn>
                              </p:par>
                              <p:par>
                                <p:cTn id="243" presetID="5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43345E-6 1.44047E-6 L -0.07247 1.44047E-6 C -0.10498 1.44047E-6 -0.14494 -0.01593 -0.14494 -0.02891 L -0.14494 -0.05757 " pathEditMode="relative" rAng="0" ptsTypes="AAAA">
                                      <p:cBhvr>
                                        <p:cTn id="24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" y="-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Par">
                      <p:stCondLst>
                        <p:cond delay="indefinite"/>
                      </p:stCondLst>
                      <p:childTnLst>
                        <p:par>
                          <p:cTn id="2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4" dur="500"/>
                                        <p:tgtEl>
                                          <p:spTgt spid="5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Par">
                      <p:stCondLst>
                        <p:cond delay="indefinite"/>
                      </p:stCondLst>
                      <p:childTnLst>
                        <p:par>
                          <p:cTn id="2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 nodeType="clickPar">
                      <p:stCondLst>
                        <p:cond delay="indefinite"/>
                      </p:stCondLst>
                      <p:childTnLst>
                        <p:par>
                          <p:cTn id="2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22" presetClass="entr" presetSubtype="4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6" presetClass="entr" presetSubtype="2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6" presetClass="entr" presetSubtype="2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6" presetClass="entr" presetSubtype="2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6" presetClass="entr" presetSubtype="2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utoUpdateAnimBg="0"/>
      <p:bldP spid="54" grpId="0" animBg="1"/>
      <p:bldP spid="55" grpId="0" animBg="1"/>
      <p:bldP spid="69" grpId="0" animBg="1"/>
      <p:bldP spid="70" grpId="0" animBg="1"/>
      <p:bldP spid="87" grpId="0"/>
      <p:bldP spid="88" grpId="0"/>
      <p:bldP spid="89" grpId="0"/>
      <p:bldP spid="90" grpId="0"/>
      <p:bldP spid="91" grpId="0"/>
      <p:bldP spid="92" grpId="0"/>
      <p:bldP spid="105" grpId="0"/>
      <p:bldP spid="118" grpId="0" animBg="1"/>
      <p:bldP spid="119" grpId="0"/>
      <p:bldP spid="147" grpId="0" autoUpdateAnimBg="0"/>
      <p:bldP spid="55315" grpId="0"/>
      <p:bldP spid="169" grpId="0" animBg="1" autoUpdateAnimBg="0"/>
      <p:bldP spid="170" grpId="0"/>
      <p:bldP spid="171" grpId="0"/>
      <p:bldP spid="17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cfadb383da5ed4d31475c117c99555cab5f1cf9c"/>
</p:tagLst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000000"/>
      </a:accent4>
      <a:accent5>
        <a:srgbClr val="AAAAAA"/>
      </a:accent5>
      <a:accent6>
        <a:srgbClr val="E700E7"/>
      </a:accent6>
      <a:hlink>
        <a:srgbClr val="FF9900"/>
      </a:hlink>
      <a:folHlink>
        <a:srgbClr val="6600FF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医学研究PPT模板">
  <a:themeElements>
    <a:clrScheme name="1_医学研究PPT模板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1_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7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8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AAAAAA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0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医学研究PPT模板</Template>
  <TotalTime>4214</TotalTime>
  <Pages>0</Pages>
  <Words>2013</Words>
  <Characters>0</Characters>
  <Application>Microsoft Office PowerPoint</Application>
  <DocSecurity>0</DocSecurity>
  <PresentationFormat>自定义</PresentationFormat>
  <Lines>0</Lines>
  <Paragraphs>482</Paragraphs>
  <Slides>32</Slides>
  <Notes>30</Notes>
  <HiddenSlides>0</HiddenSlides>
  <MMClips>2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34" baseType="lpstr">
      <vt:lpstr>医学研究PPT模板</vt:lpstr>
      <vt:lpstr>1_医学研究PPT模板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</vt:vector>
  </TitlesOfParts>
  <LinksUpToDate>false</LinksUpToDate>
  <CharactersWithSpaces>0</CharactersWithSpaces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ch08-01分子结构</dc:title>
  <dc:creator>江南大学</dc:creator>
  <cp:lastModifiedBy>ASUS</cp:lastModifiedBy>
  <cp:revision>351</cp:revision>
  <cp:lastPrinted>1601-01-01T00:00:00Z</cp:lastPrinted>
  <dcterms:created xsi:type="dcterms:W3CDTF">2012-06-20T03:37:37Z</dcterms:created>
  <dcterms:modified xsi:type="dcterms:W3CDTF">2017-08-24T03:50:59Z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2052-8.1.0.3089</vt:lpwstr>
  </property>
</Properties>
</file>