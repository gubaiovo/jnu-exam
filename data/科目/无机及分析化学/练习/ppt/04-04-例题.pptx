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5"/>
  </p:notesMasterIdLst>
  <p:sldIdLst>
    <p:sldId id="278" r:id="rId2"/>
    <p:sldId id="279" r:id="rId3"/>
    <p:sldId id="280" r:id="rId4"/>
  </p:sldIdLst>
  <p:sldSz cx="11522075" cy="6480175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FF00"/>
    <a:srgbClr val="F8F8F8"/>
    <a:srgbClr val="66CCFF"/>
    <a:srgbClr val="85D9F7"/>
    <a:srgbClr val="57BBFF"/>
    <a:srgbClr val="000000"/>
    <a:srgbClr val="00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1" autoAdjust="0"/>
    <p:restoredTop sz="94619" autoAdjust="0"/>
  </p:normalViewPr>
  <p:slideViewPr>
    <p:cSldViewPr>
      <p:cViewPr varScale="1">
        <p:scale>
          <a:sx n="70" d="100"/>
          <a:sy n="70" d="100"/>
        </p:scale>
        <p:origin x="-306" y="-108"/>
      </p:cViewPr>
      <p:guideLst>
        <p:guide orient="horz" pos="2029"/>
        <p:guide pos="36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728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Tx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Tx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buFontTx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F160E4D7-440E-47F6-BC3F-E855B1E8E2C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3192" descr="地砖背景1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-20638" y="-17463"/>
            <a:ext cx="11563351" cy="6516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slow">
    <p:split orient="vert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audio" Target="../media/audio2.wav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audio" Target="../media/audio1.wav"/><Relationship Id="rId4" Type="http://schemas.openxmlformats.org/officeDocument/2006/relationships/audio" Target="../media/audio3.wav"/><Relationship Id="rId9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文本框 1"/>
          <p:cNvSpPr txBox="1">
            <a:spLocks noChangeArrowheads="1"/>
          </p:cNvSpPr>
          <p:nvPr/>
        </p:nvSpPr>
        <p:spPr bwMode="auto">
          <a:xfrm>
            <a:off x="207963" y="587375"/>
            <a:ext cx="2757487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2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例</a:t>
            </a:r>
            <a:r>
              <a:rPr lang="en-US" altLang="zh-CN" sz="2200" b="1">
                <a:solidFill>
                  <a:srgbClr val="FFFF00"/>
                </a:solidFill>
                <a:ea typeface="华文新魏" pitchFamily="2" charset="-122"/>
              </a:rPr>
              <a:t>1:</a:t>
            </a:r>
          </a:p>
        </p:txBody>
      </p:sp>
      <p:sp>
        <p:nvSpPr>
          <p:cNvPr id="58381" name="矩形 58380"/>
          <p:cNvSpPr>
            <a:spLocks noChangeArrowheads="1"/>
          </p:cNvSpPr>
          <p:nvPr/>
        </p:nvSpPr>
        <p:spPr bwMode="auto">
          <a:xfrm>
            <a:off x="134938" y="954071"/>
            <a:ext cx="3162300" cy="178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200" b="1" dirty="0">
                <a:ea typeface="华文新魏" pitchFamily="2" charset="-122"/>
              </a:rPr>
              <a:t>测定岩石中</a:t>
            </a:r>
            <a:r>
              <a:rPr lang="en-US" altLang="zh-CN" sz="2200" b="1" dirty="0">
                <a:ea typeface="华文新魏" pitchFamily="2" charset="-122"/>
              </a:rPr>
              <a:t>SiO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zh-CN" altLang="en-US" sz="2200" b="1" dirty="0">
                <a:ea typeface="华文新魏" pitchFamily="2" charset="-122"/>
              </a:rPr>
              <a:t>的含量</a:t>
            </a:r>
            <a:r>
              <a:rPr lang="en-US" altLang="zh-CN" sz="2200" b="1" dirty="0">
                <a:ea typeface="华文新魏" pitchFamily="2" charset="-122"/>
              </a:rPr>
              <a:t>.</a:t>
            </a:r>
            <a:r>
              <a:rPr lang="zh-CN" altLang="en-US" sz="2200" b="1" dirty="0">
                <a:ea typeface="华文新魏" pitchFamily="2" charset="-122"/>
              </a:rPr>
              <a:t>称样</a:t>
            </a:r>
            <a:r>
              <a:rPr lang="en-US" altLang="zh-CN" sz="2200" b="1" dirty="0">
                <a:ea typeface="华文新魏" pitchFamily="2" charset="-122"/>
              </a:rPr>
              <a:t>0.2000g,</a:t>
            </a:r>
            <a:r>
              <a:rPr lang="zh-CN" altLang="en-US" sz="2200" b="1" dirty="0">
                <a:ea typeface="华文新魏" pitchFamily="2" charset="-122"/>
              </a:rPr>
              <a:t>通过反应得到硅胶沉淀</a:t>
            </a:r>
            <a:r>
              <a:rPr lang="en-US" altLang="zh-CN" sz="2200" b="1" dirty="0">
                <a:ea typeface="华文新魏" pitchFamily="2" charset="-122"/>
              </a:rPr>
              <a:t>,</a:t>
            </a:r>
            <a:r>
              <a:rPr lang="zh-CN" altLang="en-US" sz="2200" b="1" dirty="0">
                <a:ea typeface="华文新魏" pitchFamily="2" charset="-122"/>
              </a:rPr>
              <a:t>经一系列过程灼烧得到</a:t>
            </a:r>
            <a:r>
              <a:rPr lang="en-US" altLang="zh-CN" sz="2200" b="1" dirty="0">
                <a:ea typeface="华文新魏" pitchFamily="2" charset="-122"/>
              </a:rPr>
              <a:t>SiO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dirty="0">
                <a:ea typeface="华文新魏" pitchFamily="2" charset="-122"/>
              </a:rPr>
              <a:t> 0.1364g.</a:t>
            </a:r>
            <a:r>
              <a:rPr lang="zh-CN" altLang="en-US" sz="2200" b="1" dirty="0">
                <a:ea typeface="华文新魏" pitchFamily="2" charset="-122"/>
              </a:rPr>
              <a:t>求试样中</a:t>
            </a:r>
            <a:r>
              <a:rPr lang="en-US" altLang="zh-CN" sz="2200" b="1" dirty="0">
                <a:ea typeface="华文新魏" pitchFamily="2" charset="-122"/>
              </a:rPr>
              <a:t>SiO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zh-CN" altLang="en-US" sz="2200" b="1" dirty="0">
                <a:ea typeface="华文新魏" pitchFamily="2" charset="-122"/>
              </a:rPr>
              <a:t>质量分数</a:t>
            </a:r>
            <a:r>
              <a:rPr lang="en-US" altLang="zh-CN" sz="2200" b="1" dirty="0">
                <a:ea typeface="华文新魏" pitchFamily="2" charset="-122"/>
              </a:rPr>
              <a:t>.</a:t>
            </a:r>
            <a:endParaRPr lang="en-US" altLang="zh-CN" sz="2200" b="1" dirty="0">
              <a:solidFill>
                <a:schemeClr val="accent2"/>
              </a:solidFill>
              <a:ea typeface="华文新魏" pitchFamily="2" charset="-122"/>
            </a:endParaRPr>
          </a:p>
        </p:txBody>
      </p:sp>
      <p:sp>
        <p:nvSpPr>
          <p:cNvPr id="88070" name="矩形 88069"/>
          <p:cNvSpPr/>
          <p:nvPr/>
        </p:nvSpPr>
        <p:spPr>
          <a:xfrm>
            <a:off x="4238625" y="623872"/>
            <a:ext cx="608013" cy="4730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auto">
              <a:defRPr/>
            </a:pPr>
            <a:r>
              <a:rPr lang="zh-CN" altLang="en-US" sz="2500" b="1" noProof="1">
                <a:solidFill>
                  <a:srgbClr val="FFFF00"/>
                </a:solidFill>
                <a:ea typeface="华文新魏" pitchFamily="2" charset="-122"/>
              </a:rPr>
              <a:t>解</a:t>
            </a:r>
            <a:r>
              <a:rPr lang="en-US" altLang="zh-CN" sz="2500" b="1" noProof="1">
                <a:solidFill>
                  <a:srgbClr val="FFFF00"/>
                </a:solidFill>
                <a:ea typeface="华文新魏" pitchFamily="2" charset="-122"/>
              </a:rPr>
              <a:t>:</a:t>
            </a:r>
            <a:endParaRPr lang="en-US" altLang="zh-CN" sz="2500" b="1" noProof="1">
              <a:solidFill>
                <a:srgbClr val="FFFF00"/>
              </a:solidFill>
              <a:effectLst>
                <a:outerShdw blurRad="38100" dist="38100" dir="2700000">
                  <a:srgbClr val="000000"/>
                </a:outerShdw>
              </a:effectLst>
              <a:ea typeface="华文新魏" pitchFamily="2" charset="-122"/>
            </a:endParaRPr>
          </a:p>
        </p:txBody>
      </p:sp>
      <p:sp>
        <p:nvSpPr>
          <p:cNvPr id="59412" name="矩形 59411"/>
          <p:cNvSpPr>
            <a:spLocks noChangeArrowheads="1"/>
          </p:cNvSpPr>
          <p:nvPr/>
        </p:nvSpPr>
        <p:spPr bwMode="auto">
          <a:xfrm>
            <a:off x="5370513" y="896938"/>
            <a:ext cx="3422650" cy="1246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 dirty="0">
                <a:ea typeface="华文新魏" pitchFamily="2" charset="-122"/>
                <a:sym typeface="Symbol" pitchFamily="18" charset="2"/>
              </a:rPr>
              <a:t>w</a:t>
            </a:r>
            <a:r>
              <a:rPr lang="en-US" altLang="zh-CN" sz="2500" b="1" dirty="0">
                <a:ea typeface="华文新魏" pitchFamily="2" charset="-122"/>
              </a:rPr>
              <a:t>(SiO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dirty="0">
                <a:ea typeface="华文新魏" pitchFamily="2" charset="-122"/>
              </a:rPr>
              <a:t>) = </a:t>
            </a:r>
            <a:r>
              <a:rPr lang="en-US" altLang="zh-CN" sz="2500" b="1" i="1" dirty="0">
                <a:ea typeface="华文新魏" pitchFamily="2" charset="-122"/>
              </a:rPr>
              <a:t>m</a:t>
            </a:r>
            <a:r>
              <a:rPr lang="en-US" altLang="zh-CN" sz="2500" b="1" dirty="0">
                <a:ea typeface="华文新魏" pitchFamily="2" charset="-122"/>
              </a:rPr>
              <a:t>(SiO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dirty="0">
                <a:ea typeface="华文新魏" pitchFamily="2" charset="-122"/>
              </a:rPr>
              <a:t>)/</a:t>
            </a:r>
            <a:r>
              <a:rPr lang="en-US" altLang="zh-CN" sz="2500" b="1" i="1" dirty="0">
                <a:ea typeface="华文新魏" pitchFamily="2" charset="-122"/>
              </a:rPr>
              <a:t>m</a:t>
            </a:r>
            <a:r>
              <a:rPr lang="en-US" altLang="zh-CN" sz="2500" b="1" baseline="-25000" dirty="0">
                <a:ea typeface="华文新魏" pitchFamily="2" charset="-122"/>
              </a:rPr>
              <a:t>s</a:t>
            </a:r>
            <a:endParaRPr lang="en-US" altLang="zh-CN" sz="2500" b="1" dirty="0">
              <a:ea typeface="华文新魏" pitchFamily="2" charset="-122"/>
            </a:endParaRPr>
          </a:p>
          <a:p>
            <a:r>
              <a:rPr lang="en-US" altLang="zh-CN" sz="2500" b="1" dirty="0">
                <a:ea typeface="华文新魏" pitchFamily="2" charset="-122"/>
              </a:rPr>
              <a:t>              = 0.1364/0.2000</a:t>
            </a:r>
          </a:p>
          <a:p>
            <a:r>
              <a:rPr lang="en-US" altLang="zh-CN" sz="2500" b="1" dirty="0">
                <a:ea typeface="华文新魏" pitchFamily="2" charset="-122"/>
              </a:rPr>
              <a:t>              = 68.20</a:t>
            </a:r>
          </a:p>
        </p:txBody>
      </p:sp>
      <p:sp>
        <p:nvSpPr>
          <p:cNvPr id="3078" name="椭圆 58396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41075" y="5688013"/>
            <a:ext cx="360363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59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59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59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34000"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0" grpId="0"/>
      <p:bldP spid="59412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文本框 1"/>
          <p:cNvSpPr txBox="1">
            <a:spLocks noChangeArrowheads="1"/>
          </p:cNvSpPr>
          <p:nvPr/>
        </p:nvSpPr>
        <p:spPr bwMode="auto">
          <a:xfrm>
            <a:off x="207963" y="587375"/>
            <a:ext cx="2757487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2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例</a:t>
            </a:r>
            <a:r>
              <a:rPr lang="en-US" altLang="zh-CN" sz="2200" b="1">
                <a:solidFill>
                  <a:srgbClr val="FFFF00"/>
                </a:solidFill>
                <a:ea typeface="华文新魏" pitchFamily="2" charset="-122"/>
              </a:rPr>
              <a:t>2:</a:t>
            </a:r>
          </a:p>
        </p:txBody>
      </p:sp>
      <p:sp>
        <p:nvSpPr>
          <p:cNvPr id="58381" name="矩形 58380"/>
          <p:cNvSpPr>
            <a:spLocks noChangeArrowheads="1"/>
          </p:cNvSpPr>
          <p:nvPr/>
        </p:nvSpPr>
        <p:spPr bwMode="auto">
          <a:xfrm>
            <a:off x="241283" y="1008057"/>
            <a:ext cx="3162300" cy="1446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200" b="1" dirty="0">
                <a:ea typeface="华文新魏" pitchFamily="2" charset="-122"/>
              </a:rPr>
              <a:t>以重量法测定某试样中的铁</a:t>
            </a:r>
            <a:r>
              <a:rPr lang="en-US" altLang="zh-CN" sz="2200" b="1" dirty="0">
                <a:ea typeface="华文新魏" pitchFamily="2" charset="-122"/>
              </a:rPr>
              <a:t>.</a:t>
            </a:r>
            <a:r>
              <a:rPr lang="zh-CN" altLang="en-US" sz="2200" b="1" dirty="0">
                <a:ea typeface="华文新魏" pitchFamily="2" charset="-122"/>
              </a:rPr>
              <a:t>称样</a:t>
            </a:r>
            <a:r>
              <a:rPr lang="en-US" altLang="zh-CN" sz="2200" b="1" dirty="0">
                <a:ea typeface="华文新魏" pitchFamily="2" charset="-122"/>
              </a:rPr>
              <a:t>0.1666g,</a:t>
            </a:r>
            <a:r>
              <a:rPr lang="zh-CN" altLang="en-US" sz="2200" b="1" dirty="0">
                <a:ea typeface="华文新魏" pitchFamily="2" charset="-122"/>
              </a:rPr>
              <a:t>得</a:t>
            </a:r>
            <a:r>
              <a:rPr lang="en-US" altLang="zh-CN" sz="2200" b="1" dirty="0">
                <a:ea typeface="华文新魏" pitchFamily="2" charset="-122"/>
              </a:rPr>
              <a:t>Fe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dirty="0">
                <a:ea typeface="华文新魏" pitchFamily="2" charset="-122"/>
              </a:rPr>
              <a:t>O</a:t>
            </a:r>
            <a:r>
              <a:rPr lang="en-US" altLang="zh-CN" sz="2200" b="1" baseline="-25000" dirty="0">
                <a:ea typeface="华文新魏" pitchFamily="2" charset="-122"/>
              </a:rPr>
              <a:t>3 </a:t>
            </a:r>
            <a:r>
              <a:rPr lang="en-US" altLang="zh-CN" sz="2200" b="1" dirty="0">
                <a:ea typeface="华文新魏" pitchFamily="2" charset="-122"/>
              </a:rPr>
              <a:t>0.1370g.</a:t>
            </a:r>
            <a:r>
              <a:rPr lang="zh-CN" altLang="en-US" sz="2200" b="1" dirty="0">
                <a:ea typeface="华文新魏" pitchFamily="2" charset="-122"/>
              </a:rPr>
              <a:t>求试样中</a:t>
            </a:r>
            <a:r>
              <a:rPr lang="en-US" altLang="zh-CN" sz="2200" b="1" i="1" dirty="0">
                <a:ea typeface="华文新魏" pitchFamily="2" charset="-122"/>
                <a:sym typeface="Symbol" pitchFamily="18" charset="2"/>
              </a:rPr>
              <a:t>w</a:t>
            </a:r>
            <a:r>
              <a:rPr lang="en-US" altLang="zh-CN" sz="2200" b="1" dirty="0">
                <a:ea typeface="华文新魏" pitchFamily="2" charset="-122"/>
              </a:rPr>
              <a:t>(Fe)</a:t>
            </a:r>
            <a:r>
              <a:rPr lang="zh-CN" altLang="en-US" sz="2200" b="1" dirty="0">
                <a:ea typeface="华文新魏" pitchFamily="2" charset="-122"/>
              </a:rPr>
              <a:t>、</a:t>
            </a:r>
            <a:r>
              <a:rPr lang="en-US" altLang="zh-CN" sz="2200" b="1" i="1" dirty="0">
                <a:ea typeface="华文新魏" pitchFamily="2" charset="-122"/>
                <a:sym typeface="Symbol" pitchFamily="18" charset="2"/>
              </a:rPr>
              <a:t>w</a:t>
            </a:r>
            <a:r>
              <a:rPr lang="en-US" altLang="zh-CN" sz="2200" b="1" dirty="0">
                <a:ea typeface="华文新魏" pitchFamily="2" charset="-122"/>
              </a:rPr>
              <a:t>(Fe</a:t>
            </a:r>
            <a:r>
              <a:rPr lang="en-US" altLang="zh-CN" sz="2200" b="1" baseline="-25000" dirty="0">
                <a:ea typeface="华文新魏" pitchFamily="2" charset="-122"/>
              </a:rPr>
              <a:t>3</a:t>
            </a:r>
            <a:r>
              <a:rPr lang="en-US" altLang="zh-CN" sz="2200" b="1" dirty="0">
                <a:ea typeface="华文新魏" pitchFamily="2" charset="-122"/>
              </a:rPr>
              <a:t>O</a:t>
            </a:r>
            <a:r>
              <a:rPr lang="en-US" altLang="zh-CN" sz="2200" b="1" baseline="-25000" dirty="0">
                <a:ea typeface="华文新魏" pitchFamily="2" charset="-122"/>
              </a:rPr>
              <a:t>4</a:t>
            </a:r>
            <a:r>
              <a:rPr lang="en-US" altLang="zh-CN" sz="2200" b="1" dirty="0">
                <a:ea typeface="华文新魏" pitchFamily="2" charset="-122"/>
              </a:rPr>
              <a:t>). </a:t>
            </a:r>
            <a:endParaRPr lang="en-US" altLang="zh-CN" sz="2200" b="1" dirty="0">
              <a:solidFill>
                <a:schemeClr val="accent2"/>
              </a:solidFill>
              <a:ea typeface="华文新魏" pitchFamily="2" charset="-122"/>
            </a:endParaRPr>
          </a:p>
        </p:txBody>
      </p:sp>
      <p:sp>
        <p:nvSpPr>
          <p:cNvPr id="88070" name="矩形 88069"/>
          <p:cNvSpPr/>
          <p:nvPr/>
        </p:nvSpPr>
        <p:spPr>
          <a:xfrm>
            <a:off x="3903649" y="623872"/>
            <a:ext cx="608012" cy="4730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auto">
              <a:defRPr/>
            </a:pPr>
            <a:r>
              <a:rPr lang="zh-CN" altLang="en-US" sz="2500" b="1" noProof="1">
                <a:solidFill>
                  <a:srgbClr val="FFFF00"/>
                </a:solidFill>
                <a:ea typeface="华文新魏" pitchFamily="2" charset="-122"/>
              </a:rPr>
              <a:t>解</a:t>
            </a:r>
            <a:r>
              <a:rPr lang="en-US" altLang="zh-CN" sz="2500" b="1" noProof="1">
                <a:solidFill>
                  <a:srgbClr val="FFFF00"/>
                </a:solidFill>
                <a:ea typeface="华文新魏" pitchFamily="2" charset="-122"/>
              </a:rPr>
              <a:t>:</a:t>
            </a:r>
            <a:endParaRPr lang="en-US" altLang="zh-CN" sz="2500" b="1" noProof="1">
              <a:solidFill>
                <a:srgbClr val="FFFF00"/>
              </a:solidFill>
              <a:effectLst>
                <a:outerShdw blurRad="38100" dist="38100" dir="2700000">
                  <a:srgbClr val="000000"/>
                </a:outerShdw>
              </a:effectLst>
              <a:ea typeface="华文新魏" pitchFamily="2" charset="-122"/>
            </a:endParaRPr>
          </a:p>
        </p:txBody>
      </p:sp>
      <p:graphicFrame>
        <p:nvGraphicFramePr>
          <p:cNvPr id="55314" name="对象 55313"/>
          <p:cNvGraphicFramePr>
            <a:graphicFrameLocks/>
          </p:cNvGraphicFramePr>
          <p:nvPr/>
        </p:nvGraphicFramePr>
        <p:xfrm>
          <a:off x="8689975" y="1454150"/>
          <a:ext cx="2597150" cy="923925"/>
        </p:xfrm>
        <a:graphic>
          <a:graphicData uri="http://schemas.openxmlformats.org/presentationml/2006/ole">
            <p:oleObj spid="_x0000_s1026" r:id="rId6" imgW="1294838" imgH="571252" progId="Equation.3">
              <p:embed/>
            </p:oleObj>
          </a:graphicData>
        </a:graphic>
      </p:graphicFrame>
      <p:graphicFrame>
        <p:nvGraphicFramePr>
          <p:cNvPr id="55316" name="对象 55315"/>
          <p:cNvGraphicFramePr>
            <a:graphicFrameLocks/>
          </p:cNvGraphicFramePr>
          <p:nvPr/>
        </p:nvGraphicFramePr>
        <p:xfrm>
          <a:off x="5280025" y="3889375"/>
          <a:ext cx="2854325" cy="1258888"/>
        </p:xfrm>
        <a:graphic>
          <a:graphicData uri="http://schemas.openxmlformats.org/presentationml/2006/ole">
            <p:oleObj spid="_x0000_s1027" r:id="rId7" imgW="1294838" imgH="571252" progId="Equation.3">
              <p:embed/>
            </p:oleObj>
          </a:graphicData>
        </a:graphic>
      </p:graphicFrame>
      <p:sp>
        <p:nvSpPr>
          <p:cNvPr id="55317" name="矩形 55316"/>
          <p:cNvSpPr/>
          <p:nvPr/>
        </p:nvSpPr>
        <p:spPr>
          <a:xfrm>
            <a:off x="8088313" y="4464050"/>
            <a:ext cx="1489075" cy="4778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noProof="1">
                <a:ea typeface="华文新魏" pitchFamily="2" charset="-122"/>
                <a:cs typeface="+mn-ea"/>
              </a:rPr>
              <a:t>= 79.49%</a:t>
            </a:r>
            <a:endParaRPr lang="en-US" altLang="zh-CN" sz="2500" b="1" noProof="1">
              <a:ea typeface="华文新魏" pitchFamily="2" charset="-122"/>
            </a:endParaRPr>
          </a:p>
        </p:txBody>
      </p:sp>
      <p:sp>
        <p:nvSpPr>
          <p:cNvPr id="55327" name="矩形 55326"/>
          <p:cNvSpPr/>
          <p:nvPr/>
        </p:nvSpPr>
        <p:spPr>
          <a:xfrm>
            <a:off x="3733800" y="1728788"/>
            <a:ext cx="1214438" cy="4778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i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w</a:t>
            </a:r>
            <a:r>
              <a:rPr lang="en-US" altLang="zh-CN" sz="2500" b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(Fe) =</a:t>
            </a:r>
            <a:endParaRPr lang="en-US" altLang="zh-CN" sz="2500" b="1" noProof="1">
              <a:ea typeface="华文新魏" pitchFamily="2" charset="-122"/>
              <a:sym typeface="Symbol" panose="05050102010706020507" pitchFamily="18" charset="2"/>
            </a:endParaRPr>
          </a:p>
        </p:txBody>
      </p:sp>
      <p:sp>
        <p:nvSpPr>
          <p:cNvPr id="55328" name="矩形 55327"/>
          <p:cNvSpPr/>
          <p:nvPr/>
        </p:nvSpPr>
        <p:spPr>
          <a:xfrm>
            <a:off x="4884738" y="1404938"/>
            <a:ext cx="1774825" cy="4778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i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m</a:t>
            </a:r>
            <a:r>
              <a:rPr lang="en-US" altLang="zh-CN" sz="2500" b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(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Fe</a:t>
            </a:r>
            <a:r>
              <a:rPr lang="en-US" altLang="zh-CN" sz="2500" b="1" baseline="-25000" noProof="1">
                <a:ea typeface="华文新魏" pitchFamily="2" charset="-122"/>
                <a:cs typeface="+mn-ea"/>
              </a:rPr>
              <a:t>2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O</a:t>
            </a:r>
            <a:r>
              <a:rPr lang="en-US" altLang="zh-CN" sz="2500" b="1" baseline="-25000" noProof="1">
                <a:ea typeface="华文新魏" pitchFamily="2" charset="-122"/>
                <a:cs typeface="+mn-ea"/>
              </a:rPr>
              <a:t>3</a:t>
            </a:r>
            <a:r>
              <a:rPr lang="en-US" altLang="zh-CN" sz="2500" b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)×</a:t>
            </a:r>
            <a:endParaRPr lang="en-US" altLang="zh-CN" sz="2500" b="1" noProof="1">
              <a:ea typeface="华文新魏" pitchFamily="2" charset="-122"/>
              <a:sym typeface="Symbol" panose="05050102010706020507" pitchFamily="18" charset="2"/>
            </a:endParaRPr>
          </a:p>
        </p:txBody>
      </p:sp>
      <p:sp>
        <p:nvSpPr>
          <p:cNvPr id="55329" name="矩形 55328"/>
          <p:cNvSpPr/>
          <p:nvPr/>
        </p:nvSpPr>
        <p:spPr>
          <a:xfrm>
            <a:off x="6505575" y="1908175"/>
            <a:ext cx="623888" cy="477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500" b="1" i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m</a:t>
            </a:r>
            <a:r>
              <a:rPr lang="en-US" altLang="zh-CN" sz="2500" b="1" baseline="-25000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s</a:t>
            </a:r>
            <a:endParaRPr lang="en-US" altLang="zh-CN" sz="2500" b="1" baseline="-25000" noProof="1">
              <a:ea typeface="华文新魏" pitchFamily="2" charset="-122"/>
              <a:sym typeface="Symbol" panose="05050102010706020507" pitchFamily="18" charset="2"/>
            </a:endParaRPr>
          </a:p>
        </p:txBody>
      </p:sp>
      <p:sp>
        <p:nvSpPr>
          <p:cNvPr id="55330" name="直接连接符 55329"/>
          <p:cNvSpPr>
            <a:spLocks noChangeShapeType="1"/>
          </p:cNvSpPr>
          <p:nvPr/>
        </p:nvSpPr>
        <p:spPr bwMode="auto">
          <a:xfrm>
            <a:off x="5029200" y="2016125"/>
            <a:ext cx="3778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343" name="矩形 55342"/>
          <p:cNvSpPr/>
          <p:nvPr/>
        </p:nvSpPr>
        <p:spPr>
          <a:xfrm>
            <a:off x="7116763" y="1333500"/>
            <a:ext cx="665162" cy="4778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noProof="1">
                <a:ea typeface="华文新魏" pitchFamily="2" charset="-122"/>
                <a:cs typeface="+mn-ea"/>
              </a:rPr>
              <a:t>×2</a:t>
            </a:r>
            <a:endParaRPr lang="en-US" altLang="zh-CN" sz="2500" b="1" noProof="1">
              <a:ea typeface="华文新魏" pitchFamily="2" charset="-122"/>
            </a:endParaRPr>
          </a:p>
        </p:txBody>
      </p:sp>
      <p:sp>
        <p:nvSpPr>
          <p:cNvPr id="55334" name="矩形 55333"/>
          <p:cNvSpPr/>
          <p:nvPr/>
        </p:nvSpPr>
        <p:spPr>
          <a:xfrm>
            <a:off x="3733800" y="3206750"/>
            <a:ext cx="1677988" cy="4778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i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w</a:t>
            </a:r>
            <a:r>
              <a:rPr lang="en-US" altLang="zh-CN" sz="2500" b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(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Fe</a:t>
            </a:r>
            <a:r>
              <a:rPr lang="en-US" altLang="zh-CN" sz="2500" b="1" baseline="-25000" noProof="1">
                <a:ea typeface="华文新魏" pitchFamily="2" charset="-122"/>
                <a:cs typeface="+mn-ea"/>
              </a:rPr>
              <a:t>3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O</a:t>
            </a:r>
            <a:r>
              <a:rPr lang="en-US" altLang="zh-CN" sz="2500" b="1" baseline="-25000" noProof="1">
                <a:ea typeface="华文新魏" pitchFamily="2" charset="-122"/>
                <a:cs typeface="+mn-ea"/>
              </a:rPr>
              <a:t>4</a:t>
            </a:r>
            <a:r>
              <a:rPr lang="en-US" altLang="zh-CN" sz="2500" b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) =</a:t>
            </a:r>
            <a:endParaRPr lang="en-US" altLang="zh-CN" sz="2500" b="1" noProof="1">
              <a:ea typeface="华文新魏" pitchFamily="2" charset="-122"/>
              <a:sym typeface="Symbol" panose="05050102010706020507" pitchFamily="18" charset="2"/>
            </a:endParaRPr>
          </a:p>
        </p:txBody>
      </p:sp>
      <p:sp>
        <p:nvSpPr>
          <p:cNvPr id="55335" name="矩形 55334"/>
          <p:cNvSpPr/>
          <p:nvPr/>
        </p:nvSpPr>
        <p:spPr>
          <a:xfrm>
            <a:off x="5603875" y="2881313"/>
            <a:ext cx="1774825" cy="4778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i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m</a:t>
            </a:r>
            <a:r>
              <a:rPr lang="en-US" altLang="zh-CN" sz="2500" b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(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Fe</a:t>
            </a:r>
            <a:r>
              <a:rPr lang="en-US" altLang="zh-CN" sz="2500" b="1" baseline="-25000" noProof="1">
                <a:ea typeface="华文新魏" pitchFamily="2" charset="-122"/>
                <a:cs typeface="+mn-ea"/>
              </a:rPr>
              <a:t>2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O</a:t>
            </a:r>
            <a:r>
              <a:rPr lang="en-US" altLang="zh-CN" sz="2500" b="1" baseline="-25000" noProof="1">
                <a:ea typeface="华文新魏" pitchFamily="2" charset="-122"/>
                <a:cs typeface="+mn-ea"/>
              </a:rPr>
              <a:t>3</a:t>
            </a:r>
            <a:r>
              <a:rPr lang="en-US" altLang="zh-CN" sz="2500" b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)×</a:t>
            </a:r>
            <a:endParaRPr lang="en-US" altLang="zh-CN" sz="2500" b="1" noProof="1">
              <a:ea typeface="华文新魏" pitchFamily="2" charset="-122"/>
              <a:sym typeface="Symbol" panose="05050102010706020507" pitchFamily="18" charset="2"/>
            </a:endParaRPr>
          </a:p>
        </p:txBody>
      </p:sp>
      <p:sp>
        <p:nvSpPr>
          <p:cNvPr id="55339" name="直接连接符 55338"/>
          <p:cNvSpPr>
            <a:spLocks noChangeShapeType="1"/>
          </p:cNvSpPr>
          <p:nvPr/>
        </p:nvSpPr>
        <p:spPr bwMode="auto">
          <a:xfrm>
            <a:off x="5568950" y="3457575"/>
            <a:ext cx="4965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340" name="矩形 55339"/>
          <p:cNvSpPr/>
          <p:nvPr/>
        </p:nvSpPr>
        <p:spPr>
          <a:xfrm>
            <a:off x="7620000" y="3386138"/>
            <a:ext cx="766763" cy="477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500" b="1" i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m</a:t>
            </a:r>
            <a:r>
              <a:rPr lang="en-US" altLang="zh-CN" sz="2500" b="1" baseline="-25000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s</a:t>
            </a:r>
            <a:endParaRPr lang="en-US" altLang="zh-CN" sz="2500" b="1" baseline="-25000" noProof="1">
              <a:ea typeface="华文新魏" pitchFamily="2" charset="-122"/>
              <a:sym typeface="Symbol" panose="05050102010706020507" pitchFamily="18" charset="2"/>
            </a:endParaRPr>
          </a:p>
        </p:txBody>
      </p:sp>
      <p:sp>
        <p:nvSpPr>
          <p:cNvPr id="55344" name="矩形 55343"/>
          <p:cNvSpPr/>
          <p:nvPr/>
        </p:nvSpPr>
        <p:spPr>
          <a:xfrm>
            <a:off x="8304213" y="2809875"/>
            <a:ext cx="665162" cy="4778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noProof="1">
                <a:ea typeface="华文新魏" pitchFamily="2" charset="-122"/>
                <a:cs typeface="+mn-ea"/>
              </a:rPr>
              <a:t>×2</a:t>
            </a:r>
            <a:endParaRPr lang="en-US" altLang="zh-CN" sz="2500" b="1" noProof="1">
              <a:ea typeface="华文新魏" pitchFamily="2" charset="-122"/>
            </a:endParaRPr>
          </a:p>
        </p:txBody>
      </p:sp>
      <p:sp>
        <p:nvSpPr>
          <p:cNvPr id="55338" name="矩形 55337"/>
          <p:cNvSpPr/>
          <p:nvPr/>
        </p:nvSpPr>
        <p:spPr>
          <a:xfrm>
            <a:off x="9094788" y="2846388"/>
            <a:ext cx="1076325" cy="4778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i="1" noProof="1">
                <a:ea typeface="华文新魏" pitchFamily="2" charset="-122"/>
                <a:cs typeface="+mn-ea"/>
              </a:rPr>
              <a:t>M</a:t>
            </a:r>
            <a:r>
              <a:rPr lang="en-US" altLang="zh-CN" sz="2500" b="1" baseline="-25000" noProof="1">
                <a:ea typeface="华文新魏" pitchFamily="2" charset="-122"/>
                <a:cs typeface="+mn-ea"/>
              </a:rPr>
              <a:t>Fe</a:t>
            </a:r>
            <a:r>
              <a:rPr lang="en-US" altLang="zh-CN" sz="2500" b="1" baseline="-40000" noProof="1">
                <a:ea typeface="华文新魏" pitchFamily="2" charset="-122"/>
                <a:cs typeface="+mn-ea"/>
              </a:rPr>
              <a:t>2</a:t>
            </a:r>
            <a:r>
              <a:rPr lang="en-US" altLang="zh-CN" sz="2500" b="1" baseline="-25000" noProof="1">
                <a:ea typeface="华文新魏" pitchFamily="2" charset="-122"/>
                <a:cs typeface="+mn-ea"/>
              </a:rPr>
              <a:t>O</a:t>
            </a:r>
            <a:r>
              <a:rPr lang="en-US" altLang="zh-CN" sz="2500" b="1" baseline="-40000" noProof="1">
                <a:ea typeface="华文新魏" pitchFamily="2" charset="-122"/>
                <a:cs typeface="+mn-ea"/>
              </a:rPr>
              <a:t>3</a:t>
            </a:r>
            <a:endParaRPr lang="en-US" altLang="zh-CN" sz="2500" b="1" baseline="-40000" noProof="1">
              <a:ea typeface="华文新魏" pitchFamily="2" charset="-122"/>
            </a:endParaRPr>
          </a:p>
        </p:txBody>
      </p:sp>
      <p:sp>
        <p:nvSpPr>
          <p:cNvPr id="55345" name="矩形 55344"/>
          <p:cNvSpPr/>
          <p:nvPr/>
        </p:nvSpPr>
        <p:spPr>
          <a:xfrm>
            <a:off x="9923463" y="2809875"/>
            <a:ext cx="665162" cy="4778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noProof="1">
                <a:ea typeface="华文新魏" pitchFamily="2" charset="-122"/>
                <a:cs typeface="+mn-ea"/>
              </a:rPr>
              <a:t>×3</a:t>
            </a:r>
            <a:endParaRPr lang="en-US" altLang="zh-CN" sz="2500" b="1" noProof="1">
              <a:ea typeface="华文新魏" pitchFamily="2" charset="-122"/>
            </a:endParaRPr>
          </a:p>
        </p:txBody>
      </p:sp>
      <p:sp>
        <p:nvSpPr>
          <p:cNvPr id="55359" name="矩形 55358"/>
          <p:cNvSpPr/>
          <p:nvPr/>
        </p:nvSpPr>
        <p:spPr>
          <a:xfrm>
            <a:off x="7151688" y="2809875"/>
            <a:ext cx="1452562" cy="4778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i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m</a:t>
            </a:r>
            <a:r>
              <a:rPr lang="en-US" altLang="zh-CN" sz="2500" b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(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Fe</a:t>
            </a:r>
            <a:r>
              <a:rPr lang="en-US" altLang="zh-CN" sz="2500" b="1" baseline="-25000" noProof="1">
                <a:ea typeface="华文新魏" pitchFamily="2" charset="-122"/>
                <a:cs typeface="+mn-ea"/>
              </a:rPr>
              <a:t>3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O</a:t>
            </a:r>
            <a:r>
              <a:rPr lang="en-US" altLang="zh-CN" sz="2500" b="1" baseline="-25000" noProof="1">
                <a:ea typeface="华文新魏" pitchFamily="2" charset="-122"/>
                <a:cs typeface="+mn-ea"/>
              </a:rPr>
              <a:t>4</a:t>
            </a:r>
            <a:r>
              <a:rPr lang="en-US" altLang="zh-CN" sz="2500" b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)</a:t>
            </a:r>
            <a:endParaRPr lang="en-US" altLang="zh-CN" sz="2500" b="1" noProof="1">
              <a:ea typeface="华文新魏" pitchFamily="2" charset="-122"/>
              <a:sym typeface="Symbol" panose="05050102010706020507" pitchFamily="18" charset="2"/>
            </a:endParaRPr>
          </a:p>
        </p:txBody>
      </p:sp>
      <p:sp>
        <p:nvSpPr>
          <p:cNvPr id="55358" name="矩形 55357"/>
          <p:cNvSpPr/>
          <p:nvPr/>
        </p:nvSpPr>
        <p:spPr>
          <a:xfrm>
            <a:off x="6362700" y="1354138"/>
            <a:ext cx="987425" cy="4778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i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m</a:t>
            </a:r>
            <a:r>
              <a:rPr lang="en-US" altLang="zh-CN" sz="2500" b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(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Fe</a:t>
            </a:r>
            <a:r>
              <a:rPr lang="en-US" altLang="zh-CN" sz="2500" b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)</a:t>
            </a:r>
            <a:endParaRPr lang="en-US" altLang="zh-CN" sz="2500" b="1" noProof="1">
              <a:ea typeface="华文新魏" pitchFamily="2" charset="-122"/>
              <a:sym typeface="Symbol" panose="05050102010706020507" pitchFamily="18" charset="2"/>
            </a:endParaRPr>
          </a:p>
        </p:txBody>
      </p:sp>
      <p:sp>
        <p:nvSpPr>
          <p:cNvPr id="55331" name="矩形 55330"/>
          <p:cNvSpPr>
            <a:spLocks noChangeArrowheads="1"/>
          </p:cNvSpPr>
          <p:nvPr/>
        </p:nvSpPr>
        <p:spPr bwMode="auto">
          <a:xfrm>
            <a:off x="6473825" y="1389063"/>
            <a:ext cx="7540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i="1">
                <a:ea typeface="华文新魏" pitchFamily="2" charset="-122"/>
              </a:rPr>
              <a:t>M</a:t>
            </a:r>
            <a:r>
              <a:rPr lang="en-US" altLang="zh-CN" sz="2800" b="1" baseline="-25000">
                <a:ea typeface="华文新魏" pitchFamily="2" charset="-122"/>
              </a:rPr>
              <a:t>Fe</a:t>
            </a:r>
          </a:p>
        </p:txBody>
      </p:sp>
      <p:sp>
        <p:nvSpPr>
          <p:cNvPr id="55341" name="直接连接符 55340"/>
          <p:cNvSpPr>
            <a:spLocks noChangeShapeType="1"/>
          </p:cNvSpPr>
          <p:nvPr/>
        </p:nvSpPr>
        <p:spPr bwMode="auto">
          <a:xfrm flipH="1">
            <a:off x="7467600" y="155575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333" name="矩形 55332"/>
          <p:cNvSpPr/>
          <p:nvPr/>
        </p:nvSpPr>
        <p:spPr>
          <a:xfrm>
            <a:off x="7693025" y="1476375"/>
            <a:ext cx="1076325" cy="4778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i="1" noProof="1">
                <a:ea typeface="华文新魏" pitchFamily="2" charset="-122"/>
                <a:cs typeface="+mn-ea"/>
              </a:rPr>
              <a:t>M</a:t>
            </a:r>
            <a:r>
              <a:rPr lang="en-US" altLang="zh-CN" sz="2500" b="1" baseline="-25000" noProof="1">
                <a:ea typeface="华文新魏" pitchFamily="2" charset="-122"/>
                <a:cs typeface="+mn-ea"/>
              </a:rPr>
              <a:t>Fe</a:t>
            </a:r>
            <a:r>
              <a:rPr lang="en-US" altLang="zh-CN" sz="2500" b="1" baseline="-40000" noProof="1">
                <a:ea typeface="华文新魏" pitchFamily="2" charset="-122"/>
                <a:cs typeface="+mn-ea"/>
              </a:rPr>
              <a:t>2</a:t>
            </a:r>
            <a:r>
              <a:rPr lang="en-US" altLang="zh-CN" sz="2500" b="1" baseline="-25000" noProof="1">
                <a:ea typeface="华文新魏" pitchFamily="2" charset="-122"/>
                <a:cs typeface="+mn-ea"/>
              </a:rPr>
              <a:t>O</a:t>
            </a:r>
            <a:r>
              <a:rPr lang="en-US" altLang="zh-CN" sz="2500" b="1" baseline="-40000" noProof="1">
                <a:ea typeface="华文新魏" pitchFamily="2" charset="-122"/>
                <a:cs typeface="+mn-ea"/>
              </a:rPr>
              <a:t>3</a:t>
            </a:r>
            <a:endParaRPr lang="en-US" altLang="zh-CN" sz="2500" b="1" baseline="-40000" noProof="1">
              <a:ea typeface="华文新魏" pitchFamily="2" charset="-122"/>
            </a:endParaRPr>
          </a:p>
        </p:txBody>
      </p:sp>
      <p:sp>
        <p:nvSpPr>
          <p:cNvPr id="2" name="直接连接符 1"/>
          <p:cNvSpPr>
            <a:spLocks noChangeShapeType="1"/>
          </p:cNvSpPr>
          <p:nvPr/>
        </p:nvSpPr>
        <p:spPr bwMode="auto">
          <a:xfrm flipH="1">
            <a:off x="8743950" y="2936875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336" name="矩形 55335"/>
          <p:cNvSpPr>
            <a:spLocks noChangeArrowheads="1"/>
          </p:cNvSpPr>
          <p:nvPr/>
        </p:nvSpPr>
        <p:spPr bwMode="auto">
          <a:xfrm>
            <a:off x="7189788" y="2809875"/>
            <a:ext cx="11826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i="1">
                <a:ea typeface="华文新魏" pitchFamily="2" charset="-122"/>
              </a:rPr>
              <a:t>M</a:t>
            </a:r>
            <a:r>
              <a:rPr lang="en-US" altLang="zh-CN" sz="2800" b="1" baseline="-25000">
                <a:ea typeface="华文新魏" pitchFamily="2" charset="-122"/>
              </a:rPr>
              <a:t>Fe</a:t>
            </a:r>
            <a:r>
              <a:rPr lang="en-US" altLang="zh-CN" sz="2800" b="1" baseline="-40000">
                <a:ea typeface="华文新魏" pitchFamily="2" charset="-122"/>
              </a:rPr>
              <a:t>3</a:t>
            </a:r>
            <a:r>
              <a:rPr lang="en-US" altLang="zh-CN" sz="2800" b="1" baseline="-25000">
                <a:ea typeface="华文新魏" pitchFamily="2" charset="-122"/>
              </a:rPr>
              <a:t>O</a:t>
            </a:r>
            <a:r>
              <a:rPr lang="en-US" altLang="zh-CN" sz="2800" b="1" baseline="-40000">
                <a:ea typeface="华文新魏" pitchFamily="2" charset="-122"/>
              </a:rPr>
              <a:t>4</a:t>
            </a:r>
          </a:p>
        </p:txBody>
      </p:sp>
      <p:sp>
        <p:nvSpPr>
          <p:cNvPr id="55315" name="矩形 55314"/>
          <p:cNvSpPr/>
          <p:nvPr/>
        </p:nvSpPr>
        <p:spPr>
          <a:xfrm>
            <a:off x="4656138" y="2449513"/>
            <a:ext cx="1489075" cy="4778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noProof="1">
                <a:ea typeface="华文新魏" pitchFamily="2" charset="-122"/>
                <a:cs typeface="+mn-ea"/>
              </a:rPr>
              <a:t>= 57.50%</a:t>
            </a:r>
            <a:endParaRPr lang="en-US" altLang="zh-CN" sz="2500" b="1" noProof="1">
              <a:ea typeface="华文新魏" pitchFamily="2" charset="-122"/>
            </a:endParaRPr>
          </a:p>
        </p:txBody>
      </p:sp>
      <p:sp>
        <p:nvSpPr>
          <p:cNvPr id="1052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3" name="椭圆 58396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41075" y="5688013"/>
            <a:ext cx="360363" cy="360362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55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6" dur="500"/>
                                        <p:tgtEl>
                                          <p:spTgt spid="55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1" dur="500"/>
                                        <p:tgtEl>
                                          <p:spTgt spid="553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6" dur="500"/>
                                        <p:tgtEl>
                                          <p:spTgt spid="553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1" dur="500"/>
                                        <p:tgtEl>
                                          <p:spTgt spid="55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6" dur="500"/>
                                        <p:tgtEl>
                                          <p:spTgt spid="553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1" dur="500"/>
                                        <p:tgtEl>
                                          <p:spTgt spid="55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6" dur="500"/>
                                        <p:tgtEl>
                                          <p:spTgt spid="553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1" dur="500"/>
                                        <p:tgtEl>
                                          <p:spTgt spid="553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6" dur="500"/>
                                        <p:tgtEl>
                                          <p:spTgt spid="55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1" dur="500"/>
                                        <p:tgtEl>
                                          <p:spTgt spid="55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6" dur="500"/>
                                        <p:tgtEl>
                                          <p:spTgt spid="55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0" dur="500"/>
                                        <p:tgtEl>
                                          <p:spTgt spid="55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5" dur="500"/>
                                        <p:tgtEl>
                                          <p:spTgt spid="553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80" dur="500"/>
                                        <p:tgtEl>
                                          <p:spTgt spid="553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85" dur="500"/>
                                        <p:tgtEl>
                                          <p:spTgt spid="55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90" dur="500"/>
                                        <p:tgtEl>
                                          <p:spTgt spid="553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95" dur="500"/>
                                        <p:tgtEl>
                                          <p:spTgt spid="553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05" dur="500"/>
                                        <p:tgtEl>
                                          <p:spTgt spid="553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10" dur="500"/>
                                        <p:tgtEl>
                                          <p:spTgt spid="553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15" dur="500"/>
                                        <p:tgtEl>
                                          <p:spTgt spid="55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0" dur="500"/>
                                        <p:tgtEl>
                                          <p:spTgt spid="553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0" grpId="0"/>
      <p:bldP spid="55317" grpId="0"/>
      <p:bldP spid="55327" grpId="0"/>
      <p:bldP spid="55328" grpId="0"/>
      <p:bldP spid="55329" grpId="0"/>
      <p:bldP spid="55330" grpId="0" animBg="1"/>
      <p:bldP spid="55343" grpId="0"/>
      <p:bldP spid="55334" grpId="0"/>
      <p:bldP spid="55335" grpId="0"/>
      <p:bldP spid="55339" grpId="0" animBg="1"/>
      <p:bldP spid="55340" grpId="0"/>
      <p:bldP spid="55344" grpId="0"/>
      <p:bldP spid="55338" grpId="0"/>
      <p:bldP spid="55345" grpId="0"/>
      <p:bldP spid="55359" grpId="0"/>
      <p:bldP spid="55358" grpId="0"/>
      <p:bldP spid="55331" grpId="0"/>
      <p:bldP spid="55341" grpId="0" animBg="1"/>
      <p:bldP spid="55333" grpId="0"/>
      <p:bldP spid="2" grpId="0" animBg="1"/>
      <p:bldP spid="55336" grpId="0"/>
      <p:bldP spid="553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文本框 1"/>
          <p:cNvSpPr txBox="1">
            <a:spLocks noChangeArrowheads="1"/>
          </p:cNvSpPr>
          <p:nvPr/>
        </p:nvSpPr>
        <p:spPr bwMode="auto">
          <a:xfrm>
            <a:off x="188913" y="454025"/>
            <a:ext cx="2757487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2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例</a:t>
            </a:r>
            <a:r>
              <a:rPr lang="en-US" altLang="zh-CN" sz="2200" b="1">
                <a:solidFill>
                  <a:srgbClr val="FFFF00"/>
                </a:solidFill>
                <a:ea typeface="华文新魏" pitchFamily="2" charset="-122"/>
              </a:rPr>
              <a:t>3:</a:t>
            </a:r>
          </a:p>
        </p:txBody>
      </p:sp>
      <p:sp>
        <p:nvSpPr>
          <p:cNvPr id="88070" name="矩形 88069"/>
          <p:cNvSpPr/>
          <p:nvPr/>
        </p:nvSpPr>
        <p:spPr>
          <a:xfrm>
            <a:off x="3879850" y="525443"/>
            <a:ext cx="608013" cy="4730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auto">
              <a:defRPr/>
            </a:pPr>
            <a:r>
              <a:rPr lang="zh-CN" altLang="en-US" sz="2500" b="1" noProof="1">
                <a:solidFill>
                  <a:srgbClr val="FFFF00"/>
                </a:solidFill>
                <a:ea typeface="华文新魏" pitchFamily="2" charset="-122"/>
              </a:rPr>
              <a:t>解</a:t>
            </a:r>
            <a:r>
              <a:rPr lang="en-US" altLang="zh-CN" sz="2500" b="1" noProof="1">
                <a:solidFill>
                  <a:srgbClr val="FFFF00"/>
                </a:solidFill>
                <a:ea typeface="华文新魏" pitchFamily="2" charset="-122"/>
              </a:rPr>
              <a:t>:</a:t>
            </a:r>
            <a:endParaRPr lang="en-US" altLang="zh-CN" sz="2500" b="1" noProof="1">
              <a:solidFill>
                <a:srgbClr val="FFFF00"/>
              </a:solidFill>
              <a:effectLst>
                <a:outerShdw blurRad="38100" dist="38100" dir="2700000">
                  <a:srgbClr val="000000"/>
                </a:outerShdw>
              </a:effectLst>
              <a:ea typeface="华文新魏" pitchFamily="2" charset="-122"/>
            </a:endParaRPr>
          </a:p>
        </p:txBody>
      </p:sp>
      <p:sp>
        <p:nvSpPr>
          <p:cNvPr id="96264" name="矩形 96263"/>
          <p:cNvSpPr>
            <a:spLocks noChangeArrowheads="1"/>
          </p:cNvSpPr>
          <p:nvPr/>
        </p:nvSpPr>
        <p:spPr bwMode="auto">
          <a:xfrm>
            <a:off x="188913" y="811195"/>
            <a:ext cx="3094037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200" b="1" dirty="0">
                <a:ea typeface="华文新魏" pitchFamily="2" charset="-122"/>
              </a:rPr>
              <a:t>测定</a:t>
            </a:r>
            <a:r>
              <a:rPr lang="en-US" altLang="zh-CN" sz="2200" b="1" dirty="0">
                <a:ea typeface="华文新魏" pitchFamily="2" charset="-122"/>
              </a:rPr>
              <a:t>KHC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dirty="0">
                <a:ea typeface="华文新魏" pitchFamily="2" charset="-122"/>
              </a:rPr>
              <a:t>O</a:t>
            </a:r>
            <a:r>
              <a:rPr lang="en-US" altLang="zh-CN" sz="2200" b="1" baseline="-25000" dirty="0">
                <a:ea typeface="华文新魏" pitchFamily="2" charset="-122"/>
              </a:rPr>
              <a:t>4</a:t>
            </a:r>
            <a:r>
              <a:rPr lang="en-US" altLang="zh-CN" sz="2200" b="1" dirty="0">
                <a:ea typeface="华文新魏" pitchFamily="2" charset="-122"/>
              </a:rPr>
              <a:t>·H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dirty="0">
                <a:ea typeface="华文新魏" pitchFamily="2" charset="-122"/>
              </a:rPr>
              <a:t>C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dirty="0">
                <a:ea typeface="华文新魏" pitchFamily="2" charset="-122"/>
              </a:rPr>
              <a:t>O</a:t>
            </a:r>
            <a:r>
              <a:rPr lang="en-US" altLang="zh-CN" sz="2200" b="1" baseline="-25000" dirty="0">
                <a:ea typeface="华文新魏" pitchFamily="2" charset="-122"/>
              </a:rPr>
              <a:t>4</a:t>
            </a:r>
            <a:r>
              <a:rPr lang="zh-CN" altLang="en-US" sz="2200" b="1" dirty="0">
                <a:ea typeface="华文新魏" pitchFamily="2" charset="-122"/>
              </a:rPr>
              <a:t>时</a:t>
            </a:r>
            <a:r>
              <a:rPr lang="en-US" altLang="zh-CN" sz="2200" b="1" dirty="0">
                <a:ea typeface="华文新魏" pitchFamily="2" charset="-122"/>
              </a:rPr>
              <a:t>,</a:t>
            </a:r>
            <a:r>
              <a:rPr lang="zh-CN" altLang="en-US" sz="2200" b="1" dirty="0">
                <a:ea typeface="华文新魏" pitchFamily="2" charset="-122"/>
              </a:rPr>
              <a:t>可使之沉淀为</a:t>
            </a:r>
            <a:r>
              <a:rPr lang="en-US" altLang="zh-CN" sz="2200" b="1" dirty="0">
                <a:ea typeface="华文新魏" pitchFamily="2" charset="-122"/>
              </a:rPr>
              <a:t>CaC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dirty="0">
                <a:ea typeface="华文新魏" pitchFamily="2" charset="-122"/>
              </a:rPr>
              <a:t>O</a:t>
            </a:r>
            <a:r>
              <a:rPr lang="en-US" altLang="zh-CN" sz="2200" b="1" baseline="-25000" dirty="0">
                <a:ea typeface="华文新魏" pitchFamily="2" charset="-122"/>
              </a:rPr>
              <a:t>4</a:t>
            </a:r>
            <a:r>
              <a:rPr lang="en-US" altLang="zh-CN" sz="2200" b="1" dirty="0">
                <a:ea typeface="华文新魏" pitchFamily="2" charset="-122"/>
              </a:rPr>
              <a:t>,</a:t>
            </a:r>
            <a:r>
              <a:rPr lang="zh-CN" altLang="en-US" sz="2200" b="1" dirty="0">
                <a:ea typeface="华文新魏" pitchFamily="2" charset="-122"/>
              </a:rPr>
              <a:t>最后灼烧成</a:t>
            </a:r>
            <a:r>
              <a:rPr lang="en-US" altLang="zh-CN" sz="2200" b="1" dirty="0" err="1">
                <a:ea typeface="华文新魏" pitchFamily="2" charset="-122"/>
              </a:rPr>
              <a:t>CaO</a:t>
            </a:r>
            <a:r>
              <a:rPr lang="zh-CN" altLang="en-US" sz="2200" b="1" dirty="0">
                <a:ea typeface="华文新魏" pitchFamily="2" charset="-122"/>
              </a:rPr>
              <a:t>称重</a:t>
            </a:r>
            <a:r>
              <a:rPr lang="en-US" altLang="zh-CN" sz="2200" b="1" dirty="0">
                <a:ea typeface="华文新魏" pitchFamily="2" charset="-122"/>
              </a:rPr>
              <a:t>.</a:t>
            </a:r>
            <a:r>
              <a:rPr lang="zh-CN" altLang="en-US" sz="2200" b="1" dirty="0">
                <a:ea typeface="华文新魏" pitchFamily="2" charset="-122"/>
              </a:rPr>
              <a:t>若称取</a:t>
            </a:r>
            <a:r>
              <a:rPr lang="en-US" altLang="zh-CN" sz="2200" b="1" dirty="0">
                <a:ea typeface="华文新魏" pitchFamily="2" charset="-122"/>
              </a:rPr>
              <a:t>0.5000g</a:t>
            </a:r>
            <a:r>
              <a:rPr lang="zh-CN" altLang="en-US" sz="2200" b="1" dirty="0">
                <a:ea typeface="华文新魏" pitchFamily="2" charset="-122"/>
              </a:rPr>
              <a:t>纯</a:t>
            </a:r>
            <a:r>
              <a:rPr lang="en-US" altLang="zh-CN" sz="2200" b="1" dirty="0">
                <a:ea typeface="华文新魏" pitchFamily="2" charset="-122"/>
              </a:rPr>
              <a:t>KHC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dirty="0">
                <a:ea typeface="华文新魏" pitchFamily="2" charset="-122"/>
              </a:rPr>
              <a:t>O</a:t>
            </a:r>
            <a:r>
              <a:rPr lang="en-US" altLang="zh-CN" sz="2200" b="1" baseline="-25000" dirty="0">
                <a:ea typeface="华文新魏" pitchFamily="2" charset="-122"/>
              </a:rPr>
              <a:t>4</a:t>
            </a:r>
            <a:r>
              <a:rPr lang="en-US" altLang="zh-CN" sz="2200" b="1" dirty="0">
                <a:ea typeface="华文新魏" pitchFamily="2" charset="-122"/>
              </a:rPr>
              <a:t>·H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dirty="0">
                <a:ea typeface="华文新魏" pitchFamily="2" charset="-122"/>
              </a:rPr>
              <a:t>C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dirty="0">
                <a:ea typeface="华文新魏" pitchFamily="2" charset="-122"/>
              </a:rPr>
              <a:t>O</a:t>
            </a:r>
            <a:r>
              <a:rPr lang="en-US" altLang="zh-CN" sz="2200" b="1" baseline="-25000" dirty="0">
                <a:ea typeface="华文新魏" pitchFamily="2" charset="-122"/>
              </a:rPr>
              <a:t>4 </a:t>
            </a:r>
            <a:r>
              <a:rPr lang="en-US" altLang="zh-CN" sz="2200" b="1" dirty="0">
                <a:ea typeface="华文新魏" pitchFamily="2" charset="-122"/>
              </a:rPr>
              <a:t>,</a:t>
            </a:r>
            <a:r>
              <a:rPr lang="zh-CN" altLang="en-US" sz="2200" b="1" dirty="0">
                <a:ea typeface="华文新魏" pitchFamily="2" charset="-122"/>
              </a:rPr>
              <a:t>问可得</a:t>
            </a:r>
            <a:r>
              <a:rPr lang="en-US" altLang="zh-CN" sz="2200" b="1" dirty="0" err="1">
                <a:ea typeface="华文新魏" pitchFamily="2" charset="-122"/>
              </a:rPr>
              <a:t>CaO</a:t>
            </a:r>
            <a:r>
              <a:rPr lang="zh-CN" altLang="en-US" sz="2200" b="1" dirty="0">
                <a:ea typeface="华文新魏" pitchFamily="2" charset="-122"/>
              </a:rPr>
              <a:t>多少克</a:t>
            </a:r>
            <a:r>
              <a:rPr lang="en-US" altLang="zh-CN" sz="2200" b="1" dirty="0">
                <a:ea typeface="华文新魏" pitchFamily="2" charset="-122"/>
              </a:rPr>
              <a:t>?</a:t>
            </a:r>
            <a:endParaRPr lang="en-US" altLang="zh-CN" sz="2200" b="1" dirty="0">
              <a:solidFill>
                <a:srgbClr val="0000FF"/>
              </a:solidFill>
              <a:ea typeface="华文新魏" pitchFamily="2" charset="-122"/>
            </a:endParaRPr>
          </a:p>
        </p:txBody>
      </p:sp>
      <p:sp>
        <p:nvSpPr>
          <p:cNvPr id="60424" name="矩形 60423"/>
          <p:cNvSpPr>
            <a:spLocks noChangeArrowheads="1"/>
          </p:cNvSpPr>
          <p:nvPr/>
        </p:nvSpPr>
        <p:spPr bwMode="auto">
          <a:xfrm>
            <a:off x="9118600" y="2430447"/>
            <a:ext cx="20256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华文新魏" pitchFamily="2" charset="-122"/>
              </a:rPr>
              <a:t>x</a:t>
            </a:r>
            <a:r>
              <a:rPr lang="en-US" altLang="zh-CN" sz="2500" b="1">
                <a:ea typeface="华文新魏" pitchFamily="2" charset="-122"/>
              </a:rPr>
              <a:t> = 0.2570 (g)</a:t>
            </a:r>
          </a:p>
        </p:txBody>
      </p:sp>
      <p:sp>
        <p:nvSpPr>
          <p:cNvPr id="60425" name="矩形 60424"/>
          <p:cNvSpPr>
            <a:spLocks noChangeArrowheads="1"/>
          </p:cNvSpPr>
          <p:nvPr/>
        </p:nvSpPr>
        <p:spPr bwMode="auto">
          <a:xfrm>
            <a:off x="3806825" y="1565259"/>
            <a:ext cx="659447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华文新魏" pitchFamily="2" charset="-122"/>
              </a:rPr>
              <a:t>KHC</a:t>
            </a:r>
            <a:r>
              <a:rPr lang="en-US" altLang="zh-CN" sz="2500" b="1" baseline="-25000">
                <a:ea typeface="华文新魏" pitchFamily="2" charset="-122"/>
              </a:rPr>
              <a:t>2</a:t>
            </a:r>
            <a:r>
              <a:rPr lang="en-US" altLang="zh-CN" sz="2500" b="1">
                <a:ea typeface="华文新魏" pitchFamily="2" charset="-122"/>
              </a:rPr>
              <a:t>O</a:t>
            </a:r>
            <a:r>
              <a:rPr lang="en-US" altLang="zh-CN" sz="2500" b="1" baseline="-25000">
                <a:ea typeface="华文新魏" pitchFamily="2" charset="-122"/>
              </a:rPr>
              <a:t>4</a:t>
            </a:r>
            <a:r>
              <a:rPr lang="en-US" altLang="zh-CN" sz="2500" b="1">
                <a:ea typeface="华文新魏" pitchFamily="2" charset="-122"/>
              </a:rPr>
              <a:t>·H</a:t>
            </a:r>
            <a:r>
              <a:rPr lang="en-US" altLang="zh-CN" sz="2500" b="1" baseline="-25000">
                <a:ea typeface="华文新魏" pitchFamily="2" charset="-122"/>
              </a:rPr>
              <a:t>2</a:t>
            </a:r>
            <a:r>
              <a:rPr lang="en-US" altLang="zh-CN" sz="2500" b="1">
                <a:ea typeface="华文新魏" pitchFamily="2" charset="-122"/>
              </a:rPr>
              <a:t>C</a:t>
            </a:r>
            <a:r>
              <a:rPr lang="en-US" altLang="zh-CN" sz="2500" b="1" baseline="-25000">
                <a:ea typeface="华文新魏" pitchFamily="2" charset="-122"/>
              </a:rPr>
              <a:t>2</a:t>
            </a:r>
            <a:r>
              <a:rPr lang="en-US" altLang="zh-CN" sz="2500" b="1">
                <a:ea typeface="华文新魏" pitchFamily="2" charset="-122"/>
              </a:rPr>
              <a:t>O</a:t>
            </a:r>
            <a:r>
              <a:rPr lang="en-US" altLang="zh-CN" sz="2500" b="1" baseline="-25000">
                <a:ea typeface="华文新魏" pitchFamily="2" charset="-122"/>
              </a:rPr>
              <a:t>4</a:t>
            </a:r>
            <a:r>
              <a:rPr lang="en-US" altLang="zh-CN" sz="2500" b="1">
                <a:ea typeface="华文新魏" pitchFamily="2" charset="-122"/>
              </a:rPr>
              <a:t> + 2Ca</a:t>
            </a:r>
            <a:r>
              <a:rPr lang="en-US" altLang="zh-CN" sz="2500" b="1" baseline="30000">
                <a:ea typeface="华文新魏" pitchFamily="2" charset="-122"/>
              </a:rPr>
              <a:t>2+</a:t>
            </a:r>
            <a:r>
              <a:rPr lang="en-US" altLang="zh-CN" sz="2500" b="1">
                <a:ea typeface="华文新魏" pitchFamily="2" charset="-122"/>
              </a:rPr>
              <a:t> → 2CaC</a:t>
            </a:r>
            <a:r>
              <a:rPr lang="en-US" altLang="zh-CN" sz="2500" b="1" baseline="-25000">
                <a:ea typeface="华文新魏" pitchFamily="2" charset="-122"/>
              </a:rPr>
              <a:t>2</a:t>
            </a:r>
            <a:r>
              <a:rPr lang="en-US" altLang="zh-CN" sz="2500" b="1">
                <a:ea typeface="华文新魏" pitchFamily="2" charset="-122"/>
              </a:rPr>
              <a:t>O</a:t>
            </a:r>
            <a:r>
              <a:rPr lang="en-US" altLang="zh-CN" sz="2500" b="1" baseline="-25000">
                <a:ea typeface="华文新魏" pitchFamily="2" charset="-122"/>
              </a:rPr>
              <a:t>4</a:t>
            </a:r>
            <a:r>
              <a:rPr lang="en-US" altLang="zh-CN" sz="2500" b="1">
                <a:ea typeface="华文新魏" pitchFamily="2" charset="-122"/>
              </a:rPr>
              <a:t>→ 2CaO</a:t>
            </a:r>
          </a:p>
        </p:txBody>
      </p:sp>
      <p:sp>
        <p:nvSpPr>
          <p:cNvPr id="60426" name="矩形 60425"/>
          <p:cNvSpPr>
            <a:spLocks noChangeArrowheads="1"/>
          </p:cNvSpPr>
          <p:nvPr/>
        </p:nvSpPr>
        <p:spPr bwMode="auto">
          <a:xfrm>
            <a:off x="4094163" y="2033572"/>
            <a:ext cx="63754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华文新魏" pitchFamily="2" charset="-122"/>
              </a:rPr>
              <a:t>218.2                                                      2×56.08</a:t>
            </a:r>
          </a:p>
        </p:txBody>
      </p:sp>
      <p:sp>
        <p:nvSpPr>
          <p:cNvPr id="60427" name="矩形 60426"/>
          <p:cNvSpPr>
            <a:spLocks noChangeArrowheads="1"/>
          </p:cNvSpPr>
          <p:nvPr/>
        </p:nvSpPr>
        <p:spPr bwMode="auto">
          <a:xfrm>
            <a:off x="3951288" y="2465372"/>
            <a:ext cx="106680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华文新魏" pitchFamily="2" charset="-122"/>
              </a:rPr>
              <a:t>0.5000</a:t>
            </a:r>
          </a:p>
        </p:txBody>
      </p:sp>
      <p:sp>
        <p:nvSpPr>
          <p:cNvPr id="60437" name="矩形 60436"/>
          <p:cNvSpPr>
            <a:spLocks noChangeArrowheads="1"/>
          </p:cNvSpPr>
          <p:nvPr/>
        </p:nvSpPr>
        <p:spPr bwMode="auto">
          <a:xfrm>
            <a:off x="3806825" y="1096947"/>
            <a:ext cx="74676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>
                <a:ea typeface="华文新魏" pitchFamily="2" charset="-122"/>
              </a:rPr>
              <a:t>整个分析过程的省略反应式为</a:t>
            </a:r>
            <a:r>
              <a:rPr lang="en-US" altLang="zh-CN" sz="2500" b="1">
                <a:ea typeface="华文新魏" pitchFamily="2" charset="-122"/>
              </a:rPr>
              <a:t>:</a:t>
            </a:r>
          </a:p>
        </p:txBody>
      </p:sp>
      <p:sp>
        <p:nvSpPr>
          <p:cNvPr id="4106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60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6" dur="500"/>
                                        <p:tgtEl>
                                          <p:spTgt spid="6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1" dur="500"/>
                                        <p:tgtEl>
                                          <p:spTgt spid="604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6" dur="500"/>
                                        <p:tgtEl>
                                          <p:spTgt spid="60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1" dur="500"/>
                                        <p:tgtEl>
                                          <p:spTgt spid="604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0" grpId="0"/>
      <p:bldP spid="60424" grpId="0"/>
      <p:bldP spid="60425" grpId="0"/>
      <p:bldP spid="60426" grpId="0"/>
      <p:bldP spid="60427" grpId="0"/>
      <p:bldP spid="60437" grpId="0"/>
    </p:bldLst>
  </p:timing>
</p:sld>
</file>

<file path=ppt/theme/theme1.xml><?xml version="1.0" encoding="utf-8"?>
<a:theme xmlns:a="http://schemas.openxmlformats.org/drawingml/2006/main" name="医学研究PPT模板">
  <a:themeElements>
    <a:clrScheme name="医学研究PPT模板 1">
      <a:dk1>
        <a:srgbClr val="FFFFFF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DADADA"/>
      </a:accent4>
      <a:accent5>
        <a:srgbClr val="AAAAAA"/>
      </a:accent5>
      <a:accent6>
        <a:srgbClr val="E700E7"/>
      </a:accent6>
      <a:hlink>
        <a:srgbClr val="FF9900"/>
      </a:hlink>
      <a:folHlink>
        <a:srgbClr val="3333CC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Pages>0</Pages>
  <Words>173</Words>
  <Characters>0</Characters>
  <Application>Microsoft Office PowerPoint</Application>
  <DocSecurity>0</DocSecurity>
  <PresentationFormat>自定义</PresentationFormat>
  <Lines>0</Lines>
  <Paragraphs>34</Paragraphs>
  <Slides>3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5" baseType="lpstr">
      <vt:lpstr>医学研究PPT模板</vt:lpstr>
      <vt:lpstr>Microsoft Equation 3.0</vt:lpstr>
      <vt:lpstr>幻灯片 1</vt:lpstr>
      <vt:lpstr>幻灯片 2</vt:lpstr>
      <vt:lpstr>幻灯片 3</vt:lpstr>
    </vt:vector>
  </TitlesOfParts>
  <Manager/>
  <Company/>
  <LinksUpToDate>false</LinksUpToDate>
  <CharactersWithSpaces>0</CharactersWithSpaces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04-04-例1</dc:title>
  <dc:subject/>
  <dc:creator>江南大学 商少明、李玲</dc:creator>
  <cp:keywords/>
  <dc:description/>
  <cp:lastModifiedBy>ASUS</cp:lastModifiedBy>
  <cp:revision>270</cp:revision>
  <dcterms:created xsi:type="dcterms:W3CDTF">2012-06-20T03:37:37Z</dcterms:created>
  <dcterms:modified xsi:type="dcterms:W3CDTF">2017-08-20T04:29:22Z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2052-10.1.0.6156</vt:lpwstr>
  </property>
</Properties>
</file>