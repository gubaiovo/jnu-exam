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8"/>
  </p:notesMasterIdLst>
  <p:sldIdLst>
    <p:sldId id="276" r:id="rId2"/>
    <p:sldId id="283" r:id="rId3"/>
    <p:sldId id="278" r:id="rId4"/>
    <p:sldId id="279" r:id="rId5"/>
    <p:sldId id="280" r:id="rId6"/>
    <p:sldId id="282" r:id="rId7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F8F8F8"/>
    <a:srgbClr val="66CCFF"/>
    <a:srgbClr val="85D9F7"/>
    <a:srgbClr val="57BBFF"/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19" autoAdjust="0"/>
  </p:normalViewPr>
  <p:slideViewPr>
    <p:cSldViewPr>
      <p:cViewPr varScale="1">
        <p:scale>
          <a:sx n="73" d="100"/>
          <a:sy n="73" d="100"/>
        </p:scale>
        <p:origin x="750" y="72"/>
      </p:cViewPr>
      <p:guideLst>
        <p:guide orient="horz" pos="202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4231BE5-C480-4DE8-8FA4-3611B54E48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3192" descr="地砖背景1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-20638" y="-17463"/>
            <a:ext cx="11563351" cy="651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jpeg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3.jpeg"/><Relationship Id="rId4" Type="http://schemas.openxmlformats.org/officeDocument/2006/relationships/audio" Target="../media/audio2.wav"/><Relationship Id="rId9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jpeg"/><Relationship Id="rId5" Type="http://schemas.openxmlformats.org/officeDocument/2006/relationships/image" Target="../media/image3.jpeg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jpeg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jpeg"/><Relationship Id="rId5" Type="http://schemas.openxmlformats.org/officeDocument/2006/relationships/image" Target="../media/image3.jpeg"/><Relationship Id="rId4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audio" Target="../media/audio1.wav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audio" Target="../media/audio2.wav"/><Relationship Id="rId4" Type="http://schemas.openxmlformats.org/officeDocument/2006/relationships/audio" Target="../media/audio3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文本框 1"/>
          <p:cNvSpPr txBox="1">
            <a:spLocks noChangeArrowheads="1"/>
          </p:cNvSpPr>
          <p:nvPr/>
        </p:nvSpPr>
        <p:spPr bwMode="auto">
          <a:xfrm>
            <a:off x="207963" y="587375"/>
            <a:ext cx="27574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1:</a:t>
            </a:r>
          </a:p>
        </p:txBody>
      </p:sp>
      <p:sp>
        <p:nvSpPr>
          <p:cNvPr id="88070" name="矩形 88069"/>
          <p:cNvSpPr/>
          <p:nvPr/>
        </p:nvSpPr>
        <p:spPr>
          <a:xfrm>
            <a:off x="3700462" y="427832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auto"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58381" name="矩形 58380"/>
          <p:cNvSpPr>
            <a:spLocks noChangeArrowheads="1"/>
          </p:cNvSpPr>
          <p:nvPr/>
        </p:nvSpPr>
        <p:spPr bwMode="auto">
          <a:xfrm>
            <a:off x="241283" y="1025509"/>
            <a:ext cx="3162300" cy="246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 sz="2200" b="1" dirty="0">
                <a:ea typeface="华文新魏" pitchFamily="2" charset="-122"/>
              </a:rPr>
              <a:t>100mL 溶液中含 0.00100 </a:t>
            </a:r>
            <a:r>
              <a:rPr lang="en-US" altLang="zh-CN" sz="2200" b="1" dirty="0">
                <a:ea typeface="华文新魏" pitchFamily="2" charset="-122"/>
              </a:rPr>
              <a:t>mol </a:t>
            </a:r>
            <a:r>
              <a:rPr lang="en-US" altLang="zh-CN" sz="2200" b="1" dirty="0" err="1">
                <a:ea typeface="华文新魏" pitchFamily="2" charset="-122"/>
              </a:rPr>
              <a:t>NaCl</a:t>
            </a:r>
            <a:r>
              <a:rPr lang="zh-CN" altLang="zh-CN" sz="2200" b="1" dirty="0">
                <a:ea typeface="华文新魏" pitchFamily="2" charset="-122"/>
              </a:rPr>
              <a:t>和</a:t>
            </a:r>
            <a:r>
              <a:rPr lang="en-US" altLang="zh-CN" sz="2200" b="1" dirty="0">
                <a:ea typeface="华文新魏" pitchFamily="2" charset="-122"/>
              </a:rPr>
              <a:t>K</a:t>
            </a:r>
            <a:r>
              <a:rPr lang="en-US" altLang="zh-CN" sz="2200" b="1" baseline="-25000" dirty="0">
                <a:ea typeface="华文新魏" pitchFamily="2" charset="-122"/>
              </a:rPr>
              <a:t>2</a:t>
            </a:r>
            <a:r>
              <a:rPr lang="en-US" altLang="zh-CN" sz="2200" b="1" dirty="0">
                <a:ea typeface="华文新魏" pitchFamily="2" charset="-122"/>
              </a:rPr>
              <a:t>CrO</a:t>
            </a:r>
            <a:r>
              <a:rPr lang="en-US" altLang="zh-CN" sz="2200" b="1" baseline="-25000" dirty="0">
                <a:ea typeface="华文新魏" pitchFamily="2" charset="-122"/>
              </a:rPr>
              <a:t>4</a:t>
            </a:r>
            <a:r>
              <a:rPr lang="en-US" altLang="zh-CN" sz="2200" b="1" dirty="0">
                <a:ea typeface="华文新魏" pitchFamily="2" charset="-122"/>
              </a:rPr>
              <a:t>,</a:t>
            </a:r>
            <a:r>
              <a:rPr lang="zh-CN" altLang="en-US" sz="2200" b="1" dirty="0">
                <a:ea typeface="华文新魏" pitchFamily="2" charset="-122"/>
              </a:rPr>
              <a:t>当逐滴加入</a:t>
            </a:r>
            <a:r>
              <a:rPr lang="en-US" altLang="zh-CN" sz="2200" b="1" dirty="0">
                <a:ea typeface="华文新魏" pitchFamily="2" charset="-122"/>
              </a:rPr>
              <a:t>AgNO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zh-CN" altLang="en-US" sz="2200" b="1" dirty="0">
                <a:ea typeface="华文新魏" pitchFamily="2" charset="-122"/>
              </a:rPr>
              <a:t>时</a:t>
            </a:r>
            <a:r>
              <a:rPr lang="en-US" altLang="zh-CN" sz="2200" b="1" dirty="0">
                <a:ea typeface="华文新魏" pitchFamily="2" charset="-122"/>
              </a:rPr>
              <a:t>,</a:t>
            </a:r>
            <a:r>
              <a:rPr lang="zh-CN" altLang="en-US" sz="2200" b="1" dirty="0">
                <a:ea typeface="华文新魏" pitchFamily="2" charset="-122"/>
              </a:rPr>
              <a:t>产生沉淀的次序如何</a:t>
            </a:r>
            <a:r>
              <a:rPr lang="en-US" altLang="zh-CN" sz="2200" b="1" dirty="0">
                <a:ea typeface="华文新魏" pitchFamily="2" charset="-122"/>
              </a:rPr>
              <a:t>?</a:t>
            </a:r>
            <a:r>
              <a:rPr lang="zh-CN" altLang="en-US" sz="2200" b="1" dirty="0">
                <a:ea typeface="华文新魏" pitchFamily="2" charset="-122"/>
              </a:rPr>
              <a:t>有无分离可能</a:t>
            </a:r>
            <a:r>
              <a:rPr lang="en-US" altLang="zh-CN" sz="2200" b="1" dirty="0">
                <a:ea typeface="华文新魏" pitchFamily="2" charset="-122"/>
              </a:rPr>
              <a:t>?(</a:t>
            </a:r>
            <a:r>
              <a:rPr lang="zh-CN" altLang="en-US" sz="2200" b="1" dirty="0">
                <a:ea typeface="华文新魏" pitchFamily="2" charset="-122"/>
              </a:rPr>
              <a:t>忽略加入</a:t>
            </a:r>
            <a:r>
              <a:rPr lang="en-US" altLang="zh-CN" sz="2200" b="1" dirty="0">
                <a:ea typeface="华文新魏" pitchFamily="2" charset="-122"/>
              </a:rPr>
              <a:t>AgNO</a:t>
            </a:r>
            <a:r>
              <a:rPr lang="en-US" altLang="zh-CN" sz="2200" b="1" baseline="-25000" dirty="0">
                <a:ea typeface="华文新魏" pitchFamily="2" charset="-122"/>
              </a:rPr>
              <a:t>3</a:t>
            </a:r>
            <a:r>
              <a:rPr lang="zh-CN" altLang="en-US" sz="2200" b="1" dirty="0">
                <a:ea typeface="华文新魏" pitchFamily="2" charset="-122"/>
              </a:rPr>
              <a:t>所引起的体积变化</a:t>
            </a:r>
            <a:r>
              <a:rPr lang="en-US" altLang="zh-CN" sz="2200" b="1" dirty="0">
                <a:ea typeface="华文新魏" pitchFamily="2" charset="-122"/>
              </a:rPr>
              <a:t>)</a:t>
            </a:r>
            <a:endParaRPr lang="en-US" altLang="zh-CN" sz="2200" b="1" dirty="0">
              <a:solidFill>
                <a:schemeClr val="accent2"/>
              </a:solidFill>
              <a:ea typeface="华文新魏" pitchFamily="2" charset="-122"/>
            </a:endParaRPr>
          </a:p>
        </p:txBody>
      </p:sp>
      <p:sp>
        <p:nvSpPr>
          <p:cNvPr id="58379" name="矩形 58378"/>
          <p:cNvSpPr/>
          <p:nvPr/>
        </p:nvSpPr>
        <p:spPr>
          <a:xfrm>
            <a:off x="4356082" y="437958"/>
            <a:ext cx="6810412" cy="4730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  <a:sym typeface="Monotype Sorts" pitchFamily="2" charset="2"/>
              </a:rPr>
              <a:t>① </a:t>
            </a:r>
            <a:r>
              <a:rPr lang="en-US" altLang="zh-CN" sz="2500" b="1" i="1" noProof="1">
                <a:ea typeface="华文新魏" pitchFamily="2" charset="-122"/>
                <a:cs typeface="+mn-ea"/>
              </a:rPr>
              <a:t>c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(K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2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CrO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4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) = </a:t>
            </a:r>
            <a:r>
              <a:rPr lang="en-US" altLang="zh-CN" sz="2500" b="1" i="1" noProof="1">
                <a:ea typeface="华文新魏" pitchFamily="2" charset="-122"/>
                <a:cs typeface="+mn-ea"/>
              </a:rPr>
              <a:t>c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(NaCl) = 0.00100/0.100                      </a:t>
            </a:r>
            <a:endParaRPr lang="en-US" altLang="zh-CN" sz="2500" b="1" noProof="1">
              <a:ea typeface="华文新魏" pitchFamily="2" charset="-122"/>
            </a:endParaRPr>
          </a:p>
        </p:txBody>
      </p:sp>
      <p:sp>
        <p:nvSpPr>
          <p:cNvPr id="58388" name="矩形 58387"/>
          <p:cNvSpPr/>
          <p:nvPr/>
        </p:nvSpPr>
        <p:spPr>
          <a:xfrm>
            <a:off x="4501371" y="894704"/>
            <a:ext cx="2640013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= 0.0100 (mol·L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500" b="1" noProof="1">
                <a:ea typeface="华文新魏" pitchFamily="2" charset="-122"/>
                <a:cs typeface="+mn-ea"/>
                <a:sym typeface="+mn-ea"/>
              </a:rPr>
              <a:t>)</a:t>
            </a:r>
            <a:endParaRPr lang="en-US" altLang="zh-CN" sz="2500" b="1" baseline="30000" noProof="1">
              <a:ea typeface="华文新魏" pitchFamily="2" charset="-122"/>
              <a:sym typeface="+mn-ea"/>
            </a:endParaRPr>
          </a:p>
        </p:txBody>
      </p:sp>
      <p:sp>
        <p:nvSpPr>
          <p:cNvPr id="92169" name="文本框 92168"/>
          <p:cNvSpPr txBox="1">
            <a:spLocks noChangeArrowheads="1"/>
          </p:cNvSpPr>
          <p:nvPr/>
        </p:nvSpPr>
        <p:spPr bwMode="auto">
          <a:xfrm>
            <a:off x="3884613" y="1939925"/>
            <a:ext cx="77533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 err="1" smtClean="0">
                <a:solidFill>
                  <a:schemeClr val="bg1"/>
                </a:solidFill>
                <a:ea typeface="华文新魏" pitchFamily="2" charset="-122"/>
              </a:rPr>
              <a:t>AgCl</a:t>
            </a:r>
            <a:r>
              <a:rPr lang="en-US" altLang="zh-CN" sz="2500" b="1" dirty="0" smtClean="0">
                <a:ea typeface="华文新魏" pitchFamily="2" charset="-122"/>
              </a:rPr>
              <a:t>: </a:t>
            </a:r>
            <a:r>
              <a:rPr lang="en-US" altLang="zh-CN" sz="2500" b="1" dirty="0">
                <a:ea typeface="华文新魏" pitchFamily="2" charset="-122"/>
              </a:rPr>
              <a:t>[Ag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][Cl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]≥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华文新魏" pitchFamily="2" charset="-122"/>
                <a:sym typeface="Webdings" pitchFamily="18" charset="2"/>
              </a:rPr>
              <a:t>AgCl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 = 1.77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-10</a:t>
            </a:r>
          </a:p>
        </p:txBody>
      </p:sp>
      <p:sp>
        <p:nvSpPr>
          <p:cNvPr id="92170" name="矩形 92169"/>
          <p:cNvSpPr>
            <a:spLocks noChangeArrowheads="1"/>
          </p:cNvSpPr>
          <p:nvPr/>
        </p:nvSpPr>
        <p:spPr bwMode="auto">
          <a:xfrm>
            <a:off x="3949700" y="2352692"/>
            <a:ext cx="7026311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[Ag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]≥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华文新魏" pitchFamily="2" charset="-122"/>
                <a:sym typeface="Webdings" pitchFamily="18" charset="2"/>
              </a:rPr>
              <a:t>AgCl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)/</a:t>
            </a:r>
            <a:r>
              <a:rPr lang="en-US" altLang="zh-CN" sz="2500" b="1" dirty="0">
                <a:ea typeface="华文新魏" pitchFamily="2" charset="-122"/>
              </a:rPr>
              <a:t>[</a:t>
            </a:r>
            <a:r>
              <a:rPr lang="en-US" altLang="zh-CN" sz="2500" b="1" dirty="0" err="1">
                <a:ea typeface="华文新魏" pitchFamily="2" charset="-122"/>
              </a:rPr>
              <a:t>Cl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] =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1.77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-10</a:t>
            </a:r>
            <a:r>
              <a:rPr lang="en-US" altLang="zh-CN" sz="2500" b="1" dirty="0">
                <a:ea typeface="华文新魏" pitchFamily="2" charset="-122"/>
              </a:rPr>
              <a:t>/0.0100</a:t>
            </a:r>
          </a:p>
          <a:p>
            <a:r>
              <a:rPr lang="en-US" altLang="zh-CN" sz="2500" b="1" dirty="0">
                <a:ea typeface="华文新魏" pitchFamily="2" charset="-122"/>
              </a:rPr>
              <a:t>                                         = 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1.77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-8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(</a:t>
            </a:r>
            <a:r>
              <a:rPr lang="en-US" altLang="zh-CN" sz="2500" b="1" dirty="0">
                <a:ea typeface="华文新魏" pitchFamily="2" charset="-122"/>
              </a:rPr>
              <a:t>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)</a:t>
            </a:r>
            <a:endParaRPr lang="en-US" altLang="zh-CN" sz="2500" b="1" baseline="30000" dirty="0">
              <a:ea typeface="华文新魏" pitchFamily="2" charset="-122"/>
            </a:endParaRPr>
          </a:p>
          <a:p>
            <a:r>
              <a:rPr lang="zh-CN" altLang="en-US" sz="2500" b="1" dirty="0">
                <a:ea typeface="华文新魏" pitchFamily="2" charset="-122"/>
              </a:rPr>
              <a:t>而</a:t>
            </a:r>
            <a:r>
              <a:rPr lang="en-US" altLang="zh-CN" sz="2500" b="1" dirty="0">
                <a:ea typeface="华文新魏" pitchFamily="2" charset="-122"/>
              </a:rPr>
              <a:t>:[Ag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仿宋_GB2312" pitchFamily="49" charset="-122"/>
              </a:rPr>
              <a:t>2</a:t>
            </a:r>
            <a:r>
              <a:rPr lang="en-US" altLang="zh-CN" sz="2500" b="1" dirty="0">
                <a:ea typeface="华文新魏" pitchFamily="2" charset="-122"/>
              </a:rPr>
              <a:t>[CrO</a:t>
            </a:r>
            <a:r>
              <a:rPr lang="en-US" altLang="zh-CN" sz="2500" b="1" baseline="-25000" dirty="0">
                <a:ea typeface="华文新魏" pitchFamily="2" charset="-122"/>
              </a:rPr>
              <a:t>4</a:t>
            </a:r>
            <a:r>
              <a:rPr lang="en-US" altLang="zh-CN" sz="2500" b="1" baseline="30000" dirty="0">
                <a:ea typeface="华文新魏" pitchFamily="2" charset="-122"/>
              </a:rPr>
              <a:t>2-</a:t>
            </a:r>
            <a:r>
              <a:rPr lang="en-US" altLang="zh-CN" sz="2500" b="1" dirty="0">
                <a:ea typeface="华文新魏" pitchFamily="2" charset="-122"/>
              </a:rPr>
              <a:t>]≥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b="1" baseline="10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(Ag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2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CrO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4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) = 1.12 </a:t>
            </a:r>
            <a:r>
              <a:rPr lang="en-US" altLang="zh-CN" sz="2500" b="1" dirty="0">
                <a:ea typeface="华文新魏" pitchFamily="2" charset="-122"/>
                <a:sym typeface="Symbol" pitchFamily="18" charset="2"/>
              </a:rPr>
              <a:t>10</a:t>
            </a:r>
            <a:r>
              <a:rPr lang="en-US" altLang="zh-CN" sz="2500" b="1" baseline="30000" dirty="0">
                <a:ea typeface="华文新魏" pitchFamily="2" charset="-122"/>
                <a:sym typeface="Symbol" pitchFamily="18" charset="2"/>
              </a:rPr>
              <a:t>-12</a:t>
            </a:r>
          </a:p>
        </p:txBody>
      </p:sp>
      <p:graphicFrame>
        <p:nvGraphicFramePr>
          <p:cNvPr id="92171" name="对象 92170"/>
          <p:cNvGraphicFramePr>
            <a:graphicFrameLocks/>
          </p:cNvGraphicFramePr>
          <p:nvPr/>
        </p:nvGraphicFramePr>
        <p:xfrm>
          <a:off x="4211638" y="3721117"/>
          <a:ext cx="5414962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r:id="rId3" imgW="2615065" imgH="520474" progId="Equation.3">
                  <p:embed/>
                </p:oleObj>
              </mc:Choice>
              <mc:Fallback>
                <p:oleObj r:id="rId3" imgW="2615065" imgH="520474" progId="Equation.3">
                  <p:embed/>
                  <p:pic>
                    <p:nvPicPr>
                      <p:cNvPr id="0" name="对象 9217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721117"/>
                        <a:ext cx="5414962" cy="10779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2" name="矩形 92171"/>
          <p:cNvSpPr>
            <a:spLocks noChangeArrowheads="1"/>
          </p:cNvSpPr>
          <p:nvPr/>
        </p:nvSpPr>
        <p:spPr bwMode="auto">
          <a:xfrm>
            <a:off x="3949700" y="4764104"/>
            <a:ext cx="37528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        = 1.06×10</a:t>
            </a:r>
            <a:r>
              <a:rPr lang="en-US" altLang="zh-CN" sz="2500" b="1" baseline="30000" dirty="0">
                <a:ea typeface="华文新魏" pitchFamily="2" charset="-122"/>
              </a:rPr>
              <a:t>-5 </a:t>
            </a:r>
            <a:r>
              <a:rPr lang="en-US" altLang="zh-CN" sz="2500" b="1" dirty="0">
                <a:ea typeface="华文新魏" pitchFamily="2" charset="-122"/>
              </a:rPr>
              <a:t>(mol·L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</a:rPr>
              <a:t>)</a:t>
            </a:r>
            <a:endParaRPr lang="en-US" altLang="zh-CN" sz="2500" b="1" baseline="30000" dirty="0">
              <a:ea typeface="华文新魏" pitchFamily="2" charset="-122"/>
            </a:endParaRPr>
          </a:p>
        </p:txBody>
      </p:sp>
      <p:sp>
        <p:nvSpPr>
          <p:cNvPr id="92173" name="矩形 92172"/>
          <p:cNvSpPr>
            <a:spLocks noChangeArrowheads="1"/>
          </p:cNvSpPr>
          <p:nvPr/>
        </p:nvSpPr>
        <p:spPr bwMode="auto">
          <a:xfrm>
            <a:off x="3949700" y="5195904"/>
            <a:ext cx="2387401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∴ </a:t>
            </a:r>
            <a:r>
              <a:rPr lang="en-US" altLang="zh-CN" sz="2500" b="1" dirty="0" err="1">
                <a:ea typeface="华文新魏" pitchFamily="2" charset="-122"/>
              </a:rPr>
              <a:t>AgCl</a:t>
            </a:r>
            <a:r>
              <a:rPr lang="zh-CN" altLang="en-US" sz="2500" b="1" dirty="0">
                <a:ea typeface="华文新魏" pitchFamily="2" charset="-122"/>
              </a:rPr>
              <a:t>先沉淀</a:t>
            </a:r>
            <a:r>
              <a:rPr lang="en-US" altLang="zh-CN" sz="2500" b="1" dirty="0">
                <a:ea typeface="华文新魏" pitchFamily="2" charset="-122"/>
              </a:rPr>
              <a:t>.</a:t>
            </a:r>
            <a:endParaRPr lang="zh-CN" altLang="en-US" sz="2500" b="1" dirty="0">
              <a:solidFill>
                <a:srgbClr val="0000FF"/>
              </a:solidFill>
              <a:ea typeface="华文新魏" pitchFamily="2" charset="-122"/>
            </a:endParaRPr>
          </a:p>
        </p:txBody>
      </p:sp>
      <p:sp>
        <p:nvSpPr>
          <p:cNvPr id="1036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426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300151" y="1453767"/>
            <a:ext cx="5370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沉淀时所需的</a:t>
            </a:r>
            <a:r>
              <a:rPr lang="en-US" altLang="zh-CN" sz="2400" b="1" dirty="0" smtClean="0"/>
              <a:t>Ag</a:t>
            </a:r>
            <a:r>
              <a:rPr lang="en-US" altLang="zh-CN" sz="2400" b="1" baseline="30000" dirty="0" smtClean="0"/>
              <a:t>+ </a:t>
            </a:r>
            <a:r>
              <a:rPr lang="zh-CN" altLang="en-US" sz="2400" b="1" dirty="0" smtClean="0"/>
              <a:t>浓度最少则最先沉淀</a:t>
            </a:r>
            <a:endParaRPr lang="zh-CN" altLang="en-US" sz="2400" b="1" dirty="0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92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92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92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9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92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58379" grpId="0"/>
      <p:bldP spid="58388" grpId="0"/>
      <p:bldP spid="92169" grpId="0"/>
      <p:bldP spid="92170" grpId="0" build="p"/>
      <p:bldP spid="92172" grpId="0"/>
      <p:bldP spid="9217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3" name="矩形 92172"/>
          <p:cNvSpPr>
            <a:spLocks noChangeArrowheads="1"/>
          </p:cNvSpPr>
          <p:nvPr/>
        </p:nvSpPr>
        <p:spPr bwMode="auto">
          <a:xfrm>
            <a:off x="4245769" y="587375"/>
            <a:ext cx="75438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  <a:sym typeface="Monotype Sorts" pitchFamily="2" charset="2"/>
              </a:rPr>
              <a:t>②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Ag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2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CrO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4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开始沉淀时溶液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中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Cl</a:t>
            </a:r>
            <a:r>
              <a:rPr kumimoji="0" lang="en-US" altLang="zh-CN" sz="2500" b="1" i="0" u="none" strike="noStrike" kern="120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-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浓度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:</a:t>
            </a:r>
          </a:p>
        </p:txBody>
      </p:sp>
      <p:sp>
        <p:nvSpPr>
          <p:cNvPr id="93193" name="文本框 93192"/>
          <p:cNvSpPr txBox="1"/>
          <p:nvPr/>
        </p:nvSpPr>
        <p:spPr>
          <a:xfrm>
            <a:off x="3805238" y="2390790"/>
            <a:ext cx="6924351" cy="4770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     Ag</a:t>
            </a:r>
            <a:r>
              <a:rPr kumimoji="0" lang="en-US" altLang="zh-CN" sz="2500" b="1" i="0" u="none" strike="noStrike" kern="1200" cap="none" spc="0" normalizeH="0" baseline="-2500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2</a:t>
            </a:r>
            <a:r>
              <a:rPr kumimoji="0" lang="en-US" altLang="zh-CN" sz="2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CrO</a:t>
            </a:r>
            <a:r>
              <a:rPr kumimoji="0" lang="en-US" altLang="zh-CN" sz="2500" b="1" i="0" u="none" strike="noStrike" kern="1200" cap="none" spc="0" normalizeH="0" baseline="-2500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4</a:t>
            </a:r>
            <a:r>
              <a:rPr kumimoji="0" lang="zh-CN" altLang="en-US" sz="2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开始沉淀时</a:t>
            </a:r>
            <a:r>
              <a:rPr kumimoji="0" lang="en-US" altLang="zh-CN" sz="2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, [CrO</a:t>
            </a:r>
            <a:r>
              <a:rPr kumimoji="0" lang="en-US" altLang="zh-CN" sz="2500" b="1" i="0" u="none" strike="noStrike" kern="1200" cap="none" spc="0" normalizeH="0" baseline="-2500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4</a:t>
            </a:r>
            <a:r>
              <a:rPr kumimoji="0" lang="en-US" altLang="zh-CN" sz="2500" b="1" i="0" u="none" strike="noStrike" kern="1200" cap="none" spc="0" normalizeH="0" baseline="3000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2-</a:t>
            </a:r>
            <a:r>
              <a:rPr kumimoji="0" lang="en-US" altLang="zh-CN" sz="2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]= 0.0100 mol·L</a:t>
            </a:r>
            <a:r>
              <a:rPr kumimoji="0" lang="en-US" altLang="zh-CN" sz="2500" b="1" i="0" u="none" strike="noStrike" kern="1200" cap="none" spc="0" normalizeH="0" baseline="3000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-1</a:t>
            </a:r>
            <a:r>
              <a:rPr kumimoji="0" lang="en-US" altLang="zh-CN" sz="2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:</a:t>
            </a:r>
          </a:p>
        </p:txBody>
      </p:sp>
      <p:graphicFrame>
        <p:nvGraphicFramePr>
          <p:cNvPr id="93194" name="对象 93193"/>
          <p:cNvGraphicFramePr>
            <a:graphicFrameLocks/>
          </p:cNvGraphicFramePr>
          <p:nvPr/>
        </p:nvGraphicFramePr>
        <p:xfrm>
          <a:off x="4344988" y="1374790"/>
          <a:ext cx="5173662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r:id="rId5" imgW="2500815" imgH="520474" progId="Equation.3">
                  <p:embed/>
                </p:oleObj>
              </mc:Choice>
              <mc:Fallback>
                <p:oleObj r:id="rId5" imgW="2500815" imgH="520474" progId="Equation.3">
                  <p:embed/>
                  <p:pic>
                    <p:nvPicPr>
                      <p:cNvPr id="93194" name="对象 9319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4988" y="1374790"/>
                        <a:ext cx="5173662" cy="1076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5" name="对象 93194"/>
          <p:cNvGraphicFramePr>
            <a:graphicFrameLocks/>
          </p:cNvGraphicFramePr>
          <p:nvPr/>
        </p:nvGraphicFramePr>
        <p:xfrm>
          <a:off x="4344988" y="2930540"/>
          <a:ext cx="5688012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r:id="rId7" imgW="2628900" imgH="749300" progId="Equation.3">
                  <p:embed/>
                </p:oleObj>
              </mc:Choice>
              <mc:Fallback>
                <p:oleObj r:id="rId7" imgW="2628900" imgH="749300" progId="Equation.3">
                  <p:embed/>
                  <p:pic>
                    <p:nvPicPr>
                      <p:cNvPr id="93195" name="对象 9319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4988" y="2930540"/>
                        <a:ext cx="5688012" cy="1620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6" name="矩形 93195"/>
          <p:cNvSpPr>
            <a:spLocks noChangeArrowheads="1"/>
          </p:cNvSpPr>
          <p:nvPr/>
        </p:nvSpPr>
        <p:spPr bwMode="auto">
          <a:xfrm>
            <a:off x="3805238" y="4559315"/>
            <a:ext cx="5196159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              = 1.67×10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-5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(mol·L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-1</a:t>
            </a:r>
            <a:r>
              <a:rPr lang="en-US" altLang="zh-CN" sz="2500" b="1" dirty="0">
                <a:solidFill>
                  <a:srgbClr val="FFFFFF"/>
                </a:solidFill>
                <a:ea typeface="华文新魏" pitchFamily="2" charset="-122"/>
              </a:rPr>
              <a:t>) </a:t>
            </a:r>
            <a:r>
              <a:rPr lang="zh-CN" altLang="en-US" sz="2500" b="1" dirty="0" smtClean="0">
                <a:solidFill>
                  <a:srgbClr val="FFFFFF"/>
                </a:solidFill>
                <a:ea typeface="华文新魏" pitchFamily="2" charset="-122"/>
              </a:rPr>
              <a:t>＞</a:t>
            </a:r>
            <a:r>
              <a:rPr lang="en-US" altLang="zh-CN" sz="2500" b="1" dirty="0" smtClean="0">
                <a:solidFill>
                  <a:srgbClr val="FFFFFF"/>
                </a:solidFill>
                <a:ea typeface="华文新魏" pitchFamily="2" charset="-122"/>
              </a:rPr>
              <a:t>10</a:t>
            </a:r>
            <a:r>
              <a:rPr lang="en-US" altLang="zh-CN" sz="2500" b="1" baseline="30000" dirty="0" smtClean="0">
                <a:solidFill>
                  <a:srgbClr val="FFFFFF"/>
                </a:solidFill>
                <a:ea typeface="华文新魏" pitchFamily="2" charset="-122"/>
              </a:rPr>
              <a:t>-5</a:t>
            </a:r>
            <a:endParaRPr kumimoji="0" lang="en-US" altLang="zh-CN" sz="2500" b="1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华文新魏" pitchFamily="2" charset="-122"/>
            </a:endParaRPr>
          </a:p>
        </p:txBody>
      </p:sp>
      <p:sp>
        <p:nvSpPr>
          <p:cNvPr id="93197" name="矩形 93196"/>
          <p:cNvSpPr/>
          <p:nvPr/>
        </p:nvSpPr>
        <p:spPr>
          <a:xfrm>
            <a:off x="3805238" y="5053028"/>
            <a:ext cx="4046537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    </a:t>
            </a:r>
            <a:r>
              <a:rPr kumimoji="0" lang="zh-CN" altLang="en-US" sz="2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不能分离完全</a:t>
            </a:r>
            <a:r>
              <a:rPr kumimoji="0" lang="en-US" altLang="zh-CN" sz="2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.</a:t>
            </a:r>
          </a:p>
        </p:txBody>
      </p:sp>
      <p:sp>
        <p:nvSpPr>
          <p:cNvPr id="205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2059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210925" y="5688013"/>
            <a:ext cx="360363" cy="360362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"/>
          <p:cNvSpPr txBox="1">
            <a:spLocks noChangeArrowheads="1"/>
          </p:cNvSpPr>
          <p:nvPr/>
        </p:nvSpPr>
        <p:spPr bwMode="auto">
          <a:xfrm>
            <a:off x="207963" y="587375"/>
            <a:ext cx="27574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n-cs"/>
              </a:rPr>
              <a:t>例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1:</a:t>
            </a:r>
          </a:p>
        </p:txBody>
      </p:sp>
      <p:sp>
        <p:nvSpPr>
          <p:cNvPr id="13" name="矩形 12"/>
          <p:cNvSpPr/>
          <p:nvPr/>
        </p:nvSpPr>
        <p:spPr>
          <a:xfrm>
            <a:off x="3736975" y="519088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解</a:t>
            </a:r>
            <a:r>
              <a:rPr kumimoji="0" lang="en-US" altLang="zh-CN" sz="25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:</a:t>
            </a:r>
            <a:endParaRPr kumimoji="0" lang="en-US" altLang="zh-CN" sz="2500" b="1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241283" y="1025509"/>
            <a:ext cx="3162300" cy="246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100mL 溶液中含 0.00100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mol 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NaCl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和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K</a:t>
            </a:r>
            <a:r>
              <a:rPr kumimoji="0" lang="en-US" altLang="zh-CN" sz="2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2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CrO</a:t>
            </a:r>
            <a:r>
              <a:rPr kumimoji="0" lang="en-US" altLang="zh-CN" sz="2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4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,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当逐滴加入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AgNO</a:t>
            </a:r>
            <a:r>
              <a:rPr kumimoji="0" lang="en-US" altLang="zh-CN" sz="2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3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时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,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产生沉淀的次序如何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?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有无分离可能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?(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忽略加入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AgNO</a:t>
            </a:r>
            <a:r>
              <a:rPr kumimoji="0" lang="en-US" altLang="zh-CN" sz="2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3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所引起的体积变化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华文新魏" pitchFamily="2" charset="-122"/>
                <a:cs typeface="+mn-cs"/>
              </a:rPr>
              <a:t>)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3314" y="3774485"/>
            <a:ext cx="27445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有分离可能时：</a:t>
            </a:r>
            <a:r>
              <a:rPr lang="en-US" altLang="zh-CN" sz="2400" b="1" dirty="0" smtClean="0"/>
              <a:t>AgNO</a:t>
            </a:r>
            <a:r>
              <a:rPr lang="en-US" altLang="zh-CN" sz="2400" b="1" baseline="-25000" dirty="0" smtClean="0"/>
              <a:t>3</a:t>
            </a:r>
            <a:r>
              <a:rPr lang="zh-CN" altLang="en-US" sz="2400" b="1" dirty="0" smtClean="0"/>
              <a:t>刚开始沉淀，</a:t>
            </a:r>
            <a:r>
              <a:rPr lang="en-US" altLang="zh-CN" sz="2400" b="1" dirty="0" err="1" smtClean="0"/>
              <a:t>AgCl</a:t>
            </a:r>
            <a:r>
              <a:rPr lang="zh-CN" altLang="en-US" sz="2400" b="1" dirty="0" smtClean="0"/>
              <a:t>完全沉淀，即</a:t>
            </a:r>
            <a:r>
              <a:rPr lang="en-US" altLang="zh-CN" sz="2400" b="1" dirty="0" smtClean="0"/>
              <a:t>Cl</a:t>
            </a:r>
            <a:r>
              <a:rPr lang="en-US" altLang="zh-CN" sz="2400" b="1" baseline="30000" dirty="0"/>
              <a:t>- </a:t>
            </a:r>
            <a:r>
              <a:rPr lang="en-US" altLang="zh-CN" sz="2400" b="1" dirty="0" smtClean="0"/>
              <a:t>≤10</a:t>
            </a:r>
            <a:r>
              <a:rPr lang="en-US" altLang="zh-CN" sz="2400" b="1" baseline="30000" dirty="0" smtClean="0"/>
              <a:t>-5 </a:t>
            </a:r>
            <a:r>
              <a:rPr lang="en-US" altLang="zh-CN" sz="2400" b="1" dirty="0" err="1" smtClean="0"/>
              <a:t>mol</a:t>
            </a:r>
            <a:r>
              <a:rPr lang="en-US" altLang="zh-CN" sz="2400" b="1" dirty="0" smtClean="0"/>
              <a:t>/L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7532585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3" grpId="0"/>
      <p:bldP spid="93193" grpId="0"/>
      <p:bldP spid="93196" grpId="0"/>
      <p:bldP spid="93197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文本框 1"/>
          <p:cNvSpPr txBox="1">
            <a:spLocks noChangeArrowheads="1"/>
          </p:cNvSpPr>
          <p:nvPr/>
        </p:nvSpPr>
        <p:spPr bwMode="auto">
          <a:xfrm>
            <a:off x="117435" y="382567"/>
            <a:ext cx="2757487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2:</a:t>
            </a:r>
          </a:p>
        </p:txBody>
      </p:sp>
      <p:sp>
        <p:nvSpPr>
          <p:cNvPr id="88070" name="矩形 88069"/>
          <p:cNvSpPr/>
          <p:nvPr/>
        </p:nvSpPr>
        <p:spPr>
          <a:xfrm>
            <a:off x="3879850" y="409558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auto"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94218" name="矩形 94217"/>
          <p:cNvSpPr/>
          <p:nvPr/>
        </p:nvSpPr>
        <p:spPr>
          <a:xfrm>
            <a:off x="58719" y="811195"/>
            <a:ext cx="3201988" cy="314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b="1" noProof="1">
                <a:ea typeface="华文新魏" pitchFamily="2" charset="-122"/>
                <a:cs typeface="+mn-ea"/>
              </a:rPr>
              <a:t>某溶液中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,Fe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3+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和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Ni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2+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浓度分别为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0.10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、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1.0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.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若要使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Fe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3+</a:t>
            </a:r>
            <a:r>
              <a:rPr lang="zh-CN" altLang="en-US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与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Ni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2+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实现定性分离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,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问应控制怎样的酸度条件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?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已知</a:t>
            </a:r>
            <a:r>
              <a:rPr lang="en-US" altLang="zh-CN" sz="2200" b="1" i="1" noProof="1">
                <a:ea typeface="华文新魏" pitchFamily="2" charset="-122"/>
                <a:cs typeface="+mn-ea"/>
              </a:rPr>
              <a:t>K</a:t>
            </a:r>
            <a:r>
              <a:rPr lang="en-US" altLang="zh-CN" sz="1600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{Fe(OH)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3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} = 2.64 </a:t>
            </a:r>
            <a:r>
              <a:rPr lang="en-US" altLang="zh-CN" sz="22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-39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;                  </a:t>
            </a:r>
            <a:r>
              <a:rPr lang="en-US" altLang="zh-CN" sz="2200" b="1" i="1" noProof="1">
                <a:ea typeface="华文新魏" pitchFamily="2" charset="-122"/>
                <a:cs typeface="+mn-ea"/>
              </a:rPr>
              <a:t>K</a:t>
            </a:r>
            <a:r>
              <a:rPr lang="en-US" altLang="zh-CN" sz="1600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{Ni(OH)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2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} = 5.47 </a:t>
            </a:r>
            <a:r>
              <a:rPr lang="en-US" altLang="zh-CN" sz="22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-16</a:t>
            </a:r>
            <a:r>
              <a:rPr lang="en-US" altLang="zh-CN" sz="22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.</a:t>
            </a:r>
            <a:endParaRPr lang="en-US" altLang="zh-CN" sz="2200" b="1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94221" name="矩形 94220"/>
          <p:cNvSpPr>
            <a:spLocks noChangeArrowheads="1"/>
          </p:cNvSpPr>
          <p:nvPr/>
        </p:nvSpPr>
        <p:spPr bwMode="auto">
          <a:xfrm>
            <a:off x="4165600" y="954071"/>
            <a:ext cx="6881849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Fe(OH)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3</a:t>
            </a:r>
            <a:r>
              <a:rPr lang="zh-CN" altLang="en-US" sz="2500" b="1" dirty="0">
                <a:ea typeface="华文新魏" pitchFamily="2" charset="-122"/>
                <a:sym typeface="Webdings" pitchFamily="18" charset="2"/>
              </a:rPr>
              <a:t>先沉淀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.</a:t>
            </a:r>
            <a:endParaRPr lang="en-US" altLang="zh-CN" sz="2500" b="1" dirty="0">
              <a:ea typeface="华文新魏" pitchFamily="2" charset="-122"/>
              <a:sym typeface="Monotype Sorts" pitchFamily="2" charset="2"/>
            </a:endParaRPr>
          </a:p>
          <a:p>
            <a:r>
              <a:rPr lang="en-US" altLang="zh-CN" sz="2500" b="1" dirty="0">
                <a:ea typeface="华文新魏" pitchFamily="2" charset="-122"/>
                <a:sym typeface="Monotype Sorts" pitchFamily="2" charset="2"/>
              </a:rPr>
              <a:t>①</a:t>
            </a:r>
            <a:r>
              <a:rPr lang="en-US" altLang="zh-CN" sz="2500" b="1" dirty="0">
                <a:ea typeface="华文新魏" pitchFamily="2" charset="-122"/>
              </a:rPr>
              <a:t>Fe(OH)</a:t>
            </a:r>
            <a:r>
              <a:rPr lang="en-US" altLang="zh-CN" sz="2500" b="1" baseline="-25000" dirty="0">
                <a:ea typeface="华文新魏" pitchFamily="2" charset="-122"/>
              </a:rPr>
              <a:t>3</a:t>
            </a:r>
            <a:r>
              <a:rPr lang="zh-CN" altLang="en-US" sz="2500" b="1" dirty="0">
                <a:ea typeface="华文新魏" pitchFamily="2" charset="-122"/>
              </a:rPr>
              <a:t>沉淀完全时</a:t>
            </a:r>
            <a:r>
              <a:rPr lang="en-US" altLang="zh-CN" sz="2500" b="1" dirty="0">
                <a:ea typeface="华文新魏" pitchFamily="2" charset="-122"/>
              </a:rPr>
              <a:t>[Fe</a:t>
            </a:r>
            <a:r>
              <a:rPr lang="en-US" altLang="zh-CN" sz="2500" b="1" baseline="30000" dirty="0">
                <a:ea typeface="华文新魏" pitchFamily="2" charset="-122"/>
              </a:rPr>
              <a:t>3+</a:t>
            </a:r>
            <a:r>
              <a:rPr lang="en-US" altLang="zh-CN" sz="2500" b="1" dirty="0">
                <a:ea typeface="华文新魏" pitchFamily="2" charset="-122"/>
              </a:rPr>
              <a:t>]≤1.0×10</a:t>
            </a:r>
            <a:r>
              <a:rPr lang="en-US" altLang="zh-CN" sz="2500" b="1" baseline="30000" dirty="0">
                <a:ea typeface="华文新魏" pitchFamily="2" charset="-122"/>
              </a:rPr>
              <a:t>-5</a:t>
            </a:r>
            <a:r>
              <a:rPr lang="en-US" altLang="zh-CN" sz="2500" b="1" dirty="0">
                <a:ea typeface="华文新魏" pitchFamily="2" charset="-122"/>
              </a:rPr>
              <a:t> mol·L</a:t>
            </a:r>
            <a:r>
              <a:rPr lang="en-US" altLang="zh-CN" sz="2500" b="1" baseline="30000" dirty="0">
                <a:ea typeface="华文新魏" pitchFamily="2" charset="-122"/>
              </a:rPr>
              <a:t>-1 </a:t>
            </a:r>
            <a:r>
              <a:rPr lang="en-US" altLang="zh-CN" sz="2500" b="1" dirty="0">
                <a:ea typeface="华文新魏" pitchFamily="2" charset="-122"/>
              </a:rPr>
              <a:t>:</a:t>
            </a:r>
          </a:p>
        </p:txBody>
      </p:sp>
      <p:sp>
        <p:nvSpPr>
          <p:cNvPr id="94239" name="矩形 94238"/>
          <p:cNvSpPr>
            <a:spLocks noChangeArrowheads="1"/>
          </p:cNvSpPr>
          <p:nvPr/>
        </p:nvSpPr>
        <p:spPr bwMode="auto">
          <a:xfrm>
            <a:off x="7515225" y="2225659"/>
            <a:ext cx="32194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= 6.42×10</a:t>
            </a:r>
            <a:r>
              <a:rPr lang="en-US" altLang="zh-CN" sz="2500" b="1" baseline="30000">
                <a:ea typeface="华文新魏" pitchFamily="2" charset="-122"/>
              </a:rPr>
              <a:t>-12 </a:t>
            </a:r>
            <a:r>
              <a:rPr lang="en-US" altLang="zh-CN" sz="2500" b="1">
                <a:ea typeface="华文新魏" pitchFamily="2" charset="-122"/>
              </a:rPr>
              <a:t>(mol·L</a:t>
            </a:r>
            <a:r>
              <a:rPr lang="en-US" altLang="zh-CN" sz="2500" b="1" baseline="30000">
                <a:ea typeface="华文新魏" pitchFamily="2" charset="-122"/>
              </a:rPr>
              <a:t>-1</a:t>
            </a:r>
            <a:r>
              <a:rPr lang="en-US" altLang="zh-CN" sz="2500" b="1">
                <a:ea typeface="华文新魏" pitchFamily="2" charset="-122"/>
              </a:rPr>
              <a:t>)</a:t>
            </a:r>
          </a:p>
        </p:txBody>
      </p:sp>
      <p:graphicFrame>
        <p:nvGraphicFramePr>
          <p:cNvPr id="94240" name="对象 94239"/>
          <p:cNvGraphicFramePr>
            <a:graphicFrameLocks/>
          </p:cNvGraphicFramePr>
          <p:nvPr/>
        </p:nvGraphicFramePr>
        <p:xfrm>
          <a:off x="4313238" y="1936734"/>
          <a:ext cx="3149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r:id="rId3" imgW="1422400" imgH="469900" progId="Equation.3">
                  <p:embed/>
                </p:oleObj>
              </mc:Choice>
              <mc:Fallback>
                <p:oleObj r:id="rId3" imgW="1422400" imgH="469900" progId="Equation.3">
                  <p:embed/>
                  <p:pic>
                    <p:nvPicPr>
                      <p:cNvPr id="0" name="对象 9423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3238" y="1936734"/>
                        <a:ext cx="3149600" cy="1041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41" name="矩形 94240"/>
          <p:cNvSpPr>
            <a:spLocks noChangeArrowheads="1"/>
          </p:cNvSpPr>
          <p:nvPr/>
        </p:nvSpPr>
        <p:spPr bwMode="auto">
          <a:xfrm>
            <a:off x="3302000" y="3025773"/>
            <a:ext cx="3101979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           pH≥2.81</a:t>
            </a:r>
          </a:p>
        </p:txBody>
      </p:sp>
      <p:sp>
        <p:nvSpPr>
          <p:cNvPr id="3081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210925" y="5688013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4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4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4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4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94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94221" grpId="0" build="p"/>
      <p:bldP spid="94239" grpId="0"/>
      <p:bldP spid="9424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60" name="对象 95259"/>
          <p:cNvGraphicFramePr>
            <a:graphicFrameLocks/>
          </p:cNvGraphicFramePr>
          <p:nvPr/>
        </p:nvGraphicFramePr>
        <p:xfrm>
          <a:off x="4346575" y="1341438"/>
          <a:ext cx="3725863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r:id="rId4" imgW="1625600" imgH="469900" progId="Equation.3">
                  <p:embed/>
                </p:oleObj>
              </mc:Choice>
              <mc:Fallback>
                <p:oleObj r:id="rId4" imgW="1625600" imgH="469900" progId="Equation.3">
                  <p:embed/>
                  <p:pic>
                    <p:nvPicPr>
                      <p:cNvPr id="0" name="对象 9525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6575" y="1341438"/>
                        <a:ext cx="3725863" cy="1076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61" name="矩形 95260"/>
          <p:cNvSpPr>
            <a:spLocks noChangeArrowheads="1"/>
          </p:cNvSpPr>
          <p:nvPr/>
        </p:nvSpPr>
        <p:spPr bwMode="auto">
          <a:xfrm>
            <a:off x="8162925" y="1701800"/>
            <a:ext cx="31115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= 2.34×10</a:t>
            </a:r>
            <a:r>
              <a:rPr lang="en-US" altLang="zh-CN" sz="2500" b="1" baseline="30000" dirty="0">
                <a:ea typeface="华文新魏" pitchFamily="2" charset="-122"/>
              </a:rPr>
              <a:t>-8 </a:t>
            </a:r>
            <a:r>
              <a:rPr lang="en-US" altLang="zh-CN" sz="2500" b="1" dirty="0">
                <a:ea typeface="华文新魏" pitchFamily="2" charset="-122"/>
              </a:rPr>
              <a:t>(mol·L</a:t>
            </a:r>
            <a:r>
              <a:rPr lang="en-US" altLang="zh-CN" sz="2500" b="1" baseline="30000" dirty="0">
                <a:ea typeface="华文新魏" pitchFamily="2" charset="-122"/>
              </a:rPr>
              <a:t>-1</a:t>
            </a:r>
            <a:r>
              <a:rPr lang="en-US" altLang="zh-CN" sz="2500" b="1" dirty="0">
                <a:ea typeface="华文新魏" pitchFamily="2" charset="-122"/>
              </a:rPr>
              <a:t>)</a:t>
            </a:r>
          </a:p>
        </p:txBody>
      </p:sp>
      <p:sp>
        <p:nvSpPr>
          <p:cNvPr id="95262" name="矩形 95261"/>
          <p:cNvSpPr>
            <a:spLocks noChangeArrowheads="1"/>
          </p:cNvSpPr>
          <p:nvPr/>
        </p:nvSpPr>
        <p:spPr bwMode="auto">
          <a:xfrm>
            <a:off x="4346575" y="2420938"/>
            <a:ext cx="15160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pH &gt; 6.37</a:t>
            </a:r>
          </a:p>
        </p:txBody>
      </p:sp>
      <p:sp>
        <p:nvSpPr>
          <p:cNvPr id="95266" name="矩形 95265"/>
          <p:cNvSpPr>
            <a:spLocks noChangeArrowheads="1"/>
          </p:cNvSpPr>
          <p:nvPr/>
        </p:nvSpPr>
        <p:spPr bwMode="auto">
          <a:xfrm>
            <a:off x="3876676" y="2987675"/>
            <a:ext cx="6420866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</a:rPr>
              <a:t>      ∴</a:t>
            </a:r>
            <a:r>
              <a:rPr lang="zh-CN" altLang="zh-CN" sz="2500" b="1" dirty="0">
                <a:ea typeface="华文新魏" pitchFamily="2" charset="-122"/>
              </a:rPr>
              <a:t>控制pH= 2.81 ~ 6.37 就可除去</a:t>
            </a:r>
            <a:r>
              <a:rPr lang="en-US" altLang="zh-CN" sz="2500" b="1" dirty="0">
                <a:ea typeface="华文新魏" pitchFamily="2" charset="-122"/>
              </a:rPr>
              <a:t>Fe</a:t>
            </a:r>
            <a:r>
              <a:rPr lang="en-US" altLang="zh-CN" sz="2500" b="1" baseline="30000" dirty="0">
                <a:ea typeface="华文新魏" pitchFamily="2" charset="-122"/>
              </a:rPr>
              <a:t>3+</a:t>
            </a:r>
            <a:r>
              <a:rPr lang="en-US" altLang="zh-CN" sz="2500" b="1" baseline="-25000" dirty="0">
                <a:ea typeface="华文新魏" pitchFamily="2" charset="-122"/>
              </a:rPr>
              <a:t> </a:t>
            </a:r>
            <a:r>
              <a:rPr lang="en-US" altLang="zh-CN" sz="2500" b="1" dirty="0">
                <a:ea typeface="华文新魏" pitchFamily="2" charset="-122"/>
              </a:rPr>
              <a:t>.</a:t>
            </a:r>
          </a:p>
          <a:p>
            <a:r>
              <a:rPr lang="zh-CN" altLang="zh-CN" sz="2500" b="1" dirty="0">
                <a:solidFill>
                  <a:schemeClr val="bg1"/>
                </a:solidFill>
                <a:ea typeface="华文新魏" pitchFamily="2" charset="-122"/>
              </a:rPr>
              <a:t>结论:</a:t>
            </a:r>
          </a:p>
          <a:p>
            <a:r>
              <a:rPr lang="zh-CN" altLang="zh-CN" sz="2500" b="1" dirty="0">
                <a:ea typeface="华文新魏" pitchFamily="2" charset="-122"/>
                <a:sym typeface="Monotype Sorts" pitchFamily="2" charset="2"/>
              </a:rPr>
              <a:t> ①</a:t>
            </a:r>
            <a:r>
              <a:rPr lang="zh-CN" altLang="en-US" sz="2500" b="1" dirty="0">
                <a:ea typeface="华文新魏" pitchFamily="2" charset="-122"/>
              </a:rPr>
              <a:t>开始沉淀和沉淀完全</a:t>
            </a:r>
            <a:r>
              <a:rPr lang="en-US" altLang="zh-CN" sz="2500" b="1" dirty="0">
                <a:ea typeface="华文新魏" pitchFamily="2" charset="-122"/>
              </a:rPr>
              <a:t>pH;</a:t>
            </a:r>
          </a:p>
          <a:p>
            <a:r>
              <a:rPr lang="zh-CN" altLang="zh-CN" sz="2500" b="1" dirty="0">
                <a:ea typeface="华文新魏" pitchFamily="2" charset="-122"/>
                <a:sym typeface="Monotype Sorts" pitchFamily="2" charset="2"/>
              </a:rPr>
              <a:t> ②</a:t>
            </a:r>
            <a:r>
              <a:rPr lang="zh-CN" altLang="en-US" sz="2500" b="1" dirty="0">
                <a:ea typeface="华文新魏" pitchFamily="2" charset="-122"/>
              </a:rPr>
              <a:t>不同沉淀</a:t>
            </a:r>
            <a:r>
              <a:rPr lang="en-US" altLang="zh-CN" sz="2500" b="1" dirty="0">
                <a:ea typeface="华文新魏" pitchFamily="2" charset="-122"/>
              </a:rPr>
              <a:t>, 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b="1" baseline="8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zh-CN" altLang="en-US" sz="2500" b="1" dirty="0">
                <a:ea typeface="华文新魏" pitchFamily="2" charset="-122"/>
              </a:rPr>
              <a:t>不同</a:t>
            </a:r>
            <a:r>
              <a:rPr lang="en-US" altLang="zh-CN" sz="2500" b="1" dirty="0">
                <a:ea typeface="华文新魏" pitchFamily="2" charset="-122"/>
              </a:rPr>
              <a:t>,</a:t>
            </a:r>
            <a:r>
              <a:rPr lang="zh-CN" altLang="en-US" sz="2500" b="1" dirty="0">
                <a:ea typeface="华文新魏" pitchFamily="2" charset="-122"/>
              </a:rPr>
              <a:t>所需</a:t>
            </a:r>
            <a:r>
              <a:rPr lang="en-US" altLang="zh-CN" sz="2500" b="1" dirty="0">
                <a:ea typeface="华文新魏" pitchFamily="2" charset="-122"/>
              </a:rPr>
              <a:t>pH</a:t>
            </a:r>
            <a:r>
              <a:rPr lang="zh-CN" altLang="en-US" sz="2500" b="1" dirty="0">
                <a:ea typeface="华文新魏" pitchFamily="2" charset="-122"/>
              </a:rPr>
              <a:t>不同</a:t>
            </a:r>
            <a:r>
              <a:rPr lang="en-US" altLang="zh-CN" sz="2500" b="1" dirty="0">
                <a:ea typeface="华文新魏" pitchFamily="2" charset="-122"/>
              </a:rPr>
              <a:t>.</a:t>
            </a:r>
          </a:p>
        </p:txBody>
      </p:sp>
      <p:sp>
        <p:nvSpPr>
          <p:cNvPr id="95271" name="矩形 95270"/>
          <p:cNvSpPr>
            <a:spLocks noChangeArrowheads="1"/>
          </p:cNvSpPr>
          <p:nvPr/>
        </p:nvSpPr>
        <p:spPr bwMode="auto">
          <a:xfrm>
            <a:off x="3373438" y="792163"/>
            <a:ext cx="764418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华文新魏" pitchFamily="2" charset="-122"/>
                <a:sym typeface="Monotype Sorts" pitchFamily="2" charset="2"/>
              </a:rPr>
              <a:t>      ②</a:t>
            </a:r>
            <a:r>
              <a:rPr lang="en-US" altLang="zh-CN" sz="2500" b="1" dirty="0">
                <a:ea typeface="华文新魏" pitchFamily="2" charset="-122"/>
              </a:rPr>
              <a:t>Ni(OH)</a:t>
            </a:r>
            <a:r>
              <a:rPr lang="en-US" altLang="zh-CN" sz="2500" b="1" baseline="-25000" dirty="0">
                <a:ea typeface="华文新魏" pitchFamily="2" charset="-122"/>
              </a:rPr>
              <a:t>2</a:t>
            </a:r>
            <a:r>
              <a:rPr lang="zh-CN" altLang="en-US" sz="2500" b="1" dirty="0">
                <a:ea typeface="华文新魏" pitchFamily="2" charset="-122"/>
              </a:rPr>
              <a:t>开始沉淀</a:t>
            </a:r>
            <a:r>
              <a:rPr lang="en-US" altLang="zh-CN" sz="2500" b="1" dirty="0">
                <a:ea typeface="华文新魏" pitchFamily="2" charset="-122"/>
              </a:rPr>
              <a:t>[Ni</a:t>
            </a:r>
            <a:r>
              <a:rPr lang="en-US" altLang="zh-CN" sz="2500" b="1" baseline="30000" dirty="0">
                <a:ea typeface="华文新魏" pitchFamily="2" charset="-122"/>
              </a:rPr>
              <a:t>2+</a:t>
            </a:r>
            <a:r>
              <a:rPr lang="en-US" altLang="zh-CN" sz="2500" b="1" dirty="0">
                <a:ea typeface="华文新魏" pitchFamily="2" charset="-122"/>
              </a:rPr>
              <a:t>][OH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]</a:t>
            </a:r>
            <a:r>
              <a:rPr lang="en-US" altLang="zh-CN" sz="2500" b="1" baseline="30000" dirty="0">
                <a:ea typeface="华文新魏" pitchFamily="2" charset="-122"/>
              </a:rPr>
              <a:t>2</a:t>
            </a:r>
            <a:r>
              <a:rPr lang="zh-CN" altLang="en-US" sz="2500" b="1" baseline="-25000" dirty="0">
                <a:ea typeface="华文新魏" pitchFamily="2" charset="-122"/>
              </a:rPr>
              <a:t>开始</a:t>
            </a:r>
            <a:r>
              <a:rPr lang="en-US" altLang="zh-CN" sz="2500" b="1" dirty="0">
                <a:ea typeface="华文新魏" pitchFamily="2" charset="-122"/>
              </a:rPr>
              <a:t> &gt; 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b="1" baseline="80000" dirty="0" err="1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  <a:sym typeface="Webdings" pitchFamily="18" charset="2"/>
              </a:rPr>
              <a:t>, </a:t>
            </a:r>
            <a:r>
              <a:rPr lang="en-US" altLang="zh-CN" sz="2500" b="1" baseline="-25000" dirty="0">
                <a:ea typeface="华文新魏" pitchFamily="2" charset="-122"/>
                <a:sym typeface="Webdings" pitchFamily="18" charset="2"/>
              </a:rPr>
              <a:t>Ni(OH)</a:t>
            </a:r>
            <a:r>
              <a:rPr lang="en-US" altLang="zh-CN" sz="2500" b="1" baseline="-50000" dirty="0">
                <a:ea typeface="华文新魏" pitchFamily="2" charset="-122"/>
                <a:sym typeface="Webdings" pitchFamily="18" charset="2"/>
              </a:rPr>
              <a:t>2</a:t>
            </a:r>
          </a:p>
        </p:txBody>
      </p:sp>
      <p:sp>
        <p:nvSpPr>
          <p:cNvPr id="410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210925" y="5688013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6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框 1"/>
          <p:cNvSpPr txBox="1">
            <a:spLocks noChangeArrowheads="1"/>
          </p:cNvSpPr>
          <p:nvPr/>
        </p:nvSpPr>
        <p:spPr bwMode="auto">
          <a:xfrm>
            <a:off x="117435" y="382567"/>
            <a:ext cx="2757487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 dirty="0">
                <a:solidFill>
                  <a:srgbClr val="FFFF00"/>
                </a:solidFill>
                <a:ea typeface="华文新魏" pitchFamily="2" charset="-122"/>
              </a:rPr>
              <a:t>2:</a:t>
            </a:r>
          </a:p>
        </p:txBody>
      </p:sp>
      <p:sp>
        <p:nvSpPr>
          <p:cNvPr id="12" name="矩形 11"/>
          <p:cNvSpPr/>
          <p:nvPr/>
        </p:nvSpPr>
        <p:spPr>
          <a:xfrm>
            <a:off x="3879850" y="409558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auto"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8719" y="811195"/>
            <a:ext cx="3201988" cy="314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200" b="1" noProof="1">
                <a:ea typeface="华文新魏" pitchFamily="2" charset="-122"/>
                <a:cs typeface="+mn-ea"/>
              </a:rPr>
              <a:t>某溶液中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,Fe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3+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和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Ni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2+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浓度分别为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0.10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、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1.0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-1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.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若要使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Fe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3+</a:t>
            </a:r>
            <a:r>
              <a:rPr lang="zh-CN" altLang="en-US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与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Ni</a:t>
            </a:r>
            <a:r>
              <a:rPr lang="en-US" altLang="zh-CN" sz="2200" b="1" baseline="30000" noProof="1">
                <a:ea typeface="华文新魏" pitchFamily="2" charset="-122"/>
                <a:cs typeface="+mn-ea"/>
              </a:rPr>
              <a:t>2+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实现定性分离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,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问应控制怎样的酸度条件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?</a:t>
            </a:r>
            <a:r>
              <a:rPr lang="zh-CN" altLang="en-US" sz="2200" b="1" noProof="1">
                <a:ea typeface="华文新魏" pitchFamily="2" charset="-122"/>
                <a:cs typeface="+mn-ea"/>
              </a:rPr>
              <a:t>已知</a:t>
            </a:r>
            <a:r>
              <a:rPr lang="en-US" altLang="zh-CN" sz="2200" b="1" i="1" noProof="1">
                <a:ea typeface="华文新魏" pitchFamily="2" charset="-122"/>
                <a:cs typeface="+mn-ea"/>
              </a:rPr>
              <a:t>K</a:t>
            </a:r>
            <a:r>
              <a:rPr lang="en-US" altLang="zh-CN" sz="1600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{Fe(OH)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3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} = 2.64 </a:t>
            </a:r>
            <a:r>
              <a:rPr lang="en-US" altLang="zh-CN" sz="22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-39</a:t>
            </a:r>
            <a:r>
              <a:rPr lang="en-US" altLang="zh-CN" sz="2200" b="1" noProof="1">
                <a:ea typeface="华文新魏" pitchFamily="2" charset="-122"/>
                <a:cs typeface="+mn-ea"/>
              </a:rPr>
              <a:t>;                  </a:t>
            </a:r>
            <a:r>
              <a:rPr lang="en-US" altLang="zh-CN" sz="2200" b="1" i="1" noProof="1">
                <a:ea typeface="华文新魏" pitchFamily="2" charset="-122"/>
                <a:cs typeface="+mn-ea"/>
              </a:rPr>
              <a:t>K</a:t>
            </a:r>
            <a:r>
              <a:rPr lang="en-US" altLang="zh-CN" sz="1600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{Ni(OH)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2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} = 5.47 </a:t>
            </a:r>
            <a:r>
              <a:rPr lang="en-US" altLang="zh-CN" sz="22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-16</a:t>
            </a:r>
            <a:r>
              <a:rPr lang="en-US" altLang="zh-CN" sz="22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.</a:t>
            </a:r>
            <a:endParaRPr lang="en-US" altLang="zh-CN" sz="2200" b="1" noProof="1">
              <a:ea typeface="华文新魏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5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5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95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95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95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61" grpId="0"/>
      <p:bldP spid="95262" grpId="0"/>
      <p:bldP spid="95266" grpId="0" uiExpand="1" build="p"/>
      <p:bldP spid="952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文本框 1"/>
          <p:cNvSpPr txBox="1">
            <a:spLocks noChangeArrowheads="1"/>
          </p:cNvSpPr>
          <p:nvPr/>
        </p:nvSpPr>
        <p:spPr bwMode="auto">
          <a:xfrm>
            <a:off x="117475" y="454025"/>
            <a:ext cx="2757488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3:</a:t>
            </a:r>
          </a:p>
        </p:txBody>
      </p:sp>
      <p:sp>
        <p:nvSpPr>
          <p:cNvPr id="88070" name="矩形 88069"/>
          <p:cNvSpPr/>
          <p:nvPr/>
        </p:nvSpPr>
        <p:spPr>
          <a:xfrm>
            <a:off x="3879850" y="525443"/>
            <a:ext cx="608013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auto"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94218" name="矩形 94217"/>
          <p:cNvSpPr/>
          <p:nvPr/>
        </p:nvSpPr>
        <p:spPr>
          <a:xfrm>
            <a:off x="117475" y="811195"/>
            <a:ext cx="3201988" cy="2913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在浓度均为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0.10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+mn-ea"/>
              </a:rPr>
              <a:t>-1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的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Cd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+mn-ea"/>
              </a:rPr>
              <a:t>2+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和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Zn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+mn-ea"/>
              </a:rPr>
              <a:t>2+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溶液中通入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H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+mn-ea"/>
              </a:rPr>
              <a:t>2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S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并使之达到饱和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.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问应控制怎样的酸度条件才能使两者定性分离完全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.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已知</a:t>
            </a:r>
            <a:r>
              <a:rPr lang="en-US" altLang="zh-CN" sz="2200" b="1" i="1" noProof="1">
                <a:ea typeface="华文新魏" pitchFamily="2" charset="-122"/>
                <a:cs typeface="+mn-ea"/>
                <a:sym typeface="+mn-ea"/>
              </a:rPr>
              <a:t>K</a:t>
            </a:r>
            <a:r>
              <a:rPr lang="en-US" altLang="zh-CN" sz="1600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(CdS) = 8.0 </a:t>
            </a:r>
            <a:r>
              <a:rPr lang="en-US" altLang="zh-CN" sz="22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-27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; </a:t>
            </a:r>
            <a:r>
              <a:rPr lang="en-US" altLang="zh-CN" sz="2200" b="1" i="1" noProof="1">
                <a:ea typeface="华文新魏" pitchFamily="2" charset="-122"/>
                <a:cs typeface="+mn-ea"/>
                <a:sym typeface="+mn-ea"/>
              </a:rPr>
              <a:t>K</a:t>
            </a:r>
            <a:r>
              <a:rPr lang="en-US" altLang="zh-CN" sz="1600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2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(ZnS) = 2.5 </a:t>
            </a:r>
            <a:r>
              <a:rPr lang="en-US" altLang="zh-CN" sz="22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-22</a:t>
            </a:r>
            <a:r>
              <a:rPr lang="en-US" altLang="zh-CN" sz="22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.</a:t>
            </a:r>
            <a:endParaRPr lang="en-US" altLang="zh-CN" sz="2200" b="1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96288" name="矩形 96287"/>
          <p:cNvSpPr/>
          <p:nvPr/>
        </p:nvSpPr>
        <p:spPr>
          <a:xfrm>
            <a:off x="4487863" y="525443"/>
            <a:ext cx="5788025" cy="8620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Cd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2+</a:t>
            </a:r>
            <a:r>
              <a:rPr lang="zh-CN" altLang="en-US" sz="2500" b="1" noProof="1">
                <a:ea typeface="华文新魏" pitchFamily="2" charset="-122"/>
                <a:cs typeface="+mn-ea"/>
              </a:rPr>
              <a:t>沉淀完全，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[S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2-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]</a:t>
            </a:r>
            <a:r>
              <a:rPr lang="zh-CN" altLang="en-US" sz="2500" b="1" baseline="-25000" noProof="1">
                <a:ea typeface="华文新魏" pitchFamily="2" charset="-122"/>
                <a:cs typeface="+mn-ea"/>
              </a:rPr>
              <a:t>终</a:t>
            </a:r>
            <a:r>
              <a:rPr lang="zh-CN" altLang="zh-CN" sz="2500" b="1" noProof="1">
                <a:ea typeface="华文新魏" pitchFamily="2" charset="-122"/>
                <a:cs typeface="+mn-ea"/>
              </a:rPr>
              <a:t>≥</a:t>
            </a:r>
            <a:r>
              <a:rPr lang="zh-CN" altLang="en-US" sz="2500" b="1" noProof="1">
                <a:ea typeface="华文新魏" pitchFamily="2" charset="-122"/>
                <a:cs typeface="+mn-ea"/>
              </a:rPr>
              <a:t> </a:t>
            </a:r>
            <a:r>
              <a:rPr lang="en-US" altLang="zh-CN" sz="2500" b="1" i="1" noProof="1">
                <a:ea typeface="华文新魏" pitchFamily="2" charset="-122"/>
                <a:cs typeface="+mn-ea"/>
              </a:rPr>
              <a:t>K</a:t>
            </a:r>
            <a:r>
              <a:rPr lang="en-US" altLang="zh-CN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5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(CdS)/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[Cd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2+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]</a:t>
            </a:r>
            <a:endParaRPr lang="en-US" altLang="zh-CN" sz="2500" b="1" baseline="30000" noProof="1">
              <a:ea typeface="华文新魏" pitchFamily="2" charset="-122"/>
            </a:endParaRPr>
          </a:p>
          <a:p>
            <a:pPr>
              <a:defRPr/>
            </a:pP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                                                    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= </a:t>
            </a:r>
            <a:r>
              <a:rPr lang="en-US" altLang="zh-CN" sz="25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8.0 </a:t>
            </a:r>
            <a:r>
              <a:rPr lang="en-US" altLang="zh-CN" sz="2500" b="1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10</a:t>
            </a:r>
            <a:r>
              <a:rPr lang="en-US" altLang="zh-CN" sz="2500" b="1" baseline="30000" noProof="1">
                <a:ea typeface="华文新魏" pitchFamily="2" charset="-122"/>
                <a:cs typeface="+mn-ea"/>
                <a:sym typeface="Symbol" panose="05050102010706020507" pitchFamily="18" charset="2"/>
              </a:rPr>
              <a:t>-22 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mol·L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-1</a:t>
            </a:r>
            <a:endParaRPr lang="en-US" altLang="zh-CN" sz="2500" b="1" baseline="30000" noProof="1">
              <a:ea typeface="华文新魏" pitchFamily="2" charset="-122"/>
            </a:endParaRPr>
          </a:p>
        </p:txBody>
      </p:sp>
      <p:sp>
        <p:nvSpPr>
          <p:cNvPr id="96289" name="矩形 96288"/>
          <p:cNvSpPr/>
          <p:nvPr/>
        </p:nvSpPr>
        <p:spPr>
          <a:xfrm>
            <a:off x="4136055" y="3256943"/>
            <a:ext cx="2900363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[H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+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]</a:t>
            </a:r>
            <a:r>
              <a:rPr lang="zh-CN" altLang="en-US" sz="2500" b="1" baseline="-25000" noProof="1">
                <a:ea typeface="华文新魏" pitchFamily="2" charset="-122"/>
                <a:cs typeface="+mn-ea"/>
              </a:rPr>
              <a:t>终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≤ 0.37 mol·L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-1</a:t>
            </a:r>
            <a:endParaRPr lang="en-US" altLang="zh-CN" sz="2500" b="1" baseline="30000" noProof="1">
              <a:ea typeface="华文新魏" pitchFamily="2" charset="-122"/>
            </a:endParaRPr>
          </a:p>
        </p:txBody>
      </p:sp>
      <p:sp>
        <p:nvSpPr>
          <p:cNvPr id="96290" name="矩形 96289"/>
          <p:cNvSpPr/>
          <p:nvPr/>
        </p:nvSpPr>
        <p:spPr>
          <a:xfrm>
            <a:off x="3923506" y="3867729"/>
            <a:ext cx="7467600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ZnS</a:t>
            </a:r>
            <a:r>
              <a:rPr lang="zh-CN" altLang="en-US" sz="2500" b="1" noProof="1">
                <a:ea typeface="华文新魏" pitchFamily="2" charset="-122"/>
                <a:cs typeface="+mn-ea"/>
              </a:rPr>
              <a:t>开始沉淀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[S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2-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]</a:t>
            </a:r>
            <a:r>
              <a:rPr lang="zh-CN" altLang="en-US" sz="2500" b="1" baseline="-25000" noProof="1">
                <a:ea typeface="华文新魏" pitchFamily="2" charset="-122"/>
                <a:cs typeface="+mn-ea"/>
              </a:rPr>
              <a:t>始</a:t>
            </a:r>
            <a:r>
              <a:rPr lang="zh-CN" altLang="zh-CN" sz="2500" b="1" noProof="1">
                <a:ea typeface="华文新魏" pitchFamily="2" charset="-122"/>
                <a:cs typeface="+mn-ea"/>
              </a:rPr>
              <a:t>≥</a:t>
            </a:r>
            <a:r>
              <a:rPr lang="zh-CN" altLang="en-US" sz="2500" b="1" noProof="1">
                <a:ea typeface="华文新魏" pitchFamily="2" charset="-122"/>
                <a:cs typeface="+mn-ea"/>
              </a:rPr>
              <a:t> </a:t>
            </a:r>
            <a:r>
              <a:rPr lang="en-US" altLang="zh-CN" sz="2500" b="1" i="1" noProof="1">
                <a:ea typeface="华文新魏" pitchFamily="2" charset="-122"/>
                <a:cs typeface="+mn-ea"/>
              </a:rPr>
              <a:t>K</a:t>
            </a:r>
            <a:r>
              <a:rPr lang="en-US" altLang="zh-CN" b="1" baseline="100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500" b="1" noProof="1">
                <a:ea typeface="华文新魏" pitchFamily="2" charset="-122"/>
                <a:cs typeface="+mn-ea"/>
                <a:sym typeface="Webdings" panose="05030102010509060703" pitchFamily="18" charset="2"/>
              </a:rPr>
              <a:t>(ZnS)/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[Zn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2+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]</a:t>
            </a:r>
            <a:endParaRPr lang="en-US" altLang="zh-CN" sz="2500" b="1" baseline="30000" noProof="1">
              <a:ea typeface="华文新魏" pitchFamily="2" charset="-122"/>
            </a:endParaRPr>
          </a:p>
        </p:txBody>
      </p:sp>
      <p:sp>
        <p:nvSpPr>
          <p:cNvPr id="96291" name="矩形 96290"/>
          <p:cNvSpPr/>
          <p:nvPr/>
        </p:nvSpPr>
        <p:spPr>
          <a:xfrm>
            <a:off x="4183856" y="4635153"/>
            <a:ext cx="3387725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[H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+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]</a:t>
            </a:r>
            <a:r>
              <a:rPr lang="zh-CN" altLang="en-US" sz="2500" b="1" baseline="-25000" noProof="1">
                <a:ea typeface="华文新魏" pitchFamily="2" charset="-122"/>
                <a:cs typeface="+mn-ea"/>
              </a:rPr>
              <a:t>始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= 0.21 mol·L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-1</a:t>
            </a:r>
            <a:endParaRPr lang="en-US" altLang="zh-CN" sz="2500" b="1" baseline="30000" noProof="1">
              <a:ea typeface="华文新魏" pitchFamily="2" charset="-122"/>
            </a:endParaRPr>
          </a:p>
        </p:txBody>
      </p:sp>
      <p:sp>
        <p:nvSpPr>
          <p:cNvPr id="7177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210925" y="5688013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698759"/>
              </p:ext>
            </p:extLst>
          </p:nvPr>
        </p:nvGraphicFramePr>
        <p:xfrm>
          <a:off x="4156144" y="1856028"/>
          <a:ext cx="321468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公式" r:id="rId7" imgW="1346040" imgH="482400" progId="Equation.3">
                  <p:embed/>
                </p:oleObj>
              </mc:Choice>
              <mc:Fallback>
                <p:oleObj name="公式" r:id="rId7" imgW="1346040" imgH="482400" progId="Equation.3">
                  <p:embed/>
                  <p:pic>
                    <p:nvPicPr>
                      <p:cNvPr id="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144" y="1856028"/>
                        <a:ext cx="3214688" cy="9937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6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6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96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6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28000"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96288" grpId="0" build="p"/>
      <p:bldP spid="96289" grpId="0"/>
      <p:bldP spid="96290" grpId="0" build="p"/>
      <p:bldP spid="9629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文本框 1"/>
          <p:cNvSpPr txBox="1">
            <a:spLocks noChangeArrowheads="1"/>
          </p:cNvSpPr>
          <p:nvPr/>
        </p:nvSpPr>
        <p:spPr bwMode="auto">
          <a:xfrm>
            <a:off x="136525" y="587375"/>
            <a:ext cx="2757488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2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sz="2200" b="1">
                <a:solidFill>
                  <a:srgbClr val="FFFF00"/>
                </a:solidFill>
                <a:ea typeface="华文新魏" pitchFamily="2" charset="-122"/>
              </a:rPr>
              <a:t>4:</a:t>
            </a:r>
          </a:p>
        </p:txBody>
      </p:sp>
      <p:sp>
        <p:nvSpPr>
          <p:cNvPr id="88070" name="矩形 88069"/>
          <p:cNvSpPr/>
          <p:nvPr/>
        </p:nvSpPr>
        <p:spPr>
          <a:xfrm>
            <a:off x="3879850" y="596881"/>
            <a:ext cx="612775" cy="4778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fontAlgn="auto">
              <a:defRPr/>
            </a:pPr>
            <a:r>
              <a:rPr lang="zh-CN" altLang="en-US" sz="2500" b="1" noProof="1">
                <a:solidFill>
                  <a:srgbClr val="FFFF00"/>
                </a:solidFill>
                <a:ea typeface="华文新魏" pitchFamily="2" charset="-122"/>
              </a:rPr>
              <a:t>解</a:t>
            </a:r>
            <a:r>
              <a:rPr lang="en-US" altLang="zh-CN" sz="2500" b="1" noProof="1">
                <a:solidFill>
                  <a:srgbClr val="FFFF00"/>
                </a:solidFill>
                <a:ea typeface="华文新魏" pitchFamily="2" charset="-122"/>
              </a:rPr>
              <a:t>:</a:t>
            </a:r>
            <a:endParaRPr lang="en-US" altLang="zh-CN" sz="250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华文新魏" pitchFamily="2" charset="-122"/>
            </a:endParaRPr>
          </a:p>
        </p:txBody>
      </p:sp>
      <p:sp>
        <p:nvSpPr>
          <p:cNvPr id="94218" name="矩形 94217"/>
          <p:cNvSpPr/>
          <p:nvPr/>
        </p:nvSpPr>
        <p:spPr>
          <a:xfrm>
            <a:off x="130157" y="954071"/>
            <a:ext cx="3201988" cy="1501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0.20 mol BaSO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+mn-ea"/>
              </a:rPr>
              <a:t>4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, 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用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1.0L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饱和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Na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+mn-ea"/>
              </a:rPr>
              <a:t>2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CO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+mn-ea"/>
              </a:rPr>
              <a:t>3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(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浓度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1.6 mol·L</a:t>
            </a:r>
            <a:r>
              <a:rPr lang="en-US" altLang="zh-CN" sz="2200" b="1" baseline="30000" noProof="1">
                <a:ea typeface="华文新魏" pitchFamily="2" charset="-122"/>
                <a:cs typeface="+mn-ea"/>
                <a:sym typeface="+mn-ea"/>
              </a:rPr>
              <a:t>-1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 )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处理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,</a:t>
            </a:r>
            <a:r>
              <a:rPr lang="zh-CN" altLang="en-US" sz="2200" b="1" noProof="1">
                <a:ea typeface="华文新魏" pitchFamily="2" charset="-122"/>
                <a:cs typeface="+mn-ea"/>
                <a:sym typeface="+mn-ea"/>
              </a:rPr>
              <a:t>可使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BaSO</a:t>
            </a:r>
            <a:r>
              <a:rPr lang="en-US" altLang="zh-CN" sz="2200" b="1" baseline="-25000" noProof="1">
                <a:ea typeface="华文新魏" pitchFamily="2" charset="-122"/>
                <a:cs typeface="+mn-ea"/>
                <a:sym typeface="+mn-ea"/>
              </a:rPr>
              <a:t>4</a:t>
            </a:r>
            <a:r>
              <a:rPr lang="zh-CN" altLang="zh-CN" sz="2200" b="1" noProof="1">
                <a:ea typeface="华文新魏" pitchFamily="2" charset="-122"/>
                <a:cs typeface="+mn-ea"/>
                <a:sym typeface="+mn-ea"/>
              </a:rPr>
              <a:t>(s)溶解多少</a:t>
            </a:r>
            <a:r>
              <a:rPr lang="en-US" altLang="zh-CN" sz="2200" b="1" noProof="1">
                <a:ea typeface="华文新魏" pitchFamily="2" charset="-122"/>
                <a:cs typeface="+mn-ea"/>
                <a:sym typeface="+mn-ea"/>
              </a:rPr>
              <a:t>mol?</a:t>
            </a:r>
            <a:endParaRPr lang="en-US" altLang="zh-CN" sz="2200" b="1" noProof="1"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103436" name="矩形 103435"/>
          <p:cNvSpPr/>
          <p:nvPr/>
        </p:nvSpPr>
        <p:spPr>
          <a:xfrm>
            <a:off x="4248150" y="1035050"/>
            <a:ext cx="6484938" cy="854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noProof="1">
                <a:ea typeface="华文新魏" pitchFamily="2" charset="-122"/>
                <a:cs typeface="+mn-ea"/>
              </a:rPr>
              <a:t>转化反应为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:</a:t>
            </a:r>
            <a:endParaRPr lang="en-US" altLang="zh-CN" sz="2500" b="1" noProof="1">
              <a:ea typeface="华文新魏" pitchFamily="2" charset="-122"/>
            </a:endParaRPr>
          </a:p>
          <a:p>
            <a:pPr>
              <a:defRPr/>
            </a:pPr>
            <a:r>
              <a:rPr lang="en-US" altLang="zh-CN" sz="2500" b="1" noProof="1">
                <a:ea typeface="华文新魏" pitchFamily="2" charset="-122"/>
                <a:cs typeface="+mn-ea"/>
              </a:rPr>
              <a:t> BaSO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4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(s) + CO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3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2-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(aq) ⇋ BaCO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3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(s) + SO</a:t>
            </a:r>
            <a:r>
              <a:rPr lang="en-US" altLang="zh-CN" sz="2500" b="1" baseline="-25000" noProof="1">
                <a:ea typeface="华文新魏" pitchFamily="2" charset="-122"/>
                <a:cs typeface="+mn-ea"/>
              </a:rPr>
              <a:t>4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2-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(aq)</a:t>
            </a:r>
            <a:endParaRPr lang="en-US" altLang="zh-CN" sz="2500" b="1" noProof="1">
              <a:ea typeface="华文新魏" pitchFamily="2" charset="-122"/>
            </a:endParaRPr>
          </a:p>
        </p:txBody>
      </p:sp>
      <p:sp>
        <p:nvSpPr>
          <p:cNvPr id="103438" name="矩形 103437"/>
          <p:cNvSpPr>
            <a:spLocks noChangeArrowheads="1"/>
          </p:cNvSpPr>
          <p:nvPr/>
        </p:nvSpPr>
        <p:spPr bwMode="auto">
          <a:xfrm>
            <a:off x="6299200" y="1898650"/>
            <a:ext cx="10683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(1.6-</a:t>
            </a:r>
            <a:r>
              <a:rPr lang="en-US" altLang="zh-CN" sz="2500" b="1" i="1">
                <a:ea typeface="华文新魏" pitchFamily="2" charset="-122"/>
              </a:rPr>
              <a:t>x</a:t>
            </a:r>
            <a:r>
              <a:rPr lang="en-US" altLang="zh-CN" sz="2500" b="1">
                <a:ea typeface="华文新魏" pitchFamily="2" charset="-122"/>
              </a:rPr>
              <a:t>)</a:t>
            </a:r>
          </a:p>
        </p:txBody>
      </p:sp>
      <p:graphicFrame>
        <p:nvGraphicFramePr>
          <p:cNvPr id="103440" name="对象 103439"/>
          <p:cNvGraphicFramePr>
            <a:graphicFrameLocks/>
          </p:cNvGraphicFramePr>
          <p:nvPr/>
        </p:nvGraphicFramePr>
        <p:xfrm>
          <a:off x="5475288" y="2366963"/>
          <a:ext cx="4092575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r:id="rId6" imgW="1878785" imgH="495085" progId="Equation.3">
                  <p:embed/>
                </p:oleObj>
              </mc:Choice>
              <mc:Fallback>
                <p:oleObj r:id="rId6" imgW="1878785" imgH="495085" progId="Equation.3">
                  <p:embed/>
                  <p:pic>
                    <p:nvPicPr>
                      <p:cNvPr id="0" name="对象 10343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5288" y="2366963"/>
                        <a:ext cx="4092575" cy="10779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2" name="矩形 103441"/>
          <p:cNvSpPr/>
          <p:nvPr/>
        </p:nvSpPr>
        <p:spPr>
          <a:xfrm>
            <a:off x="3671888" y="1898650"/>
            <a:ext cx="2573337" cy="477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noProof="1">
                <a:ea typeface="华文新魏" pitchFamily="2" charset="-122"/>
                <a:cs typeface="+mn-ea"/>
              </a:rPr>
              <a:t>平衡浓度</a:t>
            </a:r>
            <a:r>
              <a:rPr lang="en-US" altLang="zh-CN" sz="2500" b="1" noProof="1">
                <a:ea typeface="华文新魏" pitchFamily="2" charset="-122"/>
                <a:cs typeface="+mn-ea"/>
              </a:rPr>
              <a:t>/mol·L</a:t>
            </a:r>
            <a:r>
              <a:rPr lang="en-US" altLang="zh-CN" sz="2500" b="1" baseline="30000" noProof="1">
                <a:ea typeface="华文新魏" pitchFamily="2" charset="-122"/>
                <a:cs typeface="+mn-ea"/>
              </a:rPr>
              <a:t>-1</a:t>
            </a:r>
            <a:endParaRPr lang="en-US" altLang="zh-CN" sz="2500" b="1" baseline="30000" noProof="1">
              <a:ea typeface="华文新魏" pitchFamily="2" charset="-122"/>
            </a:endParaRPr>
          </a:p>
        </p:txBody>
      </p:sp>
      <p:sp>
        <p:nvSpPr>
          <p:cNvPr id="103437" name="矩形 103436"/>
          <p:cNvSpPr>
            <a:spLocks noChangeArrowheads="1"/>
          </p:cNvSpPr>
          <p:nvPr/>
        </p:nvSpPr>
        <p:spPr bwMode="auto">
          <a:xfrm>
            <a:off x="9567863" y="1887538"/>
            <a:ext cx="3444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华文新魏" pitchFamily="2" charset="-122"/>
              </a:rPr>
              <a:t>x</a:t>
            </a:r>
          </a:p>
        </p:txBody>
      </p:sp>
      <p:sp>
        <p:nvSpPr>
          <p:cNvPr id="102417" name="矩形 102416"/>
          <p:cNvSpPr>
            <a:spLocks noChangeArrowheads="1"/>
          </p:cNvSpPr>
          <p:nvPr/>
        </p:nvSpPr>
        <p:spPr bwMode="auto">
          <a:xfrm>
            <a:off x="5886450" y="3441700"/>
            <a:ext cx="40687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= 1.07×10</a:t>
            </a:r>
            <a:r>
              <a:rPr lang="en-US" altLang="zh-CN" sz="2500" b="1" baseline="30000">
                <a:ea typeface="华文新魏" pitchFamily="2" charset="-122"/>
              </a:rPr>
              <a:t>-10</a:t>
            </a:r>
            <a:r>
              <a:rPr lang="en-US" altLang="zh-CN" sz="2500" b="1">
                <a:ea typeface="华文新魏" pitchFamily="2" charset="-122"/>
              </a:rPr>
              <a:t>/2.58×10</a:t>
            </a:r>
            <a:r>
              <a:rPr lang="en-US" altLang="zh-CN" sz="2500" b="1" baseline="30000">
                <a:ea typeface="华文新魏" pitchFamily="2" charset="-122"/>
              </a:rPr>
              <a:t>-9</a:t>
            </a:r>
          </a:p>
        </p:txBody>
      </p:sp>
      <p:sp>
        <p:nvSpPr>
          <p:cNvPr id="102418" name="矩形 102417"/>
          <p:cNvSpPr>
            <a:spLocks noChangeArrowheads="1"/>
          </p:cNvSpPr>
          <p:nvPr/>
        </p:nvSpPr>
        <p:spPr bwMode="auto">
          <a:xfrm>
            <a:off x="5886450" y="3873500"/>
            <a:ext cx="3752850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华文新魏" pitchFamily="2" charset="-122"/>
              </a:rPr>
              <a:t>= 4.1×10</a:t>
            </a:r>
            <a:r>
              <a:rPr lang="en-US" altLang="zh-CN" sz="2500" b="1" baseline="30000">
                <a:ea typeface="华文新魏" pitchFamily="2" charset="-122"/>
              </a:rPr>
              <a:t>-2</a:t>
            </a:r>
          </a:p>
          <a:p>
            <a:r>
              <a:rPr lang="en-US" altLang="zh-CN" sz="2500" b="1" i="1">
                <a:ea typeface="华文新魏" pitchFamily="2" charset="-122"/>
              </a:rPr>
              <a:t>K</a:t>
            </a:r>
            <a:r>
              <a:rPr lang="en-US" altLang="zh-CN" b="1" baseline="100000"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500" b="1">
                <a:ea typeface="华文新魏" pitchFamily="2" charset="-122"/>
                <a:sym typeface="Webdings" pitchFamily="18" charset="2"/>
              </a:rPr>
              <a:t>= </a:t>
            </a:r>
            <a:r>
              <a:rPr lang="en-US" altLang="zh-CN" sz="2500" b="1" i="1">
                <a:ea typeface="华文新魏" pitchFamily="2" charset="-122"/>
              </a:rPr>
              <a:t>x</a:t>
            </a:r>
            <a:r>
              <a:rPr lang="en-US" altLang="zh-CN" sz="2500" b="1">
                <a:ea typeface="华文新魏" pitchFamily="2" charset="-122"/>
              </a:rPr>
              <a:t>/(1.6 - </a:t>
            </a:r>
            <a:r>
              <a:rPr lang="en-US" altLang="zh-CN" sz="2500" b="1" i="1">
                <a:ea typeface="华文新魏" pitchFamily="2" charset="-122"/>
              </a:rPr>
              <a:t>x</a:t>
            </a:r>
            <a:r>
              <a:rPr lang="en-US" altLang="zh-CN" sz="2500" b="1">
                <a:ea typeface="华文新魏" pitchFamily="2" charset="-122"/>
              </a:rPr>
              <a:t>) = 4.1×10</a:t>
            </a:r>
            <a:r>
              <a:rPr lang="en-US" altLang="zh-CN" sz="2500" b="1" baseline="30000">
                <a:ea typeface="华文新魏" pitchFamily="2" charset="-122"/>
              </a:rPr>
              <a:t>-2</a:t>
            </a:r>
            <a:r>
              <a:rPr lang="en-US" altLang="zh-CN" sz="2500" b="1">
                <a:ea typeface="华文新魏" pitchFamily="2" charset="-122"/>
              </a:rPr>
              <a:t>.</a:t>
            </a:r>
          </a:p>
          <a:p>
            <a:r>
              <a:rPr lang="zh-CN" altLang="en-US" sz="2500" b="1">
                <a:ea typeface="华文新魏" pitchFamily="2" charset="-122"/>
              </a:rPr>
              <a:t>可解得</a:t>
            </a:r>
            <a:r>
              <a:rPr lang="en-US" altLang="zh-CN" sz="2500" b="1">
                <a:ea typeface="华文新魏" pitchFamily="2" charset="-122"/>
              </a:rPr>
              <a:t>: </a:t>
            </a:r>
            <a:r>
              <a:rPr lang="en-US" altLang="zh-CN" sz="2500" b="1" i="1">
                <a:ea typeface="华文新魏" pitchFamily="2" charset="-122"/>
              </a:rPr>
              <a:t>x </a:t>
            </a:r>
            <a:r>
              <a:rPr lang="en-US" altLang="zh-CN" sz="2500" b="1">
                <a:ea typeface="华文新魏" pitchFamily="2" charset="-122"/>
              </a:rPr>
              <a:t>= 0.064 mol·L</a:t>
            </a:r>
            <a:r>
              <a:rPr lang="en-US" altLang="zh-CN" sz="2500" b="1" baseline="30000">
                <a:ea typeface="华文新魏" pitchFamily="2" charset="-122"/>
              </a:rPr>
              <a:t>-1</a:t>
            </a:r>
          </a:p>
        </p:txBody>
      </p:sp>
      <p:sp>
        <p:nvSpPr>
          <p:cNvPr id="102421" name="矩形 102420"/>
          <p:cNvSpPr>
            <a:spLocks noChangeArrowheads="1"/>
          </p:cNvSpPr>
          <p:nvPr/>
        </p:nvSpPr>
        <p:spPr bwMode="auto">
          <a:xfrm>
            <a:off x="4451350" y="5168900"/>
            <a:ext cx="360997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华文新魏" pitchFamily="2" charset="-122"/>
              </a:rPr>
              <a:t>大约</a:t>
            </a:r>
            <a:r>
              <a:rPr lang="en-US" altLang="zh-CN" sz="2500" b="1" dirty="0">
                <a:ea typeface="华文新魏" pitchFamily="2" charset="-122"/>
              </a:rPr>
              <a:t>3</a:t>
            </a:r>
            <a:r>
              <a:rPr lang="zh-CN" altLang="en-US" sz="2500" b="1" dirty="0">
                <a:ea typeface="华文新魏" pitchFamily="2" charset="-122"/>
              </a:rPr>
              <a:t>次能基本转变完全</a:t>
            </a:r>
            <a:r>
              <a:rPr lang="en-US" altLang="zh-CN" sz="2500" b="1" dirty="0">
                <a:ea typeface="华文新魏" pitchFamily="2" charset="-122"/>
              </a:rPr>
              <a:t>.</a:t>
            </a:r>
          </a:p>
        </p:txBody>
      </p:sp>
      <p:sp>
        <p:nvSpPr>
          <p:cNvPr id="5133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034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0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034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10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102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102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102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1024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/>
      <p:bldP spid="103436" grpId="0"/>
      <p:bldP spid="103438" grpId="0"/>
      <p:bldP spid="103442" grpId="0"/>
      <p:bldP spid="103437" grpId="0"/>
      <p:bldP spid="102417" grpId="0"/>
      <p:bldP spid="102418" grpId="0" build="p"/>
      <p:bldP spid="102421" grpId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9900"/>
      </a:hlink>
      <a:folHlink>
        <a:srgbClr val="3333CC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Pages>0</Pages>
  <Words>649</Words>
  <Characters>0</Characters>
  <Application>Microsoft Office PowerPoint</Application>
  <DocSecurity>0</DocSecurity>
  <PresentationFormat>自定义</PresentationFormat>
  <Lines>0</Lines>
  <Paragraphs>58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Monotype Sorts</vt:lpstr>
      <vt:lpstr>仿宋_GB2312</vt:lpstr>
      <vt:lpstr>华文新魏</vt:lpstr>
      <vt:lpstr>宋体</vt:lpstr>
      <vt:lpstr>Arial</vt:lpstr>
      <vt:lpstr>Calibri</vt:lpstr>
      <vt:lpstr>Symbol</vt:lpstr>
      <vt:lpstr>Times New Roman</vt:lpstr>
      <vt:lpstr>Webdings</vt:lpstr>
      <vt:lpstr>Wingdings</vt:lpstr>
      <vt:lpstr>医学研究PPT模板</vt:lpstr>
      <vt:lpstr>Microsoft 公式 3.0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04-02-例1</dc:title>
  <dc:subject/>
  <dc:creator>江南大学 商少明、李玲</dc:creator>
  <cp:keywords/>
  <dc:description/>
  <cp:lastModifiedBy>USER</cp:lastModifiedBy>
  <cp:revision>277</cp:revision>
  <dcterms:created xsi:type="dcterms:W3CDTF">2012-06-20T03:37:37Z</dcterms:created>
  <dcterms:modified xsi:type="dcterms:W3CDTF">2021-10-18T08:45:10Z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2052-10.1.0.6156</vt:lpwstr>
  </property>
</Properties>
</file>