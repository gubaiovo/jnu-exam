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bin" ContentType="application/vnd.openxmlformats-officedocument.oleObject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Default Extension="wav" ContentType="audio/wav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9" r:id="rId1"/>
  </p:sldMasterIdLst>
  <p:notesMasterIdLst>
    <p:notesMasterId r:id="rId11"/>
  </p:notesMasterIdLst>
  <p:sldIdLst>
    <p:sldId id="275" r:id="rId2"/>
    <p:sldId id="276" r:id="rId3"/>
    <p:sldId id="277" r:id="rId4"/>
    <p:sldId id="278" r:id="rId5"/>
    <p:sldId id="279" r:id="rId6"/>
    <p:sldId id="281" r:id="rId7"/>
    <p:sldId id="282" r:id="rId8"/>
    <p:sldId id="283" r:id="rId9"/>
    <p:sldId id="284" r:id="rId10"/>
  </p:sldIdLst>
  <p:sldSz cx="11522075" cy="6480175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FFFFFF"/>
    <a:srgbClr val="F8F8F8"/>
    <a:srgbClr val="66CCFF"/>
    <a:srgbClr val="85D9F7"/>
    <a:srgbClr val="57BBFF"/>
    <a:srgbClr val="000000"/>
    <a:srgbClr val="0000FF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1" autoAdjust="0"/>
    <p:restoredTop sz="94619" autoAdjust="0"/>
  </p:normalViewPr>
  <p:slideViewPr>
    <p:cSldViewPr>
      <p:cViewPr varScale="1">
        <p:scale>
          <a:sx n="70" d="100"/>
          <a:sy n="70" d="100"/>
        </p:scale>
        <p:origin x="-306" y="-108"/>
      </p:cViewPr>
      <p:guideLst>
        <p:guide orient="horz" pos="2029"/>
        <p:guide pos="362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728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buFontTx/>
              <a:buNone/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0" hangingPunct="0">
              <a:buFontTx/>
              <a:buNone/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268" name="Rectangle 4"/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76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276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0" hangingPunct="0">
              <a:buFontTx/>
              <a:buNone/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76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buFont typeface="Arial" pitchFamily="34" charset="0"/>
              <a:buNone/>
              <a:defRPr sz="1200" noProof="1" smtClean="0"/>
            </a:lvl1pPr>
          </a:lstStyle>
          <a:p>
            <a:pPr>
              <a:defRPr/>
            </a:pPr>
            <a:fld id="{F63B8F02-2089-46D4-B5DB-7235B96732BD}" type="slidenum">
              <a:rPr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2291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3315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4339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63600" y="2012950"/>
            <a:ext cx="9794875" cy="1389063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728788" y="3671888"/>
            <a:ext cx="80645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 smtClean="0"/>
              <a:t>单击此处编辑母版副标题样式</a:t>
            </a:r>
            <a:endParaRPr lang="zh-CN" altLang="en-US" noProof="1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76263" y="1511300"/>
            <a:ext cx="10369550" cy="42767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09638" y="4164013"/>
            <a:ext cx="9794875" cy="1287462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09638" y="2746375"/>
            <a:ext cx="9794875" cy="141763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76263" y="1511300"/>
            <a:ext cx="5108575" cy="4276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837238" y="1511300"/>
            <a:ext cx="5108575" cy="4276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76263" y="1450975"/>
            <a:ext cx="5091112" cy="60483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76263" y="2055813"/>
            <a:ext cx="5091112" cy="3732212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853113" y="1450975"/>
            <a:ext cx="5092700" cy="60483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853113" y="2055813"/>
            <a:ext cx="5092700" cy="3732212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split orient="vert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3790950" cy="1096962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05325" y="258763"/>
            <a:ext cx="6440488" cy="5529262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76263" y="1355725"/>
            <a:ext cx="3790950" cy="4432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59013" y="4535488"/>
            <a:ext cx="6911975" cy="536575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259013" y="579438"/>
            <a:ext cx="6911975" cy="38877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259013" y="5072063"/>
            <a:ext cx="6911975" cy="7604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76263" y="1511300"/>
            <a:ext cx="10369550" cy="42767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353425" y="258763"/>
            <a:ext cx="2592388" cy="5529262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76263" y="258763"/>
            <a:ext cx="7624762" cy="552926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  <p:transition spd="slow">
    <p:split orient="vert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3192" descr="地砖背景1"/>
          <p:cNvPicPr>
            <a:picLocks noChangeAspect="1" noChangeArrowheads="1"/>
          </p:cNvPicPr>
          <p:nvPr userDrawn="1"/>
        </p:nvPicPr>
        <p:blipFill>
          <a:blip r:embed="rId13"/>
          <a:srcRect/>
          <a:stretch>
            <a:fillRect/>
          </a:stretch>
        </p:blipFill>
        <p:spPr bwMode="auto">
          <a:xfrm>
            <a:off x="-20638" y="-17463"/>
            <a:ext cx="11563351" cy="6516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ransition spd="slow">
    <p:split orient="vert"/>
  </p:transition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anose="02020603050405020304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anose="02020603050405020304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anose="02020603050405020304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anose="02020603050405020304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anose="02020603050405020304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anose="02020603050405020304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anose="02020603050405020304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anose="02020603050405020304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FFFFCC"/>
        </a:buClr>
        <a:buSzPct val="90000"/>
        <a:buFont typeface="Wingdings" pitchFamily="2" charset="2"/>
        <a:buChar char="§"/>
        <a:defRPr sz="3200" b="1">
          <a:solidFill>
            <a:srgbClr val="FFFFCC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rgbClr val="FFFFCC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rgbClr val="FFFFCC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rgbClr val="FFFFCC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jpeg"/><Relationship Id="rId5" Type="http://schemas.openxmlformats.org/officeDocument/2006/relationships/oleObject" Target="../embeddings/oleObject1.bin"/><Relationship Id="rId4" Type="http://schemas.openxmlformats.org/officeDocument/2006/relationships/audio" Target="../media/audio1.wav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6.jpe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3.bin"/><Relationship Id="rId5" Type="http://schemas.openxmlformats.org/officeDocument/2006/relationships/oleObject" Target="../embeddings/oleObject2.bin"/><Relationship Id="rId4" Type="http://schemas.openxmlformats.org/officeDocument/2006/relationships/audio" Target="../media/audio1.wav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文本框 1"/>
          <p:cNvSpPr txBox="1">
            <a:spLocks noChangeArrowheads="1"/>
          </p:cNvSpPr>
          <p:nvPr/>
        </p:nvSpPr>
        <p:spPr bwMode="auto">
          <a:xfrm>
            <a:off x="188873" y="803275"/>
            <a:ext cx="2757487" cy="430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buFont typeface="Arial" pitchFamily="34" charset="0"/>
              <a:buNone/>
            </a:pPr>
            <a:r>
              <a:rPr lang="zh-CN" altLang="en-US" sz="2200" b="1" dirty="0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</a:rPr>
              <a:t>例</a:t>
            </a:r>
            <a:r>
              <a:rPr lang="en-US" altLang="zh-CN" sz="2200" b="1" dirty="0">
                <a:solidFill>
                  <a:srgbClr val="FFFF00"/>
                </a:solidFill>
                <a:ea typeface="华文新魏" pitchFamily="2" charset="-122"/>
              </a:rPr>
              <a:t>1:</a:t>
            </a:r>
          </a:p>
        </p:txBody>
      </p:sp>
      <p:sp>
        <p:nvSpPr>
          <p:cNvPr id="88070" name="矩形 88069"/>
          <p:cNvSpPr/>
          <p:nvPr/>
        </p:nvSpPr>
        <p:spPr>
          <a:xfrm>
            <a:off x="4095750" y="881063"/>
            <a:ext cx="608013" cy="4730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fontAlgn="auto" hangingPunct="1">
              <a:buFont typeface="Arial" panose="020B0604020202020204" pitchFamily="34" charset="0"/>
              <a:buNone/>
              <a:defRPr/>
            </a:pPr>
            <a:r>
              <a:rPr lang="zh-CN" altLang="en-US" sz="2500" b="1" noProof="1">
                <a:solidFill>
                  <a:srgbClr val="FFFF00"/>
                </a:solidFill>
                <a:ea typeface="华文新魏" pitchFamily="2" charset="-122"/>
              </a:rPr>
              <a:t>解</a:t>
            </a:r>
            <a:r>
              <a:rPr lang="en-US" altLang="zh-CN" sz="2500" b="1" noProof="1">
                <a:solidFill>
                  <a:srgbClr val="FFFF00"/>
                </a:solidFill>
                <a:ea typeface="华文新魏" pitchFamily="2" charset="-122"/>
              </a:rPr>
              <a:t>:</a:t>
            </a:r>
            <a:endParaRPr lang="en-US" altLang="zh-CN" sz="2500" b="1" noProof="1">
              <a:solidFill>
                <a:srgbClr val="FFFF00"/>
              </a:solidFill>
              <a:effectLst>
                <a:outerShdw blurRad="38100" dist="38100" dir="2700000">
                  <a:srgbClr val="000000"/>
                </a:outerShdw>
              </a:effectLst>
              <a:ea typeface="华文新魏" pitchFamily="2" charset="-122"/>
            </a:endParaRPr>
          </a:p>
        </p:txBody>
      </p:sp>
      <p:sp>
        <p:nvSpPr>
          <p:cNvPr id="96264" name="矩形 96263"/>
          <p:cNvSpPr>
            <a:spLocks noChangeArrowheads="1"/>
          </p:cNvSpPr>
          <p:nvPr/>
        </p:nvSpPr>
        <p:spPr bwMode="auto">
          <a:xfrm>
            <a:off x="155575" y="1168385"/>
            <a:ext cx="3094038" cy="1108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buFont typeface="Arial" pitchFamily="34" charset="0"/>
              <a:buNone/>
            </a:pPr>
            <a:r>
              <a:rPr lang="zh-CN" altLang="en-US" sz="2200" b="1">
                <a:ea typeface="华文新魏" pitchFamily="2" charset="-122"/>
              </a:rPr>
              <a:t>已知</a:t>
            </a:r>
            <a:r>
              <a:rPr lang="en-US" altLang="zh-CN" sz="2200" b="1">
                <a:ea typeface="华文新魏" pitchFamily="2" charset="-122"/>
              </a:rPr>
              <a:t>25℃</a:t>
            </a:r>
            <a:r>
              <a:rPr lang="zh-CN" altLang="en-US" sz="2200" b="1">
                <a:ea typeface="华文新魏" pitchFamily="2" charset="-122"/>
              </a:rPr>
              <a:t>时</a:t>
            </a:r>
            <a:r>
              <a:rPr lang="en-US" altLang="zh-CN" sz="2200" b="1">
                <a:ea typeface="华文新魏" pitchFamily="2" charset="-122"/>
              </a:rPr>
              <a:t>, AgCl</a:t>
            </a:r>
            <a:r>
              <a:rPr lang="zh-CN" altLang="en-US" sz="2200" b="1">
                <a:ea typeface="华文新魏" pitchFamily="2" charset="-122"/>
              </a:rPr>
              <a:t>的溶解度为 </a:t>
            </a:r>
            <a:r>
              <a:rPr lang="en-US" altLang="zh-CN" sz="2200" b="1">
                <a:ea typeface="华文新魏" pitchFamily="2" charset="-122"/>
              </a:rPr>
              <a:t>1.92×10</a:t>
            </a:r>
            <a:r>
              <a:rPr lang="en-US" altLang="zh-CN" sz="2200" b="1" baseline="30000">
                <a:ea typeface="华文新魏" pitchFamily="2" charset="-122"/>
              </a:rPr>
              <a:t>-3 </a:t>
            </a:r>
            <a:r>
              <a:rPr lang="en-US" altLang="zh-CN" sz="2200" b="1">
                <a:ea typeface="华文新魏" pitchFamily="2" charset="-122"/>
              </a:rPr>
              <a:t>g·L</a:t>
            </a:r>
            <a:r>
              <a:rPr lang="en-US" altLang="zh-CN" sz="2200" b="1" baseline="30000">
                <a:ea typeface="华文新魏" pitchFamily="2" charset="-122"/>
              </a:rPr>
              <a:t>-1</a:t>
            </a:r>
            <a:r>
              <a:rPr lang="en-US" altLang="zh-CN" sz="2200" b="1">
                <a:ea typeface="华文新魏" pitchFamily="2" charset="-122"/>
              </a:rPr>
              <a:t>, </a:t>
            </a:r>
            <a:r>
              <a:rPr lang="zh-CN" altLang="en-US" sz="2200" b="1">
                <a:ea typeface="华文新魏" pitchFamily="2" charset="-122"/>
              </a:rPr>
              <a:t>求</a:t>
            </a:r>
            <a:r>
              <a:rPr lang="en-US" altLang="zh-CN" sz="2200" b="1" i="1">
                <a:ea typeface="华文新魏" pitchFamily="2" charset="-122"/>
              </a:rPr>
              <a:t>K</a:t>
            </a:r>
            <a:r>
              <a:rPr lang="en-US" altLang="zh-CN" sz="1600" b="1" baseline="100000">
                <a:ea typeface="华文新魏" pitchFamily="2" charset="-122"/>
                <a:sym typeface="Webdings" pitchFamily="18" charset="2"/>
              </a:rPr>
              <a:t></a:t>
            </a:r>
            <a:r>
              <a:rPr lang="en-US" altLang="zh-CN" sz="2200" b="1" baseline="-25000">
                <a:ea typeface="华文新魏" pitchFamily="2" charset="-122"/>
                <a:sym typeface="Webdings" pitchFamily="18" charset="2"/>
              </a:rPr>
              <a:t>sp</a:t>
            </a:r>
            <a:r>
              <a:rPr lang="en-US" altLang="zh-CN" sz="2200" b="1">
                <a:ea typeface="华文新魏" pitchFamily="2" charset="-122"/>
                <a:sym typeface="Webdings" pitchFamily="18" charset="2"/>
              </a:rPr>
              <a:t>(AgCl).</a:t>
            </a:r>
            <a:endParaRPr lang="en-US" altLang="zh-CN" sz="2200" b="1">
              <a:solidFill>
                <a:srgbClr val="0000FF"/>
              </a:solidFill>
              <a:ea typeface="华文新魏" pitchFamily="2" charset="-122"/>
            </a:endParaRPr>
          </a:p>
        </p:txBody>
      </p:sp>
      <p:sp>
        <p:nvSpPr>
          <p:cNvPr id="96265" name="矩形 96264"/>
          <p:cNvSpPr/>
          <p:nvPr/>
        </p:nvSpPr>
        <p:spPr>
          <a:xfrm>
            <a:off x="4194206" y="1311261"/>
            <a:ext cx="6067425" cy="12461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altLang="zh-CN" sz="2500" b="1" i="1" noProof="1">
                <a:ea typeface="华文新魏" pitchFamily="2" charset="-122"/>
                <a:cs typeface="+mn-ea"/>
              </a:rPr>
              <a:t>s</a:t>
            </a:r>
            <a:r>
              <a:rPr lang="en-US" altLang="zh-CN" sz="2500" b="1" noProof="1">
                <a:ea typeface="华文新魏" pitchFamily="2" charset="-122"/>
                <a:cs typeface="+mn-ea"/>
              </a:rPr>
              <a:t> = </a:t>
            </a:r>
            <a:r>
              <a:rPr lang="en-US" altLang="zh-CN" sz="2500" b="1" i="1" noProof="1">
                <a:ea typeface="华文新魏" pitchFamily="2" charset="-122"/>
                <a:cs typeface="+mn-ea"/>
              </a:rPr>
              <a:t>s’</a:t>
            </a:r>
            <a:r>
              <a:rPr lang="en-US" altLang="zh-CN" sz="2500" b="1" noProof="1">
                <a:ea typeface="华文新魏" pitchFamily="2" charset="-122"/>
                <a:cs typeface="+mn-ea"/>
              </a:rPr>
              <a:t>/</a:t>
            </a:r>
            <a:r>
              <a:rPr lang="en-US" altLang="zh-CN" sz="2500" b="1" i="1" noProof="1">
                <a:ea typeface="华文新魏" pitchFamily="2" charset="-122"/>
                <a:cs typeface="+mn-ea"/>
              </a:rPr>
              <a:t>M </a:t>
            </a:r>
            <a:endParaRPr lang="en-US" altLang="zh-CN" sz="2500" b="1" i="1" noProof="1">
              <a:ea typeface="华文新魏" pitchFamily="2" charset="-122"/>
            </a:endParaRPr>
          </a:p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altLang="zh-CN" sz="2500" b="1" noProof="1">
                <a:ea typeface="华文新魏" pitchFamily="2" charset="-122"/>
                <a:cs typeface="+mn-ea"/>
              </a:rPr>
              <a:t>   =1.92×10</a:t>
            </a:r>
            <a:r>
              <a:rPr lang="en-US" altLang="zh-CN" sz="2500" b="1" baseline="30000" noProof="1">
                <a:ea typeface="华文新魏" pitchFamily="2" charset="-122"/>
                <a:cs typeface="+mn-ea"/>
              </a:rPr>
              <a:t>-3</a:t>
            </a:r>
            <a:r>
              <a:rPr lang="en-US" altLang="zh-CN" sz="2500" b="1" noProof="1">
                <a:ea typeface="华文新魏" pitchFamily="2" charset="-122"/>
                <a:cs typeface="+mn-ea"/>
              </a:rPr>
              <a:t> ÷143.4 = 1.34 ×10</a:t>
            </a:r>
            <a:r>
              <a:rPr lang="en-US" altLang="zh-CN" sz="2500" b="1" baseline="30000" noProof="1">
                <a:ea typeface="华文新魏" pitchFamily="2" charset="-122"/>
                <a:cs typeface="+mn-ea"/>
              </a:rPr>
              <a:t>-5 </a:t>
            </a:r>
            <a:r>
              <a:rPr lang="en-US" altLang="zh-CN" sz="2500" b="1" noProof="1">
                <a:ea typeface="华文新魏" pitchFamily="2" charset="-122"/>
                <a:cs typeface="+mn-ea"/>
              </a:rPr>
              <a:t>mol·L</a:t>
            </a:r>
            <a:r>
              <a:rPr lang="en-US" altLang="zh-CN" sz="2500" b="1" baseline="30000" noProof="1">
                <a:ea typeface="华文新魏" pitchFamily="2" charset="-122"/>
                <a:cs typeface="+mn-ea"/>
              </a:rPr>
              <a:t>-1</a:t>
            </a:r>
            <a:r>
              <a:rPr lang="en-US" altLang="zh-CN" sz="2500" b="1" noProof="1">
                <a:ea typeface="华文新魏" pitchFamily="2" charset="-122"/>
                <a:cs typeface="+mn-ea"/>
              </a:rPr>
              <a:t> </a:t>
            </a:r>
            <a:endParaRPr lang="en-US" altLang="zh-CN" sz="2500" b="1" noProof="1">
              <a:ea typeface="华文新魏" pitchFamily="2" charset="-122"/>
            </a:endParaRPr>
          </a:p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zh-CN" altLang="en-US" sz="2500" b="1" noProof="1">
                <a:ea typeface="华文新魏" pitchFamily="2" charset="-122"/>
                <a:cs typeface="+mn-ea"/>
              </a:rPr>
              <a:t>对</a:t>
            </a:r>
            <a:r>
              <a:rPr lang="en-US" altLang="zh-CN" sz="2500" b="1" noProof="1">
                <a:ea typeface="华文新魏" pitchFamily="2" charset="-122"/>
                <a:cs typeface="+mn-ea"/>
              </a:rPr>
              <a:t>MA</a:t>
            </a:r>
            <a:r>
              <a:rPr lang="zh-CN" altLang="en-US" sz="2500" b="1" noProof="1">
                <a:ea typeface="华文新魏" pitchFamily="2" charset="-122"/>
                <a:cs typeface="+mn-ea"/>
              </a:rPr>
              <a:t>型难溶物</a:t>
            </a:r>
            <a:r>
              <a:rPr lang="en-US" altLang="zh-CN" sz="2500" b="1" noProof="1">
                <a:ea typeface="华文新魏" pitchFamily="2" charset="-122"/>
                <a:cs typeface="+mn-ea"/>
              </a:rPr>
              <a:t>:</a:t>
            </a:r>
            <a:endParaRPr lang="en-US" altLang="zh-CN" sz="2500" b="1" baseline="30000" noProof="1">
              <a:ea typeface="华文新魏" pitchFamily="2" charset="-122"/>
            </a:endParaRPr>
          </a:p>
        </p:txBody>
      </p:sp>
      <p:sp>
        <p:nvSpPr>
          <p:cNvPr id="96277" name="矩形 96276"/>
          <p:cNvSpPr/>
          <p:nvPr/>
        </p:nvSpPr>
        <p:spPr>
          <a:xfrm>
            <a:off x="5921406" y="3865548"/>
            <a:ext cx="2116137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altLang="zh-CN" sz="2500" b="1" noProof="1">
                <a:ea typeface="华文新魏" pitchFamily="2" charset="-122"/>
                <a:cs typeface="+mn-ea"/>
              </a:rPr>
              <a:t>= </a:t>
            </a:r>
            <a:r>
              <a:rPr lang="en-US" altLang="zh-CN" sz="2800" b="1" noProof="1">
                <a:ea typeface="华文新魏" pitchFamily="2" charset="-122"/>
                <a:cs typeface="+mn-ea"/>
              </a:rPr>
              <a:t>1.80×10</a:t>
            </a:r>
            <a:r>
              <a:rPr lang="en-US" altLang="zh-CN" sz="2800" b="1" baseline="30000" noProof="1">
                <a:ea typeface="华文新魏" pitchFamily="2" charset="-122"/>
                <a:cs typeface="+mn-ea"/>
              </a:rPr>
              <a:t>-10</a:t>
            </a:r>
            <a:endParaRPr lang="en-US" altLang="zh-CN" sz="2800" b="1" baseline="30000" noProof="1">
              <a:ea typeface="华文新魏" pitchFamily="2" charset="-122"/>
            </a:endParaRPr>
          </a:p>
        </p:txBody>
      </p:sp>
      <p:graphicFrame>
        <p:nvGraphicFramePr>
          <p:cNvPr id="96283" name="对象 96282"/>
          <p:cNvGraphicFramePr>
            <a:graphicFrameLocks/>
          </p:cNvGraphicFramePr>
          <p:nvPr/>
        </p:nvGraphicFramePr>
        <p:xfrm>
          <a:off x="6197631" y="2606661"/>
          <a:ext cx="1408112" cy="719137"/>
        </p:xfrm>
        <a:graphic>
          <a:graphicData uri="http://schemas.openxmlformats.org/presentationml/2006/ole">
            <p:oleObj spid="_x0000_s1026" r:id="rId5" imgW="596382" imgH="304536" progId="Equation.3">
              <p:embed/>
            </p:oleObj>
          </a:graphicData>
        </a:graphic>
      </p:graphicFrame>
      <p:sp>
        <p:nvSpPr>
          <p:cNvPr id="96282" name="矩形 96281"/>
          <p:cNvSpPr/>
          <p:nvPr/>
        </p:nvSpPr>
        <p:spPr>
          <a:xfrm>
            <a:off x="4218018" y="3324211"/>
            <a:ext cx="5562600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altLang="zh-CN" sz="2800" b="1" noProof="1">
                <a:ea typeface="华文新魏" pitchFamily="2" charset="-122"/>
                <a:cs typeface="+mn-ea"/>
              </a:rPr>
              <a:t>∴</a:t>
            </a:r>
            <a:r>
              <a:rPr lang="en-US" altLang="zh-CN" sz="2800" b="1" i="1" noProof="1">
                <a:ea typeface="华文新魏" pitchFamily="2" charset="-122"/>
                <a:cs typeface="+mn-ea"/>
              </a:rPr>
              <a:t>K</a:t>
            </a:r>
            <a:r>
              <a:rPr lang="en-US" altLang="zh-CN" sz="1600" b="1" baseline="100000" noProof="1">
                <a:ea typeface="华文新魏" pitchFamily="2" charset="-122"/>
                <a:cs typeface="+mn-ea"/>
                <a:sym typeface="Webdings" panose="05030102010509060703" pitchFamily="18" charset="2"/>
              </a:rPr>
              <a:t></a:t>
            </a:r>
            <a:r>
              <a:rPr lang="en-US" altLang="zh-CN" sz="2800" b="1" baseline="-25000" noProof="1">
                <a:ea typeface="华文新魏" pitchFamily="2" charset="-122"/>
                <a:cs typeface="+mn-ea"/>
                <a:sym typeface="Webdings" panose="05030102010509060703" pitchFamily="18" charset="2"/>
              </a:rPr>
              <a:t>sp </a:t>
            </a:r>
            <a:r>
              <a:rPr lang="en-US" altLang="zh-CN" sz="2800" b="1" noProof="1">
                <a:ea typeface="华文新魏" pitchFamily="2" charset="-122"/>
                <a:cs typeface="+mn-ea"/>
              </a:rPr>
              <a:t>= </a:t>
            </a:r>
            <a:r>
              <a:rPr lang="en-US" altLang="zh-CN" sz="2500" b="1" i="1" noProof="1">
                <a:ea typeface="华文新魏" pitchFamily="2" charset="-122"/>
                <a:cs typeface="+mn-ea"/>
              </a:rPr>
              <a:t>s</a:t>
            </a:r>
            <a:r>
              <a:rPr lang="en-US" altLang="zh-CN" sz="2500" b="1" i="1" baseline="30000" noProof="1">
                <a:ea typeface="华文新魏" pitchFamily="2" charset="-122"/>
                <a:cs typeface="+mn-ea"/>
              </a:rPr>
              <a:t>2 </a:t>
            </a:r>
            <a:r>
              <a:rPr lang="en-US" altLang="zh-CN" sz="2800" b="1" noProof="1">
                <a:ea typeface="华文新魏" pitchFamily="2" charset="-122"/>
                <a:cs typeface="+mn-ea"/>
              </a:rPr>
              <a:t>= (1.34 ×10</a:t>
            </a:r>
            <a:r>
              <a:rPr lang="en-US" altLang="zh-CN" sz="2800" b="1" baseline="30000" noProof="1">
                <a:ea typeface="华文新魏" pitchFamily="2" charset="-122"/>
                <a:cs typeface="+mn-ea"/>
              </a:rPr>
              <a:t>-5 </a:t>
            </a:r>
            <a:r>
              <a:rPr lang="en-US" altLang="zh-CN" sz="2800" b="1" noProof="1">
                <a:ea typeface="华文新魏" pitchFamily="2" charset="-122"/>
                <a:cs typeface="+mn-ea"/>
              </a:rPr>
              <a:t>)</a:t>
            </a:r>
            <a:r>
              <a:rPr lang="en-US" altLang="zh-CN" sz="2800" b="1" baseline="30000" noProof="1">
                <a:ea typeface="华文新魏" pitchFamily="2" charset="-122"/>
                <a:cs typeface="+mn-ea"/>
              </a:rPr>
              <a:t>2                        </a:t>
            </a:r>
            <a:endParaRPr lang="en-US" altLang="zh-CN" sz="2800" b="1" baseline="30000" noProof="1">
              <a:ea typeface="华文新魏" pitchFamily="2" charset="-122"/>
            </a:endParaRPr>
          </a:p>
        </p:txBody>
      </p:sp>
      <p:sp>
        <p:nvSpPr>
          <p:cNvPr id="1033" name="椭圆 68634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auto">
          <a:xfrm>
            <a:off x="11210925" y="5688013"/>
            <a:ext cx="360363" cy="360362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Font typeface="Arial" pitchFamily="34" charset="0"/>
              <a:buNone/>
            </a:pPr>
            <a:endParaRPr lang="zh-CN" altLang="en-US"/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8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62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62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62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96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962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9627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NOTIFY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070" grpId="0"/>
      <p:bldP spid="96265" grpId="0" build="p"/>
      <p:bldP spid="96277" grpId="0"/>
      <p:bldP spid="96282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文本框 1"/>
          <p:cNvSpPr txBox="1">
            <a:spLocks noChangeArrowheads="1"/>
          </p:cNvSpPr>
          <p:nvPr/>
        </p:nvSpPr>
        <p:spPr bwMode="auto">
          <a:xfrm>
            <a:off x="207963" y="803275"/>
            <a:ext cx="2757487" cy="430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buFont typeface="Arial" pitchFamily="34" charset="0"/>
              <a:buNone/>
            </a:pPr>
            <a:r>
              <a:rPr lang="zh-CN" altLang="en-US" sz="2200" b="1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</a:rPr>
              <a:t>例</a:t>
            </a:r>
            <a:r>
              <a:rPr lang="en-US" altLang="zh-CN" sz="2200" b="1">
                <a:solidFill>
                  <a:srgbClr val="FFFF00"/>
                </a:solidFill>
                <a:ea typeface="华文新魏" pitchFamily="2" charset="-122"/>
              </a:rPr>
              <a:t>2:</a:t>
            </a:r>
          </a:p>
        </p:txBody>
      </p:sp>
      <p:sp>
        <p:nvSpPr>
          <p:cNvPr id="88070" name="矩形 88069"/>
          <p:cNvSpPr/>
          <p:nvPr/>
        </p:nvSpPr>
        <p:spPr>
          <a:xfrm>
            <a:off x="4381500" y="801688"/>
            <a:ext cx="608013" cy="4730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fontAlgn="auto" hangingPunct="1">
              <a:buFont typeface="Arial" panose="020B0604020202020204" pitchFamily="34" charset="0"/>
              <a:buNone/>
              <a:defRPr/>
            </a:pPr>
            <a:r>
              <a:rPr lang="zh-CN" altLang="en-US" sz="2500" b="1" noProof="1">
                <a:solidFill>
                  <a:srgbClr val="FFFF00"/>
                </a:solidFill>
                <a:ea typeface="华文新魏" pitchFamily="2" charset="-122"/>
              </a:rPr>
              <a:t>解</a:t>
            </a:r>
            <a:r>
              <a:rPr lang="en-US" altLang="zh-CN" sz="2500" b="1" noProof="1">
                <a:solidFill>
                  <a:srgbClr val="FFFF00"/>
                </a:solidFill>
                <a:ea typeface="华文新魏" pitchFamily="2" charset="-122"/>
              </a:rPr>
              <a:t>:</a:t>
            </a:r>
            <a:endParaRPr lang="en-US" altLang="zh-CN" sz="2500" b="1" noProof="1">
              <a:solidFill>
                <a:srgbClr val="FFFF00"/>
              </a:solidFill>
              <a:effectLst>
                <a:outerShdw blurRad="38100" dist="38100" dir="2700000">
                  <a:srgbClr val="000000"/>
                </a:outerShdw>
              </a:effectLst>
              <a:ea typeface="华文新魏" pitchFamily="2" charset="-122"/>
            </a:endParaRPr>
          </a:p>
        </p:txBody>
      </p:sp>
      <p:sp>
        <p:nvSpPr>
          <p:cNvPr id="67598" name="矩形 67597"/>
          <p:cNvSpPr>
            <a:spLocks noChangeArrowheads="1"/>
          </p:cNvSpPr>
          <p:nvPr/>
        </p:nvSpPr>
        <p:spPr bwMode="auto">
          <a:xfrm>
            <a:off x="188913" y="1168385"/>
            <a:ext cx="3148012" cy="1158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lnSpc>
                <a:spcPct val="105000"/>
              </a:lnSpc>
              <a:buFont typeface="Arial" pitchFamily="34" charset="0"/>
              <a:buNone/>
            </a:pPr>
            <a:r>
              <a:rPr lang="zh-CN" altLang="en-US" sz="2200" b="1">
                <a:ea typeface="华文新魏" pitchFamily="2" charset="-122"/>
              </a:rPr>
              <a:t>已知</a:t>
            </a:r>
            <a:r>
              <a:rPr lang="en-US" altLang="zh-CN" sz="2200" b="1">
                <a:ea typeface="华文新魏" pitchFamily="2" charset="-122"/>
              </a:rPr>
              <a:t>25℃</a:t>
            </a:r>
            <a:r>
              <a:rPr lang="zh-CN" altLang="en-US" sz="2200" b="1">
                <a:ea typeface="华文新魏" pitchFamily="2" charset="-122"/>
              </a:rPr>
              <a:t>时</a:t>
            </a:r>
            <a:r>
              <a:rPr lang="en-US" altLang="zh-CN" sz="2200" b="1">
                <a:ea typeface="华文新魏" pitchFamily="2" charset="-122"/>
              </a:rPr>
              <a:t>,Ag</a:t>
            </a:r>
            <a:r>
              <a:rPr lang="en-US" altLang="zh-CN" sz="2200" b="1" baseline="-25000">
                <a:ea typeface="华文新魏" pitchFamily="2" charset="-122"/>
              </a:rPr>
              <a:t>2</a:t>
            </a:r>
            <a:r>
              <a:rPr lang="en-US" altLang="zh-CN" sz="2200" b="1">
                <a:ea typeface="华文新魏" pitchFamily="2" charset="-122"/>
              </a:rPr>
              <a:t>CrO</a:t>
            </a:r>
            <a:r>
              <a:rPr lang="en-US" altLang="zh-CN" sz="2200" b="1" baseline="-25000">
                <a:ea typeface="华文新魏" pitchFamily="2" charset="-122"/>
              </a:rPr>
              <a:t>4</a:t>
            </a:r>
            <a:r>
              <a:rPr lang="zh-CN" altLang="en-US" sz="2200" b="1">
                <a:ea typeface="华文新魏" pitchFamily="2" charset="-122"/>
              </a:rPr>
              <a:t>的</a:t>
            </a:r>
            <a:r>
              <a:rPr lang="en-US" altLang="zh-CN" sz="2200" b="1" i="1">
                <a:ea typeface="华文新魏" pitchFamily="2" charset="-122"/>
              </a:rPr>
              <a:t>K</a:t>
            </a:r>
            <a:r>
              <a:rPr lang="en-US" altLang="zh-CN" sz="1600" b="1" baseline="100000">
                <a:ea typeface="华文新魏" pitchFamily="2" charset="-122"/>
                <a:sym typeface="Webdings" pitchFamily="18" charset="2"/>
              </a:rPr>
              <a:t></a:t>
            </a:r>
            <a:r>
              <a:rPr lang="en-US" altLang="zh-CN" sz="2200" b="1" baseline="-25000">
                <a:ea typeface="华文新魏" pitchFamily="2" charset="-122"/>
                <a:sym typeface="Webdings" pitchFamily="18" charset="2"/>
              </a:rPr>
              <a:t>sp</a:t>
            </a:r>
            <a:r>
              <a:rPr lang="en-US" altLang="zh-CN" sz="2200" b="1">
                <a:ea typeface="华文新魏" pitchFamily="2" charset="-122"/>
              </a:rPr>
              <a:t> = 1.1×10</a:t>
            </a:r>
            <a:r>
              <a:rPr lang="en-US" altLang="zh-CN" sz="2200" b="1" baseline="30000">
                <a:ea typeface="华文新魏" pitchFamily="2" charset="-122"/>
              </a:rPr>
              <a:t>-12</a:t>
            </a:r>
            <a:r>
              <a:rPr lang="en-US" altLang="zh-CN" sz="2200" b="1">
                <a:ea typeface="华文新魏" pitchFamily="2" charset="-122"/>
              </a:rPr>
              <a:t>.</a:t>
            </a:r>
            <a:r>
              <a:rPr lang="zh-CN" altLang="en-US" sz="2200" b="1">
                <a:ea typeface="华文新魏" pitchFamily="2" charset="-122"/>
              </a:rPr>
              <a:t>求其溶解度</a:t>
            </a:r>
            <a:r>
              <a:rPr lang="en-US" altLang="zh-CN" sz="2200" b="1" i="1">
                <a:ea typeface="华文新魏" pitchFamily="2" charset="-122"/>
              </a:rPr>
              <a:t>s’</a:t>
            </a:r>
            <a:r>
              <a:rPr lang="en-US" altLang="zh-CN" sz="2200" b="1">
                <a:ea typeface="华文新魏" pitchFamily="2" charset="-122"/>
              </a:rPr>
              <a:t>(g·L</a:t>
            </a:r>
            <a:r>
              <a:rPr lang="en-US" altLang="zh-CN" sz="2200" b="1" baseline="30000">
                <a:ea typeface="华文新魏" pitchFamily="2" charset="-122"/>
              </a:rPr>
              <a:t>-1</a:t>
            </a:r>
            <a:r>
              <a:rPr lang="en-US" altLang="zh-CN" sz="2200" b="1">
                <a:ea typeface="华文新魏" pitchFamily="2" charset="-122"/>
              </a:rPr>
              <a:t>).</a:t>
            </a:r>
            <a:endParaRPr lang="en-US" altLang="zh-CN" sz="2200" b="1">
              <a:solidFill>
                <a:srgbClr val="0000FF"/>
              </a:solidFill>
              <a:ea typeface="华文新魏" pitchFamily="2" charset="-122"/>
            </a:endParaRPr>
          </a:p>
        </p:txBody>
      </p:sp>
      <p:graphicFrame>
        <p:nvGraphicFramePr>
          <p:cNvPr id="67615" name="对象 67614"/>
          <p:cNvGraphicFramePr>
            <a:graphicFrameLocks/>
          </p:cNvGraphicFramePr>
          <p:nvPr/>
        </p:nvGraphicFramePr>
        <p:xfrm>
          <a:off x="5189538" y="1096963"/>
          <a:ext cx="1484312" cy="1081087"/>
        </p:xfrm>
        <a:graphic>
          <a:graphicData uri="http://schemas.openxmlformats.org/presentationml/2006/ole">
            <p:oleObj spid="_x0000_s2050" r:id="rId5" imgW="622030" imgH="482391" progId="Equation.3">
              <p:embed/>
            </p:oleObj>
          </a:graphicData>
        </a:graphic>
      </p:graphicFrame>
      <p:sp>
        <p:nvSpPr>
          <p:cNvPr id="67617" name="矩形 67616"/>
          <p:cNvSpPr>
            <a:spLocks noChangeArrowheads="1"/>
          </p:cNvSpPr>
          <p:nvPr/>
        </p:nvSpPr>
        <p:spPr bwMode="auto">
          <a:xfrm>
            <a:off x="4381500" y="2413000"/>
            <a:ext cx="3983038" cy="1338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lnSpc>
                <a:spcPct val="105000"/>
              </a:lnSpc>
              <a:buFont typeface="Arial" pitchFamily="34" charset="0"/>
              <a:buNone/>
            </a:pPr>
            <a:r>
              <a:rPr lang="en-US" altLang="zh-CN" sz="2800" b="1" dirty="0">
                <a:ea typeface="华文新魏" pitchFamily="2" charset="-122"/>
              </a:rPr>
              <a:t>             </a:t>
            </a:r>
            <a:r>
              <a:rPr lang="en-US" altLang="zh-CN" sz="2500" b="1" dirty="0">
                <a:ea typeface="华文新魏" pitchFamily="2" charset="-122"/>
              </a:rPr>
              <a:t>= 6.5×10</a:t>
            </a:r>
            <a:r>
              <a:rPr lang="en-US" altLang="zh-CN" sz="2500" b="1" baseline="30000" dirty="0">
                <a:ea typeface="华文新魏" pitchFamily="2" charset="-122"/>
              </a:rPr>
              <a:t>-5 </a:t>
            </a:r>
            <a:r>
              <a:rPr lang="en-US" altLang="zh-CN" sz="2500" b="1" dirty="0">
                <a:ea typeface="华文新魏" pitchFamily="2" charset="-122"/>
              </a:rPr>
              <a:t>mol·L</a:t>
            </a:r>
            <a:r>
              <a:rPr lang="en-US" altLang="zh-CN" sz="2500" b="1" baseline="30000" dirty="0">
                <a:ea typeface="华文新魏" pitchFamily="2" charset="-122"/>
              </a:rPr>
              <a:t>-1</a:t>
            </a:r>
            <a:r>
              <a:rPr lang="en-US" altLang="zh-CN" sz="2500" b="1" dirty="0">
                <a:ea typeface="华文新魏" pitchFamily="2" charset="-122"/>
              </a:rPr>
              <a:t>.</a:t>
            </a:r>
          </a:p>
          <a:p>
            <a:pPr eaLnBrk="1" hangingPunct="1">
              <a:lnSpc>
                <a:spcPct val="105000"/>
              </a:lnSpc>
              <a:buFont typeface="Arial" pitchFamily="34" charset="0"/>
              <a:buNone/>
            </a:pPr>
            <a:r>
              <a:rPr lang="en-US" altLang="zh-CN" sz="2500" b="1" i="1" dirty="0">
                <a:ea typeface="华文新魏" pitchFamily="2" charset="-122"/>
              </a:rPr>
              <a:t>s’ </a:t>
            </a:r>
            <a:r>
              <a:rPr lang="en-US" altLang="zh-CN" sz="2500" b="1" dirty="0">
                <a:ea typeface="华文新魏" pitchFamily="2" charset="-122"/>
              </a:rPr>
              <a:t>=</a:t>
            </a:r>
            <a:r>
              <a:rPr lang="en-US" altLang="zh-CN" sz="2500" b="1" i="1" dirty="0">
                <a:ea typeface="华文新魏" pitchFamily="2" charset="-122"/>
              </a:rPr>
              <a:t> </a:t>
            </a:r>
            <a:r>
              <a:rPr lang="en-US" altLang="zh-CN" sz="2500" b="1" i="1" dirty="0" err="1">
                <a:ea typeface="华文新魏" pitchFamily="2" charset="-122"/>
              </a:rPr>
              <a:t>sM</a:t>
            </a:r>
            <a:r>
              <a:rPr lang="en-US" altLang="zh-CN" sz="2500" b="1" i="1" dirty="0">
                <a:ea typeface="华文新魏" pitchFamily="2" charset="-122"/>
              </a:rPr>
              <a:t> </a:t>
            </a:r>
            <a:r>
              <a:rPr lang="en-US" altLang="zh-CN" sz="2500" b="1" dirty="0">
                <a:ea typeface="华文新魏" pitchFamily="2" charset="-122"/>
              </a:rPr>
              <a:t>= 6.5×10</a:t>
            </a:r>
            <a:r>
              <a:rPr lang="en-US" altLang="zh-CN" sz="2500" b="1" baseline="30000" dirty="0">
                <a:ea typeface="华文新魏" pitchFamily="2" charset="-122"/>
              </a:rPr>
              <a:t>-5</a:t>
            </a:r>
            <a:r>
              <a:rPr lang="en-US" altLang="zh-CN" sz="2500" b="1" dirty="0">
                <a:ea typeface="华文新魏" pitchFamily="2" charset="-122"/>
              </a:rPr>
              <a:t>×331.8</a:t>
            </a:r>
          </a:p>
          <a:p>
            <a:pPr eaLnBrk="1" hangingPunct="1">
              <a:lnSpc>
                <a:spcPct val="105000"/>
              </a:lnSpc>
              <a:buFont typeface="Arial" pitchFamily="34" charset="0"/>
              <a:buNone/>
            </a:pPr>
            <a:r>
              <a:rPr lang="en-US" altLang="zh-CN" sz="2500" b="1" dirty="0">
                <a:ea typeface="华文新魏" pitchFamily="2" charset="-122"/>
              </a:rPr>
              <a:t>     = 2.16×10</a:t>
            </a:r>
            <a:r>
              <a:rPr lang="en-US" altLang="zh-CN" sz="2500" b="1" baseline="30000" dirty="0">
                <a:ea typeface="华文新魏" pitchFamily="2" charset="-122"/>
              </a:rPr>
              <a:t>-2 </a:t>
            </a:r>
            <a:r>
              <a:rPr lang="en-US" altLang="zh-CN" sz="2500" b="1" dirty="0">
                <a:ea typeface="华文新魏" pitchFamily="2" charset="-122"/>
              </a:rPr>
              <a:t>g·L</a:t>
            </a:r>
            <a:r>
              <a:rPr lang="en-US" altLang="zh-CN" sz="2500" b="1" baseline="30000" dirty="0">
                <a:ea typeface="华文新魏" pitchFamily="2" charset="-122"/>
              </a:rPr>
              <a:t>-1</a:t>
            </a:r>
            <a:r>
              <a:rPr lang="en-US" altLang="zh-CN" sz="2500" b="1" dirty="0">
                <a:ea typeface="华文新魏" pitchFamily="2" charset="-122"/>
              </a:rPr>
              <a:t>.</a:t>
            </a:r>
            <a:endParaRPr lang="en-US" altLang="zh-CN" sz="2500" b="1" baseline="30000" dirty="0">
              <a:ea typeface="华文新魏" pitchFamily="2" charset="-122"/>
            </a:endParaRPr>
          </a:p>
        </p:txBody>
      </p:sp>
      <p:graphicFrame>
        <p:nvGraphicFramePr>
          <p:cNvPr id="67620" name="对象 67619"/>
          <p:cNvGraphicFramePr>
            <a:graphicFrameLocks/>
          </p:cNvGraphicFramePr>
          <p:nvPr/>
        </p:nvGraphicFramePr>
        <p:xfrm>
          <a:off x="6761163" y="1096963"/>
          <a:ext cx="2098675" cy="1079500"/>
        </p:xfrm>
        <a:graphic>
          <a:graphicData uri="http://schemas.openxmlformats.org/presentationml/2006/ole">
            <p:oleObj spid="_x0000_s2051" r:id="rId6" imgW="914400" imgH="469900" progId="Equation.3">
              <p:embed/>
            </p:oleObj>
          </a:graphicData>
        </a:graphic>
      </p:graphicFrame>
      <p:sp>
        <p:nvSpPr>
          <p:cNvPr id="2056" name="椭圆 62501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auto">
          <a:xfrm>
            <a:off x="71438" y="5688013"/>
            <a:ext cx="360362" cy="360362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Font typeface="Arial" pitchFamily="34" charset="0"/>
              <a:buNone/>
            </a:pPr>
            <a:endParaRPr lang="zh-CN" altLang="en-US"/>
          </a:p>
        </p:txBody>
      </p:sp>
      <p:sp>
        <p:nvSpPr>
          <p:cNvPr id="2057" name="椭圆 68634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auto">
          <a:xfrm>
            <a:off x="11210925" y="5688013"/>
            <a:ext cx="360363" cy="360362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Font typeface="Arial" pitchFamily="34" charset="0"/>
              <a:buNone/>
            </a:pPr>
            <a:endParaRPr lang="zh-CN" altLang="en-US"/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8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67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7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76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76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76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NOTIFY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070" grpId="0"/>
      <p:bldP spid="67617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文本框 1"/>
          <p:cNvSpPr txBox="1">
            <a:spLocks noChangeArrowheads="1"/>
          </p:cNvSpPr>
          <p:nvPr/>
        </p:nvSpPr>
        <p:spPr bwMode="auto">
          <a:xfrm>
            <a:off x="117435" y="525463"/>
            <a:ext cx="2757487" cy="430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buFont typeface="Arial" pitchFamily="34" charset="0"/>
              <a:buNone/>
            </a:pPr>
            <a:r>
              <a:rPr lang="zh-CN" altLang="en-US" sz="2200" b="1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</a:rPr>
              <a:t>例</a:t>
            </a:r>
            <a:r>
              <a:rPr lang="en-US" altLang="zh-CN" sz="2200" b="1">
                <a:solidFill>
                  <a:srgbClr val="FFFF00"/>
                </a:solidFill>
                <a:ea typeface="华文新魏" pitchFamily="2" charset="-122"/>
              </a:rPr>
              <a:t>3:</a:t>
            </a:r>
          </a:p>
        </p:txBody>
      </p:sp>
      <p:sp>
        <p:nvSpPr>
          <p:cNvPr id="88070" name="矩形 88069"/>
          <p:cNvSpPr/>
          <p:nvPr/>
        </p:nvSpPr>
        <p:spPr>
          <a:xfrm>
            <a:off x="3949700" y="525443"/>
            <a:ext cx="608013" cy="4730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fontAlgn="auto" hangingPunct="1">
              <a:buFont typeface="Arial" panose="020B0604020202020204" pitchFamily="34" charset="0"/>
              <a:buNone/>
              <a:defRPr/>
            </a:pPr>
            <a:r>
              <a:rPr lang="zh-CN" altLang="en-US" sz="2500" b="1" noProof="1">
                <a:solidFill>
                  <a:srgbClr val="FFFF00"/>
                </a:solidFill>
                <a:ea typeface="华文新魏" pitchFamily="2" charset="-122"/>
              </a:rPr>
              <a:t>解</a:t>
            </a:r>
            <a:r>
              <a:rPr lang="en-US" altLang="zh-CN" sz="2500" b="1" noProof="1">
                <a:solidFill>
                  <a:srgbClr val="FFFF00"/>
                </a:solidFill>
                <a:ea typeface="华文新魏" pitchFamily="2" charset="-122"/>
              </a:rPr>
              <a:t>:</a:t>
            </a:r>
            <a:endParaRPr lang="en-US" altLang="zh-CN" sz="2500" b="1" noProof="1">
              <a:solidFill>
                <a:srgbClr val="FFFF00"/>
              </a:solidFill>
              <a:effectLst>
                <a:outerShdw blurRad="38100" dist="38100" dir="2700000">
                  <a:srgbClr val="000000"/>
                </a:outerShdw>
              </a:effectLst>
              <a:ea typeface="华文新魏" pitchFamily="2" charset="-122"/>
            </a:endParaRPr>
          </a:p>
        </p:txBody>
      </p:sp>
      <p:sp>
        <p:nvSpPr>
          <p:cNvPr id="69664" name="矩形 69663"/>
          <p:cNvSpPr/>
          <p:nvPr/>
        </p:nvSpPr>
        <p:spPr>
          <a:xfrm>
            <a:off x="0" y="882633"/>
            <a:ext cx="3376613" cy="1784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zh-CN" altLang="en-US" sz="2200" b="1" noProof="1">
                <a:ea typeface="华文新魏" pitchFamily="2" charset="-122"/>
                <a:cs typeface="+mn-ea"/>
              </a:rPr>
              <a:t>已知</a:t>
            </a:r>
            <a:r>
              <a:rPr lang="en-US" altLang="zh-CN" sz="2200" b="1" noProof="1">
                <a:ea typeface="华文新魏" pitchFamily="2" charset="-122"/>
                <a:cs typeface="+mn-ea"/>
              </a:rPr>
              <a:t>BaF</a:t>
            </a:r>
            <a:r>
              <a:rPr lang="en-US" altLang="zh-CN" sz="2200" b="1" baseline="-25000" noProof="1">
                <a:ea typeface="华文新魏" pitchFamily="2" charset="-122"/>
                <a:cs typeface="+mn-ea"/>
              </a:rPr>
              <a:t>2</a:t>
            </a:r>
            <a:r>
              <a:rPr lang="zh-CN" altLang="en-US" sz="2200" b="1" noProof="1">
                <a:ea typeface="华文新魏" pitchFamily="2" charset="-122"/>
                <a:cs typeface="+mn-ea"/>
              </a:rPr>
              <a:t>的</a:t>
            </a:r>
            <a:r>
              <a:rPr lang="en-US" altLang="zh-CN" sz="2200" b="1" i="1" noProof="1">
                <a:ea typeface="华文新魏" pitchFamily="2" charset="-122"/>
                <a:cs typeface="+mn-ea"/>
              </a:rPr>
              <a:t>K</a:t>
            </a:r>
            <a:r>
              <a:rPr lang="en-US" altLang="zh-CN" sz="1600" b="1" baseline="100000" noProof="1">
                <a:ea typeface="华文新魏" pitchFamily="2" charset="-122"/>
                <a:cs typeface="+mn-ea"/>
                <a:sym typeface="Webdings" panose="05030102010509060703" pitchFamily="18" charset="2"/>
              </a:rPr>
              <a:t></a:t>
            </a:r>
            <a:r>
              <a:rPr lang="en-US" altLang="zh-CN" sz="2200" b="1" baseline="-25000" noProof="1">
                <a:ea typeface="华文新魏" pitchFamily="2" charset="-122"/>
                <a:cs typeface="+mn-ea"/>
                <a:sym typeface="Webdings" panose="05030102010509060703" pitchFamily="18" charset="2"/>
              </a:rPr>
              <a:t>sp</a:t>
            </a:r>
            <a:r>
              <a:rPr lang="en-US" altLang="zh-CN" sz="2200" b="1" noProof="1">
                <a:ea typeface="华文新魏" pitchFamily="2" charset="-122"/>
                <a:cs typeface="+mn-ea"/>
              </a:rPr>
              <a:t>= 5×10</a:t>
            </a:r>
            <a:r>
              <a:rPr lang="en-US" altLang="zh-CN" sz="2200" b="1" baseline="30000" noProof="1">
                <a:ea typeface="华文新魏" pitchFamily="2" charset="-122"/>
                <a:cs typeface="+mn-ea"/>
              </a:rPr>
              <a:t>-6</a:t>
            </a:r>
            <a:r>
              <a:rPr lang="en-US" altLang="zh-CN" sz="2200" b="1" noProof="1">
                <a:ea typeface="华文新魏" pitchFamily="2" charset="-122"/>
                <a:cs typeface="+mn-ea"/>
              </a:rPr>
              <a:t>.</a:t>
            </a:r>
            <a:r>
              <a:rPr lang="zh-CN" altLang="en-US" sz="2200" b="1" noProof="1">
                <a:ea typeface="华文新魏" pitchFamily="2" charset="-122"/>
                <a:cs typeface="+mn-ea"/>
              </a:rPr>
              <a:t>现将</a:t>
            </a:r>
            <a:r>
              <a:rPr lang="en-US" altLang="zh-CN" sz="2200" b="1" noProof="1">
                <a:ea typeface="华文新魏" pitchFamily="2" charset="-122"/>
                <a:cs typeface="+mn-ea"/>
              </a:rPr>
              <a:t>20.0mL 0.050 mol·L</a:t>
            </a:r>
            <a:r>
              <a:rPr lang="en-US" altLang="zh-CN" sz="2200" b="1" baseline="30000" noProof="1">
                <a:ea typeface="华文新魏" pitchFamily="2" charset="-122"/>
                <a:cs typeface="+mn-ea"/>
              </a:rPr>
              <a:t>-1</a:t>
            </a:r>
            <a:r>
              <a:rPr lang="en-US" altLang="zh-CN" sz="2200" b="1" noProof="1">
                <a:ea typeface="华文新魏" pitchFamily="2" charset="-122"/>
                <a:cs typeface="+mn-ea"/>
              </a:rPr>
              <a:t> BaCl</a:t>
            </a:r>
            <a:r>
              <a:rPr lang="en-US" altLang="zh-CN" sz="2200" b="1" baseline="-25000" noProof="1">
                <a:ea typeface="华文新魏" pitchFamily="2" charset="-122"/>
                <a:cs typeface="+mn-ea"/>
              </a:rPr>
              <a:t>2</a:t>
            </a:r>
            <a:r>
              <a:rPr lang="zh-CN" altLang="en-US" sz="2200" b="1" noProof="1">
                <a:ea typeface="华文新魏" pitchFamily="2" charset="-122"/>
                <a:cs typeface="+mn-ea"/>
              </a:rPr>
              <a:t>溶液与</a:t>
            </a:r>
            <a:r>
              <a:rPr lang="en-US" altLang="zh-CN" sz="2200" b="1" noProof="1">
                <a:ea typeface="华文新魏" pitchFamily="2" charset="-122"/>
                <a:cs typeface="+mn-ea"/>
              </a:rPr>
              <a:t>30.0mL0.050 mol·L</a:t>
            </a:r>
            <a:r>
              <a:rPr lang="en-US" altLang="zh-CN" sz="2200" b="1" baseline="30000" noProof="1">
                <a:ea typeface="华文新魏" pitchFamily="2" charset="-122"/>
                <a:cs typeface="+mn-ea"/>
              </a:rPr>
              <a:t>-1</a:t>
            </a:r>
            <a:r>
              <a:rPr lang="en-US" altLang="zh-CN" sz="2200" b="1" noProof="1">
                <a:ea typeface="华文新魏" pitchFamily="2" charset="-122"/>
                <a:cs typeface="+mn-ea"/>
              </a:rPr>
              <a:t>KF</a:t>
            </a:r>
            <a:r>
              <a:rPr lang="zh-CN" altLang="en-US" sz="2200" b="1" noProof="1">
                <a:ea typeface="华文新魏" pitchFamily="2" charset="-122"/>
                <a:cs typeface="+mn-ea"/>
              </a:rPr>
              <a:t>溶液混合</a:t>
            </a:r>
            <a:r>
              <a:rPr lang="en-US" altLang="zh-CN" sz="2200" b="1" noProof="1">
                <a:ea typeface="华文新魏" pitchFamily="2" charset="-122"/>
                <a:cs typeface="+mn-ea"/>
              </a:rPr>
              <a:t>.</a:t>
            </a:r>
            <a:r>
              <a:rPr lang="zh-CN" altLang="en-US" sz="2200" b="1" noProof="1">
                <a:ea typeface="华文新魏" pitchFamily="2" charset="-122"/>
                <a:cs typeface="+mn-ea"/>
              </a:rPr>
              <a:t>问有无</a:t>
            </a:r>
            <a:r>
              <a:rPr lang="en-US" altLang="zh-CN" sz="2200" b="1" noProof="1">
                <a:ea typeface="华文新魏" pitchFamily="2" charset="-122"/>
                <a:cs typeface="+mn-ea"/>
              </a:rPr>
              <a:t>BaF</a:t>
            </a:r>
            <a:r>
              <a:rPr lang="en-US" altLang="zh-CN" sz="2200" b="1" baseline="-25000" noProof="1">
                <a:ea typeface="华文新魏" pitchFamily="2" charset="-122"/>
                <a:cs typeface="+mn-ea"/>
              </a:rPr>
              <a:t>2</a:t>
            </a:r>
            <a:r>
              <a:rPr lang="zh-CN" altLang="en-US" sz="2200" b="1" noProof="1">
                <a:ea typeface="华文新魏" pitchFamily="2" charset="-122"/>
                <a:cs typeface="+mn-ea"/>
              </a:rPr>
              <a:t>沉淀生成</a:t>
            </a:r>
            <a:r>
              <a:rPr lang="en-US" altLang="zh-CN" sz="2200" b="1" noProof="1">
                <a:ea typeface="华文新魏" pitchFamily="2" charset="-122"/>
                <a:cs typeface="+mn-ea"/>
              </a:rPr>
              <a:t>?</a:t>
            </a:r>
          </a:p>
        </p:txBody>
      </p:sp>
      <p:sp>
        <p:nvSpPr>
          <p:cNvPr id="70675" name="矩形 70674"/>
          <p:cNvSpPr>
            <a:spLocks noChangeArrowheads="1"/>
          </p:cNvSpPr>
          <p:nvPr/>
        </p:nvSpPr>
        <p:spPr bwMode="auto">
          <a:xfrm>
            <a:off x="3903663" y="954071"/>
            <a:ext cx="6886575" cy="2111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lnSpc>
                <a:spcPct val="105000"/>
              </a:lnSpc>
              <a:buFont typeface="Arial" pitchFamily="34" charset="0"/>
              <a:buNone/>
            </a:pPr>
            <a:r>
              <a:rPr lang="en-US" altLang="zh-CN" sz="2500" b="1" i="1" dirty="0">
                <a:ea typeface="华文新魏" pitchFamily="2" charset="-122"/>
              </a:rPr>
              <a:t>Q</a:t>
            </a:r>
            <a:r>
              <a:rPr lang="en-US" altLang="zh-CN" sz="2500" b="1" i="1" baseline="-25000" dirty="0">
                <a:ea typeface="华文新魏" pitchFamily="2" charset="-122"/>
              </a:rPr>
              <a:t>c</a:t>
            </a:r>
            <a:r>
              <a:rPr lang="en-US" altLang="zh-CN" sz="2500" b="1" i="1" dirty="0">
                <a:ea typeface="华文新魏" pitchFamily="2" charset="-122"/>
              </a:rPr>
              <a:t> </a:t>
            </a:r>
            <a:r>
              <a:rPr lang="en-US" altLang="zh-CN" sz="2500" b="1" dirty="0">
                <a:ea typeface="华文新魏" pitchFamily="2" charset="-122"/>
              </a:rPr>
              <a:t>= </a:t>
            </a:r>
            <a:r>
              <a:rPr lang="en-US" altLang="zh-CN" sz="2500" b="1" i="1" dirty="0">
                <a:ea typeface="华文新魏" pitchFamily="2" charset="-122"/>
              </a:rPr>
              <a:t>c</a:t>
            </a:r>
            <a:r>
              <a:rPr lang="en-US" altLang="zh-CN" sz="2500" b="1" dirty="0">
                <a:ea typeface="华文新魏" pitchFamily="2" charset="-122"/>
              </a:rPr>
              <a:t>(Ba</a:t>
            </a:r>
            <a:r>
              <a:rPr lang="en-US" altLang="zh-CN" sz="2500" b="1" baseline="30000" dirty="0">
                <a:ea typeface="华文新魏" pitchFamily="2" charset="-122"/>
              </a:rPr>
              <a:t>2+</a:t>
            </a:r>
            <a:r>
              <a:rPr lang="en-US" altLang="zh-CN" sz="2500" b="1" dirty="0">
                <a:ea typeface="华文新魏" pitchFamily="2" charset="-122"/>
              </a:rPr>
              <a:t>)</a:t>
            </a:r>
            <a:r>
              <a:rPr lang="en-US" altLang="zh-CN" sz="2500" b="1" i="1" dirty="0">
                <a:ea typeface="华文新魏" pitchFamily="2" charset="-122"/>
              </a:rPr>
              <a:t>c</a:t>
            </a:r>
            <a:r>
              <a:rPr lang="en-US" altLang="zh-CN" sz="2500" b="1" baseline="30000" dirty="0">
                <a:ea typeface="华文新魏" pitchFamily="2" charset="-122"/>
              </a:rPr>
              <a:t>2</a:t>
            </a:r>
            <a:r>
              <a:rPr lang="en-US" altLang="zh-CN" sz="2500" b="1" dirty="0">
                <a:ea typeface="华文新魏" pitchFamily="2" charset="-122"/>
              </a:rPr>
              <a:t>(F</a:t>
            </a:r>
            <a:r>
              <a:rPr lang="en-US" altLang="zh-CN" sz="2500" b="1" baseline="30000" dirty="0">
                <a:ea typeface="华文新魏" pitchFamily="2" charset="-122"/>
              </a:rPr>
              <a:t>-</a:t>
            </a:r>
            <a:r>
              <a:rPr lang="en-US" altLang="zh-CN" sz="2500" b="1" dirty="0">
                <a:ea typeface="华文新魏" pitchFamily="2" charset="-122"/>
              </a:rPr>
              <a:t>)</a:t>
            </a:r>
          </a:p>
          <a:p>
            <a:pPr eaLnBrk="1" hangingPunct="1">
              <a:lnSpc>
                <a:spcPct val="105000"/>
              </a:lnSpc>
              <a:buFont typeface="Arial" pitchFamily="34" charset="0"/>
              <a:buNone/>
            </a:pPr>
            <a:r>
              <a:rPr lang="en-US" altLang="zh-CN" sz="2500" b="1" i="1" dirty="0">
                <a:ea typeface="华文新魏" pitchFamily="2" charset="-122"/>
              </a:rPr>
              <a:t>c</a:t>
            </a:r>
            <a:r>
              <a:rPr lang="en-US" altLang="zh-CN" sz="2500" b="1" dirty="0">
                <a:ea typeface="华文新魏" pitchFamily="2" charset="-122"/>
              </a:rPr>
              <a:t>(Ba</a:t>
            </a:r>
            <a:r>
              <a:rPr lang="en-US" altLang="zh-CN" sz="2500" b="1" baseline="30000" dirty="0">
                <a:ea typeface="华文新魏" pitchFamily="2" charset="-122"/>
              </a:rPr>
              <a:t>2+</a:t>
            </a:r>
            <a:r>
              <a:rPr lang="en-US" altLang="zh-CN" sz="2500" b="1" dirty="0">
                <a:ea typeface="华文新魏" pitchFamily="2" charset="-122"/>
              </a:rPr>
              <a:t>) = (0.050×20.0)/50.0 = 2.0×10</a:t>
            </a:r>
            <a:r>
              <a:rPr lang="en-US" altLang="zh-CN" sz="2500" b="1" baseline="30000" dirty="0">
                <a:ea typeface="华文新魏" pitchFamily="2" charset="-122"/>
              </a:rPr>
              <a:t>-2 </a:t>
            </a:r>
            <a:r>
              <a:rPr lang="en-US" altLang="zh-CN" sz="2500" b="1" dirty="0">
                <a:ea typeface="华文新魏" pitchFamily="2" charset="-122"/>
              </a:rPr>
              <a:t>(mol·L</a:t>
            </a:r>
            <a:r>
              <a:rPr lang="en-US" altLang="zh-CN" sz="2500" b="1" baseline="30000" dirty="0">
                <a:ea typeface="华文新魏" pitchFamily="2" charset="-122"/>
              </a:rPr>
              <a:t>-1</a:t>
            </a:r>
            <a:r>
              <a:rPr lang="en-US" altLang="zh-CN" sz="2500" b="1" dirty="0">
                <a:ea typeface="华文新魏" pitchFamily="2" charset="-122"/>
              </a:rPr>
              <a:t> )</a:t>
            </a:r>
          </a:p>
          <a:p>
            <a:pPr eaLnBrk="1" hangingPunct="1">
              <a:lnSpc>
                <a:spcPct val="105000"/>
              </a:lnSpc>
              <a:buFont typeface="Arial" pitchFamily="34" charset="0"/>
              <a:buNone/>
            </a:pPr>
            <a:r>
              <a:rPr lang="en-US" altLang="zh-CN" sz="2500" b="1" i="1" dirty="0">
                <a:ea typeface="华文新魏" pitchFamily="2" charset="-122"/>
              </a:rPr>
              <a:t>c</a:t>
            </a:r>
            <a:r>
              <a:rPr lang="en-US" altLang="zh-CN" sz="2500" b="1" baseline="30000" dirty="0">
                <a:ea typeface="华文新魏" pitchFamily="2" charset="-122"/>
              </a:rPr>
              <a:t> </a:t>
            </a:r>
            <a:r>
              <a:rPr lang="en-US" altLang="zh-CN" sz="2500" b="1" dirty="0">
                <a:ea typeface="华文新魏" pitchFamily="2" charset="-122"/>
              </a:rPr>
              <a:t>(F</a:t>
            </a:r>
            <a:r>
              <a:rPr lang="en-US" altLang="zh-CN" sz="2500" b="1" baseline="30000" dirty="0">
                <a:ea typeface="华文新魏" pitchFamily="2" charset="-122"/>
              </a:rPr>
              <a:t>-</a:t>
            </a:r>
            <a:r>
              <a:rPr lang="en-US" altLang="zh-CN" sz="2500" b="1" dirty="0">
                <a:ea typeface="华文新魏" pitchFamily="2" charset="-122"/>
              </a:rPr>
              <a:t>) = (0.050×30.0)/50.0 = 3.0×10</a:t>
            </a:r>
            <a:r>
              <a:rPr lang="en-US" altLang="zh-CN" sz="2500" b="1" baseline="30000" dirty="0">
                <a:ea typeface="华文新魏" pitchFamily="2" charset="-122"/>
              </a:rPr>
              <a:t>-2 </a:t>
            </a:r>
            <a:r>
              <a:rPr lang="en-US" altLang="zh-CN" sz="2500" b="1" dirty="0">
                <a:ea typeface="华文新魏" pitchFamily="2" charset="-122"/>
              </a:rPr>
              <a:t>(mol·L</a:t>
            </a:r>
            <a:r>
              <a:rPr lang="en-US" altLang="zh-CN" sz="2500" b="1" baseline="30000" dirty="0">
                <a:ea typeface="华文新魏" pitchFamily="2" charset="-122"/>
              </a:rPr>
              <a:t>-1</a:t>
            </a:r>
            <a:r>
              <a:rPr lang="en-US" altLang="zh-CN" sz="2500" b="1" dirty="0">
                <a:ea typeface="华文新魏" pitchFamily="2" charset="-122"/>
              </a:rPr>
              <a:t>)</a:t>
            </a:r>
            <a:endParaRPr lang="en-US" altLang="zh-CN" sz="2500" b="1" baseline="30000" dirty="0">
              <a:ea typeface="华文新魏" pitchFamily="2" charset="-122"/>
            </a:endParaRPr>
          </a:p>
          <a:p>
            <a:pPr eaLnBrk="1" hangingPunct="1">
              <a:lnSpc>
                <a:spcPct val="105000"/>
              </a:lnSpc>
              <a:buFont typeface="Arial" pitchFamily="34" charset="0"/>
              <a:buNone/>
            </a:pPr>
            <a:r>
              <a:rPr lang="en-US" altLang="zh-CN" sz="2500" b="1" i="1" dirty="0">
                <a:ea typeface="华文新魏" pitchFamily="2" charset="-122"/>
              </a:rPr>
              <a:t>Q</a:t>
            </a:r>
            <a:r>
              <a:rPr lang="en-US" altLang="zh-CN" sz="2500" b="1" i="1" baseline="-25000" dirty="0">
                <a:ea typeface="华文新魏" pitchFamily="2" charset="-122"/>
              </a:rPr>
              <a:t>c</a:t>
            </a:r>
            <a:r>
              <a:rPr lang="en-US" altLang="zh-CN" sz="2500" b="1" i="1" dirty="0">
                <a:ea typeface="华文新魏" pitchFamily="2" charset="-122"/>
              </a:rPr>
              <a:t> </a:t>
            </a:r>
            <a:r>
              <a:rPr lang="en-US" altLang="zh-CN" sz="2500" b="1" dirty="0">
                <a:ea typeface="华文新魏" pitchFamily="2" charset="-122"/>
              </a:rPr>
              <a:t>= 2.0×10</a:t>
            </a:r>
            <a:r>
              <a:rPr lang="en-US" altLang="zh-CN" sz="2500" b="1" baseline="30000" dirty="0">
                <a:ea typeface="华文新魏" pitchFamily="2" charset="-122"/>
              </a:rPr>
              <a:t>-2 </a:t>
            </a:r>
            <a:r>
              <a:rPr lang="en-US" altLang="zh-CN" sz="2500" b="1" dirty="0">
                <a:ea typeface="华文新魏" pitchFamily="2" charset="-122"/>
              </a:rPr>
              <a:t>×(3.0×10</a:t>
            </a:r>
            <a:r>
              <a:rPr lang="en-US" altLang="zh-CN" sz="2500" b="1" baseline="30000" dirty="0">
                <a:ea typeface="华文新魏" pitchFamily="2" charset="-122"/>
              </a:rPr>
              <a:t>-2 </a:t>
            </a:r>
            <a:r>
              <a:rPr lang="en-US" altLang="zh-CN" sz="2500" b="1" dirty="0">
                <a:ea typeface="华文新魏" pitchFamily="2" charset="-122"/>
              </a:rPr>
              <a:t>)</a:t>
            </a:r>
            <a:r>
              <a:rPr lang="en-US" altLang="zh-CN" sz="2500" b="1" baseline="30000" dirty="0">
                <a:ea typeface="华文新魏" pitchFamily="2" charset="-122"/>
              </a:rPr>
              <a:t>2 </a:t>
            </a:r>
            <a:r>
              <a:rPr lang="en-US" altLang="zh-CN" sz="2500" b="1" dirty="0">
                <a:ea typeface="华文新魏" pitchFamily="2" charset="-122"/>
              </a:rPr>
              <a:t>= 1.8×10</a:t>
            </a:r>
            <a:r>
              <a:rPr lang="en-US" altLang="zh-CN" sz="2500" b="1" baseline="30000" dirty="0">
                <a:ea typeface="华文新魏" pitchFamily="2" charset="-122"/>
              </a:rPr>
              <a:t>-5</a:t>
            </a:r>
          </a:p>
          <a:p>
            <a:pPr eaLnBrk="1" hangingPunct="1">
              <a:lnSpc>
                <a:spcPct val="105000"/>
              </a:lnSpc>
              <a:buFont typeface="Arial" pitchFamily="34" charset="0"/>
              <a:buNone/>
            </a:pPr>
            <a:r>
              <a:rPr lang="en-US" altLang="zh-CN" sz="2500" b="1" i="1" dirty="0">
                <a:ea typeface="华文新魏" pitchFamily="2" charset="-122"/>
              </a:rPr>
              <a:t>        Q</a:t>
            </a:r>
            <a:r>
              <a:rPr lang="en-US" altLang="zh-CN" sz="2500" b="1" i="1" baseline="-25000" dirty="0">
                <a:ea typeface="华文新魏" pitchFamily="2" charset="-122"/>
              </a:rPr>
              <a:t>c</a:t>
            </a:r>
            <a:r>
              <a:rPr lang="en-US" altLang="zh-CN" sz="2500" b="1" i="1" dirty="0">
                <a:ea typeface="华文新魏" pitchFamily="2" charset="-122"/>
              </a:rPr>
              <a:t> </a:t>
            </a:r>
            <a:r>
              <a:rPr lang="en-US" altLang="zh-CN" sz="2500" b="1" dirty="0">
                <a:ea typeface="华文新魏" pitchFamily="2" charset="-122"/>
              </a:rPr>
              <a:t>&gt; </a:t>
            </a:r>
            <a:r>
              <a:rPr lang="en-US" altLang="zh-CN" sz="2500" b="1" i="1" dirty="0" err="1">
                <a:ea typeface="华文新魏" pitchFamily="2" charset="-122"/>
              </a:rPr>
              <a:t>K</a:t>
            </a:r>
            <a:r>
              <a:rPr lang="en-US" altLang="zh-CN" b="1" baseline="100000" dirty="0" err="1">
                <a:ea typeface="华文新魏" pitchFamily="2" charset="-122"/>
                <a:sym typeface="Webdings" pitchFamily="18" charset="2"/>
              </a:rPr>
              <a:t></a:t>
            </a:r>
            <a:r>
              <a:rPr lang="en-US" altLang="zh-CN" sz="2500" b="1" baseline="-25000" dirty="0" err="1">
                <a:ea typeface="华文新魏" pitchFamily="2" charset="-122"/>
                <a:sym typeface="Webdings" pitchFamily="18" charset="2"/>
              </a:rPr>
              <a:t>sp</a:t>
            </a:r>
            <a:r>
              <a:rPr lang="en-US" altLang="zh-CN" sz="2500" b="1" dirty="0">
                <a:ea typeface="华文新魏" pitchFamily="2" charset="-122"/>
              </a:rPr>
              <a:t>,</a:t>
            </a:r>
            <a:r>
              <a:rPr lang="zh-CN" altLang="en-US" sz="2500" b="1" dirty="0">
                <a:ea typeface="华文新魏" pitchFamily="2" charset="-122"/>
              </a:rPr>
              <a:t>有沉淀生成</a:t>
            </a:r>
            <a:r>
              <a:rPr lang="en-US" altLang="zh-CN" sz="2500" b="1" dirty="0">
                <a:ea typeface="华文新魏" pitchFamily="2" charset="-122"/>
              </a:rPr>
              <a:t>.</a:t>
            </a:r>
            <a:endParaRPr lang="en-US" altLang="zh-CN" sz="2500" b="1" baseline="30000" dirty="0">
              <a:ea typeface="华文新魏" pitchFamily="2" charset="-122"/>
            </a:endParaRPr>
          </a:p>
        </p:txBody>
      </p:sp>
      <p:sp>
        <p:nvSpPr>
          <p:cNvPr id="4102" name="椭圆 62501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auto">
          <a:xfrm>
            <a:off x="71438" y="5688013"/>
            <a:ext cx="360362" cy="360362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Font typeface="Arial" pitchFamily="34" charset="0"/>
              <a:buNone/>
            </a:pPr>
            <a:endParaRPr lang="zh-CN" altLang="en-US"/>
          </a:p>
        </p:txBody>
      </p:sp>
      <p:sp>
        <p:nvSpPr>
          <p:cNvPr id="4103" name="椭圆 68634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auto">
          <a:xfrm>
            <a:off x="11210925" y="5688013"/>
            <a:ext cx="360363" cy="360362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Font typeface="Arial" pitchFamily="34" charset="0"/>
              <a:buNone/>
            </a:pPr>
            <a:endParaRPr lang="zh-CN" altLang="en-US"/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8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0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0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0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0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0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NOTIFY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070" grpId="0"/>
      <p:bldP spid="70675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文本框 1"/>
          <p:cNvSpPr txBox="1">
            <a:spLocks noChangeArrowheads="1"/>
          </p:cNvSpPr>
          <p:nvPr/>
        </p:nvSpPr>
        <p:spPr bwMode="auto">
          <a:xfrm>
            <a:off x="117435" y="454025"/>
            <a:ext cx="2757487" cy="430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buFont typeface="Arial" pitchFamily="34" charset="0"/>
              <a:buNone/>
            </a:pPr>
            <a:r>
              <a:rPr lang="zh-CN" altLang="en-US" sz="2200" b="1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</a:rPr>
              <a:t>例</a:t>
            </a:r>
            <a:r>
              <a:rPr lang="en-US" altLang="zh-CN" sz="2200" b="1">
                <a:solidFill>
                  <a:srgbClr val="FFFF00"/>
                </a:solidFill>
                <a:ea typeface="华文新魏" pitchFamily="2" charset="-122"/>
              </a:rPr>
              <a:t>4:</a:t>
            </a:r>
          </a:p>
        </p:txBody>
      </p:sp>
      <p:sp>
        <p:nvSpPr>
          <p:cNvPr id="88070" name="矩形 88069"/>
          <p:cNvSpPr/>
          <p:nvPr/>
        </p:nvSpPr>
        <p:spPr>
          <a:xfrm>
            <a:off x="3832211" y="525443"/>
            <a:ext cx="608013" cy="4730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fontAlgn="auto" hangingPunct="1">
              <a:buFont typeface="Arial" panose="020B0604020202020204" pitchFamily="34" charset="0"/>
              <a:buNone/>
              <a:defRPr/>
            </a:pPr>
            <a:r>
              <a:rPr lang="zh-CN" altLang="en-US" sz="2500" b="1" noProof="1">
                <a:solidFill>
                  <a:srgbClr val="FFFF00"/>
                </a:solidFill>
                <a:ea typeface="华文新魏" pitchFamily="2" charset="-122"/>
              </a:rPr>
              <a:t>解</a:t>
            </a:r>
            <a:r>
              <a:rPr lang="en-US" altLang="zh-CN" sz="2500" b="1" noProof="1">
                <a:solidFill>
                  <a:srgbClr val="FFFF00"/>
                </a:solidFill>
                <a:ea typeface="华文新魏" pitchFamily="2" charset="-122"/>
              </a:rPr>
              <a:t>:</a:t>
            </a:r>
            <a:endParaRPr lang="en-US" altLang="zh-CN" sz="2500" b="1" noProof="1">
              <a:solidFill>
                <a:srgbClr val="FFFF00"/>
              </a:solidFill>
              <a:effectLst>
                <a:outerShdw blurRad="38100" dist="38100" dir="2700000">
                  <a:srgbClr val="000000"/>
                </a:outerShdw>
              </a:effectLst>
              <a:ea typeface="华文新魏" pitchFamily="2" charset="-122"/>
            </a:endParaRPr>
          </a:p>
        </p:txBody>
      </p:sp>
      <p:sp>
        <p:nvSpPr>
          <p:cNvPr id="69664" name="矩形 69663"/>
          <p:cNvSpPr/>
          <p:nvPr/>
        </p:nvSpPr>
        <p:spPr>
          <a:xfrm>
            <a:off x="126982" y="811195"/>
            <a:ext cx="3133725" cy="22113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105000"/>
              </a:lnSpc>
              <a:buFont typeface="Arial" panose="020B0604020202020204" pitchFamily="34" charset="0"/>
              <a:buNone/>
              <a:defRPr/>
            </a:pPr>
            <a:r>
              <a:rPr lang="zh-CN" altLang="en-US" sz="2200" b="1" noProof="1">
                <a:ea typeface="华文新魏" pitchFamily="2" charset="-122"/>
                <a:cs typeface="+mn-ea"/>
                <a:sym typeface="+mn-ea"/>
              </a:rPr>
              <a:t>已知</a:t>
            </a:r>
            <a:r>
              <a:rPr lang="en-US" altLang="zh-CN" sz="2200" b="1" noProof="1">
                <a:ea typeface="华文新魏" pitchFamily="2" charset="-122"/>
                <a:cs typeface="+mn-ea"/>
                <a:sym typeface="+mn-ea"/>
              </a:rPr>
              <a:t>BaSO</a:t>
            </a:r>
            <a:r>
              <a:rPr lang="en-US" altLang="zh-CN" sz="2200" b="1" baseline="-25000" noProof="1">
                <a:ea typeface="华文新魏" pitchFamily="2" charset="-122"/>
                <a:cs typeface="+mn-ea"/>
                <a:sym typeface="+mn-ea"/>
              </a:rPr>
              <a:t>4 </a:t>
            </a:r>
            <a:r>
              <a:rPr lang="zh-CN" altLang="en-US" sz="2200" b="1" noProof="1">
                <a:ea typeface="华文新魏" pitchFamily="2" charset="-122"/>
                <a:cs typeface="+mn-ea"/>
                <a:sym typeface="+mn-ea"/>
              </a:rPr>
              <a:t>的</a:t>
            </a:r>
            <a:r>
              <a:rPr lang="en-US" altLang="zh-CN" sz="2200" b="1" i="1" noProof="1">
                <a:ea typeface="华文新魏" pitchFamily="2" charset="-122"/>
                <a:cs typeface="+mn-ea"/>
                <a:sym typeface="+mn-ea"/>
              </a:rPr>
              <a:t>K</a:t>
            </a:r>
            <a:r>
              <a:rPr lang="en-US" altLang="zh-CN" sz="1600" b="1" baseline="100000" noProof="1">
                <a:ea typeface="华文新魏" pitchFamily="2" charset="-122"/>
                <a:cs typeface="+mn-ea"/>
                <a:sym typeface="Webdings" panose="05030102010509060703" pitchFamily="18" charset="2"/>
              </a:rPr>
              <a:t></a:t>
            </a:r>
            <a:r>
              <a:rPr lang="en-US" altLang="zh-CN" sz="2200" b="1" baseline="-25000" noProof="1">
                <a:ea typeface="华文新魏" pitchFamily="2" charset="-122"/>
                <a:cs typeface="+mn-ea"/>
                <a:sym typeface="Webdings" panose="05030102010509060703" pitchFamily="18" charset="2"/>
              </a:rPr>
              <a:t>sp</a:t>
            </a:r>
            <a:r>
              <a:rPr lang="en-US" altLang="zh-CN" sz="2200" b="1" noProof="1">
                <a:ea typeface="华文新魏" pitchFamily="2" charset="-122"/>
                <a:cs typeface="+mn-ea"/>
                <a:sym typeface="+mn-ea"/>
              </a:rPr>
              <a:t>= 1.07×10</a:t>
            </a:r>
            <a:r>
              <a:rPr lang="en-US" altLang="zh-CN" sz="2200" b="1" baseline="30000" noProof="1">
                <a:ea typeface="华文新魏" pitchFamily="2" charset="-122"/>
                <a:cs typeface="+mn-ea"/>
                <a:sym typeface="+mn-ea"/>
              </a:rPr>
              <a:t>-10</a:t>
            </a:r>
            <a:r>
              <a:rPr lang="en-US" altLang="zh-CN" sz="2200" b="1" noProof="1">
                <a:ea typeface="华文新魏" pitchFamily="2" charset="-122"/>
                <a:cs typeface="+mn-ea"/>
                <a:sym typeface="+mn-ea"/>
              </a:rPr>
              <a:t>. </a:t>
            </a:r>
            <a:r>
              <a:rPr lang="zh-CN" altLang="en-US" sz="2200" b="1" noProof="1">
                <a:ea typeface="华文新魏" pitchFamily="2" charset="-122"/>
                <a:cs typeface="+mn-ea"/>
                <a:sym typeface="+mn-ea"/>
              </a:rPr>
              <a:t>试比较</a:t>
            </a:r>
            <a:r>
              <a:rPr lang="en-US" altLang="zh-CN" sz="2200" b="1" noProof="1">
                <a:ea typeface="华文新魏" pitchFamily="2" charset="-122"/>
                <a:cs typeface="+mn-ea"/>
                <a:sym typeface="+mn-ea"/>
              </a:rPr>
              <a:t>BaSO</a:t>
            </a:r>
            <a:r>
              <a:rPr lang="en-US" altLang="zh-CN" sz="2200" b="1" baseline="-25000" noProof="1">
                <a:ea typeface="华文新魏" pitchFamily="2" charset="-122"/>
                <a:cs typeface="+mn-ea"/>
                <a:sym typeface="+mn-ea"/>
              </a:rPr>
              <a:t>4</a:t>
            </a:r>
            <a:r>
              <a:rPr lang="zh-CN" altLang="en-US" sz="2200" b="1" noProof="1">
                <a:ea typeface="华文新魏" pitchFamily="2" charset="-122"/>
                <a:cs typeface="+mn-ea"/>
                <a:sym typeface="+mn-ea"/>
              </a:rPr>
              <a:t>在</a:t>
            </a:r>
            <a:r>
              <a:rPr lang="en-US" altLang="zh-CN" sz="2200" b="1" noProof="1">
                <a:ea typeface="华文新魏" pitchFamily="2" charset="-122"/>
                <a:cs typeface="+mn-ea"/>
                <a:sym typeface="+mn-ea"/>
              </a:rPr>
              <a:t>250 mL</a:t>
            </a:r>
            <a:r>
              <a:rPr lang="zh-CN" altLang="en-US" sz="2200" b="1" noProof="1">
                <a:ea typeface="华文新魏" pitchFamily="2" charset="-122"/>
                <a:cs typeface="+mn-ea"/>
                <a:sym typeface="+mn-ea"/>
              </a:rPr>
              <a:t>纯水</a:t>
            </a:r>
            <a:r>
              <a:rPr lang="en-US" altLang="zh-CN" sz="2200" b="1" noProof="1">
                <a:ea typeface="华文新魏" pitchFamily="2" charset="-122"/>
                <a:cs typeface="+mn-ea"/>
                <a:sym typeface="+mn-ea"/>
              </a:rPr>
              <a:t>,</a:t>
            </a:r>
            <a:r>
              <a:rPr lang="zh-CN" altLang="en-US" sz="2200" b="1" noProof="1">
                <a:ea typeface="华文新魏" pitchFamily="2" charset="-122"/>
                <a:cs typeface="+mn-ea"/>
                <a:sym typeface="+mn-ea"/>
              </a:rPr>
              <a:t>以及在</a:t>
            </a:r>
            <a:r>
              <a:rPr lang="en-US" altLang="zh-CN" sz="2200" b="1" noProof="1">
                <a:ea typeface="华文新魏" pitchFamily="2" charset="-122"/>
                <a:cs typeface="+mn-ea"/>
                <a:sym typeface="+mn-ea"/>
              </a:rPr>
              <a:t>250mL [SO</a:t>
            </a:r>
            <a:r>
              <a:rPr lang="en-US" altLang="zh-CN" sz="2200" b="1" baseline="-25000" noProof="1">
                <a:ea typeface="华文新魏" pitchFamily="2" charset="-122"/>
                <a:cs typeface="+mn-ea"/>
                <a:sym typeface="+mn-ea"/>
              </a:rPr>
              <a:t>4</a:t>
            </a:r>
            <a:r>
              <a:rPr lang="en-US" altLang="zh-CN" sz="2200" b="1" baseline="30000" noProof="1">
                <a:ea typeface="华文新魏" pitchFamily="2" charset="-122"/>
                <a:cs typeface="+mn-ea"/>
                <a:sym typeface="+mn-ea"/>
              </a:rPr>
              <a:t>2-</a:t>
            </a:r>
            <a:r>
              <a:rPr lang="en-US" altLang="zh-CN" sz="2200" b="1" noProof="1">
                <a:ea typeface="华文新魏" pitchFamily="2" charset="-122"/>
                <a:cs typeface="+mn-ea"/>
                <a:sym typeface="+mn-ea"/>
              </a:rPr>
              <a:t>] = 0.010 mol·L</a:t>
            </a:r>
            <a:r>
              <a:rPr lang="en-US" altLang="zh-CN" sz="2200" b="1" baseline="30000" noProof="1">
                <a:ea typeface="华文新魏" pitchFamily="2" charset="-122"/>
                <a:cs typeface="+mn-ea"/>
                <a:sym typeface="+mn-ea"/>
              </a:rPr>
              <a:t>-1</a:t>
            </a:r>
            <a:r>
              <a:rPr lang="zh-CN" altLang="en-US" sz="2200" b="1" noProof="1">
                <a:ea typeface="华文新魏" pitchFamily="2" charset="-122"/>
                <a:cs typeface="+mn-ea"/>
                <a:sym typeface="+mn-ea"/>
              </a:rPr>
              <a:t>溶液中的溶解损失</a:t>
            </a:r>
            <a:r>
              <a:rPr lang="en-US" altLang="zh-CN" sz="2200" b="1" noProof="1">
                <a:ea typeface="华文新魏" pitchFamily="2" charset="-122"/>
                <a:cs typeface="+mn-ea"/>
                <a:sym typeface="+mn-ea"/>
              </a:rPr>
              <a:t>.</a:t>
            </a:r>
            <a:endParaRPr lang="zh-CN" altLang="en-US" sz="2200" b="1" noProof="1">
              <a:ea typeface="华文新魏" pitchFamily="2" charset="-122"/>
            </a:endParaRPr>
          </a:p>
        </p:txBody>
      </p:sp>
      <p:sp>
        <p:nvSpPr>
          <p:cNvPr id="43034" name="矩形 43033"/>
          <p:cNvSpPr>
            <a:spLocks noChangeArrowheads="1"/>
          </p:cNvSpPr>
          <p:nvPr/>
        </p:nvSpPr>
        <p:spPr bwMode="auto">
          <a:xfrm>
            <a:off x="4333863" y="1025509"/>
            <a:ext cx="6167437" cy="996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lnSpc>
                <a:spcPct val="105000"/>
              </a:lnSpc>
              <a:buFont typeface="Arial" pitchFamily="34" charset="0"/>
              <a:buNone/>
            </a:pPr>
            <a:r>
              <a:rPr lang="zh-CN" altLang="en-US" sz="2800" b="1">
                <a:ea typeface="华文新魏" pitchFamily="2" charset="-122"/>
              </a:rPr>
              <a:t>对</a:t>
            </a:r>
            <a:r>
              <a:rPr lang="en-US" altLang="zh-CN" sz="2800" b="1">
                <a:ea typeface="华文新魏" pitchFamily="2" charset="-122"/>
              </a:rPr>
              <a:t>MA</a:t>
            </a:r>
            <a:r>
              <a:rPr lang="zh-CN" altLang="en-US" sz="2800" b="1">
                <a:ea typeface="华文新魏" pitchFamily="2" charset="-122"/>
              </a:rPr>
              <a:t>型难溶物</a:t>
            </a:r>
            <a:r>
              <a:rPr lang="en-US" altLang="zh-CN" sz="2800" b="1">
                <a:ea typeface="华文新魏" pitchFamily="2" charset="-122"/>
              </a:rPr>
              <a:t>, </a:t>
            </a:r>
            <a:r>
              <a:rPr lang="en-US" altLang="zh-CN" sz="2800" b="1" i="1">
                <a:ea typeface="华文新魏" pitchFamily="2" charset="-122"/>
              </a:rPr>
              <a:t>s </a:t>
            </a:r>
            <a:r>
              <a:rPr lang="en-US" altLang="zh-CN" sz="2800" b="1">
                <a:ea typeface="华文新魏" pitchFamily="2" charset="-122"/>
              </a:rPr>
              <a:t>= (</a:t>
            </a:r>
            <a:r>
              <a:rPr lang="en-US" altLang="zh-CN" sz="2800" b="1" i="1">
                <a:ea typeface="华文新魏" pitchFamily="2" charset="-122"/>
              </a:rPr>
              <a:t>K</a:t>
            </a:r>
            <a:r>
              <a:rPr lang="en-US" altLang="zh-CN" sz="1600" b="1" baseline="100000">
                <a:ea typeface="华文新魏" pitchFamily="2" charset="-122"/>
                <a:sym typeface="Webdings" pitchFamily="18" charset="2"/>
              </a:rPr>
              <a:t></a:t>
            </a:r>
            <a:r>
              <a:rPr lang="en-US" altLang="zh-CN" sz="2800" b="1" baseline="-25000">
                <a:ea typeface="华文新魏" pitchFamily="2" charset="-122"/>
                <a:sym typeface="Webdings" pitchFamily="18" charset="2"/>
              </a:rPr>
              <a:t>sp</a:t>
            </a:r>
            <a:r>
              <a:rPr lang="en-US" altLang="zh-CN" sz="2800" b="1">
                <a:ea typeface="华文新魏" pitchFamily="2" charset="-122"/>
              </a:rPr>
              <a:t>)</a:t>
            </a:r>
            <a:r>
              <a:rPr lang="en-US" altLang="zh-CN" sz="2800" b="1" baseline="30000">
                <a:ea typeface="华文新魏" pitchFamily="2" charset="-122"/>
              </a:rPr>
              <a:t>1/2</a:t>
            </a:r>
            <a:endParaRPr lang="en-US" altLang="zh-CN" sz="2800" b="1">
              <a:ea typeface="华文新魏" pitchFamily="2" charset="-122"/>
            </a:endParaRPr>
          </a:p>
          <a:p>
            <a:pPr eaLnBrk="1" hangingPunct="1">
              <a:lnSpc>
                <a:spcPct val="105000"/>
              </a:lnSpc>
              <a:buFont typeface="Arial" pitchFamily="34" charset="0"/>
              <a:buNone/>
            </a:pPr>
            <a:r>
              <a:rPr lang="en-US" altLang="zh-CN" sz="2800" b="1">
                <a:ea typeface="华文新魏" pitchFamily="2" charset="-122"/>
                <a:sym typeface="Monotype Sorts" pitchFamily="2" charset="2"/>
              </a:rPr>
              <a:t>① </a:t>
            </a:r>
            <a:r>
              <a:rPr lang="zh-CN" altLang="en-US" sz="2800" b="1">
                <a:ea typeface="华文新魏" pitchFamily="2" charset="-122"/>
                <a:sym typeface="Monotype Sorts" pitchFamily="2" charset="2"/>
              </a:rPr>
              <a:t>纯水中</a:t>
            </a:r>
            <a:r>
              <a:rPr lang="en-US" altLang="zh-CN" sz="2800" b="1">
                <a:ea typeface="华文新魏" pitchFamily="2" charset="-122"/>
                <a:sym typeface="Monotype Sorts" pitchFamily="2" charset="2"/>
              </a:rPr>
              <a:t>: </a:t>
            </a:r>
            <a:r>
              <a:rPr lang="en-US" altLang="zh-CN" sz="2800" b="1" i="1">
                <a:ea typeface="华文新魏" pitchFamily="2" charset="-122"/>
              </a:rPr>
              <a:t>s</a:t>
            </a:r>
            <a:r>
              <a:rPr lang="en-US" altLang="zh-CN" sz="2800" b="1" baseline="-25000">
                <a:ea typeface="华文新魏" pitchFamily="2" charset="-122"/>
              </a:rPr>
              <a:t>1</a:t>
            </a:r>
            <a:r>
              <a:rPr lang="en-US" altLang="zh-CN" sz="2800" b="1" i="1">
                <a:ea typeface="华文新魏" pitchFamily="2" charset="-122"/>
              </a:rPr>
              <a:t> </a:t>
            </a:r>
            <a:r>
              <a:rPr lang="en-US" altLang="zh-CN" sz="2800" b="1">
                <a:ea typeface="华文新魏" pitchFamily="2" charset="-122"/>
              </a:rPr>
              <a:t>= (1.07×10</a:t>
            </a:r>
            <a:r>
              <a:rPr lang="en-US" altLang="zh-CN" sz="2800" b="1" baseline="30000">
                <a:ea typeface="华文新魏" pitchFamily="2" charset="-122"/>
              </a:rPr>
              <a:t>-10</a:t>
            </a:r>
            <a:r>
              <a:rPr lang="en-US" altLang="zh-CN" sz="2800" b="1">
                <a:ea typeface="华文新魏" pitchFamily="2" charset="-122"/>
              </a:rPr>
              <a:t>)</a:t>
            </a:r>
            <a:r>
              <a:rPr lang="en-US" altLang="zh-CN" sz="2800" b="1" baseline="30000">
                <a:ea typeface="华文新魏" pitchFamily="2" charset="-122"/>
              </a:rPr>
              <a:t>1/2 </a:t>
            </a:r>
            <a:r>
              <a:rPr lang="en-US" altLang="zh-CN" sz="2800" b="1">
                <a:ea typeface="华文新魏" pitchFamily="2" charset="-122"/>
              </a:rPr>
              <a:t>(mol·L</a:t>
            </a:r>
            <a:r>
              <a:rPr lang="en-US" altLang="zh-CN" sz="2800" b="1" baseline="30000">
                <a:ea typeface="华文新魏" pitchFamily="2" charset="-122"/>
              </a:rPr>
              <a:t>-1</a:t>
            </a:r>
            <a:r>
              <a:rPr lang="en-US" altLang="zh-CN" sz="2800" b="1">
                <a:ea typeface="华文新魏" pitchFamily="2" charset="-122"/>
              </a:rPr>
              <a:t>)</a:t>
            </a:r>
          </a:p>
        </p:txBody>
      </p:sp>
      <p:sp>
        <p:nvSpPr>
          <p:cNvPr id="43039" name="矩形 43038"/>
          <p:cNvSpPr>
            <a:spLocks noChangeArrowheads="1"/>
          </p:cNvSpPr>
          <p:nvPr/>
        </p:nvSpPr>
        <p:spPr bwMode="auto">
          <a:xfrm>
            <a:off x="6019788" y="2606659"/>
            <a:ext cx="4824412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lnSpc>
                <a:spcPct val="105000"/>
              </a:lnSpc>
              <a:buFont typeface="Arial" pitchFamily="34" charset="0"/>
              <a:buNone/>
            </a:pPr>
            <a:r>
              <a:rPr lang="en-US" altLang="zh-CN" sz="2800" b="1" i="1">
                <a:ea typeface="华文新魏" pitchFamily="2" charset="-122"/>
              </a:rPr>
              <a:t>=</a:t>
            </a:r>
            <a:r>
              <a:rPr lang="en-US" altLang="zh-CN" sz="2800" b="1">
                <a:ea typeface="华文新魏" pitchFamily="2" charset="-122"/>
              </a:rPr>
              <a:t> (1.07×10</a:t>
            </a:r>
            <a:r>
              <a:rPr lang="en-US" altLang="zh-CN" sz="2800" b="1" baseline="30000">
                <a:ea typeface="华文新魏" pitchFamily="2" charset="-122"/>
              </a:rPr>
              <a:t>-10</a:t>
            </a:r>
            <a:r>
              <a:rPr lang="en-US" altLang="zh-CN" sz="2800" b="1">
                <a:ea typeface="华文新魏" pitchFamily="2" charset="-122"/>
              </a:rPr>
              <a:t>)</a:t>
            </a:r>
            <a:r>
              <a:rPr lang="en-US" altLang="zh-CN" sz="2800" b="1" baseline="30000">
                <a:ea typeface="华文新魏" pitchFamily="2" charset="-122"/>
              </a:rPr>
              <a:t>1/2</a:t>
            </a:r>
            <a:r>
              <a:rPr lang="en-US" altLang="zh-CN" sz="2800" b="1">
                <a:ea typeface="华文新魏" pitchFamily="2" charset="-122"/>
              </a:rPr>
              <a:t>×250×233.4                           </a:t>
            </a:r>
          </a:p>
        </p:txBody>
      </p:sp>
      <p:sp>
        <p:nvSpPr>
          <p:cNvPr id="43040" name="矩形 43039"/>
          <p:cNvSpPr>
            <a:spLocks noChangeArrowheads="1"/>
          </p:cNvSpPr>
          <p:nvPr/>
        </p:nvSpPr>
        <p:spPr bwMode="auto">
          <a:xfrm>
            <a:off x="4117963" y="2087546"/>
            <a:ext cx="41402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buFont typeface="Arial" pitchFamily="34" charset="0"/>
              <a:buNone/>
            </a:pPr>
            <a:r>
              <a:rPr lang="zh-CN" altLang="en-US" sz="2800" b="1">
                <a:ea typeface="华文新魏" pitchFamily="2" charset="-122"/>
              </a:rPr>
              <a:t>溶解损失</a:t>
            </a:r>
            <a:r>
              <a:rPr lang="en-US" altLang="zh-CN" sz="2800" b="1">
                <a:ea typeface="华文新魏" pitchFamily="2" charset="-122"/>
              </a:rPr>
              <a:t>: </a:t>
            </a:r>
            <a:r>
              <a:rPr lang="en-US" altLang="zh-CN" sz="2800" b="1" i="1">
                <a:ea typeface="华文新魏" pitchFamily="2" charset="-122"/>
              </a:rPr>
              <a:t>m</a:t>
            </a:r>
            <a:r>
              <a:rPr lang="en-US" altLang="zh-CN" sz="2800" b="1" baseline="-25000">
                <a:ea typeface="华文新魏" pitchFamily="2" charset="-122"/>
              </a:rPr>
              <a:t>1</a:t>
            </a:r>
            <a:r>
              <a:rPr lang="en-US" altLang="zh-CN" sz="2800" b="1">
                <a:ea typeface="华文新魏" pitchFamily="2" charset="-122"/>
              </a:rPr>
              <a:t>= </a:t>
            </a:r>
            <a:r>
              <a:rPr lang="en-US" altLang="zh-CN" sz="2800" b="1" i="1">
                <a:ea typeface="华文新魏" pitchFamily="2" charset="-122"/>
              </a:rPr>
              <a:t>s</a:t>
            </a:r>
            <a:r>
              <a:rPr lang="en-US" altLang="zh-CN" sz="2800" b="1" baseline="-25000">
                <a:ea typeface="华文新魏" pitchFamily="2" charset="-122"/>
              </a:rPr>
              <a:t>1</a:t>
            </a:r>
            <a:r>
              <a:rPr lang="en-US" altLang="zh-CN" sz="2800" b="1" i="1">
                <a:ea typeface="华文新魏" pitchFamily="2" charset="-122"/>
              </a:rPr>
              <a:t>VM</a:t>
            </a:r>
          </a:p>
        </p:txBody>
      </p:sp>
      <p:sp>
        <p:nvSpPr>
          <p:cNvPr id="43041" name="矩形 43040"/>
          <p:cNvSpPr>
            <a:spLocks noChangeArrowheads="1"/>
          </p:cNvSpPr>
          <p:nvPr/>
        </p:nvSpPr>
        <p:spPr bwMode="auto">
          <a:xfrm>
            <a:off x="6034075" y="3146409"/>
            <a:ext cx="1917700" cy="544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r" eaLnBrk="1" hangingPunct="1">
              <a:lnSpc>
                <a:spcPct val="105000"/>
              </a:lnSpc>
              <a:buFont typeface="Arial" pitchFamily="34" charset="0"/>
              <a:buNone/>
            </a:pPr>
            <a:r>
              <a:rPr lang="en-US" altLang="zh-CN" sz="2800" b="1" dirty="0">
                <a:ea typeface="华文新魏" pitchFamily="2" charset="-122"/>
              </a:rPr>
              <a:t>= 0.60 (mg)</a:t>
            </a:r>
          </a:p>
        </p:txBody>
      </p:sp>
      <p:sp>
        <p:nvSpPr>
          <p:cNvPr id="5129" name="椭圆 68634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auto">
          <a:xfrm>
            <a:off x="11210925" y="5688013"/>
            <a:ext cx="360363" cy="360362"/>
          </a:xfrm>
          <a:prstGeom prst="ellipse">
            <a:avLst/>
          </a:prstGeom>
          <a:blipFill dpi="0" rotWithShape="1">
            <a:blip r:embed="rId2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Font typeface="Arial" pitchFamily="34" charset="0"/>
              <a:buNone/>
            </a:pPr>
            <a:endParaRPr lang="zh-CN" altLang="en-US"/>
          </a:p>
        </p:txBody>
      </p:sp>
      <p:sp>
        <p:nvSpPr>
          <p:cNvPr id="5130" name="椭圆 62501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auto">
          <a:xfrm>
            <a:off x="71438" y="5688013"/>
            <a:ext cx="360362" cy="360362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Font typeface="Arial" pitchFamily="34" charset="0"/>
              <a:buNone/>
            </a:pPr>
            <a:endParaRPr lang="zh-CN" altLang="en-US"/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8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430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430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43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3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2" dur="500"/>
                                        <p:tgtEl>
                                          <p:spTgt spid="43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070" grpId="0"/>
      <p:bldP spid="43034" grpId="0" build="p"/>
      <p:bldP spid="43039" grpId="0"/>
      <p:bldP spid="43040" grpId="0"/>
      <p:bldP spid="4304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20" name="矩形 98319"/>
          <p:cNvSpPr>
            <a:spLocks noChangeArrowheads="1"/>
          </p:cNvSpPr>
          <p:nvPr/>
        </p:nvSpPr>
        <p:spPr bwMode="auto">
          <a:xfrm>
            <a:off x="6288088" y="1460484"/>
            <a:ext cx="4541837" cy="477837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Font typeface="Arial" pitchFamily="34" charset="0"/>
              <a:buNone/>
            </a:pPr>
            <a:r>
              <a:rPr lang="en-US" altLang="zh-CN" sz="2500" b="1">
                <a:solidFill>
                  <a:srgbClr val="000000"/>
                </a:solidFill>
                <a:ea typeface="仿宋_GB2312" pitchFamily="49" charset="-122"/>
              </a:rPr>
              <a:t>BaSO</a:t>
            </a:r>
            <a:r>
              <a:rPr lang="en-US" altLang="zh-CN" sz="2500" b="1" baseline="-25000">
                <a:solidFill>
                  <a:srgbClr val="000000"/>
                </a:solidFill>
                <a:ea typeface="仿宋_GB2312" pitchFamily="49" charset="-122"/>
              </a:rPr>
              <a:t>4</a:t>
            </a:r>
            <a:r>
              <a:rPr lang="en-US" altLang="zh-CN" sz="2500" b="1">
                <a:solidFill>
                  <a:srgbClr val="000000"/>
                </a:solidFill>
                <a:ea typeface="仿宋_GB2312" pitchFamily="49" charset="-122"/>
              </a:rPr>
              <a:t>(s) </a:t>
            </a:r>
            <a:r>
              <a:rPr lang="en-US" altLang="zh-CN" sz="2500" b="1">
                <a:solidFill>
                  <a:schemeClr val="bg2"/>
                </a:solidFill>
                <a:ea typeface="华文新魏" pitchFamily="2" charset="-122"/>
              </a:rPr>
              <a:t>=</a:t>
            </a:r>
            <a:r>
              <a:rPr lang="en-US" altLang="zh-CN" sz="2500" b="1">
                <a:solidFill>
                  <a:srgbClr val="000000"/>
                </a:solidFill>
                <a:ea typeface="仿宋_GB2312" pitchFamily="49" charset="-122"/>
              </a:rPr>
              <a:t> Ba</a:t>
            </a:r>
            <a:r>
              <a:rPr lang="en-US" altLang="zh-CN" sz="2500" b="1" baseline="30000">
                <a:solidFill>
                  <a:srgbClr val="000000"/>
                </a:solidFill>
                <a:ea typeface="仿宋_GB2312" pitchFamily="49" charset="-122"/>
              </a:rPr>
              <a:t>2+</a:t>
            </a:r>
            <a:r>
              <a:rPr lang="en-US" altLang="zh-CN" sz="2500" b="1">
                <a:solidFill>
                  <a:srgbClr val="000000"/>
                </a:solidFill>
                <a:ea typeface="仿宋_GB2312" pitchFamily="49" charset="-122"/>
              </a:rPr>
              <a:t>(aq) + SO</a:t>
            </a:r>
            <a:r>
              <a:rPr lang="en-US" altLang="zh-CN" sz="2500" b="1" baseline="-25000">
                <a:solidFill>
                  <a:srgbClr val="000000"/>
                </a:solidFill>
                <a:ea typeface="仿宋_GB2312" pitchFamily="49" charset="-122"/>
              </a:rPr>
              <a:t>4</a:t>
            </a:r>
            <a:r>
              <a:rPr lang="en-US" altLang="zh-CN" sz="2500" b="1" baseline="30000">
                <a:solidFill>
                  <a:srgbClr val="000000"/>
                </a:solidFill>
                <a:ea typeface="仿宋_GB2312" pitchFamily="49" charset="-122"/>
              </a:rPr>
              <a:t>2-</a:t>
            </a:r>
            <a:r>
              <a:rPr lang="en-US" altLang="zh-CN" sz="2500" b="1">
                <a:solidFill>
                  <a:srgbClr val="000000"/>
                </a:solidFill>
                <a:ea typeface="仿宋_GB2312" pitchFamily="49" charset="-122"/>
              </a:rPr>
              <a:t>(aq)</a:t>
            </a:r>
          </a:p>
        </p:txBody>
      </p:sp>
      <p:sp>
        <p:nvSpPr>
          <p:cNvPr id="98321" name="矩形 98320"/>
          <p:cNvSpPr>
            <a:spLocks noChangeArrowheads="1"/>
          </p:cNvSpPr>
          <p:nvPr/>
        </p:nvSpPr>
        <p:spPr bwMode="auto">
          <a:xfrm>
            <a:off x="3659188" y="1917684"/>
            <a:ext cx="3421062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buFont typeface="Arial" pitchFamily="34" charset="0"/>
              <a:buNone/>
            </a:pPr>
            <a:r>
              <a:rPr lang="zh-CN" altLang="en-US" sz="2500" b="1">
                <a:ea typeface="华文新魏" pitchFamily="2" charset="-122"/>
              </a:rPr>
              <a:t>平衡时浓度</a:t>
            </a:r>
            <a:r>
              <a:rPr lang="en-US" altLang="zh-CN" sz="2500" b="1">
                <a:ea typeface="华文新魏" pitchFamily="2" charset="-122"/>
              </a:rPr>
              <a:t>/mol·L</a:t>
            </a:r>
            <a:r>
              <a:rPr lang="en-US" altLang="zh-CN" sz="2500" b="1" baseline="30000">
                <a:ea typeface="华文新魏" pitchFamily="2" charset="-122"/>
              </a:rPr>
              <a:t>-1</a:t>
            </a:r>
            <a:endParaRPr lang="en-US" altLang="zh-CN" sz="2500" b="1" i="1">
              <a:ea typeface="华文新魏" pitchFamily="2" charset="-122"/>
            </a:endParaRPr>
          </a:p>
        </p:txBody>
      </p:sp>
      <p:sp>
        <p:nvSpPr>
          <p:cNvPr id="98322" name="矩形 98321"/>
          <p:cNvSpPr>
            <a:spLocks noChangeArrowheads="1"/>
          </p:cNvSpPr>
          <p:nvPr/>
        </p:nvSpPr>
        <p:spPr bwMode="auto">
          <a:xfrm>
            <a:off x="9418638" y="1917684"/>
            <a:ext cx="1481137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Font typeface="Arial" pitchFamily="34" charset="0"/>
              <a:buNone/>
            </a:pPr>
            <a:r>
              <a:rPr lang="en-US" altLang="zh-CN" sz="2500" b="1" i="1">
                <a:ea typeface="华文新魏" pitchFamily="2" charset="-122"/>
              </a:rPr>
              <a:t>s</a:t>
            </a:r>
            <a:r>
              <a:rPr lang="en-US" altLang="zh-CN" sz="2500" b="1" baseline="-25000">
                <a:ea typeface="华文新魏" pitchFamily="2" charset="-122"/>
              </a:rPr>
              <a:t>2</a:t>
            </a:r>
            <a:r>
              <a:rPr lang="en-US" altLang="zh-CN" sz="2500" b="1">
                <a:ea typeface="华文新魏" pitchFamily="2" charset="-122"/>
              </a:rPr>
              <a:t> + 0.010</a:t>
            </a:r>
          </a:p>
        </p:txBody>
      </p:sp>
      <p:sp>
        <p:nvSpPr>
          <p:cNvPr id="98323" name="矩形 98322"/>
          <p:cNvSpPr>
            <a:spLocks noChangeArrowheads="1"/>
          </p:cNvSpPr>
          <p:nvPr/>
        </p:nvSpPr>
        <p:spPr bwMode="auto">
          <a:xfrm>
            <a:off x="8302625" y="1917684"/>
            <a:ext cx="417513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Font typeface="Arial" pitchFamily="34" charset="0"/>
              <a:buNone/>
            </a:pPr>
            <a:r>
              <a:rPr lang="en-US" altLang="zh-CN" sz="2500" b="1" i="1">
                <a:ea typeface="华文新魏" pitchFamily="2" charset="-122"/>
              </a:rPr>
              <a:t>s</a:t>
            </a:r>
            <a:r>
              <a:rPr lang="en-US" altLang="zh-CN" sz="2500" b="1" baseline="-25000">
                <a:ea typeface="华文新魏" pitchFamily="2" charset="-122"/>
              </a:rPr>
              <a:t>2</a:t>
            </a:r>
          </a:p>
        </p:txBody>
      </p:sp>
      <p:sp>
        <p:nvSpPr>
          <p:cNvPr id="98324" name="矩形 98323"/>
          <p:cNvSpPr>
            <a:spLocks noChangeArrowheads="1"/>
          </p:cNvSpPr>
          <p:nvPr/>
        </p:nvSpPr>
        <p:spPr bwMode="auto">
          <a:xfrm>
            <a:off x="3659188" y="2349484"/>
            <a:ext cx="8174037" cy="170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lnSpc>
                <a:spcPct val="105000"/>
              </a:lnSpc>
              <a:buFont typeface="Arial" pitchFamily="34" charset="0"/>
              <a:buNone/>
            </a:pPr>
            <a:r>
              <a:rPr lang="en-US" altLang="zh-CN" sz="2500" b="1" dirty="0">
                <a:ea typeface="华文新魏" pitchFamily="2" charset="-122"/>
              </a:rPr>
              <a:t>[Ba</a:t>
            </a:r>
            <a:r>
              <a:rPr lang="en-US" altLang="zh-CN" sz="2500" b="1" baseline="30000" dirty="0">
                <a:ea typeface="华文新魏" pitchFamily="2" charset="-122"/>
              </a:rPr>
              <a:t>2+</a:t>
            </a:r>
            <a:r>
              <a:rPr lang="en-US" altLang="zh-CN" sz="2500" b="1" dirty="0">
                <a:ea typeface="华文新魏" pitchFamily="2" charset="-122"/>
              </a:rPr>
              <a:t>][SO</a:t>
            </a:r>
            <a:r>
              <a:rPr lang="en-US" altLang="zh-CN" sz="2500" b="1" baseline="-25000" dirty="0">
                <a:ea typeface="华文新魏" pitchFamily="2" charset="-122"/>
              </a:rPr>
              <a:t>4</a:t>
            </a:r>
            <a:r>
              <a:rPr lang="en-US" altLang="zh-CN" sz="2500" b="1" baseline="30000" dirty="0">
                <a:ea typeface="华文新魏" pitchFamily="2" charset="-122"/>
              </a:rPr>
              <a:t>2-</a:t>
            </a:r>
            <a:r>
              <a:rPr lang="en-US" altLang="zh-CN" sz="2500" b="1" dirty="0">
                <a:ea typeface="华文新魏" pitchFamily="2" charset="-122"/>
              </a:rPr>
              <a:t>] = </a:t>
            </a:r>
            <a:r>
              <a:rPr lang="en-US" altLang="zh-CN" sz="2500" b="1" i="1" dirty="0">
                <a:ea typeface="华文新魏" pitchFamily="2" charset="-122"/>
              </a:rPr>
              <a:t>s</a:t>
            </a:r>
            <a:r>
              <a:rPr lang="en-US" altLang="zh-CN" sz="2500" b="1" baseline="-25000" dirty="0">
                <a:ea typeface="华文新魏" pitchFamily="2" charset="-122"/>
              </a:rPr>
              <a:t>2</a:t>
            </a:r>
            <a:r>
              <a:rPr lang="en-US" altLang="zh-CN" sz="2500" b="1" dirty="0">
                <a:ea typeface="华文新魏" pitchFamily="2" charset="-122"/>
              </a:rPr>
              <a:t>(</a:t>
            </a:r>
            <a:r>
              <a:rPr lang="en-US" altLang="zh-CN" sz="2500" b="1" i="1" dirty="0">
                <a:ea typeface="华文新魏" pitchFamily="2" charset="-122"/>
              </a:rPr>
              <a:t>s</a:t>
            </a:r>
            <a:r>
              <a:rPr lang="en-US" altLang="zh-CN" sz="2500" b="1" baseline="-25000" dirty="0">
                <a:ea typeface="华文新魏" pitchFamily="2" charset="-122"/>
              </a:rPr>
              <a:t>2</a:t>
            </a:r>
            <a:r>
              <a:rPr lang="en-US" altLang="zh-CN" sz="2500" b="1" dirty="0">
                <a:ea typeface="华文新魏" pitchFamily="2" charset="-122"/>
              </a:rPr>
              <a:t> + 0.010) = </a:t>
            </a:r>
            <a:r>
              <a:rPr lang="en-US" altLang="zh-CN" sz="2500" b="1" i="1" dirty="0" err="1">
                <a:ea typeface="华文新魏" pitchFamily="2" charset="-122"/>
              </a:rPr>
              <a:t>K</a:t>
            </a:r>
            <a:r>
              <a:rPr lang="en-US" altLang="zh-CN" b="1" baseline="100000" dirty="0" err="1">
                <a:ea typeface="华文新魏" pitchFamily="2" charset="-122"/>
                <a:sym typeface="Webdings" pitchFamily="18" charset="2"/>
              </a:rPr>
              <a:t></a:t>
            </a:r>
            <a:r>
              <a:rPr lang="en-US" altLang="zh-CN" sz="2500" b="1" baseline="-25000" dirty="0" err="1">
                <a:ea typeface="华文新魏" pitchFamily="2" charset="-122"/>
                <a:sym typeface="Webdings" pitchFamily="18" charset="2"/>
              </a:rPr>
              <a:t>sp</a:t>
            </a:r>
            <a:r>
              <a:rPr lang="en-US" altLang="zh-CN" sz="2500" b="1" dirty="0">
                <a:ea typeface="华文新魏" pitchFamily="2" charset="-122"/>
              </a:rPr>
              <a:t>= 1.07×10</a:t>
            </a:r>
            <a:r>
              <a:rPr lang="en-US" altLang="zh-CN" sz="2500" b="1" baseline="30000" dirty="0">
                <a:ea typeface="华文新魏" pitchFamily="2" charset="-122"/>
              </a:rPr>
              <a:t>-10</a:t>
            </a:r>
            <a:r>
              <a:rPr lang="en-US" altLang="zh-CN" sz="2500" b="1" dirty="0">
                <a:ea typeface="华文新魏" pitchFamily="2" charset="-122"/>
              </a:rPr>
              <a:t>.</a:t>
            </a:r>
          </a:p>
          <a:p>
            <a:pPr eaLnBrk="1" hangingPunct="1">
              <a:lnSpc>
                <a:spcPct val="105000"/>
              </a:lnSpc>
              <a:buFont typeface="Arial" pitchFamily="34" charset="0"/>
              <a:buNone/>
            </a:pPr>
            <a:r>
              <a:rPr lang="zh-CN" altLang="en-US" sz="2500" b="1" dirty="0">
                <a:ea typeface="华文新魏" pitchFamily="2" charset="-122"/>
              </a:rPr>
              <a:t>因</a:t>
            </a:r>
            <a:r>
              <a:rPr lang="en-US" altLang="zh-CN" sz="2500" b="1" i="1" dirty="0">
                <a:ea typeface="华文新魏" pitchFamily="2" charset="-122"/>
              </a:rPr>
              <a:t>s</a:t>
            </a:r>
            <a:r>
              <a:rPr lang="en-US" altLang="zh-CN" sz="2500" b="1" baseline="-25000" dirty="0">
                <a:ea typeface="华文新魏" pitchFamily="2" charset="-122"/>
              </a:rPr>
              <a:t>2</a:t>
            </a:r>
            <a:r>
              <a:rPr lang="zh-CN" altLang="en-US" sz="2500" b="1" dirty="0">
                <a:ea typeface="华文新魏" pitchFamily="2" charset="-122"/>
              </a:rPr>
              <a:t>不会太大</a:t>
            </a:r>
            <a:r>
              <a:rPr lang="en-US" altLang="zh-CN" sz="2500" b="1" dirty="0">
                <a:ea typeface="华文新魏" pitchFamily="2" charset="-122"/>
              </a:rPr>
              <a:t>, </a:t>
            </a:r>
            <a:r>
              <a:rPr lang="en-US" altLang="zh-CN" sz="2500" b="1" i="1" dirty="0">
                <a:ea typeface="华文新魏" pitchFamily="2" charset="-122"/>
              </a:rPr>
              <a:t>s</a:t>
            </a:r>
            <a:r>
              <a:rPr lang="en-US" altLang="zh-CN" sz="2500" b="1" baseline="-25000" dirty="0">
                <a:ea typeface="华文新魏" pitchFamily="2" charset="-122"/>
              </a:rPr>
              <a:t>2</a:t>
            </a:r>
            <a:r>
              <a:rPr lang="en-US" altLang="zh-CN" sz="2500" b="1" dirty="0">
                <a:ea typeface="华文新魏" pitchFamily="2" charset="-122"/>
              </a:rPr>
              <a:t> + 0.010 </a:t>
            </a:r>
            <a:r>
              <a:rPr lang="en-US" altLang="zh-CN" sz="2500" b="1" dirty="0">
                <a:ea typeface="华文新魏" pitchFamily="2" charset="-122"/>
                <a:sym typeface="Symbol" pitchFamily="18" charset="2"/>
              </a:rPr>
              <a:t></a:t>
            </a:r>
            <a:r>
              <a:rPr lang="en-US" altLang="zh-CN" sz="2500" b="1" dirty="0">
                <a:ea typeface="华文新魏" pitchFamily="2" charset="-122"/>
              </a:rPr>
              <a:t> 0.010. </a:t>
            </a:r>
          </a:p>
          <a:p>
            <a:pPr eaLnBrk="1" hangingPunct="1">
              <a:lnSpc>
                <a:spcPct val="105000"/>
              </a:lnSpc>
              <a:buFont typeface="Arial" pitchFamily="34" charset="0"/>
              <a:buNone/>
            </a:pPr>
            <a:r>
              <a:rPr lang="zh-CN" altLang="en-US" sz="2500" b="1" dirty="0">
                <a:ea typeface="华文新魏" pitchFamily="2" charset="-122"/>
              </a:rPr>
              <a:t>解得</a:t>
            </a:r>
            <a:r>
              <a:rPr lang="en-US" altLang="zh-CN" sz="2500" b="1" i="1" dirty="0">
                <a:ea typeface="华文新魏" pitchFamily="2" charset="-122"/>
              </a:rPr>
              <a:t>s</a:t>
            </a:r>
            <a:r>
              <a:rPr lang="en-US" altLang="zh-CN" sz="2500" b="1" baseline="-25000" dirty="0">
                <a:ea typeface="华文新魏" pitchFamily="2" charset="-122"/>
              </a:rPr>
              <a:t>2</a:t>
            </a:r>
            <a:r>
              <a:rPr lang="en-US" altLang="zh-CN" sz="2500" b="1" dirty="0">
                <a:ea typeface="华文新魏" pitchFamily="2" charset="-122"/>
              </a:rPr>
              <a:t> = 1.07×10</a:t>
            </a:r>
            <a:r>
              <a:rPr lang="en-US" altLang="zh-CN" sz="2500" b="1" baseline="30000" dirty="0">
                <a:ea typeface="华文新魏" pitchFamily="2" charset="-122"/>
              </a:rPr>
              <a:t>-8 </a:t>
            </a:r>
            <a:r>
              <a:rPr lang="en-US" altLang="zh-CN" sz="2500" b="1" dirty="0">
                <a:ea typeface="华文新魏" pitchFamily="2" charset="-122"/>
              </a:rPr>
              <a:t>(mol·L</a:t>
            </a:r>
            <a:r>
              <a:rPr lang="en-US" altLang="zh-CN" sz="2500" b="1" baseline="30000" dirty="0">
                <a:ea typeface="华文新魏" pitchFamily="2" charset="-122"/>
              </a:rPr>
              <a:t>-1</a:t>
            </a:r>
            <a:r>
              <a:rPr lang="en-US" altLang="zh-CN" sz="2500" b="1" dirty="0">
                <a:ea typeface="华文新魏" pitchFamily="2" charset="-122"/>
              </a:rPr>
              <a:t>).</a:t>
            </a:r>
          </a:p>
          <a:p>
            <a:pPr eaLnBrk="1" hangingPunct="1">
              <a:lnSpc>
                <a:spcPct val="105000"/>
              </a:lnSpc>
              <a:buFont typeface="Arial" pitchFamily="34" charset="0"/>
              <a:buNone/>
            </a:pPr>
            <a:r>
              <a:rPr lang="zh-CN" altLang="en-US" sz="2500" b="1" dirty="0">
                <a:ea typeface="华文新魏" pitchFamily="2" charset="-122"/>
              </a:rPr>
              <a:t>溶解损失</a:t>
            </a:r>
            <a:r>
              <a:rPr lang="en-US" altLang="zh-CN" sz="2500" b="1" dirty="0">
                <a:ea typeface="华文新魏" pitchFamily="2" charset="-122"/>
              </a:rPr>
              <a:t>: </a:t>
            </a:r>
            <a:r>
              <a:rPr lang="en-US" altLang="zh-CN" sz="2500" b="1" i="1" dirty="0">
                <a:ea typeface="华文新魏" pitchFamily="2" charset="-122"/>
              </a:rPr>
              <a:t>m</a:t>
            </a:r>
            <a:r>
              <a:rPr lang="en-US" altLang="zh-CN" sz="2500" b="1" baseline="-25000" dirty="0">
                <a:ea typeface="华文新魏" pitchFamily="2" charset="-122"/>
              </a:rPr>
              <a:t>2 </a:t>
            </a:r>
            <a:r>
              <a:rPr lang="en-US" altLang="zh-CN" sz="2500" b="1" dirty="0">
                <a:ea typeface="华文新魏" pitchFamily="2" charset="-122"/>
              </a:rPr>
              <a:t>= 1.07×10</a:t>
            </a:r>
            <a:r>
              <a:rPr lang="en-US" altLang="zh-CN" sz="2500" b="1" baseline="30000" dirty="0">
                <a:ea typeface="华文新魏" pitchFamily="2" charset="-122"/>
              </a:rPr>
              <a:t>-8 </a:t>
            </a:r>
            <a:r>
              <a:rPr lang="en-US" altLang="zh-CN" sz="2500" b="1" dirty="0">
                <a:ea typeface="华文新魏" pitchFamily="2" charset="-122"/>
              </a:rPr>
              <a:t>×250×233.4 = 0.0006 (mg)</a:t>
            </a:r>
          </a:p>
        </p:txBody>
      </p:sp>
      <p:sp>
        <p:nvSpPr>
          <p:cNvPr id="98325" name="矩形 98324"/>
          <p:cNvSpPr>
            <a:spLocks noChangeArrowheads="1"/>
          </p:cNvSpPr>
          <p:nvPr/>
        </p:nvSpPr>
        <p:spPr bwMode="auto">
          <a:xfrm>
            <a:off x="3903663" y="954071"/>
            <a:ext cx="4162425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r" eaLnBrk="1" hangingPunct="1">
              <a:lnSpc>
                <a:spcPct val="105000"/>
              </a:lnSpc>
              <a:buFont typeface="Arial" pitchFamily="34" charset="0"/>
              <a:buNone/>
            </a:pPr>
            <a:r>
              <a:rPr lang="en-US" altLang="zh-CN" sz="2500" b="1" dirty="0">
                <a:ea typeface="华文新魏" pitchFamily="2" charset="-122"/>
                <a:sym typeface="Monotype Sorts" pitchFamily="2" charset="2"/>
              </a:rPr>
              <a:t>②</a:t>
            </a:r>
            <a:r>
              <a:rPr lang="zh-CN" altLang="en-US" sz="2500" b="1" dirty="0">
                <a:ea typeface="华文新魏" pitchFamily="2" charset="-122"/>
              </a:rPr>
              <a:t>设</a:t>
            </a:r>
            <a:r>
              <a:rPr lang="en-US" altLang="zh-CN" sz="2500" b="1" dirty="0">
                <a:ea typeface="华文新魏" pitchFamily="2" charset="-122"/>
              </a:rPr>
              <a:t>SO</a:t>
            </a:r>
            <a:r>
              <a:rPr lang="en-US" altLang="zh-CN" sz="2500" b="1" baseline="-25000" dirty="0">
                <a:ea typeface="华文新魏" pitchFamily="2" charset="-122"/>
              </a:rPr>
              <a:t>4</a:t>
            </a:r>
            <a:r>
              <a:rPr lang="en-US" altLang="zh-CN" sz="2500" b="1" baseline="30000" dirty="0">
                <a:ea typeface="华文新魏" pitchFamily="2" charset="-122"/>
              </a:rPr>
              <a:t>2-</a:t>
            </a:r>
            <a:r>
              <a:rPr lang="zh-CN" altLang="en-US" sz="2500" b="1" dirty="0">
                <a:ea typeface="华文新魏" pitchFamily="2" charset="-122"/>
              </a:rPr>
              <a:t>溶液中溶解度为</a:t>
            </a:r>
            <a:r>
              <a:rPr lang="en-US" altLang="zh-CN" sz="2500" b="1" i="1" dirty="0">
                <a:ea typeface="华文新魏" pitchFamily="2" charset="-122"/>
              </a:rPr>
              <a:t>s</a:t>
            </a:r>
            <a:r>
              <a:rPr lang="en-US" altLang="zh-CN" sz="2500" b="1" baseline="-25000" dirty="0">
                <a:ea typeface="华文新魏" pitchFamily="2" charset="-122"/>
              </a:rPr>
              <a:t>2 </a:t>
            </a:r>
            <a:r>
              <a:rPr lang="en-US" altLang="zh-CN" sz="2500" b="1" dirty="0">
                <a:ea typeface="华文新魏" pitchFamily="2" charset="-122"/>
              </a:rPr>
              <a:t>.</a:t>
            </a:r>
          </a:p>
        </p:txBody>
      </p:sp>
      <p:sp>
        <p:nvSpPr>
          <p:cNvPr id="6154" name="椭圆 62501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auto">
          <a:xfrm>
            <a:off x="71438" y="5688013"/>
            <a:ext cx="360362" cy="360362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Font typeface="Arial" pitchFamily="34" charset="0"/>
              <a:buNone/>
            </a:pPr>
            <a:endParaRPr lang="zh-CN" altLang="en-US"/>
          </a:p>
        </p:txBody>
      </p:sp>
      <p:sp>
        <p:nvSpPr>
          <p:cNvPr id="6155" name="椭圆 68634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auto">
          <a:xfrm>
            <a:off x="11210925" y="5688013"/>
            <a:ext cx="360363" cy="360362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Font typeface="Arial" pitchFamily="34" charset="0"/>
              <a:buNone/>
            </a:pPr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903663" y="525443"/>
            <a:ext cx="608012" cy="4730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fontAlgn="auto" hangingPunct="1">
              <a:buFont typeface="Arial" panose="020B0604020202020204" pitchFamily="34" charset="0"/>
              <a:buNone/>
              <a:defRPr/>
            </a:pPr>
            <a:r>
              <a:rPr lang="zh-CN" altLang="en-US" sz="2500" b="1" noProof="1">
                <a:solidFill>
                  <a:srgbClr val="FFFF00"/>
                </a:solidFill>
                <a:ea typeface="华文新魏" pitchFamily="2" charset="-122"/>
              </a:rPr>
              <a:t>解</a:t>
            </a:r>
            <a:r>
              <a:rPr lang="en-US" altLang="zh-CN" sz="2500" b="1" noProof="1">
                <a:solidFill>
                  <a:srgbClr val="FFFF00"/>
                </a:solidFill>
                <a:ea typeface="华文新魏" pitchFamily="2" charset="-122"/>
              </a:rPr>
              <a:t>:</a:t>
            </a:r>
            <a:endParaRPr lang="en-US" altLang="zh-CN" sz="2500" b="1" noProof="1">
              <a:solidFill>
                <a:srgbClr val="FFFF00"/>
              </a:solidFill>
              <a:effectLst>
                <a:outerShdw blurRad="38100" dist="38100" dir="2700000">
                  <a:srgbClr val="000000"/>
                </a:outerShdw>
              </a:effectLst>
              <a:ea typeface="华文新魏" pitchFamily="2" charset="-122"/>
            </a:endParaRPr>
          </a:p>
        </p:txBody>
      </p:sp>
      <p:sp>
        <p:nvSpPr>
          <p:cNvPr id="13" name="文本框 1"/>
          <p:cNvSpPr txBox="1">
            <a:spLocks noChangeArrowheads="1"/>
          </p:cNvSpPr>
          <p:nvPr/>
        </p:nvSpPr>
        <p:spPr bwMode="auto">
          <a:xfrm>
            <a:off x="117435" y="454025"/>
            <a:ext cx="2757487" cy="430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buFont typeface="Arial" pitchFamily="34" charset="0"/>
              <a:buNone/>
            </a:pPr>
            <a:r>
              <a:rPr lang="zh-CN" altLang="en-US" sz="2200" b="1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</a:rPr>
              <a:t>例</a:t>
            </a:r>
            <a:r>
              <a:rPr lang="en-US" altLang="zh-CN" sz="2200" b="1">
                <a:solidFill>
                  <a:srgbClr val="FFFF00"/>
                </a:solidFill>
                <a:ea typeface="华文新魏" pitchFamily="2" charset="-122"/>
              </a:rPr>
              <a:t>4:</a:t>
            </a:r>
          </a:p>
        </p:txBody>
      </p:sp>
      <p:sp>
        <p:nvSpPr>
          <p:cNvPr id="14" name="矩形 13"/>
          <p:cNvSpPr/>
          <p:nvPr/>
        </p:nvSpPr>
        <p:spPr>
          <a:xfrm>
            <a:off x="126982" y="811195"/>
            <a:ext cx="3133725" cy="22113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105000"/>
              </a:lnSpc>
              <a:buFont typeface="Arial" panose="020B0604020202020204" pitchFamily="34" charset="0"/>
              <a:buNone/>
              <a:defRPr/>
            </a:pPr>
            <a:r>
              <a:rPr lang="zh-CN" altLang="en-US" sz="2200" b="1" noProof="1">
                <a:ea typeface="华文新魏" pitchFamily="2" charset="-122"/>
                <a:cs typeface="+mn-ea"/>
                <a:sym typeface="+mn-ea"/>
              </a:rPr>
              <a:t>已知</a:t>
            </a:r>
            <a:r>
              <a:rPr lang="en-US" altLang="zh-CN" sz="2200" b="1" noProof="1">
                <a:ea typeface="华文新魏" pitchFamily="2" charset="-122"/>
                <a:cs typeface="+mn-ea"/>
                <a:sym typeface="+mn-ea"/>
              </a:rPr>
              <a:t>BaSO</a:t>
            </a:r>
            <a:r>
              <a:rPr lang="en-US" altLang="zh-CN" sz="2200" b="1" baseline="-25000" noProof="1">
                <a:ea typeface="华文新魏" pitchFamily="2" charset="-122"/>
                <a:cs typeface="+mn-ea"/>
                <a:sym typeface="+mn-ea"/>
              </a:rPr>
              <a:t>4 </a:t>
            </a:r>
            <a:r>
              <a:rPr lang="zh-CN" altLang="en-US" sz="2200" b="1" noProof="1">
                <a:ea typeface="华文新魏" pitchFamily="2" charset="-122"/>
                <a:cs typeface="+mn-ea"/>
                <a:sym typeface="+mn-ea"/>
              </a:rPr>
              <a:t>的</a:t>
            </a:r>
            <a:r>
              <a:rPr lang="en-US" altLang="zh-CN" sz="2200" b="1" i="1" noProof="1">
                <a:ea typeface="华文新魏" pitchFamily="2" charset="-122"/>
                <a:cs typeface="+mn-ea"/>
                <a:sym typeface="+mn-ea"/>
              </a:rPr>
              <a:t>K</a:t>
            </a:r>
            <a:r>
              <a:rPr lang="en-US" altLang="zh-CN" sz="1600" b="1" baseline="100000" noProof="1">
                <a:ea typeface="华文新魏" pitchFamily="2" charset="-122"/>
                <a:cs typeface="+mn-ea"/>
                <a:sym typeface="Webdings" panose="05030102010509060703" pitchFamily="18" charset="2"/>
              </a:rPr>
              <a:t></a:t>
            </a:r>
            <a:r>
              <a:rPr lang="en-US" altLang="zh-CN" sz="2200" b="1" baseline="-25000" noProof="1">
                <a:ea typeface="华文新魏" pitchFamily="2" charset="-122"/>
                <a:cs typeface="+mn-ea"/>
                <a:sym typeface="Webdings" panose="05030102010509060703" pitchFamily="18" charset="2"/>
              </a:rPr>
              <a:t>sp</a:t>
            </a:r>
            <a:r>
              <a:rPr lang="en-US" altLang="zh-CN" sz="2200" b="1" noProof="1">
                <a:ea typeface="华文新魏" pitchFamily="2" charset="-122"/>
                <a:cs typeface="+mn-ea"/>
                <a:sym typeface="+mn-ea"/>
              </a:rPr>
              <a:t>= 1.07×10</a:t>
            </a:r>
            <a:r>
              <a:rPr lang="en-US" altLang="zh-CN" sz="2200" b="1" baseline="30000" noProof="1">
                <a:ea typeface="华文新魏" pitchFamily="2" charset="-122"/>
                <a:cs typeface="+mn-ea"/>
                <a:sym typeface="+mn-ea"/>
              </a:rPr>
              <a:t>-10</a:t>
            </a:r>
            <a:r>
              <a:rPr lang="en-US" altLang="zh-CN" sz="2200" b="1" noProof="1">
                <a:ea typeface="华文新魏" pitchFamily="2" charset="-122"/>
                <a:cs typeface="+mn-ea"/>
                <a:sym typeface="+mn-ea"/>
              </a:rPr>
              <a:t>. </a:t>
            </a:r>
            <a:r>
              <a:rPr lang="zh-CN" altLang="en-US" sz="2200" b="1" noProof="1">
                <a:ea typeface="华文新魏" pitchFamily="2" charset="-122"/>
                <a:cs typeface="+mn-ea"/>
                <a:sym typeface="+mn-ea"/>
              </a:rPr>
              <a:t>试比较</a:t>
            </a:r>
            <a:r>
              <a:rPr lang="en-US" altLang="zh-CN" sz="2200" b="1" noProof="1">
                <a:ea typeface="华文新魏" pitchFamily="2" charset="-122"/>
                <a:cs typeface="+mn-ea"/>
                <a:sym typeface="+mn-ea"/>
              </a:rPr>
              <a:t>BaSO</a:t>
            </a:r>
            <a:r>
              <a:rPr lang="en-US" altLang="zh-CN" sz="2200" b="1" baseline="-25000" noProof="1">
                <a:ea typeface="华文新魏" pitchFamily="2" charset="-122"/>
                <a:cs typeface="+mn-ea"/>
                <a:sym typeface="+mn-ea"/>
              </a:rPr>
              <a:t>4</a:t>
            </a:r>
            <a:r>
              <a:rPr lang="zh-CN" altLang="en-US" sz="2200" b="1" noProof="1">
                <a:ea typeface="华文新魏" pitchFamily="2" charset="-122"/>
                <a:cs typeface="+mn-ea"/>
                <a:sym typeface="+mn-ea"/>
              </a:rPr>
              <a:t>在</a:t>
            </a:r>
            <a:r>
              <a:rPr lang="en-US" altLang="zh-CN" sz="2200" b="1" noProof="1">
                <a:ea typeface="华文新魏" pitchFamily="2" charset="-122"/>
                <a:cs typeface="+mn-ea"/>
                <a:sym typeface="+mn-ea"/>
              </a:rPr>
              <a:t>250 mL</a:t>
            </a:r>
            <a:r>
              <a:rPr lang="zh-CN" altLang="en-US" sz="2200" b="1" noProof="1">
                <a:ea typeface="华文新魏" pitchFamily="2" charset="-122"/>
                <a:cs typeface="+mn-ea"/>
                <a:sym typeface="+mn-ea"/>
              </a:rPr>
              <a:t>纯水</a:t>
            </a:r>
            <a:r>
              <a:rPr lang="en-US" altLang="zh-CN" sz="2200" b="1" noProof="1">
                <a:ea typeface="华文新魏" pitchFamily="2" charset="-122"/>
                <a:cs typeface="+mn-ea"/>
                <a:sym typeface="+mn-ea"/>
              </a:rPr>
              <a:t>,</a:t>
            </a:r>
            <a:r>
              <a:rPr lang="zh-CN" altLang="en-US" sz="2200" b="1" noProof="1">
                <a:ea typeface="华文新魏" pitchFamily="2" charset="-122"/>
                <a:cs typeface="+mn-ea"/>
                <a:sym typeface="+mn-ea"/>
              </a:rPr>
              <a:t>以及在</a:t>
            </a:r>
            <a:r>
              <a:rPr lang="en-US" altLang="zh-CN" sz="2200" b="1" noProof="1">
                <a:ea typeface="华文新魏" pitchFamily="2" charset="-122"/>
                <a:cs typeface="+mn-ea"/>
                <a:sym typeface="+mn-ea"/>
              </a:rPr>
              <a:t>250mL [SO</a:t>
            </a:r>
            <a:r>
              <a:rPr lang="en-US" altLang="zh-CN" sz="2200" b="1" baseline="-25000" noProof="1">
                <a:ea typeface="华文新魏" pitchFamily="2" charset="-122"/>
                <a:cs typeface="+mn-ea"/>
                <a:sym typeface="+mn-ea"/>
              </a:rPr>
              <a:t>4</a:t>
            </a:r>
            <a:r>
              <a:rPr lang="en-US" altLang="zh-CN" sz="2200" b="1" baseline="30000" noProof="1">
                <a:ea typeface="华文新魏" pitchFamily="2" charset="-122"/>
                <a:cs typeface="+mn-ea"/>
                <a:sym typeface="+mn-ea"/>
              </a:rPr>
              <a:t>2-</a:t>
            </a:r>
            <a:r>
              <a:rPr lang="en-US" altLang="zh-CN" sz="2200" b="1" noProof="1">
                <a:ea typeface="华文新魏" pitchFamily="2" charset="-122"/>
                <a:cs typeface="+mn-ea"/>
                <a:sym typeface="+mn-ea"/>
              </a:rPr>
              <a:t>] = 0.010 mol·L</a:t>
            </a:r>
            <a:r>
              <a:rPr lang="en-US" altLang="zh-CN" sz="2200" b="1" baseline="30000" noProof="1">
                <a:ea typeface="华文新魏" pitchFamily="2" charset="-122"/>
                <a:cs typeface="+mn-ea"/>
                <a:sym typeface="+mn-ea"/>
              </a:rPr>
              <a:t>-1</a:t>
            </a:r>
            <a:r>
              <a:rPr lang="zh-CN" altLang="en-US" sz="2200" b="1" noProof="1">
                <a:ea typeface="华文新魏" pitchFamily="2" charset="-122"/>
                <a:cs typeface="+mn-ea"/>
                <a:sym typeface="+mn-ea"/>
              </a:rPr>
              <a:t>溶液中的溶解损失</a:t>
            </a:r>
            <a:r>
              <a:rPr lang="en-US" altLang="zh-CN" sz="2200" b="1" noProof="1">
                <a:ea typeface="华文新魏" pitchFamily="2" charset="-122"/>
                <a:cs typeface="+mn-ea"/>
                <a:sym typeface="+mn-ea"/>
              </a:rPr>
              <a:t>.</a:t>
            </a:r>
            <a:endParaRPr lang="zh-CN" altLang="en-US" sz="2200" b="1" noProof="1">
              <a:ea typeface="华文新魏" pitchFamily="2" charset="-122"/>
            </a:endParaRP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98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8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98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9832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9832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1" dur="500"/>
                                        <p:tgtEl>
                                          <p:spTgt spid="983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6" dur="500"/>
                                        <p:tgtEl>
                                          <p:spTgt spid="983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1" dur="500"/>
                                        <p:tgtEl>
                                          <p:spTgt spid="983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6" dur="500"/>
                                        <p:tgtEl>
                                          <p:spTgt spid="983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NOTIFY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320" grpId="0" bldLvl="0" animBg="1"/>
      <p:bldP spid="98321" grpId="0"/>
      <p:bldP spid="98322" grpId="0"/>
      <p:bldP spid="98323" grpId="0"/>
      <p:bldP spid="98324" grpId="0" uiExpand="1" build="p"/>
      <p:bldP spid="9832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文本框 1"/>
          <p:cNvSpPr txBox="1">
            <a:spLocks noChangeArrowheads="1"/>
          </p:cNvSpPr>
          <p:nvPr/>
        </p:nvSpPr>
        <p:spPr bwMode="auto">
          <a:xfrm>
            <a:off x="207963" y="311129"/>
            <a:ext cx="2757487" cy="430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buFont typeface="Arial" pitchFamily="34" charset="0"/>
              <a:buNone/>
            </a:pPr>
            <a:r>
              <a:rPr lang="zh-CN" altLang="en-US" sz="2200" b="1" dirty="0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</a:rPr>
              <a:t>例</a:t>
            </a:r>
            <a:r>
              <a:rPr lang="en-US" altLang="zh-CN" sz="2200" b="1" dirty="0">
                <a:solidFill>
                  <a:srgbClr val="FFFF00"/>
                </a:solidFill>
                <a:ea typeface="华文新魏" pitchFamily="2" charset="-122"/>
              </a:rPr>
              <a:t>5:</a:t>
            </a:r>
          </a:p>
        </p:txBody>
      </p:sp>
      <p:sp>
        <p:nvSpPr>
          <p:cNvPr id="88070" name="矩形 88069"/>
          <p:cNvSpPr/>
          <p:nvPr/>
        </p:nvSpPr>
        <p:spPr>
          <a:xfrm>
            <a:off x="3949700" y="357193"/>
            <a:ext cx="608013" cy="4730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fontAlgn="auto" hangingPunct="1">
              <a:buFont typeface="Arial" panose="020B0604020202020204" pitchFamily="34" charset="0"/>
              <a:buNone/>
              <a:defRPr/>
            </a:pPr>
            <a:r>
              <a:rPr lang="zh-CN" altLang="en-US" sz="2500" b="1" noProof="1">
                <a:solidFill>
                  <a:srgbClr val="FFFF00"/>
                </a:solidFill>
                <a:ea typeface="华文新魏" pitchFamily="2" charset="-122"/>
              </a:rPr>
              <a:t>解</a:t>
            </a:r>
            <a:r>
              <a:rPr lang="en-US" altLang="zh-CN" sz="2500" b="1" noProof="1">
                <a:solidFill>
                  <a:srgbClr val="FFFF00"/>
                </a:solidFill>
                <a:ea typeface="华文新魏" pitchFamily="2" charset="-122"/>
              </a:rPr>
              <a:t>:</a:t>
            </a:r>
            <a:endParaRPr lang="en-US" altLang="zh-CN" sz="2500" b="1" noProof="1">
              <a:solidFill>
                <a:srgbClr val="FFFF00"/>
              </a:solidFill>
              <a:effectLst>
                <a:outerShdw blurRad="38100" dist="38100" dir="2700000">
                  <a:srgbClr val="000000"/>
                </a:outerShdw>
              </a:effectLst>
              <a:ea typeface="华文新魏" pitchFamily="2" charset="-122"/>
            </a:endParaRPr>
          </a:p>
        </p:txBody>
      </p:sp>
      <p:sp>
        <p:nvSpPr>
          <p:cNvPr id="91155" name="矩形 91154"/>
          <p:cNvSpPr/>
          <p:nvPr/>
        </p:nvSpPr>
        <p:spPr>
          <a:xfrm>
            <a:off x="119045" y="742947"/>
            <a:ext cx="3213100" cy="22113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105000"/>
              </a:lnSpc>
              <a:buFont typeface="Arial" panose="020B0604020202020204" pitchFamily="34" charset="0"/>
              <a:buNone/>
              <a:defRPr/>
            </a:pPr>
            <a:r>
              <a:rPr lang="en-US" altLang="zh-CN" sz="2200" b="1" noProof="1">
                <a:ea typeface="华文新魏" pitchFamily="2" charset="-122"/>
                <a:cs typeface="+mn-ea"/>
              </a:rPr>
              <a:t>10mL0.10 mol·L</a:t>
            </a:r>
            <a:r>
              <a:rPr lang="en-US" altLang="zh-CN" sz="2200" b="1" baseline="30000" noProof="1">
                <a:ea typeface="华文新魏" pitchFamily="2" charset="-122"/>
                <a:cs typeface="+mn-ea"/>
              </a:rPr>
              <a:t>-1</a:t>
            </a:r>
            <a:r>
              <a:rPr lang="en-US" altLang="zh-CN" sz="2200" b="1" noProof="1">
                <a:ea typeface="华文新魏" pitchFamily="2" charset="-122"/>
                <a:cs typeface="+mn-ea"/>
              </a:rPr>
              <a:t> MgCl</a:t>
            </a:r>
            <a:r>
              <a:rPr lang="en-US" altLang="zh-CN" sz="2200" b="1" baseline="-25000" noProof="1">
                <a:ea typeface="华文新魏" pitchFamily="2" charset="-122"/>
                <a:cs typeface="+mn-ea"/>
              </a:rPr>
              <a:t>2</a:t>
            </a:r>
            <a:r>
              <a:rPr lang="zh-CN" altLang="en-US" sz="2200" b="1" noProof="1">
                <a:ea typeface="华文新魏" pitchFamily="2" charset="-122"/>
                <a:cs typeface="+mn-ea"/>
              </a:rPr>
              <a:t>和</a:t>
            </a:r>
            <a:r>
              <a:rPr lang="en-US" altLang="zh-CN" sz="2200" b="1" noProof="1">
                <a:ea typeface="华文新魏" pitchFamily="2" charset="-122"/>
                <a:cs typeface="+mn-ea"/>
              </a:rPr>
              <a:t>10mL 0.010 mol·L</a:t>
            </a:r>
            <a:r>
              <a:rPr lang="en-US" altLang="zh-CN" sz="2200" b="1" baseline="30000" noProof="1">
                <a:ea typeface="华文新魏" pitchFamily="2" charset="-122"/>
                <a:cs typeface="+mn-ea"/>
              </a:rPr>
              <a:t>-1</a:t>
            </a:r>
            <a:r>
              <a:rPr lang="en-US" altLang="zh-CN" sz="2200" b="1" noProof="1">
                <a:ea typeface="华文新魏" pitchFamily="2" charset="-122"/>
                <a:cs typeface="+mn-ea"/>
              </a:rPr>
              <a:t> NH</a:t>
            </a:r>
            <a:r>
              <a:rPr lang="en-US" altLang="zh-CN" sz="2200" b="1" baseline="-25000" noProof="1">
                <a:ea typeface="华文新魏" pitchFamily="2" charset="-122"/>
                <a:cs typeface="+mn-ea"/>
              </a:rPr>
              <a:t>3</a:t>
            </a:r>
            <a:r>
              <a:rPr lang="en-US" altLang="zh-CN" sz="2200" b="1" noProof="1">
                <a:ea typeface="华文新魏" pitchFamily="2" charset="-122"/>
                <a:cs typeface="+mn-ea"/>
              </a:rPr>
              <a:t>·H</a:t>
            </a:r>
            <a:r>
              <a:rPr lang="en-US" altLang="zh-CN" sz="2200" b="1" baseline="-25000" noProof="1">
                <a:ea typeface="华文新魏" pitchFamily="2" charset="-122"/>
                <a:cs typeface="+mn-ea"/>
              </a:rPr>
              <a:t>2</a:t>
            </a:r>
            <a:r>
              <a:rPr lang="en-US" altLang="zh-CN" sz="2200" b="1" noProof="1">
                <a:ea typeface="华文新魏" pitchFamily="2" charset="-122"/>
                <a:cs typeface="+mn-ea"/>
              </a:rPr>
              <a:t>O</a:t>
            </a:r>
            <a:r>
              <a:rPr lang="zh-CN" altLang="en-US" sz="2200" b="1" noProof="1">
                <a:ea typeface="华文新魏" pitchFamily="2" charset="-122"/>
                <a:cs typeface="+mn-ea"/>
              </a:rPr>
              <a:t>相混合</a:t>
            </a:r>
            <a:r>
              <a:rPr lang="en-US" altLang="zh-CN" sz="2200" b="1" noProof="1">
                <a:ea typeface="华文新魏" pitchFamily="2" charset="-122"/>
                <a:cs typeface="+mn-ea"/>
              </a:rPr>
              <a:t>,</a:t>
            </a:r>
            <a:r>
              <a:rPr lang="en-US" altLang="zh-CN" sz="2200" b="1" noProof="1">
                <a:ea typeface="华文新魏" pitchFamily="2" charset="-122"/>
                <a:cs typeface="+mn-ea"/>
                <a:sym typeface="Monotype Sorts" pitchFamily="2" charset="2"/>
              </a:rPr>
              <a:t>①</a:t>
            </a:r>
            <a:r>
              <a:rPr lang="zh-CN" altLang="en-US" sz="2200" b="1" noProof="1">
                <a:ea typeface="华文新魏" pitchFamily="2" charset="-122"/>
                <a:cs typeface="+mn-ea"/>
              </a:rPr>
              <a:t>是否有沉淀生成</a:t>
            </a:r>
            <a:r>
              <a:rPr lang="en-US" altLang="zh-CN" sz="2200" b="1" noProof="1">
                <a:ea typeface="华文新魏" pitchFamily="2" charset="-122"/>
                <a:cs typeface="+mn-ea"/>
              </a:rPr>
              <a:t>? </a:t>
            </a:r>
            <a:r>
              <a:rPr lang="en-US" altLang="zh-CN" sz="2200" b="1" noProof="1">
                <a:ea typeface="华文新魏" pitchFamily="2" charset="-122"/>
                <a:cs typeface="+mn-ea"/>
                <a:sym typeface="Monotype Sorts" pitchFamily="2" charset="2"/>
              </a:rPr>
              <a:t>②</a:t>
            </a:r>
            <a:r>
              <a:rPr lang="zh-CN" altLang="en-US" sz="2200" b="1" noProof="1">
                <a:ea typeface="华文新魏" pitchFamily="2" charset="-122"/>
                <a:cs typeface="+mn-ea"/>
              </a:rPr>
              <a:t>为不使</a:t>
            </a:r>
            <a:r>
              <a:rPr lang="en-US" altLang="zh-CN" sz="2200" b="1" noProof="1">
                <a:ea typeface="华文新魏" pitchFamily="2" charset="-122"/>
                <a:cs typeface="+mn-ea"/>
              </a:rPr>
              <a:t>Mg(OH)</a:t>
            </a:r>
            <a:r>
              <a:rPr lang="en-US" altLang="zh-CN" sz="2200" b="1" baseline="-25000" noProof="1">
                <a:ea typeface="华文新魏" pitchFamily="2" charset="-122"/>
                <a:cs typeface="+mn-ea"/>
              </a:rPr>
              <a:t>2</a:t>
            </a:r>
            <a:r>
              <a:rPr lang="zh-CN" altLang="en-US" sz="2200" b="1" noProof="1">
                <a:ea typeface="华文新魏" pitchFamily="2" charset="-122"/>
                <a:cs typeface="+mn-ea"/>
              </a:rPr>
              <a:t>沉淀析出</a:t>
            </a:r>
            <a:r>
              <a:rPr lang="en-US" altLang="zh-CN" sz="2200" b="1" noProof="1">
                <a:ea typeface="华文新魏" pitchFamily="2" charset="-122"/>
                <a:cs typeface="+mn-ea"/>
              </a:rPr>
              <a:t>,</a:t>
            </a:r>
            <a:r>
              <a:rPr lang="zh-CN" altLang="en-US" sz="2200" b="1" noProof="1">
                <a:ea typeface="华文新魏" pitchFamily="2" charset="-122"/>
                <a:cs typeface="+mn-ea"/>
              </a:rPr>
              <a:t>至少应加入</a:t>
            </a:r>
            <a:r>
              <a:rPr lang="en-US" altLang="zh-CN" sz="2200" b="1" noProof="1">
                <a:ea typeface="华文新魏" pitchFamily="2" charset="-122"/>
                <a:cs typeface="+mn-ea"/>
              </a:rPr>
              <a:t>NH</a:t>
            </a:r>
            <a:r>
              <a:rPr lang="en-US" altLang="zh-CN" sz="2200" b="1" baseline="-25000" noProof="1">
                <a:ea typeface="华文新魏" pitchFamily="2" charset="-122"/>
                <a:cs typeface="+mn-ea"/>
              </a:rPr>
              <a:t>4</a:t>
            </a:r>
            <a:r>
              <a:rPr lang="en-US" altLang="zh-CN" sz="2200" b="1" noProof="1">
                <a:ea typeface="华文新魏" pitchFamily="2" charset="-122"/>
                <a:cs typeface="+mn-ea"/>
              </a:rPr>
              <a:t>Cl</a:t>
            </a:r>
            <a:r>
              <a:rPr lang="zh-CN" altLang="en-US" sz="2200" b="1" noProof="1">
                <a:ea typeface="华文新魏" pitchFamily="2" charset="-122"/>
                <a:cs typeface="+mn-ea"/>
              </a:rPr>
              <a:t>多少克</a:t>
            </a:r>
            <a:r>
              <a:rPr lang="en-US" altLang="zh-CN" sz="2200" b="1" noProof="1">
                <a:ea typeface="华文新魏" pitchFamily="2" charset="-122"/>
                <a:cs typeface="+mn-ea"/>
              </a:rPr>
              <a:t>?</a:t>
            </a:r>
            <a:endParaRPr lang="en-US" altLang="zh-CN" sz="2200" b="1" noProof="1">
              <a:ea typeface="华文新魏" pitchFamily="2" charset="-122"/>
            </a:endParaRPr>
          </a:p>
        </p:txBody>
      </p:sp>
      <p:sp>
        <p:nvSpPr>
          <p:cNvPr id="91163" name="矩形 91162"/>
          <p:cNvSpPr>
            <a:spLocks noChangeArrowheads="1"/>
          </p:cNvSpPr>
          <p:nvPr/>
        </p:nvSpPr>
        <p:spPr bwMode="auto">
          <a:xfrm>
            <a:off x="4094163" y="900118"/>
            <a:ext cx="6343650" cy="900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lnSpc>
                <a:spcPct val="105000"/>
              </a:lnSpc>
              <a:buFont typeface="Arial" pitchFamily="34" charset="0"/>
              <a:buNone/>
            </a:pPr>
            <a:r>
              <a:rPr lang="en-US" altLang="zh-CN" sz="2500" b="1">
                <a:ea typeface="华文新魏" pitchFamily="2" charset="-122"/>
                <a:sym typeface="Monotype Sorts" pitchFamily="2" charset="2"/>
              </a:rPr>
              <a:t>①</a:t>
            </a:r>
            <a:r>
              <a:rPr lang="zh-CN" altLang="en-US" sz="2500" b="1">
                <a:ea typeface="华文新魏" pitchFamily="2" charset="-122"/>
              </a:rPr>
              <a:t>混合后</a:t>
            </a:r>
            <a:r>
              <a:rPr lang="en-US" altLang="zh-CN" sz="2500" b="1">
                <a:ea typeface="华文新魏" pitchFamily="2" charset="-122"/>
              </a:rPr>
              <a:t>, </a:t>
            </a:r>
            <a:r>
              <a:rPr lang="en-US" altLang="zh-CN" sz="2500" b="1" i="1">
                <a:ea typeface="华文新魏" pitchFamily="2" charset="-122"/>
              </a:rPr>
              <a:t>c</a:t>
            </a:r>
            <a:r>
              <a:rPr lang="en-US" altLang="zh-CN" sz="2500" b="1">
                <a:ea typeface="华文新魏" pitchFamily="2" charset="-122"/>
              </a:rPr>
              <a:t>(Mg</a:t>
            </a:r>
            <a:r>
              <a:rPr lang="en-US" altLang="zh-CN" sz="2500" b="1" baseline="30000">
                <a:ea typeface="华文新魏" pitchFamily="2" charset="-122"/>
              </a:rPr>
              <a:t>2+</a:t>
            </a:r>
            <a:r>
              <a:rPr lang="en-US" altLang="zh-CN" sz="2500" b="1">
                <a:ea typeface="华文新魏" pitchFamily="2" charset="-122"/>
              </a:rPr>
              <a:t>) = 0.10/2 = 0.050 (mol·L</a:t>
            </a:r>
            <a:r>
              <a:rPr lang="en-US" altLang="zh-CN" sz="2500" b="1" baseline="30000">
                <a:ea typeface="华文新魏" pitchFamily="2" charset="-122"/>
              </a:rPr>
              <a:t>-1</a:t>
            </a:r>
            <a:r>
              <a:rPr lang="en-US" altLang="zh-CN" sz="2500" b="1">
                <a:ea typeface="华文新魏" pitchFamily="2" charset="-122"/>
              </a:rPr>
              <a:t>) </a:t>
            </a:r>
          </a:p>
          <a:p>
            <a:pPr eaLnBrk="1" hangingPunct="1">
              <a:lnSpc>
                <a:spcPct val="105000"/>
              </a:lnSpc>
              <a:buFont typeface="Arial" pitchFamily="34" charset="0"/>
              <a:buNone/>
            </a:pPr>
            <a:r>
              <a:rPr lang="en-US" altLang="zh-CN" sz="2500" b="1">
                <a:ea typeface="华文新魏" pitchFamily="2" charset="-122"/>
              </a:rPr>
              <a:t>                 </a:t>
            </a:r>
            <a:r>
              <a:rPr lang="en-US" altLang="zh-CN" sz="2500" b="1" i="1">
                <a:ea typeface="华文新魏" pitchFamily="2" charset="-122"/>
              </a:rPr>
              <a:t>c</a:t>
            </a:r>
            <a:r>
              <a:rPr lang="en-US" altLang="zh-CN" sz="2500" b="1">
                <a:ea typeface="华文新魏" pitchFamily="2" charset="-122"/>
              </a:rPr>
              <a:t>(NH</a:t>
            </a:r>
            <a:r>
              <a:rPr lang="en-US" altLang="zh-CN" sz="2500" b="1" baseline="-25000">
                <a:ea typeface="华文新魏" pitchFamily="2" charset="-122"/>
              </a:rPr>
              <a:t>3</a:t>
            </a:r>
            <a:r>
              <a:rPr lang="en-US" altLang="zh-CN" sz="2500" b="1">
                <a:ea typeface="华文新魏" pitchFamily="2" charset="-122"/>
              </a:rPr>
              <a:t>) = 0.010/2 = 0.0050 (mol·L</a:t>
            </a:r>
            <a:r>
              <a:rPr lang="en-US" altLang="zh-CN" sz="2500" b="1" baseline="30000">
                <a:ea typeface="华文新魏" pitchFamily="2" charset="-122"/>
              </a:rPr>
              <a:t>-1</a:t>
            </a:r>
            <a:r>
              <a:rPr lang="en-US" altLang="zh-CN" sz="2500" b="1">
                <a:ea typeface="华文新魏" pitchFamily="2" charset="-122"/>
              </a:rPr>
              <a:t>)</a:t>
            </a:r>
          </a:p>
        </p:txBody>
      </p:sp>
      <p:grpSp>
        <p:nvGrpSpPr>
          <p:cNvPr id="2" name="组合 91167"/>
          <p:cNvGrpSpPr>
            <a:grpSpLocks/>
          </p:cNvGrpSpPr>
          <p:nvPr/>
        </p:nvGrpSpPr>
        <p:grpSpPr bwMode="auto">
          <a:xfrm>
            <a:off x="4275138" y="1882781"/>
            <a:ext cx="3182937" cy="477837"/>
            <a:chOff x="816" y="680"/>
            <a:chExt cx="2005" cy="301"/>
          </a:xfrm>
        </p:grpSpPr>
        <p:sp>
          <p:nvSpPr>
            <p:cNvPr id="7181" name="矩形 91168"/>
            <p:cNvSpPr>
              <a:spLocks noChangeArrowheads="1"/>
            </p:cNvSpPr>
            <p:nvPr/>
          </p:nvSpPr>
          <p:spPr bwMode="auto">
            <a:xfrm>
              <a:off x="816" y="680"/>
              <a:ext cx="2005" cy="30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>
                <a:buFont typeface="Arial" pitchFamily="34" charset="0"/>
                <a:buNone/>
              </a:pPr>
              <a:r>
                <a:rPr lang="en-US" altLang="zh-CN" sz="2500" b="1">
                  <a:ea typeface="华文新魏" pitchFamily="2" charset="-122"/>
                </a:rPr>
                <a:t>∵[OH</a:t>
              </a:r>
              <a:r>
                <a:rPr lang="en-US" altLang="zh-CN" sz="2500" b="1" baseline="30000">
                  <a:ea typeface="华文新魏" pitchFamily="2" charset="-122"/>
                </a:rPr>
                <a:t>-</a:t>
              </a:r>
              <a:r>
                <a:rPr lang="en-US" altLang="zh-CN" sz="2500" b="1">
                  <a:ea typeface="华文新魏" pitchFamily="2" charset="-122"/>
                </a:rPr>
                <a:t>]= </a:t>
              </a:r>
              <a:r>
                <a:rPr lang="en-US" altLang="zh-CN" sz="2500" b="1">
                  <a:ea typeface="华文新魏" pitchFamily="2" charset="-122"/>
                  <a:sym typeface="Symbol" pitchFamily="18" charset="2"/>
                </a:rPr>
                <a:t></a:t>
              </a:r>
              <a:r>
                <a:rPr lang="en-US" altLang="zh-CN" sz="2500" b="1" i="1">
                  <a:ea typeface="华文新魏" pitchFamily="2" charset="-122"/>
                </a:rPr>
                <a:t>K</a:t>
              </a:r>
              <a:r>
                <a:rPr lang="en-US" altLang="zh-CN" sz="1400" b="1" baseline="100000">
                  <a:ea typeface="华文新魏" pitchFamily="2" charset="-122"/>
                  <a:sym typeface="Webdings" pitchFamily="18" charset="2"/>
                </a:rPr>
                <a:t></a:t>
              </a:r>
              <a:r>
                <a:rPr lang="en-US" altLang="zh-CN" sz="2500" b="1" baseline="-25000">
                  <a:ea typeface="华文新魏" pitchFamily="2" charset="-122"/>
                  <a:sym typeface="Webdings" pitchFamily="18" charset="2"/>
                </a:rPr>
                <a:t>b </a:t>
              </a:r>
              <a:r>
                <a:rPr lang="en-US" altLang="zh-CN" sz="2500" b="1" i="1">
                  <a:ea typeface="华文新魏" pitchFamily="2" charset="-122"/>
                </a:rPr>
                <a:t>c</a:t>
              </a:r>
              <a:r>
                <a:rPr lang="en-US" altLang="zh-CN" sz="2500" b="1">
                  <a:ea typeface="华文新魏" pitchFamily="2" charset="-122"/>
                </a:rPr>
                <a:t>(NH</a:t>
              </a:r>
              <a:r>
                <a:rPr lang="en-US" altLang="zh-CN" sz="2500" b="1" baseline="-25000">
                  <a:ea typeface="华文新魏" pitchFamily="2" charset="-122"/>
                </a:rPr>
                <a:t>3</a:t>
              </a:r>
              <a:r>
                <a:rPr lang="en-US" altLang="zh-CN" sz="2500" b="1">
                  <a:ea typeface="华文新魏" pitchFamily="2" charset="-122"/>
                </a:rPr>
                <a:t>)</a:t>
              </a:r>
            </a:p>
          </p:txBody>
        </p:sp>
        <p:sp>
          <p:nvSpPr>
            <p:cNvPr id="7182" name="直接连接符 91169"/>
            <p:cNvSpPr>
              <a:spLocks noChangeShapeType="1"/>
            </p:cNvSpPr>
            <p:nvPr/>
          </p:nvSpPr>
          <p:spPr bwMode="auto">
            <a:xfrm>
              <a:off x="1814" y="725"/>
              <a:ext cx="96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" name="组合 91170"/>
          <p:cNvGrpSpPr>
            <a:grpSpLocks/>
          </p:cNvGrpSpPr>
          <p:nvPr/>
        </p:nvGrpSpPr>
        <p:grpSpPr bwMode="auto">
          <a:xfrm>
            <a:off x="4670425" y="2349506"/>
            <a:ext cx="6084888" cy="733425"/>
            <a:chOff x="1065" y="974"/>
            <a:chExt cx="3833" cy="462"/>
          </a:xfrm>
        </p:grpSpPr>
        <p:sp>
          <p:nvSpPr>
            <p:cNvPr id="7179" name="矩形 91171"/>
            <p:cNvSpPr>
              <a:spLocks noChangeArrowheads="1"/>
            </p:cNvSpPr>
            <p:nvPr/>
          </p:nvSpPr>
          <p:spPr bwMode="auto">
            <a:xfrm>
              <a:off x="1065" y="974"/>
              <a:ext cx="3833" cy="4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>
                <a:buFont typeface="Arial" pitchFamily="34" charset="0"/>
                <a:buNone/>
              </a:pPr>
              <a:r>
                <a:rPr lang="en-US" altLang="zh-CN" sz="2500" b="1">
                  <a:ea typeface="华文新魏" pitchFamily="2" charset="-122"/>
                </a:rPr>
                <a:t>= </a:t>
              </a:r>
              <a:r>
                <a:rPr lang="en-US" altLang="zh-CN" sz="2500" b="1">
                  <a:ea typeface="华文新魏" pitchFamily="2" charset="-122"/>
                  <a:sym typeface="Symbol" pitchFamily="18" charset="2"/>
                </a:rPr>
                <a:t></a:t>
              </a:r>
              <a:r>
                <a:rPr lang="en-US" altLang="zh-CN" sz="2500" b="1">
                  <a:ea typeface="华文新魏" pitchFamily="2" charset="-122"/>
                </a:rPr>
                <a:t> 1.79×10</a:t>
              </a:r>
              <a:r>
                <a:rPr lang="en-US" altLang="zh-CN" sz="2500" b="1" baseline="30000">
                  <a:ea typeface="华文新魏" pitchFamily="2" charset="-122"/>
                </a:rPr>
                <a:t>-5</a:t>
              </a:r>
              <a:r>
                <a:rPr lang="en-US" altLang="zh-CN" sz="2500" b="1">
                  <a:ea typeface="华文新魏" pitchFamily="2" charset="-122"/>
                </a:rPr>
                <a:t>×0.0050 = 3.0×10</a:t>
              </a:r>
              <a:r>
                <a:rPr lang="en-US" altLang="zh-CN" sz="2500" b="1" baseline="30000">
                  <a:ea typeface="华文新魏" pitchFamily="2" charset="-122"/>
                </a:rPr>
                <a:t>-4</a:t>
              </a:r>
              <a:r>
                <a:rPr lang="en-US" altLang="zh-CN" sz="2500" b="1">
                  <a:ea typeface="华文新魏" pitchFamily="2" charset="-122"/>
                </a:rPr>
                <a:t>(mol·L</a:t>
              </a:r>
              <a:r>
                <a:rPr lang="en-US" altLang="zh-CN" sz="2500" b="1" baseline="30000">
                  <a:ea typeface="华文新魏" pitchFamily="2" charset="-122"/>
                </a:rPr>
                <a:t>-1</a:t>
              </a:r>
              <a:r>
                <a:rPr lang="en-US" altLang="zh-CN" sz="2500" b="1">
                  <a:ea typeface="华文新魏" pitchFamily="2" charset="-122"/>
                </a:rPr>
                <a:t>)</a:t>
              </a:r>
            </a:p>
            <a:p>
              <a:pPr eaLnBrk="1" hangingPunct="1">
                <a:buFont typeface="Arial" pitchFamily="34" charset="0"/>
                <a:buNone/>
              </a:pPr>
              <a:endParaRPr lang="en-US" altLang="zh-CN" sz="2500" b="1" baseline="30000">
                <a:ea typeface="华文新魏" pitchFamily="2" charset="-122"/>
              </a:endParaRPr>
            </a:p>
          </p:txBody>
        </p:sp>
        <p:sp>
          <p:nvSpPr>
            <p:cNvPr id="7180" name="直接连接符 91172"/>
            <p:cNvSpPr>
              <a:spLocks noChangeShapeType="1"/>
            </p:cNvSpPr>
            <p:nvPr/>
          </p:nvSpPr>
          <p:spPr bwMode="auto">
            <a:xfrm>
              <a:off x="1383" y="1020"/>
              <a:ext cx="187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91174" name="矩形 91173"/>
          <p:cNvSpPr>
            <a:spLocks noChangeArrowheads="1"/>
          </p:cNvSpPr>
          <p:nvPr/>
        </p:nvSpPr>
        <p:spPr bwMode="auto">
          <a:xfrm>
            <a:off x="4094163" y="2735268"/>
            <a:ext cx="6254750" cy="1362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lnSpc>
                <a:spcPct val="110000"/>
              </a:lnSpc>
              <a:buFont typeface="Arial" pitchFamily="34" charset="0"/>
              <a:buNone/>
            </a:pPr>
            <a:r>
              <a:rPr lang="en-US" altLang="zh-CN" sz="2500" b="1" i="1">
                <a:ea typeface="华文新魏" pitchFamily="2" charset="-122"/>
              </a:rPr>
              <a:t>Q</a:t>
            </a:r>
            <a:r>
              <a:rPr lang="en-US" altLang="zh-CN" sz="2500" b="1" i="1" baseline="-25000">
                <a:ea typeface="华文新魏" pitchFamily="2" charset="-122"/>
              </a:rPr>
              <a:t>c</a:t>
            </a:r>
            <a:r>
              <a:rPr lang="en-US" altLang="zh-CN" sz="2500" b="1" i="1">
                <a:ea typeface="华文新魏" pitchFamily="2" charset="-122"/>
              </a:rPr>
              <a:t> </a:t>
            </a:r>
            <a:r>
              <a:rPr lang="en-US" altLang="zh-CN" sz="2500" b="1">
                <a:ea typeface="华文新魏" pitchFamily="2" charset="-122"/>
              </a:rPr>
              <a:t>= </a:t>
            </a:r>
            <a:r>
              <a:rPr lang="en-US" altLang="zh-CN" sz="2500" b="1" i="1">
                <a:ea typeface="华文新魏" pitchFamily="2" charset="-122"/>
              </a:rPr>
              <a:t>c</a:t>
            </a:r>
            <a:r>
              <a:rPr lang="en-US" altLang="zh-CN" sz="2500" b="1">
                <a:ea typeface="华文新魏" pitchFamily="2" charset="-122"/>
              </a:rPr>
              <a:t>(Mg</a:t>
            </a:r>
            <a:r>
              <a:rPr lang="en-US" altLang="zh-CN" sz="2500" b="1" baseline="30000">
                <a:ea typeface="华文新魏" pitchFamily="2" charset="-122"/>
              </a:rPr>
              <a:t>2+</a:t>
            </a:r>
            <a:r>
              <a:rPr lang="en-US" altLang="zh-CN" sz="2500" b="1">
                <a:ea typeface="华文新魏" pitchFamily="2" charset="-122"/>
              </a:rPr>
              <a:t>)</a:t>
            </a:r>
            <a:r>
              <a:rPr lang="en-US" altLang="zh-CN" sz="2500" b="1" i="1">
                <a:ea typeface="华文新魏" pitchFamily="2" charset="-122"/>
              </a:rPr>
              <a:t>c</a:t>
            </a:r>
            <a:r>
              <a:rPr lang="en-US" altLang="zh-CN" sz="2500" b="1" baseline="30000">
                <a:ea typeface="华文新魏" pitchFamily="2" charset="-122"/>
              </a:rPr>
              <a:t>2</a:t>
            </a:r>
            <a:r>
              <a:rPr lang="en-US" altLang="zh-CN" sz="2500" b="1">
                <a:ea typeface="华文新魏" pitchFamily="2" charset="-122"/>
              </a:rPr>
              <a:t>(OH</a:t>
            </a:r>
            <a:r>
              <a:rPr lang="en-US" altLang="zh-CN" sz="2500" b="1" baseline="30000">
                <a:ea typeface="华文新魏" pitchFamily="2" charset="-122"/>
              </a:rPr>
              <a:t>-</a:t>
            </a:r>
            <a:r>
              <a:rPr lang="en-US" altLang="zh-CN" sz="2500" b="1">
                <a:ea typeface="华文新魏" pitchFamily="2" charset="-122"/>
              </a:rPr>
              <a:t>)</a:t>
            </a:r>
            <a:r>
              <a:rPr lang="en-US" altLang="zh-CN" sz="2500" b="1" baseline="30000">
                <a:ea typeface="华文新魏" pitchFamily="2" charset="-122"/>
              </a:rPr>
              <a:t> </a:t>
            </a:r>
            <a:r>
              <a:rPr lang="en-US" altLang="zh-CN" sz="2500" b="1">
                <a:ea typeface="华文新魏" pitchFamily="2" charset="-122"/>
              </a:rPr>
              <a:t>= 0.050×(3.0×10</a:t>
            </a:r>
            <a:r>
              <a:rPr lang="en-US" altLang="zh-CN" sz="2500" b="1" baseline="30000">
                <a:ea typeface="华文新魏" pitchFamily="2" charset="-122"/>
              </a:rPr>
              <a:t>-4</a:t>
            </a:r>
            <a:r>
              <a:rPr lang="en-US" altLang="zh-CN" sz="2500" b="1">
                <a:ea typeface="华文新魏" pitchFamily="2" charset="-122"/>
              </a:rPr>
              <a:t>)</a:t>
            </a:r>
            <a:r>
              <a:rPr lang="en-US" altLang="zh-CN" sz="2500" b="1" baseline="30000">
                <a:ea typeface="华文新魏" pitchFamily="2" charset="-122"/>
              </a:rPr>
              <a:t>2 </a:t>
            </a:r>
          </a:p>
          <a:p>
            <a:pPr eaLnBrk="1" hangingPunct="1">
              <a:lnSpc>
                <a:spcPct val="110000"/>
              </a:lnSpc>
              <a:buFont typeface="Arial" pitchFamily="34" charset="0"/>
              <a:buNone/>
            </a:pPr>
            <a:r>
              <a:rPr lang="en-US" altLang="zh-CN" sz="2500" b="1" baseline="30000">
                <a:ea typeface="华文新魏" pitchFamily="2" charset="-122"/>
              </a:rPr>
              <a:t>        </a:t>
            </a:r>
            <a:r>
              <a:rPr lang="en-US" altLang="zh-CN" sz="2500" b="1">
                <a:ea typeface="华文新魏" pitchFamily="2" charset="-122"/>
              </a:rPr>
              <a:t>=</a:t>
            </a:r>
            <a:r>
              <a:rPr lang="en-US" altLang="zh-CN" sz="2500" b="1" baseline="30000">
                <a:ea typeface="华文新魏" pitchFamily="2" charset="-122"/>
              </a:rPr>
              <a:t> </a:t>
            </a:r>
            <a:r>
              <a:rPr lang="en-US" altLang="zh-CN" sz="2500" b="1">
                <a:ea typeface="华文新魏" pitchFamily="2" charset="-122"/>
              </a:rPr>
              <a:t>4.5×10</a:t>
            </a:r>
            <a:r>
              <a:rPr lang="en-US" altLang="zh-CN" sz="2500" b="1" baseline="30000">
                <a:ea typeface="华文新魏" pitchFamily="2" charset="-122"/>
              </a:rPr>
              <a:t>-9 </a:t>
            </a:r>
            <a:r>
              <a:rPr lang="en-US" altLang="zh-CN" sz="2500" b="1">
                <a:ea typeface="华文新魏" pitchFamily="2" charset="-122"/>
              </a:rPr>
              <a:t>&gt; </a:t>
            </a:r>
            <a:r>
              <a:rPr lang="en-US" altLang="zh-CN" sz="2500" b="1" i="1">
                <a:ea typeface="华文新魏" pitchFamily="2" charset="-122"/>
              </a:rPr>
              <a:t>K</a:t>
            </a:r>
            <a:r>
              <a:rPr lang="en-US" altLang="zh-CN" b="1" baseline="100000">
                <a:ea typeface="华文新魏" pitchFamily="2" charset="-122"/>
                <a:sym typeface="Webdings" pitchFamily="18" charset="2"/>
              </a:rPr>
              <a:t></a:t>
            </a:r>
            <a:r>
              <a:rPr lang="en-US" altLang="zh-CN" sz="2500" b="1" baseline="-25000">
                <a:ea typeface="华文新魏" pitchFamily="2" charset="-122"/>
                <a:sym typeface="Webdings" pitchFamily="18" charset="2"/>
              </a:rPr>
              <a:t>sp</a:t>
            </a:r>
            <a:r>
              <a:rPr lang="en-US" altLang="zh-CN" sz="2500" b="1">
                <a:ea typeface="华文新魏" pitchFamily="2" charset="-122"/>
                <a:sym typeface="Webdings" pitchFamily="18" charset="2"/>
              </a:rPr>
              <a:t>{Mg(OH)</a:t>
            </a:r>
            <a:r>
              <a:rPr lang="en-US" altLang="zh-CN" sz="2500" b="1" baseline="-25000">
                <a:ea typeface="华文新魏" pitchFamily="2" charset="-122"/>
                <a:sym typeface="Webdings" pitchFamily="18" charset="2"/>
              </a:rPr>
              <a:t>2</a:t>
            </a:r>
            <a:r>
              <a:rPr lang="en-US" altLang="zh-CN" sz="2500" b="1">
                <a:ea typeface="华文新魏" pitchFamily="2" charset="-122"/>
                <a:sym typeface="Webdings" pitchFamily="18" charset="2"/>
              </a:rPr>
              <a:t>} = 5.61 </a:t>
            </a:r>
            <a:r>
              <a:rPr lang="en-US" altLang="zh-CN" sz="2500" b="1">
                <a:ea typeface="华文新魏" pitchFamily="2" charset="-122"/>
                <a:sym typeface="Symbol" pitchFamily="18" charset="2"/>
              </a:rPr>
              <a:t>10</a:t>
            </a:r>
            <a:r>
              <a:rPr lang="en-US" altLang="zh-CN" sz="2500" b="1" baseline="30000">
                <a:ea typeface="华文新魏" pitchFamily="2" charset="-122"/>
                <a:sym typeface="Symbol" pitchFamily="18" charset="2"/>
              </a:rPr>
              <a:t>-12</a:t>
            </a:r>
          </a:p>
          <a:p>
            <a:pPr eaLnBrk="1" hangingPunct="1">
              <a:lnSpc>
                <a:spcPct val="110000"/>
              </a:lnSpc>
              <a:buFont typeface="Arial" pitchFamily="34" charset="0"/>
              <a:buNone/>
            </a:pPr>
            <a:r>
              <a:rPr lang="en-US" altLang="zh-CN" sz="2500" b="1">
                <a:ea typeface="华文新魏" pitchFamily="2" charset="-122"/>
              </a:rPr>
              <a:t>∴</a:t>
            </a:r>
            <a:r>
              <a:rPr lang="zh-CN" altLang="en-US" sz="2500" b="1">
                <a:ea typeface="华文新魏" pitchFamily="2" charset="-122"/>
              </a:rPr>
              <a:t>有</a:t>
            </a:r>
            <a:r>
              <a:rPr lang="en-US" altLang="zh-CN" sz="2500" b="1">
                <a:ea typeface="华文新魏" pitchFamily="2" charset="-122"/>
              </a:rPr>
              <a:t>Mg(OH)</a:t>
            </a:r>
            <a:r>
              <a:rPr lang="en-US" altLang="zh-CN" sz="2500" b="1" baseline="-25000">
                <a:ea typeface="华文新魏" pitchFamily="2" charset="-122"/>
              </a:rPr>
              <a:t>2</a:t>
            </a:r>
            <a:r>
              <a:rPr lang="zh-CN" altLang="en-US" sz="2500" b="1">
                <a:ea typeface="华文新魏" pitchFamily="2" charset="-122"/>
              </a:rPr>
              <a:t>沉淀生成</a:t>
            </a:r>
            <a:r>
              <a:rPr lang="en-US" altLang="zh-CN" sz="2500" b="1">
                <a:ea typeface="华文新魏" pitchFamily="2" charset="-122"/>
              </a:rPr>
              <a:t>.</a:t>
            </a:r>
          </a:p>
        </p:txBody>
      </p:sp>
      <p:sp>
        <p:nvSpPr>
          <p:cNvPr id="7177" name="椭圆 58396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auto">
          <a:xfrm>
            <a:off x="11155363" y="5688013"/>
            <a:ext cx="360362" cy="360362"/>
          </a:xfrm>
          <a:prstGeom prst="ellipse">
            <a:avLst/>
          </a:prstGeom>
          <a:blipFill dpi="0" rotWithShape="1">
            <a:blip r:embed="rId2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Font typeface="Arial" pitchFamily="34" charset="0"/>
              <a:buNone/>
            </a:pPr>
            <a:endParaRPr lang="zh-CN" altLang="en-US"/>
          </a:p>
        </p:txBody>
      </p:sp>
      <p:sp>
        <p:nvSpPr>
          <p:cNvPr id="7178" name="椭圆 62501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auto">
          <a:xfrm>
            <a:off x="71438" y="5688013"/>
            <a:ext cx="360362" cy="360362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Font typeface="Arial" pitchFamily="34" charset="0"/>
              <a:buNone/>
            </a:pPr>
            <a:endParaRPr lang="zh-CN" altLang="en-US"/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8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11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11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911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911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911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070" grpId="0"/>
      <p:bldP spid="91163" grpId="0" build="p"/>
      <p:bldP spid="91174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12643"/>
          <p:cNvGrpSpPr>
            <a:grpSpLocks/>
          </p:cNvGrpSpPr>
          <p:nvPr/>
        </p:nvGrpSpPr>
        <p:grpSpPr bwMode="auto">
          <a:xfrm>
            <a:off x="4130675" y="1406534"/>
            <a:ext cx="5441950" cy="477837"/>
            <a:chOff x="816" y="2448"/>
            <a:chExt cx="3428" cy="301"/>
          </a:xfrm>
        </p:grpSpPr>
        <p:sp>
          <p:nvSpPr>
            <p:cNvPr id="8201" name="矩形 112644"/>
            <p:cNvSpPr>
              <a:spLocks noChangeArrowheads="1"/>
            </p:cNvSpPr>
            <p:nvPr/>
          </p:nvSpPr>
          <p:spPr bwMode="auto">
            <a:xfrm>
              <a:off x="816" y="2448"/>
              <a:ext cx="3428" cy="30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>
                <a:buFont typeface="Arial" pitchFamily="34" charset="0"/>
                <a:buNone/>
              </a:pPr>
              <a:r>
                <a:rPr lang="en-US" altLang="zh-CN" sz="2500" b="1">
                  <a:ea typeface="华文新魏" pitchFamily="2" charset="-122"/>
                </a:rPr>
                <a:t>[OH</a:t>
              </a:r>
              <a:r>
                <a:rPr lang="en-US" altLang="zh-CN" sz="2500" b="1" baseline="30000">
                  <a:ea typeface="华文新魏" pitchFamily="2" charset="-122"/>
                </a:rPr>
                <a:t>-</a:t>
              </a:r>
              <a:r>
                <a:rPr lang="en-US" altLang="zh-CN" sz="2500" b="1">
                  <a:ea typeface="华文新魏" pitchFamily="2" charset="-122"/>
                </a:rPr>
                <a:t>] ≤</a:t>
              </a:r>
              <a:r>
                <a:rPr lang="en-US" altLang="zh-CN" sz="2500" b="1">
                  <a:ea typeface="华文新魏" pitchFamily="2" charset="-122"/>
                  <a:sym typeface="Symbol" pitchFamily="18" charset="2"/>
                </a:rPr>
                <a:t></a:t>
              </a:r>
              <a:r>
                <a:rPr lang="en-US" altLang="zh-CN" sz="2500" b="1">
                  <a:ea typeface="华文新魏" pitchFamily="2" charset="-122"/>
                </a:rPr>
                <a:t> </a:t>
              </a:r>
              <a:r>
                <a:rPr lang="en-US" altLang="zh-CN" sz="2500" b="1">
                  <a:ea typeface="华文新魏" pitchFamily="2" charset="-122"/>
                  <a:sym typeface="Webdings" pitchFamily="18" charset="2"/>
                </a:rPr>
                <a:t>5.61 </a:t>
              </a:r>
              <a:r>
                <a:rPr lang="en-US" altLang="zh-CN" sz="2500" b="1">
                  <a:ea typeface="华文新魏" pitchFamily="2" charset="-122"/>
                  <a:sym typeface="Symbol" pitchFamily="18" charset="2"/>
                </a:rPr>
                <a:t>10</a:t>
              </a:r>
              <a:r>
                <a:rPr lang="en-US" altLang="zh-CN" sz="2500" b="1" baseline="30000">
                  <a:ea typeface="华文新魏" pitchFamily="2" charset="-122"/>
                  <a:sym typeface="Symbol" pitchFamily="18" charset="2"/>
                </a:rPr>
                <a:t>-12</a:t>
              </a:r>
              <a:r>
                <a:rPr lang="en-US" altLang="zh-CN" sz="2500" b="1">
                  <a:ea typeface="华文新魏" pitchFamily="2" charset="-122"/>
                  <a:sym typeface="Symbol" pitchFamily="18" charset="2"/>
                </a:rPr>
                <a:t>/0.050</a:t>
              </a:r>
              <a:r>
                <a:rPr lang="en-US" altLang="zh-CN" sz="2500" b="1">
                  <a:ea typeface="华文新魏" pitchFamily="2" charset="-122"/>
                </a:rPr>
                <a:t> = 1.06×10</a:t>
              </a:r>
              <a:r>
                <a:rPr lang="en-US" altLang="zh-CN" sz="2500" b="1" baseline="30000">
                  <a:ea typeface="华文新魏" pitchFamily="2" charset="-122"/>
                </a:rPr>
                <a:t>-5</a:t>
              </a:r>
              <a:endParaRPr lang="en-US" altLang="zh-CN" sz="2500" b="1">
                <a:ea typeface="华文新魏" pitchFamily="2" charset="-122"/>
              </a:endParaRPr>
            </a:p>
          </p:txBody>
        </p:sp>
        <p:sp>
          <p:nvSpPr>
            <p:cNvPr id="8202" name="直接连接符 112645"/>
            <p:cNvSpPr>
              <a:spLocks noChangeShapeType="1"/>
            </p:cNvSpPr>
            <p:nvPr/>
          </p:nvSpPr>
          <p:spPr bwMode="auto">
            <a:xfrm>
              <a:off x="1633" y="2493"/>
              <a:ext cx="1457" cy="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12647" name="矩形 112646"/>
          <p:cNvSpPr>
            <a:spLocks noChangeArrowheads="1"/>
          </p:cNvSpPr>
          <p:nvPr/>
        </p:nvSpPr>
        <p:spPr bwMode="auto">
          <a:xfrm>
            <a:off x="3878263" y="1863734"/>
            <a:ext cx="7380287" cy="24776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lnSpc>
                <a:spcPct val="110000"/>
              </a:lnSpc>
              <a:buFont typeface="Arial" pitchFamily="34" charset="0"/>
              <a:buNone/>
            </a:pPr>
            <a:r>
              <a:rPr lang="en-US" altLang="zh-CN" sz="2500" b="1" dirty="0">
                <a:ea typeface="华文新魏" pitchFamily="2" charset="-122"/>
              </a:rPr>
              <a:t>[NH</a:t>
            </a:r>
            <a:r>
              <a:rPr lang="en-US" altLang="zh-CN" sz="2500" b="1" baseline="-25000" dirty="0">
                <a:ea typeface="华文新魏" pitchFamily="2" charset="-122"/>
              </a:rPr>
              <a:t>4</a:t>
            </a:r>
            <a:r>
              <a:rPr lang="en-US" altLang="zh-CN" sz="2500" b="1" baseline="30000" dirty="0">
                <a:ea typeface="华文新魏" pitchFamily="2" charset="-122"/>
              </a:rPr>
              <a:t>+</a:t>
            </a:r>
            <a:r>
              <a:rPr lang="en-US" altLang="zh-CN" sz="2500" b="1" dirty="0">
                <a:ea typeface="华文新魏" pitchFamily="2" charset="-122"/>
              </a:rPr>
              <a:t>] = </a:t>
            </a:r>
            <a:r>
              <a:rPr lang="en-US" altLang="zh-CN" sz="2500" b="1" i="1" dirty="0" err="1">
                <a:ea typeface="华文新魏" pitchFamily="2" charset="-122"/>
              </a:rPr>
              <a:t>K</a:t>
            </a:r>
            <a:r>
              <a:rPr lang="en-US" altLang="zh-CN" b="1" baseline="100000" dirty="0" err="1">
                <a:ea typeface="华文新魏" pitchFamily="2" charset="-122"/>
                <a:sym typeface="Webdings" pitchFamily="18" charset="2"/>
              </a:rPr>
              <a:t></a:t>
            </a:r>
            <a:r>
              <a:rPr lang="en-US" altLang="zh-CN" sz="2500" b="1" baseline="-25000" dirty="0" err="1">
                <a:ea typeface="华文新魏" pitchFamily="2" charset="-122"/>
                <a:sym typeface="Webdings" pitchFamily="18" charset="2"/>
              </a:rPr>
              <a:t>b</a:t>
            </a:r>
            <a:r>
              <a:rPr lang="en-US" altLang="zh-CN" sz="2500" b="1" dirty="0">
                <a:ea typeface="华文新魏" pitchFamily="2" charset="-122"/>
              </a:rPr>
              <a:t>[NH</a:t>
            </a:r>
            <a:r>
              <a:rPr lang="en-US" altLang="zh-CN" sz="2500" b="1" baseline="-25000" dirty="0">
                <a:ea typeface="华文新魏" pitchFamily="2" charset="-122"/>
              </a:rPr>
              <a:t>3</a:t>
            </a:r>
            <a:r>
              <a:rPr lang="en-US" altLang="zh-CN" sz="2500" b="1" dirty="0">
                <a:ea typeface="华文新魏" pitchFamily="2" charset="-122"/>
              </a:rPr>
              <a:t>]/[OH</a:t>
            </a:r>
            <a:r>
              <a:rPr lang="en-US" altLang="zh-CN" sz="2500" b="1" baseline="30000" dirty="0">
                <a:ea typeface="华文新魏" pitchFamily="2" charset="-122"/>
              </a:rPr>
              <a:t>-</a:t>
            </a:r>
            <a:r>
              <a:rPr lang="en-US" altLang="zh-CN" sz="2500" b="1" dirty="0">
                <a:ea typeface="华文新魏" pitchFamily="2" charset="-122"/>
              </a:rPr>
              <a:t>]</a:t>
            </a:r>
          </a:p>
          <a:p>
            <a:pPr eaLnBrk="1" hangingPunct="1">
              <a:lnSpc>
                <a:spcPct val="110000"/>
              </a:lnSpc>
              <a:buFont typeface="Arial" pitchFamily="34" charset="0"/>
              <a:buNone/>
            </a:pPr>
            <a:r>
              <a:rPr lang="en-US" altLang="zh-CN" sz="2500" b="1" dirty="0">
                <a:ea typeface="华文新魏" pitchFamily="2" charset="-122"/>
              </a:rPr>
              <a:t>∴[NH</a:t>
            </a:r>
            <a:r>
              <a:rPr lang="en-US" altLang="zh-CN" sz="2500" b="1" baseline="-25000" dirty="0">
                <a:ea typeface="华文新魏" pitchFamily="2" charset="-122"/>
              </a:rPr>
              <a:t>4</a:t>
            </a:r>
            <a:r>
              <a:rPr lang="en-US" altLang="zh-CN" sz="2500" b="1" baseline="30000" dirty="0">
                <a:ea typeface="华文新魏" pitchFamily="2" charset="-122"/>
              </a:rPr>
              <a:t>+</a:t>
            </a:r>
            <a:r>
              <a:rPr lang="en-US" altLang="zh-CN" sz="2500" b="1" dirty="0">
                <a:ea typeface="华文新魏" pitchFamily="2" charset="-122"/>
              </a:rPr>
              <a:t>] ≥ 1.79×10</a:t>
            </a:r>
            <a:r>
              <a:rPr lang="en-US" altLang="zh-CN" sz="2500" b="1" baseline="30000" dirty="0">
                <a:ea typeface="华文新魏" pitchFamily="2" charset="-122"/>
              </a:rPr>
              <a:t>-5</a:t>
            </a:r>
            <a:r>
              <a:rPr lang="en-US" altLang="zh-CN" sz="2500" b="1" dirty="0">
                <a:ea typeface="华文新魏" pitchFamily="2" charset="-122"/>
              </a:rPr>
              <a:t>×0.0050/1.06×10</a:t>
            </a:r>
            <a:r>
              <a:rPr lang="en-US" altLang="zh-CN" sz="2500" b="1" baseline="30000" dirty="0">
                <a:ea typeface="华文新魏" pitchFamily="2" charset="-122"/>
              </a:rPr>
              <a:t>-5</a:t>
            </a:r>
            <a:endParaRPr lang="en-US" altLang="zh-CN" sz="2500" b="1" dirty="0">
              <a:ea typeface="华文新魏" pitchFamily="2" charset="-122"/>
            </a:endParaRPr>
          </a:p>
          <a:p>
            <a:pPr eaLnBrk="1" hangingPunct="1">
              <a:buFont typeface="Arial" pitchFamily="34" charset="0"/>
              <a:buNone/>
            </a:pPr>
            <a:r>
              <a:rPr lang="en-US" altLang="zh-CN" sz="2500" b="1" dirty="0">
                <a:ea typeface="华文新魏" pitchFamily="2" charset="-122"/>
              </a:rPr>
              <a:t>                  = 8.4×10</a:t>
            </a:r>
            <a:r>
              <a:rPr lang="en-US" altLang="zh-CN" sz="2500" b="1" baseline="30000" dirty="0">
                <a:ea typeface="华文新魏" pitchFamily="2" charset="-122"/>
              </a:rPr>
              <a:t>-3</a:t>
            </a:r>
            <a:r>
              <a:rPr lang="en-US" altLang="zh-CN" sz="2500" b="1" dirty="0">
                <a:ea typeface="华文新魏" pitchFamily="2" charset="-122"/>
              </a:rPr>
              <a:t> (mol·L</a:t>
            </a:r>
            <a:r>
              <a:rPr lang="en-US" altLang="zh-CN" sz="2500" b="1" baseline="30000" dirty="0">
                <a:ea typeface="华文新魏" pitchFamily="2" charset="-122"/>
              </a:rPr>
              <a:t>-1</a:t>
            </a:r>
            <a:r>
              <a:rPr lang="en-US" altLang="zh-CN" sz="2500" b="1" dirty="0">
                <a:ea typeface="华文新魏" pitchFamily="2" charset="-122"/>
              </a:rPr>
              <a:t>)</a:t>
            </a:r>
            <a:endParaRPr lang="en-US" altLang="zh-CN" sz="2500" b="1" baseline="30000" dirty="0">
              <a:ea typeface="华文新魏" pitchFamily="2" charset="-122"/>
            </a:endParaRPr>
          </a:p>
          <a:p>
            <a:pPr eaLnBrk="1" hangingPunct="1">
              <a:buFont typeface="Arial" pitchFamily="34" charset="0"/>
              <a:buNone/>
            </a:pPr>
            <a:r>
              <a:rPr lang="zh-CN" altLang="en-US" sz="2500" b="1" dirty="0">
                <a:ea typeface="华文新魏" pitchFamily="2" charset="-122"/>
              </a:rPr>
              <a:t>需加</a:t>
            </a:r>
            <a:r>
              <a:rPr lang="en-US" altLang="zh-CN" sz="2500" b="1" dirty="0">
                <a:ea typeface="华文新魏" pitchFamily="2" charset="-122"/>
              </a:rPr>
              <a:t>: </a:t>
            </a:r>
            <a:r>
              <a:rPr lang="en-US" altLang="zh-CN" sz="2500" b="1" i="1" dirty="0">
                <a:ea typeface="华文新魏" pitchFamily="2" charset="-122"/>
              </a:rPr>
              <a:t>m</a:t>
            </a:r>
            <a:r>
              <a:rPr lang="en-US" altLang="zh-CN" sz="2500" b="1" dirty="0">
                <a:ea typeface="华文新魏" pitchFamily="2" charset="-122"/>
              </a:rPr>
              <a:t>(NH</a:t>
            </a:r>
            <a:r>
              <a:rPr lang="en-US" altLang="zh-CN" sz="2500" b="1" baseline="-25000" dirty="0">
                <a:ea typeface="华文新魏" pitchFamily="2" charset="-122"/>
              </a:rPr>
              <a:t>4</a:t>
            </a:r>
            <a:r>
              <a:rPr lang="en-US" altLang="zh-CN" sz="2500" b="1" dirty="0">
                <a:ea typeface="华文新魏" pitchFamily="2" charset="-122"/>
              </a:rPr>
              <a:t>Cl) </a:t>
            </a:r>
            <a:r>
              <a:rPr lang="en-US" altLang="zh-CN" sz="2500" b="1" i="1" dirty="0">
                <a:ea typeface="华文新魏" pitchFamily="2" charset="-122"/>
              </a:rPr>
              <a:t>= </a:t>
            </a:r>
            <a:r>
              <a:rPr lang="en-US" altLang="zh-CN" sz="2500" b="1" i="1" dirty="0" err="1">
                <a:ea typeface="华文新魏" pitchFamily="2" charset="-122"/>
              </a:rPr>
              <a:t>cVM</a:t>
            </a:r>
            <a:r>
              <a:rPr lang="en-US" altLang="zh-CN" sz="2500" b="1" i="1" dirty="0">
                <a:ea typeface="华文新魏" pitchFamily="2" charset="-122"/>
              </a:rPr>
              <a:t>  </a:t>
            </a:r>
            <a:endParaRPr lang="en-US" altLang="zh-CN" sz="2500" b="1" dirty="0">
              <a:ea typeface="华文新魏" pitchFamily="2" charset="-122"/>
            </a:endParaRPr>
          </a:p>
          <a:p>
            <a:pPr eaLnBrk="1" hangingPunct="1">
              <a:buFont typeface="Arial" pitchFamily="34" charset="0"/>
              <a:buNone/>
            </a:pPr>
            <a:r>
              <a:rPr lang="en-US" altLang="zh-CN" sz="2500" b="1" dirty="0">
                <a:ea typeface="华文新魏" pitchFamily="2" charset="-122"/>
              </a:rPr>
              <a:t>                            = 8.4×10</a:t>
            </a:r>
            <a:r>
              <a:rPr lang="en-US" altLang="zh-CN" sz="2500" b="1" baseline="30000" dirty="0">
                <a:ea typeface="华文新魏" pitchFamily="2" charset="-122"/>
              </a:rPr>
              <a:t>-3</a:t>
            </a:r>
            <a:r>
              <a:rPr lang="en-US" altLang="zh-CN" sz="2500" b="1" dirty="0">
                <a:ea typeface="华文新魏" pitchFamily="2" charset="-122"/>
              </a:rPr>
              <a:t>×0.020×53.5</a:t>
            </a:r>
          </a:p>
          <a:p>
            <a:pPr eaLnBrk="1" hangingPunct="1">
              <a:buFont typeface="Arial" pitchFamily="34" charset="0"/>
              <a:buNone/>
            </a:pPr>
            <a:r>
              <a:rPr lang="en-US" altLang="zh-CN" sz="2500" b="1" dirty="0">
                <a:ea typeface="华文新魏" pitchFamily="2" charset="-122"/>
              </a:rPr>
              <a:t>                            = 9.0×10</a:t>
            </a:r>
            <a:r>
              <a:rPr lang="en-US" altLang="zh-CN" sz="2500" b="1" baseline="30000" dirty="0">
                <a:ea typeface="华文新魏" pitchFamily="2" charset="-122"/>
              </a:rPr>
              <a:t>-3</a:t>
            </a:r>
            <a:r>
              <a:rPr lang="en-US" altLang="zh-CN" sz="2500" b="1" dirty="0">
                <a:ea typeface="华文新魏" pitchFamily="2" charset="-122"/>
              </a:rPr>
              <a:t>(g</a:t>
            </a:r>
            <a:r>
              <a:rPr lang="en-US" altLang="zh-CN" sz="2500" b="1" dirty="0" smtClean="0">
                <a:ea typeface="华文新魏" pitchFamily="2" charset="-122"/>
              </a:rPr>
              <a:t>).</a:t>
            </a:r>
            <a:endParaRPr lang="en-US" altLang="zh-CN" sz="2500" b="1" baseline="30000" dirty="0">
              <a:solidFill>
                <a:schemeClr val="bg2"/>
              </a:solidFill>
              <a:ea typeface="华文新魏" pitchFamily="2" charset="-122"/>
            </a:endParaRPr>
          </a:p>
        </p:txBody>
      </p:sp>
      <p:sp>
        <p:nvSpPr>
          <p:cNvPr id="112652" name="矩形 112651"/>
          <p:cNvSpPr>
            <a:spLocks noChangeArrowheads="1"/>
          </p:cNvSpPr>
          <p:nvPr/>
        </p:nvSpPr>
        <p:spPr bwMode="auto">
          <a:xfrm>
            <a:off x="3878263" y="857259"/>
            <a:ext cx="6954837" cy="515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lnSpc>
                <a:spcPct val="110000"/>
              </a:lnSpc>
              <a:buFont typeface="Arial" pitchFamily="34" charset="0"/>
              <a:buNone/>
            </a:pPr>
            <a:r>
              <a:rPr lang="en-US" altLang="zh-CN" sz="2500" b="1">
                <a:ea typeface="华文新魏" pitchFamily="2" charset="-122"/>
                <a:sym typeface="Monotype Sorts" pitchFamily="2" charset="2"/>
              </a:rPr>
              <a:t>② </a:t>
            </a:r>
            <a:r>
              <a:rPr lang="en-US" altLang="zh-CN" sz="2500" b="1">
                <a:ea typeface="华文新魏" pitchFamily="2" charset="-122"/>
              </a:rPr>
              <a:t>Mg(OH)</a:t>
            </a:r>
            <a:r>
              <a:rPr lang="en-US" altLang="zh-CN" sz="2500" b="1" baseline="-25000">
                <a:ea typeface="华文新魏" pitchFamily="2" charset="-122"/>
              </a:rPr>
              <a:t>2</a:t>
            </a:r>
            <a:r>
              <a:rPr lang="zh-CN" altLang="en-US" sz="2500" b="1">
                <a:ea typeface="华文新魏" pitchFamily="2" charset="-122"/>
              </a:rPr>
              <a:t>不沉淀</a:t>
            </a:r>
            <a:r>
              <a:rPr lang="en-US" altLang="zh-CN" sz="2500" b="1">
                <a:ea typeface="华文新魏" pitchFamily="2" charset="-122"/>
              </a:rPr>
              <a:t>,  </a:t>
            </a:r>
            <a:r>
              <a:rPr lang="zh-CN" altLang="en-US" sz="2500" b="1">
                <a:solidFill>
                  <a:schemeClr val="bg1"/>
                </a:solidFill>
                <a:ea typeface="华文新魏" pitchFamily="2" charset="-122"/>
              </a:rPr>
              <a:t>解法</a:t>
            </a:r>
            <a:r>
              <a:rPr lang="en-US" altLang="zh-CN" sz="2500" b="1">
                <a:solidFill>
                  <a:schemeClr val="bg1"/>
                </a:solidFill>
                <a:ea typeface="华文新魏" pitchFamily="2" charset="-122"/>
              </a:rPr>
              <a:t>1:</a:t>
            </a:r>
            <a:r>
              <a:rPr lang="en-US" altLang="zh-CN" sz="2500" b="1" i="1">
                <a:solidFill>
                  <a:schemeClr val="bg1"/>
                </a:solidFill>
                <a:ea typeface="华文新魏" pitchFamily="2" charset="-122"/>
              </a:rPr>
              <a:t>c</a:t>
            </a:r>
            <a:r>
              <a:rPr lang="en-US" altLang="zh-CN" sz="2500" b="1">
                <a:solidFill>
                  <a:schemeClr val="bg1"/>
                </a:solidFill>
                <a:ea typeface="华文新魏" pitchFamily="2" charset="-122"/>
              </a:rPr>
              <a:t>(Mg</a:t>
            </a:r>
            <a:r>
              <a:rPr lang="en-US" altLang="zh-CN" sz="2500" b="1" baseline="30000">
                <a:solidFill>
                  <a:schemeClr val="bg1"/>
                </a:solidFill>
                <a:ea typeface="华文新魏" pitchFamily="2" charset="-122"/>
              </a:rPr>
              <a:t>2+</a:t>
            </a:r>
            <a:r>
              <a:rPr lang="en-US" altLang="zh-CN" sz="2500" b="1">
                <a:solidFill>
                  <a:schemeClr val="bg1"/>
                </a:solidFill>
                <a:ea typeface="华文新魏" pitchFamily="2" charset="-122"/>
              </a:rPr>
              <a:t>)</a:t>
            </a:r>
            <a:r>
              <a:rPr lang="en-US" altLang="zh-CN" sz="2500" b="1" i="1">
                <a:solidFill>
                  <a:schemeClr val="bg1"/>
                </a:solidFill>
                <a:ea typeface="华文新魏" pitchFamily="2" charset="-122"/>
              </a:rPr>
              <a:t>c</a:t>
            </a:r>
            <a:r>
              <a:rPr lang="en-US" altLang="zh-CN" sz="2500" b="1" baseline="30000">
                <a:solidFill>
                  <a:schemeClr val="bg1"/>
                </a:solidFill>
                <a:ea typeface="华文新魏" pitchFamily="2" charset="-122"/>
              </a:rPr>
              <a:t>2</a:t>
            </a:r>
            <a:r>
              <a:rPr lang="en-US" altLang="zh-CN" sz="2500" b="1">
                <a:solidFill>
                  <a:schemeClr val="bg1"/>
                </a:solidFill>
                <a:ea typeface="华文新魏" pitchFamily="2" charset="-122"/>
              </a:rPr>
              <a:t>(OH</a:t>
            </a:r>
            <a:r>
              <a:rPr lang="en-US" altLang="zh-CN" sz="2500" b="1" baseline="30000">
                <a:solidFill>
                  <a:schemeClr val="bg1"/>
                </a:solidFill>
                <a:ea typeface="华文新魏" pitchFamily="2" charset="-122"/>
              </a:rPr>
              <a:t>-</a:t>
            </a:r>
            <a:r>
              <a:rPr lang="en-US" altLang="zh-CN" sz="2500" b="1">
                <a:solidFill>
                  <a:schemeClr val="bg1"/>
                </a:solidFill>
                <a:ea typeface="华文新魏" pitchFamily="2" charset="-122"/>
              </a:rPr>
              <a:t>)</a:t>
            </a:r>
            <a:r>
              <a:rPr lang="en-US" altLang="zh-CN" sz="2500" b="1" baseline="30000">
                <a:solidFill>
                  <a:schemeClr val="bg1"/>
                </a:solidFill>
                <a:ea typeface="华文新魏" pitchFamily="2" charset="-122"/>
              </a:rPr>
              <a:t> </a:t>
            </a:r>
            <a:r>
              <a:rPr lang="en-US" altLang="zh-CN" sz="2500" b="1">
                <a:solidFill>
                  <a:schemeClr val="bg1"/>
                </a:solidFill>
                <a:ea typeface="华文新魏" pitchFamily="2" charset="-122"/>
              </a:rPr>
              <a:t>≤</a:t>
            </a:r>
            <a:r>
              <a:rPr lang="en-US" altLang="zh-CN" sz="2500" b="1" i="1">
                <a:solidFill>
                  <a:schemeClr val="bg1"/>
                </a:solidFill>
                <a:ea typeface="华文新魏" pitchFamily="2" charset="-122"/>
              </a:rPr>
              <a:t>K</a:t>
            </a:r>
            <a:r>
              <a:rPr lang="en-US" altLang="zh-CN" b="1" baseline="100000">
                <a:solidFill>
                  <a:schemeClr val="bg1"/>
                </a:solidFill>
                <a:ea typeface="华文新魏" pitchFamily="2" charset="-122"/>
                <a:sym typeface="Webdings" pitchFamily="18" charset="2"/>
              </a:rPr>
              <a:t></a:t>
            </a:r>
            <a:r>
              <a:rPr lang="en-US" altLang="zh-CN" sz="2500" b="1" baseline="-25000">
                <a:solidFill>
                  <a:schemeClr val="bg1"/>
                </a:solidFill>
                <a:ea typeface="华文新魏" pitchFamily="2" charset="-122"/>
                <a:sym typeface="Webdings" pitchFamily="18" charset="2"/>
              </a:rPr>
              <a:t>sp</a:t>
            </a:r>
            <a:r>
              <a:rPr lang="en-US" altLang="zh-CN" sz="2500" b="1">
                <a:solidFill>
                  <a:schemeClr val="bg1"/>
                </a:solidFill>
                <a:ea typeface="华文新魏" pitchFamily="2" charset="-122"/>
              </a:rPr>
              <a:t> </a:t>
            </a:r>
          </a:p>
        </p:txBody>
      </p:sp>
      <p:sp>
        <p:nvSpPr>
          <p:cNvPr id="8199" name="椭圆 62501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auto">
          <a:xfrm>
            <a:off x="71438" y="5688013"/>
            <a:ext cx="360362" cy="360362"/>
          </a:xfrm>
          <a:prstGeom prst="ellipse">
            <a:avLst/>
          </a:prstGeom>
          <a:blipFill dpi="0" rotWithShape="1">
            <a:blip r:embed="rId2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Font typeface="Arial" pitchFamily="34" charset="0"/>
              <a:buNone/>
            </a:pPr>
            <a:endParaRPr lang="zh-CN" altLang="en-US"/>
          </a:p>
        </p:txBody>
      </p:sp>
      <p:sp>
        <p:nvSpPr>
          <p:cNvPr id="8200" name="椭圆 58396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auto">
          <a:xfrm>
            <a:off x="11155363" y="5688013"/>
            <a:ext cx="360362" cy="360362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Font typeface="Arial" pitchFamily="34" charset="0"/>
              <a:buNone/>
            </a:pPr>
            <a:endParaRPr lang="zh-CN" altLang="en-US"/>
          </a:p>
        </p:txBody>
      </p:sp>
      <p:sp>
        <p:nvSpPr>
          <p:cNvPr id="11" name="文本框 1"/>
          <p:cNvSpPr txBox="1">
            <a:spLocks noChangeArrowheads="1"/>
          </p:cNvSpPr>
          <p:nvPr/>
        </p:nvSpPr>
        <p:spPr bwMode="auto">
          <a:xfrm>
            <a:off x="207963" y="311129"/>
            <a:ext cx="2757487" cy="430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buFont typeface="Arial" pitchFamily="34" charset="0"/>
              <a:buNone/>
            </a:pPr>
            <a:r>
              <a:rPr lang="zh-CN" altLang="en-US" sz="2200" b="1" dirty="0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</a:rPr>
              <a:t>例</a:t>
            </a:r>
            <a:r>
              <a:rPr lang="en-US" altLang="zh-CN" sz="2200" b="1" dirty="0">
                <a:solidFill>
                  <a:srgbClr val="FFFF00"/>
                </a:solidFill>
                <a:ea typeface="华文新魏" pitchFamily="2" charset="-122"/>
              </a:rPr>
              <a:t>5:</a:t>
            </a:r>
          </a:p>
        </p:txBody>
      </p:sp>
      <p:sp>
        <p:nvSpPr>
          <p:cNvPr id="12" name="矩形 11"/>
          <p:cNvSpPr/>
          <p:nvPr/>
        </p:nvSpPr>
        <p:spPr>
          <a:xfrm>
            <a:off x="3949700" y="357193"/>
            <a:ext cx="608013" cy="4730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fontAlgn="auto" hangingPunct="1">
              <a:buFont typeface="Arial" panose="020B0604020202020204" pitchFamily="34" charset="0"/>
              <a:buNone/>
              <a:defRPr/>
            </a:pPr>
            <a:r>
              <a:rPr lang="zh-CN" altLang="en-US" sz="2500" b="1" noProof="1">
                <a:solidFill>
                  <a:srgbClr val="FFFF00"/>
                </a:solidFill>
                <a:ea typeface="华文新魏" pitchFamily="2" charset="-122"/>
              </a:rPr>
              <a:t>解</a:t>
            </a:r>
            <a:r>
              <a:rPr lang="en-US" altLang="zh-CN" sz="2500" b="1" noProof="1">
                <a:solidFill>
                  <a:srgbClr val="FFFF00"/>
                </a:solidFill>
                <a:ea typeface="华文新魏" pitchFamily="2" charset="-122"/>
              </a:rPr>
              <a:t>:</a:t>
            </a:r>
            <a:endParaRPr lang="en-US" altLang="zh-CN" sz="2500" b="1" noProof="1">
              <a:solidFill>
                <a:srgbClr val="FFFF00"/>
              </a:solidFill>
              <a:effectLst>
                <a:outerShdw blurRad="38100" dist="38100" dir="2700000">
                  <a:srgbClr val="000000"/>
                </a:outerShdw>
              </a:effectLst>
              <a:ea typeface="华文新魏" pitchFamily="2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19045" y="742947"/>
            <a:ext cx="3213100" cy="22113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105000"/>
              </a:lnSpc>
              <a:buFont typeface="Arial" panose="020B0604020202020204" pitchFamily="34" charset="0"/>
              <a:buNone/>
              <a:defRPr/>
            </a:pPr>
            <a:r>
              <a:rPr lang="en-US" altLang="zh-CN" sz="2200" b="1" noProof="1">
                <a:ea typeface="华文新魏" pitchFamily="2" charset="-122"/>
                <a:cs typeface="+mn-ea"/>
              </a:rPr>
              <a:t>10mL0.10 mol·L</a:t>
            </a:r>
            <a:r>
              <a:rPr lang="en-US" altLang="zh-CN" sz="2200" b="1" baseline="30000" noProof="1">
                <a:ea typeface="华文新魏" pitchFamily="2" charset="-122"/>
                <a:cs typeface="+mn-ea"/>
              </a:rPr>
              <a:t>-1</a:t>
            </a:r>
            <a:r>
              <a:rPr lang="en-US" altLang="zh-CN" sz="2200" b="1" noProof="1">
                <a:ea typeface="华文新魏" pitchFamily="2" charset="-122"/>
                <a:cs typeface="+mn-ea"/>
              </a:rPr>
              <a:t> MgCl</a:t>
            </a:r>
            <a:r>
              <a:rPr lang="en-US" altLang="zh-CN" sz="2200" b="1" baseline="-25000" noProof="1">
                <a:ea typeface="华文新魏" pitchFamily="2" charset="-122"/>
                <a:cs typeface="+mn-ea"/>
              </a:rPr>
              <a:t>2</a:t>
            </a:r>
            <a:r>
              <a:rPr lang="zh-CN" altLang="en-US" sz="2200" b="1" noProof="1">
                <a:ea typeface="华文新魏" pitchFamily="2" charset="-122"/>
                <a:cs typeface="+mn-ea"/>
              </a:rPr>
              <a:t>和</a:t>
            </a:r>
            <a:r>
              <a:rPr lang="en-US" altLang="zh-CN" sz="2200" b="1" noProof="1">
                <a:ea typeface="华文新魏" pitchFamily="2" charset="-122"/>
                <a:cs typeface="+mn-ea"/>
              </a:rPr>
              <a:t>10mL 0.010 mol·L</a:t>
            </a:r>
            <a:r>
              <a:rPr lang="en-US" altLang="zh-CN" sz="2200" b="1" baseline="30000" noProof="1">
                <a:ea typeface="华文新魏" pitchFamily="2" charset="-122"/>
                <a:cs typeface="+mn-ea"/>
              </a:rPr>
              <a:t>-1</a:t>
            </a:r>
            <a:r>
              <a:rPr lang="en-US" altLang="zh-CN" sz="2200" b="1" noProof="1">
                <a:ea typeface="华文新魏" pitchFamily="2" charset="-122"/>
                <a:cs typeface="+mn-ea"/>
              </a:rPr>
              <a:t> NH</a:t>
            </a:r>
            <a:r>
              <a:rPr lang="en-US" altLang="zh-CN" sz="2200" b="1" baseline="-25000" noProof="1">
                <a:ea typeface="华文新魏" pitchFamily="2" charset="-122"/>
                <a:cs typeface="+mn-ea"/>
              </a:rPr>
              <a:t>3</a:t>
            </a:r>
            <a:r>
              <a:rPr lang="en-US" altLang="zh-CN" sz="2200" b="1" noProof="1">
                <a:ea typeface="华文新魏" pitchFamily="2" charset="-122"/>
                <a:cs typeface="+mn-ea"/>
              </a:rPr>
              <a:t>·H</a:t>
            </a:r>
            <a:r>
              <a:rPr lang="en-US" altLang="zh-CN" sz="2200" b="1" baseline="-25000" noProof="1">
                <a:ea typeface="华文新魏" pitchFamily="2" charset="-122"/>
                <a:cs typeface="+mn-ea"/>
              </a:rPr>
              <a:t>2</a:t>
            </a:r>
            <a:r>
              <a:rPr lang="en-US" altLang="zh-CN" sz="2200" b="1" noProof="1">
                <a:ea typeface="华文新魏" pitchFamily="2" charset="-122"/>
                <a:cs typeface="+mn-ea"/>
              </a:rPr>
              <a:t>O</a:t>
            </a:r>
            <a:r>
              <a:rPr lang="zh-CN" altLang="en-US" sz="2200" b="1" noProof="1">
                <a:ea typeface="华文新魏" pitchFamily="2" charset="-122"/>
                <a:cs typeface="+mn-ea"/>
              </a:rPr>
              <a:t>相混合</a:t>
            </a:r>
            <a:r>
              <a:rPr lang="en-US" altLang="zh-CN" sz="2200" b="1" noProof="1">
                <a:ea typeface="华文新魏" pitchFamily="2" charset="-122"/>
                <a:cs typeface="+mn-ea"/>
              </a:rPr>
              <a:t>,</a:t>
            </a:r>
            <a:r>
              <a:rPr lang="en-US" altLang="zh-CN" sz="2200" b="1" noProof="1">
                <a:ea typeface="华文新魏" pitchFamily="2" charset="-122"/>
                <a:cs typeface="+mn-ea"/>
                <a:sym typeface="Monotype Sorts" pitchFamily="2" charset="2"/>
              </a:rPr>
              <a:t>①</a:t>
            </a:r>
            <a:r>
              <a:rPr lang="zh-CN" altLang="en-US" sz="2200" b="1" noProof="1">
                <a:ea typeface="华文新魏" pitchFamily="2" charset="-122"/>
                <a:cs typeface="+mn-ea"/>
              </a:rPr>
              <a:t>是否有沉淀生成</a:t>
            </a:r>
            <a:r>
              <a:rPr lang="en-US" altLang="zh-CN" sz="2200" b="1" noProof="1">
                <a:ea typeface="华文新魏" pitchFamily="2" charset="-122"/>
                <a:cs typeface="+mn-ea"/>
              </a:rPr>
              <a:t>? </a:t>
            </a:r>
            <a:r>
              <a:rPr lang="en-US" altLang="zh-CN" sz="2200" b="1" noProof="1">
                <a:ea typeface="华文新魏" pitchFamily="2" charset="-122"/>
                <a:cs typeface="+mn-ea"/>
                <a:sym typeface="Monotype Sorts" pitchFamily="2" charset="2"/>
              </a:rPr>
              <a:t>②</a:t>
            </a:r>
            <a:r>
              <a:rPr lang="zh-CN" altLang="en-US" sz="2200" b="1" noProof="1">
                <a:ea typeface="华文新魏" pitchFamily="2" charset="-122"/>
                <a:cs typeface="+mn-ea"/>
              </a:rPr>
              <a:t>为不使</a:t>
            </a:r>
            <a:r>
              <a:rPr lang="en-US" altLang="zh-CN" sz="2200" b="1" noProof="1">
                <a:ea typeface="华文新魏" pitchFamily="2" charset="-122"/>
                <a:cs typeface="+mn-ea"/>
              </a:rPr>
              <a:t>Mg(OH)</a:t>
            </a:r>
            <a:r>
              <a:rPr lang="en-US" altLang="zh-CN" sz="2200" b="1" baseline="-25000" noProof="1">
                <a:ea typeface="华文新魏" pitchFamily="2" charset="-122"/>
                <a:cs typeface="+mn-ea"/>
              </a:rPr>
              <a:t>2</a:t>
            </a:r>
            <a:r>
              <a:rPr lang="zh-CN" altLang="en-US" sz="2200" b="1" noProof="1">
                <a:ea typeface="华文新魏" pitchFamily="2" charset="-122"/>
                <a:cs typeface="+mn-ea"/>
              </a:rPr>
              <a:t>沉淀析出</a:t>
            </a:r>
            <a:r>
              <a:rPr lang="en-US" altLang="zh-CN" sz="2200" b="1" noProof="1">
                <a:ea typeface="华文新魏" pitchFamily="2" charset="-122"/>
                <a:cs typeface="+mn-ea"/>
              </a:rPr>
              <a:t>,</a:t>
            </a:r>
            <a:r>
              <a:rPr lang="zh-CN" altLang="en-US" sz="2200" b="1" noProof="1">
                <a:ea typeface="华文新魏" pitchFamily="2" charset="-122"/>
                <a:cs typeface="+mn-ea"/>
              </a:rPr>
              <a:t>至少应加入</a:t>
            </a:r>
            <a:r>
              <a:rPr lang="en-US" altLang="zh-CN" sz="2200" b="1" noProof="1">
                <a:ea typeface="华文新魏" pitchFamily="2" charset="-122"/>
                <a:cs typeface="+mn-ea"/>
              </a:rPr>
              <a:t>NH</a:t>
            </a:r>
            <a:r>
              <a:rPr lang="en-US" altLang="zh-CN" sz="2200" b="1" baseline="-25000" noProof="1">
                <a:ea typeface="华文新魏" pitchFamily="2" charset="-122"/>
                <a:cs typeface="+mn-ea"/>
              </a:rPr>
              <a:t>4</a:t>
            </a:r>
            <a:r>
              <a:rPr lang="en-US" altLang="zh-CN" sz="2200" b="1" noProof="1">
                <a:ea typeface="华文新魏" pitchFamily="2" charset="-122"/>
                <a:cs typeface="+mn-ea"/>
              </a:rPr>
              <a:t>Cl</a:t>
            </a:r>
            <a:r>
              <a:rPr lang="zh-CN" altLang="en-US" sz="2200" b="1" noProof="1">
                <a:ea typeface="华文新魏" pitchFamily="2" charset="-122"/>
                <a:cs typeface="+mn-ea"/>
              </a:rPr>
              <a:t>多少克</a:t>
            </a:r>
            <a:r>
              <a:rPr lang="en-US" altLang="zh-CN" sz="2200" b="1" noProof="1">
                <a:ea typeface="华文新魏" pitchFamily="2" charset="-122"/>
                <a:cs typeface="+mn-ea"/>
              </a:rPr>
              <a:t>?</a:t>
            </a:r>
            <a:endParaRPr lang="en-US" altLang="zh-CN" sz="2200" b="1" noProof="1">
              <a:ea typeface="华文新魏" pitchFamily="2" charset="-122"/>
            </a:endParaRP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26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126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126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126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126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126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126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47" grpId="0" build="p"/>
      <p:bldP spid="112652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7" name="矩形 112646"/>
          <p:cNvSpPr>
            <a:spLocks noChangeArrowheads="1"/>
          </p:cNvSpPr>
          <p:nvPr/>
        </p:nvSpPr>
        <p:spPr bwMode="auto">
          <a:xfrm>
            <a:off x="4141787" y="878115"/>
            <a:ext cx="7380288" cy="861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buFont typeface="Arial" pitchFamily="34" charset="0"/>
              <a:buNone/>
            </a:pPr>
            <a:r>
              <a:rPr lang="zh-CN" altLang="en-US" sz="2500" b="1" dirty="0" smtClean="0">
                <a:solidFill>
                  <a:srgbClr val="FFFF00"/>
                </a:solidFill>
                <a:ea typeface="华文新魏" pitchFamily="2" charset="-122"/>
              </a:rPr>
              <a:t>解法</a:t>
            </a:r>
            <a:r>
              <a:rPr lang="en-US" altLang="zh-CN" sz="2500" b="1" dirty="0">
                <a:solidFill>
                  <a:srgbClr val="FFFF00"/>
                </a:solidFill>
                <a:ea typeface="华文新魏" pitchFamily="2" charset="-122"/>
              </a:rPr>
              <a:t>2</a:t>
            </a:r>
            <a:r>
              <a:rPr lang="en-US" altLang="zh-CN" sz="2500" b="1" dirty="0" smtClean="0">
                <a:solidFill>
                  <a:srgbClr val="FFFF00"/>
                </a:solidFill>
                <a:ea typeface="华文新魏" pitchFamily="2" charset="-122"/>
              </a:rPr>
              <a:t>:</a:t>
            </a:r>
            <a:endParaRPr lang="en-US" altLang="zh-CN" sz="2500" b="1" dirty="0">
              <a:solidFill>
                <a:schemeClr val="bg1"/>
              </a:solidFill>
              <a:ea typeface="华文新魏" pitchFamily="2" charset="-122"/>
            </a:endParaRPr>
          </a:p>
          <a:p>
            <a:pPr eaLnBrk="1" hangingPunct="1">
              <a:buFont typeface="Arial" pitchFamily="34" charset="0"/>
              <a:buNone/>
            </a:pPr>
            <a:r>
              <a:rPr lang="en-US" altLang="zh-CN" sz="2500" b="1" dirty="0">
                <a:ea typeface="华文新魏" pitchFamily="2" charset="-122"/>
              </a:rPr>
              <a:t>Mg(OH)</a:t>
            </a:r>
            <a:r>
              <a:rPr lang="en-US" altLang="zh-CN" sz="2500" b="1" baseline="-25000" dirty="0">
                <a:ea typeface="华文新魏" pitchFamily="2" charset="-122"/>
              </a:rPr>
              <a:t>2</a:t>
            </a:r>
            <a:r>
              <a:rPr lang="zh-CN" altLang="en-US" sz="2500" b="1" dirty="0">
                <a:ea typeface="华文新魏" pitchFamily="2" charset="-122"/>
              </a:rPr>
              <a:t>不沉淀</a:t>
            </a:r>
            <a:r>
              <a:rPr lang="en-US" altLang="zh-CN" sz="2500" b="1" dirty="0">
                <a:ea typeface="华文新魏" pitchFamily="2" charset="-122"/>
              </a:rPr>
              <a:t>, </a:t>
            </a:r>
            <a:r>
              <a:rPr lang="en-US" altLang="zh-CN" sz="2500" b="1" dirty="0">
                <a:solidFill>
                  <a:schemeClr val="bg1"/>
                </a:solidFill>
                <a:ea typeface="华文新魏" pitchFamily="2" charset="-122"/>
              </a:rPr>
              <a:t>Mg</a:t>
            </a:r>
            <a:r>
              <a:rPr lang="en-US" altLang="zh-CN" sz="2500" b="1" baseline="30000" dirty="0">
                <a:solidFill>
                  <a:schemeClr val="bg1"/>
                </a:solidFill>
                <a:ea typeface="华文新魏" pitchFamily="2" charset="-122"/>
              </a:rPr>
              <a:t>2+</a:t>
            </a:r>
            <a:r>
              <a:rPr lang="zh-CN" altLang="en-US" sz="2500" b="1" dirty="0">
                <a:solidFill>
                  <a:schemeClr val="bg1"/>
                </a:solidFill>
                <a:ea typeface="华文新魏" pitchFamily="2" charset="-122"/>
              </a:rPr>
              <a:t>浓度应保持</a:t>
            </a:r>
            <a:r>
              <a:rPr lang="en-US" altLang="zh-CN" sz="2500" b="1" dirty="0">
                <a:solidFill>
                  <a:schemeClr val="bg1"/>
                </a:solidFill>
                <a:ea typeface="华文新魏" pitchFamily="2" charset="-122"/>
              </a:rPr>
              <a:t>0.050 mol·L</a:t>
            </a:r>
            <a:r>
              <a:rPr lang="en-US" altLang="zh-CN" sz="2500" b="1" baseline="30000" dirty="0">
                <a:solidFill>
                  <a:schemeClr val="bg1"/>
                </a:solidFill>
                <a:ea typeface="华文新魏" pitchFamily="2" charset="-122"/>
              </a:rPr>
              <a:t>-1</a:t>
            </a:r>
          </a:p>
        </p:txBody>
      </p:sp>
      <p:sp>
        <p:nvSpPr>
          <p:cNvPr id="78858" name="矩形 78857"/>
          <p:cNvSpPr/>
          <p:nvPr/>
        </p:nvSpPr>
        <p:spPr>
          <a:xfrm>
            <a:off x="4094163" y="1882765"/>
            <a:ext cx="6953286" cy="477838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altLang="zh-CN" sz="2500" b="1" noProof="1">
                <a:ea typeface="华文新魏" pitchFamily="2" charset="-122"/>
                <a:cs typeface="+mn-ea"/>
              </a:rPr>
              <a:t>Mg</a:t>
            </a:r>
            <a:r>
              <a:rPr lang="en-US" altLang="zh-CN" sz="2500" b="1" baseline="30000" noProof="1">
                <a:ea typeface="华文新魏" pitchFamily="2" charset="-122"/>
                <a:cs typeface="+mn-ea"/>
              </a:rPr>
              <a:t>2+</a:t>
            </a:r>
            <a:r>
              <a:rPr lang="en-US" altLang="zh-CN" sz="2500" b="1" noProof="1">
                <a:ea typeface="华文新魏" pitchFamily="2" charset="-122"/>
                <a:cs typeface="+mn-ea"/>
              </a:rPr>
              <a:t> + 2NH</a:t>
            </a:r>
            <a:r>
              <a:rPr lang="en-US" altLang="zh-CN" sz="2500" b="1" baseline="-25000" noProof="1">
                <a:ea typeface="华文新魏" pitchFamily="2" charset="-122"/>
                <a:cs typeface="+mn-ea"/>
              </a:rPr>
              <a:t>3</a:t>
            </a:r>
            <a:r>
              <a:rPr lang="en-US" altLang="zh-CN" sz="2500" b="1" noProof="1">
                <a:ea typeface="华文新魏" pitchFamily="2" charset="-122"/>
                <a:cs typeface="+mn-ea"/>
              </a:rPr>
              <a:t>  + 2H</a:t>
            </a:r>
            <a:r>
              <a:rPr lang="en-US" altLang="zh-CN" sz="2500" b="1" baseline="-25000" noProof="1">
                <a:ea typeface="华文新魏" pitchFamily="2" charset="-122"/>
                <a:cs typeface="+mn-ea"/>
              </a:rPr>
              <a:t>2</a:t>
            </a:r>
            <a:r>
              <a:rPr lang="en-US" altLang="zh-CN" sz="2500" b="1" noProof="1">
                <a:ea typeface="华文新魏" pitchFamily="2" charset="-122"/>
                <a:cs typeface="+mn-ea"/>
              </a:rPr>
              <a:t>O ⇋ Mg(OH)</a:t>
            </a:r>
            <a:r>
              <a:rPr lang="en-US" altLang="zh-CN" sz="2500" b="1" baseline="-25000" noProof="1">
                <a:ea typeface="华文新魏" pitchFamily="2" charset="-122"/>
                <a:cs typeface="+mn-ea"/>
              </a:rPr>
              <a:t>2</a:t>
            </a:r>
            <a:r>
              <a:rPr lang="en-US" altLang="zh-CN" sz="2500" b="1" noProof="1">
                <a:ea typeface="华文新魏" pitchFamily="2" charset="-122"/>
                <a:cs typeface="+mn-ea"/>
              </a:rPr>
              <a:t>↓ + 2NH</a:t>
            </a:r>
            <a:r>
              <a:rPr lang="en-US" altLang="zh-CN" sz="2500" b="1" baseline="-25000" noProof="1">
                <a:ea typeface="华文新魏" pitchFamily="2" charset="-122"/>
                <a:cs typeface="+mn-ea"/>
              </a:rPr>
              <a:t>4</a:t>
            </a:r>
            <a:r>
              <a:rPr lang="en-US" altLang="zh-CN" sz="2500" b="1" baseline="30000" noProof="1">
                <a:ea typeface="华文新魏" pitchFamily="2" charset="-122"/>
                <a:cs typeface="+mn-ea"/>
              </a:rPr>
              <a:t>+</a:t>
            </a:r>
            <a:r>
              <a:rPr lang="en-US" altLang="zh-CN" sz="2500" b="1" noProof="1">
                <a:ea typeface="华文新魏" pitchFamily="2" charset="-122"/>
                <a:cs typeface="+mn-ea"/>
              </a:rPr>
              <a:t> </a:t>
            </a:r>
            <a:endParaRPr lang="en-US" altLang="zh-CN" sz="2500" b="1" noProof="1">
              <a:ea typeface="华文新魏" pitchFamily="2" charset="-122"/>
            </a:endParaRPr>
          </a:p>
        </p:txBody>
      </p:sp>
      <p:sp>
        <p:nvSpPr>
          <p:cNvPr id="78859" name="矩形 78858"/>
          <p:cNvSpPr/>
          <p:nvPr/>
        </p:nvSpPr>
        <p:spPr>
          <a:xfrm>
            <a:off x="3624263" y="2778125"/>
            <a:ext cx="735012" cy="4778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altLang="zh-CN" sz="2500" b="1" i="1" noProof="1">
                <a:ea typeface="华文新魏" pitchFamily="2" charset="-122"/>
                <a:cs typeface="+mn-ea"/>
              </a:rPr>
              <a:t>K</a:t>
            </a:r>
            <a:r>
              <a:rPr lang="en-US" altLang="zh-CN" b="1" baseline="100000" noProof="1">
                <a:ea typeface="华文新魏" pitchFamily="2" charset="-122"/>
                <a:cs typeface="+mn-ea"/>
                <a:sym typeface="Webdings" panose="05030102010509060703" pitchFamily="18" charset="2"/>
              </a:rPr>
              <a:t></a:t>
            </a:r>
            <a:r>
              <a:rPr lang="en-US" altLang="zh-CN" sz="2500" b="1" noProof="1">
                <a:ea typeface="华文新魏" pitchFamily="2" charset="-122"/>
                <a:cs typeface="+mn-ea"/>
                <a:sym typeface="Webdings" panose="05030102010509060703" pitchFamily="18" charset="2"/>
              </a:rPr>
              <a:t>=</a:t>
            </a:r>
            <a:endParaRPr lang="en-US" altLang="zh-CN" sz="2500" b="1" baseline="100000" noProof="1">
              <a:ea typeface="华文新魏" pitchFamily="2" charset="-122"/>
              <a:sym typeface="Webdings" panose="05030102010509060703" pitchFamily="18" charset="2"/>
            </a:endParaRPr>
          </a:p>
        </p:txBody>
      </p:sp>
      <p:sp>
        <p:nvSpPr>
          <p:cNvPr id="78860" name="矩形 78859"/>
          <p:cNvSpPr/>
          <p:nvPr/>
        </p:nvSpPr>
        <p:spPr>
          <a:xfrm>
            <a:off x="5013325" y="2527300"/>
            <a:ext cx="1217613" cy="4778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altLang="zh-CN" sz="2500" b="1" noProof="1">
                <a:ea typeface="华文新魏" pitchFamily="2" charset="-122"/>
                <a:cs typeface="+mn-ea"/>
              </a:rPr>
              <a:t>[NH</a:t>
            </a:r>
            <a:r>
              <a:rPr lang="en-US" altLang="zh-CN" sz="2500" b="1" baseline="-25000" noProof="1">
                <a:ea typeface="华文新魏" pitchFamily="2" charset="-122"/>
                <a:cs typeface="+mn-ea"/>
              </a:rPr>
              <a:t>4</a:t>
            </a:r>
            <a:r>
              <a:rPr lang="en-US" altLang="zh-CN" sz="2500" b="1" baseline="30000" noProof="1">
                <a:ea typeface="华文新魏" pitchFamily="2" charset="-122"/>
                <a:cs typeface="+mn-ea"/>
              </a:rPr>
              <a:t>+</a:t>
            </a:r>
            <a:r>
              <a:rPr lang="en-US" altLang="zh-CN" sz="2500" b="1" noProof="1">
                <a:ea typeface="华文新魏" pitchFamily="2" charset="-122"/>
                <a:cs typeface="+mn-ea"/>
              </a:rPr>
              <a:t>]</a:t>
            </a:r>
            <a:r>
              <a:rPr lang="en-US" altLang="zh-CN" sz="2500" b="1" baseline="30000" noProof="1">
                <a:ea typeface="华文新魏" pitchFamily="2" charset="-122"/>
                <a:cs typeface="+mn-ea"/>
              </a:rPr>
              <a:t>2</a:t>
            </a:r>
            <a:endParaRPr lang="en-US" altLang="zh-CN" sz="2500" b="1" baseline="30000" noProof="1">
              <a:ea typeface="华文新魏" pitchFamily="2" charset="-122"/>
            </a:endParaRPr>
          </a:p>
        </p:txBody>
      </p:sp>
      <p:sp>
        <p:nvSpPr>
          <p:cNvPr id="78862" name="矩形 78861"/>
          <p:cNvSpPr/>
          <p:nvPr/>
        </p:nvSpPr>
        <p:spPr>
          <a:xfrm>
            <a:off x="4273550" y="3092450"/>
            <a:ext cx="2001838" cy="4778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altLang="zh-CN" sz="2500" b="1" noProof="1">
                <a:ea typeface="华文新魏" pitchFamily="2" charset="-122"/>
                <a:cs typeface="+mn-ea"/>
              </a:rPr>
              <a:t>[Mg</a:t>
            </a:r>
            <a:r>
              <a:rPr lang="en-US" altLang="zh-CN" sz="2500" b="1" baseline="30000" noProof="1">
                <a:ea typeface="华文新魏" pitchFamily="2" charset="-122"/>
                <a:cs typeface="+mn-ea"/>
              </a:rPr>
              <a:t>2+</a:t>
            </a:r>
            <a:r>
              <a:rPr lang="en-US" altLang="zh-CN" sz="2500" b="1" noProof="1">
                <a:ea typeface="华文新魏" pitchFamily="2" charset="-122"/>
                <a:cs typeface="+mn-ea"/>
              </a:rPr>
              <a:t>][NH</a:t>
            </a:r>
            <a:r>
              <a:rPr lang="en-US" altLang="zh-CN" sz="2500" b="1" baseline="-25000" noProof="1">
                <a:ea typeface="华文新魏" pitchFamily="2" charset="-122"/>
                <a:cs typeface="+mn-ea"/>
              </a:rPr>
              <a:t>3</a:t>
            </a:r>
            <a:r>
              <a:rPr lang="en-US" altLang="zh-CN" sz="2500" b="1" noProof="1">
                <a:ea typeface="华文新魏" pitchFamily="2" charset="-122"/>
                <a:cs typeface="+mn-ea"/>
              </a:rPr>
              <a:t>]</a:t>
            </a:r>
            <a:r>
              <a:rPr lang="en-US" altLang="zh-CN" sz="2500" b="1" baseline="30000" noProof="1">
                <a:ea typeface="华文新魏" pitchFamily="2" charset="-122"/>
                <a:cs typeface="+mn-ea"/>
              </a:rPr>
              <a:t>2</a:t>
            </a:r>
            <a:endParaRPr lang="en-US" altLang="zh-CN" sz="2500" b="1" baseline="30000" noProof="1">
              <a:ea typeface="华文新魏" pitchFamily="2" charset="-122"/>
            </a:endParaRPr>
          </a:p>
        </p:txBody>
      </p:sp>
      <p:sp>
        <p:nvSpPr>
          <p:cNvPr id="78864" name="矩形 78863"/>
          <p:cNvSpPr/>
          <p:nvPr/>
        </p:nvSpPr>
        <p:spPr>
          <a:xfrm>
            <a:off x="6129338" y="3095625"/>
            <a:ext cx="1077912" cy="4778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altLang="zh-CN" sz="2500" b="1" noProof="1">
                <a:ea typeface="华文新魏" pitchFamily="2" charset="-122"/>
                <a:cs typeface="+mn-ea"/>
              </a:rPr>
              <a:t>[OH</a:t>
            </a:r>
            <a:r>
              <a:rPr lang="en-US" altLang="zh-CN" sz="2500" b="1" baseline="30000" noProof="1">
                <a:ea typeface="华文新魏" pitchFamily="2" charset="-122"/>
                <a:cs typeface="+mn-ea"/>
              </a:rPr>
              <a:t>-</a:t>
            </a:r>
            <a:r>
              <a:rPr lang="en-US" altLang="zh-CN" sz="2500" b="1" noProof="1">
                <a:ea typeface="华文新魏" pitchFamily="2" charset="-122"/>
                <a:cs typeface="+mn-ea"/>
              </a:rPr>
              <a:t>]</a:t>
            </a:r>
            <a:r>
              <a:rPr lang="en-US" altLang="zh-CN" sz="2500" b="1" baseline="30000" noProof="1">
                <a:ea typeface="华文新魏" pitchFamily="2" charset="-122"/>
                <a:cs typeface="+mn-ea"/>
              </a:rPr>
              <a:t>2</a:t>
            </a:r>
            <a:endParaRPr lang="en-US" altLang="zh-CN" sz="2500" b="1" baseline="30000" noProof="1">
              <a:ea typeface="华文新魏" pitchFamily="2" charset="-122"/>
            </a:endParaRPr>
          </a:p>
        </p:txBody>
      </p:sp>
      <p:sp>
        <p:nvSpPr>
          <p:cNvPr id="78865" name="矩形 78864"/>
          <p:cNvSpPr>
            <a:spLocks noChangeArrowheads="1"/>
          </p:cNvSpPr>
          <p:nvPr/>
        </p:nvSpPr>
        <p:spPr bwMode="auto">
          <a:xfrm>
            <a:off x="7177088" y="2779713"/>
            <a:ext cx="366712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Font typeface="Arial" pitchFamily="34" charset="0"/>
              <a:buNone/>
            </a:pPr>
            <a:r>
              <a:rPr lang="zh-CN" altLang="zh-CN" sz="2500" b="1" noProof="1">
                <a:ea typeface="华文新魏" pitchFamily="2" charset="-122"/>
              </a:rPr>
              <a:t>=</a:t>
            </a:r>
          </a:p>
        </p:txBody>
      </p:sp>
      <p:sp>
        <p:nvSpPr>
          <p:cNvPr id="78867" name="矩形 78866"/>
          <p:cNvSpPr/>
          <p:nvPr/>
        </p:nvSpPr>
        <p:spPr>
          <a:xfrm>
            <a:off x="7500938" y="2527300"/>
            <a:ext cx="992187" cy="4778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altLang="zh-CN" sz="2500" b="1" noProof="1">
                <a:ea typeface="华文新魏" pitchFamily="2" charset="-122"/>
                <a:cs typeface="+mn-ea"/>
              </a:rPr>
              <a:t>(</a:t>
            </a:r>
            <a:r>
              <a:rPr lang="en-US" altLang="zh-CN" sz="2500" b="1" i="1" noProof="1">
                <a:ea typeface="华文新魏" pitchFamily="2" charset="-122"/>
                <a:cs typeface="+mn-ea"/>
              </a:rPr>
              <a:t>K</a:t>
            </a:r>
            <a:r>
              <a:rPr lang="en-US" altLang="zh-CN" b="1" baseline="100000" noProof="1">
                <a:ea typeface="华文新魏" pitchFamily="2" charset="-122"/>
                <a:cs typeface="+mn-ea"/>
                <a:sym typeface="Webdings" panose="05030102010509060703" pitchFamily="18" charset="2"/>
              </a:rPr>
              <a:t></a:t>
            </a:r>
            <a:r>
              <a:rPr lang="en-US" altLang="zh-CN" sz="2500" b="1" baseline="-25000" noProof="1">
                <a:ea typeface="华文新魏" pitchFamily="2" charset="-122"/>
                <a:cs typeface="+mn-ea"/>
                <a:sym typeface="Webdings" panose="05030102010509060703" pitchFamily="18" charset="2"/>
              </a:rPr>
              <a:t>b</a:t>
            </a:r>
            <a:r>
              <a:rPr lang="en-US" altLang="zh-CN" sz="2500" b="1" noProof="1">
                <a:ea typeface="华文新魏" pitchFamily="2" charset="-122"/>
                <a:cs typeface="+mn-ea"/>
              </a:rPr>
              <a:t>)</a:t>
            </a:r>
            <a:r>
              <a:rPr lang="en-US" altLang="zh-CN" sz="2500" b="1" baseline="30000" noProof="1">
                <a:ea typeface="华文新魏" pitchFamily="2" charset="-122"/>
                <a:cs typeface="+mn-ea"/>
              </a:rPr>
              <a:t>2</a:t>
            </a:r>
            <a:endParaRPr lang="en-US" altLang="zh-CN" sz="2500" b="1" baseline="30000" noProof="1">
              <a:ea typeface="华文新魏" pitchFamily="2" charset="-122"/>
            </a:endParaRPr>
          </a:p>
        </p:txBody>
      </p:sp>
      <p:sp>
        <p:nvSpPr>
          <p:cNvPr id="78868" name="矩形 78867"/>
          <p:cNvSpPr/>
          <p:nvPr/>
        </p:nvSpPr>
        <p:spPr>
          <a:xfrm>
            <a:off x="7659688" y="3092450"/>
            <a:ext cx="754062" cy="4778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altLang="zh-CN" sz="2500" b="1" i="1" noProof="1">
                <a:ea typeface="华文新魏" pitchFamily="2" charset="-122"/>
                <a:cs typeface="+mn-ea"/>
              </a:rPr>
              <a:t>K</a:t>
            </a:r>
            <a:r>
              <a:rPr lang="en-US" altLang="zh-CN" b="1" baseline="100000" noProof="1">
                <a:ea typeface="华文新魏" pitchFamily="2" charset="-122"/>
                <a:cs typeface="+mn-ea"/>
                <a:sym typeface="Webdings" panose="05030102010509060703" pitchFamily="18" charset="2"/>
              </a:rPr>
              <a:t></a:t>
            </a:r>
            <a:r>
              <a:rPr lang="en-US" altLang="zh-CN" sz="2500" b="1" baseline="-25000" noProof="1">
                <a:ea typeface="华文新魏" pitchFamily="2" charset="-122"/>
                <a:cs typeface="+mn-ea"/>
                <a:sym typeface="Webdings" panose="05030102010509060703" pitchFamily="18" charset="2"/>
              </a:rPr>
              <a:t>sp</a:t>
            </a:r>
            <a:endParaRPr lang="en-US" altLang="zh-CN" sz="2500" b="1" baseline="-25000" noProof="1">
              <a:ea typeface="华文新魏" pitchFamily="2" charset="-122"/>
              <a:sym typeface="Webdings" panose="05030102010509060703" pitchFamily="18" charset="2"/>
            </a:endParaRPr>
          </a:p>
        </p:txBody>
      </p:sp>
      <p:sp>
        <p:nvSpPr>
          <p:cNvPr id="78870" name="矩形 78869"/>
          <p:cNvSpPr/>
          <p:nvPr/>
        </p:nvSpPr>
        <p:spPr>
          <a:xfrm>
            <a:off x="10340975" y="2779713"/>
            <a:ext cx="1008063" cy="4778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altLang="zh-CN" sz="2500" b="1" noProof="1">
                <a:ea typeface="华文新魏" pitchFamily="2" charset="-122"/>
                <a:cs typeface="+mn-ea"/>
              </a:rPr>
              <a:t>= 57.1</a:t>
            </a:r>
            <a:endParaRPr lang="en-US" altLang="zh-CN" sz="2500" b="1" noProof="1">
              <a:ea typeface="华文新魏" pitchFamily="2" charset="-122"/>
            </a:endParaRPr>
          </a:p>
        </p:txBody>
      </p:sp>
      <p:sp>
        <p:nvSpPr>
          <p:cNvPr id="78873" name="矩形 78872"/>
          <p:cNvSpPr/>
          <p:nvPr/>
        </p:nvSpPr>
        <p:spPr>
          <a:xfrm>
            <a:off x="8740775" y="3092450"/>
            <a:ext cx="1608138" cy="4778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altLang="zh-CN" sz="2500" b="1" noProof="1">
                <a:ea typeface="华文新魏" pitchFamily="2" charset="-122"/>
                <a:cs typeface="+mn-ea"/>
                <a:sym typeface="Webdings" panose="05030102010509060703" pitchFamily="18" charset="2"/>
              </a:rPr>
              <a:t>5.61 </a:t>
            </a:r>
            <a:r>
              <a:rPr lang="en-US" altLang="zh-CN" sz="2500" b="1" noProof="1">
                <a:ea typeface="华文新魏" pitchFamily="2" charset="-122"/>
                <a:cs typeface="+mn-ea"/>
                <a:sym typeface="Symbol" panose="05050102010706020507" pitchFamily="18" charset="2"/>
              </a:rPr>
              <a:t>10</a:t>
            </a:r>
            <a:r>
              <a:rPr lang="en-US" altLang="zh-CN" sz="2500" b="1" baseline="30000" noProof="1">
                <a:ea typeface="华文新魏" pitchFamily="2" charset="-122"/>
                <a:cs typeface="+mn-ea"/>
                <a:sym typeface="Symbol" panose="05050102010706020507" pitchFamily="18" charset="2"/>
              </a:rPr>
              <a:t>-12</a:t>
            </a:r>
            <a:endParaRPr lang="en-US" altLang="zh-CN" sz="2500" b="1" baseline="30000" noProof="1">
              <a:ea typeface="华文新魏" pitchFamily="2" charset="-122"/>
              <a:sym typeface="Symbol" panose="05050102010706020507" pitchFamily="18" charset="2"/>
            </a:endParaRPr>
          </a:p>
        </p:txBody>
      </p:sp>
      <p:grpSp>
        <p:nvGrpSpPr>
          <p:cNvPr id="2" name="组合 78881"/>
          <p:cNvGrpSpPr>
            <a:grpSpLocks/>
          </p:cNvGrpSpPr>
          <p:nvPr/>
        </p:nvGrpSpPr>
        <p:grpSpPr bwMode="auto">
          <a:xfrm>
            <a:off x="4094163" y="3849688"/>
            <a:ext cx="5257800" cy="476250"/>
            <a:chOff x="430" y="720"/>
            <a:chExt cx="3312" cy="300"/>
          </a:xfrm>
        </p:grpSpPr>
        <p:sp>
          <p:nvSpPr>
            <p:cNvPr id="78883" name="文本框 78882"/>
            <p:cNvSpPr txBox="1"/>
            <p:nvPr/>
          </p:nvSpPr>
          <p:spPr>
            <a:xfrm>
              <a:off x="430" y="720"/>
              <a:ext cx="3312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buFont typeface="Arial" panose="020B0604020202020204" pitchFamily="34" charset="0"/>
                <a:buNone/>
                <a:defRPr/>
              </a:pPr>
              <a:r>
                <a:rPr lang="en-US" altLang="zh-CN" sz="2500" b="1" noProof="1">
                  <a:ea typeface="华文新魏" pitchFamily="2" charset="-122"/>
                  <a:cs typeface="+mn-ea"/>
                </a:rPr>
                <a:t>∴[NH</a:t>
              </a:r>
              <a:r>
                <a:rPr lang="en-US" altLang="zh-CN" sz="2500" b="1" baseline="-25000" noProof="1">
                  <a:ea typeface="华文新魏" pitchFamily="2" charset="-122"/>
                  <a:cs typeface="+mn-ea"/>
                </a:rPr>
                <a:t>4</a:t>
              </a:r>
              <a:r>
                <a:rPr lang="en-US" altLang="zh-CN" sz="2500" b="1" baseline="30000" noProof="1">
                  <a:ea typeface="华文新魏" pitchFamily="2" charset="-122"/>
                  <a:cs typeface="+mn-ea"/>
                </a:rPr>
                <a:t>+</a:t>
              </a:r>
              <a:r>
                <a:rPr lang="en-US" altLang="zh-CN" sz="2500" b="1" noProof="1">
                  <a:ea typeface="华文新魏" pitchFamily="2" charset="-122"/>
                  <a:cs typeface="+mn-ea"/>
                </a:rPr>
                <a:t>] = </a:t>
              </a:r>
              <a:r>
                <a:rPr lang="en-US" altLang="zh-CN" sz="2500" b="1" noProof="1">
                  <a:ea typeface="华文新魏" pitchFamily="2" charset="-122"/>
                  <a:cs typeface="+mn-ea"/>
                  <a:sym typeface="Symbol" panose="05050102010706020507" pitchFamily="18" charset="2"/>
                </a:rPr>
                <a:t>57.1 </a:t>
              </a:r>
              <a:r>
                <a:rPr lang="en-US" altLang="zh-CN" sz="2500" b="1" noProof="1">
                  <a:ea typeface="华文新魏" pitchFamily="2" charset="-122"/>
                  <a:cs typeface="+mn-ea"/>
                </a:rPr>
                <a:t>[Mg</a:t>
              </a:r>
              <a:r>
                <a:rPr lang="en-US" altLang="zh-CN" sz="2500" b="1" baseline="30000" noProof="1">
                  <a:ea typeface="华文新魏" pitchFamily="2" charset="-122"/>
                  <a:cs typeface="+mn-ea"/>
                </a:rPr>
                <a:t>2+</a:t>
              </a:r>
              <a:r>
                <a:rPr lang="en-US" altLang="zh-CN" sz="2500" b="1" noProof="1">
                  <a:ea typeface="华文新魏" pitchFamily="2" charset="-122"/>
                  <a:cs typeface="+mn-ea"/>
                </a:rPr>
                <a:t>][NH</a:t>
              </a:r>
              <a:r>
                <a:rPr lang="en-US" altLang="zh-CN" sz="2500" b="1" baseline="-25000" noProof="1">
                  <a:ea typeface="华文新魏" pitchFamily="2" charset="-122"/>
                  <a:cs typeface="+mn-ea"/>
                </a:rPr>
                <a:t>3</a:t>
              </a:r>
              <a:r>
                <a:rPr lang="en-US" altLang="zh-CN" sz="2500" b="1" noProof="1">
                  <a:ea typeface="华文新魏" pitchFamily="2" charset="-122"/>
                  <a:cs typeface="+mn-ea"/>
                </a:rPr>
                <a:t>]</a:t>
              </a:r>
              <a:r>
                <a:rPr lang="en-US" altLang="zh-CN" sz="2500" b="1" baseline="30000" noProof="1">
                  <a:ea typeface="华文新魏" pitchFamily="2" charset="-122"/>
                  <a:cs typeface="+mn-ea"/>
                </a:rPr>
                <a:t>2</a:t>
              </a:r>
              <a:endParaRPr lang="en-US" altLang="zh-CN" sz="2500" b="1" baseline="30000" noProof="1">
                <a:ea typeface="华文新魏" pitchFamily="2" charset="-122"/>
              </a:endParaRPr>
            </a:p>
          </p:txBody>
        </p:sp>
        <p:sp>
          <p:nvSpPr>
            <p:cNvPr id="9243" name="直接连接符 78883"/>
            <p:cNvSpPr>
              <a:spLocks noChangeShapeType="1"/>
            </p:cNvSpPr>
            <p:nvPr/>
          </p:nvSpPr>
          <p:spPr bwMode="auto">
            <a:xfrm>
              <a:off x="1551" y="765"/>
              <a:ext cx="15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" name="组合 78884"/>
          <p:cNvGrpSpPr>
            <a:grpSpLocks/>
          </p:cNvGrpSpPr>
          <p:nvPr/>
        </p:nvGrpSpPr>
        <p:grpSpPr bwMode="auto">
          <a:xfrm>
            <a:off x="5357813" y="4362450"/>
            <a:ext cx="5616575" cy="857250"/>
            <a:chOff x="592" y="974"/>
            <a:chExt cx="4417" cy="540"/>
          </a:xfrm>
        </p:grpSpPr>
        <p:sp>
          <p:nvSpPr>
            <p:cNvPr id="78886" name="矩形 78885"/>
            <p:cNvSpPr/>
            <p:nvPr/>
          </p:nvSpPr>
          <p:spPr>
            <a:xfrm>
              <a:off x="592" y="974"/>
              <a:ext cx="4417" cy="54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buFont typeface="Arial" panose="020B0604020202020204" pitchFamily="34" charset="0"/>
                <a:buNone/>
                <a:defRPr/>
              </a:pPr>
              <a:r>
                <a:rPr lang="en-US" altLang="zh-CN" sz="2500" b="1" noProof="1">
                  <a:ea typeface="华文新魏" pitchFamily="2" charset="-122"/>
                  <a:cs typeface="+mn-ea"/>
                </a:rPr>
                <a:t>= </a:t>
              </a:r>
              <a:r>
                <a:rPr lang="en-US" altLang="zh-CN" sz="2500" b="1" noProof="1">
                  <a:ea typeface="华文新魏" pitchFamily="2" charset="-122"/>
                  <a:cs typeface="+mn-ea"/>
                  <a:sym typeface="Symbol" panose="05050102010706020507" pitchFamily="18" charset="2"/>
                </a:rPr>
                <a:t>57.1×0.050×(0.0050)</a:t>
              </a:r>
              <a:r>
                <a:rPr lang="en-US" altLang="zh-CN" sz="2500" b="1" baseline="30000" noProof="1">
                  <a:ea typeface="华文新魏" pitchFamily="2" charset="-122"/>
                  <a:cs typeface="+mn-ea"/>
                  <a:sym typeface="Symbol" panose="05050102010706020507" pitchFamily="18" charset="2"/>
                </a:rPr>
                <a:t>2 </a:t>
              </a:r>
              <a:endParaRPr lang="en-US" altLang="zh-CN" sz="2500" b="1" baseline="30000" noProof="1">
                <a:ea typeface="华文新魏" pitchFamily="2" charset="-122"/>
                <a:sym typeface="Symbol" panose="05050102010706020507" pitchFamily="18" charset="2"/>
              </a:endParaRPr>
            </a:p>
            <a:p>
              <a:pPr eaLnBrk="1" hangingPunct="1">
                <a:buFont typeface="Arial" panose="020B0604020202020204" pitchFamily="34" charset="0"/>
                <a:buNone/>
                <a:defRPr/>
              </a:pPr>
              <a:r>
                <a:rPr lang="en-US" altLang="zh-CN" sz="2500" b="1" noProof="1">
                  <a:ea typeface="华文新魏" pitchFamily="2" charset="-122"/>
                  <a:cs typeface="+mn-ea"/>
                  <a:sym typeface="Symbol" panose="05050102010706020507" pitchFamily="18" charset="2"/>
                </a:rPr>
                <a:t>=8.4×10</a:t>
              </a:r>
              <a:r>
                <a:rPr lang="en-US" altLang="zh-CN" sz="2500" b="1" baseline="30000" noProof="1">
                  <a:ea typeface="华文新魏" pitchFamily="2" charset="-122"/>
                  <a:cs typeface="+mn-ea"/>
                  <a:sym typeface="Symbol" panose="05050102010706020507" pitchFamily="18" charset="2"/>
                </a:rPr>
                <a:t>-3 </a:t>
              </a:r>
              <a:r>
                <a:rPr lang="en-US" altLang="zh-CN" sz="2500" b="1" noProof="1">
                  <a:ea typeface="华文新魏" pitchFamily="2" charset="-122"/>
                  <a:cs typeface="+mn-ea"/>
                  <a:sym typeface="Symbol" panose="05050102010706020507" pitchFamily="18" charset="2"/>
                </a:rPr>
                <a:t> (</a:t>
              </a:r>
              <a:r>
                <a:rPr lang="en-US" altLang="zh-CN" sz="2500" b="1" noProof="1">
                  <a:ea typeface="华文新魏" pitchFamily="2" charset="-122"/>
                  <a:cs typeface="+mn-ea"/>
                </a:rPr>
                <a:t>mol·L</a:t>
              </a:r>
              <a:r>
                <a:rPr lang="en-US" altLang="zh-CN" sz="2500" b="1" baseline="30000" noProof="1">
                  <a:ea typeface="华文新魏" pitchFamily="2" charset="-122"/>
                  <a:cs typeface="+mn-ea"/>
                </a:rPr>
                <a:t>-1</a:t>
              </a:r>
              <a:r>
                <a:rPr lang="en-US" altLang="zh-CN" sz="2500" b="1" noProof="1">
                  <a:ea typeface="华文新魏" pitchFamily="2" charset="-122"/>
                  <a:cs typeface="+mn-ea"/>
                  <a:sym typeface="Symbol" panose="05050102010706020507" pitchFamily="18" charset="2"/>
                </a:rPr>
                <a:t>)</a:t>
              </a:r>
              <a:endParaRPr lang="en-US" altLang="zh-CN" sz="2500" b="1" baseline="30000" noProof="1">
                <a:ea typeface="华文新魏" pitchFamily="2" charset="-122"/>
                <a:cs typeface="+mn-ea"/>
                <a:sym typeface="Symbol" panose="05050102010706020507" pitchFamily="18" charset="2"/>
              </a:endParaRPr>
            </a:p>
          </p:txBody>
        </p:sp>
        <p:sp>
          <p:nvSpPr>
            <p:cNvPr id="9241" name="直接连接符 78886"/>
            <p:cNvSpPr>
              <a:spLocks noChangeShapeType="1"/>
            </p:cNvSpPr>
            <p:nvPr/>
          </p:nvSpPr>
          <p:spPr bwMode="auto">
            <a:xfrm flipV="1">
              <a:off x="976" y="1008"/>
              <a:ext cx="2533" cy="2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78861" name="直接连接符 78860"/>
          <p:cNvSpPr>
            <a:spLocks noChangeShapeType="1"/>
          </p:cNvSpPr>
          <p:nvPr/>
        </p:nvSpPr>
        <p:spPr bwMode="auto">
          <a:xfrm>
            <a:off x="4297363" y="2998788"/>
            <a:ext cx="2892425" cy="174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8869" name="矩形 78868"/>
          <p:cNvSpPr>
            <a:spLocks noChangeArrowheads="1"/>
          </p:cNvSpPr>
          <p:nvPr/>
        </p:nvSpPr>
        <p:spPr bwMode="auto">
          <a:xfrm>
            <a:off x="8307388" y="2778125"/>
            <a:ext cx="366712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Font typeface="Arial" pitchFamily="34" charset="0"/>
              <a:buNone/>
            </a:pPr>
            <a:r>
              <a:rPr lang="zh-CN" altLang="zh-CN" sz="2500" b="1" noProof="1">
                <a:ea typeface="华文新魏" pitchFamily="2" charset="-122"/>
              </a:rPr>
              <a:t>=</a:t>
            </a:r>
          </a:p>
        </p:txBody>
      </p:sp>
      <p:sp>
        <p:nvSpPr>
          <p:cNvPr id="78872" name="矩形 78871"/>
          <p:cNvSpPr/>
          <p:nvPr/>
        </p:nvSpPr>
        <p:spPr>
          <a:xfrm>
            <a:off x="8651875" y="2598738"/>
            <a:ext cx="1887538" cy="4778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altLang="zh-CN" sz="2500" b="1" noProof="1">
                <a:ea typeface="华文新魏" pitchFamily="2" charset="-122"/>
                <a:cs typeface="+mn-ea"/>
              </a:rPr>
              <a:t>(1.79×10</a:t>
            </a:r>
            <a:r>
              <a:rPr lang="en-US" altLang="zh-CN" sz="2500" b="1" baseline="30000" noProof="1">
                <a:ea typeface="华文新魏" pitchFamily="2" charset="-122"/>
                <a:cs typeface="+mn-ea"/>
              </a:rPr>
              <a:t>-5</a:t>
            </a:r>
            <a:r>
              <a:rPr lang="en-US" altLang="zh-CN" sz="2500" b="1" noProof="1">
                <a:ea typeface="华文新魏" pitchFamily="2" charset="-122"/>
                <a:cs typeface="+mn-ea"/>
              </a:rPr>
              <a:t>)</a:t>
            </a:r>
            <a:r>
              <a:rPr lang="en-US" altLang="zh-CN" sz="2500" b="1" baseline="30000" noProof="1">
                <a:ea typeface="华文新魏" pitchFamily="2" charset="-122"/>
                <a:cs typeface="+mn-ea"/>
              </a:rPr>
              <a:t>2</a:t>
            </a:r>
            <a:endParaRPr lang="en-US" altLang="zh-CN" sz="2500" b="1" baseline="30000" noProof="1">
              <a:ea typeface="华文新魏" pitchFamily="2" charset="-122"/>
            </a:endParaRPr>
          </a:p>
        </p:txBody>
      </p:sp>
      <p:sp>
        <p:nvSpPr>
          <p:cNvPr id="78866" name="直接连接符 78865"/>
          <p:cNvSpPr>
            <a:spLocks noChangeShapeType="1"/>
          </p:cNvSpPr>
          <p:nvPr/>
        </p:nvSpPr>
        <p:spPr bwMode="auto">
          <a:xfrm>
            <a:off x="7588250" y="2994025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8871" name="直接连接符 78870"/>
          <p:cNvSpPr>
            <a:spLocks noChangeShapeType="1"/>
          </p:cNvSpPr>
          <p:nvPr/>
        </p:nvSpPr>
        <p:spPr bwMode="auto">
          <a:xfrm>
            <a:off x="8596313" y="2994025"/>
            <a:ext cx="1828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238" name="椭圆 62501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auto">
          <a:xfrm>
            <a:off x="71438" y="5688013"/>
            <a:ext cx="360362" cy="360362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Font typeface="Arial" pitchFamily="34" charset="0"/>
              <a:buNone/>
            </a:pPr>
            <a:endParaRPr lang="zh-CN" altLang="en-US"/>
          </a:p>
        </p:txBody>
      </p:sp>
      <p:sp>
        <p:nvSpPr>
          <p:cNvPr id="9239" name="椭圆 68634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auto">
          <a:xfrm>
            <a:off x="11210925" y="5688013"/>
            <a:ext cx="360363" cy="360362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Font typeface="Arial" pitchFamily="34" charset="0"/>
              <a:buNone/>
            </a:pPr>
            <a:endParaRPr lang="zh-CN" altLang="en-US"/>
          </a:p>
        </p:txBody>
      </p:sp>
      <p:sp>
        <p:nvSpPr>
          <p:cNvPr id="29" name="文本框 1"/>
          <p:cNvSpPr txBox="1">
            <a:spLocks noChangeArrowheads="1"/>
          </p:cNvSpPr>
          <p:nvPr/>
        </p:nvSpPr>
        <p:spPr bwMode="auto">
          <a:xfrm>
            <a:off x="207963" y="311129"/>
            <a:ext cx="2757487" cy="430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buFont typeface="Arial" pitchFamily="34" charset="0"/>
              <a:buNone/>
            </a:pPr>
            <a:r>
              <a:rPr lang="zh-CN" altLang="en-US" sz="2200" b="1" dirty="0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</a:rPr>
              <a:t>例</a:t>
            </a:r>
            <a:r>
              <a:rPr lang="en-US" altLang="zh-CN" sz="2200" b="1" dirty="0">
                <a:solidFill>
                  <a:srgbClr val="FFFF00"/>
                </a:solidFill>
                <a:ea typeface="华文新魏" pitchFamily="2" charset="-122"/>
              </a:rPr>
              <a:t>5:</a:t>
            </a:r>
          </a:p>
        </p:txBody>
      </p:sp>
      <p:sp>
        <p:nvSpPr>
          <p:cNvPr id="30" name="矩形 29"/>
          <p:cNvSpPr/>
          <p:nvPr/>
        </p:nvSpPr>
        <p:spPr>
          <a:xfrm>
            <a:off x="3949700" y="357193"/>
            <a:ext cx="608013" cy="4730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fontAlgn="auto" hangingPunct="1">
              <a:buFont typeface="Arial" panose="020B0604020202020204" pitchFamily="34" charset="0"/>
              <a:buNone/>
              <a:defRPr/>
            </a:pPr>
            <a:r>
              <a:rPr lang="zh-CN" altLang="en-US" sz="2500" b="1" noProof="1">
                <a:solidFill>
                  <a:srgbClr val="FFFF00"/>
                </a:solidFill>
                <a:ea typeface="华文新魏" pitchFamily="2" charset="-122"/>
              </a:rPr>
              <a:t>解</a:t>
            </a:r>
            <a:r>
              <a:rPr lang="en-US" altLang="zh-CN" sz="2500" b="1" noProof="1">
                <a:solidFill>
                  <a:srgbClr val="FFFF00"/>
                </a:solidFill>
                <a:ea typeface="华文新魏" pitchFamily="2" charset="-122"/>
              </a:rPr>
              <a:t>:</a:t>
            </a:r>
            <a:endParaRPr lang="en-US" altLang="zh-CN" sz="2500" b="1" noProof="1">
              <a:solidFill>
                <a:srgbClr val="FFFF00"/>
              </a:solidFill>
              <a:effectLst>
                <a:outerShdw blurRad="38100" dist="38100" dir="2700000">
                  <a:srgbClr val="000000"/>
                </a:outerShdw>
              </a:effectLst>
              <a:ea typeface="华文新魏" pitchFamily="2" charset="-122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119045" y="742947"/>
            <a:ext cx="3213100" cy="22113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105000"/>
              </a:lnSpc>
              <a:buFont typeface="Arial" panose="020B0604020202020204" pitchFamily="34" charset="0"/>
              <a:buNone/>
              <a:defRPr/>
            </a:pPr>
            <a:r>
              <a:rPr lang="en-US" altLang="zh-CN" sz="2200" b="1" noProof="1">
                <a:ea typeface="华文新魏" pitchFamily="2" charset="-122"/>
                <a:cs typeface="+mn-ea"/>
              </a:rPr>
              <a:t>10mL0.10 mol·L</a:t>
            </a:r>
            <a:r>
              <a:rPr lang="en-US" altLang="zh-CN" sz="2200" b="1" baseline="30000" noProof="1">
                <a:ea typeface="华文新魏" pitchFamily="2" charset="-122"/>
                <a:cs typeface="+mn-ea"/>
              </a:rPr>
              <a:t>-1</a:t>
            </a:r>
            <a:r>
              <a:rPr lang="en-US" altLang="zh-CN" sz="2200" b="1" noProof="1">
                <a:ea typeface="华文新魏" pitchFamily="2" charset="-122"/>
                <a:cs typeface="+mn-ea"/>
              </a:rPr>
              <a:t> MgCl</a:t>
            </a:r>
            <a:r>
              <a:rPr lang="en-US" altLang="zh-CN" sz="2200" b="1" baseline="-25000" noProof="1">
                <a:ea typeface="华文新魏" pitchFamily="2" charset="-122"/>
                <a:cs typeface="+mn-ea"/>
              </a:rPr>
              <a:t>2</a:t>
            </a:r>
            <a:r>
              <a:rPr lang="zh-CN" altLang="en-US" sz="2200" b="1" noProof="1">
                <a:ea typeface="华文新魏" pitchFamily="2" charset="-122"/>
                <a:cs typeface="+mn-ea"/>
              </a:rPr>
              <a:t>和</a:t>
            </a:r>
            <a:r>
              <a:rPr lang="en-US" altLang="zh-CN" sz="2200" b="1" noProof="1">
                <a:ea typeface="华文新魏" pitchFamily="2" charset="-122"/>
                <a:cs typeface="+mn-ea"/>
              </a:rPr>
              <a:t>10mL 0.010 mol·L</a:t>
            </a:r>
            <a:r>
              <a:rPr lang="en-US" altLang="zh-CN" sz="2200" b="1" baseline="30000" noProof="1">
                <a:ea typeface="华文新魏" pitchFamily="2" charset="-122"/>
                <a:cs typeface="+mn-ea"/>
              </a:rPr>
              <a:t>-1</a:t>
            </a:r>
            <a:r>
              <a:rPr lang="en-US" altLang="zh-CN" sz="2200" b="1" noProof="1">
                <a:ea typeface="华文新魏" pitchFamily="2" charset="-122"/>
                <a:cs typeface="+mn-ea"/>
              </a:rPr>
              <a:t> NH</a:t>
            </a:r>
            <a:r>
              <a:rPr lang="en-US" altLang="zh-CN" sz="2200" b="1" baseline="-25000" noProof="1">
                <a:ea typeface="华文新魏" pitchFamily="2" charset="-122"/>
                <a:cs typeface="+mn-ea"/>
              </a:rPr>
              <a:t>3</a:t>
            </a:r>
            <a:r>
              <a:rPr lang="en-US" altLang="zh-CN" sz="2200" b="1" noProof="1">
                <a:ea typeface="华文新魏" pitchFamily="2" charset="-122"/>
                <a:cs typeface="+mn-ea"/>
              </a:rPr>
              <a:t>·H</a:t>
            </a:r>
            <a:r>
              <a:rPr lang="en-US" altLang="zh-CN" sz="2200" b="1" baseline="-25000" noProof="1">
                <a:ea typeface="华文新魏" pitchFamily="2" charset="-122"/>
                <a:cs typeface="+mn-ea"/>
              </a:rPr>
              <a:t>2</a:t>
            </a:r>
            <a:r>
              <a:rPr lang="en-US" altLang="zh-CN" sz="2200" b="1" noProof="1">
                <a:ea typeface="华文新魏" pitchFamily="2" charset="-122"/>
                <a:cs typeface="+mn-ea"/>
              </a:rPr>
              <a:t>O</a:t>
            </a:r>
            <a:r>
              <a:rPr lang="zh-CN" altLang="en-US" sz="2200" b="1" noProof="1">
                <a:ea typeface="华文新魏" pitchFamily="2" charset="-122"/>
                <a:cs typeface="+mn-ea"/>
              </a:rPr>
              <a:t>相混合</a:t>
            </a:r>
            <a:r>
              <a:rPr lang="en-US" altLang="zh-CN" sz="2200" b="1" noProof="1">
                <a:ea typeface="华文新魏" pitchFamily="2" charset="-122"/>
                <a:cs typeface="+mn-ea"/>
              </a:rPr>
              <a:t>,</a:t>
            </a:r>
            <a:r>
              <a:rPr lang="en-US" altLang="zh-CN" sz="2200" b="1" noProof="1">
                <a:ea typeface="华文新魏" pitchFamily="2" charset="-122"/>
                <a:cs typeface="+mn-ea"/>
                <a:sym typeface="Monotype Sorts" pitchFamily="2" charset="2"/>
              </a:rPr>
              <a:t>①</a:t>
            </a:r>
            <a:r>
              <a:rPr lang="zh-CN" altLang="en-US" sz="2200" b="1" noProof="1">
                <a:ea typeface="华文新魏" pitchFamily="2" charset="-122"/>
                <a:cs typeface="+mn-ea"/>
              </a:rPr>
              <a:t>是否有沉淀生成</a:t>
            </a:r>
            <a:r>
              <a:rPr lang="en-US" altLang="zh-CN" sz="2200" b="1" noProof="1">
                <a:ea typeface="华文新魏" pitchFamily="2" charset="-122"/>
                <a:cs typeface="+mn-ea"/>
              </a:rPr>
              <a:t>? </a:t>
            </a:r>
            <a:r>
              <a:rPr lang="en-US" altLang="zh-CN" sz="2200" b="1" noProof="1">
                <a:ea typeface="华文新魏" pitchFamily="2" charset="-122"/>
                <a:cs typeface="+mn-ea"/>
                <a:sym typeface="Monotype Sorts" pitchFamily="2" charset="2"/>
              </a:rPr>
              <a:t>②</a:t>
            </a:r>
            <a:r>
              <a:rPr lang="zh-CN" altLang="en-US" sz="2200" b="1" noProof="1">
                <a:ea typeface="华文新魏" pitchFamily="2" charset="-122"/>
                <a:cs typeface="+mn-ea"/>
              </a:rPr>
              <a:t>为不使</a:t>
            </a:r>
            <a:r>
              <a:rPr lang="en-US" altLang="zh-CN" sz="2200" b="1" noProof="1">
                <a:ea typeface="华文新魏" pitchFamily="2" charset="-122"/>
                <a:cs typeface="+mn-ea"/>
              </a:rPr>
              <a:t>Mg(OH)</a:t>
            </a:r>
            <a:r>
              <a:rPr lang="en-US" altLang="zh-CN" sz="2200" b="1" baseline="-25000" noProof="1">
                <a:ea typeface="华文新魏" pitchFamily="2" charset="-122"/>
                <a:cs typeface="+mn-ea"/>
              </a:rPr>
              <a:t>2</a:t>
            </a:r>
            <a:r>
              <a:rPr lang="zh-CN" altLang="en-US" sz="2200" b="1" noProof="1">
                <a:ea typeface="华文新魏" pitchFamily="2" charset="-122"/>
                <a:cs typeface="+mn-ea"/>
              </a:rPr>
              <a:t>沉淀析出</a:t>
            </a:r>
            <a:r>
              <a:rPr lang="en-US" altLang="zh-CN" sz="2200" b="1" noProof="1">
                <a:ea typeface="华文新魏" pitchFamily="2" charset="-122"/>
                <a:cs typeface="+mn-ea"/>
              </a:rPr>
              <a:t>,</a:t>
            </a:r>
            <a:r>
              <a:rPr lang="zh-CN" altLang="en-US" sz="2200" b="1" noProof="1">
                <a:ea typeface="华文新魏" pitchFamily="2" charset="-122"/>
                <a:cs typeface="+mn-ea"/>
              </a:rPr>
              <a:t>至少应加入</a:t>
            </a:r>
            <a:r>
              <a:rPr lang="en-US" altLang="zh-CN" sz="2200" b="1" noProof="1">
                <a:ea typeface="华文新魏" pitchFamily="2" charset="-122"/>
                <a:cs typeface="+mn-ea"/>
              </a:rPr>
              <a:t>NH</a:t>
            </a:r>
            <a:r>
              <a:rPr lang="en-US" altLang="zh-CN" sz="2200" b="1" baseline="-25000" noProof="1">
                <a:ea typeface="华文新魏" pitchFamily="2" charset="-122"/>
                <a:cs typeface="+mn-ea"/>
              </a:rPr>
              <a:t>4</a:t>
            </a:r>
            <a:r>
              <a:rPr lang="en-US" altLang="zh-CN" sz="2200" b="1" noProof="1">
                <a:ea typeface="华文新魏" pitchFamily="2" charset="-122"/>
                <a:cs typeface="+mn-ea"/>
              </a:rPr>
              <a:t>Cl</a:t>
            </a:r>
            <a:r>
              <a:rPr lang="zh-CN" altLang="en-US" sz="2200" b="1" noProof="1">
                <a:ea typeface="华文新魏" pitchFamily="2" charset="-122"/>
                <a:cs typeface="+mn-ea"/>
              </a:rPr>
              <a:t>多少克</a:t>
            </a:r>
            <a:r>
              <a:rPr lang="en-US" altLang="zh-CN" sz="2200" b="1" noProof="1">
                <a:ea typeface="华文新魏" pitchFamily="2" charset="-122"/>
                <a:cs typeface="+mn-ea"/>
              </a:rPr>
              <a:t>?</a:t>
            </a:r>
            <a:endParaRPr lang="en-US" altLang="zh-CN" sz="2200" b="1" noProof="1">
              <a:ea typeface="华文新魏" pitchFamily="2" charset="-122"/>
            </a:endParaRP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26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26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788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78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78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78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7886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788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788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78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78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7886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78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2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78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6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78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70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78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78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13000">
                                        <p:cTn display="0" masterRel="sameClick">
                                          <p:stCondLst>
                                            <p:cond evt="begin" delay="0">
                                              <p:tn val="8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NOTIFY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858" grpId="0" build="p"/>
      <p:bldP spid="78859" grpId="0"/>
      <p:bldP spid="78860" grpId="0"/>
      <p:bldP spid="78862" grpId="0"/>
      <p:bldP spid="78864" grpId="0"/>
      <p:bldP spid="78865" grpId="0"/>
      <p:bldP spid="78867" grpId="0"/>
      <p:bldP spid="78868" grpId="0"/>
      <p:bldP spid="78870" grpId="0"/>
      <p:bldP spid="78873" grpId="0"/>
      <p:bldP spid="78861" grpId="0" animBg="1"/>
      <p:bldP spid="78869" grpId="0"/>
      <p:bldP spid="78872" grpId="0"/>
      <p:bldP spid="78866" grpId="0" animBg="1"/>
      <p:bldP spid="7887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文本框 1"/>
          <p:cNvSpPr txBox="1">
            <a:spLocks noChangeArrowheads="1"/>
          </p:cNvSpPr>
          <p:nvPr/>
        </p:nvSpPr>
        <p:spPr bwMode="auto">
          <a:xfrm>
            <a:off x="188913" y="525463"/>
            <a:ext cx="2757487" cy="427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buFont typeface="Arial" pitchFamily="34" charset="0"/>
              <a:buNone/>
            </a:pPr>
            <a:r>
              <a:rPr lang="zh-CN" altLang="en-US" sz="2200" b="1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</a:rPr>
              <a:t>例</a:t>
            </a:r>
            <a:r>
              <a:rPr lang="en-US" altLang="zh-CN" sz="2200" b="1">
                <a:solidFill>
                  <a:srgbClr val="FFFF00"/>
                </a:solidFill>
                <a:ea typeface="华文新魏" pitchFamily="2" charset="-122"/>
              </a:rPr>
              <a:t>6:</a:t>
            </a:r>
          </a:p>
        </p:txBody>
      </p:sp>
      <p:sp>
        <p:nvSpPr>
          <p:cNvPr id="79893" name="矩形 79892"/>
          <p:cNvSpPr>
            <a:spLocks noChangeArrowheads="1"/>
          </p:cNvSpPr>
          <p:nvPr/>
        </p:nvSpPr>
        <p:spPr bwMode="auto">
          <a:xfrm>
            <a:off x="161907" y="882633"/>
            <a:ext cx="3170238" cy="212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buFont typeface="Arial" pitchFamily="34" charset="0"/>
              <a:buNone/>
            </a:pPr>
            <a:r>
              <a:rPr lang="en-US" altLang="zh-CN" sz="2200" b="1" dirty="0">
                <a:ea typeface="华文新魏" pitchFamily="2" charset="-122"/>
              </a:rPr>
              <a:t>0.10 mol·L</a:t>
            </a:r>
            <a:r>
              <a:rPr lang="en-US" altLang="zh-CN" sz="2200" b="1" baseline="30000" dirty="0">
                <a:ea typeface="华文新魏" pitchFamily="2" charset="-122"/>
              </a:rPr>
              <a:t>-1 </a:t>
            </a:r>
            <a:r>
              <a:rPr lang="en-US" altLang="zh-CN" sz="2200" b="1" dirty="0">
                <a:ea typeface="华文新魏" pitchFamily="2" charset="-122"/>
              </a:rPr>
              <a:t>Ni</a:t>
            </a:r>
            <a:r>
              <a:rPr lang="en-US" altLang="zh-CN" sz="2200" b="1" baseline="30000" dirty="0">
                <a:ea typeface="华文新魏" pitchFamily="2" charset="-122"/>
              </a:rPr>
              <a:t>2+</a:t>
            </a:r>
            <a:r>
              <a:rPr lang="zh-CN" altLang="zh-CN" sz="2200" b="1" dirty="0">
                <a:ea typeface="华文新魏" pitchFamily="2" charset="-122"/>
              </a:rPr>
              <a:t>溶液中通</a:t>
            </a:r>
            <a:r>
              <a:rPr lang="en-US" altLang="zh-CN" sz="2200" b="1" dirty="0">
                <a:ea typeface="华文新魏" pitchFamily="2" charset="-122"/>
              </a:rPr>
              <a:t>H</a:t>
            </a:r>
            <a:r>
              <a:rPr lang="en-US" altLang="zh-CN" sz="2200" b="1" baseline="-25000" dirty="0">
                <a:ea typeface="华文新魏" pitchFamily="2" charset="-122"/>
              </a:rPr>
              <a:t>2</a:t>
            </a:r>
            <a:r>
              <a:rPr lang="zh-CN" altLang="zh-CN" sz="2200" b="1" dirty="0">
                <a:ea typeface="华文新魏" pitchFamily="2" charset="-122"/>
              </a:rPr>
              <a:t>S至饱和,使其生成沉淀.计算</a:t>
            </a:r>
            <a:r>
              <a:rPr lang="en-US" altLang="zh-CN" sz="2200" b="1" dirty="0" err="1">
                <a:ea typeface="华文新魏" pitchFamily="2" charset="-122"/>
              </a:rPr>
              <a:t>NiS</a:t>
            </a:r>
            <a:r>
              <a:rPr lang="zh-CN" altLang="en-US" sz="2200" b="1" dirty="0">
                <a:ea typeface="华文新魏" pitchFamily="2" charset="-122"/>
              </a:rPr>
              <a:t>沉淀</a:t>
            </a:r>
            <a:r>
              <a:rPr lang="zh-CN" altLang="zh-CN" sz="2200" b="1" dirty="0">
                <a:ea typeface="华文新魏" pitchFamily="2" charset="-122"/>
              </a:rPr>
              <a:t>开始析出和沉淀完全时溶液的pH.已知</a:t>
            </a:r>
            <a:r>
              <a:rPr lang="en-US" altLang="zh-CN" sz="2200" b="1" i="1" dirty="0" err="1">
                <a:ea typeface="华文新魏" pitchFamily="2" charset="-122"/>
              </a:rPr>
              <a:t>K</a:t>
            </a:r>
            <a:r>
              <a:rPr lang="en-US" altLang="zh-CN" sz="1600" b="1" baseline="100000" dirty="0" err="1">
                <a:ea typeface="华文新魏" pitchFamily="2" charset="-122"/>
                <a:sym typeface="Webdings" pitchFamily="18" charset="2"/>
              </a:rPr>
              <a:t></a:t>
            </a:r>
            <a:r>
              <a:rPr lang="en-US" altLang="zh-CN" sz="2200" b="1" baseline="-25000" dirty="0" err="1">
                <a:ea typeface="华文新魏" pitchFamily="2" charset="-122"/>
                <a:sym typeface="Webdings" pitchFamily="18" charset="2"/>
              </a:rPr>
              <a:t>sp</a:t>
            </a:r>
            <a:r>
              <a:rPr lang="en-US" altLang="zh-CN" sz="2200" b="1" dirty="0">
                <a:ea typeface="华文新魏" pitchFamily="2" charset="-122"/>
              </a:rPr>
              <a:t>(</a:t>
            </a:r>
            <a:r>
              <a:rPr lang="en-US" altLang="zh-CN" sz="2200" b="1" dirty="0" err="1">
                <a:ea typeface="华文新魏" pitchFamily="2" charset="-122"/>
              </a:rPr>
              <a:t>NiS</a:t>
            </a:r>
            <a:r>
              <a:rPr lang="en-US" altLang="zh-CN" sz="2200" b="1" dirty="0">
                <a:ea typeface="华文新魏" pitchFamily="2" charset="-122"/>
              </a:rPr>
              <a:t>) = 1.07×10</a:t>
            </a:r>
            <a:r>
              <a:rPr lang="en-US" altLang="zh-CN" sz="2200" b="1" baseline="30000" dirty="0">
                <a:ea typeface="华文新魏" pitchFamily="2" charset="-122"/>
              </a:rPr>
              <a:t>-21 </a:t>
            </a:r>
            <a:r>
              <a:rPr lang="en-US" altLang="zh-CN" sz="2200" b="1" dirty="0">
                <a:ea typeface="华文新魏" pitchFamily="2" charset="-122"/>
              </a:rPr>
              <a:t>.</a:t>
            </a:r>
          </a:p>
        </p:txBody>
      </p:sp>
      <p:sp>
        <p:nvSpPr>
          <p:cNvPr id="88070" name="矩形 88069"/>
          <p:cNvSpPr/>
          <p:nvPr/>
        </p:nvSpPr>
        <p:spPr>
          <a:xfrm>
            <a:off x="3949700" y="552434"/>
            <a:ext cx="608013" cy="4730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fontAlgn="auto" hangingPunct="1">
              <a:buFont typeface="Arial" panose="020B0604020202020204" pitchFamily="34" charset="0"/>
              <a:buNone/>
              <a:defRPr/>
            </a:pPr>
            <a:r>
              <a:rPr lang="zh-CN" altLang="en-US" sz="2500" b="1" noProof="1">
                <a:solidFill>
                  <a:srgbClr val="FFFF00"/>
                </a:solidFill>
                <a:ea typeface="华文新魏" pitchFamily="2" charset="-122"/>
              </a:rPr>
              <a:t>解</a:t>
            </a:r>
            <a:r>
              <a:rPr lang="en-US" altLang="zh-CN" sz="2500" b="1" noProof="1">
                <a:solidFill>
                  <a:srgbClr val="FFFF00"/>
                </a:solidFill>
                <a:ea typeface="华文新魏" pitchFamily="2" charset="-122"/>
              </a:rPr>
              <a:t>:</a:t>
            </a:r>
            <a:endParaRPr lang="en-US" altLang="zh-CN" sz="2500" b="1" noProof="1">
              <a:solidFill>
                <a:srgbClr val="FFFF00"/>
              </a:solidFill>
              <a:effectLst>
                <a:outerShdw blurRad="38100" dist="38100" dir="2700000">
                  <a:srgbClr val="000000"/>
                </a:outerShdw>
              </a:effectLst>
              <a:ea typeface="华文新魏" pitchFamily="2" charset="-122"/>
            </a:endParaRPr>
          </a:p>
        </p:txBody>
      </p:sp>
      <p:sp>
        <p:nvSpPr>
          <p:cNvPr id="79924" name="矩形 79923"/>
          <p:cNvSpPr>
            <a:spLocks noChangeArrowheads="1"/>
          </p:cNvSpPr>
          <p:nvPr/>
        </p:nvSpPr>
        <p:spPr bwMode="auto">
          <a:xfrm>
            <a:off x="3889375" y="954071"/>
            <a:ext cx="5040313" cy="515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lnSpc>
                <a:spcPct val="110000"/>
              </a:lnSpc>
              <a:buFont typeface="Arial" pitchFamily="34" charset="0"/>
              <a:buNone/>
            </a:pPr>
            <a:r>
              <a:rPr lang="en-US" altLang="zh-CN" sz="2500" b="1">
                <a:ea typeface="华文新魏" pitchFamily="2" charset="-122"/>
              </a:rPr>
              <a:t>        </a:t>
            </a:r>
            <a:r>
              <a:rPr lang="zh-CN" altLang="en-US" sz="2500" b="1">
                <a:ea typeface="华文新魏" pitchFamily="2" charset="-122"/>
              </a:rPr>
              <a:t>开始沉淀</a:t>
            </a:r>
            <a:r>
              <a:rPr lang="en-US" altLang="zh-CN" sz="2500" b="1">
                <a:ea typeface="华文新魏" pitchFamily="2" charset="-122"/>
              </a:rPr>
              <a:t>:[Ni</a:t>
            </a:r>
            <a:r>
              <a:rPr lang="en-US" altLang="zh-CN" sz="2500" b="1" baseline="30000">
                <a:ea typeface="华文新魏" pitchFamily="2" charset="-122"/>
              </a:rPr>
              <a:t>2+</a:t>
            </a:r>
            <a:r>
              <a:rPr lang="en-US" altLang="zh-CN" sz="2500" b="1">
                <a:ea typeface="华文新魏" pitchFamily="2" charset="-122"/>
              </a:rPr>
              <a:t>][S</a:t>
            </a:r>
            <a:r>
              <a:rPr lang="en-US" altLang="zh-CN" sz="2500" b="1" baseline="30000">
                <a:ea typeface="华文新魏" pitchFamily="2" charset="-122"/>
              </a:rPr>
              <a:t>2-</a:t>
            </a:r>
            <a:r>
              <a:rPr lang="en-US" altLang="zh-CN" sz="2500" b="1">
                <a:ea typeface="华文新魏" pitchFamily="2" charset="-122"/>
              </a:rPr>
              <a:t>]≥</a:t>
            </a:r>
            <a:r>
              <a:rPr lang="en-US" altLang="zh-CN" sz="2500" b="1" i="1">
                <a:ea typeface="华文新魏" pitchFamily="2" charset="-122"/>
              </a:rPr>
              <a:t>K</a:t>
            </a:r>
            <a:r>
              <a:rPr lang="en-US" altLang="zh-CN" b="1" baseline="80000">
                <a:ea typeface="华文新魏" pitchFamily="2" charset="-122"/>
                <a:sym typeface="Webdings" pitchFamily="18" charset="2"/>
              </a:rPr>
              <a:t></a:t>
            </a:r>
            <a:r>
              <a:rPr lang="en-US" altLang="zh-CN" sz="2500" b="1" baseline="-25000">
                <a:ea typeface="华文新魏" pitchFamily="2" charset="-122"/>
                <a:sym typeface="Webdings" pitchFamily="18" charset="2"/>
              </a:rPr>
              <a:t>sp</a:t>
            </a:r>
            <a:r>
              <a:rPr lang="en-US" altLang="zh-CN" sz="2500" b="1">
                <a:ea typeface="华文新魏" pitchFamily="2" charset="-122"/>
                <a:sym typeface="Webdings" pitchFamily="18" charset="2"/>
              </a:rPr>
              <a:t>;</a:t>
            </a:r>
            <a:endParaRPr lang="en-US" altLang="zh-CN" sz="2500" b="1" baseline="-25000">
              <a:ea typeface="华文新魏" pitchFamily="2" charset="-122"/>
              <a:sym typeface="Webdings" pitchFamily="18" charset="2"/>
            </a:endParaRPr>
          </a:p>
        </p:txBody>
      </p:sp>
      <p:sp>
        <p:nvSpPr>
          <p:cNvPr id="79926" name="矩形 79925"/>
          <p:cNvSpPr>
            <a:spLocks noChangeArrowheads="1"/>
          </p:cNvSpPr>
          <p:nvPr/>
        </p:nvSpPr>
        <p:spPr bwMode="auto">
          <a:xfrm>
            <a:off x="3889376" y="1433496"/>
            <a:ext cx="7229512" cy="1631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buFont typeface="Arial" pitchFamily="34" charset="0"/>
              <a:buNone/>
            </a:pPr>
            <a:r>
              <a:rPr lang="en-US" altLang="zh-CN" sz="2500" b="1" dirty="0">
                <a:ea typeface="华文新魏" pitchFamily="2" charset="-122"/>
              </a:rPr>
              <a:t>                          </a:t>
            </a:r>
            <a:r>
              <a:rPr lang="zh-CN" altLang="en-US" sz="2500" b="1" dirty="0">
                <a:ea typeface="华文新魏" pitchFamily="2" charset="-122"/>
              </a:rPr>
              <a:t>求得</a:t>
            </a:r>
            <a:r>
              <a:rPr lang="en-US" altLang="zh-CN" sz="2500" b="1" dirty="0">
                <a:ea typeface="华文新魏" pitchFamily="2" charset="-122"/>
              </a:rPr>
              <a:t>[S</a:t>
            </a:r>
            <a:r>
              <a:rPr lang="en-US" altLang="zh-CN" sz="2500" b="1" baseline="30000" dirty="0">
                <a:ea typeface="华文新魏" pitchFamily="2" charset="-122"/>
              </a:rPr>
              <a:t>2-</a:t>
            </a:r>
            <a:r>
              <a:rPr lang="zh-CN" altLang="zh-CN" sz="2500" b="1" dirty="0">
                <a:ea typeface="华文新魏" pitchFamily="2" charset="-122"/>
              </a:rPr>
              <a:t>] = 1.07×10</a:t>
            </a:r>
            <a:r>
              <a:rPr lang="zh-CN" altLang="zh-CN" sz="2500" b="1" baseline="30000" dirty="0">
                <a:ea typeface="华文新魏" pitchFamily="2" charset="-122"/>
              </a:rPr>
              <a:t>-</a:t>
            </a:r>
            <a:r>
              <a:rPr lang="en-US" altLang="zh-CN" sz="2500" b="1" baseline="30000" dirty="0">
                <a:ea typeface="华文新魏" pitchFamily="2" charset="-122"/>
              </a:rPr>
              <a:t>20</a:t>
            </a:r>
            <a:r>
              <a:rPr lang="zh-CN" altLang="zh-CN" sz="2500" b="1" dirty="0">
                <a:ea typeface="华文新魏" pitchFamily="2" charset="-122"/>
              </a:rPr>
              <a:t> </a:t>
            </a:r>
            <a:r>
              <a:rPr lang="en-US" altLang="zh-CN" sz="2500" b="1" dirty="0">
                <a:ea typeface="华文新魏" pitchFamily="2" charset="-122"/>
              </a:rPr>
              <a:t>mol·L</a:t>
            </a:r>
            <a:r>
              <a:rPr lang="en-US" altLang="zh-CN" sz="2500" b="1" baseline="30000" dirty="0">
                <a:ea typeface="华文新魏" pitchFamily="2" charset="-122"/>
              </a:rPr>
              <a:t>-1</a:t>
            </a:r>
            <a:endParaRPr lang="en-US" altLang="zh-CN" sz="2500" b="1" dirty="0">
              <a:ea typeface="华文新魏" pitchFamily="2" charset="-122"/>
            </a:endParaRPr>
          </a:p>
          <a:p>
            <a:pPr eaLnBrk="1" hangingPunct="1">
              <a:buFont typeface="Arial" pitchFamily="34" charset="0"/>
              <a:buNone/>
            </a:pPr>
            <a:r>
              <a:rPr lang="en-US" altLang="zh-CN" sz="2500" b="1" dirty="0">
                <a:ea typeface="华文新魏" pitchFamily="2" charset="-122"/>
              </a:rPr>
              <a:t>                          </a:t>
            </a:r>
            <a:r>
              <a:rPr lang="zh-CN" altLang="en-US" sz="2500" b="1" dirty="0">
                <a:ea typeface="华文新魏" pitchFamily="2" charset="-122"/>
              </a:rPr>
              <a:t>由</a:t>
            </a:r>
            <a:r>
              <a:rPr lang="en-US" altLang="zh-CN" sz="2500" b="1" dirty="0">
                <a:ea typeface="华文新魏" pitchFamily="2" charset="-122"/>
              </a:rPr>
              <a:t>H</a:t>
            </a:r>
            <a:r>
              <a:rPr lang="en-US" altLang="zh-CN" sz="2500" b="1" baseline="-25000" dirty="0">
                <a:ea typeface="华文新魏" pitchFamily="2" charset="-122"/>
              </a:rPr>
              <a:t>2</a:t>
            </a:r>
            <a:r>
              <a:rPr lang="en-US" altLang="zh-CN" sz="2500" b="1" dirty="0">
                <a:ea typeface="华文新魏" pitchFamily="2" charset="-122"/>
              </a:rPr>
              <a:t>S ⇋ 2H</a:t>
            </a:r>
            <a:r>
              <a:rPr lang="en-US" altLang="zh-CN" sz="2500" b="1" baseline="30000" dirty="0">
                <a:ea typeface="华文新魏" pitchFamily="2" charset="-122"/>
              </a:rPr>
              <a:t>+</a:t>
            </a:r>
            <a:r>
              <a:rPr lang="en-US" altLang="zh-CN" sz="2500" b="1" dirty="0">
                <a:ea typeface="华文新魏" pitchFamily="2" charset="-122"/>
              </a:rPr>
              <a:t> + S</a:t>
            </a:r>
            <a:r>
              <a:rPr lang="en-US" altLang="zh-CN" sz="2500" b="1" baseline="30000" dirty="0">
                <a:ea typeface="华文新魏" pitchFamily="2" charset="-122"/>
              </a:rPr>
              <a:t>2-</a:t>
            </a:r>
            <a:r>
              <a:rPr lang="zh-CN" altLang="en-US" sz="2500" b="1" dirty="0">
                <a:ea typeface="华文新魏" pitchFamily="2" charset="-122"/>
              </a:rPr>
              <a:t>求</a:t>
            </a:r>
            <a:r>
              <a:rPr lang="en-US" altLang="zh-CN" sz="2500" b="1" dirty="0">
                <a:ea typeface="华文新魏" pitchFamily="2" charset="-122"/>
              </a:rPr>
              <a:t>[H</a:t>
            </a:r>
            <a:r>
              <a:rPr lang="en-US" altLang="zh-CN" sz="2500" b="1" baseline="30000" dirty="0">
                <a:ea typeface="华文新魏" pitchFamily="2" charset="-122"/>
              </a:rPr>
              <a:t>+</a:t>
            </a:r>
            <a:r>
              <a:rPr lang="en-US" altLang="zh-CN" sz="2500" b="1" dirty="0">
                <a:ea typeface="华文新魏" pitchFamily="2" charset="-122"/>
              </a:rPr>
              <a:t>],</a:t>
            </a:r>
          </a:p>
          <a:p>
            <a:pPr eaLnBrk="1" hangingPunct="1">
              <a:buFont typeface="Arial" pitchFamily="34" charset="0"/>
              <a:buNone/>
            </a:pPr>
            <a:r>
              <a:rPr lang="en-US" altLang="zh-CN" sz="2500" b="1" dirty="0">
                <a:ea typeface="华文新魏" pitchFamily="2" charset="-122"/>
              </a:rPr>
              <a:t>                          [H</a:t>
            </a:r>
            <a:r>
              <a:rPr lang="en-US" altLang="zh-CN" sz="2500" b="1" baseline="30000" dirty="0">
                <a:ea typeface="华文新魏" pitchFamily="2" charset="-122"/>
              </a:rPr>
              <a:t>+</a:t>
            </a:r>
            <a:r>
              <a:rPr lang="zh-CN" altLang="zh-CN" sz="2500" b="1" dirty="0">
                <a:ea typeface="华文新魏" pitchFamily="2" charset="-122"/>
              </a:rPr>
              <a:t>] = 9.2×10</a:t>
            </a:r>
            <a:r>
              <a:rPr lang="zh-CN" altLang="zh-CN" sz="2500" b="1" baseline="30000" dirty="0">
                <a:ea typeface="华文新魏" pitchFamily="2" charset="-122"/>
              </a:rPr>
              <a:t>-2</a:t>
            </a:r>
            <a:r>
              <a:rPr lang="zh-CN" altLang="zh-CN" sz="2500" b="1" dirty="0">
                <a:ea typeface="华文新魏" pitchFamily="2" charset="-122"/>
              </a:rPr>
              <a:t> </a:t>
            </a:r>
            <a:r>
              <a:rPr lang="en-US" altLang="zh-CN" sz="2500" b="1" dirty="0">
                <a:ea typeface="华文新魏" pitchFamily="2" charset="-122"/>
              </a:rPr>
              <a:t>mol·L</a:t>
            </a:r>
            <a:r>
              <a:rPr lang="en-US" altLang="zh-CN" sz="2500" b="1" baseline="30000" dirty="0">
                <a:ea typeface="华文新魏" pitchFamily="2" charset="-122"/>
              </a:rPr>
              <a:t>-1</a:t>
            </a:r>
            <a:endParaRPr lang="en-US" altLang="zh-CN" sz="2500" b="1" dirty="0">
              <a:ea typeface="华文新魏" pitchFamily="2" charset="-122"/>
            </a:endParaRPr>
          </a:p>
          <a:p>
            <a:pPr eaLnBrk="1" hangingPunct="1">
              <a:buFont typeface="Arial" pitchFamily="34" charset="0"/>
              <a:buNone/>
            </a:pPr>
            <a:r>
              <a:rPr lang="en-US" altLang="zh-CN" sz="2500" b="1" dirty="0">
                <a:ea typeface="华文新魏" pitchFamily="2" charset="-122"/>
              </a:rPr>
              <a:t>        </a:t>
            </a:r>
            <a:r>
              <a:rPr lang="zh-CN" altLang="en-US" sz="2500" b="1" dirty="0">
                <a:ea typeface="华文新魏" pitchFamily="2" charset="-122"/>
              </a:rPr>
              <a:t>沉淀完全</a:t>
            </a:r>
            <a:r>
              <a:rPr lang="en-US" altLang="zh-CN" sz="2500" b="1" dirty="0">
                <a:ea typeface="华文新魏" pitchFamily="2" charset="-122"/>
              </a:rPr>
              <a:t>:</a:t>
            </a:r>
            <a:endParaRPr lang="en-US" altLang="zh-CN" sz="2500" b="1" baseline="30000" dirty="0">
              <a:ea typeface="华文新魏" pitchFamily="2" charset="-122"/>
            </a:endParaRPr>
          </a:p>
        </p:txBody>
      </p:sp>
      <p:sp>
        <p:nvSpPr>
          <p:cNvPr id="79933" name="矩形 79932"/>
          <p:cNvSpPr>
            <a:spLocks noChangeArrowheads="1"/>
          </p:cNvSpPr>
          <p:nvPr/>
        </p:nvSpPr>
        <p:spPr bwMode="auto">
          <a:xfrm>
            <a:off x="3997326" y="3028933"/>
            <a:ext cx="6550058" cy="862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buFont typeface="Arial" pitchFamily="34" charset="0"/>
              <a:buNone/>
            </a:pPr>
            <a:r>
              <a:rPr lang="en-US" altLang="zh-CN" sz="2500" b="1" dirty="0">
                <a:ea typeface="华文新魏" pitchFamily="2" charset="-122"/>
              </a:rPr>
              <a:t>                          [S</a:t>
            </a:r>
            <a:r>
              <a:rPr lang="en-US" altLang="zh-CN" sz="2500" b="1" baseline="30000" dirty="0">
                <a:ea typeface="华文新魏" pitchFamily="2" charset="-122"/>
              </a:rPr>
              <a:t>2-</a:t>
            </a:r>
            <a:r>
              <a:rPr lang="zh-CN" altLang="zh-CN" sz="2500" b="1" dirty="0">
                <a:ea typeface="华文新魏" pitchFamily="2" charset="-122"/>
              </a:rPr>
              <a:t>] = 1.07×10</a:t>
            </a:r>
            <a:r>
              <a:rPr lang="zh-CN" altLang="zh-CN" sz="2500" b="1" baseline="30000" dirty="0">
                <a:ea typeface="华文新魏" pitchFamily="2" charset="-122"/>
              </a:rPr>
              <a:t>-</a:t>
            </a:r>
            <a:r>
              <a:rPr lang="en-US" altLang="zh-CN" sz="2500" b="1" baseline="30000" dirty="0">
                <a:ea typeface="华文新魏" pitchFamily="2" charset="-122"/>
              </a:rPr>
              <a:t>16</a:t>
            </a:r>
            <a:r>
              <a:rPr lang="zh-CN" altLang="zh-CN" sz="2500" b="1" dirty="0">
                <a:ea typeface="华文新魏" pitchFamily="2" charset="-122"/>
              </a:rPr>
              <a:t> </a:t>
            </a:r>
            <a:r>
              <a:rPr lang="en-US" altLang="zh-CN" sz="2500" b="1" dirty="0">
                <a:ea typeface="华文新魏" pitchFamily="2" charset="-122"/>
              </a:rPr>
              <a:t>mol·L</a:t>
            </a:r>
            <a:r>
              <a:rPr lang="en-US" altLang="zh-CN" sz="2500" b="1" baseline="30000" dirty="0">
                <a:ea typeface="华文新魏" pitchFamily="2" charset="-122"/>
              </a:rPr>
              <a:t>-1</a:t>
            </a:r>
            <a:endParaRPr lang="en-US" altLang="zh-CN" sz="2500" b="1" dirty="0">
              <a:ea typeface="华文新魏" pitchFamily="2" charset="-122"/>
            </a:endParaRPr>
          </a:p>
          <a:p>
            <a:pPr eaLnBrk="1" hangingPunct="1">
              <a:buFont typeface="Arial" pitchFamily="34" charset="0"/>
              <a:buNone/>
            </a:pPr>
            <a:r>
              <a:rPr lang="en-US" altLang="zh-CN" sz="2500" b="1" dirty="0">
                <a:ea typeface="华文新魏" pitchFamily="2" charset="-122"/>
              </a:rPr>
              <a:t>                          [H</a:t>
            </a:r>
            <a:r>
              <a:rPr lang="en-US" altLang="zh-CN" sz="2500" b="1" baseline="30000" dirty="0">
                <a:ea typeface="华文新魏" pitchFamily="2" charset="-122"/>
              </a:rPr>
              <a:t>+</a:t>
            </a:r>
            <a:r>
              <a:rPr lang="zh-CN" altLang="zh-CN" sz="2500" b="1" dirty="0">
                <a:ea typeface="华文新魏" pitchFamily="2" charset="-122"/>
              </a:rPr>
              <a:t>] = 9.3×10</a:t>
            </a:r>
            <a:r>
              <a:rPr lang="zh-CN" altLang="zh-CN" sz="2500" b="1" baseline="30000" dirty="0">
                <a:ea typeface="华文新魏" pitchFamily="2" charset="-122"/>
              </a:rPr>
              <a:t>-</a:t>
            </a:r>
            <a:r>
              <a:rPr lang="en-US" altLang="zh-CN" sz="2500" b="1" baseline="30000" dirty="0">
                <a:ea typeface="华文新魏" pitchFamily="2" charset="-122"/>
              </a:rPr>
              <a:t>4</a:t>
            </a:r>
            <a:r>
              <a:rPr lang="zh-CN" altLang="zh-CN" sz="2500" b="1" dirty="0">
                <a:ea typeface="华文新魏" pitchFamily="2" charset="-122"/>
              </a:rPr>
              <a:t> </a:t>
            </a:r>
            <a:r>
              <a:rPr lang="en-US" altLang="zh-CN" sz="2500" b="1" dirty="0">
                <a:ea typeface="华文新魏" pitchFamily="2" charset="-122"/>
              </a:rPr>
              <a:t>mol·L</a:t>
            </a:r>
            <a:r>
              <a:rPr lang="en-US" altLang="zh-CN" sz="2500" b="1" baseline="30000" dirty="0">
                <a:ea typeface="华文新魏" pitchFamily="2" charset="-122"/>
              </a:rPr>
              <a:t>-1</a:t>
            </a:r>
          </a:p>
        </p:txBody>
      </p:sp>
      <p:sp>
        <p:nvSpPr>
          <p:cNvPr id="79934" name="矩形 79933"/>
          <p:cNvSpPr/>
          <p:nvPr/>
        </p:nvSpPr>
        <p:spPr>
          <a:xfrm>
            <a:off x="3889375" y="3952858"/>
            <a:ext cx="7372388" cy="477838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zh-CN" altLang="en-US" sz="2500" b="1" noProof="1">
                <a:solidFill>
                  <a:srgbClr val="FF00FF"/>
                </a:solidFill>
                <a:effectLst>
                  <a:outerShdw blurRad="38100" dist="38100" dir="2700000">
                    <a:srgbClr val="000000"/>
                  </a:outerShdw>
                </a:effectLst>
                <a:ea typeface="华文新魏" pitchFamily="2" charset="-122"/>
                <a:cs typeface="+mn-ea"/>
                <a:sym typeface="Symbol" panose="05050102010706020507" pitchFamily="18" charset="2"/>
              </a:rPr>
              <a:t>注意</a:t>
            </a:r>
            <a:r>
              <a:rPr lang="en-US" altLang="zh-CN" sz="2500" b="1" noProof="1">
                <a:solidFill>
                  <a:srgbClr val="FF00FF"/>
                </a:solidFill>
                <a:effectLst>
                  <a:outerShdw blurRad="38100" dist="38100" dir="2700000">
                    <a:srgbClr val="000000"/>
                  </a:outerShdw>
                </a:effectLst>
                <a:ea typeface="华文新魏" pitchFamily="2" charset="-122"/>
                <a:cs typeface="+mn-ea"/>
                <a:sym typeface="Symbol" panose="05050102010706020507" pitchFamily="18" charset="2"/>
              </a:rPr>
              <a:t>:</a:t>
            </a:r>
            <a:r>
              <a:rPr lang="en-US" altLang="zh-CN" sz="2500" b="1" noProof="1">
                <a:ea typeface="华文新魏" pitchFamily="2" charset="-122"/>
                <a:cs typeface="+mn-ea"/>
                <a:sym typeface="Symbol" panose="05050102010706020507" pitchFamily="18" charset="2"/>
              </a:rPr>
              <a:t> [H</a:t>
            </a:r>
            <a:r>
              <a:rPr lang="en-US" altLang="zh-CN" sz="2500" b="1" baseline="30000" noProof="1">
                <a:ea typeface="华文新魏" pitchFamily="2" charset="-122"/>
                <a:cs typeface="+mn-ea"/>
                <a:sym typeface="Symbol" panose="05050102010706020507" pitchFamily="18" charset="2"/>
              </a:rPr>
              <a:t>+</a:t>
            </a:r>
            <a:r>
              <a:rPr lang="en-US" altLang="zh-CN" sz="2500" b="1" noProof="1">
                <a:ea typeface="华文新魏" pitchFamily="2" charset="-122"/>
                <a:cs typeface="+mn-ea"/>
                <a:sym typeface="Symbol" panose="05050102010706020507" pitchFamily="18" charset="2"/>
              </a:rPr>
              <a:t>]</a:t>
            </a:r>
            <a:r>
              <a:rPr lang="en-US" altLang="zh-CN" sz="2500" b="1" baseline="-25000" noProof="1">
                <a:ea typeface="华文新魏" pitchFamily="2" charset="-122"/>
                <a:cs typeface="+mn-ea"/>
                <a:sym typeface="Symbol" panose="05050102010706020507" pitchFamily="18" charset="2"/>
              </a:rPr>
              <a:t>max</a:t>
            </a:r>
            <a:r>
              <a:rPr lang="zh-CN" altLang="en-US" sz="2500" b="1" noProof="1">
                <a:ea typeface="华文新魏" pitchFamily="2" charset="-122"/>
                <a:cs typeface="+mn-ea"/>
                <a:sym typeface="Symbol" panose="05050102010706020507" pitchFamily="18" charset="2"/>
              </a:rPr>
              <a:t>是原有</a:t>
            </a:r>
            <a:r>
              <a:rPr lang="en-US" altLang="zh-CN" sz="2500" b="1" noProof="1">
                <a:ea typeface="华文新魏" pitchFamily="2" charset="-122"/>
                <a:cs typeface="+mn-ea"/>
                <a:sym typeface="Symbol" panose="05050102010706020507" pitchFamily="18" charset="2"/>
              </a:rPr>
              <a:t>H</a:t>
            </a:r>
            <a:r>
              <a:rPr lang="en-US" altLang="zh-CN" sz="2500" b="1" baseline="30000" noProof="1">
                <a:ea typeface="华文新魏" pitchFamily="2" charset="-122"/>
                <a:cs typeface="+mn-ea"/>
                <a:sym typeface="Symbol" panose="05050102010706020507" pitchFamily="18" charset="2"/>
              </a:rPr>
              <a:t>+</a:t>
            </a:r>
            <a:r>
              <a:rPr lang="zh-CN" altLang="en-US" sz="2500" b="1" noProof="1">
                <a:ea typeface="华文新魏" pitchFamily="2" charset="-122"/>
                <a:cs typeface="+mn-ea"/>
                <a:sym typeface="Symbol" panose="05050102010706020507" pitchFamily="18" charset="2"/>
              </a:rPr>
              <a:t>及反应中产生的</a:t>
            </a:r>
            <a:r>
              <a:rPr lang="en-US" altLang="zh-CN" sz="2500" b="1" noProof="1">
                <a:ea typeface="华文新魏" pitchFamily="2" charset="-122"/>
                <a:cs typeface="+mn-ea"/>
                <a:sym typeface="Symbol" panose="05050102010706020507" pitchFamily="18" charset="2"/>
              </a:rPr>
              <a:t>H</a:t>
            </a:r>
            <a:r>
              <a:rPr lang="en-US" altLang="zh-CN" sz="2500" b="1" baseline="30000" noProof="1">
                <a:ea typeface="华文新魏" pitchFamily="2" charset="-122"/>
                <a:cs typeface="+mn-ea"/>
                <a:sym typeface="Symbol" panose="05050102010706020507" pitchFamily="18" charset="2"/>
              </a:rPr>
              <a:t>+</a:t>
            </a:r>
            <a:r>
              <a:rPr lang="zh-CN" altLang="en-US" sz="2500" b="1" noProof="1">
                <a:ea typeface="华文新魏" pitchFamily="2" charset="-122"/>
                <a:cs typeface="+mn-ea"/>
                <a:sym typeface="Symbol" panose="05050102010706020507" pitchFamily="18" charset="2"/>
              </a:rPr>
              <a:t>浓度之和</a:t>
            </a:r>
            <a:r>
              <a:rPr lang="en-US" altLang="zh-CN" sz="2500" b="1" noProof="1">
                <a:ea typeface="华文新魏" pitchFamily="2" charset="-122"/>
                <a:cs typeface="+mn-ea"/>
                <a:sym typeface="Symbol" panose="05050102010706020507" pitchFamily="18" charset="2"/>
              </a:rPr>
              <a:t>.                                                            </a:t>
            </a:r>
            <a:endParaRPr lang="en-US" altLang="zh-CN" sz="2500" b="1" noProof="1">
              <a:solidFill>
                <a:srgbClr val="FF3300"/>
              </a:solidFill>
              <a:ea typeface="华文新魏" pitchFamily="2" charset="-122"/>
              <a:sym typeface="Symbol" panose="05050102010706020507" pitchFamily="18" charset="2"/>
            </a:endParaRPr>
          </a:p>
        </p:txBody>
      </p:sp>
      <p:sp>
        <p:nvSpPr>
          <p:cNvPr id="10249" name="椭圆 62501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auto">
          <a:xfrm>
            <a:off x="71438" y="5688013"/>
            <a:ext cx="360362" cy="360362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Font typeface="Arial" pitchFamily="34" charset="0"/>
              <a:buNone/>
            </a:pPr>
            <a:endParaRPr lang="zh-CN" altLang="en-US"/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8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99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99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99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99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99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799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799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7993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NOTIFY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070" grpId="0"/>
      <p:bldP spid="79924" grpId="0" build="p"/>
      <p:bldP spid="79926" grpId="0" build="p"/>
      <p:bldP spid="79933" grpId="0" build="p"/>
      <p:bldP spid="79934" grpId="0"/>
    </p:bldLst>
  </p:timing>
</p:sld>
</file>

<file path=ppt/theme/theme1.xml><?xml version="1.0" encoding="utf-8"?>
<a:theme xmlns:a="http://schemas.openxmlformats.org/drawingml/2006/main" name="医学研究PPT模板">
  <a:themeElements>
    <a:clrScheme name="医学研究PPT模板 1">
      <a:dk1>
        <a:srgbClr val="FFFFFF"/>
      </a:dk1>
      <a:lt1>
        <a:srgbClr val="FFFFFF"/>
      </a:lt1>
      <a:dk2>
        <a:srgbClr val="000000"/>
      </a:dk2>
      <a:lt2>
        <a:srgbClr val="000000"/>
      </a:lt2>
      <a:accent1>
        <a:srgbClr val="000000"/>
      </a:accent1>
      <a:accent2>
        <a:srgbClr val="FF00FF"/>
      </a:accent2>
      <a:accent3>
        <a:srgbClr val="FFFFFF"/>
      </a:accent3>
      <a:accent4>
        <a:srgbClr val="DADADA"/>
      </a:accent4>
      <a:accent5>
        <a:srgbClr val="AAAAAA"/>
      </a:accent5>
      <a:accent6>
        <a:srgbClr val="E700E7"/>
      </a:accent6>
      <a:hlink>
        <a:srgbClr val="FF9900"/>
      </a:hlink>
      <a:folHlink>
        <a:srgbClr val="3333CC"/>
      </a:folHlink>
    </a:clrScheme>
    <a:fontScheme name="医学研究PPT模板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医学研究PPT模板 1">
        <a:dk1>
          <a:srgbClr val="200B5B"/>
        </a:dk1>
        <a:lt1>
          <a:srgbClr val="EAEAEA"/>
        </a:lt1>
        <a:dk2>
          <a:srgbClr val="6600FF"/>
        </a:dk2>
        <a:lt2>
          <a:srgbClr val="FFCC66"/>
        </a:lt2>
        <a:accent1>
          <a:srgbClr val="EEB00B"/>
        </a:accent1>
        <a:accent2>
          <a:srgbClr val="6600CC"/>
        </a:accent2>
        <a:accent3>
          <a:srgbClr val="B8AAFF"/>
        </a:accent3>
        <a:accent4>
          <a:srgbClr val="C8C8C8"/>
        </a:accent4>
        <a:accent5>
          <a:srgbClr val="F5D4AA"/>
        </a:accent5>
        <a:accent6>
          <a:srgbClr val="5C00B9"/>
        </a:accent6>
        <a:hlink>
          <a:srgbClr val="FF33CC"/>
        </a:hlink>
        <a:folHlink>
          <a:srgbClr val="CC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医学研究PPT模板 2">
        <a:dk1>
          <a:srgbClr val="393939"/>
        </a:dk1>
        <a:lt1>
          <a:srgbClr val="FFFFFF"/>
        </a:lt1>
        <a:dk2>
          <a:srgbClr val="6600CC"/>
        </a:dk2>
        <a:lt2>
          <a:srgbClr val="CCCCFF"/>
        </a:lt2>
        <a:accent1>
          <a:srgbClr val="F9D87E"/>
        </a:accent1>
        <a:accent2>
          <a:srgbClr val="FFCCCC"/>
        </a:accent2>
        <a:accent3>
          <a:srgbClr val="FFFFFF"/>
        </a:accent3>
        <a:accent4>
          <a:srgbClr val="2F2F2F"/>
        </a:accent4>
        <a:accent5>
          <a:srgbClr val="FBE9C0"/>
        </a:accent5>
        <a:accent6>
          <a:srgbClr val="E7B9B9"/>
        </a:accent6>
        <a:hlink>
          <a:srgbClr val="FFCC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555555"/>
        </a:accent6>
        <a:hlink>
          <a:srgbClr val="969696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4">
        <a:dk1>
          <a:srgbClr val="330000"/>
        </a:dk1>
        <a:lt1>
          <a:srgbClr val="FFFFCC"/>
        </a:lt1>
        <a:dk2>
          <a:srgbClr val="000000"/>
        </a:dk2>
        <a:lt2>
          <a:srgbClr val="FFCC00"/>
        </a:lt2>
        <a:accent1>
          <a:srgbClr val="FF9900"/>
        </a:accent1>
        <a:accent2>
          <a:srgbClr val="330099"/>
        </a:accent2>
        <a:accent3>
          <a:srgbClr val="AAAAAA"/>
        </a:accent3>
        <a:accent4>
          <a:srgbClr val="DADAAE"/>
        </a:accent4>
        <a:accent5>
          <a:srgbClr val="FFCAAA"/>
        </a:accent5>
        <a:accent6>
          <a:srgbClr val="2D008A"/>
        </a:accent6>
        <a:hlink>
          <a:srgbClr val="FF6633"/>
        </a:hlink>
        <a:folHlink>
          <a:srgbClr val="66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医学研究PPT模板 5">
        <a:dk1>
          <a:srgbClr val="333300"/>
        </a:dk1>
        <a:lt1>
          <a:srgbClr val="DDDDDD"/>
        </a:lt1>
        <a:dk2>
          <a:srgbClr val="996600"/>
        </a:dk2>
        <a:lt2>
          <a:srgbClr val="FFCC66"/>
        </a:lt2>
        <a:accent1>
          <a:srgbClr val="EEB00B"/>
        </a:accent1>
        <a:accent2>
          <a:srgbClr val="330099"/>
        </a:accent2>
        <a:accent3>
          <a:srgbClr val="CAB8AA"/>
        </a:accent3>
        <a:accent4>
          <a:srgbClr val="BDBDBD"/>
        </a:accent4>
        <a:accent5>
          <a:srgbClr val="F5D4AA"/>
        </a:accent5>
        <a:accent6>
          <a:srgbClr val="2D008A"/>
        </a:accent6>
        <a:hlink>
          <a:srgbClr val="FF6633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医学研究PPT模板 6">
        <a:dk1>
          <a:srgbClr val="003300"/>
        </a:dk1>
        <a:lt1>
          <a:srgbClr val="FFFFCC"/>
        </a:lt1>
        <a:dk2>
          <a:srgbClr val="999933"/>
        </a:dk2>
        <a:lt2>
          <a:srgbClr val="FFFF66"/>
        </a:lt2>
        <a:accent1>
          <a:srgbClr val="CC9900"/>
        </a:accent1>
        <a:accent2>
          <a:srgbClr val="330099"/>
        </a:accent2>
        <a:accent3>
          <a:srgbClr val="CACAAD"/>
        </a:accent3>
        <a:accent4>
          <a:srgbClr val="DADAAE"/>
        </a:accent4>
        <a:accent5>
          <a:srgbClr val="E2CAAA"/>
        </a:accent5>
        <a:accent6>
          <a:srgbClr val="2D008A"/>
        </a:accent6>
        <a:hlink>
          <a:srgbClr val="FF9900"/>
        </a:hlink>
        <a:folHlink>
          <a:srgbClr val="FF66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医学研究PPT模板 1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555555"/>
        </a:accent6>
        <a:hlink>
          <a:srgbClr val="969696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2">
        <a:dk1>
          <a:srgbClr val="000000"/>
        </a:dk1>
        <a:lt1>
          <a:srgbClr val="FFFFFF"/>
        </a:lt1>
        <a:dk2>
          <a:srgbClr val="000000"/>
        </a:dk2>
        <a:lt2>
          <a:srgbClr val="000000"/>
        </a:lt2>
        <a:accent1>
          <a:srgbClr val="FF0000"/>
        </a:accent1>
        <a:accent2>
          <a:srgbClr val="FF00FF"/>
        </a:accent2>
        <a:accent3>
          <a:srgbClr val="FFFFFF"/>
        </a:accent3>
        <a:accent4>
          <a:srgbClr val="000000"/>
        </a:accent4>
        <a:accent5>
          <a:srgbClr val="FF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3">
        <a:dk1>
          <a:srgbClr val="FFFFFF"/>
        </a:dk1>
        <a:lt1>
          <a:srgbClr val="FFFFFF"/>
        </a:lt1>
        <a:dk2>
          <a:srgbClr val="000000"/>
        </a:dk2>
        <a:lt2>
          <a:srgbClr val="000000"/>
        </a:lt2>
        <a:accent1>
          <a:srgbClr val="FF0000"/>
        </a:accent1>
        <a:accent2>
          <a:srgbClr val="FF00FF"/>
        </a:accent2>
        <a:accent3>
          <a:srgbClr val="FFFFFF"/>
        </a:accent3>
        <a:accent4>
          <a:srgbClr val="DADADA"/>
        </a:accent4>
        <a:accent5>
          <a:srgbClr val="FF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1">
        <a:dk1>
          <a:srgbClr val="FFFFFF"/>
        </a:dk1>
        <a:lt1>
          <a:srgbClr val="FFFFFF"/>
        </a:lt1>
        <a:dk2>
          <a:srgbClr val="000000"/>
        </a:dk2>
        <a:lt2>
          <a:srgbClr val="000000"/>
        </a:lt2>
        <a:accent1>
          <a:srgbClr val="000000"/>
        </a:accent1>
        <a:accent2>
          <a:srgbClr val="FF00FF"/>
        </a:accent2>
        <a:accent3>
          <a:srgbClr val="FFFFFF"/>
        </a:accent3>
        <a:accent4>
          <a:srgbClr val="DADADA"/>
        </a:accent4>
        <a:accent5>
          <a:srgbClr val="AA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</TotalTime>
  <Pages>0</Pages>
  <Words>841</Words>
  <Characters>0</Characters>
  <Application>Microsoft Office PowerPoint</Application>
  <DocSecurity>0</DocSecurity>
  <PresentationFormat>自定义</PresentationFormat>
  <Lines>0</Lines>
  <Paragraphs>94</Paragraphs>
  <Slides>9</Slides>
  <Notes>3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1" baseType="lpstr">
      <vt:lpstr>医学研究PPT模板</vt:lpstr>
      <vt:lpstr>Microsoft Equation 3.0</vt:lpstr>
      <vt:lpstr>幻灯片 1</vt:lpstr>
      <vt:lpstr>幻灯片 2</vt:lpstr>
      <vt:lpstr>幻灯片 3</vt:lpstr>
      <vt:lpstr>幻灯片 4</vt:lpstr>
      <vt:lpstr>幻灯片 5</vt:lpstr>
      <vt:lpstr>幻灯片 6</vt:lpstr>
      <vt:lpstr>幻灯片 7</vt:lpstr>
      <vt:lpstr>幻灯片 8</vt:lpstr>
      <vt:lpstr>幻灯片 9</vt:lpstr>
    </vt:vector>
  </TitlesOfParts>
  <Manager/>
  <Company/>
  <LinksUpToDate>false</LinksUpToDate>
  <CharactersWithSpaces>0</CharactersWithSpaces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04-04例1</dc:title>
  <dc:subject/>
  <dc:creator>江南大学 商少明、汪云、李玲</dc:creator>
  <cp:keywords/>
  <dc:description/>
  <cp:lastModifiedBy>ASUS</cp:lastModifiedBy>
  <cp:revision>273</cp:revision>
  <dcterms:created xsi:type="dcterms:W3CDTF">2012-06-20T03:37:37Z</dcterms:created>
  <dcterms:modified xsi:type="dcterms:W3CDTF">2017-08-20T02:35:14Z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r8>1</vt:r8>
  </property>
  <property fmtid="{D5CDD505-2E9C-101B-9397-08002B2CF9AE}" pid="3" name="KSOProductBuildVer">
    <vt:lpwstr>2052-10.1.0.6156</vt:lpwstr>
  </property>
</Properties>
</file>