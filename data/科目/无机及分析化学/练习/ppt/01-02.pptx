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19"/>
  </p:notesMasterIdLst>
  <p:handoutMasterIdLst>
    <p:handoutMasterId r:id="rId20"/>
  </p:handoutMasterIdLst>
  <p:sldIdLst>
    <p:sldId id="29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306" r:id="rId12"/>
    <p:sldId id="289" r:id="rId13"/>
    <p:sldId id="290" r:id="rId14"/>
    <p:sldId id="291" r:id="rId15"/>
    <p:sldId id="298" r:id="rId16"/>
    <p:sldId id="299" r:id="rId17"/>
    <p:sldId id="292" r:id="rId18"/>
  </p:sldIdLst>
  <p:sldSz cx="11522075" cy="6480175"/>
  <p:notesSz cx="6858000" cy="9144000"/>
  <p:custDataLst>
    <p:tags r:id="rId2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4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CCFF"/>
    <a:srgbClr val="CCECFF"/>
    <a:srgbClr val="FFFFFF"/>
    <a:srgbClr val="FFFF00"/>
    <a:srgbClr val="F8F8F8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0" autoAdjust="0"/>
  </p:normalViewPr>
  <p:slideViewPr>
    <p:cSldViewPr>
      <p:cViewPr varScale="1">
        <p:scale>
          <a:sx n="73" d="100"/>
          <a:sy n="73" d="100"/>
        </p:scale>
        <p:origin x="750" y="66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9D9F824C-9FFE-4C71-9BED-6F94DC026030}" type="datetimeFigureOut">
              <a:rPr lang="zh-CN" altLang="en-US"/>
              <a:pPr>
                <a:defRPr/>
              </a:pPr>
              <a:t>2021/9/13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C5D4F983-46C5-451C-8560-4B6D2C75946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4F9CA3EA-2DD5-42FC-A411-E7B9E7334A48}" type="datetimeFigureOut">
              <a:rPr lang="zh-CN" altLang="en-US"/>
              <a:pPr>
                <a:defRPr/>
              </a:pPr>
              <a:t>2021/9/13</a:t>
            </a:fld>
            <a:endParaRPr lang="en-US" altLang="zh-CN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5511CCDF-45E8-4DC6-B867-087C0883C1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CBBDAD8D-2A24-4743-B00E-C7A6D494133C}" type="datetime1">
              <a:rPr lang="zh-CN" altLang="en-US" smtClean="0">
                <a:ea typeface="宋体" charset="-122"/>
              </a:rPr>
              <a:pPr/>
              <a:t>2021/9/13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017994B8-98BC-45EA-8801-33A80982647A}" type="datetime1">
              <a:rPr lang="zh-CN" altLang="en-US" smtClean="0">
                <a:ea typeface="宋体" charset="-122"/>
              </a:rPr>
              <a:pPr/>
              <a:t>2021/9/13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A59185FC-BBC9-4628-B7E1-E669552D2300}" type="datetime1">
              <a:rPr lang="zh-CN" altLang="en-US" smtClean="0">
                <a:ea typeface="宋体" charset="-122"/>
              </a:rPr>
              <a:pPr/>
              <a:t>2021/9/13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35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E46DF15-3373-47BF-A7CF-9C58B16D8E22}" type="datetime1">
              <a:rPr lang="zh-CN" altLang="en-US" smtClean="0">
                <a:ea typeface="宋体" charset="-122"/>
              </a:rPr>
              <a:pPr/>
              <a:t>2021/9/13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45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9175773-E344-410F-A777-747A84CF37E1}" type="datetime1">
              <a:rPr lang="zh-CN" altLang="en-US" smtClean="0">
                <a:ea typeface="宋体" charset="-122"/>
              </a:rPr>
              <a:pPr/>
              <a:t>2021/9/13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56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12781 w 5269"/>
                <a:gd name="T1" fmla="*/ 0 h 2977"/>
                <a:gd name="T2" fmla="*/ 0 w 5269"/>
                <a:gd name="T3" fmla="*/ 0 h 2977"/>
                <a:gd name="T4" fmla="*/ 0 w 5269"/>
                <a:gd name="T5" fmla="*/ 3607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3077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1039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40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41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0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12781 w 5269"/>
                <a:gd name="T1" fmla="*/ 0 h 2977"/>
                <a:gd name="T2" fmla="*/ 12781 w 5269"/>
                <a:gd name="T3" fmla="*/ 3607 h 2977"/>
                <a:gd name="T4" fmla="*/ 0 w 5269"/>
                <a:gd name="T5" fmla="*/ 3607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1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3080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6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37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38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3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4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5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3075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1-03.pptx" TargetMode="External"/><Relationship Id="rId2" Type="http://schemas.openxmlformats.org/officeDocument/2006/relationships/hyperlink" Target="01-01.pptx" TargetMode="Externa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4.jpeg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3.wav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10.jpeg"/><Relationship Id="rId4" Type="http://schemas.openxmlformats.org/officeDocument/2006/relationships/audio" Target="../media/audio3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audio" Target="../media/audio4.wav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.jpe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1/01-02-&#20363;&#39064;.ppt#-1,2,&#24187;&#28783;&#29255; 2" TargetMode="External"/><Relationship Id="rId2" Type="http://schemas.openxmlformats.org/officeDocument/2006/relationships/hyperlink" Target="../../03EXAMPLE/ch01/01-02-&#20363;&#39064;.ppt#-1,1,&#24187;&#28783;&#29255; 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01-03.pptx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89401" y="1525575"/>
            <a:ext cx="32480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  <a:hlinkClick r:id="rId2" action="ppaction://hlinkpres?slideindex=1&amp;slidetitle="/>
              </a:rPr>
              <a:t>1.1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定量分析概述</a:t>
            </a:r>
            <a:endParaRPr lang="en-US" altLang="zh-CN" sz="2800" b="1" dirty="0" smtClean="0">
              <a:solidFill>
                <a:srgbClr val="FFFF00"/>
              </a:solidFill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</a:rPr>
              <a:t>1.2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误差与数据处理</a:t>
            </a:r>
            <a:endParaRPr lang="en-US" altLang="zh-CN" sz="2800" b="1" dirty="0" smtClean="0"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  <a:hlinkClick r:id="rId3" action="ppaction://hlinkpres?slideindex=1&amp;slidetitle="/>
              </a:rPr>
              <a:t>1.3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有效数字</a:t>
            </a:r>
            <a:endParaRPr lang="zh-CN" altLang="en-US" sz="2800" b="1" dirty="0">
              <a:latin typeface="+mn-lt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17788" y="1382713"/>
            <a:ext cx="6291262" cy="5238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800" smtClean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楷体_GB2312" pitchFamily="49" charset="-122"/>
              </a:rPr>
              <a:t>1.2.1</a:t>
            </a:r>
            <a:r>
              <a:rPr lang="zh-CN" altLang="en-US" sz="2800" smtClean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楷体_GB2312" pitchFamily="49" charset="-122"/>
              </a:rPr>
              <a:t>误差的分类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/>
          </p:nvPr>
        </p:nvSpPr>
        <p:spPr>
          <a:xfrm>
            <a:off x="403225" y="311150"/>
            <a:ext cx="9890125" cy="430213"/>
          </a:xfrm>
        </p:spPr>
        <p:txBody>
          <a:bodyPr/>
          <a:lstStyle/>
          <a:p>
            <a:r>
              <a:rPr lang="en-US" altLang="zh-CN" smtClean="0">
                <a:latin typeface="黑体" pitchFamily="49" charset="-122"/>
                <a:ea typeface="黑体" pitchFamily="49" charset="-122"/>
              </a:rPr>
              <a:t>1.2</a:t>
            </a:r>
            <a:r>
              <a:rPr lang="zh-CN" altLang="en-US" smtClean="0">
                <a:latin typeface="黑体" pitchFamily="49" charset="-122"/>
                <a:ea typeface="黑体" pitchFamily="49" charset="-122"/>
              </a:rPr>
              <a:t>误差与数据处理</a:t>
            </a:r>
            <a:r>
              <a:rPr lang="en-US" altLang="zh-CN" smtClean="0">
                <a:latin typeface="黑体" pitchFamily="49" charset="-122"/>
                <a:ea typeface="黑体" pitchFamily="49" charset="-122"/>
              </a:rPr>
              <a:t> </a:t>
            </a:r>
            <a:endParaRPr lang="zh-CN" altLang="en-US" smtClean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268" name="AutoShape 11">
            <a:hlinkClick r:id="" action="ppaction://hlinkshowjump?jump=nextslide" highlightClick="1"/>
          </p:cNvPr>
          <p:cNvSpPr>
            <a:spLocks noChangeAspect="1" noChangeArrowheads="1"/>
          </p:cNvSpPr>
          <p:nvPr/>
        </p:nvSpPr>
        <p:spPr bwMode="auto">
          <a:xfrm>
            <a:off x="1985963" y="1454150"/>
            <a:ext cx="544512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2800" b="1">
              <a:solidFill>
                <a:srgbClr val="FF0000"/>
              </a:solidFill>
              <a:latin typeface="+mn-lt"/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1269" name="AutoShape 12">
            <a:hlinkClick r:id="rId2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1985963" y="2239963"/>
            <a:ext cx="544512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2800" b="1">
              <a:solidFill>
                <a:srgbClr val="FF0000"/>
              </a:solidFill>
              <a:latin typeface="+mn-lt"/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1270" name="AutoShape 0">
            <a:hlinkClick r:id="rId3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1985963" y="3097213"/>
            <a:ext cx="544512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2800" b="1">
              <a:solidFill>
                <a:srgbClr val="FF0000"/>
              </a:solidFill>
              <a:latin typeface="+mn-lt"/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1271" name="矩形 11"/>
          <p:cNvSpPr>
            <a:spLocks noChangeArrowheads="1"/>
          </p:cNvSpPr>
          <p:nvPr/>
        </p:nvSpPr>
        <p:spPr bwMode="auto">
          <a:xfrm>
            <a:off x="2628900" y="3787775"/>
            <a:ext cx="76354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latin typeface="+mn-lt"/>
                <a:ea typeface="黑体" pitchFamily="49" charset="-122"/>
                <a:cs typeface="楷体_GB2312" pitchFamily="49" charset="-122"/>
              </a:rPr>
              <a:t>1.2.4</a:t>
            </a:r>
            <a:r>
              <a:rPr lang="zh-CN" altLang="en-US" sz="2800" b="1" dirty="0">
                <a:latin typeface="+mn-lt"/>
                <a:ea typeface="黑体" pitchFamily="49" charset="-122"/>
                <a:cs typeface="楷体_GB2312" pitchFamily="49" charset="-122"/>
              </a:rPr>
              <a:t>实验数据的处理</a:t>
            </a:r>
            <a:r>
              <a:rPr lang="en-US" altLang="zh-CN" sz="2800" b="1" dirty="0">
                <a:latin typeface="+mn-lt"/>
                <a:ea typeface="黑体" pitchFamily="49" charset="-122"/>
                <a:cs typeface="楷体_GB2312" pitchFamily="49" charset="-122"/>
              </a:rPr>
              <a:t>(</a:t>
            </a:r>
            <a:r>
              <a:rPr lang="zh-CN" altLang="en-US" sz="2800" b="1" dirty="0" smtClean="0">
                <a:latin typeface="+mn-lt"/>
                <a:ea typeface="黑体" pitchFamily="49" charset="-122"/>
                <a:cs typeface="楷体_GB2312" pitchFamily="49" charset="-122"/>
              </a:rPr>
              <a:t>主要在实验</a:t>
            </a:r>
            <a:r>
              <a:rPr lang="zh-CN" altLang="en-US" sz="2800" b="1" dirty="0">
                <a:latin typeface="+mn-lt"/>
                <a:ea typeface="黑体" pitchFamily="49" charset="-122"/>
                <a:cs typeface="楷体_GB2312" pitchFamily="49" charset="-122"/>
              </a:rPr>
              <a:t>中学习与应用</a:t>
            </a:r>
            <a:r>
              <a:rPr lang="en-US" altLang="zh-CN" sz="2800" b="1" dirty="0">
                <a:latin typeface="+mn-lt"/>
                <a:ea typeface="黑体" pitchFamily="49" charset="-122"/>
                <a:cs typeface="楷体_GB2312" pitchFamily="49" charset="-122"/>
              </a:rPr>
              <a:t>)</a:t>
            </a:r>
            <a:endParaRPr lang="zh-CN" altLang="en-US" sz="2800" b="1" dirty="0">
              <a:latin typeface="+mn-lt"/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1272" name="AutoShape 0">
            <a:hlinkClick r:id="rId4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1985963" y="3883025"/>
            <a:ext cx="544512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2800" b="1">
              <a:solidFill>
                <a:srgbClr val="FF0000"/>
              </a:solidFill>
              <a:latin typeface="+mn-lt"/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2" name="Rectangle 5"/>
          <p:cNvSpPr txBox="1">
            <a:spLocks noChangeArrowheads="1"/>
          </p:cNvSpPr>
          <p:nvPr/>
        </p:nvSpPr>
        <p:spPr bwMode="auto">
          <a:xfrm>
            <a:off x="2628900" y="2525713"/>
            <a:ext cx="6291263" cy="9794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250000"/>
              </a:lnSpc>
              <a:buClr>
                <a:srgbClr val="FFFFCC"/>
              </a:buClr>
              <a:buSzPct val="90000"/>
              <a:buFont typeface="Monotype Sorts" pitchFamily="2" charset="2"/>
              <a:buNone/>
              <a:defRPr/>
            </a:pPr>
            <a:r>
              <a:rPr lang="en-US" altLang="zh-CN" sz="2800" b="1" kern="0">
                <a:latin typeface="+mn-lt"/>
                <a:ea typeface="黑体" pitchFamily="49" charset="-122"/>
              </a:rPr>
              <a:t>1.2.3</a:t>
            </a:r>
            <a:r>
              <a:rPr lang="zh-CN" altLang="en-US" sz="2800" b="1" kern="0">
                <a:latin typeface="+mn-lt"/>
                <a:ea typeface="黑体" pitchFamily="49" charset="-122"/>
              </a:rPr>
              <a:t>误差的减免</a:t>
            </a:r>
            <a:endParaRPr lang="en-US" altLang="zh-CN" sz="2800" b="1" kern="0">
              <a:latin typeface="+mn-lt"/>
              <a:ea typeface="黑体" pitchFamily="49" charset="-122"/>
            </a:endParaRPr>
          </a:p>
        </p:txBody>
      </p:sp>
      <p:sp>
        <p:nvSpPr>
          <p:cNvPr id="13" name="Rectangle 5"/>
          <p:cNvSpPr txBox="1">
            <a:spLocks noChangeArrowheads="1"/>
          </p:cNvSpPr>
          <p:nvPr/>
        </p:nvSpPr>
        <p:spPr bwMode="auto">
          <a:xfrm>
            <a:off x="2628900" y="1739900"/>
            <a:ext cx="6291263" cy="9794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250000"/>
              </a:lnSpc>
              <a:buClr>
                <a:srgbClr val="FFFFCC"/>
              </a:buClr>
              <a:buSzPct val="90000"/>
              <a:buFont typeface="Monotype Sorts" pitchFamily="2" charset="2"/>
              <a:buNone/>
              <a:defRPr/>
            </a:pPr>
            <a:r>
              <a:rPr lang="en-US" altLang="zh-CN" sz="2800" b="1" kern="0">
                <a:latin typeface="+mn-lt"/>
                <a:ea typeface="黑体" pitchFamily="49" charset="-122"/>
              </a:rPr>
              <a:t>1.2.2</a:t>
            </a:r>
            <a:r>
              <a:rPr lang="zh-CN" altLang="en-US" sz="2800" b="1" kern="0">
                <a:latin typeface="+mn-lt"/>
                <a:ea typeface="黑体" pitchFamily="49" charset="-122"/>
              </a:rPr>
              <a:t>误差的表示方法</a:t>
            </a:r>
          </a:p>
        </p:txBody>
      </p:sp>
      <p:sp>
        <p:nvSpPr>
          <p:cNvPr id="513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</a:endParaRPr>
          </a:p>
        </p:txBody>
      </p:sp>
      <p:sp>
        <p:nvSpPr>
          <p:cNvPr id="513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build="p" autoUpdateAnimBg="0"/>
      <p:bldP spid="11271" grpId="0"/>
      <p:bldP spid="12" grpId="0" build="p" autoUpdateAnimBg="0"/>
      <p:bldP spid="1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6" name="AutoShape 10"/>
          <p:cNvSpPr>
            <a:spLocks/>
          </p:cNvSpPr>
          <p:nvPr/>
        </p:nvSpPr>
        <p:spPr bwMode="auto">
          <a:xfrm>
            <a:off x="1331913" y="1668463"/>
            <a:ext cx="214282" cy="428616"/>
          </a:xfrm>
          <a:prstGeom prst="leftBrace">
            <a:avLst>
              <a:gd name="adj1" fmla="val 33255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617538" y="882650"/>
            <a:ext cx="10175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error:</a:t>
            </a:r>
            <a:endParaRPr lang="en-US" altLang="zh-CN" sz="2500" b="1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1546225" y="904875"/>
            <a:ext cx="31496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测定值与真实值之差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831850" y="2311393"/>
            <a:ext cx="10039350" cy="4381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(1)systematic error:</a:t>
            </a:r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1474788" y="1454150"/>
            <a:ext cx="3384550" cy="862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系统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systematic error</a:t>
            </a:r>
            <a:r>
              <a:rPr lang="en-US" altLang="zh-CN" sz="2500" b="1">
                <a:ea typeface="楷体_GB2312" pitchFamily="49" charset="-122"/>
              </a:rPr>
              <a:t>);</a:t>
            </a:r>
          </a:p>
          <a:p>
            <a:r>
              <a:rPr lang="zh-CN" altLang="en-US" sz="2500" b="1">
                <a:ea typeface="楷体_GB2312" pitchFamily="49" charset="-122"/>
              </a:rPr>
              <a:t>随机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random error</a:t>
            </a:r>
            <a:r>
              <a:rPr lang="en-US" altLang="zh-CN" sz="2500" b="1">
                <a:ea typeface="楷体_GB2312" pitchFamily="49" charset="-122"/>
              </a:rPr>
              <a:t>).</a:t>
            </a:r>
          </a:p>
        </p:txBody>
      </p:sp>
      <p:sp>
        <p:nvSpPr>
          <p:cNvPr id="24594" name="Rectangle 18"/>
          <p:cNvSpPr>
            <a:spLocks noChangeArrowheads="1"/>
          </p:cNvSpPr>
          <p:nvPr/>
        </p:nvSpPr>
        <p:spPr bwMode="auto">
          <a:xfrm>
            <a:off x="903288" y="2811455"/>
            <a:ext cx="10215562" cy="7842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500" b="1">
                <a:ea typeface="楷体_GB2312" pitchFamily="49" charset="-122"/>
              </a:rPr>
              <a:t>　　一定实验条件下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由某个或某些因素按某一确定的规律起作用而形成的误差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24595" name="Rectangle 19"/>
          <p:cNvSpPr>
            <a:spLocks noChangeArrowheads="1"/>
          </p:cNvSpPr>
          <p:nvPr/>
        </p:nvSpPr>
        <p:spPr bwMode="auto">
          <a:xfrm>
            <a:off x="903288" y="3592505"/>
            <a:ext cx="3500437" cy="862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(1.1)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产生原因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r>
              <a:rPr lang="en-US" altLang="zh-CN" sz="2500" b="1">
                <a:ea typeface="楷体_GB2312" pitchFamily="49" charset="-122"/>
              </a:rPr>
              <a:t> </a:t>
            </a:r>
          </a:p>
          <a:p>
            <a:r>
              <a:rPr lang="en-US" altLang="zh-CN" sz="2500" b="1">
                <a:ea typeface="楷体_GB2312" pitchFamily="49" charset="-122"/>
              </a:rPr>
              <a:t>①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method</a:t>
            </a:r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</a:rPr>
              <a:t>：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6153" name="Rectangle 27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1.2.1</a:t>
            </a:r>
            <a:r>
              <a:rPr lang="zh-CN" altLang="en-US" smtClean="0">
                <a:ea typeface="黑体" pitchFamily="49" charset="-122"/>
              </a:rPr>
              <a:t>误差的分类</a:t>
            </a:r>
          </a:p>
        </p:txBody>
      </p:sp>
      <p:sp>
        <p:nvSpPr>
          <p:cNvPr id="11277" name="矩形 15"/>
          <p:cNvSpPr>
            <a:spLocks noChangeArrowheads="1"/>
          </p:cNvSpPr>
          <p:nvPr/>
        </p:nvSpPr>
        <p:spPr bwMode="auto">
          <a:xfrm>
            <a:off x="546100" y="1597013"/>
            <a:ext cx="8255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分类</a:t>
            </a:r>
          </a:p>
        </p:txBody>
      </p:sp>
      <p:sp>
        <p:nvSpPr>
          <p:cNvPr id="615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903288" y="4383095"/>
            <a:ext cx="218916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　　方法缺陷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75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4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4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75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2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2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6" grpId="0" animBg="1"/>
      <p:bldP spid="24587" grpId="0" autoUpdateAnimBg="0"/>
      <p:bldP spid="24588" grpId="0" autoUpdateAnimBg="0"/>
      <p:bldP spid="24589" grpId="0" autoUpdateAnimBg="0"/>
      <p:bldP spid="24591" grpId="0" build="p" autoUpdateAnimBg="0"/>
      <p:bldP spid="24594" grpId="0" autoUpdateAnimBg="0"/>
      <p:bldP spid="24595" grpId="0" build="p" autoUpdateAnimBg="0"/>
      <p:bldP spid="11277" grpId="0"/>
      <p:bldP spid="1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8" name="Rectangle 6"/>
          <p:cNvSpPr>
            <a:spLocks noChangeArrowheads="1"/>
          </p:cNvSpPr>
          <p:nvPr/>
        </p:nvSpPr>
        <p:spPr bwMode="auto">
          <a:xfrm>
            <a:off x="906463" y="1025509"/>
            <a:ext cx="45878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滴定分析中指示剂选择不当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</p:txBody>
      </p:sp>
      <p:sp>
        <p:nvSpPr>
          <p:cNvPr id="49164" name="Rectangle 12"/>
          <p:cNvSpPr>
            <a:spLocks noChangeArrowheads="1"/>
          </p:cNvSpPr>
          <p:nvPr/>
        </p:nvSpPr>
        <p:spPr bwMode="auto">
          <a:xfrm>
            <a:off x="4689475" y="3168650"/>
            <a:ext cx="638333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　　仪器、量器不准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49165" name="Rectangle 13"/>
          <p:cNvSpPr>
            <a:spLocks noChangeArrowheads="1"/>
          </p:cNvSpPr>
          <p:nvPr/>
        </p:nvSpPr>
        <p:spPr bwMode="auto">
          <a:xfrm>
            <a:off x="4806950" y="2695575"/>
            <a:ext cx="212883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②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instrument</a:t>
            </a:r>
            <a:r>
              <a:rPr lang="en-US" altLang="zh-CN" sz="2500" b="1">
                <a:solidFill>
                  <a:schemeClr val="bg2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9172" name="Rectangle 20"/>
          <p:cNvSpPr>
            <a:spLocks noChangeArrowheads="1"/>
          </p:cNvSpPr>
          <p:nvPr/>
        </p:nvSpPr>
        <p:spPr bwMode="auto">
          <a:xfrm>
            <a:off x="1346200" y="1433497"/>
            <a:ext cx="34861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称量分析中沉淀不完全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7662863" y="1063625"/>
            <a:ext cx="3400425" cy="2039938"/>
            <a:chOff x="3831" y="1020"/>
            <a:chExt cx="1700" cy="1360"/>
          </a:xfrm>
        </p:grpSpPr>
        <p:pic>
          <p:nvPicPr>
            <p:cNvPr id="7187" name="Picture 21" descr="NaH2PO4+NaHCO3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31" y="1020"/>
              <a:ext cx="1700" cy="1360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7188" name="Rectangle 25"/>
            <p:cNvSpPr>
              <a:spLocks noChangeArrowheads="1"/>
            </p:cNvSpPr>
            <p:nvPr/>
          </p:nvSpPr>
          <p:spPr bwMode="auto">
            <a:xfrm>
              <a:off x="4193" y="1020"/>
              <a:ext cx="1054" cy="31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>
                  <a:solidFill>
                    <a:schemeClr val="bg1"/>
                  </a:solidFill>
                  <a:ea typeface="楷体_GB2312" pitchFamily="49" charset="-122"/>
                </a:rPr>
                <a:t>指示剂的使用</a:t>
              </a:r>
              <a:endParaRPr lang="zh-CN" altLang="en-US" sz="2500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15975" y="2413000"/>
            <a:ext cx="4016375" cy="2312988"/>
            <a:chOff x="521" y="1512"/>
            <a:chExt cx="2008" cy="1481"/>
          </a:xfrm>
        </p:grpSpPr>
        <p:pic>
          <p:nvPicPr>
            <p:cNvPr id="7184" name="Picture 22" descr="硫酸钡沉淀与导电性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541" y="1518"/>
              <a:ext cx="988" cy="1473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pic>
          <p:nvPicPr>
            <p:cNvPr id="7185" name="Picture 23" descr="硫酸钡沉淀与导电性2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21" y="1518"/>
              <a:ext cx="1011" cy="1475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7186" name="Rectangle 27"/>
            <p:cNvSpPr>
              <a:spLocks noChangeArrowheads="1"/>
            </p:cNvSpPr>
            <p:nvPr/>
          </p:nvSpPr>
          <p:spPr bwMode="auto">
            <a:xfrm>
              <a:off x="1156" y="1512"/>
              <a:ext cx="733" cy="30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>
                  <a:solidFill>
                    <a:srgbClr val="FFFF00"/>
                  </a:solidFill>
                  <a:ea typeface="楷体_GB2312" pitchFamily="49" charset="-122"/>
                </a:rPr>
                <a:t>沉淀反应</a:t>
              </a:r>
            </a:p>
          </p:txBody>
        </p:sp>
      </p:grpSp>
      <p:sp>
        <p:nvSpPr>
          <p:cNvPr id="7177" name="Rectangle 29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2.2.1</a:t>
            </a:r>
            <a:r>
              <a:rPr lang="zh-CN" altLang="en-US" smtClean="0">
                <a:ea typeface="黑体" pitchFamily="49" charset="-122"/>
              </a:rPr>
              <a:t>误差的分类</a:t>
            </a:r>
          </a:p>
        </p:txBody>
      </p:sp>
      <p:sp>
        <p:nvSpPr>
          <p:cNvPr id="49182" name="Rectangle 30"/>
          <p:cNvSpPr>
            <a:spLocks noChangeArrowheads="1"/>
          </p:cNvSpPr>
          <p:nvPr/>
        </p:nvSpPr>
        <p:spPr bwMode="auto">
          <a:xfrm>
            <a:off x="903288" y="4954588"/>
            <a:ext cx="35718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如</a:t>
            </a:r>
            <a:r>
              <a:rPr lang="en-US" altLang="zh-CN" sz="2500" b="1">
                <a:ea typeface="楷体_GB2312" pitchFamily="49" charset="-122"/>
              </a:rPr>
              <a:t>:</a:t>
            </a:r>
            <a:r>
              <a:rPr lang="zh-CN" altLang="en-US" sz="2500" b="1">
                <a:ea typeface="楷体_GB2312" pitchFamily="49" charset="-122"/>
              </a:rPr>
              <a:t>天平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balance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zh-CN" altLang="en-US" sz="2500" b="1">
                <a:ea typeface="楷体_GB2312" pitchFamily="49" charset="-122"/>
              </a:rPr>
              <a:t>未校准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8761413" y="3382963"/>
            <a:ext cx="2759075" cy="2308225"/>
            <a:chOff x="4468" y="2296"/>
            <a:chExt cx="1380" cy="1539"/>
          </a:xfrm>
        </p:grpSpPr>
        <p:pic>
          <p:nvPicPr>
            <p:cNvPr id="7182" name="Picture 5" descr="照片 013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468" y="2296"/>
              <a:ext cx="1072" cy="1429"/>
            </a:xfrm>
            <a:prstGeom prst="rect">
              <a:avLst/>
            </a:prstGeom>
            <a:noFill/>
            <a:ln w="127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75782" name="Rectangle 6"/>
            <p:cNvSpPr>
              <a:spLocks noChangeArrowheads="1"/>
            </p:cNvSpPr>
            <p:nvPr/>
          </p:nvSpPr>
          <p:spPr bwMode="auto">
            <a:xfrm>
              <a:off x="4513" y="3517"/>
              <a:ext cx="1335" cy="31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5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/>
                </a:rPr>
                <a:t>电子分析天平</a:t>
              </a:r>
            </a:p>
          </p:txBody>
        </p:sp>
      </p:grpSp>
      <p:sp>
        <p:nvSpPr>
          <p:cNvPr id="718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1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10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 build="p" autoUpdateAnimBg="0"/>
      <p:bldP spid="49164" grpId="0" autoUpdateAnimBg="0"/>
      <p:bldP spid="49165" grpId="0" autoUpdateAnimBg="0"/>
      <p:bldP spid="49172" grpId="0" autoUpdateAnimBg="0"/>
      <p:bldP spid="4918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4" name="Rectangle 14"/>
          <p:cNvSpPr>
            <a:spLocks noChangeArrowheads="1"/>
          </p:cNvSpPr>
          <p:nvPr/>
        </p:nvSpPr>
        <p:spPr bwMode="auto">
          <a:xfrm>
            <a:off x="903288" y="4454525"/>
            <a:ext cx="26416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④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主观因素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25615" name="Rectangle 15"/>
          <p:cNvSpPr>
            <a:spLocks noChangeArrowheads="1"/>
          </p:cNvSpPr>
          <p:nvPr/>
        </p:nvSpPr>
        <p:spPr bwMode="auto">
          <a:xfrm>
            <a:off x="903288" y="3954463"/>
            <a:ext cx="984726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　　所用试剂或水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deionized &amp; distilled water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)</a:t>
            </a:r>
            <a:r>
              <a:rPr lang="zh-CN" altLang="en-US" sz="2500" b="1">
                <a:ea typeface="楷体_GB2312" pitchFamily="49" charset="-122"/>
              </a:rPr>
              <a:t>不合格</a:t>
            </a:r>
            <a:r>
              <a:rPr lang="en-US" altLang="zh-CN" sz="2500" b="1">
                <a:ea typeface="楷体_GB2312" pitchFamily="49" charset="-122"/>
              </a:rPr>
              <a:t>. </a:t>
            </a:r>
          </a:p>
        </p:txBody>
      </p:sp>
      <p:sp>
        <p:nvSpPr>
          <p:cNvPr id="25616" name="Rectangle 16"/>
          <p:cNvSpPr>
            <a:spLocks noChangeArrowheads="1"/>
          </p:cNvSpPr>
          <p:nvPr/>
        </p:nvSpPr>
        <p:spPr bwMode="auto">
          <a:xfrm>
            <a:off x="903288" y="3525838"/>
            <a:ext cx="16605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③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reagent</a:t>
            </a:r>
            <a:r>
              <a:rPr lang="en-US" altLang="zh-CN" sz="2500" b="1">
                <a:solidFill>
                  <a:schemeClr val="bg2"/>
                </a:solidFill>
                <a:ea typeface="楷体_GB2312" pitchFamily="49" charset="-122"/>
              </a:rPr>
              <a:t>:</a:t>
            </a:r>
          </a:p>
        </p:txBody>
      </p:sp>
      <p:pic>
        <p:nvPicPr>
          <p:cNvPr id="25628" name="Picture 28" descr="qimin1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75113" y="1530350"/>
            <a:ext cx="3400425" cy="2039938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/>
            <a:tailEnd/>
          </a:ln>
        </p:spPr>
      </p:pic>
      <p:sp>
        <p:nvSpPr>
          <p:cNvPr id="25633" name="Rectangle 33"/>
          <p:cNvSpPr>
            <a:spLocks noChangeArrowheads="1"/>
          </p:cNvSpPr>
          <p:nvPr/>
        </p:nvSpPr>
        <p:spPr bwMode="auto">
          <a:xfrm>
            <a:off x="974725" y="4883150"/>
            <a:ext cx="41116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　　操作人员某些主观因素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25637" name="Rectangle 37"/>
          <p:cNvSpPr>
            <a:spLocks noChangeArrowheads="1"/>
          </p:cNvSpPr>
          <p:nvPr/>
        </p:nvSpPr>
        <p:spPr bwMode="auto">
          <a:xfrm>
            <a:off x="1331913" y="1020763"/>
            <a:ext cx="54292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volumetric flask</a:t>
            </a:r>
            <a:r>
              <a:rPr lang="zh-CN" altLang="en-US" sz="2500" b="1">
                <a:ea typeface="楷体_GB2312" pitchFamily="49" charset="-122"/>
              </a:rPr>
              <a:t>与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pipet</a:t>
            </a:r>
            <a:r>
              <a:rPr lang="zh-CN" altLang="en-US" sz="2500" b="1">
                <a:ea typeface="楷体_GB2312" pitchFamily="49" charset="-122"/>
              </a:rPr>
              <a:t>不配套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25638" name="Rectangle 38"/>
          <p:cNvSpPr>
            <a:spLocks noChangeArrowheads="1"/>
          </p:cNvSpPr>
          <p:nvPr/>
        </p:nvSpPr>
        <p:spPr bwMode="auto">
          <a:xfrm>
            <a:off x="4119563" y="3162300"/>
            <a:ext cx="13652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FFFF00"/>
                </a:solidFill>
                <a:ea typeface="楷体_GB2312" pitchFamily="49" charset="-122"/>
              </a:rPr>
              <a:t>移液管</a:t>
            </a:r>
          </a:p>
        </p:txBody>
      </p:sp>
      <p:sp>
        <p:nvSpPr>
          <p:cNvPr id="25640" name="Line 40"/>
          <p:cNvSpPr>
            <a:spLocks noChangeShapeType="1"/>
          </p:cNvSpPr>
          <p:nvPr/>
        </p:nvSpPr>
        <p:spPr bwMode="auto">
          <a:xfrm flipV="1">
            <a:off x="5162550" y="3025775"/>
            <a:ext cx="479425" cy="287338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2" name="Rectangle 43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2.2.1</a:t>
            </a:r>
            <a:r>
              <a:rPr lang="zh-CN" altLang="en-US" smtClean="0">
                <a:ea typeface="黑体" pitchFamily="49" charset="-122"/>
              </a:rPr>
              <a:t>误差的分类</a:t>
            </a:r>
          </a:p>
        </p:txBody>
      </p:sp>
      <p:sp>
        <p:nvSpPr>
          <p:cNvPr id="74757" name="Rectangle 5"/>
          <p:cNvSpPr>
            <a:spLocks noChangeArrowheads="1"/>
          </p:cNvSpPr>
          <p:nvPr/>
        </p:nvSpPr>
        <p:spPr bwMode="auto">
          <a:xfrm>
            <a:off x="3600450" y="2552700"/>
            <a:ext cx="1363663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容量瓶</a:t>
            </a:r>
          </a:p>
        </p:txBody>
      </p:sp>
      <p:sp>
        <p:nvSpPr>
          <p:cNvPr id="74758" name="Line 6"/>
          <p:cNvSpPr>
            <a:spLocks noChangeShapeType="1"/>
          </p:cNvSpPr>
          <p:nvPr/>
        </p:nvSpPr>
        <p:spPr bwMode="auto">
          <a:xfrm flipV="1">
            <a:off x="4641850" y="2416175"/>
            <a:ext cx="481013" cy="288925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56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10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10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4" grpId="0" autoUpdateAnimBg="0"/>
      <p:bldP spid="25615" grpId="0" autoUpdateAnimBg="0"/>
      <p:bldP spid="25616" grpId="0" autoUpdateAnimBg="0"/>
      <p:bldP spid="25633" grpId="0" autoUpdateAnimBg="0"/>
      <p:bldP spid="25637" grpId="0" autoUpdateAnimBg="0"/>
      <p:bldP spid="25638" grpId="0" autoUpdateAnimBg="0"/>
      <p:bldP spid="25640" grpId="0" animBg="1"/>
      <p:bldP spid="74757" grpId="0" autoUpdateAnimBg="0"/>
      <p:bldP spid="7475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1" name="AutoShape 7"/>
          <p:cNvSpPr>
            <a:spLocks/>
          </p:cNvSpPr>
          <p:nvPr/>
        </p:nvSpPr>
        <p:spPr bwMode="auto">
          <a:xfrm>
            <a:off x="906463" y="1530350"/>
            <a:ext cx="269875" cy="842963"/>
          </a:xfrm>
          <a:prstGeom prst="leftBrace">
            <a:avLst>
              <a:gd name="adj1" fmla="val 3470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903288" y="3097213"/>
            <a:ext cx="10136187" cy="4381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500" b="1">
                <a:ea typeface="楷体_GB2312" pitchFamily="49" charset="-122"/>
              </a:rPr>
              <a:t>　　一系列有关因素微小的随机波动而形成的具相互抵偿性的误差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831850" y="954088"/>
            <a:ext cx="15525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(1.2)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规律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>
              <a:solidFill>
                <a:srgbClr val="FF0066"/>
              </a:solidFill>
              <a:ea typeface="楷体_GB2312" pitchFamily="49" charset="-122"/>
            </a:endParaRPr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1131888" y="1460500"/>
            <a:ext cx="9910762" cy="11303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>
                <a:ea typeface="楷体_GB2312" pitchFamily="49" charset="-122"/>
              </a:rPr>
              <a:t>大小、正负固定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ea typeface="楷体_GB2312" pitchFamily="49" charset="-122"/>
              </a:rPr>
              <a:t>同一实验</a:t>
            </a:r>
            <a:r>
              <a:rPr lang="en-US" altLang="zh-CN" sz="2500" b="1">
                <a:ea typeface="楷体_GB2312" pitchFamily="49" charset="-122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>
                <a:ea typeface="楷体_GB2312" pitchFamily="49" charset="-122"/>
              </a:rPr>
              <a:t>条件改变时才可发现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>
                <a:ea typeface="楷体_GB2312" pitchFamily="49" charset="-122"/>
              </a:rPr>
              <a:t>可设法减小或校正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可测误差</a:t>
            </a:r>
            <a:r>
              <a:rPr lang="en-US" altLang="zh-CN" sz="2500" b="1">
                <a:ea typeface="楷体_GB2312" pitchFamily="49" charset="-122"/>
              </a:rPr>
              <a:t>).</a:t>
            </a:r>
          </a:p>
        </p:txBody>
      </p:sp>
      <p:sp>
        <p:nvSpPr>
          <p:cNvPr id="26638" name="Rectangle 14"/>
          <p:cNvSpPr>
            <a:spLocks noChangeArrowheads="1"/>
          </p:cNvSpPr>
          <p:nvPr/>
        </p:nvSpPr>
        <p:spPr bwMode="auto">
          <a:xfrm>
            <a:off x="903288" y="2597150"/>
            <a:ext cx="427831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(2)random error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</a:rPr>
              <a:t>或偶然误差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9223" name="Rectangle 19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2.2.1</a:t>
            </a:r>
            <a:r>
              <a:rPr lang="zh-CN" altLang="en-US" smtClean="0">
                <a:ea typeface="黑体" pitchFamily="49" charset="-122"/>
              </a:rPr>
              <a:t>误差的分类</a:t>
            </a:r>
          </a:p>
        </p:txBody>
      </p:sp>
      <p:sp>
        <p:nvSpPr>
          <p:cNvPr id="56320" name="Rectangle 0"/>
          <p:cNvSpPr>
            <a:spLocks noChangeArrowheads="1"/>
          </p:cNvSpPr>
          <p:nvPr/>
        </p:nvSpPr>
        <p:spPr bwMode="auto">
          <a:xfrm>
            <a:off x="2546350" y="4313250"/>
            <a:ext cx="8574088" cy="7842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500" b="1">
                <a:ea typeface="楷体_GB2312" pitchFamily="49" charset="-122"/>
              </a:rPr>
              <a:t>　　        ①大小、正负不定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ea typeface="楷体_GB2312" pitchFamily="49" charset="-122"/>
              </a:rPr>
              <a:t>同一实验</a:t>
            </a:r>
            <a:r>
              <a:rPr lang="en-US" altLang="zh-CN" sz="2500" b="1">
                <a:ea typeface="楷体_GB2312" pitchFamily="49" charset="-122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altLang="zh-CN" sz="2500" b="1">
                <a:ea typeface="楷体_GB2312" pitchFamily="49" charset="-122"/>
              </a:rPr>
              <a:t>                ②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不定误差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56321" name="AutoShape 1"/>
          <p:cNvSpPr>
            <a:spLocks/>
          </p:cNvSpPr>
          <p:nvPr/>
        </p:nvSpPr>
        <p:spPr bwMode="auto">
          <a:xfrm>
            <a:off x="3617913" y="4527562"/>
            <a:ext cx="180975" cy="409575"/>
          </a:xfrm>
          <a:prstGeom prst="leftBrace">
            <a:avLst>
              <a:gd name="adj1" fmla="val 2514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56328" name="Rectangle 8"/>
          <p:cNvSpPr>
            <a:spLocks noChangeArrowheads="1"/>
          </p:cNvSpPr>
          <p:nvPr/>
        </p:nvSpPr>
        <p:spPr bwMode="auto">
          <a:xfrm>
            <a:off x="903288" y="3525838"/>
            <a:ext cx="10136187" cy="7842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(2.1)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原因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500" b="1">
                <a:ea typeface="楷体_GB2312" pitchFamily="49" charset="-122"/>
              </a:rPr>
              <a:t>　　不定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831850" y="4456125"/>
            <a:ext cx="10136188" cy="4381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 (2.2)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一般规律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9228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9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75"/>
                                        <p:tgtEl>
                                          <p:spTgt spid="26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75"/>
                                        <p:tgtEl>
                                          <p:spTgt spid="26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75"/>
                                        <p:tgtEl>
                                          <p:spTgt spid="26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4013"/>
                            </p:stCondLst>
                            <p:childTnLst>
                              <p:par>
                                <p:cTn id="2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26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5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56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56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500"/>
                                        <p:tgtEl>
                                          <p:spTgt spid="56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1" grpId="0" animBg="1"/>
      <p:bldP spid="26632" grpId="0" build="p" autoUpdateAnimBg="0"/>
      <p:bldP spid="26633" grpId="0" autoUpdateAnimBg="0"/>
      <p:bldP spid="26634" grpId="0" build="p" autoUpdateAnimBg="0"/>
      <p:bldP spid="26638" grpId="0" autoUpdateAnimBg="0"/>
      <p:bldP spid="56320" grpId="0" build="p" autoUpdateAnimBg="0"/>
      <p:bldP spid="56321" grpId="0" animBg="1"/>
      <p:bldP spid="56328" grpId="0" build="p" autoUpdateAnimBg="0"/>
      <p:bldP spid="1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903288" y="954088"/>
            <a:ext cx="22637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        </a:t>
            </a:r>
            <a:r>
              <a:rPr lang="zh-CN" altLang="en-US" sz="2500" b="1">
                <a:solidFill>
                  <a:schemeClr val="accent2"/>
                </a:solidFill>
                <a:ea typeface="楷体_GB2312" pitchFamily="49" charset="-122"/>
              </a:rPr>
              <a:t>统计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规律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7660" name="AutoShape 12"/>
          <p:cNvSpPr>
            <a:spLocks/>
          </p:cNvSpPr>
          <p:nvPr/>
        </p:nvSpPr>
        <p:spPr bwMode="auto">
          <a:xfrm>
            <a:off x="1331913" y="1525588"/>
            <a:ext cx="192087" cy="576262"/>
          </a:xfrm>
          <a:prstGeom prst="leftBrace">
            <a:avLst>
              <a:gd name="adj1" fmla="val 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906463" y="1382713"/>
            <a:ext cx="10615612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        ①</a:t>
            </a:r>
            <a:r>
              <a:rPr lang="zh-CN" altLang="en-US" sz="2500" b="1">
                <a:ea typeface="楷体_GB2312" pitchFamily="49" charset="-122"/>
              </a:rPr>
              <a:t>大小相等的正负误差出现的概率相等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        ②</a:t>
            </a:r>
            <a:r>
              <a:rPr lang="zh-CN" altLang="en-US" sz="2500" b="1">
                <a:ea typeface="楷体_GB2312" pitchFamily="49" charset="-122"/>
              </a:rPr>
              <a:t>小、大、特大误差出现的概率大、小、极小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10245" name="Rectangle 2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2.2.1</a:t>
            </a:r>
            <a:r>
              <a:rPr lang="zh-CN" altLang="en-US" smtClean="0">
                <a:ea typeface="黑体" pitchFamily="49" charset="-122"/>
              </a:rPr>
              <a:t>误差的分类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474913" y="2454275"/>
            <a:ext cx="5143500" cy="3000375"/>
            <a:chOff x="5411" y="9760"/>
            <a:chExt cx="3769" cy="3121"/>
          </a:xfrm>
        </p:grpSpPr>
        <p:sp>
          <p:nvSpPr>
            <p:cNvPr id="10249" name="Text Box 9"/>
            <p:cNvSpPr txBox="1">
              <a:spLocks noChangeArrowheads="1"/>
            </p:cNvSpPr>
            <p:nvPr/>
          </p:nvSpPr>
          <p:spPr bwMode="auto">
            <a:xfrm>
              <a:off x="5906" y="12413"/>
              <a:ext cx="2775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 sz="2000" b="1">
                  <a:solidFill>
                    <a:srgbClr val="0000FF"/>
                  </a:solidFill>
                  <a:latin typeface="华文新魏" pitchFamily="2" charset="-122"/>
                  <a:ea typeface="华文新魏" pitchFamily="2" charset="-122"/>
                </a:rPr>
                <a:t>误差的标准正态分布曲线</a:t>
              </a:r>
              <a:endParaRPr lang="zh-CN" sz="20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pic>
          <p:nvPicPr>
            <p:cNvPr id="10250" name="Picture 10" descr="图2"/>
            <p:cNvPicPr>
              <a:picLocks noChangeAspect="1" noChangeArrowheads="1"/>
            </p:cNvPicPr>
            <p:nvPr/>
          </p:nvPicPr>
          <p:blipFill>
            <a:blip r:embed="rId5">
              <a:lum bright="6000" contrast="6000"/>
            </a:blip>
            <a:srcRect/>
            <a:stretch>
              <a:fillRect/>
            </a:stretch>
          </p:blipFill>
          <p:spPr bwMode="auto">
            <a:xfrm>
              <a:off x="5411" y="9760"/>
              <a:ext cx="3769" cy="2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24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75"/>
                                        <p:tgtEl>
                                          <p:spTgt spid="27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75"/>
                                        <p:tgtEl>
                                          <p:spTgt spid="276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325"/>
                            </p:stCondLst>
                            <p:childTnLst>
                              <p:par>
                                <p:cTn id="1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825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9" grpId="0" autoUpdateAnimBg="0"/>
      <p:bldP spid="27660" grpId="0" animBg="1"/>
      <p:bldP spid="2766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831850" y="882650"/>
            <a:ext cx="26003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准确度与误差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906463" y="1460500"/>
            <a:ext cx="10161587" cy="12461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表征</a:t>
            </a:r>
            <a:r>
              <a:rPr lang="en-US" altLang="zh-CN" sz="2500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:</a:t>
            </a:r>
            <a:r>
              <a:rPr lang="en-US" altLang="zh-CN" sz="2500" b="1">
                <a:ea typeface="楷体_GB2312"/>
              </a:rPr>
              <a:t> </a:t>
            </a:r>
            <a:r>
              <a:rPr lang="zh-CN" altLang="en-US" sz="2500" b="1">
                <a:ea typeface="楷体_GB2312"/>
              </a:rPr>
              <a:t>准确度高低</a:t>
            </a:r>
            <a:r>
              <a:rPr lang="en-US" altLang="zh-CN" sz="2500" b="1">
                <a:ea typeface="楷体_GB2312"/>
              </a:rPr>
              <a:t>.</a:t>
            </a:r>
          </a:p>
          <a:p>
            <a:pPr>
              <a:defRPr/>
            </a:pPr>
            <a:r>
              <a:rPr lang="en-US" altLang="zh-CN" sz="2500" b="1">
                <a:solidFill>
                  <a:srgbClr val="0000FF"/>
                </a:solidFill>
                <a:ea typeface="楷体_GB2312"/>
              </a:rPr>
              <a:t>accuracy:</a:t>
            </a:r>
          </a:p>
          <a:p>
            <a:pPr>
              <a:defRPr/>
            </a:pPr>
            <a:r>
              <a:rPr lang="en-US" altLang="zh-CN" sz="2500" b="1">
                <a:ea typeface="楷体_GB2312"/>
              </a:rPr>
              <a:t>        </a:t>
            </a:r>
            <a:r>
              <a:rPr lang="zh-CN" altLang="en-US" sz="2500" b="1">
                <a:ea typeface="楷体_GB2312"/>
              </a:rPr>
              <a:t>一定条件下</a:t>
            </a:r>
            <a:r>
              <a:rPr lang="en-US" altLang="zh-CN" sz="2500" b="1">
                <a:ea typeface="楷体_GB2312"/>
              </a:rPr>
              <a:t>,</a:t>
            </a:r>
            <a:r>
              <a:rPr lang="zh-CN" altLang="en-US" sz="2500" b="1">
                <a:ea typeface="楷体_GB2312"/>
              </a:rPr>
              <a:t>测定值与真实值的接近程度</a:t>
            </a:r>
            <a:r>
              <a:rPr lang="en-US" altLang="zh-CN" sz="2500" b="1">
                <a:ea typeface="楷体_GB2312"/>
              </a:rPr>
              <a:t>.</a:t>
            </a:r>
          </a:p>
        </p:txBody>
      </p:sp>
      <p:sp>
        <p:nvSpPr>
          <p:cNvPr id="11268" name="Rectangle 6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1.2.2</a:t>
            </a:r>
            <a:r>
              <a:rPr lang="zh-CN" altLang="en-US" smtClean="0">
                <a:ea typeface="黑体" pitchFamily="49" charset="-122"/>
              </a:rPr>
              <a:t>误差的表示方法</a:t>
            </a:r>
          </a:p>
        </p:txBody>
      </p:sp>
      <p:sp>
        <p:nvSpPr>
          <p:cNvPr id="79888" name="Rectangle 16"/>
          <p:cNvSpPr>
            <a:spLocks noChangeArrowheads="1"/>
          </p:cNvSpPr>
          <p:nvPr/>
        </p:nvSpPr>
        <p:spPr bwMode="auto">
          <a:xfrm>
            <a:off x="903288" y="2668588"/>
            <a:ext cx="10161587" cy="16319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true value:</a:t>
            </a:r>
          </a:p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与给定的特定量的定义一致的值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可靠方法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不同实验室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丰富经验的操作人员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反复多次的平行测定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数理统计处理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相对意义的真值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solidFill>
                  <a:schemeClr val="tx2"/>
                </a:solidFill>
                <a:ea typeface="楷体_GB2312" pitchFamily="49" charset="-122"/>
              </a:rPr>
              <a:t>约定真值</a:t>
            </a:r>
            <a:r>
              <a:rPr lang="en-US" altLang="zh-CN" sz="2500" b="1">
                <a:ea typeface="楷体_GB2312" pitchFamily="49" charset="-122"/>
              </a:rPr>
              <a:t>).</a:t>
            </a:r>
          </a:p>
        </p:txBody>
      </p:sp>
      <p:sp>
        <p:nvSpPr>
          <p:cNvPr id="1127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9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9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9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98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798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autoUpdateAnimBg="0"/>
      <p:bldP spid="79877" grpId="0" build="p" autoUpdateAnimBg="0"/>
      <p:bldP spid="79888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831850" y="1382713"/>
            <a:ext cx="10117138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　　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绝对误差</a:t>
            </a:r>
            <a:r>
              <a:rPr lang="zh-CN" altLang="en-US" sz="2500" b="1">
                <a:ea typeface="楷体_GB2312" pitchFamily="49" charset="-122"/>
              </a:rPr>
              <a:t>和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相对误差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ea typeface="楷体_GB2312" pitchFamily="49" charset="-122"/>
              </a:rPr>
              <a:t>用百分数表示</a:t>
            </a:r>
            <a:r>
              <a:rPr lang="en-US" altLang="zh-CN" sz="2500" b="1">
                <a:ea typeface="楷体_GB2312" pitchFamily="49" charset="-122"/>
              </a:rPr>
              <a:t>).</a:t>
            </a:r>
          </a:p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absolute error:</a:t>
            </a:r>
          </a:p>
        </p:txBody>
      </p:sp>
      <p:graphicFrame>
        <p:nvGraphicFramePr>
          <p:cNvPr id="29715" name="Object 19"/>
          <p:cNvGraphicFramePr>
            <a:graphicFrameLocks noChangeAspect="1"/>
          </p:cNvGraphicFramePr>
          <p:nvPr/>
        </p:nvGraphicFramePr>
        <p:xfrm>
          <a:off x="3403600" y="1954213"/>
          <a:ext cx="24685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公式" r:id="rId5" imgW="774364" imgH="228501" progId="Equation.3">
                  <p:embed/>
                </p:oleObj>
              </mc:Choice>
              <mc:Fallback>
                <p:oleObj name="公式" r:id="rId5" imgW="774364" imgH="22850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1954213"/>
                        <a:ext cx="2468563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903288" y="2597150"/>
            <a:ext cx="21272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relative error:</a:t>
            </a:r>
            <a:endParaRPr lang="en-US" altLang="zh-CN" sz="2500" b="1">
              <a:ea typeface="楷体_GB2312" pitchFamily="49" charset="-122"/>
            </a:endParaRPr>
          </a:p>
        </p:txBody>
      </p:sp>
      <p:graphicFrame>
        <p:nvGraphicFramePr>
          <p:cNvPr id="29717" name="Object 21"/>
          <p:cNvGraphicFramePr>
            <a:graphicFrameLocks noChangeAspect="1"/>
          </p:cNvGraphicFramePr>
          <p:nvPr/>
        </p:nvGraphicFramePr>
        <p:xfrm>
          <a:off x="3546475" y="2597150"/>
          <a:ext cx="1795463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公式" r:id="rId7" imgW="583947" imgH="444307" progId="Equation.3">
                  <p:embed/>
                </p:oleObj>
              </mc:Choice>
              <mc:Fallback>
                <p:oleObj name="公式" r:id="rId7" imgW="583947" imgH="444307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475" y="2597150"/>
                        <a:ext cx="1795463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26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1.2.2</a:t>
            </a:r>
            <a:r>
              <a:rPr lang="zh-CN" altLang="en-US" smtClean="0">
                <a:ea typeface="黑体" pitchFamily="49" charset="-122"/>
              </a:rPr>
              <a:t>误差的表示方法</a:t>
            </a:r>
          </a:p>
        </p:txBody>
      </p:sp>
      <p:sp>
        <p:nvSpPr>
          <p:cNvPr id="57344" name="Rectangle 0"/>
          <p:cNvSpPr>
            <a:spLocks noChangeArrowheads="1"/>
          </p:cNvSpPr>
          <p:nvPr/>
        </p:nvSpPr>
        <p:spPr bwMode="auto">
          <a:xfrm>
            <a:off x="906463" y="3773488"/>
            <a:ext cx="936625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2500" b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注意:</a:t>
            </a:r>
            <a:endParaRPr lang="en-US" altLang="zh-CN" sz="2500" b="1">
              <a:solidFill>
                <a:srgbClr val="FF3300"/>
              </a:solidFill>
              <a:ea typeface="楷体_GB2312"/>
            </a:endParaRPr>
          </a:p>
        </p:txBody>
      </p:sp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974725" y="3454400"/>
            <a:ext cx="10299700" cy="12461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          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误差有正、负之分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.</a:t>
            </a:r>
            <a:endParaRPr lang="en-US" altLang="zh-CN" sz="2500" b="1" dirty="0">
              <a:ea typeface="楷体_GB2312" pitchFamily="49" charset="-122"/>
            </a:endParaRPr>
          </a:p>
          <a:p>
            <a:r>
              <a:rPr lang="en-US" altLang="zh-CN" sz="2500" b="1" dirty="0">
                <a:ea typeface="楷体_GB2312" pitchFamily="49" charset="-122"/>
              </a:rPr>
              <a:t>          </a:t>
            </a:r>
            <a:r>
              <a:rPr lang="zh-CN" altLang="en-US" sz="2500" b="1" dirty="0">
                <a:ea typeface="楷体_GB2312" pitchFamily="49" charset="-122"/>
              </a:rPr>
              <a:t>测定结果＞真值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误差为正值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测定结果偏高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      </a:t>
            </a:r>
            <a:r>
              <a:rPr lang="zh-CN" altLang="en-US" sz="2500" b="1" dirty="0">
                <a:ea typeface="楷体_GB2312" pitchFamily="49" charset="-122"/>
              </a:rPr>
              <a:t>测定结果＜真值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误差为负值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测定结果偏低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57353" name="Rectangle 9"/>
          <p:cNvSpPr>
            <a:spLocks noChangeArrowheads="1"/>
          </p:cNvSpPr>
          <p:nvPr/>
        </p:nvSpPr>
        <p:spPr bwMode="auto">
          <a:xfrm>
            <a:off x="903288" y="882650"/>
            <a:ext cx="10025062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表示</a:t>
            </a:r>
            <a:r>
              <a:rPr lang="en-US" altLang="zh-CN" sz="2500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:</a:t>
            </a:r>
            <a:r>
              <a:rPr lang="en-US" altLang="zh-CN" sz="2500" b="1">
                <a:ea typeface="楷体_GB2312"/>
              </a:rPr>
              <a:t> </a:t>
            </a:r>
            <a:r>
              <a:rPr lang="zh-CN" altLang="en-US" sz="2500" b="1">
                <a:ea typeface="楷体_GB2312"/>
              </a:rPr>
              <a:t>　</a:t>
            </a:r>
            <a:endParaRPr lang="zh-CN" altLang="en-US" sz="2500" b="1">
              <a:solidFill>
                <a:srgbClr val="0000FF"/>
              </a:solidFill>
              <a:ea typeface="楷体_GB2312"/>
            </a:endParaRPr>
          </a:p>
        </p:txBody>
      </p:sp>
      <p:sp>
        <p:nvSpPr>
          <p:cNvPr id="103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7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9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97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5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57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57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57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1" grpId="0" build="p" autoUpdateAnimBg="0"/>
      <p:bldP spid="29716" grpId="0" autoUpdateAnimBg="0"/>
      <p:bldP spid="57344" grpId="0" autoUpdateAnimBg="0"/>
      <p:bldP spid="57345" grpId="0" build="p" autoUpdateAnimBg="0"/>
      <p:bldP spid="5735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6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1.2.2</a:t>
            </a:r>
            <a:r>
              <a:rPr lang="zh-CN" altLang="en-US" smtClean="0">
                <a:ea typeface="黑体" pitchFamily="49" charset="-122"/>
              </a:rPr>
              <a:t>误差的表示方法</a:t>
            </a: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617538" y="1762125"/>
            <a:ext cx="61436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  <a:hlinkClick r:id="rId2" action="ppaction://hlinkpres?slideindex=1&amp;slidetitle=幻灯片 1"/>
              </a:rPr>
              <a:t>解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688975" y="3168650"/>
            <a:ext cx="7747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  <a:hlinkClick r:id="rId3" action="ppaction://hlinkpres?slideindex=2&amp;slidetitle=幻灯片 2"/>
              </a:rPr>
              <a:t>解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1229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Rectangle 25"/>
          <p:cNvSpPr txBox="1">
            <a:spLocks noChangeArrowheads="1"/>
          </p:cNvSpPr>
          <p:nvPr/>
        </p:nvSpPr>
        <p:spPr>
          <a:xfrm>
            <a:off x="617538" y="898525"/>
            <a:ext cx="10715625" cy="8620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500" b="1" kern="0" dirty="0">
                <a:latin typeface="+mn-lt"/>
                <a:ea typeface="楷体_GB2312" pitchFamily="49" charset="-122"/>
              </a:rPr>
              <a:t>例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</a:rPr>
              <a:t>1.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</a:rPr>
              <a:t>使用电子天平称取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</a:rPr>
              <a:t>A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</a:rPr>
              <a:t>、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</a:rPr>
              <a:t>B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</a:rPr>
              <a:t>两物体的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</a:rPr>
              <a:t>质量分别为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  <a:cs typeface="+mj-cs"/>
              </a:rPr>
              <a:t>1.5268g, 0.1526g.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</a:rPr>
              <a:t>若两物体的真实质量分别为 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  <a:cs typeface="+mj-cs"/>
              </a:rPr>
              <a:t>1.5267g, 0.1525g.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</a:rPr>
              <a:t>求称量的绝对误差和相对误差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  <a:cs typeface="+mj-cs"/>
              </a:rPr>
              <a:t>.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617538" y="2239963"/>
            <a:ext cx="10787062" cy="8620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500" b="1" kern="0" dirty="0">
                <a:latin typeface="+mn-lt"/>
                <a:ea typeface="楷体_GB2312" pitchFamily="49" charset="-122"/>
              </a:rPr>
              <a:t>例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</a:rPr>
              <a:t>2.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</a:rPr>
              <a:t>已知滴定管的读数误差为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</a:rPr>
              <a:t>±0.01mL.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</a:rPr>
              <a:t>若要使滴定时的体积误差≤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</a:rPr>
              <a:t>0.1%,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</a:rPr>
              <a:t>问最少滴定体积应为多少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</a:rPr>
              <a:t>?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14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2" name="Rectangle 18"/>
          <p:cNvSpPr>
            <a:spLocks noChangeArrowheads="1"/>
          </p:cNvSpPr>
          <p:nvPr/>
        </p:nvSpPr>
        <p:spPr bwMode="auto">
          <a:xfrm>
            <a:off x="906463" y="1460500"/>
            <a:ext cx="10136187" cy="3170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>
                <a:solidFill>
                  <a:srgbClr val="0000FF"/>
                </a:solidFill>
                <a:ea typeface="楷体_GB2312"/>
              </a:rPr>
              <a:t>deviation:</a:t>
            </a:r>
          </a:p>
          <a:p>
            <a:pPr>
              <a:defRPr/>
            </a:pPr>
            <a:r>
              <a:rPr lang="en-US" altLang="zh-CN" sz="2500" b="1">
                <a:ea typeface="楷体_GB2312"/>
              </a:rPr>
              <a:t>        </a:t>
            </a:r>
            <a:r>
              <a:rPr lang="zh-CN" altLang="en-US" sz="2500" b="1">
                <a:ea typeface="楷体_GB2312"/>
              </a:rPr>
              <a:t>测定值与测定的平均值之差</a:t>
            </a:r>
            <a:r>
              <a:rPr lang="en-US" altLang="zh-CN" sz="2500" b="1">
                <a:ea typeface="楷体_GB2312"/>
              </a:rPr>
              <a:t>.</a:t>
            </a:r>
          </a:p>
          <a:p>
            <a:pPr>
              <a:defRPr/>
            </a:pPr>
            <a:r>
              <a:rPr lang="zh-CN" altLang="en-US" sz="2500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表征</a:t>
            </a:r>
            <a:r>
              <a:rPr lang="en-US" altLang="zh-CN" sz="2500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:</a:t>
            </a:r>
          </a:p>
          <a:p>
            <a:pPr>
              <a:defRPr/>
            </a:pPr>
            <a:r>
              <a:rPr lang="en-US" altLang="zh-CN" sz="2500" b="1">
                <a:ea typeface="楷体_GB2312"/>
              </a:rPr>
              <a:t>        </a:t>
            </a:r>
            <a:r>
              <a:rPr lang="zh-CN" altLang="en-US" sz="2500" b="1">
                <a:ea typeface="楷体_GB2312"/>
              </a:rPr>
              <a:t>精密度高低</a:t>
            </a:r>
            <a:r>
              <a:rPr lang="en-US" altLang="zh-CN" sz="2500" b="1">
                <a:ea typeface="楷体_GB2312"/>
              </a:rPr>
              <a:t>.</a:t>
            </a:r>
          </a:p>
          <a:p>
            <a:pPr>
              <a:defRPr/>
            </a:pPr>
            <a:r>
              <a:rPr lang="en-US" altLang="zh-CN" sz="2500" b="1">
                <a:solidFill>
                  <a:srgbClr val="0000FF"/>
                </a:solidFill>
                <a:ea typeface="楷体_GB2312"/>
              </a:rPr>
              <a:t>precision:</a:t>
            </a:r>
          </a:p>
          <a:p>
            <a:pPr>
              <a:defRPr/>
            </a:pPr>
            <a:r>
              <a:rPr lang="en-US" altLang="zh-CN" sz="2500" b="1">
                <a:ea typeface="楷体_GB2312"/>
              </a:rPr>
              <a:t>        </a:t>
            </a:r>
            <a:r>
              <a:rPr lang="zh-CN" altLang="en-US" sz="2500" b="1">
                <a:ea typeface="楷体_GB2312"/>
              </a:rPr>
              <a:t>多次平行计量或测定值间的相互接近程度</a:t>
            </a:r>
            <a:r>
              <a:rPr lang="en-US" altLang="zh-CN" sz="2500" b="1">
                <a:ea typeface="楷体_GB2312"/>
              </a:rPr>
              <a:t>.</a:t>
            </a:r>
          </a:p>
          <a:p>
            <a:pPr>
              <a:defRPr/>
            </a:pPr>
            <a:r>
              <a:rPr lang="zh-CN" altLang="en-US" sz="2500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表示</a:t>
            </a:r>
            <a:r>
              <a:rPr lang="en-US" altLang="zh-CN" sz="2500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:</a:t>
            </a:r>
          </a:p>
          <a:p>
            <a:pPr>
              <a:defRPr/>
            </a:pP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        </a:t>
            </a: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绝对偏差</a:t>
            </a:r>
            <a:r>
              <a:rPr lang="zh-CN" altLang="en-US" sz="2500" b="1">
                <a:ea typeface="楷体_GB2312"/>
              </a:rPr>
              <a:t>和</a:t>
            </a: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相对偏差</a:t>
            </a:r>
            <a:r>
              <a:rPr lang="en-US" altLang="zh-CN" sz="2500" b="1">
                <a:ea typeface="楷体_GB2312"/>
              </a:rPr>
              <a:t>.</a:t>
            </a:r>
          </a:p>
        </p:txBody>
      </p:sp>
      <p:sp>
        <p:nvSpPr>
          <p:cNvPr id="13315" name="Rectangle 22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1.2.2</a:t>
            </a:r>
            <a:r>
              <a:rPr lang="zh-CN" altLang="en-US" smtClean="0">
                <a:latin typeface="黑体" pitchFamily="49" charset="-122"/>
                <a:ea typeface="黑体" pitchFamily="49" charset="-122"/>
              </a:rPr>
              <a:t>误差的表示方法</a:t>
            </a:r>
          </a:p>
        </p:txBody>
      </p:sp>
      <p:sp>
        <p:nvSpPr>
          <p:cNvPr id="60416" name="Rectangle 0"/>
          <p:cNvSpPr>
            <a:spLocks noChangeArrowheads="1"/>
          </p:cNvSpPr>
          <p:nvPr/>
        </p:nvSpPr>
        <p:spPr bwMode="auto">
          <a:xfrm>
            <a:off x="903288" y="954088"/>
            <a:ext cx="1013618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(2) 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精密度与偏差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60417" name="Rectangle 1"/>
          <p:cNvSpPr>
            <a:spLocks noChangeArrowheads="1"/>
          </p:cNvSpPr>
          <p:nvPr/>
        </p:nvSpPr>
        <p:spPr bwMode="auto">
          <a:xfrm>
            <a:off x="906463" y="4757738"/>
            <a:ext cx="936625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2500" b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注意:</a:t>
            </a:r>
            <a:endParaRPr lang="en-US" altLang="zh-CN" sz="2500" b="1">
              <a:solidFill>
                <a:srgbClr val="FF3300"/>
              </a:solidFill>
              <a:ea typeface="楷体_GB2312"/>
            </a:endParaRP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2266950" y="4737100"/>
            <a:ext cx="512603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平行测定的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偏差无正负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.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1331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1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1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1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1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317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317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317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60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75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2" grpId="0" build="p" autoUpdateAnimBg="0"/>
      <p:bldP spid="60416" grpId="0" build="p" autoUpdateAnimBg="0"/>
      <p:bldP spid="60417" grpId="0" autoUpdateAnimBg="0"/>
      <p:bldP spid="6041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3" name="Rectangle 25"/>
          <p:cNvSpPr>
            <a:spLocks noChangeArrowheads="1"/>
          </p:cNvSpPr>
          <p:nvPr/>
        </p:nvSpPr>
        <p:spPr bwMode="auto">
          <a:xfrm>
            <a:off x="617575" y="1454137"/>
            <a:ext cx="10572750" cy="1246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同一操作人员在同一条件下所得计量或测定值的精密度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reproducibility: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不同实验室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或不同操作人员在各自条件下所得计量或测定值的精密度</a:t>
            </a:r>
            <a:r>
              <a:rPr lang="en-US" altLang="zh-CN" sz="2500" b="1" dirty="0">
                <a:ea typeface="楷体_GB2312" pitchFamily="49" charset="-122"/>
              </a:rPr>
              <a:t>.      </a:t>
            </a:r>
          </a:p>
        </p:txBody>
      </p:sp>
      <p:sp>
        <p:nvSpPr>
          <p:cNvPr id="32792" name="Rectangle 24"/>
          <p:cNvSpPr>
            <a:spLocks noChangeArrowheads="1"/>
          </p:cNvSpPr>
          <p:nvPr/>
        </p:nvSpPr>
        <p:spPr bwMode="auto">
          <a:xfrm>
            <a:off x="617538" y="954088"/>
            <a:ext cx="1023143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repeatability:</a:t>
            </a:r>
            <a:endParaRPr lang="en-US" altLang="zh-CN" sz="2500" b="1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4340" name="Rectangle 3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1.2.2</a:t>
            </a:r>
            <a:r>
              <a:rPr lang="zh-CN" altLang="en-US" smtClean="0">
                <a:ea typeface="黑体" pitchFamily="49" charset="-122"/>
              </a:rPr>
              <a:t>误差的表示方法</a:t>
            </a:r>
          </a:p>
        </p:txBody>
      </p:sp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617538" y="3306763"/>
            <a:ext cx="10644225" cy="12464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        系统误差</a:t>
            </a:r>
            <a:r>
              <a:rPr lang="zh-CN" altLang="en-US" sz="2500" b="1" dirty="0">
                <a:ea typeface="楷体_GB2312" pitchFamily="49" charset="-122"/>
              </a:rPr>
              <a:t>是误差的主要来源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随机误差</a:t>
            </a:r>
            <a:r>
              <a:rPr lang="zh-CN" altLang="en-US" sz="2500" b="1" dirty="0">
                <a:ea typeface="楷体_GB2312" pitchFamily="49" charset="-122"/>
              </a:rPr>
              <a:t>决定了结果的精密度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r>
              <a:rPr lang="zh-CN" altLang="en-US" sz="2500" b="1" dirty="0" smtClean="0">
                <a:ea typeface="楷体_GB2312" pitchFamily="49" charset="-122"/>
              </a:rPr>
              <a:t>        若</a:t>
            </a:r>
            <a:r>
              <a:rPr lang="zh-CN" altLang="en-US" sz="2500" b="1" dirty="0">
                <a:ea typeface="楷体_GB2312" pitchFamily="49" charset="-122"/>
              </a:rPr>
              <a:t>没消除系统误差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即使测定的精密度再高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也不能说明计量或测定结果可靠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endParaRPr lang="zh-CN" altLang="en-US" sz="2500" b="1" dirty="0">
              <a:ea typeface="楷体_GB2312" pitchFamily="49" charset="-122"/>
            </a:endParaRP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474663" y="2740025"/>
            <a:ext cx="103901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(3)accuracy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与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precision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的关系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r>
              <a:rPr lang="en-US" altLang="zh-CN" sz="2500" b="1">
                <a:ea typeface="楷体_GB2312" pitchFamily="49" charset="-122"/>
              </a:rPr>
              <a:t>        </a:t>
            </a:r>
          </a:p>
        </p:txBody>
      </p:sp>
      <p:sp>
        <p:nvSpPr>
          <p:cNvPr id="1434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2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2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27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61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93" grpId="0" build="p" autoUpdateAnimBg="0"/>
      <p:bldP spid="32792" grpId="0" autoUpdateAnimBg="0"/>
      <p:bldP spid="61447" grpId="0" build="p" autoUpdateAnimBg="0"/>
      <p:bldP spid="9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529638" y="1725613"/>
            <a:ext cx="2160587" cy="2160587"/>
            <a:chOff x="4128" y="2448"/>
            <a:chExt cx="1104" cy="1104"/>
          </a:xfrm>
        </p:grpSpPr>
        <p:sp>
          <p:nvSpPr>
            <p:cNvPr id="15406" name="Oval 79"/>
            <p:cNvSpPr>
              <a:spLocks noChangeArrowheads="1"/>
            </p:cNvSpPr>
            <p:nvPr/>
          </p:nvSpPr>
          <p:spPr bwMode="auto">
            <a:xfrm>
              <a:off x="4128" y="2448"/>
              <a:ext cx="1104" cy="1104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407" name="Oval 80"/>
            <p:cNvSpPr>
              <a:spLocks noChangeAspect="1" noChangeArrowheads="1"/>
            </p:cNvSpPr>
            <p:nvPr/>
          </p:nvSpPr>
          <p:spPr bwMode="auto">
            <a:xfrm>
              <a:off x="4224" y="2539"/>
              <a:ext cx="907" cy="907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408" name="Oval 81"/>
            <p:cNvSpPr>
              <a:spLocks noChangeAspect="1" noChangeArrowheads="1"/>
            </p:cNvSpPr>
            <p:nvPr/>
          </p:nvSpPr>
          <p:spPr bwMode="auto">
            <a:xfrm>
              <a:off x="4320" y="2629"/>
              <a:ext cx="725" cy="725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409" name="Oval 82"/>
            <p:cNvSpPr>
              <a:spLocks noChangeAspect="1" noChangeArrowheads="1"/>
            </p:cNvSpPr>
            <p:nvPr/>
          </p:nvSpPr>
          <p:spPr bwMode="auto">
            <a:xfrm>
              <a:off x="4416" y="2720"/>
              <a:ext cx="544" cy="544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410" name="Oval 83"/>
            <p:cNvSpPr>
              <a:spLocks noChangeAspect="1" noChangeArrowheads="1"/>
            </p:cNvSpPr>
            <p:nvPr/>
          </p:nvSpPr>
          <p:spPr bwMode="auto">
            <a:xfrm>
              <a:off x="4512" y="2811"/>
              <a:ext cx="363" cy="363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411" name="Oval 84"/>
            <p:cNvSpPr>
              <a:spLocks noChangeAspect="1" noChangeArrowheads="1"/>
            </p:cNvSpPr>
            <p:nvPr/>
          </p:nvSpPr>
          <p:spPr bwMode="auto">
            <a:xfrm>
              <a:off x="4608" y="2901"/>
              <a:ext cx="181" cy="181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</p:grpSp>
      <p:grpSp>
        <p:nvGrpSpPr>
          <p:cNvPr id="3" name="Group 0"/>
          <p:cNvGrpSpPr>
            <a:grpSpLocks/>
          </p:cNvGrpSpPr>
          <p:nvPr/>
        </p:nvGrpSpPr>
        <p:grpSpPr bwMode="auto">
          <a:xfrm>
            <a:off x="1046163" y="1668463"/>
            <a:ext cx="2160587" cy="2160587"/>
            <a:chOff x="385" y="2448"/>
            <a:chExt cx="1104" cy="1104"/>
          </a:xfrm>
        </p:grpSpPr>
        <p:sp>
          <p:nvSpPr>
            <p:cNvPr id="15400" name="Oval 52"/>
            <p:cNvSpPr>
              <a:spLocks noChangeArrowheads="1"/>
            </p:cNvSpPr>
            <p:nvPr/>
          </p:nvSpPr>
          <p:spPr bwMode="auto">
            <a:xfrm>
              <a:off x="385" y="2448"/>
              <a:ext cx="1104" cy="1104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401" name="Oval 53"/>
            <p:cNvSpPr>
              <a:spLocks noChangeAspect="1" noChangeArrowheads="1"/>
            </p:cNvSpPr>
            <p:nvPr/>
          </p:nvSpPr>
          <p:spPr bwMode="auto">
            <a:xfrm>
              <a:off x="476" y="2539"/>
              <a:ext cx="907" cy="907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402" name="Oval 54"/>
            <p:cNvSpPr>
              <a:spLocks noChangeAspect="1" noChangeArrowheads="1"/>
            </p:cNvSpPr>
            <p:nvPr/>
          </p:nvSpPr>
          <p:spPr bwMode="auto">
            <a:xfrm>
              <a:off x="566" y="2629"/>
              <a:ext cx="725" cy="725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403" name="Oval 55"/>
            <p:cNvSpPr>
              <a:spLocks noChangeAspect="1" noChangeArrowheads="1"/>
            </p:cNvSpPr>
            <p:nvPr/>
          </p:nvSpPr>
          <p:spPr bwMode="auto">
            <a:xfrm>
              <a:off x="657" y="2720"/>
              <a:ext cx="544" cy="544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404" name="Oval 56"/>
            <p:cNvSpPr>
              <a:spLocks noChangeAspect="1" noChangeArrowheads="1"/>
            </p:cNvSpPr>
            <p:nvPr/>
          </p:nvSpPr>
          <p:spPr bwMode="auto">
            <a:xfrm>
              <a:off x="748" y="2811"/>
              <a:ext cx="363" cy="363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405" name="Oval 57"/>
            <p:cNvSpPr>
              <a:spLocks noChangeAspect="1" noChangeArrowheads="1"/>
            </p:cNvSpPr>
            <p:nvPr/>
          </p:nvSpPr>
          <p:spPr bwMode="auto">
            <a:xfrm>
              <a:off x="838" y="2901"/>
              <a:ext cx="181" cy="181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</p:grpSp>
      <p:sp>
        <p:nvSpPr>
          <p:cNvPr id="43066" name="AutoShape 58"/>
          <p:cNvSpPr>
            <a:spLocks noChangeAspect="1" noChangeArrowheads="1"/>
          </p:cNvSpPr>
          <p:nvPr/>
        </p:nvSpPr>
        <p:spPr bwMode="auto">
          <a:xfrm flipV="1">
            <a:off x="1404938" y="1998663"/>
            <a:ext cx="287337" cy="215900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43067" name="AutoShape 59"/>
          <p:cNvSpPr>
            <a:spLocks noChangeAspect="1" noChangeArrowheads="1"/>
          </p:cNvSpPr>
          <p:nvPr/>
        </p:nvSpPr>
        <p:spPr bwMode="auto">
          <a:xfrm>
            <a:off x="1314450" y="2066925"/>
            <a:ext cx="225425" cy="169863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43068" name="AutoShape 60"/>
          <p:cNvSpPr>
            <a:spLocks noChangeAspect="1" noChangeArrowheads="1"/>
          </p:cNvSpPr>
          <p:nvPr/>
        </p:nvSpPr>
        <p:spPr bwMode="auto">
          <a:xfrm>
            <a:off x="1314450" y="1998663"/>
            <a:ext cx="225425" cy="168275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grpSp>
        <p:nvGrpSpPr>
          <p:cNvPr id="4" name="Group 1"/>
          <p:cNvGrpSpPr>
            <a:grpSpLocks/>
          </p:cNvGrpSpPr>
          <p:nvPr/>
        </p:nvGrpSpPr>
        <p:grpSpPr bwMode="auto">
          <a:xfrm>
            <a:off x="3546475" y="1668463"/>
            <a:ext cx="2160588" cy="2160587"/>
            <a:chOff x="1632" y="2448"/>
            <a:chExt cx="1104" cy="1104"/>
          </a:xfrm>
        </p:grpSpPr>
        <p:sp>
          <p:nvSpPr>
            <p:cNvPr id="15394" name="Oval 61"/>
            <p:cNvSpPr>
              <a:spLocks noChangeArrowheads="1"/>
            </p:cNvSpPr>
            <p:nvPr/>
          </p:nvSpPr>
          <p:spPr bwMode="auto">
            <a:xfrm>
              <a:off x="1632" y="2448"/>
              <a:ext cx="1104" cy="1104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395" name="Oval 62"/>
            <p:cNvSpPr>
              <a:spLocks noChangeAspect="1" noChangeArrowheads="1"/>
            </p:cNvSpPr>
            <p:nvPr/>
          </p:nvSpPr>
          <p:spPr bwMode="auto">
            <a:xfrm>
              <a:off x="1722" y="2539"/>
              <a:ext cx="907" cy="907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396" name="Oval 63"/>
            <p:cNvSpPr>
              <a:spLocks noChangeAspect="1" noChangeArrowheads="1"/>
            </p:cNvSpPr>
            <p:nvPr/>
          </p:nvSpPr>
          <p:spPr bwMode="auto">
            <a:xfrm>
              <a:off x="1813" y="2629"/>
              <a:ext cx="725" cy="725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397" name="Oval 64"/>
            <p:cNvSpPr>
              <a:spLocks noChangeAspect="1" noChangeArrowheads="1"/>
            </p:cNvSpPr>
            <p:nvPr/>
          </p:nvSpPr>
          <p:spPr bwMode="auto">
            <a:xfrm>
              <a:off x="1904" y="2720"/>
              <a:ext cx="544" cy="544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398" name="Oval 65"/>
            <p:cNvSpPr>
              <a:spLocks noChangeAspect="1" noChangeArrowheads="1"/>
            </p:cNvSpPr>
            <p:nvPr/>
          </p:nvSpPr>
          <p:spPr bwMode="auto">
            <a:xfrm>
              <a:off x="1994" y="2811"/>
              <a:ext cx="363" cy="363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399" name="Oval 66"/>
            <p:cNvSpPr>
              <a:spLocks noChangeAspect="1" noChangeArrowheads="1"/>
            </p:cNvSpPr>
            <p:nvPr/>
          </p:nvSpPr>
          <p:spPr bwMode="auto">
            <a:xfrm>
              <a:off x="2085" y="2901"/>
              <a:ext cx="181" cy="181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</p:grpSp>
      <p:sp>
        <p:nvSpPr>
          <p:cNvPr id="43075" name="AutoShape 67"/>
          <p:cNvSpPr>
            <a:spLocks noChangeAspect="1" noChangeArrowheads="1"/>
          </p:cNvSpPr>
          <p:nvPr/>
        </p:nvSpPr>
        <p:spPr bwMode="auto">
          <a:xfrm>
            <a:off x="3903663" y="1668463"/>
            <a:ext cx="225425" cy="168275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43076" name="AutoShape 68"/>
          <p:cNvSpPr>
            <a:spLocks noChangeAspect="1" noChangeArrowheads="1"/>
          </p:cNvSpPr>
          <p:nvPr/>
        </p:nvSpPr>
        <p:spPr bwMode="auto">
          <a:xfrm>
            <a:off x="5078413" y="2201863"/>
            <a:ext cx="227012" cy="169862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43077" name="AutoShape 69"/>
          <p:cNvSpPr>
            <a:spLocks noChangeAspect="1" noChangeArrowheads="1"/>
          </p:cNvSpPr>
          <p:nvPr/>
        </p:nvSpPr>
        <p:spPr bwMode="auto">
          <a:xfrm>
            <a:off x="3536950" y="2576513"/>
            <a:ext cx="225425" cy="169862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6032500" y="1725613"/>
            <a:ext cx="2160588" cy="2160587"/>
            <a:chOff x="2880" y="2448"/>
            <a:chExt cx="1104" cy="1104"/>
          </a:xfrm>
        </p:grpSpPr>
        <p:sp>
          <p:nvSpPr>
            <p:cNvPr id="15388" name="Oval 70"/>
            <p:cNvSpPr>
              <a:spLocks noChangeArrowheads="1"/>
            </p:cNvSpPr>
            <p:nvPr/>
          </p:nvSpPr>
          <p:spPr bwMode="auto">
            <a:xfrm>
              <a:off x="2880" y="2448"/>
              <a:ext cx="1104" cy="1104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389" name="Oval 71"/>
            <p:cNvSpPr>
              <a:spLocks noChangeAspect="1" noChangeArrowheads="1"/>
            </p:cNvSpPr>
            <p:nvPr/>
          </p:nvSpPr>
          <p:spPr bwMode="auto">
            <a:xfrm>
              <a:off x="2981" y="2539"/>
              <a:ext cx="907" cy="907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390" name="Oval 72"/>
            <p:cNvSpPr>
              <a:spLocks noChangeAspect="1" noChangeArrowheads="1"/>
            </p:cNvSpPr>
            <p:nvPr/>
          </p:nvSpPr>
          <p:spPr bwMode="auto">
            <a:xfrm>
              <a:off x="3071" y="2629"/>
              <a:ext cx="725" cy="725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391" name="Oval 73"/>
            <p:cNvSpPr>
              <a:spLocks noChangeAspect="1" noChangeArrowheads="1"/>
            </p:cNvSpPr>
            <p:nvPr/>
          </p:nvSpPr>
          <p:spPr bwMode="auto">
            <a:xfrm>
              <a:off x="3168" y="2720"/>
              <a:ext cx="544" cy="544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392" name="Oval 74"/>
            <p:cNvSpPr>
              <a:spLocks noChangeAspect="1" noChangeArrowheads="1"/>
            </p:cNvSpPr>
            <p:nvPr/>
          </p:nvSpPr>
          <p:spPr bwMode="auto">
            <a:xfrm>
              <a:off x="3264" y="2811"/>
              <a:ext cx="363" cy="363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15393" name="Oval 75"/>
            <p:cNvSpPr>
              <a:spLocks noChangeAspect="1" noChangeArrowheads="1"/>
            </p:cNvSpPr>
            <p:nvPr/>
          </p:nvSpPr>
          <p:spPr bwMode="auto">
            <a:xfrm>
              <a:off x="3360" y="2901"/>
              <a:ext cx="181" cy="181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楷体_GB2312" pitchFamily="49" charset="-122"/>
              </a:endParaRPr>
            </a:p>
          </p:txBody>
        </p:sp>
      </p:grpSp>
      <p:sp>
        <p:nvSpPr>
          <p:cNvPr id="43084" name="AutoShape 76"/>
          <p:cNvSpPr>
            <a:spLocks noChangeAspect="1" noChangeArrowheads="1"/>
          </p:cNvSpPr>
          <p:nvPr/>
        </p:nvSpPr>
        <p:spPr bwMode="auto">
          <a:xfrm>
            <a:off x="7073900" y="2713038"/>
            <a:ext cx="225425" cy="169862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43085" name="AutoShape 77"/>
          <p:cNvSpPr>
            <a:spLocks noChangeAspect="1" noChangeArrowheads="1"/>
          </p:cNvSpPr>
          <p:nvPr/>
        </p:nvSpPr>
        <p:spPr bwMode="auto">
          <a:xfrm>
            <a:off x="6964363" y="2570163"/>
            <a:ext cx="225425" cy="169862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43086" name="AutoShape 78"/>
          <p:cNvSpPr>
            <a:spLocks noChangeAspect="1" noChangeArrowheads="1"/>
          </p:cNvSpPr>
          <p:nvPr/>
        </p:nvSpPr>
        <p:spPr bwMode="auto">
          <a:xfrm>
            <a:off x="7162800" y="2570163"/>
            <a:ext cx="227013" cy="169862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43093" name="AutoShape 85"/>
          <p:cNvSpPr>
            <a:spLocks noChangeAspect="1" noChangeArrowheads="1"/>
          </p:cNvSpPr>
          <p:nvPr/>
        </p:nvSpPr>
        <p:spPr bwMode="auto">
          <a:xfrm>
            <a:off x="9297988" y="2882900"/>
            <a:ext cx="225425" cy="169863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43094" name="AutoShape 86"/>
          <p:cNvSpPr>
            <a:spLocks noChangeAspect="1" noChangeArrowheads="1"/>
          </p:cNvSpPr>
          <p:nvPr/>
        </p:nvSpPr>
        <p:spPr bwMode="auto">
          <a:xfrm>
            <a:off x="9793288" y="2439988"/>
            <a:ext cx="227012" cy="169862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43095" name="AutoShape 87"/>
          <p:cNvSpPr>
            <a:spLocks noChangeAspect="1" noChangeArrowheads="1"/>
          </p:cNvSpPr>
          <p:nvPr/>
        </p:nvSpPr>
        <p:spPr bwMode="auto">
          <a:xfrm>
            <a:off x="9793288" y="2133600"/>
            <a:ext cx="227012" cy="169863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43096" name="Rectangle 88"/>
          <p:cNvSpPr>
            <a:spLocks noChangeArrowheads="1"/>
          </p:cNvSpPr>
          <p:nvPr/>
        </p:nvSpPr>
        <p:spPr bwMode="auto">
          <a:xfrm>
            <a:off x="1898650" y="3833813"/>
            <a:ext cx="5048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甲</a:t>
            </a:r>
          </a:p>
        </p:txBody>
      </p:sp>
      <p:sp>
        <p:nvSpPr>
          <p:cNvPr id="43097" name="Rectangle 89"/>
          <p:cNvSpPr>
            <a:spLocks noChangeArrowheads="1"/>
          </p:cNvSpPr>
          <p:nvPr/>
        </p:nvSpPr>
        <p:spPr bwMode="auto">
          <a:xfrm>
            <a:off x="4362450" y="3833813"/>
            <a:ext cx="684213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乙</a:t>
            </a:r>
          </a:p>
        </p:txBody>
      </p:sp>
      <p:sp>
        <p:nvSpPr>
          <p:cNvPr id="43098" name="Rectangle 90"/>
          <p:cNvSpPr>
            <a:spLocks noChangeArrowheads="1"/>
          </p:cNvSpPr>
          <p:nvPr/>
        </p:nvSpPr>
        <p:spPr bwMode="auto">
          <a:xfrm>
            <a:off x="6899275" y="3811588"/>
            <a:ext cx="5048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丙</a:t>
            </a:r>
          </a:p>
        </p:txBody>
      </p:sp>
      <p:sp>
        <p:nvSpPr>
          <p:cNvPr id="43099" name="Rectangle 91"/>
          <p:cNvSpPr>
            <a:spLocks noChangeArrowheads="1"/>
          </p:cNvSpPr>
          <p:nvPr/>
        </p:nvSpPr>
        <p:spPr bwMode="auto">
          <a:xfrm>
            <a:off x="9399588" y="3833813"/>
            <a:ext cx="5048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丁</a:t>
            </a:r>
          </a:p>
        </p:txBody>
      </p:sp>
      <p:sp>
        <p:nvSpPr>
          <p:cNvPr id="20502" name="Rectangle 4"/>
          <p:cNvSpPr>
            <a:spLocks noGrp="1" noChangeArrowheads="1"/>
          </p:cNvSpPr>
          <p:nvPr>
            <p:ph type="title"/>
          </p:nvPr>
        </p:nvSpPr>
        <p:spPr>
          <a:xfrm>
            <a:off x="546100" y="882650"/>
            <a:ext cx="10215563" cy="477838"/>
          </a:xfrm>
        </p:spPr>
        <p:txBody>
          <a:bodyPr/>
          <a:lstStyle/>
          <a:p>
            <a:r>
              <a:rPr kumimoji="1" lang="zh-CN" altLang="en-US" sz="2500" smtClean="0">
                <a:solidFill>
                  <a:schemeClr val="tx1"/>
                </a:solidFill>
                <a:ea typeface="楷体_GB2312" pitchFamily="49" charset="-122"/>
              </a:rPr>
              <a:t>例</a:t>
            </a:r>
            <a:r>
              <a:rPr kumimoji="1" lang="en-US" altLang="zh-CN" sz="2500" smtClean="0">
                <a:solidFill>
                  <a:schemeClr val="tx1"/>
                </a:solidFill>
                <a:ea typeface="楷体_GB2312" pitchFamily="49" charset="-122"/>
              </a:rPr>
              <a:t>.</a:t>
            </a:r>
            <a:r>
              <a:rPr kumimoji="1" lang="zh-CN" altLang="en-US" sz="2500" smtClean="0">
                <a:solidFill>
                  <a:schemeClr val="tx1"/>
                </a:solidFill>
                <a:ea typeface="楷体_GB2312" pitchFamily="49" charset="-122"/>
              </a:rPr>
              <a:t>甲</a:t>
            </a:r>
            <a:r>
              <a:rPr kumimoji="1" lang="en-US" altLang="zh-CN" sz="2500" smtClean="0">
                <a:solidFill>
                  <a:schemeClr val="tx1"/>
                </a:solidFill>
                <a:ea typeface="楷体_GB2312" pitchFamily="49" charset="-122"/>
              </a:rPr>
              <a:t>,</a:t>
            </a:r>
            <a:r>
              <a:rPr kumimoji="1" lang="zh-CN" altLang="en-US" sz="2500" smtClean="0">
                <a:solidFill>
                  <a:schemeClr val="tx1"/>
                </a:solidFill>
                <a:ea typeface="楷体_GB2312" pitchFamily="49" charset="-122"/>
              </a:rPr>
              <a:t>乙</a:t>
            </a:r>
            <a:r>
              <a:rPr kumimoji="1" lang="en-US" altLang="zh-CN" sz="2500" smtClean="0">
                <a:solidFill>
                  <a:schemeClr val="tx1"/>
                </a:solidFill>
                <a:ea typeface="楷体_GB2312" pitchFamily="49" charset="-122"/>
              </a:rPr>
              <a:t>,</a:t>
            </a:r>
            <a:r>
              <a:rPr kumimoji="1" lang="zh-CN" altLang="en-US" sz="2500" smtClean="0">
                <a:solidFill>
                  <a:schemeClr val="tx1"/>
                </a:solidFill>
                <a:ea typeface="楷体_GB2312" pitchFamily="49" charset="-122"/>
              </a:rPr>
              <a:t>丙</a:t>
            </a:r>
            <a:r>
              <a:rPr kumimoji="1" lang="en-US" altLang="zh-CN" sz="2500" smtClean="0">
                <a:solidFill>
                  <a:schemeClr val="tx1"/>
                </a:solidFill>
                <a:ea typeface="楷体_GB2312" pitchFamily="49" charset="-122"/>
              </a:rPr>
              <a:t>,</a:t>
            </a:r>
            <a:r>
              <a:rPr kumimoji="1" lang="zh-CN" altLang="en-US" sz="2500" smtClean="0">
                <a:solidFill>
                  <a:schemeClr val="tx1"/>
                </a:solidFill>
                <a:ea typeface="楷体_GB2312" pitchFamily="49" charset="-122"/>
              </a:rPr>
              <a:t>丁四同学经训练和练习后实弹打靶</a:t>
            </a:r>
            <a:r>
              <a:rPr kumimoji="1" lang="en-US" altLang="zh-CN" sz="2500" smtClean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54281" name="Rectangle 9"/>
          <p:cNvSpPr>
            <a:spLocks noChangeArrowheads="1"/>
          </p:cNvSpPr>
          <p:nvPr/>
        </p:nvSpPr>
        <p:spPr bwMode="auto">
          <a:xfrm>
            <a:off x="831850" y="4597400"/>
            <a:ext cx="9366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chemeClr val="tx2"/>
                </a:solidFill>
                <a:ea typeface="楷体_GB2312" pitchFamily="49" charset="-122"/>
              </a:rPr>
              <a:t>结论</a:t>
            </a:r>
            <a:r>
              <a:rPr lang="en-US" altLang="zh-CN" sz="2500" b="1">
                <a:solidFill>
                  <a:schemeClr val="tx2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54282" name="Rectangle 10"/>
          <p:cNvSpPr>
            <a:spLocks noChangeArrowheads="1"/>
          </p:cNvSpPr>
          <p:nvPr/>
        </p:nvSpPr>
        <p:spPr bwMode="auto">
          <a:xfrm>
            <a:off x="1760538" y="4597400"/>
            <a:ext cx="1023143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精密度是保证准确度的前提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但是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高的精密度不一定准确度就高</a:t>
            </a:r>
            <a:r>
              <a:rPr lang="en-US" altLang="zh-CN" b="1" dirty="0">
                <a:ea typeface="楷体_GB2312" pitchFamily="49" charset="-122"/>
              </a:rPr>
              <a:t>.</a:t>
            </a:r>
          </a:p>
        </p:txBody>
      </p:sp>
      <p:sp>
        <p:nvSpPr>
          <p:cNvPr id="53" name="Rectangle 30"/>
          <p:cNvSpPr txBox="1">
            <a:spLocks noChangeArrowheads="1"/>
          </p:cNvSpPr>
          <p:nvPr/>
        </p:nvSpPr>
        <p:spPr bwMode="auto">
          <a:xfrm>
            <a:off x="576263" y="258763"/>
            <a:ext cx="103695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en-US" altLang="zh-CN" sz="2200" b="1" kern="0">
                <a:solidFill>
                  <a:srgbClr val="FF0000"/>
                </a:solidFill>
                <a:ea typeface="楷体_GB2312"/>
                <a:cs typeface="+mj-cs"/>
              </a:rPr>
              <a:t>1.2.2</a:t>
            </a:r>
            <a:r>
              <a:rPr lang="zh-CN" altLang="en-US" sz="2200" b="1" ker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+mj-cs"/>
              </a:rPr>
              <a:t>误差的表示方法</a:t>
            </a:r>
          </a:p>
        </p:txBody>
      </p:sp>
      <p:sp>
        <p:nvSpPr>
          <p:cNvPr id="1538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87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3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3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3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3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3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3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3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3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3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3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3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3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3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3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3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0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66" grpId="0" animBg="1"/>
      <p:bldP spid="43067" grpId="0" animBg="1"/>
      <p:bldP spid="43068" grpId="0" animBg="1"/>
      <p:bldP spid="43075" grpId="0" animBg="1"/>
      <p:bldP spid="43076" grpId="0" animBg="1"/>
      <p:bldP spid="43077" grpId="0" animBg="1"/>
      <p:bldP spid="43084" grpId="0" animBg="1"/>
      <p:bldP spid="43085" grpId="0" animBg="1"/>
      <p:bldP spid="43086" grpId="0" animBg="1"/>
      <p:bldP spid="43093" grpId="0" animBg="1"/>
      <p:bldP spid="43094" grpId="0" animBg="1"/>
      <p:bldP spid="43095" grpId="0" animBg="1"/>
      <p:bldP spid="43096" grpId="0" autoUpdateAnimBg="0"/>
      <p:bldP spid="43097" grpId="0" autoUpdateAnimBg="0"/>
      <p:bldP spid="43098" grpId="0" autoUpdateAnimBg="0"/>
      <p:bldP spid="43099" grpId="0" autoUpdateAnimBg="0"/>
      <p:bldP spid="20502" grpId="0"/>
      <p:bldP spid="54281" grpId="0"/>
      <p:bldP spid="5428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1">
            <a:spLocks noChangeArrowheads="1"/>
          </p:cNvSpPr>
          <p:nvPr/>
        </p:nvSpPr>
        <p:spPr>
          <a:xfrm>
            <a:off x="576263" y="258763"/>
            <a:ext cx="10369550" cy="431800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lang="en-US" altLang="zh-CN" sz="2200" b="1" kern="0">
                <a:solidFill>
                  <a:srgbClr val="FF0000"/>
                </a:solidFill>
                <a:ea typeface="黑体" pitchFamily="2" charset="-122"/>
                <a:cs typeface="+mj-cs"/>
              </a:rPr>
              <a:t>1.2.3</a:t>
            </a:r>
            <a:r>
              <a:rPr lang="zh-CN" altLang="en-US" sz="2200" b="1" kern="0">
                <a:solidFill>
                  <a:srgbClr val="FF0000"/>
                </a:solidFill>
                <a:ea typeface="黑体" pitchFamily="2" charset="-122"/>
                <a:cs typeface="+mj-cs"/>
              </a:rPr>
              <a:t>误差的减免</a:t>
            </a:r>
          </a:p>
        </p:txBody>
      </p:sp>
      <p:sp>
        <p:nvSpPr>
          <p:cNvPr id="2053" name="Rectangle 2"/>
          <p:cNvSpPr>
            <a:spLocks noChangeArrowheads="1"/>
          </p:cNvSpPr>
          <p:nvPr/>
        </p:nvSpPr>
        <p:spPr bwMode="auto">
          <a:xfrm>
            <a:off x="260350" y="882650"/>
            <a:ext cx="37528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342900" eaLnBrk="0" hangingPunct="0">
              <a:defRPr/>
            </a:pPr>
            <a:r>
              <a:rPr lang="zh-CN" altLang="en-US" sz="25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⑴选择合适的分析方法</a:t>
            </a:r>
          </a:p>
        </p:txBody>
      </p:sp>
      <p:sp>
        <p:nvSpPr>
          <p:cNvPr id="2054" name="Rectangle 2"/>
          <p:cNvSpPr>
            <a:spLocks noChangeArrowheads="1"/>
          </p:cNvSpPr>
          <p:nvPr/>
        </p:nvSpPr>
        <p:spPr bwMode="auto">
          <a:xfrm>
            <a:off x="260350" y="1382713"/>
            <a:ext cx="28384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342900" eaLnBrk="0" hangingPunct="0"/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(2)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减小测量误差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760413" y="1858963"/>
            <a:ext cx="10572750" cy="523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r>
              <a:rPr lang="zh-CN" altLang="en-US" sz="2800" dirty="0">
                <a:ea typeface="楷体_GB2312" pitchFamily="49" charset="-122"/>
              </a:rPr>
              <a:t>   </a:t>
            </a:r>
            <a:r>
              <a:rPr lang="zh-CN" altLang="en-US" sz="2500" b="1" dirty="0" smtClean="0">
                <a:ea typeface="楷体_GB2312" pitchFamily="49" charset="-122"/>
              </a:rPr>
              <a:t>滴定体积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r>
              <a:rPr lang="zh-CN" altLang="en-US" sz="2500" b="1" dirty="0" smtClean="0">
                <a:ea typeface="楷体_GB2312" pitchFamily="49" charset="-122"/>
              </a:rPr>
              <a:t>常量滴定的最少</a:t>
            </a:r>
            <a:r>
              <a:rPr lang="zh-CN" altLang="en-US" sz="2500" b="1" dirty="0">
                <a:ea typeface="楷体_GB2312" pitchFamily="49" charset="-122"/>
              </a:rPr>
              <a:t>耗用体积</a:t>
            </a: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1046163" y="2449513"/>
            <a:ext cx="10215562" cy="477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分析天平称量</a:t>
            </a:r>
            <a:r>
              <a:rPr lang="en-US" altLang="zh-CN" sz="2500" b="1" dirty="0" smtClean="0">
                <a:ea typeface="楷体_GB2312" pitchFamily="49" charset="-122"/>
              </a:rPr>
              <a:t>: </a:t>
            </a:r>
            <a:r>
              <a:rPr lang="zh-CN" altLang="en-US" sz="2500" b="1" dirty="0" smtClean="0">
                <a:ea typeface="楷体_GB2312" pitchFamily="49" charset="-122"/>
              </a:rPr>
              <a:t>常量分析的最少称量质量</a:t>
            </a:r>
            <a:endParaRPr lang="zh-CN" altLang="en-US" sz="2500" b="1" dirty="0">
              <a:ea typeface="楷体_GB2312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0"/>
            <a:ext cx="184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0" y="0"/>
            <a:ext cx="184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58" name="Rectangle 11"/>
          <p:cNvSpPr>
            <a:spLocks noChangeArrowheads="1"/>
          </p:cNvSpPr>
          <p:nvPr/>
        </p:nvSpPr>
        <p:spPr bwMode="auto">
          <a:xfrm>
            <a:off x="0" y="0"/>
            <a:ext cx="184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6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9"/>
          <p:cNvSpPr>
            <a:spLocks noChangeArrowheads="1"/>
          </p:cNvSpPr>
          <p:nvPr/>
        </p:nvSpPr>
        <p:spPr bwMode="auto">
          <a:xfrm>
            <a:off x="617538" y="2987165"/>
            <a:ext cx="10501312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(3)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系统误差的减免</a:t>
            </a:r>
            <a:r>
              <a:rPr lang="zh-CN" altLang="en-US" sz="2500" b="1" dirty="0">
                <a:ea typeface="楷体_GB2312" pitchFamily="49" charset="-122"/>
              </a:rPr>
              <a:t>　　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617501" y="3415793"/>
            <a:ext cx="10501312" cy="59247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500" b="1" dirty="0">
                <a:ea typeface="楷体_GB2312" pitchFamily="49" charset="-122"/>
              </a:rPr>
              <a:t>　　</a:t>
            </a:r>
            <a:r>
              <a:rPr lang="zh-CN" altLang="en-US" sz="2500" b="1" dirty="0" smtClean="0">
                <a:ea typeface="楷体_GB2312" pitchFamily="49" charset="-122"/>
              </a:rPr>
              <a:t>仪器</a:t>
            </a:r>
            <a:r>
              <a:rPr lang="zh-CN" altLang="en-US" sz="2500" b="1" dirty="0">
                <a:ea typeface="楷体_GB2312" pitchFamily="49" charset="-122"/>
              </a:rPr>
              <a:t>校准</a:t>
            </a:r>
            <a:r>
              <a:rPr lang="zh-CN" altLang="en-US" sz="2500" b="1" dirty="0" smtClean="0">
                <a:ea typeface="楷体_GB2312" pitchFamily="49" charset="-122"/>
              </a:rPr>
              <a:t>、空白试验</a:t>
            </a:r>
            <a:r>
              <a:rPr lang="zh-CN" altLang="en-US" sz="2500" b="1" dirty="0">
                <a:ea typeface="楷体_GB2312" pitchFamily="49" charset="-122"/>
              </a:rPr>
              <a:t>、对照试验、加入</a:t>
            </a:r>
            <a:r>
              <a:rPr lang="zh-CN" altLang="en-US" sz="2500" b="1" dirty="0">
                <a:ea typeface="楷体_GB2312" pitchFamily="49" charset="-122"/>
              </a:rPr>
              <a:t>回收试验</a:t>
            </a:r>
            <a:r>
              <a:rPr lang="zh-CN" altLang="en-US" sz="2500" b="1" dirty="0" smtClean="0">
                <a:ea typeface="楷体_GB2312" pitchFamily="49" charset="-122"/>
              </a:rPr>
              <a:t>等</a:t>
            </a:r>
            <a:r>
              <a:rPr lang="en-US" altLang="zh-CN" sz="2500" b="1" dirty="0" smtClean="0">
                <a:ea typeface="楷体_GB2312" pitchFamily="49" charset="-122"/>
              </a:rPr>
              <a:t>.</a:t>
            </a:r>
            <a:endParaRPr lang="zh-CN" altLang="en-US" sz="2500" b="1" dirty="0"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/>
      <p:bldP spid="2054" grpId="0"/>
      <p:bldP spid="2055" grpId="0"/>
      <p:bldP spid="20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 txBox="1">
            <a:spLocks noChangeArrowheads="1"/>
          </p:cNvSpPr>
          <p:nvPr/>
        </p:nvSpPr>
        <p:spPr>
          <a:xfrm>
            <a:off x="331788" y="239713"/>
            <a:ext cx="10369550" cy="431800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lang="en-US" altLang="zh-CN" sz="2200" b="1" kern="0">
                <a:solidFill>
                  <a:srgbClr val="FF0000"/>
                </a:solidFill>
                <a:latin typeface="+mj-lt"/>
                <a:ea typeface="黑体" pitchFamily="2" charset="-122"/>
                <a:cs typeface="+mj-cs"/>
              </a:rPr>
              <a:t>1.2.3</a:t>
            </a:r>
            <a:r>
              <a:rPr lang="zh-CN" altLang="en-US" sz="2200" b="1" kern="0">
                <a:solidFill>
                  <a:srgbClr val="FF0000"/>
                </a:solidFill>
                <a:latin typeface="+mj-lt"/>
                <a:ea typeface="黑体" pitchFamily="2" charset="-122"/>
                <a:cs typeface="+mj-cs"/>
              </a:rPr>
              <a:t>误差的减免</a:t>
            </a:r>
          </a:p>
        </p:txBody>
      </p:sp>
      <p:sp>
        <p:nvSpPr>
          <p:cNvPr id="20484" name="矩形 5"/>
          <p:cNvSpPr>
            <a:spLocks noChangeArrowheads="1"/>
          </p:cNvSpPr>
          <p:nvPr/>
        </p:nvSpPr>
        <p:spPr bwMode="auto">
          <a:xfrm>
            <a:off x="1260475" y="1882765"/>
            <a:ext cx="9858375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</a:rPr>
              <a:t>消除</a:t>
            </a:r>
            <a:r>
              <a:rPr lang="zh-CN" altLang="en-US" sz="2500" b="1" dirty="0">
                <a:ea typeface="楷体_GB2312" pitchFamily="49" charset="-122"/>
              </a:rPr>
              <a:t>由试剂、蒸馏水、实验器皿和环境带入的杂质引起</a:t>
            </a:r>
            <a:r>
              <a:rPr lang="zh-CN" altLang="en-US" sz="2500" b="1" dirty="0" smtClean="0">
                <a:ea typeface="楷体_GB2312" pitchFamily="49" charset="-122"/>
              </a:rPr>
              <a:t>的误差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  但空白值不可太大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endParaRPr lang="zh-CN" altLang="en-US" sz="2500" b="1" dirty="0">
              <a:ea typeface="楷体_GB2312" pitchFamily="49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617538" y="2097077"/>
            <a:ext cx="642937" cy="285750"/>
          </a:xfrm>
          <a:prstGeom prst="rightArrow">
            <a:avLst/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39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0703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1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9"/>
          <p:cNvSpPr>
            <a:spLocks noChangeArrowheads="1"/>
          </p:cNvSpPr>
          <p:nvPr/>
        </p:nvSpPr>
        <p:spPr bwMode="auto">
          <a:xfrm>
            <a:off x="617538" y="882633"/>
            <a:ext cx="10501312" cy="53867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空白试验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17501" y="2701934"/>
            <a:ext cx="101441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对照试验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260512" y="3130559"/>
            <a:ext cx="9786937" cy="10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500" b="1" dirty="0">
                <a:ea typeface="楷体_GB2312" pitchFamily="49" charset="-122"/>
              </a:rPr>
              <a:t>用标准样品或已知准确结果的样品代替</a:t>
            </a:r>
            <a:r>
              <a:rPr lang="zh-CN" altLang="en-US" sz="2500" b="1" dirty="0" smtClean="0">
                <a:ea typeface="楷体_GB2312" pitchFamily="49" charset="-122"/>
              </a:rPr>
              <a:t>试样</a:t>
            </a:r>
            <a:r>
              <a:rPr lang="en-US" altLang="zh-CN" sz="2500" b="1" dirty="0" smtClean="0">
                <a:ea typeface="楷体_GB2312" pitchFamily="49" charset="-122"/>
              </a:rPr>
              <a:t>;</a:t>
            </a:r>
            <a:endParaRPr lang="en-US" altLang="zh-CN" sz="2500" b="1" dirty="0">
              <a:ea typeface="楷体_GB2312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500" b="1" dirty="0">
                <a:ea typeface="楷体_GB2312" pitchFamily="49" charset="-122"/>
              </a:rPr>
              <a:t>与其它成熟的分析方法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 smtClean="0">
                <a:ea typeface="楷体_GB2312" pitchFamily="49" charset="-122"/>
              </a:rPr>
              <a:t>国家标准或</a:t>
            </a:r>
            <a:r>
              <a:rPr lang="zh-CN" altLang="en-US" sz="2500" b="1" dirty="0">
                <a:ea typeface="楷体_GB2312" pitchFamily="49" charset="-122"/>
              </a:rPr>
              <a:t>公认的</a:t>
            </a:r>
            <a:r>
              <a:rPr lang="zh-CN" altLang="en-US" sz="2500" b="1" dirty="0" smtClean="0">
                <a:ea typeface="楷体_GB2312" pitchFamily="49" charset="-122"/>
              </a:rPr>
              <a:t>经典方法</a:t>
            </a:r>
            <a:r>
              <a:rPr lang="en-US" altLang="zh-CN" sz="2500" b="1" dirty="0" smtClean="0">
                <a:ea typeface="楷体_GB2312" pitchFamily="49" charset="-122"/>
              </a:rPr>
              <a:t>)</a:t>
            </a:r>
            <a:r>
              <a:rPr lang="zh-CN" altLang="en-US" sz="2500" b="1" dirty="0" smtClean="0">
                <a:ea typeface="楷体_GB2312" pitchFamily="49" charset="-122"/>
              </a:rPr>
              <a:t>对照试验</a:t>
            </a:r>
            <a:r>
              <a:rPr lang="en-US" altLang="zh-CN" sz="2500" b="1" dirty="0" smtClean="0">
                <a:ea typeface="楷体_GB2312" pitchFamily="49" charset="-122"/>
              </a:rPr>
              <a:t>;</a:t>
            </a:r>
            <a:endParaRPr lang="zh-CN" altLang="en-US" sz="2500" b="1" dirty="0">
              <a:ea typeface="楷体_GB2312" pitchFamily="49" charset="-122"/>
            </a:endParaRPr>
          </a:p>
        </p:txBody>
      </p:sp>
      <p:sp>
        <p:nvSpPr>
          <p:cNvPr id="12" name="Rectangle 19"/>
          <p:cNvSpPr>
            <a:spLocks noChangeArrowheads="1"/>
          </p:cNvSpPr>
          <p:nvPr/>
        </p:nvSpPr>
        <p:spPr bwMode="auto">
          <a:xfrm>
            <a:off x="617538" y="1361733"/>
            <a:ext cx="10501312" cy="59247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500" b="1" dirty="0" smtClean="0">
                <a:ea typeface="楷体_GB2312" pitchFamily="49" charset="-122"/>
              </a:rPr>
              <a:t>        不</a:t>
            </a:r>
            <a:r>
              <a:rPr lang="zh-CN" altLang="en-US" sz="2500" b="1" dirty="0">
                <a:ea typeface="楷体_GB2312" pitchFamily="49" charset="-122"/>
              </a:rPr>
              <a:t>加试样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但用与有试样时同样的操作进行的实验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335051" y="4762513"/>
            <a:ext cx="435451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适当增加测定次数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617501" y="4191013"/>
            <a:ext cx="29225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(4)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随机误差的减免</a:t>
            </a:r>
            <a:endParaRPr lang="en-US" altLang="zh-CN" sz="2500" b="1">
              <a:solidFill>
                <a:srgbClr val="FF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/>
      <p:bldP spid="1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AutoShape 2"/>
          <p:cNvSpPr>
            <a:spLocks/>
          </p:cNvSpPr>
          <p:nvPr/>
        </p:nvSpPr>
        <p:spPr bwMode="auto">
          <a:xfrm>
            <a:off x="974725" y="1382713"/>
            <a:ext cx="192088" cy="1152525"/>
          </a:xfrm>
          <a:prstGeom prst="leftBrace">
            <a:avLst>
              <a:gd name="adj1" fmla="val 6666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720725" y="3240088"/>
            <a:ext cx="88900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(1.1)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数据的集中趋势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688975" y="882650"/>
            <a:ext cx="40767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测定结果的表示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ea typeface="楷体_GB2312" pitchFamily="49" charset="-122"/>
              </a:rPr>
              <a:t>三要素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1117600" y="1382713"/>
            <a:ext cx="2870200" cy="1246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>
                <a:ea typeface="楷体_GB2312" pitchFamily="49" charset="-122"/>
              </a:rPr>
              <a:t>测定次数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>
                <a:ea typeface="楷体_GB2312" pitchFamily="49" charset="-122"/>
              </a:rPr>
              <a:t>数据的集中趋势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>
                <a:ea typeface="楷体_GB2312" pitchFamily="49" charset="-122"/>
              </a:rPr>
              <a:t>数据的分散程度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23563" name="Rectangle 7"/>
          <p:cNvSpPr>
            <a:spLocks noChangeArrowheads="1"/>
          </p:cNvSpPr>
          <p:nvPr/>
        </p:nvSpPr>
        <p:spPr bwMode="auto">
          <a:xfrm>
            <a:off x="720725" y="3668713"/>
            <a:ext cx="5313363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　　常用表示方法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小样本、大样本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).</a:t>
            </a:r>
          </a:p>
        </p:txBody>
      </p:sp>
      <p:sp>
        <p:nvSpPr>
          <p:cNvPr id="18439" name="Rectangle 9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1.2.4</a:t>
            </a:r>
            <a:r>
              <a:rPr lang="zh-CN" altLang="en-US" smtClean="0">
                <a:ea typeface="黑体" pitchFamily="49" charset="-122"/>
              </a:rPr>
              <a:t>实验数据的处理</a:t>
            </a:r>
          </a:p>
        </p:txBody>
      </p:sp>
      <p:sp>
        <p:nvSpPr>
          <p:cNvPr id="1844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403225" y="4168775"/>
            <a:ext cx="40322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342900" eaLnBrk="0" hangingPunct="0"/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(1.2)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数据分散程度的表示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363663" y="4691063"/>
            <a:ext cx="426561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有限次测定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小样本、大样本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)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747713" y="2668588"/>
            <a:ext cx="3084512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数理统计的基本概念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88975" y="5192713"/>
            <a:ext cx="5983288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(1.3)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可疑值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doubtful value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,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离群值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的取舍</a:t>
            </a:r>
            <a:endParaRPr lang="en-US" altLang="zh-CN" sz="2500" b="1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6832600" y="5168900"/>
            <a:ext cx="243998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概念与基本方法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18" name="椭圆 62544" descr="图片1">
            <a:hlinkClick r:id="rId3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f6f95112efdc7aae95fe242a5369614caed848e"/>
</p:tagLst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3814</TotalTime>
  <Pages>0</Pages>
  <Words>853</Words>
  <Characters>0</Characters>
  <Application>Microsoft Office PowerPoint</Application>
  <DocSecurity>0</DocSecurity>
  <PresentationFormat>自定义</PresentationFormat>
  <Lines>0</Lines>
  <Paragraphs>142</Paragraphs>
  <Slides>16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Monotype Sorts</vt:lpstr>
      <vt:lpstr>黑体</vt:lpstr>
      <vt:lpstr>华文新魏</vt:lpstr>
      <vt:lpstr>楷体_GB2312</vt:lpstr>
      <vt:lpstr>宋体</vt:lpstr>
      <vt:lpstr>Calibri</vt:lpstr>
      <vt:lpstr>Symbol</vt:lpstr>
      <vt:lpstr>Times New Roman</vt:lpstr>
      <vt:lpstr>Wingdings</vt:lpstr>
      <vt:lpstr>医学研究PPT模板</vt:lpstr>
      <vt:lpstr>1_医学研究PPT模板</vt:lpstr>
      <vt:lpstr>公式</vt:lpstr>
      <vt:lpstr>PowerPoint 演示文稿</vt:lpstr>
      <vt:lpstr>1.2误差与数据处理 </vt:lpstr>
      <vt:lpstr>1.2.1误差的分类</vt:lpstr>
      <vt:lpstr>2.2.1误差的分类</vt:lpstr>
      <vt:lpstr>2.2.1误差的分类</vt:lpstr>
      <vt:lpstr>2.2.1误差的分类</vt:lpstr>
      <vt:lpstr>2.2.1误差的分类</vt:lpstr>
      <vt:lpstr>1.2.2误差的表示方法</vt:lpstr>
      <vt:lpstr>1.2.2误差的表示方法</vt:lpstr>
      <vt:lpstr>1.2.2误差的表示方法</vt:lpstr>
      <vt:lpstr>1.2.2误差的表示方法</vt:lpstr>
      <vt:lpstr>1.2.2误差的表示方法</vt:lpstr>
      <vt:lpstr>例.甲,乙,丙,丁四同学经训练和练习后实弹打靶.</vt:lpstr>
      <vt:lpstr>PowerPoint 演示文稿</vt:lpstr>
      <vt:lpstr>PowerPoint 演示文稿</vt:lpstr>
      <vt:lpstr>1.2.4实验数据的处理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ch01-02</dc:title>
  <dc:creator>江南大学</dc:creator>
  <cp:lastModifiedBy>USER</cp:lastModifiedBy>
  <cp:revision>339</cp:revision>
  <cp:lastPrinted>1601-01-01T00:00:00Z</cp:lastPrinted>
  <dcterms:created xsi:type="dcterms:W3CDTF">2012-06-20T03:37:37Z</dcterms:created>
  <dcterms:modified xsi:type="dcterms:W3CDTF">2021-09-13T02:40:59Z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