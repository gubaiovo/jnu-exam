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av" ContentType="audio/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  <p:sldMasterId id="2147483661" r:id="rId2"/>
  </p:sldMasterIdLst>
  <p:notesMasterIdLst>
    <p:notesMasterId r:id="rId21"/>
  </p:notesMasterIdLst>
  <p:sldIdLst>
    <p:sldId id="256" r:id="rId3"/>
    <p:sldId id="356" r:id="rId4"/>
    <p:sldId id="338" r:id="rId5"/>
    <p:sldId id="278" r:id="rId6"/>
    <p:sldId id="336" r:id="rId7"/>
    <p:sldId id="337" r:id="rId8"/>
    <p:sldId id="373" r:id="rId9"/>
    <p:sldId id="348" r:id="rId10"/>
    <p:sldId id="340" r:id="rId11"/>
    <p:sldId id="371" r:id="rId12"/>
    <p:sldId id="341" r:id="rId13"/>
    <p:sldId id="350" r:id="rId14"/>
    <p:sldId id="351" r:id="rId15"/>
    <p:sldId id="372" r:id="rId16"/>
    <p:sldId id="352" r:id="rId17"/>
    <p:sldId id="353" r:id="rId18"/>
    <p:sldId id="354" r:id="rId19"/>
    <p:sldId id="355" r:id="rId20"/>
  </p:sldIdLst>
  <p:sldSz cx="11522075" cy="6480175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81">
          <p15:clr>
            <a:srgbClr val="A4A3A4"/>
          </p15:clr>
        </p15:guide>
        <p15:guide id="2" pos="27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  <a:srgbClr val="FF0000"/>
    <a:srgbClr val="FFFF00"/>
    <a:srgbClr val="FFFFFF"/>
    <a:srgbClr val="F8F8F8"/>
    <a:srgbClr val="FF330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4619" autoAdjust="0"/>
  </p:normalViewPr>
  <p:slideViewPr>
    <p:cSldViewPr>
      <p:cViewPr varScale="1">
        <p:scale>
          <a:sx n="73" d="100"/>
          <a:sy n="73" d="100"/>
        </p:scale>
        <p:origin x="750" y="66"/>
      </p:cViewPr>
      <p:guideLst>
        <p:guide orient="horz" pos="1781"/>
        <p:guide pos="2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728"/>
    </p:cViewPr>
  </p:sorterViewPr>
  <p:gridSpacing cx="71999" cy="71999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buFontTx/>
              <a:buNone/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buFontTx/>
              <a:buNone/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436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buFontTx/>
              <a:buNone/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itchFamily="34" charset="0"/>
              <a:buNone/>
              <a:defRPr sz="1200" noProof="1">
                <a:ea typeface="宋体" pitchFamily="2" charset="-122"/>
              </a:defRPr>
            </a:lvl1pPr>
          </a:lstStyle>
          <a:p>
            <a:pPr>
              <a:defRPr/>
            </a:pPr>
            <a:fld id="{CADCD7BE-1E1C-4E28-A665-BB8EE8FFF1BD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1507" name="文本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DCD7BE-1E1C-4E28-A665-BB8EE8FFF1BD}" type="slidenum">
              <a:rPr lang="en-US" altLang="zh-CN" smtClean="0"/>
              <a:pPr>
                <a:defRPr/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29692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2531" name="文本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  <p:transition spd="slow">
    <p:split orient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3223"/>
          <p:cNvGrpSpPr>
            <a:grpSpLocks/>
          </p:cNvGrpSpPr>
          <p:nvPr userDrawn="1"/>
        </p:nvGrpSpPr>
        <p:grpSpPr bwMode="auto">
          <a:xfrm>
            <a:off x="-34925" y="107950"/>
            <a:ext cx="11588750" cy="6408738"/>
            <a:chOff x="-22" y="68"/>
            <a:chExt cx="7300" cy="4037"/>
          </a:xfrm>
        </p:grpSpPr>
        <p:sp>
          <p:nvSpPr>
            <p:cNvPr id="4" name="Freeform 1027"/>
            <p:cNvSpPr>
              <a:spLocks noChangeArrowheads="1"/>
            </p:cNvSpPr>
            <p:nvPr/>
          </p:nvSpPr>
          <p:spPr bwMode="auto">
            <a:xfrm>
              <a:off x="80" y="431"/>
              <a:ext cx="7080" cy="3174"/>
            </a:xfrm>
            <a:custGeom>
              <a:avLst/>
              <a:gdLst>
                <a:gd name="T0" fmla="*/ 5268 w 5269"/>
                <a:gd name="T1" fmla="*/ 0 h 2977"/>
                <a:gd name="T2" fmla="*/ 0 w 5269"/>
                <a:gd name="T3" fmla="*/ 0 h 2977"/>
                <a:gd name="T4" fmla="*/ 0 w 5269"/>
                <a:gd name="T5" fmla="*/ 2976 h 29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69" h="2977">
                  <a:moveTo>
                    <a:pt x="5268" y="0"/>
                  </a:moveTo>
                  <a:lnTo>
                    <a:pt x="0" y="0"/>
                  </a:lnTo>
                  <a:lnTo>
                    <a:pt x="0" y="2976"/>
                  </a:lnTo>
                </a:path>
              </a:pathLst>
            </a:custGeom>
            <a:noFill/>
            <a:ln w="12700" cap="rnd">
              <a:solidFill>
                <a:srgbClr val="B2B2B2"/>
              </a:solidFill>
              <a:round/>
              <a:headEnd type="none" w="sm" len="sm"/>
              <a:tailEnd type="none" w="sm" len="sm"/>
            </a:ln>
            <a:ex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mtClean="0"/>
            </a:p>
          </p:txBody>
        </p:sp>
        <p:grpSp>
          <p:nvGrpSpPr>
            <p:cNvPr id="2053" name="Group 1042"/>
            <p:cNvGrpSpPr>
              <a:grpSpLocks/>
            </p:cNvGrpSpPr>
            <p:nvPr userDrawn="1"/>
          </p:nvGrpSpPr>
          <p:grpSpPr bwMode="auto">
            <a:xfrm rot="5400000">
              <a:off x="3576" y="-3112"/>
              <a:ext cx="68" cy="7141"/>
              <a:chOff x="336" y="1103"/>
              <a:chExt cx="97" cy="2785"/>
            </a:xfrm>
          </p:grpSpPr>
          <p:sp>
            <p:nvSpPr>
              <p:cNvPr id="2" name="Rectangle 1043"/>
              <p:cNvSpPr>
                <a:spLocks noChangeArrowheads="1"/>
              </p:cNvSpPr>
              <p:nvPr/>
            </p:nvSpPr>
            <p:spPr bwMode="auto">
              <a:xfrm>
                <a:off x="338" y="1104"/>
                <a:ext cx="97" cy="2784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/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  <a:defRPr/>
                </a:pPr>
                <a:endParaRPr lang="zh-CN" altLang="zh-CN" sz="2400" smtClean="0"/>
              </a:p>
            </p:txBody>
          </p:sp>
          <p:sp>
            <p:nvSpPr>
              <p:cNvPr id="3" name="Freeform 1044"/>
              <p:cNvSpPr>
                <a:spLocks noChangeArrowheads="1"/>
              </p:cNvSpPr>
              <p:nvPr/>
            </p:nvSpPr>
            <p:spPr bwMode="auto">
              <a:xfrm>
                <a:off x="338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96 w 97"/>
                  <a:gd name="T3" fmla="*/ 2784 h 2785"/>
                  <a:gd name="T4" fmla="*/ 96 w 97"/>
                  <a:gd name="T5" fmla="*/ 0 h 2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7" h="2785">
                    <a:moveTo>
                      <a:pt x="0" y="2784"/>
                    </a:moveTo>
                    <a:lnTo>
                      <a:pt x="96" y="2784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/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mtClean="0"/>
              </a:p>
            </p:txBody>
          </p:sp>
          <p:sp>
            <p:nvSpPr>
              <p:cNvPr id="1031" name="Freeform 1045"/>
              <p:cNvSpPr>
                <a:spLocks noChangeArrowheads="1"/>
              </p:cNvSpPr>
              <p:nvPr/>
            </p:nvSpPr>
            <p:spPr bwMode="auto">
              <a:xfrm>
                <a:off x="338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0 w 97"/>
                  <a:gd name="T3" fmla="*/ 0 h 2785"/>
                  <a:gd name="T4" fmla="*/ 96 w 97"/>
                  <a:gd name="T5" fmla="*/ 0 h 2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7" h="2785">
                    <a:moveTo>
                      <a:pt x="0" y="2784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/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mtClean="0"/>
              </a:p>
            </p:txBody>
          </p:sp>
        </p:grpSp>
        <p:sp>
          <p:nvSpPr>
            <p:cNvPr id="1032" name="Freeform 1028"/>
            <p:cNvSpPr>
              <a:spLocks noChangeArrowheads="1"/>
            </p:cNvSpPr>
            <p:nvPr/>
          </p:nvSpPr>
          <p:spPr bwMode="auto">
            <a:xfrm>
              <a:off x="96" y="431"/>
              <a:ext cx="7080" cy="3174"/>
            </a:xfrm>
            <a:custGeom>
              <a:avLst/>
              <a:gdLst>
                <a:gd name="T0" fmla="*/ 5268 w 5269"/>
                <a:gd name="T1" fmla="*/ 0 h 2977"/>
                <a:gd name="T2" fmla="*/ 5268 w 5269"/>
                <a:gd name="T3" fmla="*/ 2976 h 2977"/>
                <a:gd name="T4" fmla="*/ 0 w 5269"/>
                <a:gd name="T5" fmla="*/ 2976 h 29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69" h="2977">
                  <a:moveTo>
                    <a:pt x="5268" y="0"/>
                  </a:moveTo>
                  <a:lnTo>
                    <a:pt x="5268" y="2976"/>
                  </a:lnTo>
                  <a:lnTo>
                    <a:pt x="0" y="2976"/>
                  </a:lnTo>
                </a:path>
              </a:pathLst>
            </a:custGeom>
            <a:noFill/>
            <a:ln w="12700" cap="rnd">
              <a:solidFill>
                <a:srgbClr val="FFFFFF"/>
              </a:solidFill>
              <a:round/>
              <a:headEnd type="none" w="sm" len="sm"/>
              <a:tailEnd type="none" w="sm" len="sm"/>
            </a:ln>
            <a:ex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mtClean="0"/>
            </a:p>
          </p:txBody>
        </p:sp>
        <p:sp>
          <p:nvSpPr>
            <p:cNvPr id="1033" name="Rectangle 1036"/>
            <p:cNvSpPr>
              <a:spLocks noChangeArrowheads="1"/>
            </p:cNvSpPr>
            <p:nvPr userDrawn="1"/>
          </p:nvSpPr>
          <p:spPr bwMode="auto">
            <a:xfrm>
              <a:off x="61" y="68"/>
              <a:ext cx="7141" cy="3584"/>
            </a:xfrm>
            <a:prstGeom prst="rect">
              <a:avLst/>
            </a:prstGeom>
            <a:noFill/>
            <a:ln w="254000">
              <a:pattFill prst="dkHorz">
                <a:fgClr>
                  <a:srgbClr val="C8C8C8"/>
                </a:fgClr>
                <a:bgClr>
                  <a:schemeClr val="bg1"/>
                </a:bgClr>
              </a:pattFill>
              <a:miter lim="800000"/>
              <a:headEnd type="none" w="sm" len="sm"/>
              <a:tailEnd type="none" w="sm" len="sm"/>
            </a:ln>
            <a:ex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en-US" sz="1600" smtClean="0">
                <a:ea typeface="楷体_GB2312" panose="02010609030101010101" pitchFamily="49" charset="-122"/>
              </a:endParaRPr>
            </a:p>
          </p:txBody>
        </p:sp>
        <p:grpSp>
          <p:nvGrpSpPr>
            <p:cNvPr id="2056" name="Group 1038"/>
            <p:cNvGrpSpPr>
              <a:grpSpLocks/>
            </p:cNvGrpSpPr>
            <p:nvPr userDrawn="1"/>
          </p:nvGrpSpPr>
          <p:grpSpPr bwMode="auto">
            <a:xfrm>
              <a:off x="306" y="584"/>
              <a:ext cx="68" cy="2879"/>
              <a:chOff x="336" y="1103"/>
              <a:chExt cx="97" cy="2785"/>
            </a:xfrm>
          </p:grpSpPr>
          <p:sp>
            <p:nvSpPr>
              <p:cNvPr id="1035" name="Rectangle 1039"/>
              <p:cNvSpPr>
                <a:spLocks noChangeArrowheads="1"/>
              </p:cNvSpPr>
              <p:nvPr/>
            </p:nvSpPr>
            <p:spPr bwMode="auto">
              <a:xfrm>
                <a:off x="336" y="1104"/>
                <a:ext cx="96" cy="2784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/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  <a:defRPr/>
                </a:pPr>
                <a:endParaRPr lang="zh-CN" altLang="zh-CN" sz="2400" smtClean="0"/>
              </a:p>
            </p:txBody>
          </p:sp>
          <p:sp>
            <p:nvSpPr>
              <p:cNvPr id="1036" name="Freeform 1040"/>
              <p:cNvSpPr>
                <a:spLocks noChangeArrowheads="1"/>
              </p:cNvSpPr>
              <p:nvPr/>
            </p:nvSpPr>
            <p:spPr bwMode="auto">
              <a:xfrm>
                <a:off x="336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96 w 97"/>
                  <a:gd name="T3" fmla="*/ 2784 h 2785"/>
                  <a:gd name="T4" fmla="*/ 96 w 97"/>
                  <a:gd name="T5" fmla="*/ 0 h 2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7" h="2785">
                    <a:moveTo>
                      <a:pt x="0" y="2784"/>
                    </a:moveTo>
                    <a:lnTo>
                      <a:pt x="96" y="2784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2700" cap="rnd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mtClean="0"/>
              </a:p>
            </p:txBody>
          </p:sp>
          <p:sp>
            <p:nvSpPr>
              <p:cNvPr id="1037" name="Freeform 1041"/>
              <p:cNvSpPr>
                <a:spLocks noChangeArrowheads="1"/>
              </p:cNvSpPr>
              <p:nvPr/>
            </p:nvSpPr>
            <p:spPr bwMode="auto">
              <a:xfrm>
                <a:off x="336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0 w 97"/>
                  <a:gd name="T3" fmla="*/ 0 h 2785"/>
                  <a:gd name="T4" fmla="*/ 96 w 97"/>
                  <a:gd name="T5" fmla="*/ 0 h 2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7" h="2785">
                    <a:moveTo>
                      <a:pt x="0" y="2784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2700" cap="rnd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 smtClean="0"/>
              </a:p>
            </p:txBody>
          </p:sp>
        </p:grpSp>
        <p:sp>
          <p:nvSpPr>
            <p:cNvPr id="1038" name="矩形 3210"/>
            <p:cNvSpPr>
              <a:spLocks noChangeArrowheads="1"/>
            </p:cNvSpPr>
            <p:nvPr/>
          </p:nvSpPr>
          <p:spPr bwMode="auto">
            <a:xfrm>
              <a:off x="-22" y="3652"/>
              <a:ext cx="7300" cy="453"/>
            </a:xfrm>
            <a:prstGeom prst="rect">
              <a:avLst/>
            </a:prstGeom>
            <a:pattFill prst="dkHorz">
              <a:fgClr>
                <a:srgbClr val="C8C8C8"/>
              </a:fgClr>
              <a:bgClr>
                <a:schemeClr val="bg1"/>
              </a:bgClr>
            </a:pattFill>
            <a:ln>
              <a:noFill/>
            </a:ln>
            <a:ex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 smtClean="0"/>
            </a:p>
          </p:txBody>
        </p:sp>
        <p:sp>
          <p:nvSpPr>
            <p:cNvPr id="1039" name="流程图: 可选过程 3214"/>
            <p:cNvSpPr>
              <a:spLocks noChangeArrowheads="1"/>
            </p:cNvSpPr>
            <p:nvPr/>
          </p:nvSpPr>
          <p:spPr bwMode="auto">
            <a:xfrm>
              <a:off x="136" y="136"/>
              <a:ext cx="6994" cy="295"/>
            </a:xfrm>
            <a:prstGeom prst="flowChartAlternateProcess">
              <a:avLst/>
            </a:prstGeom>
            <a:solidFill>
              <a:srgbClr val="EAEAEA"/>
            </a:solidFill>
            <a:ln>
              <a:noFill/>
            </a:ln>
            <a:ex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 smtClean="0"/>
            </a:p>
          </p:txBody>
        </p:sp>
        <p:sp>
          <p:nvSpPr>
            <p:cNvPr id="1040" name="矩形 3217"/>
            <p:cNvSpPr>
              <a:spLocks noChangeArrowheads="1"/>
            </p:cNvSpPr>
            <p:nvPr/>
          </p:nvSpPr>
          <p:spPr bwMode="auto">
            <a:xfrm>
              <a:off x="136" y="499"/>
              <a:ext cx="6982" cy="3083"/>
            </a:xfrm>
            <a:prstGeom prst="rect">
              <a:avLst/>
            </a:prstGeom>
            <a:solidFill>
              <a:srgbClr val="EAEAEA">
                <a:alpha val="85001"/>
              </a:srgbClr>
            </a:solidFill>
            <a:ln w="19050">
              <a:solidFill>
                <a:srgbClr val="F8F8F8"/>
              </a:solidFill>
              <a:miter lim="800000"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 smtClean="0"/>
            </a:p>
          </p:txBody>
        </p:sp>
      </p:grpSp>
      <p:sp>
        <p:nvSpPr>
          <p:cNvPr id="2051" name="标题 3220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23850" y="215900"/>
            <a:ext cx="10369550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ransition spd="slow">
    <p:split orient="vert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slow">
    <p:split orient="vert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../ch03/03-01.pptx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5" Type="http://schemas.openxmlformats.org/officeDocument/2006/relationships/hyperlink" Target="../ch05/05-1.pptx" TargetMode="Externa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04-03.pptx" TargetMode="External"/><Relationship Id="rId2" Type="http://schemas.openxmlformats.org/officeDocument/2006/relationships/hyperlink" Target="04-02.pptx" TargetMode="External"/><Relationship Id="rId1" Type="http://schemas.openxmlformats.org/officeDocument/2006/relationships/slideLayout" Target="../slideLayouts/slideLayout18.xml"/><Relationship Id="rId4" Type="http://schemas.openxmlformats.org/officeDocument/2006/relationships/hyperlink" Target="04-04.pptx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audio" Target="../media/audio3.wav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slide" Target="slide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7" Type="http://schemas.openxmlformats.org/officeDocument/2006/relationships/image" Target="../media/image5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hyperlink" Target="../../04MEDIA/ch04/BaSO4&#28342;&#35299;&#19982;&#27785;&#28096;.swf" TargetMode="External"/><Relationship Id="rId4" Type="http://schemas.openxmlformats.org/officeDocument/2006/relationships/audio" Target="../media/audio4.wav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../../04MEDIA/ch04/&#21516;&#22411;&#38590;&#28342;&#29289;&#28342;&#24230;&#31215;&#27604;&#36739;.MPG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audio" Target="../media/audio1.wav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5.jpeg"/><Relationship Id="rId4" Type="http://schemas.openxmlformats.org/officeDocument/2006/relationships/audio" Target="../media/audio3.wav"/><Relationship Id="rId9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../../03EXAMPLE/ch04/04-01-&#20363;&#39064;.pptx#-1,1,&#24187;&#28783;&#29255; 1" TargetMode="Externa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hyperlink" Target="../../03EXAMPLE/ch04/04-01-&#20363;&#39064;.pptx#-1,2,&#24187;&#28783;&#29255; 2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../../03EXAMPLE/ch04/04-01-&#20363;&#39064;.pptx#-1,3,&#24187;&#28783;&#29255; 3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audio" Target="../media/audio2.wav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../../03EXAMPLE/ch04/04-01-&#20363;&#39064;.pptx#-1,4,&#24187;&#28783;&#29255; 4" TargetMode="External"/><Relationship Id="rId5" Type="http://schemas.openxmlformats.org/officeDocument/2006/relationships/hyperlink" Target="../../04MEDIA/ch04/&#21516;&#31163;&#23376;&#25928;&#24212;.swf" TargetMode="External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5.wav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../../03EXAMPLE/ch04/04-01-&#20363;&#39064;.pptx#-1,9,&#24187;&#28783;&#29255; 9" TargetMode="External"/><Relationship Id="rId2" Type="http://schemas.openxmlformats.org/officeDocument/2006/relationships/hyperlink" Target="../../03EXAMPLE/ch04/04-01-&#20363;&#39064;.pptx#-1,6,&#24187;&#28783;&#29255; 6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../../04MEDIA/ch04" TargetMode="External"/><Relationship Id="rId2" Type="http://schemas.openxmlformats.org/officeDocument/2006/relationships/hyperlink" Target="../../04MEDIA/ch04/&#37329;&#23646;&#31163;&#23376;&#27700;&#35299;.MPG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audio" Target="../media/audio3.wav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6.wav"/><Relationship Id="rId7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04-02.pptx" TargetMode="External"/><Relationship Id="rId5" Type="http://schemas.openxmlformats.org/officeDocument/2006/relationships/image" Target="../media/image4.jpeg"/><Relationship Id="rId4" Type="http://schemas.openxmlformats.org/officeDocument/2006/relationships/hyperlink" Target="../../04MEDIA/ch04/&#30416;&#25928;&#24212;.sw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0" name="Rectangle 4"/>
          <p:cNvSpPr/>
          <p:nvPr/>
        </p:nvSpPr>
        <p:spPr>
          <a:xfrm>
            <a:off x="903253" y="1525588"/>
            <a:ext cx="9677400" cy="1016000"/>
          </a:xfrm>
          <a:prstGeom prst="rect">
            <a:avLst/>
          </a:prstGeom>
          <a:noFill/>
          <a:ln w="9525">
            <a:noFill/>
          </a:ln>
          <a:effectLst>
            <a:outerShdw dist="53882" dir="2699999" algn="ctr" rotWithShape="0">
              <a:srgbClr val="000000"/>
            </a:outerShdw>
          </a:effectLst>
        </p:spPr>
        <p:txBody>
          <a:bodyPr anchor="ctr">
            <a:spAutoFit/>
          </a:bodyPr>
          <a:lstStyle/>
          <a:p>
            <a:pPr algn="ctr">
              <a:buFont typeface="Arial" panose="020B0604020202020204" pitchFamily="34" charset="0"/>
              <a:buNone/>
              <a:defRPr/>
            </a:pPr>
            <a:r>
              <a:rPr lang="zh-CN" altLang="en-US" sz="3200" b="1" noProof="1">
                <a:solidFill>
                  <a:srgbClr val="FFFFFF"/>
                </a:solidFill>
                <a:effectLst>
                  <a:outerShdw blurRad="38100" dist="38100" dir="2700000">
                    <a:srgbClr val="000000"/>
                  </a:outerShdw>
                </a:effectLst>
                <a:ea typeface="黑体" panose="02010609060101010101" pitchFamily="49" charset="-122"/>
                <a:cs typeface="+mn-ea"/>
              </a:rPr>
              <a:t>第4章  沉淀的生成与溶解平衡</a:t>
            </a:r>
            <a:r>
              <a:rPr lang="zh-CN" altLang="en-US" sz="3200" b="1">
                <a:solidFill>
                  <a:srgbClr val="FFFFFF"/>
                </a:solidFill>
                <a:effectLst>
                  <a:outerShdw blurRad="38100" dist="38100" dir="2700000">
                    <a:srgbClr val="000000"/>
                  </a:outerShdw>
                </a:effectLst>
                <a:ea typeface="黑体" panose="02010609060101010101" pitchFamily="49" charset="-122"/>
              </a:rPr>
              <a:t/>
            </a:r>
            <a:br>
              <a:rPr lang="zh-CN" altLang="en-US" sz="3200" b="1">
                <a:solidFill>
                  <a:srgbClr val="FFFFFF"/>
                </a:solidFill>
                <a:effectLst>
                  <a:outerShdw blurRad="38100" dist="38100" dir="2700000">
                    <a:srgbClr val="000000"/>
                  </a:outerShdw>
                </a:effectLst>
                <a:ea typeface="黑体" panose="02010609060101010101" pitchFamily="49" charset="-122"/>
              </a:rPr>
            </a:br>
            <a:r>
              <a:rPr lang="en-US" altLang="zh-CN" sz="2800" b="1" noProof="1">
                <a:solidFill>
                  <a:srgbClr val="FFFF00"/>
                </a:solidFill>
                <a:effectLst>
                  <a:outerShdw blurRad="38100" dist="38100" dir="2700000">
                    <a:srgbClr val="000000"/>
                  </a:outerShdw>
                </a:effectLst>
                <a:ea typeface="黑体" panose="02010609060101010101" pitchFamily="49" charset="-122"/>
                <a:cs typeface="+mn-ea"/>
              </a:rPr>
              <a:t>Formation and Dissolution Equilibrium of  Precipitation</a:t>
            </a:r>
          </a:p>
        </p:txBody>
      </p:sp>
      <p:sp>
        <p:nvSpPr>
          <p:cNvPr id="4" name="椭圆 62544" descr="图片1">
            <a:hlinkClick r:id="rId3" action="ppaction://hlinkpres?slideindex=1&amp;slidetitle="/>
          </p:cNvPr>
          <p:cNvSpPr>
            <a:spLocks noChangeAspect="1" noChangeArrowheads="1"/>
          </p:cNvSpPr>
          <p:nvPr/>
        </p:nvSpPr>
        <p:spPr bwMode="auto">
          <a:xfrm>
            <a:off x="0" y="5580000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1200" b="1" dirty="0" smtClean="0">
                <a:solidFill>
                  <a:srgbClr val="000000"/>
                </a:solidFill>
                <a:ea typeface="楷体_GB2312" pitchFamily="49" charset="-122"/>
              </a:rPr>
              <a:t>上章</a:t>
            </a:r>
            <a:endParaRPr lang="zh-CN" altLang="en-US" sz="12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5" name="椭圆 62544" descr="图片1">
            <a:hlinkClick r:id="rId5" action="ppaction://hlinkpres?slideindex=1&amp;slidetitle="/>
          </p:cNvPr>
          <p:cNvSpPr>
            <a:spLocks noChangeAspect="1" noChangeArrowheads="1"/>
          </p:cNvSpPr>
          <p:nvPr/>
        </p:nvSpPr>
        <p:spPr bwMode="auto">
          <a:xfrm>
            <a:off x="11160000" y="5580000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1200" b="1" dirty="0" smtClean="0">
                <a:solidFill>
                  <a:srgbClr val="000000"/>
                </a:solidFill>
                <a:ea typeface="楷体_GB2312" pitchFamily="49" charset="-122"/>
              </a:rPr>
              <a:t>下章</a:t>
            </a:r>
            <a:endParaRPr lang="zh-CN" altLang="en-US" sz="12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0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065226" y="1096947"/>
            <a:ext cx="5410455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 smtClean="0">
                <a:latin typeface="+mn-lt"/>
                <a:ea typeface="黑体" pitchFamily="49" charset="-122"/>
              </a:rPr>
              <a:t>4.1 </a:t>
            </a:r>
            <a:r>
              <a:rPr lang="zh-CN" altLang="en-US" sz="2800" b="1" dirty="0" smtClean="0">
                <a:latin typeface="+mn-lt"/>
                <a:ea typeface="黑体" pitchFamily="49" charset="-122"/>
              </a:rPr>
              <a:t>沉淀</a:t>
            </a:r>
            <a:r>
              <a:rPr lang="en-US" altLang="zh-CN" sz="2800" b="1" dirty="0" smtClean="0">
                <a:latin typeface="+mn-lt"/>
                <a:ea typeface="黑体" pitchFamily="49" charset="-122"/>
              </a:rPr>
              <a:t>—</a:t>
            </a:r>
            <a:r>
              <a:rPr lang="zh-CN" altLang="en-US" sz="2800" b="1" dirty="0" smtClean="0">
                <a:latin typeface="+mn-lt"/>
                <a:ea typeface="黑体" pitchFamily="49" charset="-122"/>
              </a:rPr>
              <a:t>溶解平衡及其影响因素</a:t>
            </a:r>
            <a:endParaRPr lang="en-US" altLang="zh-CN" sz="2800" b="1" dirty="0" smtClean="0">
              <a:latin typeface="+mn-lt"/>
              <a:ea typeface="黑体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 smtClean="0">
                <a:latin typeface="+mn-lt"/>
                <a:ea typeface="黑体" pitchFamily="49" charset="-122"/>
                <a:hlinkClick r:id="rId2" action="ppaction://hlinkpres?slideindex=1&amp;slidetitle="/>
              </a:rPr>
              <a:t>4.2</a:t>
            </a:r>
            <a:r>
              <a:rPr lang="en-US" altLang="zh-CN" sz="2800" b="1" dirty="0" smtClean="0">
                <a:latin typeface="+mn-lt"/>
                <a:ea typeface="黑体" pitchFamily="49" charset="-122"/>
              </a:rPr>
              <a:t> </a:t>
            </a:r>
            <a:r>
              <a:rPr lang="zh-CN" altLang="en-US" sz="2800" b="1" dirty="0" smtClean="0">
                <a:latin typeface="+mn-lt"/>
                <a:ea typeface="黑体" pitchFamily="49" charset="-122"/>
              </a:rPr>
              <a:t>分步沉淀、沉淀的转化</a:t>
            </a:r>
            <a:endParaRPr lang="en-US" altLang="zh-CN" sz="2800" b="1" dirty="0" smtClean="0">
              <a:latin typeface="+mn-lt"/>
              <a:ea typeface="黑体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 smtClean="0">
                <a:latin typeface="+mn-lt"/>
                <a:ea typeface="黑体" pitchFamily="49" charset="-122"/>
                <a:hlinkClick r:id="rId3" action="ppaction://hlinkpres?slideindex=1&amp;slidetitle="/>
              </a:rPr>
              <a:t>4.3</a:t>
            </a:r>
            <a:r>
              <a:rPr lang="en-US" altLang="zh-CN" sz="2800" b="1" dirty="0" smtClean="0">
                <a:latin typeface="+mn-lt"/>
                <a:ea typeface="黑体" pitchFamily="49" charset="-122"/>
              </a:rPr>
              <a:t> </a:t>
            </a:r>
            <a:r>
              <a:rPr lang="zh-CN" altLang="en-US" sz="2800" b="1" dirty="0" smtClean="0">
                <a:latin typeface="+mn-lt"/>
                <a:ea typeface="黑体" pitchFamily="49" charset="-122"/>
              </a:rPr>
              <a:t>沉淀的形成与纯度</a:t>
            </a:r>
            <a:endParaRPr lang="en-US" altLang="zh-CN" sz="2800" b="1" dirty="0" smtClean="0">
              <a:latin typeface="+mn-lt"/>
              <a:ea typeface="黑体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 smtClean="0">
                <a:latin typeface="+mn-lt"/>
                <a:ea typeface="黑体" pitchFamily="49" charset="-122"/>
                <a:hlinkClick r:id="rId4" action="ppaction://hlinkpres?slideindex=1&amp;slidetitle="/>
              </a:rPr>
              <a:t>4.4</a:t>
            </a:r>
            <a:r>
              <a:rPr lang="en-US" altLang="zh-CN" sz="2800" b="1" dirty="0" smtClean="0">
                <a:latin typeface="+mn-lt"/>
                <a:ea typeface="黑体" pitchFamily="49" charset="-122"/>
              </a:rPr>
              <a:t> </a:t>
            </a:r>
            <a:r>
              <a:rPr lang="zh-CN" altLang="en-US" sz="2800" b="1" dirty="0" smtClean="0">
                <a:latin typeface="+mn-lt"/>
                <a:ea typeface="黑体" pitchFamily="49" charset="-122"/>
              </a:rPr>
              <a:t>沉淀分析法</a:t>
            </a:r>
            <a:r>
              <a:rPr lang="en-US" altLang="zh-CN" sz="2800" b="1" dirty="0" smtClean="0">
                <a:latin typeface="+mn-lt"/>
                <a:ea typeface="黑体" pitchFamily="49" charset="-122"/>
              </a:rPr>
              <a:t> </a:t>
            </a:r>
            <a:endParaRPr lang="zh-CN" altLang="en-US" sz="2800" b="1" dirty="0">
              <a:latin typeface="+mn-lt"/>
              <a:ea typeface="黑体" pitchFamily="49" charset="-12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7"/>
          <p:cNvSpPr>
            <a:spLocks noChangeArrowheads="1"/>
          </p:cNvSpPr>
          <p:nvPr/>
        </p:nvSpPr>
        <p:spPr bwMode="auto">
          <a:xfrm>
            <a:off x="3217863" y="1700213"/>
            <a:ext cx="544195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buFont typeface="Arial" charset="0"/>
              <a:buNone/>
            </a:pPr>
            <a:r>
              <a:rPr lang="zh-CN" altLang="en-US" sz="25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物质在水中溶解性的分类 </a:t>
            </a:r>
          </a:p>
        </p:txBody>
      </p:sp>
      <p:sp>
        <p:nvSpPr>
          <p:cNvPr id="94227" name="Line 19"/>
          <p:cNvSpPr>
            <a:spLocks noChangeShapeType="1"/>
          </p:cNvSpPr>
          <p:nvPr/>
        </p:nvSpPr>
        <p:spPr bwMode="auto">
          <a:xfrm>
            <a:off x="3400425" y="2311400"/>
            <a:ext cx="50895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Rectangle 20"/>
          <p:cNvSpPr>
            <a:spLocks noChangeArrowheads="1"/>
          </p:cNvSpPr>
          <p:nvPr/>
        </p:nvSpPr>
        <p:spPr bwMode="auto">
          <a:xfrm>
            <a:off x="3309938" y="2346325"/>
            <a:ext cx="4790094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pitchFamily="34" charset="0"/>
              <a:buNone/>
              <a:defRPr/>
            </a:pPr>
            <a:r>
              <a:rPr lang="zh-CN" altLang="en-US" sz="2500" b="1" dirty="0">
                <a:solidFill>
                  <a:srgbClr val="000000"/>
                </a:solidFill>
                <a:latin typeface="楷体_GB2312"/>
                <a:ea typeface="楷体_GB2312"/>
              </a:rPr>
              <a:t>物质    </a:t>
            </a:r>
            <a:r>
              <a:rPr lang="zh-CN" altLang="en-US" sz="2500" b="1" dirty="0" smtClean="0">
                <a:solidFill>
                  <a:srgbClr val="000000"/>
                </a:solidFill>
                <a:latin typeface="楷体_GB2312"/>
                <a:ea typeface="楷体_GB2312"/>
              </a:rPr>
              <a:t>     溶解度</a:t>
            </a:r>
            <a:r>
              <a:rPr lang="en-US" altLang="zh-CN" sz="2500" b="1" dirty="0" smtClean="0">
                <a:solidFill>
                  <a:srgbClr val="000000"/>
                </a:solidFill>
                <a:latin typeface="楷体_GB2312"/>
                <a:ea typeface="楷体_GB2312"/>
              </a:rPr>
              <a:t>(</a:t>
            </a:r>
            <a:r>
              <a:rPr lang="en-US" altLang="zh-CN" sz="2500" b="1" dirty="0" smtClean="0">
                <a:solidFill>
                  <a:srgbClr val="000000"/>
                </a:solidFill>
                <a:latin typeface="+mn-ea"/>
                <a:ea typeface="+mn-ea"/>
              </a:rPr>
              <a:t>g/100g</a:t>
            </a:r>
            <a:r>
              <a:rPr lang="zh-CN" altLang="en-US" sz="2500" b="1" dirty="0">
                <a:solidFill>
                  <a:srgbClr val="000000"/>
                </a:solidFill>
                <a:latin typeface="楷体_GB2312"/>
                <a:ea typeface="楷体_GB2312"/>
              </a:rPr>
              <a:t>水</a:t>
            </a:r>
            <a:r>
              <a:rPr lang="en-US" altLang="zh-CN" sz="2500" b="1" dirty="0">
                <a:solidFill>
                  <a:srgbClr val="000000"/>
                </a:solidFill>
                <a:latin typeface="楷体_GB2312"/>
                <a:ea typeface="楷体_GB2312"/>
              </a:rPr>
              <a:t>)</a:t>
            </a:r>
          </a:p>
        </p:txBody>
      </p:sp>
      <p:sp>
        <p:nvSpPr>
          <p:cNvPr id="94229" name="Line 21"/>
          <p:cNvSpPr>
            <a:spLocks noChangeShapeType="1"/>
          </p:cNvSpPr>
          <p:nvPr/>
        </p:nvSpPr>
        <p:spPr bwMode="auto">
          <a:xfrm>
            <a:off x="3400425" y="2855913"/>
            <a:ext cx="50895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3263900" y="2870200"/>
            <a:ext cx="2497138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solidFill>
                  <a:srgbClr val="000000"/>
                </a:solidFill>
                <a:ea typeface="楷体_GB2312" pitchFamily="49" charset="-122"/>
                <a:sym typeface="Monotype Sorts" pitchFamily="2" charset="2"/>
              </a:rPr>
              <a:t>①</a:t>
            </a:r>
            <a:r>
              <a:rPr lang="zh-CN" altLang="zh-CN" sz="2500" b="1">
                <a:solidFill>
                  <a:srgbClr val="000000"/>
                </a:solidFill>
                <a:ea typeface="楷体_GB2312" pitchFamily="49" charset="-122"/>
              </a:rPr>
              <a:t>易溶物</a:t>
            </a:r>
            <a:endParaRPr lang="zh-CN" altLang="en-US" sz="2500" b="1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5" name="Rectangle 23"/>
          <p:cNvSpPr>
            <a:spLocks noChangeArrowheads="1"/>
          </p:cNvSpPr>
          <p:nvPr/>
        </p:nvSpPr>
        <p:spPr bwMode="auto">
          <a:xfrm>
            <a:off x="6092825" y="2889250"/>
            <a:ext cx="841375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>
              <a:buFont typeface="Arial" charset="0"/>
              <a:buNone/>
            </a:pPr>
            <a:r>
              <a:rPr lang="en-US" altLang="zh-CN" sz="2500" b="1">
                <a:solidFill>
                  <a:srgbClr val="000000"/>
                </a:solidFill>
                <a:ea typeface="楷体_GB2312" pitchFamily="49" charset="-122"/>
              </a:rPr>
              <a:t>&gt; 0.1</a:t>
            </a:r>
          </a:p>
        </p:txBody>
      </p:sp>
      <p:sp>
        <p:nvSpPr>
          <p:cNvPr id="6" name="Line 24"/>
          <p:cNvSpPr>
            <a:spLocks noChangeShapeType="1"/>
          </p:cNvSpPr>
          <p:nvPr/>
        </p:nvSpPr>
        <p:spPr bwMode="auto">
          <a:xfrm>
            <a:off x="3400425" y="4318000"/>
            <a:ext cx="51847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Rectangle 26"/>
          <p:cNvSpPr>
            <a:spLocks noChangeArrowheads="1"/>
          </p:cNvSpPr>
          <p:nvPr/>
        </p:nvSpPr>
        <p:spPr bwMode="auto">
          <a:xfrm>
            <a:off x="3263900" y="3311525"/>
            <a:ext cx="240665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Monotype Sorts" pitchFamily="2" charset="2"/>
              </a:rPr>
              <a:t>②</a:t>
            </a:r>
            <a:r>
              <a:rPr lang="zh-CN" altLang="zh-CN" sz="2500" b="1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微溶物</a:t>
            </a:r>
            <a:endParaRPr lang="zh-CN" altLang="en-US" sz="2500" b="1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" name="Rectangle 27"/>
          <p:cNvSpPr>
            <a:spLocks noChangeArrowheads="1"/>
          </p:cNvSpPr>
          <p:nvPr/>
        </p:nvSpPr>
        <p:spPr bwMode="auto">
          <a:xfrm>
            <a:off x="5848350" y="3332163"/>
            <a:ext cx="1312863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zh-CN" sz="2500" b="1">
                <a:solidFill>
                  <a:srgbClr val="000000"/>
                </a:solidFill>
                <a:ea typeface="楷体_GB2312" pitchFamily="49" charset="-122"/>
              </a:rPr>
              <a:t>0.01~0.1</a:t>
            </a:r>
          </a:p>
        </p:txBody>
      </p:sp>
      <p:sp>
        <p:nvSpPr>
          <p:cNvPr id="9" name="Rectangle 29"/>
          <p:cNvSpPr>
            <a:spLocks noChangeArrowheads="1"/>
          </p:cNvSpPr>
          <p:nvPr/>
        </p:nvSpPr>
        <p:spPr bwMode="auto">
          <a:xfrm>
            <a:off x="6070600" y="3787775"/>
            <a:ext cx="10890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solidFill>
                  <a:srgbClr val="000000"/>
                </a:solidFill>
                <a:ea typeface="楷体_GB2312" pitchFamily="49" charset="-122"/>
              </a:rPr>
              <a:t>&lt; 0.01 </a:t>
            </a:r>
          </a:p>
        </p:txBody>
      </p:sp>
      <p:sp>
        <p:nvSpPr>
          <p:cNvPr id="94236" name="Rectangle 28"/>
          <p:cNvSpPr>
            <a:spLocks noChangeArrowheads="1"/>
          </p:cNvSpPr>
          <p:nvPr/>
        </p:nvSpPr>
        <p:spPr bwMode="auto">
          <a:xfrm>
            <a:off x="3263900" y="3754438"/>
            <a:ext cx="2587625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solidFill>
                  <a:srgbClr val="000000"/>
                </a:solidFill>
                <a:ea typeface="楷体_GB2312" pitchFamily="49" charset="-122"/>
                <a:sym typeface="Monotype Sorts" pitchFamily="2" charset="2"/>
              </a:rPr>
              <a:t>③</a:t>
            </a:r>
            <a:r>
              <a:rPr lang="zh-CN" altLang="en-US" sz="2500" b="1" dirty="0">
                <a:solidFill>
                  <a:srgbClr val="000000"/>
                </a:solidFill>
                <a:ea typeface="楷体_GB2312" pitchFamily="49" charset="-122"/>
              </a:rPr>
              <a:t>难溶物</a:t>
            </a:r>
          </a:p>
        </p:txBody>
      </p:sp>
      <p:sp>
        <p:nvSpPr>
          <p:cNvPr id="5133" name="文本框 68635"/>
          <p:cNvSpPr txBox="1">
            <a:spLocks noChangeArrowheads="1"/>
          </p:cNvSpPr>
          <p:nvPr/>
        </p:nvSpPr>
        <p:spPr bwMode="auto">
          <a:xfrm>
            <a:off x="257175" y="230188"/>
            <a:ext cx="4811713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200" b="1">
                <a:solidFill>
                  <a:srgbClr val="FF3300"/>
                </a:solidFill>
                <a:ea typeface="黑体" pitchFamily="49" charset="-122"/>
              </a:rPr>
              <a:t>4.1 沉淀－溶解平衡及其影响因素</a:t>
            </a:r>
          </a:p>
        </p:txBody>
      </p:sp>
      <p:sp>
        <p:nvSpPr>
          <p:cNvPr id="5134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 sz="2500">
              <a:ea typeface="楷体_GB2312" pitchFamily="49" charset="-122"/>
            </a:endParaRPr>
          </a:p>
        </p:txBody>
      </p:sp>
      <p:sp>
        <p:nvSpPr>
          <p:cNvPr id="5135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 sz="2500">
              <a:ea typeface="楷体_GB2312" pitchFamily="49" charset="-12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942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4227" grpId="0" animBg="1"/>
      <p:bldP spid="3" grpId="0"/>
      <p:bldP spid="94229" grpId="0" animBg="1"/>
      <p:bldP spid="4" grpId="0"/>
      <p:bldP spid="5" grpId="0"/>
      <p:bldP spid="6" grpId="0" animBg="1"/>
      <p:bldP spid="7" grpId="0"/>
      <p:bldP spid="8" grpId="0"/>
      <p:bldP spid="9" grpId="0"/>
      <p:bldP spid="9423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>
              <a:ea typeface="黑体" pitchFamily="49" charset="-122"/>
            </a:endParaRPr>
          </a:p>
        </p:txBody>
      </p:sp>
      <p:sp>
        <p:nvSpPr>
          <p:cNvPr id="6147" name="动作按钮: 前进或下一项 74757">
            <a:hlinkClick r:id="rId4" action="ppaction://hlinksldjump"/>
          </p:cNvPr>
          <p:cNvSpPr>
            <a:spLocks noChangeAspect="1" noChangeArrowheads="1"/>
          </p:cNvSpPr>
          <p:nvPr/>
        </p:nvSpPr>
        <p:spPr bwMode="auto">
          <a:xfrm>
            <a:off x="3094038" y="3292475"/>
            <a:ext cx="431800" cy="431800"/>
          </a:xfrm>
          <a:prstGeom prst="actionButtonForwardNex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>
              <a:ea typeface="黑体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25838" y="2022475"/>
            <a:ext cx="5780087" cy="2678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200000"/>
              </a:lnSpc>
              <a:buFont typeface="Arial" panose="020B0604020202020204" pitchFamily="34" charset="0"/>
              <a:buNone/>
              <a:defRPr/>
            </a:pPr>
            <a:r>
              <a:rPr sz="2800" b="1" noProof="1">
                <a:ea typeface="黑体" pitchFamily="49" charset="-122"/>
                <a:cs typeface="+mn-ea"/>
              </a:rPr>
              <a:t>4.1.1 溶度积与溶解度</a:t>
            </a:r>
          </a:p>
          <a:p>
            <a:pPr eaLnBrk="1" hangingPunct="1">
              <a:lnSpc>
                <a:spcPct val="200000"/>
              </a:lnSpc>
              <a:buFont typeface="Arial" panose="020B0604020202020204" pitchFamily="34" charset="0"/>
              <a:buNone/>
              <a:defRPr/>
            </a:pPr>
            <a:r>
              <a:rPr sz="2800" b="1" noProof="1">
                <a:ea typeface="黑体" pitchFamily="49" charset="-122"/>
                <a:cs typeface="+mn-ea"/>
              </a:rPr>
              <a:t>4.1.2 影响沉淀</a:t>
            </a:r>
            <a:r>
              <a:rPr lang="en-US" sz="2800" b="1" noProof="1">
                <a:ea typeface="黑体" pitchFamily="49" charset="-122"/>
                <a:cs typeface="+mn-ea"/>
              </a:rPr>
              <a:t>-</a:t>
            </a:r>
            <a:r>
              <a:rPr lang="zh-CN" altLang="en-US" sz="2800" b="1" noProof="1">
                <a:ea typeface="黑体" pitchFamily="49" charset="-122"/>
                <a:cs typeface="+mn-ea"/>
              </a:rPr>
              <a:t>溶解平衡</a:t>
            </a:r>
            <a:r>
              <a:rPr sz="2800" b="1" noProof="1">
                <a:ea typeface="黑体" pitchFamily="49" charset="-122"/>
                <a:cs typeface="+mn-ea"/>
              </a:rPr>
              <a:t>的主要因素</a:t>
            </a:r>
          </a:p>
          <a:p>
            <a:pPr eaLnBrk="1" hangingPunct="1">
              <a:lnSpc>
                <a:spcPct val="200000"/>
              </a:lnSpc>
              <a:buFont typeface="Arial" panose="020B0604020202020204" pitchFamily="34" charset="0"/>
              <a:buNone/>
              <a:defRPr/>
            </a:pPr>
            <a:endParaRPr lang="zh-CN" altLang="en-US" sz="2800" b="1" noProof="1">
              <a:ea typeface="黑体" pitchFamily="49" charset="-122"/>
              <a:cs typeface="+mn-ea"/>
            </a:endParaRPr>
          </a:p>
        </p:txBody>
      </p:sp>
      <p:sp>
        <p:nvSpPr>
          <p:cNvPr id="6149" name="动作按钮: 前进或下一项 1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3094038" y="2438400"/>
            <a:ext cx="431800" cy="431800"/>
          </a:xfrm>
          <a:prstGeom prst="actionButtonForwardNex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>
              <a:ea typeface="黑体" pitchFamily="49" charset="-122"/>
            </a:endParaRPr>
          </a:p>
        </p:txBody>
      </p:sp>
      <p:sp>
        <p:nvSpPr>
          <p:cNvPr id="6150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>
              <a:ea typeface="黑体" pitchFamily="49" charset="-122"/>
            </a:endParaRPr>
          </a:p>
        </p:txBody>
      </p:sp>
      <p:sp>
        <p:nvSpPr>
          <p:cNvPr id="6151" name="文本框 68635"/>
          <p:cNvSpPr txBox="1">
            <a:spLocks noChangeArrowheads="1"/>
          </p:cNvSpPr>
          <p:nvPr/>
        </p:nvSpPr>
        <p:spPr bwMode="auto">
          <a:xfrm>
            <a:off x="257175" y="230188"/>
            <a:ext cx="4811713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200" b="1">
                <a:solidFill>
                  <a:srgbClr val="FF3300"/>
                </a:solidFill>
                <a:ea typeface="黑体" pitchFamily="49" charset="-122"/>
              </a:rPr>
              <a:t>4.1 沉淀－溶解平衡及其影响因素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78" name="矩形 36877"/>
          <p:cNvSpPr>
            <a:spLocks noChangeArrowheads="1"/>
          </p:cNvSpPr>
          <p:nvPr/>
        </p:nvSpPr>
        <p:spPr bwMode="auto">
          <a:xfrm>
            <a:off x="760413" y="954088"/>
            <a:ext cx="4690107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1.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溶度积（solubility product）:</a:t>
            </a:r>
            <a:endParaRPr lang="en-US" altLang="zh-CN" sz="2500" b="1" dirty="0">
              <a:ea typeface="楷体_GB2312" pitchFamily="49" charset="-122"/>
            </a:endParaRPr>
          </a:p>
        </p:txBody>
      </p:sp>
      <p:grpSp>
        <p:nvGrpSpPr>
          <p:cNvPr id="3" name="组合 36888"/>
          <p:cNvGrpSpPr>
            <a:grpSpLocks noChangeAspect="1"/>
          </p:cNvGrpSpPr>
          <p:nvPr/>
        </p:nvGrpSpPr>
        <p:grpSpPr bwMode="auto">
          <a:xfrm>
            <a:off x="1444625" y="3087688"/>
            <a:ext cx="1093788" cy="901700"/>
            <a:chOff x="1152" y="1857"/>
            <a:chExt cx="1095" cy="902"/>
          </a:xfrm>
        </p:grpSpPr>
        <p:sp>
          <p:nvSpPr>
            <p:cNvPr id="7256" name="椭圆 36889"/>
            <p:cNvSpPr>
              <a:spLocks noChangeAspect="1" noChangeArrowheads="1"/>
            </p:cNvSpPr>
            <p:nvPr/>
          </p:nvSpPr>
          <p:spPr bwMode="auto">
            <a:xfrm>
              <a:off x="1152" y="1857"/>
              <a:ext cx="183" cy="186"/>
            </a:xfrm>
            <a:prstGeom prst="ellipse">
              <a:avLst/>
            </a:prstGeom>
            <a:gradFill rotWithShape="0">
              <a:gsLst>
                <a:gs pos="0">
                  <a:srgbClr val="808080"/>
                </a:gs>
                <a:gs pos="100000">
                  <a:srgbClr val="1C1C1C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7257" name="椭圆 36890"/>
            <p:cNvSpPr>
              <a:spLocks noChangeAspect="1" noChangeArrowheads="1"/>
            </p:cNvSpPr>
            <p:nvPr/>
          </p:nvSpPr>
          <p:spPr bwMode="auto">
            <a:xfrm>
              <a:off x="1282" y="1990"/>
              <a:ext cx="131" cy="132"/>
            </a:xfrm>
            <a:prstGeom prst="ellipse">
              <a:avLst/>
            </a:prstGeom>
            <a:gradFill rotWithShape="0">
              <a:gsLst>
                <a:gs pos="0">
                  <a:srgbClr val="808080"/>
                </a:gs>
                <a:gs pos="100000">
                  <a:srgbClr val="1C1C1C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7258" name="椭圆 36891"/>
            <p:cNvSpPr>
              <a:spLocks noChangeAspect="1" noChangeArrowheads="1"/>
            </p:cNvSpPr>
            <p:nvPr/>
          </p:nvSpPr>
          <p:spPr bwMode="auto">
            <a:xfrm>
              <a:off x="1152" y="2069"/>
              <a:ext cx="183" cy="186"/>
            </a:xfrm>
            <a:prstGeom prst="ellipse">
              <a:avLst/>
            </a:prstGeom>
            <a:gradFill rotWithShape="0">
              <a:gsLst>
                <a:gs pos="0">
                  <a:srgbClr val="808080"/>
                </a:gs>
                <a:gs pos="100000">
                  <a:srgbClr val="1C1C1C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7259" name="椭圆 36892"/>
            <p:cNvSpPr>
              <a:spLocks noChangeAspect="1" noChangeArrowheads="1"/>
            </p:cNvSpPr>
            <p:nvPr/>
          </p:nvSpPr>
          <p:spPr bwMode="auto">
            <a:xfrm>
              <a:off x="1282" y="2202"/>
              <a:ext cx="131" cy="133"/>
            </a:xfrm>
            <a:prstGeom prst="ellipse">
              <a:avLst/>
            </a:prstGeom>
            <a:gradFill rotWithShape="0">
              <a:gsLst>
                <a:gs pos="0">
                  <a:srgbClr val="808080"/>
                </a:gs>
                <a:gs pos="100000">
                  <a:srgbClr val="1C1C1C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7260" name="椭圆 36893"/>
            <p:cNvSpPr>
              <a:spLocks noChangeAspect="1" noChangeArrowheads="1"/>
            </p:cNvSpPr>
            <p:nvPr/>
          </p:nvSpPr>
          <p:spPr bwMode="auto">
            <a:xfrm>
              <a:off x="1152" y="2281"/>
              <a:ext cx="183" cy="186"/>
            </a:xfrm>
            <a:prstGeom prst="ellipse">
              <a:avLst/>
            </a:prstGeom>
            <a:gradFill rotWithShape="0">
              <a:gsLst>
                <a:gs pos="0">
                  <a:srgbClr val="808080"/>
                </a:gs>
                <a:gs pos="100000">
                  <a:srgbClr val="1C1C1C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7261" name="椭圆 36894"/>
            <p:cNvSpPr>
              <a:spLocks noChangeAspect="1" noChangeArrowheads="1"/>
            </p:cNvSpPr>
            <p:nvPr/>
          </p:nvSpPr>
          <p:spPr bwMode="auto">
            <a:xfrm>
              <a:off x="1282" y="2414"/>
              <a:ext cx="131" cy="133"/>
            </a:xfrm>
            <a:prstGeom prst="ellipse">
              <a:avLst/>
            </a:prstGeom>
            <a:gradFill rotWithShape="0">
              <a:gsLst>
                <a:gs pos="0">
                  <a:srgbClr val="808080"/>
                </a:gs>
                <a:gs pos="100000">
                  <a:srgbClr val="1C1C1C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7262" name="椭圆 36895"/>
            <p:cNvSpPr>
              <a:spLocks noChangeAspect="1" noChangeArrowheads="1"/>
            </p:cNvSpPr>
            <p:nvPr/>
          </p:nvSpPr>
          <p:spPr bwMode="auto">
            <a:xfrm>
              <a:off x="1152" y="2494"/>
              <a:ext cx="183" cy="185"/>
            </a:xfrm>
            <a:prstGeom prst="ellipse">
              <a:avLst/>
            </a:prstGeom>
            <a:gradFill rotWithShape="0">
              <a:gsLst>
                <a:gs pos="0">
                  <a:srgbClr val="808080"/>
                </a:gs>
                <a:gs pos="100000">
                  <a:srgbClr val="1C1C1C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7263" name="椭圆 36896"/>
            <p:cNvSpPr>
              <a:spLocks noChangeAspect="1" noChangeArrowheads="1"/>
            </p:cNvSpPr>
            <p:nvPr/>
          </p:nvSpPr>
          <p:spPr bwMode="auto">
            <a:xfrm>
              <a:off x="1282" y="2626"/>
              <a:ext cx="131" cy="133"/>
            </a:xfrm>
            <a:prstGeom prst="ellipse">
              <a:avLst/>
            </a:prstGeom>
            <a:gradFill rotWithShape="0">
              <a:gsLst>
                <a:gs pos="0">
                  <a:srgbClr val="808080"/>
                </a:gs>
                <a:gs pos="100000">
                  <a:srgbClr val="1C1C1C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7264" name="椭圆 36897"/>
            <p:cNvSpPr>
              <a:spLocks noChangeAspect="1" noChangeArrowheads="1"/>
            </p:cNvSpPr>
            <p:nvPr/>
          </p:nvSpPr>
          <p:spPr bwMode="auto">
            <a:xfrm>
              <a:off x="1375" y="1857"/>
              <a:ext cx="182" cy="186"/>
            </a:xfrm>
            <a:prstGeom prst="ellipse">
              <a:avLst/>
            </a:prstGeom>
            <a:gradFill rotWithShape="0">
              <a:gsLst>
                <a:gs pos="0">
                  <a:srgbClr val="808080"/>
                </a:gs>
                <a:gs pos="100000">
                  <a:srgbClr val="1C1C1C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7265" name="椭圆 36898"/>
            <p:cNvSpPr>
              <a:spLocks noChangeAspect="1" noChangeArrowheads="1"/>
            </p:cNvSpPr>
            <p:nvPr/>
          </p:nvSpPr>
          <p:spPr bwMode="auto">
            <a:xfrm>
              <a:off x="1505" y="1990"/>
              <a:ext cx="131" cy="132"/>
            </a:xfrm>
            <a:prstGeom prst="ellipse">
              <a:avLst/>
            </a:prstGeom>
            <a:gradFill rotWithShape="0">
              <a:gsLst>
                <a:gs pos="0">
                  <a:srgbClr val="808080"/>
                </a:gs>
                <a:gs pos="100000">
                  <a:srgbClr val="1C1C1C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7266" name="椭圆 36899"/>
            <p:cNvSpPr>
              <a:spLocks noChangeAspect="1" noChangeArrowheads="1"/>
            </p:cNvSpPr>
            <p:nvPr/>
          </p:nvSpPr>
          <p:spPr bwMode="auto">
            <a:xfrm>
              <a:off x="1375" y="2069"/>
              <a:ext cx="182" cy="186"/>
            </a:xfrm>
            <a:prstGeom prst="ellipse">
              <a:avLst/>
            </a:prstGeom>
            <a:gradFill rotWithShape="0">
              <a:gsLst>
                <a:gs pos="0">
                  <a:srgbClr val="808080"/>
                </a:gs>
                <a:gs pos="100000">
                  <a:srgbClr val="1C1C1C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7267" name="椭圆 36900"/>
            <p:cNvSpPr>
              <a:spLocks noChangeAspect="1" noChangeArrowheads="1"/>
            </p:cNvSpPr>
            <p:nvPr/>
          </p:nvSpPr>
          <p:spPr bwMode="auto">
            <a:xfrm>
              <a:off x="1505" y="2202"/>
              <a:ext cx="131" cy="133"/>
            </a:xfrm>
            <a:prstGeom prst="ellipse">
              <a:avLst/>
            </a:prstGeom>
            <a:gradFill rotWithShape="0">
              <a:gsLst>
                <a:gs pos="0">
                  <a:srgbClr val="808080"/>
                </a:gs>
                <a:gs pos="100000">
                  <a:srgbClr val="1C1C1C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7268" name="椭圆 36901"/>
            <p:cNvSpPr>
              <a:spLocks noChangeAspect="1" noChangeArrowheads="1"/>
            </p:cNvSpPr>
            <p:nvPr/>
          </p:nvSpPr>
          <p:spPr bwMode="auto">
            <a:xfrm>
              <a:off x="1375" y="2281"/>
              <a:ext cx="182" cy="186"/>
            </a:xfrm>
            <a:prstGeom prst="ellipse">
              <a:avLst/>
            </a:prstGeom>
            <a:gradFill rotWithShape="0">
              <a:gsLst>
                <a:gs pos="0">
                  <a:srgbClr val="808080"/>
                </a:gs>
                <a:gs pos="100000">
                  <a:srgbClr val="1C1C1C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7269" name="椭圆 36902"/>
            <p:cNvSpPr>
              <a:spLocks noChangeAspect="1" noChangeArrowheads="1"/>
            </p:cNvSpPr>
            <p:nvPr/>
          </p:nvSpPr>
          <p:spPr bwMode="auto">
            <a:xfrm>
              <a:off x="1505" y="2414"/>
              <a:ext cx="131" cy="133"/>
            </a:xfrm>
            <a:prstGeom prst="ellipse">
              <a:avLst/>
            </a:prstGeom>
            <a:gradFill rotWithShape="0">
              <a:gsLst>
                <a:gs pos="0">
                  <a:srgbClr val="808080"/>
                </a:gs>
                <a:gs pos="100000">
                  <a:srgbClr val="1C1C1C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7270" name="椭圆 36903"/>
            <p:cNvSpPr>
              <a:spLocks noChangeAspect="1" noChangeArrowheads="1"/>
            </p:cNvSpPr>
            <p:nvPr/>
          </p:nvSpPr>
          <p:spPr bwMode="auto">
            <a:xfrm>
              <a:off x="1375" y="2494"/>
              <a:ext cx="182" cy="185"/>
            </a:xfrm>
            <a:prstGeom prst="ellipse">
              <a:avLst/>
            </a:prstGeom>
            <a:gradFill rotWithShape="0">
              <a:gsLst>
                <a:gs pos="0">
                  <a:srgbClr val="808080"/>
                </a:gs>
                <a:gs pos="100000">
                  <a:srgbClr val="1C1C1C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7271" name="椭圆 36904"/>
            <p:cNvSpPr>
              <a:spLocks noChangeAspect="1" noChangeArrowheads="1"/>
            </p:cNvSpPr>
            <p:nvPr/>
          </p:nvSpPr>
          <p:spPr bwMode="auto">
            <a:xfrm>
              <a:off x="1505" y="2626"/>
              <a:ext cx="131" cy="133"/>
            </a:xfrm>
            <a:prstGeom prst="ellipse">
              <a:avLst/>
            </a:prstGeom>
            <a:gradFill rotWithShape="0">
              <a:gsLst>
                <a:gs pos="0">
                  <a:srgbClr val="808080"/>
                </a:gs>
                <a:gs pos="100000">
                  <a:srgbClr val="1C1C1C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7272" name="椭圆 36905"/>
            <p:cNvSpPr>
              <a:spLocks noChangeAspect="1" noChangeArrowheads="1"/>
            </p:cNvSpPr>
            <p:nvPr/>
          </p:nvSpPr>
          <p:spPr bwMode="auto">
            <a:xfrm>
              <a:off x="1595" y="1857"/>
              <a:ext cx="183" cy="186"/>
            </a:xfrm>
            <a:prstGeom prst="ellipse">
              <a:avLst/>
            </a:prstGeom>
            <a:gradFill rotWithShape="0">
              <a:gsLst>
                <a:gs pos="0">
                  <a:srgbClr val="808080"/>
                </a:gs>
                <a:gs pos="100000">
                  <a:srgbClr val="1C1C1C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7273" name="椭圆 36906"/>
            <p:cNvSpPr>
              <a:spLocks noChangeAspect="1" noChangeArrowheads="1"/>
            </p:cNvSpPr>
            <p:nvPr/>
          </p:nvSpPr>
          <p:spPr bwMode="auto">
            <a:xfrm>
              <a:off x="1726" y="1990"/>
              <a:ext cx="130" cy="132"/>
            </a:xfrm>
            <a:prstGeom prst="ellipse">
              <a:avLst/>
            </a:prstGeom>
            <a:gradFill rotWithShape="0">
              <a:gsLst>
                <a:gs pos="0">
                  <a:srgbClr val="808080"/>
                </a:gs>
                <a:gs pos="100000">
                  <a:srgbClr val="1C1C1C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7274" name="椭圆 36907"/>
            <p:cNvSpPr>
              <a:spLocks noChangeAspect="1" noChangeArrowheads="1"/>
            </p:cNvSpPr>
            <p:nvPr/>
          </p:nvSpPr>
          <p:spPr bwMode="auto">
            <a:xfrm>
              <a:off x="1595" y="2069"/>
              <a:ext cx="183" cy="186"/>
            </a:xfrm>
            <a:prstGeom prst="ellipse">
              <a:avLst/>
            </a:prstGeom>
            <a:gradFill rotWithShape="0">
              <a:gsLst>
                <a:gs pos="0">
                  <a:srgbClr val="808080"/>
                </a:gs>
                <a:gs pos="100000">
                  <a:srgbClr val="1C1C1C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7275" name="椭圆 36908"/>
            <p:cNvSpPr>
              <a:spLocks noChangeAspect="1" noChangeArrowheads="1"/>
            </p:cNvSpPr>
            <p:nvPr/>
          </p:nvSpPr>
          <p:spPr bwMode="auto">
            <a:xfrm>
              <a:off x="1726" y="2202"/>
              <a:ext cx="130" cy="133"/>
            </a:xfrm>
            <a:prstGeom prst="ellipse">
              <a:avLst/>
            </a:prstGeom>
            <a:gradFill rotWithShape="0">
              <a:gsLst>
                <a:gs pos="0">
                  <a:srgbClr val="808080"/>
                </a:gs>
                <a:gs pos="100000">
                  <a:srgbClr val="1C1C1C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7276" name="椭圆 36909"/>
            <p:cNvSpPr>
              <a:spLocks noChangeAspect="1" noChangeArrowheads="1"/>
            </p:cNvSpPr>
            <p:nvPr/>
          </p:nvSpPr>
          <p:spPr bwMode="auto">
            <a:xfrm>
              <a:off x="1595" y="2281"/>
              <a:ext cx="183" cy="186"/>
            </a:xfrm>
            <a:prstGeom prst="ellipse">
              <a:avLst/>
            </a:prstGeom>
            <a:gradFill rotWithShape="0">
              <a:gsLst>
                <a:gs pos="0">
                  <a:srgbClr val="808080"/>
                </a:gs>
                <a:gs pos="100000">
                  <a:srgbClr val="1C1C1C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7277" name="椭圆 36910"/>
            <p:cNvSpPr>
              <a:spLocks noChangeAspect="1" noChangeArrowheads="1"/>
            </p:cNvSpPr>
            <p:nvPr/>
          </p:nvSpPr>
          <p:spPr bwMode="auto">
            <a:xfrm>
              <a:off x="1726" y="2414"/>
              <a:ext cx="130" cy="133"/>
            </a:xfrm>
            <a:prstGeom prst="ellipse">
              <a:avLst/>
            </a:prstGeom>
            <a:gradFill rotWithShape="0">
              <a:gsLst>
                <a:gs pos="0">
                  <a:srgbClr val="808080"/>
                </a:gs>
                <a:gs pos="100000">
                  <a:srgbClr val="1C1C1C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7278" name="椭圆 36911"/>
            <p:cNvSpPr>
              <a:spLocks noChangeAspect="1" noChangeArrowheads="1"/>
            </p:cNvSpPr>
            <p:nvPr/>
          </p:nvSpPr>
          <p:spPr bwMode="auto">
            <a:xfrm>
              <a:off x="1595" y="2494"/>
              <a:ext cx="183" cy="185"/>
            </a:xfrm>
            <a:prstGeom prst="ellipse">
              <a:avLst/>
            </a:prstGeom>
            <a:gradFill rotWithShape="0">
              <a:gsLst>
                <a:gs pos="0">
                  <a:srgbClr val="808080"/>
                </a:gs>
                <a:gs pos="100000">
                  <a:srgbClr val="1C1C1C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7279" name="椭圆 36912"/>
            <p:cNvSpPr>
              <a:spLocks noChangeAspect="1" noChangeArrowheads="1"/>
            </p:cNvSpPr>
            <p:nvPr/>
          </p:nvSpPr>
          <p:spPr bwMode="auto">
            <a:xfrm>
              <a:off x="1726" y="2626"/>
              <a:ext cx="130" cy="133"/>
            </a:xfrm>
            <a:prstGeom prst="ellipse">
              <a:avLst/>
            </a:prstGeom>
            <a:gradFill rotWithShape="0">
              <a:gsLst>
                <a:gs pos="0">
                  <a:srgbClr val="808080"/>
                </a:gs>
                <a:gs pos="100000">
                  <a:srgbClr val="1C1C1C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7280" name="椭圆 36913"/>
            <p:cNvSpPr>
              <a:spLocks noChangeAspect="1" noChangeArrowheads="1"/>
            </p:cNvSpPr>
            <p:nvPr/>
          </p:nvSpPr>
          <p:spPr bwMode="auto">
            <a:xfrm>
              <a:off x="1818" y="1857"/>
              <a:ext cx="183" cy="186"/>
            </a:xfrm>
            <a:prstGeom prst="ellipse">
              <a:avLst/>
            </a:prstGeom>
            <a:gradFill rotWithShape="0">
              <a:gsLst>
                <a:gs pos="0">
                  <a:srgbClr val="808080"/>
                </a:gs>
                <a:gs pos="100000">
                  <a:srgbClr val="1C1C1C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7281" name="椭圆 36914"/>
            <p:cNvSpPr>
              <a:spLocks noChangeAspect="1" noChangeArrowheads="1"/>
            </p:cNvSpPr>
            <p:nvPr/>
          </p:nvSpPr>
          <p:spPr bwMode="auto">
            <a:xfrm>
              <a:off x="1949" y="1990"/>
              <a:ext cx="130" cy="132"/>
            </a:xfrm>
            <a:prstGeom prst="ellipse">
              <a:avLst/>
            </a:prstGeom>
            <a:gradFill rotWithShape="0">
              <a:gsLst>
                <a:gs pos="0">
                  <a:srgbClr val="808080"/>
                </a:gs>
                <a:gs pos="100000">
                  <a:srgbClr val="1C1C1C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7282" name="椭圆 36915"/>
            <p:cNvSpPr>
              <a:spLocks noChangeAspect="1" noChangeArrowheads="1"/>
            </p:cNvSpPr>
            <p:nvPr/>
          </p:nvSpPr>
          <p:spPr bwMode="auto">
            <a:xfrm>
              <a:off x="1818" y="2069"/>
              <a:ext cx="183" cy="186"/>
            </a:xfrm>
            <a:prstGeom prst="ellipse">
              <a:avLst/>
            </a:prstGeom>
            <a:gradFill rotWithShape="0">
              <a:gsLst>
                <a:gs pos="0">
                  <a:srgbClr val="808080"/>
                </a:gs>
                <a:gs pos="100000">
                  <a:srgbClr val="1C1C1C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7283" name="椭圆 36916"/>
            <p:cNvSpPr>
              <a:spLocks noChangeAspect="1" noChangeArrowheads="1"/>
            </p:cNvSpPr>
            <p:nvPr/>
          </p:nvSpPr>
          <p:spPr bwMode="auto">
            <a:xfrm>
              <a:off x="1949" y="2202"/>
              <a:ext cx="130" cy="133"/>
            </a:xfrm>
            <a:prstGeom prst="ellipse">
              <a:avLst/>
            </a:prstGeom>
            <a:gradFill rotWithShape="0">
              <a:gsLst>
                <a:gs pos="0">
                  <a:srgbClr val="808080"/>
                </a:gs>
                <a:gs pos="100000">
                  <a:srgbClr val="1C1C1C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7284" name="椭圆 36917"/>
            <p:cNvSpPr>
              <a:spLocks noChangeAspect="1" noChangeArrowheads="1"/>
            </p:cNvSpPr>
            <p:nvPr/>
          </p:nvSpPr>
          <p:spPr bwMode="auto">
            <a:xfrm>
              <a:off x="1818" y="2281"/>
              <a:ext cx="183" cy="186"/>
            </a:xfrm>
            <a:prstGeom prst="ellipse">
              <a:avLst/>
            </a:prstGeom>
            <a:gradFill rotWithShape="0">
              <a:gsLst>
                <a:gs pos="0">
                  <a:srgbClr val="808080"/>
                </a:gs>
                <a:gs pos="100000">
                  <a:srgbClr val="1C1C1C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7285" name="椭圆 36918"/>
            <p:cNvSpPr>
              <a:spLocks noChangeAspect="1" noChangeArrowheads="1"/>
            </p:cNvSpPr>
            <p:nvPr/>
          </p:nvSpPr>
          <p:spPr bwMode="auto">
            <a:xfrm>
              <a:off x="1818" y="2494"/>
              <a:ext cx="183" cy="185"/>
            </a:xfrm>
            <a:prstGeom prst="ellipse">
              <a:avLst/>
            </a:prstGeom>
            <a:gradFill rotWithShape="0">
              <a:gsLst>
                <a:gs pos="0">
                  <a:srgbClr val="808080"/>
                </a:gs>
                <a:gs pos="100000">
                  <a:srgbClr val="1C1C1C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7286" name="椭圆 36919"/>
            <p:cNvSpPr>
              <a:spLocks noChangeAspect="1" noChangeArrowheads="1"/>
            </p:cNvSpPr>
            <p:nvPr/>
          </p:nvSpPr>
          <p:spPr bwMode="auto">
            <a:xfrm>
              <a:off x="1949" y="2626"/>
              <a:ext cx="130" cy="133"/>
            </a:xfrm>
            <a:prstGeom prst="ellipse">
              <a:avLst/>
            </a:prstGeom>
            <a:gradFill rotWithShape="0">
              <a:gsLst>
                <a:gs pos="0">
                  <a:srgbClr val="808080"/>
                </a:gs>
                <a:gs pos="100000">
                  <a:srgbClr val="1C1C1C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7287" name="椭圆 36920"/>
            <p:cNvSpPr>
              <a:spLocks noChangeAspect="1" noChangeArrowheads="1"/>
            </p:cNvSpPr>
            <p:nvPr/>
          </p:nvSpPr>
          <p:spPr bwMode="auto">
            <a:xfrm>
              <a:off x="2064" y="1883"/>
              <a:ext cx="183" cy="186"/>
            </a:xfrm>
            <a:prstGeom prst="ellipse">
              <a:avLst/>
            </a:prstGeom>
            <a:gradFill rotWithShape="0">
              <a:gsLst>
                <a:gs pos="0">
                  <a:srgbClr val="808080"/>
                </a:gs>
                <a:gs pos="100000">
                  <a:srgbClr val="1C1C1C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</p:grpSp>
      <p:grpSp>
        <p:nvGrpSpPr>
          <p:cNvPr id="4" name="组合 36921"/>
          <p:cNvGrpSpPr>
            <a:grpSpLocks noChangeAspect="1"/>
          </p:cNvGrpSpPr>
          <p:nvPr/>
        </p:nvGrpSpPr>
        <p:grpSpPr bwMode="auto">
          <a:xfrm>
            <a:off x="3121080" y="1677720"/>
            <a:ext cx="3541713" cy="2520950"/>
            <a:chOff x="1056" y="480"/>
            <a:chExt cx="3759" cy="2675"/>
          </a:xfrm>
        </p:grpSpPr>
        <p:grpSp>
          <p:nvGrpSpPr>
            <p:cNvPr id="7191" name="组合 36922"/>
            <p:cNvGrpSpPr>
              <a:grpSpLocks noChangeAspect="1"/>
            </p:cNvGrpSpPr>
            <p:nvPr/>
          </p:nvGrpSpPr>
          <p:grpSpPr bwMode="auto">
            <a:xfrm>
              <a:off x="1056" y="805"/>
              <a:ext cx="639" cy="611"/>
              <a:chOff x="1056" y="805"/>
              <a:chExt cx="639" cy="611"/>
            </a:xfrm>
          </p:grpSpPr>
          <p:sp>
            <p:nvSpPr>
              <p:cNvPr id="7249" name="椭圆 36923"/>
              <p:cNvSpPr>
                <a:spLocks noChangeAspect="1" noChangeArrowheads="1"/>
              </p:cNvSpPr>
              <p:nvPr/>
            </p:nvSpPr>
            <p:spPr bwMode="auto">
              <a:xfrm>
                <a:off x="1304" y="1045"/>
                <a:ext cx="130" cy="132"/>
              </a:xfrm>
              <a:prstGeom prst="ellipse">
                <a:avLst/>
              </a:prstGeom>
              <a:gradFill rotWithShape="0">
                <a:gsLst>
                  <a:gs pos="0">
                    <a:srgbClr val="808080"/>
                  </a:gs>
                  <a:gs pos="100000">
                    <a:srgbClr val="1C1C1C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250" name="椭圆 36924"/>
              <p:cNvSpPr>
                <a:spLocks noChangeAspect="1" noChangeArrowheads="1"/>
              </p:cNvSpPr>
              <p:nvPr/>
            </p:nvSpPr>
            <p:spPr bwMode="auto">
              <a:xfrm>
                <a:off x="1056" y="1071"/>
                <a:ext cx="261" cy="53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4D4D4D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251" name="椭圆 36925"/>
              <p:cNvSpPr>
                <a:spLocks noChangeAspect="1" noChangeArrowheads="1"/>
              </p:cNvSpPr>
              <p:nvPr/>
            </p:nvSpPr>
            <p:spPr bwMode="auto">
              <a:xfrm>
                <a:off x="1434" y="1076"/>
                <a:ext cx="261" cy="53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4D4D4D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252" name="椭圆 36926"/>
              <p:cNvSpPr>
                <a:spLocks noChangeAspect="1" noChangeArrowheads="1"/>
              </p:cNvSpPr>
              <p:nvPr/>
            </p:nvSpPr>
            <p:spPr bwMode="auto">
              <a:xfrm rot="3600000">
                <a:off x="1146" y="912"/>
                <a:ext cx="266" cy="52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4D4D4D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253" name="椭圆 36927"/>
              <p:cNvSpPr>
                <a:spLocks noChangeAspect="1" noChangeArrowheads="1"/>
              </p:cNvSpPr>
              <p:nvPr/>
            </p:nvSpPr>
            <p:spPr bwMode="auto">
              <a:xfrm rot="3600000">
                <a:off x="1345" y="1257"/>
                <a:ext cx="266" cy="52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4D4D4D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254" name="椭圆 36928"/>
              <p:cNvSpPr>
                <a:spLocks noChangeAspect="1" noChangeArrowheads="1"/>
              </p:cNvSpPr>
              <p:nvPr/>
            </p:nvSpPr>
            <p:spPr bwMode="auto">
              <a:xfrm rot="18000000" flipH="1">
                <a:off x="1335" y="912"/>
                <a:ext cx="266" cy="52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4D4D4D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255" name="椭圆 36929"/>
              <p:cNvSpPr>
                <a:spLocks noChangeAspect="1" noChangeArrowheads="1"/>
              </p:cNvSpPr>
              <p:nvPr/>
            </p:nvSpPr>
            <p:spPr bwMode="auto">
              <a:xfrm rot="18000000" flipH="1">
                <a:off x="1136" y="1257"/>
                <a:ext cx="266" cy="52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4D4D4D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</p:grpSp>
        <p:grpSp>
          <p:nvGrpSpPr>
            <p:cNvPr id="7192" name="组合 36930"/>
            <p:cNvGrpSpPr>
              <a:grpSpLocks noChangeAspect="1"/>
            </p:cNvGrpSpPr>
            <p:nvPr/>
          </p:nvGrpSpPr>
          <p:grpSpPr bwMode="auto">
            <a:xfrm>
              <a:off x="1632" y="480"/>
              <a:ext cx="965" cy="855"/>
              <a:chOff x="1632" y="480"/>
              <a:chExt cx="965" cy="855"/>
            </a:xfrm>
          </p:grpSpPr>
          <p:sp>
            <p:nvSpPr>
              <p:cNvPr id="7242" name="椭圆 36931"/>
              <p:cNvSpPr>
                <a:spLocks noChangeAspect="1" noChangeArrowheads="1"/>
              </p:cNvSpPr>
              <p:nvPr/>
            </p:nvSpPr>
            <p:spPr bwMode="auto">
              <a:xfrm>
                <a:off x="2023" y="815"/>
                <a:ext cx="183" cy="185"/>
              </a:xfrm>
              <a:prstGeom prst="ellipse">
                <a:avLst/>
              </a:prstGeom>
              <a:gradFill rotWithShape="0">
                <a:gsLst>
                  <a:gs pos="0">
                    <a:srgbClr val="808080"/>
                  </a:gs>
                  <a:gs pos="100000">
                    <a:srgbClr val="1C1C1C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243" name="椭圆 36932"/>
              <p:cNvSpPr>
                <a:spLocks noChangeAspect="1" noChangeArrowheads="1"/>
              </p:cNvSpPr>
              <p:nvPr/>
            </p:nvSpPr>
            <p:spPr bwMode="auto">
              <a:xfrm>
                <a:off x="1632" y="852"/>
                <a:ext cx="393" cy="74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4D4D4D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244" name="椭圆 36933"/>
              <p:cNvSpPr>
                <a:spLocks noChangeAspect="1" noChangeArrowheads="1"/>
              </p:cNvSpPr>
              <p:nvPr/>
            </p:nvSpPr>
            <p:spPr bwMode="auto">
              <a:xfrm>
                <a:off x="2204" y="858"/>
                <a:ext cx="393" cy="74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4D4D4D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245" name="椭圆 36934"/>
              <p:cNvSpPr>
                <a:spLocks noChangeAspect="1" noChangeArrowheads="1"/>
              </p:cNvSpPr>
              <p:nvPr/>
            </p:nvSpPr>
            <p:spPr bwMode="auto">
              <a:xfrm rot="3600000">
                <a:off x="1783" y="615"/>
                <a:ext cx="372" cy="79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4D4D4D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246" name="椭圆 36935"/>
              <p:cNvSpPr>
                <a:spLocks noChangeAspect="1" noChangeArrowheads="1"/>
              </p:cNvSpPr>
              <p:nvPr/>
            </p:nvSpPr>
            <p:spPr bwMode="auto">
              <a:xfrm rot="3600000">
                <a:off x="2061" y="1097"/>
                <a:ext cx="372" cy="79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4D4D4D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247" name="椭圆 36936"/>
              <p:cNvSpPr>
                <a:spLocks noChangeAspect="1" noChangeArrowheads="1"/>
              </p:cNvSpPr>
              <p:nvPr/>
            </p:nvSpPr>
            <p:spPr bwMode="auto">
              <a:xfrm rot="18000000" flipH="1">
                <a:off x="2046" y="616"/>
                <a:ext cx="372" cy="79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4D4D4D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248" name="椭圆 36937"/>
              <p:cNvSpPr>
                <a:spLocks noChangeAspect="1" noChangeArrowheads="1"/>
              </p:cNvSpPr>
              <p:nvPr/>
            </p:nvSpPr>
            <p:spPr bwMode="auto">
              <a:xfrm rot="18000000" flipH="1">
                <a:off x="1768" y="1098"/>
                <a:ext cx="372" cy="79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4D4D4D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</p:grpSp>
        <p:grpSp>
          <p:nvGrpSpPr>
            <p:cNvPr id="7193" name="组合 36938"/>
            <p:cNvGrpSpPr>
              <a:grpSpLocks noChangeAspect="1"/>
            </p:cNvGrpSpPr>
            <p:nvPr/>
          </p:nvGrpSpPr>
          <p:grpSpPr bwMode="auto">
            <a:xfrm>
              <a:off x="2160" y="2544"/>
              <a:ext cx="639" cy="611"/>
              <a:chOff x="2001" y="2437"/>
              <a:chExt cx="639" cy="611"/>
            </a:xfrm>
          </p:grpSpPr>
          <p:sp>
            <p:nvSpPr>
              <p:cNvPr id="7234" name="椭圆 36939"/>
              <p:cNvSpPr>
                <a:spLocks noChangeAspect="1" noChangeArrowheads="1"/>
              </p:cNvSpPr>
              <p:nvPr/>
            </p:nvSpPr>
            <p:spPr bwMode="auto">
              <a:xfrm>
                <a:off x="2249" y="2677"/>
                <a:ext cx="130" cy="132"/>
              </a:xfrm>
              <a:prstGeom prst="ellipse">
                <a:avLst/>
              </a:prstGeom>
              <a:gradFill rotWithShape="0">
                <a:gsLst>
                  <a:gs pos="0">
                    <a:srgbClr val="808080"/>
                  </a:gs>
                  <a:gs pos="100000">
                    <a:srgbClr val="1C1C1C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235" name="椭圆 36940"/>
              <p:cNvSpPr>
                <a:spLocks noChangeAspect="1" noChangeArrowheads="1"/>
              </p:cNvSpPr>
              <p:nvPr/>
            </p:nvSpPr>
            <p:spPr bwMode="auto">
              <a:xfrm>
                <a:off x="2001" y="2703"/>
                <a:ext cx="261" cy="53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4D4D4D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236" name="椭圆 36941"/>
              <p:cNvSpPr>
                <a:spLocks noChangeAspect="1" noChangeArrowheads="1"/>
              </p:cNvSpPr>
              <p:nvPr/>
            </p:nvSpPr>
            <p:spPr bwMode="auto">
              <a:xfrm>
                <a:off x="2379" y="2708"/>
                <a:ext cx="261" cy="53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4D4D4D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237" name="椭圆 36942"/>
              <p:cNvSpPr>
                <a:spLocks noChangeAspect="1" noChangeArrowheads="1"/>
              </p:cNvSpPr>
              <p:nvPr/>
            </p:nvSpPr>
            <p:spPr bwMode="auto">
              <a:xfrm rot="3600000">
                <a:off x="2091" y="2544"/>
                <a:ext cx="266" cy="52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4D4D4D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238" name="椭圆 36943"/>
              <p:cNvSpPr>
                <a:spLocks noChangeAspect="1" noChangeArrowheads="1"/>
              </p:cNvSpPr>
              <p:nvPr/>
            </p:nvSpPr>
            <p:spPr bwMode="auto">
              <a:xfrm rot="3600000">
                <a:off x="2290" y="2889"/>
                <a:ext cx="266" cy="52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4D4D4D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239" name="椭圆 36944"/>
              <p:cNvSpPr>
                <a:spLocks noChangeAspect="1" noChangeArrowheads="1"/>
              </p:cNvSpPr>
              <p:nvPr/>
            </p:nvSpPr>
            <p:spPr bwMode="auto">
              <a:xfrm rot="18000000" flipH="1">
                <a:off x="2280" y="2544"/>
                <a:ext cx="266" cy="52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4D4D4D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240" name="椭圆 36945"/>
              <p:cNvSpPr>
                <a:spLocks noChangeAspect="1" noChangeArrowheads="1"/>
              </p:cNvSpPr>
              <p:nvPr/>
            </p:nvSpPr>
            <p:spPr bwMode="auto">
              <a:xfrm rot="18000000" flipH="1">
                <a:off x="2081" y="2889"/>
                <a:ext cx="266" cy="52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4D4D4D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241" name="直接连接符 36946"/>
              <p:cNvSpPr>
                <a:spLocks noChangeAspect="1" noChangeShapeType="1"/>
              </p:cNvSpPr>
              <p:nvPr/>
            </p:nvSpPr>
            <p:spPr bwMode="auto">
              <a:xfrm flipH="1" flipV="1">
                <a:off x="2064" y="2507"/>
                <a:ext cx="183" cy="186"/>
              </a:xfrm>
              <a:prstGeom prst="line">
                <a:avLst/>
              </a:prstGeom>
              <a:noFill/>
              <a:ln w="349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194" name="组合 36947"/>
            <p:cNvGrpSpPr>
              <a:grpSpLocks noChangeAspect="1"/>
            </p:cNvGrpSpPr>
            <p:nvPr/>
          </p:nvGrpSpPr>
          <p:grpSpPr bwMode="auto">
            <a:xfrm>
              <a:off x="3552" y="1296"/>
              <a:ext cx="965" cy="855"/>
              <a:chOff x="3216" y="1104"/>
              <a:chExt cx="965" cy="855"/>
            </a:xfrm>
          </p:grpSpPr>
          <p:sp>
            <p:nvSpPr>
              <p:cNvPr id="7227" name="椭圆 36948"/>
              <p:cNvSpPr>
                <a:spLocks noChangeAspect="1" noChangeArrowheads="1"/>
              </p:cNvSpPr>
              <p:nvPr/>
            </p:nvSpPr>
            <p:spPr bwMode="auto">
              <a:xfrm>
                <a:off x="3607" y="1439"/>
                <a:ext cx="183" cy="185"/>
              </a:xfrm>
              <a:prstGeom prst="ellipse">
                <a:avLst/>
              </a:prstGeom>
              <a:gradFill rotWithShape="0">
                <a:gsLst>
                  <a:gs pos="0">
                    <a:srgbClr val="808080"/>
                  </a:gs>
                  <a:gs pos="100000">
                    <a:srgbClr val="1C1C1C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228" name="椭圆 36949"/>
              <p:cNvSpPr>
                <a:spLocks noChangeAspect="1" noChangeArrowheads="1"/>
              </p:cNvSpPr>
              <p:nvPr/>
            </p:nvSpPr>
            <p:spPr bwMode="auto">
              <a:xfrm>
                <a:off x="3216" y="1476"/>
                <a:ext cx="393" cy="74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4D4D4D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229" name="椭圆 36950"/>
              <p:cNvSpPr>
                <a:spLocks noChangeAspect="1" noChangeArrowheads="1"/>
              </p:cNvSpPr>
              <p:nvPr/>
            </p:nvSpPr>
            <p:spPr bwMode="auto">
              <a:xfrm>
                <a:off x="3788" y="1482"/>
                <a:ext cx="393" cy="74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4D4D4D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230" name="椭圆 36951"/>
              <p:cNvSpPr>
                <a:spLocks noChangeAspect="1" noChangeArrowheads="1"/>
              </p:cNvSpPr>
              <p:nvPr/>
            </p:nvSpPr>
            <p:spPr bwMode="auto">
              <a:xfrm rot="3600000">
                <a:off x="3367" y="1239"/>
                <a:ext cx="372" cy="79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4D4D4D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231" name="椭圆 36952"/>
              <p:cNvSpPr>
                <a:spLocks noChangeAspect="1" noChangeArrowheads="1"/>
              </p:cNvSpPr>
              <p:nvPr/>
            </p:nvSpPr>
            <p:spPr bwMode="auto">
              <a:xfrm rot="3600000">
                <a:off x="3645" y="1721"/>
                <a:ext cx="372" cy="79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4D4D4D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232" name="椭圆 36953"/>
              <p:cNvSpPr>
                <a:spLocks noChangeAspect="1" noChangeArrowheads="1"/>
              </p:cNvSpPr>
              <p:nvPr/>
            </p:nvSpPr>
            <p:spPr bwMode="auto">
              <a:xfrm rot="18000000" flipH="1">
                <a:off x="3630" y="1240"/>
                <a:ext cx="372" cy="79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4D4D4D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233" name="椭圆 36954"/>
              <p:cNvSpPr>
                <a:spLocks noChangeAspect="1" noChangeArrowheads="1"/>
              </p:cNvSpPr>
              <p:nvPr/>
            </p:nvSpPr>
            <p:spPr bwMode="auto">
              <a:xfrm rot="18000000" flipH="1">
                <a:off x="3352" y="1722"/>
                <a:ext cx="372" cy="79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4D4D4D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</p:grpSp>
        <p:grpSp>
          <p:nvGrpSpPr>
            <p:cNvPr id="7195" name="组合 36955"/>
            <p:cNvGrpSpPr>
              <a:grpSpLocks noChangeAspect="1"/>
            </p:cNvGrpSpPr>
            <p:nvPr/>
          </p:nvGrpSpPr>
          <p:grpSpPr bwMode="auto">
            <a:xfrm>
              <a:off x="2976" y="576"/>
              <a:ext cx="639" cy="611"/>
              <a:chOff x="2592" y="805"/>
              <a:chExt cx="639" cy="611"/>
            </a:xfrm>
          </p:grpSpPr>
          <p:sp>
            <p:nvSpPr>
              <p:cNvPr id="7220" name="椭圆 36956"/>
              <p:cNvSpPr>
                <a:spLocks noChangeAspect="1" noChangeArrowheads="1"/>
              </p:cNvSpPr>
              <p:nvPr/>
            </p:nvSpPr>
            <p:spPr bwMode="auto">
              <a:xfrm>
                <a:off x="2840" y="1045"/>
                <a:ext cx="130" cy="132"/>
              </a:xfrm>
              <a:prstGeom prst="ellipse">
                <a:avLst/>
              </a:prstGeom>
              <a:gradFill rotWithShape="0">
                <a:gsLst>
                  <a:gs pos="0">
                    <a:srgbClr val="808080"/>
                  </a:gs>
                  <a:gs pos="100000">
                    <a:srgbClr val="1C1C1C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221" name="椭圆 36957"/>
              <p:cNvSpPr>
                <a:spLocks noChangeAspect="1" noChangeArrowheads="1"/>
              </p:cNvSpPr>
              <p:nvPr/>
            </p:nvSpPr>
            <p:spPr bwMode="auto">
              <a:xfrm>
                <a:off x="2592" y="1071"/>
                <a:ext cx="261" cy="53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4D4D4D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222" name="椭圆 36958"/>
              <p:cNvSpPr>
                <a:spLocks noChangeAspect="1" noChangeArrowheads="1"/>
              </p:cNvSpPr>
              <p:nvPr/>
            </p:nvSpPr>
            <p:spPr bwMode="auto">
              <a:xfrm>
                <a:off x="2970" y="1076"/>
                <a:ext cx="261" cy="53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4D4D4D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223" name="椭圆 36959"/>
              <p:cNvSpPr>
                <a:spLocks noChangeAspect="1" noChangeArrowheads="1"/>
              </p:cNvSpPr>
              <p:nvPr/>
            </p:nvSpPr>
            <p:spPr bwMode="auto">
              <a:xfrm rot="3600000">
                <a:off x="2682" y="912"/>
                <a:ext cx="266" cy="52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4D4D4D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224" name="椭圆 36960"/>
              <p:cNvSpPr>
                <a:spLocks noChangeAspect="1" noChangeArrowheads="1"/>
              </p:cNvSpPr>
              <p:nvPr/>
            </p:nvSpPr>
            <p:spPr bwMode="auto">
              <a:xfrm rot="3600000">
                <a:off x="2881" y="1257"/>
                <a:ext cx="266" cy="52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4D4D4D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225" name="椭圆 36961"/>
              <p:cNvSpPr>
                <a:spLocks noChangeAspect="1" noChangeArrowheads="1"/>
              </p:cNvSpPr>
              <p:nvPr/>
            </p:nvSpPr>
            <p:spPr bwMode="auto">
              <a:xfrm rot="18000000" flipH="1">
                <a:off x="2871" y="912"/>
                <a:ext cx="266" cy="52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4D4D4D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226" name="椭圆 36962"/>
              <p:cNvSpPr>
                <a:spLocks noChangeAspect="1" noChangeArrowheads="1"/>
              </p:cNvSpPr>
              <p:nvPr/>
            </p:nvSpPr>
            <p:spPr bwMode="auto">
              <a:xfrm rot="18000000" flipH="1">
                <a:off x="2672" y="1257"/>
                <a:ext cx="266" cy="52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4D4D4D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</p:grpSp>
        <p:grpSp>
          <p:nvGrpSpPr>
            <p:cNvPr id="7196" name="组合 36963"/>
            <p:cNvGrpSpPr>
              <a:grpSpLocks noChangeAspect="1"/>
            </p:cNvGrpSpPr>
            <p:nvPr/>
          </p:nvGrpSpPr>
          <p:grpSpPr bwMode="auto">
            <a:xfrm>
              <a:off x="3312" y="2400"/>
              <a:ext cx="639" cy="611"/>
              <a:chOff x="3312" y="2149"/>
              <a:chExt cx="639" cy="611"/>
            </a:xfrm>
          </p:grpSpPr>
          <p:sp>
            <p:nvSpPr>
              <p:cNvPr id="7213" name="椭圆 36964"/>
              <p:cNvSpPr>
                <a:spLocks noChangeAspect="1" noChangeArrowheads="1"/>
              </p:cNvSpPr>
              <p:nvPr/>
            </p:nvSpPr>
            <p:spPr bwMode="auto">
              <a:xfrm>
                <a:off x="3600" y="2400"/>
                <a:ext cx="130" cy="132"/>
              </a:xfrm>
              <a:prstGeom prst="ellipse">
                <a:avLst/>
              </a:prstGeom>
              <a:gradFill rotWithShape="0">
                <a:gsLst>
                  <a:gs pos="0">
                    <a:srgbClr val="808080"/>
                  </a:gs>
                  <a:gs pos="100000">
                    <a:srgbClr val="1C1C1C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214" name="椭圆 36965"/>
              <p:cNvSpPr>
                <a:spLocks noChangeAspect="1" noChangeArrowheads="1"/>
              </p:cNvSpPr>
              <p:nvPr/>
            </p:nvSpPr>
            <p:spPr bwMode="auto">
              <a:xfrm>
                <a:off x="3312" y="2415"/>
                <a:ext cx="261" cy="53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4D4D4D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215" name="椭圆 36966"/>
              <p:cNvSpPr>
                <a:spLocks noChangeAspect="1" noChangeArrowheads="1"/>
              </p:cNvSpPr>
              <p:nvPr/>
            </p:nvSpPr>
            <p:spPr bwMode="auto">
              <a:xfrm>
                <a:off x="3690" y="2420"/>
                <a:ext cx="261" cy="53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4D4D4D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216" name="椭圆 36967"/>
              <p:cNvSpPr>
                <a:spLocks noChangeAspect="1" noChangeArrowheads="1"/>
              </p:cNvSpPr>
              <p:nvPr/>
            </p:nvSpPr>
            <p:spPr bwMode="auto">
              <a:xfrm rot="3600000">
                <a:off x="3402" y="2256"/>
                <a:ext cx="266" cy="52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4D4D4D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217" name="椭圆 36968"/>
              <p:cNvSpPr>
                <a:spLocks noChangeAspect="1" noChangeArrowheads="1"/>
              </p:cNvSpPr>
              <p:nvPr/>
            </p:nvSpPr>
            <p:spPr bwMode="auto">
              <a:xfrm rot="3600000">
                <a:off x="3601" y="2601"/>
                <a:ext cx="266" cy="52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4D4D4D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218" name="椭圆 36969"/>
              <p:cNvSpPr>
                <a:spLocks noChangeAspect="1" noChangeArrowheads="1"/>
              </p:cNvSpPr>
              <p:nvPr/>
            </p:nvSpPr>
            <p:spPr bwMode="auto">
              <a:xfrm rot="18000000" flipH="1">
                <a:off x="3591" y="2256"/>
                <a:ext cx="266" cy="52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4D4D4D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219" name="椭圆 36970"/>
              <p:cNvSpPr>
                <a:spLocks noChangeAspect="1" noChangeArrowheads="1"/>
              </p:cNvSpPr>
              <p:nvPr/>
            </p:nvSpPr>
            <p:spPr bwMode="auto">
              <a:xfrm rot="18000000" flipH="1">
                <a:off x="3392" y="2601"/>
                <a:ext cx="266" cy="52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4D4D4D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</p:grpSp>
        <p:grpSp>
          <p:nvGrpSpPr>
            <p:cNvPr id="7197" name="组合 36971"/>
            <p:cNvGrpSpPr>
              <a:grpSpLocks noChangeAspect="1"/>
            </p:cNvGrpSpPr>
            <p:nvPr/>
          </p:nvGrpSpPr>
          <p:grpSpPr bwMode="auto">
            <a:xfrm>
              <a:off x="2496" y="1392"/>
              <a:ext cx="965" cy="855"/>
              <a:chOff x="2352" y="1728"/>
              <a:chExt cx="965" cy="855"/>
            </a:xfrm>
          </p:grpSpPr>
          <p:sp>
            <p:nvSpPr>
              <p:cNvPr id="7206" name="椭圆 36972"/>
              <p:cNvSpPr>
                <a:spLocks noChangeAspect="1" noChangeArrowheads="1"/>
              </p:cNvSpPr>
              <p:nvPr/>
            </p:nvSpPr>
            <p:spPr bwMode="auto">
              <a:xfrm>
                <a:off x="2743" y="2063"/>
                <a:ext cx="183" cy="185"/>
              </a:xfrm>
              <a:prstGeom prst="ellipse">
                <a:avLst/>
              </a:prstGeom>
              <a:gradFill rotWithShape="0">
                <a:gsLst>
                  <a:gs pos="0">
                    <a:srgbClr val="808080"/>
                  </a:gs>
                  <a:gs pos="100000">
                    <a:srgbClr val="1C1C1C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207" name="椭圆 36973"/>
              <p:cNvSpPr>
                <a:spLocks noChangeAspect="1" noChangeArrowheads="1"/>
              </p:cNvSpPr>
              <p:nvPr/>
            </p:nvSpPr>
            <p:spPr bwMode="auto">
              <a:xfrm>
                <a:off x="2352" y="2100"/>
                <a:ext cx="393" cy="74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4D4D4D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208" name="椭圆 36974"/>
              <p:cNvSpPr>
                <a:spLocks noChangeAspect="1" noChangeArrowheads="1"/>
              </p:cNvSpPr>
              <p:nvPr/>
            </p:nvSpPr>
            <p:spPr bwMode="auto">
              <a:xfrm>
                <a:off x="2924" y="2106"/>
                <a:ext cx="393" cy="74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4D4D4D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209" name="椭圆 36975"/>
              <p:cNvSpPr>
                <a:spLocks noChangeAspect="1" noChangeArrowheads="1"/>
              </p:cNvSpPr>
              <p:nvPr/>
            </p:nvSpPr>
            <p:spPr bwMode="auto">
              <a:xfrm rot="3600000">
                <a:off x="2503" y="1863"/>
                <a:ext cx="372" cy="79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4D4D4D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210" name="椭圆 36976"/>
              <p:cNvSpPr>
                <a:spLocks noChangeAspect="1" noChangeArrowheads="1"/>
              </p:cNvSpPr>
              <p:nvPr/>
            </p:nvSpPr>
            <p:spPr bwMode="auto">
              <a:xfrm rot="3600000">
                <a:off x="2781" y="2345"/>
                <a:ext cx="372" cy="79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4D4D4D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211" name="椭圆 36977"/>
              <p:cNvSpPr>
                <a:spLocks noChangeAspect="1" noChangeArrowheads="1"/>
              </p:cNvSpPr>
              <p:nvPr/>
            </p:nvSpPr>
            <p:spPr bwMode="auto">
              <a:xfrm rot="18000000" flipH="1">
                <a:off x="2766" y="1864"/>
                <a:ext cx="372" cy="79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4D4D4D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212" name="椭圆 36978"/>
              <p:cNvSpPr>
                <a:spLocks noChangeAspect="1" noChangeArrowheads="1"/>
              </p:cNvSpPr>
              <p:nvPr/>
            </p:nvSpPr>
            <p:spPr bwMode="auto">
              <a:xfrm rot="18000000" flipH="1">
                <a:off x="2488" y="2346"/>
                <a:ext cx="372" cy="79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4D4D4D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</p:grpSp>
        <p:grpSp>
          <p:nvGrpSpPr>
            <p:cNvPr id="7198" name="组合 36979"/>
            <p:cNvGrpSpPr>
              <a:grpSpLocks noChangeAspect="1"/>
            </p:cNvGrpSpPr>
            <p:nvPr/>
          </p:nvGrpSpPr>
          <p:grpSpPr bwMode="auto">
            <a:xfrm>
              <a:off x="4176" y="528"/>
              <a:ext cx="639" cy="611"/>
              <a:chOff x="4080" y="661"/>
              <a:chExt cx="639" cy="611"/>
            </a:xfrm>
          </p:grpSpPr>
          <p:sp>
            <p:nvSpPr>
              <p:cNvPr id="7199" name="椭圆 36980"/>
              <p:cNvSpPr>
                <a:spLocks noChangeAspect="1" noChangeArrowheads="1"/>
              </p:cNvSpPr>
              <p:nvPr/>
            </p:nvSpPr>
            <p:spPr bwMode="auto">
              <a:xfrm>
                <a:off x="4328" y="901"/>
                <a:ext cx="130" cy="132"/>
              </a:xfrm>
              <a:prstGeom prst="ellipse">
                <a:avLst/>
              </a:prstGeom>
              <a:gradFill rotWithShape="0">
                <a:gsLst>
                  <a:gs pos="0">
                    <a:srgbClr val="808080"/>
                  </a:gs>
                  <a:gs pos="100000">
                    <a:srgbClr val="1C1C1C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200" name="椭圆 36981"/>
              <p:cNvSpPr>
                <a:spLocks noChangeAspect="1" noChangeArrowheads="1"/>
              </p:cNvSpPr>
              <p:nvPr/>
            </p:nvSpPr>
            <p:spPr bwMode="auto">
              <a:xfrm>
                <a:off x="4080" y="927"/>
                <a:ext cx="261" cy="53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4D4D4D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201" name="椭圆 36982"/>
              <p:cNvSpPr>
                <a:spLocks noChangeAspect="1" noChangeArrowheads="1"/>
              </p:cNvSpPr>
              <p:nvPr/>
            </p:nvSpPr>
            <p:spPr bwMode="auto">
              <a:xfrm>
                <a:off x="4458" y="932"/>
                <a:ext cx="261" cy="53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4D4D4D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202" name="椭圆 36983"/>
              <p:cNvSpPr>
                <a:spLocks noChangeAspect="1" noChangeArrowheads="1"/>
              </p:cNvSpPr>
              <p:nvPr/>
            </p:nvSpPr>
            <p:spPr bwMode="auto">
              <a:xfrm rot="3600000">
                <a:off x="4170" y="768"/>
                <a:ext cx="266" cy="52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4D4D4D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203" name="椭圆 36984"/>
              <p:cNvSpPr>
                <a:spLocks noChangeAspect="1" noChangeArrowheads="1"/>
              </p:cNvSpPr>
              <p:nvPr/>
            </p:nvSpPr>
            <p:spPr bwMode="auto">
              <a:xfrm rot="3600000">
                <a:off x="4369" y="1113"/>
                <a:ext cx="266" cy="52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4D4D4D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204" name="椭圆 36985"/>
              <p:cNvSpPr>
                <a:spLocks noChangeAspect="1" noChangeArrowheads="1"/>
              </p:cNvSpPr>
              <p:nvPr/>
            </p:nvSpPr>
            <p:spPr bwMode="auto">
              <a:xfrm rot="18000000" flipH="1">
                <a:off x="4359" y="768"/>
                <a:ext cx="266" cy="52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4D4D4D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205" name="椭圆 36986"/>
              <p:cNvSpPr>
                <a:spLocks noChangeAspect="1" noChangeArrowheads="1"/>
              </p:cNvSpPr>
              <p:nvPr/>
            </p:nvSpPr>
            <p:spPr bwMode="auto">
              <a:xfrm rot="18000000" flipH="1">
                <a:off x="4160" y="1113"/>
                <a:ext cx="266" cy="52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4D4D4D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</p:grpSp>
      </p:grpSp>
      <p:grpSp>
        <p:nvGrpSpPr>
          <p:cNvPr id="16" name="组合 36987"/>
          <p:cNvGrpSpPr>
            <a:grpSpLocks noChangeAspect="1"/>
          </p:cNvGrpSpPr>
          <p:nvPr/>
        </p:nvGrpSpPr>
        <p:grpSpPr bwMode="auto">
          <a:xfrm>
            <a:off x="6269038" y="1817688"/>
            <a:ext cx="1363662" cy="1204912"/>
            <a:chOff x="4320" y="1045"/>
            <a:chExt cx="1457" cy="1289"/>
          </a:xfrm>
        </p:grpSpPr>
        <p:sp>
          <p:nvSpPr>
            <p:cNvPr id="7189" name="文本框 36988"/>
            <p:cNvSpPr txBox="1">
              <a:spLocks noChangeAspect="1" noChangeArrowheads="1"/>
            </p:cNvSpPr>
            <p:nvPr/>
          </p:nvSpPr>
          <p:spPr bwMode="auto">
            <a:xfrm>
              <a:off x="4608" y="1045"/>
              <a:ext cx="1169" cy="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charset="0"/>
                <a:buNone/>
              </a:pPr>
              <a:r>
                <a:rPr lang="en-US" altLang="zh-CN" sz="2000" b="1">
                  <a:solidFill>
                    <a:srgbClr val="000000"/>
                  </a:solidFill>
                  <a:ea typeface="楷体_GB2312" pitchFamily="49" charset="-122"/>
                </a:rPr>
                <a:t>Ba</a:t>
              </a:r>
              <a:r>
                <a:rPr lang="en-US" altLang="zh-CN" sz="2000" b="1" baseline="30000">
                  <a:solidFill>
                    <a:srgbClr val="000000"/>
                  </a:solidFill>
                  <a:ea typeface="楷体_GB2312" pitchFamily="49" charset="-122"/>
                </a:rPr>
                <a:t>2+</a:t>
              </a:r>
              <a:r>
                <a:rPr lang="en-US" altLang="zh-CN" sz="2000" b="1">
                  <a:solidFill>
                    <a:srgbClr val="000000"/>
                  </a:solidFill>
                  <a:ea typeface="楷体_GB2312" pitchFamily="49" charset="-122"/>
                </a:rPr>
                <a:t>(aq)</a:t>
              </a:r>
              <a:endParaRPr lang="en-US" altLang="zh-CN" sz="2400">
                <a:solidFill>
                  <a:srgbClr val="000000"/>
                </a:solidFill>
                <a:ea typeface="楷体_GB2312" pitchFamily="49" charset="-122"/>
              </a:endParaRPr>
            </a:p>
          </p:txBody>
        </p:sp>
        <p:sp>
          <p:nvSpPr>
            <p:cNvPr id="7190" name="文本框 36989"/>
            <p:cNvSpPr txBox="1">
              <a:spLocks noChangeAspect="1" noChangeArrowheads="1"/>
            </p:cNvSpPr>
            <p:nvPr/>
          </p:nvSpPr>
          <p:spPr bwMode="auto">
            <a:xfrm>
              <a:off x="4320" y="1909"/>
              <a:ext cx="1214" cy="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charset="0"/>
                <a:buNone/>
              </a:pPr>
              <a:r>
                <a:rPr lang="en-US" altLang="zh-CN" sz="2000" b="1">
                  <a:solidFill>
                    <a:srgbClr val="000000"/>
                  </a:solidFill>
                  <a:ea typeface="楷体_GB2312" pitchFamily="49" charset="-122"/>
                </a:rPr>
                <a:t>SO</a:t>
              </a:r>
              <a:r>
                <a:rPr lang="en-US" altLang="zh-CN" sz="2000" b="1" baseline="-25000">
                  <a:solidFill>
                    <a:srgbClr val="000000"/>
                  </a:solidFill>
                  <a:ea typeface="楷体_GB2312" pitchFamily="49" charset="-122"/>
                </a:rPr>
                <a:t>4</a:t>
              </a:r>
              <a:r>
                <a:rPr lang="en-US" altLang="zh-CN" sz="2000" b="1" baseline="30000">
                  <a:solidFill>
                    <a:srgbClr val="000000"/>
                  </a:solidFill>
                  <a:ea typeface="楷体_GB2312" pitchFamily="49" charset="-122"/>
                </a:rPr>
                <a:t>2-</a:t>
              </a:r>
              <a:r>
                <a:rPr lang="en-US" altLang="zh-CN" b="1">
                  <a:solidFill>
                    <a:srgbClr val="000000"/>
                  </a:solidFill>
                  <a:ea typeface="楷体_GB2312" pitchFamily="49" charset="-122"/>
                </a:rPr>
                <a:t>(aq)</a:t>
              </a:r>
            </a:p>
          </p:txBody>
        </p:sp>
      </p:grpSp>
      <p:sp>
        <p:nvSpPr>
          <p:cNvPr id="36991" name="矩形 36990"/>
          <p:cNvSpPr>
            <a:spLocks noChangeArrowheads="1"/>
          </p:cNvSpPr>
          <p:nvPr/>
        </p:nvSpPr>
        <p:spPr bwMode="auto">
          <a:xfrm>
            <a:off x="760413" y="4408488"/>
            <a:ext cx="1871662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500" b="1">
                <a:ea typeface="楷体_GB2312" pitchFamily="49" charset="-122"/>
              </a:rPr>
              <a:t>一定</a:t>
            </a:r>
            <a:r>
              <a:rPr lang="en-US" altLang="zh-CN" sz="2500" b="1" i="1">
                <a:ea typeface="楷体_GB2312" pitchFamily="49" charset="-122"/>
              </a:rPr>
              <a:t>T</a:t>
            </a:r>
            <a:r>
              <a:rPr lang="zh-CN" altLang="en-US" sz="2500" b="1">
                <a:ea typeface="楷体_GB2312" pitchFamily="49" charset="-122"/>
              </a:rPr>
              <a:t>时</a:t>
            </a:r>
            <a:r>
              <a:rPr lang="en-US" altLang="zh-CN" sz="2500" b="1">
                <a:ea typeface="楷体_GB2312" pitchFamily="49" charset="-122"/>
              </a:rPr>
              <a:t>:</a:t>
            </a:r>
          </a:p>
        </p:txBody>
      </p:sp>
      <p:sp>
        <p:nvSpPr>
          <p:cNvPr id="37007" name="矩形 37006"/>
          <p:cNvSpPr>
            <a:spLocks noChangeArrowheads="1"/>
          </p:cNvSpPr>
          <p:nvPr/>
        </p:nvSpPr>
        <p:spPr bwMode="auto">
          <a:xfrm>
            <a:off x="6104154" y="5054506"/>
            <a:ext cx="14221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eaLnBrk="1" hangingPunct="1">
              <a:buFont typeface="Arial" charset="0"/>
              <a:buNone/>
            </a:pPr>
            <a:r>
              <a:rPr lang="zh-CN" altLang="en-US" sz="2400" b="1" dirty="0" smtClean="0">
                <a:ea typeface="楷体_GB2312" pitchFamily="49" charset="-122"/>
              </a:rPr>
              <a:t>饱和溶液</a:t>
            </a:r>
            <a:endParaRPr lang="en-US" altLang="zh-CN" sz="2400" b="1" dirty="0">
              <a:ea typeface="楷体_GB2312" pitchFamily="49" charset="-122"/>
            </a:endParaRPr>
          </a:p>
        </p:txBody>
      </p:sp>
      <p:sp>
        <p:nvSpPr>
          <p:cNvPr id="37008" name="矩形 37007"/>
          <p:cNvSpPr>
            <a:spLocks noChangeArrowheads="1"/>
          </p:cNvSpPr>
          <p:nvPr/>
        </p:nvSpPr>
        <p:spPr bwMode="auto">
          <a:xfrm>
            <a:off x="1450975" y="2573338"/>
            <a:ext cx="1168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eaLnBrk="1" hangingPunct="1">
              <a:buFont typeface="Arial" charset="0"/>
              <a:buNone/>
            </a:pPr>
            <a:r>
              <a:rPr lang="en-US" altLang="zh-CN" sz="2000" b="1">
                <a:solidFill>
                  <a:srgbClr val="000000"/>
                </a:solidFill>
                <a:ea typeface="楷体_GB2312" pitchFamily="49" charset="-122"/>
              </a:rPr>
              <a:t>BaSO</a:t>
            </a:r>
            <a:r>
              <a:rPr lang="en-US" altLang="zh-CN" sz="2000" b="1" baseline="-25000">
                <a:solidFill>
                  <a:srgbClr val="000000"/>
                </a:solidFill>
                <a:ea typeface="楷体_GB2312" pitchFamily="49" charset="-122"/>
              </a:rPr>
              <a:t>4</a:t>
            </a:r>
            <a:r>
              <a:rPr lang="en-US" altLang="zh-CN" sz="2000" b="1">
                <a:solidFill>
                  <a:srgbClr val="000000"/>
                </a:solidFill>
                <a:ea typeface="楷体_GB2312" pitchFamily="49" charset="-122"/>
              </a:rPr>
              <a:t>(s)</a:t>
            </a:r>
          </a:p>
        </p:txBody>
      </p:sp>
      <p:sp>
        <p:nvSpPr>
          <p:cNvPr id="37009" name="矩形 37008"/>
          <p:cNvSpPr>
            <a:spLocks noChangeArrowheads="1"/>
          </p:cNvSpPr>
          <p:nvPr/>
        </p:nvSpPr>
        <p:spPr bwMode="auto">
          <a:xfrm>
            <a:off x="7565686" y="1957182"/>
            <a:ext cx="11906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</a:rPr>
              <a:t>构晶或组成离子</a:t>
            </a:r>
          </a:p>
        </p:txBody>
      </p:sp>
      <p:sp>
        <p:nvSpPr>
          <p:cNvPr id="37014" name="云形标注 37013"/>
          <p:cNvSpPr>
            <a:spLocks noChangeArrowheads="1"/>
          </p:cNvSpPr>
          <p:nvPr/>
        </p:nvSpPr>
        <p:spPr bwMode="auto">
          <a:xfrm>
            <a:off x="6359995" y="3249345"/>
            <a:ext cx="2989262" cy="1225550"/>
          </a:xfrm>
          <a:prstGeom prst="cloudCallout">
            <a:avLst>
              <a:gd name="adj1" fmla="val -77245"/>
              <a:gd name="adj2" fmla="val 76037"/>
            </a:avLst>
          </a:prstGeom>
          <a:solidFill>
            <a:srgbClr val="FFFF00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ctr" eaLnBrk="1" hangingPunct="1">
              <a:buFont typeface="Arial" charset="0"/>
              <a:buNone/>
            </a:pPr>
            <a:r>
              <a:rPr lang="zh-CN" altLang="en-US" sz="2800" b="1" dirty="0">
                <a:solidFill>
                  <a:srgbClr val="0000FF"/>
                </a:solidFill>
                <a:ea typeface="楷体_GB2312" pitchFamily="49" charset="-122"/>
              </a:rPr>
              <a:t>多相</a:t>
            </a:r>
            <a:r>
              <a:rPr lang="zh-CN" altLang="en-US" sz="2800" b="1" dirty="0" smtClean="0">
                <a:solidFill>
                  <a:srgbClr val="0000FF"/>
                </a:solidFill>
                <a:ea typeface="楷体_GB2312" pitchFamily="49" charset="-122"/>
              </a:rPr>
              <a:t>离子平衡</a:t>
            </a:r>
            <a:endParaRPr lang="en-US" altLang="zh-CN" sz="2800" b="1" dirty="0">
              <a:ea typeface="楷体_GB2312" pitchFamily="49" charset="-122"/>
            </a:endParaRPr>
          </a:p>
        </p:txBody>
      </p:sp>
      <p:sp>
        <p:nvSpPr>
          <p:cNvPr id="37015" name="矩形 37014"/>
          <p:cNvSpPr/>
          <p:nvPr/>
        </p:nvSpPr>
        <p:spPr>
          <a:xfrm>
            <a:off x="2182434" y="2386932"/>
            <a:ext cx="1292705" cy="400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500" b="1" noProof="1" smtClean="0">
                <a:solidFill>
                  <a:srgbClr val="FF0000"/>
                </a:solidFill>
                <a:ea typeface="楷体_GB2312" panose="02010609030101010101" pitchFamily="49" charset="-122"/>
                <a:cs typeface="+mn-ea"/>
              </a:rPr>
              <a:t>溶解</a:t>
            </a:r>
            <a:endParaRPr lang="en-US" altLang="zh-CN" sz="2500" b="1" noProof="1">
              <a:solidFill>
                <a:srgbClr val="0000FF"/>
              </a:solidFill>
              <a:ea typeface="楷体_GB2312" panose="02010609030101010101" pitchFamily="49" charset="-122"/>
            </a:endParaRPr>
          </a:p>
        </p:txBody>
      </p:sp>
      <p:sp>
        <p:nvSpPr>
          <p:cNvPr id="37016" name="矩形 37015"/>
          <p:cNvSpPr>
            <a:spLocks noChangeArrowheads="1"/>
          </p:cNvSpPr>
          <p:nvPr/>
        </p:nvSpPr>
        <p:spPr bwMode="auto">
          <a:xfrm>
            <a:off x="2584791" y="3607919"/>
            <a:ext cx="1218348" cy="387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>
              <a:lnSpc>
                <a:spcPct val="80000"/>
              </a:lnSpc>
              <a:buFont typeface="Arial" charset="0"/>
              <a:buNone/>
            </a:pPr>
            <a:r>
              <a:rPr lang="zh-CN" altLang="en-US" sz="2400" b="1" dirty="0" smtClean="0">
                <a:solidFill>
                  <a:srgbClr val="FF0000"/>
                </a:solidFill>
                <a:ea typeface="楷体_GB2312" pitchFamily="49" charset="-122"/>
              </a:rPr>
              <a:t>沉淀</a:t>
            </a:r>
            <a:endParaRPr lang="zh-CN" altLang="en-US" sz="2400" b="1" dirty="0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37017" name="矩形 37016"/>
          <p:cNvSpPr>
            <a:spLocks noChangeArrowheads="1"/>
          </p:cNvSpPr>
          <p:nvPr/>
        </p:nvSpPr>
        <p:spPr bwMode="auto">
          <a:xfrm>
            <a:off x="1082675" y="1420813"/>
            <a:ext cx="3133725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eaLnBrk="1" hangingPunct="1">
              <a:buFont typeface="Arial" charset="0"/>
              <a:buNone/>
            </a:pPr>
            <a:r>
              <a:rPr lang="en-US" altLang="zh-CN" sz="2500" b="1">
                <a:solidFill>
                  <a:srgbClr val="000000"/>
                </a:solidFill>
                <a:ea typeface="楷体_GB2312" pitchFamily="49" charset="-122"/>
              </a:rPr>
              <a:t>BaSO</a:t>
            </a:r>
            <a:r>
              <a:rPr lang="en-US" altLang="zh-CN" sz="2500" b="1" baseline="-25000">
                <a:solidFill>
                  <a:srgbClr val="000000"/>
                </a:solidFill>
                <a:ea typeface="楷体_GB2312" pitchFamily="49" charset="-122"/>
              </a:rPr>
              <a:t>4</a:t>
            </a:r>
            <a:r>
              <a:rPr lang="zh-CN" altLang="en-US" sz="2500" b="1">
                <a:solidFill>
                  <a:srgbClr val="000000"/>
                </a:solidFill>
                <a:ea typeface="楷体_GB2312" pitchFamily="49" charset="-122"/>
                <a:hlinkClick r:id="rId5" action="ppaction://hlinkfile"/>
              </a:rPr>
              <a:t>在水中的行为</a:t>
            </a:r>
            <a:r>
              <a:rPr lang="en-US" altLang="zh-CN" sz="2500" b="1">
                <a:solidFill>
                  <a:srgbClr val="0000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7182" name="文本框 68635"/>
          <p:cNvSpPr txBox="1">
            <a:spLocks noChangeArrowheads="1"/>
          </p:cNvSpPr>
          <p:nvPr/>
        </p:nvSpPr>
        <p:spPr bwMode="auto">
          <a:xfrm>
            <a:off x="257175" y="230188"/>
            <a:ext cx="4811713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200" b="1">
                <a:solidFill>
                  <a:srgbClr val="FF3300"/>
                </a:solidFill>
                <a:ea typeface="黑体" pitchFamily="49" charset="-122"/>
              </a:rPr>
              <a:t>4.1.1 溶度积与溶解度</a:t>
            </a:r>
          </a:p>
        </p:txBody>
      </p:sp>
      <p:sp>
        <p:nvSpPr>
          <p:cNvPr id="2" name="Rectangle 128"/>
          <p:cNvSpPr>
            <a:spLocks noChangeArrowheads="1"/>
          </p:cNvSpPr>
          <p:nvPr/>
        </p:nvSpPr>
        <p:spPr bwMode="auto">
          <a:xfrm>
            <a:off x="939800" y="4881563"/>
            <a:ext cx="6851650" cy="78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60000"/>
              </a:lnSpc>
              <a:buFont typeface="Arial" charset="0"/>
              <a:buNone/>
            </a:pPr>
            <a:r>
              <a:rPr lang="en-US" altLang="zh-CN" sz="2500" b="1" dirty="0">
                <a:ea typeface="楷体" pitchFamily="49" charset="-122"/>
              </a:rPr>
              <a:t>                </a:t>
            </a:r>
            <a:r>
              <a:rPr lang="zh-CN" altLang="en-US" sz="2500" b="1" dirty="0">
                <a:ea typeface="楷体" pitchFamily="49" charset="-122"/>
              </a:rPr>
              <a:t>溶解            </a:t>
            </a:r>
          </a:p>
          <a:p>
            <a:pPr eaLnBrk="1" hangingPunct="1">
              <a:lnSpc>
                <a:spcPct val="60000"/>
              </a:lnSpc>
              <a:buFont typeface="Arial" charset="0"/>
              <a:buNone/>
            </a:pPr>
            <a:r>
              <a:rPr lang="en-US" altLang="zh-CN" sz="2500" b="1" dirty="0">
                <a:solidFill>
                  <a:srgbClr val="000000"/>
                </a:solidFill>
                <a:ea typeface="楷体" pitchFamily="49" charset="-122"/>
              </a:rPr>
              <a:t>BaSO</a:t>
            </a:r>
            <a:r>
              <a:rPr lang="en-US" altLang="zh-CN" sz="2500" b="1" baseline="-25000" dirty="0">
                <a:solidFill>
                  <a:srgbClr val="000000"/>
                </a:solidFill>
                <a:ea typeface="楷体" pitchFamily="49" charset="-122"/>
              </a:rPr>
              <a:t>4</a:t>
            </a:r>
            <a:r>
              <a:rPr lang="en-US" altLang="zh-CN" sz="2500" b="1" dirty="0">
                <a:solidFill>
                  <a:srgbClr val="000000"/>
                </a:solidFill>
                <a:ea typeface="楷体" pitchFamily="49" charset="-122"/>
              </a:rPr>
              <a:t>(s)</a:t>
            </a:r>
            <a:r>
              <a:rPr lang="en-US" altLang="zh-CN" sz="2500" b="1" dirty="0">
                <a:ea typeface="楷体" pitchFamily="49" charset="-122"/>
              </a:rPr>
              <a:t>  ⇋  </a:t>
            </a:r>
            <a:r>
              <a:rPr lang="en-US" altLang="zh-CN" sz="2500" b="1" dirty="0">
                <a:solidFill>
                  <a:srgbClr val="000000"/>
                </a:solidFill>
                <a:ea typeface="楷体" pitchFamily="49" charset="-122"/>
              </a:rPr>
              <a:t>Ba</a:t>
            </a:r>
            <a:r>
              <a:rPr lang="en-US" altLang="zh-CN" sz="2500" b="1" baseline="30000" dirty="0">
                <a:solidFill>
                  <a:srgbClr val="000000"/>
                </a:solidFill>
                <a:ea typeface="楷体" pitchFamily="49" charset="-122"/>
              </a:rPr>
              <a:t>2+</a:t>
            </a:r>
            <a:r>
              <a:rPr lang="en-US" altLang="zh-CN" sz="2500" b="1" dirty="0">
                <a:solidFill>
                  <a:srgbClr val="000000"/>
                </a:solidFill>
                <a:ea typeface="楷体" pitchFamily="49" charset="-122"/>
              </a:rPr>
              <a:t>(</a:t>
            </a:r>
            <a:r>
              <a:rPr lang="en-US" altLang="zh-CN" sz="2500" b="1" dirty="0" err="1">
                <a:solidFill>
                  <a:srgbClr val="000000"/>
                </a:solidFill>
                <a:ea typeface="楷体" pitchFamily="49" charset="-122"/>
              </a:rPr>
              <a:t>aq</a:t>
            </a:r>
            <a:r>
              <a:rPr lang="en-US" altLang="zh-CN" sz="2500" b="1" dirty="0">
                <a:ea typeface="楷体" pitchFamily="49" charset="-122"/>
              </a:rPr>
              <a:t>) + </a:t>
            </a:r>
            <a:r>
              <a:rPr lang="en-US" altLang="zh-CN" sz="2500" b="1" dirty="0">
                <a:solidFill>
                  <a:srgbClr val="000000"/>
                </a:solidFill>
                <a:ea typeface="楷体" pitchFamily="49" charset="-122"/>
              </a:rPr>
              <a:t>SO</a:t>
            </a:r>
            <a:r>
              <a:rPr lang="en-US" altLang="zh-CN" sz="2500" b="1" baseline="-25000" dirty="0">
                <a:solidFill>
                  <a:srgbClr val="000000"/>
                </a:solidFill>
                <a:ea typeface="楷体" pitchFamily="49" charset="-122"/>
              </a:rPr>
              <a:t>4</a:t>
            </a:r>
            <a:r>
              <a:rPr lang="en-US" altLang="zh-CN" sz="2500" b="1" baseline="30000" dirty="0">
                <a:solidFill>
                  <a:srgbClr val="000000"/>
                </a:solidFill>
                <a:ea typeface="楷体" pitchFamily="49" charset="-122"/>
              </a:rPr>
              <a:t>2-</a:t>
            </a:r>
            <a:r>
              <a:rPr lang="en-US" altLang="zh-CN" sz="2500" b="1" dirty="0">
                <a:solidFill>
                  <a:srgbClr val="000000"/>
                </a:solidFill>
                <a:ea typeface="楷体" pitchFamily="49" charset="-122"/>
              </a:rPr>
              <a:t>(</a:t>
            </a:r>
            <a:r>
              <a:rPr lang="en-US" altLang="zh-CN" sz="2500" b="1" dirty="0" err="1">
                <a:solidFill>
                  <a:srgbClr val="000000"/>
                </a:solidFill>
                <a:ea typeface="楷体" pitchFamily="49" charset="-122"/>
              </a:rPr>
              <a:t>aq</a:t>
            </a:r>
            <a:r>
              <a:rPr lang="en-US" altLang="zh-CN" sz="2500" b="1" dirty="0">
                <a:solidFill>
                  <a:srgbClr val="000000"/>
                </a:solidFill>
                <a:ea typeface="楷体" pitchFamily="49" charset="-122"/>
              </a:rPr>
              <a:t>)</a:t>
            </a:r>
            <a:r>
              <a:rPr lang="en-US" altLang="zh-CN" sz="2500" b="1" dirty="0">
                <a:ea typeface="楷体" pitchFamily="49" charset="-122"/>
              </a:rPr>
              <a:t> </a:t>
            </a:r>
          </a:p>
          <a:p>
            <a:pPr eaLnBrk="1" hangingPunct="1">
              <a:lnSpc>
                <a:spcPct val="60000"/>
              </a:lnSpc>
              <a:buFont typeface="Arial" charset="0"/>
              <a:buNone/>
            </a:pPr>
            <a:r>
              <a:rPr lang="en-US" altLang="zh-CN" sz="2500" b="1" dirty="0">
                <a:ea typeface="楷体" pitchFamily="49" charset="-122"/>
              </a:rPr>
              <a:t>                </a:t>
            </a:r>
            <a:r>
              <a:rPr lang="zh-CN" altLang="en-US" sz="2500" b="1" dirty="0">
                <a:ea typeface="楷体" pitchFamily="49" charset="-122"/>
              </a:rPr>
              <a:t>沉淀                          </a:t>
            </a:r>
          </a:p>
        </p:txBody>
      </p:sp>
      <p:sp>
        <p:nvSpPr>
          <p:cNvPr id="7184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7185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6" name="直接连接符 5"/>
          <p:cNvSpPr>
            <a:spLocks noChangeShapeType="1"/>
          </p:cNvSpPr>
          <p:nvPr/>
        </p:nvSpPr>
        <p:spPr bwMode="auto">
          <a:xfrm flipV="1">
            <a:off x="2392363" y="2735263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直接连接符 6"/>
          <p:cNvSpPr>
            <a:spLocks noChangeShapeType="1"/>
          </p:cNvSpPr>
          <p:nvPr/>
        </p:nvSpPr>
        <p:spPr bwMode="auto">
          <a:xfrm flipV="1">
            <a:off x="2544763" y="2735263"/>
            <a:ext cx="914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直接连接符 7"/>
          <p:cNvSpPr>
            <a:spLocks noChangeShapeType="1"/>
          </p:cNvSpPr>
          <p:nvPr/>
        </p:nvSpPr>
        <p:spPr bwMode="auto">
          <a:xfrm flipH="1" flipV="1">
            <a:off x="2468563" y="3802063"/>
            <a:ext cx="1371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7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1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1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501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370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70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70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70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70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36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37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5" dur="500"/>
                                        <p:tgtEl>
                                          <p:spTgt spid="37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8" grpId="0"/>
      <p:bldP spid="36991" grpId="0"/>
      <p:bldP spid="37007" grpId="0"/>
      <p:bldP spid="37008" grpId="0"/>
      <p:bldP spid="37009" grpId="0"/>
      <p:bldP spid="37014" grpId="0" bldLvl="0" animBg="1"/>
      <p:bldP spid="37015" grpId="0"/>
      <p:bldP spid="37016" grpId="0"/>
      <p:bldP spid="37017" grpId="0"/>
      <p:bldP spid="2" grpId="0"/>
      <p:bldP spid="6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文本框 68635"/>
          <p:cNvSpPr txBox="1">
            <a:spLocks noChangeArrowheads="1"/>
          </p:cNvSpPr>
          <p:nvPr/>
        </p:nvSpPr>
        <p:spPr bwMode="auto">
          <a:xfrm>
            <a:off x="257175" y="230188"/>
            <a:ext cx="4811713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200" b="1">
                <a:solidFill>
                  <a:srgbClr val="FF3300"/>
                </a:solidFill>
                <a:ea typeface="黑体" pitchFamily="49" charset="-122"/>
              </a:rPr>
              <a:t>4.1.1 溶度积与溶解度</a:t>
            </a:r>
          </a:p>
        </p:txBody>
      </p:sp>
      <p:sp>
        <p:nvSpPr>
          <p:cNvPr id="95240" name="文本框 95239"/>
          <p:cNvSpPr txBox="1">
            <a:spLocks noChangeArrowheads="1"/>
          </p:cNvSpPr>
          <p:nvPr/>
        </p:nvSpPr>
        <p:spPr bwMode="auto">
          <a:xfrm>
            <a:off x="2612309" y="1168400"/>
            <a:ext cx="4732705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en-US" altLang="zh-CN" sz="2500" b="1" i="1" dirty="0" err="1" smtClean="0">
                <a:solidFill>
                  <a:srgbClr val="FF0000"/>
                </a:solidFill>
                <a:ea typeface="楷体_GB2312" pitchFamily="49" charset="-122"/>
              </a:rPr>
              <a:t>K</a:t>
            </a:r>
            <a:r>
              <a:rPr lang="en-US" altLang="zh-CN" sz="2800" b="1" baseline="70000" dirty="0" err="1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solidFill>
                  <a:srgbClr val="FF0000"/>
                </a:solidFill>
                <a:ea typeface="楷体_GB2312" pitchFamily="49" charset="-122"/>
                <a:sym typeface="Webdings" pitchFamily="18" charset="2"/>
              </a:rPr>
              <a:t>sp</a:t>
            </a:r>
            <a:r>
              <a:rPr lang="en-US" altLang="zh-CN" sz="2500" b="1" dirty="0">
                <a:ea typeface="楷体_GB2312" pitchFamily="49" charset="-122"/>
              </a:rPr>
              <a:t>(BaSO</a:t>
            </a:r>
            <a:r>
              <a:rPr lang="en-US" altLang="zh-CN" sz="2500" b="1" baseline="-25000" dirty="0">
                <a:ea typeface="楷体_GB2312" pitchFamily="49" charset="-122"/>
              </a:rPr>
              <a:t>4</a:t>
            </a:r>
            <a:r>
              <a:rPr lang="en-US" altLang="zh-CN" sz="2500" b="1" dirty="0">
                <a:ea typeface="楷体_GB2312" pitchFamily="49" charset="-122"/>
              </a:rPr>
              <a:t>) </a:t>
            </a:r>
            <a:r>
              <a:rPr lang="en-US" altLang="zh-CN" sz="2500" b="1" dirty="0" smtClean="0">
                <a:ea typeface="楷体_GB2312" pitchFamily="49" charset="-122"/>
              </a:rPr>
              <a:t>=[</a:t>
            </a:r>
            <a:r>
              <a:rPr lang="en-US" altLang="zh-CN" sz="2500" b="1" dirty="0">
                <a:ea typeface="楷体_GB2312" pitchFamily="49" charset="-122"/>
              </a:rPr>
              <a:t>Ba</a:t>
            </a:r>
            <a:r>
              <a:rPr lang="en-US" altLang="zh-CN" sz="2500" b="1" baseline="30000" dirty="0">
                <a:ea typeface="楷体_GB2312" pitchFamily="49" charset="-122"/>
              </a:rPr>
              <a:t>2+</a:t>
            </a:r>
            <a:r>
              <a:rPr lang="en-US" altLang="zh-CN" sz="2500" b="1" dirty="0">
                <a:ea typeface="楷体_GB2312" pitchFamily="49" charset="-122"/>
              </a:rPr>
              <a:t>][SO</a:t>
            </a:r>
            <a:r>
              <a:rPr lang="en-US" altLang="zh-CN" sz="2500" b="1" baseline="-25000" dirty="0">
                <a:ea typeface="楷体_GB2312" pitchFamily="49" charset="-122"/>
              </a:rPr>
              <a:t>4</a:t>
            </a:r>
            <a:r>
              <a:rPr lang="en-US" altLang="zh-CN" sz="2500" b="1" baseline="30000" dirty="0">
                <a:ea typeface="楷体_GB2312" pitchFamily="49" charset="-122"/>
              </a:rPr>
              <a:t>2-</a:t>
            </a:r>
            <a:r>
              <a:rPr lang="en-US" altLang="zh-CN" sz="2500" b="1" dirty="0">
                <a:ea typeface="楷体_GB2312" pitchFamily="49" charset="-122"/>
              </a:rPr>
              <a:t>]</a:t>
            </a:r>
          </a:p>
        </p:txBody>
      </p:sp>
      <p:sp>
        <p:nvSpPr>
          <p:cNvPr id="95241" name="矩形 95240"/>
          <p:cNvSpPr>
            <a:spLocks noChangeArrowheads="1"/>
          </p:cNvSpPr>
          <p:nvPr/>
        </p:nvSpPr>
        <p:spPr bwMode="auto">
          <a:xfrm>
            <a:off x="7500144" y="1168400"/>
            <a:ext cx="142081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500" b="1" dirty="0" smtClean="0">
                <a:solidFill>
                  <a:srgbClr val="FF3300"/>
                </a:solidFill>
                <a:ea typeface="楷体_GB2312" pitchFamily="49" charset="-122"/>
              </a:rPr>
              <a:t>溶度积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.</a:t>
            </a:r>
          </a:p>
        </p:txBody>
      </p:sp>
      <p:sp>
        <p:nvSpPr>
          <p:cNvPr id="95242" name="矩形 95241"/>
          <p:cNvSpPr/>
          <p:nvPr/>
        </p:nvSpPr>
        <p:spPr>
          <a:xfrm>
            <a:off x="592932" y="1944105"/>
            <a:ext cx="8951912" cy="3554819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sz="2500" b="1" i="1" noProof="1">
                <a:ea typeface="楷体_GB2312" panose="02010609030101010101" pitchFamily="49" charset="-122"/>
                <a:cs typeface="+mn-ea"/>
              </a:rPr>
              <a:t>　　</a:t>
            </a:r>
            <a:r>
              <a:rPr lang="en-US" altLang="zh-CN" sz="2500" b="1" i="1" noProof="1">
                <a:solidFill>
                  <a:srgbClr val="0000FF"/>
                </a:solidFill>
                <a:ea typeface="楷体_GB2312" panose="02010609030101010101" pitchFamily="49" charset="-122"/>
                <a:cs typeface="+mn-ea"/>
              </a:rPr>
              <a:t>K</a:t>
            </a:r>
            <a:r>
              <a:rPr lang="en-US" altLang="zh-CN" b="1" baseline="100000" noProof="1">
                <a:solidFill>
                  <a:srgbClr val="0000FF"/>
                </a:solidFill>
                <a:ea typeface="楷体_GB2312" panose="02010609030101010101" pitchFamily="49" charset="-122"/>
                <a:cs typeface="+mn-ea"/>
                <a:sym typeface="Webdings" panose="05030102010509060703" pitchFamily="18" charset="2"/>
              </a:rPr>
              <a:t></a:t>
            </a:r>
            <a:r>
              <a:rPr lang="en-US" altLang="zh-CN" sz="2500" b="1" baseline="-25000" noProof="1" smtClean="0">
                <a:solidFill>
                  <a:srgbClr val="0000FF"/>
                </a:solidFill>
                <a:ea typeface="楷体_GB2312" panose="02010609030101010101" pitchFamily="49" charset="-122"/>
                <a:cs typeface="+mn-ea"/>
                <a:sym typeface="Webdings" panose="05030102010509060703" pitchFamily="18" charset="2"/>
              </a:rPr>
              <a:t>sp</a:t>
            </a:r>
            <a:r>
              <a:rPr lang="zh-CN" altLang="en-US" sz="2500" b="1" noProof="1">
                <a:solidFill>
                  <a:srgbClr val="0000FF"/>
                </a:solidFill>
                <a:ea typeface="楷体_GB2312" panose="02010609030101010101" pitchFamily="49" charset="-122"/>
                <a:cs typeface="+mn-ea"/>
              </a:rPr>
              <a:t>物理意义</a:t>
            </a:r>
            <a:r>
              <a:rPr lang="zh-CN" altLang="en-US" sz="2500" b="1" noProof="1">
                <a:ea typeface="楷体_GB2312" panose="02010609030101010101" pitchFamily="49" charset="-122"/>
                <a:cs typeface="+mn-ea"/>
              </a:rPr>
              <a:t>：</a:t>
            </a:r>
            <a:r>
              <a:rPr lang="zh-CN" altLang="en-US" sz="2500" b="1" noProof="1">
                <a:ea typeface="楷体_GB2312" panose="02010609030101010101" pitchFamily="49" charset="-122"/>
                <a:cs typeface="+mn-ea"/>
                <a:sym typeface="Webdings" panose="05030102010509060703" pitchFamily="18" charset="2"/>
              </a:rPr>
              <a:t>衡量难溶物生成或溶解能力强弱</a:t>
            </a:r>
            <a:r>
              <a:rPr lang="en-US" altLang="zh-CN" sz="2500" b="1" noProof="1">
                <a:ea typeface="楷体_GB2312" panose="02010609030101010101" pitchFamily="49" charset="-122"/>
                <a:cs typeface="+mn-ea"/>
                <a:sym typeface="Webdings" panose="05030102010509060703" pitchFamily="18" charset="2"/>
              </a:rPr>
              <a:t>.</a:t>
            </a:r>
            <a:endParaRPr lang="en-US" altLang="zh-CN" sz="2500" b="1" noProof="1">
              <a:ea typeface="楷体_GB2312" panose="02010609030101010101" pitchFamily="49" charset="-122"/>
              <a:sym typeface="Webdings" panose="05030102010509060703" pitchFamily="18" charset="2"/>
            </a:endParaRP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500" b="1" noProof="1" smtClean="0">
                <a:ea typeface="楷体_GB2312" panose="02010609030101010101" pitchFamily="49" charset="-122"/>
                <a:cs typeface="+mn-ea"/>
                <a:sym typeface="Webdings" panose="05030102010509060703" pitchFamily="18" charset="2"/>
              </a:rPr>
              <a:t>                       主要</a:t>
            </a:r>
            <a:r>
              <a:rPr lang="zh-CN" altLang="en-US" sz="2500" b="1" noProof="1">
                <a:ea typeface="楷体_GB2312" panose="02010609030101010101" pitchFamily="49" charset="-122"/>
                <a:cs typeface="+mn-ea"/>
              </a:rPr>
              <a:t>与难溶物本性以及</a:t>
            </a:r>
            <a:r>
              <a:rPr lang="en-US" altLang="zh-CN" sz="2500" b="1" i="1" noProof="1">
                <a:ea typeface="楷体_GB2312" panose="02010609030101010101" pitchFamily="49" charset="-122"/>
                <a:cs typeface="+mn-ea"/>
              </a:rPr>
              <a:t>T</a:t>
            </a:r>
            <a:r>
              <a:rPr lang="zh-CN" altLang="en-US" sz="2500" b="1" noProof="1">
                <a:ea typeface="楷体_GB2312" panose="02010609030101010101" pitchFamily="49" charset="-122"/>
                <a:cs typeface="+mn-ea"/>
              </a:rPr>
              <a:t>有关</a:t>
            </a:r>
            <a:r>
              <a:rPr lang="en-US" altLang="zh-CN" sz="2500" b="1" noProof="1">
                <a:ea typeface="楷体_GB2312" panose="02010609030101010101" pitchFamily="49" charset="-122"/>
                <a:cs typeface="+mn-ea"/>
              </a:rPr>
              <a:t>.</a:t>
            </a:r>
            <a:endParaRPr lang="en-US" altLang="zh-CN" sz="2500" b="1" noProof="1">
              <a:ea typeface="楷体_GB2312" panose="02010609030101010101" pitchFamily="49" charset="-122"/>
            </a:endParaRP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500" b="1" noProof="1" smtClean="0">
                <a:solidFill>
                  <a:srgbClr val="0000FF"/>
                </a:solidFill>
                <a:ea typeface="楷体_GB2312" panose="02010609030101010101" pitchFamily="49" charset="-122"/>
                <a:cs typeface="+mn-ea"/>
                <a:sym typeface="Webdings" panose="05030102010509060703" pitchFamily="18" charset="2"/>
                <a:hlinkClick r:id="rId2" action="ppaction://hlinkfile"/>
              </a:rPr>
              <a:t>同型</a:t>
            </a:r>
            <a:r>
              <a:rPr lang="zh-CN" altLang="en-US" sz="2500" b="1" noProof="1">
                <a:ea typeface="楷体_GB2312" panose="02010609030101010101" pitchFamily="49" charset="-122"/>
                <a:cs typeface="+mn-ea"/>
                <a:sym typeface="Webdings" panose="05030102010509060703" pitchFamily="18" charset="2"/>
                <a:hlinkClick r:id="rId2" action="ppaction://hlinkfile"/>
              </a:rPr>
              <a:t>难溶物</a:t>
            </a:r>
            <a:r>
              <a:rPr lang="en-US" altLang="zh-CN" sz="2500" b="1" noProof="1">
                <a:ea typeface="楷体_GB2312" panose="02010609030101010101" pitchFamily="49" charset="-122"/>
                <a:cs typeface="+mn-ea"/>
                <a:sym typeface="Webdings" panose="05030102010509060703" pitchFamily="18" charset="2"/>
              </a:rPr>
              <a:t>, </a:t>
            </a:r>
            <a:r>
              <a:rPr lang="en-US" altLang="zh-CN" sz="2500" b="1" i="1" noProof="1">
                <a:ea typeface="楷体_GB2312" panose="02010609030101010101" pitchFamily="49" charset="-122"/>
                <a:cs typeface="+mn-ea"/>
              </a:rPr>
              <a:t>K</a:t>
            </a:r>
            <a:r>
              <a:rPr lang="en-US" altLang="zh-CN" b="1" baseline="80000" noProof="1">
                <a:ea typeface="楷体_GB2312" panose="02010609030101010101" pitchFamily="49" charset="-122"/>
                <a:cs typeface="+mn-ea"/>
                <a:sym typeface="Webdings" panose="05030102010509060703" pitchFamily="18" charset="2"/>
              </a:rPr>
              <a:t></a:t>
            </a:r>
            <a:r>
              <a:rPr lang="en-US" altLang="zh-CN" sz="2500" b="1" baseline="-25000" noProof="1">
                <a:ea typeface="楷体_GB2312" panose="02010609030101010101" pitchFamily="49" charset="-122"/>
                <a:cs typeface="+mn-ea"/>
                <a:sym typeface="Webdings" panose="05030102010509060703" pitchFamily="18" charset="2"/>
              </a:rPr>
              <a:t>sp</a:t>
            </a:r>
            <a:r>
              <a:rPr lang="zh-CN" altLang="en-US" sz="2500" b="1" noProof="1">
                <a:ea typeface="楷体_GB2312" panose="02010609030101010101" pitchFamily="49" charset="-122"/>
                <a:cs typeface="+mn-ea"/>
                <a:sym typeface="Webdings" panose="05030102010509060703" pitchFamily="18" charset="2"/>
              </a:rPr>
              <a:t>越大的</a:t>
            </a:r>
            <a:r>
              <a:rPr lang="en-US" altLang="zh-CN" sz="2500" b="1" noProof="1">
                <a:ea typeface="楷体_GB2312" panose="02010609030101010101" pitchFamily="49" charset="-122"/>
                <a:cs typeface="+mn-ea"/>
                <a:sym typeface="Webdings" panose="05030102010509060703" pitchFamily="18" charset="2"/>
              </a:rPr>
              <a:t>, </a:t>
            </a:r>
            <a:r>
              <a:rPr lang="zh-CN" altLang="en-US" sz="2500" b="1" noProof="1">
                <a:ea typeface="楷体_GB2312" panose="02010609030101010101" pitchFamily="49" charset="-122"/>
                <a:cs typeface="+mn-ea"/>
                <a:sym typeface="Webdings" panose="05030102010509060703" pitchFamily="18" charset="2"/>
              </a:rPr>
              <a:t>溶解度越大</a:t>
            </a:r>
            <a:r>
              <a:rPr lang="en-US" altLang="zh-CN" sz="2500" b="1" noProof="1">
                <a:ea typeface="楷体_GB2312" panose="02010609030101010101" pitchFamily="49" charset="-122"/>
                <a:cs typeface="+mn-ea"/>
              </a:rPr>
              <a:t>.</a:t>
            </a:r>
            <a:endParaRPr lang="en-US" altLang="zh-CN" sz="2500" b="1" noProof="1">
              <a:ea typeface="楷体_GB2312" panose="02010609030101010101" pitchFamily="49" charset="-122"/>
            </a:endParaRP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altLang="zh-CN" sz="2500" b="1" noProof="1">
                <a:ea typeface="楷体_GB2312" panose="02010609030101010101" pitchFamily="49" charset="-122"/>
                <a:cs typeface="+mn-ea"/>
                <a:sym typeface="Webdings" panose="05030102010509060703" pitchFamily="18" charset="2"/>
              </a:rPr>
              <a:t>        </a:t>
            </a:r>
            <a:r>
              <a:rPr lang="zh-CN" altLang="en-US" sz="2500" b="1" noProof="1">
                <a:ea typeface="楷体_GB2312" panose="02010609030101010101" pitchFamily="49" charset="-122"/>
                <a:cs typeface="+mn-ea"/>
                <a:sym typeface="Webdings" panose="05030102010509060703" pitchFamily="18" charset="2"/>
              </a:rPr>
              <a:t>如</a:t>
            </a:r>
            <a:r>
              <a:rPr lang="en-US" altLang="zh-CN" sz="2500" b="1" noProof="1">
                <a:ea typeface="楷体_GB2312" panose="02010609030101010101" pitchFamily="49" charset="-122"/>
                <a:cs typeface="+mn-ea"/>
                <a:sym typeface="Webdings" panose="05030102010509060703" pitchFamily="18" charset="2"/>
              </a:rPr>
              <a:t>Al(OH)</a:t>
            </a:r>
            <a:r>
              <a:rPr lang="en-US" altLang="zh-CN" sz="2500" b="1" baseline="-25000" noProof="1">
                <a:ea typeface="楷体_GB2312" panose="02010609030101010101" pitchFamily="49" charset="-122"/>
                <a:cs typeface="+mn-ea"/>
                <a:sym typeface="Webdings" panose="05030102010509060703" pitchFamily="18" charset="2"/>
              </a:rPr>
              <a:t>3</a:t>
            </a:r>
            <a:r>
              <a:rPr lang="zh-CN" altLang="en-US" sz="2500" b="1" noProof="1">
                <a:ea typeface="楷体_GB2312" panose="02010609030101010101" pitchFamily="49" charset="-122"/>
                <a:cs typeface="+mn-ea"/>
                <a:sym typeface="Webdings" panose="05030102010509060703" pitchFamily="18" charset="2"/>
              </a:rPr>
              <a:t>与</a:t>
            </a:r>
            <a:r>
              <a:rPr lang="en-US" altLang="zh-CN" sz="2500" b="1" noProof="1">
                <a:ea typeface="楷体_GB2312" panose="02010609030101010101" pitchFamily="49" charset="-122"/>
                <a:cs typeface="+mn-ea"/>
                <a:sym typeface="Webdings" panose="05030102010509060703" pitchFamily="18" charset="2"/>
              </a:rPr>
              <a:t>Fe(OH)</a:t>
            </a:r>
            <a:r>
              <a:rPr lang="en-US" altLang="zh-CN" sz="2500" b="1" baseline="-25000" noProof="1">
                <a:ea typeface="楷体_GB2312" panose="02010609030101010101" pitchFamily="49" charset="-122"/>
                <a:cs typeface="+mn-ea"/>
                <a:sym typeface="Webdings" panose="05030102010509060703" pitchFamily="18" charset="2"/>
              </a:rPr>
              <a:t>3</a:t>
            </a:r>
            <a:r>
              <a:rPr lang="zh-CN" altLang="en-US" sz="2500" b="1" baseline="-25000" noProof="1">
                <a:ea typeface="楷体_GB2312" panose="02010609030101010101" pitchFamily="49" charset="-122"/>
                <a:cs typeface="+mn-ea"/>
                <a:sym typeface="Webdings" panose="05030102010509060703" pitchFamily="18" charset="2"/>
              </a:rPr>
              <a:t>，</a:t>
            </a:r>
            <a:r>
              <a:rPr lang="en-US" altLang="zh-CN" sz="2500" b="1" i="1" noProof="1">
                <a:ea typeface="楷体_GB2312" panose="02010609030101010101" pitchFamily="49" charset="-122"/>
                <a:cs typeface="+mn-ea"/>
              </a:rPr>
              <a:t>K</a:t>
            </a:r>
            <a:r>
              <a:rPr lang="en-US" altLang="zh-CN" b="1" baseline="80000" noProof="1">
                <a:ea typeface="楷体_GB2312" panose="02010609030101010101" pitchFamily="49" charset="-122"/>
                <a:cs typeface="+mn-ea"/>
                <a:sym typeface="Webdings" panose="05030102010509060703" pitchFamily="18" charset="2"/>
              </a:rPr>
              <a:t></a:t>
            </a:r>
            <a:r>
              <a:rPr lang="en-US" altLang="zh-CN" sz="2500" b="1" baseline="-25000" noProof="1">
                <a:ea typeface="楷体_GB2312" panose="02010609030101010101" pitchFamily="49" charset="-122"/>
                <a:cs typeface="+mn-ea"/>
                <a:sym typeface="Webdings" panose="05030102010509060703" pitchFamily="18" charset="2"/>
              </a:rPr>
              <a:t>sp</a:t>
            </a:r>
            <a:r>
              <a:rPr lang="en-US" altLang="zh-CN" sz="2500" b="1" noProof="1">
                <a:ea typeface="楷体_GB2312" panose="02010609030101010101" pitchFamily="49" charset="-122"/>
                <a:cs typeface="+mn-ea"/>
                <a:sym typeface="Webdings" panose="05030102010509060703" pitchFamily="18" charset="2"/>
              </a:rPr>
              <a:t> = 1.3×10</a:t>
            </a:r>
            <a:r>
              <a:rPr lang="en-US" altLang="zh-CN" sz="2500" b="1" baseline="30000" noProof="1">
                <a:ea typeface="楷体_GB2312" panose="02010609030101010101" pitchFamily="49" charset="-122"/>
                <a:cs typeface="+mn-ea"/>
                <a:sym typeface="Webdings" panose="05030102010509060703" pitchFamily="18" charset="2"/>
              </a:rPr>
              <a:t>-33</a:t>
            </a:r>
            <a:r>
              <a:rPr lang="zh-CN" altLang="en-US" sz="2500" b="1" noProof="1">
                <a:ea typeface="楷体_GB2312" panose="02010609030101010101" pitchFamily="49" charset="-122"/>
                <a:cs typeface="+mn-ea"/>
                <a:sym typeface="Webdings" panose="05030102010509060703" pitchFamily="18" charset="2"/>
              </a:rPr>
              <a:t>与</a:t>
            </a:r>
            <a:r>
              <a:rPr lang="en-US" altLang="zh-CN" sz="2500" b="1" i="1" noProof="1">
                <a:ea typeface="楷体_GB2312" panose="02010609030101010101" pitchFamily="49" charset="-122"/>
                <a:cs typeface="+mn-ea"/>
              </a:rPr>
              <a:t>K</a:t>
            </a:r>
            <a:r>
              <a:rPr lang="en-US" altLang="zh-CN" b="1" baseline="80000" noProof="1">
                <a:ea typeface="楷体_GB2312" panose="02010609030101010101" pitchFamily="49" charset="-122"/>
                <a:cs typeface="+mn-ea"/>
                <a:sym typeface="Webdings" panose="05030102010509060703" pitchFamily="18" charset="2"/>
              </a:rPr>
              <a:t></a:t>
            </a:r>
            <a:r>
              <a:rPr lang="en-US" altLang="zh-CN" sz="2500" b="1" baseline="-25000" noProof="1">
                <a:ea typeface="楷体_GB2312" panose="02010609030101010101" pitchFamily="49" charset="-122"/>
                <a:cs typeface="+mn-ea"/>
                <a:sym typeface="Webdings" panose="05030102010509060703" pitchFamily="18" charset="2"/>
              </a:rPr>
              <a:t>sp</a:t>
            </a:r>
            <a:r>
              <a:rPr lang="en-US" altLang="zh-CN" sz="2500" b="1" noProof="1">
                <a:ea typeface="楷体_GB2312" panose="02010609030101010101" pitchFamily="49" charset="-122"/>
                <a:cs typeface="+mn-ea"/>
                <a:sym typeface="Webdings" panose="05030102010509060703" pitchFamily="18" charset="2"/>
              </a:rPr>
              <a:t> = 2.64×10</a:t>
            </a:r>
            <a:r>
              <a:rPr lang="en-US" altLang="zh-CN" sz="2500" b="1" baseline="30000" noProof="1">
                <a:ea typeface="楷体_GB2312" panose="02010609030101010101" pitchFamily="49" charset="-122"/>
                <a:cs typeface="+mn-ea"/>
                <a:sym typeface="Webdings" panose="05030102010509060703" pitchFamily="18" charset="2"/>
              </a:rPr>
              <a:t>-39</a:t>
            </a:r>
            <a:r>
              <a:rPr lang="en-US" altLang="zh-CN" sz="2500" b="1" noProof="1">
                <a:ea typeface="楷体_GB2312" panose="02010609030101010101" pitchFamily="49" charset="-122"/>
                <a:cs typeface="+mn-ea"/>
                <a:sym typeface="Webdings" panose="05030102010509060703" pitchFamily="18" charset="2"/>
              </a:rPr>
              <a:t>.</a:t>
            </a:r>
            <a:endParaRPr lang="en-US" altLang="zh-CN" sz="2500" b="1" noProof="1">
              <a:ea typeface="楷体_GB2312" panose="02010609030101010101" pitchFamily="49" charset="-122"/>
              <a:sym typeface="Webdings" panose="05030102010509060703" pitchFamily="18" charset="2"/>
            </a:endParaRP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altLang="zh-CN" sz="2500" b="1" noProof="1">
                <a:solidFill>
                  <a:schemeClr val="tx2"/>
                </a:solidFill>
                <a:ea typeface="楷体_GB2312" panose="02010609030101010101" pitchFamily="49" charset="-122"/>
                <a:cs typeface="+mn-ea"/>
                <a:sym typeface="Webdings" panose="05030102010509060703" pitchFamily="18" charset="2"/>
              </a:rPr>
              <a:t>        </a:t>
            </a:r>
            <a:r>
              <a:rPr lang="zh-CN" altLang="en-US" sz="2500" b="1" noProof="1">
                <a:solidFill>
                  <a:srgbClr val="FF00FF"/>
                </a:solidFill>
                <a:effectLst>
                  <a:outerShdw blurRad="38100" dist="38100" dir="2700000">
                    <a:srgbClr val="000000"/>
                  </a:outerShdw>
                </a:effectLst>
                <a:ea typeface="楷体_GB2312" panose="02010609030101010101" pitchFamily="49" charset="-122"/>
                <a:cs typeface="+mn-ea"/>
                <a:sym typeface="Webdings" panose="05030102010509060703" pitchFamily="18" charset="2"/>
              </a:rPr>
              <a:t>注意</a:t>
            </a:r>
            <a:r>
              <a:rPr lang="en-US" altLang="zh-CN" sz="2500" b="1" noProof="1">
                <a:solidFill>
                  <a:srgbClr val="FF00FF"/>
                </a:solidFill>
                <a:effectLst>
                  <a:outerShdw blurRad="38100" dist="38100" dir="2700000">
                    <a:srgbClr val="000000"/>
                  </a:outerShdw>
                </a:effectLst>
                <a:ea typeface="楷体_GB2312" panose="02010609030101010101" pitchFamily="49" charset="-122"/>
                <a:cs typeface="+mn-ea"/>
                <a:sym typeface="Webdings" panose="05030102010509060703" pitchFamily="18" charset="2"/>
              </a:rPr>
              <a:t>:</a:t>
            </a:r>
            <a:r>
              <a:rPr lang="zh-CN" altLang="en-US" sz="2500" b="1" noProof="1">
                <a:solidFill>
                  <a:srgbClr val="0000FF"/>
                </a:solidFill>
                <a:ea typeface="楷体_GB2312" panose="02010609030101010101" pitchFamily="49" charset="-122"/>
                <a:cs typeface="+mn-ea"/>
                <a:sym typeface="Webdings" panose="05030102010509060703" pitchFamily="18" charset="2"/>
              </a:rPr>
              <a:t>不同型</a:t>
            </a:r>
            <a:r>
              <a:rPr lang="zh-CN" altLang="en-US" sz="2500" b="1" noProof="1">
                <a:ea typeface="楷体_GB2312" panose="02010609030101010101" pitchFamily="49" charset="-122"/>
                <a:cs typeface="+mn-ea"/>
                <a:sym typeface="Webdings" panose="05030102010509060703" pitchFamily="18" charset="2"/>
              </a:rPr>
              <a:t>难溶物不能直接比较</a:t>
            </a:r>
            <a:r>
              <a:rPr lang="en-US" altLang="zh-CN" sz="2500" b="1" noProof="1">
                <a:ea typeface="楷体_GB2312" panose="02010609030101010101" pitchFamily="49" charset="-122"/>
                <a:cs typeface="+mn-ea"/>
                <a:sym typeface="Webdings" panose="05030102010509060703" pitchFamily="18" charset="2"/>
              </a:rPr>
              <a:t>.</a:t>
            </a:r>
            <a:endParaRPr lang="en-US" altLang="zh-CN" sz="2500" b="1" noProof="1">
              <a:ea typeface="楷体_GB2312" panose="02010609030101010101" pitchFamily="49" charset="-122"/>
              <a:sym typeface="Webdings" panose="05030102010509060703" pitchFamily="18" charset="2"/>
            </a:endParaRP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lang="en-US" altLang="zh-CN" sz="2500" b="1" noProof="1">
                <a:ea typeface="楷体_GB2312" panose="02010609030101010101" pitchFamily="49" charset="-122"/>
                <a:cs typeface="+mn-ea"/>
                <a:sym typeface="Webdings" panose="05030102010509060703" pitchFamily="18" charset="2"/>
              </a:rPr>
              <a:t>                </a:t>
            </a:r>
            <a:r>
              <a:rPr lang="zh-CN" altLang="en-US" sz="2500" b="1" noProof="1">
                <a:ea typeface="楷体_GB2312" panose="02010609030101010101" pitchFamily="49" charset="-122"/>
                <a:cs typeface="+mn-ea"/>
                <a:sym typeface="Webdings" panose="05030102010509060703" pitchFamily="18" charset="2"/>
              </a:rPr>
              <a:t>如</a:t>
            </a:r>
            <a:r>
              <a:rPr lang="en-US" altLang="zh-CN" sz="2500" b="1" noProof="1">
                <a:ea typeface="楷体_GB2312" panose="02010609030101010101" pitchFamily="49" charset="-122"/>
                <a:cs typeface="+mn-ea"/>
                <a:sym typeface="Webdings" panose="05030102010509060703" pitchFamily="18" charset="2"/>
              </a:rPr>
              <a:t>BaSO</a:t>
            </a:r>
            <a:r>
              <a:rPr lang="en-US" altLang="zh-CN" sz="2500" b="1" baseline="-25000" noProof="1">
                <a:ea typeface="楷体_GB2312" panose="02010609030101010101" pitchFamily="49" charset="-122"/>
                <a:cs typeface="+mn-ea"/>
                <a:sym typeface="Webdings" panose="05030102010509060703" pitchFamily="18" charset="2"/>
              </a:rPr>
              <a:t>4</a:t>
            </a:r>
            <a:r>
              <a:rPr lang="zh-CN" altLang="en-US" sz="2500" b="1" noProof="1">
                <a:ea typeface="楷体_GB2312" panose="02010609030101010101" pitchFamily="49" charset="-122"/>
                <a:cs typeface="+mn-ea"/>
                <a:sym typeface="Webdings" panose="05030102010509060703" pitchFamily="18" charset="2"/>
              </a:rPr>
              <a:t>与</a:t>
            </a:r>
            <a:r>
              <a:rPr lang="en-US" altLang="zh-CN" sz="2500" b="1" noProof="1">
                <a:ea typeface="楷体_GB2312" panose="02010609030101010101" pitchFamily="49" charset="-122"/>
                <a:cs typeface="+mn-ea"/>
                <a:sym typeface="Webdings" panose="05030102010509060703" pitchFamily="18" charset="2"/>
              </a:rPr>
              <a:t>Fe(OH)</a:t>
            </a:r>
            <a:r>
              <a:rPr lang="en-US" altLang="zh-CN" sz="2500" b="1" baseline="-25000" noProof="1">
                <a:ea typeface="楷体_GB2312" panose="02010609030101010101" pitchFamily="49" charset="-122"/>
                <a:cs typeface="+mn-ea"/>
                <a:sym typeface="Webdings" panose="05030102010509060703" pitchFamily="18" charset="2"/>
              </a:rPr>
              <a:t>3 </a:t>
            </a:r>
            <a:r>
              <a:rPr lang="en-US" altLang="zh-CN" sz="2500" b="1" noProof="1">
                <a:ea typeface="楷体_GB2312" panose="02010609030101010101" pitchFamily="49" charset="-122"/>
                <a:cs typeface="+mn-ea"/>
                <a:sym typeface="Webdings" panose="05030102010509060703" pitchFamily="18" charset="2"/>
              </a:rPr>
              <a:t>.</a:t>
            </a:r>
            <a:endParaRPr lang="en-US" altLang="zh-CN" sz="2500" b="1" baseline="-25000" noProof="1">
              <a:ea typeface="楷体_GB2312" panose="02010609030101010101" pitchFamily="49" charset="-122"/>
              <a:sym typeface="Webdings" panose="05030102010509060703" pitchFamily="18" charset="2"/>
            </a:endParaRPr>
          </a:p>
        </p:txBody>
      </p:sp>
      <p:sp>
        <p:nvSpPr>
          <p:cNvPr id="8199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8200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5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952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5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5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5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95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952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952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40" grpId="0"/>
      <p:bldP spid="95241" grpId="0" build="p"/>
      <p:bldP spid="9524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68635"/>
          <p:cNvSpPr txBox="1">
            <a:spLocks noChangeArrowheads="1"/>
          </p:cNvSpPr>
          <p:nvPr/>
        </p:nvSpPr>
        <p:spPr bwMode="auto">
          <a:xfrm>
            <a:off x="257175" y="230188"/>
            <a:ext cx="2839899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200" b="1" dirty="0">
                <a:solidFill>
                  <a:srgbClr val="FF3300"/>
                </a:solidFill>
                <a:ea typeface="黑体" pitchFamily="49" charset="-122"/>
              </a:rPr>
              <a:t>4.1.1 溶度积与溶解度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107" y="2388769"/>
            <a:ext cx="1804175" cy="207727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672892" y="3229867"/>
            <a:ext cx="5759920" cy="83099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ea typeface="楷体_GB2312"/>
              </a:rPr>
              <a:t>溶度积仅于温度有关</a:t>
            </a:r>
            <a:endParaRPr lang="en-US" altLang="zh-CN" sz="2400" b="1" dirty="0" smtClean="0">
              <a:ea typeface="楷体_GB2312"/>
            </a:endParaRPr>
          </a:p>
          <a:p>
            <a:r>
              <a:rPr lang="zh-CN" altLang="en-US" sz="2400" b="1" dirty="0" smtClean="0">
                <a:ea typeface="楷体_GB2312"/>
              </a:rPr>
              <a:t>溶解度不仅与温度还与系统组成有关</a:t>
            </a:r>
            <a:endParaRPr lang="zh-CN" altLang="en-US" sz="2400" dirty="0">
              <a:ea typeface="楷体_GB231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699018" y="2530288"/>
            <a:ext cx="403194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800" b="1" dirty="0" smtClean="0">
                <a:solidFill>
                  <a:srgbClr val="FF3300"/>
                </a:solidFill>
                <a:ea typeface="黑体" pitchFamily="49" charset="-122"/>
              </a:rPr>
              <a:t>溶度积与溶解度的区别？</a:t>
            </a:r>
            <a:endParaRPr lang="zh-CN" altLang="en-US" sz="2800" b="1" dirty="0">
              <a:solidFill>
                <a:srgbClr val="FF3300"/>
              </a:solidFill>
              <a:ea typeface="黑体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51252" y="791569"/>
            <a:ext cx="44518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800" b="1" dirty="0" smtClean="0">
                <a:solidFill>
                  <a:srgbClr val="FF3300"/>
                </a:solidFill>
                <a:ea typeface="黑体" pitchFamily="49" charset="-122"/>
              </a:rPr>
              <a:t>溶度积与溶解度相同之处</a:t>
            </a:r>
            <a:endParaRPr lang="zh-CN" altLang="en-US" sz="2800" b="1" dirty="0">
              <a:solidFill>
                <a:srgbClr val="FF3300"/>
              </a:solidFill>
              <a:ea typeface="黑体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8911" y="1415210"/>
            <a:ext cx="9368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都表示物质的溶解能力，</a:t>
            </a:r>
            <a:r>
              <a:rPr lang="zh-CN" altLang="en-US" sz="2500" b="1" dirty="0">
                <a:solidFill>
                  <a:srgbClr val="0000FF"/>
                </a:solidFill>
                <a:ea typeface="楷体_GB2312" panose="02010609030101010101" pitchFamily="49" charset="-122"/>
              </a:rPr>
              <a:t>溶解度</a:t>
            </a:r>
            <a:r>
              <a:rPr lang="zh-CN" altLang="en-US" sz="2800" b="1" dirty="0" smtClean="0">
                <a:latin typeface="新宋体" panose="02010609030101010101" pitchFamily="49" charset="-122"/>
                <a:ea typeface="新宋体" panose="02010609030101010101" pitchFamily="49" charset="-122"/>
              </a:rPr>
              <a:t> 与</a:t>
            </a:r>
            <a:r>
              <a:rPr lang="en-US" altLang="zh-CN" sz="2500" b="1" i="1" noProof="1" smtClean="0">
                <a:solidFill>
                  <a:srgbClr val="0000FF"/>
                </a:solidFill>
                <a:ea typeface="楷体_GB2312" panose="02010609030101010101" pitchFamily="49" charset="-122"/>
              </a:rPr>
              <a:t> </a:t>
            </a:r>
            <a:r>
              <a:rPr lang="en-US" altLang="zh-CN" sz="2500" b="1" i="1" noProof="1">
                <a:solidFill>
                  <a:srgbClr val="0000FF"/>
                </a:solidFill>
                <a:ea typeface="楷体_GB2312" panose="02010609030101010101" pitchFamily="49" charset="-122"/>
              </a:rPr>
              <a:t>K</a:t>
            </a:r>
            <a:r>
              <a:rPr lang="en-US" altLang="zh-CN" b="1" baseline="100000" noProof="1">
                <a:solidFill>
                  <a:srgbClr val="0000FF"/>
                </a:solidFill>
                <a:ea typeface="楷体_GB2312" panose="02010609030101010101" pitchFamily="49" charset="-122"/>
                <a:sym typeface="Webdings" panose="05030102010509060703" pitchFamily="18" charset="2"/>
              </a:rPr>
              <a:t></a:t>
            </a:r>
            <a:r>
              <a:rPr lang="en-US" altLang="zh-CN" sz="2500" b="1" baseline="-25000" noProof="1" smtClean="0">
                <a:solidFill>
                  <a:srgbClr val="0000FF"/>
                </a:solidFill>
                <a:ea typeface="楷体_GB2312" panose="02010609030101010101" pitchFamily="49" charset="-122"/>
                <a:sym typeface="Webdings" panose="05030102010509060703" pitchFamily="18" charset="2"/>
              </a:rPr>
              <a:t>sp   </a:t>
            </a:r>
            <a:r>
              <a:rPr lang="zh-CN" altLang="en-US" sz="2500" b="1" noProof="1" smtClean="0">
                <a:solidFill>
                  <a:srgbClr val="0000FF"/>
                </a:solidFill>
                <a:ea typeface="楷体_GB2312" panose="02010609030101010101" pitchFamily="49" charset="-122"/>
                <a:sym typeface="Webdings" panose="05030102010509060703" pitchFamily="18" charset="2"/>
              </a:rPr>
              <a:t>越大，溶解性能越强</a:t>
            </a:r>
            <a:endParaRPr lang="zh-CN" altLang="en-US" sz="2800" b="1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727300" y="4819889"/>
            <a:ext cx="670568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800" b="1" dirty="0" smtClean="0">
                <a:solidFill>
                  <a:srgbClr val="FF3300"/>
                </a:solidFill>
                <a:ea typeface="黑体" pitchFamily="49" charset="-122"/>
              </a:rPr>
              <a:t>溶度积与溶解度可以通过计算相互转化</a:t>
            </a:r>
            <a:endParaRPr lang="zh-CN" altLang="en-US" sz="2800" b="1" dirty="0">
              <a:solidFill>
                <a:srgbClr val="FF3300"/>
              </a:solidFill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7542492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文本框 68635"/>
          <p:cNvSpPr txBox="1">
            <a:spLocks noChangeArrowheads="1"/>
          </p:cNvSpPr>
          <p:nvPr/>
        </p:nvSpPr>
        <p:spPr bwMode="auto">
          <a:xfrm>
            <a:off x="257175" y="230188"/>
            <a:ext cx="4811713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200" b="1" dirty="0">
                <a:solidFill>
                  <a:srgbClr val="FF3300"/>
                </a:solidFill>
                <a:ea typeface="黑体" pitchFamily="49" charset="-122"/>
              </a:rPr>
              <a:t>4.1.1 溶度积与溶解度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760413" y="954088"/>
            <a:ext cx="371475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2.</a:t>
            </a:r>
            <a:r>
              <a:rPr lang="zh-CN" altLang="en-US" sz="2500" b="1" u="sng" dirty="0">
                <a:solidFill>
                  <a:srgbClr val="FF3300"/>
                </a:solidFill>
                <a:ea typeface="楷体_GB2312" pitchFamily="49" charset="-122"/>
              </a:rPr>
              <a:t>溶解度与溶度积的关系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:</a:t>
            </a:r>
          </a:p>
        </p:txBody>
      </p:sp>
      <p:graphicFrame>
        <p:nvGraphicFramePr>
          <p:cNvPr id="3" name="对象 2"/>
          <p:cNvGraphicFramePr>
            <a:graphicFrameLocks/>
          </p:cNvGraphicFramePr>
          <p:nvPr/>
        </p:nvGraphicFramePr>
        <p:xfrm>
          <a:off x="5475285" y="2519362"/>
          <a:ext cx="1411287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" r:id="rId5" imgW="596382" imgH="304536" progId="Equation.3">
                  <p:embed/>
                </p:oleObj>
              </mc:Choice>
              <mc:Fallback>
                <p:oleObj r:id="rId5" imgW="596382" imgH="304536" progId="Equation.3">
                  <p:embed/>
                  <p:pic>
                    <p:nvPicPr>
                      <p:cNvPr id="0" name="对象 2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5285" y="2519362"/>
                        <a:ext cx="1411287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1149350" y="1511306"/>
            <a:ext cx="8120063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solidFill>
                  <a:srgbClr val="0000FF"/>
                </a:solidFill>
                <a:ea typeface="楷体_GB2312" pitchFamily="49" charset="-122"/>
              </a:rPr>
              <a:t>MA</a:t>
            </a:r>
            <a:r>
              <a:rPr lang="zh-CN" altLang="en-US" sz="2500" b="1">
                <a:ea typeface="楷体_GB2312" pitchFamily="49" charset="-122"/>
              </a:rPr>
              <a:t>型难溶物</a:t>
            </a:r>
            <a:r>
              <a:rPr lang="en-US" altLang="zh-CN" sz="2500" b="1">
                <a:ea typeface="楷体_GB2312" pitchFamily="49" charset="-122"/>
              </a:rPr>
              <a:t>:</a:t>
            </a: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149350" y="2624136"/>
            <a:ext cx="4397373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        [M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r>
              <a:rPr lang="en-US" altLang="zh-CN" sz="2500" b="1">
                <a:ea typeface="楷体_GB2312" pitchFamily="49" charset="-122"/>
              </a:rPr>
              <a:t>][A</a:t>
            </a:r>
            <a:r>
              <a:rPr lang="en-US" altLang="zh-CN" sz="2500" b="1" baseline="30000">
                <a:ea typeface="楷体_GB2312" pitchFamily="49" charset="-122"/>
              </a:rPr>
              <a:t>-</a:t>
            </a:r>
            <a:r>
              <a:rPr lang="en-US" altLang="zh-CN" sz="2500" b="1">
                <a:ea typeface="楷体_GB2312" pitchFamily="49" charset="-122"/>
              </a:rPr>
              <a:t>] = </a:t>
            </a:r>
            <a:r>
              <a:rPr lang="en-US" altLang="zh-CN" sz="2500" b="1" i="1">
                <a:ea typeface="楷体_GB2312" pitchFamily="49" charset="-122"/>
              </a:rPr>
              <a:t>s</a:t>
            </a:r>
            <a:r>
              <a:rPr lang="en-US" altLang="zh-CN" sz="2500" b="1">
                <a:ea typeface="楷体_GB2312" pitchFamily="49" charset="-122"/>
              </a:rPr>
              <a:t>×</a:t>
            </a:r>
            <a:r>
              <a:rPr lang="en-US" altLang="zh-CN" sz="2500" b="1" i="1">
                <a:ea typeface="楷体_GB2312" pitchFamily="49" charset="-122"/>
              </a:rPr>
              <a:t>s </a:t>
            </a:r>
            <a:r>
              <a:rPr lang="en-US" altLang="zh-CN" sz="2500" b="1">
                <a:ea typeface="楷体_GB2312" pitchFamily="49" charset="-122"/>
              </a:rPr>
              <a:t>=</a:t>
            </a:r>
            <a:r>
              <a:rPr lang="en-US" altLang="zh-CN" sz="2500" b="1" i="1">
                <a:ea typeface="楷体_GB2312" pitchFamily="49" charset="-122"/>
              </a:rPr>
              <a:t> K</a:t>
            </a:r>
            <a:r>
              <a:rPr lang="en-US" altLang="zh-CN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sp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.</a:t>
            </a:r>
            <a:endParaRPr lang="en-US" altLang="zh-CN" sz="2500" b="1" baseline="30000">
              <a:solidFill>
                <a:srgbClr val="FF3300"/>
              </a:solidFill>
              <a:ea typeface="楷体_GB2312" pitchFamily="49" charset="-122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1149350" y="2051050"/>
            <a:ext cx="2867025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500" b="1" dirty="0">
                <a:ea typeface="楷体_GB2312" pitchFamily="49" charset="-122"/>
              </a:rPr>
              <a:t>平衡时浓度</a:t>
            </a:r>
            <a:r>
              <a:rPr lang="en-US" altLang="zh-CN" sz="2500" b="1" dirty="0">
                <a:ea typeface="楷体_GB2312" pitchFamily="49" charset="-122"/>
              </a:rPr>
              <a:t>/mol·L</a:t>
            </a:r>
            <a:r>
              <a:rPr lang="en-US" altLang="zh-CN" sz="2500" b="1" baseline="30000" dirty="0">
                <a:ea typeface="楷体_GB2312" pitchFamily="49" charset="-122"/>
              </a:rPr>
              <a:t>-1</a:t>
            </a:r>
            <a:endParaRPr lang="en-US" altLang="zh-CN" sz="2500" b="1" i="1" dirty="0">
              <a:ea typeface="楷体_GB2312" pitchFamily="49" charset="-122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431057" y="3555773"/>
            <a:ext cx="3825869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</a:rPr>
              <a:t>M</a:t>
            </a:r>
            <a:r>
              <a:rPr lang="en-US" altLang="zh-CN" sz="2500" b="1" baseline="-25000" dirty="0">
                <a:solidFill>
                  <a:srgbClr val="0000FF"/>
                </a:solidFill>
                <a:ea typeface="楷体_GB2312" pitchFamily="49" charset="-122"/>
              </a:rPr>
              <a:t>2</a:t>
            </a: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</a:rPr>
              <a:t>A</a:t>
            </a:r>
            <a:r>
              <a:rPr lang="zh-CN" altLang="en-US" sz="2500" b="1" dirty="0">
                <a:solidFill>
                  <a:srgbClr val="0000FF"/>
                </a:solidFill>
                <a:ea typeface="楷体_GB2312" pitchFamily="49" charset="-122"/>
              </a:rPr>
              <a:t>或</a:t>
            </a: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</a:rPr>
              <a:t>MA</a:t>
            </a:r>
            <a:r>
              <a:rPr lang="en-US" altLang="zh-CN" sz="2500" b="1" baseline="-25000" dirty="0">
                <a:solidFill>
                  <a:srgbClr val="0000FF"/>
                </a:solidFill>
                <a:ea typeface="楷体_GB2312" pitchFamily="49" charset="-122"/>
              </a:rPr>
              <a:t>2</a:t>
            </a:r>
            <a:r>
              <a:rPr lang="zh-CN" altLang="en-US" sz="2500" b="1" dirty="0">
                <a:solidFill>
                  <a:srgbClr val="0000FF"/>
                </a:solidFill>
                <a:ea typeface="楷体_GB2312" pitchFamily="49" charset="-122"/>
              </a:rPr>
              <a:t>型</a:t>
            </a:r>
            <a:r>
              <a:rPr lang="zh-CN" altLang="en-US" sz="2500" b="1" dirty="0">
                <a:ea typeface="楷体_GB2312" pitchFamily="49" charset="-122"/>
              </a:rPr>
              <a:t>难溶物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5114057" y="3598633"/>
            <a:ext cx="4606925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</a:rPr>
              <a:t>M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A</a:t>
            </a:r>
            <a:r>
              <a:rPr lang="en-US" altLang="zh-CN" sz="2500" b="1" baseline="-25000" dirty="0">
                <a:ea typeface="楷体_GB2312" pitchFamily="49" charset="-122"/>
              </a:rPr>
              <a:t> </a:t>
            </a:r>
            <a:r>
              <a:rPr lang="en-US" altLang="zh-CN" sz="2500" b="1" dirty="0">
                <a:ea typeface="楷体_GB2312" pitchFamily="49" charset="-122"/>
              </a:rPr>
              <a:t>(s) ⇋ 2M</a:t>
            </a:r>
            <a:r>
              <a:rPr lang="en-US" altLang="zh-CN" sz="2500" b="1" baseline="30000" dirty="0">
                <a:ea typeface="楷体_GB2312" pitchFamily="49" charset="-122"/>
              </a:rPr>
              <a:t>+</a:t>
            </a:r>
            <a:r>
              <a:rPr lang="en-US" altLang="zh-CN" sz="2500" b="1" dirty="0">
                <a:ea typeface="楷体_GB2312" pitchFamily="49" charset="-122"/>
              </a:rPr>
              <a:t>(</a:t>
            </a:r>
            <a:r>
              <a:rPr lang="en-US" altLang="zh-CN" sz="2500" b="1" dirty="0" err="1">
                <a:ea typeface="楷体_GB2312" pitchFamily="49" charset="-122"/>
              </a:rPr>
              <a:t>aq</a:t>
            </a:r>
            <a:r>
              <a:rPr lang="en-US" altLang="zh-CN" sz="2500" b="1" dirty="0">
                <a:ea typeface="楷体_GB2312" pitchFamily="49" charset="-122"/>
              </a:rPr>
              <a:t>) + A</a:t>
            </a:r>
            <a:r>
              <a:rPr lang="en-US" altLang="zh-CN" sz="2500" b="1" baseline="30000" dirty="0">
                <a:ea typeface="楷体_GB2312" pitchFamily="49" charset="-122"/>
              </a:rPr>
              <a:t>2-</a:t>
            </a:r>
            <a:r>
              <a:rPr lang="en-US" altLang="zh-CN" sz="2500" b="1" dirty="0">
                <a:ea typeface="楷体_GB2312" pitchFamily="49" charset="-122"/>
              </a:rPr>
              <a:t>(</a:t>
            </a:r>
            <a:r>
              <a:rPr lang="en-US" altLang="zh-CN" sz="2500" b="1" dirty="0" err="1">
                <a:ea typeface="楷体_GB2312" pitchFamily="49" charset="-122"/>
              </a:rPr>
              <a:t>aq</a:t>
            </a:r>
            <a:r>
              <a:rPr lang="en-US" altLang="zh-CN" sz="2500" b="1" dirty="0">
                <a:ea typeface="楷体_GB2312" pitchFamily="49" charset="-122"/>
              </a:rPr>
              <a:t>)</a:t>
            </a: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6614245" y="4198716"/>
            <a:ext cx="465137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2</a:t>
            </a:r>
            <a:r>
              <a:rPr lang="en-US" altLang="zh-CN" sz="2500" b="1" i="1">
                <a:ea typeface="楷体_GB2312" pitchFamily="49" charset="-122"/>
              </a:rPr>
              <a:t>s</a:t>
            </a: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8114432" y="4127278"/>
            <a:ext cx="306388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i="1">
                <a:ea typeface="楷体_GB2312" pitchFamily="49" charset="-122"/>
              </a:rPr>
              <a:t>s</a:t>
            </a:r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1432645" y="4170137"/>
            <a:ext cx="2867025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500" b="1" dirty="0">
                <a:ea typeface="楷体_GB2312" pitchFamily="49" charset="-122"/>
              </a:rPr>
              <a:t>平衡时浓度</a:t>
            </a:r>
            <a:r>
              <a:rPr lang="en-US" altLang="zh-CN" sz="2500" b="1" dirty="0">
                <a:ea typeface="楷体_GB2312" pitchFamily="49" charset="-122"/>
              </a:rPr>
              <a:t>/mol·L</a:t>
            </a:r>
            <a:r>
              <a:rPr lang="en-US" altLang="zh-CN" sz="2500" b="1" baseline="30000" dirty="0">
                <a:ea typeface="楷体_GB2312" pitchFamily="49" charset="-122"/>
              </a:rPr>
              <a:t>-1</a:t>
            </a:r>
            <a:endParaRPr lang="en-US" altLang="zh-CN" sz="2500" b="1" i="1" dirty="0">
              <a:ea typeface="楷体_GB2312" pitchFamily="49" charset="-122"/>
            </a:endParaRP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1432645" y="4787670"/>
            <a:ext cx="4416425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        [M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r>
              <a:rPr lang="en-US" altLang="zh-CN" sz="2500" b="1">
                <a:ea typeface="楷体_GB2312" pitchFamily="49" charset="-122"/>
              </a:rPr>
              <a:t>]</a:t>
            </a:r>
            <a:r>
              <a:rPr lang="en-US" altLang="zh-CN" sz="2500" b="1" baseline="30000">
                <a:ea typeface="楷体_GB2312" pitchFamily="49" charset="-122"/>
              </a:rPr>
              <a:t>2</a:t>
            </a:r>
            <a:r>
              <a:rPr lang="en-US" altLang="zh-CN" sz="2500" b="1">
                <a:ea typeface="楷体_GB2312" pitchFamily="49" charset="-122"/>
              </a:rPr>
              <a:t>[A</a:t>
            </a:r>
            <a:r>
              <a:rPr lang="en-US" altLang="zh-CN" sz="2500" b="1" baseline="30000">
                <a:ea typeface="楷体_GB2312" pitchFamily="49" charset="-122"/>
              </a:rPr>
              <a:t>-</a:t>
            </a:r>
            <a:r>
              <a:rPr lang="en-US" altLang="zh-CN" sz="2500" b="1">
                <a:ea typeface="楷体_GB2312" pitchFamily="49" charset="-122"/>
              </a:rPr>
              <a:t>] = (2</a:t>
            </a:r>
            <a:r>
              <a:rPr lang="en-US" altLang="zh-CN" sz="2500" b="1" i="1">
                <a:ea typeface="楷体_GB2312" pitchFamily="49" charset="-122"/>
              </a:rPr>
              <a:t>s</a:t>
            </a:r>
            <a:r>
              <a:rPr lang="en-US" altLang="zh-CN" sz="2500" b="1">
                <a:ea typeface="楷体_GB2312" pitchFamily="49" charset="-122"/>
              </a:rPr>
              <a:t>)</a:t>
            </a:r>
            <a:r>
              <a:rPr lang="en-US" altLang="zh-CN" sz="2500" b="1" baseline="30000">
                <a:ea typeface="楷体_GB2312" pitchFamily="49" charset="-122"/>
              </a:rPr>
              <a:t>2</a:t>
            </a:r>
            <a:r>
              <a:rPr lang="en-US" altLang="zh-CN" sz="2500" b="1">
                <a:ea typeface="楷体_GB2312" pitchFamily="49" charset="-122"/>
              </a:rPr>
              <a:t>×</a:t>
            </a:r>
            <a:r>
              <a:rPr lang="en-US" altLang="zh-CN" sz="2500" b="1" i="1">
                <a:ea typeface="楷体_GB2312" pitchFamily="49" charset="-122"/>
              </a:rPr>
              <a:t>s</a:t>
            </a:r>
            <a:r>
              <a:rPr lang="en-US" altLang="zh-CN" sz="2500" b="1">
                <a:ea typeface="楷体_GB2312" pitchFamily="49" charset="-122"/>
              </a:rPr>
              <a:t> =</a:t>
            </a:r>
            <a:r>
              <a:rPr lang="en-US" altLang="zh-CN" sz="2500" b="1" i="1">
                <a:ea typeface="楷体_GB2312" pitchFamily="49" charset="-122"/>
              </a:rPr>
              <a:t> K</a:t>
            </a:r>
            <a:r>
              <a:rPr lang="en-US" altLang="zh-CN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sp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.</a:t>
            </a:r>
          </a:p>
        </p:txBody>
      </p:sp>
      <p:graphicFrame>
        <p:nvGraphicFramePr>
          <p:cNvPr id="14" name="对象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1874569"/>
              </p:ext>
            </p:extLst>
          </p:nvPr>
        </p:nvGraphicFramePr>
        <p:xfrm>
          <a:off x="6399932" y="4670195"/>
          <a:ext cx="1439863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" r:id="rId7" imgW="622030" imgH="482391" progId="Equation.3">
                  <p:embed/>
                </p:oleObj>
              </mc:Choice>
              <mc:Fallback>
                <p:oleObj r:id="rId7" imgW="622030" imgH="482391" progId="Equation.3">
                  <p:embed/>
                  <p:pic>
                    <p:nvPicPr>
                      <p:cNvPr id="0" name="对象 13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9932" y="4670195"/>
                        <a:ext cx="1439863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90" name="矩形 45089"/>
          <p:cNvSpPr>
            <a:spLocks noChangeArrowheads="1"/>
          </p:cNvSpPr>
          <p:nvPr/>
        </p:nvSpPr>
        <p:spPr bwMode="auto">
          <a:xfrm>
            <a:off x="4140200" y="1546225"/>
            <a:ext cx="414020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MA(s) ⇋ M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r>
              <a:rPr lang="en-US" altLang="zh-CN" sz="2500" b="1">
                <a:ea typeface="楷体_GB2312" pitchFamily="49" charset="-122"/>
              </a:rPr>
              <a:t>(aq) + A</a:t>
            </a:r>
            <a:r>
              <a:rPr lang="en-US" altLang="zh-CN" sz="2500" b="1" baseline="30000">
                <a:ea typeface="楷体_GB2312" pitchFamily="49" charset="-122"/>
              </a:rPr>
              <a:t>-</a:t>
            </a:r>
            <a:r>
              <a:rPr lang="en-US" altLang="zh-CN" sz="2500" b="1">
                <a:ea typeface="楷体_GB2312" pitchFamily="49" charset="-122"/>
              </a:rPr>
              <a:t>(aq)</a:t>
            </a:r>
          </a:p>
        </p:txBody>
      </p:sp>
      <p:sp>
        <p:nvSpPr>
          <p:cNvPr id="1040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1069384" y="5903683"/>
            <a:ext cx="360362" cy="360362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041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45092" name="矩形 45091"/>
          <p:cNvSpPr>
            <a:spLocks noChangeArrowheads="1"/>
          </p:cNvSpPr>
          <p:nvPr/>
        </p:nvSpPr>
        <p:spPr bwMode="auto">
          <a:xfrm>
            <a:off x="5618161" y="2054219"/>
            <a:ext cx="307975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i="1" dirty="0">
                <a:ea typeface="楷体_GB2312" pitchFamily="49" charset="-122"/>
              </a:rPr>
              <a:t>s</a:t>
            </a:r>
          </a:p>
        </p:txBody>
      </p:sp>
      <p:sp>
        <p:nvSpPr>
          <p:cNvPr id="45093" name="矩形 45092"/>
          <p:cNvSpPr>
            <a:spLocks noChangeArrowheads="1"/>
          </p:cNvSpPr>
          <p:nvPr/>
        </p:nvSpPr>
        <p:spPr bwMode="auto">
          <a:xfrm>
            <a:off x="7091361" y="2054219"/>
            <a:ext cx="307975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i="1">
                <a:ea typeface="楷体_GB2312" pitchFamily="49" charset="-122"/>
              </a:rPr>
              <a:t>s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5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50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50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p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45090" grpId="0"/>
      <p:bldP spid="45092" grpId="0"/>
      <p:bldP spid="4509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64" name="Rectangle 8"/>
          <p:cNvSpPr/>
          <p:nvPr/>
        </p:nvSpPr>
        <p:spPr>
          <a:xfrm>
            <a:off x="688939" y="1382699"/>
            <a:ext cx="841375" cy="473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500" b="1" noProof="1" smtClean="0">
                <a:ea typeface="楷体_GB2312" panose="02010609030101010101" pitchFamily="49" charset="-122"/>
                <a:hlinkClick r:id="rId3" action="ppaction://hlinkpres?slideindex=1&amp;slidetitle=幻灯片 1"/>
              </a:rPr>
              <a:t>解</a:t>
            </a:r>
            <a:r>
              <a:rPr lang="en-US" altLang="zh-CN" sz="2500" b="1" noProof="1" smtClean="0">
                <a:ea typeface="楷体_GB2312" panose="02010609030101010101" pitchFamily="49" charset="-122"/>
              </a:rPr>
              <a:t>:</a:t>
            </a:r>
            <a:endParaRPr lang="en-US" altLang="zh-CN" sz="2500" b="1" noProof="1">
              <a:ea typeface="楷体_GB2312" panose="02010609030101010101" pitchFamily="49" charset="-122"/>
            </a:endParaRPr>
          </a:p>
        </p:txBody>
      </p:sp>
      <p:sp>
        <p:nvSpPr>
          <p:cNvPr id="18435" name="文本框 1"/>
          <p:cNvSpPr txBox="1"/>
          <p:nvPr/>
        </p:nvSpPr>
        <p:spPr>
          <a:xfrm>
            <a:off x="717610" y="2382831"/>
            <a:ext cx="614271" cy="477054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500" b="1" noProof="1" smtClean="0">
                <a:ea typeface="楷体_GB2312" panose="02010609030101010101" pitchFamily="49" charset="-122"/>
                <a:hlinkClick r:id="rId4" action="ppaction://hlinkpres?slideindex=2&amp;slidetitle=幻灯片 2"/>
              </a:rPr>
              <a:t>解</a:t>
            </a:r>
            <a:r>
              <a:rPr lang="en-US" altLang="zh-CN" sz="2500" b="1" noProof="1" smtClean="0">
                <a:ea typeface="楷体_GB2312" panose="02010609030101010101" pitchFamily="49" charset="-122"/>
              </a:rPr>
              <a:t>:</a:t>
            </a:r>
            <a:endParaRPr lang="en-US" altLang="zh-CN" sz="2500" b="1" noProof="1">
              <a:ea typeface="楷体_GB2312" panose="02010609030101010101" pitchFamily="49" charset="-122"/>
            </a:endParaRPr>
          </a:p>
        </p:txBody>
      </p:sp>
      <p:sp>
        <p:nvSpPr>
          <p:cNvPr id="69661" name="Rectangle 29"/>
          <p:cNvSpPr>
            <a:spLocks noChangeArrowheads="1"/>
          </p:cNvSpPr>
          <p:nvPr/>
        </p:nvSpPr>
        <p:spPr bwMode="auto">
          <a:xfrm>
            <a:off x="743380" y="3025998"/>
            <a:ext cx="550343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★</a:t>
            </a:r>
            <a:r>
              <a:rPr lang="en-US" altLang="zh-CN" sz="2800" b="1" dirty="0" smtClean="0">
                <a:solidFill>
                  <a:srgbClr val="FF0000"/>
                </a:solidFill>
                <a:ea typeface="楷体" pitchFamily="49" charset="-122"/>
              </a:rPr>
              <a:t>3</a:t>
            </a:r>
            <a:r>
              <a:rPr lang="en-US" altLang="zh-CN" sz="2800" b="1" dirty="0">
                <a:solidFill>
                  <a:srgbClr val="FF0000"/>
                </a:solidFill>
                <a:ea typeface="楷体" pitchFamily="49" charset="-122"/>
              </a:rPr>
              <a:t>.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溶度积</a:t>
            </a:r>
            <a:r>
              <a:rPr lang="zh-CN" altLang="en-US" sz="28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规则（判断是否沉淀）</a:t>
            </a:r>
            <a:endParaRPr lang="zh-CN" altLang="en-US" sz="2800" b="1" dirty="0">
              <a:solidFill>
                <a:srgbClr val="0000FF"/>
              </a:solidFill>
              <a:ea typeface="楷体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06463" y="3506828"/>
            <a:ext cx="7967662" cy="854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500" b="1" noProof="1">
                <a:ea typeface="楷体_GB2312" panose="02010609030101010101" pitchFamily="49" charset="-122"/>
                <a:cs typeface="+mn-ea"/>
              </a:rPr>
              <a:t>对沉淀反应</a:t>
            </a:r>
            <a:r>
              <a:rPr lang="en-US" altLang="zh-CN" sz="2500" b="1" noProof="1">
                <a:ea typeface="楷体_GB2312" panose="02010609030101010101" pitchFamily="49" charset="-122"/>
                <a:cs typeface="+mn-ea"/>
              </a:rPr>
              <a:t>:      M</a:t>
            </a:r>
            <a:r>
              <a:rPr lang="en-US" altLang="zh-CN" sz="2500" b="1" baseline="-25000" noProof="1">
                <a:ea typeface="楷体_GB2312" panose="02010609030101010101" pitchFamily="49" charset="-122"/>
                <a:cs typeface="+mn-ea"/>
              </a:rPr>
              <a:t>m</a:t>
            </a:r>
            <a:r>
              <a:rPr lang="en-US" altLang="zh-CN" sz="2500" b="1" noProof="1">
                <a:ea typeface="楷体_GB2312" panose="02010609030101010101" pitchFamily="49" charset="-122"/>
                <a:cs typeface="+mn-ea"/>
              </a:rPr>
              <a:t>A</a:t>
            </a:r>
            <a:r>
              <a:rPr lang="en-US" altLang="zh-CN" sz="2500" b="1" baseline="-25000" noProof="1">
                <a:ea typeface="楷体_GB2312" panose="02010609030101010101" pitchFamily="49" charset="-122"/>
                <a:cs typeface="+mn-ea"/>
              </a:rPr>
              <a:t>n</a:t>
            </a:r>
            <a:r>
              <a:rPr lang="en-US" altLang="zh-CN" sz="2500" b="1" noProof="1">
                <a:ea typeface="楷体_GB2312" panose="02010609030101010101" pitchFamily="49" charset="-122"/>
                <a:cs typeface="+mn-ea"/>
              </a:rPr>
              <a:t>(s) </a:t>
            </a:r>
            <a:r>
              <a:rPr lang="en-US" altLang="zh-CN" sz="2500" b="1" noProof="1">
                <a:latin typeface="MS UI Gothic" panose="020B0600070205080204" pitchFamily="34" charset="-128"/>
                <a:ea typeface="MS UI Gothic" panose="020B0600070205080204" pitchFamily="34" charset="-128"/>
                <a:cs typeface="+mn-ea"/>
              </a:rPr>
              <a:t>⇌</a:t>
            </a:r>
            <a:r>
              <a:rPr lang="en-US" altLang="zh-CN" sz="2500" b="1" noProof="1">
                <a:ea typeface="楷体_GB2312" panose="02010609030101010101" pitchFamily="49" charset="-122"/>
                <a:cs typeface="+mn-ea"/>
              </a:rPr>
              <a:t>  mM</a:t>
            </a:r>
            <a:r>
              <a:rPr lang="en-US" altLang="zh-CN" sz="2500" b="1" baseline="30000" noProof="1">
                <a:ea typeface="楷体_GB2312" panose="02010609030101010101" pitchFamily="49" charset="-122"/>
                <a:cs typeface="+mn-ea"/>
              </a:rPr>
              <a:t>n+</a:t>
            </a:r>
            <a:r>
              <a:rPr lang="en-US" altLang="zh-CN" sz="2500" b="1" noProof="1">
                <a:ea typeface="楷体_GB2312" panose="02010609030101010101" pitchFamily="49" charset="-122"/>
                <a:cs typeface="+mn-ea"/>
              </a:rPr>
              <a:t>(aq) + nA</a:t>
            </a:r>
            <a:r>
              <a:rPr lang="en-US" altLang="zh-CN" sz="2500" b="1" baseline="30000" noProof="1">
                <a:ea typeface="楷体_GB2312" panose="02010609030101010101" pitchFamily="49" charset="-122"/>
                <a:cs typeface="+mn-ea"/>
              </a:rPr>
              <a:t>m-</a:t>
            </a:r>
            <a:r>
              <a:rPr lang="en-US" altLang="zh-CN" sz="2500" b="1" noProof="1">
                <a:ea typeface="楷体_GB2312" panose="02010609030101010101" pitchFamily="49" charset="-122"/>
                <a:cs typeface="+mn-ea"/>
              </a:rPr>
              <a:t>(aq)</a:t>
            </a:r>
            <a:endParaRPr lang="en-US" altLang="zh-CN" sz="2500" b="1" noProof="1">
              <a:ea typeface="楷体_GB2312" panose="02010609030101010101" pitchFamily="49" charset="-122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500" b="1" noProof="1">
                <a:ea typeface="楷体_GB2312" panose="02010609030101010101" pitchFamily="49" charset="-122"/>
                <a:cs typeface="+mn-ea"/>
              </a:rPr>
              <a:t>反应商</a:t>
            </a:r>
            <a:r>
              <a:rPr lang="en-US" altLang="zh-CN" sz="2500" b="1" noProof="1">
                <a:ea typeface="楷体_GB2312" panose="02010609030101010101" pitchFamily="49" charset="-122"/>
                <a:cs typeface="+mn-ea"/>
              </a:rPr>
              <a:t>(</a:t>
            </a:r>
            <a:r>
              <a:rPr lang="zh-CN" altLang="en-US" sz="2500" b="1" noProof="1">
                <a:ea typeface="楷体_GB2312" panose="02010609030101010101" pitchFamily="49" charset="-122"/>
                <a:cs typeface="+mn-ea"/>
              </a:rPr>
              <a:t>又称</a:t>
            </a:r>
            <a:r>
              <a:rPr lang="zh-CN" altLang="en-US" sz="2500" b="1" noProof="1">
                <a:solidFill>
                  <a:srgbClr val="FF0000"/>
                </a:solidFill>
                <a:ea typeface="楷体_GB2312" panose="02010609030101010101" pitchFamily="49" charset="-122"/>
                <a:cs typeface="+mn-ea"/>
              </a:rPr>
              <a:t>浓度商</a:t>
            </a:r>
            <a:r>
              <a:rPr lang="zh-CN" altLang="en-US" sz="2500" b="1" noProof="1">
                <a:ea typeface="楷体_GB2312" panose="02010609030101010101" pitchFamily="49" charset="-122"/>
                <a:cs typeface="+mn-ea"/>
              </a:rPr>
              <a:t>或</a:t>
            </a:r>
            <a:r>
              <a:rPr lang="zh-CN" altLang="en-US" sz="2500" b="1" noProof="1">
                <a:solidFill>
                  <a:srgbClr val="FF0000"/>
                </a:solidFill>
                <a:ea typeface="楷体_GB2312" panose="02010609030101010101" pitchFamily="49" charset="-122"/>
                <a:cs typeface="+mn-ea"/>
              </a:rPr>
              <a:t>离子积</a:t>
            </a:r>
            <a:r>
              <a:rPr lang="en-US" altLang="zh-CN" sz="2500" b="1" noProof="1">
                <a:ea typeface="楷体_GB2312" panose="02010609030101010101" pitchFamily="49" charset="-122"/>
                <a:cs typeface="+mn-ea"/>
              </a:rPr>
              <a:t>): </a:t>
            </a:r>
            <a:r>
              <a:rPr lang="en-US" altLang="zh-CN" sz="2500" b="1" i="1" noProof="1">
                <a:ea typeface="楷体_GB2312" panose="02010609030101010101" pitchFamily="49" charset="-122"/>
                <a:cs typeface="+mn-ea"/>
              </a:rPr>
              <a:t>Q</a:t>
            </a:r>
            <a:r>
              <a:rPr lang="en-US" altLang="zh-CN" sz="2500" b="1" i="1" baseline="-25000" noProof="1">
                <a:ea typeface="楷体_GB2312" panose="02010609030101010101" pitchFamily="49" charset="-122"/>
                <a:cs typeface="+mn-ea"/>
              </a:rPr>
              <a:t>c</a:t>
            </a:r>
            <a:r>
              <a:rPr lang="en-US" altLang="zh-CN" sz="2500" b="1" noProof="1">
                <a:ea typeface="楷体_GB2312" panose="02010609030101010101" pitchFamily="49" charset="-122"/>
                <a:cs typeface="+mn-ea"/>
              </a:rPr>
              <a:t>= </a:t>
            </a:r>
            <a:r>
              <a:rPr lang="en-US" altLang="zh-CN" sz="2500" b="1" noProof="1" smtClean="0">
                <a:ea typeface="楷体_GB2312" panose="02010609030101010101" pitchFamily="49" charset="-122"/>
                <a:cs typeface="+mn-ea"/>
              </a:rPr>
              <a:t>(M</a:t>
            </a:r>
            <a:r>
              <a:rPr lang="en-US" altLang="zh-CN" sz="2500" b="1" baseline="30000" noProof="1" smtClean="0">
                <a:ea typeface="楷体_GB2312" panose="02010609030101010101" pitchFamily="49" charset="-122"/>
                <a:cs typeface="+mn-ea"/>
              </a:rPr>
              <a:t>n+</a:t>
            </a:r>
            <a:r>
              <a:rPr lang="en-US" altLang="zh-CN" sz="2500" b="1" noProof="1" smtClean="0">
                <a:ea typeface="楷体_GB2312" panose="02010609030101010101" pitchFamily="49" charset="-122"/>
                <a:cs typeface="+mn-ea"/>
              </a:rPr>
              <a:t>)</a:t>
            </a:r>
            <a:r>
              <a:rPr lang="en-US" altLang="zh-CN" sz="2500" b="1" baseline="30000" noProof="1">
                <a:ea typeface="楷体_GB2312" panose="02010609030101010101" pitchFamily="49" charset="-122"/>
                <a:cs typeface="+mn-ea"/>
              </a:rPr>
              <a:t> </a:t>
            </a:r>
            <a:r>
              <a:rPr lang="en-US" altLang="zh-CN" sz="2500" b="1" baseline="30000" noProof="1" smtClean="0">
                <a:ea typeface="楷体_GB2312" panose="02010609030101010101" pitchFamily="49" charset="-122"/>
                <a:cs typeface="+mn-ea"/>
              </a:rPr>
              <a:t>m</a:t>
            </a:r>
            <a:r>
              <a:rPr lang="en-US" altLang="zh-CN" sz="2500" b="1" noProof="1" smtClean="0">
                <a:ea typeface="楷体_GB2312" panose="02010609030101010101" pitchFamily="49" charset="-122"/>
                <a:cs typeface="+mn-ea"/>
              </a:rPr>
              <a:t>(A</a:t>
            </a:r>
            <a:r>
              <a:rPr lang="en-US" altLang="zh-CN" sz="2500" b="1" baseline="30000" noProof="1" smtClean="0">
                <a:ea typeface="楷体_GB2312" panose="02010609030101010101" pitchFamily="49" charset="-122"/>
                <a:cs typeface="+mn-ea"/>
              </a:rPr>
              <a:t>m-</a:t>
            </a:r>
            <a:r>
              <a:rPr lang="en-US" altLang="zh-CN" sz="2500" b="1" noProof="1">
                <a:ea typeface="楷体_GB2312" panose="02010609030101010101" pitchFamily="49" charset="-122"/>
                <a:cs typeface="+mn-ea"/>
              </a:rPr>
              <a:t>)</a:t>
            </a:r>
            <a:endParaRPr lang="en-US" altLang="zh-CN" sz="2500" b="1" noProof="1">
              <a:ea typeface="楷体_GB2312" panose="02010609030101010101" pitchFamily="49" charset="-122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1189038" y="4360903"/>
            <a:ext cx="6816290" cy="1246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i="1" dirty="0">
                <a:ea typeface="楷体_GB2312" pitchFamily="49" charset="-122"/>
              </a:rPr>
              <a:t>Q</a:t>
            </a:r>
            <a:r>
              <a:rPr lang="en-US" altLang="zh-CN" sz="2500" b="1" i="1" baseline="-25000" dirty="0">
                <a:ea typeface="楷体_GB2312" pitchFamily="49" charset="-122"/>
              </a:rPr>
              <a:t>c</a:t>
            </a:r>
            <a:r>
              <a:rPr lang="en-US" altLang="zh-CN" sz="2500" b="1" i="1" dirty="0">
                <a:ea typeface="楷体_GB2312" pitchFamily="49" charset="-122"/>
              </a:rPr>
              <a:t> </a:t>
            </a:r>
            <a:r>
              <a:rPr lang="en-US" altLang="zh-CN" sz="2500" b="1" dirty="0">
                <a:ea typeface="楷体_GB2312" pitchFamily="49" charset="-122"/>
              </a:rPr>
              <a:t>&gt; </a:t>
            </a:r>
            <a:r>
              <a:rPr lang="en-US" altLang="zh-CN" sz="2500" b="1" i="1" dirty="0" err="1">
                <a:ea typeface="楷体_GB2312" pitchFamily="49" charset="-122"/>
              </a:rPr>
              <a:t>K</a:t>
            </a:r>
            <a:r>
              <a:rPr lang="en-US" altLang="zh-CN" b="1" baseline="100000" dirty="0" err="1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楷体_GB2312" pitchFamily="49" charset="-122"/>
                <a:sym typeface="Webdings" pitchFamily="18" charset="2"/>
              </a:rPr>
              <a:t>sp</a:t>
            </a:r>
            <a:r>
              <a:rPr lang="en-US" altLang="zh-CN" sz="2500" b="1" dirty="0">
                <a:ea typeface="楷体_GB2312" pitchFamily="49" charset="-122"/>
              </a:rPr>
              <a:t>, </a:t>
            </a:r>
            <a:r>
              <a:rPr lang="zh-CN" altLang="en-US" sz="2500" b="1" dirty="0" smtClean="0">
                <a:ea typeface="楷体_GB2312" pitchFamily="49" charset="-122"/>
              </a:rPr>
              <a:t>过饱和</a:t>
            </a:r>
            <a:r>
              <a:rPr lang="en-US" altLang="zh-CN" sz="2500" b="1" dirty="0" smtClean="0">
                <a:ea typeface="楷体_GB2312" pitchFamily="49" charset="-122"/>
              </a:rPr>
              <a:t>, </a:t>
            </a:r>
            <a:r>
              <a:rPr lang="zh-CN" altLang="en-US" sz="2500" b="1" dirty="0">
                <a:ea typeface="楷体_GB2312" pitchFamily="49" charset="-122"/>
              </a:rPr>
              <a:t>生成沉淀</a:t>
            </a:r>
            <a:r>
              <a:rPr lang="en-US" altLang="zh-CN" sz="2500" b="1" dirty="0">
                <a:ea typeface="楷体_GB2312" pitchFamily="49" charset="-122"/>
              </a:rPr>
              <a:t>;</a:t>
            </a:r>
            <a:r>
              <a:rPr lang="en-US" altLang="zh-CN" sz="2500" b="1" i="1" dirty="0">
                <a:ea typeface="楷体_GB2312" pitchFamily="49" charset="-122"/>
              </a:rPr>
              <a:t> </a:t>
            </a:r>
          </a:p>
          <a:p>
            <a:pPr eaLnBrk="1" hangingPunct="1">
              <a:buFont typeface="Arial" charset="0"/>
              <a:buNone/>
            </a:pPr>
            <a:r>
              <a:rPr lang="en-US" altLang="zh-CN" sz="2500" b="1" i="1" dirty="0">
                <a:ea typeface="楷体_GB2312" pitchFamily="49" charset="-122"/>
              </a:rPr>
              <a:t>Q</a:t>
            </a:r>
            <a:r>
              <a:rPr lang="en-US" altLang="zh-CN" sz="2500" b="1" i="1" baseline="-25000" dirty="0">
                <a:ea typeface="楷体_GB2312" pitchFamily="49" charset="-122"/>
              </a:rPr>
              <a:t>c</a:t>
            </a:r>
            <a:r>
              <a:rPr lang="en-US" altLang="zh-CN" sz="2500" b="1" i="1" dirty="0">
                <a:ea typeface="楷体_GB2312" pitchFamily="49" charset="-122"/>
              </a:rPr>
              <a:t> </a:t>
            </a:r>
            <a:r>
              <a:rPr lang="en-US" altLang="zh-CN" sz="2500" b="1" dirty="0">
                <a:ea typeface="楷体_GB2312" pitchFamily="49" charset="-122"/>
              </a:rPr>
              <a:t>= </a:t>
            </a:r>
            <a:r>
              <a:rPr lang="en-US" altLang="zh-CN" sz="2500" b="1" i="1" dirty="0" err="1">
                <a:ea typeface="楷体_GB2312" pitchFamily="49" charset="-122"/>
              </a:rPr>
              <a:t>K</a:t>
            </a:r>
            <a:r>
              <a:rPr lang="en-US" altLang="zh-CN" b="1" baseline="100000" dirty="0" err="1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楷体_GB2312" pitchFamily="49" charset="-122"/>
                <a:sym typeface="Webdings" pitchFamily="18" charset="2"/>
              </a:rPr>
              <a:t>sp</a:t>
            </a:r>
            <a:r>
              <a:rPr lang="en-US" altLang="zh-CN" sz="2500" b="1" dirty="0">
                <a:ea typeface="楷体_GB2312" pitchFamily="49" charset="-122"/>
              </a:rPr>
              <a:t>, </a:t>
            </a:r>
            <a:r>
              <a:rPr lang="zh-CN" altLang="en-US" sz="2500" b="1" dirty="0">
                <a:ea typeface="楷体_GB2312" pitchFamily="49" charset="-122"/>
              </a:rPr>
              <a:t>饱和溶液</a:t>
            </a:r>
            <a:r>
              <a:rPr lang="en-US" altLang="zh-CN" sz="2500" b="1" dirty="0">
                <a:ea typeface="楷体_GB2312" pitchFamily="49" charset="-122"/>
              </a:rPr>
              <a:t>, </a:t>
            </a:r>
            <a:r>
              <a:rPr lang="zh-CN" altLang="en-US" sz="2500" b="1" dirty="0">
                <a:ea typeface="楷体_GB2312" pitchFamily="49" charset="-122"/>
              </a:rPr>
              <a:t>动态平衡</a:t>
            </a:r>
            <a:r>
              <a:rPr lang="en-US" altLang="zh-CN" sz="2500" b="1" dirty="0">
                <a:ea typeface="楷体_GB2312" pitchFamily="49" charset="-122"/>
              </a:rPr>
              <a:t>;</a:t>
            </a:r>
          </a:p>
          <a:p>
            <a:pPr eaLnBrk="1" hangingPunct="1">
              <a:buFont typeface="Arial" charset="0"/>
              <a:buNone/>
            </a:pPr>
            <a:r>
              <a:rPr lang="en-US" altLang="zh-CN" sz="2500" b="1" i="1" dirty="0">
                <a:ea typeface="楷体_GB2312" pitchFamily="49" charset="-122"/>
              </a:rPr>
              <a:t>Q</a:t>
            </a:r>
            <a:r>
              <a:rPr lang="en-US" altLang="zh-CN" sz="2500" b="1" i="1" baseline="-25000" dirty="0">
                <a:ea typeface="楷体_GB2312" pitchFamily="49" charset="-122"/>
              </a:rPr>
              <a:t>c</a:t>
            </a:r>
            <a:r>
              <a:rPr lang="en-US" altLang="zh-CN" sz="2500" b="1" i="1" dirty="0">
                <a:ea typeface="楷体_GB2312" pitchFamily="49" charset="-122"/>
              </a:rPr>
              <a:t> </a:t>
            </a:r>
            <a:r>
              <a:rPr lang="en-US" altLang="zh-CN" sz="2500" b="1" dirty="0">
                <a:ea typeface="楷体_GB2312" pitchFamily="49" charset="-122"/>
              </a:rPr>
              <a:t>&lt; </a:t>
            </a:r>
            <a:r>
              <a:rPr lang="en-US" altLang="zh-CN" sz="2500" b="1" i="1" dirty="0" err="1">
                <a:ea typeface="楷体_GB2312" pitchFamily="49" charset="-122"/>
              </a:rPr>
              <a:t>K</a:t>
            </a:r>
            <a:r>
              <a:rPr lang="en-US" altLang="zh-CN" b="1" baseline="100000" dirty="0" err="1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楷体_GB2312" pitchFamily="49" charset="-122"/>
                <a:sym typeface="Webdings" pitchFamily="18" charset="2"/>
              </a:rPr>
              <a:t>sp</a:t>
            </a:r>
            <a:r>
              <a:rPr lang="en-US" altLang="zh-CN" sz="2500" b="1" dirty="0">
                <a:ea typeface="楷体_GB2312" pitchFamily="49" charset="-122"/>
              </a:rPr>
              <a:t>, </a:t>
            </a:r>
            <a:r>
              <a:rPr lang="zh-CN" altLang="en-US" sz="2500" b="1" dirty="0">
                <a:ea typeface="楷体_GB2312" pitchFamily="49" charset="-122"/>
              </a:rPr>
              <a:t>未饱和</a:t>
            </a:r>
            <a:r>
              <a:rPr lang="en-US" altLang="zh-CN" sz="2500" b="1" dirty="0">
                <a:ea typeface="楷体_GB2312" pitchFamily="49" charset="-122"/>
              </a:rPr>
              <a:t>, </a:t>
            </a:r>
            <a:r>
              <a:rPr lang="zh-CN" altLang="en-US" sz="2500" b="1" dirty="0">
                <a:ea typeface="楷体_GB2312" pitchFamily="49" charset="-122"/>
              </a:rPr>
              <a:t>无沉淀析出</a:t>
            </a:r>
            <a:r>
              <a:rPr lang="en-US" altLang="zh-CN" sz="2500" b="1" dirty="0">
                <a:ea typeface="楷体_GB2312" pitchFamily="49" charset="-122"/>
              </a:rPr>
              <a:t>, </a:t>
            </a:r>
            <a:r>
              <a:rPr lang="zh-CN" altLang="en-US" sz="2500" b="1" dirty="0">
                <a:ea typeface="楷体_GB2312" pitchFamily="49" charset="-122"/>
              </a:rPr>
              <a:t>若有固体则溶解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4" name="左大括号 3"/>
          <p:cNvSpPr>
            <a:spLocks/>
          </p:cNvSpPr>
          <p:nvPr/>
        </p:nvSpPr>
        <p:spPr bwMode="auto">
          <a:xfrm>
            <a:off x="1081088" y="4468853"/>
            <a:ext cx="152400" cy="1219200"/>
          </a:xfrm>
          <a:prstGeom prst="leftBrace">
            <a:avLst>
              <a:gd name="adj1" fmla="val 6629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9225" name="文本框 68635"/>
          <p:cNvSpPr txBox="1">
            <a:spLocks noChangeArrowheads="1"/>
          </p:cNvSpPr>
          <p:nvPr/>
        </p:nvSpPr>
        <p:spPr bwMode="auto">
          <a:xfrm>
            <a:off x="269875" y="230188"/>
            <a:ext cx="4811713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200" b="1">
                <a:solidFill>
                  <a:srgbClr val="FF3300"/>
                </a:solidFill>
                <a:ea typeface="黑体" pitchFamily="49" charset="-122"/>
              </a:rPr>
              <a:t>4.1.1 溶度积与溶解度</a:t>
            </a:r>
          </a:p>
        </p:txBody>
      </p:sp>
      <p:sp>
        <p:nvSpPr>
          <p:cNvPr id="9226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9227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688939" y="882633"/>
            <a:ext cx="10391808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2500" b="1" dirty="0" smtClean="0">
                <a:latin typeface="+mn-lt"/>
                <a:ea typeface="楷体_GB2312" pitchFamily="49" charset="-122"/>
              </a:rPr>
              <a:t>例</a:t>
            </a:r>
            <a:r>
              <a:rPr lang="en-US" altLang="zh-CN" sz="2500" b="1" dirty="0" smtClean="0">
                <a:latin typeface="+mn-lt"/>
                <a:ea typeface="楷体_GB2312" pitchFamily="49" charset="-122"/>
              </a:rPr>
              <a:t>1.</a:t>
            </a:r>
            <a:r>
              <a:rPr lang="zh-CN" altLang="en-US" sz="2500" b="1" dirty="0" smtClean="0">
                <a:latin typeface="+mn-lt"/>
                <a:ea typeface="楷体_GB2312" pitchFamily="49" charset="-122"/>
              </a:rPr>
              <a:t>已知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25℃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时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, </a:t>
            </a:r>
            <a:r>
              <a:rPr lang="en-US" altLang="zh-CN" sz="2500" b="1" dirty="0" err="1">
                <a:latin typeface="+mn-lt"/>
                <a:ea typeface="楷体_GB2312" pitchFamily="49" charset="-122"/>
              </a:rPr>
              <a:t>AgCl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的溶解度为 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1.92×10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-3 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g·L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-1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, 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求</a:t>
            </a:r>
            <a:r>
              <a:rPr lang="en-US" altLang="zh-CN" sz="2500" b="1" i="1" dirty="0" err="1">
                <a:latin typeface="+mn-lt"/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latin typeface="+mn-lt"/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latin typeface="+mn-lt"/>
                <a:ea typeface="楷体_GB2312" pitchFamily="49" charset="-122"/>
                <a:sym typeface="Webdings" pitchFamily="18" charset="2"/>
              </a:rPr>
              <a:t>sp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(</a:t>
            </a:r>
            <a:r>
              <a:rPr lang="en-US" altLang="zh-CN" sz="2500" b="1" dirty="0" err="1">
                <a:latin typeface="+mn-lt"/>
                <a:ea typeface="楷体_GB2312" pitchFamily="49" charset="-122"/>
                <a:sym typeface="Webdings" pitchFamily="18" charset="2"/>
              </a:rPr>
              <a:t>AgCl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).</a:t>
            </a:r>
            <a:endParaRPr lang="en-US" altLang="zh-CN" sz="2500" b="1" dirty="0">
              <a:solidFill>
                <a:srgbClr val="0000FF"/>
              </a:solidFill>
              <a:latin typeface="+mn-lt"/>
              <a:ea typeface="楷体_GB2312" pitchFamily="49" charset="-122"/>
            </a:endParaRP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688939" y="1882765"/>
            <a:ext cx="9786966" cy="4962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05000"/>
              </a:lnSpc>
              <a:buFont typeface="Arial" pitchFamily="34" charset="0"/>
              <a:buNone/>
            </a:pPr>
            <a:r>
              <a:rPr lang="zh-CN" altLang="en-US" sz="2500" b="1" dirty="0" smtClean="0">
                <a:latin typeface="+mn-lt"/>
                <a:ea typeface="楷体_GB2312" pitchFamily="49" charset="-122"/>
              </a:rPr>
              <a:t>例</a:t>
            </a:r>
            <a:r>
              <a:rPr lang="en-US" altLang="zh-CN" sz="2500" b="1" dirty="0" smtClean="0">
                <a:latin typeface="+mn-lt"/>
                <a:ea typeface="楷体_GB2312" pitchFamily="49" charset="-122"/>
              </a:rPr>
              <a:t>2.</a:t>
            </a:r>
            <a:r>
              <a:rPr lang="zh-CN" altLang="en-US" sz="2500" b="1" dirty="0" smtClean="0">
                <a:latin typeface="+mn-lt"/>
                <a:ea typeface="楷体_GB2312" pitchFamily="49" charset="-122"/>
              </a:rPr>
              <a:t>已知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25℃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时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,Ag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2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CrO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4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的</a:t>
            </a:r>
            <a:r>
              <a:rPr lang="en-US" altLang="zh-CN" sz="2500" b="1" i="1" dirty="0" err="1">
                <a:latin typeface="+mn-lt"/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latin typeface="+mn-lt"/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latin typeface="+mn-lt"/>
                <a:ea typeface="楷体_GB2312" pitchFamily="49" charset="-122"/>
                <a:sym typeface="Webdings" pitchFamily="18" charset="2"/>
              </a:rPr>
              <a:t>sp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 = 1.1×10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-12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.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求其溶解度</a:t>
            </a:r>
            <a:r>
              <a:rPr lang="en-US" altLang="zh-CN" sz="2500" b="1" i="1" dirty="0">
                <a:latin typeface="+mn-lt"/>
                <a:ea typeface="楷体_GB2312" pitchFamily="49" charset="-122"/>
              </a:rPr>
              <a:t>s’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(g·L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-1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).</a:t>
            </a:r>
            <a:endParaRPr lang="en-US" altLang="zh-CN" sz="2500" b="1" dirty="0">
              <a:solidFill>
                <a:srgbClr val="0000FF"/>
              </a:solidFill>
              <a:latin typeface="+mn-lt"/>
              <a:ea typeface="楷体_GB2312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417014" y="3939380"/>
            <a:ext cx="2696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baseline="30000" noProof="1">
                <a:ea typeface="楷体_GB2312" panose="02010609030101010101" pitchFamily="49" charset="-122"/>
                <a:cs typeface="+mn-ea"/>
              </a:rPr>
              <a:t>n</a:t>
            </a:r>
            <a:endParaRPr lang="zh-CN" altLang="en-US" dirty="0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96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9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75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75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75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950"/>
                            </p:stCondLst>
                            <p:childTnLst>
                              <p:par>
                                <p:cTn id="4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64" grpId="0"/>
      <p:bldP spid="18435" grpId="0"/>
      <p:bldP spid="69661" grpId="0"/>
      <p:bldP spid="2" grpId="0"/>
      <p:bldP spid="3" grpId="0" build="p"/>
      <p:bldP spid="12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2" name="文本框 4"/>
          <p:cNvSpPr txBox="1">
            <a:spLocks noChangeArrowheads="1"/>
          </p:cNvSpPr>
          <p:nvPr/>
        </p:nvSpPr>
        <p:spPr bwMode="auto">
          <a:xfrm>
            <a:off x="688939" y="1811327"/>
            <a:ext cx="614271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500" b="1" dirty="0" smtClean="0">
                <a:ea typeface="楷体" pitchFamily="49" charset="-122"/>
                <a:hlinkClick r:id="rId2" action="ppaction://hlinkpres?slideindex=3&amp;slidetitle=幻灯片 3"/>
              </a:rPr>
              <a:t>解</a:t>
            </a:r>
            <a:r>
              <a:rPr lang="en-US" altLang="zh-CN" sz="2500" b="1" dirty="0" smtClean="0">
                <a:ea typeface="楷体" pitchFamily="49" charset="-122"/>
              </a:rPr>
              <a:t>:</a:t>
            </a:r>
            <a:endParaRPr lang="en-US" altLang="zh-CN" sz="2500" b="1" dirty="0">
              <a:ea typeface="楷体" pitchFamily="49" charset="-122"/>
            </a:endParaRPr>
          </a:p>
        </p:txBody>
      </p:sp>
      <p:sp>
        <p:nvSpPr>
          <p:cNvPr id="9225" name="文本框 68635"/>
          <p:cNvSpPr txBox="1">
            <a:spLocks noChangeArrowheads="1"/>
          </p:cNvSpPr>
          <p:nvPr/>
        </p:nvSpPr>
        <p:spPr bwMode="auto">
          <a:xfrm>
            <a:off x="269875" y="230188"/>
            <a:ext cx="4811713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200" b="1">
                <a:solidFill>
                  <a:srgbClr val="FF3300"/>
                </a:solidFill>
                <a:ea typeface="黑体" pitchFamily="49" charset="-122"/>
              </a:rPr>
              <a:t>4.1.1 溶度积与溶解度</a:t>
            </a:r>
          </a:p>
        </p:txBody>
      </p:sp>
      <p:sp>
        <p:nvSpPr>
          <p:cNvPr id="9226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9227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42942" y="882633"/>
            <a:ext cx="10333069" cy="86177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 sz="2500" b="1" noProof="1" smtClean="0">
                <a:latin typeface="+mn-lt"/>
                <a:ea typeface="楷体_GB2312" pitchFamily="49" charset="-122"/>
                <a:cs typeface="+mn-ea"/>
              </a:rPr>
              <a:t>例</a:t>
            </a:r>
            <a:r>
              <a:rPr lang="en-US" altLang="zh-CN" sz="2500" b="1" noProof="1" smtClean="0">
                <a:latin typeface="+mn-lt"/>
                <a:ea typeface="楷体_GB2312" pitchFamily="49" charset="-122"/>
                <a:cs typeface="+mn-ea"/>
              </a:rPr>
              <a:t>3.</a:t>
            </a:r>
            <a:r>
              <a:rPr lang="zh-CN" altLang="en-US" sz="2500" b="1" noProof="1" smtClean="0">
                <a:latin typeface="+mn-lt"/>
                <a:ea typeface="楷体_GB2312" pitchFamily="49" charset="-122"/>
                <a:cs typeface="+mn-ea"/>
              </a:rPr>
              <a:t>已知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</a:rPr>
              <a:t>BaF</a:t>
            </a:r>
            <a:r>
              <a:rPr lang="en-US" altLang="zh-CN" sz="2500" b="1" baseline="-25000" noProof="1">
                <a:latin typeface="+mn-lt"/>
                <a:ea typeface="楷体_GB2312" pitchFamily="49" charset="-122"/>
                <a:cs typeface="+mn-ea"/>
              </a:rPr>
              <a:t>2</a:t>
            </a:r>
            <a:r>
              <a:rPr lang="zh-CN" altLang="en-US" sz="2500" b="1" noProof="1">
                <a:latin typeface="+mn-lt"/>
                <a:ea typeface="楷体_GB2312" pitchFamily="49" charset="-122"/>
                <a:cs typeface="+mn-ea"/>
              </a:rPr>
              <a:t>的</a:t>
            </a:r>
            <a:r>
              <a:rPr lang="en-US" altLang="zh-CN" sz="2500" b="1" i="1" noProof="1">
                <a:latin typeface="+mn-lt"/>
                <a:ea typeface="楷体_GB2312" pitchFamily="49" charset="-122"/>
                <a:cs typeface="+mn-ea"/>
              </a:rPr>
              <a:t>K</a:t>
            </a:r>
            <a:r>
              <a:rPr lang="en-US" altLang="zh-CN" sz="1600" b="1" baseline="100000" noProof="1">
                <a:latin typeface="+mn-lt"/>
                <a:ea typeface="楷体_GB2312" pitchFamily="49" charset="-122"/>
                <a:cs typeface="+mn-ea"/>
                <a:sym typeface="Webdings" panose="05030102010509060703" pitchFamily="18" charset="2"/>
              </a:rPr>
              <a:t></a:t>
            </a:r>
            <a:r>
              <a:rPr lang="en-US" altLang="zh-CN" sz="2500" b="1" baseline="-25000" noProof="1">
                <a:latin typeface="+mn-lt"/>
                <a:ea typeface="楷体_GB2312" pitchFamily="49" charset="-122"/>
                <a:cs typeface="+mn-ea"/>
                <a:sym typeface="Webdings" panose="05030102010509060703" pitchFamily="18" charset="2"/>
              </a:rPr>
              <a:t>sp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</a:rPr>
              <a:t>= 5×10</a:t>
            </a:r>
            <a:r>
              <a:rPr lang="en-US" altLang="zh-CN" sz="2500" b="1" baseline="30000" noProof="1">
                <a:latin typeface="+mn-lt"/>
                <a:ea typeface="楷体_GB2312" pitchFamily="49" charset="-122"/>
                <a:cs typeface="+mn-ea"/>
              </a:rPr>
              <a:t>-6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</a:rPr>
              <a:t>.</a:t>
            </a:r>
            <a:r>
              <a:rPr lang="zh-CN" altLang="en-US" sz="2500" b="1" noProof="1">
                <a:latin typeface="+mn-lt"/>
                <a:ea typeface="楷体_GB2312" pitchFamily="49" charset="-122"/>
                <a:cs typeface="+mn-ea"/>
              </a:rPr>
              <a:t>现将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</a:rPr>
              <a:t>20.0mL 0.050 mol·L</a:t>
            </a:r>
            <a:r>
              <a:rPr lang="en-US" altLang="zh-CN" sz="2500" b="1" baseline="30000" noProof="1">
                <a:latin typeface="+mn-lt"/>
                <a:ea typeface="楷体_GB2312" pitchFamily="49" charset="-122"/>
                <a:cs typeface="+mn-ea"/>
              </a:rPr>
              <a:t>-1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</a:rPr>
              <a:t> BaCl</a:t>
            </a:r>
            <a:r>
              <a:rPr lang="en-US" altLang="zh-CN" sz="2500" b="1" baseline="-25000" noProof="1">
                <a:latin typeface="+mn-lt"/>
                <a:ea typeface="楷体_GB2312" pitchFamily="49" charset="-122"/>
                <a:cs typeface="+mn-ea"/>
              </a:rPr>
              <a:t>2</a:t>
            </a:r>
            <a:r>
              <a:rPr lang="zh-CN" altLang="en-US" sz="2500" b="1" noProof="1">
                <a:latin typeface="+mn-lt"/>
                <a:ea typeface="楷体_GB2312" pitchFamily="49" charset="-122"/>
                <a:cs typeface="+mn-ea"/>
              </a:rPr>
              <a:t>溶液与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</a:rPr>
              <a:t>30.0mL0.050 mol·L</a:t>
            </a:r>
            <a:r>
              <a:rPr lang="en-US" altLang="zh-CN" sz="2500" b="1" baseline="30000" noProof="1">
                <a:latin typeface="+mn-lt"/>
                <a:ea typeface="楷体_GB2312" pitchFamily="49" charset="-122"/>
                <a:cs typeface="+mn-ea"/>
              </a:rPr>
              <a:t>-1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</a:rPr>
              <a:t>KF</a:t>
            </a:r>
            <a:r>
              <a:rPr lang="zh-CN" altLang="en-US" sz="2500" b="1" noProof="1">
                <a:latin typeface="+mn-lt"/>
                <a:ea typeface="楷体_GB2312" pitchFamily="49" charset="-122"/>
                <a:cs typeface="+mn-ea"/>
              </a:rPr>
              <a:t>溶液混合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</a:rPr>
              <a:t>.</a:t>
            </a:r>
            <a:r>
              <a:rPr lang="zh-CN" altLang="en-US" sz="2500" b="1" noProof="1">
                <a:latin typeface="+mn-lt"/>
                <a:ea typeface="楷体_GB2312" pitchFamily="49" charset="-122"/>
                <a:cs typeface="+mn-ea"/>
              </a:rPr>
              <a:t>问有无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</a:rPr>
              <a:t>BaF</a:t>
            </a:r>
            <a:r>
              <a:rPr lang="en-US" altLang="zh-CN" sz="2500" b="1" baseline="-25000" noProof="1">
                <a:latin typeface="+mn-lt"/>
                <a:ea typeface="楷体_GB2312" pitchFamily="49" charset="-122"/>
                <a:cs typeface="+mn-ea"/>
              </a:rPr>
              <a:t>2</a:t>
            </a:r>
            <a:r>
              <a:rPr lang="zh-CN" altLang="en-US" sz="2500" b="1" noProof="1">
                <a:latin typeface="+mn-lt"/>
                <a:ea typeface="楷体_GB2312" pitchFamily="49" charset="-122"/>
                <a:cs typeface="+mn-ea"/>
              </a:rPr>
              <a:t>沉淀生成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</a:rPr>
              <a:t>?</a:t>
            </a:r>
          </a:p>
        </p:txBody>
      </p:sp>
      <p:sp>
        <p:nvSpPr>
          <p:cNvPr id="13" name="左大括号 12"/>
          <p:cNvSpPr>
            <a:spLocks/>
          </p:cNvSpPr>
          <p:nvPr/>
        </p:nvSpPr>
        <p:spPr bwMode="auto">
          <a:xfrm>
            <a:off x="3066656" y="3517908"/>
            <a:ext cx="141287" cy="1452563"/>
          </a:xfrm>
          <a:prstGeom prst="leftBrace">
            <a:avLst>
              <a:gd name="adj1" fmla="val 8534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 sz="2500"/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3327400" y="3517908"/>
            <a:ext cx="3508375" cy="168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05000"/>
              </a:lnSpc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①</a:t>
            </a:r>
            <a:r>
              <a:rPr lang="zh-CN" altLang="en-US" sz="2500" b="1" dirty="0">
                <a:ea typeface="楷体_GB2312" pitchFamily="49" charset="-122"/>
                <a:sym typeface="Monotype Sorts" pitchFamily="2" charset="2"/>
              </a:rPr>
              <a:t>含固量＜</a:t>
            </a:r>
            <a:r>
              <a:rPr lang="en-US" altLang="zh-CN" sz="2500" b="1" dirty="0">
                <a:ea typeface="楷体_GB2312" pitchFamily="49" charset="-122"/>
              </a:rPr>
              <a:t>10</a:t>
            </a:r>
            <a:r>
              <a:rPr lang="en-US" altLang="zh-CN" sz="2500" b="1" baseline="30000" dirty="0">
                <a:ea typeface="楷体_GB2312" pitchFamily="49" charset="-122"/>
              </a:rPr>
              <a:t>-5 </a:t>
            </a:r>
            <a:r>
              <a:rPr lang="en-US" altLang="zh-CN" sz="2500" b="1" dirty="0">
                <a:ea typeface="楷体_GB2312" pitchFamily="49" charset="-122"/>
              </a:rPr>
              <a:t>g·L</a:t>
            </a:r>
            <a:r>
              <a:rPr lang="en-US" altLang="zh-CN" sz="2500" b="1" baseline="30000" dirty="0">
                <a:ea typeface="楷体_GB2312" pitchFamily="49" charset="-122"/>
              </a:rPr>
              <a:t>-1</a:t>
            </a:r>
            <a:r>
              <a:rPr lang="en-US" altLang="zh-CN" sz="2500" b="1" dirty="0">
                <a:ea typeface="楷体_GB2312" pitchFamily="49" charset="-122"/>
              </a:rPr>
              <a:t>;</a:t>
            </a:r>
          </a:p>
          <a:p>
            <a:pPr eaLnBrk="1" hangingPunct="1">
              <a:lnSpc>
                <a:spcPct val="105000"/>
              </a:lnSpc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②</a:t>
            </a:r>
            <a:r>
              <a:rPr lang="zh-CN" altLang="en-US" sz="2500" b="1" dirty="0">
                <a:ea typeface="楷体_GB2312" pitchFamily="49" charset="-122"/>
              </a:rPr>
              <a:t>粒径极小</a:t>
            </a:r>
            <a:r>
              <a:rPr lang="en-US" altLang="zh-CN" sz="2500" b="1" dirty="0">
                <a:ea typeface="楷体_GB2312" pitchFamily="49" charset="-122"/>
              </a:rPr>
              <a:t>;</a:t>
            </a:r>
            <a:endParaRPr lang="en-US" altLang="zh-CN" sz="2500" b="1" dirty="0">
              <a:ea typeface="楷体_GB2312" pitchFamily="49" charset="-122"/>
              <a:sym typeface="Monotype Sorts" pitchFamily="2" charset="2"/>
            </a:endParaRPr>
          </a:p>
          <a:p>
            <a:pPr eaLnBrk="1" hangingPunct="1">
              <a:lnSpc>
                <a:spcPct val="105000"/>
              </a:lnSpc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③</a:t>
            </a:r>
            <a:r>
              <a:rPr lang="zh-CN" altLang="en-US" sz="2500" b="1" dirty="0">
                <a:ea typeface="楷体_GB2312" pitchFamily="49" charset="-122"/>
              </a:rPr>
              <a:t>生成过饱和溶液</a:t>
            </a:r>
            <a:r>
              <a:rPr lang="en-US" altLang="zh-CN" sz="2500" b="1" dirty="0">
                <a:ea typeface="楷体_GB2312" pitchFamily="49" charset="-122"/>
              </a:rPr>
              <a:t>;</a:t>
            </a:r>
          </a:p>
          <a:p>
            <a:pPr eaLnBrk="1" hangingPunct="1">
              <a:lnSpc>
                <a:spcPct val="105000"/>
              </a:lnSpc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</a:rPr>
              <a:t>④</a:t>
            </a:r>
            <a:r>
              <a:rPr lang="zh-CN" altLang="en-US" sz="2500" b="1" dirty="0">
                <a:ea typeface="楷体_GB2312" pitchFamily="49" charset="-122"/>
              </a:rPr>
              <a:t>副反应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16" name="矩形 15"/>
          <p:cNvSpPr/>
          <p:nvPr/>
        </p:nvSpPr>
        <p:spPr>
          <a:xfrm>
            <a:off x="431800" y="2917061"/>
            <a:ext cx="7392866" cy="4962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05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500" b="1" noProof="1" smtClean="0">
                <a:solidFill>
                  <a:srgbClr val="0000FF"/>
                </a:solidFill>
                <a:ea typeface="楷体_GB2312" panose="02010609030101010101" pitchFamily="49" charset="-122"/>
                <a:cs typeface="+mn-ea"/>
              </a:rPr>
              <a:t>理论上</a:t>
            </a:r>
            <a:r>
              <a:rPr lang="en-US" altLang="zh-CN" sz="2500" b="1" i="1" dirty="0">
                <a:solidFill>
                  <a:prstClr val="black"/>
                </a:solidFill>
                <a:ea typeface="楷体_GB2312" pitchFamily="49" charset="-122"/>
              </a:rPr>
              <a:t>Q</a:t>
            </a:r>
            <a:r>
              <a:rPr lang="en-US" altLang="zh-CN" sz="2500" b="1" i="1" baseline="-25000" dirty="0">
                <a:solidFill>
                  <a:prstClr val="black"/>
                </a:solidFill>
                <a:ea typeface="楷体_GB2312" pitchFamily="49" charset="-122"/>
              </a:rPr>
              <a:t>c</a:t>
            </a:r>
            <a:r>
              <a:rPr lang="en-US" altLang="zh-CN" sz="2500" b="1" i="1" dirty="0">
                <a:solidFill>
                  <a:prstClr val="black"/>
                </a:solidFill>
                <a:ea typeface="楷体_GB2312" pitchFamily="49" charset="-122"/>
              </a:rPr>
              <a:t> </a:t>
            </a:r>
            <a:r>
              <a:rPr lang="en-US" altLang="zh-CN" sz="2500" b="1" dirty="0">
                <a:solidFill>
                  <a:prstClr val="black"/>
                </a:solidFill>
                <a:ea typeface="楷体_GB2312" pitchFamily="49" charset="-122"/>
              </a:rPr>
              <a:t>&gt; </a:t>
            </a:r>
            <a:r>
              <a:rPr lang="en-US" altLang="zh-CN" sz="2500" b="1" i="1" dirty="0" err="1">
                <a:solidFill>
                  <a:prstClr val="black"/>
                </a:solidFill>
                <a:ea typeface="楷体_GB2312" pitchFamily="49" charset="-122"/>
              </a:rPr>
              <a:t>K</a:t>
            </a:r>
            <a:r>
              <a:rPr lang="en-US" altLang="zh-CN" b="1" baseline="100000" dirty="0" err="1">
                <a:solidFill>
                  <a:prstClr val="black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solidFill>
                  <a:prstClr val="black"/>
                </a:solidFill>
                <a:ea typeface="楷体_GB2312" pitchFamily="49" charset="-122"/>
                <a:sym typeface="Webdings" pitchFamily="18" charset="2"/>
              </a:rPr>
              <a:t>sp</a:t>
            </a:r>
            <a:r>
              <a:rPr lang="en-US" altLang="zh-CN" sz="2500" b="1" baseline="-25000" dirty="0">
                <a:solidFill>
                  <a:prstClr val="black"/>
                </a:solidFill>
                <a:ea typeface="楷体_GB2312" pitchFamily="49" charset="-122"/>
                <a:sym typeface="Webdings" pitchFamily="18" charset="2"/>
              </a:rPr>
              <a:t> </a:t>
            </a:r>
            <a:r>
              <a:rPr lang="zh-CN" altLang="en-US" sz="2500" b="1" noProof="1" smtClean="0">
                <a:ea typeface="楷体_GB2312" panose="02010609030101010101" pitchFamily="49" charset="-122"/>
                <a:cs typeface="+mn-ea"/>
              </a:rPr>
              <a:t>产生沉淀，</a:t>
            </a:r>
            <a:r>
              <a:rPr lang="zh-CN" altLang="en-US" sz="2500" b="1" noProof="1" smtClean="0">
                <a:solidFill>
                  <a:srgbClr val="0000FF"/>
                </a:solidFill>
                <a:ea typeface="楷体_GB2312" panose="02010609030101010101" pitchFamily="49" charset="-122"/>
                <a:cs typeface="+mn-ea"/>
              </a:rPr>
              <a:t>实际上</a:t>
            </a:r>
            <a:r>
              <a:rPr lang="zh-CN" altLang="en-US" sz="2500" b="1" noProof="1" smtClean="0">
                <a:ea typeface="楷体_GB2312" panose="02010609030101010101" pitchFamily="49" charset="-122"/>
                <a:cs typeface="+mn-ea"/>
              </a:rPr>
              <a:t>往往看不到沉淀</a:t>
            </a:r>
            <a:endParaRPr lang="en-US" altLang="zh-CN" sz="2500" b="1" noProof="1">
              <a:solidFill>
                <a:srgbClr val="FF00FF"/>
              </a:solidFill>
              <a:ea typeface="楷体_GB2312" panose="0201060903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98932" y="390079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ea typeface="楷体_GB2312" panose="02010609030101010101"/>
              </a:rPr>
              <a:t>原因：</a:t>
            </a:r>
            <a:endParaRPr lang="zh-CN" altLang="en-US" sz="2400" b="1" dirty="0">
              <a:ea typeface="楷体_GB2312" panose="02010609030101010101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2" grpId="0"/>
      <p:bldP spid="12" grpId="0"/>
      <p:bldP spid="14" grpId="0" uiExpand="1" build="p"/>
      <p:bldP spid="1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框 68635"/>
          <p:cNvSpPr txBox="1">
            <a:spLocks noChangeArrowheads="1"/>
          </p:cNvSpPr>
          <p:nvPr/>
        </p:nvSpPr>
        <p:spPr bwMode="auto">
          <a:xfrm>
            <a:off x="244475" y="217488"/>
            <a:ext cx="8612519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200" b="1" dirty="0">
                <a:solidFill>
                  <a:srgbClr val="FF3300"/>
                </a:solidFill>
                <a:ea typeface="黑体" pitchFamily="49" charset="-122"/>
              </a:rPr>
              <a:t>4.1.2 影响沉淀-溶解平衡的主要</a:t>
            </a:r>
            <a:r>
              <a:rPr lang="zh-CN" altLang="en-US" sz="2200" b="1" dirty="0" smtClean="0">
                <a:solidFill>
                  <a:srgbClr val="FF3300"/>
                </a:solidFill>
                <a:ea typeface="黑体" pitchFamily="49" charset="-122"/>
              </a:rPr>
              <a:t>因素（重点：同离子与酸度影响）</a:t>
            </a:r>
            <a:endParaRPr lang="zh-CN" altLang="en-US" sz="2200" b="1" dirty="0">
              <a:solidFill>
                <a:srgbClr val="FF3300"/>
              </a:solidFill>
              <a:ea typeface="黑体" pitchFamily="49" charset="-122"/>
            </a:endParaRPr>
          </a:p>
        </p:txBody>
      </p:sp>
      <p:grpSp>
        <p:nvGrpSpPr>
          <p:cNvPr id="2" name="组合 43031"/>
          <p:cNvGrpSpPr>
            <a:grpSpLocks noChangeAspect="1"/>
          </p:cNvGrpSpPr>
          <p:nvPr/>
        </p:nvGrpSpPr>
        <p:grpSpPr bwMode="auto">
          <a:xfrm>
            <a:off x="746125" y="2503488"/>
            <a:ext cx="2732088" cy="3157537"/>
            <a:chOff x="1972" y="1654"/>
            <a:chExt cx="1822" cy="2106"/>
          </a:xfrm>
        </p:grpSpPr>
        <p:pic>
          <p:nvPicPr>
            <p:cNvPr id="11275" name="图片 43028" descr="离子反应平衡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972" y="1654"/>
              <a:ext cx="1814" cy="2040"/>
            </a:xfrm>
            <a:prstGeom prst="rect">
              <a:avLst/>
            </a:prstGeom>
            <a:noFill/>
            <a:ln w="25400">
              <a:solidFill>
                <a:srgbClr val="FF00FF"/>
              </a:solidFill>
              <a:miter lim="800000"/>
              <a:headEnd/>
              <a:tailEnd/>
            </a:ln>
          </p:spPr>
        </p:pic>
        <p:sp>
          <p:nvSpPr>
            <p:cNvPr id="15364" name="矩形 43030"/>
            <p:cNvSpPr>
              <a:spLocks noChangeAspect="1"/>
            </p:cNvSpPr>
            <p:nvPr/>
          </p:nvSpPr>
          <p:spPr>
            <a:xfrm>
              <a:off x="2462" y="3446"/>
              <a:ext cx="1332" cy="31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r" eaLnBrk="1" hangingPunct="1">
                <a:buFont typeface="Arial" panose="020B0604020202020204" pitchFamily="34" charset="0"/>
                <a:buNone/>
                <a:defRPr/>
              </a:pPr>
              <a:r>
                <a:rPr lang="en-US" altLang="zh-CN" sz="2500" noProof="1">
                  <a:solidFill>
                    <a:srgbClr val="FFFF00"/>
                  </a:solidFill>
                  <a:ea typeface="楷体_GB2312" panose="02010609030101010101" pitchFamily="49" charset="-122"/>
                  <a:cs typeface="+mn-ea"/>
                </a:rPr>
                <a:t>Ag(CH</a:t>
              </a:r>
              <a:r>
                <a:rPr lang="en-US" altLang="zh-CN" sz="2500" baseline="-25000" noProof="1">
                  <a:solidFill>
                    <a:srgbClr val="FFFF00"/>
                  </a:solidFill>
                  <a:ea typeface="楷体_GB2312" panose="02010609030101010101" pitchFamily="49" charset="-122"/>
                  <a:cs typeface="+mn-ea"/>
                </a:rPr>
                <a:t>3</a:t>
              </a:r>
              <a:r>
                <a:rPr lang="en-US" altLang="zh-CN" sz="2500" noProof="1">
                  <a:solidFill>
                    <a:srgbClr val="FFFF00"/>
                  </a:solidFill>
                  <a:ea typeface="楷体_GB2312" panose="02010609030101010101" pitchFamily="49" charset="-122"/>
                  <a:cs typeface="+mn-ea"/>
                </a:rPr>
                <a:t>COO)</a:t>
              </a:r>
              <a:endParaRPr lang="en-US" altLang="zh-CN" sz="2500" noProof="1">
                <a:solidFill>
                  <a:srgbClr val="FFFF00"/>
                </a:solidFill>
                <a:ea typeface="楷体_GB2312" panose="02010609030101010101" pitchFamily="49" charset="-122"/>
              </a:endParaRPr>
            </a:p>
          </p:txBody>
        </p:sp>
      </p:grp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746125" y="1481138"/>
            <a:ext cx="8921750" cy="900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05000"/>
              </a:lnSpc>
              <a:buFont typeface="Arial" charset="0"/>
              <a:buNone/>
            </a:pP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(1)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  <a:hlinkClick r:id="rId5" action="ppaction://hlinkfile"/>
              </a:rPr>
              <a:t>同离子效应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及其应用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:</a:t>
            </a:r>
          </a:p>
          <a:p>
            <a:pPr eaLnBrk="1" hangingPunct="1">
              <a:lnSpc>
                <a:spcPct val="105000"/>
              </a:lnSpc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zh-CN" altLang="en-US" sz="2500" b="1" dirty="0">
                <a:ea typeface="楷体_GB2312" pitchFamily="49" charset="-122"/>
              </a:rPr>
              <a:t>向</a:t>
            </a:r>
            <a:r>
              <a:rPr lang="en-US" altLang="zh-CN" sz="2500" b="1" dirty="0">
                <a:solidFill>
                  <a:srgbClr val="000000"/>
                </a:solidFill>
                <a:ea typeface="楷体_GB2312" pitchFamily="49" charset="-122"/>
              </a:rPr>
              <a:t>Ag(CH</a:t>
            </a:r>
            <a:r>
              <a:rPr lang="en-US" altLang="zh-CN" sz="2500" b="1" baseline="-25000" dirty="0">
                <a:solidFill>
                  <a:srgbClr val="000000"/>
                </a:solidFill>
                <a:ea typeface="楷体_GB2312" pitchFamily="49" charset="-122"/>
              </a:rPr>
              <a:t>3</a:t>
            </a:r>
            <a:r>
              <a:rPr lang="en-US" altLang="zh-CN" sz="2500" b="1" dirty="0">
                <a:solidFill>
                  <a:srgbClr val="000000"/>
                </a:solidFill>
                <a:ea typeface="楷体_GB2312" pitchFamily="49" charset="-122"/>
              </a:rPr>
              <a:t>COO)</a:t>
            </a:r>
            <a:r>
              <a:rPr lang="zh-CN" altLang="en-US" sz="2500" b="1" dirty="0">
                <a:solidFill>
                  <a:srgbClr val="000000"/>
                </a:solidFill>
                <a:ea typeface="楷体_GB2312" pitchFamily="49" charset="-122"/>
              </a:rPr>
              <a:t>的饱和溶液中加入</a:t>
            </a:r>
            <a:r>
              <a:rPr lang="en-US" altLang="zh-CN" sz="2500" b="1" dirty="0">
                <a:solidFill>
                  <a:srgbClr val="000000"/>
                </a:solidFill>
                <a:ea typeface="楷体_GB2312" pitchFamily="49" charset="-122"/>
              </a:rPr>
              <a:t>AgNO</a:t>
            </a:r>
            <a:r>
              <a:rPr lang="en-US" altLang="zh-CN" sz="2500" b="1" baseline="-25000" dirty="0">
                <a:solidFill>
                  <a:srgbClr val="000000"/>
                </a:solidFill>
                <a:ea typeface="楷体_GB2312" pitchFamily="49" charset="-122"/>
              </a:rPr>
              <a:t>3</a:t>
            </a:r>
            <a:r>
              <a:rPr lang="zh-CN" altLang="en-US" sz="2500" b="1" dirty="0">
                <a:solidFill>
                  <a:srgbClr val="000000"/>
                </a:solidFill>
                <a:ea typeface="楷体_GB2312" pitchFamily="49" charset="-122"/>
              </a:rPr>
              <a:t>溶液</a:t>
            </a:r>
            <a:r>
              <a:rPr lang="en-US" altLang="zh-CN" sz="2500" b="1" dirty="0">
                <a:solidFill>
                  <a:srgbClr val="000000"/>
                </a:solidFill>
                <a:ea typeface="楷体_GB2312" pitchFamily="49" charset="-122"/>
              </a:rPr>
              <a:t>,</a:t>
            </a:r>
            <a:r>
              <a:rPr lang="zh-CN" altLang="en-US" sz="2500" b="1" dirty="0">
                <a:solidFill>
                  <a:srgbClr val="000000"/>
                </a:solidFill>
                <a:ea typeface="楷体_GB2312" pitchFamily="49" charset="-122"/>
              </a:rPr>
              <a:t>沉淀会增多</a:t>
            </a:r>
            <a:r>
              <a:rPr lang="en-US" altLang="zh-CN" sz="2500" b="1" dirty="0">
                <a:solidFill>
                  <a:srgbClr val="000000"/>
                </a:solidFill>
                <a:ea typeface="楷体_GB2312" pitchFamily="49" charset="-122"/>
              </a:rPr>
              <a:t>.</a:t>
            </a: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746125" y="1049338"/>
            <a:ext cx="5132388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1.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同离子效应与沉淀完全的标准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18442" name="文本框 4"/>
          <p:cNvSpPr txBox="1">
            <a:spLocks noChangeArrowheads="1"/>
          </p:cNvSpPr>
          <p:nvPr/>
        </p:nvSpPr>
        <p:spPr bwMode="auto">
          <a:xfrm>
            <a:off x="3617897" y="3672000"/>
            <a:ext cx="614271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500" b="1" dirty="0" smtClean="0">
                <a:ea typeface="楷体" pitchFamily="49" charset="-122"/>
                <a:hlinkClick r:id="rId6" action="ppaction://hlinkpres?slideindex=4&amp;slidetitle=幻灯片 4"/>
              </a:rPr>
              <a:t>解</a:t>
            </a:r>
            <a:r>
              <a:rPr lang="en-US" altLang="zh-CN" sz="2500" b="1" dirty="0" smtClean="0">
                <a:ea typeface="楷体" pitchFamily="49" charset="-122"/>
              </a:rPr>
              <a:t>:</a:t>
            </a:r>
            <a:endParaRPr lang="en-US" altLang="zh-CN" sz="2500" b="1" dirty="0">
              <a:ea typeface="楷体" pitchFamily="49" charset="-122"/>
            </a:endParaRPr>
          </a:p>
        </p:txBody>
      </p:sp>
      <p:sp>
        <p:nvSpPr>
          <p:cNvPr id="11271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1272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98328" name="矩形 98327"/>
          <p:cNvSpPr/>
          <p:nvPr/>
        </p:nvSpPr>
        <p:spPr>
          <a:xfrm>
            <a:off x="4475152" y="3672000"/>
            <a:ext cx="5677824" cy="4962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05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500" b="1" noProof="1">
                <a:solidFill>
                  <a:srgbClr val="FF00FF"/>
                </a:solidFill>
                <a:effectLst>
                  <a:outerShdw blurRad="38100" dist="38100" dir="2700000">
                    <a:srgbClr val="000000"/>
                  </a:outerShdw>
                </a:effectLst>
                <a:ea typeface="楷体_GB2312" panose="02010609030101010101" pitchFamily="49" charset="-122"/>
                <a:cs typeface="+mn-ea"/>
              </a:rPr>
              <a:t>结论</a:t>
            </a:r>
            <a:r>
              <a:rPr lang="en-US" altLang="zh-CN" sz="2500" b="1" noProof="1" smtClean="0">
                <a:solidFill>
                  <a:srgbClr val="FF00FF"/>
                </a:solidFill>
                <a:effectLst>
                  <a:outerShdw blurRad="38100" dist="38100" dir="2700000">
                    <a:srgbClr val="000000"/>
                  </a:outerShdw>
                </a:effectLst>
                <a:ea typeface="楷体_GB2312" panose="02010609030101010101" pitchFamily="49" charset="-122"/>
                <a:cs typeface="+mn-ea"/>
              </a:rPr>
              <a:t>:</a:t>
            </a:r>
            <a:r>
              <a:rPr lang="zh-CN" altLang="en-US" sz="2500" b="1" noProof="1" smtClean="0">
                <a:solidFill>
                  <a:srgbClr val="FF00FF"/>
                </a:solidFill>
                <a:effectLst>
                  <a:outerShdw blurRad="38100" dist="38100" dir="2700000">
                    <a:srgbClr val="000000"/>
                  </a:outerShdw>
                </a:effectLst>
                <a:ea typeface="楷体_GB2312" panose="02010609030101010101" pitchFamily="49" charset="-122"/>
                <a:cs typeface="+mn-ea"/>
              </a:rPr>
              <a:t>同离子效应可减少溶解损失</a:t>
            </a:r>
            <a:endParaRPr lang="en-US" altLang="zh-CN" sz="2500" b="1" noProof="1">
              <a:solidFill>
                <a:srgbClr val="FF00FF"/>
              </a:solidFill>
              <a:effectLst>
                <a:outerShdw blurRad="38100" dist="38100" dir="2700000">
                  <a:srgbClr val="000000"/>
                </a:outerShdw>
              </a:effectLst>
              <a:ea typeface="楷体_GB2312" panose="02010609030101010101" pitchFamily="49" charset="-122"/>
            </a:endParaRPr>
          </a:p>
        </p:txBody>
      </p:sp>
      <p:sp>
        <p:nvSpPr>
          <p:cNvPr id="98332" name="矩形 98331"/>
          <p:cNvSpPr>
            <a:spLocks noChangeArrowheads="1"/>
          </p:cNvSpPr>
          <p:nvPr/>
        </p:nvSpPr>
        <p:spPr bwMode="auto">
          <a:xfrm>
            <a:off x="3933260" y="4320072"/>
            <a:ext cx="7072362" cy="4962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05000"/>
              </a:lnSpc>
              <a:buFont typeface="Arial" charset="0"/>
              <a:buNone/>
            </a:pPr>
            <a:r>
              <a:rPr lang="zh-CN" altLang="en-US" sz="2500" b="1" dirty="0">
                <a:ea typeface="楷体_GB2312" pitchFamily="49" charset="-122"/>
              </a:rPr>
              <a:t>称量分析中的沉淀法</a:t>
            </a:r>
            <a:r>
              <a:rPr lang="en-US" altLang="zh-CN" sz="2500" b="1" dirty="0">
                <a:ea typeface="楷体_GB2312" pitchFamily="49" charset="-122"/>
              </a:rPr>
              <a:t>, </a:t>
            </a:r>
            <a:r>
              <a:rPr lang="zh-CN" altLang="en-US" sz="2500" b="1" dirty="0">
                <a:ea typeface="楷体_GB2312" pitchFamily="49" charset="-122"/>
              </a:rPr>
              <a:t>一般要求溶解损失</a:t>
            </a:r>
            <a:r>
              <a:rPr lang="en-US" altLang="zh-CN" sz="2500" b="1" dirty="0">
                <a:ea typeface="楷体_GB2312" pitchFamily="49" charset="-122"/>
              </a:rPr>
              <a:t>&lt; 0.2mg.</a:t>
            </a:r>
          </a:p>
        </p:txBody>
      </p:sp>
      <p:sp>
        <p:nvSpPr>
          <p:cNvPr id="13" name="矩形 12"/>
          <p:cNvSpPr/>
          <p:nvPr/>
        </p:nvSpPr>
        <p:spPr>
          <a:xfrm>
            <a:off x="3571899" y="2435950"/>
            <a:ext cx="7761302" cy="130420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05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500" b="1" noProof="1" smtClean="0">
                <a:latin typeface="+mn-lt"/>
                <a:ea typeface="楷体_GB2312" pitchFamily="49" charset="-122"/>
                <a:cs typeface="+mn-ea"/>
                <a:sym typeface="+mn-ea"/>
              </a:rPr>
              <a:t>例</a:t>
            </a:r>
            <a:r>
              <a:rPr lang="en-US" altLang="zh-CN" sz="2500" b="1" noProof="1" smtClean="0">
                <a:latin typeface="+mn-lt"/>
                <a:ea typeface="楷体_GB2312" pitchFamily="49" charset="-122"/>
                <a:cs typeface="+mn-ea"/>
                <a:sym typeface="+mn-ea"/>
              </a:rPr>
              <a:t>4.</a:t>
            </a:r>
            <a:r>
              <a:rPr lang="zh-CN" altLang="en-US" sz="2500" b="1" noProof="1" smtClean="0">
                <a:latin typeface="+mn-lt"/>
                <a:ea typeface="楷体_GB2312" pitchFamily="49" charset="-122"/>
                <a:cs typeface="+mn-ea"/>
                <a:sym typeface="+mn-ea"/>
              </a:rPr>
              <a:t>已知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  <a:sym typeface="+mn-ea"/>
              </a:rPr>
              <a:t>BaSO</a:t>
            </a:r>
            <a:r>
              <a:rPr lang="en-US" altLang="zh-CN" sz="2500" b="1" baseline="-25000" noProof="1">
                <a:latin typeface="+mn-lt"/>
                <a:ea typeface="楷体_GB2312" pitchFamily="49" charset="-122"/>
                <a:cs typeface="+mn-ea"/>
                <a:sym typeface="+mn-ea"/>
              </a:rPr>
              <a:t>4 </a:t>
            </a:r>
            <a:r>
              <a:rPr lang="zh-CN" altLang="en-US" sz="2500" b="1" noProof="1">
                <a:latin typeface="+mn-lt"/>
                <a:ea typeface="楷体_GB2312" pitchFamily="49" charset="-122"/>
                <a:cs typeface="+mn-ea"/>
                <a:sym typeface="+mn-ea"/>
              </a:rPr>
              <a:t>的</a:t>
            </a:r>
            <a:r>
              <a:rPr lang="en-US" altLang="zh-CN" sz="2500" b="1" i="1" noProof="1">
                <a:latin typeface="+mn-lt"/>
                <a:ea typeface="楷体_GB2312" pitchFamily="49" charset="-122"/>
                <a:cs typeface="+mn-ea"/>
                <a:sym typeface="+mn-ea"/>
              </a:rPr>
              <a:t>K</a:t>
            </a:r>
            <a:r>
              <a:rPr lang="en-US" altLang="zh-CN" sz="1600" b="1" baseline="100000" noProof="1">
                <a:latin typeface="+mn-lt"/>
                <a:ea typeface="楷体_GB2312" pitchFamily="49" charset="-122"/>
                <a:cs typeface="+mn-ea"/>
                <a:sym typeface="Webdings" panose="05030102010509060703" pitchFamily="18" charset="2"/>
              </a:rPr>
              <a:t></a:t>
            </a:r>
            <a:r>
              <a:rPr lang="en-US" altLang="zh-CN" sz="2500" b="1" baseline="-25000" noProof="1">
                <a:latin typeface="+mn-lt"/>
                <a:ea typeface="楷体_GB2312" pitchFamily="49" charset="-122"/>
                <a:cs typeface="+mn-ea"/>
                <a:sym typeface="Webdings" panose="05030102010509060703" pitchFamily="18" charset="2"/>
              </a:rPr>
              <a:t>sp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  <a:sym typeface="+mn-ea"/>
              </a:rPr>
              <a:t>= 1.07×10</a:t>
            </a:r>
            <a:r>
              <a:rPr lang="en-US" altLang="zh-CN" sz="2500" b="1" baseline="30000" noProof="1">
                <a:latin typeface="+mn-lt"/>
                <a:ea typeface="楷体_GB2312" pitchFamily="49" charset="-122"/>
                <a:cs typeface="+mn-ea"/>
                <a:sym typeface="+mn-ea"/>
              </a:rPr>
              <a:t>-10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  <a:sym typeface="+mn-ea"/>
              </a:rPr>
              <a:t>. </a:t>
            </a:r>
            <a:r>
              <a:rPr lang="zh-CN" altLang="en-US" sz="2500" b="1" noProof="1">
                <a:latin typeface="+mn-lt"/>
                <a:ea typeface="楷体_GB2312" pitchFamily="49" charset="-122"/>
                <a:cs typeface="+mn-ea"/>
                <a:sym typeface="+mn-ea"/>
              </a:rPr>
              <a:t>试比较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  <a:sym typeface="+mn-ea"/>
              </a:rPr>
              <a:t>BaSO</a:t>
            </a:r>
            <a:r>
              <a:rPr lang="en-US" altLang="zh-CN" sz="2500" b="1" baseline="-25000" noProof="1">
                <a:latin typeface="+mn-lt"/>
                <a:ea typeface="楷体_GB2312" pitchFamily="49" charset="-122"/>
                <a:cs typeface="+mn-ea"/>
                <a:sym typeface="+mn-ea"/>
              </a:rPr>
              <a:t>4</a:t>
            </a:r>
            <a:r>
              <a:rPr lang="zh-CN" altLang="en-US" sz="2500" b="1" noProof="1">
                <a:latin typeface="+mn-lt"/>
                <a:ea typeface="楷体_GB2312" pitchFamily="49" charset="-122"/>
                <a:cs typeface="+mn-ea"/>
                <a:sym typeface="+mn-ea"/>
              </a:rPr>
              <a:t>在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  <a:sym typeface="+mn-ea"/>
              </a:rPr>
              <a:t>250 mL</a:t>
            </a:r>
            <a:r>
              <a:rPr lang="zh-CN" altLang="en-US" sz="2500" b="1" noProof="1">
                <a:latin typeface="+mn-lt"/>
                <a:ea typeface="楷体_GB2312" pitchFamily="49" charset="-122"/>
                <a:cs typeface="+mn-ea"/>
                <a:sym typeface="+mn-ea"/>
              </a:rPr>
              <a:t>纯水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  <a:sym typeface="+mn-ea"/>
              </a:rPr>
              <a:t>,</a:t>
            </a:r>
            <a:r>
              <a:rPr lang="zh-CN" altLang="en-US" sz="2500" b="1" noProof="1">
                <a:latin typeface="+mn-lt"/>
                <a:ea typeface="楷体_GB2312" pitchFamily="49" charset="-122"/>
                <a:cs typeface="+mn-ea"/>
                <a:sym typeface="+mn-ea"/>
              </a:rPr>
              <a:t>以及在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  <a:sym typeface="+mn-ea"/>
              </a:rPr>
              <a:t>250mL [SO</a:t>
            </a:r>
            <a:r>
              <a:rPr lang="en-US" altLang="zh-CN" sz="2500" b="1" baseline="-25000" noProof="1">
                <a:latin typeface="+mn-lt"/>
                <a:ea typeface="楷体_GB2312" pitchFamily="49" charset="-122"/>
                <a:cs typeface="+mn-ea"/>
                <a:sym typeface="+mn-ea"/>
              </a:rPr>
              <a:t>4</a:t>
            </a:r>
            <a:r>
              <a:rPr lang="en-US" altLang="zh-CN" sz="2500" b="1" baseline="30000" noProof="1">
                <a:latin typeface="+mn-lt"/>
                <a:ea typeface="楷体_GB2312" pitchFamily="49" charset="-122"/>
                <a:cs typeface="+mn-ea"/>
                <a:sym typeface="+mn-ea"/>
              </a:rPr>
              <a:t>2-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  <a:sym typeface="+mn-ea"/>
              </a:rPr>
              <a:t>] = 0.010 mol·L</a:t>
            </a:r>
            <a:r>
              <a:rPr lang="en-US" altLang="zh-CN" sz="2500" b="1" baseline="30000" noProof="1">
                <a:latin typeface="+mn-lt"/>
                <a:ea typeface="楷体_GB2312" pitchFamily="49" charset="-122"/>
                <a:cs typeface="+mn-ea"/>
                <a:sym typeface="+mn-ea"/>
              </a:rPr>
              <a:t>-1</a:t>
            </a:r>
            <a:r>
              <a:rPr lang="zh-CN" altLang="en-US" sz="2500" b="1" noProof="1">
                <a:latin typeface="+mn-lt"/>
                <a:ea typeface="楷体_GB2312" pitchFamily="49" charset="-122"/>
                <a:cs typeface="+mn-ea"/>
                <a:sym typeface="+mn-ea"/>
              </a:rPr>
              <a:t>溶液中的溶解损失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  <a:sym typeface="+mn-ea"/>
              </a:rPr>
              <a:t>.</a:t>
            </a:r>
            <a:endParaRPr lang="zh-CN" altLang="en-US" sz="2500" b="1" noProof="1">
              <a:latin typeface="+mn-lt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8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8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/>
      <p:bldP spid="18442" grpId="0"/>
      <p:bldP spid="98328" grpId="0"/>
      <p:bldP spid="98332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文本框 149505"/>
          <p:cNvSpPr txBox="1">
            <a:spLocks noChangeArrowheads="1"/>
          </p:cNvSpPr>
          <p:nvPr/>
        </p:nvSpPr>
        <p:spPr bwMode="auto">
          <a:xfrm>
            <a:off x="1065237" y="1525575"/>
            <a:ext cx="8196262" cy="332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05000"/>
              </a:lnSpc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①</a:t>
            </a:r>
            <a:r>
              <a:rPr lang="zh-CN" altLang="en-US" sz="2500" b="1" dirty="0">
                <a:solidFill>
                  <a:srgbClr val="0000FF"/>
                </a:solidFill>
                <a:ea typeface="楷体_GB2312" pitchFamily="49" charset="-122"/>
              </a:rPr>
              <a:t>沉淀时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  <a:p>
            <a:pPr eaLnBrk="1" hangingPunct="1">
              <a:lnSpc>
                <a:spcPct val="105000"/>
              </a:lnSpc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zh-CN" altLang="en-US" sz="2500" b="1" dirty="0">
                <a:ea typeface="楷体_GB2312" pitchFamily="49" charset="-122"/>
              </a:rPr>
              <a:t>一般的沉淀分离或制备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  <a:r>
              <a:rPr lang="zh-CN" altLang="en-US" sz="2500" b="1" dirty="0">
                <a:ea typeface="楷体_GB2312" pitchFamily="49" charset="-122"/>
              </a:rPr>
              <a:t>过量</a:t>
            </a:r>
            <a:r>
              <a:rPr lang="en-US" altLang="zh-CN" sz="2500" b="1" dirty="0">
                <a:ea typeface="楷体_GB2312" pitchFamily="49" charset="-122"/>
              </a:rPr>
              <a:t>20 ~ 50%;</a:t>
            </a:r>
          </a:p>
          <a:p>
            <a:pPr eaLnBrk="1" hangingPunct="1">
              <a:lnSpc>
                <a:spcPct val="105000"/>
              </a:lnSpc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zh-CN" altLang="en-US" sz="2500" b="1" dirty="0">
                <a:ea typeface="楷体_GB2312" pitchFamily="49" charset="-122"/>
              </a:rPr>
              <a:t>沉淀法称量分析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  <a:r>
              <a:rPr lang="zh-CN" altLang="en-US" sz="2500" b="1" dirty="0">
                <a:ea typeface="楷体_GB2312" pitchFamily="49" charset="-122"/>
              </a:rPr>
              <a:t>沉淀剂不易挥发</a:t>
            </a:r>
            <a:r>
              <a:rPr lang="en-US" altLang="zh-CN" sz="2500" b="1" dirty="0">
                <a:ea typeface="楷体_GB2312" pitchFamily="49" charset="-122"/>
              </a:rPr>
              <a:t>, </a:t>
            </a:r>
            <a:r>
              <a:rPr lang="zh-CN" altLang="en-US" sz="2500" b="1" dirty="0">
                <a:ea typeface="楷体_GB2312" pitchFamily="49" charset="-122"/>
              </a:rPr>
              <a:t>过量</a:t>
            </a:r>
            <a:r>
              <a:rPr lang="en-US" altLang="zh-CN" sz="2500" b="1" dirty="0">
                <a:ea typeface="楷体_GB2312" pitchFamily="49" charset="-122"/>
              </a:rPr>
              <a:t>20 ~ 30%;</a:t>
            </a:r>
          </a:p>
          <a:p>
            <a:pPr eaLnBrk="1" hangingPunct="1">
              <a:lnSpc>
                <a:spcPct val="105000"/>
              </a:lnSpc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</a:rPr>
              <a:t>                                                  </a:t>
            </a:r>
            <a:r>
              <a:rPr lang="zh-CN" altLang="en-US" sz="2500" b="1" dirty="0">
                <a:ea typeface="楷体_GB2312" pitchFamily="49" charset="-122"/>
              </a:rPr>
              <a:t>易挥发</a:t>
            </a:r>
            <a:r>
              <a:rPr lang="en-US" altLang="zh-CN" sz="2500" b="1" dirty="0">
                <a:ea typeface="楷体_GB2312" pitchFamily="49" charset="-122"/>
              </a:rPr>
              <a:t>, </a:t>
            </a:r>
            <a:r>
              <a:rPr lang="zh-CN" altLang="en-US" sz="2500" b="1" dirty="0">
                <a:ea typeface="楷体_GB2312" pitchFamily="49" charset="-122"/>
              </a:rPr>
              <a:t>过量</a:t>
            </a:r>
            <a:r>
              <a:rPr lang="en-US" altLang="zh-CN" sz="2500" b="1" dirty="0">
                <a:ea typeface="楷体_GB2312" pitchFamily="49" charset="-122"/>
              </a:rPr>
              <a:t>50 ~ 100</a:t>
            </a:r>
            <a:r>
              <a:rPr lang="en-US" altLang="zh-CN" sz="2500" b="1" dirty="0" smtClean="0">
                <a:ea typeface="楷体_GB2312" pitchFamily="49" charset="-122"/>
              </a:rPr>
              <a:t>%.</a:t>
            </a:r>
          </a:p>
          <a:p>
            <a:pPr eaLnBrk="1" hangingPunct="1">
              <a:lnSpc>
                <a:spcPct val="105000"/>
              </a:lnSpc>
              <a:buFont typeface="Arial" charset="0"/>
              <a:buNone/>
            </a:pPr>
            <a:endParaRPr lang="en-US" altLang="zh-CN" sz="2500" b="1" dirty="0">
              <a:ea typeface="楷体_GB2312" pitchFamily="49" charset="-122"/>
            </a:endParaRPr>
          </a:p>
          <a:p>
            <a:pPr eaLnBrk="1" hangingPunct="1">
              <a:lnSpc>
                <a:spcPct val="105000"/>
              </a:lnSpc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②</a:t>
            </a:r>
            <a:r>
              <a:rPr lang="zh-CN" altLang="en-US" sz="2500" b="1" dirty="0">
                <a:solidFill>
                  <a:srgbClr val="0000FF"/>
                </a:solidFill>
                <a:ea typeface="楷体_GB2312" pitchFamily="49" charset="-122"/>
                <a:sym typeface="Monotype Sorts" pitchFamily="2" charset="2"/>
              </a:rPr>
              <a:t>洗涤</a:t>
            </a:r>
            <a:r>
              <a:rPr lang="zh-CN" altLang="en-US" sz="2500" b="1" dirty="0" smtClean="0">
                <a:solidFill>
                  <a:srgbClr val="0000FF"/>
                </a:solidFill>
                <a:ea typeface="楷体_GB2312" pitchFamily="49" charset="-122"/>
                <a:sym typeface="Monotype Sorts" pitchFamily="2" charset="2"/>
              </a:rPr>
              <a:t>时（清洗沉淀，除去沉淀中的可溶性杂质）</a:t>
            </a:r>
            <a:r>
              <a:rPr lang="en-US" altLang="zh-CN" sz="2500" b="1" dirty="0" smtClean="0">
                <a:ea typeface="楷体_GB2312" pitchFamily="49" charset="-122"/>
                <a:sym typeface="Monotype Sorts" pitchFamily="2" charset="2"/>
              </a:rPr>
              <a:t>.</a:t>
            </a:r>
            <a:endParaRPr lang="en-US" altLang="zh-CN" sz="2500" b="1" dirty="0">
              <a:ea typeface="楷体_GB2312" pitchFamily="49" charset="-122"/>
              <a:sym typeface="Monotype Sorts" pitchFamily="2" charset="2"/>
            </a:endParaRPr>
          </a:p>
          <a:p>
            <a:pPr eaLnBrk="1" hangingPunct="1">
              <a:lnSpc>
                <a:spcPct val="105000"/>
              </a:lnSpc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        </a:t>
            </a:r>
            <a:r>
              <a:rPr lang="zh-CN" altLang="en-US" sz="2500" b="1" dirty="0">
                <a:ea typeface="楷体_GB2312" pitchFamily="49" charset="-122"/>
                <a:sym typeface="Monotype Sorts" pitchFamily="2" charset="2"/>
              </a:rPr>
              <a:t>如</a:t>
            </a:r>
            <a:r>
              <a:rPr lang="en-US" altLang="zh-CN" sz="2500" b="1" dirty="0">
                <a:ea typeface="楷体_GB2312" pitchFamily="49" charset="-122"/>
              </a:rPr>
              <a:t>BaSO</a:t>
            </a:r>
            <a:r>
              <a:rPr lang="en-US" altLang="zh-CN" sz="2500" b="1" baseline="-25000" dirty="0">
                <a:ea typeface="楷体_GB2312" pitchFamily="49" charset="-122"/>
              </a:rPr>
              <a:t>4</a:t>
            </a:r>
            <a:r>
              <a:rPr lang="en-US" altLang="zh-CN" sz="2500" b="1" dirty="0">
                <a:ea typeface="楷体_GB2312" pitchFamily="49" charset="-122"/>
              </a:rPr>
              <a:t>, </a:t>
            </a:r>
            <a:r>
              <a:rPr lang="zh-CN" altLang="en-US" sz="2500" b="1" dirty="0">
                <a:ea typeface="楷体_GB2312" pitchFamily="49" charset="-122"/>
              </a:rPr>
              <a:t>若用</a:t>
            </a:r>
            <a:r>
              <a:rPr lang="en-US" altLang="zh-CN" sz="2500" b="1" dirty="0">
                <a:ea typeface="楷体_GB2312" pitchFamily="49" charset="-122"/>
              </a:rPr>
              <a:t>250 mL</a:t>
            </a:r>
            <a:r>
              <a:rPr lang="zh-CN" altLang="en-US" sz="2500" b="1" dirty="0">
                <a:ea typeface="楷体_GB2312" pitchFamily="49" charset="-122"/>
              </a:rPr>
              <a:t>纯水分五次洗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  <a:p>
            <a:pPr eaLnBrk="1" hangingPunct="1">
              <a:lnSpc>
                <a:spcPct val="105000"/>
              </a:lnSpc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zh-CN" altLang="en-US" sz="2500" b="1" dirty="0">
                <a:ea typeface="楷体_GB2312" pitchFamily="49" charset="-122"/>
              </a:rPr>
              <a:t>一般可先用稀沉淀剂洗</a:t>
            </a:r>
            <a:r>
              <a:rPr lang="en-US" altLang="zh-CN" sz="2500" b="1" dirty="0">
                <a:ea typeface="楷体_GB2312" pitchFamily="49" charset="-122"/>
              </a:rPr>
              <a:t>, </a:t>
            </a:r>
            <a:r>
              <a:rPr lang="zh-CN" altLang="en-US" sz="2500" b="1" dirty="0">
                <a:ea typeface="楷体_GB2312" pitchFamily="49" charset="-122"/>
              </a:rPr>
              <a:t>然后再用纯水洗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  <a:r>
              <a:rPr lang="zh-CN" altLang="en-US" sz="2500" b="1" dirty="0">
                <a:ea typeface="楷体_GB2312" pitchFamily="49" charset="-122"/>
                <a:sym typeface="Monotype Sorts" pitchFamily="2" charset="2"/>
              </a:rPr>
              <a:t>        </a:t>
            </a:r>
          </a:p>
        </p:txBody>
      </p:sp>
      <p:sp>
        <p:nvSpPr>
          <p:cNvPr id="149509" name="矩形 149508"/>
          <p:cNvSpPr>
            <a:spLocks noChangeArrowheads="1"/>
          </p:cNvSpPr>
          <p:nvPr/>
        </p:nvSpPr>
        <p:spPr bwMode="auto">
          <a:xfrm>
            <a:off x="719138" y="1079500"/>
            <a:ext cx="2922595" cy="4962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lnSpc>
                <a:spcPct val="105000"/>
              </a:lnSpc>
              <a:buFont typeface="Arial" charset="0"/>
              <a:buNone/>
            </a:pP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(2</a:t>
            </a:r>
            <a:r>
              <a:rPr lang="en-US" altLang="zh-CN" sz="2500" b="1" dirty="0" smtClean="0">
                <a:solidFill>
                  <a:srgbClr val="FF3300"/>
                </a:solidFill>
                <a:ea typeface="楷体_GB2312" pitchFamily="49" charset="-122"/>
              </a:rPr>
              <a:t>)</a:t>
            </a:r>
            <a:r>
              <a:rPr lang="zh-CN" altLang="en-US" sz="2500" b="1" dirty="0" smtClean="0">
                <a:solidFill>
                  <a:srgbClr val="FF3300"/>
                </a:solidFill>
                <a:ea typeface="楷体_GB2312" pitchFamily="49" charset="-122"/>
              </a:rPr>
              <a:t>同离子效应应用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12293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2294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641733" y="1063910"/>
            <a:ext cx="5109091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  <a:ea typeface="楷体_GB2312" panose="02010609030101010101"/>
              </a:rPr>
              <a:t>加入过量沉淀剂减少沉淀的溶解损失</a:t>
            </a:r>
            <a:endParaRPr lang="zh-CN" altLang="en-US" sz="2400" b="1" dirty="0">
              <a:solidFill>
                <a:srgbClr val="FF0000"/>
              </a:solidFill>
              <a:ea typeface="楷体_GB2312" panose="02010609030101010101"/>
            </a:endParaRPr>
          </a:p>
        </p:txBody>
      </p:sp>
      <p:sp>
        <p:nvSpPr>
          <p:cNvPr id="8" name="文本框 68635"/>
          <p:cNvSpPr txBox="1">
            <a:spLocks noChangeArrowheads="1"/>
          </p:cNvSpPr>
          <p:nvPr/>
        </p:nvSpPr>
        <p:spPr bwMode="auto">
          <a:xfrm>
            <a:off x="251619" y="210132"/>
            <a:ext cx="8612519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200" b="1" dirty="0">
                <a:solidFill>
                  <a:srgbClr val="FF3300"/>
                </a:solidFill>
                <a:ea typeface="黑体" pitchFamily="49" charset="-122"/>
              </a:rPr>
              <a:t>4.1.2 影响沉淀-溶解平衡的主要</a:t>
            </a:r>
            <a:r>
              <a:rPr lang="zh-CN" altLang="en-US" sz="2200" b="1" dirty="0" smtClean="0">
                <a:solidFill>
                  <a:srgbClr val="FF3300"/>
                </a:solidFill>
                <a:ea typeface="黑体" pitchFamily="49" charset="-122"/>
              </a:rPr>
              <a:t>因素（重点：同离子与酸度影响）</a:t>
            </a:r>
            <a:endParaRPr lang="zh-CN" altLang="en-US" sz="2200" b="1" dirty="0">
              <a:solidFill>
                <a:srgbClr val="FF3300"/>
              </a:solidFill>
              <a:ea typeface="黑体" pitchFamily="49" charset="-12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9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9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9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9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9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495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495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495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06" grpId="0" build="p"/>
      <p:bldP spid="149509" grpId="0"/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矩形 150529"/>
          <p:cNvSpPr>
            <a:spLocks noChangeArrowheads="1"/>
          </p:cNvSpPr>
          <p:nvPr/>
        </p:nvSpPr>
        <p:spPr bwMode="auto">
          <a:xfrm>
            <a:off x="719138" y="1346200"/>
            <a:ext cx="8174037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05000"/>
              </a:lnSpc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zh-CN" altLang="en-US" sz="2500" b="1" dirty="0">
                <a:ea typeface="楷体_GB2312" pitchFamily="49" charset="-122"/>
              </a:rPr>
              <a:t>一般的</a:t>
            </a:r>
            <a:r>
              <a:rPr lang="zh-CN" altLang="en-US" sz="2500" b="1" dirty="0">
                <a:solidFill>
                  <a:srgbClr val="0000FF"/>
                </a:solidFill>
                <a:ea typeface="楷体_GB2312" pitchFamily="49" charset="-122"/>
              </a:rPr>
              <a:t>沉淀分离或制备</a:t>
            </a:r>
            <a:r>
              <a:rPr lang="en-US" altLang="zh-CN" sz="2500" b="1" dirty="0">
                <a:ea typeface="楷体_GB2312" pitchFamily="49" charset="-122"/>
              </a:rPr>
              <a:t>, </a:t>
            </a:r>
            <a:r>
              <a:rPr lang="zh-CN" altLang="en-US" sz="2500" b="1" dirty="0">
                <a:ea typeface="楷体_GB2312" pitchFamily="49" charset="-122"/>
              </a:rPr>
              <a:t>以及</a:t>
            </a:r>
            <a:r>
              <a:rPr lang="zh-CN" altLang="en-US" sz="2500" b="1" dirty="0">
                <a:solidFill>
                  <a:srgbClr val="0000FF"/>
                </a:solidFill>
                <a:ea typeface="楷体_GB2312" pitchFamily="49" charset="-122"/>
              </a:rPr>
              <a:t>定性分析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  <a:endParaRPr lang="en-US" altLang="zh-CN" sz="2500" b="1" dirty="0">
              <a:solidFill>
                <a:srgbClr val="0000FF"/>
              </a:solidFill>
              <a:ea typeface="楷体_GB2312" pitchFamily="49" charset="-122"/>
            </a:endParaRPr>
          </a:p>
        </p:txBody>
      </p:sp>
      <p:sp>
        <p:nvSpPr>
          <p:cNvPr id="150531" name="矩形 150530"/>
          <p:cNvSpPr>
            <a:spLocks noChangeArrowheads="1"/>
          </p:cNvSpPr>
          <p:nvPr/>
        </p:nvSpPr>
        <p:spPr bwMode="auto">
          <a:xfrm>
            <a:off x="2773040" y="2141107"/>
            <a:ext cx="497123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800" b="1" dirty="0" smtClean="0">
                <a:solidFill>
                  <a:srgbClr val="FF0000"/>
                </a:solidFill>
                <a:ea typeface="楷体_GB2312" pitchFamily="49" charset="-122"/>
              </a:rPr>
              <a:t>被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沉淀离子浓度 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&lt; 10</a:t>
            </a:r>
            <a:r>
              <a:rPr lang="en-US" altLang="zh-CN" sz="2800" b="1" baseline="30000" dirty="0">
                <a:solidFill>
                  <a:srgbClr val="FF0000"/>
                </a:solidFill>
                <a:ea typeface="楷体_GB2312" pitchFamily="49" charset="-122"/>
              </a:rPr>
              <a:t>-5 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mol·L</a:t>
            </a:r>
            <a:r>
              <a:rPr lang="en-US" altLang="zh-CN" sz="2800" b="1" baseline="30000" dirty="0">
                <a:solidFill>
                  <a:srgbClr val="FF0000"/>
                </a:solidFill>
                <a:ea typeface="楷体_GB2312" pitchFamily="49" charset="-122"/>
              </a:rPr>
              <a:t>-1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;</a:t>
            </a:r>
          </a:p>
        </p:txBody>
      </p:sp>
      <p:sp>
        <p:nvSpPr>
          <p:cNvPr id="150532" name="矩形 150531"/>
          <p:cNvSpPr>
            <a:spLocks noChangeArrowheads="1"/>
          </p:cNvSpPr>
          <p:nvPr/>
        </p:nvSpPr>
        <p:spPr bwMode="auto">
          <a:xfrm>
            <a:off x="786000" y="3054103"/>
            <a:ext cx="5995987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zh-CN" altLang="en-US" sz="2500" b="1" dirty="0">
                <a:ea typeface="楷体_GB2312" pitchFamily="49" charset="-122"/>
              </a:rPr>
              <a:t>称量分析中的沉淀法 </a:t>
            </a:r>
            <a:r>
              <a:rPr lang="en-US" altLang="zh-CN" sz="2500" b="1" dirty="0">
                <a:ea typeface="楷体_GB2312" pitchFamily="49" charset="-122"/>
              </a:rPr>
              <a:t>(</a:t>
            </a:r>
            <a:r>
              <a:rPr lang="zh-CN" altLang="en-US" sz="2500" b="1" dirty="0">
                <a:solidFill>
                  <a:srgbClr val="0000FF"/>
                </a:solidFill>
                <a:ea typeface="楷体_GB2312" pitchFamily="49" charset="-122"/>
              </a:rPr>
              <a:t>定量沉淀完全</a:t>
            </a:r>
            <a:r>
              <a:rPr lang="en-US" altLang="zh-CN" sz="2500" b="1" dirty="0">
                <a:ea typeface="楷体_GB2312" pitchFamily="49" charset="-122"/>
              </a:rPr>
              <a:t>):</a:t>
            </a:r>
          </a:p>
        </p:txBody>
      </p:sp>
      <p:sp>
        <p:nvSpPr>
          <p:cNvPr id="150533" name="矩形 150532"/>
          <p:cNvSpPr>
            <a:spLocks noChangeArrowheads="1"/>
          </p:cNvSpPr>
          <p:nvPr/>
        </p:nvSpPr>
        <p:spPr bwMode="auto">
          <a:xfrm>
            <a:off x="643732" y="3559524"/>
            <a:ext cx="6589712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500" b="1" dirty="0">
                <a:ea typeface="楷体_GB2312" pitchFamily="49" charset="-122"/>
              </a:rPr>
              <a:t>　　        被沉淀离子浓度 </a:t>
            </a:r>
            <a:r>
              <a:rPr lang="en-US" altLang="zh-CN" sz="2500" b="1" dirty="0">
                <a:ea typeface="楷体_GB2312" pitchFamily="49" charset="-122"/>
              </a:rPr>
              <a:t>&lt; 10</a:t>
            </a:r>
            <a:r>
              <a:rPr lang="en-US" altLang="zh-CN" sz="2500" b="1" baseline="30000" dirty="0">
                <a:ea typeface="楷体_GB2312" pitchFamily="49" charset="-122"/>
              </a:rPr>
              <a:t>-6 </a:t>
            </a:r>
            <a:r>
              <a:rPr lang="en-US" altLang="zh-CN" sz="2500" b="1" dirty="0">
                <a:ea typeface="楷体_GB2312" pitchFamily="49" charset="-122"/>
              </a:rPr>
              <a:t>mol·L</a:t>
            </a:r>
            <a:r>
              <a:rPr lang="en-US" altLang="zh-CN" sz="2500" b="1" baseline="30000" dirty="0">
                <a:ea typeface="楷体_GB2312" pitchFamily="49" charset="-122"/>
              </a:rPr>
              <a:t>-1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150537" name="矩形 150536"/>
          <p:cNvSpPr>
            <a:spLocks noChangeArrowheads="1"/>
          </p:cNvSpPr>
          <p:nvPr/>
        </p:nvSpPr>
        <p:spPr bwMode="auto">
          <a:xfrm>
            <a:off x="1046163" y="879475"/>
            <a:ext cx="2892425" cy="490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eaLnBrk="1" hangingPunct="1">
              <a:lnSpc>
                <a:spcPct val="105000"/>
              </a:lnSpc>
              <a:buFont typeface="Arial" charset="0"/>
              <a:buNone/>
            </a:pP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(3)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沉淀完全的标准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150543" name="矩形 150542"/>
          <p:cNvSpPr>
            <a:spLocks noChangeArrowheads="1"/>
          </p:cNvSpPr>
          <p:nvPr/>
        </p:nvSpPr>
        <p:spPr bwMode="auto">
          <a:xfrm>
            <a:off x="838222" y="4104524"/>
            <a:ext cx="3600450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2.</a:t>
            </a:r>
            <a:r>
              <a:rPr lang="zh-CN" altLang="en-US" sz="2500" b="1" u="sng" dirty="0">
                <a:solidFill>
                  <a:srgbClr val="FF3300"/>
                </a:solidFill>
                <a:ea typeface="楷体_GB2312" pitchFamily="49" charset="-122"/>
              </a:rPr>
              <a:t>酸度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150544" name="矩形 150543"/>
          <p:cNvSpPr>
            <a:spLocks noChangeArrowheads="1"/>
          </p:cNvSpPr>
          <p:nvPr/>
        </p:nvSpPr>
        <p:spPr bwMode="auto">
          <a:xfrm>
            <a:off x="801710" y="4499811"/>
            <a:ext cx="10531491" cy="9002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05000"/>
              </a:lnSpc>
              <a:buFont typeface="Arial" charset="0"/>
              <a:buNone/>
            </a:pPr>
            <a:r>
              <a:rPr lang="zh-CN" altLang="en-US" sz="2500" b="1" dirty="0">
                <a:ea typeface="楷体_GB2312" pitchFamily="49" charset="-122"/>
              </a:rPr>
              <a:t>　　弱酸或多元酸所构成的沉淀以及氢氧化物沉淀等</a:t>
            </a:r>
            <a:r>
              <a:rPr lang="en-US" altLang="zh-CN" sz="2500" b="1" dirty="0">
                <a:ea typeface="楷体_GB2312" pitchFamily="49" charset="-122"/>
              </a:rPr>
              <a:t>, </a:t>
            </a:r>
            <a:r>
              <a:rPr lang="zh-CN" altLang="en-US" sz="2500" b="1" dirty="0">
                <a:ea typeface="楷体_GB2312" pitchFamily="49" charset="-122"/>
              </a:rPr>
              <a:t>可通过控制酸度达到沉淀完全的目的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13324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3325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07" y="1936256"/>
            <a:ext cx="1909468" cy="925912"/>
          </a:xfrm>
          <a:prstGeom prst="rect">
            <a:avLst/>
          </a:prstGeom>
        </p:spPr>
      </p:pic>
      <p:sp>
        <p:nvSpPr>
          <p:cNvPr id="13" name="文本框 68635"/>
          <p:cNvSpPr txBox="1">
            <a:spLocks noChangeArrowheads="1"/>
          </p:cNvSpPr>
          <p:nvPr/>
        </p:nvSpPr>
        <p:spPr bwMode="auto">
          <a:xfrm>
            <a:off x="244475" y="217488"/>
            <a:ext cx="8612519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200" b="1" dirty="0">
                <a:solidFill>
                  <a:srgbClr val="FF3300"/>
                </a:solidFill>
                <a:ea typeface="黑体" pitchFamily="49" charset="-122"/>
              </a:rPr>
              <a:t>4.1.2 影响沉淀-溶解平衡的主要</a:t>
            </a:r>
            <a:r>
              <a:rPr lang="zh-CN" altLang="en-US" sz="2200" b="1" dirty="0" smtClean="0">
                <a:solidFill>
                  <a:srgbClr val="FF3300"/>
                </a:solidFill>
                <a:ea typeface="黑体" pitchFamily="49" charset="-122"/>
              </a:rPr>
              <a:t>因素（重点：同离子与酸度影响）</a:t>
            </a:r>
            <a:endParaRPr lang="zh-CN" altLang="en-US" sz="2200" b="1" dirty="0">
              <a:solidFill>
                <a:srgbClr val="FF3300"/>
              </a:solidFill>
              <a:ea typeface="黑体" pitchFamily="49" charset="-12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50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0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75"/>
                                        <p:tgtEl>
                                          <p:spTgt spid="1505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tar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50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5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75"/>
                                        <p:tgtEl>
                                          <p:spTgt spid="1505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tar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6" dur="500"/>
                                        <p:tgtEl>
                                          <p:spTgt spid="150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505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0" grpId="0" build="p"/>
      <p:bldP spid="150531" grpId="0"/>
      <p:bldP spid="150532" grpId="0"/>
      <p:bldP spid="150533" grpId="0"/>
      <p:bldP spid="150537" grpId="0"/>
      <p:bldP spid="150543" grpId="0"/>
      <p:bldP spid="15054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8" name="文本框 1"/>
          <p:cNvSpPr txBox="1">
            <a:spLocks noChangeArrowheads="1"/>
          </p:cNvSpPr>
          <p:nvPr/>
        </p:nvSpPr>
        <p:spPr bwMode="auto">
          <a:xfrm>
            <a:off x="760377" y="1739889"/>
            <a:ext cx="5966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400" b="1" dirty="0" smtClean="0">
                <a:ea typeface="楷体" pitchFamily="49" charset="-122"/>
                <a:hlinkClick r:id="rId2" action="ppaction://hlinkpres?slideindex=6&amp;slidetitle=幻灯片 6"/>
              </a:rPr>
              <a:t>解</a:t>
            </a:r>
            <a:r>
              <a:rPr lang="en-US" altLang="zh-CN" sz="2400" b="1" dirty="0" smtClean="0">
                <a:ea typeface="楷体" pitchFamily="49" charset="-122"/>
              </a:rPr>
              <a:t>:</a:t>
            </a:r>
            <a:endParaRPr lang="zh-CN" altLang="en-US" sz="2400" b="1" dirty="0">
              <a:ea typeface="楷体" pitchFamily="49" charset="-122"/>
            </a:endParaRPr>
          </a:p>
        </p:txBody>
      </p:sp>
      <p:sp>
        <p:nvSpPr>
          <p:cNvPr id="22539" name="文本框 2"/>
          <p:cNvSpPr txBox="1">
            <a:spLocks noChangeArrowheads="1"/>
          </p:cNvSpPr>
          <p:nvPr/>
        </p:nvSpPr>
        <p:spPr bwMode="auto">
          <a:xfrm>
            <a:off x="760377" y="3097211"/>
            <a:ext cx="614271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500" b="1" dirty="0" smtClean="0">
                <a:latin typeface="+mn-lt"/>
                <a:ea typeface="楷体_GB2312" pitchFamily="49" charset="-122"/>
                <a:hlinkClick r:id="rId3" action="ppaction://hlinkpres?slideindex=9&amp;slidetitle=幻灯片 9"/>
              </a:rPr>
              <a:t>解</a:t>
            </a:r>
            <a:r>
              <a:rPr lang="en-US" altLang="zh-CN" sz="2500" b="1" dirty="0" smtClean="0">
                <a:latin typeface="+mn-lt"/>
                <a:ea typeface="楷体_GB2312" pitchFamily="49" charset="-122"/>
              </a:rPr>
              <a:t>:</a:t>
            </a:r>
            <a:endParaRPr lang="zh-CN" altLang="en-US" sz="2500" b="1" dirty="0">
              <a:latin typeface="+mn-lt"/>
              <a:ea typeface="楷体_GB2312" pitchFamily="49" charset="-122"/>
            </a:endParaRPr>
          </a:p>
        </p:txBody>
      </p:sp>
      <p:sp>
        <p:nvSpPr>
          <p:cNvPr id="13324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3325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688939" y="882633"/>
            <a:ext cx="10356900" cy="90024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05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500" b="1" noProof="1" smtClean="0">
                <a:latin typeface="+mn-lt"/>
                <a:ea typeface="楷体_GB2312" pitchFamily="49" charset="-122"/>
                <a:cs typeface="+mn-ea"/>
              </a:rPr>
              <a:t>例</a:t>
            </a:r>
            <a:r>
              <a:rPr lang="en-US" altLang="zh-CN" sz="2500" b="1" noProof="1" smtClean="0">
                <a:latin typeface="+mn-lt"/>
                <a:ea typeface="楷体_GB2312" pitchFamily="49" charset="-122"/>
                <a:cs typeface="+mn-ea"/>
              </a:rPr>
              <a:t>5.10mL0.10 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</a:rPr>
              <a:t>mol·L</a:t>
            </a:r>
            <a:r>
              <a:rPr lang="en-US" altLang="zh-CN" sz="2500" b="1" baseline="30000" noProof="1">
                <a:latin typeface="+mn-lt"/>
                <a:ea typeface="楷体_GB2312" pitchFamily="49" charset="-122"/>
                <a:cs typeface="+mn-ea"/>
              </a:rPr>
              <a:t>-1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</a:rPr>
              <a:t> MgCl</a:t>
            </a:r>
            <a:r>
              <a:rPr lang="en-US" altLang="zh-CN" sz="2500" b="1" baseline="-25000" noProof="1">
                <a:latin typeface="+mn-lt"/>
                <a:ea typeface="楷体_GB2312" pitchFamily="49" charset="-122"/>
                <a:cs typeface="+mn-ea"/>
              </a:rPr>
              <a:t>2</a:t>
            </a:r>
            <a:r>
              <a:rPr lang="zh-CN" altLang="en-US" sz="2500" b="1" noProof="1">
                <a:latin typeface="+mn-lt"/>
                <a:ea typeface="楷体_GB2312" pitchFamily="49" charset="-122"/>
                <a:cs typeface="+mn-ea"/>
              </a:rPr>
              <a:t>和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</a:rPr>
              <a:t>10mL 0.010 mol·L</a:t>
            </a:r>
            <a:r>
              <a:rPr lang="en-US" altLang="zh-CN" sz="2500" b="1" baseline="30000" noProof="1">
                <a:latin typeface="+mn-lt"/>
                <a:ea typeface="楷体_GB2312" pitchFamily="49" charset="-122"/>
                <a:cs typeface="+mn-ea"/>
              </a:rPr>
              <a:t>-1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</a:rPr>
              <a:t> NH</a:t>
            </a:r>
            <a:r>
              <a:rPr lang="en-US" altLang="zh-CN" sz="2500" b="1" baseline="-25000" noProof="1">
                <a:latin typeface="+mn-lt"/>
                <a:ea typeface="楷体_GB2312" pitchFamily="49" charset="-122"/>
                <a:cs typeface="+mn-ea"/>
              </a:rPr>
              <a:t>3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</a:rPr>
              <a:t>·H</a:t>
            </a:r>
            <a:r>
              <a:rPr lang="en-US" altLang="zh-CN" sz="2500" b="1" baseline="-25000" noProof="1">
                <a:latin typeface="+mn-lt"/>
                <a:ea typeface="楷体_GB2312" pitchFamily="49" charset="-122"/>
                <a:cs typeface="+mn-ea"/>
              </a:rPr>
              <a:t>2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</a:rPr>
              <a:t>O</a:t>
            </a:r>
            <a:r>
              <a:rPr lang="zh-CN" altLang="en-US" sz="2500" b="1" noProof="1">
                <a:latin typeface="+mn-lt"/>
                <a:ea typeface="楷体_GB2312" pitchFamily="49" charset="-122"/>
                <a:cs typeface="+mn-ea"/>
              </a:rPr>
              <a:t>相混合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</a:rPr>
              <a:t>,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  <a:sym typeface="Monotype Sorts" pitchFamily="2" charset="2"/>
              </a:rPr>
              <a:t>①</a:t>
            </a:r>
            <a:r>
              <a:rPr lang="zh-CN" altLang="en-US" sz="2500" b="1" noProof="1">
                <a:latin typeface="+mn-lt"/>
                <a:ea typeface="楷体_GB2312" pitchFamily="49" charset="-122"/>
                <a:cs typeface="+mn-ea"/>
              </a:rPr>
              <a:t>是否有沉淀生成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</a:rPr>
              <a:t>? 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  <a:sym typeface="Monotype Sorts" pitchFamily="2" charset="2"/>
              </a:rPr>
              <a:t>②</a:t>
            </a:r>
            <a:r>
              <a:rPr lang="zh-CN" altLang="en-US" sz="2500" b="1" noProof="1">
                <a:latin typeface="+mn-lt"/>
                <a:ea typeface="楷体_GB2312" pitchFamily="49" charset="-122"/>
                <a:cs typeface="+mn-ea"/>
              </a:rPr>
              <a:t>为不使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</a:rPr>
              <a:t>Mg(OH)</a:t>
            </a:r>
            <a:r>
              <a:rPr lang="en-US" altLang="zh-CN" sz="2500" b="1" baseline="-25000" noProof="1">
                <a:latin typeface="+mn-lt"/>
                <a:ea typeface="楷体_GB2312" pitchFamily="49" charset="-122"/>
                <a:cs typeface="+mn-ea"/>
              </a:rPr>
              <a:t>2</a:t>
            </a:r>
            <a:r>
              <a:rPr lang="zh-CN" altLang="en-US" sz="2500" b="1" noProof="1">
                <a:latin typeface="+mn-lt"/>
                <a:ea typeface="楷体_GB2312" pitchFamily="49" charset="-122"/>
                <a:cs typeface="+mn-ea"/>
              </a:rPr>
              <a:t>沉淀析出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</a:rPr>
              <a:t>,</a:t>
            </a:r>
            <a:r>
              <a:rPr lang="zh-CN" altLang="en-US" sz="2500" b="1" noProof="1">
                <a:latin typeface="+mn-lt"/>
                <a:ea typeface="楷体_GB2312" pitchFamily="49" charset="-122"/>
                <a:cs typeface="+mn-ea"/>
              </a:rPr>
              <a:t>至少应加入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</a:rPr>
              <a:t>NH</a:t>
            </a:r>
            <a:r>
              <a:rPr lang="en-US" altLang="zh-CN" sz="2500" b="1" baseline="-25000" noProof="1">
                <a:latin typeface="+mn-lt"/>
                <a:ea typeface="楷体_GB2312" pitchFamily="49" charset="-122"/>
                <a:cs typeface="+mn-ea"/>
              </a:rPr>
              <a:t>4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</a:rPr>
              <a:t>Cl</a:t>
            </a:r>
            <a:r>
              <a:rPr lang="zh-CN" altLang="en-US" sz="2500" b="1" noProof="1">
                <a:latin typeface="+mn-lt"/>
                <a:ea typeface="楷体_GB2312" pitchFamily="49" charset="-122"/>
                <a:cs typeface="+mn-ea"/>
              </a:rPr>
              <a:t>多少克</a:t>
            </a:r>
            <a:r>
              <a:rPr lang="en-US" altLang="zh-CN" sz="2500" b="1" noProof="1">
                <a:latin typeface="+mn-lt"/>
                <a:ea typeface="楷体_GB2312" pitchFamily="49" charset="-122"/>
                <a:cs typeface="+mn-ea"/>
              </a:rPr>
              <a:t>?</a:t>
            </a:r>
            <a:endParaRPr lang="en-US" altLang="zh-CN" sz="2500" b="1" noProof="1">
              <a:latin typeface="+mn-lt"/>
              <a:ea typeface="楷体_GB2312" pitchFamily="49" charset="-122"/>
            </a:endParaRPr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733411" y="2235437"/>
            <a:ext cx="10456914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Font typeface="Arial" pitchFamily="34" charset="0"/>
              <a:buNone/>
            </a:pPr>
            <a:r>
              <a:rPr lang="zh-CN" altLang="en-US" sz="2500" b="1" dirty="0" smtClean="0">
                <a:latin typeface="+mn-lt"/>
                <a:ea typeface="楷体_GB2312" pitchFamily="49" charset="-122"/>
              </a:rPr>
              <a:t>例</a:t>
            </a:r>
            <a:r>
              <a:rPr lang="en-US" altLang="zh-CN" sz="2500" b="1" dirty="0" smtClean="0">
                <a:latin typeface="+mn-lt"/>
                <a:ea typeface="楷体_GB2312" pitchFamily="49" charset="-122"/>
              </a:rPr>
              <a:t>6.0.10 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mol·L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-1 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Ni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2+</a:t>
            </a:r>
            <a:r>
              <a:rPr lang="zh-CN" altLang="zh-CN" sz="2500" b="1" dirty="0">
                <a:latin typeface="+mn-lt"/>
                <a:ea typeface="楷体_GB2312" pitchFamily="49" charset="-122"/>
              </a:rPr>
              <a:t>溶液中通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H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2</a:t>
            </a:r>
            <a:r>
              <a:rPr lang="zh-CN" altLang="zh-CN" sz="2500" b="1" dirty="0">
                <a:latin typeface="+mn-lt"/>
                <a:ea typeface="楷体_GB2312" pitchFamily="49" charset="-122"/>
              </a:rPr>
              <a:t>S至饱和,使其生成沉淀.计算</a:t>
            </a:r>
            <a:r>
              <a:rPr lang="en-US" altLang="zh-CN" sz="2500" b="1" dirty="0" err="1">
                <a:latin typeface="+mn-lt"/>
                <a:ea typeface="楷体_GB2312" pitchFamily="49" charset="-122"/>
              </a:rPr>
              <a:t>NiS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沉淀</a:t>
            </a:r>
            <a:r>
              <a:rPr lang="zh-CN" altLang="zh-CN" sz="2500" b="1" dirty="0">
                <a:latin typeface="+mn-lt"/>
                <a:ea typeface="楷体_GB2312" pitchFamily="49" charset="-122"/>
              </a:rPr>
              <a:t>开始析出和沉淀完全时溶液的pH.已知</a:t>
            </a:r>
            <a:r>
              <a:rPr lang="en-US" altLang="zh-CN" sz="2500" b="1" i="1" dirty="0" err="1">
                <a:latin typeface="+mn-lt"/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latin typeface="+mn-lt"/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latin typeface="+mn-lt"/>
                <a:ea typeface="楷体_GB2312" pitchFamily="49" charset="-122"/>
                <a:sym typeface="Webdings" pitchFamily="18" charset="2"/>
              </a:rPr>
              <a:t>sp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(</a:t>
            </a:r>
            <a:r>
              <a:rPr lang="en-US" altLang="zh-CN" sz="2500" b="1" dirty="0" err="1">
                <a:latin typeface="+mn-lt"/>
                <a:ea typeface="楷体_GB2312" pitchFamily="49" charset="-122"/>
              </a:rPr>
              <a:t>NiS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) = 1.07×10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-21 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.</a:t>
            </a:r>
          </a:p>
        </p:txBody>
      </p:sp>
      <p:sp>
        <p:nvSpPr>
          <p:cNvPr id="9" name="文本框 68635"/>
          <p:cNvSpPr txBox="1">
            <a:spLocks noChangeArrowheads="1"/>
          </p:cNvSpPr>
          <p:nvPr/>
        </p:nvSpPr>
        <p:spPr bwMode="auto">
          <a:xfrm>
            <a:off x="244475" y="217488"/>
            <a:ext cx="8612519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200" b="1" dirty="0">
                <a:solidFill>
                  <a:srgbClr val="FF3300"/>
                </a:solidFill>
                <a:ea typeface="黑体" pitchFamily="49" charset="-122"/>
              </a:rPr>
              <a:t>4.1.2 影响沉淀-溶解平衡的主要</a:t>
            </a:r>
            <a:r>
              <a:rPr lang="zh-CN" altLang="en-US" sz="2200" b="1" dirty="0" smtClean="0">
                <a:solidFill>
                  <a:srgbClr val="FF3300"/>
                </a:solidFill>
                <a:ea typeface="黑体" pitchFamily="49" charset="-122"/>
              </a:rPr>
              <a:t>因素（重点：同离子与酸度影响）</a:t>
            </a:r>
            <a:endParaRPr lang="zh-CN" altLang="en-US" sz="2200" b="1" dirty="0">
              <a:solidFill>
                <a:srgbClr val="FF3300"/>
              </a:solidFill>
              <a:ea typeface="黑体" pitchFamily="49" charset="-12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8" grpId="0"/>
      <p:bldP spid="22539" grpId="0"/>
      <p:bldP spid="14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文本框 68635"/>
          <p:cNvSpPr txBox="1">
            <a:spLocks noChangeArrowheads="1"/>
          </p:cNvSpPr>
          <p:nvPr/>
        </p:nvSpPr>
        <p:spPr bwMode="auto">
          <a:xfrm>
            <a:off x="244475" y="217488"/>
            <a:ext cx="4811713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200" b="1" dirty="0">
                <a:solidFill>
                  <a:srgbClr val="FF3300"/>
                </a:solidFill>
                <a:ea typeface="黑体" pitchFamily="49" charset="-122"/>
              </a:rPr>
              <a:t>4.1.2 影响沉淀-溶解平衡的主要因素</a:t>
            </a:r>
          </a:p>
        </p:txBody>
      </p:sp>
      <p:sp>
        <p:nvSpPr>
          <p:cNvPr id="153602" name="文本框 153601"/>
          <p:cNvSpPr txBox="1"/>
          <p:nvPr/>
        </p:nvSpPr>
        <p:spPr>
          <a:xfrm>
            <a:off x="1120775" y="1438275"/>
            <a:ext cx="9055100" cy="9001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05000"/>
              </a:lnSpc>
              <a:buFont typeface="Arial" panose="020B0604020202020204" pitchFamily="34" charset="0"/>
              <a:buNone/>
              <a:defRPr/>
            </a:pPr>
            <a:r>
              <a:rPr lang="en-US" altLang="zh-CN" sz="2500" b="1" noProof="1">
                <a:solidFill>
                  <a:srgbClr val="FF3300"/>
                </a:solidFill>
                <a:ea typeface="楷体_GB2312" panose="02010609030101010101" pitchFamily="49" charset="-122"/>
                <a:cs typeface="+mn-ea"/>
              </a:rPr>
              <a:t>(1)</a:t>
            </a:r>
            <a:r>
              <a:rPr lang="zh-CN" altLang="zh-CN" sz="2500" b="1" noProof="1">
                <a:solidFill>
                  <a:srgbClr val="FF0000"/>
                </a:solidFill>
                <a:ea typeface="楷体_GB2312" panose="02010609030101010101" pitchFamily="49" charset="-122"/>
                <a:cs typeface="+mn-ea"/>
                <a:hlinkClick r:id="rId2" action="ppaction://hlinkfile"/>
              </a:rPr>
              <a:t>金属离子的水解</a:t>
            </a:r>
            <a:r>
              <a:rPr lang="en-US" altLang="zh-CN" sz="2500" b="1" noProof="1">
                <a:solidFill>
                  <a:srgbClr val="FF3300"/>
                </a:solidFill>
                <a:ea typeface="楷体_GB2312" panose="02010609030101010101" pitchFamily="49" charset="-122"/>
                <a:cs typeface="+mn-ea"/>
              </a:rPr>
              <a:t>:</a:t>
            </a:r>
            <a:endParaRPr lang="en-US" altLang="zh-CN" sz="2500" b="1" noProof="1">
              <a:ea typeface="楷体_GB2312" panose="02010609030101010101" pitchFamily="49" charset="-122"/>
            </a:endParaRPr>
          </a:p>
          <a:p>
            <a:pPr eaLnBrk="1" hangingPunct="1">
              <a:lnSpc>
                <a:spcPct val="105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500" b="1" noProof="1">
                <a:ea typeface="楷体_GB2312" panose="02010609030101010101" pitchFamily="49" charset="-122"/>
                <a:cs typeface="+mn-ea"/>
              </a:rPr>
              <a:t>　　一些金属离子</a:t>
            </a:r>
            <a:r>
              <a:rPr lang="en-US" altLang="zh-CN" sz="2500" b="1" noProof="1">
                <a:ea typeface="楷体_GB2312" panose="02010609030101010101" pitchFamily="49" charset="-122"/>
                <a:cs typeface="+mn-ea"/>
              </a:rPr>
              <a:t>,</a:t>
            </a:r>
            <a:r>
              <a:rPr lang="zh-CN" altLang="en-US" sz="2500" b="1" noProof="1">
                <a:ea typeface="楷体_GB2312" panose="02010609030101010101" pitchFamily="49" charset="-122"/>
                <a:cs typeface="+mn-ea"/>
              </a:rPr>
              <a:t>与水作用形成相应的难溶物质的反应</a:t>
            </a:r>
            <a:r>
              <a:rPr lang="en-US" altLang="zh-CN" sz="2500" b="1" noProof="1">
                <a:ea typeface="楷体_GB2312" panose="02010609030101010101" pitchFamily="49" charset="-122"/>
                <a:cs typeface="+mn-ea"/>
              </a:rPr>
              <a:t>.</a:t>
            </a:r>
            <a:endParaRPr lang="en-US" altLang="zh-CN" sz="2500" b="1" noProof="1">
              <a:ea typeface="楷体_GB2312" panose="02010609030101010101" pitchFamily="49" charset="-122"/>
            </a:endParaRPr>
          </a:p>
        </p:txBody>
      </p:sp>
      <p:sp>
        <p:nvSpPr>
          <p:cNvPr id="153603" name="矩形 153602"/>
          <p:cNvSpPr>
            <a:spLocks noChangeArrowheads="1"/>
          </p:cNvSpPr>
          <p:nvPr/>
        </p:nvSpPr>
        <p:spPr bwMode="auto">
          <a:xfrm>
            <a:off x="812800" y="2239955"/>
            <a:ext cx="6305559" cy="251607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05000"/>
              </a:lnSpc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zh-CN" altLang="en-US" sz="2500" b="1" dirty="0">
                <a:ea typeface="楷体_GB2312" pitchFamily="49" charset="-122"/>
              </a:rPr>
              <a:t>如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</a:p>
          <a:p>
            <a:pPr eaLnBrk="1" hangingPunct="1">
              <a:lnSpc>
                <a:spcPct val="105000"/>
              </a:lnSpc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</a:rPr>
              <a:t>        Al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S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dirty="0">
                <a:ea typeface="楷体_GB2312" pitchFamily="49" charset="-122"/>
              </a:rPr>
              <a:t> + H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O ⇋ Al(OH)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dirty="0">
                <a:ea typeface="楷体_GB2312" pitchFamily="49" charset="-122"/>
              </a:rPr>
              <a:t> + H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S</a:t>
            </a:r>
          </a:p>
          <a:p>
            <a:pPr eaLnBrk="1" hangingPunct="1">
              <a:lnSpc>
                <a:spcPct val="105000"/>
              </a:lnSpc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</a:rPr>
              <a:t>        Bi(NO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dirty="0">
                <a:ea typeface="楷体_GB2312" pitchFamily="49" charset="-122"/>
              </a:rPr>
              <a:t>)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 + H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O ⇋ BiONO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dirty="0">
                <a:ea typeface="楷体_GB2312" pitchFamily="49" charset="-122"/>
              </a:rPr>
              <a:t> + 2HNO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endParaRPr lang="en-US" altLang="zh-CN" sz="2500" b="1" dirty="0">
              <a:ea typeface="楷体_GB2312" pitchFamily="49" charset="-122"/>
            </a:endParaRPr>
          </a:p>
          <a:p>
            <a:pPr eaLnBrk="1" hangingPunct="1">
              <a:lnSpc>
                <a:spcPct val="105000"/>
              </a:lnSpc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</a:rPr>
              <a:t>        FeCl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dirty="0">
                <a:ea typeface="楷体_GB2312" pitchFamily="49" charset="-122"/>
              </a:rPr>
              <a:t> + H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O ⇋ Fe(OH)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dirty="0">
                <a:ea typeface="楷体_GB2312" pitchFamily="49" charset="-122"/>
              </a:rPr>
              <a:t> + 3HCl</a:t>
            </a:r>
          </a:p>
          <a:p>
            <a:pPr eaLnBrk="1" hangingPunct="1">
              <a:lnSpc>
                <a:spcPct val="105000"/>
              </a:lnSpc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</a:rPr>
              <a:t>        SbCl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en-US" altLang="zh-CN" sz="2500" b="1" dirty="0">
                <a:ea typeface="楷体_GB2312" pitchFamily="49" charset="-122"/>
              </a:rPr>
              <a:t> + H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O ⇋ </a:t>
            </a:r>
            <a:r>
              <a:rPr lang="en-US" altLang="zh-CN" sz="2500" b="1" dirty="0" err="1">
                <a:ea typeface="楷体_GB2312" pitchFamily="49" charset="-122"/>
              </a:rPr>
              <a:t>SbOCl</a:t>
            </a:r>
            <a:r>
              <a:rPr lang="en-US" altLang="zh-CN" sz="2500" b="1" dirty="0">
                <a:ea typeface="楷体_GB2312" pitchFamily="49" charset="-122"/>
              </a:rPr>
              <a:t> + 2HCl</a:t>
            </a:r>
          </a:p>
          <a:p>
            <a:pPr eaLnBrk="1" hangingPunct="1">
              <a:lnSpc>
                <a:spcPct val="105000"/>
              </a:lnSpc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</a:rPr>
              <a:t>        SnCl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 + H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O ⇋ </a:t>
            </a:r>
            <a:r>
              <a:rPr lang="en-US" altLang="zh-CN" sz="2500" b="1" dirty="0" err="1">
                <a:ea typeface="楷体_GB2312" pitchFamily="49" charset="-122"/>
              </a:rPr>
              <a:t>Sn</a:t>
            </a:r>
            <a:r>
              <a:rPr lang="en-US" altLang="zh-CN" sz="2500" b="1" dirty="0">
                <a:ea typeface="楷体_GB2312" pitchFamily="49" charset="-122"/>
              </a:rPr>
              <a:t>(OH)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 + 2HCl</a:t>
            </a:r>
          </a:p>
        </p:txBody>
      </p:sp>
      <p:sp>
        <p:nvSpPr>
          <p:cNvPr id="153604" name="矩形 153603"/>
          <p:cNvSpPr>
            <a:spLocks noChangeArrowheads="1"/>
          </p:cNvSpPr>
          <p:nvPr/>
        </p:nvSpPr>
        <p:spPr bwMode="auto">
          <a:xfrm>
            <a:off x="812800" y="919163"/>
            <a:ext cx="3754438" cy="4778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3.</a:t>
            </a:r>
            <a:r>
              <a:rPr lang="zh-CN" altLang="en-US" sz="2500" b="1" u="sng">
                <a:solidFill>
                  <a:srgbClr val="FF3300"/>
                </a:solidFill>
                <a:ea typeface="楷体_GB2312" pitchFamily="49" charset="-122"/>
              </a:rPr>
              <a:t>温度与金属离子的</a:t>
            </a:r>
            <a:r>
              <a:rPr lang="zh-CN" altLang="zh-CN" sz="2500" b="1" u="sng">
                <a:solidFill>
                  <a:srgbClr val="0000FF"/>
                </a:solidFill>
                <a:ea typeface="楷体_GB2312" pitchFamily="49" charset="-122"/>
              </a:rPr>
              <a:t>水解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  <a:hlinkClick r:id="rId3" action="ppaction://hlinkfile"/>
              </a:rPr>
              <a:t>:</a:t>
            </a:r>
            <a:endParaRPr lang="en-US" altLang="zh-CN" sz="2500" b="1">
              <a:solidFill>
                <a:srgbClr val="FF3300"/>
              </a:solidFill>
              <a:ea typeface="楷体_GB2312" pitchFamily="49" charset="-122"/>
            </a:endParaRPr>
          </a:p>
        </p:txBody>
      </p:sp>
      <p:sp>
        <p:nvSpPr>
          <p:cNvPr id="14342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497505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4343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53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53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53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5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53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153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153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153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7" dur="500"/>
                                        <p:tgtEl>
                                          <p:spTgt spid="153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2" grpId="0" build="p"/>
      <p:bldP spid="153603" grpId="0" build="p"/>
      <p:bldP spid="15360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68635"/>
          <p:cNvSpPr txBox="1">
            <a:spLocks noChangeArrowheads="1"/>
          </p:cNvSpPr>
          <p:nvPr/>
        </p:nvSpPr>
        <p:spPr bwMode="auto">
          <a:xfrm>
            <a:off x="244475" y="217488"/>
            <a:ext cx="4811713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200" b="1">
                <a:solidFill>
                  <a:srgbClr val="FF3300"/>
                </a:solidFill>
                <a:ea typeface="黑体" pitchFamily="49" charset="-122"/>
              </a:rPr>
              <a:t>4.1.2 影响沉淀-溶解平衡的主要因素</a:t>
            </a:r>
          </a:p>
        </p:txBody>
      </p:sp>
      <p:sp>
        <p:nvSpPr>
          <p:cNvPr id="154626" name="矩形 154625"/>
          <p:cNvSpPr>
            <a:spLocks noChangeArrowheads="1"/>
          </p:cNvSpPr>
          <p:nvPr/>
        </p:nvSpPr>
        <p:spPr bwMode="auto">
          <a:xfrm>
            <a:off x="1544638" y="1525575"/>
            <a:ext cx="7924800" cy="3444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①</a:t>
            </a:r>
            <a:r>
              <a:rPr lang="zh-CN" altLang="en-US" sz="2500" b="1">
                <a:solidFill>
                  <a:srgbClr val="0000FF"/>
                </a:solidFill>
                <a:ea typeface="楷体_GB2312" pitchFamily="49" charset="-122"/>
                <a:sym typeface="Monotype Sorts" pitchFamily="2" charset="2"/>
              </a:rPr>
              <a:t>均产生难溶物质</a:t>
            </a: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;</a:t>
            </a:r>
          </a:p>
          <a:p>
            <a:pPr eaLnBrk="1" hangingPunct="1">
              <a:lnSpc>
                <a:spcPct val="110000"/>
              </a:lnSpc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        </a:t>
            </a:r>
            <a:r>
              <a:rPr lang="zh-CN" altLang="en-US" sz="2500" b="1">
                <a:ea typeface="楷体_GB2312" pitchFamily="49" charset="-122"/>
                <a:sym typeface="Monotype Sorts" pitchFamily="2" charset="2"/>
              </a:rPr>
              <a:t>其中象</a:t>
            </a: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FeCl</a:t>
            </a:r>
            <a:r>
              <a:rPr lang="en-US" altLang="zh-CN" sz="2500" b="1" baseline="-25000">
                <a:ea typeface="楷体_GB2312" pitchFamily="49" charset="-122"/>
                <a:sym typeface="Monotype Sorts" pitchFamily="2" charset="2"/>
              </a:rPr>
              <a:t>3</a:t>
            </a:r>
            <a:r>
              <a:rPr lang="zh-CN" altLang="en-US" sz="2500" b="1">
                <a:ea typeface="楷体_GB2312" pitchFamily="49" charset="-122"/>
                <a:sym typeface="Monotype Sorts" pitchFamily="2" charset="2"/>
              </a:rPr>
              <a:t>之类的物质水解过程也是逐级进行</a:t>
            </a: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, </a:t>
            </a:r>
            <a:r>
              <a:rPr lang="zh-CN" altLang="en-US" sz="2500" b="1">
                <a:ea typeface="楷体_GB2312" pitchFamily="49" charset="-122"/>
                <a:sym typeface="Monotype Sorts" pitchFamily="2" charset="2"/>
              </a:rPr>
              <a:t>但过程复杂得多</a:t>
            </a: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; </a:t>
            </a:r>
          </a:p>
          <a:p>
            <a:pPr eaLnBrk="1" hangingPunct="1">
              <a:lnSpc>
                <a:spcPct val="110000"/>
              </a:lnSpc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②</a:t>
            </a:r>
            <a:r>
              <a:rPr lang="zh-CN" altLang="en-US" sz="2500" b="1">
                <a:solidFill>
                  <a:srgbClr val="0000FF"/>
                </a:solidFill>
                <a:ea typeface="楷体_GB2312" pitchFamily="49" charset="-122"/>
                <a:sym typeface="Monotype Sorts" pitchFamily="2" charset="2"/>
              </a:rPr>
              <a:t>金属强酸盐的水解都产生强酸</a:t>
            </a: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;</a:t>
            </a:r>
          </a:p>
          <a:p>
            <a:pPr eaLnBrk="1" hangingPunct="1">
              <a:lnSpc>
                <a:spcPct val="110000"/>
              </a:lnSpc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        </a:t>
            </a:r>
            <a:r>
              <a:rPr lang="zh-CN" altLang="en-US" sz="2500" b="1">
                <a:ea typeface="楷体_GB2312" pitchFamily="49" charset="-122"/>
                <a:sym typeface="Monotype Sorts" pitchFamily="2" charset="2"/>
              </a:rPr>
              <a:t>加入相应的强酸抑制水解</a:t>
            </a: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.</a:t>
            </a:r>
            <a:endParaRPr lang="en-US" altLang="zh-CN" sz="2500" b="1">
              <a:ea typeface="楷体_GB2312" pitchFamily="49" charset="-122"/>
            </a:endParaRPr>
          </a:p>
          <a:p>
            <a:pPr eaLnBrk="1" hangingPunct="1">
              <a:lnSpc>
                <a:spcPct val="110000"/>
              </a:lnSpc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③</a:t>
            </a:r>
            <a:r>
              <a:rPr lang="zh-CN" altLang="en-US" sz="2500" b="1">
                <a:solidFill>
                  <a:srgbClr val="0000FF"/>
                </a:solidFill>
                <a:ea typeface="楷体_GB2312" pitchFamily="49" charset="-122"/>
                <a:sym typeface="Monotype Sorts" pitchFamily="2" charset="2"/>
              </a:rPr>
              <a:t>水解过程为吸热过程</a:t>
            </a: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.</a:t>
            </a:r>
          </a:p>
          <a:p>
            <a:pPr eaLnBrk="1" hangingPunct="1">
              <a:lnSpc>
                <a:spcPct val="110000"/>
              </a:lnSpc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        </a:t>
            </a:r>
            <a:r>
              <a:rPr lang="zh-CN" altLang="en-US" sz="2500" b="1">
                <a:ea typeface="楷体_GB2312" pitchFamily="49" charset="-122"/>
                <a:sym typeface="Monotype Sorts" pitchFamily="2" charset="2"/>
              </a:rPr>
              <a:t>升高温度促进水解</a:t>
            </a: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.</a:t>
            </a:r>
          </a:p>
          <a:p>
            <a:pPr eaLnBrk="1" hangingPunct="1">
              <a:lnSpc>
                <a:spcPct val="110000"/>
              </a:lnSpc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        </a:t>
            </a:r>
            <a:r>
              <a:rPr lang="zh-CN" altLang="en-US" sz="2500" b="1">
                <a:ea typeface="楷体_GB2312" pitchFamily="49" charset="-122"/>
                <a:sym typeface="Monotype Sorts" pitchFamily="2" charset="2"/>
              </a:rPr>
              <a:t>如</a:t>
            </a: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FeCl</a:t>
            </a:r>
            <a:r>
              <a:rPr lang="en-US" altLang="zh-CN" sz="2500" b="1" baseline="-25000">
                <a:ea typeface="楷体_GB2312" pitchFamily="49" charset="-122"/>
                <a:sym typeface="Monotype Sorts" pitchFamily="2" charset="2"/>
              </a:rPr>
              <a:t>3</a:t>
            </a:r>
            <a:r>
              <a:rPr lang="zh-CN" altLang="en-US" sz="2500" b="1">
                <a:ea typeface="楷体_GB2312" pitchFamily="49" charset="-122"/>
                <a:sym typeface="Monotype Sorts" pitchFamily="2" charset="2"/>
              </a:rPr>
              <a:t>稀溶液的水解</a:t>
            </a: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.</a:t>
            </a:r>
          </a:p>
        </p:txBody>
      </p:sp>
      <p:sp>
        <p:nvSpPr>
          <p:cNvPr id="154627" name="左大括号 154626"/>
          <p:cNvSpPr>
            <a:spLocks/>
          </p:cNvSpPr>
          <p:nvPr/>
        </p:nvSpPr>
        <p:spPr bwMode="auto">
          <a:xfrm>
            <a:off x="1436688" y="1849425"/>
            <a:ext cx="152400" cy="2362200"/>
          </a:xfrm>
          <a:prstGeom prst="leftBrace">
            <a:avLst>
              <a:gd name="adj1" fmla="val 128449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 sz="2500">
              <a:ea typeface="楷体_GB2312" pitchFamily="49" charset="-122"/>
            </a:endParaRPr>
          </a:p>
        </p:txBody>
      </p:sp>
      <p:sp>
        <p:nvSpPr>
          <p:cNvPr id="154628" name="矩形 154627"/>
          <p:cNvSpPr>
            <a:spLocks noChangeArrowheads="1"/>
          </p:cNvSpPr>
          <p:nvPr/>
        </p:nvSpPr>
        <p:spPr bwMode="auto">
          <a:xfrm>
            <a:off x="903288" y="1025525"/>
            <a:ext cx="2254250" cy="4714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(2)</a:t>
            </a: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特点及应用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15366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5367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54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54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54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546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546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1546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1546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1546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6" dur="500"/>
                                        <p:tgtEl>
                                          <p:spTgt spid="154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26" grpId="0" build="p"/>
      <p:bldP spid="15462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文本框 68635"/>
          <p:cNvSpPr txBox="1">
            <a:spLocks noChangeArrowheads="1"/>
          </p:cNvSpPr>
          <p:nvPr/>
        </p:nvSpPr>
        <p:spPr bwMode="auto">
          <a:xfrm>
            <a:off x="244475" y="217488"/>
            <a:ext cx="4811713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200" b="1">
                <a:solidFill>
                  <a:srgbClr val="FF3300"/>
                </a:solidFill>
                <a:ea typeface="黑体" pitchFamily="49" charset="-122"/>
              </a:rPr>
              <a:t>4.1.2 影响沉淀-溶解平衡的主要因素</a:t>
            </a:r>
          </a:p>
        </p:txBody>
      </p:sp>
      <p:sp>
        <p:nvSpPr>
          <p:cNvPr id="151559" name="矩形 151558"/>
          <p:cNvSpPr>
            <a:spLocks noChangeArrowheads="1"/>
          </p:cNvSpPr>
          <p:nvPr/>
        </p:nvSpPr>
        <p:spPr bwMode="auto">
          <a:xfrm>
            <a:off x="903288" y="811213"/>
            <a:ext cx="2200275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Symbol" pitchFamily="18" charset="2"/>
              </a:rPr>
              <a:t>4. 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  <a:sym typeface="Symbol" pitchFamily="18" charset="2"/>
              </a:rPr>
              <a:t>其他副反应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Symbol" pitchFamily="18" charset="2"/>
              </a:rPr>
              <a:t>:</a:t>
            </a:r>
          </a:p>
        </p:txBody>
      </p:sp>
      <p:sp>
        <p:nvSpPr>
          <p:cNvPr id="151560" name="矩形 151559"/>
          <p:cNvSpPr>
            <a:spLocks noChangeArrowheads="1"/>
          </p:cNvSpPr>
          <p:nvPr/>
        </p:nvSpPr>
        <p:spPr bwMode="auto">
          <a:xfrm>
            <a:off x="1293813" y="1258888"/>
            <a:ext cx="8043862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500" b="1">
                <a:ea typeface="楷体_GB2312" pitchFamily="49" charset="-122"/>
                <a:sym typeface="Symbol" pitchFamily="18" charset="2"/>
              </a:rPr>
              <a:t>　　若沉淀剂具配位能力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,</a:t>
            </a:r>
            <a:r>
              <a:rPr lang="zh-CN" altLang="en-US" sz="2500" b="1">
                <a:ea typeface="楷体_GB2312" pitchFamily="49" charset="-122"/>
                <a:sym typeface="Symbol" pitchFamily="18" charset="2"/>
              </a:rPr>
              <a:t>或有其它配位剂存在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(</a:t>
            </a:r>
            <a:r>
              <a:rPr lang="zh-CN" altLang="en-US" sz="2500" b="1">
                <a:ea typeface="楷体_GB2312" pitchFamily="49" charset="-122"/>
                <a:sym typeface="Symbol" pitchFamily="18" charset="2"/>
              </a:rPr>
              <a:t>如</a:t>
            </a:r>
            <a:r>
              <a:rPr lang="en-US" altLang="zh-CN" sz="2500" b="1">
                <a:ea typeface="楷体_GB2312" pitchFamily="49" charset="-122"/>
              </a:rPr>
              <a:t>Cu</a:t>
            </a:r>
            <a:r>
              <a:rPr lang="en-US" altLang="zh-CN" sz="2500" b="1" baseline="30000">
                <a:ea typeface="楷体_GB2312" pitchFamily="49" charset="-122"/>
              </a:rPr>
              <a:t>2+</a:t>
            </a:r>
            <a:r>
              <a:rPr lang="zh-CN" altLang="en-US" sz="2500" b="1">
                <a:ea typeface="楷体_GB2312" pitchFamily="49" charset="-122"/>
              </a:rPr>
              <a:t>与</a:t>
            </a:r>
            <a:r>
              <a:rPr lang="en-US" altLang="zh-CN" sz="2500" b="1">
                <a:ea typeface="楷体_GB2312" pitchFamily="49" charset="-122"/>
              </a:rPr>
              <a:t>NH</a:t>
            </a:r>
            <a:r>
              <a:rPr lang="en-US" altLang="zh-CN" sz="2500" b="1" baseline="-25000">
                <a:ea typeface="楷体_GB2312" pitchFamily="49" charset="-122"/>
              </a:rPr>
              <a:t>3</a:t>
            </a:r>
            <a:r>
              <a:rPr lang="zh-CN" altLang="en-US" sz="2500" b="1">
                <a:ea typeface="楷体_GB2312" pitchFamily="49" charset="-122"/>
              </a:rPr>
              <a:t>形成</a:t>
            </a:r>
            <a:r>
              <a:rPr lang="en-US" altLang="zh-CN" sz="2500" b="1">
                <a:ea typeface="楷体_GB2312" pitchFamily="49" charset="-122"/>
              </a:rPr>
              <a:t>[Cu(NH</a:t>
            </a:r>
            <a:r>
              <a:rPr lang="en-US" altLang="zh-CN" sz="2500" b="1" baseline="-25000">
                <a:ea typeface="楷体_GB2312" pitchFamily="49" charset="-122"/>
              </a:rPr>
              <a:t>3</a:t>
            </a:r>
            <a:r>
              <a:rPr lang="en-US" altLang="zh-CN" sz="2500" b="1">
                <a:ea typeface="楷体_GB2312" pitchFamily="49" charset="-122"/>
              </a:rPr>
              <a:t>)</a:t>
            </a:r>
            <a:r>
              <a:rPr lang="en-US" altLang="zh-CN" sz="2500" b="1" baseline="-25000">
                <a:ea typeface="楷体_GB2312" pitchFamily="49" charset="-122"/>
              </a:rPr>
              <a:t>4</a:t>
            </a:r>
            <a:r>
              <a:rPr lang="en-US" altLang="zh-CN" sz="2500" b="1">
                <a:ea typeface="楷体_GB2312" pitchFamily="49" charset="-122"/>
              </a:rPr>
              <a:t>]</a:t>
            </a:r>
            <a:r>
              <a:rPr lang="en-US" altLang="zh-CN" sz="2500" b="1" baseline="30000">
                <a:ea typeface="楷体_GB2312" pitchFamily="49" charset="-122"/>
              </a:rPr>
              <a:t>2+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)</a:t>
            </a:r>
            <a:r>
              <a:rPr lang="zh-CN" altLang="en-US" sz="2500" b="1">
                <a:ea typeface="楷体_GB2312" pitchFamily="49" charset="-122"/>
                <a:sym typeface="Symbol" pitchFamily="18" charset="2"/>
              </a:rPr>
              <a:t>使沉淀溶解度增大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.</a:t>
            </a:r>
          </a:p>
        </p:txBody>
      </p:sp>
      <p:sp>
        <p:nvSpPr>
          <p:cNvPr id="151561" name="矩形 151560"/>
          <p:cNvSpPr>
            <a:spLocks noChangeArrowheads="1"/>
          </p:cNvSpPr>
          <p:nvPr/>
        </p:nvSpPr>
        <p:spPr bwMode="auto">
          <a:xfrm>
            <a:off x="1293813" y="2159000"/>
            <a:ext cx="8043862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500" b="1">
                <a:ea typeface="楷体_GB2312" pitchFamily="49" charset="-122"/>
                <a:sym typeface="Symbol" pitchFamily="18" charset="2"/>
              </a:rPr>
              <a:t>　　</a:t>
            </a:r>
            <a:r>
              <a:rPr lang="zh-CN" altLang="en-US" sz="2500" b="1">
                <a:ea typeface="楷体_GB2312" pitchFamily="49" charset="-122"/>
              </a:rPr>
              <a:t>如</a:t>
            </a:r>
            <a:r>
              <a:rPr lang="en-US" altLang="zh-CN" sz="2500" b="1">
                <a:ea typeface="楷体_GB2312" pitchFamily="49" charset="-122"/>
              </a:rPr>
              <a:t>AgCl</a:t>
            </a:r>
            <a:r>
              <a:rPr lang="zh-CN" altLang="en-US" sz="2500" b="1">
                <a:ea typeface="楷体_GB2312" pitchFamily="49" charset="-122"/>
              </a:rPr>
              <a:t>在水中</a:t>
            </a:r>
            <a:r>
              <a:rPr lang="en-US" altLang="zh-CN" sz="2500" b="1" i="1">
                <a:ea typeface="楷体_GB2312" pitchFamily="49" charset="-122"/>
              </a:rPr>
              <a:t>s </a:t>
            </a:r>
            <a:r>
              <a:rPr lang="en-US" altLang="zh-CN" sz="2500" b="1">
                <a:ea typeface="楷体_GB2312" pitchFamily="49" charset="-122"/>
              </a:rPr>
              <a:t>= 1.3×10</a:t>
            </a:r>
            <a:r>
              <a:rPr lang="en-US" altLang="zh-CN" sz="2500" b="1" baseline="30000">
                <a:ea typeface="楷体_GB2312" pitchFamily="49" charset="-122"/>
              </a:rPr>
              <a:t>-5 </a:t>
            </a:r>
            <a:r>
              <a:rPr lang="en-US" altLang="zh-CN" sz="2500" b="1">
                <a:ea typeface="楷体_GB2312" pitchFamily="49" charset="-122"/>
              </a:rPr>
              <a:t>mol·L</a:t>
            </a:r>
            <a:r>
              <a:rPr lang="en-US" altLang="zh-CN" sz="2500" b="1" baseline="30000">
                <a:ea typeface="楷体_GB2312" pitchFamily="49" charset="-122"/>
              </a:rPr>
              <a:t>-1</a:t>
            </a:r>
            <a:r>
              <a:rPr lang="en-US" altLang="zh-CN" sz="2500" b="1">
                <a:ea typeface="楷体_GB2312" pitchFamily="49" charset="-122"/>
              </a:rPr>
              <a:t>;</a:t>
            </a:r>
          </a:p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        </a:t>
            </a:r>
            <a:r>
              <a:rPr lang="zh-CN" altLang="en-US" sz="2500" b="1">
                <a:ea typeface="楷体_GB2312" pitchFamily="49" charset="-122"/>
              </a:rPr>
              <a:t>在</a:t>
            </a:r>
            <a:r>
              <a:rPr lang="en-US" altLang="zh-CN" sz="2500" b="1">
                <a:ea typeface="楷体_GB2312" pitchFamily="49" charset="-122"/>
              </a:rPr>
              <a:t>1.0 mol·L</a:t>
            </a:r>
            <a:r>
              <a:rPr lang="en-US" altLang="zh-CN" sz="2500" b="1" baseline="30000">
                <a:ea typeface="楷体_GB2312" pitchFamily="49" charset="-122"/>
              </a:rPr>
              <a:t>-1</a:t>
            </a:r>
            <a:r>
              <a:rPr lang="en-US" altLang="zh-CN" sz="2500" b="1">
                <a:ea typeface="楷体_GB2312" pitchFamily="49" charset="-122"/>
              </a:rPr>
              <a:t>Cl</a:t>
            </a:r>
            <a:r>
              <a:rPr lang="en-US" altLang="zh-CN" sz="2500" b="1" baseline="30000">
                <a:ea typeface="楷体_GB2312" pitchFamily="49" charset="-122"/>
              </a:rPr>
              <a:t>-  </a:t>
            </a:r>
            <a:r>
              <a:rPr lang="en-US" altLang="zh-CN" sz="2500" b="1" i="1">
                <a:ea typeface="楷体_GB2312" pitchFamily="49" charset="-122"/>
              </a:rPr>
              <a:t>s</a:t>
            </a:r>
            <a:r>
              <a:rPr lang="en-US" altLang="zh-CN" sz="2500" b="1">
                <a:ea typeface="楷体_GB2312" pitchFamily="49" charset="-122"/>
              </a:rPr>
              <a:t> = 4.1×10</a:t>
            </a:r>
            <a:r>
              <a:rPr lang="en-US" altLang="zh-CN" sz="2500" b="1" baseline="30000">
                <a:ea typeface="楷体_GB2312" pitchFamily="49" charset="-122"/>
              </a:rPr>
              <a:t>-3 </a:t>
            </a:r>
            <a:r>
              <a:rPr lang="en-US" altLang="zh-CN" sz="2500" b="1">
                <a:ea typeface="楷体_GB2312" pitchFamily="49" charset="-122"/>
              </a:rPr>
              <a:t>mol·L</a:t>
            </a:r>
            <a:r>
              <a:rPr lang="en-US" altLang="zh-CN" sz="2500" b="1" baseline="30000">
                <a:ea typeface="楷体_GB2312" pitchFamily="49" charset="-122"/>
              </a:rPr>
              <a:t>-1</a:t>
            </a:r>
            <a:endParaRPr lang="en-US" altLang="zh-CN" sz="2500" b="1">
              <a:ea typeface="楷体_GB2312" pitchFamily="49" charset="-122"/>
            </a:endParaRPr>
          </a:p>
        </p:txBody>
      </p:sp>
      <p:sp>
        <p:nvSpPr>
          <p:cNvPr id="151566" name="矩形 151565"/>
          <p:cNvSpPr>
            <a:spLocks noChangeArrowheads="1"/>
          </p:cNvSpPr>
          <p:nvPr/>
        </p:nvSpPr>
        <p:spPr bwMode="auto">
          <a:xfrm rot="2700000">
            <a:off x="3155951" y="3362325"/>
            <a:ext cx="36195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800" b="1">
                <a:ea typeface="楷体_GB2312" pitchFamily="49" charset="-122"/>
              </a:rPr>
              <a:t>⇋</a:t>
            </a:r>
          </a:p>
        </p:txBody>
      </p:sp>
      <p:sp>
        <p:nvSpPr>
          <p:cNvPr id="151568" name="矩形 151567"/>
          <p:cNvSpPr>
            <a:spLocks noChangeArrowheads="1"/>
          </p:cNvSpPr>
          <p:nvPr/>
        </p:nvSpPr>
        <p:spPr bwMode="auto">
          <a:xfrm>
            <a:off x="3128963" y="3706813"/>
            <a:ext cx="143510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AgCl(aq)</a:t>
            </a:r>
          </a:p>
        </p:txBody>
      </p:sp>
      <p:sp>
        <p:nvSpPr>
          <p:cNvPr id="151570" name="矩形 151569"/>
          <p:cNvSpPr>
            <a:spLocks noChangeArrowheads="1"/>
          </p:cNvSpPr>
          <p:nvPr/>
        </p:nvSpPr>
        <p:spPr bwMode="auto">
          <a:xfrm>
            <a:off x="4643438" y="3706813"/>
            <a:ext cx="3619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800" b="1">
                <a:ea typeface="楷体_GB2312" pitchFamily="49" charset="-122"/>
              </a:rPr>
              <a:t>⇋</a:t>
            </a:r>
          </a:p>
        </p:txBody>
      </p:sp>
      <p:sp>
        <p:nvSpPr>
          <p:cNvPr id="151571" name="矩形 151570"/>
          <p:cNvSpPr>
            <a:spLocks noChangeArrowheads="1"/>
          </p:cNvSpPr>
          <p:nvPr/>
        </p:nvSpPr>
        <p:spPr bwMode="auto">
          <a:xfrm>
            <a:off x="5073650" y="3706813"/>
            <a:ext cx="160655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AgCl</a:t>
            </a:r>
            <a:r>
              <a:rPr lang="en-US" altLang="zh-CN" sz="2500" b="1" baseline="-25000">
                <a:ea typeface="楷体_GB2312" pitchFamily="49" charset="-122"/>
              </a:rPr>
              <a:t>2</a:t>
            </a:r>
            <a:r>
              <a:rPr lang="en-US" altLang="zh-CN" sz="2500" b="1" baseline="30000">
                <a:ea typeface="楷体_GB2312" pitchFamily="49" charset="-122"/>
              </a:rPr>
              <a:t>-</a:t>
            </a:r>
            <a:r>
              <a:rPr lang="en-US" altLang="zh-CN" sz="2500" b="1">
                <a:ea typeface="楷体_GB2312" pitchFamily="49" charset="-122"/>
              </a:rPr>
              <a:t>(aq)</a:t>
            </a:r>
          </a:p>
        </p:txBody>
      </p:sp>
      <p:sp>
        <p:nvSpPr>
          <p:cNvPr id="151573" name="矩形 151572"/>
          <p:cNvSpPr>
            <a:spLocks noChangeArrowheads="1"/>
          </p:cNvSpPr>
          <p:nvPr/>
        </p:nvSpPr>
        <p:spPr bwMode="auto">
          <a:xfrm>
            <a:off x="1293813" y="3019425"/>
            <a:ext cx="4010025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AgCl(s) ⇋ Ag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r>
              <a:rPr lang="en-US" altLang="zh-CN" sz="2500" b="1">
                <a:ea typeface="楷体_GB2312" pitchFamily="49" charset="-122"/>
              </a:rPr>
              <a:t>(aq) + Cl</a:t>
            </a:r>
            <a:r>
              <a:rPr lang="en-US" altLang="zh-CN" sz="2500" b="1" baseline="30000">
                <a:ea typeface="楷体_GB2312" pitchFamily="49" charset="-122"/>
              </a:rPr>
              <a:t>-</a:t>
            </a:r>
            <a:r>
              <a:rPr lang="en-US" altLang="zh-CN" sz="2500" b="1">
                <a:ea typeface="楷体_GB2312" pitchFamily="49" charset="-122"/>
              </a:rPr>
              <a:t>(aq)</a:t>
            </a:r>
          </a:p>
        </p:txBody>
      </p:sp>
      <p:sp>
        <p:nvSpPr>
          <p:cNvPr id="151574" name="矩形 151573"/>
          <p:cNvSpPr>
            <a:spLocks noChangeArrowheads="1"/>
          </p:cNvSpPr>
          <p:nvPr/>
        </p:nvSpPr>
        <p:spPr bwMode="auto">
          <a:xfrm>
            <a:off x="1293813" y="4149725"/>
            <a:ext cx="2092325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        </a:t>
            </a:r>
            <a:r>
              <a:rPr lang="zh-CN" altLang="en-US" sz="2500" b="1">
                <a:ea typeface="楷体_GB2312" pitchFamily="49" charset="-122"/>
                <a:sym typeface="Symbol" pitchFamily="18" charset="2"/>
              </a:rPr>
              <a:t>氧化还原</a:t>
            </a:r>
          </a:p>
        </p:txBody>
      </p:sp>
      <p:sp>
        <p:nvSpPr>
          <p:cNvPr id="151575" name="矩形 151574"/>
          <p:cNvSpPr>
            <a:spLocks noChangeArrowheads="1"/>
          </p:cNvSpPr>
          <p:nvPr/>
        </p:nvSpPr>
        <p:spPr bwMode="auto">
          <a:xfrm>
            <a:off x="3092450" y="4510088"/>
            <a:ext cx="398780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CuS(s) ⇋ Cu</a:t>
            </a:r>
            <a:r>
              <a:rPr lang="en-US" altLang="zh-CN" sz="2500" b="1" baseline="30000">
                <a:ea typeface="楷体_GB2312" pitchFamily="49" charset="-122"/>
              </a:rPr>
              <a:t>2+</a:t>
            </a:r>
            <a:r>
              <a:rPr lang="en-US" altLang="zh-CN" sz="2500" b="1">
                <a:ea typeface="楷体_GB2312" pitchFamily="49" charset="-122"/>
              </a:rPr>
              <a:t>(aq) + S</a:t>
            </a:r>
            <a:r>
              <a:rPr lang="en-US" altLang="zh-CN" sz="2500" b="1" baseline="30000">
                <a:ea typeface="楷体_GB2312" pitchFamily="49" charset="-122"/>
              </a:rPr>
              <a:t>2-</a:t>
            </a:r>
            <a:r>
              <a:rPr lang="en-US" altLang="zh-CN" sz="2500" b="1">
                <a:ea typeface="楷体_GB2312" pitchFamily="49" charset="-122"/>
              </a:rPr>
              <a:t>(aq)</a:t>
            </a:r>
          </a:p>
        </p:txBody>
      </p:sp>
      <p:sp>
        <p:nvSpPr>
          <p:cNvPr id="151577" name="矩形 151576"/>
          <p:cNvSpPr>
            <a:spLocks noChangeArrowheads="1"/>
          </p:cNvSpPr>
          <p:nvPr/>
        </p:nvSpPr>
        <p:spPr bwMode="auto">
          <a:xfrm>
            <a:off x="5864225" y="4930775"/>
            <a:ext cx="830263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NO</a:t>
            </a:r>
            <a:r>
              <a:rPr lang="en-US" altLang="zh-CN" sz="2500" b="1" baseline="-25000">
                <a:ea typeface="楷体_GB2312" pitchFamily="49" charset="-122"/>
              </a:rPr>
              <a:t>3</a:t>
            </a:r>
            <a:r>
              <a:rPr lang="en-US" altLang="zh-CN" sz="2500" b="1" baseline="30000">
                <a:ea typeface="楷体_GB2312" pitchFamily="49" charset="-122"/>
              </a:rPr>
              <a:t>-</a:t>
            </a:r>
            <a:endParaRPr lang="en-US" altLang="zh-CN" sz="2500" b="1">
              <a:ea typeface="楷体_GB2312" pitchFamily="49" charset="-122"/>
            </a:endParaRPr>
          </a:p>
        </p:txBody>
      </p:sp>
      <p:sp>
        <p:nvSpPr>
          <p:cNvPr id="151578" name="矩形 151577"/>
          <p:cNvSpPr>
            <a:spLocks noChangeArrowheads="1"/>
          </p:cNvSpPr>
          <p:nvPr/>
        </p:nvSpPr>
        <p:spPr bwMode="auto">
          <a:xfrm>
            <a:off x="6802438" y="4930775"/>
            <a:ext cx="54610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H</a:t>
            </a:r>
            <a:r>
              <a:rPr lang="en-US" altLang="zh-CN" sz="2500" b="1" baseline="30000">
                <a:ea typeface="楷体_GB2312" pitchFamily="49" charset="-122"/>
              </a:rPr>
              <a:t>+</a:t>
            </a:r>
            <a:endParaRPr lang="en-US" altLang="zh-CN" sz="2500" b="1">
              <a:ea typeface="楷体_GB2312" pitchFamily="49" charset="-122"/>
            </a:endParaRPr>
          </a:p>
        </p:txBody>
      </p:sp>
      <p:sp>
        <p:nvSpPr>
          <p:cNvPr id="151579" name="矩形 151578"/>
          <p:cNvSpPr>
            <a:spLocks noChangeArrowheads="1"/>
          </p:cNvSpPr>
          <p:nvPr/>
        </p:nvSpPr>
        <p:spPr bwMode="auto">
          <a:xfrm>
            <a:off x="6656388" y="5218113"/>
            <a:ext cx="2430462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ea typeface="楷体_GB2312" pitchFamily="49" charset="-122"/>
              </a:rPr>
              <a:t>S↓ + NO + H</a:t>
            </a:r>
            <a:r>
              <a:rPr lang="en-US" altLang="zh-CN" sz="2500" b="1" baseline="-25000" dirty="0">
                <a:ea typeface="楷体_GB2312" pitchFamily="49" charset="-122"/>
              </a:rPr>
              <a:t>2</a:t>
            </a:r>
            <a:r>
              <a:rPr lang="en-US" altLang="zh-CN" sz="2500" b="1" dirty="0">
                <a:ea typeface="楷体_GB2312" pitchFamily="49" charset="-122"/>
              </a:rPr>
              <a:t>O</a:t>
            </a:r>
          </a:p>
        </p:txBody>
      </p:sp>
      <p:sp>
        <p:nvSpPr>
          <p:cNvPr id="151576" name="矩形 151575"/>
          <p:cNvSpPr>
            <a:spLocks noChangeArrowheads="1"/>
          </p:cNvSpPr>
          <p:nvPr/>
        </p:nvSpPr>
        <p:spPr bwMode="auto">
          <a:xfrm rot="2700000">
            <a:off x="6504782" y="4863306"/>
            <a:ext cx="361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800" b="1">
                <a:ea typeface="楷体_GB2312" pitchFamily="49" charset="-122"/>
              </a:rPr>
              <a:t>⇋</a:t>
            </a:r>
          </a:p>
        </p:txBody>
      </p:sp>
      <p:sp>
        <p:nvSpPr>
          <p:cNvPr id="16401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71438" y="5688013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6402" name="椭圆 68634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auto">
          <a:xfrm>
            <a:off x="11155363" y="5688013"/>
            <a:ext cx="360362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151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15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15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15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515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51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51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515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51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9" dur="500"/>
                                        <p:tgtEl>
                                          <p:spTgt spid="151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515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515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515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51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151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9" grpId="0"/>
      <p:bldP spid="151560" grpId="0" build="p"/>
      <p:bldP spid="151561" grpId="0" build="p"/>
      <p:bldP spid="151566" grpId="0"/>
      <p:bldP spid="151568" grpId="0"/>
      <p:bldP spid="151570" grpId="0"/>
      <p:bldP spid="151571" grpId="0"/>
      <p:bldP spid="151573" grpId="0"/>
      <p:bldP spid="151574" grpId="0"/>
      <p:bldP spid="151575" grpId="0"/>
      <p:bldP spid="151577" grpId="0"/>
      <p:bldP spid="151578" grpId="0"/>
      <p:bldP spid="151579" grpId="0"/>
      <p:bldP spid="15157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文本框 68635"/>
          <p:cNvSpPr txBox="1">
            <a:spLocks noChangeArrowheads="1"/>
          </p:cNvSpPr>
          <p:nvPr/>
        </p:nvSpPr>
        <p:spPr bwMode="auto">
          <a:xfrm>
            <a:off x="244475" y="217488"/>
            <a:ext cx="4811713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zh-CN" altLang="en-US" sz="2200" b="1">
                <a:solidFill>
                  <a:srgbClr val="FF3300"/>
                </a:solidFill>
                <a:ea typeface="黑体" pitchFamily="49" charset="-122"/>
              </a:rPr>
              <a:t>4.1.2 影响沉淀-溶解平衡的主要因素</a:t>
            </a:r>
          </a:p>
        </p:txBody>
      </p:sp>
      <p:sp>
        <p:nvSpPr>
          <p:cNvPr id="147463" name="矩形 147462"/>
          <p:cNvSpPr>
            <a:spLocks noChangeArrowheads="1"/>
          </p:cNvSpPr>
          <p:nvPr/>
        </p:nvSpPr>
        <p:spPr bwMode="auto">
          <a:xfrm>
            <a:off x="1149350" y="936625"/>
            <a:ext cx="1579278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5. </a:t>
            </a:r>
            <a:r>
              <a:rPr lang="zh-CN" altLang="en-US" sz="2500" b="1" dirty="0" smtClean="0">
                <a:solidFill>
                  <a:srgbClr val="FF3300"/>
                </a:solidFill>
                <a:ea typeface="楷体_GB2312" pitchFamily="49" charset="-122"/>
                <a:hlinkClick r:id="rId4" action="ppaction://hlinkfile"/>
              </a:rPr>
              <a:t>盐效应</a:t>
            </a:r>
            <a:r>
              <a:rPr lang="en-US" altLang="zh-CN" sz="2500" b="1" dirty="0" smtClean="0">
                <a:solidFill>
                  <a:srgbClr val="FF3300"/>
                </a:solidFill>
                <a:ea typeface="楷体_GB2312" pitchFamily="49" charset="-122"/>
              </a:rPr>
              <a:t>:</a:t>
            </a:r>
            <a:endParaRPr lang="en-US" altLang="zh-CN" sz="2500" b="1" dirty="0">
              <a:solidFill>
                <a:srgbClr val="FF3300"/>
              </a:solidFill>
              <a:ea typeface="楷体_GB2312" pitchFamily="49" charset="-122"/>
            </a:endParaRPr>
          </a:p>
        </p:txBody>
      </p:sp>
      <p:sp>
        <p:nvSpPr>
          <p:cNvPr id="147464" name="矩形 147463"/>
          <p:cNvSpPr>
            <a:spLocks noChangeArrowheads="1"/>
          </p:cNvSpPr>
          <p:nvPr/>
        </p:nvSpPr>
        <p:spPr bwMode="auto">
          <a:xfrm>
            <a:off x="974725" y="1454150"/>
            <a:ext cx="10112375" cy="515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        </a:t>
            </a:r>
            <a:r>
              <a:rPr lang="zh-CN" altLang="en-US" sz="2500" b="1">
                <a:ea typeface="楷体_GB2312" pitchFamily="49" charset="-122"/>
              </a:rPr>
              <a:t>沉淀剂加得过多</a:t>
            </a:r>
            <a:r>
              <a:rPr lang="en-US" altLang="zh-CN" sz="2500" b="1">
                <a:ea typeface="楷体_GB2312" pitchFamily="49" charset="-122"/>
              </a:rPr>
              <a:t>, </a:t>
            </a:r>
            <a:r>
              <a:rPr lang="zh-CN" altLang="en-US" sz="2500" b="1">
                <a:ea typeface="楷体_GB2312" pitchFamily="49" charset="-122"/>
              </a:rPr>
              <a:t>特别是有其它强电解质的存在</a:t>
            </a:r>
            <a:r>
              <a:rPr lang="en-US" altLang="zh-CN" sz="2500" b="1">
                <a:ea typeface="楷体_GB2312" pitchFamily="49" charset="-122"/>
              </a:rPr>
              <a:t>, </a:t>
            </a:r>
            <a:r>
              <a:rPr lang="zh-CN" altLang="en-US" sz="2500" b="1">
                <a:ea typeface="楷体_GB2312" pitchFamily="49" charset="-122"/>
              </a:rPr>
              <a:t>使沉淀溶解度增大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</p:txBody>
      </p:sp>
      <p:sp>
        <p:nvSpPr>
          <p:cNvPr id="147466" name="矩形 147465"/>
          <p:cNvSpPr>
            <a:spLocks noChangeArrowheads="1"/>
          </p:cNvSpPr>
          <p:nvPr/>
        </p:nvSpPr>
        <p:spPr bwMode="auto">
          <a:xfrm>
            <a:off x="1189038" y="1954203"/>
            <a:ext cx="9929812" cy="938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buFont typeface="Arial" charset="0"/>
              <a:buNone/>
            </a:pPr>
            <a:r>
              <a:rPr lang="en-US" altLang="zh-CN" sz="2500" b="1">
                <a:ea typeface="楷体_GB2312" pitchFamily="49" charset="-122"/>
              </a:rPr>
              <a:t>        </a:t>
            </a:r>
            <a:r>
              <a:rPr lang="zh-CN" altLang="en-US" sz="2500" b="1">
                <a:ea typeface="楷体_GB2312" pitchFamily="49" charset="-122"/>
              </a:rPr>
              <a:t>如</a:t>
            </a:r>
            <a:r>
              <a:rPr lang="en-US" altLang="zh-CN" sz="2500" b="1">
                <a:ea typeface="楷体_GB2312" pitchFamily="49" charset="-122"/>
              </a:rPr>
              <a:t>:BaSO</a:t>
            </a:r>
            <a:r>
              <a:rPr lang="en-US" altLang="zh-CN" sz="2500" b="1" baseline="-25000">
                <a:ea typeface="楷体_GB2312" pitchFamily="49" charset="-122"/>
              </a:rPr>
              <a:t>4</a:t>
            </a:r>
            <a:r>
              <a:rPr lang="zh-CN" altLang="en-US" sz="2500" b="1">
                <a:ea typeface="楷体_GB2312" pitchFamily="49" charset="-122"/>
              </a:rPr>
              <a:t>纯水中溶解度</a:t>
            </a:r>
            <a:r>
              <a:rPr lang="en-US" altLang="zh-CN" sz="2500" b="1">
                <a:ea typeface="楷体_GB2312" pitchFamily="49" charset="-122"/>
              </a:rPr>
              <a:t>1.03×10</a:t>
            </a:r>
            <a:r>
              <a:rPr lang="en-US" altLang="zh-CN" sz="2500" b="1" baseline="30000">
                <a:ea typeface="楷体_GB2312" pitchFamily="49" charset="-122"/>
              </a:rPr>
              <a:t>-5 </a:t>
            </a:r>
            <a:r>
              <a:rPr lang="en-US" altLang="zh-CN" sz="2500" b="1">
                <a:ea typeface="楷体_GB2312" pitchFamily="49" charset="-122"/>
              </a:rPr>
              <a:t>mol·L</a:t>
            </a:r>
            <a:r>
              <a:rPr lang="en-US" altLang="zh-CN" sz="2500" b="1" baseline="30000">
                <a:ea typeface="楷体_GB2312" pitchFamily="49" charset="-122"/>
              </a:rPr>
              <a:t>-1</a:t>
            </a:r>
            <a:r>
              <a:rPr lang="en-US" altLang="zh-CN" sz="2500" b="1">
                <a:ea typeface="楷体_GB2312" pitchFamily="49" charset="-122"/>
              </a:rPr>
              <a:t>, 0.0050 mol·L</a:t>
            </a:r>
            <a:r>
              <a:rPr lang="en-US" altLang="zh-CN" sz="2500" b="1" baseline="30000">
                <a:ea typeface="楷体_GB2312" pitchFamily="49" charset="-122"/>
              </a:rPr>
              <a:t>-1</a:t>
            </a:r>
            <a:r>
              <a:rPr lang="en-US" altLang="zh-CN" sz="2500" b="1">
                <a:ea typeface="楷体_GB2312" pitchFamily="49" charset="-122"/>
              </a:rPr>
              <a:t>MgCl</a:t>
            </a:r>
            <a:r>
              <a:rPr lang="en-US" altLang="zh-CN" sz="2500" b="1" baseline="-25000">
                <a:ea typeface="楷体_GB2312" pitchFamily="49" charset="-122"/>
              </a:rPr>
              <a:t>2</a:t>
            </a:r>
            <a:r>
              <a:rPr lang="zh-CN" altLang="en-US" sz="2500" b="1">
                <a:ea typeface="楷体_GB2312" pitchFamily="49" charset="-122"/>
              </a:rPr>
              <a:t>溶液中为</a:t>
            </a:r>
            <a:r>
              <a:rPr lang="en-US" altLang="zh-CN" sz="2500" b="1">
                <a:ea typeface="楷体_GB2312" pitchFamily="49" charset="-122"/>
              </a:rPr>
              <a:t>1.9×10</a:t>
            </a:r>
            <a:r>
              <a:rPr lang="en-US" altLang="zh-CN" sz="2500" b="1" baseline="30000">
                <a:ea typeface="楷体_GB2312" pitchFamily="49" charset="-122"/>
              </a:rPr>
              <a:t>-5 </a:t>
            </a:r>
            <a:r>
              <a:rPr lang="en-US" altLang="zh-CN" sz="2500" b="1">
                <a:ea typeface="楷体_GB2312" pitchFamily="49" charset="-122"/>
              </a:rPr>
              <a:t>mol·L</a:t>
            </a:r>
            <a:r>
              <a:rPr lang="en-US" altLang="zh-CN" sz="2500" b="1" baseline="30000">
                <a:ea typeface="楷体_GB2312" pitchFamily="49" charset="-122"/>
              </a:rPr>
              <a:t>-1</a:t>
            </a:r>
            <a:r>
              <a:rPr lang="en-US" altLang="zh-CN" sz="2500" b="1">
                <a:ea typeface="楷体_GB2312" pitchFamily="49" charset="-122"/>
              </a:rPr>
              <a:t>.        </a:t>
            </a:r>
          </a:p>
        </p:txBody>
      </p:sp>
      <p:sp>
        <p:nvSpPr>
          <p:cNvPr id="147471" name="矩形 147470"/>
          <p:cNvSpPr>
            <a:spLocks noChangeArrowheads="1"/>
          </p:cNvSpPr>
          <p:nvPr/>
        </p:nvSpPr>
        <p:spPr bwMode="auto">
          <a:xfrm>
            <a:off x="1117600" y="2811453"/>
            <a:ext cx="9826625" cy="938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  <a:buFont typeface="Arial" charset="0"/>
              <a:buNone/>
            </a:pPr>
            <a:r>
              <a:rPr lang="zh-CN" altLang="en-US" sz="2500" b="1">
                <a:ea typeface="楷体_GB2312" pitchFamily="49" charset="-122"/>
              </a:rPr>
              <a:t>　　 一般</a:t>
            </a:r>
            <a:r>
              <a:rPr lang="en-US" altLang="zh-CN" sz="2500" b="1">
                <a:ea typeface="楷体_GB2312" pitchFamily="49" charset="-122"/>
              </a:rPr>
              <a:t>:</a:t>
            </a:r>
            <a:r>
              <a:rPr lang="zh-CN" altLang="en-US" sz="2500" b="1">
                <a:ea typeface="楷体_GB2312" pitchFamily="49" charset="-122"/>
              </a:rPr>
              <a:t>强电解质浓度 </a:t>
            </a:r>
            <a:r>
              <a:rPr lang="en-US" altLang="zh-CN" sz="2500" b="1">
                <a:ea typeface="楷体_GB2312" pitchFamily="49" charset="-122"/>
              </a:rPr>
              <a:t>&gt; 0.05 mol·L</a:t>
            </a:r>
            <a:r>
              <a:rPr lang="en-US" altLang="zh-CN" sz="2500" b="1" baseline="30000">
                <a:ea typeface="楷体_GB2312" pitchFamily="49" charset="-122"/>
              </a:rPr>
              <a:t>-1</a:t>
            </a:r>
            <a:r>
              <a:rPr lang="zh-CN" altLang="en-US" sz="2500" b="1">
                <a:ea typeface="楷体_GB2312" pitchFamily="49" charset="-122"/>
              </a:rPr>
              <a:t>时</a:t>
            </a:r>
            <a:r>
              <a:rPr lang="en-US" altLang="zh-CN" sz="2500" b="1">
                <a:ea typeface="楷体_GB2312" pitchFamily="49" charset="-122"/>
              </a:rPr>
              <a:t>, </a:t>
            </a:r>
            <a:r>
              <a:rPr lang="zh-CN" altLang="en-US" sz="2500" b="1">
                <a:ea typeface="楷体_GB2312" pitchFamily="49" charset="-122"/>
              </a:rPr>
              <a:t>盐效应才较显著</a:t>
            </a:r>
            <a:r>
              <a:rPr lang="en-US" altLang="zh-CN" sz="2500" b="1">
                <a:ea typeface="楷体_GB2312" pitchFamily="49" charset="-122"/>
              </a:rPr>
              <a:t>, </a:t>
            </a:r>
            <a:r>
              <a:rPr lang="zh-CN" altLang="en-US" sz="2500" b="1">
                <a:ea typeface="楷体_GB2312" pitchFamily="49" charset="-122"/>
              </a:rPr>
              <a:t>特别是非同离子的其它电解质存在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</p:txBody>
      </p:sp>
      <p:sp>
        <p:nvSpPr>
          <p:cNvPr id="147472" name="文本框 147471"/>
          <p:cNvSpPr txBox="1">
            <a:spLocks noChangeArrowheads="1"/>
          </p:cNvSpPr>
          <p:nvPr/>
        </p:nvSpPr>
        <p:spPr bwMode="auto">
          <a:xfrm>
            <a:off x="1260475" y="3883015"/>
            <a:ext cx="2328863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6.</a:t>
            </a: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其它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:</a:t>
            </a:r>
            <a:endParaRPr lang="en-US" altLang="zh-CN" sz="2500" b="1">
              <a:ea typeface="楷体_GB2312" pitchFamily="49" charset="-122"/>
            </a:endParaRPr>
          </a:p>
        </p:txBody>
      </p:sp>
      <p:sp>
        <p:nvSpPr>
          <p:cNvPr id="147473" name="矩形 147472"/>
          <p:cNvSpPr>
            <a:spLocks noChangeArrowheads="1"/>
          </p:cNvSpPr>
          <p:nvPr/>
        </p:nvSpPr>
        <p:spPr bwMode="auto">
          <a:xfrm>
            <a:off x="2689225" y="4025890"/>
            <a:ext cx="4248150" cy="1265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05000"/>
              </a:lnSpc>
              <a:buFont typeface="Arial" charset="0"/>
              <a:buNone/>
            </a:pP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①</a:t>
            </a:r>
            <a:r>
              <a:rPr lang="zh-CN" altLang="en-US" sz="2500" b="1" dirty="0" smtClean="0">
                <a:solidFill>
                  <a:srgbClr val="FF3300"/>
                </a:solidFill>
                <a:ea typeface="楷体_GB2312" pitchFamily="49" charset="-122"/>
              </a:rPr>
              <a:t>溶剂</a:t>
            </a:r>
            <a:endParaRPr lang="en-US" altLang="zh-CN" sz="2500" b="1" dirty="0">
              <a:solidFill>
                <a:srgbClr val="FF3300"/>
              </a:solidFill>
              <a:ea typeface="楷体_GB2312" pitchFamily="49" charset="-122"/>
            </a:endParaRPr>
          </a:p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②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颗粒</a:t>
            </a:r>
            <a:r>
              <a:rPr lang="zh-CN" altLang="en-US" sz="2500" b="1" dirty="0" smtClean="0">
                <a:solidFill>
                  <a:srgbClr val="FF3300"/>
                </a:solidFill>
                <a:ea typeface="楷体_GB2312" pitchFamily="49" charset="-122"/>
              </a:rPr>
              <a:t>大小</a:t>
            </a:r>
            <a:r>
              <a:rPr lang="en-US" altLang="zh-CN" sz="2500" b="1" dirty="0" smtClean="0">
                <a:solidFill>
                  <a:srgbClr val="FF3300"/>
                </a:solidFill>
                <a:ea typeface="楷体_GB2312" pitchFamily="49" charset="-122"/>
              </a:rPr>
              <a:t>;</a:t>
            </a:r>
            <a:endParaRPr lang="en-US" altLang="zh-CN" sz="2500" b="1" dirty="0">
              <a:ea typeface="楷体_GB2312" pitchFamily="49" charset="-122"/>
            </a:endParaRPr>
          </a:p>
          <a:p>
            <a:pPr eaLnBrk="1" hangingPunct="1">
              <a:buFont typeface="Arial" charset="0"/>
              <a:buNone/>
            </a:pP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③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结构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</a:t>
            </a:r>
            <a:r>
              <a:rPr lang="en-US" altLang="zh-CN" sz="2500" b="1" dirty="0" err="1">
                <a:solidFill>
                  <a:srgbClr val="0000FF"/>
                </a:solidFill>
                <a:ea typeface="楷体_GB2312" pitchFamily="49" charset="-122"/>
              </a:rPr>
              <a:t>CoS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).</a:t>
            </a:r>
          </a:p>
        </p:txBody>
      </p:sp>
      <p:sp>
        <p:nvSpPr>
          <p:cNvPr id="147474" name="左大括号 147473"/>
          <p:cNvSpPr>
            <a:spLocks/>
          </p:cNvSpPr>
          <p:nvPr/>
        </p:nvSpPr>
        <p:spPr bwMode="auto">
          <a:xfrm>
            <a:off x="2546350" y="4097328"/>
            <a:ext cx="217488" cy="1079500"/>
          </a:xfrm>
          <a:prstGeom prst="leftBrace">
            <a:avLst>
              <a:gd name="adj1" fmla="val 411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 sz="2500"/>
          </a:p>
        </p:txBody>
      </p:sp>
      <p:sp>
        <p:nvSpPr>
          <p:cNvPr id="17418" name="椭圆 62501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auto">
          <a:xfrm>
            <a:off x="0" y="5580000"/>
            <a:ext cx="360362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2" name="椭圆 62544" descr="图片1">
            <a:hlinkClick r:id="rId6" action="ppaction://hlinkpres?slideindex=1&amp;slidetitle="/>
          </p:cNvPr>
          <p:cNvSpPr>
            <a:spLocks noChangeAspect="1" noChangeArrowheads="1"/>
          </p:cNvSpPr>
          <p:nvPr/>
        </p:nvSpPr>
        <p:spPr bwMode="auto">
          <a:xfrm>
            <a:off x="11155363" y="5580000"/>
            <a:ext cx="360362" cy="360362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1200" b="1" dirty="0" smtClean="0">
                <a:solidFill>
                  <a:srgbClr val="000000"/>
                </a:solidFill>
                <a:ea typeface="楷体_GB2312" pitchFamily="49" charset="-122"/>
              </a:rPr>
              <a:t>下节</a:t>
            </a:r>
            <a:endParaRPr lang="zh-CN" altLang="en-US" sz="12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47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7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7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74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147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74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474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474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63" grpId="0"/>
      <p:bldP spid="147464" grpId="0"/>
      <p:bldP spid="147466" grpId="0" build="p"/>
      <p:bldP spid="147471" grpId="0" build="p"/>
      <p:bldP spid="147472" grpId="0"/>
      <p:bldP spid="147473" grpId="0" build="p"/>
    </p:bldLst>
  </p:timing>
</p:sld>
</file>

<file path=ppt/theme/theme1.xml><?xml version="1.0" encoding="utf-8"?>
<a:theme xmlns:a="http://schemas.openxmlformats.org/drawingml/2006/main" name="医学研究PPT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医学研究PPT模板">
  <a:themeElements>
    <a:clrScheme name="1_医学研究PPT模板 1">
      <a:dk1>
        <a:srgbClr val="200B5B"/>
      </a:dk1>
      <a:lt1>
        <a:srgbClr val="EAEAEA"/>
      </a:lt1>
      <a:dk2>
        <a:srgbClr val="6600FF"/>
      </a:dk2>
      <a:lt2>
        <a:srgbClr val="FFCC66"/>
      </a:lt2>
      <a:accent1>
        <a:srgbClr val="EEB00B"/>
      </a:accent1>
      <a:accent2>
        <a:srgbClr val="6600CC"/>
      </a:accent2>
      <a:accent3>
        <a:srgbClr val="B8AAFF"/>
      </a:accent3>
      <a:accent4>
        <a:srgbClr val="C8C8C8"/>
      </a:accent4>
      <a:accent5>
        <a:srgbClr val="F5D4AA"/>
      </a:accent5>
      <a:accent6>
        <a:srgbClr val="5C00B9"/>
      </a:accent6>
      <a:hlink>
        <a:srgbClr val="FF33CC"/>
      </a:hlink>
      <a:folHlink>
        <a:srgbClr val="CC99FF"/>
      </a:folHlink>
    </a:clrScheme>
    <a:fontScheme name="1_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7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8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9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AAAAAA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10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医学研究PPT模板</Template>
  <TotalTime>791</TotalTime>
  <Pages>0</Pages>
  <Words>1239</Words>
  <Characters>0</Characters>
  <Application>Microsoft Office PowerPoint</Application>
  <DocSecurity>0</DocSecurity>
  <PresentationFormat>自定义</PresentationFormat>
  <Lines>0</Lines>
  <Paragraphs>164</Paragraphs>
  <Slides>18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4" baseType="lpstr">
      <vt:lpstr>Monotype Sorts</vt:lpstr>
      <vt:lpstr>MS UI Gothic</vt:lpstr>
      <vt:lpstr>黑体</vt:lpstr>
      <vt:lpstr>楷体</vt:lpstr>
      <vt:lpstr>楷体_GB2312</vt:lpstr>
      <vt:lpstr>宋体</vt:lpstr>
      <vt:lpstr>新宋体</vt:lpstr>
      <vt:lpstr>Arial</vt:lpstr>
      <vt:lpstr>Calibri</vt:lpstr>
      <vt:lpstr>Symbol</vt:lpstr>
      <vt:lpstr>Times New Roman</vt:lpstr>
      <vt:lpstr>Webdings</vt:lpstr>
      <vt:lpstr>Wingdings</vt:lpstr>
      <vt:lpstr>医学研究PPT模板</vt:lpstr>
      <vt:lpstr>1_医学研究PPT模板</vt:lpstr>
      <vt:lpstr>Microsoft 公式 3.0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ch04-01沉淀平衡</dc:title>
  <dc:subject/>
  <dc:creator>江南大学</dc:creator>
  <cp:keywords/>
  <dc:description/>
  <cp:lastModifiedBy>USER</cp:lastModifiedBy>
  <cp:revision>340</cp:revision>
  <dcterms:created xsi:type="dcterms:W3CDTF">2012-06-20T03:37:37Z</dcterms:created>
  <dcterms:modified xsi:type="dcterms:W3CDTF">2021-10-14T02:00:44Z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2052-10.1.0.6156</vt:lpwstr>
  </property>
</Properties>
</file>