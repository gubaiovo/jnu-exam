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Default Extension="wav" ContentType="audio/wav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0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gb2312"/>
  <p:clrMru>
    <a:srgbClr val="FFFF00"/>
    <a:srgbClr val="FFFFFF"/>
    <a:srgbClr val="F8F8F8"/>
    <a:srgbClr val="66CCFF"/>
    <a:srgbClr val="85D9F7"/>
    <a:srgbClr val="57BBFF"/>
    <a:srgbClr val="000000"/>
    <a:srgbClr val="00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620" autoAdjust="0"/>
  </p:normalViewPr>
  <p:slideViewPr>
    <p:cSldViewPr>
      <p:cViewPr varScale="1">
        <p:scale>
          <a:sx n="70" d="100"/>
          <a:sy n="70" d="100"/>
        </p:scale>
        <p:origin x="-852" y="-108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61515E42-F474-44D7-A0E1-A064942A215D}" type="datetimeFigureOut">
              <a:rPr lang="zh-CN" altLang="en-US"/>
              <a:pPr>
                <a:defRPr/>
              </a:pPr>
              <a:t>2017/8/24</a:t>
            </a:fld>
            <a:endParaRPr lang="en-US" altLang="zh-CN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E3F5B932-7DAC-440B-8692-A1EFE4B868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2"/>
          <p:cNvGrpSpPr>
            <a:grpSpLocks/>
          </p:cNvGrpSpPr>
          <p:nvPr userDrawn="1"/>
        </p:nvGrpSpPr>
        <p:grpSpPr bwMode="auto">
          <a:xfrm>
            <a:off x="0" y="0"/>
            <a:ext cx="11522075" cy="6513513"/>
            <a:chOff x="0" y="0"/>
            <a:chExt cx="7258" cy="4103"/>
          </a:xfrm>
        </p:grpSpPr>
        <p:grpSp>
          <p:nvGrpSpPr>
            <p:cNvPr id="1027" name="Group 100"/>
            <p:cNvGrpSpPr>
              <a:grpSpLocks/>
            </p:cNvGrpSpPr>
            <p:nvPr userDrawn="1"/>
          </p:nvGrpSpPr>
          <p:grpSpPr bwMode="auto">
            <a:xfrm>
              <a:off x="0" y="0"/>
              <a:ext cx="3627" cy="4103"/>
              <a:chOff x="204" y="45"/>
              <a:chExt cx="6325" cy="3401"/>
            </a:xfrm>
          </p:grpSpPr>
          <p:pic>
            <p:nvPicPr>
              <p:cNvPr id="1031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2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28" name="Group 103"/>
            <p:cNvGrpSpPr>
              <a:grpSpLocks/>
            </p:cNvGrpSpPr>
            <p:nvPr userDrawn="1"/>
          </p:nvGrpSpPr>
          <p:grpSpPr bwMode="auto">
            <a:xfrm>
              <a:off x="3631" y="0"/>
              <a:ext cx="3627" cy="4103"/>
              <a:chOff x="204" y="45"/>
              <a:chExt cx="6325" cy="3401"/>
            </a:xfrm>
          </p:grpSpPr>
          <p:pic>
            <p:nvPicPr>
              <p:cNvPr id="1029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0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溶度积与溶解度的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换算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对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型难溶物质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 </a:t>
            </a:r>
            <a:endParaRPr lang="en-US" altLang="zh-CN" sz="2400" b="1" i="1" kern="100" dirty="0" smtClean="0">
              <a:latin typeface="Times New Roman"/>
              <a:ea typeface="华文新魏" pitchFamily="2" charset="-122"/>
            </a:endParaRPr>
          </a:p>
          <a:p>
            <a:pPr algn="ctr">
              <a:defRPr/>
            </a:pPr>
            <a:r>
              <a:rPr lang="en-US" altLang="zh-CN" sz="2400" b="1" i="1" dirty="0" err="1" smtClean="0"/>
              <a:t>K</a:t>
            </a:r>
            <a:r>
              <a:rPr lang="en-US" altLang="zh-CN" sz="2400" b="1" i="1" baseline="-25000" dirty="0" err="1" smtClean="0"/>
              <a:t>sp</a:t>
            </a:r>
            <a:r>
              <a:rPr lang="zh-CN" altLang="zh-CN" sz="2400" b="1" baseline="30000" dirty="0"/>
              <a:t>θ</a:t>
            </a:r>
            <a:r>
              <a:rPr lang="zh-CN" altLang="zh-CN" sz="2400" b="1" dirty="0"/>
              <a:t> </a:t>
            </a:r>
            <a:r>
              <a:rPr lang="en-US" altLang="zh-CN" sz="2400" b="1" dirty="0"/>
              <a:t>=[Ag</a:t>
            </a:r>
            <a:r>
              <a:rPr lang="en-US" altLang="zh-CN" sz="2400" b="1" baseline="30000" dirty="0"/>
              <a:t>+</a:t>
            </a:r>
            <a:r>
              <a:rPr lang="en-US" altLang="zh-CN" sz="2400" b="1" dirty="0"/>
              <a:t>][Br</a:t>
            </a:r>
            <a:r>
              <a:rPr lang="en-US" altLang="zh-CN" sz="2400" b="1" baseline="30000" dirty="0"/>
              <a:t>-</a:t>
            </a:r>
            <a:r>
              <a:rPr lang="en-US" altLang="zh-CN" sz="2400" b="1" dirty="0" smtClean="0"/>
              <a:t>]=s</a:t>
            </a:r>
            <a:r>
              <a:rPr lang="en-US" altLang="zh-CN" sz="2400" b="1" baseline="30000" dirty="0" smtClean="0"/>
              <a:t>2</a:t>
            </a:r>
            <a:endParaRPr lang="en-US" altLang="zh-CN" sz="2400" b="1" i="1" kern="100" baseline="30000" dirty="0" smtClean="0">
              <a:latin typeface="Times New Roman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对于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型或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型难溶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物质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i="1" dirty="0" err="1">
                <a:latin typeface="+mj-ea"/>
                <a:ea typeface="+mj-ea"/>
              </a:rPr>
              <a:t>K</a:t>
            </a:r>
            <a:r>
              <a:rPr lang="en-US" altLang="zh-CN" sz="2400" b="1" i="1" baseline="-25000" dirty="0" err="1">
                <a:latin typeface="+mj-ea"/>
                <a:ea typeface="+mj-ea"/>
              </a:rPr>
              <a:t>sp</a:t>
            </a:r>
            <a:r>
              <a:rPr lang="zh-CN" altLang="zh-CN" sz="2400" b="1" baseline="30000" dirty="0">
                <a:latin typeface="+mj-ea"/>
                <a:ea typeface="+mj-ea"/>
              </a:rPr>
              <a:t>θ</a:t>
            </a:r>
            <a:r>
              <a:rPr lang="zh-CN" altLang="zh-CN" sz="2400" b="1" dirty="0">
                <a:latin typeface="+mj-ea"/>
                <a:ea typeface="+mj-ea"/>
              </a:rPr>
              <a:t> </a:t>
            </a:r>
            <a:r>
              <a:rPr lang="en-US" altLang="zh-CN" sz="2400" b="1" dirty="0"/>
              <a:t>= </a:t>
            </a:r>
            <a:r>
              <a:rPr lang="en-US" altLang="zh-CN" sz="2400" b="1" dirty="0" smtClean="0">
                <a:latin typeface="+mj-ea"/>
                <a:ea typeface="+mj-ea"/>
              </a:rPr>
              <a:t>[</a:t>
            </a:r>
            <a:r>
              <a:rPr lang="en-US" altLang="zh-CN" sz="2400" b="1" dirty="0">
                <a:latin typeface="+mj-ea"/>
                <a:ea typeface="+mj-ea"/>
              </a:rPr>
              <a:t>Ba</a:t>
            </a:r>
            <a:r>
              <a:rPr lang="en-US" altLang="zh-CN" sz="2400" b="1" baseline="30000" dirty="0">
                <a:latin typeface="+mj-ea"/>
                <a:ea typeface="+mj-ea"/>
              </a:rPr>
              <a:t>2+</a:t>
            </a:r>
            <a:r>
              <a:rPr lang="en-US" altLang="zh-CN" sz="2400" b="1" dirty="0">
                <a:latin typeface="+mj-ea"/>
                <a:ea typeface="+mj-ea"/>
              </a:rPr>
              <a:t>][F</a:t>
            </a:r>
            <a:r>
              <a:rPr lang="en-US" altLang="zh-CN" sz="2400" b="1" baseline="30000" dirty="0">
                <a:latin typeface="+mj-ea"/>
                <a:ea typeface="+mj-ea"/>
              </a:rPr>
              <a:t>-</a:t>
            </a:r>
            <a:r>
              <a:rPr lang="en-US" altLang="zh-CN" sz="2400" b="1" dirty="0">
                <a:latin typeface="+mj-ea"/>
                <a:ea typeface="+mj-ea"/>
              </a:rPr>
              <a:t>]</a:t>
            </a:r>
            <a:r>
              <a:rPr lang="en-US" altLang="zh-CN" sz="2400" b="1" baseline="30000" dirty="0" smtClean="0">
                <a:latin typeface="+mj-ea"/>
                <a:ea typeface="+mj-ea"/>
              </a:rPr>
              <a:t>2</a:t>
            </a:r>
            <a:r>
              <a:rPr lang="en-US" altLang="zh-CN" sz="2400" b="1" dirty="0" smtClean="0"/>
              <a:t>=4s</a:t>
            </a:r>
            <a:r>
              <a:rPr lang="en-US" altLang="zh-CN" sz="2400" b="1" baseline="30000" dirty="0" smtClean="0"/>
              <a:t>3</a:t>
            </a:r>
            <a:endParaRPr lang="en-US" altLang="zh-CN" sz="2400" b="1" i="1" kern="100" baseline="30000" dirty="0">
              <a:latin typeface="Times New Roman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已知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室温时以下各难溶物质的溶解度，试求它们相应的溶度积（不考虑水解）：</a:t>
            </a:r>
          </a:p>
          <a:p>
            <a:pPr marL="0" indent="0">
              <a:defRPr/>
            </a:pPr>
            <a:r>
              <a:rPr lang="zh-CN" altLang="zh-CN" sz="2400" b="1" dirty="0">
                <a:latin typeface="+mj-lt"/>
                <a:ea typeface="华文新魏" pitchFamily="2" charset="-122"/>
              </a:rPr>
              <a:t>①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 </a:t>
            </a:r>
            <a:r>
              <a:rPr lang="en-US" altLang="zh-CN" sz="2400" b="1" dirty="0" err="1">
                <a:latin typeface="+mj-lt"/>
                <a:ea typeface="华文新魏" pitchFamily="2" charset="-122"/>
              </a:rPr>
              <a:t>AgBr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，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7.1×10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-7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mol·L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-1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；</a:t>
            </a:r>
          </a:p>
          <a:p>
            <a:pPr marL="0" indent="0">
              <a:defRPr/>
            </a:pPr>
            <a:r>
              <a:rPr lang="zh-CN" altLang="zh-CN" sz="2400" b="1" dirty="0">
                <a:latin typeface="+mj-lt"/>
                <a:ea typeface="华文新魏" pitchFamily="2" charset="-122"/>
              </a:rPr>
              <a:t>②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 BaF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2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，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6.3×10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-3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mol·L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-1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5.04×10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1.0×10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-6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05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已知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室温时以下各难溶物质的溶度积，试求它们相应的溶解度（以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表示）：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Ca(OH)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sp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= 5.02×10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-6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Ag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</a:t>
            </a:r>
            <a:r>
              <a:rPr lang="en-US" altLang="zh-CN" sz="2400" b="1" i="1" kern="100" dirty="0" err="1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sp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  <a:sym typeface="Symbol"/>
              </a:rPr>
              <a:t>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= 1.20×10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-5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3076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溶度积与溶解度的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换算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对于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型或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型难溶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物质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endParaRPr lang="en-US" altLang="zh-CN" sz="2400" b="1" kern="100" dirty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2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/>
              <a:t>0.0108mol·L</a:t>
            </a:r>
            <a:r>
              <a:rPr lang="en-US" altLang="zh-CN" sz="2400" b="1" baseline="30000" dirty="0"/>
              <a:t>-1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0.0144mol·L</a:t>
            </a:r>
            <a:r>
              <a:rPr lang="en-US" altLang="zh-CN" sz="2400" b="1" baseline="30000" dirty="0"/>
              <a:t>-1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3080" name="Rectangle 11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905625" y="1922463"/>
          <a:ext cx="2524125" cy="1030287"/>
        </p:xfrm>
        <a:graphic>
          <a:graphicData uri="http://schemas.openxmlformats.org/presentationml/2006/ole">
            <p:oleObj spid="_x0000_s3081" name="公式" r:id="rId4" imgW="1193800" imgH="4826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9" grpId="0" build="p" autoUpdateAnimBg="0"/>
      <p:bldP spid="12" grpId="0" build="p" autoUpdateAnimBg="0" advAuto="0"/>
      <p:bldP spid="1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在存在同离子效应时溶度积与溶解度的关系，可以进行近似计算。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已知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CaF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的溶度积为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3.45×10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。求它</a:t>
            </a:r>
            <a:r>
              <a:rPr lang="zh-CN" altLang="zh-CN" sz="2400" b="1" kern="100" dirty="0"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在纯水中；</a:t>
            </a:r>
            <a:r>
              <a:rPr lang="zh-CN" altLang="zh-CN" sz="2400" b="1" kern="100" dirty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NaF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溶液中；</a:t>
            </a:r>
            <a:r>
              <a:rPr lang="zh-CN" altLang="zh-CN" sz="2400" b="1" kern="100" dirty="0">
                <a:ea typeface="宋体"/>
                <a:cs typeface="宋体"/>
              </a:rPr>
              <a:t>③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CaCl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溶液中的溶解度（以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表示）。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2.05×10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3.45×10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2.94×10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-5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10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氨水溶液为一元弱碱溶液，先计算出溶液的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，然后根据离子积的大小判断有无沉淀生成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加入铵盐后为缓冲溶液，计算出溶液的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后同样根据离子积的大小判断有无沉淀。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77829"/>
            <a:ext cx="5329238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10mL 1.5×10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溶液中，加入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5.0mL 0.15mol·L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氨水溶液，问能否生成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沉淀？</a:t>
            </a:r>
            <a:r>
              <a:rPr lang="zh-CN" altLang="zh-CN" sz="2400" b="1" kern="100" dirty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若在上述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10mL 1.5×10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溶液中，先加入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0.495g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固体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假定加入量对溶液体积影响不大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，然后再加入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5.0mL 0.15mol·L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氨水溶液，问是否有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沉淀生成？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有，没有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512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与金属离子生成硫化物的同时会释放出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，使溶液的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发生变化。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4166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下列溶液中不断通入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气体：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indent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的混合溶液，使溶液始终维持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饱和状态（溶液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）。计算这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两种溶液中残留的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2.25×10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-15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8.09×10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615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192838" y="1727200"/>
          <a:ext cx="4768850" cy="962025"/>
        </p:xfrm>
        <a:graphic>
          <a:graphicData uri="http://schemas.openxmlformats.org/presentationml/2006/ole">
            <p:oleObj spid="_x0000_s6153" name="公式" r:id="rId4" imgW="2413000" imgH="4826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完全溶解后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]=0.1mol</a:t>
            </a:r>
            <a:r>
              <a:rPr lang="en-US" altLang="zh-CN" sz="2400" b="1" kern="100" dirty="0">
                <a:latin typeface="Times New Roman"/>
                <a:ea typeface="宋体"/>
              </a:rPr>
              <a:t>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的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饱和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浓度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0.1mol</a:t>
            </a:r>
            <a:r>
              <a:rPr lang="en-US" altLang="zh-CN" sz="2400" b="1" kern="100" dirty="0">
                <a:latin typeface="Times New Roman"/>
                <a:ea typeface="宋体"/>
              </a:rPr>
              <a:t>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，根据公式可以计算出平衡时所需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的最低浓度，加上反应所消耗的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，即可得到所需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的最低浓度。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盐酸来溶解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0.10mol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固体所需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的浓度。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能否溶于盐酸？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约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118mol·L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，不能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717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76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265863" y="2808288"/>
          <a:ext cx="4238625" cy="1093787"/>
        </p:xfrm>
        <a:graphic>
          <a:graphicData uri="http://schemas.openxmlformats.org/presentationml/2006/ole">
            <p:oleObj spid="_x0000_s7177" name="公式" r:id="rId4" imgW="2070100" imgH="5334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沉淀完全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时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[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]≤10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-5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要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不沉淀，则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[Fe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]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0.050mol·L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，可以计算出相应的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浓度并确定溶液的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范围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某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溶液中含有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，浓度均为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0.050mol·L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。若要使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沉淀完全，而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不沉淀，问所需控制的溶液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的范围是多少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2.82&lt;pH&lt;6.50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819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0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01" name="Rectangle 1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67525" y="2771775"/>
          <a:ext cx="3548063" cy="1189038"/>
        </p:xfrm>
        <a:graphic>
          <a:graphicData uri="http://schemas.openxmlformats.org/presentationml/2006/ole">
            <p:oleObj spid="_x0000_s8202" name="公式" r:id="rId4" imgW="1473200" imgH="4953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分别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计算开始沉淀时所需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浓度，所需浓度小的先沉淀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2567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3.0×10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Ni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2.0×10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的溶液中，逐滴加入浓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渐增，问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Ni(OH)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哪个先沉淀？试通过计算说明（不考虑体积变化）；</a:t>
            </a:r>
            <a:r>
              <a:rPr lang="zh-CN" altLang="zh-CN" sz="2400" b="1" kern="100" dirty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若要分离这两种离子，溶液的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应控制在何范围？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514350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55864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Cr(OH)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先沉淀，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5.60&lt;pH&lt;7.13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922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24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624638" y="1644650"/>
          <a:ext cx="2714625" cy="947738"/>
        </p:xfrm>
        <a:graphic>
          <a:graphicData uri="http://schemas.openxmlformats.org/presentationml/2006/ole">
            <p:oleObj spid="_x0000_s9225" name="公式" r:id="rId4" imgW="1422400" imgH="495300" progId="Equation.3">
              <p:embed/>
            </p:oleObj>
          </a:graphicData>
        </a:graphic>
      </p:graphicFrame>
      <p:sp>
        <p:nvSpPr>
          <p:cNvPr id="9226" name="Rectangle 1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697663" y="2592388"/>
          <a:ext cx="2681287" cy="935037"/>
        </p:xfrm>
        <a:graphic>
          <a:graphicData uri="http://schemas.openxmlformats.org/presentationml/2006/ole">
            <p:oleObj spid="_x0000_s9227" name="公式" r:id="rId5" imgW="1422400" imgH="495300" progId="Equation.3">
              <p:embed/>
            </p:oleObj>
          </a:graphicData>
        </a:graphic>
      </p:graphicFrame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976938" y="3705225"/>
            <a:ext cx="5329237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400" b="1" dirty="0">
                <a:ea typeface="华文新魏" pitchFamily="2" charset="-122"/>
              </a:rPr>
              <a:t>应控制在一种离子沉淀完全时的</a:t>
            </a:r>
            <a:r>
              <a:rPr kumimoji="1" lang="en-US" altLang="zh-CN" sz="2400" b="1" dirty="0">
                <a:ea typeface="华文新魏" pitchFamily="2" charset="-122"/>
              </a:rPr>
              <a:t>pH</a:t>
            </a:r>
            <a:r>
              <a:rPr kumimoji="1" lang="zh-CN" altLang="en-US" sz="2400" b="1" dirty="0">
                <a:ea typeface="华文新魏" pitchFamily="2" charset="-122"/>
              </a:rPr>
              <a:t>至另一沉淀刚开始沉淀的</a:t>
            </a:r>
            <a:r>
              <a:rPr kumimoji="1" lang="en-US" altLang="zh-CN" sz="2400" b="1" dirty="0">
                <a:ea typeface="华文新魏" pitchFamily="2" charset="-122"/>
              </a:rPr>
              <a:t>pH</a:t>
            </a:r>
            <a:r>
              <a:rPr kumimoji="1" lang="zh-CN" altLang="en-US" sz="2400" b="1" dirty="0">
                <a:ea typeface="华文新魏" pitchFamily="2" charset="-122"/>
              </a:rPr>
              <a:t>。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  <p:bldP spid="1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根据溶度积计算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刚开始沉淀及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沉淀完全时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的浓度，然后根据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浓度与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的关系计算出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浓度应控制的范围。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溶液中含有少量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，如欲使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形成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沉淀，而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留在溶液中，从而达到分离的目的，溶液中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的浓度应控制在何范围？若通入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气体来实现上述目的，问溶液的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浓度应控制在何范围？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8.0×10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-23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&lt;[S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]&lt;2.5×10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-13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2.12×10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-5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&lt;[H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]&lt;1.18mol·L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024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分别计算出各离子刚开始沉淀时所需的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的浓度，所需浓度小的先沉淀。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溶液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中含有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Ba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Sr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，它们的浓度均为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1.0×10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溶液，试通过计算说明上述离子开始沉淀的先后顺序。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Ag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Ba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、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Sr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127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加入试剂使其中一种沉淀溶解而另一种不溶即可分离。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设计分离下列各组内物质的方案：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Mg(OH)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Fe(OH)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BaCO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BaSO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ZnS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CuS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3455988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3898900"/>
            <a:ext cx="5329237" cy="157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(1)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加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2.0mol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·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L</a:t>
            </a:r>
            <a:r>
              <a:rPr lang="en-US" altLang="zh-CN" sz="2400" b="1" baseline="30000" dirty="0" smtClean="0">
                <a:latin typeface="+mj-lt"/>
                <a:ea typeface="华文新魏" pitchFamily="2" charset="-122"/>
              </a:rPr>
              <a:t>-1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NH</a:t>
            </a:r>
            <a:r>
              <a:rPr lang="en-US" altLang="zh-CN" sz="2400" b="1" baseline="-25000" dirty="0" smtClean="0">
                <a:latin typeface="+mj-lt"/>
                <a:ea typeface="华文新魏" pitchFamily="2" charset="-122"/>
              </a:rPr>
              <a:t>3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·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H</a:t>
            </a:r>
            <a:r>
              <a:rPr lang="en-US" altLang="zh-CN" sz="2400" b="1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O</a:t>
            </a:r>
            <a:endParaRPr lang="zh-CN" altLang="zh-CN" sz="2400" b="1" dirty="0" smtClean="0">
              <a:latin typeface="+mj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(2)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加</a:t>
            </a:r>
            <a:r>
              <a:rPr lang="en-US" altLang="zh-CN" sz="2400" b="1" dirty="0" err="1" smtClean="0">
                <a:latin typeface="+mj-lt"/>
                <a:ea typeface="华文新魏" pitchFamily="2" charset="-122"/>
              </a:rPr>
              <a:t>HCl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或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NH</a:t>
            </a:r>
            <a:r>
              <a:rPr lang="en-US" altLang="zh-CN" sz="2400" b="1" baseline="-25000" dirty="0" smtClean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Cl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控制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pH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为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2.80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～</a:t>
            </a:r>
            <a:r>
              <a:rPr lang="en-US" altLang="zh-CN" sz="2400" b="1" dirty="0" smtClean="0">
                <a:latin typeface="+mj-lt"/>
                <a:ea typeface="华文新魏" pitchFamily="2" charset="-122"/>
              </a:rPr>
              <a:t>9.37</a:t>
            </a:r>
            <a:endParaRPr lang="zh-CN" altLang="zh-CN" sz="2400" b="1" dirty="0" smtClean="0">
              <a:latin typeface="+mj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(3)</a:t>
            </a:r>
            <a:r>
              <a:rPr lang="en-US" altLang="zh-CN" sz="2400" b="1" dirty="0" err="1" smtClean="0">
                <a:latin typeface="+mj-lt"/>
                <a:ea typeface="华文新魏" pitchFamily="2" charset="-122"/>
              </a:rPr>
              <a:t>HCl</a:t>
            </a:r>
            <a:endParaRPr lang="zh-CN" altLang="zh-CN" sz="2400" b="1" dirty="0" smtClean="0">
              <a:latin typeface="+mj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400" b="1" dirty="0" smtClean="0">
                <a:latin typeface="+mj-lt"/>
                <a:ea typeface="华文新魏" pitchFamily="2" charset="-122"/>
              </a:rPr>
              <a:t>(4)</a:t>
            </a:r>
            <a:r>
              <a:rPr lang="en-US" altLang="zh-CN" sz="2400" b="1" dirty="0" err="1" smtClean="0">
                <a:latin typeface="+mj-lt"/>
                <a:ea typeface="华文新魏" pitchFamily="2" charset="-122"/>
              </a:rPr>
              <a:t>HCl</a:t>
            </a:r>
            <a:endParaRPr lang="zh-CN" altLang="zh-CN" sz="2400" b="1" dirty="0" smtClean="0">
              <a:latin typeface="+mj-lt"/>
              <a:ea typeface="华文新魏" pitchFamily="2" charset="-122"/>
            </a:endParaRPr>
          </a:p>
        </p:txBody>
      </p:sp>
      <p:sp>
        <p:nvSpPr>
          <p:cNvPr id="1229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将沉淀转化的反应改写为两个沉淀反应相减，根据多重平衡原则，沉淀转化的平衡常数等于两个沉淀反应的溶度积常数相除。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计算下列沉淀转化的平衡常数：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ZnS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(s) + 2Ag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aq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r>
              <a:rPr lang="zh-CN" altLang="en-US" sz="2400" b="1" dirty="0">
                <a:ea typeface="华文新魏" pitchFamily="2" charset="-122"/>
              </a:rPr>
              <a:t> </a:t>
            </a:r>
            <a:endParaRPr lang="en-US" altLang="zh-CN" sz="2400" b="1" dirty="0" smtClean="0"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dirty="0">
                <a:ea typeface="华文新魏" pitchFamily="2" charset="-122"/>
              </a:rPr>
              <a:t> </a:t>
            </a:r>
            <a:r>
              <a:rPr lang="en-US" altLang="zh-CN" sz="2400" b="1" dirty="0" smtClean="0">
                <a:ea typeface="华文新魏" pitchFamily="2" charset="-122"/>
              </a:rPr>
              <a:t>                     </a:t>
            </a:r>
            <a:r>
              <a:rPr lang="zh-CN" altLang="en-US" sz="2400" b="1" dirty="0" smtClean="0">
                <a:ea typeface="华文新魏" pitchFamily="2" charset="-122"/>
              </a:rPr>
              <a:t>⇌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Ag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S(s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 + 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aq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);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PbCl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(s) + 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aq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     </a:t>
            </a:r>
            <a:r>
              <a:rPr lang="zh-CN" altLang="en-US" sz="2400" b="1" dirty="0" smtClean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(s) + 2Cl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aq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).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3.97×10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26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5.7×10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7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331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沉淀滴定法，</a:t>
            </a:r>
            <a:r>
              <a:rPr lang="en-US" altLang="zh-CN" sz="2400" b="1" dirty="0" err="1">
                <a:ea typeface="华文新魏" pitchFamily="2" charset="-122"/>
                <a:cs typeface="Times New Roman" pitchFamily="18" charset="0"/>
              </a:rPr>
              <a:t>Cl</a:t>
            </a:r>
            <a:r>
              <a:rPr lang="en-US" altLang="zh-CN" sz="2400" b="1" baseline="30000" dirty="0">
                <a:ea typeface="华文新魏" pitchFamily="2" charset="-122"/>
                <a:cs typeface="Times New Roman" pitchFamily="18" charset="0"/>
              </a:rPr>
              <a:t>-</a:t>
            </a:r>
            <a:r>
              <a:rPr lang="zh-CN" altLang="zh-CN" sz="2400" b="1" dirty="0">
                <a:ea typeface="华文新魏" pitchFamily="2" charset="-122"/>
                <a:cs typeface="Times New Roman" pitchFamily="18" charset="0"/>
              </a:rPr>
              <a:t>与</a:t>
            </a:r>
            <a:r>
              <a:rPr lang="en-US" altLang="zh-CN" sz="2400" b="1" dirty="0">
                <a:ea typeface="华文新魏" pitchFamily="2" charset="-122"/>
              </a:rPr>
              <a:t>AgNO</a:t>
            </a:r>
            <a:r>
              <a:rPr lang="en-US" altLang="zh-CN" sz="2400" b="1" baseline="-25000" dirty="0">
                <a:ea typeface="华文新魏" pitchFamily="2" charset="-122"/>
              </a:rPr>
              <a:t>3</a:t>
            </a:r>
            <a:r>
              <a:rPr lang="zh-CN" altLang="zh-CN" sz="2400" b="1" dirty="0">
                <a:ea typeface="华文新魏" pitchFamily="2" charset="-122"/>
              </a:rPr>
              <a:t>的计量关系为</a:t>
            </a:r>
            <a:r>
              <a:rPr lang="en-US" altLang="zh-CN" sz="2400" b="1" dirty="0">
                <a:ea typeface="华文新魏" pitchFamily="2" charset="-122"/>
              </a:rPr>
              <a:t>1:1</a:t>
            </a:r>
            <a:r>
              <a:rPr lang="zh-CN" altLang="zh-CN" sz="2400" b="1" dirty="0">
                <a:ea typeface="华文新魏" pitchFamily="2" charset="-122"/>
              </a:rPr>
              <a:t>。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莫尔法测定生理盐水中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含量。准确量取生理盐水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指示剂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0.5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～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0.1045mol·L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标准溶液滴至砖红色，共用去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14.58mL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。计算生理盐水中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的含量（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g·mL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）。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8.904×10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434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返滴定法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276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endParaRPr lang="en-US" altLang="zh-CN" sz="2500" b="1" dirty="0" smtClean="0">
              <a:solidFill>
                <a:srgbClr val="FFFF00"/>
              </a:solidFill>
              <a:ea typeface="华文新魏" pitchFamily="2" charset="-122"/>
            </a:endParaRPr>
          </a:p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 0.1000mol·L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作用于含有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60.00%NaCl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37.00%KCl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的物质，过量的需用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5.00mL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SCN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溶液去滴定（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1.00mL 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SCN == 1.10mLAgNO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），应称取多少克物质来分析？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0.1280g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536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8" name="Rectangle 9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9" name="Rectangle 11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553200" y="1289050"/>
          <a:ext cx="3652838" cy="654050"/>
        </p:xfrm>
        <a:graphic>
          <a:graphicData uri="http://schemas.openxmlformats.org/presentationml/2006/ole">
            <p:oleObj spid="_x0000_s15370" name="公式" r:id="rId4" imgW="1435100" imgH="2540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下列换算因数：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称量形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      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被测组分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  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Cl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Mg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P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5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·7H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FeSO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·12H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PbCrO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 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⑤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·12MoO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 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        Ca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(PO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；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5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0.2474</a:t>
            </a: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0.6378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2.215</a:t>
            </a:r>
            <a:r>
              <a:rPr lang="zh-CN" altLang="zh-CN" sz="2400" b="1" kern="100" dirty="0" smtClean="0">
                <a:ea typeface="宋体"/>
                <a:cs typeface="宋体"/>
              </a:rPr>
              <a:t>③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6.039</a:t>
            </a:r>
            <a:r>
              <a:rPr lang="zh-CN" altLang="zh-CN" sz="2400" b="1" kern="100" dirty="0" smtClean="0">
                <a:ea typeface="宋体"/>
                <a:cs typeface="宋体"/>
              </a:rPr>
              <a:t>④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0.2351</a:t>
            </a:r>
            <a:r>
              <a:rPr lang="zh-CN" altLang="zh-CN" sz="2400" b="1" kern="100" dirty="0" smtClean="0">
                <a:ea typeface="宋体"/>
                <a:cs typeface="宋体"/>
              </a:rPr>
              <a:t>⑤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0.08265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0.03782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6390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7056438" y="2016125"/>
            <a:ext cx="7127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 i="1">
                <a:ea typeface="楷体_GB2312" pitchFamily="49" charset="-122"/>
                <a:sym typeface="Symbol" pitchFamily="18" charset="2"/>
              </a:rPr>
              <a:t>F =</a:t>
            </a: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5969000" y="715948"/>
            <a:ext cx="34718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称量因子</a:t>
            </a:r>
            <a:r>
              <a:rPr lang="en-US" altLang="zh-CN" sz="28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(</a:t>
            </a:r>
            <a:r>
              <a:rPr lang="zh-CN" altLang="en-US" sz="28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换算因数</a:t>
            </a:r>
            <a:r>
              <a:rPr lang="en-US" altLang="zh-CN" sz="2800" b="1" dirty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</a:rPr>
              <a:t>):</a:t>
            </a: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7920038" y="2339975"/>
            <a:ext cx="1474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7956550" y="2341563"/>
            <a:ext cx="1660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ea typeface="楷体_GB2312" pitchFamily="49" charset="-122"/>
                <a:sym typeface="Symbol" pitchFamily="18" charset="2"/>
              </a:rPr>
              <a:t>n×</a:t>
            </a:r>
            <a:r>
              <a:rPr lang="en-US" altLang="zh-CN" sz="28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800" b="1" baseline="-25000">
                <a:ea typeface="楷体_GB2312" pitchFamily="49" charset="-122"/>
                <a:sym typeface="Symbol" pitchFamily="18" charset="2"/>
              </a:rPr>
              <a:t>MA</a:t>
            </a:r>
            <a:r>
              <a:rPr lang="en-US" altLang="zh-CN" sz="2800" b="1" baseline="-40000">
                <a:ea typeface="楷体_GB2312" pitchFamily="49" charset="-122"/>
                <a:sym typeface="Symbol" pitchFamily="18" charset="2"/>
              </a:rPr>
              <a:t>m</a:t>
            </a:r>
            <a:endParaRPr lang="en-US" altLang="zh-CN" sz="2800" b="1" i="1">
              <a:ea typeface="楷体_GB2312" pitchFamily="49" charset="-122"/>
              <a:sym typeface="Symbol" pitchFamily="18" charset="2"/>
            </a:endParaRPr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7920038" y="1765300"/>
            <a:ext cx="1625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800" b="1">
                <a:ea typeface="楷体_GB2312" pitchFamily="49" charset="-122"/>
                <a:sym typeface="Symbol" pitchFamily="18" charset="2"/>
              </a:rPr>
              <a:t>m×</a:t>
            </a:r>
            <a:r>
              <a:rPr lang="en-US" altLang="zh-CN" sz="2800" b="1" i="1">
                <a:ea typeface="楷体_GB2312" pitchFamily="49" charset="-122"/>
                <a:sym typeface="Symbol" pitchFamily="18" charset="2"/>
              </a:rPr>
              <a:t>M</a:t>
            </a:r>
            <a:r>
              <a:rPr lang="en-US" altLang="zh-CN" sz="2800" b="1" baseline="-25000">
                <a:ea typeface="楷体_GB2312" pitchFamily="49" charset="-122"/>
                <a:sym typeface="Symbol" pitchFamily="18" charset="2"/>
              </a:rPr>
              <a:t>A</a:t>
            </a:r>
            <a:r>
              <a:rPr lang="en-US" altLang="zh-CN" sz="2800" b="1" baseline="-40000">
                <a:ea typeface="楷体_GB2312" pitchFamily="49" charset="-122"/>
                <a:sym typeface="Symbol" pitchFamily="18" charset="2"/>
              </a:rPr>
              <a:t>n</a:t>
            </a:r>
            <a:r>
              <a:rPr lang="en-US" altLang="zh-CN" sz="2800" b="1" baseline="-25000">
                <a:ea typeface="楷体_GB2312" pitchFamily="49" charset="-122"/>
                <a:sym typeface="Symbol" pitchFamily="18" charset="2"/>
              </a:rPr>
              <a:t>B</a:t>
            </a:r>
            <a:endParaRPr lang="en-US" altLang="zh-CN" sz="2800" b="1" i="1">
              <a:ea typeface="楷体_GB2312" pitchFamily="49" charset="-122"/>
              <a:sym typeface="Symbol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4" presetID="5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ECYCL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  <p:bldP spid="9" grpId="0" autoUpdateAnimBg="0"/>
      <p:bldP spid="10" grpId="0" autoUpdateAnimBg="0"/>
      <p:bldP spid="11" grpId="0" animBg="1"/>
      <p:bldP spid="12" grpId="0" autoUpdateAnimBg="0"/>
      <p:bldP spid="1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重量分析法，根据换算因素进行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9154"/>
            <a:ext cx="5329238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0.4829g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合金钢溶解后，将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Ni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沉淀为丁二酮肟镍（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NiC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8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14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），烘干后的质量为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0.2671g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。计算样品中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11.24%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741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92813" y="1671638"/>
          <a:ext cx="5241925" cy="1568450"/>
        </p:xfrm>
        <a:graphic>
          <a:graphicData uri="http://schemas.openxmlformats.org/presentationml/2006/ole">
            <p:oleObj spid="_x0000_s17417" name="公式" r:id="rId4" imgW="2895600" imgH="8636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重量分析法，根据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AgBr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转化为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时的质量变化可以计算出原样品中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AgBr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的质量，总质量减去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AgBr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的质量得原样品中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的质量，进而可以计算出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有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纯的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和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AgBr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混合样品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0.8132g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气流中加热，使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AgBr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转化为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，则原样品的质量减轻了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0.1450g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。计算原样品中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6.10%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重量分析法，根据换算因素进行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4-18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取不纯的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·7H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 0.5000g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，首先使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生成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，最后灼烧成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，称得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0.1980g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。试计算样品中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MgSO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·7H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87.72%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946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976938" y="1511300"/>
          <a:ext cx="5362575" cy="1512888"/>
        </p:xfrm>
        <a:graphic>
          <a:graphicData uri="http://schemas.openxmlformats.org/presentationml/2006/ole">
            <p:oleObj spid="_x0000_s19465" name="公式" r:id="rId4" imgW="3276600" imgH="927100" progId="Equation.3">
              <p:embed/>
            </p:oleObj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3405</TotalTime>
  <Pages>0</Pages>
  <Words>1438</Words>
  <Characters>0</Characters>
  <Application>Microsoft Office PowerPoint</Application>
  <DocSecurity>0</DocSecurity>
  <PresentationFormat>自定义</PresentationFormat>
  <Lines>0</Lines>
  <Paragraphs>130</Paragraphs>
  <Slides>18</Slides>
  <Notes>18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医学研究PPT模板</vt:lpstr>
      <vt:lpstr>公式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ch04沉淀平衡习题指导</dc:title>
  <dc:creator>江南大学</dc:creator>
  <cp:lastModifiedBy>ASUS</cp:lastModifiedBy>
  <cp:revision>306</cp:revision>
  <cp:lastPrinted>1601-01-01T00:00:00Z</cp:lastPrinted>
  <dcterms:created xsi:type="dcterms:W3CDTF">2012-06-20T03:37:37Z</dcterms:created>
  <dcterms:modified xsi:type="dcterms:W3CDTF">2017-08-23T22:58:53Z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