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61" r:id="rId2"/>
  </p:sldMasterIdLst>
  <p:notesMasterIdLst>
    <p:notesMasterId r:id="rId25"/>
  </p:notesMasterIdLst>
  <p:handoutMasterIdLst>
    <p:handoutMasterId r:id="rId26"/>
  </p:handoutMasterIdLst>
  <p:sldIdLst>
    <p:sldId id="294" r:id="rId3"/>
    <p:sldId id="302" r:id="rId4"/>
    <p:sldId id="304" r:id="rId5"/>
    <p:sldId id="331" r:id="rId6"/>
    <p:sldId id="329" r:id="rId7"/>
    <p:sldId id="332" r:id="rId8"/>
    <p:sldId id="308" r:id="rId9"/>
    <p:sldId id="309" r:id="rId10"/>
    <p:sldId id="312" r:id="rId11"/>
    <p:sldId id="313" r:id="rId12"/>
    <p:sldId id="333" r:id="rId13"/>
    <p:sldId id="314" r:id="rId14"/>
    <p:sldId id="316" r:id="rId15"/>
    <p:sldId id="317" r:id="rId16"/>
    <p:sldId id="318" r:id="rId17"/>
    <p:sldId id="319" r:id="rId18"/>
    <p:sldId id="320" r:id="rId19"/>
    <p:sldId id="321" r:id="rId20"/>
    <p:sldId id="322" r:id="rId21"/>
    <p:sldId id="323" r:id="rId22"/>
    <p:sldId id="324" r:id="rId23"/>
    <p:sldId id="330" r:id="rId24"/>
  </p:sldIdLst>
  <p:sldSz cx="11522075" cy="6480175"/>
  <p:notesSz cx="6858000" cy="9144000"/>
  <p:custDataLst>
    <p:tags r:id="rId2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34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00"/>
    <a:srgbClr val="FF0000"/>
    <a:srgbClr val="FFFFFF"/>
    <a:srgbClr val="F8F8F8"/>
    <a:srgbClr val="FF00FF"/>
    <a:srgbClr val="FF33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50" autoAdjust="0"/>
    <p:restoredTop sz="99323" autoAdjust="0"/>
  </p:normalViewPr>
  <p:slideViewPr>
    <p:cSldViewPr>
      <p:cViewPr varScale="1">
        <p:scale>
          <a:sx n="78" d="100"/>
          <a:sy n="78" d="100"/>
        </p:scale>
        <p:origin x="576" y="78"/>
      </p:cViewPr>
      <p:guideLst>
        <p:guide orient="horz" pos="2034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楷体_GB231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楷体_GB2312"/>
              </a:defRPr>
            </a:lvl1pPr>
          </a:lstStyle>
          <a:p>
            <a:pPr>
              <a:defRPr/>
            </a:pPr>
            <a:fld id="{E948B0C5-17B5-4B40-A3EA-CEB92AE7526C}" type="datetimeFigureOut">
              <a:rPr lang="zh-CN" altLang="en-US"/>
              <a:pPr>
                <a:defRPr/>
              </a:pPr>
              <a:t>2021/12/8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楷体_GB231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楷体_GB2312"/>
              </a:defRPr>
            </a:lvl1pPr>
          </a:lstStyle>
          <a:p>
            <a:pPr>
              <a:defRPr/>
            </a:pPr>
            <a:fld id="{D370DECF-2025-4117-A8C4-4252953F228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楷体_GB231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楷体_GB2312"/>
              </a:defRPr>
            </a:lvl1pPr>
          </a:lstStyle>
          <a:p>
            <a:pPr>
              <a:defRPr/>
            </a:pPr>
            <a:fld id="{BDA8B66C-AC51-4FE8-8940-4E04DCB0BC82}" type="datetimeFigureOut">
              <a:rPr lang="zh-CN" altLang="en-US"/>
              <a:pPr>
                <a:defRPr/>
              </a:pPr>
              <a:t>2021/12/8</a:t>
            </a:fld>
            <a:endParaRPr lang="en-US" altLang="zh-CN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楷体_GB231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楷体_GB2312"/>
              </a:defRPr>
            </a:lvl1pPr>
          </a:lstStyle>
          <a:p>
            <a:pPr>
              <a:defRPr/>
            </a:pPr>
            <a:fld id="{03E8E5C0-134D-454D-8DDB-1D77DED2DB7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楷体_GB2312"/>
        <a:cs typeface="楷体_GB231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楷体_GB2312"/>
        <a:cs typeface="楷体_GB231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楷体_GB2312"/>
        <a:cs typeface="楷体_GB231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楷体_GB2312"/>
        <a:cs typeface="楷体_GB231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楷体_GB2312"/>
        <a:cs typeface="楷体_GB231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ea typeface="楷体_GB2312" pitchFamily="49" charset="-122"/>
              </a:rPr>
              <a:t>商少明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FECC1BFA-F4E6-4E7C-904B-D67AABA125C7}" type="datetime1">
              <a:rPr lang="zh-CN" altLang="en-US" smtClean="0">
                <a:ea typeface="楷体_GB2312" pitchFamily="49" charset="-122"/>
              </a:rPr>
              <a:pPr/>
              <a:t>2021/12/8</a:t>
            </a:fld>
            <a:endParaRPr lang="en-US" altLang="zh-CN" smtClean="0">
              <a:ea typeface="楷体_GB2312" pitchFamily="49" charset="-122"/>
            </a:endParaRPr>
          </a:p>
        </p:txBody>
      </p:sp>
      <p:sp>
        <p:nvSpPr>
          <p:cNvPr id="235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4511258-8CAE-4FD9-9E93-B3907DA68D7F}" type="slidenum">
              <a:rPr lang="en-US" altLang="zh-CN" smtClean="0">
                <a:ea typeface="楷体_GB2312" pitchFamily="49" charset="-122"/>
              </a:rPr>
              <a:pPr/>
              <a:t>7</a:t>
            </a:fld>
            <a:endParaRPr lang="en-US" altLang="zh-CN" smtClean="0">
              <a:ea typeface="楷体_GB2312" pitchFamily="49" charset="-122"/>
            </a:endParaRPr>
          </a:p>
        </p:txBody>
      </p:sp>
      <p:sp>
        <p:nvSpPr>
          <p:cNvPr id="235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zh-CN" altLang="en-US" smtClean="0">
                <a:ea typeface="楷体_GB2312" pitchFamily="49" charset="-122"/>
                <a:sym typeface="Monotype Sorts" pitchFamily="2" charset="2"/>
              </a:rPr>
              <a:t>灵敏</a:t>
            </a:r>
            <a:r>
              <a:rPr lang="en-US" altLang="zh-CN" smtClean="0">
                <a:ea typeface="楷体_GB2312" pitchFamily="49" charset="-122"/>
                <a:sym typeface="Monotype Sorts" pitchFamily="2" charset="2"/>
              </a:rPr>
              <a:t>,</a:t>
            </a:r>
            <a:r>
              <a:rPr lang="zh-CN" altLang="en-US" smtClean="0">
                <a:ea typeface="楷体_GB2312" pitchFamily="49" charset="-122"/>
                <a:sym typeface="Monotype Sorts" pitchFamily="2" charset="2"/>
              </a:rPr>
              <a:t>可靠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ea typeface="楷体_GB2312" pitchFamily="49" charset="-122"/>
              </a:rPr>
              <a:t>商少明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EACC55AF-57A4-44F9-89F1-CA736D84BFF3}" type="datetime1">
              <a:rPr lang="zh-CN" altLang="en-US" smtClean="0">
                <a:ea typeface="楷体_GB2312" pitchFamily="49" charset="-122"/>
              </a:rPr>
              <a:pPr/>
              <a:t>2021/12/8</a:t>
            </a:fld>
            <a:endParaRPr lang="en-US" altLang="zh-CN" smtClean="0">
              <a:ea typeface="楷体_GB2312" pitchFamily="49" charset="-122"/>
            </a:endParaRPr>
          </a:p>
        </p:txBody>
      </p:sp>
      <p:sp>
        <p:nvSpPr>
          <p:cNvPr id="245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E4A2275-7D76-4065-85C2-D61E2E86276C}" type="slidenum">
              <a:rPr lang="en-US" altLang="zh-CN" smtClean="0">
                <a:ea typeface="楷体_GB2312" pitchFamily="49" charset="-122"/>
              </a:rPr>
              <a:pPr/>
              <a:t>8</a:t>
            </a:fld>
            <a:endParaRPr lang="en-US" altLang="zh-CN" smtClean="0">
              <a:ea typeface="楷体_GB2312" pitchFamily="49" charset="-122"/>
            </a:endParaRPr>
          </a:p>
        </p:txBody>
      </p:sp>
      <p:sp>
        <p:nvSpPr>
          <p:cNvPr id="245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altLang="zh-CN" smtClean="0"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mtClean="0">
                <a:ea typeface="楷体_GB2312" pitchFamily="49" charset="-122"/>
              </a:rPr>
              <a:t>查得定量滴定某</a:t>
            </a:r>
            <a:r>
              <a:rPr lang="en-US" altLang="zh-CN" smtClean="0">
                <a:ea typeface="楷体_GB2312" pitchFamily="49" charset="-122"/>
              </a:rPr>
              <a:t>M</a:t>
            </a:r>
            <a:r>
              <a:rPr lang="zh-CN" altLang="en-US" smtClean="0">
                <a:ea typeface="楷体_GB2312" pitchFamily="49" charset="-122"/>
              </a:rPr>
              <a:t>离子的最低</a:t>
            </a:r>
            <a:r>
              <a:rPr lang="en-US" altLang="zh-CN" smtClean="0">
                <a:ea typeface="楷体_GB2312" pitchFamily="49" charset="-122"/>
              </a:rPr>
              <a:t>pH</a:t>
            </a:r>
            <a:r>
              <a:rPr lang="zh-CN" altLang="en-US" smtClean="0">
                <a:ea typeface="楷体_GB2312" pitchFamily="49" charset="-122"/>
              </a:rPr>
              <a:t>；</a:t>
            </a:r>
            <a:r>
              <a:rPr lang="zh-CN" altLang="en-US" smtClean="0"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en-US" smtClean="0">
                <a:ea typeface="楷体_GB2312" pitchFamily="49" charset="-122"/>
              </a:rPr>
              <a:t>预计可能存在的干扰；③实现连续滴定的酸度条件。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ea typeface="楷体_GB2312" pitchFamily="49" charset="-122"/>
              </a:rPr>
              <a:t>商少明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7A0A49A2-345B-470F-8CF1-D42928CA2666}" type="datetime1">
              <a:rPr lang="zh-CN" altLang="en-US" smtClean="0">
                <a:ea typeface="楷体_GB2312" pitchFamily="49" charset="-122"/>
              </a:rPr>
              <a:pPr/>
              <a:t>2021/12/8</a:t>
            </a:fld>
            <a:endParaRPr lang="en-US" altLang="zh-CN" smtClean="0">
              <a:ea typeface="楷体_GB2312" pitchFamily="49" charset="-122"/>
            </a:endParaRPr>
          </a:p>
        </p:txBody>
      </p:sp>
      <p:sp>
        <p:nvSpPr>
          <p:cNvPr id="256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18BF94-E0CB-486E-9A10-1F352C37827B}" type="slidenum">
              <a:rPr lang="en-US" altLang="zh-CN" smtClean="0">
                <a:ea typeface="楷体_GB2312" pitchFamily="49" charset="-122"/>
              </a:rPr>
              <a:pPr/>
              <a:t>13</a:t>
            </a:fld>
            <a:endParaRPr lang="en-US" altLang="zh-CN" smtClean="0">
              <a:ea typeface="楷体_GB2312" pitchFamily="49" charset="-122"/>
            </a:endParaRPr>
          </a:p>
        </p:txBody>
      </p:sp>
      <p:sp>
        <p:nvSpPr>
          <p:cNvPr id="256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zh-CN" smtClean="0">
              <a:ea typeface="楷体_GB2312" pitchFamily="49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432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8469" y="863823"/>
            <a:ext cx="10369550" cy="427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1pPr>
            <a:lvl2pPr marL="4572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2pPr>
            <a:lvl3pPr marL="9144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3pPr>
            <a:lvl4pPr marL="13716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4pPr>
            <a:lvl5pPr marL="18288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152"/>
          <p:cNvGrpSpPr>
            <a:grpSpLocks/>
          </p:cNvGrpSpPr>
          <p:nvPr userDrawn="1"/>
        </p:nvGrpSpPr>
        <p:grpSpPr bwMode="auto">
          <a:xfrm>
            <a:off x="-34925" y="107950"/>
            <a:ext cx="11588750" cy="6408738"/>
            <a:chOff x="-22" y="68"/>
            <a:chExt cx="7300" cy="4037"/>
          </a:xfrm>
        </p:grpSpPr>
        <p:sp>
          <p:nvSpPr>
            <p:cNvPr id="1028" name="Freeform 1027"/>
            <p:cNvSpPr>
              <a:spLocks/>
            </p:cNvSpPr>
            <p:nvPr userDrawn="1"/>
          </p:nvSpPr>
          <p:spPr bwMode="auto">
            <a:xfrm>
              <a:off x="80" y="431"/>
              <a:ext cx="7080" cy="3174"/>
            </a:xfrm>
            <a:custGeom>
              <a:avLst/>
              <a:gdLst>
                <a:gd name="T0" fmla="*/ 9512 w 5269"/>
                <a:gd name="T1" fmla="*/ 0 h 2977"/>
                <a:gd name="T2" fmla="*/ 0 w 5269"/>
                <a:gd name="T3" fmla="*/ 0 h 2977"/>
                <a:gd name="T4" fmla="*/ 0 w 5269"/>
                <a:gd name="T5" fmla="*/ 3383 h 29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0" y="0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B2B2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楷体_GB2312"/>
              </a:endParaRPr>
            </a:p>
          </p:txBody>
        </p:sp>
        <p:grpSp>
          <p:nvGrpSpPr>
            <p:cNvPr id="5125" name="Group 1042"/>
            <p:cNvGrpSpPr>
              <a:grpSpLocks/>
            </p:cNvGrpSpPr>
            <p:nvPr userDrawn="1"/>
          </p:nvGrpSpPr>
          <p:grpSpPr bwMode="auto">
            <a:xfrm rot="5400000">
              <a:off x="3597" y="-3112"/>
              <a:ext cx="68" cy="7141"/>
              <a:chOff x="336" y="1103"/>
              <a:chExt cx="97" cy="2785"/>
            </a:xfrm>
          </p:grpSpPr>
          <p:sp>
            <p:nvSpPr>
              <p:cNvPr id="1039" name="Rectangle 1043"/>
              <p:cNvSpPr>
                <a:spLocks noChangeArrowheads="1"/>
              </p:cNvSpPr>
              <p:nvPr userDrawn="1"/>
            </p:nvSpPr>
            <p:spPr bwMode="auto">
              <a:xfrm>
                <a:off x="338" y="1104"/>
                <a:ext cx="97" cy="2784"/>
              </a:xfrm>
              <a:prstGeom prst="rect">
                <a:avLst/>
              </a:prstGeom>
              <a:solidFill>
                <a:srgbClr val="DDDDDD"/>
              </a:solidFill>
              <a:ln w="158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zh-CN" sz="2400">
                  <a:ea typeface="楷体_GB2312"/>
                </a:endParaRPr>
              </a:p>
            </p:txBody>
          </p:sp>
          <p:sp>
            <p:nvSpPr>
              <p:cNvPr id="1040" name="Freeform 1044"/>
              <p:cNvSpPr>
                <a:spLocks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 cap="rnd">
                <a:noFill/>
                <a:round/>
                <a:headEnd type="none" w="sm" len="sm"/>
                <a:tailEnd type="none" w="sm" len="sm"/>
              </a:ln>
            </p:spPr>
            <p:txBody>
              <a:bodyPr rot="10800000" vert="eaVert"/>
              <a:lstStyle/>
              <a:p>
                <a:pPr>
                  <a:defRPr/>
                </a:pPr>
                <a:endParaRPr lang="zh-CN" altLang="en-US">
                  <a:ea typeface="楷体_GB2312"/>
                </a:endParaRPr>
              </a:p>
            </p:txBody>
          </p:sp>
          <p:sp>
            <p:nvSpPr>
              <p:cNvPr id="1041" name="Freeform 1045"/>
              <p:cNvSpPr>
                <a:spLocks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 cap="rnd">
                <a:noFill/>
                <a:round/>
                <a:headEnd type="none" w="sm" len="sm"/>
                <a:tailEnd type="none" w="sm" len="sm"/>
              </a:ln>
            </p:spPr>
            <p:txBody>
              <a:bodyPr rot="10800000" vert="eaVert"/>
              <a:lstStyle/>
              <a:p>
                <a:pPr>
                  <a:defRPr/>
                </a:pPr>
                <a:endParaRPr lang="zh-CN" altLang="en-US">
                  <a:ea typeface="楷体_GB2312"/>
                </a:endParaRPr>
              </a:p>
            </p:txBody>
          </p:sp>
        </p:grpSp>
        <p:sp>
          <p:nvSpPr>
            <p:cNvPr id="1030" name="Freeform 1028"/>
            <p:cNvSpPr>
              <a:spLocks/>
            </p:cNvSpPr>
            <p:nvPr userDrawn="1"/>
          </p:nvSpPr>
          <p:spPr bwMode="auto">
            <a:xfrm>
              <a:off x="96" y="431"/>
              <a:ext cx="7080" cy="3174"/>
            </a:xfrm>
            <a:custGeom>
              <a:avLst/>
              <a:gdLst>
                <a:gd name="T0" fmla="*/ 9512 w 5269"/>
                <a:gd name="T1" fmla="*/ 0 h 2977"/>
                <a:gd name="T2" fmla="*/ 9512 w 5269"/>
                <a:gd name="T3" fmla="*/ 3383 h 2977"/>
                <a:gd name="T4" fmla="*/ 0 w 5269"/>
                <a:gd name="T5" fmla="*/ 3383 h 29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5268" y="2976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楷体_GB2312"/>
              </a:endParaRPr>
            </a:p>
          </p:txBody>
        </p:sp>
        <p:sp>
          <p:nvSpPr>
            <p:cNvPr id="1031" name="Rectangle 1036"/>
            <p:cNvSpPr>
              <a:spLocks noChangeArrowheads="1"/>
            </p:cNvSpPr>
            <p:nvPr userDrawn="1"/>
          </p:nvSpPr>
          <p:spPr bwMode="auto">
            <a:xfrm>
              <a:off x="61" y="68"/>
              <a:ext cx="7141" cy="3584"/>
            </a:xfrm>
            <a:prstGeom prst="rect">
              <a:avLst/>
            </a:prstGeom>
            <a:noFill/>
            <a:ln w="254000">
              <a:pattFill prst="dkHorz">
                <a:fgClr>
                  <a:srgbClr val="C8C8C8"/>
                </a:fgClr>
                <a:bgClr>
                  <a:schemeClr val="bg1"/>
                </a:bgClr>
              </a:patt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1600">
                <a:ea typeface="楷体_GB2312" pitchFamily="49" charset="-122"/>
              </a:endParaRPr>
            </a:p>
          </p:txBody>
        </p:sp>
        <p:grpSp>
          <p:nvGrpSpPr>
            <p:cNvPr id="5128" name="Group 1038"/>
            <p:cNvGrpSpPr>
              <a:grpSpLocks/>
            </p:cNvGrpSpPr>
            <p:nvPr userDrawn="1"/>
          </p:nvGrpSpPr>
          <p:grpSpPr bwMode="auto">
            <a:xfrm>
              <a:off x="306" y="584"/>
              <a:ext cx="68" cy="2879"/>
              <a:chOff x="336" y="1103"/>
              <a:chExt cx="97" cy="2785"/>
            </a:xfrm>
          </p:grpSpPr>
          <p:sp>
            <p:nvSpPr>
              <p:cNvPr id="1036" name="Rectangle 1039"/>
              <p:cNvSpPr>
                <a:spLocks noChangeArrowheads="1"/>
              </p:cNvSpPr>
              <p:nvPr userDrawn="1"/>
            </p:nvSpPr>
            <p:spPr bwMode="auto">
              <a:xfrm>
                <a:off x="336" y="1104"/>
                <a:ext cx="96" cy="2784"/>
              </a:xfrm>
              <a:prstGeom prst="rect">
                <a:avLst/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zh-CN" sz="2400">
                  <a:ea typeface="楷体_GB2312"/>
                </a:endParaRPr>
              </a:p>
            </p:txBody>
          </p:sp>
          <p:sp>
            <p:nvSpPr>
              <p:cNvPr id="1037" name="Freeform 1040"/>
              <p:cNvSpPr>
                <a:spLocks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楷体_GB2312"/>
                </a:endParaRPr>
              </a:p>
            </p:txBody>
          </p:sp>
          <p:sp>
            <p:nvSpPr>
              <p:cNvPr id="1038" name="Freeform 1041"/>
              <p:cNvSpPr>
                <a:spLocks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楷体_GB2312"/>
                </a:endParaRPr>
              </a:p>
            </p:txBody>
          </p:sp>
        </p:grpSp>
        <p:sp>
          <p:nvSpPr>
            <p:cNvPr id="1033" name="Rectangle 139" descr="深色横线"/>
            <p:cNvSpPr>
              <a:spLocks noChangeArrowheads="1"/>
            </p:cNvSpPr>
            <p:nvPr userDrawn="1"/>
          </p:nvSpPr>
          <p:spPr bwMode="auto">
            <a:xfrm>
              <a:off x="-22" y="3652"/>
              <a:ext cx="7300" cy="453"/>
            </a:xfrm>
            <a:prstGeom prst="rect">
              <a:avLst/>
            </a:prstGeom>
            <a:pattFill prst="dkHorz">
              <a:fgClr>
                <a:srgbClr val="C8C8C8"/>
              </a:fgClr>
              <a:bgClr>
                <a:schemeClr val="bg1"/>
              </a:bgClr>
            </a:patt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楷体_GB2312"/>
              </a:endParaRPr>
            </a:p>
          </p:txBody>
        </p:sp>
        <p:sp>
          <p:nvSpPr>
            <p:cNvPr id="1034" name="AutoShape 143"/>
            <p:cNvSpPr>
              <a:spLocks noChangeArrowheads="1"/>
            </p:cNvSpPr>
            <p:nvPr userDrawn="1"/>
          </p:nvSpPr>
          <p:spPr bwMode="auto">
            <a:xfrm>
              <a:off x="136" y="136"/>
              <a:ext cx="6994" cy="295"/>
            </a:xfrm>
            <a:prstGeom prst="flowChartAlternateProcess">
              <a:avLst/>
            </a:prstGeom>
            <a:solidFill>
              <a:srgbClr val="EAEAEA"/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楷体_GB2312"/>
              </a:endParaRPr>
            </a:p>
          </p:txBody>
        </p:sp>
        <p:sp>
          <p:nvSpPr>
            <p:cNvPr id="1035" name="Rectangle 146"/>
            <p:cNvSpPr>
              <a:spLocks noChangeArrowheads="1"/>
            </p:cNvSpPr>
            <p:nvPr userDrawn="1"/>
          </p:nvSpPr>
          <p:spPr bwMode="auto">
            <a:xfrm>
              <a:off x="136" y="499"/>
              <a:ext cx="6982" cy="3083"/>
            </a:xfrm>
            <a:prstGeom prst="rect">
              <a:avLst/>
            </a:prstGeom>
            <a:solidFill>
              <a:srgbClr val="EAEAEA">
                <a:alpha val="85097"/>
              </a:srgbClr>
            </a:solidFill>
            <a:ln w="19050">
              <a:solidFill>
                <a:srgbClr val="F8F8F8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楷体_GB2312"/>
              </a:endParaRPr>
            </a:p>
          </p:txBody>
        </p:sp>
      </p:grpSp>
      <p:sp>
        <p:nvSpPr>
          <p:cNvPr id="5123" name="Rectangle 149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215900"/>
            <a:ext cx="1036955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 spd="slow">
    <p:split orient="vert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+mj-lt"/>
          <a:ea typeface="黑体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split orient="vert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06-02.pptx" TargetMode="External"/><Relationship Id="rId2" Type="http://schemas.openxmlformats.org/officeDocument/2006/relationships/hyperlink" Target="06-01.pptx" TargetMode="Externa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" Target="slide9.xml"/><Relationship Id="rId7" Type="http://schemas.openxmlformats.org/officeDocument/2006/relationships/image" Target="../media/image4.jpe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slide" Target="slide19.xml"/><Relationship Id="rId4" Type="http://schemas.openxmlformats.org/officeDocument/2006/relationships/slide" Target="slide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1.wav"/><Relationship Id="rId7" Type="http://schemas.openxmlformats.org/officeDocument/2006/relationships/hyperlink" Target="../../03EXAMPLE/ch06/06-03-&#20363;&#39064;.pptx#-1,1,&#24187;&#28783;&#29255; 1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hyperlink" Target="06-02.pptx#-1,20,6.2.2&#37197;&#21512;&#29289;&#30340;&#31283;&#23450;&#24615;&#21450;&#24433;&#21709;&#37197;&#20301;&#24179;&#34913;&#30340;&#20027;&#35201;&#22240;&#32032;" TargetMode="External"/><Relationship Id="rId5" Type="http://schemas.openxmlformats.org/officeDocument/2006/relationships/image" Target="../media/image6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audio" Target="../media/audio2.wav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jpeg"/><Relationship Id="rId4" Type="http://schemas.openxmlformats.org/officeDocument/2006/relationships/hyperlink" Target="ddqx.exe" TargetMode="External"/><Relationship Id="rId9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audio" Target="../media/audio3.wav"/><Relationship Id="rId7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audio" Target="../media/audio5.wav"/><Relationship Id="rId4" Type="http://schemas.openxmlformats.org/officeDocument/2006/relationships/audio" Target="../media/audio4.wav"/><Relationship Id="rId9" Type="http://schemas.openxmlformats.org/officeDocument/2006/relationships/hyperlink" Target="../../03EXAMPLE/ch06/06-03-&#20363;&#39064;.pptx#-1,2,&#24187;&#28783;&#29255; 2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audio" Target="../media/audio5.wav"/><Relationship Id="rId4" Type="http://schemas.openxmlformats.org/officeDocument/2006/relationships/audio" Target="../media/audio2.wav"/><Relationship Id="rId9" Type="http://schemas.openxmlformats.org/officeDocument/2006/relationships/slide" Target="slide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../../03EXAMPLE/ch06/06-03-&#20363;&#39064;.pptx#-1,3,&#24187;&#28783;&#29255; 3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../../03EXAMPLE/ch06/06-03-&#20363;&#39064;.pptx#-1,4,&#24187;&#28783;&#29255; 4" TargetMode="External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hyperlink" Target="../ch07/07-1.pptx" TargetMode="Externa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74145" y="1597013"/>
            <a:ext cx="433003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  <a:hlinkClick r:id="rId2" action="ppaction://hlinkpres?slideindex=1&amp;slidetitle="/>
              </a:rPr>
              <a:t>6.1</a:t>
            </a:r>
            <a:r>
              <a:rPr lang="en-US" altLang="zh-CN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</a:rPr>
              <a:t>配合物与螯合物</a:t>
            </a:r>
            <a:endParaRPr lang="en-US" altLang="zh-CN" sz="2800" b="1" dirty="0" smtClean="0">
              <a:solidFill>
                <a:srgbClr val="FFFF00"/>
              </a:solidFill>
              <a:latin typeface="+mn-lt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  <a:hlinkClick r:id="rId3" action="ppaction://hlinkpres?slideindex=1&amp;slidetitle="/>
              </a:rPr>
              <a:t>6.2</a:t>
            </a:r>
            <a:r>
              <a:rPr lang="en-US" altLang="zh-CN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00"/>
                </a:solidFill>
                <a:latin typeface="+mn-lt"/>
                <a:ea typeface="黑体" pitchFamily="49" charset="-122"/>
              </a:rPr>
              <a:t>配位平衡及其影响因素</a:t>
            </a:r>
            <a:endParaRPr lang="en-US" altLang="zh-CN" sz="2800" b="1" dirty="0" smtClean="0">
              <a:solidFill>
                <a:srgbClr val="FFFF00"/>
              </a:solidFill>
              <a:latin typeface="+mn-lt"/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+mn-lt"/>
                <a:ea typeface="黑体" pitchFamily="49" charset="-122"/>
              </a:rPr>
              <a:t>6.3 </a:t>
            </a:r>
            <a:r>
              <a:rPr lang="zh-CN" altLang="en-US" sz="2800" b="1" dirty="0" smtClean="0">
                <a:latin typeface="+mn-lt"/>
                <a:ea typeface="黑体" pitchFamily="49" charset="-122"/>
              </a:rPr>
              <a:t>配位滴定法</a:t>
            </a:r>
            <a:endParaRPr lang="zh-CN" altLang="en-US" sz="2800" b="1" dirty="0">
              <a:latin typeface="+mn-lt"/>
              <a:ea typeface="黑体" pitchFamily="49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5" name="Rectangle 21"/>
          <p:cNvSpPr>
            <a:spLocks noChangeArrowheads="1"/>
          </p:cNvSpPr>
          <p:nvPr/>
        </p:nvSpPr>
        <p:spPr bwMode="auto">
          <a:xfrm>
            <a:off x="2546350" y="1525588"/>
            <a:ext cx="8545513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70000"/>
              </a:lnSpc>
            </a:pPr>
            <a:r>
              <a:rPr lang="en-US" altLang="zh-CN" sz="2800" b="1" dirty="0">
                <a:ea typeface="黑体" pitchFamily="49" charset="-122"/>
              </a:rPr>
              <a:t>6.3.1 </a:t>
            </a:r>
            <a:r>
              <a:rPr lang="zh-CN" altLang="en-US" sz="2800" b="1" dirty="0">
                <a:ea typeface="黑体" pitchFamily="49" charset="-122"/>
              </a:rPr>
              <a:t>滴定曲线和滴定条件</a:t>
            </a:r>
          </a:p>
          <a:p>
            <a:pPr>
              <a:lnSpc>
                <a:spcPct val="170000"/>
              </a:lnSpc>
            </a:pPr>
            <a:r>
              <a:rPr lang="en-US" altLang="zh-CN" sz="2800" b="1" dirty="0">
                <a:ea typeface="黑体" pitchFamily="49" charset="-122"/>
              </a:rPr>
              <a:t>6.3.2 </a:t>
            </a:r>
            <a:r>
              <a:rPr lang="zh-CN" altLang="en-US" sz="2800" b="1" dirty="0">
                <a:ea typeface="黑体" pitchFamily="49" charset="-122"/>
              </a:rPr>
              <a:t>金属指示剂的作用原理</a:t>
            </a:r>
          </a:p>
          <a:p>
            <a:pPr>
              <a:lnSpc>
                <a:spcPct val="170000"/>
              </a:lnSpc>
            </a:pPr>
            <a:r>
              <a:rPr lang="en-US" altLang="zh-CN" sz="2800" b="1" dirty="0">
                <a:ea typeface="黑体" pitchFamily="49" charset="-122"/>
              </a:rPr>
              <a:t>6.3.3 </a:t>
            </a:r>
            <a:r>
              <a:rPr lang="zh-CN" altLang="en-US" sz="2800" b="1" dirty="0">
                <a:ea typeface="黑体" pitchFamily="49" charset="-122"/>
              </a:rPr>
              <a:t>提高混合体系配位滴定选择性的方法</a:t>
            </a:r>
          </a:p>
          <a:p>
            <a:pPr>
              <a:lnSpc>
                <a:spcPct val="170000"/>
              </a:lnSpc>
            </a:pPr>
            <a:r>
              <a:rPr lang="en-US" altLang="zh-CN" sz="2800" b="1" dirty="0">
                <a:ea typeface="黑体" pitchFamily="49" charset="-122"/>
              </a:rPr>
              <a:t>6.3.4 </a:t>
            </a:r>
            <a:r>
              <a:rPr lang="zh-CN" altLang="en-US" sz="2800" b="1" dirty="0">
                <a:ea typeface="黑体" pitchFamily="49" charset="-122"/>
              </a:rPr>
              <a:t>配位滴定方式及其应用</a:t>
            </a:r>
          </a:p>
          <a:p>
            <a:pPr>
              <a:lnSpc>
                <a:spcPct val="170000"/>
              </a:lnSpc>
            </a:pPr>
            <a:endParaRPr lang="zh-CN" altLang="en-US" b="1" dirty="0">
              <a:ea typeface="黑体" pitchFamily="49" charset="-122"/>
            </a:endParaRPr>
          </a:p>
        </p:txBody>
      </p:sp>
      <p:sp>
        <p:nvSpPr>
          <p:cNvPr id="6166" name="AutoShape 22">
            <a:hlinkClick r:id="rId2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2046288" y="1811338"/>
            <a:ext cx="544512" cy="407987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6167" name="AutoShape 23">
            <a:hlinkClick r:id="rId3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2046288" y="2525713"/>
            <a:ext cx="544512" cy="407987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6168" name="AutoShape 24">
            <a:hlinkClick r:id="rId4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2046288" y="3240088"/>
            <a:ext cx="544512" cy="407987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6169" name="AutoShape 25">
            <a:hlinkClick r:id="rId5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2046288" y="3954463"/>
            <a:ext cx="544512" cy="407987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7175" name="Rectangle 33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  <a:noFill/>
        </p:spPr>
        <p:txBody>
          <a:bodyPr/>
          <a:lstStyle/>
          <a:p>
            <a:pPr eaLnBrk="1" hangingPunct="1"/>
            <a:r>
              <a:rPr lang="en-US" altLang="zh-CN" smtClean="0">
                <a:solidFill>
                  <a:srgbClr val="FF3300"/>
                </a:solidFill>
                <a:ea typeface="黑体" pitchFamily="49" charset="-122"/>
              </a:rPr>
              <a:t>6.3 </a:t>
            </a:r>
            <a:r>
              <a:rPr lang="zh-CN" altLang="en-US" smtClean="0">
                <a:solidFill>
                  <a:srgbClr val="FF3300"/>
                </a:solidFill>
                <a:ea typeface="黑体" pitchFamily="49" charset="-122"/>
              </a:rPr>
              <a:t>配位滴定法</a:t>
            </a:r>
            <a:endParaRPr lang="zh-CN" altLang="en-US" sz="1400" smtClean="0">
              <a:solidFill>
                <a:srgbClr val="FF3300"/>
              </a:solidFill>
              <a:ea typeface="黑体" pitchFamily="49" charset="-122"/>
            </a:endParaRPr>
          </a:p>
        </p:txBody>
      </p:sp>
      <p:sp>
        <p:nvSpPr>
          <p:cNvPr id="7176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7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3264" y="2382838"/>
            <a:ext cx="1908449" cy="3240245"/>
          </a:xfrm>
          <a:prstGeom prst="rect">
            <a:avLst/>
          </a:prstGeom>
        </p:spPr>
      </p:pic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6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6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61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4"/>
          <p:cNvSpPr>
            <a:spLocks noChangeArrowheads="1"/>
          </p:cNvSpPr>
          <p:nvPr/>
        </p:nvSpPr>
        <p:spPr bwMode="auto">
          <a:xfrm>
            <a:off x="1631950" y="5713932"/>
            <a:ext cx="66040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baseline="30000">
                <a:ea typeface="楷体_GB2312" pitchFamily="49" charset="-122"/>
              </a:rPr>
              <a:t>         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112645" name="Rectangle 5"/>
          <p:cNvSpPr>
            <a:spLocks noChangeArrowheads="1"/>
          </p:cNvSpPr>
          <p:nvPr/>
        </p:nvSpPr>
        <p:spPr bwMode="auto">
          <a:xfrm>
            <a:off x="825137" y="781755"/>
            <a:ext cx="10177463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5000"/>
              </a:lnSpc>
              <a:defRPr/>
            </a:pPr>
            <a:r>
              <a:rPr lang="zh-CN" altLang="en-US" sz="2500" b="1" dirty="0">
                <a:solidFill>
                  <a:schemeClr val="tx2"/>
                </a:solidFill>
                <a:latin typeface="楷体_GB2312"/>
                <a:ea typeface="楷体_GB2312"/>
              </a:rPr>
              <a:t>滴定曲线获得</a:t>
            </a:r>
            <a:r>
              <a:rPr lang="zh-CN" altLang="en-US" sz="2500" b="1" dirty="0">
                <a:solidFill>
                  <a:schemeClr val="tx2"/>
                </a:solidFill>
                <a:latin typeface="+mn-ea"/>
                <a:ea typeface="+mn-ea"/>
              </a:rPr>
              <a:t>：</a:t>
            </a:r>
            <a:r>
              <a:rPr lang="zh-CN" altLang="en-US" sz="2500" b="1" dirty="0">
                <a:latin typeface="楷体_GB2312"/>
                <a:ea typeface="楷体_GB2312"/>
              </a:rPr>
              <a:t>逐点计算法</a:t>
            </a:r>
            <a:r>
              <a:rPr lang="zh-CN" altLang="en-US" sz="2500" b="1" dirty="0">
                <a:latin typeface="+mn-ea"/>
                <a:ea typeface="+mn-ea"/>
              </a:rPr>
              <a:t>；</a:t>
            </a:r>
            <a:r>
              <a:rPr lang="zh-CN" altLang="en-US" sz="2500" b="1" dirty="0">
                <a:latin typeface="楷体_GB2312"/>
                <a:ea typeface="楷体_GB2312"/>
              </a:rPr>
              <a:t>滴定曲线方程</a:t>
            </a:r>
            <a:r>
              <a:rPr lang="en-US" altLang="zh-CN" sz="25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2053" name="Rectangle 10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  <a:noFill/>
        </p:spPr>
        <p:txBody>
          <a:bodyPr/>
          <a:lstStyle/>
          <a:p>
            <a:pPr eaLnBrk="1" hangingPunct="1"/>
            <a:r>
              <a:rPr lang="en-US" altLang="zh-CN" dirty="0" smtClean="0">
                <a:ea typeface="黑体" pitchFamily="49" charset="-122"/>
              </a:rPr>
              <a:t>6.3.1</a:t>
            </a:r>
            <a:r>
              <a:rPr lang="zh-CN" altLang="en-US" dirty="0" smtClean="0">
                <a:ea typeface="黑体" pitchFamily="49" charset="-122"/>
              </a:rPr>
              <a:t>滴定曲线和滴定条件</a:t>
            </a:r>
            <a:endParaRPr lang="zh-CN" altLang="en-US" sz="1200" b="0" dirty="0" smtClean="0">
              <a:solidFill>
                <a:srgbClr val="0000FF"/>
              </a:solidFill>
              <a:ea typeface="黑体" pitchFamily="49" charset="-122"/>
            </a:endParaRPr>
          </a:p>
        </p:txBody>
      </p:sp>
      <p:graphicFrame>
        <p:nvGraphicFramePr>
          <p:cNvPr id="112658" name="Object 18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6657261"/>
              </p:ext>
            </p:extLst>
          </p:nvPr>
        </p:nvGraphicFramePr>
        <p:xfrm>
          <a:off x="2340842" y="3682760"/>
          <a:ext cx="2693987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公式" r:id="rId4" imgW="914400" imgH="507960" progId="Equation.3">
                  <p:embed/>
                </p:oleObj>
              </mc:Choice>
              <mc:Fallback>
                <p:oleObj name="公式" r:id="rId4" imgW="914400" imgH="50796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0842" y="3682760"/>
                        <a:ext cx="2693987" cy="1122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64" name="Rectangle 24"/>
          <p:cNvSpPr>
            <a:spLocks noChangeArrowheads="1"/>
          </p:cNvSpPr>
          <p:nvPr/>
        </p:nvSpPr>
        <p:spPr bwMode="auto">
          <a:xfrm>
            <a:off x="2734939" y="3085198"/>
            <a:ext cx="18334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500" b="1" dirty="0" smtClean="0">
                <a:ea typeface="楷体_GB2312" pitchFamily="49" charset="-122"/>
                <a:hlinkClick r:id="rId6" action="ppaction://hlinkpres?slideindex=20&amp;slidetitle=6.2.2配合物的稳定性及影响配位平衡的主要因素"/>
              </a:rPr>
              <a:t>化学计量</a:t>
            </a:r>
            <a:r>
              <a:rPr lang="zh-CN" altLang="en-US" sz="2500" b="1" dirty="0">
                <a:ea typeface="楷体_GB2312" pitchFamily="49" charset="-122"/>
                <a:hlinkClick r:id="rId6" action="ppaction://hlinkpres?slideindex=20&amp;slidetitle=6.2.2配合物的稳定性及影响配位平衡的主要因素"/>
              </a:rPr>
              <a:t>点</a:t>
            </a:r>
            <a:r>
              <a:rPr lang="en-US" altLang="zh-CN" sz="2500" b="1" dirty="0">
                <a:ea typeface="楷体_GB2312" pitchFamily="49" charset="-122"/>
              </a:rPr>
              <a:t>: </a:t>
            </a:r>
            <a:endParaRPr lang="en-US" altLang="zh-CN" sz="2500" b="1" dirty="0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112668" name="Rectangle 28"/>
          <p:cNvSpPr>
            <a:spLocks noChangeArrowheads="1"/>
          </p:cNvSpPr>
          <p:nvPr/>
        </p:nvSpPr>
        <p:spPr bwMode="auto">
          <a:xfrm>
            <a:off x="6041167" y="3995796"/>
            <a:ext cx="4699294" cy="496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500" b="1" dirty="0">
                <a:ea typeface="楷体_GB2312" pitchFamily="49" charset="-122"/>
              </a:rPr>
              <a:t>  </a:t>
            </a:r>
            <a:r>
              <a:rPr lang="zh-CN" altLang="en-US" sz="2500" b="1" dirty="0" smtClean="0">
                <a:ea typeface="楷体_GB2312" pitchFamily="49" charset="-122"/>
              </a:rPr>
              <a:t>或</a:t>
            </a:r>
            <a:r>
              <a:rPr lang="en-US" altLang="zh-CN" sz="2500" b="1" dirty="0" err="1">
                <a:ea typeface="楷体_GB2312" pitchFamily="49" charset="-122"/>
              </a:rPr>
              <a:t>pM</a:t>
            </a:r>
            <a:r>
              <a:rPr lang="en-US" altLang="zh-CN" sz="2500" b="1" baseline="-25000" dirty="0" err="1">
                <a:ea typeface="楷体_GB2312" pitchFamily="49" charset="-122"/>
              </a:rPr>
              <a:t>sp</a:t>
            </a:r>
            <a:r>
              <a:rPr lang="en-US" altLang="zh-CN" sz="2500" b="1" dirty="0">
                <a:ea typeface="楷体_GB2312" pitchFamily="49" charset="-122"/>
              </a:rPr>
              <a:t> = (</a:t>
            </a:r>
            <a:r>
              <a:rPr lang="en-US" altLang="zh-CN" sz="2500" b="1" dirty="0" err="1">
                <a:ea typeface="楷体_GB2312" pitchFamily="49" charset="-122"/>
              </a:rPr>
              <a:t>lg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’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MY 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+ </a:t>
            </a:r>
            <a:r>
              <a:rPr lang="en-US" altLang="zh-CN" sz="2500" b="1" dirty="0" err="1">
                <a:ea typeface="楷体_GB2312" pitchFamily="49" charset="-122"/>
                <a:sym typeface="Webdings" pitchFamily="18" charset="2"/>
              </a:rPr>
              <a:t>p</a:t>
            </a:r>
            <a:r>
              <a:rPr lang="en-US" altLang="zh-CN" sz="2500" b="1" i="1" dirty="0" err="1">
                <a:ea typeface="楷体_GB2312" pitchFamily="49" charset="-122"/>
                <a:sym typeface="Webdings" pitchFamily="18" charset="2"/>
              </a:rPr>
              <a:t>c</a:t>
            </a:r>
            <a:r>
              <a:rPr lang="en-US" altLang="zh-CN" sz="2500" b="1" baseline="30000" dirty="0" err="1">
                <a:ea typeface="楷体_GB2312" pitchFamily="49" charset="-122"/>
                <a:sym typeface="Webdings" pitchFamily="18" charset="2"/>
              </a:rPr>
              <a:t>sp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M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)/2</a:t>
            </a:r>
          </a:p>
        </p:txBody>
      </p:sp>
      <p:sp>
        <p:nvSpPr>
          <p:cNvPr id="2057" name="矩形 17"/>
          <p:cNvSpPr>
            <a:spLocks noChangeArrowheads="1"/>
          </p:cNvSpPr>
          <p:nvPr/>
        </p:nvSpPr>
        <p:spPr bwMode="auto">
          <a:xfrm>
            <a:off x="5299597" y="5345531"/>
            <a:ext cx="614271" cy="466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500" b="1" dirty="0" smtClean="0">
                <a:ea typeface="楷体_GB2312" pitchFamily="49" charset="-122"/>
                <a:sym typeface="Webdings" pitchFamily="18" charset="2"/>
                <a:hlinkClick r:id="rId7" action="ppaction://hlinkpres?slideindex=1&amp;slidetitle=幻灯片 1"/>
              </a:rPr>
              <a:t>解</a:t>
            </a:r>
            <a:r>
              <a:rPr lang="en-US" altLang="zh-CN" sz="2500" b="1" dirty="0" smtClean="0">
                <a:ea typeface="楷体_GB2312" pitchFamily="49" charset="-122"/>
                <a:sym typeface="Webdings" pitchFamily="18" charset="2"/>
              </a:rPr>
              <a:t>:</a:t>
            </a:r>
            <a:endParaRPr lang="en-US" altLang="zh-CN" sz="2500" b="1" dirty="0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2058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6552132"/>
            <a:ext cx="360362" cy="360363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9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6480695"/>
            <a:ext cx="360363" cy="360362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825137" y="4930592"/>
            <a:ext cx="10572824" cy="900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/>
            </a:pPr>
            <a:r>
              <a:rPr lang="zh-CN" altLang="en-US" sz="2500" b="1" dirty="0">
                <a:latin typeface="+mn-lt"/>
                <a:ea typeface="楷体_GB2312" pitchFamily="49" charset="-122"/>
                <a:cs typeface="楷体_GB2312"/>
              </a:rPr>
              <a:t>例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/>
              </a:rPr>
              <a:t>1: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/>
              </a:rPr>
              <a:t>在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/>
              </a:rPr>
              <a:t>pH = 10.0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/>
              </a:rPr>
              <a:t>的氨性缓冲溶液中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/>
              </a:rPr>
              <a:t>以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/>
              </a:rPr>
              <a:t>0.02000mol·L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cs typeface="楷体_GB2312"/>
              </a:rPr>
              <a:t>-1 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/>
              </a:rPr>
              <a:t>EDTA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/>
              </a:rPr>
              <a:t>滴定同浓度的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/>
              </a:rPr>
              <a:t>Mg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cs typeface="楷体_GB2312"/>
              </a:rPr>
              <a:t>2+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/>
              </a:rPr>
              <a:t>化学计量点</a:t>
            </a:r>
            <a:r>
              <a:rPr lang="en-US" altLang="zh-CN" sz="2500" b="1" dirty="0" err="1">
                <a:latin typeface="+mn-lt"/>
                <a:ea typeface="楷体_GB2312" pitchFamily="49" charset="-122"/>
                <a:cs typeface="楷体_GB2312"/>
              </a:rPr>
              <a:t>pMg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/>
              </a:rPr>
              <a:t>’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/>
              </a:rPr>
              <a:t>为多少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/>
              </a:rPr>
              <a:t>?</a:t>
            </a:r>
          </a:p>
        </p:txBody>
      </p:sp>
      <p:sp>
        <p:nvSpPr>
          <p:cNvPr id="2" name="矩形 1"/>
          <p:cNvSpPr/>
          <p:nvPr/>
        </p:nvSpPr>
        <p:spPr>
          <a:xfrm>
            <a:off x="6133248" y="2043855"/>
            <a:ext cx="3583032" cy="4553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400" b="1" dirty="0">
                <a:ea typeface="楷体_GB2312" pitchFamily="49" charset="-122"/>
              </a:rPr>
              <a:t>[M’]</a:t>
            </a:r>
            <a:r>
              <a:rPr lang="en-US" altLang="zh-CN" sz="2400" b="1" baseline="-25000" dirty="0" err="1">
                <a:ea typeface="楷体_GB2312" pitchFamily="49" charset="-122"/>
              </a:rPr>
              <a:t>sp</a:t>
            </a:r>
            <a:r>
              <a:rPr lang="en-US" altLang="zh-CN" sz="2400" b="1" dirty="0">
                <a:ea typeface="楷体_GB2312" pitchFamily="49" charset="-122"/>
              </a:rPr>
              <a:t>=[Y’]</a:t>
            </a:r>
            <a:r>
              <a:rPr lang="en-US" altLang="zh-CN" sz="2400" b="1" baseline="-25000" dirty="0" err="1">
                <a:ea typeface="楷体_GB2312" pitchFamily="49" charset="-122"/>
              </a:rPr>
              <a:t>sp</a:t>
            </a:r>
            <a:r>
              <a:rPr lang="en-US" altLang="zh-CN" sz="2400" b="1" dirty="0">
                <a:ea typeface="楷体_GB2312" pitchFamily="49" charset="-122"/>
              </a:rPr>
              <a:t>;[MY]</a:t>
            </a:r>
            <a:r>
              <a:rPr lang="en-US" altLang="zh-CN" sz="2400" b="1" baseline="-25000" dirty="0" err="1">
                <a:ea typeface="楷体_GB2312" pitchFamily="49" charset="-122"/>
              </a:rPr>
              <a:t>sp</a:t>
            </a:r>
            <a:r>
              <a:rPr lang="en-US" altLang="zh-CN" sz="2400" b="1" dirty="0" err="1">
                <a:ea typeface="楷体_GB2312" pitchFamily="49" charset="-122"/>
              </a:rPr>
              <a:t>≈</a:t>
            </a:r>
            <a:r>
              <a:rPr lang="en-US" altLang="zh-CN" sz="2400" b="1" i="1" dirty="0" err="1">
                <a:ea typeface="楷体_GB2312" pitchFamily="49" charset="-122"/>
              </a:rPr>
              <a:t>c</a:t>
            </a:r>
            <a:r>
              <a:rPr lang="en-US" altLang="zh-CN" sz="2400" b="1" baseline="30000" dirty="0" err="1">
                <a:ea typeface="楷体_GB2312" pitchFamily="49" charset="-122"/>
              </a:rPr>
              <a:t>sp</a:t>
            </a:r>
            <a:r>
              <a:rPr lang="en-US" altLang="zh-CN" sz="2400" b="1" baseline="-25000" dirty="0" err="1">
                <a:ea typeface="楷体_GB2312" pitchFamily="49" charset="-122"/>
              </a:rPr>
              <a:t>M</a:t>
            </a:r>
            <a:endParaRPr lang="en-US" altLang="zh-CN" sz="2400" b="1" dirty="0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3767221" y="1365871"/>
            <a:ext cx="2304256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500" b="1" dirty="0">
                <a:ea typeface="楷体_GB2312" pitchFamily="49" charset="-122"/>
              </a:rPr>
              <a:t>M</a:t>
            </a:r>
            <a:r>
              <a:rPr lang="en-US" altLang="zh-CN" sz="2500" b="1" dirty="0" smtClean="0">
                <a:ea typeface="楷体_GB2312" pitchFamily="49" charset="-122"/>
              </a:rPr>
              <a:t> </a:t>
            </a:r>
            <a:r>
              <a:rPr lang="en-US" altLang="zh-CN" sz="2500" b="1" dirty="0">
                <a:ea typeface="楷体_GB2312" pitchFamily="49" charset="-122"/>
              </a:rPr>
              <a:t>+ </a:t>
            </a:r>
            <a:r>
              <a:rPr lang="en-US" altLang="zh-CN" sz="2500" b="1" dirty="0" smtClean="0">
                <a:ea typeface="楷体_GB2312" pitchFamily="49" charset="-122"/>
              </a:rPr>
              <a:t>Y</a:t>
            </a:r>
            <a:r>
              <a:rPr lang="en-US" altLang="zh-CN" sz="2500" b="1" baseline="-25000" dirty="0" smtClean="0">
                <a:ea typeface="楷体_GB2312" pitchFamily="49" charset="-122"/>
              </a:rPr>
              <a:t> </a:t>
            </a:r>
            <a:r>
              <a:rPr lang="en-US" altLang="zh-CN" sz="2500" b="1" dirty="0">
                <a:ea typeface="楷体_GB2312" pitchFamily="49" charset="-122"/>
              </a:rPr>
              <a:t>⇋ MY</a:t>
            </a:r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2543968" y="1999520"/>
            <a:ext cx="141287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,MY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=</a:t>
            </a:r>
          </a:p>
        </p:txBody>
      </p:sp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4024943" y="2272299"/>
            <a:ext cx="13620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[M’][Y’]</a:t>
            </a:r>
          </a:p>
        </p:txBody>
      </p:sp>
      <p:sp>
        <p:nvSpPr>
          <p:cNvPr id="19" name="Line 24"/>
          <p:cNvSpPr>
            <a:spLocks noChangeShapeType="1"/>
          </p:cNvSpPr>
          <p:nvPr/>
        </p:nvSpPr>
        <p:spPr bwMode="auto">
          <a:xfrm>
            <a:off x="3888829" y="2215280"/>
            <a:ext cx="1611013" cy="1459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0" name="Rectangle 25"/>
          <p:cNvSpPr>
            <a:spLocks noChangeArrowheads="1"/>
          </p:cNvSpPr>
          <p:nvPr/>
        </p:nvSpPr>
        <p:spPr bwMode="auto">
          <a:xfrm>
            <a:off x="4063454" y="1727919"/>
            <a:ext cx="1173719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[MY</a:t>
            </a:r>
            <a:r>
              <a:rPr lang="en-US" altLang="zh-CN" sz="2500" b="1" dirty="0" smtClean="0">
                <a:ea typeface="楷体_GB2312" pitchFamily="49" charset="-122"/>
                <a:sym typeface="Webdings" pitchFamily="18" charset="2"/>
              </a:rPr>
              <a:t>]   </a:t>
            </a:r>
            <a:endParaRPr lang="en-US" altLang="zh-CN" sz="2500" b="1" baseline="-25000" dirty="0">
              <a:ea typeface="楷体_GB2312" pitchFamily="49" charset="-122"/>
            </a:endParaRPr>
          </a:p>
        </p:txBody>
      </p:sp>
      <p:sp>
        <p:nvSpPr>
          <p:cNvPr id="21" name="Rectangle 15"/>
          <p:cNvSpPr>
            <a:spLocks noChangeArrowheads="1"/>
          </p:cNvSpPr>
          <p:nvPr/>
        </p:nvSpPr>
        <p:spPr bwMode="auto">
          <a:xfrm>
            <a:off x="4968949" y="3066318"/>
            <a:ext cx="141287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>
                <a:ea typeface="楷体_GB2312" pitchFamily="49" charset="-122"/>
                <a:sym typeface="Webdings" pitchFamily="18" charset="2"/>
              </a:rPr>
              <a:t>稳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,MY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=</a:t>
            </a:r>
          </a:p>
        </p:txBody>
      </p:sp>
      <p:sp>
        <p:nvSpPr>
          <p:cNvPr id="22" name="Rectangle 19"/>
          <p:cNvSpPr>
            <a:spLocks noChangeArrowheads="1"/>
          </p:cNvSpPr>
          <p:nvPr/>
        </p:nvSpPr>
        <p:spPr bwMode="auto">
          <a:xfrm>
            <a:off x="6449924" y="3339097"/>
            <a:ext cx="917239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[M</a:t>
            </a:r>
            <a:r>
              <a:rPr lang="en-US" altLang="zh-CN" sz="2500" b="1" dirty="0" smtClean="0">
                <a:ea typeface="楷体_GB2312" pitchFamily="49" charset="-122"/>
              </a:rPr>
              <a:t>’]</a:t>
            </a:r>
            <a:r>
              <a:rPr lang="en-US" altLang="zh-CN" sz="2500" b="1" baseline="30000" dirty="0" smtClean="0">
                <a:ea typeface="楷体_GB2312" pitchFamily="49" charset="-122"/>
              </a:rPr>
              <a:t>2</a:t>
            </a:r>
            <a:endParaRPr lang="en-US" altLang="zh-CN" sz="2500" b="1" baseline="30000" dirty="0">
              <a:ea typeface="楷体_GB2312" pitchFamily="49" charset="-122"/>
            </a:endParaRPr>
          </a:p>
        </p:txBody>
      </p:sp>
      <p:sp>
        <p:nvSpPr>
          <p:cNvPr id="23" name="Rectangle 25"/>
          <p:cNvSpPr>
            <a:spLocks noChangeArrowheads="1"/>
          </p:cNvSpPr>
          <p:nvPr/>
        </p:nvSpPr>
        <p:spPr bwMode="auto">
          <a:xfrm>
            <a:off x="6488435" y="2794717"/>
            <a:ext cx="1173719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[MY</a:t>
            </a:r>
            <a:r>
              <a:rPr lang="en-US" altLang="zh-CN" sz="2500" b="1" dirty="0" smtClean="0">
                <a:ea typeface="楷体_GB2312" pitchFamily="49" charset="-122"/>
                <a:sym typeface="Webdings" pitchFamily="18" charset="2"/>
              </a:rPr>
              <a:t>]   </a:t>
            </a:r>
            <a:endParaRPr lang="en-US" altLang="zh-CN" sz="2500" b="1" baseline="-25000" dirty="0">
              <a:ea typeface="楷体_GB2312" pitchFamily="49" charset="-122"/>
            </a:endParaRPr>
          </a:p>
        </p:txBody>
      </p:sp>
      <p:sp>
        <p:nvSpPr>
          <p:cNvPr id="24" name="Line 24"/>
          <p:cNvSpPr>
            <a:spLocks noChangeShapeType="1"/>
          </p:cNvSpPr>
          <p:nvPr/>
        </p:nvSpPr>
        <p:spPr bwMode="auto">
          <a:xfrm>
            <a:off x="6269787" y="3315040"/>
            <a:ext cx="1611013" cy="1459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126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12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12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5" grpId="0" build="p" autoUpdateAnimBg="0"/>
      <p:bldP spid="112664" grpId="0" build="p" autoUpdateAnimBg="0"/>
      <p:bldP spid="112668" grpId="0" build="p" autoUpdateAnimBg="0"/>
      <p:bldP spid="2057" grpId="0"/>
      <p:bldP spid="12" grpId="0"/>
      <p:bldP spid="14" grpId="0" build="p" autoUpdateAnimBg="0"/>
      <p:bldP spid="15" grpId="0" autoUpdateAnimBg="0"/>
      <p:bldP spid="18" grpId="0" autoUpdateAnimBg="0"/>
      <p:bldP spid="19" grpId="0" animBg="1"/>
      <p:bldP spid="20" grpId="0" autoUpdateAnimBg="0"/>
      <p:bldP spid="21" grpId="0" autoUpdateAnimBg="0"/>
      <p:bldP spid="22" grpId="0" autoUpdateAnimBg="0"/>
      <p:bldP spid="23" grpId="0" autoUpdateAnimBg="0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921" y="1799721"/>
            <a:ext cx="4014229" cy="4157595"/>
          </a:xfrm>
          <a:prstGeom prst="rect">
            <a:avLst/>
          </a:prstGeom>
        </p:spPr>
      </p:pic>
      <p:sp>
        <p:nvSpPr>
          <p:cNvPr id="5" name="Rectangle 1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dirty="0" smtClean="0">
                <a:ea typeface="黑体" pitchFamily="49" charset="-122"/>
              </a:rPr>
              <a:t>6.3.1</a:t>
            </a:r>
            <a:r>
              <a:rPr lang="zh-CN" altLang="en-US" dirty="0" smtClean="0">
                <a:ea typeface="黑体" pitchFamily="49" charset="-122"/>
              </a:rPr>
              <a:t>滴定曲线和滴定条件</a:t>
            </a:r>
            <a:endParaRPr lang="zh-CN" altLang="en-US" sz="1200" b="0" dirty="0" smtClean="0">
              <a:solidFill>
                <a:srgbClr val="0000FF"/>
              </a:solidFill>
              <a:ea typeface="黑体" pitchFamily="49" charset="-122"/>
            </a:endParaRPr>
          </a:p>
        </p:txBody>
      </p:sp>
      <p:sp>
        <p:nvSpPr>
          <p:cNvPr id="6" name="矩形 3"/>
          <p:cNvSpPr>
            <a:spLocks noChangeArrowheads="1"/>
          </p:cNvSpPr>
          <p:nvPr/>
        </p:nvSpPr>
        <p:spPr bwMode="auto">
          <a:xfrm>
            <a:off x="720477" y="863823"/>
            <a:ext cx="4051109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 smtClean="0">
                <a:solidFill>
                  <a:srgbClr val="FF0000"/>
                </a:solidFill>
                <a:ea typeface="楷体_GB2312" pitchFamily="49" charset="-122"/>
              </a:rPr>
              <a:t>滴定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突跃与准确滴定的条件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672306" y="1322667"/>
            <a:ext cx="10177463" cy="496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500" b="1" dirty="0" smtClean="0">
                <a:solidFill>
                  <a:srgbClr val="FF0000"/>
                </a:solidFill>
                <a:ea typeface="楷体_GB2312" pitchFamily="49" charset="-122"/>
              </a:rPr>
              <a:t>⑴影响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滴定突跃的主要</a:t>
            </a:r>
            <a:r>
              <a:rPr lang="zh-CN" altLang="en-US" sz="2500" b="1" dirty="0" smtClean="0">
                <a:solidFill>
                  <a:srgbClr val="FF0000"/>
                </a:solidFill>
                <a:ea typeface="楷体_GB2312" pitchFamily="49" charset="-122"/>
              </a:rPr>
              <a:t>因素</a:t>
            </a:r>
            <a:r>
              <a:rPr lang="en-US" altLang="zh-CN" sz="2500" b="1" dirty="0" smtClean="0">
                <a:solidFill>
                  <a:srgbClr val="FF0000"/>
                </a:solidFill>
                <a:ea typeface="楷体_GB2312" pitchFamily="49" charset="-122"/>
              </a:rPr>
              <a:t>1: </a:t>
            </a:r>
            <a:r>
              <a:rPr lang="zh-CN" altLang="en-US" sz="2500" b="1" dirty="0" smtClean="0">
                <a:solidFill>
                  <a:srgbClr val="FF0000"/>
                </a:solidFill>
                <a:ea typeface="楷体_GB2312" pitchFamily="49" charset="-122"/>
              </a:rPr>
              <a:t>被测金属离子浓度</a:t>
            </a:r>
            <a:r>
              <a:rPr lang="en-US" altLang="zh-CN" sz="2500" b="1" dirty="0" smtClean="0">
                <a:ea typeface="楷体_GB2312" pitchFamily="49" charset="-122"/>
              </a:rPr>
              <a:t>.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46973" y="2331451"/>
            <a:ext cx="26548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ea typeface="楷体_GB2312"/>
              </a:rPr>
              <a:t>浓度</a:t>
            </a:r>
            <a:r>
              <a:rPr lang="zh-CN" altLang="en-US" sz="3200" b="1" dirty="0" smtClean="0">
                <a:solidFill>
                  <a:srgbClr val="FF0000"/>
                </a:solidFill>
                <a:ea typeface="楷体_GB2312"/>
              </a:rPr>
              <a:t>↑，突跃</a:t>
            </a:r>
            <a:r>
              <a:rPr lang="zh-CN" altLang="en-US" sz="3200" b="1" dirty="0">
                <a:solidFill>
                  <a:srgbClr val="FF0000"/>
                </a:solidFill>
                <a:ea typeface="楷体_GB2312"/>
              </a:rPr>
              <a:t>↑</a:t>
            </a:r>
          </a:p>
        </p:txBody>
      </p:sp>
    </p:spTree>
    <p:extLst>
      <p:ext uri="{BB962C8B-B14F-4D97-AF65-F5344CB8AC3E}">
        <p14:creationId xmlns:p14="http://schemas.microsoft.com/office/powerpoint/2010/main" val="277717269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uild="p" autoUpdateAnimBg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688975" y="1454150"/>
            <a:ext cx="10177463" cy="4962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500" b="1" dirty="0" smtClean="0">
                <a:solidFill>
                  <a:srgbClr val="FF0000"/>
                </a:solidFill>
                <a:ea typeface="楷体_GB2312" pitchFamily="49" charset="-122"/>
              </a:rPr>
              <a:t>⑴影响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滴定突跃的主要</a:t>
            </a:r>
            <a:r>
              <a:rPr lang="zh-CN" altLang="en-US" sz="2500" b="1" dirty="0" smtClean="0">
                <a:solidFill>
                  <a:srgbClr val="FF0000"/>
                </a:solidFill>
                <a:ea typeface="楷体_GB2312" pitchFamily="49" charset="-122"/>
              </a:rPr>
              <a:t>因素</a:t>
            </a: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2</a:t>
            </a:r>
            <a:r>
              <a:rPr lang="en-US" altLang="zh-CN" sz="2500" b="1" dirty="0" smtClean="0">
                <a:solidFill>
                  <a:srgbClr val="FF0000"/>
                </a:solidFill>
                <a:ea typeface="楷体_GB2312" pitchFamily="49" charset="-122"/>
              </a:rPr>
              <a:t>: </a:t>
            </a:r>
            <a:r>
              <a:rPr lang="en-US" altLang="zh-CN" sz="2500" b="1" dirty="0" err="1">
                <a:solidFill>
                  <a:srgbClr val="0000FF"/>
                </a:solidFill>
                <a:ea typeface="楷体_GB2312" pitchFamily="49" charset="-122"/>
              </a:rPr>
              <a:t>lg</a:t>
            </a:r>
            <a:r>
              <a:rPr lang="en-US" altLang="zh-CN" sz="2500" b="1" i="1" dirty="0" err="1">
                <a:solidFill>
                  <a:srgbClr val="0000FF"/>
                </a:solidFill>
                <a:ea typeface="楷体_GB2312" pitchFamily="49" charset="-122"/>
              </a:rPr>
              <a:t>K</a:t>
            </a:r>
            <a:r>
              <a:rPr lang="en-US" altLang="zh-CN" sz="1600" b="1" baseline="80000" dirty="0">
                <a:solidFill>
                  <a:srgbClr val="0000FF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dirty="0" smtClean="0">
                <a:solidFill>
                  <a:srgbClr val="0000FF"/>
                </a:solidFill>
                <a:ea typeface="楷体_GB2312" pitchFamily="49" charset="-122"/>
                <a:sym typeface="Webdings" pitchFamily="18" charset="2"/>
              </a:rPr>
              <a:t>’</a:t>
            </a:r>
            <a:r>
              <a:rPr lang="en-US" altLang="zh-CN" sz="2500" b="1" baseline="-25000" dirty="0" smtClean="0">
                <a:solidFill>
                  <a:srgbClr val="0000FF"/>
                </a:solidFill>
                <a:ea typeface="楷体_GB2312" pitchFamily="49" charset="-122"/>
              </a:rPr>
              <a:t>MY</a:t>
            </a:r>
            <a:r>
              <a:rPr lang="en-US" altLang="zh-CN" sz="2500" b="1" dirty="0" smtClean="0">
                <a:ea typeface="楷体_GB2312" pitchFamily="49" charset="-122"/>
              </a:rPr>
              <a:t>;</a:t>
            </a:r>
            <a:r>
              <a:rPr lang="zh-CN" altLang="en-US" sz="2500" b="1" dirty="0" smtClean="0">
                <a:ea typeface="楷体_GB2312" pitchFamily="49" charset="-122"/>
              </a:rPr>
              <a:t>（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pH</a:t>
            </a:r>
            <a:r>
              <a:rPr lang="zh-CN" altLang="en-US" sz="2500" b="1" dirty="0" smtClean="0">
                <a:ea typeface="楷体_GB2312" pitchFamily="49" charset="-122"/>
              </a:rPr>
              <a:t>）</a:t>
            </a:r>
            <a:r>
              <a:rPr lang="en-US" altLang="zh-CN" sz="2500" b="1" dirty="0" smtClean="0">
                <a:ea typeface="楷体_GB2312" pitchFamily="49" charset="-122"/>
              </a:rPr>
              <a:t>.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3" name="Rectangle 10"/>
          <p:cNvSpPr txBox="1">
            <a:spLocks noChangeArrowheads="1"/>
          </p:cNvSpPr>
          <p:nvPr/>
        </p:nvSpPr>
        <p:spPr>
          <a:xfrm>
            <a:off x="576263" y="258763"/>
            <a:ext cx="10369550" cy="431800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r>
              <a:rPr lang="en-US" altLang="zh-CN" sz="2500" b="1">
                <a:solidFill>
                  <a:srgbClr val="FF0000"/>
                </a:solidFill>
              </a:rPr>
              <a:t>6.3.1</a:t>
            </a:r>
            <a:r>
              <a:rPr lang="zh-CN" altLang="en-US" sz="2200" b="1" kern="0">
                <a:solidFill>
                  <a:srgbClr val="FF0000"/>
                </a:solidFill>
                <a:ea typeface="黑体" pitchFamily="2" charset="-122"/>
                <a:cs typeface="+mj-cs"/>
              </a:rPr>
              <a:t>滴定曲线和滴定条件</a:t>
            </a:r>
            <a:endParaRPr lang="zh-CN" altLang="en-US" sz="1200" kern="0">
              <a:solidFill>
                <a:srgbClr val="0000FF"/>
              </a:solidFill>
              <a:ea typeface="黑体" pitchFamily="2" charset="-122"/>
              <a:cs typeface="+mj-cs"/>
            </a:endParaRPr>
          </a:p>
        </p:txBody>
      </p:sp>
      <p:sp>
        <p:nvSpPr>
          <p:cNvPr id="3078" name="矩形 3"/>
          <p:cNvSpPr>
            <a:spLocks noChangeArrowheads="1"/>
          </p:cNvSpPr>
          <p:nvPr/>
        </p:nvSpPr>
        <p:spPr bwMode="auto">
          <a:xfrm>
            <a:off x="688975" y="954088"/>
            <a:ext cx="43719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2. 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</a:rPr>
              <a:t>滴定突跃与准确滴定的条件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239286" y="2050041"/>
            <a:ext cx="5214937" cy="3454400"/>
            <a:chOff x="474663" y="2168525"/>
            <a:chExt cx="5214937" cy="3454400"/>
          </a:xfrm>
        </p:grpSpPr>
        <p:graphicFrame>
          <p:nvGraphicFramePr>
            <p:cNvPr id="3075" name="Object 6">
              <a:hlinkClick r:id="rId4" action="ppaction://program"/>
            </p:cNvPr>
            <p:cNvGraphicFramePr>
              <a:graphicFrameLocks noChangeAspect="1"/>
            </p:cNvGraphicFramePr>
            <p:nvPr/>
          </p:nvGraphicFramePr>
          <p:xfrm>
            <a:off x="474663" y="2168525"/>
            <a:ext cx="5214937" cy="3454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8" name="BMP 图象" r:id="rId5" imgW="2971429" imgH="2457143" progId="PBrush">
                    <p:embed/>
                  </p:oleObj>
                </mc:Choice>
                <mc:Fallback>
                  <p:oleObj name="BMP 图象" r:id="rId5" imgW="2971429" imgH="2457143" progId="PBrush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663" y="2168525"/>
                          <a:ext cx="5214937" cy="3454400"/>
                        </a:xfrm>
                        <a:prstGeom prst="rect">
                          <a:avLst/>
                        </a:prstGeom>
                        <a:noFill/>
                        <a:ln w="25400">
                          <a:solidFill>
                            <a:srgbClr val="FF00FF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5" name="Rectangle 7"/>
            <p:cNvSpPr>
              <a:spLocks noChangeArrowheads="1"/>
            </p:cNvSpPr>
            <p:nvPr/>
          </p:nvSpPr>
          <p:spPr bwMode="auto">
            <a:xfrm>
              <a:off x="1903491" y="4881564"/>
              <a:ext cx="2545808" cy="408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dirty="0" err="1">
                  <a:solidFill>
                    <a:srgbClr val="0000FF"/>
                  </a:solidFill>
                  <a:ea typeface="黑体" pitchFamily="49" charset="-122"/>
                </a:rPr>
                <a:t>lg</a:t>
              </a:r>
              <a:r>
                <a:rPr lang="en-US" altLang="zh-CN" sz="2000" b="1" i="1" dirty="0" err="1">
                  <a:solidFill>
                    <a:srgbClr val="0000FF"/>
                  </a:solidFill>
                  <a:ea typeface="黑体" pitchFamily="49" charset="-122"/>
                </a:rPr>
                <a:t>K</a:t>
              </a:r>
              <a:r>
                <a:rPr lang="en-US" altLang="zh-CN" sz="1600" b="1" baseline="100000" dirty="0">
                  <a:solidFill>
                    <a:srgbClr val="0000FF"/>
                  </a:solidFill>
                  <a:ea typeface="黑体" pitchFamily="49" charset="-122"/>
                  <a:sym typeface="Webdings" pitchFamily="18" charset="2"/>
                </a:rPr>
                <a:t></a:t>
              </a:r>
              <a:r>
                <a:rPr lang="en-US" altLang="zh-CN" sz="2000" b="1" dirty="0">
                  <a:solidFill>
                    <a:srgbClr val="0000FF"/>
                  </a:solidFill>
                  <a:ea typeface="黑体" pitchFamily="49" charset="-122"/>
                  <a:sym typeface="Webdings" pitchFamily="18" charset="2"/>
                </a:rPr>
                <a:t>’</a:t>
              </a:r>
              <a:r>
                <a:rPr lang="zh-CN" altLang="en-US" sz="2000" b="1" dirty="0">
                  <a:solidFill>
                    <a:srgbClr val="0000FF"/>
                  </a:solidFill>
                  <a:ea typeface="黑体" pitchFamily="49" charset="-122"/>
                </a:rPr>
                <a:t>对突跃范围影响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897563" y="2062741"/>
            <a:ext cx="4968875" cy="3429000"/>
            <a:chOff x="5689600" y="2168525"/>
            <a:chExt cx="4968875" cy="3429000"/>
          </a:xfrm>
        </p:grpSpPr>
        <p:graphicFrame>
          <p:nvGraphicFramePr>
            <p:cNvPr id="3074" name="Object 15">
              <a:hlinkClick r:id="rId4" action="ppaction://program"/>
            </p:cNvPr>
            <p:cNvGraphicFramePr>
              <a:graphicFrameLocks noChangeAspect="1"/>
            </p:cNvGraphicFramePr>
            <p:nvPr/>
          </p:nvGraphicFramePr>
          <p:xfrm>
            <a:off x="5689600" y="2168525"/>
            <a:ext cx="4968875" cy="3429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9" name="BMP 图象" r:id="rId7" imgW="1857143" imgH="1895238" progId="PBrush">
                    <p:embed/>
                  </p:oleObj>
                </mc:Choice>
                <mc:Fallback>
                  <p:oleObj name="BMP 图象" r:id="rId7" imgW="1857143" imgH="1895238" progId="PBrush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89600" y="2168525"/>
                          <a:ext cx="4968875" cy="3429000"/>
                        </a:xfrm>
                        <a:prstGeom prst="rect">
                          <a:avLst/>
                        </a:prstGeom>
                        <a:noFill/>
                        <a:ln w="25400">
                          <a:solidFill>
                            <a:srgbClr val="FF00FF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4" name="Rectangle 16"/>
            <p:cNvSpPr>
              <a:spLocks noChangeArrowheads="1"/>
            </p:cNvSpPr>
            <p:nvPr/>
          </p:nvSpPr>
          <p:spPr bwMode="auto">
            <a:xfrm>
              <a:off x="7189348" y="4860000"/>
              <a:ext cx="2332785" cy="421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b="1" dirty="0">
                  <a:solidFill>
                    <a:srgbClr val="0000FF"/>
                  </a:solidFill>
                  <a:ea typeface="黑体" pitchFamily="49" charset="-122"/>
                </a:rPr>
                <a:t>pH</a:t>
              </a:r>
              <a:r>
                <a:rPr lang="zh-CN" altLang="en-US" sz="2000" b="1" dirty="0">
                  <a:solidFill>
                    <a:srgbClr val="0000FF"/>
                  </a:solidFill>
                  <a:ea typeface="黑体" pitchFamily="49" charset="-122"/>
                </a:rPr>
                <a:t>对突跃范围影响</a:t>
              </a:r>
            </a:p>
          </p:txBody>
        </p:sp>
      </p:grpSp>
      <p:sp>
        <p:nvSpPr>
          <p:cNvPr id="3082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83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10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160637" y="5777706"/>
            <a:ext cx="1140421" cy="41470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 smtClean="0">
                <a:solidFill>
                  <a:srgbClr val="FF0000"/>
                </a:solidFill>
              </a:rPr>
              <a:t>结果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137301" y="5777706"/>
            <a:ext cx="1140421" cy="41470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</a:rPr>
              <a:t>原因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3078" grpId="0"/>
      <p:bldP spid="4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80517" y="1151855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rgbClr val="FF0000"/>
                </a:solidFill>
                <a:latin typeface="楷体_GB2312"/>
              </a:rPr>
              <a:t>总结</a:t>
            </a:r>
            <a:endParaRPr lang="zh-CN" altLang="en-US" sz="3600" dirty="0">
              <a:solidFill>
                <a:srgbClr val="FF0000"/>
              </a:solidFill>
              <a:latin typeface="楷体_GB231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68549" y="2015951"/>
            <a:ext cx="47163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ea typeface="楷体_GB2312" pitchFamily="49" charset="-122"/>
              </a:rPr>
              <a:t>影响滴定突跃的主要因素</a:t>
            </a:r>
            <a:endParaRPr lang="zh-CN" altLang="en-US" sz="3200" dirty="0"/>
          </a:p>
        </p:txBody>
      </p:sp>
      <p:sp>
        <p:nvSpPr>
          <p:cNvPr id="4" name="矩形 3"/>
          <p:cNvSpPr/>
          <p:nvPr/>
        </p:nvSpPr>
        <p:spPr>
          <a:xfrm>
            <a:off x="2188513" y="2818491"/>
            <a:ext cx="389080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rgbClr val="FF0000"/>
                </a:solidFill>
                <a:ea typeface="楷体_GB2312" pitchFamily="49" charset="-122"/>
              </a:rPr>
              <a:t>1. </a:t>
            </a:r>
            <a:r>
              <a:rPr lang="zh-CN" altLang="en-US" sz="3200" b="1" dirty="0" smtClean="0">
                <a:solidFill>
                  <a:srgbClr val="FF0000"/>
                </a:solidFill>
                <a:ea typeface="楷体_GB2312" pitchFamily="49" charset="-122"/>
              </a:rPr>
              <a:t>被</a:t>
            </a:r>
            <a:r>
              <a:rPr lang="zh-CN" altLang="en-US" sz="3200" b="1" dirty="0">
                <a:solidFill>
                  <a:srgbClr val="FF0000"/>
                </a:solidFill>
                <a:ea typeface="楷体_GB2312" pitchFamily="49" charset="-122"/>
              </a:rPr>
              <a:t>测金属离子浓度</a:t>
            </a:r>
            <a:endParaRPr lang="zh-CN" altLang="en-US" sz="3200" dirty="0"/>
          </a:p>
        </p:txBody>
      </p:sp>
      <p:sp>
        <p:nvSpPr>
          <p:cNvPr id="5" name="矩形 4"/>
          <p:cNvSpPr/>
          <p:nvPr/>
        </p:nvSpPr>
        <p:spPr>
          <a:xfrm>
            <a:off x="2198636" y="3547849"/>
            <a:ext cx="39837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b="1" dirty="0" smtClean="0">
                <a:solidFill>
                  <a:srgbClr val="FF0000"/>
                </a:solidFill>
                <a:ea typeface="楷体_GB2312"/>
              </a:rPr>
              <a:t>2. </a:t>
            </a:r>
            <a:r>
              <a:rPr lang="en-US" altLang="zh-CN" sz="3600" b="1" dirty="0" err="1">
                <a:solidFill>
                  <a:srgbClr val="FF0000"/>
                </a:solidFill>
                <a:ea typeface="楷体_GB2312"/>
              </a:rPr>
              <a:t>lg</a:t>
            </a:r>
            <a:r>
              <a:rPr lang="en-US" altLang="zh-CN" sz="3600" b="1" i="1" dirty="0" err="1">
                <a:solidFill>
                  <a:srgbClr val="FF0000"/>
                </a:solidFill>
                <a:ea typeface="楷体_GB2312"/>
              </a:rPr>
              <a:t>K</a:t>
            </a:r>
            <a:r>
              <a:rPr lang="en-US" altLang="zh-CN" sz="3600" b="1" baseline="80000" dirty="0">
                <a:solidFill>
                  <a:srgbClr val="FF0000"/>
                </a:solidFill>
                <a:ea typeface="楷体_GB2312"/>
                <a:sym typeface="Webdings" pitchFamily="18" charset="2"/>
              </a:rPr>
              <a:t></a:t>
            </a:r>
            <a:r>
              <a:rPr lang="en-US" altLang="zh-CN" sz="3600" b="1" dirty="0">
                <a:solidFill>
                  <a:srgbClr val="FF0000"/>
                </a:solidFill>
                <a:ea typeface="楷体_GB2312"/>
                <a:sym typeface="Webdings" pitchFamily="18" charset="2"/>
              </a:rPr>
              <a:t>’</a:t>
            </a:r>
            <a:r>
              <a:rPr lang="en-US" altLang="zh-CN" sz="3600" b="1" baseline="-25000" dirty="0">
                <a:solidFill>
                  <a:srgbClr val="FF0000"/>
                </a:solidFill>
                <a:ea typeface="楷体_GB2312"/>
              </a:rPr>
              <a:t>MY</a:t>
            </a:r>
            <a:r>
              <a:rPr lang="en-US" altLang="zh-CN" sz="3600" b="1" dirty="0">
                <a:solidFill>
                  <a:srgbClr val="FF0000"/>
                </a:solidFill>
                <a:ea typeface="楷体_GB2312"/>
              </a:rPr>
              <a:t>;</a:t>
            </a:r>
            <a:r>
              <a:rPr lang="zh-CN" altLang="en-US" sz="3600" b="1" dirty="0">
                <a:solidFill>
                  <a:srgbClr val="FF0000"/>
                </a:solidFill>
                <a:ea typeface="楷体_GB2312"/>
              </a:rPr>
              <a:t>（</a:t>
            </a:r>
            <a:r>
              <a:rPr lang="en-US" altLang="zh-CN" sz="3600" b="1" dirty="0">
                <a:solidFill>
                  <a:srgbClr val="FF0000"/>
                </a:solidFill>
                <a:ea typeface="楷体_GB2312"/>
              </a:rPr>
              <a:t>pH</a:t>
            </a:r>
            <a:r>
              <a:rPr lang="zh-CN" altLang="en-US" sz="3600" b="1" dirty="0">
                <a:solidFill>
                  <a:srgbClr val="FF0000"/>
                </a:solidFill>
                <a:ea typeface="楷体_GB2312"/>
              </a:rPr>
              <a:t>）</a:t>
            </a:r>
            <a:endParaRPr lang="zh-CN" altLang="en-US" sz="3600" dirty="0">
              <a:solidFill>
                <a:srgbClr val="FF0000"/>
              </a:solidFill>
              <a:ea typeface="楷体_GB231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31860" y="4464223"/>
            <a:ext cx="3589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ea typeface="楷体_GB2312"/>
              </a:rPr>
              <a:t>条件稳定常数 </a:t>
            </a:r>
            <a:r>
              <a:rPr lang="zh-CN" altLang="en-US" sz="2400" b="1" dirty="0" smtClean="0">
                <a:ea typeface="楷体_GB2312"/>
              </a:rPr>
              <a:t> </a:t>
            </a:r>
            <a:r>
              <a:rPr lang="en-US" altLang="zh-CN" sz="2400" b="1" dirty="0" smtClean="0">
                <a:solidFill>
                  <a:srgbClr val="FF0000"/>
                </a:solidFill>
                <a:ea typeface="楷体_GB2312"/>
                <a:sym typeface="Webdings" pitchFamily="18" charset="2"/>
              </a:rPr>
              <a:t>’</a:t>
            </a:r>
            <a:r>
              <a:rPr lang="zh-CN" altLang="en-US" sz="2400" b="1" dirty="0" smtClean="0">
                <a:solidFill>
                  <a:srgbClr val="FF0000"/>
                </a:solidFill>
                <a:ea typeface="楷体_GB2312"/>
                <a:sym typeface="Webdings" pitchFamily="18" charset="2"/>
              </a:rPr>
              <a:t>不能丢</a:t>
            </a:r>
            <a:r>
              <a:rPr lang="zh-CN" altLang="en-US" sz="2400" b="1" dirty="0" smtClean="0">
                <a:ea typeface="楷体_GB2312"/>
              </a:rPr>
              <a:t> </a:t>
            </a:r>
            <a:endParaRPr lang="zh-CN" altLang="en-US" sz="2400" b="1" dirty="0">
              <a:ea typeface="楷体_GB231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133" y="1398939"/>
            <a:ext cx="3741960" cy="3588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18442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2"/>
          <p:cNvSpPr>
            <a:spLocks noChangeArrowheads="1"/>
          </p:cNvSpPr>
          <p:nvPr/>
        </p:nvSpPr>
        <p:spPr bwMode="auto">
          <a:xfrm>
            <a:off x="674621" y="5500290"/>
            <a:ext cx="10644262" cy="900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例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2: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计算以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0.02000 mol·L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cs typeface="楷体_GB2312" pitchFamily="49" charset="-122"/>
              </a:rPr>
              <a:t>-1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EDTA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滴定同浓度的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Zn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cs typeface="楷体_GB2312" pitchFamily="49" charset="-122"/>
              </a:rPr>
              <a:t>2+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溶液的最高酸度和最低酸度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.</a:t>
            </a:r>
          </a:p>
        </p:txBody>
      </p:sp>
      <p:sp>
        <p:nvSpPr>
          <p:cNvPr id="84999" name="Rectangle 7"/>
          <p:cNvSpPr>
            <a:spLocks noChangeArrowheads="1"/>
          </p:cNvSpPr>
          <p:nvPr/>
        </p:nvSpPr>
        <p:spPr bwMode="auto">
          <a:xfrm>
            <a:off x="6189699" y="850889"/>
            <a:ext cx="22923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①</a:t>
            </a:r>
            <a:r>
              <a:rPr lang="en-US" altLang="zh-CN" sz="2500" b="1" u="sng" dirty="0" err="1">
                <a:ea typeface="楷体_GB2312" pitchFamily="49" charset="-122"/>
              </a:rPr>
              <a:t>lg</a:t>
            </a:r>
            <a:r>
              <a:rPr lang="en-US" altLang="zh-CN" sz="2500" b="1" i="1" u="sng" dirty="0" err="1">
                <a:ea typeface="楷体_GB2312" pitchFamily="49" charset="-122"/>
              </a:rPr>
              <a:t>c</a:t>
            </a:r>
            <a:r>
              <a:rPr lang="en-US" altLang="zh-CN" sz="2500" b="1" u="sng" baseline="-25000" dirty="0" err="1">
                <a:ea typeface="楷体_GB2312" pitchFamily="49" charset="-122"/>
              </a:rPr>
              <a:t>M</a:t>
            </a:r>
            <a:r>
              <a:rPr lang="en-US" altLang="zh-CN" sz="2500" b="1" i="1" u="sng" dirty="0" err="1">
                <a:ea typeface="楷体_GB2312" pitchFamily="49" charset="-122"/>
              </a:rPr>
              <a:t>K</a:t>
            </a:r>
            <a:r>
              <a:rPr lang="en-US" altLang="zh-CN" sz="1600" b="1" u="sng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u="sng" dirty="0">
                <a:ea typeface="楷体_GB2312" pitchFamily="49" charset="-122"/>
                <a:sym typeface="Webdings" pitchFamily="18" charset="2"/>
              </a:rPr>
              <a:t>’</a:t>
            </a:r>
            <a:r>
              <a:rPr lang="zh-CN" altLang="en-US" sz="2500" b="1" u="sng" baseline="-25000" dirty="0">
                <a:ea typeface="楷体_GB2312" pitchFamily="49" charset="-122"/>
                <a:sym typeface="Webdings" pitchFamily="18" charset="2"/>
              </a:rPr>
              <a:t>稳</a:t>
            </a:r>
            <a:r>
              <a:rPr lang="zh-CN" altLang="en-US" sz="2500" b="1" u="sng" dirty="0">
                <a:ea typeface="楷体_GB2312" pitchFamily="49" charset="-122"/>
                <a:sym typeface="Webdings" pitchFamily="18" charset="2"/>
              </a:rPr>
              <a:t>≥</a:t>
            </a:r>
            <a:r>
              <a:rPr lang="en-US" altLang="zh-CN" sz="2500" b="1" u="sng" dirty="0">
                <a:ea typeface="楷体_GB2312" pitchFamily="49" charset="-122"/>
                <a:sym typeface="Webdings" pitchFamily="18" charset="2"/>
              </a:rPr>
              <a:t>6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;</a:t>
            </a:r>
          </a:p>
        </p:txBody>
      </p:sp>
      <p:sp>
        <p:nvSpPr>
          <p:cNvPr id="85000" name="Rectangle 8"/>
          <p:cNvSpPr>
            <a:spLocks noChangeArrowheads="1"/>
          </p:cNvSpPr>
          <p:nvPr/>
        </p:nvSpPr>
        <p:spPr bwMode="auto">
          <a:xfrm>
            <a:off x="6184936" y="1335077"/>
            <a:ext cx="2719373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en-US" sz="2500" b="1" dirty="0">
                <a:ea typeface="楷体_GB2312" pitchFamily="49" charset="-122"/>
                <a:sym typeface="Monotype Sorts" pitchFamily="2" charset="2"/>
              </a:rPr>
              <a:t>终点确定方法</a:t>
            </a: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.</a:t>
            </a:r>
          </a:p>
        </p:txBody>
      </p:sp>
      <p:sp>
        <p:nvSpPr>
          <p:cNvPr id="85001" name="Rectangle 9"/>
          <p:cNvSpPr>
            <a:spLocks noChangeArrowheads="1"/>
          </p:cNvSpPr>
          <p:nvPr/>
        </p:nvSpPr>
        <p:spPr bwMode="auto">
          <a:xfrm>
            <a:off x="831850" y="882650"/>
            <a:ext cx="2869696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 smtClean="0">
                <a:solidFill>
                  <a:srgbClr val="FF3300"/>
                </a:solidFill>
                <a:latin typeface="+mn-lt"/>
                <a:ea typeface="楷体_GB2312" pitchFamily="49" charset="-122"/>
              </a:rPr>
              <a:t>⑵准确滴定的条件</a:t>
            </a:r>
            <a:r>
              <a:rPr lang="en-US" altLang="zh-CN" sz="2500" b="1" dirty="0" smtClean="0">
                <a:solidFill>
                  <a:srgbClr val="FF3300"/>
                </a:solidFill>
                <a:latin typeface="+mn-lt"/>
                <a:ea typeface="楷体_GB2312" pitchFamily="49" charset="-122"/>
              </a:rPr>
              <a:t>:</a:t>
            </a:r>
            <a:endParaRPr lang="en-US" altLang="zh-CN" sz="2500" b="1" dirty="0">
              <a:solidFill>
                <a:srgbClr val="FF3300"/>
              </a:solidFill>
              <a:latin typeface="+mn-lt"/>
              <a:ea typeface="楷体_GB2312" pitchFamily="49" charset="-122"/>
            </a:endParaRPr>
          </a:p>
        </p:txBody>
      </p:sp>
      <p:sp>
        <p:nvSpPr>
          <p:cNvPr id="85002" name="AutoShape 10"/>
          <p:cNvSpPr>
            <a:spLocks/>
          </p:cNvSpPr>
          <p:nvPr/>
        </p:nvSpPr>
        <p:spPr bwMode="auto">
          <a:xfrm>
            <a:off x="6046824" y="1136639"/>
            <a:ext cx="211137" cy="527050"/>
          </a:xfrm>
          <a:prstGeom prst="leftBrace">
            <a:avLst>
              <a:gd name="adj1" fmla="val 41667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 sz="25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85004" name="Rectangle 12"/>
          <p:cNvSpPr>
            <a:spLocks noChangeArrowheads="1"/>
          </p:cNvSpPr>
          <p:nvPr/>
        </p:nvSpPr>
        <p:spPr bwMode="auto">
          <a:xfrm>
            <a:off x="831850" y="3240087"/>
            <a:ext cx="10329804" cy="124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(1)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最高酸度</a:t>
            </a:r>
            <a:r>
              <a:rPr lang="en-US" altLang="zh-CN" sz="2500" b="1" dirty="0">
                <a:ea typeface="楷体_GB2312" pitchFamily="49" charset="-122"/>
              </a:rPr>
              <a:t>(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最低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pH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  <a:r>
              <a:rPr lang="en-US" altLang="zh-CN" sz="2500" b="1" dirty="0">
                <a:solidFill>
                  <a:schemeClr val="tx2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solidFill>
                <a:srgbClr val="FF3300"/>
              </a:solidFill>
              <a:ea typeface="楷体_GB2312" pitchFamily="49" charset="-122"/>
            </a:endParaRPr>
          </a:p>
          <a:p>
            <a:r>
              <a:rPr lang="zh-CN" altLang="en-US" sz="2500" b="1" dirty="0">
                <a:ea typeface="楷体_GB2312" pitchFamily="49" charset="-122"/>
              </a:rPr>
              <a:t>　　</a:t>
            </a:r>
            <a:r>
              <a:rPr lang="zh-CN" altLang="en-US" sz="2500" b="1" dirty="0" smtClean="0">
                <a:ea typeface="楷体_GB2312" pitchFamily="49" charset="-122"/>
              </a:rPr>
              <a:t>①在</a:t>
            </a:r>
            <a:r>
              <a:rPr lang="en-US" altLang="zh-CN" sz="2500" b="1" dirty="0" err="1" smtClean="0">
                <a:ea typeface="楷体_GB2312" pitchFamily="49" charset="-122"/>
              </a:rPr>
              <a:t>lg</a:t>
            </a:r>
            <a:r>
              <a:rPr lang="en-US" altLang="zh-CN" sz="2500" b="1" i="1" dirty="0" err="1" smtClean="0">
                <a:ea typeface="楷体_GB2312" pitchFamily="49" charset="-122"/>
              </a:rPr>
              <a:t>c</a:t>
            </a:r>
            <a:r>
              <a:rPr lang="en-US" altLang="zh-CN" sz="2500" b="1" baseline="-25000" dirty="0" err="1" smtClean="0">
                <a:ea typeface="楷体_GB2312" pitchFamily="49" charset="-122"/>
              </a:rPr>
              <a:t>M</a:t>
            </a:r>
            <a:r>
              <a:rPr lang="en-US" altLang="zh-CN" sz="2500" b="1" i="1" dirty="0" err="1" smtClean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100000" dirty="0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’</a:t>
            </a:r>
            <a:r>
              <a:rPr lang="zh-CN" altLang="en-US" sz="2500" b="1" baseline="-25000" dirty="0">
                <a:ea typeface="楷体_GB2312" pitchFamily="49" charset="-122"/>
                <a:sym typeface="Webdings" pitchFamily="18" charset="2"/>
              </a:rPr>
              <a:t>稳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≥</a:t>
            </a:r>
            <a:r>
              <a:rPr lang="en-US" altLang="zh-CN" sz="2500" b="1" dirty="0" smtClean="0">
                <a:ea typeface="楷体_GB2312" pitchFamily="49" charset="-122"/>
                <a:sym typeface="Webdings" pitchFamily="18" charset="2"/>
              </a:rPr>
              <a:t>6</a:t>
            </a:r>
            <a:r>
              <a:rPr lang="zh-CN" altLang="en-US" sz="2500" b="1" dirty="0" smtClean="0">
                <a:ea typeface="楷体_GB2312" pitchFamily="49" charset="-122"/>
                <a:sym typeface="Webdings" pitchFamily="18" charset="2"/>
              </a:rPr>
              <a:t>前提下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 </a:t>
            </a:r>
            <a:r>
              <a:rPr lang="zh-CN" altLang="en-US" sz="2500" b="1" dirty="0" smtClean="0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 err="1" smtClean="0">
                <a:ea typeface="楷体_GB2312" pitchFamily="49" charset="-122"/>
              </a:rPr>
              <a:t>lg</a:t>
            </a:r>
            <a:r>
              <a:rPr lang="en-US" altLang="zh-CN" sz="2500" b="1" i="1" dirty="0" err="1" smtClean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’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MY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 = </a:t>
            </a:r>
            <a:r>
              <a:rPr lang="en-US" altLang="zh-CN" sz="2500" b="1" dirty="0" err="1">
                <a:ea typeface="楷体_GB2312" pitchFamily="49" charset="-122"/>
              </a:rPr>
              <a:t>lg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MY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 - </a:t>
            </a:r>
            <a:r>
              <a:rPr lang="en-US" altLang="zh-CN" sz="2500" b="1" dirty="0" err="1" smtClean="0">
                <a:ea typeface="楷体_GB2312" pitchFamily="49" charset="-122"/>
              </a:rPr>
              <a:t>lg</a:t>
            </a:r>
            <a:r>
              <a:rPr lang="en-US" altLang="zh-CN" sz="2500" b="1" i="1" dirty="0" smtClean="0">
                <a:ea typeface="楷体_GB2312" pitchFamily="49" charset="-122"/>
              </a:rPr>
              <a:t>α</a:t>
            </a:r>
            <a:r>
              <a:rPr lang="en-US" altLang="zh-CN" sz="2500" b="1" baseline="-25000" dirty="0" smtClean="0">
                <a:ea typeface="楷体_GB2312" pitchFamily="49" charset="-122"/>
              </a:rPr>
              <a:t>Y(H)</a:t>
            </a:r>
            <a:r>
              <a:rPr lang="zh-CN" altLang="en-US" sz="2500" b="1" dirty="0" smtClean="0">
                <a:ea typeface="楷体_GB2312" pitchFamily="49" charset="-122"/>
              </a:rPr>
              <a:t> </a:t>
            </a:r>
            <a:r>
              <a:rPr lang="zh-CN" altLang="en-US" sz="2500" b="1" dirty="0" smtClean="0">
                <a:ea typeface="楷体_GB2312" pitchFamily="49" charset="-122"/>
                <a:sym typeface="Webdings" pitchFamily="18" charset="2"/>
              </a:rPr>
              <a:t>得</a:t>
            </a:r>
            <a:r>
              <a:rPr lang="en-US" altLang="zh-CN" sz="2500" b="1" dirty="0" err="1">
                <a:ea typeface="楷体_GB2312" pitchFamily="49" charset="-122"/>
              </a:rPr>
              <a:t>lg</a:t>
            </a:r>
            <a:r>
              <a:rPr lang="en-US" altLang="zh-CN" sz="2500" b="1" i="1" dirty="0" err="1">
                <a:ea typeface="楷体_GB2312" pitchFamily="49" charset="-122"/>
              </a:rPr>
              <a:t>α</a:t>
            </a:r>
            <a:r>
              <a:rPr lang="en-US" altLang="zh-CN" sz="2500" b="1" baseline="-25000" dirty="0" err="1">
                <a:ea typeface="楷体_GB2312" pitchFamily="49" charset="-122"/>
              </a:rPr>
              <a:t>Y</a:t>
            </a:r>
            <a:r>
              <a:rPr lang="en-US" altLang="zh-CN" sz="2500" b="1" baseline="-25000" dirty="0">
                <a:ea typeface="楷体_GB2312" pitchFamily="49" charset="-122"/>
              </a:rPr>
              <a:t>(H)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再</a:t>
            </a:r>
            <a:r>
              <a:rPr lang="zh-CN" altLang="en-US" sz="2500" b="1" dirty="0" smtClean="0">
                <a:ea typeface="楷体_GB2312" pitchFamily="49" charset="-122"/>
              </a:rPr>
              <a:t>查表得</a:t>
            </a:r>
            <a:r>
              <a:rPr lang="en-US" altLang="zh-CN" sz="2500" b="1" dirty="0" err="1" smtClean="0">
                <a:ea typeface="楷体_GB2312" pitchFamily="49" charset="-122"/>
              </a:rPr>
              <a:t>pH.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85005" name="Rectangle 13"/>
          <p:cNvSpPr>
            <a:spLocks noChangeArrowheads="1"/>
          </p:cNvSpPr>
          <p:nvPr/>
        </p:nvSpPr>
        <p:spPr bwMode="auto">
          <a:xfrm>
            <a:off x="760413" y="1811327"/>
            <a:ext cx="780097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FF0000"/>
                </a:solidFill>
              </a:rPr>
              <a:t>3.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  <a:sym typeface="Monotype Sorts" pitchFamily="2" charset="2"/>
              </a:rPr>
              <a:t>单一金属离子被准确滴定的</a:t>
            </a:r>
            <a:r>
              <a:rPr lang="zh-CN" altLang="en-US" sz="2500" b="1" u="sng" dirty="0">
                <a:solidFill>
                  <a:srgbClr val="FF0000"/>
                </a:solidFill>
                <a:ea typeface="楷体_GB2312" pitchFamily="49" charset="-122"/>
                <a:sym typeface="Monotype Sorts" pitchFamily="2" charset="2"/>
              </a:rPr>
              <a:t>适宜酸度</a:t>
            </a:r>
            <a:r>
              <a:rPr lang="zh-CN" altLang="en-US" sz="2500" b="1" dirty="0">
                <a:solidFill>
                  <a:srgbClr val="FF0000"/>
                </a:solidFill>
                <a:ea typeface="楷体_GB2312" pitchFamily="49" charset="-122"/>
                <a:sym typeface="Monotype Sorts" pitchFamily="2" charset="2"/>
              </a:rPr>
              <a:t>及酸效应曲线</a:t>
            </a:r>
            <a:r>
              <a:rPr lang="zh-CN" altLang="en-US" sz="2500" b="1" dirty="0">
                <a:solidFill>
                  <a:srgbClr val="FF0000"/>
                </a:solidFill>
              </a:rPr>
              <a:t>：</a:t>
            </a:r>
            <a:endParaRPr lang="zh-CN" altLang="en-US" sz="2500" dirty="0">
              <a:solidFill>
                <a:srgbClr val="FF0000"/>
              </a:solidFill>
            </a:endParaRPr>
          </a:p>
        </p:txBody>
      </p:sp>
      <p:sp>
        <p:nvSpPr>
          <p:cNvPr id="85015" name="Rectangle 23"/>
          <p:cNvSpPr>
            <a:spLocks noChangeArrowheads="1"/>
          </p:cNvSpPr>
          <p:nvPr/>
        </p:nvSpPr>
        <p:spPr bwMode="auto">
          <a:xfrm>
            <a:off x="1046148" y="4097337"/>
            <a:ext cx="271462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　  </a:t>
            </a:r>
            <a:r>
              <a:rPr lang="zh-CN" altLang="en-US" sz="2500" b="1" dirty="0" smtClean="0">
                <a:ea typeface="楷体_GB2312" pitchFamily="49" charset="-122"/>
              </a:rPr>
              <a:t>②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  <a:hlinkClick r:id="" action="ppaction://hlinkshowjump?jump=nextslide"/>
              </a:rPr>
              <a:t>酸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  <a:hlinkClick r:id="" action="ppaction://hlinkshowjump?jump=nextslide"/>
              </a:rPr>
              <a:t>效应曲线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8201" name="Rectangle 25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  <a:noFill/>
        </p:spPr>
        <p:txBody>
          <a:bodyPr/>
          <a:lstStyle/>
          <a:p>
            <a:pPr eaLnBrk="1" hangingPunct="1"/>
            <a:r>
              <a:rPr lang="en-US" altLang="zh-CN" smtClean="0">
                <a:ea typeface="黑体" pitchFamily="49" charset="-122"/>
              </a:rPr>
              <a:t>6.3.1</a:t>
            </a:r>
            <a:r>
              <a:rPr lang="zh-CN" altLang="en-US" smtClean="0">
                <a:ea typeface="黑体" pitchFamily="49" charset="-122"/>
              </a:rPr>
              <a:t>滴定曲线和滴定条件</a:t>
            </a:r>
            <a:endParaRPr lang="zh-CN" altLang="en-US" sz="1200" b="0" smtClean="0">
              <a:solidFill>
                <a:srgbClr val="0000FF"/>
              </a:solidFill>
              <a:ea typeface="黑体" pitchFamily="49" charset="-122"/>
            </a:endParaRPr>
          </a:p>
        </p:txBody>
      </p:sp>
      <p:sp>
        <p:nvSpPr>
          <p:cNvPr id="8202" name="Oval 27" descr="图片9">
            <a:hlinkClick r:id="rId6" action="ppaction://hlinksldjump"/>
          </p:cNvPr>
          <p:cNvSpPr>
            <a:spLocks noChangeAspect="1" noChangeArrowheads="1"/>
          </p:cNvSpPr>
          <p:nvPr/>
        </p:nvSpPr>
        <p:spPr bwMode="gray">
          <a:xfrm>
            <a:off x="11161713" y="6696148"/>
            <a:ext cx="360362" cy="360363"/>
          </a:xfrm>
          <a:prstGeom prst="ellipse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3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6624711"/>
            <a:ext cx="360363" cy="360362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Rectangle 22"/>
          <p:cNvSpPr>
            <a:spLocks noChangeArrowheads="1"/>
          </p:cNvSpPr>
          <p:nvPr/>
        </p:nvSpPr>
        <p:spPr bwMode="auto">
          <a:xfrm>
            <a:off x="974725" y="5026034"/>
            <a:ext cx="7358063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500" b="1" dirty="0">
                <a:ea typeface="楷体_GB2312" pitchFamily="49" charset="-122"/>
              </a:rPr>
              <a:t>　　</a:t>
            </a:r>
            <a:r>
              <a:rPr lang="en-US" altLang="zh-CN" sz="2500" b="1" dirty="0">
                <a:ea typeface="楷体_GB2312" pitchFamily="49" charset="-122"/>
              </a:rPr>
              <a:t>M</a:t>
            </a:r>
            <a:r>
              <a:rPr lang="zh-CN" altLang="en-US" sz="2500" b="1" dirty="0">
                <a:ea typeface="楷体_GB2312" pitchFamily="49" charset="-122"/>
              </a:rPr>
              <a:t>水解酸度</a:t>
            </a:r>
            <a:r>
              <a:rPr lang="en-US" altLang="zh-CN" sz="2500" b="1" dirty="0">
                <a:ea typeface="楷体_GB2312" pitchFamily="49" charset="-122"/>
              </a:rPr>
              <a:t>(</a:t>
            </a:r>
            <a:r>
              <a:rPr lang="zh-CN" altLang="en-US" sz="2500" b="1" dirty="0">
                <a:ea typeface="楷体_GB2312" pitchFamily="49" charset="-122"/>
              </a:rPr>
              <a:t>无其它配位剂存在</a:t>
            </a:r>
            <a:r>
              <a:rPr lang="en-US" altLang="zh-CN" sz="2500" b="1" dirty="0" smtClean="0">
                <a:ea typeface="楷体_GB2312" pitchFamily="49" charset="-122"/>
              </a:rPr>
              <a:t>).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14" name="Rectangle 41"/>
          <p:cNvSpPr>
            <a:spLocks noChangeArrowheads="1"/>
          </p:cNvSpPr>
          <p:nvPr/>
        </p:nvSpPr>
        <p:spPr bwMode="auto">
          <a:xfrm>
            <a:off x="850885" y="4575174"/>
            <a:ext cx="3243262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(2)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最低酸度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最高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pH):</a:t>
            </a:r>
          </a:p>
        </p:txBody>
      </p:sp>
      <p:sp>
        <p:nvSpPr>
          <p:cNvPr id="8206" name="矩形 14"/>
          <p:cNvSpPr>
            <a:spLocks noChangeArrowheads="1"/>
          </p:cNvSpPr>
          <p:nvPr/>
        </p:nvSpPr>
        <p:spPr bwMode="auto">
          <a:xfrm>
            <a:off x="2096324" y="5998683"/>
            <a:ext cx="614271" cy="466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500" b="1" dirty="0" smtClean="0">
                <a:ea typeface="楷体_GB2312" pitchFamily="49" charset="-122"/>
                <a:hlinkClick r:id="rId9" action="ppaction://hlinkpres?slideindex=2&amp;slidetitle=幻灯片 2"/>
              </a:rPr>
              <a:t>解</a:t>
            </a:r>
            <a:r>
              <a:rPr lang="en-US" altLang="zh-CN" sz="2500" b="1" dirty="0" smtClean="0"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39512" y="2365502"/>
            <a:ext cx="3278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ea typeface="楷体_GB2312"/>
              </a:rPr>
              <a:t>酸度过大，酸效应增大</a:t>
            </a:r>
            <a:endParaRPr lang="zh-CN" altLang="en-US" sz="2400" b="1" dirty="0">
              <a:ea typeface="楷体_GB231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813644" y="2829059"/>
            <a:ext cx="3587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ea typeface="楷体_GB2312"/>
              </a:rPr>
              <a:t>酸度过小，金属离子水解</a:t>
            </a:r>
            <a:endParaRPr lang="zh-CN" altLang="en-US" sz="2400" b="1" dirty="0">
              <a:ea typeface="楷体_GB2312"/>
            </a:endParaRPr>
          </a:p>
        </p:txBody>
      </p:sp>
      <p:sp>
        <p:nvSpPr>
          <p:cNvPr id="3" name="右箭头 2"/>
          <p:cNvSpPr/>
          <p:nvPr/>
        </p:nvSpPr>
        <p:spPr>
          <a:xfrm>
            <a:off x="6401486" y="2736031"/>
            <a:ext cx="934388" cy="21602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537637" y="2536671"/>
            <a:ext cx="24516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ea typeface="楷体_GB2312"/>
              </a:rPr>
              <a:t>寻找平衡点</a:t>
            </a:r>
            <a:endParaRPr lang="zh-CN" altLang="en-US" sz="2800" b="1" dirty="0">
              <a:solidFill>
                <a:srgbClr val="FF0000"/>
              </a:solidFill>
              <a:ea typeface="楷体_GB2312"/>
            </a:endParaRPr>
          </a:p>
        </p:txBody>
      </p:sp>
      <p:sp>
        <p:nvSpPr>
          <p:cNvPr id="6" name="爆炸形 1 5"/>
          <p:cNvSpPr/>
          <p:nvPr/>
        </p:nvSpPr>
        <p:spPr>
          <a:xfrm rot="21344040">
            <a:off x="4265614" y="802667"/>
            <a:ext cx="1518211" cy="960438"/>
          </a:xfrm>
          <a:prstGeom prst="irregularSeal1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smtClean="0">
                <a:solidFill>
                  <a:srgbClr val="FF0000"/>
                </a:solidFill>
              </a:rPr>
              <a:t>why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85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849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t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5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5" dur="500"/>
                                        <p:tgtEl>
                                          <p:spTgt spid="85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85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850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85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4999" grpId="0" autoUpdateAnimBg="0"/>
      <p:bldP spid="85000" grpId="0" autoUpdateAnimBg="0"/>
      <p:bldP spid="85001" grpId="0" autoUpdateAnimBg="0"/>
      <p:bldP spid="85002" grpId="0" animBg="1"/>
      <p:bldP spid="85004" grpId="0" build="p" autoUpdateAnimBg="0"/>
      <p:bldP spid="85005" grpId="0" autoUpdateAnimBg="0"/>
      <p:bldP spid="85015" grpId="0" autoUpdateAnimBg="0"/>
      <p:bldP spid="13" grpId="0" build="p" autoUpdateAnimBg="0"/>
      <p:bldP spid="14" grpId="0"/>
      <p:bldP spid="8206" grpId="0"/>
      <p:bldP spid="2" grpId="0"/>
      <p:bldP spid="17" grpId="0"/>
      <p:bldP spid="3" grpId="0" animBg="1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1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  <a:noFill/>
        </p:spPr>
        <p:txBody>
          <a:bodyPr/>
          <a:lstStyle/>
          <a:p>
            <a:pPr eaLnBrk="1" hangingPunct="1"/>
            <a:r>
              <a:rPr lang="en-US" altLang="zh-CN" smtClean="0">
                <a:ea typeface="黑体" pitchFamily="49" charset="-122"/>
              </a:rPr>
              <a:t>6.3.1</a:t>
            </a:r>
            <a:r>
              <a:rPr lang="zh-CN" altLang="en-US" smtClean="0">
                <a:ea typeface="黑体" pitchFamily="49" charset="-122"/>
              </a:rPr>
              <a:t>滴定曲线和滴定条件</a:t>
            </a:r>
            <a:endParaRPr lang="zh-CN" altLang="en-US" sz="1200" b="0" smtClean="0">
              <a:solidFill>
                <a:srgbClr val="0000FF"/>
              </a:solidFill>
              <a:ea typeface="黑体" pitchFamily="49" charset="-122"/>
            </a:endParaRPr>
          </a:p>
        </p:txBody>
      </p:sp>
      <p:graphicFrame>
        <p:nvGraphicFramePr>
          <p:cNvPr id="4098" name="Object 12"/>
          <p:cNvGraphicFramePr>
            <a:graphicFrameLocks/>
          </p:cNvGraphicFramePr>
          <p:nvPr/>
        </p:nvGraphicFramePr>
        <p:xfrm>
          <a:off x="831850" y="811213"/>
          <a:ext cx="9963150" cy="452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BMP 图象" r:id="rId6" imgW="3505689" imgH="2505425" progId="PBrush">
                  <p:embed/>
                </p:oleObj>
              </mc:Choice>
              <mc:Fallback>
                <p:oleObj name="BMP 图象" r:id="rId6" imgW="3505689" imgH="2505425" progId="PBrush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50" y="811213"/>
                        <a:ext cx="9963150" cy="4522787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29" name="Rectangle 13"/>
          <p:cNvSpPr>
            <a:spLocks noChangeArrowheads="1"/>
          </p:cNvSpPr>
          <p:nvPr/>
        </p:nvSpPr>
        <p:spPr bwMode="auto">
          <a:xfrm>
            <a:off x="3989388" y="1020763"/>
            <a:ext cx="3184525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200" b="1">
                <a:solidFill>
                  <a:srgbClr val="0000FF"/>
                </a:solidFill>
                <a:ea typeface="黑体" pitchFamily="49" charset="-122"/>
              </a:rPr>
              <a:t>酸效应曲线</a:t>
            </a:r>
            <a:r>
              <a:rPr lang="en-US" altLang="zh-CN" sz="2200" b="1">
                <a:solidFill>
                  <a:srgbClr val="0000FF"/>
                </a:solidFill>
                <a:ea typeface="黑体" pitchFamily="49" charset="-122"/>
              </a:rPr>
              <a:t>(</a:t>
            </a:r>
            <a:r>
              <a:rPr lang="zh-CN" altLang="en-US" sz="2200" b="1">
                <a:solidFill>
                  <a:srgbClr val="0000FF"/>
                </a:solidFill>
                <a:ea typeface="黑体" pitchFamily="49" charset="-122"/>
              </a:rPr>
              <a:t>或林邦曲线</a:t>
            </a:r>
            <a:r>
              <a:rPr lang="en-US" altLang="zh-CN" sz="2000" b="1">
                <a:solidFill>
                  <a:srgbClr val="0000FF"/>
                </a:solidFill>
                <a:ea typeface="黑体" pitchFamily="49" charset="-122"/>
              </a:rPr>
              <a:t>)</a:t>
            </a:r>
            <a:endParaRPr lang="en-US" altLang="zh-CN" b="1">
              <a:ea typeface="楷体_GB2312" pitchFamily="49" charset="-122"/>
            </a:endParaRPr>
          </a:p>
        </p:txBody>
      </p:sp>
      <p:sp>
        <p:nvSpPr>
          <p:cNvPr id="111642" name="Rectangle 26"/>
          <p:cNvSpPr>
            <a:spLocks noChangeArrowheads="1"/>
          </p:cNvSpPr>
          <p:nvPr/>
        </p:nvSpPr>
        <p:spPr bwMode="auto">
          <a:xfrm>
            <a:off x="5670550" y="1401763"/>
            <a:ext cx="3719513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  <a:ea typeface="黑体" pitchFamily="49" charset="-122"/>
              </a:rPr>
              <a:t>作用</a:t>
            </a:r>
            <a:r>
              <a:rPr lang="en-US" altLang="zh-CN" sz="2000" b="1" dirty="0">
                <a:solidFill>
                  <a:srgbClr val="0000FF"/>
                </a:solidFill>
                <a:ea typeface="黑体" pitchFamily="49" charset="-122"/>
              </a:rPr>
              <a:t>:</a:t>
            </a:r>
            <a:endParaRPr lang="en-US" altLang="zh-CN" sz="2000" b="1" dirty="0">
              <a:solidFill>
                <a:srgbClr val="0000FF"/>
              </a:solidFill>
              <a:ea typeface="黑体" pitchFamily="49" charset="-122"/>
              <a:sym typeface="Monotype Sorts" pitchFamily="2" charset="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ea typeface="黑体" pitchFamily="49" charset="-122"/>
                <a:sym typeface="Monotype Sorts" pitchFamily="2" charset="2"/>
              </a:rPr>
              <a:t>①</a:t>
            </a:r>
            <a:r>
              <a:rPr lang="zh-CN" altLang="en-US" sz="2000" b="1" dirty="0">
                <a:solidFill>
                  <a:srgbClr val="FF0000"/>
                </a:solidFill>
                <a:ea typeface="黑体" pitchFamily="49" charset="-122"/>
              </a:rPr>
              <a:t>查</a:t>
            </a:r>
            <a:r>
              <a:rPr lang="en-US" altLang="zh-CN" sz="2000" b="1" dirty="0" err="1">
                <a:solidFill>
                  <a:srgbClr val="FF0000"/>
                </a:solidFill>
                <a:ea typeface="黑体" pitchFamily="49" charset="-122"/>
              </a:rPr>
              <a:t>pH</a:t>
            </a:r>
            <a:r>
              <a:rPr lang="en-US" altLang="zh-CN" sz="2000" b="1" baseline="-25000" dirty="0" err="1">
                <a:solidFill>
                  <a:srgbClr val="FF0000"/>
                </a:solidFill>
                <a:ea typeface="黑体" pitchFamily="49" charset="-122"/>
              </a:rPr>
              <a:t>min</a:t>
            </a:r>
            <a:r>
              <a:rPr lang="en-US" altLang="zh-CN" sz="2000" b="1" dirty="0">
                <a:solidFill>
                  <a:srgbClr val="FF0000"/>
                </a:solidFill>
                <a:ea typeface="黑体" pitchFamily="49" charset="-122"/>
              </a:rPr>
              <a:t>;</a:t>
            </a:r>
          </a:p>
          <a:p>
            <a:r>
              <a:rPr lang="en-US" altLang="zh-CN" sz="2000" b="1" dirty="0">
                <a:solidFill>
                  <a:srgbClr val="FF0000"/>
                </a:solidFill>
                <a:ea typeface="黑体" pitchFamily="49" charset="-122"/>
                <a:sym typeface="Monotype Sorts" pitchFamily="2" charset="2"/>
              </a:rPr>
              <a:t>②</a:t>
            </a:r>
            <a:r>
              <a:rPr lang="zh-CN" altLang="en-US" sz="2000" b="1" dirty="0">
                <a:solidFill>
                  <a:srgbClr val="FF0000"/>
                </a:solidFill>
                <a:ea typeface="黑体" pitchFamily="49" charset="-122"/>
              </a:rPr>
              <a:t>预计干扰</a:t>
            </a:r>
            <a:r>
              <a:rPr lang="en-US" altLang="zh-CN" sz="2000" b="1" dirty="0">
                <a:solidFill>
                  <a:srgbClr val="FF0000"/>
                </a:solidFill>
                <a:ea typeface="黑体" pitchFamily="49" charset="-122"/>
              </a:rPr>
              <a:t>;</a:t>
            </a:r>
          </a:p>
          <a:p>
            <a:r>
              <a:rPr lang="en-US" altLang="zh-CN" sz="2000" b="1" dirty="0">
                <a:solidFill>
                  <a:srgbClr val="FF0000"/>
                </a:solidFill>
                <a:ea typeface="黑体" pitchFamily="49" charset="-122"/>
              </a:rPr>
              <a:t>③</a:t>
            </a:r>
            <a:r>
              <a:rPr lang="zh-CN" altLang="en-US" sz="2000" b="1" dirty="0">
                <a:solidFill>
                  <a:srgbClr val="FF0000"/>
                </a:solidFill>
                <a:ea typeface="黑体" pitchFamily="49" charset="-122"/>
              </a:rPr>
              <a:t>连续滴定</a:t>
            </a:r>
            <a:r>
              <a:rPr lang="en-US" altLang="zh-CN" sz="2000" dirty="0">
                <a:solidFill>
                  <a:srgbClr val="FF0000"/>
                </a:solidFill>
                <a:ea typeface="黑体" pitchFamily="49" charset="-122"/>
              </a:rPr>
              <a:t>.</a:t>
            </a:r>
          </a:p>
        </p:txBody>
      </p:sp>
      <p:sp>
        <p:nvSpPr>
          <p:cNvPr id="4103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5546723" y="5668979"/>
            <a:ext cx="360363" cy="360362"/>
          </a:xfrm>
          <a:prstGeom prst="ellipse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动作按钮: 自定义 8">
            <a:hlinkClick r:id="rId9" action="ppaction://hlinksldjump" highlightClick="1"/>
          </p:cNvPr>
          <p:cNvSpPr/>
          <p:nvPr/>
        </p:nvSpPr>
        <p:spPr>
          <a:xfrm>
            <a:off x="9475813" y="1737079"/>
            <a:ext cx="540000" cy="360000"/>
          </a:xfrm>
          <a:prstGeom prst="actionButtonBlank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63500" dist="12700" dir="10800000" sx="105000" sy="105000" algn="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酸度</a:t>
            </a:r>
            <a:endParaRPr lang="zh-CN" altLang="en-US" sz="12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16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1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1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16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16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9" grpId="0" autoUpdateAnimBg="0"/>
      <p:bldP spid="111642" grpId="0" uiExpand="1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7" name="Text Box 9"/>
          <p:cNvSpPr txBox="1">
            <a:spLocks noChangeArrowheads="1"/>
          </p:cNvSpPr>
          <p:nvPr/>
        </p:nvSpPr>
        <p:spPr bwMode="auto">
          <a:xfrm>
            <a:off x="906463" y="1241967"/>
            <a:ext cx="10039350" cy="1247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b">
            <a:spAutoFit/>
          </a:bodyPr>
          <a:lstStyle/>
          <a:p>
            <a:r>
              <a:rPr lang="zh-CN" altLang="en-US" sz="2500" b="1" dirty="0">
                <a:solidFill>
                  <a:srgbClr val="0000FF"/>
                </a:solidFill>
                <a:ea typeface="楷体_GB2312" pitchFamily="49" charset="-122"/>
              </a:rPr>
              <a:t>　　</a:t>
            </a:r>
            <a:r>
              <a:rPr lang="zh-CN" altLang="en-US" sz="2500" b="1" dirty="0" smtClean="0">
                <a:solidFill>
                  <a:srgbClr val="0000FF"/>
                </a:solidFill>
                <a:ea typeface="楷体_GB2312" pitchFamily="49" charset="-122"/>
              </a:rPr>
              <a:t>金属指示剂</a:t>
            </a:r>
            <a:r>
              <a:rPr lang="en-US" altLang="zh-CN" sz="2500" b="1" dirty="0" smtClean="0">
                <a:solidFill>
                  <a:srgbClr val="0000FF"/>
                </a:solidFill>
                <a:ea typeface="楷体_GB2312" pitchFamily="49" charset="-122"/>
              </a:rPr>
              <a:t>In</a:t>
            </a:r>
            <a:r>
              <a:rPr lang="en-US" altLang="zh-CN" sz="2500" b="1" dirty="0" smtClean="0">
                <a:solidFill>
                  <a:srgbClr val="000000"/>
                </a:solidFill>
                <a:ea typeface="楷体_GB2312" pitchFamily="49" charset="-122"/>
              </a:rPr>
              <a:t>:</a:t>
            </a:r>
            <a:r>
              <a:rPr lang="zh-CN" altLang="en-US" sz="2500" b="1" dirty="0">
                <a:solidFill>
                  <a:srgbClr val="000000"/>
                </a:solidFill>
                <a:ea typeface="楷体_GB2312" pitchFamily="49" charset="-122"/>
              </a:rPr>
              <a:t>有机配位剂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,</a:t>
            </a:r>
            <a:r>
              <a:rPr lang="zh-CN" altLang="en-US" sz="2500" b="1" dirty="0">
                <a:solidFill>
                  <a:srgbClr val="000000"/>
                </a:solidFill>
                <a:ea typeface="楷体_GB2312" pitchFamily="49" charset="-122"/>
              </a:rPr>
              <a:t>一定条件下</a:t>
            </a:r>
            <a:r>
              <a:rPr lang="zh-CN" altLang="en-US" sz="2500" b="1" dirty="0" smtClean="0">
                <a:solidFill>
                  <a:srgbClr val="000000"/>
                </a:solidFill>
                <a:ea typeface="楷体_GB2312" pitchFamily="49" charset="-122"/>
              </a:rPr>
              <a:t>与金属离子（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M</a:t>
            </a:r>
            <a:r>
              <a:rPr lang="zh-CN" altLang="en-US" sz="2500" b="1" dirty="0" smtClean="0">
                <a:solidFill>
                  <a:srgbClr val="000000"/>
                </a:solidFill>
                <a:ea typeface="楷体_GB2312" pitchFamily="49" charset="-122"/>
              </a:rPr>
              <a:t>）所</a:t>
            </a:r>
            <a:r>
              <a:rPr lang="zh-CN" altLang="en-US" sz="2500" b="1" dirty="0">
                <a:solidFill>
                  <a:srgbClr val="000000"/>
                </a:solidFill>
                <a:ea typeface="楷体_GB2312" pitchFamily="49" charset="-122"/>
              </a:rPr>
              <a:t>形成的</a:t>
            </a:r>
            <a:r>
              <a:rPr lang="en-US" altLang="zh-CN" sz="2500" b="1" dirty="0" err="1">
                <a:solidFill>
                  <a:srgbClr val="FF0066"/>
                </a:solidFill>
                <a:ea typeface="楷体_GB2312" pitchFamily="49" charset="-122"/>
              </a:rPr>
              <a:t>MIn</a:t>
            </a:r>
            <a:r>
              <a:rPr lang="zh-CN" altLang="en-US" sz="2500" b="1" dirty="0">
                <a:solidFill>
                  <a:srgbClr val="000000"/>
                </a:solidFill>
                <a:ea typeface="楷体_GB2312" pitchFamily="49" charset="-122"/>
              </a:rPr>
              <a:t>的颜色与</a:t>
            </a:r>
            <a:r>
              <a:rPr lang="en-US" altLang="zh-CN" sz="2500" b="1" dirty="0">
                <a:solidFill>
                  <a:schemeClr val="bg2"/>
                </a:solidFill>
                <a:ea typeface="楷体_GB2312" pitchFamily="49" charset="-122"/>
              </a:rPr>
              <a:t>In</a:t>
            </a:r>
            <a:r>
              <a:rPr lang="zh-CN" altLang="en-US" sz="2500" b="1" dirty="0">
                <a:solidFill>
                  <a:srgbClr val="000000"/>
                </a:solidFill>
                <a:ea typeface="楷体_GB2312" pitchFamily="49" charset="-122"/>
              </a:rPr>
              <a:t>的颜色不同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.</a:t>
            </a:r>
          </a:p>
          <a:p>
            <a:pPr algn="just"/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        </a:t>
            </a:r>
          </a:p>
        </p:txBody>
      </p:sp>
      <p:sp>
        <p:nvSpPr>
          <p:cNvPr id="63500" name="Rectangle 12"/>
          <p:cNvSpPr>
            <a:spLocks noChangeArrowheads="1"/>
          </p:cNvSpPr>
          <p:nvPr/>
        </p:nvSpPr>
        <p:spPr bwMode="auto">
          <a:xfrm>
            <a:off x="579330" y="770343"/>
            <a:ext cx="3084499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 smtClean="0">
                <a:solidFill>
                  <a:srgbClr val="FF0000"/>
                </a:solidFill>
                <a:latin typeface="宋体" pitchFamily="2" charset="-122"/>
                <a:ea typeface="楷体_GB2312" pitchFamily="49" charset="-122"/>
              </a:rPr>
              <a:t>金属指示剂作用原理</a:t>
            </a:r>
            <a:endParaRPr lang="en-US" altLang="zh-CN" sz="2500" b="1" dirty="0">
              <a:solidFill>
                <a:srgbClr val="FF0000"/>
              </a:solidFill>
              <a:latin typeface="宋体" pitchFamily="2" charset="-122"/>
              <a:ea typeface="楷体_GB2312" pitchFamily="49" charset="-122"/>
            </a:endParaRPr>
          </a:p>
        </p:txBody>
      </p:sp>
      <p:sp>
        <p:nvSpPr>
          <p:cNvPr id="63502" name="Rectangle 14"/>
          <p:cNvSpPr>
            <a:spLocks noChangeArrowheads="1"/>
          </p:cNvSpPr>
          <p:nvPr/>
        </p:nvSpPr>
        <p:spPr bwMode="auto">
          <a:xfrm>
            <a:off x="3790696" y="5066555"/>
            <a:ext cx="4583113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 smtClean="0">
                <a:solidFill>
                  <a:srgbClr val="000000"/>
                </a:solidFill>
                <a:ea typeface="楷体_GB2312" pitchFamily="49" charset="-122"/>
              </a:rPr>
              <a:t>EBT              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+ Mg</a:t>
            </a:r>
            <a:r>
              <a:rPr lang="en-US" altLang="zh-CN" sz="2500" b="1" baseline="30000" dirty="0">
                <a:solidFill>
                  <a:srgbClr val="000000"/>
                </a:solidFill>
                <a:ea typeface="楷体_GB2312" pitchFamily="49" charset="-122"/>
              </a:rPr>
              <a:t>2+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  </a:t>
            </a:r>
            <a:r>
              <a:rPr lang="en-US" altLang="zh-CN" sz="2500" b="1" dirty="0">
                <a:ea typeface="楷体_GB2312" pitchFamily="49" charset="-122"/>
              </a:rPr>
              <a:t>⇋ 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lang="en-US" altLang="zh-CN" sz="2500" b="1" dirty="0" err="1">
                <a:solidFill>
                  <a:srgbClr val="000000"/>
                </a:solidFill>
                <a:ea typeface="楷体_GB2312" pitchFamily="49" charset="-122"/>
              </a:rPr>
              <a:t>MgEBT</a:t>
            </a:r>
            <a:endParaRPr lang="en-US" altLang="zh-CN" sz="25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63504" name="Rectangle 16"/>
          <p:cNvSpPr>
            <a:spLocks noChangeArrowheads="1"/>
          </p:cNvSpPr>
          <p:nvPr/>
        </p:nvSpPr>
        <p:spPr bwMode="auto">
          <a:xfrm>
            <a:off x="4565277" y="5074493"/>
            <a:ext cx="1041400" cy="477837"/>
          </a:xfrm>
          <a:prstGeom prst="rect">
            <a:avLst/>
          </a:prstGeom>
          <a:solidFill>
            <a:srgbClr val="FFFF99"/>
          </a:solidFill>
          <a:ln w="9525">
            <a:solidFill>
              <a:srgbClr val="3366FF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(</a:t>
            </a:r>
            <a:r>
              <a:rPr lang="zh-CN" altLang="en-US" sz="2500" b="1" dirty="0">
                <a:solidFill>
                  <a:srgbClr val="0000FF"/>
                </a:solidFill>
                <a:ea typeface="楷体_GB2312" pitchFamily="49" charset="-122"/>
              </a:rPr>
              <a:t>蓝色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)</a:t>
            </a:r>
            <a:endParaRPr lang="en-US" altLang="zh-CN" sz="25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63505" name="Rectangle 17"/>
          <p:cNvSpPr>
            <a:spLocks noChangeArrowheads="1"/>
          </p:cNvSpPr>
          <p:nvPr/>
        </p:nvSpPr>
        <p:spPr bwMode="auto">
          <a:xfrm>
            <a:off x="8280027" y="5074493"/>
            <a:ext cx="1441450" cy="477837"/>
          </a:xfrm>
          <a:prstGeom prst="rect">
            <a:avLst/>
          </a:prstGeom>
          <a:solidFill>
            <a:srgbClr val="FFFF99"/>
          </a:solidFill>
          <a:ln w="9525">
            <a:solidFill>
              <a:srgbClr val="3366FF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FF0066"/>
                </a:solidFill>
                <a:ea typeface="楷体_GB2312" pitchFamily="49" charset="-122"/>
              </a:rPr>
              <a:t>(</a:t>
            </a:r>
            <a:r>
              <a:rPr lang="zh-CN" altLang="en-US" sz="2500" b="1" dirty="0">
                <a:solidFill>
                  <a:srgbClr val="FF0066"/>
                </a:solidFill>
                <a:ea typeface="楷体_GB2312" pitchFamily="49" charset="-122"/>
              </a:rPr>
              <a:t>酒红色 </a:t>
            </a:r>
            <a:r>
              <a:rPr lang="en-US" altLang="zh-CN" sz="2500" b="1" dirty="0">
                <a:solidFill>
                  <a:srgbClr val="FF0066"/>
                </a:solidFill>
                <a:ea typeface="楷体_GB2312" pitchFamily="49" charset="-122"/>
              </a:rPr>
              <a:t>)</a:t>
            </a:r>
            <a:endParaRPr lang="en-US" altLang="zh-CN" sz="2500" b="1" dirty="0">
              <a:solidFill>
                <a:srgbClr val="FF3399"/>
              </a:solidFill>
              <a:ea typeface="楷体_GB2312" pitchFamily="49" charset="-122"/>
            </a:endParaRPr>
          </a:p>
        </p:txBody>
      </p:sp>
      <p:sp>
        <p:nvSpPr>
          <p:cNvPr id="63517" name="Rectangle 29"/>
          <p:cNvSpPr>
            <a:spLocks noChangeArrowheads="1"/>
          </p:cNvSpPr>
          <p:nvPr/>
        </p:nvSpPr>
        <p:spPr bwMode="auto">
          <a:xfrm>
            <a:off x="1517650" y="5660998"/>
            <a:ext cx="1660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solidFill>
                  <a:srgbClr val="000000"/>
                </a:solidFill>
                <a:ea typeface="楷体_GB2312" pitchFamily="49" charset="-122"/>
              </a:rPr>
              <a:t>计量点时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: </a:t>
            </a:r>
          </a:p>
        </p:txBody>
      </p:sp>
      <p:sp>
        <p:nvSpPr>
          <p:cNvPr id="63518" name="Rectangle 30"/>
          <p:cNvSpPr>
            <a:spLocks noChangeArrowheads="1"/>
          </p:cNvSpPr>
          <p:nvPr/>
        </p:nvSpPr>
        <p:spPr bwMode="auto">
          <a:xfrm>
            <a:off x="3432150" y="5755560"/>
            <a:ext cx="6937399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500" b="1" dirty="0" err="1">
                <a:solidFill>
                  <a:srgbClr val="000000"/>
                </a:solidFill>
                <a:ea typeface="楷体_GB2312" pitchFamily="49" charset="-122"/>
              </a:rPr>
              <a:t>MgEBT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                   + Y</a:t>
            </a:r>
            <a:r>
              <a:rPr lang="en-US" altLang="zh-CN" sz="2500" b="1" baseline="30000" dirty="0">
                <a:solidFill>
                  <a:srgbClr val="000000"/>
                </a:solidFill>
                <a:ea typeface="楷体_GB2312" pitchFamily="49" charset="-122"/>
              </a:rPr>
              <a:t>4-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  </a:t>
            </a:r>
            <a:r>
              <a:rPr lang="en-US" altLang="zh-CN" sz="2500" b="1" dirty="0">
                <a:ea typeface="楷体_GB2312" pitchFamily="49" charset="-122"/>
              </a:rPr>
              <a:t>⇋ 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 EBT              + MgY</a:t>
            </a:r>
            <a:r>
              <a:rPr lang="en-US" altLang="zh-CN" sz="2500" b="1" baseline="30000" dirty="0">
                <a:solidFill>
                  <a:srgbClr val="000000"/>
                </a:solidFill>
                <a:ea typeface="楷体_GB2312" pitchFamily="49" charset="-122"/>
              </a:rPr>
              <a:t>2-</a:t>
            </a:r>
          </a:p>
        </p:txBody>
      </p:sp>
      <p:sp>
        <p:nvSpPr>
          <p:cNvPr id="63519" name="Rectangle 31"/>
          <p:cNvSpPr>
            <a:spLocks noChangeArrowheads="1"/>
          </p:cNvSpPr>
          <p:nvPr/>
        </p:nvSpPr>
        <p:spPr bwMode="auto">
          <a:xfrm>
            <a:off x="4640802" y="5747623"/>
            <a:ext cx="1441450" cy="477837"/>
          </a:xfrm>
          <a:prstGeom prst="rect">
            <a:avLst/>
          </a:prstGeom>
          <a:solidFill>
            <a:srgbClr val="FFFF99"/>
          </a:solidFill>
          <a:ln w="9525">
            <a:solidFill>
              <a:srgbClr val="3366FF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FF0066"/>
                </a:solidFill>
                <a:ea typeface="楷体_GB2312" pitchFamily="49" charset="-122"/>
              </a:rPr>
              <a:t>(</a:t>
            </a:r>
            <a:r>
              <a:rPr lang="zh-CN" altLang="en-US" sz="2500" b="1" dirty="0">
                <a:solidFill>
                  <a:srgbClr val="FF0066"/>
                </a:solidFill>
                <a:ea typeface="楷体_GB2312" pitchFamily="49" charset="-122"/>
              </a:rPr>
              <a:t>酒红色 </a:t>
            </a:r>
            <a:r>
              <a:rPr lang="en-US" altLang="zh-CN" sz="2500" b="1" dirty="0">
                <a:solidFill>
                  <a:srgbClr val="FF0066"/>
                </a:solidFill>
                <a:ea typeface="楷体_GB2312" pitchFamily="49" charset="-122"/>
              </a:rPr>
              <a:t>)</a:t>
            </a:r>
            <a:endParaRPr lang="en-US" altLang="zh-CN" sz="2500" b="1" dirty="0">
              <a:solidFill>
                <a:srgbClr val="FF3399"/>
              </a:solidFill>
              <a:ea typeface="楷体_GB2312" pitchFamily="49" charset="-122"/>
            </a:endParaRPr>
          </a:p>
        </p:txBody>
      </p:sp>
      <p:sp>
        <p:nvSpPr>
          <p:cNvPr id="63520" name="Rectangle 32"/>
          <p:cNvSpPr>
            <a:spLocks noChangeArrowheads="1"/>
          </p:cNvSpPr>
          <p:nvPr/>
        </p:nvSpPr>
        <p:spPr bwMode="auto">
          <a:xfrm>
            <a:off x="7975600" y="5688359"/>
            <a:ext cx="1041400" cy="477838"/>
          </a:xfrm>
          <a:prstGeom prst="rect">
            <a:avLst/>
          </a:prstGeom>
          <a:solidFill>
            <a:srgbClr val="FFFF99"/>
          </a:solidFill>
          <a:ln w="9525">
            <a:solidFill>
              <a:srgbClr val="3366FF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(</a:t>
            </a:r>
            <a:r>
              <a:rPr lang="zh-CN" altLang="en-US" sz="2500" b="1" dirty="0">
                <a:solidFill>
                  <a:srgbClr val="0000FF"/>
                </a:solidFill>
                <a:ea typeface="楷体_GB2312" pitchFamily="49" charset="-122"/>
              </a:rPr>
              <a:t>蓝色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)</a:t>
            </a:r>
            <a:endParaRPr lang="en-US" altLang="zh-CN" sz="25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63523" name="Rectangle 35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mtClean="0"/>
              <a:t>6.3.2</a:t>
            </a:r>
            <a:r>
              <a:rPr lang="zh-CN" altLang="en-US" smtClean="0"/>
              <a:t>金属指示剂的作用原理</a:t>
            </a:r>
            <a:endParaRPr lang="zh-CN" altLang="en-US" sz="1600" smtClean="0">
              <a:solidFill>
                <a:srgbClr val="FF0066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pitchFamily="49" charset="-122"/>
            </a:endParaRPr>
          </a:p>
        </p:txBody>
      </p:sp>
      <p:sp>
        <p:nvSpPr>
          <p:cNvPr id="9228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9" name="Oval 26" descr="图片8">
            <a:hlinkClick r:id="rId3" action="ppaction://hlinksldjump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307894" y="4387403"/>
            <a:ext cx="80289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zh-CN" altLang="en-US" sz="2400" b="1" dirty="0">
                <a:solidFill>
                  <a:srgbClr val="000000"/>
                </a:solidFill>
                <a:ea typeface="楷体_GB2312"/>
              </a:rPr>
              <a:t>以</a:t>
            </a:r>
            <a:r>
              <a:rPr lang="zh-CN" altLang="en-US" sz="2400" b="1" dirty="0" smtClean="0">
                <a:solidFill>
                  <a:srgbClr val="000000"/>
                </a:solidFill>
                <a:ea typeface="楷体_GB2312"/>
              </a:rPr>
              <a:t>铬</a:t>
            </a:r>
            <a:r>
              <a:rPr lang="zh-CN" altLang="en-US" sz="2400" b="1" dirty="0">
                <a:solidFill>
                  <a:srgbClr val="000000"/>
                </a:solidFill>
                <a:ea typeface="楷体_GB2312"/>
              </a:rPr>
              <a:t>黑</a:t>
            </a:r>
            <a:r>
              <a:rPr lang="en-US" altLang="zh-CN" sz="2400" b="1" dirty="0">
                <a:solidFill>
                  <a:srgbClr val="000000"/>
                </a:solidFill>
                <a:ea typeface="楷体_GB2312"/>
              </a:rPr>
              <a:t>T (</a:t>
            </a:r>
            <a:r>
              <a:rPr lang="en-US" altLang="zh-CN" sz="2400" b="1" dirty="0">
                <a:solidFill>
                  <a:schemeClr val="bg2"/>
                </a:solidFill>
                <a:ea typeface="楷体_GB2312"/>
              </a:rPr>
              <a:t>EBT</a:t>
            </a:r>
            <a:r>
              <a:rPr lang="en-US" altLang="zh-CN" sz="2400" b="1" dirty="0" smtClean="0">
                <a:solidFill>
                  <a:srgbClr val="000000"/>
                </a:solidFill>
                <a:ea typeface="楷体_GB2312"/>
              </a:rPr>
              <a:t>)</a:t>
            </a:r>
            <a:r>
              <a:rPr lang="zh-CN" altLang="en-US" sz="2400" b="1" dirty="0" smtClean="0">
                <a:solidFill>
                  <a:srgbClr val="000000"/>
                </a:solidFill>
                <a:ea typeface="楷体_GB2312"/>
              </a:rPr>
              <a:t>为例  </a:t>
            </a:r>
            <a:r>
              <a:rPr lang="en-US" altLang="zh-CN" sz="2400" b="1" dirty="0" smtClean="0">
                <a:solidFill>
                  <a:srgbClr val="000000"/>
                </a:solidFill>
                <a:ea typeface="楷体_GB2312"/>
              </a:rPr>
              <a:t>.</a:t>
            </a:r>
            <a:r>
              <a:rPr lang="zh-CN" altLang="en-US" sz="2400" b="1" dirty="0">
                <a:solidFill>
                  <a:srgbClr val="000000"/>
                </a:solidFill>
                <a:ea typeface="楷体_GB2312"/>
              </a:rPr>
              <a:t>滴定前</a:t>
            </a:r>
            <a:r>
              <a:rPr lang="en-US" altLang="zh-CN" sz="2400" b="1" dirty="0">
                <a:solidFill>
                  <a:srgbClr val="000000"/>
                </a:solidFill>
                <a:ea typeface="楷体_GB2312"/>
              </a:rPr>
              <a:t>,Mg</a:t>
            </a:r>
            <a:r>
              <a:rPr lang="en-US" altLang="zh-CN" sz="2400" b="1" baseline="30000" dirty="0">
                <a:solidFill>
                  <a:srgbClr val="000000"/>
                </a:solidFill>
                <a:ea typeface="楷体_GB2312"/>
              </a:rPr>
              <a:t>2+</a:t>
            </a:r>
            <a:r>
              <a:rPr lang="zh-CN" altLang="en-US" sz="2400" b="1" dirty="0">
                <a:solidFill>
                  <a:srgbClr val="000000"/>
                </a:solidFill>
                <a:ea typeface="楷体_GB2312"/>
              </a:rPr>
              <a:t>溶液</a:t>
            </a:r>
            <a:r>
              <a:rPr lang="en-US" altLang="zh-CN" sz="2400" b="1" dirty="0">
                <a:solidFill>
                  <a:srgbClr val="000000"/>
                </a:solidFill>
                <a:ea typeface="楷体_GB2312"/>
              </a:rPr>
              <a:t>(pH=8</a:t>
            </a:r>
            <a:r>
              <a:rPr lang="en-US" altLang="zh-CN" sz="2400" b="1" dirty="0">
                <a:solidFill>
                  <a:srgbClr val="000000"/>
                </a:solidFill>
                <a:ea typeface="楷体_GB2312"/>
                <a:sym typeface="Symbol" pitchFamily="18" charset="2"/>
              </a:rPr>
              <a:t></a:t>
            </a:r>
            <a:r>
              <a:rPr lang="en-US" altLang="zh-CN" sz="2400" b="1" dirty="0">
                <a:solidFill>
                  <a:srgbClr val="000000"/>
                </a:solidFill>
                <a:ea typeface="楷体_GB2312"/>
              </a:rPr>
              <a:t>10)</a:t>
            </a:r>
            <a:r>
              <a:rPr lang="zh-CN" altLang="en-US" sz="2400" b="1" dirty="0">
                <a:solidFill>
                  <a:srgbClr val="000000"/>
                </a:solidFill>
                <a:ea typeface="楷体_GB2312"/>
              </a:rPr>
              <a:t>中加入</a:t>
            </a:r>
            <a:r>
              <a:rPr lang="zh-CN" altLang="zh-CN" sz="2400" b="1" dirty="0">
                <a:solidFill>
                  <a:srgbClr val="000000"/>
                </a:solidFill>
                <a:ea typeface="楷体_GB2312"/>
              </a:rPr>
              <a:t>:</a:t>
            </a:r>
            <a:r>
              <a:rPr lang="en-US" altLang="zh-CN" sz="2400" b="1" dirty="0">
                <a:solidFill>
                  <a:srgbClr val="000000"/>
                </a:solidFill>
                <a:ea typeface="楷体_GB2312"/>
              </a:rPr>
              <a:t>   </a:t>
            </a:r>
          </a:p>
        </p:txBody>
      </p:sp>
      <p:sp>
        <p:nvSpPr>
          <p:cNvPr id="3" name="矩形 2"/>
          <p:cNvSpPr/>
          <p:nvPr/>
        </p:nvSpPr>
        <p:spPr>
          <a:xfrm>
            <a:off x="3686420" y="2483231"/>
            <a:ext cx="26552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smtClean="0">
                <a:solidFill>
                  <a:srgbClr val="0000FF"/>
                </a:solidFill>
                <a:ea typeface="楷体_GB2312" pitchFamily="49" charset="-122"/>
              </a:rPr>
              <a:t>In</a:t>
            </a:r>
            <a:r>
              <a:rPr lang="en-US" altLang="zh-CN" sz="2800" b="1" dirty="0" smtClean="0">
                <a:solidFill>
                  <a:srgbClr val="000000"/>
                </a:solidFill>
                <a:ea typeface="楷体_GB2312" pitchFamily="49" charset="-122"/>
              </a:rPr>
              <a:t> +M= </a:t>
            </a:r>
            <a:r>
              <a:rPr lang="en-US" altLang="zh-CN" sz="2800" b="1" dirty="0" err="1" smtClean="0">
                <a:solidFill>
                  <a:srgbClr val="FF0000"/>
                </a:solidFill>
                <a:ea typeface="楷体_GB2312" pitchFamily="49" charset="-122"/>
              </a:rPr>
              <a:t>MIn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4210" y="2087959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ea typeface="楷体_GB2312"/>
              </a:rPr>
              <a:t>作用原理</a:t>
            </a:r>
            <a:endParaRPr lang="zh-CN" altLang="en-US" sz="2800" b="1" dirty="0">
              <a:solidFill>
                <a:srgbClr val="FF0000"/>
              </a:solidFill>
              <a:ea typeface="楷体_GB231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21579" y="2487567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ea typeface="楷体_GB2312"/>
              </a:rPr>
              <a:t>滴定前</a:t>
            </a:r>
            <a:endParaRPr lang="zh-CN" altLang="en-US" sz="2400" b="1" dirty="0">
              <a:ea typeface="楷体_GB231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121579" y="3031707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ea typeface="楷体_GB2312"/>
              </a:rPr>
              <a:t>滴定中</a:t>
            </a:r>
            <a:endParaRPr lang="zh-CN" altLang="en-US" sz="2400" b="1" dirty="0">
              <a:ea typeface="楷体_GB231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617810" y="3000929"/>
            <a:ext cx="26552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ea typeface="楷体_GB2312" pitchFamily="49" charset="-122"/>
              </a:rPr>
              <a:t>Y</a:t>
            </a:r>
            <a:r>
              <a:rPr lang="en-US" altLang="zh-CN" sz="2800" b="1" dirty="0" smtClean="0">
                <a:solidFill>
                  <a:srgbClr val="000000"/>
                </a:solidFill>
                <a:ea typeface="楷体_GB2312" pitchFamily="49" charset="-122"/>
              </a:rPr>
              <a:t> +M=MY</a:t>
            </a:r>
            <a:endParaRPr lang="zh-CN" altLang="en-US" sz="2800" dirty="0"/>
          </a:p>
        </p:txBody>
      </p:sp>
      <p:sp>
        <p:nvSpPr>
          <p:cNvPr id="21" name="文本框 20"/>
          <p:cNvSpPr txBox="1"/>
          <p:nvPr/>
        </p:nvSpPr>
        <p:spPr>
          <a:xfrm>
            <a:off x="2037818" y="3612418"/>
            <a:ext cx="1545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ea typeface="楷体_GB2312"/>
              </a:rPr>
              <a:t>滴定终点</a:t>
            </a:r>
            <a:endParaRPr lang="zh-CN" altLang="en-US" sz="2400" b="1" dirty="0">
              <a:ea typeface="楷体_GB231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580382" y="3575285"/>
            <a:ext cx="37817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err="1" smtClean="0">
                <a:solidFill>
                  <a:srgbClr val="000000"/>
                </a:solidFill>
                <a:ea typeface="楷体_GB2312" pitchFamily="49" charset="-122"/>
              </a:rPr>
              <a:t>MIn</a:t>
            </a:r>
            <a:r>
              <a:rPr lang="en-US" altLang="zh-CN" sz="2800" b="1" dirty="0" smtClean="0">
                <a:solidFill>
                  <a:srgbClr val="000000"/>
                </a:solidFill>
                <a:ea typeface="楷体_GB2312" pitchFamily="49" charset="-122"/>
              </a:rPr>
              <a:t> +Y=</a:t>
            </a:r>
            <a:r>
              <a:rPr lang="en-US" altLang="zh-CN" sz="2800" b="1" dirty="0" err="1" smtClean="0">
                <a:solidFill>
                  <a:srgbClr val="000000"/>
                </a:solidFill>
                <a:ea typeface="楷体_GB2312" pitchFamily="49" charset="-122"/>
              </a:rPr>
              <a:t>MY+</a:t>
            </a:r>
            <a:r>
              <a:rPr lang="en-US" altLang="zh-CN" sz="2800" b="1" dirty="0" err="1" smtClean="0">
                <a:solidFill>
                  <a:srgbClr val="0000FF"/>
                </a:solidFill>
                <a:ea typeface="楷体_GB2312" pitchFamily="49" charset="-122"/>
              </a:rPr>
              <a:t>In</a:t>
            </a:r>
            <a:endParaRPr lang="zh-CN" altLang="en-US" sz="2800" dirty="0">
              <a:solidFill>
                <a:srgbClr val="0000FF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41658" y="2517295"/>
            <a:ext cx="2040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ea typeface="楷体_GB2312"/>
              </a:rPr>
              <a:t>显配合物颜色</a:t>
            </a:r>
            <a:endParaRPr lang="zh-CN" altLang="en-US" sz="2400" b="1" dirty="0">
              <a:solidFill>
                <a:srgbClr val="FF0000"/>
              </a:solidFill>
              <a:ea typeface="楷体_GB231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781800" y="3609003"/>
            <a:ext cx="2736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ea typeface="楷体_GB2312"/>
              </a:rPr>
              <a:t>置换 </a:t>
            </a:r>
            <a:r>
              <a:rPr lang="zh-CN" altLang="en-US" sz="2400" b="1" dirty="0" smtClean="0">
                <a:solidFill>
                  <a:srgbClr val="0000FF"/>
                </a:solidFill>
                <a:ea typeface="楷体_GB2312"/>
              </a:rPr>
              <a:t>显指示剂颜色</a:t>
            </a:r>
            <a:endParaRPr lang="zh-CN" altLang="en-US" sz="2400" b="1" dirty="0">
              <a:solidFill>
                <a:srgbClr val="0000FF"/>
              </a:solidFill>
              <a:ea typeface="楷体_GB231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813119" y="5046094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ea typeface="楷体_GB2312"/>
              </a:rPr>
              <a:t>滴定前</a:t>
            </a:r>
            <a:endParaRPr lang="zh-CN" altLang="en-US" sz="2400" b="1" dirty="0">
              <a:ea typeface="楷体_GB2312"/>
            </a:endParaRP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6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4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4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3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3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3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3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3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3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7" grpId="0" build="p" autoUpdateAnimBg="0"/>
      <p:bldP spid="63500" grpId="0" autoUpdateAnimBg="0"/>
      <p:bldP spid="63502" grpId="0"/>
      <p:bldP spid="63504" grpId="0" animBg="1"/>
      <p:bldP spid="63505" grpId="0" animBg="1"/>
      <p:bldP spid="63517" grpId="0"/>
      <p:bldP spid="63518" grpId="0"/>
      <p:bldP spid="63519" grpId="0" animBg="1"/>
      <p:bldP spid="63520" grpId="0" animBg="1"/>
      <p:bldP spid="2" grpId="0"/>
      <p:bldP spid="3" grpId="0"/>
      <p:bldP spid="4" grpId="0"/>
      <p:bldP spid="5" grpId="0"/>
      <p:bldP spid="19" grpId="0"/>
      <p:bldP spid="20" grpId="0"/>
      <p:bldP spid="22" grpId="0"/>
      <p:bldP spid="7" grpId="0"/>
      <p:bldP spid="24" grpId="0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34" name="Text Box 18"/>
          <p:cNvSpPr txBox="1">
            <a:spLocks noChangeArrowheads="1"/>
          </p:cNvSpPr>
          <p:nvPr/>
        </p:nvSpPr>
        <p:spPr bwMode="auto">
          <a:xfrm>
            <a:off x="639763" y="1803597"/>
            <a:ext cx="1332771" cy="516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 anchor="b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solidFill>
                  <a:srgbClr val="000000"/>
                </a:solidFill>
                <a:ea typeface="楷体_GB2312" pitchFamily="49" charset="-122"/>
              </a:rPr>
              <a:t>如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EBT:              </a:t>
            </a:r>
          </a:p>
        </p:txBody>
      </p:sp>
      <p:sp>
        <p:nvSpPr>
          <p:cNvPr id="86035" name="Rectangle 19"/>
          <p:cNvSpPr>
            <a:spLocks noChangeArrowheads="1"/>
          </p:cNvSpPr>
          <p:nvPr/>
        </p:nvSpPr>
        <p:spPr bwMode="auto">
          <a:xfrm>
            <a:off x="2474913" y="2385120"/>
            <a:ext cx="4078212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H</a:t>
            </a:r>
            <a:r>
              <a:rPr lang="en-US" altLang="zh-CN" sz="2500" b="1" baseline="-25000" dirty="0">
                <a:solidFill>
                  <a:srgbClr val="000000"/>
                </a:solidFill>
                <a:ea typeface="楷体_GB2312" pitchFamily="49" charset="-122"/>
              </a:rPr>
              <a:t>2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In</a:t>
            </a:r>
            <a:r>
              <a:rPr lang="en-US" altLang="zh-CN" sz="2500" b="1" baseline="30000" dirty="0">
                <a:solidFill>
                  <a:srgbClr val="000000"/>
                </a:solidFill>
                <a:ea typeface="楷体_GB2312" pitchFamily="49" charset="-122"/>
              </a:rPr>
              <a:t>-     </a:t>
            </a:r>
            <a:r>
              <a:rPr lang="en-US" altLang="zh-CN" sz="2500" b="1" dirty="0">
                <a:ea typeface="楷体_GB2312" pitchFamily="49" charset="-122"/>
              </a:rPr>
              <a:t>⇋   </a:t>
            </a:r>
            <a:r>
              <a:rPr lang="en-US" altLang="zh-CN" sz="2500" b="1" baseline="30000" dirty="0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HIn</a:t>
            </a:r>
            <a:r>
              <a:rPr lang="en-US" altLang="zh-CN" sz="2500" b="1" baseline="30000" dirty="0">
                <a:solidFill>
                  <a:srgbClr val="000000"/>
                </a:solidFill>
                <a:ea typeface="楷体_GB2312" pitchFamily="49" charset="-122"/>
              </a:rPr>
              <a:t>2-     </a:t>
            </a:r>
            <a:r>
              <a:rPr lang="en-US" altLang="zh-CN" sz="2500" b="1" dirty="0">
                <a:ea typeface="楷体_GB2312" pitchFamily="49" charset="-122"/>
              </a:rPr>
              <a:t>⇋ </a:t>
            </a:r>
            <a:r>
              <a:rPr lang="en-US" altLang="zh-CN" sz="2500" b="1" baseline="30000" dirty="0">
                <a:solidFill>
                  <a:srgbClr val="000000"/>
                </a:solidFill>
                <a:ea typeface="楷体_GB2312" pitchFamily="49" charset="-122"/>
              </a:rPr>
              <a:t>      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In</a:t>
            </a:r>
            <a:r>
              <a:rPr lang="en-US" altLang="zh-CN" sz="2500" b="1" baseline="30000" dirty="0">
                <a:solidFill>
                  <a:srgbClr val="000000"/>
                </a:solidFill>
                <a:ea typeface="楷体_GB2312" pitchFamily="49" charset="-122"/>
              </a:rPr>
              <a:t>3-</a:t>
            </a:r>
          </a:p>
        </p:txBody>
      </p:sp>
      <p:sp>
        <p:nvSpPr>
          <p:cNvPr id="86036" name="Rectangle 20"/>
          <p:cNvSpPr>
            <a:spLocks noChangeArrowheads="1"/>
          </p:cNvSpPr>
          <p:nvPr/>
        </p:nvSpPr>
        <p:spPr bwMode="auto">
          <a:xfrm>
            <a:off x="2260600" y="2956620"/>
            <a:ext cx="825500" cy="477837"/>
          </a:xfrm>
          <a:prstGeom prst="rect">
            <a:avLst/>
          </a:prstGeom>
          <a:solidFill>
            <a:srgbClr val="FFFF99"/>
          </a:solidFill>
          <a:ln w="9525">
            <a:solidFill>
              <a:srgbClr val="3366FF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solidFill>
                  <a:srgbClr val="CC0000"/>
                </a:solidFill>
                <a:ea typeface="楷体_GB2312" pitchFamily="49" charset="-122"/>
              </a:rPr>
              <a:t>红色</a:t>
            </a:r>
          </a:p>
        </p:txBody>
      </p:sp>
      <p:sp>
        <p:nvSpPr>
          <p:cNvPr id="86037" name="Rectangle 21"/>
          <p:cNvSpPr>
            <a:spLocks noChangeArrowheads="1"/>
          </p:cNvSpPr>
          <p:nvPr/>
        </p:nvSpPr>
        <p:spPr bwMode="auto">
          <a:xfrm>
            <a:off x="4117975" y="2956620"/>
            <a:ext cx="825500" cy="477837"/>
          </a:xfrm>
          <a:prstGeom prst="rect">
            <a:avLst/>
          </a:prstGeom>
          <a:solidFill>
            <a:srgbClr val="FFFF99"/>
          </a:solidFill>
          <a:ln w="9525">
            <a:solidFill>
              <a:srgbClr val="3366FF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solidFill>
                  <a:srgbClr val="0000FF"/>
                </a:solidFill>
                <a:ea typeface="楷体_GB2312" pitchFamily="49" charset="-122"/>
              </a:rPr>
              <a:t>蓝色</a:t>
            </a:r>
          </a:p>
        </p:txBody>
      </p:sp>
      <p:sp>
        <p:nvSpPr>
          <p:cNvPr id="86038" name="Rectangle 22"/>
          <p:cNvSpPr>
            <a:spLocks noChangeArrowheads="1"/>
          </p:cNvSpPr>
          <p:nvPr/>
        </p:nvSpPr>
        <p:spPr bwMode="auto">
          <a:xfrm>
            <a:off x="5618163" y="2885182"/>
            <a:ext cx="825500" cy="477838"/>
          </a:xfrm>
          <a:prstGeom prst="rect">
            <a:avLst/>
          </a:prstGeom>
          <a:solidFill>
            <a:srgbClr val="00FFFF">
              <a:alpha val="50195"/>
            </a:srgbClr>
          </a:solidFill>
          <a:ln w="9525">
            <a:solidFill>
              <a:srgbClr val="3366FF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solidFill>
                  <a:srgbClr val="FF9933"/>
                </a:solidFill>
                <a:ea typeface="楷体_GB2312" pitchFamily="49" charset="-122"/>
              </a:rPr>
              <a:t>橙色</a:t>
            </a:r>
          </a:p>
        </p:txBody>
      </p:sp>
      <p:sp>
        <p:nvSpPr>
          <p:cNvPr id="86039" name="Rectangle 23"/>
          <p:cNvSpPr>
            <a:spLocks noChangeArrowheads="1"/>
          </p:cNvSpPr>
          <p:nvPr/>
        </p:nvSpPr>
        <p:spPr bwMode="auto">
          <a:xfrm>
            <a:off x="2236788" y="3385245"/>
            <a:ext cx="16319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solidFill>
                  <a:srgbClr val="000000"/>
                </a:solidFill>
                <a:ea typeface="楷体_GB2312" pitchFamily="49" charset="-122"/>
              </a:rPr>
              <a:t>pH&lt;6</a:t>
            </a:r>
          </a:p>
        </p:txBody>
      </p:sp>
      <p:sp>
        <p:nvSpPr>
          <p:cNvPr id="86040" name="Rectangle 24"/>
          <p:cNvSpPr>
            <a:spLocks noChangeArrowheads="1"/>
          </p:cNvSpPr>
          <p:nvPr/>
        </p:nvSpPr>
        <p:spPr bwMode="auto">
          <a:xfrm>
            <a:off x="3778250" y="3385245"/>
            <a:ext cx="151447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pH=8 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  <a:sym typeface="Symbol" pitchFamily="18" charset="2"/>
              </a:rPr>
              <a:t>11</a:t>
            </a:r>
          </a:p>
        </p:txBody>
      </p:sp>
      <p:sp>
        <p:nvSpPr>
          <p:cNvPr id="86041" name="Rectangle 25"/>
          <p:cNvSpPr>
            <a:spLocks noChangeArrowheads="1"/>
          </p:cNvSpPr>
          <p:nvPr/>
        </p:nvSpPr>
        <p:spPr bwMode="auto">
          <a:xfrm>
            <a:off x="5618163" y="3385245"/>
            <a:ext cx="1116012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pH&gt;12</a:t>
            </a:r>
          </a:p>
        </p:txBody>
      </p:sp>
      <p:sp>
        <p:nvSpPr>
          <p:cNvPr id="86049" name="Rectangle 33"/>
          <p:cNvSpPr>
            <a:spLocks noChangeArrowheads="1"/>
          </p:cNvSpPr>
          <p:nvPr/>
        </p:nvSpPr>
        <p:spPr bwMode="auto">
          <a:xfrm>
            <a:off x="1221966" y="1821058"/>
            <a:ext cx="511256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        EBT</a:t>
            </a:r>
            <a:r>
              <a:rPr lang="zh-CN" altLang="en-US" sz="2500" b="1" dirty="0">
                <a:solidFill>
                  <a:srgbClr val="000000"/>
                </a:solidFill>
                <a:ea typeface="楷体_GB2312" pitchFamily="49" charset="-122"/>
              </a:rPr>
              <a:t>与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M</a:t>
            </a:r>
            <a:r>
              <a:rPr lang="zh-CN" altLang="en-US" sz="2500" b="1" dirty="0">
                <a:solidFill>
                  <a:srgbClr val="000000"/>
                </a:solidFill>
                <a:ea typeface="楷体_GB2312" pitchFamily="49" charset="-122"/>
              </a:rPr>
              <a:t>所形成的</a:t>
            </a:r>
            <a:r>
              <a:rPr lang="en-US" altLang="zh-CN" sz="2500" b="1" dirty="0" err="1">
                <a:solidFill>
                  <a:srgbClr val="000000"/>
                </a:solidFill>
                <a:ea typeface="楷体_GB2312" pitchFamily="49" charset="-122"/>
              </a:rPr>
              <a:t>MIn</a:t>
            </a:r>
            <a:r>
              <a:rPr lang="zh-CN" altLang="en-US" sz="2500" b="1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酒红色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10251" name="Rectangle 35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0212"/>
          </a:xfrm>
          <a:noFill/>
        </p:spPr>
        <p:txBody>
          <a:bodyPr/>
          <a:lstStyle/>
          <a:p>
            <a:pPr eaLnBrk="1" hangingPunct="1"/>
            <a:r>
              <a:rPr lang="en-US" altLang="zh-CN" smtClean="0">
                <a:ea typeface="黑体" pitchFamily="49" charset="-122"/>
              </a:rPr>
              <a:t>6.3.3</a:t>
            </a:r>
            <a:r>
              <a:rPr lang="zh-CN" altLang="en-US" smtClean="0">
                <a:ea typeface="黑体" pitchFamily="49" charset="-122"/>
              </a:rPr>
              <a:t>金属指示剂</a:t>
            </a:r>
            <a:endParaRPr lang="zh-CN" altLang="en-US" b="0" smtClean="0">
              <a:solidFill>
                <a:srgbClr val="0000FF"/>
              </a:solidFill>
              <a:ea typeface="黑体" pitchFamily="49" charset="-122"/>
            </a:endParaRPr>
          </a:p>
        </p:txBody>
      </p:sp>
      <p:sp>
        <p:nvSpPr>
          <p:cNvPr id="86052" name="Rectangle 36"/>
          <p:cNvSpPr>
            <a:spLocks noChangeArrowheads="1"/>
          </p:cNvSpPr>
          <p:nvPr/>
        </p:nvSpPr>
        <p:spPr bwMode="auto">
          <a:xfrm>
            <a:off x="576263" y="4628222"/>
            <a:ext cx="10274300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500" b="1" dirty="0">
                <a:solidFill>
                  <a:srgbClr val="000000"/>
                </a:solidFill>
                <a:ea typeface="楷体_GB2312" pitchFamily="49" charset="-122"/>
              </a:rPr>
              <a:t>　　再如二甲酚橙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(XO),pH &lt; 6.3</a:t>
            </a:r>
            <a:r>
              <a:rPr lang="zh-CN" altLang="en-US" sz="2500" b="1" dirty="0">
                <a:solidFill>
                  <a:srgbClr val="000000"/>
                </a:solidFill>
                <a:ea typeface="楷体_GB2312" pitchFamily="49" charset="-122"/>
              </a:rPr>
              <a:t>时           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, pH &gt; 6.3</a:t>
            </a:r>
            <a:r>
              <a:rPr lang="zh-CN" altLang="en-US" sz="2500" b="1" dirty="0">
                <a:solidFill>
                  <a:srgbClr val="000000"/>
                </a:solidFill>
                <a:ea typeface="楷体_GB2312" pitchFamily="49" charset="-122"/>
              </a:rPr>
              <a:t>时</a:t>
            </a:r>
            <a:r>
              <a:rPr lang="zh-CN" altLang="en-US" sz="2500" b="1" dirty="0">
                <a:solidFill>
                  <a:srgbClr val="CC0000"/>
                </a:solidFill>
                <a:ea typeface="楷体_GB2312" pitchFamily="49" charset="-122"/>
              </a:rPr>
              <a:t>红色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,</a:t>
            </a:r>
            <a:r>
              <a:rPr lang="zh-CN" altLang="en-US" sz="2500" b="1" dirty="0">
                <a:solidFill>
                  <a:srgbClr val="000000"/>
                </a:solidFill>
                <a:ea typeface="楷体_GB2312" pitchFamily="49" charset="-122"/>
              </a:rPr>
              <a:t>它与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M</a:t>
            </a:r>
            <a:r>
              <a:rPr lang="zh-CN" altLang="en-US" sz="2500" b="1" dirty="0">
                <a:solidFill>
                  <a:srgbClr val="000000"/>
                </a:solidFill>
                <a:ea typeface="楷体_GB2312" pitchFamily="49" charset="-122"/>
              </a:rPr>
              <a:t>形成的</a:t>
            </a:r>
            <a:r>
              <a:rPr lang="en-US" altLang="zh-CN" sz="2500" b="1" dirty="0" err="1">
                <a:solidFill>
                  <a:srgbClr val="000000"/>
                </a:solidFill>
                <a:ea typeface="楷体_GB2312" pitchFamily="49" charset="-122"/>
              </a:rPr>
              <a:t>MIn</a:t>
            </a:r>
            <a:r>
              <a:rPr lang="zh-CN" altLang="en-US" sz="2500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玫瑰红色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</a:rPr>
              <a:t>.         </a:t>
            </a:r>
          </a:p>
        </p:txBody>
      </p:sp>
      <p:sp>
        <p:nvSpPr>
          <p:cNvPr id="86053" name="Rectangle 37"/>
          <p:cNvSpPr>
            <a:spLocks noChangeArrowheads="1"/>
          </p:cNvSpPr>
          <p:nvPr/>
        </p:nvSpPr>
        <p:spPr bwMode="auto">
          <a:xfrm>
            <a:off x="5465785" y="4628222"/>
            <a:ext cx="825500" cy="477838"/>
          </a:xfrm>
          <a:prstGeom prst="rect">
            <a:avLst/>
          </a:prstGeom>
          <a:solidFill>
            <a:srgbClr val="3366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>
                <a:solidFill>
                  <a:srgbClr val="FFFF66"/>
                </a:solidFill>
                <a:ea typeface="楷体_GB2312" pitchFamily="49" charset="-122"/>
              </a:rPr>
              <a:t>黄色</a:t>
            </a:r>
          </a:p>
        </p:txBody>
      </p:sp>
      <p:sp>
        <p:nvSpPr>
          <p:cNvPr id="23" name="Rectangle 37"/>
          <p:cNvSpPr>
            <a:spLocks noChangeArrowheads="1"/>
          </p:cNvSpPr>
          <p:nvPr/>
        </p:nvSpPr>
        <p:spPr bwMode="auto">
          <a:xfrm>
            <a:off x="688975" y="668338"/>
            <a:ext cx="9463088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b"/>
          <a:lstStyle/>
          <a:p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2.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指示剂应具备的条件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24" name="Text Box 38"/>
          <p:cNvSpPr txBox="1">
            <a:spLocks noChangeArrowheads="1"/>
          </p:cNvSpPr>
          <p:nvPr/>
        </p:nvSpPr>
        <p:spPr bwMode="auto">
          <a:xfrm>
            <a:off x="831850" y="1204682"/>
            <a:ext cx="4281115" cy="516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 anchor="b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(1)</a:t>
            </a:r>
            <a:r>
              <a:rPr lang="en-US" altLang="zh-CN" sz="2500" b="1" dirty="0">
                <a:solidFill>
                  <a:schemeClr val="bg2"/>
                </a:solidFill>
                <a:ea typeface="楷体_GB2312" pitchFamily="49" charset="-122"/>
              </a:rPr>
              <a:t>In</a:t>
            </a:r>
            <a:r>
              <a:rPr lang="zh-CN" altLang="en-US" sz="2500" b="1" dirty="0">
                <a:ea typeface="楷体_GB2312" pitchFamily="49" charset="-122"/>
              </a:rPr>
              <a:t>与</a:t>
            </a:r>
            <a:r>
              <a:rPr lang="en-US" altLang="zh-CN" sz="2500" b="1" dirty="0" err="1">
                <a:solidFill>
                  <a:srgbClr val="FF0066"/>
                </a:solidFill>
                <a:ea typeface="楷体_GB2312" pitchFamily="49" charset="-122"/>
              </a:rPr>
              <a:t>MIn</a:t>
            </a:r>
            <a:r>
              <a:rPr lang="zh-CN" altLang="en-US" sz="2500" b="1" dirty="0" smtClean="0">
                <a:ea typeface="楷体_GB2312" pitchFamily="49" charset="-122"/>
              </a:rPr>
              <a:t>的</a:t>
            </a:r>
            <a:r>
              <a:rPr lang="zh-CN" altLang="en-US" sz="2500" b="1" dirty="0">
                <a:ea typeface="楷体_GB2312" pitchFamily="49" charset="-122"/>
              </a:rPr>
              <a:t>颜色</a:t>
            </a:r>
            <a:r>
              <a:rPr lang="zh-CN" altLang="en-US" sz="2500" b="1" dirty="0" smtClean="0">
                <a:solidFill>
                  <a:srgbClr val="FF0000"/>
                </a:solidFill>
                <a:ea typeface="楷体_GB2312" pitchFamily="49" charset="-122"/>
              </a:rPr>
              <a:t>明显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不同</a:t>
            </a:r>
            <a:r>
              <a:rPr lang="en-US" altLang="zh-CN" sz="2500" b="1" dirty="0" smtClean="0">
                <a:ea typeface="楷体_GB2312" pitchFamily="49" charset="-122"/>
              </a:rPr>
              <a:t>.</a:t>
            </a:r>
            <a:r>
              <a:rPr lang="en-US" altLang="zh-CN" sz="2500" b="1" dirty="0" smtClean="0">
                <a:solidFill>
                  <a:srgbClr val="000000"/>
                </a:solidFill>
                <a:ea typeface="楷体_GB2312" pitchFamily="49" charset="-122"/>
              </a:rPr>
              <a:t>        </a:t>
            </a:r>
            <a:endParaRPr lang="en-US" altLang="zh-CN" sz="25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10256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7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839" y="2181944"/>
            <a:ext cx="1006450" cy="10064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252360" y="2241449"/>
            <a:ext cx="2088432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FF0000"/>
                </a:solidFill>
                <a:ea typeface="楷体_GB2312"/>
              </a:rPr>
              <a:t>EBT</a:t>
            </a:r>
            <a:r>
              <a:rPr lang="zh-CN" altLang="en-US" sz="2400" b="1" dirty="0" smtClean="0">
                <a:solidFill>
                  <a:srgbClr val="FF0000"/>
                </a:solidFill>
                <a:ea typeface="楷体_GB2312"/>
              </a:rPr>
              <a:t>和</a:t>
            </a:r>
            <a:r>
              <a:rPr lang="en-US" altLang="zh-CN" sz="2400" b="1" dirty="0" smtClean="0">
                <a:solidFill>
                  <a:srgbClr val="FF0000"/>
                </a:solidFill>
                <a:ea typeface="楷体_GB2312"/>
              </a:rPr>
              <a:t>XO</a:t>
            </a:r>
            <a:r>
              <a:rPr lang="zh-CN" altLang="en-US" sz="2400" b="1" dirty="0" smtClean="0">
                <a:solidFill>
                  <a:srgbClr val="FF0000"/>
                </a:solidFill>
                <a:ea typeface="楷体_GB2312"/>
              </a:rPr>
              <a:t>适用</a:t>
            </a:r>
            <a:r>
              <a:rPr lang="en-US" altLang="zh-CN" sz="2400" b="1" dirty="0" smtClean="0">
                <a:solidFill>
                  <a:srgbClr val="FF0000"/>
                </a:solidFill>
                <a:ea typeface="楷体_GB2312"/>
              </a:rPr>
              <a:t>pH</a:t>
            </a:r>
            <a:r>
              <a:rPr lang="zh-CN" altLang="en-US" sz="2400" b="1" dirty="0" smtClean="0">
                <a:solidFill>
                  <a:srgbClr val="FF0000"/>
                </a:solidFill>
                <a:ea typeface="楷体_GB2312"/>
              </a:rPr>
              <a:t>为多少</a:t>
            </a:r>
            <a:endParaRPr lang="zh-CN" altLang="en-US" sz="2400" b="1" dirty="0">
              <a:solidFill>
                <a:srgbClr val="FF0000"/>
              </a:solidFill>
              <a:ea typeface="楷体_GB231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3778250" y="2250861"/>
            <a:ext cx="1514475" cy="20693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3860006" y="4341000"/>
            <a:ext cx="2865437" cy="90590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6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60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60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60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8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34" grpId="0" build="p" autoUpdateAnimBg="0"/>
      <p:bldP spid="86035" grpId="0" autoUpdateAnimBg="0"/>
      <p:bldP spid="86036" grpId="0" animBg="1" autoUpdateAnimBg="0"/>
      <p:bldP spid="86037" grpId="0" animBg="1" autoUpdateAnimBg="0"/>
      <p:bldP spid="86038" grpId="0" animBg="1" autoUpdateAnimBg="0"/>
      <p:bldP spid="86039" grpId="0" autoUpdateAnimBg="0"/>
      <p:bldP spid="86040" grpId="0" autoUpdateAnimBg="0"/>
      <p:bldP spid="86041" grpId="0" autoUpdateAnimBg="0"/>
      <p:bldP spid="86049" grpId="0" autoUpdateAnimBg="0"/>
      <p:bldP spid="86052" grpId="0" autoUpdateAnimBg="0"/>
      <p:bldP spid="86053" grpId="0" animBg="1" autoUpdateAnimBg="0"/>
      <p:bldP spid="23" grpId="0" autoUpdateAnimBg="0"/>
      <p:bldP spid="24" grpId="0" build="p" autoUpdateAnimBg="0"/>
      <p:bldP spid="3" grpId="0" animBg="1"/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20477" y="863823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FF0000"/>
                </a:solidFill>
                <a:ea typeface="楷体_GB2312"/>
              </a:rPr>
              <a:t>总结</a:t>
            </a:r>
            <a:endParaRPr lang="zh-CN" altLang="en-US" sz="3200" b="1" dirty="0">
              <a:solidFill>
                <a:srgbClr val="FF0000"/>
              </a:solidFill>
              <a:ea typeface="楷体_GB231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990746"/>
              </p:ext>
            </p:extLst>
          </p:nvPr>
        </p:nvGraphicFramePr>
        <p:xfrm>
          <a:off x="1008509" y="1458143"/>
          <a:ext cx="9554570" cy="23774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419470435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3431362918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152766064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1089043302"/>
                    </a:ext>
                  </a:extLst>
                </a:gridCol>
                <a:gridCol w="2353770">
                  <a:extLst>
                    <a:ext uri="{9D8B030D-6E8A-4147-A177-3AD203B41FA5}">
                      <a16:colId xmlns:a16="http://schemas.microsoft.com/office/drawing/2014/main" val="35217345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400" dirty="0" smtClean="0">
                          <a:solidFill>
                            <a:srgbClr val="0000FF"/>
                          </a:solidFill>
                          <a:ea typeface="楷体_GB2312"/>
                        </a:rPr>
                        <a:t>指示剂</a:t>
                      </a:r>
                      <a:endParaRPr lang="zh-CN" altLang="en-US" sz="2400" dirty="0">
                        <a:solidFill>
                          <a:srgbClr val="0000FF"/>
                        </a:solidFill>
                        <a:ea typeface="楷体_GB231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solidFill>
                            <a:srgbClr val="0000FF"/>
                          </a:solidFill>
                          <a:ea typeface="楷体_GB2312"/>
                        </a:rPr>
                        <a:t>pH</a:t>
                      </a:r>
                      <a:r>
                        <a:rPr lang="zh-CN" altLang="en-US" sz="2400" dirty="0" smtClean="0">
                          <a:solidFill>
                            <a:srgbClr val="0000FF"/>
                          </a:solidFill>
                          <a:ea typeface="楷体_GB2312"/>
                        </a:rPr>
                        <a:t>范围</a:t>
                      </a:r>
                      <a:endParaRPr lang="zh-CN" altLang="en-US" sz="2400" dirty="0">
                        <a:solidFill>
                          <a:srgbClr val="0000FF"/>
                        </a:solidFill>
                        <a:ea typeface="楷体_GB231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err="1" smtClean="0">
                          <a:solidFill>
                            <a:srgbClr val="0000FF"/>
                          </a:solidFill>
                          <a:ea typeface="楷体_GB2312"/>
                        </a:rPr>
                        <a:t>MIn</a:t>
                      </a:r>
                      <a:r>
                        <a:rPr lang="zh-CN" altLang="en-US" sz="2400" dirty="0" smtClean="0">
                          <a:solidFill>
                            <a:srgbClr val="0000FF"/>
                          </a:solidFill>
                          <a:ea typeface="楷体_GB2312"/>
                        </a:rPr>
                        <a:t>颜色</a:t>
                      </a:r>
                      <a:endParaRPr lang="zh-CN" altLang="en-US" sz="2400" dirty="0">
                        <a:solidFill>
                          <a:srgbClr val="0000FF"/>
                        </a:solidFill>
                        <a:ea typeface="楷体_GB231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 smtClean="0">
                          <a:solidFill>
                            <a:srgbClr val="0000FF"/>
                          </a:solidFill>
                          <a:ea typeface="楷体_GB2312"/>
                        </a:rPr>
                        <a:t>In</a:t>
                      </a:r>
                      <a:r>
                        <a:rPr lang="zh-CN" altLang="en-US" sz="2400" dirty="0" smtClean="0">
                          <a:solidFill>
                            <a:srgbClr val="0000FF"/>
                          </a:solidFill>
                          <a:ea typeface="楷体_GB2312"/>
                        </a:rPr>
                        <a:t>颜色（终点）</a:t>
                      </a:r>
                      <a:endParaRPr lang="zh-CN" altLang="en-US" sz="2400" dirty="0">
                        <a:solidFill>
                          <a:srgbClr val="0000FF"/>
                        </a:solidFill>
                        <a:ea typeface="楷体_GB231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 smtClean="0">
                          <a:solidFill>
                            <a:srgbClr val="0000FF"/>
                          </a:solidFill>
                          <a:ea typeface="楷体_GB2312"/>
                        </a:rPr>
                        <a:t>直接滴定的离子</a:t>
                      </a:r>
                      <a:endParaRPr lang="zh-CN" altLang="en-US" sz="2400" dirty="0">
                        <a:solidFill>
                          <a:srgbClr val="0000FF"/>
                        </a:solidFill>
                        <a:ea typeface="楷体_GB231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367120"/>
                  </a:ext>
                </a:extLst>
              </a:tr>
              <a:tr h="478904">
                <a:tc>
                  <a:txBody>
                    <a:bodyPr/>
                    <a:lstStyle/>
                    <a:p>
                      <a:r>
                        <a:rPr lang="zh-CN" altLang="en-US" sz="2400" b="1" dirty="0" smtClean="0"/>
                        <a:t>铬黑</a:t>
                      </a:r>
                      <a:r>
                        <a:rPr lang="en-US" altLang="zh-CN" sz="2400" b="1" dirty="0" smtClean="0"/>
                        <a:t>T</a:t>
                      </a:r>
                      <a:r>
                        <a:rPr lang="zh-CN" altLang="en-US" sz="2400" b="1" dirty="0" smtClean="0"/>
                        <a:t>（</a:t>
                      </a:r>
                      <a:r>
                        <a:rPr lang="en-US" altLang="zh-CN" sz="2400" b="1" dirty="0" smtClean="0"/>
                        <a:t>EBT</a:t>
                      </a:r>
                      <a:r>
                        <a:rPr lang="zh-CN" altLang="en-US" sz="2400" b="1" dirty="0" smtClean="0"/>
                        <a:t>）</a:t>
                      </a:r>
                      <a:endParaRPr lang="zh-CN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dirty="0" smtClean="0">
                          <a:solidFill>
                            <a:srgbClr val="000000"/>
                          </a:solidFill>
                          <a:ea typeface="楷体_GB2312" pitchFamily="49" charset="-122"/>
                        </a:rPr>
                        <a:t>pH=8 </a:t>
                      </a:r>
                      <a:r>
                        <a:rPr lang="en-US" altLang="zh-CN" sz="2400" b="1" dirty="0" smtClean="0">
                          <a:solidFill>
                            <a:srgbClr val="000000"/>
                          </a:solidFill>
                          <a:ea typeface="楷体_GB2312" pitchFamily="49" charset="-122"/>
                          <a:sym typeface="Symbol" pitchFamily="18" charset="2"/>
                        </a:rPr>
                        <a:t>11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 smtClean="0">
                          <a:solidFill>
                            <a:srgbClr val="FF0000"/>
                          </a:solidFill>
                        </a:rPr>
                        <a:t>红</a:t>
                      </a:r>
                    </a:p>
                    <a:p>
                      <a:endParaRPr lang="zh-CN" altLang="en-US" sz="2400" b="1" dirty="0">
                        <a:solidFill>
                          <a:srgbClr val="0000FF"/>
                        </a:solidFill>
                        <a:ea typeface="楷体_GB231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 smtClean="0">
                          <a:solidFill>
                            <a:srgbClr val="0000FF"/>
                          </a:solidFill>
                          <a:ea typeface="楷体_GB2312"/>
                        </a:rPr>
                        <a:t>蓝</a:t>
                      </a:r>
                      <a:endParaRPr lang="zh-CN" altLang="en-US" sz="2400" b="1" dirty="0" smtClean="0">
                        <a:solidFill>
                          <a:srgbClr val="FF0000"/>
                        </a:solidFill>
                      </a:endParaRPr>
                    </a:p>
                    <a:p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/>
                        <a:t>Mg</a:t>
                      </a:r>
                      <a:r>
                        <a:rPr lang="en-US" altLang="zh-CN" sz="2400" b="1" baseline="30000" dirty="0" smtClean="0"/>
                        <a:t>2+  </a:t>
                      </a:r>
                      <a:r>
                        <a:rPr lang="en-US" altLang="zh-CN" sz="2400" b="1" baseline="0" dirty="0" smtClean="0"/>
                        <a:t>Zn</a:t>
                      </a:r>
                      <a:r>
                        <a:rPr lang="en-US" altLang="zh-CN" sz="2400" b="1" baseline="30000" dirty="0" smtClean="0"/>
                        <a:t>2+   </a:t>
                      </a:r>
                      <a:r>
                        <a:rPr lang="en-US" altLang="zh-CN" sz="2400" b="1" baseline="0" dirty="0" smtClean="0"/>
                        <a:t>Pb</a:t>
                      </a:r>
                      <a:r>
                        <a:rPr lang="en-US" altLang="zh-CN" sz="2400" b="1" baseline="30000" dirty="0" smtClean="0"/>
                        <a:t>2+</a:t>
                      </a:r>
                      <a:endParaRPr lang="zh-CN" altLang="en-US" sz="2400" b="1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217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dirty="0" smtClean="0">
                          <a:solidFill>
                            <a:srgbClr val="000000"/>
                          </a:solidFill>
                          <a:ea typeface="楷体_GB2312" pitchFamily="49" charset="-122"/>
                        </a:rPr>
                        <a:t>二甲酚橙</a:t>
                      </a:r>
                      <a:r>
                        <a:rPr lang="en-US" altLang="zh-CN" sz="2400" b="1" dirty="0" smtClean="0">
                          <a:solidFill>
                            <a:srgbClr val="000000"/>
                          </a:solidFill>
                          <a:ea typeface="楷体_GB2312" pitchFamily="49" charset="-122"/>
                        </a:rPr>
                        <a:t>(XO)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solidFill>
                            <a:srgbClr val="000000"/>
                          </a:solidFill>
                          <a:ea typeface="楷体_GB2312" pitchFamily="49" charset="-122"/>
                        </a:rPr>
                        <a:t>pH &lt; 6.3</a:t>
                      </a:r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b="1" dirty="0" smtClean="0">
                          <a:solidFill>
                            <a:srgbClr val="FF0000"/>
                          </a:solidFill>
                        </a:rPr>
                        <a:t>红</a:t>
                      </a:r>
                    </a:p>
                    <a:p>
                      <a:endParaRPr lang="zh-CN" altLang="en-US" sz="2800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b="1" dirty="0" smtClean="0">
                          <a:solidFill>
                            <a:srgbClr val="FFC000"/>
                          </a:solidFill>
                        </a:rPr>
                        <a:t>黄</a:t>
                      </a:r>
                      <a:endParaRPr lang="zh-CN" altLang="en-US" sz="3200" b="1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/>
                        <a:t>Bi</a:t>
                      </a:r>
                      <a:r>
                        <a:rPr lang="en-US" altLang="zh-CN" sz="2400" b="1" baseline="30000" dirty="0" smtClean="0"/>
                        <a:t>3+    </a:t>
                      </a:r>
                      <a:r>
                        <a:rPr lang="en-US" altLang="zh-CN" sz="2400" b="1" baseline="0" dirty="0" smtClean="0"/>
                        <a:t>Zn</a:t>
                      </a:r>
                      <a:r>
                        <a:rPr lang="en-US" altLang="zh-CN" sz="2400" b="1" baseline="30000" dirty="0" smtClean="0"/>
                        <a:t>2+    </a:t>
                      </a:r>
                      <a:r>
                        <a:rPr lang="en-US" altLang="zh-CN" sz="2400" b="1" baseline="0" dirty="0" smtClean="0"/>
                        <a:t>ZrO</a:t>
                      </a:r>
                      <a:r>
                        <a:rPr lang="en-US" altLang="zh-CN" sz="2400" b="1" baseline="30000" dirty="0" smtClean="0"/>
                        <a:t>2+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8785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1272173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6"/>
          <p:cNvSpPr>
            <a:spLocks noChangeArrowheads="1"/>
          </p:cNvSpPr>
          <p:nvPr/>
        </p:nvSpPr>
        <p:spPr bwMode="auto">
          <a:xfrm>
            <a:off x="768350" y="2687638"/>
            <a:ext cx="1841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zh-CN" sz="2500" b="1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64549" name="Rectangle 37"/>
          <p:cNvSpPr>
            <a:spLocks noChangeArrowheads="1"/>
          </p:cNvSpPr>
          <p:nvPr/>
        </p:nvSpPr>
        <p:spPr bwMode="auto">
          <a:xfrm>
            <a:off x="1031426" y="2171700"/>
            <a:ext cx="914403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500" b="1" dirty="0">
                <a:latin typeface="楷体_GB2312" pitchFamily="49" charset="-122"/>
                <a:ea typeface="楷体_GB2312" pitchFamily="49" charset="-122"/>
              </a:rPr>
              <a:t>　　</a:t>
            </a:r>
            <a:r>
              <a:rPr lang="zh-CN" altLang="en-US" sz="2500" b="1" u="sng" dirty="0" smtClean="0">
                <a:ea typeface="楷体_GB2312" pitchFamily="49" charset="-122"/>
              </a:rPr>
              <a:t>终点</a:t>
            </a:r>
            <a:r>
              <a:rPr lang="zh-CN" altLang="en-US" sz="2500" b="1" dirty="0">
                <a:ea typeface="楷体_GB2312" pitchFamily="49" charset="-122"/>
              </a:rPr>
              <a:t>时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滴定剂不能从显色配合物中夺取金属离子</a:t>
            </a:r>
            <a:r>
              <a:rPr lang="en-US" altLang="zh-CN" sz="2500" b="1" dirty="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64550" name="Rectangle 38"/>
          <p:cNvSpPr>
            <a:spLocks noChangeArrowheads="1"/>
          </p:cNvSpPr>
          <p:nvPr/>
        </p:nvSpPr>
        <p:spPr bwMode="auto">
          <a:xfrm>
            <a:off x="974725" y="1488292"/>
            <a:ext cx="190341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u="sng" dirty="0">
                <a:solidFill>
                  <a:srgbClr val="FF3300"/>
                </a:solidFill>
                <a:ea typeface="楷体_GB2312" pitchFamily="49" charset="-122"/>
              </a:rPr>
              <a:t>指示剂封闭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11269" name="Rectangle 40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  <a:noFill/>
        </p:spPr>
        <p:txBody>
          <a:bodyPr/>
          <a:lstStyle/>
          <a:p>
            <a:pPr eaLnBrk="1" hangingPunct="1"/>
            <a:r>
              <a:rPr lang="en-US" altLang="zh-CN" dirty="0" smtClean="0">
                <a:ea typeface="黑体" pitchFamily="49" charset="-122"/>
              </a:rPr>
              <a:t>6.3.3</a:t>
            </a:r>
            <a:r>
              <a:rPr lang="zh-CN" altLang="en-US" dirty="0" smtClean="0">
                <a:ea typeface="黑体" pitchFamily="49" charset="-122"/>
              </a:rPr>
              <a:t>金属指示剂</a:t>
            </a:r>
            <a:endParaRPr lang="zh-CN" altLang="en-US" sz="1200" b="0" dirty="0" smtClean="0">
              <a:solidFill>
                <a:srgbClr val="0000FF"/>
              </a:solidFill>
              <a:ea typeface="黑体" pitchFamily="49" charset="-122"/>
            </a:endParaRPr>
          </a:p>
        </p:txBody>
      </p:sp>
      <p:sp>
        <p:nvSpPr>
          <p:cNvPr id="64553" name="Rectangle 41"/>
          <p:cNvSpPr>
            <a:spLocks noChangeArrowheads="1"/>
          </p:cNvSpPr>
          <p:nvPr/>
        </p:nvSpPr>
        <p:spPr bwMode="auto">
          <a:xfrm>
            <a:off x="906463" y="2670175"/>
            <a:ext cx="1032827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　　如</a:t>
            </a:r>
            <a:r>
              <a:rPr lang="en-US" altLang="zh-CN" sz="2500" b="1" dirty="0">
                <a:ea typeface="楷体_GB2312" pitchFamily="49" charset="-122"/>
              </a:rPr>
              <a:t>EBT</a:t>
            </a:r>
            <a:r>
              <a:rPr lang="zh-CN" altLang="en-US" sz="2500" b="1" dirty="0">
                <a:ea typeface="楷体_GB2312" pitchFamily="49" charset="-122"/>
              </a:rPr>
              <a:t>能被 </a:t>
            </a:r>
            <a:r>
              <a:rPr lang="en-US" altLang="zh-CN" sz="2500" b="1" dirty="0">
                <a:ea typeface="楷体_GB2312" pitchFamily="49" charset="-122"/>
              </a:rPr>
              <a:t>Fe</a:t>
            </a:r>
            <a:r>
              <a:rPr lang="en-US" altLang="zh-CN" sz="2500" b="1" baseline="30000" dirty="0">
                <a:ea typeface="楷体_GB2312" pitchFamily="49" charset="-122"/>
              </a:rPr>
              <a:t>3+</a:t>
            </a:r>
            <a:r>
              <a:rPr lang="zh-CN" altLang="en-US" sz="2500" b="1" dirty="0">
                <a:ea typeface="楷体_GB2312" pitchFamily="49" charset="-122"/>
              </a:rPr>
              <a:t>、</a:t>
            </a:r>
            <a:r>
              <a:rPr lang="en-US" altLang="zh-CN" sz="2500" b="1" dirty="0">
                <a:ea typeface="楷体_GB2312" pitchFamily="49" charset="-122"/>
              </a:rPr>
              <a:t>Al</a:t>
            </a:r>
            <a:r>
              <a:rPr lang="en-US" altLang="zh-CN" sz="2500" b="1" baseline="30000" dirty="0">
                <a:ea typeface="楷体_GB2312" pitchFamily="49" charset="-122"/>
              </a:rPr>
              <a:t>3+</a:t>
            </a:r>
            <a:r>
              <a:rPr lang="zh-CN" altLang="en-US" sz="2500" b="1" dirty="0">
                <a:ea typeface="楷体_GB2312" pitchFamily="49" charset="-122"/>
              </a:rPr>
              <a:t>、</a:t>
            </a:r>
            <a:r>
              <a:rPr lang="en-US" altLang="zh-CN" sz="2500" b="1" dirty="0">
                <a:ea typeface="楷体_GB2312" pitchFamily="49" charset="-122"/>
              </a:rPr>
              <a:t>Cu</a:t>
            </a:r>
            <a:r>
              <a:rPr lang="en-US" altLang="zh-CN" sz="2500" b="1" baseline="30000" dirty="0">
                <a:ea typeface="楷体_GB2312" pitchFamily="49" charset="-122"/>
              </a:rPr>
              <a:t>2+</a:t>
            </a:r>
            <a:r>
              <a:rPr lang="zh-CN" altLang="en-US" sz="2500" b="1" dirty="0">
                <a:ea typeface="楷体_GB2312" pitchFamily="49" charset="-122"/>
              </a:rPr>
              <a:t>、</a:t>
            </a:r>
            <a:r>
              <a:rPr lang="en-US" altLang="zh-CN" sz="2500" b="1" dirty="0">
                <a:ea typeface="楷体_GB2312" pitchFamily="49" charset="-122"/>
              </a:rPr>
              <a:t>Ni</a:t>
            </a:r>
            <a:r>
              <a:rPr lang="en-US" altLang="zh-CN" sz="2500" b="1" baseline="30000" dirty="0">
                <a:ea typeface="楷体_GB2312" pitchFamily="49" charset="-122"/>
              </a:rPr>
              <a:t>2+</a:t>
            </a:r>
            <a:r>
              <a:rPr lang="zh-CN" altLang="en-US" sz="2500" b="1" dirty="0">
                <a:ea typeface="楷体_GB2312" pitchFamily="49" charset="-122"/>
              </a:rPr>
              <a:t>封闭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可加三乙醇胺掩蔽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64554" name="Rectangle 42"/>
          <p:cNvSpPr>
            <a:spLocks noChangeArrowheads="1"/>
          </p:cNvSpPr>
          <p:nvPr/>
        </p:nvSpPr>
        <p:spPr bwMode="auto">
          <a:xfrm>
            <a:off x="830541" y="3643194"/>
            <a:ext cx="4700152" cy="515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(3)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变色可逆性及选择性</a:t>
            </a:r>
            <a:r>
              <a:rPr lang="en-US" altLang="zh-CN" sz="2500" b="1" dirty="0">
                <a:ea typeface="楷体_GB2312" pitchFamily="49" charset="-122"/>
              </a:rPr>
              <a:t>, </a:t>
            </a:r>
            <a:r>
              <a:rPr lang="zh-CN" altLang="en-US" sz="2500" b="1" dirty="0">
                <a:ea typeface="楷体_GB2312" pitchFamily="49" charset="-122"/>
              </a:rPr>
              <a:t>溶解度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</p:txBody>
      </p:sp>
      <p:sp>
        <p:nvSpPr>
          <p:cNvPr id="64556" name="Rectangle 44"/>
          <p:cNvSpPr>
            <a:spLocks noChangeArrowheads="1"/>
          </p:cNvSpPr>
          <p:nvPr/>
        </p:nvSpPr>
        <p:spPr bwMode="auto">
          <a:xfrm>
            <a:off x="865188" y="4702277"/>
            <a:ext cx="1036955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</a:rPr>
              <a:t>　　</a:t>
            </a:r>
            <a:r>
              <a:rPr lang="en-US" altLang="zh-CN" sz="2500" b="1" dirty="0" err="1">
                <a:ea typeface="楷体_GB2312" pitchFamily="49" charset="-122"/>
              </a:rPr>
              <a:t>MIn</a:t>
            </a:r>
            <a:r>
              <a:rPr lang="zh-CN" altLang="en-US" sz="2500" b="1" dirty="0">
                <a:ea typeface="楷体_GB2312" pitchFamily="49" charset="-122"/>
              </a:rPr>
              <a:t>难溶于水或生成胶体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使之与</a:t>
            </a:r>
            <a:r>
              <a:rPr lang="en-US" altLang="zh-CN" sz="2500" b="1" dirty="0">
                <a:ea typeface="楷体_GB2312" pitchFamily="49" charset="-122"/>
              </a:rPr>
              <a:t>EDTA</a:t>
            </a:r>
            <a:r>
              <a:rPr lang="zh-CN" altLang="en-US" sz="2500" b="1" dirty="0">
                <a:ea typeface="楷体_GB2312" pitchFamily="49" charset="-122"/>
              </a:rPr>
              <a:t>置换作用缓慢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  <a:r>
              <a:rPr lang="zh-CN" altLang="en-US" sz="2500" b="1" dirty="0">
                <a:ea typeface="楷体_GB2312" pitchFamily="49" charset="-122"/>
              </a:rPr>
              <a:t>　　</a:t>
            </a:r>
          </a:p>
        </p:txBody>
      </p:sp>
      <p:sp>
        <p:nvSpPr>
          <p:cNvPr id="64557" name="Rectangle 45"/>
          <p:cNvSpPr>
            <a:spLocks noChangeArrowheads="1"/>
          </p:cNvSpPr>
          <p:nvPr/>
        </p:nvSpPr>
        <p:spPr bwMode="auto">
          <a:xfrm>
            <a:off x="1275197" y="4179709"/>
            <a:ext cx="4485841" cy="515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u="sng" dirty="0">
                <a:solidFill>
                  <a:srgbClr val="FF3300"/>
                </a:solidFill>
                <a:ea typeface="楷体_GB2312" pitchFamily="49" charset="-122"/>
              </a:rPr>
              <a:t>指示剂</a:t>
            </a:r>
            <a:r>
              <a:rPr lang="zh-CN" altLang="en-US" sz="2500" b="1" u="sng" dirty="0" smtClean="0">
                <a:solidFill>
                  <a:srgbClr val="FF3300"/>
                </a:solidFill>
                <a:ea typeface="楷体_GB2312" pitchFamily="49" charset="-122"/>
              </a:rPr>
              <a:t>僵化（</a:t>
            </a:r>
            <a:r>
              <a:rPr lang="en-US" altLang="zh-CN" sz="2500" b="1" u="sng" dirty="0" err="1" smtClean="0">
                <a:solidFill>
                  <a:srgbClr val="FF3300"/>
                </a:solidFill>
                <a:ea typeface="楷体_GB2312" pitchFamily="49" charset="-122"/>
              </a:rPr>
              <a:t>MIn</a:t>
            </a:r>
            <a:r>
              <a:rPr lang="zh-CN" altLang="en-US" sz="2500" b="1" u="sng" dirty="0" smtClean="0">
                <a:solidFill>
                  <a:srgbClr val="FF3300"/>
                </a:solidFill>
                <a:ea typeface="楷体_GB2312" pitchFamily="49" charset="-122"/>
              </a:rPr>
              <a:t>溶解性差）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:</a:t>
            </a:r>
            <a:r>
              <a:rPr lang="zh-CN" altLang="en-US" sz="2500" b="1" dirty="0">
                <a:ea typeface="楷体_GB2312" pitchFamily="49" charset="-122"/>
              </a:rPr>
              <a:t>　　</a:t>
            </a:r>
          </a:p>
        </p:txBody>
      </p:sp>
      <p:sp>
        <p:nvSpPr>
          <p:cNvPr id="16" name="Rectangle 38"/>
          <p:cNvSpPr>
            <a:spLocks noChangeArrowheads="1"/>
          </p:cNvSpPr>
          <p:nvPr/>
        </p:nvSpPr>
        <p:spPr bwMode="auto">
          <a:xfrm>
            <a:off x="831850" y="811213"/>
            <a:ext cx="10328275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(2)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稳定性</a:t>
            </a:r>
            <a:r>
              <a:rPr lang="zh-CN" altLang="en-US" sz="2500" b="1" dirty="0" smtClean="0">
                <a:ea typeface="楷体_GB2312" pitchFamily="49" charset="-122"/>
              </a:rPr>
              <a:t>；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18" name="Rectangle 8"/>
          <p:cNvSpPr>
            <a:spLocks noChangeArrowheads="1"/>
          </p:cNvSpPr>
          <p:nvPr/>
        </p:nvSpPr>
        <p:spPr bwMode="auto">
          <a:xfrm>
            <a:off x="1007996" y="5190331"/>
            <a:ext cx="9609138" cy="515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dirty="0">
                <a:ea typeface="楷体_GB2312" pitchFamily="49" charset="-122"/>
              </a:rPr>
              <a:t>　　</a:t>
            </a:r>
            <a:r>
              <a:rPr lang="zh-CN" altLang="en-US" sz="2500" b="1" dirty="0">
                <a:ea typeface="楷体_GB2312" pitchFamily="49" charset="-122"/>
              </a:rPr>
              <a:t>如</a:t>
            </a:r>
            <a:r>
              <a:rPr lang="en-US" altLang="zh-CN" sz="2500" b="1" dirty="0">
                <a:ea typeface="楷体_GB2312" pitchFamily="49" charset="-122"/>
              </a:rPr>
              <a:t>PAN</a:t>
            </a:r>
            <a:r>
              <a:rPr lang="zh-CN" altLang="en-US" sz="2500" b="1" dirty="0">
                <a:ea typeface="楷体_GB2312" pitchFamily="49" charset="-122"/>
              </a:rPr>
              <a:t>温度较低时易发生僵化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  <a:r>
              <a:rPr lang="zh-CN" altLang="en-US" sz="2500" b="1" dirty="0">
                <a:ea typeface="楷体_GB2312" pitchFamily="49" charset="-122"/>
              </a:rPr>
              <a:t>可加有机溶剂、加热的方法避免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  <a:endParaRPr lang="en-US" altLang="zh-CN" dirty="0">
              <a:ea typeface="楷体_GB2312" pitchFamily="49" charset="-122"/>
            </a:endParaRPr>
          </a:p>
        </p:txBody>
      </p:sp>
      <p:sp>
        <p:nvSpPr>
          <p:cNvPr id="11277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8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Rectangle 20"/>
          <p:cNvSpPr>
            <a:spLocks noChangeArrowheads="1"/>
          </p:cNvSpPr>
          <p:nvPr/>
        </p:nvSpPr>
        <p:spPr bwMode="auto">
          <a:xfrm>
            <a:off x="3024733" y="1439887"/>
            <a:ext cx="1447832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 smtClean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dirty="0" smtClean="0">
                <a:ea typeface="楷体_GB2312" pitchFamily="49" charset="-122"/>
                <a:sym typeface="Webdings" pitchFamily="18" charset="2"/>
              </a:rPr>
              <a:t>’</a:t>
            </a:r>
            <a:r>
              <a:rPr lang="en-US" altLang="zh-CN" sz="2500" b="1" baseline="-25000" dirty="0" err="1" smtClean="0">
                <a:ea typeface="楷体_GB2312" pitchFamily="49" charset="-122"/>
                <a:sym typeface="Webdings" pitchFamily="18" charset="2"/>
              </a:rPr>
              <a:t>MIn</a:t>
            </a:r>
            <a:r>
              <a:rPr lang="en-US" altLang="zh-CN" sz="2500" b="1" dirty="0" smtClean="0">
                <a:ea typeface="楷体_GB2312" pitchFamily="49" charset="-122"/>
                <a:sym typeface="Webdings" pitchFamily="18" charset="2"/>
              </a:rPr>
              <a:t> 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＞</a:t>
            </a:r>
            <a:endParaRPr lang="en-US" altLang="zh-CN" sz="2500" b="1" dirty="0">
              <a:ea typeface="楷体_GB2312" pitchFamily="49" charset="-122"/>
              <a:sym typeface="Webdings" pitchFamily="18" charset="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564374" y="1442217"/>
            <a:ext cx="10390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ea typeface="楷体_GB2312" pitchFamily="49" charset="-122"/>
              </a:rPr>
              <a:t>K</a:t>
            </a:r>
            <a:r>
              <a:rPr lang="en-US" altLang="zh-CN" sz="24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400" b="1" dirty="0" smtClean="0">
                <a:ea typeface="楷体_GB2312" pitchFamily="49" charset="-122"/>
                <a:sym typeface="Webdings" pitchFamily="18" charset="2"/>
              </a:rPr>
              <a:t>’</a:t>
            </a:r>
            <a:r>
              <a:rPr lang="en-US" altLang="zh-CN" sz="2400" b="1" baseline="-25000" dirty="0" smtClean="0">
                <a:ea typeface="楷体_GB2312" pitchFamily="49" charset="-122"/>
                <a:sym typeface="Webdings" pitchFamily="18" charset="2"/>
              </a:rPr>
              <a:t>MY</a:t>
            </a:r>
            <a:endParaRPr lang="zh-CN" altLang="en-US" sz="2400" dirty="0"/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4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4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4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4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4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49" grpId="0" autoUpdateAnimBg="0"/>
      <p:bldP spid="64550" grpId="0" autoUpdateAnimBg="0"/>
      <p:bldP spid="64553" grpId="0" autoUpdateAnimBg="0"/>
      <p:bldP spid="64554" grpId="0" build="p" autoUpdateAnimBg="0"/>
      <p:bldP spid="64556" grpId="0" build="p" autoUpdateAnimBg="0"/>
      <p:bldP spid="64557" grpId="0" build="p" autoUpdateAnimBg="0"/>
      <p:bldP spid="16" grpId="0" build="p" autoUpdateAnimBg="0"/>
      <p:bldP spid="18" grpId="0" build="p" autoUpdateAnimBg="0"/>
      <p:bldP spid="15" grpId="0" autoUpdateAnimBg="0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92" name="Text Box 8"/>
          <p:cNvSpPr txBox="1">
            <a:spLocks noChangeArrowheads="1"/>
          </p:cNvSpPr>
          <p:nvPr/>
        </p:nvSpPr>
        <p:spPr bwMode="auto">
          <a:xfrm>
            <a:off x="1124755" y="1962235"/>
            <a:ext cx="7689745" cy="3478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 anchor="b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 smtClean="0"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z="2500" b="1" dirty="0" smtClean="0">
                <a:solidFill>
                  <a:srgbClr val="0000FF"/>
                </a:solidFill>
                <a:ea typeface="楷体_GB2312" pitchFamily="49" charset="-122"/>
              </a:rPr>
              <a:t>分步滴定同时满足</a:t>
            </a:r>
            <a:endParaRPr lang="en-US" altLang="zh-CN" sz="2500" b="1" dirty="0" smtClean="0">
              <a:ea typeface="楷体_GB2312" pitchFamily="49" charset="-122"/>
              <a:sym typeface="Monotype Sorts" pitchFamily="2" charset="2"/>
            </a:endParaRPr>
          </a:p>
          <a:p>
            <a:pPr>
              <a:lnSpc>
                <a:spcPct val="110000"/>
              </a:lnSpc>
            </a:pPr>
            <a:r>
              <a:rPr lang="en-US" altLang="zh-CN" sz="2500" b="1" dirty="0" err="1" smtClean="0">
                <a:solidFill>
                  <a:srgbClr val="0000FF"/>
                </a:solidFill>
                <a:ea typeface="楷体_GB2312" pitchFamily="49" charset="-122"/>
              </a:rPr>
              <a:t>lg</a:t>
            </a:r>
            <a:r>
              <a:rPr lang="en-US" altLang="zh-CN" sz="2500" b="1" i="1" dirty="0" err="1" smtClean="0">
                <a:solidFill>
                  <a:srgbClr val="0000FF"/>
                </a:solidFill>
                <a:ea typeface="楷体_GB2312" pitchFamily="49" charset="-122"/>
              </a:rPr>
              <a:t>c</a:t>
            </a:r>
            <a:r>
              <a:rPr lang="en-US" altLang="zh-CN" sz="2500" b="1" baseline="-25000" dirty="0" err="1" smtClean="0">
                <a:solidFill>
                  <a:srgbClr val="0000FF"/>
                </a:solidFill>
                <a:ea typeface="楷体_GB2312" pitchFamily="49" charset="-122"/>
              </a:rPr>
              <a:t>M</a:t>
            </a:r>
            <a:r>
              <a:rPr lang="en-US" altLang="zh-CN" sz="2500" b="1" i="1" dirty="0" err="1" smtClean="0">
                <a:solidFill>
                  <a:srgbClr val="0000FF"/>
                </a:solidFill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solidFill>
                  <a:srgbClr val="0000FF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100000" dirty="0">
                <a:solidFill>
                  <a:srgbClr val="0000FF"/>
                </a:solidFill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  <a:sym typeface="Webdings" pitchFamily="18" charset="2"/>
              </a:rPr>
              <a:t>’</a:t>
            </a:r>
            <a:r>
              <a:rPr lang="en-US" altLang="zh-CN" sz="2500" b="1" baseline="-25000" dirty="0">
                <a:solidFill>
                  <a:srgbClr val="0000FF"/>
                </a:solidFill>
                <a:ea typeface="楷体_GB2312" pitchFamily="49" charset="-122"/>
                <a:sym typeface="Webdings" pitchFamily="18" charset="2"/>
              </a:rPr>
              <a:t>MY</a:t>
            </a:r>
            <a:r>
              <a:rPr lang="en-US" altLang="zh-CN" sz="2500" b="1" dirty="0">
                <a:solidFill>
                  <a:srgbClr val="0000FF"/>
                </a:solidFill>
                <a:ea typeface="仿宋_GB2312"/>
                <a:cs typeface="仿宋_GB2312"/>
                <a:sym typeface="Webdings" pitchFamily="18" charset="2"/>
              </a:rPr>
              <a:t>≥6</a:t>
            </a:r>
            <a:r>
              <a:rPr lang="en-US" altLang="zh-CN" sz="2500" b="1" dirty="0" smtClean="0">
                <a:solidFill>
                  <a:srgbClr val="0000FF"/>
                </a:solidFill>
                <a:ea typeface="仿宋_GB2312"/>
                <a:cs typeface="仿宋_GB2312"/>
                <a:sym typeface="Webdings" pitchFamily="18" charset="2"/>
              </a:rPr>
              <a:t>; </a:t>
            </a:r>
          </a:p>
          <a:p>
            <a:pPr>
              <a:lnSpc>
                <a:spcPct val="110000"/>
              </a:lnSpc>
            </a:pPr>
            <a:r>
              <a:rPr lang="zh-CN" altLang="en-US" sz="2500" b="1" dirty="0" smtClean="0">
                <a:solidFill>
                  <a:srgbClr val="0000FF"/>
                </a:solidFill>
                <a:ea typeface="楷体_GB2312" pitchFamily="49" charset="-122"/>
              </a:rPr>
              <a:t> </a:t>
            </a:r>
            <a:r>
              <a:rPr lang="en-US" altLang="zh-CN" sz="2500" b="1" dirty="0" err="1">
                <a:solidFill>
                  <a:srgbClr val="0000FF"/>
                </a:solidFill>
                <a:ea typeface="楷体_GB2312" pitchFamily="49" charset="-122"/>
              </a:rPr>
              <a:t>lg</a:t>
            </a:r>
            <a:r>
              <a:rPr lang="en-US" altLang="zh-CN" sz="2500" b="1" i="1" dirty="0" err="1">
                <a:solidFill>
                  <a:srgbClr val="0000FF"/>
                </a:solidFill>
                <a:ea typeface="楷体_GB2312" pitchFamily="49" charset="-122"/>
              </a:rPr>
              <a:t>c</a:t>
            </a:r>
            <a:r>
              <a:rPr lang="en-US" altLang="zh-CN" sz="2500" b="1" baseline="-25000" dirty="0" err="1">
                <a:solidFill>
                  <a:srgbClr val="0000FF"/>
                </a:solidFill>
                <a:ea typeface="楷体_GB2312" pitchFamily="49" charset="-122"/>
              </a:rPr>
              <a:t>N</a:t>
            </a:r>
            <a:r>
              <a:rPr lang="en-US" altLang="zh-CN" sz="2500" b="1" i="1" dirty="0" err="1">
                <a:solidFill>
                  <a:srgbClr val="0000FF"/>
                </a:solidFill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solidFill>
                  <a:srgbClr val="0000FF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100000" dirty="0">
                <a:solidFill>
                  <a:srgbClr val="0000FF"/>
                </a:solidFill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baseline="-25000" dirty="0">
                <a:solidFill>
                  <a:srgbClr val="0000FF"/>
                </a:solidFill>
                <a:ea typeface="楷体_GB2312" pitchFamily="49" charset="-122"/>
                <a:sym typeface="Webdings" pitchFamily="18" charset="2"/>
              </a:rPr>
              <a:t>NY</a:t>
            </a:r>
            <a:r>
              <a:rPr lang="en-US" altLang="zh-CN" sz="2500" b="1" dirty="0">
                <a:solidFill>
                  <a:srgbClr val="0000FF"/>
                </a:solidFill>
                <a:ea typeface="仿宋_GB2312"/>
                <a:cs typeface="仿宋_GB2312"/>
                <a:sym typeface="Webdings" pitchFamily="18" charset="2"/>
              </a:rPr>
              <a:t>≥</a:t>
            </a:r>
            <a:r>
              <a:rPr lang="en-US" altLang="zh-CN" sz="2500" b="1" dirty="0" smtClean="0">
                <a:solidFill>
                  <a:srgbClr val="0000FF"/>
                </a:solidFill>
                <a:ea typeface="仿宋_GB2312"/>
                <a:cs typeface="仿宋_GB2312"/>
                <a:sym typeface="Webdings" pitchFamily="18" charset="2"/>
              </a:rPr>
              <a:t>6</a:t>
            </a:r>
            <a:endParaRPr lang="en-US" altLang="zh-CN" sz="2500" b="1" dirty="0">
              <a:ea typeface="仿宋_GB2312"/>
              <a:cs typeface="仿宋_GB2312"/>
              <a:sym typeface="Webdings" pitchFamily="18" charset="2"/>
            </a:endParaRPr>
          </a:p>
          <a:p>
            <a:pPr>
              <a:lnSpc>
                <a:spcPct val="110000"/>
              </a:lnSpc>
            </a:pPr>
            <a:endParaRPr lang="en-US" altLang="zh-CN" sz="2500" b="1" dirty="0">
              <a:ea typeface="仿宋_GB2312"/>
              <a:cs typeface="仿宋_GB2312"/>
              <a:sym typeface="Monotype Sorts" pitchFamily="2" charset="2"/>
            </a:endParaRP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ea typeface="仿宋_GB2312"/>
                <a:cs typeface="仿宋_GB2312"/>
                <a:sym typeface="Monotype Sorts" pitchFamily="2" charset="2"/>
              </a:rPr>
              <a:t>②</a:t>
            </a:r>
            <a:r>
              <a:rPr lang="zh-CN" altLang="en-US" sz="2500" b="1" dirty="0">
                <a:ea typeface="楷体_GB2312" pitchFamily="49" charset="-122"/>
              </a:rPr>
              <a:t>当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MY 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楷体_GB2312" pitchFamily="49" charset="-122"/>
              </a:rPr>
              <a:t>&gt; 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NY 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且</a:t>
            </a:r>
            <a:r>
              <a:rPr lang="en-US" altLang="zh-CN" sz="2500" b="1" i="1" dirty="0">
                <a:ea typeface="楷体_GB2312" pitchFamily="49" charset="-122"/>
              </a:rPr>
              <a:t>α</a:t>
            </a:r>
            <a:r>
              <a:rPr lang="en-US" altLang="zh-CN" sz="2500" b="1" baseline="-25000" dirty="0">
                <a:ea typeface="楷体_GB2312" pitchFamily="49" charset="-122"/>
              </a:rPr>
              <a:t>Y(N) </a:t>
            </a:r>
            <a:r>
              <a:rPr lang="en-US" altLang="zh-CN" sz="2500" b="1" dirty="0">
                <a:ea typeface="楷体_GB2312" pitchFamily="49" charset="-122"/>
              </a:rPr>
              <a:t>» </a:t>
            </a:r>
            <a:r>
              <a:rPr lang="en-US" altLang="zh-CN" sz="2500" b="1" i="1" dirty="0">
                <a:ea typeface="楷体_GB2312" pitchFamily="49" charset="-122"/>
              </a:rPr>
              <a:t>α</a:t>
            </a:r>
            <a:r>
              <a:rPr lang="en-US" altLang="zh-CN" sz="2500" b="1" baseline="-25000" dirty="0">
                <a:ea typeface="楷体_GB2312" pitchFamily="49" charset="-122"/>
              </a:rPr>
              <a:t>Y(H)</a:t>
            </a:r>
            <a:r>
              <a:rPr lang="zh-CN" altLang="en-US" sz="2500" b="1" dirty="0" smtClean="0">
                <a:ea typeface="楷体_GB2312" pitchFamily="49" charset="-122"/>
              </a:rPr>
              <a:t>时  </a:t>
            </a:r>
            <a:endParaRPr lang="en-US" altLang="zh-CN" sz="2500" b="1" dirty="0" smtClean="0"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500" b="1" dirty="0" smtClean="0">
                <a:solidFill>
                  <a:srgbClr val="0000FF"/>
                </a:solidFill>
                <a:ea typeface="楷体_GB2312" pitchFamily="49" charset="-122"/>
              </a:rPr>
              <a:t>   </a:t>
            </a:r>
            <a:r>
              <a:rPr lang="en-US" altLang="zh-CN" sz="2500" b="1" dirty="0" err="1">
                <a:solidFill>
                  <a:srgbClr val="0000FF"/>
                </a:solidFill>
                <a:ea typeface="楷体_GB2312" pitchFamily="49" charset="-122"/>
              </a:rPr>
              <a:t>lg</a:t>
            </a:r>
            <a:r>
              <a:rPr lang="en-US" altLang="zh-CN" sz="2500" b="1" i="1" dirty="0" err="1">
                <a:solidFill>
                  <a:srgbClr val="0000FF"/>
                </a:solidFill>
                <a:ea typeface="楷体_GB2312" pitchFamily="49" charset="-122"/>
              </a:rPr>
              <a:t>c</a:t>
            </a:r>
            <a:r>
              <a:rPr lang="en-US" altLang="zh-CN" sz="2500" b="1" baseline="-25000" dirty="0" err="1">
                <a:solidFill>
                  <a:srgbClr val="0000FF"/>
                </a:solidFill>
                <a:ea typeface="楷体_GB2312" pitchFamily="49" charset="-122"/>
              </a:rPr>
              <a:t>M</a:t>
            </a:r>
            <a:r>
              <a:rPr lang="en-US" altLang="zh-CN" sz="2500" b="1" i="1" dirty="0" err="1">
                <a:solidFill>
                  <a:srgbClr val="0000FF"/>
                </a:solidFill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solidFill>
                  <a:srgbClr val="0000FF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100000" dirty="0">
                <a:solidFill>
                  <a:srgbClr val="0000FF"/>
                </a:solidFill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  <a:sym typeface="Webdings" pitchFamily="18" charset="2"/>
              </a:rPr>
              <a:t>’</a:t>
            </a:r>
            <a:r>
              <a:rPr lang="en-US" altLang="zh-CN" sz="2500" b="1" baseline="-25000" dirty="0">
                <a:solidFill>
                  <a:srgbClr val="0000FF"/>
                </a:solidFill>
                <a:ea typeface="楷体_GB2312" pitchFamily="49" charset="-122"/>
                <a:sym typeface="Webdings" pitchFamily="18" charset="2"/>
              </a:rPr>
              <a:t>MY 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  <a:sym typeface="Webdings" pitchFamily="18" charset="2"/>
              </a:rPr>
              <a:t>- </a:t>
            </a:r>
            <a:r>
              <a:rPr lang="en-US" altLang="zh-CN" sz="2500" b="1" dirty="0" err="1">
                <a:solidFill>
                  <a:srgbClr val="0000FF"/>
                </a:solidFill>
                <a:ea typeface="楷体_GB2312" pitchFamily="49" charset="-122"/>
              </a:rPr>
              <a:t>lg</a:t>
            </a:r>
            <a:r>
              <a:rPr lang="en-US" altLang="zh-CN" sz="2500" b="1" i="1" dirty="0" err="1">
                <a:solidFill>
                  <a:srgbClr val="0000FF"/>
                </a:solidFill>
                <a:ea typeface="楷体_GB2312" pitchFamily="49" charset="-122"/>
              </a:rPr>
              <a:t>c</a:t>
            </a:r>
            <a:r>
              <a:rPr lang="en-US" altLang="zh-CN" sz="2500" b="1" baseline="-25000" dirty="0" err="1">
                <a:solidFill>
                  <a:srgbClr val="0000FF"/>
                </a:solidFill>
                <a:ea typeface="楷体_GB2312" pitchFamily="49" charset="-122"/>
              </a:rPr>
              <a:t>N</a:t>
            </a:r>
            <a:r>
              <a:rPr lang="en-US" altLang="zh-CN" sz="2500" b="1" i="1" dirty="0" err="1">
                <a:solidFill>
                  <a:srgbClr val="0000FF"/>
                </a:solidFill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solidFill>
                  <a:srgbClr val="0000FF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100000" dirty="0">
                <a:solidFill>
                  <a:srgbClr val="0000FF"/>
                </a:solidFill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  <a:sym typeface="Webdings" pitchFamily="18" charset="2"/>
              </a:rPr>
              <a:t>’</a:t>
            </a:r>
            <a:r>
              <a:rPr lang="en-US" altLang="zh-CN" sz="2500" b="1" baseline="-25000" dirty="0">
                <a:solidFill>
                  <a:srgbClr val="0000FF"/>
                </a:solidFill>
                <a:ea typeface="楷体_GB2312" pitchFamily="49" charset="-122"/>
                <a:sym typeface="Webdings" pitchFamily="18" charset="2"/>
              </a:rPr>
              <a:t>NY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≥</a:t>
            </a:r>
            <a:r>
              <a:rPr lang="en-US" altLang="zh-CN" sz="2500" b="1" dirty="0" smtClean="0">
                <a:solidFill>
                  <a:srgbClr val="0000FF"/>
                </a:solidFill>
                <a:ea typeface="楷体_GB2312" pitchFamily="49" charset="-122"/>
              </a:rPr>
              <a:t>5</a:t>
            </a:r>
            <a:endParaRPr lang="en-US" altLang="zh-CN" sz="2500" b="1" dirty="0">
              <a:solidFill>
                <a:srgbClr val="0000FF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endParaRPr lang="en-US" altLang="zh-CN" sz="2500" b="1" dirty="0">
              <a:ea typeface="楷体_GB2312" pitchFamily="49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</a:rPr>
              <a:t>      </a:t>
            </a:r>
            <a:r>
              <a:rPr lang="zh-CN" altLang="en-US" sz="2500" b="1" dirty="0" smtClean="0">
                <a:ea typeface="楷体_GB2312" pitchFamily="49" charset="-122"/>
              </a:rPr>
              <a:t>若</a:t>
            </a:r>
            <a:r>
              <a:rPr lang="en-US" altLang="zh-CN" sz="2500" b="1" i="1" dirty="0" err="1">
                <a:ea typeface="楷体_GB2312" pitchFamily="49" charset="-122"/>
              </a:rPr>
              <a:t>c</a:t>
            </a:r>
            <a:r>
              <a:rPr lang="en-US" altLang="zh-CN" sz="2500" b="1" baseline="-25000" dirty="0" err="1">
                <a:ea typeface="楷体_GB2312" pitchFamily="49" charset="-122"/>
              </a:rPr>
              <a:t>M</a:t>
            </a:r>
            <a:r>
              <a:rPr lang="en-US" altLang="zh-CN" sz="2500" b="1" baseline="-25000" dirty="0">
                <a:ea typeface="楷体_GB2312" pitchFamily="49" charset="-122"/>
              </a:rPr>
              <a:t> </a:t>
            </a:r>
            <a:r>
              <a:rPr lang="en-US" altLang="zh-CN" sz="2500" b="1" dirty="0">
                <a:ea typeface="楷体_GB2312" pitchFamily="49" charset="-122"/>
              </a:rPr>
              <a:t>= </a:t>
            </a:r>
            <a:r>
              <a:rPr lang="en-US" altLang="zh-CN" sz="2500" b="1" i="1" dirty="0" err="1">
                <a:ea typeface="楷体_GB2312" pitchFamily="49" charset="-122"/>
              </a:rPr>
              <a:t>c</a:t>
            </a:r>
            <a:r>
              <a:rPr lang="en-US" altLang="zh-CN" sz="2500" b="1" baseline="-25000" dirty="0" err="1">
                <a:ea typeface="楷体_GB2312" pitchFamily="49" charset="-122"/>
              </a:rPr>
              <a:t>N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要求</a:t>
            </a:r>
            <a:r>
              <a:rPr lang="en-US" altLang="zh-CN" sz="2500" b="1" dirty="0" err="1">
                <a:ea typeface="楷体_GB2312" pitchFamily="49" charset="-122"/>
              </a:rPr>
              <a:t>Δlg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100000" dirty="0">
                <a:ea typeface="楷体_GB2312" pitchFamily="49" charset="-122"/>
                <a:sym typeface="Webdings" pitchFamily="18" charset="2"/>
              </a:rPr>
              <a:t> </a:t>
            </a:r>
            <a:r>
              <a:rPr lang="zh-CN" altLang="en-US" sz="2500" b="1" baseline="-25000" dirty="0">
                <a:ea typeface="楷体_GB2312" pitchFamily="49" charset="-122"/>
                <a:sym typeface="Webdings" pitchFamily="18" charset="2"/>
              </a:rPr>
              <a:t>稳</a:t>
            </a:r>
            <a:r>
              <a:rPr lang="zh-CN" altLang="en-US" sz="2500" b="1" dirty="0">
                <a:ea typeface="楷体_GB2312" pitchFamily="49" charset="-122"/>
              </a:rPr>
              <a:t>≥</a:t>
            </a:r>
            <a:r>
              <a:rPr lang="en-US" altLang="zh-CN" sz="2500" b="1" dirty="0">
                <a:ea typeface="楷体_GB2312" pitchFamily="49" charset="-122"/>
              </a:rPr>
              <a:t>5. (</a:t>
            </a:r>
            <a:r>
              <a:rPr lang="zh-CN" altLang="en-US" sz="2500" b="1" dirty="0">
                <a:ea typeface="楷体_GB2312" pitchFamily="49" charset="-122"/>
              </a:rPr>
              <a:t>允许误差</a:t>
            </a:r>
            <a:r>
              <a:rPr lang="en-US" altLang="zh-CN" sz="2500" b="1" dirty="0">
                <a:ea typeface="楷体_GB2312" pitchFamily="49" charset="-122"/>
              </a:rPr>
              <a:t>&lt; 0.5</a:t>
            </a:r>
            <a:r>
              <a:rPr lang="en-US" altLang="zh-CN" sz="2500" b="1" dirty="0" smtClean="0">
                <a:ea typeface="楷体_GB2312" pitchFamily="49" charset="-122"/>
              </a:rPr>
              <a:t>%)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67600" name="Rectangle 16"/>
          <p:cNvSpPr>
            <a:spLocks noChangeArrowheads="1"/>
          </p:cNvSpPr>
          <p:nvPr/>
        </p:nvSpPr>
        <p:spPr bwMode="auto">
          <a:xfrm>
            <a:off x="831850" y="882650"/>
            <a:ext cx="6009979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1.</a:t>
            </a:r>
            <a:r>
              <a:rPr lang="zh-CN" altLang="en-US" sz="2500" b="1" u="sng" dirty="0" smtClean="0">
                <a:solidFill>
                  <a:srgbClr val="FF3300"/>
                </a:solidFill>
                <a:ea typeface="楷体_GB2312" pitchFamily="49" charset="-122"/>
              </a:rPr>
              <a:t>提高滴定选择性（多种金属离子共存）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12292" name="Rectangle 28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77837"/>
          </a:xfrm>
          <a:noFill/>
        </p:spPr>
        <p:txBody>
          <a:bodyPr/>
          <a:lstStyle/>
          <a:p>
            <a:r>
              <a:rPr lang="en-US" altLang="zh-CN" sz="2500" smtClean="0">
                <a:ea typeface="黑体" pitchFamily="49" charset="-122"/>
              </a:rPr>
              <a:t>6.3.3</a:t>
            </a:r>
            <a:r>
              <a:rPr lang="zh-CN" altLang="en-US" sz="2500" smtClean="0">
                <a:ea typeface="黑体" pitchFamily="49" charset="-122"/>
              </a:rPr>
              <a:t>提高高混合体系配位滴定选择性的方法</a:t>
            </a:r>
          </a:p>
        </p:txBody>
      </p:sp>
      <p:sp>
        <p:nvSpPr>
          <p:cNvPr id="12293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94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170053" y="2652769"/>
            <a:ext cx="3430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ea typeface="楷体_GB2312"/>
              </a:rPr>
              <a:t>满足准确滴定的条件</a:t>
            </a:r>
            <a:endParaRPr lang="zh-CN" altLang="en-US" sz="2800" b="1" dirty="0">
              <a:solidFill>
                <a:srgbClr val="FF0000"/>
              </a:solidFill>
              <a:ea typeface="楷体_GB231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885426" y="4140014"/>
            <a:ext cx="3430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ea typeface="楷体_GB2312"/>
              </a:rPr>
              <a:t>满足分步滴定的条件</a:t>
            </a:r>
            <a:endParaRPr lang="zh-CN" altLang="en-US" sz="2800" b="1" dirty="0">
              <a:solidFill>
                <a:srgbClr val="FF0000"/>
              </a:solidFill>
              <a:ea typeface="楷体_GB231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53829" y="1494586"/>
            <a:ext cx="4032448" cy="49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b="1" dirty="0">
                <a:ea typeface="楷体_GB2312"/>
                <a:cs typeface="仿宋_GB2312"/>
                <a:sym typeface="Webdings" pitchFamily="18" charset="2"/>
              </a:rPr>
              <a:t>以</a:t>
            </a:r>
            <a:r>
              <a:rPr lang="en-US" altLang="zh-CN" sz="2400" b="1" dirty="0">
                <a:ea typeface="楷体_GB2312"/>
                <a:cs typeface="仿宋_GB2312"/>
                <a:sym typeface="Webdings" pitchFamily="18" charset="2"/>
              </a:rPr>
              <a:t>M N</a:t>
            </a:r>
            <a:r>
              <a:rPr lang="zh-CN" altLang="en-US" sz="2400" b="1" dirty="0">
                <a:ea typeface="楷体_GB2312"/>
                <a:cs typeface="仿宋_GB2312"/>
                <a:sym typeface="Webdings" pitchFamily="18" charset="2"/>
              </a:rPr>
              <a:t>两种金属离子为例</a:t>
            </a:r>
            <a:endParaRPr lang="en-US" altLang="zh-CN" sz="2400" b="1" dirty="0">
              <a:ea typeface="楷体_GB2312"/>
              <a:cs typeface="仿宋_GB2312"/>
              <a:sym typeface="Webdings" pitchFamily="18" charset="2"/>
            </a:endParaRPr>
          </a:p>
        </p:txBody>
      </p:sp>
    </p:spTree>
  </p:cSld>
  <p:clrMapOvr>
    <a:masterClrMapping/>
  </p:clrMapOvr>
  <p:transition spd="slow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67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67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t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675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t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675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t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675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t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75"/>
                                        <p:tgtEl>
                                          <p:spTgt spid="675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t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75"/>
                                        <p:tgtEl>
                                          <p:spTgt spid="675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start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92" grpId="0" uiExpand="1" build="p" autoUpdateAnimBg="0"/>
      <p:bldP spid="67600" grpId="0" autoUpdateAnimBg="0"/>
      <p:bldP spid="2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26" name="Rectangle 14"/>
          <p:cNvSpPr>
            <a:spLocks noChangeArrowheads="1"/>
          </p:cNvSpPr>
          <p:nvPr/>
        </p:nvSpPr>
        <p:spPr bwMode="auto">
          <a:xfrm>
            <a:off x="892213" y="1811327"/>
            <a:ext cx="1023143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>
                <a:ea typeface="楷体_GB2312" pitchFamily="49" charset="-122"/>
              </a:rPr>
              <a:t>适用范围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</p:txBody>
      </p:sp>
      <p:sp>
        <p:nvSpPr>
          <p:cNvPr id="90127" name="Rectangle 15"/>
          <p:cNvSpPr>
            <a:spLocks noChangeArrowheads="1"/>
          </p:cNvSpPr>
          <p:nvPr/>
        </p:nvSpPr>
        <p:spPr bwMode="auto">
          <a:xfrm>
            <a:off x="892213" y="2252652"/>
            <a:ext cx="10369550" cy="163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>
                <a:ea typeface="楷体_GB2312" pitchFamily="49" charset="-122"/>
              </a:rPr>
              <a:t>　　如</a:t>
            </a:r>
            <a:r>
              <a:rPr lang="en-US" altLang="zh-CN" sz="2500" b="1">
                <a:ea typeface="楷体_GB2312" pitchFamily="49" charset="-122"/>
              </a:rPr>
              <a:t>Pb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zh-CN" altLang="en-US" sz="2500" b="1">
                <a:ea typeface="楷体_GB2312" pitchFamily="49" charset="-122"/>
              </a:rPr>
              <a:t>和</a:t>
            </a:r>
            <a:r>
              <a:rPr lang="en-US" altLang="zh-CN" sz="2500" b="1">
                <a:ea typeface="楷体_GB2312" pitchFamily="49" charset="-122"/>
              </a:rPr>
              <a:t>Bi</a:t>
            </a:r>
            <a:r>
              <a:rPr lang="en-US" altLang="zh-CN" sz="2500" b="1" baseline="30000">
                <a:ea typeface="楷体_GB2312" pitchFamily="49" charset="-122"/>
              </a:rPr>
              <a:t>3+</a:t>
            </a:r>
            <a:r>
              <a:rPr lang="zh-CN" altLang="en-US" sz="2500" b="1">
                <a:ea typeface="楷体_GB2312" pitchFamily="49" charset="-122"/>
              </a:rPr>
              <a:t>混合液</a:t>
            </a:r>
            <a:r>
              <a:rPr lang="en-US" altLang="zh-CN" sz="2500" b="1">
                <a:ea typeface="楷体_GB2312" pitchFamily="49" charset="-122"/>
              </a:rPr>
              <a:t>(</a:t>
            </a:r>
            <a:r>
              <a:rPr lang="zh-CN" altLang="en-US" sz="2500" b="1">
                <a:ea typeface="楷体_GB2312" pitchFamily="49" charset="-122"/>
              </a:rPr>
              <a:t>若浓度均</a:t>
            </a:r>
            <a:r>
              <a:rPr lang="en-US" altLang="zh-CN" sz="2500" b="1">
                <a:ea typeface="楷体_GB2312" pitchFamily="49" charset="-122"/>
              </a:rPr>
              <a:t>0.01mol·L</a:t>
            </a:r>
            <a:r>
              <a:rPr lang="en-US" altLang="zh-CN" sz="2500" b="1" baseline="30000">
                <a:ea typeface="楷体_GB2312" pitchFamily="49" charset="-122"/>
              </a:rPr>
              <a:t>-1</a:t>
            </a:r>
            <a:r>
              <a:rPr lang="en-US" altLang="zh-CN" sz="2500" b="1">
                <a:ea typeface="楷体_GB2312" pitchFamily="49" charset="-122"/>
              </a:rPr>
              <a:t>):</a:t>
            </a:r>
          </a:p>
          <a:p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查得</a:t>
            </a:r>
            <a:r>
              <a:rPr lang="en-US" altLang="zh-CN" sz="2500" b="1">
                <a:ea typeface="楷体_GB2312" pitchFamily="49" charset="-122"/>
              </a:rPr>
              <a:t>:lg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PbY 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= 18.3;    </a:t>
            </a:r>
            <a:r>
              <a:rPr lang="en-US" altLang="zh-CN" sz="2500" b="1">
                <a:ea typeface="楷体_GB2312" pitchFamily="49" charset="-122"/>
              </a:rPr>
              <a:t>lg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BiY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= 27.8.</a:t>
            </a:r>
          </a:p>
          <a:p>
            <a:r>
              <a:rPr lang="en-US" altLang="zh-CN" sz="2500" b="1">
                <a:ea typeface="楷体_GB2312" pitchFamily="49" charset="-122"/>
              </a:rPr>
              <a:t>        Δlg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zh-CN" altLang="en-US" sz="2500" b="1" baseline="-25000">
                <a:ea typeface="楷体_GB2312" pitchFamily="49" charset="-122"/>
                <a:sym typeface="Webdings" pitchFamily="18" charset="2"/>
              </a:rPr>
              <a:t>稳</a:t>
            </a:r>
            <a:r>
              <a:rPr lang="zh-CN" altLang="en-US" sz="2500" b="1">
                <a:ea typeface="楷体_GB2312" pitchFamily="49" charset="-122"/>
              </a:rPr>
              <a:t>＞</a:t>
            </a:r>
            <a:r>
              <a:rPr lang="en-US" altLang="zh-CN" sz="2500" b="1">
                <a:ea typeface="楷体_GB2312" pitchFamily="49" charset="-122"/>
              </a:rPr>
              <a:t>5, </a:t>
            </a:r>
            <a:r>
              <a:rPr lang="zh-CN" altLang="en-US" sz="2500" b="1">
                <a:ea typeface="楷体_GB2312" pitchFamily="49" charset="-122"/>
              </a:rPr>
              <a:t>可实现分步滴定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  <a:p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查</a:t>
            </a:r>
            <a:r>
              <a:rPr lang="zh-CN" altLang="en-US" sz="2500" b="1">
                <a:ea typeface="楷体_GB2312" pitchFamily="49" charset="-122"/>
                <a:hlinkClick r:id="rId2" action="ppaction://hlinksldjump"/>
              </a:rPr>
              <a:t>林邦曲线</a:t>
            </a:r>
            <a:r>
              <a:rPr lang="en-US" altLang="zh-CN" sz="2500" b="1">
                <a:ea typeface="楷体_GB2312" pitchFamily="49" charset="-122"/>
              </a:rPr>
              <a:t>:</a:t>
            </a:r>
          </a:p>
        </p:txBody>
      </p:sp>
      <p:sp>
        <p:nvSpPr>
          <p:cNvPr id="90136" name="Rectangle 24"/>
          <p:cNvSpPr>
            <a:spLocks noChangeArrowheads="1"/>
          </p:cNvSpPr>
          <p:nvPr/>
        </p:nvSpPr>
        <p:spPr bwMode="auto">
          <a:xfrm>
            <a:off x="892213" y="3952865"/>
            <a:ext cx="5153025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滴定</a:t>
            </a:r>
            <a:r>
              <a:rPr lang="en-US" altLang="zh-CN" sz="2500" b="1" dirty="0">
                <a:ea typeface="楷体_GB2312" pitchFamily="49" charset="-122"/>
              </a:rPr>
              <a:t>Bi</a:t>
            </a:r>
            <a:r>
              <a:rPr lang="en-US" altLang="zh-CN" sz="2500" b="1" baseline="30000" dirty="0">
                <a:ea typeface="楷体_GB2312" pitchFamily="49" charset="-122"/>
              </a:rPr>
              <a:t>3+</a:t>
            </a:r>
            <a:r>
              <a:rPr lang="en-US" altLang="zh-CN" sz="2500" b="1" dirty="0">
                <a:ea typeface="楷体_GB2312" pitchFamily="49" charset="-122"/>
              </a:rPr>
              <a:t>,pH(min) = 0.7;             </a:t>
            </a:r>
          </a:p>
          <a:p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滴定</a:t>
            </a:r>
            <a:r>
              <a:rPr lang="en-US" altLang="zh-CN" sz="2500" b="1" dirty="0">
                <a:ea typeface="楷体_GB2312" pitchFamily="49" charset="-122"/>
              </a:rPr>
              <a:t>Pb</a:t>
            </a:r>
            <a:r>
              <a:rPr lang="en-US" altLang="zh-CN" sz="2500" b="1" baseline="30000" dirty="0">
                <a:ea typeface="楷体_GB2312" pitchFamily="49" charset="-122"/>
              </a:rPr>
              <a:t>2+</a:t>
            </a:r>
            <a:r>
              <a:rPr lang="en-US" altLang="zh-CN" sz="2500" b="1" dirty="0">
                <a:ea typeface="楷体_GB2312" pitchFamily="49" charset="-122"/>
              </a:rPr>
              <a:t>,pH(min) = 3.3.</a:t>
            </a: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617538" y="811213"/>
            <a:ext cx="86947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just"/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2.measures of 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improve selectivity:</a:t>
            </a:r>
          </a:p>
        </p:txBody>
      </p:sp>
      <p:sp>
        <p:nvSpPr>
          <p:cNvPr id="14" name="Rectangle 19"/>
          <p:cNvSpPr>
            <a:spLocks noChangeArrowheads="1"/>
          </p:cNvSpPr>
          <p:nvPr/>
        </p:nvSpPr>
        <p:spPr bwMode="auto">
          <a:xfrm>
            <a:off x="831850" y="1311275"/>
            <a:ext cx="1955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(1)</a:t>
            </a:r>
            <a:r>
              <a:rPr lang="zh-CN" altLang="en-US" sz="2500" b="1" u="sng" dirty="0">
                <a:solidFill>
                  <a:srgbClr val="FF3300"/>
                </a:solidFill>
                <a:ea typeface="楷体_GB2312" pitchFamily="49" charset="-122"/>
              </a:rPr>
              <a:t>酸度控制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13319" name="Rectangle 28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77837"/>
          </a:xfrm>
          <a:noFill/>
        </p:spPr>
        <p:txBody>
          <a:bodyPr/>
          <a:lstStyle/>
          <a:p>
            <a:r>
              <a:rPr lang="en-US" altLang="zh-CN" sz="2500" smtClean="0">
                <a:ea typeface="黑体" pitchFamily="49" charset="-122"/>
              </a:rPr>
              <a:t>6.3.3</a:t>
            </a:r>
            <a:r>
              <a:rPr lang="zh-CN" altLang="en-US" sz="2500" smtClean="0">
                <a:ea typeface="黑体" pitchFamily="49" charset="-122"/>
              </a:rPr>
              <a:t>提高高混合体系配位滴定选择性的方法</a:t>
            </a:r>
          </a:p>
        </p:txBody>
      </p:sp>
      <p:sp>
        <p:nvSpPr>
          <p:cNvPr id="13320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21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0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0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0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0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0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0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26" grpId="0" autoUpdateAnimBg="0"/>
      <p:bldP spid="90127" grpId="0" build="p" autoUpdateAnimBg="0"/>
      <p:bldP spid="90136" grpId="0" autoUpdateAnimBg="0"/>
      <p:bldP spid="13" grpId="0" autoUpdateAnimBg="0"/>
      <p:bldP spid="14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53" name="Rectangle 17"/>
          <p:cNvSpPr>
            <a:spLocks noChangeArrowheads="1"/>
          </p:cNvSpPr>
          <p:nvPr/>
        </p:nvSpPr>
        <p:spPr bwMode="auto">
          <a:xfrm>
            <a:off x="331788" y="1882775"/>
            <a:ext cx="9029700" cy="327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500" b="1">
                <a:ea typeface="楷体_GB2312" pitchFamily="49" charset="-122"/>
              </a:rPr>
              <a:t>        lg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’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BiY 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= </a:t>
            </a:r>
            <a:r>
              <a:rPr lang="en-US" altLang="zh-CN" sz="2500" b="1">
                <a:ea typeface="楷体_GB2312" pitchFamily="49" charset="-122"/>
              </a:rPr>
              <a:t>lg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BiY 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- </a:t>
            </a:r>
            <a:r>
              <a:rPr lang="en-US" altLang="zh-CN" sz="2500" b="1">
                <a:ea typeface="楷体_GB2312" pitchFamily="49" charset="-122"/>
              </a:rPr>
              <a:t>lg</a:t>
            </a:r>
            <a:r>
              <a:rPr lang="en-US" altLang="zh-CN" sz="2500" b="1" i="1">
                <a:ea typeface="楷体_GB2312" pitchFamily="49" charset="-122"/>
              </a:rPr>
              <a:t>α</a:t>
            </a:r>
            <a:r>
              <a:rPr lang="en-US" altLang="zh-CN" sz="2500" b="1" baseline="-25000">
                <a:latin typeface="宋体" pitchFamily="2" charset="-122"/>
                <a:ea typeface="楷体_GB2312" pitchFamily="49" charset="-122"/>
              </a:rPr>
              <a:t>Y</a:t>
            </a:r>
            <a:r>
              <a:rPr lang="en-US" altLang="zh-CN" sz="2500" b="1" baseline="-25000">
                <a:ea typeface="楷体_GB2312" pitchFamily="49" charset="-122"/>
                <a:sym typeface="Symbol" pitchFamily="18" charset="2"/>
              </a:rPr>
              <a:t>(H) 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= 9.8</a:t>
            </a:r>
          </a:p>
          <a:p>
            <a:pPr>
              <a:lnSpc>
                <a:spcPct val="120000"/>
              </a:lnSpc>
            </a:pPr>
            <a:r>
              <a:rPr lang="en-US" altLang="zh-CN" sz="2500" b="1">
                <a:ea typeface="楷体_GB2312" pitchFamily="49" charset="-122"/>
              </a:rPr>
              <a:t>        lg</a:t>
            </a:r>
            <a:r>
              <a:rPr lang="en-US" altLang="zh-CN" sz="2500" b="1" i="1">
                <a:ea typeface="楷体_GB2312" pitchFamily="49" charset="-122"/>
              </a:rPr>
              <a:t>c</a:t>
            </a:r>
            <a:r>
              <a:rPr lang="en-US" altLang="zh-CN" sz="2500" b="1" baseline="-25000">
                <a:ea typeface="楷体_GB2312" pitchFamily="49" charset="-122"/>
              </a:rPr>
              <a:t>Bi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’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BiY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&gt; 6</a:t>
            </a:r>
          </a:p>
          <a:p>
            <a:pPr>
              <a:lnSpc>
                <a:spcPct val="120000"/>
              </a:lnSpc>
            </a:pPr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而</a:t>
            </a:r>
            <a:r>
              <a:rPr lang="en-US" altLang="zh-CN" sz="2500" b="1">
                <a:ea typeface="楷体_GB2312" pitchFamily="49" charset="-122"/>
              </a:rPr>
              <a:t>lg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’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PbY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= </a:t>
            </a:r>
            <a:r>
              <a:rPr lang="en-US" altLang="zh-CN" sz="2500" b="1">
                <a:ea typeface="楷体_GB2312" pitchFamily="49" charset="-122"/>
              </a:rPr>
              <a:t>lg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PbY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- </a:t>
            </a:r>
            <a:r>
              <a:rPr lang="en-US" altLang="zh-CN" sz="2500" b="1">
                <a:ea typeface="楷体_GB2312" pitchFamily="49" charset="-122"/>
              </a:rPr>
              <a:t>lg</a:t>
            </a:r>
            <a:r>
              <a:rPr lang="en-US" altLang="zh-CN" sz="2500" b="1" i="1">
                <a:ea typeface="楷体_GB2312" pitchFamily="49" charset="-122"/>
              </a:rPr>
              <a:t>α</a:t>
            </a:r>
            <a:r>
              <a:rPr lang="en-US" altLang="zh-CN" sz="2500" b="1" baseline="-25000">
                <a:latin typeface="宋体" pitchFamily="2" charset="-122"/>
                <a:ea typeface="楷体_GB2312" pitchFamily="49" charset="-122"/>
              </a:rPr>
              <a:t>Y</a:t>
            </a:r>
            <a:r>
              <a:rPr lang="en-US" altLang="zh-CN" sz="2500" b="1" baseline="-25000">
                <a:ea typeface="楷体_GB2312" pitchFamily="49" charset="-122"/>
                <a:sym typeface="Symbol" pitchFamily="18" charset="2"/>
              </a:rPr>
              <a:t>(H) 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= 0.3</a:t>
            </a:r>
          </a:p>
          <a:p>
            <a:pPr>
              <a:lnSpc>
                <a:spcPct val="120000"/>
              </a:lnSpc>
            </a:pPr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无法形成</a:t>
            </a:r>
            <a:r>
              <a:rPr lang="en-US" altLang="zh-CN" sz="2500" b="1">
                <a:ea typeface="楷体_GB2312" pitchFamily="49" charset="-122"/>
              </a:rPr>
              <a:t>PbY</a:t>
            </a:r>
            <a:r>
              <a:rPr lang="en-US" altLang="zh-CN" sz="2500" b="1" baseline="30000">
                <a:ea typeface="楷体_GB2312" pitchFamily="49" charset="-122"/>
              </a:rPr>
              <a:t>2-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        </a:t>
            </a:r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滴定</a:t>
            </a:r>
            <a:r>
              <a:rPr lang="en-US" altLang="zh-CN" sz="2500" b="1">
                <a:ea typeface="楷体_GB2312" pitchFamily="49" charset="-122"/>
              </a:rPr>
              <a:t>Pb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zh-CN" altLang="en-US" sz="2500" b="1">
                <a:ea typeface="楷体_GB2312" pitchFamily="49" charset="-122"/>
              </a:rPr>
              <a:t>时应</a:t>
            </a:r>
            <a:r>
              <a:rPr lang="en-US" altLang="zh-CN" sz="2500" b="1">
                <a:ea typeface="楷体_GB2312" pitchFamily="49" charset="-122"/>
              </a:rPr>
              <a:t>pH</a:t>
            </a:r>
            <a:r>
              <a:rPr lang="en-US" altLang="zh-CN" sz="2500" b="1">
                <a:ea typeface="仿宋_GB2312"/>
                <a:cs typeface="仿宋_GB2312"/>
              </a:rPr>
              <a:t>≥</a:t>
            </a:r>
            <a:r>
              <a:rPr lang="en-US" altLang="zh-CN" sz="2500" b="1">
                <a:ea typeface="楷体_GB2312" pitchFamily="49" charset="-122"/>
              </a:rPr>
              <a:t>3.3.</a:t>
            </a:r>
          </a:p>
          <a:p>
            <a:pPr>
              <a:lnSpc>
                <a:spcPct val="120000"/>
              </a:lnSpc>
            </a:pP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        </a:t>
            </a:r>
            <a:r>
              <a:rPr lang="zh-CN" altLang="en-US" sz="2500" b="1">
                <a:ea typeface="楷体_GB2312" pitchFamily="49" charset="-122"/>
                <a:sym typeface="Symbol" pitchFamily="18" charset="2"/>
              </a:rPr>
              <a:t>最低酸度通过水解酸度得到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附录可查得</a:t>
            </a:r>
            <a:r>
              <a:rPr lang="en-US" altLang="zh-CN" sz="2500" b="1">
                <a:ea typeface="楷体_GB2312" pitchFamily="49" charset="-122"/>
              </a:rPr>
              <a:t>: 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100000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sp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= 1.43 </a:t>
            </a:r>
            <a:r>
              <a:rPr lang="en-US" altLang="zh-CN" sz="2500" b="1">
                <a:ea typeface="楷体_GB2312" pitchFamily="49" charset="-122"/>
                <a:sym typeface="Symbol" pitchFamily="18" charset="2"/>
              </a:rPr>
              <a:t></a:t>
            </a:r>
            <a:r>
              <a:rPr lang="en-US" altLang="zh-CN" sz="2500" b="1">
                <a:ea typeface="楷体_GB2312" pitchFamily="49" charset="-122"/>
              </a:rPr>
              <a:t>10</a:t>
            </a:r>
            <a:r>
              <a:rPr lang="en-US" altLang="zh-CN" sz="2500" b="1" baseline="30000">
                <a:ea typeface="楷体_GB2312" pitchFamily="49" charset="-122"/>
              </a:rPr>
              <a:t>-20</a:t>
            </a:r>
            <a:endParaRPr lang="en-US" altLang="zh-CN" sz="2500" b="1"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91164" name="Rectangle 28"/>
          <p:cNvSpPr>
            <a:spLocks noChangeArrowheads="1"/>
          </p:cNvSpPr>
          <p:nvPr/>
        </p:nvSpPr>
        <p:spPr bwMode="auto">
          <a:xfrm>
            <a:off x="760413" y="1454150"/>
            <a:ext cx="336391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dirty="0">
                <a:solidFill>
                  <a:srgbClr val="000000"/>
                </a:solidFill>
                <a:ea typeface="楷体_GB2312" pitchFamily="49" charset="-122"/>
                <a:sym typeface="Symbol" pitchFamily="18" charset="2"/>
              </a:rPr>
              <a:t>  </a:t>
            </a:r>
            <a:r>
              <a:rPr lang="en-US" altLang="zh-CN" sz="2500" b="1" dirty="0">
                <a:ea typeface="楷体_GB2312" pitchFamily="49" charset="-122"/>
              </a:rPr>
              <a:t>pH </a:t>
            </a:r>
            <a:r>
              <a:rPr lang="en-US" altLang="zh-CN" sz="2500" b="1" dirty="0">
                <a:ea typeface="黑体" pitchFamily="49" charset="-122"/>
                <a:sym typeface="Symbol" pitchFamily="18" charset="2"/>
              </a:rPr>
              <a:t>= 1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,</a:t>
            </a:r>
            <a:r>
              <a:rPr lang="en-US" altLang="zh-CN" sz="2500" b="1" dirty="0">
                <a:ea typeface="楷体_GB2312" pitchFamily="49" charset="-122"/>
              </a:rPr>
              <a:t>lg</a:t>
            </a:r>
            <a:r>
              <a:rPr lang="en-US" altLang="zh-CN" sz="2500" b="1" i="1" dirty="0">
                <a:ea typeface="楷体_GB2312" pitchFamily="49" charset="-122"/>
              </a:rPr>
              <a:t>α</a:t>
            </a:r>
            <a:r>
              <a:rPr lang="en-US" altLang="zh-CN" sz="2500" b="1" baseline="-25000" dirty="0">
                <a:ea typeface="楷体_GB2312" pitchFamily="49" charset="-122"/>
              </a:rPr>
              <a:t>Y(H) </a:t>
            </a:r>
            <a:r>
              <a:rPr lang="en-US" altLang="zh-CN" sz="2500" b="1" dirty="0">
                <a:ea typeface="楷体_GB2312" pitchFamily="49" charset="-122"/>
              </a:rPr>
              <a:t>= 18.01.</a:t>
            </a:r>
          </a:p>
        </p:txBody>
      </p:sp>
      <p:sp>
        <p:nvSpPr>
          <p:cNvPr id="12" name="Rectangle 25"/>
          <p:cNvSpPr>
            <a:spLocks noChangeArrowheads="1"/>
          </p:cNvSpPr>
          <p:nvPr/>
        </p:nvSpPr>
        <p:spPr bwMode="auto">
          <a:xfrm>
            <a:off x="260350" y="954088"/>
            <a:ext cx="104362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        pH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≈2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时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,</a:t>
            </a:r>
            <a:r>
              <a:rPr lang="en-US" altLang="zh-CN" sz="2500" b="1" dirty="0">
                <a:ea typeface="楷体_GB2312" pitchFamily="49" charset="-122"/>
              </a:rPr>
              <a:t>Bi</a:t>
            </a:r>
            <a:r>
              <a:rPr lang="en-US" altLang="zh-CN" sz="2500" b="1" baseline="30000" dirty="0">
                <a:ea typeface="楷体_GB2312" pitchFamily="49" charset="-122"/>
              </a:rPr>
              <a:t>3+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水解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(</a:t>
            </a:r>
            <a:r>
              <a:rPr lang="en-US" altLang="zh-CN" sz="2500" b="1" dirty="0" err="1">
                <a:ea typeface="楷体_GB2312" pitchFamily="49" charset="-122"/>
                <a:sym typeface="Symbol" pitchFamily="18" charset="2"/>
              </a:rPr>
              <a:t>BiOCl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或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BiONO</a:t>
            </a:r>
            <a:r>
              <a:rPr lang="en-US" altLang="zh-CN" sz="2500" b="1" baseline="-25000" dirty="0">
                <a:ea typeface="楷体_GB2312" pitchFamily="49" charset="-122"/>
                <a:sym typeface="Symbol" pitchFamily="18" charset="2"/>
              </a:rPr>
              <a:t>3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),</a:t>
            </a:r>
            <a:r>
              <a:rPr lang="zh-CN" altLang="en-US" sz="2500" b="1" dirty="0">
                <a:ea typeface="楷体_GB2312" pitchFamily="49" charset="-122"/>
                <a:sym typeface="Symbol" pitchFamily="18" charset="2"/>
              </a:rPr>
              <a:t>故滴定</a:t>
            </a:r>
            <a:r>
              <a:rPr lang="en-US" altLang="zh-CN" sz="2500" b="1" dirty="0">
                <a:ea typeface="楷体_GB2312" pitchFamily="49" charset="-122"/>
              </a:rPr>
              <a:t>pH = 0.7 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  <a:sym typeface="Symbol" pitchFamily="18" charset="2"/>
              </a:rPr>
              <a:t> 2, </a:t>
            </a:r>
            <a:r>
              <a:rPr lang="zh-CN" altLang="en-US" sz="2500" b="1" dirty="0">
                <a:solidFill>
                  <a:srgbClr val="000000"/>
                </a:solidFill>
                <a:ea typeface="楷体_GB2312" pitchFamily="49" charset="-122"/>
                <a:sym typeface="Symbol" pitchFamily="18" charset="2"/>
              </a:rPr>
              <a:t>一般</a:t>
            </a:r>
            <a:r>
              <a:rPr lang="en-US" altLang="zh-CN" sz="2500" b="1" dirty="0">
                <a:ea typeface="楷体_GB2312" pitchFamily="49" charset="-122"/>
              </a:rPr>
              <a:t>pH</a:t>
            </a:r>
            <a:r>
              <a:rPr lang="en-US" altLang="zh-CN" sz="2500" b="1" dirty="0">
                <a:ea typeface="楷体_GB2312" pitchFamily="49" charset="-122"/>
                <a:sym typeface="Symbol" pitchFamily="18" charset="2"/>
              </a:rPr>
              <a:t>≈1</a:t>
            </a:r>
            <a:r>
              <a:rPr lang="en-US" altLang="zh-CN" sz="2500" b="1" dirty="0">
                <a:solidFill>
                  <a:srgbClr val="000000"/>
                </a:solidFill>
                <a:ea typeface="楷体_GB2312" pitchFamily="49" charset="-122"/>
                <a:sym typeface="Symbol" pitchFamily="18" charset="2"/>
              </a:rPr>
              <a:t>.</a:t>
            </a:r>
          </a:p>
        </p:txBody>
      </p:sp>
      <p:sp>
        <p:nvSpPr>
          <p:cNvPr id="14341" name="Rectangle 28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77837"/>
          </a:xfrm>
          <a:noFill/>
        </p:spPr>
        <p:txBody>
          <a:bodyPr/>
          <a:lstStyle/>
          <a:p>
            <a:r>
              <a:rPr lang="en-US" altLang="zh-CN" sz="2500" smtClean="0">
                <a:ea typeface="黑体" pitchFamily="49" charset="-122"/>
              </a:rPr>
              <a:t>6.3.3</a:t>
            </a:r>
            <a:r>
              <a:rPr lang="zh-CN" altLang="en-US" sz="2500" smtClean="0">
                <a:ea typeface="黑体" pitchFamily="49" charset="-122"/>
              </a:rPr>
              <a:t>提高高混合体系配位滴定选择性的方法</a:t>
            </a:r>
          </a:p>
        </p:txBody>
      </p:sp>
      <p:sp>
        <p:nvSpPr>
          <p:cNvPr id="14342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43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11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11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1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11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11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11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911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53" grpId="0" build="p" autoUpdateAnimBg="0"/>
      <p:bldP spid="91164" grpId="0" autoUpdateAnimBg="0"/>
      <p:bldP spid="12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40" name="Rectangle 8"/>
          <p:cNvSpPr>
            <a:spLocks noChangeArrowheads="1"/>
          </p:cNvSpPr>
          <p:nvPr/>
        </p:nvSpPr>
        <p:spPr bwMode="auto">
          <a:xfrm>
            <a:off x="831850" y="954088"/>
            <a:ext cx="1036955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                                            pH(max) = 5.08.</a:t>
            </a:r>
          </a:p>
          <a:p>
            <a:pPr>
              <a:lnSpc>
                <a:spcPct val="120000"/>
              </a:lnSpc>
            </a:pP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       </a:t>
            </a:r>
            <a:r>
              <a:rPr lang="zh-CN" altLang="en-US" sz="2500" b="1">
                <a:ea typeface="楷体_GB2312" pitchFamily="49" charset="-122"/>
                <a:sym typeface="Webdings" pitchFamily="18" charset="2"/>
              </a:rPr>
              <a:t>滴定</a:t>
            </a:r>
            <a:r>
              <a:rPr lang="en-US" altLang="zh-CN" sz="2500" b="1">
                <a:ea typeface="楷体_GB2312" pitchFamily="49" charset="-122"/>
              </a:rPr>
              <a:t>Pb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,</a:t>
            </a:r>
            <a:r>
              <a:rPr lang="zh-CN" altLang="en-US" sz="2500" b="1">
                <a:ea typeface="楷体_GB2312" pitchFamily="49" charset="-122"/>
                <a:sym typeface="Webdings" pitchFamily="18" charset="2"/>
              </a:rPr>
              <a:t>六次甲基四胺缓冲溶液控制</a:t>
            </a:r>
            <a:r>
              <a:rPr lang="en-US" altLang="zh-CN" sz="2500" b="1">
                <a:ea typeface="楷体_GB2312" pitchFamily="49" charset="-122"/>
              </a:rPr>
              <a:t>pH = 5 </a:t>
            </a:r>
            <a:r>
              <a:rPr lang="en-US" altLang="zh-CN" sz="2500" b="1">
                <a:solidFill>
                  <a:srgbClr val="000000"/>
                </a:solidFill>
                <a:ea typeface="楷体_GB2312" pitchFamily="49" charset="-122"/>
                <a:sym typeface="Symbol" pitchFamily="18" charset="2"/>
              </a:rPr>
              <a:t> 6</a:t>
            </a:r>
            <a:r>
              <a:rPr lang="zh-CN" altLang="en-US" sz="2500" b="1">
                <a:ea typeface="楷体_GB2312" pitchFamily="49" charset="-122"/>
              </a:rPr>
              <a:t>　　</a:t>
            </a:r>
          </a:p>
        </p:txBody>
      </p:sp>
      <p:sp>
        <p:nvSpPr>
          <p:cNvPr id="69646" name="Rectangle 14"/>
          <p:cNvSpPr>
            <a:spLocks noChangeArrowheads="1"/>
          </p:cNvSpPr>
          <p:nvPr/>
        </p:nvSpPr>
        <p:spPr bwMode="auto">
          <a:xfrm>
            <a:off x="906463" y="1020763"/>
            <a:ext cx="75850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       [Pb</a:t>
            </a:r>
            <a:r>
              <a:rPr lang="en-US" altLang="zh-CN" sz="2500" b="1" baseline="30000">
                <a:ea typeface="楷体_GB2312" pitchFamily="49" charset="-122"/>
                <a:sym typeface="Webdings" pitchFamily="18" charset="2"/>
              </a:rPr>
              <a:t>2+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]</a:t>
            </a:r>
            <a:r>
              <a:rPr lang="en-US" altLang="zh-CN" sz="2500" b="1">
                <a:ea typeface="楷体_GB2312" pitchFamily="49" charset="-122"/>
              </a:rPr>
              <a:t>[OH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</a:rPr>
              <a:t>]</a:t>
            </a:r>
            <a:r>
              <a:rPr lang="en-US" altLang="zh-CN" sz="2500" b="1" baseline="30000">
                <a:ea typeface="楷体_GB2312" pitchFamily="49" charset="-122"/>
              </a:rPr>
              <a:t>2 </a:t>
            </a:r>
            <a:r>
              <a:rPr lang="en-US" altLang="zh-CN" sz="2500" b="1">
                <a:ea typeface="楷体_GB2312" pitchFamily="49" charset="-122"/>
              </a:rPr>
              <a:t>= 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sp</a:t>
            </a:r>
            <a:endParaRPr lang="en-US" altLang="zh-CN" sz="2500" b="1"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69662" name="Rectangle 30"/>
          <p:cNvSpPr>
            <a:spLocks noChangeArrowheads="1"/>
          </p:cNvSpPr>
          <p:nvPr/>
        </p:nvSpPr>
        <p:spPr bwMode="auto">
          <a:xfrm>
            <a:off x="906463" y="1905000"/>
            <a:ext cx="10274300" cy="259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sym typeface="Monotype Sorts" pitchFamily="2" charset="2"/>
              </a:rPr>
              <a:t>(2)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掩蔽或解蔽措施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1)</a:t>
            </a:r>
            <a:r>
              <a:rPr lang="zh-CN" altLang="en-US" sz="2500" b="1" dirty="0">
                <a:solidFill>
                  <a:srgbClr val="FF3300"/>
                </a:solidFill>
                <a:ea typeface="楷体_GB2312" pitchFamily="49" charset="-122"/>
              </a:rPr>
              <a:t>掩蔽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</a:rPr>
              <a:t>masking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):</a:t>
            </a:r>
          </a:p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</a:rPr>
              <a:t>　　使干扰物转变为稳定的配合物、沉淀或发生价态变化等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使之不干扰</a:t>
            </a:r>
            <a:r>
              <a:rPr lang="en-US" altLang="zh-CN" sz="2500" b="1" dirty="0">
                <a:ea typeface="楷体_GB2312" pitchFamily="49" charset="-122"/>
              </a:rPr>
              <a:t>. 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z="2500" b="1" dirty="0">
                <a:ea typeface="楷体_GB2312" pitchFamily="49" charset="-122"/>
              </a:rPr>
              <a:t>配位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</a:rPr>
              <a:t>　　使</a:t>
            </a:r>
            <a:r>
              <a:rPr lang="en-US" altLang="zh-CN" sz="2500" b="1" dirty="0">
                <a:ea typeface="楷体_GB2312" pitchFamily="49" charset="-122"/>
              </a:rPr>
              <a:t>N</a:t>
            </a:r>
            <a:r>
              <a:rPr lang="zh-CN" altLang="en-US" sz="2500" b="1" dirty="0">
                <a:ea typeface="楷体_GB2312" pitchFamily="49" charset="-122"/>
              </a:rPr>
              <a:t>生成更稳定的配合物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</a:rPr>
              <a:t>掩蔽剂应满足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</p:txBody>
      </p:sp>
      <p:sp>
        <p:nvSpPr>
          <p:cNvPr id="69663" name="Rectangle 31"/>
          <p:cNvSpPr>
            <a:spLocks noChangeArrowheads="1"/>
          </p:cNvSpPr>
          <p:nvPr/>
        </p:nvSpPr>
        <p:spPr bwMode="auto">
          <a:xfrm>
            <a:off x="3332163" y="4097338"/>
            <a:ext cx="5321300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/>
            <a:r>
              <a:rPr lang="en-US" altLang="zh-CN" sz="2500" b="1" dirty="0" err="1">
                <a:ea typeface="楷体_GB2312" pitchFamily="49" charset="-122"/>
              </a:rPr>
              <a:t>a.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NL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&gt; 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NY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,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且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NL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应无色或浅色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;</a:t>
            </a:r>
          </a:p>
          <a:p>
            <a:pPr marL="457200" indent="-457200"/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b.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不与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M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形成配合物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,</a:t>
            </a:r>
            <a:r>
              <a:rPr lang="zh-CN" altLang="en-US" sz="2500" b="1" dirty="0">
                <a:ea typeface="楷体_GB2312" pitchFamily="49" charset="-122"/>
                <a:sym typeface="Webdings" pitchFamily="18" charset="2"/>
              </a:rPr>
              <a:t>或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ML 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&lt; </a:t>
            </a:r>
            <a:r>
              <a:rPr lang="en-US" altLang="zh-CN" sz="2500" b="1" i="1" dirty="0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MY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.</a:t>
            </a:r>
          </a:p>
        </p:txBody>
      </p:sp>
      <p:sp>
        <p:nvSpPr>
          <p:cNvPr id="69664" name="AutoShape 32"/>
          <p:cNvSpPr>
            <a:spLocks/>
          </p:cNvSpPr>
          <p:nvPr/>
        </p:nvSpPr>
        <p:spPr bwMode="auto">
          <a:xfrm>
            <a:off x="3189288" y="4240213"/>
            <a:ext cx="190500" cy="519112"/>
          </a:xfrm>
          <a:prstGeom prst="leftBrace">
            <a:avLst>
              <a:gd name="adj1" fmla="val 39649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zh-CN" altLang="en-US" sz="25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sp>
        <p:nvSpPr>
          <p:cNvPr id="15367" name="Rectangle 28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77837"/>
          </a:xfrm>
          <a:noFill/>
        </p:spPr>
        <p:txBody>
          <a:bodyPr/>
          <a:lstStyle/>
          <a:p>
            <a:r>
              <a:rPr lang="en-US" altLang="zh-CN" sz="2500" smtClean="0">
                <a:ea typeface="黑体" pitchFamily="49" charset="-122"/>
              </a:rPr>
              <a:t>6.3.3</a:t>
            </a:r>
            <a:r>
              <a:rPr lang="zh-CN" altLang="en-US" sz="2500" smtClean="0">
                <a:ea typeface="黑体" pitchFamily="49" charset="-122"/>
              </a:rPr>
              <a:t>提高高混合体系配位滴定选择性的方法</a:t>
            </a:r>
          </a:p>
        </p:txBody>
      </p:sp>
      <p:sp>
        <p:nvSpPr>
          <p:cNvPr id="15368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369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9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9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96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9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96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96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96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96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696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69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696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40" grpId="0" build="p" autoUpdateAnimBg="0"/>
      <p:bldP spid="69646" grpId="0" autoUpdateAnimBg="0"/>
      <p:bldP spid="69662" grpId="0" build="p" autoUpdateAnimBg="0"/>
      <p:bldP spid="69663" grpId="0" build="p" autoUpdateAnimBg="0"/>
      <p:bldP spid="6966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7" name="Rectangle 11"/>
          <p:cNvSpPr>
            <a:spLocks noChangeArrowheads="1"/>
          </p:cNvSpPr>
          <p:nvPr/>
        </p:nvSpPr>
        <p:spPr bwMode="auto">
          <a:xfrm>
            <a:off x="906463" y="1020763"/>
            <a:ext cx="1023143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②</a:t>
            </a:r>
            <a:r>
              <a:rPr lang="zh-CN" altLang="en-US" sz="2500" b="1">
                <a:ea typeface="楷体_GB2312" pitchFamily="49" charset="-122"/>
              </a:rPr>
              <a:t>氧化还原</a:t>
            </a:r>
            <a:r>
              <a:rPr lang="en-US" altLang="zh-CN" sz="2500" b="1">
                <a:ea typeface="楷体_GB2312" pitchFamily="49" charset="-122"/>
              </a:rPr>
              <a:t>:        </a:t>
            </a:r>
          </a:p>
        </p:txBody>
      </p:sp>
      <p:sp>
        <p:nvSpPr>
          <p:cNvPr id="70686" name="Rectangle 30"/>
          <p:cNvSpPr>
            <a:spLocks noChangeArrowheads="1"/>
          </p:cNvSpPr>
          <p:nvPr/>
        </p:nvSpPr>
        <p:spPr bwMode="auto">
          <a:xfrm>
            <a:off x="906463" y="1460500"/>
            <a:ext cx="10231437" cy="340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使</a:t>
            </a:r>
            <a:r>
              <a:rPr lang="en-US" altLang="zh-CN" sz="2500" b="1">
                <a:ea typeface="楷体_GB2312" pitchFamily="49" charset="-122"/>
              </a:rPr>
              <a:t>N</a:t>
            </a:r>
            <a:r>
              <a:rPr lang="zh-CN" altLang="en-US" sz="2500" b="1">
                <a:ea typeface="楷体_GB2312" pitchFamily="49" charset="-122"/>
              </a:rPr>
              <a:t>改变价态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如</a:t>
            </a:r>
            <a:r>
              <a:rPr lang="en-US" altLang="zh-CN" sz="2500" b="1">
                <a:ea typeface="楷体_GB2312" pitchFamily="49" charset="-122"/>
              </a:rPr>
              <a:t>Fe</a:t>
            </a:r>
            <a:r>
              <a:rPr lang="en-US" altLang="zh-CN" sz="2500" b="1" baseline="30000">
                <a:ea typeface="楷体_GB2312" pitchFamily="49" charset="-122"/>
              </a:rPr>
              <a:t>3+</a:t>
            </a:r>
            <a:r>
              <a:rPr lang="zh-CN" altLang="en-US" sz="2500" b="1">
                <a:ea typeface="楷体_GB2312" pitchFamily="49" charset="-122"/>
              </a:rPr>
              <a:t>干扰</a:t>
            </a:r>
            <a:r>
              <a:rPr lang="en-US" altLang="zh-CN" sz="2500" b="1">
                <a:ea typeface="楷体_GB2312" pitchFamily="49" charset="-122"/>
              </a:rPr>
              <a:t>Zr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zh-CN" altLang="en-US" sz="2500" b="1">
                <a:ea typeface="楷体_GB2312" pitchFamily="49" charset="-122"/>
              </a:rPr>
              <a:t>测定</a:t>
            </a:r>
            <a:r>
              <a:rPr lang="en-US" altLang="zh-CN" sz="2500" b="1">
                <a:ea typeface="楷体_GB2312" pitchFamily="49" charset="-122"/>
              </a:rPr>
              <a:t>,</a:t>
            </a:r>
            <a:r>
              <a:rPr lang="zh-CN" altLang="en-US" sz="2500" b="1">
                <a:ea typeface="楷体_GB2312" pitchFamily="49" charset="-122"/>
              </a:rPr>
              <a:t>可加入盐酸羟胺等</a:t>
            </a:r>
            <a:r>
              <a:rPr lang="en-US" altLang="zh-CN" sz="2500" b="1">
                <a:ea typeface="楷体_GB2312" pitchFamily="49" charset="-122"/>
              </a:rPr>
              <a:t>. </a:t>
            </a:r>
          </a:p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③</a:t>
            </a:r>
            <a:r>
              <a:rPr lang="zh-CN" altLang="en-US" sz="2500" b="1">
                <a:ea typeface="楷体_GB2312" pitchFamily="49" charset="-122"/>
              </a:rPr>
              <a:t>沉淀</a:t>
            </a:r>
            <a:r>
              <a:rPr lang="en-US" altLang="zh-CN" sz="2500" b="1">
                <a:ea typeface="楷体_GB2312" pitchFamily="49" charset="-122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使</a:t>
            </a:r>
            <a:r>
              <a:rPr lang="en-US" altLang="zh-CN" sz="2500" b="1">
                <a:ea typeface="楷体_GB2312" pitchFamily="49" charset="-122"/>
              </a:rPr>
              <a:t>N</a:t>
            </a:r>
            <a:r>
              <a:rPr lang="zh-CN" altLang="en-US" sz="2500" b="1">
                <a:ea typeface="楷体_GB2312" pitchFamily="49" charset="-122"/>
              </a:rPr>
              <a:t>沉淀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如</a:t>
            </a:r>
            <a:r>
              <a:rPr lang="en-US" altLang="zh-CN" sz="2500" b="1">
                <a:ea typeface="楷体_GB2312" pitchFamily="49" charset="-122"/>
              </a:rPr>
              <a:t>Mg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zh-CN" altLang="en-US" sz="2500" b="1">
                <a:ea typeface="楷体_GB2312" pitchFamily="49" charset="-122"/>
              </a:rPr>
              <a:t>干扰</a:t>
            </a:r>
            <a:r>
              <a:rPr lang="en-US" altLang="zh-CN" sz="2500" b="1">
                <a:ea typeface="楷体_GB2312" pitchFamily="49" charset="-122"/>
              </a:rPr>
              <a:t>Ca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zh-CN" altLang="en-US" sz="2500" b="1">
                <a:ea typeface="楷体_GB2312" pitchFamily="49" charset="-122"/>
              </a:rPr>
              <a:t>测定</a:t>
            </a:r>
            <a:r>
              <a:rPr lang="en-US" altLang="zh-CN" sz="2500" b="1">
                <a:ea typeface="楷体_GB2312" pitchFamily="49" charset="-122"/>
              </a:rPr>
              <a:t>,</a:t>
            </a:r>
            <a:r>
              <a:rPr lang="zh-CN" altLang="en-US" sz="2500" b="1">
                <a:ea typeface="楷体_GB2312" pitchFamily="49" charset="-122"/>
              </a:rPr>
              <a:t>可调节</a:t>
            </a:r>
            <a:r>
              <a:rPr lang="en-US" altLang="zh-CN" sz="2500" b="1">
                <a:ea typeface="楷体_GB2312" pitchFamily="49" charset="-122"/>
              </a:rPr>
              <a:t>pH≥12.</a:t>
            </a:r>
          </a:p>
          <a:p>
            <a:r>
              <a:rPr lang="en-US" altLang="zh-CN" sz="2500" b="1">
                <a:ea typeface="楷体_GB2312" pitchFamily="49" charset="-122"/>
                <a:sym typeface="Monotype Sorts" pitchFamily="2" charset="2"/>
              </a:rPr>
              <a:t>2)</a:t>
            </a:r>
            <a:r>
              <a:rPr lang="zh-CN" altLang="en-US" sz="2500" b="1">
                <a:solidFill>
                  <a:srgbClr val="FF3300"/>
                </a:solidFill>
                <a:ea typeface="楷体_GB2312" pitchFamily="49" charset="-122"/>
              </a:rPr>
              <a:t>解蔽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(</a:t>
            </a:r>
            <a:r>
              <a:rPr lang="en-US" altLang="zh-CN" sz="2500" b="1">
                <a:solidFill>
                  <a:srgbClr val="0000FF"/>
                </a:solidFill>
                <a:ea typeface="楷体_GB2312" pitchFamily="49" charset="-122"/>
              </a:rPr>
              <a:t>demasking</a:t>
            </a:r>
            <a:r>
              <a:rPr lang="en-US" altLang="zh-CN" sz="2500" b="1">
                <a:solidFill>
                  <a:srgbClr val="FF3300"/>
                </a:solidFill>
                <a:ea typeface="楷体_GB2312" pitchFamily="49" charset="-122"/>
              </a:rPr>
              <a:t>):</a:t>
            </a:r>
          </a:p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被掩蔽物由其被掩蔽的形式恢复到初始状态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  <a:p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如</a:t>
            </a:r>
            <a:r>
              <a:rPr lang="en-US" altLang="zh-CN" sz="2500" b="1">
                <a:ea typeface="楷体_GB2312" pitchFamily="49" charset="-122"/>
              </a:rPr>
              <a:t>Cu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zh-CN" altLang="en-US" sz="2500" b="1">
                <a:ea typeface="楷体_GB2312" pitchFamily="49" charset="-122"/>
              </a:rPr>
              <a:t>、</a:t>
            </a:r>
            <a:r>
              <a:rPr lang="en-US" altLang="zh-CN" sz="2500" b="1">
                <a:ea typeface="楷体_GB2312" pitchFamily="49" charset="-122"/>
              </a:rPr>
              <a:t>Pb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zh-CN" altLang="en-US" sz="2500" b="1">
                <a:ea typeface="楷体_GB2312" pitchFamily="49" charset="-122"/>
              </a:rPr>
              <a:t>、</a:t>
            </a:r>
            <a:r>
              <a:rPr lang="en-US" altLang="zh-CN" sz="2500" b="1">
                <a:ea typeface="楷体_GB2312" pitchFamily="49" charset="-122"/>
              </a:rPr>
              <a:t>Zn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zh-CN" altLang="en-US" sz="2500" b="1">
                <a:ea typeface="楷体_GB2312" pitchFamily="49" charset="-122"/>
              </a:rPr>
              <a:t>混合体系的选择性滴定</a:t>
            </a:r>
          </a:p>
        </p:txBody>
      </p:sp>
      <p:sp>
        <p:nvSpPr>
          <p:cNvPr id="16388" name="Rectangle 28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77837"/>
          </a:xfrm>
          <a:noFill/>
        </p:spPr>
        <p:txBody>
          <a:bodyPr/>
          <a:lstStyle/>
          <a:p>
            <a:r>
              <a:rPr lang="en-US" altLang="zh-CN" sz="2500" smtClean="0">
                <a:ea typeface="黑体" pitchFamily="49" charset="-122"/>
              </a:rPr>
              <a:t>6.3.3</a:t>
            </a:r>
            <a:r>
              <a:rPr lang="zh-CN" altLang="en-US" sz="2500" smtClean="0">
                <a:ea typeface="黑体" pitchFamily="49" charset="-122"/>
              </a:rPr>
              <a:t>提高高混合体系配位滴定选择性的方法</a:t>
            </a:r>
          </a:p>
        </p:txBody>
      </p:sp>
      <p:sp>
        <p:nvSpPr>
          <p:cNvPr id="16389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0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0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0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06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06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06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06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06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06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06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7" grpId="0" build="p" autoUpdateAnimBg="0"/>
      <p:bldP spid="70686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2" name="Rectangle 12"/>
          <p:cNvSpPr>
            <a:spLocks noChangeArrowheads="1"/>
          </p:cNvSpPr>
          <p:nvPr/>
        </p:nvSpPr>
        <p:spPr bwMode="auto">
          <a:xfrm>
            <a:off x="906463" y="1020763"/>
            <a:ext cx="1081087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500" b="1">
                <a:latin typeface="楷体_GB2312" pitchFamily="49" charset="-122"/>
                <a:ea typeface="楷体_GB2312" pitchFamily="49" charset="-122"/>
              </a:rPr>
              <a:t>查得</a:t>
            </a:r>
            <a:r>
              <a:rPr lang="en-US" altLang="zh-CN" sz="2500" b="1"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sp>
        <p:nvSpPr>
          <p:cNvPr id="71704" name="Rectangle 24"/>
          <p:cNvSpPr>
            <a:spLocks noChangeArrowheads="1"/>
          </p:cNvSpPr>
          <p:nvPr/>
        </p:nvSpPr>
        <p:spPr bwMode="auto">
          <a:xfrm>
            <a:off x="2767013" y="1020763"/>
            <a:ext cx="2185987" cy="1360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</a:rPr>
              <a:t>lg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CuY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=18.7;</a:t>
            </a:r>
          </a:p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</a:rPr>
              <a:t>lg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PbY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=18.3;</a:t>
            </a:r>
          </a:p>
          <a:p>
            <a:pPr>
              <a:lnSpc>
                <a:spcPct val="110000"/>
              </a:lnSpc>
            </a:pPr>
            <a:r>
              <a:rPr lang="en-US" altLang="zh-CN" sz="2500" b="1">
                <a:ea typeface="楷体_GB2312" pitchFamily="49" charset="-122"/>
              </a:rPr>
              <a:t>lg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ZnY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=16.4.</a:t>
            </a:r>
          </a:p>
        </p:txBody>
      </p:sp>
      <p:sp>
        <p:nvSpPr>
          <p:cNvPr id="71707" name="Rectangle 27"/>
          <p:cNvSpPr>
            <a:spLocks noChangeArrowheads="1"/>
          </p:cNvSpPr>
          <p:nvPr/>
        </p:nvSpPr>
        <p:spPr bwMode="auto">
          <a:xfrm>
            <a:off x="617538" y="2382831"/>
            <a:ext cx="10369550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取一份溶液</a:t>
            </a:r>
            <a:r>
              <a:rPr lang="en-US" altLang="zh-CN" sz="2500" b="1">
                <a:ea typeface="楷体_GB2312" pitchFamily="49" charset="-122"/>
              </a:rPr>
              <a:t>,</a:t>
            </a:r>
            <a:r>
              <a:rPr lang="zh-CN" altLang="en-US" sz="2500" b="1">
                <a:ea typeface="楷体_GB2312" pitchFamily="49" charset="-122"/>
              </a:rPr>
              <a:t>加</a:t>
            </a:r>
            <a:r>
              <a:rPr lang="en-US" altLang="zh-CN" sz="2500" b="1">
                <a:ea typeface="楷体_GB2312" pitchFamily="49" charset="-122"/>
              </a:rPr>
              <a:t>KCN</a:t>
            </a:r>
            <a:r>
              <a:rPr lang="zh-CN" altLang="en-US" sz="2500" b="1">
                <a:ea typeface="楷体_GB2312" pitchFamily="49" charset="-122"/>
              </a:rPr>
              <a:t>掩蔽</a:t>
            </a:r>
            <a:r>
              <a:rPr lang="en-US" altLang="zh-CN" sz="2500" b="1">
                <a:ea typeface="楷体_GB2312" pitchFamily="49" charset="-122"/>
              </a:rPr>
              <a:t>Cu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zh-CN" altLang="en-US" sz="2500" b="1">
                <a:ea typeface="楷体_GB2312" pitchFamily="49" charset="-122"/>
              </a:rPr>
              <a:t>、</a:t>
            </a:r>
            <a:r>
              <a:rPr lang="en-US" altLang="zh-CN" sz="2500" b="1">
                <a:ea typeface="楷体_GB2312" pitchFamily="49" charset="-122"/>
              </a:rPr>
              <a:t>Zn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en-US" altLang="zh-CN" sz="2500" b="1">
                <a:ea typeface="楷体_GB2312" pitchFamily="49" charset="-122"/>
              </a:rPr>
              <a:t>,</a:t>
            </a:r>
            <a:r>
              <a:rPr lang="zh-CN" altLang="en-US" sz="2500" b="1">
                <a:ea typeface="楷体_GB2312" pitchFamily="49" charset="-122"/>
              </a:rPr>
              <a:t>以</a:t>
            </a:r>
            <a:r>
              <a:rPr lang="en-US" altLang="zh-CN" sz="2500" b="1">
                <a:ea typeface="楷体_GB2312" pitchFamily="49" charset="-122"/>
              </a:rPr>
              <a:t>EBT</a:t>
            </a:r>
            <a:r>
              <a:rPr lang="zh-CN" altLang="en-US" sz="2500" b="1">
                <a:ea typeface="楷体_GB2312" pitchFamily="49" charset="-122"/>
              </a:rPr>
              <a:t>为指示剂</a:t>
            </a:r>
            <a:r>
              <a:rPr lang="en-US" altLang="zh-CN" sz="2500" b="1">
                <a:ea typeface="楷体_GB2312" pitchFamily="49" charset="-122"/>
              </a:rPr>
              <a:t>,EDTA</a:t>
            </a:r>
            <a:r>
              <a:rPr lang="zh-CN" altLang="en-US" sz="2500" b="1">
                <a:ea typeface="楷体_GB2312" pitchFamily="49" charset="-122"/>
              </a:rPr>
              <a:t>滴定</a:t>
            </a:r>
            <a:r>
              <a:rPr lang="en-US" altLang="zh-CN" sz="2500" b="1">
                <a:ea typeface="楷体_GB2312" pitchFamily="49" charset="-122"/>
              </a:rPr>
              <a:t>Pb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en-US" altLang="zh-CN" sz="2500" b="1">
                <a:ea typeface="楷体_GB2312" pitchFamily="49" charset="-122"/>
              </a:rPr>
              <a:t>;</a:t>
            </a:r>
          </a:p>
          <a:p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再加甲醛解蔽</a:t>
            </a:r>
            <a:r>
              <a:rPr lang="en-US" altLang="zh-CN" sz="2500" b="1">
                <a:ea typeface="楷体_GB2312" pitchFamily="49" charset="-122"/>
              </a:rPr>
              <a:t>Zn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en-US" altLang="zh-CN" sz="2500" b="1">
                <a:ea typeface="楷体_GB2312" pitchFamily="49" charset="-122"/>
              </a:rPr>
              <a:t>:</a:t>
            </a:r>
          </a:p>
        </p:txBody>
      </p:sp>
      <p:sp>
        <p:nvSpPr>
          <p:cNvPr id="71710" name="Rectangle 30"/>
          <p:cNvSpPr>
            <a:spLocks noChangeArrowheads="1"/>
          </p:cNvSpPr>
          <p:nvPr/>
        </p:nvSpPr>
        <p:spPr bwMode="auto">
          <a:xfrm>
            <a:off x="903288" y="3240081"/>
            <a:ext cx="102314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4HCHO + Zn(CN)</a:t>
            </a:r>
            <a:r>
              <a:rPr lang="en-US" altLang="zh-CN" sz="2500" b="1" baseline="-25000">
                <a:ea typeface="楷体_GB2312" pitchFamily="49" charset="-122"/>
              </a:rPr>
              <a:t>4</a:t>
            </a:r>
            <a:r>
              <a:rPr lang="en-US" altLang="zh-CN" sz="2500" b="1" baseline="30000">
                <a:ea typeface="楷体_GB2312" pitchFamily="49" charset="-122"/>
              </a:rPr>
              <a:t>2-</a:t>
            </a:r>
            <a:r>
              <a:rPr lang="en-US" altLang="zh-CN" sz="2500" b="1">
                <a:ea typeface="楷体_GB2312" pitchFamily="49" charset="-122"/>
              </a:rPr>
              <a:t> + 4H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O = Zn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en-US" altLang="zh-CN" sz="2500" b="1">
                <a:ea typeface="楷体_GB2312" pitchFamily="49" charset="-122"/>
              </a:rPr>
              <a:t> + 4H</a:t>
            </a:r>
            <a:r>
              <a:rPr lang="en-US" altLang="zh-CN" sz="2500" b="1" baseline="-25000">
                <a:ea typeface="楷体_GB2312" pitchFamily="49" charset="-122"/>
              </a:rPr>
              <a:t>2</a:t>
            </a:r>
            <a:r>
              <a:rPr lang="en-US" altLang="zh-CN" sz="2500" b="1">
                <a:ea typeface="楷体_GB2312" pitchFamily="49" charset="-122"/>
              </a:rPr>
              <a:t>COHCN + 4OH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endParaRPr lang="en-US" altLang="zh-CN" sz="2500" b="1">
              <a:ea typeface="楷体_GB2312" pitchFamily="49" charset="-122"/>
            </a:endParaRPr>
          </a:p>
        </p:txBody>
      </p:sp>
      <p:sp>
        <p:nvSpPr>
          <p:cNvPr id="71711" name="Rectangle 31"/>
          <p:cNvSpPr>
            <a:spLocks noChangeArrowheads="1"/>
          </p:cNvSpPr>
          <p:nvPr/>
        </p:nvSpPr>
        <p:spPr bwMode="auto">
          <a:xfrm>
            <a:off x="906463" y="3759193"/>
            <a:ext cx="10231437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        EDTA</a:t>
            </a:r>
            <a:r>
              <a:rPr lang="zh-CN" altLang="en-US" sz="2500" b="1">
                <a:ea typeface="楷体_GB2312" pitchFamily="49" charset="-122"/>
              </a:rPr>
              <a:t>继续滴定</a:t>
            </a:r>
            <a:r>
              <a:rPr lang="en-US" altLang="zh-CN" sz="2500" b="1">
                <a:ea typeface="楷体_GB2312" pitchFamily="49" charset="-122"/>
              </a:rPr>
              <a:t>.</a:t>
            </a:r>
          </a:p>
          <a:p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另取一份溶液滴定</a:t>
            </a:r>
            <a:r>
              <a:rPr lang="en-US" altLang="zh-CN" sz="2500" b="1">
                <a:ea typeface="楷体_GB2312" pitchFamily="49" charset="-122"/>
              </a:rPr>
              <a:t>Cu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zh-CN" altLang="en-US" sz="2500" b="1">
                <a:ea typeface="楷体_GB2312" pitchFamily="49" charset="-122"/>
              </a:rPr>
              <a:t>、</a:t>
            </a:r>
            <a:r>
              <a:rPr lang="en-US" altLang="zh-CN" sz="2500" b="1">
                <a:ea typeface="楷体_GB2312" pitchFamily="49" charset="-122"/>
              </a:rPr>
              <a:t>Pb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zh-CN" altLang="en-US" sz="2500" b="1">
                <a:ea typeface="楷体_GB2312" pitchFamily="49" charset="-122"/>
              </a:rPr>
              <a:t>、</a:t>
            </a:r>
            <a:r>
              <a:rPr lang="en-US" altLang="zh-CN" sz="2500" b="1">
                <a:ea typeface="楷体_GB2312" pitchFamily="49" charset="-122"/>
              </a:rPr>
              <a:t>Zn</a:t>
            </a:r>
            <a:r>
              <a:rPr lang="en-US" altLang="zh-CN" sz="2500" b="1" baseline="30000">
                <a:ea typeface="楷体_GB2312" pitchFamily="49" charset="-122"/>
              </a:rPr>
              <a:t>2+</a:t>
            </a:r>
            <a:r>
              <a:rPr lang="zh-CN" altLang="en-US" sz="2500" b="1">
                <a:ea typeface="楷体_GB2312" pitchFamily="49" charset="-122"/>
              </a:rPr>
              <a:t>总量</a:t>
            </a:r>
            <a:r>
              <a:rPr lang="en-US" altLang="zh-CN" sz="2500" b="1">
                <a:ea typeface="楷体_GB2312" pitchFamily="49" charset="-122"/>
              </a:rPr>
              <a:t>.</a:t>
            </a:r>
            <a:endParaRPr lang="zh-CN" altLang="en-US" sz="2500" b="1">
              <a:ea typeface="楷体_GB2312" pitchFamily="49" charset="-122"/>
            </a:endParaRPr>
          </a:p>
        </p:txBody>
      </p:sp>
      <p:sp>
        <p:nvSpPr>
          <p:cNvPr id="17415" name="Rectangle 28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77837"/>
          </a:xfrm>
          <a:noFill/>
        </p:spPr>
        <p:txBody>
          <a:bodyPr/>
          <a:lstStyle/>
          <a:p>
            <a:r>
              <a:rPr lang="en-US" altLang="zh-CN" sz="2500" smtClean="0">
                <a:ea typeface="黑体" pitchFamily="49" charset="-122"/>
              </a:rPr>
              <a:t>6.3.3</a:t>
            </a:r>
            <a:r>
              <a:rPr lang="zh-CN" altLang="en-US" sz="2500" smtClean="0">
                <a:ea typeface="黑体" pitchFamily="49" charset="-122"/>
              </a:rPr>
              <a:t>提高高混合体系配位滴定选择性的方法</a:t>
            </a:r>
          </a:p>
        </p:txBody>
      </p:sp>
      <p:sp>
        <p:nvSpPr>
          <p:cNvPr id="17416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7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1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17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1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1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71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717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717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92" grpId="0" autoUpdateAnimBg="0"/>
      <p:bldP spid="71704" grpId="0" autoUpdateAnimBg="0"/>
      <p:bldP spid="71707" grpId="0" build="p" autoUpdateAnimBg="0"/>
      <p:bldP spid="71710" grpId="0" autoUpdateAnimBg="0"/>
      <p:bldP spid="71711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01" name="Rectangle 5"/>
          <p:cNvSpPr>
            <a:spLocks noChangeArrowheads="1"/>
          </p:cNvSpPr>
          <p:nvPr/>
        </p:nvSpPr>
        <p:spPr bwMode="auto">
          <a:xfrm>
            <a:off x="760413" y="1382715"/>
            <a:ext cx="7215202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500" b="1" dirty="0" smtClean="0">
                <a:solidFill>
                  <a:srgbClr val="FF0000"/>
                </a:solidFill>
                <a:ea typeface="楷体_GB2312" pitchFamily="49" charset="-122"/>
              </a:rPr>
              <a:t>⑴直接</a:t>
            </a:r>
            <a:r>
              <a:rPr lang="en-US" altLang="zh-CN" sz="2500" b="1" dirty="0" smtClean="0">
                <a:solidFill>
                  <a:srgbClr val="FF00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106509" name="Rectangle 13"/>
          <p:cNvSpPr>
            <a:spLocks noChangeArrowheads="1"/>
          </p:cNvSpPr>
          <p:nvPr/>
        </p:nvSpPr>
        <p:spPr bwMode="auto">
          <a:xfrm>
            <a:off x="831815" y="3922726"/>
            <a:ext cx="4757738" cy="1246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⑵返滴定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:</a:t>
            </a:r>
          </a:p>
          <a:p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情况</a:t>
            </a:r>
            <a:r>
              <a:rPr lang="zh-CN" altLang="en-US" sz="2500" b="1" dirty="0">
                <a:solidFill>
                  <a:schemeClr val="bg2"/>
                </a:solidFill>
                <a:ea typeface="楷体_GB2312" pitchFamily="49" charset="-122"/>
              </a:rPr>
              <a:t>②</a:t>
            </a:r>
            <a:r>
              <a:rPr lang="zh-CN" altLang="en-US" sz="2500" b="1" dirty="0">
                <a:ea typeface="楷体_GB2312" pitchFamily="49" charset="-122"/>
              </a:rPr>
              <a:t>、</a:t>
            </a:r>
            <a:r>
              <a:rPr lang="zh-CN" altLang="en-US" sz="2500" b="1" dirty="0">
                <a:solidFill>
                  <a:schemeClr val="bg2"/>
                </a:solidFill>
                <a:ea typeface="楷体_GB2312" pitchFamily="49" charset="-122"/>
              </a:rPr>
              <a:t>③可采用</a:t>
            </a:r>
            <a:r>
              <a:rPr lang="en-US" altLang="zh-CN" sz="2500" b="1" dirty="0">
                <a:solidFill>
                  <a:schemeClr val="bg2"/>
                </a:solidFill>
                <a:ea typeface="楷体_GB2312" pitchFamily="49" charset="-122"/>
              </a:rPr>
              <a:t>.</a:t>
            </a:r>
          </a:p>
          <a:p>
            <a:r>
              <a:rPr lang="zh-CN" altLang="en-US" sz="2500" b="1" dirty="0">
                <a:ea typeface="楷体_GB2312" pitchFamily="49" charset="-122"/>
              </a:rPr>
              <a:t>如</a:t>
            </a:r>
            <a:r>
              <a:rPr lang="en-US" altLang="zh-CN" sz="2500" b="1" dirty="0">
                <a:ea typeface="楷体_GB2312" pitchFamily="49" charset="-122"/>
              </a:rPr>
              <a:t>Al</a:t>
            </a:r>
            <a:r>
              <a:rPr lang="en-US" altLang="zh-CN" sz="2500" b="1" baseline="30000" dirty="0">
                <a:ea typeface="楷体_GB2312" pitchFamily="49" charset="-122"/>
              </a:rPr>
              <a:t>3+</a:t>
            </a:r>
            <a:r>
              <a:rPr lang="zh-CN" altLang="en-US" sz="2500" b="1" dirty="0">
                <a:ea typeface="楷体_GB2312" pitchFamily="49" charset="-122"/>
              </a:rPr>
              <a:t>测定</a:t>
            </a:r>
            <a:r>
              <a:rPr lang="en-US" altLang="zh-CN" sz="2500" b="1" dirty="0">
                <a:ea typeface="楷体_GB2312" pitchFamily="49" charset="-122"/>
              </a:rPr>
              <a:t>(</a:t>
            </a:r>
            <a:r>
              <a:rPr lang="zh-CN" altLang="en-US" sz="2500" b="1" dirty="0">
                <a:ea typeface="楷体_GB2312" pitchFamily="49" charset="-122"/>
              </a:rPr>
              <a:t>已知</a:t>
            </a:r>
            <a:r>
              <a:rPr lang="en-US" altLang="zh-CN" sz="2500" b="1" dirty="0" err="1">
                <a:ea typeface="楷体_GB2312" pitchFamily="49" charset="-122"/>
              </a:rPr>
              <a:t>lg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100000" dirty="0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AlY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 = 16.11)</a:t>
            </a:r>
            <a:r>
              <a:rPr lang="en-US" altLang="zh-CN" sz="2500" b="1" dirty="0">
                <a:ea typeface="楷体_GB2312" pitchFamily="49" charset="-122"/>
              </a:rPr>
              <a:t> </a:t>
            </a:r>
            <a:endParaRPr lang="en-US" altLang="zh-CN" sz="2500" b="1" dirty="0">
              <a:solidFill>
                <a:schemeClr val="bg2"/>
              </a:solidFill>
              <a:ea typeface="楷体_GB2312" pitchFamily="49" charset="-122"/>
            </a:endParaRPr>
          </a:p>
        </p:txBody>
      </p:sp>
      <p:sp>
        <p:nvSpPr>
          <p:cNvPr id="18436" name="Rectangle 17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  <a:noFill/>
        </p:spPr>
        <p:txBody>
          <a:bodyPr/>
          <a:lstStyle/>
          <a:p>
            <a:pPr eaLnBrk="1" hangingPunct="1"/>
            <a:r>
              <a:rPr lang="en-US" altLang="zh-CN" smtClean="0">
                <a:ea typeface="黑体" pitchFamily="49" charset="-122"/>
              </a:rPr>
              <a:t>6.3.4</a:t>
            </a:r>
            <a:r>
              <a:rPr lang="zh-CN" altLang="en-US" smtClean="0">
                <a:ea typeface="黑体" pitchFamily="49" charset="-122"/>
              </a:rPr>
              <a:t>配位滴定方式及其应用</a:t>
            </a:r>
            <a:endParaRPr lang="zh-CN" altLang="en-US" sz="1200" smtClean="0">
              <a:solidFill>
                <a:srgbClr val="0000FF"/>
              </a:solidFill>
              <a:ea typeface="黑体" pitchFamily="49" charset="-122"/>
            </a:endParaRPr>
          </a:p>
        </p:txBody>
      </p:sp>
      <p:sp>
        <p:nvSpPr>
          <p:cNvPr id="18438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9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760377" y="1811327"/>
            <a:ext cx="8858312" cy="2173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 smtClean="0">
                <a:ea typeface="楷体_GB2312" pitchFamily="49" charset="-122"/>
              </a:rPr>
              <a:t>如</a:t>
            </a:r>
            <a:r>
              <a:rPr lang="en-US" altLang="zh-CN" sz="2500" b="1" dirty="0">
                <a:ea typeface="楷体_GB2312" pitchFamily="49" charset="-122"/>
              </a:rPr>
              <a:t>ZnO,CaCO</a:t>
            </a:r>
            <a:r>
              <a:rPr lang="en-US" altLang="zh-CN" sz="2500" b="1" baseline="-25000" dirty="0">
                <a:ea typeface="楷体_GB2312" pitchFamily="49" charset="-122"/>
              </a:rPr>
              <a:t>3</a:t>
            </a:r>
            <a:r>
              <a:rPr lang="zh-CN" altLang="en-US" sz="2500" b="1" dirty="0">
                <a:ea typeface="楷体_GB2312" pitchFamily="49" charset="-122"/>
              </a:rPr>
              <a:t>等测定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</a:rPr>
              <a:t>        </a:t>
            </a:r>
            <a:r>
              <a:rPr lang="zh-CN" altLang="en-US" sz="2500" b="1" dirty="0">
                <a:ea typeface="楷体_GB2312" pitchFamily="49" charset="-122"/>
              </a:rPr>
              <a:t>不宜用直接方式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chemeClr val="bg2"/>
                </a:solidFill>
                <a:ea typeface="楷体_GB2312" pitchFamily="49" charset="-122"/>
              </a:rPr>
              <a:t>                ①</a:t>
            </a:r>
            <a:r>
              <a:rPr lang="en-US" altLang="zh-CN" sz="2500" b="1" dirty="0">
                <a:ea typeface="楷体_GB2312" pitchFamily="49" charset="-122"/>
              </a:rPr>
              <a:t>M</a:t>
            </a:r>
            <a:r>
              <a:rPr lang="zh-CN" altLang="en-US" sz="2500" b="1" dirty="0">
                <a:ea typeface="楷体_GB2312" pitchFamily="49" charset="-122"/>
              </a:rPr>
              <a:t>不与</a:t>
            </a:r>
            <a:r>
              <a:rPr lang="en-US" altLang="zh-CN" sz="2500" b="1" dirty="0">
                <a:ea typeface="楷体_GB2312" pitchFamily="49" charset="-122"/>
              </a:rPr>
              <a:t>EDTA</a:t>
            </a:r>
            <a:r>
              <a:rPr lang="zh-CN" altLang="en-US" sz="2500" b="1" dirty="0">
                <a:ea typeface="楷体_GB2312" pitchFamily="49" charset="-122"/>
              </a:rPr>
              <a:t>形成</a:t>
            </a:r>
            <a:r>
              <a:rPr lang="en-US" altLang="zh-CN" sz="2500" b="1" dirty="0">
                <a:ea typeface="楷体_GB2312" pitchFamily="49" charset="-122"/>
              </a:rPr>
              <a:t>MY,</a:t>
            </a:r>
            <a:r>
              <a:rPr lang="zh-CN" altLang="en-US" sz="2500" b="1" dirty="0">
                <a:ea typeface="楷体_GB2312" pitchFamily="49" charset="-122"/>
              </a:rPr>
              <a:t>或不稳定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chemeClr val="bg2"/>
                </a:solidFill>
                <a:ea typeface="楷体_GB2312" pitchFamily="49" charset="-122"/>
              </a:rPr>
              <a:t>                ②</a:t>
            </a:r>
            <a:r>
              <a:rPr lang="zh-CN" altLang="en-US" sz="2500" b="1" dirty="0">
                <a:ea typeface="楷体_GB2312" pitchFamily="49" charset="-122"/>
              </a:rPr>
              <a:t>缺乏合适指示剂</a:t>
            </a:r>
            <a:r>
              <a:rPr lang="en-US" altLang="zh-CN" sz="2500" b="1" dirty="0">
                <a:ea typeface="楷体_GB2312" pitchFamily="49" charset="-122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chemeClr val="bg2"/>
                </a:solidFill>
                <a:ea typeface="楷体_GB2312" pitchFamily="49" charset="-122"/>
              </a:rPr>
              <a:t>                ③</a:t>
            </a:r>
            <a:r>
              <a:rPr lang="zh-CN" altLang="en-US" sz="2500" b="1" dirty="0">
                <a:ea typeface="楷体_GB2312" pitchFamily="49" charset="-122"/>
              </a:rPr>
              <a:t>反应速度慢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本身又易水解或封闭指示剂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760377" y="882633"/>
            <a:ext cx="2786082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</a:rPr>
              <a:t>1</a:t>
            </a:r>
            <a:r>
              <a:rPr lang="en-US" altLang="zh-CN" sz="2500" b="1" dirty="0" smtClean="0">
                <a:solidFill>
                  <a:srgbClr val="FF0000"/>
                </a:solidFill>
                <a:ea typeface="楷体_GB2312" pitchFamily="49" charset="-122"/>
              </a:rPr>
              <a:t>.</a:t>
            </a:r>
            <a:r>
              <a:rPr lang="zh-CN" altLang="en-US" sz="2500" b="1" dirty="0" smtClean="0">
                <a:solidFill>
                  <a:srgbClr val="FF0000"/>
                </a:solidFill>
                <a:ea typeface="楷体_GB2312" pitchFamily="49" charset="-122"/>
              </a:rPr>
              <a:t>滴定方式</a:t>
            </a:r>
            <a:r>
              <a:rPr lang="en-US" altLang="zh-CN" sz="2500" b="1" dirty="0" smtClean="0">
                <a:solidFill>
                  <a:srgbClr val="FF00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5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6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6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6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1" grpId="0" build="p" autoUpdateAnimBg="0"/>
      <p:bldP spid="106509" grpId="0" build="p" autoUpdateAnimBg="0"/>
      <p:bldP spid="8" grpId="0" build="p" autoUpdateAnimBg="0"/>
      <p:bldP spid="9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6" name="Rectangle 8"/>
          <p:cNvSpPr>
            <a:spLocks noChangeArrowheads="1"/>
          </p:cNvSpPr>
          <p:nvPr/>
        </p:nvSpPr>
        <p:spPr bwMode="auto">
          <a:xfrm>
            <a:off x="906463" y="882633"/>
            <a:ext cx="72104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>
                <a:ea typeface="楷体_GB2312" pitchFamily="49" charset="-122"/>
              </a:rPr>
              <a:t>                      Al</a:t>
            </a:r>
            <a:r>
              <a:rPr lang="zh-CN" altLang="en-US" sz="2500" b="1" baseline="30000">
                <a:ea typeface="楷体_GB2312" pitchFamily="49" charset="-122"/>
              </a:rPr>
              <a:t>３</a:t>
            </a:r>
            <a:r>
              <a:rPr lang="en-US" altLang="zh-CN" sz="2500" b="1" baseline="30000">
                <a:ea typeface="楷体_GB2312" pitchFamily="49" charset="-122"/>
              </a:rPr>
              <a:t>+ </a:t>
            </a:r>
            <a:r>
              <a:rPr lang="en-US" altLang="zh-CN" sz="2500" b="1">
                <a:ea typeface="楷体_GB2312" pitchFamily="49" charset="-122"/>
              </a:rPr>
              <a:t>+</a:t>
            </a:r>
            <a:r>
              <a:rPr lang="en-US" altLang="zh-CN" sz="2500" b="1" baseline="30000">
                <a:ea typeface="楷体_GB2312" pitchFamily="49" charset="-122"/>
              </a:rPr>
              <a:t> </a:t>
            </a:r>
            <a:r>
              <a:rPr lang="en-US" altLang="zh-CN" sz="2500" b="1">
                <a:ea typeface="楷体_GB2312" pitchFamily="49" charset="-122"/>
              </a:rPr>
              <a:t>Y</a:t>
            </a:r>
            <a:r>
              <a:rPr lang="en-US" altLang="zh-CN" sz="2500" b="1" baseline="30000">
                <a:ea typeface="楷体_GB2312" pitchFamily="49" charset="-122"/>
              </a:rPr>
              <a:t>4-</a:t>
            </a:r>
            <a:r>
              <a:rPr lang="en-US" altLang="zh-CN" sz="2500" b="1">
                <a:ea typeface="楷体_GB2312" pitchFamily="49" charset="-122"/>
              </a:rPr>
              <a:t>(</a:t>
            </a:r>
            <a:r>
              <a:rPr lang="zh-CN" altLang="en-US" sz="2500" b="1">
                <a:ea typeface="楷体_GB2312" pitchFamily="49" charset="-122"/>
              </a:rPr>
              <a:t>过量</a:t>
            </a:r>
            <a:r>
              <a:rPr lang="en-US" altLang="zh-CN" sz="2500" b="1">
                <a:ea typeface="楷体_GB2312" pitchFamily="49" charset="-122"/>
              </a:rPr>
              <a:t>)   ⇋   AlY</a:t>
            </a:r>
            <a:r>
              <a:rPr lang="en-US" altLang="zh-CN" sz="2500" b="1" baseline="30000">
                <a:ea typeface="楷体_GB2312" pitchFamily="49" charset="-122"/>
              </a:rPr>
              <a:t>-</a:t>
            </a:r>
            <a:r>
              <a:rPr lang="en-US" altLang="zh-CN" sz="2500" b="1">
                <a:ea typeface="楷体_GB2312" pitchFamily="49" charset="-122"/>
              </a:rPr>
              <a:t>                      </a:t>
            </a:r>
          </a:p>
        </p:txBody>
      </p:sp>
      <p:sp>
        <p:nvSpPr>
          <p:cNvPr id="19459" name="Rectangle 10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  <a:noFill/>
        </p:spPr>
        <p:txBody>
          <a:bodyPr/>
          <a:lstStyle/>
          <a:p>
            <a:pPr eaLnBrk="1" hangingPunct="1"/>
            <a:r>
              <a:rPr lang="en-US" altLang="zh-CN" smtClean="0">
                <a:ea typeface="黑体" pitchFamily="49" charset="-122"/>
              </a:rPr>
              <a:t>6.3.5</a:t>
            </a:r>
            <a:r>
              <a:rPr lang="zh-CN" altLang="en-US" smtClean="0">
                <a:ea typeface="黑体" pitchFamily="49" charset="-122"/>
              </a:rPr>
              <a:t>配位滴定方式及其应用</a:t>
            </a:r>
            <a:endParaRPr lang="zh-CN" altLang="en-US" sz="1200" b="0" smtClean="0">
              <a:solidFill>
                <a:srgbClr val="0000FF"/>
              </a:solidFill>
              <a:ea typeface="黑体" pitchFamily="49" charset="-122"/>
            </a:endParaRPr>
          </a:p>
        </p:txBody>
      </p:sp>
      <p:sp>
        <p:nvSpPr>
          <p:cNvPr id="124941" name="Rectangle 13"/>
          <p:cNvSpPr>
            <a:spLocks noChangeArrowheads="1"/>
          </p:cNvSpPr>
          <p:nvPr/>
        </p:nvSpPr>
        <p:spPr bwMode="auto">
          <a:xfrm>
            <a:off x="906463" y="1322370"/>
            <a:ext cx="8069262" cy="317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latin typeface="+mn-lt"/>
                <a:ea typeface="楷体_GB2312" pitchFamily="49" charset="-122"/>
              </a:rPr>
              <a:t>                      Zn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2+ 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+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 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Y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4-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(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剩余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)   ⇋   ZnY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2-</a:t>
            </a:r>
            <a:endParaRPr lang="en-US" altLang="zh-CN" sz="2500" b="1" dirty="0">
              <a:latin typeface="+mn-lt"/>
              <a:ea typeface="楷体_GB2312" pitchFamily="49" charset="-122"/>
            </a:endParaRPr>
          </a:p>
          <a:p>
            <a:r>
              <a:rPr lang="zh-CN" altLang="en-US" sz="2500" b="1" dirty="0" smtClean="0">
                <a:solidFill>
                  <a:srgbClr val="FF3300"/>
                </a:solidFill>
                <a:latin typeface="+mn-lt"/>
                <a:ea typeface="楷体_GB2312" pitchFamily="49" charset="-122"/>
              </a:rPr>
              <a:t>⑶间接</a:t>
            </a:r>
            <a:r>
              <a:rPr lang="en-US" altLang="zh-CN" sz="2500" b="1" dirty="0">
                <a:solidFill>
                  <a:srgbClr val="FF3300"/>
                </a:solidFill>
                <a:latin typeface="+mn-lt"/>
                <a:ea typeface="楷体_GB2312" pitchFamily="49" charset="-122"/>
              </a:rPr>
              <a:t>:</a:t>
            </a:r>
          </a:p>
          <a:p>
            <a:r>
              <a:rPr lang="en-US" altLang="zh-CN" sz="2500" b="1" dirty="0">
                <a:latin typeface="+mn-lt"/>
                <a:ea typeface="楷体_GB2312" pitchFamily="49" charset="-122"/>
              </a:rPr>
              <a:t>        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情况</a:t>
            </a:r>
            <a:r>
              <a:rPr lang="zh-CN" altLang="en-US" sz="2500" b="1" dirty="0">
                <a:solidFill>
                  <a:schemeClr val="bg2"/>
                </a:solidFill>
                <a:latin typeface="+mn-lt"/>
                <a:ea typeface="楷体_GB2312" pitchFamily="49" charset="-122"/>
              </a:rPr>
              <a:t>①可采用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.</a:t>
            </a:r>
          </a:p>
          <a:p>
            <a:r>
              <a:rPr lang="zh-CN" altLang="en-US" sz="2500" b="1" dirty="0">
                <a:latin typeface="+mn-lt"/>
                <a:ea typeface="楷体_GB2312" pitchFamily="49" charset="-122"/>
              </a:rPr>
              <a:t>如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PO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4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3-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测定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:</a:t>
            </a:r>
          </a:p>
          <a:p>
            <a:r>
              <a:rPr lang="en-US" altLang="zh-CN" sz="2500" b="1" dirty="0">
                <a:latin typeface="+mn-lt"/>
                <a:ea typeface="楷体_GB2312" pitchFamily="49" charset="-122"/>
              </a:rPr>
              <a:t>                     Bi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3+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(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过量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) + PO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4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3-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   ⇋   BiPO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</a:rPr>
              <a:t>4</a:t>
            </a:r>
          </a:p>
          <a:p>
            <a:r>
              <a:rPr lang="en-US" altLang="zh-CN" sz="2500" b="1" dirty="0">
                <a:latin typeface="+mn-lt"/>
                <a:ea typeface="楷体_GB2312" pitchFamily="49" charset="-122"/>
              </a:rPr>
              <a:t>                     Bi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3+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(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剩余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) + Y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4-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   ⇋   </a:t>
            </a:r>
            <a:r>
              <a:rPr lang="en-US" altLang="zh-CN" sz="2500" b="1" dirty="0" err="1">
                <a:latin typeface="+mn-lt"/>
                <a:ea typeface="楷体_GB2312" pitchFamily="49" charset="-122"/>
              </a:rPr>
              <a:t>BiY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</a:t>
            </a:r>
          </a:p>
          <a:p>
            <a:r>
              <a:rPr lang="zh-CN" altLang="en-US" sz="2500" b="1" dirty="0" smtClean="0">
                <a:solidFill>
                  <a:srgbClr val="FF3300"/>
                </a:solidFill>
                <a:latin typeface="+mn-lt"/>
                <a:ea typeface="楷体_GB2312" pitchFamily="49" charset="-122"/>
              </a:rPr>
              <a:t>⑷置换</a:t>
            </a:r>
            <a:r>
              <a:rPr lang="en-US" altLang="zh-CN" sz="2500" b="1" dirty="0">
                <a:solidFill>
                  <a:srgbClr val="FF3300"/>
                </a:solidFill>
                <a:latin typeface="+mn-lt"/>
                <a:ea typeface="楷体_GB2312" pitchFamily="49" charset="-122"/>
              </a:rPr>
              <a:t>(</a:t>
            </a:r>
            <a:r>
              <a:rPr lang="en-US" altLang="zh-CN" sz="2500" b="1" dirty="0">
                <a:solidFill>
                  <a:srgbClr val="0000FF"/>
                </a:solidFill>
                <a:latin typeface="+mn-lt"/>
                <a:ea typeface="楷体_GB2312" pitchFamily="49" charset="-122"/>
              </a:rPr>
              <a:t>replacement titration</a:t>
            </a:r>
            <a:r>
              <a:rPr lang="en-US" altLang="zh-CN" sz="2500" b="1" dirty="0">
                <a:solidFill>
                  <a:srgbClr val="FF3300"/>
                </a:solidFill>
                <a:latin typeface="+mn-lt"/>
                <a:ea typeface="楷体_GB2312" pitchFamily="49" charset="-122"/>
              </a:rPr>
              <a:t>):</a:t>
            </a:r>
          </a:p>
          <a:p>
            <a:r>
              <a:rPr lang="en-US" altLang="zh-CN" sz="2500" b="1" dirty="0">
                <a:latin typeface="+mn-lt"/>
                <a:ea typeface="楷体_GB2312" pitchFamily="49" charset="-122"/>
              </a:rPr>
              <a:t>        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情况</a:t>
            </a:r>
            <a:r>
              <a:rPr lang="zh-CN" altLang="en-US" sz="2500" b="1" dirty="0">
                <a:solidFill>
                  <a:schemeClr val="bg2"/>
                </a:solidFill>
                <a:latin typeface="+mn-lt"/>
                <a:ea typeface="楷体_GB2312" pitchFamily="49" charset="-122"/>
              </a:rPr>
              <a:t>②可采用</a:t>
            </a:r>
            <a:r>
              <a:rPr lang="en-US" altLang="zh-CN" sz="2500" b="1" dirty="0">
                <a:solidFill>
                  <a:schemeClr val="bg2"/>
                </a:solidFill>
                <a:latin typeface="+mn-lt"/>
                <a:ea typeface="楷体_GB2312" pitchFamily="49" charset="-122"/>
              </a:rPr>
              <a:t>.</a:t>
            </a:r>
          </a:p>
        </p:txBody>
      </p:sp>
      <p:sp>
        <p:nvSpPr>
          <p:cNvPr id="124942" name="Rectangle 14"/>
          <p:cNvSpPr>
            <a:spLocks noChangeArrowheads="1"/>
          </p:cNvSpPr>
          <p:nvPr/>
        </p:nvSpPr>
        <p:spPr bwMode="auto">
          <a:xfrm>
            <a:off x="1189038" y="4459270"/>
            <a:ext cx="8212137" cy="907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ea typeface="楷体_GB2312" pitchFamily="49" charset="-122"/>
              </a:rPr>
              <a:t>如</a:t>
            </a:r>
            <a:r>
              <a:rPr lang="en-US" altLang="zh-CN" sz="2500" b="1" dirty="0">
                <a:ea typeface="楷体_GB2312" pitchFamily="49" charset="-122"/>
              </a:rPr>
              <a:t>Ba</a:t>
            </a:r>
            <a:r>
              <a:rPr lang="en-US" altLang="zh-CN" sz="2500" b="1" baseline="30000" dirty="0">
                <a:ea typeface="楷体_GB2312" pitchFamily="49" charset="-122"/>
              </a:rPr>
              <a:t>2+</a:t>
            </a:r>
            <a:r>
              <a:rPr lang="zh-CN" altLang="en-US" sz="2500" b="1" dirty="0">
                <a:ea typeface="楷体_GB2312" pitchFamily="49" charset="-122"/>
              </a:rPr>
              <a:t>测定</a:t>
            </a:r>
            <a:r>
              <a:rPr lang="en-US" altLang="zh-CN" sz="2500" b="1" dirty="0">
                <a:ea typeface="楷体_GB2312" pitchFamily="49" charset="-122"/>
              </a:rPr>
              <a:t>(</a:t>
            </a:r>
            <a:r>
              <a:rPr lang="zh-CN" altLang="en-US" sz="2500" b="1" dirty="0">
                <a:ea typeface="楷体_GB2312" pitchFamily="49" charset="-122"/>
              </a:rPr>
              <a:t>已知</a:t>
            </a:r>
            <a:r>
              <a:rPr lang="en-US" altLang="zh-CN" sz="2500" b="1" dirty="0" err="1">
                <a:ea typeface="楷体_GB2312" pitchFamily="49" charset="-122"/>
              </a:rPr>
              <a:t>lg</a:t>
            </a:r>
            <a:r>
              <a:rPr lang="en-US" altLang="zh-CN" sz="2500" b="1" i="1" dirty="0" err="1"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100000" dirty="0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baseline="-25000" dirty="0" err="1">
                <a:ea typeface="楷体_GB2312" pitchFamily="49" charset="-122"/>
                <a:sym typeface="Webdings" pitchFamily="18" charset="2"/>
              </a:rPr>
              <a:t>BaY</a:t>
            </a:r>
            <a:r>
              <a:rPr lang="en-US" altLang="zh-CN" sz="2500" b="1" baseline="-25000" dirty="0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dirty="0">
                <a:ea typeface="楷体_GB2312" pitchFamily="49" charset="-122"/>
                <a:sym typeface="Webdings" pitchFamily="18" charset="2"/>
              </a:rPr>
              <a:t>= 7.78)</a:t>
            </a:r>
            <a:r>
              <a:rPr lang="en-US" altLang="zh-CN" sz="2500" b="1" dirty="0">
                <a:ea typeface="楷体_GB2312" pitchFamily="49" charset="-122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ea typeface="楷体_GB2312" pitchFamily="49" charset="-122"/>
              </a:rPr>
              <a:t>                Ba</a:t>
            </a:r>
            <a:r>
              <a:rPr lang="en-US" altLang="zh-CN" sz="2500" b="1" baseline="30000" dirty="0">
                <a:ea typeface="楷体_GB2312" pitchFamily="49" charset="-122"/>
              </a:rPr>
              <a:t>2+ </a:t>
            </a:r>
            <a:r>
              <a:rPr lang="en-US" altLang="zh-CN" sz="2500" b="1" dirty="0">
                <a:ea typeface="楷体_GB2312" pitchFamily="49" charset="-122"/>
              </a:rPr>
              <a:t>+ MgY</a:t>
            </a:r>
            <a:r>
              <a:rPr lang="en-US" altLang="zh-CN" sz="2500" b="1" baseline="30000" dirty="0">
                <a:ea typeface="楷体_GB2312" pitchFamily="49" charset="-122"/>
              </a:rPr>
              <a:t>2-   </a:t>
            </a:r>
            <a:r>
              <a:rPr lang="en-US" altLang="zh-CN" sz="2500" b="1" dirty="0">
                <a:ea typeface="楷体_GB2312" pitchFamily="49" charset="-122"/>
              </a:rPr>
              <a:t>⇋   BaY</a:t>
            </a:r>
            <a:r>
              <a:rPr lang="en-US" altLang="zh-CN" sz="2500" b="1" baseline="30000" dirty="0">
                <a:ea typeface="楷体_GB2312" pitchFamily="49" charset="-122"/>
              </a:rPr>
              <a:t>2- </a:t>
            </a:r>
            <a:r>
              <a:rPr lang="en-US" altLang="zh-CN" sz="2500" b="1" dirty="0">
                <a:ea typeface="楷体_GB2312" pitchFamily="49" charset="-122"/>
              </a:rPr>
              <a:t>+ Mg</a:t>
            </a:r>
            <a:r>
              <a:rPr lang="en-US" altLang="zh-CN" sz="2500" b="1" baseline="30000" dirty="0">
                <a:ea typeface="楷体_GB2312" pitchFamily="49" charset="-122"/>
              </a:rPr>
              <a:t>2+</a:t>
            </a:r>
          </a:p>
        </p:txBody>
      </p:sp>
      <p:sp>
        <p:nvSpPr>
          <p:cNvPr id="19462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3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26088"/>
            <a:ext cx="360363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9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49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49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49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49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49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49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49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49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124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1249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6" grpId="0" build="p" autoUpdateAnimBg="0"/>
      <p:bldP spid="124941" grpId="0" build="p" autoUpdateAnimBg="0"/>
      <p:bldP spid="124942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55" name="Rectangle 27"/>
          <p:cNvSpPr>
            <a:spLocks noChangeArrowheads="1"/>
          </p:cNvSpPr>
          <p:nvPr/>
        </p:nvSpPr>
        <p:spPr bwMode="auto">
          <a:xfrm>
            <a:off x="906463" y="954071"/>
            <a:ext cx="619601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ea typeface="楷体_GB2312" pitchFamily="49" charset="-122"/>
              </a:rPr>
              <a:t>                      Mg</a:t>
            </a:r>
            <a:r>
              <a:rPr lang="en-US" altLang="zh-CN" sz="2500" b="1" baseline="30000" dirty="0">
                <a:ea typeface="楷体_GB2312" pitchFamily="49" charset="-122"/>
              </a:rPr>
              <a:t>2+ </a:t>
            </a:r>
            <a:r>
              <a:rPr lang="en-US" altLang="zh-CN" sz="2500" b="1" dirty="0">
                <a:ea typeface="楷体_GB2312" pitchFamily="49" charset="-122"/>
              </a:rPr>
              <a:t>+</a:t>
            </a:r>
            <a:r>
              <a:rPr lang="en-US" altLang="zh-CN" sz="2500" b="1" baseline="30000" dirty="0">
                <a:ea typeface="楷体_GB2312" pitchFamily="49" charset="-122"/>
              </a:rPr>
              <a:t> </a:t>
            </a:r>
            <a:r>
              <a:rPr lang="en-US" altLang="zh-CN" sz="2500" b="1" dirty="0">
                <a:ea typeface="楷体_GB2312" pitchFamily="49" charset="-122"/>
              </a:rPr>
              <a:t>Y</a:t>
            </a:r>
            <a:r>
              <a:rPr lang="en-US" altLang="zh-CN" sz="2500" b="1" baseline="30000" dirty="0">
                <a:ea typeface="楷体_GB2312" pitchFamily="49" charset="-122"/>
              </a:rPr>
              <a:t>4-</a:t>
            </a:r>
            <a:r>
              <a:rPr lang="en-US" altLang="zh-CN" sz="2500" b="1" dirty="0">
                <a:ea typeface="楷体_GB2312" pitchFamily="49" charset="-122"/>
              </a:rPr>
              <a:t>   ⇋   MgY</a:t>
            </a:r>
            <a:r>
              <a:rPr lang="en-US" altLang="zh-CN" sz="2500" b="1" baseline="30000" dirty="0">
                <a:ea typeface="楷体_GB2312" pitchFamily="49" charset="-122"/>
              </a:rPr>
              <a:t>2-</a:t>
            </a:r>
            <a:r>
              <a:rPr lang="en-US" altLang="zh-CN" sz="2500" b="1" dirty="0">
                <a:ea typeface="楷体_GB2312" pitchFamily="49" charset="-122"/>
              </a:rPr>
              <a:t>                </a:t>
            </a:r>
          </a:p>
        </p:txBody>
      </p:sp>
      <p:sp>
        <p:nvSpPr>
          <p:cNvPr id="20483" name="Rectangle 33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  <a:noFill/>
        </p:spPr>
        <p:txBody>
          <a:bodyPr/>
          <a:lstStyle/>
          <a:p>
            <a:pPr eaLnBrk="1" hangingPunct="1"/>
            <a:r>
              <a:rPr lang="en-US" altLang="zh-CN" smtClean="0">
                <a:ea typeface="黑体" pitchFamily="49" charset="-122"/>
              </a:rPr>
              <a:t>6.3.5</a:t>
            </a:r>
            <a:r>
              <a:rPr lang="zh-CN" altLang="en-US" smtClean="0">
                <a:ea typeface="黑体" pitchFamily="49" charset="-122"/>
              </a:rPr>
              <a:t>配位滴定方式及其应用</a:t>
            </a:r>
          </a:p>
        </p:txBody>
      </p:sp>
      <p:sp>
        <p:nvSpPr>
          <p:cNvPr id="73765" name="Rectangle 37"/>
          <p:cNvSpPr>
            <a:spLocks noChangeArrowheads="1"/>
          </p:cNvSpPr>
          <p:nvPr/>
        </p:nvSpPr>
        <p:spPr bwMode="auto">
          <a:xfrm>
            <a:off x="906463" y="1460500"/>
            <a:ext cx="10207625" cy="971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尽管</a:t>
            </a:r>
            <a:r>
              <a:rPr lang="en-US" altLang="zh-CN" sz="2500" b="1">
                <a:ea typeface="楷体_GB2312" pitchFamily="49" charset="-122"/>
              </a:rPr>
              <a:t>:lg</a:t>
            </a:r>
            <a:r>
              <a:rPr lang="en-US" altLang="zh-CN" sz="2500" b="1" i="1">
                <a:ea typeface="楷体_GB2312" pitchFamily="49" charset="-122"/>
              </a:rPr>
              <a:t>K</a:t>
            </a:r>
            <a:r>
              <a:rPr lang="en-US" altLang="zh-CN" sz="1600" b="1" baseline="100000"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MgY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= 8.64</a:t>
            </a:r>
          </a:p>
          <a:p>
            <a:pPr>
              <a:lnSpc>
                <a:spcPct val="120000"/>
              </a:lnSpc>
            </a:pPr>
            <a:r>
              <a:rPr lang="en-US" altLang="zh-CN" sz="2500" b="1">
                <a:ea typeface="楷体_GB2312" pitchFamily="49" charset="-122"/>
              </a:rPr>
              <a:t>        </a:t>
            </a:r>
            <a:r>
              <a:rPr lang="zh-CN" altLang="en-US" sz="2500" b="1">
                <a:ea typeface="楷体_GB2312" pitchFamily="49" charset="-122"/>
              </a:rPr>
              <a:t>但</a:t>
            </a:r>
            <a:r>
              <a:rPr lang="en-US" altLang="zh-CN" sz="2500" b="1">
                <a:ea typeface="楷体_GB2312" pitchFamily="49" charset="-122"/>
              </a:rPr>
              <a:t>:lg</a:t>
            </a:r>
            <a:r>
              <a:rPr lang="en-US" altLang="zh-CN" sz="2500" b="1" i="1">
                <a:ea typeface="楷体_GB2312" pitchFamily="49" charset="-122"/>
                <a:sym typeface="Symbol" pitchFamily="18" charset="2"/>
              </a:rPr>
              <a:t></a:t>
            </a:r>
            <a:r>
              <a:rPr lang="en-US" altLang="zh-CN" sz="2500" b="1" i="1">
                <a:ea typeface="楷体_GB2312" pitchFamily="49" charset="-122"/>
                <a:sym typeface="Webdings" pitchFamily="18" charset="2"/>
              </a:rPr>
              <a:t> </a:t>
            </a:r>
            <a:r>
              <a:rPr lang="en-US" altLang="zh-CN" sz="2500" b="1" baseline="-25000">
                <a:ea typeface="楷体_GB2312" pitchFamily="49" charset="-122"/>
                <a:sym typeface="Webdings" pitchFamily="18" charset="2"/>
              </a:rPr>
              <a:t>Mg(OH)</a:t>
            </a:r>
            <a:r>
              <a:rPr lang="en-US" altLang="zh-CN" sz="2500" b="1" baseline="-40000">
                <a:ea typeface="楷体_GB2312" pitchFamily="49" charset="-122"/>
                <a:sym typeface="Webdings" pitchFamily="18" charset="2"/>
              </a:rPr>
              <a:t>n</a:t>
            </a:r>
            <a:r>
              <a:rPr lang="en-US" altLang="zh-CN" sz="2500" b="1" baseline="2000">
                <a:ea typeface="楷体_GB2312" pitchFamily="49" charset="-122"/>
                <a:sym typeface="Webdings" pitchFamily="18" charset="2"/>
              </a:rPr>
              <a:t>2-n </a:t>
            </a:r>
            <a:r>
              <a:rPr lang="en-US" altLang="zh-CN" sz="2500" b="1">
                <a:ea typeface="楷体_GB2312" pitchFamily="49" charset="-122"/>
                <a:sym typeface="Webdings" pitchFamily="18" charset="2"/>
              </a:rPr>
              <a:t> = 2.6</a:t>
            </a:r>
          </a:p>
        </p:txBody>
      </p:sp>
      <p:sp>
        <p:nvSpPr>
          <p:cNvPr id="73767" name="Rectangle 39"/>
          <p:cNvSpPr>
            <a:spLocks noChangeArrowheads="1"/>
          </p:cNvSpPr>
          <p:nvPr/>
        </p:nvSpPr>
        <p:spPr bwMode="auto">
          <a:xfrm>
            <a:off x="831821" y="4119572"/>
            <a:ext cx="8572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 smtClean="0">
                <a:ea typeface="楷体_GB2312" pitchFamily="49" charset="-122"/>
                <a:hlinkClick r:id="rId2" action="ppaction://hlinkpres?slideindex=3&amp;slidetitle=幻灯片 3"/>
              </a:rPr>
              <a:t>解</a:t>
            </a:r>
            <a:r>
              <a:rPr lang="en-US" altLang="zh-CN" sz="2500" b="1" dirty="0" smtClean="0"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20487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80000"/>
            <a:ext cx="360363" cy="360362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12"/>
          <p:cNvSpPr>
            <a:spLocks noChangeArrowheads="1"/>
          </p:cNvSpPr>
          <p:nvPr/>
        </p:nvSpPr>
        <p:spPr bwMode="auto">
          <a:xfrm>
            <a:off x="760377" y="2922286"/>
            <a:ext cx="10715700" cy="124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例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3.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称取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0.500g 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煤试样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灼烧并使其中硫完全氧化为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SO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cs typeface="楷体_GB2312" pitchFamily="49" charset="-122"/>
              </a:rPr>
              <a:t>4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cs typeface="楷体_GB2312" pitchFamily="49" charset="-122"/>
              </a:rPr>
              <a:t>2-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.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处理成溶液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除去重金属离子后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加入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0.0500 mol·L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cs typeface="楷体_GB2312" pitchFamily="49" charset="-122"/>
              </a:rPr>
              <a:t>-1 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BaCl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cs typeface="楷体_GB2312" pitchFamily="49" charset="-122"/>
              </a:rPr>
              <a:t>2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溶液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20.00mL,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使之生成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BaSO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cs typeface="楷体_GB2312" pitchFamily="49" charset="-122"/>
              </a:rPr>
              <a:t>4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沉淀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.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过量的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Ba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cs typeface="楷体_GB2312" pitchFamily="49" charset="-122"/>
              </a:rPr>
              <a:t>2+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用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0.0250 mol·L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cs typeface="楷体_GB2312" pitchFamily="49" charset="-122"/>
              </a:rPr>
              <a:t>-1 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EDTA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溶液滴定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用去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20.00mL.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计算煤的含硫量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.</a:t>
            </a:r>
          </a:p>
        </p:txBody>
      </p:sp>
      <p:sp>
        <p:nvSpPr>
          <p:cNvPr id="11" name="Rectangle 38"/>
          <p:cNvSpPr>
            <a:spLocks noChangeArrowheads="1"/>
          </p:cNvSpPr>
          <p:nvPr/>
        </p:nvSpPr>
        <p:spPr bwMode="auto">
          <a:xfrm>
            <a:off x="831815" y="2477281"/>
            <a:ext cx="1821332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latin typeface="+mn-lt"/>
                <a:ea typeface="楷体_GB2312" pitchFamily="49" charset="-122"/>
              </a:rPr>
              <a:t>2.</a:t>
            </a:r>
            <a:r>
              <a:rPr lang="zh-CN" altLang="en-US" sz="2500" b="1" dirty="0">
                <a:solidFill>
                  <a:srgbClr val="FF3300"/>
                </a:solidFill>
                <a:latin typeface="+mn-lt"/>
                <a:ea typeface="楷体_GB2312" pitchFamily="49" charset="-122"/>
              </a:rPr>
              <a:t>结果计算</a:t>
            </a:r>
            <a:r>
              <a:rPr lang="en-US" altLang="zh-CN" sz="2500" b="1" dirty="0">
                <a:solidFill>
                  <a:srgbClr val="FF3300"/>
                </a:solidFill>
                <a:latin typeface="+mn-lt"/>
                <a:ea typeface="楷体_GB2312" pitchFamily="49" charset="-122"/>
              </a:rPr>
              <a:t>:</a:t>
            </a:r>
          </a:p>
        </p:txBody>
      </p:sp>
      <p:sp>
        <p:nvSpPr>
          <p:cNvPr id="12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3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3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737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3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55" grpId="0" build="p" autoUpdateAnimBg="0"/>
      <p:bldP spid="73765" grpId="0" build="p" autoUpdateAnimBg="0"/>
      <p:bldP spid="73767" grpId="0" autoUpdateAnimBg="0"/>
      <p:bldP spid="10" grpId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3"/>
          <p:cNvSpPr>
            <a:spLocks noGrp="1" noChangeArrowheads="1"/>
          </p:cNvSpPr>
          <p:nvPr>
            <p:ph type="title"/>
          </p:nvPr>
        </p:nvSpPr>
        <p:spPr>
          <a:xfrm>
            <a:off x="576263" y="258763"/>
            <a:ext cx="10369550" cy="431800"/>
          </a:xfrm>
          <a:noFill/>
        </p:spPr>
        <p:txBody>
          <a:bodyPr/>
          <a:lstStyle/>
          <a:p>
            <a:pPr eaLnBrk="1" hangingPunct="1"/>
            <a:r>
              <a:rPr lang="en-US" altLang="zh-CN" smtClean="0">
                <a:ea typeface="黑体" pitchFamily="49" charset="-122"/>
              </a:rPr>
              <a:t>6.3.5</a:t>
            </a:r>
            <a:r>
              <a:rPr lang="zh-CN" altLang="en-US" smtClean="0">
                <a:ea typeface="黑体" pitchFamily="49" charset="-122"/>
              </a:rPr>
              <a:t>配位滴定方式及其应用</a:t>
            </a:r>
          </a:p>
        </p:txBody>
      </p:sp>
      <p:sp>
        <p:nvSpPr>
          <p:cNvPr id="73767" name="Rectangle 39"/>
          <p:cNvSpPr>
            <a:spLocks noChangeArrowheads="1"/>
          </p:cNvSpPr>
          <p:nvPr/>
        </p:nvSpPr>
        <p:spPr bwMode="auto">
          <a:xfrm>
            <a:off x="760383" y="3668715"/>
            <a:ext cx="8572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 smtClean="0">
                <a:ea typeface="楷体_GB2312" pitchFamily="49" charset="-122"/>
                <a:hlinkClick r:id="rId3" action="ppaction://hlinkpres?slideindex=4&amp;slidetitle=幻灯片 4"/>
              </a:rPr>
              <a:t>解</a:t>
            </a:r>
            <a:r>
              <a:rPr lang="en-US" altLang="zh-CN" sz="2500" b="1" dirty="0" smtClean="0"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20487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80000"/>
            <a:ext cx="360363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椭圆 62544" descr="图片1">
            <a:hlinkClick r:id="rId5" action="ppaction://hlinkpres?slideindex=1&amp;slidetitle="/>
          </p:cNvPr>
          <p:cNvSpPr>
            <a:spLocks noChangeAspect="1" noChangeArrowheads="1"/>
          </p:cNvSpPr>
          <p:nvPr/>
        </p:nvSpPr>
        <p:spPr bwMode="auto">
          <a:xfrm>
            <a:off x="11155363" y="5580000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200" b="1" dirty="0" smtClean="0">
                <a:solidFill>
                  <a:srgbClr val="000000"/>
                </a:solidFill>
                <a:ea typeface="楷体_GB2312" pitchFamily="49" charset="-122"/>
              </a:rPr>
              <a:t>下章</a:t>
            </a:r>
            <a:endParaRPr lang="zh-CN" altLang="en-US" sz="12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688979" y="883337"/>
            <a:ext cx="10429908" cy="2785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例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4.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称取苯巴比妥钠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(C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cs typeface="楷体_GB2312" pitchFamily="49" charset="-122"/>
              </a:rPr>
              <a:t>12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H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cs typeface="楷体_GB2312" pitchFamily="49" charset="-122"/>
              </a:rPr>
              <a:t>11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N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cs typeface="楷体_GB2312" pitchFamily="49" charset="-12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cs typeface="楷体_GB2312" pitchFamily="49" charset="-122"/>
              </a:rPr>
              <a:t>3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Na)0.2000g,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于稀碱溶液中加热溶解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以醋酸酸化后转入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250mL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容量瓶中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加入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25.00mL 0.03000 mol·L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cs typeface="楷体_GB2312" pitchFamily="49" charset="-122"/>
              </a:rPr>
              <a:t>-1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Hg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cs typeface="楷体_GB2312" pitchFamily="49" charset="-122"/>
              </a:rPr>
              <a:t>2+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溶液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稀至刻度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.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放置使下述反应完全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:</a:t>
            </a:r>
          </a:p>
          <a:p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Hg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cs typeface="楷体_GB2312" pitchFamily="49" charset="-122"/>
              </a:rPr>
              <a:t>2+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 + 2C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cs typeface="楷体_GB2312" pitchFamily="49" charset="-122"/>
              </a:rPr>
              <a:t>12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H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cs typeface="楷体_GB2312" pitchFamily="49" charset="-122"/>
              </a:rPr>
              <a:t>11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N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cs typeface="楷体_GB2312" pitchFamily="49" charset="-12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cs typeface="楷体_GB2312" pitchFamily="49" charset="-122"/>
              </a:rPr>
              <a:t>3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cs typeface="楷体_GB2312" pitchFamily="49" charset="-122"/>
              </a:rPr>
              <a:t>-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 = Hg(C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cs typeface="楷体_GB2312" pitchFamily="49" charset="-122"/>
              </a:rPr>
              <a:t>12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H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cs typeface="楷体_GB2312" pitchFamily="49" charset="-122"/>
              </a:rPr>
              <a:t>11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N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cs typeface="楷体_GB2312" pitchFamily="49" charset="-12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O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cs typeface="楷体_GB2312" pitchFamily="49" charset="-122"/>
              </a:rPr>
              <a:t>3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)</a:t>
            </a:r>
            <a:r>
              <a:rPr lang="en-US" altLang="zh-CN" sz="2500" b="1" baseline="-25000" dirty="0">
                <a:latin typeface="+mn-lt"/>
                <a:ea typeface="楷体_GB2312" pitchFamily="49" charset="-122"/>
                <a:cs typeface="楷体_GB2312" pitchFamily="49" charset="-122"/>
              </a:rPr>
              <a:t>2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↓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，过滤弃去沉淀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滤液用干烧杯承接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移取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25.00 </a:t>
            </a:r>
            <a:r>
              <a:rPr lang="en-US" altLang="zh-CN" sz="2500" b="1" dirty="0" err="1">
                <a:latin typeface="+mn-lt"/>
                <a:ea typeface="楷体_GB2312" pitchFamily="49" charset="-122"/>
                <a:cs typeface="楷体_GB2312" pitchFamily="49" charset="-122"/>
              </a:rPr>
              <a:t>mL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滤液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加入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10mL0.01 mol·L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cs typeface="楷体_GB2312" pitchFamily="49" charset="-122"/>
              </a:rPr>
              <a:t>-1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MgY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cs typeface="楷体_GB2312" pitchFamily="49" charset="-122"/>
              </a:rPr>
              <a:t>2-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溶液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释放出的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Mg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cs typeface="楷体_GB2312" pitchFamily="49" charset="-122"/>
              </a:rPr>
              <a:t>2+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在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pH = 10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时以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EBT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为指示剂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用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0.01000 mol·L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cs typeface="楷体_GB2312" pitchFamily="49" charset="-122"/>
              </a:rPr>
              <a:t>-1 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EDTA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滴至终点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耗去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3.60mL.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计算样品中苯巴比妥钠的质量分数 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(</a:t>
            </a:r>
            <a:r>
              <a:rPr lang="zh-CN" altLang="en-US" sz="2500" b="1" dirty="0">
                <a:latin typeface="+mn-lt"/>
                <a:ea typeface="楷体_GB2312" pitchFamily="49" charset="-122"/>
                <a:cs typeface="楷体_GB2312" pitchFamily="49" charset="-122"/>
              </a:rPr>
              <a:t>已知</a:t>
            </a:r>
            <a:r>
              <a:rPr lang="en-US" altLang="zh-CN" sz="2500" b="1" i="1" dirty="0">
                <a:latin typeface="+mn-lt"/>
                <a:ea typeface="楷体_GB2312" pitchFamily="49" charset="-122"/>
                <a:cs typeface="楷体_GB2312" pitchFamily="49" charset="-122"/>
              </a:rPr>
              <a:t>M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 = 254.2 g·mol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cs typeface="楷体_GB2312" pitchFamily="49" charset="-122"/>
              </a:rPr>
              <a:t>-1</a:t>
            </a:r>
            <a:r>
              <a:rPr lang="en-US" altLang="zh-CN" sz="2500" b="1" dirty="0">
                <a:latin typeface="+mn-lt"/>
                <a:ea typeface="楷体_GB2312" pitchFamily="49" charset="-122"/>
                <a:cs typeface="楷体_GB2312" pitchFamily="49" charset="-122"/>
              </a:rPr>
              <a:t>). 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76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67" grpId="0" autoUpdateAnimBg="0"/>
      <p:bldP spid="1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cfadb383da5ed4d31475c117c99555cab5f1cf9c"/>
</p:tagLst>
</file>

<file path=ppt/theme/theme1.xml><?xml version="1.0" encoding="utf-8"?>
<a:theme xmlns:a="http://schemas.openxmlformats.org/drawingml/2006/main" name="医学研究PPT模板">
  <a:themeElements>
    <a:clrScheme name="医学研究PPT模板 1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FF00FF"/>
      </a:accent2>
      <a:accent3>
        <a:srgbClr val="FFFFFF"/>
      </a:accent3>
      <a:accent4>
        <a:srgbClr val="000000"/>
      </a:accent4>
      <a:accent5>
        <a:srgbClr val="AAAAAA"/>
      </a:accent5>
      <a:accent6>
        <a:srgbClr val="E700E7"/>
      </a:accent6>
      <a:hlink>
        <a:srgbClr val="FF9900"/>
      </a:hlink>
      <a:folHlink>
        <a:srgbClr val="6600FF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医学研究PPT模板">
  <a:themeElements>
    <a:clrScheme name="1_医学研究PPT模板 1">
      <a:dk1>
        <a:srgbClr val="200B5B"/>
      </a:dk1>
      <a:lt1>
        <a:srgbClr val="EAEAEA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1_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7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8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9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AAAAAA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0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医学研究PPT模板</Template>
  <TotalTime>5819</TotalTime>
  <Pages>0</Pages>
  <Words>1599</Words>
  <Characters>0</Characters>
  <Application>Microsoft Office PowerPoint</Application>
  <DocSecurity>0</DocSecurity>
  <PresentationFormat>自定义</PresentationFormat>
  <Lines>0</Lines>
  <Paragraphs>237</Paragraphs>
  <Slides>22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6" baseType="lpstr">
      <vt:lpstr>Monotype Sorts</vt:lpstr>
      <vt:lpstr>仿宋_GB2312</vt:lpstr>
      <vt:lpstr>黑体</vt:lpstr>
      <vt:lpstr>楷体_GB2312</vt:lpstr>
      <vt:lpstr>宋体</vt:lpstr>
      <vt:lpstr>Calibri</vt:lpstr>
      <vt:lpstr>Symbol</vt:lpstr>
      <vt:lpstr>Times New Roman</vt:lpstr>
      <vt:lpstr>Webdings</vt:lpstr>
      <vt:lpstr>Wingdings</vt:lpstr>
      <vt:lpstr>医学研究PPT模板</vt:lpstr>
      <vt:lpstr>1_医学研究PPT模板</vt:lpstr>
      <vt:lpstr>公式</vt:lpstr>
      <vt:lpstr>BMP 图象</vt:lpstr>
      <vt:lpstr>PowerPoint 演示文稿</vt:lpstr>
      <vt:lpstr>6.3 配位滴定法</vt:lpstr>
      <vt:lpstr>6.3.1滴定曲线和滴定条件</vt:lpstr>
      <vt:lpstr>6.3.1滴定曲线和滴定条件</vt:lpstr>
      <vt:lpstr>PowerPoint 演示文稿</vt:lpstr>
      <vt:lpstr>PowerPoint 演示文稿</vt:lpstr>
      <vt:lpstr>6.3.1滴定曲线和滴定条件</vt:lpstr>
      <vt:lpstr>6.3.1滴定曲线和滴定条件</vt:lpstr>
      <vt:lpstr>6.3.2金属指示剂的作用原理</vt:lpstr>
      <vt:lpstr>6.3.3金属指示剂</vt:lpstr>
      <vt:lpstr>PowerPoint 演示文稿</vt:lpstr>
      <vt:lpstr>6.3.3金属指示剂</vt:lpstr>
      <vt:lpstr>6.3.3提高高混合体系配位滴定选择性的方法</vt:lpstr>
      <vt:lpstr>6.3.3提高高混合体系配位滴定选择性的方法</vt:lpstr>
      <vt:lpstr>6.3.3提高高混合体系配位滴定选择性的方法</vt:lpstr>
      <vt:lpstr>6.3.3提高高混合体系配位滴定选择性的方法</vt:lpstr>
      <vt:lpstr>6.3.3提高高混合体系配位滴定选择性的方法</vt:lpstr>
      <vt:lpstr>6.3.3提高高混合体系配位滴定选择性的方法</vt:lpstr>
      <vt:lpstr>6.3.4配位滴定方式及其应用</vt:lpstr>
      <vt:lpstr>6.3.5配位滴定方式及其应用</vt:lpstr>
      <vt:lpstr>6.3.5配位滴定方式及其应用</vt:lpstr>
      <vt:lpstr>6.3.5配位滴定方式及其应用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ch06-03</dc:title>
  <dc:creator>江南大学</dc:creator>
  <cp:lastModifiedBy>USER</cp:lastModifiedBy>
  <cp:revision>410</cp:revision>
  <cp:lastPrinted>1601-01-01T00:00:00Z</cp:lastPrinted>
  <dcterms:created xsi:type="dcterms:W3CDTF">2012-06-20T03:37:37Z</dcterms:created>
  <dcterms:modified xsi:type="dcterms:W3CDTF">2021-12-08T15:05:44Z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2052-8.1.0.3089</vt:lpwstr>
  </property>
</Properties>
</file>