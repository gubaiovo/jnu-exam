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  <p:sldMasterId id="2147483661" r:id="rId2"/>
  </p:sldMasterIdLst>
  <p:notesMasterIdLst>
    <p:notesMasterId r:id="rId11"/>
  </p:notesMasterIdLst>
  <p:sldIdLst>
    <p:sldId id="289" r:id="rId3"/>
    <p:sldId id="278" r:id="rId4"/>
    <p:sldId id="279" r:id="rId5"/>
    <p:sldId id="280" r:id="rId6"/>
    <p:sldId id="281" r:id="rId7"/>
    <p:sldId id="283" r:id="rId8"/>
    <p:sldId id="285" r:id="rId9"/>
    <p:sldId id="288" r:id="rId10"/>
  </p:sldIdLst>
  <p:sldSz cx="11522075" cy="6480175"/>
  <p:notesSz cx="6858000" cy="9144000"/>
  <p:custDataLst>
    <p:tags r:id="rId12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webPr allowPng="1" imgSz="1024x768" encoding="gb2312"/>
  <p:clrMru>
    <a:srgbClr val="FF00FF"/>
    <a:srgbClr val="FFFF00"/>
    <a:srgbClr val="FFFFFF"/>
    <a:srgbClr val="F8F8F8"/>
    <a:srgbClr val="FF0000"/>
    <a:srgbClr val="0000FF"/>
    <a:srgbClr val="FF3300"/>
    <a:srgbClr val="EAEAEA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2" autoAdjust="0"/>
    <p:restoredTop sz="94620" autoAdjust="0"/>
  </p:normalViewPr>
  <p:slideViewPr>
    <p:cSldViewPr>
      <p:cViewPr>
        <p:scale>
          <a:sx n="70" d="100"/>
          <a:sy n="70" d="100"/>
        </p:scale>
        <p:origin x="-306" y="-108"/>
      </p:cViewPr>
      <p:guideLst>
        <p:guide orient="horz" pos="2034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D189E37B-1118-4120-892D-10291973E9C4}" type="datetimeFigureOut">
              <a:rPr lang="zh-CN" altLang="en-US"/>
              <a:pPr>
                <a:defRPr/>
              </a:pPr>
              <a:t>2017/8/19</a:t>
            </a:fld>
            <a:endParaRPr lang="en-US" altLang="zh-CN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C90D70A7-7D43-417F-9CE0-A7B758C55B5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7797ECA-AA3D-49FB-A386-28C7DFA87826}" type="slidenum">
              <a:rPr lang="en-US" altLang="zh-CN" smtClean="0">
                <a:ea typeface="宋体" charset="-122"/>
              </a:rPr>
              <a:pPr/>
              <a:t>4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B04AE61-75FC-4378-A9F7-BD0706A8816D}" type="slidenum">
              <a:rPr lang="en-US" altLang="zh-CN" smtClean="0">
                <a:ea typeface="宋体" charset="-122"/>
              </a:rPr>
              <a:pPr/>
              <a:t>5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600" y="2012950"/>
            <a:ext cx="9794875" cy="13890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788" y="3671888"/>
            <a:ext cx="8064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43200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8469" y="863823"/>
            <a:ext cx="10369550" cy="4276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1pPr>
            <a:lvl2pPr marL="45720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2pPr>
            <a:lvl3pPr marL="91440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3pPr>
            <a:lvl4pPr marL="137160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4pPr>
            <a:lvl5pPr marL="182880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638" y="4164013"/>
            <a:ext cx="9794875" cy="12874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09638" y="2746375"/>
            <a:ext cx="9794875" cy="14176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263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7238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263" y="1450975"/>
            <a:ext cx="5091112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263" y="2055813"/>
            <a:ext cx="5091112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113" y="1450975"/>
            <a:ext cx="5092700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113" y="2055813"/>
            <a:ext cx="5092700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plit orient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3790950" cy="10969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5325" y="258763"/>
            <a:ext cx="6440488" cy="5529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263" y="1355725"/>
            <a:ext cx="3790950" cy="443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9013" y="4535488"/>
            <a:ext cx="6911975" cy="53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9013" y="579438"/>
            <a:ext cx="6911975" cy="3887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9013" y="5072063"/>
            <a:ext cx="6911975" cy="760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425" y="258763"/>
            <a:ext cx="2592388" cy="552926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258763"/>
            <a:ext cx="7624762" cy="55292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600" y="2012950"/>
            <a:ext cx="9794875" cy="13890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788" y="3671888"/>
            <a:ext cx="8064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638" y="4164013"/>
            <a:ext cx="9794875" cy="12874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09638" y="2746375"/>
            <a:ext cx="9794875" cy="14176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263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7238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263" y="1450975"/>
            <a:ext cx="5091112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263" y="2055813"/>
            <a:ext cx="5091112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113" y="1450975"/>
            <a:ext cx="5092700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113" y="2055813"/>
            <a:ext cx="5092700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plit orient="vert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3790950" cy="10969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5325" y="258763"/>
            <a:ext cx="6440488" cy="5529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263" y="1355725"/>
            <a:ext cx="3790950" cy="443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9013" y="4535488"/>
            <a:ext cx="6911975" cy="53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9013" y="579438"/>
            <a:ext cx="6911975" cy="3887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9013" y="5072063"/>
            <a:ext cx="6911975" cy="760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425" y="258763"/>
            <a:ext cx="2592388" cy="552926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258763"/>
            <a:ext cx="7624762" cy="55292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52"/>
          <p:cNvGrpSpPr>
            <a:grpSpLocks/>
          </p:cNvGrpSpPr>
          <p:nvPr userDrawn="1"/>
        </p:nvGrpSpPr>
        <p:grpSpPr bwMode="auto">
          <a:xfrm>
            <a:off x="-34925" y="107950"/>
            <a:ext cx="11588750" cy="6408738"/>
            <a:chOff x="-22" y="68"/>
            <a:chExt cx="7300" cy="4037"/>
          </a:xfrm>
        </p:grpSpPr>
        <p:sp>
          <p:nvSpPr>
            <p:cNvPr id="1028" name="Freeform 1027"/>
            <p:cNvSpPr>
              <a:spLocks/>
            </p:cNvSpPr>
            <p:nvPr userDrawn="1"/>
          </p:nvSpPr>
          <p:spPr bwMode="auto">
            <a:xfrm>
              <a:off x="80" y="431"/>
              <a:ext cx="7080" cy="3174"/>
            </a:xfrm>
            <a:custGeom>
              <a:avLst/>
              <a:gdLst>
                <a:gd name="T0" fmla="*/ 17174 w 5269"/>
                <a:gd name="T1" fmla="*/ 0 h 2977"/>
                <a:gd name="T2" fmla="*/ 0 w 5269"/>
                <a:gd name="T3" fmla="*/ 0 h 2977"/>
                <a:gd name="T4" fmla="*/ 0 w 5269"/>
                <a:gd name="T5" fmla="*/ 3846 h 297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69" h="2977">
                  <a:moveTo>
                    <a:pt x="5268" y="0"/>
                  </a:moveTo>
                  <a:lnTo>
                    <a:pt x="0" y="0"/>
                  </a:lnTo>
                  <a:lnTo>
                    <a:pt x="0" y="2976"/>
                  </a:lnTo>
                </a:path>
              </a:pathLst>
            </a:custGeom>
            <a:noFill/>
            <a:ln w="12700" cap="rnd" cmpd="sng">
              <a:solidFill>
                <a:srgbClr val="B2B2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grpSp>
          <p:nvGrpSpPr>
            <p:cNvPr id="1029" name="Group 1042"/>
            <p:cNvGrpSpPr>
              <a:grpSpLocks/>
            </p:cNvGrpSpPr>
            <p:nvPr userDrawn="1"/>
          </p:nvGrpSpPr>
          <p:grpSpPr bwMode="auto">
            <a:xfrm rot="5400000">
              <a:off x="3597" y="-3112"/>
              <a:ext cx="68" cy="7141"/>
              <a:chOff x="336" y="1103"/>
              <a:chExt cx="97" cy="2785"/>
            </a:xfrm>
          </p:grpSpPr>
          <p:sp>
            <p:nvSpPr>
              <p:cNvPr id="1039" name="Rectangle 1043"/>
              <p:cNvSpPr>
                <a:spLocks noChangeArrowheads="1"/>
              </p:cNvSpPr>
              <p:nvPr userDrawn="1"/>
            </p:nvSpPr>
            <p:spPr bwMode="auto">
              <a:xfrm>
                <a:off x="338" y="1104"/>
                <a:ext cx="97" cy="2784"/>
              </a:xfrm>
              <a:prstGeom prst="rect">
                <a:avLst/>
              </a:prstGeom>
              <a:solidFill>
                <a:srgbClr val="DDDDDD"/>
              </a:solidFill>
              <a:ln w="1587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zh-CN" sz="2400">
                  <a:ea typeface="宋体" pitchFamily="2" charset="-122"/>
                </a:endParaRPr>
              </a:p>
            </p:txBody>
          </p:sp>
          <p:sp>
            <p:nvSpPr>
              <p:cNvPr id="1040" name="Freeform 1044"/>
              <p:cNvSpPr>
                <a:spLocks/>
              </p:cNvSpPr>
              <p:nvPr userDrawn="1"/>
            </p:nvSpPr>
            <p:spPr bwMode="auto">
              <a:xfrm>
                <a:off x="338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96 w 97"/>
                  <a:gd name="T3" fmla="*/ 2784 h 2785"/>
                  <a:gd name="T4" fmla="*/ 96 w 97"/>
                  <a:gd name="T5" fmla="*/ 0 h 2785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2785"/>
                  <a:gd name="T11" fmla="*/ 97 w 97"/>
                  <a:gd name="T12" fmla="*/ 2785 h 27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2785">
                    <a:moveTo>
                      <a:pt x="0" y="2784"/>
                    </a:moveTo>
                    <a:lnTo>
                      <a:pt x="96" y="2784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5875" cap="rnd">
                <a:noFill/>
                <a:round/>
                <a:headEnd type="none" w="sm" len="sm"/>
                <a:tailEnd type="none" w="sm" len="sm"/>
              </a:ln>
            </p:spPr>
            <p:txBody>
              <a:bodyPr rot="10800000" vert="eaVert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041" name="Freeform 1045"/>
              <p:cNvSpPr>
                <a:spLocks/>
              </p:cNvSpPr>
              <p:nvPr userDrawn="1"/>
            </p:nvSpPr>
            <p:spPr bwMode="auto">
              <a:xfrm>
                <a:off x="338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0 w 97"/>
                  <a:gd name="T3" fmla="*/ 0 h 2785"/>
                  <a:gd name="T4" fmla="*/ 96 w 97"/>
                  <a:gd name="T5" fmla="*/ 0 h 2785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2785"/>
                  <a:gd name="T11" fmla="*/ 97 w 97"/>
                  <a:gd name="T12" fmla="*/ 2785 h 27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2785">
                    <a:moveTo>
                      <a:pt x="0" y="2784"/>
                    </a:moveTo>
                    <a:lnTo>
                      <a:pt x="0" y="0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5875" cap="rnd">
                <a:noFill/>
                <a:round/>
                <a:headEnd type="none" w="sm" len="sm"/>
                <a:tailEnd type="none" w="sm" len="sm"/>
              </a:ln>
            </p:spPr>
            <p:txBody>
              <a:bodyPr rot="10800000" vert="eaVert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1030" name="Freeform 1028"/>
            <p:cNvSpPr>
              <a:spLocks/>
            </p:cNvSpPr>
            <p:nvPr userDrawn="1"/>
          </p:nvSpPr>
          <p:spPr bwMode="auto">
            <a:xfrm>
              <a:off x="96" y="431"/>
              <a:ext cx="7080" cy="3174"/>
            </a:xfrm>
            <a:custGeom>
              <a:avLst/>
              <a:gdLst>
                <a:gd name="T0" fmla="*/ 17174 w 5269"/>
                <a:gd name="T1" fmla="*/ 0 h 2977"/>
                <a:gd name="T2" fmla="*/ 17174 w 5269"/>
                <a:gd name="T3" fmla="*/ 3846 h 2977"/>
                <a:gd name="T4" fmla="*/ 0 w 5269"/>
                <a:gd name="T5" fmla="*/ 3846 h 297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69" h="2977">
                  <a:moveTo>
                    <a:pt x="5268" y="0"/>
                  </a:moveTo>
                  <a:lnTo>
                    <a:pt x="5268" y="2976"/>
                  </a:lnTo>
                  <a:lnTo>
                    <a:pt x="0" y="2976"/>
                  </a:lnTo>
                </a:path>
              </a:pathLst>
            </a:custGeom>
            <a:noFill/>
            <a:ln w="127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031" name="Rectangle 1036"/>
            <p:cNvSpPr>
              <a:spLocks noChangeArrowheads="1"/>
            </p:cNvSpPr>
            <p:nvPr userDrawn="1"/>
          </p:nvSpPr>
          <p:spPr bwMode="auto">
            <a:xfrm>
              <a:off x="61" y="68"/>
              <a:ext cx="7141" cy="3584"/>
            </a:xfrm>
            <a:prstGeom prst="rect">
              <a:avLst/>
            </a:prstGeom>
            <a:noFill/>
            <a:ln w="254000">
              <a:pattFill prst="dkHorz">
                <a:fgClr>
                  <a:srgbClr val="C8C8C8"/>
                </a:fgClr>
                <a:bgClr>
                  <a:schemeClr val="bg1"/>
                </a:bgClr>
              </a:patt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1600">
                <a:ea typeface="楷体_GB2312" pitchFamily="49" charset="-122"/>
              </a:endParaRPr>
            </a:p>
          </p:txBody>
        </p:sp>
        <p:grpSp>
          <p:nvGrpSpPr>
            <p:cNvPr id="1032" name="Group 1038"/>
            <p:cNvGrpSpPr>
              <a:grpSpLocks/>
            </p:cNvGrpSpPr>
            <p:nvPr userDrawn="1"/>
          </p:nvGrpSpPr>
          <p:grpSpPr bwMode="auto">
            <a:xfrm>
              <a:off x="306" y="584"/>
              <a:ext cx="68" cy="2879"/>
              <a:chOff x="336" y="1103"/>
              <a:chExt cx="97" cy="2785"/>
            </a:xfrm>
          </p:grpSpPr>
          <p:sp>
            <p:nvSpPr>
              <p:cNvPr id="1036" name="Rectangle 1039"/>
              <p:cNvSpPr>
                <a:spLocks noChangeArrowheads="1"/>
              </p:cNvSpPr>
              <p:nvPr userDrawn="1"/>
            </p:nvSpPr>
            <p:spPr bwMode="auto">
              <a:xfrm>
                <a:off x="336" y="1104"/>
                <a:ext cx="96" cy="2784"/>
              </a:xfrm>
              <a:prstGeom prst="rect">
                <a:avLst/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zh-CN" sz="2400">
                  <a:ea typeface="宋体" pitchFamily="2" charset="-122"/>
                </a:endParaRPr>
              </a:p>
            </p:txBody>
          </p:sp>
          <p:sp>
            <p:nvSpPr>
              <p:cNvPr id="1037" name="Freeform 1040"/>
              <p:cNvSpPr>
                <a:spLocks/>
              </p:cNvSpPr>
              <p:nvPr userDrawn="1"/>
            </p:nvSpPr>
            <p:spPr bwMode="auto">
              <a:xfrm>
                <a:off x="336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96 w 97"/>
                  <a:gd name="T3" fmla="*/ 2784 h 2785"/>
                  <a:gd name="T4" fmla="*/ 96 w 97"/>
                  <a:gd name="T5" fmla="*/ 0 h 2785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2785"/>
                  <a:gd name="T11" fmla="*/ 97 w 97"/>
                  <a:gd name="T12" fmla="*/ 2785 h 27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2785">
                    <a:moveTo>
                      <a:pt x="0" y="2784"/>
                    </a:moveTo>
                    <a:lnTo>
                      <a:pt x="96" y="2784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2700" cap="rnd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038" name="Freeform 1041"/>
              <p:cNvSpPr>
                <a:spLocks/>
              </p:cNvSpPr>
              <p:nvPr userDrawn="1"/>
            </p:nvSpPr>
            <p:spPr bwMode="auto">
              <a:xfrm>
                <a:off x="336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0 w 97"/>
                  <a:gd name="T3" fmla="*/ 0 h 2785"/>
                  <a:gd name="T4" fmla="*/ 96 w 97"/>
                  <a:gd name="T5" fmla="*/ 0 h 2785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2785"/>
                  <a:gd name="T11" fmla="*/ 97 w 97"/>
                  <a:gd name="T12" fmla="*/ 2785 h 27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2785">
                    <a:moveTo>
                      <a:pt x="0" y="2784"/>
                    </a:moveTo>
                    <a:lnTo>
                      <a:pt x="0" y="0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2700" cap="rnd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1033" name="Rectangle 139" descr="深色横线"/>
            <p:cNvSpPr>
              <a:spLocks noChangeArrowheads="1"/>
            </p:cNvSpPr>
            <p:nvPr userDrawn="1"/>
          </p:nvSpPr>
          <p:spPr bwMode="auto">
            <a:xfrm>
              <a:off x="-22" y="3652"/>
              <a:ext cx="7300" cy="453"/>
            </a:xfrm>
            <a:prstGeom prst="rect">
              <a:avLst/>
            </a:prstGeom>
            <a:pattFill prst="dkHorz">
              <a:fgClr>
                <a:srgbClr val="C8C8C8"/>
              </a:fgClr>
              <a:bgClr>
                <a:schemeClr val="bg1"/>
              </a:bgClr>
            </a:patt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034" name="AutoShape 143"/>
            <p:cNvSpPr>
              <a:spLocks noChangeArrowheads="1"/>
            </p:cNvSpPr>
            <p:nvPr userDrawn="1"/>
          </p:nvSpPr>
          <p:spPr bwMode="auto">
            <a:xfrm>
              <a:off x="136" y="136"/>
              <a:ext cx="6994" cy="295"/>
            </a:xfrm>
            <a:prstGeom prst="flowChartAlternateProcess">
              <a:avLst/>
            </a:prstGeom>
            <a:solidFill>
              <a:srgbClr val="EAEAEA"/>
            </a:solidFill>
            <a:ln w="31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035" name="Rectangle 146"/>
            <p:cNvSpPr>
              <a:spLocks noChangeArrowheads="1"/>
            </p:cNvSpPr>
            <p:nvPr userDrawn="1"/>
          </p:nvSpPr>
          <p:spPr bwMode="auto">
            <a:xfrm>
              <a:off x="136" y="499"/>
              <a:ext cx="6982" cy="3083"/>
            </a:xfrm>
            <a:prstGeom prst="rect">
              <a:avLst/>
            </a:prstGeom>
            <a:solidFill>
              <a:srgbClr val="EAEAEA">
                <a:alpha val="85097"/>
              </a:srgbClr>
            </a:solidFill>
            <a:ln w="19050">
              <a:solidFill>
                <a:srgbClr val="F8F8F8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</p:grpSp>
      <p:sp>
        <p:nvSpPr>
          <p:cNvPr id="1027" name="Rectangle 149"/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215900"/>
            <a:ext cx="10369550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ransition spd="slow">
    <p:split orient="vert"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+mj-lt"/>
          <a:ea typeface="黑体" pitchFamily="2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itchFamily="18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itchFamily="18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itchFamily="18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itchFamily="18" charset="0"/>
          <a:ea typeface="黑体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CC"/>
        </a:buClr>
        <a:buSzPct val="90000"/>
        <a:buFont typeface="Wingdings" pitchFamily="2" charset="2"/>
        <a:buChar char="§"/>
        <a:defRPr sz="3200" b="1">
          <a:solidFill>
            <a:srgbClr val="FFFF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FFFF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FF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FFFF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2" tx1="lt1" bg2="dk1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slow">
    <p:split orient="vert"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CC"/>
        </a:buClr>
        <a:buSzPct val="90000"/>
        <a:buFont typeface="Wingdings" pitchFamily="2" charset="2"/>
        <a:buChar char="§"/>
        <a:defRPr sz="3200" b="1">
          <a:solidFill>
            <a:srgbClr val="FFFF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FFFF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FF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FFFF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01-02.pptx" TargetMode="External"/><Relationship Id="rId2" Type="http://schemas.openxmlformats.org/officeDocument/2006/relationships/hyperlink" Target="01-01.pptx" TargetMode="Externa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slide" Target="slide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image" Target="../media/image4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audio" Target="../media/audio3.wav"/><Relationship Id="rId7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audio" Target="../media/audio4.wav"/><Relationship Id="rId4" Type="http://schemas.openxmlformats.org/officeDocument/2006/relationships/audio" Target="../media/audio2.wav"/><Relationship Id="rId9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hyperlink" Target="file:///H:\&#26242;&#23384;\2017\&#26080;&#26426;&#21450;&#20998;&#26512;&#21270;&#23398;\03EXAMPLE\ch01\01-03-&#20363;&#39064;.ppt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file:///H:\&#26242;&#23384;\2017\&#26080;&#26426;&#21450;&#20998;&#26512;&#21270;&#23398;\03EXAMPLE\ch01\01-03-&#20363;&#39064;.ppt" TargetMode="Externa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hyperlink" Target="../ch02/02-01.ppt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189401" y="1525575"/>
            <a:ext cx="324800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 smtClean="0">
                <a:solidFill>
                  <a:srgbClr val="FFFF00"/>
                </a:solidFill>
                <a:latin typeface="+mn-lt"/>
                <a:ea typeface="黑体" pitchFamily="49" charset="-122"/>
                <a:hlinkClick r:id="rId2" action="ppaction://hlinkpres?slideindex=1&amp;slidetitle="/>
              </a:rPr>
              <a:t>1.1</a:t>
            </a:r>
            <a:r>
              <a:rPr lang="en-US" altLang="zh-CN" sz="2800" b="1" dirty="0" smtClean="0">
                <a:solidFill>
                  <a:srgbClr val="FFFF00"/>
                </a:solidFill>
                <a:latin typeface="+mn-lt"/>
                <a:ea typeface="黑体" pitchFamily="49" charset="-122"/>
              </a:rPr>
              <a:t> </a:t>
            </a:r>
            <a:r>
              <a:rPr lang="zh-CN" altLang="en-US" sz="2800" b="1" dirty="0" smtClean="0">
                <a:solidFill>
                  <a:srgbClr val="FFFF00"/>
                </a:solidFill>
                <a:latin typeface="+mn-lt"/>
                <a:ea typeface="黑体" pitchFamily="49" charset="-122"/>
              </a:rPr>
              <a:t>定量分析概述</a:t>
            </a:r>
            <a:endParaRPr lang="en-US" altLang="zh-CN" sz="2800" b="1" dirty="0" smtClean="0">
              <a:solidFill>
                <a:srgbClr val="FFFF00"/>
              </a:solidFill>
              <a:latin typeface="+mn-lt"/>
              <a:ea typeface="黑体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 smtClean="0">
                <a:solidFill>
                  <a:srgbClr val="FFFF00"/>
                </a:solidFill>
                <a:latin typeface="+mn-lt"/>
                <a:ea typeface="黑体" pitchFamily="49" charset="-122"/>
                <a:hlinkClick r:id="rId3" action="ppaction://hlinkpres?slideindex=1&amp;slidetitle="/>
              </a:rPr>
              <a:t>1.2</a:t>
            </a:r>
            <a:r>
              <a:rPr lang="en-US" altLang="zh-CN" sz="2800" b="1" dirty="0" smtClean="0">
                <a:solidFill>
                  <a:srgbClr val="FFFF00"/>
                </a:solidFill>
                <a:latin typeface="+mn-lt"/>
                <a:ea typeface="黑体" pitchFamily="49" charset="-122"/>
              </a:rPr>
              <a:t> </a:t>
            </a:r>
            <a:r>
              <a:rPr lang="zh-CN" altLang="en-US" sz="2800" b="1" dirty="0" smtClean="0">
                <a:solidFill>
                  <a:srgbClr val="FFFF00"/>
                </a:solidFill>
                <a:latin typeface="+mn-lt"/>
                <a:ea typeface="黑体" pitchFamily="49" charset="-122"/>
              </a:rPr>
              <a:t>误差与数据处理</a:t>
            </a:r>
            <a:endParaRPr lang="en-US" altLang="zh-CN" sz="2800" b="1" dirty="0" smtClean="0">
              <a:solidFill>
                <a:srgbClr val="FFFF00"/>
              </a:solidFill>
              <a:latin typeface="+mn-lt"/>
              <a:ea typeface="黑体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 smtClean="0">
                <a:latin typeface="+mn-lt"/>
                <a:ea typeface="黑体" pitchFamily="49" charset="-122"/>
              </a:rPr>
              <a:t>1.3 </a:t>
            </a:r>
            <a:r>
              <a:rPr lang="zh-CN" altLang="en-US" sz="2800" b="1" dirty="0" smtClean="0">
                <a:latin typeface="+mn-lt"/>
                <a:ea typeface="黑体" pitchFamily="49" charset="-122"/>
              </a:rPr>
              <a:t>有效数字</a:t>
            </a:r>
            <a:endParaRPr lang="zh-CN" altLang="en-US" sz="2800" b="1" dirty="0">
              <a:latin typeface="+mn-lt"/>
              <a:ea typeface="黑体" pitchFamily="49" charset="-12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60725" y="1454150"/>
            <a:ext cx="5500688" cy="3081338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8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800" smtClean="0">
                <a:solidFill>
                  <a:schemeClr val="bg2"/>
                </a:solidFill>
                <a:latin typeface="Times New Roman" pitchFamily="18" charset="0"/>
                <a:ea typeface="黑体" pitchFamily="49" charset="-122"/>
                <a:cs typeface="楷体_GB2312" pitchFamily="49" charset="-122"/>
              </a:rPr>
              <a:t>1.3.1 </a:t>
            </a:r>
            <a:r>
              <a:rPr lang="zh-CN" altLang="en-US" sz="2800" smtClean="0">
                <a:solidFill>
                  <a:schemeClr val="bg2"/>
                </a:solidFill>
                <a:latin typeface="Times New Roman" pitchFamily="18" charset="0"/>
                <a:ea typeface="黑体" pitchFamily="49" charset="-122"/>
                <a:cs typeface="楷体_GB2312" pitchFamily="49" charset="-122"/>
              </a:rPr>
              <a:t>有效数字</a:t>
            </a:r>
          </a:p>
          <a:p>
            <a:pPr>
              <a:lnSpc>
                <a:spcPct val="18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800" smtClean="0">
                <a:solidFill>
                  <a:schemeClr val="bg2"/>
                </a:solidFill>
                <a:latin typeface="Times New Roman" pitchFamily="18" charset="0"/>
                <a:ea typeface="黑体" pitchFamily="49" charset="-122"/>
                <a:cs typeface="楷体_GB2312" pitchFamily="49" charset="-122"/>
              </a:rPr>
              <a:t>1.3.2 </a:t>
            </a:r>
            <a:r>
              <a:rPr lang="zh-CN" altLang="en-US" sz="2800" smtClean="0">
                <a:solidFill>
                  <a:schemeClr val="bg2"/>
                </a:solidFill>
                <a:latin typeface="Times New Roman" pitchFamily="18" charset="0"/>
                <a:ea typeface="黑体" pitchFamily="49" charset="-122"/>
                <a:cs typeface="楷体_GB2312" pitchFamily="49" charset="-122"/>
              </a:rPr>
              <a:t>有效数字位数</a:t>
            </a:r>
          </a:p>
          <a:p>
            <a:pPr>
              <a:lnSpc>
                <a:spcPct val="18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800" smtClean="0">
                <a:solidFill>
                  <a:schemeClr val="bg2"/>
                </a:solidFill>
                <a:latin typeface="Times New Roman" pitchFamily="18" charset="0"/>
                <a:ea typeface="黑体" pitchFamily="49" charset="-122"/>
                <a:cs typeface="楷体_GB2312" pitchFamily="49" charset="-122"/>
              </a:rPr>
              <a:t>1.3.3 </a:t>
            </a:r>
            <a:r>
              <a:rPr lang="zh-CN" altLang="en-US" sz="2800" smtClean="0">
                <a:solidFill>
                  <a:schemeClr val="bg2"/>
                </a:solidFill>
                <a:latin typeface="Times New Roman" pitchFamily="18" charset="0"/>
                <a:ea typeface="黑体" pitchFamily="49" charset="-122"/>
                <a:cs typeface="楷体_GB2312" pitchFamily="49" charset="-122"/>
              </a:rPr>
              <a:t>有效数字的修约规则</a:t>
            </a:r>
          </a:p>
          <a:p>
            <a:pPr>
              <a:lnSpc>
                <a:spcPct val="18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2800" smtClean="0">
                <a:solidFill>
                  <a:schemeClr val="bg2"/>
                </a:solidFill>
                <a:latin typeface="Times New Roman" pitchFamily="18" charset="0"/>
                <a:ea typeface="黑体" pitchFamily="49" charset="-122"/>
                <a:cs typeface="楷体_GB2312" pitchFamily="49" charset="-122"/>
              </a:rPr>
              <a:t>1.3.4 </a:t>
            </a:r>
            <a:r>
              <a:rPr lang="zh-CN" altLang="en-US" sz="2800" smtClean="0">
                <a:solidFill>
                  <a:schemeClr val="bg2"/>
                </a:solidFill>
                <a:latin typeface="Times New Roman" pitchFamily="18" charset="0"/>
                <a:ea typeface="黑体" pitchFamily="49" charset="-122"/>
                <a:cs typeface="楷体_GB2312" pitchFamily="49" charset="-122"/>
              </a:rPr>
              <a:t>有效数字的运算规则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title"/>
          </p:nvPr>
        </p:nvSpPr>
        <p:spPr>
          <a:xfrm>
            <a:off x="474663" y="239713"/>
            <a:ext cx="9090025" cy="430212"/>
          </a:xfrm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1.3 </a:t>
            </a:r>
            <a:r>
              <a:rPr lang="zh-CN" altLang="en-US" smtClean="0">
                <a:ea typeface="黑体" pitchFamily="49" charset="-122"/>
              </a:rPr>
              <a:t>有效数字</a:t>
            </a:r>
            <a:endParaRPr lang="zh-CN" altLang="en-US" b="0" smtClean="0">
              <a:ea typeface="黑体" pitchFamily="49" charset="-122"/>
            </a:endParaRPr>
          </a:p>
        </p:txBody>
      </p:sp>
      <p:sp>
        <p:nvSpPr>
          <p:cNvPr id="3076" name="AutoShape 5">
            <a:hlinkClick r:id="" action="ppaction://hlinkshowjump?jump=nextslide" highlightClick="1"/>
          </p:cNvPr>
          <p:cNvSpPr>
            <a:spLocks noChangeAspect="1" noChangeArrowheads="1"/>
          </p:cNvSpPr>
          <p:nvPr/>
        </p:nvSpPr>
        <p:spPr bwMode="auto">
          <a:xfrm>
            <a:off x="2689225" y="1811338"/>
            <a:ext cx="542925" cy="407987"/>
          </a:xfrm>
          <a:prstGeom prst="actionButtonForwardNex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a typeface="黑体" pitchFamily="49" charset="-122"/>
            </a:endParaRPr>
          </a:p>
        </p:txBody>
      </p:sp>
      <p:sp>
        <p:nvSpPr>
          <p:cNvPr id="3077" name="AutoShape 6">
            <a:hlinkClick r:id="rId2" action="ppaction://hlinksldjump" highlightClick="1"/>
          </p:cNvPr>
          <p:cNvSpPr>
            <a:spLocks noChangeAspect="1" noChangeArrowheads="1"/>
          </p:cNvSpPr>
          <p:nvPr/>
        </p:nvSpPr>
        <p:spPr bwMode="auto">
          <a:xfrm>
            <a:off x="2689225" y="2525713"/>
            <a:ext cx="542925" cy="407987"/>
          </a:xfrm>
          <a:prstGeom prst="actionButtonForwardNex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a typeface="黑体" pitchFamily="49" charset="-122"/>
            </a:endParaRPr>
          </a:p>
        </p:txBody>
      </p:sp>
      <p:sp>
        <p:nvSpPr>
          <p:cNvPr id="3078" name="AutoShape 7">
            <a:hlinkClick r:id="rId3" action="ppaction://hlinksldjump" highlightClick="1"/>
          </p:cNvPr>
          <p:cNvSpPr>
            <a:spLocks noChangeAspect="1" noChangeArrowheads="1"/>
          </p:cNvSpPr>
          <p:nvPr/>
        </p:nvSpPr>
        <p:spPr bwMode="auto">
          <a:xfrm>
            <a:off x="2689225" y="3240088"/>
            <a:ext cx="542925" cy="407987"/>
          </a:xfrm>
          <a:prstGeom prst="actionButtonForwardNex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a typeface="黑体" pitchFamily="49" charset="-122"/>
            </a:endParaRPr>
          </a:p>
        </p:txBody>
      </p:sp>
      <p:sp>
        <p:nvSpPr>
          <p:cNvPr id="3079" name="AutoShape 10">
            <a:hlinkClick r:id="rId4" action="ppaction://hlinksldjump" highlightClick="1"/>
          </p:cNvPr>
          <p:cNvSpPr>
            <a:spLocks noChangeAspect="1" noChangeArrowheads="1"/>
          </p:cNvSpPr>
          <p:nvPr/>
        </p:nvSpPr>
        <p:spPr bwMode="auto">
          <a:xfrm>
            <a:off x="2689225" y="4025900"/>
            <a:ext cx="542925" cy="407988"/>
          </a:xfrm>
          <a:prstGeom prst="actionButtonForwardNex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  <a:ea typeface="黑体" pitchFamily="49" charset="-122"/>
            </a:endParaRPr>
          </a:p>
        </p:txBody>
      </p:sp>
      <p:sp>
        <p:nvSpPr>
          <p:cNvPr id="3080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黑体" pitchFamily="49" charset="-122"/>
            </a:endParaRPr>
          </a:p>
        </p:txBody>
      </p:sp>
      <p:sp>
        <p:nvSpPr>
          <p:cNvPr id="3081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25"/>
            <a:ext cx="360363" cy="360363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黑体" pitchFamily="49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25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903288" y="1954203"/>
            <a:ext cx="10039350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kumimoji="1" lang="zh-CN" altLang="en-US" sz="2500" b="1">
                <a:ea typeface="楷体_GB2312" pitchFamily="49" charset="-122"/>
              </a:rPr>
              <a:t>　　如</a:t>
            </a:r>
            <a:r>
              <a:rPr kumimoji="1" lang="en-US" altLang="zh-CN" sz="2500" b="1">
                <a:ea typeface="楷体_GB2312" pitchFamily="49" charset="-122"/>
              </a:rPr>
              <a:t>50mL </a:t>
            </a:r>
            <a:r>
              <a:rPr kumimoji="1" lang="en-US" altLang="zh-CN" sz="2500" b="1">
                <a:solidFill>
                  <a:srgbClr val="0000FF"/>
                </a:solidFill>
                <a:ea typeface="楷体_GB2312" pitchFamily="49" charset="-122"/>
              </a:rPr>
              <a:t>buret</a:t>
            </a:r>
            <a:r>
              <a:rPr kumimoji="1" lang="en-US" altLang="zh-CN" sz="2500" b="1">
                <a:ea typeface="楷体_GB2312" pitchFamily="49" charset="-122"/>
              </a:rPr>
              <a:t>:</a:t>
            </a:r>
            <a:r>
              <a:rPr kumimoji="1" lang="zh-CN" altLang="en-US" sz="2500" b="1">
                <a:ea typeface="楷体_GB2312" pitchFamily="49" charset="-122"/>
              </a:rPr>
              <a:t>终读数</a:t>
            </a:r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760413" y="954088"/>
            <a:ext cx="2616200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ctr"/>
            <a:r>
              <a:rPr kumimoji="1" lang="en-US" altLang="zh-CN" sz="2500" b="1">
                <a:solidFill>
                  <a:srgbClr val="0000FF"/>
                </a:solidFill>
                <a:ea typeface="楷体_GB2312" pitchFamily="49" charset="-122"/>
              </a:rPr>
              <a:t>significant figure:</a:t>
            </a:r>
            <a:endParaRPr kumimoji="1" lang="en-US" altLang="zh-CN" sz="2500" b="1">
              <a:solidFill>
                <a:srgbClr val="FF3300"/>
              </a:solidFill>
              <a:ea typeface="楷体_GB2312" pitchFamily="49" charset="-122"/>
            </a:endParaRPr>
          </a:p>
        </p:txBody>
      </p:sp>
      <p:sp>
        <p:nvSpPr>
          <p:cNvPr id="14342" name="Rectangle 6"/>
          <p:cNvSpPr>
            <a:spLocks noChangeArrowheads="1"/>
          </p:cNvSpPr>
          <p:nvPr/>
        </p:nvSpPr>
        <p:spPr bwMode="auto">
          <a:xfrm>
            <a:off x="4260850" y="3382953"/>
            <a:ext cx="1973263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kumimoji="1" lang="en-US" altLang="zh-CN" sz="2500" b="1">
                <a:ea typeface="楷体_GB2312" pitchFamily="49" charset="-122"/>
              </a:rPr>
              <a:t>20.66mL.</a:t>
            </a:r>
            <a:r>
              <a:rPr kumimoji="1" lang="zh-CN" altLang="en-US" sz="2500" b="1">
                <a:ea typeface="楷体_GB2312" pitchFamily="49" charset="-122"/>
              </a:rPr>
              <a:t>　　</a:t>
            </a:r>
          </a:p>
        </p:txBody>
      </p:sp>
      <p:sp>
        <p:nvSpPr>
          <p:cNvPr id="14343" name="Rectangle 7"/>
          <p:cNvSpPr>
            <a:spLocks noChangeArrowheads="1"/>
          </p:cNvSpPr>
          <p:nvPr/>
        </p:nvSpPr>
        <p:spPr bwMode="auto">
          <a:xfrm>
            <a:off x="1689100" y="1382713"/>
            <a:ext cx="5394325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kumimoji="1" lang="zh-CN" altLang="en-US" sz="2500" b="1">
                <a:ea typeface="楷体_GB2312" pitchFamily="49" charset="-122"/>
              </a:rPr>
              <a:t>　　计量或测定中实际能测到的数字</a:t>
            </a:r>
            <a:r>
              <a:rPr kumimoji="1" lang="en-US" altLang="zh-CN" sz="2500" b="1">
                <a:ea typeface="楷体_GB2312" pitchFamily="49" charset="-122"/>
              </a:rPr>
              <a:t>.</a:t>
            </a:r>
          </a:p>
        </p:txBody>
      </p:sp>
      <p:pic>
        <p:nvPicPr>
          <p:cNvPr id="14344" name="Picture 8" descr="滴定管读数"/>
          <p:cNvPicPr>
            <a:picLocks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600200" y="2597140"/>
            <a:ext cx="2160588" cy="2303463"/>
          </a:xfrm>
          <a:prstGeom prst="rect">
            <a:avLst/>
          </a:prstGeom>
          <a:noFill/>
          <a:ln w="25400">
            <a:solidFill>
              <a:srgbClr val="FF00FF"/>
            </a:solidFill>
            <a:miter lim="800000"/>
            <a:headEnd/>
            <a:tailEnd/>
          </a:ln>
        </p:spPr>
      </p:pic>
      <p:sp>
        <p:nvSpPr>
          <p:cNvPr id="4103" name="Rectangle 10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1.3.1</a:t>
            </a:r>
            <a:r>
              <a:rPr lang="zh-CN" altLang="en-US" smtClean="0">
                <a:ea typeface="黑体" pitchFamily="49" charset="-122"/>
              </a:rPr>
              <a:t>有效数字</a:t>
            </a:r>
          </a:p>
        </p:txBody>
      </p:sp>
      <p:sp>
        <p:nvSpPr>
          <p:cNvPr id="4104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25"/>
            <a:ext cx="360363" cy="360363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05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75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tar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500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6" dur="500"/>
                                        <p:tgtEl>
                                          <p:spTgt spid="143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0" grpId="0" build="p" autoUpdateAnimBg="0"/>
      <p:bldP spid="14341" grpId="0" autoUpdateAnimBg="0"/>
      <p:bldP spid="14342" grpId="0" build="p" autoUpdateAnimBg="0"/>
      <p:bldP spid="14343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AutoShape 4"/>
          <p:cNvSpPr>
            <a:spLocks/>
          </p:cNvSpPr>
          <p:nvPr/>
        </p:nvSpPr>
        <p:spPr bwMode="auto">
          <a:xfrm>
            <a:off x="769938" y="1563688"/>
            <a:ext cx="192087" cy="792162"/>
          </a:xfrm>
          <a:prstGeom prst="leftBrace">
            <a:avLst>
              <a:gd name="adj1" fmla="val 45822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 sz="2500" b="1">
              <a:ea typeface="楷体_GB2312" pitchFamily="49" charset="-122"/>
            </a:endParaRPr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906463" y="1460500"/>
            <a:ext cx="1903412" cy="8620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kumimoji="1" lang="en-US" altLang="zh-CN" sz="2500" b="1">
                <a:ea typeface="楷体_GB2312" pitchFamily="49" charset="-122"/>
                <a:sym typeface="Monotype Sorts" pitchFamily="2" charset="2"/>
              </a:rPr>
              <a:t>①</a:t>
            </a:r>
            <a:r>
              <a:rPr kumimoji="1" lang="zh-CN" altLang="en-US" sz="2500" b="1">
                <a:ea typeface="楷体_GB2312" pitchFamily="49" charset="-122"/>
              </a:rPr>
              <a:t>普通数字</a:t>
            </a:r>
            <a:r>
              <a:rPr kumimoji="1" lang="en-US" altLang="zh-CN" sz="2500" b="1">
                <a:ea typeface="楷体_GB2312" pitchFamily="49" charset="-122"/>
              </a:rPr>
              <a:t>;</a:t>
            </a:r>
          </a:p>
          <a:p>
            <a:r>
              <a:rPr kumimoji="1" lang="en-US" altLang="zh-CN" sz="2500" b="1">
                <a:ea typeface="楷体_GB2312" pitchFamily="49" charset="-122"/>
                <a:sym typeface="Monotype Sorts" pitchFamily="2" charset="2"/>
              </a:rPr>
              <a:t>②</a:t>
            </a:r>
            <a:r>
              <a:rPr kumimoji="1" lang="zh-CN" altLang="en-US" sz="2500" b="1">
                <a:ea typeface="楷体_GB2312" pitchFamily="49" charset="-122"/>
              </a:rPr>
              <a:t>定位</a:t>
            </a:r>
            <a:r>
              <a:rPr kumimoji="1" lang="en-US" altLang="zh-CN" sz="2500" b="1">
                <a:ea typeface="楷体_GB2312" pitchFamily="49" charset="-122"/>
              </a:rPr>
              <a:t>.</a:t>
            </a:r>
            <a:endParaRPr kumimoji="1" lang="en-US" altLang="zh-CN" sz="2500" b="1" baseline="30000">
              <a:ea typeface="楷体_GB2312" pitchFamily="49" charset="-122"/>
            </a:endParaRPr>
          </a:p>
        </p:txBody>
      </p:sp>
      <p:sp>
        <p:nvSpPr>
          <p:cNvPr id="15366" name="Rectangle 6"/>
          <p:cNvSpPr>
            <a:spLocks noChangeArrowheads="1"/>
          </p:cNvSpPr>
          <p:nvPr/>
        </p:nvSpPr>
        <p:spPr bwMode="auto">
          <a:xfrm>
            <a:off x="688975" y="954088"/>
            <a:ext cx="2195513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kumimoji="1" lang="en-US" altLang="zh-CN" sz="2500" b="1">
                <a:solidFill>
                  <a:srgbClr val="FF3300"/>
                </a:solidFill>
                <a:ea typeface="楷体_GB2312" pitchFamily="49" charset="-122"/>
              </a:rPr>
              <a:t>(1) “0”</a:t>
            </a:r>
            <a:r>
              <a:rPr kumimoji="1" lang="zh-CN" altLang="en-US" sz="2500" b="1">
                <a:solidFill>
                  <a:srgbClr val="FF3300"/>
                </a:solidFill>
                <a:ea typeface="楷体_GB2312" pitchFamily="49" charset="-122"/>
              </a:rPr>
              <a:t>的作用</a:t>
            </a:r>
            <a:r>
              <a:rPr kumimoji="1" lang="en-US" altLang="zh-CN" sz="2500" b="1">
                <a:solidFill>
                  <a:srgbClr val="FF3300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15367" name="Rectangle 7"/>
          <p:cNvSpPr>
            <a:spLocks noChangeArrowheads="1"/>
          </p:cNvSpPr>
          <p:nvPr/>
        </p:nvSpPr>
        <p:spPr bwMode="auto">
          <a:xfrm>
            <a:off x="666750" y="3454400"/>
            <a:ext cx="10855325" cy="8620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kumimoji="1" lang="en-US" altLang="zh-CN" sz="2500" b="1">
                <a:solidFill>
                  <a:srgbClr val="FF3300"/>
                </a:solidFill>
                <a:ea typeface="楷体_GB2312" pitchFamily="49" charset="-122"/>
              </a:rPr>
              <a:t>(3)</a:t>
            </a:r>
            <a:r>
              <a:rPr kumimoji="1" lang="zh-CN" altLang="en-US" sz="2500" b="1">
                <a:solidFill>
                  <a:srgbClr val="FF3300"/>
                </a:solidFill>
                <a:ea typeface="楷体_GB2312" pitchFamily="49" charset="-122"/>
              </a:rPr>
              <a:t>化学计算中分数、系数以及倍数看成足够有效</a:t>
            </a:r>
            <a:r>
              <a:rPr kumimoji="1" lang="en-US" altLang="zh-CN" sz="2500" b="1">
                <a:solidFill>
                  <a:srgbClr val="FF3300"/>
                </a:solidFill>
                <a:ea typeface="楷体_GB2312" pitchFamily="49" charset="-122"/>
              </a:rPr>
              <a:t>.</a:t>
            </a:r>
            <a:endParaRPr kumimoji="1" lang="en-US" altLang="zh-CN" sz="2500" b="1">
              <a:ea typeface="楷体_GB2312" pitchFamily="49" charset="-122"/>
            </a:endParaRPr>
          </a:p>
          <a:p>
            <a:r>
              <a:rPr kumimoji="1" lang="zh-CN" altLang="en-US" sz="2500" b="1">
                <a:ea typeface="楷体_GB2312" pitchFamily="49" charset="-122"/>
              </a:rPr>
              <a:t>　　如</a:t>
            </a:r>
            <a:r>
              <a:rPr kumimoji="1" lang="en-US" altLang="zh-CN" sz="2500" b="1">
                <a:ea typeface="楷体_GB2312" pitchFamily="49" charset="-122"/>
              </a:rPr>
              <a:t>,</a:t>
            </a:r>
            <a:r>
              <a:rPr kumimoji="1" lang="zh-CN" altLang="en-US" sz="2500" b="1">
                <a:ea typeface="楷体_GB2312" pitchFamily="49" charset="-122"/>
              </a:rPr>
              <a:t>化学计量数比等</a:t>
            </a:r>
            <a:r>
              <a:rPr kumimoji="1" lang="en-US" altLang="zh-CN" sz="2500" b="1">
                <a:ea typeface="楷体_GB2312" pitchFamily="49" charset="-122"/>
              </a:rPr>
              <a:t>.</a:t>
            </a:r>
            <a:endParaRPr kumimoji="1" lang="zh-CN" altLang="en-US" sz="2500" b="1">
              <a:ea typeface="楷体_GB2312" pitchFamily="49" charset="-122"/>
            </a:endParaRPr>
          </a:p>
        </p:txBody>
      </p:sp>
      <p:sp>
        <p:nvSpPr>
          <p:cNvPr id="15368" name="Rectangle 8"/>
          <p:cNvSpPr>
            <a:spLocks noChangeArrowheads="1"/>
          </p:cNvSpPr>
          <p:nvPr/>
        </p:nvSpPr>
        <p:spPr bwMode="auto">
          <a:xfrm>
            <a:off x="3455988" y="1460500"/>
            <a:ext cx="1547812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kumimoji="1" lang="zh-CN" altLang="en-US" sz="2500" b="1">
                <a:ea typeface="楷体_GB2312" pitchFamily="49" charset="-122"/>
              </a:rPr>
              <a:t>如 </a:t>
            </a:r>
            <a:r>
              <a:rPr kumimoji="1" lang="en-US" altLang="zh-CN" sz="2500" b="1">
                <a:ea typeface="楷体_GB2312" pitchFamily="49" charset="-122"/>
              </a:rPr>
              <a:t>0.5180.</a:t>
            </a:r>
          </a:p>
        </p:txBody>
      </p:sp>
      <p:sp>
        <p:nvSpPr>
          <p:cNvPr id="15369" name="Rectangle 9"/>
          <p:cNvSpPr>
            <a:spLocks noChangeArrowheads="1"/>
          </p:cNvSpPr>
          <p:nvPr/>
        </p:nvSpPr>
        <p:spPr bwMode="auto">
          <a:xfrm>
            <a:off x="3260725" y="1882775"/>
            <a:ext cx="1709738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kumimoji="1" lang="zh-CN" altLang="en-US" sz="2500" b="1">
                <a:ea typeface="楷体_GB2312" pitchFamily="49" charset="-122"/>
              </a:rPr>
              <a:t>  如 </a:t>
            </a:r>
            <a:r>
              <a:rPr kumimoji="1" lang="en-US" altLang="zh-CN" sz="2500" b="1">
                <a:ea typeface="楷体_GB2312" pitchFamily="49" charset="-122"/>
              </a:rPr>
              <a:t>0.0518,</a:t>
            </a:r>
            <a:endParaRPr kumimoji="1" lang="en-US" altLang="zh-CN" sz="2500" b="1" baseline="30000">
              <a:ea typeface="楷体_GB2312" pitchFamily="49" charset="-122"/>
            </a:endParaRPr>
          </a:p>
        </p:txBody>
      </p:sp>
      <p:sp>
        <p:nvSpPr>
          <p:cNvPr id="15370" name="Rectangle 10"/>
          <p:cNvSpPr>
            <a:spLocks noChangeArrowheads="1"/>
          </p:cNvSpPr>
          <p:nvPr/>
        </p:nvSpPr>
        <p:spPr bwMode="auto">
          <a:xfrm>
            <a:off x="5451475" y="1460500"/>
            <a:ext cx="3433763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kumimoji="1" lang="en-US" altLang="zh-CN" sz="2500" b="1">
                <a:ea typeface="楷体_GB2312" pitchFamily="49" charset="-122"/>
              </a:rPr>
              <a:t>4</a:t>
            </a:r>
            <a:r>
              <a:rPr kumimoji="1" lang="zh-CN" altLang="en-US" sz="2500" b="1">
                <a:ea typeface="楷体_GB2312" pitchFamily="49" charset="-122"/>
              </a:rPr>
              <a:t>位有效数字</a:t>
            </a:r>
            <a:r>
              <a:rPr kumimoji="1" lang="en-US" altLang="zh-CN" sz="2500" b="1">
                <a:ea typeface="楷体_GB2312" pitchFamily="49" charset="-122"/>
              </a:rPr>
              <a:t>:5.180</a:t>
            </a:r>
            <a:r>
              <a:rPr kumimoji="1" lang="en-US" altLang="zh-CN" sz="2500" b="1">
                <a:ea typeface="楷体_GB2312" pitchFamily="49" charset="-122"/>
                <a:sym typeface="Symbol" pitchFamily="18" charset="2"/>
              </a:rPr>
              <a:t></a:t>
            </a:r>
            <a:r>
              <a:rPr kumimoji="1" lang="en-US" altLang="zh-CN" sz="2500" b="1">
                <a:ea typeface="楷体_GB2312" pitchFamily="49" charset="-122"/>
              </a:rPr>
              <a:t>10</a:t>
            </a:r>
            <a:r>
              <a:rPr kumimoji="1" lang="en-US" altLang="zh-CN" sz="2500" b="1" baseline="30000">
                <a:ea typeface="楷体_GB2312" pitchFamily="49" charset="-122"/>
              </a:rPr>
              <a:t>-1</a:t>
            </a:r>
          </a:p>
        </p:txBody>
      </p:sp>
      <p:sp>
        <p:nvSpPr>
          <p:cNvPr id="15371" name="Rectangle 11"/>
          <p:cNvSpPr>
            <a:spLocks noChangeArrowheads="1"/>
          </p:cNvSpPr>
          <p:nvPr/>
        </p:nvSpPr>
        <p:spPr bwMode="auto">
          <a:xfrm>
            <a:off x="5475288" y="1954213"/>
            <a:ext cx="3273425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kumimoji="1" lang="en-US" altLang="zh-CN" sz="2500" b="1">
                <a:ea typeface="楷体_GB2312" pitchFamily="49" charset="-122"/>
              </a:rPr>
              <a:t>3</a:t>
            </a:r>
            <a:r>
              <a:rPr kumimoji="1" lang="zh-CN" altLang="en-US" sz="2500" b="1">
                <a:ea typeface="楷体_GB2312" pitchFamily="49" charset="-122"/>
              </a:rPr>
              <a:t>位有效数字</a:t>
            </a:r>
            <a:r>
              <a:rPr kumimoji="1" lang="en-US" altLang="zh-CN" sz="2500" b="1">
                <a:ea typeface="楷体_GB2312" pitchFamily="49" charset="-122"/>
              </a:rPr>
              <a:t>:5.18</a:t>
            </a:r>
            <a:r>
              <a:rPr kumimoji="1" lang="en-US" altLang="zh-CN" sz="2500" b="1">
                <a:ea typeface="楷体_GB2312" pitchFamily="49" charset="-122"/>
                <a:sym typeface="Symbol" pitchFamily="18" charset="2"/>
              </a:rPr>
              <a:t></a:t>
            </a:r>
            <a:r>
              <a:rPr kumimoji="1" lang="en-US" altLang="zh-CN" sz="2500" b="1">
                <a:ea typeface="楷体_GB2312" pitchFamily="49" charset="-122"/>
              </a:rPr>
              <a:t>10</a:t>
            </a:r>
            <a:r>
              <a:rPr kumimoji="1" lang="en-US" altLang="zh-CN" sz="2500" b="1" baseline="30000">
                <a:ea typeface="楷体_GB2312" pitchFamily="49" charset="-122"/>
              </a:rPr>
              <a:t>-2</a:t>
            </a:r>
          </a:p>
        </p:txBody>
      </p:sp>
      <p:sp>
        <p:nvSpPr>
          <p:cNvPr id="15374" name="Rectangle 14"/>
          <p:cNvSpPr>
            <a:spLocks noChangeArrowheads="1"/>
          </p:cNvSpPr>
          <p:nvPr/>
        </p:nvSpPr>
        <p:spPr bwMode="auto">
          <a:xfrm>
            <a:off x="617538" y="2382838"/>
            <a:ext cx="3217862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kumimoji="1" lang="en-US" altLang="zh-CN" sz="2500" b="1">
                <a:solidFill>
                  <a:srgbClr val="FF3300"/>
                </a:solidFill>
                <a:ea typeface="楷体_GB2312" pitchFamily="49" charset="-122"/>
              </a:rPr>
              <a:t>(2)</a:t>
            </a:r>
            <a:r>
              <a:rPr kumimoji="1" lang="zh-CN" altLang="en-US" sz="2500" b="1">
                <a:solidFill>
                  <a:srgbClr val="FF3300"/>
                </a:solidFill>
                <a:ea typeface="楷体_GB2312" pitchFamily="49" charset="-122"/>
              </a:rPr>
              <a:t>与仪器精度相对应</a:t>
            </a:r>
            <a:r>
              <a:rPr kumimoji="1" lang="en-US" altLang="zh-CN" sz="2500" b="1">
                <a:solidFill>
                  <a:srgbClr val="FF3300"/>
                </a:solidFill>
                <a:ea typeface="楷体_GB2312" pitchFamily="49" charset="-122"/>
              </a:rPr>
              <a:t>.</a:t>
            </a:r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9028113" y="3362325"/>
            <a:ext cx="2039937" cy="2254250"/>
            <a:chOff x="4261" y="2124"/>
            <a:chExt cx="1020" cy="1503"/>
          </a:xfrm>
        </p:grpSpPr>
        <p:pic>
          <p:nvPicPr>
            <p:cNvPr id="5138" name="Picture 16" descr="11-mon4"/>
            <p:cNvPicPr>
              <a:picLocks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261" y="2153"/>
              <a:ext cx="1020" cy="1474"/>
            </a:xfrm>
            <a:prstGeom prst="rect">
              <a:avLst/>
            </a:prstGeom>
            <a:noFill/>
            <a:ln w="25400">
              <a:solidFill>
                <a:srgbClr val="FF00FF"/>
              </a:solidFill>
              <a:miter lim="800000"/>
              <a:headEnd/>
              <a:tailEnd/>
            </a:ln>
          </p:spPr>
        </p:pic>
        <p:sp>
          <p:nvSpPr>
            <p:cNvPr id="5139" name="Rectangle 17"/>
            <p:cNvSpPr>
              <a:spLocks noChangeArrowheads="1"/>
            </p:cNvSpPr>
            <p:nvPr/>
          </p:nvSpPr>
          <p:spPr bwMode="auto">
            <a:xfrm>
              <a:off x="4375" y="2124"/>
              <a:ext cx="734" cy="31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kumimoji="1" lang="zh-CN" altLang="en-US" sz="2500" b="1">
                  <a:solidFill>
                    <a:srgbClr val="0000E8"/>
                  </a:solidFill>
                  <a:ea typeface="楷体_GB2312" pitchFamily="49" charset="-122"/>
                </a:rPr>
                <a:t>电子天平</a:t>
              </a:r>
            </a:p>
          </p:txBody>
        </p:sp>
      </p:grpSp>
      <p:sp>
        <p:nvSpPr>
          <p:cNvPr id="5132" name="Rectangle 18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1.3.2</a:t>
            </a:r>
            <a:r>
              <a:rPr lang="zh-CN" altLang="en-US" smtClean="0">
                <a:ea typeface="黑体" pitchFamily="49" charset="-122"/>
              </a:rPr>
              <a:t>有效数字的位数</a:t>
            </a:r>
          </a:p>
        </p:txBody>
      </p:sp>
      <p:sp>
        <p:nvSpPr>
          <p:cNvPr id="18" name="Rectangle 4"/>
          <p:cNvSpPr>
            <a:spLocks noChangeArrowheads="1"/>
          </p:cNvSpPr>
          <p:nvPr/>
        </p:nvSpPr>
        <p:spPr bwMode="auto">
          <a:xfrm>
            <a:off x="617538" y="4833938"/>
            <a:ext cx="10207625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kumimoji="1" lang="zh-CN" altLang="en-US" sz="2500" b="1" dirty="0">
                <a:ea typeface="楷体_GB2312" pitchFamily="49" charset="-122"/>
              </a:rPr>
              <a:t>　　如</a:t>
            </a:r>
            <a:r>
              <a:rPr kumimoji="1" lang="en-US" altLang="zh-CN" sz="2500" b="1" dirty="0">
                <a:ea typeface="楷体_GB2312" pitchFamily="49" charset="-122"/>
              </a:rPr>
              <a:t>:pH=10.58.   2</a:t>
            </a:r>
            <a:r>
              <a:rPr kumimoji="1" lang="zh-CN" altLang="en-US" sz="2500" b="1" dirty="0">
                <a:ea typeface="楷体_GB2312" pitchFamily="49" charset="-122"/>
              </a:rPr>
              <a:t>位有效数字</a:t>
            </a:r>
            <a:r>
              <a:rPr kumimoji="1" lang="en-US" altLang="zh-CN" sz="2500" b="1" dirty="0">
                <a:ea typeface="楷体_GB2312" pitchFamily="49" charset="-122"/>
              </a:rPr>
              <a:t>,[H</a:t>
            </a:r>
            <a:r>
              <a:rPr kumimoji="1" lang="en-US" altLang="zh-CN" sz="2500" b="1" baseline="30000" dirty="0">
                <a:ea typeface="楷体_GB2312" pitchFamily="49" charset="-122"/>
              </a:rPr>
              <a:t>+</a:t>
            </a:r>
            <a:r>
              <a:rPr kumimoji="1" lang="en-US" altLang="zh-CN" sz="2500" b="1" dirty="0">
                <a:ea typeface="楷体_GB2312" pitchFamily="49" charset="-122"/>
              </a:rPr>
              <a:t>] = 2.6×10</a:t>
            </a:r>
            <a:r>
              <a:rPr kumimoji="1" lang="en-US" altLang="zh-CN" sz="2500" b="1" baseline="30000" dirty="0">
                <a:ea typeface="楷体_GB2312" pitchFamily="49" charset="-122"/>
              </a:rPr>
              <a:t>-11</a:t>
            </a:r>
            <a:r>
              <a:rPr kumimoji="1" lang="en-US" altLang="zh-CN" sz="2500" b="1" dirty="0">
                <a:ea typeface="楷体_GB2312" pitchFamily="49" charset="-122"/>
              </a:rPr>
              <a:t>mol·L</a:t>
            </a:r>
            <a:r>
              <a:rPr kumimoji="1" lang="en-US" altLang="zh-CN" sz="2500" b="1" baseline="30000" dirty="0">
                <a:ea typeface="楷体_GB2312" pitchFamily="49" charset="-122"/>
              </a:rPr>
              <a:t>-1</a:t>
            </a:r>
            <a:r>
              <a:rPr kumimoji="1"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19" name="Rectangle 5"/>
          <p:cNvSpPr>
            <a:spLocks noChangeArrowheads="1"/>
          </p:cNvSpPr>
          <p:nvPr/>
        </p:nvSpPr>
        <p:spPr bwMode="auto">
          <a:xfrm>
            <a:off x="688975" y="4311650"/>
            <a:ext cx="10039350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kumimoji="1" lang="en-US" altLang="zh-CN" sz="2500" b="1">
                <a:solidFill>
                  <a:srgbClr val="FF3300"/>
                </a:solidFill>
                <a:ea typeface="楷体_GB2312" pitchFamily="49" charset="-122"/>
              </a:rPr>
              <a:t>(4)pH</a:t>
            </a:r>
            <a:r>
              <a:rPr kumimoji="1" lang="zh-CN" altLang="en-US" sz="2500" b="1">
                <a:solidFill>
                  <a:srgbClr val="FF3300"/>
                </a:solidFill>
                <a:ea typeface="楷体_GB2312" pitchFamily="49" charset="-122"/>
              </a:rPr>
              <a:t>、</a:t>
            </a:r>
            <a:r>
              <a:rPr kumimoji="1" lang="en-US" altLang="zh-CN" sz="2500" b="1">
                <a:solidFill>
                  <a:srgbClr val="FF3300"/>
                </a:solidFill>
                <a:ea typeface="楷体_GB2312" pitchFamily="49" charset="-122"/>
              </a:rPr>
              <a:t>lg</a:t>
            </a:r>
            <a:r>
              <a:rPr kumimoji="1" lang="en-US" altLang="zh-CN" sz="2500" b="1" i="1">
                <a:solidFill>
                  <a:srgbClr val="FF3300"/>
                </a:solidFill>
                <a:ea typeface="楷体_GB2312" pitchFamily="49" charset="-122"/>
              </a:rPr>
              <a:t>K</a:t>
            </a:r>
            <a:r>
              <a:rPr kumimoji="1" lang="zh-CN" altLang="en-US" sz="2500" b="1">
                <a:solidFill>
                  <a:srgbClr val="FF3300"/>
                </a:solidFill>
                <a:ea typeface="楷体_GB2312" pitchFamily="49" charset="-122"/>
              </a:rPr>
              <a:t>等对数关系</a:t>
            </a:r>
            <a:r>
              <a:rPr kumimoji="1" lang="en-US" altLang="zh-CN" sz="2500" b="1">
                <a:solidFill>
                  <a:srgbClr val="FF3300"/>
                </a:solidFill>
                <a:ea typeface="楷体_GB2312" pitchFamily="49" charset="-122"/>
              </a:rPr>
              <a:t>,</a:t>
            </a:r>
            <a:r>
              <a:rPr kumimoji="1" lang="zh-CN" altLang="en-US" sz="2500" b="1">
                <a:solidFill>
                  <a:srgbClr val="FF3300"/>
                </a:solidFill>
                <a:ea typeface="楷体_GB2312" pitchFamily="49" charset="-122"/>
              </a:rPr>
              <a:t>位数取决于小数部分位数</a:t>
            </a:r>
            <a:r>
              <a:rPr kumimoji="1" lang="en-US" altLang="zh-CN" sz="2500" b="1">
                <a:solidFill>
                  <a:srgbClr val="FF3300"/>
                </a:solidFill>
                <a:ea typeface="楷体_GB2312" pitchFamily="49" charset="-122"/>
              </a:rPr>
              <a:t>.</a:t>
            </a:r>
          </a:p>
        </p:txBody>
      </p:sp>
      <p:sp>
        <p:nvSpPr>
          <p:cNvPr id="20" name="Rectangle 7"/>
          <p:cNvSpPr>
            <a:spLocks noChangeArrowheads="1"/>
          </p:cNvSpPr>
          <p:nvPr/>
        </p:nvSpPr>
        <p:spPr bwMode="auto">
          <a:xfrm>
            <a:off x="666750" y="2811463"/>
            <a:ext cx="10855325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kumimoji="1" lang="zh-CN" altLang="en-US" sz="2500" b="1">
                <a:ea typeface="楷体_GB2312" pitchFamily="49" charset="-122"/>
              </a:rPr>
              <a:t>　   如常量滴定分析</a:t>
            </a:r>
            <a:r>
              <a:rPr kumimoji="1" lang="en-US" altLang="zh-CN" sz="2500" b="1">
                <a:ea typeface="楷体_GB2312" pitchFamily="49" charset="-122"/>
              </a:rPr>
              <a:t>,</a:t>
            </a:r>
            <a:r>
              <a:rPr kumimoji="1" lang="en-US" altLang="zh-CN" sz="2500" b="1">
                <a:solidFill>
                  <a:srgbClr val="0000FF"/>
                </a:solidFill>
                <a:ea typeface="楷体_GB2312" pitchFamily="49" charset="-122"/>
              </a:rPr>
              <a:t>buret</a:t>
            </a:r>
            <a:r>
              <a:rPr kumimoji="1" lang="zh-CN" altLang="en-US" sz="2500" b="1">
                <a:ea typeface="楷体_GB2312" pitchFamily="49" charset="-122"/>
                <a:hlinkClick r:id="" action="ppaction://hlinkshowjump?jump=nextslide"/>
              </a:rPr>
              <a:t>读数</a:t>
            </a:r>
            <a:r>
              <a:rPr kumimoji="1" lang="zh-CN" altLang="en-US" sz="2500" b="1" u="sng">
                <a:ea typeface="楷体_GB2312" pitchFamily="49" charset="-122"/>
              </a:rPr>
              <a:t>应该</a:t>
            </a:r>
            <a:r>
              <a:rPr kumimoji="1" lang="zh-CN" altLang="en-US" sz="2500" b="1">
                <a:ea typeface="楷体_GB2312" pitchFamily="49" charset="-122"/>
              </a:rPr>
              <a:t>而且</a:t>
            </a:r>
            <a:r>
              <a:rPr kumimoji="1" lang="zh-CN" altLang="en-US" sz="2500" b="1" u="sng">
                <a:ea typeface="楷体_GB2312" pitchFamily="49" charset="-122"/>
              </a:rPr>
              <a:t>必须</a:t>
            </a:r>
            <a:r>
              <a:rPr kumimoji="1" lang="zh-CN" altLang="en-US" sz="2500" b="1">
                <a:ea typeface="楷体_GB2312" pitchFamily="49" charset="-122"/>
              </a:rPr>
              <a:t>记录至小数点后第二位</a:t>
            </a:r>
            <a:r>
              <a:rPr kumimoji="1" lang="en-US" altLang="zh-CN" sz="2500" b="1">
                <a:ea typeface="楷体_GB2312" pitchFamily="49" charset="-122"/>
              </a:rPr>
              <a:t>.</a:t>
            </a:r>
          </a:p>
        </p:txBody>
      </p:sp>
      <p:sp>
        <p:nvSpPr>
          <p:cNvPr id="5136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25"/>
            <a:ext cx="360363" cy="360363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37" name="Oval 27" descr="图片9">
            <a:hlinkClick r:id="rId8" action="ppaction://hlinksldjump"/>
          </p:cNvPr>
          <p:cNvSpPr>
            <a:spLocks noChangeAspect="1" noChangeArrowheads="1"/>
          </p:cNvSpPr>
          <p:nvPr/>
        </p:nvSpPr>
        <p:spPr bwMode="gray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5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5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6" dur="500"/>
                                        <p:tgtEl>
                                          <p:spTgt spid="1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1" dur="500"/>
                                        <p:tgtEl>
                                          <p:spTgt spid="1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6" dur="500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1" dur="500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6" dur="500"/>
                                        <p:tgtEl>
                                          <p:spTgt spid="15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1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0" dur="500"/>
                                        <p:tgtEl>
                                          <p:spTgt spid="15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5" dur="500"/>
                                        <p:tgtEl>
                                          <p:spTgt spid="153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5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" grpId="0" animBg="1"/>
      <p:bldP spid="15365" grpId="0" build="p" autoUpdateAnimBg="0"/>
      <p:bldP spid="15366" grpId="0" autoUpdateAnimBg="0"/>
      <p:bldP spid="15367" grpId="0" build="p" autoUpdateAnimBg="0"/>
      <p:bldP spid="15368" grpId="0" autoUpdateAnimBg="0"/>
      <p:bldP spid="15369" grpId="0" autoUpdateAnimBg="0"/>
      <p:bldP spid="15370" grpId="0" autoUpdateAnimBg="0"/>
      <p:bldP spid="15371" grpId="0" autoUpdateAnimBg="0"/>
      <p:bldP spid="15374" grpId="0" autoUpdateAnimBg="0"/>
      <p:bldP spid="18" grpId="0" build="p" autoUpdateAnimBg="0"/>
      <p:bldP spid="19" grpId="0" autoUpdateAnimBg="0"/>
      <p:bldP spid="20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5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1.3.2</a:t>
            </a:r>
            <a:r>
              <a:rPr lang="zh-CN" altLang="en-US" smtClean="0">
                <a:ea typeface="黑体" pitchFamily="49" charset="-122"/>
              </a:rPr>
              <a:t>有效数字的位数</a:t>
            </a:r>
          </a:p>
        </p:txBody>
      </p:sp>
      <p:pic>
        <p:nvPicPr>
          <p:cNvPr id="6147" name="Picture 20" descr="读数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03475" y="1184275"/>
            <a:ext cx="6372225" cy="4111625"/>
          </a:xfrm>
          <a:prstGeom prst="rect">
            <a:avLst/>
          </a:prstGeom>
          <a:noFill/>
          <a:ln w="19050">
            <a:solidFill>
              <a:srgbClr val="FF00FF"/>
            </a:solidFill>
            <a:miter lim="800000"/>
            <a:headEnd/>
            <a:tailEnd/>
          </a:ln>
        </p:spPr>
      </p:pic>
      <p:sp>
        <p:nvSpPr>
          <p:cNvPr id="6148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5403850" y="5668963"/>
            <a:ext cx="360363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5"/>
          <p:cNvSpPr>
            <a:spLocks noChangeArrowheads="1"/>
          </p:cNvSpPr>
          <p:nvPr/>
        </p:nvSpPr>
        <p:spPr bwMode="auto">
          <a:xfrm>
            <a:off x="906463" y="1020763"/>
            <a:ext cx="10039350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kumimoji="1" lang="en-US" altLang="zh-CN" sz="2500" b="1">
                <a:solidFill>
                  <a:srgbClr val="FF3300"/>
                </a:solidFill>
                <a:ea typeface="楷体_GB2312" pitchFamily="49" charset="-122"/>
              </a:rPr>
              <a:t>(1)</a:t>
            </a:r>
            <a:r>
              <a:rPr kumimoji="1" lang="zh-CN" altLang="en-US" sz="2500" b="1">
                <a:solidFill>
                  <a:srgbClr val="FF3300"/>
                </a:solidFill>
                <a:ea typeface="楷体_GB2312" pitchFamily="49" charset="-122"/>
              </a:rPr>
              <a:t>修约过程</a:t>
            </a:r>
            <a:r>
              <a:rPr kumimoji="1" lang="en-US" altLang="zh-CN" sz="2500" b="1">
                <a:solidFill>
                  <a:srgbClr val="FF3300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26630" name="Rectangle 6"/>
          <p:cNvSpPr>
            <a:spLocks noChangeArrowheads="1"/>
          </p:cNvSpPr>
          <p:nvPr/>
        </p:nvSpPr>
        <p:spPr bwMode="auto">
          <a:xfrm>
            <a:off x="906463" y="1460500"/>
            <a:ext cx="10117137" cy="12461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kumimoji="1" lang="en-US" altLang="zh-CN" sz="2500" b="1">
                <a:ea typeface="楷体_GB2312" pitchFamily="49" charset="-122"/>
              </a:rPr>
              <a:t>        </a:t>
            </a:r>
            <a:r>
              <a:rPr kumimoji="1" lang="zh-CN" altLang="en-US" sz="2500" b="1">
                <a:ea typeface="楷体_GB2312" pitchFamily="49" charset="-122"/>
              </a:rPr>
              <a:t>舍去多余数字</a:t>
            </a:r>
            <a:r>
              <a:rPr kumimoji="1" lang="en-US" altLang="zh-CN" sz="2500" b="1">
                <a:ea typeface="楷体_GB2312" pitchFamily="49" charset="-122"/>
              </a:rPr>
              <a:t>.</a:t>
            </a:r>
          </a:p>
          <a:p>
            <a:r>
              <a:rPr kumimoji="1" lang="en-US" altLang="zh-CN" sz="2500" b="1">
                <a:solidFill>
                  <a:srgbClr val="FF3300"/>
                </a:solidFill>
                <a:ea typeface="楷体_GB2312" pitchFamily="49" charset="-122"/>
              </a:rPr>
              <a:t>(2)</a:t>
            </a:r>
            <a:r>
              <a:rPr kumimoji="1" lang="zh-CN" altLang="en-US" sz="2500" b="1">
                <a:solidFill>
                  <a:srgbClr val="FF3300"/>
                </a:solidFill>
                <a:ea typeface="楷体_GB2312" pitchFamily="49" charset="-122"/>
              </a:rPr>
              <a:t> 规则</a:t>
            </a:r>
            <a:r>
              <a:rPr kumimoji="1" lang="en-US" altLang="zh-CN" sz="2500" b="1">
                <a:solidFill>
                  <a:srgbClr val="FF3300"/>
                </a:solidFill>
                <a:ea typeface="楷体_GB2312" pitchFamily="49" charset="-122"/>
              </a:rPr>
              <a:t>:</a:t>
            </a:r>
            <a:endParaRPr kumimoji="1" lang="en-US" altLang="zh-CN" sz="2500" b="1">
              <a:ea typeface="楷体_GB2312" pitchFamily="49" charset="-122"/>
            </a:endParaRPr>
          </a:p>
          <a:p>
            <a:r>
              <a:rPr kumimoji="1" lang="en-US" altLang="zh-CN" sz="2500" b="1">
                <a:ea typeface="楷体_GB2312" pitchFamily="49" charset="-122"/>
              </a:rPr>
              <a:t>        </a:t>
            </a:r>
            <a:r>
              <a:rPr kumimoji="1" lang="zh-CN" altLang="en-US" sz="2500" b="1">
                <a:ea typeface="楷体_GB2312" pitchFamily="49" charset="-122"/>
              </a:rPr>
              <a:t>四舍六入五成双</a:t>
            </a:r>
            <a:r>
              <a:rPr kumimoji="1" lang="en-US" altLang="zh-CN" sz="2500" b="1">
                <a:ea typeface="楷体_GB2312" pitchFamily="49" charset="-122"/>
              </a:rPr>
              <a:t>.</a:t>
            </a:r>
          </a:p>
        </p:txBody>
      </p:sp>
      <p:sp>
        <p:nvSpPr>
          <p:cNvPr id="26631" name="Rectangle 7"/>
          <p:cNvSpPr>
            <a:spLocks noChangeArrowheads="1"/>
          </p:cNvSpPr>
          <p:nvPr/>
        </p:nvSpPr>
        <p:spPr bwMode="auto">
          <a:xfrm>
            <a:off x="760413" y="3240088"/>
            <a:ext cx="10207625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kumimoji="1" lang="zh-CN" altLang="en-US" sz="2500" b="1">
                <a:ea typeface="楷体_GB2312" pitchFamily="49" charset="-122"/>
                <a:hlinkClick r:id="rId2" action="ppaction://hlinkpres?slideindex=1&amp;slidetitle=幻灯片 1"/>
              </a:rPr>
              <a:t>解</a:t>
            </a:r>
            <a:r>
              <a:rPr kumimoji="1" lang="en-US" altLang="zh-CN" sz="2500" b="1">
                <a:ea typeface="楷体_GB2312" pitchFamily="49" charset="-122"/>
              </a:rPr>
              <a:t>:</a:t>
            </a:r>
          </a:p>
        </p:txBody>
      </p:sp>
      <p:sp>
        <p:nvSpPr>
          <p:cNvPr id="7173" name="Rectangle 10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1.3.3</a:t>
            </a:r>
            <a:r>
              <a:rPr lang="zh-CN" altLang="en-US" smtClean="0">
                <a:ea typeface="黑体" pitchFamily="49" charset="-122"/>
              </a:rPr>
              <a:t>有效数字的修约规则</a:t>
            </a:r>
          </a:p>
        </p:txBody>
      </p:sp>
      <p:sp>
        <p:nvSpPr>
          <p:cNvPr id="7174" name="Oval 26" descr="图片8">
            <a:hlinkClick r:id="rId3" action="ppaction://hlinksldjump"/>
          </p:cNvPr>
          <p:cNvSpPr>
            <a:spLocks noChangeAspect="1" noChangeArrowheads="1"/>
          </p:cNvSpPr>
          <p:nvPr/>
        </p:nvSpPr>
        <p:spPr bwMode="gray">
          <a:xfrm>
            <a:off x="0" y="5597525"/>
            <a:ext cx="360363" cy="360363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5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Rectangle 16"/>
          <p:cNvSpPr txBox="1">
            <a:spLocks noChangeArrowheads="1"/>
          </p:cNvSpPr>
          <p:nvPr/>
        </p:nvSpPr>
        <p:spPr>
          <a:xfrm>
            <a:off x="760413" y="2690813"/>
            <a:ext cx="10572750" cy="4778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kumimoji="1" lang="zh-CN" altLang="en-US" sz="2500" b="1" kern="0" dirty="0">
                <a:latin typeface="+mn-lt"/>
                <a:ea typeface="楷体_GB2312" pitchFamily="49" charset="-122"/>
                <a:cs typeface="+mj-cs"/>
              </a:rPr>
              <a:t>例</a:t>
            </a:r>
            <a:r>
              <a:rPr kumimoji="1" lang="en-US" altLang="zh-CN" sz="2500" b="1" kern="0" dirty="0">
                <a:latin typeface="+mn-lt"/>
                <a:ea typeface="楷体_GB2312" pitchFamily="49" charset="-122"/>
                <a:cs typeface="+mj-cs"/>
              </a:rPr>
              <a:t>1.</a:t>
            </a:r>
            <a:r>
              <a:rPr kumimoji="1" lang="zh-CN" altLang="en-US" sz="2500" b="1" kern="0" dirty="0">
                <a:latin typeface="+mn-lt"/>
                <a:ea typeface="楷体_GB2312" pitchFamily="49" charset="-122"/>
                <a:cs typeface="+mj-cs"/>
              </a:rPr>
              <a:t>请将</a:t>
            </a:r>
            <a:r>
              <a:rPr kumimoji="1" lang="en-US" altLang="zh-CN" sz="2500" b="1" kern="0" dirty="0">
                <a:latin typeface="+mn-lt"/>
                <a:ea typeface="楷体_GB2312" pitchFamily="49" charset="-122"/>
                <a:cs typeface="+mj-cs"/>
              </a:rPr>
              <a:t>3.1424</a:t>
            </a:r>
            <a:r>
              <a:rPr kumimoji="1" lang="zh-CN" altLang="en-US" sz="2500" b="1" kern="0" dirty="0">
                <a:latin typeface="+mn-lt"/>
                <a:ea typeface="楷体_GB2312" pitchFamily="49" charset="-122"/>
                <a:cs typeface="+mj-cs"/>
              </a:rPr>
              <a:t>、</a:t>
            </a:r>
            <a:r>
              <a:rPr kumimoji="1" lang="en-US" altLang="zh-CN" sz="2500" b="1" kern="0" dirty="0">
                <a:latin typeface="+mn-lt"/>
                <a:ea typeface="楷体_GB2312" pitchFamily="49" charset="-122"/>
                <a:cs typeface="+mj-cs"/>
              </a:rPr>
              <a:t>3.2156</a:t>
            </a:r>
            <a:r>
              <a:rPr kumimoji="1" lang="zh-CN" altLang="en-US" sz="2500" b="1" kern="0" dirty="0">
                <a:latin typeface="+mn-lt"/>
                <a:ea typeface="楷体_GB2312" pitchFamily="49" charset="-122"/>
                <a:cs typeface="+mj-cs"/>
              </a:rPr>
              <a:t>、</a:t>
            </a:r>
            <a:r>
              <a:rPr kumimoji="1" lang="en-US" altLang="zh-CN" sz="2500" b="1" kern="0" dirty="0">
                <a:latin typeface="+mn-lt"/>
                <a:ea typeface="楷体_GB2312" pitchFamily="49" charset="-122"/>
                <a:cs typeface="+mj-cs"/>
              </a:rPr>
              <a:t>5.6235</a:t>
            </a:r>
            <a:r>
              <a:rPr kumimoji="1" lang="zh-CN" altLang="en-US" sz="2500" b="1" kern="0" dirty="0">
                <a:latin typeface="+mn-lt"/>
                <a:ea typeface="楷体_GB2312" pitchFamily="49" charset="-122"/>
                <a:cs typeface="+mj-cs"/>
              </a:rPr>
              <a:t>、</a:t>
            </a:r>
            <a:r>
              <a:rPr kumimoji="1" lang="en-US" altLang="zh-CN" sz="2500" b="1" kern="0" dirty="0">
                <a:latin typeface="+mn-lt"/>
                <a:ea typeface="楷体_GB2312" pitchFamily="49" charset="-122"/>
                <a:cs typeface="+mj-cs"/>
              </a:rPr>
              <a:t>4.6245</a:t>
            </a:r>
            <a:r>
              <a:rPr kumimoji="1" lang="zh-CN" altLang="en-US" sz="2500" b="1" kern="0" dirty="0">
                <a:latin typeface="+mn-lt"/>
                <a:ea typeface="楷体_GB2312" pitchFamily="49" charset="-122"/>
                <a:cs typeface="+mj-cs"/>
              </a:rPr>
              <a:t>等修约成</a:t>
            </a:r>
            <a:r>
              <a:rPr kumimoji="1" lang="en-US" altLang="zh-CN" sz="2500" b="1" kern="0" dirty="0">
                <a:latin typeface="+mn-lt"/>
                <a:ea typeface="楷体_GB2312" pitchFamily="49" charset="-122"/>
                <a:cs typeface="+mj-cs"/>
              </a:rPr>
              <a:t>4</a:t>
            </a:r>
            <a:r>
              <a:rPr kumimoji="1" lang="zh-CN" altLang="en-US" sz="2500" b="1" kern="0" dirty="0">
                <a:latin typeface="+mn-lt"/>
                <a:ea typeface="楷体_GB2312" pitchFamily="49" charset="-122"/>
                <a:cs typeface="+mj-cs"/>
              </a:rPr>
              <a:t>位有效数字</a:t>
            </a:r>
            <a:r>
              <a:rPr kumimoji="1" lang="en-US" altLang="zh-CN" sz="2500" b="1" kern="0" dirty="0">
                <a:latin typeface="+mn-lt"/>
                <a:ea typeface="楷体_GB2312" pitchFamily="49" charset="-122"/>
                <a:cs typeface="+mj-cs"/>
              </a:rPr>
              <a:t>.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6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266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266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2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 autoUpdateAnimBg="0"/>
      <p:bldP spid="26630" grpId="0" build="p" autoUpdateAnimBg="0"/>
      <p:bldP spid="26631" grpId="0" autoUpdateAnimBg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906463" y="1322388"/>
            <a:ext cx="10231437" cy="862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>
            <a:spAutoFit/>
          </a:bodyPr>
          <a:lstStyle/>
          <a:p>
            <a:pPr>
              <a:defRPr/>
            </a:pPr>
            <a:r>
              <a:rPr kumimoji="1" lang="en-US" altLang="zh-CN" sz="2500" b="1" dirty="0">
                <a:ea typeface="楷体_GB2312"/>
                <a:sym typeface="Monotype Sorts" pitchFamily="2" charset="2"/>
              </a:rPr>
              <a:t>        </a:t>
            </a:r>
            <a:r>
              <a:rPr kumimoji="1" lang="zh-CN" altLang="en-US" sz="2500" b="1" u="sng" dirty="0">
                <a:solidFill>
                  <a:srgbClr val="00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  <a:sym typeface="Monotype Sorts" pitchFamily="2" charset="2"/>
              </a:rPr>
              <a:t>小数点后</a:t>
            </a:r>
            <a:r>
              <a:rPr kumimoji="1" lang="zh-CN" altLang="en-US" sz="2500" b="1" dirty="0">
                <a:solidFill>
                  <a:srgbClr val="00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  <a:sym typeface="Monotype Sorts" pitchFamily="2" charset="2"/>
              </a:rPr>
              <a:t>保留的位数</a:t>
            </a:r>
            <a:r>
              <a:rPr kumimoji="1" lang="zh-CN" altLang="en-US" sz="2500" b="1" dirty="0">
                <a:ea typeface="楷体_GB2312"/>
                <a:sym typeface="Monotype Sorts" pitchFamily="2" charset="2"/>
              </a:rPr>
              <a:t>取决于</a:t>
            </a:r>
            <a:r>
              <a:rPr kumimoji="1" lang="zh-CN" altLang="en-US" sz="2500" b="1" u="sng" dirty="0">
                <a:ea typeface="楷体_GB2312"/>
                <a:sym typeface="Monotype Sorts" pitchFamily="2" charset="2"/>
              </a:rPr>
              <a:t>小数点后</a:t>
            </a:r>
            <a:r>
              <a:rPr kumimoji="1" lang="zh-CN" altLang="en-US" sz="2500" b="1" dirty="0">
                <a:ea typeface="楷体_GB2312"/>
                <a:sym typeface="Monotype Sorts" pitchFamily="2" charset="2"/>
              </a:rPr>
              <a:t>位数最少的一个</a:t>
            </a:r>
            <a:r>
              <a:rPr kumimoji="1" lang="en-US" altLang="zh-CN" sz="2500" b="1" dirty="0">
                <a:ea typeface="楷体_GB2312"/>
                <a:sym typeface="Monotype Sorts" pitchFamily="2" charset="2"/>
              </a:rPr>
              <a:t>,</a:t>
            </a:r>
            <a:r>
              <a:rPr kumimoji="1" lang="zh-CN" altLang="en-US" sz="2500" b="1" dirty="0">
                <a:ea typeface="楷体_GB2312"/>
                <a:sym typeface="Monotype Sorts" pitchFamily="2" charset="2"/>
              </a:rPr>
              <a:t>即绝对误差最大的一个</a:t>
            </a:r>
            <a:r>
              <a:rPr kumimoji="1" lang="en-US" altLang="zh-CN" sz="2500" b="1" dirty="0">
                <a:ea typeface="楷体_GB2312"/>
                <a:sym typeface="Monotype Sorts" pitchFamily="2" charset="2"/>
              </a:rPr>
              <a:t>.</a:t>
            </a:r>
          </a:p>
        </p:txBody>
      </p:sp>
      <p:sp>
        <p:nvSpPr>
          <p:cNvPr id="18437" name="Rectangle 5"/>
          <p:cNvSpPr>
            <a:spLocks noChangeArrowheads="1"/>
          </p:cNvSpPr>
          <p:nvPr/>
        </p:nvSpPr>
        <p:spPr bwMode="auto">
          <a:xfrm>
            <a:off x="906463" y="882650"/>
            <a:ext cx="1311275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kumimoji="1" lang="en-US" altLang="zh-CN" sz="2500" b="1">
                <a:solidFill>
                  <a:srgbClr val="FF3300"/>
                </a:solidFill>
                <a:ea typeface="楷体_GB2312" pitchFamily="49" charset="-122"/>
                <a:sym typeface="Monotype Sorts" pitchFamily="2" charset="2"/>
              </a:rPr>
              <a:t>(1)</a:t>
            </a:r>
            <a:r>
              <a:rPr kumimoji="1" lang="zh-CN" altLang="en-US" sz="2500" b="1">
                <a:solidFill>
                  <a:srgbClr val="FF3300"/>
                </a:solidFill>
                <a:ea typeface="楷体_GB2312" pitchFamily="49" charset="-122"/>
                <a:sym typeface="Monotype Sorts" pitchFamily="2" charset="2"/>
              </a:rPr>
              <a:t>加减</a:t>
            </a:r>
            <a:r>
              <a:rPr kumimoji="1" lang="en-US" altLang="zh-CN" sz="2500" b="1">
                <a:solidFill>
                  <a:srgbClr val="FF3300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18438" name="Rectangle 6"/>
          <p:cNvSpPr>
            <a:spLocks noChangeArrowheads="1"/>
          </p:cNvSpPr>
          <p:nvPr/>
        </p:nvSpPr>
        <p:spPr bwMode="auto">
          <a:xfrm>
            <a:off x="760413" y="3240088"/>
            <a:ext cx="10207625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kumimoji="1" lang="en-US" altLang="zh-CN" sz="2500" b="1">
                <a:solidFill>
                  <a:srgbClr val="FF3300"/>
                </a:solidFill>
                <a:ea typeface="楷体_GB2312" pitchFamily="49" charset="-122"/>
                <a:sym typeface="Monotype Sorts" pitchFamily="2" charset="2"/>
              </a:rPr>
              <a:t>(2)</a:t>
            </a:r>
            <a:r>
              <a:rPr kumimoji="1" lang="zh-CN" altLang="en-US" sz="2500" b="1">
                <a:solidFill>
                  <a:srgbClr val="FF3300"/>
                </a:solidFill>
                <a:ea typeface="楷体_GB2312" pitchFamily="49" charset="-122"/>
                <a:sym typeface="Monotype Sorts" pitchFamily="2" charset="2"/>
              </a:rPr>
              <a:t>乘除</a:t>
            </a:r>
            <a:r>
              <a:rPr kumimoji="1" lang="en-US" altLang="zh-CN" sz="2500" b="1">
                <a:solidFill>
                  <a:srgbClr val="FF3300"/>
                </a:solidFill>
                <a:ea typeface="楷体_GB2312" pitchFamily="49" charset="-122"/>
                <a:sym typeface="Monotype Sorts" pitchFamily="2" charset="2"/>
              </a:rPr>
              <a:t>:</a:t>
            </a:r>
            <a:r>
              <a:rPr kumimoji="1" lang="en-US" altLang="zh-CN" sz="2500" b="1">
                <a:ea typeface="楷体_GB2312" pitchFamily="49" charset="-122"/>
                <a:sym typeface="Monotype Sorts" pitchFamily="2" charset="2"/>
              </a:rPr>
              <a:t>        </a:t>
            </a:r>
          </a:p>
        </p:txBody>
      </p:sp>
      <p:sp>
        <p:nvSpPr>
          <p:cNvPr id="8197" name="Rectangle 9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1.3.4</a:t>
            </a:r>
            <a:r>
              <a:rPr lang="zh-CN" altLang="en-US" smtClean="0">
                <a:ea typeface="黑体" pitchFamily="49" charset="-122"/>
              </a:rPr>
              <a:t>有效数字的运算规则</a:t>
            </a:r>
          </a:p>
        </p:txBody>
      </p:sp>
      <p:sp>
        <p:nvSpPr>
          <p:cNvPr id="18442" name="Rectangle 10"/>
          <p:cNvSpPr>
            <a:spLocks noChangeArrowheads="1"/>
          </p:cNvSpPr>
          <p:nvPr/>
        </p:nvSpPr>
        <p:spPr bwMode="auto">
          <a:xfrm>
            <a:off x="906463" y="3668713"/>
            <a:ext cx="10390187" cy="477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>
            <a:spAutoFit/>
          </a:bodyPr>
          <a:lstStyle/>
          <a:p>
            <a:pPr>
              <a:defRPr/>
            </a:pPr>
            <a:r>
              <a:rPr kumimoji="1" lang="en-US" altLang="zh-CN" sz="2500" b="1">
                <a:ea typeface="楷体_GB2312"/>
                <a:sym typeface="Monotype Sorts" pitchFamily="2" charset="2"/>
              </a:rPr>
              <a:t>        </a:t>
            </a:r>
            <a:r>
              <a:rPr kumimoji="1" lang="zh-CN" altLang="en-US" sz="2500" b="1">
                <a:solidFill>
                  <a:srgbClr val="00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  <a:sym typeface="Monotype Sorts" pitchFamily="2" charset="2"/>
              </a:rPr>
              <a:t>保留的位数</a:t>
            </a:r>
            <a:r>
              <a:rPr kumimoji="1" lang="zh-CN" altLang="en-US" sz="2500" b="1">
                <a:ea typeface="楷体_GB2312"/>
                <a:sym typeface="Monotype Sorts" pitchFamily="2" charset="2"/>
              </a:rPr>
              <a:t>取决于</a:t>
            </a:r>
            <a:r>
              <a:rPr kumimoji="1" lang="zh-CN" altLang="en-US" sz="2500" b="1" u="sng">
                <a:ea typeface="楷体_GB2312"/>
                <a:sym typeface="Monotype Sorts" pitchFamily="2" charset="2"/>
              </a:rPr>
              <a:t>有效数字位数</a:t>
            </a:r>
            <a:r>
              <a:rPr kumimoji="1" lang="zh-CN" altLang="en-US" sz="2500" b="1">
                <a:ea typeface="楷体_GB2312"/>
                <a:sym typeface="Monotype Sorts" pitchFamily="2" charset="2"/>
              </a:rPr>
              <a:t>最少的一个</a:t>
            </a:r>
            <a:r>
              <a:rPr kumimoji="1" lang="en-US" altLang="zh-CN" sz="2500" b="1">
                <a:ea typeface="楷体_GB2312"/>
                <a:sym typeface="Monotype Sorts" pitchFamily="2" charset="2"/>
              </a:rPr>
              <a:t>,</a:t>
            </a:r>
            <a:r>
              <a:rPr kumimoji="1" lang="zh-CN" altLang="en-US" sz="2500" b="1">
                <a:ea typeface="楷体_GB2312"/>
                <a:sym typeface="Monotype Sorts" pitchFamily="2" charset="2"/>
              </a:rPr>
              <a:t>即相对误差最大的一个</a:t>
            </a:r>
            <a:r>
              <a:rPr kumimoji="1" lang="en-US" altLang="zh-CN" sz="2500" b="1">
                <a:ea typeface="楷体_GB2312"/>
                <a:sym typeface="Monotype Sorts" pitchFamily="2" charset="2"/>
              </a:rPr>
              <a:t>.</a:t>
            </a:r>
          </a:p>
        </p:txBody>
      </p:sp>
      <p:sp>
        <p:nvSpPr>
          <p:cNvPr id="18443" name="Rectangle 11"/>
          <p:cNvSpPr>
            <a:spLocks noChangeArrowheads="1"/>
          </p:cNvSpPr>
          <p:nvPr/>
        </p:nvSpPr>
        <p:spPr bwMode="auto">
          <a:xfrm>
            <a:off x="931863" y="4621213"/>
            <a:ext cx="614362" cy="476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ctr"/>
            <a:r>
              <a:rPr kumimoji="1" lang="zh-CN" altLang="en-US" sz="2500" b="1">
                <a:ea typeface="楷体_GB2312" pitchFamily="49" charset="-122"/>
                <a:sym typeface="Monotype Sorts" pitchFamily="2" charset="2"/>
                <a:hlinkClick r:id="rId3" action="ppaction://hlinkpres?slideindex=3&amp;slidetitle=幻灯片 3"/>
              </a:rPr>
              <a:t>解</a:t>
            </a:r>
            <a:r>
              <a:rPr kumimoji="1" lang="en-US" altLang="zh-CN" sz="2500" b="1">
                <a:ea typeface="楷体_GB2312" pitchFamily="49" charset="-122"/>
                <a:sym typeface="Monotype Sorts" pitchFamily="2" charset="2"/>
              </a:rPr>
              <a:t>:</a:t>
            </a:r>
          </a:p>
        </p:txBody>
      </p:sp>
      <p:sp>
        <p:nvSpPr>
          <p:cNvPr id="8200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25"/>
            <a:ext cx="360363" cy="360363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1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Rectangle 10"/>
          <p:cNvSpPr txBox="1">
            <a:spLocks noChangeArrowheads="1"/>
          </p:cNvSpPr>
          <p:nvPr/>
        </p:nvSpPr>
        <p:spPr>
          <a:xfrm>
            <a:off x="903288" y="2190750"/>
            <a:ext cx="6715125" cy="4778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kumimoji="1" lang="zh-CN" altLang="en-US" sz="2500" b="1" kern="0" dirty="0">
                <a:latin typeface="+mn-lt"/>
                <a:ea typeface="楷体_GB2312" pitchFamily="49" charset="-122"/>
                <a:cs typeface="+mj-cs"/>
                <a:sym typeface="Monotype Sorts" pitchFamily="2" charset="2"/>
              </a:rPr>
              <a:t>例</a:t>
            </a:r>
            <a:r>
              <a:rPr kumimoji="1" lang="en-US" altLang="zh-CN" sz="2500" b="1" kern="0" dirty="0">
                <a:latin typeface="+mn-lt"/>
                <a:ea typeface="楷体_GB2312" pitchFamily="49" charset="-122"/>
                <a:cs typeface="+mj-cs"/>
                <a:sym typeface="Monotype Sorts" pitchFamily="2" charset="2"/>
              </a:rPr>
              <a:t>2. 0.0121 + 25.64 + 1.05782  =</a:t>
            </a:r>
            <a:r>
              <a:rPr kumimoji="1" lang="zh-CN" altLang="en-US" sz="2500" b="1" kern="0" dirty="0">
                <a:latin typeface="+mn-lt"/>
                <a:ea typeface="楷体_GB2312" pitchFamily="49" charset="-122"/>
                <a:cs typeface="+mj-cs"/>
                <a:sym typeface="Monotype Sorts" pitchFamily="2" charset="2"/>
              </a:rPr>
              <a:t>？</a:t>
            </a:r>
            <a:endParaRPr kumimoji="1" lang="en-US" altLang="zh-CN" sz="2500" b="1" kern="0" dirty="0">
              <a:latin typeface="+mn-lt"/>
              <a:ea typeface="楷体_GB2312" pitchFamily="49" charset="-122"/>
              <a:cs typeface="+mj-cs"/>
              <a:sym typeface="Monotype Sorts" pitchFamily="2" charset="2"/>
            </a:endParaRPr>
          </a:p>
        </p:txBody>
      </p:sp>
      <p:sp>
        <p:nvSpPr>
          <p:cNvPr id="11" name="Rectangle 8"/>
          <p:cNvSpPr txBox="1">
            <a:spLocks noChangeArrowheads="1"/>
          </p:cNvSpPr>
          <p:nvPr/>
        </p:nvSpPr>
        <p:spPr>
          <a:xfrm>
            <a:off x="903288" y="4168775"/>
            <a:ext cx="6500812" cy="4778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kumimoji="1" lang="zh-CN" altLang="en-US" sz="2500" b="1" kern="0" dirty="0">
                <a:latin typeface="+mn-lt"/>
                <a:ea typeface="楷体_GB2312" pitchFamily="49" charset="-122"/>
                <a:cs typeface="+mj-cs"/>
                <a:sym typeface="Monotype Sorts" pitchFamily="2" charset="2"/>
              </a:rPr>
              <a:t>例</a:t>
            </a:r>
            <a:r>
              <a:rPr kumimoji="1" lang="en-US" altLang="zh-CN" sz="2500" b="1" kern="0" dirty="0">
                <a:latin typeface="+mn-lt"/>
                <a:ea typeface="楷体_GB2312" pitchFamily="49" charset="-122"/>
                <a:cs typeface="+mj-cs"/>
                <a:sym typeface="Monotype Sorts" pitchFamily="2" charset="2"/>
              </a:rPr>
              <a:t>3. (0.0325×5.103×60.06) ÷139.8=?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974725" y="2690813"/>
            <a:ext cx="614363" cy="4778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ctr"/>
            <a:r>
              <a:rPr kumimoji="1" lang="zh-CN" altLang="en-US" sz="2500" b="1">
                <a:ea typeface="楷体_GB2312" pitchFamily="49" charset="-122"/>
                <a:sym typeface="Monotype Sorts" pitchFamily="2" charset="2"/>
                <a:hlinkClick r:id="rId3" action="ppaction://hlinkpres?slideindex=2&amp;slidetitle=幻灯片 2"/>
              </a:rPr>
              <a:t>解</a:t>
            </a:r>
            <a:r>
              <a:rPr kumimoji="1" lang="en-US" altLang="zh-CN" sz="2500" b="1">
                <a:ea typeface="楷体_GB2312" pitchFamily="49" charset="-122"/>
                <a:sym typeface="Monotype Sorts" pitchFamily="2" charset="2"/>
              </a:rPr>
              <a:t>: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75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tar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84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5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75"/>
                                        <p:tgtEl>
                                          <p:spTgt spid="184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tar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8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 autoUpdateAnimBg="0"/>
      <p:bldP spid="18437" grpId="0" autoUpdateAnimBg="0"/>
      <p:bldP spid="18438" grpId="0" build="p" autoUpdateAnimBg="0"/>
      <p:bldP spid="18442" grpId="0" autoUpdateAnimBg="0"/>
      <p:bldP spid="18443" grpId="0"/>
      <p:bldP spid="10" grpId="0"/>
      <p:bldP spid="11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1314450" y="1020763"/>
            <a:ext cx="10233025" cy="8620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kumimoji="1" lang="en-US" altLang="zh-CN" sz="2500" b="1">
                <a:ea typeface="楷体_GB2312" pitchFamily="49" charset="-122"/>
                <a:sym typeface="Monotype Sorts" pitchFamily="2" charset="2"/>
              </a:rPr>
              <a:t>①</a:t>
            </a:r>
            <a:r>
              <a:rPr kumimoji="1" lang="zh-CN" altLang="en-US" sz="2500" b="1">
                <a:ea typeface="楷体_GB2312" pitchFamily="49" charset="-122"/>
                <a:sym typeface="Monotype Sorts" pitchFamily="2" charset="2"/>
              </a:rPr>
              <a:t>某一计量值的第一位数≥</a:t>
            </a:r>
            <a:r>
              <a:rPr kumimoji="1" lang="en-US" altLang="zh-CN" sz="2500" b="1">
                <a:ea typeface="楷体_GB2312" pitchFamily="49" charset="-122"/>
                <a:sym typeface="Monotype Sorts" pitchFamily="2" charset="2"/>
              </a:rPr>
              <a:t>8,</a:t>
            </a:r>
            <a:r>
              <a:rPr kumimoji="1" lang="zh-CN" altLang="en-US" sz="2500" b="1">
                <a:ea typeface="楷体_GB2312" pitchFamily="49" charset="-122"/>
                <a:sym typeface="Monotype Sorts" pitchFamily="2" charset="2"/>
              </a:rPr>
              <a:t>有效数字的位数可多算一位</a:t>
            </a:r>
            <a:r>
              <a:rPr kumimoji="1" lang="en-US" altLang="zh-CN" sz="2500" b="1">
                <a:ea typeface="楷体_GB2312" pitchFamily="49" charset="-122"/>
                <a:sym typeface="Monotype Sorts" pitchFamily="2" charset="2"/>
              </a:rPr>
              <a:t>.</a:t>
            </a:r>
            <a:r>
              <a:rPr kumimoji="1" lang="zh-CN" altLang="en-US" sz="2500" b="1">
                <a:ea typeface="楷体_GB2312" pitchFamily="49" charset="-122"/>
                <a:sym typeface="Monotype Sorts" pitchFamily="2" charset="2"/>
              </a:rPr>
              <a:t>如</a:t>
            </a:r>
            <a:r>
              <a:rPr kumimoji="1" lang="en-US" altLang="zh-CN" sz="2500" b="1">
                <a:ea typeface="楷体_GB2312" pitchFamily="49" charset="-122"/>
                <a:sym typeface="Monotype Sorts" pitchFamily="2" charset="2"/>
              </a:rPr>
              <a:t>8.37,</a:t>
            </a:r>
            <a:r>
              <a:rPr kumimoji="1" lang="zh-CN" altLang="en-US" sz="2500" b="1">
                <a:ea typeface="楷体_GB2312" pitchFamily="49" charset="-122"/>
                <a:sym typeface="Monotype Sorts" pitchFamily="2" charset="2"/>
              </a:rPr>
              <a:t>运算时可按</a:t>
            </a:r>
            <a:r>
              <a:rPr kumimoji="1" lang="en-US" altLang="zh-CN" sz="2500" b="1">
                <a:ea typeface="楷体_GB2312" pitchFamily="49" charset="-122"/>
                <a:sym typeface="Monotype Sorts" pitchFamily="2" charset="2"/>
              </a:rPr>
              <a:t>4</a:t>
            </a:r>
            <a:r>
              <a:rPr kumimoji="1" lang="zh-CN" altLang="en-US" sz="2500" b="1">
                <a:ea typeface="楷体_GB2312" pitchFamily="49" charset="-122"/>
                <a:sym typeface="Monotype Sorts" pitchFamily="2" charset="2"/>
              </a:rPr>
              <a:t>位算</a:t>
            </a:r>
            <a:r>
              <a:rPr kumimoji="1" lang="en-US" altLang="zh-CN" sz="2500" b="1">
                <a:ea typeface="楷体_GB2312" pitchFamily="49" charset="-122"/>
                <a:sym typeface="Monotype Sorts" pitchFamily="2" charset="2"/>
              </a:rPr>
              <a:t>.</a:t>
            </a:r>
          </a:p>
        </p:txBody>
      </p:sp>
      <p:sp>
        <p:nvSpPr>
          <p:cNvPr id="21509" name="Rectangle 5"/>
          <p:cNvSpPr>
            <a:spLocks noChangeArrowheads="1"/>
          </p:cNvSpPr>
          <p:nvPr/>
        </p:nvSpPr>
        <p:spPr bwMode="auto">
          <a:xfrm>
            <a:off x="1314450" y="1868488"/>
            <a:ext cx="10233025" cy="3170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>
            <a:spAutoFit/>
          </a:bodyPr>
          <a:lstStyle/>
          <a:p>
            <a:pPr>
              <a:defRPr/>
            </a:pPr>
            <a:r>
              <a:rPr kumimoji="1" lang="en-US" altLang="zh-CN" sz="2500" b="1" dirty="0">
                <a:ea typeface="楷体_GB2312"/>
                <a:sym typeface="Monotype Sorts" pitchFamily="2" charset="2"/>
              </a:rPr>
              <a:t>②</a:t>
            </a:r>
            <a:r>
              <a:rPr kumimoji="1" lang="zh-CN" altLang="en-US" sz="2500" b="1" dirty="0">
                <a:ea typeface="楷体_GB2312"/>
                <a:sym typeface="Monotype Sorts" pitchFamily="2" charset="2"/>
              </a:rPr>
              <a:t>分步计算或计算器运算</a:t>
            </a:r>
            <a:r>
              <a:rPr kumimoji="1" lang="en-US" altLang="zh-CN" sz="2500" b="1" dirty="0">
                <a:ea typeface="楷体_GB2312"/>
                <a:sym typeface="Monotype Sorts" pitchFamily="2" charset="2"/>
              </a:rPr>
              <a:t>,</a:t>
            </a:r>
            <a:r>
              <a:rPr kumimoji="1" lang="zh-CN" altLang="en-US" sz="2500" b="1" dirty="0">
                <a:ea typeface="楷体_GB2312"/>
                <a:sym typeface="Monotype Sorts" pitchFamily="2" charset="2"/>
              </a:rPr>
              <a:t>中间过程可暂时多保留一位有效数字</a:t>
            </a:r>
            <a:r>
              <a:rPr kumimoji="1" lang="en-US" altLang="zh-CN" sz="2500" b="1" dirty="0">
                <a:ea typeface="楷体_GB2312"/>
                <a:sym typeface="Monotype Sorts" pitchFamily="2" charset="2"/>
              </a:rPr>
              <a:t>,</a:t>
            </a:r>
            <a:r>
              <a:rPr kumimoji="1" lang="zh-CN" altLang="en-US" sz="2500" b="1" dirty="0">
                <a:ea typeface="楷体_GB2312"/>
                <a:sym typeface="Monotype Sorts" pitchFamily="2" charset="2"/>
              </a:rPr>
              <a:t>最终结果按规则保留</a:t>
            </a:r>
            <a:r>
              <a:rPr kumimoji="1" lang="en-US" altLang="zh-CN" sz="2500" b="1" dirty="0">
                <a:ea typeface="楷体_GB2312"/>
                <a:sym typeface="Monotype Sorts" pitchFamily="2" charset="2"/>
              </a:rPr>
              <a:t>.</a:t>
            </a:r>
          </a:p>
          <a:p>
            <a:pPr>
              <a:defRPr/>
            </a:pPr>
            <a:r>
              <a:rPr kumimoji="1" lang="en-US" altLang="zh-CN" sz="2500" b="1" dirty="0">
                <a:ea typeface="楷体_GB2312"/>
                <a:sym typeface="Monotype Sorts" pitchFamily="2" charset="2"/>
              </a:rPr>
              <a:t>③</a:t>
            </a:r>
            <a:r>
              <a:rPr kumimoji="1" lang="zh-CN" altLang="en-US" sz="2500" b="1" u="sng" dirty="0">
                <a:ea typeface="楷体_GB2312"/>
                <a:sym typeface="Monotype Sorts" pitchFamily="2" charset="2"/>
              </a:rPr>
              <a:t>一般来说</a:t>
            </a:r>
            <a:r>
              <a:rPr kumimoji="1" lang="en-US" altLang="zh-CN" sz="2500" b="1" dirty="0">
                <a:ea typeface="楷体_GB2312"/>
                <a:sym typeface="Monotype Sorts" pitchFamily="2" charset="2"/>
              </a:rPr>
              <a:t>:</a:t>
            </a:r>
          </a:p>
          <a:p>
            <a:pPr>
              <a:defRPr/>
            </a:pPr>
            <a:r>
              <a:rPr kumimoji="1" lang="en-US" altLang="zh-CN" sz="2500" b="1" dirty="0">
                <a:ea typeface="楷体_GB2312"/>
                <a:sym typeface="Monotype Sorts" pitchFamily="2" charset="2"/>
              </a:rPr>
              <a:t>    </a:t>
            </a:r>
            <a:r>
              <a:rPr kumimoji="1" lang="zh-CN" altLang="en-US" sz="2500" b="1" dirty="0">
                <a:ea typeface="楷体_GB2312"/>
                <a:sym typeface="Monotype Sorts" pitchFamily="2" charset="2"/>
              </a:rPr>
              <a:t>化学平衡</a:t>
            </a:r>
            <a:r>
              <a:rPr kumimoji="1" lang="en-US" altLang="zh-CN" sz="2500" b="1" dirty="0">
                <a:ea typeface="楷体_GB2312"/>
                <a:sym typeface="Monotype Sorts" pitchFamily="2" charset="2"/>
              </a:rPr>
              <a:t>:</a:t>
            </a:r>
            <a:r>
              <a:rPr kumimoji="1" lang="zh-CN" altLang="en-US" sz="2500" b="1" dirty="0">
                <a:ea typeface="楷体_GB2312"/>
                <a:sym typeface="Monotype Sorts" pitchFamily="2" charset="2"/>
              </a:rPr>
              <a:t>保留</a:t>
            </a:r>
            <a:r>
              <a:rPr kumimoji="1" lang="en-US" altLang="zh-CN" sz="2500" b="1" dirty="0">
                <a:ea typeface="楷体_GB2312"/>
                <a:sym typeface="Monotype Sorts" pitchFamily="2" charset="2"/>
              </a:rPr>
              <a:t>2</a:t>
            </a:r>
            <a:r>
              <a:rPr kumimoji="1" lang="zh-CN" altLang="en-US" sz="2500" b="1" dirty="0">
                <a:ea typeface="楷体_GB2312"/>
                <a:sym typeface="Monotype Sorts" pitchFamily="2" charset="2"/>
              </a:rPr>
              <a:t>位有效数字</a:t>
            </a:r>
            <a:r>
              <a:rPr kumimoji="1" lang="en-US" altLang="zh-CN" sz="2500" b="1" dirty="0">
                <a:ea typeface="楷体_GB2312"/>
                <a:sym typeface="Monotype Sorts" pitchFamily="2" charset="2"/>
              </a:rPr>
              <a:t>;</a:t>
            </a:r>
          </a:p>
          <a:p>
            <a:pPr>
              <a:defRPr/>
            </a:pPr>
            <a:r>
              <a:rPr kumimoji="1" lang="en-US" altLang="zh-CN" sz="2500" b="1" dirty="0">
                <a:ea typeface="楷体_GB2312"/>
                <a:sym typeface="Monotype Sorts" pitchFamily="2" charset="2"/>
              </a:rPr>
              <a:t>    </a:t>
            </a:r>
            <a:r>
              <a:rPr kumimoji="1" lang="zh-CN" altLang="en-US" sz="2500" b="1" dirty="0">
                <a:ea typeface="楷体_GB2312"/>
                <a:sym typeface="Monotype Sorts" pitchFamily="2" charset="2"/>
              </a:rPr>
              <a:t>物质组成测定</a:t>
            </a:r>
            <a:r>
              <a:rPr kumimoji="1" lang="en-US" altLang="zh-CN" sz="2500" b="1" dirty="0">
                <a:ea typeface="楷体_GB2312"/>
                <a:sym typeface="Monotype Sorts" pitchFamily="2" charset="2"/>
              </a:rPr>
              <a:t>:</a:t>
            </a:r>
            <a:r>
              <a:rPr kumimoji="1" lang="zh-CN" altLang="en-US" sz="2500" b="1" dirty="0">
                <a:ea typeface="楷体_GB2312"/>
                <a:sym typeface="Monotype Sorts" pitchFamily="2" charset="2"/>
              </a:rPr>
              <a:t>质量分数 </a:t>
            </a:r>
            <a:r>
              <a:rPr kumimoji="1" lang="en-US" altLang="zh-CN" sz="2500" b="1" dirty="0">
                <a:ea typeface="楷体_GB2312"/>
                <a:sym typeface="Monotype Sorts" pitchFamily="2" charset="2"/>
              </a:rPr>
              <a:t>&gt; 10%,</a:t>
            </a:r>
            <a:r>
              <a:rPr kumimoji="1" lang="zh-CN" altLang="en-US" sz="25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  <a:sym typeface="Monotype Sorts" pitchFamily="2" charset="2"/>
              </a:rPr>
              <a:t>一般</a:t>
            </a:r>
            <a:r>
              <a:rPr kumimoji="1" lang="zh-CN" altLang="en-US" sz="2500" b="1" dirty="0">
                <a:ea typeface="楷体_GB2312"/>
                <a:sym typeface="Monotype Sorts" pitchFamily="2" charset="2"/>
              </a:rPr>
              <a:t>保留</a:t>
            </a:r>
            <a:r>
              <a:rPr kumimoji="1" lang="en-US" altLang="zh-CN" sz="2500" b="1" dirty="0">
                <a:ea typeface="楷体_GB2312"/>
                <a:sym typeface="Monotype Sorts" pitchFamily="2" charset="2"/>
              </a:rPr>
              <a:t>4</a:t>
            </a:r>
            <a:r>
              <a:rPr kumimoji="1" lang="zh-CN" altLang="en-US" sz="2500" b="1" dirty="0">
                <a:ea typeface="楷体_GB2312"/>
                <a:sym typeface="Monotype Sorts" pitchFamily="2" charset="2"/>
              </a:rPr>
              <a:t>位</a:t>
            </a:r>
            <a:r>
              <a:rPr kumimoji="1" lang="en-US" altLang="zh-CN" sz="2500" b="1" dirty="0">
                <a:ea typeface="楷体_GB2312"/>
                <a:sym typeface="Monotype Sorts" pitchFamily="2" charset="2"/>
              </a:rPr>
              <a:t>;</a:t>
            </a:r>
          </a:p>
          <a:p>
            <a:pPr>
              <a:defRPr/>
            </a:pPr>
            <a:r>
              <a:rPr kumimoji="1" lang="en-US" altLang="zh-CN" sz="2500" b="1" dirty="0">
                <a:ea typeface="楷体_GB2312"/>
                <a:sym typeface="Monotype Sorts" pitchFamily="2" charset="2"/>
              </a:rPr>
              <a:t>                             </a:t>
            </a:r>
            <a:r>
              <a:rPr kumimoji="1" lang="zh-CN" altLang="en-US" sz="2500" b="1" dirty="0">
                <a:ea typeface="楷体_GB2312"/>
                <a:sym typeface="Monotype Sorts" pitchFamily="2" charset="2"/>
              </a:rPr>
              <a:t>质量分数 </a:t>
            </a:r>
            <a:r>
              <a:rPr kumimoji="1" lang="en-US" altLang="zh-CN" sz="2500" b="1" dirty="0">
                <a:ea typeface="楷体_GB2312"/>
                <a:sym typeface="Monotype Sorts" pitchFamily="2" charset="2"/>
              </a:rPr>
              <a:t>1 ~ 10%,</a:t>
            </a:r>
            <a:r>
              <a:rPr kumimoji="1" lang="zh-CN" altLang="en-US" sz="2500" b="1" dirty="0">
                <a:ea typeface="楷体_GB2312"/>
                <a:sym typeface="Monotype Sorts" pitchFamily="2" charset="2"/>
              </a:rPr>
              <a:t>保留</a:t>
            </a:r>
            <a:r>
              <a:rPr kumimoji="1" lang="en-US" altLang="zh-CN" sz="2500" b="1" dirty="0">
                <a:ea typeface="楷体_GB2312"/>
                <a:sym typeface="Monotype Sorts" pitchFamily="2" charset="2"/>
              </a:rPr>
              <a:t>3</a:t>
            </a:r>
            <a:r>
              <a:rPr kumimoji="1" lang="zh-CN" altLang="en-US" sz="2500" b="1" dirty="0">
                <a:ea typeface="楷体_GB2312"/>
                <a:sym typeface="Monotype Sorts" pitchFamily="2" charset="2"/>
              </a:rPr>
              <a:t>位</a:t>
            </a:r>
            <a:r>
              <a:rPr kumimoji="1" lang="en-US" altLang="zh-CN" sz="2500" b="1" dirty="0">
                <a:ea typeface="楷体_GB2312"/>
                <a:sym typeface="Monotype Sorts" pitchFamily="2" charset="2"/>
              </a:rPr>
              <a:t>;</a:t>
            </a:r>
          </a:p>
          <a:p>
            <a:pPr>
              <a:defRPr/>
            </a:pPr>
            <a:r>
              <a:rPr kumimoji="1" lang="en-US" altLang="zh-CN" sz="2500" b="1" dirty="0">
                <a:ea typeface="楷体_GB2312"/>
                <a:sym typeface="Monotype Sorts" pitchFamily="2" charset="2"/>
              </a:rPr>
              <a:t>                             </a:t>
            </a:r>
            <a:r>
              <a:rPr kumimoji="1" lang="zh-CN" altLang="en-US" sz="2500" b="1" dirty="0">
                <a:ea typeface="楷体_GB2312"/>
                <a:sym typeface="Monotype Sorts" pitchFamily="2" charset="2"/>
              </a:rPr>
              <a:t>质量分数 </a:t>
            </a:r>
            <a:r>
              <a:rPr kumimoji="1" lang="en-US" altLang="zh-CN" sz="2500" b="1" dirty="0">
                <a:ea typeface="楷体_GB2312"/>
                <a:sym typeface="Monotype Sorts" pitchFamily="2" charset="2"/>
              </a:rPr>
              <a:t>&lt; 1%,</a:t>
            </a:r>
            <a:r>
              <a:rPr kumimoji="1" lang="zh-CN" altLang="en-US" sz="2500" b="1" dirty="0">
                <a:ea typeface="楷体_GB2312"/>
                <a:sym typeface="Monotype Sorts" pitchFamily="2" charset="2"/>
              </a:rPr>
              <a:t>保留</a:t>
            </a:r>
            <a:r>
              <a:rPr kumimoji="1" lang="en-US" altLang="zh-CN" sz="2500" b="1" dirty="0">
                <a:ea typeface="楷体_GB2312"/>
                <a:sym typeface="Monotype Sorts" pitchFamily="2" charset="2"/>
              </a:rPr>
              <a:t>2</a:t>
            </a:r>
            <a:r>
              <a:rPr kumimoji="1" lang="zh-CN" altLang="en-US" sz="2500" b="1" dirty="0">
                <a:ea typeface="楷体_GB2312"/>
                <a:sym typeface="Monotype Sorts" pitchFamily="2" charset="2"/>
              </a:rPr>
              <a:t>位</a:t>
            </a:r>
            <a:r>
              <a:rPr kumimoji="1" lang="en-US" altLang="zh-CN" sz="2500" b="1" dirty="0">
                <a:ea typeface="楷体_GB2312"/>
                <a:sym typeface="Monotype Sorts" pitchFamily="2" charset="2"/>
              </a:rPr>
              <a:t>;</a:t>
            </a:r>
          </a:p>
          <a:p>
            <a:pPr>
              <a:defRPr/>
            </a:pPr>
            <a:r>
              <a:rPr kumimoji="1" lang="en-US" altLang="zh-CN" sz="2500" b="1" dirty="0">
                <a:ea typeface="楷体_GB2312"/>
                <a:sym typeface="Monotype Sorts" pitchFamily="2" charset="2"/>
              </a:rPr>
              <a:t>    </a:t>
            </a:r>
            <a:r>
              <a:rPr kumimoji="1" lang="zh-CN" altLang="en-US" sz="2500" b="1" dirty="0">
                <a:ea typeface="楷体_GB2312"/>
                <a:sym typeface="Monotype Sorts" pitchFamily="2" charset="2"/>
              </a:rPr>
              <a:t>误差</a:t>
            </a:r>
            <a:r>
              <a:rPr kumimoji="1" lang="en-US" altLang="zh-CN" sz="2500" b="1" dirty="0">
                <a:ea typeface="楷体_GB2312"/>
                <a:sym typeface="Monotype Sorts" pitchFamily="2" charset="2"/>
              </a:rPr>
              <a:t>:</a:t>
            </a:r>
            <a:r>
              <a:rPr kumimoji="1" lang="zh-CN" altLang="en-US" sz="2500" b="1" dirty="0">
                <a:ea typeface="楷体_GB2312"/>
                <a:sym typeface="Monotype Sorts" pitchFamily="2" charset="2"/>
              </a:rPr>
              <a:t>保留</a:t>
            </a:r>
            <a:r>
              <a:rPr kumimoji="1" lang="en-US" altLang="zh-CN" sz="2500" b="1" dirty="0">
                <a:ea typeface="楷体_GB2312"/>
                <a:sym typeface="Monotype Sorts" pitchFamily="2" charset="2"/>
              </a:rPr>
              <a:t>1</a:t>
            </a:r>
            <a:r>
              <a:rPr kumimoji="1" lang="zh-CN" altLang="en-US" sz="2500" b="1" dirty="0">
                <a:ea typeface="楷体_GB2312"/>
                <a:sym typeface="Monotype Sorts" pitchFamily="2" charset="2"/>
              </a:rPr>
              <a:t>位</a:t>
            </a:r>
            <a:r>
              <a:rPr kumimoji="1" lang="en-US" altLang="zh-CN" sz="2500" b="1" dirty="0">
                <a:ea typeface="楷体_GB2312"/>
                <a:sym typeface="Monotype Sorts" pitchFamily="2" charset="2"/>
              </a:rPr>
              <a:t>,</a:t>
            </a:r>
            <a:r>
              <a:rPr kumimoji="1" lang="zh-CN" altLang="en-US" sz="2500" b="1" dirty="0">
                <a:ea typeface="楷体_GB2312"/>
                <a:sym typeface="Monotype Sorts" pitchFamily="2" charset="2"/>
              </a:rPr>
              <a:t>最多</a:t>
            </a:r>
            <a:r>
              <a:rPr kumimoji="1" lang="en-US" altLang="zh-CN" sz="2500" b="1" dirty="0">
                <a:ea typeface="楷体_GB2312"/>
                <a:sym typeface="Monotype Sorts" pitchFamily="2" charset="2"/>
              </a:rPr>
              <a:t>2</a:t>
            </a:r>
            <a:r>
              <a:rPr kumimoji="1" lang="zh-CN" altLang="en-US" sz="2500" b="1" dirty="0">
                <a:ea typeface="楷体_GB2312"/>
                <a:sym typeface="Monotype Sorts" pitchFamily="2" charset="2"/>
              </a:rPr>
              <a:t>位</a:t>
            </a:r>
            <a:r>
              <a:rPr kumimoji="1" lang="en-US" altLang="zh-CN" sz="2500" b="1" dirty="0">
                <a:ea typeface="楷体_GB2312"/>
                <a:sym typeface="Monotype Sorts" pitchFamily="2" charset="2"/>
              </a:rPr>
              <a:t>.</a:t>
            </a:r>
          </a:p>
        </p:txBody>
      </p:sp>
      <p:sp>
        <p:nvSpPr>
          <p:cNvPr id="21510" name="AutoShape 6"/>
          <p:cNvSpPr>
            <a:spLocks/>
          </p:cNvSpPr>
          <p:nvPr/>
        </p:nvSpPr>
        <p:spPr bwMode="auto">
          <a:xfrm>
            <a:off x="1179513" y="1189038"/>
            <a:ext cx="287337" cy="1873250"/>
          </a:xfrm>
          <a:prstGeom prst="leftBrace">
            <a:avLst>
              <a:gd name="adj1" fmla="val 72437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 sz="2500" b="1">
              <a:ea typeface="楷体_GB2312" pitchFamily="49" charset="-122"/>
            </a:endParaRPr>
          </a:p>
        </p:txBody>
      </p:sp>
      <p:sp>
        <p:nvSpPr>
          <p:cNvPr id="9221" name="Rectangle 9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</p:spPr>
        <p:txBody>
          <a:bodyPr/>
          <a:lstStyle/>
          <a:p>
            <a:r>
              <a:rPr lang="en-US" altLang="zh-CN" smtClean="0">
                <a:ea typeface="楷体_GB2312" pitchFamily="49" charset="-122"/>
              </a:rPr>
              <a:t>1.3.4</a:t>
            </a:r>
            <a:r>
              <a:rPr lang="zh-CN" altLang="en-US" smtClean="0">
                <a:ea typeface="楷体_GB2312" pitchFamily="49" charset="-122"/>
              </a:rPr>
              <a:t>数据运算规则</a:t>
            </a:r>
          </a:p>
        </p:txBody>
      </p:sp>
      <p:sp>
        <p:nvSpPr>
          <p:cNvPr id="7" name="Rectangle 13"/>
          <p:cNvSpPr>
            <a:spLocks noChangeArrowheads="1"/>
          </p:cNvSpPr>
          <p:nvPr/>
        </p:nvSpPr>
        <p:spPr bwMode="auto">
          <a:xfrm>
            <a:off x="604838" y="1597025"/>
            <a:ext cx="614362" cy="862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25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  <a:sym typeface="Monotype Sorts" pitchFamily="2" charset="2"/>
              </a:rPr>
              <a:t>注</a:t>
            </a:r>
            <a:endParaRPr kumimoji="1" lang="en-US" altLang="zh-CN" sz="2500" b="1" dirty="0">
              <a:solidFill>
                <a:srgbClr val="FF00FF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/>
              <a:sym typeface="Monotype Sorts" pitchFamily="2" charset="2"/>
            </a:endParaRPr>
          </a:p>
          <a:p>
            <a:pPr>
              <a:defRPr/>
            </a:pPr>
            <a:r>
              <a:rPr kumimoji="1" lang="zh-CN" altLang="en-US" sz="25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  <a:sym typeface="Monotype Sorts" pitchFamily="2" charset="2"/>
              </a:rPr>
              <a:t>意</a:t>
            </a:r>
            <a:r>
              <a:rPr kumimoji="1" lang="en-US" altLang="zh-CN" sz="2500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/>
                <a:sym typeface="Monotype Sorts" pitchFamily="2" charset="2"/>
              </a:rPr>
              <a:t>:</a:t>
            </a:r>
            <a:endParaRPr kumimoji="1" lang="en-US" altLang="zh-CN" sz="2500" b="1" dirty="0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/>
              <a:sym typeface="Monotype Sorts" pitchFamily="2" charset="2"/>
            </a:endParaRPr>
          </a:p>
        </p:txBody>
      </p:sp>
      <p:sp>
        <p:nvSpPr>
          <p:cNvPr id="9223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80000"/>
            <a:ext cx="360363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椭圆 62544" descr="图片1">
            <a:hlinkClick r:id="rId4" action="ppaction://hlinkpres?slideindex=1&amp;slidetitle="/>
          </p:cNvPr>
          <p:cNvSpPr>
            <a:spLocks noChangeAspect="1" noChangeArrowheads="1"/>
          </p:cNvSpPr>
          <p:nvPr/>
        </p:nvSpPr>
        <p:spPr bwMode="auto">
          <a:xfrm>
            <a:off x="11155363" y="5580000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sz="1200" b="1" dirty="0" smtClean="0">
                <a:solidFill>
                  <a:srgbClr val="000000"/>
                </a:solidFill>
                <a:ea typeface="楷体_GB2312" pitchFamily="49" charset="-122"/>
              </a:rPr>
              <a:t>下章</a:t>
            </a:r>
            <a:endParaRPr lang="zh-CN" altLang="en-US" sz="12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21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215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215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215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215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215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7" dur="500"/>
                                        <p:tgtEl>
                                          <p:spTgt spid="215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 autoUpdateAnimBg="0"/>
      <p:bldP spid="21509" grpId="0" build="p" autoUpdateAnimBg="0"/>
      <p:bldP spid="21510" grpId="0" animBg="1"/>
      <p:bldP spid="7" grpId="0" autoUpdateAnimBg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bea4e1af136ac9b3a8cf41ac829d56d1fc8c9716"/>
</p:tagLst>
</file>

<file path=ppt/theme/theme1.xml><?xml version="1.0" encoding="utf-8"?>
<a:theme xmlns:a="http://schemas.openxmlformats.org/drawingml/2006/main" name="医学研究PPT模板">
  <a:themeElements>
    <a:clrScheme name="医学研究PPT模板 1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000000"/>
      </a:accent1>
      <a:accent2>
        <a:srgbClr val="FF00FF"/>
      </a:accent2>
      <a:accent3>
        <a:srgbClr val="FFFFFF"/>
      </a:accent3>
      <a:accent4>
        <a:srgbClr val="000000"/>
      </a:accent4>
      <a:accent5>
        <a:srgbClr val="AAAAAA"/>
      </a:accent5>
      <a:accent6>
        <a:srgbClr val="E700E7"/>
      </a:accent6>
      <a:hlink>
        <a:srgbClr val="FF9900"/>
      </a:hlink>
      <a:folHlink>
        <a:srgbClr val="6600FF"/>
      </a:folHlink>
    </a:clrScheme>
    <a:fontScheme name="医学研究PPT模板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000000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6600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医学研究PPT模板">
  <a:themeElements>
    <a:clrScheme name="1_医学研究PPT模板 1">
      <a:dk1>
        <a:srgbClr val="200B5B"/>
      </a:dk1>
      <a:lt1>
        <a:srgbClr val="EAEAEA"/>
      </a:lt1>
      <a:dk2>
        <a:srgbClr val="6600FF"/>
      </a:dk2>
      <a:lt2>
        <a:srgbClr val="FFCC66"/>
      </a:lt2>
      <a:accent1>
        <a:srgbClr val="EEB00B"/>
      </a:accent1>
      <a:accent2>
        <a:srgbClr val="6600CC"/>
      </a:accent2>
      <a:accent3>
        <a:srgbClr val="B8AAFF"/>
      </a:accent3>
      <a:accent4>
        <a:srgbClr val="C8C8C8"/>
      </a:accent4>
      <a:accent5>
        <a:srgbClr val="F5D4AA"/>
      </a:accent5>
      <a:accent6>
        <a:srgbClr val="5C00B9"/>
      </a:accent6>
      <a:hlink>
        <a:srgbClr val="FF33CC"/>
      </a:hlink>
      <a:folHlink>
        <a:srgbClr val="CC99FF"/>
      </a:folHlink>
    </a:clrScheme>
    <a:fontScheme name="1_医学研究PPT模板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7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8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9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AAAAAA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10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医学研究PPT模板</Template>
  <TotalTime>3499</TotalTime>
  <Pages>0</Pages>
  <Words>371</Words>
  <Characters>0</Characters>
  <Application>Microsoft Office PowerPoint</Application>
  <DocSecurity>0</DocSecurity>
  <PresentationFormat>自定义</PresentationFormat>
  <Lines>0</Lines>
  <Paragraphs>59</Paragraphs>
  <Slides>8</Slides>
  <Notes>2</Notes>
  <HiddenSlides>0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10" baseType="lpstr">
      <vt:lpstr>医学研究PPT模板</vt:lpstr>
      <vt:lpstr>1_医学研究PPT模板</vt:lpstr>
      <vt:lpstr>幻灯片 1</vt:lpstr>
      <vt:lpstr>1.3 有效数字</vt:lpstr>
      <vt:lpstr>1.3.1有效数字</vt:lpstr>
      <vt:lpstr>1.3.2有效数字的位数</vt:lpstr>
      <vt:lpstr>1.3.2有效数字的位数</vt:lpstr>
      <vt:lpstr>1.3.3有效数字的修约规则</vt:lpstr>
      <vt:lpstr>1.3.4有效数字的运算规则</vt:lpstr>
      <vt:lpstr>1.3.4数据运算规则</vt:lpstr>
    </vt:vector>
  </TitlesOfParts>
  <LinksUpToDate>false</LinksUpToDate>
  <CharactersWithSpaces>0</CharactersWithSpaces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ch01-03</dc:title>
  <dc:creator>江南大学</dc:creator>
  <cp:lastModifiedBy>ASUS</cp:lastModifiedBy>
  <cp:revision>314</cp:revision>
  <cp:lastPrinted>1601-01-01T00:00:00Z</cp:lastPrinted>
  <dcterms:created xsi:type="dcterms:W3CDTF">2012-06-20T03:37:37Z</dcterms:created>
  <dcterms:modified xsi:type="dcterms:W3CDTF">2017-08-19T07:22:14Z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2052-8.1.0.3089</vt:lpwstr>
  </property>
</Properties>
</file>