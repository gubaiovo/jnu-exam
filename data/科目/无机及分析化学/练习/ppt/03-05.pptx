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2"/>
  </p:notesMasterIdLst>
  <p:sldIdLst>
    <p:sldId id="256" r:id="rId3"/>
    <p:sldId id="277" r:id="rId4"/>
    <p:sldId id="293" r:id="rId5"/>
    <p:sldId id="278" r:id="rId6"/>
    <p:sldId id="294" r:id="rId7"/>
    <p:sldId id="280" r:id="rId8"/>
    <p:sldId id="297" r:id="rId9"/>
    <p:sldId id="296" r:id="rId10"/>
    <p:sldId id="298" r:id="rId11"/>
    <p:sldId id="295" r:id="rId12"/>
    <p:sldId id="299" r:id="rId13"/>
    <p:sldId id="282" r:id="rId14"/>
    <p:sldId id="300" r:id="rId15"/>
    <p:sldId id="301" r:id="rId16"/>
    <p:sldId id="303" r:id="rId17"/>
    <p:sldId id="290" r:id="rId18"/>
    <p:sldId id="291" r:id="rId19"/>
    <p:sldId id="305" r:id="rId20"/>
    <p:sldId id="292" r:id="rId21"/>
  </p:sldIdLst>
  <p:sldSz cx="11522075" cy="6480175"/>
  <p:notesSz cx="6858000" cy="9144000"/>
  <p:custDataLst>
    <p:tags r:id="rId2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18890"/>
    <a:srgbClr val="FFFFFF"/>
    <a:srgbClr val="FFFF00"/>
    <a:srgbClr val="FF00FF"/>
    <a:srgbClr val="FF0000"/>
    <a:srgbClr val="F8F8F8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20" autoAdjust="0"/>
  </p:normalViewPr>
  <p:slideViewPr>
    <p:cSldViewPr>
      <p:cViewPr varScale="1">
        <p:scale>
          <a:sx n="78" d="100"/>
          <a:sy n="78" d="100"/>
        </p:scale>
        <p:origin x="624" y="7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2C7F771E-F200-4B27-93ED-07687DA301BD}" type="datetimeFigureOut">
              <a:rPr lang="zh-CN" altLang="en-US"/>
              <a:pPr>
                <a:defRPr/>
              </a:pPr>
              <a:t>2021/10/11</a:t>
            </a:fld>
            <a:endParaRPr lang="en-US" altLang="zh-CN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3038F0D3-6F0B-4FC7-BAD2-430F269773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12FA1457-B809-4665-97D0-7FBD1A3718A0}" type="datetime1">
              <a:rPr lang="zh-CN" altLang="en-US" smtClean="0">
                <a:ea typeface="宋体" charset="-122"/>
              </a:rPr>
              <a:pPr/>
              <a:t>2021/10/11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9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4FF742-B7FE-4DB0-8054-C0E1EEE6DE84}" type="slidenum">
              <a:rPr lang="en-US" altLang="zh-CN" smtClean="0">
                <a:ea typeface="宋体" charset="-122"/>
              </a:rPr>
              <a:pPr/>
              <a:t>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94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>
                <a:solidFill>
                  <a:schemeClr val="accent2"/>
                </a:solidFill>
              </a:rPr>
              <a:t>弱酸及其共轭碱</a:t>
            </a:r>
            <a:r>
              <a:rPr lang="en-US" altLang="zh-CN" smtClean="0"/>
              <a:t>,</a:t>
            </a:r>
            <a:r>
              <a:rPr lang="zh-CN" altLang="en-US" smtClean="0"/>
              <a:t>或</a:t>
            </a:r>
            <a:r>
              <a:rPr lang="zh-CN" altLang="en-US" smtClean="0">
                <a:solidFill>
                  <a:schemeClr val="accent2"/>
                </a:solidFill>
              </a:rPr>
              <a:t>弱碱及其共轭酸</a:t>
            </a:r>
            <a:r>
              <a:rPr lang="zh-CN" altLang="en-US" smtClean="0"/>
              <a:t>以及</a:t>
            </a:r>
            <a:r>
              <a:rPr lang="zh-CN" altLang="en-US" smtClean="0">
                <a:solidFill>
                  <a:schemeClr val="accent2"/>
                </a:solidFill>
              </a:rPr>
              <a:t>两性物质</a:t>
            </a:r>
            <a:r>
              <a:rPr lang="zh-CN" altLang="en-US" smtClean="0"/>
              <a:t>水溶液具一个</a:t>
            </a:r>
            <a:r>
              <a:rPr lang="zh-CN" altLang="en-US" smtClean="0">
                <a:solidFill>
                  <a:srgbClr val="FF9900"/>
                </a:solidFill>
              </a:rPr>
              <a:t>共同特点</a:t>
            </a:r>
            <a:r>
              <a:rPr lang="en-US" altLang="zh-CN" smtClean="0"/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7CAD1AA-CA0A-4BB5-8397-E2170B9AF953}" type="datetime1">
              <a:rPr lang="zh-CN" altLang="en-US" smtClean="0">
                <a:ea typeface="宋体" charset="-122"/>
              </a:rPr>
              <a:pPr/>
              <a:t>2021/10/11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8CF1C8-5879-47A0-AEAB-2F46396E5DB0}" type="slidenum">
              <a:rPr lang="en-US" altLang="zh-CN" smtClean="0">
                <a:ea typeface="宋体" charset="-122"/>
              </a:rPr>
              <a:pPr/>
              <a:t>11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/>
              <a:t>若用</a:t>
            </a:r>
            <a:r>
              <a:rPr lang="en-US" altLang="zh-CN" smtClean="0"/>
              <a:t>HA ~ A-</a:t>
            </a:r>
            <a:r>
              <a:rPr lang="zh-CN" altLang="en-US" smtClean="0"/>
              <a:t>系统</a:t>
            </a:r>
            <a:r>
              <a:rPr lang="en-US" altLang="zh-CN" smtClean="0"/>
              <a:t>,</a:t>
            </a:r>
            <a:r>
              <a:rPr lang="zh-CN" altLang="en-US" smtClean="0"/>
              <a:t>一般所选系统的</a:t>
            </a:r>
            <a:r>
              <a:rPr lang="en-US" altLang="zh-CN" smtClean="0"/>
              <a:t>p</a:t>
            </a:r>
            <a:r>
              <a:rPr lang="en-US" altLang="zh-CN" i="1" smtClean="0"/>
              <a:t>K</a:t>
            </a:r>
            <a:r>
              <a:rPr lang="en-US" altLang="zh-CN" smtClean="0">
                <a:sym typeface="Webdings" pitchFamily="18" charset="2"/>
              </a:rPr>
              <a:t>a</a:t>
            </a:r>
            <a:r>
              <a:rPr lang="zh-CN" altLang="en-US" smtClean="0"/>
              <a:t>应与所控制的</a:t>
            </a:r>
            <a:r>
              <a:rPr lang="en-US" altLang="zh-CN" smtClean="0"/>
              <a:t>pH</a:t>
            </a:r>
            <a:r>
              <a:rPr lang="zh-CN" altLang="en-US" smtClean="0"/>
              <a:t>尽量接近。</a:t>
            </a:r>
          </a:p>
        </p:txBody>
      </p:sp>
    </p:spTree>
    <p:extLst>
      <p:ext uri="{BB962C8B-B14F-4D97-AF65-F5344CB8AC3E}">
        <p14:creationId xmlns:p14="http://schemas.microsoft.com/office/powerpoint/2010/main" val="2821320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商少明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7CAD1AA-CA0A-4BB5-8397-E2170B9AF953}" type="datetime1">
              <a:rPr lang="zh-CN" altLang="en-US" smtClean="0">
                <a:ea typeface="宋体" charset="-122"/>
              </a:rPr>
              <a:pPr/>
              <a:t>2021/10/11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8CF1C8-5879-47A0-AEAB-2F46396E5DB0}" type="slidenum">
              <a:rPr lang="en-US" altLang="zh-CN" smtClean="0">
                <a:ea typeface="宋体" charset="-122"/>
              </a:rPr>
              <a:pPr/>
              <a:t>12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/>
              <a:t>若用</a:t>
            </a:r>
            <a:r>
              <a:rPr lang="en-US" altLang="zh-CN" smtClean="0"/>
              <a:t>HA ~ A-</a:t>
            </a:r>
            <a:r>
              <a:rPr lang="zh-CN" altLang="en-US" smtClean="0"/>
              <a:t>系统</a:t>
            </a:r>
            <a:r>
              <a:rPr lang="en-US" altLang="zh-CN" smtClean="0"/>
              <a:t>,</a:t>
            </a:r>
            <a:r>
              <a:rPr lang="zh-CN" altLang="en-US" smtClean="0"/>
              <a:t>一般所选系统的</a:t>
            </a:r>
            <a:r>
              <a:rPr lang="en-US" altLang="zh-CN" smtClean="0"/>
              <a:t>p</a:t>
            </a:r>
            <a:r>
              <a:rPr lang="en-US" altLang="zh-CN" i="1" smtClean="0"/>
              <a:t>K</a:t>
            </a:r>
            <a:r>
              <a:rPr lang="en-US" altLang="zh-CN" smtClean="0">
                <a:sym typeface="Webdings" pitchFamily="18" charset="2"/>
              </a:rPr>
              <a:t>a</a:t>
            </a:r>
            <a:r>
              <a:rPr lang="zh-CN" altLang="en-US" smtClean="0"/>
              <a:t>应与所控制的</a:t>
            </a:r>
            <a:r>
              <a:rPr lang="en-US" altLang="zh-CN" smtClean="0"/>
              <a:t>pH</a:t>
            </a:r>
            <a:r>
              <a:rPr lang="zh-CN" altLang="en-US" smtClean="0"/>
              <a:t>尽量接近。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商少明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E14057-5653-48FE-9A46-C9F5286D7DA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2021/10/11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82BC6E-44D5-4D61-865F-AD05F2B3752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1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 smtClean="0"/>
              <a:t>不同的指示剂</a:t>
            </a:r>
            <a:r>
              <a:rPr lang="en-US" altLang="zh-CN" smtClean="0"/>
              <a:t>, p</a:t>
            </a:r>
            <a:r>
              <a:rPr lang="en-US" altLang="zh-CN" i="1" smtClean="0"/>
              <a:t>K</a:t>
            </a:r>
            <a:r>
              <a:rPr lang="en-US" altLang="zh-CN" smtClean="0"/>
              <a:t>(HIn)</a:t>
            </a:r>
            <a:r>
              <a:rPr lang="zh-CN" altLang="en-US" smtClean="0"/>
              <a:t>不同</a:t>
            </a:r>
            <a:r>
              <a:rPr lang="en-US" altLang="zh-CN" smtClean="0"/>
              <a:t>,</a:t>
            </a:r>
            <a:r>
              <a:rPr lang="zh-CN" altLang="en-US" smtClean="0"/>
              <a:t>它们的变色域也就不同。</a:t>
            </a:r>
          </a:p>
        </p:txBody>
      </p:sp>
    </p:spTree>
    <p:extLst>
      <p:ext uri="{BB962C8B-B14F-4D97-AF65-F5344CB8AC3E}">
        <p14:creationId xmlns:p14="http://schemas.microsoft.com/office/powerpoint/2010/main" val="4245269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0 w 5269"/>
                <a:gd name="T3" fmla="*/ 0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4101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9512 w 5269"/>
                <a:gd name="T3" fmla="*/ 3383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4104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4099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3-01.pptx" TargetMode="External"/><Relationship Id="rId7" Type="http://schemas.openxmlformats.org/officeDocument/2006/relationships/hyperlink" Target="03-06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hyperlink" Target="03-04.pptx" TargetMode="External"/><Relationship Id="rId5" Type="http://schemas.openxmlformats.org/officeDocument/2006/relationships/hyperlink" Target="03-03.pptx" TargetMode="External"/><Relationship Id="rId4" Type="http://schemas.openxmlformats.org/officeDocument/2006/relationships/hyperlink" Target="03-02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3/03-05-&#20363;&#39064;.pptx#-1,1,&#24187;&#28783;&#29255; 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png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hyperlink" Target="03-06.pptx" TargetMode="Externa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117831" y="954071"/>
            <a:ext cx="5643602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  <a:hlinkClick r:id="rId3" action="ppaction://hlinkpres?slideindex=1&amp;slidetitle="/>
              </a:rPr>
              <a:t>3.1</a:t>
            </a: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 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</a:t>
            </a:r>
            <a:r>
              <a:rPr lang="zh-CN" altLang="en-US" sz="2800" b="1" kern="0" dirty="0">
                <a:solidFill>
                  <a:srgbClr val="FFFF00"/>
                </a:solidFill>
                <a:ea typeface="黑体" pitchFamily="49" charset="-122"/>
                <a:cs typeface="+mj-cs"/>
              </a:rPr>
              <a:t>碱质子理论与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酸碱平衡</a:t>
            </a:r>
            <a:endParaRPr lang="en-US" altLang="zh-CN" sz="2800" b="1" kern="0" dirty="0" smtClean="0">
              <a:solidFill>
                <a:srgbClr val="FFFF00"/>
              </a:solidFill>
              <a:ea typeface="黑体" pitchFamily="49" charset="-122"/>
              <a:cs typeface="+mj-cs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4" action="ppaction://hlinkpres?slideindex=1&amp;slidetitle="/>
              </a:rPr>
              <a:t>3.2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酸碱平衡的移动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5" action="ppaction://hlinkpres?slideindex=1&amp;slidetitle="/>
              </a:rPr>
              <a:t>3.3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组分的分布与浓度的计算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  <a:hlinkClick r:id="rId6" action="ppaction://hlinkpres?slideindex=1&amp;slidetitle="/>
              </a:rPr>
              <a:t>3.4</a:t>
            </a:r>
            <a:r>
              <a:rPr lang="en-US" altLang="zh-CN" sz="2800" b="1" dirty="0" smtClean="0">
                <a:solidFill>
                  <a:srgbClr val="FFFF00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ea typeface="黑体" pitchFamily="49" charset="-122"/>
              </a:rPr>
              <a:t>溶液酸度的计算</a:t>
            </a:r>
            <a:endParaRPr lang="en-US" altLang="zh-CN" sz="2800" b="1" dirty="0" smtClean="0">
              <a:solidFill>
                <a:srgbClr val="FFFF00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3.5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溶液酸度的控制与酸碱指示剂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7" action="ppaction://hlinkpres?slideindex=1&amp;slidetitle="/>
              </a:rPr>
              <a:t>3.6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酸碱滴定法</a:t>
            </a:r>
            <a:endParaRPr lang="en-US" altLang="zh-CN" sz="2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AutoShape 6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903538" y="2097088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" name="AutoShape 7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903538" y="3311525"/>
            <a:ext cx="544512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3475038" y="1382713"/>
            <a:ext cx="4032250" cy="26781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300000"/>
              </a:lnSpc>
              <a:defRPr/>
            </a:pPr>
            <a:r>
              <a:rPr lang="en-US" altLang="zh-CN" sz="2800" b="1" dirty="0">
                <a:latin typeface="+mn-ea"/>
                <a:ea typeface="+mn-ea"/>
              </a:rPr>
              <a:t>3.5.1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酸碱缓冲溶液</a:t>
            </a:r>
          </a:p>
          <a:p>
            <a:pPr>
              <a:lnSpc>
                <a:spcPct val="300000"/>
              </a:lnSpc>
              <a:defRPr/>
            </a:pPr>
            <a:r>
              <a:rPr lang="en-US" altLang="zh-CN" sz="2800" b="1" dirty="0">
                <a:latin typeface="+mn-ea"/>
                <a:ea typeface="+mn-ea"/>
              </a:rPr>
              <a:t>3.5.2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酸碱指示剂</a:t>
            </a:r>
          </a:p>
        </p:txBody>
      </p:sp>
      <p:sp>
        <p:nvSpPr>
          <p:cNvPr id="6149" name="Rectangle 1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3300"/>
                </a:solidFill>
                <a:ea typeface="黑体" pitchFamily="49" charset="-122"/>
              </a:rPr>
              <a:t>3.5</a:t>
            </a:r>
            <a:r>
              <a:rPr lang="zh-CN" altLang="en-US" dirty="0" smtClean="0">
                <a:solidFill>
                  <a:srgbClr val="FF3300"/>
                </a:solidFill>
                <a:ea typeface="黑体" pitchFamily="49" charset="-122"/>
              </a:rPr>
              <a:t>溶液酸度的控制与测试</a:t>
            </a:r>
            <a:endParaRPr lang="zh-CN" altLang="en-US" sz="1400" b="0" dirty="0" smtClean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615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右大括号 1"/>
          <p:cNvSpPr/>
          <p:nvPr/>
        </p:nvSpPr>
        <p:spPr>
          <a:xfrm>
            <a:off x="6625133" y="2097088"/>
            <a:ext cx="576064" cy="171906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345213" y="2633453"/>
            <a:ext cx="250100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  <a:latin typeface="楷体_GB2312"/>
                <a:ea typeface="楷体_GB2312"/>
              </a:rPr>
              <a:t>共轭酸碱对</a:t>
            </a:r>
            <a:endParaRPr lang="zh-CN" altLang="en-US" sz="3600" b="1" dirty="0">
              <a:solidFill>
                <a:srgbClr val="FF0000"/>
              </a:solidFill>
              <a:latin typeface="楷体_GB2312"/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4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34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4" grpId="0" build="p" autoUpdateAnimBg="0"/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问号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573" y="1655911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92685" y="1884523"/>
            <a:ext cx="75247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kumimoji="1" lang="zh-CN" altLang="en-US" sz="2800" b="1" dirty="0">
                <a:ea typeface="楷体_GB2312" pitchFamily="49" charset="-122"/>
              </a:rPr>
              <a:t>为什么人体内血液的</a:t>
            </a:r>
            <a:r>
              <a:rPr kumimoji="1" lang="en-US" altLang="zh-CN" sz="2800" b="1" dirty="0">
                <a:ea typeface="楷体_GB2312" pitchFamily="49" charset="-122"/>
              </a:rPr>
              <a:t>pH</a:t>
            </a:r>
            <a:r>
              <a:rPr kumimoji="1" lang="zh-CN" altLang="en-US" sz="2800" b="1" dirty="0">
                <a:ea typeface="楷体_GB2312" pitchFamily="49" charset="-122"/>
              </a:rPr>
              <a:t>值能维持在</a:t>
            </a:r>
            <a:r>
              <a:rPr kumimoji="1" lang="en-US" altLang="zh-CN" sz="2800" b="1" dirty="0">
                <a:ea typeface="楷体_GB2312" pitchFamily="49" charset="-122"/>
              </a:rPr>
              <a:t>7.35-7.45</a:t>
            </a:r>
            <a:r>
              <a:rPr kumimoji="1" lang="zh-CN" altLang="en-US" sz="2800" b="1" dirty="0">
                <a:ea typeface="楷体_GB2312" pitchFamily="49" charset="-122"/>
              </a:rPr>
              <a:t>? </a:t>
            </a:r>
          </a:p>
        </p:txBody>
      </p:sp>
      <p:sp>
        <p:nvSpPr>
          <p:cNvPr id="8" name="矩形 7"/>
          <p:cNvSpPr/>
          <p:nvPr/>
        </p:nvSpPr>
        <p:spPr>
          <a:xfrm>
            <a:off x="129865" y="215751"/>
            <a:ext cx="48702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ea typeface="黑体" pitchFamily="49" charset="-122"/>
              </a:rPr>
              <a:t>溶液酸度的</a:t>
            </a:r>
            <a:r>
              <a:rPr lang="zh-CN" altLang="en-US" sz="2800" b="1" dirty="0" smtClean="0">
                <a:solidFill>
                  <a:srgbClr val="FF3300"/>
                </a:solidFill>
                <a:ea typeface="黑体" pitchFamily="49" charset="-122"/>
              </a:rPr>
              <a:t>控制</a:t>
            </a:r>
            <a:r>
              <a:rPr lang="en-US" altLang="zh-CN" sz="2800" b="1" dirty="0" smtClean="0">
                <a:solidFill>
                  <a:srgbClr val="FF3300"/>
                </a:solidFill>
                <a:ea typeface="黑体" pitchFamily="49" charset="-122"/>
              </a:rPr>
              <a:t>——</a:t>
            </a:r>
            <a:r>
              <a:rPr lang="zh-CN" altLang="en-US" sz="2800" b="1" dirty="0" smtClean="0">
                <a:solidFill>
                  <a:srgbClr val="FF3300"/>
                </a:solidFill>
                <a:ea typeface="黑体" pitchFamily="49" charset="-122"/>
              </a:rPr>
              <a:t>缓冲溶液</a:t>
            </a:r>
            <a:endParaRPr lang="zh-CN" altLang="en-US" sz="28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989" y="2525885"/>
            <a:ext cx="664522" cy="106689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993510" y="2566791"/>
            <a:ext cx="13149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3300"/>
                </a:solidFill>
                <a:ea typeface="黑体" pitchFamily="49" charset="-122"/>
              </a:rPr>
              <a:t>如何控制酸度</a:t>
            </a:r>
            <a:endParaRPr lang="zh-CN" altLang="en-US" sz="2400" dirty="0"/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2537523" y="4020663"/>
            <a:ext cx="691197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kumimoji="1" lang="zh-CN" altLang="en-US" sz="2800" b="1" dirty="0">
                <a:ea typeface="楷体_GB2312" pitchFamily="49" charset="-122"/>
              </a:rPr>
              <a:t>血液中一定含有完备的调节</a:t>
            </a:r>
            <a:r>
              <a:rPr kumimoji="1" lang="en-US" altLang="zh-CN" sz="2800" b="1" dirty="0">
                <a:ea typeface="楷体_GB2312" pitchFamily="49" charset="-122"/>
              </a:rPr>
              <a:t>pH</a:t>
            </a:r>
            <a:r>
              <a:rPr kumimoji="1" lang="zh-CN" altLang="en-US" sz="2800" b="1" dirty="0">
                <a:ea typeface="楷体_GB2312" pitchFamily="49" charset="-122"/>
              </a:rPr>
              <a:t>值的机构，即缓冲体系，血液是一种</a:t>
            </a:r>
            <a:r>
              <a:rPr kumimoji="1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缓冲溶液</a:t>
            </a:r>
            <a:r>
              <a:rPr kumimoji="1" lang="zh-CN" altLang="en-US" sz="2800" b="1" dirty="0">
                <a:ea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0191658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2880717" y="2629811"/>
            <a:ext cx="590465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500" b="1" dirty="0" err="1" smtClean="0">
                <a:ea typeface="楷体_GB2312" pitchFamily="49" charset="-122"/>
              </a:rPr>
              <a:t>HAc</a:t>
            </a:r>
            <a:r>
              <a:rPr lang="en-US" altLang="zh-CN" sz="2500" b="1" dirty="0" smtClean="0">
                <a:ea typeface="楷体_GB2312" pitchFamily="49" charset="-122"/>
              </a:rPr>
              <a:t>  </a:t>
            </a:r>
            <a:r>
              <a:rPr lang="en-US" altLang="zh-CN" sz="2500" b="1" dirty="0">
                <a:ea typeface="楷体_GB2312" pitchFamily="49" charset="-122"/>
              </a:rPr>
              <a:t>⇋ 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Ac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903288" y="1382713"/>
            <a:ext cx="5865861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能保持溶液酸度相对不变的水溶液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9474" name="Rectangle 18"/>
          <p:cNvSpPr>
            <a:spLocks noChangeArrowheads="1"/>
          </p:cNvSpPr>
          <p:nvPr/>
        </p:nvSpPr>
        <p:spPr bwMode="auto">
          <a:xfrm>
            <a:off x="903288" y="1882775"/>
            <a:ext cx="13112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原理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9475" name="Rectangle 19"/>
          <p:cNvSpPr>
            <a:spLocks noChangeArrowheads="1"/>
          </p:cNvSpPr>
          <p:nvPr/>
        </p:nvSpPr>
        <p:spPr bwMode="auto">
          <a:xfrm>
            <a:off x="1046163" y="4240213"/>
            <a:ext cx="52736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                   pH = </a:t>
            </a:r>
            <a:r>
              <a:rPr lang="en-US" altLang="zh-CN" sz="2500" b="1" dirty="0" err="1"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dirty="0">
                <a:ea typeface="楷体_GB2312" pitchFamily="49" charset="-122"/>
              </a:rPr>
              <a:t>/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</a:p>
        </p:txBody>
      </p:sp>
      <p:sp>
        <p:nvSpPr>
          <p:cNvPr id="19476" name="Rectangle 20"/>
          <p:cNvSpPr>
            <a:spLocks noChangeArrowheads="1"/>
          </p:cNvSpPr>
          <p:nvPr/>
        </p:nvSpPr>
        <p:spPr bwMode="auto">
          <a:xfrm>
            <a:off x="4832350" y="3097213"/>
            <a:ext cx="48763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smtClean="0">
                <a:ea typeface="楷体_GB2312" pitchFamily="49" charset="-122"/>
              </a:rPr>
              <a:t>c</a:t>
            </a:r>
            <a:r>
              <a:rPr lang="en-US" altLang="zh-CN" sz="2500" b="1" baseline="-25000" dirty="0" smtClean="0">
                <a:ea typeface="楷体_GB2312" pitchFamily="49" charset="-122"/>
              </a:rPr>
              <a:t>a </a:t>
            </a:r>
            <a:endParaRPr lang="en-US" altLang="zh-CN" sz="2500" b="1" baseline="-25000" dirty="0">
              <a:ea typeface="楷体_GB2312" pitchFamily="49" charset="-122"/>
            </a:endParaRPr>
          </a:p>
        </p:txBody>
      </p:sp>
      <p:sp>
        <p:nvSpPr>
          <p:cNvPr id="19477" name="Rectangle 21"/>
          <p:cNvSpPr>
            <a:spLocks noChangeArrowheads="1"/>
          </p:cNvSpPr>
          <p:nvPr/>
        </p:nvSpPr>
        <p:spPr bwMode="auto">
          <a:xfrm>
            <a:off x="6618288" y="3168650"/>
            <a:ext cx="49885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err="1" smtClean="0">
                <a:ea typeface="楷体_GB2312" pitchFamily="49" charset="-122"/>
              </a:rPr>
              <a:t>c</a:t>
            </a:r>
            <a:r>
              <a:rPr lang="en-US" altLang="zh-CN" sz="2500" b="1" baseline="-25000" dirty="0" err="1" smtClean="0">
                <a:ea typeface="楷体_GB2312" pitchFamily="49" charset="-122"/>
              </a:rPr>
              <a:t>b</a:t>
            </a:r>
            <a:r>
              <a:rPr lang="en-US" altLang="zh-CN" sz="2500" b="1" baseline="-25000" dirty="0" smtClean="0">
                <a:ea typeface="楷体_GB2312" pitchFamily="49" charset="-122"/>
              </a:rPr>
              <a:t> </a:t>
            </a:r>
            <a:endParaRPr lang="en-US" altLang="zh-CN" sz="2500" b="1" i="1" dirty="0">
              <a:ea typeface="楷体_GB2312" pitchFamily="49" charset="-122"/>
            </a:endParaRPr>
          </a:p>
        </p:txBody>
      </p:sp>
      <p:sp>
        <p:nvSpPr>
          <p:cNvPr id="19478" name="Rectangle 22"/>
          <p:cNvSpPr>
            <a:spLocks noChangeArrowheads="1"/>
          </p:cNvSpPr>
          <p:nvPr/>
        </p:nvSpPr>
        <p:spPr bwMode="auto">
          <a:xfrm>
            <a:off x="1903413" y="3168650"/>
            <a:ext cx="268763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初始浓度</a:t>
            </a:r>
            <a:r>
              <a:rPr lang="en-US" altLang="zh-CN" sz="2500" b="1" dirty="0">
                <a:ea typeface="楷体_GB2312" pitchFamily="49" charset="-122"/>
              </a:rPr>
              <a:t>/mol·L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7177" name="Rectangle 25"/>
          <p:cNvSpPr>
            <a:spLocks noGrp="1" noChangeArrowheads="1"/>
          </p:cNvSpPr>
          <p:nvPr>
            <p:ph type="title"/>
          </p:nvPr>
        </p:nvSpPr>
        <p:spPr>
          <a:xfrm>
            <a:off x="331788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3.5.1</a:t>
            </a:r>
            <a:r>
              <a:rPr lang="zh-CN" altLang="en-US" smtClean="0">
                <a:ea typeface="黑体" pitchFamily="49" charset="-122"/>
              </a:rPr>
              <a:t>酸碱缓冲溶液</a:t>
            </a:r>
            <a:endParaRPr lang="zh-CN" altLang="en-US" sz="14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9484" name="Rectangle 28"/>
          <p:cNvSpPr>
            <a:spLocks noChangeArrowheads="1"/>
          </p:cNvSpPr>
          <p:nvPr/>
        </p:nvSpPr>
        <p:spPr bwMode="auto">
          <a:xfrm>
            <a:off x="4689475" y="3668713"/>
            <a:ext cx="75533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smtClean="0">
                <a:ea typeface="楷体_GB2312" pitchFamily="49" charset="-122"/>
              </a:rPr>
              <a:t>c</a:t>
            </a:r>
            <a:r>
              <a:rPr lang="en-US" altLang="zh-CN" sz="2500" b="1" baseline="-25000" dirty="0" smtClean="0">
                <a:ea typeface="楷体_GB2312" pitchFamily="49" charset="-122"/>
              </a:rPr>
              <a:t>a</a:t>
            </a:r>
            <a:r>
              <a:rPr lang="en-US" altLang="zh-CN" sz="2500" b="1" dirty="0" smtClean="0">
                <a:ea typeface="楷体_GB2312" pitchFamily="49" charset="-122"/>
              </a:rPr>
              <a:t>-</a:t>
            </a:r>
            <a:r>
              <a:rPr lang="en-US" altLang="zh-CN" sz="2500" b="1" i="1" dirty="0" smtClean="0">
                <a:ea typeface="楷体_GB2312" pitchFamily="49" charset="-122"/>
              </a:rPr>
              <a:t>x</a:t>
            </a:r>
            <a:r>
              <a:rPr lang="en-US" altLang="zh-CN" sz="2500" b="1" baseline="-25000" dirty="0" smtClean="0">
                <a:ea typeface="楷体_GB2312" pitchFamily="49" charset="-122"/>
              </a:rPr>
              <a:t> </a:t>
            </a:r>
            <a:endParaRPr lang="en-US" altLang="zh-CN" sz="2500" b="1" baseline="-25000" dirty="0">
              <a:ea typeface="楷体_GB2312" pitchFamily="49" charset="-122"/>
            </a:endParaRPr>
          </a:p>
        </p:txBody>
      </p:sp>
      <p:sp>
        <p:nvSpPr>
          <p:cNvPr id="19485" name="Rectangle 29"/>
          <p:cNvSpPr>
            <a:spLocks noChangeArrowheads="1"/>
          </p:cNvSpPr>
          <p:nvPr/>
        </p:nvSpPr>
        <p:spPr bwMode="auto">
          <a:xfrm>
            <a:off x="6546850" y="3668713"/>
            <a:ext cx="841897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 err="1" smtClean="0">
                <a:ea typeface="楷体_GB2312" pitchFamily="49" charset="-122"/>
              </a:rPr>
              <a:t>c</a:t>
            </a:r>
            <a:r>
              <a:rPr lang="en-US" altLang="zh-CN" sz="2500" b="1" baseline="-25000" dirty="0" err="1" smtClean="0">
                <a:ea typeface="楷体_GB2312" pitchFamily="49" charset="-122"/>
              </a:rPr>
              <a:t>b</a:t>
            </a:r>
            <a:r>
              <a:rPr lang="en-US" altLang="zh-CN" sz="2500" b="1" dirty="0" err="1" smtClean="0">
                <a:ea typeface="楷体_GB2312" pitchFamily="49" charset="-122"/>
              </a:rPr>
              <a:t>+</a:t>
            </a:r>
            <a:r>
              <a:rPr lang="en-US" altLang="zh-CN" sz="2500" b="1" i="1" dirty="0" err="1" smtClean="0">
                <a:ea typeface="楷体_GB2312" pitchFamily="49" charset="-122"/>
              </a:rPr>
              <a:t>x</a:t>
            </a:r>
            <a:r>
              <a:rPr lang="en-US" altLang="zh-CN" sz="2500" b="1" baseline="-25000" dirty="0" smtClean="0">
                <a:ea typeface="楷体_GB2312" pitchFamily="49" charset="-122"/>
              </a:rPr>
              <a:t> </a:t>
            </a:r>
            <a:endParaRPr lang="en-US" altLang="zh-CN" sz="2500" b="1" i="1" dirty="0">
              <a:ea typeface="楷体_GB2312" pitchFamily="49" charset="-122"/>
            </a:endParaRPr>
          </a:p>
        </p:txBody>
      </p:sp>
      <p:sp>
        <p:nvSpPr>
          <p:cNvPr id="19486" name="Rectangle 30"/>
          <p:cNvSpPr>
            <a:spLocks noChangeArrowheads="1"/>
          </p:cNvSpPr>
          <p:nvPr/>
        </p:nvSpPr>
        <p:spPr bwMode="auto">
          <a:xfrm>
            <a:off x="1831975" y="3668713"/>
            <a:ext cx="268763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平衡浓度</a:t>
            </a:r>
            <a:r>
              <a:rPr lang="en-US" altLang="zh-CN" sz="2500" b="1">
                <a:ea typeface="楷体_GB2312" pitchFamily="49" charset="-122"/>
              </a:rPr>
              <a:t>/mol·L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19488" name="Rectangle 32"/>
          <p:cNvSpPr>
            <a:spLocks noChangeArrowheads="1"/>
          </p:cNvSpPr>
          <p:nvPr/>
        </p:nvSpPr>
        <p:spPr bwMode="auto">
          <a:xfrm>
            <a:off x="5975350" y="3668713"/>
            <a:ext cx="34448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x</a:t>
            </a:r>
          </a:p>
        </p:txBody>
      </p:sp>
      <p:sp>
        <p:nvSpPr>
          <p:cNvPr id="19491" name="Line 35"/>
          <p:cNvSpPr>
            <a:spLocks noChangeShapeType="1"/>
          </p:cNvSpPr>
          <p:nvPr/>
        </p:nvSpPr>
        <p:spPr bwMode="auto">
          <a:xfrm>
            <a:off x="6546850" y="4168775"/>
            <a:ext cx="99853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96" name="Rectangle 40"/>
          <p:cNvSpPr>
            <a:spLocks noChangeArrowheads="1"/>
          </p:cNvSpPr>
          <p:nvPr/>
        </p:nvSpPr>
        <p:spPr bwMode="auto">
          <a:xfrm>
            <a:off x="903288" y="882650"/>
            <a:ext cx="100393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</a:rPr>
              <a:t>缓冲溶液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7185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63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845211" y="2991678"/>
            <a:ext cx="3141547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楷体_GB2312"/>
                <a:ea typeface="楷体_GB2312"/>
              </a:rPr>
              <a:t>同离子效应，</a:t>
            </a:r>
            <a:r>
              <a:rPr lang="en-US" altLang="zh-CN" sz="2400" b="1" dirty="0" smtClean="0">
                <a:latin typeface="+mn-lt"/>
                <a:ea typeface="楷体_GB2312"/>
              </a:rPr>
              <a:t>Ac</a:t>
            </a:r>
            <a:r>
              <a:rPr lang="en-US" altLang="zh-CN" sz="2400" b="1" baseline="30000" dirty="0" smtClean="0">
                <a:latin typeface="+mn-lt"/>
                <a:ea typeface="楷体_GB2312"/>
              </a:rPr>
              <a:t>-</a:t>
            </a:r>
            <a:r>
              <a:rPr lang="zh-CN" altLang="en-US" sz="2400" b="1" dirty="0" smtClean="0">
                <a:latin typeface="楷体_GB2312"/>
                <a:ea typeface="楷体_GB2312"/>
              </a:rPr>
              <a:t>存在抑制水解</a:t>
            </a:r>
            <a:r>
              <a:rPr lang="en-US" altLang="zh-CN" sz="2400" b="1" dirty="0">
                <a:latin typeface="楷体_GB2312"/>
                <a:ea typeface="楷体_GB2312"/>
              </a:rPr>
              <a:t> </a:t>
            </a:r>
            <a:r>
              <a:rPr lang="en-US" altLang="zh-CN" sz="2400" b="1" dirty="0" smtClean="0">
                <a:latin typeface="+mn-lt"/>
                <a:ea typeface="楷体_GB2312"/>
              </a:rPr>
              <a:t>x≈0</a:t>
            </a:r>
            <a:endParaRPr lang="zh-CN" altLang="en-US" sz="2400" b="1" dirty="0">
              <a:latin typeface="+mn-lt"/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 build="p" autoUpdateAnimBg="0"/>
      <p:bldP spid="19467" grpId="0" build="p" autoUpdateAnimBg="0"/>
      <p:bldP spid="19474" grpId="0" autoUpdateAnimBg="0"/>
      <p:bldP spid="19475" grpId="0" autoUpdateAnimBg="0"/>
      <p:bldP spid="19476" grpId="0" autoUpdateAnimBg="0"/>
      <p:bldP spid="19477" grpId="0" autoUpdateAnimBg="0"/>
      <p:bldP spid="19478" grpId="0" autoUpdateAnimBg="0"/>
      <p:bldP spid="19484" grpId="0" autoUpdateAnimBg="0"/>
      <p:bldP spid="19485" grpId="0" autoUpdateAnimBg="0"/>
      <p:bldP spid="19486" grpId="0" autoUpdateAnimBg="0"/>
      <p:bldP spid="19488" grpId="0" autoUpdateAnimBg="0"/>
      <p:bldP spid="19491" grpId="0" animBg="1"/>
      <p:bldP spid="1949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91212" y="1237930"/>
            <a:ext cx="2304256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初始</a:t>
            </a:r>
            <a:r>
              <a:rPr lang="zh-CN" altLang="en-US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情况 </a:t>
            </a:r>
            <a:r>
              <a:rPr lang="en-US" altLang="zh-CN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pH</a:t>
            </a:r>
            <a:r>
              <a:rPr lang="en-US" altLang="zh-CN" sz="2400" b="1" baseline="-25000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0</a:t>
            </a:r>
            <a:r>
              <a:rPr lang="zh-CN" altLang="en-US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：</a:t>
            </a:r>
            <a:endParaRPr lang="en-US" altLang="zh-CN" sz="2400" b="1" dirty="0">
              <a:ea typeface="楷体_GB2312" pitchFamily="49" charset="-122"/>
            </a:endParaRPr>
          </a:p>
        </p:txBody>
      </p:sp>
      <p:sp>
        <p:nvSpPr>
          <p:cNvPr id="5" name="Rectangle 19"/>
          <p:cNvSpPr>
            <a:spLocks noChangeArrowheads="1"/>
          </p:cNvSpPr>
          <p:nvPr/>
        </p:nvSpPr>
        <p:spPr bwMode="auto">
          <a:xfrm>
            <a:off x="4058985" y="199961"/>
            <a:ext cx="288032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楷体_GB2312" pitchFamily="49" charset="-122"/>
              </a:rPr>
              <a:t>pH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dirty="0" err="1"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dirty="0">
                <a:ea typeface="楷体_GB2312" pitchFamily="49" charset="-122"/>
              </a:rPr>
              <a:t>/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2741442" y="1647145"/>
            <a:ext cx="417646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ea typeface="楷体_GB2312" pitchFamily="49" charset="-122"/>
              </a:rPr>
              <a:t>pH</a:t>
            </a:r>
            <a:r>
              <a:rPr lang="en-US" altLang="zh-CN" sz="2400" b="1" baseline="-25000" dirty="0" smtClean="0">
                <a:ea typeface="楷体_GB2312" pitchFamily="49" charset="-122"/>
              </a:rPr>
              <a:t>0 </a:t>
            </a:r>
            <a:r>
              <a:rPr lang="en-US" altLang="zh-CN" sz="2400" b="1" dirty="0">
                <a:ea typeface="楷体_GB2312" pitchFamily="49" charset="-122"/>
              </a:rPr>
              <a:t>= </a:t>
            </a:r>
            <a:r>
              <a:rPr lang="en-US" altLang="zh-CN" sz="2400" b="1" dirty="0" err="1">
                <a:ea typeface="楷体_GB2312" pitchFamily="49" charset="-122"/>
              </a:rPr>
              <a:t>p</a:t>
            </a:r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dirty="0">
                <a:ea typeface="楷体_GB2312" pitchFamily="49" charset="-122"/>
              </a:rPr>
              <a:t>+ </a:t>
            </a:r>
            <a:r>
              <a:rPr lang="en-US" altLang="zh-CN" sz="2400" b="1" dirty="0" err="1" smtClean="0">
                <a:ea typeface="楷体_GB2312" pitchFamily="49" charset="-122"/>
              </a:rPr>
              <a:t>lg</a:t>
            </a:r>
            <a:r>
              <a:rPr lang="en-US" altLang="zh-CN" sz="2400" b="1" dirty="0" smtClean="0">
                <a:ea typeface="楷体_GB2312" pitchFamily="49" charset="-122"/>
              </a:rPr>
              <a:t>(</a:t>
            </a:r>
            <a:r>
              <a:rPr lang="en-US" altLang="zh-CN" sz="2400" b="1" i="1" dirty="0" smtClean="0">
                <a:ea typeface="楷体_GB2312" pitchFamily="49" charset="-122"/>
              </a:rPr>
              <a:t>c</a:t>
            </a:r>
            <a:r>
              <a:rPr lang="en-US" altLang="zh-CN" sz="2400" b="1" i="1" baseline="-25000" dirty="0" smtClean="0">
                <a:ea typeface="楷体_GB2312" pitchFamily="49" charset="-122"/>
              </a:rPr>
              <a:t>b0</a:t>
            </a:r>
            <a:r>
              <a:rPr lang="en-US" altLang="zh-CN" sz="2400" b="1" dirty="0" smtClean="0">
                <a:ea typeface="楷体_GB2312" pitchFamily="49" charset="-122"/>
              </a:rPr>
              <a:t>/</a:t>
            </a:r>
            <a:r>
              <a:rPr lang="en-US" altLang="zh-CN" sz="2400" b="1" i="1" dirty="0" smtClean="0">
                <a:ea typeface="楷体_GB2312" pitchFamily="49" charset="-122"/>
              </a:rPr>
              <a:t>c</a:t>
            </a:r>
            <a:r>
              <a:rPr lang="en-US" altLang="zh-CN" sz="2400" b="1" i="1" baseline="-25000" dirty="0" smtClean="0">
                <a:ea typeface="楷体_GB2312" pitchFamily="49" charset="-122"/>
              </a:rPr>
              <a:t>a0</a:t>
            </a:r>
            <a:r>
              <a:rPr lang="en-US" altLang="zh-CN" sz="2400" b="1" dirty="0" smtClean="0">
                <a:ea typeface="楷体_GB2312" pitchFamily="49" charset="-122"/>
              </a:rPr>
              <a:t>)=4.75</a:t>
            </a:r>
            <a:endParaRPr lang="en-US" altLang="zh-CN" sz="2400" b="1" dirty="0">
              <a:ea typeface="楷体_GB2312" pitchFamily="49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40368" y="1687920"/>
            <a:ext cx="187220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i="1" dirty="0" smtClean="0">
                <a:ea typeface="楷体_GB2312" pitchFamily="49" charset="-122"/>
              </a:rPr>
              <a:t>c</a:t>
            </a:r>
            <a:r>
              <a:rPr lang="en-US" altLang="zh-CN" sz="2500" b="1" baseline="-25000" dirty="0" smtClean="0">
                <a:ea typeface="楷体_GB2312" pitchFamily="49" charset="-122"/>
              </a:rPr>
              <a:t>b0</a:t>
            </a:r>
            <a:r>
              <a:rPr lang="en-US" altLang="zh-CN" sz="2500" b="1" dirty="0" smtClean="0">
                <a:ea typeface="楷体_GB2312" pitchFamily="49" charset="-122"/>
              </a:rPr>
              <a:t>/</a:t>
            </a:r>
            <a:r>
              <a:rPr lang="en-US" altLang="zh-CN" sz="2500" b="1" i="1" dirty="0" smtClean="0">
                <a:ea typeface="楷体_GB2312" pitchFamily="49" charset="-122"/>
              </a:rPr>
              <a:t>c</a:t>
            </a:r>
            <a:r>
              <a:rPr lang="en-US" altLang="zh-CN" sz="2500" b="1" baseline="-25000" dirty="0" smtClean="0">
                <a:ea typeface="楷体_GB2312" pitchFamily="49" charset="-122"/>
              </a:rPr>
              <a:t>a0</a:t>
            </a: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dirty="0" smtClean="0">
                <a:ea typeface="楷体_GB2312" pitchFamily="49" charset="-122"/>
              </a:rPr>
              <a:t>1.0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349198" y="2101211"/>
            <a:ext cx="2531519" cy="47705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/>
                <a:ea typeface="楷体_GB2312"/>
              </a:rPr>
              <a:t>①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加</a:t>
            </a:r>
            <a:r>
              <a:rPr lang="en-US" altLang="zh-CN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10mL</a:t>
            </a:r>
            <a:r>
              <a:rPr lang="zh-CN" altLang="en-US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水 </a:t>
            </a:r>
            <a:r>
              <a:rPr lang="en-US" altLang="zh-CN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pH</a:t>
            </a:r>
            <a:r>
              <a:rPr lang="en-US" altLang="zh-CN" sz="2400" b="1" baseline="-25000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1</a:t>
            </a:r>
            <a:r>
              <a:rPr lang="en-US" altLang="zh-CN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.</a:t>
            </a:r>
            <a:r>
              <a:rPr lang="en-US" altLang="zh-CN" sz="2400" b="1" dirty="0" smtClean="0">
                <a:ea typeface="楷体_GB2312"/>
              </a:rPr>
              <a:t> </a:t>
            </a:r>
            <a:endParaRPr lang="en-US" altLang="zh-CN" sz="2400" b="1" dirty="0">
              <a:ea typeface="楷体_GB231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24725" y="2601549"/>
            <a:ext cx="6373861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/>
              </a:rPr>
              <a:t>c</a:t>
            </a:r>
            <a:r>
              <a:rPr lang="en-US" altLang="zh-CN" sz="2500" b="1" i="1" baseline="-25000" dirty="0">
                <a:ea typeface="楷体_GB2312"/>
              </a:rPr>
              <a:t>a</a:t>
            </a:r>
            <a:r>
              <a:rPr lang="en-US" altLang="zh-CN" sz="2500" b="1" baseline="-25000" dirty="0">
                <a:ea typeface="楷体_GB2312"/>
              </a:rPr>
              <a:t>1</a:t>
            </a:r>
            <a:r>
              <a:rPr lang="en-US" altLang="zh-CN" sz="2500" b="1" dirty="0">
                <a:ea typeface="楷体_GB2312"/>
              </a:rPr>
              <a:t>= </a:t>
            </a:r>
            <a:r>
              <a:rPr lang="en-US" altLang="zh-CN" sz="2500" b="1" i="1" dirty="0">
                <a:ea typeface="楷体_GB2312"/>
              </a:rPr>
              <a:t>c</a:t>
            </a:r>
            <a:r>
              <a:rPr lang="en-US" altLang="zh-CN" sz="2500" b="1" i="1" baseline="-25000" dirty="0">
                <a:ea typeface="楷体_GB2312"/>
              </a:rPr>
              <a:t>b</a:t>
            </a:r>
            <a:r>
              <a:rPr lang="en-US" altLang="zh-CN" sz="2500" b="1" baseline="-25000" dirty="0">
                <a:ea typeface="楷体_GB2312"/>
              </a:rPr>
              <a:t>1</a:t>
            </a:r>
            <a:r>
              <a:rPr lang="en-US" altLang="zh-CN" sz="2500" b="1" dirty="0">
                <a:ea typeface="楷体_GB2312"/>
              </a:rPr>
              <a:t>= (0.10×100</a:t>
            </a:r>
            <a:r>
              <a:rPr lang="en-US" altLang="zh-CN" sz="2500" b="1" dirty="0" smtClean="0">
                <a:ea typeface="楷体_GB2312"/>
              </a:rPr>
              <a:t>)/(100+10</a:t>
            </a:r>
            <a:r>
              <a:rPr lang="en-US" altLang="zh-CN" sz="2500" b="1" dirty="0">
                <a:ea typeface="楷体_GB2312"/>
              </a:rPr>
              <a:t>)</a:t>
            </a:r>
            <a:r>
              <a:rPr lang="en-US" altLang="zh-CN" sz="2500" b="1" dirty="0" smtClean="0">
                <a:ea typeface="楷体_GB2312"/>
              </a:rPr>
              <a:t>= </a:t>
            </a:r>
            <a:r>
              <a:rPr lang="en-US" altLang="zh-CN" sz="2500" b="1" dirty="0">
                <a:ea typeface="楷体_GB2312"/>
              </a:rPr>
              <a:t>0.091 mol·L</a:t>
            </a:r>
            <a:r>
              <a:rPr lang="en-US" altLang="zh-CN" sz="2500" b="1" baseline="30000" dirty="0">
                <a:ea typeface="楷体_GB2312"/>
              </a:rPr>
              <a:t>-1</a:t>
            </a:r>
            <a:endParaRPr lang="zh-CN" altLang="en-US" sz="2500" dirty="0"/>
          </a:p>
        </p:txBody>
      </p:sp>
      <p:sp>
        <p:nvSpPr>
          <p:cNvPr id="11" name="矩形 10"/>
          <p:cNvSpPr/>
          <p:nvPr/>
        </p:nvSpPr>
        <p:spPr>
          <a:xfrm>
            <a:off x="840368" y="3029297"/>
            <a:ext cx="16401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楷体_GB2312"/>
              </a:rPr>
              <a:t>c</a:t>
            </a:r>
            <a:r>
              <a:rPr lang="en-US" altLang="zh-CN" sz="2400" b="1" i="1" baseline="-25000" dirty="0">
                <a:ea typeface="楷体_GB2312"/>
              </a:rPr>
              <a:t>b</a:t>
            </a:r>
            <a:r>
              <a:rPr lang="en-US" altLang="zh-CN" sz="2400" b="1" baseline="-25000" dirty="0">
                <a:ea typeface="楷体_GB2312"/>
              </a:rPr>
              <a:t>1</a:t>
            </a:r>
            <a:r>
              <a:rPr lang="en-US" altLang="zh-CN" sz="2400" b="1" dirty="0">
                <a:ea typeface="楷体_GB2312"/>
              </a:rPr>
              <a:t>/</a:t>
            </a:r>
            <a:r>
              <a:rPr lang="en-US" altLang="zh-CN" sz="2400" b="1" i="1" dirty="0">
                <a:ea typeface="楷体_GB2312"/>
              </a:rPr>
              <a:t>c</a:t>
            </a:r>
            <a:r>
              <a:rPr lang="en-US" altLang="zh-CN" sz="2400" b="1" i="1" baseline="-25000" dirty="0">
                <a:ea typeface="楷体_GB2312"/>
              </a:rPr>
              <a:t>a</a:t>
            </a:r>
            <a:r>
              <a:rPr lang="en-US" altLang="zh-CN" sz="2400" b="1" baseline="-25000" dirty="0">
                <a:ea typeface="楷体_GB2312"/>
              </a:rPr>
              <a:t>1</a:t>
            </a:r>
            <a:r>
              <a:rPr lang="en-US" altLang="zh-CN" sz="2400" b="1" i="1" baseline="-25000" dirty="0">
                <a:ea typeface="楷体_GB2312"/>
              </a:rPr>
              <a:t> </a:t>
            </a:r>
            <a:r>
              <a:rPr lang="en-US" altLang="zh-CN" sz="2400" b="1" dirty="0">
                <a:ea typeface="楷体_GB2312"/>
              </a:rPr>
              <a:t>= 1.0</a:t>
            </a:r>
            <a:endParaRPr lang="zh-CN" altLang="en-US" sz="2400" dirty="0"/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2656053" y="3039008"/>
            <a:ext cx="417646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ea typeface="楷体_GB2312" pitchFamily="49" charset="-122"/>
              </a:rPr>
              <a:t>pH</a:t>
            </a:r>
            <a:r>
              <a:rPr lang="en-US" altLang="zh-CN" sz="2400" b="1" baseline="-25000" dirty="0" smtClean="0">
                <a:ea typeface="楷体_GB2312" pitchFamily="49" charset="-122"/>
              </a:rPr>
              <a:t>1</a:t>
            </a:r>
            <a:r>
              <a:rPr lang="en-US" altLang="zh-CN" sz="2400" b="1" dirty="0" smtClean="0">
                <a:ea typeface="楷体_GB2312" pitchFamily="49" charset="-122"/>
              </a:rPr>
              <a:t> </a:t>
            </a:r>
            <a:r>
              <a:rPr lang="en-US" altLang="zh-CN" sz="2400" b="1" dirty="0">
                <a:ea typeface="楷体_GB2312" pitchFamily="49" charset="-122"/>
              </a:rPr>
              <a:t>= </a:t>
            </a:r>
            <a:r>
              <a:rPr lang="en-US" altLang="zh-CN" sz="2400" b="1" dirty="0" err="1">
                <a:ea typeface="楷体_GB2312" pitchFamily="49" charset="-122"/>
              </a:rPr>
              <a:t>p</a:t>
            </a:r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dirty="0">
                <a:ea typeface="楷体_GB2312" pitchFamily="49" charset="-122"/>
              </a:rPr>
              <a:t>+ </a:t>
            </a:r>
            <a:r>
              <a:rPr lang="en-US" altLang="zh-CN" sz="2400" b="1" dirty="0" err="1" smtClean="0">
                <a:ea typeface="楷体_GB2312" pitchFamily="49" charset="-122"/>
              </a:rPr>
              <a:t>lg</a:t>
            </a:r>
            <a:r>
              <a:rPr lang="en-US" altLang="zh-CN" sz="2400" b="1" dirty="0" smtClean="0">
                <a:ea typeface="楷体_GB2312" pitchFamily="49" charset="-122"/>
              </a:rPr>
              <a:t>(</a:t>
            </a:r>
            <a:r>
              <a:rPr lang="en-US" altLang="zh-CN" sz="2400" b="1" i="1" dirty="0" smtClean="0">
                <a:ea typeface="楷体_GB2312" pitchFamily="49" charset="-122"/>
              </a:rPr>
              <a:t>c</a:t>
            </a:r>
            <a:r>
              <a:rPr lang="en-US" altLang="zh-CN" sz="2400" b="1" i="1" baseline="-25000" dirty="0" smtClean="0">
                <a:ea typeface="楷体_GB2312" pitchFamily="49" charset="-122"/>
              </a:rPr>
              <a:t>b1</a:t>
            </a:r>
            <a:r>
              <a:rPr lang="en-US" altLang="zh-CN" sz="2400" b="1" dirty="0" smtClean="0">
                <a:ea typeface="楷体_GB2312" pitchFamily="49" charset="-122"/>
              </a:rPr>
              <a:t>/</a:t>
            </a:r>
            <a:r>
              <a:rPr lang="en-US" altLang="zh-CN" sz="2400" b="1" i="1" dirty="0" smtClean="0">
                <a:ea typeface="楷体_GB2312" pitchFamily="49" charset="-122"/>
              </a:rPr>
              <a:t>c</a:t>
            </a:r>
            <a:r>
              <a:rPr lang="en-US" altLang="zh-CN" sz="2400" b="1" i="1" baseline="-25000" dirty="0" smtClean="0">
                <a:ea typeface="楷体_GB2312" pitchFamily="49" charset="-122"/>
              </a:rPr>
              <a:t>a1</a:t>
            </a:r>
            <a:r>
              <a:rPr lang="en-US" altLang="zh-CN" sz="2400" b="1" dirty="0" smtClean="0">
                <a:ea typeface="楷体_GB2312" pitchFamily="49" charset="-122"/>
              </a:rPr>
              <a:t>)=4.75</a:t>
            </a:r>
            <a:endParaRPr lang="en-US" altLang="zh-CN" sz="2400" b="1" dirty="0">
              <a:ea typeface="楷体_GB2312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226019" y="2907975"/>
            <a:ext cx="34227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ea typeface="楷体_GB2312"/>
                <a:sym typeface="Symbol" pitchFamily="18" charset="2"/>
              </a:rPr>
              <a:t></a:t>
            </a:r>
            <a:r>
              <a:rPr lang="en-US" altLang="zh-CN" sz="2400" b="1" dirty="0">
                <a:ea typeface="楷体_GB2312"/>
              </a:rPr>
              <a:t>pH</a:t>
            </a:r>
            <a:r>
              <a:rPr lang="en-US" altLang="zh-CN" sz="2400" b="1" baseline="-25000" dirty="0">
                <a:ea typeface="楷体_GB2312"/>
              </a:rPr>
              <a:t>1</a:t>
            </a:r>
            <a:r>
              <a:rPr lang="en-US" altLang="zh-CN" sz="2400" b="1" dirty="0">
                <a:ea typeface="楷体_GB2312"/>
              </a:rPr>
              <a:t> = pH</a:t>
            </a:r>
            <a:r>
              <a:rPr lang="en-US" altLang="zh-CN" sz="2400" b="1" baseline="-25000" dirty="0">
                <a:ea typeface="楷体_GB2312"/>
              </a:rPr>
              <a:t>1</a:t>
            </a:r>
            <a:r>
              <a:rPr lang="en-US" altLang="zh-CN" sz="2400" b="1" dirty="0">
                <a:ea typeface="楷体_GB2312"/>
              </a:rPr>
              <a:t> - pH</a:t>
            </a:r>
            <a:r>
              <a:rPr lang="en-US" altLang="zh-CN" sz="2400" b="1" baseline="-25000" dirty="0">
                <a:ea typeface="楷体_GB2312"/>
              </a:rPr>
              <a:t>0</a:t>
            </a:r>
            <a:r>
              <a:rPr lang="en-US" altLang="zh-CN" sz="2400" b="1" dirty="0">
                <a:ea typeface="楷体_GB2312"/>
              </a:rPr>
              <a:t> = 0.00</a:t>
            </a:r>
            <a:r>
              <a:rPr lang="en-US" altLang="zh-CN" b="1" dirty="0">
                <a:ea typeface="楷体_GB2312"/>
              </a:rPr>
              <a:t>.</a:t>
            </a:r>
          </a:p>
        </p:txBody>
      </p:sp>
      <p:sp>
        <p:nvSpPr>
          <p:cNvPr id="15" name="矩形 14"/>
          <p:cNvSpPr/>
          <p:nvPr/>
        </p:nvSpPr>
        <p:spPr>
          <a:xfrm>
            <a:off x="217990" y="3538033"/>
            <a:ext cx="5467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/>
                <a:ea typeface="宋体"/>
              </a:rPr>
              <a:t>②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加</a:t>
            </a:r>
            <a:r>
              <a:rPr lang="en-US" altLang="zh-CN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0.010 mol·L</a:t>
            </a:r>
            <a:r>
              <a:rPr lang="en-US" altLang="zh-CN" sz="2400" b="1" baseline="30000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-1</a:t>
            </a:r>
            <a:r>
              <a:rPr lang="en-US" altLang="zh-CN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HCl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水溶液</a:t>
            </a:r>
            <a:r>
              <a:rPr lang="en-US" altLang="zh-CN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10mL pH</a:t>
            </a:r>
            <a:r>
              <a:rPr lang="en-US" altLang="zh-CN" sz="2400" b="1" baseline="-25000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2</a:t>
            </a:r>
            <a:r>
              <a:rPr lang="en-US" altLang="zh-CN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  <a:endParaRPr lang="en-US" altLang="zh-CN" sz="2400" b="1" dirty="0">
              <a:solidFill>
                <a:schemeClr val="accent2"/>
              </a:solidFill>
              <a:ea typeface="楷体_GB231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40368" y="4034242"/>
            <a:ext cx="70984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ea typeface="楷体_GB2312" pitchFamily="49" charset="-122"/>
              </a:rPr>
              <a:t>加入的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少量</a:t>
            </a:r>
            <a:r>
              <a:rPr lang="en-US" altLang="zh-CN" sz="2400" b="1" dirty="0" err="1">
                <a:ea typeface="楷体_GB2312" pitchFamily="49" charset="-122"/>
              </a:rPr>
              <a:t>HCl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zh-CN" altLang="en-US" sz="2400" b="1" dirty="0" smtClean="0">
                <a:ea typeface="楷体_GB2312" pitchFamily="49" charset="-122"/>
              </a:rPr>
              <a:t>后，溶液</a:t>
            </a:r>
            <a:r>
              <a:rPr lang="zh-CN" altLang="en-US" sz="2400" b="1" dirty="0">
                <a:ea typeface="楷体_GB2312" pitchFamily="49" charset="-122"/>
              </a:rPr>
              <a:t>中</a:t>
            </a:r>
            <a:r>
              <a:rPr lang="en-US" altLang="zh-CN" sz="2400" b="1" dirty="0" smtClean="0">
                <a:ea typeface="楷体_GB2312" pitchFamily="49" charset="-122"/>
              </a:rPr>
              <a:t>Ac</a:t>
            </a:r>
            <a:r>
              <a:rPr lang="en-US" altLang="zh-CN" sz="2400" b="1" baseline="30000" dirty="0" smtClean="0">
                <a:ea typeface="楷体_GB2312" pitchFamily="49" charset="-122"/>
              </a:rPr>
              <a:t>-</a:t>
            </a:r>
            <a:r>
              <a:rPr lang="zh-CN" altLang="en-US" sz="2400" b="1" dirty="0" smtClean="0">
                <a:ea typeface="楷体_GB2312" pitchFamily="49" charset="-122"/>
              </a:rPr>
              <a:t>与</a:t>
            </a:r>
            <a:r>
              <a:rPr lang="en-US" altLang="zh-CN" sz="2400" b="1" dirty="0" err="1" smtClean="0">
                <a:ea typeface="楷体_GB2312" pitchFamily="49" charset="-122"/>
              </a:rPr>
              <a:t>HCl</a:t>
            </a:r>
            <a:r>
              <a:rPr lang="zh-CN" altLang="en-US" sz="2400" b="1" dirty="0" smtClean="0">
                <a:ea typeface="楷体_GB2312" pitchFamily="49" charset="-122"/>
              </a:rPr>
              <a:t>反应生成</a:t>
            </a:r>
            <a:r>
              <a:rPr lang="en-US" altLang="zh-CN" sz="2400" b="1" dirty="0" err="1" smtClean="0">
                <a:ea typeface="楷体_GB2312" pitchFamily="49" charset="-122"/>
              </a:rPr>
              <a:t>HAc</a:t>
            </a:r>
            <a:r>
              <a:rPr lang="en-US" altLang="zh-CN" sz="2400" b="1" dirty="0">
                <a:ea typeface="楷体_GB2312"/>
              </a:rPr>
              <a:t>.</a:t>
            </a:r>
          </a:p>
        </p:txBody>
      </p:sp>
      <p:sp>
        <p:nvSpPr>
          <p:cNvPr id="17" name="矩形 16"/>
          <p:cNvSpPr/>
          <p:nvPr/>
        </p:nvSpPr>
        <p:spPr>
          <a:xfrm>
            <a:off x="715289" y="4457968"/>
            <a:ext cx="2873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 dirty="0">
                <a:ea typeface="楷体_GB2312"/>
              </a:rPr>
              <a:t>c</a:t>
            </a:r>
            <a:r>
              <a:rPr lang="en-US" altLang="zh-CN" sz="2400" b="1" i="1" baseline="-25000" dirty="0">
                <a:ea typeface="楷体_GB2312"/>
              </a:rPr>
              <a:t>a</a:t>
            </a:r>
            <a:r>
              <a:rPr lang="en-US" altLang="zh-CN" sz="2400" b="1" baseline="-25000" dirty="0">
                <a:ea typeface="楷体_GB2312"/>
              </a:rPr>
              <a:t>2 </a:t>
            </a:r>
            <a:r>
              <a:rPr lang="en-US" altLang="zh-CN" sz="2400" b="1" dirty="0">
                <a:ea typeface="楷体_GB2312"/>
              </a:rPr>
              <a:t>= (0.10×100)/110</a:t>
            </a:r>
          </a:p>
        </p:txBody>
      </p:sp>
      <p:sp>
        <p:nvSpPr>
          <p:cNvPr id="18" name="矩形 17"/>
          <p:cNvSpPr/>
          <p:nvPr/>
        </p:nvSpPr>
        <p:spPr>
          <a:xfrm>
            <a:off x="1527141" y="818322"/>
            <a:ext cx="967285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100 mL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浓度均为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0.10 mol·L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-1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的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HAc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和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NaAc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混合溶液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solidFill>
                  <a:srgbClr val="00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00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000000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= 4.75).</a:t>
            </a: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3445542" y="4460514"/>
            <a:ext cx="2597486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+ (0.010×10)/110       </a:t>
            </a: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925998" y="4474854"/>
            <a:ext cx="2344737" cy="484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= 0.092 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717392" y="4861853"/>
            <a:ext cx="7378029" cy="51552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ea typeface="楷体_GB2312" pitchFamily="49" charset="-122"/>
              </a:rPr>
              <a:t>b2</a:t>
            </a:r>
            <a:r>
              <a:rPr lang="en-US" altLang="zh-CN" sz="2500" b="1" dirty="0">
                <a:ea typeface="楷体_GB2312" pitchFamily="49" charset="-122"/>
              </a:rPr>
              <a:t>= (0.10×100)/110 -(0.010×10)/110 = 0.090mol·L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. </a:t>
            </a: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1582781" y="5350711"/>
            <a:ext cx="24288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 c</a:t>
            </a:r>
            <a:r>
              <a:rPr lang="en-US" altLang="zh-CN" sz="2500" b="1" baseline="-25000" dirty="0">
                <a:ea typeface="楷体_GB2312" pitchFamily="49" charset="-122"/>
              </a:rPr>
              <a:t>b2</a:t>
            </a:r>
            <a:r>
              <a:rPr lang="en-US" altLang="zh-CN" sz="2500" b="1" dirty="0">
                <a:ea typeface="楷体_GB2312" pitchFamily="49" charset="-122"/>
              </a:rPr>
              <a:t>/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ea typeface="楷体_GB2312" pitchFamily="49" charset="-122"/>
              </a:rPr>
              <a:t>a2 </a:t>
            </a:r>
            <a:r>
              <a:rPr lang="en-US" altLang="zh-CN" sz="2500" b="1" dirty="0">
                <a:ea typeface="楷体_GB2312" pitchFamily="49" charset="-122"/>
              </a:rPr>
              <a:t>= 0.98.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 </a:t>
            </a: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4044036" y="5325093"/>
            <a:ext cx="417646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ea typeface="楷体_GB2312" pitchFamily="49" charset="-122"/>
              </a:rPr>
              <a:t>pH</a:t>
            </a:r>
            <a:r>
              <a:rPr lang="en-US" altLang="zh-CN" sz="2400" b="1" baseline="-25000" dirty="0">
                <a:ea typeface="楷体_GB2312" pitchFamily="49" charset="-122"/>
              </a:rPr>
              <a:t>2</a:t>
            </a:r>
            <a:r>
              <a:rPr lang="en-US" altLang="zh-CN" sz="2400" b="1" baseline="-25000" dirty="0" smtClean="0">
                <a:ea typeface="楷体_GB2312" pitchFamily="49" charset="-122"/>
              </a:rPr>
              <a:t> </a:t>
            </a:r>
            <a:r>
              <a:rPr lang="en-US" altLang="zh-CN" sz="2400" b="1" dirty="0">
                <a:ea typeface="楷体_GB2312" pitchFamily="49" charset="-122"/>
              </a:rPr>
              <a:t>= </a:t>
            </a:r>
            <a:r>
              <a:rPr lang="en-US" altLang="zh-CN" sz="2400" b="1" dirty="0" err="1">
                <a:ea typeface="楷体_GB2312" pitchFamily="49" charset="-122"/>
              </a:rPr>
              <a:t>p</a:t>
            </a:r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dirty="0">
                <a:ea typeface="楷体_GB2312" pitchFamily="49" charset="-122"/>
              </a:rPr>
              <a:t>+ </a:t>
            </a:r>
            <a:r>
              <a:rPr lang="en-US" altLang="zh-CN" sz="2400" b="1" dirty="0" err="1" smtClean="0">
                <a:ea typeface="楷体_GB2312" pitchFamily="49" charset="-122"/>
              </a:rPr>
              <a:t>lg</a:t>
            </a:r>
            <a:r>
              <a:rPr lang="en-US" altLang="zh-CN" sz="2400" b="1" dirty="0" smtClean="0">
                <a:ea typeface="楷体_GB2312" pitchFamily="49" charset="-122"/>
              </a:rPr>
              <a:t>(</a:t>
            </a:r>
            <a:r>
              <a:rPr lang="en-US" altLang="zh-CN" sz="2400" b="1" i="1" dirty="0" smtClean="0">
                <a:ea typeface="楷体_GB2312" pitchFamily="49" charset="-122"/>
              </a:rPr>
              <a:t>c</a:t>
            </a:r>
            <a:r>
              <a:rPr lang="en-US" altLang="zh-CN" sz="2400" b="1" i="1" baseline="-25000" dirty="0" smtClean="0">
                <a:ea typeface="楷体_GB2312" pitchFamily="49" charset="-122"/>
              </a:rPr>
              <a:t>b2</a:t>
            </a:r>
            <a:r>
              <a:rPr lang="en-US" altLang="zh-CN" sz="2400" b="1" dirty="0" smtClean="0">
                <a:ea typeface="楷体_GB2312" pitchFamily="49" charset="-122"/>
              </a:rPr>
              <a:t>/</a:t>
            </a:r>
            <a:r>
              <a:rPr lang="en-US" altLang="zh-CN" sz="2400" b="1" i="1" dirty="0" smtClean="0">
                <a:ea typeface="楷体_GB2312" pitchFamily="49" charset="-122"/>
              </a:rPr>
              <a:t>c</a:t>
            </a:r>
            <a:r>
              <a:rPr lang="en-US" altLang="zh-CN" sz="2400" b="1" i="1" baseline="-25000" dirty="0" smtClean="0">
                <a:ea typeface="楷体_GB2312" pitchFamily="49" charset="-122"/>
              </a:rPr>
              <a:t>a2</a:t>
            </a:r>
            <a:r>
              <a:rPr lang="en-US" altLang="zh-CN" sz="2400" b="1" dirty="0" smtClean="0">
                <a:ea typeface="楷体_GB2312" pitchFamily="49" charset="-122"/>
              </a:rPr>
              <a:t>)=4.74</a:t>
            </a:r>
            <a:endParaRPr lang="en-US" altLang="zh-CN" sz="2400" b="1" dirty="0">
              <a:ea typeface="楷体_GB2312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312475" y="5847197"/>
            <a:ext cx="51299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/>
                <a:sym typeface="Symbol" pitchFamily="18" charset="2"/>
              </a:rPr>
              <a:t></a:t>
            </a:r>
            <a:r>
              <a:rPr lang="en-US" altLang="zh-CN" sz="2400" b="1" dirty="0">
                <a:ea typeface="楷体_GB2312"/>
              </a:rPr>
              <a:t>pH</a:t>
            </a:r>
            <a:r>
              <a:rPr lang="en-US" altLang="zh-CN" sz="2400" b="1" baseline="-25000" dirty="0">
                <a:ea typeface="楷体_GB2312"/>
              </a:rPr>
              <a:t>2</a:t>
            </a:r>
            <a:r>
              <a:rPr lang="en-US" altLang="zh-CN" sz="2400" b="1" dirty="0">
                <a:ea typeface="楷体_GB2312"/>
              </a:rPr>
              <a:t> = pH</a:t>
            </a:r>
            <a:r>
              <a:rPr lang="en-US" altLang="zh-CN" sz="2400" b="1" baseline="-25000" dirty="0">
                <a:ea typeface="楷体_GB2312"/>
              </a:rPr>
              <a:t>2</a:t>
            </a:r>
            <a:r>
              <a:rPr lang="en-US" altLang="zh-CN" sz="2400" b="1" dirty="0">
                <a:ea typeface="楷体_GB2312"/>
              </a:rPr>
              <a:t> - pH</a:t>
            </a:r>
            <a:r>
              <a:rPr lang="en-US" altLang="zh-CN" sz="2400" b="1" baseline="-25000" dirty="0">
                <a:ea typeface="楷体_GB2312"/>
              </a:rPr>
              <a:t>0</a:t>
            </a:r>
            <a:r>
              <a:rPr lang="en-US" altLang="zh-CN" sz="2400" b="1" dirty="0">
                <a:ea typeface="楷体_GB2312"/>
              </a:rPr>
              <a:t> = 4.74 - 4.75 = -0.01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8270735" y="3932118"/>
            <a:ext cx="2756753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3300"/>
                </a:solidFill>
                <a:ea typeface="楷体_GB2312"/>
              </a:rPr>
              <a:t>抗酸</a:t>
            </a:r>
            <a:r>
              <a:rPr lang="zh-CN" altLang="en-US" sz="2400" b="1" dirty="0" smtClean="0">
                <a:solidFill>
                  <a:srgbClr val="FF3300"/>
                </a:solidFill>
                <a:ea typeface="楷体_GB2312"/>
              </a:rPr>
              <a:t>组分</a:t>
            </a:r>
            <a:r>
              <a:rPr lang="en-US" altLang="zh-CN" sz="2400" b="1" dirty="0">
                <a:ea typeface="楷体_GB2312" pitchFamily="49" charset="-122"/>
              </a:rPr>
              <a:t>Ac</a:t>
            </a:r>
            <a:r>
              <a:rPr lang="en-US" altLang="zh-CN" sz="2400" b="1" baseline="30000" dirty="0">
                <a:ea typeface="楷体_GB2312" pitchFamily="49" charset="-122"/>
              </a:rPr>
              <a:t>-</a:t>
            </a:r>
            <a:r>
              <a:rPr lang="zh-CN" altLang="en-US" sz="2400" b="1" dirty="0" smtClean="0">
                <a:ea typeface="楷体_GB2312"/>
              </a:rPr>
              <a:t>的</a:t>
            </a:r>
            <a:r>
              <a:rPr lang="zh-CN" altLang="en-US" sz="2400" b="1" dirty="0">
                <a:ea typeface="楷体_GB2312"/>
              </a:rPr>
              <a:t>存在</a:t>
            </a:r>
            <a:r>
              <a:rPr lang="en-US" altLang="zh-CN" sz="2400" b="1" dirty="0">
                <a:ea typeface="楷体_GB2312"/>
              </a:rPr>
              <a:t>,</a:t>
            </a:r>
            <a:r>
              <a:rPr lang="zh-CN" altLang="en-US" sz="2400" b="1" dirty="0">
                <a:ea typeface="楷体_GB2312"/>
              </a:rPr>
              <a:t>少量酸的加入不至于使</a:t>
            </a:r>
            <a:r>
              <a:rPr lang="en-US" altLang="zh-CN" sz="2400" b="1" dirty="0" err="1">
                <a:ea typeface="楷体_GB2312"/>
              </a:rPr>
              <a:t>cb</a:t>
            </a:r>
            <a:r>
              <a:rPr lang="en-US" altLang="zh-CN" sz="2400" b="1" dirty="0">
                <a:ea typeface="楷体_GB2312"/>
              </a:rPr>
              <a:t>/ca</a:t>
            </a:r>
            <a:r>
              <a:rPr lang="zh-CN" altLang="en-US" sz="2400" b="1" dirty="0">
                <a:ea typeface="楷体_GB2312"/>
              </a:rPr>
              <a:t>改变较大</a:t>
            </a:r>
            <a:r>
              <a:rPr lang="en-US" altLang="zh-CN" sz="2400" b="1" dirty="0">
                <a:ea typeface="楷体_GB2312"/>
              </a:rPr>
              <a:t>,</a:t>
            </a:r>
            <a:r>
              <a:rPr lang="zh-CN" altLang="en-US" sz="2400" b="1" dirty="0">
                <a:ea typeface="楷体_GB2312"/>
              </a:rPr>
              <a:t>系统酸度基本不变</a:t>
            </a:r>
            <a:r>
              <a:rPr lang="en-US" altLang="zh-CN" sz="2400" b="1" dirty="0">
                <a:ea typeface="楷体_GB2312"/>
              </a:rPr>
              <a:t>.</a:t>
            </a:r>
            <a:endParaRPr lang="zh-CN" altLang="en-US" sz="2400" dirty="0"/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474519" y="157511"/>
            <a:ext cx="1580882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实验现象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828630" y="1924239"/>
            <a:ext cx="2756753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少量稀释</a:t>
            </a:r>
            <a:r>
              <a:rPr lang="zh-CN" altLang="en-US" sz="2400" b="1" dirty="0" smtClean="0">
                <a:ea typeface="楷体_GB2312"/>
              </a:rPr>
              <a:t>系统</a:t>
            </a:r>
            <a:r>
              <a:rPr lang="zh-CN" altLang="en-US" sz="2400" b="1" dirty="0">
                <a:ea typeface="楷体_GB2312"/>
              </a:rPr>
              <a:t>酸度基本不变</a:t>
            </a:r>
            <a:r>
              <a:rPr lang="en-US" altLang="zh-CN" sz="2400" b="1" dirty="0">
                <a:ea typeface="楷体_GB2312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2202841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 autoUpdateAnimBg="0"/>
      <p:bldP spid="8" grpId="0" autoUpdateAnimBg="0"/>
      <p:bldP spid="9" grpId="0" build="p" autoUpdateAnimBg="0"/>
      <p:bldP spid="10" grpId="0"/>
      <p:bldP spid="11" grpId="0"/>
      <p:bldP spid="12" grpId="0" autoUpdateAnimBg="0"/>
      <p:bldP spid="13" grpId="0"/>
      <p:bldP spid="15" grpId="0"/>
      <p:bldP spid="16" grpId="0"/>
      <p:bldP spid="17" grpId="0"/>
      <p:bldP spid="19" grpId="0" autoUpdateAnimBg="0"/>
      <p:bldP spid="20" grpId="0" autoUpdateAnimBg="0"/>
      <p:bldP spid="21" grpId="0" autoUpdateAnimBg="0"/>
      <p:bldP spid="22" grpId="0" build="p" autoUpdateAnimBg="0"/>
      <p:bldP spid="23" grpId="0" autoUpdateAnimBg="0"/>
      <p:bldP spid="24" grpId="0"/>
      <p:bldP spid="25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1080517" y="3998923"/>
            <a:ext cx="19573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baseline="-25000" dirty="0">
                <a:ea typeface="楷体_GB2312" pitchFamily="49" charset="-122"/>
              </a:rPr>
              <a:t>b3</a:t>
            </a:r>
            <a:r>
              <a:rPr lang="en-US" altLang="zh-CN" sz="2500" b="1" dirty="0">
                <a:ea typeface="楷体_GB2312" pitchFamily="49" charset="-122"/>
              </a:rPr>
              <a:t>/c</a:t>
            </a:r>
            <a:r>
              <a:rPr lang="en-US" altLang="zh-CN" sz="2500" b="1" baseline="-25000" dirty="0">
                <a:ea typeface="楷体_GB2312" pitchFamily="49" charset="-122"/>
              </a:rPr>
              <a:t>a3 </a:t>
            </a:r>
            <a:r>
              <a:rPr lang="en-US" altLang="zh-CN" sz="2500" b="1" dirty="0">
                <a:ea typeface="楷体_GB2312" pitchFamily="49" charset="-122"/>
              </a:rPr>
              <a:t>= 1.02.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17538" y="4476761"/>
            <a:ext cx="5503539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en-US" altLang="zh-CN" sz="2500" b="1" dirty="0" smtClean="0">
                <a:ea typeface="楷体_GB2312" pitchFamily="49" charset="-122"/>
              </a:rPr>
              <a:t>    pH</a:t>
            </a:r>
            <a:r>
              <a:rPr lang="en-US" altLang="zh-CN" sz="2500" b="1" baseline="-25000" dirty="0" smtClean="0">
                <a:ea typeface="楷体_GB2312" pitchFamily="49" charset="-122"/>
              </a:rPr>
              <a:t>3</a:t>
            </a: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4.75 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(0.092/0.090) = 4.76</a:t>
            </a:r>
          </a:p>
        </p:txBody>
      </p:sp>
      <p:sp>
        <p:nvSpPr>
          <p:cNvPr id="922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63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688656" y="2272049"/>
            <a:ext cx="7990088" cy="178510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5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/>
                <a:ea typeface="楷体_GB2312"/>
              </a:rPr>
              <a:t>③</a:t>
            </a: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加</a:t>
            </a: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0.010 mol·L</a:t>
            </a:r>
            <a:r>
              <a:rPr lang="en-US" altLang="zh-CN" sz="2500" b="1" baseline="30000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-1</a:t>
            </a:r>
            <a:r>
              <a:rPr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NaOH</a:t>
            </a:r>
            <a:r>
              <a:rPr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水溶液</a:t>
            </a:r>
            <a:r>
              <a:rPr lang="en-US" altLang="zh-CN" sz="25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10mL pH</a:t>
            </a:r>
            <a:r>
              <a:rPr lang="en-US" altLang="zh-CN" sz="2500" b="1" baseline="-25000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3</a:t>
            </a:r>
            <a:r>
              <a:rPr lang="en-US" altLang="zh-CN" sz="25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:</a:t>
            </a:r>
          </a:p>
          <a:p>
            <a:pPr>
              <a:lnSpc>
                <a:spcPct val="110000"/>
              </a:lnSpc>
              <a:defRPr/>
            </a:pPr>
            <a:r>
              <a:rPr lang="zh-CN" altLang="en-US" sz="2500" b="1" dirty="0" smtClean="0">
                <a:ea typeface="楷体_GB2312"/>
              </a:rPr>
              <a:t>加入少量</a:t>
            </a:r>
            <a:r>
              <a:rPr lang="en-US" altLang="zh-CN" sz="2500" b="1" dirty="0" err="1" smtClean="0">
                <a:ea typeface="楷体_GB2312"/>
              </a:rPr>
              <a:t>NaOH</a:t>
            </a:r>
            <a:r>
              <a:rPr lang="zh-CN" altLang="en-US" sz="2500" b="1" dirty="0" smtClean="0">
                <a:ea typeface="楷体_GB2312"/>
              </a:rPr>
              <a:t>后，溶液中</a:t>
            </a:r>
            <a:r>
              <a:rPr lang="en-US" altLang="zh-CN" sz="2500" b="1" dirty="0" err="1" smtClean="0">
                <a:ea typeface="楷体_GB2312"/>
              </a:rPr>
              <a:t>HAc</a:t>
            </a:r>
            <a:r>
              <a:rPr lang="zh-CN" altLang="en-US" sz="2500" b="1" dirty="0" smtClean="0">
                <a:ea typeface="楷体_GB2312"/>
              </a:rPr>
              <a:t>与之反应生成</a:t>
            </a:r>
            <a:r>
              <a:rPr lang="en-US" altLang="zh-CN" sz="2500" b="1" dirty="0" err="1" smtClean="0">
                <a:ea typeface="楷体_GB2312"/>
              </a:rPr>
              <a:t>NaAc</a:t>
            </a:r>
            <a:endParaRPr lang="en-US" altLang="zh-CN" sz="2500" b="1" dirty="0">
              <a:ea typeface="楷体_GB2312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zh-CN" sz="2500" b="1" i="1" dirty="0" smtClean="0">
                <a:ea typeface="楷体_GB2312"/>
              </a:rPr>
              <a:t>c</a:t>
            </a:r>
            <a:r>
              <a:rPr lang="en-US" altLang="zh-CN" sz="2500" b="1" baseline="-25000" dirty="0" smtClean="0">
                <a:ea typeface="楷体_GB2312"/>
              </a:rPr>
              <a:t>a3 </a:t>
            </a:r>
            <a:r>
              <a:rPr lang="en-US" altLang="zh-CN" sz="2500" b="1" dirty="0">
                <a:ea typeface="楷体_GB2312"/>
              </a:rPr>
              <a:t>= (0.10×100)/110 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</a:rPr>
              <a:t>-</a:t>
            </a:r>
            <a:r>
              <a:rPr lang="en-US" altLang="zh-CN" sz="2500" b="1" dirty="0">
                <a:ea typeface="楷体_GB2312"/>
              </a:rPr>
              <a:t> (0.010×10)/110 = 0.090 mol·L</a:t>
            </a:r>
            <a:r>
              <a:rPr lang="en-US" altLang="zh-CN" sz="2500" b="1" baseline="30000" dirty="0">
                <a:ea typeface="楷体_GB2312"/>
              </a:rPr>
              <a:t>-1</a:t>
            </a:r>
            <a:r>
              <a:rPr lang="en-US" altLang="zh-CN" sz="2500" b="1" dirty="0">
                <a:ea typeface="楷体_GB2312"/>
              </a:rPr>
              <a:t>.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sz="2500" b="1" i="1" dirty="0" smtClean="0">
                <a:ea typeface="楷体_GB2312"/>
              </a:rPr>
              <a:t>c</a:t>
            </a:r>
            <a:r>
              <a:rPr lang="en-US" altLang="zh-CN" sz="2500" b="1" baseline="-25000" dirty="0" smtClean="0">
                <a:ea typeface="楷体_GB2312"/>
              </a:rPr>
              <a:t>b3 </a:t>
            </a:r>
            <a:r>
              <a:rPr lang="en-US" altLang="zh-CN" sz="2500" b="1" dirty="0">
                <a:ea typeface="楷体_GB2312"/>
              </a:rPr>
              <a:t>= (0.10×100)/110 </a:t>
            </a:r>
            <a:r>
              <a:rPr lang="en-US" altLang="zh-CN" sz="2500" b="1" dirty="0">
                <a:solidFill>
                  <a:srgbClr val="FF0000"/>
                </a:solidFill>
                <a:ea typeface="楷体_GB2312"/>
              </a:rPr>
              <a:t>+</a:t>
            </a:r>
            <a:r>
              <a:rPr lang="en-US" altLang="zh-CN" sz="2500" b="1" dirty="0">
                <a:ea typeface="楷体_GB2312"/>
              </a:rPr>
              <a:t> (0.010×10)/110 = 0.092 mol·L</a:t>
            </a:r>
            <a:r>
              <a:rPr lang="en-US" altLang="zh-CN" sz="2500" b="1" baseline="30000" dirty="0">
                <a:ea typeface="楷体_GB2312"/>
              </a:rPr>
              <a:t>-1</a:t>
            </a:r>
            <a:r>
              <a:rPr lang="en-US" altLang="zh-CN" sz="2500" b="1" dirty="0">
                <a:ea typeface="楷体_GB2312"/>
              </a:rPr>
              <a:t>.</a:t>
            </a:r>
            <a:endParaRPr lang="en-US" altLang="zh-CN" sz="2500" b="1" baseline="30000" dirty="0">
              <a:ea typeface="楷体_GB231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27141" y="818322"/>
            <a:ext cx="9672851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100 mL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浓度均为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0.10 mol·L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-1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的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HAc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和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NaAc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混合溶液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solidFill>
                  <a:srgbClr val="00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solidFill>
                  <a:srgbClr val="00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000000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= 4.75).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91212" y="1237930"/>
            <a:ext cx="2304256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初始</a:t>
            </a:r>
            <a:r>
              <a:rPr lang="zh-CN" altLang="en-US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情况 </a:t>
            </a:r>
            <a:r>
              <a:rPr lang="en-US" altLang="zh-CN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pH</a:t>
            </a:r>
            <a:r>
              <a:rPr lang="en-US" altLang="zh-CN" sz="2400" b="1" baseline="-25000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0</a:t>
            </a:r>
            <a:r>
              <a:rPr lang="zh-CN" altLang="en-US" sz="2400" b="1" dirty="0" smtClean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：</a:t>
            </a:r>
            <a:endParaRPr lang="en-US" altLang="zh-CN" sz="2400" b="1" dirty="0">
              <a:ea typeface="楷体_GB2312" pitchFamily="49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840368" y="1687920"/>
            <a:ext cx="187220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i="1" dirty="0" smtClean="0">
                <a:ea typeface="楷体_GB2312" pitchFamily="49" charset="-122"/>
              </a:rPr>
              <a:t>c</a:t>
            </a:r>
            <a:r>
              <a:rPr lang="en-US" altLang="zh-CN" sz="2500" b="1" baseline="-25000" dirty="0" smtClean="0">
                <a:ea typeface="楷体_GB2312" pitchFamily="49" charset="-122"/>
              </a:rPr>
              <a:t>b0</a:t>
            </a:r>
            <a:r>
              <a:rPr lang="en-US" altLang="zh-CN" sz="2500" b="1" dirty="0" smtClean="0">
                <a:ea typeface="楷体_GB2312" pitchFamily="49" charset="-122"/>
              </a:rPr>
              <a:t>/</a:t>
            </a:r>
            <a:r>
              <a:rPr lang="en-US" altLang="zh-CN" sz="2500" b="1" i="1" dirty="0" smtClean="0">
                <a:ea typeface="楷体_GB2312" pitchFamily="49" charset="-122"/>
              </a:rPr>
              <a:t>c</a:t>
            </a:r>
            <a:r>
              <a:rPr lang="en-US" altLang="zh-CN" sz="2500" b="1" baseline="-25000" dirty="0" smtClean="0">
                <a:ea typeface="楷体_GB2312" pitchFamily="49" charset="-122"/>
              </a:rPr>
              <a:t>a0</a:t>
            </a: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dirty="0" smtClean="0">
                <a:ea typeface="楷体_GB2312" pitchFamily="49" charset="-122"/>
              </a:rPr>
              <a:t>1.0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2595468" y="1650045"/>
            <a:ext cx="417646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ea typeface="楷体_GB2312" pitchFamily="49" charset="-122"/>
              </a:rPr>
              <a:t>pH</a:t>
            </a:r>
            <a:r>
              <a:rPr lang="en-US" altLang="zh-CN" sz="2400" b="1" baseline="-25000" dirty="0" smtClean="0">
                <a:ea typeface="楷体_GB2312" pitchFamily="49" charset="-122"/>
              </a:rPr>
              <a:t>0 </a:t>
            </a:r>
            <a:r>
              <a:rPr lang="en-US" altLang="zh-CN" sz="2400" b="1" dirty="0">
                <a:ea typeface="楷体_GB2312" pitchFamily="49" charset="-122"/>
              </a:rPr>
              <a:t>= </a:t>
            </a:r>
            <a:r>
              <a:rPr lang="en-US" altLang="zh-CN" sz="2400" b="1" dirty="0" err="1">
                <a:ea typeface="楷体_GB2312" pitchFamily="49" charset="-122"/>
              </a:rPr>
              <a:t>p</a:t>
            </a:r>
            <a:r>
              <a:rPr lang="en-US" altLang="zh-CN" sz="2400" b="1" i="1" dirty="0" err="1">
                <a:ea typeface="楷体_GB2312" pitchFamily="49" charset="-122"/>
              </a:rPr>
              <a:t>K</a:t>
            </a:r>
            <a:r>
              <a:rPr lang="en-US" altLang="zh-CN" sz="24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400" b="1" dirty="0">
                <a:ea typeface="楷体_GB2312" pitchFamily="49" charset="-122"/>
              </a:rPr>
              <a:t>+ </a:t>
            </a:r>
            <a:r>
              <a:rPr lang="en-US" altLang="zh-CN" sz="2400" b="1" dirty="0" err="1" smtClean="0">
                <a:ea typeface="楷体_GB2312" pitchFamily="49" charset="-122"/>
              </a:rPr>
              <a:t>lg</a:t>
            </a:r>
            <a:r>
              <a:rPr lang="en-US" altLang="zh-CN" sz="2400" b="1" dirty="0" smtClean="0">
                <a:ea typeface="楷体_GB2312" pitchFamily="49" charset="-122"/>
              </a:rPr>
              <a:t>(</a:t>
            </a:r>
            <a:r>
              <a:rPr lang="en-US" altLang="zh-CN" sz="2400" b="1" i="1" dirty="0" smtClean="0">
                <a:ea typeface="楷体_GB2312" pitchFamily="49" charset="-122"/>
              </a:rPr>
              <a:t>c</a:t>
            </a:r>
            <a:r>
              <a:rPr lang="en-US" altLang="zh-CN" sz="2400" b="1" i="1" baseline="-25000" dirty="0" smtClean="0">
                <a:ea typeface="楷体_GB2312" pitchFamily="49" charset="-122"/>
              </a:rPr>
              <a:t>b0</a:t>
            </a:r>
            <a:r>
              <a:rPr lang="en-US" altLang="zh-CN" sz="2400" b="1" dirty="0" smtClean="0">
                <a:ea typeface="楷体_GB2312" pitchFamily="49" charset="-122"/>
              </a:rPr>
              <a:t>/</a:t>
            </a:r>
            <a:r>
              <a:rPr lang="en-US" altLang="zh-CN" sz="2400" b="1" i="1" dirty="0" smtClean="0">
                <a:ea typeface="楷体_GB2312" pitchFamily="49" charset="-122"/>
              </a:rPr>
              <a:t>c</a:t>
            </a:r>
            <a:r>
              <a:rPr lang="en-US" altLang="zh-CN" sz="2400" b="1" i="1" baseline="-25000" dirty="0" smtClean="0">
                <a:ea typeface="楷体_GB2312" pitchFamily="49" charset="-122"/>
              </a:rPr>
              <a:t>a0</a:t>
            </a:r>
            <a:r>
              <a:rPr lang="en-US" altLang="zh-CN" sz="2400" b="1" dirty="0" smtClean="0">
                <a:ea typeface="楷体_GB2312" pitchFamily="49" charset="-122"/>
              </a:rPr>
              <a:t>)=4.75</a:t>
            </a:r>
            <a:endParaRPr lang="en-US" altLang="zh-CN" sz="2400" b="1" dirty="0">
              <a:ea typeface="楷体_GB2312" pitchFamily="49" charset="-122"/>
            </a:endParaRPr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4058985" y="199961"/>
            <a:ext cx="288032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楷体_GB2312" pitchFamily="49" charset="-122"/>
              </a:rPr>
              <a:t>pH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dirty="0" err="1"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dirty="0">
                <a:ea typeface="楷体_GB2312" pitchFamily="49" charset="-122"/>
              </a:rPr>
              <a:t>/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</a:p>
        </p:txBody>
      </p:sp>
      <p:sp>
        <p:nvSpPr>
          <p:cNvPr id="15" name="矩形 14"/>
          <p:cNvSpPr/>
          <p:nvPr/>
        </p:nvSpPr>
        <p:spPr>
          <a:xfrm>
            <a:off x="1443340" y="4979103"/>
            <a:ext cx="51299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ea typeface="楷体_GB2312"/>
                <a:sym typeface="Symbol" pitchFamily="18" charset="2"/>
              </a:rPr>
              <a:t></a:t>
            </a:r>
            <a:r>
              <a:rPr lang="en-US" altLang="zh-CN" sz="2400" b="1" dirty="0" smtClean="0">
                <a:ea typeface="楷体_GB2312"/>
              </a:rPr>
              <a:t>pH</a:t>
            </a:r>
            <a:r>
              <a:rPr lang="en-US" altLang="zh-CN" sz="2400" b="1" baseline="-25000" dirty="0" smtClean="0">
                <a:ea typeface="楷体_GB2312"/>
              </a:rPr>
              <a:t>3</a:t>
            </a:r>
            <a:r>
              <a:rPr lang="en-US" altLang="zh-CN" sz="2400" b="1" dirty="0" smtClean="0">
                <a:ea typeface="楷体_GB2312"/>
              </a:rPr>
              <a:t> </a:t>
            </a:r>
            <a:r>
              <a:rPr lang="en-US" altLang="zh-CN" sz="2400" b="1" dirty="0">
                <a:ea typeface="楷体_GB2312"/>
              </a:rPr>
              <a:t>= </a:t>
            </a:r>
            <a:r>
              <a:rPr lang="en-US" altLang="zh-CN" sz="2400" b="1" dirty="0" smtClean="0">
                <a:ea typeface="楷体_GB2312"/>
              </a:rPr>
              <a:t>pH</a:t>
            </a:r>
            <a:r>
              <a:rPr lang="en-US" altLang="zh-CN" sz="2400" b="1" baseline="-25000" dirty="0" smtClean="0">
                <a:ea typeface="楷体_GB2312"/>
              </a:rPr>
              <a:t>3</a:t>
            </a:r>
            <a:r>
              <a:rPr lang="en-US" altLang="zh-CN" sz="2400" b="1" dirty="0" smtClean="0">
                <a:ea typeface="楷体_GB2312"/>
              </a:rPr>
              <a:t> </a:t>
            </a:r>
            <a:r>
              <a:rPr lang="en-US" altLang="zh-CN" sz="2400" b="1" dirty="0">
                <a:ea typeface="楷体_GB2312"/>
              </a:rPr>
              <a:t>- pH</a:t>
            </a:r>
            <a:r>
              <a:rPr lang="en-US" altLang="zh-CN" sz="2400" b="1" baseline="-25000" dirty="0">
                <a:ea typeface="楷体_GB2312"/>
              </a:rPr>
              <a:t>0</a:t>
            </a:r>
            <a:r>
              <a:rPr lang="en-US" altLang="zh-CN" sz="2400" b="1" dirty="0">
                <a:ea typeface="楷体_GB2312"/>
              </a:rPr>
              <a:t> = </a:t>
            </a:r>
            <a:r>
              <a:rPr lang="en-US" altLang="zh-CN" sz="2400" b="1" dirty="0" smtClean="0">
                <a:ea typeface="楷体_GB2312"/>
              </a:rPr>
              <a:t>4.76 </a:t>
            </a:r>
            <a:r>
              <a:rPr lang="en-US" altLang="zh-CN" sz="2400" b="1" dirty="0">
                <a:ea typeface="楷体_GB2312"/>
              </a:rPr>
              <a:t>- 4.75 = </a:t>
            </a:r>
            <a:r>
              <a:rPr lang="en-US" altLang="zh-CN" sz="2400" b="1" dirty="0" smtClean="0">
                <a:ea typeface="楷体_GB2312"/>
              </a:rPr>
              <a:t>0.01</a:t>
            </a:r>
            <a:endParaRPr lang="zh-CN" altLang="en-US" sz="2400" dirty="0"/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8425333" y="2521400"/>
            <a:ext cx="2119542" cy="1631216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抗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碱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组分</a:t>
            </a:r>
            <a:r>
              <a:rPr lang="en-US" altLang="zh-CN" sz="2500" b="1" dirty="0" err="1" smtClean="0">
                <a:solidFill>
                  <a:srgbClr val="FF3300"/>
                </a:solidFill>
                <a:ea typeface="楷体_GB2312" pitchFamily="49" charset="-122"/>
              </a:rPr>
              <a:t>HAc</a:t>
            </a:r>
            <a:r>
              <a:rPr lang="zh-CN" altLang="en-US" sz="2500" b="1" dirty="0" smtClean="0">
                <a:ea typeface="楷体_GB2312" pitchFamily="49" charset="-122"/>
              </a:rPr>
              <a:t>的</a:t>
            </a:r>
            <a:r>
              <a:rPr lang="zh-CN" altLang="en-US" sz="2500" b="1" dirty="0">
                <a:ea typeface="楷体_GB2312" pitchFamily="49" charset="-122"/>
              </a:rPr>
              <a:t>存在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系统酸度也基本不变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208901" y="187251"/>
            <a:ext cx="1580882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实验现象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 autoUpdateAnimBg="0"/>
      <p:bldP spid="8" grpId="0" autoUpdateAnimBg="0"/>
      <p:bldP spid="9" grpId="0" build="p" autoUpdateAnimBg="0"/>
      <p:bldP spid="11" grpId="0" build="p" autoUpdateAnimBg="0"/>
      <p:bldP spid="12" grpId="0" autoUpdateAnimBg="0"/>
      <p:bldP spid="13" grpId="0" autoUpdateAnimBg="0"/>
      <p:bldP spid="15" grpId="0"/>
      <p:bldP spid="16" grpId="0" animBg="1"/>
      <p:bldP spid="1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3"/>
          <p:cNvSpPr>
            <a:spLocks noGrp="1" noChangeArrowheads="1"/>
          </p:cNvSpPr>
          <p:nvPr>
            <p:ph type="title"/>
          </p:nvPr>
        </p:nvSpPr>
        <p:spPr>
          <a:xfrm>
            <a:off x="403225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3.5.1</a:t>
            </a:r>
            <a:r>
              <a:rPr lang="zh-CN" altLang="en-US" smtClean="0">
                <a:ea typeface="黑体" pitchFamily="49" charset="-122"/>
              </a:rPr>
              <a:t>酸碱缓冲溶液</a:t>
            </a:r>
            <a:endParaRPr lang="zh-CN" altLang="en-US" sz="14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03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63"/>
            <a:ext cx="360363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03225" y="712242"/>
            <a:ext cx="1441450" cy="52322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结论：</a:t>
            </a:r>
          </a:p>
        </p:txBody>
      </p:sp>
      <p:sp>
        <p:nvSpPr>
          <p:cNvPr id="2" name="矩形 1"/>
          <p:cNvSpPr/>
          <p:nvPr/>
        </p:nvSpPr>
        <p:spPr>
          <a:xfrm>
            <a:off x="538343" y="1707423"/>
            <a:ext cx="10506894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缓冲溶液</a:t>
            </a:r>
            <a:r>
              <a:rPr kumimoji="1"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意义</a:t>
            </a:r>
            <a:r>
              <a:rPr kumimoji="1"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：</a:t>
            </a:r>
            <a:r>
              <a:rPr kumimoji="1" lang="zh-CN" altLang="en-US" sz="2400" b="1" dirty="0">
                <a:ea typeface="楷体_GB2312" pitchFamily="49" charset="-122"/>
              </a:rPr>
              <a:t>能抵抗外来少量强酸、强碱或稍加稀释，而保持其</a:t>
            </a:r>
            <a:r>
              <a:rPr kumimoji="1" lang="en-US" altLang="zh-CN" sz="2400" b="1" dirty="0">
                <a:ea typeface="楷体_GB2312" pitchFamily="49" charset="-122"/>
              </a:rPr>
              <a:t>pH</a:t>
            </a:r>
            <a:r>
              <a:rPr kumimoji="1" lang="zh-CN" altLang="en-US" sz="2400" b="1" dirty="0">
                <a:ea typeface="楷体_GB2312" pitchFamily="49" charset="-122"/>
              </a:rPr>
              <a:t>值基本</a:t>
            </a:r>
            <a:r>
              <a:rPr kumimoji="1" lang="zh-CN" altLang="en-US" sz="2400" b="1" dirty="0" smtClean="0">
                <a:ea typeface="楷体_GB2312" pitchFamily="49" charset="-122"/>
              </a:rPr>
              <a:t>不变。</a:t>
            </a:r>
            <a:endParaRPr kumimoji="1" lang="zh-CN" altLang="en-US" sz="2400" b="1" dirty="0">
              <a:ea typeface="楷体_GB2312" pitchFamily="49" charset="-122"/>
            </a:endParaRP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538343" y="2810279"/>
            <a:ext cx="103282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1"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作用原理：</a:t>
            </a:r>
            <a:endParaRPr kumimoji="1" lang="en-US" altLang="zh-CN" sz="2400" b="1" dirty="0" smtClean="0">
              <a:solidFill>
                <a:srgbClr val="FF0000"/>
              </a:solidFill>
              <a:ea typeface="楷体_GB2312" pitchFamily="49" charset="-122"/>
            </a:endParaRPr>
          </a:p>
          <a:p>
            <a:pPr marL="457200" indent="-457200">
              <a:buAutoNum type="arabicPeriod"/>
            </a:pPr>
            <a:r>
              <a:rPr kumimoji="1" lang="zh-CN" altLang="en-US" sz="2400" b="1" dirty="0" smtClean="0">
                <a:ea typeface="楷体_GB2312" pitchFamily="49" charset="-122"/>
              </a:rPr>
              <a:t>缓冲溶液</a:t>
            </a:r>
            <a:r>
              <a:rPr kumimoji="1" lang="zh-CN" altLang="en-US" sz="2400" b="1" dirty="0">
                <a:ea typeface="楷体_GB2312" pitchFamily="49" charset="-122"/>
              </a:rPr>
              <a:t>中同时含有较大量的抗碱成分和抗酸成分，消耗外来的少量强酸、强碱</a:t>
            </a:r>
            <a:r>
              <a:rPr kumimoji="1" lang="zh-CN" altLang="en-US" sz="2400" b="1" dirty="0" smtClean="0">
                <a:ea typeface="楷体_GB2312" pitchFamily="49" charset="-122"/>
              </a:rPr>
              <a:t>。</a:t>
            </a:r>
            <a:endParaRPr kumimoji="1" lang="en-US" altLang="zh-CN" sz="2400" b="1" dirty="0" smtClean="0">
              <a:ea typeface="楷体_GB2312" pitchFamily="49" charset="-122"/>
            </a:endParaRPr>
          </a:p>
          <a:p>
            <a:pPr marL="457200" indent="-457200">
              <a:buAutoNum type="arabicPeriod"/>
            </a:pPr>
            <a:r>
              <a:rPr kumimoji="1" lang="zh-CN" altLang="en-US" sz="2400" b="1" dirty="0" smtClean="0">
                <a:ea typeface="楷体_GB2312" pitchFamily="49" charset="-122"/>
              </a:rPr>
              <a:t>它们</a:t>
            </a:r>
            <a:r>
              <a:rPr kumimoji="1" lang="zh-CN" altLang="en-US" sz="2400" b="1" dirty="0">
                <a:ea typeface="楷体_GB2312" pitchFamily="49" charset="-122"/>
              </a:rPr>
              <a:t>通过弱酸解离平衡的移动，使溶液</a:t>
            </a:r>
            <a:r>
              <a:rPr kumimoji="1" lang="en-US" altLang="zh-CN" sz="2400" b="1" dirty="0">
                <a:ea typeface="楷体_GB2312" pitchFamily="49" charset="-122"/>
              </a:rPr>
              <a:t>H</a:t>
            </a:r>
            <a:r>
              <a:rPr kumimoji="1" lang="en-US" altLang="zh-CN" sz="2400" b="1" baseline="30000" dirty="0">
                <a:ea typeface="楷体_GB2312" pitchFamily="49" charset="-122"/>
              </a:rPr>
              <a:t>+</a:t>
            </a:r>
            <a:r>
              <a:rPr kumimoji="1" lang="zh-CN" altLang="en-US" sz="2400" b="1" dirty="0">
                <a:ea typeface="楷体_GB2312" pitchFamily="49" charset="-122"/>
              </a:rPr>
              <a:t>离子或</a:t>
            </a:r>
            <a:r>
              <a:rPr kumimoji="1" lang="en-US" altLang="zh-CN" sz="2400" b="1" dirty="0">
                <a:ea typeface="楷体_GB2312" pitchFamily="49" charset="-122"/>
              </a:rPr>
              <a:t>OH</a:t>
            </a:r>
            <a:r>
              <a:rPr kumimoji="1" lang="en-US" altLang="zh-CN" sz="2400" b="1" baseline="30000" dirty="0">
                <a:ea typeface="楷体_GB2312" pitchFamily="49" charset="-122"/>
              </a:rPr>
              <a:t>-</a:t>
            </a:r>
            <a:r>
              <a:rPr kumimoji="1" lang="zh-CN" altLang="en-US" sz="2400" b="1" dirty="0">
                <a:ea typeface="楷体_GB2312" pitchFamily="49" charset="-122"/>
              </a:rPr>
              <a:t>离子浓度未有明显的变化，因此具有缓冲作用。</a:t>
            </a:r>
          </a:p>
          <a:p>
            <a:endParaRPr kumimoji="1" lang="zh-CN" altLang="en-US" sz="2400" b="1" dirty="0">
              <a:ea typeface="楷体_GB2312" pitchFamily="49" charset="-122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512565" y="4620826"/>
            <a:ext cx="440184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500" b="1" dirty="0" err="1" smtClean="0">
                <a:ea typeface="楷体_GB2312" pitchFamily="49" charset="-122"/>
              </a:rPr>
              <a:t>HAc</a:t>
            </a:r>
            <a:r>
              <a:rPr lang="en-US" altLang="zh-CN" sz="2500" b="1" dirty="0" smtClean="0">
                <a:ea typeface="楷体_GB2312" pitchFamily="49" charset="-122"/>
              </a:rPr>
              <a:t>  </a:t>
            </a:r>
            <a:r>
              <a:rPr lang="en-US" altLang="zh-CN" sz="2500" b="1" dirty="0">
                <a:ea typeface="楷体_GB2312" pitchFamily="49" charset="-122"/>
              </a:rPr>
              <a:t>⇋  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 + Ac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33621" y="5057462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楷体_GB2312"/>
                <a:ea typeface="楷体_GB2312"/>
              </a:rPr>
              <a:t>抗碱组分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60137" y="5064793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楷体_GB2312"/>
                <a:ea typeface="楷体_GB2312"/>
              </a:rPr>
              <a:t>抗酸组分</a:t>
            </a:r>
            <a:endParaRPr lang="zh-CN" altLang="en-US" sz="2400" b="1" dirty="0">
              <a:latin typeface="楷体_GB2312"/>
              <a:ea typeface="楷体_GB231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2376661" y="5057462"/>
            <a:ext cx="9361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176861" y="5057462"/>
            <a:ext cx="9361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52260" y="1206783"/>
            <a:ext cx="9775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ea typeface="楷体_GB2312" pitchFamily="49" charset="-122"/>
              </a:rPr>
              <a:t>缓冲溶液组成：</a:t>
            </a:r>
            <a:r>
              <a:rPr kumimoji="1" lang="zh-CN" altLang="en-US" sz="2400" b="1" dirty="0">
                <a:ea typeface="楷体_GB2312" pitchFamily="49" charset="-122"/>
              </a:rPr>
              <a:t>由弱酸及其共轭碱按照一定比例</a:t>
            </a:r>
            <a:r>
              <a:rPr kumimoji="1" lang="zh-CN" altLang="en-US" sz="2400" b="1" dirty="0" smtClean="0">
                <a:ea typeface="楷体_GB2312" pitchFamily="49" charset="-122"/>
              </a:rPr>
              <a:t>组成，又称为缓冲体系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9204120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15" grpId="0"/>
      <p:bldP spid="18" grpId="0"/>
      <p:bldP spid="5" grpId="0"/>
      <p:bldP spid="20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20477" y="1151855"/>
            <a:ext cx="8077200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400" b="1" dirty="0">
                <a:ea typeface="楷体_GB2312" pitchFamily="49" charset="-122"/>
              </a:rPr>
              <a:t>将下列各组溶液等体积混合后，不属于缓冲溶液的是（ </a:t>
            </a:r>
            <a:r>
              <a:rPr lang="zh-CN" altLang="en-US" sz="2400" b="1" dirty="0" smtClean="0">
                <a:ea typeface="楷体_GB2312" pitchFamily="49" charset="-122"/>
              </a:rPr>
              <a:t>  </a:t>
            </a:r>
            <a:r>
              <a:rPr lang="zh-CN" altLang="en-US" sz="2400" b="1" dirty="0">
                <a:ea typeface="楷体_GB2312" pitchFamily="49" charset="-122"/>
              </a:rPr>
              <a:t>）。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36861" y="2015951"/>
            <a:ext cx="7416800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</a:pPr>
            <a:r>
              <a:rPr lang="en-US" altLang="zh-CN" sz="2400" b="1" dirty="0">
                <a:ea typeface="楷体_GB2312" pitchFamily="49" charset="-122"/>
              </a:rPr>
              <a:t>A. 0.2 mol·L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Na</a:t>
            </a:r>
            <a:r>
              <a:rPr lang="en-US" altLang="zh-CN" sz="2400" b="1" baseline="-30000" dirty="0">
                <a:ea typeface="楷体_GB2312" pitchFamily="49" charset="-122"/>
              </a:rPr>
              <a:t>2</a:t>
            </a:r>
            <a:r>
              <a:rPr lang="en-US" altLang="zh-CN" sz="2400" b="1" dirty="0">
                <a:ea typeface="楷体_GB2312" pitchFamily="49" charset="-122"/>
              </a:rPr>
              <a:t>CO</a:t>
            </a:r>
            <a:r>
              <a:rPr lang="en-US" altLang="zh-CN" sz="2400" b="1" baseline="-30000" dirty="0">
                <a:ea typeface="楷体_GB2312" pitchFamily="49" charset="-122"/>
              </a:rPr>
              <a:t>3</a:t>
            </a:r>
            <a:r>
              <a:rPr lang="zh-CN" altLang="en-US" sz="2400" b="1" dirty="0">
                <a:ea typeface="楷体_GB2312" pitchFamily="49" charset="-122"/>
              </a:rPr>
              <a:t>溶液和</a:t>
            </a:r>
            <a:r>
              <a:rPr lang="en-US" altLang="zh-CN" sz="2400" b="1" dirty="0">
                <a:ea typeface="楷体_GB2312" pitchFamily="49" charset="-122"/>
              </a:rPr>
              <a:t>0.2 mol·L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NaHCO</a:t>
            </a:r>
            <a:r>
              <a:rPr lang="en-US" altLang="zh-CN" sz="2400" b="1" baseline="-30000" dirty="0">
                <a:ea typeface="楷体_GB2312" pitchFamily="49" charset="-122"/>
              </a:rPr>
              <a:t>3</a:t>
            </a:r>
            <a:r>
              <a:rPr lang="zh-CN" altLang="en-US" sz="2400" b="1" dirty="0">
                <a:ea typeface="楷体_GB2312" pitchFamily="49" charset="-122"/>
              </a:rPr>
              <a:t>溶液 </a:t>
            </a: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</a:pPr>
            <a:r>
              <a:rPr lang="en-US" altLang="zh-CN" sz="2400" b="1" dirty="0">
                <a:ea typeface="楷体_GB2312" pitchFamily="49" charset="-122"/>
              </a:rPr>
              <a:t>B. 0.1 </a:t>
            </a:r>
            <a:r>
              <a:rPr lang="en-US" altLang="zh-CN" sz="2400" b="1" dirty="0" err="1">
                <a:ea typeface="楷体_GB2312" pitchFamily="49" charset="-122"/>
              </a:rPr>
              <a:t>mol</a:t>
            </a:r>
            <a:r>
              <a:rPr lang="en-US" altLang="zh-CN" sz="2400" b="1" dirty="0">
                <a:ea typeface="楷体_GB2312" pitchFamily="49" charset="-122"/>
              </a:rPr>
              <a:t>· 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H</a:t>
            </a:r>
            <a:r>
              <a:rPr lang="en-US" altLang="zh-CN" sz="2400" b="1" baseline="-30000" dirty="0">
                <a:ea typeface="楷体_GB2312" pitchFamily="49" charset="-122"/>
              </a:rPr>
              <a:t>3</a:t>
            </a:r>
            <a:r>
              <a:rPr lang="en-US" altLang="zh-CN" sz="2400" b="1" dirty="0">
                <a:ea typeface="楷体_GB2312" pitchFamily="49" charset="-122"/>
              </a:rPr>
              <a:t>PO</a:t>
            </a:r>
            <a:r>
              <a:rPr lang="en-US" altLang="zh-CN" sz="2400" b="1" baseline="-30000" dirty="0">
                <a:ea typeface="楷体_GB2312" pitchFamily="49" charset="-122"/>
              </a:rPr>
              <a:t>4</a:t>
            </a:r>
            <a:r>
              <a:rPr lang="zh-CN" altLang="en-US" sz="2400" b="1" dirty="0">
                <a:ea typeface="楷体_GB2312" pitchFamily="49" charset="-122"/>
              </a:rPr>
              <a:t>溶液和</a:t>
            </a:r>
            <a:r>
              <a:rPr lang="en-US" altLang="zh-CN" sz="2400" b="1" dirty="0">
                <a:ea typeface="楷体_GB2312" pitchFamily="49" charset="-122"/>
              </a:rPr>
              <a:t>0.3 </a:t>
            </a:r>
            <a:r>
              <a:rPr lang="en-US" altLang="zh-CN" sz="2400" b="1" dirty="0" err="1">
                <a:ea typeface="楷体_GB2312" pitchFamily="49" charset="-122"/>
              </a:rPr>
              <a:t>mol</a:t>
            </a:r>
            <a:r>
              <a:rPr lang="en-US" altLang="zh-CN" sz="2400" b="1" dirty="0">
                <a:ea typeface="楷体_GB2312" pitchFamily="49" charset="-122"/>
              </a:rPr>
              <a:t>· 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dirty="0" err="1">
                <a:ea typeface="楷体_GB2312" pitchFamily="49" charset="-122"/>
              </a:rPr>
              <a:t>NaOH</a:t>
            </a:r>
            <a:r>
              <a:rPr lang="zh-CN" altLang="en-US" sz="2400" b="1" dirty="0">
                <a:ea typeface="楷体_GB2312" pitchFamily="49" charset="-122"/>
              </a:rPr>
              <a:t>溶液 </a:t>
            </a: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</a:pPr>
            <a:r>
              <a:rPr lang="en-US" altLang="zh-CN" sz="2400" b="1" dirty="0">
                <a:ea typeface="楷体_GB2312" pitchFamily="49" charset="-122"/>
              </a:rPr>
              <a:t>C. 0.2 </a:t>
            </a:r>
            <a:r>
              <a:rPr lang="en-US" altLang="zh-CN" sz="2400" b="1" dirty="0" err="1">
                <a:ea typeface="楷体_GB2312" pitchFamily="49" charset="-122"/>
              </a:rPr>
              <a:t>mol</a:t>
            </a:r>
            <a:r>
              <a:rPr lang="en-US" altLang="zh-CN" sz="2400" b="1" dirty="0">
                <a:ea typeface="楷体_GB2312" pitchFamily="49" charset="-122"/>
              </a:rPr>
              <a:t>· 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H</a:t>
            </a:r>
            <a:r>
              <a:rPr lang="en-US" altLang="zh-CN" sz="2400" b="1" baseline="-30000" dirty="0">
                <a:ea typeface="楷体_GB2312" pitchFamily="49" charset="-122"/>
              </a:rPr>
              <a:t>3</a:t>
            </a:r>
            <a:r>
              <a:rPr lang="en-US" altLang="zh-CN" sz="2400" b="1" dirty="0">
                <a:ea typeface="楷体_GB2312" pitchFamily="49" charset="-122"/>
              </a:rPr>
              <a:t>PO</a:t>
            </a:r>
            <a:r>
              <a:rPr lang="en-US" altLang="zh-CN" sz="2400" b="1" baseline="-30000" dirty="0">
                <a:ea typeface="楷体_GB2312" pitchFamily="49" charset="-122"/>
              </a:rPr>
              <a:t>4</a:t>
            </a:r>
            <a:r>
              <a:rPr lang="zh-CN" altLang="en-US" sz="2400" b="1" dirty="0">
                <a:ea typeface="楷体_GB2312" pitchFamily="49" charset="-122"/>
              </a:rPr>
              <a:t>溶液和</a:t>
            </a:r>
            <a:r>
              <a:rPr lang="en-US" altLang="zh-CN" sz="2400" b="1" dirty="0">
                <a:ea typeface="楷体_GB2312" pitchFamily="49" charset="-122"/>
              </a:rPr>
              <a:t>0.1 </a:t>
            </a:r>
            <a:r>
              <a:rPr lang="en-US" altLang="zh-CN" sz="2400" b="1" dirty="0" err="1">
                <a:ea typeface="楷体_GB2312" pitchFamily="49" charset="-122"/>
              </a:rPr>
              <a:t>mol</a:t>
            </a:r>
            <a:r>
              <a:rPr lang="en-US" altLang="zh-CN" sz="2400" b="1" dirty="0">
                <a:ea typeface="楷体_GB2312" pitchFamily="49" charset="-122"/>
              </a:rPr>
              <a:t>· 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en-US" altLang="zh-CN" sz="2400" b="1" dirty="0" err="1">
                <a:ea typeface="楷体_GB2312" pitchFamily="49" charset="-122"/>
              </a:rPr>
              <a:t>NaOH</a:t>
            </a:r>
            <a:r>
              <a:rPr lang="zh-CN" altLang="en-US" sz="2400" b="1" dirty="0">
                <a:ea typeface="楷体_GB2312" pitchFamily="49" charset="-122"/>
              </a:rPr>
              <a:t>溶液</a:t>
            </a: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</a:pPr>
            <a:r>
              <a:rPr lang="en-US" altLang="zh-CN" sz="2400" b="1" dirty="0">
                <a:ea typeface="楷体_GB2312" pitchFamily="49" charset="-122"/>
              </a:rPr>
              <a:t>D. 0.2 </a:t>
            </a:r>
            <a:r>
              <a:rPr lang="en-US" altLang="zh-CN" sz="2400" b="1" dirty="0" err="1">
                <a:ea typeface="楷体_GB2312" pitchFamily="49" charset="-122"/>
              </a:rPr>
              <a:t>mol</a:t>
            </a:r>
            <a:r>
              <a:rPr lang="en-US" altLang="zh-CN" sz="2400" b="1" dirty="0">
                <a:ea typeface="楷体_GB2312" pitchFamily="49" charset="-122"/>
              </a:rPr>
              <a:t>· 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NH</a:t>
            </a:r>
            <a:r>
              <a:rPr lang="en-US" altLang="zh-CN" sz="2400" b="1" baseline="-30000" dirty="0">
                <a:ea typeface="楷体_GB2312" pitchFamily="49" charset="-122"/>
              </a:rPr>
              <a:t>3</a:t>
            </a:r>
            <a:r>
              <a:rPr lang="zh-CN" altLang="en-US" sz="2400" b="1" dirty="0">
                <a:ea typeface="楷体_GB2312" pitchFamily="49" charset="-122"/>
              </a:rPr>
              <a:t>溶液和</a:t>
            </a:r>
            <a:r>
              <a:rPr lang="en-US" altLang="zh-CN" sz="2400" b="1" dirty="0">
                <a:ea typeface="楷体_GB2312" pitchFamily="49" charset="-122"/>
              </a:rPr>
              <a:t>0.1 </a:t>
            </a:r>
            <a:r>
              <a:rPr lang="en-US" altLang="zh-CN" sz="2400" b="1" dirty="0" err="1">
                <a:ea typeface="楷体_GB2312" pitchFamily="49" charset="-122"/>
              </a:rPr>
              <a:t>mol</a:t>
            </a:r>
            <a:r>
              <a:rPr lang="en-US" altLang="zh-CN" sz="2400" b="1" dirty="0">
                <a:ea typeface="楷体_GB2312" pitchFamily="49" charset="-122"/>
              </a:rPr>
              <a:t>· 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HCl</a:t>
            </a:r>
            <a:r>
              <a:rPr lang="zh-CN" altLang="en-US" sz="2400" b="1" dirty="0">
                <a:ea typeface="楷体_GB2312" pitchFamily="49" charset="-122"/>
              </a:rPr>
              <a:t>溶液</a:t>
            </a:r>
          </a:p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</a:pPr>
            <a:r>
              <a:rPr lang="en-US" altLang="zh-CN" sz="2400" b="1" dirty="0">
                <a:ea typeface="楷体_GB2312" pitchFamily="49" charset="-122"/>
              </a:rPr>
              <a:t>E. 0.2 </a:t>
            </a:r>
            <a:r>
              <a:rPr lang="en-US" altLang="zh-CN" sz="2400" b="1" dirty="0" err="1">
                <a:ea typeface="楷体_GB2312" pitchFamily="49" charset="-122"/>
              </a:rPr>
              <a:t>mol</a:t>
            </a:r>
            <a:r>
              <a:rPr lang="en-US" altLang="zh-CN" sz="2400" b="1" dirty="0">
                <a:ea typeface="楷体_GB2312" pitchFamily="49" charset="-122"/>
              </a:rPr>
              <a:t>· 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NH</a:t>
            </a:r>
            <a:r>
              <a:rPr lang="en-US" altLang="zh-CN" sz="2400" b="1" baseline="-30000" dirty="0">
                <a:ea typeface="楷体_GB2312" pitchFamily="49" charset="-122"/>
              </a:rPr>
              <a:t>3</a:t>
            </a:r>
            <a:r>
              <a:rPr lang="zh-CN" altLang="en-US" sz="2400" b="1" dirty="0">
                <a:ea typeface="楷体_GB2312" pitchFamily="49" charset="-122"/>
              </a:rPr>
              <a:t>溶液和</a:t>
            </a:r>
            <a:r>
              <a:rPr lang="en-US" altLang="zh-CN" sz="2400" b="1" dirty="0">
                <a:ea typeface="楷体_GB2312" pitchFamily="49" charset="-122"/>
              </a:rPr>
              <a:t>0.25 </a:t>
            </a:r>
            <a:r>
              <a:rPr lang="en-US" altLang="zh-CN" sz="2400" b="1" dirty="0" err="1">
                <a:ea typeface="楷体_GB2312" pitchFamily="49" charset="-122"/>
              </a:rPr>
              <a:t>mol</a:t>
            </a:r>
            <a:r>
              <a:rPr lang="en-US" altLang="zh-CN" sz="2400" b="1" dirty="0">
                <a:ea typeface="楷体_GB2312" pitchFamily="49" charset="-122"/>
              </a:rPr>
              <a:t>· L</a:t>
            </a:r>
            <a:r>
              <a:rPr lang="en-US" altLang="zh-CN" sz="2400" b="1" baseline="30000" dirty="0">
                <a:ea typeface="楷体_GB2312" pitchFamily="49" charset="-122"/>
              </a:rPr>
              <a:t>-1</a:t>
            </a:r>
            <a:r>
              <a:rPr lang="en-US" altLang="zh-CN" sz="2400" b="1" dirty="0">
                <a:ea typeface="楷体_GB2312" pitchFamily="49" charset="-122"/>
              </a:rPr>
              <a:t>HCl</a:t>
            </a:r>
            <a:r>
              <a:rPr lang="zh-CN" altLang="en-US" sz="2400" b="1" dirty="0">
                <a:ea typeface="楷体_GB2312" pitchFamily="49" charset="-122"/>
              </a:rPr>
              <a:t>溶液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993285" y="1262654"/>
            <a:ext cx="1008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BE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en-US" altLang="zh-CN" sz="2400" b="1" dirty="0" smtClean="0">
                <a:solidFill>
                  <a:srgbClr val="FF0000"/>
                </a:solidFill>
              </a:rPr>
              <a:t>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85235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65026" y="970652"/>
            <a:ext cx="8393113" cy="506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ea typeface="楷体_GB2312" pitchFamily="49" charset="-122"/>
              </a:rPr>
              <a:t>血液</a:t>
            </a:r>
            <a:r>
              <a:rPr kumimoji="1" lang="zh-CN" altLang="en-US" sz="2400" b="1" dirty="0" smtClean="0">
                <a:ea typeface="楷体_GB2312" pitchFamily="49" charset="-122"/>
              </a:rPr>
              <a:t>的中主要存在的缓冲体系：</a:t>
            </a:r>
            <a:r>
              <a:rPr kumimoji="1" lang="en-US" altLang="zh-CN" sz="2400" b="1" dirty="0" smtClean="0">
                <a:ea typeface="楷体_GB2312" pitchFamily="49" charset="-122"/>
              </a:rPr>
              <a:t>H</a:t>
            </a:r>
            <a:r>
              <a:rPr kumimoji="1" lang="en-US" altLang="zh-CN" sz="2400" b="1" baseline="-25000" dirty="0" smtClean="0">
                <a:ea typeface="楷体_GB2312" pitchFamily="49" charset="-122"/>
              </a:rPr>
              <a:t>2</a:t>
            </a:r>
            <a:r>
              <a:rPr kumimoji="1" lang="en-US" altLang="zh-CN" sz="2400" b="1" dirty="0" smtClean="0">
                <a:ea typeface="楷体_GB2312" pitchFamily="49" charset="-122"/>
              </a:rPr>
              <a:t>CO</a:t>
            </a:r>
            <a:r>
              <a:rPr kumimoji="1" lang="en-US" altLang="zh-CN" sz="2400" b="1" baseline="-25000" dirty="0" smtClean="0">
                <a:ea typeface="楷体_GB2312" pitchFamily="49" charset="-122"/>
              </a:rPr>
              <a:t>3</a:t>
            </a:r>
            <a:r>
              <a:rPr kumimoji="1" lang="en-US" altLang="zh-CN" sz="2400" b="1" dirty="0" smtClean="0">
                <a:ea typeface="楷体_GB2312" pitchFamily="49" charset="-122"/>
              </a:rPr>
              <a:t>/HCO</a:t>
            </a:r>
            <a:r>
              <a:rPr kumimoji="1" lang="en-US" altLang="zh-CN" sz="2400" b="1" baseline="-25000" dirty="0" smtClean="0">
                <a:ea typeface="楷体_GB2312" pitchFamily="49" charset="-122"/>
              </a:rPr>
              <a:t>3</a:t>
            </a:r>
            <a:r>
              <a:rPr kumimoji="1" lang="en-US" altLang="zh-CN" sz="2400" b="1" baseline="30000" dirty="0" smtClean="0">
                <a:ea typeface="楷体_GB2312" pitchFamily="49" charset="-122"/>
              </a:rPr>
              <a:t>-</a:t>
            </a:r>
            <a:endParaRPr kumimoji="1" lang="zh-CN" altLang="en-US" sz="2400" b="1" dirty="0">
              <a:ea typeface="楷体_GB2312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56581" y="287759"/>
            <a:ext cx="752475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kumimoji="1" lang="zh-CN" altLang="en-US" sz="2800" b="1" dirty="0">
                <a:ea typeface="楷体_GB2312" pitchFamily="49" charset="-122"/>
              </a:rPr>
              <a:t>为什么人体内血液的</a:t>
            </a:r>
            <a:r>
              <a:rPr kumimoji="1" lang="en-US" altLang="zh-CN" sz="2800" b="1" dirty="0">
                <a:ea typeface="楷体_GB2312" pitchFamily="49" charset="-122"/>
              </a:rPr>
              <a:t>pH</a:t>
            </a:r>
            <a:r>
              <a:rPr kumimoji="1" lang="zh-CN" altLang="en-US" sz="2800" b="1" dirty="0">
                <a:ea typeface="楷体_GB2312" pitchFamily="49" charset="-122"/>
              </a:rPr>
              <a:t>值能维持在</a:t>
            </a:r>
            <a:r>
              <a:rPr kumimoji="1" lang="en-US" altLang="zh-CN" sz="2800" b="1" dirty="0">
                <a:ea typeface="楷体_GB2312" pitchFamily="49" charset="-122"/>
              </a:rPr>
              <a:t>7.35-7.45</a:t>
            </a:r>
            <a:r>
              <a:rPr kumimoji="1" lang="zh-CN" altLang="en-US" sz="2800" b="1" dirty="0">
                <a:ea typeface="楷体_GB2312" pitchFamily="49" charset="-122"/>
              </a:rPr>
              <a:t>? 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76461" y="1561837"/>
            <a:ext cx="763270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ea typeface="楷体_GB2312" pitchFamily="49" charset="-122"/>
              </a:rPr>
              <a:t>肾和肺是支配</a:t>
            </a:r>
            <a:r>
              <a:rPr kumimoji="1" lang="en-US" altLang="zh-CN" sz="2400" b="1" dirty="0">
                <a:ea typeface="楷体_GB2312" pitchFamily="49" charset="-122"/>
              </a:rPr>
              <a:t>H</a:t>
            </a:r>
            <a:r>
              <a:rPr kumimoji="1" lang="en-US" altLang="zh-CN" sz="2400" b="1" baseline="-25000" dirty="0">
                <a:ea typeface="楷体_GB2312" pitchFamily="49" charset="-122"/>
              </a:rPr>
              <a:t>2</a:t>
            </a:r>
            <a:r>
              <a:rPr kumimoji="1" lang="en-US" altLang="zh-CN" sz="2400" b="1" dirty="0">
                <a:ea typeface="楷体_GB2312" pitchFamily="49" charset="-122"/>
              </a:rPr>
              <a:t>CO</a:t>
            </a:r>
            <a:r>
              <a:rPr kumimoji="1" lang="en-US" altLang="zh-CN" sz="2400" b="1" baseline="-25000" dirty="0">
                <a:ea typeface="楷体_GB2312" pitchFamily="49" charset="-122"/>
              </a:rPr>
              <a:t>3</a:t>
            </a:r>
            <a:r>
              <a:rPr kumimoji="1" lang="en-US" altLang="zh-CN" sz="2400" b="1" dirty="0">
                <a:ea typeface="楷体_GB2312" pitchFamily="49" charset="-122"/>
              </a:rPr>
              <a:t>/HCO</a:t>
            </a:r>
            <a:r>
              <a:rPr kumimoji="1" lang="en-US" altLang="zh-CN" sz="2400" b="1" baseline="-25000" dirty="0">
                <a:ea typeface="楷体_GB2312" pitchFamily="49" charset="-122"/>
              </a:rPr>
              <a:t>3</a:t>
            </a:r>
            <a:r>
              <a:rPr kumimoji="1" lang="en-US" altLang="zh-CN" sz="2400" b="1" baseline="30000" dirty="0">
                <a:ea typeface="楷体_GB2312" pitchFamily="49" charset="-122"/>
              </a:rPr>
              <a:t>-</a:t>
            </a:r>
            <a:r>
              <a:rPr kumimoji="1" lang="zh-CN" altLang="en-US" sz="2400" b="1" dirty="0">
                <a:ea typeface="楷体_GB2312" pitchFamily="49" charset="-122"/>
              </a:rPr>
              <a:t>缓冲体系的两个重要</a:t>
            </a:r>
            <a:r>
              <a:rPr kumimoji="1" lang="zh-CN" altLang="en-US" sz="2400" b="1" dirty="0" smtClean="0">
                <a:ea typeface="楷体_GB2312" pitchFamily="49" charset="-122"/>
              </a:rPr>
              <a:t>器官</a:t>
            </a:r>
            <a:endParaRPr kumimoji="1" lang="zh-CN" altLang="en-US" sz="2400" b="1" dirty="0">
              <a:ea typeface="楷体_GB2312" pitchFamily="49" charset="-122"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565026" y="2168445"/>
            <a:ext cx="429262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33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3333CC"/>
                </a:solidFill>
                <a:ea typeface="楷体_GB2312" pitchFamily="49" charset="-122"/>
              </a:rPr>
              <a:t>正常血浆中，</a:t>
            </a:r>
            <a:r>
              <a:rPr kumimoji="1" lang="en-US" altLang="zh-CN" sz="2400" b="1" dirty="0">
                <a:solidFill>
                  <a:srgbClr val="3333CC"/>
                </a:solidFill>
                <a:ea typeface="楷体_GB2312" pitchFamily="49" charset="-122"/>
              </a:rPr>
              <a:t>HCO</a:t>
            </a:r>
            <a:r>
              <a:rPr kumimoji="1" lang="en-US" altLang="zh-CN" sz="2400" b="1" baseline="-25000" dirty="0">
                <a:solidFill>
                  <a:srgbClr val="3333CC"/>
                </a:solidFill>
                <a:ea typeface="楷体_GB2312" pitchFamily="49" charset="-122"/>
              </a:rPr>
              <a:t>3</a:t>
            </a:r>
            <a:r>
              <a:rPr kumimoji="1" lang="en-US" altLang="zh-CN" sz="2400" b="1" baseline="30000" dirty="0">
                <a:solidFill>
                  <a:srgbClr val="3333CC"/>
                </a:solidFill>
                <a:ea typeface="楷体_GB2312" pitchFamily="49" charset="-122"/>
              </a:rPr>
              <a:t>-</a:t>
            </a:r>
            <a:r>
              <a:rPr kumimoji="1" lang="zh-CN" altLang="en-US" sz="2400" b="1" dirty="0">
                <a:solidFill>
                  <a:srgbClr val="3333CC"/>
                </a:solidFill>
                <a:ea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rgbClr val="3333CC"/>
                </a:solidFill>
                <a:ea typeface="楷体_GB2312" pitchFamily="49" charset="-122"/>
              </a:rPr>
              <a:t>H</a:t>
            </a:r>
            <a:r>
              <a:rPr kumimoji="1" lang="en-US" altLang="zh-CN" sz="2400" b="1" baseline="-25000" dirty="0">
                <a:solidFill>
                  <a:srgbClr val="3333CC"/>
                </a:solidFill>
                <a:ea typeface="楷体_GB2312" pitchFamily="49" charset="-122"/>
              </a:rPr>
              <a:t>2</a:t>
            </a:r>
            <a:r>
              <a:rPr kumimoji="1" lang="en-US" altLang="zh-CN" sz="2400" b="1" dirty="0">
                <a:solidFill>
                  <a:srgbClr val="3333CC"/>
                </a:solidFill>
                <a:ea typeface="楷体_GB2312" pitchFamily="49" charset="-122"/>
              </a:rPr>
              <a:t>CO</a:t>
            </a:r>
            <a:r>
              <a:rPr kumimoji="1" lang="en-US" altLang="zh-CN" sz="2400" b="1" baseline="-25000" dirty="0">
                <a:solidFill>
                  <a:srgbClr val="3333CC"/>
                </a:solidFill>
                <a:ea typeface="楷体_GB2312" pitchFamily="49" charset="-122"/>
              </a:rPr>
              <a:t>3</a:t>
            </a:r>
            <a:r>
              <a:rPr kumimoji="1" lang="zh-CN" altLang="en-US" sz="2400" b="1" dirty="0">
                <a:solidFill>
                  <a:srgbClr val="3333CC"/>
                </a:solidFill>
                <a:ea typeface="楷体_GB2312" pitchFamily="49" charset="-122"/>
              </a:rPr>
              <a:t>的浓度分别约为</a:t>
            </a:r>
            <a:r>
              <a:rPr kumimoji="1" lang="en-US" altLang="zh-CN" sz="2400" b="1" dirty="0">
                <a:solidFill>
                  <a:srgbClr val="3333CC"/>
                </a:solidFill>
                <a:ea typeface="楷体_GB2312" pitchFamily="49" charset="-122"/>
              </a:rPr>
              <a:t>0.024 </a:t>
            </a:r>
            <a:r>
              <a:rPr kumimoji="1" lang="en-US" altLang="zh-CN" sz="2400" b="1" dirty="0" err="1">
                <a:solidFill>
                  <a:srgbClr val="3333CC"/>
                </a:solidFill>
                <a:ea typeface="楷体_GB2312" pitchFamily="49" charset="-122"/>
              </a:rPr>
              <a:t>mol</a:t>
            </a:r>
            <a:r>
              <a:rPr kumimoji="1" lang="en-US" altLang="zh-CN" sz="2400" b="1" dirty="0">
                <a:solidFill>
                  <a:srgbClr val="3333CC"/>
                </a:solidFill>
                <a:ea typeface="楷体_GB2312" pitchFamily="49" charset="-122"/>
              </a:rPr>
              <a:t>/L </a:t>
            </a:r>
            <a:r>
              <a:rPr kumimoji="1" lang="zh-CN" altLang="en-US" sz="2400" b="1" dirty="0">
                <a:solidFill>
                  <a:srgbClr val="3333CC"/>
                </a:solidFill>
                <a:ea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rgbClr val="3333CC"/>
                </a:solidFill>
                <a:ea typeface="楷体_GB2312" pitchFamily="49" charset="-122"/>
              </a:rPr>
              <a:t>0.0012 </a:t>
            </a:r>
            <a:r>
              <a:rPr kumimoji="1" lang="en-US" altLang="zh-CN" sz="2400" b="1" dirty="0" err="1" smtClean="0">
                <a:solidFill>
                  <a:srgbClr val="3333CC"/>
                </a:solidFill>
                <a:ea typeface="楷体_GB2312" pitchFamily="49" charset="-122"/>
              </a:rPr>
              <a:t>mol</a:t>
            </a:r>
            <a:r>
              <a:rPr kumimoji="1" lang="en-US" altLang="zh-CN" sz="2400" b="1" dirty="0" smtClean="0">
                <a:solidFill>
                  <a:srgbClr val="3333CC"/>
                </a:solidFill>
                <a:ea typeface="楷体_GB2312" pitchFamily="49" charset="-122"/>
              </a:rPr>
              <a:t>/L pK</a:t>
            </a:r>
            <a:r>
              <a:rPr kumimoji="1" lang="en-US" altLang="zh-CN" sz="2400" b="1" baseline="-25000" dirty="0" smtClean="0">
                <a:solidFill>
                  <a:srgbClr val="3333CC"/>
                </a:solidFill>
                <a:ea typeface="楷体_GB2312" pitchFamily="49" charset="-122"/>
              </a:rPr>
              <a:t>a1</a:t>
            </a:r>
            <a:r>
              <a:rPr kumimoji="1" lang="en-US" altLang="zh-CN" sz="2400" b="1" dirty="0" smtClean="0">
                <a:solidFill>
                  <a:srgbClr val="3333CC"/>
                </a:solidFill>
                <a:ea typeface="楷体_GB2312" pitchFamily="49" charset="-122"/>
              </a:rPr>
              <a:t>=6.1</a:t>
            </a:r>
            <a:endParaRPr kumimoji="1" lang="en-US" altLang="zh-CN" sz="2400" b="1" dirty="0">
              <a:solidFill>
                <a:srgbClr val="3333CC"/>
              </a:solidFill>
              <a:ea typeface="楷体_GB2312" pitchFamily="49" charset="-122"/>
            </a:endParaRPr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836699"/>
              </p:ext>
            </p:extLst>
          </p:nvPr>
        </p:nvGraphicFramePr>
        <p:xfrm>
          <a:off x="6769149" y="2187444"/>
          <a:ext cx="4176713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r:id="rId3" imgW="2324191" imgH="1076225" progId="ChemWindow.Document">
                  <p:embed/>
                </p:oleObj>
              </mc:Choice>
              <mc:Fallback>
                <p:oleObj r:id="rId3" imgW="2324191" imgH="1076225" progId="ChemWindow.Document">
                  <p:embed/>
                  <p:pic>
                    <p:nvPicPr>
                      <p:cNvPr id="1075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49" y="2187444"/>
                        <a:ext cx="4176713" cy="194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341219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593105" y="2012190"/>
            <a:ext cx="35671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缓冲能力与缓冲范围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403225" y="2372216"/>
            <a:ext cx="10493191" cy="30038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</a:t>
            </a:r>
            <a:r>
              <a:rPr lang="zh-CN" altLang="en-US" sz="2500" b="1" dirty="0" smtClean="0">
                <a:ea typeface="楷体_GB2312" pitchFamily="49" charset="-122"/>
              </a:rPr>
              <a:t>缓冲</a:t>
            </a:r>
            <a:r>
              <a:rPr lang="zh-CN" altLang="en-US" sz="2500" b="1" dirty="0">
                <a:ea typeface="楷体_GB2312" pitchFamily="49" charset="-122"/>
              </a:rPr>
              <a:t>能力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有限</a:t>
            </a:r>
            <a:r>
              <a:rPr lang="en-US" altLang="zh-CN" sz="2500" b="1" dirty="0" smtClean="0">
                <a:ea typeface="楷体_GB2312" pitchFamily="49" charset="-122"/>
              </a:rPr>
              <a:t>. </a:t>
            </a:r>
            <a:r>
              <a:rPr lang="zh-CN" altLang="en-US" sz="2500" b="1" dirty="0" smtClean="0">
                <a:ea typeface="楷体_GB2312" pitchFamily="49" charset="-122"/>
              </a:rPr>
              <a:t>（与缓冲容量有关）</a:t>
            </a: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200" b="1" dirty="0" smtClean="0">
                <a:ea typeface="楷体_GB2312" pitchFamily="49" charset="-122"/>
              </a:rPr>
              <a:t>缓冲容量</a:t>
            </a:r>
            <a:r>
              <a:rPr lang="el-GR" altLang="zh-CN" sz="2200" b="1" dirty="0">
                <a:ea typeface="楷体_GB2312" pitchFamily="49" charset="-122"/>
              </a:rPr>
              <a:t>β</a:t>
            </a:r>
            <a:r>
              <a:rPr lang="zh-CN" altLang="en-US" sz="2200" b="1" dirty="0" smtClean="0">
                <a:ea typeface="楷体_GB2312" pitchFamily="49" charset="-122"/>
              </a:rPr>
              <a:t>：单位体积缓冲溶液</a:t>
            </a:r>
            <a:r>
              <a:rPr lang="en-US" altLang="zh-CN" sz="2200" b="1" dirty="0" smtClean="0">
                <a:ea typeface="楷体_GB2312" pitchFamily="49" charset="-122"/>
              </a:rPr>
              <a:t>pH</a:t>
            </a:r>
            <a:r>
              <a:rPr lang="zh-CN" altLang="en-US" sz="2200" b="1" dirty="0" smtClean="0">
                <a:ea typeface="楷体_GB2312" pitchFamily="49" charset="-122"/>
              </a:rPr>
              <a:t>值改变</a:t>
            </a:r>
            <a:r>
              <a:rPr lang="en-US" altLang="zh-CN" sz="2200" b="1" dirty="0" smtClean="0">
                <a:ea typeface="楷体_GB2312" pitchFamily="49" charset="-122"/>
              </a:rPr>
              <a:t>1</a:t>
            </a:r>
            <a:r>
              <a:rPr lang="zh-CN" altLang="en-US" sz="2200" b="1" dirty="0" smtClean="0">
                <a:ea typeface="楷体_GB2312" pitchFamily="49" charset="-122"/>
              </a:rPr>
              <a:t>个单位时所加强酸或强碱物质的量</a:t>
            </a:r>
            <a:endParaRPr lang="en-US" altLang="zh-CN" sz="2200" b="1" dirty="0" smtClean="0">
              <a:solidFill>
                <a:srgbClr val="FF3300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sz="2500" b="1" dirty="0" smtClean="0">
              <a:solidFill>
                <a:srgbClr val="FF3300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影响缓冲溶液的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主要因素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总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浓度</a:t>
            </a:r>
            <a:r>
              <a:rPr lang="en-US" altLang="zh-CN" sz="2500" b="1" dirty="0" smtClean="0">
                <a:ea typeface="楷体_GB2312" pitchFamily="49" charset="-122"/>
              </a:rPr>
              <a:t>(</a:t>
            </a:r>
            <a:r>
              <a:rPr lang="zh-CN" altLang="en-US" sz="2500" b="1" dirty="0" smtClean="0">
                <a:ea typeface="楷体_GB2312" pitchFamily="49" charset="-122"/>
              </a:rPr>
              <a:t>通常</a:t>
            </a:r>
            <a:r>
              <a:rPr lang="en-US" altLang="zh-CN" sz="2500" b="1" dirty="0" smtClean="0">
                <a:ea typeface="楷体_GB2312" pitchFamily="49" charset="-122"/>
              </a:rPr>
              <a:t>0.05-0.2mol/L);</a:t>
            </a:r>
            <a:r>
              <a:rPr lang="zh-CN" altLang="en-US" sz="2500" b="1" dirty="0" smtClean="0">
                <a:ea typeface="楷体_GB2312" pitchFamily="49" charset="-122"/>
              </a:rPr>
              <a:t>总浓度越大，缓冲容量越大，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缓冲能力越强</a:t>
            </a:r>
            <a:endParaRPr lang="en-US" altLang="zh-CN" sz="2500" b="1" dirty="0">
              <a:solidFill>
                <a:srgbClr val="FF0000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构成缓冲系统的两组分浓度</a:t>
            </a:r>
            <a:r>
              <a:rPr lang="zh-CN" altLang="en-US" sz="2500" b="1" dirty="0" smtClean="0">
                <a:ea typeface="楷体_GB2312" pitchFamily="49" charset="-122"/>
              </a:rPr>
              <a:t>比值 ，比值越接近，缓冲能力越大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5859" name="AutoShape 19"/>
          <p:cNvSpPr>
            <a:spLocks/>
          </p:cNvSpPr>
          <p:nvPr/>
        </p:nvSpPr>
        <p:spPr bwMode="auto">
          <a:xfrm>
            <a:off x="264319" y="4612032"/>
            <a:ext cx="192087" cy="649287"/>
          </a:xfrm>
          <a:prstGeom prst="leftBrace">
            <a:avLst>
              <a:gd name="adj1" fmla="val 3755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032" name="Rectangle 23"/>
          <p:cNvSpPr>
            <a:spLocks noGrp="1" noChangeArrowheads="1"/>
          </p:cNvSpPr>
          <p:nvPr>
            <p:ph type="title"/>
          </p:nvPr>
        </p:nvSpPr>
        <p:spPr>
          <a:xfrm>
            <a:off x="403225" y="23971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3.5.1</a:t>
            </a:r>
            <a:r>
              <a:rPr lang="zh-CN" altLang="en-US" smtClean="0">
                <a:ea typeface="黑体" pitchFamily="49" charset="-122"/>
              </a:rPr>
              <a:t>酸碱缓冲溶液</a:t>
            </a:r>
            <a:endParaRPr lang="zh-CN" altLang="en-US" sz="1400" b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03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63"/>
            <a:ext cx="360363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17" y="671513"/>
            <a:ext cx="1296144" cy="129614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76661" y="888844"/>
            <a:ext cx="6758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加入过量酸碱或大量稀释 缓冲溶液能否起作用？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50421" y="1293403"/>
            <a:ext cx="1364491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不能！！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565" y="3339392"/>
            <a:ext cx="1125626" cy="65793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869" y="3356678"/>
            <a:ext cx="2491223" cy="747367"/>
          </a:xfrm>
          <a:prstGeom prst="rect">
            <a:avLst/>
          </a:prstGeom>
        </p:spPr>
      </p:pic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83687" y="5295394"/>
            <a:ext cx="288032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 smtClean="0">
                <a:ea typeface="楷体_GB2312" pitchFamily="49" charset="-122"/>
              </a:rPr>
              <a:t>pH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dirty="0" err="1"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i="1" baseline="-25000" dirty="0" err="1">
                <a:ea typeface="楷体_GB2312" pitchFamily="49" charset="-122"/>
              </a:rPr>
              <a:t>b</a:t>
            </a:r>
            <a:r>
              <a:rPr lang="en-US" altLang="zh-CN" sz="2500" b="1" dirty="0">
                <a:ea typeface="楷体_GB2312" pitchFamily="49" charset="-122"/>
              </a:rPr>
              <a:t>/</a:t>
            </a:r>
            <a:r>
              <a:rPr lang="en-US" altLang="zh-CN" sz="2500" b="1" i="1" dirty="0">
                <a:ea typeface="楷体_GB2312" pitchFamily="49" charset="-122"/>
              </a:rPr>
              <a:t>c</a:t>
            </a:r>
            <a:r>
              <a:rPr lang="en-US" altLang="zh-CN" sz="2500" b="1" i="1" baseline="-25000" dirty="0">
                <a:ea typeface="楷体_GB2312" pitchFamily="49" charset="-122"/>
              </a:rPr>
              <a:t>a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138000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6" grpId="0"/>
      <p:bldP spid="35857" grpId="0"/>
      <p:bldP spid="35859" grpId="0" animBg="1"/>
      <p:bldP spid="3" grpId="0"/>
      <p:bldP spid="4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576263" y="2210056"/>
            <a:ext cx="364012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分类与选择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403278" y="998566"/>
            <a:ext cx="29702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缓冲范围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有限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598364" y="3079316"/>
            <a:ext cx="9366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分类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1785116" y="3026147"/>
            <a:ext cx="1257300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标准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普通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7658" name="AutoShape 10"/>
          <p:cNvSpPr>
            <a:spLocks/>
          </p:cNvSpPr>
          <p:nvPr/>
        </p:nvSpPr>
        <p:spPr bwMode="auto">
          <a:xfrm>
            <a:off x="1607316" y="3129334"/>
            <a:ext cx="192087" cy="647700"/>
          </a:xfrm>
          <a:prstGeom prst="leftBrace">
            <a:avLst>
              <a:gd name="adj1" fmla="val 3746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5965700" y="2911770"/>
            <a:ext cx="4559300" cy="1362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不干扰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较强的缓冲能力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 dirty="0">
                <a:ea typeface="楷体_GB2312" pitchFamily="49" charset="-122"/>
              </a:rPr>
              <a:t>所需控制的</a:t>
            </a:r>
            <a:r>
              <a:rPr lang="en-US" altLang="zh-CN" sz="2500" b="1" dirty="0">
                <a:ea typeface="楷体_GB2312" pitchFamily="49" charset="-122"/>
              </a:rPr>
              <a:t>pH</a:t>
            </a:r>
            <a:r>
              <a:rPr lang="zh-CN" altLang="en-US" sz="2500" b="1" dirty="0">
                <a:ea typeface="楷体_GB2312" pitchFamily="49" charset="-122"/>
              </a:rPr>
              <a:t>在缓冲范围内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27661" name="AutoShape 13"/>
          <p:cNvSpPr>
            <a:spLocks/>
          </p:cNvSpPr>
          <p:nvPr/>
        </p:nvSpPr>
        <p:spPr bwMode="auto">
          <a:xfrm>
            <a:off x="5761038" y="3089635"/>
            <a:ext cx="95250" cy="935037"/>
          </a:xfrm>
          <a:prstGeom prst="leftBrace">
            <a:avLst>
              <a:gd name="adj1" fmla="val 109074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5502807" y="973255"/>
            <a:ext cx="2617404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pH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Symbol" pitchFamily="18" charset="2"/>
              </a:rPr>
              <a:t>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 p</a:t>
            </a:r>
            <a:r>
              <a:rPr lang="en-US" altLang="zh-CN" sz="2500" b="1" i="1" dirty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±1</a:t>
            </a:r>
          </a:p>
        </p:txBody>
      </p:sp>
      <p:sp>
        <p:nvSpPr>
          <p:cNvPr id="10250" name="Rectangle 2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3.5.1</a:t>
            </a:r>
            <a:r>
              <a:rPr lang="zh-CN" altLang="en-US" dirty="0" smtClean="0">
                <a:ea typeface="黑体" pitchFamily="49" charset="-122"/>
              </a:rPr>
              <a:t>酸碱缓冲溶液</a:t>
            </a:r>
            <a:endParaRPr lang="zh-CN" altLang="en-US" sz="1400" b="0" dirty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025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092451" y="3334839"/>
            <a:ext cx="936625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选择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graphicFrame>
        <p:nvGraphicFramePr>
          <p:cNvPr id="17" name="Object 2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216855"/>
              </p:ext>
            </p:extLst>
          </p:nvPr>
        </p:nvGraphicFramePr>
        <p:xfrm>
          <a:off x="3576136" y="889028"/>
          <a:ext cx="172402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公式" r:id="rId7" imgW="825142" imgH="444307" progId="Equation.3">
                  <p:embed/>
                </p:oleObj>
              </mc:Choice>
              <mc:Fallback>
                <p:oleObj name="公式" r:id="rId7" imgW="825142" imgH="444307" progId="Equation.3">
                  <p:embed/>
                  <p:pic>
                    <p:nvPicPr>
                      <p:cNvPr id="35865" name="Object 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136" y="889028"/>
                        <a:ext cx="1724025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810530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6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 autoUpdateAnimBg="0"/>
      <p:bldP spid="27655" grpId="0" autoUpdateAnimBg="0"/>
      <p:bldP spid="27656" grpId="0" autoUpdateAnimBg="0"/>
      <p:bldP spid="27657" grpId="0" build="p" autoUpdateAnimBg="0"/>
      <p:bldP spid="27658" grpId="0" animBg="1"/>
      <p:bldP spid="27660" grpId="0" build="p" autoUpdateAnimBg="0"/>
      <p:bldP spid="27661" grpId="0" animBg="1"/>
      <p:bldP spid="27667" grpId="0" autoUpdateAnimBg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Rectangle 2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3.5.1</a:t>
            </a:r>
            <a:r>
              <a:rPr lang="zh-CN" altLang="en-US" dirty="0" smtClean="0">
                <a:ea typeface="黑体" pitchFamily="49" charset="-122"/>
              </a:rPr>
              <a:t>酸碱缓冲溶液</a:t>
            </a:r>
            <a:endParaRPr lang="zh-CN" altLang="en-US" sz="1400" b="0" dirty="0" smtClean="0">
              <a:solidFill>
                <a:schemeClr val="accent2"/>
              </a:solidFill>
              <a:ea typeface="黑体" pitchFamily="49" charset="-122"/>
            </a:endParaRPr>
          </a:p>
        </p:txBody>
      </p:sp>
      <p:sp>
        <p:nvSpPr>
          <p:cNvPr id="10253" name="TextBox 12"/>
          <p:cNvSpPr txBox="1">
            <a:spLocks noChangeArrowheads="1"/>
          </p:cNvSpPr>
          <p:nvPr/>
        </p:nvSpPr>
        <p:spPr bwMode="auto">
          <a:xfrm>
            <a:off x="576263" y="2648927"/>
            <a:ext cx="64827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hlinkClick r:id="rId3" action="ppaction://hlinkpres?slideindex=1&amp;slidetitle=幻灯片 1"/>
              </a:rPr>
              <a:t>解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</a:t>
            </a:r>
            <a:endParaRPr lang="zh-CN" altLang="en-US" sz="2500" b="1" dirty="0">
              <a:latin typeface="+mn-lt"/>
              <a:ea typeface="楷体_GB2312" pitchFamily="49" charset="-122"/>
            </a:endParaRPr>
          </a:p>
        </p:txBody>
      </p:sp>
      <p:sp>
        <p:nvSpPr>
          <p:cNvPr id="1025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74646" y="863823"/>
            <a:ext cx="10572784" cy="178510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对于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HAc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~ Ac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和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HCOOH ~ HCOO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两种缓冲系统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若要配制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pH = 4.8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的缓冲溶液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应选何种系统为好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现有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6.0mol·L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HAc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12mL,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若要配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250mL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这种缓冲溶液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应称取固体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NaAc·3H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O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多少克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?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已知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p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HAc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= 4.75;p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HCOOH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= 3.75.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643" y="1986490"/>
            <a:ext cx="7144747" cy="1543265"/>
          </a:xfrm>
          <a:prstGeom prst="rect">
            <a:avLst/>
          </a:prstGeom>
        </p:spPr>
      </p:pic>
      <p:sp>
        <p:nvSpPr>
          <p:cNvPr id="5" name="Rectangle 7"/>
          <p:cNvSpPr>
            <a:spLocks noGrp="1" noChangeArrowheads="1"/>
          </p:cNvSpPr>
          <p:nvPr>
            <p:ph type="title"/>
          </p:nvPr>
        </p:nvSpPr>
        <p:spPr>
          <a:xfrm>
            <a:off x="474663" y="239713"/>
            <a:ext cx="2262038" cy="4318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3.5.2</a:t>
            </a:r>
            <a:r>
              <a:rPr lang="zh-CN" altLang="en-US" dirty="0" smtClean="0">
                <a:ea typeface="黑体" pitchFamily="49" charset="-122"/>
              </a:rPr>
              <a:t>酸碱指示剂</a:t>
            </a:r>
            <a:endParaRPr lang="zh-CN" altLang="en-US" sz="1400" b="0" dirty="0" smtClean="0">
              <a:ea typeface="黑体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8429" y="935831"/>
            <a:ext cx="11012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楷体_GB2312"/>
              </a:rPr>
              <a:t>定义：酸碱指示剂一般为有机弱酸或弱碱，其共轭酸碱形式具有明显不同颜色。</a:t>
            </a:r>
            <a:endParaRPr lang="zh-CN" altLang="en-US" sz="2400" b="1" dirty="0">
              <a:latin typeface="楷体_GB231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56781" y="1453617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滴定过程中能给出或接受质子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6983565" y="1437956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给出或接受质子使得指示剂颜色发生变化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720477" y="2447999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楷体_GB2312"/>
              </a:rPr>
              <a:t>甲基橙</a:t>
            </a:r>
            <a:endParaRPr lang="zh-CN" altLang="en-US" sz="2400" b="1" dirty="0">
              <a:latin typeface="楷体_GB2312"/>
            </a:endParaRPr>
          </a:p>
        </p:txBody>
      </p:sp>
      <p:graphicFrame>
        <p:nvGraphicFramePr>
          <p:cNvPr id="10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01967"/>
              </p:ext>
            </p:extLst>
          </p:nvPr>
        </p:nvGraphicFramePr>
        <p:xfrm>
          <a:off x="2448668" y="3888159"/>
          <a:ext cx="6264696" cy="1716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BMP 图象" r:id="rId4" imgW="4382112" imgH="1762371" progId="PBrush">
                  <p:embed/>
                </p:oleObj>
              </mc:Choice>
              <mc:Fallback>
                <p:oleObj name="BMP 图象" r:id="rId4" imgW="4382112" imgH="1762371" progId="PBrush">
                  <p:embed/>
                  <p:pic>
                    <p:nvPicPr>
                      <p:cNvPr id="5530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668" y="3888159"/>
                        <a:ext cx="6264696" cy="1716726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75166" y="4290423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楷体_GB2312"/>
              </a:rPr>
              <a:t>酚酞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2952725" y="5616849"/>
            <a:ext cx="136366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pH &lt; 9.1</a:t>
            </a:r>
            <a:endParaRPr lang="en-US" altLang="zh-CN" sz="2500" b="1" dirty="0">
              <a:solidFill>
                <a:schemeClr val="bg2"/>
              </a:solidFill>
              <a:ea typeface="楷体_GB2312" pitchFamily="49" charset="-122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7273205" y="5616849"/>
            <a:ext cx="1182687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99"/>
                </a:solidFill>
                <a:ea typeface="楷体_GB2312" pitchFamily="49" charset="-122"/>
              </a:rPr>
              <a:t>pH≥9.1</a:t>
            </a:r>
            <a:endParaRPr lang="en-US" altLang="zh-CN" sz="2500" b="1" dirty="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553627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76263" y="863823"/>
            <a:ext cx="147019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原理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717" y="1102742"/>
            <a:ext cx="4464496" cy="1252379"/>
          </a:xfrm>
          <a:prstGeom prst="rect">
            <a:avLst/>
          </a:prstGeom>
        </p:spPr>
      </p:pic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3600797" y="3310384"/>
            <a:ext cx="1671638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HIn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 =</a:t>
            </a: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5601047" y="3096071"/>
            <a:ext cx="13589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[In</a:t>
            </a:r>
            <a:r>
              <a:rPr lang="en-US" altLang="zh-CN" sz="2500" b="1" baseline="30000" dirty="0">
                <a:ea typeface="楷体_GB2312" pitchFamily="49" charset="-122"/>
              </a:rPr>
              <a:t>-</a:t>
            </a:r>
            <a:r>
              <a:rPr lang="en-US" altLang="zh-CN" sz="2500" b="1" dirty="0">
                <a:ea typeface="楷体_GB2312" pitchFamily="49" charset="-122"/>
              </a:rPr>
              <a:t>][H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>
            <a:off x="5458172" y="3596134"/>
            <a:ext cx="1824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5815360" y="3596134"/>
            <a:ext cx="9525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</a:t>
            </a:r>
            <a:r>
              <a:rPr lang="en-US" altLang="zh-CN" sz="2500" b="1" dirty="0" err="1">
                <a:ea typeface="楷体_GB2312" pitchFamily="49" charset="-122"/>
              </a:rPr>
              <a:t>HIn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4100860" y="4096196"/>
            <a:ext cx="14097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HIn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>
            <a:off x="3957985" y="4596259"/>
            <a:ext cx="1631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5672485" y="4310509"/>
            <a:ext cx="3873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4529485" y="4596259"/>
            <a:ext cx="7715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6172547" y="4024759"/>
            <a:ext cx="77311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[In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>
            <a:off x="6101110" y="4596259"/>
            <a:ext cx="9604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6029672" y="4524821"/>
            <a:ext cx="9525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[HIn]</a:t>
            </a:r>
          </a:p>
        </p:txBody>
      </p:sp>
      <p:sp>
        <p:nvSpPr>
          <p:cNvPr id="17" name="圆角矩形标注 16"/>
          <p:cNvSpPr/>
          <p:nvPr/>
        </p:nvSpPr>
        <p:spPr>
          <a:xfrm>
            <a:off x="1951241" y="1940759"/>
            <a:ext cx="929476" cy="609202"/>
          </a:xfrm>
          <a:prstGeom prst="wedgeRoundRectCallout">
            <a:avLst>
              <a:gd name="adj1" fmla="val 78315"/>
              <a:gd name="adj2" fmla="val -5690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FF0000"/>
                </a:solidFill>
              </a:rPr>
              <a:t>酸色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圆角矩形标注 17"/>
          <p:cNvSpPr/>
          <p:nvPr/>
        </p:nvSpPr>
        <p:spPr>
          <a:xfrm>
            <a:off x="7282210" y="2050520"/>
            <a:ext cx="929476" cy="609202"/>
          </a:xfrm>
          <a:prstGeom prst="wedgeRoundRectCallout">
            <a:avLst>
              <a:gd name="adj1" fmla="val -91351"/>
              <a:gd name="adj2" fmla="val -5907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rgbClr val="418890"/>
                </a:solidFill>
              </a:rPr>
              <a:t>碱色</a:t>
            </a:r>
            <a:endParaRPr lang="zh-CN" altLang="en-US" sz="2400" b="1" dirty="0">
              <a:solidFill>
                <a:srgbClr val="41889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5150" y="5173465"/>
            <a:ext cx="51812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/>
              </a:rPr>
              <a:t>颜色变化判断</a:t>
            </a:r>
            <a:r>
              <a:rPr lang="en-US" altLang="zh-CN" sz="2400" b="1" dirty="0">
                <a:ea typeface="楷体_GB2312"/>
              </a:rPr>
              <a:t>H</a:t>
            </a:r>
            <a:r>
              <a:rPr lang="en-US" altLang="zh-CN" sz="2400" b="1" baseline="30000" dirty="0">
                <a:ea typeface="楷体_GB2312"/>
              </a:rPr>
              <a:t>+</a:t>
            </a:r>
            <a:r>
              <a:rPr lang="zh-CN" altLang="en-US" sz="2400" b="1" dirty="0" smtClean="0">
                <a:ea typeface="楷体_GB2312"/>
              </a:rPr>
              <a:t>浓度，确定滴定终点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19" name="Rectangle 7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2304454" cy="4320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3.5.2</a:t>
            </a:r>
            <a:r>
              <a:rPr lang="zh-CN" altLang="en-US" dirty="0" smtClean="0">
                <a:ea typeface="黑体" pitchFamily="49" charset="-122"/>
              </a:rPr>
              <a:t>酸碱指示剂</a:t>
            </a:r>
            <a:endParaRPr lang="zh-CN" altLang="en-US" sz="1400" b="0" dirty="0" smtClean="0"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588408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utoUpdateAnimBg="0"/>
      <p:bldP spid="8" grpId="0" animBg="1"/>
      <p:bldP spid="9" grpId="0" autoUpdateAnimBg="0"/>
      <p:bldP spid="10" grpId="0" autoUpdateAnimBg="0"/>
      <p:bldP spid="11" grpId="0" animBg="1"/>
      <p:bldP spid="12" grpId="0" autoUpdateAnimBg="0"/>
      <p:bldP spid="13" grpId="0" autoUpdateAnimBg="0"/>
      <p:bldP spid="14" grpId="0" autoUpdateAnimBg="0"/>
      <p:bldP spid="15" grpId="0" animBg="1"/>
      <p:bldP spid="16" grpId="0" autoUpdateAnimBg="0"/>
      <p:bldP spid="17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386669" y="2251363"/>
            <a:ext cx="6657379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t>(2.1)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变色</a:t>
            </a: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域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理论变色点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当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[In</a:t>
            </a:r>
            <a:r>
              <a:rPr kumimoji="0" lang="en-US" altLang="zh-CN" sz="25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-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] = [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HIn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]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时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, pH = 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pK</a:t>
            </a:r>
            <a:r>
              <a:rPr kumimoji="0" lang="en-US" altLang="zh-CN" sz="1600" b="1" i="0" u="none" strike="noStrike" kern="1200" cap="none" spc="0" normalizeH="0" baseline="10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</a:t>
            </a:r>
            <a:r>
              <a:rPr kumimoji="0" lang="en-US" altLang="zh-CN" sz="25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HIn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). </a:t>
            </a:r>
          </a:p>
        </p:txBody>
      </p:sp>
      <p:sp>
        <p:nvSpPr>
          <p:cNvPr id="51207" name="Line 7"/>
          <p:cNvSpPr>
            <a:spLocks noChangeShapeType="1"/>
          </p:cNvSpPr>
          <p:nvPr/>
        </p:nvSpPr>
        <p:spPr bwMode="auto">
          <a:xfrm>
            <a:off x="576461" y="3717081"/>
            <a:ext cx="1152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711398" y="3207493"/>
            <a:ext cx="77311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[In</a:t>
            </a:r>
            <a:r>
              <a:rPr kumimoji="0" lang="en-US" altLang="zh-CN" sz="25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-</a:t>
            </a: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]</a:t>
            </a:r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576461" y="3717081"/>
            <a:ext cx="9525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[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HIn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]</a:t>
            </a:r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5894388" y="3478956"/>
            <a:ext cx="4254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1</a:t>
            </a:r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5440363" y="4058393"/>
            <a:ext cx="11461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中间色</a:t>
            </a:r>
          </a:p>
        </p:txBody>
      </p:sp>
      <p:sp>
        <p:nvSpPr>
          <p:cNvPr id="51212" name="Rectangle 12"/>
          <p:cNvSpPr>
            <a:spLocks noChangeArrowheads="1"/>
          </p:cNvSpPr>
          <p:nvPr/>
        </p:nvSpPr>
        <p:spPr bwMode="auto">
          <a:xfrm>
            <a:off x="3852863" y="3478956"/>
            <a:ext cx="10318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= 1/10</a:t>
            </a:r>
          </a:p>
        </p:txBody>
      </p:sp>
      <p:sp>
        <p:nvSpPr>
          <p:cNvPr id="51213" name="Rectangle 13"/>
          <p:cNvSpPr>
            <a:spLocks noChangeArrowheads="1"/>
          </p:cNvSpPr>
          <p:nvPr/>
        </p:nvSpPr>
        <p:spPr bwMode="auto">
          <a:xfrm>
            <a:off x="3581400" y="4058393"/>
            <a:ext cx="203993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略带酸色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214" name="Rectangle 14"/>
          <p:cNvSpPr>
            <a:spLocks noChangeArrowheads="1"/>
          </p:cNvSpPr>
          <p:nvPr/>
        </p:nvSpPr>
        <p:spPr bwMode="auto">
          <a:xfrm>
            <a:off x="2266950" y="3478956"/>
            <a:ext cx="9366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&lt;1/10</a:t>
            </a:r>
          </a:p>
        </p:txBody>
      </p:sp>
      <p:sp>
        <p:nvSpPr>
          <p:cNvPr id="51215" name="Rectangle 15"/>
          <p:cNvSpPr>
            <a:spLocks noChangeArrowheads="1"/>
          </p:cNvSpPr>
          <p:nvPr/>
        </p:nvSpPr>
        <p:spPr bwMode="auto">
          <a:xfrm>
            <a:off x="2312988" y="4058393"/>
            <a:ext cx="825500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楷体_GB2312"/>
                <a:cs typeface="+mn-cs"/>
              </a:rPr>
              <a:t>酸色</a:t>
            </a:r>
            <a:endParaRPr kumimoji="0" lang="zh-CN" altLang="en-US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/>
              <a:cs typeface="+mn-cs"/>
            </a:endParaRPr>
          </a:p>
        </p:txBody>
      </p:sp>
      <p:sp>
        <p:nvSpPr>
          <p:cNvPr id="51216" name="Rectangle 16"/>
          <p:cNvSpPr>
            <a:spLocks noChangeArrowheads="1"/>
          </p:cNvSpPr>
          <p:nvPr/>
        </p:nvSpPr>
        <p:spPr bwMode="auto">
          <a:xfrm>
            <a:off x="7299325" y="3478956"/>
            <a:ext cx="69691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=10</a:t>
            </a:r>
          </a:p>
        </p:txBody>
      </p:sp>
      <p:sp>
        <p:nvSpPr>
          <p:cNvPr id="51217" name="Rectangle 17"/>
          <p:cNvSpPr>
            <a:spLocks noChangeArrowheads="1"/>
          </p:cNvSpPr>
          <p:nvPr/>
        </p:nvSpPr>
        <p:spPr bwMode="auto">
          <a:xfrm>
            <a:off x="6937375" y="4058393"/>
            <a:ext cx="1473480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略带碱色</a:t>
            </a:r>
            <a:endParaRPr kumimoji="0" lang="zh-CN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218" name="Rectangle 18"/>
          <p:cNvSpPr>
            <a:spLocks noChangeArrowheads="1"/>
          </p:cNvSpPr>
          <p:nvPr/>
        </p:nvSpPr>
        <p:spPr bwMode="auto">
          <a:xfrm>
            <a:off x="9069388" y="3478956"/>
            <a:ext cx="6969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&gt;10</a:t>
            </a:r>
          </a:p>
        </p:txBody>
      </p:sp>
      <p:sp>
        <p:nvSpPr>
          <p:cNvPr id="51219" name="Rectangle 19"/>
          <p:cNvSpPr>
            <a:spLocks noChangeArrowheads="1"/>
          </p:cNvSpPr>
          <p:nvPr/>
        </p:nvSpPr>
        <p:spPr bwMode="auto">
          <a:xfrm>
            <a:off x="8977313" y="4058393"/>
            <a:ext cx="825500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楷体_GB2312"/>
                <a:cs typeface="+mn-cs"/>
              </a:rPr>
              <a:t>碱色</a:t>
            </a:r>
            <a:endParaRPr kumimoji="0" lang="zh-CN" altLang="en-US" sz="2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楷体_GB2312"/>
              <a:cs typeface="+mn-cs"/>
            </a:endParaRPr>
          </a:p>
        </p:txBody>
      </p:sp>
      <p:sp>
        <p:nvSpPr>
          <p:cNvPr id="51222" name="Rectangle 22"/>
          <p:cNvSpPr>
            <a:spLocks noChangeArrowheads="1"/>
          </p:cNvSpPr>
          <p:nvPr/>
        </p:nvSpPr>
        <p:spPr bwMode="auto">
          <a:xfrm>
            <a:off x="617538" y="954088"/>
            <a:ext cx="35671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(2)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变色域及其影响因素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51223" name="Rectangle 23"/>
          <p:cNvSpPr>
            <a:spLocks noChangeArrowheads="1"/>
          </p:cNvSpPr>
          <p:nvPr/>
        </p:nvSpPr>
        <p:spPr bwMode="auto">
          <a:xfrm>
            <a:off x="887030" y="4740764"/>
            <a:ext cx="696354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        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一般目测指示剂变色域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: pH ≈ 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pK</a:t>
            </a:r>
            <a:r>
              <a:rPr kumimoji="0" lang="en-US" altLang="zh-CN" sz="1600" b="1" i="0" u="none" strike="noStrike" kern="1200" cap="none" spc="0" normalizeH="0" baseline="10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</a:t>
            </a:r>
            <a:r>
              <a:rPr kumimoji="0" lang="en-US" altLang="zh-CN" sz="25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  <a:sym typeface="Webdings" pitchFamily="18" charset="2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HIn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)±1</a:t>
            </a: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　　</a:t>
            </a:r>
          </a:p>
        </p:txBody>
      </p:sp>
      <p:sp>
        <p:nvSpPr>
          <p:cNvPr id="13330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3.5.2</a:t>
            </a:r>
            <a:r>
              <a:rPr lang="zh-CN" altLang="en-US" smtClean="0">
                <a:ea typeface="黑体" pitchFamily="49" charset="-122"/>
              </a:rPr>
              <a:t>酸碱指示剂</a:t>
            </a:r>
            <a:endParaRPr lang="zh-CN" altLang="en-US" sz="1400" b="0" smtClean="0">
              <a:ea typeface="黑体" pitchFamily="49" charset="-122"/>
            </a:endParaRPr>
          </a:p>
        </p:txBody>
      </p:sp>
      <p:sp>
        <p:nvSpPr>
          <p:cNvPr id="51234" name="Line 34"/>
          <p:cNvSpPr>
            <a:spLocks noChangeShapeType="1"/>
          </p:cNvSpPr>
          <p:nvPr/>
        </p:nvSpPr>
        <p:spPr bwMode="auto">
          <a:xfrm flipV="1">
            <a:off x="5027613" y="5244491"/>
            <a:ext cx="2643187" cy="46037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333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63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333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586" y="-73491"/>
            <a:ext cx="4324954" cy="29436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043" y="4715960"/>
            <a:ext cx="1867161" cy="876422"/>
          </a:xfrm>
          <a:prstGeom prst="rect">
            <a:avLst/>
          </a:prstGeom>
        </p:spPr>
      </p:pic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3599656" y="1583332"/>
            <a:ext cx="14097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HIn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</a:t>
            </a:r>
          </a:p>
        </p:txBody>
      </p:sp>
      <p:sp>
        <p:nvSpPr>
          <p:cNvPr id="25" name="Line 15"/>
          <p:cNvSpPr>
            <a:spLocks noChangeShapeType="1"/>
          </p:cNvSpPr>
          <p:nvPr/>
        </p:nvSpPr>
        <p:spPr bwMode="auto">
          <a:xfrm>
            <a:off x="3456781" y="2083395"/>
            <a:ext cx="1631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5171281" y="1797645"/>
            <a:ext cx="3873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</a:t>
            </a:r>
          </a:p>
        </p:txBody>
      </p:sp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4028281" y="2083395"/>
            <a:ext cx="7715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5671343" y="1511895"/>
            <a:ext cx="77311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[In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</a:t>
            </a: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>
            <a:off x="5599906" y="2083395"/>
            <a:ext cx="9604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5528468" y="2011957"/>
            <a:ext cx="95250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[HIn]</a:t>
            </a:r>
          </a:p>
        </p:txBody>
      </p:sp>
    </p:spTree>
    <p:extLst>
      <p:ext uri="{BB962C8B-B14F-4D97-AF65-F5344CB8AC3E}">
        <p14:creationId xmlns:p14="http://schemas.microsoft.com/office/powerpoint/2010/main" val="4116769308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1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 build="p" autoUpdateAnimBg="0"/>
      <p:bldP spid="51207" grpId="0" animBg="1"/>
      <p:bldP spid="51208" grpId="0" autoUpdateAnimBg="0"/>
      <p:bldP spid="51209" grpId="0" autoUpdateAnimBg="0"/>
      <p:bldP spid="51210" grpId="0" autoUpdateAnimBg="0"/>
      <p:bldP spid="51211" grpId="0" autoUpdateAnimBg="0"/>
      <p:bldP spid="51212" grpId="0" autoUpdateAnimBg="0"/>
      <p:bldP spid="51213" grpId="0" autoUpdateAnimBg="0"/>
      <p:bldP spid="51214" grpId="0" autoUpdateAnimBg="0"/>
      <p:bldP spid="51215" grpId="0" autoUpdateAnimBg="0"/>
      <p:bldP spid="51216" grpId="0" autoUpdateAnimBg="0"/>
      <p:bldP spid="51217" grpId="0" autoUpdateAnimBg="0"/>
      <p:bldP spid="51218" grpId="0" autoUpdateAnimBg="0"/>
      <p:bldP spid="51219" grpId="0" autoUpdateAnimBg="0"/>
      <p:bldP spid="51222" grpId="0" autoUpdateAnimBg="0"/>
      <p:bldP spid="51223" grpId="0" build="p" autoUpdateAnimBg="0"/>
      <p:bldP spid="5123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740446" y="1981005"/>
            <a:ext cx="10041184" cy="27860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500" b="1" dirty="0">
                <a:ea typeface="楷体_GB2312"/>
                <a:sym typeface="Monotype Sorts" pitchFamily="2" charset="2"/>
              </a:rPr>
              <a:t>　　人眼对不同颜色敏感度不同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;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不同人员对同一颜色敏感度也不同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;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指示剂两种颜色间相互掩盖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.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  <a:sym typeface="Monotype Sorts" pitchFamily="2" charset="2"/>
              </a:rPr>
              <a:t>        </a:t>
            </a:r>
            <a:r>
              <a:rPr lang="zh-CN" altLang="en-US" sz="2500" b="1" dirty="0">
                <a:ea typeface="楷体_GB2312"/>
                <a:sym typeface="Monotype Sorts" pitchFamily="2" charset="2"/>
              </a:rPr>
              <a:t>如甲基橙</a:t>
            </a:r>
            <a:r>
              <a:rPr lang="en-US" altLang="zh-CN" sz="2500" b="1" dirty="0" err="1">
                <a:ea typeface="楷体_GB2312"/>
              </a:rPr>
              <a:t>p</a:t>
            </a:r>
            <a:r>
              <a:rPr lang="en-US" altLang="zh-CN" sz="2500" b="1" i="1" dirty="0" err="1">
                <a:ea typeface="楷体_GB2312"/>
              </a:rPr>
              <a:t>K</a:t>
            </a:r>
            <a:r>
              <a:rPr lang="en-US" altLang="zh-CN" sz="1600" b="1" baseline="100000" dirty="0" err="1">
                <a:ea typeface="楷体_GB231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/>
                <a:sym typeface="Webdings" pitchFamily="18" charset="2"/>
              </a:rPr>
              <a:t>a</a:t>
            </a:r>
            <a:r>
              <a:rPr lang="en-US" altLang="zh-CN" sz="2500" b="1" dirty="0">
                <a:ea typeface="楷体_GB2312"/>
              </a:rPr>
              <a:t>(</a:t>
            </a:r>
            <a:r>
              <a:rPr lang="en-US" altLang="zh-CN" sz="2500" b="1" dirty="0" err="1">
                <a:ea typeface="楷体_GB2312"/>
              </a:rPr>
              <a:t>HIn</a:t>
            </a:r>
            <a:r>
              <a:rPr lang="en-US" altLang="zh-CN" sz="2500" b="1" dirty="0">
                <a:ea typeface="楷体_GB2312"/>
              </a:rPr>
              <a:t>)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 = 3.4</a:t>
            </a:r>
            <a:r>
              <a:rPr lang="en-US" altLang="zh-CN" sz="2500" b="1" dirty="0">
                <a:ea typeface="楷体_GB2312"/>
              </a:rPr>
              <a:t>,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</a:rPr>
              <a:t>                            </a:t>
            </a:r>
            <a:r>
              <a:rPr lang="zh-CN" altLang="en-US" sz="2500" b="1" dirty="0">
                <a:ea typeface="楷体_GB2312"/>
              </a:rPr>
              <a:t>一般</a:t>
            </a:r>
            <a:r>
              <a:rPr lang="en-US" altLang="zh-CN" sz="2500" b="1" dirty="0">
                <a:ea typeface="楷体_GB2312"/>
              </a:rPr>
              <a:t>18℃</a:t>
            </a:r>
            <a:r>
              <a:rPr lang="zh-CN" altLang="en-US" sz="2500" b="1" dirty="0">
                <a:ea typeface="楷体_GB2312"/>
              </a:rPr>
              <a:t>时的变色域</a:t>
            </a:r>
            <a:r>
              <a:rPr lang="en-US" altLang="zh-CN" sz="2500" b="1" dirty="0">
                <a:ea typeface="楷体_GB2312"/>
              </a:rPr>
              <a:t>:pH =</a:t>
            </a:r>
            <a:r>
              <a:rPr lang="en-US" altLang="zh-CN" sz="2500" b="1" dirty="0">
                <a:solidFill>
                  <a:srgbClr val="FF33CC"/>
                </a:solidFill>
                <a:ea typeface="楷体_GB2312"/>
              </a:rPr>
              <a:t> </a:t>
            </a:r>
            <a:r>
              <a:rPr lang="en-US" altLang="zh-CN" sz="2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3.1</a:t>
            </a:r>
            <a:r>
              <a:rPr lang="en-US" altLang="zh-CN" sz="2500" b="1" dirty="0">
                <a:solidFill>
                  <a:srgbClr val="FFFF00"/>
                </a:solidFill>
                <a:ea typeface="楷体_GB2312"/>
              </a:rPr>
              <a:t> </a:t>
            </a:r>
            <a:r>
              <a:rPr lang="en-US" altLang="zh-CN" sz="2500" b="1" dirty="0">
                <a:ea typeface="楷体_GB2312"/>
              </a:rPr>
              <a:t>~</a:t>
            </a:r>
            <a:r>
              <a:rPr lang="en-US" altLang="zh-CN" sz="2500" b="1" dirty="0">
                <a:solidFill>
                  <a:srgbClr val="0000CC"/>
                </a:solidFill>
                <a:ea typeface="楷体_GB2312"/>
              </a:rPr>
              <a:t> </a:t>
            </a:r>
            <a:r>
              <a:rPr lang="en-US" altLang="zh-CN" sz="2500" b="1" dirty="0">
                <a:solidFill>
                  <a:schemeClr val="tx2"/>
                </a:solidFill>
                <a:ea typeface="楷体_GB2312"/>
              </a:rPr>
              <a:t>4.4</a:t>
            </a:r>
            <a:r>
              <a:rPr lang="en-US" altLang="zh-CN" sz="2500" b="1" dirty="0">
                <a:ea typeface="楷体_GB2312"/>
              </a:rPr>
              <a:t>.</a:t>
            </a:r>
          </a:p>
          <a:p>
            <a:pPr>
              <a:defRPr/>
            </a:pPr>
            <a:r>
              <a:rPr lang="en-US" altLang="zh-CN" sz="2500" b="1" dirty="0">
                <a:solidFill>
                  <a:srgbClr val="0000FF"/>
                </a:solidFill>
                <a:ea typeface="楷体_GB231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0000FF"/>
                </a:solidFill>
                <a:ea typeface="楷体_GB2312"/>
                <a:sym typeface="Monotype Sorts" pitchFamily="2" charset="2"/>
              </a:rPr>
              <a:t>外界因素</a:t>
            </a:r>
            <a:r>
              <a:rPr lang="en-US" altLang="zh-CN" sz="2500" b="1" dirty="0">
                <a:solidFill>
                  <a:srgbClr val="0000FF"/>
                </a:solidFill>
                <a:ea typeface="楷体_GB2312"/>
                <a:sym typeface="Monotype Sorts" pitchFamily="2" charset="2"/>
              </a:rPr>
              <a:t>.</a:t>
            </a:r>
          </a:p>
          <a:p>
            <a:pPr>
              <a:defRPr/>
            </a:pPr>
            <a:r>
              <a:rPr lang="zh-CN" altLang="en-US" sz="2500" b="1" dirty="0">
                <a:ea typeface="楷体_GB2312"/>
                <a:sym typeface="Monotype Sorts" pitchFamily="2" charset="2"/>
              </a:rPr>
              <a:t>　　温度、溶剂以及离子强度</a:t>
            </a:r>
            <a:r>
              <a:rPr lang="en-US" altLang="zh-CN" sz="2500" b="1" dirty="0">
                <a:ea typeface="楷体_GB2312"/>
                <a:sym typeface="Monotype Sorts" pitchFamily="2" charset="2"/>
              </a:rPr>
              <a:t>.</a:t>
            </a:r>
          </a:p>
          <a:p>
            <a:pPr>
              <a:defRPr/>
            </a:pPr>
            <a:r>
              <a:rPr lang="en-US" altLang="zh-CN" sz="2500" b="1" dirty="0">
                <a:ea typeface="楷体_GB2312"/>
              </a:rPr>
              <a:t>        </a:t>
            </a:r>
            <a:r>
              <a:rPr lang="zh-CN" altLang="en-US" sz="2500" b="1" dirty="0">
                <a:ea typeface="楷体_GB2312"/>
              </a:rPr>
              <a:t>如甲基橙</a:t>
            </a:r>
            <a:r>
              <a:rPr lang="en-US" altLang="zh-CN" sz="2500" b="1" dirty="0">
                <a:ea typeface="楷体_GB2312"/>
              </a:rPr>
              <a:t>,100℃:pH = 2.5 ~ 3.7.</a:t>
            </a:r>
          </a:p>
        </p:txBody>
      </p:sp>
      <p:sp>
        <p:nvSpPr>
          <p:cNvPr id="40974" name="Rectangle 14"/>
          <p:cNvSpPr>
            <a:spLocks noChangeArrowheads="1"/>
          </p:cNvSpPr>
          <p:nvPr/>
        </p:nvSpPr>
        <p:spPr bwMode="auto">
          <a:xfrm>
            <a:off x="760414" y="1417427"/>
            <a:ext cx="37909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操作者以及指示剂自身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14340" name="Rectangle 16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3.5.2</a:t>
            </a:r>
            <a:r>
              <a:rPr lang="zh-CN" altLang="en-US" smtClean="0">
                <a:ea typeface="黑体" pitchFamily="49" charset="-122"/>
              </a:rPr>
              <a:t>酸碱指示剂</a:t>
            </a:r>
            <a:endParaRPr lang="zh-CN" altLang="en-US" sz="1400" b="0" smtClean="0">
              <a:ea typeface="黑体" pitchFamily="49" charset="-122"/>
            </a:endParaRPr>
          </a:p>
        </p:txBody>
      </p:sp>
      <p:sp>
        <p:nvSpPr>
          <p:cNvPr id="1434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63"/>
            <a:ext cx="360363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559161" y="896720"/>
            <a:ext cx="4135387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(2.2)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影响变色域的主要因素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 build="p" autoUpdateAnimBg="0"/>
      <p:bldP spid="40974" grpId="0" autoUpdateAnimBg="0"/>
      <p:bldP spid="9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906463" y="950913"/>
            <a:ext cx="427831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指示剂用量</a:t>
            </a:r>
            <a:r>
              <a:rPr lang="en-US" altLang="zh-CN" sz="2500" b="1" dirty="0">
                <a:solidFill>
                  <a:schemeClr val="accent2"/>
                </a:solidFill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906463" y="1358900"/>
            <a:ext cx="10136187" cy="1246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　　对单色指示剂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如酚酞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用量过多会使</a:t>
            </a:r>
            <a:r>
              <a:rPr lang="zh-CN" altLang="en-US" sz="2500" b="1" dirty="0">
                <a:ea typeface="楷体_GB2312" pitchFamily="49" charset="-122"/>
              </a:rPr>
              <a:t>变色域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向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hlinkClick r:id="rId2" action="ppaction://hlinksldjump"/>
              </a:rPr>
              <a:t>pH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  <a:hlinkClick r:id="rId2" action="ppaction://hlinksldjump"/>
              </a:rPr>
              <a:t>低</a:t>
            </a:r>
            <a:r>
              <a:rPr lang="zh-CN" altLang="en-US" sz="2500" b="1" dirty="0">
                <a:ea typeface="楷体_GB2312" pitchFamily="49" charset="-122"/>
              </a:rPr>
              <a:t>的一方移动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r>
              <a:rPr lang="zh-CN" altLang="en-US" sz="2500" b="1" dirty="0">
                <a:ea typeface="楷体_GB2312" pitchFamily="49" charset="-122"/>
              </a:rPr>
              <a:t>　　另外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用量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——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变色敏锐度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特别是双色指示剂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;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指示剂本身是有机弱酸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(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碱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).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804068" y="2738783"/>
            <a:ext cx="2724721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混合指示剂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974723" y="3265073"/>
            <a:ext cx="6626225" cy="16319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  </a:t>
            </a:r>
            <a:r>
              <a:rPr lang="zh-CN" altLang="en-US" sz="2500" b="1" dirty="0">
                <a:ea typeface="楷体_GB2312" pitchFamily="49" charset="-122"/>
              </a:rPr>
              <a:t>在较窄区间指示酸度变化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原理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r>
              <a:rPr lang="zh-CN" altLang="en-US" sz="2500" b="1" dirty="0" smtClean="0">
                <a:ea typeface="楷体_GB2312" pitchFamily="49" charset="-122"/>
              </a:rPr>
              <a:t>利用颜色的互补提高变色的敏锐性</a:t>
            </a:r>
            <a:r>
              <a:rPr lang="en-US" altLang="zh-CN" sz="2500" b="1" dirty="0" smtClean="0">
                <a:ea typeface="楷体_GB2312" pitchFamily="49" charset="-122"/>
              </a:rPr>
              <a:t>.</a:t>
            </a:r>
          </a:p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分类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r>
              <a:rPr lang="en-US" altLang="zh-CN" sz="2500" b="1" dirty="0">
                <a:solidFill>
                  <a:schemeClr val="accent2"/>
                </a:solidFill>
                <a:ea typeface="楷体_GB2312" pitchFamily="49" charset="-122"/>
                <a:sym typeface="Monotype Sorts" pitchFamily="2" charset="2"/>
              </a:rPr>
              <a:t>       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两种或两种以上指示剂按一定比例混合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.</a:t>
            </a:r>
            <a:endParaRPr lang="zh-CN" altLang="en-US" sz="2500" b="1" dirty="0">
              <a:solidFill>
                <a:srgbClr val="FF0000"/>
              </a:solidFill>
              <a:ea typeface="楷体_GB2312" pitchFamily="49" charset="-122"/>
              <a:sym typeface="Monotype Sorts" pitchFamily="2" charset="2"/>
            </a:endParaRPr>
          </a:p>
        </p:txBody>
      </p:sp>
      <p:sp>
        <p:nvSpPr>
          <p:cNvPr id="15366" name="Rectangle 17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3.5.2</a:t>
            </a:r>
            <a:r>
              <a:rPr lang="zh-CN" altLang="en-US" smtClean="0">
                <a:ea typeface="黑体" pitchFamily="49" charset="-122"/>
              </a:rPr>
              <a:t>酸碱指示剂</a:t>
            </a:r>
            <a:endParaRPr lang="zh-CN" altLang="en-US" sz="1400" b="0" smtClean="0">
              <a:ea typeface="黑体" pitchFamily="49" charset="-122"/>
            </a:endParaRPr>
          </a:p>
        </p:txBody>
      </p:sp>
      <p:sp>
        <p:nvSpPr>
          <p:cNvPr id="1536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668963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1512565" y="4833835"/>
            <a:ext cx="8070850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某种指示剂与一种惰性染料按一定比例混合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.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变色过程中惰性染料不发生颜色改变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只起衬托作用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9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9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 autoUpdateAnimBg="0"/>
      <p:bldP spid="41991" grpId="0" build="p" autoUpdateAnimBg="0"/>
      <p:bldP spid="41998" grpId="0" autoUpdateAnimBg="0"/>
      <p:bldP spid="41999" grpId="0" build="p" autoUpdateAnimBg="0"/>
      <p:bldP spid="9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848" y="1093993"/>
            <a:ext cx="6696744" cy="219537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52699" y="161982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甲基红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20929" y="211714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溴甲酚绿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59380" y="4143480"/>
            <a:ext cx="2117887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甲基红</a:t>
            </a:r>
          </a:p>
          <a:p>
            <a:r>
              <a:rPr lang="zh-CN" altLang="en-US" sz="2500" b="1" dirty="0" smtClean="0">
                <a:ea typeface="楷体_GB2312" pitchFamily="49" charset="-122"/>
                <a:sym typeface="Monotype Sorts" pitchFamily="2" charset="2"/>
              </a:rPr>
              <a:t>溴甲酚绿</a:t>
            </a:r>
            <a:endParaRPr lang="zh-CN" altLang="en-US" sz="2500" b="1" dirty="0">
              <a:ea typeface="楷体_GB2312" pitchFamily="49" charset="-122"/>
              <a:sym typeface="Monotype Sorts" pitchFamily="2" charset="2"/>
            </a:endParaRPr>
          </a:p>
          <a:p>
            <a:r>
              <a:rPr lang="zh-CN" altLang="en-US" sz="2500" b="1" dirty="0" smtClean="0">
                <a:ea typeface="楷体_GB2312" pitchFamily="49" charset="-122"/>
                <a:sym typeface="Monotype Sorts" pitchFamily="2" charset="2"/>
              </a:rPr>
              <a:t>一定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比例混合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761703" y="3605882"/>
            <a:ext cx="15875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p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>
                <a:ea typeface="楷体_GB2312" pitchFamily="49" charset="-122"/>
              </a:rPr>
              <a:t>(HIn)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52253" y="4013869"/>
            <a:ext cx="585788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4.9</a:t>
            </a:r>
          </a:p>
          <a:p>
            <a:r>
              <a:rPr lang="en-US" altLang="zh-CN" sz="2500" b="1">
                <a:ea typeface="楷体_GB2312" pitchFamily="49" charset="-122"/>
              </a:rPr>
              <a:t>5.2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076278" y="3605882"/>
            <a:ext cx="11461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酸式色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752678" y="3605882"/>
            <a:ext cx="11461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中间色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567191" y="3605882"/>
            <a:ext cx="114617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碱式色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423742" y="4421856"/>
            <a:ext cx="504825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黄</a:t>
            </a:r>
            <a:endParaRPr lang="zh-CN" altLang="en-US" sz="25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8021216" y="4520114"/>
            <a:ext cx="504825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33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蓝</a:t>
            </a:r>
            <a:endParaRPr lang="zh-CN" altLang="en-US" sz="2500" b="1" dirty="0">
              <a:solidFill>
                <a:srgbClr val="0066FF"/>
              </a:solidFill>
              <a:ea typeface="楷体_GB2312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4426089" y="4089116"/>
            <a:ext cx="50482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红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178822" y="4425945"/>
            <a:ext cx="504825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绿</a:t>
            </a:r>
            <a:endParaRPr lang="zh-CN" altLang="en-US" sz="2500" b="1" dirty="0">
              <a:solidFill>
                <a:srgbClr val="009900"/>
              </a:solidFill>
              <a:ea typeface="楷体_GB2312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8021216" y="4089116"/>
            <a:ext cx="50482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黄</a:t>
            </a:r>
            <a:endParaRPr lang="zh-CN" altLang="en-US" sz="2500" b="1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6140609" y="4042277"/>
            <a:ext cx="50482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橙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4438228" y="4829844"/>
            <a:ext cx="504825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橙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8021216" y="4829844"/>
            <a:ext cx="504825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>
                <a:solidFill>
                  <a:srgbClr val="00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绿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6160666" y="4850482"/>
            <a:ext cx="1120775" cy="4778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7979A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</a:rPr>
              <a:t>灰</a:t>
            </a:r>
            <a:r>
              <a:rPr lang="en-US" altLang="zh-CN" sz="2500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/>
              </a:rPr>
              <a:t>(5.1)</a:t>
            </a:r>
            <a:endParaRPr lang="en-US" altLang="zh-CN" sz="2500" b="1" dirty="0">
              <a:ea typeface="楷体_GB231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83647" y="2663811"/>
            <a:ext cx="157510" cy="6051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29260" y="2677764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a typeface="楷体_GB2312"/>
              </a:rPr>
              <a:t>甲基红</a:t>
            </a:r>
            <a:r>
              <a:rPr lang="en-US" altLang="zh-CN" sz="2400" b="1" dirty="0">
                <a:ea typeface="楷体_GB2312"/>
              </a:rPr>
              <a:t>—</a:t>
            </a:r>
            <a:r>
              <a:rPr lang="zh-CN" altLang="en-US" sz="2400" b="1" dirty="0">
                <a:ea typeface="楷体_GB2312"/>
              </a:rPr>
              <a:t>溴甲酚绿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06697" y="954165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pH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25799" y="3249437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/>
              </a:rPr>
              <a:t>5.1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362984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7" name="Rectangle 29"/>
          <p:cNvSpPr>
            <a:spLocks noChangeArrowheads="1"/>
          </p:cNvSpPr>
          <p:nvPr/>
        </p:nvSpPr>
        <p:spPr bwMode="auto">
          <a:xfrm>
            <a:off x="974725" y="1726778"/>
            <a:ext cx="9366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分类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32798" name="Rectangle 30"/>
          <p:cNvSpPr>
            <a:spLocks noChangeArrowheads="1"/>
          </p:cNvSpPr>
          <p:nvPr/>
        </p:nvSpPr>
        <p:spPr bwMode="auto">
          <a:xfrm>
            <a:off x="504453" y="1015046"/>
            <a:ext cx="26463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(4) pH-test paper:</a:t>
            </a:r>
          </a:p>
        </p:txBody>
      </p:sp>
      <p:sp>
        <p:nvSpPr>
          <p:cNvPr id="32799" name="Rectangle 31"/>
          <p:cNvSpPr>
            <a:spLocks noChangeArrowheads="1"/>
          </p:cNvSpPr>
          <p:nvPr/>
        </p:nvSpPr>
        <p:spPr bwMode="auto">
          <a:xfrm>
            <a:off x="2046288" y="1655341"/>
            <a:ext cx="1336675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广泛</a:t>
            </a:r>
            <a:r>
              <a:rPr lang="en-US" altLang="zh-CN" sz="2500" b="1" dirty="0">
                <a:ea typeface="楷体_GB2312" pitchFamily="49" charset="-122"/>
              </a:rPr>
              <a:t>; </a:t>
            </a:r>
          </a:p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精密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32800" name="AutoShape 32"/>
          <p:cNvSpPr>
            <a:spLocks/>
          </p:cNvSpPr>
          <p:nvPr/>
        </p:nvSpPr>
        <p:spPr bwMode="auto">
          <a:xfrm>
            <a:off x="1903413" y="1726778"/>
            <a:ext cx="95250" cy="576263"/>
          </a:xfrm>
          <a:prstGeom prst="leftBrace">
            <a:avLst>
              <a:gd name="adj1" fmla="val 67222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32801" name="Rectangle 33"/>
          <p:cNvSpPr>
            <a:spLocks noChangeArrowheads="1"/>
          </p:cNvSpPr>
          <p:nvPr/>
        </p:nvSpPr>
        <p:spPr bwMode="auto">
          <a:xfrm>
            <a:off x="3903663" y="1583903"/>
            <a:ext cx="6532562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由甲基红、溴百里酚蓝、百里酚蓝以及酚酞等按一定比例混合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溶于乙醇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浸泡滤纸制成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32802" name="AutoShape 34"/>
          <p:cNvSpPr>
            <a:spLocks/>
          </p:cNvSpPr>
          <p:nvPr/>
        </p:nvSpPr>
        <p:spPr bwMode="auto">
          <a:xfrm>
            <a:off x="3760788" y="1655341"/>
            <a:ext cx="142875" cy="795337"/>
          </a:xfrm>
          <a:prstGeom prst="leftBrace">
            <a:avLst>
              <a:gd name="adj1" fmla="val 6667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6409" name="Rectangle 38"/>
          <p:cNvSpPr>
            <a:spLocks noGrp="1" noChangeArrowheads="1"/>
          </p:cNvSpPr>
          <p:nvPr>
            <p:ph type="title"/>
          </p:nvPr>
        </p:nvSpPr>
        <p:spPr>
          <a:xfrm>
            <a:off x="185514" y="232126"/>
            <a:ext cx="2743200" cy="477837"/>
          </a:xfrm>
        </p:spPr>
        <p:txBody>
          <a:bodyPr/>
          <a:lstStyle/>
          <a:p>
            <a:r>
              <a:rPr lang="en-US" altLang="zh-CN" sz="2500" smtClean="0">
                <a:ea typeface="楷体_GB2312" pitchFamily="49" charset="-122"/>
              </a:rPr>
              <a:t>3.5.2</a:t>
            </a:r>
            <a:r>
              <a:rPr lang="zh-CN" altLang="en-US" sz="2500" smtClean="0">
                <a:ea typeface="楷体_GB2312" pitchFamily="49" charset="-122"/>
              </a:rPr>
              <a:t>酸碱指示剂</a:t>
            </a:r>
          </a:p>
        </p:txBody>
      </p:sp>
      <p:sp>
        <p:nvSpPr>
          <p:cNvPr id="1641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7" grpId="0" autoUpdateAnimBg="0"/>
      <p:bldP spid="32798" grpId="0" autoUpdateAnimBg="0"/>
      <p:bldP spid="32799" grpId="0" build="p" autoUpdateAnimBg="0"/>
      <p:bldP spid="32800" grpId="0" animBg="1"/>
      <p:bldP spid="32801" grpId="0" autoUpdateAnimBg="0"/>
      <p:bldP spid="3280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23b5de4b6e82ca91f9cb8671cf05c7786887f2c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4439</TotalTime>
  <Pages>0</Pages>
  <Words>1320</Words>
  <Characters>0</Characters>
  <Application>Microsoft Office PowerPoint</Application>
  <DocSecurity>0</DocSecurity>
  <PresentationFormat>自定义</PresentationFormat>
  <Lines>0</Lines>
  <Paragraphs>221</Paragraphs>
  <Slides>19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Monotype Sorts</vt:lpstr>
      <vt:lpstr>黑体</vt:lpstr>
      <vt:lpstr>楷体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ChemWindow.Document</vt:lpstr>
      <vt:lpstr>公式</vt:lpstr>
      <vt:lpstr>BMP 图象</vt:lpstr>
      <vt:lpstr>PowerPoint 演示文稿</vt:lpstr>
      <vt:lpstr>3.5溶液酸度的控制与测试</vt:lpstr>
      <vt:lpstr>PowerPoint 演示文稿</vt:lpstr>
      <vt:lpstr>3.5.1酸碱缓冲溶液</vt:lpstr>
      <vt:lpstr>PowerPoint 演示文稿</vt:lpstr>
      <vt:lpstr>PowerPoint 演示文稿</vt:lpstr>
      <vt:lpstr>3.5.1酸碱缓冲溶液</vt:lpstr>
      <vt:lpstr>PowerPoint 演示文稿</vt:lpstr>
      <vt:lpstr>PowerPoint 演示文稿</vt:lpstr>
      <vt:lpstr>3.5.1酸碱缓冲溶液</vt:lpstr>
      <vt:lpstr>3.5.1酸碱缓冲溶液</vt:lpstr>
      <vt:lpstr>3.5.1酸碱缓冲溶液</vt:lpstr>
      <vt:lpstr>3.5.2酸碱指示剂</vt:lpstr>
      <vt:lpstr>3.5.2酸碱指示剂</vt:lpstr>
      <vt:lpstr>3.5.2酸碱指示剂</vt:lpstr>
      <vt:lpstr>3.5.2酸碱指示剂</vt:lpstr>
      <vt:lpstr>3.5.2酸碱指示剂</vt:lpstr>
      <vt:lpstr>PowerPoint 演示文稿</vt:lpstr>
      <vt:lpstr>3.5.2酸碱指示剂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ch03-05</dc:title>
  <dc:creator>江南大学</dc:creator>
  <cp:lastModifiedBy>USER</cp:lastModifiedBy>
  <cp:revision>376</cp:revision>
  <cp:lastPrinted>1601-01-01T00:00:00Z</cp:lastPrinted>
  <dcterms:created xsi:type="dcterms:W3CDTF">2012-06-20T03:37:37Z</dcterms:created>
  <dcterms:modified xsi:type="dcterms:W3CDTF">2021-10-11T14:21:12Z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