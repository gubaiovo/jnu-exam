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0"/>
  </p:notesMasterIdLst>
  <p:sldIdLst>
    <p:sldId id="275" r:id="rId2"/>
    <p:sldId id="288" r:id="rId3"/>
    <p:sldId id="289" r:id="rId4"/>
    <p:sldId id="290" r:id="rId5"/>
    <p:sldId id="276" r:id="rId6"/>
    <p:sldId id="291" r:id="rId7"/>
    <p:sldId id="277" r:id="rId8"/>
    <p:sldId id="292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gb2312"/>
  <p:clrMru>
    <a:srgbClr val="FFFFFF"/>
    <a:srgbClr val="FFFF00"/>
    <a:srgbClr val="F8F8F8"/>
    <a:srgbClr val="66CCFF"/>
    <a:srgbClr val="85D9F7"/>
    <a:srgbClr val="57BBFF"/>
    <a:srgbClr val="000000"/>
    <a:srgbClr val="0000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158" autoAdjust="0"/>
    <p:restoredTop sz="94620" autoAdjust="0"/>
  </p:normalViewPr>
  <p:slideViewPr>
    <p:cSldViewPr>
      <p:cViewPr varScale="1">
        <p:scale>
          <a:sx n="68" d="100"/>
          <a:sy n="68" d="100"/>
        </p:scale>
        <p:origin x="-828" y="-102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E6B699B1-2DE6-43A2-8A3A-573E69D5740B}" type="datetimeFigureOut">
              <a:rPr lang="zh-CN" altLang="en-US"/>
              <a:pPr>
                <a:defRPr/>
              </a:pPr>
              <a:t>2017/8/24</a:t>
            </a:fld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67E6E92B-47EE-4352-8DE1-2A2B0C2E12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12"/>
          <p:cNvGrpSpPr>
            <a:grpSpLocks/>
          </p:cNvGrpSpPr>
          <p:nvPr userDrawn="1"/>
        </p:nvGrpSpPr>
        <p:grpSpPr bwMode="auto">
          <a:xfrm>
            <a:off x="0" y="0"/>
            <a:ext cx="11522075" cy="6513513"/>
            <a:chOff x="0" y="0"/>
            <a:chExt cx="7258" cy="4103"/>
          </a:xfrm>
        </p:grpSpPr>
        <p:grpSp>
          <p:nvGrpSpPr>
            <p:cNvPr id="1027" name="Group 100"/>
            <p:cNvGrpSpPr>
              <a:grpSpLocks/>
            </p:cNvGrpSpPr>
            <p:nvPr userDrawn="1"/>
          </p:nvGrpSpPr>
          <p:grpSpPr bwMode="auto">
            <a:xfrm>
              <a:off x="0" y="0"/>
              <a:ext cx="3627" cy="4103"/>
              <a:chOff x="204" y="45"/>
              <a:chExt cx="6325" cy="3401"/>
            </a:xfrm>
          </p:grpSpPr>
          <p:pic>
            <p:nvPicPr>
              <p:cNvPr id="1031" name="Picture 60" descr="图片2"/>
              <p:cNvPicPr>
                <a:picLocks noChangeArrowheads="1"/>
              </p:cNvPicPr>
              <p:nvPr userDrawn="1"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91" y="181"/>
                <a:ext cx="5962" cy="3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32" name="Picture 67" descr="01"/>
              <p:cNvPicPr>
                <a:picLocks noChangeArrowheads="1"/>
              </p:cNvPicPr>
              <p:nvPr userDrawn="1"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04" y="45"/>
                <a:ext cx="6325" cy="3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028" name="Group 103"/>
            <p:cNvGrpSpPr>
              <a:grpSpLocks/>
            </p:cNvGrpSpPr>
            <p:nvPr userDrawn="1"/>
          </p:nvGrpSpPr>
          <p:grpSpPr bwMode="auto">
            <a:xfrm>
              <a:off x="3631" y="0"/>
              <a:ext cx="3627" cy="4103"/>
              <a:chOff x="204" y="45"/>
              <a:chExt cx="6325" cy="3401"/>
            </a:xfrm>
          </p:grpSpPr>
          <p:pic>
            <p:nvPicPr>
              <p:cNvPr id="1029" name="Picture 60" descr="图片2"/>
              <p:cNvPicPr>
                <a:picLocks noChangeArrowheads="1"/>
              </p:cNvPicPr>
              <p:nvPr userDrawn="1"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91" y="181"/>
                <a:ext cx="5962" cy="3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30" name="Picture 67" descr="01"/>
              <p:cNvPicPr>
                <a:picLocks noChangeArrowheads="1"/>
              </p:cNvPicPr>
              <p:nvPr userDrawn="1"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04" y="45"/>
                <a:ext cx="6325" cy="3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>
    <p:split orient="vert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audio" Target="../media/audio3.wav"/><Relationship Id="rId5" Type="http://schemas.openxmlformats.org/officeDocument/2006/relationships/audio" Target="../media/audio2.wav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84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命名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下列配合物，并指出中心离子、配体、配位原子和配位数。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2052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60363" y="1168385"/>
          <a:ext cx="5040312" cy="329247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096418"/>
                <a:gridCol w="360040"/>
                <a:gridCol w="360040"/>
                <a:gridCol w="432048"/>
                <a:gridCol w="432048"/>
                <a:gridCol w="359718"/>
              </a:tblGrid>
              <a:tr h="14633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配合物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   </a:t>
                      </a: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称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中心离子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   </a:t>
                      </a: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体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配位原子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位数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Cu[SiF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6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K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[Cr(CN)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6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baseline="300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[Zn(OH)(H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O)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]NO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[CoCl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(NH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(H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O)]Cl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[Cu(NH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4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][PtCl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4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121400" y="831850"/>
            <a:ext cx="38274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FF3300"/>
                </a:solidFill>
                <a:latin typeface="+mj-lt"/>
                <a:ea typeface="华文新魏" pitchFamily="2" charset="-122"/>
              </a:rPr>
              <a:t>1.nomenclature of complex:</a:t>
            </a:r>
            <a:endParaRPr lang="en-US" altLang="zh-CN" sz="2400" b="1" dirty="0" smtClean="0">
              <a:solidFill>
                <a:srgbClr val="FF0000"/>
              </a:solidFill>
              <a:latin typeface="+mj-lt"/>
              <a:ea typeface="华文新魏" pitchFamily="2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6229350" y="1257300"/>
            <a:ext cx="7859713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①</a:t>
            </a:r>
            <a:r>
              <a:rPr lang="zh-CN" altLang="en-US" sz="2400" b="1" dirty="0">
                <a:solidFill>
                  <a:srgbClr val="00B0F0"/>
                </a:solidFill>
                <a:latin typeface="华文新魏" pitchFamily="2" charset="-122"/>
                <a:ea typeface="华文新魏" pitchFamily="2" charset="-122"/>
              </a:rPr>
              <a:t>配离子化合物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: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阴离子在前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,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阳离子在后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②</a:t>
            </a:r>
            <a:r>
              <a:rPr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配阳离子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: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“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某化某”或“某酸某”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③</a:t>
            </a:r>
            <a:r>
              <a:rPr lang="zh-CN" altLang="en-US" sz="2400" b="1" dirty="0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配阴离子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: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配阴离子与外界阳离子间用</a:t>
            </a:r>
            <a:endParaRPr lang="en-US" altLang="zh-CN" sz="2400" b="1" dirty="0">
              <a:latin typeface="华文新魏" pitchFamily="2" charset="-122"/>
              <a:ea typeface="华文新魏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b="1" dirty="0">
                <a:latin typeface="华文新魏" pitchFamily="2" charset="-122"/>
                <a:ea typeface="华文新魏" pitchFamily="2" charset="-122"/>
              </a:rPr>
              <a:t>“酸”字相连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.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9" grpId="0" autoUpdateAnimBg="0"/>
      <p:bldP spid="10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endParaRPr lang="en-US" altLang="zh-CN" sz="2500" b="1" dirty="0" smtClean="0">
              <a:solidFill>
                <a:srgbClr val="FFFF00"/>
              </a:solidFill>
              <a:ea typeface="华文新魏" pitchFamily="2" charset="-122"/>
            </a:endParaRPr>
          </a:p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命名下列配合物，并指出中心离子、配体、配位原子和配位数。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3076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60363" y="1800225"/>
          <a:ext cx="5040312" cy="329247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096418"/>
                <a:gridCol w="360040"/>
                <a:gridCol w="360040"/>
                <a:gridCol w="432048"/>
                <a:gridCol w="432048"/>
                <a:gridCol w="359718"/>
              </a:tblGrid>
              <a:tr h="14633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配合物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   </a:t>
                      </a: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称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中心离子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   </a:t>
                      </a: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体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配位原子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位数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Cu[SiF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6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K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[Cr(CN)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6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baseline="300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[Zn(OH)(H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O)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]NO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[CoCl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(NH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(H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O)]Cl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[Cu(NH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4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][PtCl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4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6073775" y="1212850"/>
            <a:ext cx="8043863" cy="293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j-lt"/>
                <a:ea typeface="华文新魏" pitchFamily="2" charset="-122"/>
              </a:rPr>
              <a:t>①</a:t>
            </a:r>
            <a:r>
              <a:rPr lang="zh-CN" altLang="en-US" sz="2400" b="1" dirty="0" smtClean="0">
                <a:solidFill>
                  <a:srgbClr val="FF0000"/>
                </a:solidFill>
                <a:latin typeface="+mj-lt"/>
                <a:ea typeface="华文新魏" pitchFamily="2" charset="-122"/>
              </a:rPr>
              <a:t>配体名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列在中心离子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(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或原子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)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前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;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j-lt"/>
                <a:ea typeface="华文新魏" pitchFamily="2" charset="-122"/>
              </a:rPr>
              <a:t>②</a:t>
            </a:r>
            <a:r>
              <a:rPr lang="zh-CN" altLang="en-US" sz="2400" b="1" dirty="0" smtClean="0">
                <a:solidFill>
                  <a:srgbClr val="FF0000"/>
                </a:solidFill>
                <a:latin typeface="+mj-lt"/>
                <a:ea typeface="华文新魏" pitchFamily="2" charset="-122"/>
              </a:rPr>
              <a:t>配体数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用倍数词头二、三、四等</a:t>
            </a:r>
            <a:endParaRPr lang="en-US" altLang="zh-CN" sz="2400" b="1" dirty="0" smtClean="0">
              <a:latin typeface="+mj-lt"/>
              <a:ea typeface="华文新魏" pitchFamily="2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 smtClean="0">
                <a:latin typeface="+mj-lt"/>
                <a:ea typeface="华文新魏" pitchFamily="2" charset="-122"/>
              </a:rPr>
              <a:t>                表示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(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配体数为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1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省略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);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j-lt"/>
                <a:ea typeface="华文新魏" pitchFamily="2" charset="-122"/>
              </a:rPr>
              <a:t>③</a:t>
            </a:r>
            <a:r>
              <a:rPr lang="zh-CN" altLang="en-US" sz="2400" b="1" dirty="0" smtClean="0">
                <a:solidFill>
                  <a:srgbClr val="FF0000"/>
                </a:solidFill>
                <a:latin typeface="+mj-lt"/>
                <a:ea typeface="华文新魏" pitchFamily="2" charset="-122"/>
              </a:rPr>
              <a:t>不同配体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间以“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•”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分开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;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j-lt"/>
                <a:ea typeface="华文新魏" pitchFamily="2" charset="-122"/>
              </a:rPr>
              <a:t>④</a:t>
            </a:r>
            <a:r>
              <a:rPr lang="zh-CN" altLang="en-US" sz="2400" b="1" dirty="0" smtClean="0">
                <a:solidFill>
                  <a:srgbClr val="FF0000"/>
                </a:solidFill>
                <a:latin typeface="+mj-lt"/>
                <a:ea typeface="华文新魏" pitchFamily="2" charset="-122"/>
              </a:rPr>
              <a:t>最后一个配体名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后缀以“合”字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;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j-lt"/>
                <a:ea typeface="华文新魏" pitchFamily="2" charset="-122"/>
              </a:rPr>
              <a:t>⑤</a:t>
            </a:r>
            <a:r>
              <a:rPr lang="zh-CN" altLang="en-US" sz="2400" b="1" dirty="0" smtClean="0">
                <a:solidFill>
                  <a:srgbClr val="FF0000"/>
                </a:solidFill>
                <a:latin typeface="+mj-lt"/>
                <a:ea typeface="华文新魏" pitchFamily="2" charset="-122"/>
              </a:rPr>
              <a:t>形成体氧化值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用带括号罗马数字表</a:t>
            </a:r>
            <a:endParaRPr lang="en-US" altLang="zh-CN" sz="2400" b="1" dirty="0" smtClean="0">
              <a:latin typeface="+mj-lt"/>
              <a:ea typeface="华文新魏" pitchFamily="2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j-lt"/>
                <a:ea typeface="华文新魏" pitchFamily="2" charset="-122"/>
              </a:rPr>
              <a:t>                 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示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(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氧化值为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0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省略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).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965825" y="776288"/>
            <a:ext cx="35544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FF3300"/>
                </a:solidFill>
                <a:latin typeface="+mj-lt"/>
                <a:ea typeface="华文新魏" pitchFamily="2" charset="-122"/>
              </a:rPr>
              <a:t>2.nomenclature of ligand: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1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93437"/>
            <a:ext cx="5329238" cy="84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命名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下列配合物，并指出中心离子、配体、配位原子和配位数。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4100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60363" y="1382699"/>
          <a:ext cx="5040312" cy="329247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096418"/>
                <a:gridCol w="360040"/>
                <a:gridCol w="360040"/>
                <a:gridCol w="432048"/>
                <a:gridCol w="432048"/>
                <a:gridCol w="359718"/>
              </a:tblGrid>
              <a:tr h="14633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配合物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   </a:t>
                      </a: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称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中心离子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   </a:t>
                      </a: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体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配位原子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位数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Cu[SiF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6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K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[Cr(CN)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6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baseline="300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[Zn(OH)(H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O)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]NO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[CoCl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(NH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(H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O)]Cl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[Cu(NH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4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][PtCl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4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976938" y="830263"/>
            <a:ext cx="4673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kumimoji="1" lang="zh-CN" altLang="en-US" sz="2400" b="1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多个配体的次序</a:t>
            </a:r>
            <a:r>
              <a:rPr kumimoji="1" lang="en-US" altLang="zh-CN" sz="2400" b="1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(</a:t>
            </a:r>
            <a:r>
              <a:rPr kumimoji="1" lang="zh-CN" altLang="en-US" sz="2400" b="1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正着写正着念</a:t>
            </a:r>
            <a:r>
              <a:rPr kumimoji="1" lang="en-US" altLang="zh-CN" sz="2400" b="1" dirty="0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</a:rPr>
              <a:t>):</a:t>
            </a:r>
            <a:endParaRPr kumimoji="1" lang="en-US" altLang="zh-CN" sz="2400" dirty="0">
              <a:solidFill>
                <a:srgbClr val="0070C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5976938" y="1344613"/>
            <a:ext cx="5256212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 dirty="0"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①</a:t>
            </a:r>
            <a:r>
              <a:rPr kumimoji="1" lang="zh-CN" altLang="en-US" sz="2400" b="1" dirty="0">
                <a:latin typeface="华文新魏" pitchFamily="2" charset="-122"/>
                <a:ea typeface="华文新魏" pitchFamily="2" charset="-122"/>
              </a:rPr>
              <a:t>含</a:t>
            </a: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多种配体</a:t>
            </a:r>
            <a:r>
              <a:rPr kumimoji="1" lang="en-US" altLang="zh-CN" sz="24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:</a:t>
            </a:r>
          </a:p>
          <a:p>
            <a:pPr eaLnBrk="0" hangingPunct="0">
              <a:defRPr/>
            </a:pPr>
            <a:r>
              <a:rPr kumimoji="1" lang="zh-CN" altLang="en-US" sz="2400" b="1" dirty="0">
                <a:latin typeface="华文新魏" pitchFamily="2" charset="-122"/>
                <a:ea typeface="华文新魏" pitchFamily="2" charset="-122"/>
              </a:rPr>
              <a:t>先阴离子后中性分子</a:t>
            </a:r>
            <a:r>
              <a:rPr kumimoji="1" lang="en-US" altLang="zh-CN" sz="2400" b="1" dirty="0">
                <a:latin typeface="华文新魏" pitchFamily="2" charset="-122"/>
                <a:ea typeface="华文新魏" pitchFamily="2" charset="-122"/>
              </a:rPr>
              <a:t>;</a:t>
            </a:r>
          </a:p>
          <a:p>
            <a:pPr eaLnBrk="0" hangingPunct="0">
              <a:defRPr/>
            </a:pPr>
            <a:r>
              <a:rPr kumimoji="1" lang="zh-CN" altLang="en-US" sz="2400" b="1" dirty="0">
                <a:latin typeface="华文新魏" pitchFamily="2" charset="-122"/>
                <a:ea typeface="华文新魏" pitchFamily="2" charset="-122"/>
              </a:rPr>
              <a:t>先无机后有机</a:t>
            </a:r>
            <a:r>
              <a:rPr kumimoji="1" lang="en-US" altLang="zh-CN" sz="2400" b="1" dirty="0">
                <a:latin typeface="华文新魏" pitchFamily="2" charset="-122"/>
                <a:ea typeface="华文新魏" pitchFamily="2" charset="-122"/>
              </a:rPr>
              <a:t>,</a:t>
            </a:r>
            <a:r>
              <a:rPr kumimoji="1" lang="zh-CN" altLang="en-US" sz="2400" b="1" dirty="0">
                <a:latin typeface="华文新魏" pitchFamily="2" charset="-122"/>
                <a:ea typeface="华文新魏" pitchFamily="2" charset="-122"/>
              </a:rPr>
              <a:t>先简单后复杂</a:t>
            </a:r>
            <a:r>
              <a:rPr kumimoji="1" lang="en-US" altLang="zh-CN" sz="2400" b="1" dirty="0">
                <a:latin typeface="华文新魏" pitchFamily="2" charset="-122"/>
                <a:ea typeface="华文新魏" pitchFamily="2" charset="-122"/>
              </a:rPr>
              <a:t>;</a:t>
            </a:r>
          </a:p>
          <a:p>
            <a:pPr eaLnBrk="0" hangingPunct="0">
              <a:defRPr/>
            </a:pPr>
            <a:r>
              <a:rPr kumimoji="1" lang="en-US" altLang="zh-CN" sz="2400" b="1" dirty="0"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②</a:t>
            </a: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同类配体</a:t>
            </a:r>
            <a:r>
              <a:rPr kumimoji="1" lang="en-US" altLang="zh-CN" sz="24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:</a:t>
            </a:r>
          </a:p>
          <a:p>
            <a:pPr eaLnBrk="0" hangingPunct="0">
              <a:defRPr/>
            </a:pPr>
            <a:r>
              <a:rPr kumimoji="1" lang="zh-CN" altLang="en-US" sz="2400" b="1" dirty="0">
                <a:latin typeface="华文新魏" pitchFamily="2" charset="-122"/>
                <a:ea typeface="华文新魏" pitchFamily="2" charset="-122"/>
              </a:rPr>
              <a:t>按配位原子元素符号的英文字母顺序</a:t>
            </a:r>
            <a:r>
              <a:rPr kumimoji="1" lang="en-US" altLang="zh-CN" sz="2400" b="1" dirty="0">
                <a:latin typeface="华文新魏" pitchFamily="2" charset="-122"/>
                <a:ea typeface="华文新魏" pitchFamily="2" charset="-122"/>
              </a:rPr>
              <a:t>.</a:t>
            </a:r>
          </a:p>
          <a:p>
            <a:pPr eaLnBrk="0" hangingPunct="0">
              <a:defRPr/>
            </a:pPr>
            <a:r>
              <a:rPr kumimoji="1" lang="zh-CN" altLang="en-US" sz="2400" b="1" dirty="0">
                <a:ea typeface="华文新魏" pitchFamily="2" charset="-122"/>
              </a:rPr>
              <a:t>       如含两个中性分子配体</a:t>
            </a:r>
            <a:r>
              <a:rPr kumimoji="1" lang="en-US" altLang="zh-CN" sz="2400" b="1" dirty="0">
                <a:ea typeface="华文新魏" pitchFamily="2" charset="-122"/>
              </a:rPr>
              <a:t>NH</a:t>
            </a:r>
            <a:r>
              <a:rPr kumimoji="1" lang="en-US" altLang="zh-CN" sz="2400" b="1" baseline="-25000" dirty="0">
                <a:ea typeface="华文新魏" pitchFamily="2" charset="-122"/>
              </a:rPr>
              <a:t>3</a:t>
            </a:r>
            <a:r>
              <a:rPr kumimoji="1" lang="zh-CN" altLang="en-US" sz="2400" b="1" dirty="0">
                <a:ea typeface="华文新魏" pitchFamily="2" charset="-122"/>
              </a:rPr>
              <a:t>和</a:t>
            </a:r>
            <a:r>
              <a:rPr kumimoji="1" lang="en-US" altLang="zh-CN" sz="2400" b="1" dirty="0">
                <a:ea typeface="华文新魏" pitchFamily="2" charset="-122"/>
              </a:rPr>
              <a:t>H</a:t>
            </a:r>
            <a:r>
              <a:rPr kumimoji="1" lang="en-US" altLang="zh-CN" sz="2400" b="1" baseline="-25000" dirty="0">
                <a:ea typeface="华文新魏" pitchFamily="2" charset="-122"/>
              </a:rPr>
              <a:t>2</a:t>
            </a:r>
            <a:r>
              <a:rPr kumimoji="1" lang="en-US" altLang="zh-CN" sz="2400" b="1" dirty="0">
                <a:ea typeface="华文新魏" pitchFamily="2" charset="-122"/>
              </a:rPr>
              <a:t>O,</a:t>
            </a:r>
            <a:r>
              <a:rPr kumimoji="1" lang="zh-CN" altLang="en-US" sz="2400" b="1" dirty="0">
                <a:ea typeface="华文新魏" pitchFamily="2" charset="-122"/>
              </a:rPr>
              <a:t>命名时先</a:t>
            </a:r>
            <a:r>
              <a:rPr kumimoji="1" lang="en-US" altLang="zh-CN" sz="2400" b="1" dirty="0">
                <a:ea typeface="华文新魏" pitchFamily="2" charset="-122"/>
              </a:rPr>
              <a:t>NH</a:t>
            </a:r>
            <a:r>
              <a:rPr kumimoji="1" lang="en-US" altLang="zh-CN" sz="2400" b="1" baseline="-25000" dirty="0">
                <a:ea typeface="华文新魏" pitchFamily="2" charset="-122"/>
              </a:rPr>
              <a:t>3 </a:t>
            </a:r>
            <a:r>
              <a:rPr kumimoji="1" lang="en-US" altLang="zh-CN" sz="2400" b="1" dirty="0">
                <a:ea typeface="华文新魏" pitchFamily="2" charset="-122"/>
              </a:rPr>
              <a:t>,</a:t>
            </a:r>
            <a:r>
              <a:rPr kumimoji="1" lang="zh-CN" altLang="en-US" sz="2400" b="1" dirty="0">
                <a:ea typeface="华文新魏" pitchFamily="2" charset="-122"/>
              </a:rPr>
              <a:t>后</a:t>
            </a:r>
            <a:r>
              <a:rPr kumimoji="1" lang="en-US" altLang="zh-CN" sz="2400" b="1" dirty="0">
                <a:ea typeface="华文新魏" pitchFamily="2" charset="-122"/>
              </a:rPr>
              <a:t>H</a:t>
            </a:r>
            <a:r>
              <a:rPr kumimoji="1" lang="en-US" altLang="zh-CN" sz="2400" b="1" baseline="-25000" dirty="0">
                <a:ea typeface="华文新魏" pitchFamily="2" charset="-122"/>
              </a:rPr>
              <a:t>2</a:t>
            </a:r>
            <a:r>
              <a:rPr kumimoji="1" lang="en-US" altLang="zh-CN" sz="2400" b="1" dirty="0">
                <a:ea typeface="华文新魏" pitchFamily="2" charset="-122"/>
              </a:rPr>
              <a:t>O.</a:t>
            </a:r>
          </a:p>
          <a:p>
            <a:pPr eaLnBrk="0" hangingPunct="0">
              <a:defRPr/>
            </a:pPr>
            <a:endParaRPr kumimoji="1" lang="en-US" altLang="zh-CN" sz="2400" b="1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93437"/>
            <a:ext cx="5329238" cy="84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命名</a:t>
            </a: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下列配合物，并指出中心离子、配体、配位原子和配位数。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5124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>
              <a:solidFill>
                <a:srgbClr val="FFFFFF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60363" y="1382699"/>
          <a:ext cx="5040312" cy="329247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096418"/>
                <a:gridCol w="360040"/>
                <a:gridCol w="360040"/>
                <a:gridCol w="432048"/>
                <a:gridCol w="432048"/>
                <a:gridCol w="359718"/>
              </a:tblGrid>
              <a:tr h="14633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配合物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   </a:t>
                      </a: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称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中心离子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   </a:t>
                      </a: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体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配位原子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配</a:t>
                      </a:r>
                      <a:endParaRPr lang="en-US" altLang="zh-CN" sz="2400" b="1" kern="100" dirty="0" smtClean="0">
                        <a:effectLst/>
                        <a:latin typeface="Times New Roman"/>
                        <a:ea typeface="华文新魏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 smtClean="0">
                          <a:effectLst/>
                          <a:latin typeface="Times New Roman"/>
                          <a:ea typeface="华文新魏" pitchFamily="2" charset="-122"/>
                        </a:rPr>
                        <a:t>位数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Cu[SiF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6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K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[Cr(CN)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6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baseline="300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[Zn(OH)(H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O)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]NO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[CoCl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(NH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(H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2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O)]Cl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83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[Cu(NH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3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)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4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][PtCl</a:t>
                      </a:r>
                      <a:r>
                        <a:rPr lang="en-US" sz="2400" b="1" kern="100" baseline="-25000" dirty="0">
                          <a:effectLst/>
                          <a:latin typeface="Times New Roman"/>
                          <a:ea typeface="华文新魏" pitchFamily="2" charset="-122"/>
                        </a:rPr>
                        <a:t>4</a:t>
                      </a: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]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/>
                          <a:ea typeface="华文新魏" pitchFamily="2" charset="-122"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602" marR="68602" marT="0" marB="0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5976938" y="801688"/>
            <a:ext cx="5329237" cy="33416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2400" b="1" dirty="0">
                <a:solidFill>
                  <a:srgbClr val="FF0000"/>
                </a:solidFill>
                <a:ea typeface="华文新魏" pitchFamily="2" charset="-122"/>
              </a:rPr>
              <a:t>中心离子</a:t>
            </a:r>
            <a:r>
              <a:rPr lang="zh-CN" altLang="en-US" sz="2400" b="1" dirty="0">
                <a:solidFill>
                  <a:srgbClr val="FFFFFF"/>
                </a:solidFill>
                <a:ea typeface="华文新魏" pitchFamily="2" charset="-122"/>
              </a:rPr>
              <a:t>：位于配离子的中心，一般为阳离子，少数为中性原子</a:t>
            </a:r>
            <a:r>
              <a:rPr lang="en-US" altLang="zh-CN" sz="2400" b="1" dirty="0">
                <a:solidFill>
                  <a:srgbClr val="FFFFFF"/>
                </a:solidFill>
                <a:ea typeface="华文新魏" pitchFamily="2" charset="-122"/>
              </a:rPr>
              <a:t>;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sz="2400" b="1" dirty="0">
                <a:solidFill>
                  <a:srgbClr val="FF0000"/>
                </a:solidFill>
                <a:ea typeface="华文新魏" pitchFamily="2" charset="-122"/>
              </a:rPr>
              <a:t>配体</a:t>
            </a:r>
            <a:r>
              <a:rPr lang="zh-CN" altLang="en-US" sz="2400" b="1" dirty="0">
                <a:solidFill>
                  <a:srgbClr val="FFFFFF"/>
                </a:solidFill>
                <a:ea typeface="华文新魏" pitchFamily="2" charset="-122"/>
              </a:rPr>
              <a:t>：与中心离子（或原子）结合的中性分子或阴离子</a:t>
            </a:r>
            <a:r>
              <a:rPr lang="en-US" altLang="zh-CN" sz="2400" b="1" dirty="0">
                <a:solidFill>
                  <a:srgbClr val="FFFFFF"/>
                </a:solidFill>
                <a:ea typeface="华文新魏" pitchFamily="2" charset="-122"/>
              </a:rPr>
              <a:t>;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sz="2400" b="1" dirty="0">
                <a:solidFill>
                  <a:srgbClr val="FF0000"/>
                </a:solidFill>
                <a:ea typeface="华文新魏" pitchFamily="2" charset="-122"/>
              </a:rPr>
              <a:t>配位原子</a:t>
            </a:r>
            <a:r>
              <a:rPr lang="zh-CN" altLang="en-US" sz="2400" b="1" dirty="0">
                <a:solidFill>
                  <a:schemeClr val="bg1"/>
                </a:solidFill>
                <a:ea typeface="华文新魏" pitchFamily="2" charset="-122"/>
              </a:rPr>
              <a:t>：配体中与中心离子（或原子）直接以配位键结合的原子</a:t>
            </a:r>
            <a:r>
              <a:rPr lang="en-US" altLang="zh-CN" sz="2400" b="1" dirty="0">
                <a:solidFill>
                  <a:srgbClr val="FFFFFF"/>
                </a:solidFill>
                <a:ea typeface="华文新魏" pitchFamily="2" charset="-122"/>
              </a:rPr>
              <a:t>;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sz="2400" b="1" dirty="0">
                <a:solidFill>
                  <a:srgbClr val="FF0000"/>
                </a:solidFill>
                <a:ea typeface="华文新魏" pitchFamily="2" charset="-122"/>
              </a:rPr>
              <a:t>配位数</a:t>
            </a:r>
            <a:r>
              <a:rPr lang="zh-CN" altLang="en-US" sz="2400" b="1" dirty="0">
                <a:solidFill>
                  <a:srgbClr val="FFFFFF"/>
                </a:solidFill>
                <a:ea typeface="华文新魏" pitchFamily="2" charset="-122"/>
              </a:rPr>
              <a:t>：与中心离子（或原子）直接以配位键结合的配位原子的总数。</a:t>
            </a:r>
            <a:endParaRPr lang="en-US" altLang="zh-CN" sz="2400" b="1" dirty="0">
              <a:solidFill>
                <a:srgbClr val="FFFFFF"/>
              </a:solidFill>
              <a:ea typeface="华文新魏" pitchFamily="2" charset="-122"/>
            </a:endParaRP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zh-CN" altLang="en-US" sz="2400" b="1" dirty="0">
                <a:ea typeface="华文新魏" pitchFamily="2" charset="-122"/>
              </a:rPr>
              <a:t>略</a:t>
            </a:r>
            <a:endParaRPr kumimoji="1" lang="en-US" altLang="zh-CN" sz="2400" b="1" dirty="0"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9" grpId="0" build="p" autoUpdateAnimBg="0" advAuto="0"/>
      <p:bldP spid="10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147" name="Text Box 39"/>
          <p:cNvSpPr txBox="1">
            <a:spLocks noChangeArrowheads="1"/>
          </p:cNvSpPr>
          <p:nvPr/>
        </p:nvSpPr>
        <p:spPr bwMode="auto">
          <a:xfrm>
            <a:off x="215900" y="393437"/>
            <a:ext cx="5329238" cy="8463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FFFFCC"/>
              </a:buClr>
              <a:buSzPct val="90000"/>
            </a:pPr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6-2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en-US" altLang="zh-CN" sz="2400" b="1" dirty="0" smtClean="0">
                <a:ea typeface="华文新魏" pitchFamily="2" charset="-122"/>
              </a:rPr>
              <a:t>0.1g</a:t>
            </a:r>
            <a:r>
              <a:rPr lang="zh-CN" altLang="zh-CN" sz="2400" b="1" dirty="0">
                <a:ea typeface="华文新魏" pitchFamily="2" charset="-122"/>
                <a:cs typeface="Times New Roman" pitchFamily="18" charset="0"/>
              </a:rPr>
              <a:t>固体</a:t>
            </a:r>
            <a:r>
              <a:rPr lang="en-US" altLang="zh-CN" sz="2400" b="1" dirty="0" err="1">
                <a:ea typeface="华文新魏" pitchFamily="2" charset="-122"/>
              </a:rPr>
              <a:t>AgBr</a:t>
            </a:r>
            <a:r>
              <a:rPr lang="zh-CN" altLang="zh-CN" sz="2400" b="1" dirty="0">
                <a:ea typeface="华文新魏" pitchFamily="2" charset="-122"/>
              </a:rPr>
              <a:t>能否完全溶解于</a:t>
            </a:r>
            <a:r>
              <a:rPr lang="en-US" altLang="zh-CN" sz="2400" b="1" dirty="0" smtClean="0">
                <a:ea typeface="华文新魏" pitchFamily="2" charset="-122"/>
              </a:rPr>
              <a:t>100mL 1 </a:t>
            </a:r>
            <a:r>
              <a:rPr lang="en-US" altLang="zh-CN" sz="2400" b="1" dirty="0">
                <a:ea typeface="华文新魏" pitchFamily="2" charset="-122"/>
              </a:rPr>
              <a:t>mol·L</a:t>
            </a:r>
            <a:r>
              <a:rPr lang="en-US" altLang="zh-CN" sz="2400" b="1" baseline="30000" dirty="0">
                <a:ea typeface="华文新魏" pitchFamily="2" charset="-122"/>
              </a:rPr>
              <a:t>-1</a:t>
            </a:r>
            <a:r>
              <a:rPr lang="zh-CN" altLang="zh-CN" sz="2400" b="1" dirty="0">
                <a:ea typeface="华文新魏" pitchFamily="2" charset="-122"/>
              </a:rPr>
              <a:t>氨水中</a:t>
            </a:r>
            <a:r>
              <a:rPr lang="en-US" altLang="zh-CN" sz="2400" b="1" dirty="0">
                <a:ea typeface="华文新魏" pitchFamily="2" charset="-122"/>
              </a:rPr>
              <a:t>?</a:t>
            </a:r>
            <a:endParaRPr lang="zh-CN" altLang="en-US" sz="2500" b="1" dirty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148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976938" y="906463"/>
            <a:ext cx="530701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err="1" smtClean="0">
                <a:ea typeface="楷体_GB2312" pitchFamily="49" charset="-122"/>
              </a:rPr>
              <a:t>AgBr</a:t>
            </a:r>
            <a:r>
              <a:rPr lang="en-US" altLang="zh-CN" sz="2400" b="1" dirty="0" smtClean="0">
                <a:ea typeface="楷体_GB2312" pitchFamily="49" charset="-122"/>
              </a:rPr>
              <a:t>  + 2NH</a:t>
            </a:r>
            <a:r>
              <a:rPr lang="en-US" altLang="zh-CN" sz="2400" b="1" baseline="-25000" dirty="0" smtClean="0">
                <a:ea typeface="楷体_GB2312" pitchFamily="49" charset="-122"/>
              </a:rPr>
              <a:t>3</a:t>
            </a:r>
            <a:r>
              <a:rPr lang="en-US" altLang="zh-CN" sz="2400" b="1" dirty="0" smtClean="0">
                <a:ea typeface="楷体_GB2312" pitchFamily="49" charset="-122"/>
              </a:rPr>
              <a:t> </a:t>
            </a:r>
            <a:r>
              <a:rPr lang="zh-CN" altLang="en-US" sz="2400" b="1" dirty="0" smtClean="0">
                <a:solidFill>
                  <a:srgbClr val="FFFFFF"/>
                </a:solidFill>
                <a:latin typeface="+mj-lt"/>
                <a:ea typeface="华文新魏" pitchFamily="2" charset="-122"/>
              </a:rPr>
              <a:t>⇌</a:t>
            </a:r>
            <a:r>
              <a:rPr lang="en-US" altLang="zh-CN" sz="2400" b="1" dirty="0" smtClean="0">
                <a:ea typeface="楷体_GB2312" pitchFamily="49" charset="-122"/>
              </a:rPr>
              <a:t> [Ag(NH</a:t>
            </a:r>
            <a:r>
              <a:rPr lang="en-US" altLang="zh-CN" sz="2400" b="1" baseline="-25000" dirty="0" smtClean="0">
                <a:ea typeface="楷体_GB2312" pitchFamily="49" charset="-122"/>
              </a:rPr>
              <a:t>3</a:t>
            </a:r>
            <a:r>
              <a:rPr lang="en-US" altLang="zh-CN" sz="2400" b="1" dirty="0" smtClean="0">
                <a:ea typeface="楷体_GB2312" pitchFamily="49" charset="-122"/>
              </a:rPr>
              <a:t>)</a:t>
            </a:r>
            <a:r>
              <a:rPr lang="en-US" altLang="zh-CN" sz="2400" b="1" baseline="-25000" dirty="0" smtClean="0">
                <a:ea typeface="楷体_GB2312" pitchFamily="49" charset="-122"/>
              </a:rPr>
              <a:t>2</a:t>
            </a:r>
            <a:r>
              <a:rPr lang="en-US" altLang="zh-CN" sz="2400" b="1" dirty="0" smtClean="0">
                <a:ea typeface="楷体_GB2312" pitchFamily="49" charset="-122"/>
              </a:rPr>
              <a:t>]</a:t>
            </a:r>
            <a:r>
              <a:rPr lang="en-US" altLang="zh-CN" sz="2400" b="1" baseline="30000" dirty="0" smtClean="0">
                <a:ea typeface="楷体_GB2312" pitchFamily="49" charset="-122"/>
              </a:rPr>
              <a:t>+  </a:t>
            </a:r>
            <a:r>
              <a:rPr lang="en-US" altLang="zh-CN" sz="2400" b="1" dirty="0" smtClean="0">
                <a:ea typeface="楷体_GB2312" pitchFamily="49" charset="-122"/>
              </a:rPr>
              <a:t>+ Br</a:t>
            </a:r>
            <a:r>
              <a:rPr lang="en-US" altLang="zh-CN" sz="2400" b="1" baseline="30000" dirty="0" smtClean="0">
                <a:ea typeface="楷体_GB2312" pitchFamily="49" charset="-122"/>
              </a:rPr>
              <a:t>-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265863" y="1892300"/>
            <a:ext cx="72231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i="1" dirty="0" err="1" smtClean="0"/>
              <a:t>K</a:t>
            </a:r>
            <a:r>
              <a:rPr lang="en-US" altLang="zh-CN" sz="2400" b="1" kern="100" baseline="30000" dirty="0" err="1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lang="en-US" altLang="zh-CN" sz="2400" b="1" baseline="100000" dirty="0" smtClean="0">
                <a:sym typeface="Webdings" pitchFamily="18" charset="2"/>
              </a:rPr>
              <a:t> </a:t>
            </a:r>
            <a:r>
              <a:rPr lang="en-US" altLang="zh-CN" sz="2400" b="1" dirty="0" smtClean="0">
                <a:ea typeface="楷体_GB2312" pitchFamily="49" charset="-122"/>
              </a:rPr>
              <a:t>=</a:t>
            </a:r>
            <a:endParaRPr lang="en-US" altLang="zh-CN" sz="2400" b="1" baseline="30000" dirty="0" smtClean="0">
              <a:ea typeface="楷体_GB2312" pitchFamily="49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7088188" y="1546225"/>
            <a:ext cx="2359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ea typeface="楷体_GB2312" pitchFamily="49" charset="-122"/>
              </a:rPr>
              <a:t>[Ag(NH</a:t>
            </a:r>
            <a:r>
              <a:rPr lang="en-US" altLang="zh-CN" sz="2400" b="1" baseline="-25000">
                <a:ea typeface="楷体_GB2312" pitchFamily="49" charset="-122"/>
              </a:rPr>
              <a:t>3</a:t>
            </a:r>
            <a:r>
              <a:rPr lang="en-US" altLang="zh-CN" sz="2400" b="1">
                <a:ea typeface="楷体_GB2312" pitchFamily="49" charset="-122"/>
              </a:rPr>
              <a:t>)</a:t>
            </a:r>
            <a:r>
              <a:rPr lang="en-US" altLang="zh-CN" sz="2400" b="1" baseline="-25000">
                <a:ea typeface="楷体_GB2312" pitchFamily="49" charset="-122"/>
              </a:rPr>
              <a:t>2</a:t>
            </a:r>
            <a:r>
              <a:rPr lang="en-US" altLang="zh-CN" sz="2400" b="1" baseline="30000">
                <a:ea typeface="楷体_GB2312" pitchFamily="49" charset="-122"/>
              </a:rPr>
              <a:t>+</a:t>
            </a:r>
            <a:r>
              <a:rPr lang="en-US" altLang="zh-CN" sz="2400" b="1">
                <a:ea typeface="楷体_GB2312" pitchFamily="49" charset="-122"/>
              </a:rPr>
              <a:t>][Br</a:t>
            </a:r>
            <a:r>
              <a:rPr lang="en-US" altLang="zh-CN" sz="2400" b="1" baseline="30000">
                <a:ea typeface="楷体_GB2312" pitchFamily="49" charset="-122"/>
              </a:rPr>
              <a:t>-</a:t>
            </a:r>
            <a:r>
              <a:rPr lang="en-US" altLang="zh-CN" sz="2400" b="1">
                <a:ea typeface="楷体_GB2312" pitchFamily="49" charset="-122"/>
              </a:rPr>
              <a:t>]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7572375" y="2122488"/>
            <a:ext cx="10556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ea typeface="楷体_GB2312" pitchFamily="49" charset="-122"/>
              </a:rPr>
              <a:t>[NH</a:t>
            </a:r>
            <a:r>
              <a:rPr lang="en-US" altLang="zh-CN" sz="2400" b="1" baseline="-25000">
                <a:ea typeface="楷体_GB2312" pitchFamily="49" charset="-122"/>
              </a:rPr>
              <a:t>3</a:t>
            </a:r>
            <a:r>
              <a:rPr lang="en-US" altLang="zh-CN" sz="2400" b="1">
                <a:ea typeface="楷体_GB2312" pitchFamily="49" charset="-122"/>
              </a:rPr>
              <a:t>]</a:t>
            </a:r>
            <a:r>
              <a:rPr lang="en-US" altLang="zh-CN" sz="2400" b="1" baseline="30000">
                <a:ea typeface="楷体_GB2312" pitchFamily="49" charset="-122"/>
              </a:rPr>
              <a:t>2</a:t>
            </a:r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 flipV="1">
            <a:off x="7015163" y="2122488"/>
            <a:ext cx="32210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9228138" y="1546225"/>
            <a:ext cx="8826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ea typeface="楷体_GB2312" pitchFamily="49" charset="-122"/>
              </a:rPr>
              <a:t>[Ag</a:t>
            </a:r>
            <a:r>
              <a:rPr lang="en-US" altLang="zh-CN" sz="2400" b="1" baseline="30000">
                <a:ea typeface="楷体_GB2312" pitchFamily="49" charset="-122"/>
              </a:rPr>
              <a:t>+</a:t>
            </a:r>
            <a:r>
              <a:rPr lang="en-US" altLang="zh-CN" sz="2400" b="1">
                <a:ea typeface="楷体_GB2312" pitchFamily="49" charset="-122"/>
              </a:rPr>
              <a:t>]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8616950" y="2122488"/>
            <a:ext cx="8810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b="1">
                <a:ea typeface="楷体_GB2312" pitchFamily="49" charset="-122"/>
              </a:rPr>
              <a:t>[Ag</a:t>
            </a:r>
            <a:r>
              <a:rPr lang="en-US" altLang="zh-CN" sz="2400" b="1" baseline="30000">
                <a:ea typeface="楷体_GB2312" pitchFamily="49" charset="-122"/>
              </a:rPr>
              <a:t>+</a:t>
            </a:r>
            <a:r>
              <a:rPr lang="en-US" altLang="zh-CN" sz="2400" b="1">
                <a:ea typeface="楷体_GB2312" pitchFamily="49" charset="-122"/>
              </a:rPr>
              <a:t>]</a:t>
            </a:r>
          </a:p>
        </p:txBody>
      </p:sp>
      <p:sp>
        <p:nvSpPr>
          <p:cNvPr id="2" name="矩形 1"/>
          <p:cNvSpPr/>
          <p:nvPr/>
        </p:nvSpPr>
        <p:spPr>
          <a:xfrm>
            <a:off x="6624638" y="2592388"/>
            <a:ext cx="4392612" cy="5349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</a:rPr>
              <a:t>= </a:t>
            </a:r>
            <a:r>
              <a:rPr kumimoji="1" lang="en-US" altLang="zh-CN" sz="2400" b="1" i="1" dirty="0" err="1">
                <a:solidFill>
                  <a:schemeClr val="bg1"/>
                </a:solidFill>
                <a:ea typeface="楷体_GB2312" pitchFamily="49" charset="-122"/>
              </a:rPr>
              <a:t>K</a:t>
            </a:r>
            <a:r>
              <a:rPr lang="en-US" altLang="zh-CN" sz="2400" b="1" kern="100" baseline="300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kumimoji="1" lang="zh-CN" altLang="en-US" sz="2400" baseline="-25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稳</a:t>
            </a:r>
            <a:r>
              <a:rPr kumimoji="1" lang="en-US" altLang="zh-CN" sz="24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{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Ag(NH</a:t>
            </a:r>
            <a:r>
              <a:rPr kumimoji="1" lang="en-US" altLang="zh-CN" sz="2400" b="1" baseline="-25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3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)</a:t>
            </a:r>
            <a:r>
              <a:rPr kumimoji="1" lang="en-US" altLang="zh-CN" sz="2400" b="1" baseline="-25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2</a:t>
            </a:r>
            <a:r>
              <a:rPr kumimoji="1" lang="en-US" altLang="zh-CN" sz="2400" b="1" baseline="30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+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} 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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kumimoji="1" lang="en-US" altLang="zh-CN" sz="2400" b="1" i="1" dirty="0" err="1">
                <a:solidFill>
                  <a:schemeClr val="bg1"/>
                </a:solidFill>
                <a:ea typeface="楷体_GB2312" pitchFamily="49" charset="-122"/>
              </a:rPr>
              <a:t>K</a:t>
            </a:r>
            <a:r>
              <a:rPr lang="en-US" altLang="zh-CN" sz="2400" b="1" kern="100" baseline="300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lang="en-US" altLang="zh-CN" sz="2400" b="1" baseline="100000" dirty="0">
                <a:sym typeface="Webdings" pitchFamily="18" charset="2"/>
              </a:rPr>
              <a:t> </a:t>
            </a:r>
            <a:r>
              <a:rPr kumimoji="1" lang="en-US" altLang="zh-CN" sz="2400" b="1" baseline="-25000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sp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(</a:t>
            </a:r>
            <a:r>
              <a:rPr kumimoji="1" lang="en-US" altLang="zh-CN" sz="2400" b="1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AgBr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)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745288" y="3206750"/>
          <a:ext cx="3673475" cy="825500"/>
        </p:xfrm>
        <a:graphic>
          <a:graphicData uri="http://schemas.openxmlformats.org/presentationml/2006/ole">
            <p:oleObj spid="_x0000_s6157" name="公式" r:id="rId7" imgW="1866900" imgH="419100" progId="Equation.3">
              <p:embed/>
            </p:oleObj>
          </a:graphicData>
        </a:graphic>
      </p:graphicFrame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5976938" y="3960813"/>
            <a:ext cx="5221287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假定</a:t>
            </a:r>
            <a:r>
              <a:rPr kumimoji="1" lang="en-US" altLang="zh-CN" sz="2400" b="1" dirty="0" err="1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AgBr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溶解后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,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全部转化为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Ag(NH</a:t>
            </a:r>
            <a:r>
              <a:rPr kumimoji="1" lang="en-US" altLang="zh-CN" sz="2400" b="1" baseline="-25000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3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)</a:t>
            </a:r>
            <a:r>
              <a:rPr kumimoji="1" lang="en-US" altLang="zh-CN" sz="2400" b="1" baseline="-25000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2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]</a:t>
            </a:r>
            <a:r>
              <a:rPr kumimoji="1" lang="en-US" altLang="zh-CN" sz="2400" b="1" baseline="30000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+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，计算所需氨水浓度并比较浓度是否超过</a:t>
            </a:r>
            <a:r>
              <a:rPr lang="en-US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1 mol·L</a:t>
            </a:r>
            <a:r>
              <a:rPr lang="en-US" altLang="zh-CN" sz="2400" b="1" kern="100" baseline="300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-</a:t>
            </a:r>
            <a:r>
              <a:rPr lang="en-US" altLang="zh-CN" sz="2400" b="1" kern="100" baseline="300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1 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。</a:t>
            </a:r>
            <a:endParaRPr kumimoji="1" lang="en-US" altLang="zh-CN" sz="2400" b="1" dirty="0" smtClean="0">
              <a:solidFill>
                <a:schemeClr val="bg1"/>
              </a:solidFill>
              <a:latin typeface="+mj-lt"/>
              <a:ea typeface="华文新魏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+mj-lt"/>
                <a:ea typeface="华文新魏" pitchFamily="2" charset="-122"/>
              </a:rPr>
              <a:t>注意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：氨水总浓度应为平衡浓度加上反应过程中消耗的量。</a:t>
            </a:r>
            <a:endParaRPr kumimoji="1" lang="en-US" altLang="zh-CN" sz="2400" b="1" dirty="0" smtClean="0">
              <a:solidFill>
                <a:schemeClr val="bg1"/>
              </a:solidFill>
              <a:latin typeface="+mj-lt"/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9" grpId="0" autoUpdateAnimBg="0"/>
      <p:bldP spid="10" grpId="0" autoUpdateAnimBg="0"/>
      <p:bldP spid="11" grpId="0" autoUpdateAnimBg="0"/>
      <p:bldP spid="12" grpId="0" autoUpdateAnimBg="0"/>
      <p:bldP spid="13" grpId="0" animBg="1"/>
      <p:bldP spid="14" grpId="0" autoUpdateAnimBg="0"/>
      <p:bldP spid="15" grpId="0" autoUpdateAnimBg="0"/>
      <p:bldP spid="2" grpId="0"/>
      <p:bldP spid="1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9"/>
          <p:cNvSpPr txBox="1">
            <a:spLocks noChangeArrowheads="1"/>
          </p:cNvSpPr>
          <p:nvPr/>
        </p:nvSpPr>
        <p:spPr bwMode="auto">
          <a:xfrm>
            <a:off x="215900" y="393437"/>
            <a:ext cx="5329238" cy="8463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FFFFCC"/>
              </a:buClr>
              <a:buSzPct val="90000"/>
            </a:pPr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6-2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en-US" altLang="zh-CN" sz="2400" b="1" dirty="0" smtClean="0">
                <a:ea typeface="华文新魏" pitchFamily="2" charset="-122"/>
              </a:rPr>
              <a:t>0.1g</a:t>
            </a:r>
            <a:r>
              <a:rPr lang="zh-CN" altLang="zh-CN" sz="2400" b="1" dirty="0">
                <a:ea typeface="华文新魏" pitchFamily="2" charset="-122"/>
                <a:cs typeface="Times New Roman" pitchFamily="18" charset="0"/>
              </a:rPr>
              <a:t>固体</a:t>
            </a:r>
            <a:r>
              <a:rPr lang="en-US" altLang="zh-CN" sz="2400" b="1" dirty="0" err="1">
                <a:ea typeface="华文新魏" pitchFamily="2" charset="-122"/>
              </a:rPr>
              <a:t>AgBr</a:t>
            </a:r>
            <a:r>
              <a:rPr lang="zh-CN" altLang="zh-CN" sz="2400" b="1" dirty="0">
                <a:ea typeface="华文新魏" pitchFamily="2" charset="-122"/>
              </a:rPr>
              <a:t>能否完全溶解于</a:t>
            </a:r>
            <a:r>
              <a:rPr lang="en-US" altLang="zh-CN" sz="2400" b="1" dirty="0" smtClean="0">
                <a:ea typeface="华文新魏" pitchFamily="2" charset="-122"/>
              </a:rPr>
              <a:t>100mL 1 </a:t>
            </a:r>
            <a:r>
              <a:rPr lang="en-US" altLang="zh-CN" sz="2400" b="1" dirty="0">
                <a:ea typeface="华文新魏" pitchFamily="2" charset="-122"/>
              </a:rPr>
              <a:t>mol·L</a:t>
            </a:r>
            <a:r>
              <a:rPr lang="en-US" altLang="zh-CN" sz="2400" b="1" baseline="30000" dirty="0">
                <a:ea typeface="华文新魏" pitchFamily="2" charset="-122"/>
              </a:rPr>
              <a:t>-1</a:t>
            </a:r>
            <a:r>
              <a:rPr lang="zh-CN" altLang="zh-CN" sz="2400" b="1" dirty="0">
                <a:ea typeface="华文新魏" pitchFamily="2" charset="-122"/>
              </a:rPr>
              <a:t>氨水中</a:t>
            </a:r>
            <a:r>
              <a:rPr lang="en-US" altLang="zh-CN" sz="2400" b="1" dirty="0">
                <a:ea typeface="华文新魏" pitchFamily="2" charset="-122"/>
              </a:rPr>
              <a:t>?</a:t>
            </a:r>
            <a:endParaRPr lang="zh-CN" altLang="en-US" sz="2500" b="1" dirty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3111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7540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不能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717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 advAuto="0"/>
      <p:bldP spid="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1296"/>
            <a:ext cx="5329238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6-3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通过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计算比较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1L 6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氨水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　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KCN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溶液，哪一个可溶解较多的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AgI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8196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6122988" y="814388"/>
            <a:ext cx="51990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err="1" smtClean="0">
                <a:latin typeface="+mn-lt"/>
                <a:ea typeface="华文新魏" pitchFamily="2" charset="-122"/>
              </a:rPr>
              <a:t>AgI</a:t>
            </a:r>
            <a:r>
              <a:rPr lang="zh-CN" altLang="en-US" sz="2400" b="1" dirty="0" smtClean="0">
                <a:latin typeface="+mn-lt"/>
                <a:ea typeface="华文新魏" pitchFamily="2" charset="-122"/>
              </a:rPr>
              <a:t>在氨水中的溶解反应为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err="1" smtClean="0">
                <a:latin typeface="+mn-lt"/>
                <a:ea typeface="华文新魏" pitchFamily="2" charset="-122"/>
              </a:rPr>
              <a:t>AgI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  +  2NH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  </a:t>
            </a:r>
            <a:r>
              <a:rPr lang="zh-CN" altLang="en-US" sz="2400" b="1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⇌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   [Ag(NH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)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]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+   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+   I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-</a:t>
            </a:r>
            <a:endParaRPr lang="en-US" altLang="zh-CN" sz="2400" b="1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948363" y="1655763"/>
            <a:ext cx="1325562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 smtClean="0">
                <a:latin typeface="+mn-lt"/>
                <a:ea typeface="华文新魏" pitchFamily="2" charset="-122"/>
              </a:rPr>
              <a:t>反应前</a:t>
            </a:r>
            <a:r>
              <a:rPr lang="en-US" altLang="zh-CN" sz="2400" b="1" i="1" dirty="0" smtClean="0">
                <a:latin typeface="+mn-lt"/>
                <a:ea typeface="华文新魏" pitchFamily="2" charset="-122"/>
              </a:rPr>
              <a:t>n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 smtClean="0">
                <a:latin typeface="+mn-lt"/>
                <a:ea typeface="华文新魏" pitchFamily="2" charset="-122"/>
              </a:rPr>
              <a:t>平衡时</a:t>
            </a:r>
            <a:r>
              <a:rPr lang="en-US" altLang="zh-CN" sz="2400" b="1" i="1" dirty="0" smtClean="0">
                <a:latin typeface="+mn-lt"/>
                <a:ea typeface="华文新魏" pitchFamily="2" charset="-122"/>
              </a:rPr>
              <a:t>n</a:t>
            </a:r>
            <a:endParaRPr lang="en-US" altLang="zh-CN" sz="2400" b="1" baseline="30000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45363" y="1606550"/>
            <a:ext cx="35702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n-lt"/>
                <a:ea typeface="华文新魏" pitchFamily="2" charset="-122"/>
              </a:rPr>
              <a:t>6                   0                   0</a:t>
            </a:r>
            <a:endParaRPr lang="en-US" altLang="zh-CN" sz="2400" b="1" i="1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0539413" y="2028825"/>
            <a:ext cx="3381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ea typeface="华文新魏" pitchFamily="2" charset="-122"/>
              </a:rPr>
              <a:t>x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8961438" y="2028825"/>
            <a:ext cx="3381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ea typeface="华文新魏" pitchFamily="2" charset="-122"/>
              </a:rPr>
              <a:t>x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7243763" y="2028825"/>
            <a:ext cx="7493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n-lt"/>
                <a:ea typeface="华文新魏" pitchFamily="2" charset="-122"/>
              </a:rPr>
              <a:t>6-2</a:t>
            </a:r>
            <a:r>
              <a:rPr lang="en-US" altLang="zh-CN" sz="2400" b="1" i="1" dirty="0" smtClean="0">
                <a:latin typeface="+mn-lt"/>
                <a:ea typeface="华文新魏" pitchFamily="2" charset="-122"/>
              </a:rPr>
              <a:t>x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6265863" y="2736850"/>
            <a:ext cx="7223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i="1" dirty="0" err="1" smtClean="0">
                <a:latin typeface="+mn-lt"/>
                <a:ea typeface="华文新魏" pitchFamily="2" charset="-122"/>
              </a:rPr>
              <a:t>K</a:t>
            </a:r>
            <a:r>
              <a:rPr lang="en-US" altLang="zh-CN" sz="2400" b="1" kern="100" baseline="30000" dirty="0" err="1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lang="en-US" altLang="zh-CN" sz="2400" b="1" baseline="100000" dirty="0" smtClean="0">
                <a:latin typeface="+mn-lt"/>
                <a:ea typeface="华文新魏" pitchFamily="2" charset="-122"/>
                <a:sym typeface="Webdings" pitchFamily="18" charset="2"/>
              </a:rPr>
              <a:t> 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=</a:t>
            </a:r>
            <a:endParaRPr lang="en-US" altLang="zh-CN" sz="2400" b="1" baseline="30000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7092950" y="2447925"/>
            <a:ext cx="21494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n-lt"/>
                <a:ea typeface="华文新魏" pitchFamily="2" charset="-122"/>
              </a:rPr>
              <a:t>[Ag(NH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)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][I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]</a:t>
            </a: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7131050" y="3024188"/>
            <a:ext cx="2292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 sz="2400" b="1" dirty="0">
              <a:latin typeface="+mn-lt"/>
              <a:ea typeface="华文新魏" pitchFamily="2" charset="-122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7561263" y="3024188"/>
            <a:ext cx="10572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n-lt"/>
                <a:ea typeface="华文新魏" pitchFamily="2" charset="-122"/>
              </a:rPr>
              <a:t>[NH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]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2</a:t>
            </a:r>
          </a:p>
        </p:txBody>
      </p:sp>
      <p:sp>
        <p:nvSpPr>
          <p:cNvPr id="20" name="矩形 19"/>
          <p:cNvSpPr/>
          <p:nvPr/>
        </p:nvSpPr>
        <p:spPr>
          <a:xfrm>
            <a:off x="6624638" y="3568700"/>
            <a:ext cx="4171950" cy="534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</a:rPr>
              <a:t>= </a:t>
            </a:r>
            <a:r>
              <a:rPr kumimoji="1" lang="en-US" altLang="zh-CN" sz="2400" b="1" i="1" dirty="0" err="1">
                <a:solidFill>
                  <a:schemeClr val="bg1"/>
                </a:solidFill>
                <a:ea typeface="楷体_GB2312" pitchFamily="49" charset="-122"/>
              </a:rPr>
              <a:t>K</a:t>
            </a:r>
            <a:r>
              <a:rPr lang="en-US" altLang="zh-CN" sz="2400" b="1" kern="100" baseline="300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kumimoji="1" lang="zh-CN" altLang="en-US" sz="2400" baseline="-25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稳</a:t>
            </a:r>
            <a:r>
              <a:rPr kumimoji="1" lang="en-US" altLang="zh-CN" sz="24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{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Ag(NH</a:t>
            </a:r>
            <a:r>
              <a:rPr kumimoji="1" lang="en-US" altLang="zh-CN" sz="2400" b="1" baseline="-25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3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)</a:t>
            </a:r>
            <a:r>
              <a:rPr kumimoji="1" lang="en-US" altLang="zh-CN" sz="2400" b="1" baseline="-25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2</a:t>
            </a:r>
            <a:r>
              <a:rPr kumimoji="1" lang="en-US" altLang="zh-CN" sz="2400" b="1" baseline="30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+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} 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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kumimoji="1" lang="en-US" altLang="zh-CN" sz="2400" b="1" i="1" dirty="0" err="1">
                <a:solidFill>
                  <a:schemeClr val="bg1"/>
                </a:solidFill>
                <a:ea typeface="楷体_GB2312" pitchFamily="49" charset="-122"/>
              </a:rPr>
              <a:t>K</a:t>
            </a:r>
            <a:r>
              <a:rPr lang="en-US" altLang="zh-CN" sz="2400" b="1" kern="100" baseline="300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lang="en-US" altLang="zh-CN" sz="2400" b="1" baseline="100000" dirty="0">
                <a:sym typeface="Webdings" pitchFamily="18" charset="2"/>
              </a:rPr>
              <a:t> </a:t>
            </a:r>
            <a:r>
              <a:rPr kumimoji="1" lang="en-US" altLang="zh-CN" sz="2400" b="1" baseline="-25000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sp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(</a:t>
            </a:r>
            <a:r>
              <a:rPr kumimoji="1" lang="en-US" altLang="zh-CN" sz="2400" b="1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AgI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)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8" grpId="0" autoUpdateAnimBg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1296"/>
            <a:ext cx="5329238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6-3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通过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计算比较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1L 6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氨水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　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KCN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溶液，哪一个可溶解较多的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AgI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KCN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9222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9309100" y="1973263"/>
            <a:ext cx="3206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ea typeface="华文新魏" pitchFamily="2" charset="-122"/>
              </a:rPr>
              <a:t>y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5975350" y="692150"/>
            <a:ext cx="39433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err="1" smtClean="0">
                <a:latin typeface="+mn-lt"/>
                <a:ea typeface="华文新魏" pitchFamily="2" charset="-122"/>
              </a:rPr>
              <a:t>AgI</a:t>
            </a:r>
            <a:r>
              <a:rPr lang="zh-CN" altLang="en-US" sz="2400" b="1" dirty="0" smtClean="0">
                <a:latin typeface="+mn-lt"/>
                <a:ea typeface="华文新魏" pitchFamily="2" charset="-122"/>
              </a:rPr>
              <a:t>在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KCN</a:t>
            </a:r>
            <a:r>
              <a:rPr lang="zh-CN" altLang="en-US" sz="2400" b="1" dirty="0" smtClean="0">
                <a:latin typeface="+mn-lt"/>
                <a:ea typeface="华文新魏" pitchFamily="2" charset="-122"/>
              </a:rPr>
              <a:t>中的溶解反应为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:</a:t>
            </a: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6361113" y="1108075"/>
            <a:ext cx="44688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err="1" smtClean="0">
                <a:latin typeface="+mn-lt"/>
                <a:ea typeface="华文新魏" pitchFamily="2" charset="-122"/>
              </a:rPr>
              <a:t>AgI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  +  2CN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 </a:t>
            </a:r>
            <a:r>
              <a:rPr lang="zh-CN" altLang="en-US" sz="2400" b="1" dirty="0" smtClean="0">
                <a:solidFill>
                  <a:srgbClr val="FFFFFF"/>
                </a:solidFill>
                <a:ea typeface="华文新魏" pitchFamily="2" charset="-122"/>
              </a:rPr>
              <a:t>⇌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  [Ag(CN)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]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-   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+   I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-</a:t>
            </a:r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5975350" y="1509713"/>
            <a:ext cx="1412875" cy="101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 smtClean="0">
                <a:latin typeface="+mn-lt"/>
                <a:ea typeface="华文新魏" pitchFamily="2" charset="-122"/>
              </a:rPr>
              <a:t>反应前</a:t>
            </a:r>
            <a:r>
              <a:rPr lang="en-US" altLang="zh-CN" sz="2400" b="1" i="1" dirty="0" smtClean="0">
                <a:latin typeface="+mn-lt"/>
                <a:ea typeface="华文新魏" pitchFamily="2" charset="-122"/>
              </a:rPr>
              <a:t>n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 smtClean="0">
                <a:latin typeface="+mn-lt"/>
                <a:ea typeface="华文新魏" pitchFamily="2" charset="-122"/>
              </a:rPr>
              <a:t>平衡时</a:t>
            </a:r>
            <a:r>
              <a:rPr lang="en-US" altLang="zh-CN" sz="2400" b="1" i="1" dirty="0" smtClean="0">
                <a:latin typeface="+mn-lt"/>
                <a:ea typeface="华文新魏" pitchFamily="2" charset="-122"/>
              </a:rPr>
              <a:t>n</a:t>
            </a:r>
            <a:endParaRPr lang="en-US" altLang="zh-CN" sz="2400" b="1" baseline="30000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7600950" y="1514475"/>
            <a:ext cx="34163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n-lt"/>
                <a:ea typeface="华文新魏" pitchFamily="2" charset="-122"/>
              </a:rPr>
              <a:t>1                    0                0</a:t>
            </a:r>
            <a:endParaRPr lang="en-US" altLang="zh-CN" sz="2400" b="1" i="1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7399338" y="2008188"/>
            <a:ext cx="7302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latin typeface="+mn-lt"/>
                <a:ea typeface="华文新魏" pitchFamily="2" charset="-122"/>
              </a:rPr>
              <a:t>1-2</a:t>
            </a:r>
            <a:r>
              <a:rPr lang="en-US" altLang="zh-CN" sz="2400" b="1" i="1" dirty="0" smtClean="0">
                <a:latin typeface="+mn-lt"/>
                <a:ea typeface="华文新魏" pitchFamily="2" charset="-122"/>
              </a:rPr>
              <a:t>y</a:t>
            </a:r>
          </a:p>
        </p:txBody>
      </p:sp>
      <p:sp>
        <p:nvSpPr>
          <p:cNvPr id="27" name="Rectangle 9"/>
          <p:cNvSpPr>
            <a:spLocks noChangeArrowheads="1"/>
          </p:cNvSpPr>
          <p:nvPr/>
        </p:nvSpPr>
        <p:spPr bwMode="auto">
          <a:xfrm>
            <a:off x="10634663" y="1973263"/>
            <a:ext cx="3206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ea typeface="华文新魏" pitchFamily="2" charset="-122"/>
              </a:rPr>
              <a:t>y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 advAuto="0"/>
      <p:bldP spid="8" grpId="0" build="p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6" grpId="0" autoUpdateAnimBg="0"/>
      <p:bldP spid="2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1296"/>
            <a:ext cx="5329238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6-4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试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比较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[Ag(NH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]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[Ag(CN)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]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氧化能力的相对强弱，并计算说明。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[Ag(NH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]</a:t>
            </a:r>
            <a:r>
              <a:rPr lang="zh-CN" altLang="zh-CN" sz="2400" b="1" kern="100" baseline="30000" dirty="0" smtClean="0">
                <a:latin typeface="Times New Roman"/>
                <a:ea typeface="华文新魏" pitchFamily="2" charset="-122"/>
                <a:cs typeface="Times New Roman"/>
              </a:rPr>
              <a:t>＋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的氧化能力更强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0246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964238" y="765175"/>
            <a:ext cx="5357812" cy="264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Webdings" pitchFamily="18" charset="2"/>
              </a:rPr>
              <a:t>当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Ag(NH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]</a:t>
            </a:r>
            <a:r>
              <a:rPr lang="zh-CN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＋ 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= 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Webdings" pitchFamily="18" charset="2"/>
              </a:rPr>
              <a:t>[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Webdings" pitchFamily="18" charset="2"/>
              </a:rPr>
              <a:t>] = 1.0 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mol·L</a:t>
            </a:r>
            <a:r>
              <a:rPr kumimoji="1" lang="en-US" altLang="zh-CN" sz="2400" b="1" kern="0" baseline="30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-1</a:t>
            </a:r>
            <a:r>
              <a:rPr kumimoji="1" lang="zh-CN" altLang="en-US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时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:</a:t>
            </a:r>
            <a:endParaRPr kumimoji="1" lang="en-US" altLang="zh-CN" sz="2400" b="1" kern="0" baseline="30000" dirty="0">
              <a:solidFill>
                <a:schemeClr val="bg1"/>
              </a:solidFill>
              <a:latin typeface="+mn-lt"/>
              <a:ea typeface="华文新魏" pitchFamily="2" charset="-122"/>
            </a:endParaRPr>
          </a:p>
          <a:p>
            <a:pPr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i="1" kern="0" dirty="0" err="1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E</a:t>
            </a:r>
            <a:r>
              <a:rPr kumimoji="1" lang="en-US" altLang="zh-CN" sz="2400" b="1" kern="0" baseline="-25000" dirty="0" err="1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Ag</a:t>
            </a:r>
            <a:r>
              <a:rPr kumimoji="1" lang="en-US" altLang="zh-CN" sz="2400" b="1" kern="0" baseline="-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+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/Ag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 = </a:t>
            </a:r>
            <a:r>
              <a:rPr kumimoji="1" lang="en-US" altLang="zh-CN" sz="2400" b="1" i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+mn-lt"/>
                <a:ea typeface="华文新魏" pitchFamily="2" charset="-122"/>
              </a:rPr>
              <a:t>θ</a:t>
            </a:r>
            <a:r>
              <a:rPr kumimoji="1" lang="en-US" altLang="zh-CN" sz="2400" b="1" kern="0" baseline="40000" dirty="0">
                <a:solidFill>
                  <a:schemeClr val="bg1"/>
                </a:solidFill>
                <a:latin typeface="+mn-lt"/>
                <a:ea typeface="华文新魏" pitchFamily="2" charset="-122"/>
                <a:sym typeface="Webdings" pitchFamily="18" charset="2"/>
              </a:rPr>
              <a:t>’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Ag</a:t>
            </a:r>
            <a:r>
              <a:rPr kumimoji="1" lang="en-US" altLang="zh-CN" sz="2400" b="1" kern="0" baseline="-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+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/Ag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 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Webdings" pitchFamily="18" charset="2"/>
              </a:rPr>
              <a:t>= </a:t>
            </a:r>
            <a:r>
              <a:rPr kumimoji="1" lang="en-US" altLang="zh-CN" sz="2400" b="1" i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+mn-lt"/>
                <a:ea typeface="华文新魏" pitchFamily="2" charset="-122"/>
              </a:rPr>
              <a:t>θ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[Ag(NH</a:t>
            </a:r>
            <a:r>
              <a:rPr kumimoji="1" lang="en-US" altLang="zh-CN" sz="2400" b="1" kern="0" baseline="-40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3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)</a:t>
            </a:r>
            <a:r>
              <a:rPr kumimoji="1" lang="en-US" altLang="zh-CN" sz="2400" b="1" kern="0" baseline="-40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2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]</a:t>
            </a:r>
            <a:r>
              <a:rPr kumimoji="1" lang="en-US" altLang="zh-CN" sz="2400" b="1" kern="0" baseline="-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+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/Ag</a:t>
            </a:r>
            <a:endParaRPr kumimoji="1" lang="en-US" altLang="zh-CN" sz="2400" b="1" kern="0" dirty="0">
              <a:solidFill>
                <a:schemeClr val="bg1"/>
              </a:solidFill>
              <a:latin typeface="+mn-lt"/>
              <a:ea typeface="华文新魏" pitchFamily="2" charset="-122"/>
              <a:sym typeface="Symbol" pitchFamily="18" charset="2"/>
            </a:endParaRPr>
          </a:p>
          <a:p>
            <a:pPr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        = </a:t>
            </a:r>
            <a:r>
              <a:rPr kumimoji="1" lang="en-US" altLang="zh-CN" sz="2400" b="1" i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+mn-lt"/>
                <a:ea typeface="华文新魏" pitchFamily="2" charset="-122"/>
              </a:rPr>
              <a:t>θ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Ag</a:t>
            </a:r>
            <a:r>
              <a:rPr kumimoji="1" lang="en-US" altLang="zh-CN" sz="2400" b="1" kern="0" baseline="-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+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/Ag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 + 0.0592</a:t>
            </a:r>
            <a:r>
              <a:rPr kumimoji="1" lang="en-US" altLang="zh-CN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华文新魏" pitchFamily="2" charset="-122"/>
              </a:rPr>
              <a:t>lg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1/</a:t>
            </a:r>
            <a:r>
              <a:rPr kumimoji="1" lang="en-US" altLang="zh-CN" sz="2400" b="1" i="1" kern="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K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+mn-lt"/>
                <a:ea typeface="华文新魏" pitchFamily="2" charset="-122"/>
              </a:rPr>
              <a:t>θ</a:t>
            </a:r>
            <a:r>
              <a:rPr kumimoji="1" lang="zh-CN" altLang="en-US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  <a:sym typeface="Webdings" pitchFamily="18" charset="2"/>
              </a:rPr>
              <a:t>稳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ea typeface="华文新魏" pitchFamily="2" charset="-122"/>
              </a:rPr>
              <a:t>[Ag(NH</a:t>
            </a:r>
            <a:r>
              <a:rPr kumimoji="1" lang="en-US" altLang="zh-CN" sz="2400" b="1" kern="0" baseline="-40000" dirty="0">
                <a:solidFill>
                  <a:schemeClr val="bg1"/>
                </a:solidFill>
                <a:ea typeface="华文新魏" pitchFamily="2" charset="-122"/>
              </a:rPr>
              <a:t>3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ea typeface="华文新魏" pitchFamily="2" charset="-122"/>
              </a:rPr>
              <a:t>)</a:t>
            </a:r>
            <a:r>
              <a:rPr kumimoji="1" lang="en-US" altLang="zh-CN" sz="2400" b="1" kern="0" baseline="-40000" dirty="0">
                <a:solidFill>
                  <a:schemeClr val="bg1"/>
                </a:solidFill>
                <a:ea typeface="华文新魏" pitchFamily="2" charset="-122"/>
              </a:rPr>
              <a:t>2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ea typeface="华文新魏" pitchFamily="2" charset="-122"/>
              </a:rPr>
              <a:t>]</a:t>
            </a:r>
            <a:r>
              <a:rPr kumimoji="1" lang="en-US" altLang="zh-CN" sz="2400" b="1" kern="0" baseline="-5000" dirty="0">
                <a:solidFill>
                  <a:schemeClr val="bg1"/>
                </a:solidFill>
                <a:ea typeface="华文新魏" pitchFamily="2" charset="-122"/>
              </a:rPr>
              <a:t>+</a:t>
            </a:r>
            <a:endParaRPr kumimoji="1" lang="en-US" altLang="zh-CN" sz="2400" b="1" kern="0" baseline="-25000" dirty="0">
              <a:solidFill>
                <a:schemeClr val="bg1"/>
              </a:solidFill>
              <a:latin typeface="+mn-lt"/>
              <a:ea typeface="华文新魏" pitchFamily="2" charset="-122"/>
              <a:sym typeface="Webdings" pitchFamily="18" charset="2"/>
            </a:endParaRPr>
          </a:p>
          <a:p>
            <a:pPr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chemeClr val="bg1"/>
                </a:solidFill>
                <a:ea typeface="华文新魏" pitchFamily="2" charset="-122"/>
                <a:sym typeface="Webdings" pitchFamily="18" charset="2"/>
              </a:rPr>
              <a:t>同理</a:t>
            </a:r>
            <a:endParaRPr kumimoji="1" lang="en-US" altLang="zh-CN" sz="2400" b="1" kern="0" dirty="0">
              <a:solidFill>
                <a:schemeClr val="bg1"/>
              </a:solidFill>
              <a:ea typeface="华文新魏" pitchFamily="2" charset="-122"/>
              <a:sym typeface="Webdings" pitchFamily="18" charset="2"/>
            </a:endParaRPr>
          </a:p>
          <a:p>
            <a:pPr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i="1" kern="0" dirty="0" err="1">
                <a:solidFill>
                  <a:srgbClr val="FFFFFF"/>
                </a:solidFill>
                <a:latin typeface="Times New Roman"/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400" b="1" kern="100" baseline="300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kumimoji="1" lang="en-US" altLang="zh-CN" sz="2400" b="1" kern="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[Ag(CN)</a:t>
            </a:r>
            <a:r>
              <a:rPr kumimoji="1" lang="en-US" altLang="zh-CN" sz="2400" b="1" kern="0" baseline="-4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kumimoji="1" lang="en-US" altLang="zh-CN" sz="2400" b="1" kern="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]</a:t>
            </a:r>
            <a:r>
              <a:rPr kumimoji="1" lang="en-US" altLang="zh-CN" sz="2400" b="1" kern="0" baseline="-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-</a:t>
            </a:r>
            <a:r>
              <a:rPr kumimoji="1" lang="en-US" altLang="zh-CN" sz="2400" b="1" kern="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  <a:sym typeface="Symbol" pitchFamily="18" charset="2"/>
              </a:rPr>
              <a:t>/Ag</a:t>
            </a:r>
            <a:endParaRPr kumimoji="1" lang="en-US" altLang="zh-CN" sz="2400" b="1" kern="0" dirty="0">
              <a:solidFill>
                <a:srgbClr val="FFFFFF"/>
              </a:solidFill>
              <a:latin typeface="Times New Roman"/>
              <a:ea typeface="华文新魏" pitchFamily="2" charset="-122"/>
              <a:sym typeface="Symbol" pitchFamily="18" charset="2"/>
            </a:endParaRPr>
          </a:p>
          <a:p>
            <a:pPr>
              <a:lnSpc>
                <a:spcPct val="115000"/>
              </a:lnSpc>
              <a:defRPr/>
            </a:pPr>
            <a:r>
              <a:rPr lang="en-US" altLang="zh-CN" sz="2400" b="1" dirty="0">
                <a:latin typeface="+mn-lt"/>
                <a:ea typeface="华文新魏" pitchFamily="2" charset="-122"/>
                <a:sym typeface="Symbol" pitchFamily="18" charset="2"/>
              </a:rPr>
              <a:t>=</a:t>
            </a:r>
            <a:r>
              <a:rPr lang="en-US" altLang="zh-CN" sz="2400" b="1" i="1" dirty="0" err="1">
                <a:latin typeface="+mn-lt"/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400" b="1" kern="100" baseline="300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lang="en-US" altLang="zh-CN" sz="2400" b="1" baseline="-25000" dirty="0" err="1">
                <a:latin typeface="+mn-lt"/>
                <a:ea typeface="华文新魏" pitchFamily="2" charset="-122"/>
                <a:sym typeface="Symbol" pitchFamily="18" charset="2"/>
              </a:rPr>
              <a:t>Ag</a:t>
            </a:r>
            <a:r>
              <a:rPr lang="en-US" altLang="zh-CN" sz="2400" b="1" baseline="-5000" dirty="0">
                <a:latin typeface="+mn-lt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400" b="1" baseline="-25000" dirty="0">
                <a:latin typeface="+mn-lt"/>
                <a:ea typeface="华文新魏" pitchFamily="2" charset="-122"/>
                <a:sym typeface="Symbol" pitchFamily="18" charset="2"/>
              </a:rPr>
              <a:t>/Ag</a:t>
            </a:r>
            <a:r>
              <a:rPr lang="en-US" altLang="zh-CN" sz="2400" b="1" dirty="0">
                <a:latin typeface="+mn-lt"/>
                <a:ea typeface="华文新魏" pitchFamily="2" charset="-122"/>
                <a:sym typeface="Symbol" pitchFamily="18" charset="2"/>
              </a:rPr>
              <a:t> + 0.0592</a:t>
            </a:r>
            <a:r>
              <a:rPr lang="en-US" altLang="zh-CN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华文新魏" pitchFamily="2" charset="-122"/>
              </a:rPr>
              <a:t>lg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1/</a:t>
            </a:r>
            <a:r>
              <a:rPr lang="en-US" altLang="zh-CN" sz="2400" b="1" i="1" dirty="0" err="1">
                <a:latin typeface="+mn-lt"/>
                <a:ea typeface="华文新魏" pitchFamily="2" charset="-122"/>
              </a:rPr>
              <a:t>K</a:t>
            </a:r>
            <a:r>
              <a:rPr lang="en-US" altLang="zh-CN" sz="2400" b="1" kern="100" baseline="300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lang="zh-CN" altLang="en-US" sz="2400" b="1" baseline="-25000" dirty="0">
                <a:latin typeface="+mn-lt"/>
                <a:ea typeface="华文新魏" pitchFamily="2" charset="-122"/>
                <a:sym typeface="Webdings" pitchFamily="18" charset="2"/>
              </a:rPr>
              <a:t>稳</a:t>
            </a:r>
            <a:r>
              <a:rPr kumimoji="1" lang="en-US" altLang="zh-CN" sz="2400" b="1" kern="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[Ag(CN)</a:t>
            </a:r>
            <a:r>
              <a:rPr kumimoji="1" lang="en-US" altLang="zh-CN" sz="2400" b="1" kern="0" baseline="-4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kumimoji="1" lang="en-US" altLang="zh-CN" sz="2400" b="1" kern="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]</a:t>
            </a:r>
            <a:r>
              <a:rPr kumimoji="1" lang="en-US" altLang="zh-CN" sz="2400" b="1" kern="0" baseline="-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-</a:t>
            </a:r>
            <a:endParaRPr kumimoji="1" lang="zh-CN" altLang="en-US" sz="2400" kern="0" baseline="-25000" dirty="0">
              <a:solidFill>
                <a:schemeClr val="bg1"/>
              </a:solidFill>
              <a:latin typeface="+mn-lt"/>
              <a:ea typeface="华文新魏" pitchFamily="2" charset="-122"/>
              <a:sym typeface="Webdings" pitchFamily="18" charset="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6" grpId="0" build="p" autoUpdateAnimBg="0" advAuto="0"/>
      <p:bldP spid="8" grpId="0" build="p" autoUpdateAnimBg="0"/>
      <p:bldP spid="9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69154"/>
            <a:ext cx="5329238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6-5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计算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下列电对的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值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（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已知</a:t>
            </a:r>
            <a:r>
              <a:rPr lang="en-US" altLang="zh-CN" sz="2400" b="1" i="1" kern="100" dirty="0" err="1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30000" dirty="0" err="1">
                <a:latin typeface="Times New Roman"/>
                <a:ea typeface="华文新魏" pitchFamily="2" charset="-122"/>
              </a:rPr>
              <a:t>θ</a:t>
            </a:r>
            <a:r>
              <a:rPr lang="zh-CN" altLang="zh-CN" sz="2400" b="1" kern="100" baseline="-25000" dirty="0">
                <a:latin typeface="Times New Roman"/>
                <a:ea typeface="华文新魏" pitchFamily="2" charset="-122"/>
              </a:rPr>
              <a:t>稳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([HgI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]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2-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)=10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29.83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）：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[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Ni(CN)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]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2-</a:t>
            </a:r>
            <a:r>
              <a:rPr lang="zh-CN" altLang="zh-CN" sz="2400" b="1" kern="100" baseline="300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+ 2e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en-US" sz="2400" b="1" dirty="0" smtClean="0">
                <a:latin typeface="+mj-lt"/>
                <a:ea typeface="华文新魏" pitchFamily="2" charset="-122"/>
              </a:rPr>
              <a:t>⇌</a:t>
            </a:r>
            <a:r>
              <a:rPr lang="zh-CN" altLang="en-US" sz="2400" b="1" dirty="0" smtClean="0">
                <a:latin typeface="PingFang SC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Ni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+ 4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CN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</a:t>
            </a:r>
            <a:endParaRPr lang="zh-CN" altLang="zh-CN" sz="1050" kern="100" baseline="300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[HgI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]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2-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+ 2e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en-US" sz="2400" b="1" dirty="0" smtClean="0">
                <a:latin typeface="+mn-lt"/>
              </a:rPr>
              <a:t>⇌</a:t>
            </a:r>
            <a:r>
              <a:rPr lang="zh-CN" altLang="en-US" sz="2400" b="1" dirty="0" smtClean="0">
                <a:latin typeface="PingFang SC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Hg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+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4I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-1.183V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-0.032V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1270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992813" y="801688"/>
            <a:ext cx="5357812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i="1" kern="0" dirty="0" err="1">
                <a:solidFill>
                  <a:srgbClr val="FFFFFF"/>
                </a:solidFill>
                <a:latin typeface="Times New Roman"/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400" b="1" kern="100" baseline="300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kumimoji="1" lang="en-US" altLang="zh-CN" sz="2400" b="1" kern="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[Ni(CN)</a:t>
            </a:r>
            <a:r>
              <a:rPr kumimoji="1" lang="en-US" altLang="zh-CN" sz="2400" b="1" kern="0" baseline="-4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4</a:t>
            </a:r>
            <a:r>
              <a:rPr kumimoji="1" lang="en-US" altLang="zh-CN" sz="2400" b="1" kern="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]</a:t>
            </a:r>
            <a:r>
              <a:rPr kumimoji="1" lang="en-US" altLang="zh-CN" sz="2400" b="1" kern="0" baseline="-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2-</a:t>
            </a:r>
            <a:r>
              <a:rPr kumimoji="1" lang="en-US" altLang="zh-CN" sz="2400" b="1" kern="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  <a:sym typeface="Symbol" pitchFamily="18" charset="2"/>
              </a:rPr>
              <a:t>/Ni</a:t>
            </a:r>
            <a:endParaRPr kumimoji="1" lang="en-US" altLang="zh-CN" sz="2400" b="1" kern="0" dirty="0">
              <a:solidFill>
                <a:srgbClr val="FFFFFF"/>
              </a:solidFill>
              <a:latin typeface="Times New Roman"/>
              <a:ea typeface="华文新魏" pitchFamily="2" charset="-122"/>
              <a:sym typeface="Symbol" pitchFamily="18" charset="2"/>
            </a:endParaRPr>
          </a:p>
          <a:p>
            <a:pPr>
              <a:lnSpc>
                <a:spcPct val="115000"/>
              </a:lnSpc>
              <a:defRPr/>
            </a:pPr>
            <a:r>
              <a:rPr lang="en-US" altLang="zh-CN" sz="2400" b="1" dirty="0">
                <a:latin typeface="+mn-lt"/>
                <a:ea typeface="华文新魏" pitchFamily="2" charset="-122"/>
                <a:sym typeface="Symbol" pitchFamily="18" charset="2"/>
              </a:rPr>
              <a:t>=</a:t>
            </a:r>
            <a:r>
              <a:rPr lang="en-US" altLang="zh-CN" sz="2400" b="1" i="1" dirty="0">
                <a:latin typeface="+mn-lt"/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lang="en-US" altLang="zh-CN" sz="2400" b="1" baseline="-25000" dirty="0">
                <a:latin typeface="+mn-lt"/>
                <a:ea typeface="华文新魏" pitchFamily="2" charset="-122"/>
                <a:sym typeface="Symbol" pitchFamily="18" charset="2"/>
              </a:rPr>
              <a:t>Ni</a:t>
            </a:r>
            <a:r>
              <a:rPr lang="en-US" altLang="zh-CN" sz="2400" b="1" baseline="-5000" dirty="0">
                <a:latin typeface="+mn-lt"/>
                <a:ea typeface="华文新魏" pitchFamily="2" charset="-122"/>
                <a:sym typeface="Symbol" pitchFamily="18" charset="2"/>
              </a:rPr>
              <a:t>2+</a:t>
            </a:r>
            <a:r>
              <a:rPr lang="en-US" altLang="zh-CN" sz="2400" b="1" baseline="-25000" dirty="0">
                <a:latin typeface="+mn-lt"/>
                <a:ea typeface="华文新魏" pitchFamily="2" charset="-122"/>
                <a:sym typeface="Symbol" pitchFamily="18" charset="2"/>
              </a:rPr>
              <a:t>/Ni</a:t>
            </a:r>
            <a:r>
              <a:rPr lang="en-US" altLang="zh-CN" sz="2400" b="1" dirty="0">
                <a:latin typeface="+mn-lt"/>
                <a:ea typeface="华文新魏" pitchFamily="2" charset="-122"/>
                <a:sym typeface="Symbol" pitchFamily="18" charset="2"/>
              </a:rPr>
              <a:t> + </a:t>
            </a:r>
            <a:r>
              <a:rPr kumimoji="1" lang="en-US" altLang="zh-CN" sz="2400" b="1" kern="0" dirty="0">
                <a:solidFill>
                  <a:schemeClr val="bg1"/>
                </a:solidFill>
                <a:ea typeface="华文新魏" pitchFamily="2" charset="-122"/>
                <a:sym typeface="Symbol" pitchFamily="18" charset="2"/>
              </a:rPr>
              <a:t>(0.0592/2)</a:t>
            </a:r>
            <a:r>
              <a:rPr lang="en-US" altLang="zh-CN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华文新魏" pitchFamily="2" charset="-122"/>
              </a:rPr>
              <a:t>lg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1/</a:t>
            </a:r>
            <a:r>
              <a:rPr lang="en-US" altLang="zh-CN" sz="2400" b="1" i="1" dirty="0" err="1">
                <a:latin typeface="+mn-lt"/>
                <a:ea typeface="华文新魏" pitchFamily="2" charset="-122"/>
              </a:rPr>
              <a:t>K</a:t>
            </a:r>
            <a:r>
              <a:rPr lang="en-US" altLang="zh-CN" sz="2400" b="1" kern="100" baseline="300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θ</a:t>
            </a:r>
            <a:r>
              <a:rPr lang="zh-CN" altLang="en-US" sz="2400" b="1" baseline="-25000" dirty="0">
                <a:latin typeface="+mn-lt"/>
                <a:ea typeface="华文新魏" pitchFamily="2" charset="-122"/>
                <a:sym typeface="Webdings" pitchFamily="18" charset="2"/>
              </a:rPr>
              <a:t>稳</a:t>
            </a:r>
            <a:r>
              <a:rPr kumimoji="1" lang="en-US" altLang="zh-CN" sz="2400" b="1" kern="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[Ni(CN)</a:t>
            </a:r>
            <a:r>
              <a:rPr kumimoji="1" lang="en-US" altLang="zh-CN" sz="2400" b="1" kern="0" baseline="-4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4</a:t>
            </a:r>
            <a:r>
              <a:rPr kumimoji="1" lang="en-US" altLang="zh-CN" sz="2400" b="1" kern="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]</a:t>
            </a:r>
            <a:r>
              <a:rPr kumimoji="1" lang="en-US" altLang="zh-CN" sz="2400" b="1" kern="0" baseline="-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2-</a:t>
            </a:r>
            <a:endParaRPr kumimoji="1" lang="zh-CN" altLang="en-US" sz="2400" kern="0" baseline="-25000" dirty="0">
              <a:solidFill>
                <a:schemeClr val="bg1"/>
              </a:solidFill>
              <a:latin typeface="+mn-lt"/>
              <a:ea typeface="华文新魏" pitchFamily="2" charset="-122"/>
              <a:sym typeface="Webdings" pitchFamily="18" charset="2"/>
            </a:endParaRPr>
          </a:p>
          <a:p>
            <a:pPr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i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+mn-lt"/>
                <a:ea typeface="华文新魏" pitchFamily="2" charset="-122"/>
              </a:rPr>
              <a:t>θ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[</a:t>
            </a:r>
            <a:r>
              <a:rPr kumimoji="1" lang="en-US" altLang="zh-CN" sz="2400" b="1" kern="0" baseline="-25000" dirty="0" err="1">
                <a:solidFill>
                  <a:schemeClr val="bg1"/>
                </a:solidFill>
                <a:latin typeface="+mn-lt"/>
                <a:ea typeface="华文新魏" pitchFamily="2" charset="-122"/>
              </a:rPr>
              <a:t>HgI</a:t>
            </a:r>
            <a:r>
              <a:rPr kumimoji="1" lang="en-US" altLang="zh-CN" sz="2400" b="1" kern="0" baseline="-40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4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]</a:t>
            </a:r>
            <a:r>
              <a:rPr kumimoji="1" lang="en-US" altLang="zh-CN" sz="2400" b="1" kern="0" baseline="-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2-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/Hg</a:t>
            </a:r>
            <a:endParaRPr kumimoji="1" lang="en-US" altLang="zh-CN" sz="2400" b="1" kern="0" dirty="0">
              <a:solidFill>
                <a:schemeClr val="bg1"/>
              </a:solidFill>
              <a:latin typeface="+mn-lt"/>
              <a:ea typeface="华文新魏" pitchFamily="2" charset="-122"/>
              <a:sym typeface="Symbol" pitchFamily="18" charset="2"/>
            </a:endParaRPr>
          </a:p>
          <a:p>
            <a:pPr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= </a:t>
            </a:r>
            <a:r>
              <a:rPr kumimoji="1" lang="en-US" altLang="zh-CN" sz="2400" b="1" i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E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+mn-lt"/>
                <a:ea typeface="华文新魏" pitchFamily="2" charset="-122"/>
              </a:rPr>
              <a:t>θ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Hg</a:t>
            </a:r>
            <a:r>
              <a:rPr kumimoji="1" lang="en-US" altLang="zh-CN" sz="2400" b="1" kern="0" baseline="-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2+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/Hg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  <a:sym typeface="Symbol" pitchFamily="18" charset="2"/>
              </a:rPr>
              <a:t> + (0.0592/2)</a:t>
            </a:r>
            <a:r>
              <a:rPr kumimoji="1" lang="en-US" altLang="zh-CN" sz="2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华文新魏" pitchFamily="2" charset="-122"/>
              </a:rPr>
              <a:t>lg</a:t>
            </a:r>
            <a:r>
              <a:rPr kumimoji="1" lang="en-US" altLang="zh-CN" sz="2400" b="1" kern="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1/</a:t>
            </a:r>
            <a:r>
              <a:rPr kumimoji="1" lang="en-US" altLang="zh-CN" sz="2400" b="1" i="1" kern="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K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+mn-lt"/>
                <a:ea typeface="华文新魏" pitchFamily="2" charset="-122"/>
              </a:rPr>
              <a:t>θ</a:t>
            </a:r>
            <a:r>
              <a:rPr kumimoji="1" lang="zh-CN" altLang="en-US" sz="2400" b="1" kern="0" baseline="-25000" dirty="0">
                <a:solidFill>
                  <a:schemeClr val="bg1"/>
                </a:solidFill>
                <a:latin typeface="+mn-lt"/>
                <a:ea typeface="华文新魏" pitchFamily="2" charset="-122"/>
                <a:sym typeface="Webdings" pitchFamily="18" charset="2"/>
              </a:rPr>
              <a:t>稳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ea typeface="华文新魏" pitchFamily="2" charset="-122"/>
              </a:rPr>
              <a:t>[HgI</a:t>
            </a:r>
            <a:r>
              <a:rPr kumimoji="1" lang="en-US" altLang="zh-CN" sz="2400" b="1" kern="0" baseline="-40000" dirty="0">
                <a:solidFill>
                  <a:schemeClr val="bg1"/>
                </a:solidFill>
                <a:ea typeface="华文新魏" pitchFamily="2" charset="-122"/>
              </a:rPr>
              <a:t>4</a:t>
            </a:r>
            <a:r>
              <a:rPr kumimoji="1" lang="en-US" altLang="zh-CN" sz="2400" b="1" kern="0" baseline="-25000" dirty="0">
                <a:solidFill>
                  <a:schemeClr val="bg1"/>
                </a:solidFill>
                <a:ea typeface="华文新魏" pitchFamily="2" charset="-122"/>
              </a:rPr>
              <a:t>]</a:t>
            </a:r>
            <a:r>
              <a:rPr kumimoji="1" lang="en-US" altLang="zh-CN" sz="2400" b="1" kern="0" baseline="-5000" dirty="0">
                <a:solidFill>
                  <a:schemeClr val="bg1"/>
                </a:solidFill>
                <a:ea typeface="华文新魏" pitchFamily="2" charset="-122"/>
              </a:rPr>
              <a:t>2-</a:t>
            </a:r>
            <a:endParaRPr kumimoji="1" lang="en-US" altLang="zh-CN" sz="2400" b="1" kern="0" baseline="-25000" dirty="0">
              <a:solidFill>
                <a:schemeClr val="bg1"/>
              </a:solidFill>
              <a:latin typeface="+mn-lt"/>
              <a:ea typeface="华文新魏" pitchFamily="2" charset="-122"/>
              <a:sym typeface="Webdings" pitchFamily="18" charset="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6" grpId="0" build="p" autoUpdateAnimBg="0" advAuto="0"/>
      <p:bldP spid="8" grpId="0" build="p" autoUpdateAnimBg="0"/>
      <p:bldP spid="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54513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计算出形成配合物后电对的电极电势，根据计算出的电极电势的大小判断反应的方向。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69154"/>
            <a:ext cx="5329238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6-6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通过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计算说明下列反应能否向右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进行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solidFill>
                  <a:srgbClr val="FFFFFF"/>
                </a:solidFill>
                <a:ea typeface="宋体"/>
                <a:cs typeface="宋体"/>
              </a:rPr>
              <a:t>①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2[Fe(CN)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6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]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3-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+2I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2[Fe(CN)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6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]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4-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+ I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solidFill>
                  <a:srgbClr val="FFFFFF"/>
                </a:solidFill>
                <a:ea typeface="宋体"/>
                <a:cs typeface="宋体"/>
              </a:rPr>
              <a:t>②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[Cu(NH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]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2+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+Zn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[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Zn(NH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]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2+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+Cu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ea typeface="宋体"/>
                <a:cs typeface="宋体"/>
              </a:rPr>
              <a:t>①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不能；</a:t>
            </a:r>
            <a:r>
              <a:rPr lang="zh-CN" altLang="zh-CN" sz="2400" b="1" kern="100" dirty="0" smtClean="0">
                <a:ea typeface="宋体"/>
                <a:cs typeface="宋体"/>
              </a:rPr>
              <a:t>②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能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229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与金属离子的配位比均为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1:1</a:t>
            </a:r>
            <a:endParaRPr lang="zh-CN" altLang="zh-CN" sz="1050" kern="100" dirty="0">
              <a:latin typeface="Times New Roman"/>
              <a:ea typeface="宋体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69154"/>
            <a:ext cx="5329238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6-7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有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一标准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溶液，其浓度为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0.01000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，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问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1mLEDTA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溶液相当于：</a:t>
            </a: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Zn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</a:t>
            </a: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MgO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</a:t>
            </a: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③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各为多少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mg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?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0.6541mg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0.4030mg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0.5098mg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331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zh-CN" sz="2400" b="1" dirty="0">
                <a:ea typeface="华文新魏" pitchFamily="2" charset="-122"/>
                <a:cs typeface="Times New Roman" pitchFamily="18" charset="0"/>
              </a:rPr>
              <a:t>配位滴定的计算</a:t>
            </a:r>
            <a:r>
              <a:rPr lang="zh-CN" altLang="en-US" sz="2400" b="1" dirty="0">
                <a:ea typeface="华文新魏" pitchFamily="2" charset="-122"/>
                <a:cs typeface="Times New Roman" pitchFamily="18" charset="0"/>
              </a:rPr>
              <a:t>：</a:t>
            </a:r>
            <a:r>
              <a:rPr lang="en-US" altLang="zh-CN" sz="2400" b="1" dirty="0">
                <a:ea typeface="华文新魏" pitchFamily="2" charset="-122"/>
              </a:rPr>
              <a:t>EDTA</a:t>
            </a:r>
            <a:r>
              <a:rPr lang="zh-CN" altLang="zh-CN" sz="2400" b="1" dirty="0">
                <a:ea typeface="华文新魏" pitchFamily="2" charset="-122"/>
              </a:rPr>
              <a:t>与金属离子的配位比均为</a:t>
            </a:r>
            <a:r>
              <a:rPr lang="en-US" altLang="zh-CN" sz="2400" b="1" dirty="0">
                <a:ea typeface="华文新魏" pitchFamily="2" charset="-122"/>
              </a:rPr>
              <a:t>1:1</a:t>
            </a:r>
            <a:r>
              <a:rPr lang="zh-CN" altLang="zh-CN" sz="2400" b="1" dirty="0">
                <a:ea typeface="华文新魏" pitchFamily="2" charset="-122"/>
              </a:rPr>
              <a:t>。</a:t>
            </a:r>
            <a:endParaRPr kumimoji="1" lang="en-US" altLang="zh-CN" sz="2400" b="1" dirty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92024"/>
            <a:ext cx="5329238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6-8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称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0.1005g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纯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CaCO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，溶解后用容量瓶配成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100.0mL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溶液。吸取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25.00mL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＞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时，用钙指示剂指示终点，用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标准溶液滴定，用去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24.90mL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。试计算：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溶液的浓度；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>
              <a:defRPr/>
            </a:pPr>
            <a:r>
              <a:rPr lang="zh-CN" altLang="zh-CN" sz="2400" b="1" kern="100" dirty="0">
                <a:ea typeface="宋体"/>
                <a:cs typeface="宋体"/>
              </a:rPr>
              <a:t>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每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mL 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溶液相当于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ZnO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各多少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0.01008mol</a:t>
            </a:r>
            <a:r>
              <a:rPr lang="en-US" altLang="zh-CN" sz="2400" b="1" kern="100" dirty="0" smtClean="0">
                <a:latin typeface="Times New Roman"/>
                <a:ea typeface="宋体"/>
              </a:rPr>
              <a:t>•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0.0008204g·mL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0.0008048g·mL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434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92813" y="1944688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能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准确滴定的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条件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：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kern="100" dirty="0" err="1" smtClean="0">
                <a:latin typeface="Times New Roman"/>
                <a:ea typeface="华文新魏" pitchFamily="2" charset="-122"/>
              </a:rPr>
              <a:t>lg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(</a:t>
            </a:r>
            <a:r>
              <a:rPr lang="en-US" altLang="zh-CN" sz="2400" b="1" i="1" kern="100" dirty="0" err="1" smtClean="0">
                <a:latin typeface="Times New Roman"/>
                <a:ea typeface="华文新魏" pitchFamily="2" charset="-122"/>
              </a:rPr>
              <a:t>cK</a:t>
            </a:r>
            <a:r>
              <a:rPr lang="en-US" altLang="zh-CN" sz="2400" b="1" kern="100" baseline="30000" dirty="0" err="1" smtClean="0">
                <a:latin typeface="Times New Roman"/>
                <a:ea typeface="华文新魏" pitchFamily="2" charset="-122"/>
              </a:rPr>
              <a:t>θ’</a:t>
            </a:r>
            <a:r>
              <a:rPr lang="en-US" altLang="zh-CN" sz="2400" b="1" kern="100" baseline="-25000" dirty="0" err="1" smtClean="0">
                <a:latin typeface="Times New Roman"/>
                <a:ea typeface="华文新魏" pitchFamily="2" charset="-122"/>
              </a:rPr>
              <a:t>MgY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)≥6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2442"/>
            <a:ext cx="5329238" cy="2397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6-9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假设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Mg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的浓度皆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为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6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时，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Mg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与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配合物的条件稳定常数是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多少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（不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考虑水解等副反应）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?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并说明在此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下能否用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标准溶液滴定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Mg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?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如不能滴定，求其允许的最低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-3.99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，不能，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9.8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536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992813" y="774700"/>
            <a:ext cx="48450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+mn-lt"/>
                <a:ea typeface="华文新魏" pitchFamily="2" charset="-122"/>
                <a:sym typeface="Webdings" pitchFamily="18" charset="2"/>
              </a:rPr>
              <a:t>若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新魏" pitchFamily="2" charset="-122"/>
                <a:sym typeface="Webdings" pitchFamily="18" charset="2"/>
              </a:rPr>
              <a:t>只存在酸效应，</a:t>
            </a:r>
            <a:r>
              <a:rPr lang="zh-CN" altLang="en-US" sz="2400" b="1" dirty="0">
                <a:solidFill>
                  <a:schemeClr val="bg1"/>
                </a:solidFill>
                <a:latin typeface="+mn-lt"/>
                <a:ea typeface="华文新魏" pitchFamily="2" charset="-122"/>
                <a:sym typeface="Webdings" pitchFamily="18" charset="2"/>
              </a:rPr>
              <a:t>则</a:t>
            </a:r>
            <a:r>
              <a:rPr lang="en-US" altLang="zh-CN" sz="2400" b="1" dirty="0">
                <a:solidFill>
                  <a:schemeClr val="bg1"/>
                </a:solidFill>
                <a:latin typeface="+mn-lt"/>
                <a:ea typeface="华文新魏" pitchFamily="2" charset="-122"/>
                <a:sym typeface="Webdings" pitchFamily="18" charset="2"/>
              </a:rPr>
              <a:t>: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810375" y="1270000"/>
            <a:ext cx="3554948" cy="496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1" dirty="0" err="1" smtClean="0">
                <a:latin typeface="+mn-lt"/>
                <a:ea typeface="华文新魏" pitchFamily="2" charset="-122"/>
              </a:rPr>
              <a:t>lg</a:t>
            </a:r>
            <a:r>
              <a:rPr lang="en-US" altLang="zh-CN" sz="2400" b="1" i="1" dirty="0" err="1" smtClean="0">
                <a:latin typeface="+mn-lt"/>
                <a:ea typeface="华文新魏" pitchFamily="2" charset="-122"/>
              </a:rPr>
              <a:t>K</a:t>
            </a:r>
            <a:r>
              <a:rPr lang="en-US" altLang="zh-CN" sz="1600" b="1" baseline="100000" dirty="0" smtClean="0">
                <a:latin typeface="+mn-lt"/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400" b="1" dirty="0" smtClean="0">
                <a:latin typeface="+mn-lt"/>
                <a:ea typeface="华文新魏" pitchFamily="2" charset="-122"/>
                <a:sym typeface="Webdings" pitchFamily="18" charset="2"/>
              </a:rPr>
              <a:t>’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  <a:sym typeface="Webdings" pitchFamily="18" charset="2"/>
              </a:rPr>
              <a:t>MY</a:t>
            </a:r>
            <a:r>
              <a:rPr lang="en-US" altLang="zh-CN" sz="2400" b="1" dirty="0" smtClean="0">
                <a:latin typeface="+mn-lt"/>
                <a:ea typeface="华文新魏" pitchFamily="2" charset="-122"/>
                <a:sym typeface="Webdings" pitchFamily="18" charset="2"/>
              </a:rPr>
              <a:t> = </a:t>
            </a:r>
            <a:r>
              <a:rPr lang="en-US" altLang="zh-CN" sz="2400" b="1" dirty="0" err="1" smtClean="0">
                <a:latin typeface="+mn-lt"/>
                <a:ea typeface="华文新魏" pitchFamily="2" charset="-122"/>
              </a:rPr>
              <a:t>lg</a:t>
            </a:r>
            <a:r>
              <a:rPr lang="en-US" altLang="zh-CN" sz="2400" b="1" i="1" dirty="0" err="1" smtClean="0">
                <a:latin typeface="+mn-lt"/>
                <a:ea typeface="华文新魏" pitchFamily="2" charset="-122"/>
              </a:rPr>
              <a:t>K</a:t>
            </a:r>
            <a:r>
              <a:rPr lang="en-US" altLang="zh-CN" sz="1600" b="1" baseline="100000" dirty="0" err="1" smtClean="0">
                <a:latin typeface="+mn-lt"/>
                <a:ea typeface="华文新魏" pitchFamily="2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 smtClean="0">
                <a:latin typeface="+mn-lt"/>
                <a:ea typeface="华文新魏" pitchFamily="2" charset="-122"/>
                <a:sym typeface="Webdings" pitchFamily="18" charset="2"/>
              </a:rPr>
              <a:t>MY</a:t>
            </a:r>
            <a:r>
              <a:rPr lang="en-US" altLang="zh-CN" sz="2400" b="1" dirty="0" smtClean="0">
                <a:latin typeface="+mn-lt"/>
                <a:ea typeface="华文新魏" pitchFamily="2" charset="-122"/>
                <a:sym typeface="Webdings" pitchFamily="18" charset="2"/>
              </a:rPr>
              <a:t> - </a:t>
            </a:r>
            <a:r>
              <a:rPr lang="en-US" altLang="zh-CN" sz="2400" b="1" dirty="0" err="1" smtClean="0">
                <a:latin typeface="+mn-lt"/>
                <a:ea typeface="华文新魏" pitchFamily="2" charset="-122"/>
              </a:rPr>
              <a:t>lg</a:t>
            </a:r>
            <a:r>
              <a:rPr lang="en-US" altLang="zh-CN" sz="2400" b="1" i="1" dirty="0" smtClean="0">
                <a:latin typeface="+mn-lt"/>
                <a:ea typeface="华文新魏" pitchFamily="2" charset="-122"/>
              </a:rPr>
              <a:t>α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Y(H)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  <p:bldP spid="9" grpId="0" build="p" autoUpdateAnimBg="0"/>
      <p:bldP spid="1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配位滴定的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计算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</a:rPr>
              <a:t>：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与金属离子的配位比均为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1:1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水硬度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表示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每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L</a:t>
            </a: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水中含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10mg </a:t>
            </a:r>
            <a:r>
              <a:rPr lang="en-US" altLang="zh-CN" sz="2400" b="1" kern="1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CaO</a:t>
            </a: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称为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度 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eaLnBrk="1" hangingPunct="1"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92024"/>
            <a:ext cx="5329238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6-10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水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的硬度有用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mg·L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CaO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表示的，还有用硬度数表示的（每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水中含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10mg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CaO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称为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度）。今吸取水样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0.0100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mol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溶液测定硬度，用去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2.41mL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，计算水的硬度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：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①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用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mg·L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CaO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表示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用硬度度数表示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13.5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1.35°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639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zh-CN" sz="2400" b="1" dirty="0">
                <a:ea typeface="华文新魏" pitchFamily="2" charset="-122"/>
                <a:cs typeface="Times New Roman" pitchFamily="18" charset="0"/>
              </a:rPr>
              <a:t>配位滴定中的返滴定</a:t>
            </a:r>
            <a:r>
              <a:rPr lang="zh-CN" altLang="en-US" sz="2400" b="1" dirty="0">
                <a:ea typeface="华文新魏" pitchFamily="2" charset="-122"/>
                <a:cs typeface="Times New Roman" pitchFamily="18" charset="0"/>
              </a:rPr>
              <a:t>法：</a:t>
            </a:r>
            <a:endParaRPr lang="en-US" altLang="zh-CN" sz="2400" b="1" dirty="0">
              <a:ea typeface="华文新魏" pitchFamily="2" charset="-122"/>
              <a:cs typeface="Times New Roman" pitchFamily="18" charset="0"/>
            </a:endParaRPr>
          </a:p>
          <a:p>
            <a:pPr algn="ctr" eaLnBrk="0" hangingPunct="0"/>
            <a:r>
              <a:rPr lang="en-US" altLang="zh-CN" sz="2400" b="1" i="1" dirty="0">
                <a:ea typeface="华文新魏" pitchFamily="2" charset="-122"/>
                <a:cs typeface="Times New Roman" pitchFamily="18" charset="0"/>
              </a:rPr>
              <a:t>n</a:t>
            </a:r>
            <a:r>
              <a:rPr lang="en-US" altLang="zh-CN" sz="2400" b="1" dirty="0">
                <a:ea typeface="华文新魏" pitchFamily="2" charset="-122"/>
                <a:cs typeface="Times New Roman" pitchFamily="18" charset="0"/>
              </a:rPr>
              <a:t>(Al</a:t>
            </a:r>
            <a:r>
              <a:rPr lang="en-US" altLang="zh-CN" sz="2400" b="1" baseline="30000" dirty="0">
                <a:ea typeface="华文新魏" pitchFamily="2" charset="-122"/>
                <a:cs typeface="Times New Roman" pitchFamily="18" charset="0"/>
              </a:rPr>
              <a:t>3+</a:t>
            </a:r>
            <a:r>
              <a:rPr lang="en-US" altLang="zh-CN" sz="2400" b="1" dirty="0">
                <a:ea typeface="华文新魏" pitchFamily="2" charset="-122"/>
                <a:cs typeface="Times New Roman" pitchFamily="18" charset="0"/>
              </a:rPr>
              <a:t>)=</a:t>
            </a:r>
            <a:r>
              <a:rPr lang="en-US" altLang="zh-CN" sz="2400" b="1" i="1" dirty="0">
                <a:ea typeface="华文新魏" pitchFamily="2" charset="-122"/>
                <a:cs typeface="Times New Roman" pitchFamily="18" charset="0"/>
              </a:rPr>
              <a:t>n</a:t>
            </a:r>
            <a:r>
              <a:rPr lang="en-US" altLang="zh-CN" sz="2400" b="1" dirty="0">
                <a:ea typeface="华文新魏" pitchFamily="2" charset="-122"/>
                <a:cs typeface="Times New Roman" pitchFamily="18" charset="0"/>
              </a:rPr>
              <a:t>(EDTA)- </a:t>
            </a:r>
            <a:r>
              <a:rPr lang="en-US" altLang="zh-CN" sz="2400" b="1" i="1" dirty="0">
                <a:ea typeface="华文新魏" pitchFamily="2" charset="-122"/>
                <a:cs typeface="Times New Roman" pitchFamily="18" charset="0"/>
              </a:rPr>
              <a:t>n</a:t>
            </a:r>
            <a:r>
              <a:rPr lang="en-US" altLang="zh-CN" sz="2400" b="1" dirty="0">
                <a:ea typeface="华文新魏" pitchFamily="2" charset="-122"/>
                <a:cs typeface="Times New Roman" pitchFamily="18" charset="0"/>
              </a:rPr>
              <a:t>(Zn</a:t>
            </a:r>
            <a:r>
              <a:rPr lang="en-US" altLang="zh-CN" sz="2400" b="1" baseline="30000" dirty="0">
                <a:ea typeface="华文新魏" pitchFamily="2" charset="-122"/>
                <a:cs typeface="Times New Roman" pitchFamily="18" charset="0"/>
              </a:rPr>
              <a:t>2+</a:t>
            </a:r>
            <a:r>
              <a:rPr lang="en-US" altLang="zh-CN" sz="2400" b="1" dirty="0">
                <a:ea typeface="华文新魏" pitchFamily="2" charset="-122"/>
                <a:cs typeface="Times New Roman" pitchFamily="18" charset="0"/>
              </a:rPr>
              <a:t>)</a:t>
            </a:r>
          </a:p>
          <a:p>
            <a:pPr eaLnBrk="0" hangingPunct="0"/>
            <a:r>
              <a:rPr lang="zh-CN" altLang="zh-CN" sz="2400" b="1" dirty="0">
                <a:ea typeface="华文新魏" pitchFamily="2" charset="-122"/>
                <a:cs typeface="Times New Roman" pitchFamily="18" charset="0"/>
              </a:rPr>
              <a:t>滴定的溶液为总试样的十分之一</a:t>
            </a:r>
            <a:r>
              <a:rPr lang="en-US" altLang="zh-CN" sz="2400" b="1" i="1" dirty="0">
                <a:ea typeface="华文新魏" pitchFamily="2" charset="-122"/>
                <a:cs typeface="Times New Roman" pitchFamily="18" charset="0"/>
              </a:rPr>
              <a:t>  </a:t>
            </a:r>
          </a:p>
          <a:p>
            <a:pPr eaLnBrk="0" hangingPunct="0"/>
            <a:r>
              <a:rPr lang="en-US" altLang="zh-CN" sz="2400" b="1" i="1" dirty="0"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24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(Al</a:t>
            </a:r>
            <a:r>
              <a:rPr lang="en-US" altLang="zh-CN" sz="2400" b="1" baseline="-25000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O</a:t>
            </a:r>
            <a:r>
              <a:rPr lang="en-US" altLang="zh-CN" sz="2400" b="1" baseline="-25000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)</a:t>
            </a:r>
          </a:p>
          <a:p>
            <a:pPr algn="ctr" eaLnBrk="0" hangingPunct="0"/>
            <a:r>
              <a:rPr lang="en-US" altLang="zh-CN" sz="2400" b="1" dirty="0">
                <a:solidFill>
                  <a:srgbClr val="FFFFFF"/>
                </a:solidFill>
                <a:ea typeface="华文新魏" pitchFamily="2" charset="-122"/>
                <a:cs typeface="Times New Roman" pitchFamily="18" charset="0"/>
              </a:rPr>
              <a:t>=</a:t>
            </a:r>
            <a:r>
              <a:rPr lang="en-US" altLang="zh-CN" sz="2400" b="1" i="1" dirty="0">
                <a:ea typeface="华文新魏" pitchFamily="2" charset="-122"/>
                <a:cs typeface="Times New Roman" pitchFamily="18" charset="0"/>
              </a:rPr>
              <a:t> T</a:t>
            </a:r>
            <a:r>
              <a:rPr lang="en-US" altLang="zh-CN" sz="2400" b="1" dirty="0">
                <a:ea typeface="华文新魏" pitchFamily="2" charset="-122"/>
                <a:cs typeface="Times New Roman" pitchFamily="18" charset="0"/>
              </a:rPr>
              <a:t>(Al</a:t>
            </a:r>
            <a:r>
              <a:rPr lang="en-US" altLang="zh-CN" sz="2400" b="1" baseline="-25000" dirty="0">
                <a:ea typeface="华文新魏" pitchFamily="2" charset="-122"/>
                <a:cs typeface="Times New Roman" pitchFamily="18" charset="0"/>
              </a:rPr>
              <a:t>2</a:t>
            </a:r>
            <a:r>
              <a:rPr lang="en-US" altLang="zh-CN" sz="2400" b="1" dirty="0">
                <a:ea typeface="华文新魏" pitchFamily="2" charset="-122"/>
                <a:cs typeface="Times New Roman" pitchFamily="18" charset="0"/>
              </a:rPr>
              <a:t>O</a:t>
            </a:r>
            <a:r>
              <a:rPr lang="en-US" altLang="zh-CN" sz="2400" b="1" baseline="-25000" dirty="0">
                <a:ea typeface="华文新魏" pitchFamily="2" charset="-122"/>
                <a:cs typeface="Times New Roman" pitchFamily="18" charset="0"/>
              </a:rPr>
              <a:t>3</a:t>
            </a:r>
            <a:r>
              <a:rPr lang="en-US" altLang="zh-CN" sz="2400" b="1" dirty="0">
                <a:ea typeface="华文新魏" pitchFamily="2" charset="-122"/>
                <a:cs typeface="Times New Roman" pitchFamily="18" charset="0"/>
              </a:rPr>
              <a:t>)×(10-12.20×0.6812) ×10</a:t>
            </a:r>
          </a:p>
          <a:p>
            <a:pPr eaLnBrk="0" hangingPunct="0"/>
            <a:endParaRPr kumimoji="1" lang="en-US" altLang="zh-CN" sz="2400" b="1" dirty="0"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65131"/>
            <a:ext cx="5329238" cy="387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6-11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称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1.032g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氧化铝试样，溶解后，移入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250mL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容量瓶，稀释至刻度。吸取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25.00mL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，加入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T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(Al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1.505mg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／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标准溶液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，以二甲酚橙为指示剂，用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Zn(Ac)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标准溶液进行返滴定，至红紫色终点，消耗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Zn(Ac)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标准溶液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12.20mL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。已知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1mL Zn(Ac)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溶液相当于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0.6812 mL 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溶液，求试样中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的质量分数。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2.46%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741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既有间接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滴定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法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又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有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返滴定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法：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kumimoji="1" lang="en-US" altLang="zh-CN" sz="2400" b="1" i="1" dirty="0" smtClean="0"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ea typeface="华文新魏" pitchFamily="2" charset="-122"/>
              </a:rPr>
              <a:t>(S)=</a:t>
            </a:r>
            <a:r>
              <a:rPr kumimoji="1" lang="en-US" altLang="zh-CN" sz="2400" b="1" i="1" dirty="0" smtClean="0">
                <a:solidFill>
                  <a:srgbClr val="FFFFFF"/>
                </a:solidFill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(S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2-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)= </a:t>
            </a:r>
            <a:r>
              <a:rPr kumimoji="1" lang="en-US" altLang="zh-CN" sz="2400" b="1" i="1" dirty="0" smtClean="0"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ea typeface="华文新魏" pitchFamily="2" charset="-122"/>
              </a:rPr>
              <a:t>(Ba</a:t>
            </a:r>
            <a:r>
              <a:rPr kumimoji="1" lang="en-US" altLang="zh-CN" sz="2400" b="1" baseline="30000" dirty="0" smtClean="0">
                <a:ea typeface="华文新魏" pitchFamily="2" charset="-122"/>
              </a:rPr>
              <a:t>2+</a:t>
            </a:r>
            <a:r>
              <a:rPr kumimoji="1" lang="en-US" altLang="zh-CN" sz="2400" b="1" dirty="0" smtClean="0">
                <a:ea typeface="华文新魏" pitchFamily="2" charset="-122"/>
              </a:rPr>
              <a:t>)-</a:t>
            </a:r>
            <a:r>
              <a:rPr kumimoji="1" lang="en-US" altLang="zh-CN" sz="2400" b="1" i="1" dirty="0" smtClean="0"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ea typeface="华文新魏" pitchFamily="2" charset="-122"/>
              </a:rPr>
              <a:t>(EDTA)</a:t>
            </a: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92113"/>
            <a:ext cx="5329238" cy="306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ts val="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6-12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称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0.5000g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煤试样，灼烧并使其中硫完全氧化为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。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处理成溶液，除去重金属离子后，加入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0.05000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</a:p>
          <a:p>
            <a:pPr marL="0" indent="0">
              <a:spcBef>
                <a:spcPts val="0"/>
              </a:spcBef>
              <a:buClr>
                <a:srgbClr val="FFFFCC"/>
              </a:buClr>
              <a:buSzPct val="90000"/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BaCl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20.00mL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，使之生成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BaSO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沉淀。过量的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Ba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0.02500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</a:p>
          <a:p>
            <a:pPr marL="0" indent="0">
              <a:spcBef>
                <a:spcPts val="0"/>
              </a:spcBef>
              <a:buClr>
                <a:srgbClr val="FFFFCC"/>
              </a:buClr>
              <a:buSzPct val="90000"/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溶液滴定，用去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20.00mL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。计算煤中硫的质量分数。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3.21%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843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378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使用掩蔽进行的分步滴定，注意每次滴定与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反应的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是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哪些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金属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离子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。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kumimoji="1" lang="en-US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pH=6</a:t>
            </a:r>
            <a:r>
              <a:rPr kumimoji="1"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时：</a:t>
            </a:r>
            <a:endParaRPr kumimoji="1"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 eaLnBrk="1" hangingPunct="1">
              <a:defRPr/>
            </a:pPr>
            <a:r>
              <a:rPr kumimoji="1" lang="en-US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 </a:t>
            </a:r>
            <a:r>
              <a:rPr kumimoji="1" lang="en-US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     </a:t>
            </a:r>
            <a:r>
              <a:rPr kumimoji="1" lang="en-US" altLang="zh-CN" sz="2400" b="1" i="1" dirty="0" smtClean="0">
                <a:solidFill>
                  <a:srgbClr val="FFFFFF"/>
                </a:solidFill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(</a:t>
            </a:r>
            <a:r>
              <a:rPr kumimoji="1" lang="en-US" altLang="zh-CN" sz="2400" b="1" dirty="0">
                <a:solidFill>
                  <a:srgbClr val="FFFFFF"/>
                </a:solidFill>
                <a:ea typeface="华文新魏" pitchFamily="2" charset="-122"/>
              </a:rPr>
              <a:t>EDTA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)=</a:t>
            </a:r>
            <a:r>
              <a:rPr kumimoji="1" lang="en-US" altLang="zh-CN" sz="2400" b="1" i="1" dirty="0" smtClean="0">
                <a:solidFill>
                  <a:srgbClr val="FFFFFF"/>
                </a:solidFill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(Cu</a:t>
            </a:r>
            <a:r>
              <a:rPr kumimoji="1" lang="en-US" altLang="zh-CN" sz="2400" b="1" baseline="30000" dirty="0" smtClean="0">
                <a:solidFill>
                  <a:srgbClr val="FFFFFF"/>
                </a:solidFill>
                <a:ea typeface="华文新魏" pitchFamily="2" charset="-122"/>
              </a:rPr>
              <a:t>2+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)+</a:t>
            </a:r>
            <a:r>
              <a:rPr kumimoji="1" lang="en-US" altLang="zh-CN" sz="2400" b="1" i="1" dirty="0" smtClean="0">
                <a:solidFill>
                  <a:srgbClr val="FFFFFF"/>
                </a:solidFill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(Zn</a:t>
            </a:r>
            <a:r>
              <a:rPr kumimoji="1" lang="en-US" altLang="zh-CN" sz="2400" b="1" baseline="30000" dirty="0" smtClean="0">
                <a:solidFill>
                  <a:srgbClr val="FFFFFF"/>
                </a:solidFill>
                <a:ea typeface="华文新魏" pitchFamily="2" charset="-122"/>
              </a:rPr>
              <a:t>2</a:t>
            </a:r>
            <a:r>
              <a:rPr kumimoji="1" lang="en-US" altLang="zh-CN" sz="2400" b="1" baseline="30000" dirty="0">
                <a:solidFill>
                  <a:srgbClr val="FFFFFF"/>
                </a:solidFill>
                <a:ea typeface="华文新魏" pitchFamily="2" charset="-122"/>
              </a:rPr>
              <a:t>+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)</a:t>
            </a:r>
            <a:endParaRPr kumimoji="1" lang="en-US" altLang="zh-CN" sz="2400" b="1" dirty="0">
              <a:solidFill>
                <a:srgbClr val="FFFFFF"/>
              </a:solidFill>
              <a:ea typeface="华文新魏" pitchFamily="2" charset="-122"/>
            </a:endParaRPr>
          </a:p>
          <a:p>
            <a:pPr>
              <a:defRPr/>
            </a:pPr>
            <a:r>
              <a:rPr kumimoji="1" lang="en-US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pH=10</a:t>
            </a:r>
            <a:r>
              <a:rPr kumimoji="1"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加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KCN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掩蔽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铜和锌</a:t>
            </a:r>
            <a:r>
              <a:rPr kumimoji="1"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时</a:t>
            </a:r>
            <a:r>
              <a:rPr kumimoji="1" lang="zh-CN" altLang="en-US" sz="2400" b="1" kern="100" dirty="0">
                <a:latin typeface="Times New Roman"/>
                <a:ea typeface="华文新魏" pitchFamily="2" charset="-122"/>
                <a:cs typeface="Times New Roman"/>
              </a:rPr>
              <a:t>：</a:t>
            </a:r>
            <a:endParaRPr kumimoji="1" lang="en-US" altLang="zh-CN" sz="2400" b="1" kern="100" dirty="0">
              <a:latin typeface="Times New Roman"/>
              <a:ea typeface="华文新魏" pitchFamily="2" charset="-122"/>
              <a:cs typeface="Times New Roman"/>
            </a:endParaRPr>
          </a:p>
          <a:p>
            <a:pPr algn="ctr" eaLnBrk="1" hangingPunct="1">
              <a:defRPr/>
            </a:pPr>
            <a:r>
              <a:rPr kumimoji="1" lang="en-US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      </a:t>
            </a:r>
            <a:r>
              <a:rPr kumimoji="1" lang="en-US" altLang="zh-CN" sz="2400" b="1" i="1" dirty="0">
                <a:solidFill>
                  <a:srgbClr val="FFFFFF"/>
                </a:solidFill>
                <a:ea typeface="华文新魏" pitchFamily="2" charset="-122"/>
              </a:rPr>
              <a:t>n</a:t>
            </a:r>
            <a:r>
              <a:rPr kumimoji="1" lang="en-US" altLang="zh-CN" sz="2400" b="1" dirty="0">
                <a:solidFill>
                  <a:srgbClr val="FFFFFF"/>
                </a:solidFill>
                <a:ea typeface="华文新魏" pitchFamily="2" charset="-122"/>
              </a:rPr>
              <a:t>(EDTA)=</a:t>
            </a:r>
            <a:r>
              <a:rPr kumimoji="1" lang="en-US" altLang="zh-CN" sz="2400" b="1" i="1" dirty="0" smtClean="0">
                <a:solidFill>
                  <a:srgbClr val="FFFFFF"/>
                </a:solidFill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(Mg</a:t>
            </a:r>
            <a:r>
              <a:rPr kumimoji="1" lang="en-US" altLang="zh-CN" sz="2400" b="1" baseline="30000" dirty="0" smtClean="0">
                <a:solidFill>
                  <a:srgbClr val="FFFFFF"/>
                </a:solidFill>
                <a:ea typeface="华文新魏" pitchFamily="2" charset="-122"/>
              </a:rPr>
              <a:t>2+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)</a:t>
            </a:r>
            <a:endParaRPr kumimoji="1" lang="en-US" altLang="zh-CN" sz="2400" b="1" dirty="0">
              <a:solidFill>
                <a:srgbClr val="FFFFFF"/>
              </a:solidFill>
              <a:ea typeface="华文新魏" pitchFamily="2" charset="-122"/>
            </a:endParaRPr>
          </a:p>
          <a:p>
            <a:pPr>
              <a:defRPr/>
            </a:pP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滴加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甲醛</a:t>
            </a:r>
            <a:r>
              <a:rPr lang="zh-CN" altLang="en-US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解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蔽</a:t>
            </a: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锌</a:t>
            </a:r>
            <a:r>
              <a:rPr kumimoji="1"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时</a:t>
            </a:r>
            <a:r>
              <a:rPr kumimoji="1" lang="zh-CN" altLang="en-US" sz="2400" b="1" kern="100" dirty="0">
                <a:latin typeface="Times New Roman"/>
                <a:ea typeface="华文新魏" pitchFamily="2" charset="-122"/>
                <a:cs typeface="Times New Roman"/>
              </a:rPr>
              <a:t>：</a:t>
            </a:r>
            <a:endParaRPr kumimoji="1" lang="en-US" altLang="zh-CN" sz="2400" b="1" kern="100" dirty="0">
              <a:latin typeface="Times New Roman"/>
              <a:ea typeface="华文新魏" pitchFamily="2" charset="-122"/>
              <a:cs typeface="Times New Roman"/>
            </a:endParaRPr>
          </a:p>
          <a:p>
            <a:pPr algn="ctr" eaLnBrk="1" hangingPunct="1">
              <a:defRPr/>
            </a:pPr>
            <a:r>
              <a:rPr kumimoji="1" lang="en-US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      </a:t>
            </a:r>
            <a:r>
              <a:rPr kumimoji="1" lang="en-US" altLang="zh-CN" sz="2400" b="1" i="1" dirty="0">
                <a:solidFill>
                  <a:srgbClr val="FFFFFF"/>
                </a:solidFill>
                <a:ea typeface="华文新魏" pitchFamily="2" charset="-122"/>
              </a:rPr>
              <a:t>n</a:t>
            </a:r>
            <a:r>
              <a:rPr kumimoji="1" lang="en-US" altLang="zh-CN" sz="2400" b="1" dirty="0">
                <a:solidFill>
                  <a:srgbClr val="FFFFFF"/>
                </a:solidFill>
                <a:ea typeface="华文新魏" pitchFamily="2" charset="-122"/>
              </a:rPr>
              <a:t>(EDTA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)=</a:t>
            </a:r>
            <a:r>
              <a:rPr kumimoji="1" lang="en-US" altLang="zh-CN" sz="2400" b="1" i="1" dirty="0">
                <a:solidFill>
                  <a:srgbClr val="FFFFFF"/>
                </a:solidFill>
                <a:ea typeface="华文新魏" pitchFamily="2" charset="-122"/>
              </a:rPr>
              <a:t>n</a:t>
            </a:r>
            <a:r>
              <a:rPr kumimoji="1" lang="en-US" altLang="zh-CN" sz="2400" b="1" dirty="0">
                <a:solidFill>
                  <a:srgbClr val="FFFFFF"/>
                </a:solidFill>
                <a:ea typeface="华文新魏" pitchFamily="2" charset="-122"/>
              </a:rPr>
              <a:t>(Zn</a:t>
            </a:r>
            <a:r>
              <a:rPr kumimoji="1" lang="en-US" altLang="zh-CN" sz="2400" b="1" baseline="30000" dirty="0">
                <a:solidFill>
                  <a:srgbClr val="FFFFFF"/>
                </a:solidFill>
                <a:ea typeface="华文新魏" pitchFamily="2" charset="-122"/>
              </a:rPr>
              <a:t>2+</a:t>
            </a:r>
            <a:r>
              <a:rPr kumimoji="1" lang="en-US" altLang="zh-CN" sz="2400" b="1" dirty="0">
                <a:solidFill>
                  <a:srgbClr val="FFFFFF"/>
                </a:solidFill>
                <a:ea typeface="华文新魏" pitchFamily="2" charset="-122"/>
              </a:rPr>
              <a:t>)</a:t>
            </a:r>
          </a:p>
          <a:p>
            <a:pPr eaLnBrk="1" hangingPunct="1">
              <a:defRPr/>
            </a:pPr>
            <a:r>
              <a:rPr kumimoji="1" lang="zh-CN" altLang="en-US" sz="2400" b="1" dirty="0" smtClean="0">
                <a:solidFill>
                  <a:srgbClr val="FFFFFF"/>
                </a:solidFill>
                <a:ea typeface="华文新魏" pitchFamily="2" charset="-122"/>
              </a:rPr>
              <a:t>注意每次滴定是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100mL</a:t>
            </a:r>
            <a:r>
              <a:rPr kumimoji="1" lang="zh-CN" altLang="en-US" sz="2400" b="1" dirty="0" smtClean="0">
                <a:solidFill>
                  <a:srgbClr val="FFFFFF"/>
                </a:solidFill>
                <a:ea typeface="华文新魏" pitchFamily="2" charset="-122"/>
              </a:rPr>
              <a:t>中吸取</a:t>
            </a:r>
            <a:r>
              <a:rPr kumimoji="1" lang="en-US" altLang="zh-CN" sz="2400" b="1" dirty="0" smtClean="0">
                <a:solidFill>
                  <a:srgbClr val="FFFFFF"/>
                </a:solidFill>
                <a:ea typeface="华文新魏" pitchFamily="2" charset="-122"/>
              </a:rPr>
              <a:t>25mL</a:t>
            </a:r>
            <a:r>
              <a:rPr kumimoji="1" lang="zh-CN" altLang="en-US" sz="2400" b="1" dirty="0" smtClean="0">
                <a:solidFill>
                  <a:srgbClr val="FFFFFF"/>
                </a:solidFill>
                <a:ea typeface="华文新魏" pitchFamily="2" charset="-122"/>
              </a:rPr>
              <a:t>。</a:t>
            </a:r>
            <a:endParaRPr kumimoji="1" lang="en-US" altLang="zh-CN" sz="2400" b="1" dirty="0">
              <a:solidFill>
                <a:srgbClr val="FFFFFF"/>
              </a:solidFill>
              <a:ea typeface="华文新魏" pitchFamily="2" charset="-122"/>
            </a:endParaRPr>
          </a:p>
          <a:p>
            <a:pPr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1324"/>
            <a:ext cx="5329238" cy="461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6-13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分析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含铜锌镁合金时，称取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0.5000g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试样，溶解后用容量瓶配成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100.0mL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试样。吸取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25.00mL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，调至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6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PAN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作指示剂，用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0.05000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标准溶液滴定铜和锌，用去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37.30mL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。另外又吸取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25.00mL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试液，调至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KCN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，以掩蔽铜和锌。用同浓度的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溶液滴定镁，用去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4.10mL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。然后再滴加甲醛以解蔽锌，又用同浓度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EDTA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溶液滴定锌，用去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13.40mL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。计算试样中铜、锌、镁的质量分数。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60.74%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35.04%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3.98%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946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3610</TotalTime>
  <Pages>0</Pages>
  <Words>1660</Words>
  <Characters>0</Characters>
  <Application>Microsoft Office PowerPoint</Application>
  <DocSecurity>0</DocSecurity>
  <PresentationFormat>自定义</PresentationFormat>
  <Lines>0</Lines>
  <Paragraphs>328</Paragraphs>
  <Slides>18</Slides>
  <Notes>18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医学研究PPT模板</vt:lpstr>
      <vt:lpstr>公式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ch06配位平衡习题指导</dc:title>
  <dc:creator>江南大学</dc:creator>
  <cp:lastModifiedBy>ASUS</cp:lastModifiedBy>
  <cp:revision>331</cp:revision>
  <cp:lastPrinted>1601-01-01T00:00:00Z</cp:lastPrinted>
  <dcterms:created xsi:type="dcterms:W3CDTF">2012-06-20T03:37:37Z</dcterms:created>
  <dcterms:modified xsi:type="dcterms:W3CDTF">2017-08-23T23:00:03Z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