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6"/>
  </p:notesMasterIdLst>
  <p:sldIdLst>
    <p:sldId id="286" r:id="rId2"/>
    <p:sldId id="283" r:id="rId3"/>
    <p:sldId id="284" r:id="rId4"/>
    <p:sldId id="285" r:id="rId5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66CCFF"/>
    <a:srgbClr val="85D9F7"/>
    <a:srgbClr val="57BBFF"/>
    <a:srgbClr val="000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20" autoAdjust="0"/>
  </p:normalViewPr>
  <p:slideViewPr>
    <p:cSldViewPr>
      <p:cViewPr>
        <p:scale>
          <a:sx n="70" d="100"/>
          <a:sy n="70" d="100"/>
        </p:scale>
        <p:origin x="-306" y="-10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DC142BE-93A8-45D2-A866-D995EBC16F56}" type="datetimeFigureOut">
              <a:rPr lang="zh-CN" altLang="en-US"/>
              <a:pPr>
                <a:defRPr/>
              </a:pPr>
              <a:t>2017/8/18</a:t>
            </a:fld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EFC7FAE1-23D5-4034-BF79-556278FC39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21" descr="地砖背景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-20638" y="-17463"/>
            <a:ext cx="11563351" cy="651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32225" y="311150"/>
            <a:ext cx="612775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  <p:sp>
        <p:nvSpPr>
          <p:cNvPr id="3" name="矩形 2"/>
          <p:cNvSpPr/>
          <p:nvPr/>
        </p:nvSpPr>
        <p:spPr>
          <a:xfrm>
            <a:off x="117475" y="311150"/>
            <a:ext cx="701675" cy="430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200" b="1" kern="0" dirty="0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kumimoji="1" lang="en-US" altLang="zh-CN" sz="2200" b="1" kern="0" dirty="0">
                <a:solidFill>
                  <a:srgbClr val="FFFF00"/>
                </a:solidFill>
                <a:ea typeface="华文新魏" pitchFamily="2" charset="-122"/>
              </a:rPr>
              <a:t>1:</a:t>
            </a:r>
            <a:endParaRPr lang="zh-CN" altLang="en-US" sz="2200" b="1" dirty="0">
              <a:ea typeface="华文新魏" pitchFamily="2" charset="-122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142875" y="314325"/>
            <a:ext cx="3260725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b="1" dirty="0">
                <a:latin typeface="+mn-lt"/>
                <a:ea typeface="华文新魏" pitchFamily="2" charset="-122"/>
              </a:rPr>
              <a:t>        欲配制</a:t>
            </a:r>
            <a:r>
              <a:rPr lang="en-US" altLang="zh-CN" sz="2200" b="1" i="1" dirty="0">
                <a:latin typeface="+mn-lt"/>
                <a:ea typeface="华文新魏" pitchFamily="2" charset="-122"/>
              </a:rPr>
              <a:t>c</a:t>
            </a:r>
            <a:r>
              <a:rPr lang="en-US" altLang="zh-CN" sz="2200" b="1" dirty="0">
                <a:latin typeface="+mn-lt"/>
                <a:ea typeface="华文新魏" pitchFamily="2" charset="-122"/>
              </a:rPr>
              <a:t>(</a:t>
            </a:r>
            <a:r>
              <a:rPr lang="en-US" altLang="zh-CN" sz="2200" b="1" dirty="0" err="1">
                <a:latin typeface="+mn-lt"/>
                <a:ea typeface="华文新魏" pitchFamily="2" charset="-122"/>
              </a:rPr>
              <a:t>HCl</a:t>
            </a:r>
            <a:r>
              <a:rPr lang="en-US" altLang="zh-CN" sz="2200" b="1" dirty="0">
                <a:latin typeface="+mn-lt"/>
                <a:ea typeface="华文新魏" pitchFamily="2" charset="-122"/>
              </a:rPr>
              <a:t>) = 0.2mol·L</a:t>
            </a:r>
            <a:r>
              <a:rPr lang="en-US" altLang="zh-CN" sz="2200" b="1" baseline="30000" dirty="0">
                <a:latin typeface="+mn-lt"/>
                <a:ea typeface="华文新魏" pitchFamily="2" charset="-122"/>
              </a:rPr>
              <a:t>-1</a:t>
            </a:r>
            <a:r>
              <a:rPr lang="zh-CN" altLang="en-US" sz="2200" b="1" dirty="0">
                <a:latin typeface="+mn-lt"/>
                <a:ea typeface="华文新魏" pitchFamily="2" charset="-122"/>
              </a:rPr>
              <a:t>的盐酸溶液</a:t>
            </a:r>
            <a:r>
              <a:rPr lang="en-US" altLang="zh-CN" sz="2200" b="1" dirty="0">
                <a:latin typeface="+mn-lt"/>
                <a:ea typeface="华文新魏" pitchFamily="2" charset="-122"/>
              </a:rPr>
              <a:t>1000mL</a:t>
            </a:r>
            <a:r>
              <a:rPr lang="zh-CN" altLang="en-US" sz="2200" b="1" dirty="0">
                <a:latin typeface="+mn-lt"/>
                <a:ea typeface="华文新魏" pitchFamily="2" charset="-122"/>
              </a:rPr>
              <a:t>，应量取盐酸多少毫升？</a:t>
            </a:r>
            <a:endParaRPr lang="en-US" altLang="zh-CN" sz="2200" b="1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200" b="1" dirty="0">
                <a:latin typeface="+mn-lt"/>
                <a:ea typeface="华文新魏" pitchFamily="2" charset="-122"/>
              </a:rPr>
              <a:t>(</a:t>
            </a:r>
            <a:r>
              <a:rPr lang="zh-CN" altLang="en-US" sz="2200" b="1" dirty="0">
                <a:latin typeface="+mn-lt"/>
                <a:ea typeface="华文新魏" pitchFamily="2" charset="-122"/>
              </a:rPr>
              <a:t>注</a:t>
            </a:r>
            <a:r>
              <a:rPr lang="en-US" altLang="zh-CN" sz="2200" b="1" dirty="0">
                <a:latin typeface="+mn-lt"/>
                <a:ea typeface="华文新魏" pitchFamily="2" charset="-122"/>
              </a:rPr>
              <a:t>:</a:t>
            </a:r>
            <a:r>
              <a:rPr lang="zh-CN" altLang="en-US" sz="2200" b="1" dirty="0">
                <a:latin typeface="+mn-lt"/>
                <a:ea typeface="华文新魏" pitchFamily="2" charset="-122"/>
              </a:rPr>
              <a:t>一般不注明浓度则默认为常规浓酸</a:t>
            </a:r>
            <a:r>
              <a:rPr lang="en-US" altLang="zh-CN" sz="2200" b="1" dirty="0">
                <a:latin typeface="+mn-lt"/>
                <a:ea typeface="华文新魏" pitchFamily="2" charset="-122"/>
              </a:rPr>
              <a:t>)</a:t>
            </a:r>
          </a:p>
          <a:p>
            <a:pPr>
              <a:defRPr/>
            </a:pPr>
            <a:r>
              <a:rPr lang="en-US" altLang="zh-CN" sz="2200" b="1" dirty="0">
                <a:latin typeface="+mn-lt"/>
                <a:ea typeface="华文新魏" pitchFamily="2" charset="-122"/>
              </a:rPr>
              <a:t>(</a:t>
            </a:r>
            <a:r>
              <a:rPr lang="zh-CN" altLang="en-US" sz="2200" b="1" dirty="0">
                <a:latin typeface="+mn-lt"/>
                <a:ea typeface="华文新魏" pitchFamily="2" charset="-122"/>
              </a:rPr>
              <a:t>已知盐酸的密度为</a:t>
            </a:r>
            <a:r>
              <a:rPr lang="en-US" altLang="en-US" sz="2200" b="1" dirty="0">
                <a:latin typeface="+mn-lt"/>
                <a:ea typeface="华文新魏" pitchFamily="2" charset="-122"/>
              </a:rPr>
              <a:t>1.19 g</a:t>
            </a:r>
            <a:r>
              <a:rPr lang="en-US" altLang="zh-CN" sz="2200" b="1" dirty="0">
                <a:latin typeface="+mn-lt"/>
                <a:ea typeface="华文新魏" pitchFamily="2" charset="-122"/>
              </a:rPr>
              <a:t>•</a:t>
            </a:r>
            <a:r>
              <a:rPr lang="en-US" altLang="en-US" sz="2200" b="1" dirty="0">
                <a:latin typeface="+mn-lt"/>
                <a:ea typeface="华文新魏" pitchFamily="2" charset="-122"/>
              </a:rPr>
              <a:t>mL</a:t>
            </a:r>
            <a:r>
              <a:rPr lang="en-US" altLang="en-US" sz="2200" b="1" baseline="30000" dirty="0">
                <a:latin typeface="+mn-lt"/>
                <a:ea typeface="华文新魏" pitchFamily="2" charset="-122"/>
              </a:rPr>
              <a:t>-1</a:t>
            </a:r>
            <a:r>
              <a:rPr lang="zh-CN" altLang="en-US" sz="2200" b="1" dirty="0">
                <a:latin typeface="+mn-lt"/>
                <a:ea typeface="华文新魏" pitchFamily="2" charset="-122"/>
              </a:rPr>
              <a:t>，</a:t>
            </a:r>
            <a:r>
              <a:rPr lang="en-US" altLang="en-US" sz="2200" b="1" dirty="0" err="1">
                <a:latin typeface="+mn-lt"/>
                <a:ea typeface="华文新魏" pitchFamily="2" charset="-122"/>
              </a:rPr>
              <a:t>HCl</a:t>
            </a:r>
            <a:r>
              <a:rPr lang="zh-CN" altLang="en-US" sz="2200" b="1" dirty="0">
                <a:latin typeface="+mn-lt"/>
                <a:ea typeface="华文新魏" pitchFamily="2" charset="-122"/>
              </a:rPr>
              <a:t>的质量分数约为</a:t>
            </a:r>
            <a:r>
              <a:rPr lang="en-US" altLang="en-US" sz="2200" b="1" dirty="0">
                <a:latin typeface="+mn-lt"/>
                <a:ea typeface="华文新魏" pitchFamily="2" charset="-122"/>
              </a:rPr>
              <a:t>37</a:t>
            </a:r>
            <a:r>
              <a:rPr lang="zh-CN" altLang="en-US" sz="2200" b="1" dirty="0">
                <a:latin typeface="+mn-lt"/>
                <a:ea typeface="华文新魏" pitchFamily="2" charset="-122"/>
              </a:rPr>
              <a:t>％</a:t>
            </a:r>
            <a:r>
              <a:rPr lang="en-US" altLang="zh-CN" sz="2200" b="1" dirty="0">
                <a:latin typeface="+mn-lt"/>
                <a:ea typeface="华文新魏" pitchFamily="2" charset="-122"/>
              </a:rPr>
              <a:t>)</a:t>
            </a:r>
            <a:endParaRPr lang="zh-CN" altLang="en-US" sz="2200" b="1" dirty="0">
              <a:latin typeface="+mn-lt"/>
              <a:ea typeface="华文新魏" pitchFamily="2" charset="-122"/>
            </a:endParaRPr>
          </a:p>
        </p:txBody>
      </p:sp>
      <p:sp>
        <p:nvSpPr>
          <p:cNvPr id="4112" name="Rectangle 16"/>
          <p:cNvSpPr>
            <a:spLocks noChangeArrowheads="1"/>
          </p:cNvSpPr>
          <p:nvPr/>
        </p:nvSpPr>
        <p:spPr bwMode="auto">
          <a:xfrm>
            <a:off x="3760788" y="311150"/>
            <a:ext cx="6858000" cy="862013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676275" eaLnBrk="0" hangingPunct="0">
              <a:defRPr/>
            </a:pPr>
            <a:r>
              <a:rPr lang="zh-CN" altLang="en-US" sz="2500" b="1" dirty="0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关系</a:t>
            </a:r>
            <a:r>
              <a:rPr lang="en-US" altLang="zh-CN" sz="2500" b="1" dirty="0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: </a:t>
            </a:r>
            <a:r>
              <a:rPr lang="en-US" altLang="zh-CN" sz="2500" b="1" i="1" dirty="0" err="1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n</a:t>
            </a:r>
            <a:r>
              <a:rPr lang="en-US" altLang="zh-CN" sz="2500" b="1" baseline="-30000" dirty="0" err="1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 = </a:t>
            </a:r>
            <a:r>
              <a:rPr lang="en-US" altLang="zh-CN" sz="2500" b="1" i="1" dirty="0" err="1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2500" b="1" baseline="-30000" dirty="0" err="1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B</a:t>
            </a:r>
            <a:r>
              <a:rPr lang="en-US" altLang="zh-CN" sz="2500" b="1" dirty="0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 / </a:t>
            </a:r>
            <a:r>
              <a:rPr lang="en-US" altLang="zh-CN" sz="2500" b="1" i="1" dirty="0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2500" b="1" baseline="-30000" dirty="0">
                <a:solidFill>
                  <a:srgbClr val="FFFF00"/>
                </a:solidFill>
                <a:latin typeface="+mn-lt"/>
                <a:ea typeface="华文新魏" pitchFamily="2" charset="-122"/>
                <a:cs typeface="Times New Roman" pitchFamily="18" charset="0"/>
              </a:rPr>
              <a:t>B</a:t>
            </a:r>
            <a:endParaRPr lang="en-US" altLang="zh-CN" sz="2500" b="1" dirty="0">
              <a:solidFill>
                <a:srgbClr val="FFFF00"/>
              </a:solidFill>
              <a:latin typeface="+mn-lt"/>
              <a:ea typeface="华文新魏" pitchFamily="2" charset="-122"/>
            </a:endParaRPr>
          </a:p>
          <a:p>
            <a:pPr indent="676275" eaLnBrk="0" hangingPunct="0">
              <a:defRPr/>
            </a:pPr>
            <a:r>
              <a:rPr lang="zh-CN" altLang="en-US" sz="2500" b="1" dirty="0">
                <a:latin typeface="+mn-lt"/>
                <a:ea typeface="华文新魏" pitchFamily="2" charset="-122"/>
                <a:cs typeface="Times New Roman" pitchFamily="18" charset="0"/>
              </a:rPr>
              <a:t>          </a:t>
            </a:r>
            <a:r>
              <a:rPr lang="en-US" altLang="zh-CN" sz="2500" b="1" i="1" dirty="0">
                <a:latin typeface="+mn-lt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2500" b="1" baseline="-30000" dirty="0">
                <a:latin typeface="+mn-lt"/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en-US" sz="2500" b="1" dirty="0">
                <a:latin typeface="+mn-lt"/>
                <a:ea typeface="华文新魏" pitchFamily="2" charset="-122"/>
                <a:cs typeface="Times New Roman" pitchFamily="18" charset="0"/>
              </a:rPr>
              <a:t>物质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en-US" sz="2500" b="1" dirty="0">
                <a:latin typeface="+mn-lt"/>
                <a:ea typeface="华文新魏" pitchFamily="2" charset="-122"/>
                <a:cs typeface="Times New Roman" pitchFamily="18" charset="0"/>
              </a:rPr>
              <a:t>的摩尔质量，单位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g•mol</a:t>
            </a:r>
            <a:r>
              <a:rPr lang="en-US" altLang="zh-CN" sz="2500" b="1" baseline="30000" dirty="0">
                <a:latin typeface="+mn-lt"/>
                <a:ea typeface="华文新魏" pitchFamily="2" charset="-122"/>
                <a:cs typeface="Times New Roman" pitchFamily="18" charset="0"/>
              </a:rPr>
              <a:t>-1</a:t>
            </a:r>
            <a:endParaRPr lang="en-US" altLang="zh-CN" sz="2500" b="1" dirty="0">
              <a:latin typeface="+mn-lt"/>
              <a:ea typeface="华文新魏" pitchFamily="2" charset="-122"/>
            </a:endParaRP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4189413" y="1168400"/>
            <a:ext cx="6858000" cy="476250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342900" eaLnBrk="0" hangingPunct="0">
              <a:defRPr/>
            </a:pP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en-US" sz="2500" b="1" dirty="0">
                <a:latin typeface="+mn-lt"/>
                <a:ea typeface="华文新魏" pitchFamily="2" charset="-122"/>
                <a:cs typeface="Times New Roman" pitchFamily="18" charset="0"/>
              </a:rPr>
              <a:t>升盐酸中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latin typeface="+mn-lt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500" b="1" dirty="0" err="1">
                <a:latin typeface="+mn-lt"/>
                <a:ea typeface="华文新魏" pitchFamily="2" charset="-122"/>
                <a:cs typeface="Times New Roman" pitchFamily="18" charset="0"/>
              </a:rPr>
              <a:t>HCl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en-US" sz="2500" b="1" dirty="0">
                <a:latin typeface="+mn-lt"/>
                <a:ea typeface="华文新魏" pitchFamily="2" charset="-122"/>
                <a:cs typeface="Times New Roman" pitchFamily="18" charset="0"/>
              </a:rPr>
              <a:t>：</a:t>
            </a:r>
            <a:endParaRPr lang="zh-CN" altLang="en-US" sz="2500" b="1" dirty="0">
              <a:latin typeface="+mn-lt"/>
              <a:ea typeface="华文新魏" pitchFamily="2" charset="-122"/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3760788" y="3382963"/>
            <a:ext cx="6858000" cy="862012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676275" eaLnBrk="0" hangingPunct="0">
              <a:defRPr/>
            </a:pPr>
            <a:r>
              <a:rPr lang="zh-CN" altLang="en-US" sz="2500" b="1" dirty="0">
                <a:latin typeface="+mn-lt"/>
                <a:ea typeface="华文新魏" pitchFamily="2" charset="-122"/>
                <a:cs typeface="Times New Roman" pitchFamily="18" charset="0"/>
              </a:rPr>
              <a:t>根据</a:t>
            </a:r>
            <a:r>
              <a:rPr lang="en-US" altLang="zh-CN" sz="2500" b="1" i="1" dirty="0">
                <a:latin typeface="+mn-lt"/>
                <a:ea typeface="华文新魏" pitchFamily="2" charset="-122"/>
                <a:cs typeface="Times New Roman" pitchFamily="18" charset="0"/>
              </a:rPr>
              <a:t>c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500" b="1" dirty="0" err="1">
                <a:latin typeface="+mn-lt"/>
                <a:ea typeface="华文新魏" pitchFamily="2" charset="-122"/>
                <a:cs typeface="Times New Roman" pitchFamily="18" charset="0"/>
              </a:rPr>
              <a:t>HCl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) = </a:t>
            </a:r>
            <a:r>
              <a:rPr lang="en-US" altLang="zh-CN" sz="2500" b="1" i="1" dirty="0">
                <a:latin typeface="+mn-lt"/>
                <a:ea typeface="华文新魏" pitchFamily="2" charset="-122"/>
                <a:cs typeface="Times New Roman" pitchFamily="18" charset="0"/>
              </a:rPr>
              <a:t>n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500" b="1" dirty="0" err="1">
                <a:latin typeface="+mn-lt"/>
                <a:ea typeface="华文新魏" pitchFamily="2" charset="-122"/>
                <a:cs typeface="Times New Roman" pitchFamily="18" charset="0"/>
              </a:rPr>
              <a:t>HCl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)/ </a:t>
            </a:r>
            <a:r>
              <a:rPr lang="en-US" altLang="zh-CN" sz="2500" b="1" i="1" dirty="0">
                <a:latin typeface="+mn-lt"/>
                <a:ea typeface="华文新魏" pitchFamily="2" charset="-122"/>
                <a:cs typeface="Times New Roman" pitchFamily="18" charset="0"/>
              </a:rPr>
              <a:t>V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500" b="1" dirty="0" err="1">
                <a:latin typeface="+mn-lt"/>
                <a:ea typeface="华文新魏" pitchFamily="2" charset="-122"/>
                <a:cs typeface="Times New Roman" pitchFamily="18" charset="0"/>
              </a:rPr>
              <a:t>HCl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)</a:t>
            </a:r>
            <a:endParaRPr lang="zh-CN" altLang="en-US" sz="2500" b="1" dirty="0">
              <a:latin typeface="+mn-lt"/>
              <a:ea typeface="华文新魏" pitchFamily="2" charset="-122"/>
              <a:cs typeface="Calibri" pitchFamily="34" charset="0"/>
            </a:endParaRPr>
          </a:p>
          <a:p>
            <a:pPr indent="676275" eaLnBrk="0" hangingPunct="0">
              <a:defRPr/>
            </a:pPr>
            <a:r>
              <a:rPr lang="zh-CN" altLang="en-US" sz="2500" b="1" dirty="0">
                <a:latin typeface="+mn-lt"/>
                <a:ea typeface="华文新魏" pitchFamily="2" charset="-122"/>
                <a:cs typeface="Calibri" pitchFamily="34" charset="0"/>
              </a:rPr>
              <a:t>                    </a:t>
            </a:r>
            <a:r>
              <a:rPr lang="en-US" altLang="zh-CN" sz="2500" b="1" dirty="0">
                <a:latin typeface="+mn-lt"/>
                <a:ea typeface="华文新魏" pitchFamily="2" charset="-122"/>
                <a:cs typeface="Calibri" pitchFamily="34" charset="0"/>
              </a:rPr>
              <a:t>= 12.1 mol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•</a:t>
            </a:r>
            <a:r>
              <a:rPr lang="en-US" altLang="zh-CN" sz="2500" b="1" dirty="0">
                <a:latin typeface="+mn-lt"/>
                <a:ea typeface="华文新魏" pitchFamily="2" charset="-122"/>
                <a:cs typeface="Calibri" pitchFamily="34" charset="0"/>
              </a:rPr>
              <a:t>L</a:t>
            </a:r>
            <a:r>
              <a:rPr lang="en-US" altLang="zh-CN" sz="2500" b="1" baseline="30000" dirty="0">
                <a:latin typeface="+mn-lt"/>
                <a:ea typeface="华文新魏" pitchFamily="2" charset="-122"/>
                <a:cs typeface="Calibri" pitchFamily="34" charset="0"/>
              </a:rPr>
              <a:t>-1</a:t>
            </a:r>
            <a:r>
              <a:rPr lang="en-US" altLang="zh-CN" sz="2500" b="1" dirty="0">
                <a:latin typeface="+mn-lt"/>
                <a:ea typeface="华文新魏" pitchFamily="2" charset="-122"/>
              </a:rPr>
              <a:t> </a:t>
            </a: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4832350" y="2097088"/>
            <a:ext cx="5286375" cy="477837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676275" eaLnBrk="0" hangingPunct="0"/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= 1.19 g•mL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-1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×0.37×1000mL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4117975" y="2525713"/>
            <a:ext cx="6858000" cy="862012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342900" eaLnBrk="0" hangingPunct="0">
              <a:defRPr/>
            </a:pPr>
            <a:r>
              <a:rPr lang="zh-CN" altLang="en-US" sz="2500" b="1" dirty="0">
                <a:latin typeface="+mn-lt"/>
                <a:ea typeface="华文新魏" pitchFamily="2" charset="-122"/>
                <a:cs typeface="Times New Roman" pitchFamily="18" charset="0"/>
              </a:rPr>
              <a:t>含</a:t>
            </a:r>
            <a:r>
              <a:rPr lang="en-US" altLang="zh-CN" sz="2500" b="1" i="1" dirty="0">
                <a:latin typeface="+mn-lt"/>
                <a:ea typeface="华文新魏" pitchFamily="2" charset="-122"/>
                <a:cs typeface="Times New Roman" pitchFamily="18" charset="0"/>
              </a:rPr>
              <a:t>n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500" b="1" dirty="0" err="1">
                <a:latin typeface="+mn-lt"/>
                <a:ea typeface="华文新魏" pitchFamily="2" charset="-122"/>
                <a:cs typeface="Times New Roman" pitchFamily="18" charset="0"/>
              </a:rPr>
              <a:t>HCl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) = </a:t>
            </a:r>
            <a:r>
              <a:rPr lang="en-US" altLang="zh-CN" sz="2500" b="1" i="1" dirty="0">
                <a:latin typeface="+mn-lt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500" b="1" dirty="0" err="1">
                <a:latin typeface="+mn-lt"/>
                <a:ea typeface="华文新魏" pitchFamily="2" charset="-122"/>
                <a:cs typeface="Times New Roman" pitchFamily="18" charset="0"/>
              </a:rPr>
              <a:t>HCl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)/ </a:t>
            </a:r>
            <a:r>
              <a:rPr lang="en-US" altLang="zh-CN" sz="2500" b="1" i="1" dirty="0">
                <a:latin typeface="+mn-lt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500" b="1" dirty="0" err="1">
                <a:latin typeface="+mn-lt"/>
                <a:ea typeface="华文新魏" pitchFamily="2" charset="-122"/>
                <a:cs typeface="Times New Roman" pitchFamily="18" charset="0"/>
              </a:rPr>
              <a:t>HCl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)</a:t>
            </a:r>
            <a:endParaRPr lang="zh-CN" altLang="en-US" sz="2500" b="1" dirty="0">
              <a:latin typeface="+mn-lt"/>
              <a:ea typeface="华文新魏" pitchFamily="2" charset="-122"/>
            </a:endParaRPr>
          </a:p>
          <a:p>
            <a:pPr indent="676275" eaLnBrk="0" hangingPunct="0">
              <a:defRPr/>
            </a:pPr>
            <a:r>
              <a:rPr lang="zh-CN" altLang="en-US" sz="2500" b="1" dirty="0">
                <a:latin typeface="+mn-lt"/>
                <a:ea typeface="华文新魏" pitchFamily="2" charset="-122"/>
                <a:cs typeface="Times New Roman" pitchFamily="18" charset="0"/>
              </a:rPr>
              <a:t>             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= 440/ 36.5 g•mol</a:t>
            </a:r>
            <a:r>
              <a:rPr lang="en-US" altLang="zh-CN" sz="2500" b="1" baseline="30000" dirty="0">
                <a:latin typeface="+mn-lt"/>
                <a:ea typeface="华文新魏" pitchFamily="2" charset="-122"/>
                <a:cs typeface="Times New Roman" pitchFamily="18" charset="0"/>
              </a:rPr>
              <a:t>-1</a:t>
            </a:r>
            <a:r>
              <a:rPr lang="en-US" altLang="zh-CN" sz="2500" b="1" dirty="0">
                <a:latin typeface="+mn-lt"/>
                <a:ea typeface="华文新魏" pitchFamily="2" charset="-122"/>
                <a:cs typeface="Times New Roman" pitchFamily="18" charset="0"/>
              </a:rPr>
              <a:t> = 12.1mol</a:t>
            </a:r>
            <a:endParaRPr lang="en-US" altLang="zh-CN" sz="2500" b="1" dirty="0">
              <a:latin typeface="+mn-lt"/>
              <a:ea typeface="华文新魏" pitchFamily="2" charset="-122"/>
            </a:endParaRPr>
          </a:p>
        </p:txBody>
      </p:sp>
      <p:sp>
        <p:nvSpPr>
          <p:cNvPr id="3082" name="矩形 14"/>
          <p:cNvSpPr>
            <a:spLocks noChangeArrowheads="1"/>
          </p:cNvSpPr>
          <p:nvPr/>
        </p:nvSpPr>
        <p:spPr bwMode="auto">
          <a:xfrm>
            <a:off x="5118100" y="1597025"/>
            <a:ext cx="26431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/>
              <a:t>m</a:t>
            </a:r>
            <a:r>
              <a:rPr lang="en-US" altLang="zh-CN" sz="2500" b="1" i="1" baseline="-25000"/>
              <a:t>B</a:t>
            </a:r>
            <a:r>
              <a:rPr lang="en-US" altLang="zh-CN" sz="2500" b="1" i="1"/>
              <a:t> = ρ</a:t>
            </a:r>
            <a:r>
              <a:rPr lang="en-US" altLang="zh-CN" sz="2500" b="1" baseline="-25000"/>
              <a:t>B</a:t>
            </a:r>
            <a:r>
              <a:rPr lang="en-US" altLang="zh-CN" sz="2500" b="1"/>
              <a:t> ×</a:t>
            </a:r>
            <a:r>
              <a:rPr lang="en-US" altLang="zh-CN" sz="2500" b="1" i="1"/>
              <a:t>ω</a:t>
            </a:r>
            <a:r>
              <a:rPr lang="en-US" altLang="zh-CN" sz="2500" b="1" baseline="-25000"/>
              <a:t>B</a:t>
            </a:r>
            <a:r>
              <a:rPr lang="en-US" altLang="zh-CN" sz="2500" b="1"/>
              <a:t> </a:t>
            </a:r>
            <a:endParaRPr lang="zh-CN" altLang="en-US" sz="2500" b="1"/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4117975" y="4240213"/>
            <a:ext cx="72739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342900"/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稀释计算</a:t>
            </a:r>
            <a:r>
              <a:rPr lang="en-US" altLang="zh-CN" sz="2500" b="1">
                <a:ea typeface="华文新魏" pitchFamily="2" charset="-122"/>
              </a:rPr>
              <a:t>:</a:t>
            </a:r>
            <a:r>
              <a:rPr lang="zh-CN" altLang="en-US" sz="2500" b="1">
                <a:ea typeface="华文新魏" pitchFamily="2" charset="-122"/>
              </a:rPr>
              <a:t>稀释前后物质的量不变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9190038" y="4240213"/>
            <a:ext cx="20161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342900"/>
            <a:r>
              <a:rPr lang="en-US" altLang="zh-CN" sz="2500" b="1" i="1">
                <a:solidFill>
                  <a:srgbClr val="FFFF00"/>
                </a:solidFill>
                <a:ea typeface="华文新魏" pitchFamily="2" charset="-122"/>
              </a:rPr>
              <a:t>c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</a:rPr>
              <a:t>1</a:t>
            </a:r>
            <a:r>
              <a:rPr lang="en-US" altLang="zh-CN" sz="2500" b="1" i="1">
                <a:solidFill>
                  <a:srgbClr val="FFFF00"/>
                </a:solidFill>
                <a:ea typeface="华文新魏" pitchFamily="2" charset="-122"/>
              </a:rPr>
              <a:t>V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</a:rPr>
              <a:t>1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</a:rPr>
              <a:t> = </a:t>
            </a:r>
            <a:r>
              <a:rPr lang="en-US" altLang="zh-CN" sz="2500" b="1" i="1">
                <a:solidFill>
                  <a:srgbClr val="FFFF00"/>
                </a:solidFill>
                <a:ea typeface="华文新魏" pitchFamily="2" charset="-122"/>
              </a:rPr>
              <a:t>c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</a:rPr>
              <a:t>2</a:t>
            </a:r>
            <a:r>
              <a:rPr lang="en-US" altLang="zh-CN" sz="2500" b="1" i="1">
                <a:solidFill>
                  <a:srgbClr val="FFFF00"/>
                </a:solidFill>
                <a:ea typeface="华文新魏" pitchFamily="2" charset="-122"/>
              </a:rPr>
              <a:t>V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</a:rPr>
              <a:t>2</a:t>
            </a: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4152900" y="4740275"/>
            <a:ext cx="46799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342900"/>
            <a:r>
              <a:rPr lang="en-US" altLang="zh-CN" sz="2500" b="1">
                <a:ea typeface="华文新魏" pitchFamily="2" charset="-122"/>
              </a:rPr>
              <a:t>12×</a:t>
            </a:r>
            <a:r>
              <a:rPr lang="en-US" altLang="zh-CN" sz="2500" b="1" i="1">
                <a:ea typeface="华文新魏" pitchFamily="2" charset="-122"/>
              </a:rPr>
              <a:t>V</a:t>
            </a:r>
            <a:r>
              <a:rPr lang="en-US" altLang="zh-CN" sz="2500" b="1" baseline="-25000">
                <a:ea typeface="华文新魏" pitchFamily="2" charset="-122"/>
              </a:rPr>
              <a:t>1</a:t>
            </a:r>
            <a:r>
              <a:rPr lang="en-US" altLang="zh-CN" sz="2500" b="1">
                <a:ea typeface="华文新魏" pitchFamily="2" charset="-122"/>
              </a:rPr>
              <a:t> = 0.2×1000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4189413" y="5195888"/>
            <a:ext cx="38877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342900"/>
            <a:r>
              <a:rPr lang="en-US" altLang="zh-CN" sz="2500" b="1" i="1" dirty="0">
                <a:ea typeface="华文新魏" pitchFamily="2" charset="-122"/>
              </a:rPr>
              <a:t>V</a:t>
            </a:r>
            <a:r>
              <a:rPr lang="en-US" altLang="zh-CN" sz="2500" b="1" baseline="-25000" dirty="0">
                <a:ea typeface="华文新魏" pitchFamily="2" charset="-122"/>
              </a:rPr>
              <a:t>1</a:t>
            </a:r>
            <a:r>
              <a:rPr lang="en-US" altLang="zh-CN" sz="2500" b="1" dirty="0">
                <a:ea typeface="华文新魏" pitchFamily="2" charset="-122"/>
              </a:rPr>
              <a:t> = 16.7mL≈ 17mL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112" grpId="0"/>
      <p:bldP spid="11" grpId="0"/>
      <p:bldP spid="12" grpId="0"/>
      <p:bldP spid="13" grpId="0"/>
      <p:bldP spid="14" grpId="0"/>
      <p:bldP spid="3082" grpId="0"/>
      <p:bldP spid="15" grpId="0" autoUpdateAnimBg="0"/>
      <p:bldP spid="17" grpId="0" autoUpdateAnimBg="0"/>
      <p:bldP spid="18" grpId="0" autoUpdateAnimBg="0"/>
      <p:bldP spid="1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8" name="Rectangle 30"/>
          <p:cNvSpPr>
            <a:spLocks noChangeArrowheads="1"/>
          </p:cNvSpPr>
          <p:nvPr/>
        </p:nvSpPr>
        <p:spPr bwMode="auto">
          <a:xfrm>
            <a:off x="3706813" y="250825"/>
            <a:ext cx="24479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两个重要关系：</a:t>
            </a:r>
          </a:p>
        </p:txBody>
      </p:sp>
      <p:sp>
        <p:nvSpPr>
          <p:cNvPr id="58399" name="Rectangle 31"/>
          <p:cNvSpPr>
            <a:spLocks noChangeArrowheads="1"/>
          </p:cNvSpPr>
          <p:nvPr/>
        </p:nvSpPr>
        <p:spPr bwMode="auto">
          <a:xfrm>
            <a:off x="4032250" y="682625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</a:rPr>
              <a:t>B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</a:rPr>
              <a:t>物质的质量</a:t>
            </a:r>
            <a:r>
              <a:rPr lang="en-US" altLang="zh-CN" sz="2500" b="1" i="1">
                <a:solidFill>
                  <a:srgbClr val="FFFFFF"/>
                </a:solidFill>
              </a:rPr>
              <a:t>m</a:t>
            </a:r>
            <a:r>
              <a:rPr lang="en-US" altLang="zh-CN" sz="2500" b="1">
                <a:solidFill>
                  <a:srgbClr val="FFFFFF"/>
                </a:solidFill>
              </a:rPr>
              <a:t>(B)</a:t>
            </a:r>
            <a:endParaRPr lang="zh-CN" altLang="en-US" sz="2500" b="1">
              <a:solidFill>
                <a:srgbClr val="FFFFFF"/>
              </a:solidFill>
            </a:endParaRPr>
          </a:p>
        </p:txBody>
      </p:sp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4030663" y="1187450"/>
            <a:ext cx="3243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</a:rPr>
              <a:t>B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</a:rPr>
              <a:t>物质的物质的量</a:t>
            </a:r>
            <a:r>
              <a:rPr lang="en-US" altLang="zh-CN" sz="2500" b="1" i="1">
                <a:solidFill>
                  <a:srgbClr val="FFFFFF"/>
                </a:solidFill>
              </a:rPr>
              <a:t>n</a:t>
            </a:r>
            <a:r>
              <a:rPr lang="en-US" altLang="zh-CN" sz="2500" b="1">
                <a:solidFill>
                  <a:srgbClr val="FFFFFF"/>
                </a:solidFill>
              </a:rPr>
              <a:t>(B)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</a:endParaRPr>
          </a:p>
        </p:txBody>
      </p:sp>
      <p:sp>
        <p:nvSpPr>
          <p:cNvPr id="58403" name="Rectangle 35"/>
          <p:cNvSpPr>
            <a:spLocks noChangeArrowheads="1"/>
          </p:cNvSpPr>
          <p:nvPr/>
        </p:nvSpPr>
        <p:spPr bwMode="auto">
          <a:xfrm>
            <a:off x="3706813" y="1655763"/>
            <a:ext cx="67691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滴定反应是进行滴定分析计算很重要的依据</a:t>
            </a:r>
            <a:r>
              <a:rPr lang="zh-CN" altLang="en-US" sz="2500" b="1">
                <a:solidFill>
                  <a:srgbClr val="FFFFCC"/>
                </a:solidFill>
                <a:ea typeface="华文新魏" pitchFamily="2" charset="-122"/>
              </a:rPr>
              <a:t>        </a:t>
            </a:r>
            <a:endParaRPr lang="en-US" altLang="zh-CN" sz="2500" b="1">
              <a:solidFill>
                <a:srgbClr val="FFFFCC"/>
              </a:solidFill>
              <a:ea typeface="华文新魏" pitchFamily="2" charset="-122"/>
            </a:endParaRPr>
          </a:p>
        </p:txBody>
      </p:sp>
      <p:sp>
        <p:nvSpPr>
          <p:cNvPr id="58409" name="Rectangle 41"/>
          <p:cNvSpPr>
            <a:spLocks noChangeArrowheads="1"/>
          </p:cNvSpPr>
          <p:nvPr/>
        </p:nvSpPr>
        <p:spPr bwMode="auto">
          <a:xfrm>
            <a:off x="5145088" y="2087563"/>
            <a:ext cx="49688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 i="1">
                <a:solidFill>
                  <a:srgbClr val="FFFFCC"/>
                </a:solidFill>
                <a:ea typeface="华文新魏" pitchFamily="2" charset="-122"/>
              </a:rPr>
              <a:t>a</a:t>
            </a:r>
            <a:r>
              <a:rPr lang="en-US" altLang="zh-CN" sz="2500" b="1">
                <a:solidFill>
                  <a:srgbClr val="FFFFCC"/>
                </a:solidFill>
                <a:ea typeface="华文新魏" pitchFamily="2" charset="-122"/>
              </a:rPr>
              <a:t>A      +      </a:t>
            </a:r>
            <a:r>
              <a:rPr lang="en-US" altLang="zh-CN" sz="2500" b="1" i="1">
                <a:solidFill>
                  <a:srgbClr val="FFFFCC"/>
                </a:solidFill>
                <a:ea typeface="华文新魏" pitchFamily="2" charset="-122"/>
              </a:rPr>
              <a:t>b</a:t>
            </a:r>
            <a:r>
              <a:rPr lang="en-US" altLang="zh-CN" sz="2500" b="1">
                <a:solidFill>
                  <a:srgbClr val="FFFFCC"/>
                </a:solidFill>
                <a:ea typeface="华文新魏" pitchFamily="2" charset="-122"/>
              </a:rPr>
              <a:t>B    =    </a:t>
            </a:r>
            <a:r>
              <a:rPr lang="en-US" altLang="zh-CN" sz="2500" b="1" i="1">
                <a:solidFill>
                  <a:srgbClr val="FFFFCC"/>
                </a:solidFill>
                <a:ea typeface="华文新魏" pitchFamily="2" charset="-122"/>
              </a:rPr>
              <a:t>c</a:t>
            </a:r>
            <a:r>
              <a:rPr lang="en-US" altLang="zh-CN" sz="2500" b="1">
                <a:solidFill>
                  <a:srgbClr val="FFFFCC"/>
                </a:solidFill>
                <a:ea typeface="华文新魏" pitchFamily="2" charset="-122"/>
              </a:rPr>
              <a:t>C      +      </a:t>
            </a:r>
            <a:r>
              <a:rPr lang="en-US" altLang="zh-CN" sz="2500" b="1" i="1">
                <a:solidFill>
                  <a:srgbClr val="FFFFCC"/>
                </a:solidFill>
                <a:ea typeface="华文新魏" pitchFamily="2" charset="-122"/>
              </a:rPr>
              <a:t>d</a:t>
            </a:r>
            <a:r>
              <a:rPr lang="en-US" altLang="zh-CN" sz="2500" b="1">
                <a:solidFill>
                  <a:srgbClr val="FFFFCC"/>
                </a:solidFill>
                <a:ea typeface="华文新魏" pitchFamily="2" charset="-122"/>
              </a:rPr>
              <a:t>D</a:t>
            </a:r>
          </a:p>
        </p:txBody>
      </p:sp>
      <p:sp>
        <p:nvSpPr>
          <p:cNvPr id="58417" name="Rectangle 49"/>
          <p:cNvSpPr>
            <a:spLocks noChangeArrowheads="1"/>
          </p:cNvSpPr>
          <p:nvPr/>
        </p:nvSpPr>
        <p:spPr bwMode="auto">
          <a:xfrm>
            <a:off x="6842125" y="682625"/>
            <a:ext cx="20875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</a:rPr>
              <a:t>物质的量</a:t>
            </a:r>
            <a:r>
              <a:rPr lang="en-US" altLang="zh-CN" sz="2500" b="1" i="1">
                <a:solidFill>
                  <a:srgbClr val="FFFFFF"/>
                </a:solidFill>
              </a:rPr>
              <a:t>n</a:t>
            </a:r>
            <a:r>
              <a:rPr lang="en-US" altLang="zh-CN" sz="2500" b="1">
                <a:solidFill>
                  <a:srgbClr val="FFFFFF"/>
                </a:solidFill>
              </a:rPr>
              <a:t>(B)</a:t>
            </a:r>
            <a:endParaRPr lang="zh-CN" altLang="en-US" sz="2500" b="1">
              <a:solidFill>
                <a:srgbClr val="FFFFFF"/>
              </a:solidFill>
            </a:endParaRPr>
          </a:p>
        </p:txBody>
      </p:sp>
      <p:sp>
        <p:nvSpPr>
          <p:cNvPr id="58418" name="Rectangle 50"/>
          <p:cNvSpPr>
            <a:spLocks noChangeArrowheads="1"/>
          </p:cNvSpPr>
          <p:nvPr/>
        </p:nvSpPr>
        <p:spPr bwMode="auto">
          <a:xfrm>
            <a:off x="9074150" y="682625"/>
            <a:ext cx="22320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</a:rPr>
              <a:t>摩尔质量</a:t>
            </a:r>
            <a:r>
              <a:rPr lang="en-US" altLang="zh-CN" sz="2500" b="1" i="1">
                <a:solidFill>
                  <a:srgbClr val="FFFFFF"/>
                </a:solidFill>
              </a:rPr>
              <a:t>M</a:t>
            </a:r>
            <a:r>
              <a:rPr lang="en-US" altLang="zh-CN" sz="2500" b="1">
                <a:solidFill>
                  <a:srgbClr val="FFFFFF"/>
                </a:solidFill>
              </a:rPr>
              <a:t>(B)</a:t>
            </a:r>
            <a:endParaRPr lang="zh-CN" altLang="en-US" sz="2500" b="1">
              <a:solidFill>
                <a:srgbClr val="FFFFFF"/>
              </a:solidFill>
            </a:endParaRPr>
          </a:p>
        </p:txBody>
      </p:sp>
      <p:sp>
        <p:nvSpPr>
          <p:cNvPr id="58419" name="Rectangle 51"/>
          <p:cNvSpPr>
            <a:spLocks noChangeArrowheads="1"/>
          </p:cNvSpPr>
          <p:nvPr/>
        </p:nvSpPr>
        <p:spPr bwMode="auto">
          <a:xfrm>
            <a:off x="7416800" y="1187450"/>
            <a:ext cx="14398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</a:rPr>
              <a:t>浓度</a:t>
            </a:r>
            <a:r>
              <a:rPr lang="en-US" altLang="zh-CN" sz="2500" b="1" i="1">
                <a:solidFill>
                  <a:srgbClr val="FFFFFF"/>
                </a:solidFill>
              </a:rPr>
              <a:t>c</a:t>
            </a:r>
            <a:r>
              <a:rPr lang="en-US" altLang="zh-CN" sz="2500" b="1">
                <a:solidFill>
                  <a:srgbClr val="FFFFFF"/>
                </a:solidFill>
              </a:rPr>
              <a:t>(B)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</a:endParaRPr>
          </a:p>
        </p:txBody>
      </p:sp>
      <p:sp>
        <p:nvSpPr>
          <p:cNvPr id="58420" name="Rectangle 52"/>
          <p:cNvSpPr>
            <a:spLocks noChangeArrowheads="1"/>
          </p:cNvSpPr>
          <p:nvPr/>
        </p:nvSpPr>
        <p:spPr bwMode="auto">
          <a:xfrm>
            <a:off x="9069388" y="1187450"/>
            <a:ext cx="15875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</a:rPr>
              <a:t>体积</a:t>
            </a:r>
            <a:r>
              <a:rPr lang="en-US" altLang="zh-CN" sz="2500" b="1" i="1">
                <a:solidFill>
                  <a:srgbClr val="FFFFFF"/>
                </a:solidFill>
              </a:rPr>
              <a:t>V</a:t>
            </a:r>
            <a:r>
              <a:rPr lang="en-US" altLang="zh-CN" sz="2500" b="1">
                <a:solidFill>
                  <a:srgbClr val="FFFFFF"/>
                </a:solidFill>
              </a:rPr>
              <a:t>(B)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</a:endParaRPr>
          </a:p>
        </p:txBody>
      </p:sp>
      <p:sp>
        <p:nvSpPr>
          <p:cNvPr id="58421" name="Rectangle 53"/>
          <p:cNvSpPr>
            <a:spLocks noChangeArrowheads="1"/>
          </p:cNvSpPr>
          <p:nvPr/>
        </p:nvSpPr>
        <p:spPr bwMode="auto">
          <a:xfrm>
            <a:off x="5184775" y="2409825"/>
            <a:ext cx="4333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 i="1">
                <a:solidFill>
                  <a:srgbClr val="FFFFFF"/>
                </a:solidFill>
              </a:rPr>
              <a:t>a</a:t>
            </a:r>
            <a:endParaRPr lang="en-US" altLang="zh-CN" sz="2500" b="1">
              <a:solidFill>
                <a:srgbClr val="FFFFFF"/>
              </a:solidFill>
            </a:endParaRPr>
          </a:p>
        </p:txBody>
      </p:sp>
      <p:sp>
        <p:nvSpPr>
          <p:cNvPr id="58422" name="Rectangle 54"/>
          <p:cNvSpPr>
            <a:spLocks noChangeArrowheads="1"/>
          </p:cNvSpPr>
          <p:nvPr/>
        </p:nvSpPr>
        <p:spPr bwMode="auto">
          <a:xfrm>
            <a:off x="6769100" y="2409825"/>
            <a:ext cx="4333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 i="1">
                <a:solidFill>
                  <a:srgbClr val="FFFFFF"/>
                </a:solidFill>
              </a:rPr>
              <a:t>b</a:t>
            </a:r>
            <a:endParaRPr lang="en-US" altLang="zh-CN" sz="2500" b="1">
              <a:solidFill>
                <a:srgbClr val="FFFFFF"/>
              </a:solidFill>
            </a:endParaRPr>
          </a:p>
        </p:txBody>
      </p:sp>
      <p:sp>
        <p:nvSpPr>
          <p:cNvPr id="58423" name="Rectangle 55"/>
          <p:cNvSpPr>
            <a:spLocks noChangeArrowheads="1"/>
          </p:cNvSpPr>
          <p:nvPr/>
        </p:nvSpPr>
        <p:spPr bwMode="auto">
          <a:xfrm>
            <a:off x="4965700" y="2841625"/>
            <a:ext cx="9366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 i="1">
                <a:solidFill>
                  <a:srgbClr val="FFFFFF"/>
                </a:solidFill>
              </a:rPr>
              <a:t> n</a:t>
            </a:r>
            <a:r>
              <a:rPr lang="en-US" altLang="zh-CN" sz="2500" b="1">
                <a:solidFill>
                  <a:srgbClr val="FFFFFF"/>
                </a:solidFill>
              </a:rPr>
              <a:t>(A)</a:t>
            </a:r>
            <a:endParaRPr lang="en-US" altLang="zh-CN" sz="2500" b="1" i="1">
              <a:solidFill>
                <a:srgbClr val="FFFFFF"/>
              </a:solidFill>
            </a:endParaRPr>
          </a:p>
        </p:txBody>
      </p:sp>
      <p:sp>
        <p:nvSpPr>
          <p:cNvPr id="58425" name="Rectangle 57"/>
          <p:cNvSpPr>
            <a:spLocks noChangeArrowheads="1"/>
          </p:cNvSpPr>
          <p:nvPr/>
        </p:nvSpPr>
        <p:spPr bwMode="auto">
          <a:xfrm>
            <a:off x="6584950" y="2841625"/>
            <a:ext cx="8651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 i="1">
                <a:solidFill>
                  <a:srgbClr val="FFFFFF"/>
                </a:solidFill>
              </a:rPr>
              <a:t>n</a:t>
            </a:r>
            <a:r>
              <a:rPr lang="en-US" altLang="zh-CN" sz="2500" b="1">
                <a:solidFill>
                  <a:srgbClr val="FFFFFF"/>
                </a:solidFill>
              </a:rPr>
              <a:t>(B)</a:t>
            </a:r>
            <a:endParaRPr lang="en-US" altLang="zh-CN" sz="2500" b="1" i="1">
              <a:solidFill>
                <a:srgbClr val="FFFFFF"/>
              </a:solidFill>
            </a:endParaRPr>
          </a:p>
        </p:txBody>
      </p:sp>
      <p:sp>
        <p:nvSpPr>
          <p:cNvPr id="58426" name="Text Box 58"/>
          <p:cNvSpPr txBox="1">
            <a:spLocks noChangeArrowheads="1"/>
          </p:cNvSpPr>
          <p:nvPr/>
        </p:nvSpPr>
        <p:spPr bwMode="auto">
          <a:xfrm>
            <a:off x="6621463" y="682625"/>
            <a:ext cx="3651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58427" name="Text Box 59"/>
          <p:cNvSpPr txBox="1">
            <a:spLocks noChangeArrowheads="1"/>
          </p:cNvSpPr>
          <p:nvPr/>
        </p:nvSpPr>
        <p:spPr bwMode="auto">
          <a:xfrm>
            <a:off x="7197725" y="1187450"/>
            <a:ext cx="3651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58428" name="Text Box 60"/>
          <p:cNvSpPr txBox="1">
            <a:spLocks noChangeArrowheads="1"/>
          </p:cNvSpPr>
          <p:nvPr/>
        </p:nvSpPr>
        <p:spPr bwMode="auto">
          <a:xfrm>
            <a:off x="8743950" y="682625"/>
            <a:ext cx="5016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58429" name="Text Box 61"/>
          <p:cNvSpPr txBox="1">
            <a:spLocks noChangeArrowheads="1"/>
          </p:cNvSpPr>
          <p:nvPr/>
        </p:nvSpPr>
        <p:spPr bwMode="auto">
          <a:xfrm>
            <a:off x="8672513" y="1187450"/>
            <a:ext cx="5016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58430" name="Text Box 62"/>
          <p:cNvSpPr txBox="1">
            <a:spLocks noChangeArrowheads="1"/>
          </p:cNvSpPr>
          <p:nvPr/>
        </p:nvSpPr>
        <p:spPr bwMode="auto">
          <a:xfrm>
            <a:off x="5757863" y="2879725"/>
            <a:ext cx="3651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58431" name="Line 63"/>
          <p:cNvSpPr>
            <a:spLocks noChangeShapeType="1"/>
          </p:cNvSpPr>
          <p:nvPr/>
        </p:nvSpPr>
        <p:spPr bwMode="auto">
          <a:xfrm>
            <a:off x="6189663" y="3130550"/>
            <a:ext cx="358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432" name="Text Box 64"/>
          <p:cNvSpPr txBox="1">
            <a:spLocks noChangeArrowheads="1"/>
          </p:cNvSpPr>
          <p:nvPr/>
        </p:nvSpPr>
        <p:spPr bwMode="auto">
          <a:xfrm>
            <a:off x="6189663" y="2622550"/>
            <a:ext cx="3429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8433" name="Text Box 65"/>
          <p:cNvSpPr txBox="1">
            <a:spLocks noChangeArrowheads="1"/>
          </p:cNvSpPr>
          <p:nvPr/>
        </p:nvSpPr>
        <p:spPr bwMode="auto">
          <a:xfrm>
            <a:off x="6189663" y="3095625"/>
            <a:ext cx="3429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119" name="Rectangle 29"/>
          <p:cNvSpPr>
            <a:spLocks noChangeArrowheads="1"/>
          </p:cNvSpPr>
          <p:nvPr/>
        </p:nvSpPr>
        <p:spPr bwMode="auto">
          <a:xfrm>
            <a:off x="0" y="239713"/>
            <a:ext cx="3313113" cy="449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200" b="1">
                <a:ea typeface="华文新魏" pitchFamily="2" charset="-122"/>
              </a:rPr>
              <a:t>         选用邻苯二甲酸氢钾作基准物，</a:t>
            </a:r>
            <a:r>
              <a:rPr kumimoji="1" lang="zh-CN" altLang="zh-CN" sz="2200" b="1">
                <a:ea typeface="华文新魏" pitchFamily="2" charset="-122"/>
              </a:rPr>
              <a:t>标定</a:t>
            </a:r>
            <a:r>
              <a:rPr kumimoji="1" lang="en-US" altLang="zh-CN" sz="2200" b="1" i="1">
                <a:ea typeface="华文新魏" pitchFamily="2" charset="-122"/>
              </a:rPr>
              <a:t>c</a:t>
            </a:r>
            <a:r>
              <a:rPr kumimoji="1" lang="en-US" altLang="zh-CN" sz="2200" b="1">
                <a:ea typeface="华文新魏" pitchFamily="2" charset="-122"/>
              </a:rPr>
              <a:t>(NaOH) = 0.2 mol·L</a:t>
            </a:r>
            <a:r>
              <a:rPr kumimoji="1" lang="en-US" altLang="zh-CN" sz="2200" b="1" baseline="30000">
                <a:ea typeface="华文新魏" pitchFamily="2" charset="-122"/>
              </a:rPr>
              <a:t>-1</a:t>
            </a:r>
            <a:r>
              <a:rPr kumimoji="1" lang="zh-CN" altLang="en-US" sz="2200" b="1">
                <a:ea typeface="华文新魏" pitchFamily="2" charset="-122"/>
              </a:rPr>
              <a:t>的氢氧化钠溶液的准确浓度。今欲控制耗去的</a:t>
            </a:r>
            <a:r>
              <a:rPr kumimoji="1" lang="en-US" altLang="zh-CN" sz="2200" b="1">
                <a:ea typeface="华文新魏" pitchFamily="2" charset="-122"/>
              </a:rPr>
              <a:t>NaOH</a:t>
            </a:r>
            <a:r>
              <a:rPr kumimoji="1" lang="zh-CN" altLang="en-US" sz="2200" b="1">
                <a:ea typeface="华文新魏" pitchFamily="2" charset="-122"/>
              </a:rPr>
              <a:t>溶液体积在</a:t>
            </a:r>
            <a:r>
              <a:rPr kumimoji="1" lang="en-US" altLang="zh-CN" sz="2200" b="1">
                <a:ea typeface="华文新魏" pitchFamily="2" charset="-122"/>
              </a:rPr>
              <a:t>25 mL</a:t>
            </a:r>
            <a:r>
              <a:rPr kumimoji="1" lang="zh-CN" altLang="en-US" sz="2200" b="1">
                <a:ea typeface="华文新魏" pitchFamily="2" charset="-122"/>
              </a:rPr>
              <a:t>左右，应称取基准物多少克？如改用草酸</a:t>
            </a:r>
            <a:r>
              <a:rPr kumimoji="1" lang="en-US" altLang="zh-CN" sz="2200" b="1">
                <a:ea typeface="华文新魏" pitchFamily="2" charset="-122"/>
              </a:rPr>
              <a:t>(H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C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O</a:t>
            </a:r>
            <a:r>
              <a:rPr kumimoji="1" lang="en-US" altLang="zh-CN" sz="2200" b="1" baseline="-25000">
                <a:ea typeface="华文新魏" pitchFamily="2" charset="-122"/>
              </a:rPr>
              <a:t>4</a:t>
            </a:r>
            <a:r>
              <a:rPr kumimoji="1" lang="en-US" altLang="zh-CN" sz="2200" b="1">
                <a:ea typeface="华文新魏" pitchFamily="2" charset="-122"/>
              </a:rPr>
              <a:t>·2H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O)</a:t>
            </a:r>
            <a:r>
              <a:rPr kumimoji="1" lang="zh-CN" altLang="en-US" sz="2200" b="1">
                <a:ea typeface="华文新魏" pitchFamily="2" charset="-122"/>
              </a:rPr>
              <a:t>作基准物，又应称取多少克？</a:t>
            </a:r>
            <a:br>
              <a:rPr kumimoji="1" lang="zh-CN" altLang="en-US" sz="2200" b="1">
                <a:ea typeface="华文新魏" pitchFamily="2" charset="-122"/>
              </a:rPr>
            </a:br>
            <a:r>
              <a:rPr kumimoji="1" lang="en-US" altLang="zh-CN" sz="2200" b="1">
                <a:ea typeface="华文新魏" pitchFamily="2" charset="-122"/>
              </a:rPr>
              <a:t>{</a:t>
            </a:r>
            <a:r>
              <a:rPr kumimoji="1" lang="zh-CN" altLang="en-US" sz="2200" b="1">
                <a:ea typeface="华文新魏" pitchFamily="2" charset="-122"/>
              </a:rPr>
              <a:t>已知</a:t>
            </a:r>
            <a:r>
              <a:rPr kumimoji="1" lang="en-US" altLang="zh-CN" sz="2200" b="1" i="1">
                <a:ea typeface="华文新魏" pitchFamily="2" charset="-122"/>
              </a:rPr>
              <a:t>M</a:t>
            </a:r>
            <a:r>
              <a:rPr kumimoji="1" lang="en-US" altLang="zh-CN" sz="2200" b="1">
                <a:ea typeface="华文新魏" pitchFamily="2" charset="-122"/>
              </a:rPr>
              <a:t>(</a:t>
            </a:r>
            <a:r>
              <a:rPr kumimoji="1" lang="zh-CN" altLang="en-US" sz="2200" b="1">
                <a:ea typeface="华文新魏" pitchFamily="2" charset="-122"/>
              </a:rPr>
              <a:t>邻苯二甲酸氢钾</a:t>
            </a:r>
            <a:r>
              <a:rPr kumimoji="1" lang="en-US" altLang="zh-CN" sz="2200" b="1">
                <a:ea typeface="华文新魏" pitchFamily="2" charset="-122"/>
              </a:rPr>
              <a:t>) = 204.2, </a:t>
            </a:r>
            <a:r>
              <a:rPr kumimoji="1" lang="en-US" altLang="zh-CN" sz="2200" b="1" i="1">
                <a:ea typeface="华文新魏" pitchFamily="2" charset="-122"/>
              </a:rPr>
              <a:t>M</a:t>
            </a:r>
            <a:r>
              <a:rPr kumimoji="1" lang="en-US" altLang="zh-CN" sz="2200" b="1">
                <a:ea typeface="华文新魏" pitchFamily="2" charset="-122"/>
              </a:rPr>
              <a:t>(H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C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O</a:t>
            </a:r>
            <a:r>
              <a:rPr kumimoji="1" lang="en-US" altLang="zh-CN" sz="2200" b="1" baseline="-25000">
                <a:ea typeface="华文新魏" pitchFamily="2" charset="-122"/>
              </a:rPr>
              <a:t>4</a:t>
            </a:r>
            <a:r>
              <a:rPr kumimoji="1" lang="en-US" altLang="zh-CN" sz="2200" b="1">
                <a:ea typeface="华文新魏" pitchFamily="2" charset="-122"/>
              </a:rPr>
              <a:t>·2H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O) = 126.1}. </a:t>
            </a:r>
          </a:p>
        </p:txBody>
      </p:sp>
      <p:sp>
        <p:nvSpPr>
          <p:cNvPr id="4120" name="Text Box 48"/>
          <p:cNvSpPr txBox="1">
            <a:spLocks noChangeArrowheads="1"/>
          </p:cNvSpPr>
          <p:nvPr/>
        </p:nvSpPr>
        <p:spPr bwMode="auto">
          <a:xfrm>
            <a:off x="0" y="239713"/>
            <a:ext cx="890588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2</a:t>
            </a:r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</a:rPr>
              <a:t>：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5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5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8" grpId="0" build="p"/>
      <p:bldP spid="58399" grpId="0"/>
      <p:bldP spid="58400" grpId="0"/>
      <p:bldP spid="58403" grpId="0"/>
      <p:bldP spid="58409" grpId="0"/>
      <p:bldP spid="58417" grpId="0"/>
      <p:bldP spid="58418" grpId="0"/>
      <p:bldP spid="58419" grpId="0"/>
      <p:bldP spid="58420" grpId="0"/>
      <p:bldP spid="58421" grpId="0"/>
      <p:bldP spid="58422" grpId="0"/>
      <p:bldP spid="58423" grpId="0"/>
      <p:bldP spid="58425" grpId="0"/>
      <p:bldP spid="58426" grpId="0"/>
      <p:bldP spid="58427" grpId="0"/>
      <p:bldP spid="58428" grpId="0"/>
      <p:bldP spid="58429" grpId="0"/>
      <p:bldP spid="58430" grpId="0"/>
      <p:bldP spid="58431" grpId="0" animBg="1"/>
      <p:bldP spid="58432" grpId="0"/>
      <p:bldP spid="584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35" name="Rectangle 27"/>
          <p:cNvSpPr>
            <a:spLocks noChangeArrowheads="1"/>
          </p:cNvSpPr>
          <p:nvPr/>
        </p:nvSpPr>
        <p:spPr bwMode="auto">
          <a:xfrm>
            <a:off x="3706813" y="250825"/>
            <a:ext cx="24860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500" b="1">
                <a:ea typeface="华文新魏" pitchFamily="2" charset="-122"/>
              </a:rPr>
              <a:t>解： </a:t>
            </a:r>
            <a:r>
              <a:rPr kumimoji="1" lang="zh-CN" altLang="en-US" sz="2500" b="1">
                <a:solidFill>
                  <a:srgbClr val="FFFF00"/>
                </a:solidFill>
                <a:ea typeface="华文新魏" pitchFamily="2" charset="-122"/>
              </a:rPr>
              <a:t>⑴</a:t>
            </a:r>
            <a:r>
              <a:rPr kumimoji="1" lang="en-US" altLang="zh-CN" sz="2500" b="1" i="1">
                <a:solidFill>
                  <a:srgbClr val="FFFF00"/>
                </a:solidFill>
                <a:ea typeface="华文新魏" pitchFamily="2" charset="-122"/>
              </a:rPr>
              <a:t>m</a:t>
            </a:r>
            <a:r>
              <a:rPr kumimoji="1" lang="en-US" altLang="zh-CN" sz="2500" b="1">
                <a:solidFill>
                  <a:srgbClr val="FFFF00"/>
                </a:solidFill>
                <a:ea typeface="华文新魏" pitchFamily="2" charset="-122"/>
              </a:rPr>
              <a:t>(KHA)</a:t>
            </a:r>
            <a:endParaRPr kumimoji="1" lang="zh-CN" altLang="en-US" sz="2500" b="1">
              <a:solidFill>
                <a:srgbClr val="FFFF00"/>
              </a:solidFill>
              <a:ea typeface="华文新魏" pitchFamily="2" charset="-122"/>
            </a:endParaRPr>
          </a:p>
        </p:txBody>
      </p:sp>
      <p:pic>
        <p:nvPicPr>
          <p:cNvPr id="68636" name="Picture 28"/>
          <p:cNvPicPr>
            <a:picLocks noChangeAspect="1" noChangeArrowheads="1"/>
          </p:cNvPicPr>
          <p:nvPr/>
        </p:nvPicPr>
        <p:blipFill>
          <a:blip r:embed="rId4"/>
          <a:srcRect t="13397" b="15790"/>
          <a:stretch>
            <a:fillRect/>
          </a:stretch>
        </p:blipFill>
        <p:spPr bwMode="auto">
          <a:xfrm>
            <a:off x="4260850" y="811213"/>
            <a:ext cx="6215063" cy="801687"/>
          </a:xfrm>
          <a:prstGeom prst="rect">
            <a:avLst/>
          </a:prstGeom>
          <a:solidFill>
            <a:srgbClr val="F8F8F8"/>
          </a:solidFill>
          <a:ln w="9525">
            <a:noFill/>
            <a:miter lim="800000"/>
            <a:headEnd/>
            <a:tailEnd/>
          </a:ln>
        </p:spPr>
      </p:pic>
      <p:sp>
        <p:nvSpPr>
          <p:cNvPr id="68637" name="Rectangle 29"/>
          <p:cNvSpPr>
            <a:spLocks noChangeArrowheads="1"/>
          </p:cNvSpPr>
          <p:nvPr/>
        </p:nvSpPr>
        <p:spPr bwMode="auto">
          <a:xfrm>
            <a:off x="4332288" y="1597025"/>
            <a:ext cx="439261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>
                <a:ea typeface="华文新魏" pitchFamily="2" charset="-122"/>
              </a:rPr>
              <a:t>m</a:t>
            </a:r>
            <a:r>
              <a:rPr kumimoji="1" lang="en-US" altLang="zh-CN" sz="2500" b="1">
                <a:ea typeface="华文新魏" pitchFamily="2" charset="-122"/>
              </a:rPr>
              <a:t>(KHA) = </a:t>
            </a:r>
            <a:r>
              <a:rPr kumimoji="1" lang="en-US" altLang="zh-CN" sz="2500" b="1" i="1">
                <a:ea typeface="华文新魏" pitchFamily="2" charset="-122"/>
              </a:rPr>
              <a:t>n</a:t>
            </a:r>
            <a:r>
              <a:rPr kumimoji="1" lang="en-US" altLang="zh-CN" sz="2500" b="1">
                <a:ea typeface="华文新魏" pitchFamily="2" charset="-122"/>
              </a:rPr>
              <a:t>(KHA)×</a:t>
            </a:r>
            <a:r>
              <a:rPr kumimoji="1" lang="en-US" altLang="zh-CN" sz="2500" b="1" i="1">
                <a:ea typeface="华文新魏" pitchFamily="2" charset="-122"/>
              </a:rPr>
              <a:t>M</a:t>
            </a:r>
            <a:r>
              <a:rPr kumimoji="1" lang="en-US" altLang="zh-CN" sz="2500" b="1">
                <a:ea typeface="华文新魏" pitchFamily="2" charset="-122"/>
              </a:rPr>
              <a:t>(KHA)</a:t>
            </a:r>
            <a:endParaRPr kumimoji="1" lang="zh-CN" altLang="en-US" sz="2500" b="1">
              <a:ea typeface="华文新魏" pitchFamily="2" charset="-122"/>
            </a:endParaRPr>
          </a:p>
        </p:txBody>
      </p:sp>
      <p:sp>
        <p:nvSpPr>
          <p:cNvPr id="68638" name="Rectangle 30"/>
          <p:cNvSpPr>
            <a:spLocks noChangeArrowheads="1"/>
          </p:cNvSpPr>
          <p:nvPr/>
        </p:nvSpPr>
        <p:spPr bwMode="auto">
          <a:xfrm>
            <a:off x="4248150" y="2489200"/>
            <a:ext cx="38163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>
                <a:ea typeface="华文新魏" pitchFamily="2" charset="-122"/>
              </a:rPr>
              <a:t>n</a:t>
            </a:r>
            <a:r>
              <a:rPr kumimoji="1" lang="en-US" altLang="zh-CN" sz="2500" b="1">
                <a:ea typeface="华文新魏" pitchFamily="2" charset="-122"/>
              </a:rPr>
              <a:t>(OH</a:t>
            </a:r>
            <a:r>
              <a:rPr kumimoji="1" lang="en-US" altLang="zh-CN" sz="2500" b="1" baseline="30000">
                <a:ea typeface="华文新魏" pitchFamily="2" charset="-122"/>
              </a:rPr>
              <a:t>-</a:t>
            </a:r>
            <a:r>
              <a:rPr kumimoji="1" lang="en-US" altLang="zh-CN" sz="2500" b="1">
                <a:ea typeface="华文新魏" pitchFamily="2" charset="-122"/>
              </a:rPr>
              <a:t>) = </a:t>
            </a:r>
            <a:r>
              <a:rPr kumimoji="1" lang="en-US" altLang="zh-CN" sz="2500" b="1" i="1">
                <a:ea typeface="华文新魏" pitchFamily="2" charset="-122"/>
              </a:rPr>
              <a:t>c</a:t>
            </a:r>
            <a:r>
              <a:rPr kumimoji="1" lang="en-US" altLang="zh-CN" sz="2500" b="1">
                <a:ea typeface="华文新魏" pitchFamily="2" charset="-122"/>
              </a:rPr>
              <a:t>(OH</a:t>
            </a:r>
            <a:r>
              <a:rPr kumimoji="1" lang="en-US" altLang="zh-CN" sz="2500" b="1" baseline="30000">
                <a:ea typeface="华文新魏" pitchFamily="2" charset="-122"/>
              </a:rPr>
              <a:t>-</a:t>
            </a:r>
            <a:r>
              <a:rPr kumimoji="1" lang="en-US" altLang="zh-CN" sz="2500" b="1">
                <a:ea typeface="华文新魏" pitchFamily="2" charset="-122"/>
              </a:rPr>
              <a:t>)×</a:t>
            </a:r>
            <a:r>
              <a:rPr kumimoji="1" lang="en-US" altLang="zh-CN" sz="2500" b="1" i="1">
                <a:ea typeface="华文新魏" pitchFamily="2" charset="-122"/>
              </a:rPr>
              <a:t>V</a:t>
            </a:r>
            <a:r>
              <a:rPr kumimoji="1" lang="en-US" altLang="zh-CN" sz="2500" b="1">
                <a:ea typeface="华文新魏" pitchFamily="2" charset="-122"/>
              </a:rPr>
              <a:t>(OH</a:t>
            </a:r>
            <a:r>
              <a:rPr kumimoji="1" lang="en-US" altLang="zh-CN" sz="2500" b="1" baseline="30000">
                <a:ea typeface="华文新魏" pitchFamily="2" charset="-122"/>
              </a:rPr>
              <a:t>-</a:t>
            </a:r>
            <a:r>
              <a:rPr kumimoji="1" lang="en-US" altLang="zh-CN" sz="2500" b="1">
                <a:ea typeface="华文新魏" pitchFamily="2" charset="-122"/>
              </a:rPr>
              <a:t>)</a:t>
            </a:r>
            <a:endParaRPr kumimoji="1" lang="zh-CN" altLang="en-US" sz="2500" b="1">
              <a:ea typeface="华文新魏" pitchFamily="2" charset="-122"/>
            </a:endParaRPr>
          </a:p>
        </p:txBody>
      </p:sp>
      <p:sp>
        <p:nvSpPr>
          <p:cNvPr id="68639" name="Rectangle 31"/>
          <p:cNvSpPr>
            <a:spLocks noChangeArrowheads="1"/>
          </p:cNvSpPr>
          <p:nvPr/>
        </p:nvSpPr>
        <p:spPr bwMode="auto">
          <a:xfrm>
            <a:off x="4546600" y="2025650"/>
            <a:ext cx="136683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>
                <a:ea typeface="华文新魏" pitchFamily="2" charset="-122"/>
              </a:rPr>
              <a:t>n</a:t>
            </a:r>
            <a:r>
              <a:rPr kumimoji="1" lang="en-US" altLang="zh-CN" sz="2500" b="1">
                <a:ea typeface="华文新魏" pitchFamily="2" charset="-122"/>
              </a:rPr>
              <a:t>(KHA)</a:t>
            </a:r>
            <a:endParaRPr kumimoji="1" lang="zh-CN" altLang="en-US" sz="2500" b="1">
              <a:ea typeface="华文新魏" pitchFamily="2" charset="-122"/>
            </a:endParaRPr>
          </a:p>
        </p:txBody>
      </p:sp>
      <p:sp>
        <p:nvSpPr>
          <p:cNvPr id="68640" name="Rectangle 32"/>
          <p:cNvSpPr>
            <a:spLocks noChangeArrowheads="1"/>
          </p:cNvSpPr>
          <p:nvPr/>
        </p:nvSpPr>
        <p:spPr bwMode="auto">
          <a:xfrm>
            <a:off x="6332538" y="2025650"/>
            <a:ext cx="11525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>
                <a:ea typeface="华文新魏" pitchFamily="2" charset="-122"/>
              </a:rPr>
              <a:t>n</a:t>
            </a:r>
            <a:r>
              <a:rPr kumimoji="1" lang="en-US" altLang="zh-CN" sz="2500" b="1">
                <a:ea typeface="华文新魏" pitchFamily="2" charset="-122"/>
              </a:rPr>
              <a:t>(OH</a:t>
            </a:r>
            <a:r>
              <a:rPr kumimoji="1" lang="en-US" altLang="zh-CN" sz="2500" b="1" baseline="30000">
                <a:ea typeface="华文新魏" pitchFamily="2" charset="-122"/>
              </a:rPr>
              <a:t>-</a:t>
            </a:r>
            <a:r>
              <a:rPr kumimoji="1" lang="en-US" altLang="zh-CN" sz="2500" b="1">
                <a:ea typeface="华文新魏" pitchFamily="2" charset="-122"/>
              </a:rPr>
              <a:t>)</a:t>
            </a:r>
            <a:endParaRPr kumimoji="1" lang="zh-CN" altLang="en-US" sz="2500" b="1">
              <a:ea typeface="华文新魏" pitchFamily="2" charset="-122"/>
            </a:endParaRPr>
          </a:p>
        </p:txBody>
      </p:sp>
      <p:sp>
        <p:nvSpPr>
          <p:cNvPr id="68641" name="Rectangle 33"/>
          <p:cNvSpPr>
            <a:spLocks noChangeArrowheads="1"/>
          </p:cNvSpPr>
          <p:nvPr/>
        </p:nvSpPr>
        <p:spPr bwMode="auto">
          <a:xfrm>
            <a:off x="4248150" y="2954338"/>
            <a:ext cx="56896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>
                <a:ea typeface="华文新魏" pitchFamily="2" charset="-122"/>
              </a:rPr>
              <a:t>m</a:t>
            </a:r>
            <a:r>
              <a:rPr kumimoji="1" lang="en-US" altLang="zh-CN" sz="2500" b="1">
                <a:ea typeface="华文新魏" pitchFamily="2" charset="-122"/>
              </a:rPr>
              <a:t>(KHA) = </a:t>
            </a:r>
            <a:r>
              <a:rPr kumimoji="1" lang="en-US" altLang="zh-CN" sz="2500" b="1" i="1">
                <a:ea typeface="华文新魏" pitchFamily="2" charset="-122"/>
              </a:rPr>
              <a:t>c</a:t>
            </a:r>
            <a:r>
              <a:rPr kumimoji="1" lang="en-US" altLang="zh-CN" sz="2500" b="1">
                <a:ea typeface="华文新魏" pitchFamily="2" charset="-122"/>
              </a:rPr>
              <a:t>(OH</a:t>
            </a:r>
            <a:r>
              <a:rPr kumimoji="1" lang="en-US" altLang="zh-CN" sz="2500" b="1" baseline="30000">
                <a:ea typeface="华文新魏" pitchFamily="2" charset="-122"/>
              </a:rPr>
              <a:t>-</a:t>
            </a:r>
            <a:r>
              <a:rPr kumimoji="1" lang="en-US" altLang="zh-CN" sz="2500" b="1">
                <a:ea typeface="华文新魏" pitchFamily="2" charset="-122"/>
              </a:rPr>
              <a:t>)×</a:t>
            </a:r>
            <a:r>
              <a:rPr kumimoji="1" lang="en-US" altLang="zh-CN" sz="2500" b="1" i="1">
                <a:ea typeface="华文新魏" pitchFamily="2" charset="-122"/>
              </a:rPr>
              <a:t>V</a:t>
            </a:r>
            <a:r>
              <a:rPr kumimoji="1" lang="en-US" altLang="zh-CN" sz="2500" b="1">
                <a:ea typeface="华文新魏" pitchFamily="2" charset="-122"/>
              </a:rPr>
              <a:t>(OH</a:t>
            </a:r>
            <a:r>
              <a:rPr kumimoji="1" lang="en-US" altLang="zh-CN" sz="2500" b="1" baseline="30000">
                <a:ea typeface="华文新魏" pitchFamily="2" charset="-122"/>
              </a:rPr>
              <a:t>-</a:t>
            </a:r>
            <a:r>
              <a:rPr kumimoji="1" lang="en-US" altLang="zh-CN" sz="2500" b="1">
                <a:ea typeface="华文新魏" pitchFamily="2" charset="-122"/>
              </a:rPr>
              <a:t>)×</a:t>
            </a:r>
            <a:r>
              <a:rPr kumimoji="1" lang="en-US" altLang="zh-CN" sz="2500" b="1" i="1">
                <a:ea typeface="华文新魏" pitchFamily="2" charset="-122"/>
              </a:rPr>
              <a:t>M</a:t>
            </a:r>
            <a:r>
              <a:rPr kumimoji="1" lang="en-US" altLang="zh-CN" sz="2500" b="1">
                <a:ea typeface="华文新魏" pitchFamily="2" charset="-122"/>
              </a:rPr>
              <a:t>(KHA)</a:t>
            </a:r>
            <a:endParaRPr kumimoji="1" lang="zh-CN" altLang="en-US" sz="2500" b="1">
              <a:ea typeface="华文新魏" pitchFamily="2" charset="-122"/>
            </a:endParaRPr>
          </a:p>
        </p:txBody>
      </p:sp>
      <p:sp>
        <p:nvSpPr>
          <p:cNvPr id="68642" name="Rectangle 34"/>
          <p:cNvSpPr>
            <a:spLocks noChangeArrowheads="1"/>
          </p:cNvSpPr>
          <p:nvPr/>
        </p:nvSpPr>
        <p:spPr bwMode="auto">
          <a:xfrm>
            <a:off x="6045200" y="250825"/>
            <a:ext cx="955675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700" b="1">
                <a:solidFill>
                  <a:srgbClr val="FFFF00"/>
                </a:solidFill>
                <a:ea typeface="华文新魏" pitchFamily="2" charset="-122"/>
              </a:rPr>
              <a:t>≈ 1g</a:t>
            </a:r>
            <a:endParaRPr kumimoji="1" lang="zh-CN" altLang="en-US" sz="2700" b="1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8643" name="Rectangle 35"/>
          <p:cNvSpPr>
            <a:spLocks noChangeArrowheads="1"/>
          </p:cNvSpPr>
          <p:nvPr/>
        </p:nvSpPr>
        <p:spPr bwMode="auto">
          <a:xfrm>
            <a:off x="4281488" y="3384550"/>
            <a:ext cx="24479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500" b="1">
                <a:solidFill>
                  <a:srgbClr val="FFFF00"/>
                </a:solidFill>
                <a:ea typeface="华文新魏" pitchFamily="2" charset="-122"/>
              </a:rPr>
              <a:t>⑵</a:t>
            </a:r>
            <a:r>
              <a:rPr kumimoji="1" lang="en-US" altLang="zh-CN" sz="2500" b="1" i="1">
                <a:solidFill>
                  <a:srgbClr val="FFFF00"/>
                </a:solidFill>
                <a:ea typeface="华文新魏" pitchFamily="2" charset="-122"/>
              </a:rPr>
              <a:t>m</a:t>
            </a:r>
            <a:r>
              <a:rPr kumimoji="1" lang="en-US" altLang="zh-CN" sz="2500" b="1">
                <a:solidFill>
                  <a:srgbClr val="FFFF00"/>
                </a:solidFill>
                <a:ea typeface="华文新魏" pitchFamily="2" charset="-122"/>
              </a:rPr>
              <a:t>(H</a:t>
            </a:r>
            <a:r>
              <a:rPr kumimoji="1" lang="en-US" altLang="zh-CN" sz="2500" b="1" baseline="-25000">
                <a:solidFill>
                  <a:srgbClr val="FFFF00"/>
                </a:solidFill>
                <a:ea typeface="华文新魏" pitchFamily="2" charset="-122"/>
              </a:rPr>
              <a:t>2</a:t>
            </a:r>
            <a:r>
              <a:rPr kumimoji="1" lang="en-US" altLang="zh-CN" sz="2500" b="1">
                <a:solidFill>
                  <a:srgbClr val="FFFF00"/>
                </a:solidFill>
                <a:ea typeface="华文新魏" pitchFamily="2" charset="-122"/>
              </a:rPr>
              <a:t>A·2H</a:t>
            </a:r>
            <a:r>
              <a:rPr kumimoji="1" lang="en-US" altLang="zh-CN" sz="2500" b="1" baseline="-25000">
                <a:solidFill>
                  <a:srgbClr val="FFFF00"/>
                </a:solidFill>
                <a:ea typeface="华文新魏" pitchFamily="2" charset="-122"/>
              </a:rPr>
              <a:t>2</a:t>
            </a:r>
            <a:r>
              <a:rPr kumimoji="1" lang="en-US" altLang="zh-CN" sz="2500" b="1">
                <a:solidFill>
                  <a:srgbClr val="FFFF00"/>
                </a:solidFill>
                <a:ea typeface="华文新魏" pitchFamily="2" charset="-122"/>
              </a:rPr>
              <a:t>O)</a:t>
            </a:r>
            <a:endParaRPr kumimoji="1" lang="zh-CN" altLang="en-US" sz="2500" b="1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8644" name="Rectangle 36"/>
          <p:cNvSpPr>
            <a:spLocks noChangeArrowheads="1"/>
          </p:cNvSpPr>
          <p:nvPr/>
        </p:nvSpPr>
        <p:spPr bwMode="auto">
          <a:xfrm>
            <a:off x="4478338" y="3816350"/>
            <a:ext cx="47196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</a:rPr>
              <a:t>H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C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O</a:t>
            </a:r>
            <a:r>
              <a:rPr lang="en-US" altLang="zh-CN" sz="2500" b="1" baseline="-25000">
                <a:ea typeface="华文新魏" pitchFamily="2" charset="-122"/>
              </a:rPr>
              <a:t>4</a:t>
            </a:r>
            <a:r>
              <a:rPr lang="en-US" altLang="zh-CN" sz="2500" b="1">
                <a:ea typeface="华文新魏" pitchFamily="2" charset="-122"/>
              </a:rPr>
              <a:t> + 2OH</a:t>
            </a:r>
            <a:r>
              <a:rPr lang="en-US" altLang="zh-CN" sz="2500" b="1" baseline="30000">
                <a:ea typeface="华文新魏" pitchFamily="2" charset="-122"/>
              </a:rPr>
              <a:t>-</a:t>
            </a:r>
            <a:r>
              <a:rPr lang="en-US" altLang="zh-CN" sz="2500" b="1">
                <a:ea typeface="华文新魏" pitchFamily="2" charset="-122"/>
              </a:rPr>
              <a:t> = C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O</a:t>
            </a:r>
            <a:r>
              <a:rPr lang="en-US" altLang="zh-CN" sz="2500" b="1" baseline="-25000">
                <a:ea typeface="华文新魏" pitchFamily="2" charset="-122"/>
              </a:rPr>
              <a:t>4</a:t>
            </a:r>
            <a:r>
              <a:rPr lang="en-US" altLang="zh-CN" sz="2500" b="1" baseline="30000">
                <a:ea typeface="华文新魏" pitchFamily="2" charset="-122"/>
              </a:rPr>
              <a:t>2-</a:t>
            </a:r>
            <a:r>
              <a:rPr lang="en-US" altLang="zh-CN" sz="2500" b="1">
                <a:ea typeface="华文新魏" pitchFamily="2" charset="-122"/>
              </a:rPr>
              <a:t> + 2H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O</a:t>
            </a:r>
            <a:r>
              <a:rPr lang="en-US" altLang="zh-CN" sz="2500">
                <a:ea typeface="华文新魏" pitchFamily="2" charset="-122"/>
              </a:rPr>
              <a:t> </a:t>
            </a:r>
          </a:p>
        </p:txBody>
      </p:sp>
      <p:sp>
        <p:nvSpPr>
          <p:cNvPr id="68645" name="Rectangle 37"/>
          <p:cNvSpPr>
            <a:spLocks noChangeArrowheads="1"/>
          </p:cNvSpPr>
          <p:nvPr/>
        </p:nvSpPr>
        <p:spPr bwMode="auto">
          <a:xfrm>
            <a:off x="4281488" y="4821238"/>
            <a:ext cx="568801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>
                <a:ea typeface="华文新魏" pitchFamily="2" charset="-122"/>
              </a:rPr>
              <a:t>m</a:t>
            </a:r>
            <a:r>
              <a:rPr kumimoji="1" lang="en-US" altLang="zh-CN" sz="2500" b="1">
                <a:ea typeface="华文新魏" pitchFamily="2" charset="-122"/>
              </a:rPr>
              <a:t>(H</a:t>
            </a:r>
            <a:r>
              <a:rPr kumimoji="1" lang="en-US" altLang="zh-CN" sz="2500" b="1" baseline="-25000">
                <a:ea typeface="华文新魏" pitchFamily="2" charset="-122"/>
              </a:rPr>
              <a:t>2</a:t>
            </a:r>
            <a:r>
              <a:rPr kumimoji="1" lang="en-US" altLang="zh-CN" sz="2500" b="1">
                <a:ea typeface="华文新魏" pitchFamily="2" charset="-122"/>
              </a:rPr>
              <a:t>A·2H</a:t>
            </a:r>
            <a:r>
              <a:rPr kumimoji="1" lang="en-US" altLang="zh-CN" sz="2500" b="1" baseline="-25000">
                <a:ea typeface="华文新魏" pitchFamily="2" charset="-122"/>
              </a:rPr>
              <a:t>2</a:t>
            </a:r>
            <a:r>
              <a:rPr kumimoji="1" lang="en-US" altLang="zh-CN" sz="2500" b="1">
                <a:ea typeface="华文新魏" pitchFamily="2" charset="-122"/>
              </a:rPr>
              <a:t>O) = </a:t>
            </a:r>
            <a:r>
              <a:rPr kumimoji="1" lang="en-US" altLang="zh-CN" sz="2500" b="1" i="1">
                <a:ea typeface="华文新魏" pitchFamily="2" charset="-122"/>
              </a:rPr>
              <a:t>n</a:t>
            </a:r>
            <a:r>
              <a:rPr kumimoji="1" lang="en-US" altLang="zh-CN" sz="2500" b="1">
                <a:ea typeface="华文新魏" pitchFamily="2" charset="-122"/>
              </a:rPr>
              <a:t>(H</a:t>
            </a:r>
            <a:r>
              <a:rPr kumimoji="1" lang="en-US" altLang="zh-CN" sz="2500" b="1" baseline="-25000">
                <a:ea typeface="华文新魏" pitchFamily="2" charset="-122"/>
              </a:rPr>
              <a:t>2</a:t>
            </a:r>
            <a:r>
              <a:rPr kumimoji="1" lang="en-US" altLang="zh-CN" sz="2500" b="1">
                <a:ea typeface="华文新魏" pitchFamily="2" charset="-122"/>
              </a:rPr>
              <a:t>A)×</a:t>
            </a:r>
            <a:r>
              <a:rPr kumimoji="1" lang="en-US" altLang="zh-CN" sz="2500" b="1" i="1">
                <a:ea typeface="华文新魏" pitchFamily="2" charset="-122"/>
              </a:rPr>
              <a:t>M</a:t>
            </a:r>
            <a:r>
              <a:rPr kumimoji="1" lang="en-US" altLang="zh-CN" sz="2500" b="1">
                <a:ea typeface="华文新魏" pitchFamily="2" charset="-122"/>
              </a:rPr>
              <a:t>(H</a:t>
            </a:r>
            <a:r>
              <a:rPr kumimoji="1" lang="en-US" altLang="zh-CN" sz="2500" b="1" baseline="-25000">
                <a:ea typeface="华文新魏" pitchFamily="2" charset="-122"/>
              </a:rPr>
              <a:t>2</a:t>
            </a:r>
            <a:r>
              <a:rPr kumimoji="1" lang="en-US" altLang="zh-CN" sz="2500" b="1">
                <a:ea typeface="华文新魏" pitchFamily="2" charset="-122"/>
              </a:rPr>
              <a:t>A·2H</a:t>
            </a:r>
            <a:r>
              <a:rPr kumimoji="1" lang="en-US" altLang="zh-CN" sz="2500" b="1" baseline="-25000">
                <a:ea typeface="华文新魏" pitchFamily="2" charset="-122"/>
              </a:rPr>
              <a:t>2</a:t>
            </a:r>
            <a:r>
              <a:rPr kumimoji="1" lang="en-US" altLang="zh-CN" sz="2500" b="1">
                <a:ea typeface="华文新魏" pitchFamily="2" charset="-122"/>
              </a:rPr>
              <a:t>O)</a:t>
            </a:r>
            <a:endParaRPr kumimoji="1" lang="zh-CN" altLang="en-US" sz="2500" b="1">
              <a:ea typeface="华文新魏" pitchFamily="2" charset="-122"/>
            </a:endParaRPr>
          </a:p>
        </p:txBody>
      </p:sp>
      <p:sp>
        <p:nvSpPr>
          <p:cNvPr id="68646" name="Rectangle 38"/>
          <p:cNvSpPr>
            <a:spLocks noChangeArrowheads="1"/>
          </p:cNvSpPr>
          <p:nvPr/>
        </p:nvSpPr>
        <p:spPr bwMode="auto">
          <a:xfrm>
            <a:off x="4462463" y="4319588"/>
            <a:ext cx="12239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>
                <a:ea typeface="华文新魏" pitchFamily="2" charset="-122"/>
              </a:rPr>
              <a:t>n</a:t>
            </a:r>
            <a:r>
              <a:rPr kumimoji="1" lang="en-US" altLang="zh-CN" sz="2500" b="1">
                <a:ea typeface="华文新魏" pitchFamily="2" charset="-122"/>
              </a:rPr>
              <a:t>(H</a:t>
            </a:r>
            <a:r>
              <a:rPr kumimoji="1" lang="en-US" altLang="zh-CN" sz="2500" b="1" baseline="-25000">
                <a:ea typeface="华文新魏" pitchFamily="2" charset="-122"/>
              </a:rPr>
              <a:t>2</a:t>
            </a:r>
            <a:r>
              <a:rPr kumimoji="1" lang="en-US" altLang="zh-CN" sz="2500" b="1">
                <a:ea typeface="华文新魏" pitchFamily="2" charset="-122"/>
              </a:rPr>
              <a:t>A)</a:t>
            </a:r>
            <a:endParaRPr kumimoji="1" lang="zh-CN" altLang="en-US" sz="2500" b="1">
              <a:ea typeface="华文新魏" pitchFamily="2" charset="-122"/>
            </a:endParaRPr>
          </a:p>
        </p:txBody>
      </p:sp>
      <p:sp>
        <p:nvSpPr>
          <p:cNvPr id="68647" name="Rectangle 39"/>
          <p:cNvSpPr>
            <a:spLocks noChangeArrowheads="1"/>
          </p:cNvSpPr>
          <p:nvPr/>
        </p:nvSpPr>
        <p:spPr bwMode="auto">
          <a:xfrm>
            <a:off x="6265863" y="4319588"/>
            <a:ext cx="12239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>
                <a:ea typeface="华文新魏" pitchFamily="2" charset="-122"/>
              </a:rPr>
              <a:t>n</a:t>
            </a:r>
            <a:r>
              <a:rPr kumimoji="1" lang="en-US" altLang="zh-CN" sz="2500" b="1">
                <a:ea typeface="华文新魏" pitchFamily="2" charset="-122"/>
              </a:rPr>
              <a:t>(OH</a:t>
            </a:r>
            <a:r>
              <a:rPr kumimoji="1" lang="en-US" altLang="zh-CN" sz="2500" b="1" baseline="30000">
                <a:ea typeface="华文新魏" pitchFamily="2" charset="-122"/>
              </a:rPr>
              <a:t>-</a:t>
            </a:r>
            <a:r>
              <a:rPr kumimoji="1" lang="en-US" altLang="zh-CN" sz="2500" b="1">
                <a:ea typeface="华文新魏" pitchFamily="2" charset="-122"/>
              </a:rPr>
              <a:t>)</a:t>
            </a:r>
            <a:endParaRPr kumimoji="1" lang="zh-CN" altLang="en-US" sz="2500" b="1">
              <a:ea typeface="华文新魏" pitchFamily="2" charset="-122"/>
            </a:endParaRPr>
          </a:p>
        </p:txBody>
      </p:sp>
      <p:sp>
        <p:nvSpPr>
          <p:cNvPr id="68648" name="Rectangle 40"/>
          <p:cNvSpPr>
            <a:spLocks noChangeArrowheads="1"/>
          </p:cNvSpPr>
          <p:nvPr/>
        </p:nvSpPr>
        <p:spPr bwMode="auto">
          <a:xfrm>
            <a:off x="4281488" y="5326063"/>
            <a:ext cx="37433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500" b="1" i="1" dirty="0">
                <a:ea typeface="华文新魏" pitchFamily="2" charset="-122"/>
              </a:rPr>
              <a:t>n</a:t>
            </a:r>
            <a:r>
              <a:rPr kumimoji="1" lang="en-US" altLang="zh-CN" sz="2500" b="1" dirty="0">
                <a:ea typeface="华文新魏" pitchFamily="2" charset="-122"/>
              </a:rPr>
              <a:t>(OH</a:t>
            </a:r>
            <a:r>
              <a:rPr kumimoji="1" lang="en-US" altLang="zh-CN" sz="2500" b="1" baseline="30000" dirty="0">
                <a:ea typeface="华文新魏" pitchFamily="2" charset="-122"/>
              </a:rPr>
              <a:t>-</a:t>
            </a:r>
            <a:r>
              <a:rPr kumimoji="1" lang="en-US" altLang="zh-CN" sz="2500" b="1" dirty="0">
                <a:ea typeface="华文新魏" pitchFamily="2" charset="-122"/>
              </a:rPr>
              <a:t>) = </a:t>
            </a:r>
            <a:r>
              <a:rPr kumimoji="1" lang="en-US" altLang="zh-CN" sz="2500" b="1" i="1" dirty="0">
                <a:ea typeface="华文新魏" pitchFamily="2" charset="-122"/>
              </a:rPr>
              <a:t>c</a:t>
            </a:r>
            <a:r>
              <a:rPr kumimoji="1" lang="en-US" altLang="zh-CN" sz="2500" b="1" dirty="0">
                <a:ea typeface="华文新魏" pitchFamily="2" charset="-122"/>
              </a:rPr>
              <a:t>(OH</a:t>
            </a:r>
            <a:r>
              <a:rPr kumimoji="1" lang="en-US" altLang="zh-CN" sz="2500" b="1" baseline="30000" dirty="0">
                <a:ea typeface="华文新魏" pitchFamily="2" charset="-122"/>
              </a:rPr>
              <a:t>-</a:t>
            </a:r>
            <a:r>
              <a:rPr kumimoji="1" lang="en-US" altLang="zh-CN" sz="2500" b="1" dirty="0">
                <a:ea typeface="华文新魏" pitchFamily="2" charset="-122"/>
              </a:rPr>
              <a:t>)×</a:t>
            </a:r>
            <a:r>
              <a:rPr kumimoji="1" lang="en-US" altLang="zh-CN" sz="2500" b="1" i="1" dirty="0">
                <a:ea typeface="华文新魏" pitchFamily="2" charset="-122"/>
              </a:rPr>
              <a:t>V</a:t>
            </a:r>
            <a:r>
              <a:rPr kumimoji="1" lang="en-US" altLang="zh-CN" sz="2500" b="1" dirty="0">
                <a:ea typeface="华文新魏" pitchFamily="2" charset="-122"/>
              </a:rPr>
              <a:t>(OH</a:t>
            </a:r>
            <a:r>
              <a:rPr kumimoji="1" lang="en-US" altLang="zh-CN" sz="2500" b="1" baseline="30000" dirty="0">
                <a:ea typeface="华文新魏" pitchFamily="2" charset="-122"/>
              </a:rPr>
              <a:t>-</a:t>
            </a:r>
            <a:r>
              <a:rPr kumimoji="1" lang="en-US" altLang="zh-CN" sz="2500" b="1" dirty="0">
                <a:ea typeface="华文新魏" pitchFamily="2" charset="-122"/>
              </a:rPr>
              <a:t>)</a:t>
            </a:r>
            <a:endParaRPr kumimoji="1" lang="zh-CN" altLang="en-US" sz="2500" b="1" dirty="0">
              <a:ea typeface="华文新魏" pitchFamily="2" charset="-122"/>
            </a:endParaRPr>
          </a:p>
        </p:txBody>
      </p:sp>
      <p:sp>
        <p:nvSpPr>
          <p:cNvPr id="68649" name="Rectangle 41"/>
          <p:cNvSpPr>
            <a:spLocks noChangeArrowheads="1"/>
          </p:cNvSpPr>
          <p:nvPr/>
        </p:nvSpPr>
        <p:spPr bwMode="auto">
          <a:xfrm>
            <a:off x="6513513" y="3381375"/>
            <a:ext cx="121285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700" b="1">
                <a:solidFill>
                  <a:srgbClr val="FFFF00"/>
                </a:solidFill>
                <a:ea typeface="华文新魏" pitchFamily="2" charset="-122"/>
              </a:rPr>
              <a:t>≈ 0.3g</a:t>
            </a:r>
            <a:endParaRPr kumimoji="1" lang="zh-CN" altLang="en-US" sz="2700" b="1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8651" name="Text Box 43"/>
          <p:cNvSpPr txBox="1">
            <a:spLocks noChangeArrowheads="1"/>
          </p:cNvSpPr>
          <p:nvPr/>
        </p:nvSpPr>
        <p:spPr bwMode="auto">
          <a:xfrm flipV="1">
            <a:off x="5761038" y="2057400"/>
            <a:ext cx="3651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68652" name="Text Box 44"/>
          <p:cNvSpPr txBox="1">
            <a:spLocks noChangeArrowheads="1"/>
          </p:cNvSpPr>
          <p:nvPr/>
        </p:nvSpPr>
        <p:spPr bwMode="auto">
          <a:xfrm>
            <a:off x="5473700" y="4319588"/>
            <a:ext cx="3651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68653" name="Line 45"/>
          <p:cNvSpPr>
            <a:spLocks noChangeShapeType="1"/>
          </p:cNvSpPr>
          <p:nvPr/>
        </p:nvSpPr>
        <p:spPr bwMode="auto">
          <a:xfrm>
            <a:off x="5905500" y="4570413"/>
            <a:ext cx="358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654" name="Text Box 46"/>
          <p:cNvSpPr txBox="1">
            <a:spLocks noChangeArrowheads="1"/>
          </p:cNvSpPr>
          <p:nvPr/>
        </p:nvSpPr>
        <p:spPr bwMode="auto">
          <a:xfrm>
            <a:off x="5905500" y="4135438"/>
            <a:ext cx="3429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8655" name="Text Box 47"/>
          <p:cNvSpPr txBox="1">
            <a:spLocks noChangeArrowheads="1"/>
          </p:cNvSpPr>
          <p:nvPr/>
        </p:nvSpPr>
        <p:spPr bwMode="auto">
          <a:xfrm>
            <a:off x="5905500" y="4495800"/>
            <a:ext cx="3429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142" name="Rectangle 29"/>
          <p:cNvSpPr>
            <a:spLocks noChangeArrowheads="1"/>
          </p:cNvSpPr>
          <p:nvPr/>
        </p:nvSpPr>
        <p:spPr bwMode="auto">
          <a:xfrm>
            <a:off x="0" y="239713"/>
            <a:ext cx="3313113" cy="449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200" b="1">
                <a:ea typeface="华文新魏" pitchFamily="2" charset="-122"/>
              </a:rPr>
              <a:t>         选用邻苯二甲酸氢钾作基准物，</a:t>
            </a:r>
            <a:r>
              <a:rPr kumimoji="1" lang="zh-CN" altLang="zh-CN" sz="2200" b="1">
                <a:ea typeface="华文新魏" pitchFamily="2" charset="-122"/>
              </a:rPr>
              <a:t>标定</a:t>
            </a:r>
            <a:r>
              <a:rPr kumimoji="1" lang="en-US" altLang="zh-CN" sz="2200" b="1" i="1">
                <a:ea typeface="华文新魏" pitchFamily="2" charset="-122"/>
              </a:rPr>
              <a:t>c</a:t>
            </a:r>
            <a:r>
              <a:rPr kumimoji="1" lang="en-US" altLang="zh-CN" sz="2200" b="1">
                <a:ea typeface="华文新魏" pitchFamily="2" charset="-122"/>
              </a:rPr>
              <a:t>(NaOH) = 0.2 mol·L</a:t>
            </a:r>
            <a:r>
              <a:rPr kumimoji="1" lang="en-US" altLang="zh-CN" sz="2200" b="1" baseline="30000">
                <a:ea typeface="华文新魏" pitchFamily="2" charset="-122"/>
              </a:rPr>
              <a:t>-1</a:t>
            </a:r>
            <a:r>
              <a:rPr kumimoji="1" lang="zh-CN" altLang="en-US" sz="2200" b="1">
                <a:ea typeface="华文新魏" pitchFamily="2" charset="-122"/>
              </a:rPr>
              <a:t>的氢氧化钠溶液的准确浓度。今欲控制耗去的</a:t>
            </a:r>
            <a:r>
              <a:rPr kumimoji="1" lang="en-US" altLang="zh-CN" sz="2200" b="1">
                <a:ea typeface="华文新魏" pitchFamily="2" charset="-122"/>
              </a:rPr>
              <a:t>NaOH</a:t>
            </a:r>
            <a:r>
              <a:rPr kumimoji="1" lang="zh-CN" altLang="en-US" sz="2200" b="1">
                <a:ea typeface="华文新魏" pitchFamily="2" charset="-122"/>
              </a:rPr>
              <a:t>溶液体积在</a:t>
            </a:r>
            <a:r>
              <a:rPr kumimoji="1" lang="en-US" altLang="zh-CN" sz="2200" b="1">
                <a:ea typeface="华文新魏" pitchFamily="2" charset="-122"/>
              </a:rPr>
              <a:t>25 mL</a:t>
            </a:r>
            <a:r>
              <a:rPr kumimoji="1" lang="zh-CN" altLang="en-US" sz="2200" b="1">
                <a:ea typeface="华文新魏" pitchFamily="2" charset="-122"/>
              </a:rPr>
              <a:t>左右，应称取基准物多少克？如改用草酸</a:t>
            </a:r>
            <a:r>
              <a:rPr kumimoji="1" lang="en-US" altLang="zh-CN" sz="2200" b="1">
                <a:ea typeface="华文新魏" pitchFamily="2" charset="-122"/>
              </a:rPr>
              <a:t>(H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C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O</a:t>
            </a:r>
            <a:r>
              <a:rPr kumimoji="1" lang="en-US" altLang="zh-CN" sz="2200" b="1" baseline="-25000">
                <a:ea typeface="华文新魏" pitchFamily="2" charset="-122"/>
              </a:rPr>
              <a:t>4</a:t>
            </a:r>
            <a:r>
              <a:rPr kumimoji="1" lang="en-US" altLang="zh-CN" sz="2200" b="1">
                <a:ea typeface="华文新魏" pitchFamily="2" charset="-122"/>
              </a:rPr>
              <a:t>·2H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O)</a:t>
            </a:r>
            <a:r>
              <a:rPr kumimoji="1" lang="zh-CN" altLang="en-US" sz="2200" b="1">
                <a:ea typeface="华文新魏" pitchFamily="2" charset="-122"/>
              </a:rPr>
              <a:t>作基准物，又应称取多少克？</a:t>
            </a:r>
            <a:br>
              <a:rPr kumimoji="1" lang="zh-CN" altLang="en-US" sz="2200" b="1">
                <a:ea typeface="华文新魏" pitchFamily="2" charset="-122"/>
              </a:rPr>
            </a:br>
            <a:r>
              <a:rPr kumimoji="1" lang="en-US" altLang="zh-CN" sz="2200" b="1">
                <a:ea typeface="华文新魏" pitchFamily="2" charset="-122"/>
              </a:rPr>
              <a:t>{</a:t>
            </a:r>
            <a:r>
              <a:rPr kumimoji="1" lang="zh-CN" altLang="en-US" sz="2200" b="1">
                <a:ea typeface="华文新魏" pitchFamily="2" charset="-122"/>
              </a:rPr>
              <a:t>已知</a:t>
            </a:r>
            <a:r>
              <a:rPr kumimoji="1" lang="en-US" altLang="zh-CN" sz="2200" b="1" i="1">
                <a:ea typeface="华文新魏" pitchFamily="2" charset="-122"/>
              </a:rPr>
              <a:t>M</a:t>
            </a:r>
            <a:r>
              <a:rPr kumimoji="1" lang="en-US" altLang="zh-CN" sz="2200" b="1">
                <a:ea typeface="华文新魏" pitchFamily="2" charset="-122"/>
              </a:rPr>
              <a:t>(</a:t>
            </a:r>
            <a:r>
              <a:rPr kumimoji="1" lang="zh-CN" altLang="en-US" sz="2200" b="1">
                <a:ea typeface="华文新魏" pitchFamily="2" charset="-122"/>
              </a:rPr>
              <a:t>邻苯二甲酸氢钾</a:t>
            </a:r>
            <a:r>
              <a:rPr kumimoji="1" lang="en-US" altLang="zh-CN" sz="2200" b="1">
                <a:ea typeface="华文新魏" pitchFamily="2" charset="-122"/>
              </a:rPr>
              <a:t>) = 204.2, </a:t>
            </a:r>
            <a:r>
              <a:rPr kumimoji="1" lang="en-US" altLang="zh-CN" sz="2200" b="1" i="1">
                <a:ea typeface="华文新魏" pitchFamily="2" charset="-122"/>
              </a:rPr>
              <a:t>M</a:t>
            </a:r>
            <a:r>
              <a:rPr kumimoji="1" lang="en-US" altLang="zh-CN" sz="2200" b="1">
                <a:ea typeface="华文新魏" pitchFamily="2" charset="-122"/>
              </a:rPr>
              <a:t>(H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C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O</a:t>
            </a:r>
            <a:r>
              <a:rPr kumimoji="1" lang="en-US" altLang="zh-CN" sz="2200" b="1" baseline="-25000">
                <a:ea typeface="华文新魏" pitchFamily="2" charset="-122"/>
              </a:rPr>
              <a:t>4</a:t>
            </a:r>
            <a:r>
              <a:rPr kumimoji="1" lang="en-US" altLang="zh-CN" sz="2200" b="1">
                <a:ea typeface="华文新魏" pitchFamily="2" charset="-122"/>
              </a:rPr>
              <a:t>·2H</a:t>
            </a:r>
            <a:r>
              <a:rPr kumimoji="1" lang="en-US" altLang="zh-CN" sz="2200" b="1" baseline="-25000">
                <a:ea typeface="华文新魏" pitchFamily="2" charset="-122"/>
              </a:rPr>
              <a:t>2</a:t>
            </a:r>
            <a:r>
              <a:rPr kumimoji="1" lang="en-US" altLang="zh-CN" sz="2200" b="1">
                <a:ea typeface="华文新魏" pitchFamily="2" charset="-122"/>
              </a:rPr>
              <a:t>O) = 126.1}. </a:t>
            </a:r>
          </a:p>
        </p:txBody>
      </p:sp>
      <p:sp>
        <p:nvSpPr>
          <p:cNvPr id="5143" name="Text Box 48"/>
          <p:cNvSpPr txBox="1">
            <a:spLocks noChangeArrowheads="1"/>
          </p:cNvSpPr>
          <p:nvPr/>
        </p:nvSpPr>
        <p:spPr bwMode="auto">
          <a:xfrm>
            <a:off x="0" y="239713"/>
            <a:ext cx="890588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2</a:t>
            </a:r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</a:rPr>
              <a:t>：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6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8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35" grpId="0"/>
      <p:bldP spid="68637" grpId="0"/>
      <p:bldP spid="68638" grpId="0"/>
      <p:bldP spid="68639" grpId="0"/>
      <p:bldP spid="68640" grpId="0"/>
      <p:bldP spid="68641" grpId="0"/>
      <p:bldP spid="68642" grpId="0"/>
      <p:bldP spid="68643" grpId="0"/>
      <p:bldP spid="68644" grpId="0"/>
      <p:bldP spid="68645" grpId="0"/>
      <p:bldP spid="68646" grpId="0"/>
      <p:bldP spid="68647" grpId="0"/>
      <p:bldP spid="68648" grpId="0"/>
      <p:bldP spid="68649" grpId="0"/>
      <p:bldP spid="68651" grpId="0"/>
      <p:bldP spid="68652" grpId="0"/>
      <p:bldP spid="68653" grpId="0" animBg="1"/>
      <p:bldP spid="68654" grpId="0"/>
      <p:bldP spid="686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日期占位符 3"/>
          <p:cNvSpPr txBox="1">
            <a:spLocks/>
          </p:cNvSpPr>
          <p:nvPr/>
        </p:nvSpPr>
        <p:spPr bwMode="auto">
          <a:xfrm>
            <a:off x="906463" y="5949950"/>
            <a:ext cx="2268537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fld id="{904FE887-C838-4E99-9428-DC4844A92721}" type="datetime1">
              <a:rPr lang="zh-CN" altLang="en-US">
                <a:ea typeface="华文新魏" pitchFamily="2" charset="-122"/>
              </a:rPr>
              <a:pPr/>
              <a:t>2017/8/18</a:t>
            </a:fld>
            <a:endParaRPr lang="en-US" altLang="zh-CN">
              <a:ea typeface="华文新魏" pitchFamily="2" charset="-122"/>
            </a:endParaRPr>
          </a:p>
        </p:txBody>
      </p:sp>
      <p:sp>
        <p:nvSpPr>
          <p:cNvPr id="1029" name="灯片编号占位符 4"/>
          <p:cNvSpPr txBox="1">
            <a:spLocks/>
          </p:cNvSpPr>
          <p:nvPr/>
        </p:nvSpPr>
        <p:spPr bwMode="auto">
          <a:xfrm>
            <a:off x="5530850" y="5949950"/>
            <a:ext cx="544513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fld id="{5A23EAD8-5DFB-4513-8062-2B790D0DE3B2}" type="slidenum">
              <a:rPr lang="en-US" altLang="zh-CN">
                <a:ea typeface="华文新魏" pitchFamily="2" charset="-122"/>
              </a:rPr>
              <a:pPr/>
              <a:t>4</a:t>
            </a:fld>
            <a:endParaRPr lang="en-US" altLang="zh-CN">
              <a:ea typeface="华文新魏" pitchFamily="2" charset="-12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618038" y="1454150"/>
          <a:ext cx="4714875" cy="1143000"/>
        </p:xfrm>
        <a:graphic>
          <a:graphicData uri="http://schemas.openxmlformats.org/presentationml/2006/ole">
            <p:oleObj spid="_x0000_s1026" name="公式" r:id="rId5" imgW="1790700" imgH="571500" progId="Equation.3">
              <p:embed/>
            </p:oleObj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260350" y="382588"/>
            <a:ext cx="3071813" cy="2800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3: </a:t>
            </a:r>
            <a:r>
              <a:rPr lang="zh-CN" altLang="en-US" sz="2200" b="1">
                <a:ea typeface="华文新魏" pitchFamily="2" charset="-122"/>
              </a:rPr>
              <a:t>测定工业纯碱中</a:t>
            </a:r>
            <a:r>
              <a:rPr lang="en-US" altLang="zh-CN" sz="2200" b="1">
                <a:ea typeface="华文新魏" pitchFamily="2" charset="-122"/>
              </a:rPr>
              <a:t>Na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CO</a:t>
            </a:r>
            <a:r>
              <a:rPr lang="en-US" altLang="zh-CN" sz="2200" b="1" baseline="-25000">
                <a:ea typeface="华文新魏" pitchFamily="2" charset="-122"/>
              </a:rPr>
              <a:t>3</a:t>
            </a:r>
            <a:r>
              <a:rPr lang="zh-CN" altLang="en-US" sz="2200" b="1">
                <a:ea typeface="华文新魏" pitchFamily="2" charset="-122"/>
              </a:rPr>
              <a:t>含量时</a:t>
            </a:r>
            <a:r>
              <a:rPr lang="en-US" altLang="zh-CN" sz="2200" b="1">
                <a:ea typeface="华文新魏" pitchFamily="2" charset="-122"/>
              </a:rPr>
              <a:t>,</a:t>
            </a:r>
            <a:r>
              <a:rPr lang="zh-CN" altLang="en-US" sz="2200" b="1">
                <a:ea typeface="华文新魏" pitchFamily="2" charset="-122"/>
              </a:rPr>
              <a:t>称取</a:t>
            </a:r>
            <a:r>
              <a:rPr lang="en-US" altLang="zh-CN" sz="2200" b="1">
                <a:ea typeface="华文新魏" pitchFamily="2" charset="-122"/>
              </a:rPr>
              <a:t>0.2648g</a:t>
            </a:r>
            <a:r>
              <a:rPr lang="zh-CN" altLang="en-US" sz="2200" b="1">
                <a:ea typeface="华文新魏" pitchFamily="2" charset="-122"/>
              </a:rPr>
              <a:t>样品</a:t>
            </a:r>
            <a:r>
              <a:rPr lang="en-US" altLang="zh-CN" sz="2200" b="1">
                <a:ea typeface="华文新魏" pitchFamily="2" charset="-122"/>
              </a:rPr>
              <a:t>,</a:t>
            </a:r>
            <a:r>
              <a:rPr lang="zh-CN" altLang="en-US" sz="2200" b="1">
                <a:ea typeface="华文新魏" pitchFamily="2" charset="-122"/>
              </a:rPr>
              <a:t>以甲基橙为指示剂</a:t>
            </a:r>
            <a:r>
              <a:rPr lang="en-US" altLang="zh-CN" sz="2200" b="1">
                <a:ea typeface="华文新魏" pitchFamily="2" charset="-122"/>
              </a:rPr>
              <a:t>,</a:t>
            </a:r>
            <a:r>
              <a:rPr lang="zh-CN" altLang="en-US" sz="2200" b="1">
                <a:ea typeface="华文新魏" pitchFamily="2" charset="-122"/>
              </a:rPr>
              <a:t>用</a:t>
            </a:r>
            <a:r>
              <a:rPr lang="en-US" altLang="zh-CN" sz="2200" b="1">
                <a:ea typeface="华文新魏" pitchFamily="2" charset="-122"/>
              </a:rPr>
              <a:t>0.1970 mol·L</a:t>
            </a:r>
            <a:r>
              <a:rPr lang="en-US" altLang="zh-CN" sz="2200" b="1" baseline="30000">
                <a:ea typeface="华文新魏" pitchFamily="2" charset="-122"/>
              </a:rPr>
              <a:t>-1</a:t>
            </a:r>
            <a:r>
              <a:rPr lang="zh-CN" altLang="en-US" sz="2200" b="1">
                <a:ea typeface="华文新魏" pitchFamily="2" charset="-122"/>
              </a:rPr>
              <a:t>的</a:t>
            </a:r>
            <a:r>
              <a:rPr lang="en-US" altLang="zh-CN" sz="2200" b="1">
                <a:ea typeface="华文新魏" pitchFamily="2" charset="-122"/>
              </a:rPr>
              <a:t>HCl</a:t>
            </a:r>
            <a:r>
              <a:rPr lang="zh-CN" altLang="en-US" sz="2200" b="1">
                <a:ea typeface="华文新魏" pitchFamily="2" charset="-122"/>
              </a:rPr>
              <a:t>标准溶液滴定</a:t>
            </a:r>
            <a:r>
              <a:rPr lang="en-US" altLang="zh-CN" sz="2200" b="1">
                <a:ea typeface="华文新魏" pitchFamily="2" charset="-122"/>
              </a:rPr>
              <a:t>,</a:t>
            </a:r>
            <a:r>
              <a:rPr lang="zh-CN" altLang="en-US" sz="2200" b="1">
                <a:ea typeface="华文新魏" pitchFamily="2" charset="-122"/>
              </a:rPr>
              <a:t>耗去</a:t>
            </a:r>
            <a:r>
              <a:rPr lang="en-US" altLang="zh-CN" sz="2200" b="1">
                <a:ea typeface="华文新魏" pitchFamily="2" charset="-122"/>
              </a:rPr>
              <a:t>24.45mL.</a:t>
            </a:r>
            <a:r>
              <a:rPr lang="zh-CN" altLang="en-US" sz="2200" b="1">
                <a:ea typeface="华文新魏" pitchFamily="2" charset="-122"/>
              </a:rPr>
              <a:t>求纯碱中</a:t>
            </a:r>
            <a:r>
              <a:rPr lang="en-US" altLang="zh-CN" sz="2200" b="1">
                <a:ea typeface="华文新魏" pitchFamily="2" charset="-122"/>
              </a:rPr>
              <a:t>Na</a:t>
            </a:r>
            <a:r>
              <a:rPr lang="en-US" altLang="zh-CN" sz="2200" b="1" baseline="-25000">
                <a:ea typeface="华文新魏" pitchFamily="2" charset="-122"/>
              </a:rPr>
              <a:t>2</a:t>
            </a:r>
            <a:r>
              <a:rPr lang="en-US" altLang="zh-CN" sz="2200" b="1">
                <a:ea typeface="华文新魏" pitchFamily="2" charset="-122"/>
              </a:rPr>
              <a:t>CO</a:t>
            </a:r>
            <a:r>
              <a:rPr lang="en-US" altLang="zh-CN" sz="2200" b="1" baseline="-25000">
                <a:ea typeface="华文新魏" pitchFamily="2" charset="-122"/>
              </a:rPr>
              <a:t>3</a:t>
            </a:r>
            <a:r>
              <a:rPr lang="zh-CN" altLang="en-US" sz="2200" b="1">
                <a:ea typeface="华文新魏" pitchFamily="2" charset="-122"/>
              </a:rPr>
              <a:t>的质量分数</a:t>
            </a:r>
            <a:r>
              <a:rPr lang="en-US" altLang="zh-CN" sz="2200" b="1">
                <a:ea typeface="华文新魏" pitchFamily="2" charset="-122"/>
              </a:rPr>
              <a:t>.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46600" y="382588"/>
            <a:ext cx="6238875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华文新魏" pitchFamily="2" charset="-122"/>
              </a:rPr>
              <a:t>滴定反应</a:t>
            </a:r>
            <a:r>
              <a:rPr lang="en-US" altLang="zh-CN" sz="2500" b="1">
                <a:ea typeface="华文新魏" pitchFamily="2" charset="-122"/>
              </a:rPr>
              <a:t>:2HCl + Na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CO</a:t>
            </a:r>
            <a:r>
              <a:rPr lang="en-US" altLang="zh-CN" sz="2500" b="1" baseline="-25000">
                <a:ea typeface="华文新魏" pitchFamily="2" charset="-122"/>
              </a:rPr>
              <a:t>3</a:t>
            </a:r>
            <a:r>
              <a:rPr lang="en-US" altLang="zh-CN" sz="2500" b="1">
                <a:ea typeface="华文新魏" pitchFamily="2" charset="-122"/>
              </a:rPr>
              <a:t> = 2NaCl + H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CO</a:t>
            </a:r>
            <a:r>
              <a:rPr lang="en-US" altLang="zh-CN" sz="2500" b="1" baseline="-25000">
                <a:ea typeface="华文新魏" pitchFamily="2" charset="-122"/>
              </a:rPr>
              <a:t>3</a:t>
            </a:r>
          </a:p>
          <a:p>
            <a:r>
              <a:rPr lang="en-US" altLang="zh-CN" sz="2500" b="1">
                <a:ea typeface="华文新魏" pitchFamily="2" charset="-122"/>
              </a:rPr>
              <a:t>∴ </a:t>
            </a:r>
            <a:r>
              <a:rPr lang="en-US" altLang="zh-CN" sz="2500" b="1" i="1">
                <a:ea typeface="华文新魏" pitchFamily="2" charset="-122"/>
              </a:rPr>
              <a:t>n</a:t>
            </a:r>
            <a:r>
              <a:rPr lang="en-US" altLang="zh-CN" sz="2500" b="1">
                <a:ea typeface="华文新魏" pitchFamily="2" charset="-122"/>
              </a:rPr>
              <a:t>(Na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CO</a:t>
            </a:r>
            <a:r>
              <a:rPr lang="en-US" altLang="zh-CN" sz="2500" b="1" baseline="-25000">
                <a:ea typeface="华文新魏" pitchFamily="2" charset="-122"/>
              </a:rPr>
              <a:t>3</a:t>
            </a:r>
            <a:r>
              <a:rPr lang="en-US" altLang="zh-CN" sz="2500" b="1">
                <a:ea typeface="华文新魏" pitchFamily="2" charset="-122"/>
              </a:rPr>
              <a:t>)</a:t>
            </a:r>
            <a:r>
              <a:rPr lang="en-US" altLang="zh-CN" sz="2500" b="1" baseline="-25000">
                <a:ea typeface="华文新魏" pitchFamily="2" charset="-122"/>
              </a:rPr>
              <a:t> </a:t>
            </a:r>
            <a:r>
              <a:rPr lang="en-US" altLang="zh-CN" sz="2500" b="1">
                <a:ea typeface="华文新魏" pitchFamily="2" charset="-122"/>
              </a:rPr>
              <a:t>= (1/2)</a:t>
            </a:r>
            <a:r>
              <a:rPr lang="en-US" altLang="zh-CN" sz="2500" b="1" baseline="-25000">
                <a:ea typeface="华文新魏" pitchFamily="2" charset="-122"/>
              </a:rPr>
              <a:t> </a:t>
            </a:r>
            <a:r>
              <a:rPr lang="en-US" altLang="zh-CN" sz="2500" b="1" i="1">
                <a:ea typeface="华文新魏" pitchFamily="2" charset="-122"/>
              </a:rPr>
              <a:t>n</a:t>
            </a:r>
            <a:r>
              <a:rPr lang="en-US" altLang="zh-CN" sz="2500" b="1">
                <a:ea typeface="华文新魏" pitchFamily="2" charset="-122"/>
              </a:rPr>
              <a:t>(HCl)</a:t>
            </a:r>
            <a:endParaRPr lang="en-US" altLang="zh-CN" sz="2500" b="1" baseline="-25000">
              <a:ea typeface="华文新魏" pitchFamily="2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903663" y="382588"/>
            <a:ext cx="91916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618038" y="2740025"/>
          <a:ext cx="5786437" cy="1187450"/>
        </p:xfrm>
        <a:graphic>
          <a:graphicData uri="http://schemas.openxmlformats.org/presentationml/2006/ole">
            <p:oleObj spid="_x0000_s1027" name="公式" r:id="rId6" imgW="2908300" imgH="571500" progId="Equation.3">
              <p:embed/>
            </p:oleObj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092825" y="4025900"/>
            <a:ext cx="1168400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= 0.964</a:t>
            </a:r>
          </a:p>
          <a:p>
            <a:r>
              <a:rPr lang="en-US" altLang="zh-CN" sz="2500" b="1">
                <a:ea typeface="华文新魏" pitchFamily="2" charset="-122"/>
              </a:rPr>
              <a:t>= 96.4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904038" y="4383088"/>
            <a:ext cx="5048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%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utoUpdateAnimBg="0"/>
      <p:bldP spid="10" grpId="0" build="p" autoUpdateAnimBg="0"/>
      <p:bldP spid="11" grpId="0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5882</TotalTime>
  <Pages>0</Pages>
  <Words>476</Words>
  <Characters>0</Characters>
  <Application>Microsoft Office PowerPoint</Application>
  <DocSecurity>0</DocSecurity>
  <PresentationFormat>自定义</PresentationFormat>
  <Lines>0</Lines>
  <Paragraphs>69</Paragraphs>
  <Slides>4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医学研究PPT模板</vt:lpstr>
      <vt:lpstr>公式</vt:lpstr>
      <vt:lpstr>幻灯片 1</vt:lpstr>
      <vt:lpstr>幻灯片 2</vt:lpstr>
      <vt:lpstr>幻灯片 3</vt:lpstr>
      <vt:lpstr>幻灯片 4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例题教学模板(教室版)</dc:title>
  <dc:creator>江南大学商少明</dc:creator>
  <cp:lastModifiedBy>ASUS</cp:lastModifiedBy>
  <cp:revision>295</cp:revision>
  <cp:lastPrinted>1601-01-01T00:00:00Z</cp:lastPrinted>
  <dcterms:created xsi:type="dcterms:W3CDTF">2012-06-20T03:37:37Z</dcterms:created>
  <dcterms:modified xsi:type="dcterms:W3CDTF">2017-08-18T09:58:23Z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