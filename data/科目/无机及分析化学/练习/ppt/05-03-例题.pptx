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75" r:id="rId2"/>
    <p:sldId id="278" r:id="rId3"/>
    <p:sldId id="285" r:id="rId4"/>
    <p:sldId id="279" r:id="rId5"/>
    <p:sldId id="286" r:id="rId6"/>
    <p:sldId id="287" r:id="rId7"/>
  </p:sldIdLst>
  <p:sldSz cx="11522075" cy="6480175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8F8F8"/>
    <a:srgbClr val="66CCFF"/>
    <a:srgbClr val="85D9F7"/>
    <a:srgbClr val="57BBFF"/>
    <a:srgbClr val="0000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1"/>
    <p:restoredTop sz="94619"/>
  </p:normalViewPr>
  <p:slideViewPr>
    <p:cSldViewPr showGuides="1">
      <p:cViewPr varScale="1">
        <p:scale>
          <a:sx n="69" d="100"/>
          <a:sy n="69" d="100"/>
        </p:scale>
        <p:origin x="-342" y="-102"/>
      </p:cViewPr>
      <p:guideLst>
        <p:guide orient="horz" pos="1992"/>
        <p:guide pos="36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2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/>
            <a:fld id="{9A0DB2DC-4C9A-4742-B13C-FB6460FD3503}" type="slidenum">
              <a:rPr lang="zh-CN" altLang="en-US" sz="1200" dirty="0"/>
              <a:pPr lvl="0" algn="r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1" descr="地砖背景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20637" y="-17462"/>
            <a:ext cx="11563350" cy="65166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split orient="vert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anose="05000000000000000000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audio" Target="../media/audio2.wav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audio" Target="../media/audio3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66"/>
          <p:cNvSpPr txBox="1"/>
          <p:nvPr/>
        </p:nvSpPr>
        <p:spPr>
          <a:xfrm>
            <a:off x="71438" y="315913"/>
            <a:ext cx="889987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：</a:t>
            </a:r>
            <a:endParaRPr lang="zh-CN" altLang="en-US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29" name="Rectangle 27"/>
          <p:cNvSpPr/>
          <p:nvPr/>
        </p:nvSpPr>
        <p:spPr>
          <a:xfrm>
            <a:off x="3903663" y="315913"/>
            <a:ext cx="2486025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5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755" y="739757"/>
            <a:ext cx="3445174" cy="280076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以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KMnO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法测矿样中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CaO,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称试样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0.5000g,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以酸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分解后加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(NH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)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C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得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CaC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沉淀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过滤洗涤后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溶于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H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SO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中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用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0.01000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 mol·L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-1 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KMnO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溶液滴定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所得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H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C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用去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20.00mL.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求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CaO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的质量分数。</a:t>
            </a:r>
            <a:endParaRPr lang="en-US" altLang="zh-CN" sz="2200" b="1" dirty="0">
              <a:solidFill>
                <a:schemeClr val="tx1"/>
              </a:solidFill>
              <a:uFillTx/>
              <a:ea typeface="华文新魏" pitchFamily="2" charset="-122"/>
              <a:sym typeface="+mn-ea"/>
            </a:endParaRPr>
          </a:p>
        </p:txBody>
      </p:sp>
      <p:sp>
        <p:nvSpPr>
          <p:cNvPr id="30722" name="灯片编号占位符 4"/>
          <p:cNvSpPr txBox="1">
            <a:spLocks noGrp="1"/>
          </p:cNvSpPr>
          <p:nvPr/>
        </p:nvSpPr>
        <p:spPr>
          <a:xfrm>
            <a:off x="5530850" y="5949950"/>
            <a:ext cx="544513" cy="4079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9A0DB2DC-4C9A-4742-B13C-FB6460FD3503}" type="slidenum">
              <a:rPr lang="en-US" altLang="zh-CN" sz="2500" b="1" dirty="0">
                <a:ea typeface="华文新魏" pitchFamily="2" charset="-122"/>
              </a:rPr>
              <a:pPr lvl="0" indent="0"/>
              <a:t>1</a:t>
            </a:fld>
            <a:endParaRPr lang="en-US" altLang="zh-CN" sz="2500" b="1" dirty="0">
              <a:ea typeface="华文新魏" pitchFamily="2" charset="-122"/>
            </a:endParaRPr>
          </a:p>
        </p:txBody>
      </p:sp>
      <p:sp>
        <p:nvSpPr>
          <p:cNvPr id="49160" name="Rectangle 8"/>
          <p:cNvSpPr/>
          <p:nvPr/>
        </p:nvSpPr>
        <p:spPr>
          <a:xfrm>
            <a:off x="3903980" y="1674813"/>
            <a:ext cx="9313863" cy="124523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∵ Ca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= CaC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   </a:t>
            </a:r>
          </a:p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   CaC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= Ca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</a:t>
            </a:r>
          </a:p>
          <a:p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滴定反应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:</a:t>
            </a:r>
          </a:p>
        </p:txBody>
      </p:sp>
      <p:sp>
        <p:nvSpPr>
          <p:cNvPr id="49188" name="Rectangle 36"/>
          <p:cNvSpPr/>
          <p:nvPr/>
        </p:nvSpPr>
        <p:spPr>
          <a:xfrm>
            <a:off x="3814128" y="3001328"/>
            <a:ext cx="7260321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5H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+ 2MnO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+ 6H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 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= 2Mn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+ 10CO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+ 8H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</a:p>
        </p:txBody>
      </p:sp>
      <p:sp>
        <p:nvSpPr>
          <p:cNvPr id="49196" name="Rectangle 44"/>
          <p:cNvSpPr/>
          <p:nvPr/>
        </p:nvSpPr>
        <p:spPr>
          <a:xfrm>
            <a:off x="4201160" y="789305"/>
            <a:ext cx="1516762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w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(CaO) =</a:t>
            </a:r>
          </a:p>
        </p:txBody>
      </p:sp>
      <p:sp>
        <p:nvSpPr>
          <p:cNvPr id="49197" name="Rectangle 45"/>
          <p:cNvSpPr/>
          <p:nvPr/>
        </p:nvSpPr>
        <p:spPr>
          <a:xfrm>
            <a:off x="5841365" y="646430"/>
            <a:ext cx="1308371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m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(CaO)</a:t>
            </a:r>
          </a:p>
        </p:txBody>
      </p:sp>
      <p:sp>
        <p:nvSpPr>
          <p:cNvPr id="49198" name="Rectangle 46"/>
          <p:cNvSpPr/>
          <p:nvPr/>
        </p:nvSpPr>
        <p:spPr>
          <a:xfrm>
            <a:off x="7597140" y="789305"/>
            <a:ext cx="2329484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m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CaO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= (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nM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)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CaO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</a:endParaRPr>
          </a:p>
        </p:txBody>
      </p:sp>
      <p:sp>
        <p:nvSpPr>
          <p:cNvPr id="49199" name="Rectangle 47"/>
          <p:cNvSpPr/>
          <p:nvPr/>
        </p:nvSpPr>
        <p:spPr>
          <a:xfrm>
            <a:off x="6225223" y="1160780"/>
            <a:ext cx="518091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m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s</a:t>
            </a:r>
          </a:p>
        </p:txBody>
      </p:sp>
      <p:sp>
        <p:nvSpPr>
          <p:cNvPr id="49200" name="Line 48"/>
          <p:cNvSpPr/>
          <p:nvPr/>
        </p:nvSpPr>
        <p:spPr>
          <a:xfrm>
            <a:off x="5720715" y="1160463"/>
            <a:ext cx="15367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6" name="Group 7"/>
          <p:cNvGrpSpPr>
            <a:grpSpLocks noChangeAspect="1"/>
          </p:cNvGrpSpPr>
          <p:nvPr/>
        </p:nvGrpSpPr>
        <p:grpSpPr>
          <a:xfrm>
            <a:off x="5550218" y="3919538"/>
            <a:ext cx="525462" cy="169862"/>
            <a:chOff x="1488" y="2976"/>
            <a:chExt cx="864" cy="379"/>
          </a:xfrm>
        </p:grpSpPr>
        <p:sp>
          <p:nvSpPr>
            <p:cNvPr id="7" name="Line 8"/>
            <p:cNvSpPr>
              <a:spLocks noChangeAspect="1"/>
            </p:cNvSpPr>
            <p:nvPr/>
          </p:nvSpPr>
          <p:spPr>
            <a:xfrm>
              <a:off x="1488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" name="Line 9"/>
            <p:cNvSpPr>
              <a:spLocks noChangeAspect="1"/>
            </p:cNvSpPr>
            <p:nvPr/>
          </p:nvSpPr>
          <p:spPr>
            <a:xfrm>
              <a:off x="1488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" name="Line 10"/>
            <p:cNvSpPr>
              <a:spLocks noChangeAspect="1"/>
            </p:cNvSpPr>
            <p:nvPr/>
          </p:nvSpPr>
          <p:spPr>
            <a:xfrm>
              <a:off x="2064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" name="Line 11"/>
            <p:cNvSpPr>
              <a:spLocks noChangeAspect="1"/>
            </p:cNvSpPr>
            <p:nvPr/>
          </p:nvSpPr>
          <p:spPr>
            <a:xfrm>
              <a:off x="2064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" name="Arc 12"/>
            <p:cNvSpPr>
              <a:spLocks noChangeAspect="1"/>
            </p:cNvSpPr>
            <p:nvPr/>
          </p:nvSpPr>
          <p:spPr>
            <a:xfrm>
              <a:off x="1776" y="2976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Arc 13"/>
            <p:cNvSpPr>
              <a:spLocks noChangeAspect="1"/>
            </p:cNvSpPr>
            <p:nvPr/>
          </p:nvSpPr>
          <p:spPr>
            <a:xfrm flipV="1">
              <a:off x="1776" y="3220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4"/>
          <p:cNvGrpSpPr>
            <a:grpSpLocks noChangeAspect="1"/>
          </p:cNvGrpSpPr>
          <p:nvPr/>
        </p:nvGrpSpPr>
        <p:grpSpPr>
          <a:xfrm>
            <a:off x="7422198" y="3919538"/>
            <a:ext cx="525462" cy="169862"/>
            <a:chOff x="1488" y="2976"/>
            <a:chExt cx="864" cy="379"/>
          </a:xfrm>
        </p:grpSpPr>
        <p:sp>
          <p:nvSpPr>
            <p:cNvPr id="14" name="Line 15"/>
            <p:cNvSpPr>
              <a:spLocks noChangeAspect="1"/>
            </p:cNvSpPr>
            <p:nvPr/>
          </p:nvSpPr>
          <p:spPr>
            <a:xfrm>
              <a:off x="1488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" name="Line 16"/>
            <p:cNvSpPr>
              <a:spLocks noChangeAspect="1"/>
            </p:cNvSpPr>
            <p:nvPr/>
          </p:nvSpPr>
          <p:spPr>
            <a:xfrm>
              <a:off x="1488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Line 17"/>
            <p:cNvSpPr>
              <a:spLocks noChangeAspect="1"/>
            </p:cNvSpPr>
            <p:nvPr/>
          </p:nvSpPr>
          <p:spPr>
            <a:xfrm>
              <a:off x="2064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" name="Line 18"/>
            <p:cNvSpPr>
              <a:spLocks noChangeAspect="1"/>
            </p:cNvSpPr>
            <p:nvPr/>
          </p:nvSpPr>
          <p:spPr>
            <a:xfrm>
              <a:off x="2064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" name="Arc 19"/>
            <p:cNvSpPr>
              <a:spLocks noChangeAspect="1"/>
            </p:cNvSpPr>
            <p:nvPr/>
          </p:nvSpPr>
          <p:spPr>
            <a:xfrm>
              <a:off x="1776" y="2976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Arc 20"/>
            <p:cNvSpPr>
              <a:spLocks noChangeAspect="1"/>
            </p:cNvSpPr>
            <p:nvPr/>
          </p:nvSpPr>
          <p:spPr>
            <a:xfrm flipV="1">
              <a:off x="1776" y="3220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Rectangle 28"/>
          <p:cNvSpPr/>
          <p:nvPr/>
        </p:nvSpPr>
        <p:spPr>
          <a:xfrm>
            <a:off x="3806190" y="3802698"/>
            <a:ext cx="1826141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∴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1molCaO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5680" y="3766503"/>
            <a:ext cx="148309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1molCa</a:t>
            </a:r>
            <a:r>
              <a:rPr lang="en-US" altLang="zh-CN" sz="2500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94320" y="3800158"/>
            <a:ext cx="1736373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1molC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89401" y="4240219"/>
            <a:ext cx="202170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2/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5molMnO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</a:p>
        </p:txBody>
      </p:sp>
      <p:grpSp>
        <p:nvGrpSpPr>
          <p:cNvPr id="33" name="Group 14"/>
          <p:cNvGrpSpPr>
            <a:grpSpLocks noChangeAspect="1"/>
          </p:cNvGrpSpPr>
          <p:nvPr/>
        </p:nvGrpSpPr>
        <p:grpSpPr>
          <a:xfrm>
            <a:off x="9547251" y="3954467"/>
            <a:ext cx="525462" cy="169862"/>
            <a:chOff x="1488" y="2976"/>
            <a:chExt cx="864" cy="379"/>
          </a:xfrm>
        </p:grpSpPr>
        <p:sp>
          <p:nvSpPr>
            <p:cNvPr id="34" name="Line 15"/>
            <p:cNvSpPr>
              <a:spLocks noChangeAspect="1"/>
            </p:cNvSpPr>
            <p:nvPr/>
          </p:nvSpPr>
          <p:spPr>
            <a:xfrm>
              <a:off x="1488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" name="Line 16"/>
            <p:cNvSpPr>
              <a:spLocks noChangeAspect="1"/>
            </p:cNvSpPr>
            <p:nvPr/>
          </p:nvSpPr>
          <p:spPr>
            <a:xfrm>
              <a:off x="1488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" name="Line 17"/>
            <p:cNvSpPr>
              <a:spLocks noChangeAspect="1"/>
            </p:cNvSpPr>
            <p:nvPr/>
          </p:nvSpPr>
          <p:spPr>
            <a:xfrm>
              <a:off x="2064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" name="Line 18"/>
            <p:cNvSpPr>
              <a:spLocks noChangeAspect="1"/>
            </p:cNvSpPr>
            <p:nvPr/>
          </p:nvSpPr>
          <p:spPr>
            <a:xfrm>
              <a:off x="2064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" name="Arc 19"/>
            <p:cNvSpPr>
              <a:spLocks noChangeAspect="1"/>
            </p:cNvSpPr>
            <p:nvPr/>
          </p:nvSpPr>
          <p:spPr>
            <a:xfrm>
              <a:off x="1776" y="2976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Arc 20"/>
            <p:cNvSpPr>
              <a:spLocks noChangeAspect="1"/>
            </p:cNvSpPr>
            <p:nvPr/>
          </p:nvSpPr>
          <p:spPr>
            <a:xfrm flipV="1">
              <a:off x="1776" y="3220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49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49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491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500"/>
                                        <p:tgtEl>
                                          <p:spTgt spid="49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6" dur="500"/>
                                        <p:tgtEl>
                                          <p:spTgt spid="49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49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6" dur="500"/>
                                        <p:tgtEl>
                                          <p:spTgt spid="49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0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160" grpId="0" uiExpand="1" build="p"/>
      <p:bldP spid="49188" grpId="0"/>
      <p:bldP spid="49196" grpId="0"/>
      <p:bldP spid="49197" grpId="0"/>
      <p:bldP spid="49198" grpId="0"/>
      <p:bldP spid="49199" grpId="0"/>
      <p:bldP spid="28" grpId="0"/>
      <p:bldP spid="30" grpId="0"/>
      <p:bldP spid="31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矩形 28"/>
          <p:cNvSpPr/>
          <p:nvPr/>
        </p:nvSpPr>
        <p:spPr>
          <a:xfrm>
            <a:off x="3760788" y="311150"/>
            <a:ext cx="6127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aphicFrame>
        <p:nvGraphicFramePr>
          <p:cNvPr id="55336" name="Object 40"/>
          <p:cNvGraphicFramePr>
            <a:graphicFrameLocks/>
          </p:cNvGraphicFramePr>
          <p:nvPr/>
        </p:nvGraphicFramePr>
        <p:xfrm>
          <a:off x="4403715" y="882633"/>
          <a:ext cx="5791200" cy="1271587"/>
        </p:xfrm>
        <a:graphic>
          <a:graphicData uri="http://schemas.openxmlformats.org/presentationml/2006/ole">
            <p:oleObj spid="_x0000_s1026" r:id="rId6" imgW="2082800" imgH="609600" progId="Equation.3">
              <p:embed/>
            </p:oleObj>
          </a:graphicData>
        </a:graphic>
      </p:graphicFrame>
      <p:graphicFrame>
        <p:nvGraphicFramePr>
          <p:cNvPr id="55337" name="Object 41"/>
          <p:cNvGraphicFramePr>
            <a:graphicFrameLocks/>
          </p:cNvGraphicFramePr>
          <p:nvPr/>
        </p:nvGraphicFramePr>
        <p:xfrm>
          <a:off x="5229860" y="2399983"/>
          <a:ext cx="5111750" cy="1189037"/>
        </p:xfrm>
        <a:graphic>
          <a:graphicData uri="http://schemas.openxmlformats.org/presentationml/2006/ole">
            <p:oleObj spid="_x0000_s1025" r:id="rId7" imgW="1841500" imgH="571500" progId="Equation.3">
              <p:embed/>
            </p:oleObj>
          </a:graphicData>
        </a:graphic>
      </p:graphicFrame>
      <p:sp>
        <p:nvSpPr>
          <p:cNvPr id="55338" name="Rectangle 42"/>
          <p:cNvSpPr/>
          <p:nvPr/>
        </p:nvSpPr>
        <p:spPr>
          <a:xfrm>
            <a:off x="5143500" y="3781425"/>
            <a:ext cx="1489510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= 56.08%</a:t>
            </a:r>
          </a:p>
        </p:txBody>
      </p:sp>
      <p:sp>
        <p:nvSpPr>
          <p:cNvPr id="8" name="Text Box 66"/>
          <p:cNvSpPr txBox="1"/>
          <p:nvPr/>
        </p:nvSpPr>
        <p:spPr>
          <a:xfrm>
            <a:off x="71438" y="315913"/>
            <a:ext cx="889987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：</a:t>
            </a:r>
            <a:endParaRPr lang="zh-CN" altLang="en-US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9" name="文本框 1"/>
          <p:cNvSpPr txBox="1"/>
          <p:nvPr/>
        </p:nvSpPr>
        <p:spPr>
          <a:xfrm>
            <a:off x="71755" y="739757"/>
            <a:ext cx="3445174" cy="280076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以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KMnO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法测矿样中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CaO,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称试样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0.5000g,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以酸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分解后加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(NH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)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C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得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CaC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沉淀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过滤洗涤后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溶于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H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SO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中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用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0.01000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 mol·L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-1 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KMnO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溶液滴定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所得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H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C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4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用去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20.00mL.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求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CaO</a:t>
            </a: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的质量分数。</a:t>
            </a:r>
            <a:endParaRPr lang="en-US" altLang="zh-CN" sz="2200" b="1" dirty="0">
              <a:solidFill>
                <a:schemeClr val="tx1"/>
              </a:solidFill>
              <a:uFillTx/>
              <a:ea typeface="华文新魏" pitchFamily="2" charset="-122"/>
              <a:sym typeface="+mn-ea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53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5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553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39" name="Rectangle 43"/>
          <p:cNvSpPr/>
          <p:nvPr/>
        </p:nvSpPr>
        <p:spPr>
          <a:xfrm>
            <a:off x="74295" y="739757"/>
            <a:ext cx="3645535" cy="24612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称取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试样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0.1000g,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加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HCl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后释出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Cl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与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KI</a:t>
            </a:r>
            <a:r>
              <a:rPr lang="zh-CN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液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反应析出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I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.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用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Na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滴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定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耗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25.00mL.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已知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1.00mL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Na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液相当于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0.3250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mg KIO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HIO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求试样中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含量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.</a:t>
            </a:r>
          </a:p>
        </p:txBody>
      </p:sp>
      <p:sp>
        <p:nvSpPr>
          <p:cNvPr id="4105" name="矩形 10"/>
          <p:cNvSpPr/>
          <p:nvPr/>
        </p:nvSpPr>
        <p:spPr>
          <a:xfrm>
            <a:off x="117435" y="311150"/>
            <a:ext cx="607859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2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32769" name="日期占位符 3"/>
          <p:cNvSpPr txBox="1">
            <a:spLocks noGrp="1"/>
          </p:cNvSpPr>
          <p:nvPr/>
        </p:nvSpPr>
        <p:spPr>
          <a:xfrm>
            <a:off x="3355023" y="5929630"/>
            <a:ext cx="2268537" cy="4079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2500" b="1" dirty="0">
                <a:ea typeface="华文新魏" pitchFamily="2" charset="-122"/>
              </a:rPr>
              <a:pPr lvl="0" indent="0"/>
              <a:t>2017/8/20</a:t>
            </a:fld>
            <a:endParaRPr lang="zh-CN" altLang="en-US" sz="2500" b="1" dirty="0">
              <a:ea typeface="华文新魏" pitchFamily="2" charset="-122"/>
            </a:endParaRPr>
          </a:p>
        </p:txBody>
      </p:sp>
      <p:sp>
        <p:nvSpPr>
          <p:cNvPr id="32770" name="灯片编号占位符 4"/>
          <p:cNvSpPr txBox="1">
            <a:spLocks noGrp="1"/>
          </p:cNvSpPr>
          <p:nvPr/>
        </p:nvSpPr>
        <p:spPr>
          <a:xfrm>
            <a:off x="7979410" y="5929630"/>
            <a:ext cx="544513" cy="4079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9A0DB2DC-4C9A-4742-B13C-FB6460FD3503}" type="slidenum">
              <a:rPr lang="en-US" altLang="zh-CN" sz="2500" b="1" dirty="0">
                <a:ea typeface="华文新魏" pitchFamily="2" charset="-122"/>
              </a:rPr>
              <a:pPr lvl="0" indent="0"/>
              <a:t>3</a:t>
            </a:fld>
            <a:endParaRPr lang="en-US" altLang="zh-CN" sz="2500" b="1" dirty="0">
              <a:ea typeface="华文新魏" pitchFamily="2" charset="-122"/>
            </a:endParaRPr>
          </a:p>
        </p:txBody>
      </p:sp>
      <p:sp>
        <p:nvSpPr>
          <p:cNvPr id="51206" name="Rectangle 6"/>
          <p:cNvSpPr/>
          <p:nvPr/>
        </p:nvSpPr>
        <p:spPr>
          <a:xfrm>
            <a:off x="3719830" y="787083"/>
            <a:ext cx="7802245" cy="124649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500" b="1" dirty="0" smtClean="0">
                <a:latin typeface="Times New Roman" panose="02020603050405020304" pitchFamily="18" charset="0"/>
                <a:ea typeface="华文新魏" pitchFamily="2" charset="-122"/>
              </a:rPr>
              <a:t>        对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固体物质的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常量分析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被测组分含量一般也是指</a:t>
            </a:r>
            <a:r>
              <a:rPr lang="zh-CN" altLang="en-US" sz="2500" b="1" dirty="0" smtClean="0">
                <a:latin typeface="Times New Roman" panose="02020603050405020304" pitchFamily="18" charset="0"/>
                <a:ea typeface="华文新魏" pitchFamily="2" charset="-122"/>
              </a:rPr>
              <a:t>质量分数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;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若是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微量分析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则被测组分含量表示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:g</a:t>
            </a:r>
            <a:r>
              <a:rPr lang="zh-CN" altLang="en-US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被测组分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/kg</a:t>
            </a:r>
            <a:r>
              <a:rPr lang="zh-CN" altLang="en-US" sz="2500" b="1" baseline="-25000" dirty="0" smtClean="0">
                <a:latin typeface="Times New Roman" panose="02020603050405020304" pitchFamily="18" charset="0"/>
                <a:ea typeface="华文新魏" pitchFamily="2" charset="-122"/>
              </a:rPr>
              <a:t>样品</a:t>
            </a:r>
            <a:r>
              <a:rPr lang="zh-CN" altLang="en-US" sz="2500" b="1" dirty="0" smtClean="0">
                <a:latin typeface="Times New Roman" panose="02020603050405020304" pitchFamily="18" charset="0"/>
                <a:ea typeface="华文新魏" pitchFamily="2" charset="-122"/>
              </a:rPr>
              <a:t>或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mg/kg .</a:t>
            </a:r>
          </a:p>
        </p:txBody>
      </p:sp>
      <p:sp>
        <p:nvSpPr>
          <p:cNvPr id="51261" name="Rectangle 61"/>
          <p:cNvSpPr/>
          <p:nvPr/>
        </p:nvSpPr>
        <p:spPr>
          <a:xfrm>
            <a:off x="4080510" y="3208655"/>
            <a:ext cx="6192721" cy="1246495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已知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:Pb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+ 8HCl = Cl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↑ + 3PbCl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+ 4H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</a:p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       Cl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+  2I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= I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+ 2Cl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</a:endParaRPr>
          </a:p>
          <a:p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滴定反应为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: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I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+ 2S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= 2I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S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6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2-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</a:endParaRPr>
          </a:p>
        </p:txBody>
      </p:sp>
      <p:sp>
        <p:nvSpPr>
          <p:cNvPr id="51262" name="Rectangle 62"/>
          <p:cNvSpPr/>
          <p:nvPr/>
        </p:nvSpPr>
        <p:spPr>
          <a:xfrm>
            <a:off x="4080510" y="2412674"/>
            <a:ext cx="1713931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w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 =</a:t>
            </a:r>
          </a:p>
        </p:txBody>
      </p:sp>
      <p:sp>
        <p:nvSpPr>
          <p:cNvPr id="51263" name="Rectangle 63"/>
          <p:cNvSpPr/>
          <p:nvPr/>
        </p:nvSpPr>
        <p:spPr>
          <a:xfrm>
            <a:off x="5849938" y="2097079"/>
            <a:ext cx="1487908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m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(Pb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51264" name="Line 64"/>
          <p:cNvSpPr/>
          <p:nvPr/>
        </p:nvSpPr>
        <p:spPr>
          <a:xfrm>
            <a:off x="5799138" y="2669532"/>
            <a:ext cx="15351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65" name="Rectangle 65"/>
          <p:cNvSpPr/>
          <p:nvPr/>
        </p:nvSpPr>
        <p:spPr>
          <a:xfrm>
            <a:off x="6302693" y="2669532"/>
            <a:ext cx="518091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m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s</a:t>
            </a:r>
          </a:p>
        </p:txBody>
      </p:sp>
      <p:sp>
        <p:nvSpPr>
          <p:cNvPr id="51266" name="Rectangle 66"/>
          <p:cNvSpPr/>
          <p:nvPr/>
        </p:nvSpPr>
        <p:spPr>
          <a:xfrm>
            <a:off x="7811453" y="2412674"/>
            <a:ext cx="2786340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m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500" b="1" baseline="-40000" dirty="0"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40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= (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nM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)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500" b="1" baseline="-40000" dirty="0"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40000" dirty="0">
                <a:latin typeface="Times New Roman" panose="02020603050405020304" pitchFamily="18" charset="0"/>
                <a:ea typeface="华文新魏" pitchFamily="2" charset="-122"/>
              </a:rPr>
              <a:t>4</a:t>
            </a:r>
            <a:endParaRPr lang="en-US" altLang="zh-CN" sz="2500" b="1" baseline="-25000" dirty="0">
              <a:latin typeface="Times New Roman" panose="02020603050405020304" pitchFamily="18" charset="0"/>
              <a:ea typeface="华文新魏" pitchFamily="2" charset="-122"/>
            </a:endParaRPr>
          </a:p>
        </p:txBody>
      </p:sp>
      <p:sp>
        <p:nvSpPr>
          <p:cNvPr id="51267" name="Rectangle 67"/>
          <p:cNvSpPr/>
          <p:nvPr/>
        </p:nvSpPr>
        <p:spPr>
          <a:xfrm>
            <a:off x="4080509" y="4432618"/>
            <a:ext cx="2109156" cy="477054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∴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1mol</a:t>
            </a:r>
            <a:r>
              <a:rPr lang="en-US" altLang="zh-CN" sz="2500" b="1" dirty="0" smtClean="0">
                <a:ea typeface="华文新魏" pitchFamily="2" charset="-122"/>
              </a:rPr>
              <a:t> </a:t>
            </a:r>
            <a:r>
              <a:rPr lang="en-US" altLang="zh-CN" sz="25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500" b="1" baseline="-25000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4</a:t>
            </a:r>
            <a:endParaRPr lang="en-US" altLang="zh-CN" sz="2500" b="1" baseline="-25000" dirty="0">
              <a:latin typeface="Times New Roman" panose="02020603050405020304" pitchFamily="18" charset="0"/>
              <a:ea typeface="华文新魏" pitchFamily="2" charset="-122"/>
            </a:endParaRPr>
          </a:p>
        </p:txBody>
      </p:sp>
      <p:grpSp>
        <p:nvGrpSpPr>
          <p:cNvPr id="51268" name="Group 68"/>
          <p:cNvGrpSpPr>
            <a:grpSpLocks noChangeAspect="1"/>
          </p:cNvGrpSpPr>
          <p:nvPr/>
        </p:nvGrpSpPr>
        <p:grpSpPr>
          <a:xfrm>
            <a:off x="6134418" y="4586288"/>
            <a:ext cx="525462" cy="169862"/>
            <a:chOff x="1488" y="2976"/>
            <a:chExt cx="864" cy="379"/>
          </a:xfrm>
        </p:grpSpPr>
        <p:sp>
          <p:nvSpPr>
            <p:cNvPr id="32781" name="Line 69"/>
            <p:cNvSpPr>
              <a:spLocks noChangeAspect="1"/>
            </p:cNvSpPr>
            <p:nvPr/>
          </p:nvSpPr>
          <p:spPr>
            <a:xfrm>
              <a:off x="1488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2" name="Line 70"/>
            <p:cNvSpPr>
              <a:spLocks noChangeAspect="1"/>
            </p:cNvSpPr>
            <p:nvPr/>
          </p:nvSpPr>
          <p:spPr>
            <a:xfrm>
              <a:off x="1488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3" name="Line 71"/>
            <p:cNvSpPr>
              <a:spLocks noChangeAspect="1"/>
            </p:cNvSpPr>
            <p:nvPr/>
          </p:nvSpPr>
          <p:spPr>
            <a:xfrm>
              <a:off x="2064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4" name="Line 72"/>
            <p:cNvSpPr>
              <a:spLocks noChangeAspect="1"/>
            </p:cNvSpPr>
            <p:nvPr/>
          </p:nvSpPr>
          <p:spPr>
            <a:xfrm>
              <a:off x="2064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5" name="Arc 73"/>
            <p:cNvSpPr>
              <a:spLocks noChangeAspect="1"/>
            </p:cNvSpPr>
            <p:nvPr/>
          </p:nvSpPr>
          <p:spPr>
            <a:xfrm>
              <a:off x="1776" y="2976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6" name="Arc 74"/>
            <p:cNvSpPr>
              <a:spLocks noChangeAspect="1"/>
            </p:cNvSpPr>
            <p:nvPr/>
          </p:nvSpPr>
          <p:spPr>
            <a:xfrm flipV="1">
              <a:off x="1776" y="3220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75" name="Rectangle 75"/>
          <p:cNvSpPr/>
          <p:nvPr/>
        </p:nvSpPr>
        <p:spPr>
          <a:xfrm>
            <a:off x="6704648" y="4452938"/>
            <a:ext cx="129073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1molCl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</a:t>
            </a:r>
          </a:p>
        </p:txBody>
      </p:sp>
      <p:grpSp>
        <p:nvGrpSpPr>
          <p:cNvPr id="51276" name="Group 76"/>
          <p:cNvGrpSpPr>
            <a:grpSpLocks noChangeAspect="1"/>
          </p:cNvGrpSpPr>
          <p:nvPr/>
        </p:nvGrpSpPr>
        <p:grpSpPr>
          <a:xfrm>
            <a:off x="7858125" y="4604068"/>
            <a:ext cx="525463" cy="169862"/>
            <a:chOff x="1488" y="2976"/>
            <a:chExt cx="864" cy="379"/>
          </a:xfrm>
        </p:grpSpPr>
        <p:sp>
          <p:nvSpPr>
            <p:cNvPr id="32789" name="Line 77"/>
            <p:cNvSpPr>
              <a:spLocks noChangeAspect="1"/>
            </p:cNvSpPr>
            <p:nvPr/>
          </p:nvSpPr>
          <p:spPr>
            <a:xfrm>
              <a:off x="1488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0" name="Line 78"/>
            <p:cNvSpPr>
              <a:spLocks noChangeAspect="1"/>
            </p:cNvSpPr>
            <p:nvPr/>
          </p:nvSpPr>
          <p:spPr>
            <a:xfrm>
              <a:off x="1488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1" name="Line 79"/>
            <p:cNvSpPr>
              <a:spLocks noChangeAspect="1"/>
            </p:cNvSpPr>
            <p:nvPr/>
          </p:nvSpPr>
          <p:spPr>
            <a:xfrm>
              <a:off x="2064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2" name="Line 80"/>
            <p:cNvSpPr>
              <a:spLocks noChangeAspect="1"/>
            </p:cNvSpPr>
            <p:nvPr/>
          </p:nvSpPr>
          <p:spPr>
            <a:xfrm>
              <a:off x="2064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3" name="Arc 81"/>
            <p:cNvSpPr>
              <a:spLocks noChangeAspect="1"/>
            </p:cNvSpPr>
            <p:nvPr/>
          </p:nvSpPr>
          <p:spPr>
            <a:xfrm>
              <a:off x="1776" y="2976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Arc 82"/>
            <p:cNvSpPr>
              <a:spLocks noChangeAspect="1"/>
            </p:cNvSpPr>
            <p:nvPr/>
          </p:nvSpPr>
          <p:spPr>
            <a:xfrm flipV="1">
              <a:off x="1776" y="3220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83" name="Rectangle 83"/>
          <p:cNvSpPr/>
          <p:nvPr/>
        </p:nvSpPr>
        <p:spPr>
          <a:xfrm>
            <a:off x="8383905" y="4412298"/>
            <a:ext cx="1095172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1molI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</a:t>
            </a:r>
          </a:p>
        </p:txBody>
      </p:sp>
      <p:grpSp>
        <p:nvGrpSpPr>
          <p:cNvPr id="51284" name="Group 84"/>
          <p:cNvGrpSpPr>
            <a:grpSpLocks noChangeAspect="1"/>
          </p:cNvGrpSpPr>
          <p:nvPr/>
        </p:nvGrpSpPr>
        <p:grpSpPr>
          <a:xfrm>
            <a:off x="9465310" y="4583113"/>
            <a:ext cx="525463" cy="169862"/>
            <a:chOff x="1488" y="2976"/>
            <a:chExt cx="864" cy="379"/>
          </a:xfrm>
        </p:grpSpPr>
        <p:sp>
          <p:nvSpPr>
            <p:cNvPr id="32797" name="Line 85"/>
            <p:cNvSpPr>
              <a:spLocks noChangeAspect="1"/>
            </p:cNvSpPr>
            <p:nvPr/>
          </p:nvSpPr>
          <p:spPr>
            <a:xfrm>
              <a:off x="1488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8" name="Line 86"/>
            <p:cNvSpPr>
              <a:spLocks noChangeAspect="1"/>
            </p:cNvSpPr>
            <p:nvPr/>
          </p:nvSpPr>
          <p:spPr>
            <a:xfrm>
              <a:off x="1488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9" name="Line 87"/>
            <p:cNvSpPr>
              <a:spLocks noChangeAspect="1"/>
            </p:cNvSpPr>
            <p:nvPr/>
          </p:nvSpPr>
          <p:spPr>
            <a:xfrm>
              <a:off x="2064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00" name="Line 88"/>
            <p:cNvSpPr>
              <a:spLocks noChangeAspect="1"/>
            </p:cNvSpPr>
            <p:nvPr/>
          </p:nvSpPr>
          <p:spPr>
            <a:xfrm>
              <a:off x="2064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01" name="Arc 89"/>
            <p:cNvSpPr>
              <a:spLocks noChangeAspect="1"/>
            </p:cNvSpPr>
            <p:nvPr/>
          </p:nvSpPr>
          <p:spPr>
            <a:xfrm>
              <a:off x="1776" y="2976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2" name="Arc 90"/>
            <p:cNvSpPr>
              <a:spLocks noChangeAspect="1"/>
            </p:cNvSpPr>
            <p:nvPr/>
          </p:nvSpPr>
          <p:spPr>
            <a:xfrm flipV="1">
              <a:off x="1776" y="3220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91" name="Rectangle 91"/>
          <p:cNvSpPr/>
          <p:nvPr/>
        </p:nvSpPr>
        <p:spPr>
          <a:xfrm>
            <a:off x="4080510" y="4929505"/>
            <a:ext cx="2084225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2mol Na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3</a:t>
            </a:r>
          </a:p>
        </p:txBody>
      </p:sp>
      <p:sp>
        <p:nvSpPr>
          <p:cNvPr id="3077" name="矩形 28"/>
          <p:cNvSpPr/>
          <p:nvPr/>
        </p:nvSpPr>
        <p:spPr>
          <a:xfrm>
            <a:off x="3760788" y="334945"/>
            <a:ext cx="6127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9230" y="3201017"/>
            <a:ext cx="285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dirty="0">
                <a:uFillTx/>
                <a:latin typeface="宋体" panose="02010600030101010101" pitchFamily="2" charset="-122"/>
                <a:sym typeface="+mn-ea"/>
              </a:rPr>
              <a:t>｛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Pb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4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(</a:t>
            </a:r>
            <a:r>
              <a:rPr lang="en-US" altLang="zh-CN" b="1" i="1" dirty="0">
                <a:uFillTx/>
                <a:ea typeface="华文新魏" pitchFamily="2" charset="-122"/>
                <a:sym typeface="+mn-ea"/>
              </a:rPr>
              <a:t>M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 = 685.6g·mol</a:t>
            </a:r>
            <a:r>
              <a:rPr lang="en-US" altLang="zh-CN" b="1" baseline="30000" dirty="0"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4295" y="3569317"/>
            <a:ext cx="3491661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KIO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Symbol" panose="05050102010706020507" pitchFamily="18" charset="2"/>
              </a:rPr>
              <a:t>·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HIO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(</a:t>
            </a:r>
            <a:r>
              <a:rPr lang="en-US" altLang="zh-CN" b="1" i="1" dirty="0">
                <a:uFillTx/>
                <a:ea typeface="华文新魏" pitchFamily="2" charset="-122"/>
                <a:sym typeface="+mn-ea"/>
              </a:rPr>
              <a:t>M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 = 389.92g·mol</a:t>
            </a:r>
            <a:r>
              <a:rPr lang="en-US" altLang="zh-CN" b="1" baseline="30000" dirty="0"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)</a:t>
            </a:r>
            <a:r>
              <a:rPr lang="en-US" altLang="zh-CN" b="1" dirty="0">
                <a:uFillTx/>
                <a:latin typeface="宋体" panose="02010600030101010101" pitchFamily="2" charset="-122"/>
                <a:sym typeface="+mn-ea"/>
              </a:rPr>
              <a:t>｝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5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5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5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500"/>
                                        <p:tgtEl>
                                          <p:spTgt spid="512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6" dur="500"/>
                                        <p:tgtEl>
                                          <p:spTgt spid="5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51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6" dur="500"/>
                                        <p:tgtEl>
                                          <p:spTgt spid="51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1" dur="500"/>
                                        <p:tgtEl>
                                          <p:spTgt spid="51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6" dur="500"/>
                                        <p:tgtEl>
                                          <p:spTgt spid="5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1" dur="500"/>
                                        <p:tgtEl>
                                          <p:spTgt spid="5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5" dur="500"/>
                                        <p:tgtEl>
                                          <p:spTgt spid="51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0" dur="500"/>
                                        <p:tgtEl>
                                          <p:spTgt spid="5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4" dur="500"/>
                                        <p:tgtEl>
                                          <p:spTgt spid="512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9" dur="500"/>
                                        <p:tgtEl>
                                          <p:spTgt spid="5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3" dur="500"/>
                                        <p:tgtEl>
                                          <p:spTgt spid="51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" grpId="0"/>
      <p:bldP spid="51261" grpId="0" uiExpand="1" build="p"/>
      <p:bldP spid="51262" grpId="0"/>
      <p:bldP spid="51263" grpId="0"/>
      <p:bldP spid="51265" grpId="0"/>
      <p:bldP spid="51266" grpId="0"/>
      <p:bldP spid="51267" grpId="0"/>
      <p:bldP spid="51275" grpId="0"/>
      <p:bldP spid="51283" grpId="0"/>
      <p:bldP spid="51291" grpId="0"/>
      <p:bldP spid="30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矩形 28"/>
          <p:cNvSpPr/>
          <p:nvPr/>
        </p:nvSpPr>
        <p:spPr>
          <a:xfrm>
            <a:off x="3760788" y="311150"/>
            <a:ext cx="6127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56348" name="Group 28"/>
          <p:cNvGrpSpPr>
            <a:grpSpLocks noChangeAspect="1"/>
          </p:cNvGrpSpPr>
          <p:nvPr/>
        </p:nvGrpSpPr>
        <p:grpSpPr>
          <a:xfrm>
            <a:off x="6485255" y="3831273"/>
            <a:ext cx="527050" cy="169862"/>
            <a:chOff x="1488" y="2976"/>
            <a:chExt cx="864" cy="379"/>
          </a:xfrm>
        </p:grpSpPr>
        <p:sp>
          <p:nvSpPr>
            <p:cNvPr id="33796" name="Line 29"/>
            <p:cNvSpPr>
              <a:spLocks noChangeAspect="1"/>
            </p:cNvSpPr>
            <p:nvPr/>
          </p:nvSpPr>
          <p:spPr>
            <a:xfrm>
              <a:off x="1488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797" name="Line 30"/>
            <p:cNvSpPr>
              <a:spLocks noChangeAspect="1"/>
            </p:cNvSpPr>
            <p:nvPr/>
          </p:nvSpPr>
          <p:spPr>
            <a:xfrm>
              <a:off x="1488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798" name="Line 31"/>
            <p:cNvSpPr>
              <a:spLocks noChangeAspect="1"/>
            </p:cNvSpPr>
            <p:nvPr/>
          </p:nvSpPr>
          <p:spPr>
            <a:xfrm>
              <a:off x="2064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799" name="Line 32"/>
            <p:cNvSpPr>
              <a:spLocks noChangeAspect="1"/>
            </p:cNvSpPr>
            <p:nvPr/>
          </p:nvSpPr>
          <p:spPr>
            <a:xfrm>
              <a:off x="2064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0" name="Arc 33"/>
            <p:cNvSpPr>
              <a:spLocks noChangeAspect="1"/>
            </p:cNvSpPr>
            <p:nvPr/>
          </p:nvSpPr>
          <p:spPr>
            <a:xfrm>
              <a:off x="1776" y="2976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1" name="Arc 34"/>
            <p:cNvSpPr>
              <a:spLocks noChangeAspect="1"/>
            </p:cNvSpPr>
            <p:nvPr/>
          </p:nvSpPr>
          <p:spPr>
            <a:xfrm flipV="1">
              <a:off x="1776" y="3220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55" name="Group 35"/>
          <p:cNvGrpSpPr>
            <a:grpSpLocks noChangeAspect="1"/>
          </p:cNvGrpSpPr>
          <p:nvPr/>
        </p:nvGrpSpPr>
        <p:grpSpPr>
          <a:xfrm>
            <a:off x="7634288" y="3787458"/>
            <a:ext cx="525462" cy="169862"/>
            <a:chOff x="1488" y="2976"/>
            <a:chExt cx="864" cy="379"/>
          </a:xfrm>
        </p:grpSpPr>
        <p:sp>
          <p:nvSpPr>
            <p:cNvPr id="33803" name="Line 36"/>
            <p:cNvSpPr>
              <a:spLocks noChangeAspect="1"/>
            </p:cNvSpPr>
            <p:nvPr/>
          </p:nvSpPr>
          <p:spPr>
            <a:xfrm>
              <a:off x="1488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4" name="Line 37"/>
            <p:cNvSpPr>
              <a:spLocks noChangeAspect="1"/>
            </p:cNvSpPr>
            <p:nvPr/>
          </p:nvSpPr>
          <p:spPr>
            <a:xfrm>
              <a:off x="1488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5" name="Line 38"/>
            <p:cNvSpPr>
              <a:spLocks noChangeAspect="1"/>
            </p:cNvSpPr>
            <p:nvPr/>
          </p:nvSpPr>
          <p:spPr>
            <a:xfrm>
              <a:off x="2064" y="3216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6" name="Line 39"/>
            <p:cNvSpPr>
              <a:spLocks noChangeAspect="1"/>
            </p:cNvSpPr>
            <p:nvPr/>
          </p:nvSpPr>
          <p:spPr>
            <a:xfrm>
              <a:off x="2064" y="3120"/>
              <a:ext cx="288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7" name="Arc 40"/>
            <p:cNvSpPr>
              <a:spLocks noChangeAspect="1"/>
            </p:cNvSpPr>
            <p:nvPr/>
          </p:nvSpPr>
          <p:spPr>
            <a:xfrm>
              <a:off x="1776" y="2976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8" name="Arc 41"/>
            <p:cNvSpPr>
              <a:spLocks noChangeAspect="1"/>
            </p:cNvSpPr>
            <p:nvPr/>
          </p:nvSpPr>
          <p:spPr>
            <a:xfrm flipV="1">
              <a:off x="1776" y="3220"/>
              <a:ext cx="287" cy="135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286" y="133"/>
                </a:cxn>
                <a:cxn ang="0">
                  <a:pos x="144" y="121"/>
                </a:cxn>
              </a:cxnLst>
              <a:rect l="0" t="0" r="0" b="0"/>
              <a:pathLst>
                <a:path w="43200" h="24172" fill="none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</a:path>
                <a:path w="43200" h="24172" stroke="0">
                  <a:moveTo>
                    <a:pt x="153" y="24172"/>
                  </a:moveTo>
                  <a:cubicBezTo>
                    <a:pt x="51" y="23318"/>
                    <a:pt x="0" y="2245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26"/>
                    <a:pt x="43163" y="23052"/>
                    <a:pt x="43090" y="23776"/>
                  </a:cubicBezTo>
                  <a:lnTo>
                    <a:pt x="21600" y="21600"/>
                  </a:lnTo>
                  <a:lnTo>
                    <a:pt x="153" y="24172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6362" name="Object 42"/>
          <p:cNvGraphicFramePr>
            <a:graphicFrameLocks/>
          </p:cNvGraphicFramePr>
          <p:nvPr/>
        </p:nvGraphicFramePr>
        <p:xfrm>
          <a:off x="5444490" y="2411730"/>
          <a:ext cx="3808413" cy="885825"/>
        </p:xfrm>
        <a:graphic>
          <a:graphicData uri="http://schemas.openxmlformats.org/presentationml/2006/ole">
            <p:oleObj spid="_x0000_s17410" r:id="rId5" imgW="1307532" imgH="406224" progId="Equation.3">
              <p:embed/>
            </p:oleObj>
          </a:graphicData>
        </a:graphic>
      </p:graphicFrame>
      <p:sp>
        <p:nvSpPr>
          <p:cNvPr id="56364" name="Rectangle 44"/>
          <p:cNvSpPr/>
          <p:nvPr/>
        </p:nvSpPr>
        <p:spPr>
          <a:xfrm>
            <a:off x="4613275" y="1935480"/>
            <a:ext cx="5012911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solidFill>
                  <a:schemeClr val="bg1"/>
                </a:solidFill>
                <a:latin typeface="Times New Roman" panose="02020603050405020304" pitchFamily="18" charset="0"/>
                <a:ea typeface="华文新魏" pitchFamily="2" charset="-122"/>
              </a:rPr>
              <a:t>物质</a:t>
            </a:r>
            <a:r>
              <a:rPr lang="en-US" altLang="zh-CN" sz="2500" b="1" dirty="0">
                <a:solidFill>
                  <a:schemeClr val="bg1"/>
                </a:solidFill>
                <a:latin typeface="Times New Roman" panose="02020603050405020304" pitchFamily="18" charset="0"/>
                <a:ea typeface="华文新魏" pitchFamily="2" charset="-122"/>
              </a:rPr>
              <a:t>B</a:t>
            </a:r>
            <a:r>
              <a:rPr lang="zh-CN" altLang="en-US" sz="2500" b="1" dirty="0">
                <a:solidFill>
                  <a:schemeClr val="bg1"/>
                </a:solidFill>
                <a:latin typeface="Times New Roman" panose="02020603050405020304" pitchFamily="18" charset="0"/>
                <a:ea typeface="华文新魏" pitchFamily="2" charset="-122"/>
              </a:rPr>
              <a:t>的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滴定度</a:t>
            </a:r>
            <a:r>
              <a:rPr lang="zh-CN" altLang="en-US" sz="2500" b="1" dirty="0">
                <a:solidFill>
                  <a:schemeClr val="bg1"/>
                </a:solidFill>
                <a:latin typeface="Times New Roman" panose="02020603050405020304" pitchFamily="18" charset="0"/>
                <a:ea typeface="华文新魏" pitchFamily="2" charset="-122"/>
              </a:rPr>
              <a:t>与其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浓度</a:t>
            </a:r>
            <a:r>
              <a:rPr lang="zh-CN" altLang="en-US" sz="2500" b="1" dirty="0">
                <a:solidFill>
                  <a:schemeClr val="bg1"/>
                </a:solidFill>
                <a:latin typeface="Times New Roman" panose="02020603050405020304" pitchFamily="18" charset="0"/>
                <a:ea typeface="华文新魏" pitchFamily="2" charset="-122"/>
              </a:rPr>
              <a:t>之间关系</a:t>
            </a:r>
            <a:r>
              <a:rPr lang="en-US" altLang="zh-CN" sz="2500" b="1" dirty="0">
                <a:solidFill>
                  <a:schemeClr val="bg1"/>
                </a:solidFill>
                <a:latin typeface="Times New Roman" panose="02020603050405020304" pitchFamily="18" charset="0"/>
                <a:ea typeface="华文新魏" pitchFamily="2" charset="-122"/>
              </a:rPr>
              <a:t>:</a:t>
            </a:r>
          </a:p>
        </p:txBody>
      </p:sp>
      <p:sp>
        <p:nvSpPr>
          <p:cNvPr id="56365" name="Rectangle 45"/>
          <p:cNvSpPr/>
          <p:nvPr/>
        </p:nvSpPr>
        <p:spPr>
          <a:xfrm>
            <a:off x="4613275" y="3616643"/>
            <a:ext cx="1917513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1KIO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·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HIO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3</a:t>
            </a:r>
          </a:p>
        </p:txBody>
      </p:sp>
      <p:sp>
        <p:nvSpPr>
          <p:cNvPr id="56366" name="Rectangle 46"/>
          <p:cNvSpPr/>
          <p:nvPr/>
        </p:nvSpPr>
        <p:spPr>
          <a:xfrm>
            <a:off x="7012305" y="3613785"/>
            <a:ext cx="716915" cy="47561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6I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</a:t>
            </a:r>
          </a:p>
        </p:txBody>
      </p:sp>
      <p:sp>
        <p:nvSpPr>
          <p:cNvPr id="56367" name="Rectangle 47"/>
          <p:cNvSpPr/>
          <p:nvPr/>
        </p:nvSpPr>
        <p:spPr>
          <a:xfrm>
            <a:off x="8159750" y="3612833"/>
            <a:ext cx="1646605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12Na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3</a:t>
            </a:r>
          </a:p>
        </p:txBody>
      </p:sp>
      <p:graphicFrame>
        <p:nvGraphicFramePr>
          <p:cNvPr id="56373" name="Object 53"/>
          <p:cNvGraphicFramePr>
            <a:graphicFrameLocks/>
          </p:cNvGraphicFramePr>
          <p:nvPr/>
        </p:nvGraphicFramePr>
        <p:xfrm>
          <a:off x="4373563" y="740728"/>
          <a:ext cx="5846762" cy="1268412"/>
        </p:xfrm>
        <a:graphic>
          <a:graphicData uri="http://schemas.openxmlformats.org/presentationml/2006/ole">
            <p:oleObj spid="_x0000_s17409" r:id="rId6" imgW="2108200" imgH="609600" progId="Equation.3">
              <p:embed/>
            </p:oleObj>
          </a:graphicData>
        </a:graphic>
      </p:graphicFrame>
      <p:sp>
        <p:nvSpPr>
          <p:cNvPr id="56374" name="Rectangle 54"/>
          <p:cNvSpPr/>
          <p:nvPr/>
        </p:nvSpPr>
        <p:spPr>
          <a:xfrm>
            <a:off x="4324350" y="3175635"/>
            <a:ext cx="6651661" cy="51435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已知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:IO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 5I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+ 6H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= 3I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 3H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</a:p>
        </p:txBody>
      </p:sp>
      <p:sp>
        <p:nvSpPr>
          <p:cNvPr id="56375" name="Rectangle 55"/>
          <p:cNvSpPr/>
          <p:nvPr/>
        </p:nvSpPr>
        <p:spPr>
          <a:xfrm>
            <a:off x="4727575" y="4461193"/>
            <a:ext cx="194636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c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(Na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) =</a:t>
            </a:r>
          </a:p>
        </p:txBody>
      </p:sp>
      <p:sp>
        <p:nvSpPr>
          <p:cNvPr id="56376" name="Rectangle 56"/>
          <p:cNvSpPr/>
          <p:nvPr/>
        </p:nvSpPr>
        <p:spPr>
          <a:xfrm>
            <a:off x="7405688" y="4089400"/>
            <a:ext cx="3358612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0.3250×10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-3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×12×10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</a:t>
            </a:r>
          </a:p>
        </p:txBody>
      </p:sp>
      <p:sp>
        <p:nvSpPr>
          <p:cNvPr id="56377" name="Line 57"/>
          <p:cNvSpPr/>
          <p:nvPr/>
        </p:nvSpPr>
        <p:spPr>
          <a:xfrm>
            <a:off x="6660833" y="4699318"/>
            <a:ext cx="43195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78" name="Rectangle 58"/>
          <p:cNvSpPr/>
          <p:nvPr/>
        </p:nvSpPr>
        <p:spPr>
          <a:xfrm>
            <a:off x="8356283" y="4713923"/>
            <a:ext cx="90601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389.9</a:t>
            </a:r>
          </a:p>
        </p:txBody>
      </p:sp>
      <p:sp>
        <p:nvSpPr>
          <p:cNvPr id="56379" name="Rectangle 59"/>
          <p:cNvSpPr/>
          <p:nvPr/>
        </p:nvSpPr>
        <p:spPr>
          <a:xfrm>
            <a:off x="6794183" y="5190490"/>
            <a:ext cx="2585964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= 0.01000 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-1</a:t>
            </a:r>
          </a:p>
        </p:txBody>
      </p:sp>
      <p:sp>
        <p:nvSpPr>
          <p:cNvPr id="33" name="Rectangle 43"/>
          <p:cNvSpPr/>
          <p:nvPr/>
        </p:nvSpPr>
        <p:spPr>
          <a:xfrm>
            <a:off x="74295" y="739757"/>
            <a:ext cx="3645535" cy="24612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称取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试样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0.1000g,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加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HCl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后释出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Cl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与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KI</a:t>
            </a:r>
            <a:r>
              <a:rPr lang="zh-CN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液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反应析出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I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.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用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Na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滴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定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耗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25.00mL.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已知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1.00mL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Na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液相当于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0.3250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mg KIO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HIO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求试样中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含量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.</a:t>
            </a:r>
          </a:p>
        </p:txBody>
      </p:sp>
      <p:sp>
        <p:nvSpPr>
          <p:cNvPr id="34" name="矩形 10"/>
          <p:cNvSpPr/>
          <p:nvPr/>
        </p:nvSpPr>
        <p:spPr>
          <a:xfrm>
            <a:off x="117435" y="311150"/>
            <a:ext cx="607859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2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35" name="文本框 1"/>
          <p:cNvSpPr txBox="1"/>
          <p:nvPr/>
        </p:nvSpPr>
        <p:spPr>
          <a:xfrm>
            <a:off x="189230" y="3201017"/>
            <a:ext cx="285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dirty="0">
                <a:uFillTx/>
                <a:latin typeface="宋体" panose="02010600030101010101" pitchFamily="2" charset="-122"/>
                <a:sym typeface="+mn-ea"/>
              </a:rPr>
              <a:t>｛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Pb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4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(</a:t>
            </a:r>
            <a:r>
              <a:rPr lang="en-US" altLang="zh-CN" b="1" i="1" dirty="0">
                <a:uFillTx/>
                <a:ea typeface="华文新魏" pitchFamily="2" charset="-122"/>
                <a:sym typeface="+mn-ea"/>
              </a:rPr>
              <a:t>M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 = 685.6g·mol</a:t>
            </a:r>
            <a:r>
              <a:rPr lang="en-US" altLang="zh-CN" b="1" baseline="30000" dirty="0"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)</a:t>
            </a:r>
            <a:endParaRPr lang="zh-CN" altLang="en-US" dirty="0"/>
          </a:p>
        </p:txBody>
      </p:sp>
      <p:sp>
        <p:nvSpPr>
          <p:cNvPr id="36" name="文本框 3"/>
          <p:cNvSpPr txBox="1"/>
          <p:nvPr/>
        </p:nvSpPr>
        <p:spPr>
          <a:xfrm>
            <a:off x="74295" y="3569317"/>
            <a:ext cx="3491661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KIO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Symbol" panose="05050102010706020507" pitchFamily="18" charset="2"/>
              </a:rPr>
              <a:t>·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HIO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(</a:t>
            </a:r>
            <a:r>
              <a:rPr lang="en-US" altLang="zh-CN" b="1" i="1" dirty="0">
                <a:uFillTx/>
                <a:ea typeface="华文新魏" pitchFamily="2" charset="-122"/>
                <a:sym typeface="+mn-ea"/>
              </a:rPr>
              <a:t>M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 = 389.92g·mol</a:t>
            </a:r>
            <a:r>
              <a:rPr lang="en-US" altLang="zh-CN" b="1" baseline="30000" dirty="0"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)</a:t>
            </a:r>
            <a:r>
              <a:rPr lang="en-US" altLang="zh-CN" b="1" dirty="0">
                <a:uFillTx/>
                <a:latin typeface="宋体" panose="02010600030101010101" pitchFamily="2" charset="-122"/>
                <a:sym typeface="+mn-ea"/>
              </a:rPr>
              <a:t>｝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63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5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563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5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5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500"/>
                                        <p:tgtEl>
                                          <p:spTgt spid="5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5" dur="500"/>
                                        <p:tgtEl>
                                          <p:spTgt spid="563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0" dur="500"/>
                                        <p:tgtEl>
                                          <p:spTgt spid="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4" dur="500"/>
                                        <p:tgtEl>
                                          <p:spTgt spid="563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9" dur="500"/>
                                        <p:tgtEl>
                                          <p:spTgt spid="5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3" dur="500"/>
                                        <p:tgtEl>
                                          <p:spTgt spid="5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7" dur="500"/>
                                        <p:tgtEl>
                                          <p:spTgt spid="5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1" dur="500"/>
                                        <p:tgtEl>
                                          <p:spTgt spid="5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6" dur="500"/>
                                        <p:tgtEl>
                                          <p:spTgt spid="5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64" grpId="0"/>
      <p:bldP spid="56365" grpId="0"/>
      <p:bldP spid="56366" grpId="0"/>
      <p:bldP spid="56367" grpId="0"/>
      <p:bldP spid="56374" grpId="0"/>
      <p:bldP spid="56375" grpId="0"/>
      <p:bldP spid="56376" grpId="0"/>
      <p:bldP spid="56378" grpId="0"/>
      <p:bldP spid="563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82" name="Object 18"/>
          <p:cNvGraphicFramePr>
            <a:graphicFrameLocks/>
          </p:cNvGraphicFramePr>
          <p:nvPr/>
        </p:nvGraphicFramePr>
        <p:xfrm>
          <a:off x="5068253" y="4662488"/>
          <a:ext cx="3481387" cy="806450"/>
        </p:xfrm>
        <a:graphic>
          <a:graphicData uri="http://schemas.openxmlformats.org/presentationml/2006/ole">
            <p:oleObj spid="_x0000_s20483" r:id="rId3" imgW="1307532" imgH="406224" progId="Equation.3">
              <p:embed/>
            </p:oleObj>
          </a:graphicData>
        </a:graphic>
      </p:graphicFrame>
      <p:sp>
        <p:nvSpPr>
          <p:cNvPr id="62483" name="Rectangle 19"/>
          <p:cNvSpPr/>
          <p:nvPr/>
        </p:nvSpPr>
        <p:spPr>
          <a:xfrm>
            <a:off x="3859214" y="717868"/>
            <a:ext cx="6616732" cy="86042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某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滴定剂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B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与某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组分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X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按下式反应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:</a:t>
            </a:r>
          </a:p>
          <a:p>
            <a:r>
              <a:rPr lang="en-US" altLang="zh-CN" sz="2500" b="1" dirty="0" smtClean="0">
                <a:latin typeface="Times New Roman" panose="02020603050405020304" pitchFamily="18" charset="0"/>
                <a:ea typeface="华文新魏" pitchFamily="2" charset="-122"/>
              </a:rPr>
              <a:t>             </a:t>
            </a:r>
            <a:r>
              <a:rPr lang="en-US" altLang="zh-CN" sz="2500" b="1" dirty="0" err="1" smtClean="0">
                <a:latin typeface="Times New Roman" panose="02020603050405020304" pitchFamily="18" charset="0"/>
                <a:ea typeface="华文新魏" pitchFamily="2" charset="-122"/>
              </a:rPr>
              <a:t>xX</a:t>
            </a:r>
            <a:r>
              <a:rPr lang="en-US" altLang="zh-CN" sz="2500" b="1" dirty="0" smtClean="0">
                <a:latin typeface="Times New Roman" panose="02020603050405020304" pitchFamily="18" charset="0"/>
                <a:ea typeface="华文新魏" pitchFamily="2" charset="-12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+  bB = cC +  dD</a:t>
            </a:r>
          </a:p>
        </p:txBody>
      </p:sp>
      <p:sp>
        <p:nvSpPr>
          <p:cNvPr id="62490" name="Rectangle 26"/>
          <p:cNvSpPr/>
          <p:nvPr/>
        </p:nvSpPr>
        <p:spPr>
          <a:xfrm>
            <a:off x="3859213" y="1681163"/>
            <a:ext cx="10117137" cy="1360487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若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B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的浓度为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B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滴定消耗的体积为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V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B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mL;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  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组分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X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的质量为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m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X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摩尔质量为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M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X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.</a:t>
            </a:r>
            <a:endParaRPr lang="en-US" altLang="zh-CN" sz="2500" b="1" baseline="-25000" dirty="0">
              <a:latin typeface="Times New Roman" panose="02020603050405020304" pitchFamily="18" charset="0"/>
              <a:ea typeface="华文新魏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b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X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= x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B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</a:endParaRPr>
          </a:p>
        </p:txBody>
      </p:sp>
      <p:graphicFrame>
        <p:nvGraphicFramePr>
          <p:cNvPr id="62497" name="Object 33"/>
          <p:cNvGraphicFramePr>
            <a:graphicFrameLocks/>
          </p:cNvGraphicFramePr>
          <p:nvPr/>
        </p:nvGraphicFramePr>
        <p:xfrm>
          <a:off x="5067300" y="3041650"/>
          <a:ext cx="3482975" cy="817880"/>
        </p:xfrm>
        <a:graphic>
          <a:graphicData uri="http://schemas.openxmlformats.org/presentationml/2006/ole">
            <p:oleObj spid="_x0000_s20482" r:id="rId4" imgW="1257120" imgH="431640" progId="Equation.3">
              <p:embed/>
            </p:oleObj>
          </a:graphicData>
        </a:graphic>
      </p:graphicFrame>
      <p:graphicFrame>
        <p:nvGraphicFramePr>
          <p:cNvPr id="62502" name="Object 38"/>
          <p:cNvGraphicFramePr>
            <a:graphicFrameLocks/>
          </p:cNvGraphicFramePr>
          <p:nvPr/>
        </p:nvGraphicFramePr>
        <p:xfrm>
          <a:off x="5067935" y="3829685"/>
          <a:ext cx="3481705" cy="833120"/>
        </p:xfrm>
        <a:graphic>
          <a:graphicData uri="http://schemas.openxmlformats.org/presentationml/2006/ole">
            <p:oleObj spid="_x0000_s20481" r:id="rId5" imgW="1358310" imgH="444307" progId="Equation.3">
              <p:embed/>
            </p:oleObj>
          </a:graphicData>
        </a:graphic>
      </p:graphicFrame>
      <p:sp>
        <p:nvSpPr>
          <p:cNvPr id="3077" name="矩形 28"/>
          <p:cNvSpPr/>
          <p:nvPr/>
        </p:nvSpPr>
        <p:spPr>
          <a:xfrm>
            <a:off x="3760788" y="311150"/>
            <a:ext cx="6127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2" name="Rectangle 43"/>
          <p:cNvSpPr/>
          <p:nvPr/>
        </p:nvSpPr>
        <p:spPr>
          <a:xfrm>
            <a:off x="74295" y="739757"/>
            <a:ext cx="3645535" cy="24612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称取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试样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0.1000g,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加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HCl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后释出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Cl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与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KI</a:t>
            </a:r>
            <a:r>
              <a:rPr lang="zh-CN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液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反应析出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I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.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用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Na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滴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定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耗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25.00mL.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已知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1.00mL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Na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液相当于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0.3250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mg KIO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HIO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求试样中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含量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.</a:t>
            </a:r>
          </a:p>
        </p:txBody>
      </p:sp>
      <p:sp>
        <p:nvSpPr>
          <p:cNvPr id="13" name="矩形 10"/>
          <p:cNvSpPr/>
          <p:nvPr/>
        </p:nvSpPr>
        <p:spPr>
          <a:xfrm>
            <a:off x="117435" y="311150"/>
            <a:ext cx="607859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2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89230" y="3201017"/>
            <a:ext cx="285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dirty="0">
                <a:uFillTx/>
                <a:latin typeface="宋体" panose="02010600030101010101" pitchFamily="2" charset="-122"/>
                <a:sym typeface="+mn-ea"/>
              </a:rPr>
              <a:t>｛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Pb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4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(</a:t>
            </a:r>
            <a:r>
              <a:rPr lang="en-US" altLang="zh-CN" b="1" i="1" dirty="0">
                <a:uFillTx/>
                <a:ea typeface="华文新魏" pitchFamily="2" charset="-122"/>
                <a:sym typeface="+mn-ea"/>
              </a:rPr>
              <a:t>M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 = 685.6g·mol</a:t>
            </a:r>
            <a:r>
              <a:rPr lang="en-US" altLang="zh-CN" b="1" baseline="30000" dirty="0"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)</a:t>
            </a:r>
            <a:endParaRPr lang="zh-CN" altLang="en-US" dirty="0"/>
          </a:p>
        </p:txBody>
      </p:sp>
      <p:sp>
        <p:nvSpPr>
          <p:cNvPr id="15" name="文本框 3"/>
          <p:cNvSpPr txBox="1"/>
          <p:nvPr/>
        </p:nvSpPr>
        <p:spPr>
          <a:xfrm>
            <a:off x="74295" y="3569317"/>
            <a:ext cx="3491661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KIO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Symbol" panose="05050102010706020507" pitchFamily="18" charset="2"/>
              </a:rPr>
              <a:t>·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HIO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(</a:t>
            </a:r>
            <a:r>
              <a:rPr lang="en-US" altLang="zh-CN" b="1" i="1" dirty="0">
                <a:uFillTx/>
                <a:ea typeface="华文新魏" pitchFamily="2" charset="-122"/>
                <a:sym typeface="+mn-ea"/>
              </a:rPr>
              <a:t>M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 = 389.92g·mol</a:t>
            </a:r>
            <a:r>
              <a:rPr lang="en-US" altLang="zh-CN" b="1" baseline="30000" dirty="0"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)</a:t>
            </a:r>
            <a:r>
              <a:rPr lang="en-US" altLang="zh-CN" b="1" dirty="0">
                <a:uFillTx/>
                <a:latin typeface="宋体" panose="02010600030101010101" pitchFamily="2" charset="-122"/>
                <a:sym typeface="+mn-ea"/>
              </a:rPr>
              <a:t>｝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62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62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62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6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3" grpId="0"/>
      <p:bldP spid="6249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36" name="Object 12"/>
          <p:cNvGraphicFramePr>
            <a:graphicFrameLocks/>
          </p:cNvGraphicFramePr>
          <p:nvPr/>
        </p:nvGraphicFramePr>
        <p:xfrm>
          <a:off x="3896360" y="991553"/>
          <a:ext cx="6975475" cy="1189037"/>
        </p:xfrm>
        <a:graphic>
          <a:graphicData uri="http://schemas.openxmlformats.org/presentationml/2006/ole">
            <p:oleObj spid="_x0000_s21505" r:id="rId4" imgW="2514600" imgH="571500" progId="Equation.3">
              <p:embed/>
            </p:oleObj>
          </a:graphicData>
        </a:graphic>
      </p:graphicFrame>
      <p:sp>
        <p:nvSpPr>
          <p:cNvPr id="52237" name="Rectangle 13"/>
          <p:cNvSpPr/>
          <p:nvPr/>
        </p:nvSpPr>
        <p:spPr>
          <a:xfrm>
            <a:off x="5710873" y="2282190"/>
            <a:ext cx="1329210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= 85.7%</a:t>
            </a:r>
          </a:p>
        </p:txBody>
      </p:sp>
      <p:sp>
        <p:nvSpPr>
          <p:cNvPr id="3077" name="矩形 28"/>
          <p:cNvSpPr/>
          <p:nvPr/>
        </p:nvSpPr>
        <p:spPr>
          <a:xfrm>
            <a:off x="3760788" y="311150"/>
            <a:ext cx="6127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9" name="Rectangle 43"/>
          <p:cNvSpPr/>
          <p:nvPr/>
        </p:nvSpPr>
        <p:spPr>
          <a:xfrm>
            <a:off x="74295" y="739757"/>
            <a:ext cx="3645535" cy="24612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称取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试样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0.1000g,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加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HCl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后释出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Cl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与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KI</a:t>
            </a:r>
            <a:r>
              <a:rPr lang="zh-CN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液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反应析出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I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.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用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Na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滴</a:t>
            </a:r>
          </a:p>
          <a:p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定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耗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25.00mL.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已知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1.00mL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Na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S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液相当于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0.3250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mg KIO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HIO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求试样中</a:t>
            </a:r>
          </a:p>
          <a:p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Pb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4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含量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.</a:t>
            </a:r>
          </a:p>
        </p:txBody>
      </p:sp>
      <p:sp>
        <p:nvSpPr>
          <p:cNvPr id="10" name="矩形 10"/>
          <p:cNvSpPr/>
          <p:nvPr/>
        </p:nvSpPr>
        <p:spPr>
          <a:xfrm>
            <a:off x="117435" y="311150"/>
            <a:ext cx="607859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2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11" name="文本框 1"/>
          <p:cNvSpPr txBox="1"/>
          <p:nvPr/>
        </p:nvSpPr>
        <p:spPr>
          <a:xfrm>
            <a:off x="189230" y="3201017"/>
            <a:ext cx="285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dirty="0">
                <a:uFillTx/>
                <a:latin typeface="宋体" panose="02010600030101010101" pitchFamily="2" charset="-122"/>
                <a:sym typeface="+mn-ea"/>
              </a:rPr>
              <a:t>｛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Pb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4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(</a:t>
            </a:r>
            <a:r>
              <a:rPr lang="en-US" altLang="zh-CN" b="1" i="1" dirty="0">
                <a:uFillTx/>
                <a:ea typeface="华文新魏" pitchFamily="2" charset="-122"/>
                <a:sym typeface="+mn-ea"/>
              </a:rPr>
              <a:t>M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 = 685.6g·mol</a:t>
            </a:r>
            <a:r>
              <a:rPr lang="en-US" altLang="zh-CN" b="1" baseline="30000" dirty="0"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)</a:t>
            </a:r>
            <a:endParaRPr lang="zh-CN" altLang="en-US" dirty="0"/>
          </a:p>
        </p:txBody>
      </p:sp>
      <p:sp>
        <p:nvSpPr>
          <p:cNvPr id="12" name="文本框 3"/>
          <p:cNvSpPr txBox="1"/>
          <p:nvPr/>
        </p:nvSpPr>
        <p:spPr>
          <a:xfrm>
            <a:off x="74295" y="3569317"/>
            <a:ext cx="3491661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KIO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Symbol" panose="05050102010706020507" pitchFamily="18" charset="2"/>
              </a:rPr>
              <a:t>·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HIO</a:t>
            </a:r>
            <a:r>
              <a:rPr lang="en-US" altLang="zh-CN" b="1" baseline="-25000" dirty="0">
                <a:uFillTx/>
                <a:ea typeface="华文新魏" pitchFamily="2" charset="-122"/>
                <a:sym typeface="+mn-ea"/>
              </a:rPr>
              <a:t>3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(</a:t>
            </a:r>
            <a:r>
              <a:rPr lang="en-US" altLang="zh-CN" b="1" i="1" dirty="0">
                <a:uFillTx/>
                <a:ea typeface="华文新魏" pitchFamily="2" charset="-122"/>
                <a:sym typeface="+mn-ea"/>
              </a:rPr>
              <a:t>M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 = 389.92g·mol</a:t>
            </a:r>
            <a:r>
              <a:rPr lang="en-US" altLang="zh-CN" b="1" baseline="30000" dirty="0"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b="1" dirty="0">
                <a:uFillTx/>
                <a:ea typeface="华文新魏" pitchFamily="2" charset="-122"/>
                <a:sym typeface="+mn-ea"/>
              </a:rPr>
              <a:t>)</a:t>
            </a:r>
            <a:r>
              <a:rPr lang="en-US" altLang="zh-CN" b="1" dirty="0">
                <a:uFillTx/>
                <a:latin typeface="宋体" panose="02010600030101010101" pitchFamily="2" charset="-122"/>
                <a:sym typeface="+mn-ea"/>
              </a:rPr>
              <a:t>｝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7" grpId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572</Words>
  <Application>WPS 演示</Application>
  <PresentationFormat>自定义</PresentationFormat>
  <Paragraphs>107</Paragraphs>
  <Slides>6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医学研究PPT模板</vt:lpstr>
      <vt:lpstr>Microsoft Equation 3.0</vt:lpstr>
      <vt:lpstr>幻灯片 1</vt:lpstr>
      <vt:lpstr>幻灯片 2</vt:lpstr>
      <vt:lpstr>幻灯片 3</vt:lpstr>
      <vt:lpstr>幻灯片 4</vt:lpstr>
      <vt:lpstr>幻灯片 5</vt:lpstr>
      <vt:lpstr>幻灯片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例题教学模板(教室版)</dc:title>
  <dc:creator>江南大学商少明</dc:creator>
  <cp:lastModifiedBy>ASUS</cp:lastModifiedBy>
  <cp:revision>270</cp:revision>
  <dcterms:created xsi:type="dcterms:W3CDTF">2012-06-20T03:37:00Z</dcterms:created>
  <dcterms:modified xsi:type="dcterms:W3CDTF">2017-08-20T10:34:00Z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2052-10.1.0.6554</vt:lpwstr>
  </property>
</Properties>
</file>