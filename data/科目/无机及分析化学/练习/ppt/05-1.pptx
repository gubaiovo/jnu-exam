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audio6.wav" ContentType="audio/x-wav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321" r:id="rId4"/>
    <p:sldId id="277" r:id="rId5"/>
    <p:sldId id="278" r:id="rId6"/>
    <p:sldId id="279" r:id="rId7"/>
    <p:sldId id="280" r:id="rId8"/>
    <p:sldId id="281" r:id="rId9"/>
    <p:sldId id="282" r:id="rId10"/>
    <p:sldId id="344" r:id="rId11"/>
    <p:sldId id="342" r:id="rId12"/>
    <p:sldId id="346" r:id="rId13"/>
    <p:sldId id="304" r:id="rId14"/>
    <p:sldId id="288" r:id="rId15"/>
    <p:sldId id="347" r:id="rId16"/>
    <p:sldId id="348" r:id="rId17"/>
    <p:sldId id="291" r:id="rId18"/>
    <p:sldId id="292" r:id="rId19"/>
    <p:sldId id="293" r:id="rId20"/>
    <p:sldId id="294" r:id="rId21"/>
    <p:sldId id="349" r:id="rId22"/>
    <p:sldId id="296" r:id="rId23"/>
    <p:sldId id="350" r:id="rId24"/>
    <p:sldId id="351" r:id="rId25"/>
    <p:sldId id="298" r:id="rId26"/>
    <p:sldId id="302" r:id="rId27"/>
  </p:sldIdLst>
  <p:sldSz cx="11522075" cy="6480175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8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F00FF"/>
    <a:srgbClr val="F8F8F8"/>
    <a:srgbClr val="FF0000"/>
    <a:srgbClr val="FFFF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9"/>
  </p:normalViewPr>
  <p:slideViewPr>
    <p:cSldViewPr showGuides="1">
      <p:cViewPr varScale="1">
        <p:scale>
          <a:sx n="73" d="100"/>
          <a:sy n="73" d="100"/>
        </p:scale>
        <p:origin x="750" y="66"/>
      </p:cViewPr>
      <p:guideLst>
        <p:guide orient="horz" pos="201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3F41BF-B16B-4173-B560-70AED59B420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2021/11/8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0" lvl="0" indent="0" defTabSz="914400"/>
            <a:r>
              <a:rPr lang="zh-CN" altLang="en-US"/>
              <a:t>单击此处编辑母版文本样式</a:t>
            </a:r>
          </a:p>
          <a:p>
            <a:pPr lvl="1" indent="0" defTabSz="914400"/>
            <a:r>
              <a:rPr lang="zh-CN" altLang="en-US"/>
              <a:t>第二级</a:t>
            </a:r>
          </a:p>
          <a:p>
            <a:pPr lvl="2" indent="0" defTabSz="914400"/>
            <a:r>
              <a:rPr lang="zh-CN" altLang="en-US"/>
              <a:t>第三级</a:t>
            </a:r>
          </a:p>
          <a:p>
            <a:pPr lvl="3" indent="0" defTabSz="914400"/>
            <a:r>
              <a:rPr lang="zh-CN" altLang="en-US"/>
              <a:t>第四级</a:t>
            </a:r>
          </a:p>
          <a:p>
            <a:pPr lvl="4" indent="0" defTabSz="914400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pPr lvl="0" algn="r" fontAlgn="base"/>
              <a:t>‹#›</a:t>
            </a:fld>
            <a:endParaRPr lang="zh-CN" altLang="en-US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10784747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eaLnBrk="0" hangingPunct="0"/>
            <a:r>
              <a:rPr lang="en-US" altLang="zh-CN" sz="1200" dirty="0"/>
              <a:t>商少明</a:t>
            </a:r>
          </a:p>
        </p:txBody>
      </p:sp>
      <p:sp>
        <p:nvSpPr>
          <p:cNvPr id="12290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algn="r" eaLnBrk="0" hangingPunct="0"/>
            <a:fld id="{BB962C8B-B14F-4D97-AF65-F5344CB8AC3E}" type="datetime1">
              <a:rPr lang="zh-CN" altLang="en-US" sz="1200" dirty="0"/>
              <a:pPr lvl="0" indent="0" algn="r" eaLnBrk="0" hangingPunct="0"/>
              <a:t>2021/11/8</a:t>
            </a:fld>
            <a:endParaRPr lang="zh-CN" altLang="en-US" sz="1200" dirty="0"/>
          </a:p>
        </p:txBody>
      </p:sp>
      <p:sp>
        <p:nvSpPr>
          <p:cNvPr id="1229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/>
              <a:pPr lvl="0" indent="0" algn="r"/>
              <a:t>4</a:t>
            </a:fld>
            <a:endParaRPr lang="en-US" altLang="zh-CN" sz="1200" dirty="0"/>
          </a:p>
        </p:txBody>
      </p:sp>
      <p:sp>
        <p:nvSpPr>
          <p:cNvPr id="1229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ea typeface="宋体" panose="02010600030101010101" pitchFamily="2" charset="-122"/>
              </a:rPr>
              <a:t>分子中元素原子吸引电子的能力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eaLnBrk="0" hangingPunct="0"/>
            <a:r>
              <a:rPr lang="en-US" altLang="zh-CN" sz="1200" dirty="0"/>
              <a:t>商少明</a:t>
            </a:r>
          </a:p>
        </p:txBody>
      </p:sp>
      <p:sp>
        <p:nvSpPr>
          <p:cNvPr id="17410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algn="r" eaLnBrk="0" hangingPunct="0"/>
            <a:fld id="{BB962C8B-B14F-4D97-AF65-F5344CB8AC3E}" type="datetime1">
              <a:rPr lang="zh-CN" altLang="en-US" sz="1200" dirty="0"/>
              <a:pPr lvl="0" indent="0" algn="r" eaLnBrk="0" hangingPunct="0"/>
              <a:t>2021/11/8</a:t>
            </a:fld>
            <a:endParaRPr lang="zh-CN" altLang="en-US" sz="1200" dirty="0"/>
          </a:p>
        </p:txBody>
      </p:sp>
      <p:sp>
        <p:nvSpPr>
          <p:cNvPr id="1741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/>
              <a:pPr lvl="0" indent="0" algn="r"/>
              <a:t>8</a:t>
            </a:fld>
            <a:endParaRPr lang="en-US" altLang="zh-CN" sz="1200" dirty="0"/>
          </a:p>
        </p:txBody>
      </p:sp>
      <p:sp>
        <p:nvSpPr>
          <p:cNvPr id="1741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ea typeface="宋体" panose="02010600030101010101" pitchFamily="2" charset="-122"/>
              </a:rPr>
              <a:t>氧化还原电对是相对的</a:t>
            </a:r>
            <a:r>
              <a:rPr lang="en-US" altLang="zh-CN" dirty="0"/>
              <a:t>,</a:t>
            </a:r>
            <a:r>
              <a:rPr lang="zh-CN" altLang="en-US" dirty="0">
                <a:ea typeface="宋体" panose="02010600030101010101" pitchFamily="2" charset="-122"/>
              </a:rPr>
              <a:t>由参加反应的两电对氧化还原能力的相对强弱而定。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eaLnBrk="0" hangingPunct="0"/>
            <a:r>
              <a:rPr lang="en-US" altLang="zh-CN" sz="1200" dirty="0"/>
              <a:t>商少明</a:t>
            </a:r>
          </a:p>
        </p:txBody>
      </p:sp>
      <p:sp>
        <p:nvSpPr>
          <p:cNvPr id="27650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algn="r" eaLnBrk="0" hangingPunct="0"/>
            <a:fld id="{BB962C8B-B14F-4D97-AF65-F5344CB8AC3E}" type="datetime1">
              <a:rPr lang="zh-CN" altLang="en-US" sz="1200" dirty="0"/>
              <a:pPr lvl="0" indent="0" algn="r" eaLnBrk="0" hangingPunct="0"/>
              <a:t>2021/11/8</a:t>
            </a:fld>
            <a:endParaRPr lang="zh-CN" altLang="en-US" sz="1200" dirty="0"/>
          </a:p>
        </p:txBody>
      </p:sp>
      <p:sp>
        <p:nvSpPr>
          <p:cNvPr id="2765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/>
              <a:pPr lvl="0" indent="0" algn="r"/>
              <a:t>18</a:t>
            </a:fld>
            <a:endParaRPr lang="en-US" altLang="zh-CN" sz="1200" dirty="0"/>
          </a:p>
        </p:txBody>
      </p:sp>
      <p:sp>
        <p:nvSpPr>
          <p:cNvPr id="2765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ea typeface="宋体" panose="02010600030101010101" pitchFamily="2" charset="-122"/>
              </a:rPr>
              <a:t>理论上任何一个氧化还原反应都能组成原电池。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eaLnBrk="0" hangingPunct="0"/>
            <a:r>
              <a:rPr lang="en-US" altLang="zh-CN" sz="1200" dirty="0"/>
              <a:t>商少明</a:t>
            </a:r>
          </a:p>
        </p:txBody>
      </p:sp>
      <p:sp>
        <p:nvSpPr>
          <p:cNvPr id="29698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algn="r" eaLnBrk="0" hangingPunct="0"/>
            <a:fld id="{BB962C8B-B14F-4D97-AF65-F5344CB8AC3E}" type="datetime1">
              <a:rPr lang="zh-CN" altLang="en-US" sz="1200" dirty="0"/>
              <a:pPr lvl="0" indent="0" algn="r" eaLnBrk="0" hangingPunct="0"/>
              <a:t>2021/11/8</a:t>
            </a:fld>
            <a:endParaRPr lang="zh-CN" altLang="en-US" sz="1200" dirty="0"/>
          </a:p>
        </p:txBody>
      </p:sp>
      <p:sp>
        <p:nvSpPr>
          <p:cNvPr id="2969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/>
              <a:pPr lvl="0" indent="0" algn="r"/>
              <a:t>19</a:t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/>
          <p:nvPr userDrawn="1"/>
        </p:nvGrpSpPr>
        <p:grpSpPr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7" name="Freeform 1027"/>
            <p:cNvSpPr/>
            <p:nvPr userDrawn="1"/>
          </p:nvSpPr>
          <p:spPr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0" y="0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" name="Group 1042"/>
            <p:cNvGrpSpPr/>
            <p:nvPr userDrawn="1"/>
          </p:nvGrpSpPr>
          <p:grpSpPr>
            <a:xfrm rot="5400000">
              <a:off x="3589" y="-3111"/>
              <a:ext cx="68" cy="7141"/>
              <a:chOff x="336" y="1103"/>
              <a:chExt cx="97" cy="2785"/>
            </a:xfrm>
          </p:grpSpPr>
          <p:sp>
            <p:nvSpPr>
              <p:cNvPr id="1029" name="Rectangle 1043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0" name="Freeform 1044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1045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1028"/>
            <p:cNvSpPr/>
            <p:nvPr userDrawn="1"/>
          </p:nvSpPr>
          <p:spPr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9512" y="3383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Rectangle 1036"/>
            <p:cNvSpPr/>
            <p:nvPr userDrawn="1"/>
          </p:nvSpPr>
          <p:spPr>
            <a:xfrm>
              <a:off x="61" y="68"/>
              <a:ext cx="7141" cy="3584"/>
            </a:xfrm>
            <a:prstGeom prst="rect">
              <a:avLst/>
            </a:prstGeom>
            <a:noFill/>
            <a:ln w="254000" cap="flat" cmpd="sng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lvl="0" indent="0" algn="ctr"/>
              <a:endParaRPr lang="zh-CN" altLang="en-US" sz="16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34" name="Group 1038"/>
            <p:cNvGrpSpPr/>
            <p:nvPr userDrawn="1"/>
          </p:nvGrpSpPr>
          <p:grpSpPr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Freeform 1040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1041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8" name="Rectangle 139" descr="深色横线"/>
            <p:cNvSpPr/>
            <p:nvPr userDrawn="1"/>
          </p:nvSpPr>
          <p:spPr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AutoShape 143"/>
            <p:cNvSpPr/>
            <p:nvPr userDrawn="1"/>
          </p:nvSpPr>
          <p:spPr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0" name="Rectangle 146"/>
            <p:cNvSpPr/>
            <p:nvPr userDrawn="1"/>
          </p:nvSpPr>
          <p:spPr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 cap="flat" cmpd="sng">
              <a:solidFill>
                <a:srgbClr val="F8F8F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41" name="Rectangle 149"/>
          <p:cNvSpPr>
            <a:spLocks noGrp="1"/>
          </p:cNvSpPr>
          <p:nvPr>
            <p:ph type="title"/>
          </p:nvPr>
        </p:nvSpPr>
        <p:spPr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anose="0201060906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split orient="vert"/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04/04-0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../ch06/06-01.pptx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05-2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hyperlink" Target="05-3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5/05-01-&#20363;&#39064;.pptx#-1,1,&#24187;&#28783;&#29255; 1" TargetMode="External"/><Relationship Id="rId2" Type="http://schemas.openxmlformats.org/officeDocument/2006/relationships/hyperlink" Target="e5.1.ppt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4.wav"/><Relationship Id="rId7" Type="http://schemas.openxmlformats.org/officeDocument/2006/relationships/slide" Target="slide13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slide" Target="slide16.xml"/><Relationship Id="rId4" Type="http://schemas.openxmlformats.org/officeDocument/2006/relationships/audio" Target="../media/audio5.wav"/><Relationship Id="rId9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image" Target="../media/image5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slide" Target="slide12.xml"/><Relationship Id="rId4" Type="http://schemas.openxmlformats.org/officeDocument/2006/relationships/audio" Target="../media/audio5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audio" Target="../media/audio5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4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5/&#38108;&#38156;&#21407;&#30005;&#27744;.swf" TargetMode="Externa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D:\&#26080;&#26426;&#21450;&#20998;&#26512;E1\&#31532;&#20845;&#31456;\dcell.avi" TargetMode="External"/><Relationship Id="rId6" Type="http://schemas.openxmlformats.org/officeDocument/2006/relationships/image" Target="../media/image7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../../03EXAMPLE/ch05/05-01-&#20363;&#39064;.pptx#-1,2,&#24187;&#28783;&#29255; 2" TargetMode="Externa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hyperlink" Target="../../04MEDIA/ch05/&#21452;&#30005;&#23618;&#29702;&#35770;.swf" TargetMode="External"/><Relationship Id="rId4" Type="http://schemas.openxmlformats.org/officeDocument/2006/relationships/audio" Target="../media/audio6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2.png"/><Relationship Id="rId2" Type="http://schemas.openxmlformats.org/officeDocument/2006/relationships/hyperlink" Target="../../04MEDIA/ch05/&#21452;&#30005;&#23618;&#29702;&#35770;.sw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slide" Target="slide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5/&#38156;&#30005;&#26497;&#30005;&#21183;&#27979;&#23450;.swf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hyperlink" Target="../../04MEDIA/ch05/&#26631;&#20934;&#27682;&#30005;&#26497;.swf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5/&#29976;&#27742;&#30005;&#26497;.swf" TargetMode="External"/><Relationship Id="rId7" Type="http://schemas.openxmlformats.org/officeDocument/2006/relationships/hyperlink" Target="../../04MEDIA/ch05/&#26631;&#20934;&#27682;&#30005;&#26497;.swf" TargetMode="Externa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4.jpeg"/><Relationship Id="rId4" Type="http://schemas.openxmlformats.org/officeDocument/2006/relationships/slide" Target="slid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05-2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上章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6000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89137" y="1510044"/>
            <a:ext cx="7215238" cy="1015663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000000"/>
            </a:outerShdw>
          </a:effectLst>
          <a:extLst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第</a:t>
            </a:r>
            <a:r>
              <a:rPr lang="en-US" altLang="zh-CN" sz="32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5</a:t>
            </a:r>
            <a:r>
              <a:rPr lang="zh-CN" altLang="en-US" sz="32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章 电极电势与氧化还原平衡</a:t>
            </a:r>
            <a:endParaRPr lang="en-US" altLang="zh-CN" sz="3200" b="1" noProof="1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  <a:p>
            <a:pPr algn="ctr"/>
            <a:r>
              <a:rPr lang="en-US" altLang="zh-CN" sz="2800" b="1" noProof="1" smtClean="0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cs typeface="+mn-ea"/>
              </a:rPr>
              <a:t>Electrode Potential and Redox Equilibrium</a:t>
            </a:r>
            <a:r>
              <a:rPr kumimoji="1" lang="en-US" altLang="zh-CN" sz="28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kumimoji="1" lang="en-US" altLang="zh-CN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文本占位符 2080"/>
          <p:cNvSpPr>
            <a:spLocks noGrp="1"/>
          </p:cNvSpPr>
          <p:nvPr/>
        </p:nvSpPr>
        <p:spPr>
          <a:xfrm>
            <a:off x="3403583" y="1504251"/>
            <a:ext cx="4929222" cy="2031968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5.1 </a:t>
            </a:r>
            <a:r>
              <a:rPr lang="zh-CN" altLang="en-US" sz="2800" b="1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氧化还原</a:t>
            </a:r>
            <a:r>
              <a:rPr lang="zh-CN" altLang="en-US" sz="28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反应与</a:t>
            </a:r>
            <a:r>
              <a:rPr lang="zh-CN" altLang="en-US" sz="2800" b="1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电极电势</a:t>
            </a:r>
            <a:endParaRPr lang="en-US" altLang="zh-CN" sz="2800" b="1" dirty="0" smtClean="0">
              <a:solidFill>
                <a:schemeClr val="tx1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ea typeface="黑体" pitchFamily="49" charset="-122"/>
                <a:hlinkClick r:id="rId3" action="ppaction://hlinkpres?slideindex=1&amp;slidetitle="/>
              </a:rPr>
              <a:t>5.2</a:t>
            </a:r>
            <a:r>
              <a:rPr lang="en-US" altLang="zh-CN" sz="2800" b="1" dirty="0" smtClean="0">
                <a:ea typeface="黑体" pitchFamily="49" charset="-122"/>
              </a:rPr>
              <a:t> </a:t>
            </a:r>
            <a:r>
              <a:rPr lang="zh-CN" altLang="en-US" sz="2800" b="1" dirty="0" smtClean="0">
                <a:ea typeface="黑体" pitchFamily="49" charset="-122"/>
              </a:rPr>
              <a:t>电势的应用</a:t>
            </a:r>
            <a:endParaRPr lang="en-US" altLang="zh-CN" sz="2800" b="1" dirty="0" smtClean="0"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ea typeface="黑体" pitchFamily="49" charset="-122"/>
                <a:hlinkClick r:id="rId4" action="ppaction://hlinkpres?slideindex=1&amp;slidetitle="/>
              </a:rPr>
              <a:t>5.3</a:t>
            </a:r>
            <a:r>
              <a:rPr lang="en-US" altLang="zh-CN" sz="2800" b="1" dirty="0" smtClean="0">
                <a:ea typeface="黑体" pitchFamily="49" charset="-122"/>
              </a:rPr>
              <a:t> </a:t>
            </a:r>
            <a:r>
              <a:rPr lang="zh-CN" altLang="en-US" sz="2800" b="1" dirty="0" smtClean="0">
                <a:ea typeface="黑体" pitchFamily="49" charset="-122"/>
              </a:rPr>
              <a:t>氧化还原滴定法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7">
            <a:hlinkClick r:id="" action="ppaction://hlinkshowjump?jump=nextslide"/>
          </p:cNvPr>
          <p:cNvSpPr>
            <a:spLocks noChangeAspect="1"/>
          </p:cNvSpPr>
          <p:nvPr/>
        </p:nvSpPr>
        <p:spPr>
          <a:xfrm>
            <a:off x="2406630" y="1623998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8137" name="Text Box 9"/>
          <p:cNvSpPr txBox="1"/>
          <p:nvPr/>
        </p:nvSpPr>
        <p:spPr>
          <a:xfrm>
            <a:off x="2974955" y="1239823"/>
            <a:ext cx="6764338" cy="254197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5.1.1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氧化数与氧化还原反应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5.1.2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氧化还原反应方程式配平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5.1.3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原电池与电极电势</a:t>
            </a:r>
          </a:p>
        </p:txBody>
      </p:sp>
      <p:sp>
        <p:nvSpPr>
          <p:cNvPr id="5129" name="Rectangle 12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3300"/>
                </a:solidFill>
                <a:uFillTx/>
                <a:latin typeface="+mn-ea"/>
                <a:ea typeface="+mn-ea"/>
              </a:rPr>
              <a:t>5.1</a:t>
            </a:r>
            <a:r>
              <a:rPr lang="zh-CN" altLang="en-US" strike="noStrike" noProof="1">
                <a:solidFill>
                  <a:srgbClr val="FF3300"/>
                </a:solidFill>
                <a:uFillTx/>
                <a:latin typeface="黑体" panose="02010609060101010101" pitchFamily="2" charset="-122"/>
              </a:rPr>
              <a:t>氧化还原反应与电极电势</a:t>
            </a:r>
          </a:p>
        </p:txBody>
      </p:sp>
      <p:sp>
        <p:nvSpPr>
          <p:cNvPr id="10245" name="AutoShape 1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2406630" y="2439973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0246" name="AutoShape 14">
            <a:hlinkClick r:id="rId3" action="ppaction://hlinksldjump"/>
          </p:cNvPr>
          <p:cNvSpPr>
            <a:spLocks noChangeAspect="1"/>
          </p:cNvSpPr>
          <p:nvPr/>
        </p:nvSpPr>
        <p:spPr>
          <a:xfrm>
            <a:off x="2403451" y="3311525"/>
            <a:ext cx="544513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8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48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0" name="Rectangle 24"/>
          <p:cNvSpPr>
            <a:spLocks noChangeArrowheads="1"/>
          </p:cNvSpPr>
          <p:nvPr/>
        </p:nvSpPr>
        <p:spPr bwMode="auto">
          <a:xfrm>
            <a:off x="576462" y="1128932"/>
            <a:ext cx="10759082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/>
                <a:ea typeface="楷体_GB2312"/>
              </a:rPr>
              <a:t>氧化数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或氧化值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):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</a:t>
            </a:r>
            <a:r>
              <a:rPr kumimoji="0" lang="zh-CN" altLang="en-US" sz="2500" b="1" i="0" u="sng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某元素一个原子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的</a:t>
            </a:r>
            <a:r>
              <a:rPr kumimoji="0" lang="zh-CN" altLang="en-US" sz="2500" b="1" i="0" u="sng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荷电数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即原子所带的净电荷数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).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假设把每一化学键中的电子指定给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电负性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更大的原子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u="none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HCl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确定氧化值规则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①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单质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H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zh-CN" altLang="en-US" sz="2500" b="1" i="0" u="none" strike="noStrike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Cu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kumimoji="0" lang="zh-CN" altLang="en-US" sz="2500" b="1" i="0" u="none" strike="noStrike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kumimoji="0" lang="en-US" altLang="zh-CN" sz="2500" b="1" i="0" u="none" strike="noStrike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C</a:t>
            </a:r>
            <a:r>
              <a:rPr kumimoji="0" lang="zh-CN" altLang="en-US" sz="2500" b="1" i="0" u="none" strike="noStrike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， </a:t>
            </a:r>
            <a:r>
              <a:rPr kumimoji="0" lang="zh-CN" altLang="en-US" sz="2500" b="1" i="0" u="none" strike="noStrike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氧化数为</a:t>
            </a:r>
            <a:r>
              <a:rPr kumimoji="0" lang="en-US" altLang="zh-CN" sz="2500" b="1" i="0" u="none" strike="noStrike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endParaRPr kumimoji="0" lang="en-US" altLang="zh-CN" sz="2500" b="1" i="0" u="none" strike="noStrike" kern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0">
              <a:lnSpc>
                <a:spcPct val="130000"/>
              </a:lnSpc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②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氢在大多数化合物中</a:t>
            </a:r>
            <a:r>
              <a:rPr lang="zh-CN" altLang="en-US" sz="2500" b="1" kern="0" dirty="0" smtClean="0">
                <a:ea typeface="楷体_GB2312"/>
              </a:rPr>
              <a:t>其氧化值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一般为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+1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只有在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金属氢化物中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其氧化值为</a:t>
            </a:r>
            <a:r>
              <a:rPr lang="en-US" altLang="zh-CN" sz="2500" b="1" kern="0" dirty="0" smtClean="0">
                <a:solidFill>
                  <a:srgbClr val="FF0000"/>
                </a:solidFill>
                <a:ea typeface="楷体_GB2312"/>
              </a:rPr>
              <a:t>-1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u="none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NaH.</a:t>
            </a:r>
            <a:endParaRPr kumimoji="0" lang="en-US" altLang="zh-CN" sz="2500" b="1" i="0" u="none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Monotype Sorts" pitchFamily="2" charset="2"/>
            </a:endParaRPr>
          </a:p>
          <a:p>
            <a:pPr>
              <a:lnSpc>
                <a:spcPct val="130000"/>
              </a:lnSpc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③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</a:t>
            </a:r>
            <a:r>
              <a:rPr lang="zh-CN" altLang="en-US" sz="2500" b="1" kern="0" dirty="0" smtClean="0">
                <a:ea typeface="楷体_GB2312"/>
                <a:sym typeface="Monotype Sorts" pitchFamily="2" charset="2"/>
              </a:rPr>
              <a:t>通常在化合物中其氧化值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一般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-2;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过氧化物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如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H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2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O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2</a:t>
            </a:r>
            <a:r>
              <a:rPr kumimoji="0" lang="zh-CN" altLang="en-US" sz="2500" b="1" i="0" u="none" strike="noStrike" kern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中其氧化值为</a:t>
            </a:r>
            <a:r>
              <a:rPr lang="en-US" altLang="zh-CN" sz="2500" b="1" kern="0" dirty="0" smtClean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-1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;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在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氧的氟化物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OF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zh-CN" altLang="en-US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500" b="1" kern="0" dirty="0">
                <a:ea typeface="楷体_GB2312"/>
              </a:rPr>
              <a:t> </a:t>
            </a:r>
            <a:r>
              <a:rPr lang="en-US" altLang="zh-CN" sz="2500" b="1" kern="0" dirty="0" smtClean="0">
                <a:ea typeface="楷体_GB2312"/>
              </a:rPr>
              <a:t>O</a:t>
            </a:r>
            <a:r>
              <a:rPr lang="en-US" altLang="zh-CN" sz="2500" b="1" kern="0" baseline="-25000" dirty="0" smtClean="0">
                <a:ea typeface="楷体_GB2312"/>
              </a:rPr>
              <a:t>2</a:t>
            </a:r>
            <a:r>
              <a:rPr lang="en-US" altLang="zh-CN" sz="2500" b="1" kern="0" dirty="0" smtClean="0">
                <a:ea typeface="楷体_GB2312"/>
              </a:rPr>
              <a:t>F</a:t>
            </a:r>
            <a:r>
              <a:rPr lang="en-US" altLang="zh-CN" sz="2500" b="1" kern="0" baseline="-25000" dirty="0" smtClean="0">
                <a:ea typeface="楷体_GB2312"/>
              </a:rPr>
              <a:t>2</a:t>
            </a:r>
            <a:r>
              <a:rPr lang="zh-CN" altLang="en-US" sz="2500" b="1" kern="0" baseline="-25000" dirty="0" smtClean="0">
                <a:ea typeface="楷体_GB2312"/>
              </a:rPr>
              <a:t>，</a:t>
            </a:r>
            <a:r>
              <a:rPr lang="zh-CN" altLang="en-US" sz="2500" b="1" kern="0" dirty="0">
                <a:ea typeface="楷体_GB2312"/>
              </a:rPr>
              <a:t>其</a:t>
            </a:r>
            <a:r>
              <a:rPr lang="zh-CN" altLang="en-US" sz="2500" b="1" kern="0" dirty="0" smtClean="0">
                <a:ea typeface="楷体_GB2312"/>
              </a:rPr>
              <a:t>氧化值分别为</a:t>
            </a:r>
            <a:r>
              <a:rPr lang="en-US" altLang="zh-CN" sz="2500" b="1" kern="0" dirty="0" smtClean="0">
                <a:solidFill>
                  <a:srgbClr val="FF0000"/>
                </a:solidFill>
                <a:ea typeface="楷体_GB2312"/>
              </a:rPr>
              <a:t>+2</a:t>
            </a:r>
            <a:r>
              <a:rPr lang="zh-CN" altLang="en-US" sz="2500" b="1" kern="0" dirty="0" smtClean="0">
                <a:solidFill>
                  <a:srgbClr val="FF0000"/>
                </a:solidFill>
                <a:ea typeface="楷体_GB2312"/>
              </a:rPr>
              <a:t>和</a:t>
            </a:r>
            <a:r>
              <a:rPr lang="en-US" altLang="zh-CN" sz="2500" b="1" kern="0" dirty="0">
                <a:solidFill>
                  <a:srgbClr val="FF0000"/>
                </a:solidFill>
                <a:ea typeface="楷体_GB2312"/>
              </a:rPr>
              <a:t>+1</a:t>
            </a:r>
          </a:p>
        </p:txBody>
      </p:sp>
      <p:sp>
        <p:nvSpPr>
          <p:cNvPr id="70687" name="Rectangle 31"/>
          <p:cNvSpPr>
            <a:spLocks noChangeArrowheads="1"/>
          </p:cNvSpPr>
          <p:nvPr/>
        </p:nvSpPr>
        <p:spPr bwMode="auto">
          <a:xfrm>
            <a:off x="903253" y="651878"/>
            <a:ext cx="5258171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1.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楷体_GB2312"/>
                <a:ea typeface="楷体_GB2312"/>
              </a:rPr>
              <a:t>氧化数（为了配平方便人为规定）</a:t>
            </a:r>
            <a:endParaRPr kumimoji="0" lang="en-US" altLang="zh-CN" sz="2500" b="1" i="0" u="none" strike="noStrike" kern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5129" name="Rectangle 12"/>
          <p:cNvSpPr>
            <a:spLocks noGrp="1"/>
          </p:cNvSpPr>
          <p:nvPr>
            <p:ph type="title"/>
          </p:nvPr>
        </p:nvSpPr>
        <p:spPr>
          <a:xfrm>
            <a:off x="576263" y="260350"/>
            <a:ext cx="3816622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 smtClean="0">
                <a:solidFill>
                  <a:srgbClr val="FF3300"/>
                </a:solidFill>
                <a:uFillTx/>
                <a:latin typeface="Times New Roman" pitchFamily="18" charset="0"/>
                <a:cs typeface="Times New Roman" pitchFamily="18" charset="0"/>
              </a:rPr>
              <a:t>5.1</a:t>
            </a:r>
            <a:r>
              <a:rPr lang="en-US" altLang="zh-CN" noProof="1" smtClean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.1</a:t>
            </a:r>
            <a:r>
              <a:rPr lang="zh-CN" altLang="en-US" strike="noStrike" noProof="1" smtClean="0">
                <a:solidFill>
                  <a:srgbClr val="FF3300"/>
                </a:solidFill>
                <a:uFillTx/>
                <a:latin typeface="Times New Roman" pitchFamily="18" charset="0"/>
                <a:cs typeface="Times New Roman" pitchFamily="18" charset="0"/>
              </a:rPr>
              <a:t>氧化数与氧化还原反应</a:t>
            </a:r>
            <a:endParaRPr lang="zh-CN" altLang="en-US" strike="noStrike" noProof="1">
              <a:solidFill>
                <a:srgbClr val="FF3300"/>
              </a:solidFill>
              <a:uFillTx/>
              <a:latin typeface="黑体" panose="02010609060101010101" pitchFamily="2" charset="-122"/>
            </a:endParaRPr>
          </a:p>
        </p:txBody>
      </p:sp>
      <p:sp>
        <p:nvSpPr>
          <p:cNvPr id="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" name="矩形标注 2"/>
          <p:cNvSpPr/>
          <p:nvPr/>
        </p:nvSpPr>
        <p:spPr>
          <a:xfrm>
            <a:off x="8785373" y="850866"/>
            <a:ext cx="1358627" cy="983120"/>
          </a:xfrm>
          <a:prstGeom prst="wedgeRectCallout">
            <a:avLst>
              <a:gd name="adj1" fmla="val -53328"/>
              <a:gd name="adj2" fmla="val 7817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819605" y="850866"/>
            <a:ext cx="15216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</a:rPr>
              <a:t>表观电荷数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06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06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06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06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0" grpId="0" uiExpand="1" build="p"/>
      <p:bldP spid="70687" grpId="0" bldLvl="0" animBg="1"/>
      <p:bldP spid="3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7" name="Rectangle 11"/>
          <p:cNvSpPr/>
          <p:nvPr/>
        </p:nvSpPr>
        <p:spPr>
          <a:xfrm>
            <a:off x="831815" y="1311261"/>
            <a:ext cx="9847262" cy="413067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元素的氧化数等于该离子所带的电荷数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    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NaCl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Na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⑤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共价型化合物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        两原子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的</a:t>
            </a:r>
            <a:r>
              <a:rPr lang="zh-CN" altLang="en-US" sz="2500" b="1" dirty="0">
                <a:ea typeface="楷体_GB2312"/>
              </a:rPr>
              <a:t>表观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电荷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数即为它们的氧化数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    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HCl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H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Cl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⑥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中性分子中各原子的氧化数的代数和为零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复杂离子的电荷数等于各元素氧化数的代数和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50191" name="Rectangle 15"/>
          <p:cNvSpPr/>
          <p:nvPr/>
        </p:nvSpPr>
        <p:spPr>
          <a:xfrm>
            <a:off x="831815" y="882633"/>
            <a:ext cx="2828018" cy="52322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④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离子型化合物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;</a:t>
            </a: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sp>
        <p:nvSpPr>
          <p:cNvPr id="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0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7" grpId="0" build="p"/>
      <p:bldP spid="501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2" name="Rectangle 12">
            <a:hlinkClick r:id="rId2" action="ppaction://hlinkfile"/>
          </p:cNvPr>
          <p:cNvSpPr/>
          <p:nvPr/>
        </p:nvSpPr>
        <p:spPr>
          <a:xfrm>
            <a:off x="831815" y="1311261"/>
            <a:ext cx="61427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  <a:hlinkClick r:id="rId3" action="ppaction://hlinkpres?slideindex=1&amp;slidetitle=幻灯片 1"/>
              </a:rPr>
              <a:t>解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</p:txBody>
      </p:sp>
      <p:sp>
        <p:nvSpPr>
          <p:cNvPr id="51227" name="Rectangle 27"/>
          <p:cNvSpPr>
            <a:spLocks noChangeArrowheads="1"/>
          </p:cNvSpPr>
          <p:nvPr/>
        </p:nvSpPr>
        <p:spPr bwMode="auto">
          <a:xfrm>
            <a:off x="792127" y="1811327"/>
            <a:ext cx="30844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500" b="1" kern="0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氧化</a:t>
            </a:r>
            <a:r>
              <a:rPr lang="zh-CN" altLang="en-US" sz="2500" b="1" kern="0" dirty="0" smtClean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数与化合价区别</a:t>
            </a:r>
            <a:endParaRPr kumimoji="0" lang="en-US" altLang="zh-CN" sz="2500" b="1" strike="noStrike" kern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Monotype Sorts" pitchFamily="2" charset="2"/>
            </a:endParaRP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sp>
        <p:nvSpPr>
          <p:cNvPr id="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0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1" name="Rectangle 45"/>
          <p:cNvSpPr/>
          <p:nvPr/>
        </p:nvSpPr>
        <p:spPr>
          <a:xfrm>
            <a:off x="760416" y="905645"/>
            <a:ext cx="6786571" cy="47705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求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Fe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+mn-ea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+mn-ea"/>
              </a:rPr>
              <a:t>中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+mn-ea"/>
              </a:rPr>
              <a:t>Fe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+mn-ea"/>
              </a:rPr>
              <a:t>的氧化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数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  <a:sym typeface="Webdings" panose="05030102010509060703" pitchFamily="18" charset="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000794"/>
              </p:ext>
            </p:extLst>
          </p:nvPr>
        </p:nvGraphicFramePr>
        <p:xfrm>
          <a:off x="1656581" y="2736031"/>
          <a:ext cx="7920880" cy="17983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8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6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区别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氧化数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化合价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含义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表观电荷数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形成化学键的能力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取值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有正负之分，可取整数、分数和零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500" b="1" i="0" u="none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+mn-cs"/>
                        </a:rPr>
                        <a:t>取整数</a:t>
                      </a:r>
                      <a:endParaRPr lang="zh-CN" altLang="en-US" sz="2500" b="1" i="0" u="non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2" grpId="0"/>
      <p:bldP spid="51227" grpId="0" bldLvl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43" name="Rectangle 19"/>
          <p:cNvSpPr>
            <a:spLocks noChangeArrowheads="1"/>
          </p:cNvSpPr>
          <p:nvPr/>
        </p:nvSpPr>
        <p:spPr bwMode="auto">
          <a:xfrm>
            <a:off x="546063" y="954071"/>
            <a:ext cx="932497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2.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氧化还原反应与氧化还原电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对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52244" name="Rectangle 20"/>
          <p:cNvSpPr/>
          <p:nvPr/>
        </p:nvSpPr>
        <p:spPr>
          <a:xfrm>
            <a:off x="3178175" y="3001963"/>
            <a:ext cx="524534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+ 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+  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  + 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</a:t>
            </a:r>
          </a:p>
        </p:txBody>
      </p:sp>
      <p:sp>
        <p:nvSpPr>
          <p:cNvPr id="52248" name="Rectangle 24"/>
          <p:cNvSpPr/>
          <p:nvPr/>
        </p:nvSpPr>
        <p:spPr>
          <a:xfrm>
            <a:off x="4670425" y="2174875"/>
            <a:ext cx="21272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氧化数升高</a:t>
            </a:r>
          </a:p>
        </p:txBody>
      </p:sp>
      <p:sp>
        <p:nvSpPr>
          <p:cNvPr id="52249" name="Rectangle 25"/>
          <p:cNvSpPr>
            <a:spLocks noChangeArrowheads="1"/>
          </p:cNvSpPr>
          <p:nvPr/>
        </p:nvSpPr>
        <p:spPr bwMode="auto">
          <a:xfrm>
            <a:off x="6469063" y="2174875"/>
            <a:ext cx="82907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化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52253" name="Rectangle 29"/>
          <p:cNvSpPr/>
          <p:nvPr/>
        </p:nvSpPr>
        <p:spPr>
          <a:xfrm>
            <a:off x="3494088" y="3819525"/>
            <a:ext cx="203676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氧化数降低</a:t>
            </a:r>
          </a:p>
        </p:txBody>
      </p:sp>
      <p:sp>
        <p:nvSpPr>
          <p:cNvPr id="52254" name="Rectangle 30"/>
          <p:cNvSpPr>
            <a:spLocks noChangeArrowheads="1"/>
          </p:cNvSpPr>
          <p:nvPr/>
        </p:nvSpPr>
        <p:spPr bwMode="auto">
          <a:xfrm>
            <a:off x="5709540" y="3832635"/>
            <a:ext cx="82907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还原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52266" name="AutoShape 42"/>
          <p:cNvSpPr/>
          <p:nvPr/>
        </p:nvSpPr>
        <p:spPr>
          <a:xfrm>
            <a:off x="1092200" y="4457700"/>
            <a:ext cx="2630488" cy="952500"/>
          </a:xfrm>
          <a:prstGeom prst="cloudCallout">
            <a:avLst>
              <a:gd name="adj1" fmla="val 45060"/>
              <a:gd name="adj2" fmla="val -149412"/>
            </a:avLst>
          </a:prstGeom>
          <a:solidFill>
            <a:srgbClr val="FFFFA3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lstStyle/>
          <a:p>
            <a:pPr algn="ctr"/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氧化剂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52272" name="Rectangle 48"/>
          <p:cNvSpPr>
            <a:spLocks noChangeArrowheads="1"/>
          </p:cNvSpPr>
          <p:nvPr/>
        </p:nvSpPr>
        <p:spPr bwMode="auto">
          <a:xfrm>
            <a:off x="906463" y="1608138"/>
            <a:ext cx="376713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(1)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氧化还原反应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4105275" y="36004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886200" y="3530600"/>
            <a:ext cx="3200400" cy="288925"/>
            <a:chOff x="1541" y="3513"/>
            <a:chExt cx="2016" cy="182"/>
          </a:xfrm>
        </p:grpSpPr>
        <p:sp>
          <p:nvSpPr>
            <p:cNvPr id="15373" name="直接连接符 52249"/>
            <p:cNvSpPr/>
            <p:nvPr/>
          </p:nvSpPr>
          <p:spPr>
            <a:xfrm>
              <a:off x="1541" y="3513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4" name="直接连接符 52250"/>
            <p:cNvSpPr/>
            <p:nvPr/>
          </p:nvSpPr>
          <p:spPr>
            <a:xfrm>
              <a:off x="1541" y="3695"/>
              <a:ext cx="20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5" name="直接连接符 52251"/>
            <p:cNvSpPr/>
            <p:nvPr/>
          </p:nvSpPr>
          <p:spPr>
            <a:xfrm flipV="1">
              <a:off x="3536" y="3513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9" name="组合 8"/>
          <p:cNvGrpSpPr/>
          <p:nvPr/>
        </p:nvGrpSpPr>
        <p:grpSpPr>
          <a:xfrm>
            <a:off x="4668838" y="2651125"/>
            <a:ext cx="3059112" cy="287338"/>
            <a:chOff x="2198" y="2947"/>
            <a:chExt cx="1927" cy="181"/>
          </a:xfrm>
        </p:grpSpPr>
        <p:sp>
          <p:nvSpPr>
            <p:cNvPr id="15377" name="直接连接符 52244"/>
            <p:cNvSpPr/>
            <p:nvPr/>
          </p:nvSpPr>
          <p:spPr>
            <a:xfrm flipV="1">
              <a:off x="2198" y="2947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8" name="直接连接符 52245"/>
            <p:cNvSpPr/>
            <p:nvPr/>
          </p:nvSpPr>
          <p:spPr>
            <a:xfrm>
              <a:off x="2198" y="2947"/>
              <a:ext cx="192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9" name="直接连接符 52246"/>
            <p:cNvSpPr/>
            <p:nvPr/>
          </p:nvSpPr>
          <p:spPr>
            <a:xfrm>
              <a:off x="4125" y="2947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sp>
        <p:nvSpPr>
          <p:cNvPr id="14" name="云形标注 13"/>
          <p:cNvSpPr/>
          <p:nvPr/>
        </p:nvSpPr>
        <p:spPr>
          <a:xfrm>
            <a:off x="4673600" y="1543050"/>
            <a:ext cx="3598863" cy="539750"/>
          </a:xfrm>
          <a:prstGeom prst="cloudCallout">
            <a:avLst>
              <a:gd name="adj1" fmla="val -51019"/>
              <a:gd name="adj2" fmla="val 250278"/>
            </a:avLst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还原剂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1931" y="2082801"/>
            <a:ext cx="18710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b="1" dirty="0">
                <a:solidFill>
                  <a:schemeClr val="bg2"/>
                </a:solidFill>
                <a:ea typeface="楷体_GB2312"/>
              </a:rPr>
              <a:t>Fenton </a:t>
            </a:r>
            <a:r>
              <a:rPr lang="zh-CN" altLang="en-US" sz="2500" b="1" dirty="0">
                <a:solidFill>
                  <a:schemeClr val="bg2"/>
                </a:solidFill>
                <a:ea typeface="楷体_GB2312"/>
              </a:rPr>
              <a:t>反应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2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2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3" grpId="0" bldLvl="0" animBg="1"/>
      <p:bldP spid="52244" grpId="0"/>
      <p:bldP spid="52248" grpId="0"/>
      <p:bldP spid="52249" grpId="0" bldLvl="0" animBg="1"/>
      <p:bldP spid="52253" grpId="0"/>
      <p:bldP spid="52254" grpId="0" bldLvl="0" animBg="1"/>
      <p:bldP spid="52266" grpId="0" bldLvl="0" animBg="1"/>
      <p:bldP spid="52272" grpId="0" bldLvl="0" animBg="1"/>
      <p:bldP spid="14" grpId="0" bldLvl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/>
          <p:nvPr/>
        </p:nvSpPr>
        <p:spPr>
          <a:xfrm>
            <a:off x="906463" y="2684463"/>
            <a:ext cx="1061561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如上例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氧化反应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: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- 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</a:p>
        </p:txBody>
      </p:sp>
      <p:sp>
        <p:nvSpPr>
          <p:cNvPr id="178184" name="Rectangle 8"/>
          <p:cNvSpPr/>
          <p:nvPr/>
        </p:nvSpPr>
        <p:spPr>
          <a:xfrm>
            <a:off x="906463" y="1428750"/>
            <a:ext cx="10231437" cy="8604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       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同一元素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氧化态物质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和其对应的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还原态物质所构成的整体</a:t>
            </a:r>
            <a:r>
              <a:rPr lang="en-US" altLang="zh-CN" sz="2500" b="1" u="sng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一般以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Ox/Red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表示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</a:t>
            </a:r>
          </a:p>
        </p:txBody>
      </p:sp>
      <p:sp>
        <p:nvSpPr>
          <p:cNvPr id="178185" name="Rectangle 9"/>
          <p:cNvSpPr/>
          <p:nvPr/>
        </p:nvSpPr>
        <p:spPr>
          <a:xfrm>
            <a:off x="5846763" y="2684463"/>
            <a:ext cx="44005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还原剂电对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</a:p>
        </p:txBody>
      </p:sp>
      <p:sp>
        <p:nvSpPr>
          <p:cNvPr id="178186" name="Line 10"/>
          <p:cNvSpPr/>
          <p:nvPr/>
        </p:nvSpPr>
        <p:spPr>
          <a:xfrm>
            <a:off x="3297238" y="3160713"/>
            <a:ext cx="59055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187" name="Line 11"/>
          <p:cNvSpPr/>
          <p:nvPr/>
        </p:nvSpPr>
        <p:spPr>
          <a:xfrm>
            <a:off x="4670425" y="3160713"/>
            <a:ext cx="59055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188" name="Line 12"/>
          <p:cNvSpPr/>
          <p:nvPr/>
        </p:nvSpPr>
        <p:spPr>
          <a:xfrm>
            <a:off x="2624138" y="4062413"/>
            <a:ext cx="769937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189" name="Line 13"/>
          <p:cNvSpPr/>
          <p:nvPr/>
        </p:nvSpPr>
        <p:spPr>
          <a:xfrm>
            <a:off x="5305425" y="4062413"/>
            <a:ext cx="769938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190" name="Rectangle 14"/>
          <p:cNvSpPr/>
          <p:nvPr/>
        </p:nvSpPr>
        <p:spPr>
          <a:xfrm>
            <a:off x="6302375" y="3587750"/>
            <a:ext cx="4494213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氧化剂电对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/H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endParaRPr lang="en-US" altLang="zh-CN" sz="2500" b="1" baseline="30000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8197" name="Rectangle 21"/>
          <p:cNvSpPr>
            <a:spLocks noChangeArrowheads="1"/>
          </p:cNvSpPr>
          <p:nvPr/>
        </p:nvSpPr>
        <p:spPr bwMode="auto">
          <a:xfrm>
            <a:off x="760377" y="954071"/>
            <a:ext cx="73945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u="none" strike="noStrike" kern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(2)</a:t>
            </a:r>
            <a:r>
              <a:rPr kumimoji="0" lang="zh-CN" altLang="en-US" sz="2500" b="1" i="0" u="none" strike="noStrike" kern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氧化还原电对</a:t>
            </a:r>
            <a:r>
              <a:rPr kumimoji="0" lang="en-US" altLang="zh-CN" sz="2500" b="1" i="0" u="none" strike="noStrike" kern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</p:txBody>
      </p:sp>
      <p:sp>
        <p:nvSpPr>
          <p:cNvPr id="178198" name="Rectangle 22"/>
          <p:cNvSpPr/>
          <p:nvPr/>
        </p:nvSpPr>
        <p:spPr>
          <a:xfrm>
            <a:off x="906463" y="3587750"/>
            <a:ext cx="10615612" cy="47466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还原反应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68190" y="601599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1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8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8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8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8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  <p:bldP spid="178184" grpId="0" build="p"/>
      <p:bldP spid="178185" grpId="0" build="p"/>
      <p:bldP spid="178190" grpId="0" build="p"/>
      <p:bldP spid="178197" grpId="0" bldLvl="0" animBg="1"/>
      <p:bldP spid="17819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文本框 184321"/>
          <p:cNvSpPr txBox="1"/>
          <p:nvPr/>
        </p:nvSpPr>
        <p:spPr>
          <a:xfrm>
            <a:off x="719138" y="860425"/>
            <a:ext cx="10228262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3.氧化还原反应的</a:t>
            </a:r>
            <a:r>
              <a:rPr lang="zh-CN" altLang="zh-CN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复杂性</a:t>
            </a:r>
            <a:endParaRPr lang="zh-CN" altLang="en-US" sz="2500" b="1" dirty="0">
              <a:solidFill>
                <a:srgbClr val="FF33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4324" name="矩形 184323"/>
          <p:cNvSpPr/>
          <p:nvPr/>
        </p:nvSpPr>
        <p:spPr>
          <a:xfrm>
            <a:off x="781844" y="1509445"/>
            <a:ext cx="7900987" cy="17843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zh-CN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电子转移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zh-CN" altLang="zh-CN" sz="2500" b="1" dirty="0" smtClean="0">
                <a:latin typeface="Times New Roman" panose="02020603050405020304" pitchFamily="18" charset="0"/>
                <a:ea typeface="楷体_GB2312"/>
              </a:rPr>
              <a:t>阻力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。（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/>
              </a:rPr>
              <a:t>溶剂分子阻力、静电作用力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）</a:t>
            </a:r>
            <a:r>
              <a:rPr lang="zh-CN" altLang="zh-CN" sz="2500" b="1" dirty="0" smtClean="0">
                <a:latin typeface="Times New Roman" panose="02020603050405020304" pitchFamily="18" charset="0"/>
                <a:ea typeface="楷体_GB2312"/>
              </a:rPr>
              <a:t>;</a:t>
            </a:r>
            <a:endParaRPr lang="zh-CN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zh-CN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价态变化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伴随结构、化学键、电子层结构变化;</a:t>
            </a:r>
          </a:p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        如: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Cr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7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→ Cr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zh-CN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历程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复杂,分步完成.</a:t>
            </a:r>
          </a:p>
        </p:txBody>
      </p:sp>
      <p:sp>
        <p:nvSpPr>
          <p:cNvPr id="184325" name="左大括号 184324"/>
          <p:cNvSpPr/>
          <p:nvPr/>
        </p:nvSpPr>
        <p:spPr>
          <a:xfrm>
            <a:off x="719138" y="1619845"/>
            <a:ext cx="125412" cy="1568450"/>
          </a:xfrm>
          <a:prstGeom prst="leftBrace">
            <a:avLst>
              <a:gd name="adj1" fmla="val 99182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lstStyle/>
          <a:p>
            <a:endParaRPr lang="zh-CN" altLang="en-US" sz="2500" b="1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4326" name="矩形 184325"/>
          <p:cNvSpPr/>
          <p:nvPr/>
        </p:nvSpPr>
        <p:spPr>
          <a:xfrm>
            <a:off x="862013" y="3202583"/>
            <a:ext cx="7620000" cy="9366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        如: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Cr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7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+ 6Fe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+ 14H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2Cr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+ 6Fe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+ 7H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O一般认为分三步:</a:t>
            </a:r>
          </a:p>
        </p:txBody>
      </p:sp>
      <p:sp>
        <p:nvSpPr>
          <p:cNvPr id="184327" name="矩形 184326"/>
          <p:cNvSpPr/>
          <p:nvPr/>
        </p:nvSpPr>
        <p:spPr>
          <a:xfrm>
            <a:off x="1509713" y="4034433"/>
            <a:ext cx="4966424" cy="1361911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Cr(Ⅵ) + Fe(Ⅱ) →Cr(Ⅴ) + Fe(Ⅲ)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Cr(Ⅴ) + Fe(Ⅱ) →Cr(Ⅳ) + Fe(Ⅲ)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Cr(Ⅳ) + Fe(Ⅱ) →Cr(Ⅲ) + Fe(Ⅲ).</a:t>
            </a: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sp>
        <p:nvSpPr>
          <p:cNvPr id="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79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4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4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4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4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4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4" grpId="0" build="p"/>
      <p:bldP spid="184326" grpId="0"/>
      <p:bldP spid="18432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文本框 185345"/>
          <p:cNvSpPr txBox="1"/>
          <p:nvPr/>
        </p:nvSpPr>
        <p:spPr>
          <a:xfrm>
            <a:off x="688939" y="1295871"/>
            <a:ext cx="8120062" cy="51552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(1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温度影响</a:t>
            </a:r>
            <a:r>
              <a:rPr lang="zh-CN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zh-CN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5347" name="矩形 185346"/>
          <p:cNvSpPr/>
          <p:nvPr/>
        </p:nvSpPr>
        <p:spPr>
          <a:xfrm>
            <a:off x="719138" y="1853100"/>
            <a:ext cx="8174037" cy="136048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+ 10CO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+ 8H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＜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60℃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速率较慢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75 ~ 85℃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速率大为加快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185349" name="文本框 185348"/>
          <p:cNvSpPr txBox="1"/>
          <p:nvPr/>
        </p:nvSpPr>
        <p:spPr>
          <a:xfrm>
            <a:off x="688939" y="3296135"/>
            <a:ext cx="2839850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自动催化</a:t>
            </a:r>
            <a:r>
              <a:rPr lang="zh-CN" altLang="en-US" sz="25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反应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5350" name="矩形 185349"/>
          <p:cNvSpPr/>
          <p:nvPr/>
        </p:nvSpPr>
        <p:spPr>
          <a:xfrm>
            <a:off x="760377" y="3867639"/>
            <a:ext cx="5648732" cy="13604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生成物本身就起催化作用的反应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与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特点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 </a:t>
            </a:r>
          </a:p>
        </p:txBody>
      </p:sp>
      <p:sp>
        <p:nvSpPr>
          <p:cNvPr id="185351" name="矩形 185350"/>
          <p:cNvSpPr/>
          <p:nvPr/>
        </p:nvSpPr>
        <p:spPr>
          <a:xfrm>
            <a:off x="2332013" y="5082085"/>
            <a:ext cx="18726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慢、快、慢</a:t>
            </a:r>
          </a:p>
        </p:txBody>
      </p:sp>
      <p:sp>
        <p:nvSpPr>
          <p:cNvPr id="7174" name="Rectangle 2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 smtClean="0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 smtClean="0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影响</a:t>
            </a:r>
            <a:r>
              <a:rPr lang="zh-CN" altLang="en-US" strike="noStrike" noProof="1" smtClean="0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化数与氧化还原</a:t>
            </a:r>
            <a:r>
              <a:rPr lang="zh-CN" altLang="en-US" strike="noStrike" noProof="1" smtClean="0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反应因素</a:t>
            </a:r>
            <a:endParaRPr lang="zh-CN" altLang="en-US" strike="noStrike" noProof="1">
              <a:solidFill>
                <a:srgbClr val="FF0000"/>
              </a:solidFill>
              <a:uFillTx/>
              <a:latin typeface="黑体" panose="02010609060101010101" pitchFamily="2" charset="-122"/>
            </a:endParaRPr>
          </a:p>
        </p:txBody>
      </p:sp>
      <p:sp>
        <p:nvSpPr>
          <p:cNvPr id="9" name="Oval 27" descr="图片9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35" y="5668979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88939" y="798123"/>
            <a:ext cx="3406702" cy="480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影响氧化还原反应速率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20877" y="1279089"/>
            <a:ext cx="4899098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实验 </a:t>
            </a:r>
            <a:r>
              <a:rPr lang="en-US" altLang="zh-CN" sz="2400" b="1" dirty="0" smtClean="0">
                <a:ea typeface="楷体_GB2312"/>
              </a:rPr>
              <a:t>KMnO</a:t>
            </a:r>
            <a:r>
              <a:rPr lang="en-US" altLang="zh-CN" sz="2400" b="1" baseline="-25000" dirty="0" smtClean="0">
                <a:ea typeface="楷体_GB2312"/>
              </a:rPr>
              <a:t>4</a:t>
            </a:r>
            <a:r>
              <a:rPr lang="zh-CN" altLang="en-US" sz="2400" b="1" dirty="0" smtClean="0">
                <a:ea typeface="楷体_GB2312"/>
              </a:rPr>
              <a:t>法测定</a:t>
            </a:r>
            <a:r>
              <a:rPr lang="en-US" altLang="zh-CN" sz="2400" b="1" dirty="0" smtClean="0">
                <a:ea typeface="楷体_GB2312"/>
              </a:rPr>
              <a:t>CaC</a:t>
            </a:r>
            <a:r>
              <a:rPr lang="en-US" altLang="zh-CN" sz="2400" b="1" baseline="-25000" dirty="0" smtClean="0">
                <a:ea typeface="楷体_GB2312"/>
              </a:rPr>
              <a:t>2</a:t>
            </a:r>
            <a:r>
              <a:rPr lang="en-US" altLang="zh-CN" sz="2400" b="1" dirty="0" smtClean="0">
                <a:ea typeface="楷体_GB2312"/>
              </a:rPr>
              <a:t>O</a:t>
            </a:r>
            <a:r>
              <a:rPr lang="en-US" altLang="zh-CN" sz="2400" b="1" baseline="-25000" dirty="0" smtClean="0">
                <a:ea typeface="楷体_GB2312"/>
              </a:rPr>
              <a:t>4</a:t>
            </a:r>
            <a:r>
              <a:rPr lang="en-US" altLang="zh-CN" sz="2400" b="1" dirty="0" smtClean="0">
                <a:ea typeface="楷体_GB2312"/>
              </a:rPr>
              <a:t> </a:t>
            </a:r>
            <a:r>
              <a:rPr lang="zh-CN" altLang="en-US" sz="2400" b="1" dirty="0" smtClean="0">
                <a:ea typeface="楷体_GB2312"/>
              </a:rPr>
              <a:t>钙含量</a:t>
            </a:r>
            <a:endParaRPr lang="zh-CN" altLang="en-US" sz="2400" b="1" baseline="-25000" dirty="0">
              <a:ea typeface="楷体_GB231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7" grpId="0" build="p"/>
      <p:bldP spid="185349" grpId="0"/>
      <p:bldP spid="185350" grpId="0" build="p"/>
      <p:bldP spid="1853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矩形 187393"/>
          <p:cNvSpPr/>
          <p:nvPr/>
        </p:nvSpPr>
        <p:spPr>
          <a:xfrm>
            <a:off x="727075" y="1357313"/>
            <a:ext cx="10606126" cy="2439129"/>
          </a:xfrm>
          <a:prstGeom prst="rect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+8H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  <a:p>
            <a:pPr>
              <a:lnSpc>
                <a:spcPct val="110000"/>
              </a:lnSpc>
            </a:pP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在盐酸中进行还会发生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 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+ 10Cl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+ 8H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诱导作用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一种氧化还原反应的发生而促进另一种氧化还原反应进行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        </a:t>
            </a:r>
          </a:p>
        </p:txBody>
      </p:sp>
      <p:sp>
        <p:nvSpPr>
          <p:cNvPr id="187395" name="标题 187394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2075" tIns="46038" rIns="92075" bIns="46038" anchor="ctr"/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itchFamily="18" charset="0"/>
                <a:cs typeface="Times New Roman" pitchFamily="18" charset="0"/>
              </a:rPr>
              <a:t>5.1.1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氧化数与氧化还原反应</a:t>
            </a:r>
          </a:p>
        </p:txBody>
      </p:sp>
      <p:sp>
        <p:nvSpPr>
          <p:cNvPr id="187396" name="文本框 187395"/>
          <p:cNvSpPr txBox="1"/>
          <p:nvPr/>
        </p:nvSpPr>
        <p:spPr>
          <a:xfrm>
            <a:off x="719138" y="842963"/>
            <a:ext cx="2161579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(3)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诱导反应：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7397" name="云形标注 187396"/>
          <p:cNvSpPr/>
          <p:nvPr/>
        </p:nvSpPr>
        <p:spPr>
          <a:xfrm>
            <a:off x="8672513" y="2657475"/>
            <a:ext cx="2743200" cy="838200"/>
          </a:xfrm>
          <a:prstGeom prst="cloudCallout">
            <a:avLst>
              <a:gd name="adj1" fmla="val -76042"/>
              <a:gd name="adj2" fmla="val -26324"/>
            </a:avLst>
          </a:prstGeom>
          <a:solidFill>
            <a:srgbClr val="FFFFCC">
              <a:alpha val="50000"/>
            </a:srgb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诱导反应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</a:t>
            </a:r>
          </a:p>
          <a:p>
            <a:pPr algn="ctr"/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共轭反应</a:t>
            </a:r>
            <a:endParaRPr lang="zh-CN" altLang="en-US" sz="2500" b="1" dirty="0">
              <a:solidFill>
                <a:srgbClr val="FF33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7398" name="直接连接符 187397"/>
          <p:cNvSpPr/>
          <p:nvPr/>
        </p:nvSpPr>
        <p:spPr>
          <a:xfrm>
            <a:off x="2035175" y="1865313"/>
            <a:ext cx="107950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399" name="直接连接符 187398"/>
          <p:cNvSpPr/>
          <p:nvPr/>
        </p:nvSpPr>
        <p:spPr>
          <a:xfrm>
            <a:off x="3419475" y="1865313"/>
            <a:ext cx="719138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400" name="直接连接符 187399"/>
          <p:cNvSpPr/>
          <p:nvPr/>
        </p:nvSpPr>
        <p:spPr>
          <a:xfrm>
            <a:off x="6114415" y="2687638"/>
            <a:ext cx="719138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401" name="矩形 187400"/>
          <p:cNvSpPr/>
          <p:nvPr/>
        </p:nvSpPr>
        <p:spPr>
          <a:xfrm>
            <a:off x="1317037" y="4175308"/>
            <a:ext cx="10098676" cy="938719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ea typeface="楷体_GB2312"/>
              </a:rPr>
              <a:t>MnO</a:t>
            </a:r>
            <a:r>
              <a:rPr lang="en-US" altLang="zh-CN" sz="2500" b="1" baseline="-25000" dirty="0">
                <a:ea typeface="楷体_GB2312"/>
              </a:rPr>
              <a:t>4</a:t>
            </a:r>
            <a:r>
              <a:rPr lang="en-US" altLang="zh-CN" sz="2500" b="1" baseline="30000" dirty="0">
                <a:ea typeface="楷体_GB2312"/>
              </a:rPr>
              <a:t>-</a:t>
            </a:r>
            <a:r>
              <a:rPr lang="en-US" altLang="zh-CN" sz="2500" b="1" dirty="0">
                <a:ea typeface="楷体_GB2312"/>
              </a:rPr>
              <a:t> + 5Fe</a:t>
            </a:r>
            <a:r>
              <a:rPr lang="en-US" altLang="zh-CN" sz="2500" b="1" baseline="30000" dirty="0">
                <a:ea typeface="楷体_GB2312"/>
              </a:rPr>
              <a:t>2</a:t>
            </a:r>
            <a:r>
              <a:rPr lang="en-US" altLang="zh-CN" sz="2500" b="1" baseline="30000" dirty="0" smtClean="0">
                <a:ea typeface="楷体_GB2312"/>
              </a:rPr>
              <a:t>+</a:t>
            </a:r>
            <a:r>
              <a:rPr lang="zh-CN" altLang="en-US" sz="2500" b="1" dirty="0" smtClean="0">
                <a:ea typeface="楷体_GB2312"/>
              </a:rPr>
              <a:t>生成氧化性更强的中间产物（不同价态</a:t>
            </a:r>
            <a:r>
              <a:rPr lang="en-US" altLang="zh-CN" sz="2500" b="1" dirty="0" err="1">
                <a:ea typeface="楷体_GB2312"/>
              </a:rPr>
              <a:t>Mn</a:t>
            </a:r>
            <a:r>
              <a:rPr lang="zh-CN" altLang="en-US" sz="2500" b="1" dirty="0" smtClean="0">
                <a:ea typeface="楷体_GB2312"/>
              </a:rPr>
              <a:t>），与</a:t>
            </a:r>
            <a:r>
              <a:rPr lang="en-US" altLang="zh-CN" sz="2500" b="1" dirty="0" smtClean="0">
                <a:ea typeface="楷体_GB2312"/>
              </a:rPr>
              <a:t>Cl</a:t>
            </a:r>
            <a:r>
              <a:rPr lang="en-US" altLang="zh-CN" sz="2500" b="1" baseline="30000" dirty="0" smtClean="0">
                <a:ea typeface="楷体_GB2312"/>
              </a:rPr>
              <a:t>-</a:t>
            </a:r>
            <a:r>
              <a:rPr lang="zh-CN" altLang="en-US" sz="2500" b="1" dirty="0" smtClean="0">
                <a:ea typeface="楷体_GB2312"/>
              </a:rPr>
              <a:t>反应</a:t>
            </a:r>
            <a:endParaRPr lang="en-US" altLang="zh-CN" sz="2500" b="1" baseline="30000" dirty="0">
              <a:ea typeface="楷体_GB2312"/>
            </a:endParaRPr>
          </a:p>
        </p:txBody>
      </p:sp>
      <p:sp>
        <p:nvSpPr>
          <p:cNvPr id="187402" name="矩形 187401"/>
          <p:cNvSpPr/>
          <p:nvPr/>
        </p:nvSpPr>
        <p:spPr>
          <a:xfrm>
            <a:off x="1963398" y="1902610"/>
            <a:ext cx="115127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作用体</a:t>
            </a:r>
          </a:p>
        </p:txBody>
      </p:sp>
      <p:sp>
        <p:nvSpPr>
          <p:cNvPr id="187403" name="矩形 187402"/>
          <p:cNvSpPr/>
          <p:nvPr/>
        </p:nvSpPr>
        <p:spPr>
          <a:xfrm>
            <a:off x="3250248" y="1943173"/>
            <a:ext cx="115127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诱导体</a:t>
            </a:r>
          </a:p>
        </p:txBody>
      </p:sp>
      <p:sp>
        <p:nvSpPr>
          <p:cNvPr id="187404" name="矩形 187403"/>
          <p:cNvSpPr/>
          <p:nvPr/>
        </p:nvSpPr>
        <p:spPr>
          <a:xfrm>
            <a:off x="5903913" y="2753043"/>
            <a:ext cx="115127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</a:rPr>
              <a:t>受诱体</a:t>
            </a:r>
          </a:p>
        </p:txBody>
      </p:sp>
      <p:sp>
        <p:nvSpPr>
          <p:cNvPr id="187405" name="矩形 187404"/>
          <p:cNvSpPr/>
          <p:nvPr/>
        </p:nvSpPr>
        <p:spPr>
          <a:xfrm>
            <a:off x="542416" y="4207017"/>
            <a:ext cx="1066432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rgbClr val="FF0000"/>
                </a:solidFill>
                <a:ea typeface="楷体_GB2312"/>
              </a:rPr>
              <a:t>原因</a:t>
            </a:r>
            <a:r>
              <a:rPr lang="en-US" altLang="zh-CN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" name="椭圆 62501" descr="图片8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401525" y="1357313"/>
            <a:ext cx="567424" cy="634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标注 3"/>
          <p:cNvSpPr/>
          <p:nvPr/>
        </p:nvSpPr>
        <p:spPr>
          <a:xfrm>
            <a:off x="4685237" y="555858"/>
            <a:ext cx="1944216" cy="648072"/>
          </a:xfrm>
          <a:prstGeom prst="wedgeRectCallout">
            <a:avLst>
              <a:gd name="adj1" fmla="val -49753"/>
              <a:gd name="adj2" fmla="val 7476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硫酸 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or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盐酸？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32845" y="5069700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楷体_GB2312"/>
              </a:rPr>
              <a:t>∴采用</a:t>
            </a:r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硫酸</a:t>
            </a:r>
            <a:endParaRPr lang="zh-CN" altLang="en-US" sz="32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7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6" grpId="0"/>
      <p:bldP spid="187397" grpId="0" animBg="1"/>
      <p:bldP spid="187401" grpId="0"/>
      <p:bldP spid="187402" grpId="0"/>
      <p:bldP spid="187403" grpId="0"/>
      <p:bldP spid="187404" grpId="0"/>
      <p:bldP spid="187405" grpId="0"/>
      <p:bldP spid="3" grpId="0" animBg="1"/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/>
          <p:nvPr/>
        </p:nvSpPr>
        <p:spPr>
          <a:xfrm>
            <a:off x="1274726" y="2403475"/>
            <a:ext cx="294798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</a:t>
            </a:r>
            <a:r>
              <a:rPr lang="en-US" altLang="zh-CN" sz="2500" b="1" dirty="0">
                <a:latin typeface="楷体" panose="02010609060101010101" charset="-122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电荷守恒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688939" y="2878138"/>
            <a:ext cx="1020762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配平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KMnO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K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SO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→ MnSO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K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SO</a:t>
            </a:r>
            <a:r>
              <a:rPr kumimoji="0" lang="en-US" altLang="zh-CN" sz="2500" b="1" i="0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kumimoji="0" lang="zh-CN" altLang="en-US" sz="2500" b="1" i="0" u="none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酸性</a:t>
            </a:r>
            <a:r>
              <a:rPr kumimoji="0" lang="en-US" altLang="zh-CN" sz="2500" b="1" i="0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</a:p>
        </p:txBody>
      </p:sp>
      <p:sp>
        <p:nvSpPr>
          <p:cNvPr id="188420" name="Rectangle 4"/>
          <p:cNvSpPr/>
          <p:nvPr/>
        </p:nvSpPr>
        <p:spPr>
          <a:xfrm>
            <a:off x="688939" y="3386695"/>
            <a:ext cx="9505950" cy="124649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找出未配平的离子反应式</a:t>
            </a:r>
            <a:r>
              <a:rPr lang="en-US" altLang="zh-CN" sz="2500" b="1" dirty="0">
                <a:ea typeface="楷体_GB2312"/>
              </a:rPr>
              <a:t> </a:t>
            </a:r>
            <a:r>
              <a:rPr lang="en-US" altLang="zh-CN" sz="2500" b="1" dirty="0" smtClean="0">
                <a:ea typeface="楷体_GB2312"/>
              </a:rPr>
              <a:t>   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 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 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 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楷体_GB2312"/>
              </a:rPr>
              <a:t>2-</a:t>
            </a:r>
          </a:p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将反应式拆成两个半反应</a:t>
            </a:r>
            <a:endParaRPr lang="en-US" altLang="zh-CN" sz="2500" b="1" dirty="0" smtClean="0"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  <a:p>
            <a:r>
              <a:rPr lang="zh-CN" altLang="en-US" sz="2500" b="1" dirty="0">
                <a:ea typeface="楷体_GB2312"/>
              </a:rPr>
              <a:t>③</a:t>
            </a:r>
            <a:r>
              <a:rPr lang="zh-CN" altLang="en-US" sz="2500" b="1" dirty="0" smtClean="0">
                <a:ea typeface="楷体_GB2312"/>
                <a:sym typeface="Monotype Sorts" pitchFamily="2" charset="2"/>
              </a:rPr>
              <a:t>根据质量守恒配平原子数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6391" name="Rectangle 5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5.1.2 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氧化还原反应方程式配平</a:t>
            </a:r>
          </a:p>
        </p:txBody>
      </p:sp>
      <p:sp>
        <p:nvSpPr>
          <p:cNvPr id="188422" name="Rectangle 6"/>
          <p:cNvSpPr/>
          <p:nvPr/>
        </p:nvSpPr>
        <p:spPr>
          <a:xfrm>
            <a:off x="1363626" y="1905000"/>
            <a:ext cx="2859088" cy="47466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楷体" panose="02010609060101010101" charset="-122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质量守恒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188423" name="Rectangle 7"/>
          <p:cNvSpPr/>
          <p:nvPr/>
        </p:nvSpPr>
        <p:spPr>
          <a:xfrm>
            <a:off x="2243101" y="4681527"/>
            <a:ext cx="3347391" cy="86177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→ 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 →  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 </a:t>
            </a:r>
          </a:p>
        </p:txBody>
      </p:sp>
      <p:sp>
        <p:nvSpPr>
          <p:cNvPr id="188425" name="Rectangle 9"/>
          <p:cNvSpPr/>
          <p:nvPr/>
        </p:nvSpPr>
        <p:spPr>
          <a:xfrm>
            <a:off x="5189501" y="4681527"/>
            <a:ext cx="167163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+ 4H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188426" name="Rectangle 10"/>
          <p:cNvSpPr/>
          <p:nvPr/>
        </p:nvSpPr>
        <p:spPr>
          <a:xfrm>
            <a:off x="3219414" y="4681527"/>
            <a:ext cx="13462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+ 8H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88427" name="Rectangle 11"/>
          <p:cNvSpPr/>
          <p:nvPr/>
        </p:nvSpPr>
        <p:spPr>
          <a:xfrm>
            <a:off x="3117814" y="5067289"/>
            <a:ext cx="14478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188428" name="Rectangle 12"/>
          <p:cNvSpPr/>
          <p:nvPr/>
        </p:nvSpPr>
        <p:spPr>
          <a:xfrm>
            <a:off x="5405401" y="5067289"/>
            <a:ext cx="97975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88444" name="Rectangle 28"/>
          <p:cNvSpPr/>
          <p:nvPr/>
        </p:nvSpPr>
        <p:spPr>
          <a:xfrm>
            <a:off x="688939" y="1020763"/>
            <a:ext cx="3763962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离子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-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电子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法（溶液中）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8445" name="Rectangle 29"/>
          <p:cNvSpPr/>
          <p:nvPr/>
        </p:nvSpPr>
        <p:spPr>
          <a:xfrm>
            <a:off x="777839" y="1428750"/>
            <a:ext cx="3675062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配平原则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" name="Rectangle 8"/>
          <p:cNvSpPr/>
          <p:nvPr/>
        </p:nvSpPr>
        <p:spPr>
          <a:xfrm>
            <a:off x="6832607" y="4686964"/>
            <a:ext cx="441819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据溶液酸碱性加</a:t>
            </a:r>
            <a:r>
              <a:rPr lang="en-US" altLang="zh-CN" sz="2500" b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H</a:t>
            </a:r>
            <a:r>
              <a:rPr lang="en-US" altLang="zh-CN" sz="2500" b="1" baseline="30000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+</a:t>
            </a:r>
            <a:r>
              <a:rPr lang="en-US" altLang="zh-CN" sz="2500" b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, OH</a:t>
            </a:r>
            <a:r>
              <a:rPr lang="en-US" altLang="zh-CN" sz="2500" b="1" baseline="30000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-</a:t>
            </a:r>
            <a:r>
              <a:rPr lang="en-US" altLang="zh-CN" sz="2500" b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, </a:t>
            </a:r>
            <a:r>
              <a:rPr lang="en-US" altLang="zh-CN" sz="2500" b="1" dirty="0" smtClean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H</a:t>
            </a:r>
            <a:r>
              <a:rPr lang="en-US" altLang="zh-CN" sz="2500" b="1" baseline="-25000" dirty="0" smtClean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2</a:t>
            </a:r>
            <a:r>
              <a:rPr lang="en-US" altLang="zh-CN" sz="2500" b="1" dirty="0" smtClean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5" action="ppaction://hlinksldjump"/>
              </a:rPr>
              <a:t>O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9" name="椭圆 68634" descr="图片9">
            <a:hlinkClick r:id="rId7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696" y="226071"/>
            <a:ext cx="2153966" cy="206563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8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8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8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build="p"/>
      <p:bldP spid="188419" grpId="0" bldLvl="0"/>
      <p:bldP spid="188420" grpId="0" build="p"/>
      <p:bldP spid="188422" grpId="0" build="p"/>
      <p:bldP spid="188423" grpId="0"/>
      <p:bldP spid="188425" grpId="0"/>
      <p:bldP spid="188426" grpId="0"/>
      <p:bldP spid="188427" grpId="0"/>
      <p:bldP spid="188428" grpId="0"/>
      <p:bldP spid="188444" grpId="0" build="p"/>
      <p:bldP spid="188445" grpId="0" build="p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5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5.1.2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氧化还原反应方程式配平</a:t>
            </a:r>
          </a:p>
        </p:txBody>
      </p:sp>
      <p:sp>
        <p:nvSpPr>
          <p:cNvPr id="188429" name="Rectangle 13"/>
          <p:cNvSpPr/>
          <p:nvPr/>
        </p:nvSpPr>
        <p:spPr>
          <a:xfrm>
            <a:off x="1851025" y="1109929"/>
            <a:ext cx="1004093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楷体_GB2312"/>
              </a:rPr>
              <a:t>-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+ 8H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                        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+ 4H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188430" name="Rectangle 14"/>
          <p:cNvSpPr/>
          <p:nvPr/>
        </p:nvSpPr>
        <p:spPr>
          <a:xfrm>
            <a:off x="7510463" y="1152525"/>
            <a:ext cx="10493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×</a:t>
            </a:r>
            <a:r>
              <a:rPr lang="en-US" altLang="en-US" sz="2500" b="1" dirty="0">
                <a:latin typeface="Times New Roman" panose="02020603050405020304" pitchFamily="18" charset="0"/>
                <a:ea typeface="楷体_GB2312"/>
              </a:rPr>
              <a:t>2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8431" name="Rectangle 15"/>
          <p:cNvSpPr/>
          <p:nvPr/>
        </p:nvSpPr>
        <p:spPr>
          <a:xfrm>
            <a:off x="3967163" y="1152525"/>
            <a:ext cx="82105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+ 5e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8432" name="Rectangle 16"/>
          <p:cNvSpPr/>
          <p:nvPr/>
        </p:nvSpPr>
        <p:spPr>
          <a:xfrm>
            <a:off x="4849813" y="1152525"/>
            <a:ext cx="365125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</a:t>
            </a:r>
          </a:p>
        </p:txBody>
      </p:sp>
      <p:sp>
        <p:nvSpPr>
          <p:cNvPr id="188433" name="Rectangle 17"/>
          <p:cNvSpPr/>
          <p:nvPr/>
        </p:nvSpPr>
        <p:spPr>
          <a:xfrm>
            <a:off x="2022475" y="1703388"/>
            <a:ext cx="477246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                 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88434" name="Rectangle 18"/>
          <p:cNvSpPr/>
          <p:nvPr/>
        </p:nvSpPr>
        <p:spPr>
          <a:xfrm>
            <a:off x="3656013" y="1703388"/>
            <a:ext cx="11239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- 2e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8435" name="Rectangle 19"/>
          <p:cNvSpPr/>
          <p:nvPr/>
        </p:nvSpPr>
        <p:spPr>
          <a:xfrm>
            <a:off x="4568825" y="1703388"/>
            <a:ext cx="44755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</a:t>
            </a:r>
          </a:p>
        </p:txBody>
      </p:sp>
      <p:sp>
        <p:nvSpPr>
          <p:cNvPr id="188436" name="Rectangle 20"/>
          <p:cNvSpPr/>
          <p:nvPr/>
        </p:nvSpPr>
        <p:spPr>
          <a:xfrm>
            <a:off x="7510463" y="1703388"/>
            <a:ext cx="10493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×5</a:t>
            </a:r>
          </a:p>
        </p:txBody>
      </p:sp>
      <p:sp>
        <p:nvSpPr>
          <p:cNvPr id="188437" name="Rectangle 21"/>
          <p:cNvSpPr/>
          <p:nvPr/>
        </p:nvSpPr>
        <p:spPr>
          <a:xfrm>
            <a:off x="1473200" y="1703388"/>
            <a:ext cx="55496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)</a:t>
            </a:r>
          </a:p>
        </p:txBody>
      </p:sp>
      <p:sp>
        <p:nvSpPr>
          <p:cNvPr id="188438" name="Line 22"/>
          <p:cNvSpPr/>
          <p:nvPr/>
        </p:nvSpPr>
        <p:spPr>
          <a:xfrm>
            <a:off x="1195388" y="2286000"/>
            <a:ext cx="92170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39" name="Rectangle 23"/>
          <p:cNvSpPr/>
          <p:nvPr/>
        </p:nvSpPr>
        <p:spPr>
          <a:xfrm>
            <a:off x="1851025" y="2398713"/>
            <a:ext cx="6899275" cy="474662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+ 5SO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+ 3H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64571" name="Rectangle 59"/>
          <p:cNvSpPr/>
          <p:nvPr/>
        </p:nvSpPr>
        <p:spPr>
          <a:xfrm>
            <a:off x="1009650" y="2986088"/>
            <a:ext cx="103441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2KMnO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+ 5K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+ 3H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= 2MnSO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 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+ 6K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+ 3H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19" name="椭圆 62501" descr="图片8">
            <a:hlinkClick r:id="rId5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0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36096" y="637367"/>
            <a:ext cx="405110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>
                <a:ea typeface="楷体_GB2312"/>
              </a:rPr>
              <a:t>④</a:t>
            </a:r>
            <a:r>
              <a:rPr lang="zh-CN" altLang="en-US" sz="2500" b="1" dirty="0" smtClean="0">
                <a:ea typeface="楷体_GB2312"/>
              </a:rPr>
              <a:t>两</a:t>
            </a:r>
            <a:r>
              <a:rPr lang="zh-CN" altLang="en-US" sz="2500" b="1" dirty="0">
                <a:ea typeface="楷体_GB2312"/>
              </a:rPr>
              <a:t>半反应得失电子数相等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84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8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8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8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75"/>
                                        <p:tgtEl>
                                          <p:spTgt spid="188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75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9" grpId="0" build="p"/>
      <p:bldP spid="188430" grpId="0"/>
      <p:bldP spid="188431" grpId="0"/>
      <p:bldP spid="188432" grpId="0"/>
      <p:bldP spid="188433" grpId="0"/>
      <p:bldP spid="188434" grpId="0"/>
      <p:bldP spid="188435" grpId="0"/>
      <p:bldP spid="188436" grpId="0"/>
      <p:bldP spid="188437" grpId="0"/>
      <p:bldP spid="188439" grpId="0"/>
      <p:bldP spid="6457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7"/>
          <p:cNvSpPr txBox="1"/>
          <p:nvPr/>
        </p:nvSpPr>
        <p:spPr>
          <a:xfrm>
            <a:off x="906447" y="1439887"/>
            <a:ext cx="9209087" cy="39395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 smtClean="0">
                <a:solidFill>
                  <a:srgbClr val="FF0066"/>
                </a:solidFill>
                <a:latin typeface="Times New Roman" panose="02020603050405020304" pitchFamily="18" charset="0"/>
                <a:ea typeface="楷体_GB2312"/>
              </a:rPr>
              <a:t>酸性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介质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多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O,+2n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u="sng" baseline="30000" dirty="0" smtClean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另一边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+n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O.</a:t>
            </a:r>
          </a:p>
          <a:p>
            <a:pPr defTabSz="914400"/>
            <a:endParaRPr lang="en-US" altLang="zh-CN" sz="2500" b="1" dirty="0" smtClean="0">
              <a:ea typeface="楷体_GB2312"/>
            </a:endParaRPr>
          </a:p>
          <a:p>
            <a:pPr defTabSz="914400"/>
            <a:endParaRPr lang="en-US" altLang="zh-CN" sz="2500" b="1" dirty="0" smtClean="0">
              <a:latin typeface="Times New Roman" panose="02020603050405020304" pitchFamily="18" charset="0"/>
              <a:ea typeface="楷体_GB2312"/>
            </a:endParaRPr>
          </a:p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碱性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介质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多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err="1" smtClean="0">
                <a:latin typeface="Times New Roman" panose="02020603050405020304" pitchFamily="18" charset="0"/>
                <a:ea typeface="楷体_GB2312"/>
              </a:rPr>
              <a:t>O,+n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u="sng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另一边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+2n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OH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r>
              <a:rPr lang="en-US" altLang="zh-CN" sz="2500" b="1" dirty="0" smtClean="0">
                <a:ea typeface="楷体_GB2312"/>
              </a:rPr>
              <a:t>                  </a:t>
            </a:r>
            <a:r>
              <a:rPr lang="en-US" altLang="zh-CN" sz="2500" b="1" dirty="0" err="1" smtClean="0">
                <a:ea typeface="楷体_GB2312"/>
              </a:rPr>
              <a:t>ClO</a:t>
            </a:r>
            <a:r>
              <a:rPr lang="en-US" altLang="zh-CN" sz="2500" b="1" baseline="30000" dirty="0" smtClean="0">
                <a:ea typeface="楷体_GB2312"/>
              </a:rPr>
              <a:t>-</a:t>
            </a:r>
            <a:r>
              <a:rPr lang="en-US" altLang="zh-CN" sz="2500" b="1" dirty="0" smtClean="0">
                <a:ea typeface="楷体_GB2312"/>
              </a:rPr>
              <a:t>                 →  </a:t>
            </a:r>
            <a:r>
              <a:rPr lang="en-US" altLang="zh-CN" sz="2500" b="1" dirty="0" err="1" smtClean="0">
                <a:ea typeface="楷体_GB2312"/>
              </a:rPr>
              <a:t>Cl</a:t>
            </a:r>
            <a:r>
              <a:rPr lang="en-US" altLang="zh-CN" sz="2500" b="1" baseline="30000" dirty="0" smtClean="0">
                <a:ea typeface="楷体_GB2312"/>
              </a:rPr>
              <a:t>-   </a:t>
            </a:r>
          </a:p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中性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介质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左边多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err="1" smtClean="0">
                <a:latin typeface="Times New Roman" panose="02020603050405020304" pitchFamily="18" charset="0"/>
                <a:ea typeface="楷体_GB2312"/>
              </a:rPr>
              <a:t>O,+n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u="sng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O,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右边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+2n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OH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;</a:t>
            </a:r>
            <a:endParaRPr lang="en-US" altLang="zh-CN" sz="2500" b="1" baseline="30000" dirty="0" smtClean="0">
              <a:latin typeface="Times New Roman" panose="02020603050405020304" pitchFamily="18" charset="0"/>
              <a:ea typeface="楷体_GB2312"/>
            </a:endParaRPr>
          </a:p>
          <a:p>
            <a:pPr defTabSz="914400"/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右边多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O,+2n</a:t>
            </a: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u="sng" baseline="30000" dirty="0" smtClean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u="sng" dirty="0" smtClean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左边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个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O.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0" name="Rectangle 28"/>
          <p:cNvSpPr/>
          <p:nvPr/>
        </p:nvSpPr>
        <p:spPr>
          <a:xfrm>
            <a:off x="791366" y="917575"/>
            <a:ext cx="102314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两边添加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OH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一般规律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2" name="Rectangle 5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楷体_GB2312"/>
              </a:rPr>
              <a:t>5.1.2 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氧化还原反应方程式配平</a:t>
            </a:r>
          </a:p>
        </p:txBody>
      </p:sp>
      <p:sp>
        <p:nvSpPr>
          <p:cNvPr id="3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5546723" y="5261016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2243101" y="2184052"/>
            <a:ext cx="3347391" cy="86177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→ 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 →  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 </a:t>
            </a:r>
          </a:p>
        </p:txBody>
      </p:sp>
      <p:sp>
        <p:nvSpPr>
          <p:cNvPr id="8" name="Rectangle 10"/>
          <p:cNvSpPr/>
          <p:nvPr/>
        </p:nvSpPr>
        <p:spPr>
          <a:xfrm>
            <a:off x="3219414" y="2184052"/>
            <a:ext cx="13462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+ 8H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9" name="Rectangle 11"/>
          <p:cNvSpPr/>
          <p:nvPr/>
        </p:nvSpPr>
        <p:spPr>
          <a:xfrm>
            <a:off x="3117814" y="2569814"/>
            <a:ext cx="14478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10" name="Rectangle 12"/>
          <p:cNvSpPr/>
          <p:nvPr/>
        </p:nvSpPr>
        <p:spPr>
          <a:xfrm>
            <a:off x="5405401" y="2569814"/>
            <a:ext cx="97975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1" name="Rectangle 9"/>
          <p:cNvSpPr/>
          <p:nvPr/>
        </p:nvSpPr>
        <p:spPr>
          <a:xfrm>
            <a:off x="5416359" y="2184397"/>
            <a:ext cx="167163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+ 4H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</p:txBody>
      </p:sp>
      <p:sp>
        <p:nvSpPr>
          <p:cNvPr id="2" name="矩形 1"/>
          <p:cNvSpPr/>
          <p:nvPr/>
        </p:nvSpPr>
        <p:spPr>
          <a:xfrm>
            <a:off x="3219414" y="3726409"/>
            <a:ext cx="113524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/>
              </a:rPr>
              <a:t>+ H</a:t>
            </a:r>
            <a:r>
              <a:rPr lang="en-US" altLang="zh-CN" sz="2500" b="1" baseline="-25000" dirty="0">
                <a:ea typeface="楷体_GB2312"/>
              </a:rPr>
              <a:t>2</a:t>
            </a:r>
            <a:r>
              <a:rPr lang="en-US" altLang="zh-CN" sz="2500" b="1" dirty="0">
                <a:ea typeface="楷体_GB2312"/>
              </a:rPr>
              <a:t>O </a:t>
            </a:r>
            <a:endParaRPr lang="zh-CN" altLang="en-US" sz="2500" b="1" dirty="0">
              <a:ea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16359" y="3739167"/>
            <a:ext cx="117852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/>
              </a:rPr>
              <a:t>+ </a:t>
            </a:r>
            <a:r>
              <a:rPr lang="en-US" altLang="zh-CN" sz="2500" b="1" dirty="0" smtClean="0">
                <a:ea typeface="楷体_GB2312"/>
              </a:rPr>
              <a:t>2OH</a:t>
            </a:r>
            <a:r>
              <a:rPr lang="en-US" altLang="zh-CN" sz="2500" b="1" baseline="30000" dirty="0" smtClean="0">
                <a:ea typeface="楷体_GB2312"/>
              </a:rPr>
              <a:t>-</a:t>
            </a:r>
            <a:endParaRPr lang="en-US" altLang="zh-CN" sz="2500" b="1" baseline="30000" dirty="0"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2332931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30" grpId="0"/>
      <p:bldP spid="7" grpId="0"/>
      <p:bldP spid="8" grpId="0"/>
      <p:bldP spid="9" grpId="0"/>
      <p:bldP spid="10" grpId="0"/>
      <p:bldP spid="11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7"/>
          <p:cNvSpPr/>
          <p:nvPr/>
        </p:nvSpPr>
        <p:spPr>
          <a:xfrm>
            <a:off x="648469" y="935831"/>
            <a:ext cx="99441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思考题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配平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ClO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CrO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CrO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在碱性介质中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6099008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20" name="Rectangle 32"/>
          <p:cNvSpPr/>
          <p:nvPr/>
        </p:nvSpPr>
        <p:spPr>
          <a:xfrm>
            <a:off x="4035425" y="1428750"/>
            <a:ext cx="3357563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氧化数守恒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</p:txBody>
      </p:sp>
      <p:sp>
        <p:nvSpPr>
          <p:cNvPr id="63532" name="Rectangle 44"/>
          <p:cNvSpPr/>
          <p:nvPr/>
        </p:nvSpPr>
        <p:spPr>
          <a:xfrm>
            <a:off x="7208838" y="1428750"/>
            <a:ext cx="281305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质量守恒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63533" name="Rectangle 45"/>
          <p:cNvSpPr/>
          <p:nvPr/>
        </p:nvSpPr>
        <p:spPr>
          <a:xfrm>
            <a:off x="1568450" y="2287588"/>
            <a:ext cx="646683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写出未配平方程式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确定氧化数升、降的数值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63534" name="Rectangle 46"/>
          <p:cNvSpPr/>
          <p:nvPr/>
        </p:nvSpPr>
        <p:spPr>
          <a:xfrm>
            <a:off x="3105150" y="3230563"/>
            <a:ext cx="516519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+ 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+  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  + 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</a:p>
        </p:txBody>
      </p:sp>
      <p:sp>
        <p:nvSpPr>
          <p:cNvPr id="63539" name="Rectangle 51"/>
          <p:cNvSpPr/>
          <p:nvPr/>
        </p:nvSpPr>
        <p:spPr>
          <a:xfrm>
            <a:off x="5500688" y="2643188"/>
            <a:ext cx="52770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+1</a:t>
            </a:r>
          </a:p>
        </p:txBody>
      </p:sp>
      <p:sp>
        <p:nvSpPr>
          <p:cNvPr id="63544" name="Rectangle 56"/>
          <p:cNvSpPr/>
          <p:nvPr/>
        </p:nvSpPr>
        <p:spPr>
          <a:xfrm>
            <a:off x="4689475" y="4011613"/>
            <a:ext cx="83067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-1×2</a:t>
            </a:r>
          </a:p>
        </p:txBody>
      </p:sp>
      <p:sp>
        <p:nvSpPr>
          <p:cNvPr id="63545" name="Rectangle 57"/>
          <p:cNvSpPr/>
          <p:nvPr/>
        </p:nvSpPr>
        <p:spPr>
          <a:xfrm>
            <a:off x="5919788" y="2643188"/>
            <a:ext cx="56297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×2</a:t>
            </a:r>
          </a:p>
        </p:txBody>
      </p:sp>
      <p:sp>
        <p:nvSpPr>
          <p:cNvPr id="63546" name="Text Box 58"/>
          <p:cNvSpPr txBox="1"/>
          <p:nvPr/>
        </p:nvSpPr>
        <p:spPr>
          <a:xfrm>
            <a:off x="906463" y="4386263"/>
            <a:ext cx="1023143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目测法配平氧化数没变的元素原子数目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63547" name="Rectangle 59"/>
          <p:cNvSpPr/>
          <p:nvPr/>
        </p:nvSpPr>
        <p:spPr>
          <a:xfrm>
            <a:off x="3268663" y="4794250"/>
            <a:ext cx="532549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   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 + 2Fe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</a:p>
        </p:txBody>
      </p:sp>
      <p:sp>
        <p:nvSpPr>
          <p:cNvPr id="63548" name="Rectangle 60"/>
          <p:cNvSpPr/>
          <p:nvPr/>
        </p:nvSpPr>
        <p:spPr>
          <a:xfrm>
            <a:off x="5418138" y="4794250"/>
            <a:ext cx="34496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</a:t>
            </a:r>
          </a:p>
        </p:txBody>
      </p:sp>
      <p:sp>
        <p:nvSpPr>
          <p:cNvPr id="63549" name="Rectangle 61"/>
          <p:cNvSpPr/>
          <p:nvPr/>
        </p:nvSpPr>
        <p:spPr>
          <a:xfrm>
            <a:off x="6505575" y="4805363"/>
            <a:ext cx="34496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</a:t>
            </a:r>
          </a:p>
        </p:txBody>
      </p:sp>
      <p:sp>
        <p:nvSpPr>
          <p:cNvPr id="63550" name="Rectangle 62"/>
          <p:cNvSpPr/>
          <p:nvPr/>
        </p:nvSpPr>
        <p:spPr>
          <a:xfrm>
            <a:off x="6275388" y="4805363"/>
            <a:ext cx="36740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</a:t>
            </a:r>
          </a:p>
        </p:txBody>
      </p:sp>
      <p:sp>
        <p:nvSpPr>
          <p:cNvPr id="63551" name="Rectangle 63"/>
          <p:cNvSpPr>
            <a:spLocks noChangeArrowheads="1"/>
          </p:cNvSpPr>
          <p:nvPr/>
        </p:nvSpPr>
        <p:spPr bwMode="auto">
          <a:xfrm>
            <a:off x="906463" y="1903413"/>
            <a:ext cx="516840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配平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H</a:t>
            </a:r>
            <a:r>
              <a:rPr kumimoji="0" lang="en-US" altLang="zh-CN" sz="2500" b="1" i="0" strike="noStrike" kern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Fe</a:t>
            </a:r>
            <a:r>
              <a:rPr kumimoji="0" lang="en-US" altLang="zh-CN" sz="2500" b="1" i="0" strike="noStrike" kern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2+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H</a:t>
            </a:r>
            <a:r>
              <a:rPr kumimoji="0" lang="en-US" altLang="zh-CN" sz="2500" b="1" i="0" strike="noStrike" kern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→ H</a:t>
            </a:r>
            <a:r>
              <a:rPr kumimoji="0" lang="en-US" altLang="zh-CN" sz="2500" b="1" i="0" strike="noStrike" kern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 + Fe</a:t>
            </a:r>
            <a:r>
              <a:rPr kumimoji="0" lang="en-US" altLang="zh-CN" sz="2500" b="1" i="0" strike="noStrike" kern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3+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解</a:t>
            </a:r>
            <a:endParaRPr kumimoji="0" lang="en-US" altLang="zh-CN" sz="2500" b="1" i="0" strike="noStrike" kern="0" baseline="0" noProof="0" smtClean="0">
              <a:ln>
                <a:noFill/>
              </a:ln>
              <a:solidFill>
                <a:srgbClr val="00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63558" name="Rectangle 70"/>
          <p:cNvSpPr/>
          <p:nvPr/>
        </p:nvSpPr>
        <p:spPr>
          <a:xfrm>
            <a:off x="906463" y="1428750"/>
            <a:ext cx="222208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配平原则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63559" name="Rectangle 71"/>
          <p:cNvSpPr/>
          <p:nvPr/>
        </p:nvSpPr>
        <p:spPr>
          <a:xfrm>
            <a:off x="906463" y="1020763"/>
            <a:ext cx="171393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l" fontAlgn="base"/>
            <a:r>
              <a:rPr lang="en-US" altLang="zh-CN" sz="2500" b="1" strike="noStrike" noProof="1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+mn-ea"/>
              </a:rPr>
              <a:t>2.</a:t>
            </a:r>
            <a:r>
              <a:rPr lang="zh-CN" altLang="en-US" sz="2500" b="1" strike="noStrike" noProof="1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+mn-ea"/>
              </a:rPr>
              <a:t>氧化数</a:t>
            </a:r>
            <a:r>
              <a:rPr lang="zh-CN" altLang="en-US" sz="2500" b="1" strike="noStrike" noProof="1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+mn-ea"/>
              </a:rPr>
              <a:t>法</a:t>
            </a:r>
            <a:endParaRPr lang="en-US" altLang="zh-CN" sz="2500" b="1" strike="noStrike" noProof="1">
              <a:solidFill>
                <a:srgbClr val="FF33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6391" name="Rectangle 5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5.1.2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氧化还原反应方程式配平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670425" y="2992438"/>
            <a:ext cx="3059113" cy="287337"/>
            <a:chOff x="2198" y="2947"/>
            <a:chExt cx="1927" cy="181"/>
          </a:xfrm>
        </p:grpSpPr>
        <p:sp>
          <p:nvSpPr>
            <p:cNvPr id="24595" name="直接连接符 52244"/>
            <p:cNvSpPr/>
            <p:nvPr/>
          </p:nvSpPr>
          <p:spPr>
            <a:xfrm flipV="1">
              <a:off x="2198" y="2947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596" name="直接连接符 52245"/>
            <p:cNvSpPr/>
            <p:nvPr/>
          </p:nvSpPr>
          <p:spPr>
            <a:xfrm>
              <a:off x="2198" y="2947"/>
              <a:ext cx="192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597" name="直接连接符 52246"/>
            <p:cNvSpPr/>
            <p:nvPr/>
          </p:nvSpPr>
          <p:spPr>
            <a:xfrm>
              <a:off x="4125" y="2947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8" name="组合 7"/>
          <p:cNvGrpSpPr/>
          <p:nvPr/>
        </p:nvGrpSpPr>
        <p:grpSpPr>
          <a:xfrm>
            <a:off x="3648075" y="3673475"/>
            <a:ext cx="3200400" cy="288925"/>
            <a:chOff x="1541" y="3513"/>
            <a:chExt cx="2016" cy="182"/>
          </a:xfrm>
        </p:grpSpPr>
        <p:sp>
          <p:nvSpPr>
            <p:cNvPr id="24599" name="直接连接符 52249"/>
            <p:cNvSpPr/>
            <p:nvPr/>
          </p:nvSpPr>
          <p:spPr>
            <a:xfrm>
              <a:off x="1541" y="3513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00" name="直接连接符 52250"/>
            <p:cNvSpPr/>
            <p:nvPr/>
          </p:nvSpPr>
          <p:spPr>
            <a:xfrm>
              <a:off x="1541" y="3695"/>
              <a:ext cx="20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01" name="直接连接符 52251"/>
            <p:cNvSpPr/>
            <p:nvPr/>
          </p:nvSpPr>
          <p:spPr>
            <a:xfrm flipV="1">
              <a:off x="3536" y="3513"/>
              <a:ext cx="0" cy="18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sp>
        <p:nvSpPr>
          <p:cNvPr id="2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0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3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35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3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35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3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0" grpId="0" build="p"/>
      <p:bldP spid="63532" grpId="0" build="p"/>
      <p:bldP spid="63533" grpId="0"/>
      <p:bldP spid="63534" grpId="0"/>
      <p:bldP spid="63539" grpId="0"/>
      <p:bldP spid="63544" grpId="0"/>
      <p:bldP spid="63545" grpId="0"/>
      <p:bldP spid="63546" grpId="0"/>
      <p:bldP spid="63547" grpId="0"/>
      <p:bldP spid="63548" grpId="0"/>
      <p:bldP spid="63549" grpId="0"/>
      <p:bldP spid="63550" grpId="0"/>
      <p:bldP spid="63551" grpId="0" bldLvl="0" animBg="1"/>
      <p:bldP spid="63558" grpId="0"/>
      <p:bldP spid="635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4" name="Rectangle 18"/>
          <p:cNvSpPr/>
          <p:nvPr/>
        </p:nvSpPr>
        <p:spPr>
          <a:xfrm>
            <a:off x="537623" y="925051"/>
            <a:ext cx="147187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原电池 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60441" name="Rectangle 25"/>
          <p:cNvSpPr/>
          <p:nvPr/>
        </p:nvSpPr>
        <p:spPr>
          <a:xfrm>
            <a:off x="803388" y="1426689"/>
            <a:ext cx="10328275" cy="159067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将化学能转变为电能的装置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Zn ⇋ Cu +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可将其设计成</a:t>
            </a:r>
            <a:r>
              <a:rPr lang="zh-CN" altLang="en-US" sz="2500" b="1" dirty="0">
                <a:solidFill>
                  <a:srgbClr val="FF9900"/>
                </a:solidFill>
                <a:latin typeface="Times New Roman" panose="02020603050405020304" pitchFamily="18" charset="0"/>
                <a:ea typeface="楷体_GB2312"/>
                <a:hlinkClick r:id="rId3" action="ppaction://hlinkfile"/>
              </a:rPr>
              <a:t>原电池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60443" name="Rectangle 27"/>
          <p:cNvSpPr/>
          <p:nvPr/>
        </p:nvSpPr>
        <p:spPr>
          <a:xfrm>
            <a:off x="862013" y="1497013"/>
            <a:ext cx="131157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定义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60473" name="Rectangle 57"/>
          <p:cNvSpPr/>
          <p:nvPr/>
        </p:nvSpPr>
        <p:spPr>
          <a:xfrm>
            <a:off x="856056" y="5188857"/>
            <a:ext cx="417353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→ Cu</a:t>
            </a:r>
          </a:p>
        </p:txBody>
      </p:sp>
      <p:sp>
        <p:nvSpPr>
          <p:cNvPr id="60474" name="Rectangle 58"/>
          <p:cNvSpPr/>
          <p:nvPr/>
        </p:nvSpPr>
        <p:spPr>
          <a:xfrm>
            <a:off x="512316" y="3699911"/>
            <a:ext cx="6616873" cy="474662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负极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/>
              </a:rPr>
              <a:t>: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电子流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出的的电极</a:t>
            </a:r>
          </a:p>
        </p:txBody>
      </p:sp>
      <p:sp>
        <p:nvSpPr>
          <p:cNvPr id="60475" name="Rectangle 59"/>
          <p:cNvSpPr/>
          <p:nvPr/>
        </p:nvSpPr>
        <p:spPr>
          <a:xfrm>
            <a:off x="567568" y="3225308"/>
            <a:ext cx="1449053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</a:rPr>
              <a:t>(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电极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</a:p>
        </p:txBody>
      </p:sp>
      <p:sp>
        <p:nvSpPr>
          <p:cNvPr id="60476" name="Rectangle 60"/>
          <p:cNvSpPr/>
          <p:nvPr/>
        </p:nvSpPr>
        <p:spPr>
          <a:xfrm>
            <a:off x="643160" y="4112091"/>
            <a:ext cx="5117877" cy="10922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Zn →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发生氧化反应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正极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/>
              </a:rPr>
              <a:t>: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电子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流入的电极        </a:t>
            </a:r>
          </a:p>
        </p:txBody>
      </p:sp>
      <p:sp>
        <p:nvSpPr>
          <p:cNvPr id="25610" name="文本框 1"/>
          <p:cNvSpPr txBox="1"/>
          <p:nvPr/>
        </p:nvSpPr>
        <p:spPr>
          <a:xfrm>
            <a:off x="3900488" y="5328319"/>
            <a:ext cx="2198038" cy="4770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发生还原反应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1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0584079" y="5167359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pic>
        <p:nvPicPr>
          <p:cNvPr id="1026" name="Picture 2" descr="C:\Users\Administrator\Desktop\u=2894799763,1010883037&amp;fm=26&amp;gp=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196" y="334489"/>
            <a:ext cx="5136212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dcell.avi">
            <a:hlinkClick r:id="" action="ppaction://media"/>
          </p:cNvPr>
          <p:cNvPicPr>
            <a:picLocks noChangeArrowheads="1"/>
          </p:cNvPicPr>
          <p:nvPr>
            <a:videoFile r:link="rId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213" y="3096071"/>
            <a:ext cx="3965219" cy="3021832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8745994" y="3077223"/>
            <a:ext cx="2674579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Cu-Zn</a:t>
            </a:r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</a:rPr>
              <a:t>原电池装置</a:t>
            </a:r>
            <a:endParaRPr lang="zh-CN" alt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grpSp>
        <p:nvGrpSpPr>
          <p:cNvPr id="20" name="Group 29"/>
          <p:cNvGrpSpPr>
            <a:grpSpLocks/>
          </p:cNvGrpSpPr>
          <p:nvPr/>
        </p:nvGrpSpPr>
        <p:grpSpPr bwMode="auto">
          <a:xfrm>
            <a:off x="7552715" y="3275458"/>
            <a:ext cx="2968731" cy="2822493"/>
            <a:chOff x="884" y="1178"/>
            <a:chExt cx="2291" cy="2223"/>
          </a:xfrm>
        </p:grpSpPr>
        <p:sp>
          <p:nvSpPr>
            <p:cNvPr id="21" name="Rectangle 10"/>
            <p:cNvSpPr>
              <a:spLocks noChangeArrowheads="1"/>
            </p:cNvSpPr>
            <p:nvPr/>
          </p:nvSpPr>
          <p:spPr bwMode="auto">
            <a:xfrm>
              <a:off x="1269" y="1178"/>
              <a:ext cx="1888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ea typeface="楷体_GB2312" pitchFamily="49" charset="-122"/>
                </a:rPr>
                <a:t>饱和</a:t>
              </a:r>
              <a:r>
                <a:rPr lang="en-US" altLang="zh-CN" sz="2000" b="1" dirty="0" err="1">
                  <a:solidFill>
                    <a:srgbClr val="FF0000"/>
                  </a:solidFill>
                  <a:ea typeface="楷体_GB2312" pitchFamily="49" charset="-122"/>
                </a:rPr>
                <a:t>KCl</a:t>
              </a:r>
              <a:r>
                <a:rPr lang="zh-CN" altLang="en-US" sz="2000" b="1" dirty="0">
                  <a:solidFill>
                    <a:srgbClr val="FF0000"/>
                  </a:solidFill>
                  <a:ea typeface="楷体_GB2312" pitchFamily="49" charset="-122"/>
                </a:rPr>
                <a:t>胶冻的盐桥</a:t>
              </a:r>
              <a:endPara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1722" y="3151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FFFF00"/>
                  </a:solidFill>
                  <a:ea typeface="楷体_GB2312" pitchFamily="49" charset="-122"/>
                </a:rPr>
                <a:t>电流计</a:t>
              </a:r>
              <a:endParaRPr lang="zh-CN" alt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997" y="1851"/>
              <a:ext cx="62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ea typeface="楷体_GB2312" pitchFamily="49" charset="-122"/>
                </a:rPr>
                <a:t>锌片</a:t>
              </a:r>
              <a:endPara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2488" y="1874"/>
              <a:ext cx="687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ea typeface="楷体_GB2312" pitchFamily="49" charset="-122"/>
                </a:rPr>
                <a:t>铜片</a:t>
              </a:r>
              <a:endPara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884" y="2788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60000"/>
                </a:lnSpc>
              </a:pP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        </a:t>
              </a:r>
              <a:r>
                <a:rPr lang="en-US" altLang="zh-CN" sz="2000" b="1">
                  <a:solidFill>
                    <a:srgbClr val="FFFF00"/>
                  </a:solidFill>
                  <a:ea typeface="楷体_GB2312" pitchFamily="49" charset="-122"/>
                </a:rPr>
                <a:t>↑</a:t>
              </a:r>
              <a:endParaRPr lang="en-US" altLang="zh-CN" sz="2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</a:pPr>
              <a:r>
                <a:rPr lang="en-US" altLang="zh-CN" sz="2000" b="1">
                  <a:solidFill>
                    <a:srgbClr val="FFFF00"/>
                  </a:solidFill>
                  <a:ea typeface="楷体_GB2312" pitchFamily="49" charset="-122"/>
                </a:rPr>
                <a:t> ZnSO</a:t>
              </a:r>
              <a:r>
                <a:rPr lang="en-US" altLang="zh-CN" sz="2000" b="1" baseline="-25000">
                  <a:solidFill>
                    <a:srgbClr val="FFFF00"/>
                  </a:solidFill>
                  <a:ea typeface="楷体_GB2312" pitchFamily="49" charset="-122"/>
                </a:rPr>
                <a:t>4</a:t>
              </a:r>
              <a:r>
                <a:rPr lang="zh-CN" altLang="en-US" sz="2000" b="1">
                  <a:solidFill>
                    <a:srgbClr val="FFFF00"/>
                  </a:solidFill>
                  <a:ea typeface="楷体_GB2312" pitchFamily="49" charset="-122"/>
                </a:rPr>
                <a:t>溶液</a:t>
              </a:r>
              <a:endParaRPr lang="zh-CN" alt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2267" y="2788"/>
              <a:ext cx="9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60000"/>
                </a:lnSpc>
              </a:pPr>
              <a:r>
                <a:rPr lang="en-US" altLang="zh-CN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</a:rPr>
                <a:t>       </a:t>
              </a:r>
              <a:r>
                <a:rPr lang="en-US" altLang="zh-CN" sz="2000" b="1">
                  <a:solidFill>
                    <a:srgbClr val="FFFF00"/>
                  </a:solidFill>
                  <a:ea typeface="楷体_GB2312" pitchFamily="49" charset="-122"/>
                </a:rPr>
                <a:t>↑</a:t>
              </a:r>
              <a:endParaRPr lang="en-US" altLang="zh-CN" sz="2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  <a:p>
              <a:pPr>
                <a:lnSpc>
                  <a:spcPct val="60000"/>
                </a:lnSpc>
              </a:pPr>
              <a:r>
                <a:rPr lang="en-US" altLang="zh-CN" sz="2000" b="1">
                  <a:solidFill>
                    <a:srgbClr val="FFFF00"/>
                  </a:solidFill>
                  <a:ea typeface="楷体_GB2312" pitchFamily="49" charset="-122"/>
                </a:rPr>
                <a:t>CuSO</a:t>
              </a:r>
              <a:r>
                <a:rPr lang="en-US" altLang="zh-CN" sz="2000" b="1" baseline="-25000">
                  <a:solidFill>
                    <a:srgbClr val="FFFF00"/>
                  </a:solidFill>
                  <a:ea typeface="楷体_GB2312" pitchFamily="49" charset="-122"/>
                </a:rPr>
                <a:t>4</a:t>
              </a:r>
              <a:r>
                <a:rPr lang="zh-CN" altLang="en-US" sz="2000" b="1">
                  <a:solidFill>
                    <a:srgbClr val="FFFF00"/>
                  </a:solidFill>
                  <a:ea typeface="楷体_GB2312" pitchFamily="49" charset="-122"/>
                </a:rPr>
                <a:t>溶液</a:t>
              </a:r>
              <a:endParaRPr lang="zh-CN" alt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endParaRPr>
            </a:p>
          </p:txBody>
        </p:sp>
      </p:grpSp>
      <p:sp>
        <p:nvSpPr>
          <p:cNvPr id="3" name="椭圆形标注 2"/>
          <p:cNvSpPr/>
          <p:nvPr/>
        </p:nvSpPr>
        <p:spPr>
          <a:xfrm>
            <a:off x="5712454" y="201160"/>
            <a:ext cx="1933326" cy="884256"/>
          </a:xfrm>
          <a:prstGeom prst="wedgeEllipseCallout">
            <a:avLst>
              <a:gd name="adj1" fmla="val 89418"/>
              <a:gd name="adj2" fmla="val 6421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</a:rPr>
              <a:t>盐桥的作用？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mediacall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3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3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4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  <p:bldLst>
      <p:bldP spid="60434" grpId="0"/>
      <p:bldP spid="60441" grpId="0" build="p"/>
      <p:bldP spid="60443" grpId="0"/>
      <p:bldP spid="60473" grpId="0"/>
      <p:bldP spid="60474" grpId="0"/>
      <p:bldP spid="60475" grpId="0"/>
      <p:bldP spid="25610" grpId="0"/>
      <p:bldP spid="19" grpId="0" autoUpdateAnimBg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/>
          <p:cNvSpPr/>
          <p:nvPr/>
        </p:nvSpPr>
        <p:spPr>
          <a:xfrm>
            <a:off x="576263" y="984250"/>
            <a:ext cx="1032827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(</a:t>
            </a:r>
            <a:r>
              <a:rPr lang="en-US" altLang="zh-CN" sz="2500" b="1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</a:rPr>
              <a:t>)</a:t>
            </a:r>
            <a:r>
              <a:rPr lang="zh-CN" altLang="en-US" sz="2500" b="1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电池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反应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Zn(s) + 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(aq) ⇋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(aq) + Cu(s) </a:t>
            </a:r>
          </a:p>
        </p:txBody>
      </p:sp>
      <p:sp>
        <p:nvSpPr>
          <p:cNvPr id="150534" name="Rectangle 6"/>
          <p:cNvSpPr/>
          <p:nvPr/>
        </p:nvSpPr>
        <p:spPr>
          <a:xfrm>
            <a:off x="625222" y="3265747"/>
            <a:ext cx="372890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半电池反应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或电极反应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):</a:t>
            </a:r>
          </a:p>
        </p:txBody>
      </p:sp>
      <p:sp>
        <p:nvSpPr>
          <p:cNvPr id="150535" name="AutoShape 7"/>
          <p:cNvSpPr/>
          <p:nvPr/>
        </p:nvSpPr>
        <p:spPr>
          <a:xfrm>
            <a:off x="5040313" y="4241800"/>
            <a:ext cx="5761037" cy="612775"/>
          </a:xfrm>
          <a:prstGeom prst="cloudCallout">
            <a:avLst>
              <a:gd name="adj1" fmla="val -36560"/>
              <a:gd name="adj2" fmla="val -204523"/>
            </a:avLst>
          </a:prstGeom>
          <a:solidFill>
            <a:srgbClr val="FFFFDD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/>
          <a:lstStyle/>
          <a:p>
            <a:pPr algn="ctr"/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电极反应转移的电子数</a:t>
            </a:r>
          </a:p>
        </p:txBody>
      </p:sp>
      <p:sp>
        <p:nvSpPr>
          <p:cNvPr id="150540" name="Rectangle 12"/>
          <p:cNvSpPr/>
          <p:nvPr/>
        </p:nvSpPr>
        <p:spPr>
          <a:xfrm>
            <a:off x="596900" y="1460500"/>
            <a:ext cx="10328275" cy="182357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0000FF"/>
                </a:solidFill>
                <a:ea typeface="楷体_GB2312"/>
              </a:rPr>
              <a:t>(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</a:rPr>
              <a:t>)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电池符号（用文字表述原电池的设计）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(-)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Zn |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 || 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 | Cu (+)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每个原电池由两个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半电池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构成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对应两个电对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150541" name="Rectangle 13"/>
          <p:cNvSpPr/>
          <p:nvPr/>
        </p:nvSpPr>
        <p:spPr>
          <a:xfrm>
            <a:off x="855207" y="3196259"/>
            <a:ext cx="10328275" cy="513282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 + ne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Red</a:t>
            </a:r>
          </a:p>
        </p:txBody>
      </p:sp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11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2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0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0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0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0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  <p:bldP spid="150534" grpId="0"/>
      <p:bldP spid="150535" grpId="0" bldLvl="0" animBg="1"/>
      <p:bldP spid="150540" grpId="0" build="p"/>
      <p:bldP spid="15054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7" name="Rectangle 17"/>
          <p:cNvSpPr/>
          <p:nvPr/>
        </p:nvSpPr>
        <p:spPr>
          <a:xfrm>
            <a:off x="714809" y="735659"/>
            <a:ext cx="4062486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(5)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书写原电池符号的规则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66582" name="Rectangle 22"/>
          <p:cNvSpPr/>
          <p:nvPr/>
        </p:nvSpPr>
        <p:spPr>
          <a:xfrm>
            <a:off x="714809" y="1102046"/>
            <a:ext cx="10231437" cy="297773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负极“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(-)”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在左边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正极“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(+)”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在右边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两相界面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用“</a:t>
            </a:r>
            <a:r>
              <a:rPr lang="zh-CN" altLang="en-US" sz="25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│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”分开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同相不同物种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用“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,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分开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盐桥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用“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‖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表示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500" b="1" u="sng" dirty="0" smtClean="0">
                <a:latin typeface="Times New Roman" panose="02020603050405020304" pitchFamily="18" charset="0"/>
                <a:ea typeface="楷体_GB2312"/>
              </a:rPr>
              <a:t>非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</a:rPr>
              <a:t>标准态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时要注明</a:t>
            </a:r>
            <a:r>
              <a:rPr lang="en-US" altLang="zh-CN" sz="2500" b="1" i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en-US" altLang="zh-CN" sz="2500" b="1" i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5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; 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标准态 </a:t>
            </a:r>
            <a:r>
              <a:rPr lang="en-US" altLang="zh-CN" sz="2500" b="1" dirty="0" smtClean="0">
                <a:ea typeface="楷体_GB2312" pitchFamily="49" charset="-122"/>
                <a:sym typeface="+mn-ea"/>
              </a:rPr>
              <a:t>1.0mol·L</a:t>
            </a:r>
            <a:r>
              <a:rPr lang="en-US" altLang="zh-CN" sz="2500" b="1" baseline="30000" dirty="0" smtClean="0">
                <a:ea typeface="楷体_GB2312" pitchFamily="49" charset="-122"/>
                <a:sym typeface="+mn-ea"/>
              </a:rPr>
              <a:t>-1  </a:t>
            </a:r>
            <a:r>
              <a:rPr lang="en-US" altLang="zh-CN" sz="2500" b="1" dirty="0" smtClean="0">
                <a:ea typeface="楷体_GB2312" pitchFamily="49" charset="-122"/>
                <a:sym typeface="+mn-ea"/>
              </a:rPr>
              <a:t>100kPa  </a:t>
            </a:r>
            <a:r>
              <a:rPr lang="zh-CN" altLang="en-US" sz="2500" b="1" dirty="0" smtClean="0">
                <a:ea typeface="楷体_GB2312" pitchFamily="49" charset="-122"/>
                <a:sym typeface="+mn-ea"/>
              </a:rPr>
              <a:t>可忽略不写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无金属导体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,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用惰性电极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Pt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或</a:t>
            </a:r>
            <a:r>
              <a:rPr lang="en-US" altLang="zh-CN" sz="25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C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石墨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④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纯液体、固体和气体写在靠惰性电极一边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用“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,”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分开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</p:txBody>
      </p:sp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0" name="文本框 1"/>
          <p:cNvSpPr txBox="1"/>
          <p:nvPr/>
        </p:nvSpPr>
        <p:spPr>
          <a:xfrm>
            <a:off x="663063" y="4475561"/>
            <a:ext cx="10144196" cy="1246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  <a:sym typeface="+mn-ea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+mn-ea"/>
              </a:rPr>
              <a:t>2.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将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反应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:2Fe</a:t>
            </a:r>
            <a:r>
              <a:rPr lang="en-US" altLang="zh-CN" sz="2500" b="1" baseline="30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+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(1.0mol·L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) +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Cl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(100kPa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) → 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2Fe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3+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(0.10mol·L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) 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 +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2Cl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-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(2.0mol·L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)</a:t>
            </a:r>
            <a:r>
              <a:rPr lang="zh-CN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设计</a:t>
            </a:r>
            <a:r>
              <a:rPr lang="zh-CN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成原电池</a:t>
            </a:r>
            <a:r>
              <a:rPr lang="zh-CN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,并</a:t>
            </a:r>
            <a:r>
              <a:rPr lang="zh-CN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写出电池符号.</a:t>
            </a:r>
          </a:p>
        </p:txBody>
      </p:sp>
      <p:sp>
        <p:nvSpPr>
          <p:cNvPr id="11" name="矩形 10"/>
          <p:cNvSpPr/>
          <p:nvPr/>
        </p:nvSpPr>
        <p:spPr>
          <a:xfrm>
            <a:off x="6839227" y="5044126"/>
            <a:ext cx="614271" cy="596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500" b="1" dirty="0" smtClean="0">
                <a:solidFill>
                  <a:srgbClr val="000000"/>
                </a:solidFill>
                <a:ea typeface="楷体_GB2312"/>
                <a:sym typeface="Monotype Sorts" pitchFamily="2" charset="2"/>
                <a:hlinkClick r:id="rId5" action="ppaction://hlinkpres?slideindex=2&amp;slidetitle=幻灯片 2"/>
              </a:rPr>
              <a:t>解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solidFill>
                <a:srgbClr val="000000"/>
              </a:solidFill>
              <a:ea typeface="楷体_GB2312"/>
              <a:sym typeface="Monotype Sorts" pitchFamily="2" charset="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912" y="-307620"/>
            <a:ext cx="1923632" cy="192659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16763" y="3969635"/>
            <a:ext cx="55210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(-) Zn | Zn</a:t>
            </a:r>
            <a:r>
              <a:rPr lang="en-US" altLang="zh-CN" sz="2800" b="1" baseline="30000" dirty="0">
                <a:ea typeface="楷体_GB2312" pitchFamily="49" charset="-122"/>
              </a:rPr>
              <a:t>2+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r>
              <a:rPr lang="en-US" altLang="zh-CN" sz="2800" b="1" dirty="0">
                <a:ea typeface="楷体_GB2312" pitchFamily="49" charset="-122"/>
              </a:rPr>
              <a:t>)  || Cu</a:t>
            </a:r>
            <a:r>
              <a:rPr lang="en-US" altLang="zh-CN" sz="2800" b="1" baseline="30000" dirty="0">
                <a:ea typeface="楷体_GB2312" pitchFamily="49" charset="-122"/>
              </a:rPr>
              <a:t>2+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) | Cu (+)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6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7" grpId="0"/>
      <p:bldP spid="66582" grpId="0" uiExpand="1" build="p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8" name="矩形 7"/>
          <p:cNvSpPr/>
          <p:nvPr/>
        </p:nvSpPr>
        <p:spPr>
          <a:xfrm>
            <a:off x="792485" y="863823"/>
            <a:ext cx="13770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0" dirty="0">
                <a:solidFill>
                  <a:srgbClr val="FF3300"/>
                </a:solidFill>
                <a:ea typeface="楷体_GB2312"/>
                <a:hlinkClick r:id="rId5" action="ppaction://hlinkfile"/>
              </a:rPr>
              <a:t>双电层</a:t>
            </a:r>
            <a:endParaRPr lang="zh-CN" alt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1800597" y="863823"/>
            <a:ext cx="3550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0000FF"/>
                </a:solidFill>
                <a:ea typeface="楷体_GB2312"/>
              </a:rPr>
              <a:t>（电极电势的产生）</a:t>
            </a:r>
            <a:r>
              <a:rPr lang="en-US" altLang="zh-CN" sz="2800" b="1" kern="0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800" b="1" kern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1224533" y="1729456"/>
            <a:ext cx="3995738" cy="3598863"/>
            <a:chOff x="566" y="974"/>
            <a:chExt cx="2517" cy="2267"/>
          </a:xfrm>
        </p:grpSpPr>
        <p:pic>
          <p:nvPicPr>
            <p:cNvPr id="12" name="Picture 12" descr="C:\cpy\wjfx\7-氧化还原\j10-3-1.jpg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" y="974"/>
              <a:ext cx="2517" cy="2267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566" y="2516"/>
              <a:ext cx="2494" cy="720"/>
            </a:xfrm>
            <a:prstGeom prst="rect">
              <a:avLst/>
            </a:prstGeom>
            <a:solidFill>
              <a:srgbClr val="FFF5D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2800" b="1">
                <a:ea typeface="楷体_GB2312" pitchFamily="49" charset="-122"/>
              </a:endParaRPr>
            </a:p>
          </p:txBody>
        </p:sp>
      </p:grp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692846" y="1729456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活泼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692846" y="4105944"/>
            <a:ext cx="1143000" cy="457200"/>
          </a:xfrm>
          <a:prstGeom prst="rect">
            <a:avLst/>
          </a:prstGeom>
          <a:solidFill>
            <a:srgbClr val="FFF8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en-US" altLang="zh-CN" b="1" baseline="30000">
                <a:solidFill>
                  <a:srgbClr val="FF3300"/>
                </a:solidFill>
                <a:ea typeface="楷体_GB2312" pitchFamily="49" charset="-122"/>
              </a:rPr>
              <a:t>n+</a:t>
            </a:r>
            <a:r>
              <a:rPr lang="zh-CN" altLang="en-US" b="1">
                <a:solidFill>
                  <a:srgbClr val="FF977F"/>
                </a:solidFill>
                <a:ea typeface="楷体_GB2312" pitchFamily="49" charset="-122"/>
              </a:rPr>
              <a:t>稀</a:t>
            </a:r>
            <a:endParaRPr lang="zh-CN" altLang="en-US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224533" y="4464719"/>
            <a:ext cx="1970088" cy="457200"/>
          </a:xfrm>
          <a:prstGeom prst="rect">
            <a:avLst/>
          </a:prstGeom>
          <a:solidFill>
            <a:srgbClr val="FFF8D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  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溶解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&gt;</a:t>
            </a:r>
            <a:r>
              <a:rPr lang="zh-CN" altLang="en-US" b="1">
                <a:solidFill>
                  <a:srgbClr val="0000E8"/>
                </a:solidFill>
                <a:ea typeface="楷体_GB2312" pitchFamily="49" charset="-122"/>
              </a:rPr>
              <a:t>沉积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  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707383" y="1729456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zh-CN" altLang="en-US" b="1">
                <a:solidFill>
                  <a:srgbClr val="0000E8"/>
                </a:solidFill>
                <a:ea typeface="楷体_GB2312" pitchFamily="49" charset="-122"/>
              </a:rPr>
              <a:t>不活泼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132708" y="4464719"/>
            <a:ext cx="2046288" cy="457200"/>
          </a:xfrm>
          <a:prstGeom prst="rect">
            <a:avLst/>
          </a:prstGeom>
          <a:solidFill>
            <a:srgbClr val="FFF8D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FFD5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   </a:t>
            </a:r>
            <a:r>
              <a:rPr lang="zh-CN" altLang="en-US" b="1">
                <a:solidFill>
                  <a:srgbClr val="0000E8"/>
                </a:solidFill>
                <a:ea typeface="楷体_GB2312" pitchFamily="49" charset="-122"/>
              </a:rPr>
              <a:t>沉积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&gt;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溶解  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3780408" y="4105944"/>
            <a:ext cx="1143000" cy="457200"/>
          </a:xfrm>
          <a:prstGeom prst="rect">
            <a:avLst/>
          </a:prstGeom>
          <a:solidFill>
            <a:srgbClr val="FFF8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dirty="0" err="1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en-US" altLang="zh-CN" b="1" baseline="30000" dirty="0" err="1">
                <a:solidFill>
                  <a:srgbClr val="FF3300"/>
                </a:solidFill>
                <a:ea typeface="楷体_GB2312" pitchFamily="49" charset="-122"/>
              </a:rPr>
              <a:t>n</a:t>
            </a:r>
            <a:r>
              <a:rPr lang="en-US" altLang="zh-CN" b="1" baseline="30000" dirty="0">
                <a:solidFill>
                  <a:srgbClr val="FF3300"/>
                </a:solidFill>
                <a:ea typeface="楷体_GB2312" pitchFamily="49" charset="-122"/>
              </a:rPr>
              <a:t>+</a:t>
            </a:r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浓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2196083" y="3890044"/>
            <a:ext cx="0" cy="2873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V="1">
            <a:off x="4283646" y="3890044"/>
            <a:ext cx="0" cy="2873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621408" y="4825081"/>
            <a:ext cx="3238500" cy="457200"/>
          </a:xfrm>
          <a:prstGeom prst="rect">
            <a:avLst/>
          </a:prstGeom>
          <a:solidFill>
            <a:srgbClr val="FFF8D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zh-CN" b="1">
                <a:solidFill>
                  <a:srgbClr val="1B1B1B"/>
                </a:solidFill>
                <a:ea typeface="楷体_GB2312" pitchFamily="49" charset="-122"/>
                <a:sym typeface="Monotype Sorts" pitchFamily="2" charset="2"/>
              </a:rPr>
              <a:t>       M </a:t>
            </a:r>
            <a:r>
              <a:rPr lang="en-US" altLang="zh-CN" b="1">
                <a:solidFill>
                  <a:srgbClr val="1B1B1B"/>
                </a:solidFill>
                <a:ea typeface="楷体_GB2312" pitchFamily="49" charset="-122"/>
              </a:rPr>
              <a:t></a:t>
            </a:r>
            <a:r>
              <a:rPr lang="en-US" altLang="zh-CN" b="1">
                <a:solidFill>
                  <a:srgbClr val="1B1B1B"/>
                </a:solidFill>
                <a:ea typeface="楷体_GB2312" pitchFamily="49" charset="-122"/>
                <a:sym typeface="Monotype Sorts" pitchFamily="2" charset="2"/>
              </a:rPr>
              <a:t> M</a:t>
            </a:r>
            <a:r>
              <a:rPr lang="en-US" altLang="zh-CN" b="1" baseline="30000">
                <a:solidFill>
                  <a:srgbClr val="1B1B1B"/>
                </a:solidFill>
                <a:ea typeface="楷体_GB2312" pitchFamily="49" charset="-122"/>
                <a:sym typeface="Monotype Sorts" pitchFamily="2" charset="2"/>
              </a:rPr>
              <a:t>n+</a:t>
            </a:r>
            <a:r>
              <a:rPr lang="en-US" altLang="zh-CN" b="1">
                <a:solidFill>
                  <a:srgbClr val="1B1B1B"/>
                </a:solidFill>
                <a:ea typeface="楷体_GB2312" pitchFamily="49" charset="-122"/>
                <a:sym typeface="Monotype Sorts" pitchFamily="2" charset="2"/>
              </a:rPr>
              <a:t>(aq) +ne</a:t>
            </a:r>
            <a:r>
              <a:rPr lang="en-US" altLang="zh-CN" b="1" baseline="30000">
                <a:solidFill>
                  <a:srgbClr val="1B1B1B"/>
                </a:solidFill>
                <a:ea typeface="楷体_GB2312" pitchFamily="49" charset="-122"/>
                <a:sym typeface="Monotype Sorts" pitchFamily="2" charset="2"/>
              </a:rPr>
              <a:t>-  </a:t>
            </a: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2664396" y="2197769"/>
            <a:ext cx="110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1B1B1B"/>
                </a:solidFill>
                <a:ea typeface="楷体_GB2312" pitchFamily="49" charset="-122"/>
              </a:rPr>
              <a:t>双电层</a:t>
            </a: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H="1">
            <a:off x="2411983" y="2629569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rot="16200000" flipH="1">
            <a:off x="3707383" y="2629569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214777" y="1729456"/>
            <a:ext cx="4578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电极上存在电势差（</a:t>
            </a:r>
            <a:r>
              <a:rPr lang="en-US" altLang="zh-CN" sz="3200" b="1" i="1" dirty="0" smtClean="0">
                <a:solidFill>
                  <a:srgbClr val="FF0000"/>
                </a:solidFill>
                <a:ea typeface="楷体_GB2312"/>
              </a:rPr>
              <a:t>E</a:t>
            </a:r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）</a:t>
            </a:r>
            <a:endParaRPr lang="zh-CN" altLang="en-US" sz="3200" b="1" dirty="0">
              <a:solidFill>
                <a:srgbClr val="FF0000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3069058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nimBg="1" autoUpdateAnimBg="0"/>
      <p:bldP spid="16" grpId="0" animBg="1" autoUpdateAnimBg="0"/>
      <p:bldP spid="17" grpId="0" autoUpdateAnimBg="0"/>
      <p:bldP spid="18" grpId="0" animBg="1" autoUpdateAnimBg="0"/>
      <p:bldP spid="19" grpId="0" animBg="1" autoUpdateAnimBg="0"/>
      <p:bldP spid="22" grpId="0" animBg="1" autoUpdateAnimBg="0"/>
      <p:bldP spid="23" grpId="0" autoUpdateAnimBg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69665" name="Rectangle 33"/>
          <p:cNvSpPr>
            <a:spLocks noChangeArrowheads="1"/>
          </p:cNvSpPr>
          <p:nvPr/>
        </p:nvSpPr>
        <p:spPr bwMode="auto">
          <a:xfrm>
            <a:off x="683578" y="949960"/>
            <a:ext cx="600997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2.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hlinkClick r:id="rId2" action="ppaction://hlinkfile"/>
              </a:rPr>
              <a:t>双电层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与电极电势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（电极电势的产生）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  <a:endParaRPr kumimoji="0" lang="en-US" altLang="zh-CN" sz="2500" b="1" strike="noStrike" kern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69681" name="Rectangle 49"/>
          <p:cNvSpPr/>
          <p:nvPr/>
        </p:nvSpPr>
        <p:spPr>
          <a:xfrm>
            <a:off x="657543" y="1395730"/>
            <a:ext cx="10207625" cy="9366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双电层间的电势差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实际上就是氧化还原电对的平衡电势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称之为电极反应的电势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简称为电极电势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). 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6" name="椭圆 68634" descr="图片9">
            <a:hlinkClick r:id="rId4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479" y="2423737"/>
            <a:ext cx="699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每一种电极都有</a:t>
            </a:r>
            <a:r>
              <a:rPr lang="zh-CN" altLang="en-US" sz="2400" b="1" dirty="0" smtClean="0">
                <a:ea typeface="楷体_GB2312"/>
              </a:rPr>
              <a:t>电极电势，但无法直接测出绝对值</a:t>
            </a:r>
            <a:endParaRPr lang="zh-CN" altLang="en-US" sz="24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67" y="2924823"/>
            <a:ext cx="1026152" cy="94953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511073" y="3399592"/>
            <a:ext cx="211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FF"/>
                </a:solidFill>
                <a:ea typeface="楷体_GB2312"/>
              </a:rPr>
              <a:t>找参比 对照物</a:t>
            </a:r>
            <a:endParaRPr lang="zh-CN" altLang="en-US" sz="2400" b="1" dirty="0">
              <a:solidFill>
                <a:srgbClr val="0000FF"/>
              </a:solidFill>
              <a:ea typeface="楷体_GB231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704" y="2885402"/>
            <a:ext cx="6108131" cy="329815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65" grpId="0" bldLvl="0" animBg="1"/>
      <p:bldP spid="69681" grpId="0"/>
      <p:bldP spid="13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8" name="Rectangle 29"/>
          <p:cNvSpPr/>
          <p:nvPr/>
        </p:nvSpPr>
        <p:spPr>
          <a:xfrm>
            <a:off x="683578" y="767694"/>
            <a:ext cx="268054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3.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hlinkClick r:id="rId3" action="ppaction://hlinkfile"/>
              </a:rPr>
              <a:t>电极电势的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hlinkClick r:id="rId3" action="ppaction://hlinkfile"/>
              </a:rPr>
              <a:t>测定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" name="Rectangle 31"/>
          <p:cNvSpPr/>
          <p:nvPr/>
        </p:nvSpPr>
        <p:spPr>
          <a:xfrm>
            <a:off x="1515356" y="1778236"/>
            <a:ext cx="7200800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MF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+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-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-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36654" y="2033062"/>
            <a:ext cx="6416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023849" y="1802230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电动势</a:t>
            </a:r>
            <a:endParaRPr lang="zh-CN" altLang="en-US" sz="2400" b="1" dirty="0">
              <a:ea typeface="楷体_GB231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288675" y="207744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867858" y="183482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  <a:hlinkClick r:id="" action="ppaction://hlinkshowjump?jump=nextslide"/>
              </a:rPr>
              <a:t>参比电极</a:t>
            </a:r>
            <a:r>
              <a:rPr lang="zh-CN" altLang="en-US" sz="2400" b="1" dirty="0" smtClean="0">
                <a:ea typeface="楷体_GB2312"/>
              </a:rPr>
              <a:t>电势</a:t>
            </a:r>
            <a:endParaRPr lang="zh-CN" altLang="en-US" sz="2400" dirty="0"/>
          </a:p>
        </p:txBody>
      </p:sp>
      <p:sp>
        <p:nvSpPr>
          <p:cNvPr id="14" name="Rectangle 30"/>
          <p:cNvSpPr/>
          <p:nvPr/>
        </p:nvSpPr>
        <p:spPr>
          <a:xfrm>
            <a:off x="2023849" y="1363703"/>
            <a:ext cx="10328275" cy="47561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将待测电极与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hlinkClick r:id="" action="ppaction://hlinkshowjump?jump=nextslide"/>
              </a:rPr>
              <a:t>参比电极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构成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原电池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Webdings" panose="05030102010509060703" pitchFamily="18" charset="2"/>
            </a:endParaRPr>
          </a:p>
        </p:txBody>
      </p:sp>
      <p:sp>
        <p:nvSpPr>
          <p:cNvPr id="15" name="Rectangle 16"/>
          <p:cNvSpPr/>
          <p:nvPr/>
        </p:nvSpPr>
        <p:spPr>
          <a:xfrm>
            <a:off x="599014" y="2193405"/>
            <a:ext cx="2357437" cy="48096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参比电极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6" name="Rectangle 18"/>
          <p:cNvSpPr/>
          <p:nvPr/>
        </p:nvSpPr>
        <p:spPr>
          <a:xfrm>
            <a:off x="936501" y="2669655"/>
            <a:ext cx="10207625" cy="9366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电极电势在测定过程中保持恒定不变的电极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一般选择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hlinkClick r:id="rId4" action="ppaction://hlinkfile"/>
              </a:rPr>
              <a:t>标准氢电极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" name="Rectangle 14"/>
          <p:cNvSpPr/>
          <p:nvPr/>
        </p:nvSpPr>
        <p:spPr>
          <a:xfrm>
            <a:off x="251619" y="3471868"/>
            <a:ext cx="6199187" cy="186204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电极反应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(g) ⇋ 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(aq)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半电池</a:t>
            </a:r>
            <a:r>
              <a:rPr lang="en-US" altLang="zh-CN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Pt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|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(100kPa) | 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(1mol·L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规定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任意温度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):</a:t>
            </a:r>
          </a:p>
        </p:txBody>
      </p:sp>
      <p:sp>
        <p:nvSpPr>
          <p:cNvPr id="18" name="Rectangle 15"/>
          <p:cNvSpPr/>
          <p:nvPr/>
        </p:nvSpPr>
        <p:spPr>
          <a:xfrm>
            <a:off x="1304902" y="5266588"/>
            <a:ext cx="3663503" cy="477054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10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 = 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10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12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/</a:t>
            </a:r>
            <a:r>
              <a:rPr lang="en-US" altLang="zh-CN" sz="25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4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0V.</a:t>
            </a:r>
          </a:p>
        </p:txBody>
      </p:sp>
      <p:pic>
        <p:nvPicPr>
          <p:cNvPr id="20" name="Picture 3" descr="C:\Users\Administrator\Desktop\timg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097" y="3298294"/>
            <a:ext cx="3536536" cy="315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圆角矩形标注 20"/>
          <p:cNvSpPr/>
          <p:nvPr/>
        </p:nvSpPr>
        <p:spPr>
          <a:xfrm>
            <a:off x="4176861" y="3672135"/>
            <a:ext cx="1368152" cy="648072"/>
          </a:xfrm>
          <a:prstGeom prst="wedgeRoundRectCallout">
            <a:avLst>
              <a:gd name="adj1" fmla="val -71110"/>
              <a:gd name="adj2" fmla="val -8274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纯度高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压力稳定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19304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9" grpId="1"/>
      <p:bldP spid="14" grpId="0" uiExpand="1" build="p"/>
      <p:bldP spid="15" grpId="0"/>
      <p:bldP spid="16" grpId="0" build="p"/>
      <p:bldP spid="17" grpId="0" build="p"/>
      <p:bldP spid="18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/>
          <p:cNvSpPr/>
          <p:nvPr/>
        </p:nvSpPr>
        <p:spPr>
          <a:xfrm>
            <a:off x="720477" y="863823"/>
            <a:ext cx="235833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4.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标准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电极电势</a:t>
            </a:r>
            <a:endParaRPr lang="en-US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360437" y="1511895"/>
            <a:ext cx="8764219" cy="4756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　　参与电极反应的物质都处于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标准态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活度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=1)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时的电极电势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" name="Rectangle 43"/>
          <p:cNvSpPr>
            <a:spLocks noChangeArrowheads="1"/>
          </p:cNvSpPr>
          <p:nvPr/>
        </p:nvSpPr>
        <p:spPr bwMode="auto">
          <a:xfrm>
            <a:off x="1080517" y="1987510"/>
            <a:ext cx="348685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标准电极电势值见附录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endParaRPr kumimoji="0" lang="zh-CN" altLang="en-US" sz="2500" b="1" u="none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52112" y="2647791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楷体_GB2312"/>
                <a:sym typeface="Symbol" panose="05050102010706020507" pitchFamily="18" charset="2"/>
              </a:rPr>
              <a:t>标准态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76661" y="2562596"/>
            <a:ext cx="262283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液体：</a:t>
            </a:r>
            <a:r>
              <a:rPr lang="en-US" altLang="zh-CN" sz="3200" dirty="0" smtClean="0">
                <a:solidFill>
                  <a:srgbClr val="FF0000"/>
                </a:solidFill>
              </a:rPr>
              <a:t>1mol/L</a:t>
            </a:r>
          </a:p>
          <a:p>
            <a:r>
              <a:rPr lang="zh-CN" altLang="en-US" sz="3200" dirty="0" smtClean="0">
                <a:solidFill>
                  <a:srgbClr val="FF0000"/>
                </a:solidFill>
              </a:rPr>
              <a:t>气体：</a:t>
            </a:r>
            <a:r>
              <a:rPr lang="en-US" altLang="zh-CN" sz="3200" dirty="0" smtClean="0">
                <a:solidFill>
                  <a:srgbClr val="FF0000"/>
                </a:solidFill>
              </a:rPr>
              <a:t>1atm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939464" y="4144950"/>
            <a:ext cx="8120062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(-)Zn|Zn</a:t>
            </a:r>
            <a:r>
              <a:rPr lang="en-US" altLang="zh-CN" sz="2800" b="1" baseline="30000" dirty="0">
                <a:ea typeface="楷体_GB2312" pitchFamily="49" charset="-122"/>
                <a:sym typeface="Symbol" panose="05050102010706020507" pitchFamily="18" charset="2"/>
              </a:rPr>
              <a:t>2+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1mol·L</a:t>
            </a:r>
            <a:r>
              <a:rPr lang="en-US" altLang="zh-CN" sz="2800" b="1" baseline="30000" dirty="0">
                <a:ea typeface="楷体_GB2312" pitchFamily="49" charset="-122"/>
              </a:rPr>
              <a:t>-1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)||</a:t>
            </a:r>
            <a:r>
              <a:rPr lang="en-US" altLang="zh-CN" sz="2800" b="1" dirty="0">
                <a:ea typeface="楷体_GB2312" pitchFamily="49" charset="-122"/>
              </a:rPr>
              <a:t>H</a:t>
            </a:r>
            <a:r>
              <a:rPr lang="en-US" altLang="zh-CN" sz="2800" b="1" baseline="30000" dirty="0">
                <a:ea typeface="楷体_GB2312" pitchFamily="49" charset="-122"/>
              </a:rPr>
              <a:t>+</a:t>
            </a:r>
            <a:r>
              <a:rPr lang="en-US" altLang="zh-CN" sz="2800" b="1" dirty="0">
                <a:ea typeface="楷体_GB2312" pitchFamily="49" charset="-122"/>
              </a:rPr>
              <a:t>(1mol·L</a:t>
            </a:r>
            <a:r>
              <a:rPr lang="en-US" altLang="zh-CN" sz="2800" b="1" baseline="30000" dirty="0">
                <a:ea typeface="楷体_GB2312" pitchFamily="49" charset="-122"/>
              </a:rPr>
              <a:t>-1</a:t>
            </a:r>
            <a:r>
              <a:rPr lang="en-US" altLang="zh-CN" sz="2800" b="1" dirty="0">
                <a:ea typeface="楷体_GB2312" pitchFamily="49" charset="-122"/>
              </a:rPr>
              <a:t>)|H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100k</a:t>
            </a:r>
            <a:r>
              <a:rPr lang="en-US" altLang="zh-CN" sz="2800" b="1" dirty="0">
                <a:ea typeface="楷体_GB2312" pitchFamily="49" charset="-122"/>
              </a:rPr>
              <a:t>Pa),Pt(+) 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ea typeface="楷体_GB2312" pitchFamily="49" charset="-122"/>
              </a:rPr>
              <a:t>298.15K</a:t>
            </a:r>
            <a:r>
              <a:rPr lang="zh-CN" altLang="en-US" sz="2800" b="1" dirty="0">
                <a:ea typeface="楷体_GB2312" pitchFamily="49" charset="-122"/>
              </a:rPr>
              <a:t>时测得标准电动势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</a:rPr>
              <a:t>=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0.763V.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ea typeface="楷体_GB2312" pitchFamily="49" charset="-122"/>
              </a:rPr>
              <a:t>据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</a:rPr>
              <a:t>=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baseline="-25000" dirty="0">
                <a:ea typeface="楷体_GB2312" pitchFamily="49" charset="-122"/>
                <a:sym typeface="Symbol" panose="05050102010706020507" pitchFamily="18" charset="2"/>
              </a:rPr>
              <a:t>(+)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-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baseline="-25000" dirty="0">
                <a:ea typeface="楷体_GB2312" pitchFamily="49" charset="-122"/>
                <a:sym typeface="Symbol" panose="05050102010706020507" pitchFamily="18" charset="2"/>
              </a:rPr>
              <a:t>(-)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=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(H</a:t>
            </a:r>
            <a:r>
              <a:rPr lang="en-US" altLang="zh-CN" sz="2800" b="1" baseline="30000" dirty="0">
                <a:ea typeface="楷体_GB2312" pitchFamily="49" charset="-122"/>
                <a:sym typeface="Webdings" panose="05030102010509060703" pitchFamily="18" charset="2"/>
              </a:rPr>
              <a:t>+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/</a:t>
            </a:r>
            <a:r>
              <a:rPr lang="en-US" altLang="zh-CN" sz="2800" b="1" dirty="0">
                <a:ea typeface="楷体_GB2312" pitchFamily="49" charset="-122"/>
              </a:rPr>
              <a:t>H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)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-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Zn</a:t>
            </a:r>
            <a:r>
              <a:rPr lang="en-US" altLang="zh-CN" sz="2800" b="1" baseline="30000" dirty="0">
                <a:ea typeface="楷体_GB2312" pitchFamily="49" charset="-122"/>
              </a:rPr>
              <a:t>2+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/</a:t>
            </a:r>
            <a:r>
              <a:rPr lang="en-US" altLang="zh-CN" sz="2800" b="1" dirty="0">
                <a:ea typeface="楷体_GB2312" pitchFamily="49" charset="-122"/>
              </a:rPr>
              <a:t>Zn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)</a:t>
            </a:r>
            <a:endParaRPr lang="en-US" altLang="zh-CN" sz="2800" b="1" dirty="0">
              <a:ea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∵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(H</a:t>
            </a:r>
            <a:r>
              <a:rPr lang="en-US" altLang="zh-CN" sz="2800" b="1" baseline="30000" dirty="0">
                <a:ea typeface="楷体_GB2312" pitchFamily="49" charset="-122"/>
                <a:sym typeface="Webdings" panose="05030102010509060703" pitchFamily="18" charset="2"/>
              </a:rPr>
              <a:t>+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/</a:t>
            </a:r>
            <a:r>
              <a:rPr lang="en-US" altLang="zh-CN" sz="2800" b="1" dirty="0">
                <a:ea typeface="楷体_GB2312" pitchFamily="49" charset="-122"/>
              </a:rPr>
              <a:t>H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)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= 0.000V</a:t>
            </a: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∴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 i="1" baseline="-250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1600" b="1" baseline="100000" dirty="0"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Zn</a:t>
            </a:r>
            <a:r>
              <a:rPr lang="en-US" altLang="zh-CN" sz="2800" b="1" baseline="30000" dirty="0">
                <a:ea typeface="楷体_GB2312" pitchFamily="49" charset="-122"/>
              </a:rPr>
              <a:t>2+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/</a:t>
            </a:r>
            <a:r>
              <a:rPr lang="en-US" altLang="zh-CN" sz="2800" b="1" dirty="0">
                <a:ea typeface="楷体_GB2312" pitchFamily="49" charset="-122"/>
              </a:rPr>
              <a:t>Zn</a:t>
            </a:r>
            <a:r>
              <a:rPr lang="en-US" altLang="zh-CN" sz="2800" b="1" dirty="0">
                <a:ea typeface="楷体_GB2312" pitchFamily="49" charset="-122"/>
                <a:sym typeface="Webdings" panose="05030102010509060703" pitchFamily="18" charset="2"/>
              </a:rPr>
              <a:t>) = - 0.763V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40901" y="3591868"/>
            <a:ext cx="8120062" cy="56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en-US" altLang="zh-CN" sz="2500" b="1" dirty="0" smtClean="0">
                <a:ea typeface="楷体_GB2312"/>
              </a:rPr>
              <a:t>Zn2</a:t>
            </a:r>
            <a:r>
              <a:rPr lang="en-US" altLang="zh-CN" sz="2500" b="1" dirty="0">
                <a:ea typeface="楷体_GB2312"/>
              </a:rPr>
              <a:t>+</a:t>
            </a:r>
            <a:r>
              <a:rPr lang="en-US" altLang="zh-CN" sz="2500" b="1" dirty="0">
                <a:ea typeface="楷体_GB231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ea typeface="楷体_GB2312"/>
              </a:rPr>
              <a:t>Zn</a:t>
            </a:r>
            <a:r>
              <a:rPr lang="zh-CN" altLang="en-US" sz="2500" b="1" dirty="0">
                <a:ea typeface="楷体_GB2312"/>
              </a:rPr>
              <a:t>电极反应电势的测定</a:t>
            </a:r>
            <a:r>
              <a:rPr lang="en-US" altLang="zh-CN" sz="2500" b="1" dirty="0">
                <a:ea typeface="楷体_GB2312"/>
              </a:rPr>
              <a:t>:</a:t>
            </a:r>
          </a:p>
        </p:txBody>
      </p:sp>
      <p:sp>
        <p:nvSpPr>
          <p:cNvPr id="12" name="矩形 11"/>
          <p:cNvSpPr/>
          <p:nvPr/>
        </p:nvSpPr>
        <p:spPr>
          <a:xfrm>
            <a:off x="3128309" y="840740"/>
            <a:ext cx="5597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E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anose="05030102010509060703" pitchFamily="18" charset="2"/>
              </a:rPr>
              <a:t>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83228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ldLvl="0" animBg="1"/>
      <p:bldP spid="9" grpId="0" build="p" autoUpdateAnimBg="0"/>
      <p:bldP spid="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0" name="Rectangle 8"/>
          <p:cNvSpPr/>
          <p:nvPr/>
        </p:nvSpPr>
        <p:spPr>
          <a:xfrm>
            <a:off x="872616" y="2606149"/>
            <a:ext cx="5000622" cy="24003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电极反应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Hg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(s) + 2e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⇋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2Hg(l) + 2Cl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(aq)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半电池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Hg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|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Hg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(s) | KCl(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饱和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25℃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时电极电势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 </a:t>
            </a:r>
          </a:p>
        </p:txBody>
      </p:sp>
      <p:sp>
        <p:nvSpPr>
          <p:cNvPr id="59402" name="Rectangle 10"/>
          <p:cNvSpPr/>
          <p:nvPr/>
        </p:nvSpPr>
        <p:spPr>
          <a:xfrm>
            <a:off x="546063" y="1239823"/>
            <a:ext cx="10207625" cy="51552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　　实际应用时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常采用二级标准电极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如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  <a:hlinkClick r:id="rId3" action="ppaction://hlinkfile"/>
              </a:rPr>
              <a:t>饱和甘汞电极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(SCE).</a:t>
            </a:r>
          </a:p>
        </p:txBody>
      </p:sp>
      <p:sp>
        <p:nvSpPr>
          <p:cNvPr id="59405" name="Rectangle 13"/>
          <p:cNvSpPr/>
          <p:nvPr/>
        </p:nvSpPr>
        <p:spPr>
          <a:xfrm>
            <a:off x="920343" y="5061379"/>
            <a:ext cx="6240462" cy="55399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SCE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 = +0.2445V.</a:t>
            </a:r>
          </a:p>
        </p:txBody>
      </p:sp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10" name="椭圆 62501" descr="图片8">
            <a:hlinkClick r:id="rId4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5546723" y="5668979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pic>
        <p:nvPicPr>
          <p:cNvPr id="3074" name="Picture 2" descr="C:\Users\Administrator\Desktop\timg (1)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077" y="1943942"/>
            <a:ext cx="4896544" cy="3726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80517" y="748052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ea typeface="楷体_GB2312"/>
                <a:hlinkClick r:id="rId7" action="ppaction://hlinkfile"/>
              </a:rPr>
              <a:t>标准氢电极</a:t>
            </a:r>
            <a:r>
              <a:rPr lang="zh-CN" altLang="en-US" sz="2800" b="1" dirty="0" smtClean="0">
                <a:solidFill>
                  <a:srgbClr val="0070C0"/>
                </a:solidFill>
                <a:ea typeface="楷体_GB2312"/>
              </a:rPr>
              <a:t>为一级电极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4254692" y="1930976"/>
            <a:ext cx="1618546" cy="662207"/>
          </a:xfrm>
          <a:prstGeom prst="wedgeEllipseCallout">
            <a:avLst>
              <a:gd name="adj1" fmla="val -54680"/>
              <a:gd name="adj2" fmla="val -9182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0070C0"/>
                </a:solidFill>
                <a:ea typeface="楷体_GB2312"/>
              </a:rPr>
              <a:t>H</a:t>
            </a:r>
            <a:r>
              <a:rPr lang="zh-CN" altLang="en-US" b="1" dirty="0" smtClean="0">
                <a:solidFill>
                  <a:srgbClr val="0070C0"/>
                </a:solidFill>
                <a:ea typeface="楷体_GB2312"/>
              </a:rPr>
              <a:t>电极作为参比</a:t>
            </a:r>
            <a:endParaRPr lang="zh-CN" altLang="en-US" b="1" dirty="0">
              <a:solidFill>
                <a:srgbClr val="0070C0"/>
              </a:solidFill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 build="p"/>
      <p:bldP spid="59402" grpId="0"/>
      <p:bldP spid="59405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7" name="Rectangle 5"/>
          <p:cNvSpPr/>
          <p:nvPr/>
        </p:nvSpPr>
        <p:spPr>
          <a:xfrm>
            <a:off x="657543" y="924878"/>
            <a:ext cx="1020762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注意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95242" name="Rectangle 10"/>
          <p:cNvSpPr/>
          <p:nvPr/>
        </p:nvSpPr>
        <p:spPr>
          <a:xfrm>
            <a:off x="657543" y="1401128"/>
            <a:ext cx="11014075" cy="3554819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采用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1953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IUPAC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规定的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还原电势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即认为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Zn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更易失电子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故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Zn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) &lt; 0;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无加合性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:2Cu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+ 4e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2Cu,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=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+0.3419V;       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Cu,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=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+0.3419V.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楷体" panose="02010609060101010101" charset="-122"/>
                <a:ea typeface="楷体_GB2312"/>
                <a:sym typeface="Monotype Sorts" pitchFamily="2" charset="2"/>
              </a:rPr>
              <a:t>③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与电极反应作正负极无关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Zn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 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-0.7618V;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Zn - 2e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⇋ 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-0.7618V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20487" name="Rectangle 49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5.1.3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原电池与电极电势</a:t>
            </a:r>
          </a:p>
        </p:txBody>
      </p:sp>
      <p:sp>
        <p:nvSpPr>
          <p:cNvPr id="8" name="椭圆 62501" descr="图片8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0" name="椭圆 62544" descr="图片1">
            <a:hlinkClick r:id="rId4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5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5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 build="p"/>
      <p:bldP spid="95242" grpId="0" uiExpand="1" build="p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1562</TotalTime>
  <Words>1783</Words>
  <Application>Microsoft Office PowerPoint</Application>
  <PresentationFormat>自定义</PresentationFormat>
  <Paragraphs>285</Paragraphs>
  <Slides>25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Monotype Sorts</vt:lpstr>
      <vt:lpstr>黑体</vt:lpstr>
      <vt:lpstr>楷体</vt:lpstr>
      <vt:lpstr>楷体_GB2312</vt:lpstr>
      <vt:lpstr>宋体</vt:lpstr>
      <vt:lpstr>Arial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PowerPoint 演示文稿</vt:lpstr>
      <vt:lpstr>PowerPoint 演示文稿</vt:lpstr>
      <vt:lpstr>5.1氧化还原反应与电极电势</vt:lpstr>
      <vt:lpstr>5.1.1氧化数与氧化还原反应</vt:lpstr>
      <vt:lpstr>5.1.1氧化数与氧化还原反应</vt:lpstr>
      <vt:lpstr>5.1.1氧化数与氧化还原反应</vt:lpstr>
      <vt:lpstr>5.1.1氧化数与氧化还原反应</vt:lpstr>
      <vt:lpstr>5.1.1氧化数与氧化还原反应</vt:lpstr>
      <vt:lpstr>5.1.1氧化数与氧化还原反应</vt:lpstr>
      <vt:lpstr>5.1.1影响氧化数与氧化还原反应因素</vt:lpstr>
      <vt:lpstr>5.1.1氧化数与氧化还原反应</vt:lpstr>
      <vt:lpstr>5.1.2 氧化还原反应方程式配平</vt:lpstr>
      <vt:lpstr>5.1.2氧化还原反应方程式配平</vt:lpstr>
      <vt:lpstr>5.1.2 氧化还原反应方程式配平</vt:lpstr>
      <vt:lpstr>PowerPoint 演示文稿</vt:lpstr>
      <vt:lpstr>5.1.2氧化还原反应方程式配平</vt:lpstr>
      <vt:lpstr>5.1.3原电池与电极电势</vt:lpstr>
      <vt:lpstr>5.1.3原电池与电极电势</vt:lpstr>
      <vt:lpstr>5.1.3原电池与电极电势</vt:lpstr>
      <vt:lpstr>5.1.3原电池与电极电势</vt:lpstr>
      <vt:lpstr>5.1.3原电池与电极电势</vt:lpstr>
      <vt:lpstr>PowerPoint 演示文稿</vt:lpstr>
      <vt:lpstr>PowerPoint 演示文稿</vt:lpstr>
      <vt:lpstr>5.1.3原电池与电极电势</vt:lpstr>
      <vt:lpstr>5.1.3原电池与电极电势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ch05-01氧化还原平衡</dc:title>
  <dc:creator>江南大学</dc:creator>
  <cp:lastModifiedBy>USER</cp:lastModifiedBy>
  <cp:revision>384</cp:revision>
  <dcterms:created xsi:type="dcterms:W3CDTF">2012-06-20T03:37:00Z</dcterms:created>
  <dcterms:modified xsi:type="dcterms:W3CDTF">2021-11-08T15:26:49Z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