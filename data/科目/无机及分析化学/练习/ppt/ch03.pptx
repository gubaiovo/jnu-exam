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7"/>
  </p:notes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99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</p:sldIdLst>
  <p:sldSz cx="11522075" cy="6480175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gb2312"/>
  <p:clrMru>
    <a:srgbClr val="FFFFFF"/>
    <a:srgbClr val="FFFF00"/>
    <a:srgbClr val="F8F8F8"/>
    <a:srgbClr val="66CCFF"/>
    <a:srgbClr val="85D9F7"/>
    <a:srgbClr val="57BBFF"/>
    <a:srgbClr val="000000"/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2" autoAdjust="0"/>
    <p:restoredTop sz="94620" autoAdjust="0"/>
  </p:normalViewPr>
  <p:slideViewPr>
    <p:cSldViewPr>
      <p:cViewPr varScale="1">
        <p:scale>
          <a:sx n="70" d="100"/>
          <a:sy n="70" d="100"/>
        </p:scale>
        <p:origin x="-852" y="-108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2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48E2F518-4602-4DB7-8B6A-9480D3D91987}" type="datetimeFigureOut">
              <a:rPr lang="zh-CN" altLang="en-US"/>
              <a:pPr>
                <a:defRPr/>
              </a:pPr>
              <a:t>2017/8/24</a:t>
            </a:fld>
            <a:endParaRPr lang="en-US" altLang="zh-CN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7DD99DD2-8D54-45AB-B5D6-A2F3E46FACA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12"/>
          <p:cNvGrpSpPr>
            <a:grpSpLocks/>
          </p:cNvGrpSpPr>
          <p:nvPr userDrawn="1"/>
        </p:nvGrpSpPr>
        <p:grpSpPr bwMode="auto">
          <a:xfrm>
            <a:off x="0" y="0"/>
            <a:ext cx="11522075" cy="6513513"/>
            <a:chOff x="0" y="0"/>
            <a:chExt cx="7258" cy="4103"/>
          </a:xfrm>
        </p:grpSpPr>
        <p:grpSp>
          <p:nvGrpSpPr>
            <p:cNvPr id="1027" name="Group 100"/>
            <p:cNvGrpSpPr>
              <a:grpSpLocks/>
            </p:cNvGrpSpPr>
            <p:nvPr userDrawn="1"/>
          </p:nvGrpSpPr>
          <p:grpSpPr bwMode="auto">
            <a:xfrm>
              <a:off x="0" y="0"/>
              <a:ext cx="3627" cy="4103"/>
              <a:chOff x="204" y="45"/>
              <a:chExt cx="6325" cy="3401"/>
            </a:xfrm>
          </p:grpSpPr>
          <p:pic>
            <p:nvPicPr>
              <p:cNvPr id="1031" name="Picture 60" descr="图片2"/>
              <p:cNvPicPr>
                <a:picLocks noChangeArrowheads="1"/>
              </p:cNvPicPr>
              <p:nvPr userDrawn="1"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391" y="181"/>
                <a:ext cx="5962" cy="3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032" name="Picture 67" descr="01"/>
              <p:cNvPicPr>
                <a:picLocks noChangeArrowheads="1"/>
              </p:cNvPicPr>
              <p:nvPr userDrawn="1"/>
            </p:nvPicPr>
            <p:blipFill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204" y="45"/>
                <a:ext cx="6325" cy="3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028" name="Group 103"/>
            <p:cNvGrpSpPr>
              <a:grpSpLocks/>
            </p:cNvGrpSpPr>
            <p:nvPr userDrawn="1"/>
          </p:nvGrpSpPr>
          <p:grpSpPr bwMode="auto">
            <a:xfrm>
              <a:off x="3631" y="0"/>
              <a:ext cx="3627" cy="4103"/>
              <a:chOff x="204" y="45"/>
              <a:chExt cx="6325" cy="3401"/>
            </a:xfrm>
          </p:grpSpPr>
          <p:pic>
            <p:nvPicPr>
              <p:cNvPr id="1029" name="Picture 60" descr="图片2"/>
              <p:cNvPicPr>
                <a:picLocks noChangeArrowheads="1"/>
              </p:cNvPicPr>
              <p:nvPr userDrawn="1"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391" y="181"/>
                <a:ext cx="5962" cy="3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030" name="Picture 67" descr="01"/>
              <p:cNvPicPr>
                <a:picLocks noChangeArrowheads="1"/>
              </p:cNvPicPr>
              <p:nvPr userDrawn="1"/>
            </p:nvPicPr>
            <p:blipFill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204" y="45"/>
                <a:ext cx="6325" cy="3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slow">
    <p:split orient="vert"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因一个质子的得失而相互转变的每一对酸碱就被称为共轭酸碱对，酸比它的共轭碱多一个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质子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或者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说碱比它的共轭酸少一个质子。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81296"/>
            <a:ext cx="5329238" cy="1215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3-1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指出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下列各种酸的共扼碱：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、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HCO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+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OH</a:t>
            </a:r>
            <a:r>
              <a:rPr lang="en-US" altLang="zh-CN" sz="2400" b="1" kern="100" baseline="30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O</a:t>
            </a:r>
            <a:r>
              <a:rPr lang="zh-CN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HCO</a:t>
            </a:r>
            <a:r>
              <a:rPr lang="en-US" altLang="zh-CN" sz="2400" b="1" kern="100" baseline="-250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baseline="300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CO</a:t>
            </a:r>
            <a:r>
              <a:rPr lang="en-US" altLang="zh-CN" sz="2400" b="1" kern="100" baseline="-250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baseline="300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2-</a:t>
            </a:r>
            <a:r>
              <a:rPr lang="zh-CN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NH</a:t>
            </a:r>
            <a:r>
              <a:rPr lang="en-US" altLang="zh-CN" sz="2400" b="1" kern="100" baseline="-250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baseline="30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NH</a:t>
            </a:r>
            <a:r>
              <a:rPr lang="en-US" altLang="zh-CN" sz="2400" b="1" kern="100" baseline="-250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3</a:t>
            </a:r>
            <a:endParaRPr lang="zh-CN" altLang="zh-CN" sz="1050" kern="100" dirty="0">
              <a:solidFill>
                <a:srgbClr val="FFFFFF"/>
              </a:solidFill>
              <a:latin typeface="Times New Roman"/>
              <a:ea typeface="宋体"/>
            </a:endParaRPr>
          </a:p>
        </p:txBody>
      </p:sp>
      <p:sp>
        <p:nvSpPr>
          <p:cNvPr id="2055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根据酸碱质子理论，能给出质子的物质是酸，能接受质子的物质是碱。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81296"/>
            <a:ext cx="5329238" cy="1215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3-2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用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合适的方程式来说明下列物质既是酸又是碱：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HCO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PO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1963738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2406650"/>
            <a:ext cx="5329237" cy="3786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        HAc+H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O⇋Ac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+</a:t>
            </a:r>
            <a:endParaRPr lang="zh-CN" altLang="zh-CN" sz="2400" b="1" kern="100" dirty="0" smtClean="0">
              <a:latin typeface="+mn-lt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              NH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O⇋NH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+OH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</a:p>
          <a:p>
            <a:pPr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HCO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   HCO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O⇋ CO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+</a:t>
            </a:r>
            <a:endParaRPr lang="en-US" altLang="zh-CN" sz="2400" b="1" kern="100" dirty="0" smtClean="0">
              <a:latin typeface="+mn-lt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               HCO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O⇋ 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CO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 OH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HSO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   HSO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O⇋ SO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+</a:t>
            </a:r>
            <a:endParaRPr lang="zh-CN" altLang="zh-CN" sz="2400" b="1" kern="100" dirty="0" smtClean="0">
              <a:latin typeface="+mn-lt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              HSO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O⇋ 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SO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+OH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NH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       NH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O⇋OH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+NH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+</a:t>
            </a:r>
            <a:endParaRPr lang="zh-CN" altLang="zh-CN" sz="2400" b="1" kern="100" dirty="0" smtClean="0">
              <a:latin typeface="+mn-lt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              2NH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(l)⇋NH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+NH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PO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  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PO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O⇋ HPO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+</a:t>
            </a:r>
            <a:endParaRPr lang="zh-CN" altLang="zh-CN" sz="2400" b="1" kern="100" dirty="0" smtClean="0">
              <a:latin typeface="+mn-lt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              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PO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O⇋ 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PO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+ OH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endParaRPr lang="zh-CN" altLang="zh-CN" sz="2400" b="1" kern="100" dirty="0" smtClean="0">
              <a:latin typeface="+mn-lt"/>
              <a:ea typeface="华文新魏" pitchFamily="2" charset="-122"/>
            </a:endParaRPr>
          </a:p>
        </p:txBody>
      </p:sp>
      <p:sp>
        <p:nvSpPr>
          <p:cNvPr id="3079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根据</a:t>
            </a:r>
            <a:r>
              <a:rPr lang="en-US" altLang="zh-CN" sz="2400" b="1" i="1" kern="100" dirty="0" err="1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i="1" kern="100" baseline="-25000" dirty="0" err="1">
                <a:latin typeface="Times New Roman"/>
                <a:ea typeface="华文新魏" pitchFamily="2" charset="-122"/>
              </a:rPr>
              <a:t>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值判断给出质子能力的大小并进行比较，其中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为二元酸，所以酸性最强。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57012"/>
            <a:ext cx="5329238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3-3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比较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下列溶液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浓度的相对大小，并简要说明其原因。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HCOOH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HAc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HCN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0.1mol·L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&gt;0.1mol·L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HCl</a:t>
            </a:r>
          </a:p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&gt;0.1mol·L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HCOOH</a:t>
            </a:r>
          </a:p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&gt;0.1mol·L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HAc&gt;0.1mol·L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HCN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103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根据解离平衡和解离常数的表达式进行计算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。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algn="ctr">
              <a:defRPr/>
            </a:pPr>
            <a:r>
              <a:rPr lang="en-US" altLang="zh-CN" sz="2400" b="1" dirty="0">
                <a:ea typeface="楷体_GB2312" pitchFamily="49" charset="-122"/>
              </a:rPr>
              <a:t>[H</a:t>
            </a:r>
            <a:r>
              <a:rPr lang="en-US" altLang="zh-CN" sz="2400" b="1" baseline="30000" dirty="0">
                <a:ea typeface="楷体_GB2312" pitchFamily="49" charset="-122"/>
              </a:rPr>
              <a:t>+ </a:t>
            </a:r>
            <a:r>
              <a:rPr lang="en-US" altLang="zh-CN" sz="2400" b="1" dirty="0">
                <a:ea typeface="楷体_GB2312" pitchFamily="49" charset="-122"/>
              </a:rPr>
              <a:t>][OH</a:t>
            </a:r>
            <a:r>
              <a:rPr lang="en-US" altLang="zh-CN" sz="2400" b="1" baseline="30000" dirty="0">
                <a:ea typeface="楷体_GB2312" pitchFamily="49" charset="-122"/>
              </a:rPr>
              <a:t>-</a:t>
            </a:r>
            <a:r>
              <a:rPr lang="en-US" altLang="zh-CN" sz="2400" b="1" dirty="0">
                <a:ea typeface="楷体_GB2312" pitchFamily="49" charset="-122"/>
              </a:rPr>
              <a:t>] = </a:t>
            </a:r>
            <a:r>
              <a:rPr lang="en-US" altLang="zh-CN" sz="24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 err="1">
                <a:ea typeface="楷体_GB2312" pitchFamily="49" charset="-122"/>
                <a:sym typeface="Webdings" pitchFamily="18" charset="2"/>
              </a:rPr>
              <a:t>w</a:t>
            </a:r>
            <a:r>
              <a:rPr lang="en-US" altLang="zh-CN" sz="24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400" b="1" dirty="0">
                <a:ea typeface="楷体_GB2312" pitchFamily="49" charset="-122"/>
                <a:sym typeface="Webdings" pitchFamily="18" charset="2"/>
              </a:rPr>
              <a:t>= 1.0×10</a:t>
            </a:r>
            <a:r>
              <a:rPr lang="en-US" altLang="zh-CN" sz="2400" b="1" baseline="30000" dirty="0">
                <a:ea typeface="楷体_GB2312" pitchFamily="49" charset="-122"/>
                <a:sym typeface="Webdings" pitchFamily="18" charset="2"/>
              </a:rPr>
              <a:t>-14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81296"/>
            <a:ext cx="5329238" cy="1215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3-4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某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温度下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c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 = 0.100mol·L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·H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 = 11.1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，求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·H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的解离常数。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1.6×10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-5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5127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6770688" y="2181225"/>
            <a:ext cx="3886200" cy="987425"/>
            <a:chOff x="6265093" y="1701007"/>
            <a:chExt cx="3886200" cy="987425"/>
          </a:xfrm>
        </p:grpSpPr>
        <p:sp>
          <p:nvSpPr>
            <p:cNvPr id="5129" name="Rectangle 6"/>
            <p:cNvSpPr>
              <a:spLocks noChangeArrowheads="1"/>
            </p:cNvSpPr>
            <p:nvPr/>
          </p:nvSpPr>
          <p:spPr bwMode="auto">
            <a:xfrm>
              <a:off x="6265093" y="1916907"/>
              <a:ext cx="1892300" cy="5191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ea typeface="楷体_GB2312" pitchFamily="49" charset="-122"/>
                </a:rPr>
                <a:t>K</a:t>
              </a:r>
              <a:r>
                <a:rPr lang="en-US" altLang="zh-CN" b="1" baseline="100000">
                  <a:ea typeface="楷体_GB2312" pitchFamily="49" charset="-122"/>
                  <a:sym typeface="Webdings" pitchFamily="18" charset="2"/>
                </a:rPr>
                <a:t></a:t>
              </a:r>
              <a:r>
                <a:rPr lang="en-US" altLang="zh-CN" sz="2800" b="1" baseline="-25000">
                  <a:ea typeface="楷体_GB2312" pitchFamily="49" charset="-122"/>
                  <a:sym typeface="Webdings" pitchFamily="18" charset="2"/>
                </a:rPr>
                <a:t>b</a:t>
              </a:r>
              <a:r>
                <a:rPr lang="en-US" altLang="zh-CN" sz="2800" b="1">
                  <a:ea typeface="楷体_GB2312" pitchFamily="49" charset="-122"/>
                  <a:sym typeface="Webdings" pitchFamily="18" charset="2"/>
                </a:rPr>
                <a:t>(</a:t>
              </a:r>
              <a:r>
                <a:rPr lang="en-US" altLang="zh-CN" sz="2800" b="1">
                  <a:ea typeface="楷体_GB2312" pitchFamily="49" charset="-122"/>
                </a:rPr>
                <a:t>NH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r>
                <a:rPr lang="en-US" altLang="zh-CN" sz="2800" b="1">
                  <a:ea typeface="楷体_GB2312" pitchFamily="49" charset="-122"/>
                  <a:sym typeface="Webdings" pitchFamily="18" charset="2"/>
                </a:rPr>
                <a:t>) =</a:t>
              </a:r>
            </a:p>
          </p:txBody>
        </p:sp>
        <p:sp>
          <p:nvSpPr>
            <p:cNvPr id="5130" name="Line 7"/>
            <p:cNvSpPr>
              <a:spLocks noChangeShapeType="1"/>
            </p:cNvSpPr>
            <p:nvPr/>
          </p:nvSpPr>
          <p:spPr bwMode="auto">
            <a:xfrm>
              <a:off x="8185968" y="2207419"/>
              <a:ext cx="18002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1" name="Rectangle 8"/>
            <p:cNvSpPr>
              <a:spLocks noChangeArrowheads="1"/>
            </p:cNvSpPr>
            <p:nvPr/>
          </p:nvSpPr>
          <p:spPr bwMode="auto">
            <a:xfrm>
              <a:off x="8065318" y="1701007"/>
              <a:ext cx="2085975" cy="5191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800" b="1">
                  <a:ea typeface="楷体_GB2312" pitchFamily="49" charset="-122"/>
                  <a:sym typeface="Webdings" pitchFamily="18" charset="2"/>
                </a:rPr>
                <a:t>[</a:t>
              </a:r>
              <a:r>
                <a:rPr lang="en-US" altLang="zh-CN" sz="2800" b="1">
                  <a:ea typeface="楷体_GB2312" pitchFamily="49" charset="-122"/>
                </a:rPr>
                <a:t>NH</a:t>
              </a:r>
              <a:r>
                <a:rPr lang="en-US" altLang="zh-CN" sz="2800" b="1" baseline="-25000">
                  <a:ea typeface="楷体_GB2312" pitchFamily="49" charset="-122"/>
                </a:rPr>
                <a:t>4</a:t>
              </a:r>
              <a:r>
                <a:rPr lang="en-US" altLang="zh-CN" sz="2800" b="1" baseline="30000">
                  <a:ea typeface="楷体_GB2312" pitchFamily="49" charset="-122"/>
                </a:rPr>
                <a:t>+</a:t>
              </a:r>
              <a:r>
                <a:rPr lang="en-US" altLang="zh-CN" sz="2800" b="1">
                  <a:ea typeface="楷体_GB2312" pitchFamily="49" charset="-122"/>
                  <a:sym typeface="Webdings" pitchFamily="18" charset="2"/>
                </a:rPr>
                <a:t>][</a:t>
              </a:r>
              <a:r>
                <a:rPr lang="en-US" altLang="zh-CN" sz="2800" b="1">
                  <a:ea typeface="楷体_GB2312" pitchFamily="49" charset="-122"/>
                </a:rPr>
                <a:t>OH</a:t>
              </a:r>
              <a:r>
                <a:rPr lang="en-US" altLang="zh-CN" sz="2800" b="1" baseline="30000">
                  <a:ea typeface="楷体_GB2312" pitchFamily="49" charset="-122"/>
                </a:rPr>
                <a:t>-</a:t>
              </a:r>
              <a:r>
                <a:rPr lang="en-US" altLang="zh-CN" sz="2800" b="1">
                  <a:ea typeface="楷体_GB2312" pitchFamily="49" charset="-122"/>
                  <a:sym typeface="Webdings" pitchFamily="18" charset="2"/>
                </a:rPr>
                <a:t>]</a:t>
              </a:r>
            </a:p>
          </p:txBody>
        </p:sp>
        <p:sp>
          <p:nvSpPr>
            <p:cNvPr id="5132" name="Rectangle 9"/>
            <p:cNvSpPr>
              <a:spLocks noChangeArrowheads="1"/>
            </p:cNvSpPr>
            <p:nvPr/>
          </p:nvSpPr>
          <p:spPr bwMode="auto">
            <a:xfrm>
              <a:off x="8497118" y="2169319"/>
              <a:ext cx="1295400" cy="5191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800" b="1">
                  <a:ea typeface="楷体_GB2312" pitchFamily="49" charset="-122"/>
                  <a:sym typeface="Webdings" pitchFamily="18" charset="2"/>
                </a:rPr>
                <a:t>[</a:t>
              </a:r>
              <a:r>
                <a:rPr lang="en-US" altLang="zh-CN" sz="2800" b="1">
                  <a:ea typeface="楷体_GB2312" pitchFamily="49" charset="-122"/>
                </a:rPr>
                <a:t>NH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r>
                <a:rPr lang="en-US" altLang="zh-CN" sz="2800" b="1">
                  <a:ea typeface="楷体_GB2312" pitchFamily="49" charset="-122"/>
                  <a:sym typeface="Webdings" pitchFamily="18" charset="2"/>
                </a:rPr>
                <a:t>]</a:t>
              </a:r>
            </a:p>
          </p:txBody>
        </p:sp>
      </p:grp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66725"/>
            <a:ext cx="5329238" cy="1658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3-5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已知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a1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  <a:cs typeface="Times New Roman"/>
                <a:sym typeface="Symbol"/>
              </a:rPr>
              <a:t>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= 1.85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p</a:t>
            </a:r>
            <a:r>
              <a:rPr lang="en-US" altLang="zh-CN" sz="2400" b="1" i="1" kern="100" dirty="0" smtClean="0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a2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  <a:cs typeface="Times New Roman"/>
                <a:sym typeface="Symbol"/>
              </a:rPr>
              <a:t>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= 7.20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 = 4.00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4.45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时，溶液中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2-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三种形式的分布系数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δ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δ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δ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0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各为多少？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7.0×10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-3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0.993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6.3×10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-4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；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2.5×10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-3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0.996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1.8×10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-3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6150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6078538" y="812800"/>
            <a:ext cx="4997450" cy="1058863"/>
            <a:chOff x="6078537" y="1399513"/>
            <a:chExt cx="4997450" cy="1058863"/>
          </a:xfrm>
        </p:grpSpPr>
        <p:sp>
          <p:nvSpPr>
            <p:cNvPr id="6162" name="Rectangle 9"/>
            <p:cNvSpPr>
              <a:spLocks noChangeArrowheads="1"/>
            </p:cNvSpPr>
            <p:nvPr/>
          </p:nvSpPr>
          <p:spPr bwMode="auto">
            <a:xfrm>
              <a:off x="6078537" y="1650338"/>
              <a:ext cx="773113" cy="5191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ea typeface="楷体_GB2312" pitchFamily="49" charset="-122"/>
                  <a:sym typeface="Symbol" pitchFamily="18" charset="2"/>
                </a:rPr>
                <a:t></a:t>
              </a:r>
              <a:r>
                <a:rPr lang="en-US" altLang="zh-CN" sz="2800" b="1" baseline="-25000">
                  <a:ea typeface="楷体_GB2312" pitchFamily="49" charset="-122"/>
                  <a:sym typeface="Symbol" pitchFamily="18" charset="2"/>
                </a:rPr>
                <a:t>2</a:t>
              </a:r>
              <a:r>
                <a:rPr lang="en-US" altLang="zh-CN" sz="2800" b="1">
                  <a:ea typeface="楷体_GB2312" pitchFamily="49" charset="-122"/>
                  <a:sym typeface="Symbol" pitchFamily="18" charset="2"/>
                </a:rPr>
                <a:t> =</a:t>
              </a:r>
            </a:p>
          </p:txBody>
        </p:sp>
        <p:sp>
          <p:nvSpPr>
            <p:cNvPr id="6163" name="Line 10"/>
            <p:cNvSpPr>
              <a:spLocks noChangeShapeType="1"/>
            </p:cNvSpPr>
            <p:nvPr/>
          </p:nvSpPr>
          <p:spPr bwMode="auto">
            <a:xfrm>
              <a:off x="6905625" y="1939263"/>
              <a:ext cx="39592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4" name="Rectangle 11"/>
            <p:cNvSpPr>
              <a:spLocks noChangeArrowheads="1"/>
            </p:cNvSpPr>
            <p:nvPr/>
          </p:nvSpPr>
          <p:spPr bwMode="auto">
            <a:xfrm>
              <a:off x="8345487" y="1399513"/>
              <a:ext cx="957263" cy="5191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ea typeface="楷体_GB2312" pitchFamily="49" charset="-122"/>
                </a:rPr>
                <a:t>[H</a:t>
              </a:r>
              <a:r>
                <a:rPr lang="en-US" altLang="zh-CN" sz="2800" b="1" baseline="30000">
                  <a:ea typeface="楷体_GB2312" pitchFamily="49" charset="-122"/>
                </a:rPr>
                <a:t>+</a:t>
              </a:r>
              <a:r>
                <a:rPr lang="en-US" altLang="zh-CN" sz="2800" b="1">
                  <a:ea typeface="楷体_GB2312" pitchFamily="49" charset="-122"/>
                </a:rPr>
                <a:t>]</a:t>
              </a:r>
              <a:r>
                <a:rPr lang="en-US" altLang="zh-CN" sz="2800" b="1" baseline="3000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6165" name="Rectangle 12"/>
            <p:cNvSpPr>
              <a:spLocks noChangeArrowheads="1"/>
            </p:cNvSpPr>
            <p:nvPr/>
          </p:nvSpPr>
          <p:spPr bwMode="auto">
            <a:xfrm>
              <a:off x="6870700" y="1939263"/>
              <a:ext cx="4205287" cy="5191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ea typeface="楷体_GB2312" pitchFamily="49" charset="-122"/>
                </a:rPr>
                <a:t>[H</a:t>
              </a:r>
              <a:r>
                <a:rPr lang="en-US" altLang="zh-CN" sz="2800" b="1" baseline="30000">
                  <a:ea typeface="楷体_GB2312" pitchFamily="49" charset="-122"/>
                </a:rPr>
                <a:t>+</a:t>
              </a:r>
              <a:r>
                <a:rPr lang="en-US" altLang="zh-CN" sz="2800" b="1">
                  <a:ea typeface="楷体_GB2312" pitchFamily="49" charset="-122"/>
                </a:rPr>
                <a:t>]</a:t>
              </a:r>
              <a:r>
                <a:rPr lang="en-US" altLang="zh-CN" sz="2800" b="1" baseline="30000">
                  <a:ea typeface="楷体_GB2312" pitchFamily="49" charset="-122"/>
                </a:rPr>
                <a:t>2 </a:t>
              </a:r>
              <a:r>
                <a:rPr lang="en-US" altLang="zh-CN" sz="2800" b="1">
                  <a:ea typeface="楷体_GB2312" pitchFamily="49" charset="-122"/>
                </a:rPr>
                <a:t>+ [H</a:t>
              </a:r>
              <a:r>
                <a:rPr lang="en-US" altLang="zh-CN" sz="2800" b="1" baseline="30000">
                  <a:ea typeface="楷体_GB2312" pitchFamily="49" charset="-122"/>
                </a:rPr>
                <a:t>+</a:t>
              </a:r>
              <a:r>
                <a:rPr lang="en-US" altLang="zh-CN" sz="2800" b="1">
                  <a:ea typeface="楷体_GB2312" pitchFamily="49" charset="-122"/>
                </a:rPr>
                <a:t>]</a:t>
              </a:r>
              <a:r>
                <a:rPr lang="en-US" altLang="zh-CN" sz="2800" b="1" i="1">
                  <a:ea typeface="楷体_GB2312" pitchFamily="49" charset="-122"/>
                </a:rPr>
                <a:t>K</a:t>
              </a:r>
              <a:r>
                <a:rPr lang="en-US" altLang="zh-CN" b="1" baseline="100000">
                  <a:ea typeface="楷体_GB2312" pitchFamily="49" charset="-122"/>
                  <a:sym typeface="Webdings" pitchFamily="18" charset="2"/>
                </a:rPr>
                <a:t></a:t>
              </a:r>
              <a:r>
                <a:rPr lang="en-US" altLang="zh-CN" sz="2800" b="1" baseline="-25000">
                  <a:ea typeface="楷体_GB2312" pitchFamily="49" charset="-122"/>
                  <a:sym typeface="Webdings" pitchFamily="18" charset="2"/>
                </a:rPr>
                <a:t>a1</a:t>
              </a:r>
              <a:r>
                <a:rPr lang="en-US" altLang="zh-CN" sz="2800" b="1" baseline="-25000">
                  <a:ea typeface="楷体_GB2312" pitchFamily="49" charset="-122"/>
                </a:rPr>
                <a:t> </a:t>
              </a:r>
              <a:r>
                <a:rPr lang="en-US" altLang="zh-CN" sz="2800" b="1">
                  <a:ea typeface="楷体_GB2312" pitchFamily="49" charset="-122"/>
                </a:rPr>
                <a:t>+ </a:t>
              </a:r>
              <a:r>
                <a:rPr lang="en-US" altLang="zh-CN" sz="2800" b="1" i="1">
                  <a:ea typeface="楷体_GB2312" pitchFamily="49" charset="-122"/>
                </a:rPr>
                <a:t>K</a:t>
              </a:r>
              <a:r>
                <a:rPr lang="en-US" altLang="zh-CN" b="1" baseline="100000">
                  <a:ea typeface="楷体_GB2312" pitchFamily="49" charset="-122"/>
                  <a:sym typeface="Webdings" pitchFamily="18" charset="2"/>
                </a:rPr>
                <a:t></a:t>
              </a:r>
              <a:r>
                <a:rPr lang="en-US" altLang="zh-CN" sz="2800" b="1" baseline="-25000">
                  <a:ea typeface="楷体_GB2312" pitchFamily="49" charset="-122"/>
                  <a:sym typeface="Webdings" pitchFamily="18" charset="2"/>
                </a:rPr>
                <a:t>a1</a:t>
              </a:r>
              <a:r>
                <a:rPr lang="en-US" altLang="zh-CN" sz="2800" b="1" i="1">
                  <a:ea typeface="楷体_GB2312" pitchFamily="49" charset="-122"/>
                </a:rPr>
                <a:t>K</a:t>
              </a:r>
              <a:r>
                <a:rPr lang="en-US" altLang="zh-CN" b="1" baseline="100000">
                  <a:ea typeface="楷体_GB2312" pitchFamily="49" charset="-122"/>
                  <a:sym typeface="Webdings" pitchFamily="18" charset="2"/>
                </a:rPr>
                <a:t></a:t>
              </a:r>
              <a:r>
                <a:rPr lang="en-US" altLang="zh-CN" sz="2800" b="1" baseline="-25000">
                  <a:ea typeface="楷体_GB2312" pitchFamily="49" charset="-122"/>
                  <a:sym typeface="Webdings" pitchFamily="18" charset="2"/>
                </a:rPr>
                <a:t>a2</a:t>
              </a:r>
            </a:p>
          </p:txBody>
        </p: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6092825" y="1800225"/>
            <a:ext cx="4997450" cy="1039813"/>
            <a:chOff x="898525" y="4821238"/>
            <a:chExt cx="4997450" cy="1039812"/>
          </a:xfrm>
        </p:grpSpPr>
        <p:sp>
          <p:nvSpPr>
            <p:cNvPr id="6158" name="Rectangle 14"/>
            <p:cNvSpPr>
              <a:spLocks noChangeArrowheads="1"/>
            </p:cNvSpPr>
            <p:nvPr/>
          </p:nvSpPr>
          <p:spPr bwMode="auto">
            <a:xfrm>
              <a:off x="898525" y="5054600"/>
              <a:ext cx="773113" cy="5191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ea typeface="楷体_GB2312" pitchFamily="49" charset="-122"/>
                  <a:sym typeface="Symbol" pitchFamily="18" charset="2"/>
                </a:rPr>
                <a:t></a:t>
              </a:r>
              <a:r>
                <a:rPr lang="en-US" altLang="zh-CN" sz="2800" b="1" baseline="-25000">
                  <a:ea typeface="楷体_GB2312" pitchFamily="49" charset="-122"/>
                  <a:sym typeface="Symbol" pitchFamily="18" charset="2"/>
                </a:rPr>
                <a:t>1</a:t>
              </a:r>
              <a:r>
                <a:rPr lang="en-US" altLang="zh-CN" sz="2800" b="1">
                  <a:ea typeface="楷体_GB2312" pitchFamily="49" charset="-122"/>
                  <a:sym typeface="Symbol" pitchFamily="18" charset="2"/>
                </a:rPr>
                <a:t> =</a:t>
              </a:r>
            </a:p>
          </p:txBody>
        </p:sp>
        <p:sp>
          <p:nvSpPr>
            <p:cNvPr id="6159" name="Rectangle 15"/>
            <p:cNvSpPr>
              <a:spLocks noChangeArrowheads="1"/>
            </p:cNvSpPr>
            <p:nvPr/>
          </p:nvSpPr>
          <p:spPr bwMode="auto">
            <a:xfrm>
              <a:off x="3151188" y="4821238"/>
              <a:ext cx="1466850" cy="5191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ea typeface="楷体_GB2312" pitchFamily="49" charset="-122"/>
                </a:rPr>
                <a:t>[H</a:t>
              </a:r>
              <a:r>
                <a:rPr lang="en-US" altLang="zh-CN" sz="2800" b="1" baseline="30000">
                  <a:ea typeface="楷体_GB2312" pitchFamily="49" charset="-122"/>
                </a:rPr>
                <a:t>+</a:t>
              </a:r>
              <a:r>
                <a:rPr lang="en-US" altLang="zh-CN" sz="2800" b="1">
                  <a:ea typeface="楷体_GB2312" pitchFamily="49" charset="-122"/>
                </a:rPr>
                <a:t>]</a:t>
              </a:r>
              <a:r>
                <a:rPr lang="en-US" altLang="zh-CN" sz="2800" b="1" i="1">
                  <a:ea typeface="楷体_GB2312" pitchFamily="49" charset="-122"/>
                </a:rPr>
                <a:t>K</a:t>
              </a:r>
              <a:r>
                <a:rPr lang="en-US" altLang="zh-CN" b="1" baseline="100000">
                  <a:ea typeface="楷体_GB2312" pitchFamily="49" charset="-122"/>
                  <a:sym typeface="Webdings" pitchFamily="18" charset="2"/>
                </a:rPr>
                <a:t></a:t>
              </a:r>
              <a:r>
                <a:rPr lang="en-US" altLang="zh-CN" sz="2800" b="1" baseline="-25000">
                  <a:ea typeface="楷体_GB2312" pitchFamily="49" charset="-122"/>
                  <a:sym typeface="Webdings" pitchFamily="18" charset="2"/>
                </a:rPr>
                <a:t>a1</a:t>
              </a:r>
            </a:p>
          </p:txBody>
        </p:sp>
        <p:sp>
          <p:nvSpPr>
            <p:cNvPr id="6160" name="Rectangle 16"/>
            <p:cNvSpPr>
              <a:spLocks noChangeArrowheads="1"/>
            </p:cNvSpPr>
            <p:nvPr/>
          </p:nvSpPr>
          <p:spPr bwMode="auto">
            <a:xfrm>
              <a:off x="1690688" y="5341938"/>
              <a:ext cx="4205287" cy="5191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ea typeface="楷体_GB2312" pitchFamily="49" charset="-122"/>
                </a:rPr>
                <a:t>[H</a:t>
              </a:r>
              <a:r>
                <a:rPr lang="en-US" altLang="zh-CN" sz="2800" b="1" baseline="30000">
                  <a:ea typeface="楷体_GB2312" pitchFamily="49" charset="-122"/>
                </a:rPr>
                <a:t>+</a:t>
              </a:r>
              <a:r>
                <a:rPr lang="en-US" altLang="zh-CN" sz="2800" b="1">
                  <a:ea typeface="楷体_GB2312" pitchFamily="49" charset="-122"/>
                </a:rPr>
                <a:t>]</a:t>
              </a:r>
              <a:r>
                <a:rPr lang="en-US" altLang="zh-CN" sz="2800" b="1" baseline="30000">
                  <a:ea typeface="楷体_GB2312" pitchFamily="49" charset="-122"/>
                </a:rPr>
                <a:t>2 </a:t>
              </a:r>
              <a:r>
                <a:rPr lang="en-US" altLang="zh-CN" sz="2800" b="1">
                  <a:ea typeface="楷体_GB2312" pitchFamily="49" charset="-122"/>
                </a:rPr>
                <a:t>+ [H</a:t>
              </a:r>
              <a:r>
                <a:rPr lang="en-US" altLang="zh-CN" sz="2800" b="1" baseline="30000">
                  <a:ea typeface="楷体_GB2312" pitchFamily="49" charset="-122"/>
                </a:rPr>
                <a:t>+</a:t>
              </a:r>
              <a:r>
                <a:rPr lang="en-US" altLang="zh-CN" sz="2800" b="1">
                  <a:ea typeface="楷体_GB2312" pitchFamily="49" charset="-122"/>
                </a:rPr>
                <a:t>]</a:t>
              </a:r>
              <a:r>
                <a:rPr lang="en-US" altLang="zh-CN" sz="2800" b="1" i="1">
                  <a:ea typeface="楷体_GB2312" pitchFamily="49" charset="-122"/>
                </a:rPr>
                <a:t>K</a:t>
              </a:r>
              <a:r>
                <a:rPr lang="en-US" altLang="zh-CN" b="1" baseline="100000">
                  <a:ea typeface="楷体_GB2312" pitchFamily="49" charset="-122"/>
                  <a:sym typeface="Webdings" pitchFamily="18" charset="2"/>
                </a:rPr>
                <a:t></a:t>
              </a:r>
              <a:r>
                <a:rPr lang="en-US" altLang="zh-CN" sz="2800" b="1" baseline="-25000">
                  <a:ea typeface="楷体_GB2312" pitchFamily="49" charset="-122"/>
                  <a:sym typeface="Webdings" pitchFamily="18" charset="2"/>
                </a:rPr>
                <a:t>a1</a:t>
              </a:r>
              <a:r>
                <a:rPr lang="en-US" altLang="zh-CN" sz="2800" b="1" baseline="-25000">
                  <a:ea typeface="楷体_GB2312" pitchFamily="49" charset="-122"/>
                </a:rPr>
                <a:t> </a:t>
              </a:r>
              <a:r>
                <a:rPr lang="en-US" altLang="zh-CN" sz="2800" b="1">
                  <a:ea typeface="楷体_GB2312" pitchFamily="49" charset="-122"/>
                </a:rPr>
                <a:t>+ </a:t>
              </a:r>
              <a:r>
                <a:rPr lang="en-US" altLang="zh-CN" sz="2800" b="1" i="1">
                  <a:ea typeface="楷体_GB2312" pitchFamily="49" charset="-122"/>
                </a:rPr>
                <a:t>K</a:t>
              </a:r>
              <a:r>
                <a:rPr lang="en-US" altLang="zh-CN" b="1" baseline="100000">
                  <a:ea typeface="楷体_GB2312" pitchFamily="49" charset="-122"/>
                  <a:sym typeface="Webdings" pitchFamily="18" charset="2"/>
                </a:rPr>
                <a:t></a:t>
              </a:r>
              <a:r>
                <a:rPr lang="en-US" altLang="zh-CN" sz="2800" b="1" baseline="-25000">
                  <a:ea typeface="楷体_GB2312" pitchFamily="49" charset="-122"/>
                  <a:sym typeface="Webdings" pitchFamily="18" charset="2"/>
                </a:rPr>
                <a:t>a1</a:t>
              </a:r>
              <a:r>
                <a:rPr lang="en-US" altLang="zh-CN" sz="2800" b="1" i="1">
                  <a:ea typeface="楷体_GB2312" pitchFamily="49" charset="-122"/>
                </a:rPr>
                <a:t>K</a:t>
              </a:r>
              <a:r>
                <a:rPr lang="en-US" altLang="zh-CN" b="1" baseline="100000">
                  <a:ea typeface="楷体_GB2312" pitchFamily="49" charset="-122"/>
                  <a:sym typeface="Webdings" pitchFamily="18" charset="2"/>
                </a:rPr>
                <a:t></a:t>
              </a:r>
              <a:r>
                <a:rPr lang="en-US" altLang="zh-CN" sz="2800" b="1" baseline="-25000">
                  <a:ea typeface="楷体_GB2312" pitchFamily="49" charset="-122"/>
                  <a:sym typeface="Webdings" pitchFamily="18" charset="2"/>
                </a:rPr>
                <a:t>a2</a:t>
              </a:r>
            </a:p>
          </p:txBody>
        </p:sp>
        <p:sp>
          <p:nvSpPr>
            <p:cNvPr id="6161" name="Line 17"/>
            <p:cNvSpPr>
              <a:spLocks noChangeShapeType="1"/>
            </p:cNvSpPr>
            <p:nvPr/>
          </p:nvSpPr>
          <p:spPr bwMode="auto">
            <a:xfrm>
              <a:off x="1725613" y="5341938"/>
              <a:ext cx="39592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6121400" y="2830513"/>
            <a:ext cx="4997450" cy="1130300"/>
            <a:chOff x="898525" y="1079500"/>
            <a:chExt cx="4997450" cy="1130300"/>
          </a:xfrm>
        </p:grpSpPr>
        <p:sp>
          <p:nvSpPr>
            <p:cNvPr id="6154" name="Rectangle 4"/>
            <p:cNvSpPr>
              <a:spLocks noChangeArrowheads="1"/>
            </p:cNvSpPr>
            <p:nvPr/>
          </p:nvSpPr>
          <p:spPr bwMode="auto">
            <a:xfrm>
              <a:off x="898525" y="1366838"/>
              <a:ext cx="773113" cy="5191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ea typeface="楷体_GB2312" pitchFamily="49" charset="-122"/>
                  <a:sym typeface="Symbol" pitchFamily="18" charset="2"/>
                </a:rPr>
                <a:t></a:t>
              </a:r>
              <a:r>
                <a:rPr lang="en-US" altLang="zh-CN" sz="2800" b="1" baseline="-25000">
                  <a:ea typeface="楷体_GB2312" pitchFamily="49" charset="-122"/>
                  <a:sym typeface="Symbol" pitchFamily="18" charset="2"/>
                </a:rPr>
                <a:t>0</a:t>
              </a:r>
              <a:r>
                <a:rPr lang="en-US" altLang="zh-CN" sz="2800" b="1">
                  <a:ea typeface="楷体_GB2312" pitchFamily="49" charset="-122"/>
                  <a:sym typeface="Symbol" pitchFamily="18" charset="2"/>
                </a:rPr>
                <a:t> =</a:t>
              </a:r>
            </a:p>
          </p:txBody>
        </p:sp>
        <p:sp>
          <p:nvSpPr>
            <p:cNvPr id="6155" name="Rectangle 5"/>
            <p:cNvSpPr>
              <a:spLocks noChangeArrowheads="1"/>
            </p:cNvSpPr>
            <p:nvPr/>
          </p:nvSpPr>
          <p:spPr bwMode="auto">
            <a:xfrm>
              <a:off x="3021013" y="1079500"/>
              <a:ext cx="1444625" cy="5191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ea typeface="楷体_GB2312" pitchFamily="49" charset="-122"/>
                </a:rPr>
                <a:t>K</a:t>
              </a:r>
              <a:r>
                <a:rPr lang="en-US" altLang="zh-CN" b="1" baseline="100000">
                  <a:ea typeface="楷体_GB2312" pitchFamily="49" charset="-122"/>
                  <a:sym typeface="Webdings" pitchFamily="18" charset="2"/>
                </a:rPr>
                <a:t></a:t>
              </a:r>
              <a:r>
                <a:rPr lang="en-US" altLang="zh-CN" sz="2800" b="1" baseline="-25000">
                  <a:ea typeface="楷体_GB2312" pitchFamily="49" charset="-122"/>
                  <a:sym typeface="Webdings" pitchFamily="18" charset="2"/>
                </a:rPr>
                <a:t>a1</a:t>
              </a:r>
              <a:r>
                <a:rPr lang="en-US" altLang="zh-CN" sz="2800" b="1" i="1">
                  <a:ea typeface="楷体_GB2312" pitchFamily="49" charset="-122"/>
                </a:rPr>
                <a:t>K</a:t>
              </a:r>
              <a:r>
                <a:rPr lang="en-US" altLang="zh-CN" b="1" baseline="100000">
                  <a:ea typeface="楷体_GB2312" pitchFamily="49" charset="-122"/>
                  <a:sym typeface="Webdings" pitchFamily="18" charset="2"/>
                </a:rPr>
                <a:t></a:t>
              </a:r>
              <a:r>
                <a:rPr lang="en-US" altLang="zh-CN" sz="2800" b="1" baseline="-25000">
                  <a:ea typeface="楷体_GB2312" pitchFamily="49" charset="-122"/>
                  <a:sym typeface="Webdings" pitchFamily="18" charset="2"/>
                </a:rPr>
                <a:t>a2</a:t>
              </a:r>
            </a:p>
          </p:txBody>
        </p:sp>
        <p:sp>
          <p:nvSpPr>
            <p:cNvPr id="6156" name="Rectangle 6"/>
            <p:cNvSpPr>
              <a:spLocks noChangeArrowheads="1"/>
            </p:cNvSpPr>
            <p:nvPr/>
          </p:nvSpPr>
          <p:spPr bwMode="auto">
            <a:xfrm>
              <a:off x="1690688" y="1690688"/>
              <a:ext cx="4205287" cy="5191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ea typeface="楷体_GB2312" pitchFamily="49" charset="-122"/>
                </a:rPr>
                <a:t>[H</a:t>
              </a:r>
              <a:r>
                <a:rPr lang="en-US" altLang="zh-CN" sz="2800" b="1" baseline="30000">
                  <a:ea typeface="楷体_GB2312" pitchFamily="49" charset="-122"/>
                </a:rPr>
                <a:t>+</a:t>
              </a:r>
              <a:r>
                <a:rPr lang="en-US" altLang="zh-CN" sz="2800" b="1">
                  <a:ea typeface="楷体_GB2312" pitchFamily="49" charset="-122"/>
                </a:rPr>
                <a:t>]</a:t>
              </a:r>
              <a:r>
                <a:rPr lang="en-US" altLang="zh-CN" sz="2800" b="1" baseline="30000">
                  <a:ea typeface="楷体_GB2312" pitchFamily="49" charset="-122"/>
                </a:rPr>
                <a:t>2 </a:t>
              </a:r>
              <a:r>
                <a:rPr lang="en-US" altLang="zh-CN" sz="2800" b="1">
                  <a:ea typeface="楷体_GB2312" pitchFamily="49" charset="-122"/>
                </a:rPr>
                <a:t>+ [H</a:t>
              </a:r>
              <a:r>
                <a:rPr lang="en-US" altLang="zh-CN" sz="2800" b="1" baseline="30000">
                  <a:ea typeface="楷体_GB2312" pitchFamily="49" charset="-122"/>
                </a:rPr>
                <a:t>+</a:t>
              </a:r>
              <a:r>
                <a:rPr lang="en-US" altLang="zh-CN" sz="2800" b="1">
                  <a:ea typeface="楷体_GB2312" pitchFamily="49" charset="-122"/>
                </a:rPr>
                <a:t>]</a:t>
              </a:r>
              <a:r>
                <a:rPr lang="en-US" altLang="zh-CN" sz="2800" b="1" i="1">
                  <a:ea typeface="楷体_GB2312" pitchFamily="49" charset="-122"/>
                </a:rPr>
                <a:t>K</a:t>
              </a:r>
              <a:r>
                <a:rPr lang="en-US" altLang="zh-CN" b="1" baseline="100000">
                  <a:ea typeface="楷体_GB2312" pitchFamily="49" charset="-122"/>
                  <a:sym typeface="Webdings" pitchFamily="18" charset="2"/>
                </a:rPr>
                <a:t></a:t>
              </a:r>
              <a:r>
                <a:rPr lang="en-US" altLang="zh-CN" sz="2800" b="1" baseline="-25000">
                  <a:ea typeface="楷体_GB2312" pitchFamily="49" charset="-122"/>
                  <a:sym typeface="Webdings" pitchFamily="18" charset="2"/>
                </a:rPr>
                <a:t>a1</a:t>
              </a:r>
              <a:r>
                <a:rPr lang="en-US" altLang="zh-CN" sz="2800" b="1" baseline="-25000">
                  <a:ea typeface="楷体_GB2312" pitchFamily="49" charset="-122"/>
                </a:rPr>
                <a:t> </a:t>
              </a:r>
              <a:r>
                <a:rPr lang="en-US" altLang="zh-CN" sz="2800" b="1">
                  <a:ea typeface="楷体_GB2312" pitchFamily="49" charset="-122"/>
                </a:rPr>
                <a:t>+ </a:t>
              </a:r>
              <a:r>
                <a:rPr lang="en-US" altLang="zh-CN" sz="2800" b="1" i="1">
                  <a:ea typeface="楷体_GB2312" pitchFamily="49" charset="-122"/>
                </a:rPr>
                <a:t>K</a:t>
              </a:r>
              <a:r>
                <a:rPr lang="en-US" altLang="zh-CN" b="1" baseline="100000">
                  <a:ea typeface="楷体_GB2312" pitchFamily="49" charset="-122"/>
                  <a:sym typeface="Webdings" pitchFamily="18" charset="2"/>
                </a:rPr>
                <a:t></a:t>
              </a:r>
              <a:r>
                <a:rPr lang="en-US" altLang="zh-CN" sz="2800" b="1" baseline="-25000">
                  <a:ea typeface="楷体_GB2312" pitchFamily="49" charset="-122"/>
                  <a:sym typeface="Webdings" pitchFamily="18" charset="2"/>
                </a:rPr>
                <a:t>a1</a:t>
              </a:r>
              <a:r>
                <a:rPr lang="en-US" altLang="zh-CN" sz="2800" b="1" i="1">
                  <a:ea typeface="楷体_GB2312" pitchFamily="49" charset="-122"/>
                </a:rPr>
                <a:t>K</a:t>
              </a:r>
              <a:r>
                <a:rPr lang="en-US" altLang="zh-CN" b="1" baseline="100000">
                  <a:ea typeface="楷体_GB2312" pitchFamily="49" charset="-122"/>
                  <a:sym typeface="Webdings" pitchFamily="18" charset="2"/>
                </a:rPr>
                <a:t></a:t>
              </a:r>
              <a:r>
                <a:rPr lang="en-US" altLang="zh-CN" sz="2800" b="1" baseline="-25000">
                  <a:ea typeface="楷体_GB2312" pitchFamily="49" charset="-122"/>
                  <a:sym typeface="Webdings" pitchFamily="18" charset="2"/>
                </a:rPr>
                <a:t>a2</a:t>
              </a:r>
            </a:p>
          </p:txBody>
        </p:sp>
        <p:sp>
          <p:nvSpPr>
            <p:cNvPr id="6157" name="Line 7"/>
            <p:cNvSpPr>
              <a:spLocks noChangeShapeType="1"/>
            </p:cNvSpPr>
            <p:nvPr/>
          </p:nvSpPr>
          <p:spPr bwMode="auto">
            <a:xfrm>
              <a:off x="1725613" y="1654175"/>
              <a:ext cx="39592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+mn-lt"/>
                <a:ea typeface="华文新魏" pitchFamily="2" charset="-122"/>
                <a:cs typeface="宋体"/>
              </a:rPr>
              <a:t>①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S</a:t>
            </a:r>
            <a:r>
              <a:rPr lang="zh-CN" altLang="zh-CN" sz="2400" b="1" kern="100" dirty="0">
                <a:latin typeface="+mn-lt"/>
                <a:ea typeface="华文新魏" pitchFamily="2" charset="-122"/>
              </a:rPr>
              <a:t>水溶液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    </a:t>
            </a:r>
            <a:r>
              <a:rPr lang="en-US" altLang="zh-CN" sz="2400" b="1" i="1" kern="100" dirty="0">
                <a:latin typeface="+mn-lt"/>
                <a:ea typeface="华文新魏" pitchFamily="2" charset="-122"/>
              </a:rPr>
              <a:t>K</a:t>
            </a:r>
            <a:r>
              <a:rPr lang="en-US" altLang="zh-CN" sz="2400" b="1" i="1" kern="100" baseline="-25000" dirty="0">
                <a:latin typeface="+mn-lt"/>
                <a:ea typeface="华文新魏" pitchFamily="2" charset="-122"/>
              </a:rPr>
              <a:t>a1</a:t>
            </a:r>
            <a:r>
              <a:rPr lang="zh-CN" altLang="zh-CN" sz="2400" b="1" i="1" kern="100" baseline="30000" dirty="0">
                <a:latin typeface="+mn-lt"/>
                <a:ea typeface="华文新魏" pitchFamily="2" charset="-122"/>
              </a:rPr>
              <a:t>θ</a:t>
            </a:r>
            <a:r>
              <a:rPr lang="zh-CN" altLang="zh-CN" sz="2400" b="1" kern="100" dirty="0">
                <a:latin typeface="+mn-lt"/>
                <a:ea typeface="华文新魏" pitchFamily="2" charset="-122"/>
              </a:rPr>
              <a:t>＝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8.90</a:t>
            </a:r>
            <a:r>
              <a:rPr lang="zh-CN" altLang="zh-CN" sz="2400" b="1" kern="100" dirty="0">
                <a:latin typeface="+mn-lt"/>
                <a:ea typeface="华文新魏" pitchFamily="2" charset="-122"/>
              </a:rPr>
              <a:t>×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10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-8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    </a:t>
            </a:r>
            <a:endParaRPr lang="en-US" altLang="zh-CN" sz="2400" b="1" kern="100" dirty="0" smtClean="0">
              <a:latin typeface="+mn-lt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i="1" kern="100" dirty="0">
                <a:latin typeface="+mn-lt"/>
                <a:ea typeface="华文新魏" pitchFamily="2" charset="-122"/>
              </a:rPr>
              <a:t> </a:t>
            </a:r>
            <a:r>
              <a:rPr lang="en-US" altLang="zh-CN" sz="2400" b="1" i="1" kern="100" dirty="0" smtClean="0">
                <a:latin typeface="+mn-lt"/>
                <a:ea typeface="华文新魏" pitchFamily="2" charset="-122"/>
              </a:rPr>
              <a:t>                          K</a:t>
            </a:r>
            <a:r>
              <a:rPr lang="en-US" altLang="zh-CN" sz="2400" b="1" i="1" kern="100" baseline="-25000" dirty="0" smtClean="0">
                <a:latin typeface="+mn-lt"/>
                <a:ea typeface="华文新魏" pitchFamily="2" charset="-122"/>
              </a:rPr>
              <a:t>a2</a:t>
            </a:r>
            <a:r>
              <a:rPr lang="zh-CN" altLang="zh-CN" sz="2400" b="1" i="1" kern="100" baseline="30000" dirty="0">
                <a:latin typeface="+mn-lt"/>
                <a:ea typeface="华文新魏" pitchFamily="2" charset="-122"/>
              </a:rPr>
              <a:t>θ</a:t>
            </a:r>
            <a:r>
              <a:rPr lang="zh-CN" altLang="zh-CN" sz="2400" b="1" kern="100" dirty="0">
                <a:latin typeface="+mn-lt"/>
                <a:ea typeface="华文新魏" pitchFamily="2" charset="-122"/>
              </a:rPr>
              <a:t>＝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1.26</a:t>
            </a:r>
            <a:r>
              <a:rPr lang="zh-CN" altLang="zh-CN" sz="2400" b="1" kern="100" dirty="0">
                <a:latin typeface="+mn-lt"/>
                <a:ea typeface="华文新魏" pitchFamily="2" charset="-122"/>
              </a:rPr>
              <a:t>×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10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-14</a:t>
            </a:r>
            <a:endParaRPr lang="zh-CN" altLang="zh-CN" sz="2400" b="1" kern="100" dirty="0">
              <a:latin typeface="+mn-lt"/>
              <a:ea typeface="华文新魏" pitchFamily="2" charset="-122"/>
            </a:endParaRPr>
          </a:p>
          <a:p>
            <a:pPr>
              <a:defRPr/>
            </a:pPr>
            <a:r>
              <a:rPr lang="zh-CN" altLang="zh-CN" sz="2400" b="1" kern="100" dirty="0">
                <a:latin typeface="+mn-lt"/>
                <a:ea typeface="华文新魏" pitchFamily="2" charset="-122"/>
                <a:cs typeface="Times New Roman"/>
              </a:rPr>
              <a:t>按一元弱酸</a:t>
            </a:r>
            <a:r>
              <a:rPr lang="zh-CN" altLang="zh-CN" sz="2400" b="1" kern="100" dirty="0" smtClean="0">
                <a:latin typeface="+mn-lt"/>
                <a:ea typeface="华文新魏" pitchFamily="2" charset="-122"/>
                <a:cs typeface="Times New Roman"/>
              </a:rPr>
              <a:t>处理</a:t>
            </a:r>
            <a:r>
              <a:rPr lang="zh-CN" altLang="en-US" sz="2400" b="1" kern="100" dirty="0" smtClean="0">
                <a:latin typeface="+mn-lt"/>
                <a:ea typeface="华文新魏" pitchFamily="2" charset="-122"/>
                <a:cs typeface="Times New Roman"/>
              </a:rPr>
              <a:t>；</a:t>
            </a:r>
            <a:endParaRPr lang="en-US" altLang="zh-CN" sz="2400" b="1" kern="100" dirty="0" smtClean="0">
              <a:latin typeface="+mn-lt"/>
              <a:ea typeface="华文新魏" pitchFamily="2" charset="-122"/>
              <a:cs typeface="Times New Roman"/>
            </a:endParaRPr>
          </a:p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②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等体积混合后，由于盐酸是强酸，可以忽略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解离出的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。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ctr" eaLnBrk="1" hangingPunct="1">
              <a:defRPr/>
            </a:pPr>
            <a:r>
              <a:rPr lang="en-US" altLang="zh-CN" sz="2400" b="1" kern="100" dirty="0">
                <a:latin typeface="+mn-lt"/>
                <a:ea typeface="宋体"/>
              </a:rPr>
              <a:t>[H</a:t>
            </a:r>
            <a:r>
              <a:rPr lang="en-US" altLang="zh-CN" sz="2400" b="1" kern="100" baseline="30000" dirty="0">
                <a:latin typeface="+mn-lt"/>
                <a:ea typeface="宋体"/>
              </a:rPr>
              <a:t>+</a:t>
            </a:r>
            <a:r>
              <a:rPr lang="en-US" altLang="zh-CN" sz="2400" b="1" kern="100" dirty="0">
                <a:latin typeface="+mn-lt"/>
                <a:ea typeface="宋体"/>
              </a:rPr>
              <a:t>]</a:t>
            </a:r>
            <a:r>
              <a:rPr lang="zh-CN" altLang="zh-CN" sz="2400" b="1" kern="100" dirty="0">
                <a:latin typeface="+mn-lt"/>
                <a:ea typeface="宋体"/>
                <a:cs typeface="Times New Roman"/>
              </a:rPr>
              <a:t>≈</a:t>
            </a:r>
            <a:r>
              <a:rPr lang="en-US" altLang="zh-CN" sz="2400" b="1" kern="100" dirty="0">
                <a:latin typeface="+mn-lt"/>
                <a:ea typeface="宋体"/>
              </a:rPr>
              <a:t>[</a:t>
            </a:r>
            <a:r>
              <a:rPr lang="en-US" altLang="zh-CN" sz="2400" b="1" kern="100" dirty="0" err="1">
                <a:latin typeface="+mn-lt"/>
                <a:ea typeface="宋体"/>
              </a:rPr>
              <a:t>HCl</a:t>
            </a:r>
            <a:r>
              <a:rPr lang="en-US" altLang="zh-CN" sz="2400" b="1" kern="100" dirty="0">
                <a:latin typeface="+mn-lt"/>
                <a:ea typeface="宋体"/>
              </a:rPr>
              <a:t>]=0.10mol</a:t>
            </a:r>
            <a:r>
              <a:rPr lang="zh-CN" altLang="zh-CN" sz="2400" b="1" kern="100" dirty="0">
                <a:latin typeface="+mn-lt"/>
                <a:ea typeface="宋体"/>
                <a:cs typeface="Times New Roman"/>
              </a:rPr>
              <a:t>·</a:t>
            </a:r>
            <a:r>
              <a:rPr lang="en-US" altLang="zh-CN" sz="2400" b="1" kern="100" dirty="0">
                <a:latin typeface="+mn-lt"/>
                <a:ea typeface="宋体"/>
              </a:rPr>
              <a:t>L</a:t>
            </a:r>
            <a:r>
              <a:rPr lang="en-US" altLang="zh-CN" sz="2400" b="1" kern="100" baseline="30000" dirty="0">
                <a:latin typeface="+mn-lt"/>
                <a:ea typeface="宋体"/>
              </a:rPr>
              <a:t>-1</a:t>
            </a:r>
            <a:endParaRPr kumimoji="1" lang="en-US" altLang="zh-CN" sz="2400" b="1" dirty="0" smtClean="0">
              <a:latin typeface="+mn-lt"/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23850"/>
            <a:ext cx="5329238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3-6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⑴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计算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c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S) = 0.10 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HS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2-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浓度和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值。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⑵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0.10mol·L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0.20mol·L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溶液等体积混合，求混合溶液的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值和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2-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的浓度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zh-CN" sz="2400" b="1" dirty="0"/>
              <a:t>①</a:t>
            </a:r>
            <a:r>
              <a:rPr lang="en-US" altLang="zh-CN" sz="2400" b="1" dirty="0"/>
              <a:t>9.4×10</a:t>
            </a:r>
            <a:r>
              <a:rPr lang="en-US" altLang="zh-CN" sz="2400" b="1" baseline="30000" dirty="0"/>
              <a:t>-5</a:t>
            </a:r>
            <a:r>
              <a:rPr lang="en-US" altLang="zh-CN" sz="2400" b="1" dirty="0"/>
              <a:t>mol·L</a:t>
            </a:r>
            <a:r>
              <a:rPr lang="en-US" altLang="zh-CN" sz="2400" b="1" baseline="30000" dirty="0"/>
              <a:t>-1</a:t>
            </a:r>
            <a:r>
              <a:rPr lang="zh-CN" altLang="zh-CN" sz="2400" b="1" dirty="0"/>
              <a:t>，</a:t>
            </a:r>
            <a:r>
              <a:rPr lang="en-US" altLang="zh-CN" sz="2400" b="1" dirty="0"/>
              <a:t>9.4×10</a:t>
            </a:r>
            <a:r>
              <a:rPr lang="en-US" altLang="zh-CN" sz="2400" b="1" baseline="30000" dirty="0"/>
              <a:t>-5</a:t>
            </a:r>
            <a:r>
              <a:rPr lang="en-US" altLang="zh-CN" sz="2400" b="1" dirty="0"/>
              <a:t>mol·L</a:t>
            </a:r>
            <a:r>
              <a:rPr lang="en-US" altLang="zh-CN" sz="2400" b="1" baseline="30000" dirty="0"/>
              <a:t>-1</a:t>
            </a:r>
            <a:r>
              <a:rPr lang="zh-CN" altLang="zh-CN" sz="2400" b="1" dirty="0"/>
              <a:t>，</a:t>
            </a:r>
            <a:r>
              <a:rPr lang="en-US" altLang="zh-CN" sz="2400" b="1" dirty="0"/>
              <a:t>1.26×10</a:t>
            </a:r>
            <a:r>
              <a:rPr lang="en-US" altLang="zh-CN" sz="2400" b="1" baseline="30000" dirty="0"/>
              <a:t>-14</a:t>
            </a:r>
            <a:r>
              <a:rPr lang="en-US" altLang="zh-CN" sz="2400" b="1" dirty="0"/>
              <a:t>mol·L</a:t>
            </a:r>
            <a:r>
              <a:rPr lang="en-US" altLang="zh-CN" sz="2400" b="1" baseline="30000" dirty="0"/>
              <a:t>-1</a:t>
            </a:r>
            <a:r>
              <a:rPr lang="zh-CN" altLang="zh-CN" sz="2400" b="1" dirty="0"/>
              <a:t>，</a:t>
            </a:r>
            <a:r>
              <a:rPr lang="en-US" altLang="zh-CN" sz="2400" b="1" dirty="0"/>
              <a:t>4.03</a:t>
            </a:r>
            <a:r>
              <a:rPr lang="zh-CN" altLang="zh-CN" sz="2400" b="1" dirty="0"/>
              <a:t>；</a:t>
            </a:r>
            <a:endParaRPr lang="en-US" altLang="zh-CN" sz="2400" b="1" dirty="0"/>
          </a:p>
          <a:p>
            <a:r>
              <a:rPr lang="zh-CN" altLang="zh-CN" sz="2400" b="1" dirty="0"/>
              <a:t>②</a:t>
            </a:r>
            <a:r>
              <a:rPr lang="en-US" altLang="zh-CN" sz="2400" b="1" dirty="0"/>
              <a:t>1.0</a:t>
            </a:r>
            <a:r>
              <a:rPr lang="zh-CN" altLang="zh-CN" sz="2400" b="1" dirty="0"/>
              <a:t>，</a:t>
            </a:r>
            <a:r>
              <a:rPr lang="en-US" altLang="zh-CN" sz="2400" b="1" dirty="0"/>
              <a:t>5.6×10</a:t>
            </a:r>
            <a:r>
              <a:rPr lang="en-US" altLang="zh-CN" sz="2400" b="1" baseline="30000" dirty="0"/>
              <a:t>-21</a:t>
            </a:r>
            <a:r>
              <a:rPr lang="en-US" altLang="zh-CN" sz="2400" b="1" dirty="0"/>
              <a:t>mol·L</a:t>
            </a:r>
            <a:r>
              <a:rPr lang="en-US" altLang="zh-CN" sz="2400" b="1" baseline="30000" dirty="0"/>
              <a:t>-1</a:t>
            </a:r>
            <a:endParaRPr kumimoji="1" lang="en-US" altLang="zh-CN" sz="2400" b="1" dirty="0">
              <a:ea typeface="华文新魏" pitchFamily="2" charset="-122"/>
            </a:endParaRPr>
          </a:p>
        </p:txBody>
      </p:sp>
      <p:sp>
        <p:nvSpPr>
          <p:cNvPr id="7175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267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采用零水准法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：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首先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要选取零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水准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；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其次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再将体系中其它存在形式与零水准相比，看哪些组分得质子，哪些组分失质子，得失质子数是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多少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；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最后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根据得失质子的物质的量应相等的原则写出等式。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57012"/>
            <a:ext cx="5329238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3-7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写出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下列物质在水溶液中的质子条件式：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⑴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·H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；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    </a:t>
            </a: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⑵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Ac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；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⑶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 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HPO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；</a:t>
            </a: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⑷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HCOOH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；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⑸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；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              </a:t>
            </a: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⑹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Na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C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8197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57012"/>
            <a:ext cx="5329238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3-7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写出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下列物质在水溶液中的质子条件式：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⑴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·H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；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    </a:t>
            </a: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⑵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Ac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；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⑶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 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HPO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；</a:t>
            </a: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⑷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HCOOH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；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⑸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；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              </a:t>
            </a: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⑹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Na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C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320675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76938" y="782638"/>
            <a:ext cx="5329237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(1)     [H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]=[OH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]-[NH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(2)     [H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]=[OH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]+[NH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]-[</a:t>
            </a:r>
            <a:r>
              <a:rPr lang="en-US" altLang="zh-CN" sz="2400" b="1" kern="100" dirty="0" err="1" smtClean="0">
                <a:latin typeface="+mn-lt"/>
                <a:ea typeface="华文新魏" pitchFamily="2" charset="-122"/>
              </a:rPr>
              <a:t>HAc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</a:t>
            </a:r>
            <a:endParaRPr lang="zh-CN" altLang="zh-CN" sz="2400" b="1" kern="100" dirty="0" smtClean="0">
              <a:latin typeface="+mn-lt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(3)     [H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]=[OH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]+[NH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]+[PO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3-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                              -[H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PO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]-2[H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PO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</a:t>
            </a:r>
            <a:endParaRPr lang="zh-CN" altLang="zh-CN" sz="2400" b="1" kern="100" dirty="0" smtClean="0">
              <a:latin typeface="+mn-lt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(4)     [H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]=[OH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]+[HCOO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</a:t>
            </a:r>
            <a:endParaRPr lang="zh-CN" altLang="zh-CN" sz="2400" b="1" kern="100" dirty="0" smtClean="0">
              <a:latin typeface="+mn-lt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(5)     [H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]=[OH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]+[HS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]+2[S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</a:t>
            </a:r>
            <a:endParaRPr lang="zh-CN" altLang="zh-CN" sz="2400" b="1" kern="100" dirty="0" smtClean="0">
              <a:latin typeface="+mn-lt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(6)     [H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]=[OH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]-[HC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]-2[H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C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]</a:t>
            </a:r>
            <a:endParaRPr lang="zh-CN" altLang="zh-CN" sz="2400" b="1" kern="100" dirty="0" smtClean="0">
              <a:latin typeface="+mn-lt"/>
              <a:ea typeface="华文新魏" pitchFamily="2" charset="-122"/>
            </a:endParaRPr>
          </a:p>
        </p:txBody>
      </p:sp>
      <p:sp>
        <p:nvSpPr>
          <p:cNvPr id="9221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 advAuto="0"/>
      <p:bldP spid="8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一元弱碱体系的酸度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计算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algn="ctr">
              <a:defRPr/>
            </a:pPr>
            <a:r>
              <a:rPr lang="en-US" altLang="zh-CN" sz="2400" b="1" dirty="0">
                <a:ea typeface="楷体_GB2312" pitchFamily="49" charset="-122"/>
              </a:rPr>
              <a:t>pOH = (</a:t>
            </a:r>
            <a:r>
              <a:rPr lang="en-US" altLang="zh-CN" sz="2400" b="1" dirty="0" err="1">
                <a:ea typeface="楷体_GB2312" pitchFamily="49" charset="-122"/>
              </a:rPr>
              <a:t>p</a:t>
            </a:r>
            <a:r>
              <a:rPr lang="en-US" altLang="zh-CN" sz="24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 err="1">
                <a:ea typeface="楷体_GB2312" pitchFamily="49" charset="-122"/>
                <a:sym typeface="Webdings" pitchFamily="18" charset="2"/>
              </a:rPr>
              <a:t>b</a:t>
            </a:r>
            <a:r>
              <a:rPr lang="en-US" altLang="zh-CN" sz="24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400" b="1" dirty="0">
                <a:ea typeface="楷体_GB2312" pitchFamily="49" charset="-122"/>
              </a:rPr>
              <a:t>+ p</a:t>
            </a:r>
            <a:r>
              <a:rPr lang="en-US" altLang="zh-CN" sz="2400" b="1" i="1" dirty="0">
                <a:ea typeface="楷体_GB2312" pitchFamily="49" charset="-122"/>
              </a:rPr>
              <a:t>c</a:t>
            </a:r>
            <a:r>
              <a:rPr lang="en-US" altLang="zh-CN" sz="2400" b="1" dirty="0">
                <a:ea typeface="楷体_GB2312" pitchFamily="49" charset="-122"/>
              </a:rPr>
              <a:t>)/</a:t>
            </a:r>
            <a:r>
              <a:rPr lang="en-US" altLang="zh-CN" sz="2400" b="1" dirty="0" smtClean="0">
                <a:ea typeface="楷体_GB2312" pitchFamily="49" charset="-122"/>
              </a:rPr>
              <a:t>2</a:t>
            </a:r>
          </a:p>
          <a:p>
            <a:pPr algn="ctr">
              <a:defRPr/>
            </a:pPr>
            <a:r>
              <a:rPr kumimoji="1" lang="en-US" altLang="zh-CN" sz="2800" b="1" dirty="0">
                <a:solidFill>
                  <a:schemeClr val="bg1"/>
                </a:solidFill>
                <a:ea typeface="楷体_GB2312" pitchFamily="49" charset="-122"/>
              </a:rPr>
              <a:t>pH = </a:t>
            </a:r>
            <a:r>
              <a:rPr kumimoji="1" lang="en-US" altLang="zh-CN" sz="2800" b="1" dirty="0" err="1">
                <a:solidFill>
                  <a:schemeClr val="bg1"/>
                </a:solidFill>
                <a:ea typeface="楷体_GB2312" pitchFamily="49" charset="-122"/>
              </a:rPr>
              <a:t>p</a:t>
            </a:r>
            <a:r>
              <a:rPr kumimoji="1" lang="en-US" altLang="zh-CN" sz="2800" b="1" i="1" dirty="0" err="1">
                <a:solidFill>
                  <a:schemeClr val="bg1"/>
                </a:solidFill>
                <a:ea typeface="楷体_GB2312" pitchFamily="49" charset="-122"/>
              </a:rPr>
              <a:t>K</a:t>
            </a:r>
            <a:r>
              <a:rPr kumimoji="1" lang="en-US" altLang="zh-CN" b="1" baseline="100000" dirty="0" err="1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kumimoji="1" lang="en-US" altLang="zh-CN" sz="2800" b="1" baseline="-25000" dirty="0" err="1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w</a:t>
            </a:r>
            <a:r>
              <a:rPr kumimoji="1" lang="en-US" altLang="zh-CN" sz="2800" b="1" dirty="0">
                <a:solidFill>
                  <a:schemeClr val="bg1"/>
                </a:solidFill>
                <a:ea typeface="楷体_GB2312" pitchFamily="49" charset="-122"/>
              </a:rPr>
              <a:t> - pOH</a:t>
            </a:r>
            <a:endParaRPr kumimoji="1" lang="en-US" altLang="zh-CN" sz="2400" b="1" dirty="0" smtClean="0">
              <a:solidFill>
                <a:schemeClr val="bg1"/>
              </a:solidFill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81296"/>
            <a:ext cx="5329238" cy="1215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3-8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%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的氨水溶液，相对密度为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0.953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，求此氨水的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OH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浓度和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值。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6.73 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12.04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0247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对于一元弱酸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：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algn="ctr">
              <a:defRPr/>
            </a:pPr>
            <a:r>
              <a:rPr lang="en-US" altLang="zh-CN" sz="2400" b="1" dirty="0">
                <a:ea typeface="楷体_GB2312" pitchFamily="49" charset="-122"/>
              </a:rPr>
              <a:t>pH = (</a:t>
            </a:r>
            <a:r>
              <a:rPr lang="en-US" altLang="zh-CN" sz="2400" b="1" dirty="0" err="1">
                <a:ea typeface="楷体_GB2312" pitchFamily="49" charset="-122"/>
              </a:rPr>
              <a:t>p</a:t>
            </a:r>
            <a:r>
              <a:rPr lang="en-US" altLang="zh-CN" sz="24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4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400" b="1" dirty="0">
                <a:ea typeface="楷体_GB2312" pitchFamily="49" charset="-122"/>
              </a:rPr>
              <a:t>+ p</a:t>
            </a:r>
            <a:r>
              <a:rPr lang="en-US" altLang="zh-CN" sz="2400" b="1" i="1" dirty="0">
                <a:ea typeface="楷体_GB2312" pitchFamily="49" charset="-122"/>
              </a:rPr>
              <a:t>c</a:t>
            </a:r>
            <a:r>
              <a:rPr lang="en-US" altLang="zh-CN" sz="2400" b="1" dirty="0">
                <a:ea typeface="楷体_GB2312" pitchFamily="49" charset="-122"/>
              </a:rPr>
              <a:t>)/2</a:t>
            </a:r>
          </a:p>
          <a:p>
            <a:pPr>
              <a:defRPr/>
            </a:pP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404166"/>
            <a:ext cx="5329238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3-9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计算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浓度为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0.12mol·L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的下列物质水溶液的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值（括号内为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p</a:t>
            </a:r>
            <a:r>
              <a:rPr lang="en-US" altLang="zh-CN" sz="2400" b="1" i="1" kern="100" dirty="0" err="1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 err="1">
                <a:latin typeface="Times New Roman"/>
                <a:ea typeface="华文新魏" pitchFamily="2" charset="-122"/>
              </a:rPr>
              <a:t>a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  <a:sym typeface="Symbol"/>
              </a:rPr>
              <a:t>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值）：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⑴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 苯酚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(9.99)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；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         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⑶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氯化丁基铵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(C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9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Cl)(9.39)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；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⑵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 丙烯酸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(4.25)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；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       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⑷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吡啶的硝酸盐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(C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6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5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NHNO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)(5.30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)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5.46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2.58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5.16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3.11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1271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此题是两性物质溶液酸度的计算，使用最简式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。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algn="ctr">
              <a:defRPr/>
            </a:pPr>
            <a:r>
              <a:rPr lang="en-US" altLang="zh-CN" sz="2400" b="1" dirty="0" smtClean="0">
                <a:ea typeface="楷体_GB2312" pitchFamily="49" charset="-122"/>
              </a:rPr>
              <a:t>pH </a:t>
            </a:r>
            <a:r>
              <a:rPr lang="en-US" altLang="zh-CN" sz="2400" b="1" dirty="0">
                <a:ea typeface="楷体_GB2312" pitchFamily="49" charset="-122"/>
              </a:rPr>
              <a:t>= (p</a:t>
            </a:r>
            <a:r>
              <a:rPr lang="en-US" altLang="zh-CN" sz="24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>
                <a:ea typeface="楷体_GB2312" pitchFamily="49" charset="-122"/>
                <a:sym typeface="Webdings" pitchFamily="18" charset="2"/>
              </a:rPr>
              <a:t>a1 </a:t>
            </a:r>
            <a:r>
              <a:rPr lang="en-US" altLang="zh-CN" sz="2400" b="1" dirty="0">
                <a:ea typeface="楷体_GB2312" pitchFamily="49" charset="-122"/>
              </a:rPr>
              <a:t>+ p</a:t>
            </a:r>
            <a:r>
              <a:rPr lang="en-US" altLang="zh-CN" sz="24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>
                <a:ea typeface="楷体_GB2312" pitchFamily="49" charset="-122"/>
                <a:sym typeface="Webdings" pitchFamily="18" charset="2"/>
              </a:rPr>
              <a:t>a2</a:t>
            </a:r>
            <a:r>
              <a:rPr lang="en-US" altLang="zh-CN" sz="2400" b="1" dirty="0">
                <a:ea typeface="楷体_GB2312" pitchFamily="49" charset="-122"/>
              </a:rPr>
              <a:t>)/</a:t>
            </a:r>
            <a:r>
              <a:rPr lang="en-US" altLang="zh-CN" sz="2400" b="1" dirty="0" smtClean="0">
                <a:ea typeface="楷体_GB2312" pitchFamily="49" charset="-122"/>
              </a:rPr>
              <a:t>2</a:t>
            </a:r>
          </a:p>
          <a:p>
            <a:pPr algn="ctr">
              <a:defRPr/>
            </a:pPr>
            <a:r>
              <a:rPr lang="en-US" altLang="zh-CN" sz="2400" b="1" dirty="0">
                <a:ea typeface="楷体_GB2312" pitchFamily="49" charset="-122"/>
              </a:rPr>
              <a:t>pH = (p</a:t>
            </a:r>
            <a:r>
              <a:rPr lang="en-US" altLang="zh-CN" sz="24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>
                <a:ea typeface="楷体_GB2312" pitchFamily="49" charset="-122"/>
                <a:sym typeface="Webdings" pitchFamily="18" charset="2"/>
              </a:rPr>
              <a:t>a2 </a:t>
            </a:r>
            <a:r>
              <a:rPr lang="en-US" altLang="zh-CN" sz="2400" b="1" dirty="0">
                <a:ea typeface="楷体_GB2312" pitchFamily="49" charset="-122"/>
              </a:rPr>
              <a:t>+ p</a:t>
            </a:r>
            <a:r>
              <a:rPr lang="en-US" altLang="zh-CN" sz="24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>
                <a:ea typeface="楷体_GB2312" pitchFamily="49" charset="-122"/>
                <a:sym typeface="Webdings" pitchFamily="18" charset="2"/>
              </a:rPr>
              <a:t>a3</a:t>
            </a:r>
            <a:r>
              <a:rPr lang="en-US" altLang="zh-CN" sz="2400" b="1" dirty="0">
                <a:ea typeface="楷体_GB2312" pitchFamily="49" charset="-122"/>
              </a:rPr>
              <a:t>)/2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81296"/>
            <a:ext cx="5329238" cy="1215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3-10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计算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下列溶液的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值：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⑴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0.10mol·L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；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 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⑵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0.05mol·L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HPO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；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4.68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9.76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2295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69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此题是缓冲溶液酸度的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计算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algn="ctr" eaLnBrk="1" hangingPunct="1">
              <a:defRPr/>
            </a:pPr>
            <a:r>
              <a:rPr kumimoji="1" lang="en-US" altLang="zh-CN" sz="2800" b="1" dirty="0">
                <a:solidFill>
                  <a:schemeClr val="bg1"/>
                </a:solidFill>
                <a:ea typeface="楷体_GB2312" pitchFamily="49" charset="-122"/>
              </a:rPr>
              <a:t>[H</a:t>
            </a:r>
            <a:r>
              <a:rPr kumimoji="1" lang="en-US" altLang="zh-CN" sz="2800" b="1" baseline="30000" dirty="0">
                <a:solidFill>
                  <a:schemeClr val="bg1"/>
                </a:solidFill>
                <a:ea typeface="楷体_GB2312" pitchFamily="49" charset="-122"/>
              </a:rPr>
              <a:t>+</a:t>
            </a:r>
            <a:r>
              <a:rPr kumimoji="1" lang="en-US" altLang="zh-CN" sz="2800" b="1" dirty="0">
                <a:solidFill>
                  <a:schemeClr val="bg1"/>
                </a:solidFill>
                <a:ea typeface="楷体_GB2312" pitchFamily="49" charset="-122"/>
              </a:rPr>
              <a:t>] = (</a:t>
            </a:r>
            <a:r>
              <a:rPr kumimoji="1" lang="en-US" altLang="zh-CN" sz="2800" b="1" i="1" dirty="0" err="1">
                <a:solidFill>
                  <a:schemeClr val="bg1"/>
                </a:solidFill>
                <a:ea typeface="楷体_GB2312" pitchFamily="49" charset="-122"/>
              </a:rPr>
              <a:t>K</a:t>
            </a:r>
            <a:r>
              <a:rPr kumimoji="1" lang="en-US" altLang="zh-CN" b="1" baseline="100000" dirty="0" err="1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kumimoji="1" lang="en-US" altLang="zh-CN" sz="2800" b="1" baseline="-25000" dirty="0" err="1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a</a:t>
            </a:r>
            <a:r>
              <a:rPr kumimoji="1" lang="en-US" altLang="zh-CN" sz="2800" b="1" i="1" dirty="0" err="1">
                <a:solidFill>
                  <a:schemeClr val="bg1"/>
                </a:solidFill>
                <a:ea typeface="楷体_GB2312" pitchFamily="49" charset="-122"/>
              </a:rPr>
              <a:t>c</a:t>
            </a:r>
            <a:r>
              <a:rPr kumimoji="1" lang="en-US" altLang="zh-CN" sz="2800" b="1" i="1" baseline="-25000" dirty="0" err="1">
                <a:solidFill>
                  <a:schemeClr val="bg1"/>
                </a:solidFill>
                <a:ea typeface="楷体_GB2312" pitchFamily="49" charset="-122"/>
              </a:rPr>
              <a:t>a</a:t>
            </a:r>
            <a:r>
              <a:rPr kumimoji="1" lang="en-US" altLang="zh-CN" sz="2800" b="1" dirty="0">
                <a:solidFill>
                  <a:schemeClr val="bg1"/>
                </a:solidFill>
                <a:ea typeface="楷体_GB2312" pitchFamily="49" charset="-122"/>
              </a:rPr>
              <a:t>)/</a:t>
            </a:r>
            <a:r>
              <a:rPr kumimoji="1" lang="en-US" altLang="zh-CN" sz="2800" b="1" i="1" dirty="0" err="1">
                <a:solidFill>
                  <a:schemeClr val="bg1"/>
                </a:solidFill>
                <a:ea typeface="楷体_GB2312" pitchFamily="49" charset="-122"/>
              </a:rPr>
              <a:t>c</a:t>
            </a:r>
            <a:r>
              <a:rPr kumimoji="1" lang="en-US" altLang="zh-CN" sz="2800" b="1" i="1" baseline="-25000" dirty="0" err="1">
                <a:solidFill>
                  <a:schemeClr val="bg1"/>
                </a:solidFill>
                <a:ea typeface="楷体_GB2312" pitchFamily="49" charset="-122"/>
              </a:rPr>
              <a:t>b</a:t>
            </a:r>
            <a:r>
              <a:rPr kumimoji="1" lang="en-US" altLang="zh-CN" sz="2800" b="1" i="1" baseline="-25000" dirty="0">
                <a:solidFill>
                  <a:schemeClr val="bg1"/>
                </a:solidFill>
                <a:ea typeface="楷体_GB2312" pitchFamily="49" charset="-122"/>
              </a:rPr>
              <a:t> </a:t>
            </a:r>
            <a:endParaRPr kumimoji="1" lang="en-US" altLang="zh-CN" sz="2800" b="1" dirty="0" smtClean="0">
              <a:solidFill>
                <a:schemeClr val="bg1"/>
              </a:solidFill>
              <a:ea typeface="楷体_GB2312" pitchFamily="49" charset="-122"/>
            </a:endParaRPr>
          </a:p>
          <a:p>
            <a:pPr algn="ctr" eaLnBrk="1" hangingPunct="1">
              <a:defRPr/>
            </a:pPr>
            <a:r>
              <a:rPr kumimoji="1" lang="zh-CN" altLang="en-US" sz="2800" b="1" dirty="0" smtClean="0">
                <a:solidFill>
                  <a:schemeClr val="bg1"/>
                </a:solidFill>
                <a:ea typeface="楷体_GB2312" pitchFamily="49" charset="-122"/>
              </a:rPr>
              <a:t>或</a:t>
            </a:r>
            <a:r>
              <a:rPr kumimoji="1" lang="en-US" altLang="zh-CN" sz="2800" b="1" dirty="0">
                <a:solidFill>
                  <a:schemeClr val="bg1"/>
                </a:solidFill>
                <a:ea typeface="楷体_GB2312" pitchFamily="49" charset="-122"/>
              </a:rPr>
              <a:t>pH = </a:t>
            </a:r>
            <a:r>
              <a:rPr kumimoji="1" lang="en-US" altLang="zh-CN" sz="2800" b="1" dirty="0" err="1">
                <a:solidFill>
                  <a:schemeClr val="bg1"/>
                </a:solidFill>
                <a:ea typeface="楷体_GB2312" pitchFamily="49" charset="-122"/>
              </a:rPr>
              <a:t>p</a:t>
            </a:r>
            <a:r>
              <a:rPr kumimoji="1" lang="en-US" altLang="zh-CN" sz="2800" b="1" i="1" dirty="0" err="1">
                <a:solidFill>
                  <a:schemeClr val="bg1"/>
                </a:solidFill>
                <a:ea typeface="楷体_GB2312" pitchFamily="49" charset="-122"/>
              </a:rPr>
              <a:t>K</a:t>
            </a:r>
            <a:r>
              <a:rPr kumimoji="1" lang="en-US" altLang="zh-CN" b="1" baseline="100000" dirty="0" err="1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kumimoji="1" lang="en-US" altLang="zh-CN" sz="2800" b="1" baseline="-25000" dirty="0" err="1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a</a:t>
            </a:r>
            <a:r>
              <a:rPr kumimoji="1" lang="en-US" altLang="zh-CN" sz="2800" b="1" baseline="-25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 </a:t>
            </a:r>
            <a:r>
              <a:rPr kumimoji="1" lang="en-US" altLang="zh-CN" sz="2800" b="1" dirty="0">
                <a:solidFill>
                  <a:schemeClr val="bg1"/>
                </a:solidFill>
                <a:ea typeface="楷体_GB2312" pitchFamily="49" charset="-122"/>
              </a:rPr>
              <a:t>+ </a:t>
            </a:r>
            <a:r>
              <a:rPr kumimoji="1" lang="en-US" altLang="zh-CN" sz="2800" b="1" dirty="0" err="1">
                <a:solidFill>
                  <a:schemeClr val="bg1"/>
                </a:solidFill>
                <a:ea typeface="楷体_GB2312" pitchFamily="49" charset="-122"/>
              </a:rPr>
              <a:t>lg</a:t>
            </a:r>
            <a:r>
              <a:rPr kumimoji="1" lang="en-US" altLang="zh-CN" sz="2800" b="1" dirty="0">
                <a:solidFill>
                  <a:schemeClr val="bg1"/>
                </a:solidFill>
                <a:ea typeface="楷体_GB2312" pitchFamily="49" charset="-122"/>
              </a:rPr>
              <a:t>(</a:t>
            </a:r>
            <a:r>
              <a:rPr kumimoji="1" lang="en-US" altLang="zh-CN" sz="2800" b="1" i="1" dirty="0" err="1">
                <a:solidFill>
                  <a:schemeClr val="bg1"/>
                </a:solidFill>
                <a:ea typeface="楷体_GB2312" pitchFamily="49" charset="-122"/>
              </a:rPr>
              <a:t>c</a:t>
            </a:r>
            <a:r>
              <a:rPr kumimoji="1" lang="en-US" altLang="zh-CN" sz="2800" b="1" i="1" baseline="-25000" dirty="0" err="1">
                <a:solidFill>
                  <a:schemeClr val="bg1"/>
                </a:solidFill>
                <a:ea typeface="楷体_GB2312" pitchFamily="49" charset="-122"/>
              </a:rPr>
              <a:t>b</a:t>
            </a:r>
            <a:r>
              <a:rPr kumimoji="1" lang="en-US" altLang="zh-CN" sz="2800" b="1" dirty="0">
                <a:solidFill>
                  <a:schemeClr val="bg1"/>
                </a:solidFill>
                <a:ea typeface="楷体_GB2312" pitchFamily="49" charset="-122"/>
              </a:rPr>
              <a:t>/</a:t>
            </a:r>
            <a:r>
              <a:rPr kumimoji="1" lang="en-US" altLang="zh-CN" sz="2800" b="1" i="1" dirty="0">
                <a:solidFill>
                  <a:schemeClr val="bg1"/>
                </a:solidFill>
                <a:ea typeface="楷体_GB2312" pitchFamily="49" charset="-122"/>
              </a:rPr>
              <a:t>c</a:t>
            </a:r>
            <a:r>
              <a:rPr kumimoji="1" lang="en-US" altLang="zh-CN" sz="2800" b="1" i="1" baseline="-25000" dirty="0">
                <a:solidFill>
                  <a:schemeClr val="bg1"/>
                </a:solidFill>
                <a:ea typeface="楷体_GB2312" pitchFamily="49" charset="-122"/>
              </a:rPr>
              <a:t>a</a:t>
            </a:r>
            <a:r>
              <a:rPr kumimoji="1" lang="en-US" altLang="zh-CN" sz="2800" b="1" dirty="0">
                <a:solidFill>
                  <a:schemeClr val="bg1"/>
                </a:solidFill>
                <a:ea typeface="楷体_GB2312" pitchFamily="49" charset="-122"/>
              </a:rPr>
              <a:t>).</a:t>
            </a:r>
          </a:p>
          <a:p>
            <a:pPr>
              <a:defRPr/>
            </a:pP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23850"/>
            <a:ext cx="5329238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3-11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计算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下列水溶液的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值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（括号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内为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p</a:t>
            </a:r>
            <a:r>
              <a:rPr lang="en-US" altLang="zh-CN" sz="2400" b="1" i="1" kern="100" dirty="0" err="1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 err="1">
                <a:latin typeface="Times New Roman"/>
                <a:ea typeface="华文新魏" pitchFamily="2" charset="-122"/>
              </a:rPr>
              <a:t>a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  <a:sym typeface="Symbol"/>
              </a:rPr>
              <a:t>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或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p</a:t>
            </a:r>
            <a:r>
              <a:rPr lang="en-US" altLang="zh-CN" sz="2400" b="1" i="1" kern="100" dirty="0" err="1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 err="1">
                <a:latin typeface="Times New Roman"/>
                <a:ea typeface="华文新魏" pitchFamily="2" charset="-122"/>
              </a:rPr>
              <a:t>b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  <a:sym typeface="Symbol"/>
              </a:rPr>
              <a:t>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值）：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⑴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0.10mol·L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乳酸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和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0.10mol·L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乳酸钠（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3.58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）；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⑵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0.010mol·L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邻硝基酚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和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0.012mol·L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邻硝基酚的钠盐（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7.21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）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⑶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0.12mol·L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氯化三乙基铵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</a:t>
            </a:r>
          </a:p>
          <a:p>
            <a:pPr marL="0" indent="0"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0.010mol·L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三乙基胺（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7.90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）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⑷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0.070mol·L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氯化丁基铵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和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0.060mol·L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丁基胺（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10.71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）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3.58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7.29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5.02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3.22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3319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defRPr/>
            </a:pPr>
            <a:r>
              <a:rPr lang="zh-CN" altLang="zh-CN" sz="2400" b="1" kern="100" dirty="0" smtClean="0">
                <a:solidFill>
                  <a:srgbClr val="FFFFFF"/>
                </a:solidFill>
                <a:latin typeface="+mj-lt"/>
                <a:ea typeface="华文新魏" pitchFamily="2" charset="-122"/>
                <a:cs typeface="宋体"/>
              </a:rPr>
              <a:t>⑴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+mj-lt"/>
                <a:ea typeface="华文新魏" pitchFamily="2" charset="-122"/>
              </a:rPr>
              <a:t> 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要使溶液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pH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升高，应加入碱</a:t>
            </a:r>
            <a:endParaRPr kumimoji="1" lang="en-US" altLang="zh-CN" sz="2400" b="1" dirty="0" smtClean="0">
              <a:solidFill>
                <a:schemeClr val="bg1"/>
              </a:solidFill>
              <a:latin typeface="+mj-lt"/>
              <a:ea typeface="华文新魏" pitchFamily="2" charset="-122"/>
            </a:endParaRPr>
          </a:p>
          <a:p>
            <a:pPr eaLnBrk="1" hangingPunct="1">
              <a:defRPr/>
            </a:pPr>
            <a:r>
              <a:rPr lang="zh-CN" altLang="zh-CN" sz="2400" b="1" kern="100" dirty="0">
                <a:latin typeface="+mj-lt"/>
                <a:ea typeface="华文新魏" pitchFamily="2" charset="-122"/>
                <a:cs typeface="宋体"/>
              </a:rPr>
              <a:t>⑵ 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pH </a:t>
            </a:r>
            <a:r>
              <a:rPr kumimoji="1" lang="en-US" altLang="zh-CN" sz="2400" b="1" dirty="0">
                <a:solidFill>
                  <a:schemeClr val="bg1"/>
                </a:solidFill>
                <a:latin typeface="+mj-lt"/>
                <a:ea typeface="华文新魏" pitchFamily="2" charset="-122"/>
              </a:rPr>
              <a:t>=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lt"/>
                <a:ea typeface="华文新魏" pitchFamily="2" charset="-122"/>
              </a:rPr>
              <a:t>p</a:t>
            </a:r>
            <a:r>
              <a:rPr kumimoji="1" lang="en-US" altLang="zh-CN" sz="2400" b="1" i="1" dirty="0" err="1">
                <a:solidFill>
                  <a:schemeClr val="bg1"/>
                </a:solidFill>
                <a:latin typeface="+mj-lt"/>
                <a:ea typeface="华文新魏" pitchFamily="2" charset="-122"/>
              </a:rPr>
              <a:t>K</a:t>
            </a:r>
            <a:r>
              <a:rPr kumimoji="1" lang="en-US" altLang="zh-CN" sz="2400" b="1" baseline="100000" dirty="0" err="1">
                <a:solidFill>
                  <a:schemeClr val="bg1"/>
                </a:solidFill>
                <a:latin typeface="+mj-lt"/>
                <a:ea typeface="华文新魏" pitchFamily="2" charset="-122"/>
                <a:sym typeface="Webdings" pitchFamily="18" charset="2"/>
              </a:rPr>
              <a:t></a:t>
            </a:r>
            <a:r>
              <a:rPr kumimoji="1" lang="en-US" altLang="zh-CN" sz="2400" b="1" baseline="-25000" dirty="0" err="1">
                <a:solidFill>
                  <a:schemeClr val="bg1"/>
                </a:solidFill>
                <a:latin typeface="+mj-lt"/>
                <a:ea typeface="华文新魏" pitchFamily="2" charset="-122"/>
                <a:sym typeface="Webdings" pitchFamily="18" charset="2"/>
              </a:rPr>
              <a:t>a</a:t>
            </a:r>
            <a:r>
              <a:rPr kumimoji="1" lang="en-US" altLang="zh-CN" sz="2400" b="1" baseline="-25000" dirty="0">
                <a:solidFill>
                  <a:schemeClr val="bg1"/>
                </a:solidFill>
                <a:latin typeface="+mj-lt"/>
                <a:ea typeface="华文新魏" pitchFamily="2" charset="-122"/>
                <a:sym typeface="Webdings" pitchFamily="18" charset="2"/>
              </a:rPr>
              <a:t> </a:t>
            </a:r>
            <a:r>
              <a:rPr kumimoji="1" lang="en-US" altLang="zh-CN" sz="2400" b="1" dirty="0">
                <a:solidFill>
                  <a:schemeClr val="bg1"/>
                </a:solidFill>
                <a:latin typeface="+mj-lt"/>
                <a:ea typeface="华文新魏" pitchFamily="2" charset="-122"/>
              </a:rPr>
              <a:t>+ 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j-lt"/>
                <a:ea typeface="华文新魏" pitchFamily="2" charset="-122"/>
              </a:rPr>
              <a:t>lg</a:t>
            </a:r>
            <a:r>
              <a:rPr kumimoji="1" lang="en-US" altLang="zh-CN" sz="2400" b="1" dirty="0">
                <a:solidFill>
                  <a:schemeClr val="bg1"/>
                </a:solidFill>
                <a:latin typeface="+mj-lt"/>
                <a:ea typeface="华文新魏" pitchFamily="2" charset="-122"/>
              </a:rPr>
              <a:t>(</a:t>
            </a:r>
            <a:r>
              <a:rPr kumimoji="1" lang="en-US" altLang="zh-CN" sz="2400" b="1" i="1" dirty="0" err="1">
                <a:solidFill>
                  <a:schemeClr val="bg1"/>
                </a:solidFill>
                <a:latin typeface="+mj-lt"/>
                <a:ea typeface="华文新魏" pitchFamily="2" charset="-122"/>
              </a:rPr>
              <a:t>c</a:t>
            </a:r>
            <a:r>
              <a:rPr kumimoji="1" lang="en-US" altLang="zh-CN" sz="2400" b="1" i="1" baseline="-25000" dirty="0" err="1">
                <a:solidFill>
                  <a:schemeClr val="bg1"/>
                </a:solidFill>
                <a:latin typeface="+mj-lt"/>
                <a:ea typeface="华文新魏" pitchFamily="2" charset="-122"/>
              </a:rPr>
              <a:t>b</a:t>
            </a:r>
            <a:r>
              <a:rPr kumimoji="1" lang="en-US" altLang="zh-CN" sz="2400" b="1" dirty="0">
                <a:solidFill>
                  <a:schemeClr val="bg1"/>
                </a:solidFill>
                <a:latin typeface="+mj-lt"/>
                <a:ea typeface="华文新魏" pitchFamily="2" charset="-122"/>
              </a:rPr>
              <a:t>/</a:t>
            </a:r>
            <a:r>
              <a:rPr kumimoji="1" lang="en-US" altLang="zh-CN" sz="2400" b="1" i="1" dirty="0">
                <a:solidFill>
                  <a:schemeClr val="bg1"/>
                </a:solidFill>
                <a:latin typeface="+mj-lt"/>
                <a:ea typeface="华文新魏" pitchFamily="2" charset="-122"/>
              </a:rPr>
              <a:t>c</a:t>
            </a:r>
            <a:r>
              <a:rPr kumimoji="1" lang="en-US" altLang="zh-CN" sz="2400" b="1" i="1" baseline="-25000" dirty="0">
                <a:solidFill>
                  <a:schemeClr val="bg1"/>
                </a:solidFill>
                <a:latin typeface="+mj-lt"/>
                <a:ea typeface="华文新魏" pitchFamily="2" charset="-122"/>
              </a:rPr>
              <a:t>a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j-lt"/>
                <a:ea typeface="华文新魏" pitchFamily="2" charset="-122"/>
              </a:rPr>
              <a:t>)</a:t>
            </a:r>
          </a:p>
          <a:p>
            <a:pPr eaLnBrk="1" hangingPunct="1">
              <a:defRPr/>
            </a:pPr>
            <a:r>
              <a:rPr lang="zh-CN" altLang="zh-CN" sz="2400" b="1" kern="100" dirty="0" smtClean="0">
                <a:latin typeface="+mj-lt"/>
                <a:ea typeface="华文新魏" pitchFamily="2" charset="-122"/>
                <a:cs typeface="宋体"/>
              </a:rPr>
              <a:t>⑶</a:t>
            </a:r>
            <a:r>
              <a:rPr lang="zh-CN" altLang="en-US" sz="2400" b="1" kern="100" dirty="0" smtClean="0">
                <a:latin typeface="+mj-lt"/>
                <a:ea typeface="华文新魏" pitchFamily="2" charset="-122"/>
                <a:cs typeface="宋体"/>
              </a:rPr>
              <a:t>混合酸，忽略弱酸的解离</a:t>
            </a:r>
            <a:endParaRPr lang="en-US" altLang="zh-CN" sz="2400" b="1" kern="100" dirty="0" smtClean="0">
              <a:latin typeface="+mj-lt"/>
              <a:ea typeface="华文新魏" pitchFamily="2" charset="-122"/>
              <a:cs typeface="宋体"/>
            </a:endParaRPr>
          </a:p>
          <a:p>
            <a:pPr eaLnBrk="1" hangingPunct="1">
              <a:defRPr/>
            </a:pPr>
            <a:r>
              <a:rPr lang="zh-CN" altLang="zh-CN" sz="2400" b="1" kern="100" dirty="0" smtClean="0">
                <a:latin typeface="+mj-lt"/>
                <a:ea typeface="华文新魏" pitchFamily="2" charset="-122"/>
                <a:cs typeface="宋体"/>
              </a:rPr>
              <a:t>⑷</a:t>
            </a:r>
            <a:r>
              <a:rPr lang="en-US" altLang="zh-CN" sz="2400" b="1" kern="100" dirty="0">
                <a:latin typeface="+mj-lt"/>
                <a:ea typeface="华文新魏" pitchFamily="2" charset="-122"/>
              </a:rPr>
              <a:t> </a:t>
            </a:r>
            <a:r>
              <a:rPr lang="en-US" altLang="zh-CN" sz="2400" b="1" kern="100" dirty="0" err="1" smtClean="0">
                <a:latin typeface="+mj-lt"/>
                <a:ea typeface="华文新魏" pitchFamily="2" charset="-122"/>
              </a:rPr>
              <a:t>NaOH</a:t>
            </a:r>
            <a:r>
              <a:rPr lang="zh-CN" altLang="en-US" sz="2400" b="1" kern="100" dirty="0" smtClean="0">
                <a:latin typeface="+mj-lt"/>
                <a:ea typeface="华文新魏" pitchFamily="2" charset="-122"/>
              </a:rPr>
              <a:t>溶液过量，按过量的</a:t>
            </a:r>
            <a:r>
              <a:rPr lang="en-US" altLang="zh-CN" sz="2400" b="1" kern="100" dirty="0" err="1">
                <a:latin typeface="+mj-lt"/>
                <a:ea typeface="华文新魏" pitchFamily="2" charset="-122"/>
              </a:rPr>
              <a:t>NaOH</a:t>
            </a:r>
            <a:endParaRPr kumimoji="1" lang="en-US" altLang="zh-CN" sz="2400" b="1" dirty="0" smtClean="0">
              <a:solidFill>
                <a:schemeClr val="bg1"/>
              </a:solidFill>
              <a:latin typeface="+mj-lt"/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23850"/>
            <a:ext cx="5329238" cy="4909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3-12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现有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份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HCl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溶液，其浓度为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0.20mol·L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。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⑴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 欲改变其酸度至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 = 4.0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应加入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HAc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还是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NaAc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？为什么？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⑵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 如果向这个溶液中加入等体积的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2.0 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NaAc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溶液，溶液的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值是多少？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⑶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 如果向这个溶液中加入等体积的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2.0 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HAc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溶液，溶液的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值又是多少？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⑷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 如果向这个溶液中加入等体积的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2.0 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NaOH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溶液，溶液的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值又是多少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？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err="1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NaAc</a:t>
            </a:r>
            <a:r>
              <a:rPr lang="zh-CN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，</a:t>
            </a:r>
            <a:r>
              <a:rPr lang="en-US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5.71</a:t>
            </a:r>
            <a:r>
              <a:rPr lang="zh-CN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，</a:t>
            </a:r>
            <a:r>
              <a:rPr lang="en-US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1.0</a:t>
            </a:r>
            <a:r>
              <a:rPr lang="zh-CN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，</a:t>
            </a:r>
            <a:r>
              <a:rPr lang="en-US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13.95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4343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此题是缓冲溶液酸度的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计算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algn="ctr">
              <a:defRPr/>
            </a:pPr>
            <a:r>
              <a:rPr lang="en-US" altLang="zh-CN" sz="2400" b="1" dirty="0">
                <a:ea typeface="楷体_GB2312" pitchFamily="49" charset="-122"/>
              </a:rPr>
              <a:t>pH = </a:t>
            </a:r>
            <a:r>
              <a:rPr lang="en-US" altLang="zh-CN" sz="2400" b="1" dirty="0" err="1">
                <a:ea typeface="楷体_GB2312" pitchFamily="49" charset="-122"/>
              </a:rPr>
              <a:t>p</a:t>
            </a:r>
            <a:r>
              <a:rPr lang="en-US" altLang="zh-CN" sz="24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4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400" b="1" dirty="0">
                <a:ea typeface="楷体_GB2312" pitchFamily="49" charset="-122"/>
              </a:rPr>
              <a:t>+ </a:t>
            </a:r>
            <a:r>
              <a:rPr lang="en-US" altLang="zh-CN" sz="2400" b="1" dirty="0" err="1">
                <a:ea typeface="楷体_GB2312" pitchFamily="49" charset="-122"/>
              </a:rPr>
              <a:t>lg</a:t>
            </a:r>
            <a:r>
              <a:rPr lang="en-US" altLang="zh-CN" sz="2400" b="1" dirty="0">
                <a:ea typeface="楷体_GB2312" pitchFamily="49" charset="-122"/>
              </a:rPr>
              <a:t>(</a:t>
            </a:r>
            <a:r>
              <a:rPr lang="en-US" altLang="zh-CN" sz="2400" b="1" i="1" dirty="0" err="1">
                <a:ea typeface="楷体_GB2312" pitchFamily="49" charset="-122"/>
              </a:rPr>
              <a:t>c</a:t>
            </a:r>
            <a:r>
              <a:rPr lang="en-US" altLang="zh-CN" sz="2400" b="1" i="1" baseline="-25000" dirty="0" err="1">
                <a:ea typeface="楷体_GB2312" pitchFamily="49" charset="-122"/>
              </a:rPr>
              <a:t>b</a:t>
            </a:r>
            <a:r>
              <a:rPr lang="en-US" altLang="zh-CN" sz="2400" b="1" dirty="0">
                <a:ea typeface="楷体_GB2312" pitchFamily="49" charset="-122"/>
              </a:rPr>
              <a:t>/</a:t>
            </a:r>
            <a:r>
              <a:rPr lang="en-US" altLang="zh-CN" sz="2400" b="1" i="1" dirty="0">
                <a:ea typeface="楷体_GB2312" pitchFamily="49" charset="-122"/>
              </a:rPr>
              <a:t>c</a:t>
            </a:r>
            <a:r>
              <a:rPr lang="en-US" altLang="zh-CN" sz="2400" b="1" i="1" baseline="-25000" dirty="0">
                <a:ea typeface="楷体_GB2312" pitchFamily="49" charset="-122"/>
              </a:rPr>
              <a:t>a</a:t>
            </a:r>
            <a:r>
              <a:rPr lang="en-US" altLang="zh-CN" sz="2400" b="1" dirty="0">
                <a:ea typeface="楷体_GB2312" pitchFamily="49" charset="-122"/>
              </a:rPr>
              <a:t>).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81296"/>
            <a:ext cx="5329238" cy="1215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3-13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100g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NaAc·3H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加入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13mL 6.0 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HAc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，用水稀释至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1.0L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，此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缓冲溶液的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值是多少？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5.72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5367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缓冲溶液的选择原则：由弱酸及其共轭碱组成，则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p</a:t>
            </a:r>
            <a:r>
              <a:rPr lang="en-US" altLang="zh-CN" sz="2400" b="1" i="1" kern="100" dirty="0" err="1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 err="1">
                <a:latin typeface="Times New Roman"/>
                <a:ea typeface="华文新魏" pitchFamily="2" charset="-122"/>
              </a:rPr>
              <a:t>a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  <a:cs typeface="Times New Roman"/>
                <a:sym typeface="Symbol"/>
              </a:rPr>
              <a:t>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应尽量与所需控制的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值一致。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44483"/>
            <a:ext cx="5329238" cy="232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3-14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欲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配制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的缓冲溶液，问在下列三种缓冲溶液中选择哪一种较合适？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⑴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HCOOH-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HCOONa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缓冲溶液；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⑵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HAc-NaAc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缓冲溶液；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indent="0">
              <a:defRPr/>
            </a:pPr>
            <a:r>
              <a:rPr lang="zh-CN" altLang="zh-CN" sz="2400" b="1" kern="100" dirty="0">
                <a:ea typeface="宋体"/>
                <a:cs typeface="宋体"/>
              </a:rPr>
              <a:t>⑶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·H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O-NH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缓冲溶液；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选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6391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kumimoji="1" lang="en-US" altLang="zh-CN" sz="2800" b="1" dirty="0">
                <a:solidFill>
                  <a:schemeClr val="bg1"/>
                </a:solidFill>
                <a:ea typeface="楷体_GB2312" pitchFamily="49" charset="-122"/>
              </a:rPr>
              <a:t>pH = </a:t>
            </a:r>
            <a:r>
              <a:rPr kumimoji="1" lang="en-US" altLang="zh-CN" sz="2800" b="1" dirty="0" err="1">
                <a:solidFill>
                  <a:schemeClr val="bg1"/>
                </a:solidFill>
                <a:ea typeface="楷体_GB2312" pitchFamily="49" charset="-122"/>
              </a:rPr>
              <a:t>p</a:t>
            </a:r>
            <a:r>
              <a:rPr kumimoji="1" lang="en-US" altLang="zh-CN" sz="2800" b="1" i="1" dirty="0" err="1">
                <a:solidFill>
                  <a:schemeClr val="bg1"/>
                </a:solidFill>
                <a:ea typeface="楷体_GB2312" pitchFamily="49" charset="-122"/>
              </a:rPr>
              <a:t>K</a:t>
            </a:r>
            <a:r>
              <a:rPr kumimoji="1" lang="en-US" altLang="zh-CN" b="1" baseline="100000" dirty="0" err="1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kumimoji="1" lang="en-US" altLang="zh-CN" sz="2800" b="1" baseline="-25000" dirty="0" err="1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a</a:t>
            </a:r>
            <a:r>
              <a:rPr kumimoji="1" lang="en-US" altLang="zh-CN" sz="2800" b="1" baseline="-25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 </a:t>
            </a:r>
            <a:r>
              <a:rPr kumimoji="1" lang="en-US" altLang="zh-CN" sz="2800" b="1" dirty="0">
                <a:solidFill>
                  <a:schemeClr val="bg1"/>
                </a:solidFill>
                <a:ea typeface="楷体_GB2312" pitchFamily="49" charset="-122"/>
              </a:rPr>
              <a:t>+ </a:t>
            </a:r>
            <a:r>
              <a:rPr kumimoji="1" lang="en-US" altLang="zh-CN" sz="2800" b="1" dirty="0" err="1">
                <a:solidFill>
                  <a:schemeClr val="bg1"/>
                </a:solidFill>
                <a:ea typeface="楷体_GB2312" pitchFamily="49" charset="-122"/>
              </a:rPr>
              <a:t>lg</a:t>
            </a:r>
            <a:r>
              <a:rPr kumimoji="1" lang="en-US" altLang="zh-CN" sz="2800" b="1" dirty="0">
                <a:solidFill>
                  <a:schemeClr val="bg1"/>
                </a:solidFill>
                <a:ea typeface="楷体_GB2312" pitchFamily="49" charset="-122"/>
              </a:rPr>
              <a:t>(</a:t>
            </a:r>
            <a:r>
              <a:rPr kumimoji="1" lang="en-US" altLang="zh-CN" sz="2800" b="1" i="1" dirty="0" err="1">
                <a:solidFill>
                  <a:schemeClr val="bg1"/>
                </a:solidFill>
                <a:ea typeface="楷体_GB2312" pitchFamily="49" charset="-122"/>
              </a:rPr>
              <a:t>c</a:t>
            </a:r>
            <a:r>
              <a:rPr kumimoji="1" lang="en-US" altLang="zh-CN" sz="2800" b="1" i="1" baseline="-25000" dirty="0" err="1">
                <a:solidFill>
                  <a:schemeClr val="bg1"/>
                </a:solidFill>
                <a:ea typeface="楷体_GB2312" pitchFamily="49" charset="-122"/>
              </a:rPr>
              <a:t>b</a:t>
            </a:r>
            <a:r>
              <a:rPr kumimoji="1" lang="en-US" altLang="zh-CN" sz="2800" b="1" dirty="0">
                <a:solidFill>
                  <a:schemeClr val="bg1"/>
                </a:solidFill>
                <a:ea typeface="楷体_GB2312" pitchFamily="49" charset="-122"/>
              </a:rPr>
              <a:t>/</a:t>
            </a:r>
            <a:r>
              <a:rPr kumimoji="1" lang="en-US" altLang="zh-CN" sz="2800" b="1" i="1" dirty="0">
                <a:solidFill>
                  <a:schemeClr val="bg1"/>
                </a:solidFill>
                <a:ea typeface="楷体_GB2312" pitchFamily="49" charset="-122"/>
              </a:rPr>
              <a:t>c</a:t>
            </a:r>
            <a:r>
              <a:rPr kumimoji="1" lang="en-US" altLang="zh-CN" sz="2800" b="1" i="1" baseline="-25000" dirty="0">
                <a:solidFill>
                  <a:schemeClr val="bg1"/>
                </a:solidFill>
                <a:ea typeface="楷体_GB2312" pitchFamily="49" charset="-122"/>
              </a:rPr>
              <a:t>a</a:t>
            </a:r>
            <a:r>
              <a:rPr kumimoji="1" lang="en-US" altLang="zh-CN" sz="2800" b="1" dirty="0">
                <a:solidFill>
                  <a:schemeClr val="bg1"/>
                </a:solidFill>
                <a:ea typeface="楷体_GB2312" pitchFamily="49" charset="-122"/>
              </a:rPr>
              <a:t>)</a:t>
            </a:r>
            <a:endParaRPr kumimoji="1" lang="en-US" altLang="zh-CN" sz="2400" b="1" dirty="0">
              <a:solidFill>
                <a:schemeClr val="bg1"/>
              </a:solidFill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54006"/>
            <a:ext cx="5329238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3-15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欲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配制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500mL pH = 9.0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且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[NH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+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] = 1.0 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·H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O-NH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缓冲溶液，需比重为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0.904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、含氨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26.0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％的浓氨水多少毫升？固体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多少克？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20.3mL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26.75g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7415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计算出强酸强碱滴定时化学计量点及滴定突跃，然后根据指示剂的选择原则选择合适的指示剂，即指示剂的变色范围应部分或全部处于滴定突跃的范围内。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eaLnBrk="1" hangingPunct="1">
              <a:defRPr/>
            </a:pP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69154"/>
            <a:ext cx="5329238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3-16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0.01000 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HNO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溶液滴定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20.00mL 0.01000 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NaOH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溶液时，化学计量点时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值为多少？此滴定中应选用何种指示剂？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7.00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，甲基红或中性红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8439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根据滴定曲线的计算方法计算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，本题为强酸滴定弱碱，化学计量点前为弱碱及其共轭酸的水溶液，化学计量点为一元弱酸溶液。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69154"/>
            <a:ext cx="5329238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3-17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0.5000 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HNO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滴定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0.5000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·H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溶液。试计算滴定分数为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0.50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及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1.00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时溶液的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值。应选用何种指示剂？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9.25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4.93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，甲基红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9463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两个化学计量点均为两性物质的溶液，根据</a:t>
            </a:r>
            <a:r>
              <a:rPr lang="en-US" altLang="zh-CN" sz="2400" b="1" i="1" kern="100" dirty="0" err="1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i="1" kern="100" baseline="-25000" dirty="0" err="1">
                <a:latin typeface="Times New Roman"/>
                <a:ea typeface="华文新魏" pitchFamily="2" charset="-122"/>
              </a:rPr>
              <a:t>an</a:t>
            </a:r>
            <a:r>
              <a:rPr lang="en-US" altLang="zh-CN" sz="2400" b="1" i="1" kern="100" baseline="30000" dirty="0" err="1">
                <a:latin typeface="Times New Roman"/>
                <a:ea typeface="华文新魏" pitchFamily="2" charset="-122"/>
              </a:rPr>
              <a:t>θ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/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i="1" kern="100" baseline="-25000" dirty="0">
                <a:latin typeface="Times New Roman"/>
                <a:ea typeface="华文新魏" pitchFamily="2" charset="-122"/>
              </a:rPr>
              <a:t>an+1</a:t>
            </a:r>
            <a:r>
              <a:rPr lang="en-US" altLang="zh-CN" sz="2400" b="1" i="1" kern="100" baseline="30000" dirty="0">
                <a:latin typeface="Times New Roman"/>
                <a:ea typeface="华文新魏" pitchFamily="2" charset="-122"/>
              </a:rPr>
              <a:t>θ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和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cK</a:t>
            </a:r>
            <a:r>
              <a:rPr lang="en-US" altLang="zh-CN" sz="2400" b="1" i="1" kern="100" baseline="-25000" dirty="0">
                <a:latin typeface="Times New Roman"/>
                <a:ea typeface="华文新魏" pitchFamily="2" charset="-122"/>
              </a:rPr>
              <a:t>an3</a:t>
            </a:r>
            <a:r>
              <a:rPr lang="en-US" altLang="zh-CN" sz="2400" b="1" i="1" kern="100" baseline="30000" dirty="0">
                <a:latin typeface="Times New Roman"/>
                <a:ea typeface="华文新魏" pitchFamily="2" charset="-122"/>
              </a:rPr>
              <a:t>θ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的大小判断能否分步滴定及准确滴定。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401636"/>
            <a:ext cx="5329238" cy="2767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3-18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有一三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元酸，其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a1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  <a:cs typeface="Times New Roman"/>
                <a:sym typeface="Symbol"/>
              </a:rPr>
              <a:t>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= 2.0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a2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  <a:cs typeface="Times New Roman"/>
                <a:sym typeface="Symbol"/>
              </a:rPr>
              <a:t>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= 6.0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a3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  <a:cs typeface="Times New Roman"/>
                <a:sym typeface="Symbol"/>
              </a:rPr>
              <a:t>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= 12.0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。用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NaOH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溶液滴定时，第一和第二化学计量点的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值分别为多少？两个化学计量点附近有无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突跃？可选用什么指示剂？能否直接滴定至酸的质子全部被作用？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4.0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，有突跃，甲基橙；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9.0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，有突跃，酚酞；不能全部被作用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20487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两个化学计量点均为两性物质的溶液，根据</a:t>
            </a:r>
            <a:r>
              <a:rPr lang="en-US" altLang="zh-CN" sz="2400" b="1" i="1" kern="100" dirty="0" err="1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i="1" kern="100" baseline="-25000" dirty="0" err="1">
                <a:latin typeface="Times New Roman"/>
                <a:ea typeface="华文新魏" pitchFamily="2" charset="-122"/>
              </a:rPr>
              <a:t>an</a:t>
            </a:r>
            <a:r>
              <a:rPr lang="en-US" altLang="zh-CN" sz="2400" b="1" i="1" kern="100" baseline="30000" dirty="0" err="1">
                <a:latin typeface="Times New Roman"/>
                <a:ea typeface="华文新魏" pitchFamily="2" charset="-122"/>
              </a:rPr>
              <a:t>θ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/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i="1" kern="100" baseline="-25000" dirty="0">
                <a:latin typeface="Times New Roman"/>
                <a:ea typeface="华文新魏" pitchFamily="2" charset="-122"/>
              </a:rPr>
              <a:t>an+1</a:t>
            </a:r>
            <a:r>
              <a:rPr lang="en-US" altLang="zh-CN" sz="2400" b="1" i="1" kern="100" baseline="30000" dirty="0">
                <a:latin typeface="Times New Roman"/>
                <a:ea typeface="华文新魏" pitchFamily="2" charset="-122"/>
              </a:rPr>
              <a:t>θ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和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cK</a:t>
            </a:r>
            <a:r>
              <a:rPr lang="en-US" altLang="zh-CN" sz="2400" b="1" i="1" kern="100" baseline="-25000" dirty="0">
                <a:latin typeface="Times New Roman"/>
                <a:ea typeface="华文新魏" pitchFamily="2" charset="-122"/>
              </a:rPr>
              <a:t>an3</a:t>
            </a:r>
            <a:r>
              <a:rPr lang="en-US" altLang="zh-CN" sz="2400" b="1" i="1" kern="100" baseline="30000" dirty="0">
                <a:latin typeface="Times New Roman"/>
                <a:ea typeface="华文新魏" pitchFamily="2" charset="-122"/>
              </a:rPr>
              <a:t>θ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的大小判断能否分步滴定及准确滴定。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69154"/>
            <a:ext cx="5329238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3-19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0.1000mol·L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NaOH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溶液滴定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0.1000mol·L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酒石酸溶液时，有几个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突跃？在第二个化学计量点时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值为多少？应选用什么指示剂？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一个，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8.43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，酚酞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21511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间接滴定法的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计算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algn="ctr">
              <a:defRPr/>
            </a:pPr>
            <a:r>
              <a:rPr kumimoji="1" lang="en-US" altLang="zh-CN" sz="2400" b="1" i="1" dirty="0" smtClean="0">
                <a:ea typeface="华文新魏" pitchFamily="2" charset="-122"/>
              </a:rPr>
              <a:t>n</a:t>
            </a:r>
            <a:r>
              <a:rPr kumimoji="1" lang="en-US" altLang="zh-CN" sz="2400" b="1" dirty="0" smtClean="0">
                <a:ea typeface="华文新魏" pitchFamily="2" charset="-122"/>
              </a:rPr>
              <a:t>(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kumimoji="1" lang="en-US" altLang="zh-CN" sz="2400" b="1" dirty="0" smtClean="0">
                <a:ea typeface="华文新魏" pitchFamily="2" charset="-122"/>
              </a:rPr>
              <a:t>)=</a:t>
            </a:r>
            <a:r>
              <a:rPr kumimoji="1" lang="en-US" altLang="zh-CN" sz="2400" b="1" i="1" dirty="0" smtClean="0">
                <a:ea typeface="华文新魏" pitchFamily="2" charset="-122"/>
              </a:rPr>
              <a:t>n</a:t>
            </a:r>
            <a:r>
              <a:rPr kumimoji="1" lang="en-US" altLang="zh-CN" sz="2400" b="1" dirty="0" smtClean="0">
                <a:ea typeface="华文新魏" pitchFamily="2" charset="-122"/>
              </a:rPr>
              <a:t>(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HCl</a:t>
            </a:r>
            <a:r>
              <a:rPr kumimoji="1" lang="en-US" altLang="zh-CN" sz="2400" b="1" dirty="0" smtClean="0">
                <a:ea typeface="华文新魏" pitchFamily="2" charset="-122"/>
              </a:rPr>
              <a:t>)-</a:t>
            </a:r>
            <a:r>
              <a:rPr kumimoji="1" lang="en-US" altLang="zh-CN" sz="2400" b="1" i="1" dirty="0" smtClean="0">
                <a:ea typeface="华文新魏" pitchFamily="2" charset="-122"/>
              </a:rPr>
              <a:t>n</a:t>
            </a:r>
            <a:r>
              <a:rPr kumimoji="1" lang="en-US" altLang="zh-CN" sz="2400" b="1" dirty="0" smtClean="0">
                <a:ea typeface="华文新魏" pitchFamily="2" charset="-122"/>
              </a:rPr>
              <a:t>(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NaOH</a:t>
            </a:r>
            <a:r>
              <a:rPr kumimoji="1" lang="en-US" altLang="zh-CN" sz="2400" b="1" dirty="0" smtClean="0">
                <a:ea typeface="华文新魏" pitchFamily="2" charset="-122"/>
              </a:rPr>
              <a:t>)</a:t>
            </a: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44870"/>
            <a:ext cx="5329238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3-20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粗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铵盐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2.000g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，加过量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KOH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溶液，加热，蒸出的氨吸收在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50.00mL 0.5000mol·L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HCl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标准溶液中，过量的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HCl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0.5000mol·L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NaOH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溶液回滴，用去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1.56mL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，计算试样中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的含量。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20.62%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22535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酸碱滴定法的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应用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algn="ctr">
              <a:defRPr/>
            </a:pPr>
            <a:r>
              <a:rPr lang="en-US" altLang="zh-CN" sz="2400" b="1" i="1" dirty="0" err="1"/>
              <a:t>c</a:t>
            </a:r>
            <a:r>
              <a:rPr lang="en-US" altLang="zh-CN" sz="2400" b="1" baseline="-25000" dirty="0" err="1"/>
              <a:t>HAc</a:t>
            </a:r>
            <a:r>
              <a:rPr lang="en-US" altLang="zh-CN" sz="2400" b="1" i="1" dirty="0" err="1"/>
              <a:t>V</a:t>
            </a:r>
            <a:r>
              <a:rPr lang="en-US" altLang="zh-CN" sz="2400" b="1" baseline="-25000" dirty="0" err="1"/>
              <a:t>HAc</a:t>
            </a:r>
            <a:r>
              <a:rPr lang="en-US" altLang="zh-CN" sz="2400" b="1" dirty="0"/>
              <a:t>=</a:t>
            </a:r>
            <a:r>
              <a:rPr lang="en-US" altLang="zh-CN" sz="2400" b="1" i="1" dirty="0" err="1"/>
              <a:t>c</a:t>
            </a:r>
            <a:r>
              <a:rPr lang="en-US" altLang="zh-CN" sz="2400" b="1" baseline="-25000" dirty="0" err="1"/>
              <a:t>NaOH</a:t>
            </a:r>
            <a:r>
              <a:rPr lang="en-US" altLang="zh-CN" sz="2400" b="1" i="1" dirty="0" err="1"/>
              <a:t>V</a:t>
            </a:r>
            <a:r>
              <a:rPr lang="en-US" altLang="zh-CN" sz="2400" b="1" baseline="-25000" dirty="0" err="1"/>
              <a:t>NaOH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23850"/>
            <a:ext cx="5329238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3-21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吸取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醋样，置于锥形瓶中，加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滴酚酞指示剂，用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0.1014mol·L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NaOH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滴定醋中的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HAc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，如需要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44.86mL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，则试样中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HAc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浓度是多少？若吸取的醋样溶液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d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= 1.004g·mL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，醋样中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HAc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的含量为多少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？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0.4549 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2.72%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23559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酸碱滴定法的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应用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r>
              <a:rPr lang="en-US" altLang="zh-CN" sz="2400" b="1" dirty="0">
                <a:latin typeface="+mn-lt"/>
                <a:ea typeface="华文新魏" pitchFamily="2" charset="-122"/>
              </a:rPr>
              <a:t>SO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3</a:t>
            </a:r>
            <a:r>
              <a:rPr lang="zh-CN" altLang="zh-CN" sz="2400" b="1" dirty="0">
                <a:latin typeface="+mn-lt"/>
                <a:ea typeface="华文新魏" pitchFamily="2" charset="-122"/>
              </a:rPr>
              <a:t>溶于水也生成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H</a:t>
            </a:r>
            <a:r>
              <a:rPr lang="en-US" altLang="zh-CN" sz="2400" b="1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SO</a:t>
            </a:r>
            <a:r>
              <a:rPr lang="en-US" altLang="zh-CN" sz="2400" b="1" baseline="-25000" dirty="0" smtClean="0">
                <a:latin typeface="+mn-lt"/>
                <a:ea typeface="华文新魏" pitchFamily="2" charset="-122"/>
              </a:rPr>
              <a:t>4</a:t>
            </a:r>
          </a:p>
          <a:p>
            <a:pPr algn="ctr">
              <a:defRPr/>
            </a:pPr>
            <a:r>
              <a:rPr lang="en-US" altLang="zh-CN" sz="2400" b="1" dirty="0">
                <a:latin typeface="+mn-lt"/>
                <a:ea typeface="华文新魏" pitchFamily="2" charset="-122"/>
              </a:rPr>
              <a:t>H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SO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+2NaOH</a:t>
            </a:r>
            <a:r>
              <a:rPr lang="zh-CN" altLang="zh-CN" sz="2400" b="1" dirty="0">
                <a:latin typeface="+mn-lt"/>
                <a:ea typeface="华文新魏" pitchFamily="2" charset="-122"/>
              </a:rPr>
              <a:t>＝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Na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SO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+2H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O</a:t>
            </a:r>
            <a:endParaRPr kumimoji="1" lang="en-US" altLang="zh-CN" sz="2400" b="1" dirty="0" smtClean="0">
              <a:latin typeface="+mn-lt"/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57012"/>
            <a:ext cx="5329238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3-22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含有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的发烟硫酸试样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1.400g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，溶于水，用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0.8060 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NaOH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溶液滴定时消耗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36.10mL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。求试样中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的含量（假设试样中不含其他杂质）。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8.21%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91.79%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24583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267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defRPr/>
            </a:pPr>
            <a:r>
              <a:rPr lang="zh-CN" altLang="zh-CN" sz="2400" b="1" kern="1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双指示剂法滴定混合碱的</a:t>
            </a:r>
            <a:r>
              <a:rPr lang="zh-CN" altLang="zh-CN" sz="2400" b="1" kern="100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计算</a:t>
            </a:r>
            <a:r>
              <a:rPr lang="zh-CN" altLang="en-US" sz="2400" b="1" kern="100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：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以</a:t>
            </a:r>
            <a:r>
              <a:rPr kumimoji="1" lang="zh-CN" altLang="en-US" sz="2400" b="1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酚酞为指示剂，</a:t>
            </a:r>
            <a:r>
              <a:rPr kumimoji="1" lang="en-US" altLang="zh-CN" sz="2400" b="1" dirty="0" err="1">
                <a:solidFill>
                  <a:schemeClr val="bg1"/>
                </a:solidFill>
                <a:latin typeface="+mn-lt"/>
                <a:ea typeface="华文新魏" pitchFamily="2" charset="-122"/>
              </a:rPr>
              <a:t>NaOH</a:t>
            </a:r>
            <a:r>
              <a:rPr kumimoji="1" lang="zh-CN" altLang="en-US" sz="2400" b="1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全部反应，</a:t>
            </a:r>
            <a:r>
              <a:rPr kumimoji="1" lang="en-US" altLang="zh-CN" sz="2400" b="1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Na</a:t>
            </a:r>
            <a:r>
              <a:rPr kumimoji="1" lang="en-US" altLang="zh-CN" sz="2400" b="1" baseline="-250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2</a:t>
            </a:r>
            <a:r>
              <a:rPr kumimoji="1" lang="en-US" altLang="zh-CN" sz="2400" b="1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CO</a:t>
            </a:r>
            <a:r>
              <a:rPr kumimoji="1" lang="en-US" altLang="zh-CN" sz="2400" b="1" baseline="-250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3</a:t>
            </a:r>
            <a:r>
              <a:rPr kumimoji="1" lang="zh-CN" altLang="en-US" sz="2400" b="1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被滴定至</a:t>
            </a:r>
            <a:r>
              <a:rPr kumimoji="1" lang="en-US" altLang="zh-CN" sz="2400" b="1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NaHCO</a:t>
            </a:r>
            <a:r>
              <a:rPr kumimoji="1" lang="en-US" altLang="zh-CN" sz="2400" b="1" baseline="-250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3</a:t>
            </a:r>
            <a:r>
              <a:rPr kumimoji="1" lang="zh-CN" altLang="en-US" sz="2400" b="1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，再以甲基橙为指示剂时原有的</a:t>
            </a:r>
            <a:r>
              <a:rPr kumimoji="1" lang="en-US" altLang="zh-CN" sz="2400" b="1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NaHCO</a:t>
            </a:r>
            <a:r>
              <a:rPr kumimoji="1" lang="en-US" altLang="zh-CN" sz="2400" b="1" baseline="-250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3</a:t>
            </a:r>
            <a:r>
              <a:rPr kumimoji="1" lang="zh-CN" altLang="en-US" sz="2400" b="1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与反应生成的</a:t>
            </a:r>
            <a:r>
              <a:rPr kumimoji="1" lang="en-US" altLang="zh-CN" sz="2400" b="1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NaHCO</a:t>
            </a:r>
            <a:r>
              <a:rPr kumimoji="1" lang="en-US" altLang="zh-CN" sz="2400" b="1" baseline="-250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3</a:t>
            </a:r>
            <a:r>
              <a:rPr kumimoji="1" lang="zh-CN" altLang="en-US" sz="2400" b="1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被滴定至</a:t>
            </a:r>
            <a:r>
              <a:rPr kumimoji="1" lang="en-US" altLang="zh-CN" sz="2400" b="1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CO</a:t>
            </a:r>
            <a:r>
              <a:rPr kumimoji="1" lang="en-US" altLang="zh-CN" sz="2400" b="1" baseline="-25000" dirty="0">
                <a:solidFill>
                  <a:schemeClr val="bg1"/>
                </a:solidFill>
                <a:latin typeface="+mn-lt"/>
                <a:ea typeface="华文新魏" pitchFamily="2" charset="-122"/>
              </a:rPr>
              <a:t>2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。</a:t>
            </a:r>
            <a:endParaRPr kumimoji="1" lang="en-US" altLang="zh-CN" sz="2400" b="1" dirty="0" smtClean="0">
              <a:solidFill>
                <a:schemeClr val="bg1"/>
              </a:solidFill>
              <a:latin typeface="+mn-lt"/>
              <a:ea typeface="华文新魏" pitchFamily="2" charset="-122"/>
            </a:endParaRPr>
          </a:p>
          <a:p>
            <a:pPr eaLnBrk="1" hangingPunct="1"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V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1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&gt;V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  </a:t>
            </a:r>
            <a:r>
              <a:rPr lang="zh-CN" altLang="zh-CN" sz="2400" b="1" kern="100" dirty="0" smtClean="0">
                <a:latin typeface="+mn-lt"/>
                <a:ea typeface="华文新魏" pitchFamily="2" charset="-122"/>
              </a:rPr>
              <a:t>试样</a:t>
            </a:r>
            <a:r>
              <a:rPr lang="zh-CN" altLang="en-US" sz="2400" b="1" kern="100" dirty="0" smtClean="0">
                <a:latin typeface="+mn-lt"/>
                <a:ea typeface="华文新魏" pitchFamily="2" charset="-122"/>
              </a:rPr>
              <a:t>组成为</a:t>
            </a:r>
            <a:r>
              <a:rPr lang="en-US" altLang="zh-CN" sz="2400" b="1" kern="100" dirty="0" err="1" smtClean="0">
                <a:latin typeface="+mn-lt"/>
                <a:ea typeface="华文新魏" pitchFamily="2" charset="-122"/>
              </a:rPr>
              <a:t>NaOH</a:t>
            </a:r>
            <a:r>
              <a:rPr lang="zh-CN" altLang="zh-CN" sz="2400" b="1" kern="100" dirty="0">
                <a:latin typeface="+mn-lt"/>
                <a:ea typeface="华文新魏" pitchFamily="2" charset="-122"/>
              </a:rPr>
              <a:t>和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CO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3</a:t>
            </a:r>
            <a:endParaRPr lang="zh-CN" altLang="zh-CN" sz="2400" b="1" kern="100" dirty="0">
              <a:latin typeface="+mn-lt"/>
              <a:ea typeface="华文新魏" pitchFamily="2" charset="-122"/>
            </a:endParaRPr>
          </a:p>
          <a:p>
            <a:pPr eaLnBrk="1" hangingPunct="1">
              <a:defRPr/>
            </a:pP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44870"/>
            <a:ext cx="5329238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3-23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称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取混合碱试样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0.8983g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，加酚酞指示剂，用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0.2896mol·L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HCl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溶液滴定至终点，计耗去酸溶液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31.45mL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。再加甲基橙指示剂，滴定至终点，又耗去酸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24.10mL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。求试样中各组分的质量分数。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err="1" smtClean="0">
                <a:latin typeface="Times New Roman"/>
                <a:ea typeface="华文新魏" pitchFamily="2" charset="-122"/>
              </a:rPr>
              <a:t>NaOH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：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9.48%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Na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CO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：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82.35%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25607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双指示剂法滴定混合碱的计算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+mj-lt"/>
                <a:ea typeface="华文新魏" pitchFamily="2" charset="-122"/>
              </a:rPr>
              <a:t>以酚酞为指示剂指示终点，</a:t>
            </a:r>
            <a:r>
              <a:rPr lang="zh-CN" altLang="zh-CN" sz="2400" b="1" kern="100" dirty="0" smtClean="0">
                <a:latin typeface="+mj-lt"/>
                <a:ea typeface="华文新魏" pitchFamily="2" charset="-122"/>
              </a:rPr>
              <a:t>反应为</a:t>
            </a:r>
          </a:p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Na</a:t>
            </a:r>
            <a:r>
              <a:rPr lang="en-US" altLang="zh-CN" sz="2400" b="1" kern="100" baseline="-25000" dirty="0" smtClean="0">
                <a:latin typeface="+mj-lt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PO</a:t>
            </a:r>
            <a:r>
              <a:rPr lang="en-US" altLang="zh-CN" sz="2400" b="1" kern="100" baseline="-25000" dirty="0" smtClean="0">
                <a:latin typeface="+mj-lt"/>
                <a:ea typeface="华文新魏" pitchFamily="2" charset="-122"/>
              </a:rPr>
              <a:t>4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+HCl=Na</a:t>
            </a:r>
            <a:r>
              <a:rPr lang="en-US" altLang="zh-CN" sz="2400" b="1" kern="100" baseline="-25000" dirty="0" smtClean="0">
                <a:latin typeface="+mj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HPO</a:t>
            </a:r>
            <a:r>
              <a:rPr lang="en-US" altLang="zh-CN" sz="2400" b="1" kern="100" baseline="-25000" dirty="0" smtClean="0">
                <a:latin typeface="+mj-lt"/>
                <a:ea typeface="华文新魏" pitchFamily="2" charset="-122"/>
              </a:rPr>
              <a:t>4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+NaCl</a:t>
            </a: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+mj-lt"/>
                <a:ea typeface="华文新魏" pitchFamily="2" charset="-122"/>
              </a:rPr>
              <a:t>甲基橙</a:t>
            </a:r>
            <a:r>
              <a:rPr lang="zh-CN" altLang="zh-CN" sz="2400" b="1" kern="100" dirty="0">
                <a:latin typeface="+mj-lt"/>
                <a:ea typeface="华文新魏" pitchFamily="2" charset="-122"/>
              </a:rPr>
              <a:t>为指示剂指示终点，反应为</a:t>
            </a:r>
          </a:p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latin typeface="+mj-lt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+mj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j-lt"/>
                <a:ea typeface="华文新魏" pitchFamily="2" charset="-122"/>
              </a:rPr>
              <a:t>HPO</a:t>
            </a:r>
            <a:r>
              <a:rPr lang="en-US" altLang="zh-CN" sz="2400" b="1" kern="100" baseline="-25000" dirty="0">
                <a:latin typeface="+mj-lt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+mj-lt"/>
                <a:ea typeface="华文新魏" pitchFamily="2" charset="-122"/>
              </a:rPr>
              <a:t>+HCl=NaH</a:t>
            </a:r>
            <a:r>
              <a:rPr lang="en-US" altLang="zh-CN" sz="2400" b="1" kern="100" baseline="-25000" dirty="0">
                <a:latin typeface="+mj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j-lt"/>
                <a:ea typeface="华文新魏" pitchFamily="2" charset="-122"/>
              </a:rPr>
              <a:t>PO</a:t>
            </a:r>
            <a:r>
              <a:rPr lang="en-US" altLang="zh-CN" sz="2400" b="1" kern="100" baseline="-25000" dirty="0">
                <a:latin typeface="+mj-lt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+mj-lt"/>
                <a:ea typeface="华文新魏" pitchFamily="2" charset="-122"/>
              </a:rPr>
              <a:t>+NaCl</a:t>
            </a:r>
            <a:endParaRPr lang="zh-CN" altLang="zh-CN" sz="2400" b="1" kern="100" dirty="0">
              <a:latin typeface="+mj-lt"/>
              <a:ea typeface="华文新魏" pitchFamily="2" charset="-122"/>
            </a:endParaRPr>
          </a:p>
          <a:p>
            <a:pPr eaLnBrk="1" hangingPunct="1">
              <a:defRPr/>
            </a:pPr>
            <a:r>
              <a:rPr lang="en-US" altLang="zh-CN" sz="2400" b="1" kern="100" dirty="0">
                <a:latin typeface="+mj-lt"/>
                <a:ea typeface="华文新魏" pitchFamily="2" charset="-122"/>
              </a:rPr>
              <a:t>V</a:t>
            </a:r>
            <a:r>
              <a:rPr lang="en-US" altLang="zh-CN" sz="2400" b="1" kern="100" baseline="-25000" dirty="0">
                <a:latin typeface="+mj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j-lt"/>
                <a:ea typeface="华文新魏" pitchFamily="2" charset="-122"/>
              </a:rPr>
              <a:t>&gt;V</a:t>
            </a:r>
            <a:r>
              <a:rPr lang="en-US" altLang="zh-CN" sz="2400" b="1" kern="100" baseline="-25000" dirty="0">
                <a:latin typeface="+mj-lt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+mj-lt"/>
                <a:ea typeface="华文新魏" pitchFamily="2" charset="-122"/>
              </a:rPr>
              <a:t>  </a:t>
            </a:r>
            <a:r>
              <a:rPr lang="zh-CN" altLang="zh-CN" sz="2400" b="1" kern="100" dirty="0" smtClean="0">
                <a:latin typeface="+mj-lt"/>
                <a:ea typeface="华文新魏" pitchFamily="2" charset="-122"/>
                <a:cs typeface="Times New Roman"/>
              </a:rPr>
              <a:t>试样</a:t>
            </a:r>
            <a:r>
              <a:rPr lang="zh-CN" altLang="zh-CN" sz="2400" b="1" kern="100" dirty="0">
                <a:latin typeface="+mj-lt"/>
                <a:ea typeface="华文新魏" pitchFamily="2" charset="-122"/>
                <a:cs typeface="Times New Roman"/>
              </a:rPr>
              <a:t>中含有</a:t>
            </a:r>
            <a:r>
              <a:rPr lang="en-US" altLang="zh-CN" sz="2400" b="1" kern="100" dirty="0">
                <a:latin typeface="+mj-lt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+mj-lt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+mj-lt"/>
                <a:ea typeface="华文新魏" pitchFamily="2" charset="-122"/>
              </a:rPr>
              <a:t>PO</a:t>
            </a:r>
            <a:r>
              <a:rPr lang="en-US" altLang="zh-CN" sz="2400" b="1" kern="100" baseline="-25000" dirty="0">
                <a:latin typeface="+mj-lt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+mj-lt"/>
                <a:ea typeface="华文新魏" pitchFamily="2" charset="-122"/>
                <a:cs typeface="Times New Roman"/>
              </a:rPr>
              <a:t>和</a:t>
            </a:r>
            <a:r>
              <a:rPr lang="en-US" altLang="zh-CN" sz="2400" b="1" kern="100" dirty="0">
                <a:latin typeface="+mj-lt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+mj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j-lt"/>
                <a:ea typeface="华文新魏" pitchFamily="2" charset="-122"/>
              </a:rPr>
              <a:t>HPO</a:t>
            </a:r>
            <a:r>
              <a:rPr lang="en-US" altLang="zh-CN" sz="2400" b="1" kern="100" baseline="-25000" dirty="0">
                <a:latin typeface="+mj-lt"/>
                <a:ea typeface="华文新魏" pitchFamily="2" charset="-122"/>
              </a:rPr>
              <a:t>4</a:t>
            </a:r>
            <a:endParaRPr kumimoji="1" lang="en-US" altLang="zh-CN" sz="2400" b="1" dirty="0" smtClean="0">
              <a:latin typeface="+mj-lt"/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88939"/>
            <a:ext cx="5329238" cy="313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3-24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有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一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试样，其中含有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HPO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，称取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0.9947g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，以酚酞为指示剂，用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0.2881 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HCl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溶液滴定至终点，用去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17.56mL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。再加入甲基橙指示剂，继续用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0.2881 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HCl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溶液滴定至终点时，又用去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20.18mL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。求试样中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HPO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的质量分数。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Na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PO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：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83.38%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Na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HPO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：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10.78%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26631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DADADA"/>
      </a:accent4>
      <a:accent5>
        <a:srgbClr val="AAAAAA"/>
      </a:accent5>
      <a:accent6>
        <a:srgbClr val="E700E7"/>
      </a:accent6>
      <a:hlink>
        <a:srgbClr val="FFCCFF"/>
      </a:hlink>
      <a:folHlink>
        <a:srgbClr val="66FF33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CCFF"/>
        </a:hlink>
        <a:folHlink>
          <a:srgbClr val="66FF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3454</TotalTime>
  <Pages>0</Pages>
  <Words>2227</Words>
  <Characters>0</Characters>
  <Application>Microsoft Office PowerPoint</Application>
  <DocSecurity>0</DocSecurity>
  <PresentationFormat>自定义</PresentationFormat>
  <Lines>0</Lines>
  <Paragraphs>214</Paragraphs>
  <Slides>25</Slides>
  <Notes>25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6" baseType="lpstr">
      <vt:lpstr>医学研究PPT模板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</vt:vector>
  </TitlesOfParts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ch03酸碱平衡习题指导</dc:title>
  <dc:creator>江南大学</dc:creator>
  <cp:lastModifiedBy>ASUS</cp:lastModifiedBy>
  <cp:revision>319</cp:revision>
  <cp:lastPrinted>1601-01-01T00:00:00Z</cp:lastPrinted>
  <dcterms:created xsi:type="dcterms:W3CDTF">2012-06-20T03:37:37Z</dcterms:created>
  <dcterms:modified xsi:type="dcterms:W3CDTF">2017-08-23T22:58:16Z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