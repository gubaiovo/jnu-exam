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13"/>
  </p:notesMasterIdLst>
  <p:sldIdLst>
    <p:sldId id="256" r:id="rId3"/>
    <p:sldId id="279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</p:sldIdLst>
  <p:sldSz cx="11522075" cy="6480175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FF"/>
    <a:srgbClr val="F8F8F8"/>
    <a:srgbClr val="FF0000"/>
    <a:srgbClr val="FF00FF"/>
    <a:srgbClr val="0000FF"/>
    <a:srgbClr val="FF3300"/>
    <a:srgbClr val="EAEAE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2" autoAdjust="0"/>
    <p:restoredTop sz="94620" autoAdjust="0"/>
  </p:normalViewPr>
  <p:slideViewPr>
    <p:cSldViewPr>
      <p:cViewPr varScale="1">
        <p:scale>
          <a:sx n="70" d="100"/>
          <a:sy n="70" d="100"/>
        </p:scale>
        <p:origin x="-306" y="-108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2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E346D51A-FB35-4A36-9CF6-7298775B5F1B}" type="datetimeFigureOut">
              <a:rPr lang="zh-CN" altLang="en-US"/>
              <a:pPr>
                <a:defRPr/>
              </a:pPr>
              <a:t>2017/8/21</a:t>
            </a:fld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B1E8E464-AB17-46F4-9E74-6F9693AD6FE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商少明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AB74F864-98F6-4DFD-91CE-A2B4EBE3D09B}" type="datetime1">
              <a:rPr lang="zh-CN" altLang="en-US" smtClean="0"/>
              <a:pPr/>
              <a:t>2017/8/21</a:t>
            </a:fld>
            <a:endParaRPr lang="en-US" altLang="zh-CN" smtClean="0"/>
          </a:p>
        </p:txBody>
      </p:sp>
      <p:sp>
        <p:nvSpPr>
          <p:cNvPr id="153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4EE61A-7302-49C6-9B1C-408A1670C03A}" type="slidenum">
              <a:rPr lang="en-US" altLang="zh-CN" smtClean="0"/>
              <a:pPr/>
              <a:t>4</a:t>
            </a:fld>
            <a:endParaRPr lang="en-US" altLang="zh-CN" smtClean="0"/>
          </a:p>
        </p:txBody>
      </p:sp>
      <p:sp>
        <p:nvSpPr>
          <p:cNvPr id="153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smtClean="0"/>
              <a:t>经典电磁理论及卢瑟福模型均无法解释；卢瑟福含核原子模型观点：原子光谱应该连续，电子失去部分能量后不断向核靠近，最后坠入原子核。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商少明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59149283-9CC8-4723-9375-B1E49A8B1DC7}" type="datetime1">
              <a:rPr lang="zh-CN" altLang="en-US" smtClean="0"/>
              <a:pPr/>
              <a:t>2017/8/21</a:t>
            </a:fld>
            <a:endParaRPr lang="en-US" altLang="zh-CN" smtClean="0"/>
          </a:p>
        </p:txBody>
      </p:sp>
      <p:sp>
        <p:nvSpPr>
          <p:cNvPr id="163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91A93E-283E-40B7-8E52-BFB4A30C6820}" type="slidenum">
              <a:rPr lang="en-US" altLang="zh-CN" smtClean="0"/>
              <a:pPr/>
              <a:t>5</a:t>
            </a:fld>
            <a:endParaRPr lang="en-US" altLang="zh-CN" smtClean="0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mtClean="0"/>
              <a:t>卢瑟福含核原子模型；普朗克量子论（物质吸收和发射能量是不连续的，即能量是量子化的）；爱因斯坦光子学说（光既是一种波，又有粒子性）基础上。</a:t>
            </a:r>
          </a:p>
          <a:p>
            <a:r>
              <a:rPr lang="zh-CN" altLang="en-US" smtClean="0"/>
              <a:t>轨道的能量状态不随时间而变；不同的定态轨道能量不同，且不连续，量子化；按一个基本量或基本量是整数倍吸收与发射。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商少明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B5BB0F47-69A8-4C8E-8FEA-98525E2D4083}" type="datetime1">
              <a:rPr lang="zh-CN" altLang="en-US" smtClean="0"/>
              <a:pPr/>
              <a:t>2017/8/21</a:t>
            </a:fld>
            <a:endParaRPr lang="en-US" altLang="zh-CN" smtClean="0"/>
          </a:p>
        </p:txBody>
      </p:sp>
      <p:sp>
        <p:nvSpPr>
          <p:cNvPr id="174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1E13AE-D92B-4ED0-821A-7FD348E1B103}" type="slidenum">
              <a:rPr lang="en-US" altLang="zh-CN" smtClean="0"/>
              <a:pPr/>
              <a:t>8</a:t>
            </a:fld>
            <a:endParaRPr lang="en-US" altLang="zh-CN" smtClean="0"/>
          </a:p>
        </p:txBody>
      </p:sp>
      <p:sp>
        <p:nvSpPr>
          <p:cNvPr id="174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smtClean="0"/>
              <a:t>玻尔模型：建立在经典力学基础上，不能说明多电子原子光谱；氢原子光谱的精细结构。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商少明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31F3666-6FB5-4DB4-9846-BEE698E89DF6}" type="datetime1">
              <a:rPr lang="zh-CN" altLang="en-US" smtClean="0"/>
              <a:pPr/>
              <a:t>2017/8/21</a:t>
            </a:fld>
            <a:endParaRPr lang="en-US" altLang="zh-CN" smtClean="0"/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59C8E6-40B2-4042-B510-4807B25BA438}" type="slidenum">
              <a:rPr lang="en-US" altLang="zh-CN" smtClean="0"/>
              <a:pPr/>
              <a:t>10</a:t>
            </a:fld>
            <a:endParaRPr lang="en-US" altLang="zh-CN" smtClean="0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smtClean="0"/>
              <a:t>量子力学用波函数来描述微观粒子的运动状态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152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72707" name="Freeform 1027"/>
            <p:cNvSpPr>
              <a:spLocks/>
            </p:cNvSpPr>
            <p:nvPr userDrawn="1"/>
          </p:nvSpPr>
          <p:spPr bwMode="auto">
            <a:xfrm>
              <a:off x="80" y="431"/>
              <a:ext cx="7080" cy="3174"/>
            </a:xfrm>
            <a:custGeom>
              <a:avLst/>
              <a:gdLst/>
              <a:ahLst/>
              <a:cxnLst>
                <a:cxn ang="0">
                  <a:pos x="5268" y="0"/>
                </a:cxn>
                <a:cxn ang="0">
                  <a:pos x="0" y="0"/>
                </a:cxn>
                <a:cxn ang="0">
                  <a:pos x="0" y="2976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grpSp>
          <p:nvGrpSpPr>
            <p:cNvPr id="3077" name="Group 1042"/>
            <p:cNvGrpSpPr>
              <a:grpSpLocks/>
            </p:cNvGrpSpPr>
            <p:nvPr userDrawn="1"/>
          </p:nvGrpSpPr>
          <p:grpSpPr bwMode="auto">
            <a:xfrm rot="5400000">
              <a:off x="3597" y="-3112"/>
              <a:ext cx="68" cy="7141"/>
              <a:chOff x="336" y="1103"/>
              <a:chExt cx="97" cy="2785"/>
            </a:xfrm>
          </p:grpSpPr>
          <p:sp>
            <p:nvSpPr>
              <p:cNvPr id="72723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/>
              </a:p>
            </p:txBody>
          </p:sp>
          <p:sp>
            <p:nvSpPr>
              <p:cNvPr id="72724" name="Freeform 1044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 algn="ctr">
                  <a:defRPr/>
                </a:pPr>
                <a:endParaRPr kumimoji="1" lang="zh-CN" altLang="en-US" sz="1600">
                  <a:ea typeface="楷体_GB2312" pitchFamily="49" charset="-122"/>
                </a:endParaRPr>
              </a:p>
            </p:txBody>
          </p:sp>
          <p:sp>
            <p:nvSpPr>
              <p:cNvPr id="72725" name="Freeform 1045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 algn="ctr">
                  <a:defRPr/>
                </a:pPr>
                <a:endParaRPr kumimoji="1" lang="zh-CN" altLang="en-US" sz="1600">
                  <a:ea typeface="楷体_GB2312" pitchFamily="49" charset="-122"/>
                </a:endParaRPr>
              </a:p>
            </p:txBody>
          </p:sp>
        </p:grpSp>
        <p:sp>
          <p:nvSpPr>
            <p:cNvPr id="72708" name="Freeform 1028"/>
            <p:cNvSpPr>
              <a:spLocks/>
            </p:cNvSpPr>
            <p:nvPr userDrawn="1"/>
          </p:nvSpPr>
          <p:spPr bwMode="auto">
            <a:xfrm>
              <a:off x="96" y="431"/>
              <a:ext cx="7080" cy="3174"/>
            </a:xfrm>
            <a:custGeom>
              <a:avLst/>
              <a:gdLst/>
              <a:ahLst/>
              <a:cxnLst>
                <a:cxn ang="0">
                  <a:pos x="5268" y="0"/>
                </a:cxn>
                <a:cxn ang="0">
                  <a:pos x="5268" y="2976"/>
                </a:cxn>
                <a:cxn ang="0">
                  <a:pos x="0" y="2976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sp>
          <p:nvSpPr>
            <p:cNvPr id="72716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grpSp>
          <p:nvGrpSpPr>
            <p:cNvPr id="3080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72719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/>
              </a:p>
            </p:txBody>
          </p:sp>
          <p:sp>
            <p:nvSpPr>
              <p:cNvPr id="72720" name="Freeform 1040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1600">
                  <a:ea typeface="楷体_GB2312" pitchFamily="49" charset="-122"/>
                </a:endParaRPr>
              </a:p>
            </p:txBody>
          </p:sp>
          <p:sp>
            <p:nvSpPr>
              <p:cNvPr id="72721" name="Freeform 1041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1600">
                  <a:ea typeface="楷体_GB2312" pitchFamily="49" charset="-122"/>
                </a:endParaRPr>
              </a:p>
            </p:txBody>
          </p:sp>
        </p:grpSp>
        <p:sp>
          <p:nvSpPr>
            <p:cNvPr id="3211" name="Rectangle 139" descr="深色横线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215" name="AutoShape 143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218" name="Rectangle 146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01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3075" name="Rectangle 149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ch06/06-01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hyperlink" Target="../ch08/08-01.pptx" TargetMode="Externa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07-2.ppt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hyperlink" Target="07-3.pptx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notesSlide" Target="../notesSlides/notesSlide3.xml"/><Relationship Id="rId7" Type="http://schemas.openxmlformats.org/officeDocument/2006/relationships/hyperlink" Target="../../04MEDIA/ch07/&#27682;&#21407;&#23376;&#20809;&#35889;.swf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hyperlink" Target="../../04MEDIA/ch07/&#36830;&#32493;&#20809;&#35889;.swf" TargetMode="External"/><Relationship Id="rId4" Type="http://schemas.openxmlformats.org/officeDocument/2006/relationships/audio" Target="../media/audio1.wav"/><Relationship Id="rId9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audio" Target="../media/audio2.wav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audio" Target="../media/audio3.wav"/><Relationship Id="rId10" Type="http://schemas.openxmlformats.org/officeDocument/2006/relationships/image" Target="../media/image5.jpeg"/><Relationship Id="rId4" Type="http://schemas.openxmlformats.org/officeDocument/2006/relationships/audio" Target="../media/audio1.wav"/><Relationship Id="rId9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audio" Target="../media/audio2.wav"/><Relationship Id="rId9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../../04MEDIA/ch07/&#30005;&#23376;&#34893;&#23556;.AVI" TargetMode="Externa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../../04MEDIA/ch07/&#30005;&#23376;&#34893;&#23556;.AVI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hyperlink" Target="07-2.pptx" TargetMode="Externa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" name="Rectangle 4"/>
          <p:cNvSpPr>
            <a:spLocks noChangeArrowheads="1"/>
          </p:cNvSpPr>
          <p:nvPr/>
        </p:nvSpPr>
        <p:spPr bwMode="auto">
          <a:xfrm>
            <a:off x="3689335" y="1668451"/>
            <a:ext cx="4143372" cy="1015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53882" dir="2700000" algn="ctr" rotWithShape="0">
              <a:srgbClr val="000000"/>
            </a:outerShdw>
          </a:effectLst>
        </p:spPr>
        <p:txBody>
          <a:bodyPr wrap="square" anchor="ctr">
            <a:spAutoFit/>
          </a:bodyPr>
          <a:lstStyle/>
          <a:p>
            <a:pPr algn="ctr" eaLnBrk="0" hangingPunct="0">
              <a:defRPr/>
            </a:pPr>
            <a:r>
              <a:rPr lang="zh-CN" alt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第</a:t>
            </a:r>
            <a:r>
              <a:rPr lang="en-US" altLang="zh-CN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7</a:t>
            </a:r>
            <a:r>
              <a:rPr lang="zh-CN" alt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章  </a:t>
            </a:r>
            <a:r>
              <a:rPr lang="zh-CN" altLang="en-US" sz="32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原子结构</a:t>
            </a:r>
            <a:endParaRPr lang="en-US" altLang="zh-CN" sz="3200" b="1" dirty="0" smtClean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黑体" pitchFamily="2" charset="-122"/>
            </a:endParaRPr>
          </a:p>
          <a:p>
            <a:pPr algn="ctr" eaLnBrk="0" hangingPunct="0">
              <a:defRPr/>
            </a:pPr>
            <a:r>
              <a:rPr lang="en-US" altLang="zh-CN" sz="2800" b="1" dirty="0" smtClean="0">
                <a:solidFill>
                  <a:srgbClr val="FFFF00"/>
                </a:solidFill>
              </a:rPr>
              <a:t>Atomic Structure</a:t>
            </a:r>
            <a:endParaRPr kumimoji="1" lang="en-US" altLang="zh-CN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黑体" pitchFamily="2" charset="-122"/>
            </a:endParaRPr>
          </a:p>
        </p:txBody>
      </p:sp>
      <p:sp>
        <p:nvSpPr>
          <p:cNvPr id="4" name="椭圆 62544" descr="图片1">
            <a:hlinkClick r:id="rId3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0" y="5580000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上章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5" name="椭圆 62544" descr="图片1">
            <a:hlinkClick r:id="rId5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60000" y="5580000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下章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ChangeArrowheads="1"/>
          </p:cNvSpPr>
          <p:nvPr/>
        </p:nvSpPr>
        <p:spPr bwMode="auto">
          <a:xfrm>
            <a:off x="3063622" y="1504893"/>
            <a:ext cx="5412059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800" b="1" dirty="0">
                <a:solidFill>
                  <a:srgbClr val="FFFFFF"/>
                </a:solidFill>
                <a:ea typeface="黑体" pitchFamily="49" charset="-122"/>
              </a:rPr>
              <a:t>7.1 </a:t>
            </a:r>
            <a:r>
              <a:rPr lang="zh-CN" altLang="en-US" sz="2800" b="1" dirty="0">
                <a:solidFill>
                  <a:srgbClr val="FFFFFF"/>
                </a:solidFill>
                <a:ea typeface="黑体" pitchFamily="49" charset="-122"/>
              </a:rPr>
              <a:t>原子结构基本模型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800" b="1" dirty="0">
                <a:solidFill>
                  <a:srgbClr val="FFFFFF"/>
                </a:solidFill>
                <a:ea typeface="黑体" pitchFamily="49" charset="-122"/>
                <a:hlinkClick r:id="rId3" action="ppaction://hlinkpres?slideindex=1&amp;slidetitle="/>
              </a:rPr>
              <a:t>7.2</a:t>
            </a:r>
            <a:r>
              <a:rPr lang="en-US" altLang="zh-CN" sz="2800" b="1" dirty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>
                <a:solidFill>
                  <a:srgbClr val="FFFFFF"/>
                </a:solidFill>
                <a:ea typeface="黑体" pitchFamily="49" charset="-122"/>
              </a:rPr>
              <a:t>核外电子运动状态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800" b="1" dirty="0">
                <a:solidFill>
                  <a:srgbClr val="FFFFFF"/>
                </a:solidFill>
                <a:ea typeface="黑体" pitchFamily="49" charset="-122"/>
                <a:hlinkClick r:id="rId4" action="ppaction://hlinkpres?slideindex=1&amp;slidetitle="/>
              </a:rPr>
              <a:t>7.3</a:t>
            </a:r>
            <a:r>
              <a:rPr lang="en-US" altLang="zh-CN" sz="2800" b="1" dirty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>
                <a:solidFill>
                  <a:srgbClr val="FFFFFF"/>
                </a:solidFill>
                <a:ea typeface="黑体" pitchFamily="49" charset="-122"/>
              </a:rPr>
              <a:t>原子电子层结构和元素周期系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1034">
            <a:hlinkClick r:id="" action="ppaction://hlinkshowjump?jump=nextslide" highlightClick="1"/>
          </p:cNvPr>
          <p:cNvSpPr>
            <a:spLocks noChangeAspect="1" noChangeArrowheads="1"/>
          </p:cNvSpPr>
          <p:nvPr/>
        </p:nvSpPr>
        <p:spPr bwMode="auto">
          <a:xfrm>
            <a:off x="2546350" y="1882775"/>
            <a:ext cx="544513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" name="AutoShape 1035">
            <a:hlinkClick r:id="rId2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546350" y="2882900"/>
            <a:ext cx="544513" cy="411163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0" name="Text Box 1036"/>
          <p:cNvSpPr txBox="1">
            <a:spLocks noChangeArrowheads="1"/>
          </p:cNvSpPr>
          <p:nvPr/>
        </p:nvSpPr>
        <p:spPr bwMode="auto">
          <a:xfrm>
            <a:off x="3046413" y="1525588"/>
            <a:ext cx="6853237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b="1">
                <a:ea typeface="黑体" pitchFamily="49" charset="-122"/>
              </a:rPr>
              <a:t>7.1.1 </a:t>
            </a:r>
            <a:r>
              <a:rPr lang="zh-CN" altLang="en-US" sz="2800" b="1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氢原子光谱和玻尔理论</a:t>
            </a:r>
            <a:endParaRPr lang="en-US" altLang="zh-CN" sz="2800" b="1">
              <a:solidFill>
                <a:schemeClr val="bg2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250000"/>
              </a:lnSpc>
            </a:pPr>
            <a:r>
              <a:rPr lang="en-US" altLang="zh-CN" sz="2800" b="1">
                <a:ea typeface="黑体" pitchFamily="49" charset="-122"/>
                <a:cs typeface="Times New Roman" pitchFamily="18" charset="0"/>
              </a:rPr>
              <a:t>7.1.2 </a:t>
            </a:r>
            <a:r>
              <a:rPr lang="zh-CN" altLang="en-US" sz="2800" b="1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氢原子的量子力学模型</a:t>
            </a:r>
          </a:p>
        </p:txBody>
      </p:sp>
      <p:sp>
        <p:nvSpPr>
          <p:cNvPr id="6149" name="Rectangle 1039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solidFill>
                  <a:srgbClr val="FF3300"/>
                </a:solidFill>
                <a:ea typeface="黑体" pitchFamily="49" charset="-122"/>
              </a:rPr>
              <a:t>7.1 </a:t>
            </a:r>
            <a:r>
              <a:rPr lang="zh-CN" altLang="en-US" smtClean="0">
                <a:solidFill>
                  <a:srgbClr val="FF3300"/>
                </a:solidFill>
                <a:ea typeface="黑体" pitchFamily="49" charset="-122"/>
              </a:rPr>
              <a:t>原子结构的基本模型</a:t>
            </a:r>
            <a:endParaRPr lang="zh-CN" altLang="en-US" sz="1600" b="0" smtClean="0">
              <a:ea typeface="黑体" pitchFamily="49" charset="-122"/>
            </a:endParaRPr>
          </a:p>
        </p:txBody>
      </p:sp>
      <p:sp>
        <p:nvSpPr>
          <p:cNvPr id="6150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615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1046163" y="1811338"/>
            <a:ext cx="9366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solidFill>
                  <a:schemeClr val="bg2"/>
                </a:solidFill>
                <a:ea typeface="楷体_GB2312" pitchFamily="49" charset="-122"/>
              </a:rPr>
              <a:t>特征</a:t>
            </a:r>
            <a:r>
              <a:rPr lang="en-US" altLang="zh-CN" sz="2500" b="1">
                <a:solidFill>
                  <a:schemeClr val="bg2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46092" name="Rectangle 12"/>
          <p:cNvSpPr>
            <a:spLocks noChangeArrowheads="1"/>
          </p:cNvSpPr>
          <p:nvPr/>
        </p:nvSpPr>
        <p:spPr bwMode="auto">
          <a:xfrm>
            <a:off x="2130425" y="1460500"/>
            <a:ext cx="8983663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 ①</a:t>
            </a:r>
            <a:r>
              <a:rPr lang="zh-CN" altLang="en-US" sz="2500" b="1">
                <a:ea typeface="楷体_GB2312" pitchFamily="49" charset="-122"/>
              </a:rPr>
              <a:t>线状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不连续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r>
              <a:rPr lang="en-US" altLang="zh-CN" sz="2500" b="1">
                <a:solidFill>
                  <a:schemeClr val="tx2"/>
                </a:solidFill>
                <a:ea typeface="楷体_GB2312" pitchFamily="49" charset="-122"/>
              </a:rPr>
              <a:t>     </a:t>
            </a:r>
            <a:r>
              <a:rPr lang="zh-CN" altLang="en-US" sz="2500" b="1">
                <a:ea typeface="楷体_GB2312" pitchFamily="49" charset="-122"/>
              </a:rPr>
              <a:t>不同于</a:t>
            </a:r>
            <a:r>
              <a:rPr lang="zh-CN" altLang="en-US" sz="2500" b="1">
                <a:solidFill>
                  <a:schemeClr val="tx2"/>
                </a:solidFill>
                <a:ea typeface="楷体_GB2312" pitchFamily="49" charset="-122"/>
                <a:hlinkClick r:id="rId5" action="ppaction://hlinkfile"/>
              </a:rPr>
              <a:t>连续光谱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continuous spectrum</a:t>
            </a:r>
            <a:r>
              <a:rPr lang="en-US" altLang="zh-CN" sz="2500" b="1">
                <a:ea typeface="楷体_GB2312" pitchFamily="49" charset="-122"/>
              </a:rPr>
              <a:t>)</a:t>
            </a:r>
          </a:p>
        </p:txBody>
      </p:sp>
      <p:graphicFrame>
        <p:nvGraphicFramePr>
          <p:cNvPr id="46094" name="Object 2"/>
          <p:cNvGraphicFramePr>
            <a:graphicFrameLocks noChangeAspect="1"/>
          </p:cNvGraphicFramePr>
          <p:nvPr/>
        </p:nvGraphicFramePr>
        <p:xfrm>
          <a:off x="2859088" y="2832100"/>
          <a:ext cx="5260975" cy="782638"/>
        </p:xfrm>
        <a:graphic>
          <a:graphicData uri="http://schemas.openxmlformats.org/presentationml/2006/ole">
            <p:oleObj spid="_x0000_s1026" name="公式" r:id="rId6" imgW="2031840" imgH="406080" progId="Equation.3">
              <p:embed/>
            </p:oleObj>
          </a:graphicData>
        </a:graphic>
      </p:graphicFrame>
      <p:sp>
        <p:nvSpPr>
          <p:cNvPr id="46095" name="AutoShape 15"/>
          <p:cNvSpPr>
            <a:spLocks/>
          </p:cNvSpPr>
          <p:nvPr/>
        </p:nvSpPr>
        <p:spPr bwMode="auto">
          <a:xfrm>
            <a:off x="2130425" y="1674813"/>
            <a:ext cx="190500" cy="985837"/>
          </a:xfrm>
          <a:prstGeom prst="leftBrace">
            <a:avLst>
              <a:gd name="adj1" fmla="val 57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46096" name="Text Box 16"/>
          <p:cNvSpPr txBox="1">
            <a:spLocks noChangeArrowheads="1"/>
          </p:cNvSpPr>
          <p:nvPr/>
        </p:nvSpPr>
        <p:spPr bwMode="auto">
          <a:xfrm>
            <a:off x="2767013" y="3648075"/>
            <a:ext cx="244951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n = 3,4,5,6</a:t>
            </a:r>
          </a:p>
        </p:txBody>
      </p:sp>
      <p:sp>
        <p:nvSpPr>
          <p:cNvPr id="46105" name="Rectangle 25"/>
          <p:cNvSpPr>
            <a:spLocks noChangeArrowheads="1"/>
          </p:cNvSpPr>
          <p:nvPr/>
        </p:nvSpPr>
        <p:spPr bwMode="auto">
          <a:xfrm>
            <a:off x="2130425" y="2368550"/>
            <a:ext cx="343058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 ②</a:t>
            </a:r>
            <a:r>
              <a:rPr lang="zh-CN" altLang="en-US" sz="2500" b="1">
                <a:ea typeface="楷体_GB2312" pitchFamily="49" charset="-122"/>
              </a:rPr>
              <a:t>有规律</a:t>
            </a:r>
            <a:r>
              <a:rPr lang="en-US" altLang="zh-CN" sz="2500" b="1">
                <a:ea typeface="楷体_GB2312" pitchFamily="49" charset="-122"/>
              </a:rPr>
              <a:t>(1885</a:t>
            </a:r>
            <a:r>
              <a:rPr lang="zh-CN" altLang="en-US" sz="2500" b="1">
                <a:ea typeface="楷体_GB2312" pitchFamily="49" charset="-122"/>
              </a:rPr>
              <a:t>巴尔麦</a:t>
            </a:r>
            <a:r>
              <a:rPr lang="en-US" altLang="zh-CN" sz="2500" b="1">
                <a:ea typeface="楷体_GB2312" pitchFamily="49" charset="-122"/>
              </a:rPr>
              <a:t>).</a:t>
            </a:r>
          </a:p>
        </p:txBody>
      </p:sp>
      <p:sp>
        <p:nvSpPr>
          <p:cNvPr id="1032" name="Rectangle 36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7.1.1</a:t>
            </a:r>
            <a:r>
              <a:rPr lang="zh-CN" altLang="en-US" smtClean="0">
                <a:ea typeface="黑体" pitchFamily="49" charset="-122"/>
              </a:rPr>
              <a:t>氢原子光谱和玻尔理论</a:t>
            </a:r>
            <a:endParaRPr lang="zh-CN" altLang="en-US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46121" name="Text Box 41"/>
          <p:cNvSpPr txBox="1">
            <a:spLocks noChangeArrowheads="1"/>
          </p:cNvSpPr>
          <p:nvPr/>
        </p:nvSpPr>
        <p:spPr bwMode="auto">
          <a:xfrm>
            <a:off x="760413" y="882650"/>
            <a:ext cx="9271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1.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  <a:hlinkClick r:id="rId7" action="ppaction://hlinkfile"/>
              </a:rPr>
              <a:t>氢原子光谱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ea typeface="楷体_GB2312"/>
              </a:rPr>
              <a:t>atomic spectrum of hydrogen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):</a:t>
            </a:r>
            <a:endParaRPr lang="en-US" altLang="zh-CN" sz="25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/>
            </a:endParaRPr>
          </a:p>
        </p:txBody>
      </p:sp>
      <p:sp>
        <p:nvSpPr>
          <p:cNvPr id="46125" name="Rectangle 45"/>
          <p:cNvSpPr>
            <a:spLocks noChangeArrowheads="1"/>
          </p:cNvSpPr>
          <p:nvPr/>
        </p:nvSpPr>
        <p:spPr bwMode="auto">
          <a:xfrm>
            <a:off x="906463" y="4192597"/>
            <a:ext cx="31559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卢瑟福</a:t>
            </a:r>
            <a:r>
              <a:rPr lang="zh-CN" altLang="en-US" sz="2500" b="1" dirty="0">
                <a:ea typeface="楷体_GB2312" pitchFamily="49" charset="-122"/>
              </a:rPr>
              <a:t>含核原子模型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035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036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0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1" grpId="0" autoUpdateAnimBg="0"/>
      <p:bldP spid="46092" grpId="0" build="p" autoUpdateAnimBg="0"/>
      <p:bldP spid="46095" grpId="0" animBg="1"/>
      <p:bldP spid="46096" grpId="0" autoUpdateAnimBg="0"/>
      <p:bldP spid="46105" grpId="0" autoUpdateAnimBg="0"/>
      <p:bldP spid="46121" grpId="0" autoUpdateAnimBg="0"/>
      <p:bldP spid="4612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21" name="Rectangle 21"/>
          <p:cNvSpPr>
            <a:spLocks noChangeArrowheads="1"/>
          </p:cNvSpPr>
          <p:nvPr/>
        </p:nvSpPr>
        <p:spPr bwMode="auto">
          <a:xfrm>
            <a:off x="906463" y="4079875"/>
            <a:ext cx="7123112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        </a:t>
            </a:r>
            <a:r>
              <a:rPr lang="zh-CN" altLang="en-US" sz="2500" b="1">
                <a:ea typeface="楷体_GB2312" pitchFamily="49" charset="-122"/>
                <a:sym typeface="Monotype Sorts" pitchFamily="2" charset="2"/>
              </a:rPr>
              <a:t>通常原子所处的能量最低状态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.</a:t>
            </a:r>
          </a:p>
        </p:txBody>
      </p:sp>
      <p:sp>
        <p:nvSpPr>
          <p:cNvPr id="76808" name="Rectangle 8"/>
          <p:cNvSpPr>
            <a:spLocks noChangeArrowheads="1"/>
          </p:cNvSpPr>
          <p:nvPr/>
        </p:nvSpPr>
        <p:spPr bwMode="auto">
          <a:xfrm>
            <a:off x="906463" y="1460500"/>
            <a:ext cx="6578600" cy="220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>
                <a:solidFill>
                  <a:schemeClr val="accent2"/>
                </a:solidFill>
                <a:ea typeface="楷体_GB2312" pitchFamily="49" charset="-122"/>
                <a:sym typeface="Monotype Sorts" pitchFamily="2" charset="2"/>
              </a:rPr>
              <a:t>定态轨道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orbit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zh-CN" altLang="en-US" sz="2500" b="1">
                <a:ea typeface="楷体_GB2312" pitchFamily="49" charset="-122"/>
              </a:rPr>
              <a:t>假设</a:t>
            </a:r>
            <a:r>
              <a:rPr lang="en-US" altLang="zh-CN" sz="2500" b="1">
                <a:ea typeface="楷体_GB2312" pitchFamily="49" charset="-122"/>
              </a:rPr>
              <a:t>;</a:t>
            </a:r>
            <a:endParaRPr lang="zh-CN" altLang="zh-CN" sz="2500" b="1"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>
                <a:solidFill>
                  <a:schemeClr val="accent2"/>
                </a:solidFill>
                <a:ea typeface="楷体_GB2312" pitchFamily="49" charset="-122"/>
                <a:sym typeface="Monotype Sorts" pitchFamily="2" charset="2"/>
              </a:rPr>
              <a:t>轨道能量</a:t>
            </a:r>
            <a:r>
              <a:rPr lang="zh-CN" altLang="en-US" sz="2500" b="1">
                <a:ea typeface="楷体_GB2312" pitchFamily="49" charset="-122"/>
                <a:sym typeface="Monotype Sorts" pitchFamily="2" charset="2"/>
              </a:rPr>
              <a:t>假设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轨道能量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quantization.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 </a:t>
            </a:r>
            <a:r>
              <a:rPr lang="zh-CN" altLang="en-US" sz="2500" b="1">
                <a:ea typeface="楷体_GB2312" pitchFamily="49" charset="-122"/>
                <a:sym typeface="Monotype Sorts" pitchFamily="2" charset="2"/>
              </a:rPr>
              <a:t>　　</a:t>
            </a:r>
          </a:p>
          <a:p>
            <a:pPr>
              <a:lnSpc>
                <a:spcPct val="110000"/>
              </a:lnSpc>
            </a:pPr>
            <a:r>
              <a:rPr lang="zh-CN" altLang="en-US" sz="2500" b="1">
                <a:ea typeface="楷体_GB2312" pitchFamily="49" charset="-122"/>
                <a:sym typeface="Monotype Sorts" pitchFamily="2" charset="2"/>
              </a:rPr>
              <a:t>        原子轨道不同能量状态称为</a:t>
            </a:r>
            <a:r>
              <a:rPr lang="zh-CN" altLang="en-US" sz="2500" b="1">
                <a:ea typeface="楷体_GB2312" pitchFamily="49" charset="-122"/>
                <a:sym typeface="Monotype Sorts" pitchFamily="2" charset="2"/>
                <a:hlinkClick r:id="rId6" action="ppaction://hlinksldjump"/>
              </a:rPr>
              <a:t>能级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energy level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).</a:t>
            </a:r>
          </a:p>
        </p:txBody>
      </p:sp>
      <p:sp>
        <p:nvSpPr>
          <p:cNvPr id="76820" name="Rectangle 20"/>
          <p:cNvSpPr>
            <a:spLocks noChangeArrowheads="1"/>
          </p:cNvSpPr>
          <p:nvPr/>
        </p:nvSpPr>
        <p:spPr bwMode="auto">
          <a:xfrm>
            <a:off x="688975" y="954088"/>
            <a:ext cx="36147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2.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玻尔理论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(1913)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的要点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76822" name="Rectangle 22"/>
          <p:cNvSpPr>
            <a:spLocks noChangeArrowheads="1"/>
          </p:cNvSpPr>
          <p:nvPr/>
        </p:nvSpPr>
        <p:spPr bwMode="auto">
          <a:xfrm>
            <a:off x="906463" y="3678238"/>
            <a:ext cx="28654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基态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ground state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):</a:t>
            </a:r>
            <a:endParaRPr lang="en-US" altLang="zh-CN" sz="2500" b="1">
              <a:ea typeface="楷体_GB2312" pitchFamily="49" charset="-122"/>
              <a:sym typeface="Monotype Sorts" pitchFamily="2" charset="2"/>
            </a:endParaRPr>
          </a:p>
        </p:txBody>
      </p:sp>
      <p:grpSp>
        <p:nvGrpSpPr>
          <p:cNvPr id="2" name="Group 30"/>
          <p:cNvGrpSpPr>
            <a:grpSpLocks noChangeAspect="1"/>
          </p:cNvGrpSpPr>
          <p:nvPr/>
        </p:nvGrpSpPr>
        <p:grpSpPr bwMode="auto">
          <a:xfrm>
            <a:off x="7843838" y="1020763"/>
            <a:ext cx="3300412" cy="3021012"/>
            <a:chOff x="3581" y="680"/>
            <a:chExt cx="1844" cy="2252"/>
          </a:xfrm>
        </p:grpSpPr>
        <p:pic>
          <p:nvPicPr>
            <p:cNvPr id="7179" name="Picture 15" descr="玻尔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581" y="680"/>
              <a:ext cx="1814" cy="2154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7180" name="Rectangle 29"/>
            <p:cNvSpPr>
              <a:spLocks noChangeAspect="1" noChangeArrowheads="1"/>
            </p:cNvSpPr>
            <p:nvPr/>
          </p:nvSpPr>
          <p:spPr bwMode="auto">
            <a:xfrm>
              <a:off x="4964" y="2577"/>
              <a:ext cx="461" cy="3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500" b="1">
                  <a:solidFill>
                    <a:srgbClr val="FFFF00"/>
                  </a:solidFill>
                  <a:ea typeface="黑体" pitchFamily="49" charset="-122"/>
                </a:rPr>
                <a:t>玻尔</a:t>
              </a:r>
            </a:p>
          </p:txBody>
        </p:sp>
      </p:grpSp>
      <p:sp>
        <p:nvSpPr>
          <p:cNvPr id="7175" name="Rectangle 32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7.1.1</a:t>
            </a:r>
            <a:r>
              <a:rPr lang="zh-CN" altLang="en-US" smtClean="0">
                <a:ea typeface="黑体" pitchFamily="49" charset="-122"/>
              </a:rPr>
              <a:t>氢原子光谱和玻尔理论</a:t>
            </a:r>
            <a:endParaRPr lang="zh-CN" altLang="en-US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76833" name="Rectangle 33"/>
          <p:cNvSpPr>
            <a:spLocks noChangeArrowheads="1"/>
          </p:cNvSpPr>
          <p:nvPr/>
        </p:nvSpPr>
        <p:spPr bwMode="auto">
          <a:xfrm>
            <a:off x="906463" y="4522788"/>
            <a:ext cx="10039350" cy="93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 dirty="0">
                <a:solidFill>
                  <a:schemeClr val="accent2"/>
                </a:solidFill>
                <a:ea typeface="楷体_GB2312" pitchFamily="49" charset="-122"/>
                <a:sym typeface="Monotype Sorts" pitchFamily="2" charset="2"/>
              </a:rPr>
              <a:t>能量的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吸收与释放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假设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跃迁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jump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)</a:t>
            </a:r>
            <a:endParaRPr lang="en-US" altLang="zh-CN" sz="2500" b="1" dirty="0">
              <a:ea typeface="楷体_GB2312" pitchFamily="49" charset="-122"/>
              <a:sym typeface="Monotype Sorts" pitchFamily="2" charset="2"/>
            </a:endParaRPr>
          </a:p>
        </p:txBody>
      </p:sp>
      <p:sp>
        <p:nvSpPr>
          <p:cNvPr id="7177" name="Oval 27" descr="图片9">
            <a:hlinkClick r:id="rId8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7178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7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6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68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68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68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68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6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68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21" grpId="0" autoUpdateAnimBg="0"/>
      <p:bldP spid="76808" grpId="0" build="p" autoUpdateAnimBg="0"/>
      <p:bldP spid="76820" grpId="0" autoUpdateAnimBg="0"/>
      <p:bldP spid="76822" grpId="0" autoUpdateAnimBg="0"/>
      <p:bldP spid="76833" grpId="0" uiExpand="1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15" name="Picture 11" descr="snap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31950" y="1020763"/>
            <a:ext cx="8480425" cy="4591050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/>
            <a:tailEnd/>
          </a:ln>
        </p:spPr>
      </p:pic>
      <p:sp>
        <p:nvSpPr>
          <p:cNvPr id="47113" name="Text Box 9"/>
          <p:cNvSpPr txBox="1">
            <a:spLocks noChangeArrowheads="1"/>
          </p:cNvSpPr>
          <p:nvPr/>
        </p:nvSpPr>
        <p:spPr bwMode="auto">
          <a:xfrm>
            <a:off x="4216400" y="2957513"/>
            <a:ext cx="41290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49" charset="-122"/>
              </a:rPr>
              <a:t>氢原子轨道能级示意图</a:t>
            </a:r>
            <a:endParaRPr lang="zh-CN" altLang="en-US">
              <a:solidFill>
                <a:srgbClr val="FF3300"/>
              </a:solidFill>
            </a:endParaRPr>
          </a:p>
        </p:txBody>
      </p:sp>
      <p:sp>
        <p:nvSpPr>
          <p:cNvPr id="8196" name="Rectangle 16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7.1.1</a:t>
            </a:r>
            <a:r>
              <a:rPr lang="zh-CN" altLang="en-US" smtClean="0">
                <a:ea typeface="黑体" pitchFamily="49" charset="-122"/>
              </a:rPr>
              <a:t>氢原子光谱和玻尔理论</a:t>
            </a:r>
            <a:endParaRPr lang="zh-CN" altLang="en-US" sz="1600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8198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5546723" y="5668979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76" name="Rectangle 20"/>
          <p:cNvSpPr>
            <a:spLocks noChangeArrowheads="1"/>
          </p:cNvSpPr>
          <p:nvPr/>
        </p:nvSpPr>
        <p:spPr bwMode="auto">
          <a:xfrm>
            <a:off x="906463" y="950913"/>
            <a:ext cx="10299700" cy="93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                                      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原子中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electron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处于离核较远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能量较高轨道上运动的状态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.</a:t>
            </a:r>
          </a:p>
        </p:txBody>
      </p:sp>
      <p:sp>
        <p:nvSpPr>
          <p:cNvPr id="45074" name="Rectangle 18"/>
          <p:cNvSpPr>
            <a:spLocks noChangeArrowheads="1"/>
          </p:cNvSpPr>
          <p:nvPr/>
        </p:nvSpPr>
        <p:spPr bwMode="auto">
          <a:xfrm>
            <a:off x="906463" y="992188"/>
            <a:ext cx="31591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激发态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excited state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):</a:t>
            </a:r>
          </a:p>
        </p:txBody>
      </p:sp>
      <p:graphicFrame>
        <p:nvGraphicFramePr>
          <p:cNvPr id="45081" name="Object 2"/>
          <p:cNvGraphicFramePr>
            <a:graphicFrameLocks noChangeAspect="1"/>
          </p:cNvGraphicFramePr>
          <p:nvPr/>
        </p:nvGraphicFramePr>
        <p:xfrm>
          <a:off x="3763963" y="2597145"/>
          <a:ext cx="3902075" cy="952500"/>
        </p:xfrm>
        <a:graphic>
          <a:graphicData uri="http://schemas.openxmlformats.org/presentationml/2006/ole">
            <p:oleObj spid="_x0000_s2050" name="公式" r:id="rId5" imgW="1320480" imgH="431640" progId="Equation.3">
              <p:embed/>
            </p:oleObj>
          </a:graphicData>
        </a:graphic>
      </p:graphicFrame>
      <p:sp>
        <p:nvSpPr>
          <p:cNvPr id="45082" name="Rectangle 26"/>
          <p:cNvSpPr>
            <a:spLocks noChangeArrowheads="1"/>
          </p:cNvSpPr>
          <p:nvPr/>
        </p:nvSpPr>
        <p:spPr bwMode="auto">
          <a:xfrm>
            <a:off x="6689725" y="3117845"/>
            <a:ext cx="32670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solidFill>
                  <a:schemeClr val="bg2"/>
                </a:solidFill>
                <a:ea typeface="楷体_GB2312" pitchFamily="49" charset="-122"/>
                <a:sym typeface="Symbol" pitchFamily="18" charset="2"/>
              </a:rPr>
              <a:t>←</a:t>
            </a:r>
            <a:r>
              <a:rPr lang="zh-CN" altLang="en-US" sz="2500" b="1">
                <a:solidFill>
                  <a:schemeClr val="bg2"/>
                </a:solidFill>
                <a:ea typeface="楷体_GB2312" pitchFamily="49" charset="-122"/>
                <a:sym typeface="Symbol" pitchFamily="18" charset="2"/>
              </a:rPr>
              <a:t>普朗克常数</a:t>
            </a:r>
          </a:p>
        </p:txBody>
      </p:sp>
      <p:sp>
        <p:nvSpPr>
          <p:cNvPr id="2055" name="Rectangle 34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7.1.1</a:t>
            </a:r>
            <a:r>
              <a:rPr lang="zh-CN" altLang="en-US" smtClean="0">
                <a:ea typeface="黑体" pitchFamily="49" charset="-122"/>
              </a:rPr>
              <a:t>氢原子光谱和玻尔理论</a:t>
            </a:r>
            <a:endParaRPr lang="zh-CN" altLang="en-US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45091" name="Rectangle 35"/>
          <p:cNvSpPr>
            <a:spLocks noChangeArrowheads="1"/>
          </p:cNvSpPr>
          <p:nvPr/>
        </p:nvSpPr>
        <p:spPr bwMode="auto">
          <a:xfrm>
            <a:off x="906463" y="1836738"/>
            <a:ext cx="1029970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        absorption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或</a:t>
            </a:r>
            <a:r>
              <a:rPr lang="en-US" altLang="zh-CN" sz="2500" b="1" dirty="0">
                <a:solidFill>
                  <a:schemeClr val="bg2"/>
                </a:solidFill>
                <a:ea typeface="楷体_GB2312" pitchFamily="49" charset="-122"/>
                <a:sym typeface="Monotype Sorts" pitchFamily="2" charset="2"/>
              </a:rPr>
              <a:t>emission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的频率</a:t>
            </a:r>
            <a:r>
              <a:rPr lang="zh-CN" altLang="en-US" sz="2500" b="1" i="1" dirty="0">
                <a:ea typeface="楷体_GB2312" pitchFamily="49" charset="-122"/>
                <a:sym typeface="Symbol" pitchFamily="18" charset="2"/>
              </a:rPr>
              <a:t>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与两个定态轨道间能量差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E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的关系为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:</a:t>
            </a:r>
          </a:p>
        </p:txBody>
      </p:sp>
      <p:sp>
        <p:nvSpPr>
          <p:cNvPr id="45092" name="Rectangle 36"/>
          <p:cNvSpPr>
            <a:spLocks noChangeArrowheads="1"/>
          </p:cNvSpPr>
          <p:nvPr/>
        </p:nvSpPr>
        <p:spPr bwMode="auto">
          <a:xfrm>
            <a:off x="617538" y="3811588"/>
            <a:ext cx="103901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如当氢原子中电子从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n = 3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轨道跃迁回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n = 2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轨道时所发射光的波长为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:</a:t>
            </a:r>
          </a:p>
        </p:txBody>
      </p:sp>
      <p:graphicFrame>
        <p:nvGraphicFramePr>
          <p:cNvPr id="45093" name="Object 3"/>
          <p:cNvGraphicFramePr>
            <a:graphicFrameLocks noChangeAspect="1"/>
          </p:cNvGraphicFramePr>
          <p:nvPr>
            <p:ph idx="1"/>
          </p:nvPr>
        </p:nvGraphicFramePr>
        <p:xfrm>
          <a:off x="906463" y="4487863"/>
          <a:ext cx="7291387" cy="950912"/>
        </p:xfrm>
        <a:graphic>
          <a:graphicData uri="http://schemas.openxmlformats.org/presentationml/2006/ole">
            <p:oleObj spid="_x0000_s2051" name="公式" r:id="rId6" imgW="2552400" imgH="444240" progId="Equation.3">
              <p:embed/>
            </p:oleObj>
          </a:graphicData>
        </a:graphic>
      </p:graphicFrame>
      <p:sp>
        <p:nvSpPr>
          <p:cNvPr id="45095" name="Rectangle 39"/>
          <p:cNvSpPr>
            <a:spLocks noChangeArrowheads="1"/>
          </p:cNvSpPr>
          <p:nvPr/>
        </p:nvSpPr>
        <p:spPr bwMode="auto">
          <a:xfrm>
            <a:off x="8120063" y="4697413"/>
            <a:ext cx="16954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= 656.0nm.</a:t>
            </a:r>
          </a:p>
        </p:txBody>
      </p:sp>
      <p:sp>
        <p:nvSpPr>
          <p:cNvPr id="2059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2060" name="Oval 26" descr="图片8">
            <a:hlinkClick r:id="rId8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50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76" grpId="0" autoUpdateAnimBg="0"/>
      <p:bldP spid="45074" grpId="0" autoUpdateAnimBg="0"/>
      <p:bldP spid="45082" grpId="0" autoUpdateAnimBg="0"/>
      <p:bldP spid="45091" grpId="0" build="p" autoUpdateAnimBg="0"/>
      <p:bldP spid="45092" grpId="0" autoUpdateAnimBg="0"/>
      <p:bldP spid="4509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46" name="Text Box 18"/>
          <p:cNvSpPr txBox="1">
            <a:spLocks noChangeArrowheads="1"/>
          </p:cNvSpPr>
          <p:nvPr/>
        </p:nvSpPr>
        <p:spPr bwMode="auto">
          <a:xfrm>
            <a:off x="688975" y="1025525"/>
            <a:ext cx="10328275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dirty="0">
                <a:ea typeface="楷体_GB2312" pitchFamily="49" charset="-122"/>
              </a:rPr>
              <a:t>　</a:t>
            </a:r>
            <a:r>
              <a:rPr lang="zh-CN" altLang="en-US" sz="2500" dirty="0">
                <a:solidFill>
                  <a:schemeClr val="bg2"/>
                </a:solidFill>
                <a:ea typeface="楷体_GB2312" pitchFamily="49" charset="-122"/>
              </a:rPr>
              <a:t>　</a:t>
            </a:r>
            <a:r>
              <a:rPr lang="zh-CN" altLang="en-US" sz="2500" b="1" dirty="0">
                <a:solidFill>
                  <a:schemeClr val="bg2"/>
                </a:solidFill>
                <a:ea typeface="楷体_GB2312" pitchFamily="49" charset="-122"/>
              </a:rPr>
              <a:t>玻尔理论的局限性</a:t>
            </a:r>
            <a:r>
              <a:rPr lang="en-US" altLang="zh-CN" sz="2500" dirty="0">
                <a:ea typeface="楷体_GB2312" pitchFamily="49" charset="-122"/>
              </a:rPr>
              <a:t>.</a:t>
            </a:r>
            <a:r>
              <a:rPr lang="zh-CN" altLang="en-US" sz="2500" dirty="0">
                <a:ea typeface="楷体_GB2312" pitchFamily="49" charset="-122"/>
              </a:rPr>
              <a:t>　　</a:t>
            </a:r>
          </a:p>
        </p:txBody>
      </p:sp>
      <p:sp>
        <p:nvSpPr>
          <p:cNvPr id="9219" name="Rectangle 2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7.1.1</a:t>
            </a:r>
            <a:r>
              <a:rPr lang="zh-CN" altLang="en-US" smtClean="0">
                <a:ea typeface="黑体" pitchFamily="49" charset="-122"/>
              </a:rPr>
              <a:t>氢原子光谱和玻尔理论</a:t>
            </a:r>
            <a:endParaRPr lang="zh-CN" altLang="en-US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9220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922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6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2" name="Rectangle 10"/>
          <p:cNvSpPr>
            <a:spLocks noChangeArrowheads="1"/>
          </p:cNvSpPr>
          <p:nvPr/>
        </p:nvSpPr>
        <p:spPr bwMode="auto">
          <a:xfrm>
            <a:off x="906463" y="992188"/>
            <a:ext cx="34004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1.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</a:rPr>
              <a:t>微观粒子的运动特征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:</a:t>
            </a:r>
            <a:endParaRPr lang="en-US" altLang="zh-CN" sz="25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/>
            </a:endParaRPr>
          </a:p>
        </p:txBody>
      </p:sp>
      <p:sp>
        <p:nvSpPr>
          <p:cNvPr id="44043" name="Text Box 11"/>
          <p:cNvSpPr txBox="1">
            <a:spLocks noChangeArrowheads="1"/>
          </p:cNvSpPr>
          <p:nvPr/>
        </p:nvSpPr>
        <p:spPr bwMode="auto">
          <a:xfrm>
            <a:off x="906463" y="1393825"/>
            <a:ext cx="10207625" cy="218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500" b="1" u="sng" dirty="0">
                <a:solidFill>
                  <a:srgbClr val="FF3300"/>
                </a:solidFill>
                <a:ea typeface="楷体_GB2312" pitchFamily="49" charset="-122"/>
              </a:rPr>
              <a:t>波粒二象性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wave-particle dualism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):</a:t>
            </a:r>
            <a:endParaRPr lang="en-US" altLang="zh-CN" sz="2500" b="1" dirty="0"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　　</a:t>
            </a:r>
            <a:r>
              <a:rPr lang="zh-CN" altLang="zh-CN" sz="2500" b="1" dirty="0">
                <a:ea typeface="楷体_GB2312" pitchFamily="49" charset="-122"/>
                <a:hlinkClick r:id="rId3" action="ppaction://hlinkfile"/>
              </a:rPr>
              <a:t>电子衍射</a:t>
            </a:r>
            <a:r>
              <a:rPr lang="zh-CN" altLang="en-US" sz="2500" b="1" dirty="0">
                <a:ea typeface="楷体_GB2312" pitchFamily="49" charset="-122"/>
              </a:rPr>
              <a:t>实验</a:t>
            </a:r>
            <a:r>
              <a:rPr lang="en-US" altLang="zh-CN" sz="2500" b="1" dirty="0">
                <a:ea typeface="楷体_GB2312" pitchFamily="49" charset="-122"/>
              </a:rPr>
              <a:t>——</a:t>
            </a:r>
            <a:r>
              <a:rPr lang="zh-CN" altLang="en-US" sz="2500" b="1" dirty="0">
                <a:ea typeface="楷体_GB2312" pitchFamily="49" charset="-122"/>
              </a:rPr>
              <a:t>波动性</a:t>
            </a:r>
            <a:r>
              <a:rPr lang="zh-CN" altLang="zh-CN" sz="2500" b="1" dirty="0">
                <a:ea typeface="楷体_GB2312" pitchFamily="49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zh-CN" sz="2500" b="1" dirty="0">
                <a:ea typeface="楷体_GB2312" pitchFamily="49" charset="-122"/>
              </a:rPr>
              <a:t>　　阴极射线管中两极间的小轮当电子流通过时会转动</a:t>
            </a:r>
            <a:r>
              <a:rPr lang="en-US" altLang="zh-CN" sz="2500" b="1" dirty="0">
                <a:ea typeface="楷体_GB2312" pitchFamily="49" charset="-122"/>
              </a:rPr>
              <a:t>——</a:t>
            </a:r>
            <a:r>
              <a:rPr lang="zh-CN" altLang="en-US" sz="2500" b="1" dirty="0">
                <a:ea typeface="楷体_GB2312" pitchFamily="49" charset="-122"/>
              </a:rPr>
              <a:t>粒子性</a:t>
            </a:r>
            <a:r>
              <a:rPr lang="zh-CN" altLang="zh-CN" sz="2500" b="1" dirty="0">
                <a:ea typeface="楷体_GB2312" pitchFamily="49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(2)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测不准原理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chemeClr val="tx2"/>
                </a:solidFill>
                <a:ea typeface="楷体_GB2312" pitchFamily="49" charset="-122"/>
              </a:rPr>
              <a:t>测不准原理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uncertainty principle,1927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):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0244" name="Rectangle 24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7.1.2</a:t>
            </a:r>
            <a:r>
              <a:rPr lang="zh-CN" altLang="en-US" smtClean="0">
                <a:ea typeface="黑体" pitchFamily="49" charset="-122"/>
              </a:rPr>
              <a:t>氢原子的量子力学模型</a:t>
            </a:r>
          </a:p>
        </p:txBody>
      </p:sp>
      <p:grpSp>
        <p:nvGrpSpPr>
          <p:cNvPr id="2" name="Group 25"/>
          <p:cNvGrpSpPr>
            <a:grpSpLocks noChangeAspect="1"/>
          </p:cNvGrpSpPr>
          <p:nvPr/>
        </p:nvGrpSpPr>
        <p:grpSpPr bwMode="auto">
          <a:xfrm>
            <a:off x="8483600" y="3171825"/>
            <a:ext cx="2735263" cy="2492375"/>
            <a:chOff x="3853" y="680"/>
            <a:chExt cx="1562" cy="1897"/>
          </a:xfrm>
        </p:grpSpPr>
        <p:pic>
          <p:nvPicPr>
            <p:cNvPr id="10249" name="Picture 26" descr="海森堡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853" y="680"/>
              <a:ext cx="1528" cy="1814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10250" name="Rectangle 27"/>
            <p:cNvSpPr>
              <a:spLocks noChangeAspect="1" noChangeArrowheads="1"/>
            </p:cNvSpPr>
            <p:nvPr/>
          </p:nvSpPr>
          <p:spPr bwMode="auto">
            <a:xfrm>
              <a:off x="4760" y="2214"/>
              <a:ext cx="655" cy="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500" b="1">
                  <a:solidFill>
                    <a:srgbClr val="FFFF00"/>
                  </a:solidFill>
                  <a:ea typeface="黑体" pitchFamily="49" charset="-122"/>
                </a:rPr>
                <a:t>海森堡</a:t>
              </a:r>
            </a:p>
          </p:txBody>
        </p:sp>
      </p:grpSp>
      <p:sp>
        <p:nvSpPr>
          <p:cNvPr id="44060" name="Rectangle 28"/>
          <p:cNvSpPr>
            <a:spLocks noChangeArrowheads="1"/>
          </p:cNvSpPr>
          <p:nvPr/>
        </p:nvSpPr>
        <p:spPr bwMode="auto">
          <a:xfrm>
            <a:off x="903288" y="3668713"/>
            <a:ext cx="7439025" cy="93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　　对具波粒二象性的微粒而言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不可能同时准确测定它们在某瞬间的位置和速度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zh-CN" altLang="en-US" sz="2500" b="1" dirty="0">
                <a:ea typeface="楷体_GB2312" pitchFamily="49" charset="-122"/>
              </a:rPr>
              <a:t>或动量</a:t>
            </a:r>
            <a:r>
              <a:rPr lang="en-US" altLang="zh-CN" sz="2500" b="1" dirty="0">
                <a:ea typeface="楷体_GB2312" pitchFamily="49" charset="-122"/>
              </a:rPr>
              <a:t>).</a:t>
            </a:r>
          </a:p>
        </p:txBody>
      </p:sp>
      <p:sp>
        <p:nvSpPr>
          <p:cNvPr id="10247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0248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4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4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2" grpId="0" autoUpdateAnimBg="0"/>
      <p:bldP spid="44043" grpId="0" build="p" autoUpdateAnimBg="0"/>
      <p:bldP spid="44060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7" name="Rectangle 17"/>
          <p:cNvSpPr>
            <a:spLocks noChangeArrowheads="1"/>
          </p:cNvSpPr>
          <p:nvPr/>
        </p:nvSpPr>
        <p:spPr bwMode="auto">
          <a:xfrm>
            <a:off x="688975" y="1382713"/>
            <a:ext cx="10299700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　　原子核外电子运动没有确定的轨道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而是具有按概率分布的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  <a:hlinkClick r:id="rId3" action="ppaction://hlinkfile"/>
              </a:rPr>
              <a:t>统计规律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sp>
        <p:nvSpPr>
          <p:cNvPr id="11267" name="Rectangle 29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7.1.2</a:t>
            </a:r>
            <a:r>
              <a:rPr lang="zh-CN" altLang="en-US" smtClean="0">
                <a:ea typeface="黑体" pitchFamily="49" charset="-122"/>
              </a:rPr>
              <a:t>氢原子的量子力学模型</a:t>
            </a:r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617538" y="954088"/>
            <a:ext cx="3889375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(3)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微观粒子运动的统计性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127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椭圆 62544" descr="图片1">
            <a:hlinkClick r:id="rId5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下节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7" grpId="0" autoUpdateAnimBg="0"/>
      <p:bldP spid="26" grpId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3053</TotalTime>
  <Pages>0</Pages>
  <Words>448</Words>
  <Characters>0</Characters>
  <Application>Microsoft Office PowerPoint</Application>
  <DocSecurity>0</DocSecurity>
  <PresentationFormat>自定义</PresentationFormat>
  <Lines>0</Lines>
  <Paragraphs>70</Paragraphs>
  <Slides>10</Slides>
  <Notes>6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医学研究PPT模板</vt:lpstr>
      <vt:lpstr>1_医学研究PPT模板</vt:lpstr>
      <vt:lpstr>公式</vt:lpstr>
      <vt:lpstr>幻灯片 1</vt:lpstr>
      <vt:lpstr>幻灯片 2</vt:lpstr>
      <vt:lpstr>7.1 原子结构的基本模型</vt:lpstr>
      <vt:lpstr>7.1.1氢原子光谱和玻尔理论</vt:lpstr>
      <vt:lpstr>7.1.1氢原子光谱和玻尔理论</vt:lpstr>
      <vt:lpstr>7.1.1氢原子光谱和玻尔理论</vt:lpstr>
      <vt:lpstr>7.1.1氢原子光谱和玻尔理论</vt:lpstr>
      <vt:lpstr>7.1.1氢原子光谱和玻尔理论</vt:lpstr>
      <vt:lpstr>7.1.2氢原子的量子力学模型</vt:lpstr>
      <vt:lpstr>7.1.2氢原子的量子力学模型</vt:lpstr>
    </vt:vector>
  </TitlesOfParts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ch07-01原子结构</dc:title>
  <dc:creator>江南大学</dc:creator>
  <cp:lastModifiedBy>ASUS</cp:lastModifiedBy>
  <cp:revision>308</cp:revision>
  <cp:lastPrinted>1601-01-01T00:00:00Z</cp:lastPrinted>
  <dcterms:created xsi:type="dcterms:W3CDTF">2012-06-20T03:37:37Z</dcterms:created>
  <dcterms:modified xsi:type="dcterms:W3CDTF">2017-08-21T00:15:46Z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