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</p:sldIdLst>
  <p:sldSz cx="9144000" cy="6858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0713" y="512521"/>
            <a:ext cx="8402573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FF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FF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FF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207" y="2813431"/>
            <a:ext cx="7447584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333FF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4151" y="2050237"/>
            <a:ext cx="8035696" cy="3318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7.jpeg"/><Relationship Id="rId1" Type="http://schemas.openxmlformats.org/officeDocument/2006/relationships/image" Target="../media/image66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image" Target="../media/image7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1" Type="http://schemas.openxmlformats.org/officeDocument/2006/relationships/image" Target="../media/image68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94.png"/><Relationship Id="rId7" Type="http://schemas.openxmlformats.org/officeDocument/2006/relationships/image" Target="../media/image93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99.png"/><Relationship Id="rId12" Type="http://schemas.openxmlformats.org/officeDocument/2006/relationships/image" Target="../media/image98.png"/><Relationship Id="rId11" Type="http://schemas.openxmlformats.org/officeDocument/2006/relationships/image" Target="../media/image97.png"/><Relationship Id="rId10" Type="http://schemas.openxmlformats.org/officeDocument/2006/relationships/image" Target="../media/image96.png"/><Relationship Id="rId1" Type="http://schemas.openxmlformats.org/officeDocument/2006/relationships/image" Target="../media/image87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image" Target="../media/image100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4420" y="1935860"/>
            <a:ext cx="55327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20" dirty="0">
                <a:solidFill>
                  <a:srgbClr val="0000FF"/>
                </a:solidFill>
                <a:latin typeface="黑体"/>
                <a:cs typeface="黑体"/>
              </a:rPr>
              <a:t>第</a:t>
            </a:r>
            <a:r>
              <a:rPr sz="4800" b="1" spc="-1210" dirty="0">
                <a:solidFill>
                  <a:srgbClr val="0000FF"/>
                </a:solidFill>
                <a:latin typeface="黑体"/>
                <a:cs typeface="黑体"/>
              </a:rPr>
              <a:t> </a:t>
            </a:r>
            <a:r>
              <a:rPr sz="4800" b="1" spc="-20" dirty="0">
                <a:solidFill>
                  <a:srgbClr val="0000FF"/>
                </a:solidFill>
                <a:latin typeface="黑体"/>
                <a:cs typeface="黑体"/>
              </a:rPr>
              <a:t>九</a:t>
            </a:r>
            <a:r>
              <a:rPr sz="4800" b="1" spc="-1205" dirty="0">
                <a:solidFill>
                  <a:srgbClr val="0000FF"/>
                </a:solidFill>
                <a:latin typeface="黑体"/>
                <a:cs typeface="黑体"/>
              </a:rPr>
              <a:t> </a:t>
            </a:r>
            <a:r>
              <a:rPr sz="4800" b="1" spc="-20" dirty="0">
                <a:solidFill>
                  <a:srgbClr val="0000FF"/>
                </a:solidFill>
                <a:latin typeface="黑体"/>
                <a:cs typeface="黑体"/>
              </a:rPr>
              <a:t>章</a:t>
            </a:r>
            <a:r>
              <a:rPr sz="4800" b="1" spc="1170" dirty="0">
                <a:solidFill>
                  <a:srgbClr val="0000FF"/>
                </a:solidFill>
                <a:latin typeface="黑体"/>
                <a:cs typeface="黑体"/>
              </a:rPr>
              <a:t> </a:t>
            </a:r>
            <a:r>
              <a:rPr sz="4800" b="1" spc="-20" dirty="0">
                <a:solidFill>
                  <a:srgbClr val="0000FF"/>
                </a:solidFill>
                <a:latin typeface="黑体"/>
                <a:cs typeface="黑体"/>
              </a:rPr>
              <a:t>生</a:t>
            </a:r>
            <a:r>
              <a:rPr sz="4800" b="1" spc="-1205" dirty="0">
                <a:solidFill>
                  <a:srgbClr val="0000FF"/>
                </a:solidFill>
                <a:latin typeface="黑体"/>
                <a:cs typeface="黑体"/>
              </a:rPr>
              <a:t> </a:t>
            </a:r>
            <a:r>
              <a:rPr sz="4800" b="1" spc="-20" dirty="0">
                <a:solidFill>
                  <a:srgbClr val="0000FF"/>
                </a:solidFill>
                <a:latin typeface="黑体"/>
                <a:cs typeface="黑体"/>
              </a:rPr>
              <a:t>物</a:t>
            </a:r>
            <a:r>
              <a:rPr sz="4800" b="1" spc="-1205" dirty="0">
                <a:solidFill>
                  <a:srgbClr val="0000FF"/>
                </a:solidFill>
                <a:latin typeface="黑体"/>
                <a:cs typeface="黑体"/>
              </a:rPr>
              <a:t> </a:t>
            </a:r>
            <a:r>
              <a:rPr sz="4800" b="1" spc="-20" dirty="0">
                <a:solidFill>
                  <a:srgbClr val="0000FF"/>
                </a:solidFill>
                <a:latin typeface="黑体"/>
                <a:cs typeface="黑体"/>
              </a:rPr>
              <a:t>氧</a:t>
            </a:r>
            <a:r>
              <a:rPr sz="4800" b="1" spc="-1200" dirty="0">
                <a:solidFill>
                  <a:srgbClr val="0000FF"/>
                </a:solidFill>
                <a:latin typeface="黑体"/>
                <a:cs typeface="黑体"/>
              </a:rPr>
              <a:t> </a:t>
            </a:r>
            <a:r>
              <a:rPr sz="4800" b="1" spc="-20" dirty="0">
                <a:solidFill>
                  <a:srgbClr val="0000FF"/>
                </a:solidFill>
                <a:latin typeface="黑体"/>
                <a:cs typeface="黑体"/>
              </a:rPr>
              <a:t>化</a:t>
            </a:r>
            <a:endParaRPr sz="4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16632" y="2952750"/>
            <a:ext cx="51904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8755" algn="l"/>
              </a:tabLst>
            </a:pPr>
            <a:r>
              <a:rPr sz="4800" b="1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Biological	oxidation</a:t>
            </a:r>
            <a:endParaRPr sz="48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335" y="2609164"/>
            <a:ext cx="45059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1140" algn="l"/>
              </a:tabLst>
            </a:pPr>
            <a:r>
              <a:rPr sz="5400" dirty="0">
                <a:solidFill>
                  <a:srgbClr val="0000FF"/>
                </a:solidFill>
              </a:rPr>
              <a:t>第一</a:t>
            </a:r>
            <a:r>
              <a:rPr sz="5400" spc="-20" dirty="0">
                <a:solidFill>
                  <a:srgbClr val="0000FF"/>
                </a:solidFill>
              </a:rPr>
              <a:t>节	概</a:t>
            </a:r>
            <a:r>
              <a:rPr sz="5400" spc="-70" dirty="0">
                <a:solidFill>
                  <a:srgbClr val="0000FF"/>
                </a:solidFill>
              </a:rPr>
              <a:t> </a:t>
            </a:r>
            <a:r>
              <a:rPr sz="5400" spc="-20" dirty="0">
                <a:solidFill>
                  <a:srgbClr val="0000FF"/>
                </a:solidFill>
              </a:rPr>
              <a:t>述</a:t>
            </a:r>
            <a:endParaRPr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241" y="611589"/>
            <a:ext cx="8145780" cy="246316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38100" marR="30480" indent="714375">
              <a:lnSpc>
                <a:spcPct val="148000"/>
              </a:lnSpc>
              <a:spcBef>
                <a:spcPts val="465"/>
              </a:spcBef>
              <a:tabLst>
                <a:tab pos="4128770" algn="l"/>
              </a:tabLst>
            </a:pPr>
            <a:r>
              <a:rPr sz="3200" spc="10" dirty="0">
                <a:solidFill>
                  <a:srgbClr val="0000FF"/>
                </a:solidFill>
              </a:rPr>
              <a:t>生物</a:t>
            </a:r>
            <a:r>
              <a:rPr sz="3200" spc="-5" dirty="0">
                <a:solidFill>
                  <a:srgbClr val="0000FF"/>
                </a:solidFill>
              </a:rPr>
              <a:t>氧</a:t>
            </a:r>
            <a:r>
              <a:rPr sz="3200" spc="5" dirty="0">
                <a:solidFill>
                  <a:srgbClr val="0000FF"/>
                </a:solidFill>
              </a:rPr>
              <a:t>化</a:t>
            </a:r>
            <a:r>
              <a:rPr sz="2400" dirty="0">
                <a:solidFill>
                  <a:srgbClr val="000000"/>
                </a:solidFill>
              </a:rPr>
              <a:t>（</a:t>
            </a:r>
            <a:r>
              <a:rPr sz="24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B</a:t>
            </a:r>
            <a:r>
              <a:rPr sz="2400" spc="-1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i</a:t>
            </a:r>
            <a:r>
              <a:rPr sz="24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ologi</a:t>
            </a:r>
            <a:r>
              <a:rPr sz="2400" spc="-1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4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al	oxidat</a:t>
            </a:r>
            <a:r>
              <a:rPr sz="2400" spc="-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io</a:t>
            </a:r>
            <a:r>
              <a:rPr sz="24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</a:t>
            </a:r>
            <a:r>
              <a:rPr sz="2400" dirty="0">
                <a:solidFill>
                  <a:srgbClr val="000000"/>
                </a:solidFill>
              </a:rPr>
              <a:t>）主要指</a:t>
            </a:r>
            <a:r>
              <a:rPr sz="2400" dirty="0">
                <a:solidFill>
                  <a:srgbClr val="FF0000"/>
                </a:solidFill>
              </a:rPr>
              <a:t>糖、脂肪、 蛋白质</a:t>
            </a:r>
            <a:r>
              <a:rPr sz="2400" dirty="0">
                <a:solidFill>
                  <a:srgbClr val="000000"/>
                </a:solidFill>
              </a:rPr>
              <a:t>等在体内分解时逐</a:t>
            </a:r>
            <a:r>
              <a:rPr sz="2400" spc="-15" dirty="0">
                <a:solidFill>
                  <a:srgbClr val="000000"/>
                </a:solidFill>
              </a:rPr>
              <a:t>步</a:t>
            </a:r>
            <a:r>
              <a:rPr sz="2400" dirty="0">
                <a:solidFill>
                  <a:srgbClr val="FF0000"/>
                </a:solidFill>
              </a:rPr>
              <a:t>释放能量</a:t>
            </a:r>
            <a:r>
              <a:rPr sz="2400" dirty="0">
                <a:solidFill>
                  <a:srgbClr val="000000"/>
                </a:solidFill>
              </a:rPr>
              <a:t>，最终生成</a:t>
            </a:r>
            <a:r>
              <a:rPr sz="2400" spc="-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CO</a:t>
            </a:r>
            <a:r>
              <a:rPr sz="2400" spc="-7" baseline="-21000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spc="-15" baseline="-21000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和</a:t>
            </a:r>
            <a:r>
              <a:rPr sz="2400" spc="-62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H</a:t>
            </a:r>
            <a:r>
              <a:rPr sz="2400" baseline="-21000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O  </a:t>
            </a:r>
            <a:r>
              <a:rPr sz="2400" dirty="0">
                <a:solidFill>
                  <a:srgbClr val="000000"/>
                </a:solidFill>
              </a:rPr>
              <a:t>的过程。这类反应进行过程中细胞要摄</a:t>
            </a:r>
            <a:r>
              <a:rPr sz="2400" spc="5" dirty="0">
                <a:solidFill>
                  <a:srgbClr val="000000"/>
                </a:solidFill>
              </a:rPr>
              <a:t>取</a:t>
            </a:r>
            <a:r>
              <a:rPr sz="24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400" baseline="-21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dirty="0">
                <a:solidFill>
                  <a:srgbClr val="000000"/>
                </a:solidFill>
              </a:rPr>
              <a:t>，释放</a:t>
            </a:r>
            <a:r>
              <a:rPr sz="24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CO</a:t>
            </a:r>
            <a:r>
              <a:rPr sz="2400" baseline="-21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dirty="0">
                <a:solidFill>
                  <a:srgbClr val="000000"/>
                </a:solidFill>
              </a:rPr>
              <a:t>故由 形象地称为细胞呼吸（</a:t>
            </a:r>
            <a:r>
              <a:rPr sz="24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cellular</a:t>
            </a:r>
            <a:r>
              <a:rPr sz="2400" spc="-7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respiration</a:t>
            </a:r>
            <a:r>
              <a:rPr sz="2400" spc="-5" dirty="0">
                <a:solidFill>
                  <a:srgbClr val="000000"/>
                </a:solidFill>
              </a:rPr>
              <a:t>）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6927" y="3717035"/>
            <a:ext cx="635635" cy="521334"/>
          </a:xfrm>
          <a:prstGeom prst="rect">
            <a:avLst/>
          </a:prstGeom>
          <a:solidFill>
            <a:srgbClr val="99CC00">
              <a:alpha val="50195"/>
            </a:srgbClr>
          </a:solidFill>
          <a:ln w="9143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800" b="1" spc="-15" dirty="0">
                <a:solidFill>
                  <a:srgbClr val="136101"/>
                </a:solidFill>
                <a:latin typeface="黑体"/>
                <a:cs typeface="黑体"/>
              </a:rPr>
              <a:t>糖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6927" y="4402835"/>
            <a:ext cx="995680" cy="521334"/>
          </a:xfrm>
          <a:prstGeom prst="rect">
            <a:avLst/>
          </a:prstGeom>
          <a:solidFill>
            <a:srgbClr val="99CC00">
              <a:alpha val="50195"/>
            </a:srgbClr>
          </a:solidFill>
          <a:ln w="9143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800" b="1" spc="5" dirty="0">
                <a:solidFill>
                  <a:srgbClr val="136101"/>
                </a:solidFill>
                <a:latin typeface="黑体"/>
                <a:cs typeface="黑体"/>
              </a:rPr>
              <a:t>脂肪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927" y="5088635"/>
            <a:ext cx="1356360" cy="523240"/>
          </a:xfrm>
          <a:prstGeom prst="rect">
            <a:avLst/>
          </a:prstGeom>
          <a:solidFill>
            <a:srgbClr val="99CC00">
              <a:alpha val="50195"/>
            </a:srgbClr>
          </a:solidFill>
          <a:ln w="9144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800" b="1" spc="5" dirty="0">
                <a:solidFill>
                  <a:srgbClr val="136101"/>
                </a:solidFill>
                <a:latin typeface="黑体"/>
                <a:cs typeface="黑体"/>
              </a:rPr>
              <a:t>蛋白质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31670" y="4010405"/>
            <a:ext cx="1225550" cy="685800"/>
          </a:xfrm>
          <a:custGeom>
            <a:avLst/>
            <a:gdLst/>
            <a:ahLst/>
            <a:cxnLst/>
            <a:rect l="l" t="t" r="r" b="b"/>
            <a:pathLst>
              <a:path w="1225550" h="685800">
                <a:moveTo>
                  <a:pt x="0" y="0"/>
                </a:moveTo>
                <a:lnTo>
                  <a:pt x="1225296" y="6858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10689" y="4696205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31670" y="4696205"/>
            <a:ext cx="1225550" cy="687705"/>
          </a:xfrm>
          <a:custGeom>
            <a:avLst/>
            <a:gdLst/>
            <a:ahLst/>
            <a:cxnLst/>
            <a:rect l="l" t="t" r="r" b="b"/>
            <a:pathLst>
              <a:path w="1225550" h="687704">
                <a:moveTo>
                  <a:pt x="0" y="687324"/>
                </a:moveTo>
                <a:lnTo>
                  <a:pt x="122529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605528" y="4466844"/>
            <a:ext cx="2440305" cy="4572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2400" b="1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CO</a:t>
            </a:r>
            <a:r>
              <a:rPr sz="2400" b="1" baseline="-21000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b="1" dirty="0">
                <a:solidFill>
                  <a:srgbClr val="136101"/>
                </a:solidFill>
                <a:latin typeface="黑体"/>
                <a:cs typeface="黑体"/>
              </a:rPr>
              <a:t>和</a:t>
            </a:r>
            <a:r>
              <a:rPr sz="2400" b="1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H</a:t>
            </a:r>
            <a:r>
              <a:rPr sz="2400" b="1" baseline="-21000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b="1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76752" y="4619244"/>
            <a:ext cx="900430" cy="181610"/>
          </a:xfrm>
          <a:custGeom>
            <a:avLst/>
            <a:gdLst/>
            <a:ahLst/>
            <a:cxnLst/>
            <a:rect l="l" t="t" r="r" b="b"/>
            <a:pathLst>
              <a:path w="900429" h="181610">
                <a:moveTo>
                  <a:pt x="633476" y="0"/>
                </a:moveTo>
                <a:lnTo>
                  <a:pt x="633476" y="45338"/>
                </a:lnTo>
                <a:lnTo>
                  <a:pt x="0" y="45338"/>
                </a:lnTo>
                <a:lnTo>
                  <a:pt x="0" y="136016"/>
                </a:lnTo>
                <a:lnTo>
                  <a:pt x="633476" y="136016"/>
                </a:lnTo>
                <a:lnTo>
                  <a:pt x="633476" y="181355"/>
                </a:lnTo>
                <a:lnTo>
                  <a:pt x="900176" y="90677"/>
                </a:lnTo>
                <a:lnTo>
                  <a:pt x="633476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10140" y="4664583"/>
            <a:ext cx="0" cy="90805"/>
          </a:xfrm>
          <a:custGeom>
            <a:avLst/>
            <a:gdLst/>
            <a:ahLst/>
            <a:cxnLst/>
            <a:rect l="l" t="t" r="r" b="b"/>
            <a:pathLst>
              <a:path h="90804">
                <a:moveTo>
                  <a:pt x="0" y="0"/>
                </a:moveTo>
                <a:lnTo>
                  <a:pt x="0" y="90677"/>
                </a:lnTo>
              </a:path>
            </a:pathLst>
          </a:custGeom>
          <a:ln w="66675">
            <a:solidFill>
              <a:srgbClr val="CCCC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26796" y="4664583"/>
            <a:ext cx="0" cy="90805"/>
          </a:xfrm>
          <a:custGeom>
            <a:avLst/>
            <a:gdLst/>
            <a:ahLst/>
            <a:cxnLst/>
            <a:rect l="l" t="t" r="r" b="b"/>
            <a:pathLst>
              <a:path h="90804">
                <a:moveTo>
                  <a:pt x="0" y="0"/>
                </a:moveTo>
                <a:lnTo>
                  <a:pt x="0" y="90677"/>
                </a:lnTo>
              </a:path>
            </a:pathLst>
          </a:custGeom>
          <a:ln w="33337">
            <a:solidFill>
              <a:srgbClr val="CCCC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76752" y="4619244"/>
            <a:ext cx="900430" cy="181610"/>
          </a:xfrm>
          <a:custGeom>
            <a:avLst/>
            <a:gdLst/>
            <a:ahLst/>
            <a:cxnLst/>
            <a:rect l="l" t="t" r="r" b="b"/>
            <a:pathLst>
              <a:path w="900429" h="181610">
                <a:moveTo>
                  <a:pt x="633476" y="0"/>
                </a:moveTo>
                <a:lnTo>
                  <a:pt x="633476" y="45338"/>
                </a:lnTo>
                <a:lnTo>
                  <a:pt x="0" y="45338"/>
                </a:lnTo>
                <a:lnTo>
                  <a:pt x="0" y="136016"/>
                </a:lnTo>
                <a:lnTo>
                  <a:pt x="633476" y="136016"/>
                </a:lnTo>
                <a:lnTo>
                  <a:pt x="633476" y="181355"/>
                </a:lnTo>
                <a:lnTo>
                  <a:pt x="900176" y="90677"/>
                </a:lnTo>
                <a:lnTo>
                  <a:pt x="633476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76803" y="4664583"/>
            <a:ext cx="66675" cy="90805"/>
          </a:xfrm>
          <a:custGeom>
            <a:avLst/>
            <a:gdLst/>
            <a:ahLst/>
            <a:cxnLst/>
            <a:rect l="l" t="t" r="r" b="b"/>
            <a:pathLst>
              <a:path w="66675" h="90804">
                <a:moveTo>
                  <a:pt x="0" y="90677"/>
                </a:moveTo>
                <a:lnTo>
                  <a:pt x="66675" y="90677"/>
                </a:lnTo>
                <a:lnTo>
                  <a:pt x="66675" y="0"/>
                </a:lnTo>
                <a:lnTo>
                  <a:pt x="0" y="0"/>
                </a:lnTo>
                <a:lnTo>
                  <a:pt x="0" y="9067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10128" y="4664583"/>
            <a:ext cx="33655" cy="90805"/>
          </a:xfrm>
          <a:custGeom>
            <a:avLst/>
            <a:gdLst/>
            <a:ahLst/>
            <a:cxnLst/>
            <a:rect l="l" t="t" r="r" b="b"/>
            <a:pathLst>
              <a:path w="33654" h="90804">
                <a:moveTo>
                  <a:pt x="0" y="90677"/>
                </a:moveTo>
                <a:lnTo>
                  <a:pt x="33337" y="90677"/>
                </a:lnTo>
                <a:lnTo>
                  <a:pt x="33337" y="0"/>
                </a:lnTo>
                <a:lnTo>
                  <a:pt x="0" y="0"/>
                </a:lnTo>
                <a:lnTo>
                  <a:pt x="0" y="9067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614928" y="4210811"/>
            <a:ext cx="838200" cy="4572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400" b="1" baseline="-21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endParaRPr sz="2400" baseline="-2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34384" y="5230367"/>
            <a:ext cx="918971" cy="6096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34384" y="5230367"/>
            <a:ext cx="919480" cy="609600"/>
          </a:xfrm>
          <a:custGeom>
            <a:avLst/>
            <a:gdLst/>
            <a:ahLst/>
            <a:cxnLst/>
            <a:rect l="l" t="t" r="r" b="b"/>
            <a:pathLst>
              <a:path w="919479" h="609600">
                <a:moveTo>
                  <a:pt x="918971" y="438035"/>
                </a:moveTo>
                <a:lnTo>
                  <a:pt x="675893" y="609599"/>
                </a:lnTo>
                <a:lnTo>
                  <a:pt x="675893" y="497611"/>
                </a:lnTo>
                <a:lnTo>
                  <a:pt x="528701" y="497611"/>
                </a:lnTo>
                <a:lnTo>
                  <a:pt x="462385" y="495810"/>
                </a:lnTo>
                <a:lnTo>
                  <a:pt x="398527" y="490551"/>
                </a:lnTo>
                <a:lnTo>
                  <a:pt x="337622" y="482051"/>
                </a:lnTo>
                <a:lnTo>
                  <a:pt x="280165" y="470527"/>
                </a:lnTo>
                <a:lnTo>
                  <a:pt x="226651" y="456195"/>
                </a:lnTo>
                <a:lnTo>
                  <a:pt x="177577" y="439271"/>
                </a:lnTo>
                <a:lnTo>
                  <a:pt x="133439" y="419973"/>
                </a:lnTo>
                <a:lnTo>
                  <a:pt x="94731" y="398517"/>
                </a:lnTo>
                <a:lnTo>
                  <a:pt x="61949" y="375119"/>
                </a:lnTo>
                <a:lnTo>
                  <a:pt x="16148" y="323366"/>
                </a:lnTo>
                <a:lnTo>
                  <a:pt x="0" y="266445"/>
                </a:lnTo>
                <a:lnTo>
                  <a:pt x="0" y="0"/>
                </a:lnTo>
                <a:lnTo>
                  <a:pt x="183641" y="0"/>
                </a:lnTo>
                <a:lnTo>
                  <a:pt x="183641" y="266445"/>
                </a:lnTo>
                <a:lnTo>
                  <a:pt x="190650" y="289016"/>
                </a:lnTo>
                <a:lnTo>
                  <a:pt x="242557" y="329067"/>
                </a:lnTo>
                <a:lnTo>
                  <a:pt x="284686" y="345646"/>
                </a:lnTo>
                <a:lnTo>
                  <a:pt x="335750" y="359325"/>
                </a:lnTo>
                <a:lnTo>
                  <a:pt x="394364" y="369655"/>
                </a:lnTo>
                <a:lnTo>
                  <a:pt x="459143" y="376183"/>
                </a:lnTo>
                <a:lnTo>
                  <a:pt x="528701" y="378459"/>
                </a:lnTo>
                <a:lnTo>
                  <a:pt x="675893" y="378459"/>
                </a:lnTo>
                <a:lnTo>
                  <a:pt x="675893" y="266445"/>
                </a:lnTo>
                <a:lnTo>
                  <a:pt x="918971" y="43803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76727" y="5506211"/>
            <a:ext cx="1188720" cy="54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76727" y="5506211"/>
            <a:ext cx="1188720" cy="55244"/>
          </a:xfrm>
          <a:custGeom>
            <a:avLst/>
            <a:gdLst/>
            <a:ahLst/>
            <a:cxnLst/>
            <a:rect l="l" t="t" r="r" b="b"/>
            <a:pathLst>
              <a:path w="1188720" h="55245">
                <a:moveTo>
                  <a:pt x="0" y="54863"/>
                </a:moveTo>
                <a:lnTo>
                  <a:pt x="1188720" y="54863"/>
                </a:lnTo>
                <a:lnTo>
                  <a:pt x="1188720" y="0"/>
                </a:lnTo>
                <a:lnTo>
                  <a:pt x="0" y="0"/>
                </a:lnTo>
                <a:lnTo>
                  <a:pt x="0" y="5486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776727" y="5285232"/>
            <a:ext cx="65531" cy="2209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76727" y="5285232"/>
            <a:ext cx="66040" cy="220979"/>
          </a:xfrm>
          <a:custGeom>
            <a:avLst/>
            <a:gdLst/>
            <a:ahLst/>
            <a:cxnLst/>
            <a:rect l="l" t="t" r="r" b="b"/>
            <a:pathLst>
              <a:path w="66039" h="220979">
                <a:moveTo>
                  <a:pt x="0" y="220980"/>
                </a:moveTo>
                <a:lnTo>
                  <a:pt x="65531" y="220980"/>
                </a:lnTo>
                <a:lnTo>
                  <a:pt x="65531" y="0"/>
                </a:lnTo>
                <a:lnTo>
                  <a:pt x="0" y="0"/>
                </a:lnTo>
                <a:lnTo>
                  <a:pt x="0" y="2209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34128" y="5443728"/>
            <a:ext cx="1137285" cy="520065"/>
          </a:xfrm>
          <a:custGeom>
            <a:avLst/>
            <a:gdLst/>
            <a:ahLst/>
            <a:cxnLst/>
            <a:rect l="l" t="t" r="r" b="b"/>
            <a:pathLst>
              <a:path w="1137285" h="520064">
                <a:moveTo>
                  <a:pt x="0" y="519684"/>
                </a:moveTo>
                <a:lnTo>
                  <a:pt x="1136903" y="519684"/>
                </a:lnTo>
                <a:lnTo>
                  <a:pt x="1136903" y="0"/>
                </a:lnTo>
                <a:lnTo>
                  <a:pt x="0" y="0"/>
                </a:lnTo>
                <a:lnTo>
                  <a:pt x="0" y="5196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926203" y="5470347"/>
            <a:ext cx="728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solidFill>
                  <a:srgbClr val="136101"/>
                </a:solidFill>
                <a:latin typeface="黑体"/>
                <a:cs typeface="黑体"/>
              </a:rPr>
              <a:t>能量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740652" y="5344667"/>
            <a:ext cx="381000" cy="474345"/>
          </a:xfrm>
          <a:custGeom>
            <a:avLst/>
            <a:gdLst/>
            <a:ahLst/>
            <a:cxnLst/>
            <a:rect l="l" t="t" r="r" b="b"/>
            <a:pathLst>
              <a:path w="381000" h="474345">
                <a:moveTo>
                  <a:pt x="0" y="0"/>
                </a:moveTo>
                <a:lnTo>
                  <a:pt x="0" y="65150"/>
                </a:lnTo>
                <a:lnTo>
                  <a:pt x="3697" y="113153"/>
                </a:lnTo>
                <a:lnTo>
                  <a:pt x="14509" y="159434"/>
                </a:lnTo>
                <a:lnTo>
                  <a:pt x="32013" y="203454"/>
                </a:lnTo>
                <a:lnTo>
                  <a:pt x="55789" y="244676"/>
                </a:lnTo>
                <a:lnTo>
                  <a:pt x="85415" y="282560"/>
                </a:lnTo>
                <a:lnTo>
                  <a:pt x="120471" y="316567"/>
                </a:lnTo>
                <a:lnTo>
                  <a:pt x="160534" y="346159"/>
                </a:lnTo>
                <a:lnTo>
                  <a:pt x="205184" y="370796"/>
                </a:lnTo>
                <a:lnTo>
                  <a:pt x="254000" y="389940"/>
                </a:lnTo>
                <a:lnTo>
                  <a:pt x="254000" y="474078"/>
                </a:lnTo>
                <a:lnTo>
                  <a:pt x="381000" y="377088"/>
                </a:lnTo>
                <a:lnTo>
                  <a:pt x="332349" y="324827"/>
                </a:lnTo>
                <a:lnTo>
                  <a:pt x="254000" y="324827"/>
                </a:lnTo>
                <a:lnTo>
                  <a:pt x="205184" y="305679"/>
                </a:lnTo>
                <a:lnTo>
                  <a:pt x="160534" y="281036"/>
                </a:lnTo>
                <a:lnTo>
                  <a:pt x="120471" y="251439"/>
                </a:lnTo>
                <a:lnTo>
                  <a:pt x="85415" y="217426"/>
                </a:lnTo>
                <a:lnTo>
                  <a:pt x="55789" y="179537"/>
                </a:lnTo>
                <a:lnTo>
                  <a:pt x="32013" y="138310"/>
                </a:lnTo>
                <a:lnTo>
                  <a:pt x="14509" y="94286"/>
                </a:lnTo>
                <a:lnTo>
                  <a:pt x="3697" y="48003"/>
                </a:lnTo>
                <a:lnTo>
                  <a:pt x="0" y="0"/>
                </a:lnTo>
                <a:close/>
              </a:path>
              <a:path w="381000" h="474345">
                <a:moveTo>
                  <a:pt x="254000" y="240664"/>
                </a:moveTo>
                <a:lnTo>
                  <a:pt x="254000" y="324827"/>
                </a:lnTo>
                <a:lnTo>
                  <a:pt x="332349" y="324827"/>
                </a:lnTo>
                <a:lnTo>
                  <a:pt x="254000" y="240664"/>
                </a:lnTo>
                <a:close/>
              </a:path>
            </a:pathLst>
          </a:custGeom>
          <a:solidFill>
            <a:srgbClr val="4662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40896" y="5000244"/>
            <a:ext cx="381000" cy="377190"/>
          </a:xfrm>
          <a:custGeom>
            <a:avLst/>
            <a:gdLst/>
            <a:ahLst/>
            <a:cxnLst/>
            <a:rect l="l" t="t" r="r" b="b"/>
            <a:pathLst>
              <a:path w="381000" h="377189">
                <a:moveTo>
                  <a:pt x="380755" y="0"/>
                </a:moveTo>
                <a:lnTo>
                  <a:pt x="293561" y="9082"/>
                </a:lnTo>
                <a:lnTo>
                  <a:pt x="245167" y="22444"/>
                </a:lnTo>
                <a:lnTo>
                  <a:pt x="199913" y="41163"/>
                </a:lnTo>
                <a:lnTo>
                  <a:pt x="158209" y="64793"/>
                </a:lnTo>
                <a:lnTo>
                  <a:pt x="120463" y="92887"/>
                </a:lnTo>
                <a:lnTo>
                  <a:pt x="87084" y="124999"/>
                </a:lnTo>
                <a:lnTo>
                  <a:pt x="58480" y="160683"/>
                </a:lnTo>
                <a:lnTo>
                  <a:pt x="35061" y="199493"/>
                </a:lnTo>
                <a:lnTo>
                  <a:pt x="17236" y="240982"/>
                </a:lnTo>
                <a:lnTo>
                  <a:pt x="5412" y="284704"/>
                </a:lnTo>
                <a:lnTo>
                  <a:pt x="0" y="330213"/>
                </a:lnTo>
                <a:lnTo>
                  <a:pt x="1406" y="377062"/>
                </a:lnTo>
                <a:lnTo>
                  <a:pt x="9040" y="333762"/>
                </a:lnTo>
                <a:lnTo>
                  <a:pt x="22345" y="292530"/>
                </a:lnTo>
                <a:lnTo>
                  <a:pt x="40927" y="253692"/>
                </a:lnTo>
                <a:lnTo>
                  <a:pt x="64394" y="217569"/>
                </a:lnTo>
                <a:lnTo>
                  <a:pt x="92351" y="184486"/>
                </a:lnTo>
                <a:lnTo>
                  <a:pt x="124406" y="154765"/>
                </a:lnTo>
                <a:lnTo>
                  <a:pt x="160165" y="128730"/>
                </a:lnTo>
                <a:lnTo>
                  <a:pt x="199235" y="106703"/>
                </a:lnTo>
                <a:lnTo>
                  <a:pt x="241222" y="89009"/>
                </a:lnTo>
                <a:lnTo>
                  <a:pt x="285734" y="75970"/>
                </a:lnTo>
                <a:lnTo>
                  <a:pt x="332376" y="67909"/>
                </a:lnTo>
                <a:lnTo>
                  <a:pt x="380755" y="65150"/>
                </a:lnTo>
                <a:lnTo>
                  <a:pt x="380755" y="0"/>
                </a:lnTo>
                <a:close/>
              </a:path>
            </a:pathLst>
          </a:custGeom>
          <a:solidFill>
            <a:srgbClr val="3850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40652" y="5000244"/>
            <a:ext cx="381000" cy="818515"/>
          </a:xfrm>
          <a:custGeom>
            <a:avLst/>
            <a:gdLst/>
            <a:ahLst/>
            <a:cxnLst/>
            <a:rect l="l" t="t" r="r" b="b"/>
            <a:pathLst>
              <a:path w="381000" h="818514">
                <a:moveTo>
                  <a:pt x="0" y="344423"/>
                </a:moveTo>
                <a:lnTo>
                  <a:pt x="3697" y="392427"/>
                </a:lnTo>
                <a:lnTo>
                  <a:pt x="14509" y="438710"/>
                </a:lnTo>
                <a:lnTo>
                  <a:pt x="32013" y="482734"/>
                </a:lnTo>
                <a:lnTo>
                  <a:pt x="55789" y="523961"/>
                </a:lnTo>
                <a:lnTo>
                  <a:pt x="85415" y="561850"/>
                </a:lnTo>
                <a:lnTo>
                  <a:pt x="120471" y="595863"/>
                </a:lnTo>
                <a:lnTo>
                  <a:pt x="160534" y="625460"/>
                </a:lnTo>
                <a:lnTo>
                  <a:pt x="205184" y="650103"/>
                </a:lnTo>
                <a:lnTo>
                  <a:pt x="254000" y="669251"/>
                </a:lnTo>
                <a:lnTo>
                  <a:pt x="254000" y="585088"/>
                </a:lnTo>
                <a:lnTo>
                  <a:pt x="381000" y="721512"/>
                </a:lnTo>
                <a:lnTo>
                  <a:pt x="254000" y="818502"/>
                </a:lnTo>
                <a:lnTo>
                  <a:pt x="254000" y="734364"/>
                </a:lnTo>
                <a:lnTo>
                  <a:pt x="205184" y="715220"/>
                </a:lnTo>
                <a:lnTo>
                  <a:pt x="160534" y="690583"/>
                </a:lnTo>
                <a:lnTo>
                  <a:pt x="120471" y="660991"/>
                </a:lnTo>
                <a:lnTo>
                  <a:pt x="85415" y="626984"/>
                </a:lnTo>
                <a:lnTo>
                  <a:pt x="55789" y="589100"/>
                </a:lnTo>
                <a:lnTo>
                  <a:pt x="32013" y="547878"/>
                </a:lnTo>
                <a:lnTo>
                  <a:pt x="14509" y="503858"/>
                </a:lnTo>
                <a:lnTo>
                  <a:pt x="3697" y="457577"/>
                </a:lnTo>
                <a:lnTo>
                  <a:pt x="0" y="409574"/>
                </a:lnTo>
                <a:lnTo>
                  <a:pt x="0" y="344423"/>
                </a:lnTo>
                <a:lnTo>
                  <a:pt x="3477" y="297682"/>
                </a:lnTo>
                <a:lnTo>
                  <a:pt x="13608" y="252853"/>
                </a:lnTo>
                <a:lnTo>
                  <a:pt x="29938" y="210347"/>
                </a:lnTo>
                <a:lnTo>
                  <a:pt x="52013" y="170575"/>
                </a:lnTo>
                <a:lnTo>
                  <a:pt x="79380" y="133945"/>
                </a:lnTo>
                <a:lnTo>
                  <a:pt x="111585" y="100869"/>
                </a:lnTo>
                <a:lnTo>
                  <a:pt x="148174" y="71757"/>
                </a:lnTo>
                <a:lnTo>
                  <a:pt x="188693" y="47018"/>
                </a:lnTo>
                <a:lnTo>
                  <a:pt x="232689" y="27062"/>
                </a:lnTo>
                <a:lnTo>
                  <a:pt x="279708" y="12301"/>
                </a:lnTo>
                <a:lnTo>
                  <a:pt x="329296" y="3143"/>
                </a:lnTo>
                <a:lnTo>
                  <a:pt x="381000" y="0"/>
                </a:lnTo>
                <a:lnTo>
                  <a:pt x="381000" y="65150"/>
                </a:lnTo>
                <a:lnTo>
                  <a:pt x="332620" y="67909"/>
                </a:lnTo>
                <a:lnTo>
                  <a:pt x="285978" y="75970"/>
                </a:lnTo>
                <a:lnTo>
                  <a:pt x="241466" y="89009"/>
                </a:lnTo>
                <a:lnTo>
                  <a:pt x="199479" y="106703"/>
                </a:lnTo>
                <a:lnTo>
                  <a:pt x="160409" y="128730"/>
                </a:lnTo>
                <a:lnTo>
                  <a:pt x="124650" y="154765"/>
                </a:lnTo>
                <a:lnTo>
                  <a:pt x="92595" y="184486"/>
                </a:lnTo>
                <a:lnTo>
                  <a:pt x="64638" y="217569"/>
                </a:lnTo>
                <a:lnTo>
                  <a:pt x="41171" y="253692"/>
                </a:lnTo>
                <a:lnTo>
                  <a:pt x="22589" y="292530"/>
                </a:lnTo>
                <a:lnTo>
                  <a:pt x="9284" y="333762"/>
                </a:lnTo>
                <a:lnTo>
                  <a:pt x="1650" y="37706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121652" y="4843271"/>
            <a:ext cx="1586865" cy="4572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2400" b="1" spc="-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ADP+Pi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21652" y="5529071"/>
            <a:ext cx="1370330" cy="457200"/>
          </a:xfrm>
          <a:custGeom>
            <a:avLst/>
            <a:gdLst/>
            <a:ahLst/>
            <a:cxnLst/>
            <a:rect l="l" t="t" r="r" b="b"/>
            <a:pathLst>
              <a:path w="1370329" h="457200">
                <a:moveTo>
                  <a:pt x="0" y="457199"/>
                </a:moveTo>
                <a:lnTo>
                  <a:pt x="1370076" y="457199"/>
                </a:lnTo>
                <a:lnTo>
                  <a:pt x="1370076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748271" y="5993891"/>
            <a:ext cx="1981200" cy="520065"/>
          </a:xfrm>
          <a:custGeom>
            <a:avLst/>
            <a:gdLst/>
            <a:ahLst/>
            <a:cxnLst/>
            <a:rect l="l" t="t" r="r" b="b"/>
            <a:pathLst>
              <a:path w="1981200" h="520065">
                <a:moveTo>
                  <a:pt x="0" y="519684"/>
                </a:moveTo>
                <a:lnTo>
                  <a:pt x="1981200" y="519684"/>
                </a:lnTo>
                <a:lnTo>
                  <a:pt x="1981200" y="0"/>
                </a:lnTo>
                <a:lnTo>
                  <a:pt x="0" y="0"/>
                </a:lnTo>
                <a:lnTo>
                  <a:pt x="0" y="5196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840981" y="5465040"/>
            <a:ext cx="972185" cy="100774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790"/>
              </a:spcBef>
            </a:pPr>
            <a:r>
              <a:rPr sz="2400" b="1" spc="-190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A</a:t>
            </a:r>
            <a:r>
              <a:rPr sz="24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TP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r>
              <a:rPr sz="2800" b="1" spc="10" dirty="0">
                <a:solidFill>
                  <a:srgbClr val="136101"/>
                </a:solidFill>
                <a:latin typeface="黑体"/>
                <a:cs typeface="黑体"/>
              </a:rPr>
              <a:t>热能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25490" y="5770626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226302" y="5352288"/>
            <a:ext cx="439420" cy="114300"/>
          </a:xfrm>
          <a:custGeom>
            <a:avLst/>
            <a:gdLst/>
            <a:ahLst/>
            <a:cxnLst/>
            <a:rect l="l" t="t" r="r" b="b"/>
            <a:pathLst>
              <a:path w="439420" h="114300">
                <a:moveTo>
                  <a:pt x="324612" y="0"/>
                </a:moveTo>
                <a:lnTo>
                  <a:pt x="324612" y="114300"/>
                </a:lnTo>
                <a:lnTo>
                  <a:pt x="400812" y="76200"/>
                </a:lnTo>
                <a:lnTo>
                  <a:pt x="343662" y="76200"/>
                </a:lnTo>
                <a:lnTo>
                  <a:pt x="343662" y="38100"/>
                </a:lnTo>
                <a:lnTo>
                  <a:pt x="400812" y="38100"/>
                </a:lnTo>
                <a:lnTo>
                  <a:pt x="324612" y="0"/>
                </a:lnTo>
                <a:close/>
              </a:path>
              <a:path w="439420" h="114300">
                <a:moveTo>
                  <a:pt x="3246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4612" y="76200"/>
                </a:lnTo>
                <a:lnTo>
                  <a:pt x="324612" y="38100"/>
                </a:lnTo>
                <a:close/>
              </a:path>
              <a:path w="439420" h="114300">
                <a:moveTo>
                  <a:pt x="400812" y="38100"/>
                </a:moveTo>
                <a:lnTo>
                  <a:pt x="343662" y="38100"/>
                </a:lnTo>
                <a:lnTo>
                  <a:pt x="343662" y="76200"/>
                </a:lnTo>
                <a:lnTo>
                  <a:pt x="400812" y="76200"/>
                </a:lnTo>
                <a:lnTo>
                  <a:pt x="438912" y="57150"/>
                </a:lnTo>
                <a:lnTo>
                  <a:pt x="40081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226302" y="5409438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361188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233921" y="6265926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0"/>
                </a:moveTo>
                <a:lnTo>
                  <a:pt x="381000" y="76200"/>
                </a:lnTo>
                <a:lnTo>
                  <a:pt x="437388" y="48006"/>
                </a:lnTo>
                <a:lnTo>
                  <a:pt x="393700" y="48006"/>
                </a:lnTo>
                <a:lnTo>
                  <a:pt x="393700" y="28194"/>
                </a:lnTo>
                <a:lnTo>
                  <a:pt x="437387" y="28194"/>
                </a:lnTo>
                <a:lnTo>
                  <a:pt x="381000" y="0"/>
                </a:lnTo>
                <a:close/>
              </a:path>
              <a:path w="457200" h="76200">
                <a:moveTo>
                  <a:pt x="381000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381000" y="48006"/>
                </a:lnTo>
                <a:lnTo>
                  <a:pt x="381000" y="28194"/>
                </a:lnTo>
                <a:close/>
              </a:path>
              <a:path w="457200" h="76200">
                <a:moveTo>
                  <a:pt x="437387" y="28194"/>
                </a:moveTo>
                <a:lnTo>
                  <a:pt x="393700" y="28194"/>
                </a:lnTo>
                <a:lnTo>
                  <a:pt x="393700" y="48006"/>
                </a:lnTo>
                <a:lnTo>
                  <a:pt x="437388" y="48006"/>
                </a:lnTo>
                <a:lnTo>
                  <a:pt x="457200" y="38100"/>
                </a:lnTo>
                <a:lnTo>
                  <a:pt x="437387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233921" y="5770626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1291" y="3500628"/>
            <a:ext cx="8434070" cy="3168650"/>
          </a:xfrm>
          <a:custGeom>
            <a:avLst/>
            <a:gdLst/>
            <a:ahLst/>
            <a:cxnLst/>
            <a:rect l="l" t="t" r="r" b="b"/>
            <a:pathLst>
              <a:path w="8434070" h="3168650">
                <a:moveTo>
                  <a:pt x="0" y="3168396"/>
                </a:moveTo>
                <a:lnTo>
                  <a:pt x="8433816" y="3168396"/>
                </a:lnTo>
                <a:lnTo>
                  <a:pt x="8433816" y="0"/>
                </a:lnTo>
                <a:lnTo>
                  <a:pt x="0" y="0"/>
                </a:lnTo>
                <a:lnTo>
                  <a:pt x="0" y="3168396"/>
                </a:lnTo>
                <a:close/>
              </a:path>
            </a:pathLst>
          </a:custGeom>
          <a:ln w="12192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8383" y="477073"/>
            <a:ext cx="6333755" cy="282452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48383" y="3595110"/>
            <a:ext cx="6325104" cy="2800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708405"/>
            <a:ext cx="4156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FF"/>
                </a:solidFill>
              </a:rPr>
              <a:t>一、生物氧化的方式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1040" y="1449763"/>
            <a:ext cx="7999730" cy="4193540"/>
          </a:xfrm>
          <a:prstGeom prst="rect">
            <a:avLst/>
          </a:prstGeom>
        </p:spPr>
        <p:txBody>
          <a:bodyPr vert="horz" wrap="square" lIns="0" tIns="219075" rIns="0" bIns="0" rtlCol="0">
            <a:spAutoFit/>
          </a:bodyPr>
          <a:lstStyle/>
          <a:p>
            <a:pPr marL="609600">
              <a:lnSpc>
                <a:spcPct val="100000"/>
              </a:lnSpc>
              <a:spcBef>
                <a:spcPts val="1725"/>
              </a:spcBef>
            </a:pPr>
            <a:r>
              <a:rPr sz="2400" b="1" spc="-5" dirty="0">
                <a:latin typeface="黑体"/>
                <a:cs typeface="黑体"/>
              </a:rPr>
              <a:t>生物氧化在有氧和无氧的条件下都能进行，故生物氧化</a:t>
            </a:r>
            <a:endParaRPr sz="2400">
              <a:latin typeface="黑体"/>
              <a:cs typeface="黑体"/>
            </a:endParaRPr>
          </a:p>
          <a:p>
            <a:pPr marL="38100">
              <a:lnSpc>
                <a:spcPct val="100000"/>
              </a:lnSpc>
              <a:spcBef>
                <a:spcPts val="1625"/>
              </a:spcBef>
            </a:pPr>
            <a:r>
              <a:rPr sz="2400" b="1" dirty="0">
                <a:latin typeface="黑体"/>
                <a:cs typeface="黑体"/>
              </a:rPr>
              <a:t>可分为两</a:t>
            </a:r>
            <a:r>
              <a:rPr sz="2400" b="1" spc="-10" dirty="0">
                <a:latin typeface="黑体"/>
                <a:cs typeface="黑体"/>
              </a:rPr>
              <a:t>类</a:t>
            </a:r>
            <a:r>
              <a:rPr sz="2400" b="1" spc="-10" dirty="0">
                <a:latin typeface="宋体"/>
                <a:cs typeface="宋体"/>
              </a:rPr>
              <a:t>∶</a:t>
            </a:r>
            <a:endParaRPr sz="2400">
              <a:latin typeface="宋体"/>
              <a:cs typeface="宋体"/>
            </a:endParaRPr>
          </a:p>
          <a:p>
            <a:pPr marL="781685" marR="434340" indent="-287020">
              <a:lnSpc>
                <a:spcPct val="160000"/>
              </a:lnSpc>
              <a:spcBef>
                <a:spcPts val="1255"/>
              </a:spcBef>
            </a:pPr>
            <a:r>
              <a:rPr sz="2050" spc="-10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050" spc="229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009900"/>
                </a:solidFill>
                <a:latin typeface="黑体"/>
                <a:cs typeface="黑体"/>
              </a:rPr>
              <a:t>有氧氧</a:t>
            </a:r>
            <a:r>
              <a:rPr sz="2400" b="1" spc="5" dirty="0">
                <a:solidFill>
                  <a:srgbClr val="009900"/>
                </a:solidFill>
                <a:latin typeface="黑体"/>
                <a:cs typeface="黑体"/>
              </a:rPr>
              <a:t>化</a:t>
            </a:r>
            <a:r>
              <a:rPr sz="2400" b="1" spc="5" dirty="0">
                <a:latin typeface="微软雅黑"/>
                <a:cs typeface="微软雅黑"/>
              </a:rPr>
              <a:t>∶</a:t>
            </a:r>
            <a:r>
              <a:rPr sz="2400" b="1" dirty="0">
                <a:latin typeface="黑体"/>
                <a:cs typeface="黑体"/>
              </a:rPr>
              <a:t>利用</a:t>
            </a:r>
            <a:r>
              <a:rPr sz="2400" b="1" spc="-5" dirty="0">
                <a:latin typeface="Arial" panose="020B0604020202090204"/>
                <a:cs typeface="Arial" panose="020B0604020202090204"/>
              </a:rPr>
              <a:t>O</a:t>
            </a:r>
            <a:r>
              <a:rPr sz="2400" b="1" spc="-7" baseline="-21000" dirty="0">
                <a:latin typeface="Arial" panose="020B0604020202090204"/>
                <a:cs typeface="Arial" panose="020B0604020202090204"/>
              </a:rPr>
              <a:t>2</a:t>
            </a:r>
            <a:r>
              <a:rPr sz="2400" b="1" dirty="0">
                <a:latin typeface="黑体"/>
                <a:cs typeface="黑体"/>
              </a:rPr>
              <a:t>分子来氧化底物，最终生</a:t>
            </a:r>
            <a:r>
              <a:rPr sz="2400" b="1" spc="5" dirty="0">
                <a:latin typeface="黑体"/>
                <a:cs typeface="黑体"/>
              </a:rPr>
              <a:t>成</a:t>
            </a:r>
            <a:r>
              <a:rPr sz="2400" b="1" spc="-5" dirty="0">
                <a:latin typeface="Arial" panose="020B0604020202090204"/>
                <a:cs typeface="Arial" panose="020B0604020202090204"/>
              </a:rPr>
              <a:t>CO</a:t>
            </a:r>
            <a:r>
              <a:rPr sz="2400" b="1" spc="-7" baseline="-21000" dirty="0">
                <a:latin typeface="Arial" panose="020B0604020202090204"/>
                <a:cs typeface="Arial" panose="020B0604020202090204"/>
              </a:rPr>
              <a:t>2  </a:t>
            </a:r>
            <a:r>
              <a:rPr sz="2400" b="1" dirty="0">
                <a:latin typeface="黑体"/>
                <a:cs typeface="黑体"/>
              </a:rPr>
              <a:t>和</a:t>
            </a:r>
            <a:r>
              <a:rPr sz="2400" b="1" spc="-5" dirty="0">
                <a:latin typeface="Arial" panose="020B0604020202090204"/>
                <a:cs typeface="Arial" panose="020B0604020202090204"/>
              </a:rPr>
              <a:t>H</a:t>
            </a:r>
            <a:r>
              <a:rPr sz="2400" b="1" spc="-7" baseline="-21000" dirty="0">
                <a:latin typeface="Arial" panose="020B0604020202090204"/>
                <a:cs typeface="Arial" panose="020B0604020202090204"/>
              </a:rPr>
              <a:t>2</a:t>
            </a:r>
            <a:r>
              <a:rPr sz="2400" b="1" spc="-5" dirty="0">
                <a:latin typeface="Arial" panose="020B0604020202090204"/>
                <a:cs typeface="Arial" panose="020B0604020202090204"/>
              </a:rPr>
              <a:t>O</a:t>
            </a:r>
            <a:r>
              <a:rPr sz="2400" b="1" dirty="0">
                <a:latin typeface="黑体"/>
                <a:cs typeface="黑体"/>
              </a:rPr>
              <a:t>。这种方式的氧化彻底，释放的能</a:t>
            </a:r>
            <a:r>
              <a:rPr sz="2400" b="1" spc="10" dirty="0">
                <a:latin typeface="黑体"/>
                <a:cs typeface="黑体"/>
              </a:rPr>
              <a:t>量</a:t>
            </a:r>
            <a:r>
              <a:rPr sz="3200" b="1" spc="-10" dirty="0">
                <a:solidFill>
                  <a:srgbClr val="FF0000"/>
                </a:solidFill>
                <a:latin typeface="黑体"/>
                <a:cs typeface="黑体"/>
              </a:rPr>
              <a:t>多</a:t>
            </a:r>
            <a:endParaRPr sz="3200">
              <a:latin typeface="黑体"/>
              <a:cs typeface="黑体"/>
            </a:endParaRPr>
          </a:p>
          <a:p>
            <a:pPr marL="781685" marR="429260" indent="-287020">
              <a:lnSpc>
                <a:spcPct val="160000"/>
              </a:lnSpc>
              <a:spcBef>
                <a:spcPts val="2225"/>
              </a:spcBef>
            </a:pPr>
            <a:r>
              <a:rPr sz="2050" spc="-10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050" spc="280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009900"/>
                </a:solidFill>
                <a:latin typeface="黑体"/>
                <a:cs typeface="黑体"/>
              </a:rPr>
              <a:t>无氧氧</a:t>
            </a:r>
            <a:r>
              <a:rPr sz="2400" b="1" spc="5" dirty="0">
                <a:solidFill>
                  <a:srgbClr val="009900"/>
                </a:solidFill>
                <a:latin typeface="黑体"/>
                <a:cs typeface="黑体"/>
              </a:rPr>
              <a:t>化</a:t>
            </a:r>
            <a:r>
              <a:rPr sz="2400" b="1" spc="5" dirty="0">
                <a:latin typeface="微软雅黑"/>
                <a:cs typeface="微软雅黑"/>
              </a:rPr>
              <a:t>∶</a:t>
            </a:r>
            <a:r>
              <a:rPr sz="2400" b="1" dirty="0">
                <a:latin typeface="黑体"/>
                <a:cs typeface="黑体"/>
              </a:rPr>
              <a:t>是指以非分子氧氧化的方式。以氧化型 物质作为电子受体，这种氧化不完全、产</a:t>
            </a:r>
            <a:r>
              <a:rPr sz="2400" b="1" spc="10" dirty="0">
                <a:latin typeface="黑体"/>
                <a:cs typeface="黑体"/>
              </a:rPr>
              <a:t>能</a:t>
            </a:r>
            <a:r>
              <a:rPr sz="3200" b="1" spc="-10" dirty="0">
                <a:solidFill>
                  <a:srgbClr val="FF0000"/>
                </a:solidFill>
                <a:latin typeface="黑体"/>
                <a:cs typeface="黑体"/>
              </a:rPr>
              <a:t>少</a:t>
            </a:r>
            <a:endParaRPr sz="3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624329"/>
            <a:ext cx="8518525" cy="4205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200" b="1" spc="5" dirty="0">
                <a:latin typeface="黑体"/>
                <a:cs typeface="黑体"/>
              </a:rPr>
              <a:t>、是在酶催</a:t>
            </a:r>
            <a:r>
              <a:rPr sz="2200" b="1" spc="-10" dirty="0">
                <a:latin typeface="黑体"/>
                <a:cs typeface="黑体"/>
              </a:rPr>
              <a:t>化下</a:t>
            </a:r>
            <a:r>
              <a:rPr sz="2200" b="1" spc="5" dirty="0">
                <a:latin typeface="黑体"/>
                <a:cs typeface="黑体"/>
              </a:rPr>
              <a:t>进</a:t>
            </a:r>
            <a:r>
              <a:rPr sz="2200" b="1" spc="-10" dirty="0">
                <a:latin typeface="黑体"/>
                <a:cs typeface="黑体"/>
              </a:rPr>
              <a:t>行的</a:t>
            </a:r>
            <a:r>
              <a:rPr sz="2200" b="1" spc="5" dirty="0">
                <a:latin typeface="黑体"/>
                <a:cs typeface="黑体"/>
              </a:rPr>
              <a:t>，</a:t>
            </a:r>
            <a:r>
              <a:rPr sz="2200" b="1" spc="-10" dirty="0">
                <a:latin typeface="黑体"/>
                <a:cs typeface="黑体"/>
              </a:rPr>
              <a:t>反</a:t>
            </a:r>
            <a:r>
              <a:rPr sz="2200" b="1" spc="40" dirty="0">
                <a:latin typeface="黑体"/>
                <a:cs typeface="黑体"/>
              </a:rPr>
              <a:t>应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条件温和</a:t>
            </a:r>
            <a:endParaRPr sz="2400">
              <a:latin typeface="黑体"/>
              <a:cs typeface="黑体"/>
            </a:endParaRPr>
          </a:p>
          <a:p>
            <a:pPr marL="355600" marR="5080" indent="-342900" algn="just">
              <a:lnSpc>
                <a:spcPct val="149000"/>
              </a:lnSpc>
              <a:spcBef>
                <a:spcPts val="1760"/>
              </a:spcBef>
            </a:pPr>
            <a:r>
              <a:rPr sz="2200" b="1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200" b="1" spc="5" dirty="0">
                <a:latin typeface="黑体"/>
                <a:cs typeface="黑体"/>
              </a:rPr>
              <a:t>、底物的氧</a:t>
            </a:r>
            <a:r>
              <a:rPr sz="2200" b="1" spc="-10" dirty="0">
                <a:latin typeface="黑体"/>
                <a:cs typeface="黑体"/>
              </a:rPr>
              <a:t>化</a:t>
            </a:r>
            <a:r>
              <a:rPr sz="2200" b="1" spc="10" dirty="0">
                <a:latin typeface="黑体"/>
                <a:cs typeface="黑体"/>
              </a:rPr>
              <a:t>是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分阶段</a:t>
            </a:r>
            <a:r>
              <a:rPr sz="2200" b="1" spc="5" dirty="0">
                <a:latin typeface="黑体"/>
                <a:cs typeface="黑体"/>
              </a:rPr>
              <a:t>进</a:t>
            </a:r>
            <a:r>
              <a:rPr sz="2200" b="1" spc="-10" dirty="0">
                <a:latin typeface="黑体"/>
                <a:cs typeface="黑体"/>
              </a:rPr>
              <a:t>行</a:t>
            </a:r>
            <a:r>
              <a:rPr sz="2200" b="1" spc="5" dirty="0">
                <a:latin typeface="黑体"/>
                <a:cs typeface="黑体"/>
              </a:rPr>
              <a:t>的</a:t>
            </a:r>
            <a:r>
              <a:rPr sz="2200" b="1" spc="-10" dirty="0">
                <a:latin typeface="黑体"/>
                <a:cs typeface="黑体"/>
              </a:rPr>
              <a:t>。能</a:t>
            </a:r>
            <a:r>
              <a:rPr sz="2200" b="1" spc="5" dirty="0">
                <a:latin typeface="黑体"/>
                <a:cs typeface="黑体"/>
              </a:rPr>
              <a:t>量</a:t>
            </a:r>
            <a:r>
              <a:rPr sz="2200" b="1" spc="-10" dirty="0">
                <a:latin typeface="黑体"/>
                <a:cs typeface="黑体"/>
              </a:rPr>
              <a:t>也</a:t>
            </a:r>
            <a:r>
              <a:rPr sz="2200" b="1" spc="15" dirty="0">
                <a:latin typeface="黑体"/>
                <a:cs typeface="黑体"/>
              </a:rPr>
              <a:t>是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逐步</a:t>
            </a:r>
            <a:r>
              <a:rPr sz="2200" b="1" spc="5" dirty="0">
                <a:latin typeface="黑体"/>
                <a:cs typeface="黑体"/>
              </a:rPr>
              <a:t>释</a:t>
            </a:r>
            <a:r>
              <a:rPr sz="2200" b="1" spc="-5" dirty="0">
                <a:latin typeface="黑体"/>
                <a:cs typeface="黑体"/>
              </a:rPr>
              <a:t>放</a:t>
            </a:r>
            <a:r>
              <a:rPr sz="2200" b="1" spc="5" dirty="0">
                <a:latin typeface="黑体"/>
                <a:cs typeface="黑体"/>
              </a:rPr>
              <a:t>的</a:t>
            </a:r>
            <a:r>
              <a:rPr sz="2200" b="1" spc="-5" dirty="0">
                <a:latin typeface="黑体"/>
                <a:cs typeface="黑体"/>
              </a:rPr>
              <a:t>。这</a:t>
            </a:r>
            <a:r>
              <a:rPr sz="2200" b="1" spc="5" dirty="0">
                <a:latin typeface="黑体"/>
                <a:cs typeface="黑体"/>
              </a:rPr>
              <a:t>样</a:t>
            </a:r>
            <a:r>
              <a:rPr sz="2200" b="1" spc="-5" dirty="0">
                <a:latin typeface="黑体"/>
                <a:cs typeface="黑体"/>
              </a:rPr>
              <a:t>不</a:t>
            </a:r>
            <a:r>
              <a:rPr sz="2200" b="1" spc="5" dirty="0">
                <a:latin typeface="黑体"/>
                <a:cs typeface="黑体"/>
              </a:rPr>
              <a:t>会</a:t>
            </a:r>
            <a:r>
              <a:rPr sz="2200" b="1" spc="-15" dirty="0">
                <a:latin typeface="黑体"/>
                <a:cs typeface="黑体"/>
              </a:rPr>
              <a:t>因 </a:t>
            </a:r>
            <a:r>
              <a:rPr sz="2200" b="1" spc="5" dirty="0">
                <a:latin typeface="黑体"/>
                <a:cs typeface="黑体"/>
              </a:rPr>
              <a:t>氧</a:t>
            </a:r>
            <a:r>
              <a:rPr sz="2200" b="1" spc="-5" dirty="0">
                <a:latin typeface="黑体"/>
                <a:cs typeface="黑体"/>
              </a:rPr>
              <a:t>化过</a:t>
            </a:r>
            <a:r>
              <a:rPr sz="2200" b="1" spc="5" dirty="0">
                <a:latin typeface="黑体"/>
                <a:cs typeface="黑体"/>
              </a:rPr>
              <a:t>程</a:t>
            </a:r>
            <a:r>
              <a:rPr sz="2200" b="1" spc="-5" dirty="0">
                <a:latin typeface="黑体"/>
                <a:cs typeface="黑体"/>
              </a:rPr>
              <a:t>中</a:t>
            </a:r>
            <a:r>
              <a:rPr sz="2200" b="1" spc="5" dirty="0">
                <a:latin typeface="黑体"/>
                <a:cs typeface="黑体"/>
              </a:rPr>
              <a:t>能</a:t>
            </a:r>
            <a:r>
              <a:rPr sz="2200" b="1" spc="-5" dirty="0">
                <a:latin typeface="黑体"/>
                <a:cs typeface="黑体"/>
              </a:rPr>
              <a:t>量骤</a:t>
            </a:r>
            <a:r>
              <a:rPr sz="2200" b="1" spc="5" dirty="0">
                <a:latin typeface="黑体"/>
                <a:cs typeface="黑体"/>
              </a:rPr>
              <a:t>然</a:t>
            </a:r>
            <a:r>
              <a:rPr sz="2200" b="1" spc="-5" dirty="0">
                <a:latin typeface="黑体"/>
                <a:cs typeface="黑体"/>
              </a:rPr>
              <a:t>释</a:t>
            </a:r>
            <a:r>
              <a:rPr sz="2200" b="1" spc="5" dirty="0">
                <a:latin typeface="黑体"/>
                <a:cs typeface="黑体"/>
              </a:rPr>
              <a:t>放</a:t>
            </a:r>
            <a:r>
              <a:rPr sz="2200" b="1" spc="-5" dirty="0">
                <a:latin typeface="黑体"/>
                <a:cs typeface="黑体"/>
              </a:rPr>
              <a:t>而损</a:t>
            </a:r>
            <a:r>
              <a:rPr sz="2200" b="1" spc="5" dirty="0">
                <a:latin typeface="黑体"/>
                <a:cs typeface="黑体"/>
              </a:rPr>
              <a:t>害</a:t>
            </a:r>
            <a:r>
              <a:rPr sz="2200" b="1" spc="-5" dirty="0">
                <a:latin typeface="黑体"/>
                <a:cs typeface="黑体"/>
              </a:rPr>
              <a:t>机</a:t>
            </a:r>
            <a:r>
              <a:rPr sz="2200" b="1" spc="5" dirty="0">
                <a:latin typeface="黑体"/>
                <a:cs typeface="黑体"/>
              </a:rPr>
              <a:t>体</a:t>
            </a:r>
            <a:r>
              <a:rPr sz="2200" b="1" spc="-5" dirty="0">
                <a:latin typeface="黑体"/>
                <a:cs typeface="黑体"/>
              </a:rPr>
              <a:t>，同</a:t>
            </a:r>
            <a:r>
              <a:rPr sz="2200" b="1" spc="5" dirty="0">
                <a:latin typeface="黑体"/>
                <a:cs typeface="黑体"/>
              </a:rPr>
              <a:t>时</a:t>
            </a:r>
            <a:r>
              <a:rPr sz="2200" b="1" spc="-5" dirty="0">
                <a:latin typeface="黑体"/>
                <a:cs typeface="黑体"/>
              </a:rPr>
              <a:t>使</a:t>
            </a:r>
            <a:r>
              <a:rPr sz="2200" b="1" spc="5" dirty="0">
                <a:latin typeface="黑体"/>
                <a:cs typeface="黑体"/>
              </a:rPr>
              <a:t>释</a:t>
            </a:r>
            <a:r>
              <a:rPr sz="2200" b="1" spc="-5" dirty="0">
                <a:latin typeface="黑体"/>
                <a:cs typeface="黑体"/>
              </a:rPr>
              <a:t>放的</a:t>
            </a:r>
            <a:r>
              <a:rPr sz="2200" b="1" spc="5" dirty="0">
                <a:latin typeface="黑体"/>
                <a:cs typeface="黑体"/>
              </a:rPr>
              <a:t>能</a:t>
            </a:r>
            <a:r>
              <a:rPr sz="2200" b="1" spc="-5" dirty="0">
                <a:latin typeface="黑体"/>
                <a:cs typeface="黑体"/>
              </a:rPr>
              <a:t>量</a:t>
            </a:r>
            <a:r>
              <a:rPr sz="2200" b="1" spc="5" dirty="0">
                <a:latin typeface="黑体"/>
                <a:cs typeface="黑体"/>
              </a:rPr>
              <a:t>得</a:t>
            </a:r>
            <a:r>
              <a:rPr sz="2200" b="1" spc="-5" dirty="0">
                <a:latin typeface="黑体"/>
                <a:cs typeface="黑体"/>
              </a:rPr>
              <a:t>到有</a:t>
            </a:r>
            <a:r>
              <a:rPr sz="2200" b="1" spc="-15" dirty="0">
                <a:latin typeface="黑体"/>
                <a:cs typeface="黑体"/>
              </a:rPr>
              <a:t>效 </a:t>
            </a:r>
            <a:r>
              <a:rPr sz="2200" b="1" spc="5" dirty="0">
                <a:latin typeface="黑体"/>
                <a:cs typeface="黑体"/>
              </a:rPr>
              <a:t>的</a:t>
            </a:r>
            <a:r>
              <a:rPr sz="2200" b="1" spc="-10" dirty="0">
                <a:latin typeface="黑体"/>
                <a:cs typeface="黑体"/>
              </a:rPr>
              <a:t>利</a:t>
            </a:r>
            <a:r>
              <a:rPr sz="2200" b="1" spc="-15" dirty="0">
                <a:latin typeface="黑体"/>
                <a:cs typeface="黑体"/>
              </a:rPr>
              <a:t>用</a:t>
            </a:r>
            <a:endParaRPr sz="2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00">
              <a:latin typeface="Times New Roman" panose="02020503050405090304"/>
              <a:cs typeface="Times New Roman" panose="02020503050405090304"/>
            </a:endParaRPr>
          </a:p>
          <a:p>
            <a:pPr marR="63500" algn="ctr">
              <a:lnSpc>
                <a:spcPct val="100000"/>
              </a:lnSpc>
            </a:pPr>
            <a:r>
              <a:rPr sz="2200" b="1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2200" b="1" spc="5" dirty="0">
                <a:latin typeface="黑体"/>
                <a:cs typeface="黑体"/>
              </a:rPr>
              <a:t>、生物氧化</a:t>
            </a:r>
            <a:r>
              <a:rPr sz="2200" b="1" spc="-10" dirty="0">
                <a:latin typeface="黑体"/>
                <a:cs typeface="黑体"/>
              </a:rPr>
              <a:t>过程</a:t>
            </a:r>
            <a:r>
              <a:rPr sz="2200" b="1" spc="5" dirty="0">
                <a:latin typeface="黑体"/>
                <a:cs typeface="黑体"/>
              </a:rPr>
              <a:t>中</a:t>
            </a:r>
            <a:r>
              <a:rPr sz="2200" b="1" spc="-10" dirty="0">
                <a:latin typeface="黑体"/>
                <a:cs typeface="黑体"/>
              </a:rPr>
              <a:t>释放</a:t>
            </a:r>
            <a:r>
              <a:rPr sz="2200" b="1" spc="5" dirty="0">
                <a:latin typeface="黑体"/>
                <a:cs typeface="黑体"/>
              </a:rPr>
              <a:t>的</a:t>
            </a:r>
            <a:r>
              <a:rPr sz="2200" b="1" spc="-10" dirty="0">
                <a:latin typeface="黑体"/>
                <a:cs typeface="黑体"/>
              </a:rPr>
              <a:t>能</a:t>
            </a:r>
            <a:r>
              <a:rPr sz="2200" b="1" spc="5" dirty="0">
                <a:latin typeface="黑体"/>
                <a:cs typeface="黑体"/>
              </a:rPr>
              <a:t>量</a:t>
            </a:r>
            <a:r>
              <a:rPr sz="2200" b="1" spc="-10" dirty="0">
                <a:latin typeface="黑体"/>
                <a:cs typeface="黑体"/>
              </a:rPr>
              <a:t>通常</a:t>
            </a:r>
            <a:r>
              <a:rPr sz="2200" b="1" spc="5" dirty="0">
                <a:latin typeface="黑体"/>
                <a:cs typeface="黑体"/>
              </a:rPr>
              <a:t>先</a:t>
            </a:r>
            <a:r>
              <a:rPr sz="2200" b="1" spc="-10" dirty="0">
                <a:latin typeface="黑体"/>
                <a:cs typeface="黑体"/>
              </a:rPr>
              <a:t>储存</a:t>
            </a:r>
            <a:r>
              <a:rPr sz="2200" b="1" spc="5" dirty="0">
                <a:latin typeface="黑体"/>
                <a:cs typeface="黑体"/>
              </a:rPr>
              <a:t>在</a:t>
            </a:r>
            <a:r>
              <a:rPr sz="2200" b="1" spc="-10" dirty="0">
                <a:latin typeface="黑体"/>
                <a:cs typeface="黑体"/>
              </a:rPr>
              <a:t>一</a:t>
            </a:r>
            <a:r>
              <a:rPr sz="2200" b="1" spc="5" dirty="0">
                <a:latin typeface="黑体"/>
                <a:cs typeface="黑体"/>
              </a:rPr>
              <a:t>些</a:t>
            </a:r>
            <a:r>
              <a:rPr sz="2200" b="1" spc="-10" dirty="0">
                <a:latin typeface="黑体"/>
                <a:cs typeface="黑体"/>
              </a:rPr>
              <a:t>特殊</a:t>
            </a:r>
            <a:r>
              <a:rPr sz="2200" b="1" spc="80" dirty="0">
                <a:latin typeface="黑体"/>
                <a:cs typeface="黑体"/>
              </a:rPr>
              <a:t>的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高能化合物</a:t>
            </a:r>
            <a:endParaRPr sz="2400">
              <a:latin typeface="黑体"/>
              <a:cs typeface="黑体"/>
            </a:endParaRPr>
          </a:p>
          <a:p>
            <a:pPr marR="52705" algn="ctr">
              <a:lnSpc>
                <a:spcPct val="100000"/>
              </a:lnSpc>
              <a:spcBef>
                <a:spcPts val="1375"/>
              </a:spcBef>
            </a:pPr>
            <a:r>
              <a:rPr sz="2200" b="1" spc="5" dirty="0">
                <a:latin typeface="黑体"/>
                <a:cs typeface="黑体"/>
              </a:rPr>
              <a:t>中</a:t>
            </a:r>
            <a:r>
              <a:rPr sz="2200" b="1" spc="-10" dirty="0">
                <a:latin typeface="Times New Roman" panose="02020503050405090304"/>
                <a:cs typeface="Times New Roman" panose="02020503050405090304"/>
              </a:rPr>
              <a:t>(</a:t>
            </a:r>
            <a:r>
              <a:rPr sz="2200" b="1" spc="5" dirty="0">
                <a:latin typeface="黑体"/>
                <a:cs typeface="黑体"/>
              </a:rPr>
              <a:t>如</a:t>
            </a:r>
            <a:r>
              <a:rPr sz="2200" b="1" spc="-40" dirty="0">
                <a:latin typeface="Times New Roman" panose="02020503050405090304"/>
                <a:cs typeface="Times New Roman" panose="02020503050405090304"/>
              </a:rPr>
              <a:t>ATP)</a:t>
            </a:r>
            <a:r>
              <a:rPr sz="2200" b="1" spc="-40" dirty="0">
                <a:latin typeface="黑体"/>
                <a:cs typeface="黑体"/>
              </a:rPr>
              <a:t>，</a:t>
            </a:r>
            <a:r>
              <a:rPr sz="2200" b="1" dirty="0">
                <a:latin typeface="黑体"/>
                <a:cs typeface="黑体"/>
              </a:rPr>
              <a:t>通过这些物</a:t>
            </a:r>
            <a:r>
              <a:rPr sz="2200" b="1" spc="-10" dirty="0">
                <a:latin typeface="黑体"/>
                <a:cs typeface="黑体"/>
              </a:rPr>
              <a:t>质</a:t>
            </a:r>
            <a:r>
              <a:rPr sz="2200" b="1" dirty="0">
                <a:latin typeface="黑体"/>
                <a:cs typeface="黑体"/>
              </a:rPr>
              <a:t>的</a:t>
            </a:r>
            <a:r>
              <a:rPr sz="2200" b="1" spc="-10" dirty="0">
                <a:latin typeface="黑体"/>
                <a:cs typeface="黑体"/>
              </a:rPr>
              <a:t>转移</a:t>
            </a:r>
            <a:r>
              <a:rPr sz="2200" b="1" dirty="0">
                <a:latin typeface="黑体"/>
                <a:cs typeface="黑体"/>
              </a:rPr>
              <a:t>作</a:t>
            </a:r>
            <a:r>
              <a:rPr sz="2200" b="1" spc="-10" dirty="0">
                <a:latin typeface="黑体"/>
                <a:cs typeface="黑体"/>
              </a:rPr>
              <a:t>用</a:t>
            </a:r>
            <a:r>
              <a:rPr sz="2200" b="1" dirty="0">
                <a:latin typeface="黑体"/>
                <a:cs typeface="黑体"/>
              </a:rPr>
              <a:t>满</a:t>
            </a:r>
            <a:r>
              <a:rPr sz="2200" b="1" spc="-10" dirty="0">
                <a:latin typeface="黑体"/>
                <a:cs typeface="黑体"/>
              </a:rPr>
              <a:t>足机</a:t>
            </a:r>
            <a:r>
              <a:rPr sz="2200" b="1" dirty="0">
                <a:latin typeface="黑体"/>
                <a:cs typeface="黑体"/>
              </a:rPr>
              <a:t>体</a:t>
            </a:r>
            <a:r>
              <a:rPr sz="2200" b="1" spc="-10" dirty="0">
                <a:latin typeface="黑体"/>
                <a:cs typeface="黑体"/>
              </a:rPr>
              <a:t>吸能</a:t>
            </a:r>
            <a:r>
              <a:rPr sz="2200" b="1" dirty="0">
                <a:latin typeface="黑体"/>
                <a:cs typeface="黑体"/>
              </a:rPr>
              <a:t>反</a:t>
            </a:r>
            <a:r>
              <a:rPr sz="2200" b="1" spc="-10" dirty="0">
                <a:latin typeface="黑体"/>
                <a:cs typeface="黑体"/>
              </a:rPr>
              <a:t>应</a:t>
            </a:r>
            <a:r>
              <a:rPr sz="2200" b="1" dirty="0">
                <a:latin typeface="黑体"/>
                <a:cs typeface="黑体"/>
              </a:rPr>
              <a:t>的</a:t>
            </a:r>
            <a:r>
              <a:rPr sz="2200" b="1" spc="-10" dirty="0">
                <a:latin typeface="黑体"/>
                <a:cs typeface="黑体"/>
              </a:rPr>
              <a:t>需</a:t>
            </a:r>
            <a:r>
              <a:rPr sz="2200" b="1" spc="-15" dirty="0">
                <a:latin typeface="黑体"/>
                <a:cs typeface="黑体"/>
              </a:rPr>
              <a:t>要</a:t>
            </a:r>
            <a:endParaRPr sz="2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Times New Roman" panose="02020503050405090304"/>
                <a:cs typeface="Times New Roman" panose="02020503050405090304"/>
              </a:rPr>
              <a:t>4</a:t>
            </a:r>
            <a:r>
              <a:rPr sz="2200" b="1" spc="5" dirty="0">
                <a:latin typeface="黑体"/>
                <a:cs typeface="黑体"/>
              </a:rPr>
              <a:t>、生物氧化</a:t>
            </a:r>
            <a:r>
              <a:rPr sz="2200" b="1" spc="-10" dirty="0">
                <a:latin typeface="黑体"/>
                <a:cs typeface="黑体"/>
              </a:rPr>
              <a:t>受细</a:t>
            </a:r>
            <a:r>
              <a:rPr sz="2200" b="1" spc="5" dirty="0">
                <a:latin typeface="黑体"/>
                <a:cs typeface="黑体"/>
              </a:rPr>
              <a:t>胞</a:t>
            </a:r>
            <a:r>
              <a:rPr sz="2200" b="1" spc="-10" dirty="0">
                <a:latin typeface="黑体"/>
                <a:cs typeface="黑体"/>
              </a:rPr>
              <a:t>的精</a:t>
            </a:r>
            <a:r>
              <a:rPr sz="2200" b="1" spc="35" dirty="0">
                <a:latin typeface="黑体"/>
                <a:cs typeface="黑体"/>
              </a:rPr>
              <a:t>确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调节控制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644474"/>
            <a:ext cx="41097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0" dirty="0">
                <a:solidFill>
                  <a:srgbClr val="0000FF"/>
                </a:solidFill>
              </a:rPr>
              <a:t>二</a:t>
            </a:r>
            <a:r>
              <a:rPr sz="3200" spc="5" dirty="0">
                <a:solidFill>
                  <a:srgbClr val="0000FF"/>
                </a:solidFill>
              </a:rPr>
              <a:t>、</a:t>
            </a:r>
            <a:r>
              <a:rPr sz="3200" spc="-5" dirty="0">
                <a:solidFill>
                  <a:srgbClr val="0000FF"/>
                </a:solidFill>
              </a:rPr>
              <a:t>生物氧</a:t>
            </a:r>
            <a:r>
              <a:rPr sz="3200" spc="-10" dirty="0">
                <a:solidFill>
                  <a:srgbClr val="0000FF"/>
                </a:solidFill>
              </a:rPr>
              <a:t>化</a:t>
            </a:r>
            <a:r>
              <a:rPr sz="3200" spc="-5" dirty="0">
                <a:solidFill>
                  <a:srgbClr val="0000FF"/>
                </a:solidFill>
              </a:rPr>
              <a:t>的特</a:t>
            </a:r>
            <a:r>
              <a:rPr sz="3200" spc="-10" dirty="0">
                <a:solidFill>
                  <a:srgbClr val="0000FF"/>
                </a:solidFill>
              </a:rPr>
              <a:t>点</a:t>
            </a:r>
            <a:r>
              <a:rPr sz="3200" spc="-10" dirty="0">
                <a:solidFill>
                  <a:srgbClr val="0000FF"/>
                </a:solidFill>
                <a:latin typeface="宋体"/>
                <a:cs typeface="宋体"/>
              </a:rPr>
              <a:t>∶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2994" y="509473"/>
            <a:ext cx="381127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0" dirty="0">
                <a:solidFill>
                  <a:srgbClr val="0000FF"/>
                </a:solidFill>
              </a:rPr>
              <a:t>生物氧化的一般过程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4910498" y="4430967"/>
            <a:ext cx="1884680" cy="1880870"/>
          </a:xfrm>
          <a:custGeom>
            <a:avLst/>
            <a:gdLst/>
            <a:ahLst/>
            <a:cxnLst/>
            <a:rect l="l" t="t" r="r" b="b"/>
            <a:pathLst>
              <a:path w="1884679" h="1880870">
                <a:moveTo>
                  <a:pt x="0" y="937479"/>
                </a:moveTo>
                <a:lnTo>
                  <a:pt x="1228" y="986038"/>
                </a:lnTo>
                <a:lnTo>
                  <a:pt x="4874" y="1033957"/>
                </a:lnTo>
                <a:lnTo>
                  <a:pt x="10878" y="1081177"/>
                </a:lnTo>
                <a:lnTo>
                  <a:pt x="19178" y="1127639"/>
                </a:lnTo>
                <a:lnTo>
                  <a:pt x="29715" y="1173283"/>
                </a:lnTo>
                <a:lnTo>
                  <a:pt x="42429" y="1218051"/>
                </a:lnTo>
                <a:lnTo>
                  <a:pt x="57259" y="1261884"/>
                </a:lnTo>
                <a:lnTo>
                  <a:pt x="74146" y="1304722"/>
                </a:lnTo>
                <a:lnTo>
                  <a:pt x="93029" y="1346506"/>
                </a:lnTo>
                <a:lnTo>
                  <a:pt x="113848" y="1387177"/>
                </a:lnTo>
                <a:lnTo>
                  <a:pt x="136542" y="1426676"/>
                </a:lnTo>
                <a:lnTo>
                  <a:pt x="161053" y="1464944"/>
                </a:lnTo>
                <a:lnTo>
                  <a:pt x="187318" y="1501921"/>
                </a:lnTo>
                <a:lnTo>
                  <a:pt x="215279" y="1537549"/>
                </a:lnTo>
                <a:lnTo>
                  <a:pt x="244875" y="1571769"/>
                </a:lnTo>
                <a:lnTo>
                  <a:pt x="276046" y="1604520"/>
                </a:lnTo>
                <a:lnTo>
                  <a:pt x="308732" y="1635745"/>
                </a:lnTo>
                <a:lnTo>
                  <a:pt x="342872" y="1665384"/>
                </a:lnTo>
                <a:lnTo>
                  <a:pt x="378406" y="1693378"/>
                </a:lnTo>
                <a:lnTo>
                  <a:pt x="415275" y="1719667"/>
                </a:lnTo>
                <a:lnTo>
                  <a:pt x="453418" y="1744193"/>
                </a:lnTo>
                <a:lnTo>
                  <a:pt x="492775" y="1766897"/>
                </a:lnTo>
                <a:lnTo>
                  <a:pt x="533285" y="1787719"/>
                </a:lnTo>
                <a:lnTo>
                  <a:pt x="574889" y="1806600"/>
                </a:lnTo>
                <a:lnTo>
                  <a:pt x="617526" y="1823481"/>
                </a:lnTo>
                <a:lnTo>
                  <a:pt x="661136" y="1838304"/>
                </a:lnTo>
                <a:lnTo>
                  <a:pt x="705660" y="1851008"/>
                </a:lnTo>
                <a:lnTo>
                  <a:pt x="751036" y="1861535"/>
                </a:lnTo>
                <a:lnTo>
                  <a:pt x="797205" y="1869825"/>
                </a:lnTo>
                <a:lnTo>
                  <a:pt x="844106" y="1875820"/>
                </a:lnTo>
                <a:lnTo>
                  <a:pt x="891679" y="1879461"/>
                </a:lnTo>
                <a:lnTo>
                  <a:pt x="939865" y="1880687"/>
                </a:lnTo>
                <a:lnTo>
                  <a:pt x="988500" y="1879461"/>
                </a:lnTo>
                <a:lnTo>
                  <a:pt x="1036494" y="1875820"/>
                </a:lnTo>
                <a:lnTo>
                  <a:pt x="1083789" y="1869825"/>
                </a:lnTo>
                <a:lnTo>
                  <a:pt x="1130326" y="1861535"/>
                </a:lnTo>
                <a:lnTo>
                  <a:pt x="1176044" y="1851008"/>
                </a:lnTo>
                <a:lnTo>
                  <a:pt x="1220886" y="1838304"/>
                </a:lnTo>
                <a:lnTo>
                  <a:pt x="1264790" y="1823481"/>
                </a:lnTo>
                <a:lnTo>
                  <a:pt x="1307699" y="1806600"/>
                </a:lnTo>
                <a:lnTo>
                  <a:pt x="1349553" y="1787719"/>
                </a:lnTo>
                <a:lnTo>
                  <a:pt x="1390293" y="1766897"/>
                </a:lnTo>
                <a:lnTo>
                  <a:pt x="1429859" y="1744193"/>
                </a:lnTo>
                <a:lnTo>
                  <a:pt x="1468192" y="1719667"/>
                </a:lnTo>
                <a:lnTo>
                  <a:pt x="1505233" y="1693378"/>
                </a:lnTo>
                <a:lnTo>
                  <a:pt x="1540922" y="1665384"/>
                </a:lnTo>
                <a:lnTo>
                  <a:pt x="1575201" y="1635745"/>
                </a:lnTo>
                <a:lnTo>
                  <a:pt x="1608010" y="1604520"/>
                </a:lnTo>
                <a:lnTo>
                  <a:pt x="1639290" y="1571769"/>
                </a:lnTo>
                <a:lnTo>
                  <a:pt x="1668981" y="1537549"/>
                </a:lnTo>
                <a:lnTo>
                  <a:pt x="1697024" y="1501921"/>
                </a:lnTo>
                <a:lnTo>
                  <a:pt x="1723361" y="1464944"/>
                </a:lnTo>
                <a:lnTo>
                  <a:pt x="1747931" y="1426676"/>
                </a:lnTo>
                <a:lnTo>
                  <a:pt x="1770675" y="1387177"/>
                </a:lnTo>
                <a:lnTo>
                  <a:pt x="1791535" y="1346506"/>
                </a:lnTo>
                <a:lnTo>
                  <a:pt x="1810450" y="1304722"/>
                </a:lnTo>
                <a:lnTo>
                  <a:pt x="1827363" y="1261884"/>
                </a:lnTo>
                <a:lnTo>
                  <a:pt x="1842212" y="1218051"/>
                </a:lnTo>
                <a:lnTo>
                  <a:pt x="1854940" y="1173283"/>
                </a:lnTo>
                <a:lnTo>
                  <a:pt x="1865486" y="1127639"/>
                </a:lnTo>
                <a:lnTo>
                  <a:pt x="1873792" y="1081177"/>
                </a:lnTo>
                <a:lnTo>
                  <a:pt x="1879798" y="1033957"/>
                </a:lnTo>
                <a:lnTo>
                  <a:pt x="1883445" y="986038"/>
                </a:lnTo>
                <a:lnTo>
                  <a:pt x="1884674" y="937479"/>
                </a:lnTo>
                <a:lnTo>
                  <a:pt x="1883445" y="889440"/>
                </a:lnTo>
                <a:lnTo>
                  <a:pt x="1879798" y="842009"/>
                </a:lnTo>
                <a:lnTo>
                  <a:pt x="1873792" y="795245"/>
                </a:lnTo>
                <a:lnTo>
                  <a:pt x="1865486" y="749210"/>
                </a:lnTo>
                <a:lnTo>
                  <a:pt x="1854940" y="703962"/>
                </a:lnTo>
                <a:lnTo>
                  <a:pt x="1842212" y="659562"/>
                </a:lnTo>
                <a:lnTo>
                  <a:pt x="1827363" y="616071"/>
                </a:lnTo>
                <a:lnTo>
                  <a:pt x="1810450" y="573548"/>
                </a:lnTo>
                <a:lnTo>
                  <a:pt x="1791535" y="532053"/>
                </a:lnTo>
                <a:lnTo>
                  <a:pt x="1770675" y="491648"/>
                </a:lnTo>
                <a:lnTo>
                  <a:pt x="1747931" y="452392"/>
                </a:lnTo>
                <a:lnTo>
                  <a:pt x="1723361" y="414344"/>
                </a:lnTo>
                <a:lnTo>
                  <a:pt x="1697024" y="377566"/>
                </a:lnTo>
                <a:lnTo>
                  <a:pt x="1668981" y="342118"/>
                </a:lnTo>
                <a:lnTo>
                  <a:pt x="1639290" y="308059"/>
                </a:lnTo>
                <a:lnTo>
                  <a:pt x="1608010" y="275450"/>
                </a:lnTo>
                <a:lnTo>
                  <a:pt x="1575201" y="244352"/>
                </a:lnTo>
                <a:lnTo>
                  <a:pt x="1540922" y="214823"/>
                </a:lnTo>
                <a:lnTo>
                  <a:pt x="1505233" y="186925"/>
                </a:lnTo>
                <a:lnTo>
                  <a:pt x="1468192" y="160718"/>
                </a:lnTo>
                <a:lnTo>
                  <a:pt x="1429859" y="136261"/>
                </a:lnTo>
                <a:lnTo>
                  <a:pt x="1390293" y="113615"/>
                </a:lnTo>
                <a:lnTo>
                  <a:pt x="1349553" y="92841"/>
                </a:lnTo>
                <a:lnTo>
                  <a:pt x="1307699" y="73997"/>
                </a:lnTo>
                <a:lnTo>
                  <a:pt x="1264790" y="57146"/>
                </a:lnTo>
                <a:lnTo>
                  <a:pt x="1220886" y="42345"/>
                </a:lnTo>
                <a:lnTo>
                  <a:pt x="1176044" y="29657"/>
                </a:lnTo>
                <a:lnTo>
                  <a:pt x="1130326" y="19141"/>
                </a:lnTo>
                <a:lnTo>
                  <a:pt x="1083789" y="10857"/>
                </a:lnTo>
                <a:lnTo>
                  <a:pt x="1036494" y="4865"/>
                </a:lnTo>
                <a:lnTo>
                  <a:pt x="988500" y="1226"/>
                </a:lnTo>
                <a:lnTo>
                  <a:pt x="939865" y="0"/>
                </a:lnTo>
                <a:lnTo>
                  <a:pt x="891679" y="1226"/>
                </a:lnTo>
                <a:lnTo>
                  <a:pt x="844106" y="4865"/>
                </a:lnTo>
                <a:lnTo>
                  <a:pt x="797205" y="10857"/>
                </a:lnTo>
                <a:lnTo>
                  <a:pt x="751036" y="19141"/>
                </a:lnTo>
                <a:lnTo>
                  <a:pt x="705660" y="29657"/>
                </a:lnTo>
                <a:lnTo>
                  <a:pt x="661136" y="42345"/>
                </a:lnTo>
                <a:lnTo>
                  <a:pt x="617526" y="57146"/>
                </a:lnTo>
                <a:lnTo>
                  <a:pt x="574889" y="73997"/>
                </a:lnTo>
                <a:lnTo>
                  <a:pt x="533285" y="92841"/>
                </a:lnTo>
                <a:lnTo>
                  <a:pt x="492775" y="113615"/>
                </a:lnTo>
                <a:lnTo>
                  <a:pt x="453418" y="136261"/>
                </a:lnTo>
                <a:lnTo>
                  <a:pt x="415275" y="160718"/>
                </a:lnTo>
                <a:lnTo>
                  <a:pt x="378406" y="186925"/>
                </a:lnTo>
                <a:lnTo>
                  <a:pt x="342872" y="214823"/>
                </a:lnTo>
                <a:lnTo>
                  <a:pt x="308732" y="244352"/>
                </a:lnTo>
                <a:lnTo>
                  <a:pt x="276046" y="275450"/>
                </a:lnTo>
                <a:lnTo>
                  <a:pt x="244875" y="308059"/>
                </a:lnTo>
                <a:lnTo>
                  <a:pt x="215279" y="342118"/>
                </a:lnTo>
                <a:lnTo>
                  <a:pt x="187318" y="377566"/>
                </a:lnTo>
                <a:lnTo>
                  <a:pt x="161053" y="414344"/>
                </a:lnTo>
                <a:lnTo>
                  <a:pt x="136542" y="452392"/>
                </a:lnTo>
                <a:lnTo>
                  <a:pt x="113848" y="491648"/>
                </a:lnTo>
                <a:lnTo>
                  <a:pt x="93029" y="532053"/>
                </a:lnTo>
                <a:lnTo>
                  <a:pt x="74146" y="573548"/>
                </a:lnTo>
                <a:lnTo>
                  <a:pt x="57259" y="616071"/>
                </a:lnTo>
                <a:lnTo>
                  <a:pt x="42429" y="659562"/>
                </a:lnTo>
                <a:lnTo>
                  <a:pt x="29715" y="703962"/>
                </a:lnTo>
                <a:lnTo>
                  <a:pt x="19178" y="749210"/>
                </a:lnTo>
                <a:lnTo>
                  <a:pt x="10878" y="795245"/>
                </a:lnTo>
                <a:lnTo>
                  <a:pt x="4874" y="842009"/>
                </a:lnTo>
                <a:lnTo>
                  <a:pt x="1228" y="889440"/>
                </a:lnTo>
                <a:lnTo>
                  <a:pt x="0" y="937479"/>
                </a:lnTo>
                <a:close/>
              </a:path>
            </a:pathLst>
          </a:custGeom>
          <a:ln w="25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88290" y="4133623"/>
            <a:ext cx="188595" cy="177165"/>
          </a:xfrm>
          <a:custGeom>
            <a:avLst/>
            <a:gdLst/>
            <a:ahLst/>
            <a:cxnLst/>
            <a:rect l="l" t="t" r="r" b="b"/>
            <a:pathLst>
              <a:path w="188595" h="177164">
                <a:moveTo>
                  <a:pt x="188389" y="0"/>
                </a:moveTo>
                <a:lnTo>
                  <a:pt x="0" y="83132"/>
                </a:lnTo>
                <a:lnTo>
                  <a:pt x="57505" y="114463"/>
                </a:lnTo>
                <a:lnTo>
                  <a:pt x="84046" y="177125"/>
                </a:lnTo>
                <a:lnTo>
                  <a:pt x="188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24127" y="4170059"/>
            <a:ext cx="1253490" cy="245110"/>
          </a:xfrm>
          <a:custGeom>
            <a:avLst/>
            <a:gdLst/>
            <a:ahLst/>
            <a:cxnLst/>
            <a:rect l="l" t="t" r="r" b="b"/>
            <a:pathLst>
              <a:path w="1253489" h="245110">
                <a:moveTo>
                  <a:pt x="0" y="0"/>
                </a:moveTo>
                <a:lnTo>
                  <a:pt x="38784" y="33462"/>
                </a:lnTo>
                <a:lnTo>
                  <a:pt x="78928" y="64507"/>
                </a:lnTo>
                <a:lnTo>
                  <a:pt x="120363" y="93125"/>
                </a:lnTo>
                <a:lnTo>
                  <a:pt x="163022" y="119306"/>
                </a:lnTo>
                <a:lnTo>
                  <a:pt x="206839" y="143040"/>
                </a:lnTo>
                <a:lnTo>
                  <a:pt x="251746" y="164317"/>
                </a:lnTo>
                <a:lnTo>
                  <a:pt x="297676" y="183128"/>
                </a:lnTo>
                <a:lnTo>
                  <a:pt x="344561" y="199462"/>
                </a:lnTo>
                <a:lnTo>
                  <a:pt x="392336" y="213310"/>
                </a:lnTo>
                <a:lnTo>
                  <a:pt x="440932" y="224663"/>
                </a:lnTo>
                <a:lnTo>
                  <a:pt x="490282" y="233509"/>
                </a:lnTo>
                <a:lnTo>
                  <a:pt x="540320" y="239840"/>
                </a:lnTo>
                <a:lnTo>
                  <a:pt x="590978" y="243646"/>
                </a:lnTo>
                <a:lnTo>
                  <a:pt x="642189" y="244917"/>
                </a:lnTo>
                <a:lnTo>
                  <a:pt x="693913" y="243537"/>
                </a:lnTo>
                <a:lnTo>
                  <a:pt x="745150" y="239416"/>
                </a:lnTo>
                <a:lnTo>
                  <a:pt x="795819" y="232581"/>
                </a:lnTo>
                <a:lnTo>
                  <a:pt x="845838" y="223060"/>
                </a:lnTo>
                <a:lnTo>
                  <a:pt x="895126" y="210882"/>
                </a:lnTo>
                <a:lnTo>
                  <a:pt x="943603" y="196074"/>
                </a:lnTo>
                <a:lnTo>
                  <a:pt x="991187" y="178663"/>
                </a:lnTo>
                <a:lnTo>
                  <a:pt x="1037798" y="158679"/>
                </a:lnTo>
                <a:lnTo>
                  <a:pt x="1083354" y="136148"/>
                </a:lnTo>
                <a:lnTo>
                  <a:pt x="1127775" y="111099"/>
                </a:lnTo>
                <a:lnTo>
                  <a:pt x="1170979" y="83560"/>
                </a:lnTo>
                <a:lnTo>
                  <a:pt x="1212886" y="53558"/>
                </a:lnTo>
                <a:lnTo>
                  <a:pt x="1253414" y="21121"/>
                </a:lnTo>
              </a:path>
            </a:pathLst>
          </a:custGeom>
          <a:ln w="259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47815" y="6103824"/>
            <a:ext cx="204470" cy="156210"/>
          </a:xfrm>
          <a:custGeom>
            <a:avLst/>
            <a:gdLst/>
            <a:ahLst/>
            <a:cxnLst/>
            <a:rect l="l" t="t" r="r" b="b"/>
            <a:pathLst>
              <a:path w="204470" h="156210">
                <a:moveTo>
                  <a:pt x="62709" y="0"/>
                </a:moveTo>
                <a:lnTo>
                  <a:pt x="52561" y="67141"/>
                </a:lnTo>
                <a:lnTo>
                  <a:pt x="0" y="109358"/>
                </a:lnTo>
                <a:lnTo>
                  <a:pt x="204262" y="156029"/>
                </a:lnTo>
                <a:lnTo>
                  <a:pt x="627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96034" y="5816689"/>
            <a:ext cx="146050" cy="370840"/>
          </a:xfrm>
          <a:custGeom>
            <a:avLst/>
            <a:gdLst/>
            <a:ahLst/>
            <a:cxnLst/>
            <a:rect l="l" t="t" r="r" b="b"/>
            <a:pathLst>
              <a:path w="146050" h="370839">
                <a:moveTo>
                  <a:pt x="10148" y="0"/>
                </a:moveTo>
                <a:lnTo>
                  <a:pt x="4281" y="20547"/>
                </a:lnTo>
                <a:lnTo>
                  <a:pt x="1268" y="42529"/>
                </a:lnTo>
                <a:lnTo>
                  <a:pt x="158" y="65469"/>
                </a:lnTo>
                <a:lnTo>
                  <a:pt x="0" y="88888"/>
                </a:lnTo>
                <a:lnTo>
                  <a:pt x="3142" y="137227"/>
                </a:lnTo>
                <a:lnTo>
                  <a:pt x="12462" y="183767"/>
                </a:lnTo>
                <a:lnTo>
                  <a:pt x="27795" y="227959"/>
                </a:lnTo>
                <a:lnTo>
                  <a:pt x="48976" y="269254"/>
                </a:lnTo>
                <a:lnTo>
                  <a:pt x="75842" y="307103"/>
                </a:lnTo>
                <a:lnTo>
                  <a:pt x="108230" y="340957"/>
                </a:lnTo>
                <a:lnTo>
                  <a:pt x="145975" y="370267"/>
                </a:lnTo>
              </a:path>
            </a:pathLst>
          </a:custGeom>
          <a:ln w="259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46972" y="5087067"/>
            <a:ext cx="209550" cy="125730"/>
          </a:xfrm>
          <a:custGeom>
            <a:avLst/>
            <a:gdLst/>
            <a:ahLst/>
            <a:cxnLst/>
            <a:rect l="l" t="t" r="r" b="b"/>
            <a:pathLst>
              <a:path w="209550" h="125729">
                <a:moveTo>
                  <a:pt x="198537" y="0"/>
                </a:moveTo>
                <a:lnTo>
                  <a:pt x="0" y="83783"/>
                </a:lnTo>
                <a:lnTo>
                  <a:pt x="209205" y="125323"/>
                </a:lnTo>
                <a:lnTo>
                  <a:pt x="177720" y="62661"/>
                </a:lnTo>
                <a:lnTo>
                  <a:pt x="198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82799" y="5149729"/>
            <a:ext cx="528320" cy="412115"/>
          </a:xfrm>
          <a:custGeom>
            <a:avLst/>
            <a:gdLst/>
            <a:ahLst/>
            <a:cxnLst/>
            <a:rect l="l" t="t" r="r" b="b"/>
            <a:pathLst>
              <a:path w="528320" h="412114">
                <a:moveTo>
                  <a:pt x="527698" y="411833"/>
                </a:moveTo>
                <a:lnTo>
                  <a:pt x="514081" y="364805"/>
                </a:lnTo>
                <a:lnTo>
                  <a:pt x="496385" y="319770"/>
                </a:lnTo>
                <a:lnTo>
                  <a:pt x="474841" y="276914"/>
                </a:lnTo>
                <a:lnTo>
                  <a:pt x="449679" y="236421"/>
                </a:lnTo>
                <a:lnTo>
                  <a:pt x="421129" y="198478"/>
                </a:lnTo>
                <a:lnTo>
                  <a:pt x="389422" y="163268"/>
                </a:lnTo>
                <a:lnTo>
                  <a:pt x="354789" y="130979"/>
                </a:lnTo>
                <a:lnTo>
                  <a:pt x="317459" y="101794"/>
                </a:lnTo>
                <a:lnTo>
                  <a:pt x="277663" y="75899"/>
                </a:lnTo>
                <a:lnTo>
                  <a:pt x="235631" y="53479"/>
                </a:lnTo>
                <a:lnTo>
                  <a:pt x="191594" y="34721"/>
                </a:lnTo>
                <a:lnTo>
                  <a:pt x="145782" y="19808"/>
                </a:lnTo>
                <a:lnTo>
                  <a:pt x="98425" y="8927"/>
                </a:lnTo>
                <a:lnTo>
                  <a:pt x="49754" y="2262"/>
                </a:lnTo>
                <a:lnTo>
                  <a:pt x="0" y="0"/>
                </a:lnTo>
              </a:path>
            </a:pathLst>
          </a:custGeom>
          <a:ln w="259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66080" y="5061492"/>
            <a:ext cx="261620" cy="135890"/>
          </a:xfrm>
          <a:custGeom>
            <a:avLst/>
            <a:gdLst/>
            <a:ahLst/>
            <a:cxnLst/>
            <a:rect l="l" t="t" r="r" b="b"/>
            <a:pathLst>
              <a:path w="261619" h="135889">
                <a:moveTo>
                  <a:pt x="261039" y="0"/>
                </a:moveTo>
                <a:lnTo>
                  <a:pt x="0" y="67792"/>
                </a:lnTo>
                <a:lnTo>
                  <a:pt x="261039" y="135558"/>
                </a:lnTo>
                <a:lnTo>
                  <a:pt x="229423" y="67792"/>
                </a:lnTo>
                <a:lnTo>
                  <a:pt x="261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10362" y="5139181"/>
            <a:ext cx="1551305" cy="0"/>
          </a:xfrm>
          <a:custGeom>
            <a:avLst/>
            <a:gdLst/>
            <a:ahLst/>
            <a:cxnLst/>
            <a:rect l="l" t="t" r="r" b="b"/>
            <a:pathLst>
              <a:path w="1551304">
                <a:moveTo>
                  <a:pt x="0" y="0"/>
                </a:moveTo>
                <a:lnTo>
                  <a:pt x="1551064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95504" y="5131515"/>
            <a:ext cx="1566545" cy="0"/>
          </a:xfrm>
          <a:custGeom>
            <a:avLst/>
            <a:gdLst/>
            <a:ahLst/>
            <a:cxnLst/>
            <a:rect l="l" t="t" r="r" b="b"/>
            <a:pathLst>
              <a:path w="1566545">
                <a:moveTo>
                  <a:pt x="0" y="0"/>
                </a:moveTo>
                <a:lnTo>
                  <a:pt x="1566130" y="0"/>
                </a:lnTo>
              </a:path>
            </a:pathLst>
          </a:custGeom>
          <a:ln w="262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99395" y="5519996"/>
            <a:ext cx="214629" cy="109855"/>
          </a:xfrm>
          <a:custGeom>
            <a:avLst/>
            <a:gdLst/>
            <a:ahLst/>
            <a:cxnLst/>
            <a:rect l="l" t="t" r="r" b="b"/>
            <a:pathLst>
              <a:path w="214630" h="109854">
                <a:moveTo>
                  <a:pt x="140927" y="0"/>
                </a:moveTo>
                <a:lnTo>
                  <a:pt x="0" y="109332"/>
                </a:lnTo>
                <a:lnTo>
                  <a:pt x="214227" y="31330"/>
                </a:lnTo>
                <a:lnTo>
                  <a:pt x="1409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56901" y="4717451"/>
            <a:ext cx="224790" cy="807720"/>
          </a:xfrm>
          <a:custGeom>
            <a:avLst/>
            <a:gdLst/>
            <a:ahLst/>
            <a:cxnLst/>
            <a:rect l="l" t="t" r="r" b="b"/>
            <a:pathLst>
              <a:path w="224789" h="807720">
                <a:moveTo>
                  <a:pt x="52457" y="807649"/>
                </a:moveTo>
                <a:lnTo>
                  <a:pt x="87149" y="773295"/>
                </a:lnTo>
                <a:lnTo>
                  <a:pt x="118245" y="736457"/>
                </a:lnTo>
                <a:lnTo>
                  <a:pt x="145617" y="697351"/>
                </a:lnTo>
                <a:lnTo>
                  <a:pt x="169133" y="656194"/>
                </a:lnTo>
                <a:lnTo>
                  <a:pt x="188665" y="613200"/>
                </a:lnTo>
                <a:lnTo>
                  <a:pt x="204082" y="568585"/>
                </a:lnTo>
                <a:lnTo>
                  <a:pt x="215255" y="522565"/>
                </a:lnTo>
                <a:lnTo>
                  <a:pt x="222054" y="475356"/>
                </a:lnTo>
                <a:lnTo>
                  <a:pt x="224349" y="427173"/>
                </a:lnTo>
                <a:lnTo>
                  <a:pt x="221873" y="376087"/>
                </a:lnTo>
                <a:lnTo>
                  <a:pt x="214546" y="326207"/>
                </a:lnTo>
                <a:lnTo>
                  <a:pt x="202525" y="277777"/>
                </a:lnTo>
                <a:lnTo>
                  <a:pt x="185965" y="231043"/>
                </a:lnTo>
                <a:lnTo>
                  <a:pt x="165022" y="186250"/>
                </a:lnTo>
                <a:lnTo>
                  <a:pt x="139851" y="143644"/>
                </a:lnTo>
                <a:lnTo>
                  <a:pt x="110608" y="103470"/>
                </a:lnTo>
                <a:lnTo>
                  <a:pt x="77448" y="65975"/>
                </a:lnTo>
                <a:lnTo>
                  <a:pt x="40527" y="31403"/>
                </a:lnTo>
                <a:lnTo>
                  <a:pt x="0" y="0"/>
                </a:lnTo>
              </a:path>
            </a:pathLst>
          </a:custGeom>
          <a:ln w="259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77386" y="4847906"/>
            <a:ext cx="167005" cy="198120"/>
          </a:xfrm>
          <a:custGeom>
            <a:avLst/>
            <a:gdLst/>
            <a:ahLst/>
            <a:cxnLst/>
            <a:rect l="l" t="t" r="r" b="b"/>
            <a:pathLst>
              <a:path w="167005" h="198120">
                <a:moveTo>
                  <a:pt x="0" y="0"/>
                </a:moveTo>
                <a:lnTo>
                  <a:pt x="67627" y="197595"/>
                </a:lnTo>
                <a:lnTo>
                  <a:pt x="104290" y="140689"/>
                </a:lnTo>
                <a:lnTo>
                  <a:pt x="166844" y="12469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60808" y="4878611"/>
            <a:ext cx="773430" cy="224790"/>
          </a:xfrm>
          <a:custGeom>
            <a:avLst/>
            <a:gdLst/>
            <a:ahLst/>
            <a:cxnLst/>
            <a:rect l="l" t="t" r="r" b="b"/>
            <a:pathLst>
              <a:path w="773429" h="224789">
                <a:moveTo>
                  <a:pt x="0" y="73522"/>
                </a:moveTo>
                <a:lnTo>
                  <a:pt x="36943" y="108279"/>
                </a:lnTo>
                <a:lnTo>
                  <a:pt x="76909" y="138647"/>
                </a:lnTo>
                <a:lnTo>
                  <a:pt x="119542" y="164549"/>
                </a:lnTo>
                <a:lnTo>
                  <a:pt x="164486" y="185911"/>
                </a:lnTo>
                <a:lnTo>
                  <a:pt x="211385" y="202657"/>
                </a:lnTo>
                <a:lnTo>
                  <a:pt x="259883" y="214712"/>
                </a:lnTo>
                <a:lnTo>
                  <a:pt x="309626" y="222000"/>
                </a:lnTo>
                <a:lnTo>
                  <a:pt x="360255" y="224447"/>
                </a:lnTo>
                <a:lnTo>
                  <a:pt x="410100" y="221960"/>
                </a:lnTo>
                <a:lnTo>
                  <a:pt x="458930" y="214608"/>
                </a:lnTo>
                <a:lnTo>
                  <a:pt x="506411" y="202551"/>
                </a:lnTo>
                <a:lnTo>
                  <a:pt x="552208" y="185952"/>
                </a:lnTo>
                <a:lnTo>
                  <a:pt x="595989" y="164972"/>
                </a:lnTo>
                <a:lnTo>
                  <a:pt x="637419" y="139771"/>
                </a:lnTo>
                <a:lnTo>
                  <a:pt x="676163" y="110513"/>
                </a:lnTo>
                <a:lnTo>
                  <a:pt x="711888" y="77357"/>
                </a:lnTo>
                <a:lnTo>
                  <a:pt x="744259" y="40465"/>
                </a:lnTo>
                <a:lnTo>
                  <a:pt x="772943" y="0"/>
                </a:lnTo>
              </a:path>
            </a:pathLst>
          </a:custGeom>
          <a:ln w="259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89316" y="2200535"/>
            <a:ext cx="135255" cy="260350"/>
          </a:xfrm>
          <a:custGeom>
            <a:avLst/>
            <a:gdLst/>
            <a:ahLst/>
            <a:cxnLst/>
            <a:rect l="l" t="t" r="r" b="b"/>
            <a:pathLst>
              <a:path w="135255" h="260350">
                <a:moveTo>
                  <a:pt x="0" y="0"/>
                </a:moveTo>
                <a:lnTo>
                  <a:pt x="72675" y="260179"/>
                </a:lnTo>
                <a:lnTo>
                  <a:pt x="127738" y="31252"/>
                </a:lnTo>
                <a:lnTo>
                  <a:pt x="72675" y="31252"/>
                </a:lnTo>
                <a:lnTo>
                  <a:pt x="0" y="0"/>
                </a:lnTo>
                <a:close/>
              </a:path>
              <a:path w="135255" h="260350">
                <a:moveTo>
                  <a:pt x="135255" y="0"/>
                </a:moveTo>
                <a:lnTo>
                  <a:pt x="72675" y="31252"/>
                </a:lnTo>
                <a:lnTo>
                  <a:pt x="127738" y="31252"/>
                </a:lnTo>
                <a:lnTo>
                  <a:pt x="1352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802" y="1970566"/>
            <a:ext cx="0" cy="265430"/>
          </a:xfrm>
          <a:custGeom>
            <a:avLst/>
            <a:gdLst/>
            <a:ahLst/>
            <a:cxnLst/>
            <a:rect l="l" t="t" r="r" b="b"/>
            <a:pathLst>
              <a:path h="265430">
                <a:moveTo>
                  <a:pt x="0" y="265388"/>
                </a:moveTo>
                <a:lnTo>
                  <a:pt x="0" y="0"/>
                </a:lnTo>
              </a:path>
            </a:pathLst>
          </a:custGeom>
          <a:ln w="5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59778" y="1950435"/>
            <a:ext cx="0" cy="281940"/>
          </a:xfrm>
          <a:custGeom>
            <a:avLst/>
            <a:gdLst/>
            <a:ahLst/>
            <a:cxnLst/>
            <a:rect l="l" t="t" r="r" b="b"/>
            <a:pathLst>
              <a:path h="281939">
                <a:moveTo>
                  <a:pt x="0" y="0"/>
                </a:moveTo>
                <a:lnTo>
                  <a:pt x="0" y="281353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36518" y="2189596"/>
            <a:ext cx="135890" cy="260985"/>
          </a:xfrm>
          <a:custGeom>
            <a:avLst/>
            <a:gdLst/>
            <a:ahLst/>
            <a:cxnLst/>
            <a:rect l="l" t="t" r="r" b="b"/>
            <a:pathLst>
              <a:path w="135889" h="260985">
                <a:moveTo>
                  <a:pt x="0" y="0"/>
                </a:moveTo>
                <a:lnTo>
                  <a:pt x="67653" y="260960"/>
                </a:lnTo>
                <a:lnTo>
                  <a:pt x="127663" y="31252"/>
                </a:lnTo>
                <a:lnTo>
                  <a:pt x="67653" y="31252"/>
                </a:lnTo>
                <a:lnTo>
                  <a:pt x="0" y="0"/>
                </a:lnTo>
                <a:close/>
              </a:path>
              <a:path w="135889" h="260985">
                <a:moveTo>
                  <a:pt x="135827" y="0"/>
                </a:moveTo>
                <a:lnTo>
                  <a:pt x="67653" y="31252"/>
                </a:lnTo>
                <a:lnTo>
                  <a:pt x="127663" y="31252"/>
                </a:lnTo>
                <a:lnTo>
                  <a:pt x="1358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14060" y="1970566"/>
            <a:ext cx="0" cy="255270"/>
          </a:xfrm>
          <a:custGeom>
            <a:avLst/>
            <a:gdLst/>
            <a:ahLst/>
            <a:cxnLst/>
            <a:rect l="l" t="t" r="r" b="b"/>
            <a:pathLst>
              <a:path h="255269">
                <a:moveTo>
                  <a:pt x="0" y="255231"/>
                </a:moveTo>
                <a:lnTo>
                  <a:pt x="0" y="0"/>
                </a:lnTo>
              </a:path>
            </a:pathLst>
          </a:custGeom>
          <a:ln w="5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06980" y="1950356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0"/>
                </a:moveTo>
                <a:lnTo>
                  <a:pt x="0" y="270492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42010" y="2142978"/>
            <a:ext cx="135890" cy="260985"/>
          </a:xfrm>
          <a:custGeom>
            <a:avLst/>
            <a:gdLst/>
            <a:ahLst/>
            <a:cxnLst/>
            <a:rect l="l" t="t" r="r" b="b"/>
            <a:pathLst>
              <a:path w="135890" h="260985">
                <a:moveTo>
                  <a:pt x="0" y="0"/>
                </a:moveTo>
                <a:lnTo>
                  <a:pt x="73378" y="260960"/>
                </a:lnTo>
                <a:lnTo>
                  <a:pt x="128348" y="31252"/>
                </a:lnTo>
                <a:lnTo>
                  <a:pt x="73378" y="31252"/>
                </a:lnTo>
                <a:lnTo>
                  <a:pt x="0" y="0"/>
                </a:lnTo>
                <a:close/>
              </a:path>
              <a:path w="135890" h="260985">
                <a:moveTo>
                  <a:pt x="135827" y="0"/>
                </a:moveTo>
                <a:lnTo>
                  <a:pt x="73378" y="31252"/>
                </a:lnTo>
                <a:lnTo>
                  <a:pt x="128348" y="31252"/>
                </a:lnTo>
                <a:lnTo>
                  <a:pt x="1358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925276" y="1929157"/>
            <a:ext cx="0" cy="250190"/>
          </a:xfrm>
          <a:custGeom>
            <a:avLst/>
            <a:gdLst/>
            <a:ahLst/>
            <a:cxnLst/>
            <a:rect l="l" t="t" r="r" b="b"/>
            <a:pathLst>
              <a:path h="250189">
                <a:moveTo>
                  <a:pt x="0" y="250022"/>
                </a:moveTo>
                <a:lnTo>
                  <a:pt x="0" y="0"/>
                </a:lnTo>
              </a:path>
            </a:pathLst>
          </a:custGeom>
          <a:ln w="5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912472" y="1908217"/>
            <a:ext cx="0" cy="266065"/>
          </a:xfrm>
          <a:custGeom>
            <a:avLst/>
            <a:gdLst/>
            <a:ahLst/>
            <a:cxnLst/>
            <a:rect l="l" t="t" r="r" b="b"/>
            <a:pathLst>
              <a:path h="266064">
                <a:moveTo>
                  <a:pt x="0" y="0"/>
                </a:moveTo>
                <a:lnTo>
                  <a:pt x="0" y="266013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94364" y="3560552"/>
            <a:ext cx="135890" cy="260985"/>
          </a:xfrm>
          <a:custGeom>
            <a:avLst/>
            <a:gdLst/>
            <a:ahLst/>
            <a:cxnLst/>
            <a:rect l="l" t="t" r="r" b="b"/>
            <a:pathLst>
              <a:path w="135889" h="260985">
                <a:moveTo>
                  <a:pt x="0" y="0"/>
                </a:moveTo>
                <a:lnTo>
                  <a:pt x="73326" y="260439"/>
                </a:lnTo>
                <a:lnTo>
                  <a:pt x="127122" y="36461"/>
                </a:lnTo>
                <a:lnTo>
                  <a:pt x="73326" y="36461"/>
                </a:lnTo>
                <a:lnTo>
                  <a:pt x="0" y="0"/>
                </a:lnTo>
                <a:close/>
              </a:path>
              <a:path w="135889" h="260985">
                <a:moveTo>
                  <a:pt x="135879" y="0"/>
                </a:moveTo>
                <a:lnTo>
                  <a:pt x="73326" y="36461"/>
                </a:lnTo>
                <a:lnTo>
                  <a:pt x="127122" y="36461"/>
                </a:lnTo>
                <a:lnTo>
                  <a:pt x="135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77474" y="2773242"/>
            <a:ext cx="0" cy="829310"/>
          </a:xfrm>
          <a:custGeom>
            <a:avLst/>
            <a:gdLst/>
            <a:ahLst/>
            <a:cxnLst/>
            <a:rect l="l" t="t" r="r" b="b"/>
            <a:pathLst>
              <a:path h="829310">
                <a:moveTo>
                  <a:pt x="0" y="828719"/>
                </a:moveTo>
                <a:lnTo>
                  <a:pt x="0" y="0"/>
                </a:lnTo>
              </a:path>
            </a:pathLst>
          </a:custGeom>
          <a:ln w="5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64852" y="2752928"/>
            <a:ext cx="0" cy="844550"/>
          </a:xfrm>
          <a:custGeom>
            <a:avLst/>
            <a:gdLst/>
            <a:ahLst/>
            <a:cxnLst/>
            <a:rect l="l" t="t" r="r" b="b"/>
            <a:pathLst>
              <a:path h="844550">
                <a:moveTo>
                  <a:pt x="0" y="0"/>
                </a:moveTo>
                <a:lnTo>
                  <a:pt x="0" y="844085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920646" y="3492837"/>
            <a:ext cx="136525" cy="260350"/>
          </a:xfrm>
          <a:custGeom>
            <a:avLst/>
            <a:gdLst/>
            <a:ahLst/>
            <a:cxnLst/>
            <a:rect l="l" t="t" r="r" b="b"/>
            <a:pathLst>
              <a:path w="136525" h="260350">
                <a:moveTo>
                  <a:pt x="0" y="0"/>
                </a:moveTo>
                <a:lnTo>
                  <a:pt x="73378" y="260179"/>
                </a:lnTo>
                <a:lnTo>
                  <a:pt x="128555" y="31252"/>
                </a:lnTo>
                <a:lnTo>
                  <a:pt x="73378" y="31252"/>
                </a:lnTo>
                <a:lnTo>
                  <a:pt x="0" y="0"/>
                </a:lnTo>
                <a:close/>
              </a:path>
              <a:path w="136525" h="260350">
                <a:moveTo>
                  <a:pt x="136087" y="0"/>
                </a:moveTo>
                <a:lnTo>
                  <a:pt x="73378" y="31252"/>
                </a:lnTo>
                <a:lnTo>
                  <a:pt x="128555" y="31252"/>
                </a:lnTo>
                <a:lnTo>
                  <a:pt x="136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03912" y="2819861"/>
            <a:ext cx="0" cy="708660"/>
          </a:xfrm>
          <a:custGeom>
            <a:avLst/>
            <a:gdLst/>
            <a:ahLst/>
            <a:cxnLst/>
            <a:rect l="l" t="t" r="r" b="b"/>
            <a:pathLst>
              <a:path h="708660">
                <a:moveTo>
                  <a:pt x="0" y="708396"/>
                </a:moveTo>
                <a:lnTo>
                  <a:pt x="0" y="0"/>
                </a:lnTo>
              </a:path>
            </a:pathLst>
          </a:custGeom>
          <a:ln w="5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91108" y="2799572"/>
            <a:ext cx="0" cy="724535"/>
          </a:xfrm>
          <a:custGeom>
            <a:avLst/>
            <a:gdLst/>
            <a:ahLst/>
            <a:cxnLst/>
            <a:rect l="l" t="t" r="r" b="b"/>
            <a:pathLst>
              <a:path h="724535">
                <a:moveTo>
                  <a:pt x="0" y="0"/>
                </a:moveTo>
                <a:lnTo>
                  <a:pt x="0" y="724517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43481" y="3622797"/>
            <a:ext cx="245745" cy="208915"/>
          </a:xfrm>
          <a:custGeom>
            <a:avLst/>
            <a:gdLst/>
            <a:ahLst/>
            <a:cxnLst/>
            <a:rect l="l" t="t" r="r" b="b"/>
            <a:pathLst>
              <a:path w="245745" h="208914">
                <a:moveTo>
                  <a:pt x="167572" y="0"/>
                </a:moveTo>
                <a:lnTo>
                  <a:pt x="0" y="208351"/>
                </a:lnTo>
                <a:lnTo>
                  <a:pt x="245374" y="104175"/>
                </a:lnTo>
                <a:lnTo>
                  <a:pt x="182664" y="73444"/>
                </a:lnTo>
                <a:lnTo>
                  <a:pt x="167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541759" y="2773242"/>
            <a:ext cx="1231900" cy="927735"/>
          </a:xfrm>
          <a:custGeom>
            <a:avLst/>
            <a:gdLst/>
            <a:ahLst/>
            <a:cxnLst/>
            <a:rect l="l" t="t" r="r" b="b"/>
            <a:pathLst>
              <a:path w="1231900" h="927735">
                <a:moveTo>
                  <a:pt x="0" y="927165"/>
                </a:moveTo>
                <a:lnTo>
                  <a:pt x="1231817" y="0"/>
                </a:lnTo>
              </a:path>
            </a:pathLst>
          </a:custGeom>
          <a:ln w="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515998" y="2742250"/>
            <a:ext cx="1263650" cy="964565"/>
          </a:xfrm>
          <a:custGeom>
            <a:avLst/>
            <a:gdLst/>
            <a:ahLst/>
            <a:cxnLst/>
            <a:rect l="l" t="t" r="r" b="b"/>
            <a:pathLst>
              <a:path w="1263650" h="964564">
                <a:moveTo>
                  <a:pt x="1247689" y="0"/>
                </a:moveTo>
                <a:lnTo>
                  <a:pt x="0" y="943052"/>
                </a:lnTo>
                <a:lnTo>
                  <a:pt x="15872" y="964148"/>
                </a:lnTo>
                <a:lnTo>
                  <a:pt x="1263562" y="21095"/>
                </a:lnTo>
                <a:lnTo>
                  <a:pt x="12476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416545" y="264302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5">
                <a:moveTo>
                  <a:pt x="0" y="57557"/>
                </a:moveTo>
                <a:lnTo>
                  <a:pt x="22048" y="52958"/>
                </a:lnTo>
                <a:lnTo>
                  <a:pt x="40364" y="40498"/>
                </a:lnTo>
                <a:lnTo>
                  <a:pt x="52874" y="22178"/>
                </a:lnTo>
                <a:lnTo>
                  <a:pt x="57505" y="0"/>
                </a:lnTo>
              </a:path>
            </a:pathLst>
          </a:custGeom>
          <a:ln w="25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94868" y="2215901"/>
            <a:ext cx="0" cy="433070"/>
          </a:xfrm>
          <a:custGeom>
            <a:avLst/>
            <a:gdLst/>
            <a:ahLst/>
            <a:cxnLst/>
            <a:rect l="l" t="t" r="r" b="b"/>
            <a:pathLst>
              <a:path h="433069">
                <a:moveTo>
                  <a:pt x="0" y="432850"/>
                </a:moveTo>
                <a:lnTo>
                  <a:pt x="0" y="0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481905" y="2051883"/>
            <a:ext cx="93579" cy="17177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494868" y="1631995"/>
            <a:ext cx="0" cy="438150"/>
          </a:xfrm>
          <a:custGeom>
            <a:avLst/>
            <a:gdLst/>
            <a:ahLst/>
            <a:cxnLst/>
            <a:rect l="l" t="t" r="r" b="b"/>
            <a:pathLst>
              <a:path h="438150">
                <a:moveTo>
                  <a:pt x="0" y="438059"/>
                </a:moveTo>
                <a:lnTo>
                  <a:pt x="0" y="0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03584" y="1546110"/>
            <a:ext cx="88372" cy="936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405877" y="383114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0" y="52348"/>
                </a:moveTo>
                <a:lnTo>
                  <a:pt x="19369" y="47868"/>
                </a:lnTo>
                <a:lnTo>
                  <a:pt x="36103" y="36038"/>
                </a:lnTo>
                <a:lnTo>
                  <a:pt x="47861" y="19276"/>
                </a:lnTo>
                <a:lnTo>
                  <a:pt x="52301" y="0"/>
                </a:lnTo>
              </a:path>
            </a:pathLst>
          </a:custGeom>
          <a:ln w="25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478995" y="3414185"/>
            <a:ext cx="0" cy="417195"/>
          </a:xfrm>
          <a:custGeom>
            <a:avLst/>
            <a:gdLst/>
            <a:ahLst/>
            <a:cxnLst/>
            <a:rect l="l" t="t" r="r" b="b"/>
            <a:pathLst>
              <a:path h="417195">
                <a:moveTo>
                  <a:pt x="0" y="416964"/>
                </a:moveTo>
                <a:lnTo>
                  <a:pt x="0" y="0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466032" y="3260584"/>
            <a:ext cx="88635" cy="1665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78995" y="2862312"/>
            <a:ext cx="0" cy="417195"/>
          </a:xfrm>
          <a:custGeom>
            <a:avLst/>
            <a:gdLst/>
            <a:ahLst/>
            <a:cxnLst/>
            <a:rect l="l" t="t" r="r" b="b"/>
            <a:pathLst>
              <a:path h="417195">
                <a:moveTo>
                  <a:pt x="0" y="416964"/>
                </a:moveTo>
                <a:lnTo>
                  <a:pt x="0" y="0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92916" y="2781636"/>
            <a:ext cx="83428" cy="886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405877" y="6061607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29" h="125729">
                <a:moveTo>
                  <a:pt x="0" y="125349"/>
                </a:moveTo>
                <a:lnTo>
                  <a:pt x="48317" y="115297"/>
                </a:lnTo>
                <a:lnTo>
                  <a:pt x="88144" y="88097"/>
                </a:lnTo>
                <a:lnTo>
                  <a:pt x="115190" y="48185"/>
                </a:lnTo>
                <a:lnTo>
                  <a:pt x="125159" y="0"/>
                </a:lnTo>
              </a:path>
            </a:pathLst>
          </a:custGeom>
          <a:ln w="2592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52373" y="5217522"/>
            <a:ext cx="0" cy="849630"/>
          </a:xfrm>
          <a:custGeom>
            <a:avLst/>
            <a:gdLst/>
            <a:ahLst/>
            <a:cxnLst/>
            <a:rect l="l" t="t" r="r" b="b"/>
            <a:pathLst>
              <a:path h="849629">
                <a:moveTo>
                  <a:pt x="0" y="849216"/>
                </a:moveTo>
                <a:lnTo>
                  <a:pt x="0" y="0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539411" y="4918075"/>
            <a:ext cx="166957" cy="3124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552373" y="4086952"/>
            <a:ext cx="0" cy="849630"/>
          </a:xfrm>
          <a:custGeom>
            <a:avLst/>
            <a:gdLst/>
            <a:ahLst/>
            <a:cxnLst/>
            <a:rect l="l" t="t" r="r" b="b"/>
            <a:pathLst>
              <a:path h="849629">
                <a:moveTo>
                  <a:pt x="0" y="849190"/>
                </a:moveTo>
                <a:lnTo>
                  <a:pt x="0" y="0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392916" y="3933301"/>
            <a:ext cx="156546" cy="1666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36222" y="3873340"/>
            <a:ext cx="260985" cy="135890"/>
          </a:xfrm>
          <a:custGeom>
            <a:avLst/>
            <a:gdLst/>
            <a:ahLst/>
            <a:cxnLst/>
            <a:rect l="l" t="t" r="r" b="b"/>
            <a:pathLst>
              <a:path w="260985" h="135889">
                <a:moveTo>
                  <a:pt x="0" y="0"/>
                </a:moveTo>
                <a:lnTo>
                  <a:pt x="30964" y="67714"/>
                </a:lnTo>
                <a:lnTo>
                  <a:pt x="0" y="135584"/>
                </a:lnTo>
                <a:lnTo>
                  <a:pt x="260987" y="677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562863" y="3950951"/>
            <a:ext cx="809625" cy="0"/>
          </a:xfrm>
          <a:custGeom>
            <a:avLst/>
            <a:gdLst/>
            <a:ahLst/>
            <a:cxnLst/>
            <a:rect l="l" t="t" r="r" b="b"/>
            <a:pathLst>
              <a:path w="809625">
                <a:moveTo>
                  <a:pt x="809007" y="0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542333" y="3943311"/>
            <a:ext cx="824865" cy="0"/>
          </a:xfrm>
          <a:custGeom>
            <a:avLst/>
            <a:gdLst/>
            <a:ahLst/>
            <a:cxnLst/>
            <a:rect l="l" t="t" r="r" b="b"/>
            <a:pathLst>
              <a:path w="824864">
                <a:moveTo>
                  <a:pt x="0" y="0"/>
                </a:moveTo>
                <a:lnTo>
                  <a:pt x="824776" y="0"/>
                </a:lnTo>
              </a:path>
            </a:pathLst>
          </a:custGeom>
          <a:ln w="262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560808" y="3013368"/>
            <a:ext cx="209550" cy="125730"/>
          </a:xfrm>
          <a:custGeom>
            <a:avLst/>
            <a:gdLst/>
            <a:ahLst/>
            <a:cxnLst/>
            <a:rect l="l" t="t" r="r" b="b"/>
            <a:pathLst>
              <a:path w="209550" h="125730">
                <a:moveTo>
                  <a:pt x="209205" y="0"/>
                </a:moveTo>
                <a:lnTo>
                  <a:pt x="0" y="57557"/>
                </a:lnTo>
                <a:lnTo>
                  <a:pt x="203507" y="125271"/>
                </a:lnTo>
                <a:lnTo>
                  <a:pt x="177590" y="62505"/>
                </a:lnTo>
                <a:lnTo>
                  <a:pt x="209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696688" y="2763345"/>
            <a:ext cx="344805" cy="297180"/>
          </a:xfrm>
          <a:custGeom>
            <a:avLst/>
            <a:gdLst/>
            <a:ahLst/>
            <a:cxnLst/>
            <a:rect l="l" t="t" r="r" b="b"/>
            <a:pathLst>
              <a:path w="344805" h="297180">
                <a:moveTo>
                  <a:pt x="0" y="296640"/>
                </a:moveTo>
                <a:lnTo>
                  <a:pt x="49068" y="288946"/>
                </a:lnTo>
                <a:lnTo>
                  <a:pt x="95897" y="275341"/>
                </a:lnTo>
                <a:lnTo>
                  <a:pt x="140110" y="256209"/>
                </a:lnTo>
                <a:lnTo>
                  <a:pt x="181325" y="231939"/>
                </a:lnTo>
                <a:lnTo>
                  <a:pt x="219165" y="202915"/>
                </a:lnTo>
                <a:lnTo>
                  <a:pt x="253250" y="169523"/>
                </a:lnTo>
                <a:lnTo>
                  <a:pt x="283201" y="132150"/>
                </a:lnTo>
                <a:lnTo>
                  <a:pt x="308639" y="91181"/>
                </a:lnTo>
                <a:lnTo>
                  <a:pt x="329185" y="47002"/>
                </a:lnTo>
                <a:lnTo>
                  <a:pt x="344461" y="0"/>
                </a:lnTo>
              </a:path>
            </a:pathLst>
          </a:custGeom>
          <a:ln w="259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310542" y="3190467"/>
            <a:ext cx="0" cy="167005"/>
          </a:xfrm>
          <a:custGeom>
            <a:avLst/>
            <a:gdLst/>
            <a:ahLst/>
            <a:cxnLst/>
            <a:rect l="l" t="t" r="r" b="b"/>
            <a:pathLst>
              <a:path h="167004">
                <a:moveTo>
                  <a:pt x="0" y="0"/>
                </a:moveTo>
                <a:lnTo>
                  <a:pt x="0" y="166970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310542" y="348788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416"/>
                </a:lnTo>
              </a:path>
            </a:pathLst>
          </a:custGeom>
          <a:ln w="25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10542" y="4368306"/>
            <a:ext cx="2255520" cy="0"/>
          </a:xfrm>
          <a:custGeom>
            <a:avLst/>
            <a:gdLst/>
            <a:ahLst/>
            <a:cxnLst/>
            <a:rect l="l" t="t" r="r" b="b"/>
            <a:pathLst>
              <a:path w="2255520">
                <a:moveTo>
                  <a:pt x="0" y="0"/>
                </a:moveTo>
                <a:lnTo>
                  <a:pt x="2254922" y="0"/>
                </a:lnTo>
              </a:path>
            </a:pathLst>
          </a:custGeom>
          <a:ln w="259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262844" y="4727687"/>
            <a:ext cx="172720" cy="260985"/>
          </a:xfrm>
          <a:custGeom>
            <a:avLst/>
            <a:gdLst/>
            <a:ahLst/>
            <a:cxnLst/>
            <a:rect l="l" t="t" r="r" b="b"/>
            <a:pathLst>
              <a:path w="172720" h="260985">
                <a:moveTo>
                  <a:pt x="57505" y="0"/>
                </a:moveTo>
                <a:lnTo>
                  <a:pt x="0" y="260908"/>
                </a:lnTo>
                <a:lnTo>
                  <a:pt x="172516" y="57557"/>
                </a:lnTo>
                <a:lnTo>
                  <a:pt x="99138" y="57557"/>
                </a:lnTo>
                <a:lnTo>
                  <a:pt x="575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371871" y="4388437"/>
            <a:ext cx="203835" cy="401955"/>
          </a:xfrm>
          <a:custGeom>
            <a:avLst/>
            <a:gdLst/>
            <a:ahLst/>
            <a:cxnLst/>
            <a:rect l="l" t="t" r="r" b="b"/>
            <a:pathLst>
              <a:path w="203835" h="401954">
                <a:moveTo>
                  <a:pt x="0" y="401598"/>
                </a:moveTo>
                <a:lnTo>
                  <a:pt x="203481" y="0"/>
                </a:lnTo>
              </a:path>
            </a:pathLst>
          </a:custGeom>
          <a:ln w="5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351835" y="4363201"/>
            <a:ext cx="224790" cy="427355"/>
          </a:xfrm>
          <a:custGeom>
            <a:avLst/>
            <a:gdLst/>
            <a:ahLst/>
            <a:cxnLst/>
            <a:rect l="l" t="t" r="r" b="b"/>
            <a:pathLst>
              <a:path w="224789" h="427354">
                <a:moveTo>
                  <a:pt x="198537" y="0"/>
                </a:moveTo>
                <a:lnTo>
                  <a:pt x="0" y="416912"/>
                </a:lnTo>
                <a:lnTo>
                  <a:pt x="26020" y="427147"/>
                </a:lnTo>
                <a:lnTo>
                  <a:pt x="224558" y="10209"/>
                </a:lnTo>
                <a:lnTo>
                  <a:pt x="198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229801" y="3419914"/>
            <a:ext cx="6055995" cy="0"/>
          </a:xfrm>
          <a:custGeom>
            <a:avLst/>
            <a:gdLst/>
            <a:ahLst/>
            <a:cxnLst/>
            <a:rect l="l" t="t" r="r" b="b"/>
            <a:pathLst>
              <a:path w="6055995">
                <a:moveTo>
                  <a:pt x="0" y="0"/>
                </a:moveTo>
                <a:lnTo>
                  <a:pt x="6055861" y="0"/>
                </a:lnTo>
              </a:path>
            </a:pathLst>
          </a:custGeom>
          <a:ln w="259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073060" y="2685187"/>
            <a:ext cx="840740" cy="500380"/>
          </a:xfrm>
          <a:custGeom>
            <a:avLst/>
            <a:gdLst/>
            <a:ahLst/>
            <a:cxnLst/>
            <a:rect l="l" t="t" r="r" b="b"/>
            <a:pathLst>
              <a:path w="840739" h="500380">
                <a:moveTo>
                  <a:pt x="0" y="500070"/>
                </a:moveTo>
                <a:lnTo>
                  <a:pt x="840570" y="500070"/>
                </a:lnTo>
                <a:lnTo>
                  <a:pt x="840570" y="0"/>
                </a:lnTo>
                <a:lnTo>
                  <a:pt x="0" y="0"/>
                </a:lnTo>
                <a:lnTo>
                  <a:pt x="0" y="500070"/>
                </a:lnTo>
                <a:close/>
              </a:path>
            </a:pathLst>
          </a:custGeom>
          <a:ln w="25929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047149" y="3701345"/>
            <a:ext cx="1180465" cy="448309"/>
          </a:xfrm>
          <a:custGeom>
            <a:avLst/>
            <a:gdLst/>
            <a:ahLst/>
            <a:cxnLst/>
            <a:rect l="l" t="t" r="r" b="b"/>
            <a:pathLst>
              <a:path w="1180464" h="448310">
                <a:moveTo>
                  <a:pt x="0" y="448268"/>
                </a:moveTo>
                <a:lnTo>
                  <a:pt x="1179957" y="448268"/>
                </a:lnTo>
                <a:lnTo>
                  <a:pt x="1179957" y="0"/>
                </a:lnTo>
                <a:lnTo>
                  <a:pt x="0" y="0"/>
                </a:lnTo>
                <a:lnTo>
                  <a:pt x="0" y="448268"/>
                </a:lnTo>
                <a:close/>
              </a:path>
            </a:pathLst>
          </a:custGeom>
          <a:ln w="25932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863998" y="4937532"/>
            <a:ext cx="40576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4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300" b="1" spc="5" dirty="0">
                <a:latin typeface="Times New Roman" panose="02020503050405090304"/>
                <a:cs typeface="Times New Roman" panose="02020503050405090304"/>
              </a:rPr>
              <a:t>H</a:t>
            </a:r>
            <a:endParaRPr sz="23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835655" y="6224378"/>
            <a:ext cx="5651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b="1" spc="30" dirty="0">
                <a:latin typeface="Times New Roman" panose="02020503050405090304"/>
                <a:cs typeface="Times New Roman" panose="02020503050405090304"/>
              </a:rPr>
              <a:t>CO</a:t>
            </a:r>
            <a:r>
              <a:rPr sz="2250" b="1" spc="44" baseline="-17000" dirty="0">
                <a:latin typeface="Times New Roman" panose="02020503050405090304"/>
                <a:cs typeface="Times New Roman" panose="02020503050405090304"/>
              </a:rPr>
              <a:t>2</a:t>
            </a:r>
            <a:endParaRPr sz="2250" baseline="-17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285245" y="4535556"/>
            <a:ext cx="3784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b="1" spc="30" dirty="0"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250" b="1" spc="44" baseline="-17000" dirty="0">
                <a:latin typeface="Times New Roman" panose="02020503050405090304"/>
                <a:cs typeface="Times New Roman" panose="02020503050405090304"/>
              </a:rPr>
              <a:t>2</a:t>
            </a:r>
            <a:endParaRPr sz="2250" baseline="-17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76674" y="5453190"/>
            <a:ext cx="5791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b="1" spc="30" dirty="0">
                <a:latin typeface="Times New Roman" panose="02020503050405090304"/>
                <a:cs typeface="Times New Roman" panose="02020503050405090304"/>
              </a:rPr>
              <a:t>H</a:t>
            </a:r>
            <a:r>
              <a:rPr sz="2250" b="1" spc="44" baseline="-170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000" b="1" spc="30" dirty="0">
                <a:latin typeface="Times New Roman" panose="02020503050405090304"/>
                <a:cs typeface="Times New Roman" panose="02020503050405090304"/>
              </a:rPr>
              <a:t>O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00122" y="3796077"/>
            <a:ext cx="119253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35" dirty="0">
                <a:solidFill>
                  <a:srgbClr val="FF0000"/>
                </a:solidFill>
                <a:latin typeface="宋体"/>
                <a:cs typeface="宋体"/>
              </a:rPr>
              <a:t>乙</a:t>
            </a:r>
            <a:r>
              <a:rPr sz="2300" spc="80" dirty="0">
                <a:solidFill>
                  <a:srgbClr val="FF0000"/>
                </a:solidFill>
                <a:latin typeface="宋体"/>
                <a:cs typeface="宋体"/>
              </a:rPr>
              <a:t>酰</a:t>
            </a:r>
            <a:r>
              <a:rPr sz="2300" b="1" spc="20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300" b="1" spc="-4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300" b="1" spc="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A</a:t>
            </a:r>
            <a:endParaRPr sz="23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061961" y="3796077"/>
            <a:ext cx="98425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20" dirty="0"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300" b="1" spc="-10" dirty="0"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300" b="1" spc="2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2300" b="1" spc="-10" dirty="0">
                <a:latin typeface="Times New Roman" panose="02020503050405090304"/>
                <a:cs typeface="Times New Roman" panose="02020503050405090304"/>
              </a:rPr>
              <a:t>S</a:t>
            </a:r>
            <a:r>
              <a:rPr sz="2300" b="1" spc="5" dirty="0">
                <a:latin typeface="Times New Roman" panose="02020503050405090304"/>
                <a:cs typeface="Times New Roman" panose="02020503050405090304"/>
              </a:rPr>
              <a:t>H</a:t>
            </a:r>
            <a:endParaRPr sz="23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584771" y="2440982"/>
            <a:ext cx="315404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49375" algn="l"/>
              </a:tabLst>
            </a:pPr>
            <a:r>
              <a:rPr sz="2300" spc="35" dirty="0">
                <a:solidFill>
                  <a:srgbClr val="0000FF"/>
                </a:solidFill>
                <a:latin typeface="宋体"/>
                <a:cs typeface="宋体"/>
              </a:rPr>
              <a:t>葡</a:t>
            </a:r>
            <a:r>
              <a:rPr sz="2300" spc="75" dirty="0">
                <a:solidFill>
                  <a:srgbClr val="0000FF"/>
                </a:solidFill>
                <a:latin typeface="宋体"/>
                <a:cs typeface="宋体"/>
              </a:rPr>
              <a:t>萄</a:t>
            </a:r>
            <a:r>
              <a:rPr sz="2300" spc="5" dirty="0">
                <a:solidFill>
                  <a:srgbClr val="0000FF"/>
                </a:solidFill>
                <a:latin typeface="宋体"/>
                <a:cs typeface="宋体"/>
              </a:rPr>
              <a:t>糖	</a:t>
            </a:r>
            <a:r>
              <a:rPr sz="2300" spc="35" dirty="0">
                <a:solidFill>
                  <a:srgbClr val="0000FF"/>
                </a:solidFill>
                <a:latin typeface="宋体"/>
                <a:cs typeface="宋体"/>
              </a:rPr>
              <a:t>甘</a:t>
            </a:r>
            <a:r>
              <a:rPr sz="2300" spc="75" dirty="0">
                <a:solidFill>
                  <a:srgbClr val="0000FF"/>
                </a:solidFill>
                <a:latin typeface="宋体"/>
                <a:cs typeface="宋体"/>
              </a:rPr>
              <a:t>油</a:t>
            </a:r>
            <a:r>
              <a:rPr sz="2300" spc="35" dirty="0">
                <a:solidFill>
                  <a:srgbClr val="0000FF"/>
                </a:solidFill>
                <a:latin typeface="宋体"/>
                <a:cs typeface="宋体"/>
              </a:rPr>
              <a:t>、</a:t>
            </a:r>
            <a:r>
              <a:rPr sz="2300" spc="80" dirty="0">
                <a:solidFill>
                  <a:srgbClr val="0000FF"/>
                </a:solidFill>
                <a:latin typeface="宋体"/>
                <a:cs typeface="宋体"/>
              </a:rPr>
              <a:t>脂</a:t>
            </a:r>
            <a:r>
              <a:rPr sz="2300" spc="35" dirty="0">
                <a:solidFill>
                  <a:srgbClr val="0000FF"/>
                </a:solidFill>
                <a:latin typeface="宋体"/>
                <a:cs typeface="宋体"/>
              </a:rPr>
              <a:t>肪</a:t>
            </a:r>
            <a:r>
              <a:rPr sz="2300" spc="5" dirty="0">
                <a:solidFill>
                  <a:srgbClr val="0000FF"/>
                </a:solidFill>
                <a:latin typeface="宋体"/>
                <a:cs typeface="宋体"/>
              </a:rPr>
              <a:t>酸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302131" y="2440982"/>
            <a:ext cx="91948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35" dirty="0">
                <a:solidFill>
                  <a:srgbClr val="0000FF"/>
                </a:solidFill>
                <a:latin typeface="宋体"/>
                <a:cs typeface="宋体"/>
              </a:rPr>
              <a:t>氨</a:t>
            </a:r>
            <a:r>
              <a:rPr sz="2300" spc="80" dirty="0">
                <a:solidFill>
                  <a:srgbClr val="0000FF"/>
                </a:solidFill>
                <a:latin typeface="宋体"/>
                <a:cs typeface="宋体"/>
              </a:rPr>
              <a:t>基</a:t>
            </a:r>
            <a:r>
              <a:rPr sz="2300" spc="5" dirty="0">
                <a:solidFill>
                  <a:srgbClr val="0000FF"/>
                </a:solidFill>
                <a:latin typeface="宋体"/>
                <a:cs typeface="宋体"/>
              </a:rPr>
              <a:t>酸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814820" y="1576582"/>
            <a:ext cx="61595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30" dirty="0">
                <a:latin typeface="宋体"/>
                <a:cs typeface="宋体"/>
              </a:rPr>
              <a:t>糖</a:t>
            </a:r>
            <a:r>
              <a:rPr sz="2300" spc="5" dirty="0">
                <a:latin typeface="宋体"/>
                <a:cs typeface="宋体"/>
              </a:rPr>
              <a:t>原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573581" y="1576582"/>
            <a:ext cx="62230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80" dirty="0">
                <a:latin typeface="宋体"/>
                <a:cs typeface="宋体"/>
              </a:rPr>
              <a:t>脂</a:t>
            </a:r>
            <a:r>
              <a:rPr sz="2300" spc="5" dirty="0">
                <a:latin typeface="宋体"/>
                <a:cs typeface="宋体"/>
              </a:rPr>
              <a:t>肪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187120" y="1576582"/>
            <a:ext cx="91948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80" dirty="0">
                <a:latin typeface="宋体"/>
                <a:cs typeface="宋体"/>
              </a:rPr>
              <a:t>蛋</a:t>
            </a:r>
            <a:r>
              <a:rPr sz="2300" spc="35" dirty="0">
                <a:latin typeface="宋体"/>
                <a:cs typeface="宋体"/>
              </a:rPr>
              <a:t>白</a:t>
            </a:r>
            <a:r>
              <a:rPr sz="2300" spc="5" dirty="0">
                <a:latin typeface="宋体"/>
                <a:cs typeface="宋体"/>
              </a:rPr>
              <a:t>质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106483" y="5119762"/>
            <a:ext cx="151955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35" dirty="0">
                <a:solidFill>
                  <a:srgbClr val="FF00FF"/>
                </a:solidFill>
                <a:latin typeface="宋体"/>
                <a:cs typeface="宋体"/>
              </a:rPr>
              <a:t>三</a:t>
            </a:r>
            <a:r>
              <a:rPr sz="2300" spc="75" dirty="0">
                <a:solidFill>
                  <a:srgbClr val="FF00FF"/>
                </a:solidFill>
                <a:latin typeface="宋体"/>
                <a:cs typeface="宋体"/>
              </a:rPr>
              <a:t>羧</a:t>
            </a:r>
            <a:r>
              <a:rPr sz="2300" spc="35" dirty="0">
                <a:solidFill>
                  <a:srgbClr val="FF00FF"/>
                </a:solidFill>
                <a:latin typeface="宋体"/>
                <a:cs typeface="宋体"/>
              </a:rPr>
              <a:t>酸</a:t>
            </a:r>
            <a:r>
              <a:rPr sz="2300" spc="80" dirty="0">
                <a:solidFill>
                  <a:srgbClr val="FF00FF"/>
                </a:solidFill>
                <a:latin typeface="宋体"/>
                <a:cs typeface="宋体"/>
              </a:rPr>
              <a:t>循</a:t>
            </a:r>
            <a:r>
              <a:rPr sz="2300" spc="5" dirty="0">
                <a:solidFill>
                  <a:srgbClr val="FF00FF"/>
                </a:solidFill>
                <a:latin typeface="宋体"/>
                <a:cs typeface="宋体"/>
              </a:rPr>
              <a:t>环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28143" y="1821396"/>
            <a:ext cx="616585" cy="72707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210"/>
              </a:spcBef>
            </a:pPr>
            <a:r>
              <a:rPr sz="2300" spc="35" dirty="0">
                <a:latin typeface="宋体"/>
                <a:cs typeface="宋体"/>
              </a:rPr>
              <a:t>第</a:t>
            </a:r>
            <a:r>
              <a:rPr sz="2300" spc="5" dirty="0">
                <a:latin typeface="宋体"/>
                <a:cs typeface="宋体"/>
              </a:rPr>
              <a:t>一 </a:t>
            </a:r>
            <a:r>
              <a:rPr sz="2300" spc="35" dirty="0">
                <a:latin typeface="宋体"/>
                <a:cs typeface="宋体"/>
              </a:rPr>
              <a:t>阶</a:t>
            </a:r>
            <a:r>
              <a:rPr sz="2300" spc="5" dirty="0">
                <a:latin typeface="宋体"/>
                <a:cs typeface="宋体"/>
              </a:rPr>
              <a:t>段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664832" y="3040775"/>
            <a:ext cx="616585" cy="72707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210"/>
              </a:spcBef>
            </a:pPr>
            <a:r>
              <a:rPr sz="2300" spc="35" dirty="0">
                <a:latin typeface="宋体"/>
                <a:cs typeface="宋体"/>
              </a:rPr>
              <a:t>第</a:t>
            </a:r>
            <a:r>
              <a:rPr sz="2300" spc="5" dirty="0">
                <a:latin typeface="宋体"/>
                <a:cs typeface="宋体"/>
              </a:rPr>
              <a:t>二 </a:t>
            </a:r>
            <a:r>
              <a:rPr sz="2300" spc="35" dirty="0">
                <a:latin typeface="宋体"/>
                <a:cs typeface="宋体"/>
              </a:rPr>
              <a:t>阶</a:t>
            </a:r>
            <a:r>
              <a:rPr sz="2300" spc="5" dirty="0">
                <a:latin typeface="宋体"/>
                <a:cs typeface="宋体"/>
              </a:rPr>
              <a:t>段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816012" y="4765512"/>
            <a:ext cx="616585" cy="72707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210"/>
              </a:spcBef>
            </a:pPr>
            <a:r>
              <a:rPr sz="2300" spc="35" dirty="0">
                <a:latin typeface="宋体"/>
                <a:cs typeface="宋体"/>
              </a:rPr>
              <a:t>第</a:t>
            </a:r>
            <a:r>
              <a:rPr sz="2300" spc="5" dirty="0">
                <a:latin typeface="宋体"/>
                <a:cs typeface="宋体"/>
              </a:rPr>
              <a:t>三 </a:t>
            </a:r>
            <a:r>
              <a:rPr sz="2300" spc="35" dirty="0">
                <a:latin typeface="宋体"/>
                <a:cs typeface="宋体"/>
              </a:rPr>
              <a:t>阶</a:t>
            </a:r>
            <a:r>
              <a:rPr sz="2300" spc="5" dirty="0">
                <a:latin typeface="宋体"/>
                <a:cs typeface="宋体"/>
              </a:rPr>
              <a:t>段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224515" y="5197790"/>
            <a:ext cx="151955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35" dirty="0">
                <a:solidFill>
                  <a:srgbClr val="FF00FF"/>
                </a:solidFill>
                <a:latin typeface="宋体"/>
                <a:cs typeface="宋体"/>
              </a:rPr>
              <a:t>氧</a:t>
            </a:r>
            <a:r>
              <a:rPr sz="2300" spc="75" dirty="0">
                <a:solidFill>
                  <a:srgbClr val="FF00FF"/>
                </a:solidFill>
                <a:latin typeface="宋体"/>
                <a:cs typeface="宋体"/>
              </a:rPr>
              <a:t>化</a:t>
            </a:r>
            <a:r>
              <a:rPr sz="2300" spc="35" dirty="0">
                <a:solidFill>
                  <a:srgbClr val="FF00FF"/>
                </a:solidFill>
                <a:latin typeface="宋体"/>
                <a:cs typeface="宋体"/>
              </a:rPr>
              <a:t>磷</a:t>
            </a:r>
            <a:r>
              <a:rPr sz="2300" spc="75" dirty="0">
                <a:solidFill>
                  <a:srgbClr val="FF00FF"/>
                </a:solidFill>
                <a:latin typeface="宋体"/>
                <a:cs typeface="宋体"/>
              </a:rPr>
              <a:t>酸</a:t>
            </a:r>
            <a:r>
              <a:rPr sz="2300" spc="5" dirty="0">
                <a:solidFill>
                  <a:srgbClr val="FF00FF"/>
                </a:solidFill>
                <a:latin typeface="宋体"/>
                <a:cs typeface="宋体"/>
              </a:rPr>
              <a:t>化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193551" y="3728466"/>
            <a:ext cx="2012314" cy="11125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35"/>
              </a:spcBef>
            </a:pPr>
            <a:r>
              <a:rPr sz="2400" spc="95" dirty="0">
                <a:latin typeface="宋体"/>
                <a:cs typeface="宋体"/>
              </a:rPr>
              <a:t>丙</a:t>
            </a:r>
            <a:r>
              <a:rPr sz="2400" spc="100" dirty="0">
                <a:latin typeface="宋体"/>
                <a:cs typeface="宋体"/>
              </a:rPr>
              <a:t>酮</a:t>
            </a:r>
            <a:r>
              <a:rPr sz="2400" spc="30" dirty="0">
                <a:latin typeface="宋体"/>
                <a:cs typeface="宋体"/>
              </a:rPr>
              <a:t>酸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2300" b="1" dirty="0">
                <a:latin typeface="Times New Roman" panose="02020503050405090304"/>
                <a:cs typeface="Times New Roman" panose="02020503050405090304"/>
              </a:rPr>
              <a:t>ATP	ADP </a:t>
            </a:r>
            <a:r>
              <a:rPr sz="2300" b="1" spc="5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300" b="1" spc="-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300" b="1" spc="15" dirty="0">
                <a:latin typeface="Times New Roman" panose="02020503050405090304"/>
                <a:cs typeface="Times New Roman" panose="02020503050405090304"/>
              </a:rPr>
              <a:t>Pi</a:t>
            </a:r>
            <a:endParaRPr sz="23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161962" y="2831980"/>
            <a:ext cx="422909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spc="3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b="1" spc="25" dirty="0">
                <a:latin typeface="Times New Roman" panose="02020503050405090304"/>
                <a:cs typeface="Times New Roman" panose="02020503050405090304"/>
              </a:rPr>
              <a:t>H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208942" y="2867084"/>
            <a:ext cx="628015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5"/>
              </a:lnSpc>
            </a:pPr>
            <a:r>
              <a:rPr sz="2400" spc="100" dirty="0">
                <a:solidFill>
                  <a:srgbClr val="00FF00"/>
                </a:solidFill>
                <a:latin typeface="宋体"/>
                <a:cs typeface="宋体"/>
              </a:rPr>
              <a:t>胞</a:t>
            </a:r>
            <a:r>
              <a:rPr sz="2400" spc="30" dirty="0">
                <a:solidFill>
                  <a:srgbClr val="00FF00"/>
                </a:solidFill>
                <a:latin typeface="宋体"/>
                <a:cs typeface="宋体"/>
              </a:rPr>
              <a:t>液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182399" y="3836466"/>
            <a:ext cx="94615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5"/>
              </a:lnSpc>
            </a:pPr>
            <a:r>
              <a:rPr sz="2400" spc="100" dirty="0">
                <a:solidFill>
                  <a:srgbClr val="00FFFF"/>
                </a:solidFill>
                <a:latin typeface="宋体"/>
                <a:cs typeface="宋体"/>
              </a:rPr>
              <a:t>线粒</a:t>
            </a:r>
            <a:r>
              <a:rPr sz="2400" spc="30" dirty="0">
                <a:solidFill>
                  <a:srgbClr val="00FFFF"/>
                </a:solidFill>
                <a:latin typeface="宋体"/>
                <a:cs typeface="宋体"/>
              </a:rPr>
              <a:t>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539495" y="1342644"/>
            <a:ext cx="8353425" cy="5326380"/>
          </a:xfrm>
          <a:custGeom>
            <a:avLst/>
            <a:gdLst/>
            <a:ahLst/>
            <a:cxnLst/>
            <a:rect l="l" t="t" r="r" b="b"/>
            <a:pathLst>
              <a:path w="8353425" h="5326380">
                <a:moveTo>
                  <a:pt x="0" y="5326380"/>
                </a:moveTo>
                <a:lnTo>
                  <a:pt x="8353044" y="5326380"/>
                </a:lnTo>
                <a:lnTo>
                  <a:pt x="8353044" y="0"/>
                </a:lnTo>
                <a:lnTo>
                  <a:pt x="0" y="0"/>
                </a:lnTo>
                <a:lnTo>
                  <a:pt x="0" y="53263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45236" y="536448"/>
            <a:ext cx="553212" cy="495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27532" y="2670048"/>
            <a:ext cx="1303020" cy="596265"/>
          </a:xfrm>
          <a:custGeom>
            <a:avLst/>
            <a:gdLst/>
            <a:ahLst/>
            <a:cxnLst/>
            <a:rect l="l" t="t" r="r" b="b"/>
            <a:pathLst>
              <a:path w="1303020" h="596264">
                <a:moveTo>
                  <a:pt x="0" y="595884"/>
                </a:moveTo>
                <a:lnTo>
                  <a:pt x="1303020" y="595884"/>
                </a:lnTo>
                <a:lnTo>
                  <a:pt x="1303020" y="0"/>
                </a:lnTo>
                <a:lnTo>
                  <a:pt x="0" y="0"/>
                </a:lnTo>
                <a:lnTo>
                  <a:pt x="0" y="5958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1159560" y="2713101"/>
            <a:ext cx="638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00"/>
                </a:solidFill>
                <a:latin typeface="黑体"/>
                <a:cs typeface="黑体"/>
              </a:rPr>
              <a:t>胞液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27532" y="3625596"/>
            <a:ext cx="1442085" cy="596265"/>
          </a:xfrm>
          <a:custGeom>
            <a:avLst/>
            <a:gdLst/>
            <a:ahLst/>
            <a:cxnLst/>
            <a:rect l="l" t="t" r="r" b="b"/>
            <a:pathLst>
              <a:path w="1442085" h="596264">
                <a:moveTo>
                  <a:pt x="0" y="595883"/>
                </a:moveTo>
                <a:lnTo>
                  <a:pt x="1441704" y="595883"/>
                </a:lnTo>
                <a:lnTo>
                  <a:pt x="1441704" y="0"/>
                </a:lnTo>
                <a:lnTo>
                  <a:pt x="0" y="0"/>
                </a:lnTo>
                <a:lnTo>
                  <a:pt x="0" y="5958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1075740" y="3669029"/>
            <a:ext cx="945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00"/>
                </a:solidFill>
                <a:latin typeface="黑体"/>
                <a:cs typeface="黑体"/>
              </a:rPr>
              <a:t>线粒体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187958" y="3358134"/>
            <a:ext cx="6121400" cy="0"/>
          </a:xfrm>
          <a:custGeom>
            <a:avLst/>
            <a:gdLst/>
            <a:ahLst/>
            <a:cxnLst/>
            <a:rect l="l" t="t" r="r" b="b"/>
            <a:pathLst>
              <a:path w="6121400">
                <a:moveTo>
                  <a:pt x="0" y="0"/>
                </a:moveTo>
                <a:lnTo>
                  <a:pt x="6121399" y="0"/>
                </a:lnTo>
              </a:path>
            </a:pathLst>
          </a:custGeom>
          <a:ln w="28956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1283995"/>
            <a:ext cx="851154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571500">
              <a:lnSpc>
                <a:spcPct val="150000"/>
              </a:lnSpc>
              <a:spcBef>
                <a:spcPts val="100"/>
              </a:spcBef>
            </a:pPr>
            <a:r>
              <a:rPr sz="2800" b="1" spc="5" dirty="0">
                <a:latin typeface="黑体"/>
                <a:cs typeface="黑体"/>
              </a:rPr>
              <a:t>是氧化磷酸</a:t>
            </a:r>
            <a:r>
              <a:rPr sz="2800" b="1" spc="-10" dirty="0">
                <a:latin typeface="黑体"/>
                <a:cs typeface="黑体"/>
              </a:rPr>
              <a:t>化</a:t>
            </a:r>
            <a:r>
              <a:rPr sz="2800" b="1" spc="5" dirty="0">
                <a:latin typeface="黑体"/>
                <a:cs typeface="黑体"/>
              </a:rPr>
              <a:t>，</a:t>
            </a:r>
            <a:r>
              <a:rPr sz="2800" b="1" spc="10" dirty="0">
                <a:latin typeface="黑体"/>
                <a:cs typeface="黑体"/>
              </a:rPr>
              <a:t>是</a:t>
            </a:r>
            <a:r>
              <a:rPr sz="2800" b="1" spc="-10" dirty="0"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800" b="1" spc="5" dirty="0">
                <a:latin typeface="黑体"/>
                <a:cs typeface="黑体"/>
              </a:rPr>
              <a:t>、</a:t>
            </a:r>
            <a:r>
              <a:rPr sz="2800" b="1" spc="-215" dirty="0">
                <a:latin typeface="Times New Roman" panose="02020503050405090304"/>
                <a:cs typeface="Times New Roman" panose="02020503050405090304"/>
              </a:rPr>
              <a:t>F</a:t>
            </a:r>
            <a:r>
              <a:rPr sz="2800" b="1" spc="-5" dirty="0">
                <a:latin typeface="Times New Roman" panose="02020503050405090304"/>
                <a:cs typeface="Times New Roman" panose="02020503050405090304"/>
              </a:rPr>
              <a:t>AD</a:t>
            </a:r>
            <a:r>
              <a:rPr sz="2800" b="1" spc="-15" dirty="0">
                <a:latin typeface="Times New Roman" panose="02020503050405090304"/>
                <a:cs typeface="Times New Roman" panose="02020503050405090304"/>
              </a:rPr>
              <a:t>H</a:t>
            </a:r>
            <a:r>
              <a:rPr sz="2775" b="1" spc="15" baseline="-210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800" b="1" spc="5" dirty="0">
                <a:latin typeface="黑体"/>
                <a:cs typeface="黑体"/>
              </a:rPr>
              <a:t>上的电子通</a:t>
            </a:r>
            <a:r>
              <a:rPr sz="2800" b="1" spc="-5" dirty="0">
                <a:latin typeface="黑体"/>
                <a:cs typeface="黑体"/>
              </a:rPr>
              <a:t>过</a:t>
            </a:r>
            <a:r>
              <a:rPr sz="2800" b="1" spc="-15" dirty="0">
                <a:latin typeface="黑体"/>
                <a:cs typeface="黑体"/>
              </a:rPr>
              <a:t>一 </a:t>
            </a:r>
            <a:r>
              <a:rPr sz="2800" b="1" spc="5" dirty="0">
                <a:latin typeface="黑体"/>
                <a:cs typeface="黑体"/>
              </a:rPr>
              <a:t>系列的电子</a:t>
            </a:r>
            <a:r>
              <a:rPr sz="2800" b="1" spc="-10" dirty="0">
                <a:latin typeface="黑体"/>
                <a:cs typeface="黑体"/>
              </a:rPr>
              <a:t>传</a:t>
            </a:r>
            <a:r>
              <a:rPr sz="2800" b="1" spc="5" dirty="0">
                <a:latin typeface="黑体"/>
                <a:cs typeface="黑体"/>
              </a:rPr>
              <a:t>递</a:t>
            </a:r>
            <a:r>
              <a:rPr sz="2800" b="1" spc="-10" dirty="0">
                <a:latin typeface="黑体"/>
                <a:cs typeface="黑体"/>
              </a:rPr>
              <a:t>体传</a:t>
            </a:r>
            <a:r>
              <a:rPr sz="2800" b="1" spc="5" dirty="0">
                <a:latin typeface="黑体"/>
                <a:cs typeface="黑体"/>
              </a:rPr>
              <a:t>递</a:t>
            </a:r>
            <a:r>
              <a:rPr sz="2800" b="1" spc="20" dirty="0">
                <a:latin typeface="黑体"/>
                <a:cs typeface="黑体"/>
              </a:rPr>
              <a:t>给</a:t>
            </a:r>
            <a:r>
              <a:rPr sz="2800" b="1" dirty="0"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775" b="1" baseline="-210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800" b="1" spc="5" dirty="0">
                <a:latin typeface="黑体"/>
                <a:cs typeface="黑体"/>
              </a:rPr>
              <a:t>生</a:t>
            </a:r>
            <a:r>
              <a:rPr sz="2800" b="1" spc="-10" dirty="0">
                <a:latin typeface="黑体"/>
                <a:cs typeface="黑体"/>
              </a:rPr>
              <a:t>成</a:t>
            </a:r>
            <a:r>
              <a:rPr sz="2800" b="1" spc="5" dirty="0">
                <a:latin typeface="黑体"/>
                <a:cs typeface="黑体"/>
              </a:rPr>
              <a:t>水</a:t>
            </a:r>
            <a:r>
              <a:rPr sz="2800" b="1" spc="-10" dirty="0">
                <a:latin typeface="黑体"/>
                <a:cs typeface="黑体"/>
              </a:rPr>
              <a:t>，并</a:t>
            </a:r>
            <a:r>
              <a:rPr sz="2800" b="1" spc="5" dirty="0">
                <a:latin typeface="黑体"/>
                <a:cs typeface="黑体"/>
              </a:rPr>
              <a:t>将</a:t>
            </a:r>
            <a:r>
              <a:rPr sz="2800" b="1" spc="-10" dirty="0">
                <a:latin typeface="黑体"/>
                <a:cs typeface="黑体"/>
              </a:rPr>
              <a:t>释</a:t>
            </a:r>
            <a:r>
              <a:rPr sz="2800" b="1" spc="5" dirty="0">
                <a:latin typeface="黑体"/>
                <a:cs typeface="黑体"/>
              </a:rPr>
              <a:t>放</a:t>
            </a:r>
            <a:r>
              <a:rPr sz="2800" b="1" spc="-10" dirty="0">
                <a:latin typeface="黑体"/>
                <a:cs typeface="黑体"/>
              </a:rPr>
              <a:t>的能</a:t>
            </a:r>
            <a:r>
              <a:rPr sz="2800" b="1" spc="-15" dirty="0">
                <a:latin typeface="黑体"/>
                <a:cs typeface="黑体"/>
              </a:rPr>
              <a:t>量 </a:t>
            </a:r>
            <a:r>
              <a:rPr sz="2800" b="1" spc="5" dirty="0">
                <a:latin typeface="黑体"/>
                <a:cs typeface="黑体"/>
              </a:rPr>
              <a:t>使</a:t>
            </a:r>
            <a:r>
              <a:rPr sz="2800" b="1" spc="-10" dirty="0">
                <a:latin typeface="Times New Roman" panose="02020503050405090304"/>
                <a:cs typeface="Times New Roman" panose="02020503050405090304"/>
              </a:rPr>
              <a:t>ADP</a:t>
            </a:r>
            <a:r>
              <a:rPr sz="2800" b="1" spc="5" dirty="0">
                <a:latin typeface="黑体"/>
                <a:cs typeface="黑体"/>
              </a:rPr>
              <a:t>磷酸化形</a:t>
            </a:r>
            <a:r>
              <a:rPr sz="2800" b="1" spc="10" dirty="0">
                <a:latin typeface="黑体"/>
                <a:cs typeface="黑体"/>
              </a:rPr>
              <a:t>成</a:t>
            </a:r>
            <a:r>
              <a:rPr sz="2800" b="1" spc="-80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800" b="1" spc="5" dirty="0">
                <a:latin typeface="黑体"/>
                <a:cs typeface="黑体"/>
              </a:rPr>
              <a:t>的过程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17673" y="499948"/>
            <a:ext cx="3237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FF"/>
                </a:solidFill>
              </a:rPr>
              <a:t>生物氧化</a:t>
            </a:r>
            <a:r>
              <a:rPr sz="3600" spc="-10" dirty="0">
                <a:solidFill>
                  <a:srgbClr val="0000FF"/>
                </a:solidFill>
              </a:rPr>
              <a:t>的实质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5910071" y="3573778"/>
            <a:ext cx="2769690" cy="316992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7347" y="3726167"/>
            <a:ext cx="9026651" cy="1973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623" y="3779520"/>
            <a:ext cx="9104376" cy="1840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8204" y="3717035"/>
            <a:ext cx="8928100" cy="1871980"/>
          </a:xfrm>
          <a:custGeom>
            <a:avLst/>
            <a:gdLst/>
            <a:ahLst/>
            <a:cxnLst/>
            <a:rect l="l" t="t" r="r" b="b"/>
            <a:pathLst>
              <a:path w="8928100" h="1871979">
                <a:moveTo>
                  <a:pt x="0" y="1871472"/>
                </a:moveTo>
                <a:lnTo>
                  <a:pt x="8927592" y="1871472"/>
                </a:lnTo>
                <a:lnTo>
                  <a:pt x="8927592" y="0"/>
                </a:lnTo>
                <a:lnTo>
                  <a:pt x="0" y="0"/>
                </a:lnTo>
                <a:lnTo>
                  <a:pt x="0" y="1871472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6639" y="3884421"/>
            <a:ext cx="87547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0000"/>
              <a:buFont typeface="Wingdings" panose="05000000000000000000"/>
              <a:buChar char="◼"/>
              <a:tabLst>
                <a:tab pos="355600" algn="l"/>
              </a:tabLst>
            </a:pPr>
            <a:r>
              <a:rPr sz="3000" b="1" spc="-5" dirty="0">
                <a:solidFill>
                  <a:srgbClr val="FFFFFF"/>
                </a:solidFill>
                <a:latin typeface="黑体"/>
                <a:cs typeface="黑体"/>
              </a:rPr>
              <a:t>还原当量是如何在呼吸链与氧结合生成水？</a:t>
            </a:r>
            <a:endParaRPr sz="3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Wingdings" panose="05000000000000000000"/>
              <a:buChar char="◼"/>
            </a:pPr>
            <a:endParaRPr sz="3100">
              <a:latin typeface="Times New Roman" panose="02020503050405090304"/>
              <a:cs typeface="Times New Roman" panose="02020503050405090304"/>
            </a:endParaRPr>
          </a:p>
          <a:p>
            <a:pPr marL="355600" indent="-342900">
              <a:lnSpc>
                <a:spcPct val="100000"/>
              </a:lnSpc>
              <a:buSzPct val="80000"/>
              <a:buFont typeface="Wingdings" panose="05000000000000000000"/>
              <a:buChar char="◼"/>
              <a:tabLst>
                <a:tab pos="355600" algn="l"/>
              </a:tabLst>
            </a:pPr>
            <a:r>
              <a:rPr sz="3000" b="1" dirty="0">
                <a:solidFill>
                  <a:srgbClr val="FFFFFF"/>
                </a:solidFill>
                <a:latin typeface="黑体"/>
                <a:cs typeface="黑体"/>
              </a:rPr>
              <a:t>氧化呼吸链的电子传递是如何</a:t>
            </a:r>
            <a:r>
              <a:rPr sz="3000" b="1" spc="-25" dirty="0">
                <a:solidFill>
                  <a:srgbClr val="FFFFFF"/>
                </a:solidFill>
                <a:latin typeface="黑体"/>
                <a:cs typeface="黑体"/>
              </a:rPr>
              <a:t>与</a:t>
            </a:r>
            <a:r>
              <a:rPr sz="3000" b="1" spc="-7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3000" b="1" spc="-5" dirty="0">
                <a:solidFill>
                  <a:srgbClr val="FFFFFF"/>
                </a:solidFill>
                <a:latin typeface="黑体"/>
                <a:cs typeface="黑体"/>
              </a:rPr>
              <a:t>偶联在一起</a:t>
            </a:r>
            <a:r>
              <a:rPr sz="3000" b="1" spc="-1689" dirty="0">
                <a:solidFill>
                  <a:srgbClr val="FFFFFF"/>
                </a:solidFill>
                <a:latin typeface="黑体"/>
                <a:cs typeface="黑体"/>
              </a:rPr>
              <a:t>？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05"/>
              </a:spcBef>
              <a:tabLst>
                <a:tab pos="2395220" algn="l"/>
              </a:tabLst>
            </a:pPr>
            <a:r>
              <a:rPr spc="-15" dirty="0"/>
              <a:t>第二节	呼吸</a:t>
            </a:r>
            <a:r>
              <a:rPr dirty="0"/>
              <a:t>链</a:t>
            </a:r>
            <a:r>
              <a:rPr spc="-15" dirty="0"/>
              <a:t>及氧化</a:t>
            </a:r>
            <a:r>
              <a:rPr dirty="0"/>
              <a:t>磷</a:t>
            </a:r>
            <a:r>
              <a:rPr spc="-15" dirty="0"/>
              <a:t>酸化</a:t>
            </a:r>
            <a:endParaRPr spc="-1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1840" y="2093976"/>
            <a:ext cx="2340864" cy="246583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0440" y="4947665"/>
            <a:ext cx="7995920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 indent="254000">
              <a:lnSpc>
                <a:spcPct val="150000"/>
              </a:lnSpc>
              <a:spcBef>
                <a:spcPts val="100"/>
              </a:spcBef>
            </a:pPr>
            <a:r>
              <a:rPr sz="2000" b="1" spc="15" dirty="0">
                <a:latin typeface="黑体"/>
                <a:cs typeface="黑体"/>
              </a:rPr>
              <a:t>生物</a:t>
            </a:r>
            <a:r>
              <a:rPr sz="2000" b="1" spc="5" dirty="0">
                <a:latin typeface="黑体"/>
                <a:cs typeface="黑体"/>
              </a:rPr>
              <a:t>氧</a:t>
            </a:r>
            <a:r>
              <a:rPr sz="2000" b="1" spc="-5" dirty="0">
                <a:latin typeface="黑体"/>
                <a:cs typeface="黑体"/>
              </a:rPr>
              <a:t>化</a:t>
            </a:r>
            <a:r>
              <a:rPr sz="2000" b="1" spc="5" dirty="0">
                <a:latin typeface="黑体"/>
                <a:cs typeface="黑体"/>
              </a:rPr>
              <a:t>过程主</a:t>
            </a:r>
            <a:r>
              <a:rPr sz="2000" b="1" spc="-5" dirty="0">
                <a:latin typeface="黑体"/>
                <a:cs typeface="黑体"/>
              </a:rPr>
              <a:t>要</a:t>
            </a:r>
            <a:r>
              <a:rPr sz="2000" b="1" spc="5" dirty="0">
                <a:latin typeface="黑体"/>
                <a:cs typeface="黑体"/>
              </a:rPr>
              <a:t>在线</a:t>
            </a:r>
            <a:r>
              <a:rPr sz="2000" b="1" spc="-5" dirty="0">
                <a:latin typeface="黑体"/>
                <a:cs typeface="黑体"/>
              </a:rPr>
              <a:t>粒</a:t>
            </a:r>
            <a:r>
              <a:rPr sz="2000" b="1" spc="5" dirty="0">
                <a:latin typeface="黑体"/>
                <a:cs typeface="黑体"/>
              </a:rPr>
              <a:t>体的内</a:t>
            </a:r>
            <a:r>
              <a:rPr sz="2000" b="1" spc="-5" dirty="0">
                <a:latin typeface="黑体"/>
                <a:cs typeface="黑体"/>
              </a:rPr>
              <a:t>膜</a:t>
            </a:r>
            <a:r>
              <a:rPr sz="2000" b="1" spc="5" dirty="0">
                <a:latin typeface="黑体"/>
                <a:cs typeface="黑体"/>
              </a:rPr>
              <a:t>上进</a:t>
            </a:r>
            <a:r>
              <a:rPr sz="2000" b="1" spc="-5" dirty="0">
                <a:latin typeface="黑体"/>
                <a:cs typeface="黑体"/>
              </a:rPr>
              <a:t>行</a:t>
            </a:r>
            <a:r>
              <a:rPr sz="2000" b="1" spc="5" dirty="0">
                <a:latin typeface="黑体"/>
                <a:cs typeface="黑体"/>
              </a:rPr>
              <a:t>，内膜</a:t>
            </a:r>
            <a:r>
              <a:rPr sz="2000" b="1" spc="-5" dirty="0">
                <a:latin typeface="黑体"/>
                <a:cs typeface="黑体"/>
              </a:rPr>
              <a:t>上</a:t>
            </a:r>
            <a:r>
              <a:rPr sz="2000" b="1" spc="5" dirty="0">
                <a:latin typeface="黑体"/>
                <a:cs typeface="黑体"/>
              </a:rPr>
              <a:t>分布</a:t>
            </a:r>
            <a:r>
              <a:rPr sz="2000" b="1" spc="-5" dirty="0">
                <a:latin typeface="黑体"/>
                <a:cs typeface="黑体"/>
              </a:rPr>
              <a:t>着</a:t>
            </a:r>
            <a:r>
              <a:rPr sz="2000" b="1" spc="5" dirty="0">
                <a:latin typeface="黑体"/>
                <a:cs typeface="黑体"/>
              </a:rPr>
              <a:t>许多的</a:t>
            </a:r>
            <a:r>
              <a:rPr sz="2000" b="1" spc="-5" dirty="0">
                <a:latin typeface="黑体"/>
                <a:cs typeface="黑体"/>
              </a:rPr>
              <a:t>酶和 </a:t>
            </a:r>
            <a:r>
              <a:rPr sz="2000" b="1" spc="5" dirty="0">
                <a:latin typeface="黑体"/>
                <a:cs typeface="黑体"/>
              </a:rPr>
              <a:t>电子传递</a:t>
            </a:r>
            <a:r>
              <a:rPr sz="2000" b="1" spc="-5" dirty="0">
                <a:latin typeface="黑体"/>
                <a:cs typeface="黑体"/>
              </a:rPr>
              <a:t>体，</a:t>
            </a:r>
            <a:r>
              <a:rPr sz="2000" b="1" spc="5" dirty="0">
                <a:latin typeface="黑体"/>
                <a:cs typeface="黑体"/>
              </a:rPr>
              <a:t>构成两</a:t>
            </a:r>
            <a:r>
              <a:rPr sz="2000" b="1" spc="25" dirty="0">
                <a:latin typeface="黑体"/>
                <a:cs typeface="黑体"/>
              </a:rPr>
              <a:t>条</a:t>
            </a:r>
            <a:r>
              <a:rPr sz="2000" b="1" spc="-5" dirty="0">
                <a:solidFill>
                  <a:srgbClr val="0000FF"/>
                </a:solidFill>
                <a:latin typeface="黑体"/>
                <a:cs typeface="黑体"/>
              </a:rPr>
              <a:t>呼吸</a:t>
            </a:r>
            <a:r>
              <a:rPr sz="2000" b="1" spc="5" dirty="0">
                <a:solidFill>
                  <a:srgbClr val="0000FF"/>
                </a:solidFill>
                <a:latin typeface="黑体"/>
                <a:cs typeface="黑体"/>
              </a:rPr>
              <a:t>链</a:t>
            </a:r>
            <a:r>
              <a:rPr sz="2000" b="1" spc="5" dirty="0">
                <a:latin typeface="黑体"/>
                <a:cs typeface="黑体"/>
              </a:rPr>
              <a:t>。内膜</a:t>
            </a:r>
            <a:r>
              <a:rPr sz="2000" b="1" spc="-5" dirty="0">
                <a:latin typeface="黑体"/>
                <a:cs typeface="黑体"/>
              </a:rPr>
              <a:t>上结</a:t>
            </a:r>
            <a:r>
              <a:rPr sz="2000" b="1" spc="5" dirty="0">
                <a:latin typeface="黑体"/>
                <a:cs typeface="黑体"/>
              </a:rPr>
              <a:t>合的颗粒</a:t>
            </a:r>
            <a:r>
              <a:rPr sz="2000" b="1" spc="-5" dirty="0">
                <a:latin typeface="黑体"/>
                <a:cs typeface="黑体"/>
              </a:rPr>
              <a:t>（内</a:t>
            </a:r>
            <a:r>
              <a:rPr sz="2000" b="1" spc="5" dirty="0">
                <a:latin typeface="黑体"/>
                <a:cs typeface="黑体"/>
              </a:rPr>
              <a:t>膜粒子）</a:t>
            </a:r>
            <a:r>
              <a:rPr sz="2000" b="1" spc="-5" dirty="0">
                <a:latin typeface="黑体"/>
                <a:cs typeface="黑体"/>
              </a:rPr>
              <a:t>具有</a:t>
            </a:r>
            <a:endParaRPr sz="2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Times New Roman" panose="02020503050405090304"/>
              <a:cs typeface="Times New Roman" panose="02020503050405090304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000" b="1" spc="-50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000" b="1" spc="15" dirty="0">
                <a:latin typeface="黑体"/>
                <a:cs typeface="黑体"/>
              </a:rPr>
              <a:t>合酶</a:t>
            </a:r>
            <a:r>
              <a:rPr sz="2000" b="1" spc="5" dirty="0">
                <a:latin typeface="黑体"/>
                <a:cs typeface="黑体"/>
              </a:rPr>
              <a:t>的活性</a:t>
            </a:r>
            <a:r>
              <a:rPr sz="2000" b="1" dirty="0">
                <a:latin typeface="Times New Roman" panose="02020503050405090304"/>
                <a:cs typeface="Times New Roman" panose="02020503050405090304"/>
              </a:rPr>
              <a:t>,</a:t>
            </a:r>
            <a:r>
              <a:rPr sz="20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spc="15" dirty="0">
                <a:latin typeface="黑体"/>
                <a:cs typeface="黑体"/>
              </a:rPr>
              <a:t>称之</a:t>
            </a:r>
            <a:r>
              <a:rPr sz="2000" b="1" spc="5" dirty="0">
                <a:latin typeface="黑体"/>
                <a:cs typeface="黑体"/>
              </a:rPr>
              <a:t>为</a:t>
            </a:r>
            <a:r>
              <a:rPr sz="2000" b="1" spc="-1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</a:t>
            </a:r>
            <a:r>
              <a:rPr sz="1950" b="1" spc="-22" baseline="-21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000" b="1" spc="-1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</a:t>
            </a:r>
            <a:r>
              <a:rPr sz="1950" b="1" spc="-22" baseline="-21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000" b="1" spc="-1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ATPase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82996" y="2089404"/>
            <a:ext cx="3244596" cy="247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" y="2093976"/>
            <a:ext cx="3233928" cy="2421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2742" y="457911"/>
            <a:ext cx="5071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00FF"/>
                </a:solidFill>
              </a:rPr>
              <a:t>一、</a:t>
            </a:r>
            <a:r>
              <a:rPr sz="3600" spc="-5" dirty="0">
                <a:solidFill>
                  <a:srgbClr val="0000FF"/>
                </a:solidFill>
              </a:rPr>
              <a:t>生物氧</a:t>
            </a:r>
            <a:r>
              <a:rPr sz="3600" spc="-10" dirty="0">
                <a:solidFill>
                  <a:srgbClr val="0000FF"/>
                </a:solidFill>
              </a:rPr>
              <a:t>化发生的部位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1724025" y="1386585"/>
            <a:ext cx="385000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008000"/>
                </a:solidFill>
                <a:latin typeface="黑体"/>
                <a:cs typeface="黑体"/>
              </a:rPr>
              <a:t>线粒体</a:t>
            </a:r>
            <a:r>
              <a:rPr sz="3000" b="1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3000" b="1" spc="-5" dirty="0">
                <a:solidFill>
                  <a:srgbClr val="008000"/>
                </a:solidFill>
                <a:latin typeface="黑体"/>
                <a:cs typeface="黑体"/>
              </a:rPr>
              <a:t>细胞的动力站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333197"/>
            <a:ext cx="3237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二、</a:t>
            </a:r>
            <a:r>
              <a:rPr sz="3600" spc="-5" dirty="0"/>
              <a:t>氧</a:t>
            </a:r>
            <a:r>
              <a:rPr sz="3600" spc="-10" dirty="0"/>
              <a:t>化呼吸链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2767" y="1062132"/>
            <a:ext cx="7763509" cy="5061585"/>
          </a:xfrm>
          <a:prstGeom prst="rect">
            <a:avLst/>
          </a:prstGeom>
        </p:spPr>
        <p:txBody>
          <a:bodyPr vert="horz" wrap="square" lIns="0" tIns="271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40"/>
              </a:spcBef>
            </a:pPr>
            <a:r>
              <a:rPr sz="2550" spc="-10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550" spc="204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000" b="1" spc="-5" dirty="0">
                <a:solidFill>
                  <a:srgbClr val="336600"/>
                </a:solidFill>
                <a:latin typeface="黑体"/>
                <a:cs typeface="黑体"/>
              </a:rPr>
              <a:t>定义</a:t>
            </a:r>
            <a:endParaRPr sz="3000">
              <a:latin typeface="黑体"/>
              <a:cs typeface="黑体"/>
            </a:endParaRPr>
          </a:p>
          <a:p>
            <a:pPr marL="330200" marR="17780" indent="714375" algn="just">
              <a:lnSpc>
                <a:spcPct val="150000"/>
              </a:lnSpc>
              <a:spcBef>
                <a:spcPts val="195"/>
              </a:spcBef>
            </a:pPr>
            <a:r>
              <a:rPr sz="2400" b="1" spc="95" dirty="0">
                <a:latin typeface="黑体"/>
                <a:cs typeface="黑体"/>
              </a:rPr>
              <a:t>指</a:t>
            </a:r>
            <a:r>
              <a:rPr sz="2400" b="1" spc="105" dirty="0">
                <a:latin typeface="黑体"/>
                <a:cs typeface="黑体"/>
              </a:rPr>
              <a:t>线</a:t>
            </a:r>
            <a:r>
              <a:rPr sz="2400" b="1" spc="95" dirty="0">
                <a:latin typeface="黑体"/>
                <a:cs typeface="黑体"/>
              </a:rPr>
              <a:t>粒</a:t>
            </a:r>
            <a:r>
              <a:rPr sz="2400" b="1" spc="105" dirty="0">
                <a:latin typeface="黑体"/>
                <a:cs typeface="黑体"/>
              </a:rPr>
              <a:t>体</a:t>
            </a:r>
            <a:r>
              <a:rPr sz="2400" b="1" spc="95" dirty="0">
                <a:latin typeface="黑体"/>
                <a:cs typeface="黑体"/>
              </a:rPr>
              <a:t>内</a:t>
            </a:r>
            <a:r>
              <a:rPr sz="2400" b="1" spc="105" dirty="0">
                <a:latin typeface="黑体"/>
                <a:cs typeface="黑体"/>
              </a:rPr>
              <a:t>膜</a:t>
            </a:r>
            <a:r>
              <a:rPr sz="2400" b="1" spc="95" dirty="0">
                <a:latin typeface="黑体"/>
                <a:cs typeface="黑体"/>
              </a:rPr>
              <a:t>中</a:t>
            </a:r>
            <a:r>
              <a:rPr sz="2400" b="1" spc="105" dirty="0">
                <a:latin typeface="黑体"/>
                <a:cs typeface="黑体"/>
              </a:rPr>
              <a:t>按</a:t>
            </a:r>
            <a:r>
              <a:rPr sz="2400" b="1" spc="95" dirty="0">
                <a:latin typeface="黑体"/>
                <a:cs typeface="黑体"/>
              </a:rPr>
              <a:t>一</a:t>
            </a:r>
            <a:r>
              <a:rPr sz="2400" b="1" spc="105" dirty="0">
                <a:latin typeface="黑体"/>
                <a:cs typeface="黑体"/>
              </a:rPr>
              <a:t>定</a:t>
            </a:r>
            <a:r>
              <a:rPr sz="2400" b="1" spc="95" dirty="0">
                <a:latin typeface="黑体"/>
                <a:cs typeface="黑体"/>
              </a:rPr>
              <a:t>顺</a:t>
            </a:r>
            <a:r>
              <a:rPr sz="2400" b="1" spc="105" dirty="0">
                <a:latin typeface="黑体"/>
                <a:cs typeface="黑体"/>
              </a:rPr>
              <a:t>序</a:t>
            </a:r>
            <a:r>
              <a:rPr sz="2400" b="1" spc="95" dirty="0">
                <a:latin typeface="黑体"/>
                <a:cs typeface="黑体"/>
              </a:rPr>
              <a:t>排列</a:t>
            </a:r>
            <a:r>
              <a:rPr sz="2400" b="1" spc="105" dirty="0">
                <a:latin typeface="黑体"/>
                <a:cs typeface="黑体"/>
              </a:rPr>
              <a:t>的一</a:t>
            </a:r>
            <a:r>
              <a:rPr sz="2400" b="1" spc="95" dirty="0">
                <a:latin typeface="黑体"/>
                <a:cs typeface="黑体"/>
              </a:rPr>
              <a:t>系列</a:t>
            </a:r>
            <a:r>
              <a:rPr sz="2400" b="1" spc="105" dirty="0">
                <a:latin typeface="黑体"/>
                <a:cs typeface="黑体"/>
              </a:rPr>
              <a:t>具有</a:t>
            </a:r>
            <a:r>
              <a:rPr sz="2400" b="1" spc="-10" dirty="0">
                <a:latin typeface="黑体"/>
                <a:cs typeface="黑体"/>
              </a:rPr>
              <a:t>电 </a:t>
            </a:r>
            <a:r>
              <a:rPr sz="2400" b="1" spc="20" dirty="0">
                <a:latin typeface="黑体"/>
                <a:cs typeface="黑体"/>
              </a:rPr>
              <a:t>子传</a:t>
            </a:r>
            <a:r>
              <a:rPr sz="2400" b="1" spc="5" dirty="0">
                <a:latin typeface="黑体"/>
                <a:cs typeface="黑体"/>
              </a:rPr>
              <a:t>递</a:t>
            </a:r>
            <a:r>
              <a:rPr sz="2400" b="1" spc="20" dirty="0">
                <a:latin typeface="黑体"/>
                <a:cs typeface="黑体"/>
              </a:rPr>
              <a:t>功</a:t>
            </a:r>
            <a:r>
              <a:rPr sz="2400" b="1" spc="5" dirty="0">
                <a:latin typeface="黑体"/>
                <a:cs typeface="黑体"/>
              </a:rPr>
              <a:t>能</a:t>
            </a:r>
            <a:r>
              <a:rPr sz="2400" b="1" spc="20" dirty="0">
                <a:latin typeface="黑体"/>
                <a:cs typeface="黑体"/>
              </a:rPr>
              <a:t>的酶</a:t>
            </a:r>
            <a:r>
              <a:rPr sz="2400" b="1" spc="5" dirty="0">
                <a:latin typeface="黑体"/>
                <a:cs typeface="黑体"/>
              </a:rPr>
              <a:t>复</a:t>
            </a:r>
            <a:r>
              <a:rPr sz="2400" b="1" spc="20" dirty="0">
                <a:latin typeface="黑体"/>
                <a:cs typeface="黑体"/>
              </a:rPr>
              <a:t>合</a:t>
            </a:r>
            <a:r>
              <a:rPr sz="2400" b="1" spc="35" dirty="0">
                <a:latin typeface="黑体"/>
                <a:cs typeface="黑体"/>
              </a:rPr>
              <a:t>体</a:t>
            </a:r>
            <a:r>
              <a:rPr sz="2400" b="1" spc="25" dirty="0">
                <a:latin typeface="黑体"/>
                <a:cs typeface="黑体"/>
              </a:rPr>
              <a:t>，</a:t>
            </a:r>
            <a:r>
              <a:rPr sz="2400" b="1" spc="20" dirty="0">
                <a:latin typeface="黑体"/>
                <a:cs typeface="黑体"/>
              </a:rPr>
              <a:t>可</a:t>
            </a:r>
            <a:r>
              <a:rPr sz="2400" b="1" spc="5" dirty="0">
                <a:latin typeface="黑体"/>
                <a:cs typeface="黑体"/>
              </a:rPr>
              <a:t>将</a:t>
            </a:r>
            <a:r>
              <a:rPr sz="2400" b="1" spc="20" dirty="0">
                <a:latin typeface="黑体"/>
                <a:cs typeface="黑体"/>
              </a:rPr>
              <a:t>代</a:t>
            </a:r>
            <a:r>
              <a:rPr sz="2400" b="1" spc="5" dirty="0">
                <a:latin typeface="黑体"/>
                <a:cs typeface="黑体"/>
              </a:rPr>
              <a:t>谢</a:t>
            </a:r>
            <a:r>
              <a:rPr sz="2400" b="1" spc="20" dirty="0">
                <a:latin typeface="黑体"/>
                <a:cs typeface="黑体"/>
              </a:rPr>
              <a:t>物脱</a:t>
            </a:r>
            <a:r>
              <a:rPr sz="2400" b="1" spc="5" dirty="0">
                <a:latin typeface="黑体"/>
                <a:cs typeface="黑体"/>
              </a:rPr>
              <a:t>下的</a:t>
            </a:r>
            <a:r>
              <a:rPr sz="2400" b="1" spc="20" dirty="0">
                <a:latin typeface="黑体"/>
                <a:cs typeface="黑体"/>
              </a:rPr>
              <a:t>成</a:t>
            </a:r>
            <a:r>
              <a:rPr sz="2400" b="1" spc="5" dirty="0">
                <a:latin typeface="黑体"/>
                <a:cs typeface="黑体"/>
              </a:rPr>
              <a:t>对</a:t>
            </a:r>
            <a:r>
              <a:rPr sz="2400" b="1" spc="20" dirty="0">
                <a:latin typeface="黑体"/>
                <a:cs typeface="黑体"/>
              </a:rPr>
              <a:t>氢</a:t>
            </a:r>
            <a:r>
              <a:rPr sz="2400" b="1" spc="5" dirty="0">
                <a:latin typeface="黑体"/>
                <a:cs typeface="黑体"/>
              </a:rPr>
              <a:t>原</a:t>
            </a:r>
            <a:r>
              <a:rPr sz="2400" b="1" spc="-10" dirty="0">
                <a:latin typeface="黑体"/>
                <a:cs typeface="黑体"/>
              </a:rPr>
              <a:t>子 </a:t>
            </a:r>
            <a:r>
              <a:rPr sz="2400" b="1" spc="20" dirty="0">
                <a:latin typeface="黑体"/>
                <a:cs typeface="黑体"/>
              </a:rPr>
              <a:t>通过</a:t>
            </a:r>
            <a:r>
              <a:rPr sz="2400" b="1" spc="10" dirty="0">
                <a:latin typeface="黑体"/>
                <a:cs typeface="黑体"/>
              </a:rPr>
              <a:t>连</a:t>
            </a:r>
            <a:r>
              <a:rPr sz="2400" b="1" spc="20" dirty="0">
                <a:latin typeface="黑体"/>
                <a:cs typeface="黑体"/>
              </a:rPr>
              <a:t>锁</a:t>
            </a:r>
            <a:r>
              <a:rPr sz="2400" b="1" spc="10" dirty="0">
                <a:latin typeface="黑体"/>
                <a:cs typeface="黑体"/>
              </a:rPr>
              <a:t>的</a:t>
            </a:r>
            <a:r>
              <a:rPr sz="2400" b="1" spc="20" dirty="0">
                <a:latin typeface="黑体"/>
                <a:cs typeface="黑体"/>
              </a:rPr>
              <a:t>氧化</a:t>
            </a:r>
            <a:r>
              <a:rPr sz="2400" b="1" spc="10" dirty="0">
                <a:latin typeface="黑体"/>
                <a:cs typeface="黑体"/>
              </a:rPr>
              <a:t>还</a:t>
            </a:r>
            <a:r>
              <a:rPr sz="2400" b="1" spc="20" dirty="0">
                <a:latin typeface="黑体"/>
                <a:cs typeface="黑体"/>
              </a:rPr>
              <a:t>原</a:t>
            </a:r>
            <a:r>
              <a:rPr sz="2400" b="1" spc="10" dirty="0">
                <a:latin typeface="黑体"/>
                <a:cs typeface="黑体"/>
              </a:rPr>
              <a:t>反</a:t>
            </a:r>
            <a:r>
              <a:rPr sz="2400" b="1" spc="20" dirty="0">
                <a:latin typeface="黑体"/>
                <a:cs typeface="黑体"/>
              </a:rPr>
              <a:t>应最</a:t>
            </a:r>
            <a:r>
              <a:rPr sz="2400" b="1" spc="10" dirty="0">
                <a:latin typeface="黑体"/>
                <a:cs typeface="黑体"/>
              </a:rPr>
              <a:t>终</a:t>
            </a:r>
            <a:r>
              <a:rPr sz="2400" b="1" spc="20" dirty="0">
                <a:latin typeface="黑体"/>
                <a:cs typeface="黑体"/>
              </a:rPr>
              <a:t>传</a:t>
            </a:r>
            <a:r>
              <a:rPr sz="2400" b="1" spc="10" dirty="0">
                <a:latin typeface="黑体"/>
                <a:cs typeface="黑体"/>
              </a:rPr>
              <a:t>递</a:t>
            </a:r>
            <a:r>
              <a:rPr sz="2400" b="1" spc="20" dirty="0">
                <a:latin typeface="黑体"/>
                <a:cs typeface="黑体"/>
              </a:rPr>
              <a:t>给氧</a:t>
            </a:r>
            <a:r>
              <a:rPr sz="2400" b="1" spc="10" dirty="0">
                <a:latin typeface="黑体"/>
                <a:cs typeface="黑体"/>
              </a:rPr>
              <a:t>生成</a:t>
            </a:r>
            <a:r>
              <a:rPr sz="2400" b="1" spc="75" dirty="0">
                <a:latin typeface="黑体"/>
                <a:cs typeface="黑体"/>
              </a:rPr>
              <a:t>水</a:t>
            </a:r>
            <a:r>
              <a:rPr sz="2400" b="1" spc="10" dirty="0">
                <a:latin typeface="黑体"/>
                <a:cs typeface="黑体"/>
              </a:rPr>
              <a:t>。</a:t>
            </a:r>
            <a:r>
              <a:rPr sz="2400" b="1" spc="20" dirty="0">
                <a:latin typeface="黑体"/>
                <a:cs typeface="黑体"/>
              </a:rPr>
              <a:t>这</a:t>
            </a:r>
            <a:r>
              <a:rPr sz="2400" b="1" spc="10" dirty="0">
                <a:latin typeface="黑体"/>
                <a:cs typeface="黑体"/>
              </a:rPr>
              <a:t>一</a:t>
            </a:r>
            <a:r>
              <a:rPr sz="2400" b="1" spc="-10" dirty="0">
                <a:latin typeface="黑体"/>
                <a:cs typeface="黑体"/>
              </a:rPr>
              <a:t>系 </a:t>
            </a:r>
            <a:r>
              <a:rPr sz="2400" b="1" dirty="0">
                <a:latin typeface="黑体"/>
                <a:cs typeface="黑体"/>
              </a:rPr>
              <a:t>列酶和辅酶称为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呼吸链</a:t>
            </a:r>
            <a:r>
              <a:rPr sz="24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(respiratory</a:t>
            </a:r>
            <a:r>
              <a:rPr sz="2400" b="1" spc="30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chain)</a:t>
            </a:r>
            <a:r>
              <a:rPr sz="2400" b="1" spc="-10" dirty="0">
                <a:latin typeface="黑体"/>
                <a:cs typeface="黑体"/>
              </a:rPr>
              <a:t>又</a:t>
            </a:r>
            <a:r>
              <a:rPr sz="2400" b="1" dirty="0">
                <a:latin typeface="黑体"/>
                <a:cs typeface="黑体"/>
              </a:rPr>
              <a:t>称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电子传递 链</a:t>
            </a:r>
            <a:r>
              <a:rPr sz="24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(electron</a:t>
            </a:r>
            <a:r>
              <a:rPr sz="2400" b="1" spc="-2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transfer</a:t>
            </a:r>
            <a:r>
              <a:rPr sz="2400" b="1" spc="-5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chain)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Times New Roman" panose="02020503050405090304"/>
              <a:cs typeface="Times New Roman" panose="02020503050405090304"/>
            </a:endParaRPr>
          </a:p>
          <a:p>
            <a:pPr marL="154940">
              <a:lnSpc>
                <a:spcPct val="100000"/>
              </a:lnSpc>
            </a:pPr>
            <a:r>
              <a:rPr sz="2550" spc="-10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550" spc="204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000" b="1" spc="-5" dirty="0">
                <a:solidFill>
                  <a:srgbClr val="336600"/>
                </a:solidFill>
                <a:latin typeface="黑体"/>
                <a:cs typeface="黑体"/>
              </a:rPr>
              <a:t>组成</a:t>
            </a:r>
            <a:endParaRPr sz="3000">
              <a:latin typeface="黑体"/>
              <a:cs typeface="黑体"/>
            </a:endParaRPr>
          </a:p>
          <a:p>
            <a:pPr marR="412750" algn="ctr">
              <a:lnSpc>
                <a:spcPct val="100000"/>
              </a:lnSpc>
              <a:spcBef>
                <a:spcPts val="2775"/>
              </a:spcBef>
            </a:pPr>
            <a:r>
              <a:rPr sz="2400" b="1" dirty="0">
                <a:latin typeface="黑体"/>
                <a:cs typeface="黑体"/>
              </a:rPr>
              <a:t>递氢体和电子传递体（</a:t>
            </a:r>
            <a:r>
              <a:rPr sz="2400" b="1" dirty="0">
                <a:latin typeface="Times New Roman" panose="02020503050405090304"/>
                <a:cs typeface="Times New Roman" panose="02020503050405090304"/>
              </a:rPr>
              <a:t>2H </a:t>
            </a:r>
            <a:r>
              <a:rPr sz="2400" b="1" spc="-5" dirty="0">
                <a:latin typeface="Wingdings 3" panose="05040102010807070707"/>
                <a:cs typeface="Wingdings 3" panose="05040102010807070707"/>
              </a:rPr>
              <a:t></a:t>
            </a:r>
            <a:r>
              <a:rPr sz="24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latin typeface="Times New Roman" panose="02020503050405090304"/>
                <a:cs typeface="Times New Roman" panose="02020503050405090304"/>
              </a:rPr>
              <a:t>2H</a:t>
            </a:r>
            <a:r>
              <a:rPr sz="2400" b="1" baseline="24000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spc="-30" baseline="240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spc="-5" dirty="0">
                <a:latin typeface="Times New Roman" panose="02020503050405090304"/>
                <a:cs typeface="Times New Roman" panose="02020503050405090304"/>
              </a:rPr>
              <a:t> 2e</a:t>
            </a:r>
            <a:r>
              <a:rPr sz="2400" b="1" spc="-5" dirty="0"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94632" y="385572"/>
            <a:ext cx="553212" cy="4953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71018"/>
            <a:ext cx="36950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0000FF"/>
                </a:solidFill>
              </a:rPr>
              <a:t>（一</a:t>
            </a:r>
            <a:r>
              <a:rPr sz="3200" spc="-10" dirty="0">
                <a:solidFill>
                  <a:srgbClr val="0000FF"/>
                </a:solidFill>
              </a:rPr>
              <a:t>）</a:t>
            </a:r>
            <a:r>
              <a:rPr sz="3200" spc="-5" dirty="0">
                <a:solidFill>
                  <a:srgbClr val="0000FF"/>
                </a:solidFill>
              </a:rPr>
              <a:t>呼吸</a:t>
            </a:r>
            <a:r>
              <a:rPr sz="3200" spc="-10" dirty="0">
                <a:solidFill>
                  <a:srgbClr val="0000FF"/>
                </a:solidFill>
              </a:rPr>
              <a:t>链</a:t>
            </a:r>
            <a:r>
              <a:rPr sz="3200" spc="-5" dirty="0">
                <a:solidFill>
                  <a:srgbClr val="0000FF"/>
                </a:solidFill>
              </a:rPr>
              <a:t>的组</a:t>
            </a:r>
            <a:r>
              <a:rPr sz="3200" spc="-10" dirty="0">
                <a:solidFill>
                  <a:srgbClr val="0000FF"/>
                </a:solidFill>
              </a:rPr>
              <a:t>成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90168" y="6049772"/>
            <a:ext cx="5005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CC00CC"/>
                </a:solidFill>
                <a:latin typeface="Times New Roman" panose="02020503050405090304"/>
                <a:cs typeface="Times New Roman" panose="02020503050405090304"/>
              </a:rPr>
              <a:t>*</a:t>
            </a:r>
            <a:r>
              <a:rPr sz="2000" b="1" spc="15" dirty="0">
                <a:solidFill>
                  <a:srgbClr val="CC00CC"/>
                </a:solidFill>
                <a:latin typeface="黑体"/>
                <a:cs typeface="黑体"/>
              </a:rPr>
              <a:t>泛</a:t>
            </a:r>
            <a:r>
              <a:rPr sz="2000" b="1" spc="470" dirty="0">
                <a:solidFill>
                  <a:srgbClr val="CC00CC"/>
                </a:solidFill>
                <a:latin typeface="黑体"/>
                <a:cs typeface="黑体"/>
              </a:rPr>
              <a:t>醌</a:t>
            </a:r>
            <a:r>
              <a:rPr sz="2000" b="1" spc="-5" dirty="0">
                <a:solidFill>
                  <a:srgbClr val="CC00CC"/>
                </a:solidFill>
                <a:latin typeface="黑体"/>
                <a:cs typeface="黑体"/>
              </a:rPr>
              <a:t>和</a:t>
            </a:r>
            <a:r>
              <a:rPr sz="2000" b="1" spc="-520" dirty="0">
                <a:solidFill>
                  <a:srgbClr val="CC00CC"/>
                </a:solidFill>
                <a:latin typeface="黑体"/>
                <a:cs typeface="黑体"/>
              </a:rPr>
              <a:t> </a:t>
            </a:r>
            <a:r>
              <a:rPr sz="2000" b="1" spc="5" dirty="0">
                <a:solidFill>
                  <a:srgbClr val="CC00CC"/>
                </a:solidFill>
                <a:latin typeface="Times New Roman" panose="02020503050405090304"/>
                <a:cs typeface="Times New Roman" panose="02020503050405090304"/>
              </a:rPr>
              <a:t>Cyt</a:t>
            </a:r>
            <a:r>
              <a:rPr sz="2000" b="1" spc="-40" dirty="0">
                <a:solidFill>
                  <a:srgbClr val="CC00CC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dirty="0">
                <a:solidFill>
                  <a:srgbClr val="CC00CC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000" b="1" spc="-35" dirty="0">
                <a:solidFill>
                  <a:srgbClr val="CC00CC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spc="15" dirty="0">
                <a:solidFill>
                  <a:srgbClr val="CC00CC"/>
                </a:solidFill>
                <a:latin typeface="黑体"/>
                <a:cs typeface="黑体"/>
              </a:rPr>
              <a:t>均不</a:t>
            </a:r>
            <a:r>
              <a:rPr sz="2000" b="1" spc="5" dirty="0">
                <a:solidFill>
                  <a:srgbClr val="CC00CC"/>
                </a:solidFill>
                <a:latin typeface="黑体"/>
                <a:cs typeface="黑体"/>
              </a:rPr>
              <a:t>包含在上</a:t>
            </a:r>
            <a:r>
              <a:rPr sz="2000" b="1" spc="-5" dirty="0">
                <a:solidFill>
                  <a:srgbClr val="CC00CC"/>
                </a:solidFill>
                <a:latin typeface="黑体"/>
                <a:cs typeface="黑体"/>
              </a:rPr>
              <a:t>述</a:t>
            </a:r>
            <a:r>
              <a:rPr sz="2000" b="1" spc="5" dirty="0">
                <a:solidFill>
                  <a:srgbClr val="CC00CC"/>
                </a:solidFill>
                <a:latin typeface="黑体"/>
                <a:cs typeface="黑体"/>
              </a:rPr>
              <a:t>四种复</a:t>
            </a:r>
            <a:r>
              <a:rPr sz="2000" b="1" spc="-5" dirty="0">
                <a:solidFill>
                  <a:srgbClr val="CC00CC"/>
                </a:solidFill>
                <a:latin typeface="黑体"/>
                <a:cs typeface="黑体"/>
              </a:rPr>
              <a:t>合</a:t>
            </a:r>
            <a:r>
              <a:rPr sz="2000" b="1" spc="5" dirty="0">
                <a:solidFill>
                  <a:srgbClr val="CC00CC"/>
                </a:solidFill>
                <a:latin typeface="黑体"/>
                <a:cs typeface="黑体"/>
              </a:rPr>
              <a:t>体</a:t>
            </a:r>
            <a:r>
              <a:rPr sz="2000" b="1" spc="-5" dirty="0">
                <a:solidFill>
                  <a:srgbClr val="CC00CC"/>
                </a:solidFill>
                <a:latin typeface="黑体"/>
                <a:cs typeface="黑体"/>
              </a:rPr>
              <a:t>中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1521" y="1116329"/>
            <a:ext cx="5908675" cy="107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黑体"/>
                <a:cs typeface="黑体"/>
              </a:rPr>
              <a:t>四种具有传递电子功能的酶复合</a:t>
            </a:r>
            <a:r>
              <a:rPr sz="2400" b="1" spc="5" dirty="0">
                <a:latin typeface="黑体"/>
                <a:cs typeface="黑体"/>
              </a:rPr>
              <a:t>体</a:t>
            </a:r>
            <a:r>
              <a:rPr sz="2400" b="1" dirty="0">
                <a:latin typeface="Times New Roman" panose="02020503050405090304"/>
                <a:cs typeface="Times New Roman" panose="02020503050405090304"/>
              </a:rPr>
              <a:t>(complex)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Times New Roman" panose="02020503050405090304"/>
              <a:cs typeface="Times New Roman" panose="02020503050405090304"/>
            </a:endParaRPr>
          </a:p>
          <a:p>
            <a:pPr marR="48895" algn="ctr">
              <a:lnSpc>
                <a:spcPct val="100000"/>
              </a:lnSpc>
            </a:pPr>
            <a:r>
              <a:rPr sz="2400" b="1" dirty="0">
                <a:solidFill>
                  <a:srgbClr val="006600"/>
                </a:solidFill>
                <a:latin typeface="黑体"/>
                <a:cs typeface="黑体"/>
              </a:rPr>
              <a:t>人线粒体呼吸链复合体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6961" y="2349820"/>
            <a:ext cx="8081009" cy="38735"/>
          </a:xfrm>
          <a:custGeom>
            <a:avLst/>
            <a:gdLst/>
            <a:ahLst/>
            <a:cxnLst/>
            <a:rect l="l" t="t" r="r" b="b"/>
            <a:pathLst>
              <a:path w="8081009" h="38735">
                <a:moveTo>
                  <a:pt x="0" y="38198"/>
                </a:moveTo>
                <a:lnTo>
                  <a:pt x="8080749" y="38197"/>
                </a:lnTo>
                <a:lnTo>
                  <a:pt x="8080749" y="0"/>
                </a:lnTo>
                <a:lnTo>
                  <a:pt x="0" y="0"/>
                </a:lnTo>
                <a:lnTo>
                  <a:pt x="0" y="3819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6961" y="2977182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>
                <a:moveTo>
                  <a:pt x="0" y="0"/>
                </a:moveTo>
                <a:lnTo>
                  <a:pt x="8003154" y="0"/>
                </a:lnTo>
              </a:path>
            </a:pathLst>
          </a:custGeom>
          <a:ln w="9857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8236" y="2461879"/>
            <a:ext cx="108712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 spc="45" dirty="0">
                <a:solidFill>
                  <a:srgbClr val="387000"/>
                </a:solidFill>
                <a:latin typeface="华文楷体" panose="02010600040101010101" charset="-122"/>
                <a:cs typeface="华文楷体" panose="02010600040101010101" charset="-122"/>
              </a:rPr>
              <a:t>复</a:t>
            </a:r>
            <a:r>
              <a:rPr sz="2750" b="1" spc="35" dirty="0">
                <a:solidFill>
                  <a:srgbClr val="387000"/>
                </a:solidFill>
                <a:latin typeface="华文楷体" panose="02010600040101010101" charset="-122"/>
                <a:cs typeface="华文楷体" panose="02010600040101010101" charset="-122"/>
              </a:rPr>
              <a:t>合</a:t>
            </a:r>
            <a:r>
              <a:rPr sz="2750" b="1" spc="10" dirty="0">
                <a:solidFill>
                  <a:srgbClr val="387000"/>
                </a:solidFill>
                <a:latin typeface="华文楷体" panose="02010600040101010101" charset="-122"/>
                <a:cs typeface="华文楷体" panose="02010600040101010101" charset="-122"/>
              </a:rPr>
              <a:t>体</a:t>
            </a:r>
            <a:endParaRPr sz="275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2560" y="2466318"/>
            <a:ext cx="108712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 spc="45" dirty="0">
                <a:solidFill>
                  <a:srgbClr val="387000"/>
                </a:solidFill>
                <a:latin typeface="华文楷体" panose="02010600040101010101" charset="-122"/>
                <a:cs typeface="华文楷体" panose="02010600040101010101" charset="-122"/>
              </a:rPr>
              <a:t>酶</a:t>
            </a:r>
            <a:r>
              <a:rPr sz="2750" b="1" spc="35" dirty="0">
                <a:solidFill>
                  <a:srgbClr val="387000"/>
                </a:solidFill>
                <a:latin typeface="华文楷体" panose="02010600040101010101" charset="-122"/>
                <a:cs typeface="华文楷体" panose="02010600040101010101" charset="-122"/>
              </a:rPr>
              <a:t>名</a:t>
            </a:r>
            <a:r>
              <a:rPr sz="2750" b="1" spc="1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称</a:t>
            </a:r>
            <a:endParaRPr sz="275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782" y="3216792"/>
            <a:ext cx="1240790" cy="2438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b="1" spc="40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复合体</a:t>
            </a:r>
            <a:r>
              <a:rPr sz="2350" b="1" spc="10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Ⅰ</a:t>
            </a:r>
            <a:endParaRPr sz="2350">
              <a:latin typeface="华文楷体" panose="02010600040101010101" charset="-122"/>
              <a:cs typeface="华文楷体" panose="02010600040101010101" charset="-122"/>
            </a:endParaRPr>
          </a:p>
          <a:p>
            <a:pPr marL="12700" marR="5080" algn="just">
              <a:lnSpc>
                <a:spcPct val="191000"/>
              </a:lnSpc>
            </a:pPr>
            <a:r>
              <a:rPr sz="2350" b="1" spc="40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复合体</a:t>
            </a:r>
            <a:r>
              <a:rPr sz="2350" b="1" spc="5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Ⅱ </a:t>
            </a:r>
            <a:r>
              <a:rPr sz="2350" b="1" spc="40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复合体</a:t>
            </a:r>
            <a:r>
              <a:rPr sz="2350" b="1" spc="5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Ⅲ </a:t>
            </a:r>
            <a:r>
              <a:rPr sz="2350" b="1" spc="40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复合体</a:t>
            </a:r>
            <a:r>
              <a:rPr sz="2350" b="1" spc="10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Ⅳ</a:t>
            </a:r>
            <a:endParaRPr sz="235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6961" y="5845984"/>
            <a:ext cx="8081009" cy="38735"/>
          </a:xfrm>
          <a:custGeom>
            <a:avLst/>
            <a:gdLst/>
            <a:ahLst/>
            <a:cxnLst/>
            <a:rect l="l" t="t" r="r" b="b"/>
            <a:pathLst>
              <a:path w="8081009" h="38735">
                <a:moveTo>
                  <a:pt x="0" y="38198"/>
                </a:moveTo>
                <a:lnTo>
                  <a:pt x="8080749" y="38197"/>
                </a:lnTo>
                <a:lnTo>
                  <a:pt x="8080749" y="0"/>
                </a:lnTo>
                <a:lnTo>
                  <a:pt x="0" y="0"/>
                </a:lnTo>
                <a:lnTo>
                  <a:pt x="0" y="3819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089447" y="2484073"/>
            <a:ext cx="73787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 spc="45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辅基</a:t>
            </a:r>
            <a:endParaRPr sz="275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4458" y="2429791"/>
            <a:ext cx="1442720" cy="447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 spc="45" dirty="0">
                <a:solidFill>
                  <a:srgbClr val="387000"/>
                </a:solidFill>
                <a:latin typeface="华文楷体" panose="02010600040101010101" charset="-122"/>
                <a:cs typeface="华文楷体" panose="02010600040101010101" charset="-122"/>
              </a:rPr>
              <a:t>多</a:t>
            </a:r>
            <a:r>
              <a:rPr sz="2750" b="1" spc="35" dirty="0">
                <a:solidFill>
                  <a:srgbClr val="387000"/>
                </a:solidFill>
                <a:latin typeface="华文楷体" panose="02010600040101010101" charset="-122"/>
                <a:cs typeface="华文楷体" panose="02010600040101010101" charset="-122"/>
              </a:rPr>
              <a:t>肽</a:t>
            </a:r>
            <a:r>
              <a:rPr sz="2750" b="1" spc="45" dirty="0">
                <a:solidFill>
                  <a:srgbClr val="387000"/>
                </a:solidFill>
                <a:latin typeface="华文楷体" panose="02010600040101010101" charset="-122"/>
                <a:cs typeface="华文楷体" panose="02010600040101010101" charset="-122"/>
              </a:rPr>
              <a:t>链</a:t>
            </a:r>
            <a:r>
              <a:rPr sz="2750" b="1" spc="1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数</a:t>
            </a:r>
            <a:endParaRPr sz="275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6961" y="2349820"/>
            <a:ext cx="8081009" cy="38735"/>
          </a:xfrm>
          <a:custGeom>
            <a:avLst/>
            <a:gdLst/>
            <a:ahLst/>
            <a:cxnLst/>
            <a:rect l="l" t="t" r="r" b="b"/>
            <a:pathLst>
              <a:path w="8081009" h="38735">
                <a:moveTo>
                  <a:pt x="0" y="38198"/>
                </a:moveTo>
                <a:lnTo>
                  <a:pt x="8080749" y="38197"/>
                </a:lnTo>
                <a:lnTo>
                  <a:pt x="8080749" y="0"/>
                </a:lnTo>
                <a:lnTo>
                  <a:pt x="0" y="0"/>
                </a:lnTo>
                <a:lnTo>
                  <a:pt x="0" y="3819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6961" y="2977182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>
                <a:moveTo>
                  <a:pt x="0" y="0"/>
                </a:moveTo>
                <a:lnTo>
                  <a:pt x="8003154" y="0"/>
                </a:lnTo>
              </a:path>
            </a:pathLst>
          </a:custGeom>
          <a:ln w="9857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31948" y="3267904"/>
            <a:ext cx="3086735" cy="24225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15"/>
              </a:spcBef>
            </a:pPr>
            <a:r>
              <a:rPr sz="2350" b="1" spc="3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NADH-</a:t>
            </a:r>
            <a:r>
              <a:rPr sz="2350" b="1" spc="40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泛醌还原酶</a:t>
            </a:r>
            <a:endParaRPr sz="2350">
              <a:latin typeface="华文楷体" panose="02010600040101010101" charset="-122"/>
              <a:cs typeface="华文楷体" panose="02010600040101010101" charset="-122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sz="2350" b="1" spc="40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琥珀</a:t>
            </a:r>
            <a:r>
              <a:rPr sz="2350" b="1" spc="45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酸</a:t>
            </a:r>
            <a:r>
              <a:rPr sz="2350" b="1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2350" b="1" spc="40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泛醌还原酶</a:t>
            </a:r>
            <a:endParaRPr sz="2350">
              <a:latin typeface="华文楷体" panose="02010600040101010101" charset="-122"/>
              <a:cs typeface="华文楷体" panose="02010600040101010101" charset="-122"/>
            </a:endParaRPr>
          </a:p>
          <a:p>
            <a:pPr marL="88265" marR="5080" indent="-76200">
              <a:lnSpc>
                <a:spcPct val="191000"/>
              </a:lnSpc>
              <a:spcBef>
                <a:spcPts val="5"/>
              </a:spcBef>
            </a:pPr>
            <a:r>
              <a:rPr sz="2350" b="1" spc="40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泛</a:t>
            </a:r>
            <a:r>
              <a:rPr sz="2350" b="1" spc="45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醌</a:t>
            </a:r>
            <a:r>
              <a:rPr sz="2350" b="1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2350" b="1" spc="40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细胞色素</a:t>
            </a:r>
            <a:r>
              <a:rPr sz="2350" b="1" spc="3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350" b="1" spc="45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还</a:t>
            </a:r>
            <a:r>
              <a:rPr sz="2350" b="1" spc="40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原</a:t>
            </a:r>
            <a:r>
              <a:rPr sz="2350" b="1" spc="5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酶 </a:t>
            </a:r>
            <a:r>
              <a:rPr sz="2350" b="1" spc="40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细胞色素</a:t>
            </a:r>
            <a:r>
              <a:rPr sz="2350" b="1" spc="1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350" b="1" spc="40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氧化酶</a:t>
            </a:r>
            <a:endParaRPr sz="235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6961" y="5845984"/>
            <a:ext cx="8081009" cy="38735"/>
          </a:xfrm>
          <a:custGeom>
            <a:avLst/>
            <a:gdLst/>
            <a:ahLst/>
            <a:cxnLst/>
            <a:rect l="l" t="t" r="r" b="b"/>
            <a:pathLst>
              <a:path w="8081009" h="38735">
                <a:moveTo>
                  <a:pt x="0" y="38198"/>
                </a:moveTo>
                <a:lnTo>
                  <a:pt x="8080749" y="38197"/>
                </a:lnTo>
                <a:lnTo>
                  <a:pt x="8080749" y="0"/>
                </a:lnTo>
                <a:lnTo>
                  <a:pt x="0" y="0"/>
                </a:lnTo>
                <a:lnTo>
                  <a:pt x="0" y="3819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23024" y="3292762"/>
            <a:ext cx="1835150" cy="24415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b="1" spc="2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FMN</a:t>
            </a:r>
            <a:r>
              <a:rPr sz="2350" b="1" spc="25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，</a:t>
            </a:r>
            <a:r>
              <a:rPr sz="2350" b="1" spc="2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Fe-S</a:t>
            </a:r>
            <a:endParaRPr sz="235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sz="2350" b="1" spc="2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FAD</a:t>
            </a:r>
            <a:r>
              <a:rPr sz="2350" b="1" spc="25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，</a:t>
            </a:r>
            <a:r>
              <a:rPr sz="2350" b="1" spc="2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Fe-S</a:t>
            </a:r>
            <a:endParaRPr sz="2350">
              <a:latin typeface="Times New Roman" panose="02020503050405090304"/>
              <a:cs typeface="Times New Roman" panose="02020503050405090304"/>
            </a:endParaRPr>
          </a:p>
          <a:p>
            <a:pPr marL="12700" marR="5080">
              <a:lnSpc>
                <a:spcPts val="5390"/>
              </a:lnSpc>
              <a:spcBef>
                <a:spcPts val="330"/>
              </a:spcBef>
            </a:pPr>
            <a:r>
              <a:rPr sz="2350" b="1" spc="40" dirty="0">
                <a:solidFill>
                  <a:srgbClr val="003870"/>
                </a:solidFill>
                <a:latin typeface="华文楷体" panose="02010600040101010101" charset="-122"/>
                <a:cs typeface="华文楷体" panose="02010600040101010101" charset="-122"/>
              </a:rPr>
              <a:t>铁卟啉，</a:t>
            </a:r>
            <a:r>
              <a:rPr sz="2350" b="1" spc="2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Fe</a:t>
            </a:r>
            <a:r>
              <a:rPr sz="2350" b="1" spc="1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2350" b="1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S </a:t>
            </a:r>
            <a:r>
              <a:rPr sz="2350" b="1" spc="40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铁卟啉</a:t>
            </a:r>
            <a:r>
              <a:rPr sz="2350" b="1" spc="30" dirty="0">
                <a:solidFill>
                  <a:srgbClr val="003366"/>
                </a:solidFill>
                <a:latin typeface="华文楷体" panose="02010600040101010101" charset="-122"/>
                <a:cs typeface="华文楷体" panose="02010600040101010101" charset="-122"/>
              </a:rPr>
              <a:t>，</a:t>
            </a:r>
            <a:r>
              <a:rPr sz="2350" b="1" spc="3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Cu</a:t>
            </a:r>
            <a:endParaRPr sz="23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51433" y="3261055"/>
            <a:ext cx="330835" cy="386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b="1" spc="2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39</a:t>
            </a:r>
            <a:endParaRPr sz="23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49696" y="3880986"/>
            <a:ext cx="175895" cy="386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b="1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4</a:t>
            </a:r>
            <a:endParaRPr sz="23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1433" y="4554616"/>
            <a:ext cx="330835" cy="386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b="1" spc="2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10</a:t>
            </a:r>
            <a:endParaRPr sz="23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13270" y="5272090"/>
            <a:ext cx="330835" cy="386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b="1" spc="2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13</a:t>
            </a:r>
            <a:endParaRPr sz="235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9704" y="760476"/>
            <a:ext cx="7783068" cy="247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29302" y="2217166"/>
            <a:ext cx="3155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93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Ⅲ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7695" y="2101723"/>
            <a:ext cx="41020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3366"/>
                </a:solidFill>
                <a:latin typeface="宋体"/>
                <a:cs typeface="宋体"/>
              </a:rPr>
              <a:t>Ⅰ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5526" y="2030983"/>
            <a:ext cx="220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Ⅱ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4768" y="2716783"/>
            <a:ext cx="12465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NAD</a:t>
            </a:r>
            <a:r>
              <a:rPr sz="2000" b="1" spc="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200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+</a:t>
            </a:r>
            <a:r>
              <a:rPr sz="2000" b="1" spc="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950" b="1" spc="7" baseline="26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41220" y="3221863"/>
            <a:ext cx="728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1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NAD</a:t>
            </a:r>
            <a:r>
              <a:rPr sz="1950" b="1" spc="15" baseline="26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05276" y="2639060"/>
            <a:ext cx="10509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延胡</a:t>
            </a:r>
            <a:r>
              <a:rPr sz="2000" b="1" spc="5" dirty="0">
                <a:solidFill>
                  <a:srgbClr val="003366"/>
                </a:solidFill>
                <a:latin typeface="黑体"/>
                <a:cs typeface="黑体"/>
              </a:rPr>
              <a:t>索</a:t>
            </a:r>
            <a:r>
              <a:rPr sz="2000" b="1" spc="-5" dirty="0">
                <a:solidFill>
                  <a:srgbClr val="003366"/>
                </a:solidFill>
                <a:latin typeface="黑体"/>
                <a:cs typeface="黑体"/>
              </a:rPr>
              <a:t>酸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2822" y="3226435"/>
            <a:ext cx="798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琥珀酸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73928" y="3023362"/>
            <a:ext cx="1296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1/2O</a:t>
            </a:r>
            <a:r>
              <a:rPr sz="1950" b="1" baseline="-21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2000" b="1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+</a:t>
            </a:r>
            <a:r>
              <a:rPr sz="2000" b="1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2H</a:t>
            </a:r>
            <a:r>
              <a:rPr sz="1950" b="1" baseline="26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07885" y="2882264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1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2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3481" y="2734437"/>
            <a:ext cx="5029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2000" b="1" spc="10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000" b="1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44333" y="792226"/>
            <a:ext cx="798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胞液侧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15961" y="2569210"/>
            <a:ext cx="798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基质侧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29398" y="1671955"/>
            <a:ext cx="1306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线粒</a:t>
            </a:r>
            <a:r>
              <a:rPr sz="2000" b="1" spc="5" dirty="0">
                <a:solidFill>
                  <a:srgbClr val="003366"/>
                </a:solidFill>
                <a:latin typeface="黑体"/>
                <a:cs typeface="黑体"/>
              </a:rPr>
              <a:t>体内</a:t>
            </a:r>
            <a:r>
              <a:rPr sz="2000" b="1" spc="-5" dirty="0">
                <a:solidFill>
                  <a:srgbClr val="003366"/>
                </a:solidFill>
                <a:latin typeface="黑体"/>
                <a:cs typeface="黑体"/>
              </a:rPr>
              <a:t>膜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7534" y="1756917"/>
            <a:ext cx="313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="1" spc="-7" baseline="-16000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600" b="1" spc="-5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-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40633" y="1274190"/>
            <a:ext cx="313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="1" spc="-7" baseline="-16000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600" b="1" spc="-5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-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06901" y="1469516"/>
            <a:ext cx="693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sz="3600" b="1" baseline="-21000" dirty="0">
                <a:solidFill>
                  <a:srgbClr val="336699"/>
                </a:solidFill>
                <a:latin typeface="Arial" panose="020B0604020202090204"/>
                <a:cs typeface="Arial" panose="020B0604020202090204"/>
              </a:rPr>
              <a:t>Q	</a:t>
            </a:r>
            <a:r>
              <a:rPr sz="3600" b="1" spc="-7" baseline="-16000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600" b="1" spc="-5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-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67273" y="358901"/>
            <a:ext cx="856615" cy="659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>
              <a:lnSpc>
                <a:spcPts val="225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Cytc</a:t>
            </a:r>
            <a:endParaRPr sz="2000">
              <a:latin typeface="Arial" panose="020B0604020202090204"/>
              <a:cs typeface="Arial" panose="020B0604020202090204"/>
            </a:endParaRPr>
          </a:p>
          <a:p>
            <a:pPr marL="38100">
              <a:lnSpc>
                <a:spcPts val="2730"/>
              </a:lnSpc>
            </a:pPr>
            <a:r>
              <a:rPr sz="3600" b="1" spc="-7" baseline="-16000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600" b="1" spc="-5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-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7154" y="1280832"/>
            <a:ext cx="585470" cy="1080770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45"/>
              </a:spcBef>
            </a:pPr>
            <a:r>
              <a:rPr sz="3600" b="1" spc="-7" baseline="-16000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600" b="1" spc="-5" dirty="0">
                <a:solidFill>
                  <a:srgbClr val="FF3300"/>
                </a:solidFill>
                <a:latin typeface="Arial" panose="020B0604020202090204"/>
                <a:cs typeface="Arial" panose="020B0604020202090204"/>
              </a:rPr>
              <a:t>-</a:t>
            </a:r>
            <a:endParaRPr sz="1600">
              <a:latin typeface="Arial" panose="020B0604020202090204"/>
              <a:cs typeface="Arial" panose="020B0604020202090204"/>
            </a:endParaRPr>
          </a:p>
          <a:p>
            <a:pPr marL="161925">
              <a:lnSpc>
                <a:spcPct val="100000"/>
              </a:lnSpc>
              <a:spcBef>
                <a:spcPts val="1380"/>
              </a:spcBef>
            </a:pPr>
            <a:r>
              <a:rPr sz="2000" b="1" dirty="0">
                <a:solidFill>
                  <a:srgbClr val="003366"/>
                </a:solidFill>
                <a:latin typeface="宋体"/>
                <a:cs typeface="宋体"/>
              </a:rPr>
              <a:t>Ⅳ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9310" y="3811982"/>
            <a:ext cx="710565" cy="313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50" b="1" spc="3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NAD</a:t>
            </a:r>
            <a:r>
              <a:rPr sz="1850" b="1" spc="3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H</a:t>
            </a:r>
            <a:endParaRPr sz="1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3080" y="5049847"/>
            <a:ext cx="1128395" cy="313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50" b="1" spc="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succinate</a:t>
            </a:r>
            <a:endParaRPr sz="1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94723" y="3904531"/>
            <a:ext cx="368260" cy="104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089437" y="3720513"/>
            <a:ext cx="1059815" cy="613410"/>
          </a:xfrm>
          <a:prstGeom prst="rect">
            <a:avLst/>
          </a:prstGeom>
          <a:ln w="18972">
            <a:solidFill>
              <a:srgbClr val="0000FF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244475" marR="3175">
              <a:lnSpc>
                <a:spcPts val="2060"/>
              </a:lnSpc>
              <a:spcBef>
                <a:spcPts val="115"/>
              </a:spcBef>
            </a:pPr>
            <a:r>
              <a:rPr sz="1850" b="1" spc="4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FMN</a:t>
            </a:r>
            <a:endParaRPr sz="1850">
              <a:latin typeface="Arial" panose="020B0604020202090204"/>
              <a:cs typeface="Arial" panose="020B0604020202090204"/>
            </a:endParaRPr>
          </a:p>
          <a:p>
            <a:pPr marL="40640">
              <a:lnSpc>
                <a:spcPts val="2060"/>
              </a:lnSpc>
            </a:pPr>
            <a:r>
              <a:rPr sz="1850" b="1" spc="70" dirty="0">
                <a:solidFill>
                  <a:srgbClr val="FF0000"/>
                </a:solidFill>
                <a:latin typeface="微软雅黑"/>
                <a:cs typeface="微软雅黑"/>
              </a:rPr>
              <a:t>（</a:t>
            </a:r>
            <a:r>
              <a:rPr sz="1850" b="1" spc="2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F</a:t>
            </a:r>
            <a:r>
              <a:rPr sz="1850" b="1" spc="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850" b="1" spc="3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850" b="1" spc="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850" b="1" spc="50" dirty="0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endParaRPr sz="185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59500" y="4260716"/>
            <a:ext cx="956944" cy="613410"/>
          </a:xfrm>
          <a:prstGeom prst="rect">
            <a:avLst/>
          </a:prstGeom>
          <a:ln w="18978">
            <a:solidFill>
              <a:srgbClr val="0000FF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310"/>
              </a:spcBef>
            </a:pPr>
            <a:r>
              <a:rPr sz="1850" b="1" spc="1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Cyt</a:t>
            </a:r>
            <a:r>
              <a:rPr sz="1850" b="1" spc="-1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850" b="1" spc="1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aa</a:t>
            </a:r>
            <a:r>
              <a:rPr sz="2100" b="1" spc="15" baseline="-1600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3</a:t>
            </a:r>
            <a:endParaRPr sz="2100" baseline="-1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9556" y="4427237"/>
            <a:ext cx="201295" cy="313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50" b="1" spc="4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O</a:t>
            </a:r>
            <a:endParaRPr sz="1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48072" y="4540889"/>
            <a:ext cx="11239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2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88291" y="4414968"/>
            <a:ext cx="603250" cy="313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50" b="1" spc="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Cyt</a:t>
            </a:r>
            <a:r>
              <a:rPr sz="1850" b="1" spc="-6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850" b="1" spc="3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c</a:t>
            </a:r>
            <a:endParaRPr sz="1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133551" y="4081614"/>
            <a:ext cx="358482" cy="3414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348883" y="4793525"/>
            <a:ext cx="196215" cy="155575"/>
          </a:xfrm>
          <a:custGeom>
            <a:avLst/>
            <a:gdLst/>
            <a:ahLst/>
            <a:cxnLst/>
            <a:rect l="l" t="t" r="r" b="b"/>
            <a:pathLst>
              <a:path w="196214" h="155575">
                <a:moveTo>
                  <a:pt x="195975" y="0"/>
                </a:moveTo>
                <a:lnTo>
                  <a:pt x="0" y="70177"/>
                </a:lnTo>
                <a:lnTo>
                  <a:pt x="48590" y="99112"/>
                </a:lnTo>
                <a:lnTo>
                  <a:pt x="57865" y="155042"/>
                </a:lnTo>
                <a:lnTo>
                  <a:pt x="195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38592" y="4902688"/>
            <a:ext cx="261620" cy="175260"/>
          </a:xfrm>
          <a:custGeom>
            <a:avLst/>
            <a:gdLst/>
            <a:ahLst/>
            <a:cxnLst/>
            <a:rect l="l" t="t" r="r" b="b"/>
            <a:pathLst>
              <a:path w="261620" h="175260">
                <a:moveTo>
                  <a:pt x="261502" y="0"/>
                </a:moveTo>
                <a:lnTo>
                  <a:pt x="0" y="1746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121253" y="4883325"/>
            <a:ext cx="283845" cy="198755"/>
          </a:xfrm>
          <a:custGeom>
            <a:avLst/>
            <a:gdLst/>
            <a:ahLst/>
            <a:cxnLst/>
            <a:rect l="l" t="t" r="r" b="b"/>
            <a:pathLst>
              <a:path w="283845" h="198754">
                <a:moveTo>
                  <a:pt x="271381" y="0"/>
                </a:moveTo>
                <a:lnTo>
                  <a:pt x="0" y="181519"/>
                </a:lnTo>
                <a:lnTo>
                  <a:pt x="12298" y="198204"/>
                </a:lnTo>
                <a:lnTo>
                  <a:pt x="283479" y="16665"/>
                </a:lnTo>
                <a:lnTo>
                  <a:pt x="2713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054238" y="4318314"/>
            <a:ext cx="1770380" cy="1611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35"/>
              </a:spcBef>
              <a:tabLst>
                <a:tab pos="1221740" algn="l"/>
              </a:tabLst>
            </a:pPr>
            <a:r>
              <a:rPr sz="1850" b="1" spc="30" dirty="0">
                <a:latin typeface="Arial" panose="020B0604020202090204"/>
                <a:cs typeface="Arial" panose="020B0604020202090204"/>
              </a:rPr>
              <a:t>compex</a:t>
            </a:r>
            <a:r>
              <a:rPr sz="1850" b="1" spc="10" dirty="0">
                <a:latin typeface="Arial" panose="020B0604020202090204"/>
                <a:cs typeface="Arial" panose="020B0604020202090204"/>
              </a:rPr>
              <a:t> </a:t>
            </a:r>
            <a:r>
              <a:rPr sz="1850" b="1" spc="15" dirty="0">
                <a:latin typeface="Arial" panose="020B0604020202090204"/>
                <a:cs typeface="Arial" panose="020B0604020202090204"/>
              </a:rPr>
              <a:t>I	</a:t>
            </a:r>
            <a:r>
              <a:rPr sz="2775" b="1" spc="52" baseline="-3000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CoQ</a:t>
            </a:r>
            <a:endParaRPr sz="2775" baseline="-30000">
              <a:latin typeface="Arial" panose="020B0604020202090204"/>
              <a:cs typeface="Arial" panose="020B0604020202090204"/>
            </a:endParaRPr>
          </a:p>
          <a:p>
            <a:pPr marL="284480">
              <a:lnSpc>
                <a:spcPts val="2070"/>
              </a:lnSpc>
              <a:spcBef>
                <a:spcPts val="2360"/>
              </a:spcBef>
            </a:pPr>
            <a:r>
              <a:rPr sz="1850" b="1" spc="3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FAD</a:t>
            </a:r>
            <a:endParaRPr sz="1850">
              <a:latin typeface="Arial" panose="020B0604020202090204"/>
              <a:cs typeface="Arial" panose="020B0604020202090204"/>
            </a:endParaRPr>
          </a:p>
          <a:p>
            <a:pPr marL="80645">
              <a:lnSpc>
                <a:spcPts val="2070"/>
              </a:lnSpc>
            </a:pPr>
            <a:r>
              <a:rPr sz="1850" b="1" spc="35" dirty="0">
                <a:solidFill>
                  <a:srgbClr val="FF0000"/>
                </a:solidFill>
                <a:latin typeface="微软雅黑"/>
                <a:cs typeface="微软雅黑"/>
              </a:rPr>
              <a:t>（</a:t>
            </a:r>
            <a:r>
              <a:rPr sz="1850" b="1" spc="3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Fe-S</a:t>
            </a:r>
            <a:r>
              <a:rPr sz="1850" b="1" spc="35" dirty="0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endParaRPr sz="1850">
              <a:latin typeface="微软雅黑"/>
              <a:cs typeface="微软雅黑"/>
            </a:endParaRPr>
          </a:p>
          <a:p>
            <a:pPr marL="25400">
              <a:lnSpc>
                <a:spcPct val="100000"/>
              </a:lnSpc>
              <a:spcBef>
                <a:spcPts val="1500"/>
              </a:spcBef>
            </a:pPr>
            <a:r>
              <a:rPr sz="1850" b="1" spc="30" dirty="0">
                <a:latin typeface="Arial" panose="020B0604020202090204"/>
                <a:cs typeface="Arial" panose="020B0604020202090204"/>
              </a:rPr>
              <a:t>compex</a:t>
            </a:r>
            <a:r>
              <a:rPr sz="1850" b="1" spc="-5" dirty="0">
                <a:latin typeface="Arial" panose="020B0604020202090204"/>
                <a:cs typeface="Arial" panose="020B0604020202090204"/>
              </a:rPr>
              <a:t> </a:t>
            </a:r>
            <a:r>
              <a:rPr sz="1850" b="1" spc="15" dirty="0">
                <a:latin typeface="Arial" panose="020B0604020202090204"/>
                <a:cs typeface="Arial" panose="020B0604020202090204"/>
              </a:rPr>
              <a:t>II</a:t>
            </a:r>
            <a:endParaRPr sz="1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62521" y="4989021"/>
            <a:ext cx="1223010" cy="313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50" b="1" spc="30" dirty="0">
                <a:latin typeface="Arial" panose="020B0604020202090204"/>
                <a:cs typeface="Arial" panose="020B0604020202090204"/>
              </a:rPr>
              <a:t>compex</a:t>
            </a:r>
            <a:r>
              <a:rPr sz="1850" b="1" spc="-65" dirty="0">
                <a:latin typeface="Arial" panose="020B0604020202090204"/>
                <a:cs typeface="Arial" panose="020B0604020202090204"/>
              </a:rPr>
              <a:t> </a:t>
            </a:r>
            <a:r>
              <a:rPr sz="1850" b="1" spc="25" dirty="0">
                <a:latin typeface="Arial" panose="020B0604020202090204"/>
                <a:cs typeface="Arial" panose="020B0604020202090204"/>
              </a:rPr>
              <a:t>IV</a:t>
            </a:r>
            <a:endParaRPr sz="1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25329" y="4269737"/>
            <a:ext cx="1247140" cy="1093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35"/>
              </a:spcBef>
            </a:pPr>
            <a:r>
              <a:rPr sz="1850" b="1" spc="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Cyt</a:t>
            </a:r>
            <a:r>
              <a:rPr sz="1850" b="1" spc="-7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850" b="1" spc="4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b,</a:t>
            </a:r>
            <a:r>
              <a:rPr sz="2775" b="1" spc="60" baseline="200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2100" b="1" spc="60" baseline="-1400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1</a:t>
            </a:r>
            <a:endParaRPr sz="2100" baseline="-14000">
              <a:latin typeface="Arial" panose="020B0604020202090204"/>
              <a:cs typeface="Arial" panose="020B0604020202090204"/>
            </a:endParaRPr>
          </a:p>
          <a:p>
            <a:pPr marL="153035">
              <a:lnSpc>
                <a:spcPct val="100000"/>
              </a:lnSpc>
              <a:spcBef>
                <a:spcPts val="15"/>
              </a:spcBef>
            </a:pPr>
            <a:r>
              <a:rPr sz="1850" b="1" spc="35" dirty="0">
                <a:solidFill>
                  <a:srgbClr val="FF0000"/>
                </a:solidFill>
                <a:latin typeface="微软雅黑"/>
                <a:cs typeface="微软雅黑"/>
              </a:rPr>
              <a:t>（</a:t>
            </a:r>
            <a:r>
              <a:rPr sz="1850" b="1" spc="3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Fe-S</a:t>
            </a:r>
            <a:r>
              <a:rPr sz="1850" b="1" spc="35" dirty="0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endParaRPr sz="1850">
              <a:latin typeface="微软雅黑"/>
              <a:cs typeface="微软雅黑"/>
            </a:endParaRPr>
          </a:p>
          <a:p>
            <a:pPr marL="25400">
              <a:lnSpc>
                <a:spcPct val="100000"/>
              </a:lnSpc>
              <a:spcBef>
                <a:spcPts val="1690"/>
              </a:spcBef>
            </a:pPr>
            <a:r>
              <a:rPr sz="1850" b="1" spc="30" dirty="0">
                <a:latin typeface="Arial" panose="020B0604020202090204"/>
                <a:cs typeface="Arial" panose="020B0604020202090204"/>
              </a:rPr>
              <a:t>compex</a:t>
            </a:r>
            <a:r>
              <a:rPr sz="1850" b="1" spc="-45" dirty="0">
                <a:latin typeface="Arial" panose="020B0604020202090204"/>
                <a:cs typeface="Arial" panose="020B0604020202090204"/>
              </a:rPr>
              <a:t> </a:t>
            </a:r>
            <a:r>
              <a:rPr sz="1850" b="1" spc="15" dirty="0">
                <a:latin typeface="Arial" panose="020B0604020202090204"/>
                <a:cs typeface="Arial" panose="020B0604020202090204"/>
              </a:rPr>
              <a:t>III</a:t>
            </a:r>
            <a:endParaRPr sz="1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23616" y="5176226"/>
            <a:ext cx="368260" cy="1040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823499" y="4570782"/>
            <a:ext cx="368361" cy="1040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296138" y="4546243"/>
            <a:ext cx="368159" cy="1045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264726" y="4534474"/>
            <a:ext cx="368361" cy="1040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57524" y="4529578"/>
            <a:ext cx="367756" cy="10400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118329" y="4885763"/>
            <a:ext cx="974090" cy="654050"/>
          </a:xfrm>
          <a:custGeom>
            <a:avLst/>
            <a:gdLst/>
            <a:ahLst/>
            <a:cxnLst/>
            <a:rect l="l" t="t" r="r" b="b"/>
            <a:pathLst>
              <a:path w="974089" h="654050">
                <a:moveTo>
                  <a:pt x="0" y="654021"/>
                </a:moveTo>
                <a:lnTo>
                  <a:pt x="974031" y="654021"/>
                </a:lnTo>
                <a:lnTo>
                  <a:pt x="974031" y="0"/>
                </a:lnTo>
                <a:lnTo>
                  <a:pt x="0" y="0"/>
                </a:lnTo>
                <a:lnTo>
                  <a:pt x="0" y="654021"/>
                </a:lnTo>
                <a:close/>
              </a:path>
            </a:pathLst>
          </a:custGeom>
          <a:ln w="18981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215853" y="4260716"/>
            <a:ext cx="1017269" cy="673735"/>
          </a:xfrm>
          <a:custGeom>
            <a:avLst/>
            <a:gdLst/>
            <a:ahLst/>
            <a:cxnLst/>
            <a:rect l="l" t="t" r="r" b="b"/>
            <a:pathLst>
              <a:path w="1017270" h="673735">
                <a:moveTo>
                  <a:pt x="0" y="673144"/>
                </a:moveTo>
                <a:lnTo>
                  <a:pt x="1017137" y="673144"/>
                </a:lnTo>
                <a:lnTo>
                  <a:pt x="1017137" y="0"/>
                </a:lnTo>
                <a:lnTo>
                  <a:pt x="0" y="0"/>
                </a:lnTo>
                <a:lnTo>
                  <a:pt x="0" y="673144"/>
                </a:lnTo>
                <a:close/>
              </a:path>
            </a:pathLst>
          </a:custGeom>
          <a:ln w="1898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34923" y="3640835"/>
            <a:ext cx="7858125" cy="2321560"/>
          </a:xfrm>
          <a:custGeom>
            <a:avLst/>
            <a:gdLst/>
            <a:ahLst/>
            <a:cxnLst/>
            <a:rect l="l" t="t" r="r" b="b"/>
            <a:pathLst>
              <a:path w="7858125" h="2321560">
                <a:moveTo>
                  <a:pt x="0" y="2321052"/>
                </a:moveTo>
                <a:lnTo>
                  <a:pt x="7857744" y="2321052"/>
                </a:lnTo>
                <a:lnTo>
                  <a:pt x="7857744" y="0"/>
                </a:lnTo>
                <a:lnTo>
                  <a:pt x="0" y="0"/>
                </a:lnTo>
                <a:lnTo>
                  <a:pt x="0" y="2321052"/>
                </a:lnTo>
                <a:close/>
              </a:path>
            </a:pathLst>
          </a:custGeom>
          <a:ln w="914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853179" y="6193402"/>
            <a:ext cx="5629665" cy="5991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726692" y="6096000"/>
            <a:ext cx="5884163" cy="7619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834895" y="6166103"/>
            <a:ext cx="5546090" cy="524510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305"/>
              </a:spcBef>
            </a:pPr>
            <a:r>
              <a:rPr sz="2800" b="1" spc="5" dirty="0">
                <a:solidFill>
                  <a:srgbClr val="FFFFFF"/>
                </a:solidFill>
                <a:latin typeface="黑体"/>
                <a:cs typeface="黑体"/>
              </a:rPr>
              <a:t>呼</a:t>
            </a:r>
            <a:r>
              <a:rPr sz="2800" b="1" spc="-10" dirty="0">
                <a:solidFill>
                  <a:srgbClr val="FFFFFF"/>
                </a:solidFill>
                <a:latin typeface="黑体"/>
                <a:cs typeface="黑体"/>
              </a:rPr>
              <a:t>吸链的</a:t>
            </a:r>
            <a:r>
              <a:rPr sz="2800" b="1" spc="5" dirty="0">
                <a:solidFill>
                  <a:srgbClr val="FFFFFF"/>
                </a:solidFill>
                <a:latin typeface="黑体"/>
                <a:cs typeface="黑体"/>
              </a:rPr>
              <a:t>组</a:t>
            </a:r>
            <a:r>
              <a:rPr sz="2800" b="1" spc="-10" dirty="0">
                <a:solidFill>
                  <a:srgbClr val="FFFFFF"/>
                </a:solidFill>
                <a:latin typeface="黑体"/>
                <a:cs typeface="黑体"/>
              </a:rPr>
              <a:t>成及复</a:t>
            </a:r>
            <a:r>
              <a:rPr sz="2800" b="1" spc="5" dirty="0">
                <a:solidFill>
                  <a:srgbClr val="FFFFFF"/>
                </a:solidFill>
                <a:latin typeface="黑体"/>
                <a:cs typeface="黑体"/>
              </a:rPr>
              <a:t>合</a:t>
            </a:r>
            <a:r>
              <a:rPr sz="2800" b="1" spc="-10" dirty="0">
                <a:solidFill>
                  <a:srgbClr val="FFFFFF"/>
                </a:solidFill>
                <a:latin typeface="黑体"/>
                <a:cs typeface="黑体"/>
              </a:rPr>
              <a:t>体的排</a:t>
            </a:r>
            <a:r>
              <a:rPr sz="2800" b="1" spc="5" dirty="0">
                <a:solidFill>
                  <a:srgbClr val="FFFFFF"/>
                </a:solidFill>
                <a:latin typeface="黑体"/>
                <a:cs typeface="黑体"/>
              </a:rPr>
              <a:t>列</a:t>
            </a:r>
            <a:r>
              <a:rPr sz="2800" b="1" spc="-10" dirty="0">
                <a:solidFill>
                  <a:srgbClr val="FFFFFF"/>
                </a:solidFill>
                <a:latin typeface="黑体"/>
                <a:cs typeface="黑体"/>
              </a:rPr>
              <a:t>顺</a:t>
            </a:r>
            <a:r>
              <a:rPr sz="2800" b="1" spc="-15" dirty="0">
                <a:solidFill>
                  <a:srgbClr val="FFFFFF"/>
                </a:solidFill>
                <a:latin typeface="黑体"/>
                <a:cs typeface="黑体"/>
              </a:rPr>
              <a:t>序</a:t>
            </a:r>
            <a:endParaRPr sz="2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1342" y="998346"/>
            <a:ext cx="55308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39950" algn="l"/>
              </a:tabLst>
            </a:pPr>
            <a:r>
              <a:rPr sz="32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1.</a:t>
            </a:r>
            <a:r>
              <a:rPr sz="3200" spc="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10" dirty="0">
                <a:solidFill>
                  <a:srgbClr val="0000FF"/>
                </a:solidFill>
              </a:rPr>
              <a:t>复合</a:t>
            </a:r>
            <a:r>
              <a:rPr sz="3200" dirty="0">
                <a:solidFill>
                  <a:srgbClr val="0000FF"/>
                </a:solidFill>
              </a:rPr>
              <a:t>体</a:t>
            </a:r>
            <a:r>
              <a:rPr sz="3200" spc="-75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Ⅰ:	</a:t>
            </a:r>
            <a:r>
              <a:rPr sz="32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NADH-</a:t>
            </a:r>
            <a:r>
              <a:rPr sz="3200" dirty="0">
                <a:solidFill>
                  <a:srgbClr val="0000FF"/>
                </a:solidFill>
              </a:rPr>
              <a:t>泛醌还原酶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8117" y="4046677"/>
            <a:ext cx="12274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→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4765" y="4046677"/>
            <a:ext cx="1092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→	</a:t>
            </a:r>
            <a:r>
              <a:rPr sz="2400" b="1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400" b="1" spc="-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400" b="1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Q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31820" y="4069079"/>
            <a:ext cx="2559050" cy="469900"/>
          </a:xfrm>
          <a:prstGeom prst="rect">
            <a:avLst/>
          </a:prstGeom>
          <a:solidFill>
            <a:srgbClr val="FDCEF8"/>
          </a:solidFill>
          <a:ln w="9144">
            <a:solidFill>
              <a:srgbClr val="CC00CC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798195">
              <a:lnSpc>
                <a:spcPct val="100000"/>
              </a:lnSpc>
              <a:spcBef>
                <a:spcPts val="315"/>
              </a:spcBef>
            </a:pPr>
            <a:r>
              <a:rPr sz="2400" b="1" dirty="0">
                <a:solidFill>
                  <a:srgbClr val="993300"/>
                </a:solidFill>
                <a:latin typeface="黑体"/>
                <a:cs typeface="黑体"/>
              </a:rPr>
              <a:t>复合</a:t>
            </a:r>
            <a:r>
              <a:rPr sz="2400" b="1" spc="-5" dirty="0">
                <a:solidFill>
                  <a:srgbClr val="993300"/>
                </a:solidFill>
                <a:latin typeface="黑体"/>
                <a:cs typeface="黑体"/>
              </a:rPr>
              <a:t>体</a:t>
            </a:r>
            <a:r>
              <a:rPr sz="2400" b="1" spc="-1200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Ⅰ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3041" y="2452497"/>
            <a:ext cx="7802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spc="25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350" spc="6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5" dirty="0">
                <a:solidFill>
                  <a:srgbClr val="008000"/>
                </a:solidFill>
                <a:latin typeface="黑体"/>
                <a:cs typeface="黑体"/>
              </a:rPr>
              <a:t>功能</a:t>
            </a:r>
            <a:r>
              <a:rPr sz="2800" b="1" spc="10" dirty="0">
                <a:solidFill>
                  <a:srgbClr val="008000"/>
                </a:solidFill>
                <a:latin typeface="黑体"/>
                <a:cs typeface="黑体"/>
              </a:rPr>
              <a:t>：</a:t>
            </a:r>
            <a:r>
              <a:rPr sz="2800" b="1" spc="5" dirty="0">
                <a:latin typeface="黑体"/>
                <a:cs typeface="黑体"/>
              </a:rPr>
              <a:t>将电子</a:t>
            </a:r>
            <a:r>
              <a:rPr sz="2800" b="1" dirty="0">
                <a:latin typeface="黑体"/>
                <a:cs typeface="黑体"/>
              </a:rPr>
              <a:t>从</a:t>
            </a:r>
            <a:r>
              <a:rPr sz="2800" b="1" spc="-10" dirty="0"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800" b="1" spc="5" dirty="0">
                <a:latin typeface="黑体"/>
                <a:cs typeface="黑体"/>
              </a:rPr>
              <a:t>传递给泛</a:t>
            </a:r>
            <a:r>
              <a:rPr sz="2800" b="1" spc="-15" dirty="0">
                <a:latin typeface="黑体"/>
                <a:cs typeface="黑体"/>
              </a:rPr>
              <a:t>醌</a:t>
            </a:r>
            <a:r>
              <a:rPr sz="2800" b="1" spc="-745" dirty="0">
                <a:latin typeface="黑体"/>
                <a:cs typeface="黑体"/>
              </a:rPr>
              <a:t> </a:t>
            </a:r>
            <a:r>
              <a:rPr sz="2800" b="1" dirty="0">
                <a:latin typeface="Times New Roman" panose="02020503050405090304"/>
                <a:cs typeface="Times New Roman" panose="02020503050405090304"/>
              </a:rPr>
              <a:t>(ubiquinone)</a:t>
            </a:r>
            <a:endParaRPr sz="28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7916" y="1845469"/>
            <a:ext cx="6497029" cy="31663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63547" y="5509056"/>
            <a:ext cx="2043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R=H:</a:t>
            </a:r>
            <a:r>
              <a:rPr sz="2800" b="1" spc="-3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NAD</a:t>
            </a:r>
            <a:r>
              <a:rPr sz="2775" b="1" spc="-7" baseline="26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8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;</a:t>
            </a:r>
            <a:endParaRPr sz="28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6847" y="5509056"/>
            <a:ext cx="2781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R=H</a:t>
            </a:r>
            <a:r>
              <a:rPr sz="2775" b="1" spc="-7" baseline="-26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8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PO</a:t>
            </a:r>
            <a:r>
              <a:rPr sz="2775" b="1" spc="-7" baseline="-26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3</a:t>
            </a:r>
            <a:r>
              <a:rPr sz="28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:NADP</a:t>
            </a:r>
            <a:r>
              <a:rPr sz="2775" b="1" spc="-7" baseline="26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endParaRPr sz="2775" baseline="26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69582" y="329162"/>
            <a:ext cx="4476006" cy="12969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13432" y="364236"/>
            <a:ext cx="3985260" cy="14005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51304" y="301752"/>
            <a:ext cx="4392295" cy="1222375"/>
          </a:xfrm>
          <a:prstGeom prst="rect">
            <a:avLst/>
          </a:prstGeom>
          <a:solidFill>
            <a:srgbClr val="0000FF">
              <a:alpha val="78430"/>
            </a:srgbClr>
          </a:solidFill>
        </p:spPr>
        <p:txBody>
          <a:bodyPr vert="horz" wrap="square" lIns="0" tIns="1701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40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NAD</a:t>
            </a:r>
            <a:r>
              <a:rPr sz="2775" b="1" spc="15" baseline="26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800" b="1" spc="5" dirty="0">
                <a:solidFill>
                  <a:srgbClr val="FFFFFF"/>
                </a:solidFill>
                <a:latin typeface="黑体"/>
                <a:cs typeface="黑体"/>
              </a:rPr>
              <a:t>和</a:t>
            </a:r>
            <a:r>
              <a:rPr sz="2800" b="1" spc="-1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NADP</a:t>
            </a:r>
            <a:r>
              <a:rPr sz="2775" b="1" spc="15" baseline="26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800" b="1" spc="5" dirty="0">
                <a:solidFill>
                  <a:srgbClr val="FFFFFF"/>
                </a:solidFill>
                <a:latin typeface="黑体"/>
                <a:cs typeface="黑体"/>
              </a:rPr>
              <a:t>的结构</a:t>
            </a:r>
            <a:endParaRPr sz="28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---</a:t>
            </a:r>
            <a:r>
              <a:rPr sz="2400" b="1" dirty="0">
                <a:solidFill>
                  <a:srgbClr val="FFFFFF"/>
                </a:solidFill>
                <a:latin typeface="黑体"/>
                <a:cs typeface="黑体"/>
              </a:rPr>
              <a:t>烟酰胺脱氢酶类的辅酶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61226" y="4708397"/>
            <a:ext cx="504825" cy="466725"/>
          </a:xfrm>
          <a:custGeom>
            <a:avLst/>
            <a:gdLst/>
            <a:ahLst/>
            <a:cxnLst/>
            <a:rect l="l" t="t" r="r" b="b"/>
            <a:pathLst>
              <a:path w="504825" h="466725">
                <a:moveTo>
                  <a:pt x="0" y="233171"/>
                </a:moveTo>
                <a:lnTo>
                  <a:pt x="5123" y="186179"/>
                </a:lnTo>
                <a:lnTo>
                  <a:pt x="19817" y="142410"/>
                </a:lnTo>
                <a:lnTo>
                  <a:pt x="43070" y="102803"/>
                </a:lnTo>
                <a:lnTo>
                  <a:pt x="73866" y="68294"/>
                </a:lnTo>
                <a:lnTo>
                  <a:pt x="111193" y="39821"/>
                </a:lnTo>
                <a:lnTo>
                  <a:pt x="154037" y="18323"/>
                </a:lnTo>
                <a:lnTo>
                  <a:pt x="201384" y="4737"/>
                </a:lnTo>
                <a:lnTo>
                  <a:pt x="252222" y="0"/>
                </a:lnTo>
                <a:lnTo>
                  <a:pt x="303059" y="4737"/>
                </a:lnTo>
                <a:lnTo>
                  <a:pt x="350406" y="18323"/>
                </a:lnTo>
                <a:lnTo>
                  <a:pt x="393250" y="39821"/>
                </a:lnTo>
                <a:lnTo>
                  <a:pt x="430577" y="68294"/>
                </a:lnTo>
                <a:lnTo>
                  <a:pt x="461373" y="102803"/>
                </a:lnTo>
                <a:lnTo>
                  <a:pt x="484626" y="142410"/>
                </a:lnTo>
                <a:lnTo>
                  <a:pt x="499320" y="186179"/>
                </a:lnTo>
                <a:lnTo>
                  <a:pt x="504444" y="233171"/>
                </a:lnTo>
                <a:lnTo>
                  <a:pt x="499320" y="280164"/>
                </a:lnTo>
                <a:lnTo>
                  <a:pt x="484626" y="323933"/>
                </a:lnTo>
                <a:lnTo>
                  <a:pt x="461373" y="363540"/>
                </a:lnTo>
                <a:lnTo>
                  <a:pt x="430577" y="398049"/>
                </a:lnTo>
                <a:lnTo>
                  <a:pt x="393250" y="426522"/>
                </a:lnTo>
                <a:lnTo>
                  <a:pt x="350406" y="448020"/>
                </a:lnTo>
                <a:lnTo>
                  <a:pt x="303059" y="461606"/>
                </a:lnTo>
                <a:lnTo>
                  <a:pt x="252222" y="466344"/>
                </a:lnTo>
                <a:lnTo>
                  <a:pt x="201384" y="461606"/>
                </a:lnTo>
                <a:lnTo>
                  <a:pt x="154037" y="448020"/>
                </a:lnTo>
                <a:lnTo>
                  <a:pt x="111193" y="426522"/>
                </a:lnTo>
                <a:lnTo>
                  <a:pt x="73866" y="398049"/>
                </a:lnTo>
                <a:lnTo>
                  <a:pt x="43070" y="363540"/>
                </a:lnTo>
                <a:lnTo>
                  <a:pt x="19817" y="323933"/>
                </a:lnTo>
                <a:lnTo>
                  <a:pt x="5123" y="280164"/>
                </a:lnTo>
                <a:lnTo>
                  <a:pt x="0" y="233171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0258" y="2061210"/>
            <a:ext cx="2377440" cy="1108075"/>
          </a:xfrm>
          <a:custGeom>
            <a:avLst/>
            <a:gdLst/>
            <a:ahLst/>
            <a:cxnLst/>
            <a:rect l="l" t="t" r="r" b="b"/>
            <a:pathLst>
              <a:path w="2377440" h="1108075">
                <a:moveTo>
                  <a:pt x="0" y="553974"/>
                </a:moveTo>
                <a:lnTo>
                  <a:pt x="6536" y="495533"/>
                </a:lnTo>
                <a:lnTo>
                  <a:pt x="25706" y="438845"/>
                </a:lnTo>
                <a:lnTo>
                  <a:pt x="56853" y="384216"/>
                </a:lnTo>
                <a:lnTo>
                  <a:pt x="99320" y="331952"/>
                </a:lnTo>
                <a:lnTo>
                  <a:pt x="152449" y="282360"/>
                </a:lnTo>
                <a:lnTo>
                  <a:pt x="182806" y="258662"/>
                </a:lnTo>
                <a:lnTo>
                  <a:pt x="215583" y="235746"/>
                </a:lnTo>
                <a:lnTo>
                  <a:pt x="250697" y="213651"/>
                </a:lnTo>
                <a:lnTo>
                  <a:pt x="288066" y="192416"/>
                </a:lnTo>
                <a:lnTo>
                  <a:pt x="327607" y="172078"/>
                </a:lnTo>
                <a:lnTo>
                  <a:pt x="369239" y="152676"/>
                </a:lnTo>
                <a:lnTo>
                  <a:pt x="412879" y="134249"/>
                </a:lnTo>
                <a:lnTo>
                  <a:pt x="458446" y="116834"/>
                </a:lnTo>
                <a:lnTo>
                  <a:pt x="505856" y="100470"/>
                </a:lnTo>
                <a:lnTo>
                  <a:pt x="555029" y="85195"/>
                </a:lnTo>
                <a:lnTo>
                  <a:pt x="605881" y="71047"/>
                </a:lnTo>
                <a:lnTo>
                  <a:pt x="658331" y="58065"/>
                </a:lnTo>
                <a:lnTo>
                  <a:pt x="712297" y="46287"/>
                </a:lnTo>
                <a:lnTo>
                  <a:pt x="767695" y="35751"/>
                </a:lnTo>
                <a:lnTo>
                  <a:pt x="824445" y="26495"/>
                </a:lnTo>
                <a:lnTo>
                  <a:pt x="882464" y="18559"/>
                </a:lnTo>
                <a:lnTo>
                  <a:pt x="941670" y="11980"/>
                </a:lnTo>
                <a:lnTo>
                  <a:pt x="1001981" y="6796"/>
                </a:lnTo>
                <a:lnTo>
                  <a:pt x="1063314" y="3046"/>
                </a:lnTo>
                <a:lnTo>
                  <a:pt x="1125588" y="767"/>
                </a:lnTo>
                <a:lnTo>
                  <a:pt x="1188720" y="0"/>
                </a:lnTo>
                <a:lnTo>
                  <a:pt x="1251847" y="767"/>
                </a:lnTo>
                <a:lnTo>
                  <a:pt x="1314116" y="3046"/>
                </a:lnTo>
                <a:lnTo>
                  <a:pt x="1375446" y="6796"/>
                </a:lnTo>
                <a:lnTo>
                  <a:pt x="1435754" y="11980"/>
                </a:lnTo>
                <a:lnTo>
                  <a:pt x="1494957" y="18559"/>
                </a:lnTo>
                <a:lnTo>
                  <a:pt x="1552974" y="26495"/>
                </a:lnTo>
                <a:lnTo>
                  <a:pt x="1609723" y="35751"/>
                </a:lnTo>
                <a:lnTo>
                  <a:pt x="1665121" y="46287"/>
                </a:lnTo>
                <a:lnTo>
                  <a:pt x="1719085" y="58065"/>
                </a:lnTo>
                <a:lnTo>
                  <a:pt x="1771535" y="71047"/>
                </a:lnTo>
                <a:lnTo>
                  <a:pt x="1822388" y="85195"/>
                </a:lnTo>
                <a:lnTo>
                  <a:pt x="1871560" y="100470"/>
                </a:lnTo>
                <a:lnTo>
                  <a:pt x="1918972" y="116834"/>
                </a:lnTo>
                <a:lnTo>
                  <a:pt x="1964539" y="134249"/>
                </a:lnTo>
                <a:lnTo>
                  <a:pt x="2008180" y="152676"/>
                </a:lnTo>
                <a:lnTo>
                  <a:pt x="2049814" y="172078"/>
                </a:lnTo>
                <a:lnTo>
                  <a:pt x="2089356" y="192416"/>
                </a:lnTo>
                <a:lnTo>
                  <a:pt x="2126726" y="213651"/>
                </a:lnTo>
                <a:lnTo>
                  <a:pt x="2161842" y="235746"/>
                </a:lnTo>
                <a:lnTo>
                  <a:pt x="2194620" y="258662"/>
                </a:lnTo>
                <a:lnTo>
                  <a:pt x="2224979" y="282360"/>
                </a:lnTo>
                <a:lnTo>
                  <a:pt x="2278112" y="331952"/>
                </a:lnTo>
                <a:lnTo>
                  <a:pt x="2320581" y="384216"/>
                </a:lnTo>
                <a:lnTo>
                  <a:pt x="2351731" y="438845"/>
                </a:lnTo>
                <a:lnTo>
                  <a:pt x="2370903" y="495533"/>
                </a:lnTo>
                <a:lnTo>
                  <a:pt x="2377440" y="553974"/>
                </a:lnTo>
                <a:lnTo>
                  <a:pt x="2375792" y="583394"/>
                </a:lnTo>
                <a:lnTo>
                  <a:pt x="2362855" y="640996"/>
                </a:lnTo>
                <a:lnTo>
                  <a:pt x="2337612" y="696693"/>
                </a:lnTo>
                <a:lnTo>
                  <a:pt x="2300721" y="750178"/>
                </a:lnTo>
                <a:lnTo>
                  <a:pt x="2252837" y="801144"/>
                </a:lnTo>
                <a:lnTo>
                  <a:pt x="2194620" y="849285"/>
                </a:lnTo>
                <a:lnTo>
                  <a:pt x="2161842" y="872201"/>
                </a:lnTo>
                <a:lnTo>
                  <a:pt x="2126726" y="894296"/>
                </a:lnTo>
                <a:lnTo>
                  <a:pt x="2089356" y="915531"/>
                </a:lnTo>
                <a:lnTo>
                  <a:pt x="2049814" y="935869"/>
                </a:lnTo>
                <a:lnTo>
                  <a:pt x="2008180" y="955271"/>
                </a:lnTo>
                <a:lnTo>
                  <a:pt x="1964539" y="973698"/>
                </a:lnTo>
                <a:lnTo>
                  <a:pt x="1918972" y="991113"/>
                </a:lnTo>
                <a:lnTo>
                  <a:pt x="1871560" y="1007477"/>
                </a:lnTo>
                <a:lnTo>
                  <a:pt x="1822388" y="1022752"/>
                </a:lnTo>
                <a:lnTo>
                  <a:pt x="1771535" y="1036900"/>
                </a:lnTo>
                <a:lnTo>
                  <a:pt x="1719085" y="1049882"/>
                </a:lnTo>
                <a:lnTo>
                  <a:pt x="1665121" y="1061660"/>
                </a:lnTo>
                <a:lnTo>
                  <a:pt x="1609723" y="1072196"/>
                </a:lnTo>
                <a:lnTo>
                  <a:pt x="1552974" y="1081452"/>
                </a:lnTo>
                <a:lnTo>
                  <a:pt x="1494957" y="1089388"/>
                </a:lnTo>
                <a:lnTo>
                  <a:pt x="1435754" y="1095967"/>
                </a:lnTo>
                <a:lnTo>
                  <a:pt x="1375446" y="1101151"/>
                </a:lnTo>
                <a:lnTo>
                  <a:pt x="1314116" y="1104901"/>
                </a:lnTo>
                <a:lnTo>
                  <a:pt x="1251847" y="1107180"/>
                </a:lnTo>
                <a:lnTo>
                  <a:pt x="1188720" y="1107948"/>
                </a:lnTo>
                <a:lnTo>
                  <a:pt x="1125588" y="1107180"/>
                </a:lnTo>
                <a:lnTo>
                  <a:pt x="1063314" y="1104901"/>
                </a:lnTo>
                <a:lnTo>
                  <a:pt x="1001981" y="1101151"/>
                </a:lnTo>
                <a:lnTo>
                  <a:pt x="941670" y="1095967"/>
                </a:lnTo>
                <a:lnTo>
                  <a:pt x="882464" y="1089388"/>
                </a:lnTo>
                <a:lnTo>
                  <a:pt x="824445" y="1081452"/>
                </a:lnTo>
                <a:lnTo>
                  <a:pt x="767695" y="1072196"/>
                </a:lnTo>
                <a:lnTo>
                  <a:pt x="712297" y="1061660"/>
                </a:lnTo>
                <a:lnTo>
                  <a:pt x="658331" y="1049882"/>
                </a:lnTo>
                <a:lnTo>
                  <a:pt x="605881" y="1036900"/>
                </a:lnTo>
                <a:lnTo>
                  <a:pt x="555029" y="1022752"/>
                </a:lnTo>
                <a:lnTo>
                  <a:pt x="505856" y="1007477"/>
                </a:lnTo>
                <a:lnTo>
                  <a:pt x="458446" y="991113"/>
                </a:lnTo>
                <a:lnTo>
                  <a:pt x="412879" y="973698"/>
                </a:lnTo>
                <a:lnTo>
                  <a:pt x="369239" y="955271"/>
                </a:lnTo>
                <a:lnTo>
                  <a:pt x="327607" y="935869"/>
                </a:lnTo>
                <a:lnTo>
                  <a:pt x="288066" y="915531"/>
                </a:lnTo>
                <a:lnTo>
                  <a:pt x="250697" y="894296"/>
                </a:lnTo>
                <a:lnTo>
                  <a:pt x="215583" y="872201"/>
                </a:lnTo>
                <a:lnTo>
                  <a:pt x="182806" y="849285"/>
                </a:lnTo>
                <a:lnTo>
                  <a:pt x="152449" y="825587"/>
                </a:lnTo>
                <a:lnTo>
                  <a:pt x="99320" y="775995"/>
                </a:lnTo>
                <a:lnTo>
                  <a:pt x="56853" y="723731"/>
                </a:lnTo>
                <a:lnTo>
                  <a:pt x="25706" y="669102"/>
                </a:lnTo>
                <a:lnTo>
                  <a:pt x="6536" y="612414"/>
                </a:lnTo>
                <a:lnTo>
                  <a:pt x="0" y="553974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795" y="504254"/>
            <a:ext cx="7901957" cy="59768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6363" y="406895"/>
            <a:ext cx="8084820" cy="870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9516" y="477012"/>
            <a:ext cx="7818120" cy="523240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0" tIns="3683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290"/>
              </a:spcBef>
            </a:pPr>
            <a:r>
              <a:rPr sz="2800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NAD</a:t>
            </a:r>
            <a:r>
              <a:rPr sz="2775" spc="-7" baseline="26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800" spc="-5" dirty="0">
                <a:solidFill>
                  <a:srgbClr val="FFFFFF"/>
                </a:solidFill>
              </a:rPr>
              <a:t>（</a:t>
            </a:r>
            <a:r>
              <a:rPr sz="2800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NADP</a:t>
            </a:r>
            <a:r>
              <a:rPr sz="2775" spc="-7" baseline="26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800" spc="-5" dirty="0">
                <a:solidFill>
                  <a:srgbClr val="FFFFFF"/>
                </a:solidFill>
              </a:rPr>
              <a:t>）</a:t>
            </a:r>
            <a:r>
              <a:rPr sz="2800" spc="5" dirty="0">
                <a:solidFill>
                  <a:srgbClr val="FFFFFF"/>
                </a:solidFill>
              </a:rPr>
              <a:t>和</a:t>
            </a:r>
            <a:r>
              <a:rPr sz="2800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800" spc="-5" dirty="0">
                <a:solidFill>
                  <a:srgbClr val="FFFFFF"/>
                </a:solidFill>
              </a:rPr>
              <a:t>（</a:t>
            </a:r>
            <a:r>
              <a:rPr sz="2800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NADPH</a:t>
            </a:r>
            <a:r>
              <a:rPr sz="2800" spc="-5" dirty="0">
                <a:solidFill>
                  <a:srgbClr val="FFFFFF"/>
                </a:solidFill>
              </a:rPr>
              <a:t>）</a:t>
            </a:r>
            <a:r>
              <a:rPr sz="2800" spc="5" dirty="0">
                <a:solidFill>
                  <a:srgbClr val="FFFFFF"/>
                </a:solidFill>
              </a:rPr>
              <a:t>相互转变</a:t>
            </a:r>
            <a:endParaRPr sz="28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7868" y="1844039"/>
            <a:ext cx="8281416" cy="31790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92929" y="2277617"/>
            <a:ext cx="323850" cy="576580"/>
          </a:xfrm>
          <a:custGeom>
            <a:avLst/>
            <a:gdLst/>
            <a:ahLst/>
            <a:cxnLst/>
            <a:rect l="l" t="t" r="r" b="b"/>
            <a:pathLst>
              <a:path w="323850" h="576580">
                <a:moveTo>
                  <a:pt x="323850" y="0"/>
                </a:moveTo>
                <a:lnTo>
                  <a:pt x="0" y="576326"/>
                </a:lnTo>
              </a:path>
            </a:pathLst>
          </a:custGeom>
          <a:ln w="2590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17541" y="2277617"/>
            <a:ext cx="287655" cy="576580"/>
          </a:xfrm>
          <a:custGeom>
            <a:avLst/>
            <a:gdLst/>
            <a:ahLst/>
            <a:cxnLst/>
            <a:rect l="l" t="t" r="r" b="b"/>
            <a:pathLst>
              <a:path w="287654" h="576580">
                <a:moveTo>
                  <a:pt x="0" y="0"/>
                </a:moveTo>
                <a:lnTo>
                  <a:pt x="287274" y="576326"/>
                </a:lnTo>
              </a:path>
            </a:pathLst>
          </a:custGeom>
          <a:ln w="2590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608703" y="1879803"/>
            <a:ext cx="24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 panose="02020503050405090304"/>
                <a:cs typeface="Times New Roman" panose="02020503050405090304"/>
              </a:rPr>
              <a:t>H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8810" y="3277742"/>
            <a:ext cx="3108960" cy="488950"/>
          </a:xfrm>
          <a:custGeom>
            <a:avLst/>
            <a:gdLst/>
            <a:ahLst/>
            <a:cxnLst/>
            <a:rect l="l" t="t" r="r" b="b"/>
            <a:pathLst>
              <a:path w="3108960" h="488950">
                <a:moveTo>
                  <a:pt x="129285" y="359029"/>
                </a:moveTo>
                <a:lnTo>
                  <a:pt x="0" y="424307"/>
                </a:lnTo>
                <a:lnTo>
                  <a:pt x="129793" y="488569"/>
                </a:lnTo>
                <a:lnTo>
                  <a:pt x="129590" y="436753"/>
                </a:lnTo>
                <a:lnTo>
                  <a:pt x="116585" y="436753"/>
                </a:lnTo>
                <a:lnTo>
                  <a:pt x="116585" y="410845"/>
                </a:lnTo>
                <a:lnTo>
                  <a:pt x="129489" y="410797"/>
                </a:lnTo>
                <a:lnTo>
                  <a:pt x="129285" y="359029"/>
                </a:lnTo>
                <a:close/>
              </a:path>
              <a:path w="3108960" h="488950">
                <a:moveTo>
                  <a:pt x="129489" y="410797"/>
                </a:moveTo>
                <a:lnTo>
                  <a:pt x="116585" y="410845"/>
                </a:lnTo>
                <a:lnTo>
                  <a:pt x="116585" y="436753"/>
                </a:lnTo>
                <a:lnTo>
                  <a:pt x="129590" y="436695"/>
                </a:lnTo>
                <a:lnTo>
                  <a:pt x="129489" y="410797"/>
                </a:lnTo>
                <a:close/>
              </a:path>
              <a:path w="3108960" h="488950">
                <a:moveTo>
                  <a:pt x="129590" y="436695"/>
                </a:moveTo>
                <a:lnTo>
                  <a:pt x="116585" y="436753"/>
                </a:lnTo>
                <a:lnTo>
                  <a:pt x="129590" y="436753"/>
                </a:lnTo>
                <a:close/>
              </a:path>
              <a:path w="3108960" h="488950">
                <a:moveTo>
                  <a:pt x="3074002" y="220315"/>
                </a:moveTo>
                <a:lnTo>
                  <a:pt x="3034411" y="237744"/>
                </a:lnTo>
                <a:lnTo>
                  <a:pt x="2981705" y="251714"/>
                </a:lnTo>
                <a:lnTo>
                  <a:pt x="2911348" y="265811"/>
                </a:lnTo>
                <a:lnTo>
                  <a:pt x="2824479" y="279654"/>
                </a:lnTo>
                <a:lnTo>
                  <a:pt x="2757931" y="288671"/>
                </a:lnTo>
                <a:lnTo>
                  <a:pt x="2645917" y="301879"/>
                </a:lnTo>
                <a:lnTo>
                  <a:pt x="2520061" y="314706"/>
                </a:lnTo>
                <a:lnTo>
                  <a:pt x="2332736" y="331089"/>
                </a:lnTo>
                <a:lnTo>
                  <a:pt x="2124964" y="346329"/>
                </a:lnTo>
                <a:lnTo>
                  <a:pt x="1779904" y="366776"/>
                </a:lnTo>
                <a:lnTo>
                  <a:pt x="1269619" y="389001"/>
                </a:lnTo>
                <a:lnTo>
                  <a:pt x="718565" y="404114"/>
                </a:lnTo>
                <a:lnTo>
                  <a:pt x="129489" y="410797"/>
                </a:lnTo>
                <a:lnTo>
                  <a:pt x="129590" y="436695"/>
                </a:lnTo>
                <a:lnTo>
                  <a:pt x="719073" y="430022"/>
                </a:lnTo>
                <a:lnTo>
                  <a:pt x="1270508" y="414909"/>
                </a:lnTo>
                <a:lnTo>
                  <a:pt x="1781302" y="392557"/>
                </a:lnTo>
                <a:lnTo>
                  <a:pt x="2126741" y="372110"/>
                </a:lnTo>
                <a:lnTo>
                  <a:pt x="2334894" y="356870"/>
                </a:lnTo>
                <a:lnTo>
                  <a:pt x="2522601" y="340487"/>
                </a:lnTo>
                <a:lnTo>
                  <a:pt x="2648839" y="327660"/>
                </a:lnTo>
                <a:lnTo>
                  <a:pt x="2761234" y="314325"/>
                </a:lnTo>
                <a:lnTo>
                  <a:pt x="2828290" y="305181"/>
                </a:lnTo>
                <a:lnTo>
                  <a:pt x="2916047" y="291211"/>
                </a:lnTo>
                <a:lnTo>
                  <a:pt x="2965704" y="281686"/>
                </a:lnTo>
                <a:lnTo>
                  <a:pt x="3007994" y="272034"/>
                </a:lnTo>
                <a:lnTo>
                  <a:pt x="3057398" y="257048"/>
                </a:lnTo>
                <a:lnTo>
                  <a:pt x="3089529" y="241046"/>
                </a:lnTo>
                <a:lnTo>
                  <a:pt x="3090164" y="240665"/>
                </a:lnTo>
                <a:lnTo>
                  <a:pt x="3090672" y="240284"/>
                </a:lnTo>
                <a:lnTo>
                  <a:pt x="3096132" y="235331"/>
                </a:lnTo>
                <a:lnTo>
                  <a:pt x="3097022" y="234696"/>
                </a:lnTo>
                <a:lnTo>
                  <a:pt x="3104317" y="220726"/>
                </a:lnTo>
                <a:lnTo>
                  <a:pt x="3073527" y="220726"/>
                </a:lnTo>
                <a:lnTo>
                  <a:pt x="3074002" y="220315"/>
                </a:lnTo>
                <a:close/>
              </a:path>
              <a:path w="3108960" h="488950">
                <a:moveTo>
                  <a:pt x="3075178" y="219583"/>
                </a:moveTo>
                <a:lnTo>
                  <a:pt x="3074002" y="220315"/>
                </a:lnTo>
                <a:lnTo>
                  <a:pt x="3073527" y="220726"/>
                </a:lnTo>
                <a:lnTo>
                  <a:pt x="3075178" y="219583"/>
                </a:lnTo>
                <a:close/>
              </a:path>
              <a:path w="3108960" h="488950">
                <a:moveTo>
                  <a:pt x="3104588" y="219583"/>
                </a:moveTo>
                <a:lnTo>
                  <a:pt x="3075178" y="219583"/>
                </a:lnTo>
                <a:lnTo>
                  <a:pt x="3073527" y="220726"/>
                </a:lnTo>
                <a:lnTo>
                  <a:pt x="3104317" y="220726"/>
                </a:lnTo>
                <a:lnTo>
                  <a:pt x="3104588" y="219583"/>
                </a:lnTo>
                <a:close/>
              </a:path>
              <a:path w="3108960" h="488950">
                <a:moveTo>
                  <a:pt x="3077803" y="217033"/>
                </a:moveTo>
                <a:lnTo>
                  <a:pt x="3074002" y="220315"/>
                </a:lnTo>
                <a:lnTo>
                  <a:pt x="3075178" y="219583"/>
                </a:lnTo>
                <a:lnTo>
                  <a:pt x="3104588" y="219583"/>
                </a:lnTo>
                <a:lnTo>
                  <a:pt x="3104768" y="218821"/>
                </a:lnTo>
                <a:lnTo>
                  <a:pt x="3104819" y="218440"/>
                </a:lnTo>
                <a:lnTo>
                  <a:pt x="3076829" y="218440"/>
                </a:lnTo>
                <a:lnTo>
                  <a:pt x="3077803" y="217033"/>
                </a:lnTo>
                <a:close/>
              </a:path>
              <a:path w="3108960" h="488950">
                <a:moveTo>
                  <a:pt x="3078686" y="216270"/>
                </a:moveTo>
                <a:lnTo>
                  <a:pt x="3077803" y="217033"/>
                </a:lnTo>
                <a:lnTo>
                  <a:pt x="3076829" y="218440"/>
                </a:lnTo>
                <a:lnTo>
                  <a:pt x="3078652" y="216414"/>
                </a:lnTo>
                <a:lnTo>
                  <a:pt x="3078686" y="216270"/>
                </a:lnTo>
                <a:close/>
              </a:path>
              <a:path w="3108960" h="488950">
                <a:moveTo>
                  <a:pt x="3078652" y="216414"/>
                </a:moveTo>
                <a:lnTo>
                  <a:pt x="3076829" y="218440"/>
                </a:lnTo>
                <a:lnTo>
                  <a:pt x="3104819" y="218440"/>
                </a:lnTo>
                <a:lnTo>
                  <a:pt x="3104921" y="217678"/>
                </a:lnTo>
                <a:lnTo>
                  <a:pt x="3078353" y="217678"/>
                </a:lnTo>
                <a:lnTo>
                  <a:pt x="3078652" y="216414"/>
                </a:lnTo>
                <a:close/>
              </a:path>
              <a:path w="3108960" h="488950">
                <a:moveTo>
                  <a:pt x="3079161" y="215900"/>
                </a:moveTo>
                <a:lnTo>
                  <a:pt x="3078652" y="216414"/>
                </a:lnTo>
                <a:lnTo>
                  <a:pt x="3078353" y="217678"/>
                </a:lnTo>
                <a:lnTo>
                  <a:pt x="3079161" y="215900"/>
                </a:lnTo>
                <a:close/>
              </a:path>
              <a:path w="3108960" h="488950">
                <a:moveTo>
                  <a:pt x="3105033" y="213487"/>
                </a:moveTo>
                <a:lnTo>
                  <a:pt x="3080257" y="213487"/>
                </a:lnTo>
                <a:lnTo>
                  <a:pt x="3078353" y="217678"/>
                </a:lnTo>
                <a:lnTo>
                  <a:pt x="3104921" y="217678"/>
                </a:lnTo>
                <a:lnTo>
                  <a:pt x="3105033" y="213487"/>
                </a:lnTo>
                <a:close/>
              </a:path>
              <a:path w="3108960" h="488950">
                <a:moveTo>
                  <a:pt x="3078871" y="215490"/>
                </a:moveTo>
                <a:lnTo>
                  <a:pt x="3077803" y="217033"/>
                </a:lnTo>
                <a:lnTo>
                  <a:pt x="3078686" y="216270"/>
                </a:lnTo>
                <a:lnTo>
                  <a:pt x="3078871" y="215490"/>
                </a:lnTo>
                <a:close/>
              </a:path>
              <a:path w="3108960" h="488950">
                <a:moveTo>
                  <a:pt x="3079115" y="215900"/>
                </a:moveTo>
                <a:lnTo>
                  <a:pt x="3078686" y="216270"/>
                </a:lnTo>
                <a:lnTo>
                  <a:pt x="3078652" y="216414"/>
                </a:lnTo>
                <a:lnTo>
                  <a:pt x="3079115" y="215900"/>
                </a:lnTo>
                <a:close/>
              </a:path>
              <a:path w="3108960" h="488950">
                <a:moveTo>
                  <a:pt x="3079117" y="215134"/>
                </a:moveTo>
                <a:lnTo>
                  <a:pt x="3078871" y="215490"/>
                </a:lnTo>
                <a:lnTo>
                  <a:pt x="3078686" y="216270"/>
                </a:lnTo>
                <a:lnTo>
                  <a:pt x="3079115" y="215900"/>
                </a:lnTo>
                <a:lnTo>
                  <a:pt x="3079117" y="215134"/>
                </a:lnTo>
                <a:close/>
              </a:path>
              <a:path w="3108960" h="488950">
                <a:moveTo>
                  <a:pt x="3080257" y="213487"/>
                </a:moveTo>
                <a:lnTo>
                  <a:pt x="3079217" y="214990"/>
                </a:lnTo>
                <a:lnTo>
                  <a:pt x="3079115" y="215773"/>
                </a:lnTo>
                <a:lnTo>
                  <a:pt x="3080257" y="213487"/>
                </a:lnTo>
                <a:close/>
              </a:path>
              <a:path w="3108960" h="488950">
                <a:moveTo>
                  <a:pt x="3079119" y="214442"/>
                </a:moveTo>
                <a:lnTo>
                  <a:pt x="3078871" y="215490"/>
                </a:lnTo>
                <a:lnTo>
                  <a:pt x="3079117" y="215134"/>
                </a:lnTo>
                <a:lnTo>
                  <a:pt x="3079119" y="214442"/>
                </a:lnTo>
                <a:close/>
              </a:path>
              <a:path w="3108960" h="488950">
                <a:moveTo>
                  <a:pt x="3079495" y="212852"/>
                </a:moveTo>
                <a:lnTo>
                  <a:pt x="3079119" y="214442"/>
                </a:lnTo>
                <a:lnTo>
                  <a:pt x="3079117" y="215134"/>
                </a:lnTo>
                <a:lnTo>
                  <a:pt x="3079217" y="214990"/>
                </a:lnTo>
                <a:lnTo>
                  <a:pt x="3079495" y="212852"/>
                </a:lnTo>
                <a:close/>
              </a:path>
              <a:path w="3108960" h="488950">
                <a:moveTo>
                  <a:pt x="3105035" y="212852"/>
                </a:moveTo>
                <a:lnTo>
                  <a:pt x="3079495" y="212852"/>
                </a:lnTo>
                <a:lnTo>
                  <a:pt x="3079217" y="214990"/>
                </a:lnTo>
                <a:lnTo>
                  <a:pt x="3080257" y="213487"/>
                </a:lnTo>
                <a:lnTo>
                  <a:pt x="3105033" y="213487"/>
                </a:lnTo>
                <a:lnTo>
                  <a:pt x="3105035" y="212852"/>
                </a:lnTo>
                <a:close/>
              </a:path>
              <a:path w="3108960" h="488950">
                <a:moveTo>
                  <a:pt x="3085591" y="0"/>
                </a:moveTo>
                <a:lnTo>
                  <a:pt x="3085465" y="381"/>
                </a:lnTo>
                <a:lnTo>
                  <a:pt x="3084449" y="1778"/>
                </a:lnTo>
                <a:lnTo>
                  <a:pt x="3083814" y="3302"/>
                </a:lnTo>
                <a:lnTo>
                  <a:pt x="3083432" y="4953"/>
                </a:lnTo>
                <a:lnTo>
                  <a:pt x="3083305" y="5969"/>
                </a:lnTo>
                <a:lnTo>
                  <a:pt x="3082925" y="8255"/>
                </a:lnTo>
                <a:lnTo>
                  <a:pt x="3080875" y="58674"/>
                </a:lnTo>
                <a:lnTo>
                  <a:pt x="3080499" y="72771"/>
                </a:lnTo>
                <a:lnTo>
                  <a:pt x="3080246" y="87884"/>
                </a:lnTo>
                <a:lnTo>
                  <a:pt x="3079873" y="104267"/>
                </a:lnTo>
                <a:lnTo>
                  <a:pt x="3079746" y="121412"/>
                </a:lnTo>
                <a:lnTo>
                  <a:pt x="3079493" y="139446"/>
                </a:lnTo>
                <a:lnTo>
                  <a:pt x="3079241" y="176784"/>
                </a:lnTo>
                <a:lnTo>
                  <a:pt x="3079119" y="214442"/>
                </a:lnTo>
                <a:lnTo>
                  <a:pt x="3079495" y="212852"/>
                </a:lnTo>
                <a:lnTo>
                  <a:pt x="3105035" y="212852"/>
                </a:lnTo>
                <a:lnTo>
                  <a:pt x="3105150" y="176784"/>
                </a:lnTo>
                <a:lnTo>
                  <a:pt x="3105409" y="139065"/>
                </a:lnTo>
                <a:lnTo>
                  <a:pt x="3105659" y="121158"/>
                </a:lnTo>
                <a:lnTo>
                  <a:pt x="3105792" y="103759"/>
                </a:lnTo>
                <a:lnTo>
                  <a:pt x="3106051" y="87376"/>
                </a:lnTo>
                <a:lnTo>
                  <a:pt x="3106813" y="58039"/>
                </a:lnTo>
                <a:lnTo>
                  <a:pt x="3107081" y="45339"/>
                </a:lnTo>
                <a:lnTo>
                  <a:pt x="3107477" y="34036"/>
                </a:lnTo>
                <a:lnTo>
                  <a:pt x="3107882" y="24511"/>
                </a:lnTo>
                <a:lnTo>
                  <a:pt x="3108198" y="18415"/>
                </a:lnTo>
                <a:lnTo>
                  <a:pt x="3108461" y="14732"/>
                </a:lnTo>
                <a:lnTo>
                  <a:pt x="3106928" y="14732"/>
                </a:lnTo>
                <a:lnTo>
                  <a:pt x="3107070" y="14403"/>
                </a:lnTo>
                <a:lnTo>
                  <a:pt x="3085591" y="0"/>
                </a:lnTo>
                <a:close/>
              </a:path>
              <a:path w="3108960" h="488950">
                <a:moveTo>
                  <a:pt x="3107070" y="14403"/>
                </a:moveTo>
                <a:lnTo>
                  <a:pt x="3106928" y="14732"/>
                </a:lnTo>
                <a:lnTo>
                  <a:pt x="3107181" y="14478"/>
                </a:lnTo>
                <a:close/>
              </a:path>
              <a:path w="3108960" h="488950">
                <a:moveTo>
                  <a:pt x="3108960" y="10033"/>
                </a:moveTo>
                <a:lnTo>
                  <a:pt x="3107070" y="14403"/>
                </a:lnTo>
                <a:lnTo>
                  <a:pt x="3106928" y="14732"/>
                </a:lnTo>
                <a:lnTo>
                  <a:pt x="3108461" y="14732"/>
                </a:lnTo>
                <a:lnTo>
                  <a:pt x="3108705" y="11049"/>
                </a:lnTo>
                <a:lnTo>
                  <a:pt x="3108960" y="1003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04366" y="3467861"/>
            <a:ext cx="504825" cy="467995"/>
          </a:xfrm>
          <a:custGeom>
            <a:avLst/>
            <a:gdLst/>
            <a:ahLst/>
            <a:cxnLst/>
            <a:rect l="l" t="t" r="r" b="b"/>
            <a:pathLst>
              <a:path w="504825" h="467995">
                <a:moveTo>
                  <a:pt x="0" y="233933"/>
                </a:moveTo>
                <a:lnTo>
                  <a:pt x="5123" y="186799"/>
                </a:lnTo>
                <a:lnTo>
                  <a:pt x="19817" y="142892"/>
                </a:lnTo>
                <a:lnTo>
                  <a:pt x="43070" y="103156"/>
                </a:lnTo>
                <a:lnTo>
                  <a:pt x="73866" y="68532"/>
                </a:lnTo>
                <a:lnTo>
                  <a:pt x="111193" y="39962"/>
                </a:lnTo>
                <a:lnTo>
                  <a:pt x="154037" y="18389"/>
                </a:lnTo>
                <a:lnTo>
                  <a:pt x="201384" y="4754"/>
                </a:lnTo>
                <a:lnTo>
                  <a:pt x="252222" y="0"/>
                </a:lnTo>
                <a:lnTo>
                  <a:pt x="303059" y="4754"/>
                </a:lnTo>
                <a:lnTo>
                  <a:pt x="350406" y="18389"/>
                </a:lnTo>
                <a:lnTo>
                  <a:pt x="393250" y="39962"/>
                </a:lnTo>
                <a:lnTo>
                  <a:pt x="430577" y="68532"/>
                </a:lnTo>
                <a:lnTo>
                  <a:pt x="461373" y="103156"/>
                </a:lnTo>
                <a:lnTo>
                  <a:pt x="484626" y="142892"/>
                </a:lnTo>
                <a:lnTo>
                  <a:pt x="499320" y="186799"/>
                </a:lnTo>
                <a:lnTo>
                  <a:pt x="504444" y="233933"/>
                </a:lnTo>
                <a:lnTo>
                  <a:pt x="499320" y="281068"/>
                </a:lnTo>
                <a:lnTo>
                  <a:pt x="484626" y="324975"/>
                </a:lnTo>
                <a:lnTo>
                  <a:pt x="461373" y="364711"/>
                </a:lnTo>
                <a:lnTo>
                  <a:pt x="430577" y="399335"/>
                </a:lnTo>
                <a:lnTo>
                  <a:pt x="393250" y="427905"/>
                </a:lnTo>
                <a:lnTo>
                  <a:pt x="350406" y="449478"/>
                </a:lnTo>
                <a:lnTo>
                  <a:pt x="303059" y="463113"/>
                </a:lnTo>
                <a:lnTo>
                  <a:pt x="252222" y="467868"/>
                </a:lnTo>
                <a:lnTo>
                  <a:pt x="201384" y="463113"/>
                </a:lnTo>
                <a:lnTo>
                  <a:pt x="154037" y="449478"/>
                </a:lnTo>
                <a:lnTo>
                  <a:pt x="111193" y="427905"/>
                </a:lnTo>
                <a:lnTo>
                  <a:pt x="73866" y="399335"/>
                </a:lnTo>
                <a:lnTo>
                  <a:pt x="43070" y="364711"/>
                </a:lnTo>
                <a:lnTo>
                  <a:pt x="19817" y="324975"/>
                </a:lnTo>
                <a:lnTo>
                  <a:pt x="5123" y="281068"/>
                </a:lnTo>
                <a:lnTo>
                  <a:pt x="0" y="233933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04366" y="2160270"/>
            <a:ext cx="504825" cy="466725"/>
          </a:xfrm>
          <a:custGeom>
            <a:avLst/>
            <a:gdLst/>
            <a:ahLst/>
            <a:cxnLst/>
            <a:rect l="l" t="t" r="r" b="b"/>
            <a:pathLst>
              <a:path w="504825" h="466725">
                <a:moveTo>
                  <a:pt x="0" y="233171"/>
                </a:moveTo>
                <a:lnTo>
                  <a:pt x="5123" y="186179"/>
                </a:lnTo>
                <a:lnTo>
                  <a:pt x="19817" y="142410"/>
                </a:lnTo>
                <a:lnTo>
                  <a:pt x="43070" y="102803"/>
                </a:lnTo>
                <a:lnTo>
                  <a:pt x="73866" y="68294"/>
                </a:lnTo>
                <a:lnTo>
                  <a:pt x="111193" y="39821"/>
                </a:lnTo>
                <a:lnTo>
                  <a:pt x="154037" y="18323"/>
                </a:lnTo>
                <a:lnTo>
                  <a:pt x="201384" y="4737"/>
                </a:lnTo>
                <a:lnTo>
                  <a:pt x="252222" y="0"/>
                </a:lnTo>
                <a:lnTo>
                  <a:pt x="303059" y="4737"/>
                </a:lnTo>
                <a:lnTo>
                  <a:pt x="350406" y="18323"/>
                </a:lnTo>
                <a:lnTo>
                  <a:pt x="393250" y="39821"/>
                </a:lnTo>
                <a:lnTo>
                  <a:pt x="430577" y="68294"/>
                </a:lnTo>
                <a:lnTo>
                  <a:pt x="461373" y="102803"/>
                </a:lnTo>
                <a:lnTo>
                  <a:pt x="484626" y="142410"/>
                </a:lnTo>
                <a:lnTo>
                  <a:pt x="499320" y="186179"/>
                </a:lnTo>
                <a:lnTo>
                  <a:pt x="504444" y="233171"/>
                </a:lnTo>
                <a:lnTo>
                  <a:pt x="499320" y="280164"/>
                </a:lnTo>
                <a:lnTo>
                  <a:pt x="484626" y="323933"/>
                </a:lnTo>
                <a:lnTo>
                  <a:pt x="461373" y="363540"/>
                </a:lnTo>
                <a:lnTo>
                  <a:pt x="430577" y="398049"/>
                </a:lnTo>
                <a:lnTo>
                  <a:pt x="393250" y="426522"/>
                </a:lnTo>
                <a:lnTo>
                  <a:pt x="350406" y="448020"/>
                </a:lnTo>
                <a:lnTo>
                  <a:pt x="303059" y="461606"/>
                </a:lnTo>
                <a:lnTo>
                  <a:pt x="252222" y="466343"/>
                </a:lnTo>
                <a:lnTo>
                  <a:pt x="201384" y="461606"/>
                </a:lnTo>
                <a:lnTo>
                  <a:pt x="154037" y="448020"/>
                </a:lnTo>
                <a:lnTo>
                  <a:pt x="111193" y="426522"/>
                </a:lnTo>
                <a:lnTo>
                  <a:pt x="73866" y="398049"/>
                </a:lnTo>
                <a:lnTo>
                  <a:pt x="43070" y="363540"/>
                </a:lnTo>
                <a:lnTo>
                  <a:pt x="19817" y="323933"/>
                </a:lnTo>
                <a:lnTo>
                  <a:pt x="5123" y="280164"/>
                </a:lnTo>
                <a:lnTo>
                  <a:pt x="0" y="233171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08810" y="2157602"/>
            <a:ext cx="1911350" cy="647700"/>
          </a:xfrm>
          <a:custGeom>
            <a:avLst/>
            <a:gdLst/>
            <a:ahLst/>
            <a:cxnLst/>
            <a:rect l="l" t="t" r="r" b="b"/>
            <a:pathLst>
              <a:path w="1911350" h="647700">
                <a:moveTo>
                  <a:pt x="1892548" y="622426"/>
                </a:moveTo>
                <a:lnTo>
                  <a:pt x="1869820" y="622426"/>
                </a:lnTo>
                <a:lnTo>
                  <a:pt x="1868768" y="623105"/>
                </a:lnTo>
                <a:lnTo>
                  <a:pt x="1876170" y="647573"/>
                </a:lnTo>
                <a:lnTo>
                  <a:pt x="1879600" y="646557"/>
                </a:lnTo>
                <a:lnTo>
                  <a:pt x="1881631" y="645287"/>
                </a:lnTo>
                <a:lnTo>
                  <a:pt x="1884299" y="642366"/>
                </a:lnTo>
                <a:lnTo>
                  <a:pt x="1884934" y="641731"/>
                </a:lnTo>
                <a:lnTo>
                  <a:pt x="1892045" y="624586"/>
                </a:lnTo>
                <a:lnTo>
                  <a:pt x="1892548" y="622426"/>
                </a:lnTo>
                <a:close/>
              </a:path>
              <a:path w="1911350" h="647700">
                <a:moveTo>
                  <a:pt x="1864406" y="625916"/>
                </a:moveTo>
                <a:lnTo>
                  <a:pt x="1863852" y="626745"/>
                </a:lnTo>
                <a:lnTo>
                  <a:pt x="1864317" y="626110"/>
                </a:lnTo>
                <a:lnTo>
                  <a:pt x="1864406" y="625916"/>
                </a:lnTo>
                <a:close/>
              </a:path>
              <a:path w="1911350" h="647700">
                <a:moveTo>
                  <a:pt x="1864450" y="625928"/>
                </a:moveTo>
                <a:lnTo>
                  <a:pt x="1864323" y="626110"/>
                </a:lnTo>
                <a:lnTo>
                  <a:pt x="1864105" y="626618"/>
                </a:lnTo>
                <a:lnTo>
                  <a:pt x="1864450" y="625928"/>
                </a:lnTo>
                <a:close/>
              </a:path>
              <a:path w="1911350" h="647700">
                <a:moveTo>
                  <a:pt x="1864486" y="625686"/>
                </a:moveTo>
                <a:lnTo>
                  <a:pt x="1864105" y="626110"/>
                </a:lnTo>
                <a:lnTo>
                  <a:pt x="1864313" y="625976"/>
                </a:lnTo>
                <a:lnTo>
                  <a:pt x="1864486" y="625686"/>
                </a:lnTo>
                <a:close/>
              </a:path>
              <a:path w="1911350" h="647700">
                <a:moveTo>
                  <a:pt x="1864480" y="625868"/>
                </a:moveTo>
                <a:lnTo>
                  <a:pt x="1864332" y="626090"/>
                </a:lnTo>
                <a:lnTo>
                  <a:pt x="1864480" y="625868"/>
                </a:lnTo>
                <a:close/>
              </a:path>
              <a:path w="1911350" h="647700">
                <a:moveTo>
                  <a:pt x="1864521" y="625648"/>
                </a:moveTo>
                <a:lnTo>
                  <a:pt x="1864313" y="625976"/>
                </a:lnTo>
                <a:lnTo>
                  <a:pt x="1864521" y="625648"/>
                </a:lnTo>
                <a:close/>
              </a:path>
              <a:path w="1911350" h="647700">
                <a:moveTo>
                  <a:pt x="1864677" y="625475"/>
                </a:moveTo>
                <a:lnTo>
                  <a:pt x="1864521" y="625648"/>
                </a:lnTo>
                <a:lnTo>
                  <a:pt x="1864406" y="625916"/>
                </a:lnTo>
                <a:lnTo>
                  <a:pt x="1864677" y="625475"/>
                </a:lnTo>
                <a:close/>
              </a:path>
              <a:path w="1911350" h="647700">
                <a:moveTo>
                  <a:pt x="1865249" y="624839"/>
                </a:moveTo>
                <a:lnTo>
                  <a:pt x="1864677" y="625475"/>
                </a:lnTo>
                <a:lnTo>
                  <a:pt x="1864480" y="625868"/>
                </a:lnTo>
                <a:lnTo>
                  <a:pt x="1865249" y="624839"/>
                </a:lnTo>
                <a:close/>
              </a:path>
              <a:path w="1911350" h="647700">
                <a:moveTo>
                  <a:pt x="1866076" y="624839"/>
                </a:moveTo>
                <a:lnTo>
                  <a:pt x="1865249" y="624839"/>
                </a:lnTo>
                <a:lnTo>
                  <a:pt x="1864507" y="625851"/>
                </a:lnTo>
                <a:lnTo>
                  <a:pt x="1866076" y="624839"/>
                </a:lnTo>
                <a:close/>
              </a:path>
              <a:path w="1911350" h="647700">
                <a:moveTo>
                  <a:pt x="1864994" y="624839"/>
                </a:moveTo>
                <a:lnTo>
                  <a:pt x="1864521" y="625648"/>
                </a:lnTo>
                <a:lnTo>
                  <a:pt x="1864677" y="625475"/>
                </a:lnTo>
                <a:lnTo>
                  <a:pt x="1864994" y="624839"/>
                </a:lnTo>
                <a:close/>
              </a:path>
              <a:path w="1911350" h="647700">
                <a:moveTo>
                  <a:pt x="1911215" y="349376"/>
                </a:moveTo>
                <a:lnTo>
                  <a:pt x="1885314" y="349376"/>
                </a:lnTo>
                <a:lnTo>
                  <a:pt x="1885568" y="352044"/>
                </a:lnTo>
                <a:lnTo>
                  <a:pt x="1885283" y="352044"/>
                </a:lnTo>
                <a:lnTo>
                  <a:pt x="1884679" y="402463"/>
                </a:lnTo>
                <a:lnTo>
                  <a:pt x="1883155" y="453771"/>
                </a:lnTo>
                <a:lnTo>
                  <a:pt x="1880615" y="501650"/>
                </a:lnTo>
                <a:lnTo>
                  <a:pt x="1877314" y="544702"/>
                </a:lnTo>
                <a:lnTo>
                  <a:pt x="1872361" y="588518"/>
                </a:lnTo>
                <a:lnTo>
                  <a:pt x="1864550" y="625580"/>
                </a:lnTo>
                <a:lnTo>
                  <a:pt x="1864994" y="624839"/>
                </a:lnTo>
                <a:lnTo>
                  <a:pt x="1866076" y="624839"/>
                </a:lnTo>
                <a:lnTo>
                  <a:pt x="1868768" y="623105"/>
                </a:lnTo>
                <a:lnTo>
                  <a:pt x="1868677" y="622808"/>
                </a:lnTo>
                <a:lnTo>
                  <a:pt x="1869820" y="622426"/>
                </a:lnTo>
                <a:lnTo>
                  <a:pt x="1892548" y="622426"/>
                </a:lnTo>
                <a:lnTo>
                  <a:pt x="1893315" y="619125"/>
                </a:lnTo>
                <a:lnTo>
                  <a:pt x="1901063" y="566547"/>
                </a:lnTo>
                <a:lnTo>
                  <a:pt x="1904745" y="526034"/>
                </a:lnTo>
                <a:lnTo>
                  <a:pt x="1907793" y="479679"/>
                </a:lnTo>
                <a:lnTo>
                  <a:pt x="1909826" y="429387"/>
                </a:lnTo>
                <a:lnTo>
                  <a:pt x="1911184" y="352044"/>
                </a:lnTo>
                <a:lnTo>
                  <a:pt x="1885568" y="352044"/>
                </a:lnTo>
                <a:lnTo>
                  <a:pt x="1885298" y="350753"/>
                </a:lnTo>
                <a:lnTo>
                  <a:pt x="1911199" y="350753"/>
                </a:lnTo>
                <a:lnTo>
                  <a:pt x="1911215" y="349376"/>
                </a:lnTo>
                <a:close/>
              </a:path>
              <a:path w="1911350" h="647700">
                <a:moveTo>
                  <a:pt x="1865249" y="624839"/>
                </a:moveTo>
                <a:lnTo>
                  <a:pt x="1864994" y="624839"/>
                </a:lnTo>
                <a:lnTo>
                  <a:pt x="1864677" y="625475"/>
                </a:lnTo>
                <a:lnTo>
                  <a:pt x="1865249" y="624839"/>
                </a:lnTo>
                <a:close/>
              </a:path>
              <a:path w="1911350" h="647700">
                <a:moveTo>
                  <a:pt x="1869820" y="622426"/>
                </a:moveTo>
                <a:lnTo>
                  <a:pt x="1868677" y="622808"/>
                </a:lnTo>
                <a:lnTo>
                  <a:pt x="1868768" y="623105"/>
                </a:lnTo>
                <a:lnTo>
                  <a:pt x="1869820" y="622426"/>
                </a:lnTo>
                <a:close/>
              </a:path>
              <a:path w="1911350" h="647700">
                <a:moveTo>
                  <a:pt x="1885314" y="349376"/>
                </a:moveTo>
                <a:lnTo>
                  <a:pt x="1885298" y="350753"/>
                </a:lnTo>
                <a:lnTo>
                  <a:pt x="1885568" y="352044"/>
                </a:lnTo>
                <a:lnTo>
                  <a:pt x="1885314" y="349376"/>
                </a:lnTo>
                <a:close/>
              </a:path>
              <a:path w="1911350" h="647700">
                <a:moveTo>
                  <a:pt x="1883207" y="340774"/>
                </a:moveTo>
                <a:lnTo>
                  <a:pt x="1885298" y="350753"/>
                </a:lnTo>
                <a:lnTo>
                  <a:pt x="1885314" y="349376"/>
                </a:lnTo>
                <a:lnTo>
                  <a:pt x="1911215" y="349376"/>
                </a:lnTo>
                <a:lnTo>
                  <a:pt x="1911223" y="348742"/>
                </a:lnTo>
                <a:lnTo>
                  <a:pt x="1910968" y="346837"/>
                </a:lnTo>
                <a:lnTo>
                  <a:pt x="1910125" y="342773"/>
                </a:lnTo>
                <a:lnTo>
                  <a:pt x="1884426" y="342773"/>
                </a:lnTo>
                <a:lnTo>
                  <a:pt x="1883207" y="340774"/>
                </a:lnTo>
                <a:close/>
              </a:path>
              <a:path w="1911350" h="647700">
                <a:moveTo>
                  <a:pt x="1882775" y="338709"/>
                </a:moveTo>
                <a:lnTo>
                  <a:pt x="1883207" y="340774"/>
                </a:lnTo>
                <a:lnTo>
                  <a:pt x="1884426" y="342773"/>
                </a:lnTo>
                <a:lnTo>
                  <a:pt x="1882775" y="338709"/>
                </a:lnTo>
                <a:close/>
              </a:path>
              <a:path w="1911350" h="647700">
                <a:moveTo>
                  <a:pt x="1909282" y="338709"/>
                </a:moveTo>
                <a:lnTo>
                  <a:pt x="1882775" y="338709"/>
                </a:lnTo>
                <a:lnTo>
                  <a:pt x="1884426" y="342773"/>
                </a:lnTo>
                <a:lnTo>
                  <a:pt x="1910125" y="342773"/>
                </a:lnTo>
                <a:lnTo>
                  <a:pt x="1909282" y="338709"/>
                </a:lnTo>
                <a:close/>
              </a:path>
              <a:path w="1911350" h="647700">
                <a:moveTo>
                  <a:pt x="1906590" y="329438"/>
                </a:moveTo>
                <a:lnTo>
                  <a:pt x="1876298" y="329438"/>
                </a:lnTo>
                <a:lnTo>
                  <a:pt x="1878202" y="331850"/>
                </a:lnTo>
                <a:lnTo>
                  <a:pt x="1877768" y="331850"/>
                </a:lnTo>
                <a:lnTo>
                  <a:pt x="1883207" y="340774"/>
                </a:lnTo>
                <a:lnTo>
                  <a:pt x="1882775" y="338709"/>
                </a:lnTo>
                <a:lnTo>
                  <a:pt x="1909282" y="338709"/>
                </a:lnTo>
                <a:lnTo>
                  <a:pt x="1908175" y="333375"/>
                </a:lnTo>
                <a:lnTo>
                  <a:pt x="1907920" y="331977"/>
                </a:lnTo>
                <a:lnTo>
                  <a:pt x="1878202" y="331850"/>
                </a:lnTo>
                <a:lnTo>
                  <a:pt x="1877090" y="330738"/>
                </a:lnTo>
                <a:lnTo>
                  <a:pt x="1907357" y="330738"/>
                </a:lnTo>
                <a:lnTo>
                  <a:pt x="1907286" y="330581"/>
                </a:lnTo>
                <a:lnTo>
                  <a:pt x="1906590" y="329438"/>
                </a:lnTo>
                <a:close/>
              </a:path>
              <a:path w="1911350" h="647700">
                <a:moveTo>
                  <a:pt x="1876298" y="329438"/>
                </a:moveTo>
                <a:lnTo>
                  <a:pt x="1877090" y="330738"/>
                </a:lnTo>
                <a:lnTo>
                  <a:pt x="1878202" y="331850"/>
                </a:lnTo>
                <a:lnTo>
                  <a:pt x="1876298" y="329438"/>
                </a:lnTo>
                <a:close/>
              </a:path>
              <a:path w="1911350" h="647700">
                <a:moveTo>
                  <a:pt x="1865942" y="319590"/>
                </a:moveTo>
                <a:lnTo>
                  <a:pt x="1877090" y="330738"/>
                </a:lnTo>
                <a:lnTo>
                  <a:pt x="1876298" y="329438"/>
                </a:lnTo>
                <a:lnTo>
                  <a:pt x="1906590" y="329438"/>
                </a:lnTo>
                <a:lnTo>
                  <a:pt x="1900792" y="319913"/>
                </a:lnTo>
                <a:lnTo>
                  <a:pt x="1866391" y="319913"/>
                </a:lnTo>
                <a:lnTo>
                  <a:pt x="1865942" y="319590"/>
                </a:lnTo>
                <a:close/>
              </a:path>
              <a:path w="1911350" h="647700">
                <a:moveTo>
                  <a:pt x="1864867" y="318516"/>
                </a:moveTo>
                <a:lnTo>
                  <a:pt x="1865942" y="319590"/>
                </a:lnTo>
                <a:lnTo>
                  <a:pt x="1866391" y="319913"/>
                </a:lnTo>
                <a:lnTo>
                  <a:pt x="1864867" y="318516"/>
                </a:lnTo>
                <a:close/>
              </a:path>
              <a:path w="1911350" h="647700">
                <a:moveTo>
                  <a:pt x="1899942" y="318516"/>
                </a:moveTo>
                <a:lnTo>
                  <a:pt x="1864867" y="318516"/>
                </a:lnTo>
                <a:lnTo>
                  <a:pt x="1866391" y="319913"/>
                </a:lnTo>
                <a:lnTo>
                  <a:pt x="1900792" y="319913"/>
                </a:lnTo>
                <a:lnTo>
                  <a:pt x="1899942" y="318516"/>
                </a:lnTo>
                <a:close/>
              </a:path>
              <a:path w="1911350" h="647700">
                <a:moveTo>
                  <a:pt x="129666" y="51823"/>
                </a:moveTo>
                <a:lnTo>
                  <a:pt x="129412" y="77731"/>
                </a:lnTo>
                <a:lnTo>
                  <a:pt x="177419" y="78232"/>
                </a:lnTo>
                <a:lnTo>
                  <a:pt x="353440" y="82931"/>
                </a:lnTo>
                <a:lnTo>
                  <a:pt x="526922" y="90677"/>
                </a:lnTo>
                <a:lnTo>
                  <a:pt x="696087" y="101092"/>
                </a:lnTo>
                <a:lnTo>
                  <a:pt x="778637" y="107314"/>
                </a:lnTo>
                <a:lnTo>
                  <a:pt x="938910" y="121412"/>
                </a:lnTo>
                <a:lnTo>
                  <a:pt x="1091564" y="137668"/>
                </a:lnTo>
                <a:lnTo>
                  <a:pt x="1164589" y="146558"/>
                </a:lnTo>
                <a:lnTo>
                  <a:pt x="1235075" y="155956"/>
                </a:lnTo>
                <a:lnTo>
                  <a:pt x="1303020" y="165735"/>
                </a:lnTo>
                <a:lnTo>
                  <a:pt x="1368170" y="176022"/>
                </a:lnTo>
                <a:lnTo>
                  <a:pt x="1430401" y="186562"/>
                </a:lnTo>
                <a:lnTo>
                  <a:pt x="1489455" y="197612"/>
                </a:lnTo>
                <a:lnTo>
                  <a:pt x="1545081" y="208914"/>
                </a:lnTo>
                <a:lnTo>
                  <a:pt x="1597278" y="220472"/>
                </a:lnTo>
                <a:lnTo>
                  <a:pt x="1645792" y="232283"/>
                </a:lnTo>
                <a:lnTo>
                  <a:pt x="1690369" y="244475"/>
                </a:lnTo>
                <a:lnTo>
                  <a:pt x="1730882" y="256794"/>
                </a:lnTo>
                <a:lnTo>
                  <a:pt x="1767204" y="269239"/>
                </a:lnTo>
                <a:lnTo>
                  <a:pt x="1826005" y="294386"/>
                </a:lnTo>
                <a:lnTo>
                  <a:pt x="1865942" y="319590"/>
                </a:lnTo>
                <a:lnTo>
                  <a:pt x="1864867" y="318516"/>
                </a:lnTo>
                <a:lnTo>
                  <a:pt x="1899942" y="318516"/>
                </a:lnTo>
                <a:lnTo>
                  <a:pt x="1898395" y="315975"/>
                </a:lnTo>
                <a:lnTo>
                  <a:pt x="1897888" y="315087"/>
                </a:lnTo>
                <a:lnTo>
                  <a:pt x="1897252" y="314198"/>
                </a:lnTo>
                <a:lnTo>
                  <a:pt x="1896490" y="313563"/>
                </a:lnTo>
                <a:lnTo>
                  <a:pt x="1883028" y="300227"/>
                </a:lnTo>
                <a:lnTo>
                  <a:pt x="1838705" y="271780"/>
                </a:lnTo>
                <a:lnTo>
                  <a:pt x="1776729" y="245110"/>
                </a:lnTo>
                <a:lnTo>
                  <a:pt x="1739264" y="232283"/>
                </a:lnTo>
                <a:lnTo>
                  <a:pt x="1697863" y="219710"/>
                </a:lnTo>
                <a:lnTo>
                  <a:pt x="1652524" y="207391"/>
                </a:lnTo>
                <a:lnTo>
                  <a:pt x="1603502" y="195325"/>
                </a:lnTo>
                <a:lnTo>
                  <a:pt x="1550669" y="183514"/>
                </a:lnTo>
                <a:lnTo>
                  <a:pt x="1494536" y="172212"/>
                </a:lnTo>
                <a:lnTo>
                  <a:pt x="1435100" y="161036"/>
                </a:lnTo>
                <a:lnTo>
                  <a:pt x="1372489" y="150495"/>
                </a:lnTo>
                <a:lnTo>
                  <a:pt x="1307083" y="140208"/>
                </a:lnTo>
                <a:lnTo>
                  <a:pt x="1238758" y="130301"/>
                </a:lnTo>
                <a:lnTo>
                  <a:pt x="1094613" y="111887"/>
                </a:lnTo>
                <a:lnTo>
                  <a:pt x="941577" y="95631"/>
                </a:lnTo>
                <a:lnTo>
                  <a:pt x="780795" y="81534"/>
                </a:lnTo>
                <a:lnTo>
                  <a:pt x="697991" y="75311"/>
                </a:lnTo>
                <a:lnTo>
                  <a:pt x="528446" y="64770"/>
                </a:lnTo>
                <a:lnTo>
                  <a:pt x="354583" y="57023"/>
                </a:lnTo>
                <a:lnTo>
                  <a:pt x="178053" y="52324"/>
                </a:lnTo>
                <a:lnTo>
                  <a:pt x="129666" y="51823"/>
                </a:lnTo>
                <a:close/>
              </a:path>
              <a:path w="1911350" h="647700">
                <a:moveTo>
                  <a:pt x="130175" y="0"/>
                </a:moveTo>
                <a:lnTo>
                  <a:pt x="0" y="63626"/>
                </a:lnTo>
                <a:lnTo>
                  <a:pt x="128904" y="129539"/>
                </a:lnTo>
                <a:lnTo>
                  <a:pt x="129412" y="77731"/>
                </a:lnTo>
                <a:lnTo>
                  <a:pt x="116458" y="77597"/>
                </a:lnTo>
                <a:lnTo>
                  <a:pt x="116712" y="51688"/>
                </a:lnTo>
                <a:lnTo>
                  <a:pt x="129668" y="51688"/>
                </a:lnTo>
                <a:lnTo>
                  <a:pt x="130175" y="0"/>
                </a:lnTo>
                <a:close/>
              </a:path>
              <a:path w="1911350" h="647700">
                <a:moveTo>
                  <a:pt x="116712" y="51688"/>
                </a:moveTo>
                <a:lnTo>
                  <a:pt x="116458" y="77597"/>
                </a:lnTo>
                <a:lnTo>
                  <a:pt x="129412" y="77731"/>
                </a:lnTo>
                <a:lnTo>
                  <a:pt x="129666" y="51823"/>
                </a:lnTo>
                <a:lnTo>
                  <a:pt x="116712" y="51688"/>
                </a:lnTo>
                <a:close/>
              </a:path>
              <a:path w="1911350" h="647700">
                <a:moveTo>
                  <a:pt x="129668" y="51688"/>
                </a:moveTo>
                <a:lnTo>
                  <a:pt x="116712" y="51688"/>
                </a:lnTo>
                <a:lnTo>
                  <a:pt x="129666" y="51823"/>
                </a:lnTo>
                <a:lnTo>
                  <a:pt x="129668" y="5168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09268" y="5538317"/>
            <a:ext cx="7330440" cy="834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1700" spc="120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氧化还原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反应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时变化发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生在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五价氮和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三价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氮之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间</a:t>
            </a:r>
            <a:endParaRPr sz="2000">
              <a:latin typeface="黑体"/>
              <a:cs typeface="黑体"/>
            </a:endParaRPr>
          </a:p>
          <a:p>
            <a:pPr marL="50800">
              <a:lnSpc>
                <a:spcPct val="100000"/>
              </a:lnSpc>
              <a:spcBef>
                <a:spcPts val="1565"/>
              </a:spcBef>
            </a:pPr>
            <a:r>
              <a:rPr sz="1700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1700" spc="8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spc="15" dirty="0">
                <a:solidFill>
                  <a:srgbClr val="008000"/>
                </a:solidFill>
                <a:latin typeface="黑体"/>
                <a:cs typeface="黑体"/>
              </a:rPr>
              <a:t>烟酰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胺只能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接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受一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个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原子和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一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个电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子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，将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另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外一</a:t>
            </a:r>
            <a:r>
              <a:rPr sz="2000" b="1" spc="45" dirty="0">
                <a:solidFill>
                  <a:srgbClr val="008000"/>
                </a:solidFill>
                <a:latin typeface="黑体"/>
                <a:cs typeface="黑体"/>
              </a:rPr>
              <a:t>个</a:t>
            </a:r>
            <a:r>
              <a:rPr sz="2000" b="1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H</a:t>
            </a:r>
            <a:r>
              <a:rPr sz="1950" b="1" baseline="26000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000" b="1" spc="5" dirty="0">
                <a:solidFill>
                  <a:srgbClr val="008000"/>
                </a:solidFill>
                <a:latin typeface="黑体"/>
                <a:cs typeface="黑体"/>
              </a:rPr>
              <a:t>游离</a:t>
            </a:r>
            <a:r>
              <a:rPr sz="2000" b="1" spc="-5" dirty="0">
                <a:solidFill>
                  <a:srgbClr val="008000"/>
                </a:solidFill>
                <a:latin typeface="黑体"/>
                <a:cs typeface="黑体"/>
              </a:rPr>
              <a:t>出来</a:t>
            </a:r>
            <a:endParaRPr sz="2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786" y="1845398"/>
            <a:ext cx="8850066" cy="339587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89170" y="3463290"/>
            <a:ext cx="504825" cy="466725"/>
          </a:xfrm>
          <a:custGeom>
            <a:avLst/>
            <a:gdLst/>
            <a:ahLst/>
            <a:cxnLst/>
            <a:rect l="l" t="t" r="r" b="b"/>
            <a:pathLst>
              <a:path w="504825" h="466725">
                <a:moveTo>
                  <a:pt x="0" y="233172"/>
                </a:moveTo>
                <a:lnTo>
                  <a:pt x="5123" y="186179"/>
                </a:lnTo>
                <a:lnTo>
                  <a:pt x="19817" y="142410"/>
                </a:lnTo>
                <a:lnTo>
                  <a:pt x="43070" y="102803"/>
                </a:lnTo>
                <a:lnTo>
                  <a:pt x="73866" y="68294"/>
                </a:lnTo>
                <a:lnTo>
                  <a:pt x="111193" y="39821"/>
                </a:lnTo>
                <a:lnTo>
                  <a:pt x="154037" y="18323"/>
                </a:lnTo>
                <a:lnTo>
                  <a:pt x="201384" y="4737"/>
                </a:lnTo>
                <a:lnTo>
                  <a:pt x="252221" y="0"/>
                </a:lnTo>
                <a:lnTo>
                  <a:pt x="303059" y="4737"/>
                </a:lnTo>
                <a:lnTo>
                  <a:pt x="350406" y="18323"/>
                </a:lnTo>
                <a:lnTo>
                  <a:pt x="393250" y="39821"/>
                </a:lnTo>
                <a:lnTo>
                  <a:pt x="430577" y="68294"/>
                </a:lnTo>
                <a:lnTo>
                  <a:pt x="461373" y="102803"/>
                </a:lnTo>
                <a:lnTo>
                  <a:pt x="484626" y="142410"/>
                </a:lnTo>
                <a:lnTo>
                  <a:pt x="499320" y="186179"/>
                </a:lnTo>
                <a:lnTo>
                  <a:pt x="504443" y="233172"/>
                </a:lnTo>
                <a:lnTo>
                  <a:pt x="499320" y="280164"/>
                </a:lnTo>
                <a:lnTo>
                  <a:pt x="484626" y="323933"/>
                </a:lnTo>
                <a:lnTo>
                  <a:pt x="461373" y="363540"/>
                </a:lnTo>
                <a:lnTo>
                  <a:pt x="430577" y="398049"/>
                </a:lnTo>
                <a:lnTo>
                  <a:pt x="393250" y="426522"/>
                </a:lnTo>
                <a:lnTo>
                  <a:pt x="350406" y="448020"/>
                </a:lnTo>
                <a:lnTo>
                  <a:pt x="303059" y="461606"/>
                </a:lnTo>
                <a:lnTo>
                  <a:pt x="252221" y="466344"/>
                </a:lnTo>
                <a:lnTo>
                  <a:pt x="201384" y="461606"/>
                </a:lnTo>
                <a:lnTo>
                  <a:pt x="154037" y="448020"/>
                </a:lnTo>
                <a:lnTo>
                  <a:pt x="111193" y="426522"/>
                </a:lnTo>
                <a:lnTo>
                  <a:pt x="73866" y="398049"/>
                </a:lnTo>
                <a:lnTo>
                  <a:pt x="43070" y="363540"/>
                </a:lnTo>
                <a:lnTo>
                  <a:pt x="19817" y="323933"/>
                </a:lnTo>
                <a:lnTo>
                  <a:pt x="5123" y="280164"/>
                </a:lnTo>
                <a:lnTo>
                  <a:pt x="0" y="233172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102345" y="2820161"/>
            <a:ext cx="504825" cy="467995"/>
          </a:xfrm>
          <a:custGeom>
            <a:avLst/>
            <a:gdLst/>
            <a:ahLst/>
            <a:cxnLst/>
            <a:rect l="l" t="t" r="r" b="b"/>
            <a:pathLst>
              <a:path w="504825" h="467995">
                <a:moveTo>
                  <a:pt x="0" y="233934"/>
                </a:moveTo>
                <a:lnTo>
                  <a:pt x="5123" y="186799"/>
                </a:lnTo>
                <a:lnTo>
                  <a:pt x="19817" y="142892"/>
                </a:lnTo>
                <a:lnTo>
                  <a:pt x="43070" y="103156"/>
                </a:lnTo>
                <a:lnTo>
                  <a:pt x="73866" y="68532"/>
                </a:lnTo>
                <a:lnTo>
                  <a:pt x="111193" y="39962"/>
                </a:lnTo>
                <a:lnTo>
                  <a:pt x="154037" y="18389"/>
                </a:lnTo>
                <a:lnTo>
                  <a:pt x="201384" y="4754"/>
                </a:lnTo>
                <a:lnTo>
                  <a:pt x="252222" y="0"/>
                </a:lnTo>
                <a:lnTo>
                  <a:pt x="303059" y="4754"/>
                </a:lnTo>
                <a:lnTo>
                  <a:pt x="350406" y="18389"/>
                </a:lnTo>
                <a:lnTo>
                  <a:pt x="393250" y="39962"/>
                </a:lnTo>
                <a:lnTo>
                  <a:pt x="430577" y="68532"/>
                </a:lnTo>
                <a:lnTo>
                  <a:pt x="461373" y="103156"/>
                </a:lnTo>
                <a:lnTo>
                  <a:pt x="484626" y="142892"/>
                </a:lnTo>
                <a:lnTo>
                  <a:pt x="499320" y="186799"/>
                </a:lnTo>
                <a:lnTo>
                  <a:pt x="504444" y="233934"/>
                </a:lnTo>
                <a:lnTo>
                  <a:pt x="499320" y="281068"/>
                </a:lnTo>
                <a:lnTo>
                  <a:pt x="484626" y="324975"/>
                </a:lnTo>
                <a:lnTo>
                  <a:pt x="461373" y="364711"/>
                </a:lnTo>
                <a:lnTo>
                  <a:pt x="430577" y="399335"/>
                </a:lnTo>
                <a:lnTo>
                  <a:pt x="393250" y="427905"/>
                </a:lnTo>
                <a:lnTo>
                  <a:pt x="350406" y="449478"/>
                </a:lnTo>
                <a:lnTo>
                  <a:pt x="303059" y="463113"/>
                </a:lnTo>
                <a:lnTo>
                  <a:pt x="252222" y="467867"/>
                </a:lnTo>
                <a:lnTo>
                  <a:pt x="201384" y="463113"/>
                </a:lnTo>
                <a:lnTo>
                  <a:pt x="154037" y="449478"/>
                </a:lnTo>
                <a:lnTo>
                  <a:pt x="111193" y="427905"/>
                </a:lnTo>
                <a:lnTo>
                  <a:pt x="73866" y="399335"/>
                </a:lnTo>
                <a:lnTo>
                  <a:pt x="43070" y="364711"/>
                </a:lnTo>
                <a:lnTo>
                  <a:pt x="19817" y="324975"/>
                </a:lnTo>
                <a:lnTo>
                  <a:pt x="5123" y="281068"/>
                </a:lnTo>
                <a:lnTo>
                  <a:pt x="0" y="233934"/>
                </a:lnTo>
                <a:close/>
              </a:path>
            </a:pathLst>
          </a:custGeom>
          <a:ln w="2895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68006" y="3545585"/>
            <a:ext cx="506095" cy="466725"/>
          </a:xfrm>
          <a:custGeom>
            <a:avLst/>
            <a:gdLst/>
            <a:ahLst/>
            <a:cxnLst/>
            <a:rect l="l" t="t" r="r" b="b"/>
            <a:pathLst>
              <a:path w="506095" h="466725">
                <a:moveTo>
                  <a:pt x="0" y="233171"/>
                </a:moveTo>
                <a:lnTo>
                  <a:pt x="5140" y="186179"/>
                </a:lnTo>
                <a:lnTo>
                  <a:pt x="19883" y="142410"/>
                </a:lnTo>
                <a:lnTo>
                  <a:pt x="43210" y="102803"/>
                </a:lnTo>
                <a:lnTo>
                  <a:pt x="74104" y="68294"/>
                </a:lnTo>
                <a:lnTo>
                  <a:pt x="111546" y="39821"/>
                </a:lnTo>
                <a:lnTo>
                  <a:pt x="154519" y="18323"/>
                </a:lnTo>
                <a:lnTo>
                  <a:pt x="202004" y="4737"/>
                </a:lnTo>
                <a:lnTo>
                  <a:pt x="252984" y="0"/>
                </a:lnTo>
                <a:lnTo>
                  <a:pt x="303963" y="4737"/>
                </a:lnTo>
                <a:lnTo>
                  <a:pt x="351448" y="18323"/>
                </a:lnTo>
                <a:lnTo>
                  <a:pt x="394421" y="39821"/>
                </a:lnTo>
                <a:lnTo>
                  <a:pt x="431863" y="68294"/>
                </a:lnTo>
                <a:lnTo>
                  <a:pt x="462757" y="102803"/>
                </a:lnTo>
                <a:lnTo>
                  <a:pt x="486084" y="142410"/>
                </a:lnTo>
                <a:lnTo>
                  <a:pt x="500827" y="186179"/>
                </a:lnTo>
                <a:lnTo>
                  <a:pt x="505968" y="233171"/>
                </a:lnTo>
                <a:lnTo>
                  <a:pt x="500827" y="280164"/>
                </a:lnTo>
                <a:lnTo>
                  <a:pt x="486084" y="323933"/>
                </a:lnTo>
                <a:lnTo>
                  <a:pt x="462757" y="363540"/>
                </a:lnTo>
                <a:lnTo>
                  <a:pt x="431863" y="398049"/>
                </a:lnTo>
                <a:lnTo>
                  <a:pt x="394421" y="426522"/>
                </a:lnTo>
                <a:lnTo>
                  <a:pt x="351448" y="448020"/>
                </a:lnTo>
                <a:lnTo>
                  <a:pt x="303963" y="461606"/>
                </a:lnTo>
                <a:lnTo>
                  <a:pt x="252984" y="466344"/>
                </a:lnTo>
                <a:lnTo>
                  <a:pt x="202004" y="461606"/>
                </a:lnTo>
                <a:lnTo>
                  <a:pt x="154519" y="448020"/>
                </a:lnTo>
                <a:lnTo>
                  <a:pt x="111546" y="426522"/>
                </a:lnTo>
                <a:lnTo>
                  <a:pt x="74104" y="398049"/>
                </a:lnTo>
                <a:lnTo>
                  <a:pt x="43210" y="363540"/>
                </a:lnTo>
                <a:lnTo>
                  <a:pt x="19883" y="323933"/>
                </a:lnTo>
                <a:lnTo>
                  <a:pt x="5140" y="280164"/>
                </a:lnTo>
                <a:lnTo>
                  <a:pt x="0" y="233171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21640" y="214965"/>
            <a:ext cx="860742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727710">
              <a:lnSpc>
                <a:spcPct val="100000"/>
              </a:lnSpc>
              <a:spcBef>
                <a:spcPts val="1545"/>
              </a:spcBef>
            </a:pPr>
            <a:r>
              <a:rPr sz="2400" b="1" spc="-25" dirty="0">
                <a:latin typeface="Times New Roman" panose="02020503050405090304"/>
                <a:cs typeface="Times New Roman" panose="02020503050405090304"/>
              </a:rPr>
              <a:t>FMN/FAD</a:t>
            </a:r>
            <a:r>
              <a:rPr sz="2400" b="1" spc="20" dirty="0">
                <a:latin typeface="黑体"/>
                <a:cs typeface="黑体"/>
              </a:rPr>
              <a:t>结构</a:t>
            </a:r>
            <a:r>
              <a:rPr sz="2400" b="1" spc="10" dirty="0">
                <a:latin typeface="黑体"/>
                <a:cs typeface="黑体"/>
              </a:rPr>
              <a:t>中</a:t>
            </a:r>
            <a:r>
              <a:rPr sz="2400" b="1" spc="20" dirty="0">
                <a:latin typeface="黑体"/>
                <a:cs typeface="黑体"/>
              </a:rPr>
              <a:t>含</a:t>
            </a:r>
            <a:r>
              <a:rPr sz="2400" b="1" spc="10" dirty="0">
                <a:latin typeface="黑体"/>
                <a:cs typeface="黑体"/>
              </a:rPr>
              <a:t>核</a:t>
            </a:r>
            <a:r>
              <a:rPr sz="2400" b="1" spc="20" dirty="0">
                <a:latin typeface="黑体"/>
                <a:cs typeface="黑体"/>
              </a:rPr>
              <a:t>黄</a:t>
            </a:r>
            <a:r>
              <a:rPr sz="2400" b="1" spc="25" dirty="0">
                <a:latin typeface="黑体"/>
                <a:cs typeface="黑体"/>
              </a:rPr>
              <a:t>素</a:t>
            </a:r>
            <a:r>
              <a:rPr sz="2400" b="1" spc="10" dirty="0">
                <a:latin typeface="黑体"/>
                <a:cs typeface="黑体"/>
              </a:rPr>
              <a:t>，</a:t>
            </a:r>
            <a:r>
              <a:rPr sz="2400" b="1" spc="20" dirty="0">
                <a:latin typeface="黑体"/>
                <a:cs typeface="黑体"/>
              </a:rPr>
              <a:t>发</a:t>
            </a:r>
            <a:r>
              <a:rPr sz="2400" b="1" spc="5" dirty="0">
                <a:latin typeface="黑体"/>
                <a:cs typeface="黑体"/>
              </a:rPr>
              <a:t>挥</a:t>
            </a:r>
            <a:r>
              <a:rPr sz="2400" b="1" spc="20" dirty="0">
                <a:latin typeface="黑体"/>
                <a:cs typeface="黑体"/>
              </a:rPr>
              <a:t>功能</a:t>
            </a:r>
            <a:r>
              <a:rPr sz="2400" b="1" spc="5" dirty="0">
                <a:latin typeface="黑体"/>
                <a:cs typeface="黑体"/>
              </a:rPr>
              <a:t>的</a:t>
            </a:r>
            <a:r>
              <a:rPr sz="2400" b="1" spc="20" dirty="0">
                <a:latin typeface="黑体"/>
                <a:cs typeface="黑体"/>
              </a:rPr>
              <a:t>部</a:t>
            </a:r>
            <a:r>
              <a:rPr sz="2400" b="1" spc="5" dirty="0">
                <a:latin typeface="黑体"/>
                <a:cs typeface="黑体"/>
              </a:rPr>
              <a:t>位</a:t>
            </a:r>
            <a:r>
              <a:rPr sz="2400" b="1" spc="40" dirty="0">
                <a:latin typeface="黑体"/>
                <a:cs typeface="黑体"/>
              </a:rPr>
              <a:t>是</a:t>
            </a:r>
            <a:r>
              <a:rPr sz="2400" b="1" spc="20" dirty="0">
                <a:solidFill>
                  <a:srgbClr val="0000FF"/>
                </a:solidFill>
                <a:latin typeface="黑体"/>
                <a:cs typeface="黑体"/>
              </a:rPr>
              <a:t>异</a:t>
            </a:r>
            <a:r>
              <a:rPr sz="2400" b="1" spc="5" dirty="0">
                <a:solidFill>
                  <a:srgbClr val="0000FF"/>
                </a:solidFill>
                <a:latin typeface="黑体"/>
                <a:cs typeface="黑体"/>
              </a:rPr>
              <a:t>咯</a:t>
            </a:r>
            <a:r>
              <a:rPr sz="2400" b="1" spc="20" dirty="0">
                <a:solidFill>
                  <a:srgbClr val="0000FF"/>
                </a:solidFill>
                <a:latin typeface="黑体"/>
                <a:cs typeface="黑体"/>
              </a:rPr>
              <a:t>嗪环</a:t>
            </a:r>
            <a:r>
              <a:rPr sz="2400" b="1" spc="-10" dirty="0">
                <a:latin typeface="黑体"/>
                <a:cs typeface="黑体"/>
              </a:rPr>
              <a:t>，</a:t>
            </a:r>
            <a:endParaRPr sz="24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latin typeface="黑体"/>
                <a:cs typeface="黑体"/>
              </a:rPr>
              <a:t>氧化还原反应时不稳定中间产物</a:t>
            </a:r>
            <a:r>
              <a:rPr sz="2400" b="1" spc="5" dirty="0">
                <a:latin typeface="黑体"/>
                <a:cs typeface="黑体"/>
              </a:rPr>
              <a:t>是</a:t>
            </a:r>
            <a:r>
              <a:rPr sz="2400" b="1" spc="-5" dirty="0">
                <a:latin typeface="Times New Roman" panose="02020503050405090304"/>
                <a:cs typeface="Times New Roman" panose="02020503050405090304"/>
              </a:rPr>
              <a:t>FMN•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6492" y="5427552"/>
            <a:ext cx="754189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14375">
              <a:lnSpc>
                <a:spcPct val="150000"/>
              </a:lnSpc>
              <a:spcBef>
                <a:spcPts val="95"/>
              </a:spcBef>
            </a:pPr>
            <a:r>
              <a:rPr sz="2400" b="1" spc="70" dirty="0">
                <a:latin typeface="黑体"/>
                <a:cs typeface="黑体"/>
              </a:rPr>
              <a:t>在可</a:t>
            </a:r>
            <a:r>
              <a:rPr sz="2400" b="1" spc="85" dirty="0">
                <a:latin typeface="黑体"/>
                <a:cs typeface="黑体"/>
              </a:rPr>
              <a:t>逆的</a:t>
            </a:r>
            <a:r>
              <a:rPr sz="2400" b="1" spc="70" dirty="0">
                <a:latin typeface="黑体"/>
                <a:cs typeface="黑体"/>
              </a:rPr>
              <a:t>氧化</a:t>
            </a:r>
            <a:r>
              <a:rPr sz="2400" b="1" spc="85" dirty="0">
                <a:latin typeface="黑体"/>
                <a:cs typeface="黑体"/>
              </a:rPr>
              <a:t>还原</a:t>
            </a:r>
            <a:r>
              <a:rPr sz="2400" b="1" spc="70" dirty="0">
                <a:latin typeface="黑体"/>
                <a:cs typeface="黑体"/>
              </a:rPr>
              <a:t>反应中</a:t>
            </a:r>
            <a:r>
              <a:rPr sz="2400" b="1" spc="85" dirty="0">
                <a:latin typeface="黑体"/>
                <a:cs typeface="黑体"/>
              </a:rPr>
              <a:t>显</a:t>
            </a:r>
            <a:r>
              <a:rPr sz="2400" b="1" spc="80" dirty="0">
                <a:latin typeface="黑体"/>
                <a:cs typeface="黑体"/>
              </a:rPr>
              <a:t>示</a:t>
            </a:r>
            <a:r>
              <a:rPr sz="2400" b="1" spc="70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2400" b="1" spc="70" dirty="0">
                <a:latin typeface="黑体"/>
                <a:cs typeface="黑体"/>
              </a:rPr>
              <a:t>种</a:t>
            </a:r>
            <a:r>
              <a:rPr sz="2400" b="1" spc="80" dirty="0">
                <a:latin typeface="黑体"/>
                <a:cs typeface="黑体"/>
              </a:rPr>
              <a:t>分子</a:t>
            </a:r>
            <a:r>
              <a:rPr sz="2400" b="1" spc="70" dirty="0">
                <a:latin typeface="黑体"/>
                <a:cs typeface="黑体"/>
              </a:rPr>
              <a:t>状</a:t>
            </a:r>
            <a:r>
              <a:rPr sz="2400" b="1" spc="85" dirty="0">
                <a:latin typeface="黑体"/>
                <a:cs typeface="黑体"/>
              </a:rPr>
              <a:t>态</a:t>
            </a:r>
            <a:r>
              <a:rPr sz="2400" b="1" spc="70" dirty="0">
                <a:latin typeface="黑体"/>
                <a:cs typeface="黑体"/>
              </a:rPr>
              <a:t>，</a:t>
            </a:r>
            <a:r>
              <a:rPr sz="2400" b="1" spc="85" dirty="0">
                <a:latin typeface="黑体"/>
                <a:cs typeface="黑体"/>
              </a:rPr>
              <a:t>属于 </a:t>
            </a:r>
            <a:r>
              <a:rPr sz="2400" b="1" spc="-5" dirty="0">
                <a:solidFill>
                  <a:srgbClr val="0000FF"/>
                </a:solidFill>
                <a:latin typeface="黑体"/>
                <a:cs typeface="黑体"/>
              </a:rPr>
              <a:t>单、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双电子传递体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44239" y="5969000"/>
            <a:ext cx="16192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MS Gothic"/>
                <a:cs typeface="MS Gothic"/>
              </a:rPr>
              <a:t>Ⓢ</a:t>
            </a:r>
            <a:r>
              <a:rPr sz="2000" b="1" spc="-580" dirty="0">
                <a:latin typeface="MS Gothic"/>
                <a:cs typeface="MS Gothic"/>
              </a:rPr>
              <a:t> </a:t>
            </a:r>
            <a:r>
              <a:rPr sz="2000" b="1" spc="10" dirty="0">
                <a:latin typeface="华文楷体" panose="02010600040101010101" charset="-122"/>
                <a:cs typeface="华文楷体" panose="02010600040101010101" charset="-122"/>
              </a:rPr>
              <a:t>表示</a:t>
            </a:r>
            <a:r>
              <a:rPr sz="2000" b="1" dirty="0">
                <a:latin typeface="华文楷体" panose="02010600040101010101" charset="-122"/>
                <a:cs typeface="华文楷体" panose="02010600040101010101" charset="-122"/>
              </a:rPr>
              <a:t>无机硫</a:t>
            </a:r>
            <a:endParaRPr sz="200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9831" y="2708148"/>
            <a:ext cx="8567928" cy="295503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2365" y="484123"/>
            <a:ext cx="73628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 marR="17780" indent="-287020">
              <a:lnSpc>
                <a:spcPct val="150000"/>
              </a:lnSpc>
              <a:spcBef>
                <a:spcPts val="100"/>
              </a:spcBef>
              <a:tabLst>
                <a:tab pos="4575175" algn="l"/>
              </a:tabLst>
            </a:pPr>
            <a:r>
              <a:rPr sz="2050" b="0" spc="-10" dirty="0">
                <a:solidFill>
                  <a:srgbClr val="0000FF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050" b="0" spc="24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铁硫蛋白中辅基铁硫簇</a:t>
            </a:r>
            <a:r>
              <a:rPr sz="24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(Fe-S)</a:t>
            </a:r>
            <a:r>
              <a:rPr sz="2400" dirty="0">
                <a:solidFill>
                  <a:srgbClr val="000000"/>
                </a:solidFill>
              </a:rPr>
              <a:t>含有等量铁原子和硫原 子，其中铁原子可进行</a:t>
            </a:r>
            <a:r>
              <a:rPr sz="2400" spc="-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Fe</a:t>
            </a:r>
            <a:r>
              <a:rPr sz="2400" spc="-7" baseline="24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2+	</a:t>
            </a:r>
            <a:r>
              <a:rPr sz="2400" spc="-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Fe</a:t>
            </a:r>
            <a:r>
              <a:rPr sz="2400" spc="-7" baseline="24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3+</a:t>
            </a:r>
            <a:r>
              <a:rPr sz="2400" spc="-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+e</a:t>
            </a:r>
            <a:r>
              <a:rPr sz="2400" spc="-9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反应传递电子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5065" y="2002282"/>
            <a:ext cx="2839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0000FF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050" spc="21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latin typeface="黑体"/>
                <a:cs typeface="黑体"/>
              </a:rPr>
              <a:t>属于单电子传递体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60035" y="1303019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5" h="76200">
                <a:moveTo>
                  <a:pt x="355853" y="0"/>
                </a:moveTo>
                <a:lnTo>
                  <a:pt x="355853" y="76200"/>
                </a:lnTo>
                <a:lnTo>
                  <a:pt x="419353" y="44450"/>
                </a:lnTo>
                <a:lnTo>
                  <a:pt x="368553" y="44450"/>
                </a:lnTo>
                <a:lnTo>
                  <a:pt x="368553" y="31750"/>
                </a:lnTo>
                <a:lnTo>
                  <a:pt x="419353" y="31750"/>
                </a:lnTo>
                <a:lnTo>
                  <a:pt x="355853" y="0"/>
                </a:lnTo>
                <a:close/>
              </a:path>
              <a:path w="432435" h="76200">
                <a:moveTo>
                  <a:pt x="35585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5853" y="44450"/>
                </a:lnTo>
                <a:lnTo>
                  <a:pt x="355853" y="31750"/>
                </a:lnTo>
                <a:close/>
              </a:path>
              <a:path w="432435" h="76200">
                <a:moveTo>
                  <a:pt x="419353" y="31750"/>
                </a:moveTo>
                <a:lnTo>
                  <a:pt x="368553" y="31750"/>
                </a:lnTo>
                <a:lnTo>
                  <a:pt x="368553" y="44450"/>
                </a:lnTo>
                <a:lnTo>
                  <a:pt x="419353" y="44450"/>
                </a:lnTo>
                <a:lnTo>
                  <a:pt x="432053" y="38100"/>
                </a:lnTo>
                <a:lnTo>
                  <a:pt x="419353" y="317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60035" y="1446275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43243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432435" h="76200">
                <a:moveTo>
                  <a:pt x="43205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432053" y="44450"/>
                </a:lnTo>
                <a:lnTo>
                  <a:pt x="432053" y="317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16020" y="603884"/>
            <a:ext cx="1972310" cy="518159"/>
          </a:xfrm>
          <a:custGeom>
            <a:avLst/>
            <a:gdLst/>
            <a:ahLst/>
            <a:cxnLst/>
            <a:rect l="l" t="t" r="r" b="b"/>
            <a:pathLst>
              <a:path w="1972310" h="518159">
                <a:moveTo>
                  <a:pt x="0" y="518160"/>
                </a:moveTo>
                <a:lnTo>
                  <a:pt x="1972056" y="518160"/>
                </a:lnTo>
                <a:lnTo>
                  <a:pt x="1972056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E2E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99739" y="723137"/>
            <a:ext cx="1369187" cy="32880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53155" y="541019"/>
            <a:ext cx="1972310" cy="518159"/>
          </a:xfrm>
          <a:custGeom>
            <a:avLst/>
            <a:gdLst/>
            <a:ahLst/>
            <a:cxnLst/>
            <a:rect l="l" t="t" r="r" b="b"/>
            <a:pathLst>
              <a:path w="1972310" h="518159">
                <a:moveTo>
                  <a:pt x="0" y="518160"/>
                </a:moveTo>
                <a:lnTo>
                  <a:pt x="1972056" y="518160"/>
                </a:lnTo>
                <a:lnTo>
                  <a:pt x="1972056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16020" y="586867"/>
            <a:ext cx="1909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铁硫蛋白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5111" y="2107978"/>
            <a:ext cx="2712048" cy="1489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5559" y="4117809"/>
            <a:ext cx="3560077" cy="17232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87181" y="1355382"/>
            <a:ext cx="3569622" cy="22574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55591" y="3284220"/>
            <a:ext cx="4177284" cy="27889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27532" y="6062471"/>
            <a:ext cx="360045" cy="361315"/>
          </a:xfrm>
          <a:custGeom>
            <a:avLst/>
            <a:gdLst/>
            <a:ahLst/>
            <a:cxnLst/>
            <a:rect l="l" t="t" r="r" b="b"/>
            <a:pathLst>
              <a:path w="360044" h="361314">
                <a:moveTo>
                  <a:pt x="179831" y="0"/>
                </a:moveTo>
                <a:lnTo>
                  <a:pt x="132027" y="6451"/>
                </a:lnTo>
                <a:lnTo>
                  <a:pt x="89069" y="24657"/>
                </a:lnTo>
                <a:lnTo>
                  <a:pt x="52673" y="52897"/>
                </a:lnTo>
                <a:lnTo>
                  <a:pt x="24553" y="89447"/>
                </a:lnTo>
                <a:lnTo>
                  <a:pt x="6424" y="132587"/>
                </a:lnTo>
                <a:lnTo>
                  <a:pt x="0" y="180593"/>
                </a:lnTo>
                <a:lnTo>
                  <a:pt x="6424" y="228600"/>
                </a:lnTo>
                <a:lnTo>
                  <a:pt x="24553" y="271740"/>
                </a:lnTo>
                <a:lnTo>
                  <a:pt x="52673" y="308290"/>
                </a:lnTo>
                <a:lnTo>
                  <a:pt x="89069" y="336530"/>
                </a:lnTo>
                <a:lnTo>
                  <a:pt x="132027" y="354736"/>
                </a:lnTo>
                <a:lnTo>
                  <a:pt x="179831" y="361187"/>
                </a:lnTo>
                <a:lnTo>
                  <a:pt x="227636" y="354736"/>
                </a:lnTo>
                <a:lnTo>
                  <a:pt x="270594" y="336530"/>
                </a:lnTo>
                <a:lnTo>
                  <a:pt x="306990" y="308290"/>
                </a:lnTo>
                <a:lnTo>
                  <a:pt x="335110" y="271740"/>
                </a:lnTo>
                <a:lnTo>
                  <a:pt x="353239" y="228600"/>
                </a:lnTo>
                <a:lnTo>
                  <a:pt x="359664" y="180593"/>
                </a:lnTo>
                <a:lnTo>
                  <a:pt x="353239" y="132587"/>
                </a:lnTo>
                <a:lnTo>
                  <a:pt x="335110" y="89447"/>
                </a:lnTo>
                <a:lnTo>
                  <a:pt x="306990" y="52897"/>
                </a:lnTo>
                <a:lnTo>
                  <a:pt x="270594" y="24657"/>
                </a:lnTo>
                <a:lnTo>
                  <a:pt x="227636" y="6451"/>
                </a:lnTo>
                <a:lnTo>
                  <a:pt x="179831" y="0"/>
                </a:lnTo>
                <a:close/>
              </a:path>
            </a:pathLst>
          </a:custGeom>
          <a:solidFill>
            <a:srgbClr val="F8FD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7532" y="6062471"/>
            <a:ext cx="360045" cy="361315"/>
          </a:xfrm>
          <a:custGeom>
            <a:avLst/>
            <a:gdLst/>
            <a:ahLst/>
            <a:cxnLst/>
            <a:rect l="l" t="t" r="r" b="b"/>
            <a:pathLst>
              <a:path w="360044" h="361314">
                <a:moveTo>
                  <a:pt x="0" y="180593"/>
                </a:moveTo>
                <a:lnTo>
                  <a:pt x="6424" y="132587"/>
                </a:lnTo>
                <a:lnTo>
                  <a:pt x="24553" y="89447"/>
                </a:lnTo>
                <a:lnTo>
                  <a:pt x="52673" y="52897"/>
                </a:lnTo>
                <a:lnTo>
                  <a:pt x="89069" y="24657"/>
                </a:lnTo>
                <a:lnTo>
                  <a:pt x="132027" y="6451"/>
                </a:lnTo>
                <a:lnTo>
                  <a:pt x="179831" y="0"/>
                </a:lnTo>
                <a:lnTo>
                  <a:pt x="227636" y="6451"/>
                </a:lnTo>
                <a:lnTo>
                  <a:pt x="270594" y="24657"/>
                </a:lnTo>
                <a:lnTo>
                  <a:pt x="306990" y="52897"/>
                </a:lnTo>
                <a:lnTo>
                  <a:pt x="335110" y="89447"/>
                </a:lnTo>
                <a:lnTo>
                  <a:pt x="353239" y="132587"/>
                </a:lnTo>
                <a:lnTo>
                  <a:pt x="359664" y="180593"/>
                </a:lnTo>
                <a:lnTo>
                  <a:pt x="353239" y="228600"/>
                </a:lnTo>
                <a:lnTo>
                  <a:pt x="335110" y="271740"/>
                </a:lnTo>
                <a:lnTo>
                  <a:pt x="306990" y="308290"/>
                </a:lnTo>
                <a:lnTo>
                  <a:pt x="270594" y="336530"/>
                </a:lnTo>
                <a:lnTo>
                  <a:pt x="227636" y="354736"/>
                </a:lnTo>
                <a:lnTo>
                  <a:pt x="179831" y="361187"/>
                </a:lnTo>
                <a:lnTo>
                  <a:pt x="132027" y="354736"/>
                </a:lnTo>
                <a:lnTo>
                  <a:pt x="89069" y="336530"/>
                </a:lnTo>
                <a:lnTo>
                  <a:pt x="52673" y="308290"/>
                </a:lnTo>
                <a:lnTo>
                  <a:pt x="24553" y="271740"/>
                </a:lnTo>
                <a:lnTo>
                  <a:pt x="6424" y="228600"/>
                </a:lnTo>
                <a:lnTo>
                  <a:pt x="0" y="180593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6468" y="5916167"/>
            <a:ext cx="648462" cy="7901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05662" y="6029959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3366"/>
                </a:solidFill>
                <a:latin typeface="黑体"/>
                <a:cs typeface="黑体"/>
              </a:rPr>
              <a:t>S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31820" y="6062471"/>
            <a:ext cx="361315" cy="361315"/>
          </a:xfrm>
          <a:custGeom>
            <a:avLst/>
            <a:gdLst/>
            <a:ahLst/>
            <a:cxnLst/>
            <a:rect l="l" t="t" r="r" b="b"/>
            <a:pathLst>
              <a:path w="361314" h="361314">
                <a:moveTo>
                  <a:pt x="180594" y="0"/>
                </a:moveTo>
                <a:lnTo>
                  <a:pt x="132600" y="6451"/>
                </a:lnTo>
                <a:lnTo>
                  <a:pt x="89464" y="24657"/>
                </a:lnTo>
                <a:lnTo>
                  <a:pt x="52911" y="52897"/>
                </a:lnTo>
                <a:lnTo>
                  <a:pt x="24666" y="89447"/>
                </a:lnTo>
                <a:lnTo>
                  <a:pt x="6454" y="132587"/>
                </a:lnTo>
                <a:lnTo>
                  <a:pt x="0" y="180593"/>
                </a:lnTo>
                <a:lnTo>
                  <a:pt x="6454" y="228600"/>
                </a:lnTo>
                <a:lnTo>
                  <a:pt x="24666" y="271740"/>
                </a:lnTo>
                <a:lnTo>
                  <a:pt x="52911" y="308290"/>
                </a:lnTo>
                <a:lnTo>
                  <a:pt x="89464" y="336530"/>
                </a:lnTo>
                <a:lnTo>
                  <a:pt x="132600" y="354736"/>
                </a:lnTo>
                <a:lnTo>
                  <a:pt x="180594" y="361187"/>
                </a:lnTo>
                <a:lnTo>
                  <a:pt x="228587" y="354736"/>
                </a:lnTo>
                <a:lnTo>
                  <a:pt x="271723" y="336530"/>
                </a:lnTo>
                <a:lnTo>
                  <a:pt x="308276" y="308290"/>
                </a:lnTo>
                <a:lnTo>
                  <a:pt x="336521" y="271740"/>
                </a:lnTo>
                <a:lnTo>
                  <a:pt x="354733" y="228600"/>
                </a:lnTo>
                <a:lnTo>
                  <a:pt x="361188" y="180593"/>
                </a:lnTo>
                <a:lnTo>
                  <a:pt x="354733" y="132587"/>
                </a:lnTo>
                <a:lnTo>
                  <a:pt x="336521" y="89447"/>
                </a:lnTo>
                <a:lnTo>
                  <a:pt x="308276" y="52897"/>
                </a:lnTo>
                <a:lnTo>
                  <a:pt x="271723" y="24657"/>
                </a:lnTo>
                <a:lnTo>
                  <a:pt x="228587" y="6451"/>
                </a:lnTo>
                <a:lnTo>
                  <a:pt x="18059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31820" y="6062471"/>
            <a:ext cx="361315" cy="361315"/>
          </a:xfrm>
          <a:custGeom>
            <a:avLst/>
            <a:gdLst/>
            <a:ahLst/>
            <a:cxnLst/>
            <a:rect l="l" t="t" r="r" b="b"/>
            <a:pathLst>
              <a:path w="361314" h="361314">
                <a:moveTo>
                  <a:pt x="0" y="180593"/>
                </a:moveTo>
                <a:lnTo>
                  <a:pt x="6454" y="132587"/>
                </a:lnTo>
                <a:lnTo>
                  <a:pt x="24666" y="89447"/>
                </a:lnTo>
                <a:lnTo>
                  <a:pt x="52911" y="52897"/>
                </a:lnTo>
                <a:lnTo>
                  <a:pt x="89464" y="24657"/>
                </a:lnTo>
                <a:lnTo>
                  <a:pt x="132600" y="6451"/>
                </a:lnTo>
                <a:lnTo>
                  <a:pt x="180594" y="0"/>
                </a:lnTo>
                <a:lnTo>
                  <a:pt x="228587" y="6451"/>
                </a:lnTo>
                <a:lnTo>
                  <a:pt x="271723" y="24657"/>
                </a:lnTo>
                <a:lnTo>
                  <a:pt x="308276" y="52897"/>
                </a:lnTo>
                <a:lnTo>
                  <a:pt x="336521" y="89447"/>
                </a:lnTo>
                <a:lnTo>
                  <a:pt x="354733" y="132587"/>
                </a:lnTo>
                <a:lnTo>
                  <a:pt x="361188" y="180593"/>
                </a:lnTo>
                <a:lnTo>
                  <a:pt x="354733" y="228600"/>
                </a:lnTo>
                <a:lnTo>
                  <a:pt x="336521" y="271740"/>
                </a:lnTo>
                <a:lnTo>
                  <a:pt x="308276" y="308290"/>
                </a:lnTo>
                <a:lnTo>
                  <a:pt x="271723" y="336530"/>
                </a:lnTo>
                <a:lnTo>
                  <a:pt x="228587" y="354736"/>
                </a:lnTo>
                <a:lnTo>
                  <a:pt x="180594" y="361187"/>
                </a:lnTo>
                <a:lnTo>
                  <a:pt x="132600" y="354736"/>
                </a:lnTo>
                <a:lnTo>
                  <a:pt x="89464" y="336530"/>
                </a:lnTo>
                <a:lnTo>
                  <a:pt x="52911" y="308290"/>
                </a:lnTo>
                <a:lnTo>
                  <a:pt x="24666" y="271740"/>
                </a:lnTo>
                <a:lnTo>
                  <a:pt x="6454" y="228600"/>
                </a:lnTo>
                <a:lnTo>
                  <a:pt x="0" y="180593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00755" y="5916167"/>
            <a:ext cx="648462" cy="7901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11195" y="6029959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3366"/>
                </a:solidFill>
                <a:latin typeface="黑体"/>
                <a:cs typeface="黑体"/>
              </a:rPr>
              <a:t>S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58824" y="6240779"/>
            <a:ext cx="504825" cy="76200"/>
          </a:xfrm>
          <a:custGeom>
            <a:avLst/>
            <a:gdLst/>
            <a:ahLst/>
            <a:cxnLst/>
            <a:rect l="l" t="t" r="r" b="b"/>
            <a:pathLst>
              <a:path w="504825" h="76200">
                <a:moveTo>
                  <a:pt x="428244" y="0"/>
                </a:moveTo>
                <a:lnTo>
                  <a:pt x="428244" y="76200"/>
                </a:lnTo>
                <a:lnTo>
                  <a:pt x="491744" y="44450"/>
                </a:lnTo>
                <a:lnTo>
                  <a:pt x="440944" y="44450"/>
                </a:lnTo>
                <a:lnTo>
                  <a:pt x="440944" y="31750"/>
                </a:lnTo>
                <a:lnTo>
                  <a:pt x="491744" y="31750"/>
                </a:lnTo>
                <a:lnTo>
                  <a:pt x="428244" y="0"/>
                </a:lnTo>
                <a:close/>
              </a:path>
              <a:path w="504825" h="76200">
                <a:moveTo>
                  <a:pt x="42824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28244" y="44450"/>
                </a:lnTo>
                <a:lnTo>
                  <a:pt x="428244" y="31750"/>
                </a:lnTo>
                <a:close/>
              </a:path>
              <a:path w="504825" h="76200">
                <a:moveTo>
                  <a:pt x="491744" y="31750"/>
                </a:moveTo>
                <a:lnTo>
                  <a:pt x="440944" y="31750"/>
                </a:lnTo>
                <a:lnTo>
                  <a:pt x="440944" y="44450"/>
                </a:lnTo>
                <a:lnTo>
                  <a:pt x="491744" y="44450"/>
                </a:lnTo>
                <a:lnTo>
                  <a:pt x="504444" y="38100"/>
                </a:lnTo>
                <a:lnTo>
                  <a:pt x="491744" y="317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770126" y="6009233"/>
            <a:ext cx="945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无机硫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64635" y="6240779"/>
            <a:ext cx="574675" cy="76200"/>
          </a:xfrm>
          <a:custGeom>
            <a:avLst/>
            <a:gdLst/>
            <a:ahLst/>
            <a:cxnLst/>
            <a:rect l="l" t="t" r="r" b="b"/>
            <a:pathLst>
              <a:path w="574675" h="76200">
                <a:moveTo>
                  <a:pt x="498348" y="0"/>
                </a:moveTo>
                <a:lnTo>
                  <a:pt x="498348" y="76200"/>
                </a:lnTo>
                <a:lnTo>
                  <a:pt x="561848" y="44450"/>
                </a:lnTo>
                <a:lnTo>
                  <a:pt x="511048" y="44450"/>
                </a:lnTo>
                <a:lnTo>
                  <a:pt x="511048" y="31750"/>
                </a:lnTo>
                <a:lnTo>
                  <a:pt x="561848" y="31750"/>
                </a:lnTo>
                <a:lnTo>
                  <a:pt x="498348" y="0"/>
                </a:lnTo>
                <a:close/>
              </a:path>
              <a:path w="574675" h="76200">
                <a:moveTo>
                  <a:pt x="49834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98348" y="44450"/>
                </a:lnTo>
                <a:lnTo>
                  <a:pt x="498348" y="31750"/>
                </a:lnTo>
                <a:close/>
              </a:path>
              <a:path w="574675" h="76200">
                <a:moveTo>
                  <a:pt x="561848" y="31750"/>
                </a:moveTo>
                <a:lnTo>
                  <a:pt x="511048" y="31750"/>
                </a:lnTo>
                <a:lnTo>
                  <a:pt x="511048" y="44450"/>
                </a:lnTo>
                <a:lnTo>
                  <a:pt x="561848" y="44450"/>
                </a:lnTo>
                <a:lnTo>
                  <a:pt x="574548" y="38100"/>
                </a:lnTo>
                <a:lnTo>
                  <a:pt x="561848" y="317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143883" y="6034836"/>
            <a:ext cx="1557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半胱氨酸硫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140" y="451899"/>
            <a:ext cx="7706995" cy="1452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723900" algn="just">
              <a:lnSpc>
                <a:spcPct val="130000"/>
              </a:lnSpc>
              <a:spcBef>
                <a:spcPts val="90"/>
              </a:spcBef>
            </a:pPr>
            <a:r>
              <a:rPr sz="2400" dirty="0">
                <a:solidFill>
                  <a:srgbClr val="0000FF"/>
                </a:solidFill>
              </a:rPr>
              <a:t>泛醌（辅酶</a:t>
            </a:r>
            <a:r>
              <a:rPr sz="24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Q,</a:t>
            </a:r>
            <a:r>
              <a:rPr sz="2400" spc="-5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CoQ,</a:t>
            </a:r>
            <a:r>
              <a:rPr sz="2400" spc="-4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Q</a:t>
            </a:r>
            <a:r>
              <a:rPr sz="2400" dirty="0">
                <a:solidFill>
                  <a:srgbClr val="0000FF"/>
                </a:solidFill>
              </a:rPr>
              <a:t>）</a:t>
            </a:r>
            <a:r>
              <a:rPr sz="2400" dirty="0">
                <a:solidFill>
                  <a:srgbClr val="000000"/>
                </a:solidFill>
              </a:rPr>
              <a:t>由多个异戊二烯连接形成较 </a:t>
            </a:r>
            <a:r>
              <a:rPr sz="2400" spc="-5" dirty="0">
                <a:solidFill>
                  <a:srgbClr val="000000"/>
                </a:solidFill>
              </a:rPr>
              <a:t>长的疏水侧链（</a:t>
            </a:r>
            <a:r>
              <a:rPr sz="2400" dirty="0">
                <a:solidFill>
                  <a:srgbClr val="000000"/>
                </a:solidFill>
              </a:rPr>
              <a:t>人</a:t>
            </a:r>
            <a:r>
              <a:rPr sz="2400" spc="-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CoQ</a:t>
            </a:r>
            <a:r>
              <a:rPr sz="2400" spc="-7" baseline="-21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10</a:t>
            </a:r>
            <a:r>
              <a:rPr sz="2400" spc="-5" dirty="0">
                <a:solidFill>
                  <a:srgbClr val="000000"/>
                </a:solidFill>
              </a:rPr>
              <a:t>），氧化还原反应时可生成中间 </a:t>
            </a:r>
            <a:r>
              <a:rPr sz="2400" dirty="0">
                <a:solidFill>
                  <a:srgbClr val="000000"/>
                </a:solidFill>
              </a:rPr>
              <a:t>产物半醌型泛醌</a:t>
            </a:r>
            <a:r>
              <a:rPr sz="2400" spc="5" dirty="0">
                <a:solidFill>
                  <a:srgbClr val="000000"/>
                </a:solidFill>
              </a:rPr>
              <a:t>。</a:t>
            </a:r>
            <a:r>
              <a:rPr sz="2400" dirty="0">
                <a:solidFill>
                  <a:srgbClr val="009900"/>
                </a:solidFill>
                <a:latin typeface="Times New Roman" panose="02020503050405090304"/>
                <a:cs typeface="Times New Roman" panose="02020503050405090304"/>
              </a:rPr>
              <a:t>----</a:t>
            </a:r>
            <a:r>
              <a:rPr sz="2400" dirty="0">
                <a:solidFill>
                  <a:srgbClr val="009900"/>
                </a:solidFill>
              </a:rPr>
              <a:t>不包含在上述的复合体中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8120" y="2322576"/>
            <a:ext cx="8747760" cy="23256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2023" y="2316479"/>
            <a:ext cx="8760460" cy="2338070"/>
          </a:xfrm>
          <a:custGeom>
            <a:avLst/>
            <a:gdLst/>
            <a:ahLst/>
            <a:cxnLst/>
            <a:rect l="l" t="t" r="r" b="b"/>
            <a:pathLst>
              <a:path w="8760460" h="2338070">
                <a:moveTo>
                  <a:pt x="0" y="2337816"/>
                </a:moveTo>
                <a:lnTo>
                  <a:pt x="8759952" y="2337816"/>
                </a:lnTo>
                <a:lnTo>
                  <a:pt x="8759952" y="0"/>
                </a:lnTo>
                <a:lnTo>
                  <a:pt x="0" y="0"/>
                </a:lnTo>
                <a:lnTo>
                  <a:pt x="0" y="233781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52068" y="4989728"/>
            <a:ext cx="7683500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23265">
              <a:lnSpc>
                <a:spcPct val="130000"/>
              </a:lnSpc>
              <a:spcBef>
                <a:spcPts val="100"/>
              </a:spcBef>
            </a:pPr>
            <a:r>
              <a:rPr sz="2400" b="1" dirty="0">
                <a:latin typeface="黑体"/>
                <a:cs typeface="黑体"/>
              </a:rPr>
              <a:t>泛醌是内膜</a:t>
            </a:r>
            <a:r>
              <a:rPr sz="2400" b="1" spc="5" dirty="0">
                <a:latin typeface="黑体"/>
                <a:cs typeface="黑体"/>
              </a:rPr>
              <a:t>中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移动电子载体</a:t>
            </a:r>
            <a:r>
              <a:rPr sz="2400" b="1" dirty="0">
                <a:latin typeface="黑体"/>
                <a:cs typeface="黑体"/>
              </a:rPr>
              <a:t>，在各复合体键募集并 穿梭传递还原当量和电子，在电子传递和质子移动的偶联 </a:t>
            </a:r>
            <a:r>
              <a:rPr sz="2400" b="1" spc="-5" dirty="0">
                <a:latin typeface="黑体"/>
                <a:cs typeface="黑体"/>
              </a:rPr>
              <a:t>中起着核心作用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0452" y="1808734"/>
            <a:ext cx="850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NAD</a:t>
            </a:r>
            <a:r>
              <a:rPr sz="2400" b="1" spc="-7" baseline="24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endParaRPr sz="2400" baseline="24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6998" y="1062050"/>
            <a:ext cx="2962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sz="2400" b="1" spc="-5" dirty="0">
                <a:solidFill>
                  <a:srgbClr val="009900"/>
                </a:solidFill>
                <a:latin typeface="Times New Roman" panose="02020503050405090304"/>
                <a:cs typeface="Times New Roman" panose="02020503050405090304"/>
              </a:rPr>
              <a:t>NADH+H</a:t>
            </a:r>
            <a:r>
              <a:rPr sz="2400" b="1" spc="-7" baseline="24000" dirty="0">
                <a:solidFill>
                  <a:srgbClr val="009900"/>
                </a:solidFill>
                <a:latin typeface="Times New Roman" panose="02020503050405090304"/>
                <a:cs typeface="Times New Roman" panose="02020503050405090304"/>
              </a:rPr>
              <a:t>+	</a:t>
            </a: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FMN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18460" y="1831848"/>
            <a:ext cx="1226820" cy="462280"/>
          </a:xfrm>
          <a:custGeom>
            <a:avLst/>
            <a:gdLst/>
            <a:ahLst/>
            <a:cxnLst/>
            <a:rect l="l" t="t" r="r" b="b"/>
            <a:pathLst>
              <a:path w="1226820" h="462280">
                <a:moveTo>
                  <a:pt x="0" y="461772"/>
                </a:moveTo>
                <a:lnTo>
                  <a:pt x="1226819" y="461772"/>
                </a:lnTo>
                <a:lnTo>
                  <a:pt x="1226819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solidFill>
            <a:srgbClr val="99CC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78679" y="967739"/>
            <a:ext cx="1788160" cy="463550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4064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320"/>
              </a:spcBef>
            </a:pPr>
            <a:r>
              <a:rPr sz="2400" b="1" dirty="0">
                <a:solidFill>
                  <a:srgbClr val="003366"/>
                </a:solidFill>
                <a:latin typeface="黑体"/>
                <a:cs typeface="黑体"/>
              </a:rPr>
              <a:t>还原型</a:t>
            </a:r>
            <a:r>
              <a:rPr sz="2400" b="1" spc="-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Fe-S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4776" y="1831848"/>
            <a:ext cx="1865630" cy="462280"/>
          </a:xfrm>
          <a:custGeom>
            <a:avLst/>
            <a:gdLst/>
            <a:ahLst/>
            <a:cxnLst/>
            <a:rect l="l" t="t" r="r" b="b"/>
            <a:pathLst>
              <a:path w="1865629" h="462280">
                <a:moveTo>
                  <a:pt x="0" y="461772"/>
                </a:moveTo>
                <a:lnTo>
                  <a:pt x="1865376" y="461772"/>
                </a:lnTo>
                <a:lnTo>
                  <a:pt x="1865376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solidFill>
            <a:srgbClr val="99CC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059294" y="1062050"/>
            <a:ext cx="262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Q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7660" y="1859407"/>
            <a:ext cx="4860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  <a:tabLst>
                <a:tab pos="1916430" algn="l"/>
                <a:tab pos="4232275" algn="l"/>
              </a:tabLst>
            </a:pPr>
            <a:r>
              <a:rPr sz="3600" b="1" spc="-7" baseline="1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FMNH</a:t>
            </a:r>
            <a:r>
              <a:rPr sz="2400" b="1" spc="-7" baseline="-19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	</a:t>
            </a:r>
            <a:r>
              <a:rPr sz="2400" b="1" dirty="0">
                <a:solidFill>
                  <a:srgbClr val="003366"/>
                </a:solidFill>
                <a:latin typeface="黑体"/>
                <a:cs typeface="黑体"/>
              </a:rPr>
              <a:t>氧化型</a:t>
            </a:r>
            <a:r>
              <a:rPr sz="2400" b="1" spc="-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Fe-S	</a:t>
            </a:r>
            <a:r>
              <a:rPr sz="3600" b="1" baseline="1000" dirty="0">
                <a:solidFill>
                  <a:srgbClr val="009900"/>
                </a:solidFill>
                <a:latin typeface="Times New Roman" panose="02020503050405090304"/>
                <a:cs typeface="Times New Roman" panose="02020503050405090304"/>
              </a:rPr>
              <a:t>QH</a:t>
            </a:r>
            <a:r>
              <a:rPr sz="2400" b="1" baseline="-19000" dirty="0">
                <a:solidFill>
                  <a:srgbClr val="009900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endParaRPr sz="2400" baseline="-19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99664" y="1267967"/>
            <a:ext cx="257175" cy="704850"/>
          </a:xfrm>
          <a:custGeom>
            <a:avLst/>
            <a:gdLst/>
            <a:ahLst/>
            <a:cxnLst/>
            <a:rect l="l" t="t" r="r" b="b"/>
            <a:pathLst>
              <a:path w="257175" h="704850">
                <a:moveTo>
                  <a:pt x="60071" y="623443"/>
                </a:moveTo>
                <a:lnTo>
                  <a:pt x="7112" y="704850"/>
                </a:lnTo>
                <a:lnTo>
                  <a:pt x="104012" y="698373"/>
                </a:lnTo>
                <a:lnTo>
                  <a:pt x="93660" y="680720"/>
                </a:lnTo>
                <a:lnTo>
                  <a:pt x="76962" y="680720"/>
                </a:lnTo>
                <a:lnTo>
                  <a:pt x="62230" y="655828"/>
                </a:lnTo>
                <a:lnTo>
                  <a:pt x="73406" y="649351"/>
                </a:lnTo>
                <a:lnTo>
                  <a:pt x="74685" y="648363"/>
                </a:lnTo>
                <a:lnTo>
                  <a:pt x="60071" y="623443"/>
                </a:lnTo>
                <a:close/>
              </a:path>
              <a:path w="257175" h="704850">
                <a:moveTo>
                  <a:pt x="74685" y="648363"/>
                </a:moveTo>
                <a:lnTo>
                  <a:pt x="73406" y="649351"/>
                </a:lnTo>
                <a:lnTo>
                  <a:pt x="62230" y="655828"/>
                </a:lnTo>
                <a:lnTo>
                  <a:pt x="76962" y="680720"/>
                </a:lnTo>
                <a:lnTo>
                  <a:pt x="89352" y="673373"/>
                </a:lnTo>
                <a:lnTo>
                  <a:pt x="74685" y="648363"/>
                </a:lnTo>
                <a:close/>
              </a:path>
              <a:path w="257175" h="704850">
                <a:moveTo>
                  <a:pt x="89352" y="673373"/>
                </a:moveTo>
                <a:lnTo>
                  <a:pt x="76962" y="680720"/>
                </a:lnTo>
                <a:lnTo>
                  <a:pt x="93660" y="680720"/>
                </a:lnTo>
                <a:lnTo>
                  <a:pt x="89352" y="673373"/>
                </a:lnTo>
                <a:close/>
              </a:path>
              <a:path w="257175" h="704850">
                <a:moveTo>
                  <a:pt x="12954" y="0"/>
                </a:moveTo>
                <a:lnTo>
                  <a:pt x="0" y="25908"/>
                </a:lnTo>
                <a:lnTo>
                  <a:pt x="26416" y="39116"/>
                </a:lnTo>
                <a:lnTo>
                  <a:pt x="50800" y="53467"/>
                </a:lnTo>
                <a:lnTo>
                  <a:pt x="95504" y="85979"/>
                </a:lnTo>
                <a:lnTo>
                  <a:pt x="134239" y="123317"/>
                </a:lnTo>
                <a:lnTo>
                  <a:pt x="166878" y="164846"/>
                </a:lnTo>
                <a:lnTo>
                  <a:pt x="192912" y="209804"/>
                </a:lnTo>
                <a:lnTo>
                  <a:pt x="212090" y="257683"/>
                </a:lnTo>
                <a:lnTo>
                  <a:pt x="223774" y="307721"/>
                </a:lnTo>
                <a:lnTo>
                  <a:pt x="227711" y="359664"/>
                </a:lnTo>
                <a:lnTo>
                  <a:pt x="226695" y="385699"/>
                </a:lnTo>
                <a:lnTo>
                  <a:pt x="218694" y="436626"/>
                </a:lnTo>
                <a:lnTo>
                  <a:pt x="203073" y="485648"/>
                </a:lnTo>
                <a:lnTo>
                  <a:pt x="180467" y="531876"/>
                </a:lnTo>
                <a:lnTo>
                  <a:pt x="151003" y="575183"/>
                </a:lnTo>
                <a:lnTo>
                  <a:pt x="115189" y="614426"/>
                </a:lnTo>
                <a:lnTo>
                  <a:pt x="74685" y="648363"/>
                </a:lnTo>
                <a:lnTo>
                  <a:pt x="89352" y="673373"/>
                </a:lnTo>
                <a:lnTo>
                  <a:pt x="136017" y="634619"/>
                </a:lnTo>
                <a:lnTo>
                  <a:pt x="174371" y="592201"/>
                </a:lnTo>
                <a:lnTo>
                  <a:pt x="205994" y="545592"/>
                </a:lnTo>
                <a:lnTo>
                  <a:pt x="230378" y="495300"/>
                </a:lnTo>
                <a:lnTo>
                  <a:pt x="247015" y="442214"/>
                </a:lnTo>
                <a:lnTo>
                  <a:pt x="255651" y="386842"/>
                </a:lnTo>
                <a:lnTo>
                  <a:pt x="256667" y="358521"/>
                </a:lnTo>
                <a:lnTo>
                  <a:pt x="255524" y="330200"/>
                </a:lnTo>
                <a:lnTo>
                  <a:pt x="246761" y="274701"/>
                </a:lnTo>
                <a:lnTo>
                  <a:pt x="229870" y="221487"/>
                </a:lnTo>
                <a:lnTo>
                  <a:pt x="205232" y="171450"/>
                </a:lnTo>
                <a:lnTo>
                  <a:pt x="173482" y="124841"/>
                </a:lnTo>
                <a:lnTo>
                  <a:pt x="134874" y="82423"/>
                </a:lnTo>
                <a:lnTo>
                  <a:pt x="90043" y="45085"/>
                </a:lnTo>
                <a:lnTo>
                  <a:pt x="39370" y="13208"/>
                </a:lnTo>
                <a:lnTo>
                  <a:pt x="12954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56888" y="1280922"/>
            <a:ext cx="256540" cy="704850"/>
          </a:xfrm>
          <a:custGeom>
            <a:avLst/>
            <a:gdLst/>
            <a:ahLst/>
            <a:cxnLst/>
            <a:rect l="l" t="t" r="r" b="b"/>
            <a:pathLst>
              <a:path w="256539" h="704850">
                <a:moveTo>
                  <a:pt x="88107" y="31378"/>
                </a:moveTo>
                <a:lnTo>
                  <a:pt x="73483" y="56388"/>
                </a:lnTo>
                <a:lnTo>
                  <a:pt x="73913" y="56641"/>
                </a:lnTo>
                <a:lnTo>
                  <a:pt x="94869" y="73025"/>
                </a:lnTo>
                <a:lnTo>
                  <a:pt x="133603" y="110362"/>
                </a:lnTo>
                <a:lnTo>
                  <a:pt x="166242" y="151891"/>
                </a:lnTo>
                <a:lnTo>
                  <a:pt x="192277" y="196850"/>
                </a:lnTo>
                <a:lnTo>
                  <a:pt x="211454" y="244728"/>
                </a:lnTo>
                <a:lnTo>
                  <a:pt x="223138" y="294766"/>
                </a:lnTo>
                <a:lnTo>
                  <a:pt x="227075" y="346710"/>
                </a:lnTo>
                <a:lnTo>
                  <a:pt x="226060" y="372744"/>
                </a:lnTo>
                <a:lnTo>
                  <a:pt x="218059" y="423672"/>
                </a:lnTo>
                <a:lnTo>
                  <a:pt x="202437" y="472693"/>
                </a:lnTo>
                <a:lnTo>
                  <a:pt x="179832" y="518922"/>
                </a:lnTo>
                <a:lnTo>
                  <a:pt x="150367" y="562228"/>
                </a:lnTo>
                <a:lnTo>
                  <a:pt x="114553" y="601472"/>
                </a:lnTo>
                <a:lnTo>
                  <a:pt x="72771" y="636397"/>
                </a:lnTo>
                <a:lnTo>
                  <a:pt x="25526" y="666114"/>
                </a:lnTo>
                <a:lnTo>
                  <a:pt x="0" y="678941"/>
                </a:lnTo>
                <a:lnTo>
                  <a:pt x="12953" y="704850"/>
                </a:lnTo>
                <a:lnTo>
                  <a:pt x="66166" y="675893"/>
                </a:lnTo>
                <a:lnTo>
                  <a:pt x="113791" y="641095"/>
                </a:lnTo>
                <a:lnTo>
                  <a:pt x="155321" y="601090"/>
                </a:lnTo>
                <a:lnTo>
                  <a:pt x="190373" y="556513"/>
                </a:lnTo>
                <a:lnTo>
                  <a:pt x="218566" y="507873"/>
                </a:lnTo>
                <a:lnTo>
                  <a:pt x="239013" y="456183"/>
                </a:lnTo>
                <a:lnTo>
                  <a:pt x="251713" y="401827"/>
                </a:lnTo>
                <a:lnTo>
                  <a:pt x="256032" y="345566"/>
                </a:lnTo>
                <a:lnTo>
                  <a:pt x="254888" y="317245"/>
                </a:lnTo>
                <a:lnTo>
                  <a:pt x="246125" y="261747"/>
                </a:lnTo>
                <a:lnTo>
                  <a:pt x="229235" y="208533"/>
                </a:lnTo>
                <a:lnTo>
                  <a:pt x="204597" y="158495"/>
                </a:lnTo>
                <a:lnTo>
                  <a:pt x="172847" y="111887"/>
                </a:lnTo>
                <a:lnTo>
                  <a:pt x="134238" y="69468"/>
                </a:lnTo>
                <a:lnTo>
                  <a:pt x="88519" y="31623"/>
                </a:lnTo>
                <a:lnTo>
                  <a:pt x="88107" y="31378"/>
                </a:lnTo>
                <a:close/>
              </a:path>
              <a:path w="256539" h="704850">
                <a:moveTo>
                  <a:pt x="5841" y="0"/>
                </a:moveTo>
                <a:lnTo>
                  <a:pt x="58927" y="81279"/>
                </a:lnTo>
                <a:lnTo>
                  <a:pt x="73483" y="56388"/>
                </a:lnTo>
                <a:lnTo>
                  <a:pt x="60960" y="49022"/>
                </a:lnTo>
                <a:lnTo>
                  <a:pt x="75691" y="24002"/>
                </a:lnTo>
                <a:lnTo>
                  <a:pt x="92420" y="24002"/>
                </a:lnTo>
                <a:lnTo>
                  <a:pt x="102742" y="6350"/>
                </a:lnTo>
                <a:lnTo>
                  <a:pt x="5841" y="0"/>
                </a:lnTo>
                <a:close/>
              </a:path>
              <a:path w="256539" h="704850">
                <a:moveTo>
                  <a:pt x="75691" y="24002"/>
                </a:moveTo>
                <a:lnTo>
                  <a:pt x="60960" y="49022"/>
                </a:lnTo>
                <a:lnTo>
                  <a:pt x="73483" y="56388"/>
                </a:lnTo>
                <a:lnTo>
                  <a:pt x="88107" y="31378"/>
                </a:lnTo>
                <a:lnTo>
                  <a:pt x="75691" y="24002"/>
                </a:lnTo>
                <a:close/>
              </a:path>
              <a:path w="256539" h="704850">
                <a:moveTo>
                  <a:pt x="92420" y="24002"/>
                </a:moveTo>
                <a:lnTo>
                  <a:pt x="75691" y="24002"/>
                </a:lnTo>
                <a:lnTo>
                  <a:pt x="88107" y="31378"/>
                </a:lnTo>
                <a:lnTo>
                  <a:pt x="92420" y="2400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05320" y="1267967"/>
            <a:ext cx="257175" cy="704850"/>
          </a:xfrm>
          <a:custGeom>
            <a:avLst/>
            <a:gdLst/>
            <a:ahLst/>
            <a:cxnLst/>
            <a:rect l="l" t="t" r="r" b="b"/>
            <a:pathLst>
              <a:path w="257175" h="704850">
                <a:moveTo>
                  <a:pt x="60071" y="623443"/>
                </a:moveTo>
                <a:lnTo>
                  <a:pt x="7111" y="704850"/>
                </a:lnTo>
                <a:lnTo>
                  <a:pt x="104012" y="698373"/>
                </a:lnTo>
                <a:lnTo>
                  <a:pt x="93660" y="680720"/>
                </a:lnTo>
                <a:lnTo>
                  <a:pt x="76961" y="680720"/>
                </a:lnTo>
                <a:lnTo>
                  <a:pt x="62229" y="655828"/>
                </a:lnTo>
                <a:lnTo>
                  <a:pt x="73405" y="649351"/>
                </a:lnTo>
                <a:lnTo>
                  <a:pt x="74685" y="648363"/>
                </a:lnTo>
                <a:lnTo>
                  <a:pt x="60071" y="623443"/>
                </a:lnTo>
                <a:close/>
              </a:path>
              <a:path w="257175" h="704850">
                <a:moveTo>
                  <a:pt x="74685" y="648363"/>
                </a:moveTo>
                <a:lnTo>
                  <a:pt x="73405" y="649351"/>
                </a:lnTo>
                <a:lnTo>
                  <a:pt x="62229" y="655828"/>
                </a:lnTo>
                <a:lnTo>
                  <a:pt x="76961" y="680720"/>
                </a:lnTo>
                <a:lnTo>
                  <a:pt x="89352" y="673373"/>
                </a:lnTo>
                <a:lnTo>
                  <a:pt x="74685" y="648363"/>
                </a:lnTo>
                <a:close/>
              </a:path>
              <a:path w="257175" h="704850">
                <a:moveTo>
                  <a:pt x="89352" y="673373"/>
                </a:moveTo>
                <a:lnTo>
                  <a:pt x="76961" y="680720"/>
                </a:lnTo>
                <a:lnTo>
                  <a:pt x="93660" y="680720"/>
                </a:lnTo>
                <a:lnTo>
                  <a:pt x="89352" y="673373"/>
                </a:lnTo>
                <a:close/>
              </a:path>
              <a:path w="257175" h="704850">
                <a:moveTo>
                  <a:pt x="12953" y="0"/>
                </a:moveTo>
                <a:lnTo>
                  <a:pt x="0" y="25908"/>
                </a:lnTo>
                <a:lnTo>
                  <a:pt x="26415" y="39116"/>
                </a:lnTo>
                <a:lnTo>
                  <a:pt x="50800" y="53467"/>
                </a:lnTo>
                <a:lnTo>
                  <a:pt x="95503" y="85979"/>
                </a:lnTo>
                <a:lnTo>
                  <a:pt x="134238" y="123317"/>
                </a:lnTo>
                <a:lnTo>
                  <a:pt x="166877" y="164846"/>
                </a:lnTo>
                <a:lnTo>
                  <a:pt x="192912" y="209804"/>
                </a:lnTo>
                <a:lnTo>
                  <a:pt x="212089" y="257683"/>
                </a:lnTo>
                <a:lnTo>
                  <a:pt x="223774" y="307721"/>
                </a:lnTo>
                <a:lnTo>
                  <a:pt x="227710" y="359664"/>
                </a:lnTo>
                <a:lnTo>
                  <a:pt x="226695" y="385699"/>
                </a:lnTo>
                <a:lnTo>
                  <a:pt x="218694" y="436626"/>
                </a:lnTo>
                <a:lnTo>
                  <a:pt x="203073" y="485648"/>
                </a:lnTo>
                <a:lnTo>
                  <a:pt x="180467" y="531876"/>
                </a:lnTo>
                <a:lnTo>
                  <a:pt x="151002" y="575183"/>
                </a:lnTo>
                <a:lnTo>
                  <a:pt x="115188" y="614426"/>
                </a:lnTo>
                <a:lnTo>
                  <a:pt x="74685" y="648363"/>
                </a:lnTo>
                <a:lnTo>
                  <a:pt x="89352" y="673373"/>
                </a:lnTo>
                <a:lnTo>
                  <a:pt x="136017" y="634619"/>
                </a:lnTo>
                <a:lnTo>
                  <a:pt x="174371" y="592201"/>
                </a:lnTo>
                <a:lnTo>
                  <a:pt x="205994" y="545592"/>
                </a:lnTo>
                <a:lnTo>
                  <a:pt x="230377" y="495300"/>
                </a:lnTo>
                <a:lnTo>
                  <a:pt x="247014" y="442214"/>
                </a:lnTo>
                <a:lnTo>
                  <a:pt x="255650" y="386842"/>
                </a:lnTo>
                <a:lnTo>
                  <a:pt x="256667" y="358521"/>
                </a:lnTo>
                <a:lnTo>
                  <a:pt x="255524" y="330200"/>
                </a:lnTo>
                <a:lnTo>
                  <a:pt x="246760" y="274701"/>
                </a:lnTo>
                <a:lnTo>
                  <a:pt x="229870" y="221487"/>
                </a:lnTo>
                <a:lnTo>
                  <a:pt x="205231" y="171450"/>
                </a:lnTo>
                <a:lnTo>
                  <a:pt x="173481" y="124841"/>
                </a:lnTo>
                <a:lnTo>
                  <a:pt x="134874" y="82423"/>
                </a:lnTo>
                <a:lnTo>
                  <a:pt x="90043" y="45085"/>
                </a:lnTo>
                <a:lnTo>
                  <a:pt x="39370" y="13208"/>
                </a:lnTo>
                <a:lnTo>
                  <a:pt x="1295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27376" y="1267967"/>
            <a:ext cx="255904" cy="704850"/>
          </a:xfrm>
          <a:custGeom>
            <a:avLst/>
            <a:gdLst/>
            <a:ahLst/>
            <a:cxnLst/>
            <a:rect l="l" t="t" r="r" b="b"/>
            <a:pathLst>
              <a:path w="255905" h="704850">
                <a:moveTo>
                  <a:pt x="166625" y="673164"/>
                </a:moveTo>
                <a:lnTo>
                  <a:pt x="151892" y="698246"/>
                </a:lnTo>
                <a:lnTo>
                  <a:pt x="248793" y="704850"/>
                </a:lnTo>
                <a:lnTo>
                  <a:pt x="233095" y="680720"/>
                </a:lnTo>
                <a:lnTo>
                  <a:pt x="179069" y="680720"/>
                </a:lnTo>
                <a:lnTo>
                  <a:pt x="166625" y="673164"/>
                </a:lnTo>
                <a:close/>
              </a:path>
              <a:path w="255905" h="704850">
                <a:moveTo>
                  <a:pt x="181247" y="648274"/>
                </a:moveTo>
                <a:lnTo>
                  <a:pt x="166625" y="673164"/>
                </a:lnTo>
                <a:lnTo>
                  <a:pt x="179069" y="680720"/>
                </a:lnTo>
                <a:lnTo>
                  <a:pt x="193675" y="655701"/>
                </a:lnTo>
                <a:lnTo>
                  <a:pt x="182625" y="649351"/>
                </a:lnTo>
                <a:lnTo>
                  <a:pt x="181247" y="648274"/>
                </a:lnTo>
                <a:close/>
              </a:path>
              <a:path w="255905" h="704850">
                <a:moveTo>
                  <a:pt x="195834" y="623443"/>
                </a:moveTo>
                <a:lnTo>
                  <a:pt x="181247" y="648274"/>
                </a:lnTo>
                <a:lnTo>
                  <a:pt x="182625" y="649351"/>
                </a:lnTo>
                <a:lnTo>
                  <a:pt x="193675" y="655701"/>
                </a:lnTo>
                <a:lnTo>
                  <a:pt x="179069" y="680720"/>
                </a:lnTo>
                <a:lnTo>
                  <a:pt x="233095" y="680720"/>
                </a:lnTo>
                <a:lnTo>
                  <a:pt x="195834" y="623443"/>
                </a:lnTo>
                <a:close/>
              </a:path>
              <a:path w="255905" h="704850">
                <a:moveTo>
                  <a:pt x="242950" y="0"/>
                </a:moveTo>
                <a:lnTo>
                  <a:pt x="190626" y="28448"/>
                </a:lnTo>
                <a:lnTo>
                  <a:pt x="143001" y="63246"/>
                </a:lnTo>
                <a:lnTo>
                  <a:pt x="101346" y="103124"/>
                </a:lnTo>
                <a:lnTo>
                  <a:pt x="66167" y="147701"/>
                </a:lnTo>
                <a:lnTo>
                  <a:pt x="37973" y="196215"/>
                </a:lnTo>
                <a:lnTo>
                  <a:pt x="17272" y="248031"/>
                </a:lnTo>
                <a:lnTo>
                  <a:pt x="4444" y="302260"/>
                </a:lnTo>
                <a:lnTo>
                  <a:pt x="0" y="358521"/>
                </a:lnTo>
                <a:lnTo>
                  <a:pt x="1016" y="386842"/>
                </a:lnTo>
                <a:lnTo>
                  <a:pt x="9651" y="442214"/>
                </a:lnTo>
                <a:lnTo>
                  <a:pt x="26162" y="495300"/>
                </a:lnTo>
                <a:lnTo>
                  <a:pt x="50546" y="545592"/>
                </a:lnTo>
                <a:lnTo>
                  <a:pt x="82042" y="592201"/>
                </a:lnTo>
                <a:lnTo>
                  <a:pt x="120268" y="634619"/>
                </a:lnTo>
                <a:lnTo>
                  <a:pt x="164846" y="672084"/>
                </a:lnTo>
                <a:lnTo>
                  <a:pt x="166625" y="673164"/>
                </a:lnTo>
                <a:lnTo>
                  <a:pt x="181247" y="648274"/>
                </a:lnTo>
                <a:lnTo>
                  <a:pt x="161162" y="632587"/>
                </a:lnTo>
                <a:lnTo>
                  <a:pt x="141097" y="614553"/>
                </a:lnTo>
                <a:lnTo>
                  <a:pt x="105410" y="575183"/>
                </a:lnTo>
                <a:lnTo>
                  <a:pt x="76073" y="531876"/>
                </a:lnTo>
                <a:lnTo>
                  <a:pt x="53467" y="485648"/>
                </a:lnTo>
                <a:lnTo>
                  <a:pt x="37973" y="436626"/>
                </a:lnTo>
                <a:lnTo>
                  <a:pt x="29972" y="385699"/>
                </a:lnTo>
                <a:lnTo>
                  <a:pt x="28956" y="359664"/>
                </a:lnTo>
                <a:lnTo>
                  <a:pt x="29844" y="333502"/>
                </a:lnTo>
                <a:lnTo>
                  <a:pt x="37718" y="282448"/>
                </a:lnTo>
                <a:lnTo>
                  <a:pt x="53086" y="233299"/>
                </a:lnTo>
                <a:lnTo>
                  <a:pt x="75692" y="186944"/>
                </a:lnTo>
                <a:lnTo>
                  <a:pt x="105029" y="143510"/>
                </a:lnTo>
                <a:lnTo>
                  <a:pt x="140716" y="104012"/>
                </a:lnTo>
                <a:lnTo>
                  <a:pt x="182372" y="69087"/>
                </a:lnTo>
                <a:lnTo>
                  <a:pt x="229616" y="39116"/>
                </a:lnTo>
                <a:lnTo>
                  <a:pt x="255905" y="25908"/>
                </a:lnTo>
                <a:lnTo>
                  <a:pt x="242950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283964" y="1280922"/>
            <a:ext cx="254635" cy="704850"/>
          </a:xfrm>
          <a:custGeom>
            <a:avLst/>
            <a:gdLst/>
            <a:ahLst/>
            <a:cxnLst/>
            <a:rect l="l" t="t" r="r" b="b"/>
            <a:pathLst>
              <a:path w="254635" h="704850">
                <a:moveTo>
                  <a:pt x="166387" y="31538"/>
                </a:moveTo>
                <a:lnTo>
                  <a:pt x="121031" y="69468"/>
                </a:lnTo>
                <a:lnTo>
                  <a:pt x="82676" y="111887"/>
                </a:lnTo>
                <a:lnTo>
                  <a:pt x="51053" y="158495"/>
                </a:lnTo>
                <a:lnTo>
                  <a:pt x="26543" y="208661"/>
                </a:lnTo>
                <a:lnTo>
                  <a:pt x="9906" y="261874"/>
                </a:lnTo>
                <a:lnTo>
                  <a:pt x="1143" y="317245"/>
                </a:lnTo>
                <a:lnTo>
                  <a:pt x="0" y="345566"/>
                </a:lnTo>
                <a:lnTo>
                  <a:pt x="1015" y="373888"/>
                </a:lnTo>
                <a:lnTo>
                  <a:pt x="9525" y="429132"/>
                </a:lnTo>
                <a:lnTo>
                  <a:pt x="26162" y="482345"/>
                </a:lnTo>
                <a:lnTo>
                  <a:pt x="50419" y="532511"/>
                </a:lnTo>
                <a:lnTo>
                  <a:pt x="81787" y="579247"/>
                </a:lnTo>
                <a:lnTo>
                  <a:pt x="119887" y="621664"/>
                </a:lnTo>
                <a:lnTo>
                  <a:pt x="164337" y="659129"/>
                </a:lnTo>
                <a:lnTo>
                  <a:pt x="214375" y="691133"/>
                </a:lnTo>
                <a:lnTo>
                  <a:pt x="241553" y="704850"/>
                </a:lnTo>
                <a:lnTo>
                  <a:pt x="254508" y="678941"/>
                </a:lnTo>
                <a:lnTo>
                  <a:pt x="229108" y="666241"/>
                </a:lnTo>
                <a:lnTo>
                  <a:pt x="204977" y="651890"/>
                </a:lnTo>
                <a:lnTo>
                  <a:pt x="160782" y="619632"/>
                </a:lnTo>
                <a:lnTo>
                  <a:pt x="122300" y="582422"/>
                </a:lnTo>
                <a:lnTo>
                  <a:pt x="89788" y="541019"/>
                </a:lnTo>
                <a:lnTo>
                  <a:pt x="63881" y="496315"/>
                </a:lnTo>
                <a:lnTo>
                  <a:pt x="44703" y="448563"/>
                </a:lnTo>
                <a:lnTo>
                  <a:pt x="33020" y="398399"/>
                </a:lnTo>
                <a:lnTo>
                  <a:pt x="28956" y="346710"/>
                </a:lnTo>
                <a:lnTo>
                  <a:pt x="29845" y="320548"/>
                </a:lnTo>
                <a:lnTo>
                  <a:pt x="37719" y="269493"/>
                </a:lnTo>
                <a:lnTo>
                  <a:pt x="53086" y="220344"/>
                </a:lnTo>
                <a:lnTo>
                  <a:pt x="75564" y="173862"/>
                </a:lnTo>
                <a:lnTo>
                  <a:pt x="104775" y="130555"/>
                </a:lnTo>
                <a:lnTo>
                  <a:pt x="140335" y="91058"/>
                </a:lnTo>
                <a:lnTo>
                  <a:pt x="181019" y="56488"/>
                </a:lnTo>
                <a:lnTo>
                  <a:pt x="166387" y="31538"/>
                </a:lnTo>
                <a:close/>
              </a:path>
              <a:path w="254635" h="704850">
                <a:moveTo>
                  <a:pt x="232910" y="24256"/>
                </a:moveTo>
                <a:lnTo>
                  <a:pt x="178815" y="24256"/>
                </a:lnTo>
                <a:lnTo>
                  <a:pt x="193548" y="49149"/>
                </a:lnTo>
                <a:lnTo>
                  <a:pt x="181019" y="56488"/>
                </a:lnTo>
                <a:lnTo>
                  <a:pt x="195707" y="81533"/>
                </a:lnTo>
                <a:lnTo>
                  <a:pt x="232910" y="24256"/>
                </a:lnTo>
                <a:close/>
              </a:path>
              <a:path w="254635" h="704850">
                <a:moveTo>
                  <a:pt x="178815" y="24256"/>
                </a:moveTo>
                <a:lnTo>
                  <a:pt x="166387" y="31538"/>
                </a:lnTo>
                <a:lnTo>
                  <a:pt x="181019" y="56488"/>
                </a:lnTo>
                <a:lnTo>
                  <a:pt x="193548" y="49149"/>
                </a:lnTo>
                <a:lnTo>
                  <a:pt x="178815" y="24256"/>
                </a:lnTo>
                <a:close/>
              </a:path>
              <a:path w="254635" h="704850">
                <a:moveTo>
                  <a:pt x="248665" y="0"/>
                </a:moveTo>
                <a:lnTo>
                  <a:pt x="151764" y="6603"/>
                </a:lnTo>
                <a:lnTo>
                  <a:pt x="166387" y="31538"/>
                </a:lnTo>
                <a:lnTo>
                  <a:pt x="178815" y="24256"/>
                </a:lnTo>
                <a:lnTo>
                  <a:pt x="232910" y="24256"/>
                </a:lnTo>
                <a:lnTo>
                  <a:pt x="248665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31507" y="1267967"/>
            <a:ext cx="255270" cy="704850"/>
          </a:xfrm>
          <a:custGeom>
            <a:avLst/>
            <a:gdLst/>
            <a:ahLst/>
            <a:cxnLst/>
            <a:rect l="l" t="t" r="r" b="b"/>
            <a:pathLst>
              <a:path w="255270" h="704850">
                <a:moveTo>
                  <a:pt x="166506" y="672094"/>
                </a:moveTo>
                <a:lnTo>
                  <a:pt x="151130" y="698119"/>
                </a:lnTo>
                <a:lnTo>
                  <a:pt x="248031" y="704850"/>
                </a:lnTo>
                <a:lnTo>
                  <a:pt x="231858" y="679831"/>
                </a:lnTo>
                <a:lnTo>
                  <a:pt x="177292" y="679831"/>
                </a:lnTo>
                <a:lnTo>
                  <a:pt x="166506" y="672094"/>
                </a:lnTo>
                <a:close/>
              </a:path>
              <a:path w="255270" h="704850">
                <a:moveTo>
                  <a:pt x="181226" y="647179"/>
                </a:moveTo>
                <a:lnTo>
                  <a:pt x="166506" y="672094"/>
                </a:lnTo>
                <a:lnTo>
                  <a:pt x="177292" y="679831"/>
                </a:lnTo>
                <a:lnTo>
                  <a:pt x="194056" y="656336"/>
                </a:lnTo>
                <a:lnTo>
                  <a:pt x="181226" y="647179"/>
                </a:lnTo>
                <a:close/>
              </a:path>
              <a:path w="255270" h="704850">
                <a:moveTo>
                  <a:pt x="195325" y="623316"/>
                </a:moveTo>
                <a:lnTo>
                  <a:pt x="181226" y="647179"/>
                </a:lnTo>
                <a:lnTo>
                  <a:pt x="194056" y="656336"/>
                </a:lnTo>
                <a:lnTo>
                  <a:pt x="177292" y="679831"/>
                </a:lnTo>
                <a:lnTo>
                  <a:pt x="231858" y="679831"/>
                </a:lnTo>
                <a:lnTo>
                  <a:pt x="195325" y="623316"/>
                </a:lnTo>
                <a:close/>
              </a:path>
              <a:path w="255270" h="704850">
                <a:moveTo>
                  <a:pt x="242062" y="0"/>
                </a:moveTo>
                <a:lnTo>
                  <a:pt x="189865" y="28448"/>
                </a:lnTo>
                <a:lnTo>
                  <a:pt x="142494" y="63246"/>
                </a:lnTo>
                <a:lnTo>
                  <a:pt x="101092" y="103124"/>
                </a:lnTo>
                <a:lnTo>
                  <a:pt x="66040" y="147701"/>
                </a:lnTo>
                <a:lnTo>
                  <a:pt x="37846" y="196215"/>
                </a:lnTo>
                <a:lnTo>
                  <a:pt x="17272" y="248031"/>
                </a:lnTo>
                <a:lnTo>
                  <a:pt x="4445" y="302260"/>
                </a:lnTo>
                <a:lnTo>
                  <a:pt x="0" y="358521"/>
                </a:lnTo>
                <a:lnTo>
                  <a:pt x="1016" y="386842"/>
                </a:lnTo>
                <a:lnTo>
                  <a:pt x="9525" y="442087"/>
                </a:lnTo>
                <a:lnTo>
                  <a:pt x="26162" y="495300"/>
                </a:lnTo>
                <a:lnTo>
                  <a:pt x="50419" y="545465"/>
                </a:lnTo>
                <a:lnTo>
                  <a:pt x="81788" y="592201"/>
                </a:lnTo>
                <a:lnTo>
                  <a:pt x="119888" y="634619"/>
                </a:lnTo>
                <a:lnTo>
                  <a:pt x="166506" y="672094"/>
                </a:lnTo>
                <a:lnTo>
                  <a:pt x="181226" y="647179"/>
                </a:lnTo>
                <a:lnTo>
                  <a:pt x="160782" y="632587"/>
                </a:lnTo>
                <a:lnTo>
                  <a:pt x="140716" y="614553"/>
                </a:lnTo>
                <a:lnTo>
                  <a:pt x="105283" y="575183"/>
                </a:lnTo>
                <a:lnTo>
                  <a:pt x="75946" y="532003"/>
                </a:lnTo>
                <a:lnTo>
                  <a:pt x="53467" y="485521"/>
                </a:lnTo>
                <a:lnTo>
                  <a:pt x="37973" y="436626"/>
                </a:lnTo>
                <a:lnTo>
                  <a:pt x="29972" y="385699"/>
                </a:lnTo>
                <a:lnTo>
                  <a:pt x="28956" y="359664"/>
                </a:lnTo>
                <a:lnTo>
                  <a:pt x="29845" y="333502"/>
                </a:lnTo>
                <a:lnTo>
                  <a:pt x="37719" y="282448"/>
                </a:lnTo>
                <a:lnTo>
                  <a:pt x="53086" y="233299"/>
                </a:lnTo>
                <a:lnTo>
                  <a:pt x="75565" y="186817"/>
                </a:lnTo>
                <a:lnTo>
                  <a:pt x="104775" y="143510"/>
                </a:lnTo>
                <a:lnTo>
                  <a:pt x="140335" y="104012"/>
                </a:lnTo>
                <a:lnTo>
                  <a:pt x="181737" y="68961"/>
                </a:lnTo>
                <a:lnTo>
                  <a:pt x="228853" y="39116"/>
                </a:lnTo>
                <a:lnTo>
                  <a:pt x="255143" y="25908"/>
                </a:lnTo>
                <a:lnTo>
                  <a:pt x="242062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03098" y="250647"/>
            <a:ext cx="59156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0" dirty="0">
                <a:solidFill>
                  <a:srgbClr val="0000FF"/>
                </a:solidFill>
              </a:rPr>
              <a:t>复合</a:t>
            </a:r>
            <a:r>
              <a:rPr sz="3200" dirty="0">
                <a:solidFill>
                  <a:srgbClr val="0000FF"/>
                </a:solidFill>
              </a:rPr>
              <a:t>体</a:t>
            </a:r>
            <a:r>
              <a:rPr sz="3200" spc="-16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Ⅰ</a:t>
            </a:r>
            <a:r>
              <a:rPr sz="3200" spc="-5" dirty="0">
                <a:solidFill>
                  <a:srgbClr val="993300"/>
                </a:solidFill>
              </a:rPr>
              <a:t>（</a:t>
            </a:r>
            <a:r>
              <a:rPr sz="3200" spc="-10" dirty="0">
                <a:solidFill>
                  <a:srgbClr val="009900"/>
                </a:solidFill>
                <a:latin typeface="Times New Roman" panose="02020503050405090304"/>
                <a:cs typeface="Times New Roman" panose="02020503050405090304"/>
              </a:rPr>
              <a:t>N</a:t>
            </a:r>
            <a:r>
              <a:rPr sz="3200" dirty="0">
                <a:solidFill>
                  <a:srgbClr val="009900"/>
                </a:solidFill>
                <a:latin typeface="Times New Roman" panose="02020503050405090304"/>
                <a:cs typeface="Times New Roman" panose="02020503050405090304"/>
              </a:rPr>
              <a:t>AD</a:t>
            </a:r>
            <a:r>
              <a:rPr sz="3200" spc="-10" dirty="0">
                <a:solidFill>
                  <a:srgbClr val="009900"/>
                </a:solidFill>
                <a:latin typeface="Times New Roman" panose="02020503050405090304"/>
                <a:cs typeface="Times New Roman" panose="02020503050405090304"/>
              </a:rPr>
              <a:t>H-</a:t>
            </a:r>
            <a:r>
              <a:rPr sz="3200" spc="-5" dirty="0">
                <a:solidFill>
                  <a:srgbClr val="CC00CC"/>
                </a:solidFill>
              </a:rPr>
              <a:t>辅酶</a:t>
            </a:r>
            <a:r>
              <a:rPr sz="3200" spc="-5" dirty="0">
                <a:solidFill>
                  <a:srgbClr val="CC00CC"/>
                </a:solidFill>
                <a:latin typeface="Times New Roman" panose="02020503050405090304"/>
                <a:cs typeface="Times New Roman" panose="02020503050405090304"/>
              </a:rPr>
              <a:t>Q</a:t>
            </a:r>
            <a:r>
              <a:rPr sz="3200" spc="-5" dirty="0">
                <a:solidFill>
                  <a:srgbClr val="000000"/>
                </a:solidFill>
              </a:rPr>
              <a:t>还原</a:t>
            </a:r>
            <a:r>
              <a:rPr sz="3200" spc="-15" dirty="0">
                <a:solidFill>
                  <a:srgbClr val="000000"/>
                </a:solidFill>
              </a:rPr>
              <a:t>酶</a:t>
            </a:r>
            <a:r>
              <a:rPr sz="3200" spc="-285" dirty="0">
                <a:solidFill>
                  <a:srgbClr val="0000FF"/>
                </a:solidFill>
              </a:rPr>
              <a:t>）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55280" y="6166103"/>
            <a:ext cx="792480" cy="536575"/>
          </a:xfrm>
          <a:custGeom>
            <a:avLst/>
            <a:gdLst/>
            <a:ahLst/>
            <a:cxnLst/>
            <a:rect l="l" t="t" r="r" b="b"/>
            <a:pathLst>
              <a:path w="792479" h="536575">
                <a:moveTo>
                  <a:pt x="792479" y="0"/>
                </a:moveTo>
                <a:lnTo>
                  <a:pt x="0" y="0"/>
                </a:lnTo>
                <a:lnTo>
                  <a:pt x="0" y="536448"/>
                </a:lnTo>
                <a:lnTo>
                  <a:pt x="792479" y="536448"/>
                </a:lnTo>
                <a:lnTo>
                  <a:pt x="792479" y="469392"/>
                </a:lnTo>
                <a:lnTo>
                  <a:pt x="195072" y="469392"/>
                </a:lnTo>
                <a:lnTo>
                  <a:pt x="195072" y="67056"/>
                </a:lnTo>
                <a:lnTo>
                  <a:pt x="792479" y="67056"/>
                </a:lnTo>
                <a:lnTo>
                  <a:pt x="792479" y="0"/>
                </a:lnTo>
                <a:close/>
              </a:path>
              <a:path w="792479" h="536575">
                <a:moveTo>
                  <a:pt x="792479" y="67056"/>
                </a:moveTo>
                <a:lnTo>
                  <a:pt x="195072" y="67056"/>
                </a:lnTo>
                <a:lnTo>
                  <a:pt x="597408" y="268224"/>
                </a:lnTo>
                <a:lnTo>
                  <a:pt x="195072" y="469392"/>
                </a:lnTo>
                <a:lnTo>
                  <a:pt x="792479" y="469392"/>
                </a:lnTo>
                <a:lnTo>
                  <a:pt x="792479" y="67056"/>
                </a:lnTo>
                <a:close/>
              </a:path>
            </a:pathLst>
          </a:custGeom>
          <a:solidFill>
            <a:srgbClr val="CCCC99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150352" y="6233159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90" h="402590">
                <a:moveTo>
                  <a:pt x="0" y="0"/>
                </a:moveTo>
                <a:lnTo>
                  <a:pt x="0" y="402335"/>
                </a:lnTo>
                <a:lnTo>
                  <a:pt x="402336" y="201167"/>
                </a:lnTo>
                <a:lnTo>
                  <a:pt x="0" y="0"/>
                </a:lnTo>
                <a:close/>
              </a:path>
            </a:pathLst>
          </a:custGeom>
          <a:solidFill>
            <a:srgbClr val="79795C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50352" y="6233159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90" h="402590">
                <a:moveTo>
                  <a:pt x="402336" y="201167"/>
                </a:moveTo>
                <a:lnTo>
                  <a:pt x="0" y="402335"/>
                </a:lnTo>
                <a:lnTo>
                  <a:pt x="0" y="0"/>
                </a:lnTo>
                <a:lnTo>
                  <a:pt x="402336" y="201167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955280" y="6166103"/>
            <a:ext cx="792480" cy="536575"/>
          </a:xfrm>
          <a:custGeom>
            <a:avLst/>
            <a:gdLst/>
            <a:ahLst/>
            <a:cxnLst/>
            <a:rect l="l" t="t" r="r" b="b"/>
            <a:pathLst>
              <a:path w="792479" h="536575">
                <a:moveTo>
                  <a:pt x="0" y="536448"/>
                </a:moveTo>
                <a:lnTo>
                  <a:pt x="792479" y="536448"/>
                </a:lnTo>
                <a:lnTo>
                  <a:pt x="792479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3859" y="3227832"/>
            <a:ext cx="8488680" cy="3566160"/>
          </a:xfrm>
          <a:custGeom>
            <a:avLst/>
            <a:gdLst/>
            <a:ahLst/>
            <a:cxnLst/>
            <a:rect l="l" t="t" r="r" b="b"/>
            <a:pathLst>
              <a:path w="8488680" h="3566159">
                <a:moveTo>
                  <a:pt x="0" y="3566160"/>
                </a:moveTo>
                <a:lnTo>
                  <a:pt x="8488680" y="3566160"/>
                </a:lnTo>
                <a:lnTo>
                  <a:pt x="8488680" y="0"/>
                </a:lnTo>
                <a:lnTo>
                  <a:pt x="0" y="0"/>
                </a:lnTo>
                <a:lnTo>
                  <a:pt x="0" y="356616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63575" y="3378454"/>
            <a:ext cx="7936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15" dirty="0">
                <a:latin typeface="黑体"/>
                <a:cs typeface="黑体"/>
              </a:rPr>
              <a:t>具有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质子泵</a:t>
            </a:r>
            <a:r>
              <a:rPr sz="2000" b="1" spc="5" dirty="0">
                <a:latin typeface="黑体"/>
                <a:cs typeface="黑体"/>
              </a:rPr>
              <a:t>功能</a:t>
            </a:r>
            <a:r>
              <a:rPr sz="2000" b="1" spc="-5" dirty="0">
                <a:latin typeface="黑体"/>
                <a:cs typeface="黑体"/>
              </a:rPr>
              <a:t>，</a:t>
            </a:r>
            <a:r>
              <a:rPr sz="2000" b="1" spc="5" dirty="0">
                <a:latin typeface="黑体"/>
                <a:cs typeface="黑体"/>
              </a:rPr>
              <a:t>每传</a:t>
            </a:r>
            <a:r>
              <a:rPr sz="2000" b="1" spc="-5" dirty="0">
                <a:latin typeface="黑体"/>
                <a:cs typeface="黑体"/>
              </a:rPr>
              <a:t>递</a:t>
            </a:r>
            <a:r>
              <a:rPr sz="2000" b="1" spc="5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000" b="1" spc="5" dirty="0">
                <a:latin typeface="黑体"/>
                <a:cs typeface="黑体"/>
              </a:rPr>
              <a:t>个</a:t>
            </a:r>
            <a:r>
              <a:rPr sz="2000" b="1" spc="-5" dirty="0">
                <a:latin typeface="黑体"/>
                <a:cs typeface="黑体"/>
              </a:rPr>
              <a:t>电</a:t>
            </a:r>
            <a:r>
              <a:rPr sz="2000" b="1" spc="5" dirty="0">
                <a:latin typeface="黑体"/>
                <a:cs typeface="黑体"/>
              </a:rPr>
              <a:t>子可</a:t>
            </a:r>
            <a:r>
              <a:rPr sz="2000" b="1" spc="-10" dirty="0">
                <a:latin typeface="黑体"/>
                <a:cs typeface="黑体"/>
              </a:rPr>
              <a:t>将</a:t>
            </a:r>
            <a:r>
              <a:rPr sz="2000" b="1" spc="-10" dirty="0">
                <a:latin typeface="Times New Roman" panose="02020503050405090304"/>
                <a:cs typeface="Times New Roman" panose="02020503050405090304"/>
              </a:rPr>
              <a:t>4</a:t>
            </a:r>
            <a:r>
              <a:rPr sz="2000" b="1" spc="5" dirty="0">
                <a:latin typeface="黑体"/>
                <a:cs typeface="黑体"/>
              </a:rPr>
              <a:t>个</a:t>
            </a:r>
            <a:r>
              <a:rPr sz="2000" b="1" spc="5" dirty="0">
                <a:latin typeface="Times New Roman" panose="02020503050405090304"/>
                <a:cs typeface="Times New Roman" panose="02020503050405090304"/>
              </a:rPr>
              <a:t>H</a:t>
            </a:r>
            <a:r>
              <a:rPr sz="1950" b="1" spc="7" baseline="26000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000" b="1" spc="5" dirty="0">
                <a:latin typeface="黑体"/>
                <a:cs typeface="黑体"/>
              </a:rPr>
              <a:t>从内</a:t>
            </a:r>
            <a:r>
              <a:rPr sz="2000" b="1" spc="-5" dirty="0">
                <a:latin typeface="黑体"/>
                <a:cs typeface="黑体"/>
              </a:rPr>
              <a:t>膜</a:t>
            </a:r>
            <a:r>
              <a:rPr sz="2000" b="1" spc="5" dirty="0">
                <a:latin typeface="黑体"/>
                <a:cs typeface="黑体"/>
              </a:rPr>
              <a:t>基质</a:t>
            </a:r>
            <a:r>
              <a:rPr sz="2000" b="1" spc="-5" dirty="0">
                <a:latin typeface="黑体"/>
                <a:cs typeface="黑体"/>
              </a:rPr>
              <a:t>侧</a:t>
            </a:r>
            <a:r>
              <a:rPr sz="2000" b="1" spc="5" dirty="0">
                <a:latin typeface="黑体"/>
                <a:cs typeface="黑体"/>
              </a:rPr>
              <a:t>泵到</a:t>
            </a:r>
            <a:r>
              <a:rPr sz="2000" b="1" spc="-5" dirty="0">
                <a:latin typeface="黑体"/>
                <a:cs typeface="黑体"/>
              </a:rPr>
              <a:t>膜</a:t>
            </a:r>
            <a:r>
              <a:rPr sz="2000" b="1" spc="5" dirty="0">
                <a:latin typeface="黑体"/>
                <a:cs typeface="黑体"/>
              </a:rPr>
              <a:t>间</a:t>
            </a:r>
            <a:r>
              <a:rPr sz="2000" b="1" spc="-5" dirty="0">
                <a:latin typeface="黑体"/>
                <a:cs typeface="黑体"/>
              </a:rPr>
              <a:t>隙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35196" y="6275830"/>
            <a:ext cx="805180" cy="523240"/>
          </a:xfrm>
          <a:custGeom>
            <a:avLst/>
            <a:gdLst/>
            <a:ahLst/>
            <a:cxnLst/>
            <a:rect l="l" t="t" r="r" b="b"/>
            <a:pathLst>
              <a:path w="805179" h="523240">
                <a:moveTo>
                  <a:pt x="0" y="522732"/>
                </a:moveTo>
                <a:lnTo>
                  <a:pt x="804672" y="522732"/>
                </a:lnTo>
                <a:lnTo>
                  <a:pt x="804672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288535" y="6300622"/>
            <a:ext cx="690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20" dirty="0">
                <a:solidFill>
                  <a:srgbClr val="FFFF00"/>
                </a:solidFill>
                <a:latin typeface="Cambria Math"/>
                <a:cs typeface="Cambria Math"/>
              </a:rPr>
              <a:t>4H</a:t>
            </a:r>
            <a:r>
              <a:rPr sz="2775" b="1" spc="30" baseline="26000" dirty="0">
                <a:solidFill>
                  <a:srgbClr val="FFFF00"/>
                </a:solidFill>
                <a:latin typeface="Cambria Math"/>
                <a:cs typeface="Cambria Math"/>
              </a:rPr>
              <a:t>+</a:t>
            </a:r>
            <a:endParaRPr sz="2775" baseline="26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001011" y="3758184"/>
            <a:ext cx="5670803" cy="262432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495544" y="4443984"/>
            <a:ext cx="2391410" cy="408940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3175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250"/>
              </a:spcBef>
            </a:pPr>
            <a:r>
              <a:rPr sz="2000" b="1" spc="10" dirty="0">
                <a:solidFill>
                  <a:srgbClr val="FFFFFF"/>
                </a:solidFill>
                <a:latin typeface="华文楷体" panose="02010600040101010101" charset="-122"/>
                <a:cs typeface="华文楷体" panose="02010600040101010101" charset="-122"/>
              </a:rPr>
              <a:t>复合</a:t>
            </a:r>
            <a:r>
              <a:rPr sz="2000" b="1" dirty="0">
                <a:solidFill>
                  <a:srgbClr val="FFFFFF"/>
                </a:solidFill>
                <a:latin typeface="华文楷体" panose="02010600040101010101" charset="-122"/>
                <a:cs typeface="华文楷体" panose="02010600040101010101" charset="-122"/>
              </a:rPr>
              <a:t>体Ⅰ</a:t>
            </a:r>
            <a:r>
              <a:rPr sz="2000" b="1" spc="-15" dirty="0">
                <a:solidFill>
                  <a:srgbClr val="FFFFFF"/>
                </a:solidFill>
                <a:latin typeface="华文楷体" panose="02010600040101010101" charset="-122"/>
                <a:cs typeface="华文楷体" panose="02010600040101010101" charset="-122"/>
              </a:rPr>
              <a:t>的</a:t>
            </a:r>
            <a:r>
              <a:rPr sz="2000" b="1" dirty="0">
                <a:solidFill>
                  <a:srgbClr val="FFFFFF"/>
                </a:solidFill>
                <a:latin typeface="华文楷体" panose="02010600040101010101" charset="-122"/>
                <a:cs typeface="华文楷体" panose="02010600040101010101" charset="-122"/>
              </a:rPr>
              <a:t>功能</a:t>
            </a:r>
            <a:endParaRPr sz="200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81728" y="4097273"/>
            <a:ext cx="266700" cy="2286000"/>
          </a:xfrm>
          <a:custGeom>
            <a:avLst/>
            <a:gdLst/>
            <a:ahLst/>
            <a:cxnLst/>
            <a:rect l="l" t="t" r="r" b="b"/>
            <a:pathLst>
              <a:path w="266700" h="2286000">
                <a:moveTo>
                  <a:pt x="0" y="2019300"/>
                </a:moveTo>
                <a:lnTo>
                  <a:pt x="133350" y="2286000"/>
                </a:lnTo>
                <a:lnTo>
                  <a:pt x="213360" y="2125980"/>
                </a:lnTo>
                <a:lnTo>
                  <a:pt x="106680" y="2125980"/>
                </a:lnTo>
                <a:lnTo>
                  <a:pt x="106680" y="2104644"/>
                </a:lnTo>
                <a:lnTo>
                  <a:pt x="0" y="2019300"/>
                </a:lnTo>
                <a:close/>
              </a:path>
              <a:path w="266700" h="2286000">
                <a:moveTo>
                  <a:pt x="106680" y="2104644"/>
                </a:moveTo>
                <a:lnTo>
                  <a:pt x="106680" y="2125980"/>
                </a:lnTo>
                <a:lnTo>
                  <a:pt x="133350" y="2125980"/>
                </a:lnTo>
                <a:lnTo>
                  <a:pt x="106680" y="2104644"/>
                </a:lnTo>
                <a:close/>
              </a:path>
              <a:path w="266700" h="2286000">
                <a:moveTo>
                  <a:pt x="160020" y="0"/>
                </a:moveTo>
                <a:lnTo>
                  <a:pt x="106680" y="0"/>
                </a:lnTo>
                <a:lnTo>
                  <a:pt x="106680" y="2104644"/>
                </a:lnTo>
                <a:lnTo>
                  <a:pt x="133350" y="2125980"/>
                </a:lnTo>
                <a:lnTo>
                  <a:pt x="160019" y="2104644"/>
                </a:lnTo>
                <a:lnTo>
                  <a:pt x="160020" y="0"/>
                </a:lnTo>
                <a:close/>
              </a:path>
              <a:path w="266700" h="2286000">
                <a:moveTo>
                  <a:pt x="160020" y="2104644"/>
                </a:moveTo>
                <a:lnTo>
                  <a:pt x="133350" y="2125980"/>
                </a:lnTo>
                <a:lnTo>
                  <a:pt x="160020" y="2125980"/>
                </a:lnTo>
                <a:lnTo>
                  <a:pt x="160020" y="2104644"/>
                </a:lnTo>
                <a:close/>
              </a:path>
              <a:path w="266700" h="2286000">
                <a:moveTo>
                  <a:pt x="266700" y="2019300"/>
                </a:moveTo>
                <a:lnTo>
                  <a:pt x="160020" y="2104644"/>
                </a:lnTo>
                <a:lnTo>
                  <a:pt x="160020" y="2125980"/>
                </a:lnTo>
                <a:lnTo>
                  <a:pt x="213360" y="2125980"/>
                </a:lnTo>
                <a:lnTo>
                  <a:pt x="266700" y="2019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22138" y="2622779"/>
            <a:ext cx="8563370" cy="5380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2420" y="2545067"/>
            <a:ext cx="8766048" cy="762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3859" y="2604516"/>
            <a:ext cx="8488680" cy="463550"/>
          </a:xfrm>
          <a:custGeom>
            <a:avLst/>
            <a:gdLst/>
            <a:ahLst/>
            <a:cxnLst/>
            <a:rect l="l" t="t" r="r" b="b"/>
            <a:pathLst>
              <a:path w="8488680" h="463550">
                <a:moveTo>
                  <a:pt x="0" y="463296"/>
                </a:moveTo>
                <a:lnTo>
                  <a:pt x="8488680" y="463296"/>
                </a:lnTo>
                <a:lnTo>
                  <a:pt x="8488680" y="0"/>
                </a:lnTo>
                <a:lnTo>
                  <a:pt x="0" y="0"/>
                </a:lnTo>
                <a:lnTo>
                  <a:pt x="0" y="46329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78459" y="2632709"/>
            <a:ext cx="8539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0"/>
              </a:spcBef>
              <a:tabLst>
                <a:tab pos="4510405" algn="l"/>
              </a:tabLst>
            </a:pPr>
            <a:r>
              <a:rPr sz="24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400" b="1" spc="2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spc="-1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5H</a:t>
            </a:r>
            <a:r>
              <a:rPr sz="2400" b="1" baseline="24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(</a:t>
            </a:r>
            <a:r>
              <a:rPr sz="2400" b="1" dirty="0">
                <a:solidFill>
                  <a:srgbClr val="FFFFFF"/>
                </a:solidFill>
                <a:latin typeface="黑体"/>
                <a:cs typeface="黑体"/>
              </a:rPr>
              <a:t>基质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)</a:t>
            </a:r>
            <a:r>
              <a:rPr sz="2400" b="1" spc="-1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spc="-1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CoQ	</a:t>
            </a:r>
            <a:r>
              <a:rPr sz="24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NAD</a:t>
            </a:r>
            <a:r>
              <a:rPr sz="2400" b="1" spc="-7" baseline="24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spc="22" baseline="24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spc="-2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CoQH</a:t>
            </a:r>
            <a:r>
              <a:rPr sz="2400" b="1" baseline="-21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spc="-4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4H</a:t>
            </a:r>
            <a:r>
              <a:rPr sz="2400" b="1" baseline="24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(</a:t>
            </a:r>
            <a:r>
              <a:rPr sz="2400" b="1" dirty="0">
                <a:solidFill>
                  <a:srgbClr val="FFFFFF"/>
                </a:solidFill>
                <a:latin typeface="黑体"/>
                <a:cs typeface="黑体"/>
              </a:rPr>
              <a:t>膜间隙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)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91178" y="2796539"/>
            <a:ext cx="682625" cy="114300"/>
          </a:xfrm>
          <a:custGeom>
            <a:avLst/>
            <a:gdLst/>
            <a:ahLst/>
            <a:cxnLst/>
            <a:rect l="l" t="t" r="r" b="b"/>
            <a:pathLst>
              <a:path w="682625" h="114300">
                <a:moveTo>
                  <a:pt x="568325" y="0"/>
                </a:moveTo>
                <a:lnTo>
                  <a:pt x="568325" y="114300"/>
                </a:lnTo>
                <a:lnTo>
                  <a:pt x="644525" y="76200"/>
                </a:lnTo>
                <a:lnTo>
                  <a:pt x="587375" y="76200"/>
                </a:lnTo>
                <a:lnTo>
                  <a:pt x="587375" y="38100"/>
                </a:lnTo>
                <a:lnTo>
                  <a:pt x="644525" y="38100"/>
                </a:lnTo>
                <a:lnTo>
                  <a:pt x="568325" y="0"/>
                </a:lnTo>
                <a:close/>
              </a:path>
              <a:path w="682625" h="114300">
                <a:moveTo>
                  <a:pt x="56832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68325" y="76200"/>
                </a:lnTo>
                <a:lnTo>
                  <a:pt x="568325" y="38100"/>
                </a:lnTo>
                <a:close/>
              </a:path>
              <a:path w="682625" h="114300">
                <a:moveTo>
                  <a:pt x="644525" y="38100"/>
                </a:moveTo>
                <a:lnTo>
                  <a:pt x="587375" y="38100"/>
                </a:lnTo>
                <a:lnTo>
                  <a:pt x="587375" y="76200"/>
                </a:lnTo>
                <a:lnTo>
                  <a:pt x="644525" y="76200"/>
                </a:lnTo>
                <a:lnTo>
                  <a:pt x="682625" y="57150"/>
                </a:lnTo>
                <a:lnTo>
                  <a:pt x="644525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644" y="1098295"/>
            <a:ext cx="56064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2.</a:t>
            </a:r>
            <a:r>
              <a:rPr sz="3200" spc="-4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10" dirty="0">
                <a:solidFill>
                  <a:srgbClr val="0000FF"/>
                </a:solidFill>
              </a:rPr>
              <a:t>复合</a:t>
            </a:r>
            <a:r>
              <a:rPr sz="3200" dirty="0">
                <a:solidFill>
                  <a:srgbClr val="0000FF"/>
                </a:solidFill>
              </a:rPr>
              <a:t>体</a:t>
            </a:r>
            <a:r>
              <a:rPr sz="3200" spc="-2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Ⅱ:</a:t>
            </a:r>
            <a:r>
              <a:rPr sz="3200" spc="-8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10" dirty="0">
                <a:solidFill>
                  <a:srgbClr val="0000FF"/>
                </a:solidFill>
              </a:rPr>
              <a:t>琥珀</a:t>
            </a:r>
            <a:r>
              <a:rPr sz="3200" dirty="0">
                <a:solidFill>
                  <a:srgbClr val="0000FF"/>
                </a:solidFill>
              </a:rPr>
              <a:t>酸</a:t>
            </a:r>
            <a:r>
              <a:rPr sz="32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3200" spc="-5" dirty="0">
                <a:solidFill>
                  <a:srgbClr val="0000FF"/>
                </a:solidFill>
              </a:rPr>
              <a:t>泛</a:t>
            </a:r>
            <a:r>
              <a:rPr sz="3200" spc="-10" dirty="0">
                <a:solidFill>
                  <a:srgbClr val="0000FF"/>
                </a:solidFill>
              </a:rPr>
              <a:t>醌</a:t>
            </a:r>
            <a:r>
              <a:rPr sz="3200" spc="-5" dirty="0">
                <a:solidFill>
                  <a:srgbClr val="0000FF"/>
                </a:solidFill>
              </a:rPr>
              <a:t>还原</a:t>
            </a:r>
            <a:r>
              <a:rPr sz="3200" spc="-620" dirty="0">
                <a:solidFill>
                  <a:srgbClr val="0000FF"/>
                </a:solidFill>
              </a:rPr>
              <a:t>酶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0969" y="3932682"/>
            <a:ext cx="1249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黑体"/>
                <a:cs typeface="黑体"/>
              </a:rPr>
              <a:t>琥珀酸</a:t>
            </a: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→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35777" y="3932682"/>
            <a:ext cx="1092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→	CoQ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0548" y="3941064"/>
            <a:ext cx="2723515" cy="506095"/>
          </a:xfrm>
          <a:prstGeom prst="rect">
            <a:avLst/>
          </a:prstGeom>
          <a:solidFill>
            <a:srgbClr val="ECD4FF"/>
          </a:solidFill>
          <a:ln w="9144">
            <a:solidFill>
              <a:srgbClr val="9900CC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831850">
              <a:lnSpc>
                <a:spcPct val="100000"/>
              </a:lnSpc>
              <a:spcBef>
                <a:spcPts val="185"/>
              </a:spcBef>
            </a:pPr>
            <a:r>
              <a:rPr sz="2200" b="1" spc="5" dirty="0">
                <a:solidFill>
                  <a:srgbClr val="993300"/>
                </a:solidFill>
                <a:latin typeface="黑体"/>
                <a:cs typeface="黑体"/>
              </a:rPr>
              <a:t>复合体</a:t>
            </a:r>
            <a:r>
              <a:rPr sz="2200" b="1" spc="-40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Ⅱ</a:t>
            </a:r>
            <a:endParaRPr sz="2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417" y="2545791"/>
            <a:ext cx="57740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spc="25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350" spc="5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5" dirty="0">
                <a:solidFill>
                  <a:srgbClr val="008000"/>
                </a:solidFill>
                <a:latin typeface="黑体"/>
                <a:cs typeface="黑体"/>
              </a:rPr>
              <a:t>功能：</a:t>
            </a:r>
            <a:r>
              <a:rPr sz="2800" b="1" dirty="0">
                <a:latin typeface="黑体"/>
                <a:cs typeface="黑体"/>
              </a:rPr>
              <a:t>将电子</a:t>
            </a:r>
            <a:r>
              <a:rPr sz="2800" b="1" spc="-10" dirty="0">
                <a:latin typeface="黑体"/>
                <a:cs typeface="黑体"/>
              </a:rPr>
              <a:t>从琥</a:t>
            </a:r>
            <a:r>
              <a:rPr sz="2800" b="1" dirty="0">
                <a:latin typeface="黑体"/>
                <a:cs typeface="黑体"/>
              </a:rPr>
              <a:t>珀</a:t>
            </a:r>
            <a:r>
              <a:rPr sz="2800" b="1" spc="-10" dirty="0">
                <a:latin typeface="黑体"/>
                <a:cs typeface="黑体"/>
              </a:rPr>
              <a:t>酸传</a:t>
            </a:r>
            <a:r>
              <a:rPr sz="2800" b="1" dirty="0">
                <a:latin typeface="黑体"/>
                <a:cs typeface="黑体"/>
              </a:rPr>
              <a:t>递</a:t>
            </a:r>
            <a:r>
              <a:rPr sz="2800" b="1" spc="-10" dirty="0">
                <a:latin typeface="黑体"/>
                <a:cs typeface="黑体"/>
              </a:rPr>
              <a:t>给</a:t>
            </a:r>
            <a:r>
              <a:rPr sz="2800" b="1" dirty="0">
                <a:latin typeface="黑体"/>
                <a:cs typeface="黑体"/>
              </a:rPr>
              <a:t>泛</a:t>
            </a:r>
            <a:r>
              <a:rPr sz="2800" b="1" spc="-15" dirty="0">
                <a:latin typeface="黑体"/>
                <a:cs typeface="黑体"/>
              </a:rPr>
              <a:t>醌</a:t>
            </a:r>
            <a:endParaRPr sz="2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86911"/>
            <a:ext cx="5553456" cy="31440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0737" y="3472434"/>
            <a:ext cx="5582920" cy="3173095"/>
          </a:xfrm>
          <a:custGeom>
            <a:avLst/>
            <a:gdLst/>
            <a:ahLst/>
            <a:cxnLst/>
            <a:rect l="l" t="t" r="r" b="b"/>
            <a:pathLst>
              <a:path w="5582920" h="3173095">
                <a:moveTo>
                  <a:pt x="0" y="3172967"/>
                </a:moveTo>
                <a:lnTo>
                  <a:pt x="5582412" y="3172967"/>
                </a:lnTo>
                <a:lnTo>
                  <a:pt x="5582412" y="0"/>
                </a:lnTo>
                <a:lnTo>
                  <a:pt x="0" y="0"/>
                </a:lnTo>
                <a:lnTo>
                  <a:pt x="0" y="3172967"/>
                </a:lnTo>
                <a:close/>
              </a:path>
            </a:pathLst>
          </a:custGeom>
          <a:ln w="28956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7463" y="371601"/>
            <a:ext cx="62630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5" dirty="0">
                <a:solidFill>
                  <a:srgbClr val="0000FF"/>
                </a:solidFill>
              </a:rPr>
              <a:t>复合</a:t>
            </a:r>
            <a:r>
              <a:rPr sz="3200" spc="-5" dirty="0">
                <a:solidFill>
                  <a:srgbClr val="0000FF"/>
                </a:solidFill>
              </a:rPr>
              <a:t>体</a:t>
            </a:r>
            <a:r>
              <a:rPr sz="3200" dirty="0">
                <a:solidFill>
                  <a:srgbClr val="0000FF"/>
                </a:solidFill>
              </a:rPr>
              <a:t>Ⅱ</a:t>
            </a:r>
            <a:r>
              <a:rPr sz="3200" dirty="0">
                <a:solidFill>
                  <a:srgbClr val="000000"/>
                </a:solidFill>
              </a:rPr>
              <a:t>（</a:t>
            </a:r>
            <a:r>
              <a:rPr sz="3200" spc="-10" dirty="0">
                <a:solidFill>
                  <a:srgbClr val="006600"/>
                </a:solidFill>
              </a:rPr>
              <a:t>琥</a:t>
            </a:r>
            <a:r>
              <a:rPr sz="3200" dirty="0">
                <a:solidFill>
                  <a:srgbClr val="006600"/>
                </a:solidFill>
              </a:rPr>
              <a:t>珀酸</a:t>
            </a:r>
            <a:r>
              <a:rPr sz="3200" spc="-10" dirty="0">
                <a:solidFill>
                  <a:srgbClr val="000000"/>
                </a:solidFill>
              </a:rPr>
              <a:t>-</a:t>
            </a:r>
            <a:r>
              <a:rPr sz="3200" dirty="0">
                <a:solidFill>
                  <a:srgbClr val="CC00CC"/>
                </a:solidFill>
              </a:rPr>
              <a:t>辅</a:t>
            </a:r>
            <a:r>
              <a:rPr sz="3200" spc="-10" dirty="0">
                <a:solidFill>
                  <a:srgbClr val="CC00CC"/>
                </a:solidFill>
              </a:rPr>
              <a:t>酶</a:t>
            </a:r>
            <a:r>
              <a:rPr sz="3200" spc="-10" dirty="0">
                <a:solidFill>
                  <a:srgbClr val="CC00CC"/>
                </a:solidFill>
                <a:latin typeface="Times New Roman" panose="02020503050405090304"/>
                <a:cs typeface="Times New Roman" panose="02020503050405090304"/>
              </a:rPr>
              <a:t>Q</a:t>
            </a:r>
            <a:r>
              <a:rPr sz="3200" dirty="0">
                <a:solidFill>
                  <a:srgbClr val="000000"/>
                </a:solidFill>
              </a:rPr>
              <a:t>还原</a:t>
            </a:r>
            <a:r>
              <a:rPr sz="3200" spc="5" dirty="0">
                <a:solidFill>
                  <a:srgbClr val="000000"/>
                </a:solidFill>
              </a:rPr>
              <a:t>酶</a:t>
            </a:r>
            <a:r>
              <a:rPr sz="3200" spc="-10" dirty="0">
                <a:solidFill>
                  <a:srgbClr val="000000"/>
                </a:solidFill>
              </a:rPr>
              <a:t>）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8176" y="1334770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00"/>
                </a:solidFill>
                <a:latin typeface="黑体"/>
                <a:cs typeface="黑体"/>
              </a:rPr>
              <a:t>琥珀酸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0295" y="2036445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黑体"/>
                <a:cs typeface="黑体"/>
              </a:rPr>
              <a:t>延胡索酸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8767" y="1293875"/>
            <a:ext cx="896619" cy="457200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3492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275"/>
              </a:spcBef>
            </a:pPr>
            <a:r>
              <a:rPr sz="2400" b="1" spc="-6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FAD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62755" y="2084832"/>
            <a:ext cx="1144905" cy="457200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3492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275"/>
              </a:spcBef>
            </a:pPr>
            <a:r>
              <a:rPr sz="2400" b="1" spc="-4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FADH</a:t>
            </a:r>
            <a:r>
              <a:rPr sz="2400" b="1" spc="-60" baseline="-21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endParaRPr sz="2400" baseline="-2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79720" y="1267967"/>
            <a:ext cx="1272540" cy="457200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355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280"/>
              </a:spcBef>
            </a:pP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2Fe</a:t>
            </a:r>
            <a:r>
              <a:rPr sz="2400" b="1" baseline="24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2+</a:t>
            </a: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-S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81244" y="2084832"/>
            <a:ext cx="1271270" cy="457200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3492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275"/>
              </a:spcBef>
            </a:pP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2Fe</a:t>
            </a:r>
            <a:r>
              <a:rPr sz="2400" b="1" baseline="24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3+</a:t>
            </a: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-S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03693" y="1314958"/>
            <a:ext cx="262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Q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35368" y="2108403"/>
            <a:ext cx="6534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C00CC"/>
                </a:solidFill>
                <a:latin typeface="Times New Roman" panose="02020503050405090304"/>
                <a:cs typeface="Times New Roman" panose="02020503050405090304"/>
              </a:rPr>
              <a:t>QH</a:t>
            </a:r>
            <a:r>
              <a:rPr sz="2400" b="1" baseline="-21000" dirty="0">
                <a:solidFill>
                  <a:srgbClr val="CC00CC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endParaRPr sz="2400" baseline="-2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42436" y="1519427"/>
            <a:ext cx="257175" cy="704850"/>
          </a:xfrm>
          <a:custGeom>
            <a:avLst/>
            <a:gdLst/>
            <a:ahLst/>
            <a:cxnLst/>
            <a:rect l="l" t="t" r="r" b="b"/>
            <a:pathLst>
              <a:path w="257175" h="704850">
                <a:moveTo>
                  <a:pt x="60071" y="623443"/>
                </a:moveTo>
                <a:lnTo>
                  <a:pt x="7112" y="704850"/>
                </a:lnTo>
                <a:lnTo>
                  <a:pt x="104012" y="698373"/>
                </a:lnTo>
                <a:lnTo>
                  <a:pt x="93660" y="680720"/>
                </a:lnTo>
                <a:lnTo>
                  <a:pt x="76962" y="680720"/>
                </a:lnTo>
                <a:lnTo>
                  <a:pt x="62229" y="655827"/>
                </a:lnTo>
                <a:lnTo>
                  <a:pt x="73405" y="649351"/>
                </a:lnTo>
                <a:lnTo>
                  <a:pt x="74685" y="648363"/>
                </a:lnTo>
                <a:lnTo>
                  <a:pt x="60071" y="623443"/>
                </a:lnTo>
                <a:close/>
              </a:path>
              <a:path w="257175" h="704850">
                <a:moveTo>
                  <a:pt x="74685" y="648363"/>
                </a:moveTo>
                <a:lnTo>
                  <a:pt x="73405" y="649351"/>
                </a:lnTo>
                <a:lnTo>
                  <a:pt x="62229" y="655827"/>
                </a:lnTo>
                <a:lnTo>
                  <a:pt x="76962" y="680720"/>
                </a:lnTo>
                <a:lnTo>
                  <a:pt x="89352" y="673373"/>
                </a:lnTo>
                <a:lnTo>
                  <a:pt x="74685" y="648363"/>
                </a:lnTo>
                <a:close/>
              </a:path>
              <a:path w="257175" h="704850">
                <a:moveTo>
                  <a:pt x="89352" y="673373"/>
                </a:moveTo>
                <a:lnTo>
                  <a:pt x="76962" y="680720"/>
                </a:lnTo>
                <a:lnTo>
                  <a:pt x="93660" y="680720"/>
                </a:lnTo>
                <a:lnTo>
                  <a:pt x="89352" y="673373"/>
                </a:lnTo>
                <a:close/>
              </a:path>
              <a:path w="257175" h="704850">
                <a:moveTo>
                  <a:pt x="12953" y="0"/>
                </a:moveTo>
                <a:lnTo>
                  <a:pt x="0" y="25908"/>
                </a:lnTo>
                <a:lnTo>
                  <a:pt x="26415" y="39116"/>
                </a:lnTo>
                <a:lnTo>
                  <a:pt x="50800" y="53467"/>
                </a:lnTo>
                <a:lnTo>
                  <a:pt x="95503" y="85979"/>
                </a:lnTo>
                <a:lnTo>
                  <a:pt x="134238" y="123317"/>
                </a:lnTo>
                <a:lnTo>
                  <a:pt x="166877" y="164846"/>
                </a:lnTo>
                <a:lnTo>
                  <a:pt x="192912" y="209804"/>
                </a:lnTo>
                <a:lnTo>
                  <a:pt x="212089" y="257683"/>
                </a:lnTo>
                <a:lnTo>
                  <a:pt x="223774" y="307721"/>
                </a:lnTo>
                <a:lnTo>
                  <a:pt x="227711" y="359663"/>
                </a:lnTo>
                <a:lnTo>
                  <a:pt x="226695" y="385699"/>
                </a:lnTo>
                <a:lnTo>
                  <a:pt x="218693" y="436625"/>
                </a:lnTo>
                <a:lnTo>
                  <a:pt x="203073" y="485648"/>
                </a:lnTo>
                <a:lnTo>
                  <a:pt x="180466" y="531876"/>
                </a:lnTo>
                <a:lnTo>
                  <a:pt x="151002" y="575183"/>
                </a:lnTo>
                <a:lnTo>
                  <a:pt x="115188" y="614426"/>
                </a:lnTo>
                <a:lnTo>
                  <a:pt x="74685" y="648363"/>
                </a:lnTo>
                <a:lnTo>
                  <a:pt x="89352" y="673373"/>
                </a:lnTo>
                <a:lnTo>
                  <a:pt x="136016" y="634619"/>
                </a:lnTo>
                <a:lnTo>
                  <a:pt x="174371" y="592201"/>
                </a:lnTo>
                <a:lnTo>
                  <a:pt x="205993" y="545592"/>
                </a:lnTo>
                <a:lnTo>
                  <a:pt x="230377" y="495300"/>
                </a:lnTo>
                <a:lnTo>
                  <a:pt x="247014" y="442213"/>
                </a:lnTo>
                <a:lnTo>
                  <a:pt x="255650" y="386842"/>
                </a:lnTo>
                <a:lnTo>
                  <a:pt x="256666" y="358521"/>
                </a:lnTo>
                <a:lnTo>
                  <a:pt x="255524" y="330200"/>
                </a:lnTo>
                <a:lnTo>
                  <a:pt x="246761" y="274700"/>
                </a:lnTo>
                <a:lnTo>
                  <a:pt x="229870" y="221487"/>
                </a:lnTo>
                <a:lnTo>
                  <a:pt x="205232" y="171450"/>
                </a:lnTo>
                <a:lnTo>
                  <a:pt x="173482" y="124841"/>
                </a:lnTo>
                <a:lnTo>
                  <a:pt x="134874" y="82423"/>
                </a:lnTo>
                <a:lnTo>
                  <a:pt x="90042" y="45085"/>
                </a:lnTo>
                <a:lnTo>
                  <a:pt x="39370" y="13208"/>
                </a:lnTo>
                <a:lnTo>
                  <a:pt x="1295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00421" y="1532382"/>
            <a:ext cx="255270" cy="704850"/>
          </a:xfrm>
          <a:custGeom>
            <a:avLst/>
            <a:gdLst/>
            <a:ahLst/>
            <a:cxnLst/>
            <a:rect l="l" t="t" r="r" b="b"/>
            <a:pathLst>
              <a:path w="255270" h="704850">
                <a:moveTo>
                  <a:pt x="88224" y="31450"/>
                </a:moveTo>
                <a:lnTo>
                  <a:pt x="73538" y="56492"/>
                </a:lnTo>
                <a:lnTo>
                  <a:pt x="73787" y="56641"/>
                </a:lnTo>
                <a:lnTo>
                  <a:pt x="94487" y="73025"/>
                </a:lnTo>
                <a:lnTo>
                  <a:pt x="133223" y="110235"/>
                </a:lnTo>
                <a:lnTo>
                  <a:pt x="165735" y="151764"/>
                </a:lnTo>
                <a:lnTo>
                  <a:pt x="191769" y="196850"/>
                </a:lnTo>
                <a:lnTo>
                  <a:pt x="210819" y="244728"/>
                </a:lnTo>
                <a:lnTo>
                  <a:pt x="222376" y="294766"/>
                </a:lnTo>
                <a:lnTo>
                  <a:pt x="226313" y="346709"/>
                </a:lnTo>
                <a:lnTo>
                  <a:pt x="225298" y="372744"/>
                </a:lnTo>
                <a:lnTo>
                  <a:pt x="217297" y="423671"/>
                </a:lnTo>
                <a:lnTo>
                  <a:pt x="201802" y="472693"/>
                </a:lnTo>
                <a:lnTo>
                  <a:pt x="179197" y="519048"/>
                </a:lnTo>
                <a:lnTo>
                  <a:pt x="149860" y="562228"/>
                </a:lnTo>
                <a:lnTo>
                  <a:pt x="114173" y="601471"/>
                </a:lnTo>
                <a:lnTo>
                  <a:pt x="72643" y="636396"/>
                </a:lnTo>
                <a:lnTo>
                  <a:pt x="25526" y="666241"/>
                </a:lnTo>
                <a:lnTo>
                  <a:pt x="0" y="678941"/>
                </a:lnTo>
                <a:lnTo>
                  <a:pt x="13080" y="704850"/>
                </a:lnTo>
                <a:lnTo>
                  <a:pt x="66039" y="675893"/>
                </a:lnTo>
                <a:lnTo>
                  <a:pt x="113537" y="641095"/>
                </a:lnTo>
                <a:lnTo>
                  <a:pt x="155066" y="600963"/>
                </a:lnTo>
                <a:lnTo>
                  <a:pt x="189864" y="556387"/>
                </a:lnTo>
                <a:lnTo>
                  <a:pt x="217804" y="507872"/>
                </a:lnTo>
                <a:lnTo>
                  <a:pt x="238378" y="456183"/>
                </a:lnTo>
                <a:lnTo>
                  <a:pt x="250951" y="401827"/>
                </a:lnTo>
                <a:lnTo>
                  <a:pt x="255269" y="345566"/>
                </a:lnTo>
                <a:lnTo>
                  <a:pt x="254126" y="317245"/>
                </a:lnTo>
                <a:lnTo>
                  <a:pt x="245363" y="261873"/>
                </a:lnTo>
                <a:lnTo>
                  <a:pt x="228600" y="208660"/>
                </a:lnTo>
                <a:lnTo>
                  <a:pt x="204088" y="158495"/>
                </a:lnTo>
                <a:lnTo>
                  <a:pt x="172465" y="111887"/>
                </a:lnTo>
                <a:lnTo>
                  <a:pt x="133985" y="69468"/>
                </a:lnTo>
                <a:lnTo>
                  <a:pt x="88518" y="31622"/>
                </a:lnTo>
                <a:lnTo>
                  <a:pt x="88224" y="31450"/>
                </a:lnTo>
                <a:close/>
              </a:path>
              <a:path w="255270" h="704850">
                <a:moveTo>
                  <a:pt x="5841" y="0"/>
                </a:moveTo>
                <a:lnTo>
                  <a:pt x="58927" y="81406"/>
                </a:lnTo>
                <a:lnTo>
                  <a:pt x="73538" y="56492"/>
                </a:lnTo>
                <a:lnTo>
                  <a:pt x="61087" y="49021"/>
                </a:lnTo>
                <a:lnTo>
                  <a:pt x="75691" y="24129"/>
                </a:lnTo>
                <a:lnTo>
                  <a:pt x="92517" y="24129"/>
                </a:lnTo>
                <a:lnTo>
                  <a:pt x="102869" y="6476"/>
                </a:lnTo>
                <a:lnTo>
                  <a:pt x="5841" y="0"/>
                </a:lnTo>
                <a:close/>
              </a:path>
              <a:path w="255270" h="704850">
                <a:moveTo>
                  <a:pt x="75691" y="24129"/>
                </a:moveTo>
                <a:lnTo>
                  <a:pt x="61087" y="49021"/>
                </a:lnTo>
                <a:lnTo>
                  <a:pt x="73538" y="56492"/>
                </a:lnTo>
                <a:lnTo>
                  <a:pt x="88224" y="31450"/>
                </a:lnTo>
                <a:lnTo>
                  <a:pt x="75691" y="24129"/>
                </a:lnTo>
                <a:close/>
              </a:path>
              <a:path w="255270" h="704850">
                <a:moveTo>
                  <a:pt x="92517" y="24129"/>
                </a:moveTo>
                <a:lnTo>
                  <a:pt x="75691" y="24129"/>
                </a:lnTo>
                <a:lnTo>
                  <a:pt x="88224" y="31450"/>
                </a:lnTo>
                <a:lnTo>
                  <a:pt x="92517" y="2412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47815" y="1519427"/>
            <a:ext cx="257810" cy="704850"/>
          </a:xfrm>
          <a:custGeom>
            <a:avLst/>
            <a:gdLst/>
            <a:ahLst/>
            <a:cxnLst/>
            <a:rect l="l" t="t" r="r" b="b"/>
            <a:pathLst>
              <a:path w="257809" h="704850">
                <a:moveTo>
                  <a:pt x="60198" y="623570"/>
                </a:moveTo>
                <a:lnTo>
                  <a:pt x="6984" y="704850"/>
                </a:lnTo>
                <a:lnTo>
                  <a:pt x="103885" y="698626"/>
                </a:lnTo>
                <a:lnTo>
                  <a:pt x="93536" y="680847"/>
                </a:lnTo>
                <a:lnTo>
                  <a:pt x="76834" y="680847"/>
                </a:lnTo>
                <a:lnTo>
                  <a:pt x="62229" y="655827"/>
                </a:lnTo>
                <a:lnTo>
                  <a:pt x="73659" y="649351"/>
                </a:lnTo>
                <a:lnTo>
                  <a:pt x="74725" y="648528"/>
                </a:lnTo>
                <a:lnTo>
                  <a:pt x="60198" y="623570"/>
                </a:lnTo>
                <a:close/>
              </a:path>
              <a:path w="257809" h="704850">
                <a:moveTo>
                  <a:pt x="74725" y="648528"/>
                </a:moveTo>
                <a:lnTo>
                  <a:pt x="73659" y="649351"/>
                </a:lnTo>
                <a:lnTo>
                  <a:pt x="62229" y="655827"/>
                </a:lnTo>
                <a:lnTo>
                  <a:pt x="76834" y="680847"/>
                </a:lnTo>
                <a:lnTo>
                  <a:pt x="89260" y="673499"/>
                </a:lnTo>
                <a:lnTo>
                  <a:pt x="74725" y="648528"/>
                </a:lnTo>
                <a:close/>
              </a:path>
              <a:path w="257809" h="704850">
                <a:moveTo>
                  <a:pt x="89260" y="673499"/>
                </a:moveTo>
                <a:lnTo>
                  <a:pt x="76834" y="680847"/>
                </a:lnTo>
                <a:lnTo>
                  <a:pt x="93536" y="680847"/>
                </a:lnTo>
                <a:lnTo>
                  <a:pt x="89260" y="673499"/>
                </a:lnTo>
                <a:close/>
              </a:path>
              <a:path w="257809" h="704850">
                <a:moveTo>
                  <a:pt x="12953" y="0"/>
                </a:moveTo>
                <a:lnTo>
                  <a:pt x="0" y="25908"/>
                </a:lnTo>
                <a:lnTo>
                  <a:pt x="26542" y="39116"/>
                </a:lnTo>
                <a:lnTo>
                  <a:pt x="50926" y="53467"/>
                </a:lnTo>
                <a:lnTo>
                  <a:pt x="95757" y="85979"/>
                </a:lnTo>
                <a:lnTo>
                  <a:pt x="134619" y="123317"/>
                </a:lnTo>
                <a:lnTo>
                  <a:pt x="167512" y="164846"/>
                </a:lnTo>
                <a:lnTo>
                  <a:pt x="193675" y="209804"/>
                </a:lnTo>
                <a:lnTo>
                  <a:pt x="212725" y="257683"/>
                </a:lnTo>
                <a:lnTo>
                  <a:pt x="224535" y="307848"/>
                </a:lnTo>
                <a:lnTo>
                  <a:pt x="228473" y="359663"/>
                </a:lnTo>
                <a:lnTo>
                  <a:pt x="227456" y="385699"/>
                </a:lnTo>
                <a:lnTo>
                  <a:pt x="219455" y="436625"/>
                </a:lnTo>
                <a:lnTo>
                  <a:pt x="203834" y="485521"/>
                </a:lnTo>
                <a:lnTo>
                  <a:pt x="180975" y="531876"/>
                </a:lnTo>
                <a:lnTo>
                  <a:pt x="151510" y="575056"/>
                </a:lnTo>
                <a:lnTo>
                  <a:pt x="115569" y="614426"/>
                </a:lnTo>
                <a:lnTo>
                  <a:pt x="74725" y="648528"/>
                </a:lnTo>
                <a:lnTo>
                  <a:pt x="89260" y="673499"/>
                </a:lnTo>
                <a:lnTo>
                  <a:pt x="136270" y="634619"/>
                </a:lnTo>
                <a:lnTo>
                  <a:pt x="174751" y="592327"/>
                </a:lnTo>
                <a:lnTo>
                  <a:pt x="206628" y="545592"/>
                </a:lnTo>
                <a:lnTo>
                  <a:pt x="231012" y="495300"/>
                </a:lnTo>
                <a:lnTo>
                  <a:pt x="247776" y="442213"/>
                </a:lnTo>
                <a:lnTo>
                  <a:pt x="256412" y="386842"/>
                </a:lnTo>
                <a:lnTo>
                  <a:pt x="257428" y="358521"/>
                </a:lnTo>
                <a:lnTo>
                  <a:pt x="256285" y="330200"/>
                </a:lnTo>
                <a:lnTo>
                  <a:pt x="247523" y="274700"/>
                </a:lnTo>
                <a:lnTo>
                  <a:pt x="230504" y="221487"/>
                </a:lnTo>
                <a:lnTo>
                  <a:pt x="205866" y="171450"/>
                </a:lnTo>
                <a:lnTo>
                  <a:pt x="173989" y="124841"/>
                </a:lnTo>
                <a:lnTo>
                  <a:pt x="135254" y="82423"/>
                </a:lnTo>
                <a:lnTo>
                  <a:pt x="90296" y="45085"/>
                </a:lnTo>
                <a:lnTo>
                  <a:pt x="39496" y="13208"/>
                </a:lnTo>
                <a:lnTo>
                  <a:pt x="1295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70147" y="1519427"/>
            <a:ext cx="255904" cy="704850"/>
          </a:xfrm>
          <a:custGeom>
            <a:avLst/>
            <a:gdLst/>
            <a:ahLst/>
            <a:cxnLst/>
            <a:rect l="l" t="t" r="r" b="b"/>
            <a:pathLst>
              <a:path w="255904" h="704850">
                <a:moveTo>
                  <a:pt x="166625" y="673164"/>
                </a:moveTo>
                <a:lnTo>
                  <a:pt x="151891" y="698246"/>
                </a:lnTo>
                <a:lnTo>
                  <a:pt x="248792" y="704850"/>
                </a:lnTo>
                <a:lnTo>
                  <a:pt x="233095" y="680720"/>
                </a:lnTo>
                <a:lnTo>
                  <a:pt x="179069" y="680720"/>
                </a:lnTo>
                <a:lnTo>
                  <a:pt x="166625" y="673164"/>
                </a:lnTo>
                <a:close/>
              </a:path>
              <a:path w="255904" h="704850">
                <a:moveTo>
                  <a:pt x="181247" y="648274"/>
                </a:moveTo>
                <a:lnTo>
                  <a:pt x="166625" y="673164"/>
                </a:lnTo>
                <a:lnTo>
                  <a:pt x="179069" y="680720"/>
                </a:lnTo>
                <a:lnTo>
                  <a:pt x="193675" y="655701"/>
                </a:lnTo>
                <a:lnTo>
                  <a:pt x="182625" y="649351"/>
                </a:lnTo>
                <a:lnTo>
                  <a:pt x="181247" y="648274"/>
                </a:lnTo>
                <a:close/>
              </a:path>
              <a:path w="255904" h="704850">
                <a:moveTo>
                  <a:pt x="195834" y="623443"/>
                </a:moveTo>
                <a:lnTo>
                  <a:pt x="181247" y="648274"/>
                </a:lnTo>
                <a:lnTo>
                  <a:pt x="182625" y="649351"/>
                </a:lnTo>
                <a:lnTo>
                  <a:pt x="193675" y="655701"/>
                </a:lnTo>
                <a:lnTo>
                  <a:pt x="179069" y="680720"/>
                </a:lnTo>
                <a:lnTo>
                  <a:pt x="233095" y="680720"/>
                </a:lnTo>
                <a:lnTo>
                  <a:pt x="195834" y="623443"/>
                </a:lnTo>
                <a:close/>
              </a:path>
              <a:path w="255904" h="704850">
                <a:moveTo>
                  <a:pt x="242950" y="0"/>
                </a:moveTo>
                <a:lnTo>
                  <a:pt x="190626" y="28448"/>
                </a:lnTo>
                <a:lnTo>
                  <a:pt x="143001" y="63246"/>
                </a:lnTo>
                <a:lnTo>
                  <a:pt x="101346" y="103124"/>
                </a:lnTo>
                <a:lnTo>
                  <a:pt x="66166" y="147700"/>
                </a:lnTo>
                <a:lnTo>
                  <a:pt x="37973" y="196214"/>
                </a:lnTo>
                <a:lnTo>
                  <a:pt x="17272" y="248031"/>
                </a:lnTo>
                <a:lnTo>
                  <a:pt x="4444" y="302260"/>
                </a:lnTo>
                <a:lnTo>
                  <a:pt x="0" y="358521"/>
                </a:lnTo>
                <a:lnTo>
                  <a:pt x="1015" y="386842"/>
                </a:lnTo>
                <a:lnTo>
                  <a:pt x="9651" y="442213"/>
                </a:lnTo>
                <a:lnTo>
                  <a:pt x="26162" y="495300"/>
                </a:lnTo>
                <a:lnTo>
                  <a:pt x="50546" y="545592"/>
                </a:lnTo>
                <a:lnTo>
                  <a:pt x="82041" y="592201"/>
                </a:lnTo>
                <a:lnTo>
                  <a:pt x="120268" y="634619"/>
                </a:lnTo>
                <a:lnTo>
                  <a:pt x="164846" y="672084"/>
                </a:lnTo>
                <a:lnTo>
                  <a:pt x="166625" y="673164"/>
                </a:lnTo>
                <a:lnTo>
                  <a:pt x="181247" y="648274"/>
                </a:lnTo>
                <a:lnTo>
                  <a:pt x="161162" y="632587"/>
                </a:lnTo>
                <a:lnTo>
                  <a:pt x="141097" y="614552"/>
                </a:lnTo>
                <a:lnTo>
                  <a:pt x="105410" y="575183"/>
                </a:lnTo>
                <a:lnTo>
                  <a:pt x="76073" y="531876"/>
                </a:lnTo>
                <a:lnTo>
                  <a:pt x="53466" y="485648"/>
                </a:lnTo>
                <a:lnTo>
                  <a:pt x="37973" y="436625"/>
                </a:lnTo>
                <a:lnTo>
                  <a:pt x="29972" y="385699"/>
                </a:lnTo>
                <a:lnTo>
                  <a:pt x="28955" y="359663"/>
                </a:lnTo>
                <a:lnTo>
                  <a:pt x="29844" y="333501"/>
                </a:lnTo>
                <a:lnTo>
                  <a:pt x="37718" y="282448"/>
                </a:lnTo>
                <a:lnTo>
                  <a:pt x="53086" y="233299"/>
                </a:lnTo>
                <a:lnTo>
                  <a:pt x="75691" y="186944"/>
                </a:lnTo>
                <a:lnTo>
                  <a:pt x="105028" y="143510"/>
                </a:lnTo>
                <a:lnTo>
                  <a:pt x="140715" y="104012"/>
                </a:lnTo>
                <a:lnTo>
                  <a:pt x="182372" y="69087"/>
                </a:lnTo>
                <a:lnTo>
                  <a:pt x="229615" y="39116"/>
                </a:lnTo>
                <a:lnTo>
                  <a:pt x="255904" y="25908"/>
                </a:lnTo>
                <a:lnTo>
                  <a:pt x="242950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26735" y="1532382"/>
            <a:ext cx="254635" cy="704850"/>
          </a:xfrm>
          <a:custGeom>
            <a:avLst/>
            <a:gdLst/>
            <a:ahLst/>
            <a:cxnLst/>
            <a:rect l="l" t="t" r="r" b="b"/>
            <a:pathLst>
              <a:path w="254635" h="704850">
                <a:moveTo>
                  <a:pt x="166387" y="31538"/>
                </a:moveTo>
                <a:lnTo>
                  <a:pt x="121030" y="69468"/>
                </a:lnTo>
                <a:lnTo>
                  <a:pt x="82676" y="111887"/>
                </a:lnTo>
                <a:lnTo>
                  <a:pt x="51053" y="158495"/>
                </a:lnTo>
                <a:lnTo>
                  <a:pt x="26542" y="208660"/>
                </a:lnTo>
                <a:lnTo>
                  <a:pt x="9905" y="261873"/>
                </a:lnTo>
                <a:lnTo>
                  <a:pt x="1142" y="317245"/>
                </a:lnTo>
                <a:lnTo>
                  <a:pt x="0" y="345566"/>
                </a:lnTo>
                <a:lnTo>
                  <a:pt x="1015" y="373888"/>
                </a:lnTo>
                <a:lnTo>
                  <a:pt x="9525" y="429132"/>
                </a:lnTo>
                <a:lnTo>
                  <a:pt x="26162" y="482345"/>
                </a:lnTo>
                <a:lnTo>
                  <a:pt x="50418" y="532510"/>
                </a:lnTo>
                <a:lnTo>
                  <a:pt x="81787" y="579246"/>
                </a:lnTo>
                <a:lnTo>
                  <a:pt x="119887" y="621664"/>
                </a:lnTo>
                <a:lnTo>
                  <a:pt x="164337" y="659129"/>
                </a:lnTo>
                <a:lnTo>
                  <a:pt x="214375" y="691133"/>
                </a:lnTo>
                <a:lnTo>
                  <a:pt x="241553" y="704850"/>
                </a:lnTo>
                <a:lnTo>
                  <a:pt x="254508" y="678941"/>
                </a:lnTo>
                <a:lnTo>
                  <a:pt x="229108" y="666241"/>
                </a:lnTo>
                <a:lnTo>
                  <a:pt x="204977" y="651890"/>
                </a:lnTo>
                <a:lnTo>
                  <a:pt x="160781" y="619632"/>
                </a:lnTo>
                <a:lnTo>
                  <a:pt x="122300" y="582421"/>
                </a:lnTo>
                <a:lnTo>
                  <a:pt x="89788" y="541019"/>
                </a:lnTo>
                <a:lnTo>
                  <a:pt x="63880" y="496315"/>
                </a:lnTo>
                <a:lnTo>
                  <a:pt x="44703" y="448563"/>
                </a:lnTo>
                <a:lnTo>
                  <a:pt x="33019" y="398398"/>
                </a:lnTo>
                <a:lnTo>
                  <a:pt x="28955" y="346709"/>
                </a:lnTo>
                <a:lnTo>
                  <a:pt x="29844" y="320547"/>
                </a:lnTo>
                <a:lnTo>
                  <a:pt x="37718" y="269493"/>
                </a:lnTo>
                <a:lnTo>
                  <a:pt x="53086" y="220344"/>
                </a:lnTo>
                <a:lnTo>
                  <a:pt x="75564" y="173862"/>
                </a:lnTo>
                <a:lnTo>
                  <a:pt x="104775" y="130555"/>
                </a:lnTo>
                <a:lnTo>
                  <a:pt x="140335" y="91058"/>
                </a:lnTo>
                <a:lnTo>
                  <a:pt x="181019" y="56488"/>
                </a:lnTo>
                <a:lnTo>
                  <a:pt x="166387" y="31538"/>
                </a:lnTo>
                <a:close/>
              </a:path>
              <a:path w="254635" h="704850">
                <a:moveTo>
                  <a:pt x="232910" y="24256"/>
                </a:moveTo>
                <a:lnTo>
                  <a:pt x="178815" y="24256"/>
                </a:lnTo>
                <a:lnTo>
                  <a:pt x="193548" y="49148"/>
                </a:lnTo>
                <a:lnTo>
                  <a:pt x="181019" y="56488"/>
                </a:lnTo>
                <a:lnTo>
                  <a:pt x="195706" y="81533"/>
                </a:lnTo>
                <a:lnTo>
                  <a:pt x="232910" y="24256"/>
                </a:lnTo>
                <a:close/>
              </a:path>
              <a:path w="254635" h="704850">
                <a:moveTo>
                  <a:pt x="178815" y="24256"/>
                </a:moveTo>
                <a:lnTo>
                  <a:pt x="166387" y="31538"/>
                </a:lnTo>
                <a:lnTo>
                  <a:pt x="181019" y="56488"/>
                </a:lnTo>
                <a:lnTo>
                  <a:pt x="193548" y="49148"/>
                </a:lnTo>
                <a:lnTo>
                  <a:pt x="178815" y="24256"/>
                </a:lnTo>
                <a:close/>
              </a:path>
              <a:path w="254635" h="704850">
                <a:moveTo>
                  <a:pt x="248665" y="0"/>
                </a:moveTo>
                <a:lnTo>
                  <a:pt x="151764" y="6603"/>
                </a:lnTo>
                <a:lnTo>
                  <a:pt x="166387" y="31538"/>
                </a:lnTo>
                <a:lnTo>
                  <a:pt x="178815" y="24256"/>
                </a:lnTo>
                <a:lnTo>
                  <a:pt x="232910" y="24256"/>
                </a:lnTo>
                <a:lnTo>
                  <a:pt x="248665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874764" y="1519427"/>
            <a:ext cx="255270" cy="704850"/>
          </a:xfrm>
          <a:custGeom>
            <a:avLst/>
            <a:gdLst/>
            <a:ahLst/>
            <a:cxnLst/>
            <a:rect l="l" t="t" r="r" b="b"/>
            <a:pathLst>
              <a:path w="255270" h="704850">
                <a:moveTo>
                  <a:pt x="166506" y="672094"/>
                </a:moveTo>
                <a:lnTo>
                  <a:pt x="151129" y="698119"/>
                </a:lnTo>
                <a:lnTo>
                  <a:pt x="248030" y="704850"/>
                </a:lnTo>
                <a:lnTo>
                  <a:pt x="231858" y="679831"/>
                </a:lnTo>
                <a:lnTo>
                  <a:pt x="177291" y="679831"/>
                </a:lnTo>
                <a:lnTo>
                  <a:pt x="166506" y="672094"/>
                </a:lnTo>
                <a:close/>
              </a:path>
              <a:path w="255270" h="704850">
                <a:moveTo>
                  <a:pt x="181226" y="647179"/>
                </a:moveTo>
                <a:lnTo>
                  <a:pt x="166506" y="672094"/>
                </a:lnTo>
                <a:lnTo>
                  <a:pt x="177291" y="679831"/>
                </a:lnTo>
                <a:lnTo>
                  <a:pt x="194055" y="656336"/>
                </a:lnTo>
                <a:lnTo>
                  <a:pt x="181226" y="647179"/>
                </a:lnTo>
                <a:close/>
              </a:path>
              <a:path w="255270" h="704850">
                <a:moveTo>
                  <a:pt x="195325" y="623316"/>
                </a:moveTo>
                <a:lnTo>
                  <a:pt x="181226" y="647179"/>
                </a:lnTo>
                <a:lnTo>
                  <a:pt x="194055" y="656336"/>
                </a:lnTo>
                <a:lnTo>
                  <a:pt x="177291" y="679831"/>
                </a:lnTo>
                <a:lnTo>
                  <a:pt x="231858" y="679831"/>
                </a:lnTo>
                <a:lnTo>
                  <a:pt x="195325" y="623316"/>
                </a:lnTo>
                <a:close/>
              </a:path>
              <a:path w="255270" h="704850">
                <a:moveTo>
                  <a:pt x="242061" y="0"/>
                </a:moveTo>
                <a:lnTo>
                  <a:pt x="189864" y="28448"/>
                </a:lnTo>
                <a:lnTo>
                  <a:pt x="142493" y="63246"/>
                </a:lnTo>
                <a:lnTo>
                  <a:pt x="101091" y="103124"/>
                </a:lnTo>
                <a:lnTo>
                  <a:pt x="66039" y="147700"/>
                </a:lnTo>
                <a:lnTo>
                  <a:pt x="37845" y="196214"/>
                </a:lnTo>
                <a:lnTo>
                  <a:pt x="17271" y="248031"/>
                </a:lnTo>
                <a:lnTo>
                  <a:pt x="4444" y="302260"/>
                </a:lnTo>
                <a:lnTo>
                  <a:pt x="0" y="358521"/>
                </a:lnTo>
                <a:lnTo>
                  <a:pt x="1015" y="386842"/>
                </a:lnTo>
                <a:lnTo>
                  <a:pt x="9525" y="442087"/>
                </a:lnTo>
                <a:lnTo>
                  <a:pt x="26161" y="495300"/>
                </a:lnTo>
                <a:lnTo>
                  <a:pt x="50418" y="545464"/>
                </a:lnTo>
                <a:lnTo>
                  <a:pt x="81787" y="592201"/>
                </a:lnTo>
                <a:lnTo>
                  <a:pt x="119887" y="634619"/>
                </a:lnTo>
                <a:lnTo>
                  <a:pt x="166506" y="672094"/>
                </a:lnTo>
                <a:lnTo>
                  <a:pt x="181226" y="647179"/>
                </a:lnTo>
                <a:lnTo>
                  <a:pt x="160781" y="632587"/>
                </a:lnTo>
                <a:lnTo>
                  <a:pt x="140715" y="614552"/>
                </a:lnTo>
                <a:lnTo>
                  <a:pt x="105282" y="575183"/>
                </a:lnTo>
                <a:lnTo>
                  <a:pt x="75945" y="532002"/>
                </a:lnTo>
                <a:lnTo>
                  <a:pt x="53466" y="485521"/>
                </a:lnTo>
                <a:lnTo>
                  <a:pt x="37972" y="436625"/>
                </a:lnTo>
                <a:lnTo>
                  <a:pt x="29971" y="385699"/>
                </a:lnTo>
                <a:lnTo>
                  <a:pt x="28955" y="359663"/>
                </a:lnTo>
                <a:lnTo>
                  <a:pt x="29844" y="333501"/>
                </a:lnTo>
                <a:lnTo>
                  <a:pt x="37718" y="282448"/>
                </a:lnTo>
                <a:lnTo>
                  <a:pt x="53085" y="233299"/>
                </a:lnTo>
                <a:lnTo>
                  <a:pt x="75564" y="186817"/>
                </a:lnTo>
                <a:lnTo>
                  <a:pt x="104775" y="143510"/>
                </a:lnTo>
                <a:lnTo>
                  <a:pt x="140334" y="104012"/>
                </a:lnTo>
                <a:lnTo>
                  <a:pt x="181736" y="68961"/>
                </a:lnTo>
                <a:lnTo>
                  <a:pt x="228853" y="39116"/>
                </a:lnTo>
                <a:lnTo>
                  <a:pt x="255142" y="25908"/>
                </a:lnTo>
                <a:lnTo>
                  <a:pt x="242061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010143" y="6108191"/>
            <a:ext cx="804672" cy="556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11114" y="2909229"/>
            <a:ext cx="5635771" cy="5365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0540" y="2830055"/>
            <a:ext cx="5650992" cy="7620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2836" y="2881883"/>
            <a:ext cx="5552440" cy="462280"/>
          </a:xfrm>
          <a:custGeom>
            <a:avLst/>
            <a:gdLst/>
            <a:ahLst/>
            <a:cxnLst/>
            <a:rect l="l" t="t" r="r" b="b"/>
            <a:pathLst>
              <a:path w="5552440" h="462279">
                <a:moveTo>
                  <a:pt x="0" y="461772"/>
                </a:moveTo>
                <a:lnTo>
                  <a:pt x="5551932" y="461772"/>
                </a:lnTo>
                <a:lnTo>
                  <a:pt x="5551932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67436" y="2908503"/>
            <a:ext cx="56032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0"/>
              </a:spcBef>
              <a:tabLst>
                <a:tab pos="2885440" algn="l"/>
              </a:tabLst>
            </a:pPr>
            <a:r>
              <a:rPr sz="2400" b="1" spc="-5" dirty="0">
                <a:solidFill>
                  <a:srgbClr val="FFFFFF"/>
                </a:solidFill>
                <a:latin typeface="黑体"/>
                <a:cs typeface="黑体"/>
              </a:rPr>
              <a:t>琥珀</a:t>
            </a:r>
            <a:r>
              <a:rPr sz="2400" b="1" spc="-10" dirty="0">
                <a:solidFill>
                  <a:srgbClr val="FFFFFF"/>
                </a:solidFill>
                <a:latin typeface="黑体"/>
                <a:cs typeface="黑体"/>
              </a:rPr>
              <a:t>酸</a:t>
            </a:r>
            <a:r>
              <a:rPr sz="2400" b="1" spc="-600" dirty="0">
                <a:solidFill>
                  <a:srgbClr val="FFFFFF"/>
                </a:solidFill>
                <a:latin typeface="黑体"/>
                <a:cs typeface="黑体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 </a:t>
            </a:r>
            <a:r>
              <a:rPr sz="24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CoQ	</a:t>
            </a:r>
            <a:r>
              <a:rPr sz="2400" b="1" spc="-5" dirty="0">
                <a:solidFill>
                  <a:srgbClr val="FFFFFF"/>
                </a:solidFill>
                <a:latin typeface="黑体"/>
                <a:cs typeface="黑体"/>
              </a:rPr>
              <a:t>延胡索</a:t>
            </a:r>
            <a:r>
              <a:rPr sz="2400" b="1" spc="395" dirty="0">
                <a:solidFill>
                  <a:srgbClr val="FFFFFF"/>
                </a:solidFill>
                <a:latin typeface="黑体"/>
                <a:cs typeface="黑体"/>
              </a:rPr>
              <a:t>酸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spc="-2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CoQH</a:t>
            </a:r>
            <a:r>
              <a:rPr sz="2400" b="1" baseline="-21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endParaRPr sz="2400" baseline="-2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679954" y="3057144"/>
            <a:ext cx="682625" cy="114300"/>
          </a:xfrm>
          <a:custGeom>
            <a:avLst/>
            <a:gdLst/>
            <a:ahLst/>
            <a:cxnLst/>
            <a:rect l="l" t="t" r="r" b="b"/>
            <a:pathLst>
              <a:path w="682625" h="114300">
                <a:moveTo>
                  <a:pt x="568325" y="0"/>
                </a:moveTo>
                <a:lnTo>
                  <a:pt x="568325" y="114300"/>
                </a:lnTo>
                <a:lnTo>
                  <a:pt x="644524" y="76200"/>
                </a:lnTo>
                <a:lnTo>
                  <a:pt x="587374" y="76200"/>
                </a:lnTo>
                <a:lnTo>
                  <a:pt x="587374" y="38100"/>
                </a:lnTo>
                <a:lnTo>
                  <a:pt x="644524" y="38100"/>
                </a:lnTo>
                <a:lnTo>
                  <a:pt x="568325" y="0"/>
                </a:lnTo>
                <a:close/>
              </a:path>
              <a:path w="682625" h="114300">
                <a:moveTo>
                  <a:pt x="56832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68325" y="76200"/>
                </a:lnTo>
                <a:lnTo>
                  <a:pt x="568325" y="38100"/>
                </a:lnTo>
                <a:close/>
              </a:path>
              <a:path w="682625" h="114300">
                <a:moveTo>
                  <a:pt x="644524" y="38100"/>
                </a:moveTo>
                <a:lnTo>
                  <a:pt x="587374" y="38100"/>
                </a:lnTo>
                <a:lnTo>
                  <a:pt x="587374" y="76200"/>
                </a:lnTo>
                <a:lnTo>
                  <a:pt x="644524" y="76200"/>
                </a:lnTo>
                <a:lnTo>
                  <a:pt x="682624" y="57150"/>
                </a:lnTo>
                <a:lnTo>
                  <a:pt x="644524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380479" y="4331970"/>
            <a:ext cx="2425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405" algn="l"/>
              </a:tabLst>
            </a:pPr>
            <a:r>
              <a:rPr sz="2400" spc="1180" dirty="0">
                <a:solidFill>
                  <a:srgbClr val="003366"/>
                </a:solidFill>
                <a:latin typeface="Wingdings" panose="05000000000000000000"/>
                <a:cs typeface="Wingdings" panose="05000000000000000000"/>
              </a:rPr>
              <a:t>◼</a:t>
            </a:r>
            <a:r>
              <a:rPr sz="2400" spc="118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200" b="1" spc="-5" dirty="0">
                <a:latin typeface="黑体"/>
                <a:cs typeface="黑体"/>
              </a:rPr>
              <a:t>没有</a:t>
            </a:r>
            <a:r>
              <a:rPr sz="2200" b="1" spc="5" dirty="0">
                <a:latin typeface="黑体"/>
                <a:cs typeface="黑体"/>
              </a:rPr>
              <a:t>质</a:t>
            </a:r>
            <a:r>
              <a:rPr sz="2200" b="1" spc="-5" dirty="0">
                <a:latin typeface="黑体"/>
                <a:cs typeface="黑体"/>
              </a:rPr>
              <a:t>子泵</a:t>
            </a:r>
            <a:r>
              <a:rPr sz="2200" b="1" spc="5" dirty="0">
                <a:latin typeface="黑体"/>
                <a:cs typeface="黑体"/>
              </a:rPr>
              <a:t>功</a:t>
            </a:r>
            <a:r>
              <a:rPr sz="2200" b="1" spc="-15" dirty="0">
                <a:latin typeface="黑体"/>
                <a:cs typeface="黑体"/>
              </a:rPr>
              <a:t>能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6965" y="1028445"/>
            <a:ext cx="63500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3.</a:t>
            </a:r>
            <a:r>
              <a:rPr sz="3200" spc="-4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10" dirty="0">
                <a:solidFill>
                  <a:srgbClr val="0000FF"/>
                </a:solidFill>
              </a:rPr>
              <a:t>复合</a:t>
            </a:r>
            <a:r>
              <a:rPr sz="3200" dirty="0">
                <a:solidFill>
                  <a:srgbClr val="0000FF"/>
                </a:solidFill>
              </a:rPr>
              <a:t>体</a:t>
            </a:r>
            <a:r>
              <a:rPr sz="3200" spc="69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Ⅲ:</a:t>
            </a:r>
            <a:r>
              <a:rPr sz="3200" spc="-7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10" dirty="0">
                <a:solidFill>
                  <a:srgbClr val="0000FF"/>
                </a:solidFill>
              </a:rPr>
              <a:t>泛醌</a:t>
            </a:r>
            <a:r>
              <a:rPr sz="32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3200" spc="-5" dirty="0">
                <a:solidFill>
                  <a:srgbClr val="0000FF"/>
                </a:solidFill>
              </a:rPr>
              <a:t>细胞</a:t>
            </a:r>
            <a:r>
              <a:rPr sz="3200" spc="-10" dirty="0">
                <a:solidFill>
                  <a:srgbClr val="0000FF"/>
                </a:solidFill>
              </a:rPr>
              <a:t>色</a:t>
            </a:r>
            <a:r>
              <a:rPr sz="3200" spc="5" dirty="0">
                <a:solidFill>
                  <a:srgbClr val="0000FF"/>
                </a:solidFill>
              </a:rPr>
              <a:t>素</a:t>
            </a:r>
            <a:r>
              <a:rPr sz="3200" spc="-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3200" dirty="0">
                <a:solidFill>
                  <a:srgbClr val="0000FF"/>
                </a:solidFill>
              </a:rPr>
              <a:t>还原</a:t>
            </a:r>
            <a:r>
              <a:rPr sz="3200" spc="-844" dirty="0">
                <a:solidFill>
                  <a:srgbClr val="0000FF"/>
                </a:solidFill>
              </a:rPr>
              <a:t>酶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9170" y="3840226"/>
            <a:ext cx="958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QH</a:t>
            </a:r>
            <a:r>
              <a:rPr sz="2400" b="1" baseline="-21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→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50026" y="3840226"/>
            <a:ext cx="1094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→ </a:t>
            </a:r>
            <a:r>
              <a:rPr sz="2400" b="1" spc="-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Cyt</a:t>
            </a:r>
            <a:r>
              <a:rPr sz="2400" b="1" spc="-7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7539" y="3764279"/>
            <a:ext cx="2787650" cy="518159"/>
          </a:xfrm>
          <a:prstGeom prst="rect">
            <a:avLst/>
          </a:prstGeom>
          <a:solidFill>
            <a:srgbClr val="D9FAFF"/>
          </a:solidFill>
          <a:ln w="9144">
            <a:solidFill>
              <a:srgbClr val="33CCCC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315"/>
              </a:spcBef>
            </a:pPr>
            <a:r>
              <a:rPr sz="2400" b="1" dirty="0">
                <a:solidFill>
                  <a:srgbClr val="993300"/>
                </a:solidFill>
                <a:latin typeface="黑体"/>
                <a:cs typeface="黑体"/>
              </a:rPr>
              <a:t>复合体</a:t>
            </a:r>
            <a:r>
              <a:rPr sz="2400" b="1" spc="1115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Ⅲ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4742" y="2474722"/>
            <a:ext cx="6294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spc="25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350" spc="2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10" dirty="0">
                <a:solidFill>
                  <a:srgbClr val="008000"/>
                </a:solidFill>
                <a:latin typeface="黑体"/>
                <a:cs typeface="黑体"/>
              </a:rPr>
              <a:t>功能</a:t>
            </a:r>
            <a:r>
              <a:rPr sz="2800" b="1" spc="5" dirty="0">
                <a:solidFill>
                  <a:srgbClr val="008000"/>
                </a:solidFill>
                <a:latin typeface="黑体"/>
                <a:cs typeface="黑体"/>
              </a:rPr>
              <a:t>：</a:t>
            </a:r>
            <a:r>
              <a:rPr sz="2800" b="1" spc="5" dirty="0">
                <a:latin typeface="黑体"/>
                <a:cs typeface="黑体"/>
              </a:rPr>
              <a:t>将电子</a:t>
            </a:r>
            <a:r>
              <a:rPr sz="2800" b="1" spc="-10" dirty="0">
                <a:latin typeface="黑体"/>
                <a:cs typeface="黑体"/>
              </a:rPr>
              <a:t>从泛</a:t>
            </a:r>
            <a:r>
              <a:rPr sz="2800" b="1" spc="5" dirty="0">
                <a:latin typeface="黑体"/>
                <a:cs typeface="黑体"/>
              </a:rPr>
              <a:t>醌</a:t>
            </a:r>
            <a:r>
              <a:rPr sz="2800" b="1" spc="-10" dirty="0">
                <a:latin typeface="黑体"/>
                <a:cs typeface="黑体"/>
              </a:rPr>
              <a:t>传递</a:t>
            </a:r>
            <a:r>
              <a:rPr sz="2800" b="1" spc="5" dirty="0">
                <a:latin typeface="黑体"/>
                <a:cs typeface="黑体"/>
              </a:rPr>
              <a:t>给</a:t>
            </a:r>
            <a:r>
              <a:rPr sz="2800" b="1" spc="-10" dirty="0">
                <a:latin typeface="黑体"/>
                <a:cs typeface="黑体"/>
              </a:rPr>
              <a:t>细</a:t>
            </a:r>
            <a:r>
              <a:rPr sz="2800" b="1" spc="5" dirty="0">
                <a:latin typeface="黑体"/>
                <a:cs typeface="黑体"/>
              </a:rPr>
              <a:t>胞</a:t>
            </a:r>
            <a:r>
              <a:rPr sz="2800" b="1" spc="-10" dirty="0">
                <a:latin typeface="黑体"/>
                <a:cs typeface="黑体"/>
              </a:rPr>
              <a:t>色</a:t>
            </a:r>
            <a:r>
              <a:rPr sz="2800" b="1" spc="30" dirty="0">
                <a:latin typeface="黑体"/>
                <a:cs typeface="黑体"/>
              </a:rPr>
              <a:t>素</a:t>
            </a:r>
            <a:r>
              <a:rPr sz="2800" b="1" spc="-5" dirty="0">
                <a:latin typeface="Times New Roman" panose="02020503050405090304"/>
                <a:cs typeface="Times New Roman" panose="02020503050405090304"/>
              </a:rPr>
              <a:t>c</a:t>
            </a:r>
            <a:endParaRPr sz="28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7792" y="234950"/>
            <a:ext cx="3029711" cy="65150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58592" y="280543"/>
            <a:ext cx="29286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9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FF"/>
                </a:solidFill>
              </a:rPr>
              <a:t>细 胞 色</a:t>
            </a:r>
            <a:r>
              <a:rPr sz="3200" spc="-25" dirty="0">
                <a:solidFill>
                  <a:srgbClr val="0000FF"/>
                </a:solidFill>
              </a:rPr>
              <a:t> </a:t>
            </a:r>
            <a:r>
              <a:rPr sz="3200" spc="-10" dirty="0">
                <a:solidFill>
                  <a:srgbClr val="0000FF"/>
                </a:solidFill>
              </a:rPr>
              <a:t>素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90168" y="880744"/>
            <a:ext cx="74885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23265">
              <a:lnSpc>
                <a:spcPct val="150000"/>
              </a:lnSpc>
              <a:spcBef>
                <a:spcPts val="100"/>
              </a:spcBef>
            </a:pPr>
            <a:r>
              <a:rPr sz="2400" b="1" dirty="0">
                <a:latin typeface="黑体"/>
                <a:cs typeface="黑体"/>
              </a:rPr>
              <a:t>细胞色素是一类以铁卟啉为辅基的催化电子传递的 酶类，根据它们吸收光谱不同而分类。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740" y="2421635"/>
            <a:ext cx="2770632" cy="3252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76600" y="2500883"/>
            <a:ext cx="2923031" cy="31729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67" y="5884570"/>
            <a:ext cx="10642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Cyta</a:t>
            </a:r>
            <a:r>
              <a:rPr sz="2000" b="1" spc="5" dirty="0">
                <a:solidFill>
                  <a:srgbClr val="008000"/>
                </a:solidFill>
                <a:latin typeface="宋体"/>
                <a:cs typeface="宋体"/>
              </a:rPr>
              <a:t>、</a:t>
            </a:r>
            <a:r>
              <a:rPr sz="2000" b="1" spc="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a3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1723" y="5760821"/>
            <a:ext cx="1202690" cy="63309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200"/>
              </a:spcBef>
            </a:pPr>
            <a:r>
              <a:rPr sz="2000" b="1" spc="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000" b="1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y</a:t>
            </a:r>
            <a:r>
              <a:rPr sz="2000" b="1" spc="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t</a:t>
            </a:r>
            <a:r>
              <a:rPr sz="2000" b="1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b</a:t>
            </a:r>
            <a:r>
              <a:rPr sz="2000" b="1" spc="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5</a:t>
            </a:r>
            <a:r>
              <a:rPr sz="2000" b="1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6</a:t>
            </a:r>
            <a:r>
              <a:rPr sz="2000" b="1" spc="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000" b="1" spc="-5" dirty="0">
                <a:solidFill>
                  <a:srgbClr val="008000"/>
                </a:solidFill>
                <a:latin typeface="宋体"/>
                <a:cs typeface="宋体"/>
              </a:rPr>
              <a:t>、  </a:t>
            </a:r>
            <a:r>
              <a:rPr sz="2000" b="1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Cytb566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71844" y="2500883"/>
            <a:ext cx="2572511" cy="34503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099807" y="6077813"/>
            <a:ext cx="10325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Cytc</a:t>
            </a:r>
            <a:r>
              <a:rPr sz="2000" b="1" spc="5" dirty="0">
                <a:solidFill>
                  <a:srgbClr val="008000"/>
                </a:solidFill>
                <a:latin typeface="宋体"/>
                <a:cs typeface="宋体"/>
              </a:rPr>
              <a:t>、</a:t>
            </a:r>
            <a:r>
              <a:rPr sz="2000" b="1" spc="-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c3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12770" y="2782061"/>
            <a:ext cx="2900680" cy="1727200"/>
          </a:xfrm>
          <a:custGeom>
            <a:avLst/>
            <a:gdLst/>
            <a:ahLst/>
            <a:cxnLst/>
            <a:rect l="l" t="t" r="r" b="b"/>
            <a:pathLst>
              <a:path w="2900679" h="1727200">
                <a:moveTo>
                  <a:pt x="0" y="1726692"/>
                </a:moveTo>
                <a:lnTo>
                  <a:pt x="2900172" y="1726692"/>
                </a:lnTo>
                <a:lnTo>
                  <a:pt x="2900172" y="0"/>
                </a:lnTo>
                <a:lnTo>
                  <a:pt x="0" y="0"/>
                </a:lnTo>
                <a:lnTo>
                  <a:pt x="0" y="1726692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9889" y="1126234"/>
            <a:ext cx="6650505" cy="56235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31720" y="2025395"/>
            <a:ext cx="304800" cy="1999614"/>
          </a:xfrm>
          <a:custGeom>
            <a:avLst/>
            <a:gdLst/>
            <a:ahLst/>
            <a:cxnLst/>
            <a:rect l="l" t="t" r="r" b="b"/>
            <a:pathLst>
              <a:path w="304800" h="1999614">
                <a:moveTo>
                  <a:pt x="152400" y="182879"/>
                </a:moveTo>
                <a:lnTo>
                  <a:pt x="121919" y="207263"/>
                </a:lnTo>
                <a:lnTo>
                  <a:pt x="121919" y="1999614"/>
                </a:lnTo>
                <a:lnTo>
                  <a:pt x="182880" y="1999614"/>
                </a:lnTo>
                <a:lnTo>
                  <a:pt x="182880" y="207263"/>
                </a:lnTo>
                <a:lnTo>
                  <a:pt x="152400" y="182879"/>
                </a:lnTo>
                <a:close/>
              </a:path>
              <a:path w="304800" h="1999614">
                <a:moveTo>
                  <a:pt x="152400" y="0"/>
                </a:moveTo>
                <a:lnTo>
                  <a:pt x="0" y="304800"/>
                </a:lnTo>
                <a:lnTo>
                  <a:pt x="121919" y="207263"/>
                </a:lnTo>
                <a:lnTo>
                  <a:pt x="121919" y="182879"/>
                </a:lnTo>
                <a:lnTo>
                  <a:pt x="243839" y="182879"/>
                </a:lnTo>
                <a:lnTo>
                  <a:pt x="152400" y="0"/>
                </a:lnTo>
                <a:close/>
              </a:path>
              <a:path w="304800" h="1999614">
                <a:moveTo>
                  <a:pt x="243839" y="182879"/>
                </a:moveTo>
                <a:lnTo>
                  <a:pt x="182880" y="182879"/>
                </a:lnTo>
                <a:lnTo>
                  <a:pt x="182880" y="207263"/>
                </a:lnTo>
                <a:lnTo>
                  <a:pt x="304800" y="304800"/>
                </a:lnTo>
                <a:lnTo>
                  <a:pt x="243839" y="182879"/>
                </a:lnTo>
                <a:close/>
              </a:path>
              <a:path w="304800" h="1999614">
                <a:moveTo>
                  <a:pt x="152400" y="182879"/>
                </a:moveTo>
                <a:lnTo>
                  <a:pt x="121919" y="182879"/>
                </a:lnTo>
                <a:lnTo>
                  <a:pt x="121919" y="207263"/>
                </a:lnTo>
                <a:lnTo>
                  <a:pt x="152400" y="182879"/>
                </a:lnTo>
                <a:close/>
              </a:path>
              <a:path w="304800" h="1999614">
                <a:moveTo>
                  <a:pt x="182880" y="182879"/>
                </a:moveTo>
                <a:lnTo>
                  <a:pt x="152400" y="182879"/>
                </a:lnTo>
                <a:lnTo>
                  <a:pt x="182880" y="207263"/>
                </a:lnTo>
                <a:lnTo>
                  <a:pt x="182880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39111" y="1434083"/>
            <a:ext cx="890269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800" b="1" spc="20" dirty="0">
                <a:solidFill>
                  <a:srgbClr val="FFFF00"/>
                </a:solidFill>
                <a:latin typeface="Cambria Math"/>
                <a:cs typeface="Cambria Math"/>
              </a:rPr>
              <a:t>4H</a:t>
            </a:r>
            <a:r>
              <a:rPr sz="2775" b="1" spc="30" baseline="26000" dirty="0">
                <a:solidFill>
                  <a:srgbClr val="FFFF00"/>
                </a:solidFill>
                <a:latin typeface="Cambria Math"/>
                <a:cs typeface="Cambria Math"/>
              </a:rPr>
              <a:t>+</a:t>
            </a:r>
            <a:endParaRPr sz="2775" baseline="26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55280" y="6166103"/>
            <a:ext cx="792480" cy="536575"/>
          </a:xfrm>
          <a:custGeom>
            <a:avLst/>
            <a:gdLst/>
            <a:ahLst/>
            <a:cxnLst/>
            <a:rect l="l" t="t" r="r" b="b"/>
            <a:pathLst>
              <a:path w="792479" h="536575">
                <a:moveTo>
                  <a:pt x="792479" y="0"/>
                </a:moveTo>
                <a:lnTo>
                  <a:pt x="0" y="0"/>
                </a:lnTo>
                <a:lnTo>
                  <a:pt x="0" y="536448"/>
                </a:lnTo>
                <a:lnTo>
                  <a:pt x="792479" y="536448"/>
                </a:lnTo>
                <a:lnTo>
                  <a:pt x="792479" y="469392"/>
                </a:lnTo>
                <a:lnTo>
                  <a:pt x="195072" y="469392"/>
                </a:lnTo>
                <a:lnTo>
                  <a:pt x="195072" y="67056"/>
                </a:lnTo>
                <a:lnTo>
                  <a:pt x="792479" y="67056"/>
                </a:lnTo>
                <a:lnTo>
                  <a:pt x="792479" y="0"/>
                </a:lnTo>
                <a:close/>
              </a:path>
              <a:path w="792479" h="536575">
                <a:moveTo>
                  <a:pt x="792479" y="67056"/>
                </a:moveTo>
                <a:lnTo>
                  <a:pt x="195072" y="67056"/>
                </a:lnTo>
                <a:lnTo>
                  <a:pt x="597408" y="268224"/>
                </a:lnTo>
                <a:lnTo>
                  <a:pt x="195072" y="469392"/>
                </a:lnTo>
                <a:lnTo>
                  <a:pt x="792479" y="469392"/>
                </a:lnTo>
                <a:lnTo>
                  <a:pt x="792479" y="67056"/>
                </a:lnTo>
                <a:close/>
              </a:path>
            </a:pathLst>
          </a:custGeom>
          <a:solidFill>
            <a:srgbClr val="CCCC99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50352" y="6233159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90" h="402590">
                <a:moveTo>
                  <a:pt x="0" y="0"/>
                </a:moveTo>
                <a:lnTo>
                  <a:pt x="0" y="402335"/>
                </a:lnTo>
                <a:lnTo>
                  <a:pt x="402336" y="201167"/>
                </a:lnTo>
                <a:lnTo>
                  <a:pt x="0" y="0"/>
                </a:lnTo>
                <a:close/>
              </a:path>
            </a:pathLst>
          </a:custGeom>
          <a:solidFill>
            <a:srgbClr val="79795C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50352" y="6233159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90" h="402590">
                <a:moveTo>
                  <a:pt x="402336" y="201167"/>
                </a:moveTo>
                <a:lnTo>
                  <a:pt x="0" y="402335"/>
                </a:lnTo>
                <a:lnTo>
                  <a:pt x="0" y="0"/>
                </a:lnTo>
                <a:lnTo>
                  <a:pt x="402336" y="201167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55280" y="6166103"/>
            <a:ext cx="792480" cy="536575"/>
          </a:xfrm>
          <a:custGeom>
            <a:avLst/>
            <a:gdLst/>
            <a:ahLst/>
            <a:cxnLst/>
            <a:rect l="l" t="t" r="r" b="b"/>
            <a:pathLst>
              <a:path w="792479" h="536575">
                <a:moveTo>
                  <a:pt x="0" y="536448"/>
                </a:moveTo>
                <a:lnTo>
                  <a:pt x="792479" y="536448"/>
                </a:lnTo>
                <a:lnTo>
                  <a:pt x="792479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431" y="444701"/>
            <a:ext cx="9075429" cy="4591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387083"/>
            <a:ext cx="9070848" cy="624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148" y="417576"/>
            <a:ext cx="8994775" cy="384175"/>
          </a:xfrm>
          <a:custGeom>
            <a:avLst/>
            <a:gdLst/>
            <a:ahLst/>
            <a:cxnLst/>
            <a:rect l="l" t="t" r="r" b="b"/>
            <a:pathLst>
              <a:path w="8994775" h="384175">
                <a:moveTo>
                  <a:pt x="0" y="384048"/>
                </a:moveTo>
                <a:lnTo>
                  <a:pt x="8994648" y="384048"/>
                </a:lnTo>
                <a:lnTo>
                  <a:pt x="8994648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4792" y="445719"/>
            <a:ext cx="417766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CoQH</a:t>
            </a:r>
            <a:r>
              <a:rPr sz="1875" b="1" spc="-7" baseline="-20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875" b="1" baseline="-20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900" b="1" spc="-1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900" b="1" spc="-5" dirty="0">
                <a:solidFill>
                  <a:srgbClr val="FFFFFF"/>
                </a:solidFill>
                <a:latin typeface="黑体"/>
                <a:cs typeface="黑体"/>
              </a:rPr>
              <a:t>细胞色</a:t>
            </a:r>
            <a:r>
              <a:rPr sz="1900" b="1" dirty="0">
                <a:solidFill>
                  <a:srgbClr val="FFFFFF"/>
                </a:solidFill>
                <a:latin typeface="黑体"/>
                <a:cs typeface="黑体"/>
              </a:rPr>
              <a:t>素</a:t>
            </a:r>
            <a:r>
              <a:rPr sz="19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1875" b="1" baseline="-20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1</a:t>
            </a:r>
            <a:r>
              <a:rPr sz="19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(Fe</a:t>
            </a:r>
            <a:r>
              <a:rPr sz="1875" b="1" baseline="27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3+</a:t>
            </a:r>
            <a:r>
              <a:rPr sz="19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)+</a:t>
            </a:r>
            <a:r>
              <a:rPr sz="1900" b="1" spc="2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2H</a:t>
            </a:r>
            <a:r>
              <a:rPr sz="1875" b="1" spc="-7" baseline="27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(</a:t>
            </a:r>
            <a:r>
              <a:rPr sz="1900" b="1" dirty="0">
                <a:solidFill>
                  <a:srgbClr val="FFFFFF"/>
                </a:solidFill>
                <a:latin typeface="黑体"/>
                <a:cs typeface="黑体"/>
              </a:rPr>
              <a:t>基</a:t>
            </a:r>
            <a:r>
              <a:rPr sz="1900" b="1" spc="-5" dirty="0">
                <a:solidFill>
                  <a:srgbClr val="FFFFFF"/>
                </a:solidFill>
                <a:latin typeface="黑体"/>
                <a:cs typeface="黑体"/>
              </a:rPr>
              <a:t>质</a:t>
            </a: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)</a:t>
            </a:r>
            <a:endParaRPr sz="19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42053" y="445719"/>
            <a:ext cx="41122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CoQ+ </a:t>
            </a:r>
            <a:r>
              <a:rPr sz="1900" b="1" spc="-1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900" b="1" dirty="0">
                <a:solidFill>
                  <a:srgbClr val="FFFFFF"/>
                </a:solidFill>
                <a:latin typeface="黑体"/>
                <a:cs typeface="黑体"/>
              </a:rPr>
              <a:t>细胞色</a:t>
            </a:r>
            <a:r>
              <a:rPr sz="1900" b="1" spc="-5" dirty="0">
                <a:solidFill>
                  <a:srgbClr val="FFFFFF"/>
                </a:solidFill>
                <a:latin typeface="黑体"/>
                <a:cs typeface="黑体"/>
              </a:rPr>
              <a:t>素</a:t>
            </a:r>
            <a:r>
              <a:rPr sz="19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1875" b="1" baseline="-20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1</a:t>
            </a:r>
            <a:r>
              <a:rPr sz="19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(Fe</a:t>
            </a:r>
            <a:r>
              <a:rPr sz="1875" b="1" baseline="27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2+</a:t>
            </a:r>
            <a:r>
              <a:rPr sz="19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)+</a:t>
            </a:r>
            <a:r>
              <a:rPr sz="1900" b="1" spc="1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4H</a:t>
            </a:r>
            <a:r>
              <a:rPr sz="1875" b="1" spc="-7" baseline="27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(</a:t>
            </a:r>
            <a:r>
              <a:rPr sz="1900" b="1" spc="-5" dirty="0">
                <a:solidFill>
                  <a:srgbClr val="FFFFFF"/>
                </a:solidFill>
                <a:latin typeface="黑体"/>
                <a:cs typeface="黑体"/>
              </a:rPr>
              <a:t>膜间隙</a:t>
            </a:r>
            <a:r>
              <a:rPr sz="19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)</a:t>
            </a:r>
            <a:endParaRPr sz="19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8358" y="563880"/>
            <a:ext cx="368300" cy="114300"/>
          </a:xfrm>
          <a:custGeom>
            <a:avLst/>
            <a:gdLst/>
            <a:ahLst/>
            <a:cxnLst/>
            <a:rect l="l" t="t" r="r" b="b"/>
            <a:pathLst>
              <a:path w="368300" h="114300">
                <a:moveTo>
                  <a:pt x="254000" y="0"/>
                </a:moveTo>
                <a:lnTo>
                  <a:pt x="254000" y="114300"/>
                </a:lnTo>
                <a:lnTo>
                  <a:pt x="330200" y="76200"/>
                </a:lnTo>
                <a:lnTo>
                  <a:pt x="273050" y="76200"/>
                </a:lnTo>
                <a:lnTo>
                  <a:pt x="273050" y="38100"/>
                </a:lnTo>
                <a:lnTo>
                  <a:pt x="330200" y="38100"/>
                </a:lnTo>
                <a:lnTo>
                  <a:pt x="254000" y="0"/>
                </a:lnTo>
                <a:close/>
              </a:path>
              <a:path w="368300" h="114300">
                <a:moveTo>
                  <a:pt x="2540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4000" y="76200"/>
                </a:lnTo>
                <a:lnTo>
                  <a:pt x="254000" y="38100"/>
                </a:lnTo>
                <a:close/>
              </a:path>
              <a:path w="368300" h="114300">
                <a:moveTo>
                  <a:pt x="330200" y="38100"/>
                </a:moveTo>
                <a:lnTo>
                  <a:pt x="273050" y="38100"/>
                </a:lnTo>
                <a:lnTo>
                  <a:pt x="273050" y="76200"/>
                </a:lnTo>
                <a:lnTo>
                  <a:pt x="330200" y="76200"/>
                </a:lnTo>
                <a:lnTo>
                  <a:pt x="368300" y="57150"/>
                </a:lnTo>
                <a:lnTo>
                  <a:pt x="33020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74364" y="3531108"/>
            <a:ext cx="2780030" cy="502920"/>
          </a:xfrm>
          <a:custGeom>
            <a:avLst/>
            <a:gdLst/>
            <a:ahLst/>
            <a:cxnLst/>
            <a:rect l="l" t="t" r="r" b="b"/>
            <a:pathLst>
              <a:path w="2780029" h="502920">
                <a:moveTo>
                  <a:pt x="0" y="502920"/>
                </a:moveTo>
                <a:lnTo>
                  <a:pt x="2779776" y="502920"/>
                </a:lnTo>
                <a:lnTo>
                  <a:pt x="2779776" y="0"/>
                </a:lnTo>
                <a:lnTo>
                  <a:pt x="0" y="0"/>
                </a:lnTo>
                <a:lnTo>
                  <a:pt x="0" y="50292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74364" y="3531108"/>
            <a:ext cx="2780030" cy="502920"/>
          </a:xfrm>
          <a:custGeom>
            <a:avLst/>
            <a:gdLst/>
            <a:ahLst/>
            <a:cxnLst/>
            <a:rect l="l" t="t" r="r" b="b"/>
            <a:pathLst>
              <a:path w="2780029" h="502920">
                <a:moveTo>
                  <a:pt x="0" y="502920"/>
                </a:moveTo>
                <a:lnTo>
                  <a:pt x="2779776" y="502920"/>
                </a:lnTo>
                <a:lnTo>
                  <a:pt x="2779776" y="0"/>
                </a:lnTo>
                <a:lnTo>
                  <a:pt x="0" y="0"/>
                </a:lnTo>
                <a:lnTo>
                  <a:pt x="0" y="502920"/>
                </a:lnTo>
                <a:close/>
              </a:path>
            </a:pathLst>
          </a:custGeom>
          <a:ln w="9144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40689" y="4923485"/>
            <a:ext cx="8192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5" dirty="0">
                <a:latin typeface="黑体"/>
                <a:cs typeface="黑体"/>
              </a:rPr>
              <a:t>其中</a:t>
            </a:r>
            <a:r>
              <a:rPr sz="2800" b="1" spc="-5" dirty="0">
                <a:latin typeface="Times New Roman" panose="02020503050405090304"/>
                <a:cs typeface="Times New Roman" panose="02020503050405090304"/>
              </a:rPr>
              <a:t>Cyt</a:t>
            </a:r>
            <a:r>
              <a:rPr sz="28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5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2775" b="1" spc="7" baseline="-21000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2775" b="1" spc="330" baseline="-210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5" dirty="0">
                <a:latin typeface="黑体"/>
                <a:cs typeface="黑体"/>
              </a:rPr>
              <a:t>和</a:t>
            </a:r>
            <a:r>
              <a:rPr sz="2800" b="1" dirty="0">
                <a:latin typeface="Times New Roman" panose="02020503050405090304"/>
                <a:cs typeface="Times New Roman" panose="02020503050405090304"/>
              </a:rPr>
              <a:t>Cu</a:t>
            </a:r>
            <a:r>
              <a:rPr sz="2775" b="1" baseline="-21000" dirty="0">
                <a:latin typeface="Times New Roman" panose="02020503050405090304"/>
                <a:cs typeface="Times New Roman" panose="02020503050405090304"/>
              </a:rPr>
              <a:t>B</a:t>
            </a:r>
            <a:r>
              <a:rPr sz="2800" b="1" spc="5" dirty="0">
                <a:latin typeface="黑体"/>
                <a:cs typeface="黑体"/>
              </a:rPr>
              <a:t>形成活性双核</a:t>
            </a:r>
            <a:r>
              <a:rPr sz="2800" b="1" spc="-10" dirty="0">
                <a:latin typeface="黑体"/>
                <a:cs typeface="黑体"/>
              </a:rPr>
              <a:t>中心</a:t>
            </a:r>
            <a:r>
              <a:rPr sz="2800" b="1" spc="5" dirty="0">
                <a:latin typeface="黑体"/>
                <a:cs typeface="黑体"/>
              </a:rPr>
              <a:t>，</a:t>
            </a:r>
            <a:r>
              <a:rPr sz="2800" b="1" spc="-10" dirty="0">
                <a:latin typeface="黑体"/>
                <a:cs typeface="黑体"/>
              </a:rPr>
              <a:t>将电</a:t>
            </a:r>
            <a:r>
              <a:rPr sz="2800" b="1" spc="5" dirty="0">
                <a:latin typeface="黑体"/>
                <a:cs typeface="黑体"/>
              </a:rPr>
              <a:t>子</a:t>
            </a:r>
            <a:r>
              <a:rPr sz="2800" b="1" spc="-10" dirty="0">
                <a:latin typeface="黑体"/>
                <a:cs typeface="黑体"/>
              </a:rPr>
              <a:t>交</a:t>
            </a:r>
            <a:r>
              <a:rPr sz="2800" b="1" spc="10" dirty="0">
                <a:latin typeface="黑体"/>
                <a:cs typeface="黑体"/>
              </a:rPr>
              <a:t>给</a:t>
            </a:r>
            <a:r>
              <a:rPr sz="2800" b="1" dirty="0"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775" b="1" baseline="-21000" dirty="0">
                <a:latin typeface="Times New Roman" panose="02020503050405090304"/>
                <a:cs typeface="Times New Roman" panose="02020503050405090304"/>
              </a:rPr>
              <a:t>2</a:t>
            </a:r>
            <a:endParaRPr sz="2775" baseline="-2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8093" y="807846"/>
            <a:ext cx="49428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4.</a:t>
            </a:r>
            <a:r>
              <a:rPr sz="3200" spc="-3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10" dirty="0">
                <a:solidFill>
                  <a:srgbClr val="0000FF"/>
                </a:solidFill>
              </a:rPr>
              <a:t>复合</a:t>
            </a:r>
            <a:r>
              <a:rPr sz="3200" spc="-1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IV:</a:t>
            </a:r>
            <a:r>
              <a:rPr sz="3200" spc="-6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5" dirty="0">
                <a:solidFill>
                  <a:srgbClr val="0000FF"/>
                </a:solidFill>
              </a:rPr>
              <a:t>细胞</a:t>
            </a:r>
            <a:r>
              <a:rPr sz="3200" spc="-5" dirty="0">
                <a:solidFill>
                  <a:srgbClr val="0000FF"/>
                </a:solidFill>
              </a:rPr>
              <a:t>色</a:t>
            </a:r>
            <a:r>
              <a:rPr sz="3200" spc="15" dirty="0">
                <a:solidFill>
                  <a:srgbClr val="0000FF"/>
                </a:solidFill>
              </a:rPr>
              <a:t>素</a:t>
            </a:r>
            <a:r>
              <a:rPr sz="3200" spc="-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3200" dirty="0">
                <a:solidFill>
                  <a:srgbClr val="0000FF"/>
                </a:solidFill>
              </a:rPr>
              <a:t>氧化酶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240" y="2119122"/>
            <a:ext cx="6082030" cy="1833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350" spc="25" dirty="0">
                <a:solidFill>
                  <a:srgbClr val="008000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350" spc="65" dirty="0">
                <a:solidFill>
                  <a:srgbClr val="008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5" dirty="0">
                <a:solidFill>
                  <a:srgbClr val="008000"/>
                </a:solidFill>
                <a:latin typeface="黑体"/>
                <a:cs typeface="黑体"/>
              </a:rPr>
              <a:t>功能：</a:t>
            </a:r>
            <a:r>
              <a:rPr sz="2800" b="1" spc="5" dirty="0">
                <a:latin typeface="黑体"/>
                <a:cs typeface="黑体"/>
              </a:rPr>
              <a:t>将电子</a:t>
            </a:r>
            <a:r>
              <a:rPr sz="2800" b="1" spc="-10" dirty="0">
                <a:latin typeface="黑体"/>
                <a:cs typeface="黑体"/>
              </a:rPr>
              <a:t>从细</a:t>
            </a:r>
            <a:r>
              <a:rPr sz="2800" b="1" spc="5" dirty="0">
                <a:latin typeface="黑体"/>
                <a:cs typeface="黑体"/>
              </a:rPr>
              <a:t>胞</a:t>
            </a:r>
            <a:r>
              <a:rPr sz="2800" b="1" spc="-10" dirty="0">
                <a:latin typeface="黑体"/>
                <a:cs typeface="黑体"/>
              </a:rPr>
              <a:t>色</a:t>
            </a:r>
            <a:r>
              <a:rPr sz="2800" b="1" spc="15" dirty="0">
                <a:latin typeface="黑体"/>
                <a:cs typeface="黑体"/>
              </a:rPr>
              <a:t>素</a:t>
            </a:r>
            <a:r>
              <a:rPr sz="2800" b="1" dirty="0">
                <a:latin typeface="Arial" panose="020B0604020202090204"/>
                <a:cs typeface="Arial" panose="020B0604020202090204"/>
              </a:rPr>
              <a:t>c</a:t>
            </a:r>
            <a:r>
              <a:rPr sz="2800" b="1" spc="5" dirty="0">
                <a:latin typeface="黑体"/>
                <a:cs typeface="黑体"/>
              </a:rPr>
              <a:t>传</a:t>
            </a:r>
            <a:r>
              <a:rPr sz="2800" b="1" spc="-10" dirty="0">
                <a:latin typeface="黑体"/>
                <a:cs typeface="黑体"/>
              </a:rPr>
              <a:t>递</a:t>
            </a:r>
            <a:r>
              <a:rPr sz="2800" b="1" spc="5" dirty="0">
                <a:latin typeface="黑体"/>
                <a:cs typeface="黑体"/>
              </a:rPr>
              <a:t>给</a:t>
            </a:r>
            <a:r>
              <a:rPr sz="2800" b="1" spc="-15" dirty="0">
                <a:latin typeface="黑体"/>
                <a:cs typeface="黑体"/>
              </a:rPr>
              <a:t>氧</a:t>
            </a:r>
            <a:endParaRPr sz="28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150">
              <a:latin typeface="Times New Roman" panose="02020503050405090304"/>
              <a:cs typeface="Times New Roman" panose="02020503050405090304"/>
            </a:endParaRPr>
          </a:p>
          <a:p>
            <a:pPr marL="3159125">
              <a:lnSpc>
                <a:spcPct val="100000"/>
              </a:lnSpc>
            </a:pPr>
            <a:r>
              <a:rPr sz="2400" b="1" dirty="0">
                <a:solidFill>
                  <a:srgbClr val="993300"/>
                </a:solidFill>
                <a:latin typeface="黑体"/>
                <a:cs typeface="黑体"/>
              </a:rPr>
              <a:t>复合</a:t>
            </a:r>
            <a:r>
              <a:rPr sz="2400" b="1" spc="-5" dirty="0">
                <a:solidFill>
                  <a:srgbClr val="993300"/>
                </a:solidFill>
                <a:latin typeface="黑体"/>
                <a:cs typeface="黑体"/>
              </a:rPr>
              <a:t>体</a:t>
            </a:r>
            <a:r>
              <a:rPr sz="2400" b="1" spc="1025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Ⅳ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 marL="644525">
              <a:lnSpc>
                <a:spcPct val="100000"/>
              </a:lnSpc>
              <a:spcBef>
                <a:spcPts val="1440"/>
              </a:spcBef>
              <a:tabLst>
                <a:tab pos="5297805" algn="l"/>
              </a:tabLst>
            </a:pPr>
            <a:r>
              <a:rPr sz="2400" b="1" spc="-5" dirty="0">
                <a:solidFill>
                  <a:srgbClr val="003366"/>
                </a:solidFill>
                <a:latin typeface="黑体"/>
                <a:cs typeface="黑体"/>
              </a:rPr>
              <a:t>还原</a:t>
            </a:r>
            <a:r>
              <a:rPr sz="2400" b="1" dirty="0">
                <a:solidFill>
                  <a:srgbClr val="003366"/>
                </a:solidFill>
                <a:latin typeface="黑体"/>
                <a:cs typeface="黑体"/>
              </a:rPr>
              <a:t>型</a:t>
            </a:r>
            <a:r>
              <a:rPr sz="2400" b="1" spc="-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Cyt</a:t>
            </a:r>
            <a:r>
              <a:rPr sz="2400" b="1" spc="3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c </a:t>
            </a:r>
            <a:r>
              <a:rPr sz="2400" b="1" spc="-1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→</a:t>
            </a:r>
            <a:r>
              <a:rPr sz="3600" b="1" spc="-15" baseline="1000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Cu</a:t>
            </a:r>
            <a:r>
              <a:rPr sz="2400" b="1" spc="-15" baseline="-19000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A</a:t>
            </a:r>
            <a:r>
              <a:rPr sz="3600" b="1" spc="-15" baseline="1000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→a→a</a:t>
            </a:r>
            <a:r>
              <a:rPr sz="2400" b="1" spc="-15" baseline="-19000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3</a:t>
            </a:r>
            <a:r>
              <a:rPr sz="3600" b="1" spc="-15" baseline="1000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→Cu</a:t>
            </a:r>
            <a:r>
              <a:rPr sz="2400" b="1" spc="-15" baseline="-19000" dirty="0">
                <a:solidFill>
                  <a:srgbClr val="993300"/>
                </a:solidFill>
                <a:latin typeface="Times New Roman" panose="02020503050405090304"/>
                <a:cs typeface="Times New Roman" panose="02020503050405090304"/>
              </a:rPr>
              <a:t>B	</a:t>
            </a:r>
            <a:r>
              <a:rPr sz="24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→</a:t>
            </a:r>
            <a:r>
              <a:rPr sz="2400" b="1" spc="-5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spc="-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400" b="1" spc="-7" baseline="-21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endParaRPr sz="2400" baseline="-210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1639" y="1341118"/>
            <a:ext cx="5393436" cy="55168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74079" y="1557527"/>
            <a:ext cx="365760" cy="2376805"/>
          </a:xfrm>
          <a:custGeom>
            <a:avLst/>
            <a:gdLst/>
            <a:ahLst/>
            <a:cxnLst/>
            <a:rect l="l" t="t" r="r" b="b"/>
            <a:pathLst>
              <a:path w="365760" h="2376804">
                <a:moveTo>
                  <a:pt x="182880" y="219456"/>
                </a:moveTo>
                <a:lnTo>
                  <a:pt x="146304" y="248716"/>
                </a:lnTo>
                <a:lnTo>
                  <a:pt x="146304" y="2376424"/>
                </a:lnTo>
                <a:lnTo>
                  <a:pt x="219456" y="2376551"/>
                </a:lnTo>
                <a:lnTo>
                  <a:pt x="219456" y="248716"/>
                </a:lnTo>
                <a:lnTo>
                  <a:pt x="182880" y="219456"/>
                </a:lnTo>
                <a:close/>
              </a:path>
              <a:path w="365760" h="2376804">
                <a:moveTo>
                  <a:pt x="182880" y="0"/>
                </a:moveTo>
                <a:lnTo>
                  <a:pt x="0" y="365760"/>
                </a:lnTo>
                <a:lnTo>
                  <a:pt x="146303" y="248716"/>
                </a:lnTo>
                <a:lnTo>
                  <a:pt x="146304" y="219456"/>
                </a:lnTo>
                <a:lnTo>
                  <a:pt x="292608" y="219456"/>
                </a:lnTo>
                <a:lnTo>
                  <a:pt x="182880" y="0"/>
                </a:lnTo>
                <a:close/>
              </a:path>
              <a:path w="365760" h="2376804">
                <a:moveTo>
                  <a:pt x="292608" y="219456"/>
                </a:moveTo>
                <a:lnTo>
                  <a:pt x="219456" y="219456"/>
                </a:lnTo>
                <a:lnTo>
                  <a:pt x="219456" y="248716"/>
                </a:lnTo>
                <a:lnTo>
                  <a:pt x="365760" y="365760"/>
                </a:lnTo>
                <a:lnTo>
                  <a:pt x="292608" y="219456"/>
                </a:lnTo>
                <a:close/>
              </a:path>
              <a:path w="365760" h="2376804">
                <a:moveTo>
                  <a:pt x="182880" y="219456"/>
                </a:moveTo>
                <a:lnTo>
                  <a:pt x="146304" y="219456"/>
                </a:lnTo>
                <a:lnTo>
                  <a:pt x="146304" y="248716"/>
                </a:lnTo>
                <a:lnTo>
                  <a:pt x="182880" y="219456"/>
                </a:lnTo>
                <a:close/>
              </a:path>
              <a:path w="365760" h="2376804">
                <a:moveTo>
                  <a:pt x="219456" y="219456"/>
                </a:moveTo>
                <a:lnTo>
                  <a:pt x="182880" y="219456"/>
                </a:lnTo>
                <a:lnTo>
                  <a:pt x="219456" y="248716"/>
                </a:lnTo>
                <a:lnTo>
                  <a:pt x="219456" y="219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443471" y="1484375"/>
            <a:ext cx="806450" cy="5245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61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2800" b="1" spc="20" dirty="0">
                <a:solidFill>
                  <a:srgbClr val="FFFF00"/>
                </a:solidFill>
                <a:latin typeface="Cambria Math"/>
                <a:cs typeface="Cambria Math"/>
              </a:rPr>
              <a:t>2H</a:t>
            </a:r>
            <a:r>
              <a:rPr sz="2775" b="1" spc="30" baseline="26000" dirty="0">
                <a:solidFill>
                  <a:srgbClr val="FFFF00"/>
                </a:solidFill>
                <a:latin typeface="Cambria Math"/>
                <a:cs typeface="Cambria Math"/>
              </a:rPr>
              <a:t>+</a:t>
            </a:r>
            <a:endParaRPr sz="2775" baseline="26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55280" y="6166103"/>
            <a:ext cx="792480" cy="536575"/>
          </a:xfrm>
          <a:custGeom>
            <a:avLst/>
            <a:gdLst/>
            <a:ahLst/>
            <a:cxnLst/>
            <a:rect l="l" t="t" r="r" b="b"/>
            <a:pathLst>
              <a:path w="792479" h="536575">
                <a:moveTo>
                  <a:pt x="792479" y="0"/>
                </a:moveTo>
                <a:lnTo>
                  <a:pt x="0" y="0"/>
                </a:lnTo>
                <a:lnTo>
                  <a:pt x="0" y="536448"/>
                </a:lnTo>
                <a:lnTo>
                  <a:pt x="792479" y="536448"/>
                </a:lnTo>
                <a:lnTo>
                  <a:pt x="792479" y="469392"/>
                </a:lnTo>
                <a:lnTo>
                  <a:pt x="195072" y="469392"/>
                </a:lnTo>
                <a:lnTo>
                  <a:pt x="195072" y="67056"/>
                </a:lnTo>
                <a:lnTo>
                  <a:pt x="792479" y="67056"/>
                </a:lnTo>
                <a:lnTo>
                  <a:pt x="792479" y="0"/>
                </a:lnTo>
                <a:close/>
              </a:path>
              <a:path w="792479" h="536575">
                <a:moveTo>
                  <a:pt x="792479" y="67056"/>
                </a:moveTo>
                <a:lnTo>
                  <a:pt x="195072" y="67056"/>
                </a:lnTo>
                <a:lnTo>
                  <a:pt x="597408" y="268224"/>
                </a:lnTo>
                <a:lnTo>
                  <a:pt x="195072" y="469392"/>
                </a:lnTo>
                <a:lnTo>
                  <a:pt x="792479" y="469392"/>
                </a:lnTo>
                <a:lnTo>
                  <a:pt x="792479" y="67056"/>
                </a:lnTo>
                <a:close/>
              </a:path>
            </a:pathLst>
          </a:custGeom>
          <a:solidFill>
            <a:srgbClr val="CCCC99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50352" y="6233159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90" h="402590">
                <a:moveTo>
                  <a:pt x="0" y="0"/>
                </a:moveTo>
                <a:lnTo>
                  <a:pt x="0" y="402335"/>
                </a:lnTo>
                <a:lnTo>
                  <a:pt x="402336" y="201167"/>
                </a:lnTo>
                <a:lnTo>
                  <a:pt x="0" y="0"/>
                </a:lnTo>
                <a:close/>
              </a:path>
            </a:pathLst>
          </a:custGeom>
          <a:solidFill>
            <a:srgbClr val="79795C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50352" y="6233159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90" h="402590">
                <a:moveTo>
                  <a:pt x="402336" y="201167"/>
                </a:moveTo>
                <a:lnTo>
                  <a:pt x="0" y="402335"/>
                </a:lnTo>
                <a:lnTo>
                  <a:pt x="0" y="0"/>
                </a:lnTo>
                <a:lnTo>
                  <a:pt x="402336" y="201167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55280" y="6166103"/>
            <a:ext cx="792480" cy="536575"/>
          </a:xfrm>
          <a:custGeom>
            <a:avLst/>
            <a:gdLst/>
            <a:ahLst/>
            <a:cxnLst/>
            <a:rect l="l" t="t" r="r" b="b"/>
            <a:pathLst>
              <a:path w="792479" h="536575">
                <a:moveTo>
                  <a:pt x="0" y="536448"/>
                </a:moveTo>
                <a:lnTo>
                  <a:pt x="792479" y="536448"/>
                </a:lnTo>
                <a:lnTo>
                  <a:pt x="792479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45813" y="513440"/>
            <a:ext cx="8004061" cy="5351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5236" y="434327"/>
            <a:ext cx="8185404" cy="762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7532" y="486155"/>
            <a:ext cx="7920355" cy="460375"/>
          </a:xfrm>
          <a:custGeom>
            <a:avLst/>
            <a:gdLst/>
            <a:ahLst/>
            <a:cxnLst/>
            <a:rect l="l" t="t" r="r" b="b"/>
            <a:pathLst>
              <a:path w="7920355" h="460375">
                <a:moveTo>
                  <a:pt x="0" y="460248"/>
                </a:moveTo>
                <a:lnTo>
                  <a:pt x="7920228" y="460248"/>
                </a:lnTo>
                <a:lnTo>
                  <a:pt x="7920228" y="0"/>
                </a:lnTo>
                <a:lnTo>
                  <a:pt x="0" y="0"/>
                </a:lnTo>
                <a:lnTo>
                  <a:pt x="0" y="46024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7370">
              <a:lnSpc>
                <a:spcPct val="100000"/>
              </a:lnSpc>
              <a:spcBef>
                <a:spcPts val="100"/>
              </a:spcBef>
              <a:tabLst>
                <a:tab pos="4956810" algn="l"/>
              </a:tabLst>
            </a:pPr>
            <a:r>
              <a:rPr spc="-5" dirty="0"/>
              <a:t>4</a:t>
            </a:r>
            <a:r>
              <a:rPr spc="-5" dirty="0">
                <a:latin typeface="黑体"/>
                <a:cs typeface="黑体"/>
              </a:rPr>
              <a:t>细胞色</a:t>
            </a:r>
            <a:r>
              <a:rPr dirty="0">
                <a:latin typeface="黑体"/>
                <a:cs typeface="黑体"/>
              </a:rPr>
              <a:t>素</a:t>
            </a:r>
            <a:r>
              <a:rPr dirty="0"/>
              <a:t>c(Fe</a:t>
            </a:r>
            <a:r>
              <a:rPr sz="2400" baseline="24000" dirty="0"/>
              <a:t>3+</a:t>
            </a:r>
            <a:r>
              <a:rPr sz="2400" dirty="0"/>
              <a:t>)+</a:t>
            </a:r>
            <a:r>
              <a:rPr sz="2400" spc="-20" dirty="0"/>
              <a:t> </a:t>
            </a:r>
            <a:r>
              <a:rPr sz="2400" dirty="0"/>
              <a:t>4H</a:t>
            </a:r>
            <a:r>
              <a:rPr sz="2400" baseline="24000" dirty="0"/>
              <a:t>+</a:t>
            </a:r>
            <a:r>
              <a:rPr sz="2400" spc="-15" baseline="24000" dirty="0"/>
              <a:t> </a:t>
            </a:r>
            <a:r>
              <a:rPr sz="2400" spc="-5" dirty="0"/>
              <a:t>+O</a:t>
            </a:r>
            <a:r>
              <a:rPr sz="2400" spc="-7" baseline="-21000" dirty="0"/>
              <a:t>2	</a:t>
            </a:r>
            <a:r>
              <a:rPr sz="2400" dirty="0"/>
              <a:t>4</a:t>
            </a:r>
            <a:r>
              <a:rPr sz="2400" spc="-5" dirty="0">
                <a:latin typeface="黑体"/>
                <a:cs typeface="黑体"/>
              </a:rPr>
              <a:t>细胞色素</a:t>
            </a:r>
            <a:r>
              <a:rPr sz="2400" dirty="0"/>
              <a:t>c(Fe</a:t>
            </a:r>
            <a:r>
              <a:rPr sz="2400" baseline="24000" dirty="0"/>
              <a:t>2+</a:t>
            </a:r>
            <a:r>
              <a:rPr sz="2400" dirty="0"/>
              <a:t>)</a:t>
            </a:r>
            <a:r>
              <a:rPr sz="2400" spc="-40" dirty="0"/>
              <a:t> </a:t>
            </a:r>
            <a:r>
              <a:rPr sz="2400" dirty="0"/>
              <a:t>+</a:t>
            </a:r>
            <a:r>
              <a:rPr sz="2400" spc="-30" dirty="0"/>
              <a:t> </a:t>
            </a:r>
            <a:r>
              <a:rPr sz="2400" spc="-5" dirty="0"/>
              <a:t>2H</a:t>
            </a:r>
            <a:r>
              <a:rPr sz="2400" spc="-7" baseline="-21000" dirty="0"/>
              <a:t>2</a:t>
            </a:r>
            <a:r>
              <a:rPr sz="2400" spc="-5" dirty="0"/>
              <a:t>O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2761" y="635508"/>
            <a:ext cx="682625" cy="114300"/>
          </a:xfrm>
          <a:custGeom>
            <a:avLst/>
            <a:gdLst/>
            <a:ahLst/>
            <a:cxnLst/>
            <a:rect l="l" t="t" r="r" b="b"/>
            <a:pathLst>
              <a:path w="682625" h="114300">
                <a:moveTo>
                  <a:pt x="568325" y="0"/>
                </a:moveTo>
                <a:lnTo>
                  <a:pt x="568325" y="114300"/>
                </a:lnTo>
                <a:lnTo>
                  <a:pt x="644525" y="76200"/>
                </a:lnTo>
                <a:lnTo>
                  <a:pt x="587375" y="76200"/>
                </a:lnTo>
                <a:lnTo>
                  <a:pt x="587375" y="38100"/>
                </a:lnTo>
                <a:lnTo>
                  <a:pt x="644525" y="38100"/>
                </a:lnTo>
                <a:lnTo>
                  <a:pt x="568325" y="0"/>
                </a:lnTo>
                <a:close/>
              </a:path>
              <a:path w="682625" h="114300">
                <a:moveTo>
                  <a:pt x="56832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68325" y="76200"/>
                </a:lnTo>
                <a:lnTo>
                  <a:pt x="568325" y="38100"/>
                </a:lnTo>
                <a:close/>
              </a:path>
              <a:path w="682625" h="114300">
                <a:moveTo>
                  <a:pt x="644525" y="38100"/>
                </a:moveTo>
                <a:lnTo>
                  <a:pt x="587375" y="38100"/>
                </a:lnTo>
                <a:lnTo>
                  <a:pt x="587375" y="76200"/>
                </a:lnTo>
                <a:lnTo>
                  <a:pt x="644525" y="76200"/>
                </a:lnTo>
                <a:lnTo>
                  <a:pt x="682625" y="57150"/>
                </a:lnTo>
                <a:lnTo>
                  <a:pt x="644525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172200"/>
            <a:ext cx="2133600" cy="518159"/>
          </a:xfrm>
          <a:custGeom>
            <a:avLst/>
            <a:gdLst/>
            <a:ahLst/>
            <a:cxnLst/>
            <a:rect l="l" t="t" r="r" b="b"/>
            <a:pathLst>
              <a:path w="2133600" h="518159">
                <a:moveTo>
                  <a:pt x="0" y="518159"/>
                </a:moveTo>
                <a:lnTo>
                  <a:pt x="2133600" y="518159"/>
                </a:lnTo>
                <a:lnTo>
                  <a:pt x="2133600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DE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6202172"/>
            <a:ext cx="189483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黑体"/>
                <a:cs typeface="黑体"/>
              </a:rPr>
              <a:t>复合</a:t>
            </a:r>
            <a:r>
              <a:rPr sz="1400" b="1" spc="-5" dirty="0">
                <a:latin typeface="黑体"/>
                <a:cs typeface="黑体"/>
              </a:rPr>
              <a:t>物</a:t>
            </a:r>
            <a:r>
              <a:rPr sz="1400" b="1" spc="-10" dirty="0">
                <a:latin typeface="黑体"/>
                <a:cs typeface="黑体"/>
              </a:rPr>
              <a:t>Ⅰ：</a:t>
            </a:r>
            <a:r>
              <a:rPr sz="1400" b="1" spc="-10" dirty="0">
                <a:solidFill>
                  <a:srgbClr val="009900"/>
                </a:solidFill>
                <a:latin typeface="Times New Roman" panose="02020503050405090304"/>
                <a:cs typeface="Times New Roman" panose="02020503050405090304"/>
              </a:rPr>
              <a:t>NADH-</a:t>
            </a:r>
            <a:r>
              <a:rPr sz="1400" b="1" spc="5" dirty="0">
                <a:solidFill>
                  <a:srgbClr val="CC0000"/>
                </a:solidFill>
                <a:latin typeface="黑体"/>
                <a:cs typeface="黑体"/>
              </a:rPr>
              <a:t>辅酶</a:t>
            </a:r>
            <a:endParaRPr sz="14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CC0000"/>
                </a:solidFill>
                <a:latin typeface="Times New Roman" panose="02020503050405090304"/>
                <a:cs typeface="Times New Roman" panose="02020503050405090304"/>
              </a:rPr>
              <a:t>Q</a:t>
            </a:r>
            <a:r>
              <a:rPr sz="1400" b="1" spc="5" dirty="0">
                <a:solidFill>
                  <a:srgbClr val="0000FF"/>
                </a:solidFill>
                <a:latin typeface="黑体"/>
                <a:cs typeface="黑体"/>
              </a:rPr>
              <a:t>还原</a:t>
            </a:r>
            <a:r>
              <a:rPr sz="1400" b="1" spc="-5" dirty="0">
                <a:solidFill>
                  <a:srgbClr val="0000FF"/>
                </a:solidFill>
                <a:latin typeface="黑体"/>
                <a:cs typeface="黑体"/>
              </a:rPr>
              <a:t>酶</a:t>
            </a:r>
            <a:r>
              <a:rPr sz="1400" b="1" spc="-10" dirty="0">
                <a:solidFill>
                  <a:srgbClr val="0000FF"/>
                </a:solidFill>
                <a:latin typeface="黑体"/>
                <a:cs typeface="黑体"/>
              </a:rPr>
              <a:t>（</a:t>
            </a:r>
            <a:r>
              <a:rPr sz="1400" b="1" spc="-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FMN</a:t>
            </a:r>
            <a:r>
              <a:rPr sz="1400" b="1" spc="5" dirty="0">
                <a:solidFill>
                  <a:srgbClr val="0000FF"/>
                </a:solidFill>
                <a:latin typeface="黑体"/>
                <a:cs typeface="黑体"/>
              </a:rPr>
              <a:t>、</a:t>
            </a:r>
            <a:r>
              <a:rPr sz="1400" b="1" spc="-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Fe-S</a:t>
            </a:r>
            <a:r>
              <a:rPr sz="1400" b="1" spc="-10" dirty="0">
                <a:solidFill>
                  <a:srgbClr val="0000FF"/>
                </a:solidFill>
                <a:latin typeface="黑体"/>
                <a:cs typeface="黑体"/>
              </a:rPr>
              <a:t>)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4600" y="1143000"/>
            <a:ext cx="1981200" cy="838200"/>
          </a:xfrm>
          <a:custGeom>
            <a:avLst/>
            <a:gdLst/>
            <a:ahLst/>
            <a:cxnLst/>
            <a:rect l="l" t="t" r="r" b="b"/>
            <a:pathLst>
              <a:path w="1981200" h="838200">
                <a:moveTo>
                  <a:pt x="0" y="838200"/>
                </a:moveTo>
                <a:lnTo>
                  <a:pt x="1981200" y="838200"/>
                </a:lnTo>
                <a:lnTo>
                  <a:pt x="1981200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solidFill>
            <a:srgbClr val="FDE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14600" y="1143000"/>
            <a:ext cx="1981200" cy="279400"/>
          </a:xfrm>
          <a:prstGeom prst="rect">
            <a:avLst/>
          </a:prstGeom>
          <a:solidFill>
            <a:srgbClr val="FDE4FF"/>
          </a:solidFill>
        </p:spPr>
        <p:txBody>
          <a:bodyPr vert="horz" wrap="square" lIns="0" tIns="508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00"/>
              </a:spcBef>
            </a:pPr>
            <a:r>
              <a:rPr sz="1400" b="1" spc="-5" dirty="0">
                <a:latin typeface="黑体"/>
                <a:cs typeface="黑体"/>
              </a:rPr>
              <a:t>复合</a:t>
            </a:r>
            <a:r>
              <a:rPr sz="1400" b="1" spc="-10" dirty="0">
                <a:latin typeface="黑体"/>
                <a:cs typeface="黑体"/>
              </a:rPr>
              <a:t>物Ⅲ：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3594" y="1491741"/>
            <a:ext cx="12941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5" dirty="0">
                <a:solidFill>
                  <a:srgbClr val="CC0000"/>
                </a:solidFill>
                <a:latin typeface="黑体"/>
                <a:cs typeface="黑体"/>
              </a:rPr>
              <a:t>辅酶</a:t>
            </a:r>
            <a:r>
              <a:rPr sz="1400" b="1" spc="-10" dirty="0">
                <a:solidFill>
                  <a:srgbClr val="CC0000"/>
                </a:solidFill>
                <a:latin typeface="Times New Roman" panose="02020503050405090304"/>
                <a:cs typeface="Times New Roman" panose="02020503050405090304"/>
              </a:rPr>
              <a:t>Q-</a:t>
            </a:r>
            <a:r>
              <a:rPr sz="1400" b="1" spc="-5" dirty="0">
                <a:solidFill>
                  <a:srgbClr val="009900"/>
                </a:solidFill>
                <a:latin typeface="黑体"/>
                <a:cs typeface="黑体"/>
              </a:rPr>
              <a:t>细胞</a:t>
            </a:r>
            <a:r>
              <a:rPr sz="1400" b="1" spc="-20" dirty="0">
                <a:solidFill>
                  <a:srgbClr val="009900"/>
                </a:solidFill>
                <a:latin typeface="黑体"/>
                <a:cs typeface="黑体"/>
              </a:rPr>
              <a:t>色</a:t>
            </a:r>
            <a:r>
              <a:rPr sz="1400" b="1" spc="-5" dirty="0">
                <a:solidFill>
                  <a:srgbClr val="009900"/>
                </a:solidFill>
                <a:latin typeface="黑体"/>
                <a:cs typeface="黑体"/>
              </a:rPr>
              <a:t>素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3594" y="1705101"/>
            <a:ext cx="13798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20" dirty="0">
                <a:solidFill>
                  <a:srgbClr val="0000FF"/>
                </a:solidFill>
                <a:latin typeface="黑体"/>
                <a:cs typeface="黑体"/>
              </a:rPr>
              <a:t>酶</a:t>
            </a:r>
            <a:r>
              <a:rPr sz="1400" b="1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v</a:t>
            </a:r>
            <a:r>
              <a:rPr sz="1400" b="1" spc="27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" dirty="0">
                <a:solidFill>
                  <a:srgbClr val="3333FF"/>
                </a:solidFill>
                <a:latin typeface="黑体"/>
                <a:cs typeface="黑体"/>
              </a:rPr>
              <a:t>(</a:t>
            </a:r>
            <a:r>
              <a:rPr sz="1400" b="1" spc="5" dirty="0">
                <a:solidFill>
                  <a:srgbClr val="3333FF"/>
                </a:solidFill>
                <a:latin typeface="黑体"/>
                <a:cs typeface="黑体"/>
              </a:rPr>
              <a:t>铁</a:t>
            </a:r>
            <a:r>
              <a:rPr sz="1400" b="1" spc="-5" dirty="0">
                <a:solidFill>
                  <a:srgbClr val="3333FF"/>
                </a:solidFill>
                <a:latin typeface="黑体"/>
                <a:cs typeface="黑体"/>
              </a:rPr>
              <a:t>卟啉、</a:t>
            </a:r>
            <a:r>
              <a:rPr sz="1400" b="1" spc="-75" dirty="0">
                <a:solidFill>
                  <a:srgbClr val="3333FF"/>
                </a:solidFill>
                <a:latin typeface="黑体"/>
                <a:cs typeface="黑体"/>
              </a:rPr>
              <a:t> </a:t>
            </a:r>
            <a:r>
              <a:rPr sz="1400" b="1" spc="-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</a:t>
            </a:r>
            <a:endParaRPr sz="1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4642" y="1523857"/>
            <a:ext cx="501650" cy="410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400" b="1" spc="-2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1400" b="1" spc="5" dirty="0">
                <a:solidFill>
                  <a:srgbClr val="0000FF"/>
                </a:solidFill>
                <a:latin typeface="黑体"/>
                <a:cs typeface="黑体"/>
              </a:rPr>
              <a:t>还原</a:t>
            </a:r>
            <a:endParaRPr sz="1400">
              <a:latin typeface="黑体"/>
              <a:cs typeface="黑体"/>
            </a:endParaRPr>
          </a:p>
          <a:p>
            <a:pPr marL="85090">
              <a:lnSpc>
                <a:spcPct val="100000"/>
              </a:lnSpc>
            </a:pPr>
            <a:r>
              <a:rPr sz="1400" b="1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e-</a:t>
            </a:r>
            <a:r>
              <a:rPr sz="14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S</a:t>
            </a:r>
            <a:r>
              <a:rPr sz="1400" b="1" spc="-5" dirty="0">
                <a:solidFill>
                  <a:srgbClr val="0000FF"/>
                </a:solidFill>
                <a:latin typeface="黑体"/>
                <a:cs typeface="黑体"/>
              </a:rPr>
              <a:t>）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1400" y="4038600"/>
            <a:ext cx="1981200" cy="731520"/>
          </a:xfrm>
          <a:prstGeom prst="rect">
            <a:avLst/>
          </a:prstGeom>
          <a:solidFill>
            <a:srgbClr val="FDE4FF"/>
          </a:solidFill>
        </p:spPr>
        <p:txBody>
          <a:bodyPr vert="horz" wrap="square" lIns="0" tIns="51435" rIns="0" bIns="0" rtlCol="0">
            <a:spAutoFit/>
          </a:bodyPr>
          <a:lstStyle/>
          <a:p>
            <a:pPr marL="92075">
              <a:lnSpc>
                <a:spcPts val="1645"/>
              </a:lnSpc>
              <a:spcBef>
                <a:spcPts val="405"/>
              </a:spcBef>
            </a:pPr>
            <a:r>
              <a:rPr sz="1400" b="1" spc="-5" dirty="0">
                <a:latin typeface="黑体"/>
                <a:cs typeface="黑体"/>
              </a:rPr>
              <a:t>复合物</a:t>
            </a:r>
            <a:r>
              <a:rPr sz="1400" b="1" spc="-10" dirty="0">
                <a:latin typeface="黑体"/>
                <a:cs typeface="黑体"/>
              </a:rPr>
              <a:t>Ⅱ：</a:t>
            </a:r>
            <a:endParaRPr sz="1400">
              <a:latin typeface="黑体"/>
              <a:cs typeface="黑体"/>
            </a:endParaRPr>
          </a:p>
          <a:p>
            <a:pPr marL="92075" marR="227330">
              <a:lnSpc>
                <a:spcPts val="1680"/>
              </a:lnSpc>
              <a:spcBef>
                <a:spcPts val="20"/>
              </a:spcBef>
            </a:pPr>
            <a:r>
              <a:rPr sz="1400" b="1" spc="5" dirty="0">
                <a:solidFill>
                  <a:srgbClr val="336600"/>
                </a:solidFill>
                <a:latin typeface="黑体"/>
                <a:cs typeface="黑体"/>
              </a:rPr>
              <a:t>琥珀</a:t>
            </a:r>
            <a:r>
              <a:rPr sz="1400" b="1" spc="-5" dirty="0">
                <a:solidFill>
                  <a:srgbClr val="336600"/>
                </a:solidFill>
                <a:latin typeface="黑体"/>
                <a:cs typeface="黑体"/>
              </a:rPr>
              <a:t>酸盐</a:t>
            </a:r>
            <a:r>
              <a:rPr sz="1400" b="1" spc="-15" dirty="0">
                <a:solidFill>
                  <a:srgbClr val="336600"/>
                </a:solidFill>
                <a:latin typeface="黑体"/>
                <a:cs typeface="黑体"/>
              </a:rPr>
              <a:t>-</a:t>
            </a:r>
            <a:r>
              <a:rPr sz="1400" b="1" spc="-5" dirty="0">
                <a:solidFill>
                  <a:srgbClr val="990000"/>
                </a:solidFill>
                <a:latin typeface="黑体"/>
                <a:cs typeface="黑体"/>
              </a:rPr>
              <a:t>辅</a:t>
            </a:r>
            <a:r>
              <a:rPr sz="1400" b="1" spc="-20" dirty="0">
                <a:solidFill>
                  <a:srgbClr val="990000"/>
                </a:solidFill>
                <a:latin typeface="黑体"/>
                <a:cs typeface="黑体"/>
              </a:rPr>
              <a:t>酶</a:t>
            </a:r>
            <a:r>
              <a:rPr sz="1400" b="1" spc="-15" dirty="0">
                <a:solidFill>
                  <a:srgbClr val="990000"/>
                </a:solidFill>
                <a:latin typeface="Times New Roman" panose="02020503050405090304"/>
                <a:cs typeface="Times New Roman" panose="02020503050405090304"/>
              </a:rPr>
              <a:t>Q</a:t>
            </a:r>
            <a:r>
              <a:rPr sz="1400" b="1" spc="-5" dirty="0">
                <a:solidFill>
                  <a:srgbClr val="F51B2F"/>
                </a:solidFill>
                <a:latin typeface="黑体"/>
                <a:cs typeface="黑体"/>
              </a:rPr>
              <a:t>还原 </a:t>
            </a:r>
            <a:r>
              <a:rPr sz="1400" b="1" spc="5" dirty="0">
                <a:solidFill>
                  <a:srgbClr val="F51B2F"/>
                </a:solidFill>
                <a:latin typeface="黑体"/>
                <a:cs typeface="黑体"/>
              </a:rPr>
              <a:t>酶</a:t>
            </a:r>
            <a:r>
              <a:rPr sz="1400" b="1" spc="-30" dirty="0">
                <a:solidFill>
                  <a:srgbClr val="0000FF"/>
                </a:solidFill>
                <a:latin typeface="黑体"/>
                <a:cs typeface="黑体"/>
              </a:rPr>
              <a:t>（</a:t>
            </a:r>
            <a:r>
              <a:rPr sz="1400" b="1" spc="-3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FAD</a:t>
            </a:r>
            <a:r>
              <a:rPr sz="1400" b="1" spc="5" dirty="0">
                <a:solidFill>
                  <a:srgbClr val="0000FF"/>
                </a:solidFill>
                <a:latin typeface="黑体"/>
                <a:cs typeface="黑体"/>
              </a:rPr>
              <a:t>、</a:t>
            </a:r>
            <a:r>
              <a:rPr sz="1400" b="1" spc="-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Fe-S</a:t>
            </a:r>
            <a:r>
              <a:rPr sz="1400" b="1" spc="-10" dirty="0">
                <a:solidFill>
                  <a:srgbClr val="0000FF"/>
                </a:solidFill>
                <a:latin typeface="黑体"/>
                <a:cs typeface="黑体"/>
              </a:rPr>
              <a:t>)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43800" y="3657600"/>
            <a:ext cx="1600200" cy="944880"/>
          </a:xfrm>
          <a:custGeom>
            <a:avLst/>
            <a:gdLst/>
            <a:ahLst/>
            <a:cxnLst/>
            <a:rect l="l" t="t" r="r" b="b"/>
            <a:pathLst>
              <a:path w="1600200" h="944879">
                <a:moveTo>
                  <a:pt x="0" y="944880"/>
                </a:moveTo>
                <a:lnTo>
                  <a:pt x="1600200" y="944880"/>
                </a:lnTo>
                <a:lnTo>
                  <a:pt x="1600200" y="0"/>
                </a:lnTo>
                <a:lnTo>
                  <a:pt x="0" y="0"/>
                </a:lnTo>
                <a:lnTo>
                  <a:pt x="0" y="944880"/>
                </a:lnTo>
                <a:close/>
              </a:path>
            </a:pathLst>
          </a:custGeom>
          <a:solidFill>
            <a:srgbClr val="FDE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623809" y="3599154"/>
            <a:ext cx="1403350" cy="967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400" b="1" spc="-5" dirty="0">
                <a:latin typeface="黑体"/>
                <a:cs typeface="黑体"/>
              </a:rPr>
              <a:t>复合物</a:t>
            </a:r>
            <a:r>
              <a:rPr sz="1400" b="1" spc="-10" dirty="0">
                <a:latin typeface="黑体"/>
                <a:cs typeface="黑体"/>
              </a:rPr>
              <a:t>Ⅳ：</a:t>
            </a:r>
            <a:endParaRPr sz="14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400" b="1" spc="5" dirty="0">
                <a:solidFill>
                  <a:srgbClr val="009900"/>
                </a:solidFill>
                <a:latin typeface="黑体"/>
                <a:cs typeface="黑体"/>
              </a:rPr>
              <a:t>细胞</a:t>
            </a:r>
            <a:r>
              <a:rPr sz="1400" b="1" spc="-5" dirty="0">
                <a:solidFill>
                  <a:srgbClr val="009900"/>
                </a:solidFill>
                <a:latin typeface="黑体"/>
                <a:cs typeface="黑体"/>
              </a:rPr>
              <a:t>色素</a:t>
            </a:r>
            <a:r>
              <a:rPr sz="1400" b="1" spc="-2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1400" b="1" spc="-5" dirty="0">
                <a:solidFill>
                  <a:srgbClr val="3333FF"/>
                </a:solidFill>
                <a:latin typeface="黑体"/>
                <a:cs typeface="黑体"/>
              </a:rPr>
              <a:t>氧化酶</a:t>
            </a:r>
            <a:endParaRPr sz="14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10" dirty="0">
                <a:solidFill>
                  <a:srgbClr val="3333FF"/>
                </a:solidFill>
                <a:latin typeface="黑体"/>
                <a:cs typeface="黑体"/>
              </a:rPr>
              <a:t>(</a:t>
            </a:r>
            <a:r>
              <a:rPr sz="1400" b="1" spc="5" dirty="0">
                <a:solidFill>
                  <a:srgbClr val="3333FF"/>
                </a:solidFill>
                <a:latin typeface="黑体"/>
                <a:cs typeface="黑体"/>
              </a:rPr>
              <a:t>铁</a:t>
            </a:r>
            <a:r>
              <a:rPr sz="1400" b="1" spc="-5" dirty="0">
                <a:solidFill>
                  <a:srgbClr val="3333FF"/>
                </a:solidFill>
                <a:latin typeface="黑体"/>
                <a:cs typeface="黑体"/>
              </a:rPr>
              <a:t>卟</a:t>
            </a:r>
            <a:r>
              <a:rPr sz="1400" b="1" spc="-20" dirty="0">
                <a:solidFill>
                  <a:srgbClr val="3333FF"/>
                </a:solidFill>
                <a:latin typeface="黑体"/>
                <a:cs typeface="黑体"/>
              </a:rPr>
              <a:t>啉</a:t>
            </a:r>
            <a:r>
              <a:rPr sz="1400" b="1" spc="-10" dirty="0">
                <a:solidFill>
                  <a:srgbClr val="3333FF"/>
                </a:solidFill>
                <a:latin typeface="黑体"/>
                <a:cs typeface="黑体"/>
              </a:rPr>
              <a:t>，</a:t>
            </a:r>
            <a:r>
              <a:rPr sz="1400" b="1" spc="-10" dirty="0">
                <a:solidFill>
                  <a:srgbClr val="3333FF"/>
                </a:solidFill>
                <a:latin typeface="Times New Roman" panose="02020503050405090304"/>
                <a:cs typeface="Times New Roman" panose="02020503050405090304"/>
              </a:rPr>
              <a:t>Cu</a:t>
            </a:r>
            <a:r>
              <a:rPr sz="1400" b="1" spc="-10" dirty="0">
                <a:solidFill>
                  <a:srgbClr val="3333FF"/>
                </a:solidFill>
                <a:latin typeface="黑体"/>
                <a:cs typeface="黑体"/>
              </a:rPr>
              <a:t>）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38300" y="4640579"/>
            <a:ext cx="304800" cy="1440180"/>
          </a:xfrm>
          <a:custGeom>
            <a:avLst/>
            <a:gdLst/>
            <a:ahLst/>
            <a:cxnLst/>
            <a:rect l="l" t="t" r="r" b="b"/>
            <a:pathLst>
              <a:path w="304800" h="1440179">
                <a:moveTo>
                  <a:pt x="152400" y="182880"/>
                </a:moveTo>
                <a:lnTo>
                  <a:pt x="121919" y="207264"/>
                </a:lnTo>
                <a:lnTo>
                  <a:pt x="121919" y="1440053"/>
                </a:lnTo>
                <a:lnTo>
                  <a:pt x="182880" y="1440053"/>
                </a:lnTo>
                <a:lnTo>
                  <a:pt x="182880" y="207264"/>
                </a:lnTo>
                <a:lnTo>
                  <a:pt x="152400" y="182880"/>
                </a:lnTo>
                <a:close/>
              </a:path>
              <a:path w="304800" h="1440179">
                <a:moveTo>
                  <a:pt x="152400" y="0"/>
                </a:moveTo>
                <a:lnTo>
                  <a:pt x="0" y="304800"/>
                </a:lnTo>
                <a:lnTo>
                  <a:pt x="121919" y="207264"/>
                </a:lnTo>
                <a:lnTo>
                  <a:pt x="121919" y="182880"/>
                </a:lnTo>
                <a:lnTo>
                  <a:pt x="243839" y="182880"/>
                </a:lnTo>
                <a:lnTo>
                  <a:pt x="152400" y="0"/>
                </a:lnTo>
                <a:close/>
              </a:path>
              <a:path w="304800" h="1440179">
                <a:moveTo>
                  <a:pt x="243839" y="182880"/>
                </a:moveTo>
                <a:lnTo>
                  <a:pt x="182880" y="182880"/>
                </a:lnTo>
                <a:lnTo>
                  <a:pt x="182880" y="207264"/>
                </a:lnTo>
                <a:lnTo>
                  <a:pt x="304800" y="304800"/>
                </a:lnTo>
                <a:lnTo>
                  <a:pt x="243839" y="182880"/>
                </a:lnTo>
                <a:close/>
              </a:path>
              <a:path w="304800" h="1440179">
                <a:moveTo>
                  <a:pt x="152400" y="182880"/>
                </a:moveTo>
                <a:lnTo>
                  <a:pt x="121919" y="182880"/>
                </a:lnTo>
                <a:lnTo>
                  <a:pt x="121919" y="207264"/>
                </a:lnTo>
                <a:lnTo>
                  <a:pt x="152400" y="182880"/>
                </a:lnTo>
                <a:close/>
              </a:path>
              <a:path w="304800" h="1440179">
                <a:moveTo>
                  <a:pt x="182880" y="182880"/>
                </a:moveTo>
                <a:lnTo>
                  <a:pt x="152400" y="182880"/>
                </a:lnTo>
                <a:lnTo>
                  <a:pt x="182880" y="207264"/>
                </a:lnTo>
                <a:lnTo>
                  <a:pt x="182880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83336" y="4378452"/>
            <a:ext cx="805180" cy="5232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sz="2800" b="1" spc="20" dirty="0">
                <a:solidFill>
                  <a:srgbClr val="FFFF00"/>
                </a:solidFill>
                <a:latin typeface="Cambria Math"/>
                <a:cs typeface="Cambria Math"/>
              </a:rPr>
              <a:t>4H</a:t>
            </a:r>
            <a:r>
              <a:rPr sz="2775" b="1" spc="30" baseline="26000" dirty="0">
                <a:solidFill>
                  <a:srgbClr val="FFFF00"/>
                </a:solidFill>
                <a:latin typeface="Cambria Math"/>
                <a:cs typeface="Cambria Math"/>
              </a:rPr>
              <a:t>+</a:t>
            </a:r>
            <a:endParaRPr sz="2775" baseline="26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79264" y="1684020"/>
            <a:ext cx="304800" cy="1440180"/>
          </a:xfrm>
          <a:custGeom>
            <a:avLst/>
            <a:gdLst/>
            <a:ahLst/>
            <a:cxnLst/>
            <a:rect l="l" t="t" r="r" b="b"/>
            <a:pathLst>
              <a:path w="304800" h="1440180">
                <a:moveTo>
                  <a:pt x="152400" y="182879"/>
                </a:moveTo>
                <a:lnTo>
                  <a:pt x="121920" y="207264"/>
                </a:lnTo>
                <a:lnTo>
                  <a:pt x="121920" y="1440052"/>
                </a:lnTo>
                <a:lnTo>
                  <a:pt x="182880" y="1440052"/>
                </a:lnTo>
                <a:lnTo>
                  <a:pt x="182880" y="207264"/>
                </a:lnTo>
                <a:lnTo>
                  <a:pt x="152400" y="182879"/>
                </a:lnTo>
                <a:close/>
              </a:path>
              <a:path w="304800" h="1440180">
                <a:moveTo>
                  <a:pt x="152400" y="0"/>
                </a:moveTo>
                <a:lnTo>
                  <a:pt x="0" y="304800"/>
                </a:lnTo>
                <a:lnTo>
                  <a:pt x="121919" y="207264"/>
                </a:lnTo>
                <a:lnTo>
                  <a:pt x="121920" y="182879"/>
                </a:lnTo>
                <a:lnTo>
                  <a:pt x="243839" y="182879"/>
                </a:lnTo>
                <a:lnTo>
                  <a:pt x="152400" y="0"/>
                </a:lnTo>
                <a:close/>
              </a:path>
              <a:path w="304800" h="1440180">
                <a:moveTo>
                  <a:pt x="243839" y="182879"/>
                </a:moveTo>
                <a:lnTo>
                  <a:pt x="182880" y="182879"/>
                </a:lnTo>
                <a:lnTo>
                  <a:pt x="182880" y="207264"/>
                </a:lnTo>
                <a:lnTo>
                  <a:pt x="304800" y="304800"/>
                </a:lnTo>
                <a:lnTo>
                  <a:pt x="243839" y="182879"/>
                </a:lnTo>
                <a:close/>
              </a:path>
              <a:path w="304800" h="1440180">
                <a:moveTo>
                  <a:pt x="152400" y="182879"/>
                </a:moveTo>
                <a:lnTo>
                  <a:pt x="121920" y="182879"/>
                </a:lnTo>
                <a:lnTo>
                  <a:pt x="121920" y="207264"/>
                </a:lnTo>
                <a:lnTo>
                  <a:pt x="152400" y="182879"/>
                </a:lnTo>
                <a:close/>
              </a:path>
              <a:path w="304800" h="1440180">
                <a:moveTo>
                  <a:pt x="182880" y="182879"/>
                </a:moveTo>
                <a:lnTo>
                  <a:pt x="152400" y="182879"/>
                </a:lnTo>
                <a:lnTo>
                  <a:pt x="182880" y="207264"/>
                </a:lnTo>
                <a:lnTo>
                  <a:pt x="182880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24300" y="1421891"/>
            <a:ext cx="805180" cy="524510"/>
          </a:xfrm>
          <a:custGeom>
            <a:avLst/>
            <a:gdLst/>
            <a:ahLst/>
            <a:cxnLst/>
            <a:rect l="l" t="t" r="r" b="b"/>
            <a:pathLst>
              <a:path w="805179" h="524510">
                <a:moveTo>
                  <a:pt x="0" y="524255"/>
                </a:moveTo>
                <a:lnTo>
                  <a:pt x="804672" y="524255"/>
                </a:lnTo>
                <a:lnTo>
                  <a:pt x="804672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003294" y="1446656"/>
            <a:ext cx="462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10" dirty="0">
                <a:solidFill>
                  <a:srgbClr val="FFFF00"/>
                </a:solidFill>
                <a:latin typeface="Cambria Math"/>
                <a:cs typeface="Cambria Math"/>
              </a:rPr>
              <a:t>4H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1858" y="1457325"/>
            <a:ext cx="2774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850" b="1" spc="40" dirty="0">
                <a:solidFill>
                  <a:srgbClr val="FFFF00"/>
                </a:solidFill>
                <a:latin typeface="Cambria Math"/>
                <a:cs typeface="Cambria Math"/>
              </a:rPr>
              <a:t>+</a:t>
            </a:r>
            <a:endParaRPr sz="18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52259" y="3768852"/>
            <a:ext cx="304800" cy="1440180"/>
          </a:xfrm>
          <a:custGeom>
            <a:avLst/>
            <a:gdLst/>
            <a:ahLst/>
            <a:cxnLst/>
            <a:rect l="l" t="t" r="r" b="b"/>
            <a:pathLst>
              <a:path w="304800" h="1440179">
                <a:moveTo>
                  <a:pt x="152400" y="182880"/>
                </a:moveTo>
                <a:lnTo>
                  <a:pt x="121920" y="207264"/>
                </a:lnTo>
                <a:lnTo>
                  <a:pt x="121920" y="1440053"/>
                </a:lnTo>
                <a:lnTo>
                  <a:pt x="182880" y="1440053"/>
                </a:lnTo>
                <a:lnTo>
                  <a:pt x="182880" y="207264"/>
                </a:lnTo>
                <a:lnTo>
                  <a:pt x="152400" y="182880"/>
                </a:lnTo>
                <a:close/>
              </a:path>
              <a:path w="304800" h="1440179">
                <a:moveTo>
                  <a:pt x="152400" y="0"/>
                </a:moveTo>
                <a:lnTo>
                  <a:pt x="0" y="304800"/>
                </a:lnTo>
                <a:lnTo>
                  <a:pt x="121919" y="207264"/>
                </a:lnTo>
                <a:lnTo>
                  <a:pt x="121920" y="182880"/>
                </a:lnTo>
                <a:lnTo>
                  <a:pt x="243840" y="182880"/>
                </a:lnTo>
                <a:lnTo>
                  <a:pt x="152400" y="0"/>
                </a:lnTo>
                <a:close/>
              </a:path>
              <a:path w="304800" h="1440179">
                <a:moveTo>
                  <a:pt x="243840" y="182880"/>
                </a:moveTo>
                <a:lnTo>
                  <a:pt x="182880" y="182880"/>
                </a:lnTo>
                <a:lnTo>
                  <a:pt x="182880" y="207264"/>
                </a:lnTo>
                <a:lnTo>
                  <a:pt x="304800" y="304800"/>
                </a:lnTo>
                <a:lnTo>
                  <a:pt x="243840" y="182880"/>
                </a:lnTo>
                <a:close/>
              </a:path>
              <a:path w="304800" h="1440179">
                <a:moveTo>
                  <a:pt x="152400" y="182880"/>
                </a:moveTo>
                <a:lnTo>
                  <a:pt x="121920" y="182880"/>
                </a:lnTo>
                <a:lnTo>
                  <a:pt x="121920" y="207264"/>
                </a:lnTo>
                <a:lnTo>
                  <a:pt x="152400" y="182880"/>
                </a:lnTo>
                <a:close/>
              </a:path>
              <a:path w="304800" h="1440179">
                <a:moveTo>
                  <a:pt x="182880" y="182880"/>
                </a:moveTo>
                <a:lnTo>
                  <a:pt x="152400" y="182880"/>
                </a:lnTo>
                <a:lnTo>
                  <a:pt x="182880" y="207264"/>
                </a:lnTo>
                <a:lnTo>
                  <a:pt x="182880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795771" y="3506723"/>
            <a:ext cx="805180" cy="5232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90"/>
              </a:spcBef>
            </a:pPr>
            <a:r>
              <a:rPr sz="2800" b="1" spc="20" dirty="0">
                <a:solidFill>
                  <a:srgbClr val="FFFF00"/>
                </a:solidFill>
                <a:latin typeface="Cambria Math"/>
                <a:cs typeface="Cambria Math"/>
              </a:rPr>
              <a:t>2H</a:t>
            </a:r>
            <a:r>
              <a:rPr sz="2775" b="1" spc="30" baseline="26000" dirty="0">
                <a:solidFill>
                  <a:srgbClr val="FFFF00"/>
                </a:solidFill>
                <a:latin typeface="Cambria Math"/>
                <a:cs typeface="Cambria Math"/>
              </a:rPr>
              <a:t>+</a:t>
            </a:r>
            <a:endParaRPr sz="2775" baseline="26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85800"/>
            <a:ext cx="8382000" cy="532942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42987" y="1243964"/>
            <a:ext cx="7439025" cy="1872614"/>
          </a:xfrm>
          <a:custGeom>
            <a:avLst/>
            <a:gdLst/>
            <a:ahLst/>
            <a:cxnLst/>
            <a:rect l="l" t="t" r="r" b="b"/>
            <a:pathLst>
              <a:path w="7439025" h="1872614">
                <a:moveTo>
                  <a:pt x="7308511" y="1590167"/>
                </a:moveTo>
                <a:lnTo>
                  <a:pt x="7086841" y="1590167"/>
                </a:lnTo>
                <a:lnTo>
                  <a:pt x="7090397" y="1730375"/>
                </a:lnTo>
                <a:lnTo>
                  <a:pt x="7020335" y="1732191"/>
                </a:lnTo>
                <a:lnTo>
                  <a:pt x="7023976" y="1872361"/>
                </a:lnTo>
                <a:lnTo>
                  <a:pt x="7439012" y="1651254"/>
                </a:lnTo>
                <a:lnTo>
                  <a:pt x="7308511" y="1590167"/>
                </a:lnTo>
                <a:close/>
              </a:path>
              <a:path w="7439025" h="1872614">
                <a:moveTo>
                  <a:pt x="95224" y="0"/>
                </a:moveTo>
                <a:lnTo>
                  <a:pt x="0" y="102870"/>
                </a:lnTo>
                <a:lnTo>
                  <a:pt x="262369" y="344932"/>
                </a:lnTo>
                <a:lnTo>
                  <a:pt x="394576" y="464565"/>
                </a:lnTo>
                <a:lnTo>
                  <a:pt x="460997" y="523875"/>
                </a:lnTo>
                <a:lnTo>
                  <a:pt x="527545" y="582549"/>
                </a:lnTo>
                <a:lnTo>
                  <a:pt x="594474" y="640588"/>
                </a:lnTo>
                <a:lnTo>
                  <a:pt x="661657" y="697864"/>
                </a:lnTo>
                <a:lnTo>
                  <a:pt x="729221" y="754380"/>
                </a:lnTo>
                <a:lnTo>
                  <a:pt x="797166" y="810006"/>
                </a:lnTo>
                <a:lnTo>
                  <a:pt x="865365" y="864743"/>
                </a:lnTo>
                <a:lnTo>
                  <a:pt x="934072" y="918337"/>
                </a:lnTo>
                <a:lnTo>
                  <a:pt x="1003160" y="970788"/>
                </a:lnTo>
                <a:lnTo>
                  <a:pt x="1347965" y="1223899"/>
                </a:lnTo>
                <a:lnTo>
                  <a:pt x="1417180" y="1273937"/>
                </a:lnTo>
                <a:lnTo>
                  <a:pt x="1486903" y="1323467"/>
                </a:lnTo>
                <a:lnTo>
                  <a:pt x="1557134" y="1371981"/>
                </a:lnTo>
                <a:lnTo>
                  <a:pt x="1628000" y="1419225"/>
                </a:lnTo>
                <a:lnTo>
                  <a:pt x="1699755" y="1464945"/>
                </a:lnTo>
                <a:lnTo>
                  <a:pt x="1772399" y="1508887"/>
                </a:lnTo>
                <a:lnTo>
                  <a:pt x="1809610" y="1530223"/>
                </a:lnTo>
                <a:lnTo>
                  <a:pt x="1846694" y="1550924"/>
                </a:lnTo>
                <a:lnTo>
                  <a:pt x="1884032" y="1570989"/>
                </a:lnTo>
                <a:lnTo>
                  <a:pt x="1921751" y="1590421"/>
                </a:lnTo>
                <a:lnTo>
                  <a:pt x="1959851" y="1609089"/>
                </a:lnTo>
                <a:lnTo>
                  <a:pt x="1997951" y="1627124"/>
                </a:lnTo>
                <a:lnTo>
                  <a:pt x="2036813" y="1644396"/>
                </a:lnTo>
                <a:lnTo>
                  <a:pt x="2075929" y="1660906"/>
                </a:lnTo>
                <a:lnTo>
                  <a:pt x="2115299" y="1676527"/>
                </a:lnTo>
                <a:lnTo>
                  <a:pt x="2155304" y="1691259"/>
                </a:lnTo>
                <a:lnTo>
                  <a:pt x="2195436" y="1705102"/>
                </a:lnTo>
                <a:lnTo>
                  <a:pt x="2236330" y="1718056"/>
                </a:lnTo>
                <a:lnTo>
                  <a:pt x="2275954" y="1729867"/>
                </a:lnTo>
                <a:lnTo>
                  <a:pt x="2313292" y="1740408"/>
                </a:lnTo>
                <a:lnTo>
                  <a:pt x="2383904" y="1758950"/>
                </a:lnTo>
                <a:lnTo>
                  <a:pt x="2450960" y="1773936"/>
                </a:lnTo>
                <a:lnTo>
                  <a:pt x="2514968" y="1785747"/>
                </a:lnTo>
                <a:lnTo>
                  <a:pt x="2578341" y="1794637"/>
                </a:lnTo>
                <a:lnTo>
                  <a:pt x="2641714" y="1800860"/>
                </a:lnTo>
                <a:lnTo>
                  <a:pt x="2706865" y="1804924"/>
                </a:lnTo>
                <a:lnTo>
                  <a:pt x="2774937" y="1806956"/>
                </a:lnTo>
                <a:lnTo>
                  <a:pt x="2847708" y="1807464"/>
                </a:lnTo>
                <a:lnTo>
                  <a:pt x="2926956" y="1806829"/>
                </a:lnTo>
                <a:lnTo>
                  <a:pt x="3513061" y="1797685"/>
                </a:lnTo>
                <a:lnTo>
                  <a:pt x="3629012" y="1797431"/>
                </a:lnTo>
                <a:lnTo>
                  <a:pt x="7020335" y="1732191"/>
                </a:lnTo>
                <a:lnTo>
                  <a:pt x="7018648" y="1667256"/>
                </a:lnTo>
                <a:lnTo>
                  <a:pt x="2848089" y="1667256"/>
                </a:lnTo>
                <a:lnTo>
                  <a:pt x="2778112" y="1666748"/>
                </a:lnTo>
                <a:lnTo>
                  <a:pt x="2713977" y="1664843"/>
                </a:lnTo>
                <a:lnTo>
                  <a:pt x="2654033" y="1661287"/>
                </a:lnTo>
                <a:lnTo>
                  <a:pt x="2596375" y="1655699"/>
                </a:lnTo>
                <a:lnTo>
                  <a:pt x="2539098" y="1647698"/>
                </a:lnTo>
                <a:lnTo>
                  <a:pt x="2480297" y="1636776"/>
                </a:lnTo>
                <a:lnTo>
                  <a:pt x="2418575" y="1623060"/>
                </a:lnTo>
                <a:lnTo>
                  <a:pt x="2351519" y="1605534"/>
                </a:lnTo>
                <a:lnTo>
                  <a:pt x="2278494" y="1584452"/>
                </a:lnTo>
                <a:lnTo>
                  <a:pt x="2241156" y="1572640"/>
                </a:lnTo>
                <a:lnTo>
                  <a:pt x="2203818" y="1559814"/>
                </a:lnTo>
                <a:lnTo>
                  <a:pt x="2166861" y="1546225"/>
                </a:lnTo>
                <a:lnTo>
                  <a:pt x="2130285" y="1531620"/>
                </a:lnTo>
                <a:lnTo>
                  <a:pt x="2093836" y="1516380"/>
                </a:lnTo>
                <a:lnTo>
                  <a:pt x="2057768" y="1500377"/>
                </a:lnTo>
                <a:lnTo>
                  <a:pt x="2021573" y="1483233"/>
                </a:lnTo>
                <a:lnTo>
                  <a:pt x="1985886" y="1465707"/>
                </a:lnTo>
                <a:lnTo>
                  <a:pt x="1950326" y="1447419"/>
                </a:lnTo>
                <a:lnTo>
                  <a:pt x="1914893" y="1428496"/>
                </a:lnTo>
                <a:lnTo>
                  <a:pt x="1879587" y="1408811"/>
                </a:lnTo>
                <a:lnTo>
                  <a:pt x="1844916" y="1388872"/>
                </a:lnTo>
                <a:lnTo>
                  <a:pt x="1775066" y="1346708"/>
                </a:lnTo>
                <a:lnTo>
                  <a:pt x="1705724" y="1302512"/>
                </a:lnTo>
                <a:lnTo>
                  <a:pt x="1636763" y="1256538"/>
                </a:lnTo>
                <a:lnTo>
                  <a:pt x="1567929" y="1209039"/>
                </a:lnTo>
                <a:lnTo>
                  <a:pt x="1499349" y="1160399"/>
                </a:lnTo>
                <a:lnTo>
                  <a:pt x="1087869" y="859155"/>
                </a:lnTo>
                <a:lnTo>
                  <a:pt x="1020305" y="807847"/>
                </a:lnTo>
                <a:lnTo>
                  <a:pt x="952995" y="755269"/>
                </a:lnTo>
                <a:lnTo>
                  <a:pt x="885939" y="701548"/>
                </a:lnTo>
                <a:lnTo>
                  <a:pt x="819137" y="646938"/>
                </a:lnTo>
                <a:lnTo>
                  <a:pt x="752589" y="591185"/>
                </a:lnTo>
                <a:lnTo>
                  <a:pt x="686295" y="534670"/>
                </a:lnTo>
                <a:lnTo>
                  <a:pt x="620255" y="477393"/>
                </a:lnTo>
                <a:lnTo>
                  <a:pt x="488556" y="360680"/>
                </a:lnTo>
                <a:lnTo>
                  <a:pt x="357365" y="241808"/>
                </a:lnTo>
                <a:lnTo>
                  <a:pt x="95224" y="0"/>
                </a:lnTo>
                <a:close/>
              </a:path>
              <a:path w="7439025" h="1872614">
                <a:moveTo>
                  <a:pt x="7086841" y="1590167"/>
                </a:moveTo>
                <a:lnTo>
                  <a:pt x="7016693" y="1591986"/>
                </a:lnTo>
                <a:lnTo>
                  <a:pt x="7020335" y="1732191"/>
                </a:lnTo>
                <a:lnTo>
                  <a:pt x="7090397" y="1730375"/>
                </a:lnTo>
                <a:lnTo>
                  <a:pt x="7086841" y="1590167"/>
                </a:lnTo>
                <a:close/>
              </a:path>
              <a:path w="7439025" h="1872614">
                <a:moveTo>
                  <a:pt x="7016693" y="1591986"/>
                </a:moveTo>
                <a:lnTo>
                  <a:pt x="3629012" y="1657223"/>
                </a:lnTo>
                <a:lnTo>
                  <a:pt x="3549891" y="1657350"/>
                </a:lnTo>
                <a:lnTo>
                  <a:pt x="2848089" y="1667256"/>
                </a:lnTo>
                <a:lnTo>
                  <a:pt x="7018648" y="1667256"/>
                </a:lnTo>
                <a:lnTo>
                  <a:pt x="7016693" y="1591986"/>
                </a:lnTo>
                <a:close/>
              </a:path>
              <a:path w="7439025" h="1872614">
                <a:moveTo>
                  <a:pt x="7013054" y="1451864"/>
                </a:moveTo>
                <a:lnTo>
                  <a:pt x="7016693" y="1591986"/>
                </a:lnTo>
                <a:lnTo>
                  <a:pt x="7086841" y="1590167"/>
                </a:lnTo>
                <a:lnTo>
                  <a:pt x="7308511" y="1590167"/>
                </a:lnTo>
                <a:lnTo>
                  <a:pt x="7013054" y="145186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6452" y="978408"/>
            <a:ext cx="2743200" cy="701040"/>
          </a:xfrm>
          <a:prstGeom prst="rect">
            <a:avLst/>
          </a:prstGeom>
          <a:solidFill>
            <a:srgbClr val="336600"/>
          </a:solidFill>
        </p:spPr>
        <p:txBody>
          <a:bodyPr vert="horz" wrap="square" lIns="0" tIns="34290" rIns="0" bIns="0" rtlCol="0">
            <a:spAutoFit/>
          </a:bodyPr>
          <a:lstStyle/>
          <a:p>
            <a:pPr marL="369570">
              <a:lnSpc>
                <a:spcPct val="100000"/>
              </a:lnSpc>
              <a:spcBef>
                <a:spcPts val="270"/>
              </a:spcBef>
            </a:pPr>
            <a:r>
              <a:rPr sz="4000" spc="-1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4000" spc="-20" dirty="0">
                <a:solidFill>
                  <a:srgbClr val="FFFFFF"/>
                </a:solidFill>
              </a:rPr>
              <a:t>链</a:t>
            </a:r>
            <a:endParaRPr sz="4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17752" y="2699257"/>
            <a:ext cx="6988175" cy="2374900"/>
          </a:xfrm>
          <a:custGeom>
            <a:avLst/>
            <a:gdLst/>
            <a:ahLst/>
            <a:cxnLst/>
            <a:rect l="l" t="t" r="r" b="b"/>
            <a:pathLst>
              <a:path w="6988175" h="2374900">
                <a:moveTo>
                  <a:pt x="5289804" y="292100"/>
                </a:moveTo>
                <a:lnTo>
                  <a:pt x="1732026" y="292100"/>
                </a:lnTo>
                <a:lnTo>
                  <a:pt x="1709547" y="304800"/>
                </a:lnTo>
                <a:lnTo>
                  <a:pt x="1687829" y="317500"/>
                </a:lnTo>
                <a:lnTo>
                  <a:pt x="1666493" y="342900"/>
                </a:lnTo>
                <a:lnTo>
                  <a:pt x="1625853" y="368300"/>
                </a:lnTo>
                <a:lnTo>
                  <a:pt x="1606549" y="381000"/>
                </a:lnTo>
                <a:lnTo>
                  <a:pt x="1587246" y="406400"/>
                </a:lnTo>
                <a:lnTo>
                  <a:pt x="1568449" y="419100"/>
                </a:lnTo>
                <a:lnTo>
                  <a:pt x="1550161" y="431800"/>
                </a:lnTo>
                <a:lnTo>
                  <a:pt x="1531873" y="457200"/>
                </a:lnTo>
                <a:lnTo>
                  <a:pt x="1514221" y="469900"/>
                </a:lnTo>
                <a:lnTo>
                  <a:pt x="1496186" y="495300"/>
                </a:lnTo>
                <a:lnTo>
                  <a:pt x="1478787" y="520700"/>
                </a:lnTo>
                <a:lnTo>
                  <a:pt x="1461008" y="533400"/>
                </a:lnTo>
                <a:lnTo>
                  <a:pt x="1443736" y="558800"/>
                </a:lnTo>
                <a:lnTo>
                  <a:pt x="1425955" y="584200"/>
                </a:lnTo>
                <a:lnTo>
                  <a:pt x="1408303" y="596900"/>
                </a:lnTo>
                <a:lnTo>
                  <a:pt x="1353692" y="673100"/>
                </a:lnTo>
                <a:lnTo>
                  <a:pt x="1315973" y="723900"/>
                </a:lnTo>
                <a:lnTo>
                  <a:pt x="1276349" y="774700"/>
                </a:lnTo>
                <a:lnTo>
                  <a:pt x="1234567" y="825500"/>
                </a:lnTo>
                <a:lnTo>
                  <a:pt x="1190117" y="876300"/>
                </a:lnTo>
                <a:lnTo>
                  <a:pt x="1166748" y="901700"/>
                </a:lnTo>
                <a:lnTo>
                  <a:pt x="1142746" y="939800"/>
                </a:lnTo>
                <a:lnTo>
                  <a:pt x="1117727" y="965200"/>
                </a:lnTo>
                <a:lnTo>
                  <a:pt x="1091565" y="990600"/>
                </a:lnTo>
                <a:lnTo>
                  <a:pt x="1036573" y="1054100"/>
                </a:lnTo>
                <a:lnTo>
                  <a:pt x="1008125" y="1092200"/>
                </a:lnTo>
                <a:lnTo>
                  <a:pt x="978916" y="1130300"/>
                </a:lnTo>
                <a:lnTo>
                  <a:pt x="949324" y="1155700"/>
                </a:lnTo>
                <a:lnTo>
                  <a:pt x="918972" y="1193800"/>
                </a:lnTo>
                <a:lnTo>
                  <a:pt x="856868" y="1270000"/>
                </a:lnTo>
                <a:lnTo>
                  <a:pt x="792479" y="1346200"/>
                </a:lnTo>
                <a:lnTo>
                  <a:pt x="726566" y="1422400"/>
                </a:lnTo>
                <a:lnTo>
                  <a:pt x="658748" y="1498600"/>
                </a:lnTo>
                <a:lnTo>
                  <a:pt x="589406" y="1587500"/>
                </a:lnTo>
                <a:lnTo>
                  <a:pt x="446785" y="1752600"/>
                </a:lnTo>
                <a:lnTo>
                  <a:pt x="373887" y="1841500"/>
                </a:lnTo>
                <a:lnTo>
                  <a:pt x="225806" y="2019300"/>
                </a:lnTo>
                <a:lnTo>
                  <a:pt x="0" y="2286000"/>
                </a:lnTo>
                <a:lnTo>
                  <a:pt x="107695" y="2374900"/>
                </a:lnTo>
                <a:lnTo>
                  <a:pt x="333374" y="2108200"/>
                </a:lnTo>
                <a:lnTo>
                  <a:pt x="407797" y="2019300"/>
                </a:lnTo>
                <a:lnTo>
                  <a:pt x="481456" y="1930400"/>
                </a:lnTo>
                <a:lnTo>
                  <a:pt x="554354" y="1841500"/>
                </a:lnTo>
                <a:lnTo>
                  <a:pt x="696848" y="1676400"/>
                </a:lnTo>
                <a:lnTo>
                  <a:pt x="766064" y="1600200"/>
                </a:lnTo>
                <a:lnTo>
                  <a:pt x="833754" y="1511300"/>
                </a:lnTo>
                <a:lnTo>
                  <a:pt x="899795" y="1435100"/>
                </a:lnTo>
                <a:lnTo>
                  <a:pt x="932053" y="1397000"/>
                </a:lnTo>
                <a:lnTo>
                  <a:pt x="963803" y="1358900"/>
                </a:lnTo>
                <a:lnTo>
                  <a:pt x="995045" y="1320800"/>
                </a:lnTo>
                <a:lnTo>
                  <a:pt x="1025905" y="1282700"/>
                </a:lnTo>
                <a:lnTo>
                  <a:pt x="1056005" y="1257300"/>
                </a:lnTo>
                <a:lnTo>
                  <a:pt x="1085596" y="1219200"/>
                </a:lnTo>
                <a:lnTo>
                  <a:pt x="1114552" y="1181100"/>
                </a:lnTo>
                <a:lnTo>
                  <a:pt x="1197736" y="1092200"/>
                </a:lnTo>
                <a:lnTo>
                  <a:pt x="1224153" y="1054100"/>
                </a:lnTo>
                <a:lnTo>
                  <a:pt x="1249806" y="1028700"/>
                </a:lnTo>
                <a:lnTo>
                  <a:pt x="1274698" y="990600"/>
                </a:lnTo>
                <a:lnTo>
                  <a:pt x="1298574" y="965200"/>
                </a:lnTo>
                <a:lnTo>
                  <a:pt x="1321816" y="939800"/>
                </a:lnTo>
                <a:lnTo>
                  <a:pt x="1344041" y="914400"/>
                </a:lnTo>
                <a:lnTo>
                  <a:pt x="1365758" y="876300"/>
                </a:lnTo>
                <a:lnTo>
                  <a:pt x="1386712" y="850900"/>
                </a:lnTo>
                <a:lnTo>
                  <a:pt x="1406905" y="825500"/>
                </a:lnTo>
                <a:lnTo>
                  <a:pt x="1426717" y="800100"/>
                </a:lnTo>
                <a:lnTo>
                  <a:pt x="1445895" y="774700"/>
                </a:lnTo>
                <a:lnTo>
                  <a:pt x="1464691" y="749300"/>
                </a:lnTo>
                <a:lnTo>
                  <a:pt x="1482724" y="736600"/>
                </a:lnTo>
                <a:lnTo>
                  <a:pt x="1500759" y="711200"/>
                </a:lnTo>
                <a:lnTo>
                  <a:pt x="1535303" y="660400"/>
                </a:lnTo>
                <a:lnTo>
                  <a:pt x="1552193" y="647700"/>
                </a:lnTo>
                <a:lnTo>
                  <a:pt x="1568958" y="622300"/>
                </a:lnTo>
                <a:lnTo>
                  <a:pt x="1585214" y="609600"/>
                </a:lnTo>
                <a:lnTo>
                  <a:pt x="1601850" y="584200"/>
                </a:lnTo>
                <a:lnTo>
                  <a:pt x="1617853" y="571500"/>
                </a:lnTo>
                <a:lnTo>
                  <a:pt x="1634236" y="546100"/>
                </a:lnTo>
                <a:lnTo>
                  <a:pt x="1650364" y="533400"/>
                </a:lnTo>
                <a:lnTo>
                  <a:pt x="1699260" y="495300"/>
                </a:lnTo>
                <a:lnTo>
                  <a:pt x="1716151" y="469900"/>
                </a:lnTo>
                <a:lnTo>
                  <a:pt x="1732914" y="457200"/>
                </a:lnTo>
                <a:lnTo>
                  <a:pt x="1767459" y="431800"/>
                </a:lnTo>
                <a:lnTo>
                  <a:pt x="1785620" y="431800"/>
                </a:lnTo>
                <a:lnTo>
                  <a:pt x="1803908" y="419100"/>
                </a:lnTo>
                <a:lnTo>
                  <a:pt x="1813305" y="406400"/>
                </a:lnTo>
                <a:lnTo>
                  <a:pt x="1823465" y="406400"/>
                </a:lnTo>
                <a:lnTo>
                  <a:pt x="1832610" y="393700"/>
                </a:lnTo>
                <a:lnTo>
                  <a:pt x="1841500" y="393700"/>
                </a:lnTo>
                <a:lnTo>
                  <a:pt x="1849247" y="381000"/>
                </a:lnTo>
                <a:lnTo>
                  <a:pt x="1863725" y="381000"/>
                </a:lnTo>
                <a:lnTo>
                  <a:pt x="1869693" y="368300"/>
                </a:lnTo>
                <a:lnTo>
                  <a:pt x="1880235" y="355600"/>
                </a:lnTo>
                <a:lnTo>
                  <a:pt x="1870710" y="355600"/>
                </a:lnTo>
                <a:lnTo>
                  <a:pt x="1875536" y="342900"/>
                </a:lnTo>
                <a:lnTo>
                  <a:pt x="1887981" y="342900"/>
                </a:lnTo>
                <a:lnTo>
                  <a:pt x="1902333" y="330200"/>
                </a:lnTo>
                <a:lnTo>
                  <a:pt x="3592449" y="330200"/>
                </a:lnTo>
                <a:lnTo>
                  <a:pt x="3752342" y="317500"/>
                </a:lnTo>
                <a:lnTo>
                  <a:pt x="4426331" y="317500"/>
                </a:lnTo>
                <a:lnTo>
                  <a:pt x="5119370" y="304800"/>
                </a:lnTo>
                <a:lnTo>
                  <a:pt x="5289804" y="292100"/>
                </a:lnTo>
                <a:close/>
              </a:path>
              <a:path w="6988175" h="2374900">
                <a:moveTo>
                  <a:pt x="6567332" y="203271"/>
                </a:moveTo>
                <a:lnTo>
                  <a:pt x="6290437" y="419100"/>
                </a:lnTo>
                <a:lnTo>
                  <a:pt x="6741832" y="279400"/>
                </a:lnTo>
                <a:lnTo>
                  <a:pt x="6568440" y="279400"/>
                </a:lnTo>
                <a:lnTo>
                  <a:pt x="6567332" y="203271"/>
                </a:lnTo>
                <a:close/>
              </a:path>
              <a:path w="6988175" h="2374900">
                <a:moveTo>
                  <a:pt x="1879333" y="345687"/>
                </a:moveTo>
                <a:lnTo>
                  <a:pt x="1870710" y="355600"/>
                </a:lnTo>
                <a:lnTo>
                  <a:pt x="1886965" y="355600"/>
                </a:lnTo>
                <a:lnTo>
                  <a:pt x="1879333" y="345687"/>
                </a:lnTo>
                <a:close/>
              </a:path>
              <a:path w="6988175" h="2374900">
                <a:moveTo>
                  <a:pt x="1902333" y="330200"/>
                </a:moveTo>
                <a:lnTo>
                  <a:pt x="1887981" y="342900"/>
                </a:lnTo>
                <a:lnTo>
                  <a:pt x="1881759" y="342900"/>
                </a:lnTo>
                <a:lnTo>
                  <a:pt x="1879333" y="345687"/>
                </a:lnTo>
                <a:lnTo>
                  <a:pt x="1886965" y="355600"/>
                </a:lnTo>
                <a:lnTo>
                  <a:pt x="1889633" y="355600"/>
                </a:lnTo>
                <a:lnTo>
                  <a:pt x="1897126" y="342900"/>
                </a:lnTo>
                <a:lnTo>
                  <a:pt x="1901549" y="334554"/>
                </a:lnTo>
                <a:lnTo>
                  <a:pt x="1902333" y="330200"/>
                </a:lnTo>
                <a:close/>
              </a:path>
              <a:path w="6988175" h="2374900">
                <a:moveTo>
                  <a:pt x="1901549" y="334554"/>
                </a:moveTo>
                <a:lnTo>
                  <a:pt x="1897126" y="342900"/>
                </a:lnTo>
                <a:lnTo>
                  <a:pt x="1889633" y="355600"/>
                </a:lnTo>
                <a:lnTo>
                  <a:pt x="2431034" y="355600"/>
                </a:lnTo>
                <a:lnTo>
                  <a:pt x="2471166" y="342900"/>
                </a:lnTo>
                <a:lnTo>
                  <a:pt x="1900047" y="342900"/>
                </a:lnTo>
                <a:lnTo>
                  <a:pt x="1901549" y="334554"/>
                </a:lnTo>
                <a:close/>
              </a:path>
              <a:path w="6988175" h="2374900">
                <a:moveTo>
                  <a:pt x="1881759" y="342900"/>
                </a:moveTo>
                <a:lnTo>
                  <a:pt x="1877187" y="342900"/>
                </a:lnTo>
                <a:lnTo>
                  <a:pt x="1879333" y="345687"/>
                </a:lnTo>
                <a:lnTo>
                  <a:pt x="1881759" y="342900"/>
                </a:lnTo>
                <a:close/>
              </a:path>
              <a:path w="6988175" h="2374900">
                <a:moveTo>
                  <a:pt x="3010916" y="330200"/>
                </a:moveTo>
                <a:lnTo>
                  <a:pt x="1910588" y="330200"/>
                </a:lnTo>
                <a:lnTo>
                  <a:pt x="1900047" y="342900"/>
                </a:lnTo>
                <a:lnTo>
                  <a:pt x="2946273" y="342900"/>
                </a:lnTo>
                <a:lnTo>
                  <a:pt x="3010916" y="330200"/>
                </a:lnTo>
                <a:close/>
              </a:path>
              <a:path w="6988175" h="2374900">
                <a:moveTo>
                  <a:pt x="1903856" y="330200"/>
                </a:moveTo>
                <a:lnTo>
                  <a:pt x="1902333" y="330200"/>
                </a:lnTo>
                <a:lnTo>
                  <a:pt x="1901549" y="334554"/>
                </a:lnTo>
                <a:lnTo>
                  <a:pt x="1903856" y="330200"/>
                </a:lnTo>
                <a:close/>
              </a:path>
              <a:path w="6988175" h="2374900">
                <a:moveTo>
                  <a:pt x="6160134" y="279400"/>
                </a:moveTo>
                <a:lnTo>
                  <a:pt x="1750440" y="279400"/>
                </a:lnTo>
                <a:lnTo>
                  <a:pt x="1742439" y="292100"/>
                </a:lnTo>
                <a:lnTo>
                  <a:pt x="6087745" y="292100"/>
                </a:lnTo>
                <a:lnTo>
                  <a:pt x="6160134" y="279400"/>
                </a:lnTo>
                <a:close/>
              </a:path>
              <a:path w="6988175" h="2374900">
                <a:moveTo>
                  <a:pt x="6478801" y="139700"/>
                </a:moveTo>
                <a:lnTo>
                  <a:pt x="6158103" y="139700"/>
                </a:lnTo>
                <a:lnTo>
                  <a:pt x="6085458" y="152400"/>
                </a:lnTo>
                <a:lnTo>
                  <a:pt x="5287772" y="152400"/>
                </a:lnTo>
                <a:lnTo>
                  <a:pt x="5117211" y="165100"/>
                </a:lnTo>
                <a:lnTo>
                  <a:pt x="4424172" y="165100"/>
                </a:lnTo>
                <a:lnTo>
                  <a:pt x="4251960" y="177800"/>
                </a:lnTo>
                <a:lnTo>
                  <a:pt x="3749802" y="177800"/>
                </a:lnTo>
                <a:lnTo>
                  <a:pt x="3590036" y="190500"/>
                </a:lnTo>
                <a:lnTo>
                  <a:pt x="3007995" y="190500"/>
                </a:lnTo>
                <a:lnTo>
                  <a:pt x="2943225" y="203200"/>
                </a:lnTo>
                <a:lnTo>
                  <a:pt x="2467229" y="203200"/>
                </a:lnTo>
                <a:lnTo>
                  <a:pt x="2427478" y="215900"/>
                </a:lnTo>
                <a:lnTo>
                  <a:pt x="1821814" y="215900"/>
                </a:lnTo>
                <a:lnTo>
                  <a:pt x="1816989" y="228600"/>
                </a:lnTo>
                <a:lnTo>
                  <a:pt x="1806448" y="228600"/>
                </a:lnTo>
                <a:lnTo>
                  <a:pt x="1803018" y="241300"/>
                </a:lnTo>
                <a:lnTo>
                  <a:pt x="1796288" y="241300"/>
                </a:lnTo>
                <a:lnTo>
                  <a:pt x="1793621" y="254000"/>
                </a:lnTo>
                <a:lnTo>
                  <a:pt x="1787525" y="254000"/>
                </a:lnTo>
                <a:lnTo>
                  <a:pt x="1781810" y="266700"/>
                </a:lnTo>
                <a:lnTo>
                  <a:pt x="1769617" y="266700"/>
                </a:lnTo>
                <a:lnTo>
                  <a:pt x="1763776" y="279400"/>
                </a:lnTo>
                <a:lnTo>
                  <a:pt x="6469663" y="279400"/>
                </a:lnTo>
                <a:lnTo>
                  <a:pt x="6567332" y="203271"/>
                </a:lnTo>
                <a:lnTo>
                  <a:pt x="6567330" y="203133"/>
                </a:lnTo>
                <a:lnTo>
                  <a:pt x="6478801" y="139700"/>
                </a:lnTo>
                <a:close/>
              </a:path>
              <a:path w="6988175" h="2374900">
                <a:moveTo>
                  <a:pt x="6767980" y="139700"/>
                </a:moveTo>
                <a:lnTo>
                  <a:pt x="6566408" y="139700"/>
                </a:lnTo>
                <a:lnTo>
                  <a:pt x="6568440" y="279400"/>
                </a:lnTo>
                <a:lnTo>
                  <a:pt x="6741832" y="279400"/>
                </a:lnTo>
                <a:lnTo>
                  <a:pt x="6988048" y="203200"/>
                </a:lnTo>
                <a:lnTo>
                  <a:pt x="6767980" y="139700"/>
                </a:lnTo>
                <a:close/>
              </a:path>
              <a:path w="6988175" h="2374900">
                <a:moveTo>
                  <a:pt x="1897506" y="203200"/>
                </a:moveTo>
                <a:lnTo>
                  <a:pt x="1861947" y="203200"/>
                </a:lnTo>
                <a:lnTo>
                  <a:pt x="1853311" y="215900"/>
                </a:lnTo>
                <a:lnTo>
                  <a:pt x="1902333" y="215900"/>
                </a:lnTo>
                <a:lnTo>
                  <a:pt x="1897506" y="203200"/>
                </a:lnTo>
                <a:close/>
              </a:path>
              <a:path w="6988175" h="2374900">
                <a:moveTo>
                  <a:pt x="6283833" y="0"/>
                </a:moveTo>
                <a:lnTo>
                  <a:pt x="6567330" y="203133"/>
                </a:lnTo>
                <a:lnTo>
                  <a:pt x="6566408" y="139700"/>
                </a:lnTo>
                <a:lnTo>
                  <a:pt x="6767980" y="139700"/>
                </a:lnTo>
                <a:lnTo>
                  <a:pt x="628383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28644" y="3811523"/>
            <a:ext cx="2766060" cy="708660"/>
          </a:xfrm>
          <a:custGeom>
            <a:avLst/>
            <a:gdLst/>
            <a:ahLst/>
            <a:cxnLst/>
            <a:rect l="l" t="t" r="r" b="b"/>
            <a:pathLst>
              <a:path w="2766060" h="708660">
                <a:moveTo>
                  <a:pt x="0" y="708659"/>
                </a:moveTo>
                <a:lnTo>
                  <a:pt x="2766060" y="708659"/>
                </a:lnTo>
                <a:lnTo>
                  <a:pt x="2766060" y="0"/>
                </a:lnTo>
                <a:lnTo>
                  <a:pt x="0" y="0"/>
                </a:lnTo>
                <a:lnTo>
                  <a:pt x="0" y="70865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35221" y="3834460"/>
            <a:ext cx="2150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000" b="1" spc="-7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FADH</a:t>
            </a:r>
            <a:r>
              <a:rPr sz="3975" b="1" spc="-104" baseline="-21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4000" b="1" spc="-20" dirty="0">
                <a:solidFill>
                  <a:srgbClr val="FFFFFF"/>
                </a:solidFill>
                <a:latin typeface="黑体"/>
                <a:cs typeface="黑体"/>
              </a:rPr>
              <a:t>链</a:t>
            </a:r>
            <a:endParaRPr sz="40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1194" y="1087882"/>
            <a:ext cx="285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3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6794" y="3222116"/>
            <a:ext cx="285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30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7411" y="5801867"/>
            <a:ext cx="5143500" cy="858519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177800" rIns="0" bIns="0" rtlCol="0">
            <a:spAutoFit/>
          </a:bodyPr>
          <a:lstStyle/>
          <a:p>
            <a:pPr marL="123190">
              <a:lnSpc>
                <a:spcPct val="100000"/>
              </a:lnSpc>
              <a:spcBef>
                <a:spcPts val="1400"/>
              </a:spcBef>
            </a:pPr>
            <a:r>
              <a:rPr sz="3200" b="1" spc="-10" dirty="0">
                <a:solidFill>
                  <a:srgbClr val="FFFFFF"/>
                </a:solidFill>
                <a:latin typeface="黑体"/>
                <a:cs typeface="黑体"/>
              </a:rPr>
              <a:t>为</a:t>
            </a:r>
            <a:r>
              <a:rPr sz="3200" b="1" spc="5" dirty="0">
                <a:solidFill>
                  <a:srgbClr val="FFFFFF"/>
                </a:solidFill>
                <a:latin typeface="黑体"/>
                <a:cs typeface="黑体"/>
              </a:rPr>
              <a:t>什</a:t>
            </a:r>
            <a:r>
              <a:rPr sz="3200" b="1" spc="-10" dirty="0">
                <a:solidFill>
                  <a:srgbClr val="FFFFFF"/>
                </a:solidFill>
                <a:latin typeface="黑体"/>
                <a:cs typeface="黑体"/>
              </a:rPr>
              <a:t>么是</a:t>
            </a:r>
            <a:r>
              <a:rPr sz="3200" b="1" dirty="0">
                <a:solidFill>
                  <a:srgbClr val="FFFFFF"/>
                </a:solidFill>
                <a:latin typeface="黑体"/>
                <a:cs typeface="黑体"/>
              </a:rPr>
              <a:t>这</a:t>
            </a:r>
            <a:r>
              <a:rPr sz="3200" b="1" spc="-10" dirty="0">
                <a:solidFill>
                  <a:srgbClr val="FFFFFF"/>
                </a:solidFill>
                <a:latin typeface="黑体"/>
                <a:cs typeface="黑体"/>
              </a:rPr>
              <a:t>样一</a:t>
            </a:r>
            <a:r>
              <a:rPr sz="3200" b="1" dirty="0">
                <a:solidFill>
                  <a:srgbClr val="FFFFFF"/>
                </a:solidFill>
                <a:latin typeface="黑体"/>
                <a:cs typeface="黑体"/>
              </a:rPr>
              <a:t>个</a:t>
            </a:r>
            <a:r>
              <a:rPr sz="3200" b="1" spc="-10" dirty="0">
                <a:solidFill>
                  <a:srgbClr val="FFFFFF"/>
                </a:solidFill>
                <a:latin typeface="黑体"/>
                <a:cs typeface="黑体"/>
              </a:rPr>
              <a:t>顺序</a:t>
            </a:r>
            <a:r>
              <a:rPr sz="3200" b="1" dirty="0">
                <a:solidFill>
                  <a:srgbClr val="FFFFFF"/>
                </a:solidFill>
                <a:latin typeface="黑体"/>
                <a:cs typeface="黑体"/>
              </a:rPr>
              <a:t>呢</a:t>
            </a:r>
            <a:r>
              <a:rPr sz="3200" b="1" spc="-10" dirty="0">
                <a:solidFill>
                  <a:srgbClr val="FFFFFF"/>
                </a:solidFill>
                <a:latin typeface="黑体"/>
                <a:cs typeface="黑体"/>
              </a:rPr>
              <a:t>？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9775" y="1774063"/>
            <a:ext cx="285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400" dirty="0">
                <a:solidFill>
                  <a:srgbClr val="0000FF"/>
                </a:solidFill>
                <a:latin typeface="Calibri"/>
                <a:cs typeface="Calibri"/>
              </a:rPr>
              <a:t>Q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7229" y="1850263"/>
            <a:ext cx="285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30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70828" y="1774063"/>
            <a:ext cx="263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60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42733" y="1840484"/>
            <a:ext cx="285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30" dirty="0">
                <a:solidFill>
                  <a:srgbClr val="0000FF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39411" y="1627610"/>
            <a:ext cx="4700126" cy="503781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29159" y="739597"/>
            <a:ext cx="53263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00FF"/>
                </a:solidFill>
              </a:rPr>
              <a:t>（</a:t>
            </a:r>
            <a:r>
              <a:rPr sz="3200" spc="5" dirty="0">
                <a:solidFill>
                  <a:srgbClr val="0000FF"/>
                </a:solidFill>
              </a:rPr>
              <a:t>二</a:t>
            </a:r>
            <a:r>
              <a:rPr sz="3200" spc="-10" dirty="0">
                <a:solidFill>
                  <a:srgbClr val="0000FF"/>
                </a:solidFill>
              </a:rPr>
              <a:t>）呼</a:t>
            </a:r>
            <a:r>
              <a:rPr sz="3200" dirty="0">
                <a:solidFill>
                  <a:srgbClr val="0000FF"/>
                </a:solidFill>
              </a:rPr>
              <a:t>吸</a:t>
            </a:r>
            <a:r>
              <a:rPr sz="3200" spc="-10" dirty="0">
                <a:solidFill>
                  <a:srgbClr val="0000FF"/>
                </a:solidFill>
              </a:rPr>
              <a:t>链成</a:t>
            </a:r>
            <a:r>
              <a:rPr sz="3200" dirty="0">
                <a:solidFill>
                  <a:srgbClr val="0000FF"/>
                </a:solidFill>
              </a:rPr>
              <a:t>分</a:t>
            </a:r>
            <a:r>
              <a:rPr sz="3200" spc="-10" dirty="0">
                <a:solidFill>
                  <a:srgbClr val="0000FF"/>
                </a:solidFill>
              </a:rPr>
              <a:t>的排</a:t>
            </a:r>
            <a:r>
              <a:rPr sz="3200" dirty="0">
                <a:solidFill>
                  <a:srgbClr val="0000FF"/>
                </a:solidFill>
              </a:rPr>
              <a:t>列</a:t>
            </a:r>
            <a:r>
              <a:rPr sz="3200" spc="-10" dirty="0">
                <a:solidFill>
                  <a:srgbClr val="0000FF"/>
                </a:solidFill>
              </a:rPr>
              <a:t>顺序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86639" y="1787893"/>
            <a:ext cx="4372610" cy="334517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162560" indent="457200">
              <a:lnSpc>
                <a:spcPct val="145000"/>
              </a:lnSpc>
              <a:spcBef>
                <a:spcPts val="350"/>
              </a:spcBef>
            </a:pPr>
            <a:r>
              <a:rPr sz="2400" b="1" dirty="0">
                <a:solidFill>
                  <a:srgbClr val="006600"/>
                </a:solidFill>
                <a:latin typeface="黑体"/>
                <a:cs typeface="黑体"/>
              </a:rPr>
              <a:t>标准氧化还原电位</a:t>
            </a:r>
            <a:r>
              <a:rPr sz="2000" b="1" spc="15" dirty="0">
                <a:latin typeface="黑体"/>
                <a:cs typeface="黑体"/>
              </a:rPr>
              <a:t>的数</a:t>
            </a:r>
            <a:r>
              <a:rPr sz="2000" b="1" spc="5" dirty="0">
                <a:latin typeface="黑体"/>
                <a:cs typeface="黑体"/>
              </a:rPr>
              <a:t>值表</a:t>
            </a:r>
            <a:r>
              <a:rPr sz="2000" b="1" spc="-5" dirty="0">
                <a:latin typeface="黑体"/>
                <a:cs typeface="黑体"/>
              </a:rPr>
              <a:t>示 </a:t>
            </a:r>
            <a:r>
              <a:rPr sz="2000" b="1" spc="5" dirty="0">
                <a:latin typeface="黑体"/>
                <a:cs typeface="黑体"/>
              </a:rPr>
              <a:t>氧化能力</a:t>
            </a:r>
            <a:r>
              <a:rPr sz="2000" b="1" spc="-5" dirty="0">
                <a:latin typeface="黑体"/>
                <a:cs typeface="黑体"/>
              </a:rPr>
              <a:t>的大小</a:t>
            </a:r>
            <a:endParaRPr sz="2000">
              <a:latin typeface="黑体"/>
              <a:cs typeface="黑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"/>
              <a:tabLst>
                <a:tab pos="354965" algn="l"/>
                <a:tab pos="355600" algn="l"/>
              </a:tabLst>
            </a:pPr>
            <a:r>
              <a:rPr sz="2000" b="1" spc="5" dirty="0">
                <a:latin typeface="黑体"/>
                <a:cs typeface="黑体"/>
              </a:rPr>
              <a:t>负值大，</a:t>
            </a:r>
            <a:r>
              <a:rPr sz="2000" b="1" spc="-5" dirty="0">
                <a:latin typeface="黑体"/>
                <a:cs typeface="黑体"/>
              </a:rPr>
              <a:t>还原</a:t>
            </a:r>
            <a:r>
              <a:rPr sz="2000" b="1" spc="5" dirty="0">
                <a:latin typeface="黑体"/>
                <a:cs typeface="黑体"/>
              </a:rPr>
              <a:t>性强，容</a:t>
            </a:r>
            <a:r>
              <a:rPr sz="2000" b="1" spc="-5" dirty="0">
                <a:latin typeface="黑体"/>
                <a:cs typeface="黑体"/>
              </a:rPr>
              <a:t>易被</a:t>
            </a:r>
            <a:r>
              <a:rPr sz="2000" b="1" spc="5" dirty="0">
                <a:latin typeface="黑体"/>
                <a:cs typeface="黑体"/>
              </a:rPr>
              <a:t>氧</a:t>
            </a:r>
            <a:r>
              <a:rPr sz="2000" b="1" spc="-5" dirty="0">
                <a:latin typeface="黑体"/>
                <a:cs typeface="黑体"/>
              </a:rPr>
              <a:t>化</a:t>
            </a:r>
            <a:endParaRPr sz="2000">
              <a:latin typeface="黑体"/>
              <a:cs typeface="黑体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Wingdings" panose="05000000000000000000"/>
              <a:buChar char=""/>
              <a:tabLst>
                <a:tab pos="354965" algn="l"/>
                <a:tab pos="355600" algn="l"/>
              </a:tabLst>
            </a:pPr>
            <a:r>
              <a:rPr sz="2000" b="1" spc="5" dirty="0">
                <a:latin typeface="黑体"/>
                <a:cs typeface="黑体"/>
              </a:rPr>
              <a:t>正值大，</a:t>
            </a:r>
            <a:r>
              <a:rPr sz="2000" b="1" spc="-5" dirty="0">
                <a:latin typeface="黑体"/>
                <a:cs typeface="黑体"/>
              </a:rPr>
              <a:t>氧化</a:t>
            </a:r>
            <a:r>
              <a:rPr sz="2000" b="1" spc="10" dirty="0">
                <a:latin typeface="黑体"/>
                <a:cs typeface="黑体"/>
              </a:rPr>
              <a:t>性</a:t>
            </a:r>
            <a:r>
              <a:rPr sz="2000" b="1" spc="5" dirty="0">
                <a:latin typeface="黑体"/>
                <a:cs typeface="黑体"/>
              </a:rPr>
              <a:t>强，容</a:t>
            </a:r>
            <a:r>
              <a:rPr sz="2000" b="1" spc="-5" dirty="0">
                <a:latin typeface="黑体"/>
                <a:cs typeface="黑体"/>
              </a:rPr>
              <a:t>易被</a:t>
            </a:r>
            <a:r>
              <a:rPr sz="2000" b="1" spc="10" dirty="0">
                <a:latin typeface="黑体"/>
                <a:cs typeface="黑体"/>
              </a:rPr>
              <a:t>还</a:t>
            </a:r>
            <a:r>
              <a:rPr sz="2000" b="1" spc="-5" dirty="0">
                <a:latin typeface="黑体"/>
                <a:cs typeface="黑体"/>
              </a:rPr>
              <a:t>原</a:t>
            </a:r>
            <a:endParaRPr sz="20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Times New Roman" panose="02020503050405090304"/>
              <a:cs typeface="Times New Roman" panose="02020503050405090304"/>
            </a:endParaRPr>
          </a:p>
          <a:p>
            <a:pPr marL="329565">
              <a:lnSpc>
                <a:spcPct val="100000"/>
              </a:lnSpc>
            </a:pPr>
            <a:r>
              <a:rPr sz="2000" b="1" spc="15" dirty="0">
                <a:latin typeface="黑体"/>
                <a:cs typeface="黑体"/>
              </a:rPr>
              <a:t>因此</a:t>
            </a:r>
            <a:r>
              <a:rPr sz="2000" b="1" spc="5" dirty="0">
                <a:latin typeface="黑体"/>
                <a:cs typeface="黑体"/>
              </a:rPr>
              <a:t>，呼吸链</a:t>
            </a:r>
            <a:r>
              <a:rPr sz="2000" b="1" spc="-5" dirty="0">
                <a:latin typeface="黑体"/>
                <a:cs typeface="黑体"/>
              </a:rPr>
              <a:t>中</a:t>
            </a:r>
            <a:r>
              <a:rPr sz="2000" b="1" spc="5" dirty="0">
                <a:latin typeface="黑体"/>
                <a:cs typeface="黑体"/>
              </a:rPr>
              <a:t>的各</a:t>
            </a:r>
            <a:r>
              <a:rPr sz="2000" b="1" spc="-5" dirty="0">
                <a:latin typeface="黑体"/>
                <a:cs typeface="黑体"/>
              </a:rPr>
              <a:t>种</a:t>
            </a:r>
            <a:r>
              <a:rPr sz="2000" b="1" spc="5" dirty="0">
                <a:latin typeface="黑体"/>
                <a:cs typeface="黑体"/>
              </a:rPr>
              <a:t>组分的</a:t>
            </a:r>
            <a:r>
              <a:rPr sz="2000" b="1" spc="-5" dirty="0">
                <a:latin typeface="黑体"/>
                <a:cs typeface="黑体"/>
              </a:rPr>
              <a:t>排列</a:t>
            </a:r>
            <a:endParaRPr sz="2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b="1" spc="5" dirty="0">
                <a:latin typeface="黑体"/>
                <a:cs typeface="黑体"/>
              </a:rPr>
              <a:t>顺序应当</a:t>
            </a:r>
            <a:r>
              <a:rPr sz="2000" b="1" spc="-5" dirty="0">
                <a:latin typeface="黑体"/>
                <a:cs typeface="黑体"/>
              </a:rPr>
              <a:t>是</a:t>
            </a:r>
            <a:r>
              <a:rPr sz="2000" b="1" spc="5" dirty="0">
                <a:latin typeface="黑体"/>
                <a:cs typeface="黑体"/>
              </a:rPr>
              <a:t>由</a:t>
            </a:r>
            <a:r>
              <a:rPr sz="2000" b="1" spc="5" dirty="0">
                <a:solidFill>
                  <a:srgbClr val="0000FF"/>
                </a:solidFill>
                <a:latin typeface="黑体"/>
                <a:cs typeface="黑体"/>
              </a:rPr>
              <a:t>低电位依</a:t>
            </a:r>
            <a:r>
              <a:rPr sz="2000" b="1" spc="-5" dirty="0">
                <a:solidFill>
                  <a:srgbClr val="0000FF"/>
                </a:solidFill>
                <a:latin typeface="黑体"/>
                <a:cs typeface="黑体"/>
              </a:rPr>
              <a:t>次向</a:t>
            </a:r>
            <a:r>
              <a:rPr sz="2000" b="1" spc="5" dirty="0">
                <a:solidFill>
                  <a:srgbClr val="0000FF"/>
                </a:solidFill>
                <a:latin typeface="黑体"/>
                <a:cs typeface="黑体"/>
              </a:rPr>
              <a:t>高电</a:t>
            </a:r>
            <a:r>
              <a:rPr sz="2000" b="1" spc="20" dirty="0">
                <a:solidFill>
                  <a:srgbClr val="0000FF"/>
                </a:solidFill>
                <a:latin typeface="黑体"/>
                <a:cs typeface="黑体"/>
              </a:rPr>
              <a:t>位</a:t>
            </a:r>
            <a:r>
              <a:rPr sz="2000" b="1" spc="5" dirty="0">
                <a:latin typeface="黑体"/>
                <a:cs typeface="黑体"/>
              </a:rPr>
              <a:t>排列</a:t>
            </a:r>
            <a:endParaRPr sz="2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1718" y="256794"/>
            <a:ext cx="28790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0000FF"/>
                </a:solidFill>
              </a:rPr>
              <a:t>三、</a:t>
            </a:r>
            <a:r>
              <a:rPr sz="3200" spc="-10" dirty="0">
                <a:solidFill>
                  <a:srgbClr val="0000FF"/>
                </a:solidFill>
              </a:rPr>
              <a:t>氧</a:t>
            </a:r>
            <a:r>
              <a:rPr sz="3200" spc="-5" dirty="0">
                <a:solidFill>
                  <a:srgbClr val="0000FF"/>
                </a:solidFill>
              </a:rPr>
              <a:t>化磷</a:t>
            </a:r>
            <a:r>
              <a:rPr sz="3200" spc="-10" dirty="0">
                <a:solidFill>
                  <a:srgbClr val="0000FF"/>
                </a:solidFill>
              </a:rPr>
              <a:t>酸化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3968" y="1003249"/>
            <a:ext cx="8004809" cy="264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1.</a:t>
            </a:r>
            <a:r>
              <a:rPr sz="2800" b="1" spc="-165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-80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800" b="1" spc="5" dirty="0">
                <a:solidFill>
                  <a:srgbClr val="136101"/>
                </a:solidFill>
                <a:latin typeface="黑体"/>
                <a:cs typeface="黑体"/>
              </a:rPr>
              <a:t>生成方式</a:t>
            </a:r>
            <a:endParaRPr sz="2800">
              <a:latin typeface="黑体"/>
              <a:cs typeface="黑体"/>
            </a:endParaRPr>
          </a:p>
          <a:p>
            <a:pPr marL="61595">
              <a:lnSpc>
                <a:spcPct val="100000"/>
              </a:lnSpc>
              <a:spcBef>
                <a:spcPts val="1660"/>
              </a:spcBef>
            </a:pPr>
            <a:r>
              <a:rPr sz="2200" b="1" spc="-15" dirty="0">
                <a:solidFill>
                  <a:srgbClr val="C00000"/>
                </a:solidFill>
                <a:latin typeface="黑体"/>
                <a:cs typeface="黑体"/>
              </a:rPr>
              <a:t>①</a:t>
            </a:r>
            <a:r>
              <a:rPr sz="2200" b="1" spc="-550" dirty="0">
                <a:solidFill>
                  <a:srgbClr val="C00000"/>
                </a:solidFill>
                <a:latin typeface="黑体"/>
                <a:cs typeface="黑体"/>
              </a:rPr>
              <a:t> </a:t>
            </a:r>
            <a:r>
              <a:rPr sz="2200" b="1" dirty="0">
                <a:solidFill>
                  <a:srgbClr val="C00000"/>
                </a:solidFill>
                <a:latin typeface="黑体"/>
                <a:cs typeface="黑体"/>
              </a:rPr>
              <a:t>底物水平磷</a:t>
            </a:r>
            <a:r>
              <a:rPr sz="2200" b="1" spc="-10" dirty="0">
                <a:solidFill>
                  <a:srgbClr val="C00000"/>
                </a:solidFill>
                <a:latin typeface="黑体"/>
                <a:cs typeface="黑体"/>
              </a:rPr>
              <a:t>酸</a:t>
            </a:r>
            <a:r>
              <a:rPr sz="2200" b="1" spc="-15" dirty="0">
                <a:solidFill>
                  <a:srgbClr val="C00000"/>
                </a:solidFill>
                <a:latin typeface="黑体"/>
                <a:cs typeface="黑体"/>
              </a:rPr>
              <a:t>化</a:t>
            </a:r>
            <a:r>
              <a:rPr sz="2200" b="1" spc="-560" dirty="0">
                <a:solidFill>
                  <a:srgbClr val="C00000"/>
                </a:solidFill>
                <a:latin typeface="黑体"/>
                <a:cs typeface="黑体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(substrate</a:t>
            </a:r>
            <a:r>
              <a:rPr sz="2200" b="1" spc="15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level</a:t>
            </a:r>
            <a:r>
              <a:rPr sz="2200" b="1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phosphorylation)</a:t>
            </a:r>
            <a:endParaRPr sz="2200">
              <a:latin typeface="Times New Roman" panose="02020503050405090304"/>
              <a:cs typeface="Times New Roman" panose="02020503050405090304"/>
            </a:endParaRPr>
          </a:p>
          <a:p>
            <a:pPr marL="61595" marR="5080" indent="348615">
              <a:lnSpc>
                <a:spcPct val="150000"/>
              </a:lnSpc>
              <a:spcBef>
                <a:spcPts val="530"/>
              </a:spcBef>
            </a:pPr>
            <a:r>
              <a:rPr sz="2200" b="1" spc="5" dirty="0">
                <a:latin typeface="黑体"/>
                <a:cs typeface="黑体"/>
              </a:rPr>
              <a:t>是指在反应</a:t>
            </a:r>
            <a:r>
              <a:rPr sz="2200" b="1" spc="-10" dirty="0">
                <a:latin typeface="黑体"/>
                <a:cs typeface="黑体"/>
              </a:rPr>
              <a:t>过</a:t>
            </a:r>
            <a:r>
              <a:rPr sz="2200" b="1" spc="5" dirty="0">
                <a:latin typeface="黑体"/>
                <a:cs typeface="黑体"/>
              </a:rPr>
              <a:t>程</a:t>
            </a:r>
            <a:r>
              <a:rPr sz="2200" b="1" spc="-10" dirty="0">
                <a:latin typeface="黑体"/>
                <a:cs typeface="黑体"/>
              </a:rPr>
              <a:t>中</a:t>
            </a:r>
            <a:r>
              <a:rPr sz="2200" b="1" spc="5" dirty="0">
                <a:latin typeface="黑体"/>
                <a:cs typeface="黑体"/>
              </a:rPr>
              <a:t>，</a:t>
            </a:r>
            <a:r>
              <a:rPr sz="2200" b="1" spc="-10" dirty="0">
                <a:latin typeface="黑体"/>
                <a:cs typeface="黑体"/>
              </a:rPr>
              <a:t>由于</a:t>
            </a:r>
            <a:r>
              <a:rPr sz="2200" b="1" spc="5" dirty="0">
                <a:latin typeface="黑体"/>
                <a:cs typeface="黑体"/>
              </a:rPr>
              <a:t>分</a:t>
            </a:r>
            <a:r>
              <a:rPr sz="2200" b="1" spc="-10" dirty="0">
                <a:latin typeface="黑体"/>
                <a:cs typeface="黑体"/>
              </a:rPr>
              <a:t>子内</a:t>
            </a:r>
            <a:r>
              <a:rPr sz="2200" b="1" spc="5" dirty="0">
                <a:latin typeface="黑体"/>
                <a:cs typeface="黑体"/>
              </a:rPr>
              <a:t>部</a:t>
            </a:r>
            <a:r>
              <a:rPr sz="2200" b="1" spc="-10" dirty="0">
                <a:latin typeface="黑体"/>
                <a:cs typeface="黑体"/>
              </a:rPr>
              <a:t>能</a:t>
            </a:r>
            <a:r>
              <a:rPr sz="2200" b="1" spc="5" dirty="0">
                <a:latin typeface="黑体"/>
                <a:cs typeface="黑体"/>
              </a:rPr>
              <a:t>量</a:t>
            </a:r>
            <a:r>
              <a:rPr sz="2200" b="1" spc="-10" dirty="0">
                <a:latin typeface="黑体"/>
                <a:cs typeface="黑体"/>
              </a:rPr>
              <a:t>重新</a:t>
            </a:r>
            <a:r>
              <a:rPr sz="2200" b="1" spc="5" dirty="0">
                <a:latin typeface="黑体"/>
                <a:cs typeface="黑体"/>
              </a:rPr>
              <a:t>分</a:t>
            </a:r>
            <a:r>
              <a:rPr sz="2200" b="1" spc="-10" dirty="0">
                <a:latin typeface="黑体"/>
                <a:cs typeface="黑体"/>
              </a:rPr>
              <a:t>布，</a:t>
            </a:r>
            <a:r>
              <a:rPr sz="2200" b="1" spc="5" dirty="0">
                <a:latin typeface="黑体"/>
                <a:cs typeface="黑体"/>
              </a:rPr>
              <a:t>形</a:t>
            </a:r>
            <a:r>
              <a:rPr sz="2200" b="1" spc="-10" dirty="0">
                <a:latin typeface="黑体"/>
                <a:cs typeface="黑体"/>
              </a:rPr>
              <a:t>成</a:t>
            </a:r>
            <a:r>
              <a:rPr sz="2200" b="1" spc="5" dirty="0">
                <a:latin typeface="黑体"/>
                <a:cs typeface="黑体"/>
              </a:rPr>
              <a:t>高</a:t>
            </a:r>
            <a:r>
              <a:rPr sz="2200" b="1" spc="-10" dirty="0">
                <a:latin typeface="黑体"/>
                <a:cs typeface="黑体"/>
              </a:rPr>
              <a:t>能</a:t>
            </a:r>
            <a:r>
              <a:rPr sz="2200" b="1" spc="-15" dirty="0">
                <a:latin typeface="黑体"/>
                <a:cs typeface="黑体"/>
              </a:rPr>
              <a:t>磷 </a:t>
            </a:r>
            <a:r>
              <a:rPr sz="2200" b="1" spc="5" dirty="0">
                <a:latin typeface="黑体"/>
                <a:cs typeface="黑体"/>
              </a:rPr>
              <a:t>酸化合物（</a:t>
            </a:r>
            <a:r>
              <a:rPr sz="2200" b="1" spc="-10" dirty="0">
                <a:latin typeface="黑体"/>
                <a:cs typeface="黑体"/>
              </a:rPr>
              <a:t>或</a:t>
            </a:r>
            <a:r>
              <a:rPr sz="2200" b="1" spc="5" dirty="0">
                <a:latin typeface="黑体"/>
                <a:cs typeface="黑体"/>
              </a:rPr>
              <a:t>硫</a:t>
            </a:r>
            <a:r>
              <a:rPr sz="2200" b="1" spc="-10" dirty="0">
                <a:latin typeface="黑体"/>
                <a:cs typeface="黑体"/>
              </a:rPr>
              <a:t>酯化</a:t>
            </a:r>
            <a:r>
              <a:rPr sz="2200" b="1" spc="5" dirty="0">
                <a:latin typeface="黑体"/>
                <a:cs typeface="黑体"/>
              </a:rPr>
              <a:t>合</a:t>
            </a:r>
            <a:r>
              <a:rPr sz="2200" b="1" spc="-10" dirty="0">
                <a:latin typeface="黑体"/>
                <a:cs typeface="黑体"/>
              </a:rPr>
              <a:t>物</a:t>
            </a:r>
            <a:r>
              <a:rPr sz="2200" b="1" spc="-5" dirty="0">
                <a:latin typeface="黑体"/>
                <a:cs typeface="黑体"/>
              </a:rPr>
              <a:t>），</a:t>
            </a:r>
            <a:r>
              <a:rPr sz="2200" b="1" spc="-10" dirty="0">
                <a:latin typeface="黑体"/>
                <a:cs typeface="黑体"/>
              </a:rPr>
              <a:t>可</a:t>
            </a:r>
            <a:r>
              <a:rPr sz="2200" b="1" spc="5" dirty="0">
                <a:latin typeface="黑体"/>
                <a:cs typeface="黑体"/>
              </a:rPr>
              <a:t>直</a:t>
            </a:r>
            <a:r>
              <a:rPr sz="2200" b="1" spc="-10" dirty="0">
                <a:latin typeface="黑体"/>
                <a:cs typeface="黑体"/>
              </a:rPr>
              <a:t>接转</a:t>
            </a:r>
            <a:r>
              <a:rPr sz="2200" b="1" spc="5" dirty="0">
                <a:latin typeface="黑体"/>
                <a:cs typeface="黑体"/>
              </a:rPr>
              <a:t>移</a:t>
            </a:r>
            <a:r>
              <a:rPr sz="2200" b="1" spc="50" dirty="0">
                <a:latin typeface="黑体"/>
                <a:cs typeface="黑体"/>
              </a:rPr>
              <a:t>给</a:t>
            </a:r>
            <a:r>
              <a:rPr sz="2200" b="1" spc="-10" dirty="0">
                <a:latin typeface="Times New Roman" panose="02020503050405090304"/>
                <a:cs typeface="Times New Roman" panose="02020503050405090304"/>
              </a:rPr>
              <a:t>ADP</a:t>
            </a:r>
            <a:r>
              <a:rPr sz="2200" b="1" spc="5" dirty="0">
                <a:latin typeface="黑体"/>
                <a:cs typeface="黑体"/>
              </a:rPr>
              <a:t>形</a:t>
            </a:r>
            <a:r>
              <a:rPr sz="2200" b="1" spc="10" dirty="0">
                <a:latin typeface="黑体"/>
                <a:cs typeface="黑体"/>
              </a:rPr>
              <a:t>成</a:t>
            </a:r>
            <a:r>
              <a:rPr sz="2200" b="1" spc="-60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200" b="1" spc="5" dirty="0">
                <a:latin typeface="黑体"/>
                <a:cs typeface="黑体"/>
              </a:rPr>
              <a:t>的过程</a:t>
            </a:r>
            <a:endParaRPr sz="2200">
              <a:latin typeface="黑体"/>
              <a:cs typeface="黑体"/>
            </a:endParaRPr>
          </a:p>
          <a:p>
            <a:pPr marL="340360">
              <a:lnSpc>
                <a:spcPct val="100000"/>
              </a:lnSpc>
              <a:spcBef>
                <a:spcPts val="1845"/>
              </a:spcBef>
            </a:pPr>
            <a:r>
              <a:rPr sz="2200" b="1" spc="5" dirty="0">
                <a:latin typeface="黑体"/>
                <a:cs typeface="黑体"/>
              </a:rPr>
              <a:t>不经电子传递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900" y="3933444"/>
            <a:ext cx="8144256" cy="238814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0559" y="3928871"/>
            <a:ext cx="8214359" cy="2452370"/>
          </a:xfrm>
          <a:custGeom>
            <a:avLst/>
            <a:gdLst/>
            <a:ahLst/>
            <a:cxnLst/>
            <a:rect l="l" t="t" r="r" b="b"/>
            <a:pathLst>
              <a:path w="8214359" h="2452370">
                <a:moveTo>
                  <a:pt x="0" y="2452116"/>
                </a:moveTo>
                <a:lnTo>
                  <a:pt x="8214359" y="2452116"/>
                </a:lnTo>
                <a:lnTo>
                  <a:pt x="8214359" y="0"/>
                </a:lnTo>
                <a:lnTo>
                  <a:pt x="0" y="0"/>
                </a:lnTo>
                <a:lnTo>
                  <a:pt x="0" y="245211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6091" y="5643371"/>
            <a:ext cx="2232660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524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35"/>
              </a:spcBef>
            </a:pPr>
            <a:r>
              <a:rPr sz="1800" b="1" dirty="0">
                <a:solidFill>
                  <a:srgbClr val="003366"/>
                </a:solidFill>
                <a:latin typeface="黑体"/>
                <a:cs typeface="黑体"/>
              </a:rPr>
              <a:t>1,3-二磷酸甘油酸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47744" y="4924044"/>
            <a:ext cx="1656714" cy="338455"/>
          </a:xfrm>
          <a:custGeom>
            <a:avLst/>
            <a:gdLst/>
            <a:ahLst/>
            <a:cxnLst/>
            <a:rect l="l" t="t" r="r" b="b"/>
            <a:pathLst>
              <a:path w="1656714" h="338454">
                <a:moveTo>
                  <a:pt x="0" y="338327"/>
                </a:moveTo>
                <a:lnTo>
                  <a:pt x="1656588" y="338327"/>
                </a:lnTo>
                <a:lnTo>
                  <a:pt x="1656588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47744" y="4924044"/>
            <a:ext cx="1656714" cy="338455"/>
          </a:xfrm>
          <a:custGeom>
            <a:avLst/>
            <a:gdLst/>
            <a:ahLst/>
            <a:cxnLst/>
            <a:rect l="l" t="t" r="r" b="b"/>
            <a:pathLst>
              <a:path w="1656714" h="338454">
                <a:moveTo>
                  <a:pt x="0" y="338327"/>
                </a:moveTo>
                <a:lnTo>
                  <a:pt x="1656588" y="338327"/>
                </a:lnTo>
                <a:lnTo>
                  <a:pt x="1656588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047744" y="4965953"/>
            <a:ext cx="16567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5"/>
              </a:spcBef>
            </a:pPr>
            <a:r>
              <a:rPr sz="1600" b="1" spc="10" dirty="0">
                <a:solidFill>
                  <a:srgbClr val="003366"/>
                </a:solidFill>
                <a:latin typeface="黑体"/>
                <a:cs typeface="黑体"/>
              </a:rPr>
              <a:t>磷</a:t>
            </a:r>
            <a:r>
              <a:rPr sz="1600" b="1" spc="-5" dirty="0">
                <a:solidFill>
                  <a:srgbClr val="003366"/>
                </a:solidFill>
                <a:latin typeface="黑体"/>
                <a:cs typeface="黑体"/>
              </a:rPr>
              <a:t>酸甘</a:t>
            </a:r>
            <a:r>
              <a:rPr sz="1600" b="1" spc="10" dirty="0">
                <a:solidFill>
                  <a:srgbClr val="003366"/>
                </a:solidFill>
                <a:latin typeface="黑体"/>
                <a:cs typeface="黑体"/>
              </a:rPr>
              <a:t>油</a:t>
            </a:r>
            <a:r>
              <a:rPr sz="1600" b="1" spc="-5" dirty="0">
                <a:solidFill>
                  <a:srgbClr val="003366"/>
                </a:solidFill>
                <a:latin typeface="黑体"/>
                <a:cs typeface="黑体"/>
              </a:rPr>
              <a:t>酸</a:t>
            </a:r>
            <a:r>
              <a:rPr sz="1600" b="1" spc="10" dirty="0">
                <a:solidFill>
                  <a:srgbClr val="003366"/>
                </a:solidFill>
                <a:latin typeface="黑体"/>
                <a:cs typeface="黑体"/>
              </a:rPr>
              <a:t>激</a:t>
            </a:r>
            <a:r>
              <a:rPr sz="1600" b="1" spc="-15" dirty="0">
                <a:solidFill>
                  <a:srgbClr val="003366"/>
                </a:solidFill>
                <a:latin typeface="黑体"/>
                <a:cs typeface="黑体"/>
              </a:rPr>
              <a:t>酶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73040" y="5692140"/>
            <a:ext cx="2159635" cy="6451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39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003366"/>
                </a:solidFill>
                <a:latin typeface="黑体"/>
                <a:cs typeface="黑体"/>
              </a:rPr>
              <a:t>3-二磷酸甘油酸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75" y="237743"/>
            <a:ext cx="8121380" cy="238963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9495" y="1557527"/>
            <a:ext cx="2304415" cy="368935"/>
          </a:xfrm>
          <a:custGeom>
            <a:avLst/>
            <a:gdLst/>
            <a:ahLst/>
            <a:cxnLst/>
            <a:rect l="l" t="t" r="r" b="b"/>
            <a:pathLst>
              <a:path w="2304415" h="368935">
                <a:moveTo>
                  <a:pt x="0" y="368808"/>
                </a:moveTo>
                <a:lnTo>
                  <a:pt x="2304288" y="368808"/>
                </a:lnTo>
                <a:lnTo>
                  <a:pt x="2304288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4923" y="184404"/>
            <a:ext cx="8216265" cy="25273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Times New Roman" panose="02020503050405090304"/>
              <a:cs typeface="Times New Roman" panose="02020503050405090304"/>
            </a:endParaRPr>
          </a:p>
          <a:p>
            <a:pPr marL="95885">
              <a:lnSpc>
                <a:spcPct val="100000"/>
              </a:lnSpc>
            </a:pPr>
            <a:r>
              <a:rPr sz="1800" b="1" dirty="0">
                <a:solidFill>
                  <a:srgbClr val="003366"/>
                </a:solidFill>
                <a:latin typeface="黑体"/>
                <a:cs typeface="黑体"/>
              </a:rPr>
              <a:t>磷酸烯醇式丙酮酸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95928" y="908303"/>
            <a:ext cx="1656714" cy="340360"/>
          </a:xfrm>
          <a:custGeom>
            <a:avLst/>
            <a:gdLst/>
            <a:ahLst/>
            <a:cxnLst/>
            <a:rect l="l" t="t" r="r" b="b"/>
            <a:pathLst>
              <a:path w="1656714" h="340359">
                <a:moveTo>
                  <a:pt x="0" y="339851"/>
                </a:moveTo>
                <a:lnTo>
                  <a:pt x="1656588" y="339851"/>
                </a:lnTo>
                <a:lnTo>
                  <a:pt x="1656588" y="0"/>
                </a:lnTo>
                <a:lnTo>
                  <a:pt x="0" y="0"/>
                </a:lnTo>
                <a:lnTo>
                  <a:pt x="0" y="3398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95928" y="908303"/>
            <a:ext cx="1656714" cy="340360"/>
          </a:xfrm>
          <a:custGeom>
            <a:avLst/>
            <a:gdLst/>
            <a:ahLst/>
            <a:cxnLst/>
            <a:rect l="l" t="t" r="r" b="b"/>
            <a:pathLst>
              <a:path w="1656714" h="340359">
                <a:moveTo>
                  <a:pt x="0" y="339851"/>
                </a:moveTo>
                <a:lnTo>
                  <a:pt x="1656588" y="339851"/>
                </a:lnTo>
                <a:lnTo>
                  <a:pt x="1656588" y="0"/>
                </a:lnTo>
                <a:lnTo>
                  <a:pt x="0" y="0"/>
                </a:lnTo>
                <a:lnTo>
                  <a:pt x="0" y="339851"/>
                </a:lnTo>
                <a:close/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95928" y="949833"/>
            <a:ext cx="16567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3366"/>
                </a:solidFill>
                <a:latin typeface="黑体"/>
                <a:cs typeface="黑体"/>
              </a:rPr>
              <a:t>丙</a:t>
            </a:r>
            <a:r>
              <a:rPr sz="1600" b="1" spc="-5" dirty="0">
                <a:solidFill>
                  <a:srgbClr val="003366"/>
                </a:solidFill>
                <a:latin typeface="黑体"/>
                <a:cs typeface="黑体"/>
              </a:rPr>
              <a:t>酮酸</a:t>
            </a:r>
            <a:r>
              <a:rPr sz="1600" b="1" spc="5" dirty="0">
                <a:solidFill>
                  <a:srgbClr val="003366"/>
                </a:solidFill>
                <a:latin typeface="黑体"/>
                <a:cs typeface="黑体"/>
              </a:rPr>
              <a:t>激</a:t>
            </a:r>
            <a:r>
              <a:rPr sz="1600" b="1" spc="-15" dirty="0">
                <a:solidFill>
                  <a:srgbClr val="003366"/>
                </a:solidFill>
                <a:latin typeface="黑体"/>
                <a:cs typeface="黑体"/>
              </a:rPr>
              <a:t>酶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6196" y="1588008"/>
            <a:ext cx="2304415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33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1800" b="1" dirty="0">
                <a:solidFill>
                  <a:srgbClr val="003366"/>
                </a:solidFill>
                <a:latin typeface="黑体"/>
                <a:cs typeface="黑体"/>
              </a:rPr>
              <a:t>丙酮酸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4294" y="3555279"/>
            <a:ext cx="5267794" cy="206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39495" y="3355847"/>
            <a:ext cx="8206740" cy="2593975"/>
          </a:xfrm>
          <a:prstGeom prst="rect">
            <a:avLst/>
          </a:prstGeom>
          <a:ln w="9144">
            <a:solidFill>
              <a:srgbClr val="003366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imes New Roman" panose="02020503050405090304"/>
              <a:cs typeface="Times New Roman" panose="02020503050405090304"/>
            </a:endParaRPr>
          </a:p>
          <a:p>
            <a:pPr marL="5996305" marR="397510" algn="just">
              <a:lnSpc>
                <a:spcPct val="120000"/>
              </a:lnSpc>
            </a:pPr>
            <a:r>
              <a:rPr sz="2000" b="1" dirty="0">
                <a:latin typeface="Times New Roman" panose="02020503050405090304"/>
                <a:cs typeface="Times New Roman" panose="02020503050405090304"/>
              </a:rPr>
              <a:t>GT</a:t>
            </a:r>
            <a:r>
              <a:rPr sz="2000" b="1" spc="-5" dirty="0">
                <a:latin typeface="Times New Roman" panose="02020503050405090304"/>
                <a:cs typeface="Times New Roman" panose="02020503050405090304"/>
              </a:rPr>
              <a:t>P</a:t>
            </a:r>
            <a:r>
              <a:rPr sz="2000" b="1" spc="15" dirty="0">
                <a:latin typeface="黑体"/>
                <a:cs typeface="黑体"/>
              </a:rPr>
              <a:t>：三</a:t>
            </a:r>
            <a:r>
              <a:rPr sz="2000" b="1" spc="5" dirty="0">
                <a:latin typeface="黑体"/>
                <a:cs typeface="黑体"/>
              </a:rPr>
              <a:t>磷酸</a:t>
            </a:r>
            <a:r>
              <a:rPr sz="2000" b="1" spc="-5" dirty="0">
                <a:latin typeface="黑体"/>
                <a:cs typeface="黑体"/>
              </a:rPr>
              <a:t>鸟 </a:t>
            </a:r>
            <a:r>
              <a:rPr sz="2000" b="1" spc="5" dirty="0">
                <a:latin typeface="黑体"/>
                <a:cs typeface="黑体"/>
              </a:rPr>
              <a:t>苷，高能</a:t>
            </a:r>
            <a:r>
              <a:rPr sz="2000" b="1" spc="-5" dirty="0">
                <a:latin typeface="黑体"/>
                <a:cs typeface="黑体"/>
              </a:rPr>
              <a:t>磷酸化 </a:t>
            </a:r>
            <a:r>
              <a:rPr sz="2000" b="1" dirty="0">
                <a:latin typeface="黑体"/>
                <a:cs typeface="黑体"/>
              </a:rPr>
              <a:t>合物，可</a:t>
            </a:r>
            <a:r>
              <a:rPr sz="2000" b="1" spc="-5" dirty="0">
                <a:latin typeface="黑体"/>
                <a:cs typeface="黑体"/>
              </a:rPr>
              <a:t>转移磷 </a:t>
            </a:r>
            <a:r>
              <a:rPr sz="2000" b="1" spc="15" dirty="0">
                <a:latin typeface="黑体"/>
                <a:cs typeface="黑体"/>
              </a:rPr>
              <a:t>酸基</a:t>
            </a:r>
            <a:r>
              <a:rPr sz="2000" b="1" spc="5" dirty="0">
                <a:latin typeface="黑体"/>
                <a:cs typeface="黑体"/>
              </a:rPr>
              <a:t>生</a:t>
            </a:r>
            <a:r>
              <a:rPr sz="2000" b="1" spc="10" dirty="0">
                <a:latin typeface="黑体"/>
                <a:cs typeface="黑体"/>
              </a:rPr>
              <a:t>成</a:t>
            </a:r>
            <a:r>
              <a:rPr sz="2000" b="1" spc="-50" dirty="0">
                <a:latin typeface="Times New Roman" panose="02020503050405090304"/>
                <a:cs typeface="Times New Roman" panose="02020503050405090304"/>
              </a:rPr>
              <a:t>ATP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889" y="592912"/>
            <a:ext cx="28809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0000FF"/>
                </a:solidFill>
              </a:rPr>
              <a:t>三、</a:t>
            </a:r>
            <a:r>
              <a:rPr sz="3200" spc="-10" dirty="0">
                <a:solidFill>
                  <a:srgbClr val="0000FF"/>
                </a:solidFill>
              </a:rPr>
              <a:t>氧</a:t>
            </a:r>
            <a:r>
              <a:rPr sz="3200" spc="-5" dirty="0">
                <a:solidFill>
                  <a:srgbClr val="0000FF"/>
                </a:solidFill>
              </a:rPr>
              <a:t>化磷</a:t>
            </a:r>
            <a:r>
              <a:rPr sz="3200" spc="-10" dirty="0">
                <a:solidFill>
                  <a:srgbClr val="0000FF"/>
                </a:solidFill>
              </a:rPr>
              <a:t>酸化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97814" y="1713356"/>
            <a:ext cx="8051165" cy="2988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1.</a:t>
            </a:r>
            <a:r>
              <a:rPr sz="2800" b="1" spc="-165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-80" dirty="0">
                <a:solidFill>
                  <a:srgbClr val="136101"/>
                </a:solidFill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800" b="1" spc="5" dirty="0">
                <a:solidFill>
                  <a:srgbClr val="136101"/>
                </a:solidFill>
                <a:latin typeface="黑体"/>
                <a:cs typeface="黑体"/>
              </a:rPr>
              <a:t>生成方式</a:t>
            </a:r>
            <a:endParaRPr sz="28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800">
              <a:latin typeface="Times New Roman" panose="02020503050405090304"/>
              <a:cs typeface="Times New Roman" panose="02020503050405090304"/>
            </a:endParaRPr>
          </a:p>
          <a:p>
            <a:pPr marL="177800">
              <a:lnSpc>
                <a:spcPct val="100000"/>
              </a:lnSpc>
            </a:pPr>
            <a:r>
              <a:rPr sz="2200" b="1" spc="-15" dirty="0">
                <a:solidFill>
                  <a:srgbClr val="C00000"/>
                </a:solidFill>
                <a:latin typeface="黑体"/>
                <a:cs typeface="黑体"/>
              </a:rPr>
              <a:t>②</a:t>
            </a:r>
            <a:r>
              <a:rPr sz="2200" b="1" spc="-545" dirty="0">
                <a:solidFill>
                  <a:srgbClr val="C00000"/>
                </a:solidFill>
                <a:latin typeface="黑体"/>
                <a:cs typeface="黑体"/>
              </a:rPr>
              <a:t> </a:t>
            </a:r>
            <a:r>
              <a:rPr sz="2200" b="1" spc="5" dirty="0">
                <a:solidFill>
                  <a:srgbClr val="C00000"/>
                </a:solidFill>
                <a:latin typeface="黑体"/>
                <a:cs typeface="黑体"/>
              </a:rPr>
              <a:t>氧化水平磷</a:t>
            </a:r>
            <a:r>
              <a:rPr sz="2200" b="1" spc="-5" dirty="0">
                <a:solidFill>
                  <a:srgbClr val="C00000"/>
                </a:solidFill>
                <a:latin typeface="黑体"/>
                <a:cs typeface="黑体"/>
              </a:rPr>
              <a:t>酸</a:t>
            </a:r>
            <a:r>
              <a:rPr sz="2200" b="1" spc="525" dirty="0">
                <a:solidFill>
                  <a:srgbClr val="C00000"/>
                </a:solidFill>
                <a:latin typeface="黑体"/>
                <a:cs typeface="黑体"/>
              </a:rPr>
              <a:t>化</a:t>
            </a:r>
            <a:r>
              <a:rPr sz="2200" b="1" spc="-5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(oxidative phosphorylation)</a:t>
            </a:r>
            <a:endParaRPr sz="2200">
              <a:latin typeface="Times New Roman" panose="02020503050405090304"/>
              <a:cs typeface="Times New Roman" panose="02020503050405090304"/>
            </a:endParaRPr>
          </a:p>
          <a:p>
            <a:pPr marL="177800" marR="5080" indent="278765">
              <a:lnSpc>
                <a:spcPct val="150000"/>
              </a:lnSpc>
              <a:spcBef>
                <a:spcPts val="525"/>
              </a:spcBef>
            </a:pPr>
            <a:r>
              <a:rPr sz="2200" b="1" spc="5" dirty="0">
                <a:latin typeface="黑体"/>
                <a:cs typeface="黑体"/>
              </a:rPr>
              <a:t>是指在呼吸链</a:t>
            </a:r>
            <a:r>
              <a:rPr sz="2200" b="1" spc="-5" dirty="0">
                <a:latin typeface="黑体"/>
                <a:cs typeface="黑体"/>
              </a:rPr>
              <a:t>电子</a:t>
            </a:r>
            <a:r>
              <a:rPr sz="2200" b="1" spc="5" dirty="0">
                <a:latin typeface="黑体"/>
                <a:cs typeface="黑体"/>
              </a:rPr>
              <a:t>传</a:t>
            </a:r>
            <a:r>
              <a:rPr sz="2200" b="1" spc="-5" dirty="0">
                <a:latin typeface="黑体"/>
                <a:cs typeface="黑体"/>
              </a:rPr>
              <a:t>递过</a:t>
            </a:r>
            <a:r>
              <a:rPr sz="2200" b="1" spc="5" dirty="0">
                <a:latin typeface="黑体"/>
                <a:cs typeface="黑体"/>
              </a:rPr>
              <a:t>程</a:t>
            </a:r>
            <a:r>
              <a:rPr sz="2200" b="1" spc="-5" dirty="0">
                <a:latin typeface="黑体"/>
                <a:cs typeface="黑体"/>
              </a:rPr>
              <a:t>中</a:t>
            </a:r>
            <a:r>
              <a:rPr sz="2200" b="1" spc="5" dirty="0">
                <a:latin typeface="黑体"/>
                <a:cs typeface="黑体"/>
              </a:rPr>
              <a:t>偶</a:t>
            </a:r>
            <a:r>
              <a:rPr sz="2200" b="1" spc="-5" dirty="0">
                <a:latin typeface="黑体"/>
                <a:cs typeface="黑体"/>
              </a:rPr>
              <a:t>联</a:t>
            </a:r>
            <a:r>
              <a:rPr sz="2200" b="1" spc="-10" dirty="0">
                <a:latin typeface="Times New Roman" panose="02020503050405090304"/>
                <a:cs typeface="Times New Roman" panose="02020503050405090304"/>
              </a:rPr>
              <a:t>ADP</a:t>
            </a:r>
            <a:r>
              <a:rPr sz="2200" b="1" spc="5" dirty="0">
                <a:latin typeface="黑体"/>
                <a:cs typeface="黑体"/>
              </a:rPr>
              <a:t>磷酸</a:t>
            </a:r>
            <a:r>
              <a:rPr sz="2200" b="1" spc="-10" dirty="0">
                <a:latin typeface="黑体"/>
                <a:cs typeface="黑体"/>
              </a:rPr>
              <a:t>化</a:t>
            </a:r>
            <a:r>
              <a:rPr sz="2200" b="1" spc="5" dirty="0">
                <a:latin typeface="黑体"/>
                <a:cs typeface="黑体"/>
              </a:rPr>
              <a:t>，</a:t>
            </a:r>
            <a:r>
              <a:rPr sz="2200" b="1" spc="-10" dirty="0">
                <a:latin typeface="黑体"/>
                <a:cs typeface="黑体"/>
              </a:rPr>
              <a:t>生</a:t>
            </a:r>
            <a:r>
              <a:rPr sz="2200" b="1" spc="10" dirty="0">
                <a:latin typeface="黑体"/>
                <a:cs typeface="黑体"/>
              </a:rPr>
              <a:t>成</a:t>
            </a:r>
            <a:r>
              <a:rPr sz="2200" b="1" spc="-45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200" b="1" spc="-45" dirty="0">
                <a:latin typeface="黑体"/>
                <a:cs typeface="黑体"/>
              </a:rPr>
              <a:t>，</a:t>
            </a:r>
            <a:r>
              <a:rPr sz="2200" b="1" spc="5" dirty="0">
                <a:latin typeface="黑体"/>
                <a:cs typeface="黑体"/>
              </a:rPr>
              <a:t>又 称</a:t>
            </a:r>
            <a:r>
              <a:rPr sz="2200" b="1" spc="-5" dirty="0">
                <a:latin typeface="黑体"/>
                <a:cs typeface="黑体"/>
              </a:rPr>
              <a:t>为</a:t>
            </a:r>
            <a:r>
              <a:rPr sz="2200" b="1" spc="-10" dirty="0">
                <a:solidFill>
                  <a:srgbClr val="C00000"/>
                </a:solidFill>
                <a:latin typeface="黑体"/>
                <a:cs typeface="黑体"/>
              </a:rPr>
              <a:t>偶</a:t>
            </a:r>
            <a:r>
              <a:rPr sz="2200" b="1" spc="5" dirty="0">
                <a:solidFill>
                  <a:srgbClr val="C00000"/>
                </a:solidFill>
                <a:latin typeface="黑体"/>
                <a:cs typeface="黑体"/>
              </a:rPr>
              <a:t>联</a:t>
            </a:r>
            <a:r>
              <a:rPr sz="2200" b="1" spc="-10" dirty="0">
                <a:solidFill>
                  <a:srgbClr val="C00000"/>
                </a:solidFill>
                <a:latin typeface="黑体"/>
                <a:cs typeface="黑体"/>
              </a:rPr>
              <a:t>磷</a:t>
            </a:r>
            <a:r>
              <a:rPr sz="2200" b="1" spc="5" dirty="0">
                <a:solidFill>
                  <a:srgbClr val="C00000"/>
                </a:solidFill>
                <a:latin typeface="黑体"/>
                <a:cs typeface="黑体"/>
              </a:rPr>
              <a:t>酸</a:t>
            </a:r>
            <a:r>
              <a:rPr sz="2200" b="1" spc="-15" dirty="0">
                <a:solidFill>
                  <a:srgbClr val="C00000"/>
                </a:solidFill>
                <a:latin typeface="黑体"/>
                <a:cs typeface="黑体"/>
              </a:rPr>
              <a:t>化</a:t>
            </a:r>
            <a:endParaRPr sz="2200">
              <a:latin typeface="黑体"/>
              <a:cs typeface="黑体"/>
            </a:endParaRPr>
          </a:p>
          <a:p>
            <a:pPr marL="456565">
              <a:lnSpc>
                <a:spcPct val="100000"/>
              </a:lnSpc>
              <a:spcBef>
                <a:spcPts val="1850"/>
              </a:spcBef>
            </a:pPr>
            <a:r>
              <a:rPr sz="2200" b="1" spc="10" dirty="0">
                <a:latin typeface="黑体"/>
                <a:cs typeface="黑体"/>
              </a:rPr>
              <a:t>是体内产</a:t>
            </a:r>
            <a:r>
              <a:rPr sz="2200" b="1" dirty="0">
                <a:latin typeface="黑体"/>
                <a:cs typeface="黑体"/>
              </a:rPr>
              <a:t>生</a:t>
            </a:r>
            <a:r>
              <a:rPr sz="2200" b="1" spc="-60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200" b="1" spc="5" dirty="0">
                <a:latin typeface="黑体"/>
                <a:cs typeface="黑体"/>
              </a:rPr>
              <a:t>的主</a:t>
            </a:r>
            <a:r>
              <a:rPr sz="2200" b="1" spc="-5" dirty="0">
                <a:latin typeface="黑体"/>
                <a:cs typeface="黑体"/>
              </a:rPr>
              <a:t>要</a:t>
            </a:r>
            <a:r>
              <a:rPr sz="2200" b="1" spc="5" dirty="0">
                <a:latin typeface="黑体"/>
                <a:cs typeface="黑体"/>
              </a:rPr>
              <a:t>方</a:t>
            </a:r>
            <a:r>
              <a:rPr sz="2200" b="1" spc="-15" dirty="0">
                <a:latin typeface="黑体"/>
                <a:cs typeface="黑体"/>
              </a:rPr>
              <a:t>式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3657600"/>
            <a:ext cx="8686800" cy="259689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95600" y="5867400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9600" y="5867400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9600" y="6428232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4572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457200" h="76200">
                <a:moveTo>
                  <a:pt x="4572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457200" y="44450"/>
                </a:lnTo>
                <a:lnTo>
                  <a:pt x="457200" y="317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38400" y="6428232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0"/>
                </a:moveTo>
                <a:lnTo>
                  <a:pt x="381000" y="76200"/>
                </a:lnTo>
                <a:lnTo>
                  <a:pt x="444500" y="44450"/>
                </a:lnTo>
                <a:lnTo>
                  <a:pt x="393700" y="44450"/>
                </a:lnTo>
                <a:lnTo>
                  <a:pt x="393700" y="31750"/>
                </a:lnTo>
                <a:lnTo>
                  <a:pt x="444500" y="31750"/>
                </a:lnTo>
                <a:lnTo>
                  <a:pt x="381000" y="0"/>
                </a:lnTo>
                <a:close/>
              </a:path>
              <a:path w="457200" h="76200">
                <a:moveTo>
                  <a:pt x="381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81000" y="44450"/>
                </a:lnTo>
                <a:lnTo>
                  <a:pt x="381000" y="31750"/>
                </a:lnTo>
                <a:close/>
              </a:path>
              <a:path w="457200" h="76200">
                <a:moveTo>
                  <a:pt x="444500" y="31750"/>
                </a:moveTo>
                <a:lnTo>
                  <a:pt x="393700" y="31750"/>
                </a:lnTo>
                <a:lnTo>
                  <a:pt x="393700" y="44450"/>
                </a:lnTo>
                <a:lnTo>
                  <a:pt x="444500" y="44450"/>
                </a:lnTo>
                <a:lnTo>
                  <a:pt x="457200" y="38100"/>
                </a:lnTo>
                <a:lnTo>
                  <a:pt x="444500" y="317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98194" y="6279896"/>
            <a:ext cx="583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B72315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b="1" dirty="0">
                <a:solidFill>
                  <a:srgbClr val="B72315"/>
                </a:solidFill>
                <a:latin typeface="Verdana" panose="020B0604030504040204"/>
                <a:cs typeface="Verdana" panose="020B0604030504040204"/>
              </a:rPr>
              <a:t>TP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00800" y="5878067"/>
            <a:ext cx="0" cy="268605"/>
          </a:xfrm>
          <a:custGeom>
            <a:avLst/>
            <a:gdLst/>
            <a:ahLst/>
            <a:cxnLst/>
            <a:rect l="l" t="t" r="r" b="b"/>
            <a:pathLst>
              <a:path h="268604">
                <a:moveTo>
                  <a:pt x="0" y="0"/>
                </a:moveTo>
                <a:lnTo>
                  <a:pt x="0" y="268223"/>
                </a:lnTo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71800" y="595884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6096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609600" h="76200">
                <a:moveTo>
                  <a:pt x="6096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609600" y="44450"/>
                </a:lnTo>
                <a:lnTo>
                  <a:pt x="609600" y="317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67400" y="5958840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0"/>
                </a:moveTo>
                <a:lnTo>
                  <a:pt x="457200" y="76200"/>
                </a:lnTo>
                <a:lnTo>
                  <a:pt x="520700" y="44450"/>
                </a:lnTo>
                <a:lnTo>
                  <a:pt x="469900" y="44450"/>
                </a:lnTo>
                <a:lnTo>
                  <a:pt x="469900" y="31750"/>
                </a:lnTo>
                <a:lnTo>
                  <a:pt x="520700" y="31750"/>
                </a:lnTo>
                <a:lnTo>
                  <a:pt x="457200" y="0"/>
                </a:lnTo>
                <a:close/>
              </a:path>
              <a:path w="533400" h="76200">
                <a:moveTo>
                  <a:pt x="457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57200" y="44450"/>
                </a:lnTo>
                <a:lnTo>
                  <a:pt x="457200" y="31750"/>
                </a:lnTo>
                <a:close/>
              </a:path>
              <a:path w="533400" h="76200">
                <a:moveTo>
                  <a:pt x="520700" y="31750"/>
                </a:moveTo>
                <a:lnTo>
                  <a:pt x="469900" y="31750"/>
                </a:lnTo>
                <a:lnTo>
                  <a:pt x="469900" y="44450"/>
                </a:lnTo>
                <a:lnTo>
                  <a:pt x="520700" y="44450"/>
                </a:lnTo>
                <a:lnTo>
                  <a:pt x="533400" y="38100"/>
                </a:lnTo>
                <a:lnTo>
                  <a:pt x="520700" y="317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270375" y="5963513"/>
            <a:ext cx="5835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B72315"/>
                </a:solidFill>
                <a:latin typeface="Verdana" panose="020B0604030504040204"/>
                <a:cs typeface="Verdana" panose="020B0604030504040204"/>
              </a:rPr>
              <a:t>ATP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00800" y="5725667"/>
            <a:ext cx="0" cy="447040"/>
          </a:xfrm>
          <a:custGeom>
            <a:avLst/>
            <a:gdLst/>
            <a:ahLst/>
            <a:cxnLst/>
            <a:rect l="l" t="t" r="r" b="b"/>
            <a:pathLst>
              <a:path h="447039">
                <a:moveTo>
                  <a:pt x="0" y="0"/>
                </a:moveTo>
                <a:lnTo>
                  <a:pt x="0" y="446531"/>
                </a:lnTo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763000" y="5725667"/>
            <a:ext cx="0" cy="447040"/>
          </a:xfrm>
          <a:custGeom>
            <a:avLst/>
            <a:gdLst/>
            <a:ahLst/>
            <a:cxnLst/>
            <a:rect l="l" t="t" r="r" b="b"/>
            <a:pathLst>
              <a:path h="447039">
                <a:moveTo>
                  <a:pt x="0" y="0"/>
                </a:moveTo>
                <a:lnTo>
                  <a:pt x="0" y="446531"/>
                </a:lnTo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00800" y="5911596"/>
            <a:ext cx="443865" cy="76200"/>
          </a:xfrm>
          <a:custGeom>
            <a:avLst/>
            <a:gdLst/>
            <a:ahLst/>
            <a:cxnLst/>
            <a:rect l="l" t="t" r="r" b="b"/>
            <a:pathLst>
              <a:path w="443865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4449"/>
                </a:lnTo>
                <a:lnTo>
                  <a:pt x="63500" y="44449"/>
                </a:lnTo>
                <a:lnTo>
                  <a:pt x="63500" y="31749"/>
                </a:lnTo>
                <a:lnTo>
                  <a:pt x="76200" y="31749"/>
                </a:lnTo>
                <a:lnTo>
                  <a:pt x="76200" y="0"/>
                </a:lnTo>
                <a:close/>
              </a:path>
              <a:path w="443865" h="76200">
                <a:moveTo>
                  <a:pt x="76200" y="31749"/>
                </a:moveTo>
                <a:lnTo>
                  <a:pt x="63500" y="31749"/>
                </a:lnTo>
                <a:lnTo>
                  <a:pt x="63500" y="44449"/>
                </a:lnTo>
                <a:lnTo>
                  <a:pt x="76200" y="44449"/>
                </a:lnTo>
                <a:lnTo>
                  <a:pt x="76200" y="31749"/>
                </a:lnTo>
                <a:close/>
              </a:path>
              <a:path w="443865" h="76200">
                <a:moveTo>
                  <a:pt x="443483" y="31749"/>
                </a:moveTo>
                <a:lnTo>
                  <a:pt x="76200" y="31749"/>
                </a:lnTo>
                <a:lnTo>
                  <a:pt x="76200" y="44449"/>
                </a:lnTo>
                <a:lnTo>
                  <a:pt x="443483" y="44449"/>
                </a:lnTo>
                <a:lnTo>
                  <a:pt x="443483" y="3174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319516" y="5911596"/>
            <a:ext cx="443865" cy="76200"/>
          </a:xfrm>
          <a:custGeom>
            <a:avLst/>
            <a:gdLst/>
            <a:ahLst/>
            <a:cxnLst/>
            <a:rect l="l" t="t" r="r" b="b"/>
            <a:pathLst>
              <a:path w="443865" h="76200">
                <a:moveTo>
                  <a:pt x="367283" y="0"/>
                </a:moveTo>
                <a:lnTo>
                  <a:pt x="367283" y="76199"/>
                </a:lnTo>
                <a:lnTo>
                  <a:pt x="430783" y="44449"/>
                </a:lnTo>
                <a:lnTo>
                  <a:pt x="379983" y="44449"/>
                </a:lnTo>
                <a:lnTo>
                  <a:pt x="379983" y="31749"/>
                </a:lnTo>
                <a:lnTo>
                  <a:pt x="430783" y="31749"/>
                </a:lnTo>
                <a:lnTo>
                  <a:pt x="367283" y="0"/>
                </a:lnTo>
                <a:close/>
              </a:path>
              <a:path w="443865" h="76200">
                <a:moveTo>
                  <a:pt x="367283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67283" y="44449"/>
                </a:lnTo>
                <a:lnTo>
                  <a:pt x="367283" y="31749"/>
                </a:lnTo>
                <a:close/>
              </a:path>
              <a:path w="443865" h="76200">
                <a:moveTo>
                  <a:pt x="430783" y="31749"/>
                </a:moveTo>
                <a:lnTo>
                  <a:pt x="379983" y="31749"/>
                </a:lnTo>
                <a:lnTo>
                  <a:pt x="379983" y="44449"/>
                </a:lnTo>
                <a:lnTo>
                  <a:pt x="430783" y="44449"/>
                </a:lnTo>
                <a:lnTo>
                  <a:pt x="443483" y="38099"/>
                </a:lnTo>
                <a:lnTo>
                  <a:pt x="430783" y="3174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038213" y="5858052"/>
            <a:ext cx="5835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B72315"/>
                </a:solidFill>
                <a:latin typeface="Verdana" panose="020B0604030504040204"/>
                <a:cs typeface="Verdana" panose="020B0604030504040204"/>
              </a:rPr>
              <a:t>ATP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65776" y="3986784"/>
            <a:ext cx="3657600" cy="609600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7112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560"/>
              </a:spcBef>
            </a:pPr>
            <a:r>
              <a:rPr sz="2800" b="1" dirty="0">
                <a:solidFill>
                  <a:srgbClr val="FFFFFF"/>
                </a:solidFill>
                <a:latin typeface="黑体"/>
                <a:cs typeface="黑体"/>
              </a:rPr>
              <a:t>氧</a:t>
            </a:r>
            <a:r>
              <a:rPr sz="2800" b="1" spc="-10" dirty="0">
                <a:solidFill>
                  <a:srgbClr val="FFFFFF"/>
                </a:solidFill>
                <a:latin typeface="黑体"/>
                <a:cs typeface="黑体"/>
              </a:rPr>
              <a:t>化磷酸</a:t>
            </a:r>
            <a:r>
              <a:rPr sz="2800" b="1" dirty="0">
                <a:solidFill>
                  <a:srgbClr val="FFFFFF"/>
                </a:solidFill>
                <a:latin typeface="黑体"/>
                <a:cs typeface="黑体"/>
              </a:rPr>
              <a:t>化</a:t>
            </a:r>
            <a:r>
              <a:rPr sz="2800" b="1" spc="-10" dirty="0">
                <a:solidFill>
                  <a:srgbClr val="FFFFFF"/>
                </a:solidFill>
                <a:latin typeface="黑体"/>
                <a:cs typeface="黑体"/>
              </a:rPr>
              <a:t>偶联部</a:t>
            </a:r>
            <a:r>
              <a:rPr sz="2800" b="1" spc="-15" dirty="0">
                <a:solidFill>
                  <a:srgbClr val="FFFFFF"/>
                </a:solidFill>
                <a:latin typeface="黑体"/>
                <a:cs typeface="黑体"/>
              </a:rPr>
              <a:t>位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774695" y="813561"/>
            <a:ext cx="3576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电子传递链自由能变化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3754" y="1420315"/>
            <a:ext cx="7578725" cy="38735"/>
          </a:xfrm>
          <a:custGeom>
            <a:avLst/>
            <a:gdLst/>
            <a:ahLst/>
            <a:cxnLst/>
            <a:rect l="l" t="t" r="r" b="b"/>
            <a:pathLst>
              <a:path w="7578725" h="38734">
                <a:moveTo>
                  <a:pt x="0" y="38183"/>
                </a:moveTo>
                <a:lnTo>
                  <a:pt x="7578336" y="38184"/>
                </a:lnTo>
                <a:lnTo>
                  <a:pt x="7578336" y="0"/>
                </a:lnTo>
                <a:lnTo>
                  <a:pt x="0" y="0"/>
                </a:lnTo>
                <a:lnTo>
                  <a:pt x="0" y="38183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03754" y="1420315"/>
            <a:ext cx="7578725" cy="38735"/>
          </a:xfrm>
          <a:custGeom>
            <a:avLst/>
            <a:gdLst/>
            <a:ahLst/>
            <a:cxnLst/>
            <a:rect l="l" t="t" r="r" b="b"/>
            <a:pathLst>
              <a:path w="7578725" h="38734">
                <a:moveTo>
                  <a:pt x="0" y="38183"/>
                </a:moveTo>
                <a:lnTo>
                  <a:pt x="7578336" y="38184"/>
                </a:lnTo>
                <a:lnTo>
                  <a:pt x="7578336" y="0"/>
                </a:lnTo>
                <a:lnTo>
                  <a:pt x="0" y="0"/>
                </a:lnTo>
                <a:lnTo>
                  <a:pt x="0" y="38183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75000" y="2137970"/>
          <a:ext cx="7587615" cy="1428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995"/>
                <a:gridCol w="1732280"/>
                <a:gridCol w="1210310"/>
                <a:gridCol w="2444750"/>
                <a:gridCol w="2113915"/>
              </a:tblGrid>
              <a:tr h="46526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2350" b="1" spc="25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NAD</a:t>
                      </a:r>
                      <a:r>
                        <a:rPr sz="2325" b="1" spc="37" baseline="2500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+</a:t>
                      </a:r>
                      <a:r>
                        <a:rPr sz="2350" b="1" spc="25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~CoQ</a:t>
                      </a:r>
                      <a:endParaRPr sz="235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2069" marB="0">
                    <a:lnT w="12700">
                      <a:solidFill>
                        <a:srgbClr val="0033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2350" b="1" spc="15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0.36V</a:t>
                      </a:r>
                      <a:endParaRPr sz="235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2069" marB="0">
                    <a:lnT w="12700">
                      <a:solidFill>
                        <a:srgbClr val="0033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2350" b="1" spc="2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69.5KJ/mol</a:t>
                      </a:r>
                      <a:endParaRPr sz="235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2069" marB="0">
                    <a:lnT w="12700">
                      <a:solidFill>
                        <a:srgbClr val="0033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51180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2350" b="1" dirty="0">
                          <a:solidFill>
                            <a:srgbClr val="003366"/>
                          </a:solidFill>
                          <a:latin typeface="华文楷体" panose="02010600040101010101" charset="-122"/>
                          <a:cs typeface="华文楷体" panose="02010600040101010101" charset="-122"/>
                        </a:rPr>
                        <a:t>能</a:t>
                      </a:r>
                      <a:endParaRPr sz="2350">
                        <a:latin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0" marR="0" marT="52069" marB="0">
                    <a:lnT w="12700">
                      <a:solidFill>
                        <a:srgbClr val="003366"/>
                      </a:solidFill>
                      <a:prstDash val="solid"/>
                    </a:lnT>
                  </a:tcPr>
                </a:tc>
              </a:tr>
              <a:tr h="431917">
                <a:tc vMerge="1">
                  <a:tcPr marL="0" marR="0" marT="0" marB="0"/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b="1" spc="2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CoQ~Cyt</a:t>
                      </a:r>
                      <a:r>
                        <a:rPr sz="2350" b="1" spc="1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c</a:t>
                      </a:r>
                      <a:endParaRPr sz="235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b="1" spc="15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0.21V</a:t>
                      </a:r>
                      <a:endParaRPr sz="235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b="1" spc="2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40.5KJ/mol</a:t>
                      </a:r>
                      <a:endParaRPr sz="235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b="1" dirty="0">
                          <a:solidFill>
                            <a:srgbClr val="003366"/>
                          </a:solidFill>
                          <a:latin typeface="华文楷体" panose="02010600040101010101" charset="-122"/>
                          <a:cs typeface="华文楷体" panose="02010600040101010101" charset="-122"/>
                        </a:rPr>
                        <a:t>能</a:t>
                      </a:r>
                      <a:endParaRPr sz="2350">
                        <a:latin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0" marR="0" marT="18415" marB="0"/>
                </a:tc>
              </a:tr>
              <a:tr h="4930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B w="53975">
                      <a:solidFill>
                        <a:srgbClr val="00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b="1" spc="2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Cyt</a:t>
                      </a:r>
                      <a:r>
                        <a:rPr sz="2350" b="1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2350" b="1" spc="2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aa</a:t>
                      </a:r>
                      <a:r>
                        <a:rPr sz="2325" b="1" spc="30" baseline="-2200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3</a:t>
                      </a:r>
                      <a:r>
                        <a:rPr sz="2350" b="1" spc="2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~O</a:t>
                      </a:r>
                      <a:r>
                        <a:rPr sz="2325" b="1" spc="30" baseline="-2200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2</a:t>
                      </a:r>
                      <a:endParaRPr sz="2325" baseline="-22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8415" marB="0">
                    <a:lnB w="53975">
                      <a:solidFill>
                        <a:srgbClr val="00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b="1" spc="15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0.53V</a:t>
                      </a:r>
                      <a:endParaRPr sz="235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8415" marB="0">
                    <a:lnB w="53975">
                      <a:solidFill>
                        <a:srgbClr val="00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b="1" spc="20" dirty="0">
                          <a:solidFill>
                            <a:srgbClr val="003366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102.3KJ/mol</a:t>
                      </a:r>
                      <a:endParaRPr sz="235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8415" marB="0">
                    <a:lnB w="53975">
                      <a:solidFill>
                        <a:srgbClr val="00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b="1" dirty="0">
                          <a:solidFill>
                            <a:srgbClr val="003366"/>
                          </a:solidFill>
                          <a:latin typeface="华文楷体" panose="02010600040101010101" charset="-122"/>
                          <a:cs typeface="华文楷体" panose="02010600040101010101" charset="-122"/>
                        </a:rPr>
                        <a:t>能</a:t>
                      </a:r>
                      <a:endParaRPr sz="2350">
                        <a:latin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0" marR="0" marT="18415" marB="0">
                    <a:lnB w="53975">
                      <a:solidFill>
                        <a:srgbClr val="0033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070317" y="1600714"/>
            <a:ext cx="5353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45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区段</a:t>
            </a:r>
            <a:endParaRPr sz="195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8487" y="1455930"/>
            <a:ext cx="5886450" cy="6102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76200" marR="43180" indent="62865">
              <a:lnSpc>
                <a:spcPts val="2230"/>
              </a:lnSpc>
              <a:spcBef>
                <a:spcPts val="290"/>
              </a:spcBef>
              <a:tabLst>
                <a:tab pos="1445260" algn="l"/>
                <a:tab pos="1633855" algn="l"/>
                <a:tab pos="3390265" algn="l"/>
                <a:tab pos="3642995" algn="l"/>
              </a:tabLst>
            </a:pPr>
            <a:r>
              <a:rPr sz="1950" b="1" spc="45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电</a:t>
            </a:r>
            <a:r>
              <a:rPr sz="1950" b="1" spc="4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位</a:t>
            </a:r>
            <a:r>
              <a:rPr sz="1950" b="1" spc="45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变</a:t>
            </a:r>
            <a:r>
              <a:rPr sz="1950" b="1" spc="2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化		</a:t>
            </a:r>
            <a:r>
              <a:rPr sz="1950" b="1" spc="45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自由能</a:t>
            </a:r>
            <a:r>
              <a:rPr sz="1950" b="1" spc="4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变</a:t>
            </a:r>
            <a:r>
              <a:rPr sz="1950" b="1" spc="2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化		</a:t>
            </a:r>
            <a:r>
              <a:rPr sz="1950" b="1" spc="45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能 否 生 成 </a:t>
            </a:r>
            <a:r>
              <a:rPr sz="1950" b="1" spc="2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ATP  </a:t>
            </a:r>
            <a:r>
              <a:rPr sz="2925" b="1" spc="15" baseline="-400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(</a:t>
            </a:r>
            <a:r>
              <a:rPr sz="2925" b="1" spc="67" baseline="-400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⊿</a:t>
            </a:r>
            <a:r>
              <a:rPr sz="2925" b="1" spc="75" baseline="-400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E</a:t>
            </a:r>
            <a:r>
              <a:rPr sz="1725" b="1" spc="-15" baseline="1700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º</a:t>
            </a:r>
            <a:r>
              <a:rPr sz="2925" b="1" spc="67" baseline="-400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′</a:t>
            </a:r>
            <a:r>
              <a:rPr sz="2925" b="1" spc="7" baseline="-400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)</a:t>
            </a:r>
            <a:r>
              <a:rPr sz="2925" b="1" baseline="-400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750" b="1" spc="5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⊿</a:t>
            </a:r>
            <a:r>
              <a:rPr sz="1750" b="1" spc="5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G</a:t>
            </a:r>
            <a:r>
              <a:rPr sz="1725" b="1" spc="-15" baseline="2400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º</a:t>
            </a:r>
            <a:r>
              <a:rPr sz="1750" b="1" spc="4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′</a:t>
            </a:r>
            <a:r>
              <a:rPr sz="1750" b="1" spc="2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=</a:t>
            </a:r>
            <a:r>
              <a:rPr sz="1750" b="1" spc="1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1750" b="1" spc="2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n</a:t>
            </a:r>
            <a:r>
              <a:rPr sz="1750" b="1" spc="2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F</a:t>
            </a:r>
            <a:r>
              <a:rPr sz="1750" b="1" spc="4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⊿</a:t>
            </a:r>
            <a:r>
              <a:rPr sz="1750" b="1" spc="5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E</a:t>
            </a:r>
            <a:r>
              <a:rPr sz="1725" b="1" spc="-15" baseline="2400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º</a:t>
            </a:r>
            <a:r>
              <a:rPr sz="1750" b="1" spc="25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′</a:t>
            </a:r>
            <a:r>
              <a:rPr sz="1750" b="1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	</a:t>
            </a:r>
            <a:r>
              <a:rPr sz="1750" b="1" spc="1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(</a:t>
            </a:r>
            <a:r>
              <a:rPr sz="1750" b="1" spc="50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⊿</a:t>
            </a:r>
            <a:r>
              <a:rPr sz="1750" b="1" spc="5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G</a:t>
            </a:r>
            <a:r>
              <a:rPr sz="1725" b="1" spc="-22" baseline="2400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º</a:t>
            </a:r>
            <a:r>
              <a:rPr sz="1750" b="1" spc="45" dirty="0">
                <a:solidFill>
                  <a:srgbClr val="336600"/>
                </a:solidFill>
                <a:latin typeface="华文楷体" panose="02010600040101010101" charset="-122"/>
                <a:cs typeface="华文楷体" panose="02010600040101010101" charset="-122"/>
              </a:rPr>
              <a:t>′是否大于</a:t>
            </a:r>
            <a:r>
              <a:rPr sz="1750" b="1" spc="2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30</a:t>
            </a:r>
            <a:r>
              <a:rPr sz="1750" b="1" spc="1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.5</a:t>
            </a:r>
            <a:r>
              <a:rPr sz="1750" b="1" spc="3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K</a:t>
            </a:r>
            <a:r>
              <a:rPr sz="1750" b="1" spc="25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J</a:t>
            </a:r>
            <a:r>
              <a:rPr sz="1750" b="1" spc="10" dirty="0">
                <a:solidFill>
                  <a:srgbClr val="336600"/>
                </a:solidFill>
                <a:latin typeface="Times New Roman" panose="02020503050405090304"/>
                <a:cs typeface="Times New Roman" panose="02020503050405090304"/>
              </a:rPr>
              <a:t>)</a:t>
            </a:r>
            <a:endParaRPr sz="175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644" y="592912"/>
            <a:ext cx="45135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 panose="02020503050405090304"/>
                <a:cs typeface="Times New Roman" panose="02020503050405090304"/>
              </a:rPr>
              <a:t>2.</a:t>
            </a:r>
            <a:r>
              <a:rPr sz="3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5" dirty="0"/>
              <a:t>氧化</a:t>
            </a:r>
            <a:r>
              <a:rPr sz="3200" spc="-10" dirty="0"/>
              <a:t>磷</a:t>
            </a:r>
            <a:r>
              <a:rPr sz="3200" spc="5" dirty="0"/>
              <a:t>酸</a:t>
            </a:r>
            <a:r>
              <a:rPr sz="3200" spc="-10" dirty="0"/>
              <a:t>化的</a:t>
            </a:r>
            <a:r>
              <a:rPr sz="3200" dirty="0"/>
              <a:t>偶</a:t>
            </a:r>
            <a:r>
              <a:rPr sz="3200" spc="-10" dirty="0"/>
              <a:t>联机理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3719" y="1939289"/>
            <a:ext cx="7388225" cy="2711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0000"/>
                </a:solidFill>
                <a:latin typeface="黑体"/>
                <a:cs typeface="黑体"/>
              </a:rPr>
              <a:t>①</a:t>
            </a:r>
            <a:r>
              <a:rPr sz="2800" b="1" spc="-70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2800" b="1" spc="5" dirty="0">
                <a:solidFill>
                  <a:srgbClr val="FF0000"/>
                </a:solidFill>
                <a:latin typeface="黑体"/>
                <a:cs typeface="黑体"/>
              </a:rPr>
              <a:t>化学渗透假</a:t>
            </a:r>
            <a:r>
              <a:rPr sz="2800" b="1" spc="-5" dirty="0">
                <a:solidFill>
                  <a:srgbClr val="FF0000"/>
                </a:solidFill>
                <a:latin typeface="黑体"/>
                <a:cs typeface="黑体"/>
              </a:rPr>
              <a:t>说</a:t>
            </a:r>
            <a:r>
              <a:rPr sz="2800" b="1" spc="-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(chemiosmotic</a:t>
            </a:r>
            <a:r>
              <a:rPr sz="2800" b="1" spc="-3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hypothesis)</a:t>
            </a:r>
            <a:endParaRPr sz="2800">
              <a:latin typeface="Times New Roman" panose="02020503050405090304"/>
              <a:cs typeface="Times New Roman" panose="02020503050405090304"/>
            </a:endParaRPr>
          </a:p>
          <a:p>
            <a:pPr marL="309245" marR="30480" indent="714375" algn="just">
              <a:lnSpc>
                <a:spcPct val="150000"/>
              </a:lnSpc>
              <a:spcBef>
                <a:spcPts val="505"/>
              </a:spcBef>
            </a:pPr>
            <a:r>
              <a:rPr sz="2400" b="1" spc="60" dirty="0">
                <a:latin typeface="黑体"/>
                <a:cs typeface="黑体"/>
              </a:rPr>
              <a:t>电子经呼吸链传递</a:t>
            </a:r>
            <a:r>
              <a:rPr sz="2400" b="1" spc="65" dirty="0">
                <a:latin typeface="黑体"/>
                <a:cs typeface="黑体"/>
              </a:rPr>
              <a:t>时</a:t>
            </a:r>
            <a:r>
              <a:rPr sz="2400" b="1" spc="60" dirty="0">
                <a:latin typeface="黑体"/>
                <a:cs typeface="黑体"/>
              </a:rPr>
              <a:t>，可将质</a:t>
            </a:r>
            <a:r>
              <a:rPr sz="2400" b="1" spc="65" dirty="0">
                <a:latin typeface="黑体"/>
                <a:cs typeface="黑体"/>
              </a:rPr>
              <a:t>子</a:t>
            </a:r>
            <a:r>
              <a:rPr sz="2400" b="1" spc="60" dirty="0">
                <a:latin typeface="黑体"/>
                <a:cs typeface="黑体"/>
              </a:rPr>
              <a:t>（</a:t>
            </a:r>
            <a:r>
              <a:rPr sz="2400" b="1" spc="5" dirty="0">
                <a:latin typeface="Times New Roman" panose="02020503050405090304"/>
                <a:cs typeface="Times New Roman" panose="02020503050405090304"/>
              </a:rPr>
              <a:t>H</a:t>
            </a:r>
            <a:r>
              <a:rPr sz="2400" b="1" spc="67" baseline="24000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400" b="1" spc="60" dirty="0">
                <a:latin typeface="黑体"/>
                <a:cs typeface="黑体"/>
              </a:rPr>
              <a:t>）从线粒 </a:t>
            </a:r>
            <a:r>
              <a:rPr sz="2400" b="1" spc="105" dirty="0">
                <a:latin typeface="黑体"/>
                <a:cs typeface="黑体"/>
              </a:rPr>
              <a:t>体内膜</a:t>
            </a:r>
            <a:r>
              <a:rPr sz="2400" b="1" spc="114" dirty="0">
                <a:latin typeface="黑体"/>
                <a:cs typeface="黑体"/>
              </a:rPr>
              <a:t>的</a:t>
            </a:r>
            <a:r>
              <a:rPr sz="2400" b="1" spc="105" dirty="0">
                <a:latin typeface="黑体"/>
                <a:cs typeface="黑体"/>
              </a:rPr>
              <a:t>基质侧</a:t>
            </a:r>
            <a:r>
              <a:rPr sz="2400" b="1" spc="114" dirty="0">
                <a:latin typeface="黑体"/>
                <a:cs typeface="黑体"/>
              </a:rPr>
              <a:t>泵</a:t>
            </a:r>
            <a:r>
              <a:rPr sz="2400" b="1" spc="105" dirty="0">
                <a:latin typeface="黑体"/>
                <a:cs typeface="黑体"/>
              </a:rPr>
              <a:t>到内膜</a:t>
            </a:r>
            <a:r>
              <a:rPr sz="2400" b="1" spc="114" dirty="0">
                <a:latin typeface="黑体"/>
                <a:cs typeface="黑体"/>
              </a:rPr>
              <a:t>胞</a:t>
            </a:r>
            <a:r>
              <a:rPr sz="2400" b="1" spc="105" dirty="0">
                <a:latin typeface="黑体"/>
                <a:cs typeface="黑体"/>
              </a:rPr>
              <a:t>浆</a:t>
            </a:r>
            <a:r>
              <a:rPr sz="2400" b="1" spc="145" dirty="0">
                <a:latin typeface="黑体"/>
                <a:cs typeface="黑体"/>
              </a:rPr>
              <a:t>侧</a:t>
            </a:r>
            <a:r>
              <a:rPr sz="2400" b="1" spc="110" dirty="0">
                <a:latin typeface="黑体"/>
                <a:cs typeface="黑体"/>
              </a:rPr>
              <a:t>，</a:t>
            </a:r>
            <a:r>
              <a:rPr sz="2400" b="1" spc="120" dirty="0">
                <a:latin typeface="黑体"/>
                <a:cs typeface="黑体"/>
              </a:rPr>
              <a:t>产</a:t>
            </a:r>
            <a:r>
              <a:rPr sz="2400" b="1" spc="110" dirty="0">
                <a:latin typeface="黑体"/>
                <a:cs typeface="黑体"/>
              </a:rPr>
              <a:t>生膜内</a:t>
            </a:r>
            <a:r>
              <a:rPr sz="2400" b="1" spc="120" dirty="0">
                <a:latin typeface="黑体"/>
                <a:cs typeface="黑体"/>
              </a:rPr>
              <a:t>外</a:t>
            </a:r>
            <a:r>
              <a:rPr sz="2400" b="1" spc="110" dirty="0">
                <a:latin typeface="黑体"/>
                <a:cs typeface="黑体"/>
              </a:rPr>
              <a:t>质</a:t>
            </a:r>
            <a:r>
              <a:rPr sz="2400" b="1" spc="-10" dirty="0">
                <a:latin typeface="黑体"/>
                <a:cs typeface="黑体"/>
              </a:rPr>
              <a:t>子 </a:t>
            </a:r>
            <a:r>
              <a:rPr sz="2400" b="1" spc="105" dirty="0">
                <a:latin typeface="黑体"/>
                <a:cs typeface="黑体"/>
              </a:rPr>
              <a:t>电化学</a:t>
            </a:r>
            <a:r>
              <a:rPr sz="2400" b="1" spc="114" dirty="0">
                <a:latin typeface="黑体"/>
                <a:cs typeface="黑体"/>
              </a:rPr>
              <a:t>梯</a:t>
            </a:r>
            <a:r>
              <a:rPr sz="2400" b="1" spc="105" dirty="0">
                <a:latin typeface="黑体"/>
                <a:cs typeface="黑体"/>
              </a:rPr>
              <a:t>度储存</a:t>
            </a:r>
            <a:r>
              <a:rPr sz="2400" b="1" spc="114" dirty="0">
                <a:latin typeface="黑体"/>
                <a:cs typeface="黑体"/>
              </a:rPr>
              <a:t>能</a:t>
            </a:r>
            <a:r>
              <a:rPr sz="2400" b="1" spc="130" dirty="0">
                <a:latin typeface="黑体"/>
                <a:cs typeface="黑体"/>
              </a:rPr>
              <a:t>量</a:t>
            </a:r>
            <a:r>
              <a:rPr sz="2400" b="1" spc="110" dirty="0">
                <a:latin typeface="黑体"/>
                <a:cs typeface="黑体"/>
              </a:rPr>
              <a:t>。</a:t>
            </a:r>
            <a:r>
              <a:rPr sz="2400" b="1" spc="105" dirty="0">
                <a:latin typeface="黑体"/>
                <a:cs typeface="黑体"/>
              </a:rPr>
              <a:t>当</a:t>
            </a:r>
            <a:r>
              <a:rPr sz="2400" b="1" spc="114" dirty="0">
                <a:latin typeface="黑体"/>
                <a:cs typeface="黑体"/>
              </a:rPr>
              <a:t>质</a:t>
            </a:r>
            <a:r>
              <a:rPr sz="2400" b="1" spc="105" dirty="0">
                <a:latin typeface="黑体"/>
                <a:cs typeface="黑体"/>
              </a:rPr>
              <a:t>子顺浓</a:t>
            </a:r>
            <a:r>
              <a:rPr sz="2400" b="1" spc="114" dirty="0">
                <a:latin typeface="黑体"/>
                <a:cs typeface="黑体"/>
              </a:rPr>
              <a:t>度</a:t>
            </a:r>
            <a:r>
              <a:rPr sz="2400" b="1" spc="105" dirty="0">
                <a:latin typeface="黑体"/>
                <a:cs typeface="黑体"/>
              </a:rPr>
              <a:t>梯度回</a:t>
            </a:r>
            <a:r>
              <a:rPr sz="2400" b="1" spc="114" dirty="0">
                <a:latin typeface="黑体"/>
                <a:cs typeface="黑体"/>
              </a:rPr>
              <a:t>流</a:t>
            </a:r>
            <a:r>
              <a:rPr sz="2400" b="1" spc="105" dirty="0">
                <a:latin typeface="黑体"/>
                <a:cs typeface="黑体"/>
              </a:rPr>
              <a:t>时</a:t>
            </a:r>
            <a:r>
              <a:rPr sz="2400" b="1" spc="-10" dirty="0">
                <a:latin typeface="黑体"/>
                <a:cs typeface="黑体"/>
              </a:rPr>
              <a:t>驱 </a:t>
            </a:r>
            <a:r>
              <a:rPr sz="2400" b="1" dirty="0">
                <a:latin typeface="黑体"/>
                <a:cs typeface="黑体"/>
              </a:rPr>
              <a:t>动</a:t>
            </a:r>
            <a:r>
              <a:rPr sz="2400" b="1" spc="-10" dirty="0">
                <a:latin typeface="Times New Roman" panose="02020503050405090304"/>
                <a:cs typeface="Times New Roman" panose="02020503050405090304"/>
              </a:rPr>
              <a:t>ADP</a:t>
            </a:r>
            <a:r>
              <a:rPr sz="2400" b="1" dirty="0">
                <a:latin typeface="黑体"/>
                <a:cs typeface="黑体"/>
              </a:rPr>
              <a:t>与</a:t>
            </a:r>
            <a:r>
              <a:rPr sz="2400" b="1" spc="-5" dirty="0">
                <a:latin typeface="Times New Roman" panose="02020503050405090304"/>
                <a:cs typeface="Times New Roman" panose="02020503050405090304"/>
              </a:rPr>
              <a:t>Pi</a:t>
            </a:r>
            <a:r>
              <a:rPr sz="2400" b="1" spc="-5" dirty="0">
                <a:latin typeface="黑体"/>
                <a:cs typeface="黑体"/>
              </a:rPr>
              <a:t>生成</a:t>
            </a:r>
            <a:r>
              <a:rPr sz="2400" b="1" spc="-70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400" b="1" spc="-10" dirty="0">
                <a:latin typeface="黑体"/>
                <a:cs typeface="黑体"/>
              </a:rPr>
              <a:t>。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065" y="6265570"/>
            <a:ext cx="6926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66"/>
                </a:solidFill>
                <a:latin typeface="Times New Roman" panose="02020503050405090304"/>
                <a:cs typeface="Times New Roman" panose="02020503050405090304"/>
              </a:rPr>
              <a:t>Peter</a:t>
            </a:r>
            <a:r>
              <a:rPr sz="2000" b="1" spc="-85" dirty="0">
                <a:solidFill>
                  <a:srgbClr val="0000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dirty="0">
                <a:solidFill>
                  <a:srgbClr val="000066"/>
                </a:solidFill>
                <a:latin typeface="Times New Roman" panose="02020503050405090304"/>
                <a:cs typeface="Times New Roman" panose="02020503050405090304"/>
              </a:rPr>
              <a:t>Mitchell</a:t>
            </a:r>
            <a:r>
              <a:rPr sz="2000" b="1" dirty="0">
                <a:solidFill>
                  <a:srgbClr val="000066"/>
                </a:solidFill>
                <a:latin typeface="黑体"/>
                <a:cs typeface="黑体"/>
              </a:rPr>
              <a:t>，</a:t>
            </a:r>
            <a:r>
              <a:rPr sz="2000" b="1" dirty="0">
                <a:solidFill>
                  <a:srgbClr val="000066"/>
                </a:solidFill>
                <a:latin typeface="Times New Roman" panose="02020503050405090304"/>
                <a:cs typeface="Times New Roman" panose="02020503050405090304"/>
              </a:rPr>
              <a:t>1961</a:t>
            </a:r>
            <a:r>
              <a:rPr sz="2000" b="1" spc="5" dirty="0">
                <a:solidFill>
                  <a:srgbClr val="000066"/>
                </a:solidFill>
                <a:latin typeface="黑体"/>
                <a:cs typeface="黑体"/>
              </a:rPr>
              <a:t>提出化</a:t>
            </a:r>
            <a:r>
              <a:rPr sz="2000" b="1" spc="-5" dirty="0">
                <a:solidFill>
                  <a:srgbClr val="000066"/>
                </a:solidFill>
                <a:latin typeface="黑体"/>
                <a:cs typeface="黑体"/>
              </a:rPr>
              <a:t>学</a:t>
            </a:r>
            <a:r>
              <a:rPr sz="2000" b="1" spc="5" dirty="0">
                <a:solidFill>
                  <a:srgbClr val="000066"/>
                </a:solidFill>
                <a:latin typeface="黑体"/>
                <a:cs typeface="黑体"/>
              </a:rPr>
              <a:t>渗透</a:t>
            </a:r>
            <a:r>
              <a:rPr sz="2000" b="1" spc="-5" dirty="0">
                <a:solidFill>
                  <a:srgbClr val="000066"/>
                </a:solidFill>
                <a:latin typeface="黑体"/>
                <a:cs typeface="黑体"/>
              </a:rPr>
              <a:t>学</a:t>
            </a:r>
            <a:r>
              <a:rPr sz="2000" b="1" spc="5" dirty="0">
                <a:solidFill>
                  <a:srgbClr val="000066"/>
                </a:solidFill>
                <a:latin typeface="黑体"/>
                <a:cs typeface="黑体"/>
              </a:rPr>
              <a:t>说。</a:t>
            </a:r>
            <a:r>
              <a:rPr sz="2000" b="1" spc="-5" dirty="0">
                <a:solidFill>
                  <a:srgbClr val="000066"/>
                </a:solidFill>
                <a:latin typeface="Times New Roman" panose="02020503050405090304"/>
                <a:cs typeface="Times New Roman" panose="02020503050405090304"/>
              </a:rPr>
              <a:t>1978</a:t>
            </a:r>
            <a:r>
              <a:rPr sz="2000" b="1" spc="5" dirty="0">
                <a:solidFill>
                  <a:srgbClr val="000066"/>
                </a:solidFill>
                <a:latin typeface="黑体"/>
                <a:cs typeface="黑体"/>
              </a:rPr>
              <a:t>年诺</a:t>
            </a:r>
            <a:r>
              <a:rPr sz="2000" b="1" spc="-5" dirty="0">
                <a:solidFill>
                  <a:srgbClr val="000066"/>
                </a:solidFill>
                <a:latin typeface="黑体"/>
                <a:cs typeface="黑体"/>
              </a:rPr>
              <a:t>贝</a:t>
            </a:r>
            <a:r>
              <a:rPr sz="2000" b="1" spc="5" dirty="0">
                <a:solidFill>
                  <a:srgbClr val="000066"/>
                </a:solidFill>
                <a:latin typeface="黑体"/>
                <a:cs typeface="黑体"/>
              </a:rPr>
              <a:t>尔化</a:t>
            </a:r>
            <a:r>
              <a:rPr sz="2000" b="1" spc="-5" dirty="0">
                <a:solidFill>
                  <a:srgbClr val="000066"/>
                </a:solidFill>
                <a:latin typeface="黑体"/>
                <a:cs typeface="黑体"/>
              </a:rPr>
              <a:t>学奖</a:t>
            </a:r>
            <a:endParaRPr sz="2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43603" y="4256988"/>
            <a:ext cx="12573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+ + +</a:t>
            </a:r>
            <a:r>
              <a:rPr sz="3200" b="1" spc="-1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8176" y="3391611"/>
            <a:ext cx="11766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1155" algn="l"/>
                <a:tab pos="688975" algn="l"/>
                <a:tab pos="1027430" algn="l"/>
              </a:tabLst>
            </a:pPr>
            <a:r>
              <a:rPr sz="32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-	-	-	-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98954" y="3468115"/>
            <a:ext cx="3594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r>
              <a:rPr sz="1950" b="1" spc="7" baseline="-21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endParaRPr sz="1950" baseline="-2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5928" y="1510283"/>
            <a:ext cx="8770620" cy="36880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11451" y="2820162"/>
            <a:ext cx="5581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H</a:t>
            </a:r>
            <a:r>
              <a:rPr sz="1950" b="1" spc="7" baseline="-21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000" b="1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5609" y="1961997"/>
            <a:ext cx="1371600" cy="132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4605">
              <a:lnSpc>
                <a:spcPct val="151000"/>
              </a:lnSpc>
              <a:spcBef>
                <a:spcPts val="100"/>
              </a:spcBef>
            </a:pPr>
            <a:r>
              <a:rPr sz="2000" b="1" spc="15" dirty="0">
                <a:solidFill>
                  <a:srgbClr val="FFFF00"/>
                </a:solidFill>
                <a:latin typeface="黑体"/>
                <a:cs typeface="黑体"/>
              </a:rPr>
              <a:t>线粒</a:t>
            </a:r>
            <a:r>
              <a:rPr sz="2000" b="1" spc="5" dirty="0">
                <a:solidFill>
                  <a:srgbClr val="FFFF00"/>
                </a:solidFill>
                <a:latin typeface="黑体"/>
                <a:cs typeface="黑体"/>
              </a:rPr>
              <a:t>体内</a:t>
            </a:r>
            <a:r>
              <a:rPr sz="2000" b="1" spc="-5" dirty="0">
                <a:solidFill>
                  <a:srgbClr val="FFFF00"/>
                </a:solidFill>
                <a:latin typeface="黑体"/>
                <a:cs typeface="黑体"/>
              </a:rPr>
              <a:t>膜 </a:t>
            </a: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线粒</a:t>
            </a:r>
            <a:r>
              <a:rPr sz="2000" b="1" spc="5" dirty="0">
                <a:solidFill>
                  <a:srgbClr val="003366"/>
                </a:solidFill>
                <a:latin typeface="黑体"/>
                <a:cs typeface="黑体"/>
              </a:rPr>
              <a:t>体基</a:t>
            </a:r>
            <a:r>
              <a:rPr sz="2000" b="1" spc="-5" dirty="0">
                <a:solidFill>
                  <a:srgbClr val="003366"/>
                </a:solidFill>
                <a:latin typeface="黑体"/>
                <a:cs typeface="黑体"/>
              </a:rPr>
              <a:t>质</a:t>
            </a:r>
            <a:endParaRPr sz="2000">
              <a:latin typeface="黑体"/>
              <a:cs typeface="黑体"/>
            </a:endParaRPr>
          </a:p>
          <a:p>
            <a:pPr marL="175895">
              <a:lnSpc>
                <a:spcPct val="100000"/>
              </a:lnSpc>
              <a:spcBef>
                <a:spcPts val="580"/>
              </a:spcBef>
            </a:pPr>
            <a:r>
              <a:rPr sz="3000" b="1" i="1" baseline="-17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e</a:t>
            </a:r>
            <a:r>
              <a:rPr sz="1300" b="1" i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03238" y="2531110"/>
            <a:ext cx="55054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65"/>
              </a:lnSpc>
              <a:spcBef>
                <a:spcPts val="105"/>
              </a:spcBef>
            </a:pPr>
            <a:r>
              <a:rPr sz="2000" b="1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ADP</a:t>
            </a:r>
            <a:endParaRPr sz="2000">
              <a:latin typeface="Times New Roman" panose="02020503050405090304"/>
              <a:cs typeface="Times New Roman" panose="02020503050405090304"/>
            </a:endParaRPr>
          </a:p>
          <a:p>
            <a:pPr algn="ctr">
              <a:lnSpc>
                <a:spcPts val="1800"/>
              </a:lnSpc>
            </a:pPr>
            <a:r>
              <a:rPr sz="20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endParaRPr sz="2000">
              <a:latin typeface="Times New Roman" panose="02020503050405090304"/>
              <a:cs typeface="Times New Roman" panose="02020503050405090304"/>
            </a:endParaRPr>
          </a:p>
          <a:p>
            <a:pPr marR="55880" algn="ctr">
              <a:lnSpc>
                <a:spcPts val="2135"/>
              </a:lnSpc>
            </a:pPr>
            <a:r>
              <a:rPr sz="20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Pi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69585" y="2820162"/>
            <a:ext cx="5168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40" dirty="0">
                <a:solidFill>
                  <a:srgbClr val="CC0000"/>
                </a:solidFill>
                <a:latin typeface="Times New Roman" panose="02020503050405090304"/>
                <a:cs typeface="Times New Roman" panose="02020503050405090304"/>
              </a:rPr>
              <a:t>A</a:t>
            </a:r>
            <a:r>
              <a:rPr sz="2000" b="1" dirty="0">
                <a:solidFill>
                  <a:srgbClr val="CC0000"/>
                </a:solidFill>
                <a:latin typeface="Times New Roman" panose="02020503050405090304"/>
                <a:cs typeface="Times New Roman" panose="02020503050405090304"/>
              </a:rPr>
              <a:t>TP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68042" y="457022"/>
            <a:ext cx="3947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化</a:t>
            </a:r>
            <a:r>
              <a:rPr sz="2800" spc="-10" dirty="0"/>
              <a:t>学渗透</a:t>
            </a:r>
            <a:r>
              <a:rPr sz="2800" dirty="0"/>
              <a:t>假</a:t>
            </a:r>
            <a:r>
              <a:rPr sz="2800" spc="-10" dirty="0"/>
              <a:t>说简单</a:t>
            </a:r>
            <a:r>
              <a:rPr sz="2800" dirty="0"/>
              <a:t>示</a:t>
            </a:r>
            <a:r>
              <a:rPr sz="2800" spc="-10" dirty="0"/>
              <a:t>意</a:t>
            </a:r>
            <a:r>
              <a:rPr sz="2800" spc="-15" dirty="0"/>
              <a:t>图</a:t>
            </a:r>
            <a:endParaRPr sz="2800"/>
          </a:p>
        </p:txBody>
      </p:sp>
      <p:sp>
        <p:nvSpPr>
          <p:cNvPr id="11" name="object 11"/>
          <p:cNvSpPr txBox="1"/>
          <p:nvPr/>
        </p:nvSpPr>
        <p:spPr>
          <a:xfrm>
            <a:off x="6896481" y="1151000"/>
            <a:ext cx="1252220" cy="770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3366"/>
                </a:solidFill>
                <a:latin typeface="黑体"/>
                <a:cs typeface="黑体"/>
              </a:rPr>
              <a:t>线</a:t>
            </a:r>
            <a:r>
              <a:rPr sz="1600" b="1" spc="-5" dirty="0">
                <a:solidFill>
                  <a:srgbClr val="003366"/>
                </a:solidFill>
                <a:latin typeface="黑体"/>
                <a:cs typeface="黑体"/>
              </a:rPr>
              <a:t>粒体</a:t>
            </a:r>
            <a:r>
              <a:rPr sz="1600" b="1" spc="5" dirty="0">
                <a:solidFill>
                  <a:srgbClr val="003366"/>
                </a:solidFill>
                <a:latin typeface="黑体"/>
                <a:cs typeface="黑体"/>
              </a:rPr>
              <a:t>外</a:t>
            </a:r>
            <a:r>
              <a:rPr sz="1600" b="1" spc="-15" dirty="0">
                <a:solidFill>
                  <a:srgbClr val="003366"/>
                </a:solidFill>
                <a:latin typeface="黑体"/>
                <a:cs typeface="黑体"/>
              </a:rPr>
              <a:t>膜</a:t>
            </a:r>
            <a:endParaRPr sz="16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10" dirty="0">
                <a:solidFill>
                  <a:srgbClr val="003366"/>
                </a:solidFill>
                <a:latin typeface="黑体"/>
                <a:cs typeface="黑体"/>
              </a:rPr>
              <a:t>线</a:t>
            </a:r>
            <a:r>
              <a:rPr sz="1600" b="1" spc="-5" dirty="0">
                <a:solidFill>
                  <a:srgbClr val="003366"/>
                </a:solidFill>
                <a:latin typeface="黑体"/>
                <a:cs typeface="黑体"/>
              </a:rPr>
              <a:t>粒体</a:t>
            </a:r>
            <a:r>
              <a:rPr sz="1600" b="1" spc="10" dirty="0">
                <a:solidFill>
                  <a:srgbClr val="003366"/>
                </a:solidFill>
                <a:latin typeface="黑体"/>
                <a:cs typeface="黑体"/>
              </a:rPr>
              <a:t>模</a:t>
            </a:r>
            <a:r>
              <a:rPr sz="1600" b="1" spc="-5" dirty="0">
                <a:solidFill>
                  <a:srgbClr val="003366"/>
                </a:solidFill>
                <a:latin typeface="黑体"/>
                <a:cs typeface="黑体"/>
              </a:rPr>
              <a:t>间</a:t>
            </a:r>
            <a:r>
              <a:rPr sz="1600" b="1" spc="-10" dirty="0">
                <a:solidFill>
                  <a:srgbClr val="003366"/>
                </a:solidFill>
                <a:latin typeface="黑体"/>
                <a:cs typeface="黑体"/>
              </a:rPr>
              <a:t>隙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15819" y="4670247"/>
            <a:ext cx="632460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30">
              <a:lnSpc>
                <a:spcPct val="100000"/>
              </a:lnSpc>
              <a:spcBef>
                <a:spcPts val="100"/>
              </a:spcBef>
            </a:pPr>
            <a:r>
              <a:rPr sz="3600" b="1" baseline="-16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H</a:t>
            </a:r>
            <a:r>
              <a:rPr sz="16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Times New Roman" panose="02020503050405090304"/>
              <a:cs typeface="Times New Roman" panose="02020503050405090304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000" b="1" spc="5" dirty="0">
                <a:solidFill>
                  <a:srgbClr val="0000FF"/>
                </a:solidFill>
                <a:latin typeface="黑体"/>
                <a:cs typeface="黑体"/>
              </a:rPr>
              <a:t>氧化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68034" y="4670247"/>
            <a:ext cx="844550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sz="3600" b="1" baseline="-16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H</a:t>
            </a:r>
            <a:r>
              <a:rPr sz="16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Times New Roman" panose="02020503050405090304"/>
              <a:cs typeface="Times New Roman" panose="02020503050405090304"/>
            </a:endParaRPr>
          </a:p>
          <a:p>
            <a:pPr marL="38100">
              <a:lnSpc>
                <a:spcPct val="100000"/>
              </a:lnSpc>
            </a:pPr>
            <a:r>
              <a:rPr sz="2000" b="1" spc="5" dirty="0">
                <a:solidFill>
                  <a:srgbClr val="0000FF"/>
                </a:solidFill>
                <a:latin typeface="黑体"/>
                <a:cs typeface="黑体"/>
              </a:rPr>
              <a:t>磷酸化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84853" y="5281536"/>
            <a:ext cx="1636395" cy="6305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420"/>
              </a:spcBef>
            </a:pPr>
            <a:r>
              <a:rPr sz="1600" b="1" spc="5" dirty="0">
                <a:latin typeface="黑体"/>
                <a:cs typeface="黑体"/>
              </a:rPr>
              <a:t>偶联</a:t>
            </a:r>
            <a:endParaRPr sz="16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800" b="1" dirty="0">
                <a:latin typeface="黑体"/>
                <a:cs typeface="黑体"/>
              </a:rPr>
              <a:t>质子电化学梯度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08554" y="5942838"/>
            <a:ext cx="3129280" cy="327660"/>
          </a:xfrm>
          <a:custGeom>
            <a:avLst/>
            <a:gdLst/>
            <a:ahLst/>
            <a:cxnLst/>
            <a:rect l="l" t="t" r="r" b="b"/>
            <a:pathLst>
              <a:path w="3129279" h="327660">
                <a:moveTo>
                  <a:pt x="3128772" y="0"/>
                </a:moveTo>
                <a:lnTo>
                  <a:pt x="3126630" y="63767"/>
                </a:lnTo>
                <a:lnTo>
                  <a:pt x="3120786" y="115843"/>
                </a:lnTo>
                <a:lnTo>
                  <a:pt x="3112109" y="150954"/>
                </a:lnTo>
                <a:lnTo>
                  <a:pt x="3101467" y="163830"/>
                </a:lnTo>
                <a:lnTo>
                  <a:pt x="1591691" y="163830"/>
                </a:lnTo>
                <a:lnTo>
                  <a:pt x="1581048" y="176705"/>
                </a:lnTo>
                <a:lnTo>
                  <a:pt x="1572371" y="211816"/>
                </a:lnTo>
                <a:lnTo>
                  <a:pt x="1566527" y="263892"/>
                </a:lnTo>
                <a:lnTo>
                  <a:pt x="1564385" y="327660"/>
                </a:lnTo>
                <a:lnTo>
                  <a:pt x="1562244" y="263892"/>
                </a:lnTo>
                <a:lnTo>
                  <a:pt x="1556400" y="211816"/>
                </a:lnTo>
                <a:lnTo>
                  <a:pt x="1547723" y="176705"/>
                </a:lnTo>
                <a:lnTo>
                  <a:pt x="1537081" y="163830"/>
                </a:lnTo>
                <a:lnTo>
                  <a:pt x="27304" y="163830"/>
                </a:lnTo>
                <a:lnTo>
                  <a:pt x="16662" y="150954"/>
                </a:lnTo>
                <a:lnTo>
                  <a:pt x="7985" y="115843"/>
                </a:lnTo>
                <a:lnTo>
                  <a:pt x="2141" y="63767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846321" y="6314947"/>
            <a:ext cx="13074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FF0000"/>
                </a:solidFill>
                <a:latin typeface="黑体"/>
                <a:cs typeface="黑体"/>
              </a:rPr>
              <a:t>氧化磷酸化</a:t>
            </a:r>
            <a:endParaRPr sz="2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7739" y="1984248"/>
            <a:ext cx="7783067" cy="190195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17396" y="3326129"/>
            <a:ext cx="41020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3366"/>
                </a:solidFill>
                <a:latin typeface="宋体"/>
                <a:cs typeface="宋体"/>
              </a:rPr>
              <a:t>Ⅰ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4845" y="3254705"/>
            <a:ext cx="2203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Ⅱ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17307" y="2368295"/>
            <a:ext cx="647700" cy="2573020"/>
          </a:xfrm>
          <a:custGeom>
            <a:avLst/>
            <a:gdLst/>
            <a:ahLst/>
            <a:cxnLst/>
            <a:rect l="l" t="t" r="r" b="b"/>
            <a:pathLst>
              <a:path w="647700" h="2573020">
                <a:moveTo>
                  <a:pt x="0" y="2572511"/>
                </a:moveTo>
                <a:lnTo>
                  <a:pt x="647700" y="2572511"/>
                </a:lnTo>
                <a:lnTo>
                  <a:pt x="647700" y="0"/>
                </a:lnTo>
                <a:lnTo>
                  <a:pt x="0" y="0"/>
                </a:lnTo>
                <a:lnTo>
                  <a:pt x="0" y="2572511"/>
                </a:lnTo>
                <a:close/>
              </a:path>
            </a:pathLst>
          </a:custGeom>
          <a:solidFill>
            <a:srgbClr val="D18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417307" y="2368295"/>
            <a:ext cx="647700" cy="2573020"/>
          </a:xfrm>
          <a:custGeom>
            <a:avLst/>
            <a:gdLst/>
            <a:ahLst/>
            <a:cxnLst/>
            <a:rect l="l" t="t" r="r" b="b"/>
            <a:pathLst>
              <a:path w="647700" h="2573020">
                <a:moveTo>
                  <a:pt x="0" y="2572511"/>
                </a:moveTo>
                <a:lnTo>
                  <a:pt x="647700" y="2572511"/>
                </a:lnTo>
                <a:lnTo>
                  <a:pt x="647700" y="0"/>
                </a:lnTo>
                <a:lnTo>
                  <a:pt x="0" y="0"/>
                </a:lnTo>
                <a:lnTo>
                  <a:pt x="0" y="2572511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00900" y="3788664"/>
            <a:ext cx="431800" cy="1260475"/>
          </a:xfrm>
          <a:custGeom>
            <a:avLst/>
            <a:gdLst/>
            <a:ahLst/>
            <a:cxnLst/>
            <a:rect l="l" t="t" r="r" b="b"/>
            <a:pathLst>
              <a:path w="431800" h="1260475">
                <a:moveTo>
                  <a:pt x="215646" y="0"/>
                </a:moveTo>
                <a:lnTo>
                  <a:pt x="169376" y="14537"/>
                </a:lnTo>
                <a:lnTo>
                  <a:pt x="126569" y="56097"/>
                </a:lnTo>
                <a:lnTo>
                  <a:pt x="88276" y="121603"/>
                </a:lnTo>
                <a:lnTo>
                  <a:pt x="71150" y="162373"/>
                </a:lnTo>
                <a:lnTo>
                  <a:pt x="55547" y="207975"/>
                </a:lnTo>
                <a:lnTo>
                  <a:pt x="41599" y="258025"/>
                </a:lnTo>
                <a:lnTo>
                  <a:pt x="29435" y="312137"/>
                </a:lnTo>
                <a:lnTo>
                  <a:pt x="19189" y="369928"/>
                </a:lnTo>
                <a:lnTo>
                  <a:pt x="10991" y="431011"/>
                </a:lnTo>
                <a:lnTo>
                  <a:pt x="4972" y="495003"/>
                </a:lnTo>
                <a:lnTo>
                  <a:pt x="1265" y="561519"/>
                </a:lnTo>
                <a:lnTo>
                  <a:pt x="0" y="630174"/>
                </a:lnTo>
                <a:lnTo>
                  <a:pt x="1265" y="698828"/>
                </a:lnTo>
                <a:lnTo>
                  <a:pt x="4972" y="765344"/>
                </a:lnTo>
                <a:lnTo>
                  <a:pt x="10991" y="829336"/>
                </a:lnTo>
                <a:lnTo>
                  <a:pt x="19189" y="890419"/>
                </a:lnTo>
                <a:lnTo>
                  <a:pt x="29435" y="948210"/>
                </a:lnTo>
                <a:lnTo>
                  <a:pt x="41599" y="1002322"/>
                </a:lnTo>
                <a:lnTo>
                  <a:pt x="55547" y="1052372"/>
                </a:lnTo>
                <a:lnTo>
                  <a:pt x="71150" y="1097974"/>
                </a:lnTo>
                <a:lnTo>
                  <a:pt x="88276" y="1138744"/>
                </a:lnTo>
                <a:lnTo>
                  <a:pt x="106792" y="1174298"/>
                </a:lnTo>
                <a:lnTo>
                  <a:pt x="147474" y="1228215"/>
                </a:lnTo>
                <a:lnTo>
                  <a:pt x="192144" y="1256649"/>
                </a:lnTo>
                <a:lnTo>
                  <a:pt x="215646" y="1260348"/>
                </a:lnTo>
                <a:lnTo>
                  <a:pt x="239147" y="1256649"/>
                </a:lnTo>
                <a:lnTo>
                  <a:pt x="283817" y="1228215"/>
                </a:lnTo>
                <a:lnTo>
                  <a:pt x="324499" y="1174298"/>
                </a:lnTo>
                <a:lnTo>
                  <a:pt x="343015" y="1138744"/>
                </a:lnTo>
                <a:lnTo>
                  <a:pt x="360141" y="1097974"/>
                </a:lnTo>
                <a:lnTo>
                  <a:pt x="375744" y="1052372"/>
                </a:lnTo>
                <a:lnTo>
                  <a:pt x="389692" y="1002322"/>
                </a:lnTo>
                <a:lnTo>
                  <a:pt x="401856" y="948210"/>
                </a:lnTo>
                <a:lnTo>
                  <a:pt x="412102" y="890419"/>
                </a:lnTo>
                <a:lnTo>
                  <a:pt x="420300" y="829336"/>
                </a:lnTo>
                <a:lnTo>
                  <a:pt x="426319" y="765344"/>
                </a:lnTo>
                <a:lnTo>
                  <a:pt x="430026" y="698828"/>
                </a:lnTo>
                <a:lnTo>
                  <a:pt x="431292" y="630174"/>
                </a:lnTo>
                <a:lnTo>
                  <a:pt x="430026" y="561519"/>
                </a:lnTo>
                <a:lnTo>
                  <a:pt x="426319" y="495003"/>
                </a:lnTo>
                <a:lnTo>
                  <a:pt x="420300" y="431011"/>
                </a:lnTo>
                <a:lnTo>
                  <a:pt x="412102" y="369928"/>
                </a:lnTo>
                <a:lnTo>
                  <a:pt x="401856" y="312137"/>
                </a:lnTo>
                <a:lnTo>
                  <a:pt x="389692" y="258025"/>
                </a:lnTo>
                <a:lnTo>
                  <a:pt x="375744" y="207975"/>
                </a:lnTo>
                <a:lnTo>
                  <a:pt x="360141" y="162373"/>
                </a:lnTo>
                <a:lnTo>
                  <a:pt x="343015" y="121603"/>
                </a:lnTo>
                <a:lnTo>
                  <a:pt x="324499" y="86049"/>
                </a:lnTo>
                <a:lnTo>
                  <a:pt x="283817" y="32132"/>
                </a:lnTo>
                <a:lnTo>
                  <a:pt x="239147" y="3698"/>
                </a:lnTo>
                <a:lnTo>
                  <a:pt x="215646" y="0"/>
                </a:lnTo>
                <a:close/>
              </a:path>
            </a:pathLst>
          </a:custGeom>
          <a:solidFill>
            <a:srgbClr val="FDE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00900" y="3788664"/>
            <a:ext cx="431800" cy="1260475"/>
          </a:xfrm>
          <a:custGeom>
            <a:avLst/>
            <a:gdLst/>
            <a:ahLst/>
            <a:cxnLst/>
            <a:rect l="l" t="t" r="r" b="b"/>
            <a:pathLst>
              <a:path w="431800" h="1260475">
                <a:moveTo>
                  <a:pt x="0" y="630174"/>
                </a:moveTo>
                <a:lnTo>
                  <a:pt x="1265" y="561519"/>
                </a:lnTo>
                <a:lnTo>
                  <a:pt x="4972" y="495003"/>
                </a:lnTo>
                <a:lnTo>
                  <a:pt x="10991" y="431011"/>
                </a:lnTo>
                <a:lnTo>
                  <a:pt x="19189" y="369928"/>
                </a:lnTo>
                <a:lnTo>
                  <a:pt x="29435" y="312137"/>
                </a:lnTo>
                <a:lnTo>
                  <a:pt x="41599" y="258025"/>
                </a:lnTo>
                <a:lnTo>
                  <a:pt x="55547" y="207975"/>
                </a:lnTo>
                <a:lnTo>
                  <a:pt x="71150" y="162373"/>
                </a:lnTo>
                <a:lnTo>
                  <a:pt x="88276" y="121603"/>
                </a:lnTo>
                <a:lnTo>
                  <a:pt x="106792" y="86049"/>
                </a:lnTo>
                <a:lnTo>
                  <a:pt x="147474" y="32132"/>
                </a:lnTo>
                <a:lnTo>
                  <a:pt x="192144" y="3698"/>
                </a:lnTo>
                <a:lnTo>
                  <a:pt x="215646" y="0"/>
                </a:lnTo>
                <a:lnTo>
                  <a:pt x="239147" y="3698"/>
                </a:lnTo>
                <a:lnTo>
                  <a:pt x="283817" y="32132"/>
                </a:lnTo>
                <a:lnTo>
                  <a:pt x="324499" y="86049"/>
                </a:lnTo>
                <a:lnTo>
                  <a:pt x="343015" y="121603"/>
                </a:lnTo>
                <a:lnTo>
                  <a:pt x="360141" y="162373"/>
                </a:lnTo>
                <a:lnTo>
                  <a:pt x="375744" y="207975"/>
                </a:lnTo>
                <a:lnTo>
                  <a:pt x="389692" y="258025"/>
                </a:lnTo>
                <a:lnTo>
                  <a:pt x="401856" y="312137"/>
                </a:lnTo>
                <a:lnTo>
                  <a:pt x="412102" y="369928"/>
                </a:lnTo>
                <a:lnTo>
                  <a:pt x="420300" y="431011"/>
                </a:lnTo>
                <a:lnTo>
                  <a:pt x="426319" y="495003"/>
                </a:lnTo>
                <a:lnTo>
                  <a:pt x="430026" y="561519"/>
                </a:lnTo>
                <a:lnTo>
                  <a:pt x="431292" y="630174"/>
                </a:lnTo>
                <a:lnTo>
                  <a:pt x="430026" y="698828"/>
                </a:lnTo>
                <a:lnTo>
                  <a:pt x="426319" y="765344"/>
                </a:lnTo>
                <a:lnTo>
                  <a:pt x="420300" y="829336"/>
                </a:lnTo>
                <a:lnTo>
                  <a:pt x="412102" y="890419"/>
                </a:lnTo>
                <a:lnTo>
                  <a:pt x="401856" y="948210"/>
                </a:lnTo>
                <a:lnTo>
                  <a:pt x="389692" y="1002322"/>
                </a:lnTo>
                <a:lnTo>
                  <a:pt x="375744" y="1052372"/>
                </a:lnTo>
                <a:lnTo>
                  <a:pt x="360141" y="1097974"/>
                </a:lnTo>
                <a:lnTo>
                  <a:pt x="343015" y="1138744"/>
                </a:lnTo>
                <a:lnTo>
                  <a:pt x="324499" y="1174298"/>
                </a:lnTo>
                <a:lnTo>
                  <a:pt x="283817" y="1228215"/>
                </a:lnTo>
                <a:lnTo>
                  <a:pt x="239147" y="1256649"/>
                </a:lnTo>
                <a:lnTo>
                  <a:pt x="215646" y="1260348"/>
                </a:lnTo>
                <a:lnTo>
                  <a:pt x="192144" y="1256649"/>
                </a:lnTo>
                <a:lnTo>
                  <a:pt x="147474" y="1228215"/>
                </a:lnTo>
                <a:lnTo>
                  <a:pt x="106792" y="1174298"/>
                </a:lnTo>
                <a:lnTo>
                  <a:pt x="88276" y="1138744"/>
                </a:lnTo>
                <a:lnTo>
                  <a:pt x="71150" y="1097974"/>
                </a:lnTo>
                <a:lnTo>
                  <a:pt x="55547" y="1052372"/>
                </a:lnTo>
                <a:lnTo>
                  <a:pt x="41599" y="1002322"/>
                </a:lnTo>
                <a:lnTo>
                  <a:pt x="29435" y="948210"/>
                </a:lnTo>
                <a:lnTo>
                  <a:pt x="19189" y="890419"/>
                </a:lnTo>
                <a:lnTo>
                  <a:pt x="10991" y="829336"/>
                </a:lnTo>
                <a:lnTo>
                  <a:pt x="4972" y="765344"/>
                </a:lnTo>
                <a:lnTo>
                  <a:pt x="1265" y="698828"/>
                </a:lnTo>
                <a:lnTo>
                  <a:pt x="0" y="630174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48600" y="3788664"/>
            <a:ext cx="431800" cy="1260475"/>
          </a:xfrm>
          <a:custGeom>
            <a:avLst/>
            <a:gdLst/>
            <a:ahLst/>
            <a:cxnLst/>
            <a:rect l="l" t="t" r="r" b="b"/>
            <a:pathLst>
              <a:path w="431800" h="1260475">
                <a:moveTo>
                  <a:pt x="215646" y="0"/>
                </a:moveTo>
                <a:lnTo>
                  <a:pt x="169376" y="14537"/>
                </a:lnTo>
                <a:lnTo>
                  <a:pt x="126569" y="56097"/>
                </a:lnTo>
                <a:lnTo>
                  <a:pt x="88276" y="121603"/>
                </a:lnTo>
                <a:lnTo>
                  <a:pt x="71150" y="162373"/>
                </a:lnTo>
                <a:lnTo>
                  <a:pt x="55547" y="207975"/>
                </a:lnTo>
                <a:lnTo>
                  <a:pt x="41599" y="258025"/>
                </a:lnTo>
                <a:lnTo>
                  <a:pt x="29435" y="312137"/>
                </a:lnTo>
                <a:lnTo>
                  <a:pt x="19189" y="369928"/>
                </a:lnTo>
                <a:lnTo>
                  <a:pt x="10991" y="431011"/>
                </a:lnTo>
                <a:lnTo>
                  <a:pt x="4972" y="495003"/>
                </a:lnTo>
                <a:lnTo>
                  <a:pt x="1265" y="561519"/>
                </a:lnTo>
                <a:lnTo>
                  <a:pt x="0" y="630174"/>
                </a:lnTo>
                <a:lnTo>
                  <a:pt x="1265" y="698828"/>
                </a:lnTo>
                <a:lnTo>
                  <a:pt x="4972" y="765344"/>
                </a:lnTo>
                <a:lnTo>
                  <a:pt x="10991" y="829336"/>
                </a:lnTo>
                <a:lnTo>
                  <a:pt x="19189" y="890419"/>
                </a:lnTo>
                <a:lnTo>
                  <a:pt x="29435" y="948210"/>
                </a:lnTo>
                <a:lnTo>
                  <a:pt x="41599" y="1002322"/>
                </a:lnTo>
                <a:lnTo>
                  <a:pt x="55547" y="1052372"/>
                </a:lnTo>
                <a:lnTo>
                  <a:pt x="71150" y="1097974"/>
                </a:lnTo>
                <a:lnTo>
                  <a:pt x="88276" y="1138744"/>
                </a:lnTo>
                <a:lnTo>
                  <a:pt x="106792" y="1174298"/>
                </a:lnTo>
                <a:lnTo>
                  <a:pt x="147474" y="1228215"/>
                </a:lnTo>
                <a:lnTo>
                  <a:pt x="192144" y="1256649"/>
                </a:lnTo>
                <a:lnTo>
                  <a:pt x="215646" y="1260348"/>
                </a:lnTo>
                <a:lnTo>
                  <a:pt x="239147" y="1256649"/>
                </a:lnTo>
                <a:lnTo>
                  <a:pt x="283817" y="1228215"/>
                </a:lnTo>
                <a:lnTo>
                  <a:pt x="324499" y="1174298"/>
                </a:lnTo>
                <a:lnTo>
                  <a:pt x="343015" y="1138744"/>
                </a:lnTo>
                <a:lnTo>
                  <a:pt x="360141" y="1097974"/>
                </a:lnTo>
                <a:lnTo>
                  <a:pt x="375744" y="1052372"/>
                </a:lnTo>
                <a:lnTo>
                  <a:pt x="389692" y="1002322"/>
                </a:lnTo>
                <a:lnTo>
                  <a:pt x="401856" y="948210"/>
                </a:lnTo>
                <a:lnTo>
                  <a:pt x="412102" y="890419"/>
                </a:lnTo>
                <a:lnTo>
                  <a:pt x="420300" y="829336"/>
                </a:lnTo>
                <a:lnTo>
                  <a:pt x="426319" y="765344"/>
                </a:lnTo>
                <a:lnTo>
                  <a:pt x="430026" y="698828"/>
                </a:lnTo>
                <a:lnTo>
                  <a:pt x="431292" y="630174"/>
                </a:lnTo>
                <a:lnTo>
                  <a:pt x="430026" y="561519"/>
                </a:lnTo>
                <a:lnTo>
                  <a:pt x="426319" y="495003"/>
                </a:lnTo>
                <a:lnTo>
                  <a:pt x="420300" y="431011"/>
                </a:lnTo>
                <a:lnTo>
                  <a:pt x="412102" y="369928"/>
                </a:lnTo>
                <a:lnTo>
                  <a:pt x="401856" y="312137"/>
                </a:lnTo>
                <a:lnTo>
                  <a:pt x="389692" y="258025"/>
                </a:lnTo>
                <a:lnTo>
                  <a:pt x="375744" y="207975"/>
                </a:lnTo>
                <a:lnTo>
                  <a:pt x="360141" y="162373"/>
                </a:lnTo>
                <a:lnTo>
                  <a:pt x="343015" y="121603"/>
                </a:lnTo>
                <a:lnTo>
                  <a:pt x="324499" y="86049"/>
                </a:lnTo>
                <a:lnTo>
                  <a:pt x="283817" y="32132"/>
                </a:lnTo>
                <a:lnTo>
                  <a:pt x="239147" y="3698"/>
                </a:lnTo>
                <a:lnTo>
                  <a:pt x="215646" y="0"/>
                </a:lnTo>
                <a:close/>
              </a:path>
            </a:pathLst>
          </a:custGeom>
          <a:solidFill>
            <a:srgbClr val="FDE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48600" y="3788664"/>
            <a:ext cx="431800" cy="1260475"/>
          </a:xfrm>
          <a:custGeom>
            <a:avLst/>
            <a:gdLst/>
            <a:ahLst/>
            <a:cxnLst/>
            <a:rect l="l" t="t" r="r" b="b"/>
            <a:pathLst>
              <a:path w="431800" h="1260475">
                <a:moveTo>
                  <a:pt x="0" y="630174"/>
                </a:moveTo>
                <a:lnTo>
                  <a:pt x="1265" y="561519"/>
                </a:lnTo>
                <a:lnTo>
                  <a:pt x="4972" y="495003"/>
                </a:lnTo>
                <a:lnTo>
                  <a:pt x="10991" y="431011"/>
                </a:lnTo>
                <a:lnTo>
                  <a:pt x="19189" y="369928"/>
                </a:lnTo>
                <a:lnTo>
                  <a:pt x="29435" y="312137"/>
                </a:lnTo>
                <a:lnTo>
                  <a:pt x="41599" y="258025"/>
                </a:lnTo>
                <a:lnTo>
                  <a:pt x="55547" y="207975"/>
                </a:lnTo>
                <a:lnTo>
                  <a:pt x="71150" y="162373"/>
                </a:lnTo>
                <a:lnTo>
                  <a:pt x="88276" y="121603"/>
                </a:lnTo>
                <a:lnTo>
                  <a:pt x="106792" y="86049"/>
                </a:lnTo>
                <a:lnTo>
                  <a:pt x="147474" y="32132"/>
                </a:lnTo>
                <a:lnTo>
                  <a:pt x="192144" y="3698"/>
                </a:lnTo>
                <a:lnTo>
                  <a:pt x="215646" y="0"/>
                </a:lnTo>
                <a:lnTo>
                  <a:pt x="239147" y="3698"/>
                </a:lnTo>
                <a:lnTo>
                  <a:pt x="283817" y="32132"/>
                </a:lnTo>
                <a:lnTo>
                  <a:pt x="324499" y="86049"/>
                </a:lnTo>
                <a:lnTo>
                  <a:pt x="343015" y="121603"/>
                </a:lnTo>
                <a:lnTo>
                  <a:pt x="360141" y="162373"/>
                </a:lnTo>
                <a:lnTo>
                  <a:pt x="375744" y="207975"/>
                </a:lnTo>
                <a:lnTo>
                  <a:pt x="389692" y="258025"/>
                </a:lnTo>
                <a:lnTo>
                  <a:pt x="401856" y="312137"/>
                </a:lnTo>
                <a:lnTo>
                  <a:pt x="412102" y="369928"/>
                </a:lnTo>
                <a:lnTo>
                  <a:pt x="420300" y="431011"/>
                </a:lnTo>
                <a:lnTo>
                  <a:pt x="426319" y="495003"/>
                </a:lnTo>
                <a:lnTo>
                  <a:pt x="430026" y="561519"/>
                </a:lnTo>
                <a:lnTo>
                  <a:pt x="431292" y="630174"/>
                </a:lnTo>
                <a:lnTo>
                  <a:pt x="430026" y="698828"/>
                </a:lnTo>
                <a:lnTo>
                  <a:pt x="426319" y="765344"/>
                </a:lnTo>
                <a:lnTo>
                  <a:pt x="420300" y="829336"/>
                </a:lnTo>
                <a:lnTo>
                  <a:pt x="412102" y="890419"/>
                </a:lnTo>
                <a:lnTo>
                  <a:pt x="401856" y="948210"/>
                </a:lnTo>
                <a:lnTo>
                  <a:pt x="389692" y="1002322"/>
                </a:lnTo>
                <a:lnTo>
                  <a:pt x="375744" y="1052372"/>
                </a:lnTo>
                <a:lnTo>
                  <a:pt x="360141" y="1097974"/>
                </a:lnTo>
                <a:lnTo>
                  <a:pt x="343015" y="1138744"/>
                </a:lnTo>
                <a:lnTo>
                  <a:pt x="324499" y="1174298"/>
                </a:lnTo>
                <a:lnTo>
                  <a:pt x="283817" y="1228215"/>
                </a:lnTo>
                <a:lnTo>
                  <a:pt x="239147" y="1256649"/>
                </a:lnTo>
                <a:lnTo>
                  <a:pt x="215646" y="1260348"/>
                </a:lnTo>
                <a:lnTo>
                  <a:pt x="192144" y="1256649"/>
                </a:lnTo>
                <a:lnTo>
                  <a:pt x="147474" y="1228215"/>
                </a:lnTo>
                <a:lnTo>
                  <a:pt x="106792" y="1174298"/>
                </a:lnTo>
                <a:lnTo>
                  <a:pt x="88276" y="1138744"/>
                </a:lnTo>
                <a:lnTo>
                  <a:pt x="71150" y="1097974"/>
                </a:lnTo>
                <a:lnTo>
                  <a:pt x="55547" y="1052372"/>
                </a:lnTo>
                <a:lnTo>
                  <a:pt x="41599" y="1002322"/>
                </a:lnTo>
                <a:lnTo>
                  <a:pt x="29435" y="948210"/>
                </a:lnTo>
                <a:lnTo>
                  <a:pt x="19189" y="890419"/>
                </a:lnTo>
                <a:lnTo>
                  <a:pt x="10991" y="829336"/>
                </a:lnTo>
                <a:lnTo>
                  <a:pt x="4972" y="765344"/>
                </a:lnTo>
                <a:lnTo>
                  <a:pt x="1265" y="698828"/>
                </a:lnTo>
                <a:lnTo>
                  <a:pt x="0" y="630174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72528" y="2302764"/>
            <a:ext cx="360045" cy="1369060"/>
          </a:xfrm>
          <a:custGeom>
            <a:avLst/>
            <a:gdLst/>
            <a:ahLst/>
            <a:cxnLst/>
            <a:rect l="l" t="t" r="r" b="b"/>
            <a:pathLst>
              <a:path w="360045" h="1369060">
                <a:moveTo>
                  <a:pt x="197993" y="0"/>
                </a:moveTo>
                <a:lnTo>
                  <a:pt x="161671" y="0"/>
                </a:lnTo>
                <a:lnTo>
                  <a:pt x="118695" y="5775"/>
                </a:lnTo>
                <a:lnTo>
                  <a:pt x="80075" y="22074"/>
                </a:lnTo>
                <a:lnTo>
                  <a:pt x="47355" y="47355"/>
                </a:lnTo>
                <a:lnTo>
                  <a:pt x="22074" y="80075"/>
                </a:lnTo>
                <a:lnTo>
                  <a:pt x="5775" y="118695"/>
                </a:lnTo>
                <a:lnTo>
                  <a:pt x="0" y="161671"/>
                </a:lnTo>
                <a:lnTo>
                  <a:pt x="0" y="1206881"/>
                </a:lnTo>
                <a:lnTo>
                  <a:pt x="5775" y="1249856"/>
                </a:lnTo>
                <a:lnTo>
                  <a:pt x="22074" y="1288476"/>
                </a:lnTo>
                <a:lnTo>
                  <a:pt x="47355" y="1321196"/>
                </a:lnTo>
                <a:lnTo>
                  <a:pt x="80075" y="1346477"/>
                </a:lnTo>
                <a:lnTo>
                  <a:pt x="118695" y="1362776"/>
                </a:lnTo>
                <a:lnTo>
                  <a:pt x="161671" y="1368552"/>
                </a:lnTo>
                <a:lnTo>
                  <a:pt x="197993" y="1368552"/>
                </a:lnTo>
                <a:lnTo>
                  <a:pt x="240968" y="1362776"/>
                </a:lnTo>
                <a:lnTo>
                  <a:pt x="279588" y="1346477"/>
                </a:lnTo>
                <a:lnTo>
                  <a:pt x="312308" y="1321196"/>
                </a:lnTo>
                <a:lnTo>
                  <a:pt x="337589" y="1288476"/>
                </a:lnTo>
                <a:lnTo>
                  <a:pt x="353888" y="1249856"/>
                </a:lnTo>
                <a:lnTo>
                  <a:pt x="359664" y="1206881"/>
                </a:lnTo>
                <a:lnTo>
                  <a:pt x="359664" y="161671"/>
                </a:lnTo>
                <a:lnTo>
                  <a:pt x="353888" y="118695"/>
                </a:lnTo>
                <a:lnTo>
                  <a:pt x="337589" y="80075"/>
                </a:lnTo>
                <a:lnTo>
                  <a:pt x="312308" y="47355"/>
                </a:lnTo>
                <a:lnTo>
                  <a:pt x="279588" y="22074"/>
                </a:lnTo>
                <a:lnTo>
                  <a:pt x="240968" y="5775"/>
                </a:lnTo>
                <a:lnTo>
                  <a:pt x="197993" y="0"/>
                </a:lnTo>
                <a:close/>
              </a:path>
            </a:pathLst>
          </a:custGeom>
          <a:solidFill>
            <a:srgbClr val="FDE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72528" y="2302764"/>
            <a:ext cx="360045" cy="1369060"/>
          </a:xfrm>
          <a:custGeom>
            <a:avLst/>
            <a:gdLst/>
            <a:ahLst/>
            <a:cxnLst/>
            <a:rect l="l" t="t" r="r" b="b"/>
            <a:pathLst>
              <a:path w="360045" h="1369060">
                <a:moveTo>
                  <a:pt x="0" y="161671"/>
                </a:moveTo>
                <a:lnTo>
                  <a:pt x="5775" y="118695"/>
                </a:lnTo>
                <a:lnTo>
                  <a:pt x="22074" y="80075"/>
                </a:lnTo>
                <a:lnTo>
                  <a:pt x="47355" y="47355"/>
                </a:lnTo>
                <a:lnTo>
                  <a:pt x="80075" y="22074"/>
                </a:lnTo>
                <a:lnTo>
                  <a:pt x="118695" y="5775"/>
                </a:lnTo>
                <a:lnTo>
                  <a:pt x="161671" y="0"/>
                </a:lnTo>
                <a:lnTo>
                  <a:pt x="197993" y="0"/>
                </a:lnTo>
                <a:lnTo>
                  <a:pt x="240968" y="5775"/>
                </a:lnTo>
                <a:lnTo>
                  <a:pt x="279588" y="22074"/>
                </a:lnTo>
                <a:lnTo>
                  <a:pt x="312308" y="47355"/>
                </a:lnTo>
                <a:lnTo>
                  <a:pt x="337589" y="80075"/>
                </a:lnTo>
                <a:lnTo>
                  <a:pt x="353888" y="118695"/>
                </a:lnTo>
                <a:lnTo>
                  <a:pt x="359664" y="161671"/>
                </a:lnTo>
                <a:lnTo>
                  <a:pt x="359664" y="1206881"/>
                </a:lnTo>
                <a:lnTo>
                  <a:pt x="353888" y="1249856"/>
                </a:lnTo>
                <a:lnTo>
                  <a:pt x="337589" y="1288476"/>
                </a:lnTo>
                <a:lnTo>
                  <a:pt x="312308" y="1321196"/>
                </a:lnTo>
                <a:lnTo>
                  <a:pt x="279588" y="1346477"/>
                </a:lnTo>
                <a:lnTo>
                  <a:pt x="240968" y="1362776"/>
                </a:lnTo>
                <a:lnTo>
                  <a:pt x="197993" y="1368552"/>
                </a:lnTo>
                <a:lnTo>
                  <a:pt x="161671" y="1368552"/>
                </a:lnTo>
                <a:lnTo>
                  <a:pt x="118695" y="1362776"/>
                </a:lnTo>
                <a:lnTo>
                  <a:pt x="80075" y="1346477"/>
                </a:lnTo>
                <a:lnTo>
                  <a:pt x="47355" y="1321196"/>
                </a:lnTo>
                <a:lnTo>
                  <a:pt x="22074" y="1288476"/>
                </a:lnTo>
                <a:lnTo>
                  <a:pt x="5775" y="1249856"/>
                </a:lnTo>
                <a:lnTo>
                  <a:pt x="0" y="1206881"/>
                </a:lnTo>
                <a:lnTo>
                  <a:pt x="0" y="161671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83652" y="2276855"/>
            <a:ext cx="360045" cy="1369060"/>
          </a:xfrm>
          <a:custGeom>
            <a:avLst/>
            <a:gdLst/>
            <a:ahLst/>
            <a:cxnLst/>
            <a:rect l="l" t="t" r="r" b="b"/>
            <a:pathLst>
              <a:path w="360045" h="1369060">
                <a:moveTo>
                  <a:pt x="197993" y="0"/>
                </a:moveTo>
                <a:lnTo>
                  <a:pt x="161671" y="0"/>
                </a:lnTo>
                <a:lnTo>
                  <a:pt x="118695" y="5775"/>
                </a:lnTo>
                <a:lnTo>
                  <a:pt x="80075" y="22074"/>
                </a:lnTo>
                <a:lnTo>
                  <a:pt x="47355" y="47355"/>
                </a:lnTo>
                <a:lnTo>
                  <a:pt x="22074" y="80075"/>
                </a:lnTo>
                <a:lnTo>
                  <a:pt x="5775" y="118695"/>
                </a:lnTo>
                <a:lnTo>
                  <a:pt x="0" y="161671"/>
                </a:lnTo>
                <a:lnTo>
                  <a:pt x="0" y="1206881"/>
                </a:lnTo>
                <a:lnTo>
                  <a:pt x="5775" y="1249856"/>
                </a:lnTo>
                <a:lnTo>
                  <a:pt x="22074" y="1288476"/>
                </a:lnTo>
                <a:lnTo>
                  <a:pt x="47355" y="1321196"/>
                </a:lnTo>
                <a:lnTo>
                  <a:pt x="80075" y="1346477"/>
                </a:lnTo>
                <a:lnTo>
                  <a:pt x="118695" y="1362776"/>
                </a:lnTo>
                <a:lnTo>
                  <a:pt x="161671" y="1368552"/>
                </a:lnTo>
                <a:lnTo>
                  <a:pt x="197993" y="1368552"/>
                </a:lnTo>
                <a:lnTo>
                  <a:pt x="240968" y="1362776"/>
                </a:lnTo>
                <a:lnTo>
                  <a:pt x="279588" y="1346477"/>
                </a:lnTo>
                <a:lnTo>
                  <a:pt x="312308" y="1321196"/>
                </a:lnTo>
                <a:lnTo>
                  <a:pt x="337589" y="1288476"/>
                </a:lnTo>
                <a:lnTo>
                  <a:pt x="353888" y="1249856"/>
                </a:lnTo>
                <a:lnTo>
                  <a:pt x="359664" y="1206881"/>
                </a:lnTo>
                <a:lnTo>
                  <a:pt x="359664" y="161671"/>
                </a:lnTo>
                <a:lnTo>
                  <a:pt x="353888" y="118695"/>
                </a:lnTo>
                <a:lnTo>
                  <a:pt x="337589" y="80075"/>
                </a:lnTo>
                <a:lnTo>
                  <a:pt x="312308" y="47355"/>
                </a:lnTo>
                <a:lnTo>
                  <a:pt x="279588" y="22074"/>
                </a:lnTo>
                <a:lnTo>
                  <a:pt x="240968" y="5775"/>
                </a:lnTo>
                <a:lnTo>
                  <a:pt x="197993" y="0"/>
                </a:lnTo>
                <a:close/>
              </a:path>
            </a:pathLst>
          </a:custGeom>
          <a:solidFill>
            <a:srgbClr val="FDE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83652" y="2276855"/>
            <a:ext cx="360045" cy="1369060"/>
          </a:xfrm>
          <a:custGeom>
            <a:avLst/>
            <a:gdLst/>
            <a:ahLst/>
            <a:cxnLst/>
            <a:rect l="l" t="t" r="r" b="b"/>
            <a:pathLst>
              <a:path w="360045" h="1369060">
                <a:moveTo>
                  <a:pt x="0" y="161671"/>
                </a:moveTo>
                <a:lnTo>
                  <a:pt x="5775" y="118695"/>
                </a:lnTo>
                <a:lnTo>
                  <a:pt x="22074" y="80075"/>
                </a:lnTo>
                <a:lnTo>
                  <a:pt x="47355" y="47355"/>
                </a:lnTo>
                <a:lnTo>
                  <a:pt x="80075" y="22074"/>
                </a:lnTo>
                <a:lnTo>
                  <a:pt x="118695" y="5775"/>
                </a:lnTo>
                <a:lnTo>
                  <a:pt x="161671" y="0"/>
                </a:lnTo>
                <a:lnTo>
                  <a:pt x="197993" y="0"/>
                </a:lnTo>
                <a:lnTo>
                  <a:pt x="240968" y="5775"/>
                </a:lnTo>
                <a:lnTo>
                  <a:pt x="279588" y="22074"/>
                </a:lnTo>
                <a:lnTo>
                  <a:pt x="312308" y="47355"/>
                </a:lnTo>
                <a:lnTo>
                  <a:pt x="337589" y="80075"/>
                </a:lnTo>
                <a:lnTo>
                  <a:pt x="353888" y="118695"/>
                </a:lnTo>
                <a:lnTo>
                  <a:pt x="359664" y="161671"/>
                </a:lnTo>
                <a:lnTo>
                  <a:pt x="359664" y="1206881"/>
                </a:lnTo>
                <a:lnTo>
                  <a:pt x="353888" y="1249856"/>
                </a:lnTo>
                <a:lnTo>
                  <a:pt x="337589" y="1288476"/>
                </a:lnTo>
                <a:lnTo>
                  <a:pt x="312308" y="1321196"/>
                </a:lnTo>
                <a:lnTo>
                  <a:pt x="279588" y="1346477"/>
                </a:lnTo>
                <a:lnTo>
                  <a:pt x="240968" y="1362776"/>
                </a:lnTo>
                <a:lnTo>
                  <a:pt x="197993" y="1368552"/>
                </a:lnTo>
                <a:lnTo>
                  <a:pt x="161671" y="1368552"/>
                </a:lnTo>
                <a:lnTo>
                  <a:pt x="118695" y="1362776"/>
                </a:lnTo>
                <a:lnTo>
                  <a:pt x="80075" y="1346477"/>
                </a:lnTo>
                <a:lnTo>
                  <a:pt x="47355" y="1321196"/>
                </a:lnTo>
                <a:lnTo>
                  <a:pt x="22074" y="1288476"/>
                </a:lnTo>
                <a:lnTo>
                  <a:pt x="5775" y="1249856"/>
                </a:lnTo>
                <a:lnTo>
                  <a:pt x="0" y="1206881"/>
                </a:lnTo>
                <a:lnTo>
                  <a:pt x="0" y="161671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352156" y="2708768"/>
            <a:ext cx="167005" cy="69596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</a:t>
            </a:r>
            <a:endParaRPr sz="20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spc="1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0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03209" y="4245990"/>
            <a:ext cx="3028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</a:t>
            </a:r>
            <a:r>
              <a:rPr sz="1950" spc="7" baseline="-21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1</a:t>
            </a:r>
            <a:endParaRPr sz="1950" baseline="-2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8323" y="2734436"/>
            <a:ext cx="262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36699"/>
                </a:solidFill>
                <a:latin typeface="Arial" panose="020B0604020202090204"/>
                <a:cs typeface="Arial" panose="020B0604020202090204"/>
              </a:rPr>
              <a:t>Q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890" y="3941190"/>
            <a:ext cx="12217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NAD</a:t>
            </a:r>
            <a:r>
              <a:rPr sz="2000" b="1" spc="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200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+</a:t>
            </a:r>
            <a:r>
              <a:rPr sz="2000" b="1" spc="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950" b="1" spc="7" baseline="26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83360" y="3834384"/>
            <a:ext cx="1064895" cy="610870"/>
          </a:xfrm>
          <a:custGeom>
            <a:avLst/>
            <a:gdLst/>
            <a:ahLst/>
            <a:cxnLst/>
            <a:rect l="l" t="t" r="r" b="b"/>
            <a:pathLst>
              <a:path w="1064895" h="610870">
                <a:moveTo>
                  <a:pt x="988390" y="531876"/>
                </a:moveTo>
                <a:lnTo>
                  <a:pt x="1021537" y="610362"/>
                </a:lnTo>
                <a:lnTo>
                  <a:pt x="1058359" y="546989"/>
                </a:lnTo>
                <a:lnTo>
                  <a:pt x="1035507" y="546989"/>
                </a:lnTo>
                <a:lnTo>
                  <a:pt x="1015695" y="546862"/>
                </a:lnTo>
                <a:lnTo>
                  <a:pt x="1015804" y="533618"/>
                </a:lnTo>
                <a:lnTo>
                  <a:pt x="988390" y="531876"/>
                </a:lnTo>
                <a:close/>
              </a:path>
              <a:path w="1064895" h="610870">
                <a:moveTo>
                  <a:pt x="1015804" y="533618"/>
                </a:moveTo>
                <a:lnTo>
                  <a:pt x="1015695" y="546862"/>
                </a:lnTo>
                <a:lnTo>
                  <a:pt x="1035507" y="546989"/>
                </a:lnTo>
                <a:lnTo>
                  <a:pt x="1035554" y="534873"/>
                </a:lnTo>
                <a:lnTo>
                  <a:pt x="1015804" y="533618"/>
                </a:lnTo>
                <a:close/>
              </a:path>
              <a:path w="1064895" h="610870">
                <a:moveTo>
                  <a:pt x="1035554" y="534873"/>
                </a:moveTo>
                <a:lnTo>
                  <a:pt x="1035507" y="546989"/>
                </a:lnTo>
                <a:lnTo>
                  <a:pt x="1058359" y="546989"/>
                </a:lnTo>
                <a:lnTo>
                  <a:pt x="1064336" y="536702"/>
                </a:lnTo>
                <a:lnTo>
                  <a:pt x="1035554" y="534873"/>
                </a:lnTo>
                <a:close/>
              </a:path>
              <a:path w="1064895" h="610870">
                <a:moveTo>
                  <a:pt x="572799" y="19812"/>
                </a:moveTo>
                <a:lnTo>
                  <a:pt x="403047" y="19812"/>
                </a:lnTo>
                <a:lnTo>
                  <a:pt x="434797" y="20447"/>
                </a:lnTo>
                <a:lnTo>
                  <a:pt x="466039" y="22606"/>
                </a:lnTo>
                <a:lnTo>
                  <a:pt x="527126" y="30607"/>
                </a:lnTo>
                <a:lnTo>
                  <a:pt x="586054" y="43434"/>
                </a:lnTo>
                <a:lnTo>
                  <a:pt x="642569" y="61214"/>
                </a:lnTo>
                <a:lnTo>
                  <a:pt x="696290" y="83312"/>
                </a:lnTo>
                <a:lnTo>
                  <a:pt x="746836" y="109601"/>
                </a:lnTo>
                <a:lnTo>
                  <a:pt x="794080" y="139700"/>
                </a:lnTo>
                <a:lnTo>
                  <a:pt x="837641" y="173609"/>
                </a:lnTo>
                <a:lnTo>
                  <a:pt x="877265" y="210820"/>
                </a:lnTo>
                <a:lnTo>
                  <a:pt x="912571" y="251206"/>
                </a:lnTo>
                <a:lnTo>
                  <a:pt x="943178" y="294259"/>
                </a:lnTo>
                <a:lnTo>
                  <a:pt x="968832" y="339852"/>
                </a:lnTo>
                <a:lnTo>
                  <a:pt x="989406" y="387858"/>
                </a:lnTo>
                <a:lnTo>
                  <a:pt x="1004392" y="437896"/>
                </a:lnTo>
                <a:lnTo>
                  <a:pt x="1013536" y="489585"/>
                </a:lnTo>
                <a:lnTo>
                  <a:pt x="1015949" y="516128"/>
                </a:lnTo>
                <a:lnTo>
                  <a:pt x="1015804" y="533618"/>
                </a:lnTo>
                <a:lnTo>
                  <a:pt x="1035554" y="534873"/>
                </a:lnTo>
                <a:lnTo>
                  <a:pt x="1033221" y="486664"/>
                </a:lnTo>
                <a:lnTo>
                  <a:pt x="1023569" y="432689"/>
                </a:lnTo>
                <a:lnTo>
                  <a:pt x="1007821" y="380619"/>
                </a:lnTo>
                <a:lnTo>
                  <a:pt x="986358" y="330708"/>
                </a:lnTo>
                <a:lnTo>
                  <a:pt x="959561" y="283210"/>
                </a:lnTo>
                <a:lnTo>
                  <a:pt x="927684" y="238379"/>
                </a:lnTo>
                <a:lnTo>
                  <a:pt x="891108" y="196723"/>
                </a:lnTo>
                <a:lnTo>
                  <a:pt x="850214" y="158242"/>
                </a:lnTo>
                <a:lnTo>
                  <a:pt x="805129" y="123317"/>
                </a:lnTo>
                <a:lnTo>
                  <a:pt x="756361" y="92202"/>
                </a:lnTo>
                <a:lnTo>
                  <a:pt x="704164" y="65151"/>
                </a:lnTo>
                <a:lnTo>
                  <a:pt x="648919" y="42418"/>
                </a:lnTo>
                <a:lnTo>
                  <a:pt x="590753" y="24130"/>
                </a:lnTo>
                <a:lnTo>
                  <a:pt x="572799" y="19812"/>
                </a:lnTo>
                <a:close/>
              </a:path>
              <a:path w="1064895" h="610870">
                <a:moveTo>
                  <a:pt x="402793" y="0"/>
                </a:moveTo>
                <a:lnTo>
                  <a:pt x="347929" y="2032"/>
                </a:lnTo>
                <a:lnTo>
                  <a:pt x="293700" y="8128"/>
                </a:lnTo>
                <a:lnTo>
                  <a:pt x="240487" y="18161"/>
                </a:lnTo>
                <a:lnTo>
                  <a:pt x="188671" y="32004"/>
                </a:lnTo>
                <a:lnTo>
                  <a:pt x="138328" y="49657"/>
                </a:lnTo>
                <a:lnTo>
                  <a:pt x="89903" y="70866"/>
                </a:lnTo>
                <a:lnTo>
                  <a:pt x="43573" y="95631"/>
                </a:lnTo>
                <a:lnTo>
                  <a:pt x="0" y="123825"/>
                </a:lnTo>
                <a:lnTo>
                  <a:pt x="11074" y="140208"/>
                </a:lnTo>
                <a:lnTo>
                  <a:pt x="32410" y="125857"/>
                </a:lnTo>
                <a:lnTo>
                  <a:pt x="53987" y="112522"/>
                </a:lnTo>
                <a:lnTo>
                  <a:pt x="98907" y="88392"/>
                </a:lnTo>
                <a:lnTo>
                  <a:pt x="145922" y="67945"/>
                </a:lnTo>
                <a:lnTo>
                  <a:pt x="194894" y="50800"/>
                </a:lnTo>
                <a:lnTo>
                  <a:pt x="245313" y="37338"/>
                </a:lnTo>
                <a:lnTo>
                  <a:pt x="297002" y="27686"/>
                </a:lnTo>
                <a:lnTo>
                  <a:pt x="349707" y="21717"/>
                </a:lnTo>
                <a:lnTo>
                  <a:pt x="403047" y="19812"/>
                </a:lnTo>
                <a:lnTo>
                  <a:pt x="572799" y="19812"/>
                </a:lnTo>
                <a:lnTo>
                  <a:pt x="560654" y="16891"/>
                </a:lnTo>
                <a:lnTo>
                  <a:pt x="530174" y="10922"/>
                </a:lnTo>
                <a:lnTo>
                  <a:pt x="498932" y="6096"/>
                </a:lnTo>
                <a:lnTo>
                  <a:pt x="467309" y="2794"/>
                </a:lnTo>
                <a:lnTo>
                  <a:pt x="435178" y="635"/>
                </a:lnTo>
                <a:lnTo>
                  <a:pt x="402793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34639" y="3675888"/>
            <a:ext cx="887730" cy="782320"/>
          </a:xfrm>
          <a:custGeom>
            <a:avLst/>
            <a:gdLst/>
            <a:ahLst/>
            <a:cxnLst/>
            <a:rect l="l" t="t" r="r" b="b"/>
            <a:pathLst>
              <a:path w="887729" h="782320">
                <a:moveTo>
                  <a:pt x="498729" y="0"/>
                </a:moveTo>
                <a:lnTo>
                  <a:pt x="447801" y="2539"/>
                </a:lnTo>
                <a:lnTo>
                  <a:pt x="398272" y="10032"/>
                </a:lnTo>
                <a:lnTo>
                  <a:pt x="350520" y="22098"/>
                </a:lnTo>
                <a:lnTo>
                  <a:pt x="304546" y="38607"/>
                </a:lnTo>
                <a:lnTo>
                  <a:pt x="260985" y="59309"/>
                </a:lnTo>
                <a:lnTo>
                  <a:pt x="219837" y="83947"/>
                </a:lnTo>
                <a:lnTo>
                  <a:pt x="181483" y="112141"/>
                </a:lnTo>
                <a:lnTo>
                  <a:pt x="146050" y="143763"/>
                </a:lnTo>
                <a:lnTo>
                  <a:pt x="113918" y="178688"/>
                </a:lnTo>
                <a:lnTo>
                  <a:pt x="85217" y="216535"/>
                </a:lnTo>
                <a:lnTo>
                  <a:pt x="60198" y="256920"/>
                </a:lnTo>
                <a:lnTo>
                  <a:pt x="39243" y="299847"/>
                </a:lnTo>
                <a:lnTo>
                  <a:pt x="22352" y="345059"/>
                </a:lnTo>
                <a:lnTo>
                  <a:pt x="10033" y="392049"/>
                </a:lnTo>
                <a:lnTo>
                  <a:pt x="2540" y="440817"/>
                </a:lnTo>
                <a:lnTo>
                  <a:pt x="0" y="490981"/>
                </a:lnTo>
                <a:lnTo>
                  <a:pt x="381" y="510539"/>
                </a:lnTo>
                <a:lnTo>
                  <a:pt x="3683" y="549656"/>
                </a:lnTo>
                <a:lnTo>
                  <a:pt x="9906" y="588137"/>
                </a:lnTo>
                <a:lnTo>
                  <a:pt x="19304" y="625856"/>
                </a:lnTo>
                <a:lnTo>
                  <a:pt x="31750" y="662813"/>
                </a:lnTo>
                <a:lnTo>
                  <a:pt x="46990" y="698754"/>
                </a:lnTo>
                <a:lnTo>
                  <a:pt x="65278" y="733298"/>
                </a:lnTo>
                <a:lnTo>
                  <a:pt x="86360" y="766572"/>
                </a:lnTo>
                <a:lnTo>
                  <a:pt x="97662" y="782319"/>
                </a:lnTo>
                <a:lnTo>
                  <a:pt x="113792" y="770636"/>
                </a:lnTo>
                <a:lnTo>
                  <a:pt x="102489" y="755014"/>
                </a:lnTo>
                <a:lnTo>
                  <a:pt x="91948" y="739139"/>
                </a:lnTo>
                <a:lnTo>
                  <a:pt x="64770" y="689863"/>
                </a:lnTo>
                <a:lnTo>
                  <a:pt x="43815" y="637794"/>
                </a:lnTo>
                <a:lnTo>
                  <a:pt x="29337" y="583819"/>
                </a:lnTo>
                <a:lnTo>
                  <a:pt x="21336" y="528066"/>
                </a:lnTo>
                <a:lnTo>
                  <a:pt x="19812" y="490474"/>
                </a:lnTo>
                <a:lnTo>
                  <a:pt x="20447" y="466217"/>
                </a:lnTo>
                <a:lnTo>
                  <a:pt x="25400" y="418719"/>
                </a:lnTo>
                <a:lnTo>
                  <a:pt x="34925" y="372744"/>
                </a:lnTo>
                <a:lnTo>
                  <a:pt x="49022" y="328549"/>
                </a:lnTo>
                <a:lnTo>
                  <a:pt x="67056" y="286385"/>
                </a:lnTo>
                <a:lnTo>
                  <a:pt x="89281" y="246380"/>
                </a:lnTo>
                <a:lnTo>
                  <a:pt x="115062" y="208914"/>
                </a:lnTo>
                <a:lnTo>
                  <a:pt x="144399" y="173989"/>
                </a:lnTo>
                <a:lnTo>
                  <a:pt x="176911" y="141986"/>
                </a:lnTo>
                <a:lnTo>
                  <a:pt x="212471" y="113284"/>
                </a:lnTo>
                <a:lnTo>
                  <a:pt x="250698" y="87884"/>
                </a:lnTo>
                <a:lnTo>
                  <a:pt x="291465" y="66167"/>
                </a:lnTo>
                <a:lnTo>
                  <a:pt x="334391" y="48260"/>
                </a:lnTo>
                <a:lnTo>
                  <a:pt x="379476" y="34543"/>
                </a:lnTo>
                <a:lnTo>
                  <a:pt x="426212" y="25145"/>
                </a:lnTo>
                <a:lnTo>
                  <a:pt x="474599" y="20447"/>
                </a:lnTo>
                <a:lnTo>
                  <a:pt x="499237" y="19812"/>
                </a:lnTo>
                <a:lnTo>
                  <a:pt x="639137" y="19812"/>
                </a:lnTo>
                <a:lnTo>
                  <a:pt x="613029" y="12954"/>
                </a:lnTo>
                <a:lnTo>
                  <a:pt x="584962" y="7366"/>
                </a:lnTo>
                <a:lnTo>
                  <a:pt x="556513" y="3301"/>
                </a:lnTo>
                <a:lnTo>
                  <a:pt x="527812" y="888"/>
                </a:lnTo>
                <a:lnTo>
                  <a:pt x="498729" y="0"/>
                </a:lnTo>
                <a:close/>
              </a:path>
              <a:path w="887729" h="782320">
                <a:moveTo>
                  <a:pt x="828748" y="149769"/>
                </a:moveTo>
                <a:lnTo>
                  <a:pt x="808227" y="168529"/>
                </a:lnTo>
                <a:lnTo>
                  <a:pt x="887730" y="199009"/>
                </a:lnTo>
                <a:lnTo>
                  <a:pt x="876415" y="159131"/>
                </a:lnTo>
                <a:lnTo>
                  <a:pt x="837692" y="159131"/>
                </a:lnTo>
                <a:lnTo>
                  <a:pt x="828748" y="149769"/>
                </a:lnTo>
                <a:close/>
              </a:path>
              <a:path w="887729" h="782320">
                <a:moveTo>
                  <a:pt x="843411" y="136363"/>
                </a:moveTo>
                <a:lnTo>
                  <a:pt x="828748" y="149769"/>
                </a:lnTo>
                <a:lnTo>
                  <a:pt x="837692" y="159131"/>
                </a:lnTo>
                <a:lnTo>
                  <a:pt x="852043" y="145287"/>
                </a:lnTo>
                <a:lnTo>
                  <a:pt x="843411" y="136363"/>
                </a:lnTo>
                <a:close/>
              </a:path>
              <a:path w="887729" h="782320">
                <a:moveTo>
                  <a:pt x="864488" y="117093"/>
                </a:moveTo>
                <a:lnTo>
                  <a:pt x="843411" y="136363"/>
                </a:lnTo>
                <a:lnTo>
                  <a:pt x="852043" y="145287"/>
                </a:lnTo>
                <a:lnTo>
                  <a:pt x="837692" y="159131"/>
                </a:lnTo>
                <a:lnTo>
                  <a:pt x="876415" y="159131"/>
                </a:lnTo>
                <a:lnTo>
                  <a:pt x="864488" y="117093"/>
                </a:lnTo>
                <a:close/>
              </a:path>
              <a:path w="887729" h="782320">
                <a:moveTo>
                  <a:pt x="639137" y="19812"/>
                </a:moveTo>
                <a:lnTo>
                  <a:pt x="499237" y="19812"/>
                </a:lnTo>
                <a:lnTo>
                  <a:pt x="527176" y="20700"/>
                </a:lnTo>
                <a:lnTo>
                  <a:pt x="554863" y="22987"/>
                </a:lnTo>
                <a:lnTo>
                  <a:pt x="609219" y="32385"/>
                </a:lnTo>
                <a:lnTo>
                  <a:pt x="661670" y="47751"/>
                </a:lnTo>
                <a:lnTo>
                  <a:pt x="711835" y="68834"/>
                </a:lnTo>
                <a:lnTo>
                  <a:pt x="759206" y="95376"/>
                </a:lnTo>
                <a:lnTo>
                  <a:pt x="803401" y="127126"/>
                </a:lnTo>
                <a:lnTo>
                  <a:pt x="828748" y="149769"/>
                </a:lnTo>
                <a:lnTo>
                  <a:pt x="843411" y="136363"/>
                </a:lnTo>
                <a:lnTo>
                  <a:pt x="792861" y="94234"/>
                </a:lnTo>
                <a:lnTo>
                  <a:pt x="745109" y="63881"/>
                </a:lnTo>
                <a:lnTo>
                  <a:pt x="694182" y="39116"/>
                </a:lnTo>
                <a:lnTo>
                  <a:pt x="640588" y="20193"/>
                </a:lnTo>
                <a:lnTo>
                  <a:pt x="639137" y="1981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257422" y="3863085"/>
            <a:ext cx="10255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延胡</a:t>
            </a:r>
            <a:r>
              <a:rPr sz="2000" b="1" spc="5" dirty="0">
                <a:solidFill>
                  <a:srgbClr val="003366"/>
                </a:solidFill>
                <a:latin typeface="黑体"/>
                <a:cs typeface="黑体"/>
              </a:rPr>
              <a:t>索</a:t>
            </a:r>
            <a:r>
              <a:rPr sz="2000" b="1" spc="-5" dirty="0">
                <a:solidFill>
                  <a:srgbClr val="003366"/>
                </a:solidFill>
                <a:latin typeface="黑体"/>
                <a:cs typeface="黑体"/>
              </a:rPr>
              <a:t>酸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8220" y="4450537"/>
            <a:ext cx="19780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166495" algn="l"/>
              </a:tabLst>
            </a:pPr>
            <a:r>
              <a:rPr sz="3000" b="1" spc="7" baseline="1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NAD</a:t>
            </a:r>
            <a:r>
              <a:rPr sz="1950" b="1" spc="7" baseline="28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+	</a:t>
            </a: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琥珀酸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82483" y="2061210"/>
            <a:ext cx="114300" cy="3961129"/>
          </a:xfrm>
          <a:custGeom>
            <a:avLst/>
            <a:gdLst/>
            <a:ahLst/>
            <a:cxnLst/>
            <a:rect l="l" t="t" r="r" b="b"/>
            <a:pathLst>
              <a:path w="114300" h="3961129">
                <a:moveTo>
                  <a:pt x="38100" y="3846576"/>
                </a:moveTo>
                <a:lnTo>
                  <a:pt x="0" y="3846576"/>
                </a:lnTo>
                <a:lnTo>
                  <a:pt x="57150" y="3960876"/>
                </a:lnTo>
                <a:lnTo>
                  <a:pt x="104768" y="3865638"/>
                </a:lnTo>
                <a:lnTo>
                  <a:pt x="38100" y="3865638"/>
                </a:lnTo>
                <a:lnTo>
                  <a:pt x="38100" y="3846576"/>
                </a:lnTo>
                <a:close/>
              </a:path>
              <a:path w="114300" h="3961129">
                <a:moveTo>
                  <a:pt x="76200" y="0"/>
                </a:moveTo>
                <a:lnTo>
                  <a:pt x="38100" y="0"/>
                </a:lnTo>
                <a:lnTo>
                  <a:pt x="38100" y="3865638"/>
                </a:lnTo>
                <a:lnTo>
                  <a:pt x="76200" y="3865638"/>
                </a:lnTo>
                <a:lnTo>
                  <a:pt x="76200" y="0"/>
                </a:lnTo>
                <a:close/>
              </a:path>
              <a:path w="114300" h="3961129">
                <a:moveTo>
                  <a:pt x="114300" y="3846576"/>
                </a:moveTo>
                <a:lnTo>
                  <a:pt x="76200" y="3846576"/>
                </a:lnTo>
                <a:lnTo>
                  <a:pt x="76200" y="3865638"/>
                </a:lnTo>
                <a:lnTo>
                  <a:pt x="104768" y="3865638"/>
                </a:lnTo>
                <a:lnTo>
                  <a:pt x="114300" y="384657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579486" y="5972047"/>
            <a:ext cx="3594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b="1" spc="15" baseline="-17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300" b="1" spc="1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76315" y="3851147"/>
            <a:ext cx="704850" cy="401320"/>
          </a:xfrm>
          <a:custGeom>
            <a:avLst/>
            <a:gdLst/>
            <a:ahLst/>
            <a:cxnLst/>
            <a:rect l="l" t="t" r="r" b="b"/>
            <a:pathLst>
              <a:path w="704850" h="401320">
                <a:moveTo>
                  <a:pt x="414782" y="0"/>
                </a:moveTo>
                <a:lnTo>
                  <a:pt x="374776" y="2031"/>
                </a:lnTo>
                <a:lnTo>
                  <a:pt x="335914" y="8000"/>
                </a:lnTo>
                <a:lnTo>
                  <a:pt x="298069" y="17525"/>
                </a:lnTo>
                <a:lnTo>
                  <a:pt x="261747" y="30733"/>
                </a:lnTo>
                <a:lnTo>
                  <a:pt x="226949" y="47243"/>
                </a:lnTo>
                <a:lnTo>
                  <a:pt x="194056" y="66928"/>
                </a:lnTo>
                <a:lnTo>
                  <a:pt x="162941" y="89534"/>
                </a:lnTo>
                <a:lnTo>
                  <a:pt x="133985" y="115062"/>
                </a:lnTo>
                <a:lnTo>
                  <a:pt x="107187" y="143256"/>
                </a:lnTo>
                <a:lnTo>
                  <a:pt x="83058" y="173862"/>
                </a:lnTo>
                <a:lnTo>
                  <a:pt x="61468" y="206756"/>
                </a:lnTo>
                <a:lnTo>
                  <a:pt x="42799" y="241681"/>
                </a:lnTo>
                <a:lnTo>
                  <a:pt x="27178" y="278638"/>
                </a:lnTo>
                <a:lnTo>
                  <a:pt x="14732" y="317372"/>
                </a:lnTo>
                <a:lnTo>
                  <a:pt x="5587" y="357631"/>
                </a:lnTo>
                <a:lnTo>
                  <a:pt x="0" y="398906"/>
                </a:lnTo>
                <a:lnTo>
                  <a:pt x="19812" y="401065"/>
                </a:lnTo>
                <a:lnTo>
                  <a:pt x="22098" y="380491"/>
                </a:lnTo>
                <a:lnTo>
                  <a:pt x="25146" y="360679"/>
                </a:lnTo>
                <a:lnTo>
                  <a:pt x="33909" y="322199"/>
                </a:lnTo>
                <a:lnTo>
                  <a:pt x="45847" y="285241"/>
                </a:lnTo>
                <a:lnTo>
                  <a:pt x="60833" y="249808"/>
                </a:lnTo>
                <a:lnTo>
                  <a:pt x="88773" y="200532"/>
                </a:lnTo>
                <a:lnTo>
                  <a:pt x="122555" y="155828"/>
                </a:lnTo>
                <a:lnTo>
                  <a:pt x="161544" y="116585"/>
                </a:lnTo>
                <a:lnTo>
                  <a:pt x="205232" y="83184"/>
                </a:lnTo>
                <a:lnTo>
                  <a:pt x="252984" y="56260"/>
                </a:lnTo>
                <a:lnTo>
                  <a:pt x="304419" y="36321"/>
                </a:lnTo>
                <a:lnTo>
                  <a:pt x="358648" y="24002"/>
                </a:lnTo>
                <a:lnTo>
                  <a:pt x="415289" y="19812"/>
                </a:lnTo>
                <a:lnTo>
                  <a:pt x="538632" y="19812"/>
                </a:lnTo>
                <a:lnTo>
                  <a:pt x="537210" y="19303"/>
                </a:lnTo>
                <a:lnTo>
                  <a:pt x="497332" y="8635"/>
                </a:lnTo>
                <a:lnTo>
                  <a:pt x="456311" y="2158"/>
                </a:lnTo>
                <a:lnTo>
                  <a:pt x="435610" y="634"/>
                </a:lnTo>
                <a:lnTo>
                  <a:pt x="414782" y="0"/>
                </a:lnTo>
                <a:close/>
              </a:path>
              <a:path w="704850" h="401320">
                <a:moveTo>
                  <a:pt x="641135" y="95087"/>
                </a:moveTo>
                <a:lnTo>
                  <a:pt x="622554" y="115950"/>
                </a:lnTo>
                <a:lnTo>
                  <a:pt x="704850" y="138175"/>
                </a:lnTo>
                <a:lnTo>
                  <a:pt x="690992" y="103504"/>
                </a:lnTo>
                <a:lnTo>
                  <a:pt x="651001" y="103504"/>
                </a:lnTo>
                <a:lnTo>
                  <a:pt x="641135" y="95087"/>
                </a:lnTo>
                <a:close/>
              </a:path>
              <a:path w="704850" h="401320">
                <a:moveTo>
                  <a:pt x="654245" y="80367"/>
                </a:moveTo>
                <a:lnTo>
                  <a:pt x="641135" y="95087"/>
                </a:lnTo>
                <a:lnTo>
                  <a:pt x="651001" y="103504"/>
                </a:lnTo>
                <a:lnTo>
                  <a:pt x="663829" y="88391"/>
                </a:lnTo>
                <a:lnTo>
                  <a:pt x="654245" y="80367"/>
                </a:lnTo>
                <a:close/>
              </a:path>
              <a:path w="704850" h="401320">
                <a:moveTo>
                  <a:pt x="673226" y="59054"/>
                </a:moveTo>
                <a:lnTo>
                  <a:pt x="654245" y="80367"/>
                </a:lnTo>
                <a:lnTo>
                  <a:pt x="663829" y="88391"/>
                </a:lnTo>
                <a:lnTo>
                  <a:pt x="651001" y="103504"/>
                </a:lnTo>
                <a:lnTo>
                  <a:pt x="690992" y="103504"/>
                </a:lnTo>
                <a:lnTo>
                  <a:pt x="673226" y="59054"/>
                </a:lnTo>
                <a:close/>
              </a:path>
              <a:path w="704850" h="401320">
                <a:moveTo>
                  <a:pt x="538632" y="19812"/>
                </a:moveTo>
                <a:lnTo>
                  <a:pt x="415289" y="19812"/>
                </a:lnTo>
                <a:lnTo>
                  <a:pt x="435101" y="20319"/>
                </a:lnTo>
                <a:lnTo>
                  <a:pt x="454787" y="21970"/>
                </a:lnTo>
                <a:lnTo>
                  <a:pt x="493649" y="28066"/>
                </a:lnTo>
                <a:lnTo>
                  <a:pt x="531622" y="38353"/>
                </a:lnTo>
                <a:lnTo>
                  <a:pt x="568325" y="52450"/>
                </a:lnTo>
                <a:lnTo>
                  <a:pt x="603631" y="70231"/>
                </a:lnTo>
                <a:lnTo>
                  <a:pt x="637159" y="91693"/>
                </a:lnTo>
                <a:lnTo>
                  <a:pt x="641135" y="95087"/>
                </a:lnTo>
                <a:lnTo>
                  <a:pt x="654245" y="80367"/>
                </a:lnTo>
                <a:lnTo>
                  <a:pt x="612901" y="52831"/>
                </a:lnTo>
                <a:lnTo>
                  <a:pt x="575945" y="34162"/>
                </a:lnTo>
                <a:lnTo>
                  <a:pt x="556768" y="26288"/>
                </a:lnTo>
                <a:lnTo>
                  <a:pt x="538632" y="1981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913376" y="4247515"/>
            <a:ext cx="1295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1/2O</a:t>
            </a:r>
            <a:r>
              <a:rPr sz="1950" b="1" spc="7" baseline="-21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200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+</a:t>
            </a:r>
            <a:r>
              <a:rPr sz="2000" b="1" spc="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2H</a:t>
            </a:r>
            <a:r>
              <a:rPr sz="1950" b="1" spc="7" baseline="26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271004" y="4937759"/>
            <a:ext cx="946785" cy="451484"/>
          </a:xfrm>
          <a:custGeom>
            <a:avLst/>
            <a:gdLst/>
            <a:ahLst/>
            <a:cxnLst/>
            <a:rect l="l" t="t" r="r" b="b"/>
            <a:pathLst>
              <a:path w="946784" h="451485">
                <a:moveTo>
                  <a:pt x="459231" y="0"/>
                </a:moveTo>
                <a:lnTo>
                  <a:pt x="412496" y="1904"/>
                </a:lnTo>
                <a:lnTo>
                  <a:pt x="367029" y="7873"/>
                </a:lnTo>
                <a:lnTo>
                  <a:pt x="323088" y="17525"/>
                </a:lnTo>
                <a:lnTo>
                  <a:pt x="280924" y="30606"/>
                </a:lnTo>
                <a:lnTo>
                  <a:pt x="240919" y="47116"/>
                </a:lnTo>
                <a:lnTo>
                  <a:pt x="202946" y="66547"/>
                </a:lnTo>
                <a:lnTo>
                  <a:pt x="167640" y="89026"/>
                </a:lnTo>
                <a:lnTo>
                  <a:pt x="135127" y="114300"/>
                </a:lnTo>
                <a:lnTo>
                  <a:pt x="105282" y="142112"/>
                </a:lnTo>
                <a:lnTo>
                  <a:pt x="78740" y="172212"/>
                </a:lnTo>
                <a:lnTo>
                  <a:pt x="55752" y="204596"/>
                </a:lnTo>
                <a:lnTo>
                  <a:pt x="36322" y="238759"/>
                </a:lnTo>
                <a:lnTo>
                  <a:pt x="20700" y="274954"/>
                </a:lnTo>
                <a:lnTo>
                  <a:pt x="9398" y="312546"/>
                </a:lnTo>
                <a:lnTo>
                  <a:pt x="2286" y="351662"/>
                </a:lnTo>
                <a:lnTo>
                  <a:pt x="0" y="391794"/>
                </a:lnTo>
                <a:lnTo>
                  <a:pt x="380" y="406653"/>
                </a:lnTo>
                <a:lnTo>
                  <a:pt x="1397" y="421766"/>
                </a:lnTo>
                <a:lnTo>
                  <a:pt x="3048" y="436625"/>
                </a:lnTo>
                <a:lnTo>
                  <a:pt x="5334" y="451103"/>
                </a:lnTo>
                <a:lnTo>
                  <a:pt x="24892" y="448055"/>
                </a:lnTo>
                <a:lnTo>
                  <a:pt x="22605" y="433577"/>
                </a:lnTo>
                <a:lnTo>
                  <a:pt x="21081" y="419480"/>
                </a:lnTo>
                <a:lnTo>
                  <a:pt x="20193" y="405383"/>
                </a:lnTo>
                <a:lnTo>
                  <a:pt x="19825" y="391794"/>
                </a:lnTo>
                <a:lnTo>
                  <a:pt x="19940" y="386460"/>
                </a:lnTo>
                <a:lnTo>
                  <a:pt x="24892" y="334898"/>
                </a:lnTo>
                <a:lnTo>
                  <a:pt x="39497" y="281177"/>
                </a:lnTo>
                <a:lnTo>
                  <a:pt x="62992" y="230758"/>
                </a:lnTo>
                <a:lnTo>
                  <a:pt x="94615" y="184150"/>
                </a:lnTo>
                <a:lnTo>
                  <a:pt x="119888" y="155447"/>
                </a:lnTo>
                <a:lnTo>
                  <a:pt x="148209" y="129158"/>
                </a:lnTo>
                <a:lnTo>
                  <a:pt x="179450" y="105028"/>
                </a:lnTo>
                <a:lnTo>
                  <a:pt x="213232" y="83565"/>
                </a:lnTo>
                <a:lnTo>
                  <a:pt x="249554" y="64896"/>
                </a:lnTo>
                <a:lnTo>
                  <a:pt x="288036" y="49148"/>
                </a:lnTo>
                <a:lnTo>
                  <a:pt x="328549" y="36575"/>
                </a:lnTo>
                <a:lnTo>
                  <a:pt x="370840" y="27304"/>
                </a:lnTo>
                <a:lnTo>
                  <a:pt x="414654" y="21716"/>
                </a:lnTo>
                <a:lnTo>
                  <a:pt x="459740" y="19812"/>
                </a:lnTo>
                <a:lnTo>
                  <a:pt x="603948" y="19812"/>
                </a:lnTo>
                <a:lnTo>
                  <a:pt x="595502" y="17398"/>
                </a:lnTo>
                <a:lnTo>
                  <a:pt x="551561" y="7873"/>
                </a:lnTo>
                <a:lnTo>
                  <a:pt x="506095" y="2031"/>
                </a:lnTo>
                <a:lnTo>
                  <a:pt x="482853" y="507"/>
                </a:lnTo>
                <a:lnTo>
                  <a:pt x="459231" y="0"/>
                </a:lnTo>
                <a:close/>
              </a:path>
              <a:path w="946784" h="451485">
                <a:moveTo>
                  <a:pt x="870585" y="371855"/>
                </a:moveTo>
                <a:lnTo>
                  <a:pt x="903731" y="450341"/>
                </a:lnTo>
                <a:lnTo>
                  <a:pt x="940258" y="387476"/>
                </a:lnTo>
                <a:lnTo>
                  <a:pt x="917701" y="387476"/>
                </a:lnTo>
                <a:lnTo>
                  <a:pt x="897890" y="386460"/>
                </a:lnTo>
                <a:lnTo>
                  <a:pt x="898536" y="373632"/>
                </a:lnTo>
                <a:lnTo>
                  <a:pt x="870585" y="371855"/>
                </a:lnTo>
                <a:close/>
              </a:path>
              <a:path w="946784" h="451485">
                <a:moveTo>
                  <a:pt x="898536" y="373632"/>
                </a:moveTo>
                <a:lnTo>
                  <a:pt x="897890" y="386460"/>
                </a:lnTo>
                <a:lnTo>
                  <a:pt x="917701" y="387476"/>
                </a:lnTo>
                <a:lnTo>
                  <a:pt x="918231" y="374883"/>
                </a:lnTo>
                <a:lnTo>
                  <a:pt x="898536" y="373632"/>
                </a:lnTo>
                <a:close/>
              </a:path>
              <a:path w="946784" h="451485">
                <a:moveTo>
                  <a:pt x="918231" y="374883"/>
                </a:moveTo>
                <a:lnTo>
                  <a:pt x="917701" y="387476"/>
                </a:lnTo>
                <a:lnTo>
                  <a:pt x="940258" y="387476"/>
                </a:lnTo>
                <a:lnTo>
                  <a:pt x="946530" y="376681"/>
                </a:lnTo>
                <a:lnTo>
                  <a:pt x="918231" y="374883"/>
                </a:lnTo>
                <a:close/>
              </a:path>
              <a:path w="946784" h="451485">
                <a:moveTo>
                  <a:pt x="918337" y="371347"/>
                </a:moveTo>
                <a:lnTo>
                  <a:pt x="898651" y="371347"/>
                </a:lnTo>
                <a:lnTo>
                  <a:pt x="898651" y="372744"/>
                </a:lnTo>
                <a:lnTo>
                  <a:pt x="898536" y="373632"/>
                </a:lnTo>
                <a:lnTo>
                  <a:pt x="918231" y="374883"/>
                </a:lnTo>
                <a:lnTo>
                  <a:pt x="918337" y="372363"/>
                </a:lnTo>
                <a:lnTo>
                  <a:pt x="918337" y="371347"/>
                </a:lnTo>
                <a:close/>
              </a:path>
              <a:path w="946784" h="451485">
                <a:moveTo>
                  <a:pt x="898606" y="372259"/>
                </a:moveTo>
                <a:lnTo>
                  <a:pt x="898581" y="372744"/>
                </a:lnTo>
                <a:lnTo>
                  <a:pt x="898606" y="372259"/>
                </a:lnTo>
                <a:close/>
              </a:path>
              <a:path w="946784" h="451485">
                <a:moveTo>
                  <a:pt x="603948" y="19812"/>
                </a:moveTo>
                <a:lnTo>
                  <a:pt x="459740" y="19812"/>
                </a:lnTo>
                <a:lnTo>
                  <a:pt x="482473" y="20319"/>
                </a:lnTo>
                <a:lnTo>
                  <a:pt x="504825" y="21843"/>
                </a:lnTo>
                <a:lnTo>
                  <a:pt x="548640" y="27431"/>
                </a:lnTo>
                <a:lnTo>
                  <a:pt x="590930" y="36702"/>
                </a:lnTo>
                <a:lnTo>
                  <a:pt x="631317" y="49275"/>
                </a:lnTo>
                <a:lnTo>
                  <a:pt x="669798" y="65023"/>
                </a:lnTo>
                <a:lnTo>
                  <a:pt x="706120" y="83692"/>
                </a:lnTo>
                <a:lnTo>
                  <a:pt x="739901" y="105282"/>
                </a:lnTo>
                <a:lnTo>
                  <a:pt x="771144" y="129412"/>
                </a:lnTo>
                <a:lnTo>
                  <a:pt x="799465" y="155828"/>
                </a:lnTo>
                <a:lnTo>
                  <a:pt x="824738" y="184531"/>
                </a:lnTo>
                <a:lnTo>
                  <a:pt x="856234" y="231266"/>
                </a:lnTo>
                <a:lnTo>
                  <a:pt x="879728" y="281685"/>
                </a:lnTo>
                <a:lnTo>
                  <a:pt x="894079" y="335533"/>
                </a:lnTo>
                <a:lnTo>
                  <a:pt x="898606" y="372259"/>
                </a:lnTo>
                <a:lnTo>
                  <a:pt x="898651" y="371347"/>
                </a:lnTo>
                <a:lnTo>
                  <a:pt x="918337" y="371347"/>
                </a:lnTo>
                <a:lnTo>
                  <a:pt x="918337" y="370966"/>
                </a:lnTo>
                <a:lnTo>
                  <a:pt x="913511" y="331469"/>
                </a:lnTo>
                <a:lnTo>
                  <a:pt x="904240" y="292988"/>
                </a:lnTo>
                <a:lnTo>
                  <a:pt x="890777" y="256158"/>
                </a:lnTo>
                <a:lnTo>
                  <a:pt x="873125" y="220979"/>
                </a:lnTo>
                <a:lnTo>
                  <a:pt x="851916" y="187706"/>
                </a:lnTo>
                <a:lnTo>
                  <a:pt x="827024" y="156463"/>
                </a:lnTo>
                <a:lnTo>
                  <a:pt x="798829" y="127634"/>
                </a:lnTo>
                <a:lnTo>
                  <a:pt x="767715" y="101091"/>
                </a:lnTo>
                <a:lnTo>
                  <a:pt x="733551" y="77215"/>
                </a:lnTo>
                <a:lnTo>
                  <a:pt x="696976" y="56260"/>
                </a:lnTo>
                <a:lnTo>
                  <a:pt x="657860" y="38226"/>
                </a:lnTo>
                <a:lnTo>
                  <a:pt x="616839" y="23494"/>
                </a:lnTo>
                <a:lnTo>
                  <a:pt x="603948" y="1981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595109" y="5400243"/>
            <a:ext cx="1814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9370" algn="l"/>
              </a:tabLst>
            </a:pPr>
            <a:r>
              <a:rPr sz="2000" b="1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200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2000" b="1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P+Pi	</a:t>
            </a:r>
            <a:r>
              <a:rPr sz="2000" b="1" spc="-140" dirty="0">
                <a:solidFill>
                  <a:srgbClr val="A40020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2000" b="1" dirty="0">
                <a:solidFill>
                  <a:srgbClr val="A40020"/>
                </a:solidFill>
                <a:latin typeface="Arial" panose="020B0604020202090204"/>
                <a:cs typeface="Arial" panose="020B0604020202090204"/>
              </a:rPr>
              <a:t>TP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046476" y="3034919"/>
            <a:ext cx="570865" cy="694055"/>
          </a:xfrm>
          <a:custGeom>
            <a:avLst/>
            <a:gdLst/>
            <a:ahLst/>
            <a:cxnLst/>
            <a:rect l="l" t="t" r="r" b="b"/>
            <a:pathLst>
              <a:path w="570864" h="694054">
                <a:moveTo>
                  <a:pt x="483612" y="27590"/>
                </a:moveTo>
                <a:lnTo>
                  <a:pt x="442468" y="43052"/>
                </a:lnTo>
                <a:lnTo>
                  <a:pt x="385572" y="67690"/>
                </a:lnTo>
                <a:lnTo>
                  <a:pt x="331977" y="93979"/>
                </a:lnTo>
                <a:lnTo>
                  <a:pt x="281813" y="122173"/>
                </a:lnTo>
                <a:lnTo>
                  <a:pt x="235331" y="152145"/>
                </a:lnTo>
                <a:lnTo>
                  <a:pt x="192659" y="183641"/>
                </a:lnTo>
                <a:lnTo>
                  <a:pt x="153924" y="216534"/>
                </a:lnTo>
                <a:lnTo>
                  <a:pt x="119125" y="250951"/>
                </a:lnTo>
                <a:lnTo>
                  <a:pt x="88265" y="286638"/>
                </a:lnTo>
                <a:lnTo>
                  <a:pt x="61975" y="323595"/>
                </a:lnTo>
                <a:lnTo>
                  <a:pt x="40131" y="361568"/>
                </a:lnTo>
                <a:lnTo>
                  <a:pt x="22732" y="400557"/>
                </a:lnTo>
                <a:lnTo>
                  <a:pt x="10160" y="440435"/>
                </a:lnTo>
                <a:lnTo>
                  <a:pt x="2540" y="481075"/>
                </a:lnTo>
                <a:lnTo>
                  <a:pt x="0" y="522223"/>
                </a:lnTo>
                <a:lnTo>
                  <a:pt x="762" y="544321"/>
                </a:lnTo>
                <a:lnTo>
                  <a:pt x="6731" y="587882"/>
                </a:lnTo>
                <a:lnTo>
                  <a:pt x="18542" y="631189"/>
                </a:lnTo>
                <a:lnTo>
                  <a:pt x="36068" y="673861"/>
                </a:lnTo>
                <a:lnTo>
                  <a:pt x="46609" y="694054"/>
                </a:lnTo>
                <a:lnTo>
                  <a:pt x="72262" y="680846"/>
                </a:lnTo>
                <a:lnTo>
                  <a:pt x="61849" y="660526"/>
                </a:lnTo>
                <a:lnTo>
                  <a:pt x="53086" y="640841"/>
                </a:lnTo>
                <a:lnTo>
                  <a:pt x="39624" y="601217"/>
                </a:lnTo>
                <a:lnTo>
                  <a:pt x="31623" y="561339"/>
                </a:lnTo>
                <a:lnTo>
                  <a:pt x="28956" y="521207"/>
                </a:lnTo>
                <a:lnTo>
                  <a:pt x="29591" y="502538"/>
                </a:lnTo>
                <a:lnTo>
                  <a:pt x="38481" y="446658"/>
                </a:lnTo>
                <a:lnTo>
                  <a:pt x="50037" y="410082"/>
                </a:lnTo>
                <a:lnTo>
                  <a:pt x="66167" y="374014"/>
                </a:lnTo>
                <a:lnTo>
                  <a:pt x="86613" y="338708"/>
                </a:lnTo>
                <a:lnTo>
                  <a:pt x="111506" y="304038"/>
                </a:lnTo>
                <a:lnTo>
                  <a:pt x="140588" y="270382"/>
                </a:lnTo>
                <a:lnTo>
                  <a:pt x="173736" y="237616"/>
                </a:lnTo>
                <a:lnTo>
                  <a:pt x="211074" y="205993"/>
                </a:lnTo>
                <a:lnTo>
                  <a:pt x="252095" y="175767"/>
                </a:lnTo>
                <a:lnTo>
                  <a:pt x="297052" y="146811"/>
                </a:lnTo>
                <a:lnTo>
                  <a:pt x="345821" y="119379"/>
                </a:lnTo>
                <a:lnTo>
                  <a:pt x="398018" y="93725"/>
                </a:lnTo>
                <a:lnTo>
                  <a:pt x="453644" y="69722"/>
                </a:lnTo>
                <a:lnTo>
                  <a:pt x="492722" y="55091"/>
                </a:lnTo>
                <a:lnTo>
                  <a:pt x="483612" y="27590"/>
                </a:lnTo>
                <a:close/>
              </a:path>
              <a:path w="570864" h="694054">
                <a:moveTo>
                  <a:pt x="561323" y="22986"/>
                </a:moveTo>
                <a:lnTo>
                  <a:pt x="497077" y="22986"/>
                </a:lnTo>
                <a:lnTo>
                  <a:pt x="506602" y="50291"/>
                </a:lnTo>
                <a:lnTo>
                  <a:pt x="492722" y="55091"/>
                </a:lnTo>
                <a:lnTo>
                  <a:pt x="501776" y="82422"/>
                </a:lnTo>
                <a:lnTo>
                  <a:pt x="561323" y="22986"/>
                </a:lnTo>
                <a:close/>
              </a:path>
              <a:path w="570864" h="694054">
                <a:moveTo>
                  <a:pt x="497077" y="22986"/>
                </a:moveTo>
                <a:lnTo>
                  <a:pt x="483612" y="27590"/>
                </a:lnTo>
                <a:lnTo>
                  <a:pt x="492722" y="55091"/>
                </a:lnTo>
                <a:lnTo>
                  <a:pt x="506602" y="50291"/>
                </a:lnTo>
                <a:lnTo>
                  <a:pt x="497077" y="22986"/>
                </a:lnTo>
                <a:close/>
              </a:path>
              <a:path w="570864" h="694054">
                <a:moveTo>
                  <a:pt x="474472" y="0"/>
                </a:moveTo>
                <a:lnTo>
                  <a:pt x="483612" y="27590"/>
                </a:lnTo>
                <a:lnTo>
                  <a:pt x="497077" y="22986"/>
                </a:lnTo>
                <a:lnTo>
                  <a:pt x="561323" y="22986"/>
                </a:lnTo>
                <a:lnTo>
                  <a:pt x="570484" y="13842"/>
                </a:lnTo>
                <a:lnTo>
                  <a:pt x="474472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749551" y="2694051"/>
            <a:ext cx="1885950" cy="1195705"/>
          </a:xfrm>
          <a:custGeom>
            <a:avLst/>
            <a:gdLst/>
            <a:ahLst/>
            <a:cxnLst/>
            <a:rect l="l" t="t" r="r" b="b"/>
            <a:pathLst>
              <a:path w="1885950" h="1195704">
                <a:moveTo>
                  <a:pt x="1191260" y="0"/>
                </a:moveTo>
                <a:lnTo>
                  <a:pt x="1129919" y="1524"/>
                </a:lnTo>
                <a:lnTo>
                  <a:pt x="1069594" y="5841"/>
                </a:lnTo>
                <a:lnTo>
                  <a:pt x="1009904" y="12953"/>
                </a:lnTo>
                <a:lnTo>
                  <a:pt x="951357" y="22733"/>
                </a:lnTo>
                <a:lnTo>
                  <a:pt x="893699" y="35178"/>
                </a:lnTo>
                <a:lnTo>
                  <a:pt x="837184" y="50291"/>
                </a:lnTo>
                <a:lnTo>
                  <a:pt x="781939" y="67818"/>
                </a:lnTo>
                <a:lnTo>
                  <a:pt x="727710" y="87629"/>
                </a:lnTo>
                <a:lnTo>
                  <a:pt x="674878" y="110109"/>
                </a:lnTo>
                <a:lnTo>
                  <a:pt x="623570" y="134747"/>
                </a:lnTo>
                <a:lnTo>
                  <a:pt x="573659" y="161544"/>
                </a:lnTo>
                <a:lnTo>
                  <a:pt x="525399" y="190500"/>
                </a:lnTo>
                <a:lnTo>
                  <a:pt x="478663" y="221487"/>
                </a:lnTo>
                <a:lnTo>
                  <a:pt x="433578" y="254635"/>
                </a:lnTo>
                <a:lnTo>
                  <a:pt x="390398" y="289560"/>
                </a:lnTo>
                <a:lnTo>
                  <a:pt x="348996" y="326516"/>
                </a:lnTo>
                <a:lnTo>
                  <a:pt x="309625" y="365125"/>
                </a:lnTo>
                <a:lnTo>
                  <a:pt x="272161" y="405511"/>
                </a:lnTo>
                <a:lnTo>
                  <a:pt x="236855" y="447548"/>
                </a:lnTo>
                <a:lnTo>
                  <a:pt x="203454" y="491363"/>
                </a:lnTo>
                <a:lnTo>
                  <a:pt x="172593" y="536321"/>
                </a:lnTo>
                <a:lnTo>
                  <a:pt x="143891" y="582929"/>
                </a:lnTo>
                <a:lnTo>
                  <a:pt x="117602" y="631063"/>
                </a:lnTo>
                <a:lnTo>
                  <a:pt x="93725" y="680338"/>
                </a:lnTo>
                <a:lnTo>
                  <a:pt x="72390" y="731012"/>
                </a:lnTo>
                <a:lnTo>
                  <a:pt x="53593" y="782827"/>
                </a:lnTo>
                <a:lnTo>
                  <a:pt x="37465" y="835660"/>
                </a:lnTo>
                <a:lnTo>
                  <a:pt x="24256" y="889635"/>
                </a:lnTo>
                <a:lnTo>
                  <a:pt x="13716" y="944499"/>
                </a:lnTo>
                <a:lnTo>
                  <a:pt x="6223" y="1000251"/>
                </a:lnTo>
                <a:lnTo>
                  <a:pt x="1524" y="1056894"/>
                </a:lnTo>
                <a:lnTo>
                  <a:pt x="0" y="1114298"/>
                </a:lnTo>
                <a:lnTo>
                  <a:pt x="762" y="1155065"/>
                </a:lnTo>
                <a:lnTo>
                  <a:pt x="3175" y="1195324"/>
                </a:lnTo>
                <a:lnTo>
                  <a:pt x="32131" y="1193546"/>
                </a:lnTo>
                <a:lnTo>
                  <a:pt x="29718" y="1153414"/>
                </a:lnTo>
                <a:lnTo>
                  <a:pt x="28956" y="1113790"/>
                </a:lnTo>
                <a:lnTo>
                  <a:pt x="30480" y="1058037"/>
                </a:lnTo>
                <a:lnTo>
                  <a:pt x="34925" y="1003046"/>
                </a:lnTo>
                <a:lnTo>
                  <a:pt x="42291" y="948817"/>
                </a:lnTo>
                <a:lnTo>
                  <a:pt x="52578" y="895350"/>
                </a:lnTo>
                <a:lnTo>
                  <a:pt x="65531" y="843026"/>
                </a:lnTo>
                <a:lnTo>
                  <a:pt x="81153" y="791463"/>
                </a:lnTo>
                <a:lnTo>
                  <a:pt x="99441" y="741172"/>
                </a:lnTo>
                <a:lnTo>
                  <a:pt x="120268" y="692023"/>
                </a:lnTo>
                <a:lnTo>
                  <a:pt x="143383" y="644016"/>
                </a:lnTo>
                <a:lnTo>
                  <a:pt x="169164" y="597153"/>
                </a:lnTo>
                <a:lnTo>
                  <a:pt x="197104" y="551814"/>
                </a:lnTo>
                <a:lnTo>
                  <a:pt x="227456" y="507619"/>
                </a:lnTo>
                <a:lnTo>
                  <a:pt x="259842" y="465074"/>
                </a:lnTo>
                <a:lnTo>
                  <a:pt x="294386" y="424179"/>
                </a:lnTo>
                <a:lnTo>
                  <a:pt x="330835" y="384810"/>
                </a:lnTo>
                <a:lnTo>
                  <a:pt x="369316" y="347090"/>
                </a:lnTo>
                <a:lnTo>
                  <a:pt x="409702" y="311150"/>
                </a:lnTo>
                <a:lnTo>
                  <a:pt x="451866" y="277113"/>
                </a:lnTo>
                <a:lnTo>
                  <a:pt x="495808" y="244856"/>
                </a:lnTo>
                <a:lnTo>
                  <a:pt x="541401" y="214502"/>
                </a:lnTo>
                <a:lnTo>
                  <a:pt x="588518" y="186309"/>
                </a:lnTo>
                <a:lnTo>
                  <a:pt x="637159" y="160147"/>
                </a:lnTo>
                <a:lnTo>
                  <a:pt x="687324" y="136271"/>
                </a:lnTo>
                <a:lnTo>
                  <a:pt x="738759" y="114426"/>
                </a:lnTo>
                <a:lnTo>
                  <a:pt x="791591" y="95123"/>
                </a:lnTo>
                <a:lnTo>
                  <a:pt x="845693" y="77977"/>
                </a:lnTo>
                <a:lnTo>
                  <a:pt x="900811" y="63246"/>
                </a:lnTo>
                <a:lnTo>
                  <a:pt x="957072" y="51181"/>
                </a:lnTo>
                <a:lnTo>
                  <a:pt x="1014349" y="41528"/>
                </a:lnTo>
                <a:lnTo>
                  <a:pt x="1072642" y="34671"/>
                </a:lnTo>
                <a:lnTo>
                  <a:pt x="1131570" y="30479"/>
                </a:lnTo>
                <a:lnTo>
                  <a:pt x="1191514" y="28956"/>
                </a:lnTo>
                <a:lnTo>
                  <a:pt x="1458561" y="28956"/>
                </a:lnTo>
                <a:lnTo>
                  <a:pt x="1424940" y="21971"/>
                </a:lnTo>
                <a:lnTo>
                  <a:pt x="1378839" y="14224"/>
                </a:lnTo>
                <a:lnTo>
                  <a:pt x="1332357" y="8127"/>
                </a:lnTo>
                <a:lnTo>
                  <a:pt x="1285494" y="3810"/>
                </a:lnTo>
                <a:lnTo>
                  <a:pt x="1238631" y="1270"/>
                </a:lnTo>
                <a:lnTo>
                  <a:pt x="1191260" y="0"/>
                </a:lnTo>
                <a:close/>
              </a:path>
              <a:path w="1885950" h="1195704">
                <a:moveTo>
                  <a:pt x="1804667" y="192730"/>
                </a:moveTo>
                <a:lnTo>
                  <a:pt x="1789302" y="217170"/>
                </a:lnTo>
                <a:lnTo>
                  <a:pt x="1885950" y="226695"/>
                </a:lnTo>
                <a:lnTo>
                  <a:pt x="1869991" y="200406"/>
                </a:lnTo>
                <a:lnTo>
                  <a:pt x="1816989" y="200406"/>
                </a:lnTo>
                <a:lnTo>
                  <a:pt x="1804667" y="192730"/>
                </a:lnTo>
                <a:close/>
              </a:path>
              <a:path w="1885950" h="1195704">
                <a:moveTo>
                  <a:pt x="1820029" y="168295"/>
                </a:moveTo>
                <a:lnTo>
                  <a:pt x="1804667" y="192730"/>
                </a:lnTo>
                <a:lnTo>
                  <a:pt x="1816989" y="200406"/>
                </a:lnTo>
                <a:lnTo>
                  <a:pt x="1832356" y="175895"/>
                </a:lnTo>
                <a:lnTo>
                  <a:pt x="1820029" y="168295"/>
                </a:lnTo>
                <a:close/>
              </a:path>
              <a:path w="1885950" h="1195704">
                <a:moveTo>
                  <a:pt x="1835531" y="143637"/>
                </a:moveTo>
                <a:lnTo>
                  <a:pt x="1820029" y="168295"/>
                </a:lnTo>
                <a:lnTo>
                  <a:pt x="1832356" y="175895"/>
                </a:lnTo>
                <a:lnTo>
                  <a:pt x="1816989" y="200406"/>
                </a:lnTo>
                <a:lnTo>
                  <a:pt x="1869991" y="200406"/>
                </a:lnTo>
                <a:lnTo>
                  <a:pt x="1835531" y="143637"/>
                </a:lnTo>
                <a:close/>
              </a:path>
              <a:path w="1885950" h="1195704">
                <a:moveTo>
                  <a:pt x="1458561" y="28956"/>
                </a:moveTo>
                <a:lnTo>
                  <a:pt x="1191514" y="28956"/>
                </a:lnTo>
                <a:lnTo>
                  <a:pt x="1237869" y="30225"/>
                </a:lnTo>
                <a:lnTo>
                  <a:pt x="1283970" y="32765"/>
                </a:lnTo>
                <a:lnTo>
                  <a:pt x="1329690" y="36957"/>
                </a:lnTo>
                <a:lnTo>
                  <a:pt x="1375029" y="42925"/>
                </a:lnTo>
                <a:lnTo>
                  <a:pt x="1420114" y="50546"/>
                </a:lnTo>
                <a:lnTo>
                  <a:pt x="1464818" y="59816"/>
                </a:lnTo>
                <a:lnTo>
                  <a:pt x="1509140" y="70612"/>
                </a:lnTo>
                <a:lnTo>
                  <a:pt x="1552828" y="83058"/>
                </a:lnTo>
                <a:lnTo>
                  <a:pt x="1595882" y="97154"/>
                </a:lnTo>
                <a:lnTo>
                  <a:pt x="1638427" y="112775"/>
                </a:lnTo>
                <a:lnTo>
                  <a:pt x="1680337" y="129921"/>
                </a:lnTo>
                <a:lnTo>
                  <a:pt x="1721612" y="148716"/>
                </a:lnTo>
                <a:lnTo>
                  <a:pt x="1761871" y="168910"/>
                </a:lnTo>
                <a:lnTo>
                  <a:pt x="1801495" y="190753"/>
                </a:lnTo>
                <a:lnTo>
                  <a:pt x="1804667" y="192730"/>
                </a:lnTo>
                <a:lnTo>
                  <a:pt x="1820029" y="168295"/>
                </a:lnTo>
                <a:lnTo>
                  <a:pt x="1774952" y="143128"/>
                </a:lnTo>
                <a:lnTo>
                  <a:pt x="1733550" y="122300"/>
                </a:lnTo>
                <a:lnTo>
                  <a:pt x="1691386" y="103250"/>
                </a:lnTo>
                <a:lnTo>
                  <a:pt x="1648460" y="85598"/>
                </a:lnTo>
                <a:lnTo>
                  <a:pt x="1604899" y="69596"/>
                </a:lnTo>
                <a:lnTo>
                  <a:pt x="1560702" y="55245"/>
                </a:lnTo>
                <a:lnTo>
                  <a:pt x="1515999" y="42545"/>
                </a:lnTo>
                <a:lnTo>
                  <a:pt x="1470787" y="31496"/>
                </a:lnTo>
                <a:lnTo>
                  <a:pt x="1458561" y="28956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51275" y="2892679"/>
            <a:ext cx="680720" cy="230504"/>
          </a:xfrm>
          <a:custGeom>
            <a:avLst/>
            <a:gdLst/>
            <a:ahLst/>
            <a:cxnLst/>
            <a:rect l="l" t="t" r="r" b="b"/>
            <a:pathLst>
              <a:path w="680720" h="230505">
                <a:moveTo>
                  <a:pt x="1270" y="198755"/>
                </a:moveTo>
                <a:lnTo>
                  <a:pt x="0" y="227711"/>
                </a:lnTo>
                <a:lnTo>
                  <a:pt x="37084" y="229362"/>
                </a:lnTo>
                <a:lnTo>
                  <a:pt x="74802" y="229997"/>
                </a:lnTo>
                <a:lnTo>
                  <a:pt x="122809" y="228981"/>
                </a:lnTo>
                <a:lnTo>
                  <a:pt x="170179" y="226187"/>
                </a:lnTo>
                <a:lnTo>
                  <a:pt x="216915" y="221361"/>
                </a:lnTo>
                <a:lnTo>
                  <a:pt x="262636" y="214757"/>
                </a:lnTo>
                <a:lnTo>
                  <a:pt x="307339" y="206375"/>
                </a:lnTo>
                <a:lnTo>
                  <a:pt x="330499" y="201041"/>
                </a:lnTo>
                <a:lnTo>
                  <a:pt x="75184" y="201041"/>
                </a:lnTo>
                <a:lnTo>
                  <a:pt x="38480" y="200533"/>
                </a:lnTo>
                <a:lnTo>
                  <a:pt x="1270" y="198755"/>
                </a:lnTo>
                <a:close/>
              </a:path>
              <a:path w="680720" h="230505">
                <a:moveTo>
                  <a:pt x="606063" y="47638"/>
                </a:moveTo>
                <a:lnTo>
                  <a:pt x="564769" y="76962"/>
                </a:lnTo>
                <a:lnTo>
                  <a:pt x="498601" y="113157"/>
                </a:lnTo>
                <a:lnTo>
                  <a:pt x="462534" y="129159"/>
                </a:lnTo>
                <a:lnTo>
                  <a:pt x="424688" y="143637"/>
                </a:lnTo>
                <a:lnTo>
                  <a:pt x="385317" y="156718"/>
                </a:lnTo>
                <a:lnTo>
                  <a:pt x="344424" y="168148"/>
                </a:lnTo>
                <a:lnTo>
                  <a:pt x="302005" y="177926"/>
                </a:lnTo>
                <a:lnTo>
                  <a:pt x="258572" y="186182"/>
                </a:lnTo>
                <a:lnTo>
                  <a:pt x="213995" y="192532"/>
                </a:lnTo>
                <a:lnTo>
                  <a:pt x="168401" y="197231"/>
                </a:lnTo>
                <a:lnTo>
                  <a:pt x="122300" y="200151"/>
                </a:lnTo>
                <a:lnTo>
                  <a:pt x="75184" y="201041"/>
                </a:lnTo>
                <a:lnTo>
                  <a:pt x="330499" y="201041"/>
                </a:lnTo>
                <a:lnTo>
                  <a:pt x="393064" y="184658"/>
                </a:lnTo>
                <a:lnTo>
                  <a:pt x="433832" y="171196"/>
                </a:lnTo>
                <a:lnTo>
                  <a:pt x="472948" y="156210"/>
                </a:lnTo>
                <a:lnTo>
                  <a:pt x="510413" y="139573"/>
                </a:lnTo>
                <a:lnTo>
                  <a:pt x="545973" y="121538"/>
                </a:lnTo>
                <a:lnTo>
                  <a:pt x="579501" y="101981"/>
                </a:lnTo>
                <a:lnTo>
                  <a:pt x="625771" y="68914"/>
                </a:lnTo>
                <a:lnTo>
                  <a:pt x="606063" y="47638"/>
                </a:lnTo>
                <a:close/>
              </a:path>
              <a:path w="680720" h="230505">
                <a:moveTo>
                  <a:pt x="666047" y="37846"/>
                </a:moveTo>
                <a:lnTo>
                  <a:pt x="617982" y="37846"/>
                </a:lnTo>
                <a:lnTo>
                  <a:pt x="636270" y="60325"/>
                </a:lnTo>
                <a:lnTo>
                  <a:pt x="625771" y="68914"/>
                </a:lnTo>
                <a:lnTo>
                  <a:pt x="646049" y="90805"/>
                </a:lnTo>
                <a:lnTo>
                  <a:pt x="666047" y="37846"/>
                </a:lnTo>
                <a:close/>
              </a:path>
              <a:path w="680720" h="230505">
                <a:moveTo>
                  <a:pt x="617982" y="37846"/>
                </a:moveTo>
                <a:lnTo>
                  <a:pt x="606063" y="47638"/>
                </a:lnTo>
                <a:lnTo>
                  <a:pt x="625771" y="68914"/>
                </a:lnTo>
                <a:lnTo>
                  <a:pt x="636270" y="60325"/>
                </a:lnTo>
                <a:lnTo>
                  <a:pt x="617982" y="37846"/>
                </a:lnTo>
                <a:close/>
              </a:path>
              <a:path w="680720" h="230505">
                <a:moveTo>
                  <a:pt x="680338" y="0"/>
                </a:moveTo>
                <a:lnTo>
                  <a:pt x="586994" y="27050"/>
                </a:lnTo>
                <a:lnTo>
                  <a:pt x="606063" y="47638"/>
                </a:lnTo>
                <a:lnTo>
                  <a:pt x="617982" y="37846"/>
                </a:lnTo>
                <a:lnTo>
                  <a:pt x="666047" y="37846"/>
                </a:lnTo>
                <a:lnTo>
                  <a:pt x="680338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41469" y="2170557"/>
            <a:ext cx="1010285" cy="768985"/>
          </a:xfrm>
          <a:custGeom>
            <a:avLst/>
            <a:gdLst/>
            <a:ahLst/>
            <a:cxnLst/>
            <a:rect l="l" t="t" r="r" b="b"/>
            <a:pathLst>
              <a:path w="1010285" h="768985">
                <a:moveTo>
                  <a:pt x="922501" y="29002"/>
                </a:moveTo>
                <a:lnTo>
                  <a:pt x="867790" y="34543"/>
                </a:lnTo>
                <a:lnTo>
                  <a:pt x="798702" y="43814"/>
                </a:lnTo>
                <a:lnTo>
                  <a:pt x="731519" y="56133"/>
                </a:lnTo>
                <a:lnTo>
                  <a:pt x="667003" y="72516"/>
                </a:lnTo>
                <a:lnTo>
                  <a:pt x="606043" y="93852"/>
                </a:lnTo>
                <a:lnTo>
                  <a:pt x="549020" y="121157"/>
                </a:lnTo>
                <a:lnTo>
                  <a:pt x="497331" y="155575"/>
                </a:lnTo>
                <a:lnTo>
                  <a:pt x="462152" y="188975"/>
                </a:lnTo>
                <a:lnTo>
                  <a:pt x="431545" y="228980"/>
                </a:lnTo>
                <a:lnTo>
                  <a:pt x="396113" y="289940"/>
                </a:lnTo>
                <a:lnTo>
                  <a:pt x="365378" y="355980"/>
                </a:lnTo>
                <a:lnTo>
                  <a:pt x="337692" y="423290"/>
                </a:lnTo>
                <a:lnTo>
                  <a:pt x="324484" y="456310"/>
                </a:lnTo>
                <a:lnTo>
                  <a:pt x="311530" y="488188"/>
                </a:lnTo>
                <a:lnTo>
                  <a:pt x="291718" y="533145"/>
                </a:lnTo>
                <a:lnTo>
                  <a:pt x="271906" y="572515"/>
                </a:lnTo>
                <a:lnTo>
                  <a:pt x="251205" y="604901"/>
                </a:lnTo>
                <a:lnTo>
                  <a:pt x="213740" y="645794"/>
                </a:lnTo>
                <a:lnTo>
                  <a:pt x="183768" y="671194"/>
                </a:lnTo>
                <a:lnTo>
                  <a:pt x="138556" y="699007"/>
                </a:lnTo>
                <a:lnTo>
                  <a:pt x="92963" y="717676"/>
                </a:lnTo>
                <a:lnTo>
                  <a:pt x="31241" y="734059"/>
                </a:lnTo>
                <a:lnTo>
                  <a:pt x="0" y="740537"/>
                </a:lnTo>
                <a:lnTo>
                  <a:pt x="5841" y="768984"/>
                </a:lnTo>
                <a:lnTo>
                  <a:pt x="68960" y="754888"/>
                </a:lnTo>
                <a:lnTo>
                  <a:pt x="117855" y="739520"/>
                </a:lnTo>
                <a:lnTo>
                  <a:pt x="167258" y="716406"/>
                </a:lnTo>
                <a:lnTo>
                  <a:pt x="200278" y="694943"/>
                </a:lnTo>
                <a:lnTo>
                  <a:pt x="233044" y="667512"/>
                </a:lnTo>
                <a:lnTo>
                  <a:pt x="265556" y="633221"/>
                </a:lnTo>
                <a:lnTo>
                  <a:pt x="289432" y="599820"/>
                </a:lnTo>
                <a:lnTo>
                  <a:pt x="311150" y="559942"/>
                </a:lnTo>
                <a:lnTo>
                  <a:pt x="338073" y="499744"/>
                </a:lnTo>
                <a:lnTo>
                  <a:pt x="378078" y="400557"/>
                </a:lnTo>
                <a:lnTo>
                  <a:pt x="392175" y="367156"/>
                </a:lnTo>
                <a:lnTo>
                  <a:pt x="422147" y="302640"/>
                </a:lnTo>
                <a:lnTo>
                  <a:pt x="447039" y="258444"/>
                </a:lnTo>
                <a:lnTo>
                  <a:pt x="474598" y="219201"/>
                </a:lnTo>
                <a:lnTo>
                  <a:pt x="504951" y="186816"/>
                </a:lnTo>
                <a:lnTo>
                  <a:pt x="539368" y="161035"/>
                </a:lnTo>
                <a:lnTo>
                  <a:pt x="590295" y="132333"/>
                </a:lnTo>
                <a:lnTo>
                  <a:pt x="646302" y="109600"/>
                </a:lnTo>
                <a:lnTo>
                  <a:pt x="706501" y="91693"/>
                </a:lnTo>
                <a:lnTo>
                  <a:pt x="770508" y="77977"/>
                </a:lnTo>
                <a:lnTo>
                  <a:pt x="837183" y="67437"/>
                </a:lnTo>
                <a:lnTo>
                  <a:pt x="925127" y="57847"/>
                </a:lnTo>
                <a:lnTo>
                  <a:pt x="922501" y="29002"/>
                </a:lnTo>
                <a:close/>
              </a:path>
              <a:path w="1010285" h="768985">
                <a:moveTo>
                  <a:pt x="990190" y="27558"/>
                </a:moveTo>
                <a:lnTo>
                  <a:pt x="936751" y="27558"/>
                </a:lnTo>
                <a:lnTo>
                  <a:pt x="939672" y="56387"/>
                </a:lnTo>
                <a:lnTo>
                  <a:pt x="925127" y="57847"/>
                </a:lnTo>
                <a:lnTo>
                  <a:pt x="927734" y="86487"/>
                </a:lnTo>
                <a:lnTo>
                  <a:pt x="1010284" y="35432"/>
                </a:lnTo>
                <a:lnTo>
                  <a:pt x="990190" y="27558"/>
                </a:lnTo>
                <a:close/>
              </a:path>
              <a:path w="1010285" h="768985">
                <a:moveTo>
                  <a:pt x="936751" y="27558"/>
                </a:moveTo>
                <a:lnTo>
                  <a:pt x="922501" y="29002"/>
                </a:lnTo>
                <a:lnTo>
                  <a:pt x="925127" y="57847"/>
                </a:lnTo>
                <a:lnTo>
                  <a:pt x="939672" y="56387"/>
                </a:lnTo>
                <a:lnTo>
                  <a:pt x="936751" y="27558"/>
                </a:lnTo>
                <a:close/>
              </a:path>
              <a:path w="1010285" h="768985">
                <a:moveTo>
                  <a:pt x="919860" y="0"/>
                </a:moveTo>
                <a:lnTo>
                  <a:pt x="922501" y="29002"/>
                </a:lnTo>
                <a:lnTo>
                  <a:pt x="936751" y="27558"/>
                </a:lnTo>
                <a:lnTo>
                  <a:pt x="990190" y="27558"/>
                </a:lnTo>
                <a:lnTo>
                  <a:pt x="919860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59958" y="2248789"/>
            <a:ext cx="337820" cy="1583690"/>
          </a:xfrm>
          <a:custGeom>
            <a:avLst/>
            <a:gdLst/>
            <a:ahLst/>
            <a:cxnLst/>
            <a:rect l="l" t="t" r="r" b="b"/>
            <a:pathLst>
              <a:path w="337820" h="1583689">
                <a:moveTo>
                  <a:pt x="163956" y="1486154"/>
                </a:moveTo>
                <a:lnTo>
                  <a:pt x="166369" y="1583309"/>
                </a:lnTo>
                <a:lnTo>
                  <a:pt x="242087" y="1523492"/>
                </a:lnTo>
                <a:lnTo>
                  <a:pt x="210438" y="1523492"/>
                </a:lnTo>
                <a:lnTo>
                  <a:pt x="183895" y="1512062"/>
                </a:lnTo>
                <a:lnTo>
                  <a:pt x="189785" y="1498296"/>
                </a:lnTo>
                <a:lnTo>
                  <a:pt x="163956" y="1486154"/>
                </a:lnTo>
                <a:close/>
              </a:path>
              <a:path w="337820" h="1583689">
                <a:moveTo>
                  <a:pt x="189785" y="1498296"/>
                </a:moveTo>
                <a:lnTo>
                  <a:pt x="183895" y="1512062"/>
                </a:lnTo>
                <a:lnTo>
                  <a:pt x="210438" y="1523492"/>
                </a:lnTo>
                <a:lnTo>
                  <a:pt x="215959" y="1510600"/>
                </a:lnTo>
                <a:lnTo>
                  <a:pt x="189785" y="1498296"/>
                </a:lnTo>
                <a:close/>
              </a:path>
              <a:path w="337820" h="1583689">
                <a:moveTo>
                  <a:pt x="215959" y="1510600"/>
                </a:moveTo>
                <a:lnTo>
                  <a:pt x="210438" y="1523492"/>
                </a:lnTo>
                <a:lnTo>
                  <a:pt x="242087" y="1523492"/>
                </a:lnTo>
                <a:lnTo>
                  <a:pt x="242569" y="1523111"/>
                </a:lnTo>
                <a:lnTo>
                  <a:pt x="215959" y="1510600"/>
                </a:lnTo>
                <a:close/>
              </a:path>
              <a:path w="337820" h="1583689">
                <a:moveTo>
                  <a:pt x="22732" y="0"/>
                </a:moveTo>
                <a:lnTo>
                  <a:pt x="0" y="18034"/>
                </a:lnTo>
                <a:lnTo>
                  <a:pt x="36321" y="64135"/>
                </a:lnTo>
                <a:lnTo>
                  <a:pt x="70357" y="111760"/>
                </a:lnTo>
                <a:lnTo>
                  <a:pt x="102107" y="161036"/>
                </a:lnTo>
                <a:lnTo>
                  <a:pt x="131825" y="211836"/>
                </a:lnTo>
                <a:lnTo>
                  <a:pt x="159257" y="264287"/>
                </a:lnTo>
                <a:lnTo>
                  <a:pt x="184657" y="318388"/>
                </a:lnTo>
                <a:lnTo>
                  <a:pt x="207644" y="373380"/>
                </a:lnTo>
                <a:lnTo>
                  <a:pt x="228472" y="430022"/>
                </a:lnTo>
                <a:lnTo>
                  <a:pt x="247014" y="487680"/>
                </a:lnTo>
                <a:lnTo>
                  <a:pt x="263016" y="546481"/>
                </a:lnTo>
                <a:lnTo>
                  <a:pt x="276859" y="606171"/>
                </a:lnTo>
                <a:lnTo>
                  <a:pt x="288163" y="666623"/>
                </a:lnTo>
                <a:lnTo>
                  <a:pt x="297179" y="727963"/>
                </a:lnTo>
                <a:lnTo>
                  <a:pt x="303402" y="789813"/>
                </a:lnTo>
                <a:lnTo>
                  <a:pt x="307339" y="852170"/>
                </a:lnTo>
                <a:lnTo>
                  <a:pt x="308609" y="915035"/>
                </a:lnTo>
                <a:lnTo>
                  <a:pt x="307958" y="959103"/>
                </a:lnTo>
                <a:lnTo>
                  <a:pt x="306069" y="1002284"/>
                </a:lnTo>
                <a:lnTo>
                  <a:pt x="302894" y="1045718"/>
                </a:lnTo>
                <a:lnTo>
                  <a:pt x="298576" y="1088898"/>
                </a:lnTo>
                <a:lnTo>
                  <a:pt x="292988" y="1131824"/>
                </a:lnTo>
                <a:lnTo>
                  <a:pt x="286257" y="1174496"/>
                </a:lnTo>
                <a:lnTo>
                  <a:pt x="278129" y="1216914"/>
                </a:lnTo>
                <a:lnTo>
                  <a:pt x="268986" y="1258824"/>
                </a:lnTo>
                <a:lnTo>
                  <a:pt x="258699" y="1300352"/>
                </a:lnTo>
                <a:lnTo>
                  <a:pt x="247014" y="1341501"/>
                </a:lnTo>
                <a:lnTo>
                  <a:pt x="234314" y="1382141"/>
                </a:lnTo>
                <a:lnTo>
                  <a:pt x="220471" y="1422273"/>
                </a:lnTo>
                <a:lnTo>
                  <a:pt x="205358" y="1461897"/>
                </a:lnTo>
                <a:lnTo>
                  <a:pt x="189785" y="1498296"/>
                </a:lnTo>
                <a:lnTo>
                  <a:pt x="215959" y="1510600"/>
                </a:lnTo>
                <a:lnTo>
                  <a:pt x="232409" y="1472184"/>
                </a:lnTo>
                <a:lnTo>
                  <a:pt x="247776" y="1431671"/>
                </a:lnTo>
                <a:lnTo>
                  <a:pt x="262000" y="1390777"/>
                </a:lnTo>
                <a:lnTo>
                  <a:pt x="274954" y="1349248"/>
                </a:lnTo>
                <a:lnTo>
                  <a:pt x="286765" y="1307338"/>
                </a:lnTo>
                <a:lnTo>
                  <a:pt x="297306" y="1265047"/>
                </a:lnTo>
                <a:lnTo>
                  <a:pt x="306704" y="1222248"/>
                </a:lnTo>
                <a:lnTo>
                  <a:pt x="314832" y="1179068"/>
                </a:lnTo>
                <a:lnTo>
                  <a:pt x="321690" y="1135634"/>
                </a:lnTo>
                <a:lnTo>
                  <a:pt x="327405" y="1091819"/>
                </a:lnTo>
                <a:lnTo>
                  <a:pt x="331850" y="1047750"/>
                </a:lnTo>
                <a:lnTo>
                  <a:pt x="335025" y="1003553"/>
                </a:lnTo>
                <a:lnTo>
                  <a:pt x="336936" y="958723"/>
                </a:lnTo>
                <a:lnTo>
                  <a:pt x="337565" y="914653"/>
                </a:lnTo>
                <a:lnTo>
                  <a:pt x="337184" y="882650"/>
                </a:lnTo>
                <a:lnTo>
                  <a:pt x="334517" y="818769"/>
                </a:lnTo>
                <a:lnTo>
                  <a:pt x="329438" y="755523"/>
                </a:lnTo>
                <a:lnTo>
                  <a:pt x="321563" y="692785"/>
                </a:lnTo>
                <a:lnTo>
                  <a:pt x="311276" y="630682"/>
                </a:lnTo>
                <a:lnTo>
                  <a:pt x="298450" y="569468"/>
                </a:lnTo>
                <a:lnTo>
                  <a:pt x="283209" y="509015"/>
                </a:lnTo>
                <a:lnTo>
                  <a:pt x="265429" y="449707"/>
                </a:lnTo>
                <a:lnTo>
                  <a:pt x="245490" y="391287"/>
                </a:lnTo>
                <a:lnTo>
                  <a:pt x="223012" y="334137"/>
                </a:lnTo>
                <a:lnTo>
                  <a:pt x="184912" y="250951"/>
                </a:lnTo>
                <a:lnTo>
                  <a:pt x="156844" y="197231"/>
                </a:lnTo>
                <a:lnTo>
                  <a:pt x="126491" y="145287"/>
                </a:lnTo>
                <a:lnTo>
                  <a:pt x="93852" y="94869"/>
                </a:lnTo>
                <a:lnTo>
                  <a:pt x="59054" y="46227"/>
                </a:lnTo>
                <a:lnTo>
                  <a:pt x="22732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759830" y="2270125"/>
            <a:ext cx="233679" cy="384175"/>
          </a:xfrm>
          <a:custGeom>
            <a:avLst/>
            <a:gdLst/>
            <a:ahLst/>
            <a:cxnLst/>
            <a:rect l="l" t="t" r="r" b="b"/>
            <a:pathLst>
              <a:path w="233679" h="384175">
                <a:moveTo>
                  <a:pt x="180098" y="309268"/>
                </a:moveTo>
                <a:lnTo>
                  <a:pt x="153543" y="320421"/>
                </a:lnTo>
                <a:lnTo>
                  <a:pt x="227203" y="383666"/>
                </a:lnTo>
                <a:lnTo>
                  <a:pt x="231277" y="322707"/>
                </a:lnTo>
                <a:lnTo>
                  <a:pt x="185928" y="322707"/>
                </a:lnTo>
                <a:lnTo>
                  <a:pt x="180098" y="309268"/>
                </a:lnTo>
                <a:close/>
              </a:path>
              <a:path w="233679" h="384175">
                <a:moveTo>
                  <a:pt x="206765" y="298069"/>
                </a:moveTo>
                <a:lnTo>
                  <a:pt x="180098" y="309268"/>
                </a:lnTo>
                <a:lnTo>
                  <a:pt x="185928" y="322707"/>
                </a:lnTo>
                <a:lnTo>
                  <a:pt x="212471" y="311150"/>
                </a:lnTo>
                <a:lnTo>
                  <a:pt x="206765" y="298069"/>
                </a:lnTo>
                <a:close/>
              </a:path>
              <a:path w="233679" h="384175">
                <a:moveTo>
                  <a:pt x="233680" y="286765"/>
                </a:moveTo>
                <a:lnTo>
                  <a:pt x="206765" y="298069"/>
                </a:lnTo>
                <a:lnTo>
                  <a:pt x="212471" y="311150"/>
                </a:lnTo>
                <a:lnTo>
                  <a:pt x="185928" y="322707"/>
                </a:lnTo>
                <a:lnTo>
                  <a:pt x="231277" y="322707"/>
                </a:lnTo>
                <a:lnTo>
                  <a:pt x="233680" y="286765"/>
                </a:lnTo>
                <a:close/>
              </a:path>
              <a:path w="233679" h="384175">
                <a:moveTo>
                  <a:pt x="22733" y="0"/>
                </a:moveTo>
                <a:lnTo>
                  <a:pt x="0" y="18034"/>
                </a:lnTo>
                <a:lnTo>
                  <a:pt x="33020" y="59689"/>
                </a:lnTo>
                <a:lnTo>
                  <a:pt x="64008" y="102235"/>
                </a:lnTo>
                <a:lnTo>
                  <a:pt x="93218" y="146685"/>
                </a:lnTo>
                <a:lnTo>
                  <a:pt x="120904" y="192404"/>
                </a:lnTo>
                <a:lnTo>
                  <a:pt x="146812" y="239649"/>
                </a:lnTo>
                <a:lnTo>
                  <a:pt x="170942" y="288163"/>
                </a:lnTo>
                <a:lnTo>
                  <a:pt x="180098" y="309268"/>
                </a:lnTo>
                <a:lnTo>
                  <a:pt x="206765" y="298069"/>
                </a:lnTo>
                <a:lnTo>
                  <a:pt x="172212" y="225678"/>
                </a:lnTo>
                <a:lnTo>
                  <a:pt x="145669" y="177419"/>
                </a:lnTo>
                <a:lnTo>
                  <a:pt x="117348" y="130683"/>
                </a:lnTo>
                <a:lnTo>
                  <a:pt x="87376" y="85344"/>
                </a:lnTo>
                <a:lnTo>
                  <a:pt x="55626" y="41655"/>
                </a:lnTo>
                <a:lnTo>
                  <a:pt x="22733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15611" y="1989582"/>
            <a:ext cx="114300" cy="2087880"/>
          </a:xfrm>
          <a:custGeom>
            <a:avLst/>
            <a:gdLst/>
            <a:ahLst/>
            <a:cxnLst/>
            <a:rect l="l" t="t" r="r" b="b"/>
            <a:pathLst>
              <a:path w="114300" h="2087879">
                <a:moveTo>
                  <a:pt x="76200" y="95250"/>
                </a:moveTo>
                <a:lnTo>
                  <a:pt x="38100" y="95250"/>
                </a:lnTo>
                <a:lnTo>
                  <a:pt x="38100" y="2087879"/>
                </a:lnTo>
                <a:lnTo>
                  <a:pt x="76200" y="2087879"/>
                </a:lnTo>
                <a:lnTo>
                  <a:pt x="76200" y="95250"/>
                </a:lnTo>
                <a:close/>
              </a:path>
              <a:path w="114300" h="208787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08787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00571" y="1701545"/>
            <a:ext cx="114300" cy="2086610"/>
          </a:xfrm>
          <a:custGeom>
            <a:avLst/>
            <a:gdLst/>
            <a:ahLst/>
            <a:cxnLst/>
            <a:rect l="l" t="t" r="r" b="b"/>
            <a:pathLst>
              <a:path w="114300" h="2086610">
                <a:moveTo>
                  <a:pt x="76200" y="95250"/>
                </a:moveTo>
                <a:lnTo>
                  <a:pt x="38100" y="95250"/>
                </a:lnTo>
                <a:lnTo>
                  <a:pt x="38100" y="2086355"/>
                </a:lnTo>
                <a:lnTo>
                  <a:pt x="76200" y="2086355"/>
                </a:lnTo>
                <a:lnTo>
                  <a:pt x="76200" y="95250"/>
                </a:lnTo>
                <a:close/>
              </a:path>
              <a:path w="114300" h="208661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08661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638045" y="1583182"/>
            <a:ext cx="5016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4H</a:t>
            </a:r>
            <a:r>
              <a:rPr sz="1950" b="1" spc="7" baseline="26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743455" y="1916429"/>
            <a:ext cx="114300" cy="2016760"/>
          </a:xfrm>
          <a:custGeom>
            <a:avLst/>
            <a:gdLst/>
            <a:ahLst/>
            <a:cxnLst/>
            <a:rect l="l" t="t" r="r" b="b"/>
            <a:pathLst>
              <a:path w="114300" h="2016760">
                <a:moveTo>
                  <a:pt x="76200" y="95250"/>
                </a:moveTo>
                <a:lnTo>
                  <a:pt x="38100" y="95250"/>
                </a:lnTo>
                <a:lnTo>
                  <a:pt x="38100" y="2016252"/>
                </a:lnTo>
                <a:lnTo>
                  <a:pt x="76200" y="2016252"/>
                </a:lnTo>
                <a:lnTo>
                  <a:pt x="76200" y="95250"/>
                </a:lnTo>
                <a:close/>
              </a:path>
              <a:path w="114300" h="201676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01676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53618" y="4917135"/>
            <a:ext cx="9448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3366"/>
                </a:solidFill>
                <a:latin typeface="黑体"/>
                <a:cs typeface="黑体"/>
              </a:rPr>
              <a:t>基质侧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4065" y="1469809"/>
            <a:ext cx="944880" cy="98742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b="1" dirty="0">
                <a:solidFill>
                  <a:srgbClr val="003366"/>
                </a:solidFill>
                <a:latin typeface="黑体"/>
                <a:cs typeface="黑体"/>
              </a:rPr>
              <a:t>胞液侧</a:t>
            </a:r>
            <a:endParaRPr sz="2400">
              <a:latin typeface="黑体"/>
              <a:cs typeface="黑体"/>
            </a:endParaRPr>
          </a:p>
          <a:p>
            <a:pPr marR="97790" algn="r">
              <a:lnSpc>
                <a:spcPct val="100000"/>
              </a:lnSpc>
              <a:spcBef>
                <a:spcPts val="905"/>
              </a:spcBef>
            </a:pPr>
            <a:r>
              <a:rPr sz="2400" b="1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225634" y="2065477"/>
            <a:ext cx="19246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325" algn="l"/>
                <a:tab pos="873760" algn="l"/>
                <a:tab pos="1303655" algn="l"/>
                <a:tab pos="1732280" algn="l"/>
              </a:tabLst>
            </a:pPr>
            <a:r>
              <a:rPr sz="2400" b="1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	+	+	+	+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10202" y="1566541"/>
            <a:ext cx="617220" cy="89090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sz="2000" b="1" spc="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4H</a:t>
            </a:r>
            <a:r>
              <a:rPr sz="1950" b="1" spc="7" baseline="26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  <a:p>
            <a:pPr marL="400050">
              <a:lnSpc>
                <a:spcPct val="100000"/>
              </a:lnSpc>
              <a:spcBef>
                <a:spcPts val="835"/>
              </a:spcBef>
            </a:pPr>
            <a:r>
              <a:rPr sz="2400" b="1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226177" y="1367155"/>
            <a:ext cx="1838960" cy="1090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6450">
              <a:lnSpc>
                <a:spcPts val="2050"/>
              </a:lnSpc>
              <a:spcBef>
                <a:spcPts val="105"/>
              </a:spcBef>
            </a:pPr>
            <a:r>
              <a:rPr sz="2000" b="1" spc="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2H</a:t>
            </a:r>
            <a:r>
              <a:rPr sz="1950" b="1" spc="7" baseline="26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  <a:p>
            <a:pPr marL="50800">
              <a:lnSpc>
                <a:spcPts val="2050"/>
              </a:lnSpc>
            </a:pPr>
            <a:r>
              <a:rPr sz="2000" b="1" spc="-1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Cyt</a:t>
            </a:r>
            <a:r>
              <a:rPr sz="2000" b="1" spc="1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000" b="1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</a:t>
            </a:r>
            <a:endParaRPr sz="2000">
              <a:latin typeface="Arial" panose="020B0604020202090204"/>
              <a:cs typeface="Arial" panose="020B0604020202090204"/>
            </a:endParaRPr>
          </a:p>
          <a:p>
            <a:pPr marL="1193165">
              <a:lnSpc>
                <a:spcPct val="100000"/>
              </a:lnSpc>
              <a:spcBef>
                <a:spcPts val="1395"/>
              </a:spcBef>
              <a:tabLst>
                <a:tab pos="1622425" algn="l"/>
              </a:tabLst>
            </a:pPr>
            <a:r>
              <a:rPr sz="2400" b="1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	+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76778" y="2065477"/>
            <a:ext cx="203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07617" y="3453765"/>
            <a:ext cx="1235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102995" algn="l"/>
              </a:tabLst>
            </a:pPr>
            <a:r>
              <a:rPr sz="2800" b="1" spc="-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-	-</a:t>
            </a:r>
            <a:endParaRPr sz="28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81882" y="3453765"/>
            <a:ext cx="18313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599440" algn="l"/>
                <a:tab pos="1029335" algn="l"/>
                <a:tab pos="1346200" algn="l"/>
                <a:tab pos="1661795" algn="l"/>
              </a:tabLst>
            </a:pPr>
            <a:r>
              <a:rPr sz="2800" b="1" spc="-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-	</a:t>
            </a:r>
            <a:r>
              <a:rPr sz="3000" b="1" spc="1402" baseline="25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Ⅲ	</a:t>
            </a:r>
            <a:r>
              <a:rPr sz="2800" b="1" spc="-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-	-	-</a:t>
            </a:r>
            <a:endParaRPr sz="28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137783" y="3254501"/>
            <a:ext cx="982344" cy="1035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490">
              <a:lnSpc>
                <a:spcPts val="1980"/>
              </a:lnSpc>
              <a:spcBef>
                <a:spcPts val="105"/>
              </a:spcBef>
            </a:pPr>
            <a:r>
              <a:rPr sz="2000" b="1" dirty="0">
                <a:solidFill>
                  <a:srgbClr val="003366"/>
                </a:solidFill>
                <a:latin typeface="宋体"/>
                <a:cs typeface="宋体"/>
              </a:rPr>
              <a:t>Ⅳ </a:t>
            </a:r>
            <a:endParaRPr sz="2000">
              <a:latin typeface="宋体"/>
              <a:cs typeface="宋体"/>
            </a:endParaRPr>
          </a:p>
          <a:p>
            <a:pPr marL="509905">
              <a:lnSpc>
                <a:spcPts val="2940"/>
              </a:lnSpc>
              <a:tabLst>
                <a:tab pos="824865" algn="l"/>
              </a:tabLst>
            </a:pPr>
            <a:r>
              <a:rPr sz="2800" b="1" spc="-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-	-</a:t>
            </a:r>
            <a:endParaRPr sz="2800">
              <a:latin typeface="Arial" panose="020B0604020202090204"/>
              <a:cs typeface="Arial" panose="020B0604020202090204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2000" b="1" spc="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950" b="1" spc="7" baseline="-21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200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349742" y="3453765"/>
            <a:ext cx="144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-</a:t>
            </a:r>
            <a:endParaRPr sz="28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2369566" y="464566"/>
            <a:ext cx="395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5" dirty="0"/>
              <a:t>化</a:t>
            </a:r>
            <a:r>
              <a:rPr sz="2800" spc="-5" dirty="0"/>
              <a:t>学渗透</a:t>
            </a:r>
            <a:r>
              <a:rPr sz="2800" spc="5" dirty="0"/>
              <a:t>假</a:t>
            </a:r>
            <a:r>
              <a:rPr sz="2800" spc="-5" dirty="0"/>
              <a:t>说详细</a:t>
            </a:r>
            <a:r>
              <a:rPr sz="2800" spc="5" dirty="0"/>
              <a:t>示</a:t>
            </a:r>
            <a:r>
              <a:rPr sz="2800" spc="-5" dirty="0"/>
              <a:t>意</a:t>
            </a:r>
            <a:r>
              <a:rPr sz="2800" spc="-15" dirty="0"/>
              <a:t>图</a:t>
            </a:r>
            <a:endParaRPr sz="2800"/>
          </a:p>
        </p:txBody>
      </p:sp>
      <p:sp>
        <p:nvSpPr>
          <p:cNvPr id="50" name="object 50"/>
          <p:cNvSpPr txBox="1"/>
          <p:nvPr/>
        </p:nvSpPr>
        <p:spPr>
          <a:xfrm>
            <a:off x="268224" y="5922264"/>
            <a:ext cx="7208520" cy="378460"/>
          </a:xfrm>
          <a:prstGeom prst="rect">
            <a:avLst/>
          </a:prstGeom>
          <a:solidFill>
            <a:srgbClr val="3333FF"/>
          </a:solidFill>
        </p:spPr>
        <p:txBody>
          <a:bodyPr vert="horz" wrap="square" lIns="0" tIns="4635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65"/>
              </a:spcBef>
            </a:pPr>
            <a:r>
              <a:rPr sz="1800" b="1" dirty="0">
                <a:solidFill>
                  <a:srgbClr val="FFFFFF"/>
                </a:solidFill>
                <a:latin typeface="黑体"/>
                <a:cs typeface="黑体"/>
              </a:rPr>
              <a:t>电子传递过程复合体</a:t>
            </a:r>
            <a:r>
              <a:rPr sz="18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I(4</a:t>
            </a:r>
            <a:r>
              <a:rPr sz="18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H</a:t>
            </a:r>
            <a:r>
              <a:rPr sz="1800" b="1" baseline="25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 </a:t>
            </a:r>
            <a:r>
              <a:rPr sz="18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)</a:t>
            </a:r>
            <a:r>
              <a:rPr sz="1800" b="1" dirty="0">
                <a:solidFill>
                  <a:srgbClr val="FFFFFF"/>
                </a:solidFill>
                <a:latin typeface="黑体"/>
                <a:cs typeface="黑体"/>
              </a:rPr>
              <a:t>，复合体</a:t>
            </a:r>
            <a:r>
              <a:rPr sz="18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III</a:t>
            </a:r>
            <a:r>
              <a:rPr sz="1800" b="1" spc="1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(4H</a:t>
            </a:r>
            <a:r>
              <a:rPr sz="1800" b="1" baseline="25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8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)</a:t>
            </a:r>
            <a:r>
              <a:rPr sz="1800" b="1" dirty="0">
                <a:solidFill>
                  <a:srgbClr val="FFFFFF"/>
                </a:solidFill>
                <a:latin typeface="黑体"/>
                <a:cs typeface="黑体"/>
              </a:rPr>
              <a:t>和</a:t>
            </a:r>
            <a:r>
              <a:rPr sz="18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IV(2H</a:t>
            </a:r>
            <a:r>
              <a:rPr sz="1800" b="1" spc="-7" baseline="2500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8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)</a:t>
            </a:r>
            <a:r>
              <a:rPr sz="1800" b="1" spc="-15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dirty="0">
                <a:solidFill>
                  <a:srgbClr val="FFFFFF"/>
                </a:solidFill>
                <a:latin typeface="黑体"/>
                <a:cs typeface="黑体"/>
              </a:rPr>
              <a:t>有质子泵功能</a:t>
            </a:r>
            <a:endParaRPr sz="1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96976"/>
            <a:ext cx="21951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C00000"/>
                </a:solidFill>
                <a:latin typeface="黑体"/>
                <a:cs typeface="黑体"/>
              </a:rPr>
              <a:t>②</a:t>
            </a:r>
            <a:r>
              <a:rPr sz="3200" b="1" spc="-1025" dirty="0">
                <a:solidFill>
                  <a:srgbClr val="C00000"/>
                </a:solidFill>
                <a:latin typeface="黑体"/>
                <a:cs typeface="黑体"/>
              </a:rPr>
              <a:t> </a:t>
            </a:r>
            <a:r>
              <a:rPr sz="3200" b="1" spc="-80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3200" b="1" spc="-235" dirty="0">
                <a:solidFill>
                  <a:srgbClr val="C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b="1" spc="15" dirty="0">
                <a:solidFill>
                  <a:srgbClr val="C00000"/>
                </a:solidFill>
                <a:latin typeface="黑体"/>
                <a:cs typeface="黑体"/>
              </a:rPr>
              <a:t>合酶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016" y="933704"/>
            <a:ext cx="4808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1370" dirty="0">
                <a:solidFill>
                  <a:srgbClr val="3333FF"/>
                </a:solidFill>
                <a:latin typeface="Wingdings" panose="05000000000000000000"/>
                <a:cs typeface="Wingdings" panose="05000000000000000000"/>
              </a:rPr>
              <a:t>⚫</a:t>
            </a:r>
            <a:r>
              <a:rPr sz="2800" spc="1370" dirty="0">
                <a:solidFill>
                  <a:srgbClr val="3333FF"/>
                </a:solid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800" b="1" spc="-75" dirty="0">
                <a:solidFill>
                  <a:srgbClr val="3333FF"/>
                </a:solidFill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800" b="1" spc="-225" dirty="0">
                <a:solidFill>
                  <a:srgbClr val="3333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b="1" spc="5" dirty="0">
                <a:solidFill>
                  <a:srgbClr val="3333FF"/>
                </a:solidFill>
                <a:latin typeface="黑体"/>
                <a:cs typeface="黑体"/>
              </a:rPr>
              <a:t>合酶在线粒</a:t>
            </a:r>
            <a:r>
              <a:rPr sz="2800" b="1" spc="-10" dirty="0">
                <a:solidFill>
                  <a:srgbClr val="3333FF"/>
                </a:solidFill>
                <a:latin typeface="黑体"/>
                <a:cs typeface="黑体"/>
              </a:rPr>
              <a:t>体中</a:t>
            </a:r>
            <a:r>
              <a:rPr sz="2800" b="1" spc="5" dirty="0">
                <a:solidFill>
                  <a:srgbClr val="3333FF"/>
                </a:solidFill>
                <a:latin typeface="黑体"/>
                <a:cs typeface="黑体"/>
              </a:rPr>
              <a:t>的</a:t>
            </a:r>
            <a:r>
              <a:rPr sz="2800" b="1" spc="-10" dirty="0">
                <a:solidFill>
                  <a:srgbClr val="3333FF"/>
                </a:solidFill>
                <a:latin typeface="黑体"/>
                <a:cs typeface="黑体"/>
              </a:rPr>
              <a:t>位</a:t>
            </a:r>
            <a:r>
              <a:rPr sz="2800" b="1" spc="-15" dirty="0">
                <a:solidFill>
                  <a:srgbClr val="3333FF"/>
                </a:solidFill>
                <a:latin typeface="黑体"/>
                <a:cs typeface="黑体"/>
              </a:rPr>
              <a:t>置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75405" y="4035552"/>
            <a:ext cx="3150290" cy="256536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52727" y="4030979"/>
            <a:ext cx="3177540" cy="2586355"/>
          </a:xfrm>
          <a:custGeom>
            <a:avLst/>
            <a:gdLst/>
            <a:ahLst/>
            <a:cxnLst/>
            <a:rect l="l" t="t" r="r" b="b"/>
            <a:pathLst>
              <a:path w="3177540" h="2586354">
                <a:moveTo>
                  <a:pt x="0" y="2586228"/>
                </a:moveTo>
                <a:lnTo>
                  <a:pt x="3177540" y="2586228"/>
                </a:lnTo>
                <a:lnTo>
                  <a:pt x="3177540" y="0"/>
                </a:lnTo>
                <a:lnTo>
                  <a:pt x="0" y="0"/>
                </a:lnTo>
                <a:lnTo>
                  <a:pt x="0" y="258622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77111" y="1773935"/>
            <a:ext cx="6824472" cy="2231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72539" y="1769364"/>
            <a:ext cx="6833870" cy="2240280"/>
          </a:xfrm>
          <a:custGeom>
            <a:avLst/>
            <a:gdLst/>
            <a:ahLst/>
            <a:cxnLst/>
            <a:rect l="l" t="t" r="r" b="b"/>
            <a:pathLst>
              <a:path w="6833870" h="2240279">
                <a:moveTo>
                  <a:pt x="0" y="2240280"/>
                </a:moveTo>
                <a:lnTo>
                  <a:pt x="6833616" y="2240280"/>
                </a:lnTo>
                <a:lnTo>
                  <a:pt x="6833616" y="0"/>
                </a:lnTo>
                <a:lnTo>
                  <a:pt x="0" y="0"/>
                </a:lnTo>
                <a:lnTo>
                  <a:pt x="0" y="22402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00371" y="4145409"/>
            <a:ext cx="3610355" cy="23848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95800" y="4030979"/>
            <a:ext cx="3619500" cy="2586355"/>
          </a:xfrm>
          <a:custGeom>
            <a:avLst/>
            <a:gdLst/>
            <a:ahLst/>
            <a:cxnLst/>
            <a:rect l="l" t="t" r="r" b="b"/>
            <a:pathLst>
              <a:path w="3619500" h="2586354">
                <a:moveTo>
                  <a:pt x="0" y="2586228"/>
                </a:moveTo>
                <a:lnTo>
                  <a:pt x="3619500" y="2586228"/>
                </a:lnTo>
                <a:lnTo>
                  <a:pt x="3619500" y="0"/>
                </a:lnTo>
                <a:lnTo>
                  <a:pt x="0" y="0"/>
                </a:lnTo>
                <a:lnTo>
                  <a:pt x="0" y="258622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990" y="1997860"/>
            <a:ext cx="2969895" cy="25857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770"/>
              </a:spcBef>
            </a:pPr>
            <a:r>
              <a:rPr sz="2800" b="1" spc="375" dirty="0">
                <a:latin typeface="黑体"/>
                <a:cs typeface="黑体"/>
              </a:rPr>
              <a:t>由</a:t>
            </a:r>
            <a:r>
              <a:rPr sz="2800" b="1" spc="365" dirty="0">
                <a:latin typeface="黑体"/>
                <a:cs typeface="黑体"/>
              </a:rPr>
              <a:t>亲水</a:t>
            </a:r>
            <a:r>
              <a:rPr sz="2800" b="1" spc="375" dirty="0">
                <a:latin typeface="黑体"/>
                <a:cs typeface="黑体"/>
              </a:rPr>
              <a:t>部</a:t>
            </a:r>
            <a:r>
              <a:rPr sz="2800" b="1" spc="385" dirty="0">
                <a:latin typeface="黑体"/>
                <a:cs typeface="黑体"/>
              </a:rPr>
              <a:t>分</a:t>
            </a:r>
            <a:r>
              <a:rPr sz="2800" b="1" spc="-10" dirty="0">
                <a:latin typeface="Times New Roman" panose="02020503050405090304"/>
                <a:cs typeface="Times New Roman" panose="02020503050405090304"/>
              </a:rPr>
              <a:t>F</a:t>
            </a:r>
            <a:r>
              <a:rPr sz="2775" b="1" spc="15" baseline="-26000" dirty="0">
                <a:latin typeface="Times New Roman" panose="02020503050405090304"/>
                <a:cs typeface="Times New Roman" panose="02020503050405090304"/>
              </a:rPr>
              <a:t>1</a:t>
            </a:r>
            <a:endParaRPr sz="2775" baseline="-26000">
              <a:latin typeface="Times New Roman" panose="02020503050405090304"/>
              <a:cs typeface="Times New Roman" panose="02020503050405090304"/>
            </a:endParaRPr>
          </a:p>
          <a:p>
            <a:pPr marL="38100" marR="30480">
              <a:lnSpc>
                <a:spcPts val="4030"/>
              </a:lnSpc>
              <a:spcBef>
                <a:spcPts val="245"/>
              </a:spcBef>
            </a:pPr>
            <a:r>
              <a:rPr sz="2800" b="1" spc="-15" dirty="0">
                <a:latin typeface="黑体"/>
                <a:cs typeface="黑体"/>
              </a:rPr>
              <a:t>（</a:t>
            </a:r>
            <a:r>
              <a:rPr sz="2800" b="1" spc="-1150" dirty="0">
                <a:latin typeface="黑体"/>
                <a:cs typeface="黑体"/>
              </a:rPr>
              <a:t> </a:t>
            </a:r>
            <a:r>
              <a:rPr sz="2800" b="1" spc="35" dirty="0">
                <a:latin typeface="Times New Roman" panose="02020503050405090304"/>
                <a:cs typeface="Times New Roman" panose="02020503050405090304"/>
              </a:rPr>
              <a:t>α</a:t>
            </a:r>
            <a:r>
              <a:rPr sz="2775" b="1" spc="52" baseline="-21000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2800" b="1" spc="35" dirty="0">
                <a:latin typeface="Times New Roman" panose="02020503050405090304"/>
                <a:cs typeface="Times New Roman" panose="02020503050405090304"/>
              </a:rPr>
              <a:t>β</a:t>
            </a:r>
            <a:r>
              <a:rPr sz="2775" b="1" spc="52" baseline="-21000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2800" b="1" spc="35" dirty="0">
                <a:latin typeface="Times New Roman" panose="02020503050405090304"/>
                <a:cs typeface="Times New Roman" panose="02020503050405090304"/>
              </a:rPr>
              <a:t>γδε</a:t>
            </a:r>
            <a:r>
              <a:rPr sz="2800" b="1" spc="245" dirty="0">
                <a:latin typeface="黑体"/>
                <a:cs typeface="黑体"/>
              </a:rPr>
              <a:t>亚</a:t>
            </a:r>
            <a:r>
              <a:rPr sz="2800" b="1" spc="-15" dirty="0">
                <a:latin typeface="黑体"/>
                <a:cs typeface="黑体"/>
              </a:rPr>
              <a:t>基</a:t>
            </a:r>
            <a:r>
              <a:rPr sz="2800" b="1" spc="434" dirty="0">
                <a:latin typeface="黑体"/>
                <a:cs typeface="黑体"/>
              </a:rPr>
              <a:t> </a:t>
            </a:r>
            <a:r>
              <a:rPr sz="2800" b="1" spc="-15" dirty="0">
                <a:latin typeface="黑体"/>
                <a:cs typeface="黑体"/>
              </a:rPr>
              <a:t>）  和 疏 水 部 分</a:t>
            </a:r>
            <a:r>
              <a:rPr sz="2800" b="1" spc="-944" dirty="0">
                <a:latin typeface="黑体"/>
                <a:cs typeface="黑体"/>
              </a:rPr>
              <a:t> </a:t>
            </a:r>
            <a:r>
              <a:rPr sz="2800" b="1" dirty="0">
                <a:latin typeface="Times New Roman" panose="02020503050405090304"/>
                <a:cs typeface="Times New Roman" panose="02020503050405090304"/>
              </a:rPr>
              <a:t>F</a:t>
            </a:r>
            <a:r>
              <a:rPr sz="2775" b="1" baseline="-26000" dirty="0">
                <a:latin typeface="Times New Roman" panose="02020503050405090304"/>
                <a:cs typeface="Times New Roman" panose="02020503050405090304"/>
              </a:rPr>
              <a:t>0</a:t>
            </a:r>
            <a:endParaRPr sz="2775" baseline="-26000">
              <a:latin typeface="Times New Roman" panose="02020503050405090304"/>
              <a:cs typeface="Times New Roman" panose="02020503050405090304"/>
            </a:endParaRPr>
          </a:p>
          <a:p>
            <a:pPr marL="38100" marR="31750">
              <a:lnSpc>
                <a:spcPts val="4030"/>
              </a:lnSpc>
              <a:spcBef>
                <a:spcPts val="5"/>
              </a:spcBef>
            </a:pPr>
            <a:r>
              <a:rPr sz="2800" b="1" spc="140" dirty="0">
                <a:latin typeface="黑体"/>
                <a:cs typeface="黑体"/>
              </a:rPr>
              <a:t>（</a:t>
            </a:r>
            <a:r>
              <a:rPr sz="28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2775" b="1" spc="15" baseline="-26000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800" b="1" dirty="0">
                <a:latin typeface="Times New Roman" panose="02020503050405090304"/>
                <a:cs typeface="Times New Roman" panose="02020503050405090304"/>
              </a:rPr>
              <a:t>b</a:t>
            </a:r>
            <a:r>
              <a:rPr sz="2775" b="1" spc="15" baseline="-260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800" b="1" spc="-10" dirty="0"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775" b="1" spc="195" baseline="-26000" dirty="0">
                <a:latin typeface="Times New Roman" panose="02020503050405090304"/>
                <a:cs typeface="Times New Roman" panose="02020503050405090304"/>
              </a:rPr>
              <a:t>9</a:t>
            </a:r>
            <a:r>
              <a:rPr sz="2775" b="1" spc="209" baseline="-26000" dirty="0">
                <a:latin typeface="黑体"/>
                <a:cs typeface="黑体"/>
              </a:rPr>
              <a:t>～</a:t>
            </a:r>
            <a:r>
              <a:rPr sz="2775" b="1" spc="15" baseline="-26000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775" b="1" spc="209" baseline="-260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800" b="1" spc="125" dirty="0">
                <a:latin typeface="黑体"/>
                <a:cs typeface="黑体"/>
              </a:rPr>
              <a:t>亚基</a:t>
            </a:r>
            <a:r>
              <a:rPr sz="2800" b="1" spc="-15" dirty="0">
                <a:latin typeface="黑体"/>
                <a:cs typeface="黑体"/>
              </a:rPr>
              <a:t>） </a:t>
            </a:r>
            <a:r>
              <a:rPr sz="2800" b="1" spc="5" dirty="0">
                <a:latin typeface="黑体"/>
                <a:cs typeface="黑体"/>
              </a:rPr>
              <a:t>组成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77917" y="6168948"/>
            <a:ext cx="3215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80" dirty="0">
                <a:solidFill>
                  <a:srgbClr val="3333FF"/>
                </a:solidFill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800" b="1" spc="5" dirty="0">
                <a:solidFill>
                  <a:srgbClr val="3333FF"/>
                </a:solidFill>
                <a:latin typeface="黑体"/>
                <a:cs typeface="黑体"/>
              </a:rPr>
              <a:t>合酶结构模式图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43227" y="600465"/>
            <a:ext cx="5657584" cy="532940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6643" y="1060297"/>
            <a:ext cx="408368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723900" algn="just">
              <a:lnSpc>
                <a:spcPct val="150000"/>
              </a:lnSpc>
              <a:spcBef>
                <a:spcPts val="100"/>
              </a:spcBef>
            </a:pPr>
            <a:r>
              <a:rPr sz="2000" spc="40" dirty="0">
                <a:solidFill>
                  <a:srgbClr val="000000"/>
                </a:solidFill>
              </a:rPr>
              <a:t>当</a:t>
            </a:r>
            <a:r>
              <a:rPr sz="2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H</a:t>
            </a:r>
            <a:r>
              <a:rPr sz="1950" spc="52" baseline="26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r>
              <a:rPr sz="2000" spc="40" dirty="0">
                <a:solidFill>
                  <a:srgbClr val="000000"/>
                </a:solidFill>
              </a:rPr>
              <a:t>顺浓</a:t>
            </a:r>
            <a:r>
              <a:rPr sz="2000" spc="30" dirty="0">
                <a:solidFill>
                  <a:srgbClr val="000000"/>
                </a:solidFill>
              </a:rPr>
              <a:t>度</a:t>
            </a:r>
            <a:r>
              <a:rPr sz="2000" spc="40" dirty="0">
                <a:solidFill>
                  <a:srgbClr val="000000"/>
                </a:solidFill>
              </a:rPr>
              <a:t>递度经</a:t>
            </a:r>
            <a:r>
              <a:rPr sz="2000" spc="-1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F</a:t>
            </a:r>
            <a:r>
              <a:rPr sz="1950" spc="67" baseline="-26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0</a:t>
            </a:r>
            <a:r>
              <a:rPr sz="2000" spc="45" dirty="0">
                <a:solidFill>
                  <a:srgbClr val="000000"/>
                </a:solidFill>
              </a:rPr>
              <a:t>中</a:t>
            </a:r>
            <a:r>
              <a:rPr sz="2000" spc="3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a</a:t>
            </a:r>
            <a:r>
              <a:rPr sz="2000" spc="40" dirty="0">
                <a:solidFill>
                  <a:srgbClr val="000000"/>
                </a:solidFill>
              </a:rPr>
              <a:t>亚基 </a:t>
            </a:r>
            <a:r>
              <a:rPr sz="2000" spc="114" dirty="0">
                <a:solidFill>
                  <a:srgbClr val="000000"/>
                </a:solidFill>
              </a:rPr>
              <a:t>和</a:t>
            </a:r>
            <a:r>
              <a:rPr sz="2000" spc="8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000" spc="100" dirty="0">
                <a:solidFill>
                  <a:srgbClr val="000000"/>
                </a:solidFill>
              </a:rPr>
              <a:t>亚基</a:t>
            </a:r>
            <a:r>
              <a:rPr sz="2000" spc="85" dirty="0">
                <a:solidFill>
                  <a:srgbClr val="000000"/>
                </a:solidFill>
              </a:rPr>
              <a:t>之间</a:t>
            </a:r>
            <a:r>
              <a:rPr sz="2000" spc="100" dirty="0">
                <a:solidFill>
                  <a:srgbClr val="000000"/>
                </a:solidFill>
              </a:rPr>
              <a:t>回流</a:t>
            </a:r>
            <a:r>
              <a:rPr sz="2000" spc="114" dirty="0">
                <a:solidFill>
                  <a:srgbClr val="000000"/>
                </a:solidFill>
              </a:rPr>
              <a:t>时</a:t>
            </a:r>
            <a:r>
              <a:rPr sz="2000" spc="100" dirty="0">
                <a:solidFill>
                  <a:srgbClr val="000000"/>
                </a:solidFill>
              </a:rPr>
              <a:t>，</a:t>
            </a:r>
            <a:r>
              <a:rPr sz="2000" spc="8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γ</a:t>
            </a:r>
            <a:r>
              <a:rPr sz="2000" spc="100" dirty="0">
                <a:solidFill>
                  <a:srgbClr val="000000"/>
                </a:solidFill>
              </a:rPr>
              <a:t>亚基发生旋 </a:t>
            </a:r>
            <a:r>
              <a:rPr sz="2000" spc="15" dirty="0">
                <a:solidFill>
                  <a:srgbClr val="000000"/>
                </a:solidFill>
              </a:rPr>
              <a:t>转</a:t>
            </a:r>
            <a:r>
              <a:rPr sz="2000" dirty="0">
                <a:solidFill>
                  <a:srgbClr val="000000"/>
                </a:solidFill>
              </a:rPr>
              <a:t>，</a:t>
            </a:r>
            <a:r>
              <a:rPr sz="2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3</a:t>
            </a:r>
            <a:r>
              <a:rPr sz="2000" spc="5" dirty="0">
                <a:solidFill>
                  <a:srgbClr val="000000"/>
                </a:solidFill>
              </a:rPr>
              <a:t>个</a:t>
            </a:r>
            <a:r>
              <a:rPr sz="200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β</a:t>
            </a:r>
            <a:r>
              <a:rPr sz="2000" spc="5" dirty="0">
                <a:solidFill>
                  <a:srgbClr val="000000"/>
                </a:solidFill>
              </a:rPr>
              <a:t>亚</a:t>
            </a:r>
            <a:r>
              <a:rPr sz="2000" spc="-5" dirty="0">
                <a:solidFill>
                  <a:srgbClr val="000000"/>
                </a:solidFill>
              </a:rPr>
              <a:t>基</a:t>
            </a:r>
            <a:r>
              <a:rPr sz="2000" spc="5" dirty="0">
                <a:solidFill>
                  <a:srgbClr val="000000"/>
                </a:solidFill>
              </a:rPr>
              <a:t>的构象</a:t>
            </a:r>
            <a:r>
              <a:rPr sz="2000" spc="-5" dirty="0">
                <a:solidFill>
                  <a:srgbClr val="000000"/>
                </a:solidFill>
              </a:rPr>
              <a:t>发</a:t>
            </a:r>
            <a:r>
              <a:rPr sz="2000" spc="5" dirty="0">
                <a:solidFill>
                  <a:srgbClr val="000000"/>
                </a:solidFill>
              </a:rPr>
              <a:t>生改</a:t>
            </a:r>
            <a:r>
              <a:rPr sz="2000" spc="-5" dirty="0">
                <a:solidFill>
                  <a:srgbClr val="000000"/>
                </a:solidFill>
              </a:rPr>
              <a:t>变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29850" y="146304"/>
            <a:ext cx="3180674" cy="307316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1065" y="3835441"/>
            <a:ext cx="8479906" cy="24274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913126" y="6339941"/>
            <a:ext cx="3215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80" dirty="0">
                <a:solidFill>
                  <a:srgbClr val="3333FF"/>
                </a:solidFill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800" b="1" spc="5" dirty="0">
                <a:solidFill>
                  <a:srgbClr val="3333FF"/>
                </a:solidFill>
                <a:latin typeface="黑体"/>
                <a:cs typeface="黑体"/>
              </a:rPr>
              <a:t>合酶的工作机制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495" y="3291840"/>
            <a:ext cx="1647825" cy="370840"/>
          </a:xfrm>
          <a:prstGeom prst="rect">
            <a:avLst/>
          </a:prstGeom>
          <a:solidFill>
            <a:srgbClr val="3333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开放态（</a:t>
            </a:r>
            <a:r>
              <a:rPr sz="1800" b="1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态）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4155" y="3291840"/>
            <a:ext cx="1622425" cy="370840"/>
          </a:xfrm>
          <a:prstGeom prst="rect">
            <a:avLst/>
          </a:prstGeom>
          <a:solidFill>
            <a:srgbClr val="3333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松散态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r>
              <a:rPr sz="18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L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态）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9419" y="3305555"/>
            <a:ext cx="1622425" cy="368935"/>
          </a:xfrm>
          <a:prstGeom prst="rect">
            <a:avLst/>
          </a:prstGeom>
          <a:solidFill>
            <a:srgbClr val="3333FF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90"/>
              </a:spcBef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紧张态（</a:t>
            </a:r>
            <a:r>
              <a:rPr sz="1800" b="1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T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态）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53043" y="6313930"/>
            <a:ext cx="790955" cy="544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643" y="2073021"/>
            <a:ext cx="847280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黑体"/>
                <a:cs typeface="黑体"/>
              </a:rPr>
              <a:t>一对电子通过呼吸链时，每消耗一摩尔氧原子时，被酯化的</a:t>
            </a:r>
            <a:endParaRPr sz="2400">
              <a:latin typeface="黑体"/>
              <a:cs typeface="黑体"/>
            </a:endParaRPr>
          </a:p>
          <a:p>
            <a:pPr marL="25400">
              <a:lnSpc>
                <a:spcPct val="100000"/>
              </a:lnSpc>
              <a:spcBef>
                <a:spcPts val="2015"/>
              </a:spcBef>
            </a:pPr>
            <a:r>
              <a:rPr sz="2400" b="1" dirty="0">
                <a:latin typeface="黑体"/>
                <a:cs typeface="黑体"/>
              </a:rPr>
              <a:t>无机磷酸（</a:t>
            </a:r>
            <a:r>
              <a:rPr sz="2400" b="1" dirty="0">
                <a:latin typeface="Times New Roman" panose="02020503050405090304"/>
                <a:cs typeface="Times New Roman" panose="02020503050405090304"/>
              </a:rPr>
              <a:t>Pi</a:t>
            </a:r>
            <a:r>
              <a:rPr sz="2400" b="1" dirty="0">
                <a:latin typeface="黑体"/>
                <a:cs typeface="黑体"/>
              </a:rPr>
              <a:t>）摩尔数（或所生成</a:t>
            </a:r>
            <a:r>
              <a:rPr sz="2400" b="1" spc="-70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400" b="1" dirty="0">
                <a:latin typeface="黑体"/>
                <a:cs typeface="黑体"/>
              </a:rPr>
              <a:t>摩尔数）</a:t>
            </a:r>
            <a:endParaRPr sz="2400">
              <a:latin typeface="黑体"/>
              <a:cs typeface="黑体"/>
            </a:endParaRPr>
          </a:p>
          <a:p>
            <a:pPr marL="634365">
              <a:lnSpc>
                <a:spcPct val="100000"/>
              </a:lnSpc>
              <a:spcBef>
                <a:spcPts val="202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400" b="1" spc="20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latin typeface="黑体"/>
                <a:cs typeface="黑体"/>
              </a:rPr>
              <a:t>呼吸链</a:t>
            </a:r>
            <a:r>
              <a:rPr sz="2400" b="1" spc="-5" dirty="0">
                <a:latin typeface="黑体"/>
                <a:cs typeface="黑体"/>
              </a:rPr>
              <a:t>的</a:t>
            </a:r>
            <a:r>
              <a:rPr sz="2400" b="1" dirty="0">
                <a:latin typeface="Times New Roman" panose="02020503050405090304"/>
                <a:cs typeface="Times New Roman" panose="02020503050405090304"/>
              </a:rPr>
              <a:t>P/O</a:t>
            </a:r>
            <a:r>
              <a:rPr sz="2400" b="1" dirty="0">
                <a:latin typeface="黑体"/>
                <a:cs typeface="黑体"/>
              </a:rPr>
              <a:t>为</a:t>
            </a:r>
            <a:r>
              <a:rPr sz="2400" b="1" spc="-2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2.5</a:t>
            </a:r>
            <a:r>
              <a:rPr sz="2400" b="1" spc="-25" dirty="0">
                <a:latin typeface="黑体"/>
                <a:cs typeface="黑体"/>
              </a:rPr>
              <a:t>，</a:t>
            </a:r>
            <a:r>
              <a:rPr sz="2400" b="1" spc="-2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FADH</a:t>
            </a:r>
            <a:r>
              <a:rPr sz="2400" b="1" spc="-37" baseline="-21000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b="1" dirty="0">
                <a:latin typeface="黑体"/>
                <a:cs typeface="黑体"/>
              </a:rPr>
              <a:t>呼吸链</a:t>
            </a:r>
            <a:r>
              <a:rPr sz="2400" b="1" spc="-5" dirty="0">
                <a:latin typeface="黑体"/>
                <a:cs typeface="黑体"/>
              </a:rPr>
              <a:t>的</a:t>
            </a:r>
            <a:r>
              <a:rPr sz="2400" b="1" dirty="0">
                <a:latin typeface="Times New Roman" panose="02020503050405090304"/>
                <a:cs typeface="Times New Roman" panose="02020503050405090304"/>
              </a:rPr>
              <a:t>P/O</a:t>
            </a:r>
            <a:r>
              <a:rPr sz="2400" b="1" dirty="0">
                <a:latin typeface="黑体"/>
                <a:cs typeface="黑体"/>
              </a:rPr>
              <a:t>为</a:t>
            </a:r>
            <a:r>
              <a:rPr sz="24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1.5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5992" y="1201293"/>
            <a:ext cx="34905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2000" algn="l"/>
              </a:tabLst>
            </a:pPr>
            <a:r>
              <a:rPr sz="3200" b="0" spc="1580" dirty="0">
                <a:solidFill>
                  <a:srgbClr val="0000FF"/>
                </a:solidFill>
                <a:latin typeface="Wingdings" panose="05000000000000000000"/>
                <a:cs typeface="Wingdings" panose="05000000000000000000"/>
              </a:rPr>
              <a:t>◼</a:t>
            </a:r>
            <a:r>
              <a:rPr sz="3200" b="0" spc="158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3200" spc="-5" dirty="0">
                <a:solidFill>
                  <a:srgbClr val="0000FF"/>
                </a:solidFill>
              </a:rPr>
              <a:t>磷</a:t>
            </a:r>
            <a:r>
              <a:rPr sz="3200" spc="-10" dirty="0">
                <a:solidFill>
                  <a:srgbClr val="0000FF"/>
                </a:solidFill>
              </a:rPr>
              <a:t>氧</a:t>
            </a:r>
            <a:r>
              <a:rPr sz="3200" dirty="0">
                <a:solidFill>
                  <a:srgbClr val="0000FF"/>
                </a:solidFill>
              </a:rPr>
              <a:t>比</a:t>
            </a:r>
            <a:r>
              <a:rPr sz="3200" spc="-10" dirty="0">
                <a:solidFill>
                  <a:srgbClr val="0000FF"/>
                </a:solidFill>
              </a:rPr>
              <a:t>（</a:t>
            </a:r>
            <a:r>
              <a:rPr sz="3200" spc="-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P/O</a:t>
            </a:r>
            <a:r>
              <a:rPr sz="3200" spc="-10" dirty="0">
                <a:solidFill>
                  <a:srgbClr val="0000FF"/>
                </a:solidFill>
              </a:rPr>
              <a:t>）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263" y="698068"/>
            <a:ext cx="785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5" dirty="0"/>
              <a:t>四、胞浆</a:t>
            </a:r>
            <a:r>
              <a:rPr sz="2800" spc="-5" dirty="0"/>
              <a:t>中</a:t>
            </a:r>
            <a:r>
              <a:rPr sz="2800" spc="-10" dirty="0"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800" dirty="0"/>
              <a:t>如何进入</a:t>
            </a:r>
            <a:r>
              <a:rPr sz="2800" spc="-10" dirty="0"/>
              <a:t>线</a:t>
            </a:r>
            <a:r>
              <a:rPr sz="2800" dirty="0"/>
              <a:t>粒</a:t>
            </a:r>
            <a:r>
              <a:rPr sz="2800" spc="-10" dirty="0"/>
              <a:t>体氧</a:t>
            </a:r>
            <a:r>
              <a:rPr sz="2800" dirty="0"/>
              <a:t>化</a:t>
            </a:r>
            <a:r>
              <a:rPr sz="2800" spc="-10" dirty="0"/>
              <a:t>呼</a:t>
            </a:r>
            <a:r>
              <a:rPr sz="2800" dirty="0"/>
              <a:t>吸</a:t>
            </a:r>
            <a:r>
              <a:rPr sz="2800" spc="-10" dirty="0"/>
              <a:t>链的</a:t>
            </a:r>
            <a:r>
              <a:rPr sz="2800" spc="-15" dirty="0"/>
              <a:t>？</a:t>
            </a:r>
            <a:endParaRPr sz="28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7419" y="1657604"/>
            <a:ext cx="7353934" cy="423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4800">
              <a:lnSpc>
                <a:spcPct val="150000"/>
              </a:lnSpc>
              <a:spcBef>
                <a:spcPts val="100"/>
              </a:spcBef>
            </a:pPr>
            <a:r>
              <a:rPr sz="2400" b="1" dirty="0">
                <a:latin typeface="黑体"/>
                <a:cs typeface="黑体"/>
              </a:rPr>
              <a:t>胞浆中</a:t>
            </a:r>
            <a:r>
              <a:rPr sz="2400" b="1" spc="-10" dirty="0">
                <a:latin typeface="Times New Roman" panose="02020503050405090304"/>
                <a:cs typeface="Times New Roman" panose="02020503050405090304"/>
              </a:rPr>
              <a:t>NAD</a:t>
            </a:r>
            <a:r>
              <a:rPr sz="2400" b="1" dirty="0">
                <a:latin typeface="Times New Roman" panose="02020503050405090304"/>
                <a:cs typeface="Times New Roman" panose="02020503050405090304"/>
              </a:rPr>
              <a:t>H</a:t>
            </a:r>
            <a:r>
              <a:rPr sz="2400" b="1" dirty="0">
                <a:latin typeface="黑体"/>
                <a:cs typeface="黑体"/>
              </a:rPr>
              <a:t>必须经一定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转运机</a:t>
            </a:r>
            <a:r>
              <a:rPr sz="2400" b="1" spc="-5" dirty="0">
                <a:solidFill>
                  <a:srgbClr val="0000FF"/>
                </a:solidFill>
                <a:latin typeface="黑体"/>
                <a:cs typeface="黑体"/>
              </a:rPr>
              <a:t>制</a:t>
            </a:r>
            <a:r>
              <a:rPr sz="2400" b="1" dirty="0">
                <a:latin typeface="黑体"/>
                <a:cs typeface="黑体"/>
              </a:rPr>
              <a:t>进入线粒体，再经 呼吸链进行氧化磷酸化。</a:t>
            </a:r>
            <a:endParaRPr sz="2400">
              <a:latin typeface="黑体"/>
              <a:cs typeface="黑体"/>
            </a:endParaRPr>
          </a:p>
          <a:p>
            <a:pPr marL="629920" indent="-342900">
              <a:lnSpc>
                <a:spcPct val="100000"/>
              </a:lnSpc>
              <a:spcBef>
                <a:spcPts val="2015"/>
              </a:spcBef>
              <a:buSzPct val="90000"/>
              <a:buFont typeface="Wingdings" panose="05000000000000000000"/>
              <a:buChar char=""/>
              <a:tabLst>
                <a:tab pos="629920" algn="l"/>
              </a:tabLst>
            </a:pPr>
            <a:r>
              <a:rPr sz="2400" b="1" dirty="0">
                <a:latin typeface="黑体"/>
                <a:cs typeface="黑体"/>
              </a:rPr>
              <a:t>转运机制主要有</a:t>
            </a:r>
            <a:endParaRPr sz="2400">
              <a:latin typeface="黑体"/>
              <a:cs typeface="黑体"/>
            </a:endParaRPr>
          </a:p>
          <a:p>
            <a:pPr marL="1108075">
              <a:lnSpc>
                <a:spcPct val="100000"/>
              </a:lnSpc>
              <a:spcBef>
                <a:spcPts val="2015"/>
              </a:spcBef>
            </a:pPr>
            <a:r>
              <a:rPr sz="2400" b="1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α-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磷酸甘油穿梭</a:t>
            </a:r>
            <a:endParaRPr sz="2400">
              <a:latin typeface="黑体"/>
              <a:cs typeface="黑体"/>
            </a:endParaRPr>
          </a:p>
          <a:p>
            <a:pPr marL="1924050">
              <a:lnSpc>
                <a:spcPct val="100000"/>
              </a:lnSpc>
              <a:spcBef>
                <a:spcPts val="2020"/>
              </a:spcBef>
              <a:tabLst>
                <a:tab pos="4728845" algn="l"/>
              </a:tabLst>
            </a:pPr>
            <a:r>
              <a:rPr sz="2400" b="1" spc="-5" dirty="0">
                <a:latin typeface="Times New Roman" panose="02020503050405090304"/>
                <a:cs typeface="Times New Roman" panose="02020503050405090304"/>
              </a:rPr>
              <a:t>(α-glycerophosphate	</a:t>
            </a:r>
            <a:r>
              <a:rPr sz="2400" b="1" dirty="0">
                <a:latin typeface="Times New Roman" panose="02020503050405090304"/>
                <a:cs typeface="Times New Roman" panose="02020503050405090304"/>
              </a:rPr>
              <a:t>shuttle)</a:t>
            </a:r>
            <a:endParaRPr sz="2400">
              <a:latin typeface="Times New Roman" panose="02020503050405090304"/>
              <a:cs typeface="Times New Roman" panose="02020503050405090304"/>
            </a:endParaRPr>
          </a:p>
          <a:p>
            <a:pPr marL="1108075">
              <a:lnSpc>
                <a:spcPct val="100000"/>
              </a:lnSpc>
              <a:spcBef>
                <a:spcPts val="2015"/>
              </a:spcBef>
            </a:pP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苹果酸</a:t>
            </a:r>
            <a:r>
              <a:rPr sz="2400" b="1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天冬氨酸穿梭</a:t>
            </a:r>
            <a:endParaRPr sz="2400">
              <a:latin typeface="黑体"/>
              <a:cs typeface="黑体"/>
            </a:endParaRPr>
          </a:p>
          <a:p>
            <a:pPr marL="1924050">
              <a:lnSpc>
                <a:spcPct val="100000"/>
              </a:lnSpc>
              <a:spcBef>
                <a:spcPts val="2020"/>
              </a:spcBef>
              <a:tabLst>
                <a:tab pos="4277360" algn="l"/>
              </a:tabLst>
            </a:pPr>
            <a:r>
              <a:rPr sz="2400" b="1" dirty="0">
                <a:latin typeface="Times New Roman" panose="02020503050405090304"/>
                <a:cs typeface="Times New Roman" panose="02020503050405090304"/>
              </a:rPr>
              <a:t>(malate-asparate	</a:t>
            </a:r>
            <a:r>
              <a:rPr sz="2400" b="1" spc="-5" dirty="0">
                <a:latin typeface="Times New Roman" panose="02020503050405090304"/>
                <a:cs typeface="Times New Roman" panose="02020503050405090304"/>
              </a:rPr>
              <a:t>shuttle)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166" y="1076401"/>
            <a:ext cx="32454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 panose="02020503050405090304"/>
                <a:cs typeface="Times New Roman" panose="02020503050405090304"/>
              </a:rPr>
              <a:t>1.</a:t>
            </a:r>
            <a:r>
              <a:rPr sz="32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dirty="0">
                <a:latin typeface="Times New Roman" panose="02020503050405090304"/>
                <a:cs typeface="Times New Roman" panose="02020503050405090304"/>
              </a:rPr>
              <a:t>α-</a:t>
            </a:r>
            <a:r>
              <a:rPr sz="3200" spc="5" dirty="0"/>
              <a:t>磷</a:t>
            </a:r>
            <a:r>
              <a:rPr sz="3200" spc="-10" dirty="0"/>
              <a:t>酸</a:t>
            </a:r>
            <a:r>
              <a:rPr sz="3200" spc="5" dirty="0"/>
              <a:t>甘</a:t>
            </a:r>
            <a:r>
              <a:rPr sz="3200" spc="-10" dirty="0"/>
              <a:t>油</a:t>
            </a:r>
            <a:r>
              <a:rPr sz="3200" spc="5" dirty="0"/>
              <a:t>穿</a:t>
            </a:r>
            <a:r>
              <a:rPr sz="3200" spc="-10" dirty="0"/>
              <a:t>梭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3744" y="2345182"/>
            <a:ext cx="7514590" cy="1726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0000FF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050" spc="3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latin typeface="黑体"/>
                <a:cs typeface="黑体"/>
              </a:rPr>
              <a:t>主要存在于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脑</a:t>
            </a:r>
            <a:r>
              <a:rPr sz="2400" b="1" dirty="0">
                <a:latin typeface="黑体"/>
                <a:cs typeface="黑体"/>
              </a:rPr>
              <a:t>和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骨骼</a:t>
            </a:r>
            <a:r>
              <a:rPr sz="2400" b="1" spc="5" dirty="0">
                <a:solidFill>
                  <a:srgbClr val="0000FF"/>
                </a:solidFill>
                <a:latin typeface="黑体"/>
                <a:cs typeface="黑体"/>
              </a:rPr>
              <a:t>肌</a:t>
            </a:r>
            <a:r>
              <a:rPr sz="2400" b="1" spc="-10" dirty="0">
                <a:latin typeface="黑体"/>
                <a:cs typeface="黑体"/>
              </a:rPr>
              <a:t>中</a:t>
            </a:r>
            <a:endParaRPr sz="2400">
              <a:latin typeface="黑体"/>
              <a:cs typeface="黑体"/>
            </a:endParaRPr>
          </a:p>
          <a:p>
            <a:pPr marL="337185" marR="43180" indent="-287020">
              <a:lnSpc>
                <a:spcPct val="150000"/>
              </a:lnSpc>
              <a:spcBef>
                <a:spcPts val="1875"/>
              </a:spcBef>
            </a:pPr>
            <a:r>
              <a:rPr sz="2050" spc="-10" dirty="0">
                <a:solidFill>
                  <a:srgbClr val="0000FF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050" spc="26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latin typeface="黑体"/>
                <a:cs typeface="黑体"/>
              </a:rPr>
              <a:t>糖酵解途径中产生</a:t>
            </a:r>
            <a:r>
              <a:rPr sz="2400" b="1" spc="5" dirty="0">
                <a:latin typeface="黑体"/>
                <a:cs typeface="黑体"/>
              </a:rPr>
              <a:t>的</a:t>
            </a:r>
            <a:r>
              <a:rPr sz="2400" b="1" spc="-5" dirty="0"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400" b="1" spc="-5" dirty="0">
                <a:latin typeface="黑体"/>
                <a:cs typeface="黑体"/>
              </a:rPr>
              <a:t>进</a:t>
            </a:r>
            <a:r>
              <a:rPr sz="2400" b="1" spc="10" dirty="0">
                <a:latin typeface="黑体"/>
                <a:cs typeface="黑体"/>
              </a:rPr>
              <a:t>入</a:t>
            </a:r>
            <a:r>
              <a:rPr sz="2400" b="1" spc="-5" dirty="0">
                <a:latin typeface="黑体"/>
                <a:cs typeface="黑体"/>
              </a:rPr>
              <a:t>线粒体生</a:t>
            </a:r>
            <a:r>
              <a:rPr sz="2400" b="1" spc="15" dirty="0">
                <a:latin typeface="黑体"/>
                <a:cs typeface="黑体"/>
              </a:rPr>
              <a:t>成</a:t>
            </a:r>
            <a:r>
              <a:rPr sz="2400" b="1" spc="-3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FADH</a:t>
            </a:r>
            <a:r>
              <a:rPr sz="2400" b="1" spc="-52" baseline="-21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400" b="1" spc="-35" dirty="0">
                <a:latin typeface="黑体"/>
                <a:cs typeface="黑体"/>
              </a:rPr>
              <a:t>，  </a:t>
            </a:r>
            <a:r>
              <a:rPr sz="2400" b="1" dirty="0">
                <a:latin typeface="黑体"/>
                <a:cs typeface="黑体"/>
              </a:rPr>
              <a:t>进入琥珀酸氧化呼吸链，生</a:t>
            </a:r>
            <a:r>
              <a:rPr sz="2400" b="1" spc="5" dirty="0">
                <a:latin typeface="黑体"/>
                <a:cs typeface="黑体"/>
              </a:rPr>
              <a:t>成</a:t>
            </a:r>
            <a:r>
              <a:rPr sz="2400" b="1" spc="-3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1.5ATP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45552" y="548640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54917" y="4726"/>
                </a:lnTo>
                <a:lnTo>
                  <a:pt x="26336" y="17621"/>
                </a:lnTo>
                <a:lnTo>
                  <a:pt x="7066" y="36754"/>
                </a:lnTo>
                <a:lnTo>
                  <a:pt x="0" y="60198"/>
                </a:lnTo>
                <a:lnTo>
                  <a:pt x="7066" y="83641"/>
                </a:lnTo>
                <a:lnTo>
                  <a:pt x="26336" y="102774"/>
                </a:lnTo>
                <a:lnTo>
                  <a:pt x="54917" y="115669"/>
                </a:lnTo>
                <a:lnTo>
                  <a:pt x="89916" y="120396"/>
                </a:lnTo>
                <a:lnTo>
                  <a:pt x="124914" y="115669"/>
                </a:lnTo>
                <a:lnTo>
                  <a:pt x="153495" y="102774"/>
                </a:lnTo>
                <a:lnTo>
                  <a:pt x="172765" y="83641"/>
                </a:lnTo>
                <a:lnTo>
                  <a:pt x="179831" y="60198"/>
                </a:lnTo>
                <a:lnTo>
                  <a:pt x="172765" y="36754"/>
                </a:lnTo>
                <a:lnTo>
                  <a:pt x="153495" y="17621"/>
                </a:lnTo>
                <a:lnTo>
                  <a:pt x="124914" y="4726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845552" y="548640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124914" y="4726"/>
                </a:lnTo>
                <a:lnTo>
                  <a:pt x="153495" y="17621"/>
                </a:lnTo>
                <a:lnTo>
                  <a:pt x="172765" y="36754"/>
                </a:lnTo>
                <a:lnTo>
                  <a:pt x="179831" y="60198"/>
                </a:lnTo>
                <a:lnTo>
                  <a:pt x="172765" y="83641"/>
                </a:lnTo>
                <a:lnTo>
                  <a:pt x="153495" y="102774"/>
                </a:lnTo>
                <a:lnTo>
                  <a:pt x="124914" y="115669"/>
                </a:lnTo>
                <a:lnTo>
                  <a:pt x="89916" y="120396"/>
                </a:lnTo>
                <a:lnTo>
                  <a:pt x="54917" y="115669"/>
                </a:lnTo>
                <a:lnTo>
                  <a:pt x="26336" y="102774"/>
                </a:lnTo>
                <a:lnTo>
                  <a:pt x="7066" y="83641"/>
                </a:lnTo>
                <a:lnTo>
                  <a:pt x="0" y="60198"/>
                </a:lnTo>
                <a:lnTo>
                  <a:pt x="7066" y="36754"/>
                </a:lnTo>
                <a:lnTo>
                  <a:pt x="26336" y="17621"/>
                </a:lnTo>
                <a:lnTo>
                  <a:pt x="54917" y="4726"/>
                </a:lnTo>
                <a:lnTo>
                  <a:pt x="89916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45552" y="66903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45552" y="66903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45552" y="78943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5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5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845552" y="78943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5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5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45552" y="909827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45552" y="909827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45552" y="102870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45552" y="102870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845552" y="114909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45552" y="114909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45552" y="1272539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845552" y="1272539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845552" y="1391411"/>
            <a:ext cx="180340" cy="116205"/>
          </a:xfrm>
          <a:custGeom>
            <a:avLst/>
            <a:gdLst/>
            <a:ahLst/>
            <a:cxnLst/>
            <a:rect l="l" t="t" r="r" b="b"/>
            <a:pathLst>
              <a:path w="180340" h="116205">
                <a:moveTo>
                  <a:pt x="89916" y="0"/>
                </a:moveTo>
                <a:lnTo>
                  <a:pt x="54917" y="4548"/>
                </a:lnTo>
                <a:lnTo>
                  <a:pt x="26336" y="16954"/>
                </a:lnTo>
                <a:lnTo>
                  <a:pt x="7066" y="35361"/>
                </a:lnTo>
                <a:lnTo>
                  <a:pt x="0" y="57912"/>
                </a:lnTo>
                <a:lnTo>
                  <a:pt x="7066" y="80462"/>
                </a:lnTo>
                <a:lnTo>
                  <a:pt x="26336" y="98869"/>
                </a:lnTo>
                <a:lnTo>
                  <a:pt x="54917" y="111275"/>
                </a:lnTo>
                <a:lnTo>
                  <a:pt x="89916" y="115824"/>
                </a:lnTo>
                <a:lnTo>
                  <a:pt x="124914" y="111275"/>
                </a:lnTo>
                <a:lnTo>
                  <a:pt x="153495" y="98869"/>
                </a:lnTo>
                <a:lnTo>
                  <a:pt x="172765" y="80462"/>
                </a:lnTo>
                <a:lnTo>
                  <a:pt x="179831" y="57912"/>
                </a:lnTo>
                <a:lnTo>
                  <a:pt x="172765" y="35361"/>
                </a:lnTo>
                <a:lnTo>
                  <a:pt x="153495" y="16954"/>
                </a:lnTo>
                <a:lnTo>
                  <a:pt x="124914" y="4548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845552" y="1391411"/>
            <a:ext cx="180340" cy="116205"/>
          </a:xfrm>
          <a:custGeom>
            <a:avLst/>
            <a:gdLst/>
            <a:ahLst/>
            <a:cxnLst/>
            <a:rect l="l" t="t" r="r" b="b"/>
            <a:pathLst>
              <a:path w="180340" h="116205">
                <a:moveTo>
                  <a:pt x="89916" y="0"/>
                </a:moveTo>
                <a:lnTo>
                  <a:pt x="124914" y="4548"/>
                </a:lnTo>
                <a:lnTo>
                  <a:pt x="153495" y="16954"/>
                </a:lnTo>
                <a:lnTo>
                  <a:pt x="172765" y="35361"/>
                </a:lnTo>
                <a:lnTo>
                  <a:pt x="179831" y="57912"/>
                </a:lnTo>
                <a:lnTo>
                  <a:pt x="172765" y="80462"/>
                </a:lnTo>
                <a:lnTo>
                  <a:pt x="153495" y="98869"/>
                </a:lnTo>
                <a:lnTo>
                  <a:pt x="124914" y="111275"/>
                </a:lnTo>
                <a:lnTo>
                  <a:pt x="89916" y="115824"/>
                </a:lnTo>
                <a:lnTo>
                  <a:pt x="54917" y="111275"/>
                </a:lnTo>
                <a:lnTo>
                  <a:pt x="26336" y="98869"/>
                </a:lnTo>
                <a:lnTo>
                  <a:pt x="7066" y="80462"/>
                </a:lnTo>
                <a:lnTo>
                  <a:pt x="0" y="57912"/>
                </a:lnTo>
                <a:lnTo>
                  <a:pt x="7066" y="35361"/>
                </a:lnTo>
                <a:lnTo>
                  <a:pt x="26336" y="16954"/>
                </a:lnTo>
                <a:lnTo>
                  <a:pt x="54917" y="4548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45552" y="150876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45552" y="150876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845552" y="1629155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845552" y="1629155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845552" y="1748027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45552" y="1748027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845552" y="1868423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845552" y="1868423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845552" y="1990344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5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5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845552" y="1990344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5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5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845552" y="210921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845552" y="210921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45552" y="222961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45552" y="222961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45552" y="2350007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845552" y="2350007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845552" y="246887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54917" y="4726"/>
                </a:lnTo>
                <a:lnTo>
                  <a:pt x="26336" y="17621"/>
                </a:lnTo>
                <a:lnTo>
                  <a:pt x="7066" y="36754"/>
                </a:lnTo>
                <a:lnTo>
                  <a:pt x="0" y="60198"/>
                </a:lnTo>
                <a:lnTo>
                  <a:pt x="7066" y="83641"/>
                </a:lnTo>
                <a:lnTo>
                  <a:pt x="26336" y="102774"/>
                </a:lnTo>
                <a:lnTo>
                  <a:pt x="54917" y="115669"/>
                </a:lnTo>
                <a:lnTo>
                  <a:pt x="89916" y="120396"/>
                </a:lnTo>
                <a:lnTo>
                  <a:pt x="124914" y="115669"/>
                </a:lnTo>
                <a:lnTo>
                  <a:pt x="153495" y="102774"/>
                </a:lnTo>
                <a:lnTo>
                  <a:pt x="172765" y="83641"/>
                </a:lnTo>
                <a:lnTo>
                  <a:pt x="179831" y="60198"/>
                </a:lnTo>
                <a:lnTo>
                  <a:pt x="172765" y="36754"/>
                </a:lnTo>
                <a:lnTo>
                  <a:pt x="153495" y="17621"/>
                </a:lnTo>
                <a:lnTo>
                  <a:pt x="124914" y="4726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845552" y="246887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124914" y="4726"/>
                </a:lnTo>
                <a:lnTo>
                  <a:pt x="153495" y="17621"/>
                </a:lnTo>
                <a:lnTo>
                  <a:pt x="172765" y="36754"/>
                </a:lnTo>
                <a:lnTo>
                  <a:pt x="179831" y="60198"/>
                </a:lnTo>
                <a:lnTo>
                  <a:pt x="172765" y="83641"/>
                </a:lnTo>
                <a:lnTo>
                  <a:pt x="153495" y="102774"/>
                </a:lnTo>
                <a:lnTo>
                  <a:pt x="124914" y="115669"/>
                </a:lnTo>
                <a:lnTo>
                  <a:pt x="89916" y="120396"/>
                </a:lnTo>
                <a:lnTo>
                  <a:pt x="54917" y="115669"/>
                </a:lnTo>
                <a:lnTo>
                  <a:pt x="26336" y="102774"/>
                </a:lnTo>
                <a:lnTo>
                  <a:pt x="7066" y="83641"/>
                </a:lnTo>
                <a:lnTo>
                  <a:pt x="0" y="60198"/>
                </a:lnTo>
                <a:lnTo>
                  <a:pt x="7066" y="36754"/>
                </a:lnTo>
                <a:lnTo>
                  <a:pt x="26336" y="17621"/>
                </a:lnTo>
                <a:lnTo>
                  <a:pt x="54917" y="4726"/>
                </a:lnTo>
                <a:lnTo>
                  <a:pt x="89916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45552" y="2593848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54917" y="4726"/>
                </a:lnTo>
                <a:lnTo>
                  <a:pt x="26336" y="17621"/>
                </a:lnTo>
                <a:lnTo>
                  <a:pt x="7066" y="36754"/>
                </a:lnTo>
                <a:lnTo>
                  <a:pt x="0" y="60198"/>
                </a:lnTo>
                <a:lnTo>
                  <a:pt x="7066" y="83641"/>
                </a:lnTo>
                <a:lnTo>
                  <a:pt x="26336" y="102774"/>
                </a:lnTo>
                <a:lnTo>
                  <a:pt x="54917" y="115669"/>
                </a:lnTo>
                <a:lnTo>
                  <a:pt x="89916" y="120396"/>
                </a:lnTo>
                <a:lnTo>
                  <a:pt x="124914" y="115669"/>
                </a:lnTo>
                <a:lnTo>
                  <a:pt x="153495" y="102774"/>
                </a:lnTo>
                <a:lnTo>
                  <a:pt x="172765" y="83641"/>
                </a:lnTo>
                <a:lnTo>
                  <a:pt x="179831" y="60198"/>
                </a:lnTo>
                <a:lnTo>
                  <a:pt x="172765" y="36754"/>
                </a:lnTo>
                <a:lnTo>
                  <a:pt x="153495" y="17621"/>
                </a:lnTo>
                <a:lnTo>
                  <a:pt x="124914" y="4726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845552" y="2593848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124914" y="4726"/>
                </a:lnTo>
                <a:lnTo>
                  <a:pt x="153495" y="17621"/>
                </a:lnTo>
                <a:lnTo>
                  <a:pt x="172765" y="36754"/>
                </a:lnTo>
                <a:lnTo>
                  <a:pt x="179831" y="60198"/>
                </a:lnTo>
                <a:lnTo>
                  <a:pt x="172765" y="83641"/>
                </a:lnTo>
                <a:lnTo>
                  <a:pt x="153495" y="102774"/>
                </a:lnTo>
                <a:lnTo>
                  <a:pt x="124914" y="115669"/>
                </a:lnTo>
                <a:lnTo>
                  <a:pt x="89916" y="120396"/>
                </a:lnTo>
                <a:lnTo>
                  <a:pt x="54917" y="115669"/>
                </a:lnTo>
                <a:lnTo>
                  <a:pt x="26336" y="102774"/>
                </a:lnTo>
                <a:lnTo>
                  <a:pt x="7066" y="83641"/>
                </a:lnTo>
                <a:lnTo>
                  <a:pt x="0" y="60198"/>
                </a:lnTo>
                <a:lnTo>
                  <a:pt x="7066" y="36754"/>
                </a:lnTo>
                <a:lnTo>
                  <a:pt x="26336" y="17621"/>
                </a:lnTo>
                <a:lnTo>
                  <a:pt x="54917" y="4726"/>
                </a:lnTo>
                <a:lnTo>
                  <a:pt x="89916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845552" y="2711195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845552" y="2711195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845552" y="2825495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845552" y="2825495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845552" y="2950464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845552" y="2950464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845552" y="307086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845552" y="307086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80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845552" y="3189732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5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5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845552" y="3189732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5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5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845552" y="331012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845552" y="331012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845552" y="3430523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845552" y="3430523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845552" y="354939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5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5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845552" y="354939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5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5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845552" y="366979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5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5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845552" y="366979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5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5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845552" y="379018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845552" y="379018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845552" y="3909059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5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5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845552" y="3909059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5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5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845552" y="4034028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54917" y="4726"/>
                </a:lnTo>
                <a:lnTo>
                  <a:pt x="26336" y="17621"/>
                </a:lnTo>
                <a:lnTo>
                  <a:pt x="7066" y="36754"/>
                </a:lnTo>
                <a:lnTo>
                  <a:pt x="0" y="60198"/>
                </a:lnTo>
                <a:lnTo>
                  <a:pt x="7066" y="83641"/>
                </a:lnTo>
                <a:lnTo>
                  <a:pt x="26336" y="102774"/>
                </a:lnTo>
                <a:lnTo>
                  <a:pt x="54917" y="115669"/>
                </a:lnTo>
                <a:lnTo>
                  <a:pt x="89916" y="120396"/>
                </a:lnTo>
                <a:lnTo>
                  <a:pt x="124914" y="115669"/>
                </a:lnTo>
                <a:lnTo>
                  <a:pt x="153495" y="102774"/>
                </a:lnTo>
                <a:lnTo>
                  <a:pt x="172765" y="83641"/>
                </a:lnTo>
                <a:lnTo>
                  <a:pt x="179831" y="60198"/>
                </a:lnTo>
                <a:lnTo>
                  <a:pt x="172765" y="36754"/>
                </a:lnTo>
                <a:lnTo>
                  <a:pt x="153495" y="17621"/>
                </a:lnTo>
                <a:lnTo>
                  <a:pt x="124914" y="4726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845552" y="4034028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124914" y="4726"/>
                </a:lnTo>
                <a:lnTo>
                  <a:pt x="153495" y="17621"/>
                </a:lnTo>
                <a:lnTo>
                  <a:pt x="172765" y="36754"/>
                </a:lnTo>
                <a:lnTo>
                  <a:pt x="179831" y="60198"/>
                </a:lnTo>
                <a:lnTo>
                  <a:pt x="172765" y="83641"/>
                </a:lnTo>
                <a:lnTo>
                  <a:pt x="153495" y="102774"/>
                </a:lnTo>
                <a:lnTo>
                  <a:pt x="124914" y="115669"/>
                </a:lnTo>
                <a:lnTo>
                  <a:pt x="89916" y="120396"/>
                </a:lnTo>
                <a:lnTo>
                  <a:pt x="54917" y="115669"/>
                </a:lnTo>
                <a:lnTo>
                  <a:pt x="26336" y="102774"/>
                </a:lnTo>
                <a:lnTo>
                  <a:pt x="7066" y="83641"/>
                </a:lnTo>
                <a:lnTo>
                  <a:pt x="0" y="60198"/>
                </a:lnTo>
                <a:lnTo>
                  <a:pt x="7066" y="36754"/>
                </a:lnTo>
                <a:lnTo>
                  <a:pt x="26336" y="17621"/>
                </a:lnTo>
                <a:lnTo>
                  <a:pt x="54917" y="4726"/>
                </a:lnTo>
                <a:lnTo>
                  <a:pt x="89916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845552" y="414527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54917" y="4726"/>
                </a:lnTo>
                <a:lnTo>
                  <a:pt x="26336" y="17621"/>
                </a:lnTo>
                <a:lnTo>
                  <a:pt x="7066" y="36754"/>
                </a:lnTo>
                <a:lnTo>
                  <a:pt x="0" y="60198"/>
                </a:lnTo>
                <a:lnTo>
                  <a:pt x="7066" y="83641"/>
                </a:lnTo>
                <a:lnTo>
                  <a:pt x="26336" y="102774"/>
                </a:lnTo>
                <a:lnTo>
                  <a:pt x="54917" y="115669"/>
                </a:lnTo>
                <a:lnTo>
                  <a:pt x="89916" y="120396"/>
                </a:lnTo>
                <a:lnTo>
                  <a:pt x="124914" y="115669"/>
                </a:lnTo>
                <a:lnTo>
                  <a:pt x="153495" y="102774"/>
                </a:lnTo>
                <a:lnTo>
                  <a:pt x="172765" y="83641"/>
                </a:lnTo>
                <a:lnTo>
                  <a:pt x="179831" y="60198"/>
                </a:lnTo>
                <a:lnTo>
                  <a:pt x="172765" y="36754"/>
                </a:lnTo>
                <a:lnTo>
                  <a:pt x="153495" y="17621"/>
                </a:lnTo>
                <a:lnTo>
                  <a:pt x="124914" y="4726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845552" y="414527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124914" y="4726"/>
                </a:lnTo>
                <a:lnTo>
                  <a:pt x="153495" y="17621"/>
                </a:lnTo>
                <a:lnTo>
                  <a:pt x="172765" y="36754"/>
                </a:lnTo>
                <a:lnTo>
                  <a:pt x="179831" y="60198"/>
                </a:lnTo>
                <a:lnTo>
                  <a:pt x="172765" y="83641"/>
                </a:lnTo>
                <a:lnTo>
                  <a:pt x="153495" y="102774"/>
                </a:lnTo>
                <a:lnTo>
                  <a:pt x="124914" y="115669"/>
                </a:lnTo>
                <a:lnTo>
                  <a:pt x="89916" y="120396"/>
                </a:lnTo>
                <a:lnTo>
                  <a:pt x="54917" y="115669"/>
                </a:lnTo>
                <a:lnTo>
                  <a:pt x="26336" y="102774"/>
                </a:lnTo>
                <a:lnTo>
                  <a:pt x="7066" y="83641"/>
                </a:lnTo>
                <a:lnTo>
                  <a:pt x="0" y="60198"/>
                </a:lnTo>
                <a:lnTo>
                  <a:pt x="7066" y="36754"/>
                </a:lnTo>
                <a:lnTo>
                  <a:pt x="26336" y="17621"/>
                </a:lnTo>
                <a:lnTo>
                  <a:pt x="54917" y="4726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845552" y="426567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845552" y="426567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845552" y="4390644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5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5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845552" y="4390644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5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5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845552" y="451104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845552" y="451104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845552" y="462991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845552" y="462991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845552" y="475030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845552" y="475030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845552" y="487222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845552" y="487222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845552" y="499110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845552" y="499110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845552" y="511149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5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1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5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845552" y="5111496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5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1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5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845552" y="523494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6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6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845552" y="523494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6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6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845552" y="5353811"/>
            <a:ext cx="180340" cy="116205"/>
          </a:xfrm>
          <a:custGeom>
            <a:avLst/>
            <a:gdLst/>
            <a:ahLst/>
            <a:cxnLst/>
            <a:rect l="l" t="t" r="r" b="b"/>
            <a:pathLst>
              <a:path w="180340" h="116204">
                <a:moveTo>
                  <a:pt x="89916" y="0"/>
                </a:moveTo>
                <a:lnTo>
                  <a:pt x="54917" y="4548"/>
                </a:lnTo>
                <a:lnTo>
                  <a:pt x="26336" y="16954"/>
                </a:lnTo>
                <a:lnTo>
                  <a:pt x="7066" y="35361"/>
                </a:lnTo>
                <a:lnTo>
                  <a:pt x="0" y="57912"/>
                </a:lnTo>
                <a:lnTo>
                  <a:pt x="7066" y="80462"/>
                </a:lnTo>
                <a:lnTo>
                  <a:pt x="26336" y="98869"/>
                </a:lnTo>
                <a:lnTo>
                  <a:pt x="54917" y="111275"/>
                </a:lnTo>
                <a:lnTo>
                  <a:pt x="89916" y="115824"/>
                </a:lnTo>
                <a:lnTo>
                  <a:pt x="124914" y="111275"/>
                </a:lnTo>
                <a:lnTo>
                  <a:pt x="153495" y="98869"/>
                </a:lnTo>
                <a:lnTo>
                  <a:pt x="172765" y="80462"/>
                </a:lnTo>
                <a:lnTo>
                  <a:pt x="179831" y="57912"/>
                </a:lnTo>
                <a:lnTo>
                  <a:pt x="172765" y="35361"/>
                </a:lnTo>
                <a:lnTo>
                  <a:pt x="153495" y="16954"/>
                </a:lnTo>
                <a:lnTo>
                  <a:pt x="124914" y="4548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845552" y="5353811"/>
            <a:ext cx="180340" cy="116205"/>
          </a:xfrm>
          <a:custGeom>
            <a:avLst/>
            <a:gdLst/>
            <a:ahLst/>
            <a:cxnLst/>
            <a:rect l="l" t="t" r="r" b="b"/>
            <a:pathLst>
              <a:path w="180340" h="116204">
                <a:moveTo>
                  <a:pt x="89916" y="0"/>
                </a:moveTo>
                <a:lnTo>
                  <a:pt x="124914" y="4548"/>
                </a:lnTo>
                <a:lnTo>
                  <a:pt x="153495" y="16954"/>
                </a:lnTo>
                <a:lnTo>
                  <a:pt x="172765" y="35361"/>
                </a:lnTo>
                <a:lnTo>
                  <a:pt x="179831" y="57912"/>
                </a:lnTo>
                <a:lnTo>
                  <a:pt x="172765" y="80462"/>
                </a:lnTo>
                <a:lnTo>
                  <a:pt x="153495" y="98869"/>
                </a:lnTo>
                <a:lnTo>
                  <a:pt x="124914" y="111275"/>
                </a:lnTo>
                <a:lnTo>
                  <a:pt x="89916" y="115824"/>
                </a:lnTo>
                <a:lnTo>
                  <a:pt x="54917" y="111275"/>
                </a:lnTo>
                <a:lnTo>
                  <a:pt x="26336" y="98869"/>
                </a:lnTo>
                <a:lnTo>
                  <a:pt x="7066" y="80462"/>
                </a:lnTo>
                <a:lnTo>
                  <a:pt x="0" y="57912"/>
                </a:lnTo>
                <a:lnTo>
                  <a:pt x="7066" y="35361"/>
                </a:lnTo>
                <a:lnTo>
                  <a:pt x="26336" y="16954"/>
                </a:lnTo>
                <a:lnTo>
                  <a:pt x="54917" y="4548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845552" y="546811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9"/>
                </a:lnTo>
                <a:lnTo>
                  <a:pt x="26336" y="17430"/>
                </a:lnTo>
                <a:lnTo>
                  <a:pt x="7066" y="36325"/>
                </a:lnTo>
                <a:lnTo>
                  <a:pt x="0" y="59435"/>
                </a:lnTo>
                <a:lnTo>
                  <a:pt x="7066" y="82546"/>
                </a:lnTo>
                <a:lnTo>
                  <a:pt x="26336" y="101441"/>
                </a:lnTo>
                <a:lnTo>
                  <a:pt x="54917" y="114192"/>
                </a:lnTo>
                <a:lnTo>
                  <a:pt x="89916" y="118872"/>
                </a:lnTo>
                <a:lnTo>
                  <a:pt x="124914" y="114192"/>
                </a:lnTo>
                <a:lnTo>
                  <a:pt x="153495" y="101441"/>
                </a:lnTo>
                <a:lnTo>
                  <a:pt x="172765" y="82546"/>
                </a:lnTo>
                <a:lnTo>
                  <a:pt x="179831" y="59435"/>
                </a:lnTo>
                <a:lnTo>
                  <a:pt x="172765" y="36325"/>
                </a:lnTo>
                <a:lnTo>
                  <a:pt x="153495" y="17430"/>
                </a:lnTo>
                <a:lnTo>
                  <a:pt x="124914" y="4679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845552" y="5468111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9"/>
                </a:lnTo>
                <a:lnTo>
                  <a:pt x="153495" y="17430"/>
                </a:lnTo>
                <a:lnTo>
                  <a:pt x="172765" y="36325"/>
                </a:lnTo>
                <a:lnTo>
                  <a:pt x="179831" y="59435"/>
                </a:lnTo>
                <a:lnTo>
                  <a:pt x="172765" y="82546"/>
                </a:lnTo>
                <a:lnTo>
                  <a:pt x="153495" y="101441"/>
                </a:lnTo>
                <a:lnTo>
                  <a:pt x="124914" y="114192"/>
                </a:lnTo>
                <a:lnTo>
                  <a:pt x="89916" y="118872"/>
                </a:lnTo>
                <a:lnTo>
                  <a:pt x="54917" y="114192"/>
                </a:lnTo>
                <a:lnTo>
                  <a:pt x="26336" y="101441"/>
                </a:lnTo>
                <a:lnTo>
                  <a:pt x="7066" y="82546"/>
                </a:lnTo>
                <a:lnTo>
                  <a:pt x="0" y="59435"/>
                </a:lnTo>
                <a:lnTo>
                  <a:pt x="7066" y="36325"/>
                </a:lnTo>
                <a:lnTo>
                  <a:pt x="26336" y="17430"/>
                </a:lnTo>
                <a:lnTo>
                  <a:pt x="54917" y="4679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845552" y="5591555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0"/>
                </a:lnTo>
                <a:lnTo>
                  <a:pt x="26336" y="17406"/>
                </a:lnTo>
                <a:lnTo>
                  <a:pt x="7066" y="36299"/>
                </a:lnTo>
                <a:lnTo>
                  <a:pt x="0" y="59436"/>
                </a:lnTo>
                <a:lnTo>
                  <a:pt x="7066" y="82572"/>
                </a:lnTo>
                <a:lnTo>
                  <a:pt x="26336" y="101465"/>
                </a:lnTo>
                <a:lnTo>
                  <a:pt x="54917" y="114201"/>
                </a:lnTo>
                <a:lnTo>
                  <a:pt x="89916" y="118872"/>
                </a:lnTo>
                <a:lnTo>
                  <a:pt x="124914" y="114201"/>
                </a:lnTo>
                <a:lnTo>
                  <a:pt x="153495" y="101465"/>
                </a:lnTo>
                <a:lnTo>
                  <a:pt x="172765" y="82572"/>
                </a:lnTo>
                <a:lnTo>
                  <a:pt x="179831" y="59436"/>
                </a:lnTo>
                <a:lnTo>
                  <a:pt x="172765" y="36299"/>
                </a:lnTo>
                <a:lnTo>
                  <a:pt x="153495" y="17406"/>
                </a:lnTo>
                <a:lnTo>
                  <a:pt x="124914" y="4670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845552" y="5591555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0"/>
                </a:lnTo>
                <a:lnTo>
                  <a:pt x="153495" y="17406"/>
                </a:lnTo>
                <a:lnTo>
                  <a:pt x="172765" y="36299"/>
                </a:lnTo>
                <a:lnTo>
                  <a:pt x="179831" y="59436"/>
                </a:lnTo>
                <a:lnTo>
                  <a:pt x="172765" y="82572"/>
                </a:lnTo>
                <a:lnTo>
                  <a:pt x="153495" y="101465"/>
                </a:lnTo>
                <a:lnTo>
                  <a:pt x="124914" y="114201"/>
                </a:lnTo>
                <a:lnTo>
                  <a:pt x="89916" y="118872"/>
                </a:lnTo>
                <a:lnTo>
                  <a:pt x="54917" y="114201"/>
                </a:lnTo>
                <a:lnTo>
                  <a:pt x="26336" y="101465"/>
                </a:lnTo>
                <a:lnTo>
                  <a:pt x="7066" y="82572"/>
                </a:lnTo>
                <a:lnTo>
                  <a:pt x="0" y="59436"/>
                </a:lnTo>
                <a:lnTo>
                  <a:pt x="7066" y="36299"/>
                </a:lnTo>
                <a:lnTo>
                  <a:pt x="26336" y="17406"/>
                </a:lnTo>
                <a:lnTo>
                  <a:pt x="54917" y="4670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7845552" y="571042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0"/>
                </a:lnTo>
                <a:lnTo>
                  <a:pt x="26336" y="17406"/>
                </a:lnTo>
                <a:lnTo>
                  <a:pt x="7066" y="36299"/>
                </a:lnTo>
                <a:lnTo>
                  <a:pt x="0" y="59436"/>
                </a:lnTo>
                <a:lnTo>
                  <a:pt x="7066" y="82572"/>
                </a:lnTo>
                <a:lnTo>
                  <a:pt x="26336" y="101465"/>
                </a:lnTo>
                <a:lnTo>
                  <a:pt x="54917" y="114201"/>
                </a:lnTo>
                <a:lnTo>
                  <a:pt x="89916" y="118872"/>
                </a:lnTo>
                <a:lnTo>
                  <a:pt x="124914" y="114201"/>
                </a:lnTo>
                <a:lnTo>
                  <a:pt x="153495" y="101465"/>
                </a:lnTo>
                <a:lnTo>
                  <a:pt x="172765" y="82572"/>
                </a:lnTo>
                <a:lnTo>
                  <a:pt x="179831" y="59436"/>
                </a:lnTo>
                <a:lnTo>
                  <a:pt x="172765" y="36299"/>
                </a:lnTo>
                <a:lnTo>
                  <a:pt x="153495" y="17406"/>
                </a:lnTo>
                <a:lnTo>
                  <a:pt x="124914" y="4670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7845552" y="5710428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0"/>
                </a:lnTo>
                <a:lnTo>
                  <a:pt x="153495" y="17406"/>
                </a:lnTo>
                <a:lnTo>
                  <a:pt x="172765" y="36299"/>
                </a:lnTo>
                <a:lnTo>
                  <a:pt x="179831" y="59436"/>
                </a:lnTo>
                <a:lnTo>
                  <a:pt x="172765" y="82572"/>
                </a:lnTo>
                <a:lnTo>
                  <a:pt x="153495" y="101465"/>
                </a:lnTo>
                <a:lnTo>
                  <a:pt x="124914" y="114201"/>
                </a:lnTo>
                <a:lnTo>
                  <a:pt x="89916" y="118872"/>
                </a:lnTo>
                <a:lnTo>
                  <a:pt x="54917" y="114201"/>
                </a:lnTo>
                <a:lnTo>
                  <a:pt x="26336" y="101465"/>
                </a:lnTo>
                <a:lnTo>
                  <a:pt x="7066" y="82572"/>
                </a:lnTo>
                <a:lnTo>
                  <a:pt x="0" y="59436"/>
                </a:lnTo>
                <a:lnTo>
                  <a:pt x="7066" y="36299"/>
                </a:lnTo>
                <a:lnTo>
                  <a:pt x="26336" y="17406"/>
                </a:lnTo>
                <a:lnTo>
                  <a:pt x="54917" y="4670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7845552" y="5830823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0"/>
                </a:lnTo>
                <a:lnTo>
                  <a:pt x="26336" y="17406"/>
                </a:lnTo>
                <a:lnTo>
                  <a:pt x="7066" y="36299"/>
                </a:lnTo>
                <a:lnTo>
                  <a:pt x="0" y="59435"/>
                </a:lnTo>
                <a:lnTo>
                  <a:pt x="7066" y="82572"/>
                </a:lnTo>
                <a:lnTo>
                  <a:pt x="26336" y="101465"/>
                </a:lnTo>
                <a:lnTo>
                  <a:pt x="54917" y="114201"/>
                </a:lnTo>
                <a:lnTo>
                  <a:pt x="89916" y="118872"/>
                </a:lnTo>
                <a:lnTo>
                  <a:pt x="124914" y="114201"/>
                </a:lnTo>
                <a:lnTo>
                  <a:pt x="153495" y="101465"/>
                </a:lnTo>
                <a:lnTo>
                  <a:pt x="172765" y="82572"/>
                </a:lnTo>
                <a:lnTo>
                  <a:pt x="179831" y="59435"/>
                </a:lnTo>
                <a:lnTo>
                  <a:pt x="172765" y="36299"/>
                </a:lnTo>
                <a:lnTo>
                  <a:pt x="153495" y="17406"/>
                </a:lnTo>
                <a:lnTo>
                  <a:pt x="124914" y="4670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845552" y="5830823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0"/>
                </a:lnTo>
                <a:lnTo>
                  <a:pt x="153495" y="17406"/>
                </a:lnTo>
                <a:lnTo>
                  <a:pt x="172765" y="36299"/>
                </a:lnTo>
                <a:lnTo>
                  <a:pt x="179831" y="59435"/>
                </a:lnTo>
                <a:lnTo>
                  <a:pt x="172765" y="82572"/>
                </a:lnTo>
                <a:lnTo>
                  <a:pt x="153495" y="101465"/>
                </a:lnTo>
                <a:lnTo>
                  <a:pt x="124914" y="114201"/>
                </a:lnTo>
                <a:lnTo>
                  <a:pt x="89916" y="118872"/>
                </a:lnTo>
                <a:lnTo>
                  <a:pt x="54917" y="114201"/>
                </a:lnTo>
                <a:lnTo>
                  <a:pt x="26336" y="101465"/>
                </a:lnTo>
                <a:lnTo>
                  <a:pt x="7066" y="82572"/>
                </a:lnTo>
                <a:lnTo>
                  <a:pt x="0" y="59435"/>
                </a:lnTo>
                <a:lnTo>
                  <a:pt x="7066" y="36299"/>
                </a:lnTo>
                <a:lnTo>
                  <a:pt x="26336" y="17406"/>
                </a:lnTo>
                <a:lnTo>
                  <a:pt x="54917" y="4670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845552" y="595122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54917" y="4670"/>
                </a:lnTo>
                <a:lnTo>
                  <a:pt x="26336" y="17406"/>
                </a:lnTo>
                <a:lnTo>
                  <a:pt x="7066" y="36299"/>
                </a:lnTo>
                <a:lnTo>
                  <a:pt x="0" y="59435"/>
                </a:lnTo>
                <a:lnTo>
                  <a:pt x="7066" y="82572"/>
                </a:lnTo>
                <a:lnTo>
                  <a:pt x="26336" y="101465"/>
                </a:lnTo>
                <a:lnTo>
                  <a:pt x="54917" y="114201"/>
                </a:lnTo>
                <a:lnTo>
                  <a:pt x="89916" y="118871"/>
                </a:lnTo>
                <a:lnTo>
                  <a:pt x="124914" y="114201"/>
                </a:lnTo>
                <a:lnTo>
                  <a:pt x="153495" y="101465"/>
                </a:lnTo>
                <a:lnTo>
                  <a:pt x="172765" y="82572"/>
                </a:lnTo>
                <a:lnTo>
                  <a:pt x="179831" y="59435"/>
                </a:lnTo>
                <a:lnTo>
                  <a:pt x="172765" y="36299"/>
                </a:lnTo>
                <a:lnTo>
                  <a:pt x="153495" y="17406"/>
                </a:lnTo>
                <a:lnTo>
                  <a:pt x="124914" y="4670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845552" y="5951220"/>
            <a:ext cx="180340" cy="119380"/>
          </a:xfrm>
          <a:custGeom>
            <a:avLst/>
            <a:gdLst/>
            <a:ahLst/>
            <a:cxnLst/>
            <a:rect l="l" t="t" r="r" b="b"/>
            <a:pathLst>
              <a:path w="180340" h="119379">
                <a:moveTo>
                  <a:pt x="89916" y="0"/>
                </a:moveTo>
                <a:lnTo>
                  <a:pt x="124914" y="4670"/>
                </a:lnTo>
                <a:lnTo>
                  <a:pt x="153495" y="17406"/>
                </a:lnTo>
                <a:lnTo>
                  <a:pt x="172765" y="36299"/>
                </a:lnTo>
                <a:lnTo>
                  <a:pt x="179831" y="59435"/>
                </a:lnTo>
                <a:lnTo>
                  <a:pt x="172765" y="82572"/>
                </a:lnTo>
                <a:lnTo>
                  <a:pt x="153495" y="101465"/>
                </a:lnTo>
                <a:lnTo>
                  <a:pt x="124914" y="114201"/>
                </a:lnTo>
                <a:lnTo>
                  <a:pt x="89916" y="118871"/>
                </a:lnTo>
                <a:lnTo>
                  <a:pt x="54917" y="114201"/>
                </a:lnTo>
                <a:lnTo>
                  <a:pt x="26336" y="101465"/>
                </a:lnTo>
                <a:lnTo>
                  <a:pt x="7066" y="82572"/>
                </a:lnTo>
                <a:lnTo>
                  <a:pt x="0" y="59435"/>
                </a:lnTo>
                <a:lnTo>
                  <a:pt x="7066" y="36299"/>
                </a:lnTo>
                <a:lnTo>
                  <a:pt x="26336" y="17406"/>
                </a:lnTo>
                <a:lnTo>
                  <a:pt x="54917" y="4670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845552" y="6070091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54917" y="4730"/>
                </a:lnTo>
                <a:lnTo>
                  <a:pt x="26336" y="17630"/>
                </a:lnTo>
                <a:lnTo>
                  <a:pt x="7066" y="36765"/>
                </a:lnTo>
                <a:lnTo>
                  <a:pt x="0" y="60198"/>
                </a:lnTo>
                <a:lnTo>
                  <a:pt x="7066" y="83630"/>
                </a:lnTo>
                <a:lnTo>
                  <a:pt x="26336" y="102765"/>
                </a:lnTo>
                <a:lnTo>
                  <a:pt x="54917" y="115665"/>
                </a:lnTo>
                <a:lnTo>
                  <a:pt x="89916" y="120396"/>
                </a:lnTo>
                <a:lnTo>
                  <a:pt x="124914" y="115665"/>
                </a:lnTo>
                <a:lnTo>
                  <a:pt x="153495" y="102765"/>
                </a:lnTo>
                <a:lnTo>
                  <a:pt x="172765" y="83630"/>
                </a:lnTo>
                <a:lnTo>
                  <a:pt x="179831" y="60198"/>
                </a:lnTo>
                <a:lnTo>
                  <a:pt x="172765" y="36765"/>
                </a:lnTo>
                <a:lnTo>
                  <a:pt x="153495" y="17630"/>
                </a:lnTo>
                <a:lnTo>
                  <a:pt x="124914" y="4730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7845552" y="6070091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124914" y="4730"/>
                </a:lnTo>
                <a:lnTo>
                  <a:pt x="153495" y="17630"/>
                </a:lnTo>
                <a:lnTo>
                  <a:pt x="172765" y="36765"/>
                </a:lnTo>
                <a:lnTo>
                  <a:pt x="179831" y="60198"/>
                </a:lnTo>
                <a:lnTo>
                  <a:pt x="172765" y="83630"/>
                </a:lnTo>
                <a:lnTo>
                  <a:pt x="153495" y="102765"/>
                </a:lnTo>
                <a:lnTo>
                  <a:pt x="124914" y="115665"/>
                </a:lnTo>
                <a:lnTo>
                  <a:pt x="89916" y="120396"/>
                </a:lnTo>
                <a:lnTo>
                  <a:pt x="54917" y="115665"/>
                </a:lnTo>
                <a:lnTo>
                  <a:pt x="26336" y="102765"/>
                </a:lnTo>
                <a:lnTo>
                  <a:pt x="7066" y="83630"/>
                </a:lnTo>
                <a:lnTo>
                  <a:pt x="0" y="60198"/>
                </a:lnTo>
                <a:lnTo>
                  <a:pt x="7066" y="36765"/>
                </a:lnTo>
                <a:lnTo>
                  <a:pt x="26336" y="17630"/>
                </a:lnTo>
                <a:lnTo>
                  <a:pt x="54917" y="4730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845552" y="6190488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54917" y="4730"/>
                </a:lnTo>
                <a:lnTo>
                  <a:pt x="26336" y="17630"/>
                </a:lnTo>
                <a:lnTo>
                  <a:pt x="7066" y="36765"/>
                </a:lnTo>
                <a:lnTo>
                  <a:pt x="0" y="60198"/>
                </a:lnTo>
                <a:lnTo>
                  <a:pt x="7066" y="83630"/>
                </a:lnTo>
                <a:lnTo>
                  <a:pt x="26336" y="102765"/>
                </a:lnTo>
                <a:lnTo>
                  <a:pt x="54917" y="115665"/>
                </a:lnTo>
                <a:lnTo>
                  <a:pt x="89916" y="120396"/>
                </a:lnTo>
                <a:lnTo>
                  <a:pt x="124914" y="115665"/>
                </a:lnTo>
                <a:lnTo>
                  <a:pt x="153495" y="102765"/>
                </a:lnTo>
                <a:lnTo>
                  <a:pt x="172765" y="83630"/>
                </a:lnTo>
                <a:lnTo>
                  <a:pt x="179831" y="60198"/>
                </a:lnTo>
                <a:lnTo>
                  <a:pt x="172765" y="36765"/>
                </a:lnTo>
                <a:lnTo>
                  <a:pt x="153495" y="17630"/>
                </a:lnTo>
                <a:lnTo>
                  <a:pt x="124914" y="4730"/>
                </a:lnTo>
                <a:lnTo>
                  <a:pt x="89916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845552" y="6190488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89916" y="0"/>
                </a:moveTo>
                <a:lnTo>
                  <a:pt x="124914" y="4730"/>
                </a:lnTo>
                <a:lnTo>
                  <a:pt x="153495" y="17630"/>
                </a:lnTo>
                <a:lnTo>
                  <a:pt x="172765" y="36765"/>
                </a:lnTo>
                <a:lnTo>
                  <a:pt x="179831" y="60198"/>
                </a:lnTo>
                <a:lnTo>
                  <a:pt x="172765" y="83630"/>
                </a:lnTo>
                <a:lnTo>
                  <a:pt x="153495" y="102765"/>
                </a:lnTo>
                <a:lnTo>
                  <a:pt x="124914" y="115665"/>
                </a:lnTo>
                <a:lnTo>
                  <a:pt x="89916" y="120396"/>
                </a:lnTo>
                <a:lnTo>
                  <a:pt x="54917" y="115665"/>
                </a:lnTo>
                <a:lnTo>
                  <a:pt x="26336" y="102765"/>
                </a:lnTo>
                <a:lnTo>
                  <a:pt x="7066" y="83630"/>
                </a:lnTo>
                <a:lnTo>
                  <a:pt x="0" y="60198"/>
                </a:lnTo>
                <a:lnTo>
                  <a:pt x="7066" y="36765"/>
                </a:lnTo>
                <a:lnTo>
                  <a:pt x="26336" y="17630"/>
                </a:lnTo>
                <a:lnTo>
                  <a:pt x="54917" y="4730"/>
                </a:lnTo>
                <a:lnTo>
                  <a:pt x="89916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396733" y="59816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396733" y="637794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396733" y="70942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396733" y="74904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396733" y="81915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396733" y="86182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396733" y="939546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7396733" y="982217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396733" y="1059941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396733" y="1099566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7396733" y="1180338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396733" y="122301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7396733" y="129921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396733" y="141960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7396733" y="146380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7396733" y="170307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7396733" y="177774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7396733" y="182194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7396733" y="1902714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7396733" y="1942338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7396733" y="214350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7396733" y="21831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7396733" y="2262377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7396733" y="2302001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396733" y="2372867"/>
            <a:ext cx="449580" cy="20320"/>
          </a:xfrm>
          <a:custGeom>
            <a:avLst/>
            <a:gdLst/>
            <a:ahLst/>
            <a:cxnLst/>
            <a:rect l="l" t="t" r="r" b="b"/>
            <a:pathLst>
              <a:path w="449579" h="20319">
                <a:moveTo>
                  <a:pt x="0" y="19811"/>
                </a:moveTo>
                <a:lnTo>
                  <a:pt x="449580" y="19811"/>
                </a:lnTo>
                <a:lnTo>
                  <a:pt x="449580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7396733" y="2412492"/>
            <a:ext cx="449580" cy="20320"/>
          </a:xfrm>
          <a:custGeom>
            <a:avLst/>
            <a:gdLst/>
            <a:ahLst/>
            <a:cxnLst/>
            <a:rect l="l" t="t" r="r" b="b"/>
            <a:pathLst>
              <a:path w="449579" h="20319">
                <a:moveTo>
                  <a:pt x="0" y="19811"/>
                </a:moveTo>
                <a:lnTo>
                  <a:pt x="449580" y="19811"/>
                </a:lnTo>
                <a:lnTo>
                  <a:pt x="449580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7396733" y="2369820"/>
            <a:ext cx="449580" cy="20320"/>
          </a:xfrm>
          <a:custGeom>
            <a:avLst/>
            <a:gdLst/>
            <a:ahLst/>
            <a:cxnLst/>
            <a:rect l="l" t="t" r="r" b="b"/>
            <a:pathLst>
              <a:path w="449579" h="20319">
                <a:moveTo>
                  <a:pt x="0" y="19811"/>
                </a:moveTo>
                <a:lnTo>
                  <a:pt x="449580" y="19811"/>
                </a:lnTo>
                <a:lnTo>
                  <a:pt x="449580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7396733" y="2409444"/>
            <a:ext cx="449580" cy="20320"/>
          </a:xfrm>
          <a:custGeom>
            <a:avLst/>
            <a:gdLst/>
            <a:ahLst/>
            <a:cxnLst/>
            <a:rect l="l" t="t" r="r" b="b"/>
            <a:pathLst>
              <a:path w="449579" h="20319">
                <a:moveTo>
                  <a:pt x="0" y="19811"/>
                </a:moveTo>
                <a:lnTo>
                  <a:pt x="449580" y="19811"/>
                </a:lnTo>
                <a:lnTo>
                  <a:pt x="449580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7396733" y="250012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7396733" y="253974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7396733" y="2618994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7396733" y="2902457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7396733" y="298018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7396733" y="3022854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7396733" y="322402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7396733" y="3263646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7396733" y="3335273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7396733" y="33642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7396733" y="345567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7396733" y="3484626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396733" y="3603497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7396733" y="3938778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7396733" y="397840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7396733" y="4059173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7396733" y="4098797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7396733" y="417957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396733" y="4219194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7396733" y="429996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396733" y="4342638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7396733" y="4420361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7396733" y="4463034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7396733" y="4662678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7396733" y="4703826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7396733" y="4783073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7396733" y="4824221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7396733" y="4904994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7396733" y="4944617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7396733" y="502386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7396733" y="506349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7396733" y="5258561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7396733" y="5298185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7396733" y="5378958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7396733" y="541858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7396733" y="549782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7396733" y="5537453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7396733" y="5782817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7396733" y="5903214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7396733" y="621410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7396733" y="6262878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80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6803897" y="614933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6803897" y="678941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6803897" y="726186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6803897" y="790194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6803897" y="838961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6803897" y="878586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6803897" y="959358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6803897" y="998982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6803897" y="1075182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6803897" y="1123950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6803897" y="1195577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6803897" y="1244346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6803897" y="1314450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6803897" y="1434846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6803897" y="1597913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6803897" y="1718310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6803897" y="1794510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6803897" y="1837182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6803897" y="1917954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6803897" y="4679441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6803897" y="4719065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6803897" y="4799838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6803897" y="4839461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6803897" y="4920234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6803897" y="4959858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6803897" y="5039105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6803897" y="5078729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6803897" y="5275326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6803897" y="5314950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6803897" y="5395721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6803897" y="5435346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6803897" y="5514594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6803897" y="5554217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6803897" y="5919978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6803897" y="6230873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6803897" y="6279641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>
                <a:moveTo>
                  <a:pt x="451103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 txBox="1"/>
          <p:nvPr/>
        </p:nvSpPr>
        <p:spPr>
          <a:xfrm>
            <a:off x="222504" y="1849374"/>
            <a:ext cx="12471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NADH+H</a:t>
            </a:r>
            <a:r>
              <a:rPr sz="1950" b="1" spc="7" baseline="2600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7043673" y="2518410"/>
            <a:ext cx="8153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FA</a:t>
            </a:r>
            <a:r>
              <a:rPr sz="2000" b="1" strike="dblStrike" spc="-3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D</a:t>
            </a:r>
            <a:r>
              <a:rPr sz="2000" b="1" strike="dblStrike" spc="-3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H</a:t>
            </a:r>
            <a:r>
              <a:rPr sz="2000" b="1" strike="dblStrike" spc="175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590092" y="4174616"/>
            <a:ext cx="7258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NAD</a:t>
            </a:r>
            <a:r>
              <a:rPr sz="1950" b="1" spc="15" baseline="26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+</a:t>
            </a:r>
            <a:endParaRPr sz="1950" baseline="26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7106793" y="3526663"/>
            <a:ext cx="7524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9140" algn="l"/>
              </a:tabLst>
            </a:pPr>
            <a:r>
              <a:rPr sz="2000" b="1" spc="-5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FA</a:t>
            </a:r>
            <a:r>
              <a:rPr sz="2000" b="1" u="dbl" strike="dblStrike" spc="-50" dirty="0">
                <a:solidFill>
                  <a:srgbClr val="0000FF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D	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07" name="object 207"/>
          <p:cNvSpPr/>
          <p:nvPr/>
        </p:nvSpPr>
        <p:spPr>
          <a:xfrm>
            <a:off x="3121928" y="544068"/>
            <a:ext cx="1879077" cy="57713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5807964" y="544068"/>
            <a:ext cx="1447038" cy="5771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4281678" y="59816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4281678" y="63779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4281678" y="70942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4281678" y="74904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4281678" y="819150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4281678" y="86182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4281678" y="939546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4281678" y="98221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4281678" y="105994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4281678" y="1099566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4281678" y="1180338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4281678" y="1223010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4281678" y="1299210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4281678" y="141960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4281678" y="146380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4281678" y="153847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4281678" y="158267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4281678" y="1703070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4281678" y="177774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4281678" y="182194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4281678" y="214350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4281678" y="218312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4281678" y="226237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4281678" y="230200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4281678" y="2372867"/>
            <a:ext cx="361315" cy="20320"/>
          </a:xfrm>
          <a:custGeom>
            <a:avLst/>
            <a:gdLst/>
            <a:ahLst/>
            <a:cxnLst/>
            <a:rect l="l" t="t" r="r" b="b"/>
            <a:pathLst>
              <a:path w="361314" h="20319">
                <a:moveTo>
                  <a:pt x="0" y="19811"/>
                </a:moveTo>
                <a:lnTo>
                  <a:pt x="361188" y="19811"/>
                </a:lnTo>
                <a:lnTo>
                  <a:pt x="361188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4281678" y="2412492"/>
            <a:ext cx="361315" cy="20320"/>
          </a:xfrm>
          <a:custGeom>
            <a:avLst/>
            <a:gdLst/>
            <a:ahLst/>
            <a:cxnLst/>
            <a:rect l="l" t="t" r="r" b="b"/>
            <a:pathLst>
              <a:path w="361314" h="20319">
                <a:moveTo>
                  <a:pt x="0" y="19811"/>
                </a:moveTo>
                <a:lnTo>
                  <a:pt x="361188" y="19811"/>
                </a:lnTo>
                <a:lnTo>
                  <a:pt x="361188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4281678" y="2369820"/>
            <a:ext cx="361315" cy="20320"/>
          </a:xfrm>
          <a:custGeom>
            <a:avLst/>
            <a:gdLst/>
            <a:ahLst/>
            <a:cxnLst/>
            <a:rect l="l" t="t" r="r" b="b"/>
            <a:pathLst>
              <a:path w="361314" h="20319">
                <a:moveTo>
                  <a:pt x="0" y="19811"/>
                </a:moveTo>
                <a:lnTo>
                  <a:pt x="361188" y="19811"/>
                </a:lnTo>
                <a:lnTo>
                  <a:pt x="361188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4281678" y="2409444"/>
            <a:ext cx="361315" cy="20320"/>
          </a:xfrm>
          <a:custGeom>
            <a:avLst/>
            <a:gdLst/>
            <a:ahLst/>
            <a:cxnLst/>
            <a:rect l="l" t="t" r="r" b="b"/>
            <a:pathLst>
              <a:path w="361314" h="20319">
                <a:moveTo>
                  <a:pt x="0" y="19811"/>
                </a:moveTo>
                <a:lnTo>
                  <a:pt x="361188" y="19811"/>
                </a:lnTo>
                <a:lnTo>
                  <a:pt x="361188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4281678" y="250012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4281678" y="253974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4281678" y="278206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4281678" y="285978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4281678" y="290245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4281678" y="298018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4281678" y="302285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4281678" y="322402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4281678" y="3263646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4281678" y="333527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4281678" y="336422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4281678" y="3455670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4281678" y="3484626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4281678" y="360349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4281678" y="369798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4281678" y="373760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4281678" y="381838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4281678" y="385800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4281678" y="397840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4281678" y="405917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4281678" y="409879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4281678" y="4179570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4281678" y="421919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4281678" y="429996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4281678" y="4342638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4281678" y="453923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4281678" y="4662678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4281678" y="4703826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4281678" y="478307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4281678" y="482422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4281678" y="490499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4281678" y="494461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4281678" y="502386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4281678" y="5063490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4281678" y="525856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4281678" y="5298185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4281678" y="5378958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4281678" y="5418582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4281678" y="549782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4281678" y="5537453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4281678" y="590321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4281678" y="597941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4281678" y="609980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4281678" y="621410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4281678" y="6262878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 txBox="1"/>
          <p:nvPr/>
        </p:nvSpPr>
        <p:spPr>
          <a:xfrm>
            <a:off x="6791197" y="5546242"/>
            <a:ext cx="10680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4735" algn="l"/>
              </a:tabLst>
            </a:pPr>
            <a:r>
              <a:rPr sz="2000" b="1" u="dbl" strike="sngStrike" spc="13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dbl" strike="sngStrike" spc="1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线粒</a:t>
            </a:r>
            <a:r>
              <a:rPr sz="2000" b="1" u="dbl" strike="sngStrike" spc="-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体</a:t>
            </a:r>
            <a:r>
              <a:rPr sz="2000" b="1" u="dbl" strike="sngStrike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	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83" name="object 283"/>
          <p:cNvSpPr txBox="1"/>
          <p:nvPr/>
        </p:nvSpPr>
        <p:spPr>
          <a:xfrm>
            <a:off x="3783838" y="5563920"/>
            <a:ext cx="798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线粒</a:t>
            </a:r>
            <a:r>
              <a:rPr sz="2000" b="1" u="heavy" strike="dblStrike" spc="1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体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84" name="object 284"/>
          <p:cNvSpPr txBox="1"/>
          <p:nvPr/>
        </p:nvSpPr>
        <p:spPr>
          <a:xfrm>
            <a:off x="6791197" y="5851347"/>
            <a:ext cx="10680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710" algn="l"/>
                <a:tab pos="1054735" algn="l"/>
              </a:tabLst>
            </a:pPr>
            <a:r>
              <a:rPr sz="2000" b="1" u="dbl" strike="dblStrike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r>
              <a:rPr sz="2000" b="1" u="dbl" strike="dblStrike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内</a:t>
            </a:r>
            <a:r>
              <a:rPr sz="2000" b="1" strike="dblStrike" spc="-5" dirty="0">
                <a:solidFill>
                  <a:srgbClr val="003366"/>
                </a:solidFill>
                <a:latin typeface="黑体"/>
                <a:cs typeface="黑体"/>
              </a:rPr>
              <a:t>膜</a:t>
            </a:r>
            <a:r>
              <a:rPr sz="2000" b="1" strike="dblStrike" dirty="0">
                <a:solidFill>
                  <a:srgbClr val="003366"/>
                </a:solidFill>
                <a:latin typeface="黑体"/>
                <a:cs typeface="黑体"/>
              </a:rPr>
              <a:t>	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85" name="object 285"/>
          <p:cNvSpPr txBox="1"/>
          <p:nvPr/>
        </p:nvSpPr>
        <p:spPr>
          <a:xfrm>
            <a:off x="5510910" y="5617870"/>
            <a:ext cx="798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膜间隙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86" name="object 286"/>
          <p:cNvSpPr txBox="1"/>
          <p:nvPr/>
        </p:nvSpPr>
        <p:spPr>
          <a:xfrm>
            <a:off x="3910329" y="5868720"/>
            <a:ext cx="745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2155" algn="l"/>
              </a:tabLst>
            </a:pPr>
            <a:r>
              <a:rPr sz="2000" b="1" spc="5" dirty="0">
                <a:solidFill>
                  <a:srgbClr val="003366"/>
                </a:solidFill>
                <a:latin typeface="黑体"/>
                <a:cs typeface="黑体"/>
              </a:rPr>
              <a:t>外</a:t>
            </a:r>
            <a:r>
              <a:rPr sz="2000" b="1" strike="sngStrike" spc="-5" dirty="0">
                <a:solidFill>
                  <a:srgbClr val="003366"/>
                </a:solidFill>
                <a:latin typeface="黑体"/>
                <a:cs typeface="黑体"/>
              </a:rPr>
              <a:t>膜</a:t>
            </a:r>
            <a:r>
              <a:rPr sz="2000" b="1" strike="sngStrike" dirty="0">
                <a:solidFill>
                  <a:srgbClr val="003366"/>
                </a:solidFill>
                <a:latin typeface="黑体"/>
                <a:cs typeface="黑体"/>
              </a:rPr>
              <a:t>	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87" name="object 287"/>
          <p:cNvSpPr txBox="1"/>
          <p:nvPr/>
        </p:nvSpPr>
        <p:spPr>
          <a:xfrm>
            <a:off x="8112632" y="5559653"/>
            <a:ext cx="7937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3366"/>
                </a:solidFill>
                <a:latin typeface="黑体"/>
                <a:cs typeface="黑体"/>
              </a:rPr>
              <a:t>线粒体</a:t>
            </a:r>
            <a:endParaRPr sz="2000">
              <a:latin typeface="黑体"/>
              <a:cs typeface="黑体"/>
            </a:endParaRPr>
          </a:p>
          <a:p>
            <a:pPr marR="67310" algn="r">
              <a:lnSpc>
                <a:spcPct val="100000"/>
              </a:lnSpc>
            </a:pPr>
            <a:r>
              <a:rPr sz="2000" b="1" spc="5" dirty="0">
                <a:solidFill>
                  <a:srgbClr val="003366"/>
                </a:solidFill>
                <a:latin typeface="黑体"/>
                <a:cs typeface="黑体"/>
              </a:rPr>
              <a:t>基质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88" name="object 288"/>
          <p:cNvSpPr/>
          <p:nvPr/>
        </p:nvSpPr>
        <p:spPr>
          <a:xfrm>
            <a:off x="1447038" y="1910588"/>
            <a:ext cx="400050" cy="2456815"/>
          </a:xfrm>
          <a:custGeom>
            <a:avLst/>
            <a:gdLst/>
            <a:ahLst/>
            <a:cxnLst/>
            <a:rect l="l" t="t" r="r" b="b"/>
            <a:pathLst>
              <a:path w="400050" h="2456815">
                <a:moveTo>
                  <a:pt x="13589" y="2360295"/>
                </a:moveTo>
                <a:lnTo>
                  <a:pt x="0" y="2456434"/>
                </a:lnTo>
                <a:lnTo>
                  <a:pt x="85090" y="2409571"/>
                </a:lnTo>
                <a:lnTo>
                  <a:pt x="78271" y="2404872"/>
                </a:lnTo>
                <a:lnTo>
                  <a:pt x="53212" y="2404872"/>
                </a:lnTo>
                <a:lnTo>
                  <a:pt x="29083" y="2388870"/>
                </a:lnTo>
                <a:lnTo>
                  <a:pt x="37192" y="2376561"/>
                </a:lnTo>
                <a:lnTo>
                  <a:pt x="13589" y="2360295"/>
                </a:lnTo>
                <a:close/>
              </a:path>
              <a:path w="400050" h="2456815">
                <a:moveTo>
                  <a:pt x="37192" y="2376561"/>
                </a:moveTo>
                <a:lnTo>
                  <a:pt x="29083" y="2388870"/>
                </a:lnTo>
                <a:lnTo>
                  <a:pt x="53212" y="2404872"/>
                </a:lnTo>
                <a:lnTo>
                  <a:pt x="61048" y="2393002"/>
                </a:lnTo>
                <a:lnTo>
                  <a:pt x="37192" y="2376561"/>
                </a:lnTo>
                <a:close/>
              </a:path>
              <a:path w="400050" h="2456815">
                <a:moveTo>
                  <a:pt x="61048" y="2393002"/>
                </a:moveTo>
                <a:lnTo>
                  <a:pt x="53212" y="2404872"/>
                </a:lnTo>
                <a:lnTo>
                  <a:pt x="78271" y="2404872"/>
                </a:lnTo>
                <a:lnTo>
                  <a:pt x="61048" y="2393002"/>
                </a:lnTo>
                <a:close/>
              </a:path>
              <a:path w="400050" h="2456815">
                <a:moveTo>
                  <a:pt x="84581" y="0"/>
                </a:moveTo>
                <a:lnTo>
                  <a:pt x="59690" y="14732"/>
                </a:lnTo>
                <a:lnTo>
                  <a:pt x="96520" y="76835"/>
                </a:lnTo>
                <a:lnTo>
                  <a:pt x="130937" y="140462"/>
                </a:lnTo>
                <a:lnTo>
                  <a:pt x="163068" y="205994"/>
                </a:lnTo>
                <a:lnTo>
                  <a:pt x="193167" y="273176"/>
                </a:lnTo>
                <a:lnTo>
                  <a:pt x="220980" y="342138"/>
                </a:lnTo>
                <a:lnTo>
                  <a:pt x="246506" y="412496"/>
                </a:lnTo>
                <a:lnTo>
                  <a:pt x="269875" y="484504"/>
                </a:lnTo>
                <a:lnTo>
                  <a:pt x="290703" y="557784"/>
                </a:lnTo>
                <a:lnTo>
                  <a:pt x="300355" y="594867"/>
                </a:lnTo>
                <a:lnTo>
                  <a:pt x="309244" y="632206"/>
                </a:lnTo>
                <a:lnTo>
                  <a:pt x="317754" y="669925"/>
                </a:lnTo>
                <a:lnTo>
                  <a:pt x="325628" y="707898"/>
                </a:lnTo>
                <a:lnTo>
                  <a:pt x="332739" y="745998"/>
                </a:lnTo>
                <a:lnTo>
                  <a:pt x="339344" y="784478"/>
                </a:lnTo>
                <a:lnTo>
                  <a:pt x="345313" y="823087"/>
                </a:lnTo>
                <a:lnTo>
                  <a:pt x="350647" y="861949"/>
                </a:lnTo>
                <a:lnTo>
                  <a:pt x="355473" y="901064"/>
                </a:lnTo>
                <a:lnTo>
                  <a:pt x="359537" y="940181"/>
                </a:lnTo>
                <a:lnTo>
                  <a:pt x="363093" y="979677"/>
                </a:lnTo>
                <a:lnTo>
                  <a:pt x="366013" y="1019175"/>
                </a:lnTo>
                <a:lnTo>
                  <a:pt x="368173" y="1058799"/>
                </a:lnTo>
                <a:lnTo>
                  <a:pt x="369824" y="1098677"/>
                </a:lnTo>
                <a:lnTo>
                  <a:pt x="370839" y="1138554"/>
                </a:lnTo>
                <a:lnTo>
                  <a:pt x="371094" y="1178560"/>
                </a:lnTo>
                <a:lnTo>
                  <a:pt x="370705" y="1223517"/>
                </a:lnTo>
                <a:lnTo>
                  <a:pt x="369404" y="1268729"/>
                </a:lnTo>
                <a:lnTo>
                  <a:pt x="367538" y="1312290"/>
                </a:lnTo>
                <a:lnTo>
                  <a:pt x="364617" y="1356487"/>
                </a:lnTo>
                <a:lnTo>
                  <a:pt x="361061" y="1400556"/>
                </a:lnTo>
                <a:lnTo>
                  <a:pt x="356743" y="1444371"/>
                </a:lnTo>
                <a:lnTo>
                  <a:pt x="351536" y="1487932"/>
                </a:lnTo>
                <a:lnTo>
                  <a:pt x="345694" y="1531365"/>
                </a:lnTo>
                <a:lnTo>
                  <a:pt x="338963" y="1574419"/>
                </a:lnTo>
                <a:lnTo>
                  <a:pt x="331597" y="1617345"/>
                </a:lnTo>
                <a:lnTo>
                  <a:pt x="323342" y="1659763"/>
                </a:lnTo>
                <a:lnTo>
                  <a:pt x="314451" y="1701927"/>
                </a:lnTo>
                <a:lnTo>
                  <a:pt x="304800" y="1743710"/>
                </a:lnTo>
                <a:lnTo>
                  <a:pt x="294386" y="1785239"/>
                </a:lnTo>
                <a:lnTo>
                  <a:pt x="283210" y="1826260"/>
                </a:lnTo>
                <a:lnTo>
                  <a:pt x="271399" y="1867027"/>
                </a:lnTo>
                <a:lnTo>
                  <a:pt x="258825" y="1907286"/>
                </a:lnTo>
                <a:lnTo>
                  <a:pt x="245491" y="1947037"/>
                </a:lnTo>
                <a:lnTo>
                  <a:pt x="231520" y="1986534"/>
                </a:lnTo>
                <a:lnTo>
                  <a:pt x="216916" y="2025395"/>
                </a:lnTo>
                <a:lnTo>
                  <a:pt x="201422" y="2063750"/>
                </a:lnTo>
                <a:lnTo>
                  <a:pt x="185419" y="2101596"/>
                </a:lnTo>
                <a:lnTo>
                  <a:pt x="168656" y="2138934"/>
                </a:lnTo>
                <a:lnTo>
                  <a:pt x="151256" y="2175764"/>
                </a:lnTo>
                <a:lnTo>
                  <a:pt x="133096" y="2212086"/>
                </a:lnTo>
                <a:lnTo>
                  <a:pt x="114300" y="2247646"/>
                </a:lnTo>
                <a:lnTo>
                  <a:pt x="94996" y="2282571"/>
                </a:lnTo>
                <a:lnTo>
                  <a:pt x="74930" y="2316988"/>
                </a:lnTo>
                <a:lnTo>
                  <a:pt x="54102" y="2350897"/>
                </a:lnTo>
                <a:lnTo>
                  <a:pt x="37192" y="2376561"/>
                </a:lnTo>
                <a:lnTo>
                  <a:pt x="61048" y="2393002"/>
                </a:lnTo>
                <a:lnTo>
                  <a:pt x="99949" y="2331593"/>
                </a:lnTo>
                <a:lnTo>
                  <a:pt x="120268" y="2296668"/>
                </a:lnTo>
                <a:lnTo>
                  <a:pt x="139953" y="2261108"/>
                </a:lnTo>
                <a:lnTo>
                  <a:pt x="159131" y="2224913"/>
                </a:lnTo>
                <a:lnTo>
                  <a:pt x="177419" y="2188083"/>
                </a:lnTo>
                <a:lnTo>
                  <a:pt x="195072" y="2150872"/>
                </a:lnTo>
                <a:lnTo>
                  <a:pt x="212089" y="2112899"/>
                </a:lnTo>
                <a:lnTo>
                  <a:pt x="228345" y="2074545"/>
                </a:lnTo>
                <a:lnTo>
                  <a:pt x="243967" y="2035556"/>
                </a:lnTo>
                <a:lnTo>
                  <a:pt x="258825" y="1996186"/>
                </a:lnTo>
                <a:lnTo>
                  <a:pt x="273050" y="1956181"/>
                </a:lnTo>
                <a:lnTo>
                  <a:pt x="286385" y="1915922"/>
                </a:lnTo>
                <a:lnTo>
                  <a:pt x="299212" y="1875028"/>
                </a:lnTo>
                <a:lnTo>
                  <a:pt x="311150" y="1833880"/>
                </a:lnTo>
                <a:lnTo>
                  <a:pt x="322453" y="1792224"/>
                </a:lnTo>
                <a:lnTo>
                  <a:pt x="332994" y="1750314"/>
                </a:lnTo>
                <a:lnTo>
                  <a:pt x="342773" y="1707895"/>
                </a:lnTo>
                <a:lnTo>
                  <a:pt x="351789" y="1665224"/>
                </a:lnTo>
                <a:lnTo>
                  <a:pt x="360172" y="1622171"/>
                </a:lnTo>
                <a:lnTo>
                  <a:pt x="367538" y="1578990"/>
                </a:lnTo>
                <a:lnTo>
                  <a:pt x="374395" y="1535176"/>
                </a:lnTo>
                <a:lnTo>
                  <a:pt x="380364" y="1491361"/>
                </a:lnTo>
                <a:lnTo>
                  <a:pt x="385444" y="1447291"/>
                </a:lnTo>
                <a:lnTo>
                  <a:pt x="389889" y="1402969"/>
                </a:lnTo>
                <a:lnTo>
                  <a:pt x="393573" y="1358391"/>
                </a:lnTo>
                <a:lnTo>
                  <a:pt x="396367" y="1313561"/>
                </a:lnTo>
                <a:lnTo>
                  <a:pt x="398399" y="1268729"/>
                </a:lnTo>
                <a:lnTo>
                  <a:pt x="399671" y="1223264"/>
                </a:lnTo>
                <a:lnTo>
                  <a:pt x="400050" y="1178306"/>
                </a:lnTo>
                <a:lnTo>
                  <a:pt x="399795" y="1137792"/>
                </a:lnTo>
                <a:lnTo>
                  <a:pt x="398653" y="1097534"/>
                </a:lnTo>
                <a:lnTo>
                  <a:pt x="397129" y="1057275"/>
                </a:lnTo>
                <a:lnTo>
                  <a:pt x="394843" y="1017142"/>
                </a:lnTo>
                <a:lnTo>
                  <a:pt x="391922" y="977011"/>
                </a:lnTo>
                <a:lnTo>
                  <a:pt x="388366" y="937260"/>
                </a:lnTo>
                <a:lnTo>
                  <a:pt x="384175" y="897509"/>
                </a:lnTo>
                <a:lnTo>
                  <a:pt x="379349" y="858012"/>
                </a:lnTo>
                <a:lnTo>
                  <a:pt x="374014" y="818641"/>
                </a:lnTo>
                <a:lnTo>
                  <a:pt x="367919" y="779526"/>
                </a:lnTo>
                <a:lnTo>
                  <a:pt x="361188" y="740663"/>
                </a:lnTo>
                <a:lnTo>
                  <a:pt x="353949" y="702056"/>
                </a:lnTo>
                <a:lnTo>
                  <a:pt x="345948" y="663575"/>
                </a:lnTo>
                <a:lnTo>
                  <a:pt x="337438" y="625475"/>
                </a:lnTo>
                <a:lnTo>
                  <a:pt x="328294" y="587628"/>
                </a:lnTo>
                <a:lnTo>
                  <a:pt x="318643" y="550037"/>
                </a:lnTo>
                <a:lnTo>
                  <a:pt x="308356" y="512825"/>
                </a:lnTo>
                <a:lnTo>
                  <a:pt x="297434" y="475869"/>
                </a:lnTo>
                <a:lnTo>
                  <a:pt x="286004" y="439292"/>
                </a:lnTo>
                <a:lnTo>
                  <a:pt x="273812" y="402844"/>
                </a:lnTo>
                <a:lnTo>
                  <a:pt x="247776" y="331342"/>
                </a:lnTo>
                <a:lnTo>
                  <a:pt x="219582" y="261365"/>
                </a:lnTo>
                <a:lnTo>
                  <a:pt x="189103" y="193166"/>
                </a:lnTo>
                <a:lnTo>
                  <a:pt x="156337" y="126746"/>
                </a:lnTo>
                <a:lnTo>
                  <a:pt x="121412" y="62102"/>
                </a:lnTo>
                <a:lnTo>
                  <a:pt x="84581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1818135" y="1911476"/>
            <a:ext cx="341630" cy="2455545"/>
          </a:xfrm>
          <a:custGeom>
            <a:avLst/>
            <a:gdLst/>
            <a:ahLst/>
            <a:cxnLst/>
            <a:rect l="l" t="t" r="r" b="b"/>
            <a:pathLst>
              <a:path w="341630" h="2455545">
                <a:moveTo>
                  <a:pt x="285132" y="2387693"/>
                </a:moveTo>
                <a:lnTo>
                  <a:pt x="259838" y="2402459"/>
                </a:lnTo>
                <a:lnTo>
                  <a:pt x="341245" y="2455545"/>
                </a:lnTo>
                <a:lnTo>
                  <a:pt x="337608" y="2400046"/>
                </a:lnTo>
                <a:lnTo>
                  <a:pt x="292096" y="2400046"/>
                </a:lnTo>
                <a:lnTo>
                  <a:pt x="285132" y="2387693"/>
                </a:lnTo>
                <a:close/>
              </a:path>
              <a:path w="341630" h="2455545">
                <a:moveTo>
                  <a:pt x="310148" y="2373090"/>
                </a:moveTo>
                <a:lnTo>
                  <a:pt x="285132" y="2387693"/>
                </a:lnTo>
                <a:lnTo>
                  <a:pt x="292096" y="2400046"/>
                </a:lnTo>
                <a:lnTo>
                  <a:pt x="317369" y="2385949"/>
                </a:lnTo>
                <a:lnTo>
                  <a:pt x="310148" y="2373090"/>
                </a:lnTo>
                <a:close/>
              </a:path>
              <a:path w="341630" h="2455545">
                <a:moveTo>
                  <a:pt x="334895" y="2358644"/>
                </a:moveTo>
                <a:lnTo>
                  <a:pt x="310148" y="2373090"/>
                </a:lnTo>
                <a:lnTo>
                  <a:pt x="317369" y="2385949"/>
                </a:lnTo>
                <a:lnTo>
                  <a:pt x="292096" y="2400046"/>
                </a:lnTo>
                <a:lnTo>
                  <a:pt x="337608" y="2400046"/>
                </a:lnTo>
                <a:lnTo>
                  <a:pt x="334895" y="2358644"/>
                </a:lnTo>
                <a:close/>
              </a:path>
              <a:path w="341630" h="2455545">
                <a:moveTo>
                  <a:pt x="267204" y="0"/>
                </a:moveTo>
                <a:lnTo>
                  <a:pt x="235962" y="62102"/>
                </a:lnTo>
                <a:lnTo>
                  <a:pt x="206371" y="126619"/>
                </a:lnTo>
                <a:lnTo>
                  <a:pt x="178685" y="193167"/>
                </a:lnTo>
                <a:lnTo>
                  <a:pt x="152777" y="261238"/>
                </a:lnTo>
                <a:lnTo>
                  <a:pt x="128901" y="331215"/>
                </a:lnTo>
                <a:lnTo>
                  <a:pt x="106930" y="402589"/>
                </a:lnTo>
                <a:lnTo>
                  <a:pt x="86991" y="475488"/>
                </a:lnTo>
                <a:lnTo>
                  <a:pt x="68957" y="549656"/>
                </a:lnTo>
                <a:lnTo>
                  <a:pt x="52955" y="624967"/>
                </a:lnTo>
                <a:lnTo>
                  <a:pt x="39112" y="701548"/>
                </a:lnTo>
                <a:lnTo>
                  <a:pt x="27301" y="779018"/>
                </a:lnTo>
                <a:lnTo>
                  <a:pt x="17522" y="857250"/>
                </a:lnTo>
                <a:lnTo>
                  <a:pt x="9902" y="936498"/>
                </a:lnTo>
                <a:lnTo>
                  <a:pt x="4441" y="1016253"/>
                </a:lnTo>
                <a:lnTo>
                  <a:pt x="1139" y="1096645"/>
                </a:lnTo>
                <a:lnTo>
                  <a:pt x="0" y="1177798"/>
                </a:lnTo>
                <a:lnTo>
                  <a:pt x="377" y="1222628"/>
                </a:lnTo>
                <a:lnTo>
                  <a:pt x="1393" y="1267714"/>
                </a:lnTo>
                <a:lnTo>
                  <a:pt x="3044" y="1312672"/>
                </a:lnTo>
                <a:lnTo>
                  <a:pt x="5457" y="1357376"/>
                </a:lnTo>
                <a:lnTo>
                  <a:pt x="8505" y="1401826"/>
                </a:lnTo>
                <a:lnTo>
                  <a:pt x="12315" y="1446149"/>
                </a:lnTo>
                <a:lnTo>
                  <a:pt x="16760" y="1490218"/>
                </a:lnTo>
                <a:lnTo>
                  <a:pt x="21713" y="1534033"/>
                </a:lnTo>
                <a:lnTo>
                  <a:pt x="27428" y="1577721"/>
                </a:lnTo>
                <a:lnTo>
                  <a:pt x="33905" y="1621027"/>
                </a:lnTo>
                <a:lnTo>
                  <a:pt x="40890" y="1663953"/>
                </a:lnTo>
                <a:lnTo>
                  <a:pt x="48510" y="1706626"/>
                </a:lnTo>
                <a:lnTo>
                  <a:pt x="56765" y="1748917"/>
                </a:lnTo>
                <a:lnTo>
                  <a:pt x="65655" y="1790827"/>
                </a:lnTo>
                <a:lnTo>
                  <a:pt x="75180" y="1832483"/>
                </a:lnTo>
                <a:lnTo>
                  <a:pt x="85340" y="1873631"/>
                </a:lnTo>
                <a:lnTo>
                  <a:pt x="96262" y="1914398"/>
                </a:lnTo>
                <a:lnTo>
                  <a:pt x="107565" y="1954657"/>
                </a:lnTo>
                <a:lnTo>
                  <a:pt x="119630" y="1994535"/>
                </a:lnTo>
                <a:lnTo>
                  <a:pt x="132203" y="2034032"/>
                </a:lnTo>
                <a:lnTo>
                  <a:pt x="145284" y="2072894"/>
                </a:lnTo>
                <a:lnTo>
                  <a:pt x="159127" y="2111248"/>
                </a:lnTo>
                <a:lnTo>
                  <a:pt x="173478" y="2149094"/>
                </a:lnTo>
                <a:lnTo>
                  <a:pt x="188464" y="2186432"/>
                </a:lnTo>
                <a:lnTo>
                  <a:pt x="204085" y="2223262"/>
                </a:lnTo>
                <a:lnTo>
                  <a:pt x="220214" y="2259457"/>
                </a:lnTo>
                <a:lnTo>
                  <a:pt x="236978" y="2294890"/>
                </a:lnTo>
                <a:lnTo>
                  <a:pt x="254250" y="2329815"/>
                </a:lnTo>
                <a:lnTo>
                  <a:pt x="271903" y="2364232"/>
                </a:lnTo>
                <a:lnTo>
                  <a:pt x="285132" y="2387693"/>
                </a:lnTo>
                <a:lnTo>
                  <a:pt x="310148" y="2373090"/>
                </a:lnTo>
                <a:lnTo>
                  <a:pt x="297684" y="2350897"/>
                </a:lnTo>
                <a:lnTo>
                  <a:pt x="280158" y="2316988"/>
                </a:lnTo>
                <a:lnTo>
                  <a:pt x="263140" y="2282571"/>
                </a:lnTo>
                <a:lnTo>
                  <a:pt x="246630" y="2247646"/>
                </a:lnTo>
                <a:lnTo>
                  <a:pt x="230755" y="2211959"/>
                </a:lnTo>
                <a:lnTo>
                  <a:pt x="215388" y="2175637"/>
                </a:lnTo>
                <a:lnTo>
                  <a:pt x="200656" y="2138807"/>
                </a:lnTo>
                <a:lnTo>
                  <a:pt x="186432" y="2101469"/>
                </a:lnTo>
                <a:lnTo>
                  <a:pt x="172843" y="2063623"/>
                </a:lnTo>
                <a:lnTo>
                  <a:pt x="159762" y="2025142"/>
                </a:lnTo>
                <a:lnTo>
                  <a:pt x="147316" y="1986280"/>
                </a:lnTo>
                <a:lnTo>
                  <a:pt x="135505" y="1946783"/>
                </a:lnTo>
                <a:lnTo>
                  <a:pt x="124202" y="1907032"/>
                </a:lnTo>
                <a:lnTo>
                  <a:pt x="113534" y="1866646"/>
                </a:lnTo>
                <a:lnTo>
                  <a:pt x="103501" y="1825879"/>
                </a:lnTo>
                <a:lnTo>
                  <a:pt x="93976" y="1784858"/>
                </a:lnTo>
                <a:lnTo>
                  <a:pt x="85213" y="1743329"/>
                </a:lnTo>
                <a:lnTo>
                  <a:pt x="76958" y="1701419"/>
                </a:lnTo>
                <a:lnTo>
                  <a:pt x="69465" y="1659255"/>
                </a:lnTo>
                <a:lnTo>
                  <a:pt x="62480" y="1616710"/>
                </a:lnTo>
                <a:lnTo>
                  <a:pt x="56130" y="1573911"/>
                </a:lnTo>
                <a:lnTo>
                  <a:pt x="50542" y="1530731"/>
                </a:lnTo>
                <a:lnTo>
                  <a:pt x="45589" y="1487297"/>
                </a:lnTo>
                <a:lnTo>
                  <a:pt x="41144" y="1443736"/>
                </a:lnTo>
                <a:lnTo>
                  <a:pt x="37334" y="1399794"/>
                </a:lnTo>
                <a:lnTo>
                  <a:pt x="34413" y="1355725"/>
                </a:lnTo>
                <a:lnTo>
                  <a:pt x="32000" y="1311528"/>
                </a:lnTo>
                <a:lnTo>
                  <a:pt x="30222" y="1267078"/>
                </a:lnTo>
                <a:lnTo>
                  <a:pt x="29333" y="1222375"/>
                </a:lnTo>
                <a:lnTo>
                  <a:pt x="28958" y="1177417"/>
                </a:lnTo>
                <a:lnTo>
                  <a:pt x="30095" y="1097788"/>
                </a:lnTo>
                <a:lnTo>
                  <a:pt x="33270" y="1018286"/>
                </a:lnTo>
                <a:lnTo>
                  <a:pt x="38731" y="939164"/>
                </a:lnTo>
                <a:lnTo>
                  <a:pt x="46224" y="860806"/>
                </a:lnTo>
                <a:lnTo>
                  <a:pt x="55876" y="783336"/>
                </a:lnTo>
                <a:lnTo>
                  <a:pt x="67560" y="706627"/>
                </a:lnTo>
                <a:lnTo>
                  <a:pt x="81276" y="630936"/>
                </a:lnTo>
                <a:lnTo>
                  <a:pt x="97151" y="556387"/>
                </a:lnTo>
                <a:lnTo>
                  <a:pt x="114931" y="483108"/>
                </a:lnTo>
                <a:lnTo>
                  <a:pt x="134616" y="411099"/>
                </a:lnTo>
                <a:lnTo>
                  <a:pt x="156333" y="340487"/>
                </a:lnTo>
                <a:lnTo>
                  <a:pt x="179828" y="271525"/>
                </a:lnTo>
                <a:lnTo>
                  <a:pt x="205355" y="204215"/>
                </a:lnTo>
                <a:lnTo>
                  <a:pt x="232660" y="138684"/>
                </a:lnTo>
                <a:lnTo>
                  <a:pt x="261870" y="75057"/>
                </a:lnTo>
                <a:lnTo>
                  <a:pt x="293112" y="12953"/>
                </a:lnTo>
                <a:lnTo>
                  <a:pt x="267204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 txBox="1"/>
          <p:nvPr/>
        </p:nvSpPr>
        <p:spPr>
          <a:xfrm>
            <a:off x="392074" y="2953257"/>
            <a:ext cx="12763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α</a:t>
            </a:r>
            <a:r>
              <a:rPr sz="2000" b="1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磷</a:t>
            </a:r>
            <a:r>
              <a:rPr sz="2000" b="1" spc="5" dirty="0">
                <a:solidFill>
                  <a:srgbClr val="003366"/>
                </a:solidFill>
                <a:latin typeface="黑体"/>
                <a:cs typeface="黑体"/>
              </a:rPr>
              <a:t>酸甘</a:t>
            </a:r>
            <a:r>
              <a:rPr sz="2000" b="1" spc="-5" dirty="0">
                <a:solidFill>
                  <a:srgbClr val="003366"/>
                </a:solidFill>
                <a:latin typeface="黑体"/>
                <a:cs typeface="黑体"/>
              </a:rPr>
              <a:t>油</a:t>
            </a:r>
            <a:endParaRPr sz="2000">
              <a:latin typeface="黑体"/>
              <a:cs typeface="黑体"/>
            </a:endParaRPr>
          </a:p>
          <a:p>
            <a:pPr marL="285115">
              <a:lnSpc>
                <a:spcPct val="100000"/>
              </a:lnSpc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脱氢酶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91" name="object 291"/>
          <p:cNvSpPr/>
          <p:nvPr/>
        </p:nvSpPr>
        <p:spPr>
          <a:xfrm>
            <a:off x="7315200" y="1774698"/>
            <a:ext cx="114300" cy="647700"/>
          </a:xfrm>
          <a:custGeom>
            <a:avLst/>
            <a:gdLst/>
            <a:ahLst/>
            <a:cxnLst/>
            <a:rect l="l" t="t" r="r" b="b"/>
            <a:pathLst>
              <a:path w="114300" h="647700">
                <a:moveTo>
                  <a:pt x="76200" y="95250"/>
                </a:moveTo>
                <a:lnTo>
                  <a:pt x="38100" y="95250"/>
                </a:lnTo>
                <a:lnTo>
                  <a:pt x="38100" y="647700"/>
                </a:lnTo>
                <a:lnTo>
                  <a:pt x="76200" y="647700"/>
                </a:lnTo>
                <a:lnTo>
                  <a:pt x="76200" y="95250"/>
                </a:lnTo>
                <a:close/>
              </a:path>
              <a:path w="114300" h="6477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477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 txBox="1"/>
          <p:nvPr/>
        </p:nvSpPr>
        <p:spPr>
          <a:xfrm>
            <a:off x="4268978" y="3257753"/>
            <a:ext cx="4476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4340" algn="l"/>
              </a:tabLst>
            </a:pPr>
            <a:r>
              <a:rPr sz="2000" b="1" u="heavy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93" name="object 293"/>
          <p:cNvSpPr txBox="1"/>
          <p:nvPr/>
        </p:nvSpPr>
        <p:spPr>
          <a:xfrm>
            <a:off x="7384033" y="3257753"/>
            <a:ext cx="535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2605" algn="l"/>
              </a:tabLst>
            </a:pPr>
            <a:r>
              <a:rPr sz="2000" b="1" u="heavy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94" name="object 294"/>
          <p:cNvSpPr txBox="1"/>
          <p:nvPr/>
        </p:nvSpPr>
        <p:spPr>
          <a:xfrm>
            <a:off x="4268978" y="1368678"/>
            <a:ext cx="4470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3705" algn="l"/>
              </a:tabLst>
            </a:pPr>
            <a:r>
              <a:rPr sz="2000" b="1" u="heavy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95" name="object 295"/>
          <p:cNvSpPr txBox="1"/>
          <p:nvPr/>
        </p:nvSpPr>
        <p:spPr>
          <a:xfrm>
            <a:off x="6791197" y="1368678"/>
            <a:ext cx="951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heavy" strike="dblStrike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heavy" strike="dblStrike" spc="200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heavy" strike="dblStrike" spc="20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呼吸链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1982851" y="2808858"/>
            <a:ext cx="1562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磷酸</a:t>
            </a:r>
            <a:r>
              <a:rPr sz="2000" b="1" spc="5" dirty="0">
                <a:solidFill>
                  <a:srgbClr val="003366"/>
                </a:solidFill>
                <a:latin typeface="黑体"/>
                <a:cs typeface="黑体"/>
              </a:rPr>
              <a:t>二羟丙</a:t>
            </a:r>
            <a:r>
              <a:rPr sz="2000" b="1" spc="-5" dirty="0">
                <a:solidFill>
                  <a:srgbClr val="003366"/>
                </a:solidFill>
                <a:latin typeface="黑体"/>
                <a:cs typeface="黑体"/>
              </a:rPr>
              <a:t>酮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7384033" y="2666238"/>
            <a:ext cx="535940" cy="4737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325"/>
              </a:lnSpc>
              <a:spcBef>
                <a:spcPts val="130"/>
              </a:spcBef>
              <a:tabLst>
                <a:tab pos="375920" algn="l"/>
              </a:tabLst>
            </a:pPr>
            <a:r>
              <a:rPr sz="1300" b="1" u="heavy" strike="sngStrike" spc="5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r>
              <a:rPr sz="1300" b="1" u="heavy" strike="sngStrike" spc="15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2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2165"/>
              </a:lnSpc>
              <a:tabLst>
                <a:tab pos="522605" algn="l"/>
              </a:tabLst>
            </a:pPr>
            <a:r>
              <a:rPr sz="2000" b="1" u="dbl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98" name="object 298"/>
          <p:cNvSpPr txBox="1"/>
          <p:nvPr/>
        </p:nvSpPr>
        <p:spPr>
          <a:xfrm>
            <a:off x="4268978" y="2808858"/>
            <a:ext cx="4470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3705" algn="l"/>
              </a:tabLst>
            </a:pPr>
            <a:r>
              <a:rPr sz="2000" b="1" u="dbl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99" name="object 299"/>
          <p:cNvSpPr txBox="1"/>
          <p:nvPr/>
        </p:nvSpPr>
        <p:spPr>
          <a:xfrm>
            <a:off x="2318205" y="2355701"/>
            <a:ext cx="121475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936625" algn="l"/>
              </a:tabLst>
            </a:pP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CH</a:t>
            </a:r>
            <a:r>
              <a:rPr sz="1875" b="1" spc="30" baseline="-22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O-	</a:t>
            </a:r>
            <a:r>
              <a:rPr sz="2925" b="1" spc="22" baseline="-7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Pi</a:t>
            </a:r>
            <a:endParaRPr sz="2925" baseline="-7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00" name="object 300"/>
          <p:cNvSpPr txBox="1"/>
          <p:nvPr/>
        </p:nvSpPr>
        <p:spPr>
          <a:xfrm>
            <a:off x="2318205" y="1071371"/>
            <a:ext cx="91059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950" b="1" spc="2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CH</a:t>
            </a:r>
            <a:r>
              <a:rPr sz="1875" b="1" spc="37" baseline="-22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950" b="1" spc="2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OH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01" name="object 301"/>
          <p:cNvSpPr txBox="1"/>
          <p:nvPr/>
        </p:nvSpPr>
        <p:spPr>
          <a:xfrm>
            <a:off x="2343605" y="1736170"/>
            <a:ext cx="54864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950" b="1" spc="1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950" b="1" spc="1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=</a:t>
            </a:r>
            <a:r>
              <a:rPr sz="1950" b="1" spc="1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02" name="object 302"/>
          <p:cNvSpPr/>
          <p:nvPr/>
        </p:nvSpPr>
        <p:spPr>
          <a:xfrm>
            <a:off x="2442714" y="1373440"/>
            <a:ext cx="0" cy="414655"/>
          </a:xfrm>
          <a:custGeom>
            <a:avLst/>
            <a:gdLst/>
            <a:ahLst/>
            <a:cxnLst/>
            <a:rect l="l" t="t" r="r" b="b"/>
            <a:pathLst>
              <a:path h="414655">
                <a:moveTo>
                  <a:pt x="0" y="0"/>
                </a:moveTo>
                <a:lnTo>
                  <a:pt x="0" y="414301"/>
                </a:lnTo>
              </a:path>
            </a:pathLst>
          </a:custGeom>
          <a:ln w="9840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2442714" y="2044433"/>
            <a:ext cx="0" cy="332105"/>
          </a:xfrm>
          <a:custGeom>
            <a:avLst/>
            <a:gdLst/>
            <a:ahLst/>
            <a:cxnLst/>
            <a:rect l="l" t="t" r="r" b="b"/>
            <a:pathLst>
              <a:path h="332105">
                <a:moveTo>
                  <a:pt x="0" y="0"/>
                </a:moveTo>
                <a:lnTo>
                  <a:pt x="0" y="331792"/>
                </a:lnTo>
              </a:path>
            </a:pathLst>
          </a:custGeom>
          <a:ln w="9840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 txBox="1"/>
          <p:nvPr/>
        </p:nvSpPr>
        <p:spPr>
          <a:xfrm>
            <a:off x="4243578" y="2355701"/>
            <a:ext cx="203708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464820" algn="l"/>
                <a:tab pos="847725" algn="l"/>
                <a:tab pos="1746885" algn="l"/>
              </a:tabLst>
            </a:pPr>
            <a:r>
              <a:rPr sz="1950" b="1" u="dbl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	</a:t>
            </a: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CH</a:t>
            </a:r>
            <a:r>
              <a:rPr sz="1875" b="1" spc="30" baseline="-22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O-	</a:t>
            </a:r>
            <a:r>
              <a:rPr sz="2925" b="1" spc="22" baseline="-7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Pi</a:t>
            </a:r>
            <a:endParaRPr sz="2925" baseline="-7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05" name="object 305"/>
          <p:cNvSpPr txBox="1"/>
          <p:nvPr/>
        </p:nvSpPr>
        <p:spPr>
          <a:xfrm>
            <a:off x="4243577" y="1071372"/>
            <a:ext cx="173355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464820" algn="l"/>
                <a:tab pos="847725" algn="l"/>
              </a:tabLst>
            </a:pPr>
            <a:r>
              <a:rPr sz="1950" b="1" u="heavy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	</a:t>
            </a:r>
            <a:r>
              <a:rPr sz="1950" b="1" spc="2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CH</a:t>
            </a:r>
            <a:r>
              <a:rPr sz="1875" b="1" spc="37" baseline="-22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950" b="1" spc="2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OH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06" name="object 306"/>
          <p:cNvSpPr txBox="1"/>
          <p:nvPr/>
        </p:nvSpPr>
        <p:spPr>
          <a:xfrm>
            <a:off x="6791197" y="1071372"/>
            <a:ext cx="1134110" cy="3257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tabLst>
                <a:tab pos="529590" algn="l"/>
                <a:tab pos="1120775" algn="l"/>
              </a:tabLst>
            </a:pPr>
            <a:r>
              <a:rPr sz="1950" b="1" u="heavy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5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950" b="1" u="heavy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heavy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07" name="object 307"/>
          <p:cNvSpPr txBox="1"/>
          <p:nvPr/>
        </p:nvSpPr>
        <p:spPr>
          <a:xfrm>
            <a:off x="4268977" y="1736170"/>
            <a:ext cx="135890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39420" algn="l"/>
                <a:tab pos="822325" algn="l"/>
              </a:tabLst>
            </a:pPr>
            <a:r>
              <a:rPr sz="1950" b="1" u="dbl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	</a:t>
            </a:r>
            <a:r>
              <a:rPr sz="1950" b="1" spc="1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950" b="1" spc="1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=</a:t>
            </a:r>
            <a:r>
              <a:rPr sz="1950" b="1" spc="1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08" name="object 308"/>
          <p:cNvSpPr/>
          <p:nvPr/>
        </p:nvSpPr>
        <p:spPr>
          <a:xfrm>
            <a:off x="5178294" y="1373440"/>
            <a:ext cx="0" cy="414655"/>
          </a:xfrm>
          <a:custGeom>
            <a:avLst/>
            <a:gdLst/>
            <a:ahLst/>
            <a:cxnLst/>
            <a:rect l="l" t="t" r="r" b="b"/>
            <a:pathLst>
              <a:path h="414655">
                <a:moveTo>
                  <a:pt x="0" y="0"/>
                </a:moveTo>
                <a:lnTo>
                  <a:pt x="0" y="414301"/>
                </a:lnTo>
              </a:path>
            </a:pathLst>
          </a:custGeom>
          <a:ln w="9840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 txBox="1"/>
          <p:nvPr/>
        </p:nvSpPr>
        <p:spPr>
          <a:xfrm>
            <a:off x="7384033" y="1736170"/>
            <a:ext cx="54165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27685" algn="l"/>
              </a:tabLst>
            </a:pPr>
            <a:r>
              <a:rPr sz="1950" b="1" u="dbl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10" name="object 310"/>
          <p:cNvSpPr/>
          <p:nvPr/>
        </p:nvSpPr>
        <p:spPr>
          <a:xfrm>
            <a:off x="5178294" y="2044433"/>
            <a:ext cx="0" cy="332105"/>
          </a:xfrm>
          <a:custGeom>
            <a:avLst/>
            <a:gdLst/>
            <a:ahLst/>
            <a:cxnLst/>
            <a:rect l="l" t="t" r="r" b="b"/>
            <a:pathLst>
              <a:path h="332105">
                <a:moveTo>
                  <a:pt x="0" y="0"/>
                </a:moveTo>
                <a:lnTo>
                  <a:pt x="0" y="331792"/>
                </a:lnTo>
              </a:path>
            </a:pathLst>
          </a:custGeom>
          <a:ln w="9840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 txBox="1"/>
          <p:nvPr/>
        </p:nvSpPr>
        <p:spPr>
          <a:xfrm>
            <a:off x="4268978" y="5330444"/>
            <a:ext cx="447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05" algn="l"/>
              </a:tabLst>
            </a:pPr>
            <a:r>
              <a:rPr sz="2000" b="1" u="dbl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12" name="object 312"/>
          <p:cNvSpPr txBox="1"/>
          <p:nvPr/>
        </p:nvSpPr>
        <p:spPr>
          <a:xfrm>
            <a:off x="6791197" y="5330444"/>
            <a:ext cx="1128395" cy="33083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23875" algn="l"/>
                <a:tab pos="1115060" algn="l"/>
              </a:tabLst>
            </a:pPr>
            <a:r>
              <a:rPr sz="2000" b="1" u="dbl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r>
              <a:rPr sz="2000" b="1" spc="14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dbl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13" name="object 313"/>
          <p:cNvSpPr txBox="1"/>
          <p:nvPr/>
        </p:nvSpPr>
        <p:spPr>
          <a:xfrm>
            <a:off x="2093976" y="4732896"/>
            <a:ext cx="1365250" cy="928369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280"/>
              </a:spcBef>
              <a:tabLst>
                <a:tab pos="1088390" algn="l"/>
              </a:tabLst>
            </a:pP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CH</a:t>
            </a:r>
            <a:r>
              <a:rPr sz="1875" b="1" spc="30" baseline="-22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O-	</a:t>
            </a:r>
            <a:r>
              <a:rPr sz="2925" b="1" spc="22" baseline="-4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Pi</a:t>
            </a:r>
            <a:endParaRPr sz="2925" baseline="-4000">
              <a:latin typeface="Arial" panose="020B0604020202090204"/>
              <a:cs typeface="Arial" panose="020B0604020202090204"/>
            </a:endParaRPr>
          </a:p>
          <a:p>
            <a:pPr marL="38100">
              <a:lnSpc>
                <a:spcPct val="100000"/>
              </a:lnSpc>
              <a:spcBef>
                <a:spcPts val="1190"/>
              </a:spcBef>
            </a:pPr>
            <a:r>
              <a:rPr sz="2000" b="1" spc="-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α-</a:t>
            </a:r>
            <a:r>
              <a:rPr sz="2000" b="1" spc="15" dirty="0">
                <a:solidFill>
                  <a:srgbClr val="003366"/>
                </a:solidFill>
                <a:latin typeface="黑体"/>
                <a:cs typeface="黑体"/>
              </a:rPr>
              <a:t>磷</a:t>
            </a:r>
            <a:r>
              <a:rPr sz="2000" b="1" spc="5" dirty="0">
                <a:solidFill>
                  <a:srgbClr val="003366"/>
                </a:solidFill>
                <a:latin typeface="黑体"/>
                <a:cs typeface="黑体"/>
              </a:rPr>
              <a:t>酸甘</a:t>
            </a:r>
            <a:r>
              <a:rPr sz="2000" b="1" spc="-5" dirty="0">
                <a:solidFill>
                  <a:srgbClr val="003366"/>
                </a:solidFill>
                <a:latin typeface="黑体"/>
                <a:cs typeface="黑体"/>
              </a:rPr>
              <a:t>油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314" name="object 314"/>
          <p:cNvSpPr txBox="1"/>
          <p:nvPr/>
        </p:nvSpPr>
        <p:spPr>
          <a:xfrm>
            <a:off x="2246474" y="3663772"/>
            <a:ext cx="909955" cy="326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CH</a:t>
            </a:r>
            <a:r>
              <a:rPr sz="1875" b="1" spc="30" baseline="-22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OH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15" name="object 315"/>
          <p:cNvSpPr txBox="1"/>
          <p:nvPr/>
        </p:nvSpPr>
        <p:spPr>
          <a:xfrm>
            <a:off x="2271874" y="4294765"/>
            <a:ext cx="768350" cy="326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2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950" b="1" spc="25" dirty="0">
                <a:solidFill>
                  <a:srgbClr val="FF5050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950" b="1" spc="2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950" b="1" spc="15" dirty="0">
                <a:solidFill>
                  <a:srgbClr val="FF5050"/>
                </a:solidFill>
                <a:latin typeface="Arial" panose="020B0604020202090204"/>
                <a:cs typeface="Arial" panose="020B0604020202090204"/>
              </a:rPr>
              <a:t>H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16" name="object 316"/>
          <p:cNvSpPr/>
          <p:nvPr/>
        </p:nvSpPr>
        <p:spPr>
          <a:xfrm>
            <a:off x="2370887" y="3948022"/>
            <a:ext cx="0" cy="393065"/>
          </a:xfrm>
          <a:custGeom>
            <a:avLst/>
            <a:gdLst/>
            <a:ahLst/>
            <a:cxnLst/>
            <a:rect l="l" t="t" r="r" b="b"/>
            <a:pathLst>
              <a:path h="393064">
                <a:moveTo>
                  <a:pt x="0" y="0"/>
                </a:moveTo>
                <a:lnTo>
                  <a:pt x="0" y="392443"/>
                </a:lnTo>
              </a:path>
            </a:pathLst>
          </a:custGeom>
          <a:ln w="9829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2370887" y="4581874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0"/>
                </a:moveTo>
                <a:lnTo>
                  <a:pt x="0" y="313800"/>
                </a:lnTo>
              </a:path>
            </a:pathLst>
          </a:custGeom>
          <a:ln w="9829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 txBox="1"/>
          <p:nvPr/>
        </p:nvSpPr>
        <p:spPr>
          <a:xfrm>
            <a:off x="6791197" y="4899058"/>
            <a:ext cx="1134110" cy="3263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tabLst>
                <a:tab pos="529590" algn="l"/>
                <a:tab pos="1120775" algn="l"/>
              </a:tabLst>
            </a:pPr>
            <a:r>
              <a:rPr sz="1950" b="1" u="dbl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5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950" b="1" u="dbl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dbl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19" name="object 319"/>
          <p:cNvSpPr txBox="1"/>
          <p:nvPr/>
        </p:nvSpPr>
        <p:spPr>
          <a:xfrm>
            <a:off x="4243577" y="4880102"/>
            <a:ext cx="1965325" cy="326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465455" algn="l"/>
                <a:tab pos="776605" algn="l"/>
                <a:tab pos="1675130" algn="l"/>
              </a:tabLst>
            </a:pPr>
            <a:r>
              <a:rPr sz="1950" b="1" u="heavy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	</a:t>
            </a: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CH</a:t>
            </a:r>
            <a:r>
              <a:rPr sz="1875" b="1" spc="30" baseline="-22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950" b="1" spc="2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O-	</a:t>
            </a:r>
            <a:r>
              <a:rPr sz="2925" b="1" spc="22" baseline="-4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Pi</a:t>
            </a:r>
            <a:endParaRPr sz="2925" baseline="-4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0" name="object 320"/>
          <p:cNvSpPr txBox="1"/>
          <p:nvPr/>
        </p:nvSpPr>
        <p:spPr>
          <a:xfrm>
            <a:off x="4243577" y="3663772"/>
            <a:ext cx="1662430" cy="326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464820" algn="l"/>
                <a:tab pos="776605" algn="l"/>
              </a:tabLst>
            </a:pPr>
            <a:r>
              <a:rPr sz="1950" b="1" u="heavy" spc="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	</a:t>
            </a:r>
            <a:r>
              <a:rPr sz="1950" b="1" spc="2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CH</a:t>
            </a:r>
            <a:r>
              <a:rPr sz="1875" b="1" spc="37" baseline="-2200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950" b="1" spc="2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OH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1" name="object 321"/>
          <p:cNvSpPr txBox="1"/>
          <p:nvPr/>
        </p:nvSpPr>
        <p:spPr>
          <a:xfrm>
            <a:off x="4268977" y="4294765"/>
            <a:ext cx="1508125" cy="326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39420" algn="l"/>
                <a:tab pos="751205" algn="l"/>
              </a:tabLst>
            </a:pPr>
            <a:r>
              <a:rPr sz="1950" b="1" u="heavy" spc="5" dirty="0">
                <a:solidFill>
                  <a:srgbClr val="FF5050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5" dirty="0">
                <a:solidFill>
                  <a:srgbClr val="FF5050"/>
                </a:solidFill>
                <a:latin typeface="Arial" panose="020B0604020202090204"/>
                <a:cs typeface="Arial" panose="020B0604020202090204"/>
              </a:rPr>
              <a:t>	</a:t>
            </a:r>
            <a:r>
              <a:rPr sz="1950" b="1" spc="2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950" b="1" spc="25" dirty="0">
                <a:solidFill>
                  <a:srgbClr val="FF5050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950" b="1" spc="3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950" b="1" spc="15" dirty="0">
                <a:solidFill>
                  <a:srgbClr val="FF5050"/>
                </a:solidFill>
                <a:latin typeface="Arial" panose="020B0604020202090204"/>
                <a:cs typeface="Arial" panose="020B0604020202090204"/>
              </a:rPr>
              <a:t>H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2" name="object 322"/>
          <p:cNvSpPr/>
          <p:nvPr/>
        </p:nvSpPr>
        <p:spPr>
          <a:xfrm>
            <a:off x="5106666" y="3948022"/>
            <a:ext cx="0" cy="393065"/>
          </a:xfrm>
          <a:custGeom>
            <a:avLst/>
            <a:gdLst/>
            <a:ahLst/>
            <a:cxnLst/>
            <a:rect l="l" t="t" r="r" b="b"/>
            <a:pathLst>
              <a:path h="393064">
                <a:moveTo>
                  <a:pt x="0" y="0"/>
                </a:moveTo>
                <a:lnTo>
                  <a:pt x="0" y="392443"/>
                </a:lnTo>
              </a:path>
            </a:pathLst>
          </a:custGeom>
          <a:ln w="9840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 txBox="1"/>
          <p:nvPr/>
        </p:nvSpPr>
        <p:spPr>
          <a:xfrm>
            <a:off x="6791197" y="4294765"/>
            <a:ext cx="1134110" cy="3263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tabLst>
                <a:tab pos="529590" algn="l"/>
                <a:tab pos="1120775" algn="l"/>
              </a:tabLst>
            </a:pPr>
            <a:r>
              <a:rPr sz="1950" b="1" u="dbl" spc="5" dirty="0">
                <a:solidFill>
                  <a:srgbClr val="FF5050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50" dirty="0">
                <a:solidFill>
                  <a:srgbClr val="FF5050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950" b="1" u="dbl" spc="5" dirty="0">
                <a:solidFill>
                  <a:srgbClr val="FF5050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dbl" dirty="0">
                <a:solidFill>
                  <a:srgbClr val="FF5050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1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4" name="object 324"/>
          <p:cNvSpPr/>
          <p:nvPr/>
        </p:nvSpPr>
        <p:spPr>
          <a:xfrm>
            <a:off x="5106666" y="4581874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0"/>
                </a:moveTo>
                <a:lnTo>
                  <a:pt x="0" y="313800"/>
                </a:lnTo>
              </a:path>
            </a:pathLst>
          </a:custGeom>
          <a:ln w="9840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1029081"/>
            <a:ext cx="42418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 panose="02020503050405090304"/>
                <a:cs typeface="Times New Roman" panose="02020503050405090304"/>
              </a:rPr>
              <a:t>2.</a:t>
            </a:r>
            <a:r>
              <a:rPr sz="3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15" dirty="0"/>
              <a:t>苹果</a:t>
            </a:r>
            <a:r>
              <a:rPr sz="3200" spc="-5" dirty="0"/>
              <a:t>酸</a:t>
            </a:r>
            <a:r>
              <a:rPr sz="3200" spc="-15" dirty="0">
                <a:latin typeface="Times New Roman" panose="02020503050405090304"/>
                <a:cs typeface="Times New Roman" panose="02020503050405090304"/>
              </a:rPr>
              <a:t>-</a:t>
            </a:r>
            <a:r>
              <a:rPr sz="3200" spc="-5" dirty="0"/>
              <a:t>天冬</a:t>
            </a:r>
            <a:r>
              <a:rPr sz="3200" spc="-10" dirty="0"/>
              <a:t>氨</a:t>
            </a:r>
            <a:r>
              <a:rPr sz="3200" spc="-5" dirty="0"/>
              <a:t>酸穿</a:t>
            </a:r>
            <a:r>
              <a:rPr sz="3200" spc="-10" dirty="0"/>
              <a:t>梭</a:t>
            </a:r>
            <a:endParaRPr sz="3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740" y="2273934"/>
            <a:ext cx="7105650" cy="1726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0000FF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050" spc="29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dirty="0">
                <a:latin typeface="黑体"/>
                <a:cs typeface="黑体"/>
              </a:rPr>
              <a:t>主要存在于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肝</a:t>
            </a:r>
            <a:r>
              <a:rPr sz="2400" b="1" dirty="0">
                <a:latin typeface="黑体"/>
                <a:cs typeface="黑体"/>
              </a:rPr>
              <a:t>和</a:t>
            </a:r>
            <a:r>
              <a:rPr sz="2400" b="1" dirty="0">
                <a:solidFill>
                  <a:srgbClr val="0000FF"/>
                </a:solidFill>
                <a:latin typeface="黑体"/>
                <a:cs typeface="黑体"/>
              </a:rPr>
              <a:t>心肌</a:t>
            </a:r>
            <a:r>
              <a:rPr sz="2400" b="1" spc="-10" dirty="0">
                <a:latin typeface="黑体"/>
                <a:cs typeface="黑体"/>
              </a:rPr>
              <a:t>中</a:t>
            </a:r>
            <a:endParaRPr sz="2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5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50" spc="-10" dirty="0">
                <a:solidFill>
                  <a:srgbClr val="0000FF"/>
                </a:solidFill>
                <a:latin typeface="Wingdings" panose="05000000000000000000"/>
                <a:cs typeface="Wingdings" panose="05000000000000000000"/>
              </a:rPr>
              <a:t></a:t>
            </a:r>
            <a:r>
              <a:rPr sz="2050" spc="27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400" b="1" spc="-5" dirty="0">
                <a:latin typeface="黑体"/>
                <a:cs typeface="黑体"/>
              </a:rPr>
              <a:t>糖酵解途径中产生</a:t>
            </a:r>
            <a:r>
              <a:rPr sz="2400" b="1" dirty="0">
                <a:latin typeface="黑体"/>
                <a:cs typeface="黑体"/>
              </a:rPr>
              <a:t>的</a:t>
            </a:r>
            <a:r>
              <a:rPr sz="2400" b="1" spc="-5" dirty="0"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400" b="1" spc="-5" dirty="0">
                <a:latin typeface="黑体"/>
                <a:cs typeface="黑体"/>
              </a:rPr>
              <a:t>进入线粒体，重新生成</a:t>
            </a:r>
            <a:endParaRPr sz="2400">
              <a:latin typeface="黑体"/>
              <a:cs typeface="黑体"/>
            </a:endParaRPr>
          </a:p>
          <a:p>
            <a:pPr marL="299085">
              <a:lnSpc>
                <a:spcPct val="100000"/>
              </a:lnSpc>
              <a:spcBef>
                <a:spcPts val="1440"/>
              </a:spcBef>
            </a:pPr>
            <a:r>
              <a:rPr sz="2400" b="1" spc="-5" dirty="0"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400" b="1" spc="-5" dirty="0">
                <a:latin typeface="黑体"/>
                <a:cs typeface="黑体"/>
              </a:rPr>
              <a:t>，</a:t>
            </a:r>
            <a:r>
              <a:rPr sz="2400" b="1" dirty="0">
                <a:latin typeface="黑体"/>
                <a:cs typeface="黑体"/>
              </a:rPr>
              <a:t>进入</a:t>
            </a:r>
            <a:r>
              <a:rPr sz="2400" b="1" spc="-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NADH</a:t>
            </a:r>
            <a:r>
              <a:rPr sz="2400" b="1" dirty="0">
                <a:latin typeface="黑体"/>
                <a:cs typeface="黑体"/>
              </a:rPr>
              <a:t>氧化呼吸链，生</a:t>
            </a:r>
            <a:r>
              <a:rPr sz="2400" b="1" spc="5" dirty="0">
                <a:latin typeface="黑体"/>
                <a:cs typeface="黑体"/>
              </a:rPr>
              <a:t>成</a:t>
            </a:r>
            <a:r>
              <a:rPr sz="2400" b="1" spc="-3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2.5ATP</a:t>
            </a:r>
            <a:endParaRPr sz="24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6320" y="6918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846320" y="6918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46320" y="809244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5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1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59" y="59435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46320" y="809244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59" y="59435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1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5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46320" y="928116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59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46320" y="928116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59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46320" y="104698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59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46320" y="104698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59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46320" y="1165860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46320" y="1165860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46320" y="12847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46320" y="12847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46320" y="14036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46320" y="14036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46320" y="15209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46320" y="15209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46320" y="16398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46320" y="16398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846320" y="17586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46320" y="17586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846320" y="18760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46320" y="18760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46320" y="199491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846320" y="199491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846320" y="21153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46320" y="21153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846320" y="222808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59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846320" y="222808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59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846320" y="23515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846320" y="23515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846320" y="247040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846320" y="247040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846320" y="258775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846320" y="258775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46320" y="27066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846320" y="27066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846320" y="28254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846320" y="28254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846320" y="2942844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5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1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59" y="59435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846320" y="2942844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59" y="59435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1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5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846320" y="306323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846320" y="306323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846320" y="31821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846320" y="31821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846320" y="329945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846320" y="329945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846320" y="34183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846320" y="34183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846320" y="35372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846320" y="35372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846320" y="36545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846320" y="36545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846320" y="37734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846320" y="37734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846320" y="389229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846320" y="389229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846320" y="40096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846320" y="40096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846320" y="412851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846320" y="412851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846320" y="4247388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846320" y="4247388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846320" y="4364735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1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59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846320" y="4364735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59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1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846320" y="448360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59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846320" y="448360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59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846320" y="4607052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59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846320" y="4607052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59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846320" y="47213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846320" y="47213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846320" y="484327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846320" y="484327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846320" y="4959096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5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1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59" y="59435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846320" y="4959096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59" y="59435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1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5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846320" y="5077967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846320" y="5077967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846320" y="5196840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846320" y="5196840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846320" y="53157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846320" y="53157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846320" y="543305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59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846320" y="543305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846320" y="55519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8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59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846320" y="55519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59" y="58674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8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846320" y="56708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4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8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59" y="58674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846320" y="56708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59" y="58674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8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4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846320" y="57881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4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8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59" y="58674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846320" y="57881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59" y="58674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8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4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846320" y="59070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3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7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59" y="58673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846320" y="59070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59" y="58673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7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3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846320" y="602589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3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7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59" y="58673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846320" y="602589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59" y="58673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7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3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846320" y="61432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3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7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59" y="58673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846320" y="61432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59" y="58673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7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3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846320" y="626211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4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8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59" y="58674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846320" y="626211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59" y="58674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8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4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152900" y="6918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152900" y="6918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152900" y="809244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5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1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60" y="59435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152900" y="809244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60" y="59435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1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5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152900" y="928116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60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152900" y="928116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60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152900" y="104698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60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152900" y="104698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60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152900" y="1165860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152900" y="1165860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152900" y="12847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152900" y="12847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152900" y="14036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152900" y="14036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152900" y="15209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152900" y="15209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152900" y="16398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152900" y="16398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152900" y="17586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4152900" y="17586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4152900" y="18760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152900" y="18760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4152900" y="199491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152900" y="199491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152900" y="21153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152900" y="21153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152900" y="222808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60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152900" y="222808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60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152900" y="23515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152900" y="23515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152900" y="247040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152900" y="247040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152900" y="258775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152900" y="258775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4152900" y="27066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4152900" y="27066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4152900" y="28254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4152900" y="282549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4152900" y="2942844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5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1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60" y="59435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4152900" y="2942844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80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60" y="59435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1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5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4152900" y="306323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4152900" y="306323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4152900" y="31821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4152900" y="31821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4152900" y="329945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152900" y="329945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152900" y="34183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4152900" y="34183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4152900" y="35372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152900" y="35372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152900" y="36545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152900" y="36545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4152900" y="37734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4152900" y="37734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4152900" y="389229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4152900" y="389229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4152900" y="40096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152900" y="40096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152900" y="412851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152900" y="412851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4152900" y="4247388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4152900" y="4247388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4152900" y="4364735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1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60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4152900" y="4364735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60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1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4152900" y="448360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60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4152900" y="4483608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60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4152900" y="4607052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6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2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60" y="59436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152900" y="4607052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60" y="59436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2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6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4152900" y="47213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4152900" y="47213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152900" y="484327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4152900" y="484327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4152900" y="4959096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30271" y="4679"/>
                </a:lnTo>
                <a:lnTo>
                  <a:pt x="14525" y="17430"/>
                </a:lnTo>
                <a:lnTo>
                  <a:pt x="3899" y="36325"/>
                </a:lnTo>
                <a:lnTo>
                  <a:pt x="0" y="59435"/>
                </a:lnTo>
                <a:lnTo>
                  <a:pt x="3899" y="82546"/>
                </a:lnTo>
                <a:lnTo>
                  <a:pt x="14525" y="101441"/>
                </a:lnTo>
                <a:lnTo>
                  <a:pt x="30271" y="114192"/>
                </a:lnTo>
                <a:lnTo>
                  <a:pt x="49529" y="118871"/>
                </a:lnTo>
                <a:lnTo>
                  <a:pt x="68788" y="114192"/>
                </a:lnTo>
                <a:lnTo>
                  <a:pt x="84534" y="101441"/>
                </a:lnTo>
                <a:lnTo>
                  <a:pt x="95160" y="82546"/>
                </a:lnTo>
                <a:lnTo>
                  <a:pt x="99060" y="59435"/>
                </a:lnTo>
                <a:lnTo>
                  <a:pt x="95160" y="36325"/>
                </a:lnTo>
                <a:lnTo>
                  <a:pt x="84534" y="17430"/>
                </a:lnTo>
                <a:lnTo>
                  <a:pt x="68788" y="4679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4152900" y="4959096"/>
            <a:ext cx="99060" cy="119380"/>
          </a:xfrm>
          <a:custGeom>
            <a:avLst/>
            <a:gdLst/>
            <a:ahLst/>
            <a:cxnLst/>
            <a:rect l="l" t="t" r="r" b="b"/>
            <a:pathLst>
              <a:path w="99060" h="119379">
                <a:moveTo>
                  <a:pt x="49529" y="0"/>
                </a:moveTo>
                <a:lnTo>
                  <a:pt x="68788" y="4679"/>
                </a:lnTo>
                <a:lnTo>
                  <a:pt x="84534" y="17430"/>
                </a:lnTo>
                <a:lnTo>
                  <a:pt x="95160" y="36325"/>
                </a:lnTo>
                <a:lnTo>
                  <a:pt x="99060" y="59435"/>
                </a:lnTo>
                <a:lnTo>
                  <a:pt x="95160" y="82546"/>
                </a:lnTo>
                <a:lnTo>
                  <a:pt x="84534" y="101441"/>
                </a:lnTo>
                <a:lnTo>
                  <a:pt x="68788" y="114192"/>
                </a:lnTo>
                <a:lnTo>
                  <a:pt x="49529" y="118871"/>
                </a:lnTo>
                <a:lnTo>
                  <a:pt x="30271" y="114192"/>
                </a:lnTo>
                <a:lnTo>
                  <a:pt x="14525" y="101441"/>
                </a:lnTo>
                <a:lnTo>
                  <a:pt x="3899" y="82546"/>
                </a:lnTo>
                <a:lnTo>
                  <a:pt x="0" y="59435"/>
                </a:lnTo>
                <a:lnTo>
                  <a:pt x="3899" y="36325"/>
                </a:lnTo>
                <a:lnTo>
                  <a:pt x="14525" y="17430"/>
                </a:lnTo>
                <a:lnTo>
                  <a:pt x="30271" y="4679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152900" y="5077967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4152900" y="5077967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4152900" y="5196840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8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4152900" y="5196840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8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4152900" y="53157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4152900" y="5315711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4152900" y="543305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3"/>
                </a:lnTo>
                <a:lnTo>
                  <a:pt x="3899" y="81504"/>
                </a:lnTo>
                <a:lnTo>
                  <a:pt x="14525" y="100155"/>
                </a:lnTo>
                <a:lnTo>
                  <a:pt x="30271" y="112734"/>
                </a:lnTo>
                <a:lnTo>
                  <a:pt x="49529" y="117347"/>
                </a:lnTo>
                <a:lnTo>
                  <a:pt x="68788" y="112734"/>
                </a:lnTo>
                <a:lnTo>
                  <a:pt x="84534" y="100155"/>
                </a:lnTo>
                <a:lnTo>
                  <a:pt x="95160" y="81504"/>
                </a:lnTo>
                <a:lnTo>
                  <a:pt x="99060" y="58673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4152900" y="5433059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3"/>
                </a:lnTo>
                <a:lnTo>
                  <a:pt x="95160" y="81504"/>
                </a:lnTo>
                <a:lnTo>
                  <a:pt x="84534" y="100155"/>
                </a:lnTo>
                <a:lnTo>
                  <a:pt x="68788" y="112734"/>
                </a:lnTo>
                <a:lnTo>
                  <a:pt x="49529" y="117347"/>
                </a:lnTo>
                <a:lnTo>
                  <a:pt x="30271" y="112734"/>
                </a:lnTo>
                <a:lnTo>
                  <a:pt x="14525" y="100155"/>
                </a:lnTo>
                <a:lnTo>
                  <a:pt x="3899" y="81504"/>
                </a:lnTo>
                <a:lnTo>
                  <a:pt x="0" y="58673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4152900" y="55519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3"/>
                </a:lnTo>
                <a:lnTo>
                  <a:pt x="14525" y="17192"/>
                </a:lnTo>
                <a:lnTo>
                  <a:pt x="3899" y="35843"/>
                </a:lnTo>
                <a:lnTo>
                  <a:pt x="0" y="58674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8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60" y="58674"/>
                </a:lnTo>
                <a:lnTo>
                  <a:pt x="95160" y="35843"/>
                </a:lnTo>
                <a:lnTo>
                  <a:pt x="84534" y="17192"/>
                </a:lnTo>
                <a:lnTo>
                  <a:pt x="68788" y="4613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4152900" y="555193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3"/>
                </a:lnTo>
                <a:lnTo>
                  <a:pt x="84534" y="17192"/>
                </a:lnTo>
                <a:lnTo>
                  <a:pt x="95160" y="35843"/>
                </a:lnTo>
                <a:lnTo>
                  <a:pt x="99060" y="58674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8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4"/>
                </a:lnTo>
                <a:lnTo>
                  <a:pt x="3899" y="35843"/>
                </a:lnTo>
                <a:lnTo>
                  <a:pt x="14525" y="17192"/>
                </a:lnTo>
                <a:lnTo>
                  <a:pt x="30271" y="4613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4152900" y="56708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4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8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60" y="58674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4152900" y="567080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60" y="58674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8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4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4152900" y="57881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4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8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60" y="58674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4152900" y="5788152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60" y="58674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8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4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4152900" y="59070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3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7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60" y="58673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4152900" y="5907023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60" y="58673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7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3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152900" y="602589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3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7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60" y="58673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152900" y="6025896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60" y="58673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7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3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152900" y="61432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3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7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60" y="58673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152900" y="6143244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60" y="58673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7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3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4152900" y="626211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30271" y="4610"/>
                </a:lnTo>
                <a:lnTo>
                  <a:pt x="14525" y="17183"/>
                </a:lnTo>
                <a:lnTo>
                  <a:pt x="3899" y="35833"/>
                </a:lnTo>
                <a:lnTo>
                  <a:pt x="0" y="58674"/>
                </a:lnTo>
                <a:lnTo>
                  <a:pt x="3899" y="81514"/>
                </a:lnTo>
                <a:lnTo>
                  <a:pt x="14525" y="100164"/>
                </a:lnTo>
                <a:lnTo>
                  <a:pt x="30271" y="112737"/>
                </a:lnTo>
                <a:lnTo>
                  <a:pt x="49529" y="117348"/>
                </a:lnTo>
                <a:lnTo>
                  <a:pt x="68788" y="112737"/>
                </a:lnTo>
                <a:lnTo>
                  <a:pt x="84534" y="100164"/>
                </a:lnTo>
                <a:lnTo>
                  <a:pt x="95160" y="81514"/>
                </a:lnTo>
                <a:lnTo>
                  <a:pt x="99060" y="58674"/>
                </a:lnTo>
                <a:lnTo>
                  <a:pt x="95160" y="35833"/>
                </a:lnTo>
                <a:lnTo>
                  <a:pt x="84534" y="17183"/>
                </a:lnTo>
                <a:lnTo>
                  <a:pt x="68788" y="4610"/>
                </a:lnTo>
                <a:lnTo>
                  <a:pt x="49529" y="0"/>
                </a:lnTo>
                <a:close/>
              </a:path>
            </a:pathLst>
          </a:custGeom>
          <a:solidFill>
            <a:srgbClr val="AC7A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4152900" y="6262115"/>
            <a:ext cx="99060" cy="117475"/>
          </a:xfrm>
          <a:custGeom>
            <a:avLst/>
            <a:gdLst/>
            <a:ahLst/>
            <a:cxnLst/>
            <a:rect l="l" t="t" r="r" b="b"/>
            <a:pathLst>
              <a:path w="99060" h="117475">
                <a:moveTo>
                  <a:pt x="49529" y="0"/>
                </a:moveTo>
                <a:lnTo>
                  <a:pt x="68788" y="4610"/>
                </a:lnTo>
                <a:lnTo>
                  <a:pt x="84534" y="17183"/>
                </a:lnTo>
                <a:lnTo>
                  <a:pt x="95160" y="35833"/>
                </a:lnTo>
                <a:lnTo>
                  <a:pt x="99060" y="58674"/>
                </a:lnTo>
                <a:lnTo>
                  <a:pt x="95160" y="81514"/>
                </a:lnTo>
                <a:lnTo>
                  <a:pt x="84534" y="100164"/>
                </a:lnTo>
                <a:lnTo>
                  <a:pt x="68788" y="112737"/>
                </a:lnTo>
                <a:lnTo>
                  <a:pt x="49529" y="117348"/>
                </a:lnTo>
                <a:lnTo>
                  <a:pt x="30271" y="112737"/>
                </a:lnTo>
                <a:lnTo>
                  <a:pt x="14525" y="100164"/>
                </a:lnTo>
                <a:lnTo>
                  <a:pt x="3899" y="81514"/>
                </a:lnTo>
                <a:lnTo>
                  <a:pt x="0" y="58674"/>
                </a:lnTo>
                <a:lnTo>
                  <a:pt x="3899" y="35833"/>
                </a:lnTo>
                <a:lnTo>
                  <a:pt x="14525" y="17183"/>
                </a:lnTo>
                <a:lnTo>
                  <a:pt x="30271" y="4610"/>
                </a:lnTo>
                <a:lnTo>
                  <a:pt x="49529" y="0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4600194" y="73533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4600194" y="7795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4600194" y="88468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4600194" y="119557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4600194" y="123977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4600194" y="159486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4600194" y="166954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4600194" y="171221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4600194" y="183108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4600194" y="190576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4600194" y="194843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4600194" y="206730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4600194" y="214350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4600194" y="22654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4600194" y="230505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4600194" y="23797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4600194" y="2493264"/>
            <a:ext cx="247015" cy="20320"/>
          </a:xfrm>
          <a:custGeom>
            <a:avLst/>
            <a:gdLst/>
            <a:ahLst/>
            <a:cxnLst/>
            <a:rect l="l" t="t" r="r" b="b"/>
            <a:pathLst>
              <a:path w="247014" h="20319">
                <a:moveTo>
                  <a:pt x="0" y="19811"/>
                </a:moveTo>
                <a:lnTo>
                  <a:pt x="246887" y="19811"/>
                </a:lnTo>
                <a:lnTo>
                  <a:pt x="246887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4600194" y="2493264"/>
            <a:ext cx="247015" cy="20320"/>
          </a:xfrm>
          <a:custGeom>
            <a:avLst/>
            <a:gdLst/>
            <a:ahLst/>
            <a:cxnLst/>
            <a:rect l="l" t="t" r="r" b="b"/>
            <a:pathLst>
              <a:path w="247014" h="20319">
                <a:moveTo>
                  <a:pt x="0" y="19811"/>
                </a:moveTo>
                <a:lnTo>
                  <a:pt x="246887" y="19811"/>
                </a:lnTo>
                <a:lnTo>
                  <a:pt x="246887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4600194" y="2739389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4600194" y="277901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4600194" y="285826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4600194" y="290093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4600194" y="313867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4600194" y="321335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4600194" y="32560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4600194" y="33322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4600194" y="34465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4600194" y="34846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4600194" y="380161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4600194" y="384429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4600194" y="396316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4600194" y="408203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4600194" y="439445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4600194" y="44371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4600194" y="45133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4600194" y="455752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4600194" y="463067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4600194" y="467487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4600194" y="474954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4600194" y="479374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4600194" y="486841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4600194" y="491261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4600194" y="499186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4600194" y="503148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4600194" y="514883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4600194" y="522808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4600194" y="526770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4600194" y="5337809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4600194" y="538200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4600194" y="545668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4600194" y="5574029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4600194" y="56182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4600194" y="569290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4600194" y="573709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4600194" y="585597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4600194" y="597484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4600194" y="6171438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4600194" y="621106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4600194" y="6290309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4237482" y="75209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4237482" y="79476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4237482" y="86182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4237482" y="90449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4237482" y="97459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4237482" y="121234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4237482" y="125501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4237482" y="161010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4237482" y="168478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4237482" y="172745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4237482" y="192100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4237482" y="196367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4237482" y="208254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4237482" y="227457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4237482" y="231724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4237482" y="2500883"/>
            <a:ext cx="247015" cy="20320"/>
          </a:xfrm>
          <a:custGeom>
            <a:avLst/>
            <a:gdLst/>
            <a:ahLst/>
            <a:cxnLst/>
            <a:rect l="l" t="t" r="r" b="b"/>
            <a:pathLst>
              <a:path w="247014" h="20319">
                <a:moveTo>
                  <a:pt x="0" y="19811"/>
                </a:moveTo>
                <a:lnTo>
                  <a:pt x="246887" y="19811"/>
                </a:lnTo>
                <a:lnTo>
                  <a:pt x="246887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4237482" y="2500883"/>
            <a:ext cx="247015" cy="20320"/>
          </a:xfrm>
          <a:custGeom>
            <a:avLst/>
            <a:gdLst/>
            <a:ahLst/>
            <a:cxnLst/>
            <a:rect l="l" t="t" r="r" b="b"/>
            <a:pathLst>
              <a:path w="247014" h="20319">
                <a:moveTo>
                  <a:pt x="0" y="19811"/>
                </a:moveTo>
                <a:lnTo>
                  <a:pt x="246887" y="19811"/>
                </a:lnTo>
                <a:lnTo>
                  <a:pt x="246887" y="0"/>
                </a:lnTo>
                <a:lnTo>
                  <a:pt x="0" y="0"/>
                </a:lnTo>
                <a:lnTo>
                  <a:pt x="0" y="19811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4237482" y="275158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4237482" y="278968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4237482" y="287045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4237482" y="290855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4237482" y="315087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4237482" y="322554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4237482" y="326821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4237482" y="334441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4237482" y="346176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4237482" y="3504438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4237482" y="3816858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4237482" y="409879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4237482" y="440969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4237482" y="445389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4237482" y="4572761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4237482" y="4647438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4237482" y="4690109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4237482" y="4766309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4237482" y="480898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4237482" y="4888229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4237482" y="492785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4237482" y="500710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4237482" y="504672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4237482" y="516407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4237482" y="524484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4237482" y="5287517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4237482" y="535457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4237482" y="5397246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4237482" y="559079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4237482" y="563346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4237482" y="571271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4237482" y="5752338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4237482" y="599465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4237482" y="6188202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4237482" y="623087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4237482" y="630707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246887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FFCC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4041647" y="1484375"/>
            <a:ext cx="1021079" cy="5044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4041647" y="1484375"/>
            <a:ext cx="1021080" cy="504825"/>
          </a:xfrm>
          <a:custGeom>
            <a:avLst/>
            <a:gdLst/>
            <a:ahLst/>
            <a:cxnLst/>
            <a:rect l="l" t="t" r="r" b="b"/>
            <a:pathLst>
              <a:path w="1021079" h="504825">
                <a:moveTo>
                  <a:pt x="0" y="504444"/>
                </a:moveTo>
                <a:lnTo>
                  <a:pt x="1021079" y="504444"/>
                </a:lnTo>
                <a:lnTo>
                  <a:pt x="1021079" y="0"/>
                </a:lnTo>
                <a:lnTo>
                  <a:pt x="0" y="0"/>
                </a:lnTo>
                <a:lnTo>
                  <a:pt x="0" y="504444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3985259" y="1412747"/>
            <a:ext cx="1132331" cy="2164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3985259" y="1412747"/>
            <a:ext cx="1132840" cy="216535"/>
          </a:xfrm>
          <a:custGeom>
            <a:avLst/>
            <a:gdLst/>
            <a:ahLst/>
            <a:cxnLst/>
            <a:rect l="l" t="t" r="r" b="b"/>
            <a:pathLst>
              <a:path w="1132839" h="216535">
                <a:moveTo>
                  <a:pt x="0" y="108203"/>
                </a:moveTo>
                <a:lnTo>
                  <a:pt x="44493" y="66061"/>
                </a:lnTo>
                <a:lnTo>
                  <a:pt x="117971" y="42059"/>
                </a:lnTo>
                <a:lnTo>
                  <a:pt x="165830" y="31670"/>
                </a:lnTo>
                <a:lnTo>
                  <a:pt x="220203" y="22528"/>
                </a:lnTo>
                <a:lnTo>
                  <a:pt x="280416" y="14760"/>
                </a:lnTo>
                <a:lnTo>
                  <a:pt x="345793" y="8495"/>
                </a:lnTo>
                <a:lnTo>
                  <a:pt x="415660" y="3861"/>
                </a:lnTo>
                <a:lnTo>
                  <a:pt x="489342" y="986"/>
                </a:lnTo>
                <a:lnTo>
                  <a:pt x="566165" y="0"/>
                </a:lnTo>
                <a:lnTo>
                  <a:pt x="642989" y="986"/>
                </a:lnTo>
                <a:lnTo>
                  <a:pt x="716671" y="3861"/>
                </a:lnTo>
                <a:lnTo>
                  <a:pt x="786538" y="8495"/>
                </a:lnTo>
                <a:lnTo>
                  <a:pt x="851915" y="14760"/>
                </a:lnTo>
                <a:lnTo>
                  <a:pt x="912128" y="22528"/>
                </a:lnTo>
                <a:lnTo>
                  <a:pt x="966501" y="31670"/>
                </a:lnTo>
                <a:lnTo>
                  <a:pt x="1014360" y="42059"/>
                </a:lnTo>
                <a:lnTo>
                  <a:pt x="1055031" y="53565"/>
                </a:lnTo>
                <a:lnTo>
                  <a:pt x="1112107" y="79419"/>
                </a:lnTo>
                <a:lnTo>
                  <a:pt x="1132331" y="108203"/>
                </a:lnTo>
                <a:lnTo>
                  <a:pt x="1127163" y="122898"/>
                </a:lnTo>
                <a:lnTo>
                  <a:pt x="1087838" y="150346"/>
                </a:lnTo>
                <a:lnTo>
                  <a:pt x="1014360" y="174348"/>
                </a:lnTo>
                <a:lnTo>
                  <a:pt x="966501" y="184737"/>
                </a:lnTo>
                <a:lnTo>
                  <a:pt x="912128" y="193879"/>
                </a:lnTo>
                <a:lnTo>
                  <a:pt x="851915" y="201647"/>
                </a:lnTo>
                <a:lnTo>
                  <a:pt x="786538" y="207912"/>
                </a:lnTo>
                <a:lnTo>
                  <a:pt x="716671" y="212546"/>
                </a:lnTo>
                <a:lnTo>
                  <a:pt x="642989" y="215421"/>
                </a:lnTo>
                <a:lnTo>
                  <a:pt x="566165" y="216407"/>
                </a:lnTo>
                <a:lnTo>
                  <a:pt x="489342" y="215421"/>
                </a:lnTo>
                <a:lnTo>
                  <a:pt x="415660" y="212546"/>
                </a:lnTo>
                <a:lnTo>
                  <a:pt x="345793" y="207912"/>
                </a:lnTo>
                <a:lnTo>
                  <a:pt x="280416" y="201647"/>
                </a:lnTo>
                <a:lnTo>
                  <a:pt x="220203" y="193879"/>
                </a:lnTo>
                <a:lnTo>
                  <a:pt x="165830" y="184737"/>
                </a:lnTo>
                <a:lnTo>
                  <a:pt x="117971" y="174348"/>
                </a:lnTo>
                <a:lnTo>
                  <a:pt x="77300" y="162842"/>
                </a:lnTo>
                <a:lnTo>
                  <a:pt x="20224" y="136988"/>
                </a:lnTo>
                <a:lnTo>
                  <a:pt x="0" y="108203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3985259" y="1844039"/>
            <a:ext cx="1132331" cy="2164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3985259" y="1844039"/>
            <a:ext cx="1132840" cy="216535"/>
          </a:xfrm>
          <a:custGeom>
            <a:avLst/>
            <a:gdLst/>
            <a:ahLst/>
            <a:cxnLst/>
            <a:rect l="l" t="t" r="r" b="b"/>
            <a:pathLst>
              <a:path w="1132839" h="216535">
                <a:moveTo>
                  <a:pt x="0" y="108204"/>
                </a:moveTo>
                <a:lnTo>
                  <a:pt x="44493" y="66061"/>
                </a:lnTo>
                <a:lnTo>
                  <a:pt x="117971" y="42059"/>
                </a:lnTo>
                <a:lnTo>
                  <a:pt x="165830" y="31670"/>
                </a:lnTo>
                <a:lnTo>
                  <a:pt x="220203" y="22528"/>
                </a:lnTo>
                <a:lnTo>
                  <a:pt x="280416" y="14760"/>
                </a:lnTo>
                <a:lnTo>
                  <a:pt x="345793" y="8495"/>
                </a:lnTo>
                <a:lnTo>
                  <a:pt x="415660" y="3861"/>
                </a:lnTo>
                <a:lnTo>
                  <a:pt x="489342" y="986"/>
                </a:lnTo>
                <a:lnTo>
                  <a:pt x="566165" y="0"/>
                </a:lnTo>
                <a:lnTo>
                  <a:pt x="642989" y="986"/>
                </a:lnTo>
                <a:lnTo>
                  <a:pt x="716671" y="3861"/>
                </a:lnTo>
                <a:lnTo>
                  <a:pt x="786538" y="8495"/>
                </a:lnTo>
                <a:lnTo>
                  <a:pt x="851915" y="14760"/>
                </a:lnTo>
                <a:lnTo>
                  <a:pt x="912128" y="22528"/>
                </a:lnTo>
                <a:lnTo>
                  <a:pt x="966501" y="31670"/>
                </a:lnTo>
                <a:lnTo>
                  <a:pt x="1014360" y="42059"/>
                </a:lnTo>
                <a:lnTo>
                  <a:pt x="1055031" y="53565"/>
                </a:lnTo>
                <a:lnTo>
                  <a:pt x="1112107" y="79419"/>
                </a:lnTo>
                <a:lnTo>
                  <a:pt x="1132331" y="108204"/>
                </a:lnTo>
                <a:lnTo>
                  <a:pt x="1127163" y="122898"/>
                </a:lnTo>
                <a:lnTo>
                  <a:pt x="1087838" y="150346"/>
                </a:lnTo>
                <a:lnTo>
                  <a:pt x="1014360" y="174348"/>
                </a:lnTo>
                <a:lnTo>
                  <a:pt x="966501" y="184737"/>
                </a:lnTo>
                <a:lnTo>
                  <a:pt x="912128" y="193879"/>
                </a:lnTo>
                <a:lnTo>
                  <a:pt x="851915" y="201647"/>
                </a:lnTo>
                <a:lnTo>
                  <a:pt x="786538" y="207912"/>
                </a:lnTo>
                <a:lnTo>
                  <a:pt x="716671" y="212546"/>
                </a:lnTo>
                <a:lnTo>
                  <a:pt x="642989" y="215421"/>
                </a:lnTo>
                <a:lnTo>
                  <a:pt x="566165" y="216408"/>
                </a:lnTo>
                <a:lnTo>
                  <a:pt x="489342" y="215421"/>
                </a:lnTo>
                <a:lnTo>
                  <a:pt x="415660" y="212546"/>
                </a:lnTo>
                <a:lnTo>
                  <a:pt x="345793" y="207912"/>
                </a:lnTo>
                <a:lnTo>
                  <a:pt x="280416" y="201647"/>
                </a:lnTo>
                <a:lnTo>
                  <a:pt x="220203" y="193879"/>
                </a:lnTo>
                <a:lnTo>
                  <a:pt x="165830" y="184737"/>
                </a:lnTo>
                <a:lnTo>
                  <a:pt x="117971" y="174348"/>
                </a:lnTo>
                <a:lnTo>
                  <a:pt x="77300" y="162842"/>
                </a:lnTo>
                <a:lnTo>
                  <a:pt x="20224" y="136988"/>
                </a:lnTo>
                <a:lnTo>
                  <a:pt x="0" y="108204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4041647" y="5012435"/>
            <a:ext cx="1021079" cy="504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4041647" y="5012435"/>
            <a:ext cx="1021080" cy="504825"/>
          </a:xfrm>
          <a:custGeom>
            <a:avLst/>
            <a:gdLst/>
            <a:ahLst/>
            <a:cxnLst/>
            <a:rect l="l" t="t" r="r" b="b"/>
            <a:pathLst>
              <a:path w="1021079" h="504825">
                <a:moveTo>
                  <a:pt x="0" y="504444"/>
                </a:moveTo>
                <a:lnTo>
                  <a:pt x="1021079" y="504444"/>
                </a:lnTo>
                <a:lnTo>
                  <a:pt x="1021079" y="0"/>
                </a:lnTo>
                <a:lnTo>
                  <a:pt x="0" y="0"/>
                </a:lnTo>
                <a:lnTo>
                  <a:pt x="0" y="504444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3985259" y="4940808"/>
            <a:ext cx="1132331" cy="2148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3985259" y="4940808"/>
            <a:ext cx="1132840" cy="215265"/>
          </a:xfrm>
          <a:custGeom>
            <a:avLst/>
            <a:gdLst/>
            <a:ahLst/>
            <a:cxnLst/>
            <a:rect l="l" t="t" r="r" b="b"/>
            <a:pathLst>
              <a:path w="1132839" h="215264">
                <a:moveTo>
                  <a:pt x="0" y="107442"/>
                </a:moveTo>
                <a:lnTo>
                  <a:pt x="44493" y="65633"/>
                </a:lnTo>
                <a:lnTo>
                  <a:pt x="117971" y="41799"/>
                </a:lnTo>
                <a:lnTo>
                  <a:pt x="165830" y="31480"/>
                </a:lnTo>
                <a:lnTo>
                  <a:pt x="220203" y="22395"/>
                </a:lnTo>
                <a:lnTo>
                  <a:pt x="280416" y="14675"/>
                </a:lnTo>
                <a:lnTo>
                  <a:pt x="345793" y="8447"/>
                </a:lnTo>
                <a:lnTo>
                  <a:pt x="415660" y="3839"/>
                </a:lnTo>
                <a:lnTo>
                  <a:pt x="489342" y="981"/>
                </a:lnTo>
                <a:lnTo>
                  <a:pt x="566165" y="0"/>
                </a:lnTo>
                <a:lnTo>
                  <a:pt x="642989" y="981"/>
                </a:lnTo>
                <a:lnTo>
                  <a:pt x="716671" y="3839"/>
                </a:lnTo>
                <a:lnTo>
                  <a:pt x="786538" y="8447"/>
                </a:lnTo>
                <a:lnTo>
                  <a:pt x="851915" y="14675"/>
                </a:lnTo>
                <a:lnTo>
                  <a:pt x="912128" y="22395"/>
                </a:lnTo>
                <a:lnTo>
                  <a:pt x="966501" y="31480"/>
                </a:lnTo>
                <a:lnTo>
                  <a:pt x="1014360" y="41799"/>
                </a:lnTo>
                <a:lnTo>
                  <a:pt x="1055031" y="53227"/>
                </a:lnTo>
                <a:lnTo>
                  <a:pt x="1112107" y="78889"/>
                </a:lnTo>
                <a:lnTo>
                  <a:pt x="1132331" y="107442"/>
                </a:lnTo>
                <a:lnTo>
                  <a:pt x="1127163" y="122015"/>
                </a:lnTo>
                <a:lnTo>
                  <a:pt x="1087838" y="149250"/>
                </a:lnTo>
                <a:lnTo>
                  <a:pt x="1014360" y="173084"/>
                </a:lnTo>
                <a:lnTo>
                  <a:pt x="966501" y="183403"/>
                </a:lnTo>
                <a:lnTo>
                  <a:pt x="912128" y="192488"/>
                </a:lnTo>
                <a:lnTo>
                  <a:pt x="851915" y="200208"/>
                </a:lnTo>
                <a:lnTo>
                  <a:pt x="786538" y="206436"/>
                </a:lnTo>
                <a:lnTo>
                  <a:pt x="716671" y="211044"/>
                </a:lnTo>
                <a:lnTo>
                  <a:pt x="642989" y="213902"/>
                </a:lnTo>
                <a:lnTo>
                  <a:pt x="566165" y="214884"/>
                </a:lnTo>
                <a:lnTo>
                  <a:pt x="489342" y="213902"/>
                </a:lnTo>
                <a:lnTo>
                  <a:pt x="415660" y="211044"/>
                </a:lnTo>
                <a:lnTo>
                  <a:pt x="345793" y="206436"/>
                </a:lnTo>
                <a:lnTo>
                  <a:pt x="280416" y="200208"/>
                </a:lnTo>
                <a:lnTo>
                  <a:pt x="220203" y="192488"/>
                </a:lnTo>
                <a:lnTo>
                  <a:pt x="165830" y="183403"/>
                </a:lnTo>
                <a:lnTo>
                  <a:pt x="117971" y="173084"/>
                </a:lnTo>
                <a:lnTo>
                  <a:pt x="77300" y="161656"/>
                </a:lnTo>
                <a:lnTo>
                  <a:pt x="20224" y="135994"/>
                </a:lnTo>
                <a:lnTo>
                  <a:pt x="0" y="107442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3985259" y="5372100"/>
            <a:ext cx="1132331" cy="2164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3985259" y="5372100"/>
            <a:ext cx="1132840" cy="216535"/>
          </a:xfrm>
          <a:custGeom>
            <a:avLst/>
            <a:gdLst/>
            <a:ahLst/>
            <a:cxnLst/>
            <a:rect l="l" t="t" r="r" b="b"/>
            <a:pathLst>
              <a:path w="1132839" h="216535">
                <a:moveTo>
                  <a:pt x="0" y="108203"/>
                </a:moveTo>
                <a:lnTo>
                  <a:pt x="44493" y="66061"/>
                </a:lnTo>
                <a:lnTo>
                  <a:pt x="117971" y="42059"/>
                </a:lnTo>
                <a:lnTo>
                  <a:pt x="165830" y="31670"/>
                </a:lnTo>
                <a:lnTo>
                  <a:pt x="220203" y="22528"/>
                </a:lnTo>
                <a:lnTo>
                  <a:pt x="280416" y="14760"/>
                </a:lnTo>
                <a:lnTo>
                  <a:pt x="345793" y="8495"/>
                </a:lnTo>
                <a:lnTo>
                  <a:pt x="415660" y="3861"/>
                </a:lnTo>
                <a:lnTo>
                  <a:pt x="489342" y="986"/>
                </a:lnTo>
                <a:lnTo>
                  <a:pt x="566165" y="0"/>
                </a:lnTo>
                <a:lnTo>
                  <a:pt x="642989" y="986"/>
                </a:lnTo>
                <a:lnTo>
                  <a:pt x="716671" y="3861"/>
                </a:lnTo>
                <a:lnTo>
                  <a:pt x="786538" y="8495"/>
                </a:lnTo>
                <a:lnTo>
                  <a:pt x="851915" y="14760"/>
                </a:lnTo>
                <a:lnTo>
                  <a:pt x="912128" y="22528"/>
                </a:lnTo>
                <a:lnTo>
                  <a:pt x="966501" y="31670"/>
                </a:lnTo>
                <a:lnTo>
                  <a:pt x="1014360" y="42059"/>
                </a:lnTo>
                <a:lnTo>
                  <a:pt x="1055031" y="53565"/>
                </a:lnTo>
                <a:lnTo>
                  <a:pt x="1112107" y="79419"/>
                </a:lnTo>
                <a:lnTo>
                  <a:pt x="1132331" y="108203"/>
                </a:lnTo>
                <a:lnTo>
                  <a:pt x="1127163" y="122898"/>
                </a:lnTo>
                <a:lnTo>
                  <a:pt x="1087838" y="150346"/>
                </a:lnTo>
                <a:lnTo>
                  <a:pt x="1014360" y="174348"/>
                </a:lnTo>
                <a:lnTo>
                  <a:pt x="966501" y="184737"/>
                </a:lnTo>
                <a:lnTo>
                  <a:pt x="912128" y="193879"/>
                </a:lnTo>
                <a:lnTo>
                  <a:pt x="851915" y="201647"/>
                </a:lnTo>
                <a:lnTo>
                  <a:pt x="786538" y="207912"/>
                </a:lnTo>
                <a:lnTo>
                  <a:pt x="716671" y="212546"/>
                </a:lnTo>
                <a:lnTo>
                  <a:pt x="642989" y="215421"/>
                </a:lnTo>
                <a:lnTo>
                  <a:pt x="566165" y="216408"/>
                </a:lnTo>
                <a:lnTo>
                  <a:pt x="489342" y="215421"/>
                </a:lnTo>
                <a:lnTo>
                  <a:pt x="415660" y="212546"/>
                </a:lnTo>
                <a:lnTo>
                  <a:pt x="345793" y="207912"/>
                </a:lnTo>
                <a:lnTo>
                  <a:pt x="280416" y="201647"/>
                </a:lnTo>
                <a:lnTo>
                  <a:pt x="220203" y="193879"/>
                </a:lnTo>
                <a:lnTo>
                  <a:pt x="165830" y="184737"/>
                </a:lnTo>
                <a:lnTo>
                  <a:pt x="117971" y="174348"/>
                </a:lnTo>
                <a:lnTo>
                  <a:pt x="77300" y="162842"/>
                </a:lnTo>
                <a:lnTo>
                  <a:pt x="20224" y="136988"/>
                </a:lnTo>
                <a:lnTo>
                  <a:pt x="0" y="108203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 txBox="1"/>
          <p:nvPr/>
        </p:nvSpPr>
        <p:spPr>
          <a:xfrm>
            <a:off x="88392" y="4247515"/>
            <a:ext cx="7283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NAD</a:t>
            </a:r>
            <a:r>
              <a:rPr sz="1950" b="1" spc="15" baseline="2600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19" name="object 319"/>
          <p:cNvSpPr txBox="1"/>
          <p:nvPr/>
        </p:nvSpPr>
        <p:spPr>
          <a:xfrm>
            <a:off x="6944867" y="2236741"/>
            <a:ext cx="1621790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75" b="1" spc="89" baseline="11000" dirty="0">
                <a:latin typeface="Arial" panose="020B0604020202090204"/>
                <a:cs typeface="Arial" panose="020B0604020202090204"/>
              </a:rPr>
              <a:t>-</a:t>
            </a:r>
            <a:r>
              <a:rPr sz="1250" b="1" spc="60" dirty="0">
                <a:latin typeface="Arial" panose="020B0604020202090204"/>
                <a:cs typeface="Arial" panose="020B0604020202090204"/>
              </a:rPr>
              <a:t>OOC-CH</a:t>
            </a:r>
            <a:r>
              <a:rPr sz="1875" b="1" spc="89" baseline="-11000" dirty="0">
                <a:latin typeface="Arial" panose="020B0604020202090204"/>
                <a:cs typeface="Arial" panose="020B0604020202090204"/>
              </a:rPr>
              <a:t>2</a:t>
            </a:r>
            <a:r>
              <a:rPr sz="1250" b="1" spc="60" dirty="0">
                <a:latin typeface="Arial" panose="020B0604020202090204"/>
                <a:cs typeface="Arial" panose="020B0604020202090204"/>
              </a:rPr>
              <a:t>-C-COO</a:t>
            </a:r>
            <a:r>
              <a:rPr sz="1875" b="1" spc="89" baseline="11000" dirty="0">
                <a:latin typeface="Arial" panose="020B0604020202090204"/>
                <a:cs typeface="Arial" panose="020B0604020202090204"/>
              </a:rPr>
              <a:t>-</a:t>
            </a:r>
            <a:endParaRPr sz="1875" baseline="1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0" name="object 320"/>
          <p:cNvSpPr/>
          <p:nvPr/>
        </p:nvSpPr>
        <p:spPr>
          <a:xfrm>
            <a:off x="7962031" y="2074473"/>
            <a:ext cx="0" cy="191135"/>
          </a:xfrm>
          <a:custGeom>
            <a:avLst/>
            <a:gdLst/>
            <a:ahLst/>
            <a:cxnLst/>
            <a:rect l="l" t="t" r="r" b="b"/>
            <a:pathLst>
              <a:path h="191135">
                <a:moveTo>
                  <a:pt x="0" y="190579"/>
                </a:moveTo>
                <a:lnTo>
                  <a:pt x="0" y="0"/>
                </a:lnTo>
              </a:path>
            </a:pathLst>
          </a:custGeom>
          <a:ln w="108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7927409" y="2081675"/>
            <a:ext cx="0" cy="187325"/>
          </a:xfrm>
          <a:custGeom>
            <a:avLst/>
            <a:gdLst/>
            <a:ahLst/>
            <a:cxnLst/>
            <a:rect l="l" t="t" r="r" b="b"/>
            <a:pathLst>
              <a:path h="187325">
                <a:moveTo>
                  <a:pt x="0" y="187299"/>
                </a:moveTo>
                <a:lnTo>
                  <a:pt x="0" y="0"/>
                </a:lnTo>
              </a:path>
            </a:pathLst>
          </a:custGeom>
          <a:ln w="108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 txBox="1"/>
          <p:nvPr/>
        </p:nvSpPr>
        <p:spPr>
          <a:xfrm>
            <a:off x="7867158" y="1892585"/>
            <a:ext cx="160655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spc="85" dirty="0">
                <a:latin typeface="Arial" panose="020B0604020202090204"/>
                <a:cs typeface="Arial" panose="020B0604020202090204"/>
              </a:rPr>
              <a:t>O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3" name="object 323"/>
          <p:cNvSpPr/>
          <p:nvPr/>
        </p:nvSpPr>
        <p:spPr>
          <a:xfrm>
            <a:off x="7886446" y="5101066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44"/>
                </a:moveTo>
                <a:lnTo>
                  <a:pt x="0" y="0"/>
                </a:lnTo>
              </a:path>
            </a:pathLst>
          </a:custGeom>
          <a:ln w="104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7875982" y="5529757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244165"/>
                </a:moveTo>
                <a:lnTo>
                  <a:pt x="0" y="0"/>
                </a:lnTo>
              </a:path>
            </a:pathLst>
          </a:custGeom>
          <a:ln w="104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 txBox="1"/>
          <p:nvPr/>
        </p:nvSpPr>
        <p:spPr>
          <a:xfrm>
            <a:off x="7800840" y="4917736"/>
            <a:ext cx="27622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40" dirty="0">
                <a:latin typeface="Arial" panose="020B0604020202090204"/>
                <a:cs typeface="Arial" panose="020B0604020202090204"/>
              </a:rPr>
              <a:t>O</a:t>
            </a:r>
            <a:r>
              <a:rPr sz="1250" b="1" spc="5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H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6" name="object 326"/>
          <p:cNvSpPr txBox="1"/>
          <p:nvPr/>
        </p:nvSpPr>
        <p:spPr>
          <a:xfrm>
            <a:off x="6899147" y="5336255"/>
            <a:ext cx="1569085" cy="617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875" b="1" spc="52" baseline="11000" dirty="0">
                <a:latin typeface="Arial" panose="020B0604020202090204"/>
                <a:cs typeface="Arial" panose="020B0604020202090204"/>
              </a:rPr>
              <a:t>-</a:t>
            </a:r>
            <a:r>
              <a:rPr sz="1250" b="1" spc="35" dirty="0">
                <a:latin typeface="Arial" panose="020B0604020202090204"/>
                <a:cs typeface="Arial" panose="020B0604020202090204"/>
              </a:rPr>
              <a:t>OOC-CH</a:t>
            </a:r>
            <a:r>
              <a:rPr sz="1875" b="1" spc="52" baseline="-11000" dirty="0">
                <a:latin typeface="Arial" panose="020B0604020202090204"/>
                <a:cs typeface="Arial" panose="020B0604020202090204"/>
              </a:rPr>
              <a:t>2</a:t>
            </a:r>
            <a:r>
              <a:rPr sz="1250" b="1" spc="35" dirty="0">
                <a:latin typeface="Arial" panose="020B0604020202090204"/>
                <a:cs typeface="Arial" panose="020B0604020202090204"/>
              </a:rPr>
              <a:t>-C-COO</a:t>
            </a:r>
            <a:r>
              <a:rPr sz="1875" b="1" spc="52" baseline="11000" dirty="0">
                <a:latin typeface="Arial" panose="020B0604020202090204"/>
                <a:cs typeface="Arial" panose="020B0604020202090204"/>
              </a:rPr>
              <a:t>-</a:t>
            </a:r>
            <a:endParaRPr sz="1875" baseline="11000">
              <a:latin typeface="Arial" panose="020B0604020202090204"/>
              <a:cs typeface="Arial" panose="020B0604020202090204"/>
            </a:endParaRPr>
          </a:p>
          <a:p>
            <a:pPr marL="924560">
              <a:lnSpc>
                <a:spcPct val="100000"/>
              </a:lnSpc>
              <a:spcBef>
                <a:spcPts val="1635"/>
              </a:spcBef>
            </a:pPr>
            <a:r>
              <a:rPr sz="1250" b="1" spc="5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H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7" name="object 327"/>
          <p:cNvSpPr txBox="1"/>
          <p:nvPr/>
        </p:nvSpPr>
        <p:spPr>
          <a:xfrm>
            <a:off x="8232647" y="2704922"/>
            <a:ext cx="81406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NADH</a:t>
            </a:r>
            <a:endParaRPr sz="2000">
              <a:latin typeface="Arial" panose="020B0604020202090204"/>
              <a:cs typeface="Arial" panose="020B0604020202090204"/>
            </a:endParaRPr>
          </a:p>
          <a:p>
            <a:pPr marL="177800">
              <a:lnSpc>
                <a:spcPct val="100000"/>
              </a:lnSpc>
            </a:pPr>
            <a:r>
              <a:rPr sz="2000" b="1" spc="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+H</a:t>
            </a:r>
            <a:r>
              <a:rPr sz="1950" b="1" spc="15" baseline="2600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8" name="object 328"/>
          <p:cNvSpPr txBox="1"/>
          <p:nvPr/>
        </p:nvSpPr>
        <p:spPr>
          <a:xfrm>
            <a:off x="8262239" y="4118228"/>
            <a:ext cx="728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NAD</a:t>
            </a:r>
            <a:r>
              <a:rPr sz="1950" b="1" spc="15" baseline="2600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9" name="object 329"/>
          <p:cNvSpPr/>
          <p:nvPr/>
        </p:nvSpPr>
        <p:spPr>
          <a:xfrm>
            <a:off x="7831835" y="2492501"/>
            <a:ext cx="86995" cy="2377440"/>
          </a:xfrm>
          <a:custGeom>
            <a:avLst/>
            <a:gdLst/>
            <a:ahLst/>
            <a:cxnLst/>
            <a:rect l="l" t="t" r="r" b="b"/>
            <a:pathLst>
              <a:path w="86995" h="2377440">
                <a:moveTo>
                  <a:pt x="57912" y="72389"/>
                </a:moveTo>
                <a:lnTo>
                  <a:pt x="28956" y="72389"/>
                </a:lnTo>
                <a:lnTo>
                  <a:pt x="28956" y="2377440"/>
                </a:lnTo>
                <a:lnTo>
                  <a:pt x="57912" y="2377440"/>
                </a:lnTo>
                <a:lnTo>
                  <a:pt x="57912" y="72389"/>
                </a:lnTo>
                <a:close/>
              </a:path>
              <a:path w="86995" h="2377440">
                <a:moveTo>
                  <a:pt x="43434" y="0"/>
                </a:moveTo>
                <a:lnTo>
                  <a:pt x="0" y="86868"/>
                </a:lnTo>
                <a:lnTo>
                  <a:pt x="28956" y="86868"/>
                </a:lnTo>
                <a:lnTo>
                  <a:pt x="28956" y="72389"/>
                </a:lnTo>
                <a:lnTo>
                  <a:pt x="79628" y="72389"/>
                </a:lnTo>
                <a:lnTo>
                  <a:pt x="43434" y="0"/>
                </a:lnTo>
                <a:close/>
              </a:path>
              <a:path w="86995" h="2377440">
                <a:moveTo>
                  <a:pt x="79628" y="72389"/>
                </a:moveTo>
                <a:lnTo>
                  <a:pt x="57912" y="72389"/>
                </a:lnTo>
                <a:lnTo>
                  <a:pt x="57912" y="86868"/>
                </a:lnTo>
                <a:lnTo>
                  <a:pt x="86868" y="86868"/>
                </a:lnTo>
                <a:lnTo>
                  <a:pt x="79628" y="7238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7860792" y="3010661"/>
            <a:ext cx="449580" cy="1306830"/>
          </a:xfrm>
          <a:custGeom>
            <a:avLst/>
            <a:gdLst/>
            <a:ahLst/>
            <a:cxnLst/>
            <a:rect l="l" t="t" r="r" b="b"/>
            <a:pathLst>
              <a:path w="449579" h="1306829">
                <a:moveTo>
                  <a:pt x="365512" y="26553"/>
                </a:moveTo>
                <a:lnTo>
                  <a:pt x="324992" y="50926"/>
                </a:lnTo>
                <a:lnTo>
                  <a:pt x="281685" y="82296"/>
                </a:lnTo>
                <a:lnTo>
                  <a:pt x="241046" y="116332"/>
                </a:lnTo>
                <a:lnTo>
                  <a:pt x="203073" y="153162"/>
                </a:lnTo>
                <a:lnTo>
                  <a:pt x="168021" y="192404"/>
                </a:lnTo>
                <a:lnTo>
                  <a:pt x="135889" y="234061"/>
                </a:lnTo>
                <a:lnTo>
                  <a:pt x="106933" y="277749"/>
                </a:lnTo>
                <a:lnTo>
                  <a:pt x="81152" y="323596"/>
                </a:lnTo>
                <a:lnTo>
                  <a:pt x="58674" y="371221"/>
                </a:lnTo>
                <a:lnTo>
                  <a:pt x="39750" y="420370"/>
                </a:lnTo>
                <a:lnTo>
                  <a:pt x="24256" y="470915"/>
                </a:lnTo>
                <a:lnTo>
                  <a:pt x="12446" y="522859"/>
                </a:lnTo>
                <a:lnTo>
                  <a:pt x="4444" y="575945"/>
                </a:lnTo>
                <a:lnTo>
                  <a:pt x="507" y="629793"/>
                </a:lnTo>
                <a:lnTo>
                  <a:pt x="0" y="657098"/>
                </a:lnTo>
                <a:lnTo>
                  <a:pt x="507" y="682625"/>
                </a:lnTo>
                <a:lnTo>
                  <a:pt x="3936" y="733425"/>
                </a:lnTo>
                <a:lnTo>
                  <a:pt x="11049" y="783336"/>
                </a:lnTo>
                <a:lnTo>
                  <a:pt x="21462" y="832357"/>
                </a:lnTo>
                <a:lnTo>
                  <a:pt x="35178" y="880363"/>
                </a:lnTo>
                <a:lnTo>
                  <a:pt x="51942" y="926973"/>
                </a:lnTo>
                <a:lnTo>
                  <a:pt x="71881" y="972438"/>
                </a:lnTo>
                <a:lnTo>
                  <a:pt x="94996" y="1016254"/>
                </a:lnTo>
                <a:lnTo>
                  <a:pt x="120903" y="1058545"/>
                </a:lnTo>
                <a:lnTo>
                  <a:pt x="149478" y="1098931"/>
                </a:lnTo>
                <a:lnTo>
                  <a:pt x="180975" y="1137285"/>
                </a:lnTo>
                <a:lnTo>
                  <a:pt x="215137" y="1173607"/>
                </a:lnTo>
                <a:lnTo>
                  <a:pt x="251713" y="1207643"/>
                </a:lnTo>
                <a:lnTo>
                  <a:pt x="290829" y="1239265"/>
                </a:lnTo>
                <a:lnTo>
                  <a:pt x="332231" y="1268221"/>
                </a:lnTo>
                <a:lnTo>
                  <a:pt x="375919" y="1294511"/>
                </a:lnTo>
                <a:lnTo>
                  <a:pt x="398652" y="1306702"/>
                </a:lnTo>
                <a:lnTo>
                  <a:pt x="412241" y="1281049"/>
                </a:lnTo>
                <a:lnTo>
                  <a:pt x="390398" y="1269492"/>
                </a:lnTo>
                <a:lnTo>
                  <a:pt x="369188" y="1257173"/>
                </a:lnTo>
                <a:lnTo>
                  <a:pt x="328294" y="1230630"/>
                </a:lnTo>
                <a:lnTo>
                  <a:pt x="289559" y="1201546"/>
                </a:lnTo>
                <a:lnTo>
                  <a:pt x="253110" y="1170051"/>
                </a:lnTo>
                <a:lnTo>
                  <a:pt x="219075" y="1136269"/>
                </a:lnTo>
                <a:lnTo>
                  <a:pt x="187578" y="1100327"/>
                </a:lnTo>
                <a:lnTo>
                  <a:pt x="158750" y="1062608"/>
                </a:lnTo>
                <a:lnTo>
                  <a:pt x="132460" y="1022985"/>
                </a:lnTo>
                <a:lnTo>
                  <a:pt x="108965" y="981582"/>
                </a:lnTo>
                <a:lnTo>
                  <a:pt x="88264" y="938657"/>
                </a:lnTo>
                <a:lnTo>
                  <a:pt x="70611" y="894461"/>
                </a:lnTo>
                <a:lnTo>
                  <a:pt x="55752" y="848994"/>
                </a:lnTo>
                <a:lnTo>
                  <a:pt x="44196" y="802513"/>
                </a:lnTo>
                <a:lnTo>
                  <a:pt x="35813" y="754888"/>
                </a:lnTo>
                <a:lnTo>
                  <a:pt x="30606" y="706627"/>
                </a:lnTo>
                <a:lnTo>
                  <a:pt x="28955" y="657606"/>
                </a:lnTo>
                <a:lnTo>
                  <a:pt x="29463" y="631444"/>
                </a:lnTo>
                <a:lnTo>
                  <a:pt x="33274" y="579627"/>
                </a:lnTo>
                <a:lnTo>
                  <a:pt x="40893" y="528701"/>
                </a:lnTo>
                <a:lnTo>
                  <a:pt x="52069" y="478916"/>
                </a:lnTo>
                <a:lnTo>
                  <a:pt x="66928" y="430275"/>
                </a:lnTo>
                <a:lnTo>
                  <a:pt x="85089" y="383032"/>
                </a:lnTo>
                <a:lnTo>
                  <a:pt x="106679" y="337312"/>
                </a:lnTo>
                <a:lnTo>
                  <a:pt x="131317" y="293370"/>
                </a:lnTo>
                <a:lnTo>
                  <a:pt x="159130" y="251333"/>
                </a:lnTo>
                <a:lnTo>
                  <a:pt x="189991" y="211327"/>
                </a:lnTo>
                <a:lnTo>
                  <a:pt x="223647" y="173482"/>
                </a:lnTo>
                <a:lnTo>
                  <a:pt x="259968" y="138175"/>
                </a:lnTo>
                <a:lnTo>
                  <a:pt x="298957" y="105410"/>
                </a:lnTo>
                <a:lnTo>
                  <a:pt x="340613" y="75311"/>
                </a:lnTo>
                <a:lnTo>
                  <a:pt x="378527" y="52456"/>
                </a:lnTo>
                <a:lnTo>
                  <a:pt x="365512" y="26553"/>
                </a:lnTo>
                <a:close/>
              </a:path>
              <a:path w="449579" h="1306829">
                <a:moveTo>
                  <a:pt x="434650" y="19812"/>
                </a:moveTo>
                <a:lnTo>
                  <a:pt x="377698" y="19812"/>
                </a:lnTo>
                <a:lnTo>
                  <a:pt x="391667" y="45212"/>
                </a:lnTo>
                <a:lnTo>
                  <a:pt x="378527" y="52456"/>
                </a:lnTo>
                <a:lnTo>
                  <a:pt x="391286" y="77850"/>
                </a:lnTo>
                <a:lnTo>
                  <a:pt x="434650" y="19812"/>
                </a:lnTo>
                <a:close/>
              </a:path>
              <a:path w="449579" h="1306829">
                <a:moveTo>
                  <a:pt x="377698" y="19812"/>
                </a:moveTo>
                <a:lnTo>
                  <a:pt x="365512" y="26553"/>
                </a:lnTo>
                <a:lnTo>
                  <a:pt x="378527" y="52456"/>
                </a:lnTo>
                <a:lnTo>
                  <a:pt x="391667" y="45212"/>
                </a:lnTo>
                <a:lnTo>
                  <a:pt x="377698" y="19812"/>
                </a:lnTo>
                <a:close/>
              </a:path>
              <a:path w="449579" h="1306829">
                <a:moveTo>
                  <a:pt x="449452" y="0"/>
                </a:moveTo>
                <a:lnTo>
                  <a:pt x="352298" y="253"/>
                </a:lnTo>
                <a:lnTo>
                  <a:pt x="365512" y="26553"/>
                </a:lnTo>
                <a:lnTo>
                  <a:pt x="377698" y="19812"/>
                </a:lnTo>
                <a:lnTo>
                  <a:pt x="434650" y="19812"/>
                </a:lnTo>
                <a:lnTo>
                  <a:pt x="449452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1751710" y="5282184"/>
            <a:ext cx="5114925" cy="239395"/>
          </a:xfrm>
          <a:custGeom>
            <a:avLst/>
            <a:gdLst/>
            <a:ahLst/>
            <a:cxnLst/>
            <a:rect l="l" t="t" r="r" b="b"/>
            <a:pathLst>
              <a:path w="5114925" h="239395">
                <a:moveTo>
                  <a:pt x="2818384" y="0"/>
                </a:moveTo>
                <a:lnTo>
                  <a:pt x="2625216" y="888"/>
                </a:lnTo>
                <a:lnTo>
                  <a:pt x="2242439" y="7492"/>
                </a:lnTo>
                <a:lnTo>
                  <a:pt x="1865756" y="20446"/>
                </a:lnTo>
                <a:lnTo>
                  <a:pt x="1680464" y="29463"/>
                </a:lnTo>
                <a:lnTo>
                  <a:pt x="1317244" y="51815"/>
                </a:lnTo>
                <a:lnTo>
                  <a:pt x="1139825" y="65404"/>
                </a:lnTo>
                <a:lnTo>
                  <a:pt x="965326" y="80517"/>
                </a:lnTo>
                <a:lnTo>
                  <a:pt x="794512" y="97027"/>
                </a:lnTo>
                <a:lnTo>
                  <a:pt x="627252" y="115061"/>
                </a:lnTo>
                <a:lnTo>
                  <a:pt x="463803" y="134492"/>
                </a:lnTo>
                <a:lnTo>
                  <a:pt x="304545" y="155320"/>
                </a:lnTo>
                <a:lnTo>
                  <a:pt x="149859" y="177672"/>
                </a:lnTo>
                <a:lnTo>
                  <a:pt x="0" y="201294"/>
                </a:lnTo>
                <a:lnTo>
                  <a:pt x="5968" y="238886"/>
                </a:lnTo>
                <a:lnTo>
                  <a:pt x="155828" y="215264"/>
                </a:lnTo>
                <a:lnTo>
                  <a:pt x="310006" y="193039"/>
                </a:lnTo>
                <a:lnTo>
                  <a:pt x="468756" y="172211"/>
                </a:lnTo>
                <a:lnTo>
                  <a:pt x="631697" y="152780"/>
                </a:lnTo>
                <a:lnTo>
                  <a:pt x="798576" y="134873"/>
                </a:lnTo>
                <a:lnTo>
                  <a:pt x="969009" y="118363"/>
                </a:lnTo>
                <a:lnTo>
                  <a:pt x="1143000" y="103377"/>
                </a:lnTo>
                <a:lnTo>
                  <a:pt x="1499997" y="77850"/>
                </a:lnTo>
                <a:lnTo>
                  <a:pt x="1867535" y="58546"/>
                </a:lnTo>
                <a:lnTo>
                  <a:pt x="2243581" y="45465"/>
                </a:lnTo>
                <a:lnTo>
                  <a:pt x="2625725" y="38988"/>
                </a:lnTo>
                <a:lnTo>
                  <a:pt x="4106761" y="38099"/>
                </a:lnTo>
                <a:lnTo>
                  <a:pt x="4013327" y="32511"/>
                </a:lnTo>
                <a:lnTo>
                  <a:pt x="3720591" y="18414"/>
                </a:lnTo>
                <a:lnTo>
                  <a:pt x="3423158" y="8254"/>
                </a:lnTo>
                <a:lnTo>
                  <a:pt x="3122041" y="2031"/>
                </a:lnTo>
                <a:lnTo>
                  <a:pt x="2818384" y="0"/>
                </a:lnTo>
                <a:close/>
              </a:path>
              <a:path w="5114925" h="239395">
                <a:moveTo>
                  <a:pt x="4998769" y="152207"/>
                </a:moveTo>
                <a:lnTo>
                  <a:pt x="4994402" y="190118"/>
                </a:lnTo>
                <a:lnTo>
                  <a:pt x="5092437" y="154431"/>
                </a:lnTo>
                <a:lnTo>
                  <a:pt x="5017643" y="154431"/>
                </a:lnTo>
                <a:lnTo>
                  <a:pt x="4998769" y="152207"/>
                </a:lnTo>
                <a:close/>
              </a:path>
              <a:path w="5114925" h="239395">
                <a:moveTo>
                  <a:pt x="5003128" y="114375"/>
                </a:moveTo>
                <a:lnTo>
                  <a:pt x="4998769" y="152207"/>
                </a:lnTo>
                <a:lnTo>
                  <a:pt x="5017643" y="154431"/>
                </a:lnTo>
                <a:lnTo>
                  <a:pt x="5022088" y="116585"/>
                </a:lnTo>
                <a:lnTo>
                  <a:pt x="5003128" y="114375"/>
                </a:lnTo>
                <a:close/>
              </a:path>
              <a:path w="5114925" h="239395">
                <a:moveTo>
                  <a:pt x="5007483" y="76580"/>
                </a:moveTo>
                <a:lnTo>
                  <a:pt x="5003128" y="114375"/>
                </a:lnTo>
                <a:lnTo>
                  <a:pt x="5022088" y="116585"/>
                </a:lnTo>
                <a:lnTo>
                  <a:pt x="5017643" y="154431"/>
                </a:lnTo>
                <a:lnTo>
                  <a:pt x="5092437" y="154431"/>
                </a:lnTo>
                <a:lnTo>
                  <a:pt x="5114417" y="146430"/>
                </a:lnTo>
                <a:lnTo>
                  <a:pt x="5007483" y="76580"/>
                </a:lnTo>
                <a:close/>
              </a:path>
              <a:path w="5114925" h="239395">
                <a:moveTo>
                  <a:pt x="4106761" y="38099"/>
                </a:moveTo>
                <a:lnTo>
                  <a:pt x="2818511" y="38099"/>
                </a:lnTo>
                <a:lnTo>
                  <a:pt x="3121660" y="40131"/>
                </a:lnTo>
                <a:lnTo>
                  <a:pt x="3422396" y="46227"/>
                </a:lnTo>
                <a:lnTo>
                  <a:pt x="3719322" y="56514"/>
                </a:lnTo>
                <a:lnTo>
                  <a:pt x="4011549" y="70611"/>
                </a:lnTo>
                <a:lnTo>
                  <a:pt x="4155566" y="79120"/>
                </a:lnTo>
                <a:lnTo>
                  <a:pt x="4438650" y="99059"/>
                </a:lnTo>
                <a:lnTo>
                  <a:pt x="4714621" y="122808"/>
                </a:lnTo>
                <a:lnTo>
                  <a:pt x="4982083" y="150240"/>
                </a:lnTo>
                <a:lnTo>
                  <a:pt x="4998769" y="152207"/>
                </a:lnTo>
                <a:lnTo>
                  <a:pt x="5003128" y="114375"/>
                </a:lnTo>
                <a:lnTo>
                  <a:pt x="4718050" y="84835"/>
                </a:lnTo>
                <a:lnTo>
                  <a:pt x="4441571" y="60959"/>
                </a:lnTo>
                <a:lnTo>
                  <a:pt x="4106761" y="38099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3193542" y="4335398"/>
            <a:ext cx="2753360" cy="913765"/>
          </a:xfrm>
          <a:custGeom>
            <a:avLst/>
            <a:gdLst/>
            <a:ahLst/>
            <a:cxnLst/>
            <a:rect l="l" t="t" r="r" b="b"/>
            <a:pathLst>
              <a:path w="2753360" h="913764">
                <a:moveTo>
                  <a:pt x="80723" y="84062"/>
                </a:moveTo>
                <a:lnTo>
                  <a:pt x="49345" y="105700"/>
                </a:lnTo>
                <a:lnTo>
                  <a:pt x="57403" y="117220"/>
                </a:lnTo>
                <a:lnTo>
                  <a:pt x="94868" y="167767"/>
                </a:lnTo>
                <a:lnTo>
                  <a:pt x="132969" y="216662"/>
                </a:lnTo>
                <a:lnTo>
                  <a:pt x="171577" y="264159"/>
                </a:lnTo>
                <a:lnTo>
                  <a:pt x="210819" y="310006"/>
                </a:lnTo>
                <a:lnTo>
                  <a:pt x="250570" y="354202"/>
                </a:lnTo>
                <a:lnTo>
                  <a:pt x="290830" y="397001"/>
                </a:lnTo>
                <a:lnTo>
                  <a:pt x="331469" y="438023"/>
                </a:lnTo>
                <a:lnTo>
                  <a:pt x="372744" y="477519"/>
                </a:lnTo>
                <a:lnTo>
                  <a:pt x="414655" y="515365"/>
                </a:lnTo>
                <a:lnTo>
                  <a:pt x="456692" y="551561"/>
                </a:lnTo>
                <a:lnTo>
                  <a:pt x="499363" y="586105"/>
                </a:lnTo>
                <a:lnTo>
                  <a:pt x="542417" y="618998"/>
                </a:lnTo>
                <a:lnTo>
                  <a:pt x="585978" y="650239"/>
                </a:lnTo>
                <a:lnTo>
                  <a:pt x="629793" y="679703"/>
                </a:lnTo>
                <a:lnTo>
                  <a:pt x="674116" y="707517"/>
                </a:lnTo>
                <a:lnTo>
                  <a:pt x="718693" y="733678"/>
                </a:lnTo>
                <a:lnTo>
                  <a:pt x="763650" y="758189"/>
                </a:lnTo>
                <a:lnTo>
                  <a:pt x="808990" y="780795"/>
                </a:lnTo>
                <a:lnTo>
                  <a:pt x="854582" y="801751"/>
                </a:lnTo>
                <a:lnTo>
                  <a:pt x="900557" y="820927"/>
                </a:lnTo>
                <a:lnTo>
                  <a:pt x="946784" y="838326"/>
                </a:lnTo>
                <a:lnTo>
                  <a:pt x="993140" y="853948"/>
                </a:lnTo>
                <a:lnTo>
                  <a:pt x="1039875" y="867663"/>
                </a:lnTo>
                <a:lnTo>
                  <a:pt x="1086866" y="879728"/>
                </a:lnTo>
                <a:lnTo>
                  <a:pt x="1133983" y="889888"/>
                </a:lnTo>
                <a:lnTo>
                  <a:pt x="1181354" y="898270"/>
                </a:lnTo>
                <a:lnTo>
                  <a:pt x="1228852" y="904875"/>
                </a:lnTo>
                <a:lnTo>
                  <a:pt x="1276604" y="909447"/>
                </a:lnTo>
                <a:lnTo>
                  <a:pt x="1324356" y="912241"/>
                </a:lnTo>
                <a:lnTo>
                  <a:pt x="1372234" y="913257"/>
                </a:lnTo>
                <a:lnTo>
                  <a:pt x="1419859" y="912241"/>
                </a:lnTo>
                <a:lnTo>
                  <a:pt x="1467358" y="909447"/>
                </a:lnTo>
                <a:lnTo>
                  <a:pt x="1514729" y="904747"/>
                </a:lnTo>
                <a:lnTo>
                  <a:pt x="1561972" y="898397"/>
                </a:lnTo>
                <a:lnTo>
                  <a:pt x="1608962" y="890015"/>
                </a:lnTo>
                <a:lnTo>
                  <a:pt x="1655825" y="879982"/>
                </a:lnTo>
                <a:lnTo>
                  <a:pt x="1674719" y="875157"/>
                </a:lnTo>
                <a:lnTo>
                  <a:pt x="1371472" y="875157"/>
                </a:lnTo>
                <a:lnTo>
                  <a:pt x="1325118" y="874268"/>
                </a:lnTo>
                <a:lnTo>
                  <a:pt x="1278762" y="871474"/>
                </a:lnTo>
                <a:lnTo>
                  <a:pt x="1232534" y="866901"/>
                </a:lnTo>
                <a:lnTo>
                  <a:pt x="1186560" y="860551"/>
                </a:lnTo>
                <a:lnTo>
                  <a:pt x="1140586" y="852424"/>
                </a:lnTo>
                <a:lnTo>
                  <a:pt x="1094867" y="842518"/>
                </a:lnTo>
                <a:lnTo>
                  <a:pt x="1049400" y="830833"/>
                </a:lnTo>
                <a:lnTo>
                  <a:pt x="1004061" y="817371"/>
                </a:lnTo>
                <a:lnTo>
                  <a:pt x="958849" y="802258"/>
                </a:lnTo>
                <a:lnTo>
                  <a:pt x="914019" y="785240"/>
                </a:lnTo>
                <a:lnTo>
                  <a:pt x="869187" y="766571"/>
                </a:lnTo>
                <a:lnTo>
                  <a:pt x="824865" y="746251"/>
                </a:lnTo>
                <a:lnTo>
                  <a:pt x="780669" y="724153"/>
                </a:lnTo>
                <a:lnTo>
                  <a:pt x="736981" y="700277"/>
                </a:lnTo>
                <a:lnTo>
                  <a:pt x="693293" y="674751"/>
                </a:lnTo>
                <a:lnTo>
                  <a:pt x="650112" y="647445"/>
                </a:lnTo>
                <a:lnTo>
                  <a:pt x="607186" y="618617"/>
                </a:lnTo>
                <a:lnTo>
                  <a:pt x="564769" y="588009"/>
                </a:lnTo>
                <a:lnTo>
                  <a:pt x="522478" y="555751"/>
                </a:lnTo>
                <a:lnTo>
                  <a:pt x="480694" y="521969"/>
                </a:lnTo>
                <a:lnTo>
                  <a:pt x="439419" y="486409"/>
                </a:lnTo>
                <a:lnTo>
                  <a:pt x="398398" y="449325"/>
                </a:lnTo>
                <a:lnTo>
                  <a:pt x="357885" y="410463"/>
                </a:lnTo>
                <a:lnTo>
                  <a:pt x="317881" y="370205"/>
                </a:lnTo>
                <a:lnTo>
                  <a:pt x="278256" y="328168"/>
                </a:lnTo>
                <a:lnTo>
                  <a:pt x="239141" y="284606"/>
                </a:lnTo>
                <a:lnTo>
                  <a:pt x="200532" y="239394"/>
                </a:lnTo>
                <a:lnTo>
                  <a:pt x="162559" y="192658"/>
                </a:lnTo>
                <a:lnTo>
                  <a:pt x="124968" y="144271"/>
                </a:lnTo>
                <a:lnTo>
                  <a:pt x="88010" y="94487"/>
                </a:lnTo>
                <a:lnTo>
                  <a:pt x="80723" y="84062"/>
                </a:lnTo>
                <a:close/>
              </a:path>
              <a:path w="2753360" h="913764">
                <a:moveTo>
                  <a:pt x="2721356" y="0"/>
                </a:moveTo>
                <a:lnTo>
                  <a:pt x="2685415" y="52705"/>
                </a:lnTo>
                <a:lnTo>
                  <a:pt x="2649093" y="103505"/>
                </a:lnTo>
                <a:lnTo>
                  <a:pt x="2612262" y="152907"/>
                </a:lnTo>
                <a:lnTo>
                  <a:pt x="2574797" y="200659"/>
                </a:lnTo>
                <a:lnTo>
                  <a:pt x="2536824" y="246887"/>
                </a:lnTo>
                <a:lnTo>
                  <a:pt x="2498344" y="291464"/>
                </a:lnTo>
                <a:lnTo>
                  <a:pt x="2459355" y="334771"/>
                </a:lnTo>
                <a:lnTo>
                  <a:pt x="2419985" y="376174"/>
                </a:lnTo>
                <a:lnTo>
                  <a:pt x="2379980" y="416051"/>
                </a:lnTo>
                <a:lnTo>
                  <a:pt x="2339594" y="454406"/>
                </a:lnTo>
                <a:lnTo>
                  <a:pt x="2298827" y="491108"/>
                </a:lnTo>
                <a:lnTo>
                  <a:pt x="2257679" y="526288"/>
                </a:lnTo>
                <a:lnTo>
                  <a:pt x="2216022" y="559815"/>
                </a:lnTo>
                <a:lnTo>
                  <a:pt x="2174112" y="591693"/>
                </a:lnTo>
                <a:lnTo>
                  <a:pt x="2131695" y="621919"/>
                </a:lnTo>
                <a:lnTo>
                  <a:pt x="2089022" y="650494"/>
                </a:lnTo>
                <a:lnTo>
                  <a:pt x="2045970" y="677418"/>
                </a:lnTo>
                <a:lnTo>
                  <a:pt x="2002662" y="702563"/>
                </a:lnTo>
                <a:lnTo>
                  <a:pt x="1958974" y="726058"/>
                </a:lnTo>
                <a:lnTo>
                  <a:pt x="1915159" y="747902"/>
                </a:lnTo>
                <a:lnTo>
                  <a:pt x="1870836" y="768095"/>
                </a:lnTo>
                <a:lnTo>
                  <a:pt x="1826513" y="786511"/>
                </a:lnTo>
                <a:lnTo>
                  <a:pt x="1781683" y="803148"/>
                </a:lnTo>
                <a:lnTo>
                  <a:pt x="1736852" y="818261"/>
                </a:lnTo>
                <a:lnTo>
                  <a:pt x="1691767" y="831595"/>
                </a:lnTo>
                <a:lnTo>
                  <a:pt x="1646428" y="843026"/>
                </a:lnTo>
                <a:lnTo>
                  <a:pt x="1600961" y="852805"/>
                </a:lnTo>
                <a:lnTo>
                  <a:pt x="1555369" y="860932"/>
                </a:lnTo>
                <a:lnTo>
                  <a:pt x="1509648" y="867028"/>
                </a:lnTo>
                <a:lnTo>
                  <a:pt x="1463674" y="871474"/>
                </a:lnTo>
                <a:lnTo>
                  <a:pt x="1417573" y="874268"/>
                </a:lnTo>
                <a:lnTo>
                  <a:pt x="1371472" y="875157"/>
                </a:lnTo>
                <a:lnTo>
                  <a:pt x="1674719" y="875157"/>
                </a:lnTo>
                <a:lnTo>
                  <a:pt x="1748917" y="854328"/>
                </a:lnTo>
                <a:lnTo>
                  <a:pt x="1795145" y="838834"/>
                </a:lnTo>
                <a:lnTo>
                  <a:pt x="1840992" y="821689"/>
                </a:lnTo>
                <a:lnTo>
                  <a:pt x="1886711" y="802767"/>
                </a:lnTo>
                <a:lnTo>
                  <a:pt x="1932050" y="782065"/>
                </a:lnTo>
                <a:lnTo>
                  <a:pt x="1977135" y="759587"/>
                </a:lnTo>
                <a:lnTo>
                  <a:pt x="2021840" y="735457"/>
                </a:lnTo>
                <a:lnTo>
                  <a:pt x="2066162" y="709676"/>
                </a:lnTo>
                <a:lnTo>
                  <a:pt x="2110232" y="682117"/>
                </a:lnTo>
                <a:lnTo>
                  <a:pt x="2153793" y="652907"/>
                </a:lnTo>
                <a:lnTo>
                  <a:pt x="2197099" y="622045"/>
                </a:lnTo>
                <a:lnTo>
                  <a:pt x="2239898" y="589533"/>
                </a:lnTo>
                <a:lnTo>
                  <a:pt x="2282317" y="555370"/>
                </a:lnTo>
                <a:lnTo>
                  <a:pt x="2324354" y="519430"/>
                </a:lnTo>
                <a:lnTo>
                  <a:pt x="2365883" y="482092"/>
                </a:lnTo>
                <a:lnTo>
                  <a:pt x="2406904" y="443102"/>
                </a:lnTo>
                <a:lnTo>
                  <a:pt x="2447544" y="402463"/>
                </a:lnTo>
                <a:lnTo>
                  <a:pt x="2487675" y="360171"/>
                </a:lnTo>
                <a:lnTo>
                  <a:pt x="2527172" y="316356"/>
                </a:lnTo>
                <a:lnTo>
                  <a:pt x="2566288" y="271018"/>
                </a:lnTo>
                <a:lnTo>
                  <a:pt x="2604770" y="224155"/>
                </a:lnTo>
                <a:lnTo>
                  <a:pt x="2642743" y="175768"/>
                </a:lnTo>
                <a:lnTo>
                  <a:pt x="2680081" y="125602"/>
                </a:lnTo>
                <a:lnTo>
                  <a:pt x="2716784" y="74168"/>
                </a:lnTo>
                <a:lnTo>
                  <a:pt x="2752852" y="21462"/>
                </a:lnTo>
                <a:lnTo>
                  <a:pt x="2721356" y="0"/>
                </a:lnTo>
                <a:close/>
              </a:path>
              <a:path w="2753360" h="913764">
                <a:moveTo>
                  <a:pt x="0" y="888"/>
                </a:moveTo>
                <a:lnTo>
                  <a:pt x="17906" y="127381"/>
                </a:lnTo>
                <a:lnTo>
                  <a:pt x="49345" y="105700"/>
                </a:lnTo>
                <a:lnTo>
                  <a:pt x="38481" y="90169"/>
                </a:lnTo>
                <a:lnTo>
                  <a:pt x="69722" y="68325"/>
                </a:lnTo>
                <a:lnTo>
                  <a:pt x="103542" y="68325"/>
                </a:lnTo>
                <a:lnTo>
                  <a:pt x="112013" y="62483"/>
                </a:lnTo>
                <a:lnTo>
                  <a:pt x="0" y="888"/>
                </a:lnTo>
                <a:close/>
              </a:path>
              <a:path w="2753360" h="913764">
                <a:moveTo>
                  <a:pt x="69722" y="68325"/>
                </a:moveTo>
                <a:lnTo>
                  <a:pt x="38481" y="90169"/>
                </a:lnTo>
                <a:lnTo>
                  <a:pt x="49345" y="105700"/>
                </a:lnTo>
                <a:lnTo>
                  <a:pt x="80723" y="84062"/>
                </a:lnTo>
                <a:lnTo>
                  <a:pt x="69722" y="68325"/>
                </a:lnTo>
                <a:close/>
              </a:path>
              <a:path w="2753360" h="913764">
                <a:moveTo>
                  <a:pt x="103542" y="68325"/>
                </a:moveTo>
                <a:lnTo>
                  <a:pt x="69722" y="68325"/>
                </a:lnTo>
                <a:lnTo>
                  <a:pt x="80723" y="84062"/>
                </a:lnTo>
                <a:lnTo>
                  <a:pt x="103542" y="68325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2618867" y="1760220"/>
            <a:ext cx="3373120" cy="575945"/>
          </a:xfrm>
          <a:custGeom>
            <a:avLst/>
            <a:gdLst/>
            <a:ahLst/>
            <a:cxnLst/>
            <a:rect l="l" t="t" r="r" b="b"/>
            <a:pathLst>
              <a:path w="3373120" h="575944">
                <a:moveTo>
                  <a:pt x="1745360" y="0"/>
                </a:moveTo>
                <a:lnTo>
                  <a:pt x="1625854" y="2158"/>
                </a:lnTo>
                <a:lnTo>
                  <a:pt x="1506982" y="9016"/>
                </a:lnTo>
                <a:lnTo>
                  <a:pt x="1388998" y="20192"/>
                </a:lnTo>
                <a:lnTo>
                  <a:pt x="1271905" y="35687"/>
                </a:lnTo>
                <a:lnTo>
                  <a:pt x="1155827" y="55499"/>
                </a:lnTo>
                <a:lnTo>
                  <a:pt x="1041145" y="79628"/>
                </a:lnTo>
                <a:lnTo>
                  <a:pt x="927861" y="107950"/>
                </a:lnTo>
                <a:lnTo>
                  <a:pt x="816229" y="140462"/>
                </a:lnTo>
                <a:lnTo>
                  <a:pt x="706246" y="177037"/>
                </a:lnTo>
                <a:lnTo>
                  <a:pt x="598169" y="217677"/>
                </a:lnTo>
                <a:lnTo>
                  <a:pt x="492251" y="262508"/>
                </a:lnTo>
                <a:lnTo>
                  <a:pt x="388619" y="311150"/>
                </a:lnTo>
                <a:lnTo>
                  <a:pt x="287274" y="363854"/>
                </a:lnTo>
                <a:lnTo>
                  <a:pt x="188594" y="420242"/>
                </a:lnTo>
                <a:lnTo>
                  <a:pt x="92456" y="480694"/>
                </a:lnTo>
                <a:lnTo>
                  <a:pt x="0" y="544321"/>
                </a:lnTo>
                <a:lnTo>
                  <a:pt x="21589" y="575690"/>
                </a:lnTo>
                <a:lnTo>
                  <a:pt x="114045" y="512063"/>
                </a:lnTo>
                <a:lnTo>
                  <a:pt x="208787" y="452627"/>
                </a:lnTo>
                <a:lnTo>
                  <a:pt x="306196" y="396875"/>
                </a:lnTo>
                <a:lnTo>
                  <a:pt x="406145" y="344931"/>
                </a:lnTo>
                <a:lnTo>
                  <a:pt x="508507" y="297052"/>
                </a:lnTo>
                <a:lnTo>
                  <a:pt x="613028" y="252856"/>
                </a:lnTo>
                <a:lnTo>
                  <a:pt x="719708" y="212725"/>
                </a:lnTo>
                <a:lnTo>
                  <a:pt x="828294" y="176529"/>
                </a:lnTo>
                <a:lnTo>
                  <a:pt x="938530" y="144525"/>
                </a:lnTo>
                <a:lnTo>
                  <a:pt x="1050417" y="116585"/>
                </a:lnTo>
                <a:lnTo>
                  <a:pt x="1163573" y="92709"/>
                </a:lnTo>
                <a:lnTo>
                  <a:pt x="1278255" y="73278"/>
                </a:lnTo>
                <a:lnTo>
                  <a:pt x="1393952" y="57912"/>
                </a:lnTo>
                <a:lnTo>
                  <a:pt x="1510537" y="46989"/>
                </a:lnTo>
                <a:lnTo>
                  <a:pt x="1628012" y="40258"/>
                </a:lnTo>
                <a:lnTo>
                  <a:pt x="1745995" y="38100"/>
                </a:lnTo>
                <a:lnTo>
                  <a:pt x="2232194" y="38100"/>
                </a:lnTo>
                <a:lnTo>
                  <a:pt x="2184272" y="30479"/>
                </a:lnTo>
                <a:lnTo>
                  <a:pt x="2075560" y="17271"/>
                </a:lnTo>
                <a:lnTo>
                  <a:pt x="1966086" y="7619"/>
                </a:lnTo>
                <a:lnTo>
                  <a:pt x="1855978" y="1904"/>
                </a:lnTo>
                <a:lnTo>
                  <a:pt x="1745360" y="0"/>
                </a:lnTo>
                <a:close/>
              </a:path>
              <a:path w="3373120" h="575944">
                <a:moveTo>
                  <a:pt x="3265028" y="443057"/>
                </a:moveTo>
                <a:lnTo>
                  <a:pt x="3245358" y="474979"/>
                </a:lnTo>
                <a:lnTo>
                  <a:pt x="3372611" y="486282"/>
                </a:lnTo>
                <a:lnTo>
                  <a:pt x="3351907" y="452881"/>
                </a:lnTo>
                <a:lnTo>
                  <a:pt x="3282060" y="452881"/>
                </a:lnTo>
                <a:lnTo>
                  <a:pt x="3265028" y="443057"/>
                </a:lnTo>
                <a:close/>
              </a:path>
              <a:path w="3373120" h="575944">
                <a:moveTo>
                  <a:pt x="3285026" y="410603"/>
                </a:moveTo>
                <a:lnTo>
                  <a:pt x="3265028" y="443057"/>
                </a:lnTo>
                <a:lnTo>
                  <a:pt x="3282060" y="452881"/>
                </a:lnTo>
                <a:lnTo>
                  <a:pt x="3301110" y="419862"/>
                </a:lnTo>
                <a:lnTo>
                  <a:pt x="3285026" y="410603"/>
                </a:lnTo>
                <a:close/>
              </a:path>
              <a:path w="3373120" h="575944">
                <a:moveTo>
                  <a:pt x="3305302" y="377697"/>
                </a:moveTo>
                <a:lnTo>
                  <a:pt x="3285026" y="410603"/>
                </a:lnTo>
                <a:lnTo>
                  <a:pt x="3301110" y="419862"/>
                </a:lnTo>
                <a:lnTo>
                  <a:pt x="3282060" y="452881"/>
                </a:lnTo>
                <a:lnTo>
                  <a:pt x="3351907" y="452881"/>
                </a:lnTo>
                <a:lnTo>
                  <a:pt x="3305302" y="377697"/>
                </a:lnTo>
                <a:close/>
              </a:path>
              <a:path w="3373120" h="575944">
                <a:moveTo>
                  <a:pt x="2232194" y="38100"/>
                </a:moveTo>
                <a:lnTo>
                  <a:pt x="1745995" y="38100"/>
                </a:lnTo>
                <a:lnTo>
                  <a:pt x="1855216" y="40004"/>
                </a:lnTo>
                <a:lnTo>
                  <a:pt x="1964055" y="45719"/>
                </a:lnTo>
                <a:lnTo>
                  <a:pt x="2072258" y="55117"/>
                </a:lnTo>
                <a:lnTo>
                  <a:pt x="2179573" y="68325"/>
                </a:lnTo>
                <a:lnTo>
                  <a:pt x="2286127" y="85216"/>
                </a:lnTo>
                <a:lnTo>
                  <a:pt x="2391536" y="105663"/>
                </a:lnTo>
                <a:lnTo>
                  <a:pt x="2495931" y="129666"/>
                </a:lnTo>
                <a:lnTo>
                  <a:pt x="2599055" y="157352"/>
                </a:lnTo>
                <a:lnTo>
                  <a:pt x="2700655" y="188594"/>
                </a:lnTo>
                <a:lnTo>
                  <a:pt x="2800858" y="223265"/>
                </a:lnTo>
                <a:lnTo>
                  <a:pt x="2899283" y="261365"/>
                </a:lnTo>
                <a:lnTo>
                  <a:pt x="2996057" y="303021"/>
                </a:lnTo>
                <a:lnTo>
                  <a:pt x="3090798" y="347852"/>
                </a:lnTo>
                <a:lnTo>
                  <a:pt x="3183635" y="396113"/>
                </a:lnTo>
                <a:lnTo>
                  <a:pt x="3265028" y="443057"/>
                </a:lnTo>
                <a:lnTo>
                  <a:pt x="3285026" y="410603"/>
                </a:lnTo>
                <a:lnTo>
                  <a:pt x="3201161" y="362330"/>
                </a:lnTo>
                <a:lnTo>
                  <a:pt x="3107182" y="313435"/>
                </a:lnTo>
                <a:lnTo>
                  <a:pt x="3011043" y="267969"/>
                </a:lnTo>
                <a:lnTo>
                  <a:pt x="2913125" y="225932"/>
                </a:lnTo>
                <a:lnTo>
                  <a:pt x="2813304" y="187197"/>
                </a:lnTo>
                <a:lnTo>
                  <a:pt x="2711831" y="152145"/>
                </a:lnTo>
                <a:lnTo>
                  <a:pt x="2608960" y="120522"/>
                </a:lnTo>
                <a:lnTo>
                  <a:pt x="2504567" y="92582"/>
                </a:lnTo>
                <a:lnTo>
                  <a:pt x="2398775" y="68199"/>
                </a:lnTo>
                <a:lnTo>
                  <a:pt x="2292096" y="47625"/>
                </a:lnTo>
                <a:lnTo>
                  <a:pt x="2232194" y="38100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2701289" y="1465325"/>
            <a:ext cx="3809365" cy="252729"/>
          </a:xfrm>
          <a:custGeom>
            <a:avLst/>
            <a:gdLst/>
            <a:ahLst/>
            <a:cxnLst/>
            <a:rect l="l" t="t" r="r" b="b"/>
            <a:pathLst>
              <a:path w="3809365" h="252730">
                <a:moveTo>
                  <a:pt x="115863" y="120628"/>
                </a:moveTo>
                <a:lnTo>
                  <a:pt x="186309" y="168528"/>
                </a:lnTo>
                <a:lnTo>
                  <a:pt x="380111" y="190500"/>
                </a:lnTo>
                <a:lnTo>
                  <a:pt x="578104" y="209169"/>
                </a:lnTo>
                <a:lnTo>
                  <a:pt x="779780" y="224536"/>
                </a:lnTo>
                <a:lnTo>
                  <a:pt x="984504" y="236600"/>
                </a:lnTo>
                <a:lnTo>
                  <a:pt x="1192022" y="245237"/>
                </a:lnTo>
                <a:lnTo>
                  <a:pt x="1401445" y="250444"/>
                </a:lnTo>
                <a:lnTo>
                  <a:pt x="1612264" y="252222"/>
                </a:lnTo>
                <a:lnTo>
                  <a:pt x="1762506" y="251333"/>
                </a:lnTo>
                <a:lnTo>
                  <a:pt x="1912112" y="248665"/>
                </a:lnTo>
                <a:lnTo>
                  <a:pt x="2060702" y="244348"/>
                </a:lnTo>
                <a:lnTo>
                  <a:pt x="2208022" y="238251"/>
                </a:lnTo>
                <a:lnTo>
                  <a:pt x="2353945" y="230377"/>
                </a:lnTo>
                <a:lnTo>
                  <a:pt x="2498217" y="220852"/>
                </a:lnTo>
                <a:lnTo>
                  <a:pt x="2584113" y="214122"/>
                </a:lnTo>
                <a:lnTo>
                  <a:pt x="1612011" y="214122"/>
                </a:lnTo>
                <a:lnTo>
                  <a:pt x="1401699" y="212471"/>
                </a:lnTo>
                <a:lnTo>
                  <a:pt x="1193038" y="207137"/>
                </a:lnTo>
                <a:lnTo>
                  <a:pt x="986155" y="198500"/>
                </a:lnTo>
                <a:lnTo>
                  <a:pt x="781938" y="186562"/>
                </a:lnTo>
                <a:lnTo>
                  <a:pt x="580898" y="171196"/>
                </a:lnTo>
                <a:lnTo>
                  <a:pt x="383667" y="152526"/>
                </a:lnTo>
                <a:lnTo>
                  <a:pt x="190627" y="130556"/>
                </a:lnTo>
                <a:lnTo>
                  <a:pt x="115863" y="120628"/>
                </a:lnTo>
                <a:close/>
              </a:path>
              <a:path w="3809365" h="252730">
                <a:moveTo>
                  <a:pt x="3801364" y="0"/>
                </a:moveTo>
                <a:lnTo>
                  <a:pt x="3684270" y="25146"/>
                </a:lnTo>
                <a:lnTo>
                  <a:pt x="3564001" y="48895"/>
                </a:lnTo>
                <a:lnTo>
                  <a:pt x="3440303" y="71120"/>
                </a:lnTo>
                <a:lnTo>
                  <a:pt x="3313303" y="91821"/>
                </a:lnTo>
                <a:lnTo>
                  <a:pt x="3183382" y="110871"/>
                </a:lnTo>
                <a:lnTo>
                  <a:pt x="3050540" y="128524"/>
                </a:lnTo>
                <a:lnTo>
                  <a:pt x="2915158" y="144525"/>
                </a:lnTo>
                <a:lnTo>
                  <a:pt x="2777363" y="158876"/>
                </a:lnTo>
                <a:lnTo>
                  <a:pt x="2637409" y="171703"/>
                </a:lnTo>
                <a:lnTo>
                  <a:pt x="2495296" y="182879"/>
                </a:lnTo>
                <a:lnTo>
                  <a:pt x="2351405" y="192404"/>
                </a:lnTo>
                <a:lnTo>
                  <a:pt x="2205863" y="200151"/>
                </a:lnTo>
                <a:lnTo>
                  <a:pt x="2059051" y="206248"/>
                </a:lnTo>
                <a:lnTo>
                  <a:pt x="1910969" y="210565"/>
                </a:lnTo>
                <a:lnTo>
                  <a:pt x="1761871" y="213233"/>
                </a:lnTo>
                <a:lnTo>
                  <a:pt x="1612011" y="214122"/>
                </a:lnTo>
                <a:lnTo>
                  <a:pt x="2584113" y="214122"/>
                </a:lnTo>
                <a:lnTo>
                  <a:pt x="2640838" y="209676"/>
                </a:lnTo>
                <a:lnTo>
                  <a:pt x="2781300" y="196723"/>
                </a:lnTo>
                <a:lnTo>
                  <a:pt x="2919603" y="182372"/>
                </a:lnTo>
                <a:lnTo>
                  <a:pt x="3055493" y="166243"/>
                </a:lnTo>
                <a:lnTo>
                  <a:pt x="3188843" y="148589"/>
                </a:lnTo>
                <a:lnTo>
                  <a:pt x="3319526" y="129412"/>
                </a:lnTo>
                <a:lnTo>
                  <a:pt x="3447034" y="108585"/>
                </a:lnTo>
                <a:lnTo>
                  <a:pt x="3571367" y="86360"/>
                </a:lnTo>
                <a:lnTo>
                  <a:pt x="3692271" y="62484"/>
                </a:lnTo>
                <a:lnTo>
                  <a:pt x="3809365" y="37211"/>
                </a:lnTo>
                <a:lnTo>
                  <a:pt x="3801364" y="0"/>
                </a:lnTo>
                <a:close/>
              </a:path>
              <a:path w="3809365" h="252730">
                <a:moveTo>
                  <a:pt x="120904" y="82803"/>
                </a:moveTo>
                <a:lnTo>
                  <a:pt x="0" y="124333"/>
                </a:lnTo>
                <a:lnTo>
                  <a:pt x="105791" y="196214"/>
                </a:lnTo>
                <a:lnTo>
                  <a:pt x="110834" y="158370"/>
                </a:lnTo>
                <a:lnTo>
                  <a:pt x="91948" y="155828"/>
                </a:lnTo>
                <a:lnTo>
                  <a:pt x="96901" y="118110"/>
                </a:lnTo>
                <a:lnTo>
                  <a:pt x="116199" y="118110"/>
                </a:lnTo>
                <a:lnTo>
                  <a:pt x="120904" y="82803"/>
                </a:lnTo>
                <a:close/>
              </a:path>
              <a:path w="3809365" h="252730">
                <a:moveTo>
                  <a:pt x="96901" y="118110"/>
                </a:moveTo>
                <a:lnTo>
                  <a:pt x="91948" y="155828"/>
                </a:lnTo>
                <a:lnTo>
                  <a:pt x="110834" y="158370"/>
                </a:lnTo>
                <a:lnTo>
                  <a:pt x="115863" y="120628"/>
                </a:lnTo>
                <a:lnTo>
                  <a:pt x="96901" y="118110"/>
                </a:lnTo>
                <a:close/>
              </a:path>
              <a:path w="3809365" h="252730">
                <a:moveTo>
                  <a:pt x="116199" y="118110"/>
                </a:moveTo>
                <a:lnTo>
                  <a:pt x="96901" y="118110"/>
                </a:lnTo>
                <a:lnTo>
                  <a:pt x="115863" y="120628"/>
                </a:lnTo>
                <a:lnTo>
                  <a:pt x="116199" y="118110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1252241" y="5101066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243844"/>
                </a:moveTo>
                <a:lnTo>
                  <a:pt x="0" y="0"/>
                </a:lnTo>
              </a:path>
            </a:pathLst>
          </a:custGeom>
          <a:ln w="106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 txBox="1"/>
          <p:nvPr/>
        </p:nvSpPr>
        <p:spPr>
          <a:xfrm>
            <a:off x="4224782" y="5305781"/>
            <a:ext cx="678815" cy="21971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tabLst>
                <a:tab pos="302895" algn="l"/>
                <a:tab pos="665480" algn="l"/>
              </a:tabLst>
            </a:pPr>
            <a:r>
              <a:rPr sz="1250" b="1" u="dbl" spc="25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250" b="1" spc="25" dirty="0">
                <a:latin typeface="Arial" panose="020B0604020202090204"/>
                <a:cs typeface="Arial" panose="020B0604020202090204"/>
              </a:rPr>
              <a:t> </a:t>
            </a:r>
            <a:r>
              <a:rPr sz="1250" b="1" spc="-130" dirty="0">
                <a:latin typeface="Arial" panose="020B0604020202090204"/>
                <a:cs typeface="Arial" panose="020B0604020202090204"/>
              </a:rPr>
              <a:t> </a:t>
            </a:r>
            <a:r>
              <a:rPr sz="1250" b="1" u="heavy" spc="25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250" b="1" u="heavy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37" name="object 337"/>
          <p:cNvSpPr/>
          <p:nvPr/>
        </p:nvSpPr>
        <p:spPr>
          <a:xfrm>
            <a:off x="1241594" y="5529757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244165"/>
                </a:moveTo>
                <a:lnTo>
                  <a:pt x="0" y="0"/>
                </a:lnTo>
              </a:path>
            </a:pathLst>
          </a:custGeom>
          <a:ln w="106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 txBox="1"/>
          <p:nvPr/>
        </p:nvSpPr>
        <p:spPr>
          <a:xfrm>
            <a:off x="1165365" y="4917736"/>
            <a:ext cx="28067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60" dirty="0">
                <a:latin typeface="Arial" panose="020B0604020202090204"/>
                <a:cs typeface="Arial" panose="020B0604020202090204"/>
              </a:rPr>
              <a:t>O</a:t>
            </a:r>
            <a:r>
              <a:rPr sz="1250" b="1" spc="6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H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39" name="object 339"/>
          <p:cNvSpPr txBox="1"/>
          <p:nvPr/>
        </p:nvSpPr>
        <p:spPr>
          <a:xfrm>
            <a:off x="4224782" y="4917736"/>
            <a:ext cx="678815" cy="21971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tabLst>
                <a:tab pos="302895" algn="l"/>
                <a:tab pos="665480" algn="l"/>
              </a:tabLst>
            </a:pPr>
            <a:r>
              <a:rPr sz="1250" b="1" u="heavy" spc="25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250" b="1" spc="2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50" b="1" spc="-13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50" b="1" u="heavy" spc="25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250" b="1" u="heavy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40" name="object 340"/>
          <p:cNvSpPr txBox="1"/>
          <p:nvPr/>
        </p:nvSpPr>
        <p:spPr>
          <a:xfrm>
            <a:off x="248411" y="5336255"/>
            <a:ext cx="1594485" cy="617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875" b="1" spc="67" baseline="11000" dirty="0">
                <a:latin typeface="Arial" panose="020B0604020202090204"/>
                <a:cs typeface="Arial" panose="020B0604020202090204"/>
              </a:rPr>
              <a:t>-</a:t>
            </a:r>
            <a:r>
              <a:rPr sz="1250" b="1" spc="45" dirty="0">
                <a:latin typeface="Arial" panose="020B0604020202090204"/>
                <a:cs typeface="Arial" panose="020B0604020202090204"/>
              </a:rPr>
              <a:t>OOC-CH</a:t>
            </a:r>
            <a:r>
              <a:rPr sz="1875" b="1" spc="67" baseline="-11000" dirty="0">
                <a:latin typeface="Arial" panose="020B0604020202090204"/>
                <a:cs typeface="Arial" panose="020B0604020202090204"/>
              </a:rPr>
              <a:t>2</a:t>
            </a:r>
            <a:r>
              <a:rPr sz="1250" b="1" spc="45" dirty="0">
                <a:latin typeface="Arial" panose="020B0604020202090204"/>
                <a:cs typeface="Arial" panose="020B0604020202090204"/>
              </a:rPr>
              <a:t>-C-COO</a:t>
            </a:r>
            <a:r>
              <a:rPr sz="1875" b="1" spc="67" baseline="11000" dirty="0">
                <a:latin typeface="Arial" panose="020B0604020202090204"/>
                <a:cs typeface="Arial" panose="020B0604020202090204"/>
              </a:rPr>
              <a:t>-</a:t>
            </a:r>
            <a:endParaRPr sz="1875" baseline="11000">
              <a:latin typeface="Arial" panose="020B0604020202090204"/>
              <a:cs typeface="Arial" panose="020B0604020202090204"/>
            </a:endParaRPr>
          </a:p>
          <a:p>
            <a:pPr marL="939800">
              <a:lnSpc>
                <a:spcPct val="100000"/>
              </a:lnSpc>
              <a:spcBef>
                <a:spcPts val="1635"/>
              </a:spcBef>
            </a:pPr>
            <a:r>
              <a:rPr sz="1250" b="1" spc="6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H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41" name="object 341"/>
          <p:cNvSpPr txBox="1"/>
          <p:nvPr/>
        </p:nvSpPr>
        <p:spPr>
          <a:xfrm>
            <a:off x="965403" y="5942787"/>
            <a:ext cx="642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" dirty="0">
                <a:solidFill>
                  <a:srgbClr val="003366"/>
                </a:solidFill>
                <a:latin typeface="黑体"/>
                <a:cs typeface="黑体"/>
              </a:rPr>
              <a:t>苹果酸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42" name="object 342"/>
          <p:cNvSpPr txBox="1"/>
          <p:nvPr/>
        </p:nvSpPr>
        <p:spPr>
          <a:xfrm>
            <a:off x="452119" y="1991403"/>
            <a:ext cx="81280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spc="15" dirty="0">
                <a:latin typeface="Arial" panose="020B0604020202090204"/>
                <a:cs typeface="Arial" panose="020B0604020202090204"/>
              </a:rPr>
              <a:t>-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43" name="object 343"/>
          <p:cNvSpPr txBox="1"/>
          <p:nvPr/>
        </p:nvSpPr>
        <p:spPr>
          <a:xfrm>
            <a:off x="481796" y="2021857"/>
            <a:ext cx="1452245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50" b="1" spc="35" dirty="0">
                <a:latin typeface="Arial" panose="020B0604020202090204"/>
                <a:cs typeface="Arial" panose="020B0604020202090204"/>
              </a:rPr>
              <a:t>OOC-CH</a:t>
            </a:r>
            <a:r>
              <a:rPr sz="1875" b="1" spc="52" baseline="-11000" dirty="0">
                <a:latin typeface="Arial" panose="020B0604020202090204"/>
                <a:cs typeface="Arial" panose="020B0604020202090204"/>
              </a:rPr>
              <a:t>2</a:t>
            </a:r>
            <a:r>
              <a:rPr sz="1250" b="1" spc="35" dirty="0">
                <a:latin typeface="Arial" panose="020B0604020202090204"/>
                <a:cs typeface="Arial" panose="020B0604020202090204"/>
              </a:rPr>
              <a:t>-C-COO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44" name="object 344"/>
          <p:cNvSpPr txBox="1"/>
          <p:nvPr/>
        </p:nvSpPr>
        <p:spPr>
          <a:xfrm>
            <a:off x="1881090" y="1991403"/>
            <a:ext cx="81280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spc="15" dirty="0">
                <a:latin typeface="Arial" panose="020B0604020202090204"/>
                <a:cs typeface="Arial" panose="020B0604020202090204"/>
              </a:rPr>
              <a:t>-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45" name="object 345"/>
          <p:cNvSpPr/>
          <p:nvPr/>
        </p:nvSpPr>
        <p:spPr>
          <a:xfrm>
            <a:off x="1405147" y="1859589"/>
            <a:ext cx="0" cy="191135"/>
          </a:xfrm>
          <a:custGeom>
            <a:avLst/>
            <a:gdLst/>
            <a:ahLst/>
            <a:cxnLst/>
            <a:rect l="l" t="t" r="r" b="b"/>
            <a:pathLst>
              <a:path h="191135">
                <a:moveTo>
                  <a:pt x="0" y="190579"/>
                </a:moveTo>
                <a:lnTo>
                  <a:pt x="0" y="0"/>
                </a:lnTo>
              </a:path>
            </a:pathLst>
          </a:custGeom>
          <a:ln w="10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1371894" y="1866791"/>
            <a:ext cx="0" cy="187325"/>
          </a:xfrm>
          <a:custGeom>
            <a:avLst/>
            <a:gdLst/>
            <a:ahLst/>
            <a:cxnLst/>
            <a:rect l="l" t="t" r="r" b="b"/>
            <a:pathLst>
              <a:path h="187325">
                <a:moveTo>
                  <a:pt x="0" y="187299"/>
                </a:moveTo>
                <a:lnTo>
                  <a:pt x="0" y="0"/>
                </a:lnTo>
              </a:path>
            </a:pathLst>
          </a:custGeom>
          <a:ln w="10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 txBox="1"/>
          <p:nvPr/>
        </p:nvSpPr>
        <p:spPr>
          <a:xfrm>
            <a:off x="1313525" y="1677701"/>
            <a:ext cx="154940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spc="45" dirty="0">
                <a:latin typeface="Arial" panose="020B0604020202090204"/>
                <a:cs typeface="Arial" panose="020B0604020202090204"/>
              </a:rPr>
              <a:t>O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48" name="object 348"/>
          <p:cNvSpPr txBox="1"/>
          <p:nvPr/>
        </p:nvSpPr>
        <p:spPr>
          <a:xfrm>
            <a:off x="171297" y="2169806"/>
            <a:ext cx="936625" cy="10528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700"/>
              </a:spcBef>
            </a:pPr>
            <a:r>
              <a:rPr sz="1600" b="1" spc="5" dirty="0">
                <a:solidFill>
                  <a:srgbClr val="003366"/>
                </a:solidFill>
                <a:latin typeface="黑体"/>
                <a:cs typeface="黑体"/>
              </a:rPr>
              <a:t>草酰乙酸</a:t>
            </a:r>
            <a:endParaRPr sz="1600">
              <a:latin typeface="黑体"/>
              <a:cs typeface="黑体"/>
            </a:endParaRPr>
          </a:p>
          <a:p>
            <a:pPr marR="114300" algn="ctr">
              <a:lnSpc>
                <a:spcPct val="100000"/>
              </a:lnSpc>
              <a:spcBef>
                <a:spcPts val="765"/>
              </a:spcBef>
            </a:pPr>
            <a:r>
              <a:rPr sz="2000" b="1" spc="5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NADH</a:t>
            </a:r>
            <a:endParaRPr sz="2000">
              <a:latin typeface="Arial" panose="020B0604020202090204"/>
              <a:cs typeface="Arial" panose="020B0604020202090204"/>
            </a:endParaRPr>
          </a:p>
          <a:p>
            <a:pPr marR="114300" algn="ctr">
              <a:lnSpc>
                <a:spcPct val="100000"/>
              </a:lnSpc>
            </a:pPr>
            <a:r>
              <a:rPr sz="2000" b="1" spc="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+H</a:t>
            </a:r>
            <a:r>
              <a:rPr sz="1950" b="1" spc="15" baseline="2600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950" baseline="26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49" name="object 349"/>
          <p:cNvSpPr/>
          <p:nvPr/>
        </p:nvSpPr>
        <p:spPr>
          <a:xfrm>
            <a:off x="3494713" y="3879348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5">
                <a:moveTo>
                  <a:pt x="0" y="194417"/>
                </a:moveTo>
                <a:lnTo>
                  <a:pt x="0" y="0"/>
                </a:lnTo>
              </a:path>
            </a:pathLst>
          </a:custGeom>
          <a:ln w="103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3461172" y="3886708"/>
            <a:ext cx="0" cy="191770"/>
          </a:xfrm>
          <a:custGeom>
            <a:avLst/>
            <a:gdLst/>
            <a:ahLst/>
            <a:cxnLst/>
            <a:rect l="l" t="t" r="r" b="b"/>
            <a:pathLst>
              <a:path h="191770">
                <a:moveTo>
                  <a:pt x="0" y="191405"/>
                </a:moveTo>
                <a:lnTo>
                  <a:pt x="0" y="0"/>
                </a:lnTo>
              </a:path>
            </a:pathLst>
          </a:custGeom>
          <a:ln w="103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 txBox="1"/>
          <p:nvPr/>
        </p:nvSpPr>
        <p:spPr>
          <a:xfrm>
            <a:off x="2121407" y="3693750"/>
            <a:ext cx="1949450" cy="584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94130">
              <a:lnSpc>
                <a:spcPct val="100000"/>
              </a:lnSpc>
              <a:spcBef>
                <a:spcPts val="90"/>
              </a:spcBef>
            </a:pPr>
            <a:r>
              <a:rPr sz="1300" b="1" spc="5" dirty="0">
                <a:latin typeface="Arial" panose="020B0604020202090204"/>
                <a:cs typeface="Arial" panose="020B0604020202090204"/>
              </a:rPr>
              <a:t>O</a:t>
            </a:r>
            <a:endParaRPr sz="13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 panose="02020503050405090304"/>
              <a:cs typeface="Times New Roman" panose="02020503050405090304"/>
            </a:endParaRPr>
          </a:p>
          <a:p>
            <a:pPr marL="38100">
              <a:lnSpc>
                <a:spcPct val="100000"/>
              </a:lnSpc>
            </a:pPr>
            <a:r>
              <a:rPr sz="1950" b="1" baseline="11000" dirty="0">
                <a:latin typeface="Arial" panose="020B0604020202090204"/>
                <a:cs typeface="Arial" panose="020B0604020202090204"/>
              </a:rPr>
              <a:t>-</a:t>
            </a:r>
            <a:r>
              <a:rPr sz="1300" b="1" dirty="0">
                <a:latin typeface="Arial" panose="020B0604020202090204"/>
                <a:cs typeface="Arial" panose="020B0604020202090204"/>
              </a:rPr>
              <a:t>OOC-CH</a:t>
            </a:r>
            <a:r>
              <a:rPr sz="1950" b="1" baseline="-11000" dirty="0">
                <a:latin typeface="Arial" panose="020B0604020202090204"/>
                <a:cs typeface="Arial" panose="020B0604020202090204"/>
              </a:rPr>
              <a:t>2</a:t>
            </a:r>
            <a:r>
              <a:rPr sz="1300" b="1" dirty="0">
                <a:latin typeface="Arial" panose="020B0604020202090204"/>
                <a:cs typeface="Arial" panose="020B0604020202090204"/>
              </a:rPr>
              <a:t>-CH</a:t>
            </a:r>
            <a:r>
              <a:rPr sz="1950" b="1" baseline="-11000" dirty="0">
                <a:latin typeface="Arial" panose="020B0604020202090204"/>
                <a:cs typeface="Arial" panose="020B0604020202090204"/>
              </a:rPr>
              <a:t>2</a:t>
            </a:r>
            <a:r>
              <a:rPr sz="1300" b="1" dirty="0">
                <a:latin typeface="Arial" panose="020B0604020202090204"/>
                <a:cs typeface="Arial" panose="020B0604020202090204"/>
              </a:rPr>
              <a:t>-C-COO</a:t>
            </a:r>
            <a:r>
              <a:rPr sz="1950" b="1" baseline="11000" dirty="0">
                <a:latin typeface="Arial" panose="020B0604020202090204"/>
                <a:cs typeface="Arial" panose="020B0604020202090204"/>
              </a:rPr>
              <a:t>-</a:t>
            </a:r>
            <a:endParaRPr sz="1950" baseline="1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52" name="object 352"/>
          <p:cNvSpPr/>
          <p:nvPr/>
        </p:nvSpPr>
        <p:spPr>
          <a:xfrm>
            <a:off x="6327829" y="3879348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5">
                <a:moveTo>
                  <a:pt x="0" y="194417"/>
                </a:moveTo>
                <a:lnTo>
                  <a:pt x="0" y="0"/>
                </a:lnTo>
              </a:path>
            </a:pathLst>
          </a:custGeom>
          <a:ln w="103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6294288" y="3886708"/>
            <a:ext cx="0" cy="191770"/>
          </a:xfrm>
          <a:custGeom>
            <a:avLst/>
            <a:gdLst/>
            <a:ahLst/>
            <a:cxnLst/>
            <a:rect l="l" t="t" r="r" b="b"/>
            <a:pathLst>
              <a:path h="191770">
                <a:moveTo>
                  <a:pt x="0" y="191405"/>
                </a:moveTo>
                <a:lnTo>
                  <a:pt x="0" y="0"/>
                </a:lnTo>
              </a:path>
            </a:pathLst>
          </a:custGeom>
          <a:ln w="103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 txBox="1"/>
          <p:nvPr/>
        </p:nvSpPr>
        <p:spPr>
          <a:xfrm>
            <a:off x="6235978" y="3693750"/>
            <a:ext cx="154940" cy="22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b="1" spc="5" dirty="0">
                <a:latin typeface="Arial" panose="020B0604020202090204"/>
                <a:cs typeface="Arial" panose="020B0604020202090204"/>
              </a:rPr>
              <a:t>O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55" name="object 355"/>
          <p:cNvSpPr txBox="1"/>
          <p:nvPr/>
        </p:nvSpPr>
        <p:spPr>
          <a:xfrm>
            <a:off x="4954523" y="3998843"/>
            <a:ext cx="2082164" cy="5924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35"/>
              </a:spcBef>
            </a:pPr>
            <a:r>
              <a:rPr sz="1950" b="1" baseline="11000" dirty="0">
                <a:latin typeface="Arial" panose="020B0604020202090204"/>
                <a:cs typeface="Arial" panose="020B0604020202090204"/>
              </a:rPr>
              <a:t>-</a:t>
            </a:r>
            <a:r>
              <a:rPr sz="1300" b="1" dirty="0">
                <a:latin typeface="Arial" panose="020B0604020202090204"/>
                <a:cs typeface="Arial" panose="020B0604020202090204"/>
              </a:rPr>
              <a:t>OOC-CH</a:t>
            </a:r>
            <a:r>
              <a:rPr sz="1950" b="1" baseline="-11000" dirty="0">
                <a:latin typeface="Arial" panose="020B0604020202090204"/>
                <a:cs typeface="Arial" panose="020B0604020202090204"/>
              </a:rPr>
              <a:t>2</a:t>
            </a:r>
            <a:r>
              <a:rPr sz="1300" b="1" dirty="0">
                <a:latin typeface="Arial" panose="020B0604020202090204"/>
                <a:cs typeface="Arial" panose="020B0604020202090204"/>
              </a:rPr>
              <a:t>-CH</a:t>
            </a:r>
            <a:r>
              <a:rPr sz="1950" b="1" baseline="-11000" dirty="0">
                <a:latin typeface="Arial" panose="020B0604020202090204"/>
                <a:cs typeface="Arial" panose="020B0604020202090204"/>
              </a:rPr>
              <a:t>2</a:t>
            </a:r>
            <a:r>
              <a:rPr sz="1300" b="1" dirty="0">
                <a:latin typeface="Arial" panose="020B0604020202090204"/>
                <a:cs typeface="Arial" panose="020B0604020202090204"/>
              </a:rPr>
              <a:t>-C-COO</a:t>
            </a:r>
            <a:r>
              <a:rPr sz="1950" b="1" baseline="11000" dirty="0">
                <a:latin typeface="Arial" panose="020B0604020202090204"/>
                <a:cs typeface="Arial" panose="020B0604020202090204"/>
              </a:rPr>
              <a:t>-</a:t>
            </a:r>
            <a:endParaRPr sz="1950" baseline="11000">
              <a:latin typeface="Arial" panose="020B0604020202090204"/>
              <a:cs typeface="Arial" panose="020B0604020202090204"/>
            </a:endParaRPr>
          </a:p>
          <a:p>
            <a:pPr marL="1040765">
              <a:lnSpc>
                <a:spcPct val="100000"/>
              </a:lnSpc>
              <a:spcBef>
                <a:spcPts val="545"/>
              </a:spcBef>
            </a:pPr>
            <a:r>
              <a:rPr sz="1600" b="1" spc="-1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α-</a:t>
            </a:r>
            <a:r>
              <a:rPr sz="1600" b="1" spc="5" dirty="0">
                <a:solidFill>
                  <a:srgbClr val="003366"/>
                </a:solidFill>
                <a:latin typeface="黑体"/>
                <a:cs typeface="黑体"/>
              </a:rPr>
              <a:t>酮戊二酸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5025644" y="2342340"/>
            <a:ext cx="6731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" dirty="0">
                <a:latin typeface="Arial" panose="020B0604020202090204"/>
                <a:cs typeface="Arial" panose="020B0604020202090204"/>
              </a:rPr>
              <a:t>-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57" name="object 357"/>
          <p:cNvSpPr txBox="1"/>
          <p:nvPr/>
        </p:nvSpPr>
        <p:spPr>
          <a:xfrm>
            <a:off x="4199382" y="2437115"/>
            <a:ext cx="26517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27025" algn="l"/>
                <a:tab pos="690245" algn="l"/>
                <a:tab pos="880110" algn="l"/>
              </a:tabLst>
            </a:pPr>
            <a:r>
              <a:rPr sz="1300" b="1" u="heavy" spc="5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300" b="1" spc="5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spc="-150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u="dbl" spc="5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300" b="1" u="dbl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r>
              <a:rPr sz="1300" b="1" dirty="0">
                <a:latin typeface="Arial" panose="020B0604020202090204"/>
                <a:cs typeface="Arial" panose="020B0604020202090204"/>
              </a:rPr>
              <a:t>	</a:t>
            </a:r>
            <a:r>
              <a:rPr sz="1300" b="1" spc="5" dirty="0">
                <a:latin typeface="Arial" panose="020B0604020202090204"/>
                <a:cs typeface="Arial" panose="020B0604020202090204"/>
              </a:rPr>
              <a:t>OOC-CH</a:t>
            </a:r>
            <a:r>
              <a:rPr sz="1425" b="1" spc="7" baseline="-35000" dirty="0">
                <a:latin typeface="Arial" panose="020B0604020202090204"/>
                <a:cs typeface="Arial" panose="020B0604020202090204"/>
              </a:rPr>
              <a:t>2</a:t>
            </a:r>
            <a:r>
              <a:rPr sz="1300" b="1" spc="5" dirty="0">
                <a:latin typeface="Arial" panose="020B0604020202090204"/>
                <a:cs typeface="Arial" panose="020B0604020202090204"/>
              </a:rPr>
              <a:t>-CH</a:t>
            </a:r>
            <a:r>
              <a:rPr sz="1425" b="1" spc="7" baseline="-35000" dirty="0">
                <a:latin typeface="Arial" panose="020B0604020202090204"/>
                <a:cs typeface="Arial" panose="020B0604020202090204"/>
              </a:rPr>
              <a:t>2</a:t>
            </a:r>
            <a:r>
              <a:rPr sz="1300" b="1" spc="5" dirty="0">
                <a:latin typeface="Arial" panose="020B0604020202090204"/>
                <a:cs typeface="Arial" panose="020B0604020202090204"/>
              </a:rPr>
              <a:t>-C-COO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58" name="object 358"/>
          <p:cNvSpPr txBox="1"/>
          <p:nvPr/>
        </p:nvSpPr>
        <p:spPr>
          <a:xfrm>
            <a:off x="6786352" y="2342340"/>
            <a:ext cx="6731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" dirty="0">
                <a:latin typeface="Arial" panose="020B0604020202090204"/>
                <a:cs typeface="Arial" panose="020B0604020202090204"/>
              </a:rPr>
              <a:t>-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59" name="object 359"/>
          <p:cNvSpPr/>
          <p:nvPr/>
        </p:nvSpPr>
        <p:spPr>
          <a:xfrm>
            <a:off x="6306325" y="2247945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218536"/>
                </a:moveTo>
                <a:lnTo>
                  <a:pt x="0" y="0"/>
                </a:lnTo>
              </a:path>
            </a:pathLst>
          </a:custGeom>
          <a:ln w="104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6306325" y="2643400"/>
            <a:ext cx="0" cy="227329"/>
          </a:xfrm>
          <a:custGeom>
            <a:avLst/>
            <a:gdLst/>
            <a:ahLst/>
            <a:cxnLst/>
            <a:rect l="l" t="t" r="r" b="b"/>
            <a:pathLst>
              <a:path h="227330">
                <a:moveTo>
                  <a:pt x="0" y="0"/>
                </a:moveTo>
                <a:lnTo>
                  <a:pt x="0" y="226931"/>
                </a:lnTo>
              </a:path>
            </a:pathLst>
          </a:custGeom>
          <a:ln w="104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 txBox="1"/>
          <p:nvPr/>
        </p:nvSpPr>
        <p:spPr>
          <a:xfrm>
            <a:off x="6175055" y="2174828"/>
            <a:ext cx="9525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20" dirty="0">
                <a:latin typeface="Arial" panose="020B0604020202090204"/>
                <a:cs typeface="Arial" panose="020B0604020202090204"/>
              </a:rPr>
              <a:t>3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62" name="object 362"/>
          <p:cNvSpPr txBox="1"/>
          <p:nvPr/>
        </p:nvSpPr>
        <p:spPr>
          <a:xfrm>
            <a:off x="6054480" y="2060460"/>
            <a:ext cx="3371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10" dirty="0">
                <a:latin typeface="Arial" panose="020B0604020202090204"/>
                <a:cs typeface="Arial" panose="020B0604020202090204"/>
              </a:rPr>
              <a:t>H</a:t>
            </a:r>
            <a:r>
              <a:rPr sz="1300" b="1" spc="105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spc="10" dirty="0">
                <a:latin typeface="Arial" panose="020B0604020202090204"/>
                <a:cs typeface="Arial" panose="020B0604020202090204"/>
              </a:rPr>
              <a:t>N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63" name="object 363"/>
          <p:cNvSpPr txBox="1"/>
          <p:nvPr/>
        </p:nvSpPr>
        <p:spPr>
          <a:xfrm>
            <a:off x="6365508" y="1966026"/>
            <a:ext cx="990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20" dirty="0">
                <a:latin typeface="Arial" panose="020B0604020202090204"/>
                <a:cs typeface="Arial" panose="020B0604020202090204"/>
              </a:rPr>
              <a:t>+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64" name="object 364"/>
          <p:cNvSpPr txBox="1"/>
          <p:nvPr/>
        </p:nvSpPr>
        <p:spPr>
          <a:xfrm>
            <a:off x="6241558" y="2809409"/>
            <a:ext cx="1466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10" dirty="0">
                <a:latin typeface="Arial" panose="020B0604020202090204"/>
                <a:cs typeface="Arial" panose="020B0604020202090204"/>
              </a:rPr>
              <a:t>H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65" name="object 365"/>
          <p:cNvSpPr txBox="1"/>
          <p:nvPr/>
        </p:nvSpPr>
        <p:spPr>
          <a:xfrm>
            <a:off x="5336285" y="2678683"/>
            <a:ext cx="643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" dirty="0">
                <a:solidFill>
                  <a:srgbClr val="003366"/>
                </a:solidFill>
                <a:latin typeface="黑体"/>
                <a:cs typeface="黑体"/>
              </a:rPr>
              <a:t>谷氨酸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66" name="object 366"/>
          <p:cNvSpPr/>
          <p:nvPr/>
        </p:nvSpPr>
        <p:spPr>
          <a:xfrm>
            <a:off x="1133855" y="2492501"/>
            <a:ext cx="86995" cy="2376170"/>
          </a:xfrm>
          <a:custGeom>
            <a:avLst/>
            <a:gdLst/>
            <a:ahLst/>
            <a:cxnLst/>
            <a:rect l="l" t="t" r="r" b="b"/>
            <a:pathLst>
              <a:path w="86994" h="2376170">
                <a:moveTo>
                  <a:pt x="28956" y="2289048"/>
                </a:moveTo>
                <a:lnTo>
                  <a:pt x="0" y="2289048"/>
                </a:lnTo>
                <a:lnTo>
                  <a:pt x="43434" y="2375916"/>
                </a:lnTo>
                <a:lnTo>
                  <a:pt x="79629" y="2303526"/>
                </a:lnTo>
                <a:lnTo>
                  <a:pt x="28956" y="2303526"/>
                </a:lnTo>
                <a:lnTo>
                  <a:pt x="28956" y="2289048"/>
                </a:lnTo>
                <a:close/>
              </a:path>
              <a:path w="86994" h="2376170">
                <a:moveTo>
                  <a:pt x="57912" y="0"/>
                </a:moveTo>
                <a:lnTo>
                  <a:pt x="28956" y="0"/>
                </a:lnTo>
                <a:lnTo>
                  <a:pt x="28956" y="2303526"/>
                </a:lnTo>
                <a:lnTo>
                  <a:pt x="57912" y="2303526"/>
                </a:lnTo>
                <a:lnTo>
                  <a:pt x="57912" y="0"/>
                </a:lnTo>
                <a:close/>
              </a:path>
              <a:path w="86994" h="2376170">
                <a:moveTo>
                  <a:pt x="86868" y="2289048"/>
                </a:moveTo>
                <a:lnTo>
                  <a:pt x="57912" y="2289048"/>
                </a:lnTo>
                <a:lnTo>
                  <a:pt x="57912" y="2303526"/>
                </a:lnTo>
                <a:lnTo>
                  <a:pt x="79629" y="2303526"/>
                </a:lnTo>
                <a:lnTo>
                  <a:pt x="86868" y="228904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732853" y="3013329"/>
            <a:ext cx="451484" cy="1495425"/>
          </a:xfrm>
          <a:custGeom>
            <a:avLst/>
            <a:gdLst/>
            <a:ahLst/>
            <a:cxnLst/>
            <a:rect l="l" t="t" r="r" b="b"/>
            <a:pathLst>
              <a:path w="451484" h="1495425">
                <a:moveTo>
                  <a:pt x="55905" y="1416050"/>
                </a:moveTo>
                <a:lnTo>
                  <a:pt x="0" y="1495425"/>
                </a:lnTo>
                <a:lnTo>
                  <a:pt x="97078" y="1492504"/>
                </a:lnTo>
                <a:lnTo>
                  <a:pt x="86819" y="1473454"/>
                </a:lnTo>
                <a:lnTo>
                  <a:pt x="71259" y="1473454"/>
                </a:lnTo>
                <a:lnTo>
                  <a:pt x="56222" y="1448689"/>
                </a:lnTo>
                <a:lnTo>
                  <a:pt x="69240" y="1440811"/>
                </a:lnTo>
                <a:lnTo>
                  <a:pt x="55905" y="1416050"/>
                </a:lnTo>
                <a:close/>
              </a:path>
              <a:path w="451484" h="1495425">
                <a:moveTo>
                  <a:pt x="69240" y="1440811"/>
                </a:moveTo>
                <a:lnTo>
                  <a:pt x="56222" y="1448689"/>
                </a:lnTo>
                <a:lnTo>
                  <a:pt x="71259" y="1473454"/>
                </a:lnTo>
                <a:lnTo>
                  <a:pt x="82988" y="1466339"/>
                </a:lnTo>
                <a:lnTo>
                  <a:pt x="69240" y="1440811"/>
                </a:lnTo>
                <a:close/>
              </a:path>
              <a:path w="451484" h="1495425">
                <a:moveTo>
                  <a:pt x="82988" y="1466339"/>
                </a:moveTo>
                <a:lnTo>
                  <a:pt x="71259" y="1473454"/>
                </a:lnTo>
                <a:lnTo>
                  <a:pt x="86819" y="1473454"/>
                </a:lnTo>
                <a:lnTo>
                  <a:pt x="82988" y="1466339"/>
                </a:lnTo>
                <a:close/>
              </a:path>
              <a:path w="451484" h="1495425">
                <a:moveTo>
                  <a:pt x="144767" y="0"/>
                </a:moveTo>
                <a:lnTo>
                  <a:pt x="126123" y="22098"/>
                </a:lnTo>
                <a:lnTo>
                  <a:pt x="143459" y="36703"/>
                </a:lnTo>
                <a:lnTo>
                  <a:pt x="160020" y="51688"/>
                </a:lnTo>
                <a:lnTo>
                  <a:pt x="191960" y="83312"/>
                </a:lnTo>
                <a:lnTo>
                  <a:pt x="221996" y="117348"/>
                </a:lnTo>
                <a:lnTo>
                  <a:pt x="250317" y="153797"/>
                </a:lnTo>
                <a:lnTo>
                  <a:pt x="276580" y="192024"/>
                </a:lnTo>
                <a:lnTo>
                  <a:pt x="300888" y="232283"/>
                </a:lnTo>
                <a:lnTo>
                  <a:pt x="323151" y="274320"/>
                </a:lnTo>
                <a:lnTo>
                  <a:pt x="343382" y="318008"/>
                </a:lnTo>
                <a:lnTo>
                  <a:pt x="361454" y="363347"/>
                </a:lnTo>
                <a:lnTo>
                  <a:pt x="377240" y="409829"/>
                </a:lnTo>
                <a:lnTo>
                  <a:pt x="390728" y="457581"/>
                </a:lnTo>
                <a:lnTo>
                  <a:pt x="401993" y="506730"/>
                </a:lnTo>
                <a:lnTo>
                  <a:pt x="410819" y="556768"/>
                </a:lnTo>
                <a:lnTo>
                  <a:pt x="417195" y="607695"/>
                </a:lnTo>
                <a:lnTo>
                  <a:pt x="421030" y="659384"/>
                </a:lnTo>
                <a:lnTo>
                  <a:pt x="422338" y="711581"/>
                </a:lnTo>
                <a:lnTo>
                  <a:pt x="421850" y="744601"/>
                </a:lnTo>
                <a:lnTo>
                  <a:pt x="417817" y="808482"/>
                </a:lnTo>
                <a:lnTo>
                  <a:pt x="410006" y="871474"/>
                </a:lnTo>
                <a:lnTo>
                  <a:pt x="398437" y="933196"/>
                </a:lnTo>
                <a:lnTo>
                  <a:pt x="383222" y="993013"/>
                </a:lnTo>
                <a:lnTo>
                  <a:pt x="364617" y="1050925"/>
                </a:lnTo>
                <a:lnTo>
                  <a:pt x="342658" y="1106678"/>
                </a:lnTo>
                <a:lnTo>
                  <a:pt x="317449" y="1159764"/>
                </a:lnTo>
                <a:lnTo>
                  <a:pt x="289229" y="1210564"/>
                </a:lnTo>
                <a:lnTo>
                  <a:pt x="258064" y="1258189"/>
                </a:lnTo>
                <a:lnTo>
                  <a:pt x="224193" y="1302766"/>
                </a:lnTo>
                <a:lnTo>
                  <a:pt x="187566" y="1344041"/>
                </a:lnTo>
                <a:lnTo>
                  <a:pt x="148475" y="1381760"/>
                </a:lnTo>
                <a:lnTo>
                  <a:pt x="107022" y="1415669"/>
                </a:lnTo>
                <a:lnTo>
                  <a:pt x="69240" y="1440811"/>
                </a:lnTo>
                <a:lnTo>
                  <a:pt x="82988" y="1466339"/>
                </a:lnTo>
                <a:lnTo>
                  <a:pt x="124815" y="1438402"/>
                </a:lnTo>
                <a:lnTo>
                  <a:pt x="168135" y="1402969"/>
                </a:lnTo>
                <a:lnTo>
                  <a:pt x="208864" y="1363726"/>
                </a:lnTo>
                <a:lnTo>
                  <a:pt x="246913" y="1320800"/>
                </a:lnTo>
                <a:lnTo>
                  <a:pt x="282003" y="1274445"/>
                </a:lnTo>
                <a:lnTo>
                  <a:pt x="314274" y="1225042"/>
                </a:lnTo>
                <a:lnTo>
                  <a:pt x="343395" y="1172718"/>
                </a:lnTo>
                <a:lnTo>
                  <a:pt x="369430" y="1117600"/>
                </a:lnTo>
                <a:lnTo>
                  <a:pt x="392049" y="1060196"/>
                </a:lnTo>
                <a:lnTo>
                  <a:pt x="411162" y="1000633"/>
                </a:lnTo>
                <a:lnTo>
                  <a:pt x="426808" y="938911"/>
                </a:lnTo>
                <a:lnTo>
                  <a:pt x="438670" y="875538"/>
                </a:lnTo>
                <a:lnTo>
                  <a:pt x="446671" y="810768"/>
                </a:lnTo>
                <a:lnTo>
                  <a:pt x="450817" y="744220"/>
                </a:lnTo>
                <a:lnTo>
                  <a:pt x="451294" y="711200"/>
                </a:lnTo>
                <a:lnTo>
                  <a:pt x="450900" y="684276"/>
                </a:lnTo>
                <a:lnTo>
                  <a:pt x="448284" y="630936"/>
                </a:lnTo>
                <a:lnTo>
                  <a:pt x="442963" y="578231"/>
                </a:lnTo>
                <a:lnTo>
                  <a:pt x="435140" y="526288"/>
                </a:lnTo>
                <a:lnTo>
                  <a:pt x="424789" y="475234"/>
                </a:lnTo>
                <a:lnTo>
                  <a:pt x="412026" y="425323"/>
                </a:lnTo>
                <a:lnTo>
                  <a:pt x="396836" y="376555"/>
                </a:lnTo>
                <a:lnTo>
                  <a:pt x="369658" y="305816"/>
                </a:lnTo>
                <a:lnTo>
                  <a:pt x="348742" y="260731"/>
                </a:lnTo>
                <a:lnTo>
                  <a:pt x="325666" y="217297"/>
                </a:lnTo>
                <a:lnTo>
                  <a:pt x="300443" y="175641"/>
                </a:lnTo>
                <a:lnTo>
                  <a:pt x="273177" y="136017"/>
                </a:lnTo>
                <a:lnTo>
                  <a:pt x="243967" y="98425"/>
                </a:lnTo>
                <a:lnTo>
                  <a:pt x="212661" y="63119"/>
                </a:lnTo>
                <a:lnTo>
                  <a:pt x="179450" y="30225"/>
                </a:lnTo>
                <a:lnTo>
                  <a:pt x="162102" y="14478"/>
                </a:lnTo>
                <a:lnTo>
                  <a:pt x="144767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 txBox="1"/>
          <p:nvPr/>
        </p:nvSpPr>
        <p:spPr>
          <a:xfrm>
            <a:off x="438099" y="3542538"/>
            <a:ext cx="6426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10" dirty="0">
                <a:solidFill>
                  <a:srgbClr val="003366"/>
                </a:solidFill>
                <a:latin typeface="黑体"/>
                <a:cs typeface="黑体"/>
              </a:rPr>
              <a:t>苹果酸 脱氢酶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69" name="object 369"/>
          <p:cNvSpPr/>
          <p:nvPr/>
        </p:nvSpPr>
        <p:spPr>
          <a:xfrm>
            <a:off x="1594103" y="2422398"/>
            <a:ext cx="584200" cy="1660525"/>
          </a:xfrm>
          <a:custGeom>
            <a:avLst/>
            <a:gdLst/>
            <a:ahLst/>
            <a:cxnLst/>
            <a:rect l="l" t="t" r="r" b="b"/>
            <a:pathLst>
              <a:path w="584200" h="1660525">
                <a:moveTo>
                  <a:pt x="427539" y="36008"/>
                </a:moveTo>
                <a:lnTo>
                  <a:pt x="388873" y="64388"/>
                </a:lnTo>
                <a:lnTo>
                  <a:pt x="337693" y="106299"/>
                </a:lnTo>
                <a:lnTo>
                  <a:pt x="289814" y="150367"/>
                </a:lnTo>
                <a:lnTo>
                  <a:pt x="245237" y="196596"/>
                </a:lnTo>
                <a:lnTo>
                  <a:pt x="204215" y="244855"/>
                </a:lnTo>
                <a:lnTo>
                  <a:pt x="166623" y="294893"/>
                </a:lnTo>
                <a:lnTo>
                  <a:pt x="132588" y="346455"/>
                </a:lnTo>
                <a:lnTo>
                  <a:pt x="102234" y="399668"/>
                </a:lnTo>
                <a:lnTo>
                  <a:pt x="75691" y="454278"/>
                </a:lnTo>
                <a:lnTo>
                  <a:pt x="52832" y="510159"/>
                </a:lnTo>
                <a:lnTo>
                  <a:pt x="34035" y="567181"/>
                </a:lnTo>
                <a:lnTo>
                  <a:pt x="19304" y="625221"/>
                </a:lnTo>
                <a:lnTo>
                  <a:pt x="8636" y="684149"/>
                </a:lnTo>
                <a:lnTo>
                  <a:pt x="2159" y="743712"/>
                </a:lnTo>
                <a:lnTo>
                  <a:pt x="0" y="803910"/>
                </a:lnTo>
                <a:lnTo>
                  <a:pt x="634" y="836422"/>
                </a:lnTo>
                <a:lnTo>
                  <a:pt x="5587" y="900811"/>
                </a:lnTo>
                <a:lnTo>
                  <a:pt x="15493" y="964438"/>
                </a:lnTo>
                <a:lnTo>
                  <a:pt x="30099" y="1027049"/>
                </a:lnTo>
                <a:lnTo>
                  <a:pt x="49403" y="1088643"/>
                </a:lnTo>
                <a:lnTo>
                  <a:pt x="73278" y="1148714"/>
                </a:lnTo>
                <a:lnTo>
                  <a:pt x="101600" y="1207515"/>
                </a:lnTo>
                <a:lnTo>
                  <a:pt x="134239" y="1264665"/>
                </a:lnTo>
                <a:lnTo>
                  <a:pt x="171069" y="1319783"/>
                </a:lnTo>
                <a:lnTo>
                  <a:pt x="211963" y="1373124"/>
                </a:lnTo>
                <a:lnTo>
                  <a:pt x="256794" y="1424304"/>
                </a:lnTo>
                <a:lnTo>
                  <a:pt x="305689" y="1473072"/>
                </a:lnTo>
                <a:lnTo>
                  <a:pt x="358140" y="1519427"/>
                </a:lnTo>
                <a:lnTo>
                  <a:pt x="414401" y="1563243"/>
                </a:lnTo>
                <a:lnTo>
                  <a:pt x="474091" y="1604264"/>
                </a:lnTo>
                <a:lnTo>
                  <a:pt x="537083" y="1642364"/>
                </a:lnTo>
                <a:lnTo>
                  <a:pt x="569976" y="1660144"/>
                </a:lnTo>
                <a:lnTo>
                  <a:pt x="583819" y="1634744"/>
                </a:lnTo>
                <a:lnTo>
                  <a:pt x="551815" y="1617345"/>
                </a:lnTo>
                <a:lnTo>
                  <a:pt x="520446" y="1599057"/>
                </a:lnTo>
                <a:lnTo>
                  <a:pt x="460502" y="1560449"/>
                </a:lnTo>
                <a:lnTo>
                  <a:pt x="403987" y="1519046"/>
                </a:lnTo>
                <a:lnTo>
                  <a:pt x="350901" y="1475232"/>
                </a:lnTo>
                <a:lnTo>
                  <a:pt x="301625" y="1428877"/>
                </a:lnTo>
                <a:lnTo>
                  <a:pt x="256032" y="1380235"/>
                </a:lnTo>
                <a:lnTo>
                  <a:pt x="214248" y="1329435"/>
                </a:lnTo>
                <a:lnTo>
                  <a:pt x="176529" y="1276858"/>
                </a:lnTo>
                <a:lnTo>
                  <a:pt x="142747" y="1222375"/>
                </a:lnTo>
                <a:lnTo>
                  <a:pt x="113157" y="1166367"/>
                </a:lnTo>
                <a:lnTo>
                  <a:pt x="87884" y="1108582"/>
                </a:lnTo>
                <a:lnTo>
                  <a:pt x="66928" y="1049909"/>
                </a:lnTo>
                <a:lnTo>
                  <a:pt x="50546" y="989838"/>
                </a:lnTo>
                <a:lnTo>
                  <a:pt x="38608" y="928877"/>
                </a:lnTo>
                <a:lnTo>
                  <a:pt x="31368" y="866901"/>
                </a:lnTo>
                <a:lnTo>
                  <a:pt x="28956" y="804417"/>
                </a:lnTo>
                <a:lnTo>
                  <a:pt x="29464" y="775335"/>
                </a:lnTo>
                <a:lnTo>
                  <a:pt x="33654" y="717423"/>
                </a:lnTo>
                <a:lnTo>
                  <a:pt x="41783" y="660273"/>
                </a:lnTo>
                <a:lnTo>
                  <a:pt x="54228" y="603630"/>
                </a:lnTo>
                <a:lnTo>
                  <a:pt x="70358" y="548004"/>
                </a:lnTo>
                <a:lnTo>
                  <a:pt x="90423" y="493522"/>
                </a:lnTo>
                <a:lnTo>
                  <a:pt x="114300" y="439927"/>
                </a:lnTo>
                <a:lnTo>
                  <a:pt x="141859" y="387603"/>
                </a:lnTo>
                <a:lnTo>
                  <a:pt x="172973" y="336803"/>
                </a:lnTo>
                <a:lnTo>
                  <a:pt x="207898" y="287400"/>
                </a:lnTo>
                <a:lnTo>
                  <a:pt x="245998" y="239522"/>
                </a:lnTo>
                <a:lnTo>
                  <a:pt x="287782" y="193675"/>
                </a:lnTo>
                <a:lnTo>
                  <a:pt x="332613" y="149732"/>
                </a:lnTo>
                <a:lnTo>
                  <a:pt x="381000" y="107568"/>
                </a:lnTo>
                <a:lnTo>
                  <a:pt x="432181" y="67944"/>
                </a:lnTo>
                <a:lnTo>
                  <a:pt x="443524" y="60218"/>
                </a:lnTo>
                <a:lnTo>
                  <a:pt x="427539" y="36008"/>
                </a:lnTo>
                <a:close/>
              </a:path>
              <a:path w="584200" h="1660525">
                <a:moveTo>
                  <a:pt x="491774" y="27939"/>
                </a:moveTo>
                <a:lnTo>
                  <a:pt x="439293" y="27939"/>
                </a:lnTo>
                <a:lnTo>
                  <a:pt x="455676" y="51942"/>
                </a:lnTo>
                <a:lnTo>
                  <a:pt x="443524" y="60218"/>
                </a:lnTo>
                <a:lnTo>
                  <a:pt x="459359" y="84200"/>
                </a:lnTo>
                <a:lnTo>
                  <a:pt x="491774" y="27939"/>
                </a:lnTo>
                <a:close/>
              </a:path>
              <a:path w="584200" h="1660525">
                <a:moveTo>
                  <a:pt x="439293" y="27939"/>
                </a:moveTo>
                <a:lnTo>
                  <a:pt x="427539" y="36008"/>
                </a:lnTo>
                <a:lnTo>
                  <a:pt x="443524" y="60218"/>
                </a:lnTo>
                <a:lnTo>
                  <a:pt x="455676" y="51942"/>
                </a:lnTo>
                <a:lnTo>
                  <a:pt x="439293" y="27939"/>
                </a:lnTo>
                <a:close/>
              </a:path>
              <a:path w="584200" h="1660525">
                <a:moveTo>
                  <a:pt x="507872" y="0"/>
                </a:moveTo>
                <a:lnTo>
                  <a:pt x="411479" y="11684"/>
                </a:lnTo>
                <a:lnTo>
                  <a:pt x="427539" y="36008"/>
                </a:lnTo>
                <a:lnTo>
                  <a:pt x="439293" y="27939"/>
                </a:lnTo>
                <a:lnTo>
                  <a:pt x="491774" y="27939"/>
                </a:lnTo>
                <a:lnTo>
                  <a:pt x="507872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1106093" y="1551558"/>
            <a:ext cx="1114425" cy="1124585"/>
          </a:xfrm>
          <a:custGeom>
            <a:avLst/>
            <a:gdLst/>
            <a:ahLst/>
            <a:cxnLst/>
            <a:rect l="l" t="t" r="r" b="b"/>
            <a:pathLst>
              <a:path w="1114425" h="1124585">
                <a:moveTo>
                  <a:pt x="52807" y="762649"/>
                </a:moveTo>
                <a:lnTo>
                  <a:pt x="26577" y="774880"/>
                </a:lnTo>
                <a:lnTo>
                  <a:pt x="34277" y="790320"/>
                </a:lnTo>
                <a:lnTo>
                  <a:pt x="46685" y="812418"/>
                </a:lnTo>
                <a:lnTo>
                  <a:pt x="72758" y="854455"/>
                </a:lnTo>
                <a:lnTo>
                  <a:pt x="100619" y="894079"/>
                </a:lnTo>
                <a:lnTo>
                  <a:pt x="129806" y="930528"/>
                </a:lnTo>
                <a:lnTo>
                  <a:pt x="160553" y="964311"/>
                </a:lnTo>
                <a:lnTo>
                  <a:pt x="192608" y="995044"/>
                </a:lnTo>
                <a:lnTo>
                  <a:pt x="226136" y="1022857"/>
                </a:lnTo>
                <a:lnTo>
                  <a:pt x="260680" y="1047495"/>
                </a:lnTo>
                <a:lnTo>
                  <a:pt x="296367" y="1068958"/>
                </a:lnTo>
                <a:lnTo>
                  <a:pt x="332943" y="1087119"/>
                </a:lnTo>
                <a:lnTo>
                  <a:pt x="370535" y="1101725"/>
                </a:lnTo>
                <a:lnTo>
                  <a:pt x="408762" y="1112774"/>
                </a:lnTo>
                <a:lnTo>
                  <a:pt x="447751" y="1120393"/>
                </a:lnTo>
                <a:lnTo>
                  <a:pt x="487121" y="1124077"/>
                </a:lnTo>
                <a:lnTo>
                  <a:pt x="507060" y="1124585"/>
                </a:lnTo>
                <a:lnTo>
                  <a:pt x="522808" y="1124330"/>
                </a:lnTo>
                <a:lnTo>
                  <a:pt x="570052" y="1119758"/>
                </a:lnTo>
                <a:lnTo>
                  <a:pt x="631139" y="1105789"/>
                </a:lnTo>
                <a:lnTo>
                  <a:pt x="660239" y="1095628"/>
                </a:lnTo>
                <a:lnTo>
                  <a:pt x="506552" y="1095628"/>
                </a:lnTo>
                <a:lnTo>
                  <a:pt x="487883" y="1095120"/>
                </a:lnTo>
                <a:lnTo>
                  <a:pt x="433019" y="1088516"/>
                </a:lnTo>
                <a:lnTo>
                  <a:pt x="379171" y="1074039"/>
                </a:lnTo>
                <a:lnTo>
                  <a:pt x="326847" y="1052194"/>
                </a:lnTo>
                <a:lnTo>
                  <a:pt x="292811" y="1033526"/>
                </a:lnTo>
                <a:lnTo>
                  <a:pt x="259537" y="1011681"/>
                </a:lnTo>
                <a:lnTo>
                  <a:pt x="227279" y="986789"/>
                </a:lnTo>
                <a:lnTo>
                  <a:pt x="196164" y="958850"/>
                </a:lnTo>
                <a:lnTo>
                  <a:pt x="166192" y="927862"/>
                </a:lnTo>
                <a:lnTo>
                  <a:pt x="137238" y="893952"/>
                </a:lnTo>
                <a:lnTo>
                  <a:pt x="109867" y="857503"/>
                </a:lnTo>
                <a:lnTo>
                  <a:pt x="83870" y="818133"/>
                </a:lnTo>
                <a:lnTo>
                  <a:pt x="59537" y="776096"/>
                </a:lnTo>
                <a:lnTo>
                  <a:pt x="52807" y="762649"/>
                </a:lnTo>
                <a:close/>
              </a:path>
              <a:path w="1114425" h="1124585">
                <a:moveTo>
                  <a:pt x="1095832" y="0"/>
                </a:moveTo>
                <a:lnTo>
                  <a:pt x="1067130" y="4317"/>
                </a:lnTo>
                <a:lnTo>
                  <a:pt x="1075131" y="58419"/>
                </a:lnTo>
                <a:lnTo>
                  <a:pt x="1080973" y="112775"/>
                </a:lnTo>
                <a:lnTo>
                  <a:pt x="1082878" y="139826"/>
                </a:lnTo>
                <a:lnTo>
                  <a:pt x="1084275" y="167131"/>
                </a:lnTo>
                <a:lnTo>
                  <a:pt x="1085164" y="194563"/>
                </a:lnTo>
                <a:lnTo>
                  <a:pt x="1085418" y="221995"/>
                </a:lnTo>
                <a:lnTo>
                  <a:pt x="1084656" y="267335"/>
                </a:lnTo>
                <a:lnTo>
                  <a:pt x="1082370" y="311912"/>
                </a:lnTo>
                <a:lnTo>
                  <a:pt x="1078560" y="355980"/>
                </a:lnTo>
                <a:lnTo>
                  <a:pt x="1073480" y="399161"/>
                </a:lnTo>
                <a:lnTo>
                  <a:pt x="1066876" y="441705"/>
                </a:lnTo>
                <a:lnTo>
                  <a:pt x="1059002" y="483362"/>
                </a:lnTo>
                <a:lnTo>
                  <a:pt x="1049731" y="524128"/>
                </a:lnTo>
                <a:lnTo>
                  <a:pt x="1039317" y="564006"/>
                </a:lnTo>
                <a:lnTo>
                  <a:pt x="1027506" y="602741"/>
                </a:lnTo>
                <a:lnTo>
                  <a:pt x="1014552" y="640588"/>
                </a:lnTo>
                <a:lnTo>
                  <a:pt x="1000455" y="677290"/>
                </a:lnTo>
                <a:lnTo>
                  <a:pt x="985215" y="712851"/>
                </a:lnTo>
                <a:lnTo>
                  <a:pt x="951687" y="780161"/>
                </a:lnTo>
                <a:lnTo>
                  <a:pt x="913968" y="842263"/>
                </a:lnTo>
                <a:lnTo>
                  <a:pt x="872566" y="898525"/>
                </a:lnTo>
                <a:lnTo>
                  <a:pt x="827862" y="948436"/>
                </a:lnTo>
                <a:lnTo>
                  <a:pt x="779983" y="991996"/>
                </a:lnTo>
                <a:lnTo>
                  <a:pt x="729564" y="1028318"/>
                </a:lnTo>
                <a:lnTo>
                  <a:pt x="676605" y="1057275"/>
                </a:lnTo>
                <a:lnTo>
                  <a:pt x="621487" y="1078483"/>
                </a:lnTo>
                <a:lnTo>
                  <a:pt x="564718" y="1091311"/>
                </a:lnTo>
                <a:lnTo>
                  <a:pt x="521157" y="1095375"/>
                </a:lnTo>
                <a:lnTo>
                  <a:pt x="506552" y="1095628"/>
                </a:lnTo>
                <a:lnTo>
                  <a:pt x="660239" y="1095628"/>
                </a:lnTo>
                <a:lnTo>
                  <a:pt x="718007" y="1068704"/>
                </a:lnTo>
                <a:lnTo>
                  <a:pt x="772744" y="1034033"/>
                </a:lnTo>
                <a:lnTo>
                  <a:pt x="824433" y="991996"/>
                </a:lnTo>
                <a:lnTo>
                  <a:pt x="872693" y="942975"/>
                </a:lnTo>
                <a:lnTo>
                  <a:pt x="917397" y="887729"/>
                </a:lnTo>
                <a:lnTo>
                  <a:pt x="958291" y="826388"/>
                </a:lnTo>
                <a:lnTo>
                  <a:pt x="995121" y="759460"/>
                </a:lnTo>
                <a:lnTo>
                  <a:pt x="1011885" y="724280"/>
                </a:lnTo>
                <a:lnTo>
                  <a:pt x="1027506" y="687577"/>
                </a:lnTo>
                <a:lnTo>
                  <a:pt x="1041984" y="649986"/>
                </a:lnTo>
                <a:lnTo>
                  <a:pt x="1055319" y="611251"/>
                </a:lnTo>
                <a:lnTo>
                  <a:pt x="1067384" y="571373"/>
                </a:lnTo>
                <a:lnTo>
                  <a:pt x="1078052" y="530478"/>
                </a:lnTo>
                <a:lnTo>
                  <a:pt x="1087450" y="488695"/>
                </a:lnTo>
                <a:lnTo>
                  <a:pt x="1095578" y="446024"/>
                </a:lnTo>
                <a:lnTo>
                  <a:pt x="1102182" y="402589"/>
                </a:lnTo>
                <a:lnTo>
                  <a:pt x="1107516" y="358393"/>
                </a:lnTo>
                <a:lnTo>
                  <a:pt x="1111326" y="313436"/>
                </a:lnTo>
                <a:lnTo>
                  <a:pt x="1113612" y="267842"/>
                </a:lnTo>
                <a:lnTo>
                  <a:pt x="1114374" y="221741"/>
                </a:lnTo>
                <a:lnTo>
                  <a:pt x="1114120" y="193675"/>
                </a:lnTo>
                <a:lnTo>
                  <a:pt x="1113231" y="165607"/>
                </a:lnTo>
                <a:lnTo>
                  <a:pt x="1111707" y="137667"/>
                </a:lnTo>
                <a:lnTo>
                  <a:pt x="1109675" y="109727"/>
                </a:lnTo>
                <a:lnTo>
                  <a:pt x="1103833" y="54228"/>
                </a:lnTo>
                <a:lnTo>
                  <a:pt x="1095832" y="0"/>
                </a:lnTo>
                <a:close/>
              </a:path>
              <a:path w="1114425" h="1124585">
                <a:moveTo>
                  <a:pt x="2616" y="690244"/>
                </a:moveTo>
                <a:lnTo>
                  <a:pt x="0" y="787273"/>
                </a:lnTo>
                <a:lnTo>
                  <a:pt x="26577" y="774880"/>
                </a:lnTo>
                <a:lnTo>
                  <a:pt x="20281" y="762253"/>
                </a:lnTo>
                <a:lnTo>
                  <a:pt x="46189" y="749426"/>
                </a:lnTo>
                <a:lnTo>
                  <a:pt x="77272" y="749426"/>
                </a:lnTo>
                <a:lnTo>
                  <a:pt x="2616" y="690244"/>
                </a:lnTo>
                <a:close/>
              </a:path>
              <a:path w="1114425" h="1124585">
                <a:moveTo>
                  <a:pt x="46189" y="749426"/>
                </a:moveTo>
                <a:lnTo>
                  <a:pt x="20281" y="762253"/>
                </a:lnTo>
                <a:lnTo>
                  <a:pt x="26577" y="774880"/>
                </a:lnTo>
                <a:lnTo>
                  <a:pt x="52807" y="762649"/>
                </a:lnTo>
                <a:lnTo>
                  <a:pt x="46189" y="749426"/>
                </a:lnTo>
                <a:close/>
              </a:path>
              <a:path w="1114425" h="1124585">
                <a:moveTo>
                  <a:pt x="77272" y="749426"/>
                </a:moveTo>
                <a:lnTo>
                  <a:pt x="46189" y="749426"/>
                </a:lnTo>
                <a:lnTo>
                  <a:pt x="52807" y="762649"/>
                </a:lnTo>
                <a:lnTo>
                  <a:pt x="78714" y="750569"/>
                </a:lnTo>
                <a:lnTo>
                  <a:pt x="77272" y="749426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6756018" y="1834133"/>
            <a:ext cx="902969" cy="915669"/>
          </a:xfrm>
          <a:custGeom>
            <a:avLst/>
            <a:gdLst/>
            <a:ahLst/>
            <a:cxnLst/>
            <a:rect l="l" t="t" r="r" b="b"/>
            <a:pathLst>
              <a:path w="902970" h="915669">
                <a:moveTo>
                  <a:pt x="58085" y="86610"/>
                </a:moveTo>
                <a:lnTo>
                  <a:pt x="29157" y="87118"/>
                </a:lnTo>
                <a:lnTo>
                  <a:pt x="29717" y="104648"/>
                </a:lnTo>
                <a:lnTo>
                  <a:pt x="33020" y="149478"/>
                </a:lnTo>
                <a:lnTo>
                  <a:pt x="37464" y="193675"/>
                </a:lnTo>
                <a:lnTo>
                  <a:pt x="43306" y="236981"/>
                </a:lnTo>
                <a:lnTo>
                  <a:pt x="50291" y="279526"/>
                </a:lnTo>
                <a:lnTo>
                  <a:pt x="58292" y="321182"/>
                </a:lnTo>
                <a:lnTo>
                  <a:pt x="67436" y="361950"/>
                </a:lnTo>
                <a:lnTo>
                  <a:pt x="77724" y="401700"/>
                </a:lnTo>
                <a:lnTo>
                  <a:pt x="89026" y="440436"/>
                </a:lnTo>
                <a:lnTo>
                  <a:pt x="101473" y="478154"/>
                </a:lnTo>
                <a:lnTo>
                  <a:pt x="114807" y="514603"/>
                </a:lnTo>
                <a:lnTo>
                  <a:pt x="129158" y="549910"/>
                </a:lnTo>
                <a:lnTo>
                  <a:pt x="160654" y="616712"/>
                </a:lnTo>
                <a:lnTo>
                  <a:pt x="195706" y="677926"/>
                </a:lnTo>
                <a:lnTo>
                  <a:pt x="234060" y="733298"/>
                </a:lnTo>
                <a:lnTo>
                  <a:pt x="275462" y="782319"/>
                </a:lnTo>
                <a:lnTo>
                  <a:pt x="319785" y="824483"/>
                </a:lnTo>
                <a:lnTo>
                  <a:pt x="366775" y="859154"/>
                </a:lnTo>
                <a:lnTo>
                  <a:pt x="416305" y="886078"/>
                </a:lnTo>
                <a:lnTo>
                  <a:pt x="468122" y="904620"/>
                </a:lnTo>
                <a:lnTo>
                  <a:pt x="521334" y="914018"/>
                </a:lnTo>
                <a:lnTo>
                  <a:pt x="549021" y="915162"/>
                </a:lnTo>
                <a:lnTo>
                  <a:pt x="573912" y="914145"/>
                </a:lnTo>
                <a:lnTo>
                  <a:pt x="622934" y="905890"/>
                </a:lnTo>
                <a:lnTo>
                  <a:pt x="671067" y="889888"/>
                </a:lnTo>
                <a:lnTo>
                  <a:pt x="679127" y="886205"/>
                </a:lnTo>
                <a:lnTo>
                  <a:pt x="547877" y="886205"/>
                </a:lnTo>
                <a:lnTo>
                  <a:pt x="535685" y="885951"/>
                </a:lnTo>
                <a:lnTo>
                  <a:pt x="474345" y="876300"/>
                </a:lnTo>
                <a:lnTo>
                  <a:pt x="427354" y="859281"/>
                </a:lnTo>
                <a:lnTo>
                  <a:pt x="381634" y="834389"/>
                </a:lnTo>
                <a:lnTo>
                  <a:pt x="337692" y="801751"/>
                </a:lnTo>
                <a:lnTo>
                  <a:pt x="296036" y="761873"/>
                </a:lnTo>
                <a:lnTo>
                  <a:pt x="256666" y="715263"/>
                </a:lnTo>
                <a:lnTo>
                  <a:pt x="219836" y="662051"/>
                </a:lnTo>
                <a:lnTo>
                  <a:pt x="186181" y="602868"/>
                </a:lnTo>
                <a:lnTo>
                  <a:pt x="155575" y="538099"/>
                </a:lnTo>
                <a:lnTo>
                  <a:pt x="128650" y="468249"/>
                </a:lnTo>
                <a:lnTo>
                  <a:pt x="116585" y="431418"/>
                </a:lnTo>
                <a:lnTo>
                  <a:pt x="105536" y="393573"/>
                </a:lnTo>
                <a:lnTo>
                  <a:pt x="95503" y="354711"/>
                </a:lnTo>
                <a:lnTo>
                  <a:pt x="86486" y="314832"/>
                </a:lnTo>
                <a:lnTo>
                  <a:pt x="78612" y="274065"/>
                </a:lnTo>
                <a:lnTo>
                  <a:pt x="71881" y="232410"/>
                </a:lnTo>
                <a:lnTo>
                  <a:pt x="66294" y="189864"/>
                </a:lnTo>
                <a:lnTo>
                  <a:pt x="61849" y="146557"/>
                </a:lnTo>
                <a:lnTo>
                  <a:pt x="58547" y="102488"/>
                </a:lnTo>
                <a:lnTo>
                  <a:pt x="58085" y="86610"/>
                </a:lnTo>
                <a:close/>
              </a:path>
              <a:path w="902970" h="915669">
                <a:moveTo>
                  <a:pt x="878458" y="659638"/>
                </a:moveTo>
                <a:lnTo>
                  <a:pt x="842645" y="712088"/>
                </a:lnTo>
                <a:lnTo>
                  <a:pt x="804672" y="757681"/>
                </a:lnTo>
                <a:lnTo>
                  <a:pt x="764921" y="796543"/>
                </a:lnTo>
                <a:lnTo>
                  <a:pt x="723391" y="828548"/>
                </a:lnTo>
                <a:lnTo>
                  <a:pt x="680847" y="853693"/>
                </a:lnTo>
                <a:lnTo>
                  <a:pt x="637158" y="871854"/>
                </a:lnTo>
                <a:lnTo>
                  <a:pt x="592708" y="882650"/>
                </a:lnTo>
                <a:lnTo>
                  <a:pt x="547877" y="886205"/>
                </a:lnTo>
                <a:lnTo>
                  <a:pt x="679127" y="886205"/>
                </a:lnTo>
                <a:lnTo>
                  <a:pt x="717803" y="866520"/>
                </a:lnTo>
                <a:lnTo>
                  <a:pt x="762761" y="835787"/>
                </a:lnTo>
                <a:lnTo>
                  <a:pt x="805814" y="798067"/>
                </a:lnTo>
                <a:lnTo>
                  <a:pt x="846581" y="753617"/>
                </a:lnTo>
                <a:lnTo>
                  <a:pt x="884935" y="702690"/>
                </a:lnTo>
                <a:lnTo>
                  <a:pt x="902842" y="675386"/>
                </a:lnTo>
                <a:lnTo>
                  <a:pt x="878458" y="659638"/>
                </a:lnTo>
                <a:close/>
              </a:path>
              <a:path w="902970" h="915669">
                <a:moveTo>
                  <a:pt x="41909" y="0"/>
                </a:moveTo>
                <a:lnTo>
                  <a:pt x="0" y="87629"/>
                </a:lnTo>
                <a:lnTo>
                  <a:pt x="29157" y="87118"/>
                </a:lnTo>
                <a:lnTo>
                  <a:pt x="28701" y="72898"/>
                </a:lnTo>
                <a:lnTo>
                  <a:pt x="57657" y="71881"/>
                </a:lnTo>
                <a:lnTo>
                  <a:pt x="79441" y="71881"/>
                </a:lnTo>
                <a:lnTo>
                  <a:pt x="41909" y="0"/>
                </a:lnTo>
                <a:close/>
              </a:path>
              <a:path w="902970" h="915669">
                <a:moveTo>
                  <a:pt x="57657" y="71881"/>
                </a:moveTo>
                <a:lnTo>
                  <a:pt x="28701" y="72898"/>
                </a:lnTo>
                <a:lnTo>
                  <a:pt x="29157" y="87118"/>
                </a:lnTo>
                <a:lnTo>
                  <a:pt x="58085" y="86610"/>
                </a:lnTo>
                <a:lnTo>
                  <a:pt x="57657" y="71881"/>
                </a:lnTo>
                <a:close/>
              </a:path>
              <a:path w="902970" h="915669">
                <a:moveTo>
                  <a:pt x="79441" y="71881"/>
                </a:moveTo>
                <a:lnTo>
                  <a:pt x="57657" y="71881"/>
                </a:lnTo>
                <a:lnTo>
                  <a:pt x="58085" y="86610"/>
                </a:lnTo>
                <a:lnTo>
                  <a:pt x="86867" y="86105"/>
                </a:lnTo>
                <a:lnTo>
                  <a:pt x="79441" y="71881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6912229" y="2527426"/>
            <a:ext cx="543560" cy="1687195"/>
          </a:xfrm>
          <a:custGeom>
            <a:avLst/>
            <a:gdLst/>
            <a:ahLst/>
            <a:cxnLst/>
            <a:rect l="l" t="t" r="r" b="b"/>
            <a:pathLst>
              <a:path w="543559" h="1687195">
                <a:moveTo>
                  <a:pt x="51307" y="1604772"/>
                </a:moveTo>
                <a:lnTo>
                  <a:pt x="0" y="1687195"/>
                </a:lnTo>
                <a:lnTo>
                  <a:pt x="96774" y="1678813"/>
                </a:lnTo>
                <a:lnTo>
                  <a:pt x="86167" y="1661541"/>
                </a:lnTo>
                <a:lnTo>
                  <a:pt x="69469" y="1661541"/>
                </a:lnTo>
                <a:lnTo>
                  <a:pt x="53848" y="1637157"/>
                </a:lnTo>
                <a:lnTo>
                  <a:pt x="66318" y="1629216"/>
                </a:lnTo>
                <a:lnTo>
                  <a:pt x="51307" y="1604772"/>
                </a:lnTo>
                <a:close/>
              </a:path>
              <a:path w="543559" h="1687195">
                <a:moveTo>
                  <a:pt x="66318" y="1629216"/>
                </a:moveTo>
                <a:lnTo>
                  <a:pt x="53848" y="1637157"/>
                </a:lnTo>
                <a:lnTo>
                  <a:pt x="69469" y="1661541"/>
                </a:lnTo>
                <a:lnTo>
                  <a:pt x="81467" y="1653886"/>
                </a:lnTo>
                <a:lnTo>
                  <a:pt x="66318" y="1629216"/>
                </a:lnTo>
                <a:close/>
              </a:path>
              <a:path w="543559" h="1687195">
                <a:moveTo>
                  <a:pt x="81467" y="1653886"/>
                </a:moveTo>
                <a:lnTo>
                  <a:pt x="69469" y="1661541"/>
                </a:lnTo>
                <a:lnTo>
                  <a:pt x="86167" y="1661541"/>
                </a:lnTo>
                <a:lnTo>
                  <a:pt x="81467" y="1653886"/>
                </a:lnTo>
                <a:close/>
              </a:path>
              <a:path w="543559" h="1687195">
                <a:moveTo>
                  <a:pt x="29972" y="0"/>
                </a:moveTo>
                <a:lnTo>
                  <a:pt x="14986" y="24637"/>
                </a:lnTo>
                <a:lnTo>
                  <a:pt x="44323" y="42545"/>
                </a:lnTo>
                <a:lnTo>
                  <a:pt x="72390" y="60833"/>
                </a:lnTo>
                <a:lnTo>
                  <a:pt x="126365" y="99568"/>
                </a:lnTo>
                <a:lnTo>
                  <a:pt x="177419" y="140843"/>
                </a:lnTo>
                <a:lnTo>
                  <a:pt x="225171" y="184531"/>
                </a:lnTo>
                <a:lnTo>
                  <a:pt x="269494" y="230505"/>
                </a:lnTo>
                <a:lnTo>
                  <a:pt x="310515" y="278638"/>
                </a:lnTo>
                <a:lnTo>
                  <a:pt x="348106" y="328675"/>
                </a:lnTo>
                <a:lnTo>
                  <a:pt x="382016" y="380619"/>
                </a:lnTo>
                <a:lnTo>
                  <a:pt x="412242" y="434086"/>
                </a:lnTo>
                <a:lnTo>
                  <a:pt x="438785" y="489203"/>
                </a:lnTo>
                <a:lnTo>
                  <a:pt x="461391" y="545719"/>
                </a:lnTo>
                <a:lnTo>
                  <a:pt x="480314" y="603376"/>
                </a:lnTo>
                <a:lnTo>
                  <a:pt x="494919" y="662177"/>
                </a:lnTo>
                <a:lnTo>
                  <a:pt x="505587" y="721995"/>
                </a:lnTo>
                <a:lnTo>
                  <a:pt x="512064" y="782447"/>
                </a:lnTo>
                <a:lnTo>
                  <a:pt x="514223" y="843661"/>
                </a:lnTo>
                <a:lnTo>
                  <a:pt x="513715" y="875030"/>
                </a:lnTo>
                <a:lnTo>
                  <a:pt x="509016" y="937387"/>
                </a:lnTo>
                <a:lnTo>
                  <a:pt x="500125" y="998982"/>
                </a:lnTo>
                <a:lnTo>
                  <a:pt x="486664" y="1059561"/>
                </a:lnTo>
                <a:lnTo>
                  <a:pt x="469138" y="1119124"/>
                </a:lnTo>
                <a:lnTo>
                  <a:pt x="447421" y="1177417"/>
                </a:lnTo>
                <a:lnTo>
                  <a:pt x="421640" y="1234313"/>
                </a:lnTo>
                <a:lnTo>
                  <a:pt x="391795" y="1289685"/>
                </a:lnTo>
                <a:lnTo>
                  <a:pt x="358140" y="1343152"/>
                </a:lnTo>
                <a:lnTo>
                  <a:pt x="320801" y="1394968"/>
                </a:lnTo>
                <a:lnTo>
                  <a:pt x="279780" y="1444752"/>
                </a:lnTo>
                <a:lnTo>
                  <a:pt x="235076" y="1492250"/>
                </a:lnTo>
                <a:lnTo>
                  <a:pt x="186944" y="1537462"/>
                </a:lnTo>
                <a:lnTo>
                  <a:pt x="135509" y="1580134"/>
                </a:lnTo>
                <a:lnTo>
                  <a:pt x="80772" y="1620012"/>
                </a:lnTo>
                <a:lnTo>
                  <a:pt x="66318" y="1629216"/>
                </a:lnTo>
                <a:lnTo>
                  <a:pt x="81467" y="1653886"/>
                </a:lnTo>
                <a:lnTo>
                  <a:pt x="125984" y="1623568"/>
                </a:lnTo>
                <a:lnTo>
                  <a:pt x="180594" y="1581023"/>
                </a:lnTo>
                <a:lnTo>
                  <a:pt x="231521" y="1535938"/>
                </a:lnTo>
                <a:lnTo>
                  <a:pt x="279273" y="1488186"/>
                </a:lnTo>
                <a:lnTo>
                  <a:pt x="323342" y="1438148"/>
                </a:lnTo>
                <a:lnTo>
                  <a:pt x="363727" y="1385951"/>
                </a:lnTo>
                <a:lnTo>
                  <a:pt x="400303" y="1331595"/>
                </a:lnTo>
                <a:lnTo>
                  <a:pt x="432816" y="1275461"/>
                </a:lnTo>
                <a:lnTo>
                  <a:pt x="461645" y="1217422"/>
                </a:lnTo>
                <a:lnTo>
                  <a:pt x="486028" y="1158113"/>
                </a:lnTo>
                <a:lnTo>
                  <a:pt x="506349" y="1097153"/>
                </a:lnTo>
                <a:lnTo>
                  <a:pt x="522350" y="1035050"/>
                </a:lnTo>
                <a:lnTo>
                  <a:pt x="533780" y="971931"/>
                </a:lnTo>
                <a:lnTo>
                  <a:pt x="540893" y="907923"/>
                </a:lnTo>
                <a:lnTo>
                  <a:pt x="543178" y="843152"/>
                </a:lnTo>
                <a:lnTo>
                  <a:pt x="542544" y="811530"/>
                </a:lnTo>
                <a:lnTo>
                  <a:pt x="538099" y="748538"/>
                </a:lnTo>
                <a:lnTo>
                  <a:pt x="529209" y="686435"/>
                </a:lnTo>
                <a:lnTo>
                  <a:pt x="516127" y="625221"/>
                </a:lnTo>
                <a:lnTo>
                  <a:pt x="498728" y="565023"/>
                </a:lnTo>
                <a:lnTo>
                  <a:pt x="477393" y="506095"/>
                </a:lnTo>
                <a:lnTo>
                  <a:pt x="451866" y="448563"/>
                </a:lnTo>
                <a:lnTo>
                  <a:pt x="422655" y="392430"/>
                </a:lnTo>
                <a:lnTo>
                  <a:pt x="389381" y="338200"/>
                </a:lnTo>
                <a:lnTo>
                  <a:pt x="352678" y="285623"/>
                </a:lnTo>
                <a:lnTo>
                  <a:pt x="312166" y="235203"/>
                </a:lnTo>
                <a:lnTo>
                  <a:pt x="268224" y="186817"/>
                </a:lnTo>
                <a:lnTo>
                  <a:pt x="220979" y="140715"/>
                </a:lnTo>
                <a:lnTo>
                  <a:pt x="170179" y="97155"/>
                </a:lnTo>
                <a:lnTo>
                  <a:pt x="116331" y="56007"/>
                </a:lnTo>
                <a:lnTo>
                  <a:pt x="59309" y="17780"/>
                </a:lnTo>
                <a:lnTo>
                  <a:pt x="29972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 txBox="1"/>
          <p:nvPr/>
        </p:nvSpPr>
        <p:spPr>
          <a:xfrm>
            <a:off x="6703314" y="3110611"/>
            <a:ext cx="6438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170" marR="5080" indent="-78105">
              <a:lnSpc>
                <a:spcPct val="100000"/>
              </a:lnSpc>
              <a:spcBef>
                <a:spcPts val="95"/>
              </a:spcBef>
            </a:pPr>
            <a:r>
              <a:rPr sz="1600" b="1" spc="15" dirty="0">
                <a:solidFill>
                  <a:srgbClr val="003366"/>
                </a:solidFill>
                <a:latin typeface="黑体"/>
                <a:cs typeface="黑体"/>
              </a:rPr>
              <a:t>谷草转 </a:t>
            </a:r>
            <a:r>
              <a:rPr sz="1600" b="1" spc="5" dirty="0">
                <a:solidFill>
                  <a:srgbClr val="003366"/>
                </a:solidFill>
                <a:latin typeface="黑体"/>
                <a:cs typeface="黑体"/>
              </a:rPr>
              <a:t>氨酶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74" name="object 374"/>
          <p:cNvSpPr txBox="1"/>
          <p:nvPr/>
        </p:nvSpPr>
        <p:spPr>
          <a:xfrm>
            <a:off x="2344927" y="6067145"/>
            <a:ext cx="541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5" dirty="0">
                <a:solidFill>
                  <a:srgbClr val="003300"/>
                </a:solidFill>
                <a:latin typeface="黑体"/>
                <a:cs typeface="黑体"/>
              </a:rPr>
              <a:t>胞液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375" name="object 375"/>
          <p:cNvSpPr txBox="1"/>
          <p:nvPr/>
        </p:nvSpPr>
        <p:spPr>
          <a:xfrm>
            <a:off x="4186682" y="5598667"/>
            <a:ext cx="2098040" cy="799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44805" algn="l"/>
                <a:tab pos="707390" algn="l"/>
                <a:tab pos="929640" algn="l"/>
              </a:tabLst>
            </a:pPr>
            <a:r>
              <a:rPr sz="1875" b="1" u="heavy" spc="-525" baseline="-33000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600" b="1" u="heavy" spc="-5" dirty="0">
                <a:solidFill>
                  <a:srgbClr val="0066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u="heavy" dirty="0">
                <a:solidFill>
                  <a:srgbClr val="0066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600" b="1" spc="135" dirty="0">
                <a:solidFill>
                  <a:srgbClr val="0066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75" b="1" u="heavy" spc="-525" baseline="-33000" dirty="0">
                <a:solidFill>
                  <a:srgbClr val="FF0000"/>
                </a:solidFill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600" b="1" u="heavy" spc="-5" dirty="0">
                <a:solidFill>
                  <a:srgbClr val="0066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u="heavy" dirty="0">
                <a:solidFill>
                  <a:srgbClr val="0066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600" b="1" dirty="0">
                <a:solidFill>
                  <a:srgbClr val="006666"/>
                </a:solid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600" b="1" spc="5" dirty="0">
                <a:solidFill>
                  <a:srgbClr val="006666"/>
                </a:solidFill>
                <a:latin typeface="黑体"/>
                <a:cs typeface="黑体"/>
              </a:rPr>
              <a:t>苹果酸</a:t>
            </a:r>
            <a:r>
              <a:rPr sz="1600" b="1" spc="-10" dirty="0">
                <a:solidFill>
                  <a:srgbClr val="006666"/>
                </a:solidFill>
                <a:latin typeface="Times New Roman" panose="02020503050405090304"/>
                <a:cs typeface="Times New Roman" panose="02020503050405090304"/>
              </a:rPr>
              <a:t>-α-</a:t>
            </a:r>
            <a:r>
              <a:rPr sz="1600" b="1" spc="-15" dirty="0">
                <a:solidFill>
                  <a:srgbClr val="006666"/>
                </a:solidFill>
                <a:latin typeface="黑体"/>
                <a:cs typeface="黑体"/>
              </a:rPr>
              <a:t>酮</a:t>
            </a:r>
            <a:endParaRPr sz="1600">
              <a:latin typeface="黑体"/>
              <a:cs typeface="黑体"/>
            </a:endParaRPr>
          </a:p>
          <a:p>
            <a:pPr marL="50800">
              <a:lnSpc>
                <a:spcPct val="100000"/>
              </a:lnSpc>
              <a:tabLst>
                <a:tab pos="344805" algn="l"/>
                <a:tab pos="707390" algn="l"/>
              </a:tabLst>
            </a:pPr>
            <a:r>
              <a:rPr sz="1600" b="1" u="heavy" spc="-5" dirty="0">
                <a:solidFill>
                  <a:srgbClr val="0066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r>
              <a:rPr sz="1600" b="1" spc="135" dirty="0">
                <a:solidFill>
                  <a:srgbClr val="0066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u="dbl" spc="-5" dirty="0">
                <a:solidFill>
                  <a:srgbClr val="0066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u="dbl" dirty="0">
                <a:solidFill>
                  <a:srgbClr val="0066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600" b="1" dirty="0">
                <a:solidFill>
                  <a:srgbClr val="0066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120" dirty="0">
                <a:solidFill>
                  <a:srgbClr val="0066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5" dirty="0">
                <a:solidFill>
                  <a:srgbClr val="006666"/>
                </a:solidFill>
                <a:latin typeface="黑体"/>
                <a:cs typeface="黑体"/>
              </a:rPr>
              <a:t>戊二酸转运体</a:t>
            </a:r>
            <a:endParaRPr sz="16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50800">
              <a:lnSpc>
                <a:spcPct val="100000"/>
              </a:lnSpc>
              <a:tabLst>
                <a:tab pos="357505" algn="l"/>
                <a:tab pos="720725" algn="l"/>
              </a:tabLst>
            </a:pPr>
            <a:r>
              <a:rPr sz="2000" b="1" u="heavy" dirty="0">
                <a:solidFill>
                  <a:srgbClr val="003300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r>
              <a:rPr sz="2000" b="1" spc="-65" dirty="0">
                <a:solidFill>
                  <a:srgbClr val="0033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heavy" dirty="0">
                <a:solidFill>
                  <a:srgbClr val="003300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76" name="object 376"/>
          <p:cNvSpPr txBox="1"/>
          <p:nvPr/>
        </p:nvSpPr>
        <p:spPr>
          <a:xfrm>
            <a:off x="4224782" y="2807335"/>
            <a:ext cx="635000" cy="17837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1665" algn="l"/>
              </a:tabLst>
            </a:pPr>
            <a:r>
              <a:rPr sz="2000" b="1" u="heavy" strike="dblStrike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2000" b="1" u="heavy" strike="dblStrike" spc="-250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heavy" strike="dblStrike" spc="-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线	</a:t>
            </a:r>
            <a:endParaRPr sz="2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tabLst>
                <a:tab pos="621665" algn="l"/>
              </a:tabLst>
            </a:pPr>
            <a:r>
              <a:rPr sz="2000" b="1" u="heavy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2000" b="1" u="heavy" spc="-250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heavy" spc="-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粒	</a:t>
            </a:r>
            <a:endParaRPr sz="2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tabLst>
                <a:tab pos="621665" algn="l"/>
              </a:tabLst>
            </a:pPr>
            <a:r>
              <a:rPr sz="2000" b="1" u="dbl" strike="dblStrike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2000" b="1" u="dbl" strike="dblStrike" spc="-250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dbl" strike="dblStrike" spc="-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体	</a:t>
            </a:r>
            <a:endParaRPr sz="2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tabLst>
                <a:tab pos="621665" algn="l"/>
              </a:tabLst>
            </a:pPr>
            <a:r>
              <a:rPr sz="2000" b="1" u="dbl" strike="dblStrike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2000" b="1" u="dbl" strike="dblStrike" spc="-250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dbl" strike="dblStrike" spc="-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内	</a:t>
            </a:r>
            <a:endParaRPr sz="2000">
              <a:latin typeface="黑体"/>
              <a:cs typeface="黑体"/>
            </a:endParaRPr>
          </a:p>
          <a:p>
            <a:pPr marL="12700">
              <a:lnSpc>
                <a:spcPts val="2360"/>
              </a:lnSpc>
              <a:tabLst>
                <a:tab pos="621665" algn="l"/>
              </a:tabLst>
            </a:pPr>
            <a:r>
              <a:rPr sz="2000" b="1" u="dbl" strike="dblStrike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2000" b="1" u="dbl" strike="dblStrike" spc="-250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00" b="1" u="dbl" strike="dblStrike" spc="-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黑体"/>
                <a:cs typeface="黑体"/>
              </a:rPr>
              <a:t>膜	</a:t>
            </a:r>
            <a:endParaRPr sz="2000">
              <a:latin typeface="黑体"/>
              <a:cs typeface="黑体"/>
            </a:endParaRPr>
          </a:p>
          <a:p>
            <a:pPr marL="12700">
              <a:lnSpc>
                <a:spcPts val="1880"/>
              </a:lnSpc>
              <a:tabLst>
                <a:tab pos="306705" algn="l"/>
              </a:tabLst>
            </a:pPr>
            <a:r>
              <a:rPr sz="1600" u="heavy" spc="-5" dirty="0">
                <a:solidFill>
                  <a:srgbClr val="00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endParaRPr sz="16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77" name="object 377"/>
          <p:cNvSpPr txBox="1"/>
          <p:nvPr/>
        </p:nvSpPr>
        <p:spPr>
          <a:xfrm>
            <a:off x="6449314" y="6067145"/>
            <a:ext cx="541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5" dirty="0">
                <a:solidFill>
                  <a:srgbClr val="003300"/>
                </a:solidFill>
                <a:latin typeface="黑体"/>
                <a:cs typeface="黑体"/>
              </a:rPr>
              <a:t>基质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378" name="object 378"/>
          <p:cNvSpPr/>
          <p:nvPr/>
        </p:nvSpPr>
        <p:spPr>
          <a:xfrm>
            <a:off x="8567928" y="2061210"/>
            <a:ext cx="114300" cy="647700"/>
          </a:xfrm>
          <a:custGeom>
            <a:avLst/>
            <a:gdLst/>
            <a:ahLst/>
            <a:cxnLst/>
            <a:rect l="l" t="t" r="r" b="b"/>
            <a:pathLst>
              <a:path w="114300" h="647700">
                <a:moveTo>
                  <a:pt x="76200" y="95250"/>
                </a:moveTo>
                <a:lnTo>
                  <a:pt x="38100" y="95250"/>
                </a:lnTo>
                <a:lnTo>
                  <a:pt x="38100" y="647700"/>
                </a:lnTo>
                <a:lnTo>
                  <a:pt x="76200" y="647700"/>
                </a:lnTo>
                <a:lnTo>
                  <a:pt x="76200" y="95250"/>
                </a:lnTo>
                <a:close/>
              </a:path>
              <a:path w="114300" h="6477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6477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 txBox="1"/>
          <p:nvPr/>
        </p:nvSpPr>
        <p:spPr>
          <a:xfrm>
            <a:off x="8196833" y="1656080"/>
            <a:ext cx="798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FF5050"/>
                </a:solidFill>
                <a:latin typeface="黑体"/>
                <a:cs typeface="黑体"/>
              </a:rPr>
              <a:t>呼吸链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380" name="object 380"/>
          <p:cNvSpPr txBox="1"/>
          <p:nvPr/>
        </p:nvSpPr>
        <p:spPr>
          <a:xfrm>
            <a:off x="1570735" y="1206748"/>
            <a:ext cx="6794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dirty="0">
                <a:latin typeface="Arial" panose="020B0604020202090204"/>
                <a:cs typeface="Arial" panose="020B0604020202090204"/>
              </a:rPr>
              <a:t>-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81" name="object 381"/>
          <p:cNvSpPr txBox="1"/>
          <p:nvPr/>
        </p:nvSpPr>
        <p:spPr>
          <a:xfrm>
            <a:off x="2288746" y="1419289"/>
            <a:ext cx="9652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dirty="0">
                <a:latin typeface="Arial" panose="020B0604020202090204"/>
                <a:cs typeface="Arial" panose="020B0604020202090204"/>
              </a:rPr>
              <a:t>2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82" name="object 382"/>
          <p:cNvSpPr txBox="1"/>
          <p:nvPr/>
        </p:nvSpPr>
        <p:spPr>
          <a:xfrm>
            <a:off x="1613051" y="1303063"/>
            <a:ext cx="139128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5" dirty="0">
                <a:latin typeface="Arial" panose="020B0604020202090204"/>
                <a:cs typeface="Arial" panose="020B0604020202090204"/>
              </a:rPr>
              <a:t>OOC-CH</a:t>
            </a:r>
            <a:r>
              <a:rPr sz="1300" b="1" spc="120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spc="15" dirty="0">
                <a:latin typeface="Arial" panose="020B0604020202090204"/>
                <a:cs typeface="Arial" panose="020B0604020202090204"/>
              </a:rPr>
              <a:t>-C-COO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2977420" y="1206749"/>
            <a:ext cx="6794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dirty="0">
                <a:latin typeface="Arial" panose="020B0604020202090204"/>
                <a:cs typeface="Arial" panose="020B0604020202090204"/>
              </a:rPr>
              <a:t>-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84" name="object 384"/>
          <p:cNvSpPr/>
          <p:nvPr/>
        </p:nvSpPr>
        <p:spPr>
          <a:xfrm>
            <a:off x="2490503" y="1100042"/>
            <a:ext cx="0" cy="222250"/>
          </a:xfrm>
          <a:custGeom>
            <a:avLst/>
            <a:gdLst/>
            <a:ahLst/>
            <a:cxnLst/>
            <a:rect l="l" t="t" r="r" b="b"/>
            <a:pathLst>
              <a:path h="222250">
                <a:moveTo>
                  <a:pt x="0" y="222085"/>
                </a:moveTo>
                <a:lnTo>
                  <a:pt x="0" y="0"/>
                </a:lnTo>
              </a:path>
            </a:pathLst>
          </a:custGeom>
          <a:ln w="105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 txBox="1"/>
          <p:nvPr/>
        </p:nvSpPr>
        <p:spPr>
          <a:xfrm>
            <a:off x="4199382" y="1068399"/>
            <a:ext cx="733425" cy="269240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95"/>
              </a:spcBef>
              <a:tabLst>
                <a:tab pos="332105" algn="l"/>
                <a:tab pos="694690" algn="l"/>
              </a:tabLst>
            </a:pPr>
            <a:r>
              <a:rPr sz="1500" b="1" u="heavy" spc="-419" baseline="-28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600" b="1" u="heavy" spc="-5" dirty="0">
                <a:solidFill>
                  <a:srgbClr val="99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u="heavy" dirty="0">
                <a:solidFill>
                  <a:srgbClr val="99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600" b="1" spc="135" dirty="0">
                <a:solidFill>
                  <a:srgbClr val="993366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500" b="1" u="heavy" spc="-419" baseline="-28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600" b="1" u="heavy" spc="-5" dirty="0">
                <a:solidFill>
                  <a:srgbClr val="99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u="heavy" dirty="0">
                <a:solidFill>
                  <a:srgbClr val="99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endParaRPr sz="16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86" name="object 386"/>
          <p:cNvSpPr/>
          <p:nvPr/>
        </p:nvSpPr>
        <p:spPr>
          <a:xfrm>
            <a:off x="2490503" y="1501919"/>
            <a:ext cx="0" cy="231140"/>
          </a:xfrm>
          <a:custGeom>
            <a:avLst/>
            <a:gdLst/>
            <a:ahLst/>
            <a:cxnLst/>
            <a:rect l="l" t="t" r="r" b="b"/>
            <a:pathLst>
              <a:path h="231139">
                <a:moveTo>
                  <a:pt x="0" y="0"/>
                </a:moveTo>
                <a:lnTo>
                  <a:pt x="0" y="230616"/>
                </a:lnTo>
              </a:path>
            </a:pathLst>
          </a:custGeom>
          <a:ln w="105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 txBox="1"/>
          <p:nvPr/>
        </p:nvSpPr>
        <p:spPr>
          <a:xfrm>
            <a:off x="2209759" y="813750"/>
            <a:ext cx="466090" cy="323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0480" algn="r">
              <a:lnSpc>
                <a:spcPts val="995"/>
              </a:lnSpc>
              <a:spcBef>
                <a:spcPts val="90"/>
              </a:spcBef>
            </a:pPr>
            <a:r>
              <a:rPr sz="1000" b="1" dirty="0">
                <a:latin typeface="Arial" panose="020B0604020202090204"/>
                <a:cs typeface="Arial" panose="020B0604020202090204"/>
              </a:rPr>
              <a:t>+</a:t>
            </a:r>
            <a:endParaRPr sz="1000">
              <a:latin typeface="Arial" panose="020B0604020202090204"/>
              <a:cs typeface="Arial" panose="020B0604020202090204"/>
            </a:endParaRPr>
          </a:p>
          <a:p>
            <a:pPr marL="38100">
              <a:lnSpc>
                <a:spcPts val="1355"/>
              </a:lnSpc>
            </a:pPr>
            <a:r>
              <a:rPr sz="1300" b="1" spc="15" dirty="0">
                <a:latin typeface="Arial" panose="020B0604020202090204"/>
                <a:cs typeface="Arial" panose="020B0604020202090204"/>
              </a:rPr>
              <a:t>H</a:t>
            </a:r>
            <a:r>
              <a:rPr sz="1500" b="1" spc="22" baseline="-33000" dirty="0">
                <a:latin typeface="Arial" panose="020B0604020202090204"/>
                <a:cs typeface="Arial" panose="020B0604020202090204"/>
              </a:rPr>
              <a:t>3</a:t>
            </a:r>
            <a:r>
              <a:rPr sz="1300" b="1" spc="15" dirty="0">
                <a:latin typeface="Arial" panose="020B0604020202090204"/>
                <a:cs typeface="Arial" panose="020B0604020202090204"/>
              </a:rPr>
              <a:t>N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88" name="object 388"/>
          <p:cNvSpPr txBox="1"/>
          <p:nvPr/>
        </p:nvSpPr>
        <p:spPr>
          <a:xfrm>
            <a:off x="4199382" y="581024"/>
            <a:ext cx="17189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5565" algn="r">
              <a:lnSpc>
                <a:spcPct val="100000"/>
              </a:lnSpc>
              <a:spcBef>
                <a:spcPts val="95"/>
              </a:spcBef>
              <a:tabLst>
                <a:tab pos="294005" algn="l"/>
                <a:tab pos="549275" algn="l"/>
              </a:tabLst>
            </a:pPr>
            <a:r>
              <a:rPr sz="1600" b="1" u="heavy" spc="-5" dirty="0">
                <a:solidFill>
                  <a:srgbClr val="993366"/>
                </a:solidFill>
                <a:uFill>
                  <a:solidFill>
                    <a:srgbClr val="FFCC66"/>
                  </a:solidFill>
                </a:uFill>
                <a:latin typeface="Times New Roman" panose="02020503050405090304"/>
                <a:cs typeface="Times New Roman" panose="02020503050405090304"/>
              </a:rPr>
              <a:t> 	</a:t>
            </a:r>
            <a:r>
              <a:rPr sz="1600" b="1" spc="-5" dirty="0">
                <a:solidFill>
                  <a:srgbClr val="993366"/>
                </a:solid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600" b="1" spc="5" dirty="0">
                <a:solidFill>
                  <a:srgbClr val="993366"/>
                </a:solidFill>
                <a:latin typeface="黑体"/>
                <a:cs typeface="黑体"/>
              </a:rPr>
              <a:t>谷氨酸</a:t>
            </a:r>
            <a:r>
              <a:rPr sz="1600" b="1" spc="-5" dirty="0">
                <a:solidFill>
                  <a:srgbClr val="993366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38100">
              <a:lnSpc>
                <a:spcPts val="455"/>
              </a:lnSpc>
              <a:spcBef>
                <a:spcPts val="455"/>
              </a:spcBef>
              <a:tabLst>
                <a:tab pos="316230" algn="l"/>
                <a:tab pos="678815" algn="l"/>
              </a:tabLst>
            </a:pPr>
            <a:r>
              <a:rPr sz="1000" b="1" u="heavy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000" b="1" dirty="0">
                <a:latin typeface="Arial" panose="020B0604020202090204"/>
                <a:cs typeface="Arial" panose="020B0604020202090204"/>
              </a:rPr>
              <a:t> </a:t>
            </a:r>
            <a:r>
              <a:rPr sz="1000" b="1" spc="105" dirty="0">
                <a:latin typeface="Arial" panose="020B0604020202090204"/>
                <a:cs typeface="Arial" panose="020B0604020202090204"/>
              </a:rPr>
              <a:t> </a:t>
            </a:r>
            <a:r>
              <a:rPr sz="1000" b="1" u="dbl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endParaRPr sz="1000">
              <a:latin typeface="Arial" panose="020B0604020202090204"/>
              <a:cs typeface="Arial" panose="020B0604020202090204"/>
            </a:endParaRPr>
          </a:p>
          <a:p>
            <a:pPr marL="38100">
              <a:lnSpc>
                <a:spcPts val="1010"/>
              </a:lnSpc>
              <a:tabLst>
                <a:tab pos="327660" algn="l"/>
                <a:tab pos="690880" algn="l"/>
                <a:tab pos="857250" algn="l"/>
              </a:tabLst>
            </a:pPr>
            <a:r>
              <a:rPr sz="1950" b="1" u="dbl" spc="15" baseline="-17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950" b="1" spc="15" baseline="-17000" dirty="0">
                <a:latin typeface="Arial" panose="020B0604020202090204"/>
                <a:cs typeface="Arial" panose="020B0604020202090204"/>
              </a:rPr>
              <a:t> </a:t>
            </a:r>
            <a:r>
              <a:rPr sz="1950" b="1" spc="-232" baseline="-17000" dirty="0">
                <a:latin typeface="Arial" panose="020B0604020202090204"/>
                <a:cs typeface="Arial" panose="020B0604020202090204"/>
              </a:rPr>
              <a:t> </a:t>
            </a:r>
            <a:r>
              <a:rPr sz="1950" b="1" u="dbl" spc="15" baseline="-17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dbl" baseline="-17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r>
              <a:rPr sz="1950" b="1" baseline="-17000" dirty="0">
                <a:latin typeface="Arial" panose="020B0604020202090204"/>
                <a:cs typeface="Arial" panose="020B0604020202090204"/>
              </a:rPr>
              <a:t>	</a:t>
            </a:r>
            <a:r>
              <a:rPr sz="1600" b="1" spc="5" dirty="0">
                <a:solidFill>
                  <a:srgbClr val="993366"/>
                </a:solidFill>
                <a:latin typeface="黑体"/>
                <a:cs typeface="黑体"/>
              </a:rPr>
              <a:t>天冬氨酸</a:t>
            </a:r>
            <a:endParaRPr sz="1600">
              <a:latin typeface="黑体"/>
              <a:cs typeface="黑体"/>
            </a:endParaRPr>
          </a:p>
          <a:p>
            <a:pPr marR="112395" algn="r">
              <a:lnSpc>
                <a:spcPct val="100000"/>
              </a:lnSpc>
            </a:pPr>
            <a:r>
              <a:rPr sz="1600" b="1" spc="10" dirty="0">
                <a:solidFill>
                  <a:srgbClr val="993366"/>
                </a:solidFill>
                <a:latin typeface="黑体"/>
                <a:cs typeface="黑体"/>
              </a:rPr>
              <a:t>转</a:t>
            </a:r>
            <a:r>
              <a:rPr sz="1600" b="1" spc="-5" dirty="0">
                <a:solidFill>
                  <a:srgbClr val="993366"/>
                </a:solidFill>
                <a:latin typeface="黑体"/>
                <a:cs typeface="黑体"/>
              </a:rPr>
              <a:t>运</a:t>
            </a:r>
            <a:r>
              <a:rPr sz="1600" b="1" spc="-10" dirty="0">
                <a:solidFill>
                  <a:srgbClr val="993366"/>
                </a:solidFill>
                <a:latin typeface="黑体"/>
                <a:cs typeface="黑体"/>
              </a:rPr>
              <a:t>体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89" name="object 389"/>
          <p:cNvSpPr txBox="1"/>
          <p:nvPr/>
        </p:nvSpPr>
        <p:spPr>
          <a:xfrm>
            <a:off x="2424905" y="1670831"/>
            <a:ext cx="1485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25" dirty="0">
                <a:latin typeface="Arial" panose="020B0604020202090204"/>
                <a:cs typeface="Arial" panose="020B0604020202090204"/>
              </a:rPr>
              <a:t>H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0" name="object 390"/>
          <p:cNvSpPr txBox="1"/>
          <p:nvPr/>
        </p:nvSpPr>
        <p:spPr>
          <a:xfrm>
            <a:off x="7009003" y="1441830"/>
            <a:ext cx="848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3366"/>
                </a:solidFill>
                <a:latin typeface="黑体"/>
                <a:cs typeface="黑体"/>
              </a:rPr>
              <a:t>天冬氨酸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5962903" y="1134134"/>
            <a:ext cx="6794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 panose="020B0604020202090204"/>
                <a:cs typeface="Arial" panose="020B0604020202090204"/>
              </a:rPr>
              <a:t>-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2" name="object 392"/>
          <p:cNvSpPr txBox="1"/>
          <p:nvPr/>
        </p:nvSpPr>
        <p:spPr>
          <a:xfrm>
            <a:off x="4199381" y="1230592"/>
            <a:ext cx="729615" cy="227965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25"/>
              </a:spcBef>
              <a:tabLst>
                <a:tab pos="327660" algn="l"/>
                <a:tab pos="690880" algn="l"/>
              </a:tabLst>
            </a:pPr>
            <a:r>
              <a:rPr sz="1300" b="1" u="heavy" spc="-365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heavy" spc="15" baseline="-24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heavy" baseline="-24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r>
              <a:rPr sz="1950" b="1" baseline="-24000" dirty="0">
                <a:latin typeface="Arial" panose="020B0604020202090204"/>
                <a:cs typeface="Arial" panose="020B0604020202090204"/>
              </a:rPr>
              <a:t> </a:t>
            </a:r>
            <a:r>
              <a:rPr sz="1950" b="1" spc="-232" baseline="-24000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u="heavy" spc="-365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heavy" spc="15" baseline="-24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heavy" baseline="-24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1950" baseline="-24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3" name="object 393"/>
          <p:cNvSpPr txBox="1"/>
          <p:nvPr/>
        </p:nvSpPr>
        <p:spPr>
          <a:xfrm>
            <a:off x="5979819" y="1230592"/>
            <a:ext cx="144208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300" b="1" spc="10" dirty="0">
                <a:latin typeface="Arial" panose="020B0604020202090204"/>
                <a:cs typeface="Arial" panose="020B0604020202090204"/>
              </a:rPr>
              <a:t>OOC-CH</a:t>
            </a:r>
            <a:r>
              <a:rPr sz="1500" b="1" spc="15" baseline="-33000" dirty="0">
                <a:latin typeface="Arial" panose="020B0604020202090204"/>
                <a:cs typeface="Arial" panose="020B0604020202090204"/>
              </a:rPr>
              <a:t>2</a:t>
            </a:r>
            <a:r>
              <a:rPr sz="1300" b="1" spc="10" dirty="0">
                <a:latin typeface="Arial" panose="020B0604020202090204"/>
                <a:cs typeface="Arial" panose="020B0604020202090204"/>
              </a:rPr>
              <a:t>-C-COO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4" name="object 394"/>
          <p:cNvSpPr txBox="1"/>
          <p:nvPr/>
        </p:nvSpPr>
        <p:spPr>
          <a:xfrm>
            <a:off x="7369588" y="1134135"/>
            <a:ext cx="6794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 panose="020B0604020202090204"/>
                <a:cs typeface="Arial" panose="020B0604020202090204"/>
              </a:rPr>
              <a:t>-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5" name="object 395"/>
          <p:cNvSpPr/>
          <p:nvPr/>
        </p:nvSpPr>
        <p:spPr>
          <a:xfrm>
            <a:off x="6882670" y="1027250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4">
                <a:moveTo>
                  <a:pt x="0" y="222415"/>
                </a:moveTo>
                <a:lnTo>
                  <a:pt x="0" y="0"/>
                </a:lnTo>
              </a:path>
            </a:pathLst>
          </a:custGeom>
          <a:ln w="105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6882671" y="1429724"/>
            <a:ext cx="0" cy="231140"/>
          </a:xfrm>
          <a:custGeom>
            <a:avLst/>
            <a:gdLst/>
            <a:ahLst/>
            <a:cxnLst/>
            <a:rect l="l" t="t" r="r" b="b"/>
            <a:pathLst>
              <a:path h="231139">
                <a:moveTo>
                  <a:pt x="0" y="0"/>
                </a:moveTo>
                <a:lnTo>
                  <a:pt x="0" y="230959"/>
                </a:lnTo>
              </a:path>
            </a:pathLst>
          </a:custGeom>
          <a:ln w="105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 txBox="1"/>
          <p:nvPr/>
        </p:nvSpPr>
        <p:spPr>
          <a:xfrm>
            <a:off x="6749505" y="953060"/>
            <a:ext cx="9652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 panose="020B0604020202090204"/>
                <a:cs typeface="Arial" panose="020B0604020202090204"/>
              </a:rPr>
              <a:t>3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8" name="object 398"/>
          <p:cNvSpPr txBox="1"/>
          <p:nvPr/>
        </p:nvSpPr>
        <p:spPr>
          <a:xfrm>
            <a:off x="6627327" y="836662"/>
            <a:ext cx="34099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spc="25" dirty="0">
                <a:latin typeface="Arial" panose="020B0604020202090204"/>
                <a:cs typeface="Arial" panose="020B0604020202090204"/>
              </a:rPr>
              <a:t>H</a:t>
            </a:r>
            <a:r>
              <a:rPr sz="1300" b="1" spc="105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spc="25" dirty="0">
                <a:latin typeface="Arial" panose="020B0604020202090204"/>
                <a:cs typeface="Arial" panose="020B0604020202090204"/>
              </a:rPr>
              <a:t>N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9" name="object 399"/>
          <p:cNvSpPr txBox="1"/>
          <p:nvPr/>
        </p:nvSpPr>
        <p:spPr>
          <a:xfrm>
            <a:off x="6942651" y="740552"/>
            <a:ext cx="10033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 panose="020B0604020202090204"/>
                <a:cs typeface="Arial" panose="020B0604020202090204"/>
              </a:rPr>
              <a:t>+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00" name="object 400"/>
          <p:cNvSpPr txBox="1"/>
          <p:nvPr/>
        </p:nvSpPr>
        <p:spPr>
          <a:xfrm>
            <a:off x="6817073" y="1598906"/>
            <a:ext cx="14859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spc="25" dirty="0">
                <a:latin typeface="Arial" panose="020B0604020202090204"/>
                <a:cs typeface="Arial" panose="020B0604020202090204"/>
              </a:rPr>
              <a:t>H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01" name="object 401"/>
          <p:cNvSpPr txBox="1"/>
          <p:nvPr/>
        </p:nvSpPr>
        <p:spPr>
          <a:xfrm>
            <a:off x="4199381" y="1398174"/>
            <a:ext cx="729615" cy="42862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 panose="02020503050405090304"/>
              <a:cs typeface="Times New Roman" panose="02020503050405090304"/>
            </a:endParaRPr>
          </a:p>
          <a:p>
            <a:pPr marL="38100">
              <a:lnSpc>
                <a:spcPct val="100000"/>
              </a:lnSpc>
              <a:tabLst>
                <a:tab pos="316230" algn="l"/>
                <a:tab pos="678815" algn="l"/>
              </a:tabLst>
            </a:pPr>
            <a:r>
              <a:rPr sz="1000" b="1" u="heavy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000" b="1" dirty="0">
                <a:latin typeface="Arial" panose="020B0604020202090204"/>
                <a:cs typeface="Arial" panose="020B0604020202090204"/>
              </a:rPr>
              <a:t> </a:t>
            </a:r>
            <a:r>
              <a:rPr sz="1000" b="1" spc="105" dirty="0">
                <a:latin typeface="Arial" panose="020B0604020202090204"/>
                <a:cs typeface="Arial" panose="020B0604020202090204"/>
              </a:rPr>
              <a:t> </a:t>
            </a:r>
            <a:r>
              <a:rPr sz="1000" b="1" u="heavy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endParaRPr sz="1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Times New Roman" panose="02020503050405090304"/>
              <a:cs typeface="Times New Roman" panose="02020503050405090304"/>
            </a:endParaRPr>
          </a:p>
          <a:p>
            <a:pPr marL="38100">
              <a:lnSpc>
                <a:spcPct val="100000"/>
              </a:lnSpc>
              <a:tabLst>
                <a:tab pos="327660" algn="l"/>
                <a:tab pos="690880" algn="l"/>
              </a:tabLst>
            </a:pPr>
            <a:r>
              <a:rPr sz="1300" b="1" u="heavy" spc="-365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heavy" spc="15" baseline="-24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950" b="1" u="heavy" baseline="-2400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r>
              <a:rPr sz="1950" b="1" baseline="-24000" dirty="0">
                <a:latin typeface="Arial" panose="020B0604020202090204"/>
                <a:cs typeface="Arial" panose="020B0604020202090204"/>
              </a:rPr>
              <a:t> </a:t>
            </a:r>
            <a:r>
              <a:rPr sz="1950" b="1" spc="-232" baseline="-24000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u="heavy" spc="1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1300" b="1" u="heavy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2146807" y="2269188"/>
            <a:ext cx="6731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" dirty="0">
                <a:latin typeface="Arial" panose="020B0604020202090204"/>
                <a:cs typeface="Arial" panose="020B0604020202090204"/>
              </a:rPr>
              <a:t>-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03" name="object 403"/>
          <p:cNvSpPr/>
          <p:nvPr/>
        </p:nvSpPr>
        <p:spPr>
          <a:xfrm>
            <a:off x="3426394" y="2174793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218536"/>
                </a:moveTo>
                <a:lnTo>
                  <a:pt x="0" y="0"/>
                </a:lnTo>
              </a:path>
            </a:pathLst>
          </a:custGeom>
          <a:ln w="104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 txBox="1"/>
          <p:nvPr/>
        </p:nvSpPr>
        <p:spPr>
          <a:xfrm>
            <a:off x="3905996" y="2269188"/>
            <a:ext cx="9848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0835" algn="l"/>
                <a:tab pos="608965" algn="l"/>
                <a:tab pos="971550" algn="l"/>
              </a:tabLst>
            </a:pPr>
            <a:r>
              <a:rPr sz="950" b="1" spc="10" dirty="0">
                <a:latin typeface="Arial" panose="020B0604020202090204"/>
                <a:cs typeface="Arial" panose="020B0604020202090204"/>
              </a:rPr>
              <a:t>-	</a:t>
            </a:r>
            <a:r>
              <a:rPr sz="950" b="1" u="dbl" spc="2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950" b="1" u="dbl" spc="1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r>
              <a:rPr sz="950" b="1" spc="10" dirty="0">
                <a:latin typeface="Arial" panose="020B0604020202090204"/>
                <a:cs typeface="Arial" panose="020B0604020202090204"/>
              </a:rPr>
              <a:t>  </a:t>
            </a:r>
            <a:r>
              <a:rPr sz="950" b="1" spc="-125" dirty="0">
                <a:latin typeface="Arial" panose="020B0604020202090204"/>
                <a:cs typeface="Arial" panose="020B0604020202090204"/>
              </a:rPr>
              <a:t> </a:t>
            </a:r>
            <a:r>
              <a:rPr sz="950" b="1" u="heavy" spc="1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950" b="1" u="heavy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05" name="object 405"/>
          <p:cNvSpPr/>
          <p:nvPr/>
        </p:nvSpPr>
        <p:spPr>
          <a:xfrm>
            <a:off x="3426394" y="2570248"/>
            <a:ext cx="0" cy="227329"/>
          </a:xfrm>
          <a:custGeom>
            <a:avLst/>
            <a:gdLst/>
            <a:ahLst/>
            <a:cxnLst/>
            <a:rect l="l" t="t" r="r" b="b"/>
            <a:pathLst>
              <a:path h="227330">
                <a:moveTo>
                  <a:pt x="0" y="0"/>
                </a:moveTo>
                <a:lnTo>
                  <a:pt x="0" y="226931"/>
                </a:lnTo>
              </a:path>
            </a:pathLst>
          </a:custGeom>
          <a:ln w="104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 txBox="1"/>
          <p:nvPr/>
        </p:nvSpPr>
        <p:spPr>
          <a:xfrm>
            <a:off x="3149356" y="1892874"/>
            <a:ext cx="460375" cy="318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30480" algn="r">
              <a:lnSpc>
                <a:spcPts val="930"/>
              </a:lnSpc>
              <a:spcBef>
                <a:spcPts val="125"/>
              </a:spcBef>
            </a:pPr>
            <a:r>
              <a:rPr sz="950" b="1" spc="20" dirty="0">
                <a:latin typeface="Arial" panose="020B0604020202090204"/>
                <a:cs typeface="Arial" panose="020B0604020202090204"/>
              </a:rPr>
              <a:t>+</a:t>
            </a:r>
            <a:endParaRPr sz="950">
              <a:latin typeface="Arial" panose="020B0604020202090204"/>
              <a:cs typeface="Arial" panose="020B0604020202090204"/>
            </a:endParaRPr>
          </a:p>
          <a:p>
            <a:pPr marL="38100">
              <a:lnSpc>
                <a:spcPts val="1350"/>
              </a:lnSpc>
            </a:pPr>
            <a:r>
              <a:rPr sz="1300" b="1" spc="10" dirty="0">
                <a:latin typeface="Arial" panose="020B0604020202090204"/>
                <a:cs typeface="Arial" panose="020B0604020202090204"/>
              </a:rPr>
              <a:t>H</a:t>
            </a:r>
            <a:r>
              <a:rPr sz="1425" b="1" spc="15" baseline="-35000" dirty="0">
                <a:latin typeface="Arial" panose="020B0604020202090204"/>
                <a:cs typeface="Arial" panose="020B0604020202090204"/>
              </a:rPr>
              <a:t>3</a:t>
            </a:r>
            <a:r>
              <a:rPr sz="1300" b="1" spc="10" dirty="0">
                <a:latin typeface="Arial" panose="020B0604020202090204"/>
                <a:cs typeface="Arial" panose="020B0604020202090204"/>
              </a:rPr>
              <a:t>N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07" name="object 407"/>
          <p:cNvSpPr txBox="1"/>
          <p:nvPr/>
        </p:nvSpPr>
        <p:spPr>
          <a:xfrm>
            <a:off x="4224782" y="1987308"/>
            <a:ext cx="678180" cy="22415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tabLst>
                <a:tab pos="301625" algn="l"/>
                <a:tab pos="664845" algn="l"/>
              </a:tabLst>
            </a:pPr>
            <a:r>
              <a:rPr sz="1300" b="1" u="dbl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300" b="1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spc="-150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u="heavy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08" name="object 408"/>
          <p:cNvSpPr txBox="1"/>
          <p:nvPr/>
        </p:nvSpPr>
        <p:spPr>
          <a:xfrm>
            <a:off x="4224782" y="1892874"/>
            <a:ext cx="666115" cy="1746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tabLst>
                <a:tab pos="290195" algn="l"/>
                <a:tab pos="652780" algn="l"/>
              </a:tabLst>
            </a:pPr>
            <a:r>
              <a:rPr sz="950" b="1" u="heavy" spc="1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950" b="1" spc="10" dirty="0">
                <a:latin typeface="Arial" panose="020B0604020202090204"/>
                <a:cs typeface="Arial" panose="020B0604020202090204"/>
              </a:rPr>
              <a:t>  </a:t>
            </a:r>
            <a:r>
              <a:rPr sz="950" b="1" spc="-125" dirty="0">
                <a:latin typeface="Arial" panose="020B0604020202090204"/>
                <a:cs typeface="Arial" panose="020B0604020202090204"/>
              </a:rPr>
              <a:t> </a:t>
            </a:r>
            <a:r>
              <a:rPr sz="950" b="1" u="heavy" spc="10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</a:t>
            </a:r>
            <a:r>
              <a:rPr sz="950" b="1" u="heavy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	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09" name="object 409"/>
          <p:cNvSpPr txBox="1"/>
          <p:nvPr/>
        </p:nvSpPr>
        <p:spPr>
          <a:xfrm>
            <a:off x="2150322" y="2363964"/>
            <a:ext cx="2777490" cy="596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086610" algn="l"/>
                <a:tab pos="2376170" algn="l"/>
                <a:tab pos="2738755" algn="l"/>
              </a:tabLst>
            </a:pPr>
            <a:r>
              <a:rPr sz="1300" b="1" spc="5" dirty="0">
                <a:latin typeface="Arial" panose="020B0604020202090204"/>
                <a:cs typeface="Arial" panose="020B0604020202090204"/>
              </a:rPr>
              <a:t>OOC-CH</a:t>
            </a:r>
            <a:r>
              <a:rPr sz="1425" b="1" spc="7" baseline="-35000" dirty="0">
                <a:latin typeface="Arial" panose="020B0604020202090204"/>
                <a:cs typeface="Arial" panose="020B0604020202090204"/>
              </a:rPr>
              <a:t>2</a:t>
            </a:r>
            <a:r>
              <a:rPr sz="1300" b="1" spc="5" dirty="0">
                <a:latin typeface="Arial" panose="020B0604020202090204"/>
                <a:cs typeface="Arial" panose="020B0604020202090204"/>
              </a:rPr>
              <a:t>-CH</a:t>
            </a:r>
            <a:r>
              <a:rPr sz="1425" b="1" spc="7" baseline="-35000" dirty="0">
                <a:latin typeface="Arial" panose="020B0604020202090204"/>
                <a:cs typeface="Arial" panose="020B0604020202090204"/>
              </a:rPr>
              <a:t>2</a:t>
            </a:r>
            <a:r>
              <a:rPr sz="1300" b="1" spc="5" dirty="0">
                <a:latin typeface="Arial" panose="020B0604020202090204"/>
                <a:cs typeface="Arial" panose="020B0604020202090204"/>
              </a:rPr>
              <a:t>-C-COO	</a:t>
            </a:r>
            <a:r>
              <a:rPr sz="1300" b="1" u="heavy" spc="5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r>
              <a:rPr sz="1300" b="1" spc="5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spc="-150" dirty="0">
                <a:latin typeface="Arial" panose="020B0604020202090204"/>
                <a:cs typeface="Arial" panose="020B0604020202090204"/>
              </a:rPr>
              <a:t> </a:t>
            </a:r>
            <a:r>
              <a:rPr sz="1300" b="1" u="heavy" dirty="0">
                <a:uFill>
                  <a:solidFill>
                    <a:srgbClr val="FFCC66"/>
                  </a:solidFill>
                </a:uFill>
                <a:latin typeface="Arial" panose="020B0604020202090204"/>
                <a:cs typeface="Arial" panose="020B0604020202090204"/>
              </a:rPr>
              <a:t> 	</a:t>
            </a:r>
            <a:endParaRPr sz="1300">
              <a:latin typeface="Arial" panose="020B0604020202090204"/>
              <a:cs typeface="Arial" panose="020B0604020202090204"/>
            </a:endParaRPr>
          </a:p>
          <a:p>
            <a:pPr marR="200660" algn="ctr">
              <a:lnSpc>
                <a:spcPct val="100000"/>
              </a:lnSpc>
              <a:spcBef>
                <a:spcPts val="1370"/>
              </a:spcBef>
            </a:pPr>
            <a:r>
              <a:rPr sz="1300" b="1" spc="10" dirty="0">
                <a:latin typeface="Arial" panose="020B0604020202090204"/>
                <a:cs typeface="Arial" panose="020B0604020202090204"/>
              </a:rPr>
              <a:t>H</a:t>
            </a:r>
            <a:endParaRPr sz="13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737438"/>
            <a:ext cx="49193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五</a:t>
            </a:r>
            <a:r>
              <a:rPr sz="3200" spc="5" dirty="0"/>
              <a:t>、</a:t>
            </a:r>
            <a:r>
              <a:rPr sz="3200" spc="-10" dirty="0"/>
              <a:t>影响</a:t>
            </a:r>
            <a:r>
              <a:rPr sz="3200" dirty="0"/>
              <a:t>氧</a:t>
            </a:r>
            <a:r>
              <a:rPr sz="3200" spc="-10" dirty="0"/>
              <a:t>化磷</a:t>
            </a:r>
            <a:r>
              <a:rPr sz="3200" dirty="0"/>
              <a:t>酸</a:t>
            </a:r>
            <a:r>
              <a:rPr sz="3200" spc="-10" dirty="0"/>
              <a:t>化的</a:t>
            </a:r>
            <a:r>
              <a:rPr sz="3200" dirty="0"/>
              <a:t>因</a:t>
            </a:r>
            <a:r>
              <a:rPr sz="3200" spc="-10" dirty="0"/>
              <a:t>素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94917" y="1685036"/>
            <a:ext cx="5180965" cy="4351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1465" indent="-279400">
              <a:lnSpc>
                <a:spcPct val="100000"/>
              </a:lnSpc>
              <a:spcBef>
                <a:spcPts val="95"/>
              </a:spcBef>
              <a:buFont typeface="Times New Roman" panose="02020503050405090304"/>
              <a:buAutoNum type="arabicPeriod"/>
              <a:tabLst>
                <a:tab pos="292100" algn="l"/>
              </a:tabLst>
            </a:pPr>
            <a:r>
              <a:rPr sz="2200" b="1" spc="5" dirty="0">
                <a:solidFill>
                  <a:srgbClr val="008000"/>
                </a:solidFill>
                <a:latin typeface="黑体"/>
                <a:cs typeface="黑体"/>
              </a:rPr>
              <a:t>呼吸链抑制剂</a:t>
            </a:r>
            <a:endParaRPr sz="2200">
              <a:latin typeface="黑体"/>
              <a:cs typeface="黑体"/>
            </a:endParaRPr>
          </a:p>
          <a:p>
            <a:pPr marL="378460">
              <a:lnSpc>
                <a:spcPct val="100000"/>
              </a:lnSpc>
              <a:spcBef>
                <a:spcPts val="1850"/>
              </a:spcBef>
            </a:pPr>
            <a:r>
              <a:rPr sz="2200" b="1" spc="5" dirty="0">
                <a:latin typeface="黑体"/>
                <a:cs typeface="黑体"/>
              </a:rPr>
              <a:t>阻</a:t>
            </a:r>
            <a:r>
              <a:rPr sz="2200" b="1" spc="-10" dirty="0">
                <a:latin typeface="黑体"/>
                <a:cs typeface="黑体"/>
              </a:rPr>
              <a:t>断呼</a:t>
            </a:r>
            <a:r>
              <a:rPr sz="2200" b="1" spc="5" dirty="0">
                <a:latin typeface="黑体"/>
                <a:cs typeface="黑体"/>
              </a:rPr>
              <a:t>吸</a:t>
            </a:r>
            <a:r>
              <a:rPr sz="2200" b="1" spc="-10" dirty="0">
                <a:latin typeface="黑体"/>
                <a:cs typeface="黑体"/>
              </a:rPr>
              <a:t>链</a:t>
            </a:r>
            <a:r>
              <a:rPr sz="2200" b="1" spc="5" dirty="0">
                <a:latin typeface="黑体"/>
                <a:cs typeface="黑体"/>
              </a:rPr>
              <a:t>中</a:t>
            </a:r>
            <a:r>
              <a:rPr sz="2200" b="1" spc="-10" dirty="0">
                <a:latin typeface="黑体"/>
                <a:cs typeface="黑体"/>
              </a:rPr>
              <a:t>某些</a:t>
            </a:r>
            <a:r>
              <a:rPr sz="2200" b="1" spc="5" dirty="0">
                <a:latin typeface="黑体"/>
                <a:cs typeface="黑体"/>
              </a:rPr>
              <a:t>部</a:t>
            </a:r>
            <a:r>
              <a:rPr sz="2200" b="1" spc="-10" dirty="0">
                <a:latin typeface="黑体"/>
                <a:cs typeface="黑体"/>
              </a:rPr>
              <a:t>位</a:t>
            </a:r>
            <a:r>
              <a:rPr sz="2200" b="1" spc="5" dirty="0">
                <a:latin typeface="黑体"/>
                <a:cs typeface="黑体"/>
              </a:rPr>
              <a:t>电</a:t>
            </a:r>
            <a:r>
              <a:rPr sz="2200" b="1" spc="-10" dirty="0">
                <a:latin typeface="黑体"/>
                <a:cs typeface="黑体"/>
              </a:rPr>
              <a:t>子传</a:t>
            </a:r>
            <a:r>
              <a:rPr sz="2200" b="1" spc="-15" dirty="0">
                <a:latin typeface="黑体"/>
                <a:cs typeface="黑体"/>
              </a:rPr>
              <a:t>递</a:t>
            </a:r>
            <a:endParaRPr sz="2200">
              <a:latin typeface="黑体"/>
              <a:cs typeface="黑体"/>
            </a:endParaRPr>
          </a:p>
          <a:p>
            <a:pPr marL="291465" indent="-279400">
              <a:lnSpc>
                <a:spcPct val="100000"/>
              </a:lnSpc>
              <a:spcBef>
                <a:spcPts val="1845"/>
              </a:spcBef>
              <a:buFont typeface="Times New Roman" panose="02020503050405090304"/>
              <a:buAutoNum type="arabicPeriod" startAt="2"/>
              <a:tabLst>
                <a:tab pos="292100" algn="l"/>
              </a:tabLst>
            </a:pPr>
            <a:r>
              <a:rPr sz="2200" b="1" spc="5" dirty="0">
                <a:solidFill>
                  <a:srgbClr val="008000"/>
                </a:solidFill>
                <a:latin typeface="黑体"/>
                <a:cs typeface="黑体"/>
              </a:rPr>
              <a:t>解偶联剂</a:t>
            </a:r>
            <a:endParaRPr sz="2200">
              <a:latin typeface="黑体"/>
              <a:cs typeface="黑体"/>
            </a:endParaRPr>
          </a:p>
          <a:p>
            <a:pPr marL="378460">
              <a:lnSpc>
                <a:spcPct val="100000"/>
              </a:lnSpc>
              <a:spcBef>
                <a:spcPts val="1850"/>
              </a:spcBef>
            </a:pPr>
            <a:r>
              <a:rPr sz="2200" b="1" dirty="0">
                <a:latin typeface="黑体"/>
                <a:cs typeface="黑体"/>
              </a:rPr>
              <a:t>使</a:t>
            </a:r>
            <a:r>
              <a:rPr sz="2200" b="1" spc="-10" dirty="0">
                <a:latin typeface="黑体"/>
                <a:cs typeface="黑体"/>
              </a:rPr>
              <a:t>氧化</a:t>
            </a:r>
            <a:r>
              <a:rPr sz="2200" b="1" dirty="0">
                <a:latin typeface="黑体"/>
                <a:cs typeface="黑体"/>
              </a:rPr>
              <a:t>与</a:t>
            </a:r>
            <a:r>
              <a:rPr sz="2200" b="1" spc="-10" dirty="0">
                <a:latin typeface="黑体"/>
                <a:cs typeface="黑体"/>
              </a:rPr>
              <a:t>磷</a:t>
            </a:r>
            <a:r>
              <a:rPr sz="2200" b="1" dirty="0">
                <a:latin typeface="黑体"/>
                <a:cs typeface="黑体"/>
              </a:rPr>
              <a:t>酸</a:t>
            </a:r>
            <a:r>
              <a:rPr sz="2200" b="1" spc="-10" dirty="0">
                <a:latin typeface="黑体"/>
                <a:cs typeface="黑体"/>
              </a:rPr>
              <a:t>化偶</a:t>
            </a:r>
            <a:r>
              <a:rPr sz="2200" b="1" dirty="0">
                <a:latin typeface="黑体"/>
                <a:cs typeface="黑体"/>
              </a:rPr>
              <a:t>联</a:t>
            </a:r>
            <a:r>
              <a:rPr sz="2200" b="1" spc="-10" dirty="0">
                <a:latin typeface="黑体"/>
                <a:cs typeface="黑体"/>
              </a:rPr>
              <a:t>过</a:t>
            </a:r>
            <a:r>
              <a:rPr sz="2200" b="1" dirty="0">
                <a:latin typeface="黑体"/>
                <a:cs typeface="黑体"/>
              </a:rPr>
              <a:t>程</a:t>
            </a:r>
            <a:r>
              <a:rPr sz="2200" b="1" spc="-10" dirty="0">
                <a:latin typeface="黑体"/>
                <a:cs typeface="黑体"/>
              </a:rPr>
              <a:t>脱</a:t>
            </a:r>
            <a:r>
              <a:rPr sz="2200" b="1" spc="-15" dirty="0">
                <a:latin typeface="黑体"/>
                <a:cs typeface="黑体"/>
              </a:rPr>
              <a:t>离</a:t>
            </a:r>
            <a:endParaRPr sz="2200">
              <a:latin typeface="黑体"/>
              <a:cs typeface="黑体"/>
            </a:endParaRPr>
          </a:p>
          <a:p>
            <a:pPr marL="1094740">
              <a:lnSpc>
                <a:spcPct val="100000"/>
              </a:lnSpc>
              <a:spcBef>
                <a:spcPts val="1850"/>
              </a:spcBef>
            </a:pPr>
            <a:r>
              <a:rPr sz="2200" b="1" spc="5" dirty="0">
                <a:latin typeface="黑体"/>
                <a:cs typeface="黑体"/>
              </a:rPr>
              <a:t>如：解偶联</a:t>
            </a:r>
            <a:r>
              <a:rPr sz="2200" b="1" spc="-10" dirty="0">
                <a:latin typeface="黑体"/>
                <a:cs typeface="黑体"/>
              </a:rPr>
              <a:t>蛋</a:t>
            </a:r>
            <a:r>
              <a:rPr sz="2200" b="1" spc="-15" dirty="0">
                <a:latin typeface="黑体"/>
                <a:cs typeface="黑体"/>
              </a:rPr>
              <a:t>白</a:t>
            </a:r>
            <a:endParaRPr sz="2200">
              <a:latin typeface="黑体"/>
              <a:cs typeface="黑体"/>
            </a:endParaRPr>
          </a:p>
          <a:p>
            <a:pPr marL="291465" indent="-279400">
              <a:lnSpc>
                <a:spcPct val="100000"/>
              </a:lnSpc>
              <a:spcBef>
                <a:spcPts val="1850"/>
              </a:spcBef>
              <a:buFont typeface="Times New Roman" panose="02020503050405090304"/>
              <a:buAutoNum type="arabicPeriod" startAt="3"/>
              <a:tabLst>
                <a:tab pos="292100" algn="l"/>
              </a:tabLst>
            </a:pPr>
            <a:r>
              <a:rPr sz="2200" b="1" spc="5" dirty="0">
                <a:solidFill>
                  <a:srgbClr val="008000"/>
                </a:solidFill>
                <a:latin typeface="黑体"/>
                <a:cs typeface="黑体"/>
              </a:rPr>
              <a:t>氧化磷酸化抑</a:t>
            </a:r>
            <a:r>
              <a:rPr sz="2200" b="1" spc="-10" dirty="0">
                <a:solidFill>
                  <a:srgbClr val="008000"/>
                </a:solidFill>
                <a:latin typeface="黑体"/>
                <a:cs typeface="黑体"/>
              </a:rPr>
              <a:t>制</a:t>
            </a:r>
            <a:r>
              <a:rPr sz="2200" b="1" spc="-15" dirty="0">
                <a:solidFill>
                  <a:srgbClr val="008000"/>
                </a:solidFill>
                <a:latin typeface="黑体"/>
                <a:cs typeface="黑体"/>
              </a:rPr>
              <a:t>剂</a:t>
            </a:r>
            <a:endParaRPr sz="2200">
              <a:latin typeface="黑体"/>
              <a:cs typeface="黑体"/>
            </a:endParaRPr>
          </a:p>
          <a:p>
            <a:pPr marL="1094740" marR="5080" indent="-716915">
              <a:lnSpc>
                <a:spcPct val="170000"/>
              </a:lnSpc>
            </a:pPr>
            <a:r>
              <a:rPr sz="2200" b="1" spc="5" dirty="0">
                <a:latin typeface="黑体"/>
                <a:cs typeface="黑体"/>
              </a:rPr>
              <a:t>对电子传递</a:t>
            </a:r>
            <a:r>
              <a:rPr sz="2200" b="1" spc="-5" dirty="0">
                <a:latin typeface="黑体"/>
                <a:cs typeface="黑体"/>
              </a:rPr>
              <a:t>及</a:t>
            </a:r>
            <a:r>
              <a:rPr sz="2200" b="1" spc="-10" dirty="0">
                <a:latin typeface="Times New Roman" panose="02020503050405090304"/>
                <a:cs typeface="Times New Roman" panose="02020503050405090304"/>
              </a:rPr>
              <a:t>AD</a:t>
            </a:r>
            <a:r>
              <a:rPr sz="2200" b="1" dirty="0">
                <a:latin typeface="Times New Roman" panose="02020503050405090304"/>
                <a:cs typeface="Times New Roman" panose="02020503050405090304"/>
              </a:rPr>
              <a:t>P</a:t>
            </a:r>
            <a:r>
              <a:rPr sz="2200" b="1" spc="5" dirty="0">
                <a:latin typeface="黑体"/>
                <a:cs typeface="黑体"/>
              </a:rPr>
              <a:t>磷酸</a:t>
            </a:r>
            <a:r>
              <a:rPr sz="2200" b="1" spc="-10" dirty="0">
                <a:latin typeface="黑体"/>
                <a:cs typeface="黑体"/>
              </a:rPr>
              <a:t>化</a:t>
            </a:r>
            <a:r>
              <a:rPr sz="2200" b="1" spc="5" dirty="0">
                <a:latin typeface="黑体"/>
                <a:cs typeface="黑体"/>
              </a:rPr>
              <a:t>均</a:t>
            </a:r>
            <a:r>
              <a:rPr sz="2200" b="1" spc="-10" dirty="0">
                <a:latin typeface="黑体"/>
                <a:cs typeface="黑体"/>
              </a:rPr>
              <a:t>有</a:t>
            </a:r>
            <a:r>
              <a:rPr sz="2200" b="1" spc="5" dirty="0">
                <a:latin typeface="黑体"/>
                <a:cs typeface="黑体"/>
              </a:rPr>
              <a:t>抑</a:t>
            </a:r>
            <a:r>
              <a:rPr sz="2200" b="1" spc="-10" dirty="0">
                <a:latin typeface="黑体"/>
                <a:cs typeface="黑体"/>
              </a:rPr>
              <a:t>制作用 </a:t>
            </a:r>
            <a:r>
              <a:rPr sz="2200" b="1" spc="5" dirty="0">
                <a:latin typeface="黑体"/>
                <a:cs typeface="黑体"/>
              </a:rPr>
              <a:t>如：寡霉素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057400"/>
            <a:ext cx="8610600" cy="257708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34895" y="5576315"/>
            <a:ext cx="1736089" cy="1108075"/>
          </a:xfrm>
          <a:prstGeom prst="rect">
            <a:avLst/>
          </a:prstGeom>
          <a:ln w="9144">
            <a:solidFill>
              <a:srgbClr val="003366"/>
            </a:solidFill>
          </a:ln>
        </p:spPr>
        <p:txBody>
          <a:bodyPr vert="horz" wrap="square" lIns="0" tIns="14605" rIns="0" bIns="0" rtlCol="0">
            <a:spAutoFit/>
          </a:bodyPr>
          <a:lstStyle/>
          <a:p>
            <a:pPr marL="92075" marR="484505">
              <a:lnSpc>
                <a:spcPct val="110000"/>
              </a:lnSpc>
              <a:spcBef>
                <a:spcPts val="115"/>
              </a:spcBef>
            </a:pPr>
            <a:r>
              <a:rPr sz="2000" b="1" spc="5" dirty="0">
                <a:solidFill>
                  <a:srgbClr val="0000FF"/>
                </a:solidFill>
                <a:latin typeface="黑体"/>
                <a:cs typeface="黑体"/>
              </a:rPr>
              <a:t>鱼藤酮 粉蝶霉素</a:t>
            </a:r>
            <a:r>
              <a:rPr sz="2000" b="1" spc="-10" dirty="0">
                <a:solidFill>
                  <a:srgbClr val="0000FF"/>
                </a:solidFill>
                <a:latin typeface="黑体"/>
                <a:cs typeface="黑体"/>
              </a:rPr>
              <a:t>A</a:t>
            </a:r>
            <a:endParaRPr sz="2000">
              <a:latin typeface="黑体"/>
              <a:cs typeface="黑体"/>
            </a:endParaRPr>
          </a:p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2000" b="1" spc="5" dirty="0">
                <a:solidFill>
                  <a:srgbClr val="0000FF"/>
                </a:solidFill>
                <a:latin typeface="黑体"/>
                <a:cs typeface="黑体"/>
              </a:rPr>
              <a:t>异戊巴比妥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51532" y="3429000"/>
            <a:ext cx="173990" cy="2057400"/>
          </a:xfrm>
          <a:custGeom>
            <a:avLst/>
            <a:gdLst/>
            <a:ahLst/>
            <a:cxnLst/>
            <a:rect l="l" t="t" r="r" b="b"/>
            <a:pathLst>
              <a:path w="173989" h="2057400">
                <a:moveTo>
                  <a:pt x="115824" y="1999488"/>
                </a:moveTo>
                <a:lnTo>
                  <a:pt x="57912" y="1999488"/>
                </a:lnTo>
                <a:lnTo>
                  <a:pt x="57912" y="2057400"/>
                </a:lnTo>
                <a:lnTo>
                  <a:pt x="115824" y="2057400"/>
                </a:lnTo>
                <a:lnTo>
                  <a:pt x="115824" y="1999488"/>
                </a:lnTo>
                <a:close/>
              </a:path>
              <a:path w="173989" h="2057400">
                <a:moveTo>
                  <a:pt x="115824" y="1883664"/>
                </a:moveTo>
                <a:lnTo>
                  <a:pt x="57912" y="1883664"/>
                </a:lnTo>
                <a:lnTo>
                  <a:pt x="57912" y="1941576"/>
                </a:lnTo>
                <a:lnTo>
                  <a:pt x="115824" y="1941576"/>
                </a:lnTo>
                <a:lnTo>
                  <a:pt x="115824" y="1883664"/>
                </a:lnTo>
                <a:close/>
              </a:path>
              <a:path w="173989" h="2057400">
                <a:moveTo>
                  <a:pt x="115824" y="1767839"/>
                </a:moveTo>
                <a:lnTo>
                  <a:pt x="57912" y="1767839"/>
                </a:lnTo>
                <a:lnTo>
                  <a:pt x="57912" y="1825752"/>
                </a:lnTo>
                <a:lnTo>
                  <a:pt x="115824" y="1825752"/>
                </a:lnTo>
                <a:lnTo>
                  <a:pt x="115824" y="1767839"/>
                </a:lnTo>
                <a:close/>
              </a:path>
              <a:path w="173989" h="2057400">
                <a:moveTo>
                  <a:pt x="115824" y="1652016"/>
                </a:moveTo>
                <a:lnTo>
                  <a:pt x="57912" y="1652016"/>
                </a:lnTo>
                <a:lnTo>
                  <a:pt x="57912" y="1709927"/>
                </a:lnTo>
                <a:lnTo>
                  <a:pt x="115824" y="1709927"/>
                </a:lnTo>
                <a:lnTo>
                  <a:pt x="115824" y="1652016"/>
                </a:lnTo>
                <a:close/>
              </a:path>
              <a:path w="173989" h="2057400">
                <a:moveTo>
                  <a:pt x="115824" y="1536192"/>
                </a:moveTo>
                <a:lnTo>
                  <a:pt x="57912" y="1536192"/>
                </a:lnTo>
                <a:lnTo>
                  <a:pt x="57912" y="1594104"/>
                </a:lnTo>
                <a:lnTo>
                  <a:pt x="115824" y="1594104"/>
                </a:lnTo>
                <a:lnTo>
                  <a:pt x="115824" y="1536192"/>
                </a:lnTo>
                <a:close/>
              </a:path>
              <a:path w="173989" h="2057400">
                <a:moveTo>
                  <a:pt x="115824" y="1420368"/>
                </a:moveTo>
                <a:lnTo>
                  <a:pt x="57912" y="1420368"/>
                </a:lnTo>
                <a:lnTo>
                  <a:pt x="57912" y="1478280"/>
                </a:lnTo>
                <a:lnTo>
                  <a:pt x="115824" y="1478280"/>
                </a:lnTo>
                <a:lnTo>
                  <a:pt x="115824" y="1420368"/>
                </a:lnTo>
                <a:close/>
              </a:path>
              <a:path w="173989" h="2057400">
                <a:moveTo>
                  <a:pt x="115824" y="1304544"/>
                </a:moveTo>
                <a:lnTo>
                  <a:pt x="57912" y="1304544"/>
                </a:lnTo>
                <a:lnTo>
                  <a:pt x="57912" y="1362456"/>
                </a:lnTo>
                <a:lnTo>
                  <a:pt x="115824" y="1362456"/>
                </a:lnTo>
                <a:lnTo>
                  <a:pt x="115824" y="1304544"/>
                </a:lnTo>
                <a:close/>
              </a:path>
              <a:path w="173989" h="2057400">
                <a:moveTo>
                  <a:pt x="115824" y="1188720"/>
                </a:moveTo>
                <a:lnTo>
                  <a:pt x="57912" y="1188720"/>
                </a:lnTo>
                <a:lnTo>
                  <a:pt x="57912" y="1246632"/>
                </a:lnTo>
                <a:lnTo>
                  <a:pt x="115824" y="1246632"/>
                </a:lnTo>
                <a:lnTo>
                  <a:pt x="115824" y="1188720"/>
                </a:lnTo>
                <a:close/>
              </a:path>
              <a:path w="173989" h="2057400">
                <a:moveTo>
                  <a:pt x="115824" y="1072895"/>
                </a:moveTo>
                <a:lnTo>
                  <a:pt x="57912" y="1072895"/>
                </a:lnTo>
                <a:lnTo>
                  <a:pt x="57912" y="1130808"/>
                </a:lnTo>
                <a:lnTo>
                  <a:pt x="115824" y="1130808"/>
                </a:lnTo>
                <a:lnTo>
                  <a:pt x="115824" y="1072895"/>
                </a:lnTo>
                <a:close/>
              </a:path>
              <a:path w="173989" h="2057400">
                <a:moveTo>
                  <a:pt x="115824" y="957072"/>
                </a:moveTo>
                <a:lnTo>
                  <a:pt x="57912" y="957072"/>
                </a:lnTo>
                <a:lnTo>
                  <a:pt x="57912" y="1014983"/>
                </a:lnTo>
                <a:lnTo>
                  <a:pt x="115824" y="1014983"/>
                </a:lnTo>
                <a:lnTo>
                  <a:pt x="115824" y="957072"/>
                </a:lnTo>
                <a:close/>
              </a:path>
              <a:path w="173989" h="2057400">
                <a:moveTo>
                  <a:pt x="115824" y="841248"/>
                </a:moveTo>
                <a:lnTo>
                  <a:pt x="57912" y="841248"/>
                </a:lnTo>
                <a:lnTo>
                  <a:pt x="57912" y="899160"/>
                </a:lnTo>
                <a:lnTo>
                  <a:pt x="115824" y="899160"/>
                </a:lnTo>
                <a:lnTo>
                  <a:pt x="115824" y="841248"/>
                </a:lnTo>
                <a:close/>
              </a:path>
              <a:path w="173989" h="2057400">
                <a:moveTo>
                  <a:pt x="115824" y="725424"/>
                </a:moveTo>
                <a:lnTo>
                  <a:pt x="57912" y="725424"/>
                </a:lnTo>
                <a:lnTo>
                  <a:pt x="57912" y="783336"/>
                </a:lnTo>
                <a:lnTo>
                  <a:pt x="115824" y="783336"/>
                </a:lnTo>
                <a:lnTo>
                  <a:pt x="115824" y="725424"/>
                </a:lnTo>
                <a:close/>
              </a:path>
              <a:path w="173989" h="2057400">
                <a:moveTo>
                  <a:pt x="115824" y="609600"/>
                </a:moveTo>
                <a:lnTo>
                  <a:pt x="57912" y="609600"/>
                </a:lnTo>
                <a:lnTo>
                  <a:pt x="57912" y="667512"/>
                </a:lnTo>
                <a:lnTo>
                  <a:pt x="115824" y="667512"/>
                </a:lnTo>
                <a:lnTo>
                  <a:pt x="115824" y="609600"/>
                </a:lnTo>
                <a:close/>
              </a:path>
              <a:path w="173989" h="2057400">
                <a:moveTo>
                  <a:pt x="115824" y="493775"/>
                </a:moveTo>
                <a:lnTo>
                  <a:pt x="57912" y="493775"/>
                </a:lnTo>
                <a:lnTo>
                  <a:pt x="57912" y="551688"/>
                </a:lnTo>
                <a:lnTo>
                  <a:pt x="115824" y="551688"/>
                </a:lnTo>
                <a:lnTo>
                  <a:pt x="115824" y="493775"/>
                </a:lnTo>
                <a:close/>
              </a:path>
              <a:path w="173989" h="2057400">
                <a:moveTo>
                  <a:pt x="115824" y="377951"/>
                </a:moveTo>
                <a:lnTo>
                  <a:pt x="57912" y="377951"/>
                </a:lnTo>
                <a:lnTo>
                  <a:pt x="57912" y="435863"/>
                </a:lnTo>
                <a:lnTo>
                  <a:pt x="115824" y="435863"/>
                </a:lnTo>
                <a:lnTo>
                  <a:pt x="115824" y="377951"/>
                </a:lnTo>
                <a:close/>
              </a:path>
              <a:path w="173989" h="2057400">
                <a:moveTo>
                  <a:pt x="115824" y="262127"/>
                </a:moveTo>
                <a:lnTo>
                  <a:pt x="57912" y="262127"/>
                </a:lnTo>
                <a:lnTo>
                  <a:pt x="57912" y="320039"/>
                </a:lnTo>
                <a:lnTo>
                  <a:pt x="115824" y="320039"/>
                </a:lnTo>
                <a:lnTo>
                  <a:pt x="115824" y="262127"/>
                </a:lnTo>
                <a:close/>
              </a:path>
              <a:path w="173989" h="2057400">
                <a:moveTo>
                  <a:pt x="115824" y="146303"/>
                </a:moveTo>
                <a:lnTo>
                  <a:pt x="57912" y="146303"/>
                </a:lnTo>
                <a:lnTo>
                  <a:pt x="57912" y="204216"/>
                </a:lnTo>
                <a:lnTo>
                  <a:pt x="115824" y="204216"/>
                </a:lnTo>
                <a:lnTo>
                  <a:pt x="115824" y="146303"/>
                </a:lnTo>
                <a:close/>
              </a:path>
              <a:path w="173989" h="2057400">
                <a:moveTo>
                  <a:pt x="86868" y="0"/>
                </a:moveTo>
                <a:lnTo>
                  <a:pt x="0" y="173736"/>
                </a:lnTo>
                <a:lnTo>
                  <a:pt x="57912" y="173736"/>
                </a:lnTo>
                <a:lnTo>
                  <a:pt x="57912" y="146303"/>
                </a:lnTo>
                <a:lnTo>
                  <a:pt x="160019" y="146303"/>
                </a:lnTo>
                <a:lnTo>
                  <a:pt x="86868" y="0"/>
                </a:lnTo>
                <a:close/>
              </a:path>
              <a:path w="173989" h="2057400">
                <a:moveTo>
                  <a:pt x="160019" y="146303"/>
                </a:moveTo>
                <a:lnTo>
                  <a:pt x="115824" y="146303"/>
                </a:lnTo>
                <a:lnTo>
                  <a:pt x="115824" y="173736"/>
                </a:lnTo>
                <a:lnTo>
                  <a:pt x="173736" y="173736"/>
                </a:lnTo>
                <a:lnTo>
                  <a:pt x="160019" y="146303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90800" y="472440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190500" y="0"/>
                </a:moveTo>
                <a:lnTo>
                  <a:pt x="146837" y="6038"/>
                </a:lnTo>
                <a:lnTo>
                  <a:pt x="106746" y="23237"/>
                </a:lnTo>
                <a:lnTo>
                  <a:pt x="71374" y="50225"/>
                </a:lnTo>
                <a:lnTo>
                  <a:pt x="41867" y="85628"/>
                </a:lnTo>
                <a:lnTo>
                  <a:pt x="19372" y="128073"/>
                </a:lnTo>
                <a:lnTo>
                  <a:pt x="5034" y="176188"/>
                </a:lnTo>
                <a:lnTo>
                  <a:pt x="0" y="228600"/>
                </a:lnTo>
                <a:lnTo>
                  <a:pt x="5034" y="281011"/>
                </a:lnTo>
                <a:lnTo>
                  <a:pt x="19372" y="329126"/>
                </a:lnTo>
                <a:lnTo>
                  <a:pt x="41867" y="371571"/>
                </a:lnTo>
                <a:lnTo>
                  <a:pt x="71374" y="406974"/>
                </a:lnTo>
                <a:lnTo>
                  <a:pt x="106746" y="433962"/>
                </a:lnTo>
                <a:lnTo>
                  <a:pt x="146837" y="451161"/>
                </a:lnTo>
                <a:lnTo>
                  <a:pt x="190500" y="457200"/>
                </a:lnTo>
                <a:lnTo>
                  <a:pt x="234162" y="451161"/>
                </a:lnTo>
                <a:lnTo>
                  <a:pt x="274253" y="433962"/>
                </a:lnTo>
                <a:lnTo>
                  <a:pt x="309625" y="406974"/>
                </a:lnTo>
                <a:lnTo>
                  <a:pt x="339132" y="371571"/>
                </a:lnTo>
                <a:lnTo>
                  <a:pt x="361627" y="329126"/>
                </a:lnTo>
                <a:lnTo>
                  <a:pt x="375965" y="281011"/>
                </a:lnTo>
                <a:lnTo>
                  <a:pt x="381000" y="228600"/>
                </a:lnTo>
                <a:lnTo>
                  <a:pt x="375965" y="176188"/>
                </a:lnTo>
                <a:lnTo>
                  <a:pt x="361627" y="128073"/>
                </a:lnTo>
                <a:lnTo>
                  <a:pt x="339132" y="85628"/>
                </a:lnTo>
                <a:lnTo>
                  <a:pt x="309625" y="50225"/>
                </a:lnTo>
                <a:lnTo>
                  <a:pt x="274253" y="23237"/>
                </a:lnTo>
                <a:lnTo>
                  <a:pt x="234162" y="6038"/>
                </a:lnTo>
                <a:lnTo>
                  <a:pt x="1905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90800" y="472440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0" y="228600"/>
                </a:moveTo>
                <a:lnTo>
                  <a:pt x="5034" y="176188"/>
                </a:lnTo>
                <a:lnTo>
                  <a:pt x="19372" y="128073"/>
                </a:lnTo>
                <a:lnTo>
                  <a:pt x="41867" y="85628"/>
                </a:lnTo>
                <a:lnTo>
                  <a:pt x="71374" y="50225"/>
                </a:lnTo>
                <a:lnTo>
                  <a:pt x="106746" y="23237"/>
                </a:lnTo>
                <a:lnTo>
                  <a:pt x="146837" y="6038"/>
                </a:lnTo>
                <a:lnTo>
                  <a:pt x="190500" y="0"/>
                </a:lnTo>
                <a:lnTo>
                  <a:pt x="234162" y="6038"/>
                </a:lnTo>
                <a:lnTo>
                  <a:pt x="274253" y="23237"/>
                </a:lnTo>
                <a:lnTo>
                  <a:pt x="309625" y="50225"/>
                </a:lnTo>
                <a:lnTo>
                  <a:pt x="339132" y="85628"/>
                </a:lnTo>
                <a:lnTo>
                  <a:pt x="361627" y="128073"/>
                </a:lnTo>
                <a:lnTo>
                  <a:pt x="375965" y="176188"/>
                </a:lnTo>
                <a:lnTo>
                  <a:pt x="381000" y="228600"/>
                </a:lnTo>
                <a:lnTo>
                  <a:pt x="375965" y="281011"/>
                </a:lnTo>
                <a:lnTo>
                  <a:pt x="361627" y="329126"/>
                </a:lnTo>
                <a:lnTo>
                  <a:pt x="339132" y="371571"/>
                </a:lnTo>
                <a:lnTo>
                  <a:pt x="309625" y="406974"/>
                </a:lnTo>
                <a:lnTo>
                  <a:pt x="274253" y="433962"/>
                </a:lnTo>
                <a:lnTo>
                  <a:pt x="234162" y="451161"/>
                </a:lnTo>
                <a:lnTo>
                  <a:pt x="190500" y="457200"/>
                </a:lnTo>
                <a:lnTo>
                  <a:pt x="146837" y="451161"/>
                </a:lnTo>
                <a:lnTo>
                  <a:pt x="106746" y="433962"/>
                </a:lnTo>
                <a:lnTo>
                  <a:pt x="71374" y="406974"/>
                </a:lnTo>
                <a:lnTo>
                  <a:pt x="41867" y="371571"/>
                </a:lnTo>
                <a:lnTo>
                  <a:pt x="19372" y="329126"/>
                </a:lnTo>
                <a:lnTo>
                  <a:pt x="5034" y="281011"/>
                </a:lnTo>
                <a:lnTo>
                  <a:pt x="0" y="22860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93264" y="4703064"/>
            <a:ext cx="595122" cy="5676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40838" y="4783073"/>
            <a:ext cx="280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000066"/>
                </a:solidFill>
                <a:latin typeface="宋体"/>
                <a:cs typeface="宋体"/>
              </a:rPr>
              <a:t>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48455" y="1173480"/>
            <a:ext cx="1542415" cy="769620"/>
          </a:xfrm>
          <a:prstGeom prst="rect">
            <a:avLst/>
          </a:prstGeom>
          <a:ln w="9144">
            <a:solidFill>
              <a:srgbClr val="003366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1440" marR="171450">
              <a:lnSpc>
                <a:spcPct val="11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微软雅黑"/>
                <a:cs typeface="微软雅黑"/>
              </a:rPr>
              <a:t>抗 霉 </a:t>
            </a:r>
            <a:r>
              <a:rPr sz="2000" b="1" spc="-15" dirty="0">
                <a:solidFill>
                  <a:srgbClr val="0000FF"/>
                </a:solidFill>
                <a:latin typeface="微软雅黑"/>
                <a:cs typeface="微软雅黑"/>
              </a:rPr>
              <a:t>素 </a:t>
            </a:r>
            <a:r>
              <a:rPr sz="2000" b="1" dirty="0">
                <a:solidFill>
                  <a:srgbClr val="0000FF"/>
                </a:solidFill>
                <a:latin typeface="微软雅黑"/>
                <a:cs typeface="微软雅黑"/>
              </a:rPr>
              <a:t>A  二巯基</a:t>
            </a:r>
            <a:r>
              <a:rPr sz="2000" b="1" spc="-15" dirty="0">
                <a:solidFill>
                  <a:srgbClr val="0000FF"/>
                </a:solidFill>
                <a:latin typeface="微软雅黑"/>
                <a:cs typeface="微软雅黑"/>
              </a:rPr>
              <a:t>丙</a:t>
            </a:r>
            <a:r>
              <a:rPr sz="2000" b="1" dirty="0">
                <a:solidFill>
                  <a:srgbClr val="0000FF"/>
                </a:solidFill>
                <a:latin typeface="微软雅黑"/>
                <a:cs typeface="微软雅黑"/>
              </a:rPr>
              <a:t>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32732" y="1981200"/>
            <a:ext cx="173990" cy="2133600"/>
          </a:xfrm>
          <a:custGeom>
            <a:avLst/>
            <a:gdLst/>
            <a:ahLst/>
            <a:cxnLst/>
            <a:rect l="l" t="t" r="r" b="b"/>
            <a:pathLst>
              <a:path w="173989" h="2133600">
                <a:moveTo>
                  <a:pt x="115823" y="0"/>
                </a:moveTo>
                <a:lnTo>
                  <a:pt x="57912" y="0"/>
                </a:lnTo>
                <a:lnTo>
                  <a:pt x="57912" y="57912"/>
                </a:lnTo>
                <a:lnTo>
                  <a:pt x="115823" y="57912"/>
                </a:lnTo>
                <a:lnTo>
                  <a:pt x="115823" y="0"/>
                </a:lnTo>
                <a:close/>
              </a:path>
              <a:path w="173989" h="2133600">
                <a:moveTo>
                  <a:pt x="115823" y="115824"/>
                </a:moveTo>
                <a:lnTo>
                  <a:pt x="57912" y="115824"/>
                </a:lnTo>
                <a:lnTo>
                  <a:pt x="57912" y="173736"/>
                </a:lnTo>
                <a:lnTo>
                  <a:pt x="115823" y="173736"/>
                </a:lnTo>
                <a:lnTo>
                  <a:pt x="115823" y="115824"/>
                </a:lnTo>
                <a:close/>
              </a:path>
              <a:path w="173989" h="2133600">
                <a:moveTo>
                  <a:pt x="115823" y="231648"/>
                </a:moveTo>
                <a:lnTo>
                  <a:pt x="57912" y="231648"/>
                </a:lnTo>
                <a:lnTo>
                  <a:pt x="57912" y="289560"/>
                </a:lnTo>
                <a:lnTo>
                  <a:pt x="115823" y="289560"/>
                </a:lnTo>
                <a:lnTo>
                  <a:pt x="115823" y="231648"/>
                </a:lnTo>
                <a:close/>
              </a:path>
              <a:path w="173989" h="2133600">
                <a:moveTo>
                  <a:pt x="115823" y="347472"/>
                </a:moveTo>
                <a:lnTo>
                  <a:pt x="57912" y="347472"/>
                </a:lnTo>
                <a:lnTo>
                  <a:pt x="57912" y="405384"/>
                </a:lnTo>
                <a:lnTo>
                  <a:pt x="115823" y="405384"/>
                </a:lnTo>
                <a:lnTo>
                  <a:pt x="115823" y="347472"/>
                </a:lnTo>
                <a:close/>
              </a:path>
              <a:path w="173989" h="2133600">
                <a:moveTo>
                  <a:pt x="115823" y="463296"/>
                </a:moveTo>
                <a:lnTo>
                  <a:pt x="57912" y="463296"/>
                </a:lnTo>
                <a:lnTo>
                  <a:pt x="57912" y="521208"/>
                </a:lnTo>
                <a:lnTo>
                  <a:pt x="115823" y="521208"/>
                </a:lnTo>
                <a:lnTo>
                  <a:pt x="115823" y="463296"/>
                </a:lnTo>
                <a:close/>
              </a:path>
              <a:path w="173989" h="2133600">
                <a:moveTo>
                  <a:pt x="115823" y="579120"/>
                </a:moveTo>
                <a:lnTo>
                  <a:pt x="57912" y="579120"/>
                </a:lnTo>
                <a:lnTo>
                  <a:pt x="57912" y="637032"/>
                </a:lnTo>
                <a:lnTo>
                  <a:pt x="115823" y="637032"/>
                </a:lnTo>
                <a:lnTo>
                  <a:pt x="115823" y="579120"/>
                </a:lnTo>
                <a:close/>
              </a:path>
              <a:path w="173989" h="2133600">
                <a:moveTo>
                  <a:pt x="115823" y="694944"/>
                </a:moveTo>
                <a:lnTo>
                  <a:pt x="57912" y="694944"/>
                </a:lnTo>
                <a:lnTo>
                  <a:pt x="57912" y="752855"/>
                </a:lnTo>
                <a:lnTo>
                  <a:pt x="115823" y="752855"/>
                </a:lnTo>
                <a:lnTo>
                  <a:pt x="115823" y="694944"/>
                </a:lnTo>
                <a:close/>
              </a:path>
              <a:path w="173989" h="2133600">
                <a:moveTo>
                  <a:pt x="115823" y="810767"/>
                </a:moveTo>
                <a:lnTo>
                  <a:pt x="57912" y="810767"/>
                </a:lnTo>
                <a:lnTo>
                  <a:pt x="57912" y="868679"/>
                </a:lnTo>
                <a:lnTo>
                  <a:pt x="115823" y="868679"/>
                </a:lnTo>
                <a:lnTo>
                  <a:pt x="115823" y="810767"/>
                </a:lnTo>
                <a:close/>
              </a:path>
              <a:path w="173989" h="2133600">
                <a:moveTo>
                  <a:pt x="115823" y="926591"/>
                </a:moveTo>
                <a:lnTo>
                  <a:pt x="57912" y="926591"/>
                </a:lnTo>
                <a:lnTo>
                  <a:pt x="57912" y="984503"/>
                </a:lnTo>
                <a:lnTo>
                  <a:pt x="115823" y="984503"/>
                </a:lnTo>
                <a:lnTo>
                  <a:pt x="115823" y="926591"/>
                </a:lnTo>
                <a:close/>
              </a:path>
              <a:path w="173989" h="2133600">
                <a:moveTo>
                  <a:pt x="115823" y="1042415"/>
                </a:moveTo>
                <a:lnTo>
                  <a:pt x="57912" y="1042415"/>
                </a:lnTo>
                <a:lnTo>
                  <a:pt x="57912" y="1100327"/>
                </a:lnTo>
                <a:lnTo>
                  <a:pt x="115823" y="1100327"/>
                </a:lnTo>
                <a:lnTo>
                  <a:pt x="115823" y="1042415"/>
                </a:lnTo>
                <a:close/>
              </a:path>
              <a:path w="173989" h="2133600">
                <a:moveTo>
                  <a:pt x="115823" y="1158239"/>
                </a:moveTo>
                <a:lnTo>
                  <a:pt x="57912" y="1158239"/>
                </a:lnTo>
                <a:lnTo>
                  <a:pt x="57912" y="1216152"/>
                </a:lnTo>
                <a:lnTo>
                  <a:pt x="115823" y="1216152"/>
                </a:lnTo>
                <a:lnTo>
                  <a:pt x="115823" y="1158239"/>
                </a:lnTo>
                <a:close/>
              </a:path>
              <a:path w="173989" h="2133600">
                <a:moveTo>
                  <a:pt x="115823" y="1274064"/>
                </a:moveTo>
                <a:lnTo>
                  <a:pt x="57912" y="1274064"/>
                </a:lnTo>
                <a:lnTo>
                  <a:pt x="57912" y="1331976"/>
                </a:lnTo>
                <a:lnTo>
                  <a:pt x="115823" y="1331976"/>
                </a:lnTo>
                <a:lnTo>
                  <a:pt x="115823" y="1274064"/>
                </a:lnTo>
                <a:close/>
              </a:path>
              <a:path w="173989" h="2133600">
                <a:moveTo>
                  <a:pt x="115823" y="1389888"/>
                </a:moveTo>
                <a:lnTo>
                  <a:pt x="57912" y="1389888"/>
                </a:lnTo>
                <a:lnTo>
                  <a:pt x="57912" y="1447800"/>
                </a:lnTo>
                <a:lnTo>
                  <a:pt x="115823" y="1447800"/>
                </a:lnTo>
                <a:lnTo>
                  <a:pt x="115823" y="1389888"/>
                </a:lnTo>
                <a:close/>
              </a:path>
              <a:path w="173989" h="2133600">
                <a:moveTo>
                  <a:pt x="115823" y="1505712"/>
                </a:moveTo>
                <a:lnTo>
                  <a:pt x="57912" y="1505712"/>
                </a:lnTo>
                <a:lnTo>
                  <a:pt x="57912" y="1563624"/>
                </a:lnTo>
                <a:lnTo>
                  <a:pt x="115823" y="1563624"/>
                </a:lnTo>
                <a:lnTo>
                  <a:pt x="115823" y="1505712"/>
                </a:lnTo>
                <a:close/>
              </a:path>
              <a:path w="173989" h="2133600">
                <a:moveTo>
                  <a:pt x="115823" y="1621536"/>
                </a:moveTo>
                <a:lnTo>
                  <a:pt x="57912" y="1621536"/>
                </a:lnTo>
                <a:lnTo>
                  <a:pt x="57912" y="1679448"/>
                </a:lnTo>
                <a:lnTo>
                  <a:pt x="115823" y="1679448"/>
                </a:lnTo>
                <a:lnTo>
                  <a:pt x="115823" y="1621536"/>
                </a:lnTo>
                <a:close/>
              </a:path>
              <a:path w="173989" h="2133600">
                <a:moveTo>
                  <a:pt x="115823" y="1737360"/>
                </a:moveTo>
                <a:lnTo>
                  <a:pt x="57912" y="1737360"/>
                </a:lnTo>
                <a:lnTo>
                  <a:pt x="57912" y="1795272"/>
                </a:lnTo>
                <a:lnTo>
                  <a:pt x="115823" y="1795272"/>
                </a:lnTo>
                <a:lnTo>
                  <a:pt x="115823" y="1737360"/>
                </a:lnTo>
                <a:close/>
              </a:path>
              <a:path w="173989" h="2133600">
                <a:moveTo>
                  <a:pt x="115823" y="1853183"/>
                </a:moveTo>
                <a:lnTo>
                  <a:pt x="57912" y="1853183"/>
                </a:lnTo>
                <a:lnTo>
                  <a:pt x="57912" y="1911095"/>
                </a:lnTo>
                <a:lnTo>
                  <a:pt x="115823" y="1911095"/>
                </a:lnTo>
                <a:lnTo>
                  <a:pt x="115823" y="1853183"/>
                </a:lnTo>
                <a:close/>
              </a:path>
              <a:path w="173989" h="2133600">
                <a:moveTo>
                  <a:pt x="173735" y="1959864"/>
                </a:moveTo>
                <a:lnTo>
                  <a:pt x="0" y="1959864"/>
                </a:lnTo>
                <a:lnTo>
                  <a:pt x="86867" y="2133600"/>
                </a:lnTo>
                <a:lnTo>
                  <a:pt x="159257" y="1988820"/>
                </a:lnTo>
                <a:lnTo>
                  <a:pt x="57912" y="1988820"/>
                </a:lnTo>
                <a:lnTo>
                  <a:pt x="57912" y="1969008"/>
                </a:lnTo>
                <a:lnTo>
                  <a:pt x="169163" y="1969008"/>
                </a:lnTo>
                <a:lnTo>
                  <a:pt x="173735" y="1959864"/>
                </a:lnTo>
                <a:close/>
              </a:path>
              <a:path w="173989" h="2133600">
                <a:moveTo>
                  <a:pt x="115823" y="1969008"/>
                </a:moveTo>
                <a:lnTo>
                  <a:pt x="57912" y="1969008"/>
                </a:lnTo>
                <a:lnTo>
                  <a:pt x="57912" y="1988820"/>
                </a:lnTo>
                <a:lnTo>
                  <a:pt x="115823" y="1988820"/>
                </a:lnTo>
                <a:lnTo>
                  <a:pt x="115823" y="1969008"/>
                </a:lnTo>
                <a:close/>
              </a:path>
              <a:path w="173989" h="2133600">
                <a:moveTo>
                  <a:pt x="169163" y="1969008"/>
                </a:moveTo>
                <a:lnTo>
                  <a:pt x="115823" y="1969008"/>
                </a:lnTo>
                <a:lnTo>
                  <a:pt x="115823" y="1988820"/>
                </a:lnTo>
                <a:lnTo>
                  <a:pt x="159257" y="1988820"/>
                </a:lnTo>
                <a:lnTo>
                  <a:pt x="169163" y="196900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95800" y="251460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190500" y="0"/>
                </a:moveTo>
                <a:lnTo>
                  <a:pt x="146837" y="6038"/>
                </a:lnTo>
                <a:lnTo>
                  <a:pt x="106746" y="23237"/>
                </a:lnTo>
                <a:lnTo>
                  <a:pt x="71374" y="50225"/>
                </a:lnTo>
                <a:lnTo>
                  <a:pt x="41867" y="85628"/>
                </a:lnTo>
                <a:lnTo>
                  <a:pt x="19372" y="128073"/>
                </a:lnTo>
                <a:lnTo>
                  <a:pt x="5034" y="176188"/>
                </a:lnTo>
                <a:lnTo>
                  <a:pt x="0" y="228600"/>
                </a:lnTo>
                <a:lnTo>
                  <a:pt x="5034" y="281011"/>
                </a:lnTo>
                <a:lnTo>
                  <a:pt x="19372" y="329126"/>
                </a:lnTo>
                <a:lnTo>
                  <a:pt x="41867" y="371571"/>
                </a:lnTo>
                <a:lnTo>
                  <a:pt x="71374" y="406974"/>
                </a:lnTo>
                <a:lnTo>
                  <a:pt x="106746" y="433962"/>
                </a:lnTo>
                <a:lnTo>
                  <a:pt x="146837" y="451161"/>
                </a:lnTo>
                <a:lnTo>
                  <a:pt x="190500" y="457200"/>
                </a:lnTo>
                <a:lnTo>
                  <a:pt x="234162" y="451161"/>
                </a:lnTo>
                <a:lnTo>
                  <a:pt x="274253" y="433962"/>
                </a:lnTo>
                <a:lnTo>
                  <a:pt x="309625" y="406974"/>
                </a:lnTo>
                <a:lnTo>
                  <a:pt x="339132" y="371571"/>
                </a:lnTo>
                <a:lnTo>
                  <a:pt x="361627" y="329126"/>
                </a:lnTo>
                <a:lnTo>
                  <a:pt x="375965" y="281011"/>
                </a:lnTo>
                <a:lnTo>
                  <a:pt x="381000" y="228600"/>
                </a:lnTo>
                <a:lnTo>
                  <a:pt x="375965" y="176188"/>
                </a:lnTo>
                <a:lnTo>
                  <a:pt x="361627" y="128073"/>
                </a:lnTo>
                <a:lnTo>
                  <a:pt x="339132" y="85628"/>
                </a:lnTo>
                <a:lnTo>
                  <a:pt x="309625" y="50225"/>
                </a:lnTo>
                <a:lnTo>
                  <a:pt x="274253" y="23237"/>
                </a:lnTo>
                <a:lnTo>
                  <a:pt x="234162" y="6038"/>
                </a:lnTo>
                <a:lnTo>
                  <a:pt x="1905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95800" y="251460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0" y="228600"/>
                </a:moveTo>
                <a:lnTo>
                  <a:pt x="5034" y="176188"/>
                </a:lnTo>
                <a:lnTo>
                  <a:pt x="19372" y="128073"/>
                </a:lnTo>
                <a:lnTo>
                  <a:pt x="41867" y="85628"/>
                </a:lnTo>
                <a:lnTo>
                  <a:pt x="71374" y="50225"/>
                </a:lnTo>
                <a:lnTo>
                  <a:pt x="106746" y="23237"/>
                </a:lnTo>
                <a:lnTo>
                  <a:pt x="146837" y="6038"/>
                </a:lnTo>
                <a:lnTo>
                  <a:pt x="190500" y="0"/>
                </a:lnTo>
                <a:lnTo>
                  <a:pt x="234162" y="6038"/>
                </a:lnTo>
                <a:lnTo>
                  <a:pt x="274253" y="23237"/>
                </a:lnTo>
                <a:lnTo>
                  <a:pt x="309625" y="50225"/>
                </a:lnTo>
                <a:lnTo>
                  <a:pt x="339132" y="85628"/>
                </a:lnTo>
                <a:lnTo>
                  <a:pt x="361627" y="128073"/>
                </a:lnTo>
                <a:lnTo>
                  <a:pt x="375965" y="176188"/>
                </a:lnTo>
                <a:lnTo>
                  <a:pt x="381000" y="228600"/>
                </a:lnTo>
                <a:lnTo>
                  <a:pt x="375965" y="281011"/>
                </a:lnTo>
                <a:lnTo>
                  <a:pt x="361627" y="329126"/>
                </a:lnTo>
                <a:lnTo>
                  <a:pt x="339132" y="371571"/>
                </a:lnTo>
                <a:lnTo>
                  <a:pt x="309625" y="406974"/>
                </a:lnTo>
                <a:lnTo>
                  <a:pt x="274253" y="433962"/>
                </a:lnTo>
                <a:lnTo>
                  <a:pt x="234162" y="451161"/>
                </a:lnTo>
                <a:lnTo>
                  <a:pt x="190500" y="457200"/>
                </a:lnTo>
                <a:lnTo>
                  <a:pt x="146837" y="451161"/>
                </a:lnTo>
                <a:lnTo>
                  <a:pt x="106746" y="433962"/>
                </a:lnTo>
                <a:lnTo>
                  <a:pt x="71374" y="406974"/>
                </a:lnTo>
                <a:lnTo>
                  <a:pt x="41867" y="371571"/>
                </a:lnTo>
                <a:lnTo>
                  <a:pt x="19372" y="329126"/>
                </a:lnTo>
                <a:lnTo>
                  <a:pt x="5034" y="281011"/>
                </a:lnTo>
                <a:lnTo>
                  <a:pt x="0" y="22860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98264" y="2493264"/>
            <a:ext cx="595122" cy="567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546219" y="2572638"/>
            <a:ext cx="280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0066"/>
                </a:solidFill>
                <a:latin typeface="宋体"/>
                <a:cs typeface="宋体"/>
              </a:rPr>
              <a:t>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65492" y="1080516"/>
            <a:ext cx="1574800" cy="762000"/>
          </a:xfrm>
          <a:prstGeom prst="rect">
            <a:avLst/>
          </a:prstGeom>
          <a:ln w="9144">
            <a:solidFill>
              <a:srgbClr val="003366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2710" marR="154940">
              <a:lnSpc>
                <a:spcPct val="11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C</a:t>
            </a:r>
            <a:r>
              <a:rPr sz="2000" b="1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O</a:t>
            </a:r>
            <a:r>
              <a:rPr sz="2000" b="1" spc="10" dirty="0">
                <a:solidFill>
                  <a:srgbClr val="0000FF"/>
                </a:solidFill>
                <a:latin typeface="华文中宋"/>
                <a:cs typeface="华文中宋"/>
              </a:rPr>
              <a:t>、</a:t>
            </a:r>
            <a:r>
              <a:rPr sz="2000" b="1" spc="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CN</a:t>
            </a:r>
            <a:r>
              <a:rPr sz="1950" b="1" spc="15" baseline="26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2000" b="1" dirty="0">
                <a:solidFill>
                  <a:srgbClr val="0000FF"/>
                </a:solidFill>
                <a:latin typeface="华文中宋"/>
                <a:cs typeface="华文中宋"/>
              </a:rPr>
              <a:t>、  </a:t>
            </a:r>
            <a:r>
              <a:rPr sz="2000" b="1" spc="1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N</a:t>
            </a:r>
            <a:r>
              <a:rPr sz="1950" b="1" spc="15" baseline="-21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3</a:t>
            </a:r>
            <a:r>
              <a:rPr sz="1950" b="1" spc="15" baseline="26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-</a:t>
            </a:r>
            <a:r>
              <a:rPr sz="2000" b="1" spc="10" dirty="0">
                <a:solidFill>
                  <a:srgbClr val="0000FF"/>
                </a:solidFill>
                <a:latin typeface="华文中宋"/>
                <a:cs typeface="华文中宋"/>
              </a:rPr>
              <a:t>及</a:t>
            </a:r>
            <a:r>
              <a:rPr sz="2000" b="1" spc="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H</a:t>
            </a:r>
            <a:r>
              <a:rPr sz="1950" b="1" spc="7" baseline="-21000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2</a:t>
            </a:r>
            <a:r>
              <a:rPr sz="2000" b="1" spc="5" dirty="0">
                <a:solidFill>
                  <a:srgbClr val="0000FF"/>
                </a:solidFill>
                <a:latin typeface="Times New Roman" panose="02020503050405090304"/>
                <a:cs typeface="Times New Roman" panose="02020503050405090304"/>
              </a:rPr>
              <a:t>S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42731" y="1981200"/>
            <a:ext cx="173990" cy="2133600"/>
          </a:xfrm>
          <a:custGeom>
            <a:avLst/>
            <a:gdLst/>
            <a:ahLst/>
            <a:cxnLst/>
            <a:rect l="l" t="t" r="r" b="b"/>
            <a:pathLst>
              <a:path w="173990" h="2133600">
                <a:moveTo>
                  <a:pt x="115824" y="0"/>
                </a:moveTo>
                <a:lnTo>
                  <a:pt x="57912" y="0"/>
                </a:lnTo>
                <a:lnTo>
                  <a:pt x="57912" y="57912"/>
                </a:lnTo>
                <a:lnTo>
                  <a:pt x="115824" y="57912"/>
                </a:lnTo>
                <a:lnTo>
                  <a:pt x="115824" y="0"/>
                </a:lnTo>
                <a:close/>
              </a:path>
              <a:path w="173990" h="2133600">
                <a:moveTo>
                  <a:pt x="115824" y="115824"/>
                </a:moveTo>
                <a:lnTo>
                  <a:pt x="57912" y="115824"/>
                </a:lnTo>
                <a:lnTo>
                  <a:pt x="57912" y="173736"/>
                </a:lnTo>
                <a:lnTo>
                  <a:pt x="115824" y="173736"/>
                </a:lnTo>
                <a:lnTo>
                  <a:pt x="115824" y="115824"/>
                </a:lnTo>
                <a:close/>
              </a:path>
              <a:path w="173990" h="2133600">
                <a:moveTo>
                  <a:pt x="115824" y="231648"/>
                </a:moveTo>
                <a:lnTo>
                  <a:pt x="57912" y="231648"/>
                </a:lnTo>
                <a:lnTo>
                  <a:pt x="57912" y="289560"/>
                </a:lnTo>
                <a:lnTo>
                  <a:pt x="115824" y="289560"/>
                </a:lnTo>
                <a:lnTo>
                  <a:pt x="115824" y="231648"/>
                </a:lnTo>
                <a:close/>
              </a:path>
              <a:path w="173990" h="2133600">
                <a:moveTo>
                  <a:pt x="115824" y="347472"/>
                </a:moveTo>
                <a:lnTo>
                  <a:pt x="57912" y="347472"/>
                </a:lnTo>
                <a:lnTo>
                  <a:pt x="57912" y="405384"/>
                </a:lnTo>
                <a:lnTo>
                  <a:pt x="115824" y="405384"/>
                </a:lnTo>
                <a:lnTo>
                  <a:pt x="115824" y="347472"/>
                </a:lnTo>
                <a:close/>
              </a:path>
              <a:path w="173990" h="2133600">
                <a:moveTo>
                  <a:pt x="115824" y="463296"/>
                </a:moveTo>
                <a:lnTo>
                  <a:pt x="57912" y="463296"/>
                </a:lnTo>
                <a:lnTo>
                  <a:pt x="57912" y="521208"/>
                </a:lnTo>
                <a:lnTo>
                  <a:pt x="115824" y="521208"/>
                </a:lnTo>
                <a:lnTo>
                  <a:pt x="115824" y="463296"/>
                </a:lnTo>
                <a:close/>
              </a:path>
              <a:path w="173990" h="2133600">
                <a:moveTo>
                  <a:pt x="115824" y="579120"/>
                </a:moveTo>
                <a:lnTo>
                  <a:pt x="57912" y="579120"/>
                </a:lnTo>
                <a:lnTo>
                  <a:pt x="57912" y="637032"/>
                </a:lnTo>
                <a:lnTo>
                  <a:pt x="115824" y="637032"/>
                </a:lnTo>
                <a:lnTo>
                  <a:pt x="115824" y="579120"/>
                </a:lnTo>
                <a:close/>
              </a:path>
              <a:path w="173990" h="2133600">
                <a:moveTo>
                  <a:pt x="115824" y="694944"/>
                </a:moveTo>
                <a:lnTo>
                  <a:pt x="57912" y="694944"/>
                </a:lnTo>
                <a:lnTo>
                  <a:pt x="57912" y="752855"/>
                </a:lnTo>
                <a:lnTo>
                  <a:pt x="115824" y="752855"/>
                </a:lnTo>
                <a:lnTo>
                  <a:pt x="115824" y="694944"/>
                </a:lnTo>
                <a:close/>
              </a:path>
              <a:path w="173990" h="2133600">
                <a:moveTo>
                  <a:pt x="115824" y="810767"/>
                </a:moveTo>
                <a:lnTo>
                  <a:pt x="57912" y="810767"/>
                </a:lnTo>
                <a:lnTo>
                  <a:pt x="57912" y="868679"/>
                </a:lnTo>
                <a:lnTo>
                  <a:pt x="115824" y="868679"/>
                </a:lnTo>
                <a:lnTo>
                  <a:pt x="115824" y="810767"/>
                </a:lnTo>
                <a:close/>
              </a:path>
              <a:path w="173990" h="2133600">
                <a:moveTo>
                  <a:pt x="115824" y="926591"/>
                </a:moveTo>
                <a:lnTo>
                  <a:pt x="57912" y="926591"/>
                </a:lnTo>
                <a:lnTo>
                  <a:pt x="57912" y="984503"/>
                </a:lnTo>
                <a:lnTo>
                  <a:pt x="115824" y="984503"/>
                </a:lnTo>
                <a:lnTo>
                  <a:pt x="115824" y="926591"/>
                </a:lnTo>
                <a:close/>
              </a:path>
              <a:path w="173990" h="2133600">
                <a:moveTo>
                  <a:pt x="115824" y="1042415"/>
                </a:moveTo>
                <a:lnTo>
                  <a:pt x="57912" y="1042415"/>
                </a:lnTo>
                <a:lnTo>
                  <a:pt x="57912" y="1100327"/>
                </a:lnTo>
                <a:lnTo>
                  <a:pt x="115824" y="1100327"/>
                </a:lnTo>
                <a:lnTo>
                  <a:pt x="115824" y="1042415"/>
                </a:lnTo>
                <a:close/>
              </a:path>
              <a:path w="173990" h="2133600">
                <a:moveTo>
                  <a:pt x="115824" y="1158239"/>
                </a:moveTo>
                <a:lnTo>
                  <a:pt x="57912" y="1158239"/>
                </a:lnTo>
                <a:lnTo>
                  <a:pt x="57912" y="1216152"/>
                </a:lnTo>
                <a:lnTo>
                  <a:pt x="115824" y="1216152"/>
                </a:lnTo>
                <a:lnTo>
                  <a:pt x="115824" y="1158239"/>
                </a:lnTo>
                <a:close/>
              </a:path>
              <a:path w="173990" h="2133600">
                <a:moveTo>
                  <a:pt x="115824" y="1274064"/>
                </a:moveTo>
                <a:lnTo>
                  <a:pt x="57912" y="1274064"/>
                </a:lnTo>
                <a:lnTo>
                  <a:pt x="57912" y="1331976"/>
                </a:lnTo>
                <a:lnTo>
                  <a:pt x="115824" y="1331976"/>
                </a:lnTo>
                <a:lnTo>
                  <a:pt x="115824" y="1274064"/>
                </a:lnTo>
                <a:close/>
              </a:path>
              <a:path w="173990" h="2133600">
                <a:moveTo>
                  <a:pt x="115824" y="1389888"/>
                </a:moveTo>
                <a:lnTo>
                  <a:pt x="57912" y="1389888"/>
                </a:lnTo>
                <a:lnTo>
                  <a:pt x="57912" y="1447800"/>
                </a:lnTo>
                <a:lnTo>
                  <a:pt x="115824" y="1447800"/>
                </a:lnTo>
                <a:lnTo>
                  <a:pt x="115824" y="1389888"/>
                </a:lnTo>
                <a:close/>
              </a:path>
              <a:path w="173990" h="2133600">
                <a:moveTo>
                  <a:pt x="115824" y="1505712"/>
                </a:moveTo>
                <a:lnTo>
                  <a:pt x="57912" y="1505712"/>
                </a:lnTo>
                <a:lnTo>
                  <a:pt x="57912" y="1563624"/>
                </a:lnTo>
                <a:lnTo>
                  <a:pt x="115824" y="1563624"/>
                </a:lnTo>
                <a:lnTo>
                  <a:pt x="115824" y="1505712"/>
                </a:lnTo>
                <a:close/>
              </a:path>
              <a:path w="173990" h="2133600">
                <a:moveTo>
                  <a:pt x="115824" y="1621536"/>
                </a:moveTo>
                <a:lnTo>
                  <a:pt x="57912" y="1621536"/>
                </a:lnTo>
                <a:lnTo>
                  <a:pt x="57912" y="1679448"/>
                </a:lnTo>
                <a:lnTo>
                  <a:pt x="115824" y="1679448"/>
                </a:lnTo>
                <a:lnTo>
                  <a:pt x="115824" y="1621536"/>
                </a:lnTo>
                <a:close/>
              </a:path>
              <a:path w="173990" h="2133600">
                <a:moveTo>
                  <a:pt x="115824" y="1737360"/>
                </a:moveTo>
                <a:lnTo>
                  <a:pt x="57912" y="1737360"/>
                </a:lnTo>
                <a:lnTo>
                  <a:pt x="57912" y="1795272"/>
                </a:lnTo>
                <a:lnTo>
                  <a:pt x="115824" y="1795272"/>
                </a:lnTo>
                <a:lnTo>
                  <a:pt x="115824" y="1737360"/>
                </a:lnTo>
                <a:close/>
              </a:path>
              <a:path w="173990" h="2133600">
                <a:moveTo>
                  <a:pt x="115824" y="1853183"/>
                </a:moveTo>
                <a:lnTo>
                  <a:pt x="57912" y="1853183"/>
                </a:lnTo>
                <a:lnTo>
                  <a:pt x="57912" y="1911095"/>
                </a:lnTo>
                <a:lnTo>
                  <a:pt x="115824" y="1911095"/>
                </a:lnTo>
                <a:lnTo>
                  <a:pt x="115824" y="1853183"/>
                </a:lnTo>
                <a:close/>
              </a:path>
              <a:path w="173990" h="2133600">
                <a:moveTo>
                  <a:pt x="173736" y="1959864"/>
                </a:moveTo>
                <a:lnTo>
                  <a:pt x="0" y="1959864"/>
                </a:lnTo>
                <a:lnTo>
                  <a:pt x="86868" y="2133600"/>
                </a:lnTo>
                <a:lnTo>
                  <a:pt x="159258" y="1988820"/>
                </a:lnTo>
                <a:lnTo>
                  <a:pt x="57912" y="1988820"/>
                </a:lnTo>
                <a:lnTo>
                  <a:pt x="57912" y="1969008"/>
                </a:lnTo>
                <a:lnTo>
                  <a:pt x="169164" y="1969008"/>
                </a:lnTo>
                <a:lnTo>
                  <a:pt x="173736" y="1959864"/>
                </a:lnTo>
                <a:close/>
              </a:path>
              <a:path w="173990" h="2133600">
                <a:moveTo>
                  <a:pt x="115824" y="1969008"/>
                </a:moveTo>
                <a:lnTo>
                  <a:pt x="57912" y="1969008"/>
                </a:lnTo>
                <a:lnTo>
                  <a:pt x="57912" y="1988820"/>
                </a:lnTo>
                <a:lnTo>
                  <a:pt x="115824" y="1988820"/>
                </a:lnTo>
                <a:lnTo>
                  <a:pt x="115824" y="1969008"/>
                </a:lnTo>
                <a:close/>
              </a:path>
              <a:path w="173990" h="2133600">
                <a:moveTo>
                  <a:pt x="169164" y="1969008"/>
                </a:moveTo>
                <a:lnTo>
                  <a:pt x="115824" y="1969008"/>
                </a:lnTo>
                <a:lnTo>
                  <a:pt x="115824" y="1988820"/>
                </a:lnTo>
                <a:lnTo>
                  <a:pt x="159258" y="1988820"/>
                </a:lnTo>
                <a:lnTo>
                  <a:pt x="169164" y="1969008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72400" y="259080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190500" y="0"/>
                </a:moveTo>
                <a:lnTo>
                  <a:pt x="146837" y="6038"/>
                </a:lnTo>
                <a:lnTo>
                  <a:pt x="106746" y="23237"/>
                </a:lnTo>
                <a:lnTo>
                  <a:pt x="71374" y="50225"/>
                </a:lnTo>
                <a:lnTo>
                  <a:pt x="41867" y="85628"/>
                </a:lnTo>
                <a:lnTo>
                  <a:pt x="19372" y="128073"/>
                </a:lnTo>
                <a:lnTo>
                  <a:pt x="5034" y="176188"/>
                </a:lnTo>
                <a:lnTo>
                  <a:pt x="0" y="228600"/>
                </a:lnTo>
                <a:lnTo>
                  <a:pt x="5034" y="281011"/>
                </a:lnTo>
                <a:lnTo>
                  <a:pt x="19372" y="329126"/>
                </a:lnTo>
                <a:lnTo>
                  <a:pt x="41867" y="371571"/>
                </a:lnTo>
                <a:lnTo>
                  <a:pt x="71374" y="406974"/>
                </a:lnTo>
                <a:lnTo>
                  <a:pt x="106746" y="433962"/>
                </a:lnTo>
                <a:lnTo>
                  <a:pt x="146837" y="451161"/>
                </a:lnTo>
                <a:lnTo>
                  <a:pt x="190500" y="457200"/>
                </a:lnTo>
                <a:lnTo>
                  <a:pt x="234162" y="451161"/>
                </a:lnTo>
                <a:lnTo>
                  <a:pt x="274253" y="433962"/>
                </a:lnTo>
                <a:lnTo>
                  <a:pt x="309625" y="406974"/>
                </a:lnTo>
                <a:lnTo>
                  <a:pt x="339132" y="371571"/>
                </a:lnTo>
                <a:lnTo>
                  <a:pt x="361627" y="329126"/>
                </a:lnTo>
                <a:lnTo>
                  <a:pt x="375965" y="281011"/>
                </a:lnTo>
                <a:lnTo>
                  <a:pt x="381000" y="228600"/>
                </a:lnTo>
                <a:lnTo>
                  <a:pt x="375965" y="176188"/>
                </a:lnTo>
                <a:lnTo>
                  <a:pt x="361627" y="128073"/>
                </a:lnTo>
                <a:lnTo>
                  <a:pt x="339132" y="85628"/>
                </a:lnTo>
                <a:lnTo>
                  <a:pt x="309625" y="50225"/>
                </a:lnTo>
                <a:lnTo>
                  <a:pt x="274253" y="23237"/>
                </a:lnTo>
                <a:lnTo>
                  <a:pt x="234162" y="6038"/>
                </a:lnTo>
                <a:lnTo>
                  <a:pt x="1905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772400" y="259080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0" y="228600"/>
                </a:moveTo>
                <a:lnTo>
                  <a:pt x="5034" y="176188"/>
                </a:lnTo>
                <a:lnTo>
                  <a:pt x="19372" y="128073"/>
                </a:lnTo>
                <a:lnTo>
                  <a:pt x="41867" y="85628"/>
                </a:lnTo>
                <a:lnTo>
                  <a:pt x="71374" y="50225"/>
                </a:lnTo>
                <a:lnTo>
                  <a:pt x="106746" y="23237"/>
                </a:lnTo>
                <a:lnTo>
                  <a:pt x="146837" y="6038"/>
                </a:lnTo>
                <a:lnTo>
                  <a:pt x="190500" y="0"/>
                </a:lnTo>
                <a:lnTo>
                  <a:pt x="234162" y="6038"/>
                </a:lnTo>
                <a:lnTo>
                  <a:pt x="274253" y="23237"/>
                </a:lnTo>
                <a:lnTo>
                  <a:pt x="309625" y="50225"/>
                </a:lnTo>
                <a:lnTo>
                  <a:pt x="339132" y="85628"/>
                </a:lnTo>
                <a:lnTo>
                  <a:pt x="361627" y="128073"/>
                </a:lnTo>
                <a:lnTo>
                  <a:pt x="375965" y="176188"/>
                </a:lnTo>
                <a:lnTo>
                  <a:pt x="381000" y="228600"/>
                </a:lnTo>
                <a:lnTo>
                  <a:pt x="375965" y="281011"/>
                </a:lnTo>
                <a:lnTo>
                  <a:pt x="361627" y="329126"/>
                </a:lnTo>
                <a:lnTo>
                  <a:pt x="339132" y="371571"/>
                </a:lnTo>
                <a:lnTo>
                  <a:pt x="309625" y="406974"/>
                </a:lnTo>
                <a:lnTo>
                  <a:pt x="274253" y="433962"/>
                </a:lnTo>
                <a:lnTo>
                  <a:pt x="234162" y="451161"/>
                </a:lnTo>
                <a:lnTo>
                  <a:pt x="190500" y="457200"/>
                </a:lnTo>
                <a:lnTo>
                  <a:pt x="146837" y="451161"/>
                </a:lnTo>
                <a:lnTo>
                  <a:pt x="106746" y="433962"/>
                </a:lnTo>
                <a:lnTo>
                  <a:pt x="71374" y="406974"/>
                </a:lnTo>
                <a:lnTo>
                  <a:pt x="41867" y="371571"/>
                </a:lnTo>
                <a:lnTo>
                  <a:pt x="19372" y="329126"/>
                </a:lnTo>
                <a:lnTo>
                  <a:pt x="5034" y="281011"/>
                </a:lnTo>
                <a:lnTo>
                  <a:pt x="0" y="228600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74864" y="2569464"/>
            <a:ext cx="595122" cy="567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23454" y="2648838"/>
            <a:ext cx="280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0066"/>
                </a:solidFill>
                <a:latin typeface="宋体"/>
                <a:cs typeface="宋体"/>
              </a:rPr>
              <a:t>×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37515" y="364058"/>
            <a:ext cx="5203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1.</a:t>
            </a:r>
            <a:r>
              <a:rPr sz="2800" spc="-60" dirty="0"/>
              <a:t> </a:t>
            </a:r>
            <a:r>
              <a:rPr sz="2800" spc="5" dirty="0"/>
              <a:t>各</a:t>
            </a:r>
            <a:r>
              <a:rPr sz="2800" spc="-10" dirty="0"/>
              <a:t>种</a:t>
            </a:r>
            <a:r>
              <a:rPr sz="2800" spc="5" dirty="0"/>
              <a:t>呼</a:t>
            </a:r>
            <a:r>
              <a:rPr sz="2800" spc="-10" dirty="0"/>
              <a:t>吸链抑</a:t>
            </a:r>
            <a:r>
              <a:rPr sz="2800" spc="5" dirty="0"/>
              <a:t>制</a:t>
            </a:r>
            <a:r>
              <a:rPr sz="2800" spc="-10" dirty="0"/>
              <a:t>剂的阻</a:t>
            </a:r>
            <a:r>
              <a:rPr sz="2800" spc="5" dirty="0"/>
              <a:t>断</a:t>
            </a:r>
            <a:r>
              <a:rPr sz="2800" spc="-10" dirty="0"/>
              <a:t>位</a:t>
            </a:r>
            <a:r>
              <a:rPr sz="2800" spc="-15" dirty="0"/>
              <a:t>点</a:t>
            </a:r>
            <a:endParaRPr sz="2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114" y="790397"/>
            <a:ext cx="8234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503050405090304"/>
                <a:cs typeface="Times New Roman" panose="02020503050405090304"/>
              </a:rPr>
              <a:t>2.</a:t>
            </a:r>
            <a:r>
              <a:rPr sz="28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dirty="0"/>
              <a:t>解偶联剂破坏</a:t>
            </a:r>
            <a:r>
              <a:rPr sz="2800" spc="-10" dirty="0"/>
              <a:t>电子</a:t>
            </a:r>
            <a:r>
              <a:rPr sz="2800" dirty="0"/>
              <a:t>传</a:t>
            </a:r>
            <a:r>
              <a:rPr sz="2800" spc="-10" dirty="0"/>
              <a:t>递建</a:t>
            </a:r>
            <a:r>
              <a:rPr sz="2800" dirty="0"/>
              <a:t>立</a:t>
            </a:r>
            <a:r>
              <a:rPr sz="2800" spc="-10" dirty="0"/>
              <a:t>的</a:t>
            </a:r>
            <a:r>
              <a:rPr sz="2800" dirty="0"/>
              <a:t>跨</a:t>
            </a:r>
            <a:r>
              <a:rPr sz="2800" spc="-10" dirty="0"/>
              <a:t>膜质</a:t>
            </a:r>
            <a:r>
              <a:rPr sz="2800" dirty="0"/>
              <a:t>子</a:t>
            </a:r>
            <a:r>
              <a:rPr sz="2800" spc="-10" dirty="0"/>
              <a:t>电化</a:t>
            </a:r>
            <a:r>
              <a:rPr sz="2800" dirty="0"/>
              <a:t>学</a:t>
            </a:r>
            <a:r>
              <a:rPr sz="2800" spc="-10" dirty="0"/>
              <a:t>梯</a:t>
            </a:r>
            <a:r>
              <a:rPr sz="2800" spc="-15" dirty="0"/>
              <a:t>度</a:t>
            </a:r>
            <a:endParaRPr sz="28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解偶联剂（</a:t>
            </a:r>
            <a:r>
              <a:rPr spc="-5" dirty="0">
                <a:latin typeface="Times New Roman" panose="02020503050405090304"/>
                <a:cs typeface="Times New Roman" panose="02020503050405090304"/>
              </a:rPr>
              <a:t>uncoupler</a:t>
            </a:r>
            <a:r>
              <a:rPr spc="-5" dirty="0"/>
              <a:t>）可使氧化与磷酸化的偶联互相</a:t>
            </a:r>
            <a:endParaRPr spc="-5" dirty="0"/>
          </a:p>
          <a:p>
            <a:pPr marL="57785" marR="5080">
              <a:lnSpc>
                <a:spcPct val="200000"/>
              </a:lnSpc>
              <a:spcBef>
                <a:spcPts val="5"/>
              </a:spcBef>
            </a:pPr>
            <a:r>
              <a:rPr dirty="0"/>
              <a:t>分离，基本作用机制是</a:t>
            </a:r>
            <a:r>
              <a:rPr dirty="0">
                <a:solidFill>
                  <a:srgbClr val="0000FF"/>
                </a:solidFill>
              </a:rPr>
              <a:t>破坏</a:t>
            </a:r>
            <a:r>
              <a:rPr dirty="0"/>
              <a:t>电子传递过程建立的跨膜</a:t>
            </a:r>
            <a:r>
              <a:rPr spc="5" dirty="0"/>
              <a:t>的</a:t>
            </a:r>
            <a:r>
              <a:rPr spc="-10" dirty="0">
                <a:solidFill>
                  <a:srgbClr val="0000FF"/>
                </a:solidFill>
              </a:rPr>
              <a:t>质 </a:t>
            </a:r>
            <a:r>
              <a:rPr spc="-5" dirty="0">
                <a:solidFill>
                  <a:srgbClr val="0000FF"/>
                </a:solidFill>
              </a:rPr>
              <a:t>子电化学梯</a:t>
            </a:r>
            <a:r>
              <a:rPr dirty="0">
                <a:solidFill>
                  <a:srgbClr val="0000FF"/>
                </a:solidFill>
              </a:rPr>
              <a:t>度</a:t>
            </a:r>
            <a:r>
              <a:rPr spc="-5" dirty="0"/>
              <a:t>，使电化学梯度储存的能量</a:t>
            </a:r>
            <a:r>
              <a:rPr dirty="0"/>
              <a:t>以</a:t>
            </a:r>
            <a:r>
              <a:rPr spc="-5" dirty="0">
                <a:solidFill>
                  <a:srgbClr val="0000FF"/>
                </a:solidFill>
              </a:rPr>
              <a:t>热能</a:t>
            </a:r>
            <a:r>
              <a:rPr spc="-5" dirty="0">
                <a:solidFill>
                  <a:srgbClr val="003366"/>
                </a:solidFill>
              </a:rPr>
              <a:t>形式释</a:t>
            </a:r>
            <a:r>
              <a:rPr dirty="0">
                <a:solidFill>
                  <a:srgbClr val="003366"/>
                </a:solidFill>
              </a:rPr>
              <a:t>放</a:t>
            </a:r>
            <a:r>
              <a:rPr spc="-10" dirty="0"/>
              <a:t>，  </a:t>
            </a:r>
            <a:r>
              <a:rPr spc="-70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dirty="0"/>
              <a:t>的生成受到抑制。</a:t>
            </a:r>
            <a:endParaRPr dirty="0"/>
          </a:p>
          <a:p>
            <a:pPr marL="45085">
              <a:lnSpc>
                <a:spcPct val="100000"/>
              </a:lnSpc>
            </a:pPr>
            <a:endParaRPr sz="2500">
              <a:latin typeface="Times New Roman" panose="02020503050405090304"/>
              <a:cs typeface="Times New Roman" panose="02020503050405090304"/>
            </a:endParaRPr>
          </a:p>
          <a:p>
            <a:pPr marL="51435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如：二硝基苯酚（</a:t>
            </a:r>
            <a:r>
              <a:rPr spc="-5" dirty="0">
                <a:latin typeface="Times New Roman" panose="02020503050405090304"/>
                <a:cs typeface="Times New Roman" panose="02020503050405090304"/>
              </a:rPr>
              <a:t>DNP</a:t>
            </a:r>
            <a:r>
              <a:rPr spc="-5" dirty="0"/>
              <a:t>）；解偶联蛋白（</a:t>
            </a:r>
            <a:r>
              <a:rPr spc="-5" dirty="0">
                <a:latin typeface="Times New Roman" panose="02020503050405090304"/>
                <a:cs typeface="Times New Roman" panose="02020503050405090304"/>
              </a:rPr>
              <a:t>UCP1</a:t>
            </a:r>
            <a:r>
              <a:rPr spc="-5" dirty="0"/>
              <a:t>）</a:t>
            </a:r>
            <a:endParaRPr spc="-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791" y="363092"/>
            <a:ext cx="7156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5" dirty="0"/>
              <a:t>解</a:t>
            </a:r>
            <a:r>
              <a:rPr sz="2800" spc="-10" dirty="0"/>
              <a:t>偶联蛋</a:t>
            </a:r>
            <a:r>
              <a:rPr sz="2800" spc="5" dirty="0"/>
              <a:t>白</a:t>
            </a:r>
            <a:r>
              <a:rPr sz="2800" spc="-10" dirty="0"/>
              <a:t>作用机</a:t>
            </a:r>
            <a:r>
              <a:rPr sz="2800" spc="5" dirty="0"/>
              <a:t>制</a:t>
            </a:r>
            <a:r>
              <a:rPr sz="2800" spc="-10" dirty="0"/>
              <a:t>（棕色</a:t>
            </a:r>
            <a:r>
              <a:rPr sz="2800" spc="5" dirty="0"/>
              <a:t>脂</a:t>
            </a:r>
            <a:r>
              <a:rPr sz="2800" spc="-10" dirty="0"/>
              <a:t>肪组织</a:t>
            </a:r>
            <a:r>
              <a:rPr sz="2800" spc="5" dirty="0"/>
              <a:t>线</a:t>
            </a:r>
            <a:r>
              <a:rPr sz="2800" spc="-10" dirty="0"/>
              <a:t>粒体</a:t>
            </a:r>
            <a:r>
              <a:rPr sz="2800" spc="-15" dirty="0"/>
              <a:t>）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697991" y="2740151"/>
            <a:ext cx="7784591" cy="15941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61944" y="3831335"/>
            <a:ext cx="691134" cy="567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09898" y="3894201"/>
            <a:ext cx="3155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93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Ⅲ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0324" y="2657797"/>
            <a:ext cx="518795" cy="1577340"/>
          </a:xfrm>
          <a:custGeom>
            <a:avLst/>
            <a:gdLst/>
            <a:ahLst/>
            <a:cxnLst/>
            <a:rect l="l" t="t" r="r" b="b"/>
            <a:pathLst>
              <a:path w="518794" h="1577339">
                <a:moveTo>
                  <a:pt x="185781" y="0"/>
                </a:moveTo>
                <a:lnTo>
                  <a:pt x="135322" y="4960"/>
                </a:lnTo>
                <a:lnTo>
                  <a:pt x="90271" y="17329"/>
                </a:lnTo>
                <a:lnTo>
                  <a:pt x="53247" y="38384"/>
                </a:lnTo>
                <a:lnTo>
                  <a:pt x="26869" y="69400"/>
                </a:lnTo>
                <a:lnTo>
                  <a:pt x="7189" y="132094"/>
                </a:lnTo>
                <a:lnTo>
                  <a:pt x="2217" y="172700"/>
                </a:lnTo>
                <a:lnTo>
                  <a:pt x="0" y="218256"/>
                </a:lnTo>
                <a:lnTo>
                  <a:pt x="167" y="267845"/>
                </a:lnTo>
                <a:lnTo>
                  <a:pt x="2351" y="320550"/>
                </a:lnTo>
                <a:lnTo>
                  <a:pt x="6182" y="375453"/>
                </a:lnTo>
                <a:lnTo>
                  <a:pt x="11292" y="431637"/>
                </a:lnTo>
                <a:lnTo>
                  <a:pt x="17313" y="488186"/>
                </a:lnTo>
                <a:lnTo>
                  <a:pt x="23884" y="544253"/>
                </a:lnTo>
                <a:lnTo>
                  <a:pt x="30610" y="598709"/>
                </a:lnTo>
                <a:lnTo>
                  <a:pt x="37148" y="650849"/>
                </a:lnTo>
                <a:lnTo>
                  <a:pt x="43122" y="699685"/>
                </a:lnTo>
                <a:lnTo>
                  <a:pt x="48163" y="744299"/>
                </a:lnTo>
                <a:lnTo>
                  <a:pt x="51901" y="783775"/>
                </a:lnTo>
                <a:lnTo>
                  <a:pt x="56559" y="847669"/>
                </a:lnTo>
                <a:lnTo>
                  <a:pt x="59649" y="903445"/>
                </a:lnTo>
                <a:lnTo>
                  <a:pt x="61534" y="952989"/>
                </a:lnTo>
                <a:lnTo>
                  <a:pt x="62575" y="998183"/>
                </a:lnTo>
                <a:lnTo>
                  <a:pt x="63136" y="1040913"/>
                </a:lnTo>
                <a:lnTo>
                  <a:pt x="63610" y="1085142"/>
                </a:lnTo>
                <a:lnTo>
                  <a:pt x="64263" y="1126516"/>
                </a:lnTo>
                <a:lnTo>
                  <a:pt x="65553" y="1173157"/>
                </a:lnTo>
                <a:lnTo>
                  <a:pt x="64823" y="1219514"/>
                </a:lnTo>
                <a:lnTo>
                  <a:pt x="60716" y="1270319"/>
                </a:lnTo>
                <a:lnTo>
                  <a:pt x="49127" y="1376390"/>
                </a:lnTo>
                <a:lnTo>
                  <a:pt x="45021" y="1427214"/>
                </a:lnTo>
                <a:lnTo>
                  <a:pt x="44292" y="1473602"/>
                </a:lnTo>
                <a:lnTo>
                  <a:pt x="48627" y="1513332"/>
                </a:lnTo>
                <a:lnTo>
                  <a:pt x="79244" y="1563936"/>
                </a:lnTo>
                <a:lnTo>
                  <a:pt x="145743" y="1577051"/>
                </a:lnTo>
                <a:lnTo>
                  <a:pt x="191960" y="1575400"/>
                </a:lnTo>
                <a:lnTo>
                  <a:pt x="243190" y="1568391"/>
                </a:lnTo>
                <a:lnTo>
                  <a:pt x="296708" y="1556110"/>
                </a:lnTo>
                <a:lnTo>
                  <a:pt x="349790" y="1538644"/>
                </a:lnTo>
                <a:lnTo>
                  <a:pt x="399713" y="1516079"/>
                </a:lnTo>
                <a:lnTo>
                  <a:pt x="443753" y="1488500"/>
                </a:lnTo>
                <a:lnTo>
                  <a:pt x="479184" y="1455995"/>
                </a:lnTo>
                <a:lnTo>
                  <a:pt x="503284" y="1418648"/>
                </a:lnTo>
                <a:lnTo>
                  <a:pt x="518511" y="1344573"/>
                </a:lnTo>
                <a:lnTo>
                  <a:pt x="518535" y="1299263"/>
                </a:lnTo>
                <a:lnTo>
                  <a:pt x="514577" y="1249710"/>
                </a:lnTo>
                <a:lnTo>
                  <a:pt x="507446" y="1196869"/>
                </a:lnTo>
                <a:lnTo>
                  <a:pt x="497951" y="1141695"/>
                </a:lnTo>
                <a:lnTo>
                  <a:pt x="486899" y="1085142"/>
                </a:lnTo>
                <a:lnTo>
                  <a:pt x="475099" y="1028164"/>
                </a:lnTo>
                <a:lnTo>
                  <a:pt x="463360" y="971716"/>
                </a:lnTo>
                <a:lnTo>
                  <a:pt x="452490" y="916752"/>
                </a:lnTo>
                <a:lnTo>
                  <a:pt x="443298" y="864228"/>
                </a:lnTo>
                <a:lnTo>
                  <a:pt x="436592" y="815097"/>
                </a:lnTo>
                <a:lnTo>
                  <a:pt x="433180" y="770313"/>
                </a:lnTo>
                <a:lnTo>
                  <a:pt x="432479" y="710384"/>
                </a:lnTo>
                <a:lnTo>
                  <a:pt x="434212" y="652709"/>
                </a:lnTo>
                <a:lnTo>
                  <a:pt x="437785" y="597321"/>
                </a:lnTo>
                <a:lnTo>
                  <a:pt x="442611" y="544183"/>
                </a:lnTo>
                <a:lnTo>
                  <a:pt x="448071" y="493539"/>
                </a:lnTo>
                <a:lnTo>
                  <a:pt x="453594" y="445212"/>
                </a:lnTo>
                <a:lnTo>
                  <a:pt x="458578" y="399307"/>
                </a:lnTo>
                <a:lnTo>
                  <a:pt x="462428" y="355855"/>
                </a:lnTo>
                <a:lnTo>
                  <a:pt x="464549" y="314891"/>
                </a:lnTo>
                <a:lnTo>
                  <a:pt x="470046" y="257038"/>
                </a:lnTo>
                <a:lnTo>
                  <a:pt x="479818" y="203385"/>
                </a:lnTo>
                <a:lnTo>
                  <a:pt x="488552" y="155110"/>
                </a:lnTo>
                <a:lnTo>
                  <a:pt x="490937" y="113385"/>
                </a:lnTo>
                <a:lnTo>
                  <a:pt x="481659" y="79386"/>
                </a:lnTo>
                <a:lnTo>
                  <a:pt x="427508" y="41619"/>
                </a:lnTo>
                <a:lnTo>
                  <a:pt x="389303" y="28695"/>
                </a:lnTo>
                <a:lnTo>
                  <a:pt x="343408" y="16795"/>
                </a:lnTo>
                <a:lnTo>
                  <a:pt x="292443" y="7194"/>
                </a:lnTo>
                <a:lnTo>
                  <a:pt x="239028" y="1170"/>
                </a:lnTo>
                <a:lnTo>
                  <a:pt x="185781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40324" y="2657797"/>
            <a:ext cx="518795" cy="1577340"/>
          </a:xfrm>
          <a:custGeom>
            <a:avLst/>
            <a:gdLst/>
            <a:ahLst/>
            <a:cxnLst/>
            <a:rect l="l" t="t" r="r" b="b"/>
            <a:pathLst>
              <a:path w="518794" h="1577339">
                <a:moveTo>
                  <a:pt x="26869" y="69400"/>
                </a:moveTo>
                <a:lnTo>
                  <a:pt x="53247" y="38384"/>
                </a:lnTo>
                <a:lnTo>
                  <a:pt x="90271" y="17329"/>
                </a:lnTo>
                <a:lnTo>
                  <a:pt x="135322" y="4960"/>
                </a:lnTo>
                <a:lnTo>
                  <a:pt x="185781" y="0"/>
                </a:lnTo>
                <a:lnTo>
                  <a:pt x="239028" y="1170"/>
                </a:lnTo>
                <a:lnTo>
                  <a:pt x="292443" y="7194"/>
                </a:lnTo>
                <a:lnTo>
                  <a:pt x="343408" y="16795"/>
                </a:lnTo>
                <a:lnTo>
                  <a:pt x="389303" y="28695"/>
                </a:lnTo>
                <a:lnTo>
                  <a:pt x="427508" y="41619"/>
                </a:lnTo>
                <a:lnTo>
                  <a:pt x="481659" y="79386"/>
                </a:lnTo>
                <a:lnTo>
                  <a:pt x="490937" y="113385"/>
                </a:lnTo>
                <a:lnTo>
                  <a:pt x="488552" y="155110"/>
                </a:lnTo>
                <a:lnTo>
                  <a:pt x="479818" y="203385"/>
                </a:lnTo>
                <a:lnTo>
                  <a:pt x="470046" y="257038"/>
                </a:lnTo>
                <a:lnTo>
                  <a:pt x="464549" y="314891"/>
                </a:lnTo>
                <a:lnTo>
                  <a:pt x="462428" y="355855"/>
                </a:lnTo>
                <a:lnTo>
                  <a:pt x="458578" y="399307"/>
                </a:lnTo>
                <a:lnTo>
                  <a:pt x="453594" y="445212"/>
                </a:lnTo>
                <a:lnTo>
                  <a:pt x="448071" y="493539"/>
                </a:lnTo>
                <a:lnTo>
                  <a:pt x="442603" y="544253"/>
                </a:lnTo>
                <a:lnTo>
                  <a:pt x="437785" y="597321"/>
                </a:lnTo>
                <a:lnTo>
                  <a:pt x="434212" y="652709"/>
                </a:lnTo>
                <a:lnTo>
                  <a:pt x="432479" y="710384"/>
                </a:lnTo>
                <a:lnTo>
                  <a:pt x="433180" y="770313"/>
                </a:lnTo>
                <a:lnTo>
                  <a:pt x="436592" y="815097"/>
                </a:lnTo>
                <a:lnTo>
                  <a:pt x="443298" y="864228"/>
                </a:lnTo>
                <a:lnTo>
                  <a:pt x="452490" y="916752"/>
                </a:lnTo>
                <a:lnTo>
                  <a:pt x="463360" y="971716"/>
                </a:lnTo>
                <a:lnTo>
                  <a:pt x="475099" y="1028164"/>
                </a:lnTo>
                <a:lnTo>
                  <a:pt x="486899" y="1085142"/>
                </a:lnTo>
                <a:lnTo>
                  <a:pt x="497951" y="1141695"/>
                </a:lnTo>
                <a:lnTo>
                  <a:pt x="507446" y="1196869"/>
                </a:lnTo>
                <a:lnTo>
                  <a:pt x="514577" y="1249710"/>
                </a:lnTo>
                <a:lnTo>
                  <a:pt x="518535" y="1299263"/>
                </a:lnTo>
                <a:lnTo>
                  <a:pt x="518511" y="1344573"/>
                </a:lnTo>
                <a:lnTo>
                  <a:pt x="513697" y="1384687"/>
                </a:lnTo>
                <a:lnTo>
                  <a:pt x="479184" y="1455995"/>
                </a:lnTo>
                <a:lnTo>
                  <a:pt x="443753" y="1488500"/>
                </a:lnTo>
                <a:lnTo>
                  <a:pt x="399713" y="1516079"/>
                </a:lnTo>
                <a:lnTo>
                  <a:pt x="349790" y="1538644"/>
                </a:lnTo>
                <a:lnTo>
                  <a:pt x="296708" y="1556110"/>
                </a:lnTo>
                <a:lnTo>
                  <a:pt x="243190" y="1568391"/>
                </a:lnTo>
                <a:lnTo>
                  <a:pt x="191960" y="1575400"/>
                </a:lnTo>
                <a:lnTo>
                  <a:pt x="145743" y="1577051"/>
                </a:lnTo>
                <a:lnTo>
                  <a:pt x="107263" y="1573259"/>
                </a:lnTo>
                <a:lnTo>
                  <a:pt x="79244" y="1563936"/>
                </a:lnTo>
                <a:lnTo>
                  <a:pt x="59715" y="1544184"/>
                </a:lnTo>
                <a:lnTo>
                  <a:pt x="48627" y="1513332"/>
                </a:lnTo>
                <a:lnTo>
                  <a:pt x="44292" y="1473602"/>
                </a:lnTo>
                <a:lnTo>
                  <a:pt x="45021" y="1427214"/>
                </a:lnTo>
                <a:lnTo>
                  <a:pt x="49127" y="1376390"/>
                </a:lnTo>
                <a:lnTo>
                  <a:pt x="54921" y="1323351"/>
                </a:lnTo>
                <a:lnTo>
                  <a:pt x="60716" y="1270319"/>
                </a:lnTo>
                <a:lnTo>
                  <a:pt x="64823" y="1219514"/>
                </a:lnTo>
                <a:lnTo>
                  <a:pt x="65553" y="1173157"/>
                </a:lnTo>
                <a:lnTo>
                  <a:pt x="64263" y="1126516"/>
                </a:lnTo>
                <a:lnTo>
                  <a:pt x="63577" y="1083063"/>
                </a:lnTo>
                <a:lnTo>
                  <a:pt x="63136" y="1040913"/>
                </a:lnTo>
                <a:lnTo>
                  <a:pt x="62575" y="998183"/>
                </a:lnTo>
                <a:lnTo>
                  <a:pt x="61534" y="952989"/>
                </a:lnTo>
                <a:lnTo>
                  <a:pt x="59649" y="903445"/>
                </a:lnTo>
                <a:lnTo>
                  <a:pt x="56559" y="847669"/>
                </a:lnTo>
                <a:lnTo>
                  <a:pt x="51901" y="783775"/>
                </a:lnTo>
                <a:lnTo>
                  <a:pt x="48163" y="744299"/>
                </a:lnTo>
                <a:lnTo>
                  <a:pt x="43122" y="699685"/>
                </a:lnTo>
                <a:lnTo>
                  <a:pt x="37148" y="650849"/>
                </a:lnTo>
                <a:lnTo>
                  <a:pt x="30610" y="598709"/>
                </a:lnTo>
                <a:lnTo>
                  <a:pt x="23875" y="544183"/>
                </a:lnTo>
                <a:lnTo>
                  <a:pt x="17313" y="488186"/>
                </a:lnTo>
                <a:lnTo>
                  <a:pt x="11292" y="431637"/>
                </a:lnTo>
                <a:lnTo>
                  <a:pt x="6182" y="375453"/>
                </a:lnTo>
                <a:lnTo>
                  <a:pt x="2351" y="320550"/>
                </a:lnTo>
                <a:lnTo>
                  <a:pt x="167" y="267845"/>
                </a:lnTo>
                <a:lnTo>
                  <a:pt x="0" y="218256"/>
                </a:lnTo>
                <a:lnTo>
                  <a:pt x="2217" y="172700"/>
                </a:lnTo>
                <a:lnTo>
                  <a:pt x="7189" y="132094"/>
                </a:lnTo>
                <a:lnTo>
                  <a:pt x="15283" y="97355"/>
                </a:lnTo>
                <a:lnTo>
                  <a:pt x="26869" y="69400"/>
                </a:lnTo>
                <a:close/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8763" y="3642359"/>
            <a:ext cx="723137" cy="567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25169" y="3721353"/>
            <a:ext cx="41020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3366"/>
                </a:solidFill>
                <a:latin typeface="宋体"/>
                <a:cs typeface="宋体"/>
              </a:rPr>
              <a:t>Ⅰ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27688" y="3435516"/>
            <a:ext cx="705485" cy="772160"/>
          </a:xfrm>
          <a:custGeom>
            <a:avLst/>
            <a:gdLst/>
            <a:ahLst/>
            <a:cxnLst/>
            <a:rect l="l" t="t" r="r" b="b"/>
            <a:pathLst>
              <a:path w="705485" h="772160">
                <a:moveTo>
                  <a:pt x="46192" y="0"/>
                </a:moveTo>
                <a:lnTo>
                  <a:pt x="18085" y="11257"/>
                </a:lnTo>
                <a:lnTo>
                  <a:pt x="2762" y="38314"/>
                </a:lnTo>
                <a:lnTo>
                  <a:pt x="14" y="64222"/>
                </a:lnTo>
                <a:lnTo>
                  <a:pt x="0" y="71461"/>
                </a:lnTo>
                <a:lnTo>
                  <a:pt x="636" y="101710"/>
                </a:lnTo>
                <a:lnTo>
                  <a:pt x="4764" y="145282"/>
                </a:lnTo>
                <a:lnTo>
                  <a:pt x="11975" y="194678"/>
                </a:lnTo>
                <a:lnTo>
                  <a:pt x="21988" y="248332"/>
                </a:lnTo>
                <a:lnTo>
                  <a:pt x="34519" y="304676"/>
                </a:lnTo>
                <a:lnTo>
                  <a:pt x="49285" y="362142"/>
                </a:lnTo>
                <a:lnTo>
                  <a:pt x="66005" y="419162"/>
                </a:lnTo>
                <a:lnTo>
                  <a:pt x="84395" y="474168"/>
                </a:lnTo>
                <a:lnTo>
                  <a:pt x="104173" y="525594"/>
                </a:lnTo>
                <a:lnTo>
                  <a:pt x="125056" y="571871"/>
                </a:lnTo>
                <a:lnTo>
                  <a:pt x="146761" y="611431"/>
                </a:lnTo>
                <a:lnTo>
                  <a:pt x="169005" y="642707"/>
                </a:lnTo>
                <a:lnTo>
                  <a:pt x="201941" y="675623"/>
                </a:lnTo>
                <a:lnTo>
                  <a:pt x="241337" y="704762"/>
                </a:lnTo>
                <a:lnTo>
                  <a:pt x="285513" y="729494"/>
                </a:lnTo>
                <a:lnTo>
                  <a:pt x="332791" y="749188"/>
                </a:lnTo>
                <a:lnTo>
                  <a:pt x="381492" y="763214"/>
                </a:lnTo>
                <a:lnTo>
                  <a:pt x="429939" y="770942"/>
                </a:lnTo>
                <a:lnTo>
                  <a:pt x="476451" y="771742"/>
                </a:lnTo>
                <a:lnTo>
                  <a:pt x="519351" y="764984"/>
                </a:lnTo>
                <a:lnTo>
                  <a:pt x="556959" y="750038"/>
                </a:lnTo>
                <a:lnTo>
                  <a:pt x="587597" y="726273"/>
                </a:lnTo>
                <a:lnTo>
                  <a:pt x="622765" y="665534"/>
                </a:lnTo>
                <a:lnTo>
                  <a:pt x="638179" y="622389"/>
                </a:lnTo>
                <a:lnTo>
                  <a:pt x="652097" y="572829"/>
                </a:lnTo>
                <a:lnTo>
                  <a:pt x="664486" y="518433"/>
                </a:lnTo>
                <a:lnTo>
                  <a:pt x="675309" y="460777"/>
                </a:lnTo>
                <a:lnTo>
                  <a:pt x="684530" y="401439"/>
                </a:lnTo>
                <a:lnTo>
                  <a:pt x="692115" y="341995"/>
                </a:lnTo>
                <a:lnTo>
                  <a:pt x="698028" y="284024"/>
                </a:lnTo>
                <a:lnTo>
                  <a:pt x="702233" y="229103"/>
                </a:lnTo>
                <a:lnTo>
                  <a:pt x="704694" y="178809"/>
                </a:lnTo>
                <a:lnTo>
                  <a:pt x="705376" y="134719"/>
                </a:lnTo>
                <a:lnTo>
                  <a:pt x="704663" y="111847"/>
                </a:lnTo>
                <a:lnTo>
                  <a:pt x="476853" y="111847"/>
                </a:lnTo>
                <a:lnTo>
                  <a:pt x="431973" y="111085"/>
                </a:lnTo>
                <a:lnTo>
                  <a:pt x="390986" y="96988"/>
                </a:lnTo>
                <a:lnTo>
                  <a:pt x="347498" y="78414"/>
                </a:lnTo>
                <a:lnTo>
                  <a:pt x="295116" y="64222"/>
                </a:lnTo>
                <a:lnTo>
                  <a:pt x="260875" y="55691"/>
                </a:lnTo>
                <a:lnTo>
                  <a:pt x="219254" y="41529"/>
                </a:lnTo>
                <a:lnTo>
                  <a:pt x="173615" y="25306"/>
                </a:lnTo>
                <a:lnTo>
                  <a:pt x="127318" y="10596"/>
                </a:lnTo>
                <a:lnTo>
                  <a:pt x="83723" y="970"/>
                </a:lnTo>
                <a:lnTo>
                  <a:pt x="46192" y="0"/>
                </a:lnTo>
                <a:close/>
              </a:path>
              <a:path w="705485" h="772160">
                <a:moveTo>
                  <a:pt x="660217" y="32970"/>
                </a:moveTo>
                <a:lnTo>
                  <a:pt x="625854" y="40983"/>
                </a:lnTo>
                <a:lnTo>
                  <a:pt x="586878" y="59002"/>
                </a:lnTo>
                <a:lnTo>
                  <a:pt x="546746" y="80903"/>
                </a:lnTo>
                <a:lnTo>
                  <a:pt x="508919" y="100559"/>
                </a:lnTo>
                <a:lnTo>
                  <a:pt x="476853" y="111847"/>
                </a:lnTo>
                <a:lnTo>
                  <a:pt x="704663" y="111847"/>
                </a:lnTo>
                <a:lnTo>
                  <a:pt x="704244" y="98410"/>
                </a:lnTo>
                <a:lnTo>
                  <a:pt x="701262" y="71461"/>
                </a:lnTo>
                <a:lnTo>
                  <a:pt x="686506" y="41087"/>
                </a:lnTo>
                <a:lnTo>
                  <a:pt x="660217" y="3297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27563" y="3435516"/>
            <a:ext cx="706120" cy="772160"/>
          </a:xfrm>
          <a:custGeom>
            <a:avLst/>
            <a:gdLst/>
            <a:ahLst/>
            <a:cxnLst/>
            <a:rect l="l" t="t" r="r" b="b"/>
            <a:pathLst>
              <a:path w="706119" h="772160">
                <a:moveTo>
                  <a:pt x="295241" y="64222"/>
                </a:moveTo>
                <a:lnTo>
                  <a:pt x="260999" y="55691"/>
                </a:lnTo>
                <a:lnTo>
                  <a:pt x="219379" y="41529"/>
                </a:lnTo>
                <a:lnTo>
                  <a:pt x="173739" y="25306"/>
                </a:lnTo>
                <a:lnTo>
                  <a:pt x="127442" y="10596"/>
                </a:lnTo>
                <a:lnTo>
                  <a:pt x="83848" y="970"/>
                </a:lnTo>
                <a:lnTo>
                  <a:pt x="46317" y="0"/>
                </a:lnTo>
                <a:lnTo>
                  <a:pt x="18210" y="11257"/>
                </a:lnTo>
                <a:lnTo>
                  <a:pt x="2887" y="38314"/>
                </a:lnTo>
                <a:lnTo>
                  <a:pt x="0" y="65532"/>
                </a:lnTo>
                <a:lnTo>
                  <a:pt x="761" y="101710"/>
                </a:lnTo>
                <a:lnTo>
                  <a:pt x="4889" y="145282"/>
                </a:lnTo>
                <a:lnTo>
                  <a:pt x="12100" y="194678"/>
                </a:lnTo>
                <a:lnTo>
                  <a:pt x="22113" y="248332"/>
                </a:lnTo>
                <a:lnTo>
                  <a:pt x="34644" y="304676"/>
                </a:lnTo>
                <a:lnTo>
                  <a:pt x="49410" y="362142"/>
                </a:lnTo>
                <a:lnTo>
                  <a:pt x="66130" y="419162"/>
                </a:lnTo>
                <a:lnTo>
                  <a:pt x="84520" y="474168"/>
                </a:lnTo>
                <a:lnTo>
                  <a:pt x="104298" y="525594"/>
                </a:lnTo>
                <a:lnTo>
                  <a:pt x="125180" y="571871"/>
                </a:lnTo>
                <a:lnTo>
                  <a:pt x="146885" y="611431"/>
                </a:lnTo>
                <a:lnTo>
                  <a:pt x="169130" y="642707"/>
                </a:lnTo>
                <a:lnTo>
                  <a:pt x="202066" y="675623"/>
                </a:lnTo>
                <a:lnTo>
                  <a:pt x="241461" y="704762"/>
                </a:lnTo>
                <a:lnTo>
                  <a:pt x="285637" y="729494"/>
                </a:lnTo>
                <a:lnTo>
                  <a:pt x="332915" y="749188"/>
                </a:lnTo>
                <a:lnTo>
                  <a:pt x="381617" y="763214"/>
                </a:lnTo>
                <a:lnTo>
                  <a:pt x="430063" y="770942"/>
                </a:lnTo>
                <a:lnTo>
                  <a:pt x="476576" y="771742"/>
                </a:lnTo>
                <a:lnTo>
                  <a:pt x="519475" y="764984"/>
                </a:lnTo>
                <a:lnTo>
                  <a:pt x="557084" y="750038"/>
                </a:lnTo>
                <a:lnTo>
                  <a:pt x="587722" y="726273"/>
                </a:lnTo>
                <a:lnTo>
                  <a:pt x="622890" y="665534"/>
                </a:lnTo>
                <a:lnTo>
                  <a:pt x="638303" y="622389"/>
                </a:lnTo>
                <a:lnTo>
                  <a:pt x="652222" y="572829"/>
                </a:lnTo>
                <a:lnTo>
                  <a:pt x="664610" y="518433"/>
                </a:lnTo>
                <a:lnTo>
                  <a:pt x="675433" y="460777"/>
                </a:lnTo>
                <a:lnTo>
                  <a:pt x="684655" y="401439"/>
                </a:lnTo>
                <a:lnTo>
                  <a:pt x="692240" y="341995"/>
                </a:lnTo>
                <a:lnTo>
                  <a:pt x="698152" y="284024"/>
                </a:lnTo>
                <a:lnTo>
                  <a:pt x="702357" y="229103"/>
                </a:lnTo>
                <a:lnTo>
                  <a:pt x="704819" y="178809"/>
                </a:lnTo>
                <a:lnTo>
                  <a:pt x="705501" y="134719"/>
                </a:lnTo>
                <a:lnTo>
                  <a:pt x="704369" y="98410"/>
                </a:lnTo>
                <a:lnTo>
                  <a:pt x="686630" y="41087"/>
                </a:lnTo>
                <a:lnTo>
                  <a:pt x="625979" y="40983"/>
                </a:lnTo>
                <a:lnTo>
                  <a:pt x="587003" y="59002"/>
                </a:lnTo>
                <a:lnTo>
                  <a:pt x="546871" y="80903"/>
                </a:lnTo>
                <a:lnTo>
                  <a:pt x="509043" y="100559"/>
                </a:lnTo>
                <a:lnTo>
                  <a:pt x="476978" y="111847"/>
                </a:lnTo>
                <a:lnTo>
                  <a:pt x="432098" y="111085"/>
                </a:lnTo>
                <a:lnTo>
                  <a:pt x="391110" y="96988"/>
                </a:lnTo>
                <a:lnTo>
                  <a:pt x="347623" y="78414"/>
                </a:lnTo>
                <a:lnTo>
                  <a:pt x="295241" y="64222"/>
                </a:lnTo>
                <a:close/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69948" y="3657600"/>
            <a:ext cx="596645" cy="5676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017267" y="3720465"/>
            <a:ext cx="2203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Ⅱ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17108" y="2836164"/>
            <a:ext cx="502920" cy="2283460"/>
          </a:xfrm>
          <a:custGeom>
            <a:avLst/>
            <a:gdLst/>
            <a:ahLst/>
            <a:cxnLst/>
            <a:rect l="l" t="t" r="r" b="b"/>
            <a:pathLst>
              <a:path w="502920" h="2283460">
                <a:moveTo>
                  <a:pt x="0" y="2282951"/>
                </a:moveTo>
                <a:lnTo>
                  <a:pt x="502920" y="2282951"/>
                </a:lnTo>
                <a:lnTo>
                  <a:pt x="502920" y="0"/>
                </a:lnTo>
                <a:lnTo>
                  <a:pt x="0" y="0"/>
                </a:lnTo>
                <a:lnTo>
                  <a:pt x="0" y="2282951"/>
                </a:lnTo>
                <a:close/>
              </a:path>
            </a:pathLst>
          </a:custGeom>
          <a:solidFill>
            <a:srgbClr val="D18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17108" y="2836164"/>
            <a:ext cx="502920" cy="2283460"/>
          </a:xfrm>
          <a:custGeom>
            <a:avLst/>
            <a:gdLst/>
            <a:ahLst/>
            <a:cxnLst/>
            <a:rect l="l" t="t" r="r" b="b"/>
            <a:pathLst>
              <a:path w="502920" h="2283460">
                <a:moveTo>
                  <a:pt x="0" y="2282951"/>
                </a:moveTo>
                <a:lnTo>
                  <a:pt x="502920" y="2282951"/>
                </a:lnTo>
                <a:lnTo>
                  <a:pt x="502920" y="0"/>
                </a:lnTo>
                <a:lnTo>
                  <a:pt x="0" y="0"/>
                </a:lnTo>
                <a:lnTo>
                  <a:pt x="0" y="2282951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600700" y="4256532"/>
            <a:ext cx="358140" cy="935990"/>
          </a:xfrm>
          <a:custGeom>
            <a:avLst/>
            <a:gdLst/>
            <a:ahLst/>
            <a:cxnLst/>
            <a:rect l="l" t="t" r="r" b="b"/>
            <a:pathLst>
              <a:path w="358139" h="935989">
                <a:moveTo>
                  <a:pt x="179070" y="0"/>
                </a:moveTo>
                <a:lnTo>
                  <a:pt x="127339" y="19805"/>
                </a:lnTo>
                <a:lnTo>
                  <a:pt x="81548" y="75364"/>
                </a:lnTo>
                <a:lnTo>
                  <a:pt x="61572" y="114743"/>
                </a:lnTo>
                <a:lnTo>
                  <a:pt x="43910" y="160892"/>
                </a:lnTo>
                <a:lnTo>
                  <a:pt x="28840" y="213087"/>
                </a:lnTo>
                <a:lnTo>
                  <a:pt x="16637" y="270605"/>
                </a:lnTo>
                <a:lnTo>
                  <a:pt x="7578" y="332723"/>
                </a:lnTo>
                <a:lnTo>
                  <a:pt x="1940" y="398718"/>
                </a:lnTo>
                <a:lnTo>
                  <a:pt x="0" y="467868"/>
                </a:lnTo>
                <a:lnTo>
                  <a:pt x="1940" y="537017"/>
                </a:lnTo>
                <a:lnTo>
                  <a:pt x="7578" y="603012"/>
                </a:lnTo>
                <a:lnTo>
                  <a:pt x="16637" y="665130"/>
                </a:lnTo>
                <a:lnTo>
                  <a:pt x="28840" y="722648"/>
                </a:lnTo>
                <a:lnTo>
                  <a:pt x="43910" y="774843"/>
                </a:lnTo>
                <a:lnTo>
                  <a:pt x="61572" y="820992"/>
                </a:lnTo>
                <a:lnTo>
                  <a:pt x="81548" y="860371"/>
                </a:lnTo>
                <a:lnTo>
                  <a:pt x="103563" y="892259"/>
                </a:lnTo>
                <a:lnTo>
                  <a:pt x="152600" y="930664"/>
                </a:lnTo>
                <a:lnTo>
                  <a:pt x="179070" y="935736"/>
                </a:lnTo>
                <a:lnTo>
                  <a:pt x="205539" y="930664"/>
                </a:lnTo>
                <a:lnTo>
                  <a:pt x="254576" y="892259"/>
                </a:lnTo>
                <a:lnTo>
                  <a:pt x="276591" y="860371"/>
                </a:lnTo>
                <a:lnTo>
                  <a:pt x="296567" y="820992"/>
                </a:lnTo>
                <a:lnTo>
                  <a:pt x="314229" y="774843"/>
                </a:lnTo>
                <a:lnTo>
                  <a:pt x="329299" y="722648"/>
                </a:lnTo>
                <a:lnTo>
                  <a:pt x="341502" y="665130"/>
                </a:lnTo>
                <a:lnTo>
                  <a:pt x="350561" y="603012"/>
                </a:lnTo>
                <a:lnTo>
                  <a:pt x="356199" y="537017"/>
                </a:lnTo>
                <a:lnTo>
                  <a:pt x="358139" y="467868"/>
                </a:lnTo>
                <a:lnTo>
                  <a:pt x="356199" y="398718"/>
                </a:lnTo>
                <a:lnTo>
                  <a:pt x="350561" y="332723"/>
                </a:lnTo>
                <a:lnTo>
                  <a:pt x="341502" y="270605"/>
                </a:lnTo>
                <a:lnTo>
                  <a:pt x="329299" y="213087"/>
                </a:lnTo>
                <a:lnTo>
                  <a:pt x="314229" y="160892"/>
                </a:lnTo>
                <a:lnTo>
                  <a:pt x="296567" y="114743"/>
                </a:lnTo>
                <a:lnTo>
                  <a:pt x="276591" y="75364"/>
                </a:lnTo>
                <a:lnTo>
                  <a:pt x="254576" y="43476"/>
                </a:lnTo>
                <a:lnTo>
                  <a:pt x="205539" y="5071"/>
                </a:lnTo>
                <a:lnTo>
                  <a:pt x="179070" y="0"/>
                </a:lnTo>
                <a:close/>
              </a:path>
            </a:pathLst>
          </a:custGeom>
          <a:solidFill>
            <a:srgbClr val="FDE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00700" y="4256532"/>
            <a:ext cx="358140" cy="935990"/>
          </a:xfrm>
          <a:custGeom>
            <a:avLst/>
            <a:gdLst/>
            <a:ahLst/>
            <a:cxnLst/>
            <a:rect l="l" t="t" r="r" b="b"/>
            <a:pathLst>
              <a:path w="358139" h="935989">
                <a:moveTo>
                  <a:pt x="0" y="467868"/>
                </a:moveTo>
                <a:lnTo>
                  <a:pt x="1940" y="398718"/>
                </a:lnTo>
                <a:lnTo>
                  <a:pt x="7578" y="332723"/>
                </a:lnTo>
                <a:lnTo>
                  <a:pt x="16637" y="270605"/>
                </a:lnTo>
                <a:lnTo>
                  <a:pt x="28840" y="213087"/>
                </a:lnTo>
                <a:lnTo>
                  <a:pt x="43910" y="160892"/>
                </a:lnTo>
                <a:lnTo>
                  <a:pt x="61572" y="114743"/>
                </a:lnTo>
                <a:lnTo>
                  <a:pt x="81548" y="75364"/>
                </a:lnTo>
                <a:lnTo>
                  <a:pt x="103563" y="43476"/>
                </a:lnTo>
                <a:lnTo>
                  <a:pt x="152600" y="5071"/>
                </a:lnTo>
                <a:lnTo>
                  <a:pt x="179070" y="0"/>
                </a:lnTo>
                <a:lnTo>
                  <a:pt x="205539" y="5071"/>
                </a:lnTo>
                <a:lnTo>
                  <a:pt x="254576" y="43476"/>
                </a:lnTo>
                <a:lnTo>
                  <a:pt x="276591" y="75364"/>
                </a:lnTo>
                <a:lnTo>
                  <a:pt x="296567" y="114743"/>
                </a:lnTo>
                <a:lnTo>
                  <a:pt x="314229" y="160892"/>
                </a:lnTo>
                <a:lnTo>
                  <a:pt x="329299" y="213087"/>
                </a:lnTo>
                <a:lnTo>
                  <a:pt x="341502" y="270605"/>
                </a:lnTo>
                <a:lnTo>
                  <a:pt x="350561" y="332723"/>
                </a:lnTo>
                <a:lnTo>
                  <a:pt x="356199" y="398718"/>
                </a:lnTo>
                <a:lnTo>
                  <a:pt x="358139" y="467868"/>
                </a:lnTo>
                <a:lnTo>
                  <a:pt x="356199" y="537017"/>
                </a:lnTo>
                <a:lnTo>
                  <a:pt x="350561" y="603012"/>
                </a:lnTo>
                <a:lnTo>
                  <a:pt x="341502" y="665130"/>
                </a:lnTo>
                <a:lnTo>
                  <a:pt x="329299" y="722648"/>
                </a:lnTo>
                <a:lnTo>
                  <a:pt x="314229" y="774843"/>
                </a:lnTo>
                <a:lnTo>
                  <a:pt x="296567" y="820992"/>
                </a:lnTo>
                <a:lnTo>
                  <a:pt x="276591" y="860371"/>
                </a:lnTo>
                <a:lnTo>
                  <a:pt x="254576" y="892259"/>
                </a:lnTo>
                <a:lnTo>
                  <a:pt x="205539" y="930664"/>
                </a:lnTo>
                <a:lnTo>
                  <a:pt x="179070" y="935736"/>
                </a:lnTo>
                <a:lnTo>
                  <a:pt x="152600" y="930664"/>
                </a:lnTo>
                <a:lnTo>
                  <a:pt x="103563" y="892259"/>
                </a:lnTo>
                <a:lnTo>
                  <a:pt x="81548" y="860371"/>
                </a:lnTo>
                <a:lnTo>
                  <a:pt x="61572" y="820992"/>
                </a:lnTo>
                <a:lnTo>
                  <a:pt x="43910" y="774843"/>
                </a:lnTo>
                <a:lnTo>
                  <a:pt x="28840" y="722648"/>
                </a:lnTo>
                <a:lnTo>
                  <a:pt x="16637" y="665130"/>
                </a:lnTo>
                <a:lnTo>
                  <a:pt x="7578" y="603012"/>
                </a:lnTo>
                <a:lnTo>
                  <a:pt x="1940" y="537017"/>
                </a:lnTo>
                <a:lnTo>
                  <a:pt x="0" y="467868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75247" y="4256532"/>
            <a:ext cx="361315" cy="935990"/>
          </a:xfrm>
          <a:custGeom>
            <a:avLst/>
            <a:gdLst/>
            <a:ahLst/>
            <a:cxnLst/>
            <a:rect l="l" t="t" r="r" b="b"/>
            <a:pathLst>
              <a:path w="361315" h="935989">
                <a:moveTo>
                  <a:pt x="180593" y="0"/>
                </a:moveTo>
                <a:lnTo>
                  <a:pt x="128452" y="19805"/>
                </a:lnTo>
                <a:lnTo>
                  <a:pt x="82278" y="75364"/>
                </a:lnTo>
                <a:lnTo>
                  <a:pt x="62129" y="114743"/>
                </a:lnTo>
                <a:lnTo>
                  <a:pt x="44311" y="160892"/>
                </a:lnTo>
                <a:lnTo>
                  <a:pt x="29105" y="213087"/>
                </a:lnTo>
                <a:lnTo>
                  <a:pt x="16792" y="270605"/>
                </a:lnTo>
                <a:lnTo>
                  <a:pt x="7649" y="332723"/>
                </a:lnTo>
                <a:lnTo>
                  <a:pt x="1959" y="398718"/>
                </a:lnTo>
                <a:lnTo>
                  <a:pt x="0" y="467868"/>
                </a:lnTo>
                <a:lnTo>
                  <a:pt x="1959" y="537017"/>
                </a:lnTo>
                <a:lnTo>
                  <a:pt x="7649" y="603012"/>
                </a:lnTo>
                <a:lnTo>
                  <a:pt x="16792" y="665130"/>
                </a:lnTo>
                <a:lnTo>
                  <a:pt x="29105" y="722648"/>
                </a:lnTo>
                <a:lnTo>
                  <a:pt x="44311" y="774843"/>
                </a:lnTo>
                <a:lnTo>
                  <a:pt x="62129" y="820992"/>
                </a:lnTo>
                <a:lnTo>
                  <a:pt x="82278" y="860371"/>
                </a:lnTo>
                <a:lnTo>
                  <a:pt x="104479" y="892259"/>
                </a:lnTo>
                <a:lnTo>
                  <a:pt x="153917" y="930664"/>
                </a:lnTo>
                <a:lnTo>
                  <a:pt x="180593" y="935736"/>
                </a:lnTo>
                <a:lnTo>
                  <a:pt x="207270" y="930664"/>
                </a:lnTo>
                <a:lnTo>
                  <a:pt x="256708" y="892259"/>
                </a:lnTo>
                <a:lnTo>
                  <a:pt x="278909" y="860371"/>
                </a:lnTo>
                <a:lnTo>
                  <a:pt x="299058" y="820992"/>
                </a:lnTo>
                <a:lnTo>
                  <a:pt x="316876" y="774843"/>
                </a:lnTo>
                <a:lnTo>
                  <a:pt x="332082" y="722648"/>
                </a:lnTo>
                <a:lnTo>
                  <a:pt x="344395" y="665130"/>
                </a:lnTo>
                <a:lnTo>
                  <a:pt x="353538" y="603012"/>
                </a:lnTo>
                <a:lnTo>
                  <a:pt x="359228" y="537017"/>
                </a:lnTo>
                <a:lnTo>
                  <a:pt x="361187" y="467868"/>
                </a:lnTo>
                <a:lnTo>
                  <a:pt x="359228" y="398718"/>
                </a:lnTo>
                <a:lnTo>
                  <a:pt x="353538" y="332723"/>
                </a:lnTo>
                <a:lnTo>
                  <a:pt x="344395" y="270605"/>
                </a:lnTo>
                <a:lnTo>
                  <a:pt x="332082" y="213087"/>
                </a:lnTo>
                <a:lnTo>
                  <a:pt x="316876" y="160892"/>
                </a:lnTo>
                <a:lnTo>
                  <a:pt x="299058" y="114743"/>
                </a:lnTo>
                <a:lnTo>
                  <a:pt x="278909" y="75364"/>
                </a:lnTo>
                <a:lnTo>
                  <a:pt x="256708" y="43476"/>
                </a:lnTo>
                <a:lnTo>
                  <a:pt x="207270" y="5071"/>
                </a:lnTo>
                <a:lnTo>
                  <a:pt x="180593" y="0"/>
                </a:lnTo>
                <a:close/>
              </a:path>
            </a:pathLst>
          </a:custGeom>
          <a:solidFill>
            <a:srgbClr val="FDE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75247" y="4256532"/>
            <a:ext cx="361315" cy="935990"/>
          </a:xfrm>
          <a:custGeom>
            <a:avLst/>
            <a:gdLst/>
            <a:ahLst/>
            <a:cxnLst/>
            <a:rect l="l" t="t" r="r" b="b"/>
            <a:pathLst>
              <a:path w="361315" h="935989">
                <a:moveTo>
                  <a:pt x="0" y="467868"/>
                </a:moveTo>
                <a:lnTo>
                  <a:pt x="1959" y="398718"/>
                </a:lnTo>
                <a:lnTo>
                  <a:pt x="7649" y="332723"/>
                </a:lnTo>
                <a:lnTo>
                  <a:pt x="16792" y="270605"/>
                </a:lnTo>
                <a:lnTo>
                  <a:pt x="29105" y="213087"/>
                </a:lnTo>
                <a:lnTo>
                  <a:pt x="44311" y="160892"/>
                </a:lnTo>
                <a:lnTo>
                  <a:pt x="62129" y="114743"/>
                </a:lnTo>
                <a:lnTo>
                  <a:pt x="82278" y="75364"/>
                </a:lnTo>
                <a:lnTo>
                  <a:pt x="104479" y="43476"/>
                </a:lnTo>
                <a:lnTo>
                  <a:pt x="153917" y="5071"/>
                </a:lnTo>
                <a:lnTo>
                  <a:pt x="180593" y="0"/>
                </a:lnTo>
                <a:lnTo>
                  <a:pt x="207270" y="5071"/>
                </a:lnTo>
                <a:lnTo>
                  <a:pt x="256708" y="43476"/>
                </a:lnTo>
                <a:lnTo>
                  <a:pt x="278909" y="75364"/>
                </a:lnTo>
                <a:lnTo>
                  <a:pt x="299058" y="114743"/>
                </a:lnTo>
                <a:lnTo>
                  <a:pt x="316876" y="160892"/>
                </a:lnTo>
                <a:lnTo>
                  <a:pt x="332082" y="213087"/>
                </a:lnTo>
                <a:lnTo>
                  <a:pt x="344395" y="270605"/>
                </a:lnTo>
                <a:lnTo>
                  <a:pt x="353538" y="332723"/>
                </a:lnTo>
                <a:lnTo>
                  <a:pt x="359228" y="398718"/>
                </a:lnTo>
                <a:lnTo>
                  <a:pt x="361187" y="467868"/>
                </a:lnTo>
                <a:lnTo>
                  <a:pt x="359228" y="537017"/>
                </a:lnTo>
                <a:lnTo>
                  <a:pt x="353538" y="603012"/>
                </a:lnTo>
                <a:lnTo>
                  <a:pt x="344395" y="665130"/>
                </a:lnTo>
                <a:lnTo>
                  <a:pt x="332082" y="722648"/>
                </a:lnTo>
                <a:lnTo>
                  <a:pt x="316876" y="774843"/>
                </a:lnTo>
                <a:lnTo>
                  <a:pt x="299058" y="820992"/>
                </a:lnTo>
                <a:lnTo>
                  <a:pt x="278909" y="860371"/>
                </a:lnTo>
                <a:lnTo>
                  <a:pt x="256708" y="892259"/>
                </a:lnTo>
                <a:lnTo>
                  <a:pt x="207270" y="930664"/>
                </a:lnTo>
                <a:lnTo>
                  <a:pt x="180593" y="935736"/>
                </a:lnTo>
                <a:lnTo>
                  <a:pt x="153917" y="930664"/>
                </a:lnTo>
                <a:lnTo>
                  <a:pt x="104479" y="892259"/>
                </a:lnTo>
                <a:lnTo>
                  <a:pt x="82278" y="860371"/>
                </a:lnTo>
                <a:lnTo>
                  <a:pt x="62129" y="820992"/>
                </a:lnTo>
                <a:lnTo>
                  <a:pt x="44311" y="774843"/>
                </a:lnTo>
                <a:lnTo>
                  <a:pt x="29105" y="722648"/>
                </a:lnTo>
                <a:lnTo>
                  <a:pt x="16792" y="665130"/>
                </a:lnTo>
                <a:lnTo>
                  <a:pt x="7649" y="603012"/>
                </a:lnTo>
                <a:lnTo>
                  <a:pt x="1959" y="537017"/>
                </a:lnTo>
                <a:lnTo>
                  <a:pt x="0" y="467868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72328" y="2772155"/>
            <a:ext cx="360045" cy="1369060"/>
          </a:xfrm>
          <a:custGeom>
            <a:avLst/>
            <a:gdLst/>
            <a:ahLst/>
            <a:cxnLst/>
            <a:rect l="l" t="t" r="r" b="b"/>
            <a:pathLst>
              <a:path w="360045" h="1369060">
                <a:moveTo>
                  <a:pt x="197993" y="0"/>
                </a:moveTo>
                <a:lnTo>
                  <a:pt x="161671" y="0"/>
                </a:lnTo>
                <a:lnTo>
                  <a:pt x="118695" y="5775"/>
                </a:lnTo>
                <a:lnTo>
                  <a:pt x="80075" y="22074"/>
                </a:lnTo>
                <a:lnTo>
                  <a:pt x="47355" y="47355"/>
                </a:lnTo>
                <a:lnTo>
                  <a:pt x="22074" y="80075"/>
                </a:lnTo>
                <a:lnTo>
                  <a:pt x="5775" y="118695"/>
                </a:lnTo>
                <a:lnTo>
                  <a:pt x="0" y="161671"/>
                </a:lnTo>
                <a:lnTo>
                  <a:pt x="0" y="1206881"/>
                </a:lnTo>
                <a:lnTo>
                  <a:pt x="5775" y="1249856"/>
                </a:lnTo>
                <a:lnTo>
                  <a:pt x="22074" y="1288476"/>
                </a:lnTo>
                <a:lnTo>
                  <a:pt x="47355" y="1321196"/>
                </a:lnTo>
                <a:lnTo>
                  <a:pt x="80075" y="1346477"/>
                </a:lnTo>
                <a:lnTo>
                  <a:pt x="118695" y="1362776"/>
                </a:lnTo>
                <a:lnTo>
                  <a:pt x="161671" y="1368552"/>
                </a:lnTo>
                <a:lnTo>
                  <a:pt x="197993" y="1368552"/>
                </a:lnTo>
                <a:lnTo>
                  <a:pt x="240968" y="1362776"/>
                </a:lnTo>
                <a:lnTo>
                  <a:pt x="279588" y="1346477"/>
                </a:lnTo>
                <a:lnTo>
                  <a:pt x="312308" y="1321196"/>
                </a:lnTo>
                <a:lnTo>
                  <a:pt x="337589" y="1288476"/>
                </a:lnTo>
                <a:lnTo>
                  <a:pt x="353888" y="1249856"/>
                </a:lnTo>
                <a:lnTo>
                  <a:pt x="359663" y="1206881"/>
                </a:lnTo>
                <a:lnTo>
                  <a:pt x="359663" y="161671"/>
                </a:lnTo>
                <a:lnTo>
                  <a:pt x="353888" y="118695"/>
                </a:lnTo>
                <a:lnTo>
                  <a:pt x="337589" y="80075"/>
                </a:lnTo>
                <a:lnTo>
                  <a:pt x="312308" y="47355"/>
                </a:lnTo>
                <a:lnTo>
                  <a:pt x="279588" y="22074"/>
                </a:lnTo>
                <a:lnTo>
                  <a:pt x="240968" y="5775"/>
                </a:lnTo>
                <a:lnTo>
                  <a:pt x="197993" y="0"/>
                </a:lnTo>
                <a:close/>
              </a:path>
            </a:pathLst>
          </a:custGeom>
          <a:solidFill>
            <a:srgbClr val="FDE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72328" y="2772155"/>
            <a:ext cx="360045" cy="1369060"/>
          </a:xfrm>
          <a:custGeom>
            <a:avLst/>
            <a:gdLst/>
            <a:ahLst/>
            <a:cxnLst/>
            <a:rect l="l" t="t" r="r" b="b"/>
            <a:pathLst>
              <a:path w="360045" h="1369060">
                <a:moveTo>
                  <a:pt x="0" y="161671"/>
                </a:moveTo>
                <a:lnTo>
                  <a:pt x="5775" y="118695"/>
                </a:lnTo>
                <a:lnTo>
                  <a:pt x="22074" y="80075"/>
                </a:lnTo>
                <a:lnTo>
                  <a:pt x="47355" y="47355"/>
                </a:lnTo>
                <a:lnTo>
                  <a:pt x="80075" y="22074"/>
                </a:lnTo>
                <a:lnTo>
                  <a:pt x="118695" y="5775"/>
                </a:lnTo>
                <a:lnTo>
                  <a:pt x="161671" y="0"/>
                </a:lnTo>
                <a:lnTo>
                  <a:pt x="197993" y="0"/>
                </a:lnTo>
                <a:lnTo>
                  <a:pt x="240968" y="5775"/>
                </a:lnTo>
                <a:lnTo>
                  <a:pt x="279588" y="22074"/>
                </a:lnTo>
                <a:lnTo>
                  <a:pt x="312308" y="47355"/>
                </a:lnTo>
                <a:lnTo>
                  <a:pt x="337589" y="80075"/>
                </a:lnTo>
                <a:lnTo>
                  <a:pt x="353888" y="118695"/>
                </a:lnTo>
                <a:lnTo>
                  <a:pt x="359663" y="161671"/>
                </a:lnTo>
                <a:lnTo>
                  <a:pt x="359663" y="1206881"/>
                </a:lnTo>
                <a:lnTo>
                  <a:pt x="353888" y="1249856"/>
                </a:lnTo>
                <a:lnTo>
                  <a:pt x="337589" y="1288476"/>
                </a:lnTo>
                <a:lnTo>
                  <a:pt x="312308" y="1321196"/>
                </a:lnTo>
                <a:lnTo>
                  <a:pt x="279588" y="1346477"/>
                </a:lnTo>
                <a:lnTo>
                  <a:pt x="240968" y="1362776"/>
                </a:lnTo>
                <a:lnTo>
                  <a:pt x="197993" y="1368552"/>
                </a:lnTo>
                <a:lnTo>
                  <a:pt x="161671" y="1368552"/>
                </a:lnTo>
                <a:lnTo>
                  <a:pt x="118695" y="1362776"/>
                </a:lnTo>
                <a:lnTo>
                  <a:pt x="80075" y="1346477"/>
                </a:lnTo>
                <a:lnTo>
                  <a:pt x="47355" y="1321196"/>
                </a:lnTo>
                <a:lnTo>
                  <a:pt x="22074" y="1288476"/>
                </a:lnTo>
                <a:lnTo>
                  <a:pt x="5775" y="1249856"/>
                </a:lnTo>
                <a:lnTo>
                  <a:pt x="0" y="1206881"/>
                </a:lnTo>
                <a:lnTo>
                  <a:pt x="0" y="161671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75247" y="2744723"/>
            <a:ext cx="361315" cy="1369060"/>
          </a:xfrm>
          <a:custGeom>
            <a:avLst/>
            <a:gdLst/>
            <a:ahLst/>
            <a:cxnLst/>
            <a:rect l="l" t="t" r="r" b="b"/>
            <a:pathLst>
              <a:path w="361315" h="1369060">
                <a:moveTo>
                  <a:pt x="198881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1206245"/>
                </a:lnTo>
                <a:lnTo>
                  <a:pt x="5796" y="1249401"/>
                </a:lnTo>
                <a:lnTo>
                  <a:pt x="22154" y="1288175"/>
                </a:lnTo>
                <a:lnTo>
                  <a:pt x="47529" y="1321022"/>
                </a:lnTo>
                <a:lnTo>
                  <a:pt x="80376" y="1346397"/>
                </a:lnTo>
                <a:lnTo>
                  <a:pt x="119150" y="1362755"/>
                </a:lnTo>
                <a:lnTo>
                  <a:pt x="162305" y="1368552"/>
                </a:lnTo>
                <a:lnTo>
                  <a:pt x="198881" y="1368552"/>
                </a:lnTo>
                <a:lnTo>
                  <a:pt x="242037" y="1362755"/>
                </a:lnTo>
                <a:lnTo>
                  <a:pt x="280811" y="1346397"/>
                </a:lnTo>
                <a:lnTo>
                  <a:pt x="313658" y="1321022"/>
                </a:lnTo>
                <a:lnTo>
                  <a:pt x="339033" y="1288175"/>
                </a:lnTo>
                <a:lnTo>
                  <a:pt x="355391" y="1249401"/>
                </a:lnTo>
                <a:lnTo>
                  <a:pt x="361187" y="1206245"/>
                </a:lnTo>
                <a:lnTo>
                  <a:pt x="361187" y="162305"/>
                </a:lnTo>
                <a:lnTo>
                  <a:pt x="355391" y="119150"/>
                </a:lnTo>
                <a:lnTo>
                  <a:pt x="339033" y="80376"/>
                </a:lnTo>
                <a:lnTo>
                  <a:pt x="313658" y="47529"/>
                </a:lnTo>
                <a:lnTo>
                  <a:pt x="280811" y="22154"/>
                </a:lnTo>
                <a:lnTo>
                  <a:pt x="242037" y="5796"/>
                </a:lnTo>
                <a:lnTo>
                  <a:pt x="198881" y="0"/>
                </a:lnTo>
                <a:close/>
              </a:path>
            </a:pathLst>
          </a:custGeom>
          <a:solidFill>
            <a:srgbClr val="FDE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75247" y="2744723"/>
            <a:ext cx="361315" cy="1369060"/>
          </a:xfrm>
          <a:custGeom>
            <a:avLst/>
            <a:gdLst/>
            <a:ahLst/>
            <a:cxnLst/>
            <a:rect l="l" t="t" r="r" b="b"/>
            <a:pathLst>
              <a:path w="361315" h="1369060">
                <a:moveTo>
                  <a:pt x="0" y="162305"/>
                </a:moveTo>
                <a:lnTo>
                  <a:pt x="5796" y="119150"/>
                </a:lnTo>
                <a:lnTo>
                  <a:pt x="22154" y="80376"/>
                </a:lnTo>
                <a:lnTo>
                  <a:pt x="47529" y="47529"/>
                </a:lnTo>
                <a:lnTo>
                  <a:pt x="80376" y="22154"/>
                </a:lnTo>
                <a:lnTo>
                  <a:pt x="119150" y="5796"/>
                </a:lnTo>
                <a:lnTo>
                  <a:pt x="162305" y="0"/>
                </a:lnTo>
                <a:lnTo>
                  <a:pt x="198881" y="0"/>
                </a:lnTo>
                <a:lnTo>
                  <a:pt x="242037" y="5796"/>
                </a:lnTo>
                <a:lnTo>
                  <a:pt x="280811" y="22154"/>
                </a:lnTo>
                <a:lnTo>
                  <a:pt x="313658" y="47529"/>
                </a:lnTo>
                <a:lnTo>
                  <a:pt x="339033" y="80376"/>
                </a:lnTo>
                <a:lnTo>
                  <a:pt x="355391" y="119150"/>
                </a:lnTo>
                <a:lnTo>
                  <a:pt x="361187" y="162305"/>
                </a:lnTo>
                <a:lnTo>
                  <a:pt x="361187" y="1206245"/>
                </a:lnTo>
                <a:lnTo>
                  <a:pt x="355391" y="1249401"/>
                </a:lnTo>
                <a:lnTo>
                  <a:pt x="339033" y="1288175"/>
                </a:lnTo>
                <a:lnTo>
                  <a:pt x="313658" y="1321022"/>
                </a:lnTo>
                <a:lnTo>
                  <a:pt x="280811" y="1346397"/>
                </a:lnTo>
                <a:lnTo>
                  <a:pt x="242037" y="1362755"/>
                </a:lnTo>
                <a:lnTo>
                  <a:pt x="198881" y="1368552"/>
                </a:lnTo>
                <a:lnTo>
                  <a:pt x="162305" y="1368552"/>
                </a:lnTo>
                <a:lnTo>
                  <a:pt x="119150" y="1362755"/>
                </a:lnTo>
                <a:lnTo>
                  <a:pt x="80376" y="1346397"/>
                </a:lnTo>
                <a:lnTo>
                  <a:pt x="47529" y="1321022"/>
                </a:lnTo>
                <a:lnTo>
                  <a:pt x="22154" y="1288175"/>
                </a:lnTo>
                <a:lnTo>
                  <a:pt x="5796" y="1249401"/>
                </a:lnTo>
                <a:lnTo>
                  <a:pt x="0" y="1206245"/>
                </a:lnTo>
                <a:lnTo>
                  <a:pt x="0" y="162305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646420" y="3212592"/>
            <a:ext cx="480834" cy="5676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793740" y="3274313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</a:t>
            </a:r>
            <a:endParaRPr sz="2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25667" y="3607320"/>
            <a:ext cx="354329" cy="3787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821171" y="3644646"/>
            <a:ext cx="110489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0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067044" y="4471415"/>
            <a:ext cx="480834" cy="5676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59067" y="4640567"/>
            <a:ext cx="363473" cy="38939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189217" y="4533391"/>
            <a:ext cx="3028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F</a:t>
            </a:r>
            <a:r>
              <a:rPr sz="1950" spc="7" baseline="-21000" dirty="0">
                <a:solidFill>
                  <a:srgbClr val="003366"/>
                </a:solidFill>
                <a:latin typeface="Times New Roman" panose="02020503050405090304"/>
                <a:cs typeface="Times New Roman" panose="02020503050405090304"/>
              </a:rPr>
              <a:t>1</a:t>
            </a:r>
            <a:endParaRPr sz="1950" baseline="-2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315967" y="2526792"/>
            <a:ext cx="363220" cy="433070"/>
          </a:xfrm>
          <a:custGeom>
            <a:avLst/>
            <a:gdLst/>
            <a:ahLst/>
            <a:cxnLst/>
            <a:rect l="l" t="t" r="r" b="b"/>
            <a:pathLst>
              <a:path w="363220" h="433069">
                <a:moveTo>
                  <a:pt x="181356" y="0"/>
                </a:moveTo>
                <a:lnTo>
                  <a:pt x="139759" y="5716"/>
                </a:lnTo>
                <a:lnTo>
                  <a:pt x="101581" y="21998"/>
                </a:lnTo>
                <a:lnTo>
                  <a:pt x="67909" y="47546"/>
                </a:lnTo>
                <a:lnTo>
                  <a:pt x="39828" y="81060"/>
                </a:lnTo>
                <a:lnTo>
                  <a:pt x="18425" y="121242"/>
                </a:lnTo>
                <a:lnTo>
                  <a:pt x="4787" y="166791"/>
                </a:lnTo>
                <a:lnTo>
                  <a:pt x="0" y="216408"/>
                </a:lnTo>
                <a:lnTo>
                  <a:pt x="4787" y="266024"/>
                </a:lnTo>
                <a:lnTo>
                  <a:pt x="18425" y="311573"/>
                </a:lnTo>
                <a:lnTo>
                  <a:pt x="39828" y="351755"/>
                </a:lnTo>
                <a:lnTo>
                  <a:pt x="67909" y="385269"/>
                </a:lnTo>
                <a:lnTo>
                  <a:pt x="101581" y="410817"/>
                </a:lnTo>
                <a:lnTo>
                  <a:pt x="139759" y="427099"/>
                </a:lnTo>
                <a:lnTo>
                  <a:pt x="181356" y="432816"/>
                </a:lnTo>
                <a:lnTo>
                  <a:pt x="222952" y="427099"/>
                </a:lnTo>
                <a:lnTo>
                  <a:pt x="261130" y="410817"/>
                </a:lnTo>
                <a:lnTo>
                  <a:pt x="294802" y="385269"/>
                </a:lnTo>
                <a:lnTo>
                  <a:pt x="322883" y="351755"/>
                </a:lnTo>
                <a:lnTo>
                  <a:pt x="344286" y="311573"/>
                </a:lnTo>
                <a:lnTo>
                  <a:pt x="357924" y="266024"/>
                </a:lnTo>
                <a:lnTo>
                  <a:pt x="362712" y="216408"/>
                </a:lnTo>
                <a:lnTo>
                  <a:pt x="357924" y="166791"/>
                </a:lnTo>
                <a:lnTo>
                  <a:pt x="344286" y="121242"/>
                </a:lnTo>
                <a:lnTo>
                  <a:pt x="322883" y="81060"/>
                </a:lnTo>
                <a:lnTo>
                  <a:pt x="294802" y="47546"/>
                </a:lnTo>
                <a:lnTo>
                  <a:pt x="261130" y="21998"/>
                </a:lnTo>
                <a:lnTo>
                  <a:pt x="222952" y="5716"/>
                </a:lnTo>
                <a:lnTo>
                  <a:pt x="181356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15967" y="2526792"/>
            <a:ext cx="363220" cy="433070"/>
          </a:xfrm>
          <a:custGeom>
            <a:avLst/>
            <a:gdLst/>
            <a:ahLst/>
            <a:cxnLst/>
            <a:rect l="l" t="t" r="r" b="b"/>
            <a:pathLst>
              <a:path w="363220" h="433069">
                <a:moveTo>
                  <a:pt x="0" y="216408"/>
                </a:moveTo>
                <a:lnTo>
                  <a:pt x="4787" y="166791"/>
                </a:lnTo>
                <a:lnTo>
                  <a:pt x="18425" y="121242"/>
                </a:lnTo>
                <a:lnTo>
                  <a:pt x="39828" y="81060"/>
                </a:lnTo>
                <a:lnTo>
                  <a:pt x="67909" y="47546"/>
                </a:lnTo>
                <a:lnTo>
                  <a:pt x="101581" y="21998"/>
                </a:lnTo>
                <a:lnTo>
                  <a:pt x="139759" y="5716"/>
                </a:lnTo>
                <a:lnTo>
                  <a:pt x="181356" y="0"/>
                </a:lnTo>
                <a:lnTo>
                  <a:pt x="222952" y="5716"/>
                </a:lnTo>
                <a:lnTo>
                  <a:pt x="261130" y="21998"/>
                </a:lnTo>
                <a:lnTo>
                  <a:pt x="294802" y="47546"/>
                </a:lnTo>
                <a:lnTo>
                  <a:pt x="322883" y="81060"/>
                </a:lnTo>
                <a:lnTo>
                  <a:pt x="344286" y="121242"/>
                </a:lnTo>
                <a:lnTo>
                  <a:pt x="357924" y="166791"/>
                </a:lnTo>
                <a:lnTo>
                  <a:pt x="362712" y="216408"/>
                </a:lnTo>
                <a:lnTo>
                  <a:pt x="357924" y="266024"/>
                </a:lnTo>
                <a:lnTo>
                  <a:pt x="344286" y="311573"/>
                </a:lnTo>
                <a:lnTo>
                  <a:pt x="322883" y="351755"/>
                </a:lnTo>
                <a:lnTo>
                  <a:pt x="294802" y="385269"/>
                </a:lnTo>
                <a:lnTo>
                  <a:pt x="261130" y="410817"/>
                </a:lnTo>
                <a:lnTo>
                  <a:pt x="222952" y="427099"/>
                </a:lnTo>
                <a:lnTo>
                  <a:pt x="181356" y="432816"/>
                </a:lnTo>
                <a:lnTo>
                  <a:pt x="139759" y="427099"/>
                </a:lnTo>
                <a:lnTo>
                  <a:pt x="101581" y="410817"/>
                </a:lnTo>
                <a:lnTo>
                  <a:pt x="67909" y="385269"/>
                </a:lnTo>
                <a:lnTo>
                  <a:pt x="39828" y="351755"/>
                </a:lnTo>
                <a:lnTo>
                  <a:pt x="18425" y="311573"/>
                </a:lnTo>
                <a:lnTo>
                  <a:pt x="4787" y="266024"/>
                </a:lnTo>
                <a:lnTo>
                  <a:pt x="0" y="216408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86541" y="2622273"/>
            <a:ext cx="756920" cy="1764664"/>
          </a:xfrm>
          <a:custGeom>
            <a:avLst/>
            <a:gdLst/>
            <a:ahLst/>
            <a:cxnLst/>
            <a:rect l="l" t="t" r="r" b="b"/>
            <a:pathLst>
              <a:path w="756920" h="1764664">
                <a:moveTo>
                  <a:pt x="319258" y="0"/>
                </a:moveTo>
                <a:lnTo>
                  <a:pt x="256140" y="41651"/>
                </a:lnTo>
                <a:lnTo>
                  <a:pt x="220713" y="101114"/>
                </a:lnTo>
                <a:lnTo>
                  <a:pt x="190752" y="166329"/>
                </a:lnTo>
                <a:lnTo>
                  <a:pt x="173786" y="206668"/>
                </a:lnTo>
                <a:lnTo>
                  <a:pt x="155962" y="251261"/>
                </a:lnTo>
                <a:lnTo>
                  <a:pt x="137628" y="299434"/>
                </a:lnTo>
                <a:lnTo>
                  <a:pt x="119132" y="350511"/>
                </a:lnTo>
                <a:lnTo>
                  <a:pt x="100825" y="403818"/>
                </a:lnTo>
                <a:lnTo>
                  <a:pt x="83054" y="458681"/>
                </a:lnTo>
                <a:lnTo>
                  <a:pt x="66168" y="514423"/>
                </a:lnTo>
                <a:lnTo>
                  <a:pt x="50516" y="570371"/>
                </a:lnTo>
                <a:lnTo>
                  <a:pt x="36447" y="625850"/>
                </a:lnTo>
                <a:lnTo>
                  <a:pt x="24310" y="680185"/>
                </a:lnTo>
                <a:lnTo>
                  <a:pt x="14453" y="732701"/>
                </a:lnTo>
                <a:lnTo>
                  <a:pt x="7226" y="782723"/>
                </a:lnTo>
                <a:lnTo>
                  <a:pt x="2655" y="832365"/>
                </a:lnTo>
                <a:lnTo>
                  <a:pt x="325" y="883810"/>
                </a:lnTo>
                <a:lnTo>
                  <a:pt x="0" y="936564"/>
                </a:lnTo>
                <a:lnTo>
                  <a:pt x="1442" y="990137"/>
                </a:lnTo>
                <a:lnTo>
                  <a:pt x="4417" y="1044037"/>
                </a:lnTo>
                <a:lnTo>
                  <a:pt x="8689" y="1097771"/>
                </a:lnTo>
                <a:lnTo>
                  <a:pt x="14020" y="1150848"/>
                </a:lnTo>
                <a:lnTo>
                  <a:pt x="20176" y="1202777"/>
                </a:lnTo>
                <a:lnTo>
                  <a:pt x="26920" y="1253064"/>
                </a:lnTo>
                <a:lnTo>
                  <a:pt x="34016" y="1301220"/>
                </a:lnTo>
                <a:lnTo>
                  <a:pt x="41228" y="1346751"/>
                </a:lnTo>
                <a:lnTo>
                  <a:pt x="48320" y="1389166"/>
                </a:lnTo>
                <a:lnTo>
                  <a:pt x="55057" y="1427973"/>
                </a:lnTo>
                <a:lnTo>
                  <a:pt x="79980" y="1539682"/>
                </a:lnTo>
                <a:lnTo>
                  <a:pt x="102290" y="1593574"/>
                </a:lnTo>
                <a:lnTo>
                  <a:pt x="125776" y="1631635"/>
                </a:lnTo>
                <a:lnTo>
                  <a:pt x="148085" y="1661142"/>
                </a:lnTo>
                <a:lnTo>
                  <a:pt x="166865" y="1689376"/>
                </a:lnTo>
                <a:lnTo>
                  <a:pt x="180368" y="1723783"/>
                </a:lnTo>
                <a:lnTo>
                  <a:pt x="187169" y="1749939"/>
                </a:lnTo>
                <a:lnTo>
                  <a:pt x="197279" y="1764546"/>
                </a:lnTo>
                <a:lnTo>
                  <a:pt x="220713" y="1764306"/>
                </a:lnTo>
                <a:lnTo>
                  <a:pt x="248459" y="1745342"/>
                </a:lnTo>
                <a:lnTo>
                  <a:pt x="278241" y="1709828"/>
                </a:lnTo>
                <a:lnTo>
                  <a:pt x="310114" y="1668797"/>
                </a:lnTo>
                <a:lnTo>
                  <a:pt x="344132" y="1633282"/>
                </a:lnTo>
                <a:lnTo>
                  <a:pt x="380352" y="1614319"/>
                </a:lnTo>
                <a:lnTo>
                  <a:pt x="641085" y="1614319"/>
                </a:lnTo>
                <a:lnTo>
                  <a:pt x="651154" y="1594364"/>
                </a:lnTo>
                <a:lnTo>
                  <a:pt x="670553" y="1549442"/>
                </a:lnTo>
                <a:lnTo>
                  <a:pt x="689089" y="1500162"/>
                </a:lnTo>
                <a:lnTo>
                  <a:pt x="706284" y="1447883"/>
                </a:lnTo>
                <a:lnTo>
                  <a:pt x="721659" y="1393966"/>
                </a:lnTo>
                <a:lnTo>
                  <a:pt x="734736" y="1339770"/>
                </a:lnTo>
                <a:lnTo>
                  <a:pt x="745036" y="1286657"/>
                </a:lnTo>
                <a:lnTo>
                  <a:pt x="752081" y="1235986"/>
                </a:lnTo>
                <a:lnTo>
                  <a:pt x="755625" y="1189687"/>
                </a:lnTo>
                <a:lnTo>
                  <a:pt x="756788" y="1140448"/>
                </a:lnTo>
                <a:lnTo>
                  <a:pt x="755807" y="1089122"/>
                </a:lnTo>
                <a:lnTo>
                  <a:pt x="752921" y="1036567"/>
                </a:lnTo>
                <a:lnTo>
                  <a:pt x="748368" y="983638"/>
                </a:lnTo>
                <a:lnTo>
                  <a:pt x="742385" y="931190"/>
                </a:lnTo>
                <a:lnTo>
                  <a:pt x="735212" y="880081"/>
                </a:lnTo>
                <a:lnTo>
                  <a:pt x="727087" y="831166"/>
                </a:lnTo>
                <a:lnTo>
                  <a:pt x="718247" y="785300"/>
                </a:lnTo>
                <a:lnTo>
                  <a:pt x="708930" y="743340"/>
                </a:lnTo>
                <a:lnTo>
                  <a:pt x="699376" y="706142"/>
                </a:lnTo>
                <a:lnTo>
                  <a:pt x="677215" y="649618"/>
                </a:lnTo>
                <a:lnTo>
                  <a:pt x="648369" y="604725"/>
                </a:lnTo>
                <a:lnTo>
                  <a:pt x="616524" y="568363"/>
                </a:lnTo>
                <a:lnTo>
                  <a:pt x="585367" y="537429"/>
                </a:lnTo>
                <a:lnTo>
                  <a:pt x="558585" y="508824"/>
                </a:lnTo>
                <a:lnTo>
                  <a:pt x="539864" y="479447"/>
                </a:lnTo>
                <a:lnTo>
                  <a:pt x="532238" y="440509"/>
                </a:lnTo>
                <a:lnTo>
                  <a:pt x="539816" y="409406"/>
                </a:lnTo>
                <a:lnTo>
                  <a:pt x="547418" y="375827"/>
                </a:lnTo>
                <a:lnTo>
                  <a:pt x="539864" y="329460"/>
                </a:lnTo>
                <a:lnTo>
                  <a:pt x="525276" y="291033"/>
                </a:lnTo>
                <a:lnTo>
                  <a:pt x="505630" y="243198"/>
                </a:lnTo>
                <a:lnTo>
                  <a:pt x="482321" y="190620"/>
                </a:lnTo>
                <a:lnTo>
                  <a:pt x="456743" y="137965"/>
                </a:lnTo>
                <a:lnTo>
                  <a:pt x="430292" y="89896"/>
                </a:lnTo>
                <a:lnTo>
                  <a:pt x="404363" y="51081"/>
                </a:lnTo>
                <a:lnTo>
                  <a:pt x="349436" y="7252"/>
                </a:lnTo>
                <a:lnTo>
                  <a:pt x="319258" y="0"/>
                </a:lnTo>
                <a:close/>
              </a:path>
              <a:path w="756920" h="1764664">
                <a:moveTo>
                  <a:pt x="641085" y="1614319"/>
                </a:moveTo>
                <a:lnTo>
                  <a:pt x="380352" y="1614319"/>
                </a:lnTo>
                <a:lnTo>
                  <a:pt x="413322" y="1620214"/>
                </a:lnTo>
                <a:lnTo>
                  <a:pt x="449172" y="1642640"/>
                </a:lnTo>
                <a:lnTo>
                  <a:pt x="486460" y="1671183"/>
                </a:lnTo>
                <a:lnTo>
                  <a:pt x="523749" y="1695430"/>
                </a:lnTo>
                <a:lnTo>
                  <a:pt x="559598" y="1704965"/>
                </a:lnTo>
                <a:lnTo>
                  <a:pt x="592569" y="1689376"/>
                </a:lnTo>
                <a:lnTo>
                  <a:pt x="611684" y="1665691"/>
                </a:lnTo>
                <a:lnTo>
                  <a:pt x="631372" y="1633567"/>
                </a:lnTo>
                <a:lnTo>
                  <a:pt x="641085" y="1614319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486541" y="2622273"/>
            <a:ext cx="756920" cy="1764664"/>
          </a:xfrm>
          <a:custGeom>
            <a:avLst/>
            <a:gdLst/>
            <a:ahLst/>
            <a:cxnLst/>
            <a:rect l="l" t="t" r="r" b="b"/>
            <a:pathLst>
              <a:path w="756920" h="1764664">
                <a:moveTo>
                  <a:pt x="166865" y="1689376"/>
                </a:moveTo>
                <a:lnTo>
                  <a:pt x="148085" y="1661142"/>
                </a:lnTo>
                <a:lnTo>
                  <a:pt x="125776" y="1631635"/>
                </a:lnTo>
                <a:lnTo>
                  <a:pt x="102290" y="1593574"/>
                </a:lnTo>
                <a:lnTo>
                  <a:pt x="79980" y="1539682"/>
                </a:lnTo>
                <a:lnTo>
                  <a:pt x="61201" y="1462681"/>
                </a:lnTo>
                <a:lnTo>
                  <a:pt x="48320" y="1389166"/>
                </a:lnTo>
                <a:lnTo>
                  <a:pt x="41228" y="1346751"/>
                </a:lnTo>
                <a:lnTo>
                  <a:pt x="34016" y="1301220"/>
                </a:lnTo>
                <a:lnTo>
                  <a:pt x="26920" y="1253064"/>
                </a:lnTo>
                <a:lnTo>
                  <a:pt x="20176" y="1202777"/>
                </a:lnTo>
                <a:lnTo>
                  <a:pt x="14020" y="1150848"/>
                </a:lnTo>
                <a:lnTo>
                  <a:pt x="8689" y="1097771"/>
                </a:lnTo>
                <a:lnTo>
                  <a:pt x="4417" y="1044037"/>
                </a:lnTo>
                <a:lnTo>
                  <a:pt x="1442" y="990137"/>
                </a:lnTo>
                <a:lnTo>
                  <a:pt x="0" y="936564"/>
                </a:lnTo>
                <a:lnTo>
                  <a:pt x="325" y="883810"/>
                </a:lnTo>
                <a:lnTo>
                  <a:pt x="2655" y="832365"/>
                </a:lnTo>
                <a:lnTo>
                  <a:pt x="7226" y="782723"/>
                </a:lnTo>
                <a:lnTo>
                  <a:pt x="14453" y="732701"/>
                </a:lnTo>
                <a:lnTo>
                  <a:pt x="24310" y="680185"/>
                </a:lnTo>
                <a:lnTo>
                  <a:pt x="36447" y="625850"/>
                </a:lnTo>
                <a:lnTo>
                  <a:pt x="50516" y="570371"/>
                </a:lnTo>
                <a:lnTo>
                  <a:pt x="66168" y="514423"/>
                </a:lnTo>
                <a:lnTo>
                  <a:pt x="83054" y="458681"/>
                </a:lnTo>
                <a:lnTo>
                  <a:pt x="100825" y="403818"/>
                </a:lnTo>
                <a:lnTo>
                  <a:pt x="119132" y="350511"/>
                </a:lnTo>
                <a:lnTo>
                  <a:pt x="137628" y="299434"/>
                </a:lnTo>
                <a:lnTo>
                  <a:pt x="155962" y="251261"/>
                </a:lnTo>
                <a:lnTo>
                  <a:pt x="173786" y="206668"/>
                </a:lnTo>
                <a:lnTo>
                  <a:pt x="190752" y="166329"/>
                </a:lnTo>
                <a:lnTo>
                  <a:pt x="206511" y="130920"/>
                </a:lnTo>
                <a:lnTo>
                  <a:pt x="256140" y="41651"/>
                </a:lnTo>
                <a:lnTo>
                  <a:pt x="288573" y="9706"/>
                </a:lnTo>
                <a:lnTo>
                  <a:pt x="319258" y="0"/>
                </a:lnTo>
                <a:lnTo>
                  <a:pt x="349436" y="7252"/>
                </a:lnTo>
                <a:lnTo>
                  <a:pt x="404363" y="51081"/>
                </a:lnTo>
                <a:lnTo>
                  <a:pt x="430292" y="89896"/>
                </a:lnTo>
                <a:lnTo>
                  <a:pt x="456743" y="137965"/>
                </a:lnTo>
                <a:lnTo>
                  <a:pt x="482321" y="190620"/>
                </a:lnTo>
                <a:lnTo>
                  <a:pt x="505630" y="243198"/>
                </a:lnTo>
                <a:lnTo>
                  <a:pt x="525276" y="291033"/>
                </a:lnTo>
                <a:lnTo>
                  <a:pt x="539864" y="329460"/>
                </a:lnTo>
                <a:lnTo>
                  <a:pt x="547418" y="375827"/>
                </a:lnTo>
                <a:lnTo>
                  <a:pt x="539816" y="409406"/>
                </a:lnTo>
                <a:lnTo>
                  <a:pt x="532238" y="440509"/>
                </a:lnTo>
                <a:lnTo>
                  <a:pt x="539864" y="479447"/>
                </a:lnTo>
                <a:lnTo>
                  <a:pt x="558585" y="508824"/>
                </a:lnTo>
                <a:lnTo>
                  <a:pt x="585367" y="537429"/>
                </a:lnTo>
                <a:lnTo>
                  <a:pt x="616524" y="568363"/>
                </a:lnTo>
                <a:lnTo>
                  <a:pt x="648369" y="604725"/>
                </a:lnTo>
                <a:lnTo>
                  <a:pt x="677215" y="649618"/>
                </a:lnTo>
                <a:lnTo>
                  <a:pt x="699376" y="706142"/>
                </a:lnTo>
                <a:lnTo>
                  <a:pt x="708930" y="743340"/>
                </a:lnTo>
                <a:lnTo>
                  <a:pt x="718247" y="785300"/>
                </a:lnTo>
                <a:lnTo>
                  <a:pt x="727087" y="831166"/>
                </a:lnTo>
                <a:lnTo>
                  <a:pt x="735212" y="880081"/>
                </a:lnTo>
                <a:lnTo>
                  <a:pt x="742385" y="931190"/>
                </a:lnTo>
                <a:lnTo>
                  <a:pt x="748368" y="983638"/>
                </a:lnTo>
                <a:lnTo>
                  <a:pt x="752921" y="1036567"/>
                </a:lnTo>
                <a:lnTo>
                  <a:pt x="755807" y="1089122"/>
                </a:lnTo>
                <a:lnTo>
                  <a:pt x="756788" y="1140448"/>
                </a:lnTo>
                <a:lnTo>
                  <a:pt x="755625" y="1189687"/>
                </a:lnTo>
                <a:lnTo>
                  <a:pt x="752081" y="1235986"/>
                </a:lnTo>
                <a:lnTo>
                  <a:pt x="745036" y="1286657"/>
                </a:lnTo>
                <a:lnTo>
                  <a:pt x="734736" y="1339770"/>
                </a:lnTo>
                <a:lnTo>
                  <a:pt x="721659" y="1393966"/>
                </a:lnTo>
                <a:lnTo>
                  <a:pt x="706284" y="1447883"/>
                </a:lnTo>
                <a:lnTo>
                  <a:pt x="689089" y="1500162"/>
                </a:lnTo>
                <a:lnTo>
                  <a:pt x="670553" y="1549442"/>
                </a:lnTo>
                <a:lnTo>
                  <a:pt x="651154" y="1594364"/>
                </a:lnTo>
                <a:lnTo>
                  <a:pt x="631372" y="1633567"/>
                </a:lnTo>
                <a:lnTo>
                  <a:pt x="592569" y="1689376"/>
                </a:lnTo>
                <a:lnTo>
                  <a:pt x="559598" y="1704965"/>
                </a:lnTo>
                <a:lnTo>
                  <a:pt x="523749" y="1695430"/>
                </a:lnTo>
                <a:lnTo>
                  <a:pt x="486460" y="1671183"/>
                </a:lnTo>
                <a:lnTo>
                  <a:pt x="449172" y="1642640"/>
                </a:lnTo>
                <a:lnTo>
                  <a:pt x="413322" y="1620214"/>
                </a:lnTo>
                <a:lnTo>
                  <a:pt x="380352" y="1614319"/>
                </a:lnTo>
                <a:lnTo>
                  <a:pt x="344132" y="1633282"/>
                </a:lnTo>
                <a:lnTo>
                  <a:pt x="310114" y="1668797"/>
                </a:lnTo>
                <a:lnTo>
                  <a:pt x="278241" y="1709828"/>
                </a:lnTo>
                <a:lnTo>
                  <a:pt x="248459" y="1745342"/>
                </a:lnTo>
                <a:lnTo>
                  <a:pt x="220713" y="1764306"/>
                </a:lnTo>
                <a:lnTo>
                  <a:pt x="197279" y="1764546"/>
                </a:lnTo>
                <a:lnTo>
                  <a:pt x="187169" y="1749939"/>
                </a:lnTo>
                <a:lnTo>
                  <a:pt x="180368" y="1723783"/>
                </a:lnTo>
                <a:lnTo>
                  <a:pt x="166865" y="1689376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724400" y="3713988"/>
            <a:ext cx="723138" cy="5676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871720" y="3792727"/>
            <a:ext cx="41020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3366"/>
                </a:solidFill>
                <a:latin typeface="宋体"/>
                <a:cs typeface="宋体"/>
              </a:rPr>
              <a:t>Ⅳ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60952" y="2121535"/>
            <a:ext cx="6470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Cyt</a:t>
            </a:r>
            <a:r>
              <a:rPr sz="2000" b="1" spc="-6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000" b="1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c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99333" y="3202381"/>
            <a:ext cx="262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36699"/>
                </a:solidFill>
                <a:latin typeface="Arial" panose="020B0604020202090204"/>
                <a:cs typeface="Arial" panose="020B0604020202090204"/>
              </a:rPr>
              <a:t>Q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8552" y="2072132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黑体"/>
                <a:cs typeface="黑体"/>
              </a:rPr>
              <a:t>胞液侧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8552" y="4520565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黑体"/>
                <a:cs typeface="黑体"/>
              </a:rPr>
              <a:t>基质侧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543800" y="2744723"/>
            <a:ext cx="431800" cy="1369060"/>
          </a:xfrm>
          <a:custGeom>
            <a:avLst/>
            <a:gdLst/>
            <a:ahLst/>
            <a:cxnLst/>
            <a:rect l="l" t="t" r="r" b="b"/>
            <a:pathLst>
              <a:path w="431800" h="1369060">
                <a:moveTo>
                  <a:pt x="0" y="1368552"/>
                </a:moveTo>
                <a:lnTo>
                  <a:pt x="431292" y="1368552"/>
                </a:lnTo>
                <a:lnTo>
                  <a:pt x="431292" y="0"/>
                </a:lnTo>
                <a:lnTo>
                  <a:pt x="0" y="0"/>
                </a:lnTo>
                <a:lnTo>
                  <a:pt x="0" y="1368552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543800" y="2744723"/>
            <a:ext cx="431800" cy="1369060"/>
          </a:xfrm>
          <a:custGeom>
            <a:avLst/>
            <a:gdLst/>
            <a:ahLst/>
            <a:cxnLst/>
            <a:rect l="l" t="t" r="r" b="b"/>
            <a:pathLst>
              <a:path w="431800" h="1369060">
                <a:moveTo>
                  <a:pt x="0" y="1368552"/>
                </a:moveTo>
                <a:lnTo>
                  <a:pt x="431292" y="1368552"/>
                </a:lnTo>
                <a:lnTo>
                  <a:pt x="431292" y="0"/>
                </a:lnTo>
                <a:lnTo>
                  <a:pt x="0" y="0"/>
                </a:lnTo>
                <a:lnTo>
                  <a:pt x="0" y="1368552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00543" y="2671572"/>
            <a:ext cx="288290" cy="1513840"/>
          </a:xfrm>
          <a:custGeom>
            <a:avLst/>
            <a:gdLst/>
            <a:ahLst/>
            <a:cxnLst/>
            <a:rect l="l" t="t" r="r" b="b"/>
            <a:pathLst>
              <a:path w="288290" h="1513839">
                <a:moveTo>
                  <a:pt x="144017" y="0"/>
                </a:moveTo>
                <a:lnTo>
                  <a:pt x="103600" y="30218"/>
                </a:lnTo>
                <a:lnTo>
                  <a:pt x="79018" y="81298"/>
                </a:lnTo>
                <a:lnTo>
                  <a:pt x="56890" y="154170"/>
                </a:lnTo>
                <a:lnTo>
                  <a:pt x="46897" y="197985"/>
                </a:lnTo>
                <a:lnTo>
                  <a:pt x="37700" y="246297"/>
                </a:lnTo>
                <a:lnTo>
                  <a:pt x="29358" y="298789"/>
                </a:lnTo>
                <a:lnTo>
                  <a:pt x="21932" y="355145"/>
                </a:lnTo>
                <a:lnTo>
                  <a:pt x="15482" y="415047"/>
                </a:lnTo>
                <a:lnTo>
                  <a:pt x="10070" y="478179"/>
                </a:lnTo>
                <a:lnTo>
                  <a:pt x="5755" y="544224"/>
                </a:lnTo>
                <a:lnTo>
                  <a:pt x="2598" y="612864"/>
                </a:lnTo>
                <a:lnTo>
                  <a:pt x="659" y="683784"/>
                </a:lnTo>
                <a:lnTo>
                  <a:pt x="0" y="756665"/>
                </a:lnTo>
                <a:lnTo>
                  <a:pt x="659" y="829547"/>
                </a:lnTo>
                <a:lnTo>
                  <a:pt x="2598" y="900467"/>
                </a:lnTo>
                <a:lnTo>
                  <a:pt x="5755" y="969107"/>
                </a:lnTo>
                <a:lnTo>
                  <a:pt x="10070" y="1035152"/>
                </a:lnTo>
                <a:lnTo>
                  <a:pt x="15482" y="1098284"/>
                </a:lnTo>
                <a:lnTo>
                  <a:pt x="21932" y="1158186"/>
                </a:lnTo>
                <a:lnTo>
                  <a:pt x="29358" y="1214542"/>
                </a:lnTo>
                <a:lnTo>
                  <a:pt x="37700" y="1267034"/>
                </a:lnTo>
                <a:lnTo>
                  <a:pt x="46897" y="1315346"/>
                </a:lnTo>
                <a:lnTo>
                  <a:pt x="56890" y="1359161"/>
                </a:lnTo>
                <a:lnTo>
                  <a:pt x="67617" y="1398162"/>
                </a:lnTo>
                <a:lnTo>
                  <a:pt x="91033" y="1460455"/>
                </a:lnTo>
                <a:lnTo>
                  <a:pt x="116661" y="1499690"/>
                </a:lnTo>
                <a:lnTo>
                  <a:pt x="144017" y="1513332"/>
                </a:lnTo>
                <a:lnTo>
                  <a:pt x="157882" y="1509868"/>
                </a:lnTo>
                <a:lnTo>
                  <a:pt x="197002" y="1460455"/>
                </a:lnTo>
                <a:lnTo>
                  <a:pt x="220418" y="1398162"/>
                </a:lnTo>
                <a:lnTo>
                  <a:pt x="231145" y="1359161"/>
                </a:lnTo>
                <a:lnTo>
                  <a:pt x="241138" y="1315346"/>
                </a:lnTo>
                <a:lnTo>
                  <a:pt x="250335" y="1267034"/>
                </a:lnTo>
                <a:lnTo>
                  <a:pt x="258677" y="1214542"/>
                </a:lnTo>
                <a:lnTo>
                  <a:pt x="266103" y="1158186"/>
                </a:lnTo>
                <a:lnTo>
                  <a:pt x="272553" y="1098284"/>
                </a:lnTo>
                <a:lnTo>
                  <a:pt x="277965" y="1035152"/>
                </a:lnTo>
                <a:lnTo>
                  <a:pt x="282280" y="969107"/>
                </a:lnTo>
                <a:lnTo>
                  <a:pt x="285437" y="900467"/>
                </a:lnTo>
                <a:lnTo>
                  <a:pt x="287376" y="829547"/>
                </a:lnTo>
                <a:lnTo>
                  <a:pt x="288035" y="756665"/>
                </a:lnTo>
                <a:lnTo>
                  <a:pt x="287376" y="683784"/>
                </a:lnTo>
                <a:lnTo>
                  <a:pt x="285437" y="612864"/>
                </a:lnTo>
                <a:lnTo>
                  <a:pt x="282280" y="544224"/>
                </a:lnTo>
                <a:lnTo>
                  <a:pt x="277965" y="478179"/>
                </a:lnTo>
                <a:lnTo>
                  <a:pt x="272553" y="415047"/>
                </a:lnTo>
                <a:lnTo>
                  <a:pt x="266103" y="355145"/>
                </a:lnTo>
                <a:lnTo>
                  <a:pt x="258677" y="298789"/>
                </a:lnTo>
                <a:lnTo>
                  <a:pt x="250335" y="246297"/>
                </a:lnTo>
                <a:lnTo>
                  <a:pt x="241138" y="197985"/>
                </a:lnTo>
                <a:lnTo>
                  <a:pt x="231145" y="154170"/>
                </a:lnTo>
                <a:lnTo>
                  <a:pt x="220418" y="115169"/>
                </a:lnTo>
                <a:lnTo>
                  <a:pt x="197002" y="52876"/>
                </a:lnTo>
                <a:lnTo>
                  <a:pt x="171374" y="13641"/>
                </a:lnTo>
                <a:lnTo>
                  <a:pt x="144017" y="0"/>
                </a:lnTo>
                <a:close/>
              </a:path>
            </a:pathLst>
          </a:custGeom>
          <a:solidFill>
            <a:srgbClr val="FFF7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00543" y="2671572"/>
            <a:ext cx="288290" cy="1513840"/>
          </a:xfrm>
          <a:custGeom>
            <a:avLst/>
            <a:gdLst/>
            <a:ahLst/>
            <a:cxnLst/>
            <a:rect l="l" t="t" r="r" b="b"/>
            <a:pathLst>
              <a:path w="288290" h="1513839">
                <a:moveTo>
                  <a:pt x="0" y="756665"/>
                </a:moveTo>
                <a:lnTo>
                  <a:pt x="659" y="683784"/>
                </a:lnTo>
                <a:lnTo>
                  <a:pt x="2598" y="612864"/>
                </a:lnTo>
                <a:lnTo>
                  <a:pt x="5755" y="544224"/>
                </a:lnTo>
                <a:lnTo>
                  <a:pt x="10070" y="478179"/>
                </a:lnTo>
                <a:lnTo>
                  <a:pt x="15482" y="415047"/>
                </a:lnTo>
                <a:lnTo>
                  <a:pt x="21932" y="355145"/>
                </a:lnTo>
                <a:lnTo>
                  <a:pt x="29358" y="298789"/>
                </a:lnTo>
                <a:lnTo>
                  <a:pt x="37700" y="246297"/>
                </a:lnTo>
                <a:lnTo>
                  <a:pt x="46897" y="197985"/>
                </a:lnTo>
                <a:lnTo>
                  <a:pt x="56890" y="154170"/>
                </a:lnTo>
                <a:lnTo>
                  <a:pt x="67617" y="115169"/>
                </a:lnTo>
                <a:lnTo>
                  <a:pt x="91033" y="52876"/>
                </a:lnTo>
                <a:lnTo>
                  <a:pt x="116661" y="13641"/>
                </a:lnTo>
                <a:lnTo>
                  <a:pt x="144017" y="0"/>
                </a:lnTo>
                <a:lnTo>
                  <a:pt x="157882" y="3463"/>
                </a:lnTo>
                <a:lnTo>
                  <a:pt x="197002" y="52876"/>
                </a:lnTo>
                <a:lnTo>
                  <a:pt x="220418" y="115169"/>
                </a:lnTo>
                <a:lnTo>
                  <a:pt x="231145" y="154170"/>
                </a:lnTo>
                <a:lnTo>
                  <a:pt x="241138" y="197985"/>
                </a:lnTo>
                <a:lnTo>
                  <a:pt x="250335" y="246297"/>
                </a:lnTo>
                <a:lnTo>
                  <a:pt x="258677" y="298789"/>
                </a:lnTo>
                <a:lnTo>
                  <a:pt x="266103" y="355145"/>
                </a:lnTo>
                <a:lnTo>
                  <a:pt x="272553" y="415047"/>
                </a:lnTo>
                <a:lnTo>
                  <a:pt x="277965" y="478179"/>
                </a:lnTo>
                <a:lnTo>
                  <a:pt x="282280" y="544224"/>
                </a:lnTo>
                <a:lnTo>
                  <a:pt x="285437" y="612864"/>
                </a:lnTo>
                <a:lnTo>
                  <a:pt x="287376" y="683784"/>
                </a:lnTo>
                <a:lnTo>
                  <a:pt x="288035" y="756665"/>
                </a:lnTo>
                <a:lnTo>
                  <a:pt x="287376" y="829547"/>
                </a:lnTo>
                <a:lnTo>
                  <a:pt x="285437" y="900467"/>
                </a:lnTo>
                <a:lnTo>
                  <a:pt x="282280" y="969107"/>
                </a:lnTo>
                <a:lnTo>
                  <a:pt x="277965" y="1035152"/>
                </a:lnTo>
                <a:lnTo>
                  <a:pt x="272553" y="1098284"/>
                </a:lnTo>
                <a:lnTo>
                  <a:pt x="266103" y="1158186"/>
                </a:lnTo>
                <a:lnTo>
                  <a:pt x="258677" y="1214542"/>
                </a:lnTo>
                <a:lnTo>
                  <a:pt x="250335" y="1267034"/>
                </a:lnTo>
                <a:lnTo>
                  <a:pt x="241138" y="1315346"/>
                </a:lnTo>
                <a:lnTo>
                  <a:pt x="231145" y="1359161"/>
                </a:lnTo>
                <a:lnTo>
                  <a:pt x="220418" y="1398162"/>
                </a:lnTo>
                <a:lnTo>
                  <a:pt x="197002" y="1460455"/>
                </a:lnTo>
                <a:lnTo>
                  <a:pt x="171374" y="1499690"/>
                </a:lnTo>
                <a:lnTo>
                  <a:pt x="144017" y="1513332"/>
                </a:lnTo>
                <a:lnTo>
                  <a:pt x="130153" y="1509868"/>
                </a:lnTo>
                <a:lnTo>
                  <a:pt x="91033" y="1460455"/>
                </a:lnTo>
                <a:lnTo>
                  <a:pt x="67617" y="1398162"/>
                </a:lnTo>
                <a:lnTo>
                  <a:pt x="56890" y="1359161"/>
                </a:lnTo>
                <a:lnTo>
                  <a:pt x="46897" y="1315346"/>
                </a:lnTo>
                <a:lnTo>
                  <a:pt x="37700" y="1267034"/>
                </a:lnTo>
                <a:lnTo>
                  <a:pt x="29358" y="1214542"/>
                </a:lnTo>
                <a:lnTo>
                  <a:pt x="21932" y="1158186"/>
                </a:lnTo>
                <a:lnTo>
                  <a:pt x="15482" y="1098284"/>
                </a:lnTo>
                <a:lnTo>
                  <a:pt x="10070" y="1035152"/>
                </a:lnTo>
                <a:lnTo>
                  <a:pt x="5755" y="969107"/>
                </a:lnTo>
                <a:lnTo>
                  <a:pt x="2598" y="900467"/>
                </a:lnTo>
                <a:lnTo>
                  <a:pt x="659" y="829547"/>
                </a:lnTo>
                <a:lnTo>
                  <a:pt x="0" y="756665"/>
                </a:lnTo>
                <a:close/>
              </a:path>
            </a:pathLst>
          </a:custGeom>
          <a:ln w="9143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833359" y="2671572"/>
            <a:ext cx="287020" cy="1513840"/>
          </a:xfrm>
          <a:custGeom>
            <a:avLst/>
            <a:gdLst/>
            <a:ahLst/>
            <a:cxnLst/>
            <a:rect l="l" t="t" r="r" b="b"/>
            <a:pathLst>
              <a:path w="287020" h="1513839">
                <a:moveTo>
                  <a:pt x="143256" y="0"/>
                </a:moveTo>
                <a:lnTo>
                  <a:pt x="103038" y="30218"/>
                </a:lnTo>
                <a:lnTo>
                  <a:pt x="78582" y="81298"/>
                </a:lnTo>
                <a:lnTo>
                  <a:pt x="56572" y="154170"/>
                </a:lnTo>
                <a:lnTo>
                  <a:pt x="46633" y="197985"/>
                </a:lnTo>
                <a:lnTo>
                  <a:pt x="37486" y="246297"/>
                </a:lnTo>
                <a:lnTo>
                  <a:pt x="29190" y="298789"/>
                </a:lnTo>
                <a:lnTo>
                  <a:pt x="21806" y="355145"/>
                </a:lnTo>
                <a:lnTo>
                  <a:pt x="15393" y="415047"/>
                </a:lnTo>
                <a:lnTo>
                  <a:pt x="10011" y="478179"/>
                </a:lnTo>
                <a:lnTo>
                  <a:pt x="5721" y="544224"/>
                </a:lnTo>
                <a:lnTo>
                  <a:pt x="2583" y="612864"/>
                </a:lnTo>
                <a:lnTo>
                  <a:pt x="655" y="683784"/>
                </a:lnTo>
                <a:lnTo>
                  <a:pt x="0" y="756665"/>
                </a:lnTo>
                <a:lnTo>
                  <a:pt x="655" y="829547"/>
                </a:lnTo>
                <a:lnTo>
                  <a:pt x="2583" y="900467"/>
                </a:lnTo>
                <a:lnTo>
                  <a:pt x="5721" y="969107"/>
                </a:lnTo>
                <a:lnTo>
                  <a:pt x="10011" y="1035152"/>
                </a:lnTo>
                <a:lnTo>
                  <a:pt x="15393" y="1098284"/>
                </a:lnTo>
                <a:lnTo>
                  <a:pt x="21806" y="1158186"/>
                </a:lnTo>
                <a:lnTo>
                  <a:pt x="29190" y="1214542"/>
                </a:lnTo>
                <a:lnTo>
                  <a:pt x="37486" y="1267034"/>
                </a:lnTo>
                <a:lnTo>
                  <a:pt x="46633" y="1315346"/>
                </a:lnTo>
                <a:lnTo>
                  <a:pt x="56572" y="1359161"/>
                </a:lnTo>
                <a:lnTo>
                  <a:pt x="67241" y="1398162"/>
                </a:lnTo>
                <a:lnTo>
                  <a:pt x="90535" y="1460455"/>
                </a:lnTo>
                <a:lnTo>
                  <a:pt x="116033" y="1499690"/>
                </a:lnTo>
                <a:lnTo>
                  <a:pt x="143256" y="1513332"/>
                </a:lnTo>
                <a:lnTo>
                  <a:pt x="157052" y="1509868"/>
                </a:lnTo>
                <a:lnTo>
                  <a:pt x="195976" y="1460455"/>
                </a:lnTo>
                <a:lnTo>
                  <a:pt x="219270" y="1398162"/>
                </a:lnTo>
                <a:lnTo>
                  <a:pt x="229939" y="1359161"/>
                </a:lnTo>
                <a:lnTo>
                  <a:pt x="239878" y="1315346"/>
                </a:lnTo>
                <a:lnTo>
                  <a:pt x="249025" y="1267034"/>
                </a:lnTo>
                <a:lnTo>
                  <a:pt x="257321" y="1214542"/>
                </a:lnTo>
                <a:lnTo>
                  <a:pt x="264705" y="1158186"/>
                </a:lnTo>
                <a:lnTo>
                  <a:pt x="271118" y="1098284"/>
                </a:lnTo>
                <a:lnTo>
                  <a:pt x="276500" y="1035152"/>
                </a:lnTo>
                <a:lnTo>
                  <a:pt x="280790" y="969107"/>
                </a:lnTo>
                <a:lnTo>
                  <a:pt x="283928" y="900467"/>
                </a:lnTo>
                <a:lnTo>
                  <a:pt x="285856" y="829547"/>
                </a:lnTo>
                <a:lnTo>
                  <a:pt x="286512" y="756665"/>
                </a:lnTo>
                <a:lnTo>
                  <a:pt x="285856" y="683784"/>
                </a:lnTo>
                <a:lnTo>
                  <a:pt x="283928" y="612864"/>
                </a:lnTo>
                <a:lnTo>
                  <a:pt x="280790" y="544224"/>
                </a:lnTo>
                <a:lnTo>
                  <a:pt x="276500" y="478179"/>
                </a:lnTo>
                <a:lnTo>
                  <a:pt x="271118" y="415047"/>
                </a:lnTo>
                <a:lnTo>
                  <a:pt x="264705" y="355145"/>
                </a:lnTo>
                <a:lnTo>
                  <a:pt x="257321" y="298789"/>
                </a:lnTo>
                <a:lnTo>
                  <a:pt x="249025" y="246297"/>
                </a:lnTo>
                <a:lnTo>
                  <a:pt x="239878" y="197985"/>
                </a:lnTo>
                <a:lnTo>
                  <a:pt x="229939" y="154170"/>
                </a:lnTo>
                <a:lnTo>
                  <a:pt x="219270" y="115169"/>
                </a:lnTo>
                <a:lnTo>
                  <a:pt x="195976" y="52876"/>
                </a:lnTo>
                <a:lnTo>
                  <a:pt x="170478" y="13641"/>
                </a:lnTo>
                <a:lnTo>
                  <a:pt x="143256" y="0"/>
                </a:lnTo>
                <a:close/>
              </a:path>
            </a:pathLst>
          </a:custGeom>
          <a:solidFill>
            <a:srgbClr val="FFF7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833359" y="2671572"/>
            <a:ext cx="287020" cy="1513840"/>
          </a:xfrm>
          <a:custGeom>
            <a:avLst/>
            <a:gdLst/>
            <a:ahLst/>
            <a:cxnLst/>
            <a:rect l="l" t="t" r="r" b="b"/>
            <a:pathLst>
              <a:path w="287020" h="1513839">
                <a:moveTo>
                  <a:pt x="0" y="756665"/>
                </a:moveTo>
                <a:lnTo>
                  <a:pt x="655" y="683784"/>
                </a:lnTo>
                <a:lnTo>
                  <a:pt x="2583" y="612864"/>
                </a:lnTo>
                <a:lnTo>
                  <a:pt x="5721" y="544224"/>
                </a:lnTo>
                <a:lnTo>
                  <a:pt x="10011" y="478179"/>
                </a:lnTo>
                <a:lnTo>
                  <a:pt x="15393" y="415047"/>
                </a:lnTo>
                <a:lnTo>
                  <a:pt x="21806" y="355145"/>
                </a:lnTo>
                <a:lnTo>
                  <a:pt x="29190" y="298789"/>
                </a:lnTo>
                <a:lnTo>
                  <a:pt x="37486" y="246297"/>
                </a:lnTo>
                <a:lnTo>
                  <a:pt x="46633" y="197985"/>
                </a:lnTo>
                <a:lnTo>
                  <a:pt x="56572" y="154170"/>
                </a:lnTo>
                <a:lnTo>
                  <a:pt x="67241" y="115169"/>
                </a:lnTo>
                <a:lnTo>
                  <a:pt x="90535" y="52876"/>
                </a:lnTo>
                <a:lnTo>
                  <a:pt x="116033" y="13641"/>
                </a:lnTo>
                <a:lnTo>
                  <a:pt x="143256" y="0"/>
                </a:lnTo>
                <a:lnTo>
                  <a:pt x="157052" y="3463"/>
                </a:lnTo>
                <a:lnTo>
                  <a:pt x="195976" y="52876"/>
                </a:lnTo>
                <a:lnTo>
                  <a:pt x="219270" y="115169"/>
                </a:lnTo>
                <a:lnTo>
                  <a:pt x="229939" y="154170"/>
                </a:lnTo>
                <a:lnTo>
                  <a:pt x="239878" y="197985"/>
                </a:lnTo>
                <a:lnTo>
                  <a:pt x="249025" y="246297"/>
                </a:lnTo>
                <a:lnTo>
                  <a:pt x="257321" y="298789"/>
                </a:lnTo>
                <a:lnTo>
                  <a:pt x="264705" y="355145"/>
                </a:lnTo>
                <a:lnTo>
                  <a:pt x="271118" y="415047"/>
                </a:lnTo>
                <a:lnTo>
                  <a:pt x="276500" y="478179"/>
                </a:lnTo>
                <a:lnTo>
                  <a:pt x="280790" y="544224"/>
                </a:lnTo>
                <a:lnTo>
                  <a:pt x="283928" y="612864"/>
                </a:lnTo>
                <a:lnTo>
                  <a:pt x="285856" y="683784"/>
                </a:lnTo>
                <a:lnTo>
                  <a:pt x="286512" y="756665"/>
                </a:lnTo>
                <a:lnTo>
                  <a:pt x="285856" y="829547"/>
                </a:lnTo>
                <a:lnTo>
                  <a:pt x="283928" y="900467"/>
                </a:lnTo>
                <a:lnTo>
                  <a:pt x="280790" y="969107"/>
                </a:lnTo>
                <a:lnTo>
                  <a:pt x="276500" y="1035152"/>
                </a:lnTo>
                <a:lnTo>
                  <a:pt x="271118" y="1098284"/>
                </a:lnTo>
                <a:lnTo>
                  <a:pt x="264705" y="1158186"/>
                </a:lnTo>
                <a:lnTo>
                  <a:pt x="257321" y="1214542"/>
                </a:lnTo>
                <a:lnTo>
                  <a:pt x="249025" y="1267034"/>
                </a:lnTo>
                <a:lnTo>
                  <a:pt x="239878" y="1315346"/>
                </a:lnTo>
                <a:lnTo>
                  <a:pt x="229939" y="1359161"/>
                </a:lnTo>
                <a:lnTo>
                  <a:pt x="219270" y="1398162"/>
                </a:lnTo>
                <a:lnTo>
                  <a:pt x="195976" y="1460455"/>
                </a:lnTo>
                <a:lnTo>
                  <a:pt x="170478" y="1499690"/>
                </a:lnTo>
                <a:lnTo>
                  <a:pt x="143256" y="1513332"/>
                </a:lnTo>
                <a:lnTo>
                  <a:pt x="129459" y="1509868"/>
                </a:lnTo>
                <a:lnTo>
                  <a:pt x="90535" y="1460455"/>
                </a:lnTo>
                <a:lnTo>
                  <a:pt x="67241" y="1398162"/>
                </a:lnTo>
                <a:lnTo>
                  <a:pt x="56572" y="1359161"/>
                </a:lnTo>
                <a:lnTo>
                  <a:pt x="46633" y="1315346"/>
                </a:lnTo>
                <a:lnTo>
                  <a:pt x="37486" y="1267034"/>
                </a:lnTo>
                <a:lnTo>
                  <a:pt x="29190" y="1214542"/>
                </a:lnTo>
                <a:lnTo>
                  <a:pt x="21806" y="1158186"/>
                </a:lnTo>
                <a:lnTo>
                  <a:pt x="15393" y="1098284"/>
                </a:lnTo>
                <a:lnTo>
                  <a:pt x="10011" y="1035152"/>
                </a:lnTo>
                <a:lnTo>
                  <a:pt x="5721" y="969107"/>
                </a:lnTo>
                <a:lnTo>
                  <a:pt x="2583" y="900467"/>
                </a:lnTo>
                <a:lnTo>
                  <a:pt x="655" y="829547"/>
                </a:lnTo>
                <a:lnTo>
                  <a:pt x="0" y="756665"/>
                </a:lnTo>
                <a:close/>
              </a:path>
            </a:pathLst>
          </a:custGeom>
          <a:ln w="9144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712711" y="2195525"/>
            <a:ext cx="79819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CC00CC"/>
                </a:solidFill>
                <a:latin typeface="黑体"/>
                <a:cs typeface="黑体"/>
              </a:rPr>
              <a:t>解偶联</a:t>
            </a:r>
            <a:endParaRPr sz="2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1" spc="5" dirty="0">
                <a:solidFill>
                  <a:srgbClr val="CC00CC"/>
                </a:solidFill>
                <a:latin typeface="黑体"/>
                <a:cs typeface="黑体"/>
              </a:rPr>
              <a:t>蛋白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667243" y="1557527"/>
            <a:ext cx="647700" cy="668655"/>
          </a:xfrm>
          <a:custGeom>
            <a:avLst/>
            <a:gdLst/>
            <a:ahLst/>
            <a:cxnLst/>
            <a:rect l="l" t="t" r="r" b="b"/>
            <a:pathLst>
              <a:path w="647700" h="668655">
                <a:moveTo>
                  <a:pt x="484250" y="198627"/>
                </a:moveTo>
                <a:lnTo>
                  <a:pt x="163449" y="198627"/>
                </a:lnTo>
                <a:lnTo>
                  <a:pt x="163449" y="668655"/>
                </a:lnTo>
                <a:lnTo>
                  <a:pt x="484250" y="668655"/>
                </a:lnTo>
                <a:lnTo>
                  <a:pt x="484250" y="198627"/>
                </a:lnTo>
                <a:close/>
              </a:path>
              <a:path w="647700" h="668655">
                <a:moveTo>
                  <a:pt x="323850" y="0"/>
                </a:moveTo>
                <a:lnTo>
                  <a:pt x="0" y="198627"/>
                </a:lnTo>
                <a:lnTo>
                  <a:pt x="647700" y="198627"/>
                </a:lnTo>
                <a:lnTo>
                  <a:pt x="32385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830693" y="2275713"/>
            <a:ext cx="321310" cy="0"/>
          </a:xfrm>
          <a:custGeom>
            <a:avLst/>
            <a:gdLst/>
            <a:ahLst/>
            <a:cxnLst/>
            <a:rect l="l" t="t" r="r" b="b"/>
            <a:pathLst>
              <a:path w="321309">
                <a:moveTo>
                  <a:pt x="0" y="0"/>
                </a:moveTo>
                <a:lnTo>
                  <a:pt x="320725" y="0"/>
                </a:lnTo>
              </a:path>
            </a:pathLst>
          </a:custGeom>
          <a:ln w="49529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830693" y="2337625"/>
            <a:ext cx="321310" cy="0"/>
          </a:xfrm>
          <a:custGeom>
            <a:avLst/>
            <a:gdLst/>
            <a:ahLst/>
            <a:cxnLst/>
            <a:rect l="l" t="t" r="r" b="b"/>
            <a:pathLst>
              <a:path w="321309">
                <a:moveTo>
                  <a:pt x="0" y="0"/>
                </a:moveTo>
                <a:lnTo>
                  <a:pt x="320725" y="0"/>
                </a:lnTo>
              </a:path>
            </a:pathLst>
          </a:custGeom>
          <a:ln w="24764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667243" y="1557527"/>
            <a:ext cx="647700" cy="668655"/>
          </a:xfrm>
          <a:custGeom>
            <a:avLst/>
            <a:gdLst/>
            <a:ahLst/>
            <a:cxnLst/>
            <a:rect l="l" t="t" r="r" b="b"/>
            <a:pathLst>
              <a:path w="647700" h="668655">
                <a:moveTo>
                  <a:pt x="0" y="198627"/>
                </a:moveTo>
                <a:lnTo>
                  <a:pt x="163449" y="198627"/>
                </a:lnTo>
                <a:lnTo>
                  <a:pt x="163449" y="668655"/>
                </a:lnTo>
                <a:lnTo>
                  <a:pt x="484250" y="668655"/>
                </a:lnTo>
                <a:lnTo>
                  <a:pt x="484250" y="198627"/>
                </a:lnTo>
                <a:lnTo>
                  <a:pt x="647700" y="198627"/>
                </a:lnTo>
                <a:lnTo>
                  <a:pt x="323850" y="0"/>
                </a:lnTo>
                <a:lnTo>
                  <a:pt x="0" y="198627"/>
                </a:lnTo>
                <a:close/>
              </a:path>
            </a:pathLst>
          </a:custGeom>
          <a:ln w="9144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830693" y="2250948"/>
            <a:ext cx="321310" cy="49530"/>
          </a:xfrm>
          <a:custGeom>
            <a:avLst/>
            <a:gdLst/>
            <a:ahLst/>
            <a:cxnLst/>
            <a:rect l="l" t="t" r="r" b="b"/>
            <a:pathLst>
              <a:path w="321309" h="49530">
                <a:moveTo>
                  <a:pt x="0" y="49529"/>
                </a:moveTo>
                <a:lnTo>
                  <a:pt x="320725" y="49529"/>
                </a:lnTo>
                <a:lnTo>
                  <a:pt x="320725" y="0"/>
                </a:lnTo>
                <a:lnTo>
                  <a:pt x="0" y="0"/>
                </a:lnTo>
                <a:lnTo>
                  <a:pt x="0" y="49529"/>
                </a:lnTo>
                <a:close/>
              </a:path>
            </a:pathLst>
          </a:custGeom>
          <a:ln w="9144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830693" y="2325242"/>
            <a:ext cx="321310" cy="24765"/>
          </a:xfrm>
          <a:custGeom>
            <a:avLst/>
            <a:gdLst/>
            <a:ahLst/>
            <a:cxnLst/>
            <a:rect l="l" t="t" r="r" b="b"/>
            <a:pathLst>
              <a:path w="321309" h="24764">
                <a:moveTo>
                  <a:pt x="0" y="24764"/>
                </a:moveTo>
                <a:lnTo>
                  <a:pt x="320725" y="24764"/>
                </a:lnTo>
                <a:lnTo>
                  <a:pt x="320725" y="0"/>
                </a:lnTo>
                <a:lnTo>
                  <a:pt x="0" y="0"/>
                </a:lnTo>
                <a:lnTo>
                  <a:pt x="0" y="24764"/>
                </a:lnTo>
                <a:close/>
              </a:path>
            </a:pathLst>
          </a:custGeom>
          <a:ln w="9144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640193" y="1100454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C6600"/>
                </a:solidFill>
                <a:latin typeface="黑体"/>
                <a:cs typeface="黑体"/>
              </a:rPr>
              <a:t>热能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420356" y="1623567"/>
            <a:ext cx="407034" cy="4349750"/>
          </a:xfrm>
          <a:custGeom>
            <a:avLst/>
            <a:gdLst/>
            <a:ahLst/>
            <a:cxnLst/>
            <a:rect l="l" t="t" r="r" b="b"/>
            <a:pathLst>
              <a:path w="407034" h="4349750">
                <a:moveTo>
                  <a:pt x="0" y="4223054"/>
                </a:moveTo>
                <a:lnTo>
                  <a:pt x="16637" y="4349750"/>
                </a:lnTo>
                <a:lnTo>
                  <a:pt x="102254" y="4265942"/>
                </a:lnTo>
                <a:lnTo>
                  <a:pt x="65786" y="4265942"/>
                </a:lnTo>
                <a:lnTo>
                  <a:pt x="29718" y="4253496"/>
                </a:lnTo>
                <a:lnTo>
                  <a:pt x="35967" y="4235486"/>
                </a:lnTo>
                <a:lnTo>
                  <a:pt x="0" y="4223054"/>
                </a:lnTo>
                <a:close/>
              </a:path>
              <a:path w="407034" h="4349750">
                <a:moveTo>
                  <a:pt x="35967" y="4235486"/>
                </a:moveTo>
                <a:lnTo>
                  <a:pt x="29718" y="4253496"/>
                </a:lnTo>
                <a:lnTo>
                  <a:pt x="65786" y="4265942"/>
                </a:lnTo>
                <a:lnTo>
                  <a:pt x="72019" y="4247948"/>
                </a:lnTo>
                <a:lnTo>
                  <a:pt x="35967" y="4235486"/>
                </a:lnTo>
                <a:close/>
              </a:path>
              <a:path w="407034" h="4349750">
                <a:moveTo>
                  <a:pt x="72019" y="4247948"/>
                </a:moveTo>
                <a:lnTo>
                  <a:pt x="65786" y="4265942"/>
                </a:lnTo>
                <a:lnTo>
                  <a:pt x="102254" y="4265942"/>
                </a:lnTo>
                <a:lnTo>
                  <a:pt x="107950" y="4260367"/>
                </a:lnTo>
                <a:lnTo>
                  <a:pt x="72019" y="4247948"/>
                </a:lnTo>
                <a:close/>
              </a:path>
              <a:path w="407034" h="4349750">
                <a:moveTo>
                  <a:pt x="45720" y="0"/>
                </a:moveTo>
                <a:lnTo>
                  <a:pt x="9525" y="12319"/>
                </a:lnTo>
                <a:lnTo>
                  <a:pt x="52704" y="139192"/>
                </a:lnTo>
                <a:lnTo>
                  <a:pt x="92964" y="267208"/>
                </a:lnTo>
                <a:lnTo>
                  <a:pt x="130683" y="396367"/>
                </a:lnTo>
                <a:lnTo>
                  <a:pt x="165480" y="526923"/>
                </a:lnTo>
                <a:lnTo>
                  <a:pt x="197866" y="658622"/>
                </a:lnTo>
                <a:lnTo>
                  <a:pt x="227202" y="791464"/>
                </a:lnTo>
                <a:lnTo>
                  <a:pt x="253873" y="925322"/>
                </a:lnTo>
                <a:lnTo>
                  <a:pt x="278002" y="1060069"/>
                </a:lnTo>
                <a:lnTo>
                  <a:pt x="299085" y="1195705"/>
                </a:lnTo>
                <a:lnTo>
                  <a:pt x="317500" y="1332230"/>
                </a:lnTo>
                <a:lnTo>
                  <a:pt x="333121" y="1469263"/>
                </a:lnTo>
                <a:lnTo>
                  <a:pt x="345948" y="1607058"/>
                </a:lnTo>
                <a:lnTo>
                  <a:pt x="355853" y="1745361"/>
                </a:lnTo>
                <a:lnTo>
                  <a:pt x="363093" y="1884172"/>
                </a:lnTo>
                <a:lnTo>
                  <a:pt x="367411" y="2023364"/>
                </a:lnTo>
                <a:lnTo>
                  <a:pt x="368808" y="2162810"/>
                </a:lnTo>
                <a:lnTo>
                  <a:pt x="367272" y="2304796"/>
                </a:lnTo>
                <a:lnTo>
                  <a:pt x="362966" y="2445639"/>
                </a:lnTo>
                <a:lnTo>
                  <a:pt x="355473" y="2586482"/>
                </a:lnTo>
                <a:lnTo>
                  <a:pt x="345186" y="2727071"/>
                </a:lnTo>
                <a:lnTo>
                  <a:pt x="331977" y="2866771"/>
                </a:lnTo>
                <a:lnTo>
                  <a:pt x="315849" y="3005963"/>
                </a:lnTo>
                <a:lnTo>
                  <a:pt x="296925" y="3144393"/>
                </a:lnTo>
                <a:lnTo>
                  <a:pt x="275082" y="3282061"/>
                </a:lnTo>
                <a:lnTo>
                  <a:pt x="250317" y="3418840"/>
                </a:lnTo>
                <a:lnTo>
                  <a:pt x="222758" y="3554476"/>
                </a:lnTo>
                <a:lnTo>
                  <a:pt x="192404" y="3689223"/>
                </a:lnTo>
                <a:lnTo>
                  <a:pt x="159258" y="3822700"/>
                </a:lnTo>
                <a:lnTo>
                  <a:pt x="123317" y="3955034"/>
                </a:lnTo>
                <a:lnTo>
                  <a:pt x="84454" y="4085932"/>
                </a:lnTo>
                <a:lnTo>
                  <a:pt x="42925" y="4215434"/>
                </a:lnTo>
                <a:lnTo>
                  <a:pt x="35967" y="4235486"/>
                </a:lnTo>
                <a:lnTo>
                  <a:pt x="72019" y="4247948"/>
                </a:lnTo>
                <a:lnTo>
                  <a:pt x="121030" y="4096740"/>
                </a:lnTo>
                <a:lnTo>
                  <a:pt x="160020" y="3964990"/>
                </a:lnTo>
                <a:lnTo>
                  <a:pt x="196215" y="3831844"/>
                </a:lnTo>
                <a:lnTo>
                  <a:pt x="229616" y="3697605"/>
                </a:lnTo>
                <a:lnTo>
                  <a:pt x="260096" y="3562096"/>
                </a:lnTo>
                <a:lnTo>
                  <a:pt x="287782" y="3425571"/>
                </a:lnTo>
                <a:lnTo>
                  <a:pt x="312674" y="3288030"/>
                </a:lnTo>
                <a:lnTo>
                  <a:pt x="334645" y="3149600"/>
                </a:lnTo>
                <a:lnTo>
                  <a:pt x="353695" y="3010408"/>
                </a:lnTo>
                <a:lnTo>
                  <a:pt x="369950" y="2870454"/>
                </a:lnTo>
                <a:lnTo>
                  <a:pt x="383286" y="2729738"/>
                </a:lnTo>
                <a:lnTo>
                  <a:pt x="393573" y="2588514"/>
                </a:lnTo>
                <a:lnTo>
                  <a:pt x="400939" y="2446909"/>
                </a:lnTo>
                <a:lnTo>
                  <a:pt x="405388" y="2304415"/>
                </a:lnTo>
                <a:lnTo>
                  <a:pt x="406908" y="2162429"/>
                </a:lnTo>
                <a:lnTo>
                  <a:pt x="405511" y="2022221"/>
                </a:lnTo>
                <a:lnTo>
                  <a:pt x="401193" y="1882140"/>
                </a:lnTo>
                <a:lnTo>
                  <a:pt x="393953" y="1742567"/>
                </a:lnTo>
                <a:lnTo>
                  <a:pt x="383921" y="1603502"/>
                </a:lnTo>
                <a:lnTo>
                  <a:pt x="370967" y="1464945"/>
                </a:lnTo>
                <a:lnTo>
                  <a:pt x="355346" y="1327150"/>
                </a:lnTo>
                <a:lnTo>
                  <a:pt x="336803" y="1189863"/>
                </a:lnTo>
                <a:lnTo>
                  <a:pt x="315468" y="1053465"/>
                </a:lnTo>
                <a:lnTo>
                  <a:pt x="291338" y="917829"/>
                </a:lnTo>
                <a:lnTo>
                  <a:pt x="264414" y="783209"/>
                </a:lnTo>
                <a:lnTo>
                  <a:pt x="234823" y="649605"/>
                </a:lnTo>
                <a:lnTo>
                  <a:pt x="202311" y="517144"/>
                </a:lnTo>
                <a:lnTo>
                  <a:pt x="167259" y="385699"/>
                </a:lnTo>
                <a:lnTo>
                  <a:pt x="129286" y="255651"/>
                </a:lnTo>
                <a:lnTo>
                  <a:pt x="88773" y="126873"/>
                </a:lnTo>
                <a:lnTo>
                  <a:pt x="45720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168646" y="1664970"/>
            <a:ext cx="2304415" cy="0"/>
          </a:xfrm>
          <a:custGeom>
            <a:avLst/>
            <a:gdLst/>
            <a:ahLst/>
            <a:cxnLst/>
            <a:rect l="l" t="t" r="r" b="b"/>
            <a:pathLst>
              <a:path w="2304415">
                <a:moveTo>
                  <a:pt x="0" y="0"/>
                </a:moveTo>
                <a:lnTo>
                  <a:pt x="2304287" y="0"/>
                </a:lnTo>
              </a:path>
            </a:pathLst>
          </a:custGeom>
          <a:ln w="38100">
            <a:solidFill>
              <a:srgbClr val="FF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241797" y="5985509"/>
            <a:ext cx="2231390" cy="0"/>
          </a:xfrm>
          <a:custGeom>
            <a:avLst/>
            <a:gdLst/>
            <a:ahLst/>
            <a:cxnLst/>
            <a:rect l="l" t="t" r="r" b="b"/>
            <a:pathLst>
              <a:path w="2231390">
                <a:moveTo>
                  <a:pt x="0" y="0"/>
                </a:moveTo>
                <a:lnTo>
                  <a:pt x="2231135" y="0"/>
                </a:lnTo>
              </a:path>
            </a:pathLst>
          </a:custGeom>
          <a:ln w="38100">
            <a:solidFill>
              <a:srgbClr val="FF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823459" y="1808226"/>
            <a:ext cx="114300" cy="3889375"/>
          </a:xfrm>
          <a:custGeom>
            <a:avLst/>
            <a:gdLst/>
            <a:ahLst/>
            <a:cxnLst/>
            <a:rect l="l" t="t" r="r" b="b"/>
            <a:pathLst>
              <a:path w="114300" h="3889375">
                <a:moveTo>
                  <a:pt x="76200" y="95250"/>
                </a:moveTo>
                <a:lnTo>
                  <a:pt x="38100" y="95250"/>
                </a:lnTo>
                <a:lnTo>
                  <a:pt x="38100" y="3889248"/>
                </a:lnTo>
                <a:lnTo>
                  <a:pt x="76200" y="3889248"/>
                </a:lnTo>
                <a:lnTo>
                  <a:pt x="76200" y="95250"/>
                </a:lnTo>
                <a:close/>
              </a:path>
              <a:path w="114300" h="38893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8893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500120" y="1635379"/>
            <a:ext cx="437515" cy="4342765"/>
          </a:xfrm>
          <a:custGeom>
            <a:avLst/>
            <a:gdLst/>
            <a:ahLst/>
            <a:cxnLst/>
            <a:rect l="l" t="t" r="r" b="b"/>
            <a:pathLst>
              <a:path w="437514" h="4342765">
                <a:moveTo>
                  <a:pt x="365901" y="100689"/>
                </a:moveTo>
                <a:lnTo>
                  <a:pt x="349376" y="145542"/>
                </a:lnTo>
                <a:lnTo>
                  <a:pt x="297433" y="300100"/>
                </a:lnTo>
                <a:lnTo>
                  <a:pt x="249554" y="456819"/>
                </a:lnTo>
                <a:lnTo>
                  <a:pt x="205866" y="615696"/>
                </a:lnTo>
                <a:lnTo>
                  <a:pt x="166242" y="776478"/>
                </a:lnTo>
                <a:lnTo>
                  <a:pt x="130809" y="939038"/>
                </a:lnTo>
                <a:lnTo>
                  <a:pt x="99567" y="1103376"/>
                </a:lnTo>
                <a:lnTo>
                  <a:pt x="72516" y="1269111"/>
                </a:lnTo>
                <a:lnTo>
                  <a:pt x="49656" y="1436243"/>
                </a:lnTo>
                <a:lnTo>
                  <a:pt x="31114" y="1604645"/>
                </a:lnTo>
                <a:lnTo>
                  <a:pt x="16890" y="1774063"/>
                </a:lnTo>
                <a:lnTo>
                  <a:pt x="6857" y="1944370"/>
                </a:lnTo>
                <a:lnTo>
                  <a:pt x="1268" y="2115693"/>
                </a:lnTo>
                <a:lnTo>
                  <a:pt x="0" y="2287143"/>
                </a:lnTo>
                <a:lnTo>
                  <a:pt x="2920" y="2459355"/>
                </a:lnTo>
                <a:lnTo>
                  <a:pt x="10413" y="2631821"/>
                </a:lnTo>
                <a:lnTo>
                  <a:pt x="17399" y="2741930"/>
                </a:lnTo>
                <a:lnTo>
                  <a:pt x="26162" y="2851912"/>
                </a:lnTo>
                <a:lnTo>
                  <a:pt x="36829" y="2961513"/>
                </a:lnTo>
                <a:lnTo>
                  <a:pt x="49149" y="3070860"/>
                </a:lnTo>
                <a:lnTo>
                  <a:pt x="63245" y="3179826"/>
                </a:lnTo>
                <a:lnTo>
                  <a:pt x="78993" y="3288284"/>
                </a:lnTo>
                <a:lnTo>
                  <a:pt x="96646" y="3396488"/>
                </a:lnTo>
                <a:lnTo>
                  <a:pt x="116077" y="3504057"/>
                </a:lnTo>
                <a:lnTo>
                  <a:pt x="137032" y="3611118"/>
                </a:lnTo>
                <a:lnTo>
                  <a:pt x="159765" y="3717671"/>
                </a:lnTo>
                <a:lnTo>
                  <a:pt x="184276" y="3823589"/>
                </a:lnTo>
                <a:lnTo>
                  <a:pt x="210438" y="3928872"/>
                </a:lnTo>
                <a:lnTo>
                  <a:pt x="238251" y="4033494"/>
                </a:lnTo>
                <a:lnTo>
                  <a:pt x="267842" y="4137342"/>
                </a:lnTo>
                <a:lnTo>
                  <a:pt x="299084" y="4240517"/>
                </a:lnTo>
                <a:lnTo>
                  <a:pt x="331850" y="4342523"/>
                </a:lnTo>
                <a:lnTo>
                  <a:pt x="368172" y="4330877"/>
                </a:lnTo>
                <a:lnTo>
                  <a:pt x="335406" y="4228858"/>
                </a:lnTo>
                <a:lnTo>
                  <a:pt x="304291" y="4126293"/>
                </a:lnTo>
                <a:lnTo>
                  <a:pt x="274954" y="4023067"/>
                </a:lnTo>
                <a:lnTo>
                  <a:pt x="247268" y="3919093"/>
                </a:lnTo>
                <a:lnTo>
                  <a:pt x="221233" y="3814445"/>
                </a:lnTo>
                <a:lnTo>
                  <a:pt x="196850" y="3709162"/>
                </a:lnTo>
                <a:lnTo>
                  <a:pt x="174243" y="3603244"/>
                </a:lnTo>
                <a:lnTo>
                  <a:pt x="153415" y="3496691"/>
                </a:lnTo>
                <a:lnTo>
                  <a:pt x="134112" y="3389629"/>
                </a:lnTo>
                <a:lnTo>
                  <a:pt x="116712" y="3282188"/>
                </a:lnTo>
                <a:lnTo>
                  <a:pt x="100837" y="3174238"/>
                </a:lnTo>
                <a:lnTo>
                  <a:pt x="86994" y="3066034"/>
                </a:lnTo>
                <a:lnTo>
                  <a:pt x="74675" y="2957195"/>
                </a:lnTo>
                <a:lnTo>
                  <a:pt x="64134" y="2848229"/>
                </a:lnTo>
                <a:lnTo>
                  <a:pt x="55371" y="2738882"/>
                </a:lnTo>
                <a:lnTo>
                  <a:pt x="48387" y="2629408"/>
                </a:lnTo>
                <a:lnTo>
                  <a:pt x="41020" y="2457704"/>
                </a:lnTo>
                <a:lnTo>
                  <a:pt x="37972" y="2286508"/>
                </a:lnTo>
                <a:lnTo>
                  <a:pt x="39378" y="2115439"/>
                </a:lnTo>
                <a:lnTo>
                  <a:pt x="44957" y="1945640"/>
                </a:lnTo>
                <a:lnTo>
                  <a:pt x="54990" y="1776222"/>
                </a:lnTo>
                <a:lnTo>
                  <a:pt x="69087" y="1607820"/>
                </a:lnTo>
                <a:lnTo>
                  <a:pt x="87502" y="1440434"/>
                </a:lnTo>
                <a:lnTo>
                  <a:pt x="110235" y="1274318"/>
                </a:lnTo>
                <a:lnTo>
                  <a:pt x="137159" y="1109599"/>
                </a:lnTo>
                <a:lnTo>
                  <a:pt x="168147" y="946276"/>
                </a:lnTo>
                <a:lnTo>
                  <a:pt x="203453" y="784606"/>
                </a:lnTo>
                <a:lnTo>
                  <a:pt x="242824" y="624840"/>
                </a:lnTo>
                <a:lnTo>
                  <a:pt x="286257" y="466851"/>
                </a:lnTo>
                <a:lnTo>
                  <a:pt x="333755" y="311150"/>
                </a:lnTo>
                <a:lnTo>
                  <a:pt x="385444" y="157734"/>
                </a:lnTo>
                <a:lnTo>
                  <a:pt x="401584" y="113822"/>
                </a:lnTo>
                <a:lnTo>
                  <a:pt x="365901" y="100689"/>
                </a:lnTo>
                <a:close/>
              </a:path>
              <a:path w="437514" h="4342765">
                <a:moveTo>
                  <a:pt x="432482" y="82804"/>
                </a:moveTo>
                <a:lnTo>
                  <a:pt x="372490" y="82804"/>
                </a:lnTo>
                <a:lnTo>
                  <a:pt x="408177" y="95885"/>
                </a:lnTo>
                <a:lnTo>
                  <a:pt x="401584" y="113822"/>
                </a:lnTo>
                <a:lnTo>
                  <a:pt x="437388" y="127000"/>
                </a:lnTo>
                <a:lnTo>
                  <a:pt x="432482" y="82804"/>
                </a:lnTo>
                <a:close/>
              </a:path>
              <a:path w="437514" h="4342765">
                <a:moveTo>
                  <a:pt x="372490" y="82804"/>
                </a:moveTo>
                <a:lnTo>
                  <a:pt x="365901" y="100689"/>
                </a:lnTo>
                <a:lnTo>
                  <a:pt x="401584" y="113822"/>
                </a:lnTo>
                <a:lnTo>
                  <a:pt x="408177" y="95885"/>
                </a:lnTo>
                <a:lnTo>
                  <a:pt x="372490" y="82804"/>
                </a:lnTo>
                <a:close/>
              </a:path>
              <a:path w="437514" h="4342765">
                <a:moveTo>
                  <a:pt x="423290" y="0"/>
                </a:moveTo>
                <a:lnTo>
                  <a:pt x="330072" y="87503"/>
                </a:lnTo>
                <a:lnTo>
                  <a:pt x="365901" y="100689"/>
                </a:lnTo>
                <a:lnTo>
                  <a:pt x="372490" y="82804"/>
                </a:lnTo>
                <a:lnTo>
                  <a:pt x="432482" y="82804"/>
                </a:lnTo>
                <a:lnTo>
                  <a:pt x="423290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96149" y="1627504"/>
            <a:ext cx="441325" cy="4375785"/>
          </a:xfrm>
          <a:custGeom>
            <a:avLst/>
            <a:gdLst/>
            <a:ahLst/>
            <a:cxnLst/>
            <a:rect l="l" t="t" r="r" b="b"/>
            <a:pathLst>
              <a:path w="441325" h="4375785">
                <a:moveTo>
                  <a:pt x="369782" y="100491"/>
                </a:moveTo>
                <a:lnTo>
                  <a:pt x="352996" y="145923"/>
                </a:lnTo>
                <a:lnTo>
                  <a:pt x="300545" y="300990"/>
                </a:lnTo>
                <a:lnTo>
                  <a:pt x="252285" y="458216"/>
                </a:lnTo>
                <a:lnTo>
                  <a:pt x="208089" y="617728"/>
                </a:lnTo>
                <a:lnTo>
                  <a:pt x="168211" y="779145"/>
                </a:lnTo>
                <a:lnTo>
                  <a:pt x="132397" y="942340"/>
                </a:lnTo>
                <a:lnTo>
                  <a:pt x="100774" y="1107313"/>
                </a:lnTo>
                <a:lnTo>
                  <a:pt x="73520" y="1273683"/>
                </a:lnTo>
                <a:lnTo>
                  <a:pt x="50507" y="1441577"/>
                </a:lnTo>
                <a:lnTo>
                  <a:pt x="31686" y="1610487"/>
                </a:lnTo>
                <a:lnTo>
                  <a:pt x="17271" y="1780667"/>
                </a:lnTo>
                <a:lnTo>
                  <a:pt x="7150" y="1951736"/>
                </a:lnTo>
                <a:lnTo>
                  <a:pt x="1431" y="2123821"/>
                </a:lnTo>
                <a:lnTo>
                  <a:pt x="0" y="2296033"/>
                </a:lnTo>
                <a:lnTo>
                  <a:pt x="3060" y="2468880"/>
                </a:lnTo>
                <a:lnTo>
                  <a:pt x="10515" y="2642108"/>
                </a:lnTo>
                <a:lnTo>
                  <a:pt x="17678" y="2753741"/>
                </a:lnTo>
                <a:lnTo>
                  <a:pt x="26568" y="2865247"/>
                </a:lnTo>
                <a:lnTo>
                  <a:pt x="37363" y="2976499"/>
                </a:lnTo>
                <a:lnTo>
                  <a:pt x="49974" y="3087243"/>
                </a:lnTo>
                <a:lnTo>
                  <a:pt x="64401" y="3197733"/>
                </a:lnTo>
                <a:lnTo>
                  <a:pt x="80581" y="3307715"/>
                </a:lnTo>
                <a:lnTo>
                  <a:pt x="98488" y="3417316"/>
                </a:lnTo>
                <a:lnTo>
                  <a:pt x="118300" y="3526409"/>
                </a:lnTo>
                <a:lnTo>
                  <a:pt x="139890" y="3634867"/>
                </a:lnTo>
                <a:lnTo>
                  <a:pt x="163131" y="3742817"/>
                </a:lnTo>
                <a:lnTo>
                  <a:pt x="188277" y="3850259"/>
                </a:lnTo>
                <a:lnTo>
                  <a:pt x="214947" y="3956812"/>
                </a:lnTo>
                <a:lnTo>
                  <a:pt x="243522" y="4062742"/>
                </a:lnTo>
                <a:lnTo>
                  <a:pt x="273748" y="4168038"/>
                </a:lnTo>
                <a:lnTo>
                  <a:pt x="305752" y="4272470"/>
                </a:lnTo>
                <a:lnTo>
                  <a:pt x="339407" y="4375721"/>
                </a:lnTo>
                <a:lnTo>
                  <a:pt x="375602" y="4363923"/>
                </a:lnTo>
                <a:lnTo>
                  <a:pt x="341947" y="4260672"/>
                </a:lnTo>
                <a:lnTo>
                  <a:pt x="310197" y="4156875"/>
                </a:lnTo>
                <a:lnTo>
                  <a:pt x="280098" y="4052239"/>
                </a:lnTo>
                <a:lnTo>
                  <a:pt x="251777" y="3946906"/>
                </a:lnTo>
                <a:lnTo>
                  <a:pt x="225107" y="3840988"/>
                </a:lnTo>
                <a:lnTo>
                  <a:pt x="200215" y="3734181"/>
                </a:lnTo>
                <a:lnTo>
                  <a:pt x="177101" y="3626866"/>
                </a:lnTo>
                <a:lnTo>
                  <a:pt x="155638" y="3518916"/>
                </a:lnTo>
                <a:lnTo>
                  <a:pt x="135953" y="3410458"/>
                </a:lnTo>
                <a:lnTo>
                  <a:pt x="118173" y="3301492"/>
                </a:lnTo>
                <a:lnTo>
                  <a:pt x="102044" y="3192145"/>
                </a:lnTo>
                <a:lnTo>
                  <a:pt x="87693" y="3082290"/>
                </a:lnTo>
                <a:lnTo>
                  <a:pt x="75247" y="2972181"/>
                </a:lnTo>
                <a:lnTo>
                  <a:pt x="64490" y="2861564"/>
                </a:lnTo>
                <a:lnTo>
                  <a:pt x="55664" y="2750820"/>
                </a:lnTo>
                <a:lnTo>
                  <a:pt x="48539" y="2639568"/>
                </a:lnTo>
                <a:lnTo>
                  <a:pt x="41135" y="2467229"/>
                </a:lnTo>
                <a:lnTo>
                  <a:pt x="38100" y="2295271"/>
                </a:lnTo>
                <a:lnTo>
                  <a:pt x="39535" y="2123440"/>
                </a:lnTo>
                <a:lnTo>
                  <a:pt x="45237" y="1953006"/>
                </a:lnTo>
                <a:lnTo>
                  <a:pt x="55308" y="1782953"/>
                </a:lnTo>
                <a:lnTo>
                  <a:pt x="69659" y="1613789"/>
                </a:lnTo>
                <a:lnTo>
                  <a:pt x="88328" y="1445768"/>
                </a:lnTo>
                <a:lnTo>
                  <a:pt x="111315" y="1278890"/>
                </a:lnTo>
                <a:lnTo>
                  <a:pt x="138493" y="1113409"/>
                </a:lnTo>
                <a:lnTo>
                  <a:pt x="169735" y="949579"/>
                </a:lnTo>
                <a:lnTo>
                  <a:pt x="205422" y="787273"/>
                </a:lnTo>
                <a:lnTo>
                  <a:pt x="245046" y="626872"/>
                </a:lnTo>
                <a:lnTo>
                  <a:pt x="288988" y="468375"/>
                </a:lnTo>
                <a:lnTo>
                  <a:pt x="336867" y="312166"/>
                </a:lnTo>
                <a:lnTo>
                  <a:pt x="389064" y="158115"/>
                </a:lnTo>
                <a:lnTo>
                  <a:pt x="405462" y="113723"/>
                </a:lnTo>
                <a:lnTo>
                  <a:pt x="369782" y="100491"/>
                </a:lnTo>
                <a:close/>
              </a:path>
              <a:path w="441325" h="4375785">
                <a:moveTo>
                  <a:pt x="436385" y="82677"/>
                </a:moveTo>
                <a:lnTo>
                  <a:pt x="376364" y="82677"/>
                </a:lnTo>
                <a:lnTo>
                  <a:pt x="412051" y="95885"/>
                </a:lnTo>
                <a:lnTo>
                  <a:pt x="405462" y="113723"/>
                </a:lnTo>
                <a:lnTo>
                  <a:pt x="441261" y="127000"/>
                </a:lnTo>
                <a:lnTo>
                  <a:pt x="436385" y="82677"/>
                </a:lnTo>
                <a:close/>
              </a:path>
              <a:path w="441325" h="4375785">
                <a:moveTo>
                  <a:pt x="376364" y="82677"/>
                </a:moveTo>
                <a:lnTo>
                  <a:pt x="369782" y="100491"/>
                </a:lnTo>
                <a:lnTo>
                  <a:pt x="405462" y="113723"/>
                </a:lnTo>
                <a:lnTo>
                  <a:pt x="412051" y="95885"/>
                </a:lnTo>
                <a:lnTo>
                  <a:pt x="376364" y="82677"/>
                </a:lnTo>
                <a:close/>
              </a:path>
              <a:path w="441325" h="4375785">
                <a:moveTo>
                  <a:pt x="427291" y="0"/>
                </a:moveTo>
                <a:lnTo>
                  <a:pt x="334073" y="87249"/>
                </a:lnTo>
                <a:lnTo>
                  <a:pt x="369782" y="100491"/>
                </a:lnTo>
                <a:lnTo>
                  <a:pt x="376364" y="82677"/>
                </a:lnTo>
                <a:lnTo>
                  <a:pt x="436385" y="82677"/>
                </a:lnTo>
                <a:lnTo>
                  <a:pt x="427291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530852" y="1307591"/>
            <a:ext cx="723138" cy="78714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856988" y="1350263"/>
            <a:ext cx="529577" cy="54025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4713732" y="1294003"/>
            <a:ext cx="471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b="1" baseline="-17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850" b="1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640585" y="1664970"/>
            <a:ext cx="2954020" cy="0"/>
          </a:xfrm>
          <a:custGeom>
            <a:avLst/>
            <a:gdLst/>
            <a:ahLst/>
            <a:cxnLst/>
            <a:rect l="l" t="t" r="r" b="b"/>
            <a:pathLst>
              <a:path w="2954020">
                <a:moveTo>
                  <a:pt x="0" y="0"/>
                </a:moveTo>
                <a:lnTo>
                  <a:pt x="2953512" y="0"/>
                </a:lnTo>
              </a:path>
            </a:pathLst>
          </a:custGeom>
          <a:ln w="38100">
            <a:solidFill>
              <a:srgbClr val="FF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567433" y="5985509"/>
            <a:ext cx="3027045" cy="0"/>
          </a:xfrm>
          <a:custGeom>
            <a:avLst/>
            <a:gdLst/>
            <a:ahLst/>
            <a:cxnLst/>
            <a:rect l="l" t="t" r="r" b="b"/>
            <a:pathLst>
              <a:path w="3027045">
                <a:moveTo>
                  <a:pt x="0" y="0"/>
                </a:moveTo>
                <a:lnTo>
                  <a:pt x="3026664" y="0"/>
                </a:lnTo>
              </a:path>
            </a:pathLst>
          </a:custGeom>
          <a:ln w="38100">
            <a:solidFill>
              <a:srgbClr val="FF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547615" y="5628132"/>
            <a:ext cx="723138" cy="78714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875276" y="5670803"/>
            <a:ext cx="595122" cy="53872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4731765" y="5614517"/>
            <a:ext cx="471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b="1" baseline="-17000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850" b="1" dirty="0">
                <a:solidFill>
                  <a:srgbClr val="FF0066"/>
                </a:solidFill>
                <a:latin typeface="Arial" panose="020B0604020202090204"/>
                <a:cs typeface="Arial" panose="020B0604020202090204"/>
              </a:rPr>
              <a:t>+</a:t>
            </a:r>
            <a:endParaRPr sz="1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749797" y="1652651"/>
            <a:ext cx="421005" cy="4372610"/>
          </a:xfrm>
          <a:custGeom>
            <a:avLst/>
            <a:gdLst/>
            <a:ahLst/>
            <a:cxnLst/>
            <a:rect l="l" t="t" r="r" b="b"/>
            <a:pathLst>
              <a:path w="421004" h="4372610">
                <a:moveTo>
                  <a:pt x="66421" y="0"/>
                </a:moveTo>
                <a:lnTo>
                  <a:pt x="30352" y="12064"/>
                </a:lnTo>
                <a:lnTo>
                  <a:pt x="72643" y="138049"/>
                </a:lnTo>
                <a:lnTo>
                  <a:pt x="78231" y="156337"/>
                </a:lnTo>
                <a:lnTo>
                  <a:pt x="114680" y="144907"/>
                </a:lnTo>
                <a:lnTo>
                  <a:pt x="108712" y="125857"/>
                </a:lnTo>
                <a:lnTo>
                  <a:pt x="66421" y="0"/>
                </a:lnTo>
                <a:close/>
              </a:path>
              <a:path w="421004" h="4372610">
                <a:moveTo>
                  <a:pt x="148843" y="254508"/>
                </a:moveTo>
                <a:lnTo>
                  <a:pt x="112140" y="265049"/>
                </a:lnTo>
                <a:lnTo>
                  <a:pt x="148971" y="393191"/>
                </a:lnTo>
                <a:lnTo>
                  <a:pt x="153797" y="411225"/>
                </a:lnTo>
                <a:lnTo>
                  <a:pt x="190626" y="401447"/>
                </a:lnTo>
                <a:lnTo>
                  <a:pt x="185674" y="382777"/>
                </a:lnTo>
                <a:lnTo>
                  <a:pt x="148843" y="254508"/>
                </a:lnTo>
                <a:close/>
              </a:path>
              <a:path w="421004" h="4372610">
                <a:moveTo>
                  <a:pt x="219837" y="511937"/>
                </a:moveTo>
                <a:lnTo>
                  <a:pt x="183006" y="521715"/>
                </a:lnTo>
                <a:lnTo>
                  <a:pt x="214884" y="653414"/>
                </a:lnTo>
                <a:lnTo>
                  <a:pt x="218312" y="669163"/>
                </a:lnTo>
                <a:lnTo>
                  <a:pt x="255524" y="660908"/>
                </a:lnTo>
                <a:lnTo>
                  <a:pt x="251967" y="644398"/>
                </a:lnTo>
                <a:lnTo>
                  <a:pt x="220090" y="513079"/>
                </a:lnTo>
                <a:lnTo>
                  <a:pt x="219837" y="511937"/>
                </a:lnTo>
                <a:close/>
              </a:path>
              <a:path w="421004" h="4372610">
                <a:moveTo>
                  <a:pt x="280035" y="772540"/>
                </a:moveTo>
                <a:lnTo>
                  <a:pt x="242824" y="780796"/>
                </a:lnTo>
                <a:lnTo>
                  <a:pt x="243712" y="785113"/>
                </a:lnTo>
                <a:lnTo>
                  <a:pt x="270128" y="917701"/>
                </a:lnTo>
                <a:lnTo>
                  <a:pt x="272161" y="929513"/>
                </a:lnTo>
                <a:lnTo>
                  <a:pt x="309625" y="922909"/>
                </a:lnTo>
                <a:lnTo>
                  <a:pt x="307466" y="910336"/>
                </a:lnTo>
                <a:lnTo>
                  <a:pt x="281050" y="776859"/>
                </a:lnTo>
                <a:lnTo>
                  <a:pt x="280035" y="772540"/>
                </a:lnTo>
                <a:close/>
              </a:path>
              <a:path w="421004" h="4372610">
                <a:moveTo>
                  <a:pt x="329438" y="1035431"/>
                </a:moveTo>
                <a:lnTo>
                  <a:pt x="291846" y="1042035"/>
                </a:lnTo>
                <a:lnTo>
                  <a:pt x="293497" y="1051306"/>
                </a:lnTo>
                <a:lnTo>
                  <a:pt x="314325" y="1185799"/>
                </a:lnTo>
                <a:lnTo>
                  <a:pt x="315087" y="1191895"/>
                </a:lnTo>
                <a:lnTo>
                  <a:pt x="352932" y="1186814"/>
                </a:lnTo>
                <a:lnTo>
                  <a:pt x="351916" y="1180084"/>
                </a:lnTo>
                <a:lnTo>
                  <a:pt x="331088" y="1044828"/>
                </a:lnTo>
                <a:lnTo>
                  <a:pt x="329438" y="1035431"/>
                </a:lnTo>
                <a:close/>
              </a:path>
              <a:path w="421004" h="4372610">
                <a:moveTo>
                  <a:pt x="368046" y="1300099"/>
                </a:moveTo>
                <a:lnTo>
                  <a:pt x="330326" y="1305178"/>
                </a:lnTo>
                <a:lnTo>
                  <a:pt x="332486" y="1321053"/>
                </a:lnTo>
                <a:lnTo>
                  <a:pt x="347725" y="1456182"/>
                </a:lnTo>
                <a:lnTo>
                  <a:pt x="385572" y="1451990"/>
                </a:lnTo>
                <a:lnTo>
                  <a:pt x="370204" y="1315974"/>
                </a:lnTo>
                <a:lnTo>
                  <a:pt x="368046" y="1300099"/>
                </a:lnTo>
                <a:close/>
              </a:path>
              <a:path w="421004" h="4372610">
                <a:moveTo>
                  <a:pt x="396113" y="1566164"/>
                </a:moveTo>
                <a:lnTo>
                  <a:pt x="358139" y="1569593"/>
                </a:lnTo>
                <a:lnTo>
                  <a:pt x="360425" y="1593469"/>
                </a:lnTo>
                <a:lnTo>
                  <a:pt x="369442" y="1721231"/>
                </a:lnTo>
                <a:lnTo>
                  <a:pt x="407542" y="1718437"/>
                </a:lnTo>
                <a:lnTo>
                  <a:pt x="398272" y="1589913"/>
                </a:lnTo>
                <a:lnTo>
                  <a:pt x="396113" y="1566164"/>
                </a:lnTo>
                <a:close/>
              </a:path>
              <a:path w="421004" h="4372610">
                <a:moveTo>
                  <a:pt x="413512" y="1832990"/>
                </a:moveTo>
                <a:lnTo>
                  <a:pt x="375538" y="1834896"/>
                </a:lnTo>
                <a:lnTo>
                  <a:pt x="377189" y="1868043"/>
                </a:lnTo>
                <a:lnTo>
                  <a:pt x="380746" y="1986915"/>
                </a:lnTo>
                <a:lnTo>
                  <a:pt x="418846" y="1985645"/>
                </a:lnTo>
                <a:lnTo>
                  <a:pt x="415289" y="1866011"/>
                </a:lnTo>
                <a:lnTo>
                  <a:pt x="413512" y="1832990"/>
                </a:lnTo>
                <a:close/>
              </a:path>
              <a:path w="421004" h="4372610">
                <a:moveTo>
                  <a:pt x="420369" y="2100326"/>
                </a:moveTo>
                <a:lnTo>
                  <a:pt x="382269" y="2100707"/>
                </a:lnTo>
                <a:lnTo>
                  <a:pt x="382777" y="2144014"/>
                </a:lnTo>
                <a:lnTo>
                  <a:pt x="381635" y="2252726"/>
                </a:lnTo>
                <a:lnTo>
                  <a:pt x="419735" y="2253107"/>
                </a:lnTo>
                <a:lnTo>
                  <a:pt x="420877" y="2143633"/>
                </a:lnTo>
                <a:lnTo>
                  <a:pt x="420369" y="2100326"/>
                </a:lnTo>
                <a:close/>
              </a:path>
              <a:path w="421004" h="4372610">
                <a:moveTo>
                  <a:pt x="378713" y="2366645"/>
                </a:moveTo>
                <a:lnTo>
                  <a:pt x="376554" y="2432685"/>
                </a:lnTo>
                <a:lnTo>
                  <a:pt x="371982" y="2518410"/>
                </a:lnTo>
                <a:lnTo>
                  <a:pt x="410082" y="2520442"/>
                </a:lnTo>
                <a:lnTo>
                  <a:pt x="414654" y="2433955"/>
                </a:lnTo>
                <a:lnTo>
                  <a:pt x="416813" y="2367788"/>
                </a:lnTo>
                <a:lnTo>
                  <a:pt x="378713" y="2366645"/>
                </a:lnTo>
                <a:close/>
              </a:path>
              <a:path w="421004" h="4372610">
                <a:moveTo>
                  <a:pt x="364743" y="2632075"/>
                </a:moveTo>
                <a:lnTo>
                  <a:pt x="358139" y="2719705"/>
                </a:lnTo>
                <a:lnTo>
                  <a:pt x="352043" y="2783586"/>
                </a:lnTo>
                <a:lnTo>
                  <a:pt x="390016" y="2787142"/>
                </a:lnTo>
                <a:lnTo>
                  <a:pt x="396113" y="2722499"/>
                </a:lnTo>
                <a:lnTo>
                  <a:pt x="402716" y="2634996"/>
                </a:lnTo>
                <a:lnTo>
                  <a:pt x="364743" y="2632075"/>
                </a:lnTo>
                <a:close/>
              </a:path>
              <a:path w="421004" h="4372610">
                <a:moveTo>
                  <a:pt x="340360" y="2896870"/>
                </a:moveTo>
                <a:lnTo>
                  <a:pt x="327660" y="3004312"/>
                </a:lnTo>
                <a:lnTo>
                  <a:pt x="321563" y="3047619"/>
                </a:lnTo>
                <a:lnTo>
                  <a:pt x="359282" y="3052953"/>
                </a:lnTo>
                <a:lnTo>
                  <a:pt x="365505" y="3008757"/>
                </a:lnTo>
                <a:lnTo>
                  <a:pt x="378205" y="2901315"/>
                </a:lnTo>
                <a:lnTo>
                  <a:pt x="340360" y="2896870"/>
                </a:lnTo>
                <a:close/>
              </a:path>
              <a:path w="421004" h="4372610">
                <a:moveTo>
                  <a:pt x="305435" y="3160395"/>
                </a:moveTo>
                <a:lnTo>
                  <a:pt x="285241" y="3285744"/>
                </a:lnTo>
                <a:lnTo>
                  <a:pt x="280669" y="3310381"/>
                </a:lnTo>
                <a:lnTo>
                  <a:pt x="318135" y="3317240"/>
                </a:lnTo>
                <a:lnTo>
                  <a:pt x="322834" y="3291840"/>
                </a:lnTo>
                <a:lnTo>
                  <a:pt x="343153" y="3166491"/>
                </a:lnTo>
                <a:lnTo>
                  <a:pt x="305435" y="3160395"/>
                </a:lnTo>
                <a:close/>
              </a:path>
              <a:path w="421004" h="4372610">
                <a:moveTo>
                  <a:pt x="259841" y="3422777"/>
                </a:moveTo>
                <a:lnTo>
                  <a:pt x="259461" y="3425063"/>
                </a:lnTo>
                <a:lnTo>
                  <a:pt x="230759" y="3563366"/>
                </a:lnTo>
                <a:lnTo>
                  <a:pt x="228980" y="3571113"/>
                </a:lnTo>
                <a:lnTo>
                  <a:pt x="266064" y="3579622"/>
                </a:lnTo>
                <a:lnTo>
                  <a:pt x="268097" y="3571113"/>
                </a:lnTo>
                <a:lnTo>
                  <a:pt x="296925" y="3432048"/>
                </a:lnTo>
                <a:lnTo>
                  <a:pt x="297306" y="3429635"/>
                </a:lnTo>
                <a:lnTo>
                  <a:pt x="259841" y="3422777"/>
                </a:lnTo>
                <a:close/>
              </a:path>
              <a:path w="421004" h="4372610">
                <a:moveTo>
                  <a:pt x="203326" y="3682492"/>
                </a:moveTo>
                <a:lnTo>
                  <a:pt x="199136" y="3700526"/>
                </a:lnTo>
                <a:lnTo>
                  <a:pt x="166369" y="3829939"/>
                </a:lnTo>
                <a:lnTo>
                  <a:pt x="203326" y="3839210"/>
                </a:lnTo>
                <a:lnTo>
                  <a:pt x="236219" y="3709035"/>
                </a:lnTo>
                <a:lnTo>
                  <a:pt x="240411" y="3691001"/>
                </a:lnTo>
                <a:lnTo>
                  <a:pt x="203326" y="3682492"/>
                </a:lnTo>
                <a:close/>
              </a:path>
              <a:path w="421004" h="4372610">
                <a:moveTo>
                  <a:pt x="136016" y="3939641"/>
                </a:moveTo>
                <a:lnTo>
                  <a:pt x="127253" y="3971048"/>
                </a:lnTo>
                <a:lnTo>
                  <a:pt x="92710" y="4085323"/>
                </a:lnTo>
                <a:lnTo>
                  <a:pt x="129159" y="4096346"/>
                </a:lnTo>
                <a:lnTo>
                  <a:pt x="163956" y="3981246"/>
                </a:lnTo>
                <a:lnTo>
                  <a:pt x="172719" y="3949852"/>
                </a:lnTo>
                <a:lnTo>
                  <a:pt x="136016" y="3939641"/>
                </a:lnTo>
                <a:close/>
              </a:path>
              <a:path w="421004" h="4372610">
                <a:moveTo>
                  <a:pt x="0" y="4245660"/>
                </a:moveTo>
                <a:lnTo>
                  <a:pt x="15748" y="4372483"/>
                </a:lnTo>
                <a:lnTo>
                  <a:pt x="102378" y="4289031"/>
                </a:lnTo>
                <a:lnTo>
                  <a:pt x="65531" y="4289031"/>
                </a:lnTo>
                <a:lnTo>
                  <a:pt x="29590" y="4276331"/>
                </a:lnTo>
                <a:lnTo>
                  <a:pt x="35923" y="4258363"/>
                </a:lnTo>
                <a:lnTo>
                  <a:pt x="0" y="4245660"/>
                </a:lnTo>
                <a:close/>
              </a:path>
              <a:path w="421004" h="4372610">
                <a:moveTo>
                  <a:pt x="35923" y="4258363"/>
                </a:moveTo>
                <a:lnTo>
                  <a:pt x="29590" y="4276331"/>
                </a:lnTo>
                <a:lnTo>
                  <a:pt x="65531" y="4289031"/>
                </a:lnTo>
                <a:lnTo>
                  <a:pt x="71893" y="4271081"/>
                </a:lnTo>
                <a:lnTo>
                  <a:pt x="35923" y="4258363"/>
                </a:lnTo>
                <a:close/>
              </a:path>
              <a:path w="421004" h="4372610">
                <a:moveTo>
                  <a:pt x="71893" y="4271081"/>
                </a:moveTo>
                <a:lnTo>
                  <a:pt x="65531" y="4289031"/>
                </a:lnTo>
                <a:lnTo>
                  <a:pt x="102378" y="4289031"/>
                </a:lnTo>
                <a:lnTo>
                  <a:pt x="107823" y="4283786"/>
                </a:lnTo>
                <a:lnTo>
                  <a:pt x="71893" y="4271081"/>
                </a:lnTo>
                <a:close/>
              </a:path>
              <a:path w="421004" h="4372610">
                <a:moveTo>
                  <a:pt x="57657" y="4193667"/>
                </a:moveTo>
                <a:lnTo>
                  <a:pt x="43814" y="4235970"/>
                </a:lnTo>
                <a:lnTo>
                  <a:pt x="35923" y="4258363"/>
                </a:lnTo>
                <a:lnTo>
                  <a:pt x="71893" y="4271081"/>
                </a:lnTo>
                <a:lnTo>
                  <a:pt x="80137" y="4247819"/>
                </a:lnTo>
                <a:lnTo>
                  <a:pt x="93979" y="4205516"/>
                </a:lnTo>
                <a:lnTo>
                  <a:pt x="57657" y="419366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220461" y="5985509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>
                <a:moveTo>
                  <a:pt x="0" y="0"/>
                </a:moveTo>
                <a:lnTo>
                  <a:pt x="576072" y="0"/>
                </a:lnTo>
              </a:path>
            </a:pathLst>
          </a:custGeom>
          <a:ln w="38100">
            <a:solidFill>
              <a:srgbClr val="FF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148834" y="1663445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700" y="0"/>
                </a:lnTo>
              </a:path>
            </a:pathLst>
          </a:custGeom>
          <a:ln w="38100">
            <a:solidFill>
              <a:srgbClr val="FF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769355" y="1660525"/>
            <a:ext cx="403225" cy="4368800"/>
          </a:xfrm>
          <a:custGeom>
            <a:avLst/>
            <a:gdLst/>
            <a:ahLst/>
            <a:cxnLst/>
            <a:rect l="l" t="t" r="r" b="b"/>
            <a:pathLst>
              <a:path w="403225" h="4368800">
                <a:moveTo>
                  <a:pt x="49149" y="0"/>
                </a:moveTo>
                <a:lnTo>
                  <a:pt x="37084" y="3937"/>
                </a:lnTo>
                <a:lnTo>
                  <a:pt x="53213" y="52197"/>
                </a:lnTo>
                <a:lnTo>
                  <a:pt x="65278" y="48133"/>
                </a:lnTo>
                <a:lnTo>
                  <a:pt x="49149" y="0"/>
                </a:lnTo>
                <a:close/>
              </a:path>
              <a:path w="403225" h="4368800">
                <a:moveTo>
                  <a:pt x="77343" y="84200"/>
                </a:moveTo>
                <a:lnTo>
                  <a:pt x="65405" y="88264"/>
                </a:lnTo>
                <a:lnTo>
                  <a:pt x="79375" y="129921"/>
                </a:lnTo>
                <a:lnTo>
                  <a:pt x="81407" y="136398"/>
                </a:lnTo>
                <a:lnTo>
                  <a:pt x="93472" y="132587"/>
                </a:lnTo>
                <a:lnTo>
                  <a:pt x="91440" y="125857"/>
                </a:lnTo>
                <a:lnTo>
                  <a:pt x="77343" y="84200"/>
                </a:lnTo>
                <a:close/>
              </a:path>
              <a:path w="403225" h="4368800">
                <a:moveTo>
                  <a:pt x="104775" y="168910"/>
                </a:moveTo>
                <a:lnTo>
                  <a:pt x="92710" y="172720"/>
                </a:lnTo>
                <a:lnTo>
                  <a:pt x="107823" y="221234"/>
                </a:lnTo>
                <a:lnTo>
                  <a:pt x="119888" y="217424"/>
                </a:lnTo>
                <a:lnTo>
                  <a:pt x="104775" y="168910"/>
                </a:lnTo>
                <a:close/>
              </a:path>
              <a:path w="403225" h="4368800">
                <a:moveTo>
                  <a:pt x="131318" y="253873"/>
                </a:moveTo>
                <a:lnTo>
                  <a:pt x="119126" y="257428"/>
                </a:lnTo>
                <a:lnTo>
                  <a:pt x="133223" y="306324"/>
                </a:lnTo>
                <a:lnTo>
                  <a:pt x="145415" y="302767"/>
                </a:lnTo>
                <a:lnTo>
                  <a:pt x="131318" y="253873"/>
                </a:lnTo>
                <a:close/>
              </a:path>
              <a:path w="403225" h="4368800">
                <a:moveTo>
                  <a:pt x="155956" y="339344"/>
                </a:moveTo>
                <a:lnTo>
                  <a:pt x="143764" y="342900"/>
                </a:lnTo>
                <a:lnTo>
                  <a:pt x="156083" y="385699"/>
                </a:lnTo>
                <a:lnTo>
                  <a:pt x="157607" y="391540"/>
                </a:lnTo>
                <a:lnTo>
                  <a:pt x="169926" y="388365"/>
                </a:lnTo>
                <a:lnTo>
                  <a:pt x="168275" y="382142"/>
                </a:lnTo>
                <a:lnTo>
                  <a:pt x="155956" y="339344"/>
                </a:lnTo>
                <a:close/>
              </a:path>
              <a:path w="403225" h="4368800">
                <a:moveTo>
                  <a:pt x="179578" y="425196"/>
                </a:moveTo>
                <a:lnTo>
                  <a:pt x="167386" y="428371"/>
                </a:lnTo>
                <a:lnTo>
                  <a:pt x="180340" y="477520"/>
                </a:lnTo>
                <a:lnTo>
                  <a:pt x="192659" y="474345"/>
                </a:lnTo>
                <a:lnTo>
                  <a:pt x="179578" y="425196"/>
                </a:lnTo>
                <a:close/>
              </a:path>
              <a:path w="403225" h="4368800">
                <a:moveTo>
                  <a:pt x="202438" y="511175"/>
                </a:moveTo>
                <a:lnTo>
                  <a:pt x="190119" y="514350"/>
                </a:lnTo>
                <a:lnTo>
                  <a:pt x="190373" y="515492"/>
                </a:lnTo>
                <a:lnTo>
                  <a:pt x="202057" y="563626"/>
                </a:lnTo>
                <a:lnTo>
                  <a:pt x="214376" y="560577"/>
                </a:lnTo>
                <a:lnTo>
                  <a:pt x="202438" y="511175"/>
                </a:lnTo>
                <a:close/>
              </a:path>
              <a:path w="403225" h="4368800">
                <a:moveTo>
                  <a:pt x="223393" y="597662"/>
                </a:moveTo>
                <a:lnTo>
                  <a:pt x="211074" y="600583"/>
                </a:lnTo>
                <a:lnTo>
                  <a:pt x="222123" y="646302"/>
                </a:lnTo>
                <a:lnTo>
                  <a:pt x="222885" y="649859"/>
                </a:lnTo>
                <a:lnTo>
                  <a:pt x="235331" y="647191"/>
                </a:lnTo>
                <a:lnTo>
                  <a:pt x="234442" y="643254"/>
                </a:lnTo>
                <a:lnTo>
                  <a:pt x="223393" y="597662"/>
                </a:lnTo>
                <a:close/>
              </a:path>
              <a:path w="403225" h="4368800">
                <a:moveTo>
                  <a:pt x="243459" y="684402"/>
                </a:moveTo>
                <a:lnTo>
                  <a:pt x="231013" y="687070"/>
                </a:lnTo>
                <a:lnTo>
                  <a:pt x="241935" y="736726"/>
                </a:lnTo>
                <a:lnTo>
                  <a:pt x="254381" y="733933"/>
                </a:lnTo>
                <a:lnTo>
                  <a:pt x="243459" y="684402"/>
                </a:lnTo>
                <a:close/>
              </a:path>
              <a:path w="403225" h="4368800">
                <a:moveTo>
                  <a:pt x="262509" y="771144"/>
                </a:moveTo>
                <a:lnTo>
                  <a:pt x="250190" y="773938"/>
                </a:lnTo>
                <a:lnTo>
                  <a:pt x="251079" y="778255"/>
                </a:lnTo>
                <a:lnTo>
                  <a:pt x="260096" y="823595"/>
                </a:lnTo>
                <a:lnTo>
                  <a:pt x="272542" y="821182"/>
                </a:lnTo>
                <a:lnTo>
                  <a:pt x="263525" y="775588"/>
                </a:lnTo>
                <a:lnTo>
                  <a:pt x="262509" y="771144"/>
                </a:lnTo>
                <a:close/>
              </a:path>
              <a:path w="403225" h="4368800">
                <a:moveTo>
                  <a:pt x="279908" y="858520"/>
                </a:moveTo>
                <a:lnTo>
                  <a:pt x="267462" y="860933"/>
                </a:lnTo>
                <a:lnTo>
                  <a:pt x="277241" y="910844"/>
                </a:lnTo>
                <a:lnTo>
                  <a:pt x="289687" y="908303"/>
                </a:lnTo>
                <a:lnTo>
                  <a:pt x="279908" y="858520"/>
                </a:lnTo>
                <a:close/>
              </a:path>
              <a:path w="403225" h="4368800">
                <a:moveTo>
                  <a:pt x="296418" y="946023"/>
                </a:moveTo>
                <a:lnTo>
                  <a:pt x="283845" y="948182"/>
                </a:lnTo>
                <a:lnTo>
                  <a:pt x="292735" y="998220"/>
                </a:lnTo>
                <a:lnTo>
                  <a:pt x="305181" y="996061"/>
                </a:lnTo>
                <a:lnTo>
                  <a:pt x="296418" y="946023"/>
                </a:lnTo>
                <a:close/>
              </a:path>
              <a:path w="403225" h="4368800">
                <a:moveTo>
                  <a:pt x="311785" y="1033526"/>
                </a:moveTo>
                <a:lnTo>
                  <a:pt x="299339" y="1035812"/>
                </a:lnTo>
                <a:lnTo>
                  <a:pt x="300990" y="1045083"/>
                </a:lnTo>
                <a:lnTo>
                  <a:pt x="307213" y="1085850"/>
                </a:lnTo>
                <a:lnTo>
                  <a:pt x="319786" y="1083817"/>
                </a:lnTo>
                <a:lnTo>
                  <a:pt x="313436" y="1042924"/>
                </a:lnTo>
                <a:lnTo>
                  <a:pt x="311785" y="1033526"/>
                </a:lnTo>
                <a:close/>
              </a:path>
              <a:path w="403225" h="4368800">
                <a:moveTo>
                  <a:pt x="325628" y="1121537"/>
                </a:moveTo>
                <a:lnTo>
                  <a:pt x="313055" y="1123441"/>
                </a:lnTo>
                <a:lnTo>
                  <a:pt x="320802" y="1173607"/>
                </a:lnTo>
                <a:lnTo>
                  <a:pt x="333375" y="1171702"/>
                </a:lnTo>
                <a:lnTo>
                  <a:pt x="325628" y="1121537"/>
                </a:lnTo>
                <a:close/>
              </a:path>
              <a:path w="403225" h="4368800">
                <a:moveTo>
                  <a:pt x="338582" y="1209548"/>
                </a:moveTo>
                <a:lnTo>
                  <a:pt x="326009" y="1211326"/>
                </a:lnTo>
                <a:lnTo>
                  <a:pt x="332740" y="1261617"/>
                </a:lnTo>
                <a:lnTo>
                  <a:pt x="345313" y="1259966"/>
                </a:lnTo>
                <a:lnTo>
                  <a:pt x="338582" y="1209548"/>
                </a:lnTo>
                <a:close/>
              </a:path>
              <a:path w="403225" h="4368800">
                <a:moveTo>
                  <a:pt x="350393" y="1297686"/>
                </a:moveTo>
                <a:lnTo>
                  <a:pt x="337820" y="1299337"/>
                </a:lnTo>
                <a:lnTo>
                  <a:pt x="339979" y="1315212"/>
                </a:lnTo>
                <a:lnTo>
                  <a:pt x="343789" y="1349755"/>
                </a:lnTo>
                <a:lnTo>
                  <a:pt x="356489" y="1348232"/>
                </a:lnTo>
                <a:lnTo>
                  <a:pt x="352552" y="1313561"/>
                </a:lnTo>
                <a:lnTo>
                  <a:pt x="350393" y="1297686"/>
                </a:lnTo>
                <a:close/>
              </a:path>
              <a:path w="403225" h="4368800">
                <a:moveTo>
                  <a:pt x="360680" y="1386077"/>
                </a:moveTo>
                <a:lnTo>
                  <a:pt x="348107" y="1387602"/>
                </a:lnTo>
                <a:lnTo>
                  <a:pt x="353822" y="1438021"/>
                </a:lnTo>
                <a:lnTo>
                  <a:pt x="366395" y="1436624"/>
                </a:lnTo>
                <a:lnTo>
                  <a:pt x="360680" y="1386077"/>
                </a:lnTo>
                <a:close/>
              </a:path>
              <a:path w="403225" h="4368800">
                <a:moveTo>
                  <a:pt x="370205" y="1474597"/>
                </a:moveTo>
                <a:lnTo>
                  <a:pt x="357505" y="1475866"/>
                </a:lnTo>
                <a:lnTo>
                  <a:pt x="362204" y="1526413"/>
                </a:lnTo>
                <a:lnTo>
                  <a:pt x="374904" y="1525270"/>
                </a:lnTo>
                <a:lnTo>
                  <a:pt x="370205" y="1474597"/>
                </a:lnTo>
                <a:close/>
              </a:path>
              <a:path w="403225" h="4368800">
                <a:moveTo>
                  <a:pt x="378333" y="1563115"/>
                </a:moveTo>
                <a:lnTo>
                  <a:pt x="365760" y="1564386"/>
                </a:lnTo>
                <a:lnTo>
                  <a:pt x="367919" y="1588135"/>
                </a:lnTo>
                <a:lnTo>
                  <a:pt x="369824" y="1614804"/>
                </a:lnTo>
                <a:lnTo>
                  <a:pt x="382524" y="1613915"/>
                </a:lnTo>
                <a:lnTo>
                  <a:pt x="380619" y="1586991"/>
                </a:lnTo>
                <a:lnTo>
                  <a:pt x="378333" y="1563115"/>
                </a:lnTo>
                <a:close/>
              </a:path>
              <a:path w="403225" h="4368800">
                <a:moveTo>
                  <a:pt x="385191" y="1651889"/>
                </a:moveTo>
                <a:lnTo>
                  <a:pt x="372618" y="1652904"/>
                </a:lnTo>
                <a:lnTo>
                  <a:pt x="376174" y="1703577"/>
                </a:lnTo>
                <a:lnTo>
                  <a:pt x="388874" y="1702562"/>
                </a:lnTo>
                <a:lnTo>
                  <a:pt x="385191" y="1651889"/>
                </a:lnTo>
                <a:close/>
              </a:path>
              <a:path w="403225" h="4368800">
                <a:moveTo>
                  <a:pt x="391287" y="1740789"/>
                </a:moveTo>
                <a:lnTo>
                  <a:pt x="378587" y="1741424"/>
                </a:lnTo>
                <a:lnTo>
                  <a:pt x="381127" y="1792097"/>
                </a:lnTo>
                <a:lnTo>
                  <a:pt x="393827" y="1791462"/>
                </a:lnTo>
                <a:lnTo>
                  <a:pt x="391287" y="1740789"/>
                </a:lnTo>
                <a:close/>
              </a:path>
              <a:path w="403225" h="4368800">
                <a:moveTo>
                  <a:pt x="395732" y="1829562"/>
                </a:moveTo>
                <a:lnTo>
                  <a:pt x="383032" y="1830197"/>
                </a:lnTo>
                <a:lnTo>
                  <a:pt x="384810" y="1863344"/>
                </a:lnTo>
                <a:lnTo>
                  <a:pt x="385318" y="1880870"/>
                </a:lnTo>
                <a:lnTo>
                  <a:pt x="398018" y="1880489"/>
                </a:lnTo>
                <a:lnTo>
                  <a:pt x="397510" y="1862582"/>
                </a:lnTo>
                <a:lnTo>
                  <a:pt x="395732" y="1829562"/>
                </a:lnTo>
                <a:close/>
              </a:path>
              <a:path w="403225" h="4368800">
                <a:moveTo>
                  <a:pt x="399161" y="1918462"/>
                </a:moveTo>
                <a:lnTo>
                  <a:pt x="386461" y="1918842"/>
                </a:lnTo>
                <a:lnTo>
                  <a:pt x="387985" y="1969643"/>
                </a:lnTo>
                <a:lnTo>
                  <a:pt x="400685" y="1969262"/>
                </a:lnTo>
                <a:lnTo>
                  <a:pt x="399161" y="1918462"/>
                </a:lnTo>
                <a:close/>
              </a:path>
              <a:path w="403225" h="4368800">
                <a:moveTo>
                  <a:pt x="401701" y="2007489"/>
                </a:moveTo>
                <a:lnTo>
                  <a:pt x="389001" y="2007616"/>
                </a:lnTo>
                <a:lnTo>
                  <a:pt x="389509" y="2058416"/>
                </a:lnTo>
                <a:lnTo>
                  <a:pt x="402209" y="2058289"/>
                </a:lnTo>
                <a:lnTo>
                  <a:pt x="401701" y="2007489"/>
                </a:lnTo>
                <a:close/>
              </a:path>
              <a:path w="403225" h="4368800">
                <a:moveTo>
                  <a:pt x="402590" y="2096389"/>
                </a:moveTo>
                <a:lnTo>
                  <a:pt x="389890" y="2096516"/>
                </a:lnTo>
                <a:lnTo>
                  <a:pt x="390396" y="2139696"/>
                </a:lnTo>
                <a:lnTo>
                  <a:pt x="390271" y="2147189"/>
                </a:lnTo>
                <a:lnTo>
                  <a:pt x="402971" y="2147316"/>
                </a:lnTo>
                <a:lnTo>
                  <a:pt x="403098" y="2139696"/>
                </a:lnTo>
                <a:lnTo>
                  <a:pt x="402590" y="2096389"/>
                </a:lnTo>
                <a:close/>
              </a:path>
              <a:path w="403225" h="4368800">
                <a:moveTo>
                  <a:pt x="389890" y="2185289"/>
                </a:moveTo>
                <a:lnTo>
                  <a:pt x="389382" y="2236089"/>
                </a:lnTo>
                <a:lnTo>
                  <a:pt x="402082" y="2236216"/>
                </a:lnTo>
                <a:lnTo>
                  <a:pt x="402590" y="2185416"/>
                </a:lnTo>
                <a:lnTo>
                  <a:pt x="389890" y="2185289"/>
                </a:lnTo>
                <a:close/>
              </a:path>
              <a:path w="403225" h="4368800">
                <a:moveTo>
                  <a:pt x="389001" y="2274189"/>
                </a:moveTo>
                <a:lnTo>
                  <a:pt x="388869" y="2284730"/>
                </a:lnTo>
                <a:lnTo>
                  <a:pt x="387604" y="2324862"/>
                </a:lnTo>
                <a:lnTo>
                  <a:pt x="400304" y="2325243"/>
                </a:lnTo>
                <a:lnTo>
                  <a:pt x="401575" y="2284603"/>
                </a:lnTo>
                <a:lnTo>
                  <a:pt x="401701" y="2274316"/>
                </a:lnTo>
                <a:lnTo>
                  <a:pt x="389001" y="2274189"/>
                </a:lnTo>
                <a:close/>
              </a:path>
              <a:path w="403225" h="4368800">
                <a:moveTo>
                  <a:pt x="386334" y="2362962"/>
                </a:moveTo>
                <a:lnTo>
                  <a:pt x="384683" y="2413635"/>
                </a:lnTo>
                <a:lnTo>
                  <a:pt x="397383" y="2414143"/>
                </a:lnTo>
                <a:lnTo>
                  <a:pt x="399034" y="2363343"/>
                </a:lnTo>
                <a:lnTo>
                  <a:pt x="386334" y="2362962"/>
                </a:lnTo>
                <a:close/>
              </a:path>
              <a:path w="403225" h="4368800">
                <a:moveTo>
                  <a:pt x="383032" y="2451608"/>
                </a:moveTo>
                <a:lnTo>
                  <a:pt x="380238" y="2502281"/>
                </a:lnTo>
                <a:lnTo>
                  <a:pt x="392938" y="2503043"/>
                </a:lnTo>
                <a:lnTo>
                  <a:pt x="395732" y="2452243"/>
                </a:lnTo>
                <a:lnTo>
                  <a:pt x="383032" y="2451608"/>
                </a:lnTo>
                <a:close/>
              </a:path>
              <a:path w="403225" h="4368800">
                <a:moveTo>
                  <a:pt x="378206" y="2540381"/>
                </a:moveTo>
                <a:lnTo>
                  <a:pt x="376555" y="2573147"/>
                </a:lnTo>
                <a:lnTo>
                  <a:pt x="375158" y="2590927"/>
                </a:lnTo>
                <a:lnTo>
                  <a:pt x="387858" y="2591943"/>
                </a:lnTo>
                <a:lnTo>
                  <a:pt x="389162" y="2573147"/>
                </a:lnTo>
                <a:lnTo>
                  <a:pt x="390906" y="2541016"/>
                </a:lnTo>
                <a:lnTo>
                  <a:pt x="378206" y="2540381"/>
                </a:lnTo>
                <a:close/>
              </a:path>
              <a:path w="403225" h="4368800">
                <a:moveTo>
                  <a:pt x="372364" y="2628900"/>
                </a:moveTo>
                <a:lnTo>
                  <a:pt x="368554" y="2679573"/>
                </a:lnTo>
                <a:lnTo>
                  <a:pt x="381127" y="2680589"/>
                </a:lnTo>
                <a:lnTo>
                  <a:pt x="384937" y="2629916"/>
                </a:lnTo>
                <a:lnTo>
                  <a:pt x="372364" y="2628900"/>
                </a:lnTo>
                <a:close/>
              </a:path>
              <a:path w="403225" h="4368800">
                <a:moveTo>
                  <a:pt x="365633" y="2717419"/>
                </a:moveTo>
                <a:lnTo>
                  <a:pt x="360807" y="2767965"/>
                </a:lnTo>
                <a:lnTo>
                  <a:pt x="373380" y="2769235"/>
                </a:lnTo>
                <a:lnTo>
                  <a:pt x="378333" y="2718689"/>
                </a:lnTo>
                <a:lnTo>
                  <a:pt x="365633" y="2717419"/>
                </a:lnTo>
                <a:close/>
              </a:path>
              <a:path w="403225" h="4368800">
                <a:moveTo>
                  <a:pt x="357124" y="2805938"/>
                </a:moveTo>
                <a:lnTo>
                  <a:pt x="352298" y="2856484"/>
                </a:lnTo>
                <a:lnTo>
                  <a:pt x="364871" y="2857754"/>
                </a:lnTo>
                <a:lnTo>
                  <a:pt x="369697" y="2807208"/>
                </a:lnTo>
                <a:lnTo>
                  <a:pt x="357124" y="2805938"/>
                </a:lnTo>
                <a:close/>
              </a:path>
              <a:path w="403225" h="4368800">
                <a:moveTo>
                  <a:pt x="347853" y="2894203"/>
                </a:moveTo>
                <a:lnTo>
                  <a:pt x="341884" y="2944622"/>
                </a:lnTo>
                <a:lnTo>
                  <a:pt x="354584" y="2946146"/>
                </a:lnTo>
                <a:lnTo>
                  <a:pt x="360426" y="2895727"/>
                </a:lnTo>
                <a:lnTo>
                  <a:pt x="347853" y="2894203"/>
                </a:lnTo>
                <a:close/>
              </a:path>
              <a:path w="403225" h="4368800">
                <a:moveTo>
                  <a:pt x="337439" y="2982468"/>
                </a:moveTo>
                <a:lnTo>
                  <a:pt x="335153" y="3001645"/>
                </a:lnTo>
                <a:lnTo>
                  <a:pt x="330835" y="3032760"/>
                </a:lnTo>
                <a:lnTo>
                  <a:pt x="343408" y="3034538"/>
                </a:lnTo>
                <a:lnTo>
                  <a:pt x="347853" y="3003169"/>
                </a:lnTo>
                <a:lnTo>
                  <a:pt x="350012" y="2983992"/>
                </a:lnTo>
                <a:lnTo>
                  <a:pt x="337439" y="2982468"/>
                </a:lnTo>
                <a:close/>
              </a:path>
              <a:path w="403225" h="4368800">
                <a:moveTo>
                  <a:pt x="325501" y="3070479"/>
                </a:moveTo>
                <a:lnTo>
                  <a:pt x="318516" y="3120771"/>
                </a:lnTo>
                <a:lnTo>
                  <a:pt x="331089" y="3122549"/>
                </a:lnTo>
                <a:lnTo>
                  <a:pt x="338074" y="3072257"/>
                </a:lnTo>
                <a:lnTo>
                  <a:pt x="325501" y="3070479"/>
                </a:lnTo>
                <a:close/>
              </a:path>
              <a:path w="403225" h="4368800">
                <a:moveTo>
                  <a:pt x="312801" y="3158363"/>
                </a:moveTo>
                <a:lnTo>
                  <a:pt x="304800" y="3208401"/>
                </a:lnTo>
                <a:lnTo>
                  <a:pt x="317246" y="3210433"/>
                </a:lnTo>
                <a:lnTo>
                  <a:pt x="325374" y="3160395"/>
                </a:lnTo>
                <a:lnTo>
                  <a:pt x="312801" y="3158363"/>
                </a:lnTo>
                <a:close/>
              </a:path>
              <a:path w="403225" h="4368800">
                <a:moveTo>
                  <a:pt x="298704" y="3246120"/>
                </a:moveTo>
                <a:lnTo>
                  <a:pt x="292608" y="3283712"/>
                </a:lnTo>
                <a:lnTo>
                  <a:pt x="290322" y="3296030"/>
                </a:lnTo>
                <a:lnTo>
                  <a:pt x="302768" y="3298317"/>
                </a:lnTo>
                <a:lnTo>
                  <a:pt x="305054" y="3285744"/>
                </a:lnTo>
                <a:lnTo>
                  <a:pt x="311150" y="3248152"/>
                </a:lnTo>
                <a:lnTo>
                  <a:pt x="298704" y="3246120"/>
                </a:lnTo>
                <a:close/>
              </a:path>
              <a:path w="403225" h="4368800">
                <a:moveTo>
                  <a:pt x="283337" y="3333496"/>
                </a:moveTo>
                <a:lnTo>
                  <a:pt x="274193" y="3383406"/>
                </a:lnTo>
                <a:lnTo>
                  <a:pt x="286639" y="3385820"/>
                </a:lnTo>
                <a:lnTo>
                  <a:pt x="295910" y="3335781"/>
                </a:lnTo>
                <a:lnTo>
                  <a:pt x="283337" y="3333496"/>
                </a:lnTo>
                <a:close/>
              </a:path>
              <a:path w="403225" h="4368800">
                <a:moveTo>
                  <a:pt x="267208" y="3420872"/>
                </a:moveTo>
                <a:lnTo>
                  <a:pt x="266827" y="3423285"/>
                </a:lnTo>
                <a:lnTo>
                  <a:pt x="256921" y="3470529"/>
                </a:lnTo>
                <a:lnTo>
                  <a:pt x="269367" y="3473069"/>
                </a:lnTo>
                <a:lnTo>
                  <a:pt x="279273" y="3425698"/>
                </a:lnTo>
                <a:lnTo>
                  <a:pt x="279654" y="3423285"/>
                </a:lnTo>
                <a:lnTo>
                  <a:pt x="267208" y="3420872"/>
                </a:lnTo>
                <a:close/>
              </a:path>
              <a:path w="403225" h="4368800">
                <a:moveTo>
                  <a:pt x="249301" y="3507867"/>
                </a:moveTo>
                <a:lnTo>
                  <a:pt x="238887" y="3557524"/>
                </a:lnTo>
                <a:lnTo>
                  <a:pt x="251333" y="3560191"/>
                </a:lnTo>
                <a:lnTo>
                  <a:pt x="261620" y="3510406"/>
                </a:lnTo>
                <a:lnTo>
                  <a:pt x="249301" y="3507867"/>
                </a:lnTo>
                <a:close/>
              </a:path>
              <a:path w="403225" h="4368800">
                <a:moveTo>
                  <a:pt x="230505" y="3594608"/>
                </a:moveTo>
                <a:lnTo>
                  <a:pt x="219075" y="3644138"/>
                </a:lnTo>
                <a:lnTo>
                  <a:pt x="231394" y="3646931"/>
                </a:lnTo>
                <a:lnTo>
                  <a:pt x="242824" y="3597402"/>
                </a:lnTo>
                <a:lnTo>
                  <a:pt x="230505" y="3594608"/>
                </a:lnTo>
                <a:close/>
              </a:path>
              <a:path w="403225" h="4368800">
                <a:moveTo>
                  <a:pt x="210566" y="3681222"/>
                </a:moveTo>
                <a:lnTo>
                  <a:pt x="206375" y="3699255"/>
                </a:lnTo>
                <a:lnTo>
                  <a:pt x="198501" y="3730371"/>
                </a:lnTo>
                <a:lnTo>
                  <a:pt x="210820" y="3733546"/>
                </a:lnTo>
                <a:lnTo>
                  <a:pt x="218694" y="3702177"/>
                </a:lnTo>
                <a:lnTo>
                  <a:pt x="222885" y="3684016"/>
                </a:lnTo>
                <a:lnTo>
                  <a:pt x="210566" y="3681222"/>
                </a:lnTo>
                <a:close/>
              </a:path>
              <a:path w="403225" h="4368800">
                <a:moveTo>
                  <a:pt x="189103" y="3767328"/>
                </a:moveTo>
                <a:lnTo>
                  <a:pt x="176657" y="3816604"/>
                </a:lnTo>
                <a:lnTo>
                  <a:pt x="188976" y="3819652"/>
                </a:lnTo>
                <a:lnTo>
                  <a:pt x="201422" y="3770503"/>
                </a:lnTo>
                <a:lnTo>
                  <a:pt x="189103" y="3767328"/>
                </a:lnTo>
                <a:close/>
              </a:path>
              <a:path w="403225" h="4368800">
                <a:moveTo>
                  <a:pt x="166878" y="3853306"/>
                </a:moveTo>
                <a:lnTo>
                  <a:pt x="153289" y="3902202"/>
                </a:lnTo>
                <a:lnTo>
                  <a:pt x="165481" y="3905630"/>
                </a:lnTo>
                <a:lnTo>
                  <a:pt x="179070" y="3856736"/>
                </a:lnTo>
                <a:lnTo>
                  <a:pt x="166878" y="3853306"/>
                </a:lnTo>
                <a:close/>
              </a:path>
              <a:path w="403225" h="4368800">
                <a:moveTo>
                  <a:pt x="143002" y="3938930"/>
                </a:moveTo>
                <a:lnTo>
                  <a:pt x="134366" y="3970375"/>
                </a:lnTo>
                <a:lnTo>
                  <a:pt x="129032" y="3987609"/>
                </a:lnTo>
                <a:lnTo>
                  <a:pt x="141224" y="3991292"/>
                </a:lnTo>
                <a:lnTo>
                  <a:pt x="146558" y="3973779"/>
                </a:lnTo>
                <a:lnTo>
                  <a:pt x="155321" y="3942334"/>
                </a:lnTo>
                <a:lnTo>
                  <a:pt x="143002" y="3938930"/>
                </a:lnTo>
                <a:close/>
              </a:path>
              <a:path w="403225" h="4368800">
                <a:moveTo>
                  <a:pt x="117983" y="4024083"/>
                </a:moveTo>
                <a:lnTo>
                  <a:pt x="103378" y="4072699"/>
                </a:lnTo>
                <a:lnTo>
                  <a:pt x="115443" y="4076382"/>
                </a:lnTo>
                <a:lnTo>
                  <a:pt x="130175" y="4027754"/>
                </a:lnTo>
                <a:lnTo>
                  <a:pt x="117983" y="4024083"/>
                </a:lnTo>
                <a:close/>
              </a:path>
              <a:path w="403225" h="4368800">
                <a:moveTo>
                  <a:pt x="92202" y="4108983"/>
                </a:moveTo>
                <a:lnTo>
                  <a:pt x="76454" y="4157268"/>
                </a:lnTo>
                <a:lnTo>
                  <a:pt x="88519" y="4161218"/>
                </a:lnTo>
                <a:lnTo>
                  <a:pt x="104267" y="4112933"/>
                </a:lnTo>
                <a:lnTo>
                  <a:pt x="92202" y="4108983"/>
                </a:lnTo>
                <a:close/>
              </a:path>
              <a:path w="403225" h="4368800">
                <a:moveTo>
                  <a:pt x="64516" y="4193476"/>
                </a:moveTo>
                <a:lnTo>
                  <a:pt x="50673" y="4235856"/>
                </a:lnTo>
                <a:lnTo>
                  <a:pt x="48641" y="4241571"/>
                </a:lnTo>
                <a:lnTo>
                  <a:pt x="60579" y="4245800"/>
                </a:lnTo>
                <a:lnTo>
                  <a:pt x="62738" y="4239806"/>
                </a:lnTo>
                <a:lnTo>
                  <a:pt x="76581" y="4197426"/>
                </a:lnTo>
                <a:lnTo>
                  <a:pt x="64516" y="4193476"/>
                </a:lnTo>
                <a:close/>
              </a:path>
              <a:path w="403225" h="4368800">
                <a:moveTo>
                  <a:pt x="0" y="4283875"/>
                </a:moveTo>
                <a:lnTo>
                  <a:pt x="10541" y="4368419"/>
                </a:lnTo>
                <a:lnTo>
                  <a:pt x="70445" y="4310672"/>
                </a:lnTo>
                <a:lnTo>
                  <a:pt x="37719" y="4310672"/>
                </a:lnTo>
                <a:lnTo>
                  <a:pt x="25654" y="4306430"/>
                </a:lnTo>
                <a:lnTo>
                  <a:pt x="29912" y="4294450"/>
                </a:lnTo>
                <a:lnTo>
                  <a:pt x="0" y="4283875"/>
                </a:lnTo>
                <a:close/>
              </a:path>
              <a:path w="403225" h="4368800">
                <a:moveTo>
                  <a:pt x="29912" y="4294450"/>
                </a:moveTo>
                <a:lnTo>
                  <a:pt x="25654" y="4306430"/>
                </a:lnTo>
                <a:lnTo>
                  <a:pt x="37719" y="4310672"/>
                </a:lnTo>
                <a:lnTo>
                  <a:pt x="41921" y="4298695"/>
                </a:lnTo>
                <a:lnTo>
                  <a:pt x="29912" y="4294450"/>
                </a:lnTo>
                <a:close/>
              </a:path>
              <a:path w="403225" h="4368800">
                <a:moveTo>
                  <a:pt x="41921" y="4298695"/>
                </a:moveTo>
                <a:lnTo>
                  <a:pt x="37719" y="4310672"/>
                </a:lnTo>
                <a:lnTo>
                  <a:pt x="70445" y="4310672"/>
                </a:lnTo>
                <a:lnTo>
                  <a:pt x="71882" y="4309287"/>
                </a:lnTo>
                <a:lnTo>
                  <a:pt x="41921" y="4298695"/>
                </a:lnTo>
                <a:close/>
              </a:path>
              <a:path w="403225" h="4368800">
                <a:moveTo>
                  <a:pt x="35941" y="4277487"/>
                </a:moveTo>
                <a:lnTo>
                  <a:pt x="29912" y="4294450"/>
                </a:lnTo>
                <a:lnTo>
                  <a:pt x="41921" y="4298695"/>
                </a:lnTo>
                <a:lnTo>
                  <a:pt x="47879" y="4281716"/>
                </a:lnTo>
                <a:lnTo>
                  <a:pt x="35941" y="427748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233415" y="5989320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>
                <a:moveTo>
                  <a:pt x="0" y="0"/>
                </a:moveTo>
                <a:lnTo>
                  <a:pt x="577596" y="0"/>
                </a:lnTo>
              </a:path>
            </a:pathLst>
          </a:custGeom>
          <a:ln w="9144">
            <a:solidFill>
              <a:srgbClr val="FF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163311" y="1667255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700" y="0"/>
                </a:lnTo>
              </a:path>
            </a:pathLst>
          </a:custGeom>
          <a:ln w="9144">
            <a:solidFill>
              <a:srgbClr val="FF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678423" y="5109971"/>
            <a:ext cx="823594" cy="360045"/>
          </a:xfrm>
          <a:custGeom>
            <a:avLst/>
            <a:gdLst/>
            <a:ahLst/>
            <a:cxnLst/>
            <a:rect l="l" t="t" r="r" b="b"/>
            <a:pathLst>
              <a:path w="823595" h="360045">
                <a:moveTo>
                  <a:pt x="398399" y="0"/>
                </a:moveTo>
                <a:lnTo>
                  <a:pt x="357886" y="1523"/>
                </a:lnTo>
                <a:lnTo>
                  <a:pt x="318515" y="6222"/>
                </a:lnTo>
                <a:lnTo>
                  <a:pt x="280415" y="13969"/>
                </a:lnTo>
                <a:lnTo>
                  <a:pt x="226313" y="30479"/>
                </a:lnTo>
                <a:lnTo>
                  <a:pt x="176402" y="52831"/>
                </a:lnTo>
                <a:lnTo>
                  <a:pt x="131317" y="80517"/>
                </a:lnTo>
                <a:lnTo>
                  <a:pt x="91693" y="113029"/>
                </a:lnTo>
                <a:lnTo>
                  <a:pt x="58292" y="149605"/>
                </a:lnTo>
                <a:lnTo>
                  <a:pt x="31623" y="190118"/>
                </a:lnTo>
                <a:lnTo>
                  <a:pt x="12573" y="233933"/>
                </a:lnTo>
                <a:lnTo>
                  <a:pt x="2031" y="280415"/>
                </a:lnTo>
                <a:lnTo>
                  <a:pt x="0" y="312800"/>
                </a:lnTo>
                <a:lnTo>
                  <a:pt x="1270" y="336803"/>
                </a:lnTo>
                <a:lnTo>
                  <a:pt x="4699" y="359790"/>
                </a:lnTo>
                <a:lnTo>
                  <a:pt x="24256" y="356869"/>
                </a:lnTo>
                <a:lnTo>
                  <a:pt x="20827" y="333882"/>
                </a:lnTo>
                <a:lnTo>
                  <a:pt x="19812" y="311784"/>
                </a:lnTo>
                <a:lnTo>
                  <a:pt x="24129" y="267969"/>
                </a:lnTo>
                <a:lnTo>
                  <a:pt x="36702" y="225805"/>
                </a:lnTo>
                <a:lnTo>
                  <a:pt x="56768" y="186181"/>
                </a:lnTo>
                <a:lnTo>
                  <a:pt x="83947" y="149605"/>
                </a:lnTo>
                <a:lnTo>
                  <a:pt x="117475" y="116331"/>
                </a:lnTo>
                <a:lnTo>
                  <a:pt x="156845" y="87121"/>
                </a:lnTo>
                <a:lnTo>
                  <a:pt x="201422" y="62610"/>
                </a:lnTo>
                <a:lnTo>
                  <a:pt x="250571" y="42925"/>
                </a:lnTo>
                <a:lnTo>
                  <a:pt x="303529" y="29082"/>
                </a:lnTo>
                <a:lnTo>
                  <a:pt x="359790" y="21335"/>
                </a:lnTo>
                <a:lnTo>
                  <a:pt x="398652" y="19811"/>
                </a:lnTo>
                <a:lnTo>
                  <a:pt x="538358" y="19811"/>
                </a:lnTo>
                <a:lnTo>
                  <a:pt x="534670" y="18668"/>
                </a:lnTo>
                <a:lnTo>
                  <a:pt x="497459" y="9651"/>
                </a:lnTo>
                <a:lnTo>
                  <a:pt x="458724" y="3555"/>
                </a:lnTo>
                <a:lnTo>
                  <a:pt x="418718" y="380"/>
                </a:lnTo>
                <a:lnTo>
                  <a:pt x="398399" y="0"/>
                </a:lnTo>
                <a:close/>
              </a:path>
              <a:path w="823595" h="360045">
                <a:moveTo>
                  <a:pt x="747267" y="281431"/>
                </a:moveTo>
                <a:lnTo>
                  <a:pt x="782574" y="358901"/>
                </a:lnTo>
                <a:lnTo>
                  <a:pt x="817042" y="295655"/>
                </a:lnTo>
                <a:lnTo>
                  <a:pt x="794765" y="295655"/>
                </a:lnTo>
                <a:lnTo>
                  <a:pt x="774953" y="295274"/>
                </a:lnTo>
                <a:lnTo>
                  <a:pt x="775185" y="282410"/>
                </a:lnTo>
                <a:lnTo>
                  <a:pt x="747267" y="281431"/>
                </a:lnTo>
                <a:close/>
              </a:path>
              <a:path w="823595" h="360045">
                <a:moveTo>
                  <a:pt x="775185" y="282410"/>
                </a:moveTo>
                <a:lnTo>
                  <a:pt x="774953" y="295274"/>
                </a:lnTo>
                <a:lnTo>
                  <a:pt x="794765" y="295655"/>
                </a:lnTo>
                <a:lnTo>
                  <a:pt x="794992" y="283105"/>
                </a:lnTo>
                <a:lnTo>
                  <a:pt x="790738" y="282955"/>
                </a:lnTo>
                <a:lnTo>
                  <a:pt x="775335" y="282955"/>
                </a:lnTo>
                <a:lnTo>
                  <a:pt x="775249" y="282412"/>
                </a:lnTo>
                <a:close/>
              </a:path>
              <a:path w="823595" h="360045">
                <a:moveTo>
                  <a:pt x="794992" y="283105"/>
                </a:moveTo>
                <a:lnTo>
                  <a:pt x="794765" y="295655"/>
                </a:lnTo>
                <a:lnTo>
                  <a:pt x="817042" y="295655"/>
                </a:lnTo>
                <a:lnTo>
                  <a:pt x="823340" y="284098"/>
                </a:lnTo>
                <a:lnTo>
                  <a:pt x="794992" y="283105"/>
                </a:lnTo>
                <a:close/>
              </a:path>
              <a:path w="823595" h="360045">
                <a:moveTo>
                  <a:pt x="795020" y="281177"/>
                </a:moveTo>
                <a:lnTo>
                  <a:pt x="775208" y="281177"/>
                </a:lnTo>
                <a:lnTo>
                  <a:pt x="775296" y="282414"/>
                </a:lnTo>
                <a:lnTo>
                  <a:pt x="794992" y="283105"/>
                </a:lnTo>
                <a:lnTo>
                  <a:pt x="795020" y="281177"/>
                </a:lnTo>
                <a:close/>
              </a:path>
              <a:path w="823595" h="360045">
                <a:moveTo>
                  <a:pt x="775296" y="282414"/>
                </a:moveTo>
                <a:lnTo>
                  <a:pt x="775335" y="282955"/>
                </a:lnTo>
                <a:lnTo>
                  <a:pt x="790738" y="282955"/>
                </a:lnTo>
                <a:lnTo>
                  <a:pt x="775296" y="282414"/>
                </a:lnTo>
                <a:close/>
              </a:path>
              <a:path w="823595" h="360045">
                <a:moveTo>
                  <a:pt x="538358" y="19811"/>
                </a:moveTo>
                <a:lnTo>
                  <a:pt x="398652" y="19811"/>
                </a:lnTo>
                <a:lnTo>
                  <a:pt x="418338" y="20192"/>
                </a:lnTo>
                <a:lnTo>
                  <a:pt x="437641" y="21335"/>
                </a:lnTo>
                <a:lnTo>
                  <a:pt x="475488" y="25907"/>
                </a:lnTo>
                <a:lnTo>
                  <a:pt x="529589" y="37845"/>
                </a:lnTo>
                <a:lnTo>
                  <a:pt x="580136" y="55625"/>
                </a:lnTo>
                <a:lnTo>
                  <a:pt x="626237" y="78612"/>
                </a:lnTo>
                <a:lnTo>
                  <a:pt x="667385" y="106425"/>
                </a:lnTo>
                <a:lnTo>
                  <a:pt x="703072" y="138429"/>
                </a:lnTo>
                <a:lnTo>
                  <a:pt x="732281" y="174116"/>
                </a:lnTo>
                <a:lnTo>
                  <a:pt x="754634" y="212851"/>
                </a:lnTo>
                <a:lnTo>
                  <a:pt x="769747" y="254126"/>
                </a:lnTo>
                <a:lnTo>
                  <a:pt x="775192" y="282051"/>
                </a:lnTo>
                <a:lnTo>
                  <a:pt x="775208" y="281177"/>
                </a:lnTo>
                <a:lnTo>
                  <a:pt x="795020" y="281177"/>
                </a:lnTo>
                <a:lnTo>
                  <a:pt x="795020" y="280415"/>
                </a:lnTo>
                <a:lnTo>
                  <a:pt x="794892" y="279780"/>
                </a:lnTo>
                <a:lnTo>
                  <a:pt x="792352" y="264032"/>
                </a:lnTo>
                <a:lnTo>
                  <a:pt x="778763" y="218439"/>
                </a:lnTo>
                <a:lnTo>
                  <a:pt x="757174" y="175767"/>
                </a:lnTo>
                <a:lnTo>
                  <a:pt x="728090" y="136651"/>
                </a:lnTo>
                <a:lnTo>
                  <a:pt x="692403" y="101345"/>
                </a:lnTo>
                <a:lnTo>
                  <a:pt x="650875" y="70484"/>
                </a:lnTo>
                <a:lnTo>
                  <a:pt x="604138" y="44703"/>
                </a:lnTo>
                <a:lnTo>
                  <a:pt x="552703" y="24256"/>
                </a:lnTo>
                <a:lnTo>
                  <a:pt x="538358" y="19811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4996941" y="5483148"/>
            <a:ext cx="1682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7925" algn="l"/>
              </a:tabLst>
            </a:pPr>
            <a:r>
              <a:rPr sz="2000" b="1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2000" b="1" spc="5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2000" b="1" dirty="0">
                <a:solidFill>
                  <a:srgbClr val="003366"/>
                </a:solidFill>
                <a:latin typeface="Arial" panose="020B0604020202090204"/>
                <a:cs typeface="Arial" panose="020B0604020202090204"/>
              </a:rPr>
              <a:t>P+Pi	</a:t>
            </a:r>
            <a:r>
              <a:rPr sz="2000" b="1" spc="-140" dirty="0">
                <a:solidFill>
                  <a:srgbClr val="A40020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2000" b="1" dirty="0">
                <a:solidFill>
                  <a:srgbClr val="A40020"/>
                </a:solidFill>
                <a:latin typeface="Arial" panose="020B0604020202090204"/>
                <a:cs typeface="Arial" panose="020B0604020202090204"/>
              </a:rPr>
              <a:t>TP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33827" y="1616963"/>
            <a:ext cx="5140452" cy="44759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8560" y="420116"/>
            <a:ext cx="3355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 panose="02020503050405090304"/>
                <a:cs typeface="Times New Roman" panose="02020503050405090304"/>
              </a:rPr>
              <a:t>3.</a:t>
            </a:r>
            <a:r>
              <a:rPr sz="28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spc="5" dirty="0"/>
              <a:t>寡霉素</a:t>
            </a:r>
            <a:r>
              <a:rPr sz="2800" dirty="0">
                <a:latin typeface="Times New Roman" panose="02020503050405090304"/>
                <a:cs typeface="Times New Roman" panose="02020503050405090304"/>
              </a:rPr>
              <a:t>(oligomycin)</a:t>
            </a:r>
            <a:endParaRPr sz="28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4666" y="1059891"/>
            <a:ext cx="61575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黑体"/>
                <a:cs typeface="黑体"/>
              </a:rPr>
              <a:t>可阻止质子</a:t>
            </a:r>
            <a:r>
              <a:rPr sz="2400" b="1" dirty="0">
                <a:latin typeface="黑体"/>
                <a:cs typeface="黑体"/>
              </a:rPr>
              <a:t>从</a:t>
            </a:r>
            <a:r>
              <a:rPr sz="2400" b="1" spc="-5" dirty="0">
                <a:latin typeface="Times New Roman" panose="02020503050405090304"/>
                <a:cs typeface="Times New Roman" panose="02020503050405090304"/>
              </a:rPr>
              <a:t>F0</a:t>
            </a:r>
            <a:r>
              <a:rPr sz="2400" b="1" spc="-5" dirty="0">
                <a:latin typeface="黑体"/>
                <a:cs typeface="黑体"/>
              </a:rPr>
              <a:t>质子通道回</a:t>
            </a:r>
            <a:r>
              <a:rPr sz="2400" b="1" dirty="0">
                <a:latin typeface="黑体"/>
                <a:cs typeface="黑体"/>
              </a:rPr>
              <a:t>流</a:t>
            </a:r>
            <a:r>
              <a:rPr sz="2400" b="1" spc="-5" dirty="0">
                <a:latin typeface="黑体"/>
                <a:cs typeface="黑体"/>
              </a:rPr>
              <a:t>，抑</a:t>
            </a:r>
            <a:r>
              <a:rPr sz="2400" b="1" dirty="0">
                <a:latin typeface="黑体"/>
                <a:cs typeface="黑体"/>
              </a:rPr>
              <a:t>制</a:t>
            </a:r>
            <a:r>
              <a:rPr sz="2400" b="1" spc="-70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400" b="1" spc="-5" dirty="0">
                <a:latin typeface="黑体"/>
                <a:cs typeface="黑体"/>
              </a:rPr>
              <a:t>生成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52771" y="2752344"/>
            <a:ext cx="1779270" cy="8252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67655" y="2790444"/>
            <a:ext cx="1536953" cy="7871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77714" y="2864866"/>
            <a:ext cx="1095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00"/>
                </a:solidFill>
                <a:latin typeface="华文楷体" panose="02010600040101010101" charset="-122"/>
                <a:cs typeface="华文楷体" panose="02010600040101010101" charset="-122"/>
              </a:rPr>
              <a:t>寡霉素</a:t>
            </a:r>
            <a:endParaRPr sz="2800"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4961" y="6119571"/>
            <a:ext cx="3215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80" dirty="0">
                <a:latin typeface="Times New Roman" panose="02020503050405090304"/>
                <a:cs typeface="Times New Roman" panose="02020503050405090304"/>
              </a:rPr>
              <a:t>ATP</a:t>
            </a:r>
            <a:r>
              <a:rPr sz="2800" b="1" spc="5" dirty="0">
                <a:latin typeface="黑体"/>
                <a:cs typeface="黑体"/>
              </a:rPr>
              <a:t>合酶结构模式图</a:t>
            </a:r>
            <a:endParaRPr sz="2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7719" y="6301690"/>
            <a:ext cx="167640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400" dirty="0">
                <a:latin typeface="Garamond"/>
                <a:cs typeface="Garamond"/>
              </a:rPr>
              <a:t>53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92906"/>
            <a:ext cx="9144000" cy="656509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3879" y="2507995"/>
            <a:ext cx="31089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0000CC"/>
                </a:solidFill>
              </a:rPr>
              <a:t>本 章 结</a:t>
            </a:r>
            <a:r>
              <a:rPr spc="-60" dirty="0">
                <a:solidFill>
                  <a:srgbClr val="0000CC"/>
                </a:solidFill>
              </a:rPr>
              <a:t> </a:t>
            </a:r>
            <a:r>
              <a:rPr spc="-15" dirty="0">
                <a:solidFill>
                  <a:srgbClr val="0000CC"/>
                </a:solidFill>
              </a:rPr>
              <a:t>束</a:t>
            </a:r>
            <a:endParaRPr spc="-15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5149</Words>
  <Application>WPS 表格</Application>
  <PresentationFormat>On-screen Show (4:3)</PresentationFormat>
  <Paragraphs>926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82" baseType="lpstr">
      <vt:lpstr>Arial</vt:lpstr>
      <vt:lpstr>方正书宋_GBK</vt:lpstr>
      <vt:lpstr>Wingdings</vt:lpstr>
      <vt:lpstr>黑体</vt:lpstr>
      <vt:lpstr>汉仪中黑KW</vt:lpstr>
      <vt:lpstr>Times New Roman</vt:lpstr>
      <vt:lpstr>宋体</vt:lpstr>
      <vt:lpstr>Wingdings</vt:lpstr>
      <vt:lpstr>微软雅黑</vt:lpstr>
      <vt:lpstr>Arial</vt:lpstr>
      <vt:lpstr>汉仪书宋二KW</vt:lpstr>
      <vt:lpstr>Wingdings 3</vt:lpstr>
      <vt:lpstr>华文楷体</vt:lpstr>
      <vt:lpstr>MS Gothic</vt:lpstr>
      <vt:lpstr>冬青黑体简体中文</vt:lpstr>
      <vt:lpstr>Cambria Math</vt:lpstr>
      <vt:lpstr>Thonburi</vt:lpstr>
      <vt:lpstr>Calibri</vt:lpstr>
      <vt:lpstr>Verdana</vt:lpstr>
      <vt:lpstr>华文中宋</vt:lpstr>
      <vt:lpstr>Garamond</vt:lpstr>
      <vt:lpstr>Arial Rounded MT Bold</vt:lpstr>
      <vt:lpstr>宋体</vt:lpstr>
      <vt:lpstr>微软雅黑</vt:lpstr>
      <vt:lpstr>Arial Unicode MS</vt:lpstr>
      <vt:lpstr>Wingdings</vt:lpstr>
      <vt:lpstr>宋体-简</vt:lpstr>
      <vt:lpstr>苹方-简</vt:lpstr>
      <vt:lpstr>Office Theme</vt:lpstr>
      <vt:lpstr>PowerPoint 演示文稿</vt:lpstr>
      <vt:lpstr>第一节	概 述</vt:lpstr>
      <vt:lpstr>生物氧化（Biological	oxidation）主要指糖、脂肪、 蛋白质等在体内分解时逐步释放能量，最终生成CO2 和 H2O  的过程。这类反应进行过程中细胞要摄取O2，释放CO2故由 形象地称为细胞呼吸（cellular respiration）</vt:lpstr>
      <vt:lpstr>PowerPoint 演示文稿</vt:lpstr>
      <vt:lpstr>一、生物氧化的方式</vt:lpstr>
      <vt:lpstr>二、生物氧化的特点∶</vt:lpstr>
      <vt:lpstr>生物氧化的一般过程</vt:lpstr>
      <vt:lpstr>生物氧化的实质</vt:lpstr>
      <vt:lpstr>第二节	呼吸链及氧化磷酸化</vt:lpstr>
      <vt:lpstr>一、生物氧化发生的部位</vt:lpstr>
      <vt:lpstr>二、氧化呼吸链</vt:lpstr>
      <vt:lpstr>（一）呼吸链的组成</vt:lpstr>
      <vt:lpstr>PowerPoint 演示文稿</vt:lpstr>
      <vt:lpstr>1. 复合体Ⅰ:	NADH-泛醌还原酶</vt:lpstr>
      <vt:lpstr>PowerPoint 演示文稿</vt:lpstr>
      <vt:lpstr>NAD+（NADP+）和NADH（NADPH）相互转变</vt:lpstr>
      <vt:lpstr>PowerPoint 演示文稿</vt:lpstr>
      <vt:lpstr> 铁硫蛋白中辅基铁硫簇(Fe-S)含有等量铁原子和硫原 子，其中铁原子可进行Fe2+	Fe3++e 反应传递电子</vt:lpstr>
      <vt:lpstr>PowerPoint 演示文稿</vt:lpstr>
      <vt:lpstr>泛醌（辅酶Q, CoQ, Q）由多个异戊二烯连接形成较 长的疏水侧链（人CoQ10），氧化还原反应时可生成中间 产物半醌型泛醌。----不包含在上述的复合体中</vt:lpstr>
      <vt:lpstr>复合体Ⅰ（NADH-辅酶Q还原酶）</vt:lpstr>
      <vt:lpstr>2. 复合体Ⅱ: 琥珀酸-泛醌还原酶</vt:lpstr>
      <vt:lpstr>复合体Ⅱ（琥珀酸-辅酶Q还原酶）</vt:lpstr>
      <vt:lpstr>3. 复合体Ⅲ: 泛醌-细胞色素c还原酶</vt:lpstr>
      <vt:lpstr>细 胞 色 素</vt:lpstr>
      <vt:lpstr>PowerPoint 演示文稿</vt:lpstr>
      <vt:lpstr>4. 复合IV: 细胞色素c氧化酶</vt:lpstr>
      <vt:lpstr>4细胞色素c(Fe3+)+ 4H+ +O2	4细胞色素c(Fe2+) + 2H2O</vt:lpstr>
      <vt:lpstr>PowerPoint 演示文稿</vt:lpstr>
      <vt:lpstr>NADH链</vt:lpstr>
      <vt:lpstr>（二）呼吸链成分的排列顺序</vt:lpstr>
      <vt:lpstr>三、氧化磷酸化</vt:lpstr>
      <vt:lpstr>PowerPoint 演示文稿</vt:lpstr>
      <vt:lpstr>三、氧化磷酸化</vt:lpstr>
      <vt:lpstr>电子传递链自由能变化</vt:lpstr>
      <vt:lpstr>2. 氧化磷酸化的偶联机理</vt:lpstr>
      <vt:lpstr>化学渗透假说简单示意图</vt:lpstr>
      <vt:lpstr>化学渗透假说详细示意图</vt:lpstr>
      <vt:lpstr>PowerPoint 演示文稿</vt:lpstr>
      <vt:lpstr>PowerPoint 演示文稿</vt:lpstr>
      <vt:lpstr>当H+顺浓度递度经F0中a亚基 和c亚基之间回流时，γ亚基发生旋 转，3个β亚基的构象发生改变</vt:lpstr>
      <vt:lpstr>◼	磷氧比（P/O）</vt:lpstr>
      <vt:lpstr>四、胞浆中NADH如何进入线粒体氧化呼吸链的？</vt:lpstr>
      <vt:lpstr>1. α-磷酸甘油穿梭</vt:lpstr>
      <vt:lpstr>PowerPoint 演示文稿</vt:lpstr>
      <vt:lpstr>2. 苹果酸-天冬氨酸穿梭</vt:lpstr>
      <vt:lpstr>PowerPoint 演示文稿</vt:lpstr>
      <vt:lpstr>五、影响氧化磷酸化的因素</vt:lpstr>
      <vt:lpstr>1. 各种呼吸链抑制剂的阻断位点</vt:lpstr>
      <vt:lpstr>2. 解偶联剂破坏电子传递建立的跨膜质子电化学梯度</vt:lpstr>
      <vt:lpstr>解偶联蛋白作用机制（棕色脂肪组织线粒体）</vt:lpstr>
      <vt:lpstr>3. 寡霉素(oligomycin)</vt:lpstr>
      <vt:lpstr>本 章 结 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  七   章</dc:title>
  <dc:creator/>
  <cp:lastModifiedBy>yangshuhan</cp:lastModifiedBy>
  <cp:revision>1</cp:revision>
  <dcterms:created xsi:type="dcterms:W3CDTF">2019-11-04T13:11:30Z</dcterms:created>
  <dcterms:modified xsi:type="dcterms:W3CDTF">2019-11-04T13:11:30Z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1900-01-00T00:00:00Z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1900-01-00T00:00:00Z</vt:filetime>
  </property>
  <property fmtid="{D5CDD505-2E9C-101B-9397-08002B2CF9AE}" pid="5" name="KSOProductBuildVer">
    <vt:lpwstr>2052-1.6.1.2429</vt:lpwstr>
  </property>
</Properties>
</file>