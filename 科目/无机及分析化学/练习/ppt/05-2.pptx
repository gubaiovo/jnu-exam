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1"/>
  </p:notesMasterIdLst>
  <p:handoutMasterIdLst>
    <p:handoutMasterId r:id="rId32"/>
  </p:handoutMasterIdLst>
  <p:sldIdLst>
    <p:sldId id="290" r:id="rId3"/>
    <p:sldId id="277" r:id="rId4"/>
    <p:sldId id="279" r:id="rId5"/>
    <p:sldId id="280" r:id="rId6"/>
    <p:sldId id="281" r:id="rId7"/>
    <p:sldId id="291" r:id="rId8"/>
    <p:sldId id="282" r:id="rId9"/>
    <p:sldId id="287" r:id="rId10"/>
    <p:sldId id="288" r:id="rId11"/>
    <p:sldId id="289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</p:sldIdLst>
  <p:sldSz cx="11522075" cy="6480175"/>
  <p:notesSz cx="6797675" cy="9926638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FF0000"/>
    <a:srgbClr val="FFFFFF"/>
    <a:srgbClr val="F8F8F8"/>
    <a:srgbClr val="FF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9"/>
  </p:normalViewPr>
  <p:slideViewPr>
    <p:cSldViewPr showGuides="1">
      <p:cViewPr varScale="1">
        <p:scale>
          <a:sx n="73" d="100"/>
          <a:sy n="73" d="100"/>
        </p:scale>
        <p:origin x="750" y="66"/>
      </p:cViewPr>
      <p:guideLst>
        <p:guide orient="horz" pos="1992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BB05C-08DD-4561-B3F2-8737210D7032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CA9A1-E449-4A2F-8703-06330FD0B4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217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6D4527-87CC-4AA5-9340-226DED155B8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2021/11/22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0" lvl="0" indent="0" defTabSz="914400"/>
            <a:r>
              <a:rPr lang="zh-CN" altLang="en-US"/>
              <a:t>单击此处编辑母版文本样式</a:t>
            </a:r>
          </a:p>
          <a:p>
            <a:pPr lvl="1" indent="0" defTabSz="914400"/>
            <a:r>
              <a:rPr lang="zh-CN" altLang="en-US"/>
              <a:t>第二级</a:t>
            </a:r>
          </a:p>
          <a:p>
            <a:pPr lvl="2" indent="0" defTabSz="914400"/>
            <a:r>
              <a:rPr lang="zh-CN" altLang="en-US"/>
              <a:t>第三级</a:t>
            </a:r>
          </a:p>
          <a:p>
            <a:pPr lvl="3" indent="0" defTabSz="914400"/>
            <a:r>
              <a:rPr lang="zh-CN" altLang="en-US"/>
              <a:t>第四级</a:t>
            </a:r>
          </a:p>
          <a:p>
            <a:pPr lvl="4" indent="0" defTabSz="914400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pPr lvl="0" algn="r" fontAlgn="base"/>
              <a:t>‹#›</a:t>
            </a:fld>
            <a:endParaRPr lang="zh-CN" altLang="en-US" sz="1200" strike="noStrike" noProof="1"/>
          </a:p>
        </p:txBody>
      </p:sp>
    </p:spTree>
    <p:extLst>
      <p:ext uri="{BB962C8B-B14F-4D97-AF65-F5344CB8AC3E}">
        <p14:creationId xmlns:p14="http://schemas.microsoft.com/office/powerpoint/2010/main" val="7370077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eaLnBrk="0" hangingPunct="0"/>
            <a:r>
              <a:rPr lang="en-US" altLang="zh-CN" sz="1200" dirty="0"/>
              <a:t>商少明</a:t>
            </a:r>
          </a:p>
        </p:txBody>
      </p:sp>
      <p:sp>
        <p:nvSpPr>
          <p:cNvPr id="12290" name="Rectangle 3"/>
          <p:cNvSpPr txBox="1">
            <a:spLocks noGrp="1"/>
          </p:cNvSpPr>
          <p:nvPr>
            <p:ph type="dt" sz="half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algn="r" eaLnBrk="0" hangingPunct="0"/>
            <a:fld id="{BB962C8B-B14F-4D97-AF65-F5344CB8AC3E}" type="datetime1">
              <a:rPr lang="zh-CN" altLang="en-US" sz="1200" dirty="0"/>
              <a:pPr lvl="0" indent="0" algn="r" eaLnBrk="0" hangingPunct="0"/>
              <a:t>2021/11/22</a:t>
            </a:fld>
            <a:endParaRPr lang="zh-CN" altLang="en-US" sz="1200" dirty="0"/>
          </a:p>
        </p:txBody>
      </p:sp>
      <p:sp>
        <p:nvSpPr>
          <p:cNvPr id="1229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/>
              <a:pPr lvl="0" indent="0" algn="r"/>
              <a:t>3</a:t>
            </a:fld>
            <a:endParaRPr lang="en-US" altLang="zh-CN" sz="1200" dirty="0"/>
          </a:p>
        </p:txBody>
      </p:sp>
      <p:sp>
        <p:nvSpPr>
          <p:cNvPr id="1229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>
                <a:ea typeface="宋体" panose="02010600030101010101" pitchFamily="2" charset="-122"/>
              </a:rPr>
              <a:t>摩尔气体常数与法拉第常数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zh-CN"/>
              <a:t>商少明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03675E5-031E-4562-A3E0-EDF7D08A9E61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2F746E-11A5-4411-B23D-9E3382D42F82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找出求解问题与电极反应的关系。解法二是从求解问题入手。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2"/>
          <p:cNvGrpSpPr/>
          <p:nvPr userDrawn="1"/>
        </p:nvGrpSpPr>
        <p:grpSpPr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7" name="Freeform 1027"/>
            <p:cNvSpPr/>
            <p:nvPr userDrawn="1"/>
          </p:nvSpPr>
          <p:spPr>
            <a:xfrm>
              <a:off x="80" y="431"/>
              <a:ext cx="7080" cy="3174"/>
            </a:xfrm>
            <a:custGeom>
              <a:avLst/>
              <a:gdLst/>
              <a:ahLst/>
              <a:cxnLst>
                <a:cxn ang="0">
                  <a:pos x="9512" y="0"/>
                </a:cxn>
                <a:cxn ang="0">
                  <a:pos x="0" y="0"/>
                </a:cxn>
                <a:cxn ang="0">
                  <a:pos x="0" y="3383"/>
                </a:cxn>
              </a:cxnLst>
              <a:rect l="0" t="0" r="0" b="0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8" name="Group 1042"/>
            <p:cNvGrpSpPr/>
            <p:nvPr userDrawn="1"/>
          </p:nvGrpSpPr>
          <p:grpSpPr>
            <a:xfrm rot="5400000">
              <a:off x="3594" y="-3111"/>
              <a:ext cx="68" cy="7141"/>
              <a:chOff x="336" y="1103"/>
              <a:chExt cx="97" cy="2785"/>
            </a:xfrm>
          </p:grpSpPr>
          <p:sp>
            <p:nvSpPr>
              <p:cNvPr id="1029" name="Rectangle 1043"/>
              <p:cNvSpPr/>
              <p:nvPr userDrawn="1"/>
            </p:nvSpPr>
            <p:spPr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0" name="Freeform 1044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96" y="2784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Freeform 1045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2" name="Freeform 1028"/>
            <p:cNvSpPr/>
            <p:nvPr userDrawn="1"/>
          </p:nvSpPr>
          <p:spPr>
            <a:xfrm>
              <a:off x="96" y="431"/>
              <a:ext cx="7080" cy="3174"/>
            </a:xfrm>
            <a:custGeom>
              <a:avLst/>
              <a:gdLst/>
              <a:ahLst/>
              <a:cxnLst>
                <a:cxn ang="0">
                  <a:pos x="9512" y="0"/>
                </a:cxn>
                <a:cxn ang="0">
                  <a:pos x="9512" y="3383"/>
                </a:cxn>
                <a:cxn ang="0">
                  <a:pos x="0" y="3383"/>
                </a:cxn>
              </a:cxnLst>
              <a:rect l="0" t="0" r="0" b="0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Rectangle 1036"/>
            <p:cNvSpPr/>
            <p:nvPr userDrawn="1"/>
          </p:nvSpPr>
          <p:spPr>
            <a:xfrm>
              <a:off x="61" y="68"/>
              <a:ext cx="7141" cy="3584"/>
            </a:xfrm>
            <a:prstGeom prst="rect">
              <a:avLst/>
            </a:prstGeom>
            <a:noFill/>
            <a:ln w="254000" cap="flat" cmpd="sng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lvl="0" indent="0" algn="ctr"/>
              <a:endParaRPr lang="zh-CN" altLang="en-US" sz="16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1034" name="Group 1038"/>
            <p:cNvGrpSpPr/>
            <p:nvPr userDrawn="1"/>
          </p:nvGrpSpPr>
          <p:grpSpPr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5" name="Rectangle 1039"/>
              <p:cNvSpPr/>
              <p:nvPr userDrawn="1"/>
            </p:nvSpPr>
            <p:spPr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Freeform 1040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96" y="2784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1041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8" name="Rectangle 139" descr="深色横线"/>
            <p:cNvSpPr/>
            <p:nvPr userDrawn="1"/>
          </p:nvSpPr>
          <p:spPr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39" name="AutoShape 143"/>
            <p:cNvSpPr/>
            <p:nvPr userDrawn="1"/>
          </p:nvSpPr>
          <p:spPr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0" name="Rectangle 146"/>
            <p:cNvSpPr/>
            <p:nvPr userDrawn="1"/>
          </p:nvSpPr>
          <p:spPr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 cap="flat" cmpd="sng">
              <a:solidFill>
                <a:srgbClr val="F8F8F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41" name="Rectangle 149"/>
          <p:cNvSpPr>
            <a:spLocks noGrp="1"/>
          </p:cNvSpPr>
          <p:nvPr>
            <p:ph type="title"/>
          </p:nvPr>
        </p:nvSpPr>
        <p:spPr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split orient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anose="0201060906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split orient="vert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5-3.pptx" TargetMode="External"/><Relationship Id="rId2" Type="http://schemas.openxmlformats.org/officeDocument/2006/relationships/hyperlink" Target="05-1.pptx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1.xml"/><Relationship Id="rId7" Type="http://schemas.openxmlformats.org/officeDocument/2006/relationships/audio" Target="../media/audio4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audio" Target="../media/audio3.wav"/><Relationship Id="rId11" Type="http://schemas.openxmlformats.org/officeDocument/2006/relationships/image" Target="../media/image4.jpeg"/><Relationship Id="rId5" Type="http://schemas.openxmlformats.org/officeDocument/2006/relationships/audio" Target="../media/audio2.wav"/><Relationship Id="rId10" Type="http://schemas.openxmlformats.org/officeDocument/2006/relationships/image" Target="../media/image3.jpeg"/><Relationship Id="rId4" Type="http://schemas.openxmlformats.org/officeDocument/2006/relationships/audio" Target="../media/audio1.wav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jpeg"/><Relationship Id="rId4" Type="http://schemas.openxmlformats.org/officeDocument/2006/relationships/audio" Target="../media/audio4.wav"/><Relationship Id="rId9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5/05-02-&#20363;&#39064;.pptx#-1,1,&#24187;&#28783;&#29255; 1" TargetMode="External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../../03EXAMPLE/ch05/05-02-&#20363;&#39064;.pptx#-1,2,&#24187;&#28783;&#29255; 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5/05-02-&#20363;&#39064;.pptx#-1,4,&#24187;&#28783;&#29255; 4" TargetMode="External"/><Relationship Id="rId2" Type="http://schemas.openxmlformats.org/officeDocument/2006/relationships/hyperlink" Target="../../03EXAMPLE/ch05/05-02-&#20363;&#39064;.pptx#-1,3,&#24187;&#28783;&#29255; 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audio" Target="../media/audio2.wav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4.jpeg"/><Relationship Id="rId5" Type="http://schemas.openxmlformats.org/officeDocument/2006/relationships/image" Target="../media/image9.wmf"/><Relationship Id="rId10" Type="http://schemas.openxmlformats.org/officeDocument/2006/relationships/image" Target="../media/image3.jpeg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audio" Target="../media/audio2.wav"/><Relationship Id="rId7" Type="http://schemas.openxmlformats.org/officeDocument/2006/relationships/hyperlink" Target="05-3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../../03EXAMPLE/ch05/05-02-&#20363;&#39064;.pptx#-1,5,&#24187;&#28783;&#29255; 5" TargetMode="External"/><Relationship Id="rId4" Type="http://schemas.openxmlformats.org/officeDocument/2006/relationships/audio" Target="../media/audio4.wav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chap05.ppt" TargetMode="External"/><Relationship Id="rId3" Type="http://schemas.openxmlformats.org/officeDocument/2006/relationships/hyperlink" Target="05.1.ppt#-1,1,5.1&#27687;&#21270;&#36824;&#21407;&#21453;&#24212;&#19982;&#30005;&#26497;&#30005;&#21183; REDOX REACTION AND ELECTRODE POTENTIAL" TargetMode="External"/><Relationship Id="rId7" Type="http://schemas.openxmlformats.org/officeDocument/2006/relationships/slide" Target="slide19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3.xml"/><Relationship Id="rId4" Type="http://schemas.openxmlformats.org/officeDocument/2006/relationships/hyperlink" Target="05.3.ppt#-1,1,5.3&#27687;&#21270;&#36824;&#21407;&#28404;&#23450;&#27861; REDOX TITRATION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hyperlink" Target="../rest/00&#20241;&#24687;&#30446;&#24405;.ppt#-1,1,&#33879;&#21517;&#21270;&#23398;&#23478;" TargetMode="External"/><Relationship Id="rId4" Type="http://schemas.openxmlformats.org/officeDocument/2006/relationships/slide" Target="sl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hyperlink" Target="../rest/00&#20241;&#24687;&#30446;&#24405;.ppt#-1,1,&#33879;&#21517;&#21270;&#23398;&#23478;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../rest/00&#20241;&#24687;&#30446;&#24405;.ppt#-1,1,&#33879;&#21517;&#21270;&#23398;&#23478;" TargetMode="Externa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5.jpg"/><Relationship Id="rId4" Type="http://schemas.openxmlformats.org/officeDocument/2006/relationships/audio" Target="../media/audio3.wav"/><Relationship Id="rId9" Type="http://schemas.openxmlformats.org/officeDocument/2006/relationships/hyperlink" Target="../rest/00&#20241;&#24687;&#30446;&#24405;.ppt#-1,1,&#33879;&#21517;&#21270;&#23398;&#23478;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../rest/00&#20241;&#24687;&#30446;&#24405;.ppt#-1,1,&#33879;&#21517;&#21270;&#23398;&#23478;" TargetMode="Externa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../rest/00&#20241;&#24687;&#30446;&#24405;.ppt#-1,1,&#33879;&#21517;&#21270;&#23398;&#23478;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audio" Target="../media/audio4.wav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hyperlink" Target="../rest/00&#20241;&#24687;&#30446;&#24405;.ppt#-1,1,&#33879;&#21517;&#21270;&#23398;&#23478;" TargetMode="Externa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../rest/00&#20241;&#24687;&#30446;&#24405;.ppt#-1,1,&#33879;&#21517;&#21270;&#23398;&#23478;" TargetMode="External"/><Relationship Id="rId4" Type="http://schemas.openxmlformats.org/officeDocument/2006/relationships/audio" Target="../media/audio4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hyperlink" Target="../rest/00&#20241;&#24687;&#30446;&#24405;.ppt#-1,1,&#33879;&#21517;&#21270;&#23398;&#23478;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hyperlink" Target="../rest/00&#20241;&#24687;&#30446;&#24405;.ppt#-1,1,&#33879;&#21517;&#21270;&#23398;&#23478;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slide" Target="slide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hyperlink" Target="../rest/00&#20241;&#24687;&#30446;&#24405;.ppt#-1,1,&#33879;&#21517;&#21270;&#23398;&#23478;" TargetMode="External"/><Relationship Id="rId5" Type="http://schemas.openxmlformats.org/officeDocument/2006/relationships/audio" Target="../media/audio4.wav"/><Relationship Id="rId4" Type="http://schemas.openxmlformats.org/officeDocument/2006/relationships/audio" Target="../media/audio2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hyperlink" Target="../rest/00&#20241;&#24687;&#30446;&#24405;.ppt#-1,1,&#33879;&#21517;&#21270;&#23398;&#23478;" TargetMode="External"/><Relationship Id="rId4" Type="http://schemas.openxmlformats.org/officeDocument/2006/relationships/audio" Target="../media/audio4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hyperlink" Target="../rest/00&#20241;&#24687;&#30446;&#24405;.ppt#-1,1,&#33879;&#21517;&#21270;&#23398;&#23478;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hyperlink" Target="../rest/00&#20241;&#24687;&#30446;&#24405;.ppt#-1,1,&#33879;&#21517;&#21270;&#23398;&#23478;" TargetMode="External"/><Relationship Id="rId4" Type="http://schemas.openxmlformats.org/officeDocument/2006/relationships/audio" Target="../media/audio4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hyperlink" Target="../rest/00&#20241;&#24687;&#30446;&#24405;.ppt#-1,1,&#33879;&#21517;&#21270;&#23398;&#23478;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hyperlink" Target="../rest/00&#20241;&#24687;&#30446;&#24405;.ppt#-1,1,&#33879;&#21517;&#21270;&#23398;&#23478;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slide" Target="slide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hyperlink" Target="05.3.ppt#-1,1,5.3&#27687;&#21270;&#36824;&#21407;&#28404;&#23450;&#27861; REDOX TITRATION" TargetMode="External"/><Relationship Id="rId5" Type="http://schemas.openxmlformats.org/officeDocument/2006/relationships/hyperlink" Target="../rest/00&#20241;&#24687;&#30446;&#24405;.ppt#-1,1,&#33879;&#21517;&#21270;&#23398;&#23478;" TargetMode="External"/><Relationship Id="rId4" Type="http://schemas.openxmlformats.org/officeDocument/2006/relationships/hyperlink" Target="../../MEDIA/ch05/KIO3&#19982;H2O2&#21453;&#24212;.M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080"/>
          <p:cNvSpPr>
            <a:spLocks noGrp="1"/>
          </p:cNvSpPr>
          <p:nvPr/>
        </p:nvSpPr>
        <p:spPr>
          <a:xfrm>
            <a:off x="3403583" y="1504251"/>
            <a:ext cx="4929222" cy="2031968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 anchor="t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 smtClean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  <a:hlinkClick r:id="rId2" action="ppaction://hlinkpres?slideindex=1&amp;slidetitle="/>
              </a:rPr>
              <a:t>5.1</a:t>
            </a:r>
            <a:r>
              <a:rPr lang="en-US" altLang="zh-CN" sz="2800" b="1" dirty="0" smtClean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氧化还原</a:t>
            </a:r>
            <a:r>
              <a:rPr lang="zh-CN" altLang="en-US" sz="2800" b="1" dirty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反应与</a:t>
            </a:r>
            <a:r>
              <a:rPr lang="zh-CN" altLang="en-US" sz="2800" b="1" dirty="0" smtClean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电极电势</a:t>
            </a:r>
            <a:endParaRPr lang="en-US" altLang="zh-CN" sz="2800" b="1" dirty="0" smtClean="0">
              <a:solidFill>
                <a:srgbClr val="FFFF00"/>
              </a:solidFill>
              <a:uFillTx/>
              <a:latin typeface="Times New Roman" panose="02020603050405020304" pitchFamily="18" charset="0"/>
              <a:ea typeface="黑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</a:pPr>
            <a:r>
              <a:rPr lang="en-US" altLang="zh-CN" sz="2800" b="1" dirty="0" smtClean="0">
                <a:ea typeface="黑体" pitchFamily="49" charset="-122"/>
              </a:rPr>
              <a:t>5.2 </a:t>
            </a:r>
            <a:r>
              <a:rPr lang="zh-CN" altLang="en-US" sz="2800" b="1" dirty="0" smtClean="0">
                <a:ea typeface="黑体" pitchFamily="49" charset="-122"/>
              </a:rPr>
              <a:t>电势的应用</a:t>
            </a:r>
            <a:endParaRPr lang="en-US" altLang="zh-CN" sz="2800" b="1" dirty="0" smtClean="0">
              <a:ea typeface="黑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</a:pPr>
            <a:r>
              <a:rPr lang="en-US" altLang="zh-CN" sz="2800" b="1" dirty="0" smtClean="0">
                <a:ea typeface="黑体" pitchFamily="49" charset="-122"/>
                <a:hlinkClick r:id="rId3" action="ppaction://hlinkpres?slideindex=1&amp;slidetitle="/>
              </a:rPr>
              <a:t>5.3</a:t>
            </a:r>
            <a:r>
              <a:rPr lang="en-US" altLang="zh-CN" sz="2800" b="1" dirty="0" smtClean="0">
                <a:ea typeface="黑体" pitchFamily="49" charset="-122"/>
              </a:rPr>
              <a:t> </a:t>
            </a:r>
            <a:r>
              <a:rPr lang="zh-CN" altLang="en-US" sz="2800" b="1" dirty="0" smtClean="0">
                <a:ea typeface="黑体" pitchFamily="49" charset="-122"/>
              </a:rPr>
              <a:t>氧化还原滴定法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7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3475021" y="2239955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8137" name="Text Box 9"/>
          <p:cNvSpPr txBox="1"/>
          <p:nvPr/>
        </p:nvSpPr>
        <p:spPr>
          <a:xfrm>
            <a:off x="3990975" y="1700213"/>
            <a:ext cx="4221163" cy="2246769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800" b="1" dirty="0" smtClean="0">
                <a:ea typeface="楷体_GB2312"/>
              </a:rPr>
              <a:t>5.2.1 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能斯特方程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式</a:t>
            </a:r>
          </a:p>
          <a:p>
            <a:pPr>
              <a:lnSpc>
                <a:spcPct val="250000"/>
              </a:lnSpc>
            </a:pPr>
            <a:r>
              <a:rPr lang="en-US" altLang="zh-CN" sz="2800" b="1" dirty="0" smtClean="0">
                <a:ea typeface="楷体_GB2312"/>
              </a:rPr>
              <a:t>5.2.2 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条件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电极电势</a:t>
            </a:r>
          </a:p>
        </p:txBody>
      </p:sp>
      <p:sp>
        <p:nvSpPr>
          <p:cNvPr id="10244" name="Rectangle 12"/>
          <p:cNvSpPr>
            <a:spLocks noGrp="1"/>
          </p:cNvSpPr>
          <p:nvPr>
            <p:ph type="title"/>
          </p:nvPr>
        </p:nvSpPr>
        <p:spPr>
          <a:xfrm>
            <a:off x="576263" y="259716"/>
            <a:ext cx="10369550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smtClean="0">
                <a:solidFill>
                  <a:srgbClr val="FF3300"/>
                </a:solidFill>
                <a:uFillTx/>
              </a:rPr>
              <a:t>5.2 </a:t>
            </a:r>
            <a:r>
              <a:rPr lang="zh-CN" altLang="en-US" smtClean="0">
                <a:solidFill>
                  <a:srgbClr val="FF3300"/>
                </a:solidFill>
                <a:uFillTx/>
              </a:rPr>
              <a:t>影响</a:t>
            </a:r>
            <a:r>
              <a:rPr lang="zh-CN" altLang="en-US" dirty="0">
                <a:solidFill>
                  <a:srgbClr val="FF3300"/>
                </a:solidFill>
                <a:uFillTx/>
              </a:rPr>
              <a:t>电极电势的主要因素</a:t>
            </a:r>
          </a:p>
        </p:txBody>
      </p:sp>
      <p:sp>
        <p:nvSpPr>
          <p:cNvPr id="10245" name="AutoShape 13">
            <a:hlinkClick r:id="rId3" action="ppaction://hlinksldjump"/>
          </p:cNvPr>
          <p:cNvSpPr>
            <a:spLocks noChangeAspect="1"/>
          </p:cNvSpPr>
          <p:nvPr/>
        </p:nvSpPr>
        <p:spPr>
          <a:xfrm>
            <a:off x="3475021" y="3240087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35" y="5668979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8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8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Rectangle 4"/>
          <p:cNvSpPr/>
          <p:nvPr/>
        </p:nvSpPr>
        <p:spPr>
          <a:xfrm>
            <a:off x="1872604" y="1428750"/>
            <a:ext cx="4536505" cy="515526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楷体_GB2312"/>
                <a:ea typeface="楷体_GB2312"/>
              </a:rPr>
              <a:t>电极反应</a:t>
            </a:r>
            <a:r>
              <a:rPr lang="en-US" altLang="zh-CN" sz="2500" b="1" dirty="0">
                <a:latin typeface="楷体_GB2312"/>
                <a:ea typeface="楷体_GB2312"/>
              </a:rPr>
              <a:t>:aOx + ne</a:t>
            </a:r>
            <a:r>
              <a:rPr lang="en-US" altLang="zh-CN" sz="2500" b="1" baseline="30000" dirty="0">
                <a:latin typeface="楷体_GB2312"/>
                <a:ea typeface="楷体_GB2312"/>
              </a:rPr>
              <a:t>-</a:t>
            </a:r>
            <a:r>
              <a:rPr lang="en-US" altLang="zh-CN" sz="2500" b="1" dirty="0">
                <a:latin typeface="楷体_GB2312"/>
                <a:ea typeface="楷体_GB2312"/>
              </a:rPr>
              <a:t> ⇋ bRed</a:t>
            </a:r>
            <a:r>
              <a:rPr lang="en-US" altLang="zh-CN" sz="2500" b="1" dirty="0">
                <a:latin typeface="楷体_GB2312"/>
                <a:ea typeface="楷体_GB2312"/>
                <a:sym typeface="Symbol" panose="05050102010706020507" pitchFamily="18" charset="2"/>
              </a:rPr>
              <a:t>        </a:t>
            </a:r>
          </a:p>
        </p:txBody>
      </p:sp>
      <p:graphicFrame>
        <p:nvGraphicFramePr>
          <p:cNvPr id="128005" name="Object 5"/>
          <p:cNvGraphicFramePr>
            <a:graphicFrameLocks/>
          </p:cNvGraphicFramePr>
          <p:nvPr/>
        </p:nvGraphicFramePr>
        <p:xfrm>
          <a:off x="3794125" y="2851150"/>
          <a:ext cx="5214938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r:id="rId8" imgW="1764534" imgH="761669" progId="Equation.3">
                  <p:embed/>
                </p:oleObj>
              </mc:Choice>
              <mc:Fallback>
                <p:oleObj r:id="rId8" imgW="1764534" imgH="761669" progId="Equation.3">
                  <p:embed/>
                  <p:pic>
                    <p:nvPicPr>
                      <p:cNvPr id="0" name="Picture 4" descr="image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25" y="2851150"/>
                        <a:ext cx="5214938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6" name="Rectangle 6"/>
          <p:cNvSpPr/>
          <p:nvPr/>
        </p:nvSpPr>
        <p:spPr>
          <a:xfrm>
            <a:off x="679450" y="4135438"/>
            <a:ext cx="3811588" cy="5143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0000FF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非标准态时的电极电势</a:t>
            </a:r>
            <a:r>
              <a:rPr lang="en-US" altLang="zh-CN" sz="2500" b="1" dirty="0">
                <a:solidFill>
                  <a:srgbClr val="0000FF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(V)</a:t>
            </a:r>
            <a:endParaRPr lang="en-US" altLang="zh-CN" sz="2500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11269" name="Rectangle 9"/>
          <p:cNvSpPr>
            <a:spLocks noGrp="1"/>
          </p:cNvSpPr>
          <p:nvPr>
            <p:ph type="title"/>
          </p:nvPr>
        </p:nvSpPr>
        <p:spPr>
          <a:xfrm>
            <a:off x="576263" y="259716"/>
            <a:ext cx="6192886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uFillTx/>
              </a:rPr>
              <a:t>5.2.1</a:t>
            </a:r>
            <a:r>
              <a:rPr lang="zh-CN" altLang="en-US" dirty="0">
                <a:solidFill>
                  <a:srgbClr val="FF0000"/>
                </a:solidFill>
                <a:uFillTx/>
              </a:rPr>
              <a:t>能斯特方程</a:t>
            </a:r>
            <a:r>
              <a:rPr lang="zh-CN" altLang="en-US" dirty="0" smtClean="0">
                <a:solidFill>
                  <a:srgbClr val="FF0000"/>
                </a:solidFill>
                <a:uFillTx/>
              </a:rPr>
              <a:t>式（非标准下的电极电势）</a:t>
            </a:r>
            <a:endParaRPr lang="zh-CN" altLang="en-US" dirty="0">
              <a:solidFill>
                <a:srgbClr val="FF0000"/>
              </a:solidFill>
              <a:uFillTx/>
            </a:endParaRPr>
          </a:p>
        </p:txBody>
      </p:sp>
      <p:sp>
        <p:nvSpPr>
          <p:cNvPr id="128010" name="Rectangle 10"/>
          <p:cNvSpPr/>
          <p:nvPr/>
        </p:nvSpPr>
        <p:spPr>
          <a:xfrm>
            <a:off x="2266950" y="2774950"/>
            <a:ext cx="2536825" cy="5143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0000FF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标准电极电势</a:t>
            </a:r>
            <a:r>
              <a:rPr lang="en-US" altLang="zh-CN" sz="2500" b="1" dirty="0">
                <a:solidFill>
                  <a:srgbClr val="0000FF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(V)</a:t>
            </a:r>
            <a:endParaRPr lang="en-US" altLang="zh-CN" sz="2500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128011" name="Rectangle 11"/>
          <p:cNvSpPr/>
          <p:nvPr/>
        </p:nvSpPr>
        <p:spPr>
          <a:xfrm>
            <a:off x="2405063" y="4645025"/>
            <a:ext cx="3728906" cy="1361911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0000FF"/>
                </a:solidFill>
                <a:latin typeface="楷体_GB2312"/>
                <a:ea typeface="楷体_GB2312"/>
                <a:sym typeface="Webdings" panose="05030102010509060703" pitchFamily="18" charset="2"/>
              </a:rPr>
              <a:t>电极反应转移的电子</a:t>
            </a:r>
            <a:r>
              <a:rPr lang="zh-CN" altLang="en-US" sz="2500" b="1" dirty="0" smtClean="0">
                <a:solidFill>
                  <a:srgbClr val="0000FF"/>
                </a:solidFill>
                <a:latin typeface="楷体_GB2312"/>
                <a:ea typeface="楷体_GB2312"/>
                <a:sym typeface="Webdings" panose="05030102010509060703" pitchFamily="18" charset="2"/>
              </a:rPr>
              <a:t>数</a:t>
            </a:r>
            <a:endParaRPr lang="en-US" altLang="zh-CN" sz="2500" b="1" dirty="0" smtClean="0">
              <a:solidFill>
                <a:srgbClr val="0000FF"/>
              </a:solidFill>
              <a:latin typeface="楷体_GB2312"/>
              <a:ea typeface="楷体_GB2312"/>
              <a:sym typeface="Webdings" panose="05030102010509060703" pitchFamily="18" charset="2"/>
            </a:endParaRPr>
          </a:p>
          <a:p>
            <a:pPr>
              <a:lnSpc>
                <a:spcPct val="110000"/>
              </a:lnSpc>
            </a:pPr>
            <a:r>
              <a:rPr lang="zh-CN" altLang="en-US" sz="2500" b="1" dirty="0" smtClean="0">
                <a:solidFill>
                  <a:srgbClr val="FF0000"/>
                </a:solidFill>
                <a:latin typeface="楷体_GB2312"/>
                <a:ea typeface="楷体_GB2312"/>
                <a:sym typeface="Webdings" panose="05030102010509060703" pitchFamily="18" charset="2"/>
              </a:rPr>
              <a:t>即氧化还原反应的半反应</a:t>
            </a:r>
            <a:endParaRPr lang="en-US" altLang="zh-CN" sz="2500" b="1" dirty="0" smtClean="0">
              <a:solidFill>
                <a:srgbClr val="FF0000"/>
              </a:solidFill>
              <a:latin typeface="楷体_GB2312"/>
              <a:ea typeface="楷体_GB2312"/>
              <a:sym typeface="Webdings" panose="05030102010509060703" pitchFamily="18" charset="2"/>
            </a:endParaRP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0000"/>
                </a:solidFill>
                <a:latin typeface="楷体_GB2312"/>
                <a:ea typeface="楷体_GB2312"/>
                <a:sym typeface="Webdings" panose="05030102010509060703" pitchFamily="18" charset="2"/>
              </a:rPr>
              <a:t>，</a:t>
            </a:r>
            <a:r>
              <a:rPr lang="en-US" altLang="zh-CN" sz="2500" b="1" dirty="0" smtClean="0">
                <a:solidFill>
                  <a:srgbClr val="FF0000"/>
                </a:solidFill>
                <a:latin typeface="楷体_GB2312"/>
                <a:ea typeface="楷体_GB2312"/>
                <a:sym typeface="Webdings" panose="05030102010509060703" pitchFamily="18" charset="2"/>
              </a:rPr>
              <a:t>n</a:t>
            </a:r>
            <a:r>
              <a:rPr lang="zh-CN" altLang="en-US" sz="2500" b="1" dirty="0" smtClean="0">
                <a:solidFill>
                  <a:srgbClr val="FF0000"/>
                </a:solidFill>
                <a:latin typeface="楷体_GB2312"/>
                <a:ea typeface="楷体_GB2312"/>
                <a:sym typeface="Webdings" panose="05030102010509060703" pitchFamily="18" charset="2"/>
              </a:rPr>
              <a:t>值固定不变</a:t>
            </a:r>
            <a:endParaRPr lang="zh-CN" altLang="en-US" sz="2500" b="1" dirty="0">
              <a:solidFill>
                <a:srgbClr val="FF0000"/>
              </a:solidFill>
              <a:latin typeface="楷体_GB2312"/>
              <a:ea typeface="楷体_GB2312"/>
              <a:sym typeface="Webdings" panose="05030102010509060703" pitchFamily="18" charset="2"/>
            </a:endParaRPr>
          </a:p>
        </p:txBody>
      </p:sp>
      <p:sp>
        <p:nvSpPr>
          <p:cNvPr id="128012" name="Rectangle 12"/>
          <p:cNvSpPr/>
          <p:nvPr/>
        </p:nvSpPr>
        <p:spPr>
          <a:xfrm>
            <a:off x="5351463" y="2366963"/>
            <a:ext cx="2214068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楷体_GB2312"/>
                <a:ea typeface="楷体_GB2312"/>
              </a:rPr>
              <a:t>8.314J·K</a:t>
            </a:r>
            <a:r>
              <a:rPr lang="en-US" altLang="zh-CN" sz="2500" b="1" baseline="30000" dirty="0">
                <a:solidFill>
                  <a:srgbClr val="0000FF"/>
                </a:solidFill>
                <a:latin typeface="楷体_GB2312"/>
                <a:ea typeface="楷体_GB2312"/>
              </a:rPr>
              <a:t>-1</a:t>
            </a:r>
            <a:r>
              <a:rPr lang="en-US" altLang="zh-CN" sz="2500" b="1" dirty="0">
                <a:solidFill>
                  <a:srgbClr val="0000FF"/>
                </a:solidFill>
                <a:latin typeface="楷体_GB2312"/>
                <a:ea typeface="楷体_GB2312"/>
              </a:rPr>
              <a:t>·mol</a:t>
            </a:r>
            <a:r>
              <a:rPr lang="en-US" altLang="zh-CN" sz="2500" b="1" baseline="30000" dirty="0">
                <a:solidFill>
                  <a:srgbClr val="0000FF"/>
                </a:solidFill>
                <a:latin typeface="楷体_GB2312"/>
                <a:ea typeface="楷体_GB2312"/>
              </a:rPr>
              <a:t>-1</a:t>
            </a:r>
            <a:endParaRPr lang="en-US" altLang="zh-CN" sz="2500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128013" name="Rectangle 13"/>
          <p:cNvSpPr/>
          <p:nvPr/>
        </p:nvSpPr>
        <p:spPr>
          <a:xfrm>
            <a:off x="6189665" y="5168913"/>
            <a:ext cx="2217274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楷体_GB2312"/>
                <a:ea typeface="楷体_GB2312"/>
              </a:rPr>
              <a:t>96485C · mol</a:t>
            </a:r>
            <a:r>
              <a:rPr lang="en-US" altLang="zh-CN" sz="2500" b="1" baseline="30000" dirty="0">
                <a:solidFill>
                  <a:srgbClr val="0000FF"/>
                </a:solidFill>
                <a:latin typeface="楷体_GB2312"/>
                <a:ea typeface="楷体_GB2312"/>
              </a:rPr>
              <a:t>-1</a:t>
            </a:r>
            <a:endParaRPr lang="en-US" altLang="zh-CN" sz="2500" b="1" dirty="0">
              <a:solidFill>
                <a:srgbClr val="0000FF"/>
              </a:solidFill>
              <a:latin typeface="楷体_GB2312"/>
              <a:ea typeface="楷体_GB2312"/>
            </a:endParaRPr>
          </a:p>
        </p:txBody>
      </p:sp>
      <p:sp>
        <p:nvSpPr>
          <p:cNvPr id="128014" name="Line 14"/>
          <p:cNvSpPr/>
          <p:nvPr/>
        </p:nvSpPr>
        <p:spPr>
          <a:xfrm flipV="1">
            <a:off x="3888829" y="3815640"/>
            <a:ext cx="92075" cy="3175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28015" name="Line 15"/>
          <p:cNvSpPr/>
          <p:nvPr/>
        </p:nvSpPr>
        <p:spPr>
          <a:xfrm rot="10800000" flipH="1" flipV="1">
            <a:off x="4762500" y="3182938"/>
            <a:ext cx="182563" cy="328612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28016" name="Line 16"/>
          <p:cNvSpPr/>
          <p:nvPr/>
        </p:nvSpPr>
        <p:spPr>
          <a:xfrm flipV="1">
            <a:off x="5713413" y="4124325"/>
            <a:ext cx="138112" cy="555625"/>
          </a:xfrm>
          <a:prstGeom prst="line">
            <a:avLst/>
          </a:prstGeom>
          <a:ln w="25400" cap="flat" cmpd="sng">
            <a:solidFill>
              <a:srgbClr val="FF00FF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28017" name="Line 17"/>
          <p:cNvSpPr/>
          <p:nvPr/>
        </p:nvSpPr>
        <p:spPr>
          <a:xfrm>
            <a:off x="6215063" y="4192588"/>
            <a:ext cx="906462" cy="1031875"/>
          </a:xfrm>
          <a:prstGeom prst="line">
            <a:avLst/>
          </a:prstGeom>
          <a:ln w="25400" cap="flat" cmpd="sng">
            <a:solidFill>
              <a:srgbClr val="993366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28018" name="Line 18"/>
          <p:cNvSpPr/>
          <p:nvPr/>
        </p:nvSpPr>
        <p:spPr>
          <a:xfrm flipV="1">
            <a:off x="6032500" y="2774950"/>
            <a:ext cx="182563" cy="465138"/>
          </a:xfrm>
          <a:prstGeom prst="line">
            <a:avLst/>
          </a:prstGeom>
          <a:ln w="25400" cap="flat" cmpd="sng">
            <a:solidFill>
              <a:srgbClr val="993366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28023" name="Text Box 23"/>
          <p:cNvSpPr txBox="1"/>
          <p:nvPr/>
        </p:nvSpPr>
        <p:spPr>
          <a:xfrm>
            <a:off x="546063" y="954071"/>
            <a:ext cx="10231437" cy="47561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latin typeface="楷体_GB2312"/>
                <a:ea typeface="楷体_GB2312"/>
              </a:rPr>
              <a:t>1.</a:t>
            </a:r>
            <a:r>
              <a:rPr lang="zh-CN" altLang="en-US" sz="2500" b="1" dirty="0">
                <a:solidFill>
                  <a:srgbClr val="FF0000"/>
                </a:solidFill>
                <a:latin typeface="楷体_GB2312"/>
                <a:ea typeface="楷体_GB2312"/>
              </a:rPr>
              <a:t>能斯特方程</a:t>
            </a:r>
            <a:r>
              <a:rPr lang="zh-CN" altLang="en-US" sz="2500" b="1" dirty="0" smtClean="0">
                <a:solidFill>
                  <a:srgbClr val="FF0000"/>
                </a:solidFill>
                <a:latin typeface="楷体_GB2312"/>
                <a:ea typeface="楷体_GB2312"/>
              </a:rPr>
              <a:t>式</a:t>
            </a:r>
            <a:r>
              <a:rPr lang="en-US" altLang="zh-CN" sz="2500" b="1" dirty="0" smtClean="0">
                <a:solidFill>
                  <a:srgbClr val="FF0000"/>
                </a:solidFill>
                <a:latin typeface="楷体_GB2312"/>
                <a:ea typeface="楷体_GB2312"/>
              </a:rPr>
              <a:t>  </a:t>
            </a:r>
            <a:r>
              <a:rPr lang="en-US" altLang="zh-CN" sz="2500" b="1" dirty="0" smtClean="0">
                <a:latin typeface="楷体_GB2312"/>
                <a:ea typeface="楷体_GB2312"/>
              </a:rPr>
              <a:t>      </a:t>
            </a:r>
            <a:endParaRPr lang="en-US" altLang="zh-CN" sz="2500" b="1" dirty="0">
              <a:latin typeface="楷体_GB2312"/>
              <a:ea typeface="楷体_GB2312"/>
            </a:endParaRPr>
          </a:p>
        </p:txBody>
      </p:sp>
      <p:sp>
        <p:nvSpPr>
          <p:cNvPr id="128024" name="Rectangle 24"/>
          <p:cNvSpPr/>
          <p:nvPr/>
        </p:nvSpPr>
        <p:spPr>
          <a:xfrm>
            <a:off x="906464" y="1868488"/>
            <a:ext cx="6215061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楷体_GB2312"/>
                <a:ea typeface="楷体_GB2312"/>
                <a:sym typeface="Symbol" panose="05050102010706020507" pitchFamily="18" charset="2"/>
              </a:rPr>
              <a:t>离子强度</a:t>
            </a:r>
            <a:r>
              <a:rPr lang="zh-CN" altLang="en-US" sz="2500" b="1" dirty="0">
                <a:latin typeface="楷体_GB2312"/>
                <a:ea typeface="楷体_GB2312"/>
                <a:sym typeface="Symbol" panose="05050102010706020507" pitchFamily="18" charset="2"/>
              </a:rPr>
              <a:t>可忽略的情况下</a:t>
            </a:r>
            <a:r>
              <a:rPr lang="en-US" altLang="zh-CN" sz="2500" b="1" dirty="0">
                <a:latin typeface="楷体_GB2312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500" b="1" dirty="0">
                <a:solidFill>
                  <a:srgbClr val="FF3300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Nernst</a:t>
            </a:r>
            <a:r>
              <a:rPr lang="zh-CN" altLang="en-US" sz="2500" b="1" dirty="0">
                <a:solidFill>
                  <a:srgbClr val="FF3300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关系式</a:t>
            </a:r>
            <a:r>
              <a:rPr lang="zh-CN" altLang="en-US" sz="2500" b="1" dirty="0">
                <a:latin typeface="楷体_GB2312"/>
                <a:ea typeface="楷体_GB2312"/>
                <a:sym typeface="Symbol" panose="05050102010706020507" pitchFamily="18" charset="2"/>
              </a:rPr>
              <a:t>为</a:t>
            </a:r>
            <a:r>
              <a:rPr lang="en-US" altLang="zh-CN" sz="2500" b="1" dirty="0">
                <a:latin typeface="楷体_GB2312"/>
                <a:ea typeface="楷体_GB231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1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35" y="5668979"/>
            <a:ext cx="360362" cy="360362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80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2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28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128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128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128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128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28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6" dur="500"/>
                                        <p:tgtEl>
                                          <p:spTgt spid="128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/>
      <p:bldP spid="128006" grpId="0" build="p"/>
      <p:bldP spid="128010" grpId="0" build="p"/>
      <p:bldP spid="128011" grpId="0" build="p"/>
      <p:bldP spid="128012" grpId="0" build="p"/>
      <p:bldP spid="128013" grpId="0" build="p"/>
      <p:bldP spid="128023" grpId="0"/>
      <p:bldP spid="1280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Rectangle 4"/>
          <p:cNvSpPr/>
          <p:nvPr/>
        </p:nvSpPr>
        <p:spPr>
          <a:xfrm>
            <a:off x="906463" y="2854251"/>
            <a:ext cx="10136188" cy="178371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式中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[Ox]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、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[Red]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分别代表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半反应中氧化型和还原型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一侧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各组分平衡浓度幂的乘积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固体、纯液体以及溶剂水除外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).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+ 8H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+ 5e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⇋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+ 4H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O: 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Nernst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关系式为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     </a:t>
            </a:r>
          </a:p>
        </p:txBody>
      </p:sp>
      <p:sp>
        <p:nvSpPr>
          <p:cNvPr id="129029" name="Rectangle 5"/>
          <p:cNvSpPr/>
          <p:nvPr/>
        </p:nvSpPr>
        <p:spPr>
          <a:xfrm>
            <a:off x="906463" y="950913"/>
            <a:ext cx="1023143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T = 298.15K,Nernst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关系式可简写为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Webdings" panose="05030102010509060703" pitchFamily="18" charset="2"/>
            </a:endParaRPr>
          </a:p>
        </p:txBody>
      </p:sp>
      <p:graphicFrame>
        <p:nvGraphicFramePr>
          <p:cNvPr id="129030" name="Object 6"/>
          <p:cNvGraphicFramePr>
            <a:graphicFrameLocks/>
          </p:cNvGraphicFramePr>
          <p:nvPr/>
        </p:nvGraphicFramePr>
        <p:xfrm>
          <a:off x="3117850" y="1393825"/>
          <a:ext cx="49514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1" r:id="rId5" imgW="1726451" imgH="444307" progId="Equation.3">
                  <p:embed/>
                </p:oleObj>
              </mc:Choice>
              <mc:Fallback>
                <p:oleObj r:id="rId5" imgW="1726451" imgH="444307" progId="Equation.3">
                  <p:embed/>
                  <p:pic>
                    <p:nvPicPr>
                      <p:cNvPr id="0" name="Picture 2" descr="image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1393825"/>
                        <a:ext cx="495141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1" name="Objec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308601"/>
              </p:ext>
            </p:extLst>
          </p:nvPr>
        </p:nvGraphicFramePr>
        <p:xfrm>
          <a:off x="2520677" y="4637966"/>
          <a:ext cx="4786345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2" name="公式" r:id="rId7" imgW="2108160" imgH="444240" progId="Equation.3">
                  <p:embed/>
                </p:oleObj>
              </mc:Choice>
              <mc:Fallback>
                <p:oleObj name="公式" r:id="rId7" imgW="2108160" imgH="444240" progId="Equation.3">
                  <p:embed/>
                  <p:pic>
                    <p:nvPicPr>
                      <p:cNvPr id="0" name="Picture 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677" y="4637966"/>
                        <a:ext cx="4786345" cy="951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9"/>
          <p:cNvSpPr>
            <a:spLocks noGrp="1"/>
          </p:cNvSpPr>
          <p:nvPr>
            <p:ph type="title"/>
          </p:nvPr>
        </p:nvSpPr>
        <p:spPr>
          <a:xfrm>
            <a:off x="576263" y="259716"/>
            <a:ext cx="10369550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uFillTx/>
              </a:rPr>
              <a:t>5.2.1</a:t>
            </a:r>
            <a:r>
              <a:rPr lang="zh-CN" altLang="en-US" dirty="0">
                <a:solidFill>
                  <a:srgbClr val="FF0000"/>
                </a:solidFill>
                <a:uFillTx/>
              </a:rPr>
              <a:t>能斯特方程式</a:t>
            </a:r>
          </a:p>
        </p:txBody>
      </p:sp>
      <p:sp>
        <p:nvSpPr>
          <p:cNvPr id="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736701" y="2287153"/>
            <a:ext cx="3788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n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：电极反应的电子转移数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29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29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29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 build="p"/>
      <p:bldP spid="1290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Rectangle 4"/>
          <p:cNvSpPr/>
          <p:nvPr/>
        </p:nvSpPr>
        <p:spPr>
          <a:xfrm>
            <a:off x="2132014" y="1020763"/>
            <a:ext cx="3268984" cy="9372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气体用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相对压力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P/P</a:t>
            </a:r>
            <a:r>
              <a:rPr lang="en-US" altLang="zh-CN" sz="1800" b="1" baseline="10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zh-CN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，</a:t>
            </a:r>
            <a:endParaRPr lang="en-US" altLang="zh-CN" sz="2500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(aq)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⇋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(g):</a:t>
            </a:r>
          </a:p>
        </p:txBody>
      </p:sp>
      <p:sp>
        <p:nvSpPr>
          <p:cNvPr id="130053" name="Rectangle 5"/>
          <p:cNvSpPr>
            <a:spLocks noChangeArrowheads="1"/>
          </p:cNvSpPr>
          <p:nvPr/>
        </p:nvSpPr>
        <p:spPr bwMode="auto">
          <a:xfrm>
            <a:off x="1082675" y="1020763"/>
            <a:ext cx="93647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u="none" strike="noStrike" kern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注意</a:t>
            </a:r>
            <a:r>
              <a:rPr kumimoji="0" lang="en-US" altLang="zh-CN" sz="2500" b="1" u="none" strike="noStrike" kern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</p:txBody>
      </p:sp>
      <p:graphicFrame>
        <p:nvGraphicFramePr>
          <p:cNvPr id="130054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629812"/>
              </p:ext>
            </p:extLst>
          </p:nvPr>
        </p:nvGraphicFramePr>
        <p:xfrm>
          <a:off x="3186113" y="1897857"/>
          <a:ext cx="5149850" cy="1188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6" r:id="rId3" imgW="1854000" imgH="571320" progId="Equation.3">
                  <p:embed/>
                </p:oleObj>
              </mc:Choice>
              <mc:Fallback>
                <p:oleObj r:id="rId3" imgW="1854000" imgH="571320" progId="Equation.3">
                  <p:embed/>
                  <p:pic>
                    <p:nvPicPr>
                      <p:cNvPr id="0" name="Picture 1" descr="image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1897857"/>
                        <a:ext cx="5149850" cy="1188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5" name="Rectangle 7"/>
          <p:cNvSpPr/>
          <p:nvPr/>
        </p:nvSpPr>
        <p:spPr>
          <a:xfrm>
            <a:off x="906463" y="3025775"/>
            <a:ext cx="10039350" cy="147637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一般来说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常温下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,T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的影响不大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　　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Nernst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方程式可见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对确定的电对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,E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主要取决于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[Ox],[Red](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或它们的平衡分压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)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的大小</a:t>
            </a:r>
          </a:p>
        </p:txBody>
      </p:sp>
      <p:sp>
        <p:nvSpPr>
          <p:cNvPr id="11269" name="Rectangle 9"/>
          <p:cNvSpPr>
            <a:spLocks noGrp="1"/>
          </p:cNvSpPr>
          <p:nvPr>
            <p:ph type="title"/>
          </p:nvPr>
        </p:nvSpPr>
        <p:spPr>
          <a:xfrm>
            <a:off x="576263" y="259716"/>
            <a:ext cx="10369550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uFillTx/>
              </a:rPr>
              <a:t>5.2.1</a:t>
            </a:r>
            <a:r>
              <a:rPr lang="zh-CN" altLang="en-US" dirty="0">
                <a:solidFill>
                  <a:srgbClr val="FF0000"/>
                </a:solidFill>
                <a:uFillTx/>
              </a:rPr>
              <a:t>能斯特方程式</a:t>
            </a:r>
          </a:p>
        </p:txBody>
      </p:sp>
      <p:sp>
        <p:nvSpPr>
          <p:cNvPr id="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59190" y="973867"/>
            <a:ext cx="2517036" cy="5275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altLang="zh-CN" sz="2500" b="1" dirty="0">
                <a:solidFill>
                  <a:srgbClr val="FF0000"/>
                </a:solidFill>
                <a:ea typeface="楷体_GB2312"/>
              </a:rPr>
              <a:t>P</a:t>
            </a:r>
            <a:r>
              <a:rPr lang="en-US" altLang="zh-CN" b="1" baseline="100000" dirty="0" smtClean="0">
                <a:solidFill>
                  <a:srgbClr val="FF0000"/>
                </a:solidFill>
                <a:ea typeface="楷体_GB2312"/>
                <a:sym typeface="Webdings" panose="05030102010509060703" pitchFamily="18" charset="2"/>
              </a:rPr>
              <a:t>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/>
                <a:sym typeface="Webdings" panose="05030102010509060703" pitchFamily="18" charset="2"/>
              </a:rPr>
              <a:t>不为</a:t>
            </a:r>
            <a:r>
              <a:rPr lang="en-US" altLang="zh-CN" sz="2800" b="1" dirty="0" smtClean="0">
                <a:solidFill>
                  <a:srgbClr val="FF0000"/>
                </a:solidFill>
                <a:ea typeface="楷体_GB2312"/>
                <a:sym typeface="Webdings" panose="05030102010509060703" pitchFamily="18" charset="2"/>
              </a:rPr>
              <a:t>0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/>
                <a:sym typeface="Webdings" panose="05030102010509060703" pitchFamily="18" charset="2"/>
              </a:rPr>
              <a:t>！！！</a:t>
            </a:r>
            <a:endParaRPr lang="en-US" altLang="zh-CN" sz="2800" b="1" dirty="0">
              <a:solidFill>
                <a:srgbClr val="FF0000"/>
              </a:solidFill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0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0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30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30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 build="p"/>
      <p:bldP spid="130053" grpId="0" bldLvl="0" animBg="1"/>
      <p:bldP spid="13005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760377" y="2311393"/>
            <a:ext cx="857256" cy="51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strike="noStrike" kern="0" baseline="0" noProof="0" dirty="0" smtClean="0">
                <a:ln>
                  <a:noFill/>
                </a:ln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  <a:hlinkClick r:id="rId3" action="ppaction://hlinkpres?slideindex=1&amp;slidetitle=幻灯片 1"/>
              </a:rPr>
              <a:t>解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131078" name="Rectangle 6"/>
          <p:cNvSpPr/>
          <p:nvPr/>
        </p:nvSpPr>
        <p:spPr>
          <a:xfrm>
            <a:off x="831815" y="4240219"/>
            <a:ext cx="1143008" cy="484876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  <a:hlinkClick r:id="rId4" action="ppaction://hlinkpres?slideindex=2&amp;slidetitle=幻灯片 2"/>
              </a:rPr>
              <a:t>解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31079" name="Rectangle 7"/>
          <p:cNvSpPr/>
          <p:nvPr/>
        </p:nvSpPr>
        <p:spPr>
          <a:xfrm>
            <a:off x="760377" y="882633"/>
            <a:ext cx="3990975" cy="47561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2.</a:t>
            </a:r>
            <a:r>
              <a:rPr lang="zh-CN" altLang="en-US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浓度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131088" name="Rectangle 16"/>
          <p:cNvSpPr/>
          <p:nvPr/>
        </p:nvSpPr>
        <p:spPr>
          <a:xfrm>
            <a:off x="906463" y="2810545"/>
            <a:ext cx="9313862" cy="480966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   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氧化型浓度降低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还原型的还原能力增强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1089" name="Rectangle 17"/>
          <p:cNvSpPr/>
          <p:nvPr/>
        </p:nvSpPr>
        <p:spPr>
          <a:xfrm>
            <a:off x="906463" y="2830559"/>
            <a:ext cx="1316037" cy="480966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结论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11269" name="Rectangle 9"/>
          <p:cNvSpPr>
            <a:spLocks noGrp="1"/>
          </p:cNvSpPr>
          <p:nvPr>
            <p:ph type="title"/>
          </p:nvPr>
        </p:nvSpPr>
        <p:spPr>
          <a:xfrm>
            <a:off x="576263" y="259716"/>
            <a:ext cx="10369550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uFillTx/>
              </a:rPr>
              <a:t>5.2.1</a:t>
            </a:r>
            <a:r>
              <a:rPr lang="zh-CN" altLang="en-US" dirty="0">
                <a:solidFill>
                  <a:srgbClr val="FF0000"/>
                </a:solidFill>
                <a:uFillTx/>
              </a:rPr>
              <a:t>能斯特方程式</a:t>
            </a:r>
          </a:p>
        </p:txBody>
      </p:sp>
      <p:sp>
        <p:nvSpPr>
          <p:cNvPr id="1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45"/>
          <p:cNvSpPr/>
          <p:nvPr/>
        </p:nvSpPr>
        <p:spPr>
          <a:xfrm>
            <a:off x="688939" y="1382699"/>
            <a:ext cx="8456474" cy="93871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1.</a:t>
            </a:r>
            <a:r>
              <a:rPr lang="zh-CN" altLang="en-US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计算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Zn</a:t>
            </a:r>
            <a:r>
              <a:rPr lang="en-US" altLang="zh-CN" sz="2500" b="1" kern="0" baseline="3000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2+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/Zn</a:t>
            </a:r>
            <a:r>
              <a:rPr lang="zh-CN" altLang="en-US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在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[Zn</a:t>
            </a:r>
            <a:r>
              <a:rPr lang="en-US" altLang="zh-CN" sz="2500" b="1" kern="0" baseline="3000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2+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] = 1.00×10</a:t>
            </a:r>
            <a:r>
              <a:rPr lang="en-US" altLang="zh-CN" sz="2500" b="1" kern="0" baseline="3000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-3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+mn-ea"/>
              </a:rPr>
              <a:t>mol·L</a:t>
            </a:r>
            <a:r>
              <a:rPr lang="en-US" altLang="zh-CN" sz="2500" b="1" kern="0" baseline="3000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+mn-ea"/>
              </a:rPr>
              <a:t>-1</a:t>
            </a:r>
            <a:r>
              <a:rPr lang="zh-CN" altLang="en-US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时的电极电势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{</a:t>
            </a:r>
            <a:r>
              <a:rPr lang="en-US" altLang="zh-CN" sz="2500" b="1" i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1600" b="1" kern="0" baseline="10000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(Zn</a:t>
            </a:r>
            <a:r>
              <a:rPr lang="en-US" altLang="zh-CN" sz="2500" b="1" kern="0" baseline="3000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2+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/Zn) = -0.762V}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sz="2500" b="1" dirty="0">
              <a:latin typeface="+mn-lt"/>
              <a:ea typeface="楷体_GB2312" pitchFamily="49" charset="-122"/>
              <a:sym typeface="Webdings" panose="05030102010509060703" pitchFamily="18" charset="2"/>
            </a:endParaRPr>
          </a:p>
        </p:txBody>
      </p:sp>
      <p:sp>
        <p:nvSpPr>
          <p:cNvPr id="16" name="Rectangle 14"/>
          <p:cNvSpPr/>
          <p:nvPr/>
        </p:nvSpPr>
        <p:spPr>
          <a:xfrm>
            <a:off x="760377" y="3301500"/>
            <a:ext cx="9858444" cy="93871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+mn-lt"/>
                <a:ea typeface="楷体_GB2312" pitchFamily="49" charset="-122"/>
                <a:sym typeface="+mn-ea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+mn-ea"/>
              </a:rPr>
              <a:t>2.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+mn-ea"/>
              </a:rPr>
              <a:t>计算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+mn-ea"/>
              </a:rPr>
              <a:t>以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+mn-ea"/>
              </a:rPr>
              <a:t>AgCl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+mn-ea"/>
              </a:rPr>
              <a:t>饱和溶液中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+mn-ea"/>
              </a:rPr>
              <a:t>[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Cl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+mn-ea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] = 1mol·L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+mn-ea"/>
              </a:rPr>
              <a:t>-1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+mn-ea"/>
              </a:rPr>
              <a:t>条件下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+mn-ea"/>
              </a:rPr>
              <a:t>Ag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+mn-ea"/>
              </a:rPr>
              <a:t>电极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+mn-ea"/>
              </a:rPr>
              <a:t>的电极电势</a:t>
            </a:r>
          </a:p>
          <a:p>
            <a:pPr>
              <a:lnSpc>
                <a:spcPct val="110000"/>
              </a:lnSpc>
            </a:pP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{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Ag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+mn-ea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Ag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500" b="1" baseline="100000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= 0.7996V</a:t>
            </a:r>
            <a:r>
              <a:rPr lang="en-US" altLang="zh-CN" sz="2500" b="1" kern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}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.</a:t>
            </a:r>
            <a:endParaRPr lang="en-US" altLang="zh-CN" sz="2500" b="1" dirty="0">
              <a:solidFill>
                <a:schemeClr val="tx1"/>
              </a:solidFill>
              <a:uFillTx/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31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31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bldLvl="0" animBg="1"/>
      <p:bldP spid="131078" grpId="0"/>
      <p:bldP spid="131079" grpId="0"/>
      <p:bldP spid="131088" grpId="0" build="p"/>
      <p:bldP spid="131089" grpId="0" build="p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9"/>
          <p:cNvSpPr>
            <a:spLocks noGrp="1"/>
          </p:cNvSpPr>
          <p:nvPr>
            <p:ph type="title"/>
          </p:nvPr>
        </p:nvSpPr>
        <p:spPr>
          <a:xfrm>
            <a:off x="576263" y="259716"/>
            <a:ext cx="10369550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uFillTx/>
              </a:rPr>
              <a:t>5.2.1</a:t>
            </a:r>
            <a:r>
              <a:rPr lang="zh-CN" altLang="en-US" dirty="0">
                <a:solidFill>
                  <a:srgbClr val="FF0000"/>
                </a:solidFill>
                <a:uFillTx/>
              </a:rPr>
              <a:t>能斯特方程式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06780" y="882633"/>
            <a:ext cx="1109841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uFillTx/>
                <a:ea typeface="楷体_GB2312"/>
                <a:sym typeface="Symbol" panose="05050102010706020507" pitchFamily="18" charset="2"/>
              </a:rPr>
              <a:t>3.</a:t>
            </a:r>
            <a:r>
              <a:rPr lang="zh-CN" altLang="en-US" sz="2500" b="1" dirty="0" smtClean="0">
                <a:solidFill>
                  <a:srgbClr val="FF3300"/>
                </a:solidFill>
                <a:uFillTx/>
                <a:ea typeface="楷体_GB2312"/>
                <a:sym typeface="Symbol" panose="05050102010706020507" pitchFamily="18" charset="2"/>
              </a:rPr>
              <a:t>压力</a:t>
            </a:r>
            <a:endParaRPr lang="en-US" altLang="zh-CN" sz="2500" b="1" dirty="0">
              <a:solidFill>
                <a:srgbClr val="0000FF"/>
              </a:solidFill>
              <a:uFillTx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134148" name="Rectangle 4"/>
          <p:cNvSpPr>
            <a:spLocks noChangeArrowheads="1"/>
          </p:cNvSpPr>
          <p:nvPr/>
        </p:nvSpPr>
        <p:spPr bwMode="auto">
          <a:xfrm>
            <a:off x="906463" y="2759121"/>
            <a:ext cx="1110158" cy="51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4.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酸度</a:t>
            </a:r>
            <a:endParaRPr kumimoji="0" lang="en-US" altLang="zh-CN" sz="2500" b="1" strike="noStrike" kern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1815" y="2311393"/>
            <a:ext cx="61427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 smtClean="0">
                <a:solidFill>
                  <a:schemeClr val="tx1"/>
                </a:solidFill>
                <a:uFillTx/>
                <a:ea typeface="楷体_GB2312"/>
                <a:hlinkClick r:id="rId2" action="ppaction://hlinkpres?slideindex=3&amp;slidetitle=幻灯片 3"/>
              </a:rPr>
              <a:t>解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ea typeface="楷体_GB2312"/>
              </a:rPr>
              <a:t>:</a:t>
            </a:r>
            <a:endParaRPr lang="en-US" altLang="zh-CN" sz="2500" b="1" dirty="0">
              <a:solidFill>
                <a:schemeClr val="tx1"/>
              </a:solidFill>
              <a:uFillTx/>
              <a:ea typeface="楷体_GB231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0486" y="4954599"/>
            <a:ext cx="61427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 smtClean="0">
                <a:solidFill>
                  <a:schemeClr val="tx1"/>
                </a:solidFill>
                <a:uFillTx/>
                <a:ea typeface="楷体_GB2312"/>
                <a:hlinkClick r:id="rId3" action="ppaction://hlinkpres?slideindex=4&amp;slidetitle=幻灯片 4"/>
              </a:rPr>
              <a:t>解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ea typeface="楷体_GB2312"/>
              </a:rPr>
              <a:t>:</a:t>
            </a:r>
            <a:endParaRPr lang="en-US" altLang="zh-CN" sz="2500" b="1" dirty="0">
              <a:solidFill>
                <a:schemeClr val="tx1"/>
              </a:solidFill>
              <a:uFillTx/>
              <a:ea typeface="楷体_GB2312"/>
            </a:endParaRPr>
          </a:p>
        </p:txBody>
      </p:sp>
      <p:sp>
        <p:nvSpPr>
          <p:cNvPr id="1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30"/>
          <p:cNvSpPr/>
          <p:nvPr/>
        </p:nvSpPr>
        <p:spPr>
          <a:xfrm>
            <a:off x="760417" y="1382699"/>
            <a:ext cx="10429908" cy="93871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3.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计算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Cl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/Cl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-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电对在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[Cl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] = 0.100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+mn-ea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(Cl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) = 300.0kPa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时的电极电势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{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已知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(Cl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/Cl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)= +1.358V}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sz="2500" b="1" dirty="0">
              <a:latin typeface="+mn-lt"/>
              <a:ea typeface="楷体_GB2312" pitchFamily="49" charset="-122"/>
              <a:sym typeface="+mn-ea"/>
            </a:endParaRPr>
          </a:p>
        </p:txBody>
      </p:sp>
      <p:sp>
        <p:nvSpPr>
          <p:cNvPr id="16" name="Rectangle 17"/>
          <p:cNvSpPr/>
          <p:nvPr/>
        </p:nvSpPr>
        <p:spPr>
          <a:xfrm>
            <a:off x="760417" y="3250112"/>
            <a:ext cx="10374663" cy="1327351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4.Cr</a:t>
            </a:r>
            <a:r>
              <a:rPr lang="en-US" altLang="zh-CN" sz="2500" b="1" baseline="-25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7</a:t>
            </a:r>
            <a:r>
              <a:rPr lang="en-US" altLang="zh-CN" sz="2500" b="1" baseline="30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2- 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+ 14H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+ 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+ 6e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 ⇋ 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2Cr</a:t>
            </a:r>
            <a:r>
              <a:rPr lang="en-US" altLang="zh-CN" sz="2500" b="1" baseline="30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+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+ 7H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O 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i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10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= +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1.232V;Fe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3+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 + e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 ⇋ Fe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baseline="30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i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10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= +0.771V. 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将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它们构成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原电池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若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] 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= 10.0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mol·L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其它离子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浓度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均为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1.00 mol·L</a:t>
            </a:r>
            <a:r>
              <a:rPr lang="en-US" altLang="zh-CN" sz="2500" b="1" baseline="30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试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写出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原电池符号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并求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原电池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电动势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4148" grpId="0" animBg="1"/>
      <p:bldP spid="3" grpId="0"/>
      <p:bldP spid="5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7" name="Rectangle 5"/>
          <p:cNvSpPr/>
          <p:nvPr/>
        </p:nvSpPr>
        <p:spPr>
          <a:xfrm>
            <a:off x="3989388" y="2228841"/>
            <a:ext cx="3495675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Ox + ne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⇋  Red</a:t>
            </a:r>
          </a:p>
        </p:txBody>
      </p:sp>
      <p:sp>
        <p:nvSpPr>
          <p:cNvPr id="136198" name="Line 6"/>
          <p:cNvSpPr/>
          <p:nvPr/>
        </p:nvSpPr>
        <p:spPr>
          <a:xfrm rot="-5400000" flipH="1">
            <a:off x="3995738" y="3044816"/>
            <a:ext cx="8509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36199" name="Rectangle 7"/>
          <p:cNvSpPr/>
          <p:nvPr/>
        </p:nvSpPr>
        <p:spPr>
          <a:xfrm>
            <a:off x="4397375" y="2740016"/>
            <a:ext cx="556563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</a:p>
        </p:txBody>
      </p:sp>
      <p:sp>
        <p:nvSpPr>
          <p:cNvPr id="136200" name="Rectangle 8"/>
          <p:cNvSpPr/>
          <p:nvPr/>
        </p:nvSpPr>
        <p:spPr>
          <a:xfrm>
            <a:off x="3627438" y="3386129"/>
            <a:ext cx="177165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酸效应</a:t>
            </a:r>
          </a:p>
        </p:txBody>
      </p:sp>
      <p:sp>
        <p:nvSpPr>
          <p:cNvPr id="136201" name="Line 9"/>
          <p:cNvSpPr/>
          <p:nvPr/>
        </p:nvSpPr>
        <p:spPr>
          <a:xfrm rot="5400000">
            <a:off x="2992438" y="1497004"/>
            <a:ext cx="0" cy="2041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36202" name="Rectangle 10"/>
          <p:cNvSpPr/>
          <p:nvPr/>
        </p:nvSpPr>
        <p:spPr>
          <a:xfrm>
            <a:off x="2266950" y="2025641"/>
            <a:ext cx="1439863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沉淀剂</a:t>
            </a:r>
          </a:p>
        </p:txBody>
      </p:sp>
      <p:sp>
        <p:nvSpPr>
          <p:cNvPr id="136203" name="Rectangle 11"/>
          <p:cNvSpPr/>
          <p:nvPr/>
        </p:nvSpPr>
        <p:spPr>
          <a:xfrm>
            <a:off x="906463" y="2228841"/>
            <a:ext cx="131603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沉淀</a:t>
            </a:r>
          </a:p>
        </p:txBody>
      </p:sp>
      <p:sp>
        <p:nvSpPr>
          <p:cNvPr id="136204" name="Line 12"/>
          <p:cNvSpPr/>
          <p:nvPr/>
        </p:nvSpPr>
        <p:spPr>
          <a:xfrm rot="8100000">
            <a:off x="2584450" y="3113079"/>
            <a:ext cx="18145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36205" name="Rectangle 13"/>
          <p:cNvSpPr/>
          <p:nvPr/>
        </p:nvSpPr>
        <p:spPr>
          <a:xfrm rot="-2700000">
            <a:off x="2535238" y="2670166"/>
            <a:ext cx="1724025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配位剂</a:t>
            </a:r>
          </a:p>
        </p:txBody>
      </p:sp>
      <p:sp>
        <p:nvSpPr>
          <p:cNvPr id="136206" name="Rectangle 14"/>
          <p:cNvSpPr/>
          <p:nvPr/>
        </p:nvSpPr>
        <p:spPr>
          <a:xfrm>
            <a:off x="906463" y="3386129"/>
            <a:ext cx="222408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配位效应</a:t>
            </a:r>
          </a:p>
        </p:txBody>
      </p:sp>
      <p:sp>
        <p:nvSpPr>
          <p:cNvPr id="136207" name="Line 15"/>
          <p:cNvSpPr/>
          <p:nvPr/>
        </p:nvSpPr>
        <p:spPr>
          <a:xfrm>
            <a:off x="6270625" y="2666356"/>
            <a:ext cx="1270" cy="75692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36208" name="Rectangle 16"/>
          <p:cNvSpPr/>
          <p:nvPr/>
        </p:nvSpPr>
        <p:spPr>
          <a:xfrm>
            <a:off x="5399088" y="2740016"/>
            <a:ext cx="556563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</a:p>
        </p:txBody>
      </p:sp>
      <p:sp>
        <p:nvSpPr>
          <p:cNvPr id="136209" name="Rectangle 17"/>
          <p:cNvSpPr/>
          <p:nvPr/>
        </p:nvSpPr>
        <p:spPr>
          <a:xfrm>
            <a:off x="5938838" y="3386129"/>
            <a:ext cx="1819275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酸效应</a:t>
            </a:r>
          </a:p>
        </p:txBody>
      </p:sp>
      <p:sp>
        <p:nvSpPr>
          <p:cNvPr id="136210" name="Line 18"/>
          <p:cNvSpPr/>
          <p:nvPr/>
        </p:nvSpPr>
        <p:spPr>
          <a:xfrm rot="-2700000">
            <a:off x="6848793" y="2420294"/>
            <a:ext cx="0" cy="13604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36211" name="Rectangle 19"/>
          <p:cNvSpPr/>
          <p:nvPr/>
        </p:nvSpPr>
        <p:spPr>
          <a:xfrm rot="2700000">
            <a:off x="6564948" y="2740334"/>
            <a:ext cx="1201737" cy="474662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配位剂</a:t>
            </a:r>
          </a:p>
        </p:txBody>
      </p:sp>
      <p:sp>
        <p:nvSpPr>
          <p:cNvPr id="136212" name="Rectangle 20"/>
          <p:cNvSpPr/>
          <p:nvPr/>
        </p:nvSpPr>
        <p:spPr>
          <a:xfrm>
            <a:off x="7485063" y="3386129"/>
            <a:ext cx="2182812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配位效应</a:t>
            </a:r>
          </a:p>
        </p:txBody>
      </p:sp>
      <p:sp>
        <p:nvSpPr>
          <p:cNvPr id="136213" name="Line 21"/>
          <p:cNvSpPr/>
          <p:nvPr/>
        </p:nvSpPr>
        <p:spPr>
          <a:xfrm>
            <a:off x="6572885" y="2501574"/>
            <a:ext cx="20415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136214" name="Rectangle 22"/>
          <p:cNvSpPr/>
          <p:nvPr/>
        </p:nvSpPr>
        <p:spPr>
          <a:xfrm>
            <a:off x="6572568" y="2025641"/>
            <a:ext cx="1535112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沉淀剂</a:t>
            </a:r>
          </a:p>
        </p:txBody>
      </p:sp>
      <p:sp>
        <p:nvSpPr>
          <p:cNvPr id="136215" name="Rectangle 23"/>
          <p:cNvSpPr/>
          <p:nvPr/>
        </p:nvSpPr>
        <p:spPr>
          <a:xfrm>
            <a:off x="8614093" y="2190106"/>
            <a:ext cx="1274762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沉淀</a:t>
            </a:r>
          </a:p>
        </p:txBody>
      </p:sp>
      <p:sp>
        <p:nvSpPr>
          <p:cNvPr id="136216" name="Rectangle 24"/>
          <p:cNvSpPr/>
          <p:nvPr/>
        </p:nvSpPr>
        <p:spPr>
          <a:xfrm>
            <a:off x="906464" y="3962400"/>
            <a:ext cx="6851650" cy="1360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这时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:[Ox] 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Ox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/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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Ox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;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[Red] 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Red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/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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Red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式中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 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Ox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Red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分别为氧化型和还原型的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总浓度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</a:t>
            </a:r>
            <a:r>
              <a:rPr lang="en-US" altLang="zh-CN" sz="25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Ox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、</a:t>
            </a:r>
            <a:r>
              <a:rPr lang="en-US" altLang="zh-CN" sz="25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Red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分别为相应的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副反应系数</a:t>
            </a:r>
          </a:p>
        </p:txBody>
      </p:sp>
      <p:sp>
        <p:nvSpPr>
          <p:cNvPr id="20503" name="Rectangle 28"/>
          <p:cNvSpPr>
            <a:spLocks noGrp="1"/>
          </p:cNvSpPr>
          <p:nvPr>
            <p:ph type="title"/>
          </p:nvPr>
        </p:nvSpPr>
        <p:spPr>
          <a:xfrm>
            <a:off x="576263" y="259716"/>
            <a:ext cx="2554287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uFillTx/>
              </a:rPr>
              <a:t>5.2.2</a:t>
            </a:r>
            <a:r>
              <a:rPr lang="zh-CN" altLang="en-US" dirty="0">
                <a:solidFill>
                  <a:srgbClr val="FF0000"/>
                </a:solidFill>
                <a:uFillTx/>
              </a:rPr>
              <a:t>条件电极电势</a:t>
            </a:r>
          </a:p>
        </p:txBody>
      </p:sp>
      <p:sp>
        <p:nvSpPr>
          <p:cNvPr id="136225" name="Text Box 33"/>
          <p:cNvSpPr txBox="1"/>
          <p:nvPr/>
        </p:nvSpPr>
        <p:spPr>
          <a:xfrm>
            <a:off x="906463" y="1020763"/>
            <a:ext cx="10231437" cy="8604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电极反应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Ox + ne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⇋ Red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主反应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),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若发生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副反应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氧化型物质的氧化能力或还原型的还原能力都可能改变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2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3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13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136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3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36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3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13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1362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500"/>
                                        <p:tgtEl>
                                          <p:spTgt spid="13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13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136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2" dur="500"/>
                                        <p:tgtEl>
                                          <p:spTgt spid="13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6" dur="500"/>
                                        <p:tgtEl>
                                          <p:spTgt spid="13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0" dur="500"/>
                                        <p:tgtEl>
                                          <p:spTgt spid="136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5" dur="500"/>
                                        <p:tgtEl>
                                          <p:spTgt spid="136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0" dur="500"/>
                                        <p:tgtEl>
                                          <p:spTgt spid="136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5" dur="500"/>
                                        <p:tgtEl>
                                          <p:spTgt spid="136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7" grpId="0"/>
      <p:bldP spid="136199" grpId="0"/>
      <p:bldP spid="136200" grpId="0"/>
      <p:bldP spid="136202" grpId="0"/>
      <p:bldP spid="136203" grpId="0"/>
      <p:bldP spid="136205" grpId="0"/>
      <p:bldP spid="136206" grpId="0"/>
      <p:bldP spid="136208" grpId="0"/>
      <p:bldP spid="136209" grpId="0"/>
      <p:bldP spid="136211" grpId="0"/>
      <p:bldP spid="136212" grpId="0"/>
      <p:bldP spid="136214" grpId="0"/>
      <p:bldP spid="136215" grpId="0"/>
      <p:bldP spid="136216" grpId="0" build="p"/>
      <p:bldP spid="1362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Text Box 4"/>
          <p:cNvSpPr txBox="1"/>
          <p:nvPr/>
        </p:nvSpPr>
        <p:spPr>
          <a:xfrm>
            <a:off x="906463" y="1020763"/>
            <a:ext cx="2454275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298.15K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时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</a:p>
        </p:txBody>
      </p:sp>
      <p:graphicFrame>
        <p:nvGraphicFramePr>
          <p:cNvPr id="137221" name="Object 5"/>
          <p:cNvGraphicFramePr>
            <a:graphicFrameLocks/>
          </p:cNvGraphicFramePr>
          <p:nvPr/>
        </p:nvGraphicFramePr>
        <p:xfrm>
          <a:off x="2974955" y="954071"/>
          <a:ext cx="54197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3" r:id="rId4" imgW="1764534" imgH="444307" progId="Equation.3">
                  <p:embed/>
                </p:oleObj>
              </mc:Choice>
              <mc:Fallback>
                <p:oleObj r:id="rId4" imgW="1764534" imgH="444307" progId="Equation.3">
                  <p:embed/>
                  <p:pic>
                    <p:nvPicPr>
                      <p:cNvPr id="0" name="Picture 3" descr="image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55" y="954071"/>
                        <a:ext cx="541972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2" name="Rectangle 6"/>
          <p:cNvSpPr/>
          <p:nvPr/>
        </p:nvSpPr>
        <p:spPr>
          <a:xfrm>
            <a:off x="906463" y="1971675"/>
            <a:ext cx="10136187" cy="93726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一定条件下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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Ox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、</a:t>
            </a:r>
            <a:r>
              <a:rPr lang="zh-CN" altLang="en-US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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Red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均为定值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将它们并入常数项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并令新常数项为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即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137223" name="Object 7"/>
          <p:cNvGraphicFramePr>
            <a:graphicFrameLocks/>
          </p:cNvGraphicFramePr>
          <p:nvPr/>
        </p:nvGraphicFramePr>
        <p:xfrm>
          <a:off x="3046393" y="2525707"/>
          <a:ext cx="51911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4" r:id="rId6" imgW="1688367" imgH="444307" progId="Equation.3">
                  <p:embed/>
                </p:oleObj>
              </mc:Choice>
              <mc:Fallback>
                <p:oleObj r:id="rId6" imgW="1688367" imgH="444307" progId="Equation.3">
                  <p:embed/>
                  <p:pic>
                    <p:nvPicPr>
                      <p:cNvPr id="0" name="Picture 2" descr="image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393" y="2525707"/>
                        <a:ext cx="519112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4" name="Rectangle 8"/>
          <p:cNvSpPr/>
          <p:nvPr/>
        </p:nvSpPr>
        <p:spPr>
          <a:xfrm>
            <a:off x="903253" y="3597277"/>
            <a:ext cx="2547492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电对的电极电势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</a:p>
        </p:txBody>
      </p:sp>
      <p:graphicFrame>
        <p:nvGraphicFramePr>
          <p:cNvPr id="137225" name="Object 9"/>
          <p:cNvGraphicFramePr>
            <a:graphicFrameLocks/>
          </p:cNvGraphicFramePr>
          <p:nvPr/>
        </p:nvGraphicFramePr>
        <p:xfrm>
          <a:off x="3546459" y="3668715"/>
          <a:ext cx="4837112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r:id="rId8" imgW="1574800" imgH="444500" progId="Equation.3">
                  <p:embed/>
                </p:oleObj>
              </mc:Choice>
              <mc:Fallback>
                <p:oleObj r:id="rId8" imgW="1574800" imgH="444500" progId="Equation.3">
                  <p:embed/>
                  <p:pic>
                    <p:nvPicPr>
                      <p:cNvPr id="0" name="Picture 1" descr="image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59" y="3668715"/>
                        <a:ext cx="4837112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6" name="Rectangle 10"/>
          <p:cNvSpPr/>
          <p:nvPr/>
        </p:nvSpPr>
        <p:spPr>
          <a:xfrm>
            <a:off x="1046129" y="4883161"/>
            <a:ext cx="694292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当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Ox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Red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1.0 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-1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或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Ox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/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Red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1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时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8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’.</a:t>
            </a:r>
          </a:p>
        </p:txBody>
      </p:sp>
      <p:sp>
        <p:nvSpPr>
          <p:cNvPr id="20503" name="Rectangle 28"/>
          <p:cNvSpPr>
            <a:spLocks noGrp="1"/>
          </p:cNvSpPr>
          <p:nvPr>
            <p:ph type="title"/>
          </p:nvPr>
        </p:nvSpPr>
        <p:spPr>
          <a:xfrm>
            <a:off x="576263" y="259716"/>
            <a:ext cx="10369550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uFillTx/>
              </a:rPr>
              <a:t>5.2.2</a:t>
            </a:r>
            <a:r>
              <a:rPr lang="zh-CN" altLang="en-US" dirty="0">
                <a:solidFill>
                  <a:srgbClr val="FF0000"/>
                </a:solidFill>
                <a:uFillTx/>
              </a:rPr>
              <a:t>条件电极电势</a:t>
            </a:r>
          </a:p>
        </p:txBody>
      </p:sp>
      <p:sp>
        <p:nvSpPr>
          <p:cNvPr id="1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/>
      <p:bldP spid="137222" grpId="0"/>
      <p:bldP spid="137224" grpId="0"/>
      <p:bldP spid="1372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Text Box 4"/>
          <p:cNvSpPr txBox="1"/>
          <p:nvPr/>
        </p:nvSpPr>
        <p:spPr>
          <a:xfrm>
            <a:off x="688939" y="954071"/>
            <a:ext cx="10501386" cy="136080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为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条件</a:t>
            </a:r>
            <a:r>
              <a:rPr lang="zh-CN" altLang="en-US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电极电势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Symbol" panose="05050102010706020507" pitchFamily="18" charset="2"/>
              </a:rPr>
              <a:t> 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/>
                <a:sym typeface="Symbol" panose="05050102010706020507" pitchFamily="18" charset="2"/>
              </a:rPr>
              <a:t>或</a:t>
            </a:r>
            <a:r>
              <a:rPr lang="zh-CN" altLang="en-US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表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观电极电势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特定条件下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当电对中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Ox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Red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1.0 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-1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或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Ox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/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Red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1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时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校正了各种外界因素影响之后所得到的实际电极电势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 </a:t>
            </a:r>
          </a:p>
        </p:txBody>
      </p:sp>
      <p:sp>
        <p:nvSpPr>
          <p:cNvPr id="20503" name="Rectangle 28"/>
          <p:cNvSpPr>
            <a:spLocks noGrp="1"/>
          </p:cNvSpPr>
          <p:nvPr>
            <p:ph type="title"/>
          </p:nvPr>
        </p:nvSpPr>
        <p:spPr>
          <a:xfrm>
            <a:off x="576263" y="259716"/>
            <a:ext cx="10369550" cy="429895"/>
          </a:xfr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uFillTx/>
              </a:rPr>
              <a:t>5.2.2</a:t>
            </a:r>
            <a:r>
              <a:rPr lang="zh-CN" altLang="en-US" dirty="0">
                <a:solidFill>
                  <a:srgbClr val="FF0000"/>
                </a:solidFill>
                <a:uFillTx/>
              </a:rPr>
              <a:t>条件电极电势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8939" y="3986563"/>
            <a:ext cx="614271" cy="4770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hlinkClick r:id="rId5" action="ppaction://hlinkpres?slideindex=5&amp;slidetitle=幻灯片 5"/>
              </a:rPr>
              <a:t>解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</a:t>
            </a:r>
            <a:endParaRPr lang="zh-CN" altLang="en-US" sz="2500" b="1" dirty="0">
              <a:latin typeface="+mn-lt"/>
              <a:ea typeface="楷体_GB2312" pitchFamily="49" charset="-122"/>
            </a:endParaRPr>
          </a:p>
        </p:txBody>
      </p:sp>
      <p:sp>
        <p:nvSpPr>
          <p:cNvPr id="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椭圆 62544" descr="图片1">
            <a:hlinkClick r:id="rId7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554429" y="2289573"/>
            <a:ext cx="10730265" cy="1361911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5.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已知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Cu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2+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/Cu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) 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+0.153V; 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/I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) 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= +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0.5355V.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由此可见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Cu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baseline="30000" dirty="0" smtClean="0"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不可能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氧化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I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然而实际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在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KI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适当过量的条件下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反应能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发生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试计算说明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. 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（</a:t>
            </a:r>
            <a:r>
              <a:rPr lang="zh-CN" altLang="en-US" sz="2500" b="1" dirty="0" smtClean="0">
                <a:solidFill>
                  <a:srgbClr val="FF0000"/>
                </a:solidFill>
                <a:latin typeface="+mn-lt"/>
                <a:ea typeface="楷体_GB2312" pitchFamily="49" charset="-122"/>
                <a:sym typeface="Symbol" panose="05050102010706020507" pitchFamily="18" charset="2"/>
              </a:rPr>
              <a:t>以标准态                  为例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Symbol" panose="05050102010706020507" pitchFamily="18" charset="2"/>
              </a:rPr>
              <a:t>）</a:t>
            </a:r>
            <a:endParaRPr lang="en-US" altLang="zh-CN" sz="2500" b="1" dirty="0">
              <a:latin typeface="+mn-lt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6769149" y="186631"/>
            <a:ext cx="1584176" cy="576064"/>
          </a:xfrm>
          <a:prstGeom prst="wedgeRoundRectCallout">
            <a:avLst>
              <a:gd name="adj1" fmla="val -20008"/>
              <a:gd name="adj2" fmla="val 9197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</a:rPr>
              <a:t>副反应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67054" y="3557414"/>
            <a:ext cx="20104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ea typeface="楷体_GB2312" pitchFamily="49" charset="-122"/>
              </a:rPr>
              <a:t>Cu</a:t>
            </a:r>
            <a:r>
              <a:rPr lang="en-US" altLang="zh-CN" sz="2800" b="1" baseline="30000" dirty="0" smtClean="0">
                <a:ea typeface="楷体_GB2312" pitchFamily="49" charset="-122"/>
              </a:rPr>
              <a:t>+</a:t>
            </a:r>
            <a:r>
              <a:rPr lang="en-US" altLang="zh-CN" sz="2800" b="1" dirty="0" smtClean="0">
                <a:ea typeface="楷体_GB2312" pitchFamily="49" charset="-122"/>
              </a:rPr>
              <a:t>+I</a:t>
            </a:r>
            <a:r>
              <a:rPr lang="en-US" altLang="zh-CN" sz="2800" b="1" baseline="30000" dirty="0" smtClean="0">
                <a:ea typeface="楷体_GB2312" pitchFamily="49" charset="-122"/>
              </a:rPr>
              <a:t>-</a:t>
            </a:r>
            <a:r>
              <a:rPr lang="en-US" altLang="zh-CN" sz="2800" b="1" dirty="0" smtClean="0">
                <a:ea typeface="楷体_GB2312" pitchFamily="49" charset="-122"/>
              </a:rPr>
              <a:t>=</a:t>
            </a:r>
            <a:r>
              <a:rPr lang="en-US" altLang="zh-CN" sz="2800" b="1" dirty="0" err="1" smtClean="0">
                <a:ea typeface="楷体_GB2312" pitchFamily="49" charset="-122"/>
              </a:rPr>
              <a:t>CuI</a:t>
            </a:r>
            <a:endParaRPr lang="zh-CN" altLang="en-US" sz="28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2" grpId="0"/>
      <p:bldP spid="8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45CABD7B-A92E-4678-AD12-23E5579D317F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54F49FDB-E33B-453F-8E84-3028CD038DF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5604" name="AutoShape 1028">
            <a:hlinkClick r:id="rId3" action="ppaction://hlinkpres?slideindex=1&amp;slidetitle=5.1氧化还原反应与电极电势 REDOX REACTION AND ELECTRODE POTENTIAL" highlightClick="1"/>
          </p:cNvPr>
          <p:cNvSpPr>
            <a:spLocks noChangeArrowheads="1"/>
          </p:cNvSpPr>
          <p:nvPr/>
        </p:nvSpPr>
        <p:spPr bwMode="auto">
          <a:xfrm>
            <a:off x="4806866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上节</a:t>
            </a:r>
            <a:endParaRPr lang="zh-CN" altLang="en-US" sz="2400">
              <a:ea typeface="宋体" charset="-122"/>
            </a:endParaRPr>
          </a:p>
        </p:txBody>
      </p:sp>
      <p:sp>
        <p:nvSpPr>
          <p:cNvPr id="25605" name="AutoShape 1029">
            <a:hlinkClick r:id="rId4" action="ppaction://hlinkpres?slideindex=1&amp;slidetitle=5.3氧化还原滴定法 REDOX TITRATION" highlightClick="1"/>
          </p:cNvPr>
          <p:cNvSpPr>
            <a:spLocks noChangeArrowheads="1"/>
          </p:cNvSpPr>
          <p:nvPr/>
        </p:nvSpPr>
        <p:spPr bwMode="auto">
          <a:xfrm>
            <a:off x="6257127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下节</a:t>
            </a:r>
            <a:endParaRPr lang="zh-CN" altLang="en-US" sz="1800"/>
          </a:p>
        </p:txBody>
      </p:sp>
      <p:sp>
        <p:nvSpPr>
          <p:cNvPr id="25607" name="AutoShape 1031">
            <a:hlinkClick r:id="rId5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1496269" y="2040055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8" name="AutoShape 1032">
            <a:hlinkClick r:id="rId6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1496269" y="2821577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9" name="Text Box 1033"/>
          <p:cNvSpPr txBox="1">
            <a:spLocks noChangeArrowheads="1"/>
          </p:cNvSpPr>
          <p:nvPr/>
        </p:nvSpPr>
        <p:spPr bwMode="auto">
          <a:xfrm>
            <a:off x="1948351" y="1632044"/>
            <a:ext cx="892960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dirty="0">
                <a:ea typeface="黑体" pitchFamily="2" charset="-122"/>
              </a:rPr>
              <a:t>5.2.1</a:t>
            </a:r>
            <a:r>
              <a:rPr lang="zh-CN" altLang="en-US" sz="2800" b="1" dirty="0">
                <a:ea typeface="黑体" pitchFamily="2" charset="-122"/>
              </a:rPr>
              <a:t>判断反应方向</a:t>
            </a:r>
            <a:r>
              <a:rPr lang="en-US" altLang="zh-CN" sz="2800" b="1" dirty="0">
                <a:ea typeface="黑体" pitchFamily="2" charset="-122"/>
              </a:rPr>
              <a:t>,</a:t>
            </a:r>
            <a:r>
              <a:rPr lang="zh-CN" altLang="en-US" sz="2800" b="1" dirty="0">
                <a:ea typeface="黑体" pitchFamily="2" charset="-122"/>
              </a:rPr>
              <a:t>次序和限度</a:t>
            </a: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ea typeface="黑体" pitchFamily="2" charset="-122"/>
              </a:rPr>
              <a:t>5.2.2</a:t>
            </a:r>
            <a:r>
              <a:rPr lang="zh-CN" altLang="en-US" sz="2800" b="1" dirty="0">
                <a:ea typeface="黑体" pitchFamily="2" charset="-122"/>
              </a:rPr>
              <a:t>计算有关平衡常数</a:t>
            </a: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ea typeface="黑体" pitchFamily="2" charset="-122"/>
              </a:rPr>
              <a:t>5.2.3</a:t>
            </a:r>
            <a:r>
              <a:rPr lang="zh-CN" altLang="en-US" sz="2800" b="1" dirty="0">
                <a:ea typeface="黑体" pitchFamily="2" charset="-122"/>
              </a:rPr>
              <a:t>元素电势图</a:t>
            </a:r>
          </a:p>
        </p:txBody>
      </p:sp>
      <p:sp>
        <p:nvSpPr>
          <p:cNvPr id="25610" name="AutoShape 1034">
            <a:hlinkClick r:id="rId7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1496269" y="3637599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1" name="AutoShape 1035">
            <a:hlinkClick r:id="rId8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5350965" y="5610152"/>
            <a:ext cx="906163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返回章</a:t>
            </a:r>
            <a:endParaRPr lang="zh-CN" altLang="en-US" sz="2400">
              <a:ea typeface="宋体" charset="-122"/>
            </a:endParaRPr>
          </a:p>
        </p:txBody>
      </p:sp>
      <p:sp>
        <p:nvSpPr>
          <p:cNvPr id="25613" name="Rectangle 1037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>
                <a:solidFill>
                  <a:srgbClr val="FF3300"/>
                </a:solidFill>
              </a:rPr>
              <a:t>5.2</a:t>
            </a:r>
            <a:r>
              <a:rPr lang="zh-CN" altLang="en-US">
                <a:solidFill>
                  <a:srgbClr val="FF3300"/>
                </a:solidFill>
              </a:rPr>
              <a:t>电极电势的应用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64592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2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25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25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 autoUpdateAnimBg="0"/>
      <p:bldP spid="2560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52CB7231-D542-4942-BA58-1BF7AAD0868C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1F3F99A2-5782-4E69-B48D-9B702577B5DC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906164" y="1020028"/>
            <a:ext cx="32225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FF3300"/>
                </a:solidFill>
              </a:rPr>
              <a:t>1.</a:t>
            </a:r>
            <a:r>
              <a:rPr lang="zh-CN" altLang="en-US" sz="2800" b="1">
                <a:solidFill>
                  <a:srgbClr val="FF3300"/>
                </a:solidFill>
              </a:rPr>
              <a:t>反应方向</a:t>
            </a:r>
            <a:r>
              <a:rPr lang="en-US" altLang="zh-CN" sz="2800" b="1">
                <a:solidFill>
                  <a:srgbClr val="FF3300"/>
                </a:solidFill>
              </a:rPr>
              <a:t>:</a:t>
            </a:r>
            <a:endParaRPr lang="en-US" altLang="zh-CN" sz="2800" b="1" i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906164" y="5065637"/>
            <a:ext cx="495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　　一般可用</a:t>
            </a:r>
            <a:r>
              <a:rPr lang="en-US" altLang="zh-CN" sz="2800" b="1" i="1"/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400" b="1" baseline="-25000">
                <a:ea typeface="宋体" charset="-122"/>
              </a:rPr>
              <a:t>MF</a:t>
            </a:r>
            <a:r>
              <a:rPr lang="zh-CN" altLang="en-US" sz="2800" b="1"/>
              <a:t>来粗略判断</a:t>
            </a:r>
            <a:r>
              <a:rPr lang="en-US" altLang="zh-CN" sz="2800" b="1"/>
              <a:t>.</a:t>
            </a:r>
          </a:p>
        </p:txBody>
      </p:sp>
      <p:sp>
        <p:nvSpPr>
          <p:cNvPr id="19475" name="Rectangle 19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5.2.1</a:t>
            </a:r>
            <a:r>
              <a:rPr lang="zh-CN" altLang="en-US"/>
              <a:t>判断反应方向</a:t>
            </a:r>
            <a:r>
              <a:rPr lang="en-US" altLang="zh-CN"/>
              <a:t>,</a:t>
            </a:r>
            <a:r>
              <a:rPr lang="zh-CN" altLang="en-US"/>
              <a:t>次序和限度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906164" y="1461040"/>
            <a:ext cx="1032785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/>
              <a:t>        </a:t>
            </a:r>
            <a:r>
              <a:rPr lang="zh-CN" altLang="en-US" sz="2800" b="1" dirty="0"/>
              <a:t>若</a:t>
            </a:r>
            <a:r>
              <a:rPr lang="en-US" altLang="zh-CN" sz="2800" b="1" i="1" dirty="0"/>
              <a:t>E</a:t>
            </a:r>
            <a:r>
              <a:rPr lang="en-US" altLang="zh-CN" sz="2400" b="1" baseline="-25000" dirty="0">
                <a:ea typeface="宋体" charset="-122"/>
              </a:rPr>
              <a:t>MF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&lt; 0,</a:t>
            </a:r>
            <a:r>
              <a:rPr lang="zh-CN" altLang="en-US" sz="2800" b="1" dirty="0"/>
              <a:t>逆向进行</a:t>
            </a:r>
            <a:r>
              <a:rPr lang="en-US" altLang="zh-CN" sz="2800" b="1" dirty="0"/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/>
              <a:t>        </a:t>
            </a:r>
            <a:r>
              <a:rPr lang="zh-CN" altLang="en-US" sz="2800" b="1" dirty="0"/>
              <a:t>若</a:t>
            </a:r>
            <a:r>
              <a:rPr lang="en-US" altLang="zh-CN" sz="2800" b="1" i="1" dirty="0"/>
              <a:t>E</a:t>
            </a:r>
            <a:r>
              <a:rPr lang="en-US" altLang="zh-CN" sz="2400" b="1" baseline="-25000" dirty="0">
                <a:ea typeface="宋体" charset="-122"/>
              </a:rPr>
              <a:t>MF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&gt;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0,</a:t>
            </a:r>
            <a:r>
              <a:rPr lang="zh-CN" altLang="en-US" sz="2800" b="1" dirty="0"/>
              <a:t>正向进行</a:t>
            </a:r>
            <a:r>
              <a:rPr lang="en-US" altLang="zh-CN" sz="2800" b="1" dirty="0"/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/>
              <a:t>        pH = 8.0</a:t>
            </a:r>
            <a:r>
              <a:rPr lang="zh-CN" altLang="en-US" sz="2800" b="1" dirty="0"/>
              <a:t>时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反应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AsO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 + 2I</a:t>
            </a:r>
            <a:r>
              <a:rPr lang="en-US" altLang="zh-CN" sz="2800" b="1" baseline="30000" dirty="0"/>
              <a:t>-</a:t>
            </a:r>
            <a:r>
              <a:rPr lang="en-US" altLang="zh-CN" sz="2800" b="1" dirty="0"/>
              <a:t> + 2H</a:t>
            </a:r>
            <a:r>
              <a:rPr lang="en-US" altLang="zh-CN" sz="2800" b="1" baseline="30000" dirty="0"/>
              <a:t>+</a:t>
            </a:r>
            <a:r>
              <a:rPr lang="en-US" altLang="zh-CN" sz="3200" b="1" dirty="0"/>
              <a:t> </a:t>
            </a:r>
            <a:r>
              <a:rPr lang="en-US" altLang="zh-CN" sz="3200" b="1" dirty="0" smtClean="0">
                <a:latin typeface="MS Mincho"/>
                <a:ea typeface="MS Mincho"/>
              </a:rPr>
              <a:t>⇋</a:t>
            </a:r>
            <a:r>
              <a:rPr lang="en-US" altLang="zh-CN" sz="3200" b="1" dirty="0" smtClean="0"/>
              <a:t> </a:t>
            </a:r>
            <a:r>
              <a:rPr lang="en-US" altLang="zh-CN" sz="2800" b="1" dirty="0"/>
              <a:t>HAsO</a:t>
            </a:r>
            <a:r>
              <a:rPr lang="en-US" altLang="zh-CN" sz="2800" b="1" baseline="-25000" dirty="0"/>
              <a:t>2 </a:t>
            </a:r>
            <a:r>
              <a:rPr lang="en-US" altLang="zh-CN" sz="2800" b="1" dirty="0"/>
              <a:t> + 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+ 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  <a:r>
              <a:rPr lang="zh-CN" altLang="en-US" sz="2800" b="1" dirty="0"/>
              <a:t>向左进行</a:t>
            </a:r>
            <a:r>
              <a:rPr lang="en-US" altLang="zh-CN" sz="2800" b="1" dirty="0"/>
              <a:t>. </a:t>
            </a:r>
          </a:p>
          <a:p>
            <a:pPr>
              <a:lnSpc>
                <a:spcPct val="110000"/>
              </a:lnSpc>
            </a:pPr>
            <a:r>
              <a:rPr lang="en-US" altLang="zh-CN" sz="2800" b="1" i="1" dirty="0">
                <a:sym typeface="Symbol" pitchFamily="18" charset="2"/>
              </a:rPr>
              <a:t>        </a:t>
            </a:r>
            <a:r>
              <a:rPr lang="zh-CN" altLang="en-US" sz="2800" b="1" dirty="0">
                <a:sym typeface="Symbol" pitchFamily="18" charset="2"/>
                <a:hlinkClick r:id="" action="ppaction://hlinkshowjump?jump=nextslide"/>
              </a:rPr>
              <a:t>可求</a:t>
            </a:r>
            <a:r>
              <a:rPr lang="zh-CN" altLang="en-US" sz="2800" b="1" dirty="0">
                <a:sym typeface="Symbol" pitchFamily="18" charset="2"/>
              </a:rPr>
              <a:t>出</a:t>
            </a:r>
            <a:r>
              <a:rPr lang="en-US" altLang="zh-CN" sz="2800" b="1" dirty="0">
                <a:sym typeface="Symbol" pitchFamily="18" charset="2"/>
              </a:rPr>
              <a:t>pH = 8.0,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AsO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/HAsO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sym typeface="Symbol" pitchFamily="18" charset="2"/>
              </a:rPr>
              <a:t>) = -0.12.</a:t>
            </a:r>
            <a:endParaRPr lang="en-US" altLang="zh-CN" sz="2800" b="1" dirty="0"/>
          </a:p>
          <a:p>
            <a:pPr>
              <a:lnSpc>
                <a:spcPct val="110000"/>
              </a:lnSpc>
            </a:pPr>
            <a:r>
              <a:rPr lang="en-US" altLang="zh-CN" sz="2800" b="1" i="1" dirty="0"/>
              <a:t>E</a:t>
            </a:r>
            <a:r>
              <a:rPr lang="en-US" altLang="zh-CN" sz="2800" b="1" baseline="-25000" dirty="0"/>
              <a:t>MF</a:t>
            </a:r>
            <a:r>
              <a:rPr lang="en-US" altLang="zh-CN" sz="2800" b="1" i="1" dirty="0"/>
              <a:t> =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AsO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/HAsO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sym typeface="Symbol" pitchFamily="18" charset="2"/>
              </a:rPr>
              <a:t>) -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/I</a:t>
            </a:r>
            <a:r>
              <a:rPr lang="en-US" altLang="zh-CN" sz="2800" b="1" baseline="30000" dirty="0"/>
              <a:t>-</a:t>
            </a:r>
            <a:r>
              <a:rPr lang="en-US" altLang="zh-CN" sz="2800" b="1" dirty="0">
                <a:sym typeface="Symbol" pitchFamily="18" charset="2"/>
              </a:rPr>
              <a:t>) = -0.12 - 0.5355 &lt; 0. 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/>
              <a:t>　　</a:t>
            </a:r>
            <a:r>
              <a:rPr lang="zh-CN" altLang="en-US" sz="2800" b="1" dirty="0" smtClean="0"/>
              <a:t>判断</a:t>
            </a:r>
            <a:r>
              <a:rPr lang="zh-CN" altLang="en-US" sz="2800" b="1" dirty="0"/>
              <a:t>反应方向</a:t>
            </a:r>
            <a:r>
              <a:rPr lang="en-US" altLang="zh-CN" sz="2800" b="1" dirty="0"/>
              <a:t>.</a:t>
            </a:r>
          </a:p>
        </p:txBody>
      </p:sp>
      <p:sp>
        <p:nvSpPr>
          <p:cNvPr id="19479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0" name="AutoShape 24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6</a:t>
            </a:r>
          </a:p>
        </p:txBody>
      </p:sp>
      <p:sp>
        <p:nvSpPr>
          <p:cNvPr id="19481" name="AutoShape 25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2" name="AutoShape 26">
            <a:hlinkClick r:id="rId5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42394053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9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9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4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 autoUpdateAnimBg="0"/>
      <p:bldP spid="19468" grpId="0" autoUpdateAnimBg="0"/>
      <p:bldP spid="1947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D1B011F6-2A17-4EE4-AE4F-199F6CE3E934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F94BDC07-699D-465E-B66A-2EEA0BABE425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1632294" y="4488122"/>
            <a:ext cx="9313677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/>
              <a:t>可查得</a:t>
            </a:r>
            <a:r>
              <a:rPr lang="en-US" altLang="zh-CN" sz="2800" b="1" dirty="0"/>
              <a:t>: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dirty="0"/>
              <a:t>(Zn</a:t>
            </a:r>
            <a:r>
              <a:rPr lang="en-US" altLang="zh-CN" sz="2800" b="1" baseline="30000" dirty="0"/>
              <a:t>2+</a:t>
            </a:r>
            <a:r>
              <a:rPr lang="en-US" altLang="zh-CN" sz="2800" b="1" dirty="0"/>
              <a:t>/Zn)</a:t>
            </a:r>
            <a:r>
              <a:rPr lang="en-US" altLang="zh-CN" sz="2800" b="1" baseline="100000" dirty="0">
                <a:sym typeface="Webdings" pitchFamily="18" charset="2"/>
              </a:rPr>
              <a:t> </a:t>
            </a:r>
            <a:r>
              <a:rPr lang="en-US" altLang="zh-CN" sz="2800" b="1" dirty="0">
                <a:sym typeface="Symbol" pitchFamily="18" charset="2"/>
              </a:rPr>
              <a:t>= -0.7618V</a:t>
            </a:r>
            <a:r>
              <a:rPr lang="en-US" altLang="zh-CN" sz="2800" b="1" dirty="0"/>
              <a:t>;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dirty="0"/>
              <a:t>(Fe</a:t>
            </a:r>
            <a:r>
              <a:rPr lang="en-US" altLang="zh-CN" sz="2800" b="1" baseline="30000" dirty="0"/>
              <a:t>2+</a:t>
            </a:r>
            <a:r>
              <a:rPr lang="en-US" altLang="zh-CN" sz="2800" b="1" dirty="0"/>
              <a:t>/Fe)</a:t>
            </a:r>
            <a:r>
              <a:rPr lang="en-US" altLang="zh-CN" sz="2800" b="1" baseline="100000" dirty="0">
                <a:sym typeface="Webdings" pitchFamily="18" charset="2"/>
              </a:rPr>
              <a:t> </a:t>
            </a:r>
            <a:r>
              <a:rPr lang="en-US" altLang="zh-CN" sz="2800" b="1" dirty="0">
                <a:sym typeface="Symbol" pitchFamily="18" charset="2"/>
              </a:rPr>
              <a:t>= -0.477V;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dirty="0"/>
              <a:t>(Cu</a:t>
            </a:r>
            <a:r>
              <a:rPr lang="en-US" altLang="zh-CN" sz="2800" b="1" baseline="30000" dirty="0"/>
              <a:t>2+</a:t>
            </a:r>
            <a:r>
              <a:rPr lang="en-US" altLang="zh-CN" sz="2800" b="1" dirty="0"/>
              <a:t>/Cu)</a:t>
            </a:r>
            <a:r>
              <a:rPr lang="en-US" altLang="zh-CN" sz="2800" b="1" baseline="100000" dirty="0">
                <a:sym typeface="Webdings" pitchFamily="18" charset="2"/>
              </a:rPr>
              <a:t> </a:t>
            </a:r>
            <a:r>
              <a:rPr lang="en-US" altLang="zh-CN" sz="2800" b="1" dirty="0">
                <a:sym typeface="Symbol" pitchFamily="18" charset="2"/>
              </a:rPr>
              <a:t>= +0.3419V</a:t>
            </a:r>
            <a:r>
              <a:rPr lang="en-US" altLang="zh-CN" sz="2800" b="1" dirty="0"/>
              <a:t>.</a:t>
            </a: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906164" y="2719574"/>
            <a:ext cx="34146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FF3300"/>
                </a:solidFill>
                <a:sym typeface="Symbol" pitchFamily="18" charset="2"/>
              </a:rPr>
              <a:t>2.</a:t>
            </a:r>
            <a:r>
              <a:rPr lang="zh-CN" altLang="en-US" sz="2800" b="1">
                <a:solidFill>
                  <a:srgbClr val="FF3300"/>
                </a:solidFill>
                <a:sym typeface="Symbol" pitchFamily="18" charset="2"/>
              </a:rPr>
              <a:t>反应次序</a:t>
            </a:r>
            <a:r>
              <a:rPr lang="en-US" altLang="zh-CN" sz="2800" b="1">
                <a:solidFill>
                  <a:srgbClr val="FF3300"/>
                </a:solidFill>
                <a:sym typeface="Symbol" pitchFamily="18" charset="2"/>
              </a:rPr>
              <a:t>:</a:t>
            </a:r>
            <a:endParaRPr lang="en-US" altLang="zh-CN" sz="2800" b="1">
              <a:sym typeface="Symbol" pitchFamily="18" charset="2"/>
            </a:endParaRP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906164" y="951026"/>
            <a:ext cx="17475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3300"/>
                </a:solidFill>
                <a:sym typeface="Symbol" pitchFamily="18" charset="2"/>
              </a:rPr>
              <a:t>经验规则</a:t>
            </a:r>
            <a:r>
              <a:rPr lang="en-US" altLang="zh-CN" sz="2800" b="1">
                <a:sym typeface="Symbol" pitchFamily="18" charset="2"/>
              </a:rPr>
              <a:t>:</a:t>
            </a:r>
            <a:endParaRPr lang="en-US" altLang="zh-CN" sz="2800" b="1">
              <a:sym typeface="Webdings" pitchFamily="18" charset="2"/>
            </a:endParaRP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2856515" y="951026"/>
            <a:ext cx="8281491" cy="198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i="1" dirty="0">
                <a:solidFill>
                  <a:schemeClr val="accent2"/>
                </a:solidFill>
              </a:rPr>
              <a:t>E</a:t>
            </a:r>
            <a:r>
              <a:rPr lang="en-US" altLang="zh-CN" b="1" baseline="100000" dirty="0">
                <a:solidFill>
                  <a:schemeClr val="accent2"/>
                </a:solidFill>
                <a:sym typeface="Webdings" pitchFamily="18" charset="2"/>
              </a:rPr>
              <a:t></a:t>
            </a:r>
            <a:r>
              <a:rPr lang="en-US" altLang="zh-CN" sz="2400" b="1" baseline="-25000" dirty="0">
                <a:solidFill>
                  <a:schemeClr val="tx2"/>
                </a:solidFill>
                <a:ea typeface="宋体" charset="-122"/>
              </a:rPr>
              <a:t>MF</a:t>
            </a:r>
            <a:r>
              <a:rPr lang="en-US" altLang="zh-CN" b="1" baseline="100000" dirty="0">
                <a:solidFill>
                  <a:schemeClr val="accent2"/>
                </a:solidFill>
                <a:sym typeface="Webdings" pitchFamily="18" charset="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sym typeface="Webdings" pitchFamily="18" charset="2"/>
              </a:rPr>
              <a:t>&gt; 0.2V</a:t>
            </a:r>
            <a:r>
              <a:rPr lang="en-US" altLang="zh-CN" sz="2800" b="1" dirty="0">
                <a:sym typeface="Webdings" pitchFamily="18" charset="2"/>
              </a:rPr>
              <a:t>,</a:t>
            </a:r>
            <a:r>
              <a:rPr lang="zh-CN" altLang="en-US" sz="2800" b="1" dirty="0">
                <a:solidFill>
                  <a:schemeClr val="bg2"/>
                </a:solidFill>
                <a:sym typeface="Webdings" pitchFamily="18" charset="2"/>
              </a:rPr>
              <a:t>正向</a:t>
            </a:r>
            <a:r>
              <a:rPr lang="en-US" altLang="zh-CN" sz="2800" b="1" dirty="0">
                <a:sym typeface="Webdings" pitchFamily="18" charset="2"/>
              </a:rPr>
              <a:t>(</a:t>
            </a:r>
            <a:r>
              <a:rPr lang="zh-CN" altLang="en-US" sz="2800" b="1" dirty="0">
                <a:sym typeface="Webdings" pitchFamily="18" charset="2"/>
              </a:rPr>
              <a:t>若电极反应含</a:t>
            </a:r>
            <a:r>
              <a:rPr lang="en-US" altLang="zh-CN" sz="2800" b="1" dirty="0">
                <a:solidFill>
                  <a:srgbClr val="0000FF"/>
                </a:solidFill>
                <a:sym typeface="Webdings" pitchFamily="18" charset="2"/>
              </a:rPr>
              <a:t>H</a:t>
            </a:r>
            <a:r>
              <a:rPr lang="en-US" altLang="zh-CN" sz="2800" b="1" baseline="30000" dirty="0">
                <a:solidFill>
                  <a:srgbClr val="0000FF"/>
                </a:solidFill>
                <a:sym typeface="Webdings" pitchFamily="18" charset="2"/>
              </a:rPr>
              <a:t>+</a:t>
            </a:r>
            <a:r>
              <a:rPr lang="zh-CN" altLang="en-US" sz="2800" b="1" dirty="0">
                <a:sym typeface="Webdings" pitchFamily="18" charset="2"/>
              </a:rPr>
              <a:t>或</a:t>
            </a:r>
            <a:r>
              <a:rPr lang="en-US" altLang="zh-CN" sz="2800" b="1" dirty="0">
                <a:solidFill>
                  <a:srgbClr val="0000FF"/>
                </a:solidFill>
                <a:sym typeface="Webdings" pitchFamily="18" charset="2"/>
              </a:rPr>
              <a:t>OH</a:t>
            </a:r>
            <a:r>
              <a:rPr lang="en-US" altLang="zh-CN" sz="2800" b="1" baseline="30000" dirty="0">
                <a:solidFill>
                  <a:srgbClr val="0000FF"/>
                </a:solidFill>
                <a:sym typeface="Webdings" pitchFamily="18" charset="2"/>
              </a:rPr>
              <a:t>-</a:t>
            </a:r>
            <a:r>
              <a:rPr lang="en-US" altLang="zh-CN" sz="2800" b="1" dirty="0">
                <a:sym typeface="Webdings" pitchFamily="18" charset="2"/>
              </a:rPr>
              <a:t>, </a:t>
            </a:r>
            <a:r>
              <a:rPr lang="zh-CN" altLang="en-US" sz="2800" b="1" dirty="0">
                <a:sym typeface="Webdings" pitchFamily="18" charset="2"/>
              </a:rPr>
              <a:t>则</a:t>
            </a:r>
            <a:r>
              <a:rPr lang="en-US" altLang="zh-CN" sz="2800" b="1" i="1" dirty="0">
                <a:solidFill>
                  <a:schemeClr val="accent2"/>
                </a:solidFill>
              </a:rPr>
              <a:t>E</a:t>
            </a:r>
            <a:r>
              <a:rPr lang="en-US" altLang="zh-CN" b="1" baseline="100000" dirty="0">
                <a:solidFill>
                  <a:schemeClr val="accent2"/>
                </a:solidFill>
                <a:sym typeface="Webdings" pitchFamily="18" charset="2"/>
              </a:rPr>
              <a:t></a:t>
            </a:r>
            <a:r>
              <a:rPr lang="en-US" altLang="zh-CN" sz="2400" b="1" baseline="-25000" dirty="0">
                <a:solidFill>
                  <a:schemeClr val="tx2"/>
                </a:solidFill>
                <a:ea typeface="宋体" charset="-122"/>
              </a:rPr>
              <a:t>MF</a:t>
            </a:r>
            <a:r>
              <a:rPr lang="en-US" altLang="zh-CN" b="1" baseline="100000" dirty="0">
                <a:solidFill>
                  <a:schemeClr val="accent2"/>
                </a:solidFill>
                <a:sym typeface="Webdings" pitchFamily="18" charset="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sym typeface="Webdings" pitchFamily="18" charset="2"/>
              </a:rPr>
              <a:t>&gt; 0.5V</a:t>
            </a:r>
            <a:r>
              <a:rPr lang="en-US" altLang="zh-CN" sz="2800" b="1" dirty="0">
                <a:sym typeface="Webdings" pitchFamily="18" charset="2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CN" sz="2800" b="1" i="1" dirty="0">
                <a:solidFill>
                  <a:schemeClr val="accent2"/>
                </a:solidFill>
              </a:rPr>
              <a:t>E</a:t>
            </a:r>
            <a:r>
              <a:rPr lang="en-US" altLang="zh-CN" b="1" baseline="100000" dirty="0">
                <a:solidFill>
                  <a:schemeClr val="accent2"/>
                </a:solidFill>
                <a:sym typeface="Webdings" pitchFamily="18" charset="2"/>
              </a:rPr>
              <a:t></a:t>
            </a:r>
            <a:r>
              <a:rPr lang="en-US" altLang="zh-CN" sz="2400" b="1" baseline="-25000" dirty="0">
                <a:solidFill>
                  <a:schemeClr val="tx2"/>
                </a:solidFill>
                <a:ea typeface="宋体" charset="-122"/>
              </a:rPr>
              <a:t>MF</a:t>
            </a:r>
            <a:r>
              <a:rPr lang="en-US" altLang="zh-CN" b="1" baseline="100000" dirty="0">
                <a:solidFill>
                  <a:schemeClr val="accent2"/>
                </a:solidFill>
                <a:sym typeface="Webdings" pitchFamily="18" charset="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sym typeface="Webdings" pitchFamily="18" charset="2"/>
              </a:rPr>
              <a:t>&lt; -0.2V</a:t>
            </a:r>
            <a:r>
              <a:rPr lang="en-US" altLang="zh-CN" sz="2800" b="1" dirty="0">
                <a:sym typeface="Webdings" pitchFamily="18" charset="2"/>
              </a:rPr>
              <a:t>,</a:t>
            </a:r>
            <a:r>
              <a:rPr lang="zh-CN" altLang="en-US" sz="2800" b="1" dirty="0">
                <a:solidFill>
                  <a:schemeClr val="bg2"/>
                </a:solidFill>
                <a:sym typeface="Webdings" pitchFamily="18" charset="2"/>
              </a:rPr>
              <a:t>逆向</a:t>
            </a:r>
            <a:r>
              <a:rPr lang="en-US" altLang="zh-CN" sz="2800" b="1" dirty="0">
                <a:sym typeface="Webdings" pitchFamily="18" charset="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ym typeface="Webdings" pitchFamily="18" charset="2"/>
              </a:rPr>
              <a:t>-0.2V &lt; </a:t>
            </a:r>
            <a:r>
              <a:rPr lang="en-US" altLang="zh-CN" sz="2800" b="1" i="1" dirty="0"/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400" b="1" baseline="-25000" dirty="0">
                <a:ea typeface="宋体" charset="-122"/>
              </a:rPr>
              <a:t>MF</a:t>
            </a:r>
            <a:r>
              <a:rPr lang="en-US" altLang="zh-CN" b="1" baseline="100000" dirty="0">
                <a:sym typeface="Webdings" pitchFamily="18" charset="2"/>
              </a:rPr>
              <a:t> </a:t>
            </a:r>
            <a:r>
              <a:rPr lang="en-US" altLang="zh-CN" sz="2800" b="1" dirty="0">
                <a:sym typeface="Webdings" pitchFamily="18" charset="2"/>
              </a:rPr>
              <a:t>&lt; 0.2V,</a:t>
            </a:r>
            <a:r>
              <a:rPr lang="zh-CN" altLang="en-US" sz="2800" b="1" dirty="0">
                <a:sym typeface="Webdings" pitchFamily="18" charset="2"/>
              </a:rPr>
              <a:t>由浓度决定</a:t>
            </a:r>
            <a:r>
              <a:rPr lang="en-US" altLang="zh-CN" sz="2800" b="1" dirty="0">
                <a:sym typeface="Webdings" pitchFamily="18" charset="2"/>
              </a:rPr>
              <a:t>.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906164" y="3604598"/>
            <a:ext cx="10039807" cy="151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FF3300"/>
                </a:solidFill>
                <a:sym typeface="Symbol" pitchFamily="18" charset="2"/>
              </a:rPr>
              <a:t>例</a:t>
            </a:r>
            <a:r>
              <a:rPr lang="en-US" altLang="zh-CN" sz="2800" b="1" dirty="0">
                <a:solidFill>
                  <a:srgbClr val="FF3300"/>
                </a:solidFill>
                <a:sym typeface="Symbol" pitchFamily="18" charset="2"/>
              </a:rPr>
              <a:t>1:</a:t>
            </a:r>
            <a:r>
              <a:rPr lang="zh-CN" altLang="en-US" sz="2800" b="1" dirty="0"/>
              <a:t>在含</a:t>
            </a:r>
            <a:r>
              <a:rPr lang="en-US" altLang="zh-CN" sz="2800" b="1" dirty="0"/>
              <a:t>1mol·L</a:t>
            </a:r>
            <a:r>
              <a:rPr lang="en-US" altLang="zh-CN" sz="2800" b="1" baseline="30000" dirty="0"/>
              <a:t>-1</a:t>
            </a:r>
            <a:r>
              <a:rPr lang="en-US" altLang="zh-CN" sz="2800" b="1" dirty="0"/>
              <a:t> Fe</a:t>
            </a:r>
            <a:r>
              <a:rPr lang="en-US" altLang="zh-CN" sz="2800" b="1" baseline="30000" dirty="0"/>
              <a:t>2+</a:t>
            </a:r>
            <a:r>
              <a:rPr lang="en-US" altLang="zh-CN" sz="2800" b="1" dirty="0"/>
              <a:t>, Cu</a:t>
            </a:r>
            <a:r>
              <a:rPr lang="en-US" altLang="zh-CN" sz="2800" b="1" baseline="30000" dirty="0"/>
              <a:t>2+</a:t>
            </a:r>
            <a:r>
              <a:rPr lang="zh-CN" altLang="en-US" sz="2800" b="1" dirty="0"/>
              <a:t>的溶液中加入</a:t>
            </a:r>
            <a:r>
              <a:rPr lang="en-US" altLang="zh-CN" sz="2800" b="1" dirty="0"/>
              <a:t>Zn,</a:t>
            </a:r>
            <a:r>
              <a:rPr lang="zh-CN" altLang="en-US" sz="2800" b="1" dirty="0"/>
              <a:t>哪种离子先被还原</a:t>
            </a:r>
            <a:r>
              <a:rPr lang="en-US" altLang="zh-CN" sz="2800" b="1" dirty="0"/>
              <a:t>?</a:t>
            </a:r>
            <a:r>
              <a:rPr lang="zh-CN" altLang="en-US" sz="2800" b="1" dirty="0"/>
              <a:t>何时第二种离子再被还原</a:t>
            </a:r>
            <a:r>
              <a:rPr lang="en-US" altLang="zh-CN" sz="2800" b="1" dirty="0"/>
              <a:t>?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解</a:t>
            </a:r>
            <a:r>
              <a:rPr lang="en-US" altLang="zh-CN" sz="2800" b="1" dirty="0">
                <a:solidFill>
                  <a:srgbClr val="0000FF"/>
                </a:solidFill>
              </a:rPr>
              <a:t>:</a:t>
            </a:r>
            <a:endParaRPr lang="en-US" altLang="zh-CN" sz="2800" b="1" dirty="0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906164" y="3162086"/>
            <a:ext cx="76631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sym typeface="Symbol" pitchFamily="18" charset="2"/>
              </a:rPr>
              <a:t>　　一般是</a:t>
            </a:r>
            <a:r>
              <a:rPr lang="zh-CN" altLang="en-US" sz="2800" b="1" dirty="0">
                <a:solidFill>
                  <a:srgbClr val="0000FF"/>
                </a:solidFill>
                <a:sym typeface="Symbol" pitchFamily="18" charset="2"/>
              </a:rPr>
              <a:t>电动势最大的两电对优先发生反应</a:t>
            </a:r>
            <a:r>
              <a:rPr lang="en-US" altLang="zh-CN" sz="2800" b="1" dirty="0">
                <a:solidFill>
                  <a:srgbClr val="0000FF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28694" name="Rectangle 2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5.2.1</a:t>
            </a:r>
            <a:r>
              <a:rPr lang="zh-CN" altLang="en-US"/>
              <a:t>判断反应方向</a:t>
            </a:r>
            <a:r>
              <a:rPr lang="en-US" altLang="zh-CN"/>
              <a:t>,</a:t>
            </a:r>
            <a:r>
              <a:rPr lang="zh-CN" altLang="en-US"/>
              <a:t>次序和限度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28695" name="AutoShape 2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/>
              <a:t>3</a:t>
            </a:r>
          </a:p>
        </p:txBody>
      </p:sp>
      <p:sp>
        <p:nvSpPr>
          <p:cNvPr id="28696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7" name="AutoShape 25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8" name="AutoShape 26">
            <a:hlinkClick r:id="rId4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418498291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 autoUpdateAnimBg="0"/>
      <p:bldP spid="28681" grpId="0" autoUpdateAnimBg="0"/>
      <p:bldP spid="28682" grpId="0" autoUpdateAnimBg="0"/>
      <p:bldP spid="28683" grpId="0" build="p" autoUpdateAnimBg="0"/>
      <p:bldP spid="28684" grpId="0" autoUpdateAnimBg="0"/>
      <p:bldP spid="2868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A8C7653E-DDAF-4F48-A794-BB3D743BB70A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F9878E91-008C-4A1E-95B7-9B32AF2B2DF3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906164" y="951026"/>
            <a:ext cx="10231842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/Cu</a:t>
            </a:r>
            <a:r>
              <a:rPr lang="en-US" altLang="zh-CN" sz="2800" b="1">
                <a:sym typeface="Symbol" pitchFamily="18" charset="2"/>
              </a:rPr>
              <a:t>) -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Zn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/Zn</a:t>
            </a:r>
            <a:r>
              <a:rPr lang="en-US" altLang="zh-CN" sz="2800" b="1">
                <a:sym typeface="Symbol" pitchFamily="18" charset="2"/>
              </a:rPr>
              <a:t>) = 0.3419 - (-0.7618</a:t>
            </a:r>
            <a:r>
              <a:rPr lang="en-US" altLang="zh-CN" sz="2800" b="1"/>
              <a:t>) = 1.1037V;</a:t>
            </a: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906164" y="1836050"/>
            <a:ext cx="10231842" cy="341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/Fe</a:t>
            </a:r>
            <a:r>
              <a:rPr lang="en-US" altLang="zh-CN" sz="2800" b="1">
                <a:sym typeface="Symbol" pitchFamily="18" charset="2"/>
              </a:rPr>
              <a:t>) -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Zn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/Zn</a:t>
            </a:r>
            <a:r>
              <a:rPr lang="en-US" altLang="zh-CN" sz="2800" b="1">
                <a:sym typeface="Symbol" pitchFamily="18" charset="2"/>
              </a:rPr>
              <a:t>) = -0.477 - (-0.7618</a:t>
            </a:r>
            <a:r>
              <a:rPr lang="en-US" altLang="zh-CN" sz="2800" b="1"/>
              <a:t>) = 0.285V.</a:t>
            </a:r>
          </a:p>
          <a:p>
            <a:pPr>
              <a:lnSpc>
                <a:spcPct val="110000"/>
              </a:lnSpc>
            </a:pPr>
            <a:r>
              <a:rPr lang="en-US" altLang="zh-CN" sz="2800" b="1"/>
              <a:t>        Cu</a:t>
            </a:r>
            <a:r>
              <a:rPr lang="en-US" altLang="zh-CN" sz="2800" b="1" baseline="30000"/>
              <a:t>2+</a:t>
            </a:r>
            <a:r>
              <a:rPr lang="zh-CN" altLang="zh-CN" sz="2800" b="1"/>
              <a:t>优先被还原. </a:t>
            </a:r>
          </a:p>
          <a:p>
            <a:pPr>
              <a:lnSpc>
                <a:spcPct val="110000"/>
              </a:lnSpc>
            </a:pPr>
            <a:r>
              <a:rPr lang="zh-CN" altLang="zh-CN" sz="2800" b="1"/>
              <a:t>当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/Cu</a:t>
            </a:r>
            <a:r>
              <a:rPr lang="en-US" altLang="zh-CN" sz="2800" b="1">
                <a:sym typeface="Symbol" pitchFamily="18" charset="2"/>
              </a:rPr>
              <a:t>) =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/Cu</a:t>
            </a:r>
            <a:r>
              <a:rPr lang="en-US" altLang="zh-CN" sz="2800" b="1">
                <a:sym typeface="Symbol" pitchFamily="18" charset="2"/>
              </a:rPr>
              <a:t>) + (0.0592/2)lg[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2+</a:t>
            </a:r>
            <a:r>
              <a:rPr lang="en-US" altLang="zh-CN" sz="2800" b="1">
                <a:sym typeface="Symbol" pitchFamily="18" charset="2"/>
              </a:rPr>
              <a:t>] =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/Fe</a:t>
            </a:r>
            <a:r>
              <a:rPr lang="en-US" altLang="zh-CN" sz="2800" b="1">
                <a:sym typeface="Symbol" pitchFamily="18" charset="2"/>
              </a:rPr>
              <a:t>)</a:t>
            </a:r>
            <a:r>
              <a:rPr lang="zh-CN" altLang="en-US" sz="2800" b="1">
                <a:sym typeface="Symbol" pitchFamily="18" charset="2"/>
              </a:rPr>
              <a:t>时</a:t>
            </a:r>
            <a:r>
              <a:rPr lang="en-US" altLang="zh-CN" sz="2800" b="1">
                <a:sym typeface="Symbol" pitchFamily="18" charset="2"/>
              </a:rPr>
              <a:t>, 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2+</a:t>
            </a:r>
            <a:r>
              <a:rPr lang="zh-CN" altLang="zh-CN" sz="2800" b="1"/>
              <a:t>同时被还原.</a:t>
            </a:r>
          </a:p>
          <a:p>
            <a:pPr>
              <a:lnSpc>
                <a:spcPct val="110000"/>
              </a:lnSpc>
            </a:pPr>
            <a:r>
              <a:rPr lang="zh-CN" altLang="zh-CN" sz="2800" b="1"/>
              <a:t>0.3419 + (0.0592/2)</a:t>
            </a:r>
            <a:r>
              <a:rPr lang="en-US" altLang="zh-CN" sz="2800" b="1"/>
              <a:t>lg</a:t>
            </a:r>
            <a:r>
              <a:rPr lang="en-US" altLang="zh-CN" sz="2800" b="1">
                <a:sym typeface="Symbol" pitchFamily="18" charset="2"/>
              </a:rPr>
              <a:t>[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2+</a:t>
            </a:r>
            <a:r>
              <a:rPr lang="en-US" altLang="zh-CN" sz="2800" b="1">
                <a:sym typeface="Symbol" pitchFamily="18" charset="2"/>
              </a:rPr>
              <a:t>] </a:t>
            </a:r>
            <a:r>
              <a:rPr lang="en-US" altLang="zh-CN" sz="2800" b="1"/>
              <a:t>= -0.477</a:t>
            </a:r>
          </a:p>
          <a:p>
            <a:pPr>
              <a:lnSpc>
                <a:spcPct val="110000"/>
              </a:lnSpc>
            </a:pPr>
            <a:r>
              <a:rPr lang="zh-CN" altLang="zh-CN" sz="2800" b="1"/>
              <a:t>解得:</a:t>
            </a:r>
            <a:r>
              <a:rPr lang="en-US" altLang="zh-CN" sz="2800" b="1">
                <a:sym typeface="Symbol" pitchFamily="18" charset="2"/>
              </a:rPr>
              <a:t> [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2+</a:t>
            </a:r>
            <a:r>
              <a:rPr lang="en-US" altLang="zh-CN" sz="2800" b="1">
                <a:sym typeface="Symbol" pitchFamily="18" charset="2"/>
              </a:rPr>
              <a:t>] </a:t>
            </a:r>
            <a:r>
              <a:rPr lang="en-US" altLang="zh-CN" sz="2800" b="1"/>
              <a:t>= 2.2×10</a:t>
            </a:r>
            <a:r>
              <a:rPr lang="en-US" altLang="zh-CN" sz="2800" b="1" baseline="30000"/>
              <a:t>-28 </a:t>
            </a:r>
            <a:r>
              <a:rPr lang="en-US" altLang="zh-CN" sz="2800" b="1"/>
              <a:t>mol·L</a:t>
            </a:r>
            <a:r>
              <a:rPr lang="en-US" altLang="zh-CN" sz="2800" b="1" baseline="30000"/>
              <a:t>-1</a:t>
            </a:r>
            <a:r>
              <a:rPr lang="en-US" altLang="zh-CN" sz="2800" b="1"/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800" b="1"/>
              <a:t>        </a:t>
            </a:r>
            <a:r>
              <a:rPr lang="zh-CN" altLang="en-US" sz="2800" b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结论</a:t>
            </a:r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2676483" y="4998135"/>
            <a:ext cx="3048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</a:p>
        </p:txBody>
      </p:sp>
      <p:sp>
        <p:nvSpPr>
          <p:cNvPr id="29715" name="Rectangle 19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5.2.1</a:t>
            </a:r>
            <a:r>
              <a:rPr lang="zh-CN" altLang="en-US"/>
              <a:t>判断反应方向</a:t>
            </a:r>
            <a:r>
              <a:rPr lang="en-US" altLang="zh-CN"/>
              <a:t>,</a:t>
            </a:r>
            <a:r>
              <a:rPr lang="zh-CN" altLang="en-US"/>
              <a:t>次序和限度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29716" name="AutoShape 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7" name="AutoShape 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8" name="AutoShape 22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9" name="AutoShape 23">
            <a:hlinkClick r:id="rId3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02583065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9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9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97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97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utoUpdateAnimBg="0"/>
      <p:bldP spid="29705" grpId="0" build="p" autoUpdateAnimBg="0"/>
      <p:bldP spid="2970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CE9ACB3E-3284-4675-AA12-0043D8E6B26A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076F1AF9-3230-4C36-901D-74FBFCA0677B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906164" y="1428039"/>
            <a:ext cx="10135825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/>
              <a:t>          Cl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来分离</a:t>
            </a:r>
            <a:r>
              <a:rPr lang="en-US" altLang="zh-CN" sz="2800" b="1"/>
              <a:t>Br</a:t>
            </a:r>
            <a:r>
              <a:rPr lang="en-US" altLang="zh-CN" sz="2800" b="1" baseline="30000"/>
              <a:t>-</a:t>
            </a:r>
            <a:r>
              <a:rPr lang="zh-CN" altLang="en-US" sz="2800" b="1"/>
              <a:t>、</a:t>
            </a:r>
            <a:r>
              <a:rPr lang="en-US" altLang="zh-CN" sz="2800" b="1"/>
              <a:t>I</a:t>
            </a:r>
            <a:r>
              <a:rPr lang="en-US" altLang="zh-CN" sz="2800" b="1" baseline="30000"/>
              <a:t>-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30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776176"/>
              </p:ext>
            </p:extLst>
          </p:nvPr>
        </p:nvGraphicFramePr>
        <p:xfrm>
          <a:off x="1785709" y="2392271"/>
          <a:ext cx="3234583" cy="1014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6" name="公式" r:id="rId5" imgW="1002960" imgH="419040" progId="Equation.3">
                  <p:embed/>
                </p:oleObj>
              </mc:Choice>
              <mc:Fallback>
                <p:oleObj name="公式" r:id="rId5" imgW="1002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709" y="2392271"/>
                        <a:ext cx="3234583" cy="1014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581529"/>
              </p:ext>
            </p:extLst>
          </p:nvPr>
        </p:nvGraphicFramePr>
        <p:xfrm>
          <a:off x="4942891" y="2434126"/>
          <a:ext cx="4036727" cy="975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7" name="公式" r:id="rId7" imgW="1333440" imgH="431640" progId="Equation.3">
                  <p:embed/>
                </p:oleObj>
              </mc:Choice>
              <mc:Fallback>
                <p:oleObj name="公式" r:id="rId7" imgW="13334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2891" y="2434126"/>
                        <a:ext cx="4036727" cy="975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906164" y="985527"/>
            <a:ext cx="10262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应用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906164" y="1869051"/>
            <a:ext cx="4993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3300"/>
                </a:solidFill>
              </a:rPr>
              <a:t>3.</a:t>
            </a:r>
            <a:r>
              <a:rPr lang="zh-CN" altLang="en-US" sz="2800" b="1" u="sng" dirty="0">
                <a:solidFill>
                  <a:srgbClr val="FF3300"/>
                </a:solidFill>
              </a:rPr>
              <a:t>反应</a:t>
            </a:r>
            <a:r>
              <a:rPr lang="zh-CN" altLang="en-US" sz="2800" b="1" u="sng" dirty="0" smtClean="0">
                <a:solidFill>
                  <a:srgbClr val="FF3300"/>
                </a:solidFill>
              </a:rPr>
              <a:t>限度 </a:t>
            </a:r>
            <a:r>
              <a:rPr lang="en-US" altLang="zh-CN" sz="2400" b="1" u="sng" dirty="0" smtClean="0">
                <a:solidFill>
                  <a:srgbClr val="FF3300"/>
                </a:solidFill>
              </a:rPr>
              <a:t>(</a:t>
            </a:r>
            <a:r>
              <a:rPr lang="zh-CN" altLang="en-US" sz="2400" b="1" u="sng" dirty="0" smtClean="0">
                <a:solidFill>
                  <a:srgbClr val="FF3300"/>
                </a:solidFill>
              </a:rPr>
              <a:t>化学平衡常数联系）</a:t>
            </a:r>
            <a:r>
              <a:rPr lang="en-US" altLang="zh-CN" sz="2800" b="1" dirty="0" smtClean="0">
                <a:solidFill>
                  <a:srgbClr val="FF3300"/>
                </a:solidFill>
              </a:rPr>
              <a:t>: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  <p:sp>
        <p:nvSpPr>
          <p:cNvPr id="30741" name="Rectangle 2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5.2.1</a:t>
            </a:r>
            <a:r>
              <a:rPr lang="zh-CN" altLang="en-US"/>
              <a:t>判断反应方向</a:t>
            </a:r>
            <a:r>
              <a:rPr lang="en-US" altLang="zh-CN"/>
              <a:t>,</a:t>
            </a:r>
            <a:r>
              <a:rPr lang="zh-CN" altLang="en-US"/>
              <a:t>次序和限度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30742" name="Line 22"/>
          <p:cNvSpPr>
            <a:spLocks noChangeShapeType="1"/>
          </p:cNvSpPr>
          <p:nvPr/>
        </p:nvSpPr>
        <p:spPr bwMode="auto">
          <a:xfrm>
            <a:off x="6031087" y="2954700"/>
            <a:ext cx="2494449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3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4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5" name="AutoShape 25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6" name="AutoShape 26">
            <a:hlinkClick r:id="rId9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3024674" y="3596609"/>
            <a:ext cx="3278462" cy="465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FF0000"/>
                </a:solidFill>
                <a:ea typeface="黑体" pitchFamily="2" charset="-122"/>
                <a:sym typeface="Webdings" pitchFamily="18" charset="2"/>
              </a:rPr>
              <a:t>电池反应转移的电子数</a:t>
            </a:r>
            <a:endParaRPr lang="zh-CN" altLang="en-US" sz="2400" b="1" dirty="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34681" y="4152084"/>
            <a:ext cx="3548792" cy="5275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 + Fe</a:t>
            </a:r>
            <a:r>
              <a:rPr lang="en-US" altLang="zh-CN" sz="2800" b="1" baseline="30000" dirty="0"/>
              <a:t>2+ </a:t>
            </a:r>
            <a:r>
              <a:rPr lang="en-US" altLang="zh-CN" sz="2800" b="1" dirty="0">
                <a:latin typeface="MS Mincho"/>
                <a:ea typeface="MS Mincho"/>
              </a:rPr>
              <a:t>⇌</a:t>
            </a:r>
            <a:r>
              <a:rPr lang="en-US" altLang="zh-CN" sz="2800" b="1" dirty="0"/>
              <a:t> Ag + Fe</a:t>
            </a:r>
            <a:r>
              <a:rPr lang="en-US" altLang="zh-CN" sz="2800" b="1" baseline="30000" dirty="0"/>
              <a:t>3+</a:t>
            </a:r>
            <a:endParaRPr lang="en-US" altLang="zh-CN" sz="2800" b="1" dirty="0"/>
          </a:p>
        </p:txBody>
      </p:sp>
      <p:sp>
        <p:nvSpPr>
          <p:cNvPr id="3" name="矩形 2"/>
          <p:cNvSpPr/>
          <p:nvPr/>
        </p:nvSpPr>
        <p:spPr>
          <a:xfrm>
            <a:off x="2191286" y="4936634"/>
            <a:ext cx="4706546" cy="56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 smtClean="0"/>
              <a:t>2Ag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 + </a:t>
            </a:r>
            <a:r>
              <a:rPr lang="en-US" altLang="zh-CN" sz="2800" b="1" dirty="0" smtClean="0"/>
              <a:t>2Fe</a:t>
            </a:r>
            <a:r>
              <a:rPr lang="en-US" altLang="zh-CN" sz="2800" b="1" baseline="30000" dirty="0" smtClean="0"/>
              <a:t>2</a:t>
            </a:r>
            <a:r>
              <a:rPr lang="en-US" altLang="zh-CN" sz="2800" b="1" baseline="30000" dirty="0"/>
              <a:t>+ </a:t>
            </a:r>
            <a:r>
              <a:rPr lang="en-US" altLang="zh-CN" sz="2800" b="1" dirty="0">
                <a:latin typeface="MS Mincho"/>
                <a:ea typeface="MS Mincho"/>
              </a:rPr>
              <a:t>⇌</a:t>
            </a:r>
            <a:r>
              <a:rPr lang="en-US" altLang="zh-CN" sz="2800" b="1" dirty="0"/>
              <a:t> </a:t>
            </a:r>
            <a:r>
              <a:rPr lang="en-US" altLang="zh-CN" sz="2800" b="1" dirty="0" smtClean="0"/>
              <a:t>2Ag +2 </a:t>
            </a:r>
            <a:r>
              <a:rPr lang="en-US" altLang="zh-CN" sz="2800" b="1" dirty="0"/>
              <a:t>Fe</a:t>
            </a:r>
            <a:r>
              <a:rPr lang="en-US" altLang="zh-CN" sz="2800" b="1" baseline="30000" dirty="0"/>
              <a:t>3+</a:t>
            </a:r>
            <a:endParaRPr lang="en-US" altLang="zh-CN" sz="2800" b="1" dirty="0"/>
          </a:p>
        </p:txBody>
      </p:sp>
      <p:sp>
        <p:nvSpPr>
          <p:cNvPr id="4" name="矩形 3"/>
          <p:cNvSpPr/>
          <p:nvPr/>
        </p:nvSpPr>
        <p:spPr>
          <a:xfrm>
            <a:off x="6609284" y="4033333"/>
            <a:ext cx="10887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 smtClean="0"/>
              <a:t>n’=1</a:t>
            </a:r>
            <a:endParaRPr lang="zh-CN" altLang="en-US" sz="3600" dirty="0"/>
          </a:p>
        </p:txBody>
      </p:sp>
      <p:sp>
        <p:nvSpPr>
          <p:cNvPr id="20" name="矩形 19"/>
          <p:cNvSpPr/>
          <p:nvPr/>
        </p:nvSpPr>
        <p:spPr>
          <a:xfrm>
            <a:off x="6847234" y="4925127"/>
            <a:ext cx="10887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 smtClean="0"/>
              <a:t>n’=2</a:t>
            </a:r>
            <a:endParaRPr lang="zh-CN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38" y="3420944"/>
            <a:ext cx="1705069" cy="750522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</p:spTree>
    <p:extLst>
      <p:ext uri="{BB962C8B-B14F-4D97-AF65-F5344CB8AC3E}">
        <p14:creationId xmlns:p14="http://schemas.microsoft.com/office/powerpoint/2010/main" val="187262735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6" grpId="0" build="p" autoUpdateAnimBg="0"/>
      <p:bldP spid="30732" grpId="0" autoUpdateAnimBg="0"/>
      <p:bldP spid="30733" grpId="0" autoUpdateAnimBg="0"/>
      <p:bldP spid="30742" grpId="0" animBg="1"/>
      <p:bldP spid="30747" grpId="0" build="p" autoUpdateAnimBg="0"/>
      <p:bldP spid="2" grpId="0"/>
      <p:bldP spid="3" grpId="0"/>
      <p:bldP spid="4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E970BAED-1A23-46D6-9D42-C06298124CF7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F6A76A26-73A9-46D9-86FE-45F9D70533AD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906164" y="2754075"/>
            <a:ext cx="994379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例</a:t>
            </a:r>
            <a:r>
              <a:rPr lang="en-US" altLang="zh-CN" sz="2800" b="1" dirty="0">
                <a:solidFill>
                  <a:srgbClr val="FF3300"/>
                </a:solidFill>
              </a:rPr>
              <a:t>2:</a:t>
            </a:r>
            <a:r>
              <a:rPr lang="zh-CN" altLang="en-US" sz="2800" b="1" dirty="0"/>
              <a:t>计算反应</a:t>
            </a:r>
            <a:r>
              <a:rPr lang="en-US" altLang="zh-CN" sz="2800" b="1" dirty="0"/>
              <a:t>: 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 + Fe</a:t>
            </a:r>
            <a:r>
              <a:rPr lang="en-US" altLang="zh-CN" sz="2800" b="1" baseline="30000" dirty="0"/>
              <a:t>2+ </a:t>
            </a:r>
            <a:r>
              <a:rPr lang="en-US" altLang="zh-CN" sz="2800" b="1" dirty="0" smtClean="0">
                <a:latin typeface="MS Mincho"/>
                <a:ea typeface="MS Mincho"/>
              </a:rPr>
              <a:t>⇌</a:t>
            </a:r>
            <a:r>
              <a:rPr lang="en-US" altLang="zh-CN" sz="2800" b="1" dirty="0" smtClean="0"/>
              <a:t> </a:t>
            </a:r>
            <a:r>
              <a:rPr lang="en-US" altLang="zh-CN" sz="2800" b="1" dirty="0"/>
              <a:t>Ag + Fe</a:t>
            </a:r>
            <a:r>
              <a:rPr lang="en-US" altLang="zh-CN" sz="2800" b="1" baseline="30000" dirty="0"/>
              <a:t>3+</a:t>
            </a:r>
            <a:endParaRPr lang="en-US" altLang="zh-CN" sz="2800" b="1" dirty="0"/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ym typeface="Monotype Sorts" pitchFamily="2" charset="2"/>
              </a:rPr>
              <a:t>①</a:t>
            </a:r>
            <a:r>
              <a:rPr lang="en-US" altLang="zh-CN" sz="2800" b="1" dirty="0"/>
              <a:t>298.15K</a:t>
            </a:r>
            <a:r>
              <a:rPr lang="zh-CN" altLang="en-US" sz="2800" b="1" dirty="0"/>
              <a:t>时的</a:t>
            </a:r>
            <a:r>
              <a:rPr lang="en-US" altLang="zh-CN" sz="2800" b="1" i="1" dirty="0"/>
              <a:t>K</a:t>
            </a:r>
            <a:r>
              <a:rPr lang="en-US" altLang="zh-CN" b="1" baseline="100000" dirty="0">
                <a:sym typeface="Webdings" pitchFamily="18" charset="2"/>
              </a:rPr>
              <a:t> </a:t>
            </a:r>
            <a:r>
              <a:rPr lang="en-US" altLang="zh-CN" sz="2800" b="1" dirty="0">
                <a:sym typeface="Webdings" pitchFamily="18" charset="2"/>
              </a:rPr>
              <a:t>;</a:t>
            </a:r>
            <a:endParaRPr lang="en-US" altLang="zh-CN" sz="2800" b="1" dirty="0"/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ym typeface="Monotype Sorts" pitchFamily="2" charset="2"/>
              </a:rPr>
              <a:t>②</a:t>
            </a:r>
            <a:r>
              <a:rPr lang="zh-CN" altLang="en-US" sz="2800" b="1" dirty="0"/>
              <a:t>反应开始时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若</a:t>
            </a:r>
            <a:r>
              <a:rPr lang="zh-CN" altLang="zh-CN" sz="2800" b="1" dirty="0"/>
              <a:t>[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] = 1.0</a:t>
            </a:r>
            <a:r>
              <a:rPr lang="en-US" altLang="zh-CN" sz="2800" b="1" baseline="30000" dirty="0"/>
              <a:t> </a:t>
            </a:r>
            <a:r>
              <a:rPr lang="en-US" altLang="zh-CN" sz="2800" b="1" dirty="0"/>
              <a:t>mol·L</a:t>
            </a:r>
            <a:r>
              <a:rPr lang="en-US" altLang="zh-CN" sz="2800" b="1" baseline="30000" dirty="0"/>
              <a:t>-1</a:t>
            </a:r>
            <a:r>
              <a:rPr lang="en-US" altLang="zh-CN" sz="2800" b="1" dirty="0"/>
              <a:t>, [Fe</a:t>
            </a:r>
            <a:r>
              <a:rPr lang="en-US" altLang="zh-CN" sz="2800" b="1" baseline="30000" dirty="0"/>
              <a:t>2+</a:t>
            </a:r>
            <a:r>
              <a:rPr lang="en-US" altLang="zh-CN" sz="2800" b="1" dirty="0"/>
              <a:t>] = 0.10</a:t>
            </a:r>
            <a:r>
              <a:rPr lang="en-US" altLang="zh-CN" sz="2800" b="1" baseline="30000" dirty="0"/>
              <a:t> </a:t>
            </a:r>
            <a:r>
              <a:rPr lang="en-US" altLang="zh-CN" sz="2800" b="1" dirty="0"/>
              <a:t>mol·L</a:t>
            </a:r>
            <a:r>
              <a:rPr lang="en-US" altLang="zh-CN" sz="2800" b="1" baseline="30000" dirty="0"/>
              <a:t>-1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达平衡时</a:t>
            </a:r>
            <a:r>
              <a:rPr lang="en-US" altLang="zh-CN" sz="2800" b="1" dirty="0"/>
              <a:t>, Fe</a:t>
            </a:r>
            <a:r>
              <a:rPr lang="en-US" altLang="zh-CN" sz="2800" b="1" baseline="30000" dirty="0"/>
              <a:t>3+</a:t>
            </a:r>
            <a:r>
              <a:rPr lang="zh-CN" altLang="en-US" sz="2800" b="1" dirty="0"/>
              <a:t>浓度为多少</a:t>
            </a:r>
            <a:r>
              <a:rPr lang="en-US" altLang="zh-CN" sz="2800" b="1" dirty="0"/>
              <a:t>?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解</a:t>
            </a:r>
            <a:r>
              <a:rPr lang="en-US" altLang="zh-CN" sz="2800" b="1" dirty="0">
                <a:solidFill>
                  <a:srgbClr val="0000FF"/>
                </a:solidFill>
              </a:rPr>
              <a:t>:</a:t>
            </a:r>
            <a:endParaRPr lang="en-US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906164" y="1869051"/>
            <a:ext cx="10327859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accent2"/>
                </a:solidFill>
              </a:rPr>
              <a:t>一般</a:t>
            </a:r>
            <a:r>
              <a:rPr lang="en-US" altLang="zh-CN" sz="2800" b="1"/>
              <a:t>:</a:t>
            </a:r>
            <a:r>
              <a:rPr lang="en-US" altLang="zh-CN" sz="2800" b="1" i="1"/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400" b="1" baseline="-25000">
                <a:ea typeface="宋体" charset="-122"/>
              </a:rPr>
              <a:t>MF</a:t>
            </a:r>
            <a:r>
              <a:rPr lang="en-US" altLang="zh-CN" sz="2800" b="1">
                <a:solidFill>
                  <a:srgbClr val="FFFFFF"/>
                </a:solidFill>
                <a:sym typeface="Webdings" pitchFamily="18" charset="2"/>
              </a:rPr>
              <a:t> </a:t>
            </a:r>
            <a:r>
              <a:rPr lang="en-US" altLang="zh-CN" sz="2800" b="1"/>
              <a:t>&gt; 0.2V,</a:t>
            </a:r>
            <a:r>
              <a:rPr lang="en-US" altLang="zh-CN" sz="2800" b="1" i="1"/>
              <a:t>K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b="1" baseline="100000">
                <a:solidFill>
                  <a:srgbClr val="FFFFFF"/>
                </a:solidFill>
                <a:sym typeface="Webdings" pitchFamily="18" charset="2"/>
              </a:rPr>
              <a:t>  </a:t>
            </a:r>
            <a:r>
              <a:rPr lang="en-US" altLang="zh-CN" sz="2800" b="1"/>
              <a:t>&gt; 6.0 ×10</a:t>
            </a:r>
            <a:r>
              <a:rPr lang="en-US" altLang="zh-CN" sz="2800" b="1" baseline="30000"/>
              <a:t>8</a:t>
            </a:r>
            <a:r>
              <a:rPr lang="en-US" altLang="zh-CN" sz="2800" b="1"/>
              <a:t>,</a:t>
            </a:r>
            <a:r>
              <a:rPr lang="en-US" altLang="zh-CN" sz="2800" b="1" baseline="30000"/>
              <a:t> </a:t>
            </a:r>
            <a:r>
              <a:rPr lang="zh-CN" altLang="en-US" sz="2800" b="1"/>
              <a:t>反应基本完全</a:t>
            </a:r>
            <a:r>
              <a:rPr lang="en-US" altLang="zh-CN" sz="2800" b="1"/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800" b="1"/>
              <a:t>         </a:t>
            </a:r>
            <a:r>
              <a:rPr lang="en-US" altLang="zh-CN" sz="2800" b="1" i="1"/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400" b="1" baseline="-25000">
                <a:ea typeface="宋体" charset="-122"/>
              </a:rPr>
              <a:t>MF</a:t>
            </a:r>
            <a:r>
              <a:rPr lang="en-US" altLang="zh-CN" sz="2800" b="1">
                <a:solidFill>
                  <a:srgbClr val="FFFFFF"/>
                </a:solidFill>
                <a:sym typeface="Webdings" pitchFamily="18" charset="2"/>
              </a:rPr>
              <a:t> </a:t>
            </a:r>
            <a:r>
              <a:rPr lang="en-US" altLang="zh-CN" sz="2800" b="1"/>
              <a:t>&lt; -0.2V,</a:t>
            </a:r>
            <a:r>
              <a:rPr lang="en-US" altLang="zh-CN" sz="2800" b="1" i="1"/>
              <a:t>K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b="1" baseline="100000">
                <a:solidFill>
                  <a:srgbClr val="FFFFFF"/>
                </a:solidFill>
                <a:sym typeface="Webdings" pitchFamily="18" charset="2"/>
              </a:rPr>
              <a:t> </a:t>
            </a:r>
            <a:r>
              <a:rPr lang="en-US" altLang="zh-CN" sz="2800" b="1"/>
              <a:t>&lt; 2×10</a:t>
            </a:r>
            <a:r>
              <a:rPr lang="en-US" altLang="zh-CN" sz="2800" b="1" baseline="30000"/>
              <a:t>-7</a:t>
            </a:r>
            <a:r>
              <a:rPr lang="en-US" altLang="zh-CN" sz="2800" b="1"/>
              <a:t>,</a:t>
            </a:r>
            <a:r>
              <a:rPr lang="zh-CN" altLang="en-US" sz="2800" b="1"/>
              <a:t>反应正向程度极小</a:t>
            </a:r>
            <a:r>
              <a:rPr lang="en-US" altLang="zh-CN" sz="2800" b="1"/>
              <a:t>.</a:t>
            </a: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1632294" y="4590124"/>
            <a:ext cx="34026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ym typeface="Monotype Sorts" pitchFamily="2" charset="2"/>
              </a:rPr>
              <a:t>①</a:t>
            </a:r>
            <a:r>
              <a:rPr lang="en-US" altLang="zh-CN" sz="2800" b="1" dirty="0"/>
              <a:t>∵n</a:t>
            </a:r>
            <a:r>
              <a:rPr lang="en-US" altLang="zh-CN" sz="2800" b="1" baseline="-25000" dirty="0"/>
              <a:t>1 </a:t>
            </a:r>
            <a:r>
              <a:rPr lang="en-US" altLang="zh-CN" sz="2800" b="1" dirty="0"/>
              <a:t>= n</a:t>
            </a:r>
            <a:r>
              <a:rPr lang="en-US" altLang="zh-CN" sz="2800" b="1" baseline="-25000" dirty="0"/>
              <a:t>2 </a:t>
            </a:r>
            <a:r>
              <a:rPr lang="en-US" altLang="zh-CN" sz="2800" b="1" dirty="0"/>
              <a:t>= 1</a:t>
            </a:r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906165" y="1020028"/>
            <a:ext cx="1029985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/>
              <a:t>        </a:t>
            </a:r>
            <a:r>
              <a:rPr lang="zh-CN" altLang="en-US" sz="2800" b="1" dirty="0"/>
              <a:t>取决于</a:t>
            </a:r>
            <a:r>
              <a:rPr lang="zh-CN" altLang="en-US" sz="2800" b="1" dirty="0">
                <a:solidFill>
                  <a:schemeClr val="accent2"/>
                </a:solidFill>
              </a:rPr>
              <a:t>两电对电极电势的相对大小以及电池反应转移的电子数</a:t>
            </a:r>
            <a:r>
              <a:rPr lang="en-US" altLang="zh-CN" sz="2800" b="1" dirty="0">
                <a:sym typeface="Webdings" pitchFamily="18" charset="2"/>
              </a:rPr>
              <a:t>.</a:t>
            </a:r>
          </a:p>
        </p:txBody>
      </p:sp>
      <p:sp>
        <p:nvSpPr>
          <p:cNvPr id="31766" name="Rectangle 2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5.2.1</a:t>
            </a:r>
            <a:r>
              <a:rPr lang="zh-CN" altLang="en-US"/>
              <a:t>判断反应方向</a:t>
            </a:r>
            <a:r>
              <a:rPr lang="en-US" altLang="zh-CN"/>
              <a:t>,</a:t>
            </a:r>
            <a:r>
              <a:rPr lang="zh-CN" altLang="en-US"/>
              <a:t>次序和限度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31767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8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9" name="AutoShape 25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0" name="AutoShape 26">
            <a:hlinkClick r:id="rId3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23688178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17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5" grpId="0" autoUpdateAnimBg="0"/>
      <p:bldP spid="31751" grpId="0" build="p" autoUpdateAnimBg="0"/>
      <p:bldP spid="31754" grpId="0" autoUpdateAnimBg="0"/>
      <p:bldP spid="3175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9D3A1C62-2772-4BF7-9D93-8E759EFBC406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2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8139089B-9AF0-4869-BA12-B84B6661A7FF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906164" y="1836050"/>
            <a:ext cx="10081816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/>
              <a:t>∴lg</a:t>
            </a:r>
            <a:r>
              <a:rPr lang="en-US" altLang="zh-CN" sz="2800" b="1" i="1"/>
              <a:t>K</a:t>
            </a:r>
            <a:r>
              <a:rPr lang="en-US" altLang="zh-CN" b="1" baseline="100000">
                <a:sym typeface="Webdings" pitchFamily="18" charset="2"/>
              </a:rPr>
              <a:t>  </a:t>
            </a:r>
            <a:r>
              <a:rPr lang="en-US" altLang="zh-CN" sz="2800" b="1"/>
              <a:t>= (0.7996 - 0.771)/0.0592 = 0.483</a:t>
            </a:r>
          </a:p>
          <a:p>
            <a:pPr>
              <a:lnSpc>
                <a:spcPct val="110000"/>
              </a:lnSpc>
            </a:pPr>
            <a:r>
              <a:rPr lang="en-US" altLang="zh-CN" sz="2800" b="1" i="1"/>
              <a:t>       K</a:t>
            </a:r>
            <a:r>
              <a:rPr lang="en-US" altLang="zh-CN" b="1" baseline="100000">
                <a:sym typeface="Webdings" pitchFamily="18" charset="2"/>
              </a:rPr>
              <a:t>  </a:t>
            </a:r>
            <a:r>
              <a:rPr lang="en-US" altLang="zh-CN" sz="2800" b="1"/>
              <a:t>= 3.04 </a:t>
            </a:r>
            <a:endParaRPr lang="en-US" altLang="zh-CN" sz="2800" b="1" i="1"/>
          </a:p>
        </p:txBody>
      </p:sp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3406615" y="993027"/>
          <a:ext cx="5076914" cy="948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8" name="公式" r:id="rId6" imgW="1726920" imgH="431640" progId="Equation.3">
                  <p:embed/>
                </p:oleObj>
              </mc:Choice>
              <mc:Fallback>
                <p:oleObj name="公式" r:id="rId6" imgW="17269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615" y="993027"/>
                        <a:ext cx="5076914" cy="948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3264588" y="3162086"/>
            <a:ext cx="58400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1.0              1.0                                     0</a:t>
            </a:r>
          </a:p>
        </p:txBody>
      </p:sp>
      <p:sp>
        <p:nvSpPr>
          <p:cNvPr id="44042" name="Rectangle 10"/>
          <p:cNvSpPr>
            <a:spLocks noChangeArrowheads="1"/>
          </p:cNvSpPr>
          <p:nvPr/>
        </p:nvSpPr>
        <p:spPr bwMode="auto">
          <a:xfrm>
            <a:off x="3036547" y="3570097"/>
            <a:ext cx="11128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1.0 - </a:t>
            </a:r>
            <a:r>
              <a:rPr lang="en-US" altLang="zh-CN" sz="2800" b="1" i="1"/>
              <a:t>x</a:t>
            </a:r>
            <a:endParaRPr lang="en-US" altLang="zh-CN" sz="2800" b="1"/>
          </a:p>
        </p:txBody>
      </p:sp>
      <p:sp>
        <p:nvSpPr>
          <p:cNvPr id="44043" name="Rectangle 11"/>
          <p:cNvSpPr>
            <a:spLocks noChangeArrowheads="1"/>
          </p:cNvSpPr>
          <p:nvPr/>
        </p:nvSpPr>
        <p:spPr bwMode="auto">
          <a:xfrm>
            <a:off x="8575904" y="3601598"/>
            <a:ext cx="3642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 dirty="0"/>
              <a:t>x</a:t>
            </a:r>
          </a:p>
        </p:txBody>
      </p: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4417323" y="3570097"/>
            <a:ext cx="12923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/>
              <a:t>0.10 - </a:t>
            </a:r>
            <a:r>
              <a:rPr lang="en-US" altLang="zh-CN" sz="2800" b="1" i="1" dirty="0"/>
              <a:t>x</a:t>
            </a:r>
          </a:p>
        </p:txBody>
      </p:sp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906165" y="4182113"/>
            <a:ext cx="8595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/>
              <a:t>K</a:t>
            </a:r>
            <a:r>
              <a:rPr lang="en-US" altLang="zh-CN" b="1" baseline="100000">
                <a:sym typeface="Webdings" pitchFamily="18" charset="2"/>
              </a:rPr>
              <a:t>  </a:t>
            </a:r>
            <a:r>
              <a:rPr lang="en-US" altLang="zh-CN" sz="2800" b="1"/>
              <a:t>=</a:t>
            </a:r>
          </a:p>
        </p:txBody>
      </p:sp>
      <p:sp>
        <p:nvSpPr>
          <p:cNvPr id="44046" name="Line 14"/>
          <p:cNvSpPr>
            <a:spLocks noChangeShapeType="1"/>
          </p:cNvSpPr>
          <p:nvPr/>
        </p:nvSpPr>
        <p:spPr bwMode="auto">
          <a:xfrm>
            <a:off x="2016364" y="4464121"/>
            <a:ext cx="226840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7" name="Rectangle 15"/>
          <p:cNvSpPr>
            <a:spLocks noChangeArrowheads="1"/>
          </p:cNvSpPr>
          <p:nvPr/>
        </p:nvSpPr>
        <p:spPr bwMode="auto">
          <a:xfrm>
            <a:off x="2492449" y="3943607"/>
            <a:ext cx="10599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[Fe</a:t>
            </a:r>
            <a:r>
              <a:rPr lang="en-US" altLang="zh-CN" sz="2800" b="1" baseline="30000"/>
              <a:t>3+</a:t>
            </a:r>
            <a:r>
              <a:rPr lang="en-US" altLang="zh-CN" sz="2800" b="1"/>
              <a:t>]</a:t>
            </a:r>
          </a:p>
        </p:txBody>
      </p:sp>
      <p:sp>
        <p:nvSpPr>
          <p:cNvPr id="44048" name="Rectangle 16"/>
          <p:cNvSpPr>
            <a:spLocks noChangeArrowheads="1"/>
          </p:cNvSpPr>
          <p:nvPr/>
        </p:nvSpPr>
        <p:spPr bwMode="auto">
          <a:xfrm>
            <a:off x="1948351" y="4453621"/>
            <a:ext cx="18758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[Ag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][Fe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]</a:t>
            </a:r>
          </a:p>
        </p:txBody>
      </p:sp>
      <p:sp>
        <p:nvSpPr>
          <p:cNvPr id="44049" name="Rectangle 17"/>
          <p:cNvSpPr>
            <a:spLocks noChangeArrowheads="1"/>
          </p:cNvSpPr>
          <p:nvPr/>
        </p:nvSpPr>
        <p:spPr bwMode="auto">
          <a:xfrm>
            <a:off x="4320778" y="4176113"/>
            <a:ext cx="3898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=</a:t>
            </a:r>
          </a:p>
        </p:txBody>
      </p:sp>
      <p:sp>
        <p:nvSpPr>
          <p:cNvPr id="44050" name="Line 18"/>
          <p:cNvSpPr>
            <a:spLocks noChangeShapeType="1"/>
          </p:cNvSpPr>
          <p:nvPr/>
        </p:nvSpPr>
        <p:spPr bwMode="auto">
          <a:xfrm>
            <a:off x="4800865" y="4464121"/>
            <a:ext cx="272049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1" name="Rectangle 19"/>
          <p:cNvSpPr>
            <a:spLocks noChangeArrowheads="1"/>
          </p:cNvSpPr>
          <p:nvPr/>
        </p:nvSpPr>
        <p:spPr bwMode="auto">
          <a:xfrm>
            <a:off x="5849053" y="3943607"/>
            <a:ext cx="3642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/>
              <a:t>x</a:t>
            </a:r>
          </a:p>
        </p:txBody>
      </p:sp>
      <p:sp>
        <p:nvSpPr>
          <p:cNvPr id="44052" name="Rectangle 20"/>
          <p:cNvSpPr>
            <a:spLocks noChangeArrowheads="1"/>
          </p:cNvSpPr>
          <p:nvPr/>
        </p:nvSpPr>
        <p:spPr bwMode="auto">
          <a:xfrm>
            <a:off x="4670842" y="4453621"/>
            <a:ext cx="23423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(1.0-</a:t>
            </a:r>
            <a:r>
              <a:rPr lang="en-US" altLang="zh-CN" sz="2800" b="1" i="1"/>
              <a:t>x</a:t>
            </a:r>
            <a:r>
              <a:rPr lang="en-US" altLang="zh-CN" sz="2800" b="1"/>
              <a:t>)(0.10-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</a:p>
        </p:txBody>
      </p:sp>
      <p:sp>
        <p:nvSpPr>
          <p:cNvPr id="44053" name="Rectangle 21"/>
          <p:cNvSpPr>
            <a:spLocks noChangeArrowheads="1"/>
          </p:cNvSpPr>
          <p:nvPr/>
        </p:nvSpPr>
        <p:spPr bwMode="auto">
          <a:xfrm>
            <a:off x="7585366" y="4176113"/>
            <a:ext cx="11079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= 3.04</a:t>
            </a:r>
          </a:p>
        </p:txBody>
      </p:sp>
      <p:sp>
        <p:nvSpPr>
          <p:cNvPr id="44054" name="Rectangle 22"/>
          <p:cNvSpPr>
            <a:spLocks noChangeArrowheads="1"/>
          </p:cNvSpPr>
          <p:nvPr/>
        </p:nvSpPr>
        <p:spPr bwMode="auto">
          <a:xfrm>
            <a:off x="906164" y="4930634"/>
            <a:ext cx="48862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解得</a:t>
            </a:r>
            <a:r>
              <a:rPr lang="en-US" altLang="zh-CN" sz="2800" b="1"/>
              <a:t>:[Fe</a:t>
            </a:r>
            <a:r>
              <a:rPr lang="en-US" altLang="zh-CN" sz="2800" b="1" baseline="30000"/>
              <a:t>3+</a:t>
            </a:r>
            <a:r>
              <a:rPr lang="en-US" altLang="zh-CN" sz="2800" b="1"/>
              <a:t>] = </a:t>
            </a:r>
            <a:r>
              <a:rPr lang="en-US" altLang="zh-CN" sz="2800" b="1" i="1"/>
              <a:t>x</a:t>
            </a:r>
            <a:r>
              <a:rPr lang="en-US" altLang="zh-CN" sz="2800" b="1"/>
              <a:t> = 0.074 mol·L</a:t>
            </a:r>
            <a:r>
              <a:rPr lang="en-US" altLang="zh-CN" sz="2800" b="1" baseline="30000"/>
              <a:t>-1</a:t>
            </a:r>
          </a:p>
        </p:txBody>
      </p:sp>
      <p:sp>
        <p:nvSpPr>
          <p:cNvPr id="44055" name="Rectangle 23"/>
          <p:cNvSpPr>
            <a:spLocks noChangeArrowheads="1"/>
          </p:cNvSpPr>
          <p:nvPr/>
        </p:nvSpPr>
        <p:spPr bwMode="auto">
          <a:xfrm>
            <a:off x="906164" y="2685073"/>
            <a:ext cx="825302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ym typeface="Monotype Sorts" pitchFamily="2" charset="2"/>
              </a:rPr>
              <a:t>②</a:t>
            </a:r>
            <a:r>
              <a:rPr lang="en-US" altLang="zh-CN" sz="2800" b="1" dirty="0"/>
              <a:t>                 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     +     Fe</a:t>
            </a:r>
            <a:r>
              <a:rPr lang="en-US" altLang="zh-CN" sz="2800" b="1" baseline="30000" dirty="0"/>
              <a:t>2+</a:t>
            </a:r>
            <a:r>
              <a:rPr lang="en-US" altLang="zh-CN" sz="2800" b="1" dirty="0"/>
              <a:t>     </a:t>
            </a:r>
            <a:r>
              <a:rPr lang="en-US" altLang="zh-CN" sz="2800" b="1" dirty="0" smtClean="0"/>
              <a:t></a:t>
            </a:r>
            <a:r>
              <a:rPr lang="en-US" altLang="zh-CN" sz="2800" b="1" dirty="0" smtClean="0">
                <a:latin typeface="MS Mincho"/>
                <a:ea typeface="MS Mincho"/>
              </a:rPr>
              <a:t>⇌</a:t>
            </a:r>
            <a:r>
              <a:rPr lang="en-US" altLang="zh-CN" sz="2800" b="1" dirty="0" smtClean="0"/>
              <a:t>    </a:t>
            </a:r>
            <a:r>
              <a:rPr lang="en-US" altLang="zh-CN" sz="2800" b="1" dirty="0"/>
              <a:t>Ag       +      Fe</a:t>
            </a:r>
            <a:r>
              <a:rPr lang="en-US" altLang="zh-CN" sz="2800" b="1" baseline="30000" dirty="0"/>
              <a:t>3+</a:t>
            </a:r>
            <a:endParaRPr lang="en-US" altLang="zh-CN" sz="2800" b="1" dirty="0"/>
          </a:p>
          <a:p>
            <a:endParaRPr lang="en-US" altLang="zh-CN" sz="2800" b="1" dirty="0"/>
          </a:p>
        </p:txBody>
      </p:sp>
      <p:sp>
        <p:nvSpPr>
          <p:cNvPr id="44056" name="Rectangle 24"/>
          <p:cNvSpPr>
            <a:spLocks noChangeArrowheads="1"/>
          </p:cNvSpPr>
          <p:nvPr/>
        </p:nvSpPr>
        <p:spPr bwMode="auto">
          <a:xfrm>
            <a:off x="906164" y="3127585"/>
            <a:ext cx="162736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初始浓度</a:t>
            </a:r>
          </a:p>
          <a:p>
            <a:r>
              <a:rPr lang="zh-CN" altLang="en-US" sz="2800" b="1"/>
              <a:t>平衡浓度</a:t>
            </a:r>
          </a:p>
        </p:txBody>
      </p:sp>
      <p:sp>
        <p:nvSpPr>
          <p:cNvPr id="44065" name="Rectangle 3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5.2.1</a:t>
            </a:r>
            <a:r>
              <a:rPr lang="zh-CN" altLang="en-US"/>
              <a:t>判断反应方向</a:t>
            </a:r>
            <a:r>
              <a:rPr lang="en-US" altLang="zh-CN"/>
              <a:t>,</a:t>
            </a:r>
            <a:r>
              <a:rPr lang="zh-CN" altLang="en-US"/>
              <a:t>次序和限度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44066" name="AutoShape 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7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8" name="AutoShape 36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9" name="AutoShape 37">
            <a:hlinkClick r:id="rId8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72500166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4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9" grpId="0" build="p" autoUpdateAnimBg="0"/>
      <p:bldP spid="44041" grpId="0" autoUpdateAnimBg="0"/>
      <p:bldP spid="44042" grpId="0" autoUpdateAnimBg="0"/>
      <p:bldP spid="44043" grpId="0" autoUpdateAnimBg="0"/>
      <p:bldP spid="44044" grpId="0" autoUpdateAnimBg="0"/>
      <p:bldP spid="44045" grpId="0" autoUpdateAnimBg="0"/>
      <p:bldP spid="44046" grpId="0" animBg="1"/>
      <p:bldP spid="44047" grpId="0" autoUpdateAnimBg="0"/>
      <p:bldP spid="44048" grpId="0" autoUpdateAnimBg="0"/>
      <p:bldP spid="44049" grpId="0" autoUpdateAnimBg="0"/>
      <p:bldP spid="44050" grpId="0" animBg="1"/>
      <p:bldP spid="44051" grpId="0" autoUpdateAnimBg="0"/>
      <p:bldP spid="44052" grpId="0" autoUpdateAnimBg="0"/>
      <p:bldP spid="44053" grpId="0" autoUpdateAnimBg="0"/>
      <p:bldP spid="44054" grpId="0" autoUpdateAnimBg="0"/>
      <p:bldP spid="44055" grpId="0" autoUpdateAnimBg="0"/>
      <p:bldP spid="4405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91AF1580-6D01-4374-9BBB-2F9ADF02DEEE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C4F43045-3B20-4F64-BF4F-E79ED252C1F7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906164" y="951026"/>
            <a:ext cx="10135825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例</a:t>
            </a:r>
            <a:r>
              <a:rPr lang="en-US" altLang="zh-CN" sz="2800" b="1" dirty="0">
                <a:solidFill>
                  <a:srgbClr val="FF3300"/>
                </a:solidFill>
              </a:rPr>
              <a:t>3:</a:t>
            </a:r>
            <a:r>
              <a:rPr lang="zh-CN" altLang="en-US" sz="2800" b="1" dirty="0"/>
              <a:t>计算反应</a:t>
            </a:r>
            <a:r>
              <a:rPr lang="en-US" altLang="zh-CN" sz="2800" b="1" dirty="0"/>
              <a:t>: 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+ 4Fe</a:t>
            </a:r>
            <a:r>
              <a:rPr lang="en-US" altLang="zh-CN" sz="2800" b="1" baseline="30000" dirty="0"/>
              <a:t>2+</a:t>
            </a:r>
            <a:r>
              <a:rPr lang="en-US" altLang="zh-CN" sz="2800" b="1" dirty="0"/>
              <a:t> + 4H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 </a:t>
            </a:r>
            <a:r>
              <a:rPr lang="en-US" altLang="zh-CN" sz="2800" b="1" dirty="0" smtClean="0">
                <a:latin typeface="MS Mincho"/>
                <a:ea typeface="MS Mincho"/>
              </a:rPr>
              <a:t>⇌</a:t>
            </a:r>
            <a:r>
              <a:rPr lang="en-US" altLang="zh-CN" sz="2800" b="1" dirty="0" smtClean="0"/>
              <a:t> </a:t>
            </a:r>
            <a:r>
              <a:rPr lang="en-US" altLang="zh-CN" sz="2800" b="1" dirty="0"/>
              <a:t>4Fe</a:t>
            </a:r>
            <a:r>
              <a:rPr lang="en-US" altLang="zh-CN" sz="2800" b="1" baseline="30000" dirty="0"/>
              <a:t>3+</a:t>
            </a:r>
            <a:r>
              <a:rPr lang="en-US" altLang="zh-CN" sz="2800" b="1" dirty="0"/>
              <a:t> + 2H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ym typeface="Monotype Sorts" pitchFamily="2" charset="2"/>
              </a:rPr>
              <a:t>在</a:t>
            </a:r>
            <a:r>
              <a:rPr lang="en-US" altLang="zh-CN" sz="2800" b="1" dirty="0"/>
              <a:t>298.15K</a:t>
            </a:r>
            <a:r>
              <a:rPr lang="zh-CN" altLang="en-US" sz="2800" b="1" dirty="0"/>
              <a:t>时的</a:t>
            </a:r>
            <a:r>
              <a:rPr lang="en-US" altLang="zh-CN" sz="2800" b="1" i="1" dirty="0">
                <a:solidFill>
                  <a:schemeClr val="bg2"/>
                </a:solidFill>
              </a:rPr>
              <a:t>K</a:t>
            </a:r>
            <a:r>
              <a:rPr lang="en-US" altLang="zh-CN" b="1" baseline="100000" dirty="0">
                <a:solidFill>
                  <a:schemeClr val="bg2"/>
                </a:solidFill>
                <a:sym typeface="Webdings" pitchFamily="18" charset="2"/>
              </a:rPr>
              <a:t> </a:t>
            </a:r>
            <a:r>
              <a:rPr lang="en-US" altLang="zh-CN" sz="2800" b="1" dirty="0">
                <a:solidFill>
                  <a:schemeClr val="bg2"/>
                </a:solidFill>
                <a:sym typeface="Webdings" pitchFamily="18" charset="2"/>
              </a:rPr>
              <a:t>.</a:t>
            </a:r>
            <a:endParaRPr lang="en-US" altLang="zh-CN" sz="2800" b="1" dirty="0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906164" y="1836050"/>
            <a:ext cx="6655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解</a:t>
            </a:r>
            <a:r>
              <a:rPr lang="en-US" altLang="zh-CN" sz="2800" b="1">
                <a:solidFill>
                  <a:srgbClr val="0000FF"/>
                </a:solidFill>
              </a:rPr>
              <a:t>:</a:t>
            </a:r>
            <a:endParaRPr lang="en-US" altLang="zh-CN" sz="2800" b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1632294" y="183605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∵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1632294" y="2685073"/>
            <a:ext cx="9505712" cy="190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800" b="1"/>
              <a:t>n’= 4.</a:t>
            </a:r>
          </a:p>
          <a:p>
            <a:pPr>
              <a:lnSpc>
                <a:spcPct val="105000"/>
              </a:lnSpc>
            </a:pPr>
            <a:r>
              <a:rPr lang="en-US" altLang="zh-CN" sz="2800" b="1"/>
              <a:t>∴lg</a:t>
            </a:r>
            <a:r>
              <a:rPr lang="en-US" altLang="zh-CN" sz="2800" b="1" i="1"/>
              <a:t>K</a:t>
            </a:r>
            <a:r>
              <a:rPr lang="en-US" altLang="zh-CN" b="1" baseline="100000">
                <a:sym typeface="Webdings" pitchFamily="18" charset="2"/>
              </a:rPr>
              <a:t>  </a:t>
            </a:r>
            <a:r>
              <a:rPr lang="en-US" altLang="zh-CN" sz="2800" b="1"/>
              <a:t>= 4×(1.229 - 0.771)/0.0592 = 30.9</a:t>
            </a:r>
          </a:p>
          <a:p>
            <a:pPr>
              <a:lnSpc>
                <a:spcPct val="105000"/>
              </a:lnSpc>
            </a:pPr>
            <a:r>
              <a:rPr lang="en-US" altLang="zh-CN" sz="2800" b="1" i="1"/>
              <a:t>       K</a:t>
            </a:r>
            <a:r>
              <a:rPr lang="en-US" altLang="zh-CN" b="1" baseline="100000">
                <a:sym typeface="Webdings" pitchFamily="18" charset="2"/>
              </a:rPr>
              <a:t>  </a:t>
            </a:r>
            <a:r>
              <a:rPr lang="en-US" altLang="zh-CN" sz="2800" b="1"/>
              <a:t>= 7.94×10</a:t>
            </a:r>
            <a:r>
              <a:rPr lang="en-US" altLang="zh-CN" sz="2800" b="1" baseline="30000"/>
              <a:t>30</a:t>
            </a:r>
            <a:r>
              <a:rPr lang="en-US" altLang="zh-CN" sz="2800" b="1"/>
              <a:t>. </a:t>
            </a:r>
          </a:p>
          <a:p>
            <a:pPr>
              <a:lnSpc>
                <a:spcPct val="105000"/>
              </a:lnSpc>
            </a:pPr>
            <a:r>
              <a:rPr lang="zh-CN" altLang="en-US" sz="2800" b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结论</a:t>
            </a:r>
            <a:endParaRPr lang="zh-CN" altLang="en-US" sz="2800" b="1"/>
          </a:p>
        </p:txBody>
      </p:sp>
      <p:graphicFrame>
        <p:nvGraphicFramePr>
          <p:cNvPr id="45066" name="Object 10"/>
          <p:cNvGraphicFramePr>
            <a:graphicFrameLocks noChangeAspect="1"/>
          </p:cNvGraphicFramePr>
          <p:nvPr/>
        </p:nvGraphicFramePr>
        <p:xfrm>
          <a:off x="2174393" y="1869050"/>
          <a:ext cx="5074913" cy="948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" name="公式" r:id="rId4" imgW="1726920" imgH="431640" progId="Equation.3">
                  <p:embed/>
                </p:oleObj>
              </mc:Choice>
              <mc:Fallback>
                <p:oleObj name="公式" r:id="rId4" imgW="17269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393" y="1869050"/>
                        <a:ext cx="5074913" cy="948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2538458" y="3978108"/>
            <a:ext cx="3048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endParaRPr lang="en-US" altLang="zh-CN" sz="2800" b="1"/>
          </a:p>
        </p:txBody>
      </p:sp>
      <p:sp>
        <p:nvSpPr>
          <p:cNvPr id="45077" name="Rectangle 2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5.2.1</a:t>
            </a:r>
            <a:r>
              <a:rPr lang="zh-CN" altLang="en-US"/>
              <a:t>判断反应方向</a:t>
            </a:r>
            <a:r>
              <a:rPr lang="en-US" altLang="zh-CN"/>
              <a:t>,</a:t>
            </a:r>
            <a:r>
              <a:rPr lang="zh-CN" altLang="en-US"/>
              <a:t>次序和限度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45078" name="AutoShape 2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9" name="AutoShape 2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0" name="AutoShape 24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1" name="AutoShape 25">
            <a:hlinkClick r:id="rId6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18978790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5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50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50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 autoUpdateAnimBg="0"/>
      <p:bldP spid="45063" grpId="0" autoUpdateAnimBg="0"/>
      <p:bldP spid="45064" grpId="0" autoUpdateAnimBg="0"/>
      <p:bldP spid="45065" grpId="0" build="p" autoUpdateAnimBg="0"/>
      <p:bldP spid="4506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1B54A6F5-3D26-4CC7-A4D7-2BF5A25A9BFC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E5FB496B-766D-4D01-ADDB-765DCF443ED8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906164" y="985527"/>
            <a:ext cx="28385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FF3300"/>
                </a:solidFill>
              </a:rPr>
              <a:t>1.</a:t>
            </a:r>
            <a:r>
              <a:rPr lang="zh-CN" altLang="en-US" sz="2800" b="1" u="sng">
                <a:solidFill>
                  <a:srgbClr val="FF3300"/>
                </a:solidFill>
              </a:rPr>
              <a:t>计算</a:t>
            </a:r>
            <a:r>
              <a:rPr lang="en-US" altLang="zh-CN" sz="2800" b="1" i="1" u="sng">
                <a:solidFill>
                  <a:srgbClr val="FF3300"/>
                </a:solidFill>
              </a:rPr>
              <a:t>K</a:t>
            </a:r>
            <a:r>
              <a:rPr lang="en-US" altLang="zh-CN" b="1" u="sng" baseline="100000">
                <a:solidFill>
                  <a:srgbClr val="FF3300"/>
                </a:solidFill>
                <a:sym typeface="Webdings" pitchFamily="18" charset="2"/>
              </a:rPr>
              <a:t></a:t>
            </a:r>
            <a:r>
              <a:rPr lang="en-US" altLang="zh-CN" sz="2800" b="1" u="sng" baseline="-25000">
                <a:solidFill>
                  <a:srgbClr val="FF3300"/>
                </a:solidFill>
                <a:sym typeface="Webdings" pitchFamily="18" charset="2"/>
              </a:rPr>
              <a:t>sp</a:t>
            </a:r>
            <a:r>
              <a:rPr lang="en-US" altLang="zh-CN" sz="2800" b="1">
                <a:solidFill>
                  <a:srgbClr val="FF3300"/>
                </a:solidFill>
                <a:sym typeface="Webdings" pitchFamily="18" charset="2"/>
              </a:rPr>
              <a:t>:</a:t>
            </a:r>
            <a:endParaRPr lang="en-US" altLang="zh-CN" sz="2800" b="1">
              <a:sym typeface="Webdings" pitchFamily="18" charset="2"/>
            </a:endParaRP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770139" y="3162085"/>
            <a:ext cx="10175832" cy="237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i="1" dirty="0"/>
              <a:t>          E</a:t>
            </a:r>
            <a:r>
              <a:rPr lang="en-US" altLang="zh-CN" sz="2800" b="1" baseline="-25000" dirty="0"/>
              <a:t>MF</a:t>
            </a:r>
            <a:r>
              <a:rPr lang="en-US" altLang="zh-CN" sz="2800" b="1" i="1" dirty="0"/>
              <a:t> =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/Ag</a:t>
            </a:r>
            <a:r>
              <a:rPr lang="en-US" altLang="zh-CN" sz="2800" b="1" dirty="0">
                <a:sym typeface="Symbol" pitchFamily="18" charset="2"/>
              </a:rPr>
              <a:t>) -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 err="1"/>
              <a:t>AgCl</a:t>
            </a:r>
            <a:r>
              <a:rPr lang="en-US" altLang="zh-CN" sz="2800" b="1" dirty="0"/>
              <a:t>/Ag</a:t>
            </a:r>
            <a:r>
              <a:rPr lang="en-US" altLang="zh-CN" sz="2800" b="1" dirty="0">
                <a:sym typeface="Symbol" pitchFamily="18" charset="2"/>
              </a:rPr>
              <a:t>) = 0.34V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ym typeface="Symbol" pitchFamily="18" charset="2"/>
              </a:rPr>
              <a:t>负极</a:t>
            </a:r>
            <a:r>
              <a:rPr lang="en-US" altLang="zh-CN" sz="2800" b="1" dirty="0">
                <a:sym typeface="Symbol" pitchFamily="18" charset="2"/>
              </a:rPr>
              <a:t>: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baseline="-25000" dirty="0">
                <a:sym typeface="Symbol" pitchFamily="18" charset="2"/>
              </a:rPr>
              <a:t>(-)</a:t>
            </a:r>
            <a:r>
              <a:rPr lang="en-US" altLang="zh-CN" sz="2800" b="1" dirty="0">
                <a:sym typeface="Symbol" pitchFamily="18" charset="2"/>
              </a:rPr>
              <a:t> =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/Ag</a:t>
            </a:r>
            <a:r>
              <a:rPr lang="en-US" altLang="zh-CN" sz="2800" b="1" dirty="0">
                <a:sym typeface="Symbol" pitchFamily="18" charset="2"/>
              </a:rPr>
              <a:t>) =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/Ag</a:t>
            </a:r>
            <a:r>
              <a:rPr lang="en-US" altLang="zh-CN" sz="2800" b="1" dirty="0">
                <a:sym typeface="Symbol" pitchFamily="18" charset="2"/>
              </a:rPr>
              <a:t>) + 0.0592lg[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>
                <a:sym typeface="Symbol" pitchFamily="18" charset="2"/>
              </a:rPr>
              <a:t>]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式中</a:t>
            </a:r>
            <a:r>
              <a:rPr lang="en-US" altLang="zh-CN" sz="2800" b="1" dirty="0">
                <a:sym typeface="Symbol" pitchFamily="18" charset="2"/>
              </a:rPr>
              <a:t>[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>
                <a:sym typeface="Symbol" pitchFamily="18" charset="2"/>
              </a:rPr>
              <a:t>] = </a:t>
            </a:r>
            <a:r>
              <a:rPr lang="en-US" altLang="zh-CN" sz="2800" b="1" i="1" dirty="0" err="1"/>
              <a:t>K</a:t>
            </a:r>
            <a:r>
              <a:rPr lang="en-US" altLang="zh-CN" b="1" baseline="100000" dirty="0" err="1">
                <a:sym typeface="Webdings" pitchFamily="18" charset="2"/>
              </a:rPr>
              <a:t></a:t>
            </a:r>
            <a:r>
              <a:rPr lang="en-US" altLang="zh-CN" sz="2800" b="1" baseline="-25000" dirty="0" err="1">
                <a:sym typeface="Webdings" pitchFamily="18" charset="2"/>
              </a:rPr>
              <a:t>sp</a:t>
            </a:r>
            <a:r>
              <a:rPr lang="en-US" altLang="zh-CN" sz="2800" b="1" dirty="0">
                <a:sym typeface="Webdings" pitchFamily="18" charset="2"/>
              </a:rPr>
              <a:t>/[Cl</a:t>
            </a:r>
            <a:r>
              <a:rPr lang="en-US" altLang="zh-CN" sz="2800" b="1" baseline="30000" dirty="0">
                <a:sym typeface="Webdings" pitchFamily="18" charset="2"/>
              </a:rPr>
              <a:t>-</a:t>
            </a:r>
            <a:r>
              <a:rPr lang="en-US" altLang="zh-CN" sz="2800" b="1" dirty="0">
                <a:sym typeface="Webdings" pitchFamily="18" charset="2"/>
              </a:rPr>
              <a:t>]</a:t>
            </a:r>
          </a:p>
          <a:p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baseline="-25000" dirty="0">
                <a:sym typeface="Symbol" pitchFamily="18" charset="2"/>
              </a:rPr>
              <a:t>(-)</a:t>
            </a:r>
            <a:r>
              <a:rPr lang="en-US" altLang="zh-CN" sz="2800" b="1" dirty="0">
                <a:sym typeface="Symbol" pitchFamily="18" charset="2"/>
              </a:rPr>
              <a:t> =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/Ag</a:t>
            </a:r>
            <a:r>
              <a:rPr lang="en-US" altLang="zh-CN" sz="2800" b="1" dirty="0">
                <a:sym typeface="Symbol" pitchFamily="18" charset="2"/>
              </a:rPr>
              <a:t>) =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/Ag</a:t>
            </a:r>
            <a:r>
              <a:rPr lang="en-US" altLang="zh-CN" sz="2800" b="1" dirty="0">
                <a:sym typeface="Symbol" pitchFamily="18" charset="2"/>
              </a:rPr>
              <a:t>) + 0.0592lg(</a:t>
            </a:r>
            <a:r>
              <a:rPr lang="en-US" altLang="zh-CN" sz="2800" b="1" i="1" dirty="0" err="1"/>
              <a:t>K</a:t>
            </a:r>
            <a:r>
              <a:rPr lang="en-US" altLang="zh-CN" b="1" baseline="100000" dirty="0" err="1">
                <a:sym typeface="Webdings" pitchFamily="18" charset="2"/>
              </a:rPr>
              <a:t></a:t>
            </a:r>
            <a:r>
              <a:rPr lang="en-US" altLang="zh-CN" sz="2800" b="1" baseline="-25000" dirty="0" err="1">
                <a:sym typeface="Webdings" pitchFamily="18" charset="2"/>
              </a:rPr>
              <a:t>sp</a:t>
            </a:r>
            <a:r>
              <a:rPr lang="en-US" altLang="zh-CN" sz="2800" b="1" dirty="0">
                <a:sym typeface="Webdings" pitchFamily="18" charset="2"/>
              </a:rPr>
              <a:t>/[Cl</a:t>
            </a:r>
            <a:r>
              <a:rPr lang="en-US" altLang="zh-CN" sz="2800" b="1" baseline="30000" dirty="0">
                <a:sym typeface="Webdings" pitchFamily="18" charset="2"/>
              </a:rPr>
              <a:t>-</a:t>
            </a:r>
            <a:r>
              <a:rPr lang="en-US" altLang="zh-CN" sz="2800" b="1" dirty="0">
                <a:sym typeface="Webdings" pitchFamily="18" charset="2"/>
              </a:rPr>
              <a:t>])</a:t>
            </a:r>
          </a:p>
          <a:p>
            <a:r>
              <a:rPr lang="zh-CN" altLang="en-US" sz="2800" b="1" dirty="0">
                <a:sym typeface="Symbol" pitchFamily="18" charset="2"/>
              </a:rPr>
              <a:t>正极</a:t>
            </a:r>
            <a:r>
              <a:rPr lang="en-US" altLang="zh-CN" sz="2800" b="1" dirty="0">
                <a:sym typeface="Symbol" pitchFamily="18" charset="2"/>
              </a:rPr>
              <a:t>: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baseline="-25000" dirty="0">
                <a:sym typeface="Symbol" pitchFamily="18" charset="2"/>
              </a:rPr>
              <a:t>(+)</a:t>
            </a:r>
            <a:r>
              <a:rPr lang="en-US" altLang="zh-CN" sz="2800" b="1" dirty="0">
                <a:sym typeface="Symbol" pitchFamily="18" charset="2"/>
              </a:rPr>
              <a:t> =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/Ag</a:t>
            </a:r>
            <a:r>
              <a:rPr lang="en-US" altLang="zh-CN" sz="2800" b="1" dirty="0">
                <a:sym typeface="Symbol" pitchFamily="18" charset="2"/>
              </a:rPr>
              <a:t>) =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80000" dirty="0">
                <a:sym typeface="Webdings" pitchFamily="18" charset="2"/>
              </a:rPr>
              <a:t>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/Ag</a:t>
            </a:r>
            <a:r>
              <a:rPr lang="en-US" altLang="zh-CN" sz="2800" b="1" dirty="0">
                <a:sym typeface="Symbol" pitchFamily="18" charset="2"/>
              </a:rPr>
              <a:t>) + 0.0592lg[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>
                <a:sym typeface="Symbol" pitchFamily="18" charset="2"/>
              </a:rPr>
              <a:t>]</a:t>
            </a: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10429878" y="4963634"/>
            <a:ext cx="2744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Symbol" pitchFamily="18" charset="2"/>
              </a:rPr>
              <a:t>.</a:t>
            </a:r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906164" y="1393539"/>
            <a:ext cx="10135825" cy="198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例</a:t>
            </a:r>
            <a:r>
              <a:rPr lang="en-US" altLang="zh-CN" sz="2800" b="1" dirty="0">
                <a:solidFill>
                  <a:srgbClr val="FF3300"/>
                </a:solidFill>
              </a:rPr>
              <a:t>4:</a:t>
            </a:r>
            <a:r>
              <a:rPr lang="zh-CN" altLang="en-US" sz="2800" b="1" dirty="0"/>
              <a:t>测得下述电池的电动势为</a:t>
            </a:r>
            <a:r>
              <a:rPr lang="en-US" altLang="zh-CN" sz="2800" b="1" dirty="0"/>
              <a:t>+0.34V: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/>
              <a:t>(-)</a:t>
            </a:r>
            <a:r>
              <a:rPr lang="en-US" altLang="zh-CN" sz="2800" b="1" dirty="0" err="1"/>
              <a:t>Ag|AgCl</a:t>
            </a:r>
            <a:r>
              <a:rPr lang="en-US" altLang="zh-CN" sz="2800" b="1" dirty="0"/>
              <a:t>(s),Cl</a:t>
            </a:r>
            <a:r>
              <a:rPr lang="en-US" altLang="zh-CN" sz="2800" b="1" baseline="30000" dirty="0"/>
              <a:t>-</a:t>
            </a:r>
            <a:r>
              <a:rPr lang="en-US" altLang="zh-CN" sz="2800" b="1" dirty="0"/>
              <a:t>(0.010 mol·L</a:t>
            </a:r>
            <a:r>
              <a:rPr lang="en-US" altLang="zh-CN" sz="2800" b="1" baseline="30000" dirty="0"/>
              <a:t>-1</a:t>
            </a:r>
            <a:r>
              <a:rPr lang="en-US" altLang="zh-CN" sz="2800" b="1" dirty="0"/>
              <a:t>)||Ag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(0.010 mol·L</a:t>
            </a:r>
            <a:r>
              <a:rPr lang="en-US" altLang="zh-CN" sz="2800" b="1" baseline="30000" dirty="0"/>
              <a:t>-1</a:t>
            </a:r>
            <a:r>
              <a:rPr lang="en-US" altLang="zh-CN" sz="2800" b="1" dirty="0"/>
              <a:t>) |Ag (+).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/>
              <a:t>求</a:t>
            </a:r>
            <a:r>
              <a:rPr lang="en-US" altLang="zh-CN" sz="2800" b="1" dirty="0" err="1"/>
              <a:t>AgCl</a:t>
            </a:r>
            <a:r>
              <a:rPr lang="zh-CN" altLang="en-US" sz="2800" b="1" dirty="0"/>
              <a:t>的</a:t>
            </a:r>
            <a:r>
              <a:rPr lang="en-US" altLang="zh-CN" sz="2800" b="1" i="1" dirty="0" err="1"/>
              <a:t>K</a:t>
            </a:r>
            <a:r>
              <a:rPr lang="en-US" altLang="zh-CN" b="1" baseline="100000" dirty="0" err="1">
                <a:sym typeface="Webdings" pitchFamily="18" charset="2"/>
              </a:rPr>
              <a:t></a:t>
            </a:r>
            <a:r>
              <a:rPr lang="en-US" altLang="zh-CN" sz="2800" b="1" baseline="-25000" dirty="0" err="1">
                <a:sym typeface="Webdings" pitchFamily="18" charset="2"/>
              </a:rPr>
              <a:t>sp</a:t>
            </a:r>
            <a:r>
              <a:rPr lang="en-US" altLang="zh-CN" sz="2800" b="1" dirty="0">
                <a:sym typeface="Webdings" pitchFamily="18" charset="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  <a:sym typeface="Webdings" pitchFamily="18" charset="2"/>
              </a:rPr>
              <a:t>解</a:t>
            </a:r>
            <a:r>
              <a:rPr lang="en-US" altLang="zh-CN" sz="2800" b="1" dirty="0">
                <a:solidFill>
                  <a:srgbClr val="0000FF"/>
                </a:solidFill>
                <a:sym typeface="Webdings" pitchFamily="18" charset="2"/>
              </a:rPr>
              <a:t>:</a:t>
            </a:r>
            <a:endParaRPr lang="en-US" altLang="zh-CN" sz="2800" b="1" dirty="0">
              <a:solidFill>
                <a:schemeClr val="accent2"/>
              </a:solidFill>
              <a:sym typeface="Webdings" pitchFamily="18" charset="2"/>
            </a:endParaRPr>
          </a:p>
        </p:txBody>
      </p:sp>
      <p:sp>
        <p:nvSpPr>
          <p:cNvPr id="26648" name="Rectangle 2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5.2.2</a:t>
            </a:r>
            <a:r>
              <a:rPr lang="zh-CN" altLang="en-US"/>
              <a:t>计算有关平衡常数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26650" name="AutoShape 2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1" name="AutoShape 2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2" name="AutoShape 28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3" name="AutoShape 29">
            <a:hlinkClick r:id="rId5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48014468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6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66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6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66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 autoUpdateAnimBg="0"/>
      <p:bldP spid="26633" grpId="0" build="p" autoUpdateAnimBg="0"/>
      <p:bldP spid="26635" grpId="0" autoUpdateAnimBg="0"/>
      <p:bldP spid="2663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B0D1EA60-56E2-4952-B1DA-F7342D8E1532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CB46D883-0A32-4591-9F6B-AFB7E463CC58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906165" y="1020028"/>
            <a:ext cx="10843952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buFont typeface="Symbol" pitchFamily="18" charset="2"/>
              <a:buNone/>
            </a:pPr>
            <a:r>
              <a:rPr lang="en-US" altLang="zh-CN" sz="2800" b="1" i="1">
                <a:sym typeface="Symbol" pitchFamily="18" charset="2"/>
              </a:rPr>
              <a:t> E</a:t>
            </a:r>
            <a:r>
              <a:rPr lang="en-US" altLang="zh-CN" sz="2800" b="1" baseline="-25000">
                <a:sym typeface="Symbol" pitchFamily="18" charset="2"/>
              </a:rPr>
              <a:t>MF</a:t>
            </a:r>
            <a:r>
              <a:rPr lang="en-US" altLang="zh-CN" sz="2800" b="1">
                <a:sym typeface="Symbol" pitchFamily="18" charset="2"/>
              </a:rPr>
              <a:t> = {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Ag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/Ag</a:t>
            </a:r>
            <a:r>
              <a:rPr lang="en-US" altLang="zh-CN" sz="2800" b="1">
                <a:sym typeface="Symbol" pitchFamily="18" charset="2"/>
              </a:rPr>
              <a:t>) + 0.0592lg[</a:t>
            </a:r>
            <a:r>
              <a:rPr lang="en-US" altLang="zh-CN" sz="2800" b="1"/>
              <a:t>Ag</a:t>
            </a:r>
            <a:r>
              <a:rPr lang="en-US" altLang="zh-CN" sz="2800" b="1" baseline="30000"/>
              <a:t>+</a:t>
            </a:r>
            <a:r>
              <a:rPr lang="en-US" altLang="zh-CN" sz="2800" b="1">
                <a:sym typeface="Symbol" pitchFamily="18" charset="2"/>
              </a:rPr>
              <a:t>]} - {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Ag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/Ag</a:t>
            </a:r>
            <a:r>
              <a:rPr lang="en-US" altLang="zh-CN" sz="2800" b="1">
                <a:sym typeface="Symbol" pitchFamily="18" charset="2"/>
              </a:rPr>
              <a:t>)</a:t>
            </a:r>
          </a:p>
          <a:p>
            <a:pPr>
              <a:lnSpc>
                <a:spcPct val="110000"/>
              </a:lnSpc>
              <a:buFont typeface="Symbol" pitchFamily="18" charset="2"/>
              <a:buNone/>
            </a:pPr>
            <a:r>
              <a:rPr lang="en-US" altLang="zh-CN" sz="2800" b="1">
                <a:sym typeface="Symbol" pitchFamily="18" charset="2"/>
              </a:rPr>
              <a:t> + 0.0592lg(</a:t>
            </a:r>
            <a:r>
              <a:rPr lang="en-US" altLang="zh-CN" sz="2800" b="1" i="1"/>
              <a:t>K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sp</a:t>
            </a:r>
            <a:r>
              <a:rPr lang="en-US" altLang="zh-CN" sz="2800" b="1">
                <a:sym typeface="Webdings" pitchFamily="18" charset="2"/>
              </a:rPr>
              <a:t>/[Cl</a:t>
            </a:r>
            <a:r>
              <a:rPr lang="en-US" altLang="zh-CN" sz="2800" b="1" baseline="30000">
                <a:sym typeface="Webdings" pitchFamily="18" charset="2"/>
              </a:rPr>
              <a:t>-</a:t>
            </a:r>
            <a:r>
              <a:rPr lang="en-US" altLang="zh-CN" sz="2800" b="1">
                <a:sym typeface="Webdings" pitchFamily="18" charset="2"/>
              </a:rPr>
              <a:t>])</a:t>
            </a:r>
            <a:r>
              <a:rPr lang="en-US" altLang="zh-CN" sz="2800" b="1">
                <a:sym typeface="Symbol" pitchFamily="18" charset="2"/>
              </a:rPr>
              <a:t>}</a:t>
            </a:r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3130564" y="1198533"/>
            <a:ext cx="1632294" cy="28800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5" name="Line 13"/>
          <p:cNvSpPr>
            <a:spLocks noChangeShapeType="1"/>
          </p:cNvSpPr>
          <p:nvPr/>
        </p:nvSpPr>
        <p:spPr bwMode="auto">
          <a:xfrm>
            <a:off x="7273205" y="1148837"/>
            <a:ext cx="1632294" cy="28800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906164" y="1869051"/>
            <a:ext cx="10125824" cy="198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>
                <a:sym typeface="Webdings" pitchFamily="18" charset="2"/>
              </a:rPr>
              <a:t>            = 0.0592lg</a:t>
            </a:r>
            <a:r>
              <a:rPr lang="en-US" altLang="zh-CN" sz="2800" b="1" dirty="0">
                <a:sym typeface="Symbol" pitchFamily="18" charset="2"/>
              </a:rPr>
              <a:t>[</a:t>
            </a:r>
            <a:r>
              <a:rPr lang="en-US" altLang="zh-CN" sz="2800" b="1" dirty="0"/>
              <a:t>Ag</a:t>
            </a:r>
            <a:r>
              <a:rPr lang="en-US" altLang="zh-CN" sz="2800" b="1" baseline="30000" dirty="0"/>
              <a:t>+</a:t>
            </a:r>
            <a:r>
              <a:rPr lang="en-US" altLang="zh-CN" sz="2800" b="1" dirty="0">
                <a:sym typeface="Symbol" pitchFamily="18" charset="2"/>
              </a:rPr>
              <a:t>]</a:t>
            </a:r>
            <a:r>
              <a:rPr lang="en-US" altLang="zh-CN" sz="2800" b="1" dirty="0">
                <a:sym typeface="Webdings" pitchFamily="18" charset="2"/>
              </a:rPr>
              <a:t> - 0.0592lg(</a:t>
            </a:r>
            <a:r>
              <a:rPr lang="en-US" altLang="zh-CN" sz="2800" b="1" i="1" dirty="0" err="1"/>
              <a:t>K</a:t>
            </a:r>
            <a:r>
              <a:rPr lang="en-US" altLang="zh-CN" b="1" baseline="100000" dirty="0" err="1">
                <a:sym typeface="Webdings" pitchFamily="18" charset="2"/>
              </a:rPr>
              <a:t></a:t>
            </a:r>
            <a:r>
              <a:rPr lang="en-US" altLang="zh-CN" sz="2800" b="1" baseline="-25000" dirty="0" err="1">
                <a:sym typeface="Webdings" pitchFamily="18" charset="2"/>
              </a:rPr>
              <a:t>sp</a:t>
            </a:r>
            <a:r>
              <a:rPr lang="en-US" altLang="zh-CN" sz="2800" b="1" dirty="0">
                <a:sym typeface="Webdings" pitchFamily="18" charset="2"/>
              </a:rPr>
              <a:t>/[Cl</a:t>
            </a:r>
            <a:r>
              <a:rPr lang="en-US" altLang="zh-CN" sz="2800" b="1" baseline="30000" dirty="0">
                <a:sym typeface="Webdings" pitchFamily="18" charset="2"/>
              </a:rPr>
              <a:t>-</a:t>
            </a:r>
            <a:r>
              <a:rPr lang="en-US" altLang="zh-CN" sz="2800" b="1" dirty="0">
                <a:sym typeface="Webdings" pitchFamily="18" charset="2"/>
              </a:rPr>
              <a:t>]) 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ym typeface="Webdings" pitchFamily="18" charset="2"/>
              </a:rPr>
              <a:t>            = 0.0592lg0.010 - 0.0592lg(</a:t>
            </a:r>
            <a:r>
              <a:rPr lang="en-US" altLang="zh-CN" sz="2800" b="1" i="1" dirty="0" err="1"/>
              <a:t>K</a:t>
            </a:r>
            <a:r>
              <a:rPr lang="en-US" altLang="zh-CN" b="1" baseline="100000" dirty="0" err="1">
                <a:sym typeface="Webdings" pitchFamily="18" charset="2"/>
              </a:rPr>
              <a:t></a:t>
            </a:r>
            <a:r>
              <a:rPr lang="en-US" altLang="zh-CN" sz="2800" b="1" baseline="-25000" dirty="0" err="1">
                <a:sym typeface="Webdings" pitchFamily="18" charset="2"/>
              </a:rPr>
              <a:t>sp</a:t>
            </a:r>
            <a:r>
              <a:rPr lang="en-US" altLang="zh-CN" sz="2800" b="1" dirty="0">
                <a:sym typeface="Webdings" pitchFamily="18" charset="2"/>
              </a:rPr>
              <a:t>/0.010) 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ym typeface="Webdings" pitchFamily="18" charset="2"/>
              </a:rPr>
              <a:t>            = 0.34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ym typeface="Webdings" pitchFamily="18" charset="2"/>
              </a:rPr>
              <a:t>解得</a:t>
            </a:r>
            <a:r>
              <a:rPr lang="en-US" altLang="zh-CN" sz="2800" b="1" dirty="0">
                <a:sym typeface="Webdings" pitchFamily="18" charset="2"/>
              </a:rPr>
              <a:t>:</a:t>
            </a:r>
            <a:r>
              <a:rPr lang="en-US" altLang="zh-CN" sz="2800" b="1" i="1" dirty="0" err="1"/>
              <a:t>K</a:t>
            </a:r>
            <a:r>
              <a:rPr lang="en-US" altLang="zh-CN" b="1" baseline="100000" dirty="0" err="1">
                <a:sym typeface="Webdings" pitchFamily="18" charset="2"/>
              </a:rPr>
              <a:t></a:t>
            </a:r>
            <a:r>
              <a:rPr lang="en-US" altLang="zh-CN" sz="2800" b="1" baseline="-25000" dirty="0" err="1">
                <a:sym typeface="Webdings" pitchFamily="18" charset="2"/>
              </a:rPr>
              <a:t>sp</a:t>
            </a:r>
            <a:r>
              <a:rPr lang="en-US" altLang="zh-CN" sz="2800" b="1" dirty="0">
                <a:sym typeface="Webdings" pitchFamily="18" charset="2"/>
              </a:rPr>
              <a:t>= 1.8×10</a:t>
            </a:r>
            <a:r>
              <a:rPr lang="en-US" altLang="zh-CN" sz="2800" b="1" baseline="30000" dirty="0">
                <a:sym typeface="Webdings" pitchFamily="18" charset="2"/>
              </a:rPr>
              <a:t>-10</a:t>
            </a:r>
            <a:r>
              <a:rPr lang="en-US" altLang="zh-CN" sz="2800" b="1" dirty="0">
                <a:sym typeface="Webdings" pitchFamily="18" charset="2"/>
              </a:rPr>
              <a:t>.</a:t>
            </a:r>
            <a:endParaRPr lang="en-US" altLang="zh-CN" sz="2800" b="1" dirty="0">
              <a:sym typeface="Symbol" pitchFamily="18" charset="2"/>
            </a:endParaRPr>
          </a:p>
        </p:txBody>
      </p:sp>
      <p:sp>
        <p:nvSpPr>
          <p:cNvPr id="33808" name="Rectangle 16"/>
          <p:cNvSpPr>
            <a:spLocks noChangeArrowheads="1"/>
          </p:cNvSpPr>
          <p:nvPr/>
        </p:nvSpPr>
        <p:spPr bwMode="auto">
          <a:xfrm>
            <a:off x="895449" y="3857288"/>
            <a:ext cx="37753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3300"/>
                </a:solidFill>
              </a:rPr>
              <a:t>2.</a:t>
            </a:r>
            <a:r>
              <a:rPr lang="zh-CN" altLang="en-US" sz="2800" b="1" u="sng" dirty="0">
                <a:solidFill>
                  <a:srgbClr val="FF3300"/>
                </a:solidFill>
              </a:rPr>
              <a:t>计算</a:t>
            </a:r>
            <a:r>
              <a:rPr lang="en-US" altLang="zh-CN" sz="2800" b="1" i="1" u="sng" dirty="0" err="1">
                <a:solidFill>
                  <a:srgbClr val="FF3300"/>
                </a:solidFill>
              </a:rPr>
              <a:t>K</a:t>
            </a:r>
            <a:r>
              <a:rPr lang="en-US" altLang="zh-CN" b="1" u="sng" baseline="100000" dirty="0" err="1">
                <a:solidFill>
                  <a:srgbClr val="FF3300"/>
                </a:solidFill>
                <a:sym typeface="Webdings" pitchFamily="18" charset="2"/>
              </a:rPr>
              <a:t></a:t>
            </a:r>
            <a:r>
              <a:rPr lang="en-US" altLang="zh-CN" sz="2800" b="1" u="sng" baseline="-25000" dirty="0" err="1">
                <a:solidFill>
                  <a:srgbClr val="FF3300"/>
                </a:solidFill>
                <a:sym typeface="Webdings" pitchFamily="18" charset="2"/>
              </a:rPr>
              <a:t>a</a:t>
            </a:r>
            <a:r>
              <a:rPr lang="en-US" altLang="zh-CN" sz="2800" b="1" u="sng" dirty="0">
                <a:solidFill>
                  <a:srgbClr val="FF3300"/>
                </a:solidFill>
                <a:sym typeface="Webdings" pitchFamily="18" charset="2"/>
              </a:rPr>
              <a:t>(</a:t>
            </a:r>
            <a:r>
              <a:rPr lang="zh-CN" altLang="en-US" sz="2800" b="1" u="sng" dirty="0">
                <a:solidFill>
                  <a:srgbClr val="FF3300"/>
                </a:solidFill>
                <a:sym typeface="Webdings" pitchFamily="18" charset="2"/>
              </a:rPr>
              <a:t>或</a:t>
            </a:r>
            <a:r>
              <a:rPr lang="en-US" altLang="zh-CN" sz="2800" b="1" i="1" u="sng" dirty="0" err="1">
                <a:solidFill>
                  <a:srgbClr val="FF3300"/>
                </a:solidFill>
              </a:rPr>
              <a:t>K</a:t>
            </a:r>
            <a:r>
              <a:rPr lang="en-US" altLang="zh-CN" b="1" u="sng" baseline="100000" dirty="0" err="1">
                <a:solidFill>
                  <a:srgbClr val="FF3300"/>
                </a:solidFill>
                <a:sym typeface="Webdings" pitchFamily="18" charset="2"/>
              </a:rPr>
              <a:t></a:t>
            </a:r>
            <a:r>
              <a:rPr lang="en-US" altLang="zh-CN" sz="2800" b="1" u="sng" baseline="-25000" dirty="0" err="1">
                <a:solidFill>
                  <a:srgbClr val="FF3300"/>
                </a:solidFill>
                <a:sym typeface="Webdings" pitchFamily="18" charset="2"/>
              </a:rPr>
              <a:t>b</a:t>
            </a:r>
            <a:r>
              <a:rPr lang="en-US" altLang="zh-CN" sz="2800" b="1" u="sng" dirty="0">
                <a:solidFill>
                  <a:srgbClr val="FF3300"/>
                </a:solidFill>
                <a:sym typeface="Webdings" pitchFamily="18" charset="2"/>
              </a:rPr>
              <a:t>)</a:t>
            </a:r>
            <a:r>
              <a:rPr lang="zh-CN" altLang="en-US" sz="2800" b="1" u="sng" dirty="0">
                <a:solidFill>
                  <a:srgbClr val="FF3300"/>
                </a:solidFill>
                <a:sym typeface="Webdings" pitchFamily="18" charset="2"/>
              </a:rPr>
              <a:t>或</a:t>
            </a:r>
            <a:r>
              <a:rPr lang="en-US" altLang="zh-CN" sz="2800" b="1" u="sng" dirty="0">
                <a:solidFill>
                  <a:srgbClr val="FF3300"/>
                </a:solidFill>
              </a:rPr>
              <a:t>pH</a:t>
            </a:r>
            <a:r>
              <a:rPr lang="en-US" altLang="zh-CN" sz="2800" b="1" dirty="0">
                <a:solidFill>
                  <a:srgbClr val="FF3300"/>
                </a:solidFill>
                <a:sym typeface="Webdings" pitchFamily="18" charset="2"/>
              </a:rPr>
              <a:t>:</a:t>
            </a:r>
          </a:p>
        </p:txBody>
      </p:sp>
      <p:sp>
        <p:nvSpPr>
          <p:cNvPr id="33809" name="Rectangle 17"/>
          <p:cNvSpPr>
            <a:spLocks noChangeArrowheads="1"/>
          </p:cNvSpPr>
          <p:nvPr/>
        </p:nvSpPr>
        <p:spPr bwMode="auto">
          <a:xfrm>
            <a:off x="903762" y="4307690"/>
            <a:ext cx="10299854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例</a:t>
            </a:r>
            <a:r>
              <a:rPr lang="en-US" altLang="zh-CN" sz="2800" b="1" dirty="0">
                <a:solidFill>
                  <a:srgbClr val="FF3300"/>
                </a:solidFill>
              </a:rPr>
              <a:t>5:</a:t>
            </a:r>
            <a:r>
              <a:rPr lang="zh-CN" altLang="en-US" sz="2800" b="1" dirty="0"/>
              <a:t>测得</a:t>
            </a:r>
            <a:r>
              <a:rPr lang="en-US" altLang="zh-CN" sz="2800" b="1" dirty="0"/>
              <a:t>:(-)Pt|H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|H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(0.10 mol·L</a:t>
            </a:r>
            <a:r>
              <a:rPr lang="en-US" altLang="zh-CN" sz="2800" b="1" baseline="30000" dirty="0"/>
              <a:t>-1</a:t>
            </a:r>
            <a:r>
              <a:rPr lang="en-US" altLang="zh-CN" sz="2800" b="1" dirty="0"/>
              <a:t>HX) || H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|H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|Pt(+)</a:t>
            </a:r>
            <a:r>
              <a:rPr lang="zh-CN" altLang="en-US" sz="2800" b="1" dirty="0"/>
              <a:t>电动势为</a:t>
            </a:r>
            <a:r>
              <a:rPr lang="en-US" altLang="zh-CN" sz="2800" b="1" dirty="0"/>
              <a:t>+0.168V.</a:t>
            </a:r>
            <a:r>
              <a:rPr lang="zh-CN" altLang="en-US" sz="2800" b="1" dirty="0"/>
              <a:t>求</a:t>
            </a:r>
            <a:r>
              <a:rPr lang="zh-CN" altLang="en-US" sz="2800" b="1" dirty="0">
                <a:sym typeface="Monotype Sorts" pitchFamily="2" charset="2"/>
              </a:rPr>
              <a:t>①</a:t>
            </a:r>
            <a:r>
              <a:rPr lang="zh-CN" altLang="en-US" sz="2800" b="1" dirty="0"/>
              <a:t>溶液</a:t>
            </a:r>
            <a:r>
              <a:rPr lang="en-US" altLang="zh-CN" sz="2800" b="1" dirty="0"/>
              <a:t>pH;</a:t>
            </a:r>
            <a:r>
              <a:rPr lang="en-US" altLang="zh-CN" sz="2800" b="1" dirty="0">
                <a:sym typeface="Monotype Sorts" pitchFamily="2" charset="2"/>
              </a:rPr>
              <a:t>②</a:t>
            </a:r>
            <a:r>
              <a:rPr lang="en-US" altLang="zh-CN" sz="2800" b="1" i="1" dirty="0" err="1"/>
              <a:t>K</a:t>
            </a:r>
            <a:r>
              <a:rPr lang="en-US" altLang="zh-CN" b="1" baseline="100000" dirty="0" err="1">
                <a:sym typeface="Webdings" pitchFamily="18" charset="2"/>
              </a:rPr>
              <a:t></a:t>
            </a:r>
            <a:r>
              <a:rPr lang="en-US" altLang="zh-CN" sz="2800" b="1" baseline="-25000" dirty="0" err="1">
                <a:sym typeface="Webdings" pitchFamily="18" charset="2"/>
              </a:rPr>
              <a:t>a</a:t>
            </a:r>
            <a:r>
              <a:rPr lang="en-US" altLang="zh-CN" sz="2800" b="1" dirty="0">
                <a:sym typeface="Webdings" pitchFamily="18" charset="2"/>
              </a:rPr>
              <a:t>(HX).</a:t>
            </a:r>
          </a:p>
        </p:txBody>
      </p:sp>
      <p:sp>
        <p:nvSpPr>
          <p:cNvPr id="33817" name="Rectangle 2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5.2.2</a:t>
            </a:r>
            <a:r>
              <a:rPr lang="zh-CN" altLang="en-US"/>
              <a:t>计算有关平衡常数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33818" name="AutoShape 2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9" name="AutoShape 2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0" name="AutoShape 28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1" name="AutoShape 29">
            <a:hlinkClick r:id="rId4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96361816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3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3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3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3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autoUpdateAnimBg="0"/>
      <p:bldP spid="33804" grpId="0" animBg="1"/>
      <p:bldP spid="33805" grpId="0" animBg="1"/>
      <p:bldP spid="33806" grpId="0" build="p" autoUpdateAnimBg="0"/>
      <p:bldP spid="33808" grpId="0" autoUpdateAnimBg="0"/>
      <p:bldP spid="3380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83DA0FEF-6B2F-4B77-8BD3-A9BE44448578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20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A256F0BE-5824-4584-BE3D-DC280470DB73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1632294" y="3099084"/>
            <a:ext cx="6197530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/>
              <a:t>∴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H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/H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sym typeface="Symbol" pitchFamily="18" charset="2"/>
              </a:rPr>
              <a:t>) = (0.0592/2)</a:t>
            </a:r>
            <a:r>
              <a:rPr lang="en-US" altLang="zh-CN" sz="2800" b="1" dirty="0" err="1">
                <a:sym typeface="Symbol" pitchFamily="18" charset="2"/>
              </a:rPr>
              <a:t>lg</a:t>
            </a:r>
            <a:r>
              <a:rPr lang="en-US" altLang="zh-CN" sz="2800" b="1" dirty="0">
                <a:sym typeface="Symbol" pitchFamily="18" charset="2"/>
              </a:rPr>
              <a:t>[H</a:t>
            </a:r>
            <a:r>
              <a:rPr lang="en-US" altLang="zh-CN" sz="2800" b="1" baseline="30000" dirty="0">
                <a:sym typeface="Symbol" pitchFamily="18" charset="2"/>
              </a:rPr>
              <a:t>+</a:t>
            </a:r>
            <a:r>
              <a:rPr lang="en-US" altLang="zh-CN" sz="2800" b="1" dirty="0">
                <a:sym typeface="Symbol" pitchFamily="18" charset="2"/>
              </a:rPr>
              <a:t>]</a:t>
            </a:r>
            <a:r>
              <a:rPr lang="en-US" altLang="zh-CN" sz="2800" b="1" baseline="30000" dirty="0">
                <a:sym typeface="Symbol" pitchFamily="18" charset="2"/>
              </a:rPr>
              <a:t>2</a:t>
            </a:r>
            <a:r>
              <a:rPr lang="en-US" altLang="zh-CN" sz="2800" b="1" dirty="0">
                <a:sym typeface="Symbol" pitchFamily="18" charset="2"/>
              </a:rPr>
              <a:t> = -0.168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/>
              <a:t>解得</a:t>
            </a:r>
            <a:r>
              <a:rPr lang="en-US" altLang="zh-CN" sz="2800" b="1" dirty="0"/>
              <a:t>:[H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] =1.4×10</a:t>
            </a:r>
            <a:r>
              <a:rPr lang="en-US" altLang="zh-CN" sz="2800" b="1" baseline="30000" dirty="0"/>
              <a:t>-3 </a:t>
            </a:r>
            <a:r>
              <a:rPr lang="en-US" altLang="zh-CN" sz="2800" b="1" dirty="0"/>
              <a:t>,pH = 2.85.</a:t>
            </a: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906164" y="985527"/>
            <a:ext cx="6655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解</a:t>
            </a:r>
            <a:r>
              <a:rPr lang="en-US" altLang="zh-CN" sz="2800" b="1">
                <a:solidFill>
                  <a:srgbClr val="0000FF"/>
                </a:solidFill>
              </a:rPr>
              <a:t>:</a:t>
            </a:r>
            <a:endParaRPr lang="en-US" altLang="zh-CN" sz="2800" b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1632294" y="951026"/>
            <a:ext cx="9313677" cy="151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/>
              <a:t>①</a:t>
            </a:r>
            <a:r>
              <a:rPr lang="en-US" altLang="zh-CN" sz="2800" b="1" i="1"/>
              <a:t>E</a:t>
            </a:r>
            <a:r>
              <a:rPr lang="en-US" altLang="zh-CN" sz="2800" b="1" baseline="-25000"/>
              <a:t>MF</a:t>
            </a:r>
            <a:r>
              <a:rPr lang="en-US" altLang="zh-CN" sz="2800" b="1" i="1"/>
              <a:t> =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H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/H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sym typeface="Symbol" pitchFamily="18" charset="2"/>
              </a:rPr>
              <a:t>) -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H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/H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sym typeface="Symbol" pitchFamily="18" charset="2"/>
              </a:rPr>
              <a:t>) = 0.168V</a:t>
            </a:r>
          </a:p>
          <a:p>
            <a:pPr>
              <a:lnSpc>
                <a:spcPct val="110000"/>
              </a:lnSpc>
            </a:pPr>
            <a:r>
              <a:rPr lang="en-US" altLang="zh-CN" sz="2800" b="1">
                <a:sym typeface="Symbol" pitchFamily="18" charset="2"/>
              </a:rPr>
              <a:t>∵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H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/H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sym typeface="Symbol" pitchFamily="18" charset="2"/>
              </a:rPr>
              <a:t>) = 0.000V.</a:t>
            </a:r>
          </a:p>
          <a:p>
            <a:pPr>
              <a:lnSpc>
                <a:spcPct val="110000"/>
              </a:lnSpc>
            </a:pPr>
            <a:r>
              <a:rPr lang="en-US" altLang="zh-CN" sz="2800" b="1">
                <a:sym typeface="Symbol" pitchFamily="18" charset="2"/>
              </a:rPr>
              <a:t>∴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en-US" altLang="zh-CN" sz="2800" b="1"/>
              <a:t>H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/H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sym typeface="Symbol" pitchFamily="18" charset="2"/>
              </a:rPr>
              <a:t>) = -0.168V.</a:t>
            </a:r>
          </a:p>
        </p:txBody>
      </p:sp>
      <p:graphicFrame>
        <p:nvGraphicFramePr>
          <p:cNvPr id="34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473866"/>
              </p:ext>
            </p:extLst>
          </p:nvPr>
        </p:nvGraphicFramePr>
        <p:xfrm>
          <a:off x="906164" y="2259844"/>
          <a:ext cx="9617732" cy="1296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2" name="公式" r:id="rId4" imgW="3238200" imgH="583920" progId="Equation.3">
                  <p:embed/>
                </p:oleObj>
              </mc:Choice>
              <mc:Fallback>
                <p:oleObj name="公式" r:id="rId4" imgW="323820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164" y="2259844"/>
                        <a:ext cx="9617732" cy="1296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9" name="Rectangle 13"/>
          <p:cNvSpPr>
            <a:spLocks noChangeArrowheads="1"/>
          </p:cNvSpPr>
          <p:nvPr/>
        </p:nvSpPr>
        <p:spPr bwMode="auto">
          <a:xfrm>
            <a:off x="147" y="2501401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/>
              <a:t>又∵</a:t>
            </a:r>
          </a:p>
        </p:txBody>
      </p:sp>
      <p:sp>
        <p:nvSpPr>
          <p:cNvPr id="34837" name="Rectangle 21"/>
          <p:cNvSpPr>
            <a:spLocks noChangeArrowheads="1"/>
          </p:cNvSpPr>
          <p:nvPr/>
        </p:nvSpPr>
        <p:spPr bwMode="auto">
          <a:xfrm>
            <a:off x="7617372" y="4861632"/>
            <a:ext cx="21178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/>
              <a:t>= </a:t>
            </a:r>
            <a:r>
              <a:rPr lang="en-US" altLang="zh-CN" sz="2800" b="1" dirty="0" smtClean="0"/>
              <a:t>2.25×10</a:t>
            </a:r>
            <a:r>
              <a:rPr lang="en-US" altLang="zh-CN" sz="2800" b="1" baseline="30000" dirty="0" smtClean="0"/>
              <a:t>-5</a:t>
            </a:r>
            <a:r>
              <a:rPr lang="en-US" altLang="zh-CN" sz="2800" b="1" dirty="0"/>
              <a:t>.</a:t>
            </a:r>
          </a:p>
        </p:txBody>
      </p:sp>
      <p:sp>
        <p:nvSpPr>
          <p:cNvPr id="34847" name="Rectangle 3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5.2.2</a:t>
            </a:r>
            <a:r>
              <a:rPr lang="zh-CN" altLang="en-US"/>
              <a:t>计算有关平衡常数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34849" name="AutoShape 33">
            <a:hlinkClick r:id="rId6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6849233" y="5610152"/>
            <a:ext cx="544098" cy="408011"/>
          </a:xfrm>
          <a:prstGeom prst="actionButtonReturn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目录</a:t>
            </a:r>
          </a:p>
        </p:txBody>
      </p:sp>
      <p:sp>
        <p:nvSpPr>
          <p:cNvPr id="34850" name="AutoShape 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1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2" name="AutoShape 36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3" name="AutoShape 37">
            <a:hlinkClick r:id="rId7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  <p:sp>
        <p:nvSpPr>
          <p:cNvPr id="2" name="矩形 1"/>
          <p:cNvSpPr/>
          <p:nvPr/>
        </p:nvSpPr>
        <p:spPr>
          <a:xfrm>
            <a:off x="1896538" y="4476971"/>
            <a:ext cx="12554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</a:rPr>
              <a:t>:[H</a:t>
            </a:r>
            <a:r>
              <a:rPr lang="en-US" altLang="zh-CN" sz="2800" b="1" baseline="30000" dirty="0">
                <a:solidFill>
                  <a:srgbClr val="000000"/>
                </a:solidFill>
              </a:rPr>
              <a:t>+</a:t>
            </a:r>
            <a:r>
              <a:rPr lang="en-US" altLang="zh-CN" sz="2800" b="1" dirty="0">
                <a:solidFill>
                  <a:srgbClr val="000000"/>
                </a:solidFill>
              </a:rPr>
              <a:t>] =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584814" y="4476971"/>
            <a:ext cx="299037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126183" y="4399967"/>
            <a:ext cx="5645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/>
              <a:t>√</a:t>
            </a:r>
          </a:p>
        </p:txBody>
      </p:sp>
      <p:sp>
        <p:nvSpPr>
          <p:cNvPr id="8" name="矩形 7"/>
          <p:cNvSpPr/>
          <p:nvPr/>
        </p:nvSpPr>
        <p:spPr>
          <a:xfrm>
            <a:off x="3702808" y="4646248"/>
            <a:ext cx="24801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dirty="0" err="1" smtClean="0"/>
              <a:t>K</a:t>
            </a:r>
            <a:r>
              <a:rPr lang="en-US" altLang="zh-CN" sz="2800" b="1" baseline="100000" dirty="0" err="1">
                <a:sym typeface="Webdings" pitchFamily="18" charset="2"/>
              </a:rPr>
              <a:t></a:t>
            </a:r>
            <a:r>
              <a:rPr lang="en-US" altLang="zh-CN" sz="2800" b="1" baseline="-25000" dirty="0" err="1" smtClean="0">
                <a:sym typeface="Webdings" pitchFamily="18" charset="2"/>
              </a:rPr>
              <a:t>a</a:t>
            </a:r>
            <a:r>
              <a:rPr lang="en-US" altLang="zh-CN" sz="2800" b="1" dirty="0" smtClean="0">
                <a:sym typeface="Webdings" pitchFamily="18" charset="2"/>
              </a:rPr>
              <a:t>(HX</a:t>
            </a:r>
            <a:r>
              <a:rPr lang="zh-CN" altLang="en-US" sz="2800" b="1" dirty="0">
                <a:sym typeface="Webdings" pitchFamily="18" charset="2"/>
              </a:rPr>
              <a:t>） </a:t>
            </a:r>
            <a:r>
              <a:rPr lang="en-US" altLang="zh-CN" sz="2800" b="1" dirty="0" smtClean="0">
                <a:sym typeface="Webdings" pitchFamily="18" charset="2"/>
              </a:rPr>
              <a:t>×</a:t>
            </a:r>
            <a:r>
              <a:rPr lang="en-US" altLang="zh-CN" sz="4000" b="1" dirty="0" smtClean="0">
                <a:sym typeface="Webdings" pitchFamily="18" charset="2"/>
              </a:rPr>
              <a:t>c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23396022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4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4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4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 build="p" autoUpdateAnimBg="0"/>
      <p:bldP spid="34825" grpId="0" autoUpdateAnimBg="0"/>
      <p:bldP spid="34826" grpId="0" build="p" autoUpdateAnimBg="0"/>
      <p:bldP spid="34829" grpId="0" autoUpdateAnimBg="0"/>
      <p:bldP spid="34837" grpId="0" autoUpdateAnimBg="0"/>
      <p:bldP spid="2" grpId="0"/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C3F3AE17-50C4-40CF-A52F-613A7B8E20A2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033770A6-C47F-46B0-91B3-74D729D482D6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906164" y="1020028"/>
            <a:ext cx="10135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3300"/>
                </a:solidFill>
              </a:rPr>
              <a:t>元素标准电极电势图</a:t>
            </a:r>
            <a:r>
              <a:rPr lang="en-US" altLang="zh-CN" sz="2800" b="1"/>
              <a:t>(</a:t>
            </a:r>
            <a:r>
              <a:rPr lang="zh-CN" altLang="en-US" sz="2800" b="1"/>
              <a:t>简称</a:t>
            </a:r>
            <a:r>
              <a:rPr lang="zh-CN" altLang="en-US" sz="2800" b="1">
                <a:solidFill>
                  <a:srgbClr val="FF3300"/>
                </a:solidFill>
              </a:rPr>
              <a:t>元素电势图</a:t>
            </a:r>
            <a:r>
              <a:rPr lang="en-US" altLang="zh-CN" sz="2800" b="1"/>
              <a:t>):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906165" y="1359037"/>
            <a:ext cx="10299854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/>
              <a:t>　　元素各氧化值物质间标准电极电势变化的关系图</a:t>
            </a:r>
            <a:r>
              <a:rPr lang="en-US" altLang="zh-CN" sz="2800" b="1" dirty="0"/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/>
              <a:t>        </a:t>
            </a:r>
            <a:r>
              <a:rPr lang="zh-CN" altLang="en-US" sz="2800" b="1" dirty="0"/>
              <a:t>如溴</a:t>
            </a:r>
            <a:r>
              <a:rPr lang="en-US" altLang="zh-CN" sz="2800" b="1" dirty="0"/>
              <a:t>: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906164" y="2719574"/>
            <a:ext cx="10262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酸性</a:t>
            </a:r>
            <a:r>
              <a:rPr lang="en-US" altLang="zh-CN" sz="2800" b="1" dirty="0"/>
              <a:t>:</a:t>
            </a: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2400432" y="3312090"/>
            <a:ext cx="676928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 dirty="0"/>
              <a:t>            +1.49              +1.59           +1.087</a:t>
            </a:r>
          </a:p>
          <a:p>
            <a:pPr>
              <a:lnSpc>
                <a:spcPct val="60000"/>
              </a:lnSpc>
            </a:pPr>
            <a:r>
              <a:rPr lang="en-US" altLang="zh-CN" sz="2800" b="1" dirty="0"/>
              <a:t>BrO</a:t>
            </a:r>
            <a:r>
              <a:rPr lang="en-US" altLang="zh-CN" sz="2800" b="1" baseline="-25000" dirty="0"/>
              <a:t>3</a:t>
            </a:r>
            <a:r>
              <a:rPr lang="en-US" altLang="zh-CN" sz="2800" b="1" baseline="30000" dirty="0"/>
              <a:t>-</a:t>
            </a:r>
            <a:r>
              <a:rPr lang="en-US" altLang="zh-CN" sz="2800" b="1" dirty="0"/>
              <a:t> ——— </a:t>
            </a:r>
            <a:r>
              <a:rPr lang="en-US" altLang="zh-CN" sz="2800" b="1" dirty="0" err="1"/>
              <a:t>HBrO</a:t>
            </a:r>
            <a:r>
              <a:rPr lang="en-US" altLang="zh-CN" sz="2800" b="1" dirty="0"/>
              <a:t>———  Br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——— Br</a:t>
            </a:r>
            <a:r>
              <a:rPr lang="en-US" altLang="zh-CN" sz="2800" b="1" baseline="30000" dirty="0"/>
              <a:t>-</a:t>
            </a:r>
            <a:endParaRPr lang="en-US" altLang="zh-CN" sz="2800" b="1" dirty="0"/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906164" y="3439593"/>
            <a:ext cx="11968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baseline="-25000" dirty="0">
                <a:sym typeface="Webdings" pitchFamily="18" charset="2"/>
              </a:rPr>
              <a:t>A</a:t>
            </a:r>
            <a:r>
              <a:rPr lang="en-US" altLang="zh-CN" sz="2800" b="1" dirty="0">
                <a:sym typeface="Webdings" pitchFamily="18" charset="2"/>
              </a:rPr>
              <a:t>/V: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4992899" y="2736074"/>
            <a:ext cx="10182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/>
              <a:t>+1.52</a:t>
            </a:r>
          </a:p>
        </p:txBody>
      </p:sp>
      <p:grpSp>
        <p:nvGrpSpPr>
          <p:cNvPr id="27680" name="Group 32"/>
          <p:cNvGrpSpPr>
            <a:grpSpLocks/>
          </p:cNvGrpSpPr>
          <p:nvPr/>
        </p:nvGrpSpPr>
        <p:grpSpPr bwMode="auto">
          <a:xfrm>
            <a:off x="2909545" y="3242794"/>
            <a:ext cx="4147636" cy="271508"/>
            <a:chOff x="1488" y="2160"/>
            <a:chExt cx="2592" cy="181"/>
          </a:xfrm>
        </p:grpSpPr>
        <p:sp>
          <p:nvSpPr>
            <p:cNvPr id="27660" name="Line 12"/>
            <p:cNvSpPr>
              <a:spLocks noChangeShapeType="1"/>
            </p:cNvSpPr>
            <p:nvPr/>
          </p:nvSpPr>
          <p:spPr bwMode="auto">
            <a:xfrm flipV="1">
              <a:off x="1488" y="2160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1488" y="2160"/>
              <a:ext cx="25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4080" y="2160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7163291" y="4147612"/>
            <a:ext cx="10182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+1.33</a:t>
            </a:r>
          </a:p>
        </p:txBody>
      </p:sp>
      <p:grpSp>
        <p:nvGrpSpPr>
          <p:cNvPr id="27682" name="Group 34"/>
          <p:cNvGrpSpPr>
            <a:grpSpLocks/>
          </p:cNvGrpSpPr>
          <p:nvPr/>
        </p:nvGrpSpPr>
        <p:grpSpPr bwMode="auto">
          <a:xfrm>
            <a:off x="5665020" y="3888104"/>
            <a:ext cx="3120353" cy="396761"/>
            <a:chOff x="2832" y="2592"/>
            <a:chExt cx="2304" cy="192"/>
          </a:xfrm>
        </p:grpSpPr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2832" y="259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2832" y="2784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7" name="Line 19"/>
            <p:cNvSpPr>
              <a:spLocks noChangeShapeType="1"/>
            </p:cNvSpPr>
            <p:nvPr/>
          </p:nvSpPr>
          <p:spPr bwMode="auto">
            <a:xfrm flipV="1">
              <a:off x="5136" y="259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5849053" y="4657626"/>
            <a:ext cx="10182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+1.44</a:t>
            </a:r>
          </a:p>
        </p:txBody>
      </p:sp>
      <p:grpSp>
        <p:nvGrpSpPr>
          <p:cNvPr id="27681" name="Group 33"/>
          <p:cNvGrpSpPr>
            <a:grpSpLocks/>
          </p:cNvGrpSpPr>
          <p:nvPr/>
        </p:nvGrpSpPr>
        <p:grpSpPr bwMode="auto">
          <a:xfrm>
            <a:off x="2946532" y="3910606"/>
            <a:ext cx="5982858" cy="748520"/>
            <a:chOff x="1473" y="2607"/>
            <a:chExt cx="3744" cy="499"/>
          </a:xfrm>
        </p:grpSpPr>
        <p:sp>
          <p:nvSpPr>
            <p:cNvPr id="27669" name="Line 21"/>
            <p:cNvSpPr>
              <a:spLocks noChangeShapeType="1"/>
            </p:cNvSpPr>
            <p:nvPr/>
          </p:nvSpPr>
          <p:spPr bwMode="auto">
            <a:xfrm>
              <a:off x="1473" y="2607"/>
              <a:ext cx="0" cy="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0" name="Line 22"/>
            <p:cNvSpPr>
              <a:spLocks noChangeShapeType="1"/>
            </p:cNvSpPr>
            <p:nvPr/>
          </p:nvSpPr>
          <p:spPr bwMode="auto">
            <a:xfrm>
              <a:off x="1473" y="3105"/>
              <a:ext cx="3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1" name="Line 23"/>
            <p:cNvSpPr>
              <a:spLocks noChangeShapeType="1"/>
            </p:cNvSpPr>
            <p:nvPr/>
          </p:nvSpPr>
          <p:spPr bwMode="auto">
            <a:xfrm flipV="1">
              <a:off x="5214" y="2607"/>
              <a:ext cx="0" cy="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906164" y="4930634"/>
            <a:ext cx="10262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2CB4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碱性</a:t>
            </a:r>
            <a:r>
              <a:rPr lang="en-US" altLang="zh-CN" sz="2800" b="1"/>
              <a:t>:</a:t>
            </a:r>
          </a:p>
        </p:txBody>
      </p:sp>
      <p:sp>
        <p:nvSpPr>
          <p:cNvPr id="27684" name="Rectangle 3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5.2.3</a:t>
            </a:r>
            <a:r>
              <a:rPr lang="zh-CN" altLang="en-US"/>
              <a:t>元素电势图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27685" name="AutoShape 3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86" name="AutoShape 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87" name="AutoShape 39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88" name="AutoShape 40">
            <a:hlinkClick r:id="rId6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52802682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utoUpdateAnimBg="0"/>
      <p:bldP spid="27655" grpId="0" build="p" autoUpdateAnimBg="0"/>
      <p:bldP spid="27656" grpId="0" autoUpdateAnimBg="0"/>
      <p:bldP spid="27657" grpId="0" autoUpdateAnimBg="0"/>
      <p:bldP spid="27658" grpId="0" autoUpdateAnimBg="0"/>
      <p:bldP spid="27659" grpId="0" autoUpdateAnimBg="0"/>
      <p:bldP spid="27664" grpId="0" autoUpdateAnimBg="0"/>
      <p:bldP spid="27668" grpId="0" autoUpdateAnimBg="0"/>
      <p:bldP spid="2767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33EA0085-31AC-42E8-9478-50329975A5CB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30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A9D29A97-A6AE-4624-A107-46F68A3A0393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4624833" y="918025"/>
            <a:ext cx="1440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+0.52</a:t>
            </a: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2402434" y="1428039"/>
            <a:ext cx="648074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/>
              <a:t>            +0.54           +0.45           +1.09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BrO</a:t>
            </a:r>
            <a:r>
              <a:rPr lang="en-US" altLang="zh-CN" sz="2800" b="1" baseline="-25000"/>
              <a:t>3</a:t>
            </a:r>
            <a:r>
              <a:rPr lang="en-US" altLang="zh-CN" sz="2800" b="1" baseline="30000"/>
              <a:t>-</a:t>
            </a:r>
            <a:r>
              <a:rPr lang="en-US" altLang="zh-CN" sz="2800" b="1"/>
              <a:t> ———BrO</a:t>
            </a:r>
            <a:r>
              <a:rPr lang="en-US" altLang="zh-CN" sz="2800" b="1" baseline="30000"/>
              <a:t>-</a:t>
            </a:r>
            <a:r>
              <a:rPr lang="en-US" altLang="zh-CN" sz="2800" b="1"/>
              <a:t>———  Br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——— Br</a:t>
            </a:r>
            <a:r>
              <a:rPr lang="en-US" altLang="zh-CN" sz="2800" b="1" baseline="30000"/>
              <a:t>-</a:t>
            </a:r>
            <a:endParaRPr lang="en-US" altLang="zh-CN" sz="2800" b="1"/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906164" y="1638045"/>
            <a:ext cx="1184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B</a:t>
            </a:r>
            <a:r>
              <a:rPr lang="en-US" altLang="zh-CN" sz="2800" b="1">
                <a:sym typeface="Webdings" pitchFamily="18" charset="2"/>
              </a:rPr>
              <a:t>/V:</a:t>
            </a:r>
          </a:p>
        </p:txBody>
      </p:sp>
      <p:grpSp>
        <p:nvGrpSpPr>
          <p:cNvPr id="38945" name="Group 33"/>
          <p:cNvGrpSpPr>
            <a:grpSpLocks/>
          </p:cNvGrpSpPr>
          <p:nvPr/>
        </p:nvGrpSpPr>
        <p:grpSpPr bwMode="auto">
          <a:xfrm>
            <a:off x="2856514" y="1359036"/>
            <a:ext cx="3828734" cy="373701"/>
            <a:chOff x="1428" y="906"/>
            <a:chExt cx="2448" cy="181"/>
          </a:xfrm>
        </p:grpSpPr>
        <p:sp>
          <p:nvSpPr>
            <p:cNvPr id="38921" name="Line 9"/>
            <p:cNvSpPr>
              <a:spLocks noChangeShapeType="1"/>
            </p:cNvSpPr>
            <p:nvPr/>
          </p:nvSpPr>
          <p:spPr bwMode="auto">
            <a:xfrm flipV="1">
              <a:off x="1428" y="906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2" name="Line 10"/>
            <p:cNvSpPr>
              <a:spLocks noChangeShapeType="1"/>
            </p:cNvSpPr>
            <p:nvPr/>
          </p:nvSpPr>
          <p:spPr bwMode="auto">
            <a:xfrm>
              <a:off x="1428" y="906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3" name="Line 11"/>
            <p:cNvSpPr>
              <a:spLocks noChangeShapeType="1"/>
            </p:cNvSpPr>
            <p:nvPr/>
          </p:nvSpPr>
          <p:spPr bwMode="auto">
            <a:xfrm>
              <a:off x="3876" y="906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24" name="Rectangle 12"/>
          <p:cNvSpPr>
            <a:spLocks noChangeArrowheads="1"/>
          </p:cNvSpPr>
          <p:nvPr/>
        </p:nvSpPr>
        <p:spPr bwMode="auto">
          <a:xfrm>
            <a:off x="5667021" y="2175059"/>
            <a:ext cx="10182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+0.62</a:t>
            </a:r>
          </a:p>
        </p:txBody>
      </p:sp>
      <p:grpSp>
        <p:nvGrpSpPr>
          <p:cNvPr id="38946" name="Group 34"/>
          <p:cNvGrpSpPr>
            <a:grpSpLocks/>
          </p:cNvGrpSpPr>
          <p:nvPr/>
        </p:nvGrpSpPr>
        <p:grpSpPr bwMode="auto">
          <a:xfrm>
            <a:off x="2856516" y="1971054"/>
            <a:ext cx="5568818" cy="273007"/>
            <a:chOff x="1428" y="1314"/>
            <a:chExt cx="3605" cy="182"/>
          </a:xfrm>
        </p:grpSpPr>
        <p:sp>
          <p:nvSpPr>
            <p:cNvPr id="38925" name="Line 13"/>
            <p:cNvSpPr>
              <a:spLocks noChangeShapeType="1"/>
            </p:cNvSpPr>
            <p:nvPr/>
          </p:nvSpPr>
          <p:spPr bwMode="auto">
            <a:xfrm>
              <a:off x="1428" y="1314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6" name="Line 14"/>
            <p:cNvSpPr>
              <a:spLocks noChangeShapeType="1"/>
            </p:cNvSpPr>
            <p:nvPr/>
          </p:nvSpPr>
          <p:spPr bwMode="auto">
            <a:xfrm>
              <a:off x="1428" y="1496"/>
              <a:ext cx="36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7" name="Line 15"/>
            <p:cNvSpPr>
              <a:spLocks noChangeShapeType="1"/>
            </p:cNvSpPr>
            <p:nvPr/>
          </p:nvSpPr>
          <p:spPr bwMode="auto">
            <a:xfrm flipV="1">
              <a:off x="5032" y="1314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28" name="Rectangle 16"/>
          <p:cNvSpPr>
            <a:spLocks noChangeArrowheads="1"/>
          </p:cNvSpPr>
          <p:nvPr/>
        </p:nvSpPr>
        <p:spPr bwMode="auto">
          <a:xfrm>
            <a:off x="906164" y="2481068"/>
            <a:ext cx="9943790" cy="54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800" b="1"/>
              <a:t>　　元素不同氧化值物质间氧化还原能力相对大小的直观表示</a:t>
            </a:r>
            <a:r>
              <a:rPr lang="en-US" altLang="zh-CN" sz="2800" b="1"/>
              <a:t>.</a:t>
            </a:r>
          </a:p>
        </p:txBody>
      </p:sp>
      <p:sp>
        <p:nvSpPr>
          <p:cNvPr id="38930" name="Rectangle 18"/>
          <p:cNvSpPr>
            <a:spLocks noChangeArrowheads="1"/>
          </p:cNvSpPr>
          <p:nvPr/>
        </p:nvSpPr>
        <p:spPr bwMode="auto">
          <a:xfrm>
            <a:off x="2992539" y="4624626"/>
            <a:ext cx="457048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/>
              <a:t>       +0.69   &lt;     +1.776           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O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———H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O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——— H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O</a:t>
            </a:r>
          </a:p>
        </p:txBody>
      </p:sp>
      <p:sp>
        <p:nvSpPr>
          <p:cNvPr id="38931" name="Rectangle 19"/>
          <p:cNvSpPr>
            <a:spLocks noChangeArrowheads="1"/>
          </p:cNvSpPr>
          <p:nvPr/>
        </p:nvSpPr>
        <p:spPr bwMode="auto">
          <a:xfrm>
            <a:off x="906164" y="4698127"/>
            <a:ext cx="11968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A</a:t>
            </a:r>
            <a:r>
              <a:rPr lang="en-US" altLang="zh-CN" sz="2800" b="1">
                <a:sym typeface="Webdings" pitchFamily="18" charset="2"/>
              </a:rPr>
              <a:t>/V:</a:t>
            </a:r>
          </a:p>
        </p:txBody>
      </p:sp>
      <p:grpSp>
        <p:nvGrpSpPr>
          <p:cNvPr id="38947" name="Group 35"/>
          <p:cNvGrpSpPr>
            <a:grpSpLocks/>
          </p:cNvGrpSpPr>
          <p:nvPr/>
        </p:nvGrpSpPr>
        <p:grpSpPr bwMode="auto">
          <a:xfrm>
            <a:off x="3264589" y="5167640"/>
            <a:ext cx="3582645" cy="467718"/>
            <a:chOff x="1632" y="3445"/>
            <a:chExt cx="2403" cy="251"/>
          </a:xfrm>
        </p:grpSpPr>
        <p:sp>
          <p:nvSpPr>
            <p:cNvPr id="38932" name="Line 20"/>
            <p:cNvSpPr>
              <a:spLocks noChangeShapeType="1"/>
            </p:cNvSpPr>
            <p:nvPr/>
          </p:nvSpPr>
          <p:spPr bwMode="auto">
            <a:xfrm>
              <a:off x="1632" y="3445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3" name="Line 21"/>
            <p:cNvSpPr>
              <a:spLocks noChangeShapeType="1"/>
            </p:cNvSpPr>
            <p:nvPr/>
          </p:nvSpPr>
          <p:spPr bwMode="auto">
            <a:xfrm>
              <a:off x="4035" y="3445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4" name="Line 22"/>
            <p:cNvSpPr>
              <a:spLocks noChangeShapeType="1"/>
            </p:cNvSpPr>
            <p:nvPr/>
          </p:nvSpPr>
          <p:spPr bwMode="auto">
            <a:xfrm>
              <a:off x="1632" y="3696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35" name="Rectangle 23"/>
          <p:cNvSpPr>
            <a:spLocks noChangeArrowheads="1"/>
          </p:cNvSpPr>
          <p:nvPr/>
        </p:nvSpPr>
        <p:spPr bwMode="auto">
          <a:xfrm>
            <a:off x="4896882" y="5112138"/>
            <a:ext cx="11977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Symbol" pitchFamily="18" charset="2"/>
              </a:rPr>
              <a:t>+1.229</a:t>
            </a:r>
          </a:p>
        </p:txBody>
      </p:sp>
      <p:sp>
        <p:nvSpPr>
          <p:cNvPr id="38937" name="Rectangle 25"/>
          <p:cNvSpPr>
            <a:spLocks noChangeArrowheads="1"/>
          </p:cNvSpPr>
          <p:nvPr/>
        </p:nvSpPr>
        <p:spPr bwMode="auto">
          <a:xfrm>
            <a:off x="906164" y="3331591"/>
            <a:ext cx="10327859" cy="99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800" b="1">
                <a:solidFill>
                  <a:srgbClr val="FF3300"/>
                </a:solidFill>
              </a:rPr>
              <a:t>1.</a:t>
            </a:r>
            <a:r>
              <a:rPr lang="zh-CN" altLang="en-US" sz="2800" b="1">
                <a:solidFill>
                  <a:srgbClr val="FF3300"/>
                </a:solidFill>
              </a:rPr>
              <a:t>判断不同氧化态时的性质</a:t>
            </a:r>
            <a:r>
              <a:rPr lang="en-US" altLang="zh-CN" sz="2800" b="1">
                <a:solidFill>
                  <a:srgbClr val="FF3300"/>
                </a:solidFill>
              </a:rPr>
              <a:t>(</a:t>
            </a:r>
            <a:r>
              <a:rPr lang="zh-CN" altLang="en-US" sz="2800" b="1">
                <a:solidFill>
                  <a:srgbClr val="FF3300"/>
                </a:solidFill>
              </a:rPr>
              <a:t>是否发生</a:t>
            </a:r>
            <a:r>
              <a:rPr lang="zh-CN" altLang="en-US" sz="2800" b="1" u="sng">
                <a:solidFill>
                  <a:schemeClr val="bg2"/>
                </a:solidFill>
              </a:rPr>
              <a:t>歧化反应</a:t>
            </a:r>
            <a:r>
              <a:rPr lang="en-US" altLang="zh-CN" sz="2800" b="1">
                <a:solidFill>
                  <a:srgbClr val="FF3300"/>
                </a:solidFill>
                <a:sym typeface="Symbol" pitchFamily="18" charset="2"/>
              </a:rPr>
              <a:t>,</a:t>
            </a:r>
            <a:r>
              <a:rPr lang="zh-CN" altLang="en-US" sz="2800" b="1">
                <a:solidFill>
                  <a:srgbClr val="FF3300"/>
                </a:solidFill>
                <a:sym typeface="Symbol" pitchFamily="18" charset="2"/>
              </a:rPr>
              <a:t>自身氧化还原反应</a:t>
            </a:r>
            <a:r>
              <a:rPr lang="en-US" altLang="zh-CN" sz="2800" b="1">
                <a:solidFill>
                  <a:srgbClr val="FF3300"/>
                </a:solidFill>
                <a:sym typeface="Symbol" pitchFamily="18" charset="2"/>
              </a:rPr>
              <a:t>)</a:t>
            </a:r>
            <a:r>
              <a:rPr lang="en-US" altLang="zh-CN" sz="2800" b="1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38938" name="Rectangle 26"/>
          <p:cNvSpPr>
            <a:spLocks noChangeArrowheads="1"/>
          </p:cNvSpPr>
          <p:nvPr/>
        </p:nvSpPr>
        <p:spPr bwMode="auto">
          <a:xfrm>
            <a:off x="906164" y="4182113"/>
            <a:ext cx="24352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Symbol" pitchFamily="18" charset="2"/>
              </a:rPr>
              <a:t>        </a:t>
            </a:r>
            <a:r>
              <a:rPr lang="zh-CN" altLang="en-US" sz="2800" b="1">
                <a:sym typeface="Symbol" pitchFamily="18" charset="2"/>
              </a:rPr>
              <a:t>氧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酸性</a:t>
            </a:r>
            <a:r>
              <a:rPr lang="en-US" altLang="zh-CN" sz="2800" b="1">
                <a:sym typeface="Symbol" pitchFamily="18" charset="2"/>
              </a:rPr>
              <a:t>): </a:t>
            </a:r>
          </a:p>
        </p:txBody>
      </p:sp>
      <p:sp>
        <p:nvSpPr>
          <p:cNvPr id="38949" name="Rectangle 37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5.2.3</a:t>
            </a:r>
            <a:r>
              <a:rPr lang="zh-CN" altLang="en-US"/>
              <a:t>元素电势图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38950" name="AutoShape 3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1" name="AutoShape 3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2" name="AutoShape 40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3" name="AutoShape 41">
            <a:hlinkClick r:id="rId5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54613206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8" grpId="0" autoUpdateAnimBg="0"/>
      <p:bldP spid="38919" grpId="0" autoUpdateAnimBg="0"/>
      <p:bldP spid="38920" grpId="0" autoUpdateAnimBg="0"/>
      <p:bldP spid="38924" grpId="0" autoUpdateAnimBg="0"/>
      <p:bldP spid="38928" grpId="0" autoUpdateAnimBg="0"/>
      <p:bldP spid="38930" grpId="0" autoUpdateAnimBg="0"/>
      <p:bldP spid="38931" grpId="0" autoUpdateAnimBg="0"/>
      <p:bldP spid="38935" grpId="0" autoUpdateAnimBg="0"/>
      <p:bldP spid="38937" grpId="0" autoUpdateAnimBg="0"/>
      <p:bldP spid="3893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EC1BAF13-7E48-4092-93F0-83781E68C134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87DB224A-6F4A-4B1C-BA16-18F3B2CEF931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auto">
          <a:xfrm>
            <a:off x="906164" y="1428039"/>
            <a:ext cx="395813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Symbol" pitchFamily="18" charset="2"/>
              </a:rPr>
              <a:t>∴H</a:t>
            </a:r>
            <a:r>
              <a:rPr lang="en-US" altLang="zh-CN" sz="2800" b="1" baseline="-25000">
                <a:sym typeface="Symbol" pitchFamily="18" charset="2"/>
              </a:rPr>
              <a:t>2</a:t>
            </a:r>
            <a:r>
              <a:rPr lang="en-US" altLang="zh-CN" sz="2800" b="1">
                <a:sym typeface="Symbol" pitchFamily="18" charset="2"/>
              </a:rPr>
              <a:t>O</a:t>
            </a:r>
            <a:r>
              <a:rPr lang="en-US" altLang="zh-CN" sz="2800" b="1" baseline="-25000">
                <a:sym typeface="Symbol" pitchFamily="18" charset="2"/>
              </a:rPr>
              <a:t>2</a:t>
            </a:r>
            <a:r>
              <a:rPr lang="zh-CN" altLang="en-US" sz="2800" b="1">
                <a:sym typeface="Symbol" pitchFamily="18" charset="2"/>
              </a:rPr>
              <a:t>会发生歧化反应</a:t>
            </a:r>
            <a:r>
              <a:rPr lang="en-US" altLang="zh-CN" sz="2800" b="1">
                <a:sym typeface="Symbol" pitchFamily="18" charset="2"/>
              </a:rPr>
              <a:t>.</a:t>
            </a:r>
          </a:p>
          <a:p>
            <a:r>
              <a:rPr lang="zh-CN" altLang="en-US" sz="2800" b="1">
                <a:solidFill>
                  <a:srgbClr val="FF3300"/>
                </a:solidFill>
                <a:sym typeface="Symbol" pitchFamily="18" charset="2"/>
              </a:rPr>
              <a:t>规律</a:t>
            </a:r>
            <a:r>
              <a:rPr lang="en-US" altLang="zh-CN" sz="2800" b="1">
                <a:solidFill>
                  <a:srgbClr val="FF3300"/>
                </a:solidFill>
                <a:sym typeface="Symbol" pitchFamily="18" charset="2"/>
              </a:rPr>
              <a:t>:</a:t>
            </a:r>
            <a:endParaRPr lang="en-US" altLang="zh-CN" sz="2800" b="1">
              <a:sym typeface="Symbol" pitchFamily="18" charset="2"/>
            </a:endParaRPr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906165" y="1026028"/>
            <a:ext cx="50690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ym typeface="Symbol" pitchFamily="18" charset="2"/>
              </a:rPr>
              <a:t>∵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dirty="0">
                <a:sym typeface="Webdings" pitchFamily="18" charset="2"/>
              </a:rPr>
              <a:t>(</a:t>
            </a:r>
            <a:r>
              <a:rPr lang="en-US" altLang="zh-CN" sz="2800" b="1" dirty="0"/>
              <a:t>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/H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  <a:r>
              <a:rPr lang="en-US" altLang="zh-CN" sz="2800" b="1" dirty="0">
                <a:sym typeface="Webdings" pitchFamily="18" charset="2"/>
              </a:rPr>
              <a:t>) </a:t>
            </a:r>
            <a:r>
              <a:rPr lang="en-US" altLang="zh-CN" sz="2800" b="1" dirty="0">
                <a:sym typeface="Symbol" pitchFamily="18" charset="2"/>
              </a:rPr>
              <a:t>&gt;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en-US" altLang="zh-CN" sz="2800" b="1" dirty="0">
                <a:sym typeface="Webdings" pitchFamily="18" charset="2"/>
              </a:rPr>
              <a:t>(</a:t>
            </a:r>
            <a:r>
              <a:rPr lang="en-US" altLang="zh-CN" sz="2800" b="1" dirty="0">
                <a:sym typeface="Symbol" pitchFamily="18" charset="2"/>
              </a:rPr>
              <a:t>O</a:t>
            </a:r>
            <a:r>
              <a:rPr lang="en-US" altLang="zh-CN" sz="2800" b="1" baseline="-25000" dirty="0">
                <a:sym typeface="Symbol" pitchFamily="18" charset="2"/>
              </a:rPr>
              <a:t>2</a:t>
            </a:r>
            <a:r>
              <a:rPr lang="en-US" altLang="zh-CN" sz="2800" b="1" dirty="0">
                <a:sym typeface="Symbol" pitchFamily="18" charset="2"/>
              </a:rPr>
              <a:t>/H</a:t>
            </a:r>
            <a:r>
              <a:rPr lang="en-US" altLang="zh-CN" sz="2800" b="1" baseline="-25000" dirty="0">
                <a:sym typeface="Symbol" pitchFamily="18" charset="2"/>
              </a:rPr>
              <a:t>2</a:t>
            </a:r>
            <a:r>
              <a:rPr lang="en-US" altLang="zh-CN" sz="2800" b="1" dirty="0">
                <a:sym typeface="Symbol" pitchFamily="18" charset="2"/>
              </a:rPr>
              <a:t>O</a:t>
            </a:r>
            <a:r>
              <a:rPr lang="en-US" altLang="zh-CN" sz="2800" b="1" baseline="-25000" dirty="0">
                <a:sym typeface="Symbol" pitchFamily="18" charset="2"/>
              </a:rPr>
              <a:t>2</a:t>
            </a:r>
            <a:r>
              <a:rPr lang="en-US" altLang="zh-CN" sz="2800" b="1" dirty="0">
                <a:sym typeface="Webdings" pitchFamily="18" charset="2"/>
              </a:rPr>
              <a:t>)</a:t>
            </a:r>
          </a:p>
        </p:txBody>
      </p:sp>
      <p:sp>
        <p:nvSpPr>
          <p:cNvPr id="39946" name="Rectangle 10"/>
          <p:cNvSpPr>
            <a:spLocks noChangeArrowheads="1"/>
          </p:cNvSpPr>
          <p:nvPr/>
        </p:nvSpPr>
        <p:spPr bwMode="auto">
          <a:xfrm>
            <a:off x="906164" y="2719574"/>
            <a:ext cx="82392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ym typeface="Symbol" pitchFamily="18" charset="2"/>
              </a:rPr>
              <a:t>        </a:t>
            </a:r>
            <a:r>
              <a:rPr lang="zh-CN" altLang="en-US" sz="2800" b="1" dirty="0">
                <a:sym typeface="Symbol" pitchFamily="18" charset="2"/>
              </a:rPr>
              <a:t>若</a:t>
            </a:r>
            <a:r>
              <a:rPr lang="en-US" altLang="zh-CN" sz="2800" b="1" i="1" dirty="0">
                <a:solidFill>
                  <a:srgbClr val="FF3300"/>
                </a:solidFill>
                <a:sym typeface="Symbol" pitchFamily="18" charset="2"/>
              </a:rPr>
              <a:t>E</a:t>
            </a:r>
            <a:r>
              <a:rPr lang="en-US" altLang="zh-CN" b="1" baseline="100000" dirty="0">
                <a:solidFill>
                  <a:srgbClr val="FF3300"/>
                </a:solidFill>
                <a:sym typeface="Webdings" pitchFamily="18" charset="2"/>
              </a:rPr>
              <a:t></a:t>
            </a:r>
            <a:r>
              <a:rPr lang="zh-CN" altLang="en-US" sz="2800" b="1" baseline="-25000" dirty="0">
                <a:solidFill>
                  <a:srgbClr val="FF3300"/>
                </a:solidFill>
                <a:sym typeface="Webdings" pitchFamily="18" charset="2"/>
              </a:rPr>
              <a:t>右 </a:t>
            </a:r>
            <a:r>
              <a:rPr lang="en-US" altLang="zh-CN" sz="2800" b="1" dirty="0">
                <a:solidFill>
                  <a:srgbClr val="FF3300"/>
                </a:solidFill>
                <a:sym typeface="Webdings" pitchFamily="18" charset="2"/>
              </a:rPr>
              <a:t>&gt; </a:t>
            </a:r>
            <a:r>
              <a:rPr lang="en-US" altLang="zh-CN" sz="2800" b="1" i="1" dirty="0">
                <a:solidFill>
                  <a:srgbClr val="FF3300"/>
                </a:solidFill>
                <a:sym typeface="Symbol" pitchFamily="18" charset="2"/>
              </a:rPr>
              <a:t>E</a:t>
            </a:r>
            <a:r>
              <a:rPr lang="en-US" altLang="zh-CN" b="1" baseline="100000" dirty="0">
                <a:solidFill>
                  <a:srgbClr val="FF3300"/>
                </a:solidFill>
                <a:sym typeface="Webdings" pitchFamily="18" charset="2"/>
              </a:rPr>
              <a:t></a:t>
            </a:r>
            <a:r>
              <a:rPr lang="zh-CN" altLang="en-US" sz="2800" b="1" baseline="-25000" dirty="0">
                <a:solidFill>
                  <a:srgbClr val="FF3300"/>
                </a:solidFill>
                <a:sym typeface="Webdings" pitchFamily="18" charset="2"/>
              </a:rPr>
              <a:t>左</a:t>
            </a:r>
            <a:r>
              <a:rPr lang="en-US" altLang="zh-CN" sz="2800" b="1" dirty="0"/>
              <a:t>,</a:t>
            </a:r>
            <a:r>
              <a:rPr lang="en-US" altLang="zh-CN" sz="2800" b="1" dirty="0">
                <a:sym typeface="Symbol" pitchFamily="18" charset="2"/>
              </a:rPr>
              <a:t>M</a:t>
            </a:r>
            <a:r>
              <a:rPr lang="en-US" altLang="zh-CN" sz="2800" b="1" baseline="30000" dirty="0">
                <a:sym typeface="Symbol" pitchFamily="18" charset="2"/>
              </a:rPr>
              <a:t>+</a:t>
            </a:r>
            <a:r>
              <a:rPr lang="zh-CN" altLang="en-US" sz="2800" b="1" dirty="0"/>
              <a:t>会</a:t>
            </a:r>
            <a:r>
              <a:rPr lang="zh-CN" altLang="en-US" sz="2800" b="1" dirty="0">
                <a:solidFill>
                  <a:srgbClr val="FF3300"/>
                </a:solidFill>
              </a:rPr>
              <a:t>发生歧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化</a:t>
            </a:r>
            <a:r>
              <a:rPr lang="en-US" altLang="zh-CN" sz="2800" b="1" dirty="0" smtClean="0"/>
              <a:t>:    </a:t>
            </a:r>
            <a:r>
              <a:rPr lang="en-US" altLang="zh-CN" sz="2800" b="1" dirty="0">
                <a:sym typeface="Symbol" pitchFamily="18" charset="2"/>
              </a:rPr>
              <a:t>2M</a:t>
            </a:r>
            <a:r>
              <a:rPr lang="en-US" altLang="zh-CN" sz="2800" b="1" baseline="30000" dirty="0">
                <a:sym typeface="Symbol" pitchFamily="18" charset="2"/>
              </a:rPr>
              <a:t>+</a:t>
            </a:r>
            <a:r>
              <a:rPr lang="en-US" altLang="zh-CN" sz="2800" b="1" dirty="0">
                <a:sym typeface="Symbol" pitchFamily="18" charset="2"/>
              </a:rPr>
              <a:t> → M</a:t>
            </a:r>
            <a:r>
              <a:rPr lang="en-US" altLang="zh-CN" sz="2800" b="1" baseline="30000" dirty="0">
                <a:sym typeface="Symbol" pitchFamily="18" charset="2"/>
              </a:rPr>
              <a:t>2+</a:t>
            </a:r>
            <a:r>
              <a:rPr lang="en-US" altLang="zh-CN" sz="2800" b="1" dirty="0">
                <a:sym typeface="Symbol" pitchFamily="18" charset="2"/>
              </a:rPr>
              <a:t> + M 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2856515" y="2107558"/>
            <a:ext cx="374653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 dirty="0"/>
              <a:t>        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zh-CN" altLang="en-US" sz="2800" b="1" baseline="-25000" dirty="0">
                <a:sym typeface="Webdings" pitchFamily="18" charset="2"/>
              </a:rPr>
              <a:t>左</a:t>
            </a:r>
            <a:r>
              <a:rPr lang="zh-CN" altLang="en-US" sz="2800" b="1" dirty="0"/>
              <a:t>           </a:t>
            </a:r>
            <a:r>
              <a:rPr lang="en-US" altLang="zh-CN" sz="2800" b="1" i="1" dirty="0">
                <a:sym typeface="Symbol" pitchFamily="18" charset="2"/>
              </a:rPr>
              <a:t>E</a:t>
            </a:r>
            <a:r>
              <a:rPr lang="en-US" altLang="zh-CN" b="1" baseline="100000" dirty="0">
                <a:sym typeface="Webdings" pitchFamily="18" charset="2"/>
              </a:rPr>
              <a:t></a:t>
            </a:r>
            <a:r>
              <a:rPr lang="zh-CN" altLang="en-US" sz="2800" b="1" baseline="-25000" dirty="0">
                <a:sym typeface="Webdings" pitchFamily="18" charset="2"/>
              </a:rPr>
              <a:t>右</a:t>
            </a:r>
            <a:r>
              <a:rPr lang="zh-CN" altLang="en-US" sz="2800" b="1" dirty="0"/>
              <a:t> </a:t>
            </a:r>
          </a:p>
          <a:p>
            <a:pPr>
              <a:lnSpc>
                <a:spcPct val="60000"/>
              </a:lnSpc>
            </a:pPr>
            <a:r>
              <a:rPr lang="en-US" altLang="zh-CN" sz="2800" b="1" dirty="0"/>
              <a:t>M</a:t>
            </a:r>
            <a:r>
              <a:rPr lang="en-US" altLang="zh-CN" sz="2800" b="1" baseline="30000" dirty="0"/>
              <a:t>2+</a:t>
            </a:r>
            <a:r>
              <a:rPr lang="en-US" altLang="zh-CN" sz="2800" b="1" dirty="0"/>
              <a:t>———M</a:t>
            </a:r>
            <a:r>
              <a:rPr lang="en-US" altLang="zh-CN" sz="2800" b="1" baseline="30000" dirty="0"/>
              <a:t>+</a:t>
            </a:r>
            <a:r>
              <a:rPr lang="en-US" altLang="zh-CN" sz="2800" b="1" dirty="0"/>
              <a:t>———M</a:t>
            </a:r>
          </a:p>
        </p:txBody>
      </p:sp>
      <p:sp>
        <p:nvSpPr>
          <p:cNvPr id="39949" name="Rectangle 13"/>
          <p:cNvSpPr>
            <a:spLocks noChangeArrowheads="1"/>
          </p:cNvSpPr>
          <p:nvPr/>
        </p:nvSpPr>
        <p:spPr bwMode="auto">
          <a:xfrm>
            <a:off x="2856515" y="4080110"/>
            <a:ext cx="4112023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/>
              <a:t>        +0.153         +0.52 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Cu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———Cu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———Cu</a:t>
            </a:r>
          </a:p>
        </p:txBody>
      </p:sp>
      <p:sp>
        <p:nvSpPr>
          <p:cNvPr id="39951" name="Rectangle 15"/>
          <p:cNvSpPr>
            <a:spLocks noChangeArrowheads="1"/>
          </p:cNvSpPr>
          <p:nvPr/>
        </p:nvSpPr>
        <p:spPr bwMode="auto">
          <a:xfrm>
            <a:off x="906164" y="4555624"/>
            <a:ext cx="1003980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i="1">
                <a:sym typeface="Symbol" pitchFamily="18" charset="2"/>
              </a:rPr>
              <a:t>        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Webdings" pitchFamily="18" charset="2"/>
              </a:rPr>
              <a:t>(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+</a:t>
            </a:r>
            <a:r>
              <a:rPr lang="en-US" altLang="zh-CN" sz="2800" b="1"/>
              <a:t>/Cu</a:t>
            </a:r>
            <a:r>
              <a:rPr lang="en-US" altLang="zh-CN" sz="2800" b="1">
                <a:sym typeface="Webdings" pitchFamily="18" charset="2"/>
              </a:rPr>
              <a:t>) </a:t>
            </a:r>
            <a:r>
              <a:rPr lang="en-US" altLang="zh-CN" sz="2800" b="1">
                <a:sym typeface="Symbol" pitchFamily="18" charset="2"/>
              </a:rPr>
              <a:t>&gt;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Webdings" pitchFamily="18" charset="2"/>
              </a:rPr>
              <a:t>(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2+</a:t>
            </a:r>
            <a:r>
              <a:rPr lang="en-US" altLang="zh-CN" sz="2800" b="1">
                <a:sym typeface="Symbol" pitchFamily="18" charset="2"/>
              </a:rPr>
              <a:t>/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+</a:t>
            </a:r>
            <a:r>
              <a:rPr lang="en-US" altLang="zh-CN" sz="2800" b="1">
                <a:sym typeface="Webdings" pitchFamily="18" charset="2"/>
              </a:rPr>
              <a:t>),</a:t>
            </a:r>
            <a:r>
              <a:rPr lang="en-US" altLang="zh-CN" sz="2800" b="1"/>
              <a:t>Cu</a:t>
            </a:r>
            <a:r>
              <a:rPr lang="en-US" altLang="zh-CN" sz="2800" b="1" baseline="30000"/>
              <a:t>+</a:t>
            </a:r>
            <a:r>
              <a:rPr lang="zh-CN" altLang="en-US" sz="2800" b="1"/>
              <a:t>在酸性溶液中不稳定</a:t>
            </a:r>
            <a:r>
              <a:rPr lang="en-US" altLang="zh-CN" sz="2800" b="1"/>
              <a:t>,</a:t>
            </a:r>
            <a:r>
              <a:rPr lang="zh-CN" altLang="en-US" sz="2800" b="1"/>
              <a:t>易发生歧化</a:t>
            </a:r>
            <a:r>
              <a:rPr lang="en-US" altLang="zh-CN" sz="2800" b="1"/>
              <a:t>.</a:t>
            </a: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906164" y="3570097"/>
            <a:ext cx="23455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Symbol" pitchFamily="18" charset="2"/>
              </a:rPr>
              <a:t>        </a:t>
            </a:r>
            <a:r>
              <a:rPr lang="zh-CN" altLang="en-US" sz="2800" b="1">
                <a:sym typeface="Symbol" pitchFamily="18" charset="2"/>
              </a:rPr>
              <a:t>铜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酸性</a:t>
            </a:r>
            <a:r>
              <a:rPr lang="en-US" altLang="zh-CN" sz="2800" b="1">
                <a:sym typeface="Symbol" pitchFamily="18" charset="2"/>
              </a:rPr>
              <a:t>):</a:t>
            </a:r>
          </a:p>
        </p:txBody>
      </p:sp>
      <p:sp>
        <p:nvSpPr>
          <p:cNvPr id="39961" name="Rectangle 2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5.2.3</a:t>
            </a:r>
            <a:r>
              <a:rPr lang="zh-CN" altLang="en-US"/>
              <a:t>元素电势图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39962" name="AutoShape 2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3" name="AutoShape 2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4" name="AutoShape 28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5" name="AutoShape 29">
            <a:hlinkClick r:id="rId4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77893146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4" grpId="0" build="p" autoUpdateAnimBg="0"/>
      <p:bldP spid="39945" grpId="0" autoUpdateAnimBg="0"/>
      <p:bldP spid="39946" grpId="0" autoUpdateAnimBg="0"/>
      <p:bldP spid="39947" grpId="0" autoUpdateAnimBg="0"/>
      <p:bldP spid="39949" grpId="0" autoUpdateAnimBg="0"/>
      <p:bldP spid="39951" grpId="0" autoUpdateAnimBg="0"/>
      <p:bldP spid="3995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793BABCD-166F-479E-9554-253E8E859DE6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4562ADC7-5A56-425F-88D1-E7B73215936E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906164" y="1020027"/>
            <a:ext cx="1003980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ym typeface="Symbol" pitchFamily="18" charset="2"/>
              </a:rPr>
              <a:t>　　若</a:t>
            </a:r>
            <a:r>
              <a:rPr lang="en-US" altLang="zh-CN" sz="2800" b="1" i="1">
                <a:solidFill>
                  <a:srgbClr val="FF3300"/>
                </a:solidFill>
                <a:sym typeface="Symbol" pitchFamily="18" charset="2"/>
              </a:rPr>
              <a:t>E</a:t>
            </a:r>
            <a:r>
              <a:rPr lang="en-US" altLang="zh-CN" b="1" baseline="100000">
                <a:solidFill>
                  <a:srgbClr val="FF3300"/>
                </a:solidFill>
                <a:sym typeface="Webdings" pitchFamily="18" charset="2"/>
              </a:rPr>
              <a:t></a:t>
            </a:r>
            <a:r>
              <a:rPr lang="zh-CN" altLang="en-US" sz="2800" b="1" baseline="-25000">
                <a:solidFill>
                  <a:srgbClr val="FF3300"/>
                </a:solidFill>
                <a:sym typeface="Webdings" pitchFamily="18" charset="2"/>
              </a:rPr>
              <a:t>右 </a:t>
            </a:r>
            <a:r>
              <a:rPr lang="en-US" altLang="zh-CN" sz="2800" b="1">
                <a:solidFill>
                  <a:srgbClr val="FF3300"/>
                </a:solidFill>
                <a:sym typeface="Webdings" pitchFamily="18" charset="2"/>
              </a:rPr>
              <a:t>&lt; </a:t>
            </a:r>
            <a:r>
              <a:rPr lang="en-US" altLang="zh-CN" sz="2800" b="1" i="1">
                <a:solidFill>
                  <a:srgbClr val="FF3300"/>
                </a:solidFill>
                <a:sym typeface="Symbol" pitchFamily="18" charset="2"/>
              </a:rPr>
              <a:t>E</a:t>
            </a:r>
            <a:r>
              <a:rPr lang="en-US" altLang="zh-CN" b="1" baseline="100000">
                <a:solidFill>
                  <a:srgbClr val="FF3300"/>
                </a:solidFill>
                <a:sym typeface="Webdings" pitchFamily="18" charset="2"/>
              </a:rPr>
              <a:t></a:t>
            </a:r>
            <a:r>
              <a:rPr lang="zh-CN" altLang="en-US" sz="2800" b="1" baseline="-25000">
                <a:solidFill>
                  <a:srgbClr val="FF3300"/>
                </a:solidFill>
                <a:sym typeface="Webdings" pitchFamily="18" charset="2"/>
              </a:rPr>
              <a:t>左</a:t>
            </a:r>
            <a:r>
              <a:rPr lang="en-US" altLang="zh-CN" sz="2800" b="1"/>
              <a:t>,</a:t>
            </a:r>
            <a:r>
              <a:rPr lang="en-US" altLang="zh-CN" sz="2800" b="1">
                <a:sym typeface="Symbol" pitchFamily="18" charset="2"/>
              </a:rPr>
              <a:t>M</a:t>
            </a:r>
            <a:r>
              <a:rPr lang="en-US" altLang="zh-CN" sz="2800" b="1" baseline="30000">
                <a:sym typeface="Symbol" pitchFamily="18" charset="2"/>
              </a:rPr>
              <a:t>+</a:t>
            </a:r>
            <a:r>
              <a:rPr lang="zh-CN" altLang="en-US" sz="2800" b="1"/>
              <a:t>不发生歧化</a:t>
            </a:r>
            <a:r>
              <a:rPr lang="en-US" altLang="zh-CN" sz="2800" b="1"/>
              <a:t>,</a:t>
            </a:r>
            <a:r>
              <a:rPr lang="zh-CN" altLang="en-US" sz="2800" b="1"/>
              <a:t>发生</a:t>
            </a:r>
            <a:r>
              <a:rPr lang="zh-CN" altLang="en-US" sz="2800" b="1">
                <a:solidFill>
                  <a:srgbClr val="FF3300"/>
                </a:solidFill>
              </a:rPr>
              <a:t>歧化反应的逆反应</a:t>
            </a:r>
            <a:r>
              <a:rPr lang="en-US" altLang="zh-CN" sz="2800" b="1"/>
              <a:t>.</a:t>
            </a:r>
          </a:p>
          <a:p>
            <a:pPr algn="ctr"/>
            <a:r>
              <a:rPr lang="en-US" altLang="zh-CN" sz="2800" b="1">
                <a:sym typeface="Symbol" pitchFamily="18" charset="2"/>
              </a:rPr>
              <a:t>M</a:t>
            </a:r>
            <a:r>
              <a:rPr lang="en-US" altLang="zh-CN" sz="2800" b="1" baseline="30000">
                <a:sym typeface="Symbol" pitchFamily="18" charset="2"/>
              </a:rPr>
              <a:t>2+</a:t>
            </a:r>
            <a:r>
              <a:rPr lang="en-US" altLang="zh-CN" sz="2800" b="1">
                <a:sym typeface="Symbol" pitchFamily="18" charset="2"/>
              </a:rPr>
              <a:t> + M → 2M</a:t>
            </a:r>
            <a:r>
              <a:rPr lang="en-US" altLang="zh-CN" sz="2800" b="1" baseline="30000">
                <a:sym typeface="Symbol" pitchFamily="18" charset="2"/>
              </a:rPr>
              <a:t>+</a:t>
            </a:r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906164" y="2244061"/>
            <a:ext cx="23455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Symbol" pitchFamily="18" charset="2"/>
              </a:rPr>
              <a:t>        </a:t>
            </a:r>
            <a:r>
              <a:rPr lang="zh-CN" altLang="en-US" sz="2800" b="1">
                <a:sym typeface="Symbol" pitchFamily="18" charset="2"/>
              </a:rPr>
              <a:t>汞</a:t>
            </a:r>
            <a:r>
              <a:rPr lang="en-US" altLang="zh-CN" sz="2800" b="1">
                <a:sym typeface="Symbol" pitchFamily="18" charset="2"/>
              </a:rPr>
              <a:t>(</a:t>
            </a: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酸性</a:t>
            </a:r>
            <a:r>
              <a:rPr lang="en-US" altLang="zh-CN" sz="2800" b="1">
                <a:sym typeface="Symbol" pitchFamily="18" charset="2"/>
              </a:rPr>
              <a:t>):</a:t>
            </a:r>
          </a:p>
        </p:txBody>
      </p:sp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3082556" y="2719574"/>
            <a:ext cx="4347665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/>
              <a:t>         +0.92            +0.793 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Hg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———Hg</a:t>
            </a:r>
            <a:r>
              <a:rPr lang="en-US" altLang="zh-CN" sz="2800" b="1" baseline="-25000"/>
              <a:t>2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———Hg</a:t>
            </a:r>
          </a:p>
        </p:txBody>
      </p: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960173" y="3312090"/>
            <a:ext cx="1003980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i="1">
                <a:sym typeface="Symbol" pitchFamily="18" charset="2"/>
              </a:rPr>
              <a:t>        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Webdings" pitchFamily="18" charset="2"/>
              </a:rPr>
              <a:t>(</a:t>
            </a:r>
            <a:r>
              <a:rPr lang="en-US" altLang="zh-CN" sz="2800" b="1"/>
              <a:t>Hg</a:t>
            </a:r>
            <a:r>
              <a:rPr lang="en-US" altLang="zh-CN" sz="2800" b="1" baseline="-25000"/>
              <a:t>2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/Hg</a:t>
            </a:r>
            <a:r>
              <a:rPr lang="en-US" altLang="zh-CN" sz="2800" b="1">
                <a:sym typeface="Webdings" pitchFamily="18" charset="2"/>
              </a:rPr>
              <a:t>) </a:t>
            </a:r>
            <a:r>
              <a:rPr lang="en-US" altLang="zh-CN" sz="2800" b="1">
                <a:sym typeface="Symbol" pitchFamily="18" charset="2"/>
              </a:rPr>
              <a:t>&lt;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Webdings" pitchFamily="18" charset="2"/>
              </a:rPr>
              <a:t>(</a:t>
            </a:r>
            <a:r>
              <a:rPr lang="en-US" altLang="zh-CN" sz="2800" b="1"/>
              <a:t>Hg</a:t>
            </a:r>
            <a:r>
              <a:rPr lang="en-US" altLang="zh-CN" sz="2800" b="1" baseline="30000"/>
              <a:t>2+</a:t>
            </a:r>
            <a:r>
              <a:rPr lang="en-US" altLang="zh-CN" sz="2800" b="1">
                <a:sym typeface="Symbol" pitchFamily="18" charset="2"/>
              </a:rPr>
              <a:t>/</a:t>
            </a:r>
            <a:r>
              <a:rPr lang="en-US" altLang="zh-CN" sz="2800" b="1"/>
              <a:t>Hg</a:t>
            </a:r>
            <a:r>
              <a:rPr lang="en-US" altLang="zh-CN" sz="2800" b="1" baseline="-25000"/>
              <a:t>2</a:t>
            </a:r>
            <a:r>
              <a:rPr lang="en-US" altLang="zh-CN" sz="2800" b="1" baseline="30000"/>
              <a:t>2+</a:t>
            </a:r>
            <a:r>
              <a:rPr lang="en-US" altLang="zh-CN" sz="2800" b="1">
                <a:sym typeface="Webdings" pitchFamily="18" charset="2"/>
              </a:rPr>
              <a:t>),</a:t>
            </a:r>
            <a:r>
              <a:rPr lang="en-US" altLang="zh-CN" sz="2800" b="1"/>
              <a:t>Hg</a:t>
            </a:r>
            <a:r>
              <a:rPr lang="en-US" altLang="zh-CN" sz="2800" b="1" baseline="-25000"/>
              <a:t>2</a:t>
            </a:r>
            <a:r>
              <a:rPr lang="en-US" altLang="zh-CN" sz="2800" b="1" baseline="30000"/>
              <a:t>2+</a:t>
            </a:r>
            <a:r>
              <a:rPr lang="zh-CN" altLang="en-US" sz="2800" b="1"/>
              <a:t>在酸性溶液中不发生歧化</a:t>
            </a:r>
            <a:r>
              <a:rPr lang="en-US" altLang="zh-CN" sz="2800" b="1"/>
              <a:t>,</a:t>
            </a:r>
            <a:r>
              <a:rPr lang="zh-CN" altLang="en-US" sz="2800" b="1"/>
              <a:t>而是发生</a:t>
            </a:r>
            <a:r>
              <a:rPr lang="en-US" altLang="zh-CN" sz="2800" b="1"/>
              <a:t>Hg</a:t>
            </a:r>
            <a:r>
              <a:rPr lang="en-US" altLang="zh-CN" sz="2800" b="1" baseline="30000"/>
              <a:t>2+ </a:t>
            </a:r>
            <a:r>
              <a:rPr lang="en-US" altLang="zh-CN" sz="2800" b="1"/>
              <a:t>+ Hg → Hg</a:t>
            </a:r>
            <a:r>
              <a:rPr lang="en-US" altLang="zh-CN" sz="2800" b="1" baseline="-25000"/>
              <a:t>2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.</a:t>
            </a:r>
          </a:p>
        </p:txBody>
      </p:sp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5939070" y="4425120"/>
            <a:ext cx="3426964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 i="1">
                <a:sym typeface="Symbol" pitchFamily="18" charset="2"/>
              </a:rPr>
              <a:t>     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1      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2      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3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A ——B——C——D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      n</a:t>
            </a:r>
            <a:r>
              <a:rPr lang="en-US" altLang="zh-CN" sz="2800" b="1" baseline="-25000"/>
              <a:t>1           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2          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3</a:t>
            </a:r>
          </a:p>
        </p:txBody>
      </p:sp>
      <p:grpSp>
        <p:nvGrpSpPr>
          <p:cNvPr id="40990" name="Group 30"/>
          <p:cNvGrpSpPr>
            <a:grpSpLocks/>
          </p:cNvGrpSpPr>
          <p:nvPr/>
        </p:nvGrpSpPr>
        <p:grpSpPr bwMode="auto">
          <a:xfrm>
            <a:off x="6241124" y="4968134"/>
            <a:ext cx="2904289" cy="612017"/>
            <a:chOff x="3120" y="3312"/>
            <a:chExt cx="1872" cy="408"/>
          </a:xfrm>
        </p:grpSpPr>
        <p:sp>
          <p:nvSpPr>
            <p:cNvPr id="40976" name="Line 16"/>
            <p:cNvSpPr>
              <a:spLocks noChangeShapeType="1"/>
            </p:cNvSpPr>
            <p:nvPr/>
          </p:nvSpPr>
          <p:spPr bwMode="auto">
            <a:xfrm>
              <a:off x="3120" y="3312"/>
              <a:ext cx="0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7" name="Line 17"/>
            <p:cNvSpPr>
              <a:spLocks noChangeShapeType="1"/>
            </p:cNvSpPr>
            <p:nvPr/>
          </p:nvSpPr>
          <p:spPr bwMode="auto">
            <a:xfrm>
              <a:off x="4992" y="3312"/>
              <a:ext cx="0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8" name="Line 18"/>
            <p:cNvSpPr>
              <a:spLocks noChangeShapeType="1"/>
            </p:cNvSpPr>
            <p:nvPr/>
          </p:nvSpPr>
          <p:spPr bwMode="auto">
            <a:xfrm>
              <a:off x="3120" y="369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9" name="Rectangle 19"/>
          <p:cNvSpPr>
            <a:spLocks noChangeArrowheads="1"/>
          </p:cNvSpPr>
          <p:nvPr/>
        </p:nvSpPr>
        <p:spPr bwMode="auto">
          <a:xfrm>
            <a:off x="7777401" y="5550150"/>
            <a:ext cx="5774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</a:p>
        </p:txBody>
      </p:sp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7843414" y="5065637"/>
            <a:ext cx="385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n</a:t>
            </a:r>
          </a:p>
        </p:txBody>
      </p:sp>
      <p:sp>
        <p:nvSpPr>
          <p:cNvPr id="40982" name="Rectangle 22"/>
          <p:cNvSpPr>
            <a:spLocks noChangeArrowheads="1"/>
          </p:cNvSpPr>
          <p:nvPr/>
        </p:nvSpPr>
        <p:spPr bwMode="auto">
          <a:xfrm>
            <a:off x="906164" y="4114611"/>
            <a:ext cx="45416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FF3300"/>
                </a:solidFill>
              </a:rPr>
              <a:t>2.</a:t>
            </a:r>
            <a:r>
              <a:rPr lang="zh-CN" altLang="en-US" sz="2800" b="1" u="sng">
                <a:solidFill>
                  <a:srgbClr val="FF3300"/>
                </a:solidFill>
              </a:rPr>
              <a:t>计算未知电对的电极电势</a:t>
            </a:r>
            <a:r>
              <a:rPr lang="en-US" altLang="zh-CN" sz="2800" b="1">
                <a:solidFill>
                  <a:srgbClr val="FF3300"/>
                </a:solidFill>
              </a:rPr>
              <a:t>:</a:t>
            </a:r>
            <a:endParaRPr lang="en-US" altLang="zh-CN" sz="2800" b="1"/>
          </a:p>
        </p:txBody>
      </p:sp>
      <p:sp>
        <p:nvSpPr>
          <p:cNvPr id="40983" name="Rectangle 23"/>
          <p:cNvSpPr>
            <a:spLocks noChangeArrowheads="1"/>
          </p:cNvSpPr>
          <p:nvPr/>
        </p:nvSpPr>
        <p:spPr bwMode="auto">
          <a:xfrm>
            <a:off x="906164" y="4555623"/>
            <a:ext cx="35477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        </a:t>
            </a:r>
            <a:r>
              <a:rPr lang="zh-CN" altLang="en-US" sz="2800" b="1"/>
              <a:t>某元素的电势图</a:t>
            </a:r>
            <a:r>
              <a:rPr lang="en-US" altLang="zh-CN" sz="2800" b="1"/>
              <a:t>:</a:t>
            </a:r>
          </a:p>
        </p:txBody>
      </p:sp>
      <p:sp>
        <p:nvSpPr>
          <p:cNvPr id="40992" name="Rectangle 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5.2.3</a:t>
            </a:r>
            <a:r>
              <a:rPr lang="zh-CN" altLang="en-US"/>
              <a:t>元素电势图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40993" name="AutoShape 3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4" name="AutoShape 3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5" name="AutoShape 35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6" name="AutoShape 36">
            <a:hlinkClick r:id="rId5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59903750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8" grpId="0" autoUpdateAnimBg="0"/>
      <p:bldP spid="40969" grpId="0" autoUpdateAnimBg="0"/>
      <p:bldP spid="40970" grpId="0" autoUpdateAnimBg="0"/>
      <p:bldP spid="40971" grpId="0" build="p" autoUpdateAnimBg="0"/>
      <p:bldP spid="40975" grpId="0" autoUpdateAnimBg="0"/>
      <p:bldP spid="40979" grpId="0" autoUpdateAnimBg="0"/>
      <p:bldP spid="40980" grpId="0" autoUpdateAnimBg="0"/>
      <p:bldP spid="40982" grpId="0" autoUpdateAnimBg="0"/>
      <p:bldP spid="4098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DAE37E59-7C63-4413-9B9A-E26C218E7F88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20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9E0F08B7-4290-40B0-B12D-74E8869D0A9F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906164" y="1461040"/>
            <a:ext cx="106159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FF3300"/>
                </a:solidFill>
              </a:rPr>
              <a:t>例</a:t>
            </a:r>
            <a:r>
              <a:rPr lang="en-US" altLang="zh-CN" sz="2800" b="1">
                <a:solidFill>
                  <a:srgbClr val="FF3300"/>
                </a:solidFill>
              </a:rPr>
              <a:t>6:</a:t>
            </a:r>
            <a:r>
              <a:rPr lang="zh-CN" altLang="en-US" sz="2800" b="1"/>
              <a:t>据下列</a:t>
            </a: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酸性</a:t>
            </a:r>
            <a:r>
              <a:rPr lang="zh-CN" altLang="en-US" sz="2800" b="1"/>
              <a:t>介质中铁的元素电势图求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Webdings" pitchFamily="18" charset="2"/>
              </a:rPr>
              <a:t>(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3+</a:t>
            </a:r>
            <a:r>
              <a:rPr lang="en-US" altLang="zh-CN" sz="2800" b="1"/>
              <a:t>/Fe</a:t>
            </a:r>
            <a:r>
              <a:rPr lang="en-US" altLang="zh-CN" sz="2800" b="1">
                <a:sym typeface="Webdings" pitchFamily="18" charset="2"/>
              </a:rPr>
              <a:t>).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906165" y="1026028"/>
            <a:ext cx="101178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800" b="1"/>
              <a:t>n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  </a:t>
            </a:r>
            <a:r>
              <a:rPr lang="en-US" altLang="zh-CN" sz="2800" b="1">
                <a:sym typeface="Webdings" pitchFamily="18" charset="2"/>
              </a:rPr>
              <a:t>=</a:t>
            </a:r>
            <a:r>
              <a:rPr lang="en-US" altLang="zh-CN" sz="2800" b="1" i="1">
                <a:sym typeface="Symbol" pitchFamily="18" charset="2"/>
              </a:rPr>
              <a:t> 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1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1  </a:t>
            </a:r>
            <a:r>
              <a:rPr lang="en-US" altLang="zh-CN" sz="2800" b="1">
                <a:sym typeface="Webdings" pitchFamily="18" charset="2"/>
              </a:rPr>
              <a:t>+ 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2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2  </a:t>
            </a:r>
            <a:r>
              <a:rPr lang="en-US" altLang="zh-CN" sz="2800" b="1">
                <a:sym typeface="Webdings" pitchFamily="18" charset="2"/>
              </a:rPr>
              <a:t>+ 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3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 baseline="-25000">
                <a:sym typeface="Webdings" pitchFamily="18" charset="2"/>
              </a:rPr>
              <a:t>3 </a:t>
            </a:r>
            <a:endParaRPr lang="en-US" altLang="zh-CN" sz="2800" b="1">
              <a:sym typeface="Webdings" pitchFamily="18" charset="2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3082557" y="2040055"/>
            <a:ext cx="3986989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/>
              <a:t>        +0.771        -0.447 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Fe</a:t>
            </a:r>
            <a:r>
              <a:rPr lang="en-US" altLang="zh-CN" sz="2800" b="1" baseline="30000"/>
              <a:t>3+</a:t>
            </a:r>
            <a:r>
              <a:rPr lang="en-US" altLang="zh-CN" sz="2800" b="1"/>
              <a:t>———Fe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———Fe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             n</a:t>
            </a:r>
            <a:r>
              <a:rPr lang="en-US" altLang="zh-CN" sz="2800" b="1" baseline="-25000"/>
              <a:t>1                       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2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4306776" y="2964080"/>
            <a:ext cx="20345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Webdings" pitchFamily="18" charset="2"/>
              </a:rPr>
              <a:t> n = 3, 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 </a:t>
            </a:r>
            <a:r>
              <a:rPr lang="en-US" altLang="zh-CN" sz="2800" b="1"/>
              <a:t>=?</a:t>
            </a:r>
          </a:p>
        </p:txBody>
      </p:sp>
      <p:grpSp>
        <p:nvGrpSpPr>
          <p:cNvPr id="42010" name="Group 26"/>
          <p:cNvGrpSpPr>
            <a:grpSpLocks/>
          </p:cNvGrpSpPr>
          <p:nvPr/>
        </p:nvGrpSpPr>
        <p:grpSpPr bwMode="auto">
          <a:xfrm>
            <a:off x="3444620" y="2583070"/>
            <a:ext cx="3402614" cy="408011"/>
            <a:chOff x="1722" y="1722"/>
            <a:chExt cx="2160" cy="272"/>
          </a:xfrm>
        </p:grpSpPr>
        <p:sp>
          <p:nvSpPr>
            <p:cNvPr id="41994" name="Line 10"/>
            <p:cNvSpPr>
              <a:spLocks noChangeShapeType="1"/>
            </p:cNvSpPr>
            <p:nvPr/>
          </p:nvSpPr>
          <p:spPr bwMode="auto">
            <a:xfrm>
              <a:off x="1722" y="172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5" name="Line 11"/>
            <p:cNvSpPr>
              <a:spLocks noChangeShapeType="1"/>
            </p:cNvSpPr>
            <p:nvPr/>
          </p:nvSpPr>
          <p:spPr bwMode="auto">
            <a:xfrm>
              <a:off x="3876" y="172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6" name="Line 12"/>
            <p:cNvSpPr>
              <a:spLocks noChangeShapeType="1"/>
            </p:cNvSpPr>
            <p:nvPr/>
          </p:nvSpPr>
          <p:spPr bwMode="auto">
            <a:xfrm>
              <a:off x="1722" y="1994"/>
              <a:ext cx="2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906164" y="3400592"/>
            <a:ext cx="6655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解</a:t>
            </a:r>
            <a:r>
              <a:rPr lang="en-US" altLang="zh-CN" sz="2800" b="1">
                <a:solidFill>
                  <a:srgbClr val="0000FF"/>
                </a:solidFill>
              </a:rPr>
              <a:t>:</a:t>
            </a:r>
            <a:endParaRPr lang="en-US" altLang="zh-CN" sz="2800" b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998" name="Rectangle 14"/>
          <p:cNvSpPr>
            <a:spLocks noChangeArrowheads="1"/>
          </p:cNvSpPr>
          <p:nvPr/>
        </p:nvSpPr>
        <p:spPr bwMode="auto">
          <a:xfrm>
            <a:off x="1632294" y="3372091"/>
            <a:ext cx="735650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n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Webdings" pitchFamily="18" charset="2"/>
              </a:rPr>
              <a:t>(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3+</a:t>
            </a:r>
            <a:r>
              <a:rPr lang="en-US" altLang="zh-CN" sz="2800" b="1"/>
              <a:t>/Fe</a:t>
            </a:r>
            <a:r>
              <a:rPr lang="en-US" altLang="zh-CN" sz="2800" b="1">
                <a:sym typeface="Webdings" pitchFamily="18" charset="2"/>
              </a:rPr>
              <a:t>) =</a:t>
            </a:r>
            <a:r>
              <a:rPr lang="en-US" altLang="zh-CN" sz="2800" b="1" i="1">
                <a:sym typeface="Symbol" pitchFamily="18" charset="2"/>
              </a:rPr>
              <a:t> 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1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 </a:t>
            </a:r>
            <a:r>
              <a:rPr lang="en-US" altLang="zh-CN" sz="2800" b="1">
                <a:sym typeface="Webdings" pitchFamily="18" charset="2"/>
              </a:rPr>
              <a:t>(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3+</a:t>
            </a:r>
            <a:r>
              <a:rPr lang="en-US" altLang="zh-CN" sz="2800" b="1"/>
              <a:t>/Fe</a:t>
            </a:r>
            <a:r>
              <a:rPr lang="en-US" altLang="zh-CN" sz="2800" b="1" baseline="30000"/>
              <a:t>2+</a:t>
            </a:r>
            <a:r>
              <a:rPr lang="en-US" altLang="zh-CN" sz="2800" b="1">
                <a:sym typeface="Webdings" pitchFamily="18" charset="2"/>
              </a:rPr>
              <a:t>)</a:t>
            </a:r>
            <a:r>
              <a:rPr lang="en-US" altLang="zh-CN" sz="2800" b="1" baseline="-25000">
                <a:sym typeface="Webdings" pitchFamily="18" charset="2"/>
              </a:rPr>
              <a:t>  </a:t>
            </a:r>
            <a:r>
              <a:rPr lang="en-US" altLang="zh-CN" sz="2800" b="1">
                <a:sym typeface="Webdings" pitchFamily="18" charset="2"/>
              </a:rPr>
              <a:t>+ </a:t>
            </a:r>
            <a:r>
              <a:rPr lang="en-US" altLang="zh-CN" sz="2800" b="1"/>
              <a:t>n</a:t>
            </a:r>
            <a:r>
              <a:rPr lang="en-US" altLang="zh-CN" sz="2800" b="1" baseline="-25000"/>
              <a:t>2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</a:t>
            </a:r>
            <a:r>
              <a:rPr lang="en-US" altLang="zh-CN" sz="2800" b="1">
                <a:sym typeface="Webdings" pitchFamily="18" charset="2"/>
              </a:rPr>
              <a:t>(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/Fe</a:t>
            </a:r>
            <a:r>
              <a:rPr lang="en-US" altLang="zh-CN" sz="2800" b="1">
                <a:sym typeface="Webdings" pitchFamily="18" charset="2"/>
              </a:rPr>
              <a:t>)</a:t>
            </a:r>
            <a:endParaRPr lang="en-US" altLang="zh-CN" sz="2800" b="1" baseline="-25000">
              <a:sym typeface="Webdings" pitchFamily="18" charset="2"/>
            </a:endParaRPr>
          </a:p>
          <a:p>
            <a:r>
              <a:rPr lang="en-US" altLang="zh-CN" sz="2800" b="1">
                <a:sym typeface="Symbol" pitchFamily="18" charset="2"/>
              </a:rPr>
              <a:t>∴</a:t>
            </a:r>
            <a:r>
              <a:rPr lang="en-US" altLang="zh-CN" sz="2800" b="1" i="1">
                <a:sym typeface="Symbol" pitchFamily="18" charset="2"/>
              </a:rPr>
              <a:t>E</a:t>
            </a:r>
            <a:r>
              <a:rPr lang="en-US" altLang="zh-CN" b="1" baseline="100000">
                <a:sym typeface="Webdings" pitchFamily="18" charset="2"/>
              </a:rPr>
              <a:t> </a:t>
            </a:r>
            <a:r>
              <a:rPr lang="en-US" altLang="zh-CN" sz="2800" b="1"/>
              <a:t>= {(0.771×1) + (-0.447×2)}/3 = -0.0410V.</a:t>
            </a:r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906164" y="4182113"/>
            <a:ext cx="10135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FF3300"/>
                </a:solidFill>
              </a:rPr>
              <a:t>3.</a:t>
            </a:r>
            <a:r>
              <a:rPr lang="zh-CN" altLang="en-US" sz="2800" b="1">
                <a:solidFill>
                  <a:srgbClr val="FF3300"/>
                </a:solidFill>
              </a:rPr>
              <a:t>了解元素的氧化还原特性</a:t>
            </a:r>
            <a:r>
              <a:rPr lang="en-US" altLang="zh-CN" sz="2800" b="1">
                <a:solidFill>
                  <a:srgbClr val="FF3300"/>
                </a:solidFill>
              </a:rPr>
              <a:t>:</a:t>
            </a:r>
            <a:endParaRPr lang="en-US" altLang="zh-CN" sz="2800" b="1"/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906164" y="4555624"/>
            <a:ext cx="1032785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/>
              <a:t>        </a:t>
            </a:r>
            <a:r>
              <a:rPr lang="zh-CN" altLang="en-US" sz="2800" b="1" dirty="0"/>
              <a:t>从铁的元素电势图可预料铁在酸性介质中的一些氧化还原特性</a:t>
            </a:r>
            <a:r>
              <a:rPr lang="en-US" altLang="zh-CN" sz="2800" b="1" dirty="0"/>
              <a:t>.</a:t>
            </a:r>
          </a:p>
        </p:txBody>
      </p:sp>
      <p:sp>
        <p:nvSpPr>
          <p:cNvPr id="42012" name="Rectangle 28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5.2.3</a:t>
            </a:r>
            <a:r>
              <a:rPr lang="zh-CN" altLang="en-US"/>
              <a:t>元素电势图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42013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4" name="AutoShape 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5" name="AutoShape 31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6" name="AutoShape 32">
            <a:hlinkClick r:id="rId4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8467094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1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1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 autoUpdateAnimBg="0"/>
      <p:bldP spid="41991" grpId="0" autoUpdateAnimBg="0"/>
      <p:bldP spid="41992" grpId="0" autoUpdateAnimBg="0"/>
      <p:bldP spid="41993" grpId="0" autoUpdateAnimBg="0"/>
      <p:bldP spid="41997" grpId="0" autoUpdateAnimBg="0"/>
      <p:bldP spid="41998" grpId="0" build="p" autoUpdateAnimBg="0"/>
      <p:bldP spid="42000" grpId="0" autoUpdateAnimBg="0"/>
      <p:bldP spid="4200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0860C889-5BDC-4CC2-8C1B-F36734B596BE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23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4C89DB3C-8D9C-44CB-A9C9-30868F2BF1F3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906164" y="1020028"/>
            <a:ext cx="102318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ym typeface="Monotype Sorts" pitchFamily="2" charset="2"/>
              </a:rPr>
              <a:t>①Fe</a:t>
            </a:r>
            <a:r>
              <a:rPr lang="zh-CN" altLang="en-US" sz="2800" b="1">
                <a:sym typeface="Monotype Sorts" pitchFamily="2" charset="2"/>
              </a:rPr>
              <a:t>与非氧化性酸作用</a:t>
            </a:r>
            <a:r>
              <a:rPr lang="en-US" altLang="zh-CN" sz="2800" b="1">
                <a:sym typeface="Monotype Sorts" pitchFamily="2" charset="2"/>
              </a:rPr>
              <a:t>;</a:t>
            </a:r>
            <a:r>
              <a:rPr lang="en-US" altLang="zh-CN" sz="2800" b="1" baseline="-25000">
                <a:sym typeface="Webdings" pitchFamily="18" charset="2"/>
              </a:rPr>
              <a:t> </a:t>
            </a:r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906164" y="1428039"/>
            <a:ext cx="781816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Monotype Sorts" pitchFamily="2" charset="2"/>
              </a:rPr>
              <a:t>②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2+</a:t>
            </a:r>
            <a:r>
              <a:rPr lang="zh-CN" altLang="en-US" sz="2800" b="1">
                <a:sym typeface="Monotype Sorts" pitchFamily="2" charset="2"/>
              </a:rPr>
              <a:t>在酸性介质中</a:t>
            </a:r>
            <a:r>
              <a:rPr lang="zh-CN" altLang="zh-CN" sz="2800" b="1"/>
              <a:t>;</a:t>
            </a:r>
            <a:endParaRPr lang="en-US" altLang="zh-CN" sz="2800" b="1">
              <a:sym typeface="Monotype Sorts" pitchFamily="2" charset="2"/>
            </a:endParaRPr>
          </a:p>
          <a:p>
            <a:r>
              <a:rPr lang="en-US" altLang="zh-CN" sz="2800" b="1">
                <a:sym typeface="Monotype Sorts" pitchFamily="2" charset="2"/>
              </a:rPr>
              <a:t>③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2+</a:t>
            </a:r>
            <a:r>
              <a:rPr lang="zh-CN" altLang="zh-CN" sz="2800" b="1"/>
              <a:t>反歧化反应.</a:t>
            </a:r>
          </a:p>
          <a:p>
            <a:r>
              <a:rPr lang="zh-CN" altLang="zh-CN" sz="2800" b="1"/>
              <a:t>        加入铁钉可保护</a:t>
            </a:r>
            <a:r>
              <a:rPr lang="en-US" altLang="zh-CN" sz="2800" b="1"/>
              <a:t>Fe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:Fe + 2Fe</a:t>
            </a:r>
            <a:r>
              <a:rPr lang="en-US" altLang="zh-CN" sz="2800" b="1" baseline="30000"/>
              <a:t>3+ </a:t>
            </a:r>
            <a:r>
              <a:rPr lang="en-US" altLang="zh-CN" sz="2800" b="1"/>
              <a:t>→ 3Fe</a:t>
            </a:r>
            <a:r>
              <a:rPr lang="en-US" altLang="zh-CN" sz="2800" b="1" baseline="30000"/>
              <a:t>2+</a:t>
            </a:r>
            <a:r>
              <a:rPr lang="en-US" altLang="zh-CN" sz="2800" b="1"/>
              <a:t>.</a:t>
            </a:r>
          </a:p>
          <a:p>
            <a:r>
              <a:rPr lang="zh-CN" altLang="en-US" sz="2800" b="1">
                <a:solidFill>
                  <a:srgbClr val="FF3300"/>
                </a:solidFill>
              </a:rPr>
              <a:t>例</a:t>
            </a:r>
            <a:r>
              <a:rPr lang="en-US" altLang="zh-CN" sz="2800" b="1">
                <a:solidFill>
                  <a:srgbClr val="FF3300"/>
                </a:solidFill>
              </a:rPr>
              <a:t>7:</a:t>
            </a:r>
            <a:r>
              <a:rPr lang="zh-CN" altLang="en-US" sz="2800" b="1"/>
              <a:t>碘与氧在</a:t>
            </a: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酸性</a:t>
            </a:r>
            <a:r>
              <a:rPr lang="zh-CN" altLang="en-US" sz="2800" b="1"/>
              <a:t>介质中的元素电势图分别如下</a:t>
            </a:r>
            <a:r>
              <a:rPr lang="en-US" altLang="zh-CN" sz="2800" b="1"/>
              <a:t>:</a:t>
            </a:r>
          </a:p>
        </p:txBody>
      </p:sp>
      <p:sp>
        <p:nvSpPr>
          <p:cNvPr id="43021" name="Rectangle 13"/>
          <p:cNvSpPr>
            <a:spLocks noChangeArrowheads="1"/>
          </p:cNvSpPr>
          <p:nvPr/>
        </p:nvSpPr>
        <p:spPr bwMode="auto">
          <a:xfrm>
            <a:off x="906164" y="3127585"/>
            <a:ext cx="575029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/>
              <a:t>         +1.14           +1.45         +0.53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IO</a:t>
            </a:r>
            <a:r>
              <a:rPr lang="en-US" altLang="zh-CN" sz="2800" b="1" baseline="-25000"/>
              <a:t>3</a:t>
            </a:r>
            <a:r>
              <a:rPr lang="en-US" altLang="zh-CN" sz="2800" b="1" baseline="30000"/>
              <a:t>-</a:t>
            </a:r>
            <a:r>
              <a:rPr lang="en-US" altLang="zh-CN" sz="2800" b="1"/>
              <a:t> ——— HIO———  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——— I</a:t>
            </a:r>
            <a:r>
              <a:rPr lang="en-US" altLang="zh-CN" sz="2800" b="1" baseline="30000"/>
              <a:t>-</a:t>
            </a:r>
            <a:endParaRPr lang="en-US" altLang="zh-CN" sz="2800" b="1"/>
          </a:p>
        </p:txBody>
      </p:sp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906164" y="4351618"/>
            <a:ext cx="463460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800" b="1"/>
              <a:t>       +0.69           +1.776           </a:t>
            </a:r>
          </a:p>
          <a:p>
            <a:pPr>
              <a:lnSpc>
                <a:spcPct val="60000"/>
              </a:lnSpc>
            </a:pPr>
            <a:r>
              <a:rPr lang="en-US" altLang="zh-CN" sz="2800" b="1"/>
              <a:t>O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———H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O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——— H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O</a:t>
            </a:r>
          </a:p>
        </p:txBody>
      </p:sp>
      <p:grpSp>
        <p:nvGrpSpPr>
          <p:cNvPr id="43042" name="Group 34"/>
          <p:cNvGrpSpPr>
            <a:grpSpLocks/>
          </p:cNvGrpSpPr>
          <p:nvPr/>
        </p:nvGrpSpPr>
        <p:grpSpPr bwMode="auto">
          <a:xfrm>
            <a:off x="1314238" y="4930634"/>
            <a:ext cx="3628653" cy="271507"/>
            <a:chOff x="657" y="3287"/>
            <a:chExt cx="2244" cy="181"/>
          </a:xfrm>
        </p:grpSpPr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657" y="3287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>
              <a:off x="657" y="3468"/>
              <a:ext cx="22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>
              <a:off x="2901" y="3287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027" name="Rectangle 19"/>
          <p:cNvSpPr>
            <a:spLocks noChangeArrowheads="1"/>
          </p:cNvSpPr>
          <p:nvPr/>
        </p:nvSpPr>
        <p:spPr bwMode="auto">
          <a:xfrm>
            <a:off x="2946531" y="5134639"/>
            <a:ext cx="11977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ym typeface="Symbol" pitchFamily="18" charset="2"/>
              </a:rPr>
              <a:t>+1.229</a:t>
            </a:r>
          </a:p>
        </p:txBody>
      </p:sp>
      <p:grpSp>
        <p:nvGrpSpPr>
          <p:cNvPr id="43041" name="Group 33"/>
          <p:cNvGrpSpPr>
            <a:grpSpLocks/>
          </p:cNvGrpSpPr>
          <p:nvPr/>
        </p:nvGrpSpPr>
        <p:grpSpPr bwMode="auto">
          <a:xfrm>
            <a:off x="1314237" y="3672098"/>
            <a:ext cx="5078914" cy="500117"/>
            <a:chOff x="657" y="2448"/>
            <a:chExt cx="2304" cy="181"/>
          </a:xfrm>
        </p:grpSpPr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>
              <a:off x="657" y="2448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>
              <a:off x="2947" y="2448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>
              <a:off x="657" y="2629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031" name="Rectangle 23"/>
          <p:cNvSpPr>
            <a:spLocks noChangeArrowheads="1"/>
          </p:cNvSpPr>
          <p:nvPr/>
        </p:nvSpPr>
        <p:spPr bwMode="auto">
          <a:xfrm>
            <a:off x="2946530" y="3648996"/>
            <a:ext cx="10182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ym typeface="Webdings" pitchFamily="18" charset="2"/>
              </a:rPr>
              <a:t>+1.20</a:t>
            </a:r>
          </a:p>
        </p:txBody>
      </p:sp>
      <p:sp>
        <p:nvSpPr>
          <p:cNvPr id="43033" name="Rectangle 25"/>
          <p:cNvSpPr>
            <a:spLocks noChangeArrowheads="1"/>
          </p:cNvSpPr>
          <p:nvPr/>
        </p:nvSpPr>
        <p:spPr bwMode="auto">
          <a:xfrm>
            <a:off x="6393151" y="3672100"/>
            <a:ext cx="432077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        </a:t>
            </a:r>
            <a:r>
              <a:rPr lang="zh-CN" altLang="en-US" sz="2800" b="1"/>
              <a:t>问在酸性介质中</a:t>
            </a:r>
            <a:r>
              <a:rPr lang="en-US" altLang="zh-CN" sz="2800" b="1"/>
              <a:t>,</a:t>
            </a:r>
            <a:r>
              <a:rPr lang="zh-CN" altLang="en-US" sz="2800" b="1"/>
              <a:t>标准态下</a:t>
            </a:r>
            <a:r>
              <a:rPr lang="en-US" altLang="zh-CN" sz="2800" b="1"/>
              <a:t>IO</a:t>
            </a:r>
            <a:r>
              <a:rPr lang="en-US" altLang="zh-CN" sz="2800" b="1" baseline="-25000"/>
              <a:t>3</a:t>
            </a:r>
            <a:r>
              <a:rPr lang="en-US" altLang="zh-CN" sz="2800" b="1" baseline="30000"/>
              <a:t>-</a:t>
            </a:r>
            <a:r>
              <a:rPr lang="zh-CN" altLang="en-US" sz="2800" b="1"/>
              <a:t>与</a:t>
            </a:r>
            <a:r>
              <a:rPr lang="en-US" altLang="zh-CN" sz="2800" b="1"/>
              <a:t>H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O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能否发生反应</a:t>
            </a:r>
            <a:r>
              <a:rPr lang="en-US" altLang="zh-CN" sz="2800" b="1"/>
              <a:t>,</a:t>
            </a:r>
            <a:r>
              <a:rPr lang="zh-CN" altLang="en-US" sz="2800" b="1"/>
              <a:t>结果如何</a:t>
            </a:r>
            <a:r>
              <a:rPr lang="en-US" altLang="zh-CN" sz="2800" b="1"/>
              <a:t>?</a:t>
            </a:r>
          </a:p>
        </p:txBody>
      </p:sp>
      <p:sp>
        <p:nvSpPr>
          <p:cNvPr id="43044" name="Rectangle 3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5.2.3</a:t>
            </a:r>
            <a:r>
              <a:rPr lang="zh-CN" altLang="en-US"/>
              <a:t>元素电势图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43045" name="AutoShape 3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610152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46" name="AutoShape 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6303136" y="5610152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47" name="AutoShape 39">
            <a:hlinkClick r:id="" action="ppaction://hlinkshowjump?jump=endshow"/>
          </p:cNvPr>
          <p:cNvSpPr>
            <a:spLocks noChangeArrowheads="1"/>
          </p:cNvSpPr>
          <p:nvPr/>
        </p:nvSpPr>
        <p:spPr bwMode="auto">
          <a:xfrm>
            <a:off x="5759038" y="5610152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48" name="AutoShape 40">
            <a:hlinkClick r:id="rId4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610152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52074040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3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30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30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 autoUpdateAnimBg="0"/>
      <p:bldP spid="43015" grpId="0" build="p" autoUpdateAnimBg="0"/>
      <p:bldP spid="43021" grpId="0" autoUpdateAnimBg="0"/>
      <p:bldP spid="43023" grpId="0" autoUpdateAnimBg="0"/>
      <p:bldP spid="43027" grpId="0" autoUpdateAnimBg="0"/>
      <p:bldP spid="43031" grpId="0" autoUpdateAnimBg="0"/>
      <p:bldP spid="4303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906164" y="5950661"/>
            <a:ext cx="2268409" cy="408011"/>
          </a:xfrm>
          <a:prstGeom prst="rect">
            <a:avLst/>
          </a:prstGeom>
        </p:spPr>
        <p:txBody>
          <a:bodyPr/>
          <a:lstStyle/>
          <a:p>
            <a:fld id="{247F73BB-5B35-47DC-AB26-9F63EA15B6FA}" type="datetime1">
              <a:rPr lang="zh-CN" altLang="en-US"/>
              <a:pPr/>
              <a:t>2021/11/22</a:t>
            </a:fld>
            <a:endParaRPr lang="en-US" altLang="zh-CN"/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5530997" y="5950661"/>
            <a:ext cx="544098" cy="408011"/>
          </a:xfrm>
          <a:prstGeom prst="rect">
            <a:avLst/>
          </a:prstGeom>
        </p:spPr>
        <p:txBody>
          <a:bodyPr/>
          <a:lstStyle/>
          <a:p>
            <a:fld id="{F0AE931A-1193-4493-BD20-DA9CAD0010C1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906164" y="1020028"/>
            <a:ext cx="10141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sym typeface="Monotype Sorts" pitchFamily="2" charset="2"/>
              </a:rPr>
              <a:t>解</a:t>
            </a:r>
            <a:r>
              <a:rPr lang="en-US" altLang="zh-CN" sz="2800" b="1">
                <a:solidFill>
                  <a:srgbClr val="0000FF"/>
                </a:solidFill>
                <a:sym typeface="Monotype Sorts" pitchFamily="2" charset="2"/>
              </a:rPr>
              <a:t>:</a:t>
            </a:r>
            <a:endParaRPr lang="en-US" altLang="zh-CN" sz="2800" b="1"/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1598287" y="692902"/>
            <a:ext cx="940969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500" b="1" dirty="0">
                <a:sym typeface="Monotype Sorts" pitchFamily="2" charset="2"/>
              </a:rPr>
              <a:t>从元素电势图看出</a:t>
            </a:r>
            <a:r>
              <a:rPr lang="en-US" altLang="zh-CN" sz="2500" b="1" dirty="0">
                <a:sym typeface="Monotype Sorts" pitchFamily="2" charset="2"/>
              </a:rPr>
              <a:t>:</a:t>
            </a:r>
            <a:r>
              <a:rPr lang="en-US" altLang="zh-CN" sz="2500" b="1" i="1" dirty="0">
                <a:sym typeface="Symbol" pitchFamily="18" charset="2"/>
              </a:rPr>
              <a:t>E</a:t>
            </a:r>
            <a:r>
              <a:rPr lang="en-US" altLang="zh-CN" sz="2500" b="1" baseline="100000" dirty="0">
                <a:sym typeface="Webdings" pitchFamily="18" charset="2"/>
              </a:rPr>
              <a:t></a:t>
            </a:r>
            <a:r>
              <a:rPr lang="en-US" altLang="zh-CN" sz="2500" b="1" dirty="0">
                <a:sym typeface="Webdings" pitchFamily="18" charset="2"/>
              </a:rPr>
              <a:t>(</a:t>
            </a:r>
            <a:r>
              <a:rPr lang="en-US" altLang="zh-CN" sz="2500" b="1" dirty="0">
                <a:sym typeface="Symbol" pitchFamily="18" charset="2"/>
              </a:rPr>
              <a:t>O</a:t>
            </a:r>
            <a:r>
              <a:rPr lang="en-US" altLang="zh-CN" sz="2500" b="1" baseline="-25000" dirty="0">
                <a:sym typeface="Symbol" pitchFamily="18" charset="2"/>
              </a:rPr>
              <a:t>2</a:t>
            </a:r>
            <a:r>
              <a:rPr lang="en-US" altLang="zh-CN" sz="2500" b="1" dirty="0">
                <a:sym typeface="Symbol" pitchFamily="18" charset="2"/>
              </a:rPr>
              <a:t>/H</a:t>
            </a:r>
            <a:r>
              <a:rPr lang="en-US" altLang="zh-CN" sz="2500" b="1" baseline="-25000" dirty="0">
                <a:sym typeface="Symbol" pitchFamily="18" charset="2"/>
              </a:rPr>
              <a:t>2</a:t>
            </a:r>
            <a:r>
              <a:rPr lang="en-US" altLang="zh-CN" sz="2500" b="1" dirty="0">
                <a:sym typeface="Symbol" pitchFamily="18" charset="2"/>
              </a:rPr>
              <a:t>O</a:t>
            </a:r>
            <a:r>
              <a:rPr lang="en-US" altLang="zh-CN" sz="2500" b="1" baseline="-25000" dirty="0">
                <a:sym typeface="Symbol" pitchFamily="18" charset="2"/>
              </a:rPr>
              <a:t>2</a:t>
            </a:r>
            <a:r>
              <a:rPr lang="en-US" altLang="zh-CN" sz="2500" b="1" dirty="0">
                <a:sym typeface="Webdings" pitchFamily="18" charset="2"/>
              </a:rPr>
              <a:t>) = 0.69V;</a:t>
            </a:r>
          </a:p>
          <a:p>
            <a:r>
              <a:rPr lang="en-US" altLang="zh-CN" sz="2500" b="1" i="1" dirty="0">
                <a:sym typeface="Symbol" pitchFamily="18" charset="2"/>
              </a:rPr>
              <a:t>                                  E</a:t>
            </a:r>
            <a:r>
              <a:rPr lang="en-US" altLang="zh-CN" sz="2500" b="1" baseline="100000" dirty="0">
                <a:sym typeface="Webdings" pitchFamily="18" charset="2"/>
              </a:rPr>
              <a:t></a:t>
            </a:r>
            <a:r>
              <a:rPr lang="en-US" altLang="zh-CN" sz="2500" b="1" dirty="0">
                <a:sym typeface="Webdings" pitchFamily="18" charset="2"/>
              </a:rPr>
              <a:t>(</a:t>
            </a:r>
            <a:r>
              <a:rPr lang="en-US" altLang="zh-CN" sz="2500" b="1" dirty="0"/>
              <a:t>IO</a:t>
            </a:r>
            <a:r>
              <a:rPr lang="en-US" altLang="zh-CN" sz="2500" b="1" baseline="-25000" dirty="0"/>
              <a:t>3</a:t>
            </a:r>
            <a:r>
              <a:rPr lang="en-US" altLang="zh-CN" sz="2500" b="1" baseline="30000" dirty="0"/>
              <a:t>-</a:t>
            </a:r>
            <a:r>
              <a:rPr lang="en-US" altLang="zh-CN" sz="2500" b="1" dirty="0"/>
              <a:t>/I</a:t>
            </a:r>
            <a:r>
              <a:rPr lang="en-US" altLang="zh-CN" sz="2500" b="1" baseline="-25000" dirty="0"/>
              <a:t>2</a:t>
            </a:r>
            <a:r>
              <a:rPr lang="en-US" altLang="zh-CN" sz="2500" b="1" dirty="0">
                <a:sym typeface="Webdings" pitchFamily="18" charset="2"/>
              </a:rPr>
              <a:t>) = 1.20V.</a:t>
            </a:r>
          </a:p>
          <a:p>
            <a:r>
              <a:rPr lang="en-US" altLang="zh-CN" sz="2500" b="1" dirty="0"/>
              <a:t>        </a:t>
            </a:r>
            <a:r>
              <a:rPr lang="en-US" altLang="zh-CN" sz="2500" b="1" dirty="0">
                <a:hlinkClick r:id="rId4" action="ppaction://hlinkfile"/>
              </a:rPr>
              <a:t>IO</a:t>
            </a:r>
            <a:r>
              <a:rPr lang="en-US" altLang="zh-CN" sz="2500" b="1" baseline="-25000" dirty="0">
                <a:hlinkClick r:id="rId4" action="ppaction://hlinkfile"/>
              </a:rPr>
              <a:t>3</a:t>
            </a:r>
            <a:r>
              <a:rPr lang="en-US" altLang="zh-CN" sz="2500" b="1" baseline="30000" dirty="0">
                <a:hlinkClick r:id="rId4" action="ppaction://hlinkfile"/>
              </a:rPr>
              <a:t>-</a:t>
            </a:r>
            <a:r>
              <a:rPr lang="zh-CN" altLang="en-US" sz="2500" b="1" dirty="0">
                <a:hlinkClick r:id="rId4" action="ppaction://hlinkfile"/>
              </a:rPr>
              <a:t>与</a:t>
            </a:r>
            <a:r>
              <a:rPr lang="en-US" altLang="zh-CN" sz="2500" b="1" dirty="0">
                <a:hlinkClick r:id="rId4" action="ppaction://hlinkfile"/>
              </a:rPr>
              <a:t>H</a:t>
            </a:r>
            <a:r>
              <a:rPr lang="en-US" altLang="zh-CN" sz="2500" b="1" baseline="-25000" dirty="0">
                <a:hlinkClick r:id="rId4" action="ppaction://hlinkfile"/>
              </a:rPr>
              <a:t>2</a:t>
            </a:r>
            <a:r>
              <a:rPr lang="en-US" altLang="zh-CN" sz="2500" b="1" dirty="0">
                <a:hlinkClick r:id="rId4" action="ppaction://hlinkfile"/>
              </a:rPr>
              <a:t>O</a:t>
            </a:r>
            <a:r>
              <a:rPr lang="en-US" altLang="zh-CN" sz="2500" b="1" baseline="-25000" dirty="0">
                <a:hlinkClick r:id="rId4" action="ppaction://hlinkfile"/>
              </a:rPr>
              <a:t>2</a:t>
            </a:r>
            <a:r>
              <a:rPr lang="zh-CN" altLang="en-US" sz="2500" b="1" dirty="0">
                <a:hlinkClick r:id="rId4" action="ppaction://hlinkfile"/>
              </a:rPr>
              <a:t>会发生反应</a:t>
            </a:r>
            <a:r>
              <a:rPr lang="en-US" altLang="zh-CN" sz="2500" b="1" dirty="0"/>
              <a:t>:</a:t>
            </a:r>
          </a:p>
          <a:p>
            <a:r>
              <a:rPr lang="en-US" altLang="zh-CN" sz="2500" b="1" dirty="0"/>
              <a:t>2HIO</a:t>
            </a:r>
            <a:r>
              <a:rPr lang="en-US" altLang="zh-CN" sz="2500" b="1" baseline="-25000" dirty="0"/>
              <a:t>3</a:t>
            </a:r>
            <a:r>
              <a:rPr lang="en-US" altLang="zh-CN" sz="2500" b="1" dirty="0"/>
              <a:t> + 5H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O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 = I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 + 5O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 + 6H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O</a:t>
            </a:r>
          </a:p>
          <a:p>
            <a:endParaRPr lang="en-US" altLang="zh-CN" sz="2500" b="1" dirty="0" smtClean="0">
              <a:sym typeface="Symbol" pitchFamily="18" charset="2"/>
            </a:endParaRPr>
          </a:p>
          <a:p>
            <a:r>
              <a:rPr lang="zh-CN" altLang="en-US" sz="2500" b="1" dirty="0" smtClean="0">
                <a:sym typeface="Symbol" pitchFamily="18" charset="2"/>
              </a:rPr>
              <a:t>但</a:t>
            </a:r>
            <a:r>
              <a:rPr lang="en-US" altLang="zh-CN" sz="2500" b="1" i="1" dirty="0">
                <a:sym typeface="Symbol" pitchFamily="18" charset="2"/>
              </a:rPr>
              <a:t>E</a:t>
            </a:r>
            <a:r>
              <a:rPr lang="en-US" altLang="zh-CN" sz="2500" b="1" baseline="100000" dirty="0">
                <a:sym typeface="Webdings" pitchFamily="18" charset="2"/>
              </a:rPr>
              <a:t></a:t>
            </a:r>
            <a:r>
              <a:rPr lang="en-US" altLang="zh-CN" sz="2500" b="1" dirty="0">
                <a:sym typeface="Webdings" pitchFamily="18" charset="2"/>
              </a:rPr>
              <a:t>(</a:t>
            </a:r>
            <a:r>
              <a:rPr lang="en-US" altLang="zh-CN" sz="2500" b="1" dirty="0"/>
              <a:t>H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O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/H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O</a:t>
            </a:r>
            <a:r>
              <a:rPr lang="en-US" altLang="zh-CN" sz="2500" b="1" dirty="0">
                <a:sym typeface="Webdings" pitchFamily="18" charset="2"/>
              </a:rPr>
              <a:t>) = 1.776V </a:t>
            </a:r>
            <a:r>
              <a:rPr lang="en-US" altLang="zh-CN" sz="2500" b="1" dirty="0">
                <a:sym typeface="Symbol" pitchFamily="18" charset="2"/>
              </a:rPr>
              <a:t>&gt; </a:t>
            </a:r>
            <a:r>
              <a:rPr lang="en-US" altLang="zh-CN" sz="2500" b="1" i="1" dirty="0">
                <a:sym typeface="Symbol" pitchFamily="18" charset="2"/>
              </a:rPr>
              <a:t>E</a:t>
            </a:r>
            <a:r>
              <a:rPr lang="en-US" altLang="zh-CN" sz="2500" b="1" baseline="100000" dirty="0">
                <a:sym typeface="Webdings" pitchFamily="18" charset="2"/>
              </a:rPr>
              <a:t></a:t>
            </a:r>
            <a:r>
              <a:rPr lang="en-US" altLang="zh-CN" sz="2500" b="1" dirty="0">
                <a:sym typeface="Webdings" pitchFamily="18" charset="2"/>
              </a:rPr>
              <a:t>(</a:t>
            </a:r>
            <a:r>
              <a:rPr lang="en-US" altLang="zh-CN" sz="2500" b="1" dirty="0"/>
              <a:t>IO</a:t>
            </a:r>
            <a:r>
              <a:rPr lang="en-US" altLang="zh-CN" sz="2500" b="1" baseline="-25000" dirty="0"/>
              <a:t>3</a:t>
            </a:r>
            <a:r>
              <a:rPr lang="en-US" altLang="zh-CN" sz="2500" b="1" baseline="30000" dirty="0"/>
              <a:t>-</a:t>
            </a:r>
            <a:r>
              <a:rPr lang="en-US" altLang="zh-CN" sz="2500" b="1" dirty="0"/>
              <a:t>/I</a:t>
            </a:r>
            <a:r>
              <a:rPr lang="en-US" altLang="zh-CN" sz="2500" b="1" baseline="-25000" dirty="0"/>
              <a:t>2</a:t>
            </a:r>
            <a:r>
              <a:rPr lang="en-US" altLang="zh-CN" sz="2500" b="1" dirty="0">
                <a:sym typeface="Webdings" pitchFamily="18" charset="2"/>
              </a:rPr>
              <a:t>),</a:t>
            </a:r>
            <a:r>
              <a:rPr lang="zh-CN" altLang="en-US" sz="2500" b="1" dirty="0">
                <a:sym typeface="Webdings" pitchFamily="18" charset="2"/>
              </a:rPr>
              <a:t>故接着发生以下反应</a:t>
            </a:r>
            <a:r>
              <a:rPr lang="en-US" altLang="zh-CN" sz="2500" b="1" dirty="0">
                <a:sym typeface="Webdings" pitchFamily="18" charset="2"/>
              </a:rPr>
              <a:t>:</a:t>
            </a:r>
          </a:p>
          <a:p>
            <a:r>
              <a:rPr lang="en-US" altLang="zh-CN" sz="2500" b="1" dirty="0"/>
              <a:t>5H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O</a:t>
            </a:r>
            <a:r>
              <a:rPr lang="en-US" altLang="zh-CN" sz="2500" b="1" baseline="-25000" dirty="0"/>
              <a:t>2</a:t>
            </a:r>
            <a:r>
              <a:rPr lang="en-US" altLang="zh-CN" sz="2500" b="1" dirty="0">
                <a:sym typeface="Webdings" pitchFamily="18" charset="2"/>
              </a:rPr>
              <a:t> </a:t>
            </a:r>
            <a:r>
              <a:rPr lang="en-US" altLang="zh-CN" sz="2500" b="1" dirty="0"/>
              <a:t>+ I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 = 2HIO</a:t>
            </a:r>
            <a:r>
              <a:rPr lang="en-US" altLang="zh-CN" sz="2500" b="1" baseline="-25000" dirty="0"/>
              <a:t>3</a:t>
            </a:r>
            <a:r>
              <a:rPr lang="en-US" altLang="zh-CN" sz="2500" b="1" dirty="0"/>
              <a:t> + 4H</a:t>
            </a:r>
            <a:r>
              <a:rPr lang="en-US" altLang="zh-CN" sz="2500" b="1" baseline="-25000" dirty="0"/>
              <a:t>2</a:t>
            </a:r>
            <a:r>
              <a:rPr lang="en-US" altLang="zh-CN" sz="2500" b="1" dirty="0"/>
              <a:t>O</a:t>
            </a:r>
          </a:p>
          <a:p>
            <a:r>
              <a:rPr lang="zh-CN" altLang="en-US" sz="2500" b="1" dirty="0"/>
              <a:t>最终结果为</a:t>
            </a:r>
            <a:r>
              <a:rPr lang="en-US" altLang="zh-CN" sz="2500" b="1" dirty="0"/>
              <a:t>:</a:t>
            </a:r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2517726" y="3703899"/>
            <a:ext cx="53944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/>
              <a:t>2HIO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 + 5H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= 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+ 5O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+ 6H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</a:p>
          <a:p>
            <a:r>
              <a:rPr lang="en-US" altLang="zh-CN" sz="2800" b="1" dirty="0"/>
              <a:t>5H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sym typeface="Webdings" pitchFamily="18" charset="2"/>
              </a:rPr>
              <a:t> </a:t>
            </a:r>
            <a:r>
              <a:rPr lang="en-US" altLang="zh-CN" sz="2800" b="1" dirty="0"/>
              <a:t>+ 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= 2HIO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 + 4H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</a:p>
        </p:txBody>
      </p:sp>
      <p:sp>
        <p:nvSpPr>
          <p:cNvPr id="51212" name="Rectangle 12"/>
          <p:cNvSpPr>
            <a:spLocks noChangeArrowheads="1"/>
          </p:cNvSpPr>
          <p:nvPr/>
        </p:nvSpPr>
        <p:spPr bwMode="auto">
          <a:xfrm>
            <a:off x="1948351" y="3903129"/>
            <a:ext cx="6381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+)</a:t>
            </a:r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1948351" y="4680247"/>
            <a:ext cx="7489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4" name="Rectangle 14"/>
          <p:cNvSpPr>
            <a:spLocks noChangeArrowheads="1"/>
          </p:cNvSpPr>
          <p:nvPr/>
        </p:nvSpPr>
        <p:spPr bwMode="auto">
          <a:xfrm>
            <a:off x="3351288" y="4747913"/>
            <a:ext cx="37273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/>
              <a:t>10H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= 5O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+ 10H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</a:p>
        </p:txBody>
      </p:sp>
      <p:sp>
        <p:nvSpPr>
          <p:cNvPr id="51215" name="Rectangle 15"/>
          <p:cNvSpPr>
            <a:spLocks noChangeArrowheads="1"/>
          </p:cNvSpPr>
          <p:nvPr/>
        </p:nvSpPr>
        <p:spPr bwMode="auto">
          <a:xfrm>
            <a:off x="3076495" y="5349574"/>
            <a:ext cx="3188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/>
              <a:t>2H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= 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+ 2H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O</a:t>
            </a:r>
          </a:p>
        </p:txBody>
      </p:sp>
      <p:sp>
        <p:nvSpPr>
          <p:cNvPr id="51225" name="Rectangle 2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5.2.3</a:t>
            </a:r>
            <a:r>
              <a:rPr lang="zh-CN" altLang="en-US"/>
              <a:t>元素电势图</a:t>
            </a:r>
            <a:endParaRPr lang="zh-CN" altLang="en-US" sz="1400" b="0">
              <a:solidFill>
                <a:schemeClr val="accent2"/>
              </a:solidFill>
            </a:endParaRPr>
          </a:p>
        </p:txBody>
      </p:sp>
      <p:sp>
        <p:nvSpPr>
          <p:cNvPr id="51226" name="AutoShape 2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4670842" y="5928420"/>
            <a:ext cx="544098" cy="408011"/>
          </a:xfrm>
          <a:prstGeom prst="actionButtonBackPrevious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9" name="AutoShape 29">
            <a:hlinkClick r:id="rId5" action="ppaction://hlinkpres?slideindex=1&amp;slidetitle=著名化学家" highlightClick="1"/>
          </p:cNvPr>
          <p:cNvSpPr>
            <a:spLocks noChangeArrowheads="1"/>
          </p:cNvSpPr>
          <p:nvPr/>
        </p:nvSpPr>
        <p:spPr bwMode="auto">
          <a:xfrm>
            <a:off x="5214940" y="5928420"/>
            <a:ext cx="544098" cy="408011"/>
          </a:xfrm>
          <a:prstGeom prst="actionButtonBlank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休息</a:t>
            </a:r>
            <a:endParaRPr lang="zh-CN" altLang="en-US" sz="2800" b="1"/>
          </a:p>
        </p:txBody>
      </p:sp>
      <p:sp>
        <p:nvSpPr>
          <p:cNvPr id="51230" name="AutoShape 30">
            <a:hlinkClick r:id="rId6" action="ppaction://hlinkpres?slideindex=1&amp;slidetitle=5.3氧化还原滴定法 REDOX TITRATION" highlightClick="1"/>
          </p:cNvPr>
          <p:cNvSpPr>
            <a:spLocks noChangeArrowheads="1"/>
          </p:cNvSpPr>
          <p:nvPr/>
        </p:nvSpPr>
        <p:spPr bwMode="auto">
          <a:xfrm>
            <a:off x="6303136" y="5928420"/>
            <a:ext cx="544098" cy="408011"/>
          </a:xfrm>
          <a:prstGeom prst="actionButtonForwardNex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下节</a:t>
            </a:r>
            <a:endParaRPr lang="zh-CN" altLang="en-US" sz="2400">
              <a:ea typeface="宋体" charset="-122"/>
            </a:endParaRPr>
          </a:p>
        </p:txBody>
      </p:sp>
      <p:sp>
        <p:nvSpPr>
          <p:cNvPr id="51231" name="AutoShape 31">
            <a:hlinkClick r:id="rId7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6849233" y="5928420"/>
            <a:ext cx="544098" cy="408011"/>
          </a:xfrm>
          <a:prstGeom prst="actionButtonReturn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/>
              <a:t>目录</a:t>
            </a:r>
          </a:p>
        </p:txBody>
      </p:sp>
      <p:sp>
        <p:nvSpPr>
          <p:cNvPr id="51232" name="AutoShape 32">
            <a:hlinkClick r:id="" action="ppaction://hlinkshowjump?jump=endshow"/>
          </p:cNvPr>
          <p:cNvSpPr>
            <a:spLocks noChangeAspect="1" noChangeArrowheads="1"/>
          </p:cNvSpPr>
          <p:nvPr/>
        </p:nvSpPr>
        <p:spPr bwMode="auto">
          <a:xfrm>
            <a:off x="5759038" y="5928420"/>
            <a:ext cx="544098" cy="408011"/>
          </a:xfrm>
          <a:prstGeom prst="actionButtonEnd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02334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1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1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1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1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autoUpdateAnimBg="0"/>
      <p:bldP spid="51210" grpId="0" build="p" autoUpdateAnimBg="0"/>
      <p:bldP spid="51211" grpId="0" autoUpdateAnimBg="0"/>
      <p:bldP spid="51212" grpId="0" autoUpdateAnimBg="0"/>
      <p:bldP spid="51213" grpId="0" animBg="1"/>
      <p:bldP spid="51214" grpId="0" autoUpdateAnimBg="0"/>
      <p:bldP spid="51215" grpId="0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1173</TotalTime>
  <Words>2426</Words>
  <Application>Microsoft Office PowerPoint</Application>
  <PresentationFormat>自定义</PresentationFormat>
  <Paragraphs>347</Paragraphs>
  <Slides>28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Monotype Sorts</vt:lpstr>
      <vt:lpstr>MS Mincho</vt:lpstr>
      <vt:lpstr>黑体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Microsoft 公式 3.0</vt:lpstr>
      <vt:lpstr>公式</vt:lpstr>
      <vt:lpstr>PowerPoint 演示文稿</vt:lpstr>
      <vt:lpstr>5.2 影响电极电势的主要因素</vt:lpstr>
      <vt:lpstr>5.2.1能斯特方程式（非标准下的电极电势）</vt:lpstr>
      <vt:lpstr>5.2.1能斯特方程式</vt:lpstr>
      <vt:lpstr>5.2.1能斯特方程式</vt:lpstr>
      <vt:lpstr>5.2.1能斯特方程式</vt:lpstr>
      <vt:lpstr>5.2.1能斯特方程式</vt:lpstr>
      <vt:lpstr>5.2.2条件电极电势</vt:lpstr>
      <vt:lpstr>5.2.2条件电极电势</vt:lpstr>
      <vt:lpstr>5.2.2条件电极电势</vt:lpstr>
      <vt:lpstr>5.2电极电势的应用</vt:lpstr>
      <vt:lpstr>5.2.1判断反应方向,次序和限度</vt:lpstr>
      <vt:lpstr>5.2.1判断反应方向,次序和限度</vt:lpstr>
      <vt:lpstr>5.2.1判断反应方向,次序和限度</vt:lpstr>
      <vt:lpstr>5.2.1判断反应方向,次序和限度</vt:lpstr>
      <vt:lpstr>5.2.1判断反应方向,次序和限度</vt:lpstr>
      <vt:lpstr>5.2.1判断反应方向,次序和限度</vt:lpstr>
      <vt:lpstr>5.2.1判断反应方向,次序和限度</vt:lpstr>
      <vt:lpstr>5.2.2计算有关平衡常数</vt:lpstr>
      <vt:lpstr>5.2.2计算有关平衡常数</vt:lpstr>
      <vt:lpstr>5.2.2计算有关平衡常数</vt:lpstr>
      <vt:lpstr>5.2.3元素电势图</vt:lpstr>
      <vt:lpstr>5.2.3元素电势图</vt:lpstr>
      <vt:lpstr>5.2.3元素电势图</vt:lpstr>
      <vt:lpstr>5.2.3元素电势图</vt:lpstr>
      <vt:lpstr>5.2.3元素电势图</vt:lpstr>
      <vt:lpstr>5.2.3元素电势图</vt:lpstr>
      <vt:lpstr>5.2.3元素电势图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ch05-02</dc:title>
  <dc:creator>江南大学</dc:creator>
  <cp:lastModifiedBy>USER</cp:lastModifiedBy>
  <cp:revision>336</cp:revision>
  <cp:lastPrinted>2021-11-22T02:37:37Z</cp:lastPrinted>
  <dcterms:created xsi:type="dcterms:W3CDTF">2012-06-20T03:37:00Z</dcterms:created>
  <dcterms:modified xsi:type="dcterms:W3CDTF">2021-11-22T16:18:58Z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2052-10.1.0.6554</vt:lpwstr>
  </property>
</Properties>
</file>