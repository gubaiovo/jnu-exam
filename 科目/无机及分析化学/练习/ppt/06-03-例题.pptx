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Default Extension="wav" ContentType="audio/wav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7"/>
  </p:notesMasterIdLst>
  <p:sldIdLst>
    <p:sldId id="280" r:id="rId2"/>
    <p:sldId id="283" r:id="rId3"/>
    <p:sldId id="285" r:id="rId4"/>
    <p:sldId id="286" r:id="rId5"/>
    <p:sldId id="287" r:id="rId6"/>
  </p:sldIdLst>
  <p:sldSz cx="11522075" cy="6480175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FFFF"/>
    <a:srgbClr val="F8F8F8"/>
    <a:srgbClr val="66CCFF"/>
    <a:srgbClr val="85D9F7"/>
    <a:srgbClr val="57BBFF"/>
    <a:srgbClr val="000000"/>
    <a:srgbClr val="0000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2" autoAdjust="0"/>
    <p:restoredTop sz="94620" autoAdjust="0"/>
  </p:normalViewPr>
  <p:slideViewPr>
    <p:cSldViewPr>
      <p:cViewPr>
        <p:scale>
          <a:sx n="65" d="100"/>
          <a:sy n="65" d="100"/>
        </p:scale>
        <p:origin x="-498" y="-216"/>
      </p:cViewPr>
      <p:guideLst>
        <p:guide orient="horz" pos="2034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53D0E6F5-C51E-4EBB-8FFA-DF7D17D738EE}" type="datetimeFigureOut">
              <a:rPr lang="zh-CN" altLang="en-US"/>
              <a:pPr>
                <a:defRPr/>
              </a:pPr>
              <a:t>2017/8/20</a:t>
            </a:fld>
            <a:endParaRPr lang="en-US" altLang="zh-CN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4339E53B-9F64-48D9-96CD-88CD8BB550E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3600" y="2012950"/>
            <a:ext cx="9794875" cy="13890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28788" y="3671888"/>
            <a:ext cx="8064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9638" y="4164013"/>
            <a:ext cx="9794875" cy="1287462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09638" y="2746375"/>
            <a:ext cx="9794875" cy="14176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263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37238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263" y="1450975"/>
            <a:ext cx="5091112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263" y="2055813"/>
            <a:ext cx="5091112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113" y="1450975"/>
            <a:ext cx="5092700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113" y="2055813"/>
            <a:ext cx="5092700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plit orient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3790950" cy="109696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5325" y="258763"/>
            <a:ext cx="6440488" cy="5529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263" y="1355725"/>
            <a:ext cx="3790950" cy="443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9013" y="4535488"/>
            <a:ext cx="6911975" cy="5365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9013" y="579438"/>
            <a:ext cx="6911975" cy="3887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9013" y="5072063"/>
            <a:ext cx="6911975" cy="760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425" y="258763"/>
            <a:ext cx="2592388" cy="5529262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258763"/>
            <a:ext cx="7624762" cy="55292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121" descr="地砖背景1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-20638" y="-17463"/>
            <a:ext cx="11563351" cy="6516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ransition spd="slow">
    <p:split orient="vert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CC"/>
        </a:buClr>
        <a:buSzPct val="90000"/>
        <a:buFont typeface="Wingdings" pitchFamily="2" charset="2"/>
        <a:buChar char="§"/>
        <a:defRPr sz="3200" b="1">
          <a:solidFill>
            <a:srgbClr val="FFFF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FFFFCC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FFFFCC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FFFFCC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5" Type="http://schemas.openxmlformats.org/officeDocument/2006/relationships/oleObject" Target="../embeddings/oleObject2.bin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5" Type="http://schemas.openxmlformats.org/officeDocument/2006/relationships/oleObject" Target="../embeddings/oleObject4.bin"/><Relationship Id="rId4" Type="http://schemas.openxmlformats.org/officeDocument/2006/relationships/oleObject" Target="../embeddings/oleObject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灯片编号占位符 4"/>
          <p:cNvSpPr txBox="1">
            <a:spLocks/>
          </p:cNvSpPr>
          <p:nvPr/>
        </p:nvSpPr>
        <p:spPr bwMode="auto">
          <a:xfrm>
            <a:off x="5530850" y="5949950"/>
            <a:ext cx="700088" cy="407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fld id="{9DA0C1F3-3383-452D-9C27-A0E0F863F244}" type="slidenum">
              <a:rPr lang="en-US" altLang="zh-CN" sz="2500" b="1">
                <a:ea typeface="华文新魏" pitchFamily="2" charset="-122"/>
                <a:cs typeface="楷体_GB2312" pitchFamily="49" charset="-122"/>
              </a:rPr>
              <a:pPr/>
              <a:t>1</a:t>
            </a:fld>
            <a:endParaRPr lang="en-US" altLang="zh-CN" sz="2500" b="1">
              <a:ea typeface="华文新魏" pitchFamily="2" charset="-122"/>
              <a:cs typeface="楷体_GB2312" pitchFamily="49" charset="-122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331749" y="382588"/>
            <a:ext cx="2808287" cy="2211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5000"/>
              </a:lnSpc>
              <a:defRPr/>
            </a:pPr>
            <a:r>
              <a:rPr lang="zh-CN" altLang="en-US" sz="2200" b="1" dirty="0">
                <a:solidFill>
                  <a:srgbClr val="FFFF00"/>
                </a:solidFill>
                <a:ea typeface="华文新魏" pitchFamily="2" charset="-122"/>
                <a:cs typeface="楷体_GB2312"/>
              </a:rPr>
              <a:t>例</a:t>
            </a:r>
            <a:r>
              <a:rPr lang="en-US" altLang="zh-CN" sz="2200" b="1" dirty="0">
                <a:solidFill>
                  <a:srgbClr val="FFFF00"/>
                </a:solidFill>
                <a:ea typeface="华文新魏" pitchFamily="2" charset="-122"/>
                <a:cs typeface="楷体_GB2312"/>
              </a:rPr>
              <a:t>1:</a:t>
            </a:r>
            <a:r>
              <a:rPr lang="zh-CN" altLang="en-US" sz="2200" b="1" dirty="0">
                <a:ea typeface="华文新魏" pitchFamily="2" charset="-122"/>
                <a:cs typeface="楷体_GB2312"/>
              </a:rPr>
              <a:t>在</a:t>
            </a:r>
            <a:r>
              <a:rPr lang="en-US" altLang="zh-CN" sz="2200" b="1" dirty="0">
                <a:solidFill>
                  <a:srgbClr val="FFFF00"/>
                </a:solidFill>
                <a:ea typeface="华文新魏" pitchFamily="2" charset="-122"/>
                <a:cs typeface="楷体_GB2312"/>
              </a:rPr>
              <a:t>pH = 10.0</a:t>
            </a:r>
            <a:r>
              <a:rPr lang="zh-CN" altLang="en-US" sz="2200" b="1" dirty="0">
                <a:ea typeface="华文新魏" pitchFamily="2" charset="-122"/>
                <a:cs typeface="楷体_GB2312"/>
              </a:rPr>
              <a:t>的氨性缓冲溶液中</a:t>
            </a:r>
            <a:r>
              <a:rPr lang="en-US" altLang="zh-CN" sz="2200" b="1" dirty="0">
                <a:ea typeface="华文新魏" pitchFamily="2" charset="-122"/>
                <a:cs typeface="楷体_GB2312"/>
              </a:rPr>
              <a:t>,</a:t>
            </a:r>
            <a:r>
              <a:rPr lang="zh-CN" altLang="en-US" sz="2200" b="1" dirty="0">
                <a:ea typeface="华文新魏" pitchFamily="2" charset="-122"/>
                <a:cs typeface="楷体_GB2312"/>
              </a:rPr>
              <a:t>以</a:t>
            </a:r>
            <a:r>
              <a:rPr lang="en-US" altLang="zh-CN" sz="2200" b="1" dirty="0">
                <a:ea typeface="华文新魏" pitchFamily="2" charset="-122"/>
                <a:cs typeface="楷体_GB2312"/>
              </a:rPr>
              <a:t>0.02000mol·L</a:t>
            </a:r>
            <a:r>
              <a:rPr lang="en-US" altLang="zh-CN" sz="2200" b="1" baseline="30000" dirty="0">
                <a:ea typeface="华文新魏" pitchFamily="2" charset="-122"/>
                <a:cs typeface="楷体_GB2312"/>
              </a:rPr>
              <a:t>-1 </a:t>
            </a:r>
            <a:r>
              <a:rPr lang="en-US" altLang="zh-CN" sz="2200" b="1" dirty="0">
                <a:ea typeface="华文新魏" pitchFamily="2" charset="-122"/>
                <a:cs typeface="楷体_GB2312"/>
              </a:rPr>
              <a:t>EDTA</a:t>
            </a:r>
            <a:r>
              <a:rPr lang="zh-CN" altLang="en-US" sz="2200" b="1" dirty="0">
                <a:ea typeface="华文新魏" pitchFamily="2" charset="-122"/>
                <a:cs typeface="楷体_GB2312"/>
              </a:rPr>
              <a:t>滴定同浓度的</a:t>
            </a:r>
            <a:r>
              <a:rPr lang="en-US" altLang="zh-CN" sz="2200" b="1" dirty="0">
                <a:ea typeface="华文新魏" pitchFamily="2" charset="-122"/>
                <a:cs typeface="楷体_GB2312"/>
              </a:rPr>
              <a:t>Mg</a:t>
            </a:r>
            <a:r>
              <a:rPr lang="en-US" altLang="zh-CN" sz="2200" b="1" baseline="30000" dirty="0">
                <a:ea typeface="华文新魏" pitchFamily="2" charset="-122"/>
                <a:cs typeface="楷体_GB2312"/>
              </a:rPr>
              <a:t>2+</a:t>
            </a:r>
            <a:r>
              <a:rPr lang="en-US" altLang="zh-CN" sz="2200" b="1" dirty="0">
                <a:ea typeface="华文新魏" pitchFamily="2" charset="-122"/>
                <a:cs typeface="楷体_GB2312"/>
              </a:rPr>
              <a:t>,</a:t>
            </a:r>
            <a:r>
              <a:rPr lang="zh-CN" altLang="en-US" sz="2200" b="1" dirty="0">
                <a:ea typeface="华文新魏" pitchFamily="2" charset="-122"/>
                <a:cs typeface="楷体_GB2312"/>
              </a:rPr>
              <a:t>化学计量点</a:t>
            </a:r>
            <a:r>
              <a:rPr lang="en-US" altLang="zh-CN" sz="2200" b="1" dirty="0" err="1">
                <a:ea typeface="华文新魏" pitchFamily="2" charset="-122"/>
                <a:cs typeface="楷体_GB2312"/>
              </a:rPr>
              <a:t>pMg</a:t>
            </a:r>
            <a:r>
              <a:rPr lang="en-US" altLang="zh-CN" sz="2200" b="1" dirty="0">
                <a:ea typeface="华文新魏" pitchFamily="2" charset="-122"/>
                <a:cs typeface="楷体_GB2312"/>
              </a:rPr>
              <a:t>’</a:t>
            </a:r>
            <a:r>
              <a:rPr lang="zh-CN" altLang="en-US" sz="2200" b="1" dirty="0">
                <a:ea typeface="华文新魏" pitchFamily="2" charset="-122"/>
                <a:cs typeface="楷体_GB2312"/>
              </a:rPr>
              <a:t>为多少</a:t>
            </a:r>
            <a:r>
              <a:rPr lang="en-US" altLang="zh-CN" sz="2200" b="1" dirty="0">
                <a:ea typeface="华文新魏" pitchFamily="2" charset="-122"/>
                <a:cs typeface="楷体_GB2312"/>
              </a:rPr>
              <a:t>?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903663" y="525463"/>
            <a:ext cx="1355725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500" b="1" dirty="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解</a:t>
            </a:r>
            <a:r>
              <a:rPr lang="en-US" altLang="zh-CN" sz="2500" b="1" dirty="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: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618038" y="668338"/>
            <a:ext cx="6143625" cy="3246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2500" b="1" dirty="0" err="1">
                <a:ea typeface="华文新魏" pitchFamily="2" charset="-122"/>
                <a:cs typeface="楷体_GB2312" pitchFamily="49" charset="-122"/>
              </a:rPr>
              <a:t>pM</a:t>
            </a:r>
            <a:r>
              <a:rPr lang="en-US" altLang="zh-CN" sz="2500" b="1" dirty="0">
                <a:ea typeface="华文新魏" pitchFamily="2" charset="-122"/>
                <a:cs typeface="楷体_GB2312" pitchFamily="49" charset="-122"/>
              </a:rPr>
              <a:t>’ = (</a:t>
            </a:r>
            <a:r>
              <a:rPr lang="en-US" altLang="zh-CN" sz="2500" b="1" dirty="0" err="1">
                <a:ea typeface="华文新魏" pitchFamily="2" charset="-122"/>
                <a:cs typeface="楷体_GB2312" pitchFamily="49" charset="-122"/>
              </a:rPr>
              <a:t>lg</a:t>
            </a:r>
            <a:r>
              <a:rPr lang="en-US" altLang="zh-CN" sz="2500" b="1" i="1" dirty="0" err="1">
                <a:ea typeface="华文新魏" pitchFamily="2" charset="-122"/>
                <a:cs typeface="楷体_GB2312" pitchFamily="49" charset="-122"/>
              </a:rPr>
              <a:t>K</a:t>
            </a:r>
            <a:r>
              <a:rPr lang="en-US" altLang="zh-CN" sz="1600" b="1" baseline="100000" dirty="0" err="1">
                <a:ea typeface="华文新魏" pitchFamily="2" charset="-122"/>
                <a:cs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dirty="0" err="1">
                <a:ea typeface="华文新魏" pitchFamily="2" charset="-122"/>
                <a:cs typeface="楷体_GB2312" pitchFamily="49" charset="-122"/>
                <a:sym typeface="Webdings" pitchFamily="18" charset="2"/>
              </a:rPr>
              <a:t>’</a:t>
            </a:r>
            <a:r>
              <a:rPr lang="en-US" altLang="zh-CN" sz="2500" b="1" baseline="-25000" dirty="0" err="1">
                <a:ea typeface="华文新魏" pitchFamily="2" charset="-122"/>
                <a:cs typeface="楷体_GB2312" pitchFamily="49" charset="-122"/>
                <a:sym typeface="Webdings" pitchFamily="18" charset="2"/>
              </a:rPr>
              <a:t>MY</a:t>
            </a:r>
            <a:r>
              <a:rPr lang="en-US" altLang="zh-CN" sz="2500" b="1" baseline="-25000" dirty="0">
                <a:ea typeface="华文新魏" pitchFamily="2" charset="-122"/>
                <a:cs typeface="楷体_GB2312" pitchFamily="49" charset="-122"/>
                <a:sym typeface="Webdings" pitchFamily="18" charset="2"/>
              </a:rPr>
              <a:t> </a:t>
            </a:r>
            <a:r>
              <a:rPr lang="en-US" altLang="zh-CN" sz="2500" b="1" dirty="0">
                <a:ea typeface="华文新魏" pitchFamily="2" charset="-122"/>
                <a:cs typeface="楷体_GB2312" pitchFamily="49" charset="-122"/>
                <a:sym typeface="Webdings" pitchFamily="18" charset="2"/>
              </a:rPr>
              <a:t>+ </a:t>
            </a:r>
            <a:r>
              <a:rPr lang="en-US" altLang="zh-CN" sz="2500" b="1" dirty="0" err="1">
                <a:ea typeface="华文新魏" pitchFamily="2" charset="-122"/>
                <a:cs typeface="楷体_GB2312" pitchFamily="49" charset="-122"/>
                <a:sym typeface="Webdings" pitchFamily="18" charset="2"/>
              </a:rPr>
              <a:t>p</a:t>
            </a:r>
            <a:r>
              <a:rPr lang="en-US" altLang="zh-CN" sz="2500" b="1" i="1" dirty="0" err="1">
                <a:ea typeface="华文新魏" pitchFamily="2" charset="-122"/>
                <a:cs typeface="楷体_GB2312" pitchFamily="49" charset="-122"/>
                <a:sym typeface="Webdings" pitchFamily="18" charset="2"/>
              </a:rPr>
              <a:t>c</a:t>
            </a:r>
            <a:r>
              <a:rPr lang="en-US" altLang="zh-CN" sz="2500" b="1" baseline="30000" dirty="0" err="1">
                <a:ea typeface="华文新魏" pitchFamily="2" charset="-122"/>
                <a:cs typeface="楷体_GB2312" pitchFamily="49" charset="-122"/>
                <a:sym typeface="Webdings" pitchFamily="18" charset="2"/>
              </a:rPr>
              <a:t>sp</a:t>
            </a:r>
            <a:r>
              <a:rPr lang="en-US" altLang="zh-CN" sz="2500" b="1" baseline="-25000" dirty="0" err="1">
                <a:ea typeface="华文新魏" pitchFamily="2" charset="-122"/>
                <a:cs typeface="楷体_GB2312" pitchFamily="49" charset="-122"/>
                <a:sym typeface="Webdings" pitchFamily="18" charset="2"/>
              </a:rPr>
              <a:t>M</a:t>
            </a:r>
            <a:r>
              <a:rPr lang="en-US" altLang="zh-CN" sz="2500" b="1" dirty="0">
                <a:ea typeface="华文新魏" pitchFamily="2" charset="-122"/>
                <a:cs typeface="楷体_GB2312" pitchFamily="49" charset="-122"/>
                <a:sym typeface="Webdings" pitchFamily="18" charset="2"/>
              </a:rPr>
              <a:t>)/2</a:t>
            </a:r>
          </a:p>
          <a:p>
            <a:pPr>
              <a:lnSpc>
                <a:spcPct val="105000"/>
              </a:lnSpc>
            </a:pPr>
            <a:r>
              <a:rPr lang="en-US" altLang="zh-CN" sz="2500" b="1" dirty="0" err="1">
                <a:ea typeface="华文新魏" pitchFamily="2" charset="-122"/>
                <a:cs typeface="楷体_GB2312" pitchFamily="49" charset="-122"/>
              </a:rPr>
              <a:t>lg</a:t>
            </a:r>
            <a:r>
              <a:rPr lang="en-US" altLang="zh-CN" sz="2500" b="1" i="1" dirty="0" err="1">
                <a:ea typeface="华文新魏" pitchFamily="2" charset="-122"/>
                <a:cs typeface="楷体_GB2312" pitchFamily="49" charset="-122"/>
              </a:rPr>
              <a:t>K</a:t>
            </a:r>
            <a:r>
              <a:rPr lang="en-US" altLang="zh-CN" sz="1600" b="1" baseline="100000" dirty="0" err="1">
                <a:ea typeface="华文新魏" pitchFamily="2" charset="-122"/>
                <a:cs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dirty="0" err="1">
                <a:ea typeface="华文新魏" pitchFamily="2" charset="-122"/>
                <a:cs typeface="楷体_GB2312" pitchFamily="49" charset="-122"/>
                <a:sym typeface="Webdings" pitchFamily="18" charset="2"/>
              </a:rPr>
              <a:t>’</a:t>
            </a:r>
            <a:r>
              <a:rPr lang="en-US" altLang="zh-CN" sz="2500" b="1" baseline="-25000" dirty="0" err="1">
                <a:ea typeface="华文新魏" pitchFamily="2" charset="-122"/>
                <a:cs typeface="楷体_GB2312" pitchFamily="49" charset="-122"/>
                <a:sym typeface="Webdings" pitchFamily="18" charset="2"/>
              </a:rPr>
              <a:t>MY</a:t>
            </a:r>
            <a:r>
              <a:rPr lang="en-US" altLang="zh-CN" sz="2500" b="1" dirty="0">
                <a:ea typeface="华文新魏" pitchFamily="2" charset="-122"/>
                <a:cs typeface="楷体_GB2312" pitchFamily="49" charset="-122"/>
                <a:sym typeface="Webdings" pitchFamily="18" charset="2"/>
              </a:rPr>
              <a:t> = </a:t>
            </a:r>
            <a:r>
              <a:rPr lang="en-US" altLang="zh-CN" sz="2500" b="1" dirty="0" err="1">
                <a:ea typeface="华文新魏" pitchFamily="2" charset="-122"/>
                <a:cs typeface="楷体_GB2312" pitchFamily="49" charset="-122"/>
              </a:rPr>
              <a:t>lg</a:t>
            </a:r>
            <a:r>
              <a:rPr lang="en-US" altLang="zh-CN" sz="2500" b="1" i="1" dirty="0" err="1">
                <a:ea typeface="华文新魏" pitchFamily="2" charset="-122"/>
                <a:cs typeface="楷体_GB2312" pitchFamily="49" charset="-122"/>
              </a:rPr>
              <a:t>K</a:t>
            </a:r>
            <a:r>
              <a:rPr lang="en-US" altLang="zh-CN" sz="1600" b="1" baseline="100000" dirty="0" err="1">
                <a:ea typeface="华文新魏" pitchFamily="2" charset="-122"/>
                <a:cs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ea typeface="华文新魏" pitchFamily="2" charset="-122"/>
                <a:cs typeface="楷体_GB2312" pitchFamily="49" charset="-122"/>
                <a:sym typeface="Webdings" pitchFamily="18" charset="2"/>
              </a:rPr>
              <a:t>MY</a:t>
            </a:r>
            <a:r>
              <a:rPr lang="en-US" altLang="zh-CN" sz="2500" b="1" dirty="0">
                <a:ea typeface="华文新魏" pitchFamily="2" charset="-122"/>
                <a:cs typeface="楷体_GB2312" pitchFamily="49" charset="-122"/>
                <a:sym typeface="Webdings" pitchFamily="18" charset="2"/>
              </a:rPr>
              <a:t> – </a:t>
            </a:r>
            <a:r>
              <a:rPr lang="en-US" altLang="zh-CN" sz="2500" b="1" dirty="0" err="1">
                <a:ea typeface="华文新魏" pitchFamily="2" charset="-122"/>
                <a:cs typeface="楷体_GB2312" pitchFamily="49" charset="-122"/>
              </a:rPr>
              <a:t>lg</a:t>
            </a:r>
            <a:r>
              <a:rPr lang="en-US" altLang="zh-CN" sz="2500" b="1" i="1" dirty="0" err="1">
                <a:ea typeface="华文新魏" pitchFamily="2" charset="-122"/>
                <a:cs typeface="楷体_GB2312" pitchFamily="49" charset="-122"/>
              </a:rPr>
              <a:t>α</a:t>
            </a:r>
            <a:r>
              <a:rPr lang="en-US" altLang="zh-CN" sz="2500" b="1" baseline="-25000" dirty="0" err="1">
                <a:ea typeface="华文新魏" pitchFamily="2" charset="-122"/>
                <a:cs typeface="楷体_GB2312" pitchFamily="49" charset="-122"/>
              </a:rPr>
              <a:t>Y</a:t>
            </a:r>
            <a:r>
              <a:rPr lang="en-US" altLang="zh-CN" sz="2500" b="1" baseline="-25000" dirty="0">
                <a:ea typeface="华文新魏" pitchFamily="2" charset="-122"/>
                <a:cs typeface="楷体_GB2312" pitchFamily="49" charset="-122"/>
              </a:rPr>
              <a:t>(H)</a:t>
            </a:r>
            <a:endParaRPr lang="en-US" altLang="zh-CN" sz="2500" b="1" dirty="0">
              <a:ea typeface="华文新魏" pitchFamily="2" charset="-122"/>
              <a:cs typeface="楷体_GB2312" pitchFamily="49" charset="-122"/>
            </a:endParaRPr>
          </a:p>
          <a:p>
            <a:pPr>
              <a:lnSpc>
                <a:spcPct val="105000"/>
              </a:lnSpc>
            </a:pPr>
            <a:r>
              <a:rPr lang="zh-CN" altLang="en-US" sz="2500" b="1" dirty="0">
                <a:ea typeface="华文新魏" pitchFamily="2" charset="-122"/>
                <a:cs typeface="楷体_GB2312" pitchFamily="49" charset="-122"/>
              </a:rPr>
              <a:t>查表</a:t>
            </a:r>
            <a:r>
              <a:rPr lang="en-US" altLang="zh-CN" sz="2500" b="1" dirty="0">
                <a:ea typeface="华文新魏" pitchFamily="2" charset="-122"/>
                <a:cs typeface="楷体_GB2312" pitchFamily="49" charset="-122"/>
              </a:rPr>
              <a:t>:</a:t>
            </a:r>
            <a:r>
              <a:rPr lang="en-US" altLang="zh-CN" sz="2500" b="1" dirty="0" err="1">
                <a:ea typeface="华文新魏" pitchFamily="2" charset="-122"/>
                <a:cs typeface="楷体_GB2312" pitchFamily="49" charset="-122"/>
              </a:rPr>
              <a:t>lg</a:t>
            </a:r>
            <a:r>
              <a:rPr lang="en-US" altLang="zh-CN" sz="2500" b="1" i="1" dirty="0" err="1">
                <a:ea typeface="华文新魏" pitchFamily="2" charset="-122"/>
                <a:cs typeface="楷体_GB2312" pitchFamily="49" charset="-122"/>
              </a:rPr>
              <a:t>K</a:t>
            </a:r>
            <a:r>
              <a:rPr lang="en-US" altLang="zh-CN" sz="1600" b="1" baseline="100000" dirty="0" err="1">
                <a:ea typeface="华文新魏" pitchFamily="2" charset="-122"/>
                <a:cs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ea typeface="华文新魏" pitchFamily="2" charset="-122"/>
                <a:cs typeface="楷体_GB2312" pitchFamily="49" charset="-122"/>
                <a:sym typeface="Webdings" pitchFamily="18" charset="2"/>
              </a:rPr>
              <a:t>MgY</a:t>
            </a:r>
            <a:r>
              <a:rPr lang="en-US" altLang="zh-CN" sz="2500" b="1" baseline="-25000" dirty="0">
                <a:ea typeface="华文新魏" pitchFamily="2" charset="-122"/>
                <a:cs typeface="楷体_GB2312" pitchFamily="49" charset="-122"/>
                <a:sym typeface="Webdings" pitchFamily="18" charset="2"/>
              </a:rPr>
              <a:t> </a:t>
            </a:r>
            <a:r>
              <a:rPr lang="en-US" altLang="zh-CN" sz="2500" b="1" dirty="0">
                <a:ea typeface="华文新魏" pitchFamily="2" charset="-122"/>
                <a:cs typeface="楷体_GB2312" pitchFamily="49" charset="-122"/>
                <a:sym typeface="Webdings" pitchFamily="18" charset="2"/>
              </a:rPr>
              <a:t>= 8.64 </a:t>
            </a:r>
          </a:p>
          <a:p>
            <a:pPr>
              <a:lnSpc>
                <a:spcPct val="105000"/>
              </a:lnSpc>
            </a:pPr>
            <a:r>
              <a:rPr lang="en-US" altLang="zh-CN" sz="2500" b="1" dirty="0">
                <a:ea typeface="华文新魏" pitchFamily="2" charset="-122"/>
                <a:cs typeface="楷体_GB2312" pitchFamily="49" charset="-122"/>
              </a:rPr>
              <a:t>         pH =10.0</a:t>
            </a:r>
            <a:r>
              <a:rPr lang="zh-CN" altLang="en-US" sz="2500" b="1" dirty="0">
                <a:ea typeface="华文新魏" pitchFamily="2" charset="-122"/>
                <a:cs typeface="楷体_GB2312" pitchFamily="49" charset="-122"/>
              </a:rPr>
              <a:t>时</a:t>
            </a:r>
            <a:r>
              <a:rPr lang="en-US" altLang="zh-CN" sz="2500" b="1" i="1" dirty="0" err="1">
                <a:ea typeface="华文新魏" pitchFamily="2" charset="-122"/>
                <a:cs typeface="楷体_GB2312" pitchFamily="49" charset="-122"/>
              </a:rPr>
              <a:t>α</a:t>
            </a:r>
            <a:r>
              <a:rPr lang="en-US" altLang="zh-CN" sz="2500" b="1" baseline="-25000" dirty="0" err="1">
                <a:ea typeface="华文新魏" pitchFamily="2" charset="-122"/>
                <a:cs typeface="楷体_GB2312" pitchFamily="49" charset="-122"/>
              </a:rPr>
              <a:t>Y</a:t>
            </a:r>
            <a:r>
              <a:rPr lang="en-US" altLang="zh-CN" sz="2500" b="1" baseline="-25000" dirty="0">
                <a:ea typeface="华文新魏" pitchFamily="2" charset="-122"/>
                <a:cs typeface="楷体_GB2312" pitchFamily="49" charset="-122"/>
              </a:rPr>
              <a:t>(H)</a:t>
            </a:r>
            <a:r>
              <a:rPr lang="en-US" altLang="zh-CN" sz="2500" b="1" dirty="0">
                <a:ea typeface="华文新魏" pitchFamily="2" charset="-122"/>
                <a:cs typeface="楷体_GB2312" pitchFamily="49" charset="-122"/>
                <a:sym typeface="Webdings" pitchFamily="18" charset="2"/>
              </a:rPr>
              <a:t> = 0.45.</a:t>
            </a:r>
          </a:p>
          <a:p>
            <a:r>
              <a:rPr lang="en-US" altLang="zh-CN" sz="2500" b="1" dirty="0" err="1">
                <a:ea typeface="华文新魏" pitchFamily="2" charset="-122"/>
                <a:cs typeface="楷体_GB2312" pitchFamily="49" charset="-122"/>
              </a:rPr>
              <a:t>lg</a:t>
            </a:r>
            <a:r>
              <a:rPr lang="en-US" altLang="zh-CN" sz="2500" b="1" i="1" dirty="0" err="1">
                <a:ea typeface="华文新魏" pitchFamily="2" charset="-122"/>
                <a:cs typeface="楷体_GB2312" pitchFamily="49" charset="-122"/>
              </a:rPr>
              <a:t>K</a:t>
            </a:r>
            <a:r>
              <a:rPr lang="en-US" altLang="zh-CN" sz="1600" b="1" baseline="100000" dirty="0" err="1">
                <a:ea typeface="华文新魏" pitchFamily="2" charset="-122"/>
                <a:cs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dirty="0" err="1">
                <a:ea typeface="华文新魏" pitchFamily="2" charset="-122"/>
                <a:cs typeface="楷体_GB2312" pitchFamily="49" charset="-122"/>
                <a:sym typeface="Webdings" pitchFamily="18" charset="2"/>
              </a:rPr>
              <a:t>’</a:t>
            </a:r>
            <a:r>
              <a:rPr lang="en-US" altLang="zh-CN" sz="2500" b="1" baseline="-25000" dirty="0" err="1">
                <a:ea typeface="华文新魏" pitchFamily="2" charset="-122"/>
                <a:cs typeface="楷体_GB2312" pitchFamily="49" charset="-122"/>
                <a:sym typeface="Webdings" pitchFamily="18" charset="2"/>
              </a:rPr>
              <a:t>MgY</a:t>
            </a:r>
            <a:r>
              <a:rPr lang="en-US" altLang="zh-CN" sz="2500" b="1" dirty="0">
                <a:ea typeface="华文新魏" pitchFamily="2" charset="-122"/>
                <a:cs typeface="楷体_GB2312" pitchFamily="49" charset="-122"/>
                <a:sym typeface="Webdings" pitchFamily="18" charset="2"/>
              </a:rPr>
              <a:t> = </a:t>
            </a:r>
            <a:r>
              <a:rPr lang="en-US" altLang="zh-CN" sz="2500" b="1" dirty="0" err="1">
                <a:ea typeface="华文新魏" pitchFamily="2" charset="-122"/>
                <a:cs typeface="楷体_GB2312" pitchFamily="49" charset="-122"/>
              </a:rPr>
              <a:t>lg</a:t>
            </a:r>
            <a:r>
              <a:rPr lang="en-US" altLang="zh-CN" sz="2500" b="1" i="1" dirty="0" err="1">
                <a:ea typeface="华文新魏" pitchFamily="2" charset="-122"/>
                <a:cs typeface="楷体_GB2312" pitchFamily="49" charset="-122"/>
              </a:rPr>
              <a:t>K</a:t>
            </a:r>
            <a:r>
              <a:rPr lang="en-US" altLang="zh-CN" sz="1600" b="1" baseline="100000" dirty="0" err="1">
                <a:ea typeface="华文新魏" pitchFamily="2" charset="-122"/>
                <a:cs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ea typeface="华文新魏" pitchFamily="2" charset="-122"/>
                <a:cs typeface="楷体_GB2312" pitchFamily="49" charset="-122"/>
                <a:sym typeface="Webdings" pitchFamily="18" charset="2"/>
              </a:rPr>
              <a:t>MgY</a:t>
            </a:r>
            <a:r>
              <a:rPr lang="en-US" altLang="zh-CN" sz="2500" b="1" dirty="0">
                <a:ea typeface="华文新魏" pitchFamily="2" charset="-122"/>
                <a:cs typeface="楷体_GB2312" pitchFamily="49" charset="-122"/>
                <a:sym typeface="Webdings" pitchFamily="18" charset="2"/>
              </a:rPr>
              <a:t> - </a:t>
            </a:r>
            <a:r>
              <a:rPr lang="en-US" altLang="zh-CN" sz="2500" b="1" dirty="0" err="1">
                <a:ea typeface="华文新魏" pitchFamily="2" charset="-122"/>
                <a:cs typeface="楷体_GB2312" pitchFamily="49" charset="-122"/>
              </a:rPr>
              <a:t>lg</a:t>
            </a:r>
            <a:r>
              <a:rPr lang="en-US" altLang="zh-CN" sz="2500" b="1" i="1" dirty="0" err="1">
                <a:ea typeface="华文新魏" pitchFamily="2" charset="-122"/>
                <a:cs typeface="楷体_GB2312" pitchFamily="49" charset="-122"/>
              </a:rPr>
              <a:t>α</a:t>
            </a:r>
            <a:r>
              <a:rPr lang="en-US" altLang="zh-CN" sz="2500" b="1" baseline="-25000" dirty="0" err="1">
                <a:ea typeface="华文新魏" pitchFamily="2" charset="-122"/>
                <a:cs typeface="楷体_GB2312" pitchFamily="49" charset="-122"/>
              </a:rPr>
              <a:t>Y</a:t>
            </a:r>
            <a:r>
              <a:rPr lang="en-US" altLang="zh-CN" sz="2500" b="1" baseline="-25000" dirty="0">
                <a:ea typeface="华文新魏" pitchFamily="2" charset="-122"/>
                <a:cs typeface="楷体_GB2312" pitchFamily="49" charset="-122"/>
              </a:rPr>
              <a:t>(H)</a:t>
            </a:r>
          </a:p>
          <a:p>
            <a:r>
              <a:rPr lang="en-US" altLang="zh-CN" sz="2500" b="1" dirty="0">
                <a:ea typeface="华文新魏" pitchFamily="2" charset="-122"/>
                <a:cs typeface="楷体_GB2312" pitchFamily="49" charset="-122"/>
              </a:rPr>
              <a:t>               = 8.64 - 0.45 = 8.19</a:t>
            </a:r>
          </a:p>
          <a:p>
            <a:r>
              <a:rPr lang="en-US" altLang="zh-CN" sz="2500" b="1" dirty="0" err="1">
                <a:ea typeface="华文新魏" pitchFamily="2" charset="-122"/>
                <a:cs typeface="楷体_GB2312" pitchFamily="49" charset="-122"/>
              </a:rPr>
              <a:t>pMg</a:t>
            </a:r>
            <a:r>
              <a:rPr lang="en-US" altLang="zh-CN" sz="2500" b="1" dirty="0">
                <a:ea typeface="华文新魏" pitchFamily="2" charset="-122"/>
                <a:cs typeface="楷体_GB2312" pitchFamily="49" charset="-122"/>
              </a:rPr>
              <a:t>’ = (</a:t>
            </a:r>
            <a:r>
              <a:rPr lang="en-US" altLang="zh-CN" sz="2500" b="1" dirty="0" err="1">
                <a:ea typeface="华文新魏" pitchFamily="2" charset="-122"/>
                <a:cs typeface="楷体_GB2312" pitchFamily="49" charset="-122"/>
              </a:rPr>
              <a:t>lg</a:t>
            </a:r>
            <a:r>
              <a:rPr lang="en-US" altLang="zh-CN" sz="2500" b="1" i="1" dirty="0" err="1">
                <a:ea typeface="华文新魏" pitchFamily="2" charset="-122"/>
                <a:cs typeface="楷体_GB2312" pitchFamily="49" charset="-122"/>
              </a:rPr>
              <a:t>K</a:t>
            </a:r>
            <a:r>
              <a:rPr lang="en-US" altLang="zh-CN" sz="1600" b="1" baseline="100000" dirty="0" err="1">
                <a:ea typeface="华文新魏" pitchFamily="2" charset="-122"/>
                <a:cs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dirty="0" err="1">
                <a:ea typeface="华文新魏" pitchFamily="2" charset="-122"/>
                <a:cs typeface="楷体_GB2312" pitchFamily="49" charset="-122"/>
                <a:sym typeface="Webdings" pitchFamily="18" charset="2"/>
              </a:rPr>
              <a:t>’</a:t>
            </a:r>
            <a:r>
              <a:rPr lang="en-US" altLang="zh-CN" sz="2500" b="1" baseline="-25000" dirty="0" err="1">
                <a:ea typeface="华文新魏" pitchFamily="2" charset="-122"/>
                <a:cs typeface="楷体_GB2312" pitchFamily="49" charset="-122"/>
                <a:sym typeface="Webdings" pitchFamily="18" charset="2"/>
              </a:rPr>
              <a:t>MgY</a:t>
            </a:r>
            <a:r>
              <a:rPr lang="en-US" altLang="zh-CN" sz="2500" b="1" dirty="0">
                <a:ea typeface="华文新魏" pitchFamily="2" charset="-122"/>
                <a:cs typeface="楷体_GB2312" pitchFamily="49" charset="-122"/>
                <a:sym typeface="Webdings" pitchFamily="18" charset="2"/>
              </a:rPr>
              <a:t> + </a:t>
            </a:r>
            <a:r>
              <a:rPr lang="en-US" altLang="zh-CN" sz="2500" b="1" dirty="0" err="1">
                <a:ea typeface="华文新魏" pitchFamily="2" charset="-122"/>
                <a:cs typeface="楷体_GB2312" pitchFamily="49" charset="-122"/>
                <a:sym typeface="Webdings" pitchFamily="18" charset="2"/>
              </a:rPr>
              <a:t>p</a:t>
            </a:r>
            <a:r>
              <a:rPr lang="en-US" altLang="zh-CN" sz="2500" b="1" i="1" dirty="0" err="1">
                <a:ea typeface="华文新魏" pitchFamily="2" charset="-122"/>
                <a:cs typeface="楷体_GB2312" pitchFamily="49" charset="-122"/>
                <a:sym typeface="Webdings" pitchFamily="18" charset="2"/>
              </a:rPr>
              <a:t>c</a:t>
            </a:r>
            <a:r>
              <a:rPr lang="en-US" altLang="zh-CN" sz="2500" b="1" baseline="30000" dirty="0" err="1">
                <a:ea typeface="华文新魏" pitchFamily="2" charset="-122"/>
                <a:cs typeface="楷体_GB2312" pitchFamily="49" charset="-122"/>
                <a:sym typeface="Webdings" pitchFamily="18" charset="2"/>
              </a:rPr>
              <a:t>sp</a:t>
            </a:r>
            <a:r>
              <a:rPr lang="en-US" altLang="zh-CN" sz="2500" b="1" baseline="-25000" dirty="0" err="1">
                <a:ea typeface="华文新魏" pitchFamily="2" charset="-122"/>
                <a:cs typeface="楷体_GB2312" pitchFamily="49" charset="-122"/>
                <a:sym typeface="Webdings" pitchFamily="18" charset="2"/>
              </a:rPr>
              <a:t>Mg</a:t>
            </a:r>
            <a:r>
              <a:rPr lang="en-US" altLang="zh-CN" sz="2500" b="1" dirty="0">
                <a:ea typeface="华文新魏" pitchFamily="2" charset="-122"/>
                <a:cs typeface="楷体_GB2312" pitchFamily="49" charset="-122"/>
                <a:sym typeface="Webdings" pitchFamily="18" charset="2"/>
              </a:rPr>
              <a:t>)/2</a:t>
            </a:r>
          </a:p>
          <a:p>
            <a:r>
              <a:rPr lang="en-US" altLang="zh-CN" sz="2500" b="1" dirty="0">
                <a:ea typeface="华文新魏" pitchFamily="2" charset="-122"/>
                <a:cs typeface="楷体_GB2312" pitchFamily="49" charset="-122"/>
                <a:sym typeface="Webdings" pitchFamily="18" charset="2"/>
              </a:rPr>
              <a:t>          = (8.19 + 2.00)/2</a:t>
            </a:r>
            <a:r>
              <a:rPr lang="en-US" altLang="zh-CN" sz="2500" b="1" dirty="0">
                <a:ea typeface="华文新魏" pitchFamily="2" charset="-122"/>
                <a:cs typeface="楷体_GB2312" pitchFamily="49" charset="-122"/>
              </a:rPr>
              <a:t> </a:t>
            </a: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5546725" y="3954463"/>
            <a:ext cx="1293813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 dirty="0">
                <a:ea typeface="华文新魏" pitchFamily="2" charset="-122"/>
                <a:cs typeface="楷体_GB2312" pitchFamily="49" charset="-122"/>
                <a:sym typeface="Webdings" pitchFamily="18" charset="2"/>
              </a:rPr>
              <a:t>= 5.10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build="p" autoUpdateAnimBg="0"/>
      <p:bldP spid="7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38" name="Rectangle 22"/>
          <p:cNvSpPr>
            <a:spLocks noChangeArrowheads="1"/>
          </p:cNvSpPr>
          <p:nvPr/>
        </p:nvSpPr>
        <p:spPr bwMode="auto">
          <a:xfrm>
            <a:off x="260311" y="382567"/>
            <a:ext cx="2857500" cy="150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2200" b="1" dirty="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例</a:t>
            </a:r>
            <a:r>
              <a:rPr lang="en-US" altLang="zh-CN" sz="2200" b="1" dirty="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2:</a:t>
            </a:r>
            <a:r>
              <a:rPr lang="zh-CN" altLang="en-US" sz="2200" b="1" dirty="0">
                <a:ea typeface="华文新魏" pitchFamily="2" charset="-122"/>
                <a:cs typeface="楷体_GB2312" pitchFamily="49" charset="-122"/>
              </a:rPr>
              <a:t>计算以</a:t>
            </a:r>
            <a:r>
              <a:rPr lang="en-US" altLang="zh-CN" sz="2200" b="1" dirty="0">
                <a:ea typeface="华文新魏" pitchFamily="2" charset="-122"/>
                <a:cs typeface="楷体_GB2312" pitchFamily="49" charset="-122"/>
              </a:rPr>
              <a:t>0.02000 mol·L</a:t>
            </a:r>
            <a:r>
              <a:rPr lang="en-US" altLang="zh-CN" sz="2200" b="1" baseline="30000" dirty="0">
                <a:ea typeface="华文新魏" pitchFamily="2" charset="-122"/>
                <a:cs typeface="楷体_GB2312" pitchFamily="49" charset="-122"/>
              </a:rPr>
              <a:t>-1</a:t>
            </a:r>
            <a:r>
              <a:rPr lang="en-US" altLang="zh-CN" sz="2200" b="1" dirty="0">
                <a:ea typeface="华文新魏" pitchFamily="2" charset="-122"/>
                <a:cs typeface="楷体_GB2312" pitchFamily="49" charset="-122"/>
              </a:rPr>
              <a:t>EDTA</a:t>
            </a:r>
            <a:r>
              <a:rPr lang="zh-CN" altLang="en-US" sz="2200" b="1" dirty="0">
                <a:ea typeface="华文新魏" pitchFamily="2" charset="-122"/>
                <a:cs typeface="楷体_GB2312" pitchFamily="49" charset="-122"/>
              </a:rPr>
              <a:t>滴定同浓度的</a:t>
            </a:r>
            <a:r>
              <a:rPr lang="en-US" altLang="zh-CN" sz="2200" b="1" dirty="0">
                <a:ea typeface="华文新魏" pitchFamily="2" charset="-122"/>
                <a:cs typeface="楷体_GB2312" pitchFamily="49" charset="-122"/>
              </a:rPr>
              <a:t>Zn</a:t>
            </a:r>
            <a:r>
              <a:rPr lang="en-US" altLang="zh-CN" sz="2200" b="1" baseline="30000" dirty="0">
                <a:ea typeface="华文新魏" pitchFamily="2" charset="-122"/>
                <a:cs typeface="楷体_GB2312" pitchFamily="49" charset="-122"/>
              </a:rPr>
              <a:t>2+</a:t>
            </a:r>
            <a:r>
              <a:rPr lang="zh-CN" altLang="en-US" sz="2200" b="1" dirty="0">
                <a:ea typeface="华文新魏" pitchFamily="2" charset="-122"/>
                <a:cs typeface="楷体_GB2312" pitchFamily="49" charset="-122"/>
              </a:rPr>
              <a:t>溶液的最高酸度和最低酸度</a:t>
            </a:r>
            <a:r>
              <a:rPr lang="en-US" altLang="zh-CN" sz="2200" b="1" dirty="0">
                <a:ea typeface="华文新魏" pitchFamily="2" charset="-122"/>
                <a:cs typeface="楷体_GB2312" pitchFamily="49" charset="-122"/>
              </a:rPr>
              <a:t>.</a:t>
            </a:r>
          </a:p>
        </p:txBody>
      </p:sp>
      <p:sp>
        <p:nvSpPr>
          <p:cNvPr id="60449" name="Rectangle 33"/>
          <p:cNvSpPr>
            <a:spLocks noChangeArrowheads="1"/>
          </p:cNvSpPr>
          <p:nvPr/>
        </p:nvSpPr>
        <p:spPr bwMode="auto">
          <a:xfrm>
            <a:off x="4475163" y="454025"/>
            <a:ext cx="158115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 dirty="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最高酸度</a:t>
            </a:r>
            <a:r>
              <a:rPr lang="en-US" altLang="zh-CN" sz="2500" b="1" dirty="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:</a:t>
            </a:r>
          </a:p>
        </p:txBody>
      </p:sp>
      <p:sp>
        <p:nvSpPr>
          <p:cNvPr id="60452" name="Rectangle 36"/>
          <p:cNvSpPr>
            <a:spLocks noChangeArrowheads="1"/>
          </p:cNvSpPr>
          <p:nvPr/>
        </p:nvSpPr>
        <p:spPr bwMode="auto">
          <a:xfrm>
            <a:off x="3832225" y="454025"/>
            <a:ext cx="1055688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500" b="1" dirty="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解</a:t>
            </a:r>
            <a:r>
              <a:rPr lang="en-US" altLang="zh-CN" sz="2500" b="1" dirty="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:</a:t>
            </a:r>
          </a:p>
        </p:txBody>
      </p:sp>
      <p:sp>
        <p:nvSpPr>
          <p:cNvPr id="60458" name="Rectangle 42"/>
          <p:cNvSpPr>
            <a:spLocks noChangeArrowheads="1"/>
          </p:cNvSpPr>
          <p:nvPr/>
        </p:nvSpPr>
        <p:spPr bwMode="auto">
          <a:xfrm>
            <a:off x="4260850" y="1025525"/>
            <a:ext cx="21748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华文新魏" pitchFamily="2" charset="-122"/>
                <a:cs typeface="楷体_GB2312" pitchFamily="49" charset="-122"/>
                <a:sym typeface="Monotype Sorts" pitchFamily="2" charset="2"/>
              </a:rPr>
              <a:t> </a:t>
            </a:r>
            <a:r>
              <a:rPr lang="en-US" altLang="zh-CN" sz="2500" b="1" dirty="0" err="1">
                <a:ea typeface="华文新魏" pitchFamily="2" charset="-122"/>
                <a:cs typeface="楷体_GB2312" pitchFamily="49" charset="-122"/>
              </a:rPr>
              <a:t>lg</a:t>
            </a:r>
            <a:r>
              <a:rPr lang="en-US" altLang="zh-CN" sz="2500" b="1" i="1" dirty="0" err="1">
                <a:ea typeface="华文新魏" pitchFamily="2" charset="-122"/>
                <a:cs typeface="楷体_GB2312" pitchFamily="49" charset="-122"/>
              </a:rPr>
              <a:t>K</a:t>
            </a:r>
            <a:r>
              <a:rPr lang="en-US" altLang="zh-CN" sz="1600" b="1" baseline="100000" dirty="0" err="1">
                <a:ea typeface="华文新魏" pitchFamily="2" charset="-122"/>
                <a:cs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ea typeface="华文新魏" pitchFamily="2" charset="-122"/>
                <a:cs typeface="楷体_GB2312" pitchFamily="49" charset="-122"/>
              </a:rPr>
              <a:t>ZnY</a:t>
            </a:r>
            <a:r>
              <a:rPr lang="en-US" altLang="zh-CN" sz="2500" b="1" dirty="0">
                <a:ea typeface="华文新魏" pitchFamily="2" charset="-122"/>
                <a:cs typeface="楷体_GB2312" pitchFamily="49" charset="-122"/>
              </a:rPr>
              <a:t> = 16.4</a:t>
            </a:r>
          </a:p>
        </p:txBody>
      </p:sp>
      <p:sp>
        <p:nvSpPr>
          <p:cNvPr id="60459" name="Rectangle 43"/>
          <p:cNvSpPr>
            <a:spLocks noChangeArrowheads="1"/>
          </p:cNvSpPr>
          <p:nvPr/>
        </p:nvSpPr>
        <p:spPr bwMode="auto">
          <a:xfrm>
            <a:off x="4260850" y="1525588"/>
            <a:ext cx="5214938" cy="862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500" b="1" dirty="0">
                <a:ea typeface="华文新魏" pitchFamily="2" charset="-122"/>
              </a:rPr>
              <a:t>据</a:t>
            </a:r>
            <a:r>
              <a:rPr lang="en-US" altLang="zh-CN" sz="2500" b="1" dirty="0">
                <a:ea typeface="华文新魏" pitchFamily="2" charset="-122"/>
              </a:rPr>
              <a:t>:</a:t>
            </a:r>
            <a:r>
              <a:rPr lang="en-US" altLang="zh-CN" sz="2500" b="1" dirty="0" err="1">
                <a:ea typeface="华文新魏" pitchFamily="2" charset="-122"/>
              </a:rPr>
              <a:t>lg</a:t>
            </a:r>
            <a:r>
              <a:rPr lang="en-US" altLang="zh-CN" sz="2500" b="1" i="1" dirty="0" err="1">
                <a:ea typeface="华文新魏" pitchFamily="2" charset="-122"/>
              </a:rPr>
              <a:t>K</a:t>
            </a:r>
            <a:r>
              <a:rPr lang="en-US" altLang="zh-CN" sz="1600" b="1" baseline="80000" dirty="0" err="1">
                <a:ea typeface="华文新魏" pitchFamily="2" charset="-122"/>
                <a:sym typeface="Webdings" pitchFamily="18" charset="2"/>
              </a:rPr>
              <a:t></a:t>
            </a:r>
            <a:r>
              <a:rPr lang="en-US" altLang="zh-CN" sz="2500" b="1" dirty="0" err="1">
                <a:ea typeface="华文新魏" pitchFamily="2" charset="-122"/>
                <a:sym typeface="Webdings" pitchFamily="18" charset="2"/>
              </a:rPr>
              <a:t>’MY</a:t>
            </a:r>
            <a:r>
              <a:rPr lang="en-US" altLang="zh-CN" sz="2500" b="1" dirty="0">
                <a:ea typeface="华文新魏" pitchFamily="2" charset="-122"/>
                <a:sym typeface="Webdings" pitchFamily="18" charset="2"/>
              </a:rPr>
              <a:t> = </a:t>
            </a:r>
            <a:r>
              <a:rPr lang="en-US" altLang="zh-CN" sz="2500" b="1" dirty="0" err="1">
                <a:ea typeface="华文新魏" pitchFamily="2" charset="-122"/>
              </a:rPr>
              <a:t>lg</a:t>
            </a:r>
            <a:r>
              <a:rPr lang="en-US" altLang="zh-CN" sz="2500" b="1" i="1" dirty="0" err="1">
                <a:ea typeface="华文新魏" pitchFamily="2" charset="-122"/>
              </a:rPr>
              <a:t>K</a:t>
            </a:r>
            <a:r>
              <a:rPr lang="en-US" altLang="zh-CN" sz="1600" b="1" baseline="80000" dirty="0" err="1">
                <a:ea typeface="华文新魏" pitchFamily="2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ea typeface="华文新魏" pitchFamily="2" charset="-122"/>
                <a:sym typeface="Webdings" pitchFamily="18" charset="2"/>
              </a:rPr>
              <a:t>MY</a:t>
            </a:r>
            <a:r>
              <a:rPr lang="en-US" altLang="zh-CN" sz="2500" b="1" dirty="0">
                <a:ea typeface="华文新魏" pitchFamily="2" charset="-122"/>
                <a:sym typeface="Webdings" pitchFamily="18" charset="2"/>
              </a:rPr>
              <a:t> – </a:t>
            </a:r>
            <a:r>
              <a:rPr lang="en-US" altLang="zh-CN" sz="2500" b="1" dirty="0" err="1">
                <a:ea typeface="华文新魏" pitchFamily="2" charset="-122"/>
              </a:rPr>
              <a:t>lg</a:t>
            </a:r>
            <a:r>
              <a:rPr lang="en-US" altLang="zh-CN" sz="2500" b="1" i="1" dirty="0" err="1">
                <a:ea typeface="华文新魏" pitchFamily="2" charset="-122"/>
              </a:rPr>
              <a:t>α</a:t>
            </a:r>
            <a:r>
              <a:rPr lang="en-US" altLang="zh-CN" sz="2500" b="1" baseline="-25000" dirty="0" err="1">
                <a:ea typeface="华文新魏" pitchFamily="2" charset="-122"/>
              </a:rPr>
              <a:t>Y</a:t>
            </a:r>
            <a:r>
              <a:rPr lang="en-US" altLang="zh-CN" sz="2500" b="1" baseline="-25000" dirty="0">
                <a:ea typeface="华文新魏" pitchFamily="2" charset="-122"/>
              </a:rPr>
              <a:t>(H)</a:t>
            </a:r>
            <a:r>
              <a:rPr lang="en-US" altLang="zh-CN" sz="2500" b="1" dirty="0">
                <a:ea typeface="华文新魏" pitchFamily="2" charset="-122"/>
              </a:rPr>
              <a:t>  </a:t>
            </a:r>
          </a:p>
          <a:p>
            <a:pPr>
              <a:defRPr/>
            </a:pPr>
            <a:r>
              <a:rPr lang="en-US" altLang="zh-CN" sz="2500" b="1" dirty="0">
                <a:ea typeface="华文新魏" pitchFamily="2" charset="-122"/>
              </a:rPr>
              <a:t>     </a:t>
            </a:r>
            <a:r>
              <a:rPr lang="en-US" altLang="zh-CN" sz="2500" b="1" dirty="0" err="1">
                <a:ea typeface="华文新魏" pitchFamily="2" charset="-122"/>
              </a:rPr>
              <a:t>lg</a:t>
            </a:r>
            <a:r>
              <a:rPr lang="en-US" altLang="zh-CN" sz="2500" b="1" i="1" dirty="0" err="1">
                <a:ea typeface="华文新魏" pitchFamily="2" charset="-122"/>
              </a:rPr>
              <a:t>c</a:t>
            </a:r>
            <a:r>
              <a:rPr lang="en-US" altLang="zh-CN" sz="2500" b="1" baseline="-25000" dirty="0" err="1">
                <a:ea typeface="华文新魏" pitchFamily="2" charset="-122"/>
              </a:rPr>
              <a:t>M</a:t>
            </a:r>
            <a:r>
              <a:rPr lang="en-US" altLang="zh-CN" sz="2500" b="1" i="1" dirty="0" err="1">
                <a:ea typeface="华文新魏" pitchFamily="2" charset="-122"/>
              </a:rPr>
              <a:t>K</a:t>
            </a:r>
            <a:r>
              <a:rPr lang="en-US" altLang="zh-CN" sz="1600" b="1" baseline="80000" dirty="0">
                <a:ea typeface="华文新魏" pitchFamily="2" charset="-122"/>
                <a:sym typeface="Webdings" pitchFamily="18" charset="2"/>
              </a:rPr>
              <a:t></a:t>
            </a:r>
            <a:r>
              <a:rPr lang="en-US" altLang="zh-CN" sz="2500" b="1" dirty="0">
                <a:ea typeface="华文新魏" pitchFamily="2" charset="-122"/>
                <a:sym typeface="Webdings" pitchFamily="18" charset="2"/>
              </a:rPr>
              <a:t>’</a:t>
            </a:r>
            <a:r>
              <a:rPr lang="zh-CN" altLang="en-US" sz="2500" b="1" baseline="-25000" dirty="0">
                <a:ea typeface="华文新魏" pitchFamily="2" charset="-122"/>
                <a:sym typeface="Webdings" pitchFamily="18" charset="2"/>
              </a:rPr>
              <a:t>稳</a:t>
            </a:r>
            <a:r>
              <a:rPr lang="zh-CN" altLang="en-US" sz="2500" b="1" dirty="0">
                <a:ea typeface="华文新魏" pitchFamily="2" charset="-122"/>
                <a:sym typeface="Webdings" pitchFamily="18" charset="2"/>
              </a:rPr>
              <a:t> ≥</a:t>
            </a:r>
            <a:r>
              <a:rPr lang="en-US" altLang="zh-CN" sz="2500" b="1" dirty="0">
                <a:ea typeface="华文新魏" pitchFamily="2" charset="-122"/>
                <a:sym typeface="Webdings" pitchFamily="18" charset="2"/>
              </a:rPr>
              <a:t>6</a:t>
            </a:r>
            <a:endParaRPr lang="en-US" altLang="zh-CN" sz="2500" b="1" dirty="0">
              <a:effectLst>
                <a:outerShdw blurRad="38100" dist="38100" dir="2700000" algn="tl">
                  <a:srgbClr val="FFFFFF"/>
                </a:outerShdw>
              </a:effectLst>
              <a:ea typeface="华文新魏" pitchFamily="2" charset="-122"/>
              <a:sym typeface="Webdings" pitchFamily="18" charset="2"/>
            </a:endParaRPr>
          </a:p>
        </p:txBody>
      </p:sp>
      <p:sp>
        <p:nvSpPr>
          <p:cNvPr id="60461" name="Rectangle 45"/>
          <p:cNvSpPr>
            <a:spLocks noChangeArrowheads="1"/>
          </p:cNvSpPr>
          <p:nvPr/>
        </p:nvSpPr>
        <p:spPr bwMode="auto">
          <a:xfrm>
            <a:off x="3903663" y="2454275"/>
            <a:ext cx="5497512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2500" b="1" dirty="0">
                <a:ea typeface="华文新魏" pitchFamily="2" charset="-122"/>
                <a:cs typeface="楷体_GB2312" pitchFamily="49" charset="-122"/>
                <a:sym typeface="Webdings" pitchFamily="18" charset="2"/>
              </a:rPr>
              <a:t>        </a:t>
            </a:r>
            <a:r>
              <a:rPr lang="zh-CN" altLang="en-US" sz="2500" b="1" dirty="0">
                <a:ea typeface="华文新魏" pitchFamily="2" charset="-122"/>
                <a:cs typeface="楷体_GB2312" pitchFamily="49" charset="-122"/>
                <a:sym typeface="Webdings" pitchFamily="18" charset="2"/>
              </a:rPr>
              <a:t>得</a:t>
            </a:r>
            <a:r>
              <a:rPr lang="en-US" altLang="zh-CN" sz="2500" b="1" dirty="0">
                <a:ea typeface="华文新魏" pitchFamily="2" charset="-122"/>
                <a:cs typeface="楷体_GB2312" pitchFamily="49" charset="-122"/>
                <a:sym typeface="Webdings" pitchFamily="18" charset="2"/>
              </a:rPr>
              <a:t>:</a:t>
            </a:r>
            <a:r>
              <a:rPr lang="en-US" altLang="zh-CN" sz="2500" b="1" dirty="0" err="1">
                <a:ea typeface="华文新魏" pitchFamily="2" charset="-122"/>
                <a:cs typeface="楷体_GB2312" pitchFamily="49" charset="-122"/>
              </a:rPr>
              <a:t>lg</a:t>
            </a:r>
            <a:r>
              <a:rPr lang="en-US" altLang="zh-CN" sz="2500" b="1" i="1" dirty="0" err="1">
                <a:ea typeface="华文新魏" pitchFamily="2" charset="-122"/>
                <a:cs typeface="楷体_GB2312" pitchFamily="49" charset="-122"/>
              </a:rPr>
              <a:t>α</a:t>
            </a:r>
            <a:r>
              <a:rPr lang="en-US" altLang="zh-CN" sz="2500" b="1" baseline="-25000" dirty="0" err="1">
                <a:ea typeface="华文新魏" pitchFamily="2" charset="-122"/>
                <a:cs typeface="楷体_GB2312" pitchFamily="49" charset="-122"/>
              </a:rPr>
              <a:t>Y</a:t>
            </a:r>
            <a:r>
              <a:rPr lang="en-US" altLang="zh-CN" sz="2500" b="1" baseline="-25000" dirty="0">
                <a:ea typeface="华文新魏" pitchFamily="2" charset="-122"/>
                <a:cs typeface="楷体_GB2312" pitchFamily="49" charset="-122"/>
              </a:rPr>
              <a:t>(H) </a:t>
            </a:r>
            <a:r>
              <a:rPr lang="en-US" altLang="zh-CN" sz="2500" b="1" dirty="0">
                <a:ea typeface="华文新魏" pitchFamily="2" charset="-122"/>
                <a:cs typeface="楷体_GB2312" pitchFamily="49" charset="-122"/>
              </a:rPr>
              <a:t>≤ </a:t>
            </a:r>
            <a:r>
              <a:rPr lang="en-US" altLang="zh-CN" sz="2500" b="1" dirty="0" err="1">
                <a:ea typeface="华文新魏" pitchFamily="2" charset="-122"/>
                <a:cs typeface="楷体_GB2312" pitchFamily="49" charset="-122"/>
              </a:rPr>
              <a:t>lg</a:t>
            </a:r>
            <a:r>
              <a:rPr lang="en-US" altLang="zh-CN" sz="2500" b="1" i="1" dirty="0" err="1">
                <a:ea typeface="华文新魏" pitchFamily="2" charset="-122"/>
                <a:cs typeface="楷体_GB2312" pitchFamily="49" charset="-122"/>
              </a:rPr>
              <a:t>K</a:t>
            </a:r>
            <a:r>
              <a:rPr lang="en-US" altLang="zh-CN" sz="1600" b="1" baseline="100000" dirty="0" err="1">
                <a:ea typeface="华文新魏" pitchFamily="2" charset="-122"/>
                <a:cs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ea typeface="华文新魏" pitchFamily="2" charset="-122"/>
                <a:cs typeface="楷体_GB2312" pitchFamily="49" charset="-122"/>
                <a:sym typeface="Webdings" pitchFamily="18" charset="2"/>
              </a:rPr>
              <a:t>MY</a:t>
            </a:r>
            <a:r>
              <a:rPr lang="en-US" altLang="zh-CN" sz="2500" b="1" baseline="-25000" dirty="0">
                <a:ea typeface="华文新魏" pitchFamily="2" charset="-122"/>
                <a:cs typeface="楷体_GB2312" pitchFamily="49" charset="-122"/>
                <a:sym typeface="Webdings" pitchFamily="18" charset="2"/>
              </a:rPr>
              <a:t> </a:t>
            </a:r>
            <a:r>
              <a:rPr lang="en-US" altLang="zh-CN" sz="2500" b="1" dirty="0">
                <a:ea typeface="华文新魏" pitchFamily="2" charset="-122"/>
                <a:cs typeface="楷体_GB2312" pitchFamily="49" charset="-122"/>
                <a:sym typeface="Webdings" pitchFamily="18" charset="2"/>
              </a:rPr>
              <a:t>- </a:t>
            </a:r>
            <a:r>
              <a:rPr lang="en-US" altLang="zh-CN" sz="2500" b="1" dirty="0" err="1">
                <a:ea typeface="华文新魏" pitchFamily="2" charset="-122"/>
                <a:cs typeface="楷体_GB2312" pitchFamily="49" charset="-122"/>
              </a:rPr>
              <a:t>lg</a:t>
            </a:r>
            <a:r>
              <a:rPr lang="en-US" altLang="zh-CN" sz="2500" b="1" i="1" dirty="0" err="1">
                <a:ea typeface="华文新魏" pitchFamily="2" charset="-122"/>
                <a:cs typeface="楷体_GB2312" pitchFamily="49" charset="-122"/>
              </a:rPr>
              <a:t>K</a:t>
            </a:r>
            <a:r>
              <a:rPr lang="en-US" altLang="zh-CN" sz="1600" b="1" baseline="100000" dirty="0" err="1">
                <a:ea typeface="华文新魏" pitchFamily="2" charset="-122"/>
                <a:cs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dirty="0" err="1">
                <a:ea typeface="华文新魏" pitchFamily="2" charset="-122"/>
                <a:cs typeface="楷体_GB2312" pitchFamily="49" charset="-122"/>
                <a:sym typeface="Webdings" pitchFamily="18" charset="2"/>
              </a:rPr>
              <a:t>’</a:t>
            </a:r>
            <a:r>
              <a:rPr lang="en-US" altLang="zh-CN" sz="2500" b="1" baseline="-25000" dirty="0" err="1">
                <a:ea typeface="华文新魏" pitchFamily="2" charset="-122"/>
                <a:cs typeface="楷体_GB2312" pitchFamily="49" charset="-122"/>
                <a:sym typeface="Webdings" pitchFamily="18" charset="2"/>
              </a:rPr>
              <a:t>MY</a:t>
            </a:r>
            <a:r>
              <a:rPr lang="en-US" altLang="zh-CN" sz="2500" b="1" dirty="0">
                <a:ea typeface="华文新魏" pitchFamily="2" charset="-122"/>
                <a:cs typeface="楷体_GB2312" pitchFamily="49" charset="-122"/>
                <a:sym typeface="Webdings" pitchFamily="18" charset="2"/>
              </a:rPr>
              <a:t>                          </a:t>
            </a:r>
            <a:endParaRPr lang="en-US" altLang="zh-CN" sz="2500" b="1" dirty="0">
              <a:ea typeface="华文新魏" pitchFamily="2" charset="-122"/>
              <a:cs typeface="楷体_GB2312" pitchFamily="49" charset="-122"/>
            </a:endParaRPr>
          </a:p>
        </p:txBody>
      </p:sp>
      <p:sp>
        <p:nvSpPr>
          <p:cNvPr id="60462" name="Rectangle 46"/>
          <p:cNvSpPr>
            <a:spLocks noChangeArrowheads="1"/>
          </p:cNvSpPr>
          <p:nvPr/>
        </p:nvSpPr>
        <p:spPr bwMode="auto">
          <a:xfrm>
            <a:off x="5832475" y="2954338"/>
            <a:ext cx="3214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2500" b="1" dirty="0">
                <a:ea typeface="华文新魏" pitchFamily="2" charset="-122"/>
                <a:cs typeface="楷体_GB2312" pitchFamily="49" charset="-122"/>
                <a:sym typeface="Webdings" pitchFamily="18" charset="2"/>
              </a:rPr>
              <a:t> = </a:t>
            </a:r>
            <a:r>
              <a:rPr lang="en-US" altLang="zh-CN" sz="2500" b="1" dirty="0" err="1">
                <a:ea typeface="华文新魏" pitchFamily="2" charset="-122"/>
                <a:cs typeface="楷体_GB2312" pitchFamily="49" charset="-122"/>
              </a:rPr>
              <a:t>lg</a:t>
            </a:r>
            <a:r>
              <a:rPr lang="en-US" altLang="zh-CN" sz="2500" b="1" i="1" dirty="0" err="1">
                <a:ea typeface="华文新魏" pitchFamily="2" charset="-122"/>
                <a:cs typeface="楷体_GB2312" pitchFamily="49" charset="-122"/>
              </a:rPr>
              <a:t>K</a:t>
            </a:r>
            <a:r>
              <a:rPr lang="en-US" altLang="zh-CN" sz="1600" b="1" baseline="100000" dirty="0" err="1">
                <a:ea typeface="华文新魏" pitchFamily="2" charset="-122"/>
                <a:cs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ea typeface="华文新魏" pitchFamily="2" charset="-122"/>
                <a:cs typeface="楷体_GB2312" pitchFamily="49" charset="-122"/>
                <a:sym typeface="Webdings" pitchFamily="18" charset="2"/>
              </a:rPr>
              <a:t>MY</a:t>
            </a:r>
            <a:r>
              <a:rPr lang="en-US" altLang="zh-CN" sz="2500" b="1" baseline="-25000" dirty="0">
                <a:ea typeface="华文新魏" pitchFamily="2" charset="-122"/>
                <a:cs typeface="楷体_GB2312" pitchFamily="49" charset="-122"/>
                <a:sym typeface="Webdings" pitchFamily="18" charset="2"/>
              </a:rPr>
              <a:t> </a:t>
            </a:r>
            <a:r>
              <a:rPr lang="en-US" altLang="zh-CN" sz="2500" b="1" dirty="0">
                <a:ea typeface="华文新魏" pitchFamily="2" charset="-122"/>
                <a:cs typeface="楷体_GB2312" pitchFamily="49" charset="-122"/>
                <a:sym typeface="Webdings" pitchFamily="18" charset="2"/>
              </a:rPr>
              <a:t>- (6 - </a:t>
            </a:r>
            <a:r>
              <a:rPr lang="en-US" altLang="zh-CN" sz="2500" b="1" dirty="0" err="1">
                <a:ea typeface="华文新魏" pitchFamily="2" charset="-122"/>
                <a:cs typeface="楷体_GB2312" pitchFamily="49" charset="-122"/>
              </a:rPr>
              <a:t>lg</a:t>
            </a:r>
            <a:r>
              <a:rPr lang="en-US" altLang="zh-CN" sz="2500" b="1" i="1" dirty="0" err="1">
                <a:ea typeface="华文新魏" pitchFamily="2" charset="-122"/>
                <a:cs typeface="楷体_GB2312" pitchFamily="49" charset="-122"/>
              </a:rPr>
              <a:t>c</a:t>
            </a:r>
            <a:r>
              <a:rPr lang="en-US" altLang="zh-CN" sz="2500" b="1" baseline="-25000" dirty="0" err="1">
                <a:ea typeface="华文新魏" pitchFamily="2" charset="-122"/>
                <a:cs typeface="楷体_GB2312" pitchFamily="49" charset="-122"/>
              </a:rPr>
              <a:t>M</a:t>
            </a:r>
            <a:r>
              <a:rPr lang="en-US" altLang="zh-CN" sz="2500" b="1" dirty="0">
                <a:ea typeface="华文新魏" pitchFamily="2" charset="-122"/>
                <a:cs typeface="楷体_GB2312" pitchFamily="49" charset="-122"/>
              </a:rPr>
              <a:t>)</a:t>
            </a:r>
          </a:p>
        </p:txBody>
      </p:sp>
      <p:sp>
        <p:nvSpPr>
          <p:cNvPr id="60463" name="Rectangle 47"/>
          <p:cNvSpPr>
            <a:spLocks noChangeArrowheads="1"/>
          </p:cNvSpPr>
          <p:nvPr/>
        </p:nvSpPr>
        <p:spPr bwMode="auto">
          <a:xfrm>
            <a:off x="8618538" y="3025775"/>
            <a:ext cx="1790700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2500" b="1">
                <a:ea typeface="华文新魏" pitchFamily="2" charset="-122"/>
                <a:cs typeface="楷体_GB2312" pitchFamily="49" charset="-122"/>
              </a:rPr>
              <a:t> = 8.7</a:t>
            </a:r>
          </a:p>
        </p:txBody>
      </p:sp>
      <p:sp>
        <p:nvSpPr>
          <p:cNvPr id="11" name="Rectangle 33"/>
          <p:cNvSpPr>
            <a:spLocks noChangeArrowheads="1"/>
          </p:cNvSpPr>
          <p:nvPr/>
        </p:nvSpPr>
        <p:spPr bwMode="auto">
          <a:xfrm>
            <a:off x="3832225" y="3525838"/>
            <a:ext cx="3286125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2500" b="1" dirty="0">
                <a:ea typeface="华文新魏" pitchFamily="2" charset="-122"/>
                <a:cs typeface="楷体_GB2312" pitchFamily="49" charset="-122"/>
              </a:rPr>
              <a:t>查</a:t>
            </a:r>
            <a:r>
              <a:rPr lang="zh-CN" altLang="en-US" sz="2500" b="1" dirty="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酸效应系数表</a:t>
            </a:r>
            <a:r>
              <a:rPr lang="zh-CN" altLang="en-US" sz="2500" b="1" dirty="0">
                <a:ea typeface="华文新魏" pitchFamily="2" charset="-122"/>
                <a:cs typeface="楷体_GB2312" pitchFamily="49" charset="-122"/>
              </a:rPr>
              <a:t>可得</a:t>
            </a:r>
            <a:r>
              <a:rPr lang="en-US" altLang="zh-CN" sz="2500" b="1" dirty="0">
                <a:ea typeface="华文新魏" pitchFamily="2" charset="-122"/>
                <a:cs typeface="楷体_GB2312" pitchFamily="49" charset="-122"/>
              </a:rPr>
              <a:t>:           </a:t>
            </a:r>
          </a:p>
        </p:txBody>
      </p:sp>
      <p:sp>
        <p:nvSpPr>
          <p:cNvPr id="12" name="Rectangle 37"/>
          <p:cNvSpPr>
            <a:spLocks noChangeArrowheads="1"/>
          </p:cNvSpPr>
          <p:nvPr/>
        </p:nvSpPr>
        <p:spPr bwMode="auto">
          <a:xfrm>
            <a:off x="7046913" y="3525838"/>
            <a:ext cx="2428875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5000"/>
              </a:lnSpc>
              <a:defRPr/>
            </a:pPr>
            <a:r>
              <a:rPr lang="en-US" altLang="zh-CN" sz="2500" b="1" dirty="0">
                <a:solidFill>
                  <a:schemeClr val="accent6"/>
                </a:solidFill>
                <a:ea typeface="华文新魏" pitchFamily="2" charset="-122"/>
                <a:cs typeface="楷体_GB2312"/>
              </a:rPr>
              <a:t>  pH(min) ≈ 3.9</a:t>
            </a:r>
          </a:p>
        </p:txBody>
      </p:sp>
      <p:sp>
        <p:nvSpPr>
          <p:cNvPr id="13" name="Rectangle 24"/>
          <p:cNvSpPr>
            <a:spLocks noChangeArrowheads="1"/>
          </p:cNvSpPr>
          <p:nvPr/>
        </p:nvSpPr>
        <p:spPr bwMode="auto">
          <a:xfrm>
            <a:off x="3903663" y="4025900"/>
            <a:ext cx="471487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500" b="1" dirty="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最低酸度</a:t>
            </a:r>
            <a:r>
              <a:rPr lang="en-US" altLang="zh-CN" sz="2500" b="1" dirty="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:</a:t>
            </a:r>
          </a:p>
        </p:txBody>
      </p:sp>
      <p:sp>
        <p:nvSpPr>
          <p:cNvPr id="14" name="Rectangle 34"/>
          <p:cNvSpPr>
            <a:spLocks noChangeArrowheads="1"/>
          </p:cNvSpPr>
          <p:nvPr/>
        </p:nvSpPr>
        <p:spPr bwMode="auto">
          <a:xfrm>
            <a:off x="5975350" y="4168775"/>
            <a:ext cx="3857625" cy="1246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500" b="1" dirty="0">
                <a:ea typeface="楷体_GB2312"/>
                <a:cs typeface="楷体_GB2312"/>
              </a:rPr>
              <a:t>  </a:t>
            </a:r>
            <a:r>
              <a:rPr lang="en-US" altLang="zh-CN" sz="2500" b="1" i="1" dirty="0" err="1">
                <a:ea typeface="楷体_GB2312"/>
                <a:cs typeface="楷体_GB2312"/>
              </a:rPr>
              <a:t>K</a:t>
            </a:r>
            <a:r>
              <a:rPr lang="en-US" altLang="zh-CN" sz="1600" b="1" baseline="100000" dirty="0" err="1">
                <a:ea typeface="楷体_GB2312"/>
                <a:cs typeface="楷体_GB231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ea typeface="楷体_GB2312"/>
                <a:cs typeface="楷体_GB2312"/>
                <a:sym typeface="Webdings" pitchFamily="18" charset="2"/>
              </a:rPr>
              <a:t>sp</a:t>
            </a:r>
            <a:r>
              <a:rPr lang="en-US" altLang="zh-CN" sz="2500" b="1" dirty="0">
                <a:ea typeface="楷体_GB2312"/>
                <a:cs typeface="楷体_GB2312"/>
                <a:sym typeface="Webdings" pitchFamily="18" charset="2"/>
              </a:rPr>
              <a:t>= 3 </a:t>
            </a:r>
            <a:r>
              <a:rPr lang="en-US" altLang="zh-CN" sz="2500" b="1" dirty="0">
                <a:ea typeface="楷体_GB2312"/>
                <a:cs typeface="楷体_GB2312"/>
                <a:sym typeface="Symbol" pitchFamily="18" charset="2"/>
              </a:rPr>
              <a:t></a:t>
            </a:r>
            <a:r>
              <a:rPr lang="en-US" altLang="zh-CN" sz="2500" b="1" dirty="0">
                <a:ea typeface="楷体_GB2312"/>
                <a:cs typeface="楷体_GB2312"/>
              </a:rPr>
              <a:t>10</a:t>
            </a:r>
            <a:r>
              <a:rPr lang="en-US" altLang="zh-CN" sz="2500" b="1" baseline="30000" dirty="0">
                <a:ea typeface="楷体_GB2312"/>
                <a:cs typeface="楷体_GB2312"/>
              </a:rPr>
              <a:t>-17</a:t>
            </a:r>
          </a:p>
          <a:p>
            <a:pPr>
              <a:defRPr/>
            </a:pPr>
            <a:r>
              <a:rPr lang="en-US" altLang="zh-CN" sz="2500" b="1" dirty="0">
                <a:ea typeface="楷体_GB2312"/>
                <a:cs typeface="楷体_GB2312"/>
              </a:rPr>
              <a:t>  [OH</a:t>
            </a:r>
            <a:r>
              <a:rPr lang="en-US" altLang="zh-CN" sz="2500" b="1" baseline="30000" dirty="0">
                <a:ea typeface="楷体_GB2312"/>
                <a:cs typeface="楷体_GB2312"/>
              </a:rPr>
              <a:t>-</a:t>
            </a:r>
            <a:r>
              <a:rPr lang="en-US" altLang="zh-CN" sz="2500" b="1" dirty="0">
                <a:ea typeface="楷体_GB2312"/>
                <a:cs typeface="楷体_GB2312"/>
              </a:rPr>
              <a:t>]</a:t>
            </a:r>
            <a:r>
              <a:rPr lang="en-US" altLang="zh-CN" sz="2500" b="1" baseline="30000" dirty="0">
                <a:ea typeface="楷体_GB2312"/>
                <a:cs typeface="楷体_GB2312"/>
              </a:rPr>
              <a:t>2  </a:t>
            </a:r>
            <a:r>
              <a:rPr lang="en-US" altLang="zh-CN" sz="2500" b="1" dirty="0">
                <a:ea typeface="楷体_GB2312"/>
                <a:cs typeface="楷体_GB2312"/>
              </a:rPr>
              <a:t>= </a:t>
            </a:r>
            <a:r>
              <a:rPr lang="en-US" altLang="zh-CN" sz="2500" b="1" i="1" dirty="0" err="1">
                <a:ea typeface="楷体_GB2312"/>
                <a:cs typeface="楷体_GB2312"/>
              </a:rPr>
              <a:t>K</a:t>
            </a:r>
            <a:r>
              <a:rPr lang="en-US" altLang="zh-CN" sz="1600" b="1" baseline="100000" dirty="0" err="1">
                <a:ea typeface="楷体_GB2312"/>
                <a:cs typeface="楷体_GB231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ea typeface="楷体_GB2312"/>
                <a:cs typeface="楷体_GB2312"/>
                <a:sym typeface="Webdings" pitchFamily="18" charset="2"/>
              </a:rPr>
              <a:t>sp</a:t>
            </a:r>
            <a:r>
              <a:rPr lang="en-US" altLang="zh-CN" sz="2500" b="1" dirty="0">
                <a:ea typeface="楷体_GB2312"/>
                <a:cs typeface="楷体_GB2312"/>
                <a:sym typeface="Webdings" pitchFamily="18" charset="2"/>
              </a:rPr>
              <a:t>/[Zn</a:t>
            </a:r>
            <a:r>
              <a:rPr lang="en-US" altLang="zh-CN" sz="2500" b="1" baseline="30000" dirty="0">
                <a:ea typeface="楷体_GB2312"/>
                <a:cs typeface="楷体_GB2312"/>
                <a:sym typeface="Webdings" pitchFamily="18" charset="2"/>
              </a:rPr>
              <a:t>2+</a:t>
            </a:r>
            <a:r>
              <a:rPr lang="en-US" altLang="zh-CN" sz="2500" b="1" dirty="0">
                <a:ea typeface="楷体_GB2312"/>
                <a:cs typeface="楷体_GB2312"/>
                <a:sym typeface="Webdings" pitchFamily="18" charset="2"/>
              </a:rPr>
              <a:t>]</a:t>
            </a:r>
          </a:p>
          <a:p>
            <a:pPr>
              <a:defRPr/>
            </a:pPr>
            <a:r>
              <a:rPr lang="en-US" altLang="zh-CN" sz="2500" b="1" dirty="0">
                <a:ea typeface="楷体_GB2312"/>
                <a:cs typeface="楷体_GB2312"/>
                <a:sym typeface="Webdings" pitchFamily="18" charset="2"/>
              </a:rPr>
              <a:t>   </a:t>
            </a:r>
            <a:r>
              <a:rPr lang="en-US" altLang="zh-CN" sz="2500" b="1" dirty="0">
                <a:solidFill>
                  <a:schemeClr val="accent6"/>
                </a:solidFill>
                <a:ea typeface="楷体_GB2312"/>
                <a:cs typeface="楷体_GB2312"/>
                <a:sym typeface="Webdings" pitchFamily="18" charset="2"/>
              </a:rPr>
              <a:t>pH(max) = 6.6</a:t>
            </a:r>
          </a:p>
        </p:txBody>
      </p:sp>
    </p:spTree>
  </p:cSld>
  <p:clrMapOvr>
    <a:masterClrMapping/>
  </p:clrMapOvr>
  <p:transition spd="slow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500"/>
                                        <p:tgtEl>
                                          <p:spTgt spid="60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60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0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0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60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604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604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49" grpId="0" autoUpdateAnimBg="0"/>
      <p:bldP spid="60452" grpId="0" autoUpdateAnimBg="0"/>
      <p:bldP spid="60458" grpId="0" autoUpdateAnimBg="0"/>
      <p:bldP spid="60459" grpId="0" build="p"/>
      <p:bldP spid="60461" grpId="0" build="p" autoUpdateAnimBg="0"/>
      <p:bldP spid="60462" grpId="0" build="p" autoUpdateAnimBg="0"/>
      <p:bldP spid="60463" grpId="0" build="p" autoUpdateAnimBg="0"/>
      <p:bldP spid="11" grpId="0" build="p" autoUpdateAnimBg="0"/>
      <p:bldP spid="12" grpId="0" build="p" autoUpdateAnimBg="0"/>
      <p:bldP spid="13" grpId="0" autoUpdateAnimBg="0"/>
      <p:bldP spid="14" grpId="0" uiExpand="1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灯片编号占位符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5530850" y="5949950"/>
            <a:ext cx="544513" cy="40798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33BD2A40-A397-41E8-A876-9F00A85BAE9F}" type="slidenum">
              <a:rPr lang="en-US" altLang="zh-CN" sz="2500" b="1">
                <a:ea typeface="华文新魏" pitchFamily="2" charset="-122"/>
                <a:cs typeface="楷体_GB2312" pitchFamily="49" charset="-122"/>
              </a:rPr>
              <a:pPr/>
              <a:t>3</a:t>
            </a:fld>
            <a:endParaRPr lang="en-US" altLang="zh-CN" sz="2500" b="1">
              <a:ea typeface="华文新魏" pitchFamily="2" charset="-122"/>
              <a:cs typeface="楷体_GB2312" pitchFamily="49" charset="-122"/>
            </a:endParaRPr>
          </a:p>
        </p:txBody>
      </p:sp>
      <p:graphicFrame>
        <p:nvGraphicFramePr>
          <p:cNvPr id="128015" name="Object 15"/>
          <p:cNvGraphicFramePr>
            <a:graphicFrameLocks noChangeAspect="1"/>
          </p:cNvGraphicFramePr>
          <p:nvPr>
            <p:ph sz="half" idx="1"/>
          </p:nvPr>
        </p:nvGraphicFramePr>
        <p:xfrm>
          <a:off x="4189413" y="1811338"/>
          <a:ext cx="6797675" cy="1020762"/>
        </p:xfrm>
        <a:graphic>
          <a:graphicData uri="http://schemas.openxmlformats.org/presentationml/2006/ole">
            <p:oleObj spid="_x0000_s1026" name="公式" r:id="rId4" imgW="2158920" imgH="431640" progId="Equation.3">
              <p:embed/>
            </p:oleObj>
          </a:graphicData>
        </a:graphic>
      </p:graphicFrame>
      <p:sp>
        <p:nvSpPr>
          <p:cNvPr id="128007" name="Rectangle 7"/>
          <p:cNvSpPr>
            <a:spLocks noChangeArrowheads="1"/>
          </p:cNvSpPr>
          <p:nvPr/>
        </p:nvSpPr>
        <p:spPr bwMode="auto">
          <a:xfrm>
            <a:off x="4975225" y="735239"/>
            <a:ext cx="5000654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500" b="1" i="1" dirty="0">
                <a:ea typeface="华文新魏" pitchFamily="2" charset="-122"/>
                <a:cs typeface="楷体_GB2312" pitchFamily="49" charset="-122"/>
              </a:rPr>
              <a:t>n</a:t>
            </a:r>
            <a:r>
              <a:rPr lang="en-US" altLang="zh-CN" sz="2500" b="1" dirty="0">
                <a:ea typeface="华文新魏" pitchFamily="2" charset="-122"/>
                <a:cs typeface="楷体_GB2312" pitchFamily="49" charset="-122"/>
              </a:rPr>
              <a:t>(S) = </a:t>
            </a:r>
            <a:r>
              <a:rPr lang="en-US" altLang="zh-CN" sz="2500" b="1" i="1" dirty="0">
                <a:ea typeface="华文新魏" pitchFamily="2" charset="-122"/>
                <a:cs typeface="楷体_GB2312" pitchFamily="49" charset="-122"/>
              </a:rPr>
              <a:t>n</a:t>
            </a:r>
            <a:r>
              <a:rPr lang="en-US" altLang="zh-CN" sz="2500" b="1" dirty="0">
                <a:ea typeface="华文新魏" pitchFamily="2" charset="-122"/>
                <a:cs typeface="楷体_GB2312" pitchFamily="49" charset="-122"/>
              </a:rPr>
              <a:t>(SO</a:t>
            </a:r>
            <a:r>
              <a:rPr lang="en-US" altLang="zh-CN" sz="2500" b="1" baseline="-25000" dirty="0">
                <a:ea typeface="华文新魏" pitchFamily="2" charset="-122"/>
                <a:cs typeface="楷体_GB2312" pitchFamily="49" charset="-122"/>
              </a:rPr>
              <a:t>4</a:t>
            </a:r>
            <a:r>
              <a:rPr lang="en-US" altLang="zh-CN" sz="2500" b="1" baseline="30000" dirty="0">
                <a:ea typeface="华文新魏" pitchFamily="2" charset="-122"/>
                <a:cs typeface="楷体_GB2312" pitchFamily="49" charset="-122"/>
              </a:rPr>
              <a:t>2-</a:t>
            </a:r>
            <a:r>
              <a:rPr lang="en-US" altLang="zh-CN" sz="2500" b="1" dirty="0">
                <a:ea typeface="华文新魏" pitchFamily="2" charset="-122"/>
                <a:cs typeface="楷体_GB2312" pitchFamily="49" charset="-122"/>
              </a:rPr>
              <a:t>)</a:t>
            </a:r>
          </a:p>
          <a:p>
            <a:r>
              <a:rPr lang="en-US" altLang="zh-CN" sz="2500" b="1" i="1" dirty="0">
                <a:ea typeface="华文新魏" pitchFamily="2" charset="-122"/>
                <a:cs typeface="楷体_GB2312" pitchFamily="49" charset="-122"/>
              </a:rPr>
              <a:t>n</a:t>
            </a:r>
            <a:r>
              <a:rPr lang="en-US" altLang="zh-CN" sz="2500" b="1" dirty="0">
                <a:ea typeface="华文新魏" pitchFamily="2" charset="-122"/>
                <a:cs typeface="楷体_GB2312" pitchFamily="49" charset="-122"/>
              </a:rPr>
              <a:t>(SO</a:t>
            </a:r>
            <a:r>
              <a:rPr lang="en-US" altLang="zh-CN" sz="2500" b="1" baseline="-25000" dirty="0">
                <a:ea typeface="华文新魏" pitchFamily="2" charset="-122"/>
                <a:cs typeface="楷体_GB2312" pitchFamily="49" charset="-122"/>
              </a:rPr>
              <a:t>4</a:t>
            </a:r>
            <a:r>
              <a:rPr lang="en-US" altLang="zh-CN" sz="2500" b="1" baseline="30000" dirty="0">
                <a:ea typeface="华文新魏" pitchFamily="2" charset="-122"/>
                <a:cs typeface="楷体_GB2312" pitchFamily="49" charset="-122"/>
              </a:rPr>
              <a:t>2-</a:t>
            </a:r>
            <a:r>
              <a:rPr lang="en-US" altLang="zh-CN" sz="2500" b="1" dirty="0">
                <a:ea typeface="华文新魏" pitchFamily="2" charset="-122"/>
                <a:cs typeface="楷体_GB2312" pitchFamily="49" charset="-122"/>
              </a:rPr>
              <a:t>) = (</a:t>
            </a:r>
            <a:r>
              <a:rPr lang="en-US" altLang="zh-CN" sz="2500" b="1" i="1" dirty="0" err="1">
                <a:ea typeface="华文新魏" pitchFamily="2" charset="-122"/>
                <a:cs typeface="楷体_GB2312" pitchFamily="49" charset="-122"/>
              </a:rPr>
              <a:t>cV</a:t>
            </a:r>
            <a:r>
              <a:rPr lang="en-US" altLang="zh-CN" sz="2500" b="1" dirty="0">
                <a:ea typeface="华文新魏" pitchFamily="2" charset="-122"/>
                <a:cs typeface="楷体_GB2312" pitchFamily="49" charset="-122"/>
              </a:rPr>
              <a:t>)</a:t>
            </a:r>
            <a:r>
              <a:rPr lang="en-US" altLang="zh-CN" sz="2500" b="1" baseline="-25000" dirty="0">
                <a:ea typeface="华文新魏" pitchFamily="2" charset="-122"/>
                <a:cs typeface="楷体_GB2312" pitchFamily="49" charset="-122"/>
              </a:rPr>
              <a:t>Ba</a:t>
            </a:r>
            <a:r>
              <a:rPr lang="en-US" altLang="zh-CN" sz="2500" b="1" baseline="-5000" dirty="0">
                <a:ea typeface="华文新魏" pitchFamily="2" charset="-122"/>
                <a:cs typeface="楷体_GB2312" pitchFamily="49" charset="-122"/>
              </a:rPr>
              <a:t>2+</a:t>
            </a:r>
            <a:r>
              <a:rPr lang="en-US" altLang="zh-CN" sz="2500" b="1" dirty="0">
                <a:ea typeface="华文新魏" pitchFamily="2" charset="-122"/>
                <a:cs typeface="楷体_GB2312" pitchFamily="49" charset="-122"/>
              </a:rPr>
              <a:t> – (</a:t>
            </a:r>
            <a:r>
              <a:rPr lang="en-US" altLang="zh-CN" sz="2500" b="1" i="1" dirty="0" err="1">
                <a:ea typeface="华文新魏" pitchFamily="2" charset="-122"/>
                <a:cs typeface="楷体_GB2312" pitchFamily="49" charset="-122"/>
              </a:rPr>
              <a:t>cV</a:t>
            </a:r>
            <a:r>
              <a:rPr lang="en-US" altLang="zh-CN" sz="2500" b="1" dirty="0">
                <a:ea typeface="华文新魏" pitchFamily="2" charset="-122"/>
                <a:cs typeface="楷体_GB2312" pitchFamily="49" charset="-122"/>
              </a:rPr>
              <a:t>)</a:t>
            </a:r>
            <a:r>
              <a:rPr lang="en-US" altLang="zh-CN" sz="2500" b="1" baseline="-25000" dirty="0">
                <a:ea typeface="华文新魏" pitchFamily="2" charset="-122"/>
                <a:cs typeface="楷体_GB2312" pitchFamily="49" charset="-122"/>
              </a:rPr>
              <a:t>EDTA</a:t>
            </a:r>
          </a:p>
        </p:txBody>
      </p:sp>
      <p:sp>
        <p:nvSpPr>
          <p:cNvPr id="128012" name="Rectangle 12"/>
          <p:cNvSpPr>
            <a:spLocks noChangeArrowheads="1"/>
          </p:cNvSpPr>
          <p:nvPr/>
        </p:nvSpPr>
        <p:spPr bwMode="auto">
          <a:xfrm>
            <a:off x="260311" y="404816"/>
            <a:ext cx="3000375" cy="3478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200" b="1" dirty="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例</a:t>
            </a:r>
            <a:r>
              <a:rPr lang="en-US" altLang="zh-CN" sz="2200" b="1" dirty="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3.</a:t>
            </a:r>
            <a:r>
              <a:rPr lang="zh-CN" altLang="en-US" sz="2200" b="1" dirty="0">
                <a:ea typeface="华文新魏" pitchFamily="2" charset="-122"/>
                <a:cs typeface="楷体_GB2312" pitchFamily="49" charset="-122"/>
              </a:rPr>
              <a:t>称取</a:t>
            </a:r>
            <a:r>
              <a:rPr lang="en-US" altLang="zh-CN" sz="2200" b="1" dirty="0">
                <a:ea typeface="华文新魏" pitchFamily="2" charset="-122"/>
                <a:cs typeface="楷体_GB2312" pitchFamily="49" charset="-122"/>
              </a:rPr>
              <a:t>0.500g </a:t>
            </a:r>
            <a:r>
              <a:rPr lang="zh-CN" altLang="en-US" sz="2200" b="1" dirty="0">
                <a:ea typeface="华文新魏" pitchFamily="2" charset="-122"/>
                <a:cs typeface="楷体_GB2312" pitchFamily="49" charset="-122"/>
              </a:rPr>
              <a:t>煤试样</a:t>
            </a:r>
            <a:r>
              <a:rPr lang="en-US" altLang="zh-CN" sz="2200" b="1" dirty="0">
                <a:ea typeface="华文新魏" pitchFamily="2" charset="-122"/>
                <a:cs typeface="楷体_GB2312" pitchFamily="49" charset="-122"/>
              </a:rPr>
              <a:t>,</a:t>
            </a:r>
            <a:r>
              <a:rPr lang="zh-CN" altLang="en-US" sz="2200" b="1" dirty="0">
                <a:ea typeface="华文新魏" pitchFamily="2" charset="-122"/>
                <a:cs typeface="楷体_GB2312" pitchFamily="49" charset="-122"/>
              </a:rPr>
              <a:t>灼烧并使其中硫完全氧化为</a:t>
            </a:r>
            <a:r>
              <a:rPr lang="en-US" altLang="zh-CN" sz="2200" b="1" dirty="0">
                <a:ea typeface="华文新魏" pitchFamily="2" charset="-122"/>
                <a:cs typeface="楷体_GB2312" pitchFamily="49" charset="-122"/>
              </a:rPr>
              <a:t>SO</a:t>
            </a:r>
            <a:r>
              <a:rPr lang="en-US" altLang="zh-CN" sz="2200" b="1" baseline="-25000" dirty="0">
                <a:ea typeface="华文新魏" pitchFamily="2" charset="-122"/>
                <a:cs typeface="楷体_GB2312" pitchFamily="49" charset="-122"/>
              </a:rPr>
              <a:t>4</a:t>
            </a:r>
            <a:r>
              <a:rPr lang="en-US" altLang="zh-CN" sz="2200" b="1" baseline="30000" dirty="0">
                <a:ea typeface="华文新魏" pitchFamily="2" charset="-122"/>
                <a:cs typeface="楷体_GB2312" pitchFamily="49" charset="-122"/>
              </a:rPr>
              <a:t>2-</a:t>
            </a:r>
            <a:r>
              <a:rPr lang="en-US" altLang="zh-CN" sz="2200" b="1" dirty="0">
                <a:ea typeface="华文新魏" pitchFamily="2" charset="-122"/>
                <a:cs typeface="楷体_GB2312" pitchFamily="49" charset="-122"/>
              </a:rPr>
              <a:t>.</a:t>
            </a:r>
            <a:r>
              <a:rPr lang="zh-CN" altLang="en-US" sz="2200" b="1" dirty="0">
                <a:ea typeface="华文新魏" pitchFamily="2" charset="-122"/>
                <a:cs typeface="楷体_GB2312" pitchFamily="49" charset="-122"/>
              </a:rPr>
              <a:t>处理成溶液</a:t>
            </a:r>
            <a:r>
              <a:rPr lang="en-US" altLang="zh-CN" sz="2200" b="1" dirty="0">
                <a:ea typeface="华文新魏" pitchFamily="2" charset="-122"/>
                <a:cs typeface="楷体_GB2312" pitchFamily="49" charset="-122"/>
              </a:rPr>
              <a:t>,</a:t>
            </a:r>
            <a:r>
              <a:rPr lang="zh-CN" altLang="en-US" sz="2200" b="1" dirty="0">
                <a:ea typeface="华文新魏" pitchFamily="2" charset="-122"/>
                <a:cs typeface="楷体_GB2312" pitchFamily="49" charset="-122"/>
              </a:rPr>
              <a:t>除去重金属离子后</a:t>
            </a:r>
            <a:r>
              <a:rPr lang="en-US" altLang="zh-CN" sz="2200" b="1" dirty="0">
                <a:ea typeface="华文新魏" pitchFamily="2" charset="-122"/>
                <a:cs typeface="楷体_GB2312" pitchFamily="49" charset="-122"/>
              </a:rPr>
              <a:t>,</a:t>
            </a:r>
            <a:r>
              <a:rPr lang="zh-CN" altLang="en-US" sz="2200" b="1" dirty="0">
                <a:ea typeface="华文新魏" pitchFamily="2" charset="-122"/>
                <a:cs typeface="楷体_GB2312" pitchFamily="49" charset="-122"/>
              </a:rPr>
              <a:t>加入</a:t>
            </a:r>
            <a:r>
              <a:rPr lang="en-US" altLang="zh-CN" sz="2200" b="1" dirty="0">
                <a:ea typeface="华文新魏" pitchFamily="2" charset="-122"/>
                <a:cs typeface="楷体_GB2312" pitchFamily="49" charset="-122"/>
              </a:rPr>
              <a:t>0.0500 mol·L</a:t>
            </a:r>
            <a:r>
              <a:rPr lang="en-US" altLang="zh-CN" sz="2200" b="1" baseline="30000" dirty="0">
                <a:ea typeface="华文新魏" pitchFamily="2" charset="-122"/>
                <a:cs typeface="楷体_GB2312" pitchFamily="49" charset="-122"/>
              </a:rPr>
              <a:t>-1 </a:t>
            </a:r>
            <a:r>
              <a:rPr lang="en-US" altLang="zh-CN" sz="2200" b="1" dirty="0">
                <a:ea typeface="华文新魏" pitchFamily="2" charset="-122"/>
                <a:cs typeface="楷体_GB2312" pitchFamily="49" charset="-122"/>
              </a:rPr>
              <a:t>BaCl</a:t>
            </a:r>
            <a:r>
              <a:rPr lang="en-US" altLang="zh-CN" sz="2200" b="1" baseline="-25000" dirty="0">
                <a:ea typeface="华文新魏" pitchFamily="2" charset="-122"/>
                <a:cs typeface="楷体_GB2312" pitchFamily="49" charset="-122"/>
              </a:rPr>
              <a:t>2</a:t>
            </a:r>
            <a:r>
              <a:rPr lang="zh-CN" altLang="en-US" sz="2200" b="1" dirty="0">
                <a:ea typeface="华文新魏" pitchFamily="2" charset="-122"/>
                <a:cs typeface="楷体_GB2312" pitchFamily="49" charset="-122"/>
              </a:rPr>
              <a:t>溶液</a:t>
            </a:r>
            <a:r>
              <a:rPr lang="en-US" altLang="zh-CN" sz="2200" b="1" dirty="0">
                <a:ea typeface="华文新魏" pitchFamily="2" charset="-122"/>
                <a:cs typeface="楷体_GB2312" pitchFamily="49" charset="-122"/>
              </a:rPr>
              <a:t>20.00mL,</a:t>
            </a:r>
            <a:r>
              <a:rPr lang="zh-CN" altLang="en-US" sz="2200" b="1" dirty="0">
                <a:ea typeface="华文新魏" pitchFamily="2" charset="-122"/>
                <a:cs typeface="楷体_GB2312" pitchFamily="49" charset="-122"/>
              </a:rPr>
              <a:t>使之生成</a:t>
            </a:r>
            <a:r>
              <a:rPr lang="en-US" altLang="zh-CN" sz="2200" b="1" dirty="0">
                <a:ea typeface="华文新魏" pitchFamily="2" charset="-122"/>
                <a:cs typeface="楷体_GB2312" pitchFamily="49" charset="-122"/>
              </a:rPr>
              <a:t>BaSO</a:t>
            </a:r>
            <a:r>
              <a:rPr lang="en-US" altLang="zh-CN" sz="2200" b="1" baseline="-25000" dirty="0">
                <a:ea typeface="华文新魏" pitchFamily="2" charset="-122"/>
                <a:cs typeface="楷体_GB2312" pitchFamily="49" charset="-122"/>
              </a:rPr>
              <a:t>4</a:t>
            </a:r>
            <a:r>
              <a:rPr lang="zh-CN" altLang="en-US" sz="2200" b="1" dirty="0">
                <a:ea typeface="华文新魏" pitchFamily="2" charset="-122"/>
                <a:cs typeface="楷体_GB2312" pitchFamily="49" charset="-122"/>
              </a:rPr>
              <a:t>沉淀</a:t>
            </a:r>
            <a:r>
              <a:rPr lang="en-US" altLang="zh-CN" sz="2200" b="1" dirty="0">
                <a:ea typeface="华文新魏" pitchFamily="2" charset="-122"/>
                <a:cs typeface="楷体_GB2312" pitchFamily="49" charset="-122"/>
              </a:rPr>
              <a:t>.</a:t>
            </a:r>
            <a:r>
              <a:rPr lang="zh-CN" altLang="en-US" sz="2200" b="1" dirty="0">
                <a:ea typeface="华文新魏" pitchFamily="2" charset="-122"/>
                <a:cs typeface="楷体_GB2312" pitchFamily="49" charset="-122"/>
              </a:rPr>
              <a:t>过量的</a:t>
            </a:r>
            <a:r>
              <a:rPr lang="en-US" altLang="zh-CN" sz="2200" b="1" dirty="0">
                <a:ea typeface="华文新魏" pitchFamily="2" charset="-122"/>
                <a:cs typeface="楷体_GB2312" pitchFamily="49" charset="-122"/>
              </a:rPr>
              <a:t>Ba</a:t>
            </a:r>
            <a:r>
              <a:rPr lang="en-US" altLang="zh-CN" sz="2200" b="1" baseline="30000" dirty="0">
                <a:ea typeface="华文新魏" pitchFamily="2" charset="-122"/>
                <a:cs typeface="楷体_GB2312" pitchFamily="49" charset="-122"/>
              </a:rPr>
              <a:t>2+</a:t>
            </a:r>
            <a:r>
              <a:rPr lang="zh-CN" altLang="en-US" sz="2200" b="1" dirty="0">
                <a:ea typeface="华文新魏" pitchFamily="2" charset="-122"/>
                <a:cs typeface="楷体_GB2312" pitchFamily="49" charset="-122"/>
              </a:rPr>
              <a:t>用</a:t>
            </a:r>
            <a:r>
              <a:rPr lang="en-US" altLang="zh-CN" sz="2200" b="1" dirty="0">
                <a:ea typeface="华文新魏" pitchFamily="2" charset="-122"/>
                <a:cs typeface="楷体_GB2312" pitchFamily="49" charset="-122"/>
              </a:rPr>
              <a:t>0.0250 mol·L</a:t>
            </a:r>
            <a:r>
              <a:rPr lang="en-US" altLang="zh-CN" sz="2200" b="1" baseline="30000" dirty="0">
                <a:ea typeface="华文新魏" pitchFamily="2" charset="-122"/>
                <a:cs typeface="楷体_GB2312" pitchFamily="49" charset="-122"/>
              </a:rPr>
              <a:t>-1 </a:t>
            </a:r>
            <a:r>
              <a:rPr lang="en-US" altLang="zh-CN" sz="2200" b="1" dirty="0">
                <a:ea typeface="华文新魏" pitchFamily="2" charset="-122"/>
                <a:cs typeface="楷体_GB2312" pitchFamily="49" charset="-122"/>
              </a:rPr>
              <a:t>EDTA</a:t>
            </a:r>
            <a:r>
              <a:rPr lang="zh-CN" altLang="en-US" sz="2200" b="1" dirty="0">
                <a:ea typeface="华文新魏" pitchFamily="2" charset="-122"/>
                <a:cs typeface="楷体_GB2312" pitchFamily="49" charset="-122"/>
              </a:rPr>
              <a:t>溶液滴定</a:t>
            </a:r>
            <a:r>
              <a:rPr lang="en-US" altLang="zh-CN" sz="2200" b="1" dirty="0">
                <a:ea typeface="华文新魏" pitchFamily="2" charset="-122"/>
                <a:cs typeface="楷体_GB2312" pitchFamily="49" charset="-122"/>
              </a:rPr>
              <a:t>,</a:t>
            </a:r>
            <a:r>
              <a:rPr lang="zh-CN" altLang="en-US" sz="2200" b="1" dirty="0">
                <a:ea typeface="华文新魏" pitchFamily="2" charset="-122"/>
                <a:cs typeface="楷体_GB2312" pitchFamily="49" charset="-122"/>
              </a:rPr>
              <a:t>用去</a:t>
            </a:r>
            <a:r>
              <a:rPr lang="en-US" altLang="zh-CN" sz="2200" b="1" dirty="0">
                <a:ea typeface="华文新魏" pitchFamily="2" charset="-122"/>
                <a:cs typeface="楷体_GB2312" pitchFamily="49" charset="-122"/>
              </a:rPr>
              <a:t>20.00mL.</a:t>
            </a:r>
            <a:r>
              <a:rPr lang="zh-CN" altLang="en-US" sz="2200" b="1" dirty="0">
                <a:ea typeface="华文新魏" pitchFamily="2" charset="-122"/>
                <a:cs typeface="楷体_GB2312" pitchFamily="49" charset="-122"/>
              </a:rPr>
              <a:t>计算煤的含硫量</a:t>
            </a:r>
            <a:r>
              <a:rPr lang="en-US" altLang="zh-CN" sz="2200" b="1" dirty="0">
                <a:ea typeface="华文新魏" pitchFamily="2" charset="-122"/>
                <a:cs typeface="楷体_GB2312" pitchFamily="49" charset="-122"/>
              </a:rPr>
              <a:t>.</a:t>
            </a:r>
          </a:p>
        </p:txBody>
      </p:sp>
      <p:graphicFrame>
        <p:nvGraphicFramePr>
          <p:cNvPr id="128020" name="Object 20"/>
          <p:cNvGraphicFramePr>
            <a:graphicFrameLocks noChangeAspect="1"/>
          </p:cNvGraphicFramePr>
          <p:nvPr>
            <p:ph sz="half" idx="2"/>
          </p:nvPr>
        </p:nvGraphicFramePr>
        <p:xfrm>
          <a:off x="4189413" y="3097213"/>
          <a:ext cx="7186612" cy="781050"/>
        </p:xfrm>
        <a:graphic>
          <a:graphicData uri="http://schemas.openxmlformats.org/presentationml/2006/ole">
            <p:oleObj spid="_x0000_s1027" name="公式" r:id="rId5" imgW="2539800" imgH="368280" progId="Equation.3">
              <p:embed/>
            </p:oleObj>
          </a:graphicData>
        </a:graphic>
      </p:graphicFrame>
      <p:sp>
        <p:nvSpPr>
          <p:cNvPr id="128022" name="Rectangle 22"/>
          <p:cNvSpPr>
            <a:spLocks noChangeArrowheads="1"/>
          </p:cNvSpPr>
          <p:nvPr/>
        </p:nvSpPr>
        <p:spPr bwMode="auto">
          <a:xfrm>
            <a:off x="4260850" y="4025900"/>
            <a:ext cx="1860550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>
                <a:ea typeface="华文新魏" pitchFamily="2" charset="-122"/>
                <a:cs typeface="楷体_GB2312" pitchFamily="49" charset="-122"/>
              </a:rPr>
              <a:t>= 3.21%</a:t>
            </a:r>
          </a:p>
        </p:txBody>
      </p:sp>
      <p:sp>
        <p:nvSpPr>
          <p:cNvPr id="8" name="Rectangle 36"/>
          <p:cNvSpPr>
            <a:spLocks noChangeArrowheads="1"/>
          </p:cNvSpPr>
          <p:nvPr/>
        </p:nvSpPr>
        <p:spPr bwMode="auto">
          <a:xfrm>
            <a:off x="3832225" y="454025"/>
            <a:ext cx="1055688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500" b="1" dirty="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解</a:t>
            </a:r>
            <a:r>
              <a:rPr lang="en-US" altLang="zh-CN" sz="2500" b="1" dirty="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: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80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80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28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28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80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07" grpId="0" build="p" autoUpdateAnimBg="0"/>
      <p:bldP spid="128022" grpId="0" build="p" autoUpdateAnimBg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5530850" y="5949950"/>
            <a:ext cx="544513" cy="40798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D158C86D-C3FC-4759-89F0-4AA44D8E1C38}" type="slidenum">
              <a:rPr lang="en-US" altLang="zh-CN" sz="2500" b="1">
                <a:ea typeface="华文新魏" pitchFamily="2" charset="-122"/>
                <a:cs typeface="楷体_GB2312" pitchFamily="49" charset="-122"/>
              </a:rPr>
              <a:pPr/>
              <a:t>4</a:t>
            </a:fld>
            <a:endParaRPr lang="en-US" altLang="zh-CN" sz="2500" b="1">
              <a:ea typeface="华文新魏" pitchFamily="2" charset="-122"/>
              <a:cs typeface="楷体_GB2312" pitchFamily="49" charset="-122"/>
            </a:endParaRPr>
          </a:p>
        </p:txBody>
      </p:sp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4618038" y="596900"/>
            <a:ext cx="67786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 dirty="0">
                <a:ea typeface="华文新魏" pitchFamily="2" charset="-122"/>
                <a:cs typeface="楷体_GB2312" pitchFamily="49" charset="-122"/>
              </a:rPr>
              <a:t>已知</a:t>
            </a:r>
            <a:r>
              <a:rPr lang="en-US" altLang="zh-CN" sz="2500" b="1" dirty="0">
                <a:ea typeface="华文新魏" pitchFamily="2" charset="-122"/>
                <a:cs typeface="楷体_GB2312" pitchFamily="49" charset="-122"/>
              </a:rPr>
              <a:t>:</a:t>
            </a:r>
            <a:r>
              <a:rPr lang="en-US" altLang="zh-CN" sz="2500" b="1" dirty="0" err="1">
                <a:ea typeface="华文新魏" pitchFamily="2" charset="-122"/>
                <a:cs typeface="楷体_GB2312" pitchFamily="49" charset="-122"/>
              </a:rPr>
              <a:t>lg</a:t>
            </a:r>
            <a:r>
              <a:rPr lang="en-US" altLang="zh-CN" sz="2500" b="1" i="1" dirty="0" err="1">
                <a:ea typeface="华文新魏" pitchFamily="2" charset="-122"/>
                <a:cs typeface="楷体_GB2312" pitchFamily="49" charset="-122"/>
              </a:rPr>
              <a:t>K</a:t>
            </a:r>
            <a:r>
              <a:rPr lang="en-US" altLang="zh-CN" sz="1600" b="1" baseline="100000" dirty="0" err="1">
                <a:ea typeface="华文新魏" pitchFamily="2" charset="-122"/>
                <a:cs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ea typeface="华文新魏" pitchFamily="2" charset="-122"/>
                <a:cs typeface="楷体_GB2312" pitchFamily="49" charset="-122"/>
                <a:sym typeface="Webdings" pitchFamily="18" charset="2"/>
              </a:rPr>
              <a:t>HgY</a:t>
            </a:r>
            <a:r>
              <a:rPr lang="en-US" altLang="zh-CN" sz="2500" b="1" dirty="0">
                <a:ea typeface="华文新魏" pitchFamily="2" charset="-122"/>
                <a:cs typeface="楷体_GB2312" pitchFamily="49" charset="-122"/>
                <a:sym typeface="Webdings" pitchFamily="18" charset="2"/>
              </a:rPr>
              <a:t> = 21.8;</a:t>
            </a:r>
            <a:r>
              <a:rPr lang="en-US" altLang="zh-CN" sz="2500" b="1" dirty="0">
                <a:ea typeface="华文新魏" pitchFamily="2" charset="-122"/>
                <a:cs typeface="楷体_GB2312" pitchFamily="49" charset="-122"/>
              </a:rPr>
              <a:t>lg</a:t>
            </a:r>
            <a:r>
              <a:rPr lang="en-US" altLang="zh-CN" sz="2500" b="1" i="1" dirty="0">
                <a:ea typeface="华文新魏" pitchFamily="2" charset="-122"/>
                <a:cs typeface="楷体_GB2312" pitchFamily="49" charset="-122"/>
              </a:rPr>
              <a:t>K</a:t>
            </a:r>
            <a:r>
              <a:rPr lang="en-US" altLang="zh-CN" sz="1600" b="1" baseline="100000" dirty="0">
                <a:ea typeface="华文新魏" pitchFamily="2" charset="-122"/>
                <a:cs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>
                <a:ea typeface="华文新魏" pitchFamily="2" charset="-122"/>
                <a:cs typeface="楷体_GB2312" pitchFamily="49" charset="-122"/>
                <a:sym typeface="Webdings" pitchFamily="18" charset="2"/>
              </a:rPr>
              <a:t>MgY</a:t>
            </a:r>
            <a:r>
              <a:rPr lang="en-US" altLang="zh-CN" sz="2500" b="1" dirty="0">
                <a:ea typeface="华文新魏" pitchFamily="2" charset="-122"/>
                <a:cs typeface="楷体_GB2312" pitchFamily="49" charset="-122"/>
                <a:sym typeface="Webdings" pitchFamily="18" charset="2"/>
              </a:rPr>
              <a:t> = 8.64</a:t>
            </a:r>
            <a:r>
              <a:rPr lang="en-US" altLang="zh-CN" sz="2500" b="1" dirty="0">
                <a:ea typeface="华文新魏" pitchFamily="2" charset="-122"/>
                <a:cs typeface="楷体_GB2312" pitchFamily="49" charset="-122"/>
              </a:rPr>
              <a:t>                      </a:t>
            </a:r>
            <a:endParaRPr lang="en-US" altLang="zh-CN" sz="2500" b="1" dirty="0">
              <a:solidFill>
                <a:schemeClr val="bg2"/>
              </a:solidFill>
              <a:ea typeface="华文新魏" pitchFamily="2" charset="-122"/>
              <a:cs typeface="楷体_GB2312" pitchFamily="49" charset="-122"/>
            </a:endParaRPr>
          </a:p>
        </p:txBody>
      </p:sp>
      <p:sp>
        <p:nvSpPr>
          <p:cNvPr id="6" name="Rectangle 13"/>
          <p:cNvSpPr>
            <a:spLocks noChangeArrowheads="1"/>
          </p:cNvSpPr>
          <p:nvPr/>
        </p:nvSpPr>
        <p:spPr bwMode="auto">
          <a:xfrm>
            <a:off x="4475163" y="2597150"/>
            <a:ext cx="4357687" cy="862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 i="1">
                <a:ea typeface="华文新魏" pitchFamily="2" charset="-122"/>
                <a:cs typeface="楷体_GB2312" pitchFamily="49" charset="-122"/>
              </a:rPr>
              <a:t>n</a:t>
            </a:r>
            <a:r>
              <a:rPr lang="en-US" altLang="zh-CN" sz="2500" b="1">
                <a:ea typeface="华文新魏" pitchFamily="2" charset="-122"/>
                <a:cs typeface="楷体_GB2312" pitchFamily="49" charset="-122"/>
              </a:rPr>
              <a:t>(Hg</a:t>
            </a:r>
            <a:r>
              <a:rPr lang="en-US" altLang="zh-CN" sz="2500" b="1" baseline="30000">
                <a:ea typeface="华文新魏" pitchFamily="2" charset="-122"/>
                <a:cs typeface="楷体_GB2312" pitchFamily="49" charset="-122"/>
              </a:rPr>
              <a:t>2+</a:t>
            </a:r>
            <a:r>
              <a:rPr lang="en-US" altLang="zh-CN" sz="2500" b="1">
                <a:ea typeface="华文新魏" pitchFamily="2" charset="-122"/>
                <a:cs typeface="楷体_GB2312" pitchFamily="49" charset="-122"/>
              </a:rPr>
              <a:t>)</a:t>
            </a:r>
            <a:r>
              <a:rPr lang="zh-CN" altLang="en-US" sz="2500" b="1" baseline="-25000">
                <a:ea typeface="华文新魏" pitchFamily="2" charset="-122"/>
                <a:cs typeface="楷体_GB2312" pitchFamily="49" charset="-122"/>
              </a:rPr>
              <a:t>实际</a:t>
            </a:r>
            <a:r>
              <a:rPr lang="zh-CN" altLang="en-US" sz="2500" b="1">
                <a:ea typeface="华文新魏" pitchFamily="2" charset="-122"/>
                <a:cs typeface="楷体_GB2312" pitchFamily="49" charset="-122"/>
              </a:rPr>
              <a:t> </a:t>
            </a:r>
            <a:r>
              <a:rPr lang="en-US" altLang="zh-CN" sz="2500" b="1">
                <a:ea typeface="华文新魏" pitchFamily="2" charset="-122"/>
                <a:cs typeface="楷体_GB2312" pitchFamily="49" charset="-122"/>
              </a:rPr>
              <a:t>= </a:t>
            </a:r>
            <a:r>
              <a:rPr lang="en-US" altLang="zh-CN" sz="2500" b="1" i="1">
                <a:ea typeface="华文新魏" pitchFamily="2" charset="-122"/>
                <a:cs typeface="楷体_GB2312" pitchFamily="49" charset="-122"/>
              </a:rPr>
              <a:t>n</a:t>
            </a:r>
            <a:r>
              <a:rPr lang="en-US" altLang="zh-CN" sz="2500" b="1" baseline="-25000">
                <a:ea typeface="华文新魏" pitchFamily="2" charset="-122"/>
                <a:cs typeface="楷体_GB2312" pitchFamily="49" charset="-122"/>
              </a:rPr>
              <a:t>Hg</a:t>
            </a:r>
            <a:r>
              <a:rPr lang="en-US" altLang="zh-CN" sz="2500" b="1" baseline="-8000">
                <a:ea typeface="华文新魏" pitchFamily="2" charset="-122"/>
                <a:cs typeface="楷体_GB2312" pitchFamily="49" charset="-122"/>
              </a:rPr>
              <a:t>2+</a:t>
            </a:r>
            <a:r>
              <a:rPr lang="en-US" altLang="zh-CN" sz="2500" b="1">
                <a:ea typeface="华文新魏" pitchFamily="2" charset="-122"/>
                <a:cs typeface="楷体_GB2312" pitchFamily="49" charset="-122"/>
              </a:rPr>
              <a:t> – </a:t>
            </a:r>
            <a:r>
              <a:rPr lang="en-US" altLang="zh-CN" sz="2500" b="1" i="1">
                <a:ea typeface="华文新魏" pitchFamily="2" charset="-122"/>
                <a:cs typeface="楷体_GB2312" pitchFamily="49" charset="-122"/>
              </a:rPr>
              <a:t>n</a:t>
            </a:r>
            <a:r>
              <a:rPr lang="en-US" altLang="zh-CN" sz="2500" b="1" baseline="-25000">
                <a:ea typeface="华文新魏" pitchFamily="2" charset="-122"/>
                <a:cs typeface="楷体_GB2312" pitchFamily="49" charset="-122"/>
              </a:rPr>
              <a:t>Mg</a:t>
            </a:r>
            <a:r>
              <a:rPr lang="en-US" altLang="zh-CN" sz="2500" b="1" baseline="-8000">
                <a:ea typeface="华文新魏" pitchFamily="2" charset="-122"/>
                <a:cs typeface="楷体_GB2312" pitchFamily="49" charset="-122"/>
              </a:rPr>
              <a:t>2+</a:t>
            </a:r>
            <a:endParaRPr lang="en-US" altLang="zh-CN" sz="2500" b="1">
              <a:ea typeface="华文新魏" pitchFamily="2" charset="-122"/>
              <a:cs typeface="楷体_GB2312" pitchFamily="49" charset="-122"/>
            </a:endParaRPr>
          </a:p>
          <a:p>
            <a:r>
              <a:rPr lang="en-US" altLang="zh-CN" sz="2500" b="1" i="1">
                <a:ea typeface="华文新魏" pitchFamily="2" charset="-122"/>
                <a:cs typeface="楷体_GB2312" pitchFamily="49" charset="-122"/>
              </a:rPr>
              <a:t>n</a:t>
            </a:r>
            <a:r>
              <a:rPr lang="en-US" altLang="zh-CN" sz="2500" b="1">
                <a:ea typeface="华文新魏" pitchFamily="2" charset="-122"/>
                <a:cs typeface="楷体_GB2312" pitchFamily="49" charset="-122"/>
              </a:rPr>
              <a:t>(Mg</a:t>
            </a:r>
            <a:r>
              <a:rPr lang="en-US" altLang="zh-CN" sz="2500" b="1" baseline="30000">
                <a:ea typeface="华文新魏" pitchFamily="2" charset="-122"/>
                <a:cs typeface="楷体_GB2312" pitchFamily="49" charset="-122"/>
              </a:rPr>
              <a:t>2+</a:t>
            </a:r>
            <a:r>
              <a:rPr lang="en-US" altLang="zh-CN" sz="2500" b="1">
                <a:ea typeface="华文新魏" pitchFamily="2" charset="-122"/>
                <a:cs typeface="楷体_GB2312" pitchFamily="49" charset="-122"/>
              </a:rPr>
              <a:t>) = </a:t>
            </a:r>
            <a:r>
              <a:rPr lang="en-US" altLang="zh-CN" sz="2500" b="1" i="1">
                <a:ea typeface="华文新魏" pitchFamily="2" charset="-122"/>
                <a:cs typeface="楷体_GB2312" pitchFamily="49" charset="-122"/>
              </a:rPr>
              <a:t>n</a:t>
            </a:r>
            <a:r>
              <a:rPr lang="en-US" altLang="zh-CN" sz="2500" b="1">
                <a:ea typeface="华文新魏" pitchFamily="2" charset="-122"/>
                <a:cs typeface="楷体_GB2312" pitchFamily="49" charset="-122"/>
              </a:rPr>
              <a:t>(EDTA)                   </a:t>
            </a:r>
          </a:p>
        </p:txBody>
      </p:sp>
      <p:sp>
        <p:nvSpPr>
          <p:cNvPr id="7" name="Rectangle 22"/>
          <p:cNvSpPr>
            <a:spLocks noChangeArrowheads="1"/>
          </p:cNvSpPr>
          <p:nvPr/>
        </p:nvSpPr>
        <p:spPr bwMode="auto">
          <a:xfrm>
            <a:off x="4618038" y="1096963"/>
            <a:ext cx="683895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Hg</a:t>
            </a:r>
            <a:r>
              <a:rPr lang="en-US" altLang="zh-CN" sz="2500" b="1" baseline="3000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2+</a:t>
            </a:r>
            <a:r>
              <a:rPr lang="en-US" altLang="zh-CN" sz="2500" b="1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(</a:t>
            </a:r>
            <a:r>
              <a:rPr lang="zh-CN" altLang="en-US" sz="2500" b="1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过量</a:t>
            </a:r>
            <a:r>
              <a:rPr lang="en-US" altLang="zh-CN" sz="2500" b="1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)  +  2C</a:t>
            </a:r>
            <a:r>
              <a:rPr lang="en-US" altLang="zh-CN" sz="2500" b="1" baseline="-2500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12</a:t>
            </a:r>
            <a:r>
              <a:rPr lang="en-US" altLang="zh-CN" sz="2500" b="1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H</a:t>
            </a:r>
            <a:r>
              <a:rPr lang="en-US" altLang="zh-CN" sz="2500" b="1" baseline="-2500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11</a:t>
            </a:r>
            <a:r>
              <a:rPr lang="en-US" altLang="zh-CN" sz="2500" b="1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N</a:t>
            </a:r>
            <a:r>
              <a:rPr lang="en-US" altLang="zh-CN" sz="2500" b="1" baseline="-2500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2</a:t>
            </a:r>
            <a:r>
              <a:rPr lang="en-US" altLang="zh-CN" sz="2500" b="1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O</a:t>
            </a:r>
            <a:r>
              <a:rPr lang="en-US" altLang="zh-CN" sz="2500" b="1" baseline="-2500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3</a:t>
            </a:r>
            <a:r>
              <a:rPr lang="en-US" altLang="zh-CN" sz="2500" b="1" baseline="3000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-</a:t>
            </a:r>
            <a:r>
              <a:rPr lang="en-US" altLang="zh-CN" sz="2500" b="1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 = Hg(C</a:t>
            </a:r>
            <a:r>
              <a:rPr lang="en-US" altLang="zh-CN" sz="2500" b="1" baseline="-2500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12</a:t>
            </a:r>
            <a:r>
              <a:rPr lang="en-US" altLang="zh-CN" sz="2500" b="1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H</a:t>
            </a:r>
            <a:r>
              <a:rPr lang="en-US" altLang="zh-CN" sz="2500" b="1" baseline="-2500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11</a:t>
            </a:r>
            <a:r>
              <a:rPr lang="en-US" altLang="zh-CN" sz="2500" b="1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N</a:t>
            </a:r>
            <a:r>
              <a:rPr lang="en-US" altLang="zh-CN" sz="2500" b="1" baseline="-2500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2</a:t>
            </a:r>
            <a:r>
              <a:rPr lang="en-US" altLang="zh-CN" sz="2500" b="1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O</a:t>
            </a:r>
            <a:r>
              <a:rPr lang="en-US" altLang="zh-CN" sz="2500" b="1" baseline="-2500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3</a:t>
            </a:r>
            <a:r>
              <a:rPr lang="en-US" altLang="zh-CN" sz="2500" b="1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)</a:t>
            </a:r>
            <a:r>
              <a:rPr lang="en-US" altLang="zh-CN" sz="2500" b="1" baseline="-2500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2</a:t>
            </a:r>
            <a:r>
              <a:rPr lang="en-US" altLang="zh-CN" sz="2500" b="1">
                <a:ea typeface="华文新魏" pitchFamily="2" charset="-122"/>
                <a:cs typeface="楷体_GB2312" pitchFamily="49" charset="-122"/>
              </a:rPr>
              <a:t>↓</a:t>
            </a:r>
          </a:p>
        </p:txBody>
      </p:sp>
      <p:sp>
        <p:nvSpPr>
          <p:cNvPr id="8" name="Rectangle 23"/>
          <p:cNvSpPr>
            <a:spLocks noChangeArrowheads="1"/>
          </p:cNvSpPr>
          <p:nvPr/>
        </p:nvSpPr>
        <p:spPr bwMode="auto">
          <a:xfrm>
            <a:off x="4475163" y="2097088"/>
            <a:ext cx="509270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华文新魏" pitchFamily="2" charset="-122"/>
                <a:cs typeface="楷体_GB2312" pitchFamily="49" charset="-122"/>
              </a:rPr>
              <a:t>Hg</a:t>
            </a:r>
            <a:r>
              <a:rPr lang="en-US" altLang="zh-CN" sz="2500" b="1" baseline="30000">
                <a:ea typeface="华文新魏" pitchFamily="2" charset="-122"/>
                <a:cs typeface="楷体_GB2312" pitchFamily="49" charset="-122"/>
              </a:rPr>
              <a:t>2+</a:t>
            </a:r>
            <a:r>
              <a:rPr lang="en-US" altLang="zh-CN" sz="2500" b="1">
                <a:ea typeface="华文新魏" pitchFamily="2" charset="-122"/>
                <a:cs typeface="楷体_GB2312" pitchFamily="49" charset="-122"/>
              </a:rPr>
              <a:t>(</a:t>
            </a:r>
            <a:r>
              <a:rPr lang="zh-CN" altLang="en-US" sz="2500" b="1">
                <a:ea typeface="华文新魏" pitchFamily="2" charset="-122"/>
                <a:cs typeface="楷体_GB2312" pitchFamily="49" charset="-122"/>
              </a:rPr>
              <a:t>剩余</a:t>
            </a:r>
            <a:r>
              <a:rPr lang="en-US" altLang="zh-CN" sz="2500" b="1">
                <a:ea typeface="华文新魏" pitchFamily="2" charset="-122"/>
                <a:cs typeface="楷体_GB2312" pitchFamily="49" charset="-122"/>
              </a:rPr>
              <a:t>) + MgY</a:t>
            </a:r>
            <a:r>
              <a:rPr lang="en-US" altLang="zh-CN" sz="2500" b="1" baseline="30000">
                <a:ea typeface="华文新魏" pitchFamily="2" charset="-122"/>
                <a:cs typeface="楷体_GB2312" pitchFamily="49" charset="-122"/>
              </a:rPr>
              <a:t>2-</a:t>
            </a:r>
            <a:r>
              <a:rPr lang="en-US" altLang="zh-CN" sz="2500" b="1">
                <a:ea typeface="华文新魏" pitchFamily="2" charset="-122"/>
                <a:cs typeface="楷体_GB2312" pitchFamily="49" charset="-122"/>
              </a:rPr>
              <a:t> = HgY</a:t>
            </a:r>
            <a:r>
              <a:rPr lang="en-US" altLang="zh-CN" sz="2500" b="1" baseline="30000">
                <a:ea typeface="华文新魏" pitchFamily="2" charset="-122"/>
                <a:cs typeface="楷体_GB2312" pitchFamily="49" charset="-122"/>
              </a:rPr>
              <a:t>2-</a:t>
            </a:r>
            <a:r>
              <a:rPr lang="en-US" altLang="zh-CN" sz="2500" b="1">
                <a:ea typeface="华文新魏" pitchFamily="2" charset="-122"/>
                <a:cs typeface="楷体_GB2312" pitchFamily="49" charset="-122"/>
              </a:rPr>
              <a:t> + Mg</a:t>
            </a:r>
            <a:r>
              <a:rPr lang="en-US" altLang="zh-CN" sz="2500" b="1" baseline="30000">
                <a:ea typeface="华文新魏" pitchFamily="2" charset="-122"/>
                <a:cs typeface="楷体_GB2312" pitchFamily="49" charset="-122"/>
              </a:rPr>
              <a:t>2+</a:t>
            </a:r>
            <a:endParaRPr lang="en-US" altLang="zh-CN" sz="2500" b="1">
              <a:ea typeface="华文新魏" pitchFamily="2" charset="-122"/>
              <a:cs typeface="楷体_GB2312" pitchFamily="49" charset="-122"/>
            </a:endParaRPr>
          </a:p>
        </p:txBody>
      </p:sp>
      <p:sp>
        <p:nvSpPr>
          <p:cNvPr id="9" name="Rectangle 24"/>
          <p:cNvSpPr>
            <a:spLocks noChangeArrowheads="1"/>
          </p:cNvSpPr>
          <p:nvPr/>
        </p:nvSpPr>
        <p:spPr bwMode="auto">
          <a:xfrm>
            <a:off x="4117975" y="3597275"/>
            <a:ext cx="6858000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500" b="1" dirty="0">
                <a:solidFill>
                  <a:srgbClr val="FFFF00"/>
                </a:solidFill>
                <a:ea typeface="华文新魏" pitchFamily="2" charset="-122"/>
                <a:cs typeface="楷体_GB2312"/>
              </a:rPr>
              <a:t>∴</a:t>
            </a:r>
            <a:r>
              <a:rPr lang="en-US" altLang="zh-CN" sz="2500" b="1" i="1" dirty="0">
                <a:solidFill>
                  <a:srgbClr val="FFFF00"/>
                </a:solidFill>
                <a:ea typeface="华文新魏" pitchFamily="2" charset="-122"/>
                <a:cs typeface="楷体_GB2312"/>
              </a:rPr>
              <a:t>n</a:t>
            </a:r>
            <a:r>
              <a:rPr lang="en-US" altLang="zh-CN" sz="2500" b="1" dirty="0">
                <a:solidFill>
                  <a:srgbClr val="FFFF00"/>
                </a:solidFill>
                <a:ea typeface="华文新魏" pitchFamily="2" charset="-122"/>
                <a:cs typeface="楷体_GB2312"/>
              </a:rPr>
              <a:t>(C</a:t>
            </a:r>
            <a:r>
              <a:rPr lang="en-US" altLang="zh-CN" sz="2500" b="1" baseline="-25000" dirty="0">
                <a:solidFill>
                  <a:srgbClr val="FFFF00"/>
                </a:solidFill>
                <a:ea typeface="华文新魏" pitchFamily="2" charset="-122"/>
                <a:cs typeface="楷体_GB2312"/>
              </a:rPr>
              <a:t>12</a:t>
            </a:r>
            <a:r>
              <a:rPr lang="en-US" altLang="zh-CN" sz="2500" b="1" dirty="0">
                <a:solidFill>
                  <a:srgbClr val="FFFF00"/>
                </a:solidFill>
                <a:ea typeface="华文新魏" pitchFamily="2" charset="-122"/>
                <a:cs typeface="楷体_GB2312"/>
              </a:rPr>
              <a:t>H</a:t>
            </a:r>
            <a:r>
              <a:rPr lang="en-US" altLang="zh-CN" sz="2500" b="1" baseline="-25000" dirty="0">
                <a:solidFill>
                  <a:srgbClr val="FFFF00"/>
                </a:solidFill>
                <a:ea typeface="华文新魏" pitchFamily="2" charset="-122"/>
                <a:cs typeface="楷体_GB2312"/>
              </a:rPr>
              <a:t>11</a:t>
            </a:r>
            <a:r>
              <a:rPr lang="en-US" altLang="zh-CN" sz="2500" b="1" dirty="0">
                <a:solidFill>
                  <a:srgbClr val="FFFF00"/>
                </a:solidFill>
                <a:ea typeface="华文新魏" pitchFamily="2" charset="-122"/>
                <a:cs typeface="楷体_GB2312"/>
              </a:rPr>
              <a:t>N</a:t>
            </a:r>
            <a:r>
              <a:rPr lang="en-US" altLang="zh-CN" sz="2500" b="1" baseline="-25000" dirty="0">
                <a:solidFill>
                  <a:srgbClr val="FFFF00"/>
                </a:solidFill>
                <a:ea typeface="华文新魏" pitchFamily="2" charset="-122"/>
                <a:cs typeface="楷体_GB2312"/>
              </a:rPr>
              <a:t>2</a:t>
            </a:r>
            <a:r>
              <a:rPr lang="en-US" altLang="zh-CN" sz="2500" b="1" dirty="0">
                <a:solidFill>
                  <a:srgbClr val="FFFF00"/>
                </a:solidFill>
                <a:ea typeface="华文新魏" pitchFamily="2" charset="-122"/>
                <a:cs typeface="楷体_GB2312"/>
              </a:rPr>
              <a:t>O</a:t>
            </a:r>
            <a:r>
              <a:rPr lang="en-US" altLang="zh-CN" sz="2500" b="1" baseline="-25000" dirty="0">
                <a:solidFill>
                  <a:srgbClr val="FFFF00"/>
                </a:solidFill>
                <a:ea typeface="华文新魏" pitchFamily="2" charset="-122"/>
                <a:cs typeface="楷体_GB2312"/>
              </a:rPr>
              <a:t>3</a:t>
            </a:r>
            <a:r>
              <a:rPr lang="en-US" altLang="zh-CN" sz="2500" b="1" dirty="0">
                <a:solidFill>
                  <a:srgbClr val="FFFF00"/>
                </a:solidFill>
                <a:ea typeface="华文新魏" pitchFamily="2" charset="-122"/>
                <a:cs typeface="楷体_GB2312"/>
              </a:rPr>
              <a:t>Na) = 2[</a:t>
            </a:r>
            <a:r>
              <a:rPr lang="en-US" altLang="zh-CN" sz="2500" b="1" i="1" dirty="0">
                <a:solidFill>
                  <a:srgbClr val="FFFF00"/>
                </a:solidFill>
                <a:ea typeface="华文新魏" pitchFamily="2" charset="-122"/>
                <a:cs typeface="楷体_GB2312"/>
              </a:rPr>
              <a:t>n</a:t>
            </a:r>
            <a:r>
              <a:rPr lang="en-US" altLang="zh-CN" sz="2500" b="1" baseline="-25000" dirty="0">
                <a:solidFill>
                  <a:srgbClr val="FFFF00"/>
                </a:solidFill>
                <a:ea typeface="华文新魏" pitchFamily="2" charset="-122"/>
                <a:cs typeface="楷体_GB2312"/>
              </a:rPr>
              <a:t>Hg</a:t>
            </a:r>
            <a:r>
              <a:rPr lang="en-US" altLang="zh-CN" sz="2500" b="1" baseline="-8000" dirty="0">
                <a:solidFill>
                  <a:srgbClr val="FFFF00"/>
                </a:solidFill>
                <a:ea typeface="华文新魏" pitchFamily="2" charset="-122"/>
                <a:cs typeface="楷体_GB2312"/>
              </a:rPr>
              <a:t>2+</a:t>
            </a:r>
            <a:r>
              <a:rPr lang="en-US" altLang="zh-CN" sz="2500" b="1" dirty="0">
                <a:solidFill>
                  <a:srgbClr val="FFFF00"/>
                </a:solidFill>
                <a:ea typeface="华文新魏" pitchFamily="2" charset="-122"/>
                <a:cs typeface="楷体_GB2312"/>
              </a:rPr>
              <a:t> - (250/25)</a:t>
            </a:r>
            <a:r>
              <a:rPr lang="en-US" altLang="zh-CN" sz="2500" b="1" i="1" dirty="0" err="1">
                <a:solidFill>
                  <a:srgbClr val="FFFF00"/>
                </a:solidFill>
                <a:ea typeface="华文新魏" pitchFamily="2" charset="-122"/>
                <a:cs typeface="楷体_GB2312"/>
              </a:rPr>
              <a:t>n</a:t>
            </a:r>
            <a:r>
              <a:rPr lang="en-US" altLang="zh-CN" sz="2500" b="1" baseline="-25000" dirty="0" err="1">
                <a:solidFill>
                  <a:srgbClr val="FFFF00"/>
                </a:solidFill>
                <a:ea typeface="华文新魏" pitchFamily="2" charset="-122"/>
                <a:cs typeface="楷体_GB2312"/>
              </a:rPr>
              <a:t>EDTA</a:t>
            </a:r>
            <a:r>
              <a:rPr lang="en-US" altLang="zh-CN" sz="2500" b="1" dirty="0">
                <a:solidFill>
                  <a:srgbClr val="FFFF00"/>
                </a:solidFill>
                <a:ea typeface="华文新魏" pitchFamily="2" charset="-122"/>
                <a:cs typeface="楷体_GB2312"/>
              </a:rPr>
              <a:t>]</a:t>
            </a:r>
          </a:p>
        </p:txBody>
      </p:sp>
      <p:sp>
        <p:nvSpPr>
          <p:cNvPr id="10" name="Rectangle 25"/>
          <p:cNvSpPr>
            <a:spLocks noChangeArrowheads="1"/>
          </p:cNvSpPr>
          <p:nvPr/>
        </p:nvSpPr>
        <p:spPr bwMode="auto">
          <a:xfrm>
            <a:off x="6046788" y="1597025"/>
            <a:ext cx="282575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华文新魏" pitchFamily="2" charset="-122"/>
                <a:cs typeface="楷体_GB2312" pitchFamily="49" charset="-122"/>
              </a:rPr>
              <a:t>= </a:t>
            </a:r>
            <a:r>
              <a:rPr lang="en-US" altLang="zh-CN" sz="2500" b="1" i="1">
                <a:ea typeface="华文新魏" pitchFamily="2" charset="-122"/>
                <a:cs typeface="楷体_GB2312" pitchFamily="49" charset="-122"/>
              </a:rPr>
              <a:t>n</a:t>
            </a:r>
            <a:r>
              <a:rPr lang="en-US" altLang="zh-CN" sz="2500" b="1">
                <a:ea typeface="华文新魏" pitchFamily="2" charset="-122"/>
                <a:cs typeface="楷体_GB2312" pitchFamily="49" charset="-122"/>
              </a:rPr>
              <a:t>(C</a:t>
            </a:r>
            <a:r>
              <a:rPr lang="en-US" altLang="zh-CN" sz="2500" b="1" baseline="-25000">
                <a:ea typeface="华文新魏" pitchFamily="2" charset="-122"/>
                <a:cs typeface="楷体_GB2312" pitchFamily="49" charset="-122"/>
              </a:rPr>
              <a:t>12</a:t>
            </a:r>
            <a:r>
              <a:rPr lang="en-US" altLang="zh-CN" sz="2500" b="1">
                <a:ea typeface="华文新魏" pitchFamily="2" charset="-122"/>
                <a:cs typeface="楷体_GB2312" pitchFamily="49" charset="-122"/>
              </a:rPr>
              <a:t>H</a:t>
            </a:r>
            <a:r>
              <a:rPr lang="en-US" altLang="zh-CN" sz="2500" b="1" baseline="-25000">
                <a:ea typeface="华文新魏" pitchFamily="2" charset="-122"/>
                <a:cs typeface="楷体_GB2312" pitchFamily="49" charset="-122"/>
              </a:rPr>
              <a:t>11</a:t>
            </a:r>
            <a:r>
              <a:rPr lang="en-US" altLang="zh-CN" sz="2500" b="1">
                <a:ea typeface="华文新魏" pitchFamily="2" charset="-122"/>
                <a:cs typeface="楷体_GB2312" pitchFamily="49" charset="-122"/>
              </a:rPr>
              <a:t>N</a:t>
            </a:r>
            <a:r>
              <a:rPr lang="en-US" altLang="zh-CN" sz="2500" b="1" baseline="-25000">
                <a:ea typeface="华文新魏" pitchFamily="2" charset="-122"/>
                <a:cs typeface="楷体_GB2312" pitchFamily="49" charset="-122"/>
              </a:rPr>
              <a:t>2</a:t>
            </a:r>
            <a:r>
              <a:rPr lang="en-US" altLang="zh-CN" sz="2500" b="1">
                <a:ea typeface="华文新魏" pitchFamily="2" charset="-122"/>
                <a:cs typeface="楷体_GB2312" pitchFamily="49" charset="-122"/>
              </a:rPr>
              <a:t>O</a:t>
            </a:r>
            <a:r>
              <a:rPr lang="en-US" altLang="zh-CN" sz="2500" b="1" baseline="-25000">
                <a:ea typeface="华文新魏" pitchFamily="2" charset="-122"/>
                <a:cs typeface="楷体_GB2312" pitchFamily="49" charset="-122"/>
              </a:rPr>
              <a:t>3</a:t>
            </a:r>
            <a:r>
              <a:rPr lang="en-US" altLang="zh-CN" sz="2500" b="1">
                <a:ea typeface="华文新魏" pitchFamily="2" charset="-122"/>
                <a:cs typeface="楷体_GB2312" pitchFamily="49" charset="-122"/>
              </a:rPr>
              <a:t>Na)</a:t>
            </a:r>
          </a:p>
        </p:txBody>
      </p:sp>
      <p:sp>
        <p:nvSpPr>
          <p:cNvPr id="11" name="Rectangle 26"/>
          <p:cNvSpPr>
            <a:spLocks noChangeArrowheads="1"/>
          </p:cNvSpPr>
          <p:nvPr/>
        </p:nvSpPr>
        <p:spPr bwMode="auto">
          <a:xfrm>
            <a:off x="4403725" y="1597025"/>
            <a:ext cx="18034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华文新魏" pitchFamily="2" charset="-122"/>
                <a:cs typeface="楷体_GB2312" pitchFamily="49" charset="-122"/>
              </a:rPr>
              <a:t>2</a:t>
            </a:r>
            <a:r>
              <a:rPr lang="en-US" altLang="zh-CN" sz="2500" b="1" i="1">
                <a:ea typeface="华文新魏" pitchFamily="2" charset="-122"/>
                <a:cs typeface="楷体_GB2312" pitchFamily="49" charset="-122"/>
              </a:rPr>
              <a:t>n</a:t>
            </a:r>
            <a:r>
              <a:rPr lang="en-US" altLang="zh-CN" sz="2500" b="1">
                <a:ea typeface="华文新魏" pitchFamily="2" charset="-122"/>
                <a:cs typeface="楷体_GB2312" pitchFamily="49" charset="-122"/>
              </a:rPr>
              <a:t>(Hg</a:t>
            </a:r>
            <a:r>
              <a:rPr lang="en-US" altLang="zh-CN" sz="2500" b="1" baseline="30000">
                <a:ea typeface="华文新魏" pitchFamily="2" charset="-122"/>
                <a:cs typeface="楷体_GB2312" pitchFamily="49" charset="-122"/>
              </a:rPr>
              <a:t>2+</a:t>
            </a:r>
            <a:r>
              <a:rPr lang="en-US" altLang="zh-CN" sz="2500" b="1">
                <a:ea typeface="华文新魏" pitchFamily="2" charset="-122"/>
                <a:cs typeface="楷体_GB2312" pitchFamily="49" charset="-122"/>
              </a:rPr>
              <a:t>)</a:t>
            </a:r>
            <a:r>
              <a:rPr lang="zh-CN" altLang="en-US" sz="2500" b="1" baseline="-25000">
                <a:ea typeface="华文新魏" pitchFamily="2" charset="-122"/>
                <a:cs typeface="楷体_GB2312" pitchFamily="49" charset="-122"/>
              </a:rPr>
              <a:t>实际</a:t>
            </a:r>
          </a:p>
        </p:txBody>
      </p:sp>
      <p:sp>
        <p:nvSpPr>
          <p:cNvPr id="6154" name="Rectangle 36"/>
          <p:cNvSpPr>
            <a:spLocks noChangeArrowheads="1"/>
          </p:cNvSpPr>
          <p:nvPr/>
        </p:nvSpPr>
        <p:spPr bwMode="auto">
          <a:xfrm>
            <a:off x="3832225" y="382567"/>
            <a:ext cx="1055688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500" b="1" dirty="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解</a:t>
            </a:r>
            <a:r>
              <a:rPr lang="en-US" altLang="zh-CN" sz="2500" b="1" dirty="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:</a:t>
            </a:r>
          </a:p>
        </p:txBody>
      </p:sp>
      <p:sp>
        <p:nvSpPr>
          <p:cNvPr id="6155" name="Rectangle 18"/>
          <p:cNvSpPr>
            <a:spLocks noChangeArrowheads="1"/>
          </p:cNvSpPr>
          <p:nvPr/>
        </p:nvSpPr>
        <p:spPr bwMode="auto">
          <a:xfrm>
            <a:off x="117475" y="311150"/>
            <a:ext cx="3214688" cy="563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 b="1" dirty="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例</a:t>
            </a:r>
            <a:r>
              <a:rPr lang="en-US" altLang="zh-CN" sz="2000" b="1" dirty="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4.</a:t>
            </a:r>
            <a:r>
              <a:rPr lang="zh-CN" altLang="en-US" sz="2000" b="1" dirty="0">
                <a:ea typeface="华文新魏" pitchFamily="2" charset="-122"/>
                <a:cs typeface="楷体_GB2312" pitchFamily="49" charset="-122"/>
              </a:rPr>
              <a:t>称取苯巴比妥钠</a:t>
            </a:r>
            <a:r>
              <a:rPr lang="en-US" altLang="zh-CN" sz="2000" b="1" dirty="0">
                <a:ea typeface="华文新魏" pitchFamily="2" charset="-122"/>
                <a:cs typeface="楷体_GB2312" pitchFamily="49" charset="-122"/>
              </a:rPr>
              <a:t>(C</a:t>
            </a:r>
            <a:r>
              <a:rPr lang="en-US" altLang="zh-CN" sz="2000" b="1" baseline="-25000" dirty="0">
                <a:ea typeface="华文新魏" pitchFamily="2" charset="-122"/>
                <a:cs typeface="楷体_GB2312" pitchFamily="49" charset="-122"/>
              </a:rPr>
              <a:t>12</a:t>
            </a:r>
            <a:r>
              <a:rPr lang="en-US" altLang="zh-CN" sz="2000" b="1" dirty="0">
                <a:ea typeface="华文新魏" pitchFamily="2" charset="-122"/>
                <a:cs typeface="楷体_GB2312" pitchFamily="49" charset="-122"/>
              </a:rPr>
              <a:t>H</a:t>
            </a:r>
            <a:r>
              <a:rPr lang="en-US" altLang="zh-CN" sz="2000" b="1" baseline="-25000" dirty="0">
                <a:ea typeface="华文新魏" pitchFamily="2" charset="-122"/>
                <a:cs typeface="楷体_GB2312" pitchFamily="49" charset="-122"/>
              </a:rPr>
              <a:t>11</a:t>
            </a:r>
            <a:r>
              <a:rPr lang="en-US" altLang="zh-CN" sz="2000" b="1" dirty="0">
                <a:ea typeface="华文新魏" pitchFamily="2" charset="-122"/>
                <a:cs typeface="楷体_GB2312" pitchFamily="49" charset="-122"/>
              </a:rPr>
              <a:t>N</a:t>
            </a:r>
            <a:r>
              <a:rPr lang="en-US" altLang="zh-CN" sz="2000" b="1" baseline="-25000" dirty="0">
                <a:ea typeface="华文新魏" pitchFamily="2" charset="-122"/>
                <a:cs typeface="楷体_GB2312" pitchFamily="49" charset="-122"/>
              </a:rPr>
              <a:t>2</a:t>
            </a:r>
            <a:r>
              <a:rPr lang="en-US" altLang="zh-CN" sz="2000" b="1" dirty="0">
                <a:ea typeface="华文新魏" pitchFamily="2" charset="-122"/>
                <a:cs typeface="楷体_GB2312" pitchFamily="49" charset="-122"/>
              </a:rPr>
              <a:t>O</a:t>
            </a:r>
            <a:r>
              <a:rPr lang="en-US" altLang="zh-CN" sz="2000" b="1" baseline="-25000" dirty="0">
                <a:ea typeface="华文新魏" pitchFamily="2" charset="-122"/>
                <a:cs typeface="楷体_GB2312" pitchFamily="49" charset="-122"/>
              </a:rPr>
              <a:t>3</a:t>
            </a:r>
            <a:r>
              <a:rPr lang="en-US" altLang="zh-CN" sz="2000" b="1" dirty="0">
                <a:ea typeface="华文新魏" pitchFamily="2" charset="-122"/>
                <a:cs typeface="楷体_GB2312" pitchFamily="49" charset="-122"/>
              </a:rPr>
              <a:t>Na)0.2000g,</a:t>
            </a:r>
            <a:r>
              <a:rPr lang="zh-CN" altLang="en-US" sz="2000" b="1" dirty="0">
                <a:ea typeface="华文新魏" pitchFamily="2" charset="-122"/>
                <a:cs typeface="楷体_GB2312" pitchFamily="49" charset="-122"/>
              </a:rPr>
              <a:t>于稀碱溶液中加热溶解</a:t>
            </a:r>
            <a:r>
              <a:rPr lang="en-US" altLang="zh-CN" sz="2000" b="1" dirty="0">
                <a:ea typeface="华文新魏" pitchFamily="2" charset="-122"/>
                <a:cs typeface="楷体_GB2312" pitchFamily="49" charset="-122"/>
              </a:rPr>
              <a:t>,</a:t>
            </a:r>
            <a:r>
              <a:rPr lang="zh-CN" altLang="en-US" sz="2000" b="1" dirty="0">
                <a:ea typeface="华文新魏" pitchFamily="2" charset="-122"/>
                <a:cs typeface="楷体_GB2312" pitchFamily="49" charset="-122"/>
              </a:rPr>
              <a:t>以醋酸酸化后转入</a:t>
            </a:r>
            <a:r>
              <a:rPr lang="en-US" altLang="zh-CN" sz="2000" b="1" dirty="0">
                <a:ea typeface="华文新魏" pitchFamily="2" charset="-122"/>
                <a:cs typeface="楷体_GB2312" pitchFamily="49" charset="-122"/>
              </a:rPr>
              <a:t>250mL</a:t>
            </a:r>
            <a:r>
              <a:rPr lang="zh-CN" altLang="en-US" sz="2000" b="1" dirty="0">
                <a:ea typeface="华文新魏" pitchFamily="2" charset="-122"/>
                <a:cs typeface="楷体_GB2312" pitchFamily="49" charset="-122"/>
              </a:rPr>
              <a:t>容量瓶中</a:t>
            </a:r>
            <a:r>
              <a:rPr lang="en-US" altLang="zh-CN" sz="2000" b="1" dirty="0">
                <a:ea typeface="华文新魏" pitchFamily="2" charset="-122"/>
                <a:cs typeface="楷体_GB2312" pitchFamily="49" charset="-122"/>
              </a:rPr>
              <a:t>,</a:t>
            </a:r>
            <a:r>
              <a:rPr lang="zh-CN" altLang="en-US" sz="2000" b="1" dirty="0">
                <a:ea typeface="华文新魏" pitchFamily="2" charset="-122"/>
                <a:cs typeface="楷体_GB2312" pitchFamily="49" charset="-122"/>
              </a:rPr>
              <a:t>加入</a:t>
            </a:r>
            <a:r>
              <a:rPr lang="en-US" altLang="zh-CN" sz="2000" b="1" dirty="0">
                <a:ea typeface="华文新魏" pitchFamily="2" charset="-122"/>
                <a:cs typeface="楷体_GB2312" pitchFamily="49" charset="-122"/>
              </a:rPr>
              <a:t>25.00mL 0.03000 mol·L</a:t>
            </a:r>
            <a:r>
              <a:rPr lang="en-US" altLang="zh-CN" sz="2000" b="1" baseline="30000" dirty="0">
                <a:ea typeface="华文新魏" pitchFamily="2" charset="-122"/>
                <a:cs typeface="楷体_GB2312" pitchFamily="49" charset="-122"/>
              </a:rPr>
              <a:t>-1</a:t>
            </a:r>
            <a:r>
              <a:rPr lang="en-US" altLang="zh-CN" sz="2000" b="1" dirty="0">
                <a:ea typeface="华文新魏" pitchFamily="2" charset="-122"/>
                <a:cs typeface="楷体_GB2312" pitchFamily="49" charset="-122"/>
              </a:rPr>
              <a:t>Hg</a:t>
            </a:r>
            <a:r>
              <a:rPr lang="en-US" altLang="zh-CN" sz="2000" b="1" baseline="30000" dirty="0">
                <a:ea typeface="华文新魏" pitchFamily="2" charset="-122"/>
                <a:cs typeface="楷体_GB2312" pitchFamily="49" charset="-122"/>
              </a:rPr>
              <a:t>2+</a:t>
            </a:r>
            <a:r>
              <a:rPr lang="zh-CN" altLang="en-US" sz="2000" b="1" dirty="0">
                <a:ea typeface="华文新魏" pitchFamily="2" charset="-122"/>
                <a:cs typeface="楷体_GB2312" pitchFamily="49" charset="-122"/>
              </a:rPr>
              <a:t>溶液</a:t>
            </a:r>
            <a:r>
              <a:rPr lang="en-US" altLang="zh-CN" sz="2000" b="1" dirty="0">
                <a:ea typeface="华文新魏" pitchFamily="2" charset="-122"/>
                <a:cs typeface="楷体_GB2312" pitchFamily="49" charset="-122"/>
              </a:rPr>
              <a:t>,</a:t>
            </a:r>
            <a:r>
              <a:rPr lang="zh-CN" altLang="en-US" sz="2000" b="1" dirty="0">
                <a:ea typeface="华文新魏" pitchFamily="2" charset="-122"/>
                <a:cs typeface="楷体_GB2312" pitchFamily="49" charset="-122"/>
              </a:rPr>
              <a:t>稀至刻度</a:t>
            </a:r>
            <a:r>
              <a:rPr lang="en-US" altLang="zh-CN" sz="2000" b="1" dirty="0">
                <a:ea typeface="华文新魏" pitchFamily="2" charset="-122"/>
                <a:cs typeface="楷体_GB2312" pitchFamily="49" charset="-122"/>
              </a:rPr>
              <a:t>.</a:t>
            </a:r>
            <a:r>
              <a:rPr lang="zh-CN" altLang="en-US" sz="2000" b="1" dirty="0">
                <a:ea typeface="华文新魏" pitchFamily="2" charset="-122"/>
                <a:cs typeface="楷体_GB2312" pitchFamily="49" charset="-122"/>
              </a:rPr>
              <a:t>放置使下述反应完全</a:t>
            </a:r>
            <a:r>
              <a:rPr lang="en-US" altLang="zh-CN" sz="2000" b="1" dirty="0">
                <a:ea typeface="华文新魏" pitchFamily="2" charset="-122"/>
                <a:cs typeface="楷体_GB2312" pitchFamily="49" charset="-122"/>
              </a:rPr>
              <a:t>:</a:t>
            </a:r>
          </a:p>
          <a:p>
            <a:r>
              <a:rPr lang="en-US" altLang="zh-CN" sz="2000" b="1" dirty="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Hg</a:t>
            </a:r>
            <a:r>
              <a:rPr lang="en-US" altLang="zh-CN" sz="2000" b="1" baseline="30000" dirty="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2+</a:t>
            </a:r>
            <a:r>
              <a:rPr lang="en-US" altLang="zh-CN" sz="2000" b="1" dirty="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 + 2C</a:t>
            </a:r>
            <a:r>
              <a:rPr lang="en-US" altLang="zh-CN" sz="2000" b="1" baseline="-25000" dirty="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12</a:t>
            </a:r>
            <a:r>
              <a:rPr lang="en-US" altLang="zh-CN" sz="2000" b="1" dirty="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H</a:t>
            </a:r>
            <a:r>
              <a:rPr lang="en-US" altLang="zh-CN" sz="2000" b="1" baseline="-25000" dirty="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11</a:t>
            </a:r>
            <a:r>
              <a:rPr lang="en-US" altLang="zh-CN" sz="2000" b="1" dirty="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N</a:t>
            </a:r>
            <a:r>
              <a:rPr lang="en-US" altLang="zh-CN" sz="2000" b="1" baseline="-25000" dirty="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2</a:t>
            </a:r>
            <a:r>
              <a:rPr lang="en-US" altLang="zh-CN" sz="2000" b="1" dirty="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O</a:t>
            </a:r>
            <a:r>
              <a:rPr lang="en-US" altLang="zh-CN" sz="2000" b="1" baseline="-25000" dirty="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3</a:t>
            </a:r>
            <a:r>
              <a:rPr lang="en-US" altLang="zh-CN" sz="2000" b="1" baseline="30000" dirty="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-</a:t>
            </a:r>
            <a:r>
              <a:rPr lang="en-US" altLang="zh-CN" sz="2000" b="1" dirty="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 = Hg(C</a:t>
            </a:r>
            <a:r>
              <a:rPr lang="en-US" altLang="zh-CN" sz="2000" b="1" baseline="-25000" dirty="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12</a:t>
            </a:r>
            <a:r>
              <a:rPr lang="en-US" altLang="zh-CN" sz="2000" b="1" dirty="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H</a:t>
            </a:r>
            <a:r>
              <a:rPr lang="en-US" altLang="zh-CN" sz="2000" b="1" baseline="-25000" dirty="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11</a:t>
            </a:r>
            <a:r>
              <a:rPr lang="en-US" altLang="zh-CN" sz="2000" b="1" dirty="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N</a:t>
            </a:r>
            <a:r>
              <a:rPr lang="en-US" altLang="zh-CN" sz="2000" b="1" baseline="-25000" dirty="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2</a:t>
            </a:r>
            <a:r>
              <a:rPr lang="en-US" altLang="zh-CN" sz="2000" b="1" dirty="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O</a:t>
            </a:r>
            <a:r>
              <a:rPr lang="en-US" altLang="zh-CN" sz="2000" b="1" baseline="-25000" dirty="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3</a:t>
            </a:r>
            <a:r>
              <a:rPr lang="en-US" altLang="zh-CN" sz="2000" b="1" dirty="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)</a:t>
            </a:r>
            <a:r>
              <a:rPr lang="en-US" altLang="zh-CN" sz="2000" b="1" baseline="-25000" dirty="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2</a:t>
            </a:r>
            <a:r>
              <a:rPr lang="en-US" altLang="zh-CN" sz="2000" b="1" dirty="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↓</a:t>
            </a:r>
            <a:r>
              <a:rPr lang="zh-CN" altLang="en-US" sz="2000" b="1" dirty="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，</a:t>
            </a:r>
            <a:r>
              <a:rPr lang="zh-CN" altLang="en-US" sz="2000" b="1" dirty="0">
                <a:ea typeface="华文新魏" pitchFamily="2" charset="-122"/>
                <a:cs typeface="楷体_GB2312" pitchFamily="49" charset="-122"/>
              </a:rPr>
              <a:t>过滤弃去沉淀</a:t>
            </a:r>
            <a:r>
              <a:rPr lang="en-US" altLang="zh-CN" sz="2000" b="1" dirty="0">
                <a:ea typeface="华文新魏" pitchFamily="2" charset="-122"/>
                <a:cs typeface="楷体_GB2312" pitchFamily="49" charset="-122"/>
              </a:rPr>
              <a:t>,</a:t>
            </a:r>
            <a:r>
              <a:rPr lang="zh-CN" altLang="en-US" sz="2000" b="1" dirty="0">
                <a:ea typeface="华文新魏" pitchFamily="2" charset="-122"/>
                <a:cs typeface="楷体_GB2312" pitchFamily="49" charset="-122"/>
              </a:rPr>
              <a:t>滤液用干烧杯承接</a:t>
            </a:r>
            <a:r>
              <a:rPr lang="en-US" altLang="zh-CN" sz="2000" b="1" dirty="0">
                <a:ea typeface="华文新魏" pitchFamily="2" charset="-122"/>
                <a:cs typeface="楷体_GB2312" pitchFamily="49" charset="-122"/>
              </a:rPr>
              <a:t>,</a:t>
            </a:r>
            <a:r>
              <a:rPr lang="zh-CN" altLang="en-US" sz="2000" b="1" dirty="0">
                <a:ea typeface="华文新魏" pitchFamily="2" charset="-122"/>
                <a:cs typeface="楷体_GB2312" pitchFamily="49" charset="-122"/>
              </a:rPr>
              <a:t>移取</a:t>
            </a:r>
            <a:r>
              <a:rPr lang="en-US" altLang="zh-CN" sz="2000" b="1" dirty="0">
                <a:ea typeface="华文新魏" pitchFamily="2" charset="-122"/>
                <a:cs typeface="楷体_GB2312" pitchFamily="49" charset="-122"/>
              </a:rPr>
              <a:t>25.00 </a:t>
            </a:r>
            <a:r>
              <a:rPr lang="en-US" altLang="zh-CN" sz="2000" b="1" dirty="0" err="1">
                <a:ea typeface="华文新魏" pitchFamily="2" charset="-122"/>
                <a:cs typeface="楷体_GB2312" pitchFamily="49" charset="-122"/>
              </a:rPr>
              <a:t>mL</a:t>
            </a:r>
            <a:r>
              <a:rPr lang="zh-CN" altLang="en-US" sz="2000" b="1" dirty="0">
                <a:ea typeface="华文新魏" pitchFamily="2" charset="-122"/>
                <a:cs typeface="楷体_GB2312" pitchFamily="49" charset="-122"/>
              </a:rPr>
              <a:t>滤液</a:t>
            </a:r>
            <a:r>
              <a:rPr lang="en-US" altLang="zh-CN" sz="2000" b="1" dirty="0">
                <a:ea typeface="华文新魏" pitchFamily="2" charset="-122"/>
                <a:cs typeface="楷体_GB2312" pitchFamily="49" charset="-122"/>
              </a:rPr>
              <a:t>,</a:t>
            </a:r>
            <a:r>
              <a:rPr lang="zh-CN" altLang="en-US" sz="2000" b="1" dirty="0">
                <a:ea typeface="华文新魏" pitchFamily="2" charset="-122"/>
                <a:cs typeface="楷体_GB2312" pitchFamily="49" charset="-122"/>
              </a:rPr>
              <a:t>加入</a:t>
            </a:r>
            <a:r>
              <a:rPr lang="en-US" altLang="zh-CN" sz="2000" b="1" dirty="0">
                <a:ea typeface="华文新魏" pitchFamily="2" charset="-122"/>
                <a:cs typeface="楷体_GB2312" pitchFamily="49" charset="-122"/>
              </a:rPr>
              <a:t>10mL0.01 mol·L</a:t>
            </a:r>
            <a:r>
              <a:rPr lang="en-US" altLang="zh-CN" sz="2000" b="1" baseline="30000" dirty="0">
                <a:ea typeface="华文新魏" pitchFamily="2" charset="-122"/>
                <a:cs typeface="楷体_GB2312" pitchFamily="49" charset="-122"/>
              </a:rPr>
              <a:t>-1</a:t>
            </a:r>
            <a:r>
              <a:rPr lang="en-US" altLang="zh-CN" sz="2000" b="1" dirty="0">
                <a:ea typeface="华文新魏" pitchFamily="2" charset="-122"/>
                <a:cs typeface="楷体_GB2312" pitchFamily="49" charset="-122"/>
              </a:rPr>
              <a:t>MgY</a:t>
            </a:r>
            <a:r>
              <a:rPr lang="en-US" altLang="zh-CN" sz="2000" b="1" baseline="30000" dirty="0">
                <a:ea typeface="华文新魏" pitchFamily="2" charset="-122"/>
                <a:cs typeface="楷体_GB2312" pitchFamily="49" charset="-122"/>
              </a:rPr>
              <a:t>2-</a:t>
            </a:r>
            <a:r>
              <a:rPr lang="zh-CN" altLang="en-US" sz="2000" b="1" dirty="0">
                <a:ea typeface="华文新魏" pitchFamily="2" charset="-122"/>
                <a:cs typeface="楷体_GB2312" pitchFamily="49" charset="-122"/>
              </a:rPr>
              <a:t>溶液</a:t>
            </a:r>
            <a:r>
              <a:rPr lang="en-US" altLang="zh-CN" sz="2000" b="1" dirty="0">
                <a:ea typeface="华文新魏" pitchFamily="2" charset="-122"/>
                <a:cs typeface="楷体_GB2312" pitchFamily="49" charset="-122"/>
              </a:rPr>
              <a:t>,</a:t>
            </a:r>
            <a:r>
              <a:rPr lang="zh-CN" altLang="en-US" sz="2000" b="1" dirty="0">
                <a:ea typeface="华文新魏" pitchFamily="2" charset="-122"/>
                <a:cs typeface="楷体_GB2312" pitchFamily="49" charset="-122"/>
              </a:rPr>
              <a:t>释放出的</a:t>
            </a:r>
            <a:r>
              <a:rPr lang="en-US" altLang="zh-CN" sz="2000" b="1" dirty="0">
                <a:ea typeface="华文新魏" pitchFamily="2" charset="-122"/>
                <a:cs typeface="楷体_GB2312" pitchFamily="49" charset="-122"/>
              </a:rPr>
              <a:t>Mg</a:t>
            </a:r>
            <a:r>
              <a:rPr lang="en-US" altLang="zh-CN" sz="2000" b="1" baseline="30000" dirty="0">
                <a:ea typeface="华文新魏" pitchFamily="2" charset="-122"/>
                <a:cs typeface="楷体_GB2312" pitchFamily="49" charset="-122"/>
              </a:rPr>
              <a:t>2+</a:t>
            </a:r>
            <a:r>
              <a:rPr lang="zh-CN" altLang="en-US" sz="2000" b="1" dirty="0">
                <a:ea typeface="华文新魏" pitchFamily="2" charset="-122"/>
                <a:cs typeface="楷体_GB2312" pitchFamily="49" charset="-122"/>
              </a:rPr>
              <a:t>在</a:t>
            </a:r>
            <a:r>
              <a:rPr lang="en-US" altLang="zh-CN" sz="2000" b="1" dirty="0">
                <a:ea typeface="华文新魏" pitchFamily="2" charset="-122"/>
                <a:cs typeface="楷体_GB2312" pitchFamily="49" charset="-122"/>
              </a:rPr>
              <a:t>pH = 10</a:t>
            </a:r>
            <a:r>
              <a:rPr lang="zh-CN" altLang="en-US" sz="2000" b="1" dirty="0">
                <a:ea typeface="华文新魏" pitchFamily="2" charset="-122"/>
                <a:cs typeface="楷体_GB2312" pitchFamily="49" charset="-122"/>
              </a:rPr>
              <a:t>时以</a:t>
            </a:r>
            <a:r>
              <a:rPr lang="en-US" altLang="zh-CN" sz="2000" b="1" dirty="0">
                <a:ea typeface="华文新魏" pitchFamily="2" charset="-122"/>
                <a:cs typeface="楷体_GB2312" pitchFamily="49" charset="-122"/>
              </a:rPr>
              <a:t>EBT</a:t>
            </a:r>
            <a:r>
              <a:rPr lang="zh-CN" altLang="en-US" sz="2000" b="1" dirty="0">
                <a:ea typeface="华文新魏" pitchFamily="2" charset="-122"/>
                <a:cs typeface="楷体_GB2312" pitchFamily="49" charset="-122"/>
              </a:rPr>
              <a:t>为指示剂</a:t>
            </a:r>
            <a:r>
              <a:rPr lang="en-US" altLang="zh-CN" sz="2000" b="1" dirty="0">
                <a:ea typeface="华文新魏" pitchFamily="2" charset="-122"/>
                <a:cs typeface="楷体_GB2312" pitchFamily="49" charset="-122"/>
              </a:rPr>
              <a:t>,</a:t>
            </a:r>
            <a:r>
              <a:rPr lang="zh-CN" altLang="en-US" sz="2000" b="1" dirty="0">
                <a:ea typeface="华文新魏" pitchFamily="2" charset="-122"/>
                <a:cs typeface="楷体_GB2312" pitchFamily="49" charset="-122"/>
              </a:rPr>
              <a:t>用</a:t>
            </a:r>
            <a:r>
              <a:rPr lang="en-US" altLang="zh-CN" sz="2000" b="1" dirty="0">
                <a:ea typeface="华文新魏" pitchFamily="2" charset="-122"/>
                <a:cs typeface="楷体_GB2312" pitchFamily="49" charset="-122"/>
              </a:rPr>
              <a:t>0.01000 mol·L</a:t>
            </a:r>
            <a:r>
              <a:rPr lang="en-US" altLang="zh-CN" sz="2000" b="1" baseline="30000" dirty="0">
                <a:ea typeface="华文新魏" pitchFamily="2" charset="-122"/>
                <a:cs typeface="楷体_GB2312" pitchFamily="49" charset="-122"/>
              </a:rPr>
              <a:t>-1 </a:t>
            </a:r>
            <a:r>
              <a:rPr lang="en-US" altLang="zh-CN" sz="2000" b="1" dirty="0">
                <a:ea typeface="华文新魏" pitchFamily="2" charset="-122"/>
                <a:cs typeface="楷体_GB2312" pitchFamily="49" charset="-122"/>
              </a:rPr>
              <a:t>EDTA</a:t>
            </a:r>
            <a:r>
              <a:rPr lang="zh-CN" altLang="en-US" sz="2000" b="1" dirty="0">
                <a:ea typeface="华文新魏" pitchFamily="2" charset="-122"/>
                <a:cs typeface="楷体_GB2312" pitchFamily="49" charset="-122"/>
              </a:rPr>
              <a:t>滴至终点</a:t>
            </a:r>
            <a:r>
              <a:rPr lang="en-US" altLang="zh-CN" sz="2000" b="1" dirty="0">
                <a:ea typeface="华文新魏" pitchFamily="2" charset="-122"/>
                <a:cs typeface="楷体_GB2312" pitchFamily="49" charset="-122"/>
              </a:rPr>
              <a:t>,</a:t>
            </a:r>
            <a:r>
              <a:rPr lang="zh-CN" altLang="en-US" sz="2000" b="1" dirty="0">
                <a:ea typeface="华文新魏" pitchFamily="2" charset="-122"/>
                <a:cs typeface="楷体_GB2312" pitchFamily="49" charset="-122"/>
              </a:rPr>
              <a:t>耗去</a:t>
            </a:r>
            <a:r>
              <a:rPr lang="en-US" altLang="zh-CN" sz="2000" b="1" dirty="0">
                <a:ea typeface="华文新魏" pitchFamily="2" charset="-122"/>
                <a:cs typeface="楷体_GB2312" pitchFamily="49" charset="-122"/>
              </a:rPr>
              <a:t>3.60mL.</a:t>
            </a:r>
            <a:r>
              <a:rPr lang="zh-CN" altLang="en-US" sz="2000" b="1" dirty="0">
                <a:ea typeface="华文新魏" pitchFamily="2" charset="-122"/>
                <a:cs typeface="楷体_GB2312" pitchFamily="49" charset="-122"/>
              </a:rPr>
              <a:t>计算样品中苯巴比妥钠的质量分数 </a:t>
            </a:r>
            <a:r>
              <a:rPr lang="en-US" altLang="zh-CN" sz="2000" b="1" dirty="0">
                <a:ea typeface="华文新魏" pitchFamily="2" charset="-122"/>
                <a:cs typeface="楷体_GB2312" pitchFamily="49" charset="-122"/>
              </a:rPr>
              <a:t>(</a:t>
            </a:r>
            <a:r>
              <a:rPr lang="zh-CN" altLang="en-US" sz="2000" b="1" dirty="0">
                <a:ea typeface="华文新魏" pitchFamily="2" charset="-122"/>
                <a:cs typeface="楷体_GB2312" pitchFamily="49" charset="-122"/>
              </a:rPr>
              <a:t>已知</a:t>
            </a:r>
            <a:r>
              <a:rPr lang="en-US" altLang="zh-CN" sz="2000" b="1" i="1" dirty="0">
                <a:ea typeface="华文新魏" pitchFamily="2" charset="-122"/>
                <a:cs typeface="楷体_GB2312" pitchFamily="49" charset="-122"/>
              </a:rPr>
              <a:t>M</a:t>
            </a:r>
            <a:r>
              <a:rPr lang="en-US" altLang="zh-CN" sz="2000" b="1" dirty="0">
                <a:ea typeface="华文新魏" pitchFamily="2" charset="-122"/>
                <a:cs typeface="楷体_GB2312" pitchFamily="49" charset="-122"/>
              </a:rPr>
              <a:t> = 254.2 g·mol</a:t>
            </a:r>
            <a:r>
              <a:rPr lang="en-US" altLang="zh-CN" sz="2000" b="1" baseline="30000" dirty="0">
                <a:ea typeface="华文新魏" pitchFamily="2" charset="-122"/>
                <a:cs typeface="楷体_GB2312" pitchFamily="49" charset="-122"/>
              </a:rPr>
              <a:t>-1</a:t>
            </a:r>
            <a:r>
              <a:rPr lang="en-US" altLang="zh-CN" sz="2000" b="1" dirty="0">
                <a:ea typeface="华文新魏" pitchFamily="2" charset="-122"/>
                <a:cs typeface="楷体_GB2312" pitchFamily="49" charset="-122"/>
              </a:rPr>
              <a:t>). 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/>
      <p:bldP spid="6" grpId="0" build="p" autoUpdateAnimBg="0"/>
      <p:bldP spid="7" grpId="0" autoUpdateAnimBg="0"/>
      <p:bldP spid="8" grpId="0" autoUpdateAnimBg="0"/>
      <p:bldP spid="9" grpId="0" build="p" autoUpdateAnimBg="0"/>
      <p:bldP spid="10" grpId="0"/>
      <p:bldP spid="11" grpId="0"/>
      <p:bldP spid="615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灯片编号占位符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5530850" y="5949950"/>
            <a:ext cx="544513" cy="40798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1082A40C-57C5-4D18-929A-51B59076CEDF}" type="slidenum">
              <a:rPr lang="en-US" altLang="zh-CN">
                <a:ea typeface="楷体_GB2312" pitchFamily="49" charset="-122"/>
              </a:rPr>
              <a:pPr/>
              <a:t>5</a:t>
            </a:fld>
            <a:endParaRPr lang="en-US" altLang="zh-CN">
              <a:ea typeface="楷体_GB2312" pitchFamily="49" charset="-122"/>
            </a:endParaRPr>
          </a:p>
        </p:txBody>
      </p:sp>
      <p:graphicFrame>
        <p:nvGraphicFramePr>
          <p:cNvPr id="2" name="Object 28"/>
          <p:cNvGraphicFramePr>
            <a:graphicFrameLocks noChangeAspect="1"/>
          </p:cNvGraphicFramePr>
          <p:nvPr/>
        </p:nvGraphicFramePr>
        <p:xfrm>
          <a:off x="3760788" y="873116"/>
          <a:ext cx="7286625" cy="1223963"/>
        </p:xfrm>
        <a:graphic>
          <a:graphicData uri="http://schemas.openxmlformats.org/presentationml/2006/ole">
            <p:oleObj spid="_x0000_s2050" name="公式" r:id="rId4" imgW="3746160" imgH="571320" progId="Equation.3">
              <p:embed/>
            </p:oleObj>
          </a:graphicData>
        </a:graphic>
      </p:graphicFrame>
      <p:graphicFrame>
        <p:nvGraphicFramePr>
          <p:cNvPr id="14" name="Object 9"/>
          <p:cNvGraphicFramePr>
            <a:graphicFrameLocks noChangeAspect="1"/>
          </p:cNvGraphicFramePr>
          <p:nvPr>
            <p:ph sz="half" idx="2"/>
          </p:nvPr>
        </p:nvGraphicFramePr>
        <p:xfrm>
          <a:off x="3832225" y="2311400"/>
          <a:ext cx="6715125" cy="1139825"/>
        </p:xfrm>
        <a:graphic>
          <a:graphicData uri="http://schemas.openxmlformats.org/presentationml/2006/ole">
            <p:oleObj spid="_x0000_s2051" name="公式" r:id="rId5" imgW="3530520" imgH="571320" progId="Equation.3">
              <p:embed/>
            </p:oleObj>
          </a:graphicData>
        </a:graphic>
      </p:graphicFrame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3975100" y="3597275"/>
            <a:ext cx="186055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= 98.4%</a:t>
            </a:r>
          </a:p>
        </p:txBody>
      </p:sp>
      <p:sp>
        <p:nvSpPr>
          <p:cNvPr id="7" name="Rectangle 36"/>
          <p:cNvSpPr>
            <a:spLocks noChangeArrowheads="1"/>
          </p:cNvSpPr>
          <p:nvPr/>
        </p:nvSpPr>
        <p:spPr bwMode="auto">
          <a:xfrm>
            <a:off x="3832225" y="382567"/>
            <a:ext cx="1055688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500" b="1" dirty="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解</a:t>
            </a:r>
            <a:r>
              <a:rPr lang="en-US" altLang="zh-CN" sz="2500" b="1" dirty="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:</a:t>
            </a:r>
          </a:p>
        </p:txBody>
      </p:sp>
      <p:sp>
        <p:nvSpPr>
          <p:cNvPr id="8" name="Rectangle 18"/>
          <p:cNvSpPr>
            <a:spLocks noChangeArrowheads="1"/>
          </p:cNvSpPr>
          <p:nvPr/>
        </p:nvSpPr>
        <p:spPr bwMode="auto">
          <a:xfrm>
            <a:off x="117475" y="311150"/>
            <a:ext cx="3214688" cy="563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 b="1" dirty="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例</a:t>
            </a:r>
            <a:r>
              <a:rPr lang="en-US" altLang="zh-CN" sz="2000" b="1" dirty="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4.</a:t>
            </a:r>
            <a:r>
              <a:rPr lang="zh-CN" altLang="en-US" sz="2000" b="1" dirty="0">
                <a:ea typeface="华文新魏" pitchFamily="2" charset="-122"/>
                <a:cs typeface="楷体_GB2312" pitchFamily="49" charset="-122"/>
              </a:rPr>
              <a:t>称取苯巴比妥钠</a:t>
            </a:r>
            <a:r>
              <a:rPr lang="en-US" altLang="zh-CN" sz="2000" b="1" dirty="0">
                <a:ea typeface="华文新魏" pitchFamily="2" charset="-122"/>
                <a:cs typeface="楷体_GB2312" pitchFamily="49" charset="-122"/>
              </a:rPr>
              <a:t>(C</a:t>
            </a:r>
            <a:r>
              <a:rPr lang="en-US" altLang="zh-CN" sz="2000" b="1" baseline="-25000" dirty="0">
                <a:ea typeface="华文新魏" pitchFamily="2" charset="-122"/>
                <a:cs typeface="楷体_GB2312" pitchFamily="49" charset="-122"/>
              </a:rPr>
              <a:t>12</a:t>
            </a:r>
            <a:r>
              <a:rPr lang="en-US" altLang="zh-CN" sz="2000" b="1" dirty="0">
                <a:ea typeface="华文新魏" pitchFamily="2" charset="-122"/>
                <a:cs typeface="楷体_GB2312" pitchFamily="49" charset="-122"/>
              </a:rPr>
              <a:t>H</a:t>
            </a:r>
            <a:r>
              <a:rPr lang="en-US" altLang="zh-CN" sz="2000" b="1" baseline="-25000" dirty="0">
                <a:ea typeface="华文新魏" pitchFamily="2" charset="-122"/>
                <a:cs typeface="楷体_GB2312" pitchFamily="49" charset="-122"/>
              </a:rPr>
              <a:t>11</a:t>
            </a:r>
            <a:r>
              <a:rPr lang="en-US" altLang="zh-CN" sz="2000" b="1" dirty="0">
                <a:ea typeface="华文新魏" pitchFamily="2" charset="-122"/>
                <a:cs typeface="楷体_GB2312" pitchFamily="49" charset="-122"/>
              </a:rPr>
              <a:t>N</a:t>
            </a:r>
            <a:r>
              <a:rPr lang="en-US" altLang="zh-CN" sz="2000" b="1" baseline="-25000" dirty="0">
                <a:ea typeface="华文新魏" pitchFamily="2" charset="-122"/>
                <a:cs typeface="楷体_GB2312" pitchFamily="49" charset="-122"/>
              </a:rPr>
              <a:t>2</a:t>
            </a:r>
            <a:r>
              <a:rPr lang="en-US" altLang="zh-CN" sz="2000" b="1" dirty="0">
                <a:ea typeface="华文新魏" pitchFamily="2" charset="-122"/>
                <a:cs typeface="楷体_GB2312" pitchFamily="49" charset="-122"/>
              </a:rPr>
              <a:t>O</a:t>
            </a:r>
            <a:r>
              <a:rPr lang="en-US" altLang="zh-CN" sz="2000" b="1" baseline="-25000" dirty="0">
                <a:ea typeface="华文新魏" pitchFamily="2" charset="-122"/>
                <a:cs typeface="楷体_GB2312" pitchFamily="49" charset="-122"/>
              </a:rPr>
              <a:t>3</a:t>
            </a:r>
            <a:r>
              <a:rPr lang="en-US" altLang="zh-CN" sz="2000" b="1" dirty="0">
                <a:ea typeface="华文新魏" pitchFamily="2" charset="-122"/>
                <a:cs typeface="楷体_GB2312" pitchFamily="49" charset="-122"/>
              </a:rPr>
              <a:t>Na)0.2000g,</a:t>
            </a:r>
            <a:r>
              <a:rPr lang="zh-CN" altLang="en-US" sz="2000" b="1" dirty="0">
                <a:ea typeface="华文新魏" pitchFamily="2" charset="-122"/>
                <a:cs typeface="楷体_GB2312" pitchFamily="49" charset="-122"/>
              </a:rPr>
              <a:t>于稀碱溶液中加热溶解</a:t>
            </a:r>
            <a:r>
              <a:rPr lang="en-US" altLang="zh-CN" sz="2000" b="1" dirty="0">
                <a:ea typeface="华文新魏" pitchFamily="2" charset="-122"/>
                <a:cs typeface="楷体_GB2312" pitchFamily="49" charset="-122"/>
              </a:rPr>
              <a:t>,</a:t>
            </a:r>
            <a:r>
              <a:rPr lang="zh-CN" altLang="en-US" sz="2000" b="1" dirty="0">
                <a:ea typeface="华文新魏" pitchFamily="2" charset="-122"/>
                <a:cs typeface="楷体_GB2312" pitchFamily="49" charset="-122"/>
              </a:rPr>
              <a:t>以醋酸酸化后转入</a:t>
            </a:r>
            <a:r>
              <a:rPr lang="en-US" altLang="zh-CN" sz="2000" b="1" dirty="0">
                <a:ea typeface="华文新魏" pitchFamily="2" charset="-122"/>
                <a:cs typeface="楷体_GB2312" pitchFamily="49" charset="-122"/>
              </a:rPr>
              <a:t>250mL</a:t>
            </a:r>
            <a:r>
              <a:rPr lang="zh-CN" altLang="en-US" sz="2000" b="1" dirty="0">
                <a:ea typeface="华文新魏" pitchFamily="2" charset="-122"/>
                <a:cs typeface="楷体_GB2312" pitchFamily="49" charset="-122"/>
              </a:rPr>
              <a:t>容量瓶中</a:t>
            </a:r>
            <a:r>
              <a:rPr lang="en-US" altLang="zh-CN" sz="2000" b="1" dirty="0">
                <a:ea typeface="华文新魏" pitchFamily="2" charset="-122"/>
                <a:cs typeface="楷体_GB2312" pitchFamily="49" charset="-122"/>
              </a:rPr>
              <a:t>,</a:t>
            </a:r>
            <a:r>
              <a:rPr lang="zh-CN" altLang="en-US" sz="2000" b="1" dirty="0">
                <a:ea typeface="华文新魏" pitchFamily="2" charset="-122"/>
                <a:cs typeface="楷体_GB2312" pitchFamily="49" charset="-122"/>
              </a:rPr>
              <a:t>加入</a:t>
            </a:r>
            <a:r>
              <a:rPr lang="en-US" altLang="zh-CN" sz="2000" b="1" dirty="0">
                <a:ea typeface="华文新魏" pitchFamily="2" charset="-122"/>
                <a:cs typeface="楷体_GB2312" pitchFamily="49" charset="-122"/>
              </a:rPr>
              <a:t>25.00mL 0.03000 mol·L</a:t>
            </a:r>
            <a:r>
              <a:rPr lang="en-US" altLang="zh-CN" sz="2000" b="1" baseline="30000" dirty="0">
                <a:ea typeface="华文新魏" pitchFamily="2" charset="-122"/>
                <a:cs typeface="楷体_GB2312" pitchFamily="49" charset="-122"/>
              </a:rPr>
              <a:t>-1</a:t>
            </a:r>
            <a:r>
              <a:rPr lang="en-US" altLang="zh-CN" sz="2000" b="1" dirty="0">
                <a:ea typeface="华文新魏" pitchFamily="2" charset="-122"/>
                <a:cs typeface="楷体_GB2312" pitchFamily="49" charset="-122"/>
              </a:rPr>
              <a:t>Hg</a:t>
            </a:r>
            <a:r>
              <a:rPr lang="en-US" altLang="zh-CN" sz="2000" b="1" baseline="30000" dirty="0">
                <a:ea typeface="华文新魏" pitchFamily="2" charset="-122"/>
                <a:cs typeface="楷体_GB2312" pitchFamily="49" charset="-122"/>
              </a:rPr>
              <a:t>2+</a:t>
            </a:r>
            <a:r>
              <a:rPr lang="zh-CN" altLang="en-US" sz="2000" b="1" dirty="0">
                <a:ea typeface="华文新魏" pitchFamily="2" charset="-122"/>
                <a:cs typeface="楷体_GB2312" pitchFamily="49" charset="-122"/>
              </a:rPr>
              <a:t>溶液</a:t>
            </a:r>
            <a:r>
              <a:rPr lang="en-US" altLang="zh-CN" sz="2000" b="1" dirty="0">
                <a:ea typeface="华文新魏" pitchFamily="2" charset="-122"/>
                <a:cs typeface="楷体_GB2312" pitchFamily="49" charset="-122"/>
              </a:rPr>
              <a:t>,</a:t>
            </a:r>
            <a:r>
              <a:rPr lang="zh-CN" altLang="en-US" sz="2000" b="1" dirty="0">
                <a:ea typeface="华文新魏" pitchFamily="2" charset="-122"/>
                <a:cs typeface="楷体_GB2312" pitchFamily="49" charset="-122"/>
              </a:rPr>
              <a:t>稀至刻度</a:t>
            </a:r>
            <a:r>
              <a:rPr lang="en-US" altLang="zh-CN" sz="2000" b="1" dirty="0">
                <a:ea typeface="华文新魏" pitchFamily="2" charset="-122"/>
                <a:cs typeface="楷体_GB2312" pitchFamily="49" charset="-122"/>
              </a:rPr>
              <a:t>.</a:t>
            </a:r>
            <a:r>
              <a:rPr lang="zh-CN" altLang="en-US" sz="2000" b="1" dirty="0">
                <a:ea typeface="华文新魏" pitchFamily="2" charset="-122"/>
                <a:cs typeface="楷体_GB2312" pitchFamily="49" charset="-122"/>
              </a:rPr>
              <a:t>放置使下述反应完全</a:t>
            </a:r>
            <a:r>
              <a:rPr lang="en-US" altLang="zh-CN" sz="2000" b="1" dirty="0">
                <a:ea typeface="华文新魏" pitchFamily="2" charset="-122"/>
                <a:cs typeface="楷体_GB2312" pitchFamily="49" charset="-122"/>
              </a:rPr>
              <a:t>:</a:t>
            </a:r>
          </a:p>
          <a:p>
            <a:r>
              <a:rPr lang="en-US" altLang="zh-CN" sz="2000" b="1" dirty="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Hg</a:t>
            </a:r>
            <a:r>
              <a:rPr lang="en-US" altLang="zh-CN" sz="2000" b="1" baseline="30000" dirty="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2+</a:t>
            </a:r>
            <a:r>
              <a:rPr lang="en-US" altLang="zh-CN" sz="2000" b="1" dirty="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 + 2C</a:t>
            </a:r>
            <a:r>
              <a:rPr lang="en-US" altLang="zh-CN" sz="2000" b="1" baseline="-25000" dirty="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12</a:t>
            </a:r>
            <a:r>
              <a:rPr lang="en-US" altLang="zh-CN" sz="2000" b="1" dirty="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H</a:t>
            </a:r>
            <a:r>
              <a:rPr lang="en-US" altLang="zh-CN" sz="2000" b="1" baseline="-25000" dirty="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11</a:t>
            </a:r>
            <a:r>
              <a:rPr lang="en-US" altLang="zh-CN" sz="2000" b="1" dirty="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N</a:t>
            </a:r>
            <a:r>
              <a:rPr lang="en-US" altLang="zh-CN" sz="2000" b="1" baseline="-25000" dirty="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2</a:t>
            </a:r>
            <a:r>
              <a:rPr lang="en-US" altLang="zh-CN" sz="2000" b="1" dirty="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O</a:t>
            </a:r>
            <a:r>
              <a:rPr lang="en-US" altLang="zh-CN" sz="2000" b="1" baseline="-25000" dirty="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3</a:t>
            </a:r>
            <a:r>
              <a:rPr lang="en-US" altLang="zh-CN" sz="2000" b="1" baseline="30000" dirty="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-</a:t>
            </a:r>
            <a:r>
              <a:rPr lang="en-US" altLang="zh-CN" sz="2000" b="1" dirty="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 = Hg(C</a:t>
            </a:r>
            <a:r>
              <a:rPr lang="en-US" altLang="zh-CN" sz="2000" b="1" baseline="-25000" dirty="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12</a:t>
            </a:r>
            <a:r>
              <a:rPr lang="en-US" altLang="zh-CN" sz="2000" b="1" dirty="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H</a:t>
            </a:r>
            <a:r>
              <a:rPr lang="en-US" altLang="zh-CN" sz="2000" b="1" baseline="-25000" dirty="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11</a:t>
            </a:r>
            <a:r>
              <a:rPr lang="en-US" altLang="zh-CN" sz="2000" b="1" dirty="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N</a:t>
            </a:r>
            <a:r>
              <a:rPr lang="en-US" altLang="zh-CN" sz="2000" b="1" baseline="-25000" dirty="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2</a:t>
            </a:r>
            <a:r>
              <a:rPr lang="en-US" altLang="zh-CN" sz="2000" b="1" dirty="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O</a:t>
            </a:r>
            <a:r>
              <a:rPr lang="en-US" altLang="zh-CN" sz="2000" b="1" baseline="-25000" dirty="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3</a:t>
            </a:r>
            <a:r>
              <a:rPr lang="en-US" altLang="zh-CN" sz="2000" b="1" dirty="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)</a:t>
            </a:r>
            <a:r>
              <a:rPr lang="en-US" altLang="zh-CN" sz="2000" b="1" baseline="-25000" dirty="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2</a:t>
            </a:r>
            <a:r>
              <a:rPr lang="en-US" altLang="zh-CN" sz="2000" b="1" dirty="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↓</a:t>
            </a:r>
            <a:r>
              <a:rPr lang="zh-CN" altLang="en-US" sz="2000" b="1" dirty="0">
                <a:solidFill>
                  <a:srgbClr val="FFFF00"/>
                </a:solidFill>
                <a:ea typeface="华文新魏" pitchFamily="2" charset="-122"/>
                <a:cs typeface="楷体_GB2312" pitchFamily="49" charset="-122"/>
              </a:rPr>
              <a:t>，</a:t>
            </a:r>
            <a:r>
              <a:rPr lang="zh-CN" altLang="en-US" sz="2000" b="1" dirty="0">
                <a:ea typeface="华文新魏" pitchFamily="2" charset="-122"/>
                <a:cs typeface="楷体_GB2312" pitchFamily="49" charset="-122"/>
              </a:rPr>
              <a:t>过滤弃去沉淀</a:t>
            </a:r>
            <a:r>
              <a:rPr lang="en-US" altLang="zh-CN" sz="2000" b="1" dirty="0">
                <a:ea typeface="华文新魏" pitchFamily="2" charset="-122"/>
                <a:cs typeface="楷体_GB2312" pitchFamily="49" charset="-122"/>
              </a:rPr>
              <a:t>,</a:t>
            </a:r>
            <a:r>
              <a:rPr lang="zh-CN" altLang="en-US" sz="2000" b="1" dirty="0">
                <a:ea typeface="华文新魏" pitchFamily="2" charset="-122"/>
                <a:cs typeface="楷体_GB2312" pitchFamily="49" charset="-122"/>
              </a:rPr>
              <a:t>滤液用干烧杯承接</a:t>
            </a:r>
            <a:r>
              <a:rPr lang="en-US" altLang="zh-CN" sz="2000" b="1" dirty="0">
                <a:ea typeface="华文新魏" pitchFamily="2" charset="-122"/>
                <a:cs typeface="楷体_GB2312" pitchFamily="49" charset="-122"/>
              </a:rPr>
              <a:t>,</a:t>
            </a:r>
            <a:r>
              <a:rPr lang="zh-CN" altLang="en-US" sz="2000" b="1" dirty="0">
                <a:ea typeface="华文新魏" pitchFamily="2" charset="-122"/>
                <a:cs typeface="楷体_GB2312" pitchFamily="49" charset="-122"/>
              </a:rPr>
              <a:t>移取</a:t>
            </a:r>
            <a:r>
              <a:rPr lang="en-US" altLang="zh-CN" sz="2000" b="1" dirty="0">
                <a:ea typeface="华文新魏" pitchFamily="2" charset="-122"/>
                <a:cs typeface="楷体_GB2312" pitchFamily="49" charset="-122"/>
              </a:rPr>
              <a:t>25.00 </a:t>
            </a:r>
            <a:r>
              <a:rPr lang="en-US" altLang="zh-CN" sz="2000" b="1" dirty="0" err="1">
                <a:ea typeface="华文新魏" pitchFamily="2" charset="-122"/>
                <a:cs typeface="楷体_GB2312" pitchFamily="49" charset="-122"/>
              </a:rPr>
              <a:t>mL</a:t>
            </a:r>
            <a:r>
              <a:rPr lang="zh-CN" altLang="en-US" sz="2000" b="1" dirty="0">
                <a:ea typeface="华文新魏" pitchFamily="2" charset="-122"/>
                <a:cs typeface="楷体_GB2312" pitchFamily="49" charset="-122"/>
              </a:rPr>
              <a:t>滤液</a:t>
            </a:r>
            <a:r>
              <a:rPr lang="en-US" altLang="zh-CN" sz="2000" b="1" dirty="0">
                <a:ea typeface="华文新魏" pitchFamily="2" charset="-122"/>
                <a:cs typeface="楷体_GB2312" pitchFamily="49" charset="-122"/>
              </a:rPr>
              <a:t>,</a:t>
            </a:r>
            <a:r>
              <a:rPr lang="zh-CN" altLang="en-US" sz="2000" b="1" dirty="0">
                <a:ea typeface="华文新魏" pitchFamily="2" charset="-122"/>
                <a:cs typeface="楷体_GB2312" pitchFamily="49" charset="-122"/>
              </a:rPr>
              <a:t>加入</a:t>
            </a:r>
            <a:r>
              <a:rPr lang="en-US" altLang="zh-CN" sz="2000" b="1" dirty="0">
                <a:ea typeface="华文新魏" pitchFamily="2" charset="-122"/>
                <a:cs typeface="楷体_GB2312" pitchFamily="49" charset="-122"/>
              </a:rPr>
              <a:t>10mL0.01 mol·L</a:t>
            </a:r>
            <a:r>
              <a:rPr lang="en-US" altLang="zh-CN" sz="2000" b="1" baseline="30000" dirty="0">
                <a:ea typeface="华文新魏" pitchFamily="2" charset="-122"/>
                <a:cs typeface="楷体_GB2312" pitchFamily="49" charset="-122"/>
              </a:rPr>
              <a:t>-1</a:t>
            </a:r>
            <a:r>
              <a:rPr lang="en-US" altLang="zh-CN" sz="2000" b="1" dirty="0">
                <a:ea typeface="华文新魏" pitchFamily="2" charset="-122"/>
                <a:cs typeface="楷体_GB2312" pitchFamily="49" charset="-122"/>
              </a:rPr>
              <a:t>MgY</a:t>
            </a:r>
            <a:r>
              <a:rPr lang="en-US" altLang="zh-CN" sz="2000" b="1" baseline="30000" dirty="0">
                <a:ea typeface="华文新魏" pitchFamily="2" charset="-122"/>
                <a:cs typeface="楷体_GB2312" pitchFamily="49" charset="-122"/>
              </a:rPr>
              <a:t>2-</a:t>
            </a:r>
            <a:r>
              <a:rPr lang="zh-CN" altLang="en-US" sz="2000" b="1" dirty="0">
                <a:ea typeface="华文新魏" pitchFamily="2" charset="-122"/>
                <a:cs typeface="楷体_GB2312" pitchFamily="49" charset="-122"/>
              </a:rPr>
              <a:t>溶液</a:t>
            </a:r>
            <a:r>
              <a:rPr lang="en-US" altLang="zh-CN" sz="2000" b="1" dirty="0">
                <a:ea typeface="华文新魏" pitchFamily="2" charset="-122"/>
                <a:cs typeface="楷体_GB2312" pitchFamily="49" charset="-122"/>
              </a:rPr>
              <a:t>,</a:t>
            </a:r>
            <a:r>
              <a:rPr lang="zh-CN" altLang="en-US" sz="2000" b="1" dirty="0">
                <a:ea typeface="华文新魏" pitchFamily="2" charset="-122"/>
                <a:cs typeface="楷体_GB2312" pitchFamily="49" charset="-122"/>
              </a:rPr>
              <a:t>释放出的</a:t>
            </a:r>
            <a:r>
              <a:rPr lang="en-US" altLang="zh-CN" sz="2000" b="1" dirty="0">
                <a:ea typeface="华文新魏" pitchFamily="2" charset="-122"/>
                <a:cs typeface="楷体_GB2312" pitchFamily="49" charset="-122"/>
              </a:rPr>
              <a:t>Mg</a:t>
            </a:r>
            <a:r>
              <a:rPr lang="en-US" altLang="zh-CN" sz="2000" b="1" baseline="30000" dirty="0">
                <a:ea typeface="华文新魏" pitchFamily="2" charset="-122"/>
                <a:cs typeface="楷体_GB2312" pitchFamily="49" charset="-122"/>
              </a:rPr>
              <a:t>2+</a:t>
            </a:r>
            <a:r>
              <a:rPr lang="zh-CN" altLang="en-US" sz="2000" b="1" dirty="0">
                <a:ea typeface="华文新魏" pitchFamily="2" charset="-122"/>
                <a:cs typeface="楷体_GB2312" pitchFamily="49" charset="-122"/>
              </a:rPr>
              <a:t>在</a:t>
            </a:r>
            <a:r>
              <a:rPr lang="en-US" altLang="zh-CN" sz="2000" b="1" dirty="0">
                <a:ea typeface="华文新魏" pitchFamily="2" charset="-122"/>
                <a:cs typeface="楷体_GB2312" pitchFamily="49" charset="-122"/>
              </a:rPr>
              <a:t>pH = 10</a:t>
            </a:r>
            <a:r>
              <a:rPr lang="zh-CN" altLang="en-US" sz="2000" b="1" dirty="0">
                <a:ea typeface="华文新魏" pitchFamily="2" charset="-122"/>
                <a:cs typeface="楷体_GB2312" pitchFamily="49" charset="-122"/>
              </a:rPr>
              <a:t>时以</a:t>
            </a:r>
            <a:r>
              <a:rPr lang="en-US" altLang="zh-CN" sz="2000" b="1" dirty="0">
                <a:ea typeface="华文新魏" pitchFamily="2" charset="-122"/>
                <a:cs typeface="楷体_GB2312" pitchFamily="49" charset="-122"/>
              </a:rPr>
              <a:t>EBT</a:t>
            </a:r>
            <a:r>
              <a:rPr lang="zh-CN" altLang="en-US" sz="2000" b="1" dirty="0">
                <a:ea typeface="华文新魏" pitchFamily="2" charset="-122"/>
                <a:cs typeface="楷体_GB2312" pitchFamily="49" charset="-122"/>
              </a:rPr>
              <a:t>为指示剂</a:t>
            </a:r>
            <a:r>
              <a:rPr lang="en-US" altLang="zh-CN" sz="2000" b="1" dirty="0">
                <a:ea typeface="华文新魏" pitchFamily="2" charset="-122"/>
                <a:cs typeface="楷体_GB2312" pitchFamily="49" charset="-122"/>
              </a:rPr>
              <a:t>,</a:t>
            </a:r>
            <a:r>
              <a:rPr lang="zh-CN" altLang="en-US" sz="2000" b="1" dirty="0">
                <a:ea typeface="华文新魏" pitchFamily="2" charset="-122"/>
                <a:cs typeface="楷体_GB2312" pitchFamily="49" charset="-122"/>
              </a:rPr>
              <a:t>用</a:t>
            </a:r>
            <a:r>
              <a:rPr lang="en-US" altLang="zh-CN" sz="2000" b="1" dirty="0">
                <a:ea typeface="华文新魏" pitchFamily="2" charset="-122"/>
                <a:cs typeface="楷体_GB2312" pitchFamily="49" charset="-122"/>
              </a:rPr>
              <a:t>0.01000 mol·L</a:t>
            </a:r>
            <a:r>
              <a:rPr lang="en-US" altLang="zh-CN" sz="2000" b="1" baseline="30000" dirty="0">
                <a:ea typeface="华文新魏" pitchFamily="2" charset="-122"/>
                <a:cs typeface="楷体_GB2312" pitchFamily="49" charset="-122"/>
              </a:rPr>
              <a:t>-1 </a:t>
            </a:r>
            <a:r>
              <a:rPr lang="en-US" altLang="zh-CN" sz="2000" b="1" dirty="0">
                <a:ea typeface="华文新魏" pitchFamily="2" charset="-122"/>
                <a:cs typeface="楷体_GB2312" pitchFamily="49" charset="-122"/>
              </a:rPr>
              <a:t>EDTA</a:t>
            </a:r>
            <a:r>
              <a:rPr lang="zh-CN" altLang="en-US" sz="2000" b="1" dirty="0">
                <a:ea typeface="华文新魏" pitchFamily="2" charset="-122"/>
                <a:cs typeface="楷体_GB2312" pitchFamily="49" charset="-122"/>
              </a:rPr>
              <a:t>滴至终点</a:t>
            </a:r>
            <a:r>
              <a:rPr lang="en-US" altLang="zh-CN" sz="2000" b="1" dirty="0">
                <a:ea typeface="华文新魏" pitchFamily="2" charset="-122"/>
                <a:cs typeface="楷体_GB2312" pitchFamily="49" charset="-122"/>
              </a:rPr>
              <a:t>,</a:t>
            </a:r>
            <a:r>
              <a:rPr lang="zh-CN" altLang="en-US" sz="2000" b="1" dirty="0">
                <a:ea typeface="华文新魏" pitchFamily="2" charset="-122"/>
                <a:cs typeface="楷体_GB2312" pitchFamily="49" charset="-122"/>
              </a:rPr>
              <a:t>耗去</a:t>
            </a:r>
            <a:r>
              <a:rPr lang="en-US" altLang="zh-CN" sz="2000" b="1" dirty="0">
                <a:ea typeface="华文新魏" pitchFamily="2" charset="-122"/>
                <a:cs typeface="楷体_GB2312" pitchFamily="49" charset="-122"/>
              </a:rPr>
              <a:t>3.60mL.</a:t>
            </a:r>
            <a:r>
              <a:rPr lang="zh-CN" altLang="en-US" sz="2000" b="1" dirty="0">
                <a:ea typeface="华文新魏" pitchFamily="2" charset="-122"/>
                <a:cs typeface="楷体_GB2312" pitchFamily="49" charset="-122"/>
              </a:rPr>
              <a:t>计算样品中苯巴比妥钠的质量分数 </a:t>
            </a:r>
            <a:r>
              <a:rPr lang="en-US" altLang="zh-CN" sz="2000" b="1" dirty="0">
                <a:ea typeface="华文新魏" pitchFamily="2" charset="-122"/>
                <a:cs typeface="楷体_GB2312" pitchFamily="49" charset="-122"/>
              </a:rPr>
              <a:t>(</a:t>
            </a:r>
            <a:r>
              <a:rPr lang="zh-CN" altLang="en-US" sz="2000" b="1" dirty="0">
                <a:ea typeface="华文新魏" pitchFamily="2" charset="-122"/>
                <a:cs typeface="楷体_GB2312" pitchFamily="49" charset="-122"/>
              </a:rPr>
              <a:t>已知</a:t>
            </a:r>
            <a:r>
              <a:rPr lang="en-US" altLang="zh-CN" sz="2000" b="1" i="1" dirty="0">
                <a:ea typeface="华文新魏" pitchFamily="2" charset="-122"/>
                <a:cs typeface="楷体_GB2312" pitchFamily="49" charset="-122"/>
              </a:rPr>
              <a:t>M</a:t>
            </a:r>
            <a:r>
              <a:rPr lang="en-US" altLang="zh-CN" sz="2000" b="1" dirty="0">
                <a:ea typeface="华文新魏" pitchFamily="2" charset="-122"/>
                <a:cs typeface="楷体_GB2312" pitchFamily="49" charset="-122"/>
              </a:rPr>
              <a:t> = 254.2 g·mol</a:t>
            </a:r>
            <a:r>
              <a:rPr lang="en-US" altLang="zh-CN" sz="2000" b="1" baseline="30000" dirty="0">
                <a:ea typeface="华文新魏" pitchFamily="2" charset="-122"/>
                <a:cs typeface="楷体_GB2312" pitchFamily="49" charset="-122"/>
              </a:rPr>
              <a:t>-1</a:t>
            </a:r>
            <a:r>
              <a:rPr lang="en-US" altLang="zh-CN" sz="2000" b="1" dirty="0">
                <a:ea typeface="华文新魏" pitchFamily="2" charset="-122"/>
                <a:cs typeface="楷体_GB2312" pitchFamily="49" charset="-122"/>
              </a:rPr>
              <a:t>). 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 autoUpdateAnimBg="0"/>
    </p:bldLst>
  </p:timing>
</p:sld>
</file>

<file path=ppt/theme/theme1.xml><?xml version="1.0" encoding="utf-8"?>
<a:theme xmlns:a="http://schemas.openxmlformats.org/drawingml/2006/main" name="医学研究PPT模板">
  <a:themeElements>
    <a:clrScheme name="医学研究PPT模板 1">
      <a:dk1>
        <a:srgbClr val="FFFFFF"/>
      </a:dk1>
      <a:lt1>
        <a:srgbClr val="FFFFFF"/>
      </a:lt1>
      <a:dk2>
        <a:srgbClr val="000000"/>
      </a:dk2>
      <a:lt2>
        <a:srgbClr val="000000"/>
      </a:lt2>
      <a:accent1>
        <a:srgbClr val="000000"/>
      </a:accent1>
      <a:accent2>
        <a:srgbClr val="FF00FF"/>
      </a:accent2>
      <a:accent3>
        <a:srgbClr val="FFFFFF"/>
      </a:accent3>
      <a:accent4>
        <a:srgbClr val="DADADA"/>
      </a:accent4>
      <a:accent5>
        <a:srgbClr val="AAAAAA"/>
      </a:accent5>
      <a:accent6>
        <a:srgbClr val="E700E7"/>
      </a:accent6>
      <a:hlink>
        <a:srgbClr val="FFCCFF"/>
      </a:hlink>
      <a:folHlink>
        <a:srgbClr val="66FF33"/>
      </a:folHlink>
    </a:clrScheme>
    <a:fontScheme name="医学研究PPT模板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AAAAAA"/>
        </a:accent5>
        <a:accent6>
          <a:srgbClr val="E700E7"/>
        </a:accent6>
        <a:hlink>
          <a:srgbClr val="FFCCFF"/>
        </a:hlink>
        <a:folHlink>
          <a:srgbClr val="66FF3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7595</TotalTime>
  <Pages>0</Pages>
  <Words>612</Words>
  <Characters>0</Characters>
  <Application>Microsoft Office PowerPoint</Application>
  <DocSecurity>0</DocSecurity>
  <PresentationFormat>自定义</PresentationFormat>
  <Lines>0</Lines>
  <Paragraphs>50</Paragraphs>
  <Slides>5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7" baseType="lpstr">
      <vt:lpstr>医学研究PPT模板</vt:lpstr>
      <vt:lpstr>公式</vt:lpstr>
      <vt:lpstr>幻灯片 1</vt:lpstr>
      <vt:lpstr>幻灯片 2</vt:lpstr>
      <vt:lpstr>幻灯片 3</vt:lpstr>
      <vt:lpstr>幻灯片 4</vt:lpstr>
      <vt:lpstr>幻灯片 5</vt:lpstr>
    </vt:vector>
  </TitlesOfParts>
  <LinksUpToDate>false</LinksUpToDate>
  <CharactersWithSpaces>0</CharactersWithSpaces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例题教学模板(教室版)</dc:title>
  <dc:creator>江南大学商少明</dc:creator>
  <cp:lastModifiedBy>ASUS</cp:lastModifiedBy>
  <cp:revision>280</cp:revision>
  <cp:lastPrinted>1601-01-01T00:00:00Z</cp:lastPrinted>
  <dcterms:created xsi:type="dcterms:W3CDTF">2012-06-20T03:37:37Z</dcterms:created>
  <dcterms:modified xsi:type="dcterms:W3CDTF">2017-08-20T13:43:29Z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2052-8.1.0.3089</vt:lpwstr>
  </property>
</Properties>
</file>