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av" ContentType="audio/wav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9" r:id="rId1"/>
    <p:sldMasterId id="2147483661" r:id="rId2"/>
  </p:sldMasterIdLst>
  <p:notesMasterIdLst>
    <p:notesMasterId r:id="rId29"/>
  </p:notesMasterIdLst>
  <p:sldIdLst>
    <p:sldId id="279" r:id="rId3"/>
    <p:sldId id="280" r:id="rId4"/>
    <p:sldId id="300" r:id="rId5"/>
    <p:sldId id="301" r:id="rId6"/>
    <p:sldId id="302" r:id="rId7"/>
    <p:sldId id="303" r:id="rId8"/>
    <p:sldId id="304" r:id="rId9"/>
    <p:sldId id="307" r:id="rId10"/>
    <p:sldId id="309" r:id="rId11"/>
    <p:sldId id="310" r:id="rId12"/>
    <p:sldId id="282" r:id="rId13"/>
    <p:sldId id="283" r:id="rId14"/>
    <p:sldId id="284" r:id="rId15"/>
    <p:sldId id="285" r:id="rId16"/>
    <p:sldId id="286" r:id="rId17"/>
    <p:sldId id="287" r:id="rId18"/>
    <p:sldId id="288" r:id="rId19"/>
    <p:sldId id="289" r:id="rId20"/>
    <p:sldId id="290" r:id="rId21"/>
    <p:sldId id="291" r:id="rId22"/>
    <p:sldId id="292" r:id="rId23"/>
    <p:sldId id="293" r:id="rId24"/>
    <p:sldId id="294" r:id="rId25"/>
    <p:sldId id="295" r:id="rId26"/>
    <p:sldId id="296" r:id="rId27"/>
    <p:sldId id="297" r:id="rId28"/>
  </p:sldIdLst>
  <p:sldSz cx="11522075" cy="6480175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00"/>
    <a:srgbClr val="FFFFFF"/>
    <a:srgbClr val="F8F8F8"/>
    <a:srgbClr val="FF0000"/>
    <a:srgbClr val="FF00FF"/>
    <a:srgbClr val="0000FF"/>
    <a:srgbClr val="FF3300"/>
    <a:srgbClr val="EAEAE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2" autoAdjust="0"/>
    <p:restoredTop sz="94620" autoAdjust="0"/>
  </p:normalViewPr>
  <p:slideViewPr>
    <p:cSldViewPr>
      <p:cViewPr varScale="1">
        <p:scale>
          <a:sx n="71" d="100"/>
          <a:sy n="71" d="100"/>
        </p:scale>
        <p:origin x="-828" y="-96"/>
      </p:cViewPr>
      <p:guideLst>
        <p:guide orient="horz" pos="2034"/>
        <p:guide pos="362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view3D>
      <c:rotX val="15"/>
      <c:hPercent val="65"/>
      <c:rotY val="20"/>
      <c:depthPercent val="100"/>
      <c:rAngAx val="1"/>
    </c:view3D>
    <c:floor>
      <c:thickness val="0"/>
      <c:spPr>
        <a:solidFill>
          <a:srgbClr val="C0C0C0"/>
        </a:solidFill>
        <a:ln w="3175">
          <a:solidFill>
            <a:schemeClr val="tx1"/>
          </a:solidFill>
          <a:prstDash val="solid"/>
        </a:ln>
      </c:spPr>
    </c:floor>
    <c:sideWall>
      <c:thickness val="0"/>
      <c:spPr>
        <a:noFill/>
        <a:ln w="25400">
          <a:noFill/>
        </a:ln>
      </c:spPr>
    </c:sideWall>
    <c:backWall>
      <c:thickness val="0"/>
      <c:spPr>
        <a:noFill/>
        <a:ln w="25400">
          <a:noFill/>
        </a:ln>
      </c:spPr>
    </c:backWall>
    <c:plotArea>
      <c:layout>
        <c:manualLayout>
          <c:layoutTarget val="inner"/>
          <c:xMode val="edge"/>
          <c:yMode val="edge"/>
          <c:x val="1.4285714285714294E-2"/>
          <c:y val="2.1582733812949652E-2"/>
          <c:w val="0.9698412698412695"/>
          <c:h val="0.85131894484412451"/>
        </c:manualLayout>
      </c:layout>
      <c:bar3DChart>
        <c:barDir val="col"/>
        <c:grouping val="clustered"/>
        <c:varyColors val="1"/>
        <c:ser>
          <c:idx val="0"/>
          <c:order val="0"/>
          <c:tx>
            <c:strRef>
              <c:f>Sheet1!$A$2</c:f>
              <c:strCache>
                <c:ptCount val="1"/>
              </c:strCache>
            </c:strRef>
          </c:tx>
          <c:spPr>
            <a:solidFill>
              <a:schemeClr val="accent1"/>
            </a:solidFill>
            <a:ln w="7966">
              <a:solidFill>
                <a:schemeClr val="tx1"/>
              </a:solidFill>
              <a:prstDash val="solid"/>
            </a:ln>
          </c:spPr>
          <c:invertIfNegative val="0"/>
          <c:dPt>
            <c:idx val="1"/>
            <c:invertIfNegative val="0"/>
            <c:bubble3D val="0"/>
            <c:spPr>
              <a:solidFill>
                <a:schemeClr val="accent2"/>
              </a:solidFill>
              <a:ln w="7966">
                <a:solidFill>
                  <a:schemeClr val="tx1"/>
                </a:solidFill>
                <a:prstDash val="solid"/>
              </a:ln>
            </c:spPr>
          </c:dPt>
          <c:dPt>
            <c:idx val="2"/>
            <c:invertIfNegative val="0"/>
            <c:bubble3D val="0"/>
            <c:spPr>
              <a:solidFill>
                <a:schemeClr val="hlink"/>
              </a:solidFill>
              <a:ln w="7966">
                <a:solidFill>
                  <a:schemeClr val="tx1"/>
                </a:solidFill>
                <a:prstDash val="solid"/>
              </a:ln>
            </c:spPr>
          </c:dPt>
          <c:dPt>
            <c:idx val="3"/>
            <c:invertIfNegative val="0"/>
            <c:bubble3D val="0"/>
            <c:spPr>
              <a:solidFill>
                <a:schemeClr val="folHlink"/>
              </a:solidFill>
              <a:ln w="7966">
                <a:solidFill>
                  <a:schemeClr val="tx1"/>
                </a:solidFill>
                <a:prstDash val="solid"/>
              </a:ln>
            </c:spPr>
          </c:dPt>
          <c:dLbls>
            <c:dLbl>
              <c:idx val="0"/>
              <c:layout>
                <c:manualLayout>
                  <c:x val="-7.2400476195894278E-2"/>
                  <c:y val="0.41726618705036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layout>
                <c:manualLayout>
                  <c:x val="-1.5132240131974898E-2"/>
                  <c:y val="0.25717384911597307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layout>
                <c:manualLayout>
                  <c:x val="3.4199684171493688E-2"/>
                  <c:y val="0.19351817167416446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spPr>
              <a:noFill/>
              <a:ln w="15932">
                <a:noFill/>
              </a:ln>
            </c:spPr>
            <c:txPr>
              <a:bodyPr/>
              <a:lstStyle/>
              <a:p>
                <a:pPr>
                  <a:defRPr sz="1129" b="1" i="0" u="none" strike="noStrike" baseline="0">
                    <a:solidFill>
                      <a:schemeClr val="tx1"/>
                    </a:solidFill>
                    <a:latin typeface="黑体"/>
                    <a:ea typeface="黑体"/>
                    <a:cs typeface="黑体"/>
                  </a:defRPr>
                </a:pPr>
                <a:endParaRPr lang="zh-C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Sheet1!$B$1:$E$1</c:f>
              <c:strCache>
                <c:ptCount val="3"/>
                <c:pt idx="0">
                  <c:v>Hf</c:v>
                </c:pt>
                <c:pt idx="1">
                  <c:v>Ta</c:v>
                </c:pt>
                <c:pt idx="2">
                  <c:v>W</c:v>
                </c:pt>
              </c:strCache>
            </c:strRef>
          </c:cat>
          <c:val>
            <c:numRef>
              <c:f>Sheet1!$B$2:$E$2</c:f>
              <c:numCache>
                <c:formatCode>General</c:formatCode>
                <c:ptCount val="4"/>
                <c:pt idx="0">
                  <c:v>159</c:v>
                </c:pt>
                <c:pt idx="1">
                  <c:v>143</c:v>
                </c:pt>
                <c:pt idx="2">
                  <c:v>137</c:v>
                </c:pt>
              </c:numCache>
            </c:numRef>
          </c:val>
          <c:shape val="cylinder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gapDepth val="0"/>
        <c:shape val="box"/>
        <c:axId val="81058048"/>
        <c:axId val="81059840"/>
        <c:axId val="0"/>
      </c:bar3DChart>
      <c:catAx>
        <c:axId val="81058048"/>
        <c:scaling>
          <c:orientation val="minMax"/>
        </c:scaling>
        <c:delete val="0"/>
        <c:axPos val="b"/>
        <c:numFmt formatCode="General" sourceLinked="1"/>
        <c:majorTickMark val="in"/>
        <c:minorTickMark val="none"/>
        <c:tickLblPos val="low"/>
        <c:spPr>
          <a:ln w="1992">
            <a:solidFill>
              <a:schemeClr val="tx1"/>
            </a:solidFill>
            <a:prstDash val="solid"/>
          </a:ln>
        </c:spPr>
        <c:txPr>
          <a:bodyPr rot="0" vert="horz"/>
          <a:lstStyle/>
          <a:p>
            <a:pPr>
              <a:defRPr sz="1129" b="1" i="0" u="none" strike="noStrike" baseline="0">
                <a:solidFill>
                  <a:schemeClr val="tx1"/>
                </a:solidFill>
                <a:latin typeface="黑体"/>
                <a:ea typeface="黑体"/>
                <a:cs typeface="黑体"/>
              </a:defRPr>
            </a:pPr>
            <a:endParaRPr lang="zh-CN"/>
          </a:p>
        </c:txPr>
        <c:crossAx val="81059840"/>
        <c:crosses val="autoZero"/>
        <c:auto val="1"/>
        <c:lblAlgn val="ctr"/>
        <c:lblOffset val="100"/>
        <c:tickLblSkip val="1"/>
        <c:tickMarkSkip val="1"/>
        <c:noMultiLvlLbl val="0"/>
      </c:catAx>
      <c:valAx>
        <c:axId val="81059840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one"/>
        <c:crossAx val="81058048"/>
        <c:crosses val="autoZero"/>
        <c:crossBetween val="between"/>
      </c:valAx>
      <c:spPr>
        <a:noFill/>
        <a:ln w="15932">
          <a:noFill/>
        </a:ln>
      </c:spPr>
    </c:plotArea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1129" b="1" i="0" u="none" strike="noStrike" baseline="0">
          <a:solidFill>
            <a:schemeClr val="tx1"/>
          </a:solidFill>
          <a:latin typeface="黑体"/>
          <a:ea typeface="黑体"/>
          <a:cs typeface="黑体"/>
        </a:defRPr>
      </a:pPr>
      <a:endParaRPr lang="zh-CN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view3D>
      <c:rotX val="15"/>
      <c:hPercent val="65"/>
      <c:rotY val="20"/>
      <c:depthPercent val="100"/>
      <c:rAngAx val="1"/>
    </c:view3D>
    <c:floor>
      <c:thickness val="0"/>
      <c:spPr>
        <a:solidFill>
          <a:srgbClr val="C0C0C0"/>
        </a:solidFill>
        <a:ln w="3175">
          <a:solidFill>
            <a:schemeClr val="tx1"/>
          </a:solidFill>
          <a:prstDash val="solid"/>
        </a:ln>
      </c:spPr>
    </c:floor>
    <c:sideWall>
      <c:thickness val="0"/>
      <c:spPr>
        <a:noFill/>
        <a:ln w="25400">
          <a:noFill/>
        </a:ln>
      </c:spPr>
    </c:sideWall>
    <c:backWall>
      <c:thickness val="0"/>
      <c:spPr>
        <a:noFill/>
        <a:ln w="25400">
          <a:noFill/>
        </a:ln>
      </c:spPr>
    </c:backWall>
    <c:plotArea>
      <c:layout>
        <c:manualLayout>
          <c:layoutTarget val="inner"/>
          <c:xMode val="edge"/>
          <c:yMode val="edge"/>
          <c:x val="1.2711864406779664E-2"/>
          <c:y val="1.923076923076927E-2"/>
          <c:w val="0.97351694915254117"/>
          <c:h val="0.85096153846153921"/>
        </c:manualLayout>
      </c:layout>
      <c:bar3DChart>
        <c:barDir val="col"/>
        <c:grouping val="clustered"/>
        <c:varyColors val="1"/>
        <c:ser>
          <c:idx val="0"/>
          <c:order val="0"/>
          <c:tx>
            <c:strRef>
              <c:f>Sheet1!$A$2</c:f>
              <c:strCache>
                <c:ptCount val="1"/>
                <c:pt idx="0">
                  <c:v>东部</c:v>
                </c:pt>
              </c:strCache>
            </c:strRef>
          </c:tx>
          <c:spPr>
            <a:solidFill>
              <a:schemeClr val="accent1"/>
            </a:solidFill>
            <a:ln w="7960">
              <a:solidFill>
                <a:schemeClr val="tx1"/>
              </a:solidFill>
              <a:prstDash val="solid"/>
            </a:ln>
          </c:spPr>
          <c:invertIfNegative val="0"/>
          <c:dPt>
            <c:idx val="1"/>
            <c:invertIfNegative val="0"/>
            <c:bubble3D val="0"/>
            <c:spPr>
              <a:solidFill>
                <a:schemeClr val="accent2"/>
              </a:solidFill>
              <a:ln w="7960">
                <a:solidFill>
                  <a:schemeClr val="tx1"/>
                </a:solidFill>
                <a:prstDash val="solid"/>
              </a:ln>
            </c:spPr>
          </c:dPt>
          <c:dPt>
            <c:idx val="2"/>
            <c:invertIfNegative val="0"/>
            <c:bubble3D val="0"/>
            <c:spPr>
              <a:solidFill>
                <a:schemeClr val="hlink"/>
              </a:solidFill>
              <a:ln w="7960">
                <a:solidFill>
                  <a:schemeClr val="tx1"/>
                </a:solidFill>
                <a:prstDash val="solid"/>
              </a:ln>
            </c:spPr>
          </c:dPt>
          <c:dPt>
            <c:idx val="3"/>
            <c:invertIfNegative val="0"/>
            <c:bubble3D val="0"/>
            <c:spPr>
              <a:solidFill>
                <a:schemeClr val="folHlink"/>
              </a:solidFill>
              <a:ln w="7960">
                <a:solidFill>
                  <a:schemeClr val="tx1"/>
                </a:solidFill>
                <a:prstDash val="solid"/>
              </a:ln>
            </c:spPr>
          </c:dPt>
          <c:dLbls>
            <c:dLbl>
              <c:idx val="0"/>
              <c:layout>
                <c:manualLayout>
                  <c:x val="-7.119119834739171E-2"/>
                  <c:y val="0.38782051282051361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layout>
                <c:manualLayout>
                  <c:x val="-1.3540118819342818E-2"/>
                  <c:y val="0.25629279340772626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layout>
                <c:manualLayout>
                  <c:x val="3.4577062403621295E-2"/>
                  <c:y val="0.19003350960214518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spPr>
              <a:noFill/>
              <a:ln w="15919">
                <a:noFill/>
              </a:ln>
            </c:spPr>
            <c:txPr>
              <a:bodyPr/>
              <a:lstStyle/>
              <a:p>
                <a:pPr>
                  <a:defRPr sz="1128" b="1" i="0" u="none" strike="noStrike" baseline="0">
                    <a:solidFill>
                      <a:schemeClr val="tx1"/>
                    </a:solidFill>
                    <a:latin typeface="黑体"/>
                    <a:ea typeface="黑体"/>
                    <a:cs typeface="黑体"/>
                  </a:defRPr>
                </a:pPr>
                <a:endParaRPr lang="zh-C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Sheet1!$B$1:$E$1</c:f>
              <c:strCache>
                <c:ptCount val="3"/>
                <c:pt idx="0">
                  <c:v>Zr</c:v>
                </c:pt>
                <c:pt idx="1">
                  <c:v>Nb</c:v>
                </c:pt>
                <c:pt idx="2">
                  <c:v>Mo</c:v>
                </c:pt>
              </c:strCache>
            </c:strRef>
          </c:cat>
          <c:val>
            <c:numRef>
              <c:f>Sheet1!$B$2:$E$2</c:f>
              <c:numCache>
                <c:formatCode>General</c:formatCode>
                <c:ptCount val="4"/>
                <c:pt idx="0">
                  <c:v>160</c:v>
                </c:pt>
                <c:pt idx="1">
                  <c:v>143</c:v>
                </c:pt>
                <c:pt idx="2">
                  <c:v>136</c:v>
                </c:pt>
              </c:numCache>
            </c:numRef>
          </c:val>
          <c:shape val="cylinder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gapDepth val="0"/>
        <c:shape val="box"/>
        <c:axId val="81110144"/>
        <c:axId val="81111680"/>
        <c:axId val="0"/>
      </c:bar3DChart>
      <c:catAx>
        <c:axId val="81110144"/>
        <c:scaling>
          <c:orientation val="minMax"/>
        </c:scaling>
        <c:delete val="0"/>
        <c:axPos val="b"/>
        <c:numFmt formatCode="General" sourceLinked="1"/>
        <c:majorTickMark val="in"/>
        <c:minorTickMark val="none"/>
        <c:tickLblPos val="low"/>
        <c:spPr>
          <a:ln w="1990">
            <a:solidFill>
              <a:schemeClr val="tx1"/>
            </a:solidFill>
            <a:prstDash val="solid"/>
          </a:ln>
        </c:spPr>
        <c:txPr>
          <a:bodyPr rot="0" vert="horz"/>
          <a:lstStyle/>
          <a:p>
            <a:pPr>
              <a:defRPr sz="1128" b="1" i="0" u="none" strike="noStrike" baseline="0">
                <a:solidFill>
                  <a:schemeClr val="tx1"/>
                </a:solidFill>
                <a:latin typeface="黑体"/>
                <a:ea typeface="黑体"/>
                <a:cs typeface="黑体"/>
              </a:defRPr>
            </a:pPr>
            <a:endParaRPr lang="zh-CN"/>
          </a:p>
        </c:txPr>
        <c:crossAx val="81111680"/>
        <c:crosses val="autoZero"/>
        <c:auto val="1"/>
        <c:lblAlgn val="ctr"/>
        <c:lblOffset val="100"/>
        <c:tickLblSkip val="1"/>
        <c:tickMarkSkip val="1"/>
        <c:noMultiLvlLbl val="0"/>
      </c:catAx>
      <c:valAx>
        <c:axId val="81111680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one"/>
        <c:crossAx val="81110144"/>
        <c:crosses val="autoZero"/>
        <c:crossBetween val="between"/>
      </c:valAx>
      <c:spPr>
        <a:noFill/>
        <a:ln w="25396">
          <a:noFill/>
        </a:ln>
      </c:spPr>
    </c:plotArea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1128" b="1" i="0" u="none" strike="noStrike" baseline="0">
          <a:solidFill>
            <a:schemeClr val="tx1"/>
          </a:solidFill>
          <a:latin typeface="黑体"/>
          <a:ea typeface="黑体"/>
          <a:cs typeface="黑体"/>
        </a:defRPr>
      </a:pPr>
      <a:endParaRPr lang="zh-CN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2765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200"/>
            </a:lvl1pPr>
          </a:lstStyle>
          <a:p>
            <a:pPr>
              <a:defRPr/>
            </a:pPr>
            <a:fld id="{4DA4E0C6-072F-4F6B-BCB2-91F058450C11}" type="datetimeFigureOut">
              <a:rPr lang="zh-CN" altLang="en-US"/>
              <a:pPr>
                <a:defRPr/>
              </a:pPr>
              <a:t>2017/11/30</a:t>
            </a:fld>
            <a:endParaRPr lang="en-US" altLang="zh-CN"/>
          </a:p>
        </p:txBody>
      </p:sp>
      <p:sp>
        <p:nvSpPr>
          <p:cNvPr id="2970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765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 smtClean="0"/>
              <a:t>单击此处编辑母版文本样式</a:t>
            </a:r>
          </a:p>
          <a:p>
            <a:pPr lvl="1"/>
            <a:r>
              <a:rPr lang="zh-CN" altLang="en-US" noProof="0" smtClean="0"/>
              <a:t>第二级</a:t>
            </a:r>
          </a:p>
          <a:p>
            <a:pPr lvl="2"/>
            <a:r>
              <a:rPr lang="zh-CN" altLang="en-US" noProof="0" smtClean="0"/>
              <a:t>第三级</a:t>
            </a:r>
          </a:p>
          <a:p>
            <a:pPr lvl="3"/>
            <a:r>
              <a:rPr lang="zh-CN" altLang="en-US" noProof="0" smtClean="0"/>
              <a:t>第四级</a:t>
            </a:r>
          </a:p>
          <a:p>
            <a:pPr lvl="4"/>
            <a:r>
              <a:rPr lang="zh-CN" altLang="en-US" noProof="0" smtClean="0"/>
              <a:t>第五级</a:t>
            </a:r>
          </a:p>
        </p:txBody>
      </p:sp>
      <p:sp>
        <p:nvSpPr>
          <p:cNvPr id="2765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0" hangingPunct="0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765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sz="1200"/>
            </a:lvl1pPr>
          </a:lstStyle>
          <a:p>
            <a:pPr>
              <a:defRPr/>
            </a:pPr>
            <a:fld id="{054F5E9C-8E37-4E65-A070-DD2B9A3A94BA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6303194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72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CN" altLang="en-US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 altLang="zh-CN" smtClean="0"/>
              <a:t>商少明</a:t>
            </a:r>
          </a:p>
        </p:txBody>
      </p:sp>
      <p:sp>
        <p:nvSpPr>
          <p:cNvPr id="31747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</p:spPr>
        <p:txBody>
          <a:bodyPr/>
          <a:lstStyle/>
          <a:p>
            <a:fld id="{8273DDAE-02AF-47F7-8317-12E049F6EA24}" type="datetime1">
              <a:rPr lang="zh-CN" altLang="en-US" smtClean="0"/>
              <a:pPr/>
              <a:t>2017/11/30</a:t>
            </a:fld>
            <a:endParaRPr lang="en-US" altLang="zh-CN" smtClean="0"/>
          </a:p>
        </p:txBody>
      </p:sp>
      <p:sp>
        <p:nvSpPr>
          <p:cNvPr id="3174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87C2175-37A9-4255-B689-C0056FEA9E65}" type="slidenum">
              <a:rPr lang="en-US" altLang="zh-CN" smtClean="0"/>
              <a:pPr/>
              <a:t>2</a:t>
            </a:fld>
            <a:endParaRPr lang="en-US" altLang="zh-CN" smtClean="0"/>
          </a:p>
        </p:txBody>
      </p:sp>
      <p:sp>
        <p:nvSpPr>
          <p:cNvPr id="3174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3175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endParaRPr lang="zh-CN" altLang="zh-CN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863600" y="2012950"/>
            <a:ext cx="9794875" cy="1389063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728788" y="3671888"/>
            <a:ext cx="80645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</p:spTree>
  </p:cSld>
  <p:clrMapOvr>
    <a:masterClrMapping/>
  </p:clrMapOvr>
  <p:transition spd="slow">
    <p:split orient="vert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6263" y="258763"/>
            <a:ext cx="10369550" cy="1081087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76263" y="1511300"/>
            <a:ext cx="10369550" cy="427672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 spd="slow">
    <p:split orient="vert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09638" y="4164013"/>
            <a:ext cx="9794875" cy="1287462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09638" y="2746375"/>
            <a:ext cx="9794875" cy="1417638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</p:cSld>
  <p:clrMapOvr>
    <a:masterClrMapping/>
  </p:clrMapOvr>
  <p:transition spd="slow">
    <p:split orient="vert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6263" y="258763"/>
            <a:ext cx="10369550" cy="1081087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576263" y="1511300"/>
            <a:ext cx="5108575" cy="4276725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837238" y="1511300"/>
            <a:ext cx="5108575" cy="4276725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 spd="slow">
    <p:split orient="vert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6263" y="258763"/>
            <a:ext cx="10369550" cy="1081087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576263" y="1450975"/>
            <a:ext cx="5091112" cy="604838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76263" y="2055813"/>
            <a:ext cx="5091112" cy="3732212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5853113" y="1450975"/>
            <a:ext cx="5092700" cy="604838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5853113" y="2055813"/>
            <a:ext cx="5092700" cy="3732212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 spd="slow">
    <p:split orient="vert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6263" y="258763"/>
            <a:ext cx="10369550" cy="1081087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  <p:transition spd="slow">
    <p:split orient="vert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>
    <p:split orient="vert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6263" y="258763"/>
            <a:ext cx="3790950" cy="1096962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05325" y="258763"/>
            <a:ext cx="6440488" cy="5529262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576263" y="1355725"/>
            <a:ext cx="3790950" cy="44323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</p:cSld>
  <p:clrMapOvr>
    <a:masterClrMapping/>
  </p:clrMapOvr>
  <p:transition spd="slow">
    <p:split orient="vert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259013" y="4535488"/>
            <a:ext cx="6911975" cy="536575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259013" y="579438"/>
            <a:ext cx="6911975" cy="38877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259013" y="5072063"/>
            <a:ext cx="6911975" cy="76041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</p:cSld>
  <p:clrMapOvr>
    <a:masterClrMapping/>
  </p:clrMapOvr>
  <p:transition spd="slow">
    <p:split orient="vert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6263" y="258763"/>
            <a:ext cx="10369550" cy="1081087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76263" y="1511300"/>
            <a:ext cx="10369550" cy="42767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 spd="slow">
    <p:split orient="vert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353425" y="258763"/>
            <a:ext cx="2592388" cy="5529262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76263" y="258763"/>
            <a:ext cx="7624762" cy="5529262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 spd="slow">
    <p:split orient="vert"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863600" y="2012950"/>
            <a:ext cx="9794875" cy="1389063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728788" y="3671888"/>
            <a:ext cx="80645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</p:spTree>
  </p:cSld>
  <p:clrMapOvr>
    <a:masterClrMapping/>
  </p:clrMapOvr>
  <p:transition spd="slow">
    <p:split orient="vert"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6263" y="258763"/>
            <a:ext cx="10369550" cy="1081087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76263" y="1511300"/>
            <a:ext cx="10369550" cy="427672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 spd="slow">
    <p:split orient="vert"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09638" y="4164013"/>
            <a:ext cx="9794875" cy="1287462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09638" y="2746375"/>
            <a:ext cx="9794875" cy="1417638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</p:cSld>
  <p:clrMapOvr>
    <a:masterClrMapping/>
  </p:clrMapOvr>
  <p:transition spd="slow">
    <p:split orient="vert"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6263" y="258763"/>
            <a:ext cx="10369550" cy="1081087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576263" y="1511300"/>
            <a:ext cx="5108575" cy="4276725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837238" y="1511300"/>
            <a:ext cx="5108575" cy="4276725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 spd="slow">
    <p:split orient="vert"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6263" y="258763"/>
            <a:ext cx="10369550" cy="1081087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576263" y="1450975"/>
            <a:ext cx="5091112" cy="604838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76263" y="2055813"/>
            <a:ext cx="5091112" cy="3732212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5853113" y="1450975"/>
            <a:ext cx="5092700" cy="604838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5853113" y="2055813"/>
            <a:ext cx="5092700" cy="3732212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 spd="slow">
    <p:split orient="vert"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6263" y="258763"/>
            <a:ext cx="10369550" cy="1081087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  <p:transition spd="slow">
    <p:split orient="vert"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>
    <p:split orient="vert"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6263" y="258763"/>
            <a:ext cx="3790950" cy="1096962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05325" y="258763"/>
            <a:ext cx="6440488" cy="5529262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576263" y="1355725"/>
            <a:ext cx="3790950" cy="44323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</p:cSld>
  <p:clrMapOvr>
    <a:masterClrMapping/>
  </p:clrMapOvr>
  <p:transition spd="slow">
    <p:split orient="vert"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259013" y="4535488"/>
            <a:ext cx="6911975" cy="536575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259013" y="579438"/>
            <a:ext cx="6911975" cy="38877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259013" y="5072063"/>
            <a:ext cx="6911975" cy="76041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</p:cSld>
  <p:clrMapOvr>
    <a:masterClrMapping/>
  </p:clrMapOvr>
  <p:transition spd="slow">
    <p:split orient="vert"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6263" y="258763"/>
            <a:ext cx="10369550" cy="1081087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76263" y="1511300"/>
            <a:ext cx="10369550" cy="42767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 spd="slow">
    <p:split orient="vert"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353425" y="258763"/>
            <a:ext cx="2592388" cy="5529262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76263" y="258763"/>
            <a:ext cx="7624762" cy="5529262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 spd="slow">
    <p:split orient="vert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2.jpe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50" name="Group 152"/>
          <p:cNvGrpSpPr>
            <a:grpSpLocks/>
          </p:cNvGrpSpPr>
          <p:nvPr userDrawn="1"/>
        </p:nvGrpSpPr>
        <p:grpSpPr bwMode="auto">
          <a:xfrm>
            <a:off x="-34925" y="107950"/>
            <a:ext cx="11588750" cy="6408738"/>
            <a:chOff x="-22" y="68"/>
            <a:chExt cx="7300" cy="4037"/>
          </a:xfrm>
        </p:grpSpPr>
        <p:sp>
          <p:nvSpPr>
            <p:cNvPr id="72707" name="Freeform 1027"/>
            <p:cNvSpPr>
              <a:spLocks/>
            </p:cNvSpPr>
            <p:nvPr userDrawn="1"/>
          </p:nvSpPr>
          <p:spPr bwMode="auto">
            <a:xfrm>
              <a:off x="80" y="431"/>
              <a:ext cx="7080" cy="3174"/>
            </a:xfrm>
            <a:custGeom>
              <a:avLst/>
              <a:gdLst/>
              <a:ahLst/>
              <a:cxnLst>
                <a:cxn ang="0">
                  <a:pos x="5268" y="0"/>
                </a:cxn>
                <a:cxn ang="0">
                  <a:pos x="0" y="0"/>
                </a:cxn>
                <a:cxn ang="0">
                  <a:pos x="0" y="2976"/>
                </a:cxn>
              </a:cxnLst>
              <a:rect l="0" t="0" r="r" b="b"/>
              <a:pathLst>
                <a:path w="5269" h="2977">
                  <a:moveTo>
                    <a:pt x="5268" y="0"/>
                  </a:moveTo>
                  <a:lnTo>
                    <a:pt x="0" y="0"/>
                  </a:lnTo>
                  <a:lnTo>
                    <a:pt x="0" y="2976"/>
                  </a:lnTo>
                </a:path>
              </a:pathLst>
            </a:custGeom>
            <a:noFill/>
            <a:ln w="12700" cap="rnd" cmpd="sng">
              <a:solidFill>
                <a:srgbClr val="B2B2B2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pPr algn="ctr">
                <a:defRPr/>
              </a:pPr>
              <a:endParaRPr kumimoji="1" lang="zh-CN" altLang="en-US" sz="1600">
                <a:ea typeface="楷体_GB2312"/>
              </a:endParaRPr>
            </a:p>
          </p:txBody>
        </p:sp>
        <p:grpSp>
          <p:nvGrpSpPr>
            <p:cNvPr id="2053" name="Group 1042"/>
            <p:cNvGrpSpPr>
              <a:grpSpLocks/>
            </p:cNvGrpSpPr>
            <p:nvPr userDrawn="1"/>
          </p:nvGrpSpPr>
          <p:grpSpPr bwMode="auto">
            <a:xfrm rot="5400000">
              <a:off x="3597" y="-3112"/>
              <a:ext cx="68" cy="7141"/>
              <a:chOff x="336" y="1103"/>
              <a:chExt cx="97" cy="2785"/>
            </a:xfrm>
          </p:grpSpPr>
          <p:sp>
            <p:nvSpPr>
              <p:cNvPr id="72723" name="Rectangle 1043"/>
              <p:cNvSpPr>
                <a:spLocks noChangeArrowheads="1"/>
              </p:cNvSpPr>
              <p:nvPr userDrawn="1"/>
            </p:nvSpPr>
            <p:spPr bwMode="auto">
              <a:xfrm>
                <a:off x="338" y="1104"/>
                <a:ext cx="97" cy="2784"/>
              </a:xfrm>
              <a:prstGeom prst="rect">
                <a:avLst/>
              </a:prstGeom>
              <a:solidFill>
                <a:srgbClr val="DDDDDD"/>
              </a:solidFill>
              <a:ln w="15875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kumimoji="1" lang="zh-CN" altLang="zh-CN" sz="2400"/>
              </a:p>
            </p:txBody>
          </p:sp>
          <p:sp>
            <p:nvSpPr>
              <p:cNvPr id="72724" name="Freeform 1044"/>
              <p:cNvSpPr>
                <a:spLocks/>
              </p:cNvSpPr>
              <p:nvPr userDrawn="1"/>
            </p:nvSpPr>
            <p:spPr bwMode="auto">
              <a:xfrm>
                <a:off x="338" y="1103"/>
                <a:ext cx="97" cy="2785"/>
              </a:xfrm>
              <a:custGeom>
                <a:avLst/>
                <a:gdLst>
                  <a:gd name="T0" fmla="*/ 0 w 97"/>
                  <a:gd name="T1" fmla="*/ 2784 h 2785"/>
                  <a:gd name="T2" fmla="*/ 96 w 97"/>
                  <a:gd name="T3" fmla="*/ 2784 h 2785"/>
                  <a:gd name="T4" fmla="*/ 96 w 97"/>
                  <a:gd name="T5" fmla="*/ 0 h 2785"/>
                  <a:gd name="T6" fmla="*/ 0 60000 65536"/>
                  <a:gd name="T7" fmla="*/ 0 60000 65536"/>
                  <a:gd name="T8" fmla="*/ 0 60000 65536"/>
                  <a:gd name="T9" fmla="*/ 0 w 97"/>
                  <a:gd name="T10" fmla="*/ 0 h 2785"/>
                  <a:gd name="T11" fmla="*/ 97 w 97"/>
                  <a:gd name="T12" fmla="*/ 2785 h 2785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97" h="2785">
                    <a:moveTo>
                      <a:pt x="0" y="2784"/>
                    </a:moveTo>
                    <a:lnTo>
                      <a:pt x="96" y="2784"/>
                    </a:lnTo>
                    <a:lnTo>
                      <a:pt x="96" y="0"/>
                    </a:lnTo>
                  </a:path>
                </a:pathLst>
              </a:custGeom>
              <a:solidFill>
                <a:srgbClr val="DDDDDD"/>
              </a:solidFill>
              <a:ln w="15875" cap="rnd">
                <a:noFill/>
                <a:round/>
                <a:headEnd type="none" w="sm" len="sm"/>
                <a:tailEnd type="none" w="sm" len="sm"/>
              </a:ln>
            </p:spPr>
            <p:txBody>
              <a:bodyPr rot="10800000" vert="eaVert"/>
              <a:lstStyle/>
              <a:p>
                <a:pPr algn="ctr">
                  <a:defRPr/>
                </a:pPr>
                <a:endParaRPr kumimoji="1" lang="zh-CN" altLang="en-US" sz="1600">
                  <a:ea typeface="楷体_GB2312"/>
                </a:endParaRPr>
              </a:p>
            </p:txBody>
          </p:sp>
          <p:sp>
            <p:nvSpPr>
              <p:cNvPr id="72725" name="Freeform 1045"/>
              <p:cNvSpPr>
                <a:spLocks/>
              </p:cNvSpPr>
              <p:nvPr userDrawn="1"/>
            </p:nvSpPr>
            <p:spPr bwMode="auto">
              <a:xfrm>
                <a:off x="338" y="1103"/>
                <a:ext cx="97" cy="2785"/>
              </a:xfrm>
              <a:custGeom>
                <a:avLst/>
                <a:gdLst>
                  <a:gd name="T0" fmla="*/ 0 w 97"/>
                  <a:gd name="T1" fmla="*/ 2784 h 2785"/>
                  <a:gd name="T2" fmla="*/ 0 w 97"/>
                  <a:gd name="T3" fmla="*/ 0 h 2785"/>
                  <a:gd name="T4" fmla="*/ 96 w 97"/>
                  <a:gd name="T5" fmla="*/ 0 h 2785"/>
                  <a:gd name="T6" fmla="*/ 0 60000 65536"/>
                  <a:gd name="T7" fmla="*/ 0 60000 65536"/>
                  <a:gd name="T8" fmla="*/ 0 60000 65536"/>
                  <a:gd name="T9" fmla="*/ 0 w 97"/>
                  <a:gd name="T10" fmla="*/ 0 h 2785"/>
                  <a:gd name="T11" fmla="*/ 97 w 97"/>
                  <a:gd name="T12" fmla="*/ 2785 h 2785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97" h="2785">
                    <a:moveTo>
                      <a:pt x="0" y="2784"/>
                    </a:moveTo>
                    <a:lnTo>
                      <a:pt x="0" y="0"/>
                    </a:lnTo>
                    <a:lnTo>
                      <a:pt x="96" y="0"/>
                    </a:lnTo>
                  </a:path>
                </a:pathLst>
              </a:custGeom>
              <a:solidFill>
                <a:srgbClr val="DDDDDD"/>
              </a:solidFill>
              <a:ln w="15875" cap="rnd">
                <a:noFill/>
                <a:round/>
                <a:headEnd type="none" w="sm" len="sm"/>
                <a:tailEnd type="none" w="sm" len="sm"/>
              </a:ln>
            </p:spPr>
            <p:txBody>
              <a:bodyPr rot="10800000" vert="eaVert"/>
              <a:lstStyle/>
              <a:p>
                <a:pPr algn="ctr">
                  <a:defRPr/>
                </a:pPr>
                <a:endParaRPr kumimoji="1" lang="zh-CN" altLang="en-US" sz="1600">
                  <a:ea typeface="楷体_GB2312"/>
                </a:endParaRPr>
              </a:p>
            </p:txBody>
          </p:sp>
        </p:grpSp>
        <p:sp>
          <p:nvSpPr>
            <p:cNvPr id="72708" name="Freeform 1028"/>
            <p:cNvSpPr>
              <a:spLocks/>
            </p:cNvSpPr>
            <p:nvPr userDrawn="1"/>
          </p:nvSpPr>
          <p:spPr bwMode="auto">
            <a:xfrm>
              <a:off x="96" y="431"/>
              <a:ext cx="7080" cy="3174"/>
            </a:xfrm>
            <a:custGeom>
              <a:avLst/>
              <a:gdLst/>
              <a:ahLst/>
              <a:cxnLst>
                <a:cxn ang="0">
                  <a:pos x="5268" y="0"/>
                </a:cxn>
                <a:cxn ang="0">
                  <a:pos x="5268" y="2976"/>
                </a:cxn>
                <a:cxn ang="0">
                  <a:pos x="0" y="2976"/>
                </a:cxn>
              </a:cxnLst>
              <a:rect l="0" t="0" r="r" b="b"/>
              <a:pathLst>
                <a:path w="5269" h="2977">
                  <a:moveTo>
                    <a:pt x="5268" y="0"/>
                  </a:moveTo>
                  <a:lnTo>
                    <a:pt x="5268" y="2976"/>
                  </a:lnTo>
                  <a:lnTo>
                    <a:pt x="0" y="2976"/>
                  </a:lnTo>
                </a:path>
              </a:pathLst>
            </a:custGeom>
            <a:noFill/>
            <a:ln w="12700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pPr algn="ctr">
                <a:defRPr/>
              </a:pPr>
              <a:endParaRPr kumimoji="1" lang="zh-CN" altLang="en-US" sz="1600">
                <a:ea typeface="楷体_GB2312"/>
              </a:endParaRPr>
            </a:p>
          </p:txBody>
        </p:sp>
        <p:sp>
          <p:nvSpPr>
            <p:cNvPr id="72716" name="Rectangle 1036"/>
            <p:cNvSpPr>
              <a:spLocks noChangeArrowheads="1"/>
            </p:cNvSpPr>
            <p:nvPr userDrawn="1"/>
          </p:nvSpPr>
          <p:spPr bwMode="auto">
            <a:xfrm>
              <a:off x="61" y="68"/>
              <a:ext cx="7141" cy="3584"/>
            </a:xfrm>
            <a:prstGeom prst="rect">
              <a:avLst/>
            </a:prstGeom>
            <a:noFill/>
            <a:ln w="254000">
              <a:pattFill prst="dkHorz">
                <a:fgClr>
                  <a:srgbClr val="C8C8C8"/>
                </a:fgClr>
                <a:bgClr>
                  <a:schemeClr val="bg1"/>
                </a:bgClr>
              </a:patt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algn="ctr">
                <a:defRPr/>
              </a:pPr>
              <a:endParaRPr kumimoji="1" lang="zh-CN" altLang="en-US" sz="1600">
                <a:ea typeface="楷体_GB2312"/>
              </a:endParaRPr>
            </a:p>
          </p:txBody>
        </p:sp>
        <p:grpSp>
          <p:nvGrpSpPr>
            <p:cNvPr id="2056" name="Group 1038"/>
            <p:cNvGrpSpPr>
              <a:grpSpLocks/>
            </p:cNvGrpSpPr>
            <p:nvPr userDrawn="1"/>
          </p:nvGrpSpPr>
          <p:grpSpPr bwMode="auto">
            <a:xfrm>
              <a:off x="306" y="584"/>
              <a:ext cx="68" cy="2879"/>
              <a:chOff x="336" y="1103"/>
              <a:chExt cx="97" cy="2785"/>
            </a:xfrm>
          </p:grpSpPr>
          <p:sp>
            <p:nvSpPr>
              <p:cNvPr id="72719" name="Rectangle 1039"/>
              <p:cNvSpPr>
                <a:spLocks noChangeArrowheads="1"/>
              </p:cNvSpPr>
              <p:nvPr userDrawn="1"/>
            </p:nvSpPr>
            <p:spPr bwMode="auto">
              <a:xfrm>
                <a:off x="336" y="1104"/>
                <a:ext cx="96" cy="2784"/>
              </a:xfrm>
              <a:prstGeom prst="rect">
                <a:avLst/>
              </a:prstGeom>
              <a:solidFill>
                <a:srgbClr val="DDDDDD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kumimoji="1" lang="zh-CN" altLang="zh-CN" sz="2400"/>
              </a:p>
            </p:txBody>
          </p:sp>
          <p:sp>
            <p:nvSpPr>
              <p:cNvPr id="72720" name="Freeform 1040"/>
              <p:cNvSpPr>
                <a:spLocks/>
              </p:cNvSpPr>
              <p:nvPr userDrawn="1"/>
            </p:nvSpPr>
            <p:spPr bwMode="auto">
              <a:xfrm>
                <a:off x="336" y="1103"/>
                <a:ext cx="97" cy="2785"/>
              </a:xfrm>
              <a:custGeom>
                <a:avLst/>
                <a:gdLst>
                  <a:gd name="T0" fmla="*/ 0 w 97"/>
                  <a:gd name="T1" fmla="*/ 2784 h 2785"/>
                  <a:gd name="T2" fmla="*/ 96 w 97"/>
                  <a:gd name="T3" fmla="*/ 2784 h 2785"/>
                  <a:gd name="T4" fmla="*/ 96 w 97"/>
                  <a:gd name="T5" fmla="*/ 0 h 2785"/>
                  <a:gd name="T6" fmla="*/ 0 60000 65536"/>
                  <a:gd name="T7" fmla="*/ 0 60000 65536"/>
                  <a:gd name="T8" fmla="*/ 0 60000 65536"/>
                  <a:gd name="T9" fmla="*/ 0 w 97"/>
                  <a:gd name="T10" fmla="*/ 0 h 2785"/>
                  <a:gd name="T11" fmla="*/ 97 w 97"/>
                  <a:gd name="T12" fmla="*/ 2785 h 2785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97" h="2785">
                    <a:moveTo>
                      <a:pt x="0" y="2784"/>
                    </a:moveTo>
                    <a:lnTo>
                      <a:pt x="96" y="2784"/>
                    </a:lnTo>
                    <a:lnTo>
                      <a:pt x="96" y="0"/>
                    </a:lnTo>
                  </a:path>
                </a:pathLst>
              </a:custGeom>
              <a:solidFill>
                <a:srgbClr val="DDDDDD"/>
              </a:solidFill>
              <a:ln w="12700" cap="rnd">
                <a:solidFill>
                  <a:srgbClr val="B2B2B2"/>
                </a:solidFill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algn="ctr">
                  <a:defRPr/>
                </a:pPr>
                <a:endParaRPr kumimoji="1" lang="zh-CN" altLang="en-US" sz="1600">
                  <a:ea typeface="楷体_GB2312"/>
                </a:endParaRPr>
              </a:p>
            </p:txBody>
          </p:sp>
          <p:sp>
            <p:nvSpPr>
              <p:cNvPr id="72721" name="Freeform 1041"/>
              <p:cNvSpPr>
                <a:spLocks/>
              </p:cNvSpPr>
              <p:nvPr userDrawn="1"/>
            </p:nvSpPr>
            <p:spPr bwMode="auto">
              <a:xfrm>
                <a:off x="336" y="1103"/>
                <a:ext cx="97" cy="2785"/>
              </a:xfrm>
              <a:custGeom>
                <a:avLst/>
                <a:gdLst>
                  <a:gd name="T0" fmla="*/ 0 w 97"/>
                  <a:gd name="T1" fmla="*/ 2784 h 2785"/>
                  <a:gd name="T2" fmla="*/ 0 w 97"/>
                  <a:gd name="T3" fmla="*/ 0 h 2785"/>
                  <a:gd name="T4" fmla="*/ 96 w 97"/>
                  <a:gd name="T5" fmla="*/ 0 h 2785"/>
                  <a:gd name="T6" fmla="*/ 0 60000 65536"/>
                  <a:gd name="T7" fmla="*/ 0 60000 65536"/>
                  <a:gd name="T8" fmla="*/ 0 60000 65536"/>
                  <a:gd name="T9" fmla="*/ 0 w 97"/>
                  <a:gd name="T10" fmla="*/ 0 h 2785"/>
                  <a:gd name="T11" fmla="*/ 97 w 97"/>
                  <a:gd name="T12" fmla="*/ 2785 h 2785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97" h="2785">
                    <a:moveTo>
                      <a:pt x="0" y="2784"/>
                    </a:moveTo>
                    <a:lnTo>
                      <a:pt x="0" y="0"/>
                    </a:lnTo>
                    <a:lnTo>
                      <a:pt x="96" y="0"/>
                    </a:lnTo>
                  </a:path>
                </a:pathLst>
              </a:custGeom>
              <a:solidFill>
                <a:srgbClr val="DDDDDD"/>
              </a:solidFill>
              <a:ln w="12700" cap="rnd">
                <a:solidFill>
                  <a:srgbClr val="FFFFFF"/>
                </a:solidFill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algn="ctr">
                  <a:defRPr/>
                </a:pPr>
                <a:endParaRPr kumimoji="1" lang="zh-CN" altLang="en-US" sz="1600">
                  <a:ea typeface="楷体_GB2312"/>
                </a:endParaRPr>
              </a:p>
            </p:txBody>
          </p:sp>
        </p:grpSp>
        <p:sp>
          <p:nvSpPr>
            <p:cNvPr id="3211" name="Rectangle 139" descr="深色横线"/>
            <p:cNvSpPr>
              <a:spLocks noChangeArrowheads="1"/>
            </p:cNvSpPr>
            <p:nvPr userDrawn="1"/>
          </p:nvSpPr>
          <p:spPr bwMode="auto">
            <a:xfrm>
              <a:off x="-22" y="3652"/>
              <a:ext cx="7300" cy="453"/>
            </a:xfrm>
            <a:prstGeom prst="rect">
              <a:avLst/>
            </a:prstGeom>
            <a:pattFill prst="dkHorz">
              <a:fgClr>
                <a:srgbClr val="C8C8C8"/>
              </a:fgClr>
              <a:bgClr>
                <a:schemeClr val="bg1"/>
              </a:bgClr>
            </a:pattFill>
            <a:ln w="12700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3215" name="AutoShape 143"/>
            <p:cNvSpPr>
              <a:spLocks noChangeArrowheads="1"/>
            </p:cNvSpPr>
            <p:nvPr userDrawn="1"/>
          </p:nvSpPr>
          <p:spPr bwMode="auto">
            <a:xfrm>
              <a:off x="136" y="136"/>
              <a:ext cx="6994" cy="295"/>
            </a:xfrm>
            <a:prstGeom prst="flowChartAlternateProcess">
              <a:avLst/>
            </a:prstGeom>
            <a:solidFill>
              <a:srgbClr val="EAEAEA"/>
            </a:solidFill>
            <a:ln w="31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3218" name="Rectangle 146"/>
            <p:cNvSpPr>
              <a:spLocks noChangeArrowheads="1"/>
            </p:cNvSpPr>
            <p:nvPr userDrawn="1"/>
          </p:nvSpPr>
          <p:spPr bwMode="auto">
            <a:xfrm>
              <a:off x="136" y="499"/>
              <a:ext cx="6982" cy="3083"/>
            </a:xfrm>
            <a:prstGeom prst="rect">
              <a:avLst/>
            </a:prstGeom>
            <a:solidFill>
              <a:srgbClr val="EAEAEA">
                <a:alpha val="85001"/>
              </a:srgbClr>
            </a:solidFill>
            <a:ln w="19050">
              <a:solidFill>
                <a:srgbClr val="F8F8F8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/>
            </a:p>
          </p:txBody>
        </p:sp>
      </p:grpSp>
      <p:sp>
        <p:nvSpPr>
          <p:cNvPr id="2051" name="Rectangle 149"/>
          <p:cNvSpPr>
            <a:spLocks noGrp="1" noChangeArrowheads="1"/>
          </p:cNvSpPr>
          <p:nvPr>
            <p:ph type="title"/>
          </p:nvPr>
        </p:nvSpPr>
        <p:spPr bwMode="auto">
          <a:xfrm>
            <a:off x="323850" y="215900"/>
            <a:ext cx="10369550" cy="427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zh-CN" altLang="en-US" smtClean="0"/>
              <a:t>单击此处编辑母版标题样式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transition spd="slow">
    <p:split orient="vert"/>
  </p:transition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200" b="1">
          <a:solidFill>
            <a:srgbClr val="FF0000"/>
          </a:solidFill>
          <a:latin typeface="+mj-lt"/>
          <a:ea typeface="黑体" pitchFamily="2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200" b="1">
          <a:solidFill>
            <a:srgbClr val="FF0000"/>
          </a:solidFill>
          <a:latin typeface="Times New Roman" pitchFamily="18" charset="0"/>
          <a:ea typeface="黑体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200" b="1">
          <a:solidFill>
            <a:srgbClr val="FF0000"/>
          </a:solidFill>
          <a:latin typeface="Times New Roman" pitchFamily="18" charset="0"/>
          <a:ea typeface="黑体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200" b="1">
          <a:solidFill>
            <a:srgbClr val="FF0000"/>
          </a:solidFill>
          <a:latin typeface="Times New Roman" pitchFamily="18" charset="0"/>
          <a:ea typeface="黑体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200" b="1">
          <a:solidFill>
            <a:srgbClr val="FF0000"/>
          </a:solidFill>
          <a:latin typeface="Times New Roman" pitchFamily="18" charset="0"/>
          <a:ea typeface="黑体" pitchFamily="2" charset="-122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6600CC"/>
          </a:solidFill>
          <a:latin typeface="Times New Roman" pitchFamily="18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6600CC"/>
          </a:solidFill>
          <a:latin typeface="Times New Roman" pitchFamily="18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6600CC"/>
          </a:solidFill>
          <a:latin typeface="Times New Roman" pitchFamily="18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6600CC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FFFFCC"/>
        </a:buClr>
        <a:buSzPct val="90000"/>
        <a:buFont typeface="Wingdings" pitchFamily="2" charset="2"/>
        <a:buChar char="§"/>
        <a:defRPr sz="3200" b="1">
          <a:solidFill>
            <a:srgbClr val="FFFFCC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rgbClr val="FFFFCC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rgbClr val="FFFFCC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rgbClr val="FFFFCC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rgbClr val="FFFFCC"/>
          </a:solidFill>
          <a:latin typeface="+mn-lt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rgbClr val="FFFFCC"/>
          </a:solidFill>
          <a:latin typeface="+mn-lt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rgbClr val="FFFFCC"/>
          </a:solidFill>
          <a:latin typeface="+mn-lt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rgbClr val="FFFFCC"/>
          </a:solidFill>
          <a:latin typeface="+mn-lt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rgbClr val="FFFFCC"/>
          </a:solidFill>
          <a:latin typeface="+mn-lt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dk2" tx1="lt1" bg2="dk1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ransition spd="slow">
    <p:split orient="vert"/>
  </p:transition>
  <p:timing>
    <p:tnLst>
      <p:par>
        <p:cTn id="1" dur="indefinite" restart="never" nodeType="tmRoot"/>
      </p:par>
    </p:tnLst>
  </p:timing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6600CC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6600CC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6600CC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6600CC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6600CC"/>
          </a:solidFill>
          <a:latin typeface="Times New Roman" pitchFamily="18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6600CC"/>
          </a:solidFill>
          <a:latin typeface="Times New Roman" pitchFamily="18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6600CC"/>
          </a:solidFill>
          <a:latin typeface="Times New Roman" pitchFamily="18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6600CC"/>
          </a:solidFill>
          <a:latin typeface="Times New Roman" pitchFamily="18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6600CC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FFFFCC"/>
        </a:buClr>
        <a:buSzPct val="90000"/>
        <a:buFont typeface="Wingdings" pitchFamily="2" charset="2"/>
        <a:buChar char="§"/>
        <a:defRPr sz="3200" b="1">
          <a:solidFill>
            <a:srgbClr val="FFFFCC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rgbClr val="FFFFCC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rgbClr val="FFFFCC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rgbClr val="FFFFCC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rgbClr val="FFFFCC"/>
          </a:solidFill>
          <a:latin typeface="+mn-lt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rgbClr val="FFFFCC"/>
          </a:solidFill>
          <a:latin typeface="+mn-lt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rgbClr val="FFFFCC"/>
          </a:solidFill>
          <a:latin typeface="+mn-lt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rgbClr val="FFFFCC"/>
          </a:solidFill>
          <a:latin typeface="+mn-lt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rgbClr val="FFFFCC"/>
          </a:solidFill>
          <a:latin typeface="+mn-lt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07-1.pptx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Relationship Id="rId4" Type="http://schemas.openxmlformats.org/officeDocument/2006/relationships/hyperlink" Target="07-2.pptx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1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eg"/><Relationship Id="rId5" Type="http://schemas.openxmlformats.org/officeDocument/2006/relationships/image" Target="../media/image3.jpeg"/><Relationship Id="rId4" Type="http://schemas.openxmlformats.org/officeDocument/2006/relationships/slide" Target="slide1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../../04MEDIA/ch07/&#23631;&#34109;&#25928;&#24212;.swf" TargetMode="External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audio" Target="../media/audio4.wav"/><Relationship Id="rId7" Type="http://schemas.openxmlformats.org/officeDocument/2006/relationships/image" Target="../media/image4.jpeg"/><Relationship Id="rId2" Type="http://schemas.openxmlformats.org/officeDocument/2006/relationships/audio" Target="../media/audio3.wav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jpeg"/><Relationship Id="rId5" Type="http://schemas.openxmlformats.org/officeDocument/2006/relationships/image" Target="../media/image7.jpeg"/><Relationship Id="rId4" Type="http://schemas.openxmlformats.org/officeDocument/2006/relationships/audio" Target="../media/audio2.wav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audio" Target="../media/audio2.wav"/><Relationship Id="rId2" Type="http://schemas.openxmlformats.org/officeDocument/2006/relationships/audio" Target="../media/audio5.wav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jpeg"/><Relationship Id="rId5" Type="http://schemas.openxmlformats.org/officeDocument/2006/relationships/image" Target="../media/image3.jpeg"/><Relationship Id="rId4" Type="http://schemas.openxmlformats.org/officeDocument/2006/relationships/audio" Target="../media/audio1.wav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audio" Target="../media/audio3.wav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jpeg"/><Relationship Id="rId5" Type="http://schemas.openxmlformats.org/officeDocument/2006/relationships/image" Target="../media/image3.jpeg"/><Relationship Id="rId4" Type="http://schemas.openxmlformats.org/officeDocument/2006/relationships/hyperlink" Target="../../MEDIA/ch07/&#30005;&#23376;&#25490;&#24067;&#39034;&#24207;.swf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audio" Target="../media/audio3.wav"/><Relationship Id="rId2" Type="http://schemas.openxmlformats.org/officeDocument/2006/relationships/audio" Target="../media/audio5.wav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3.wav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" Target="slide13.xml"/><Relationship Id="rId7" Type="http://schemas.openxmlformats.org/officeDocument/2006/relationships/image" Target="../media/image4.jpeg"/><Relationship Id="rId2" Type="http://schemas.openxmlformats.org/officeDocument/2006/relationships/audio" Target="../media/audio6.wav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jpeg"/><Relationship Id="rId5" Type="http://schemas.openxmlformats.org/officeDocument/2006/relationships/slide" Target="slide14.xml"/><Relationship Id="rId4" Type="http://schemas.openxmlformats.org/officeDocument/2006/relationships/slide" Target="slide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audio" Target="../media/audio2.wav"/><Relationship Id="rId2" Type="http://schemas.openxmlformats.org/officeDocument/2006/relationships/audio" Target="../media/audio3.wav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eg"/><Relationship Id="rId4" Type="http://schemas.openxmlformats.org/officeDocument/2006/relationships/audio" Target="../media/audio6.wav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audio" Target="../media/audio3.wav"/><Relationship Id="rId7" Type="http://schemas.openxmlformats.org/officeDocument/2006/relationships/image" Target="../media/image4.jpeg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2.xml"/><Relationship Id="rId6" Type="http://schemas.openxmlformats.org/officeDocument/2006/relationships/slide" Target="slide11.xml"/><Relationship Id="rId5" Type="http://schemas.openxmlformats.org/officeDocument/2006/relationships/image" Target="../media/image8.png"/><Relationship Id="rId4" Type="http://schemas.openxmlformats.org/officeDocument/2006/relationships/audio" Target="../media/audio6.wav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slide" Target="slide1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eg"/><Relationship Id="rId4" Type="http://schemas.openxmlformats.org/officeDocument/2006/relationships/slide" Target="slide11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jpeg"/><Relationship Id="rId3" Type="http://schemas.openxmlformats.org/officeDocument/2006/relationships/audio" Target="../media/audio2.wav"/><Relationship Id="rId7" Type="http://schemas.openxmlformats.org/officeDocument/2006/relationships/image" Target="../media/image3.jpeg"/><Relationship Id="rId2" Type="http://schemas.openxmlformats.org/officeDocument/2006/relationships/audio" Target="../media/audio4.wav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jpeg"/><Relationship Id="rId5" Type="http://schemas.openxmlformats.org/officeDocument/2006/relationships/image" Target="../media/image9.jpeg"/><Relationship Id="rId4" Type="http://schemas.openxmlformats.org/officeDocument/2006/relationships/audio" Target="../media/audio3.wav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audio" Target="../media/audio6.wav"/><Relationship Id="rId7" Type="http://schemas.openxmlformats.org/officeDocument/2006/relationships/image" Target="../media/image4.jpeg"/><Relationship Id="rId2" Type="http://schemas.openxmlformats.org/officeDocument/2006/relationships/audio" Target="../media/audio3.wav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jpeg"/><Relationship Id="rId5" Type="http://schemas.openxmlformats.org/officeDocument/2006/relationships/slide" Target="slide20.xml"/><Relationship Id="rId4" Type="http://schemas.openxmlformats.org/officeDocument/2006/relationships/slide" Target="slide1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audio" Target="../media/audio3.wav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audio" Target="../media/audio3.wav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audio" Target="../media/audio6.wav"/><Relationship Id="rId7" Type="http://schemas.openxmlformats.org/officeDocument/2006/relationships/image" Target="../media/image4.jpeg"/><Relationship Id="rId2" Type="http://schemas.openxmlformats.org/officeDocument/2006/relationships/audio" Target="../media/audio3.wav"/><Relationship Id="rId1" Type="http://schemas.openxmlformats.org/officeDocument/2006/relationships/slideLayout" Target="../slideLayouts/slideLayout2.xml"/><Relationship Id="rId6" Type="http://schemas.openxmlformats.org/officeDocument/2006/relationships/slide" Target="slide16.xml"/><Relationship Id="rId5" Type="http://schemas.openxmlformats.org/officeDocument/2006/relationships/chart" Target="../charts/chart2.xml"/><Relationship Id="rId4" Type="http://schemas.openxmlformats.org/officeDocument/2006/relationships/chart" Target="../charts/chart1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jpeg"/><Relationship Id="rId3" Type="http://schemas.openxmlformats.org/officeDocument/2006/relationships/audio" Target="../media/audio6.wav"/><Relationship Id="rId7" Type="http://schemas.openxmlformats.org/officeDocument/2006/relationships/slide" Target="slide16.xml"/><Relationship Id="rId2" Type="http://schemas.openxmlformats.org/officeDocument/2006/relationships/audio" Target="../media/audio3.wav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jpeg"/><Relationship Id="rId5" Type="http://schemas.openxmlformats.org/officeDocument/2006/relationships/slide" Target="slide22.xml"/><Relationship Id="rId4" Type="http://schemas.openxmlformats.org/officeDocument/2006/relationships/slide" Target="slide2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audio" Target="../media/audio6.wav"/><Relationship Id="rId2" Type="http://schemas.openxmlformats.org/officeDocument/2006/relationships/audio" Target="../media/audio3.wav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eg"/><Relationship Id="rId4" Type="http://schemas.openxmlformats.org/officeDocument/2006/relationships/image" Target="../media/image13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jpeg"/><Relationship Id="rId3" Type="http://schemas.openxmlformats.org/officeDocument/2006/relationships/audio" Target="../media/audio6.wav"/><Relationship Id="rId7" Type="http://schemas.openxmlformats.org/officeDocument/2006/relationships/slide" Target="slide20.xml"/><Relationship Id="rId2" Type="http://schemas.openxmlformats.org/officeDocument/2006/relationships/audio" Target="../media/audio3.wav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jpeg"/><Relationship Id="rId5" Type="http://schemas.openxmlformats.org/officeDocument/2006/relationships/slide" Target="slide24.xml"/><Relationship Id="rId4" Type="http://schemas.openxmlformats.org/officeDocument/2006/relationships/slide" Target="slide23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jpeg"/><Relationship Id="rId3" Type="http://schemas.openxmlformats.org/officeDocument/2006/relationships/audio" Target="../media/audio4.wav"/><Relationship Id="rId7" Type="http://schemas.openxmlformats.org/officeDocument/2006/relationships/image" Target="../media/image14.jpeg"/><Relationship Id="rId2" Type="http://schemas.openxmlformats.org/officeDocument/2006/relationships/audio" Target="../media/audio3.wav"/><Relationship Id="rId1" Type="http://schemas.openxmlformats.org/officeDocument/2006/relationships/slideLayout" Target="../slideLayouts/slideLayout2.xml"/><Relationship Id="rId6" Type="http://schemas.openxmlformats.org/officeDocument/2006/relationships/audio" Target="../media/audio6.wav"/><Relationship Id="rId5" Type="http://schemas.openxmlformats.org/officeDocument/2006/relationships/audio" Target="../media/audio1.wav"/><Relationship Id="rId4" Type="http://schemas.openxmlformats.org/officeDocument/2006/relationships/audio" Target="../media/audio2.wav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" Target="slide25.xml"/><Relationship Id="rId7" Type="http://schemas.openxmlformats.org/officeDocument/2006/relationships/image" Target="../media/image4.jpeg"/><Relationship Id="rId2" Type="http://schemas.openxmlformats.org/officeDocument/2006/relationships/audio" Target="../media/audio6.wav"/><Relationship Id="rId1" Type="http://schemas.openxmlformats.org/officeDocument/2006/relationships/slideLayout" Target="../slideLayouts/slideLayout2.xml"/><Relationship Id="rId6" Type="http://schemas.openxmlformats.org/officeDocument/2006/relationships/slide" Target="slide22.xml"/><Relationship Id="rId5" Type="http://schemas.openxmlformats.org/officeDocument/2006/relationships/image" Target="../media/image3.jpeg"/><Relationship Id="rId4" Type="http://schemas.openxmlformats.org/officeDocument/2006/relationships/slide" Target="slide26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jpeg"/><Relationship Id="rId3" Type="http://schemas.openxmlformats.org/officeDocument/2006/relationships/audio" Target="../media/audio4.wav"/><Relationship Id="rId7" Type="http://schemas.openxmlformats.org/officeDocument/2006/relationships/image" Target="../media/image15.jpeg"/><Relationship Id="rId2" Type="http://schemas.openxmlformats.org/officeDocument/2006/relationships/audio" Target="../media/audio3.wav"/><Relationship Id="rId1" Type="http://schemas.openxmlformats.org/officeDocument/2006/relationships/slideLayout" Target="../slideLayouts/slideLayout2.xml"/><Relationship Id="rId6" Type="http://schemas.openxmlformats.org/officeDocument/2006/relationships/audio" Target="../media/audio6.wav"/><Relationship Id="rId5" Type="http://schemas.openxmlformats.org/officeDocument/2006/relationships/audio" Target="../media/audio1.wav"/><Relationship Id="rId4" Type="http://schemas.openxmlformats.org/officeDocument/2006/relationships/audio" Target="../media/audio2.wav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jpeg"/><Relationship Id="rId3" Type="http://schemas.openxmlformats.org/officeDocument/2006/relationships/audio" Target="../media/audio2.wav"/><Relationship Id="rId7" Type="http://schemas.openxmlformats.org/officeDocument/2006/relationships/hyperlink" Target="../ch08/08-01.pptx" TargetMode="External"/><Relationship Id="rId2" Type="http://schemas.openxmlformats.org/officeDocument/2006/relationships/audio" Target="../media/audio3.wav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jpeg"/><Relationship Id="rId5" Type="http://schemas.openxmlformats.org/officeDocument/2006/relationships/slide" Target="slide24.xml"/><Relationship Id="rId4" Type="http://schemas.openxmlformats.org/officeDocument/2006/relationships/audio" Target="../media/audio6.wav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3063622" y="1504893"/>
            <a:ext cx="5412059" cy="2031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0" hangingPunct="0">
              <a:lnSpc>
                <a:spcPct val="150000"/>
              </a:lnSpc>
            </a:pPr>
            <a:r>
              <a:rPr lang="en-US" altLang="zh-CN" sz="2800" b="1" dirty="0">
                <a:solidFill>
                  <a:srgbClr val="FFFF00"/>
                </a:solidFill>
                <a:ea typeface="黑体" pitchFamily="49" charset="-122"/>
                <a:hlinkClick r:id="rId3" action="ppaction://hlinkpres?slideindex=1&amp;slidetitle="/>
              </a:rPr>
              <a:t>7.1</a:t>
            </a:r>
            <a:r>
              <a:rPr lang="en-US" altLang="zh-CN" sz="2800" b="1" dirty="0">
                <a:solidFill>
                  <a:srgbClr val="FFFF00"/>
                </a:solidFill>
                <a:ea typeface="黑体" pitchFamily="49" charset="-122"/>
              </a:rPr>
              <a:t> </a:t>
            </a:r>
            <a:r>
              <a:rPr lang="zh-CN" altLang="en-US" sz="2800" b="1" dirty="0">
                <a:solidFill>
                  <a:srgbClr val="FFFF00"/>
                </a:solidFill>
                <a:ea typeface="黑体" pitchFamily="49" charset="-122"/>
              </a:rPr>
              <a:t>原子结构基本模型</a:t>
            </a:r>
          </a:p>
          <a:p>
            <a:pPr eaLnBrk="0" hangingPunct="0">
              <a:lnSpc>
                <a:spcPct val="150000"/>
              </a:lnSpc>
            </a:pPr>
            <a:r>
              <a:rPr lang="en-US" altLang="zh-CN" sz="2800" b="1" dirty="0">
                <a:solidFill>
                  <a:srgbClr val="FFFF00"/>
                </a:solidFill>
                <a:ea typeface="黑体" pitchFamily="49" charset="-122"/>
                <a:hlinkClick r:id="rId4" action="ppaction://hlinkpres?slideindex=1&amp;slidetitle="/>
              </a:rPr>
              <a:t>7.2</a:t>
            </a:r>
            <a:r>
              <a:rPr lang="en-US" altLang="zh-CN" sz="2800" b="1" dirty="0">
                <a:solidFill>
                  <a:srgbClr val="FFFF00"/>
                </a:solidFill>
                <a:ea typeface="黑体" pitchFamily="49" charset="-122"/>
              </a:rPr>
              <a:t> </a:t>
            </a:r>
            <a:r>
              <a:rPr lang="zh-CN" altLang="en-US" sz="2800" b="1" dirty="0">
                <a:solidFill>
                  <a:srgbClr val="FFFF00"/>
                </a:solidFill>
                <a:ea typeface="黑体" pitchFamily="49" charset="-122"/>
              </a:rPr>
              <a:t>核外电子运动状态</a:t>
            </a:r>
          </a:p>
          <a:p>
            <a:pPr eaLnBrk="0" hangingPunct="0">
              <a:lnSpc>
                <a:spcPct val="150000"/>
              </a:lnSpc>
            </a:pPr>
            <a:r>
              <a:rPr lang="en-US" altLang="zh-CN" sz="2800" b="1" dirty="0">
                <a:solidFill>
                  <a:srgbClr val="FFFFFF"/>
                </a:solidFill>
                <a:ea typeface="黑体" pitchFamily="49" charset="-122"/>
              </a:rPr>
              <a:t>7.3 </a:t>
            </a:r>
            <a:r>
              <a:rPr lang="zh-CN" altLang="en-US" sz="2800" b="1" dirty="0">
                <a:solidFill>
                  <a:srgbClr val="FFFFFF"/>
                </a:solidFill>
                <a:ea typeface="黑体" pitchFamily="49" charset="-122"/>
              </a:rPr>
              <a:t>原子电子层结构和元素周期系</a:t>
            </a:r>
          </a:p>
        </p:txBody>
      </p:sp>
    </p:spTree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6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4"/>
          <p:cNvSpPr>
            <a:spLocks noGrp="1" noChangeArrowheads="1"/>
          </p:cNvSpPr>
          <p:nvPr>
            <p:ph type="ctrTitle"/>
          </p:nvPr>
        </p:nvSpPr>
        <p:spPr>
          <a:xfrm>
            <a:off x="331788" y="311150"/>
            <a:ext cx="9748837" cy="333375"/>
          </a:xfrm>
        </p:spPr>
        <p:txBody>
          <a:bodyPr/>
          <a:lstStyle/>
          <a:p>
            <a:pPr>
              <a:lnSpc>
                <a:spcPct val="70000"/>
              </a:lnSpc>
              <a:defRPr/>
            </a:pPr>
            <a:r>
              <a:rPr lang="en-US" altLang="zh-CN" smtClean="0">
                <a:latin typeface="+mn-ea"/>
                <a:ea typeface="+mn-ea"/>
              </a:rPr>
              <a:t>7.3 </a:t>
            </a:r>
            <a:r>
              <a:rPr lang="zh-CN" altLang="en-US" smtClean="0">
                <a:latin typeface="黑体" pitchFamily="49" charset="-122"/>
                <a:ea typeface="黑体" pitchFamily="49" charset="-122"/>
              </a:rPr>
              <a:t>原子电子层结构和元素周期系</a:t>
            </a:r>
            <a:endParaRPr lang="en-US" altLang="zh-CN" b="0" smtClean="0">
              <a:solidFill>
                <a:srgbClr val="FF3300"/>
              </a:solidFill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4099" name="AutoShape 1034">
            <a:hlinkClick r:id="" action="ppaction://hlinkshowjump?jump=nextslide" highlightClick="1"/>
          </p:cNvPr>
          <p:cNvSpPr>
            <a:spLocks noChangeAspect="1" noChangeArrowheads="1"/>
          </p:cNvSpPr>
          <p:nvPr/>
        </p:nvSpPr>
        <p:spPr bwMode="auto">
          <a:xfrm>
            <a:off x="2117725" y="1811338"/>
            <a:ext cx="544513" cy="407987"/>
          </a:xfrm>
          <a:prstGeom prst="actionButtonForwardNext">
            <a:avLst/>
          </a:prstGeom>
          <a:solidFill>
            <a:srgbClr val="C0C0C0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100" name="AutoShape 1035">
            <a:hlinkClick r:id="rId3" action="ppaction://hlinksldjump" highlightClick="1"/>
          </p:cNvPr>
          <p:cNvSpPr>
            <a:spLocks noChangeAspect="1" noChangeArrowheads="1"/>
          </p:cNvSpPr>
          <p:nvPr/>
        </p:nvSpPr>
        <p:spPr bwMode="auto">
          <a:xfrm>
            <a:off x="2117725" y="2597150"/>
            <a:ext cx="544513" cy="411163"/>
          </a:xfrm>
          <a:prstGeom prst="actionButtonForwardNext">
            <a:avLst/>
          </a:prstGeom>
          <a:solidFill>
            <a:srgbClr val="C0C0C0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101" name="AutoShape 1035">
            <a:hlinkClick r:id="rId4" action="ppaction://hlinksldjump" highlightClick="1"/>
          </p:cNvPr>
          <p:cNvSpPr>
            <a:spLocks noChangeAspect="1" noChangeArrowheads="1"/>
          </p:cNvSpPr>
          <p:nvPr/>
        </p:nvSpPr>
        <p:spPr bwMode="auto">
          <a:xfrm>
            <a:off x="2117725" y="3454400"/>
            <a:ext cx="544513" cy="411163"/>
          </a:xfrm>
          <a:prstGeom prst="actionButtonForwardNext">
            <a:avLst/>
          </a:prstGeom>
          <a:solidFill>
            <a:srgbClr val="C0C0C0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128" name="矩形 8"/>
          <p:cNvSpPr>
            <a:spLocks noChangeArrowheads="1"/>
          </p:cNvSpPr>
          <p:nvPr/>
        </p:nvSpPr>
        <p:spPr bwMode="auto">
          <a:xfrm>
            <a:off x="2760663" y="1454150"/>
            <a:ext cx="7429500" cy="2541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sz="2800" b="1" dirty="0">
                <a:ea typeface="黑体" pitchFamily="49" charset="-122"/>
              </a:rPr>
              <a:t>7.3.1</a:t>
            </a:r>
            <a:r>
              <a:rPr lang="zh-CN" altLang="en-US" sz="2800" b="1" dirty="0">
                <a:ea typeface="黑体" pitchFamily="49" charset="-122"/>
              </a:rPr>
              <a:t>多电子原子的核外电子排布</a:t>
            </a:r>
            <a:endParaRPr lang="zh-CN" altLang="en-US" sz="2800" b="1" dirty="0">
              <a:solidFill>
                <a:schemeClr val="bg2"/>
              </a:solidFill>
              <a:latin typeface="黑体" pitchFamily="49" charset="-122"/>
              <a:ea typeface="黑体" pitchFamily="49" charset="-122"/>
            </a:endParaRPr>
          </a:p>
          <a:p>
            <a:pPr>
              <a:lnSpc>
                <a:spcPct val="200000"/>
              </a:lnSpc>
            </a:pPr>
            <a:r>
              <a:rPr lang="en-US" altLang="zh-CN" sz="2800" b="1" dirty="0">
                <a:ea typeface="黑体" pitchFamily="49" charset="-122"/>
                <a:cs typeface="Times New Roman" pitchFamily="18" charset="0"/>
              </a:rPr>
              <a:t>7.3.2</a:t>
            </a:r>
            <a:r>
              <a:rPr lang="zh-CN" altLang="en-US" sz="2800" b="1" dirty="0">
                <a:ea typeface="黑体" pitchFamily="49" charset="-122"/>
                <a:cs typeface="Times New Roman" pitchFamily="18" charset="0"/>
              </a:rPr>
              <a:t>原子的电子层结构和元素周期系</a:t>
            </a:r>
            <a:endParaRPr lang="en-US" altLang="zh-CN" sz="2800" b="1" dirty="0">
              <a:ea typeface="黑体" pitchFamily="49" charset="-122"/>
              <a:cs typeface="Times New Roman" pitchFamily="18" charset="0"/>
            </a:endParaRPr>
          </a:p>
          <a:p>
            <a:pPr>
              <a:lnSpc>
                <a:spcPct val="200000"/>
              </a:lnSpc>
            </a:pPr>
            <a:r>
              <a:rPr lang="en-US" altLang="zh-CN" sz="2800" b="1" dirty="0">
                <a:ea typeface="黑体" pitchFamily="49" charset="-122"/>
                <a:cs typeface="Times New Roman" pitchFamily="18" charset="0"/>
              </a:rPr>
              <a:t>7.3.3</a:t>
            </a:r>
            <a:r>
              <a:rPr lang="zh-CN" altLang="en-US" sz="2800" b="1" dirty="0">
                <a:ea typeface="黑体" pitchFamily="49" charset="-122"/>
                <a:cs typeface="Times New Roman" pitchFamily="18" charset="0"/>
              </a:rPr>
              <a:t>元素基本性质的周期性变化规律</a:t>
            </a:r>
            <a:endParaRPr lang="zh-CN" altLang="en-US" sz="2800" dirty="0">
              <a:ea typeface="黑体" pitchFamily="49" charset="-122"/>
              <a:cs typeface="Times New Roman" pitchFamily="18" charset="0"/>
            </a:endParaRPr>
          </a:p>
        </p:txBody>
      </p:sp>
      <p:sp>
        <p:nvSpPr>
          <p:cNvPr id="4103" name="Oval 27" descr="图片9">
            <a:hlinkClick r:id="" action="ppaction://hlinkshowjump?jump=nextslide"/>
          </p:cNvPr>
          <p:cNvSpPr>
            <a:spLocks noChangeAspect="1" noChangeArrowheads="1"/>
          </p:cNvSpPr>
          <p:nvPr/>
        </p:nvSpPr>
        <p:spPr bwMode="gray">
          <a:xfrm>
            <a:off x="11161713" y="5526088"/>
            <a:ext cx="360362" cy="360362"/>
          </a:xfrm>
          <a:prstGeom prst="ellipse">
            <a:avLst/>
          </a:prstGeom>
          <a:blipFill dpi="0" rotWithShape="1">
            <a:blip r:embed="rId5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>
              <a:ea typeface="黑体" pitchFamily="49" charset="-122"/>
              <a:cs typeface="楷体_GB2312" pitchFamily="49" charset="-122"/>
            </a:endParaRPr>
          </a:p>
        </p:txBody>
      </p:sp>
      <p:sp>
        <p:nvSpPr>
          <p:cNvPr id="4104" name="Oval 26" descr="图片8">
            <a:hlinkClick r:id="" action="ppaction://hlinkshowjump?jump=previousslide"/>
          </p:cNvPr>
          <p:cNvSpPr>
            <a:spLocks noChangeAspect="1" noChangeArrowheads="1"/>
          </p:cNvSpPr>
          <p:nvPr/>
        </p:nvSpPr>
        <p:spPr bwMode="gray">
          <a:xfrm>
            <a:off x="0" y="5526088"/>
            <a:ext cx="360363" cy="360362"/>
          </a:xfrm>
          <a:prstGeom prst="ellipse">
            <a:avLst/>
          </a:prstGeom>
          <a:blipFill dpi="0" rotWithShape="1">
            <a:blip r:embed="rId6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0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52" grpId="0" autoUpdateAnimBg="0"/>
      <p:bldP spid="5128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8" name="Rectangle 6"/>
          <p:cNvSpPr>
            <a:spLocks noChangeArrowheads="1"/>
          </p:cNvSpPr>
          <p:nvPr/>
        </p:nvSpPr>
        <p:spPr bwMode="auto">
          <a:xfrm>
            <a:off x="760413" y="1025525"/>
            <a:ext cx="3571875" cy="477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sz="2500" b="1" dirty="0">
                <a:solidFill>
                  <a:srgbClr val="FF3300"/>
                </a:solidFill>
                <a:ea typeface="楷体_GB2312" pitchFamily="49" charset="-122"/>
              </a:rPr>
              <a:t>1.</a:t>
            </a:r>
            <a:r>
              <a:rPr lang="zh-CN" altLang="en-US" sz="2500" b="1" dirty="0">
                <a:solidFill>
                  <a:srgbClr val="FF3300"/>
                </a:solidFill>
                <a:ea typeface="楷体_GB2312" pitchFamily="49" charset="-122"/>
              </a:rPr>
              <a:t>多电子原子的能级</a:t>
            </a:r>
            <a:endParaRPr lang="en-US" altLang="zh-CN" sz="2500" b="1" dirty="0">
              <a:solidFill>
                <a:srgbClr val="FF3300"/>
              </a:solidFill>
              <a:ea typeface="楷体_GB2312" pitchFamily="49" charset="-122"/>
            </a:endParaRPr>
          </a:p>
        </p:txBody>
      </p:sp>
      <p:sp>
        <p:nvSpPr>
          <p:cNvPr id="79879" name="Rectangle 7"/>
          <p:cNvSpPr>
            <a:spLocks noChangeArrowheads="1"/>
          </p:cNvSpPr>
          <p:nvPr/>
        </p:nvSpPr>
        <p:spPr bwMode="auto">
          <a:xfrm>
            <a:off x="906463" y="1504950"/>
            <a:ext cx="10231437" cy="2632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10000"/>
              </a:lnSpc>
            </a:pPr>
            <a:r>
              <a:rPr lang="en-US" altLang="zh-CN" sz="2500" b="1" dirty="0">
                <a:solidFill>
                  <a:srgbClr val="FF3300"/>
                </a:solidFill>
                <a:ea typeface="楷体_GB2312" pitchFamily="49" charset="-122"/>
              </a:rPr>
              <a:t>(1.1)</a:t>
            </a:r>
            <a:r>
              <a:rPr lang="en-US" altLang="zh-CN" sz="2500" b="1" dirty="0">
                <a:solidFill>
                  <a:srgbClr val="FF3300"/>
                </a:solidFill>
                <a:ea typeface="楷体_GB2312" pitchFamily="49" charset="-122"/>
                <a:hlinkClick r:id="rId3" action="ppaction://hlinkfile"/>
              </a:rPr>
              <a:t>shielding effect</a:t>
            </a:r>
            <a:r>
              <a:rPr lang="en-US" altLang="zh-CN" sz="2500" b="1" dirty="0">
                <a:solidFill>
                  <a:srgbClr val="FF3300"/>
                </a:solidFill>
                <a:ea typeface="楷体_GB2312" pitchFamily="49" charset="-122"/>
              </a:rPr>
              <a:t>:</a:t>
            </a:r>
          </a:p>
          <a:p>
            <a:pPr>
              <a:lnSpc>
                <a:spcPct val="110000"/>
              </a:lnSpc>
            </a:pPr>
            <a:r>
              <a:rPr lang="zh-CN" altLang="en-US" sz="2500" b="1" dirty="0">
                <a:ea typeface="楷体_GB2312" pitchFamily="49" charset="-122"/>
              </a:rPr>
              <a:t>　　多</a:t>
            </a:r>
            <a:r>
              <a:rPr lang="zh-CN" altLang="en-US" sz="2500" b="1" dirty="0">
                <a:latin typeface="楷体_GB2312" pitchFamily="49" charset="-122"/>
                <a:ea typeface="楷体_GB2312" pitchFamily="49" charset="-122"/>
              </a:rPr>
              <a:t>电子原子中</a:t>
            </a:r>
            <a:r>
              <a:rPr lang="en-US" altLang="zh-CN" sz="2500" b="1" dirty="0">
                <a:latin typeface="楷体_GB2312" pitchFamily="49" charset="-122"/>
                <a:ea typeface="楷体_GB2312" pitchFamily="49" charset="-122"/>
              </a:rPr>
              <a:t>,</a:t>
            </a:r>
            <a:r>
              <a:rPr lang="zh-CN" altLang="en-US" sz="2500" b="1" dirty="0">
                <a:latin typeface="楷体_GB2312" pitchFamily="49" charset="-122"/>
                <a:ea typeface="楷体_GB2312" pitchFamily="49" charset="-122"/>
              </a:rPr>
              <a:t>核电荷对某个电子的吸引力</a:t>
            </a:r>
            <a:r>
              <a:rPr lang="en-US" altLang="zh-CN" sz="2500" b="1" dirty="0">
                <a:latin typeface="楷体_GB2312" pitchFamily="49" charset="-122"/>
                <a:ea typeface="楷体_GB2312" pitchFamily="49" charset="-122"/>
              </a:rPr>
              <a:t>,</a:t>
            </a:r>
            <a:r>
              <a:rPr lang="zh-CN" altLang="en-US" sz="2500" b="1" dirty="0">
                <a:latin typeface="楷体_GB2312" pitchFamily="49" charset="-122"/>
                <a:ea typeface="楷体_GB2312" pitchFamily="49" charset="-122"/>
              </a:rPr>
              <a:t>因其它电子对该电子的排斥而被削弱</a:t>
            </a:r>
            <a:r>
              <a:rPr lang="en-US" altLang="zh-CN" sz="2500" b="1" dirty="0">
                <a:ea typeface="楷体_GB2312" pitchFamily="49" charset="-122"/>
              </a:rPr>
              <a:t>.</a:t>
            </a:r>
          </a:p>
          <a:p>
            <a:pPr>
              <a:lnSpc>
                <a:spcPct val="110000"/>
              </a:lnSpc>
            </a:pPr>
            <a:r>
              <a:rPr lang="zh-CN" altLang="en-US" sz="2500" b="1" dirty="0">
                <a:ea typeface="楷体_GB2312" pitchFamily="49" charset="-122"/>
              </a:rPr>
              <a:t>　　电子实际所受到的核电荷有效吸引的那部分核电荷称为</a:t>
            </a:r>
            <a:r>
              <a:rPr lang="zh-CN" altLang="en-US" sz="2500" b="1" dirty="0">
                <a:solidFill>
                  <a:srgbClr val="FF3300"/>
                </a:solidFill>
                <a:ea typeface="楷体_GB2312" pitchFamily="49" charset="-122"/>
              </a:rPr>
              <a:t>有效核电荷</a:t>
            </a:r>
            <a:r>
              <a:rPr lang="en-US" altLang="zh-CN" sz="2500" b="1" dirty="0">
                <a:ea typeface="楷体_GB2312" pitchFamily="49" charset="-122"/>
              </a:rPr>
              <a:t>,</a:t>
            </a:r>
            <a:r>
              <a:rPr lang="zh-CN" altLang="en-US" sz="2500" b="1" dirty="0">
                <a:ea typeface="楷体_GB2312" pitchFamily="49" charset="-122"/>
              </a:rPr>
              <a:t>以</a:t>
            </a:r>
            <a:r>
              <a:rPr lang="en-US" altLang="zh-CN" sz="2500" b="1" i="1" dirty="0">
                <a:solidFill>
                  <a:schemeClr val="accent2"/>
                </a:solidFill>
                <a:ea typeface="楷体_GB2312" pitchFamily="49" charset="-122"/>
              </a:rPr>
              <a:t>Z</a:t>
            </a:r>
            <a:r>
              <a:rPr lang="en-US" altLang="zh-CN" sz="2500" b="1" dirty="0">
                <a:solidFill>
                  <a:schemeClr val="accent2"/>
                </a:solidFill>
                <a:ea typeface="楷体_GB2312" pitchFamily="49" charset="-122"/>
              </a:rPr>
              <a:t>*</a:t>
            </a:r>
            <a:r>
              <a:rPr lang="zh-CN" altLang="en-US" sz="2500" b="1" dirty="0">
                <a:ea typeface="楷体_GB2312" pitchFamily="49" charset="-122"/>
              </a:rPr>
              <a:t>表示</a:t>
            </a:r>
            <a:endParaRPr lang="en-US" altLang="zh-CN" sz="2500" b="1" dirty="0">
              <a:ea typeface="楷体_GB2312" pitchFamily="49" charset="-122"/>
            </a:endParaRPr>
          </a:p>
          <a:p>
            <a:pPr>
              <a:lnSpc>
                <a:spcPct val="110000"/>
              </a:lnSpc>
            </a:pPr>
            <a:r>
              <a:rPr lang="en-US" altLang="zh-CN" sz="2500" b="1" i="1" dirty="0">
                <a:ea typeface="楷体_GB2312" pitchFamily="49" charset="-122"/>
              </a:rPr>
              <a:t>                         Z</a:t>
            </a:r>
            <a:r>
              <a:rPr lang="en-US" altLang="zh-CN" sz="2500" b="1" dirty="0">
                <a:ea typeface="楷体_GB2312" pitchFamily="49" charset="-122"/>
              </a:rPr>
              <a:t>* = </a:t>
            </a:r>
            <a:r>
              <a:rPr lang="en-US" altLang="zh-CN" sz="2500" b="1" i="1" dirty="0">
                <a:ea typeface="楷体_GB2312" pitchFamily="49" charset="-122"/>
              </a:rPr>
              <a:t>Z</a:t>
            </a:r>
            <a:r>
              <a:rPr lang="en-US" altLang="zh-CN" sz="2500" b="1" dirty="0">
                <a:ea typeface="楷体_GB2312" pitchFamily="49" charset="-122"/>
              </a:rPr>
              <a:t> - </a:t>
            </a:r>
            <a:r>
              <a:rPr lang="en-US" altLang="zh-CN" sz="2500" b="1" i="1" dirty="0">
                <a:ea typeface="楷体_GB2312" pitchFamily="49" charset="-122"/>
                <a:sym typeface="Symbol" pitchFamily="18" charset="2"/>
              </a:rPr>
              <a:t></a:t>
            </a:r>
          </a:p>
        </p:txBody>
      </p:sp>
      <p:sp>
        <p:nvSpPr>
          <p:cNvPr id="79880" name="Rectangle 8"/>
          <p:cNvSpPr>
            <a:spLocks noChangeArrowheads="1"/>
          </p:cNvSpPr>
          <p:nvPr/>
        </p:nvSpPr>
        <p:spPr bwMode="auto">
          <a:xfrm>
            <a:off x="5046663" y="3668713"/>
            <a:ext cx="4303712" cy="477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sz="2500" b="1">
                <a:solidFill>
                  <a:srgbClr val="FF3300"/>
                </a:solidFill>
                <a:ea typeface="楷体_GB2312" pitchFamily="49" charset="-122"/>
              </a:rPr>
              <a:t>屏蔽常数</a:t>
            </a:r>
            <a:r>
              <a:rPr lang="en-US" altLang="zh-CN" sz="2500" b="1">
                <a:solidFill>
                  <a:srgbClr val="FF3300"/>
                </a:solidFill>
                <a:ea typeface="黑体" pitchFamily="49" charset="-122"/>
              </a:rPr>
              <a:t>(</a:t>
            </a:r>
            <a:r>
              <a:rPr lang="en-US" altLang="zh-CN" sz="2500" b="1">
                <a:solidFill>
                  <a:srgbClr val="0000FF"/>
                </a:solidFill>
                <a:ea typeface="黑体" pitchFamily="49" charset="-122"/>
              </a:rPr>
              <a:t>screening constant</a:t>
            </a:r>
            <a:r>
              <a:rPr lang="en-US" altLang="zh-CN" sz="2500" b="1">
                <a:solidFill>
                  <a:srgbClr val="FF3300"/>
                </a:solidFill>
                <a:ea typeface="黑体" pitchFamily="49" charset="-122"/>
              </a:rPr>
              <a:t>)</a:t>
            </a:r>
            <a:r>
              <a:rPr lang="en-US" altLang="zh-CN" sz="2500" b="1">
                <a:ea typeface="黑体" pitchFamily="49" charset="-122"/>
              </a:rPr>
              <a:t>.</a:t>
            </a:r>
          </a:p>
        </p:txBody>
      </p:sp>
      <p:sp>
        <p:nvSpPr>
          <p:cNvPr id="5125" name="Rectangle 11"/>
          <p:cNvSpPr>
            <a:spLocks noGrp="1" noChangeArrowheads="1"/>
          </p:cNvSpPr>
          <p:nvPr>
            <p:ph type="title"/>
          </p:nvPr>
        </p:nvSpPr>
        <p:spPr>
          <a:xfrm>
            <a:off x="576263" y="258763"/>
            <a:ext cx="10369550" cy="430212"/>
          </a:xfrm>
          <a:noFill/>
        </p:spPr>
        <p:txBody>
          <a:bodyPr/>
          <a:lstStyle/>
          <a:p>
            <a:r>
              <a:rPr lang="en-US" altLang="zh-CN" smtClean="0">
                <a:ea typeface="黑体" pitchFamily="49" charset="-122"/>
              </a:rPr>
              <a:t>7.3.1</a:t>
            </a:r>
            <a:r>
              <a:rPr lang="zh-CN" altLang="en-US" smtClean="0">
                <a:ea typeface="黑体" pitchFamily="49" charset="-122"/>
              </a:rPr>
              <a:t>多电子原子的核外电子排布</a:t>
            </a:r>
            <a:endParaRPr lang="zh-CN" altLang="en-US" b="0" smtClean="0">
              <a:ea typeface="黑体" pitchFamily="49" charset="-122"/>
            </a:endParaRPr>
          </a:p>
        </p:txBody>
      </p:sp>
      <p:sp>
        <p:nvSpPr>
          <p:cNvPr id="79884" name="Rectangle 12"/>
          <p:cNvSpPr>
            <a:spLocks noChangeArrowheads="1"/>
          </p:cNvSpPr>
          <p:nvPr/>
        </p:nvSpPr>
        <p:spPr bwMode="auto">
          <a:xfrm>
            <a:off x="1117600" y="4311650"/>
            <a:ext cx="8399463" cy="477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sz="2500" b="1" dirty="0">
                <a:ea typeface="楷体_GB2312" pitchFamily="49" charset="-122"/>
              </a:rPr>
              <a:t>其与电子多少及其所处轨道有关</a:t>
            </a:r>
            <a:r>
              <a:rPr lang="en-US" altLang="zh-CN" sz="2500" b="1" dirty="0">
                <a:ea typeface="楷体_GB2312" pitchFamily="49" charset="-122"/>
              </a:rPr>
              <a:t>,</a:t>
            </a:r>
            <a:r>
              <a:rPr lang="zh-CN" altLang="en-US" sz="2500" b="1" dirty="0">
                <a:ea typeface="楷体_GB2312" pitchFamily="49" charset="-122"/>
              </a:rPr>
              <a:t>也与该电子所在轨道有关</a:t>
            </a:r>
            <a:r>
              <a:rPr lang="en-US" altLang="zh-CN" sz="2500" b="1" dirty="0">
                <a:ea typeface="楷体_GB2312" pitchFamily="49" charset="-122"/>
              </a:rPr>
              <a:t>.</a:t>
            </a:r>
          </a:p>
        </p:txBody>
      </p:sp>
      <p:cxnSp>
        <p:nvCxnSpPr>
          <p:cNvPr id="11" name="直接箭头连接符 10"/>
          <p:cNvCxnSpPr/>
          <p:nvPr/>
        </p:nvCxnSpPr>
        <p:spPr>
          <a:xfrm>
            <a:off x="4403725" y="3883025"/>
            <a:ext cx="5715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28" name="Oval 27" descr="图片9">
            <a:hlinkClick r:id="" action="ppaction://hlinkshowjump?jump=nextslide"/>
          </p:cNvPr>
          <p:cNvSpPr>
            <a:spLocks noChangeAspect="1" noChangeArrowheads="1"/>
          </p:cNvSpPr>
          <p:nvPr/>
        </p:nvSpPr>
        <p:spPr bwMode="gray">
          <a:xfrm>
            <a:off x="11161713" y="5526088"/>
            <a:ext cx="360362" cy="360362"/>
          </a:xfrm>
          <a:prstGeom prst="ellipse">
            <a:avLst/>
          </a:prstGeom>
          <a:blipFill dpi="0" rotWithShape="1">
            <a:blip r:embed="rId4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>
              <a:ea typeface="黑体" pitchFamily="49" charset="-122"/>
              <a:cs typeface="楷体_GB2312" pitchFamily="49" charset="-122"/>
            </a:endParaRPr>
          </a:p>
        </p:txBody>
      </p:sp>
      <p:sp>
        <p:nvSpPr>
          <p:cNvPr id="5129" name="Oval 26" descr="图片8">
            <a:hlinkClick r:id="" action="ppaction://hlinkshowjump?jump=previousslide"/>
          </p:cNvPr>
          <p:cNvSpPr>
            <a:spLocks noChangeAspect="1" noChangeArrowheads="1"/>
          </p:cNvSpPr>
          <p:nvPr/>
        </p:nvSpPr>
        <p:spPr bwMode="gray">
          <a:xfrm>
            <a:off x="0" y="5526088"/>
            <a:ext cx="360363" cy="360362"/>
          </a:xfrm>
          <a:prstGeom prst="ellipse">
            <a:avLst/>
          </a:prstGeom>
          <a:blipFill dpi="0" rotWithShape="1">
            <a:blip r:embed="rId5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7" dur="1000"/>
                                        <p:tgtEl>
                                          <p:spTgt spid="798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2" dur="500"/>
                                        <p:tgtEl>
                                          <p:spTgt spid="798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7" dur="500"/>
                                        <p:tgtEl>
                                          <p:spTgt spid="798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2" dur="500"/>
                                        <p:tgtEl>
                                          <p:spTgt spid="798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7" dur="500"/>
                                        <p:tgtEl>
                                          <p:spTgt spid="798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3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7" dur="500"/>
                                        <p:tgtEl>
                                          <p:spTgt spid="7988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recycl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42" dur="500"/>
                                        <p:tgtEl>
                                          <p:spTgt spid="798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9878" grpId="0" autoUpdateAnimBg="0"/>
      <p:bldP spid="79879" grpId="0" build="p" autoUpdateAnimBg="0"/>
      <p:bldP spid="79880" grpId="0" autoUpdateAnimBg="0"/>
      <p:bldP spid="79884" grpId="0" autoUpdateAnimBg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85" name="Text Box 9"/>
          <p:cNvSpPr txBox="1">
            <a:spLocks noChangeArrowheads="1"/>
          </p:cNvSpPr>
          <p:nvPr/>
        </p:nvSpPr>
        <p:spPr bwMode="auto">
          <a:xfrm>
            <a:off x="906463" y="985838"/>
            <a:ext cx="10231437" cy="4810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10000"/>
              </a:lnSpc>
            </a:pPr>
            <a:r>
              <a:rPr lang="en-US" altLang="zh-CN" sz="2500" b="1" i="1">
                <a:ea typeface="楷体_GB2312" pitchFamily="49" charset="-122"/>
                <a:sym typeface="Symbol" pitchFamily="18" charset="2"/>
              </a:rPr>
              <a:t>        </a:t>
            </a:r>
            <a:r>
              <a:rPr lang="zh-CN" altLang="en-US" sz="2500" b="1">
                <a:ea typeface="楷体_GB2312" pitchFamily="49" charset="-122"/>
              </a:rPr>
              <a:t>粗略按以下</a:t>
            </a:r>
            <a:r>
              <a:rPr lang="zh-CN" altLang="en-US" sz="2500" b="1">
                <a:solidFill>
                  <a:srgbClr val="FF3300"/>
                </a:solidFill>
                <a:ea typeface="楷体_GB2312" pitchFamily="49" charset="-122"/>
              </a:rPr>
              <a:t>经验规则取值</a:t>
            </a:r>
            <a:r>
              <a:rPr lang="en-US" altLang="zh-CN" sz="2500" b="1">
                <a:ea typeface="楷体_GB2312" pitchFamily="49" charset="-122"/>
              </a:rPr>
              <a:t>:</a:t>
            </a:r>
          </a:p>
        </p:txBody>
      </p:sp>
      <p:sp>
        <p:nvSpPr>
          <p:cNvPr id="50186" name="Rectangle 10"/>
          <p:cNvSpPr>
            <a:spLocks noChangeArrowheads="1"/>
          </p:cNvSpPr>
          <p:nvPr/>
        </p:nvSpPr>
        <p:spPr bwMode="auto">
          <a:xfrm>
            <a:off x="906463" y="1393825"/>
            <a:ext cx="9944100" cy="1362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10000"/>
              </a:lnSpc>
            </a:pPr>
            <a:r>
              <a:rPr lang="en-US" altLang="zh-CN" sz="2500" b="1" dirty="0">
                <a:ea typeface="楷体_GB2312" pitchFamily="49" charset="-122"/>
                <a:sym typeface="Monotype Sorts" pitchFamily="2" charset="2"/>
              </a:rPr>
              <a:t>①</a:t>
            </a:r>
            <a:r>
              <a:rPr lang="zh-CN" altLang="en-US" sz="2500" b="1" dirty="0">
                <a:ea typeface="楷体_GB2312" pitchFamily="49" charset="-122"/>
                <a:sym typeface="Monotype Sorts" pitchFamily="2" charset="2"/>
              </a:rPr>
              <a:t>同层</a:t>
            </a:r>
            <a:r>
              <a:rPr lang="en-US" altLang="zh-CN" sz="2500" b="1" dirty="0">
                <a:ea typeface="楷体_GB2312" pitchFamily="49" charset="-122"/>
                <a:sym typeface="Monotype Sorts" pitchFamily="2" charset="2"/>
              </a:rPr>
              <a:t>0.35(</a:t>
            </a:r>
            <a:r>
              <a:rPr lang="zh-CN" altLang="en-US" sz="2500" b="1" dirty="0">
                <a:ea typeface="楷体_GB2312" pitchFamily="49" charset="-122"/>
                <a:sym typeface="Monotype Sorts" pitchFamily="2" charset="2"/>
              </a:rPr>
              <a:t>第一层</a:t>
            </a:r>
            <a:r>
              <a:rPr lang="en-US" altLang="zh-CN" sz="2500" b="1" dirty="0">
                <a:ea typeface="楷体_GB2312" pitchFamily="49" charset="-122"/>
                <a:sym typeface="Monotype Sorts" pitchFamily="2" charset="2"/>
              </a:rPr>
              <a:t>0.30);</a:t>
            </a:r>
          </a:p>
          <a:p>
            <a:pPr>
              <a:lnSpc>
                <a:spcPct val="110000"/>
              </a:lnSpc>
            </a:pPr>
            <a:r>
              <a:rPr lang="en-US" altLang="zh-CN" sz="2500" b="1" dirty="0">
                <a:ea typeface="楷体_GB2312" pitchFamily="49" charset="-122"/>
                <a:sym typeface="Monotype Sorts" pitchFamily="2" charset="2"/>
              </a:rPr>
              <a:t>②(</a:t>
            </a:r>
            <a:r>
              <a:rPr lang="en-US" altLang="zh-CN" sz="2500" b="1" i="1" dirty="0">
                <a:ea typeface="楷体_GB2312" pitchFamily="49" charset="-122"/>
                <a:sym typeface="Monotype Sorts" pitchFamily="2" charset="2"/>
              </a:rPr>
              <a:t>n </a:t>
            </a:r>
            <a:r>
              <a:rPr lang="en-US" altLang="zh-CN" sz="2500" b="1" dirty="0">
                <a:ea typeface="楷体_GB2312" pitchFamily="49" charset="-122"/>
                <a:sym typeface="Monotype Sorts" pitchFamily="2" charset="2"/>
              </a:rPr>
              <a:t>-1)</a:t>
            </a:r>
            <a:r>
              <a:rPr lang="zh-CN" altLang="en-US" sz="2500" b="1" dirty="0">
                <a:ea typeface="楷体_GB2312" pitchFamily="49" charset="-122"/>
                <a:sym typeface="Monotype Sorts" pitchFamily="2" charset="2"/>
              </a:rPr>
              <a:t>层对</a:t>
            </a:r>
            <a:r>
              <a:rPr lang="en-US" altLang="zh-CN" sz="2500" b="1" i="1" dirty="0">
                <a:ea typeface="楷体_GB2312" pitchFamily="49" charset="-122"/>
                <a:sym typeface="Monotype Sorts" pitchFamily="2" charset="2"/>
              </a:rPr>
              <a:t>n</a:t>
            </a:r>
            <a:r>
              <a:rPr lang="zh-CN" altLang="en-US" sz="2500" b="1" dirty="0">
                <a:ea typeface="楷体_GB2312" pitchFamily="49" charset="-122"/>
                <a:sym typeface="Monotype Sorts" pitchFamily="2" charset="2"/>
              </a:rPr>
              <a:t>层为</a:t>
            </a:r>
            <a:r>
              <a:rPr lang="en-US" altLang="zh-CN" sz="2500" b="1" dirty="0">
                <a:ea typeface="楷体_GB2312" pitchFamily="49" charset="-122"/>
                <a:sym typeface="Monotype Sorts" pitchFamily="2" charset="2"/>
              </a:rPr>
              <a:t>0.85;</a:t>
            </a:r>
          </a:p>
          <a:p>
            <a:pPr>
              <a:lnSpc>
                <a:spcPct val="110000"/>
              </a:lnSpc>
            </a:pPr>
            <a:r>
              <a:rPr lang="en-US" altLang="zh-CN" sz="2500" b="1" dirty="0">
                <a:ea typeface="楷体_GB2312" pitchFamily="49" charset="-122"/>
                <a:sym typeface="Monotype Sorts" pitchFamily="2" charset="2"/>
              </a:rPr>
              <a:t>③(</a:t>
            </a:r>
            <a:r>
              <a:rPr lang="en-US" altLang="zh-CN" sz="2500" b="1" i="1" dirty="0">
                <a:ea typeface="楷体_GB2312" pitchFamily="49" charset="-122"/>
                <a:sym typeface="Monotype Sorts" pitchFamily="2" charset="2"/>
              </a:rPr>
              <a:t>n </a:t>
            </a:r>
            <a:r>
              <a:rPr lang="en-US" altLang="zh-CN" sz="2500" b="1" dirty="0">
                <a:ea typeface="楷体_GB2312" pitchFamily="49" charset="-122"/>
                <a:sym typeface="Monotype Sorts" pitchFamily="2" charset="2"/>
              </a:rPr>
              <a:t>-</a:t>
            </a:r>
            <a:r>
              <a:rPr lang="en-US" altLang="zh-CN" sz="2500" b="1" dirty="0">
                <a:ea typeface="楷体_GB2312" pitchFamily="49" charset="-122"/>
              </a:rPr>
              <a:t>1)</a:t>
            </a:r>
            <a:r>
              <a:rPr lang="zh-CN" altLang="en-US" sz="2500" b="1" dirty="0">
                <a:ea typeface="楷体_GB2312" pitchFamily="49" charset="-122"/>
              </a:rPr>
              <a:t>层以内的对</a:t>
            </a:r>
            <a:r>
              <a:rPr lang="en-US" altLang="zh-CN" sz="2500" b="1" i="1" dirty="0">
                <a:ea typeface="楷体_GB2312" pitchFamily="49" charset="-122"/>
              </a:rPr>
              <a:t>n</a:t>
            </a:r>
            <a:r>
              <a:rPr lang="zh-CN" altLang="en-US" sz="2500" b="1" dirty="0">
                <a:ea typeface="楷体_GB2312" pitchFamily="49" charset="-122"/>
              </a:rPr>
              <a:t>层为</a:t>
            </a:r>
            <a:r>
              <a:rPr lang="en-US" altLang="zh-CN" sz="2500" b="1" dirty="0">
                <a:ea typeface="楷体_GB2312" pitchFamily="49" charset="-122"/>
              </a:rPr>
              <a:t>1.00. </a:t>
            </a:r>
          </a:p>
        </p:txBody>
      </p:sp>
      <p:sp>
        <p:nvSpPr>
          <p:cNvPr id="50187" name="AutoShape 11"/>
          <p:cNvSpPr>
            <a:spLocks/>
          </p:cNvSpPr>
          <p:nvPr/>
        </p:nvSpPr>
        <p:spPr bwMode="auto">
          <a:xfrm>
            <a:off x="768350" y="1584325"/>
            <a:ext cx="192088" cy="1006475"/>
          </a:xfrm>
          <a:prstGeom prst="leftBrace">
            <a:avLst>
              <a:gd name="adj1" fmla="val 58218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 sz="2500"/>
          </a:p>
        </p:txBody>
      </p:sp>
      <p:sp>
        <p:nvSpPr>
          <p:cNvPr id="50188" name="Rectangle 12"/>
          <p:cNvSpPr>
            <a:spLocks noChangeArrowheads="1"/>
          </p:cNvSpPr>
          <p:nvPr/>
        </p:nvSpPr>
        <p:spPr bwMode="auto">
          <a:xfrm>
            <a:off x="906463" y="2719388"/>
            <a:ext cx="2838450" cy="4810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10000"/>
              </a:lnSpc>
            </a:pPr>
            <a:r>
              <a:rPr lang="en-US" altLang="zh-CN" sz="2500" b="1">
                <a:solidFill>
                  <a:srgbClr val="FF3300"/>
                </a:solidFill>
                <a:ea typeface="楷体_GB2312" pitchFamily="49" charset="-122"/>
              </a:rPr>
              <a:t>(1.2)</a:t>
            </a:r>
            <a:r>
              <a:rPr lang="zh-CN" altLang="en-US" sz="2500" b="1">
                <a:solidFill>
                  <a:srgbClr val="FF3300"/>
                </a:solidFill>
                <a:ea typeface="楷体_GB2312" pitchFamily="49" charset="-122"/>
              </a:rPr>
              <a:t>钻穿效应</a:t>
            </a:r>
            <a:r>
              <a:rPr lang="en-US" altLang="zh-CN" sz="2500" b="1">
                <a:solidFill>
                  <a:srgbClr val="FF3300"/>
                </a:solidFill>
                <a:ea typeface="楷体_GB2312" pitchFamily="49" charset="-122"/>
              </a:rPr>
              <a:t>:</a:t>
            </a:r>
            <a:endParaRPr lang="en-US" altLang="zh-CN" sz="2500" b="1">
              <a:ea typeface="楷体_GB2312" pitchFamily="49" charset="-122"/>
            </a:endParaRPr>
          </a:p>
        </p:txBody>
      </p:sp>
      <p:sp>
        <p:nvSpPr>
          <p:cNvPr id="50191" name="Rectangle 15"/>
          <p:cNvSpPr>
            <a:spLocks noChangeArrowheads="1"/>
          </p:cNvSpPr>
          <p:nvPr/>
        </p:nvSpPr>
        <p:spPr bwMode="auto">
          <a:xfrm>
            <a:off x="906463" y="3162300"/>
            <a:ext cx="5815012" cy="9382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10000"/>
              </a:lnSpc>
            </a:pPr>
            <a:r>
              <a:rPr lang="zh-CN" altLang="en-US" sz="2500" b="1" dirty="0">
                <a:ea typeface="楷体_GB2312" pitchFamily="49" charset="-122"/>
              </a:rPr>
              <a:t>　　电子进入原子内部空间</a:t>
            </a:r>
            <a:r>
              <a:rPr lang="en-US" altLang="zh-CN" sz="2500" b="1" dirty="0">
                <a:ea typeface="楷体_GB2312" pitchFamily="49" charset="-122"/>
              </a:rPr>
              <a:t>,</a:t>
            </a:r>
            <a:r>
              <a:rPr lang="zh-CN" altLang="en-US" sz="2500" b="1" dirty="0">
                <a:ea typeface="楷体_GB2312" pitchFamily="49" charset="-122"/>
              </a:rPr>
              <a:t>受到核较强的吸引作用</a:t>
            </a:r>
            <a:r>
              <a:rPr lang="en-US" altLang="zh-CN" sz="2500" b="1" dirty="0">
                <a:ea typeface="楷体_GB2312" pitchFamily="49" charset="-122"/>
              </a:rPr>
              <a:t>.</a:t>
            </a:r>
          </a:p>
        </p:txBody>
      </p:sp>
      <p:grpSp>
        <p:nvGrpSpPr>
          <p:cNvPr id="2" name="Group 27"/>
          <p:cNvGrpSpPr>
            <a:grpSpLocks/>
          </p:cNvGrpSpPr>
          <p:nvPr/>
        </p:nvGrpSpPr>
        <p:grpSpPr bwMode="auto">
          <a:xfrm>
            <a:off x="6904038" y="2097088"/>
            <a:ext cx="4267200" cy="2813050"/>
            <a:chOff x="3060" y="1881"/>
            <a:chExt cx="2133" cy="1875"/>
          </a:xfrm>
        </p:grpSpPr>
        <p:pic>
          <p:nvPicPr>
            <p:cNvPr id="6156" name="Picture 26" descr="穿钻效应2s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3060" y="1881"/>
              <a:ext cx="2133" cy="1813"/>
            </a:xfrm>
            <a:prstGeom prst="rect">
              <a:avLst/>
            </a:prstGeom>
            <a:noFill/>
            <a:ln w="25400">
              <a:solidFill>
                <a:srgbClr val="FF00FF"/>
              </a:solidFill>
              <a:miter lim="800000"/>
              <a:headEnd/>
              <a:tailEnd/>
            </a:ln>
          </p:spPr>
        </p:pic>
        <p:sp>
          <p:nvSpPr>
            <p:cNvPr id="50193" name="Text Box 17"/>
            <p:cNvSpPr txBox="1">
              <a:spLocks noChangeArrowheads="1"/>
            </p:cNvSpPr>
            <p:nvPr/>
          </p:nvSpPr>
          <p:spPr bwMode="auto">
            <a:xfrm>
              <a:off x="3196" y="3469"/>
              <a:ext cx="1968" cy="28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en-US" altLang="zh-CN" sz="2200" b="1">
                  <a:solidFill>
                    <a:schemeClr val="bg2"/>
                  </a:solidFill>
                  <a:ea typeface="黑体" pitchFamily="2" charset="-122"/>
                </a:rPr>
                <a:t>2</a:t>
              </a:r>
              <a:r>
                <a:rPr lang="en-US" altLang="zh-CN" sz="2200" b="1" i="1">
                  <a:solidFill>
                    <a:schemeClr val="bg2"/>
                  </a:solidFill>
                  <a:ea typeface="黑体" pitchFamily="2" charset="-122"/>
                </a:rPr>
                <a:t>s</a:t>
              </a:r>
              <a:r>
                <a:rPr lang="zh-CN" altLang="en-US" sz="2200" b="1">
                  <a:solidFill>
                    <a:schemeClr val="bg2"/>
                  </a:solidFill>
                  <a:ea typeface="黑体" pitchFamily="2" charset="-122"/>
                </a:rPr>
                <a:t>与</a:t>
              </a:r>
              <a:r>
                <a:rPr lang="en-US" altLang="zh-CN" sz="2200" b="1">
                  <a:solidFill>
                    <a:schemeClr val="bg2"/>
                  </a:solidFill>
                  <a:ea typeface="黑体" pitchFamily="2" charset="-122"/>
                </a:rPr>
                <a:t>2</a:t>
              </a:r>
              <a:r>
                <a:rPr lang="en-US" altLang="zh-CN" sz="2200" b="1" i="1">
                  <a:solidFill>
                    <a:schemeClr val="bg2"/>
                  </a:solidFill>
                  <a:ea typeface="黑体" pitchFamily="2" charset="-122"/>
                </a:rPr>
                <a:t>p</a:t>
              </a:r>
              <a:r>
                <a:rPr lang="zh-CN" altLang="en-US" sz="2200" b="1">
                  <a:solidFill>
                    <a:schemeClr val="bg2"/>
                  </a:solidFill>
                  <a:ea typeface="黑体" pitchFamily="2" charset="-122"/>
                </a:rPr>
                <a:t>轨道的径向分布图</a:t>
              </a:r>
              <a:endParaRPr lang="zh-CN" altLang="en-US" sz="2200" b="1">
                <a:effectLst>
                  <a:outerShdw blurRad="38100" dist="38100" dir="2700000" algn="tl">
                    <a:srgbClr val="FFFFFF"/>
                  </a:outerShdw>
                </a:effectLst>
              </a:endParaRPr>
            </a:p>
          </p:txBody>
        </p:sp>
      </p:grpSp>
      <p:sp>
        <p:nvSpPr>
          <p:cNvPr id="50195" name="Rectangle 19"/>
          <p:cNvSpPr>
            <a:spLocks noChangeArrowheads="1"/>
          </p:cNvSpPr>
          <p:nvPr/>
        </p:nvSpPr>
        <p:spPr bwMode="auto">
          <a:xfrm>
            <a:off x="906463" y="4079875"/>
            <a:ext cx="6007100" cy="9382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10000"/>
              </a:lnSpc>
            </a:pPr>
            <a:r>
              <a:rPr lang="en-US" altLang="zh-CN" sz="2500" b="1" dirty="0">
                <a:ea typeface="楷体_GB2312" pitchFamily="49" charset="-122"/>
              </a:rPr>
              <a:t>        </a:t>
            </a:r>
            <a:r>
              <a:rPr lang="zh-CN" altLang="en-US" sz="2500" b="1" dirty="0">
                <a:ea typeface="楷体_GB2312" pitchFamily="49" charset="-122"/>
              </a:rPr>
              <a:t>一般</a:t>
            </a:r>
            <a:r>
              <a:rPr lang="zh-CN" altLang="en-US" sz="2500" b="1" dirty="0">
                <a:solidFill>
                  <a:srgbClr val="FF3300"/>
                </a:solidFill>
                <a:ea typeface="楷体_GB2312" pitchFamily="49" charset="-122"/>
              </a:rPr>
              <a:t>钻穿能力顺序</a:t>
            </a:r>
            <a:r>
              <a:rPr lang="zh-CN" altLang="en-US" sz="2500" b="1" dirty="0">
                <a:ea typeface="楷体_GB2312" pitchFamily="49" charset="-122"/>
              </a:rPr>
              <a:t>为</a:t>
            </a:r>
            <a:r>
              <a:rPr lang="en-US" altLang="zh-CN" sz="2500" b="1" dirty="0">
                <a:ea typeface="楷体_GB2312" pitchFamily="49" charset="-122"/>
              </a:rPr>
              <a:t>:</a:t>
            </a:r>
          </a:p>
          <a:p>
            <a:pPr algn="ctr">
              <a:lnSpc>
                <a:spcPct val="110000"/>
              </a:lnSpc>
            </a:pPr>
            <a:r>
              <a:rPr lang="en-US" altLang="zh-CN" sz="2500" b="1" i="1" dirty="0">
                <a:ea typeface="楷体_GB2312" pitchFamily="49" charset="-122"/>
                <a:sym typeface="Monotype Sorts" pitchFamily="2" charset="2"/>
              </a:rPr>
              <a:t>ns </a:t>
            </a:r>
            <a:r>
              <a:rPr lang="en-US" altLang="zh-CN" sz="2500" b="1" dirty="0">
                <a:ea typeface="楷体_GB2312" pitchFamily="49" charset="-122"/>
                <a:sym typeface="Monotype Sorts" pitchFamily="2" charset="2"/>
              </a:rPr>
              <a:t>&gt; </a:t>
            </a:r>
            <a:r>
              <a:rPr lang="en-US" altLang="zh-CN" sz="2500" b="1" i="1" dirty="0" err="1">
                <a:ea typeface="楷体_GB2312" pitchFamily="49" charset="-122"/>
                <a:sym typeface="Monotype Sorts" pitchFamily="2" charset="2"/>
              </a:rPr>
              <a:t>np</a:t>
            </a:r>
            <a:r>
              <a:rPr lang="en-US" altLang="zh-CN" sz="2500" b="1" dirty="0">
                <a:ea typeface="楷体_GB2312" pitchFamily="49" charset="-122"/>
                <a:sym typeface="Monotype Sorts" pitchFamily="2" charset="2"/>
              </a:rPr>
              <a:t> &gt; </a:t>
            </a:r>
            <a:r>
              <a:rPr lang="en-US" altLang="zh-CN" sz="2500" b="1" i="1" dirty="0" err="1">
                <a:ea typeface="楷体_GB2312" pitchFamily="49" charset="-122"/>
                <a:sym typeface="Monotype Sorts" pitchFamily="2" charset="2"/>
              </a:rPr>
              <a:t>nd</a:t>
            </a:r>
            <a:r>
              <a:rPr lang="en-US" altLang="zh-CN" sz="2500" b="1" dirty="0">
                <a:ea typeface="楷体_GB2312" pitchFamily="49" charset="-122"/>
                <a:sym typeface="Monotype Sorts" pitchFamily="2" charset="2"/>
              </a:rPr>
              <a:t> &gt; </a:t>
            </a:r>
            <a:r>
              <a:rPr lang="en-US" altLang="zh-CN" sz="2500" b="1" i="1" dirty="0" err="1">
                <a:ea typeface="楷体_GB2312" pitchFamily="49" charset="-122"/>
                <a:sym typeface="Monotype Sorts" pitchFamily="2" charset="2"/>
              </a:rPr>
              <a:t>nf</a:t>
            </a:r>
            <a:endParaRPr lang="en-US" altLang="zh-CN" sz="2500" b="1" i="1" dirty="0">
              <a:ea typeface="楷体_GB2312" pitchFamily="49" charset="-122"/>
              <a:sym typeface="Monotype Sorts" pitchFamily="2" charset="2"/>
            </a:endParaRPr>
          </a:p>
        </p:txBody>
      </p:sp>
      <p:sp>
        <p:nvSpPr>
          <p:cNvPr id="6153" name="Rectangle 29"/>
          <p:cNvSpPr>
            <a:spLocks noGrp="1" noChangeArrowheads="1"/>
          </p:cNvSpPr>
          <p:nvPr>
            <p:ph type="title"/>
          </p:nvPr>
        </p:nvSpPr>
        <p:spPr>
          <a:xfrm>
            <a:off x="576263" y="258763"/>
            <a:ext cx="10369550" cy="430212"/>
          </a:xfrm>
          <a:noFill/>
        </p:spPr>
        <p:txBody>
          <a:bodyPr/>
          <a:lstStyle/>
          <a:p>
            <a:r>
              <a:rPr lang="en-US" altLang="zh-CN" smtClean="0">
                <a:ea typeface="黑体" pitchFamily="49" charset="-122"/>
              </a:rPr>
              <a:t>7.3.1</a:t>
            </a:r>
            <a:r>
              <a:rPr lang="zh-CN" altLang="en-US" smtClean="0">
                <a:ea typeface="黑体" pitchFamily="49" charset="-122"/>
              </a:rPr>
              <a:t>多电子原子的核外电子排布</a:t>
            </a:r>
            <a:endParaRPr lang="zh-CN" altLang="en-US" b="0" smtClean="0">
              <a:ea typeface="黑体" pitchFamily="49" charset="-122"/>
            </a:endParaRPr>
          </a:p>
        </p:txBody>
      </p:sp>
      <p:sp>
        <p:nvSpPr>
          <p:cNvPr id="6154" name="Oval 27" descr="图片9">
            <a:hlinkClick r:id="" action="ppaction://hlinkshowjump?jump=nextslide"/>
          </p:cNvPr>
          <p:cNvSpPr>
            <a:spLocks noChangeAspect="1" noChangeArrowheads="1"/>
          </p:cNvSpPr>
          <p:nvPr/>
        </p:nvSpPr>
        <p:spPr bwMode="gray">
          <a:xfrm>
            <a:off x="11161713" y="5526088"/>
            <a:ext cx="360362" cy="360362"/>
          </a:xfrm>
          <a:prstGeom prst="ellipse">
            <a:avLst/>
          </a:prstGeom>
          <a:blipFill dpi="0" rotWithShape="1">
            <a:blip r:embed="rId4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>
              <a:ea typeface="黑体" pitchFamily="49" charset="-122"/>
              <a:cs typeface="楷体_GB2312" pitchFamily="49" charset="-122"/>
            </a:endParaRPr>
          </a:p>
        </p:txBody>
      </p:sp>
      <p:sp>
        <p:nvSpPr>
          <p:cNvPr id="6155" name="Oval 26" descr="图片8">
            <a:hlinkClick r:id="" action="ppaction://hlinkshowjump?jump=previousslide"/>
          </p:cNvPr>
          <p:cNvSpPr>
            <a:spLocks noChangeAspect="1" noChangeArrowheads="1"/>
          </p:cNvSpPr>
          <p:nvPr/>
        </p:nvSpPr>
        <p:spPr bwMode="gray">
          <a:xfrm>
            <a:off x="0" y="5526088"/>
            <a:ext cx="360363" cy="360362"/>
          </a:xfrm>
          <a:prstGeom prst="ellipse">
            <a:avLst/>
          </a:prstGeom>
          <a:blipFill dpi="0" rotWithShape="1">
            <a:blip r:embed="rId5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50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2" dur="500"/>
                                        <p:tgtEl>
                                          <p:spTgt spid="501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7" dur="500"/>
                                        <p:tgtEl>
                                          <p:spTgt spid="5018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2" dur="500"/>
                                        <p:tgtEl>
                                          <p:spTgt spid="5018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3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6" dur="500"/>
                                        <p:tgtEl>
                                          <p:spTgt spid="5018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1" dur="500"/>
                                        <p:tgtEl>
                                          <p:spTgt spid="50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6" dur="500"/>
                                        <p:tgtEl>
                                          <p:spTgt spid="50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46" dur="500"/>
                                        <p:tgtEl>
                                          <p:spTgt spid="50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185" grpId="0" autoUpdateAnimBg="0"/>
      <p:bldP spid="50186" grpId="0" build="p" autoUpdateAnimBg="0"/>
      <p:bldP spid="50187" grpId="0" animBg="1"/>
      <p:bldP spid="50188" grpId="0" autoUpdateAnimBg="0"/>
      <p:bldP spid="50191" grpId="0" autoUpdateAnimBg="0"/>
      <p:bldP spid="50195" grpId="0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12" name="Rectangle 12"/>
          <p:cNvSpPr>
            <a:spLocks noChangeArrowheads="1"/>
          </p:cNvSpPr>
          <p:nvPr/>
        </p:nvSpPr>
        <p:spPr bwMode="auto">
          <a:xfrm>
            <a:off x="906463" y="1020763"/>
            <a:ext cx="10231437" cy="5318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10000"/>
              </a:lnSpc>
            </a:pPr>
            <a:r>
              <a:rPr lang="en-US" altLang="zh-CN" sz="2800" b="1" i="1">
                <a:ea typeface="楷体_GB2312" pitchFamily="49" charset="-122"/>
              </a:rPr>
              <a:t>        </a:t>
            </a:r>
            <a:r>
              <a:rPr lang="en-US" altLang="zh-CN" sz="2500" b="1" i="1">
                <a:ea typeface="楷体_GB2312" pitchFamily="49" charset="-122"/>
              </a:rPr>
              <a:t>E</a:t>
            </a:r>
            <a:r>
              <a:rPr lang="en-US" altLang="zh-CN" sz="2500" b="1" baseline="-25000">
                <a:ea typeface="楷体_GB2312" pitchFamily="49" charset="-122"/>
              </a:rPr>
              <a:t>3</a:t>
            </a:r>
            <a:r>
              <a:rPr lang="en-US" altLang="zh-CN" sz="2500" b="1" i="1" baseline="-25000">
                <a:ea typeface="楷体_GB2312" pitchFamily="49" charset="-122"/>
              </a:rPr>
              <a:t>d</a:t>
            </a:r>
            <a:r>
              <a:rPr lang="en-US" altLang="zh-CN" sz="2500" b="1" baseline="-25000">
                <a:ea typeface="楷体_GB2312" pitchFamily="49" charset="-122"/>
              </a:rPr>
              <a:t>  </a:t>
            </a:r>
            <a:r>
              <a:rPr lang="en-US" altLang="zh-CN" sz="2500" b="1">
                <a:ea typeface="楷体_GB2312" pitchFamily="49" charset="-122"/>
              </a:rPr>
              <a:t>&gt; </a:t>
            </a:r>
            <a:r>
              <a:rPr lang="en-US" altLang="zh-CN" sz="2500" b="1" i="1">
                <a:ea typeface="楷体_GB2312" pitchFamily="49" charset="-122"/>
              </a:rPr>
              <a:t>E</a:t>
            </a:r>
            <a:r>
              <a:rPr lang="en-US" altLang="zh-CN" sz="2500" b="1" baseline="-25000">
                <a:ea typeface="楷体_GB2312" pitchFamily="49" charset="-122"/>
              </a:rPr>
              <a:t>4</a:t>
            </a:r>
            <a:r>
              <a:rPr lang="en-US" altLang="zh-CN" sz="2500" b="1" i="1" baseline="-25000">
                <a:ea typeface="楷体_GB2312" pitchFamily="49" charset="-122"/>
              </a:rPr>
              <a:t>s</a:t>
            </a:r>
            <a:r>
              <a:rPr lang="zh-CN" altLang="en-US" sz="2500" b="1">
                <a:ea typeface="楷体_GB2312" pitchFamily="49" charset="-122"/>
              </a:rPr>
              <a:t>的可能原因</a:t>
            </a:r>
            <a:r>
              <a:rPr lang="en-US" altLang="zh-CN" sz="2500" b="1">
                <a:ea typeface="楷体_GB2312" pitchFamily="49" charset="-122"/>
              </a:rPr>
              <a:t>:</a:t>
            </a:r>
          </a:p>
        </p:txBody>
      </p:sp>
      <p:grpSp>
        <p:nvGrpSpPr>
          <p:cNvPr id="2" name="Group 25"/>
          <p:cNvGrpSpPr>
            <a:grpSpLocks/>
          </p:cNvGrpSpPr>
          <p:nvPr/>
        </p:nvGrpSpPr>
        <p:grpSpPr bwMode="auto">
          <a:xfrm>
            <a:off x="2492375" y="1530350"/>
            <a:ext cx="7254875" cy="2074863"/>
            <a:chOff x="1246" y="1292"/>
            <a:chExt cx="3627" cy="1383"/>
          </a:xfrm>
        </p:grpSpPr>
        <p:pic>
          <p:nvPicPr>
            <p:cNvPr id="7175" name="Picture 24" descr="穿钻效应1s"/>
            <p:cNvPicPr>
              <a:picLocks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1246" y="1314"/>
              <a:ext cx="3627" cy="1361"/>
            </a:xfrm>
            <a:prstGeom prst="rect">
              <a:avLst/>
            </a:prstGeom>
            <a:noFill/>
            <a:ln w="25400">
              <a:solidFill>
                <a:srgbClr val="FF00FF"/>
              </a:solidFill>
              <a:miter lim="800000"/>
              <a:headEnd/>
              <a:tailEnd/>
            </a:ln>
          </p:spPr>
        </p:pic>
        <p:sp>
          <p:nvSpPr>
            <p:cNvPr id="51215" name="Text Box 15"/>
            <p:cNvSpPr txBox="1">
              <a:spLocks noChangeArrowheads="1"/>
            </p:cNvSpPr>
            <p:nvPr/>
          </p:nvSpPr>
          <p:spPr bwMode="auto">
            <a:xfrm>
              <a:off x="2153" y="1292"/>
              <a:ext cx="2256" cy="26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en-US" altLang="zh-CN" sz="2000" b="1">
                  <a:solidFill>
                    <a:schemeClr val="bg2"/>
                  </a:solidFill>
                  <a:ea typeface="黑体" pitchFamily="2" charset="-122"/>
                </a:rPr>
                <a:t>3</a:t>
              </a:r>
              <a:r>
                <a:rPr lang="en-US" altLang="zh-CN" sz="2000" b="1" i="1">
                  <a:solidFill>
                    <a:schemeClr val="bg2"/>
                  </a:solidFill>
                  <a:ea typeface="黑体" pitchFamily="2" charset="-122"/>
                </a:rPr>
                <a:t>d</a:t>
              </a:r>
              <a:r>
                <a:rPr lang="zh-CN" altLang="en-US" sz="2000" b="1">
                  <a:solidFill>
                    <a:schemeClr val="bg2"/>
                  </a:solidFill>
                  <a:ea typeface="黑体" pitchFamily="2" charset="-122"/>
                </a:rPr>
                <a:t>与</a:t>
              </a:r>
              <a:r>
                <a:rPr lang="en-US" altLang="zh-CN" sz="2000" b="1">
                  <a:solidFill>
                    <a:schemeClr val="bg2"/>
                  </a:solidFill>
                  <a:ea typeface="黑体" pitchFamily="2" charset="-122"/>
                </a:rPr>
                <a:t>4</a:t>
              </a:r>
              <a:r>
                <a:rPr lang="en-US" altLang="zh-CN" sz="2000" b="1" i="1">
                  <a:solidFill>
                    <a:schemeClr val="bg2"/>
                  </a:solidFill>
                  <a:ea typeface="黑体" pitchFamily="2" charset="-122"/>
                </a:rPr>
                <a:t>s</a:t>
              </a:r>
              <a:r>
                <a:rPr lang="zh-CN" altLang="en-US" sz="2000" b="1">
                  <a:solidFill>
                    <a:schemeClr val="bg2"/>
                  </a:solidFill>
                  <a:ea typeface="黑体" pitchFamily="2" charset="-122"/>
                </a:rPr>
                <a:t>轨道的径向分布图</a:t>
              </a:r>
              <a:endParaRPr lang="zh-CN" altLang="en-US" sz="2400" b="1">
                <a:effectLst>
                  <a:outerShdw blurRad="38100" dist="38100" dir="2700000" algn="tl">
                    <a:srgbClr val="FFFFFF"/>
                  </a:outerShdw>
                </a:effectLst>
              </a:endParaRPr>
            </a:p>
          </p:txBody>
        </p:sp>
      </p:grpSp>
      <p:sp>
        <p:nvSpPr>
          <p:cNvPr id="7172" name="Rectangle 28"/>
          <p:cNvSpPr>
            <a:spLocks noGrp="1" noChangeArrowheads="1"/>
          </p:cNvSpPr>
          <p:nvPr>
            <p:ph type="title"/>
          </p:nvPr>
        </p:nvSpPr>
        <p:spPr>
          <a:xfrm>
            <a:off x="576263" y="258763"/>
            <a:ext cx="10369550" cy="430212"/>
          </a:xfrm>
          <a:noFill/>
        </p:spPr>
        <p:txBody>
          <a:bodyPr/>
          <a:lstStyle/>
          <a:p>
            <a:r>
              <a:rPr lang="en-US" altLang="zh-CN" smtClean="0">
                <a:ea typeface="黑体" pitchFamily="49" charset="-122"/>
              </a:rPr>
              <a:t>7.3.1</a:t>
            </a:r>
            <a:r>
              <a:rPr lang="zh-CN" altLang="en-US" smtClean="0">
                <a:ea typeface="黑体" pitchFamily="49" charset="-122"/>
              </a:rPr>
              <a:t>多电子原子的核外电子排布</a:t>
            </a:r>
            <a:endParaRPr lang="zh-CN" altLang="en-US" b="0" smtClean="0">
              <a:ea typeface="黑体" pitchFamily="49" charset="-122"/>
            </a:endParaRPr>
          </a:p>
        </p:txBody>
      </p:sp>
      <p:sp>
        <p:nvSpPr>
          <p:cNvPr id="7173" name="Oval 27" descr="图片9">
            <a:hlinkClick r:id="" action="ppaction://hlinkshowjump?jump=nextslide"/>
          </p:cNvPr>
          <p:cNvSpPr>
            <a:spLocks noChangeAspect="1" noChangeArrowheads="1"/>
          </p:cNvSpPr>
          <p:nvPr/>
        </p:nvSpPr>
        <p:spPr bwMode="gray">
          <a:xfrm>
            <a:off x="11161713" y="5526088"/>
            <a:ext cx="360362" cy="360362"/>
          </a:xfrm>
          <a:prstGeom prst="ellipse">
            <a:avLst/>
          </a:prstGeom>
          <a:blipFill dpi="0" rotWithShape="1">
            <a:blip r:embed="rId4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>
              <a:ea typeface="黑体" pitchFamily="49" charset="-122"/>
              <a:cs typeface="楷体_GB2312" pitchFamily="49" charset="-122"/>
            </a:endParaRPr>
          </a:p>
        </p:txBody>
      </p:sp>
      <p:sp>
        <p:nvSpPr>
          <p:cNvPr id="7174" name="Oval 26" descr="图片8">
            <a:hlinkClick r:id="" action="ppaction://hlinkshowjump?jump=previousslide"/>
          </p:cNvPr>
          <p:cNvSpPr>
            <a:spLocks noChangeAspect="1" noChangeArrowheads="1"/>
          </p:cNvSpPr>
          <p:nvPr/>
        </p:nvSpPr>
        <p:spPr bwMode="gray">
          <a:xfrm>
            <a:off x="0" y="5526088"/>
            <a:ext cx="360363" cy="360362"/>
          </a:xfrm>
          <a:prstGeom prst="ellipse">
            <a:avLst/>
          </a:prstGeom>
          <a:blipFill dpi="0" rotWithShape="1">
            <a:blip r:embed="rId5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51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recycl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12" grpId="0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41"/>
          <p:cNvGrpSpPr>
            <a:grpSpLocks/>
          </p:cNvGrpSpPr>
          <p:nvPr/>
        </p:nvGrpSpPr>
        <p:grpSpPr bwMode="auto">
          <a:xfrm>
            <a:off x="996950" y="1393825"/>
            <a:ext cx="7104063" cy="4241800"/>
            <a:chOff x="498" y="952"/>
            <a:chExt cx="3552" cy="2828"/>
          </a:xfrm>
        </p:grpSpPr>
        <p:pic>
          <p:nvPicPr>
            <p:cNvPr id="8213" name="Picture 16" descr="snap44"/>
            <p:cNvPicPr>
              <a:picLocks noChangeAspect="1" noChangeArrowheads="1"/>
            </p:cNvPicPr>
            <p:nvPr/>
          </p:nvPicPr>
          <p:blipFill>
            <a:blip r:embed="rId5"/>
            <a:srcRect/>
            <a:stretch>
              <a:fillRect/>
            </a:stretch>
          </p:blipFill>
          <p:spPr bwMode="auto">
            <a:xfrm>
              <a:off x="498" y="952"/>
              <a:ext cx="3552" cy="2787"/>
            </a:xfrm>
            <a:prstGeom prst="rect">
              <a:avLst/>
            </a:prstGeom>
            <a:noFill/>
            <a:ln w="25400">
              <a:solidFill>
                <a:srgbClr val="FF00FF"/>
              </a:solidFill>
              <a:miter lim="800000"/>
              <a:headEnd/>
              <a:tailEnd/>
            </a:ln>
          </p:spPr>
        </p:pic>
        <p:sp>
          <p:nvSpPr>
            <p:cNvPr id="8214" name="Rectangle 40"/>
            <p:cNvSpPr>
              <a:spLocks noChangeArrowheads="1"/>
            </p:cNvSpPr>
            <p:nvPr/>
          </p:nvSpPr>
          <p:spPr bwMode="auto">
            <a:xfrm>
              <a:off x="1609" y="3513"/>
              <a:ext cx="1157" cy="26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CN" sz="2000" b="1">
                  <a:solidFill>
                    <a:srgbClr val="0000FF"/>
                  </a:solidFill>
                  <a:ea typeface="楷体_GB2312" pitchFamily="49" charset="-122"/>
                </a:rPr>
                <a:t>Pauling</a:t>
              </a:r>
              <a:r>
                <a:rPr lang="zh-CN" altLang="en-US" sz="2000" b="1">
                  <a:solidFill>
                    <a:srgbClr val="0000FF"/>
                  </a:solidFill>
                  <a:ea typeface="楷体_GB2312" pitchFamily="49" charset="-122"/>
                </a:rPr>
                <a:t>近似能级图</a:t>
              </a:r>
            </a:p>
          </p:txBody>
        </p:sp>
      </p:grpSp>
      <p:sp>
        <p:nvSpPr>
          <p:cNvPr id="36879" name="Text Box 15"/>
          <p:cNvSpPr txBox="1">
            <a:spLocks noChangeArrowheads="1"/>
          </p:cNvSpPr>
          <p:nvPr/>
        </p:nvSpPr>
        <p:spPr bwMode="auto">
          <a:xfrm>
            <a:off x="906463" y="950913"/>
            <a:ext cx="5568950" cy="477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altLang="zh-CN" sz="2500" b="1" dirty="0">
                <a:solidFill>
                  <a:srgbClr val="FF3300"/>
                </a:solidFill>
                <a:ea typeface="楷体_GB2312"/>
              </a:rPr>
              <a:t>(1.3)Pauling</a:t>
            </a:r>
            <a:r>
              <a:rPr lang="zh-CN" altLang="en-US" sz="2500" b="1" dirty="0">
                <a:solidFill>
                  <a:srgbClr val="FF3300"/>
                </a:solidFill>
                <a:ea typeface="楷体_GB2312"/>
              </a:rPr>
              <a:t>近似能级图</a:t>
            </a:r>
            <a:r>
              <a:rPr lang="en-US" altLang="zh-CN" sz="2500" b="1" dirty="0">
                <a:solidFill>
                  <a:srgbClr val="FF3300"/>
                </a:solidFill>
                <a:ea typeface="楷体_GB2312"/>
              </a:rPr>
              <a:t>:</a:t>
            </a:r>
            <a:endParaRPr lang="en-US" altLang="zh-CN" sz="2500" b="1" dirty="0">
              <a:effectLst>
                <a:outerShdw blurRad="38100" dist="38100" dir="2700000" algn="tl">
                  <a:srgbClr val="FFFFFF"/>
                </a:outerShdw>
              </a:effectLst>
              <a:ea typeface="楷体_GB2312"/>
            </a:endParaRPr>
          </a:p>
        </p:txBody>
      </p:sp>
      <p:sp>
        <p:nvSpPr>
          <p:cNvPr id="36881" name="Rectangle 17"/>
          <p:cNvSpPr>
            <a:spLocks noChangeArrowheads="1"/>
          </p:cNvSpPr>
          <p:nvPr/>
        </p:nvSpPr>
        <p:spPr bwMode="auto">
          <a:xfrm>
            <a:off x="8161338" y="1358900"/>
            <a:ext cx="2976562" cy="9382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10000"/>
              </a:lnSpc>
            </a:pPr>
            <a:r>
              <a:rPr lang="en-US" altLang="zh-CN" sz="2500" b="1" dirty="0">
                <a:ea typeface="楷体_GB2312" pitchFamily="49" charset="-122"/>
              </a:rPr>
              <a:t>        </a:t>
            </a:r>
            <a:r>
              <a:rPr lang="zh-CN" altLang="en-US" sz="2500" b="1" dirty="0">
                <a:ea typeface="楷体_GB2312" pitchFamily="49" charset="-122"/>
              </a:rPr>
              <a:t>能级组与周期数对应</a:t>
            </a:r>
            <a:r>
              <a:rPr lang="en-US" altLang="zh-CN" sz="2500" b="1" dirty="0">
                <a:ea typeface="楷体_GB2312" pitchFamily="49" charset="-122"/>
              </a:rPr>
              <a:t>.</a:t>
            </a:r>
          </a:p>
        </p:txBody>
      </p:sp>
      <p:sp>
        <p:nvSpPr>
          <p:cNvPr id="36883" name="Rectangle 19"/>
          <p:cNvSpPr>
            <a:spLocks noChangeArrowheads="1"/>
          </p:cNvSpPr>
          <p:nvPr/>
        </p:nvSpPr>
        <p:spPr bwMode="auto">
          <a:xfrm rot="5400000">
            <a:off x="1898650" y="2025650"/>
            <a:ext cx="360363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2400" b="1">
                <a:solidFill>
                  <a:srgbClr val="FF3300"/>
                </a:solidFill>
                <a:ea typeface="楷体_GB2312"/>
                <a:sym typeface="Monotype Sorts" pitchFamily="2" charset="2"/>
              </a:rPr>
              <a:t>&gt;</a:t>
            </a:r>
            <a:endParaRPr lang="en-US" altLang="zh-CN" sz="2400" b="1">
              <a:effectLst>
                <a:outerShdw blurRad="38100" dist="38100" dir="2700000" algn="tl">
                  <a:srgbClr val="FFFFFF"/>
                </a:outerShdw>
              </a:effectLst>
              <a:ea typeface="楷体_GB2312"/>
              <a:sym typeface="Monotype Sorts" pitchFamily="2" charset="2"/>
            </a:endParaRPr>
          </a:p>
        </p:txBody>
      </p:sp>
      <p:sp>
        <p:nvSpPr>
          <p:cNvPr id="36884" name="Rectangle 20"/>
          <p:cNvSpPr>
            <a:spLocks noChangeArrowheads="1"/>
          </p:cNvSpPr>
          <p:nvPr/>
        </p:nvSpPr>
        <p:spPr bwMode="auto">
          <a:xfrm rot="5400000">
            <a:off x="1898651" y="2601912"/>
            <a:ext cx="360362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2400" b="1">
                <a:solidFill>
                  <a:srgbClr val="FF3300"/>
                </a:solidFill>
                <a:ea typeface="楷体_GB2312"/>
                <a:sym typeface="Monotype Sorts" pitchFamily="2" charset="2"/>
              </a:rPr>
              <a:t>&gt;</a:t>
            </a:r>
            <a:endParaRPr lang="en-US" altLang="zh-CN" sz="2400" b="1">
              <a:effectLst>
                <a:outerShdw blurRad="38100" dist="38100" dir="2700000" algn="tl">
                  <a:srgbClr val="FFFFFF"/>
                </a:outerShdw>
              </a:effectLst>
              <a:ea typeface="楷体_GB2312"/>
              <a:sym typeface="Monotype Sorts" pitchFamily="2" charset="2"/>
            </a:endParaRPr>
          </a:p>
        </p:txBody>
      </p:sp>
      <p:sp>
        <p:nvSpPr>
          <p:cNvPr id="36885" name="Rectangle 21"/>
          <p:cNvSpPr>
            <a:spLocks noChangeArrowheads="1"/>
          </p:cNvSpPr>
          <p:nvPr/>
        </p:nvSpPr>
        <p:spPr bwMode="auto">
          <a:xfrm rot="5400000">
            <a:off x="1899444" y="3215481"/>
            <a:ext cx="358775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2400" b="1">
                <a:solidFill>
                  <a:srgbClr val="FF3300"/>
                </a:solidFill>
                <a:ea typeface="楷体_GB2312"/>
                <a:sym typeface="Monotype Sorts" pitchFamily="2" charset="2"/>
              </a:rPr>
              <a:t>&gt;</a:t>
            </a:r>
            <a:endParaRPr lang="en-US" altLang="zh-CN" sz="2400" b="1">
              <a:effectLst>
                <a:outerShdw blurRad="38100" dist="38100" dir="2700000" algn="tl">
                  <a:srgbClr val="FFFFFF"/>
                </a:outerShdw>
              </a:effectLst>
              <a:ea typeface="楷体_GB2312"/>
              <a:sym typeface="Monotype Sorts" pitchFamily="2" charset="2"/>
            </a:endParaRPr>
          </a:p>
        </p:txBody>
      </p:sp>
      <p:sp>
        <p:nvSpPr>
          <p:cNvPr id="36886" name="Rectangle 22"/>
          <p:cNvSpPr>
            <a:spLocks noChangeArrowheads="1"/>
          </p:cNvSpPr>
          <p:nvPr/>
        </p:nvSpPr>
        <p:spPr bwMode="auto">
          <a:xfrm rot="5400000">
            <a:off x="1898651" y="3963987"/>
            <a:ext cx="360362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2400" b="1">
                <a:solidFill>
                  <a:srgbClr val="FF3300"/>
                </a:solidFill>
                <a:ea typeface="楷体_GB2312"/>
                <a:sym typeface="Monotype Sorts" pitchFamily="2" charset="2"/>
              </a:rPr>
              <a:t>&gt;</a:t>
            </a:r>
            <a:endParaRPr lang="en-US" altLang="zh-CN" sz="2400" b="1">
              <a:effectLst>
                <a:outerShdw blurRad="38100" dist="38100" dir="2700000" algn="tl">
                  <a:srgbClr val="FFFFFF"/>
                </a:outerShdw>
              </a:effectLst>
              <a:ea typeface="楷体_GB2312"/>
              <a:sym typeface="Monotype Sorts" pitchFamily="2" charset="2"/>
            </a:endParaRPr>
          </a:p>
        </p:txBody>
      </p:sp>
      <p:sp>
        <p:nvSpPr>
          <p:cNvPr id="36887" name="Rectangle 23"/>
          <p:cNvSpPr>
            <a:spLocks noChangeArrowheads="1"/>
          </p:cNvSpPr>
          <p:nvPr/>
        </p:nvSpPr>
        <p:spPr bwMode="auto">
          <a:xfrm rot="5400000">
            <a:off x="1898651" y="4779962"/>
            <a:ext cx="360362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2400" b="1">
                <a:solidFill>
                  <a:srgbClr val="FF3300"/>
                </a:solidFill>
                <a:ea typeface="楷体_GB2312"/>
                <a:sym typeface="Monotype Sorts" pitchFamily="2" charset="2"/>
              </a:rPr>
              <a:t>&gt;</a:t>
            </a:r>
            <a:endParaRPr lang="en-US" altLang="zh-CN" sz="2400" b="1">
              <a:effectLst>
                <a:outerShdw blurRad="38100" dist="38100" dir="2700000" algn="tl">
                  <a:srgbClr val="FFFFFF"/>
                </a:outerShdw>
              </a:effectLst>
              <a:ea typeface="楷体_GB2312"/>
              <a:sym typeface="Monotype Sorts" pitchFamily="2" charset="2"/>
            </a:endParaRPr>
          </a:p>
        </p:txBody>
      </p:sp>
      <p:sp>
        <p:nvSpPr>
          <p:cNvPr id="36888" name="Rectangle 24"/>
          <p:cNvSpPr>
            <a:spLocks noChangeArrowheads="1"/>
          </p:cNvSpPr>
          <p:nvPr/>
        </p:nvSpPr>
        <p:spPr bwMode="auto">
          <a:xfrm>
            <a:off x="8161338" y="3570288"/>
            <a:ext cx="2881312" cy="477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sz="2500" b="1" dirty="0">
                <a:ea typeface="楷体_GB2312" pitchFamily="49" charset="-122"/>
                <a:sym typeface="Monotype Sorts" pitchFamily="2" charset="2"/>
              </a:rPr>
              <a:t>②</a:t>
            </a:r>
            <a:r>
              <a:rPr lang="zh-CN" altLang="en-US" sz="2500" b="1" dirty="0">
                <a:solidFill>
                  <a:srgbClr val="FF3300"/>
                </a:solidFill>
                <a:ea typeface="楷体_GB2312" pitchFamily="49" charset="-122"/>
                <a:sym typeface="Monotype Sorts" pitchFamily="2" charset="2"/>
              </a:rPr>
              <a:t>能级分裂</a:t>
            </a:r>
            <a:r>
              <a:rPr lang="en-US" altLang="zh-CN" sz="2500" b="1" dirty="0">
                <a:ea typeface="楷体_GB2312" pitchFamily="49" charset="-122"/>
                <a:sym typeface="Monotype Sorts" pitchFamily="2" charset="2"/>
              </a:rPr>
              <a:t>;</a:t>
            </a:r>
          </a:p>
        </p:txBody>
      </p:sp>
      <p:sp>
        <p:nvSpPr>
          <p:cNvPr id="36889" name="Rectangle 25"/>
          <p:cNvSpPr>
            <a:spLocks noChangeArrowheads="1"/>
          </p:cNvSpPr>
          <p:nvPr/>
        </p:nvSpPr>
        <p:spPr bwMode="auto">
          <a:xfrm>
            <a:off x="3627438" y="3808413"/>
            <a:ext cx="2995612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2800" b="1" i="1">
                <a:solidFill>
                  <a:srgbClr val="FF3300"/>
                </a:solidFill>
                <a:ea typeface="楷体_GB2312"/>
                <a:sym typeface="Monotype Sorts" pitchFamily="2" charset="2"/>
              </a:rPr>
              <a:t>ns</a:t>
            </a:r>
            <a:r>
              <a:rPr lang="en-US" altLang="zh-CN" sz="2800" b="1">
                <a:solidFill>
                  <a:schemeClr val="tx2"/>
                </a:solidFill>
                <a:ea typeface="楷体_GB2312"/>
                <a:sym typeface="Monotype Sorts" pitchFamily="2" charset="2"/>
              </a:rPr>
              <a:t>&lt;</a:t>
            </a:r>
            <a:r>
              <a:rPr lang="en-US" altLang="zh-CN" sz="2800" b="1" i="1">
                <a:solidFill>
                  <a:srgbClr val="FF3300"/>
                </a:solidFill>
                <a:ea typeface="楷体_GB2312"/>
                <a:sym typeface="Monotype Sorts" pitchFamily="2" charset="2"/>
              </a:rPr>
              <a:t>np</a:t>
            </a:r>
            <a:r>
              <a:rPr lang="en-US" altLang="zh-CN" sz="2800" b="1">
                <a:solidFill>
                  <a:schemeClr val="tx2"/>
                </a:solidFill>
                <a:ea typeface="楷体_GB2312"/>
                <a:sym typeface="Monotype Sorts" pitchFamily="2" charset="2"/>
              </a:rPr>
              <a:t>&lt;</a:t>
            </a:r>
            <a:r>
              <a:rPr lang="en-US" altLang="zh-CN" sz="2800" b="1" i="1">
                <a:solidFill>
                  <a:srgbClr val="FF3300"/>
                </a:solidFill>
                <a:ea typeface="楷体_GB2312"/>
                <a:sym typeface="Monotype Sorts" pitchFamily="2" charset="2"/>
              </a:rPr>
              <a:t>nd</a:t>
            </a:r>
            <a:r>
              <a:rPr lang="en-US" altLang="zh-CN" sz="2800" b="1">
                <a:ea typeface="楷体_GB2312"/>
                <a:sym typeface="Monotype Sorts" pitchFamily="2" charset="2"/>
              </a:rPr>
              <a:t>&lt;</a:t>
            </a:r>
            <a:r>
              <a:rPr lang="en-US" altLang="zh-CN" sz="2800" b="1" i="1">
                <a:solidFill>
                  <a:srgbClr val="FF3300"/>
                </a:solidFill>
                <a:ea typeface="楷体_GB2312"/>
                <a:sym typeface="Monotype Sorts" pitchFamily="2" charset="2"/>
              </a:rPr>
              <a:t>nf</a:t>
            </a:r>
            <a:endParaRPr lang="en-US" altLang="zh-CN" sz="2800" b="1" i="1">
              <a:effectLst>
                <a:outerShdw blurRad="38100" dist="38100" dir="2700000" algn="tl">
                  <a:srgbClr val="FFFFFF"/>
                </a:outerShdw>
              </a:effectLst>
              <a:ea typeface="楷体_GB2312"/>
              <a:sym typeface="Monotype Sorts" pitchFamily="2" charset="2"/>
            </a:endParaRPr>
          </a:p>
        </p:txBody>
      </p:sp>
      <p:sp>
        <p:nvSpPr>
          <p:cNvPr id="36890" name="Rectangle 26"/>
          <p:cNvSpPr>
            <a:spLocks noChangeArrowheads="1"/>
          </p:cNvSpPr>
          <p:nvPr/>
        </p:nvSpPr>
        <p:spPr bwMode="auto">
          <a:xfrm>
            <a:off x="8161338" y="4013200"/>
            <a:ext cx="3073400" cy="8620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sz="2500" b="1" dirty="0">
                <a:ea typeface="楷体_GB2312" pitchFamily="49" charset="-122"/>
                <a:sym typeface="Monotype Sorts" pitchFamily="2" charset="2"/>
              </a:rPr>
              <a:t>③</a:t>
            </a:r>
            <a:r>
              <a:rPr lang="zh-CN" altLang="en-US" sz="2500" b="1" dirty="0">
                <a:solidFill>
                  <a:srgbClr val="FF3300"/>
                </a:solidFill>
                <a:ea typeface="楷体_GB2312" pitchFamily="49" charset="-122"/>
                <a:sym typeface="Monotype Sorts" pitchFamily="2" charset="2"/>
              </a:rPr>
              <a:t>能级交错</a:t>
            </a:r>
            <a:r>
              <a:rPr lang="en-US" altLang="zh-CN" sz="2500" b="1" dirty="0">
                <a:solidFill>
                  <a:srgbClr val="FF3300"/>
                </a:solidFill>
                <a:ea typeface="楷体_GB2312" pitchFamily="49" charset="-122"/>
                <a:sym typeface="Monotype Sorts" pitchFamily="2" charset="2"/>
              </a:rPr>
              <a:t>(</a:t>
            </a:r>
            <a:r>
              <a:rPr lang="en-US" altLang="zh-CN" sz="2500" b="1" dirty="0">
                <a:solidFill>
                  <a:srgbClr val="0000FF"/>
                </a:solidFill>
                <a:ea typeface="楷体_GB2312" pitchFamily="49" charset="-122"/>
                <a:sym typeface="Monotype Sorts" pitchFamily="2" charset="2"/>
              </a:rPr>
              <a:t>energy level overlap</a:t>
            </a:r>
            <a:r>
              <a:rPr lang="en-US" altLang="zh-CN" sz="2500" b="1" dirty="0">
                <a:solidFill>
                  <a:srgbClr val="FF3300"/>
                </a:solidFill>
                <a:ea typeface="楷体_GB2312" pitchFamily="49" charset="-122"/>
                <a:sym typeface="Monotype Sorts" pitchFamily="2" charset="2"/>
              </a:rPr>
              <a:t>)</a:t>
            </a:r>
            <a:r>
              <a:rPr lang="en-US" altLang="zh-CN" sz="2500" b="1" dirty="0">
                <a:ea typeface="楷体_GB2312" pitchFamily="49" charset="-122"/>
                <a:sym typeface="Monotype Sorts" pitchFamily="2" charset="2"/>
              </a:rPr>
              <a:t>. </a:t>
            </a:r>
          </a:p>
        </p:txBody>
      </p:sp>
      <p:sp>
        <p:nvSpPr>
          <p:cNvPr id="36891" name="Rectangle 27"/>
          <p:cNvSpPr>
            <a:spLocks noChangeArrowheads="1"/>
          </p:cNvSpPr>
          <p:nvPr/>
        </p:nvSpPr>
        <p:spPr bwMode="auto">
          <a:xfrm>
            <a:off x="8161338" y="2244725"/>
            <a:ext cx="3135312" cy="1362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10000"/>
              </a:lnSpc>
            </a:pPr>
            <a:r>
              <a:rPr lang="zh-CN" altLang="en-US" sz="2500" b="1" dirty="0">
                <a:ea typeface="楷体_GB2312" pitchFamily="49" charset="-122"/>
              </a:rPr>
              <a:t>图中可看出</a:t>
            </a:r>
            <a:r>
              <a:rPr lang="en-US" altLang="zh-CN" sz="2500" b="1" dirty="0">
                <a:ea typeface="楷体_GB2312" pitchFamily="49" charset="-122"/>
              </a:rPr>
              <a:t>:</a:t>
            </a:r>
          </a:p>
          <a:p>
            <a:pPr>
              <a:lnSpc>
                <a:spcPct val="110000"/>
              </a:lnSpc>
            </a:pPr>
            <a:r>
              <a:rPr lang="en-US" altLang="zh-CN" sz="2500" b="1" dirty="0">
                <a:ea typeface="楷体_GB2312" pitchFamily="49" charset="-122"/>
                <a:sym typeface="Monotype Sorts" pitchFamily="2" charset="2"/>
              </a:rPr>
              <a:t>①</a:t>
            </a:r>
            <a:r>
              <a:rPr lang="zh-CN" altLang="en-US" sz="2500" b="1" dirty="0">
                <a:ea typeface="楷体_GB2312" pitchFamily="49" charset="-122"/>
                <a:sym typeface="Monotype Sorts" pitchFamily="2" charset="2"/>
              </a:rPr>
              <a:t>各电子层能级的相对高低</a:t>
            </a:r>
            <a:r>
              <a:rPr lang="en-US" altLang="zh-CN" sz="2500" b="1" dirty="0">
                <a:ea typeface="楷体_GB2312" pitchFamily="49" charset="-122"/>
                <a:sym typeface="Monotype Sorts" pitchFamily="2" charset="2"/>
              </a:rPr>
              <a:t>;</a:t>
            </a:r>
          </a:p>
        </p:txBody>
      </p:sp>
      <p:sp>
        <p:nvSpPr>
          <p:cNvPr id="36893" name="Line 29"/>
          <p:cNvSpPr>
            <a:spLocks noChangeShapeType="1"/>
          </p:cNvSpPr>
          <p:nvPr/>
        </p:nvSpPr>
        <p:spPr bwMode="auto">
          <a:xfrm rot="300000" flipH="1" flipV="1">
            <a:off x="4800600" y="3384550"/>
            <a:ext cx="3454400" cy="115252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6894" name="Line 30"/>
          <p:cNvSpPr>
            <a:spLocks noChangeShapeType="1"/>
          </p:cNvSpPr>
          <p:nvPr/>
        </p:nvSpPr>
        <p:spPr bwMode="auto">
          <a:xfrm rot="120000" flipH="1" flipV="1">
            <a:off x="4705350" y="2808288"/>
            <a:ext cx="3552825" cy="180022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6895" name="Line 31"/>
          <p:cNvSpPr>
            <a:spLocks noChangeShapeType="1"/>
          </p:cNvSpPr>
          <p:nvPr/>
        </p:nvSpPr>
        <p:spPr bwMode="auto">
          <a:xfrm rot="120000" flipH="1" flipV="1">
            <a:off x="5089525" y="2303463"/>
            <a:ext cx="3173413" cy="2312987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6899" name="Rectangle 35"/>
          <p:cNvSpPr>
            <a:spLocks noChangeArrowheads="1"/>
          </p:cNvSpPr>
          <p:nvPr/>
        </p:nvSpPr>
        <p:spPr bwMode="auto">
          <a:xfrm>
            <a:off x="3627438" y="4421188"/>
            <a:ext cx="3670300" cy="830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sz="2400" b="1" dirty="0">
                <a:solidFill>
                  <a:schemeClr val="accent2"/>
                </a:solidFill>
                <a:ea typeface="楷体_GB2312" pitchFamily="49" charset="-122"/>
              </a:rPr>
              <a:t>        </a:t>
            </a:r>
            <a:r>
              <a:rPr lang="zh-CN" altLang="en-US" sz="2200" b="1" dirty="0">
                <a:solidFill>
                  <a:schemeClr val="accent2"/>
                </a:solidFill>
                <a:ea typeface="楷体_GB2312" pitchFamily="49" charset="-122"/>
              </a:rPr>
              <a:t>注意正确</a:t>
            </a:r>
            <a:r>
              <a:rPr lang="zh-CN" altLang="zh-CN" sz="2200" b="1" dirty="0">
                <a:solidFill>
                  <a:schemeClr val="accent2"/>
                </a:solidFill>
                <a:ea typeface="楷体_GB2312" pitchFamily="49" charset="-122"/>
              </a:rPr>
              <a:t>看待</a:t>
            </a:r>
            <a:r>
              <a:rPr lang="en-US" altLang="zh-CN" sz="2200" b="1" dirty="0">
                <a:solidFill>
                  <a:schemeClr val="accent2"/>
                </a:solidFill>
                <a:ea typeface="楷体_GB2312" pitchFamily="49" charset="-122"/>
              </a:rPr>
              <a:t>Pauling</a:t>
            </a:r>
            <a:r>
              <a:rPr lang="zh-CN" altLang="en-US" sz="2200" b="1" dirty="0">
                <a:solidFill>
                  <a:schemeClr val="accent2"/>
                </a:solidFill>
                <a:ea typeface="楷体_GB2312" pitchFamily="49" charset="-122"/>
              </a:rPr>
              <a:t>近似能级图</a:t>
            </a:r>
            <a:r>
              <a:rPr lang="en-US" altLang="zh-CN" sz="2200" b="1" dirty="0">
                <a:solidFill>
                  <a:schemeClr val="accent2"/>
                </a:solidFill>
                <a:ea typeface="楷体_GB2312" pitchFamily="49" charset="-122"/>
              </a:rPr>
              <a:t>.</a:t>
            </a:r>
            <a:endParaRPr lang="en-US" altLang="zh-CN" sz="2200" b="1" dirty="0">
              <a:ea typeface="楷体_GB2312" pitchFamily="49" charset="-122"/>
            </a:endParaRPr>
          </a:p>
        </p:txBody>
      </p:sp>
      <p:sp>
        <p:nvSpPr>
          <p:cNvPr id="8210" name="Rectangle 43"/>
          <p:cNvSpPr>
            <a:spLocks noGrp="1" noChangeArrowheads="1"/>
          </p:cNvSpPr>
          <p:nvPr>
            <p:ph type="title"/>
          </p:nvPr>
        </p:nvSpPr>
        <p:spPr>
          <a:xfrm>
            <a:off x="576263" y="258763"/>
            <a:ext cx="10369550" cy="430212"/>
          </a:xfrm>
          <a:noFill/>
        </p:spPr>
        <p:txBody>
          <a:bodyPr/>
          <a:lstStyle/>
          <a:p>
            <a:r>
              <a:rPr lang="en-US" altLang="zh-CN" dirty="0" smtClean="0">
                <a:ea typeface="黑体" pitchFamily="49" charset="-122"/>
              </a:rPr>
              <a:t>7.3.1</a:t>
            </a:r>
            <a:r>
              <a:rPr lang="zh-CN" altLang="en-US" dirty="0" smtClean="0">
                <a:ea typeface="黑体" pitchFamily="49" charset="-122"/>
              </a:rPr>
              <a:t>多电子原子的核外电子排布</a:t>
            </a:r>
            <a:endParaRPr lang="zh-CN" altLang="en-US" b="0" dirty="0" smtClean="0">
              <a:ea typeface="黑体" pitchFamily="49" charset="-122"/>
            </a:endParaRPr>
          </a:p>
        </p:txBody>
      </p:sp>
      <p:sp>
        <p:nvSpPr>
          <p:cNvPr id="8211" name="Oval 27" descr="图片9">
            <a:hlinkClick r:id="" action="ppaction://hlinkshowjump?jump=nextslide"/>
          </p:cNvPr>
          <p:cNvSpPr>
            <a:spLocks noChangeAspect="1" noChangeArrowheads="1"/>
          </p:cNvSpPr>
          <p:nvPr/>
        </p:nvSpPr>
        <p:spPr bwMode="gray">
          <a:xfrm>
            <a:off x="11161713" y="5526088"/>
            <a:ext cx="360362" cy="360362"/>
          </a:xfrm>
          <a:prstGeom prst="ellipse">
            <a:avLst/>
          </a:prstGeom>
          <a:blipFill dpi="0" rotWithShape="1">
            <a:blip r:embed="rId6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>
              <a:ea typeface="黑体" pitchFamily="49" charset="-122"/>
              <a:cs typeface="楷体_GB2312" pitchFamily="49" charset="-122"/>
            </a:endParaRPr>
          </a:p>
        </p:txBody>
      </p:sp>
      <p:sp>
        <p:nvSpPr>
          <p:cNvPr id="8212" name="Oval 26" descr="图片8">
            <a:hlinkClick r:id="" action="ppaction://hlinkshowjump?jump=previousslide"/>
          </p:cNvPr>
          <p:cNvSpPr>
            <a:spLocks noChangeAspect="1" noChangeArrowheads="1"/>
          </p:cNvSpPr>
          <p:nvPr/>
        </p:nvSpPr>
        <p:spPr bwMode="gray">
          <a:xfrm>
            <a:off x="0" y="5526088"/>
            <a:ext cx="360363" cy="360362"/>
          </a:xfrm>
          <a:prstGeom prst="ellipse">
            <a:avLst/>
          </a:prstGeom>
          <a:blipFill dpi="0" rotWithShape="1">
            <a:blip r:embed="rId7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7" dur="500"/>
                                        <p:tgtEl>
                                          <p:spTgt spid="368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7" dur="500"/>
                                        <p:tgtEl>
                                          <p:spTgt spid="368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2" dur="500"/>
                                        <p:tgtEl>
                                          <p:spTgt spid="368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3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6" dur="500"/>
                                        <p:tgtEl>
                                          <p:spTgt spid="3688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000"/>
                            </p:stCondLst>
                            <p:childTnLst>
                              <p:par>
                                <p:cTn id="28" presetID="3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0" dur="500"/>
                                        <p:tgtEl>
                                          <p:spTgt spid="368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500"/>
                            </p:stCondLst>
                            <p:childTnLst>
                              <p:par>
                                <p:cTn id="32" presetID="3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4" dur="500"/>
                                        <p:tgtEl>
                                          <p:spTgt spid="368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2000"/>
                            </p:stCondLst>
                            <p:childTnLst>
                              <p:par>
                                <p:cTn id="36" presetID="3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8" dur="500"/>
                                        <p:tgtEl>
                                          <p:spTgt spid="368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2500"/>
                            </p:stCondLst>
                            <p:childTnLst>
                              <p:par>
                                <p:cTn id="40" presetID="3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42" dur="500"/>
                                        <p:tgtEl>
                                          <p:spTgt spid="3688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47" dur="500"/>
                                        <p:tgtEl>
                                          <p:spTgt spid="368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00"/>
                            </p:stCondLst>
                            <p:childTnLst>
                              <p:par>
                                <p:cTn id="49" presetID="3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51" dur="500"/>
                                        <p:tgtEl>
                                          <p:spTgt spid="3688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56" dur="500"/>
                                        <p:tgtEl>
                                          <p:spTgt spid="368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500"/>
                            </p:stCondLst>
                            <p:childTnLst>
                              <p:par>
                                <p:cTn id="58" presetID="3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60" dur="500"/>
                                        <p:tgtEl>
                                          <p:spTgt spid="368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1000"/>
                            </p:stCondLst>
                            <p:childTnLst>
                              <p:par>
                                <p:cTn id="62" presetID="3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64" dur="500"/>
                                        <p:tgtEl>
                                          <p:spTgt spid="368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1500"/>
                            </p:stCondLst>
                            <p:childTnLst>
                              <p:par>
                                <p:cTn id="66" presetID="3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68" dur="500"/>
                                        <p:tgtEl>
                                          <p:spTgt spid="3689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3" dur="500"/>
                                        <p:tgtEl>
                                          <p:spTgt spid="368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879" grpId="0" autoUpdateAnimBg="0"/>
      <p:bldP spid="36881" grpId="0" autoUpdateAnimBg="0"/>
      <p:bldP spid="36883" grpId="0" autoUpdateAnimBg="0"/>
      <p:bldP spid="36884" grpId="0" autoUpdateAnimBg="0"/>
      <p:bldP spid="36885" grpId="0" autoUpdateAnimBg="0"/>
      <p:bldP spid="36886" grpId="0" autoUpdateAnimBg="0"/>
      <p:bldP spid="36887" grpId="0" autoUpdateAnimBg="0"/>
      <p:bldP spid="36888" grpId="0" autoUpdateAnimBg="0"/>
      <p:bldP spid="36889" grpId="0" autoUpdateAnimBg="0"/>
      <p:bldP spid="36890" grpId="0" autoUpdateAnimBg="0"/>
      <p:bldP spid="36891" grpId="0" autoUpdateAnimBg="0"/>
      <p:bldP spid="36893" grpId="0" animBg="1"/>
      <p:bldP spid="36894" grpId="0" animBg="1"/>
      <p:bldP spid="36895" grpId="0" animBg="1"/>
      <p:bldP spid="36899" grpId="0" autoUpdateAnimBg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61" name="Text Box 9"/>
          <p:cNvSpPr txBox="1">
            <a:spLocks noChangeArrowheads="1"/>
          </p:cNvSpPr>
          <p:nvPr/>
        </p:nvSpPr>
        <p:spPr bwMode="auto">
          <a:xfrm>
            <a:off x="906463" y="882633"/>
            <a:ext cx="10231437" cy="477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sz="2500" b="1" dirty="0">
                <a:ea typeface="楷体_GB2312" pitchFamily="49" charset="-122"/>
              </a:rPr>
              <a:t>        </a:t>
            </a:r>
            <a:r>
              <a:rPr lang="zh-CN" altLang="en-US" sz="2500" b="1" u="sng" dirty="0">
                <a:ea typeface="楷体_GB2312" pitchFamily="49" charset="-122"/>
              </a:rPr>
              <a:t>一般基态原子外层轨道能级高低顺序</a:t>
            </a:r>
            <a:r>
              <a:rPr lang="en-US" altLang="zh-CN" sz="2500" b="1" dirty="0">
                <a:ea typeface="楷体_GB2312" pitchFamily="49" charset="-122"/>
              </a:rPr>
              <a:t>:</a:t>
            </a:r>
          </a:p>
        </p:txBody>
      </p:sp>
      <p:sp>
        <p:nvSpPr>
          <p:cNvPr id="49163" name="Rectangle 11"/>
          <p:cNvSpPr>
            <a:spLocks noChangeArrowheads="1"/>
          </p:cNvSpPr>
          <p:nvPr/>
        </p:nvSpPr>
        <p:spPr bwMode="auto">
          <a:xfrm>
            <a:off x="6904045" y="850886"/>
            <a:ext cx="4378325" cy="5318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>
              <a:lnSpc>
                <a:spcPct val="110000"/>
              </a:lnSpc>
            </a:pPr>
            <a:r>
              <a:rPr lang="en-US" altLang="zh-CN" sz="2800" b="1" i="1" dirty="0">
                <a:solidFill>
                  <a:srgbClr val="FF3300"/>
                </a:solidFill>
                <a:ea typeface="楷体_GB2312" pitchFamily="49" charset="-122"/>
                <a:sym typeface="Monotype Sorts" pitchFamily="2" charset="2"/>
              </a:rPr>
              <a:t>ns</a:t>
            </a:r>
            <a:r>
              <a:rPr lang="en-US" altLang="zh-CN" sz="2800" b="1" i="1" dirty="0">
                <a:ea typeface="楷体_GB2312" pitchFamily="49" charset="-122"/>
                <a:sym typeface="Monotype Sorts" pitchFamily="2" charset="2"/>
              </a:rPr>
              <a:t> </a:t>
            </a:r>
            <a:r>
              <a:rPr lang="en-US" altLang="zh-CN" sz="2800" b="1" dirty="0">
                <a:ea typeface="楷体_GB2312" pitchFamily="49" charset="-122"/>
                <a:sym typeface="Monotype Sorts" pitchFamily="2" charset="2"/>
              </a:rPr>
              <a:t>&lt; </a:t>
            </a:r>
            <a:r>
              <a:rPr lang="en-US" altLang="zh-CN" sz="2800" b="1" dirty="0">
                <a:solidFill>
                  <a:srgbClr val="FF3300"/>
                </a:solidFill>
                <a:ea typeface="楷体_GB2312" pitchFamily="49" charset="-122"/>
                <a:sym typeface="Monotype Sorts" pitchFamily="2" charset="2"/>
              </a:rPr>
              <a:t>(</a:t>
            </a:r>
            <a:r>
              <a:rPr lang="en-US" altLang="zh-CN" sz="2800" b="1" i="1" dirty="0">
                <a:solidFill>
                  <a:srgbClr val="FF3300"/>
                </a:solidFill>
                <a:ea typeface="楷体_GB2312" pitchFamily="49" charset="-122"/>
                <a:sym typeface="Monotype Sorts" pitchFamily="2" charset="2"/>
              </a:rPr>
              <a:t>n </a:t>
            </a:r>
            <a:r>
              <a:rPr lang="en-US" altLang="zh-CN" sz="2800" b="1" dirty="0">
                <a:solidFill>
                  <a:srgbClr val="FF3300"/>
                </a:solidFill>
                <a:ea typeface="楷体_GB2312" pitchFamily="49" charset="-122"/>
                <a:sym typeface="Monotype Sorts" pitchFamily="2" charset="2"/>
              </a:rPr>
              <a:t>- 2)</a:t>
            </a:r>
            <a:r>
              <a:rPr lang="en-US" altLang="zh-CN" sz="2800" b="1" i="1" dirty="0">
                <a:solidFill>
                  <a:srgbClr val="FF3300"/>
                </a:solidFill>
                <a:ea typeface="楷体_GB2312" pitchFamily="49" charset="-122"/>
                <a:sym typeface="Monotype Sorts" pitchFamily="2" charset="2"/>
              </a:rPr>
              <a:t>f</a:t>
            </a:r>
            <a:r>
              <a:rPr lang="en-US" altLang="zh-CN" sz="2800" b="1" i="1" dirty="0">
                <a:ea typeface="楷体_GB2312" pitchFamily="49" charset="-122"/>
                <a:sym typeface="Monotype Sorts" pitchFamily="2" charset="2"/>
              </a:rPr>
              <a:t>  </a:t>
            </a:r>
            <a:r>
              <a:rPr lang="en-US" altLang="zh-CN" sz="2800" b="1" dirty="0">
                <a:ea typeface="楷体_GB2312" pitchFamily="49" charset="-122"/>
                <a:sym typeface="Monotype Sorts" pitchFamily="2" charset="2"/>
              </a:rPr>
              <a:t>&lt; </a:t>
            </a:r>
            <a:r>
              <a:rPr lang="en-US" altLang="zh-CN" sz="2800" b="1" dirty="0">
                <a:solidFill>
                  <a:srgbClr val="FF3300"/>
                </a:solidFill>
                <a:ea typeface="楷体_GB2312" pitchFamily="49" charset="-122"/>
                <a:sym typeface="Monotype Sorts" pitchFamily="2" charset="2"/>
              </a:rPr>
              <a:t>(</a:t>
            </a:r>
            <a:r>
              <a:rPr lang="en-US" altLang="zh-CN" sz="2800" b="1" i="1" dirty="0">
                <a:solidFill>
                  <a:srgbClr val="FF3300"/>
                </a:solidFill>
                <a:ea typeface="楷体_GB2312" pitchFamily="49" charset="-122"/>
                <a:sym typeface="Monotype Sorts" pitchFamily="2" charset="2"/>
              </a:rPr>
              <a:t>n </a:t>
            </a:r>
            <a:r>
              <a:rPr lang="en-US" altLang="zh-CN" sz="2800" b="1" dirty="0">
                <a:solidFill>
                  <a:srgbClr val="FF3300"/>
                </a:solidFill>
                <a:ea typeface="楷体_GB2312" pitchFamily="49" charset="-122"/>
                <a:sym typeface="Monotype Sorts" pitchFamily="2" charset="2"/>
              </a:rPr>
              <a:t>- 1)</a:t>
            </a:r>
            <a:r>
              <a:rPr lang="en-US" altLang="zh-CN" sz="2800" b="1" i="1" dirty="0">
                <a:solidFill>
                  <a:srgbClr val="FF3300"/>
                </a:solidFill>
                <a:ea typeface="楷体_GB2312" pitchFamily="49" charset="-122"/>
                <a:sym typeface="Monotype Sorts" pitchFamily="2" charset="2"/>
              </a:rPr>
              <a:t>d</a:t>
            </a:r>
            <a:r>
              <a:rPr lang="en-US" altLang="zh-CN" sz="2800" b="1" i="1" dirty="0">
                <a:ea typeface="楷体_GB2312" pitchFamily="49" charset="-122"/>
                <a:sym typeface="Monotype Sorts" pitchFamily="2" charset="2"/>
              </a:rPr>
              <a:t>  </a:t>
            </a:r>
            <a:r>
              <a:rPr lang="en-US" altLang="zh-CN" sz="2800" b="1" dirty="0">
                <a:ea typeface="楷体_GB2312" pitchFamily="49" charset="-122"/>
                <a:sym typeface="Monotype Sorts" pitchFamily="2" charset="2"/>
              </a:rPr>
              <a:t>&lt; </a:t>
            </a:r>
            <a:r>
              <a:rPr lang="en-US" altLang="zh-CN" sz="2800" b="1" i="1" dirty="0" err="1">
                <a:solidFill>
                  <a:srgbClr val="FF3300"/>
                </a:solidFill>
                <a:ea typeface="楷体_GB2312" pitchFamily="49" charset="-122"/>
                <a:sym typeface="Monotype Sorts" pitchFamily="2" charset="2"/>
              </a:rPr>
              <a:t>np</a:t>
            </a:r>
            <a:endParaRPr lang="en-US" altLang="zh-CN" sz="2800" b="1" i="1" dirty="0">
              <a:ea typeface="楷体_GB2312" pitchFamily="49" charset="-122"/>
              <a:sym typeface="Monotype Sorts" pitchFamily="2" charset="2"/>
            </a:endParaRPr>
          </a:p>
        </p:txBody>
      </p:sp>
      <p:sp>
        <p:nvSpPr>
          <p:cNvPr id="9220" name="Rectangle 25"/>
          <p:cNvSpPr>
            <a:spLocks noGrp="1" noChangeArrowheads="1"/>
          </p:cNvSpPr>
          <p:nvPr>
            <p:ph type="title"/>
          </p:nvPr>
        </p:nvSpPr>
        <p:spPr>
          <a:xfrm>
            <a:off x="576263" y="258763"/>
            <a:ext cx="10369550" cy="430212"/>
          </a:xfrm>
          <a:noFill/>
        </p:spPr>
        <p:txBody>
          <a:bodyPr/>
          <a:lstStyle/>
          <a:p>
            <a:r>
              <a:rPr lang="en-US" altLang="zh-CN" smtClean="0">
                <a:ea typeface="黑体" pitchFamily="49" charset="-122"/>
              </a:rPr>
              <a:t>7.3.1</a:t>
            </a:r>
            <a:r>
              <a:rPr lang="zh-CN" altLang="en-US" smtClean="0">
                <a:ea typeface="黑体" pitchFamily="49" charset="-122"/>
              </a:rPr>
              <a:t>多电子原子的核外电子排布</a:t>
            </a:r>
            <a:endParaRPr lang="zh-CN" altLang="en-US" b="0" smtClean="0">
              <a:ea typeface="黑体" pitchFamily="49" charset="-122"/>
            </a:endParaRPr>
          </a:p>
        </p:txBody>
      </p:sp>
      <p:sp>
        <p:nvSpPr>
          <p:cNvPr id="6" name="Text Box 9"/>
          <p:cNvSpPr txBox="1">
            <a:spLocks noChangeArrowheads="1"/>
          </p:cNvSpPr>
          <p:nvPr/>
        </p:nvSpPr>
        <p:spPr bwMode="auto">
          <a:xfrm>
            <a:off x="760413" y="1454137"/>
            <a:ext cx="8545512" cy="477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sz="2500" b="1" dirty="0">
                <a:solidFill>
                  <a:srgbClr val="FF3300"/>
                </a:solidFill>
                <a:ea typeface="楷体_GB2312" pitchFamily="49" charset="-122"/>
              </a:rPr>
              <a:t>2.</a:t>
            </a:r>
            <a:r>
              <a:rPr lang="zh-CN" altLang="en-US" sz="2500" b="1" dirty="0">
                <a:solidFill>
                  <a:srgbClr val="FF3300"/>
                </a:solidFill>
                <a:ea typeface="楷体_GB2312" pitchFamily="49" charset="-122"/>
              </a:rPr>
              <a:t>核外电子排布</a:t>
            </a:r>
            <a:endParaRPr lang="en-US" altLang="zh-CN" sz="2500" b="1" dirty="0">
              <a:ea typeface="楷体_GB2312" pitchFamily="49" charset="-122"/>
            </a:endParaRPr>
          </a:p>
        </p:txBody>
      </p:sp>
      <p:sp>
        <p:nvSpPr>
          <p:cNvPr id="7" name="Text Box 9"/>
          <p:cNvSpPr txBox="1">
            <a:spLocks noChangeArrowheads="1"/>
          </p:cNvSpPr>
          <p:nvPr/>
        </p:nvSpPr>
        <p:spPr bwMode="auto">
          <a:xfrm>
            <a:off x="688975" y="1882765"/>
            <a:ext cx="8545513" cy="477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sz="2500" b="1" dirty="0">
                <a:solidFill>
                  <a:srgbClr val="FF3300"/>
                </a:solidFill>
                <a:ea typeface="楷体_GB2312" pitchFamily="49" charset="-122"/>
              </a:rPr>
              <a:t>(2.1)</a:t>
            </a:r>
            <a:r>
              <a:rPr lang="zh-CN" altLang="en-US" sz="2500" b="1" dirty="0">
                <a:solidFill>
                  <a:srgbClr val="FF3300"/>
                </a:solidFill>
                <a:ea typeface="楷体_GB2312" pitchFamily="49" charset="-122"/>
              </a:rPr>
              <a:t>核外电子排布的一般规则</a:t>
            </a:r>
            <a:endParaRPr lang="en-US" altLang="zh-CN" sz="2500" b="1" dirty="0">
              <a:ea typeface="楷体_GB2312" pitchFamily="49" charset="-122"/>
            </a:endParaRPr>
          </a:p>
        </p:txBody>
      </p:sp>
      <p:sp>
        <p:nvSpPr>
          <p:cNvPr id="9223" name="Oval 27" descr="图片9">
            <a:hlinkClick r:id="" action="ppaction://hlinkshowjump?jump=nextslide"/>
          </p:cNvPr>
          <p:cNvSpPr>
            <a:spLocks noChangeAspect="1" noChangeArrowheads="1"/>
          </p:cNvSpPr>
          <p:nvPr/>
        </p:nvSpPr>
        <p:spPr bwMode="gray">
          <a:xfrm>
            <a:off x="11161713" y="5526088"/>
            <a:ext cx="360362" cy="360362"/>
          </a:xfrm>
          <a:prstGeom prst="ellipse">
            <a:avLst/>
          </a:prstGeom>
          <a:blipFill dpi="0" rotWithShape="1">
            <a:blip r:embed="rId5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>
              <a:ea typeface="黑体" pitchFamily="49" charset="-122"/>
              <a:cs typeface="楷体_GB2312" pitchFamily="49" charset="-122"/>
            </a:endParaRPr>
          </a:p>
        </p:txBody>
      </p:sp>
      <p:sp>
        <p:nvSpPr>
          <p:cNvPr id="9224" name="Oval 26" descr="图片8">
            <a:hlinkClick r:id="" action="ppaction://hlinkshowjump?jump=previousslide"/>
          </p:cNvPr>
          <p:cNvSpPr>
            <a:spLocks noChangeAspect="1" noChangeArrowheads="1"/>
          </p:cNvSpPr>
          <p:nvPr/>
        </p:nvSpPr>
        <p:spPr bwMode="gray">
          <a:xfrm>
            <a:off x="0" y="5526088"/>
            <a:ext cx="360363" cy="360362"/>
          </a:xfrm>
          <a:prstGeom prst="ellipse">
            <a:avLst/>
          </a:prstGeom>
          <a:blipFill dpi="0" rotWithShape="1">
            <a:blip r:embed="rId6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" name="Text Box 11"/>
          <p:cNvSpPr txBox="1">
            <a:spLocks noChangeArrowheads="1"/>
          </p:cNvSpPr>
          <p:nvPr/>
        </p:nvSpPr>
        <p:spPr bwMode="auto">
          <a:xfrm>
            <a:off x="903288" y="2311393"/>
            <a:ext cx="10231437" cy="3170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rIns="0" anchor="ctr">
            <a:spAutoFit/>
          </a:bodyPr>
          <a:lstStyle/>
          <a:p>
            <a:r>
              <a:rPr lang="en-US" altLang="zh-CN" sz="2500" b="1" dirty="0">
                <a:ea typeface="楷体_GB2312" pitchFamily="49" charset="-122"/>
                <a:sym typeface="Monotype Sorts" pitchFamily="2" charset="2"/>
              </a:rPr>
              <a:t>①</a:t>
            </a:r>
            <a:r>
              <a:rPr lang="en-US" altLang="zh-CN" sz="2500" b="1" dirty="0">
                <a:solidFill>
                  <a:srgbClr val="FF3300"/>
                </a:solidFill>
                <a:ea typeface="楷体_GB2312" pitchFamily="49" charset="-122"/>
              </a:rPr>
              <a:t>Pauli</a:t>
            </a:r>
            <a:r>
              <a:rPr lang="zh-CN" altLang="en-US" sz="2500" b="1" dirty="0">
                <a:solidFill>
                  <a:srgbClr val="FF3300"/>
                </a:solidFill>
                <a:ea typeface="楷体_GB2312" pitchFamily="49" charset="-122"/>
              </a:rPr>
              <a:t>不相容原理</a:t>
            </a:r>
            <a:r>
              <a:rPr lang="en-US" altLang="zh-CN" sz="2500" b="1" dirty="0">
                <a:ea typeface="楷体_GB2312" pitchFamily="49" charset="-122"/>
              </a:rPr>
              <a:t>;</a:t>
            </a:r>
          </a:p>
          <a:p>
            <a:r>
              <a:rPr lang="zh-CN" altLang="en-US" sz="2500" b="1" dirty="0">
                <a:ea typeface="楷体_GB2312" pitchFamily="49" charset="-122"/>
              </a:rPr>
              <a:t>　　每个</a:t>
            </a:r>
            <a:r>
              <a:rPr lang="en-US" altLang="zh-CN" sz="2500" b="1" dirty="0">
                <a:ea typeface="楷体_GB2312" pitchFamily="49" charset="-122"/>
              </a:rPr>
              <a:t>AO</a:t>
            </a:r>
            <a:r>
              <a:rPr lang="zh-CN" altLang="en-US" sz="2500" b="1" dirty="0">
                <a:ea typeface="楷体_GB2312" pitchFamily="49" charset="-122"/>
              </a:rPr>
              <a:t>最多容纳</a:t>
            </a:r>
            <a:r>
              <a:rPr lang="en-US" altLang="zh-CN" sz="2500" b="1" dirty="0">
                <a:ea typeface="楷体_GB2312" pitchFamily="49" charset="-122"/>
              </a:rPr>
              <a:t>2</a:t>
            </a:r>
            <a:r>
              <a:rPr lang="zh-CN" altLang="en-US" sz="2500" b="1" dirty="0">
                <a:ea typeface="楷体_GB2312" pitchFamily="49" charset="-122"/>
              </a:rPr>
              <a:t>个自旋方向相反的电子</a:t>
            </a:r>
            <a:r>
              <a:rPr lang="en-US" altLang="zh-CN" sz="2500" b="1" dirty="0">
                <a:ea typeface="楷体_GB2312" pitchFamily="49" charset="-122"/>
              </a:rPr>
              <a:t>.</a:t>
            </a:r>
          </a:p>
          <a:p>
            <a:r>
              <a:rPr lang="en-US" altLang="zh-CN" sz="2500" b="1" dirty="0">
                <a:ea typeface="楷体_GB2312" pitchFamily="49" charset="-122"/>
                <a:sym typeface="Monotype Sorts" pitchFamily="2" charset="2"/>
              </a:rPr>
              <a:t>②</a:t>
            </a:r>
            <a:r>
              <a:rPr lang="zh-CN" altLang="en-US" sz="2500" b="1" dirty="0">
                <a:solidFill>
                  <a:srgbClr val="FF3300"/>
                </a:solidFill>
                <a:ea typeface="楷体_GB2312" pitchFamily="49" charset="-122"/>
              </a:rPr>
              <a:t>最低能量原理</a:t>
            </a:r>
            <a:r>
              <a:rPr lang="en-US" altLang="zh-CN" sz="2500" b="1" dirty="0">
                <a:ea typeface="楷体_GB2312" pitchFamily="49" charset="-122"/>
              </a:rPr>
              <a:t>;</a:t>
            </a:r>
          </a:p>
          <a:p>
            <a:r>
              <a:rPr lang="zh-CN" altLang="en-US" sz="2500" b="1" dirty="0">
                <a:ea typeface="楷体_GB2312" pitchFamily="49" charset="-122"/>
              </a:rPr>
              <a:t>　　电子在核外排列尽可能先排布在低能级</a:t>
            </a:r>
            <a:r>
              <a:rPr lang="en-US" altLang="zh-CN" sz="2500" b="1" dirty="0">
                <a:ea typeface="楷体_GB2312" pitchFamily="49" charset="-122"/>
              </a:rPr>
              <a:t>AO</a:t>
            </a:r>
            <a:r>
              <a:rPr lang="zh-CN" altLang="en-US" sz="2500" b="1" dirty="0">
                <a:ea typeface="楷体_GB2312" pitchFamily="49" charset="-122"/>
              </a:rPr>
              <a:t>上</a:t>
            </a:r>
            <a:r>
              <a:rPr lang="en-US" altLang="zh-CN" sz="2500" b="1" dirty="0">
                <a:ea typeface="楷体_GB2312" pitchFamily="49" charset="-122"/>
              </a:rPr>
              <a:t>.</a:t>
            </a:r>
          </a:p>
          <a:p>
            <a:r>
              <a:rPr lang="en-US" altLang="zh-CN" sz="2500" b="1" dirty="0">
                <a:ea typeface="楷体_GB2312" pitchFamily="49" charset="-122"/>
                <a:sym typeface="Monotype Sorts" pitchFamily="2" charset="2"/>
              </a:rPr>
              <a:t>③</a:t>
            </a:r>
            <a:r>
              <a:rPr lang="en-US" altLang="zh-CN" sz="2500" b="1" dirty="0" err="1">
                <a:solidFill>
                  <a:srgbClr val="FF3300"/>
                </a:solidFill>
                <a:ea typeface="楷体_GB2312" pitchFamily="49" charset="-122"/>
              </a:rPr>
              <a:t>Hund</a:t>
            </a:r>
            <a:r>
              <a:rPr lang="zh-CN" altLang="en-US" sz="2500" b="1" dirty="0">
                <a:solidFill>
                  <a:srgbClr val="FF3300"/>
                </a:solidFill>
                <a:ea typeface="楷体_GB2312" pitchFamily="49" charset="-122"/>
              </a:rPr>
              <a:t>规则</a:t>
            </a:r>
            <a:r>
              <a:rPr lang="en-US" altLang="zh-CN" sz="2500" b="1" dirty="0">
                <a:ea typeface="楷体_GB2312" pitchFamily="49" charset="-122"/>
              </a:rPr>
              <a:t>;</a:t>
            </a:r>
          </a:p>
          <a:p>
            <a:r>
              <a:rPr lang="zh-CN" altLang="en-US" sz="2500" b="1" dirty="0">
                <a:ea typeface="楷体_GB2312" pitchFamily="49" charset="-122"/>
              </a:rPr>
              <a:t>　　电子将尽可能单独分占不同的等价</a:t>
            </a:r>
            <a:r>
              <a:rPr lang="en-US" altLang="zh-CN" sz="2500" b="1" dirty="0">
                <a:ea typeface="楷体_GB2312" pitchFamily="49" charset="-122"/>
              </a:rPr>
              <a:t>AO,</a:t>
            </a:r>
            <a:r>
              <a:rPr lang="zh-CN" altLang="en-US" sz="2500" b="1" dirty="0">
                <a:ea typeface="楷体_GB2312" pitchFamily="49" charset="-122"/>
              </a:rPr>
              <a:t>且自旋方向平行</a:t>
            </a:r>
            <a:r>
              <a:rPr lang="en-US" altLang="zh-CN" sz="2500" b="1" dirty="0">
                <a:ea typeface="楷体_GB2312" pitchFamily="49" charset="-122"/>
              </a:rPr>
              <a:t>.</a:t>
            </a:r>
          </a:p>
          <a:p>
            <a:r>
              <a:rPr lang="en-US" altLang="zh-CN" sz="2500" b="1" dirty="0">
                <a:ea typeface="楷体_GB2312" pitchFamily="49" charset="-122"/>
                <a:sym typeface="Monotype Sorts" pitchFamily="2" charset="2"/>
              </a:rPr>
              <a:t>④</a:t>
            </a:r>
            <a:r>
              <a:rPr lang="en-US" altLang="zh-CN" sz="2500" b="1" dirty="0" err="1">
                <a:solidFill>
                  <a:srgbClr val="FF3300"/>
                </a:solidFill>
                <a:ea typeface="楷体_GB2312" pitchFamily="49" charset="-122"/>
              </a:rPr>
              <a:t>Hund</a:t>
            </a:r>
            <a:r>
              <a:rPr lang="zh-CN" altLang="en-US" sz="2500" b="1" dirty="0">
                <a:solidFill>
                  <a:srgbClr val="FF3300"/>
                </a:solidFill>
                <a:ea typeface="楷体_GB2312" pitchFamily="49" charset="-122"/>
              </a:rPr>
              <a:t>特例</a:t>
            </a:r>
            <a:r>
              <a:rPr lang="en-US" altLang="zh-CN" sz="2500" b="1" dirty="0">
                <a:ea typeface="楷体_GB2312" pitchFamily="49" charset="-122"/>
              </a:rPr>
              <a:t>:</a:t>
            </a:r>
          </a:p>
          <a:p>
            <a:r>
              <a:rPr lang="zh-CN" altLang="zh-CN" sz="2500" b="1" dirty="0">
                <a:ea typeface="楷体_GB2312" pitchFamily="49" charset="-122"/>
              </a:rPr>
              <a:t>　　</a:t>
            </a:r>
            <a:r>
              <a:rPr lang="en-US" altLang="zh-CN" sz="2500" b="1" dirty="0">
                <a:ea typeface="楷体_GB2312" pitchFamily="49" charset="-122"/>
              </a:rPr>
              <a:t>AO</a:t>
            </a:r>
            <a:r>
              <a:rPr lang="zh-CN" altLang="zh-CN" sz="2500" b="1" dirty="0">
                <a:ea typeface="楷体_GB2312" pitchFamily="49" charset="-122"/>
              </a:rPr>
              <a:t>处于全满、半满、全空时,原子较稳定.</a:t>
            </a:r>
            <a:endParaRPr lang="en-US" altLang="zh-CN" sz="2500" b="1" dirty="0">
              <a:ea typeface="楷体_GB2312" pitchFamily="49" charset="-122"/>
            </a:endParaRPr>
          </a:p>
        </p:txBody>
      </p:sp>
      <p:sp>
        <p:nvSpPr>
          <p:cNvPr id="10" name="AutoShape 14"/>
          <p:cNvSpPr>
            <a:spLocks/>
          </p:cNvSpPr>
          <p:nvPr/>
        </p:nvSpPr>
        <p:spPr bwMode="auto">
          <a:xfrm>
            <a:off x="617538" y="2525707"/>
            <a:ext cx="285715" cy="2263768"/>
          </a:xfrm>
          <a:prstGeom prst="leftBrace">
            <a:avLst>
              <a:gd name="adj1" fmla="val 187420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 sz="2500"/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49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5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1" dur="500"/>
                                        <p:tgtEl>
                                          <p:spTgt spid="4916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6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1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6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41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46" dur="5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51" dur="500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56" dur="500"/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61" dur="500"/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500"/>
                            </p:stCondLst>
                            <p:childTnLst>
                              <p:par>
                                <p:cTn id="6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recycl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161" grpId="0" autoUpdateAnimBg="0"/>
      <p:bldP spid="49163" grpId="0" autoUpdateAnimBg="0"/>
      <p:bldP spid="6" grpId="0" autoUpdateAnimBg="0"/>
      <p:bldP spid="7" grpId="0" autoUpdateAnimBg="0"/>
      <p:bldP spid="9" grpId="0" build="p" autoUpdateAnimBg="0"/>
      <p:bldP spid="10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16" name="Rectangle 44"/>
          <p:cNvSpPr>
            <a:spLocks noChangeArrowheads="1"/>
          </p:cNvSpPr>
          <p:nvPr/>
        </p:nvSpPr>
        <p:spPr bwMode="auto">
          <a:xfrm>
            <a:off x="2474913" y="3525838"/>
            <a:ext cx="8501062" cy="9382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10000"/>
              </a:lnSpc>
            </a:pPr>
            <a:r>
              <a:rPr lang="zh-CN" altLang="en-US" sz="2500" b="1">
                <a:ea typeface="楷体_GB2312" pitchFamily="49" charset="-122"/>
              </a:rPr>
              <a:t>某原子的原子核及电子排布同某稀有气体原子里的电子排布</a:t>
            </a:r>
            <a:endParaRPr lang="en-US" altLang="zh-CN" sz="2500" b="1">
              <a:ea typeface="楷体_GB2312" pitchFamily="49" charset="-122"/>
            </a:endParaRPr>
          </a:p>
          <a:p>
            <a:pPr>
              <a:lnSpc>
                <a:spcPct val="110000"/>
              </a:lnSpc>
            </a:pPr>
            <a:r>
              <a:rPr lang="zh-CN" altLang="en-US" sz="2500" b="1">
                <a:ea typeface="楷体_GB2312" pitchFamily="49" charset="-122"/>
              </a:rPr>
              <a:t>相同的那部分实体</a:t>
            </a:r>
            <a:r>
              <a:rPr lang="en-US" altLang="zh-CN" sz="2500" b="1">
                <a:ea typeface="楷体_GB2312" pitchFamily="49" charset="-122"/>
              </a:rPr>
              <a:t>.</a:t>
            </a:r>
            <a:endParaRPr lang="en-US" altLang="zh-CN" sz="2500" b="1" baseline="30000">
              <a:ea typeface="楷体_GB2312" pitchFamily="49" charset="-122"/>
            </a:endParaRPr>
          </a:p>
        </p:txBody>
      </p:sp>
      <p:sp>
        <p:nvSpPr>
          <p:cNvPr id="54281" name="Text Box 9"/>
          <p:cNvSpPr txBox="1">
            <a:spLocks noChangeArrowheads="1"/>
          </p:cNvSpPr>
          <p:nvPr/>
        </p:nvSpPr>
        <p:spPr bwMode="auto">
          <a:xfrm>
            <a:off x="688975" y="882650"/>
            <a:ext cx="8545513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sz="2500" b="1" dirty="0">
                <a:solidFill>
                  <a:srgbClr val="FF3300"/>
                </a:solidFill>
                <a:ea typeface="楷体_GB2312" pitchFamily="49" charset="-122"/>
              </a:rPr>
              <a:t>(2.2)</a:t>
            </a:r>
            <a:r>
              <a:rPr lang="zh-CN" altLang="en-US" sz="2500" b="1" u="sng" dirty="0">
                <a:solidFill>
                  <a:srgbClr val="FF3300"/>
                </a:solidFill>
                <a:ea typeface="楷体_GB2312" pitchFamily="49" charset="-122"/>
              </a:rPr>
              <a:t>基态原子中电子的排布</a:t>
            </a:r>
            <a:r>
              <a:rPr lang="en-US" altLang="zh-CN" sz="2500" b="1" dirty="0">
                <a:solidFill>
                  <a:srgbClr val="FF3300"/>
                </a:solidFill>
                <a:ea typeface="楷体_GB2312" pitchFamily="49" charset="-122"/>
              </a:rPr>
              <a:t>:</a:t>
            </a:r>
            <a:endParaRPr lang="en-US" altLang="zh-CN" sz="2500" b="1" dirty="0">
              <a:ea typeface="楷体_GB2312" pitchFamily="49" charset="-122"/>
            </a:endParaRPr>
          </a:p>
        </p:txBody>
      </p:sp>
      <p:sp>
        <p:nvSpPr>
          <p:cNvPr id="54282" name="Rectangle 10"/>
          <p:cNvSpPr>
            <a:spLocks noChangeArrowheads="1"/>
          </p:cNvSpPr>
          <p:nvPr/>
        </p:nvSpPr>
        <p:spPr bwMode="auto">
          <a:xfrm>
            <a:off x="831850" y="1382713"/>
            <a:ext cx="10136188" cy="9382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10000"/>
              </a:lnSpc>
            </a:pPr>
            <a:r>
              <a:rPr lang="zh-CN" altLang="en-US" sz="2500" b="1" dirty="0">
                <a:ea typeface="楷体_GB2312" pitchFamily="49" charset="-122"/>
              </a:rPr>
              <a:t>按</a:t>
            </a:r>
            <a:r>
              <a:rPr lang="zh-CN" altLang="en-US" sz="2500" b="1" dirty="0">
                <a:solidFill>
                  <a:srgbClr val="FF3300"/>
                </a:solidFill>
                <a:ea typeface="楷体_GB2312" pitchFamily="49" charset="-122"/>
              </a:rPr>
              <a:t>能级高低</a:t>
            </a:r>
            <a:r>
              <a:rPr lang="zh-CN" altLang="en-US" sz="2500" b="1" dirty="0">
                <a:ea typeface="楷体_GB2312" pitchFamily="49" charset="-122"/>
              </a:rPr>
              <a:t>顺序</a:t>
            </a:r>
            <a:r>
              <a:rPr lang="en-US" altLang="zh-CN" sz="2500" b="1" i="1" dirty="0">
                <a:solidFill>
                  <a:srgbClr val="FF3300"/>
                </a:solidFill>
                <a:ea typeface="楷体_GB2312" pitchFamily="49" charset="-122"/>
                <a:sym typeface="Monotype Sorts" pitchFamily="2" charset="2"/>
              </a:rPr>
              <a:t>ns </a:t>
            </a:r>
            <a:r>
              <a:rPr lang="en-US" altLang="zh-CN" sz="2500" b="1" dirty="0">
                <a:solidFill>
                  <a:srgbClr val="FF3300"/>
                </a:solidFill>
                <a:ea typeface="楷体_GB2312" pitchFamily="49" charset="-122"/>
                <a:sym typeface="Monotype Sorts" pitchFamily="2" charset="2"/>
              </a:rPr>
              <a:t>&lt; (</a:t>
            </a:r>
            <a:r>
              <a:rPr lang="en-US" altLang="zh-CN" sz="2500" b="1" i="1" dirty="0">
                <a:solidFill>
                  <a:srgbClr val="FF3300"/>
                </a:solidFill>
                <a:ea typeface="楷体_GB2312" pitchFamily="49" charset="-122"/>
                <a:sym typeface="Monotype Sorts" pitchFamily="2" charset="2"/>
              </a:rPr>
              <a:t>n </a:t>
            </a:r>
            <a:r>
              <a:rPr lang="en-US" altLang="zh-CN" sz="2500" b="1" dirty="0">
                <a:solidFill>
                  <a:srgbClr val="FF3300"/>
                </a:solidFill>
                <a:ea typeface="楷体_GB2312" pitchFamily="49" charset="-122"/>
                <a:sym typeface="Monotype Sorts" pitchFamily="2" charset="2"/>
              </a:rPr>
              <a:t>- 2)</a:t>
            </a:r>
            <a:r>
              <a:rPr lang="en-US" altLang="zh-CN" sz="2500" b="1" i="1" dirty="0">
                <a:solidFill>
                  <a:srgbClr val="FF3300"/>
                </a:solidFill>
                <a:ea typeface="楷体_GB2312" pitchFamily="49" charset="-122"/>
                <a:sym typeface="Monotype Sorts" pitchFamily="2" charset="2"/>
              </a:rPr>
              <a:t>f </a:t>
            </a:r>
            <a:r>
              <a:rPr lang="en-US" altLang="zh-CN" sz="2500" b="1" dirty="0">
                <a:solidFill>
                  <a:srgbClr val="FF3300"/>
                </a:solidFill>
                <a:ea typeface="楷体_GB2312" pitchFamily="49" charset="-122"/>
                <a:sym typeface="Monotype Sorts" pitchFamily="2" charset="2"/>
              </a:rPr>
              <a:t>&lt; (</a:t>
            </a:r>
            <a:r>
              <a:rPr lang="en-US" altLang="zh-CN" sz="2500" b="1" i="1" dirty="0">
                <a:solidFill>
                  <a:srgbClr val="FF3300"/>
                </a:solidFill>
                <a:ea typeface="楷体_GB2312" pitchFamily="49" charset="-122"/>
                <a:sym typeface="Monotype Sorts" pitchFamily="2" charset="2"/>
              </a:rPr>
              <a:t>n </a:t>
            </a:r>
            <a:r>
              <a:rPr lang="en-US" altLang="zh-CN" sz="2500" b="1" dirty="0">
                <a:solidFill>
                  <a:srgbClr val="FF3300"/>
                </a:solidFill>
                <a:ea typeface="楷体_GB2312" pitchFamily="49" charset="-122"/>
                <a:sym typeface="Monotype Sorts" pitchFamily="2" charset="2"/>
              </a:rPr>
              <a:t>- 1)</a:t>
            </a:r>
            <a:r>
              <a:rPr lang="en-US" altLang="zh-CN" sz="2500" b="1" i="1" dirty="0">
                <a:solidFill>
                  <a:srgbClr val="FF3300"/>
                </a:solidFill>
                <a:ea typeface="楷体_GB2312" pitchFamily="49" charset="-122"/>
                <a:sym typeface="Monotype Sorts" pitchFamily="2" charset="2"/>
              </a:rPr>
              <a:t>d </a:t>
            </a:r>
            <a:r>
              <a:rPr lang="en-US" altLang="zh-CN" sz="2500" b="1" dirty="0">
                <a:solidFill>
                  <a:srgbClr val="FF3300"/>
                </a:solidFill>
                <a:ea typeface="楷体_GB2312" pitchFamily="49" charset="-122"/>
                <a:sym typeface="Monotype Sorts" pitchFamily="2" charset="2"/>
              </a:rPr>
              <a:t>&lt; </a:t>
            </a:r>
            <a:r>
              <a:rPr lang="en-US" altLang="zh-CN" sz="2500" b="1" i="1" dirty="0" err="1">
                <a:solidFill>
                  <a:srgbClr val="FF3300"/>
                </a:solidFill>
                <a:ea typeface="楷体_GB2312" pitchFamily="49" charset="-122"/>
                <a:sym typeface="Monotype Sorts" pitchFamily="2" charset="2"/>
              </a:rPr>
              <a:t>np</a:t>
            </a:r>
            <a:r>
              <a:rPr lang="zh-CN" altLang="en-US" sz="2500" b="1" dirty="0">
                <a:ea typeface="楷体_GB2312" pitchFamily="49" charset="-122"/>
                <a:hlinkClick r:id="rId4" action="ppaction://hlinkfile"/>
              </a:rPr>
              <a:t>排</a:t>
            </a:r>
            <a:r>
              <a:rPr lang="en-US" altLang="zh-CN" sz="2500" b="1" dirty="0">
                <a:ea typeface="楷体_GB2312" pitchFamily="49" charset="-122"/>
              </a:rPr>
              <a:t>.</a:t>
            </a:r>
          </a:p>
          <a:p>
            <a:pPr>
              <a:lnSpc>
                <a:spcPct val="110000"/>
              </a:lnSpc>
            </a:pPr>
            <a:r>
              <a:rPr lang="zh-CN" altLang="en-US" sz="2500" b="1" dirty="0">
                <a:ea typeface="楷体_GB2312" pitchFamily="49" charset="-122"/>
              </a:rPr>
              <a:t>如</a:t>
            </a:r>
            <a:r>
              <a:rPr lang="en-US" altLang="zh-CN" sz="2500" b="1" dirty="0">
                <a:ea typeface="楷体_GB2312" pitchFamily="49" charset="-122"/>
              </a:rPr>
              <a:t>:</a:t>
            </a:r>
            <a:r>
              <a:rPr lang="zh-CN" altLang="zh-CN" sz="2500" b="1" dirty="0">
                <a:ea typeface="楷体_GB2312" pitchFamily="49" charset="-122"/>
              </a:rPr>
              <a:t>26号</a:t>
            </a:r>
            <a:r>
              <a:rPr lang="en-US" altLang="zh-CN" sz="2500" b="1" dirty="0">
                <a:ea typeface="楷体_GB2312" pitchFamily="49" charset="-122"/>
              </a:rPr>
              <a:t>Fe:</a:t>
            </a:r>
          </a:p>
        </p:txBody>
      </p:sp>
      <p:sp>
        <p:nvSpPr>
          <p:cNvPr id="54283" name="Rectangle 11"/>
          <p:cNvSpPr>
            <a:spLocks noChangeArrowheads="1"/>
          </p:cNvSpPr>
          <p:nvPr/>
        </p:nvSpPr>
        <p:spPr bwMode="auto">
          <a:xfrm>
            <a:off x="3536950" y="2276475"/>
            <a:ext cx="469900" cy="477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500" b="1">
                <a:ea typeface="楷体_GB2312" pitchFamily="49" charset="-122"/>
              </a:rPr>
              <a:t>1</a:t>
            </a:r>
            <a:r>
              <a:rPr lang="en-US" altLang="zh-CN" sz="2500" b="1" i="1">
                <a:ea typeface="楷体_GB2312" pitchFamily="49" charset="-122"/>
              </a:rPr>
              <a:t>s</a:t>
            </a:r>
            <a:endParaRPr lang="en-US" altLang="zh-CN" sz="2500" b="1" baseline="30000">
              <a:ea typeface="楷体_GB2312" pitchFamily="49" charset="-122"/>
            </a:endParaRPr>
          </a:p>
        </p:txBody>
      </p:sp>
      <p:sp>
        <p:nvSpPr>
          <p:cNvPr id="54284" name="Rectangle 12"/>
          <p:cNvSpPr>
            <a:spLocks noChangeArrowheads="1"/>
          </p:cNvSpPr>
          <p:nvPr/>
        </p:nvSpPr>
        <p:spPr bwMode="auto">
          <a:xfrm>
            <a:off x="7392988" y="2279650"/>
            <a:ext cx="292100" cy="349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500" b="1" baseline="30000">
                <a:ea typeface="楷体_GB2312" pitchFamily="49" charset="-122"/>
              </a:rPr>
              <a:t>2</a:t>
            </a:r>
          </a:p>
        </p:txBody>
      </p:sp>
      <p:sp>
        <p:nvSpPr>
          <p:cNvPr id="54285" name="Rectangle 13"/>
          <p:cNvSpPr>
            <a:spLocks noChangeArrowheads="1"/>
          </p:cNvSpPr>
          <p:nvPr/>
        </p:nvSpPr>
        <p:spPr bwMode="auto">
          <a:xfrm>
            <a:off x="3989388" y="2279650"/>
            <a:ext cx="292100" cy="349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500" b="1" baseline="30000">
                <a:ea typeface="楷体_GB2312" pitchFamily="49" charset="-122"/>
              </a:rPr>
              <a:t>2</a:t>
            </a:r>
          </a:p>
        </p:txBody>
      </p:sp>
      <p:sp>
        <p:nvSpPr>
          <p:cNvPr id="54286" name="Rectangle 14"/>
          <p:cNvSpPr>
            <a:spLocks noChangeArrowheads="1"/>
          </p:cNvSpPr>
          <p:nvPr/>
        </p:nvSpPr>
        <p:spPr bwMode="auto">
          <a:xfrm>
            <a:off x="4216400" y="2282825"/>
            <a:ext cx="469900" cy="477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500" b="1">
                <a:ea typeface="楷体_GB2312" pitchFamily="49" charset="-122"/>
              </a:rPr>
              <a:t>2</a:t>
            </a:r>
            <a:r>
              <a:rPr lang="en-US" altLang="zh-CN" sz="2500" b="1" i="1">
                <a:ea typeface="楷体_GB2312" pitchFamily="49" charset="-122"/>
              </a:rPr>
              <a:t>s</a:t>
            </a:r>
            <a:endParaRPr lang="en-US" altLang="zh-CN" sz="2500" b="1">
              <a:ea typeface="楷体_GB2312" pitchFamily="49" charset="-122"/>
            </a:endParaRPr>
          </a:p>
        </p:txBody>
      </p:sp>
      <p:sp>
        <p:nvSpPr>
          <p:cNvPr id="54287" name="Rectangle 15"/>
          <p:cNvSpPr>
            <a:spLocks noChangeArrowheads="1"/>
          </p:cNvSpPr>
          <p:nvPr/>
        </p:nvSpPr>
        <p:spPr bwMode="auto">
          <a:xfrm>
            <a:off x="4714875" y="2279650"/>
            <a:ext cx="292100" cy="349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500" b="1" baseline="30000">
                <a:ea typeface="楷体_GB2312" pitchFamily="49" charset="-122"/>
              </a:rPr>
              <a:t>2</a:t>
            </a:r>
          </a:p>
        </p:txBody>
      </p:sp>
      <p:sp>
        <p:nvSpPr>
          <p:cNvPr id="54288" name="Rectangle 16"/>
          <p:cNvSpPr>
            <a:spLocks noChangeArrowheads="1"/>
          </p:cNvSpPr>
          <p:nvPr/>
        </p:nvSpPr>
        <p:spPr bwMode="auto">
          <a:xfrm>
            <a:off x="4897438" y="2282825"/>
            <a:ext cx="504825" cy="477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500" b="1">
                <a:ea typeface="楷体_GB2312" pitchFamily="49" charset="-122"/>
              </a:rPr>
              <a:t>2</a:t>
            </a:r>
            <a:r>
              <a:rPr lang="en-US" altLang="zh-CN" sz="2500" b="1" i="1">
                <a:ea typeface="楷体_GB2312" pitchFamily="49" charset="-122"/>
              </a:rPr>
              <a:t>p</a:t>
            </a:r>
            <a:endParaRPr lang="en-US" altLang="zh-CN" sz="2500" b="1">
              <a:ea typeface="楷体_GB2312" pitchFamily="49" charset="-122"/>
            </a:endParaRPr>
          </a:p>
        </p:txBody>
      </p:sp>
      <p:sp>
        <p:nvSpPr>
          <p:cNvPr id="54289" name="Rectangle 17"/>
          <p:cNvSpPr>
            <a:spLocks noChangeArrowheads="1"/>
          </p:cNvSpPr>
          <p:nvPr/>
        </p:nvSpPr>
        <p:spPr bwMode="auto">
          <a:xfrm>
            <a:off x="5394325" y="2279650"/>
            <a:ext cx="292100" cy="349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500" b="1" baseline="30000">
                <a:ea typeface="楷体_GB2312" pitchFamily="49" charset="-122"/>
              </a:rPr>
              <a:t>6</a:t>
            </a:r>
          </a:p>
        </p:txBody>
      </p:sp>
      <p:sp>
        <p:nvSpPr>
          <p:cNvPr id="54290" name="Rectangle 18"/>
          <p:cNvSpPr>
            <a:spLocks noChangeArrowheads="1"/>
          </p:cNvSpPr>
          <p:nvPr/>
        </p:nvSpPr>
        <p:spPr bwMode="auto">
          <a:xfrm>
            <a:off x="5576888" y="2282825"/>
            <a:ext cx="469900" cy="477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500" b="1">
                <a:ea typeface="楷体_GB2312" pitchFamily="49" charset="-122"/>
              </a:rPr>
              <a:t>3</a:t>
            </a:r>
            <a:r>
              <a:rPr lang="en-US" altLang="zh-CN" sz="2500" b="1" i="1">
                <a:ea typeface="楷体_GB2312" pitchFamily="49" charset="-122"/>
              </a:rPr>
              <a:t>s</a:t>
            </a:r>
            <a:endParaRPr lang="en-US" altLang="zh-CN" sz="2500" b="1">
              <a:ea typeface="楷体_GB2312" pitchFamily="49" charset="-122"/>
            </a:endParaRPr>
          </a:p>
        </p:txBody>
      </p:sp>
      <p:sp>
        <p:nvSpPr>
          <p:cNvPr id="54291" name="Rectangle 19"/>
          <p:cNvSpPr>
            <a:spLocks noChangeArrowheads="1"/>
          </p:cNvSpPr>
          <p:nvPr/>
        </p:nvSpPr>
        <p:spPr bwMode="auto">
          <a:xfrm>
            <a:off x="6030913" y="2279650"/>
            <a:ext cx="292100" cy="349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500" b="1" baseline="30000">
                <a:ea typeface="楷体_GB2312" pitchFamily="49" charset="-122"/>
              </a:rPr>
              <a:t>2</a:t>
            </a:r>
          </a:p>
        </p:txBody>
      </p:sp>
      <p:sp>
        <p:nvSpPr>
          <p:cNvPr id="54292" name="Rectangle 20"/>
          <p:cNvSpPr>
            <a:spLocks noChangeArrowheads="1"/>
          </p:cNvSpPr>
          <p:nvPr/>
        </p:nvSpPr>
        <p:spPr bwMode="auto">
          <a:xfrm>
            <a:off x="6211888" y="2276475"/>
            <a:ext cx="704850" cy="477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sz="2500" b="1">
                <a:ea typeface="楷体_GB2312" pitchFamily="49" charset="-122"/>
              </a:rPr>
              <a:t>3</a:t>
            </a:r>
            <a:r>
              <a:rPr lang="en-US" altLang="zh-CN" sz="2500" b="1" i="1">
                <a:ea typeface="楷体_GB2312" pitchFamily="49" charset="-122"/>
              </a:rPr>
              <a:t>p</a:t>
            </a:r>
            <a:endParaRPr lang="en-US" altLang="zh-CN" sz="2500" b="1">
              <a:ea typeface="楷体_GB2312" pitchFamily="49" charset="-122"/>
            </a:endParaRPr>
          </a:p>
        </p:txBody>
      </p:sp>
      <p:sp>
        <p:nvSpPr>
          <p:cNvPr id="54293" name="Rectangle 21"/>
          <p:cNvSpPr>
            <a:spLocks noChangeArrowheads="1"/>
          </p:cNvSpPr>
          <p:nvPr/>
        </p:nvSpPr>
        <p:spPr bwMode="auto">
          <a:xfrm>
            <a:off x="6754813" y="2279650"/>
            <a:ext cx="292100" cy="349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500" b="1" baseline="30000">
                <a:ea typeface="楷体_GB2312" pitchFamily="49" charset="-122"/>
              </a:rPr>
              <a:t>6</a:t>
            </a:r>
          </a:p>
        </p:txBody>
      </p:sp>
      <p:sp>
        <p:nvSpPr>
          <p:cNvPr id="54294" name="Rectangle 22"/>
          <p:cNvSpPr>
            <a:spLocks noChangeArrowheads="1"/>
          </p:cNvSpPr>
          <p:nvPr/>
        </p:nvSpPr>
        <p:spPr bwMode="auto">
          <a:xfrm>
            <a:off x="7616825" y="2282825"/>
            <a:ext cx="504825" cy="477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500" b="1">
                <a:ea typeface="楷体_GB2312" pitchFamily="49" charset="-122"/>
              </a:rPr>
              <a:t>3</a:t>
            </a:r>
            <a:r>
              <a:rPr lang="en-US" altLang="zh-CN" sz="2500" b="1" i="1">
                <a:ea typeface="楷体_GB2312" pitchFamily="49" charset="-122"/>
              </a:rPr>
              <a:t>d</a:t>
            </a:r>
            <a:endParaRPr lang="en-US" altLang="zh-CN" sz="2500" b="1">
              <a:ea typeface="楷体_GB2312" pitchFamily="49" charset="-122"/>
            </a:endParaRPr>
          </a:p>
        </p:txBody>
      </p:sp>
      <p:sp>
        <p:nvSpPr>
          <p:cNvPr id="54295" name="Rectangle 23"/>
          <p:cNvSpPr>
            <a:spLocks noChangeArrowheads="1"/>
          </p:cNvSpPr>
          <p:nvPr/>
        </p:nvSpPr>
        <p:spPr bwMode="auto">
          <a:xfrm>
            <a:off x="8161338" y="2279650"/>
            <a:ext cx="292100" cy="349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500" b="1" baseline="30000">
                <a:ea typeface="楷体_GB2312" pitchFamily="49" charset="-122"/>
              </a:rPr>
              <a:t>6</a:t>
            </a:r>
          </a:p>
        </p:txBody>
      </p:sp>
      <p:sp>
        <p:nvSpPr>
          <p:cNvPr id="54296" name="Rectangle 24"/>
          <p:cNvSpPr>
            <a:spLocks noChangeArrowheads="1"/>
          </p:cNvSpPr>
          <p:nvPr/>
        </p:nvSpPr>
        <p:spPr bwMode="auto">
          <a:xfrm>
            <a:off x="6937375" y="2276475"/>
            <a:ext cx="630238" cy="477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sz="2500" b="1">
                <a:ea typeface="楷体_GB2312" pitchFamily="49" charset="-122"/>
              </a:rPr>
              <a:t>4</a:t>
            </a:r>
            <a:r>
              <a:rPr lang="en-US" altLang="zh-CN" sz="2500" b="1" i="1">
                <a:ea typeface="楷体_GB2312" pitchFamily="49" charset="-122"/>
              </a:rPr>
              <a:t>s</a:t>
            </a:r>
            <a:endParaRPr lang="en-US" altLang="zh-CN" sz="2500" b="1">
              <a:ea typeface="楷体_GB2312" pitchFamily="49" charset="-122"/>
            </a:endParaRPr>
          </a:p>
        </p:txBody>
      </p:sp>
      <p:sp>
        <p:nvSpPr>
          <p:cNvPr id="54297" name="Rectangle 25"/>
          <p:cNvSpPr>
            <a:spLocks noChangeArrowheads="1"/>
          </p:cNvSpPr>
          <p:nvPr/>
        </p:nvSpPr>
        <p:spPr bwMode="auto">
          <a:xfrm>
            <a:off x="906463" y="2719388"/>
            <a:ext cx="9793287" cy="4810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10000"/>
              </a:lnSpc>
            </a:pPr>
            <a:r>
              <a:rPr lang="en-US" altLang="zh-CN" sz="2500" b="1">
                <a:ea typeface="楷体_GB2312" pitchFamily="49" charset="-122"/>
              </a:rPr>
              <a:t>                       </a:t>
            </a:r>
            <a:r>
              <a:rPr lang="zh-CN" altLang="en-US" sz="2500" b="1">
                <a:ea typeface="楷体_GB2312" pitchFamily="49" charset="-122"/>
              </a:rPr>
              <a:t>或</a:t>
            </a:r>
            <a:r>
              <a:rPr lang="en-US" altLang="zh-CN" sz="2500" b="1">
                <a:ea typeface="楷体_GB2312" pitchFamily="49" charset="-122"/>
              </a:rPr>
              <a:t>[Ar]3</a:t>
            </a:r>
            <a:r>
              <a:rPr lang="en-US" altLang="zh-CN" sz="2500" b="1" i="1">
                <a:ea typeface="楷体_GB2312" pitchFamily="49" charset="-122"/>
              </a:rPr>
              <a:t>d</a:t>
            </a:r>
            <a:r>
              <a:rPr lang="en-US" altLang="zh-CN" sz="2500" b="1" baseline="30000">
                <a:ea typeface="楷体_GB2312" pitchFamily="49" charset="-122"/>
              </a:rPr>
              <a:t>6 </a:t>
            </a:r>
            <a:r>
              <a:rPr lang="en-US" altLang="zh-CN" sz="2500" b="1">
                <a:ea typeface="楷体_GB2312" pitchFamily="49" charset="-122"/>
              </a:rPr>
              <a:t>4</a:t>
            </a:r>
            <a:r>
              <a:rPr lang="en-US" altLang="zh-CN" sz="2500" b="1" i="1">
                <a:ea typeface="楷体_GB2312" pitchFamily="49" charset="-122"/>
              </a:rPr>
              <a:t>s</a:t>
            </a:r>
            <a:r>
              <a:rPr lang="en-US" altLang="zh-CN" sz="2500" b="1" baseline="30000">
                <a:ea typeface="楷体_GB2312" pitchFamily="49" charset="-122"/>
              </a:rPr>
              <a:t>2</a:t>
            </a:r>
            <a:r>
              <a:rPr lang="en-US" altLang="zh-CN" sz="2500" b="1">
                <a:ea typeface="楷体_GB2312" pitchFamily="49" charset="-122"/>
              </a:rPr>
              <a:t>.</a:t>
            </a:r>
          </a:p>
        </p:txBody>
      </p:sp>
      <p:sp>
        <p:nvSpPr>
          <p:cNvPr id="54317" name="Rectangle 45"/>
          <p:cNvSpPr>
            <a:spLocks noChangeArrowheads="1"/>
          </p:cNvSpPr>
          <p:nvPr/>
        </p:nvSpPr>
        <p:spPr bwMode="auto">
          <a:xfrm>
            <a:off x="831850" y="4454525"/>
            <a:ext cx="5884863" cy="477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500" b="1" baseline="-25000" dirty="0">
                <a:ea typeface="楷体_GB2312" pitchFamily="49" charset="-122"/>
              </a:rPr>
              <a:t>        18</a:t>
            </a:r>
            <a:r>
              <a:rPr lang="en-US" altLang="zh-CN" sz="2500" b="1" dirty="0">
                <a:ea typeface="楷体_GB2312" pitchFamily="49" charset="-122"/>
              </a:rPr>
              <a:t>Ar</a:t>
            </a:r>
            <a:r>
              <a:rPr lang="zh-CN" altLang="en-US" sz="2500" b="1" dirty="0">
                <a:ea typeface="楷体_GB2312" pitchFamily="49" charset="-122"/>
              </a:rPr>
              <a:t>的电子排布式为</a:t>
            </a:r>
            <a:r>
              <a:rPr lang="en-US" altLang="zh-CN" sz="2500" b="1" dirty="0">
                <a:ea typeface="楷体_GB2312" pitchFamily="49" charset="-122"/>
              </a:rPr>
              <a:t>:1</a:t>
            </a:r>
            <a:r>
              <a:rPr lang="en-US" altLang="zh-CN" sz="2500" b="1" i="1" dirty="0">
                <a:ea typeface="楷体_GB2312" pitchFamily="49" charset="-122"/>
              </a:rPr>
              <a:t>s</a:t>
            </a:r>
            <a:r>
              <a:rPr lang="en-US" altLang="zh-CN" sz="2500" b="1" baseline="30000" dirty="0">
                <a:ea typeface="楷体_GB2312" pitchFamily="49" charset="-122"/>
              </a:rPr>
              <a:t>2 </a:t>
            </a:r>
            <a:r>
              <a:rPr lang="en-US" altLang="zh-CN" sz="2500" b="1" dirty="0">
                <a:ea typeface="楷体_GB2312" pitchFamily="49" charset="-122"/>
              </a:rPr>
              <a:t>2</a:t>
            </a:r>
            <a:r>
              <a:rPr lang="en-US" altLang="zh-CN" sz="2500" b="1" i="1" dirty="0">
                <a:ea typeface="楷体_GB2312" pitchFamily="49" charset="-122"/>
              </a:rPr>
              <a:t>s</a:t>
            </a:r>
            <a:r>
              <a:rPr lang="en-US" altLang="zh-CN" sz="2500" b="1" baseline="30000" dirty="0">
                <a:ea typeface="楷体_GB2312" pitchFamily="49" charset="-122"/>
              </a:rPr>
              <a:t>2 </a:t>
            </a:r>
            <a:r>
              <a:rPr lang="en-US" altLang="zh-CN" sz="2500" b="1" dirty="0">
                <a:ea typeface="楷体_GB2312" pitchFamily="49" charset="-122"/>
              </a:rPr>
              <a:t>2</a:t>
            </a:r>
            <a:r>
              <a:rPr lang="en-US" altLang="zh-CN" sz="2500" b="1" i="1" dirty="0">
                <a:ea typeface="楷体_GB2312" pitchFamily="49" charset="-122"/>
              </a:rPr>
              <a:t>p</a:t>
            </a:r>
            <a:r>
              <a:rPr lang="en-US" altLang="zh-CN" sz="2500" b="1" baseline="30000" dirty="0">
                <a:ea typeface="楷体_GB2312" pitchFamily="49" charset="-122"/>
              </a:rPr>
              <a:t>6 </a:t>
            </a:r>
            <a:r>
              <a:rPr lang="en-US" altLang="zh-CN" sz="2500" b="1" dirty="0">
                <a:ea typeface="楷体_GB2312" pitchFamily="49" charset="-122"/>
              </a:rPr>
              <a:t>3</a:t>
            </a:r>
            <a:r>
              <a:rPr lang="en-US" altLang="zh-CN" sz="2500" b="1" i="1" dirty="0">
                <a:ea typeface="楷体_GB2312" pitchFamily="49" charset="-122"/>
              </a:rPr>
              <a:t>s</a:t>
            </a:r>
            <a:r>
              <a:rPr lang="en-US" altLang="zh-CN" sz="2500" b="1" baseline="30000" dirty="0">
                <a:ea typeface="楷体_GB2312" pitchFamily="49" charset="-122"/>
              </a:rPr>
              <a:t>2 </a:t>
            </a:r>
            <a:r>
              <a:rPr lang="en-US" altLang="zh-CN" sz="2500" b="1" dirty="0">
                <a:ea typeface="楷体_GB2312" pitchFamily="49" charset="-122"/>
              </a:rPr>
              <a:t>3</a:t>
            </a:r>
            <a:r>
              <a:rPr lang="en-US" altLang="zh-CN" sz="2500" b="1" i="1" dirty="0">
                <a:ea typeface="楷体_GB2312" pitchFamily="49" charset="-122"/>
              </a:rPr>
              <a:t>p</a:t>
            </a:r>
            <a:r>
              <a:rPr lang="en-US" altLang="zh-CN" sz="2500" b="1" baseline="30000" dirty="0">
                <a:ea typeface="楷体_GB2312" pitchFamily="49" charset="-122"/>
              </a:rPr>
              <a:t>6</a:t>
            </a:r>
            <a:r>
              <a:rPr lang="en-US" altLang="zh-CN" sz="2500" b="1" dirty="0">
                <a:ea typeface="楷体_GB2312" pitchFamily="49" charset="-122"/>
              </a:rPr>
              <a:t>.</a:t>
            </a:r>
          </a:p>
        </p:txBody>
      </p:sp>
      <p:sp>
        <p:nvSpPr>
          <p:cNvPr id="11285" name="Rectangle 54"/>
          <p:cNvSpPr>
            <a:spLocks noGrp="1" noChangeArrowheads="1"/>
          </p:cNvSpPr>
          <p:nvPr>
            <p:ph type="title"/>
          </p:nvPr>
        </p:nvSpPr>
        <p:spPr>
          <a:xfrm>
            <a:off x="576263" y="258763"/>
            <a:ext cx="10369550" cy="430212"/>
          </a:xfrm>
          <a:noFill/>
        </p:spPr>
        <p:txBody>
          <a:bodyPr/>
          <a:lstStyle/>
          <a:p>
            <a:r>
              <a:rPr lang="en-US" altLang="zh-CN" smtClean="0">
                <a:ea typeface="黑体" pitchFamily="49" charset="-122"/>
              </a:rPr>
              <a:t>7.3.1</a:t>
            </a:r>
            <a:r>
              <a:rPr lang="zh-CN" altLang="en-US" smtClean="0">
                <a:ea typeface="黑体" pitchFamily="49" charset="-122"/>
              </a:rPr>
              <a:t>多电子原子的核外电子排布</a:t>
            </a:r>
            <a:endParaRPr lang="zh-CN" altLang="en-US" b="0" smtClean="0">
              <a:ea typeface="黑体" pitchFamily="49" charset="-122"/>
            </a:endParaRPr>
          </a:p>
        </p:txBody>
      </p:sp>
      <p:sp useBgFill="1">
        <p:nvSpPr>
          <p:cNvPr id="54327" name="Rectangle 55"/>
          <p:cNvSpPr>
            <a:spLocks noChangeArrowheads="1"/>
          </p:cNvSpPr>
          <p:nvPr/>
        </p:nvSpPr>
        <p:spPr bwMode="auto">
          <a:xfrm>
            <a:off x="7027863" y="2276475"/>
            <a:ext cx="1546225" cy="484188"/>
          </a:xfrm>
          <a:prstGeom prst="rect">
            <a:avLst/>
          </a:prstGeom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10000"/>
              </a:lnSpc>
            </a:pPr>
            <a:r>
              <a:rPr lang="en-US" altLang="zh-CN" sz="2500" b="1">
                <a:ea typeface="楷体_GB2312" pitchFamily="49" charset="-122"/>
              </a:rPr>
              <a:t>3</a:t>
            </a:r>
            <a:r>
              <a:rPr lang="en-US" altLang="zh-CN" sz="2500" b="1" i="1">
                <a:ea typeface="楷体_GB2312" pitchFamily="49" charset="-122"/>
              </a:rPr>
              <a:t>d</a:t>
            </a:r>
            <a:r>
              <a:rPr lang="en-US" altLang="zh-CN" sz="2500" b="1" baseline="30000">
                <a:ea typeface="楷体_GB2312" pitchFamily="49" charset="-122"/>
              </a:rPr>
              <a:t>6</a:t>
            </a:r>
            <a:r>
              <a:rPr lang="en-US" altLang="zh-CN" sz="2500" b="1">
                <a:ea typeface="楷体_GB2312" pitchFamily="49" charset="-122"/>
              </a:rPr>
              <a:t>4</a:t>
            </a:r>
            <a:r>
              <a:rPr lang="en-US" altLang="zh-CN" sz="2500" b="1" i="1">
                <a:ea typeface="楷体_GB2312" pitchFamily="49" charset="-122"/>
              </a:rPr>
              <a:t>s</a:t>
            </a:r>
            <a:r>
              <a:rPr lang="en-US" altLang="zh-CN" sz="2500" b="1" baseline="30000">
                <a:ea typeface="楷体_GB2312" pitchFamily="49" charset="-122"/>
              </a:rPr>
              <a:t>2</a:t>
            </a:r>
            <a:endParaRPr lang="en-US" altLang="zh-CN" sz="2500" b="1">
              <a:ea typeface="楷体_GB2312" pitchFamily="49" charset="-122"/>
            </a:endParaRPr>
          </a:p>
        </p:txBody>
      </p:sp>
      <p:sp>
        <p:nvSpPr>
          <p:cNvPr id="54328" name="Rectangle 56"/>
          <p:cNvSpPr>
            <a:spLocks noChangeArrowheads="1"/>
          </p:cNvSpPr>
          <p:nvPr/>
        </p:nvSpPr>
        <p:spPr bwMode="auto">
          <a:xfrm>
            <a:off x="4975225" y="3025775"/>
            <a:ext cx="1270000" cy="477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 sz="2500" b="1">
                <a:solidFill>
                  <a:schemeClr val="bg2"/>
                </a:solidFill>
                <a:ea typeface="楷体_GB2312" pitchFamily="49" charset="-122"/>
              </a:rPr>
              <a:t>原子实</a:t>
            </a:r>
          </a:p>
        </p:txBody>
      </p:sp>
      <p:sp>
        <p:nvSpPr>
          <p:cNvPr id="54329" name="Line 57"/>
          <p:cNvSpPr>
            <a:spLocks noChangeShapeType="1"/>
          </p:cNvSpPr>
          <p:nvPr/>
        </p:nvSpPr>
        <p:spPr bwMode="auto">
          <a:xfrm>
            <a:off x="3157072" y="3168650"/>
            <a:ext cx="815975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4331" name="Rectangle 59"/>
          <p:cNvSpPr>
            <a:spLocks noChangeArrowheads="1"/>
          </p:cNvSpPr>
          <p:nvPr/>
        </p:nvSpPr>
        <p:spPr bwMode="auto">
          <a:xfrm>
            <a:off x="688975" y="3525838"/>
            <a:ext cx="2143125" cy="477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sz="2500" b="1">
                <a:solidFill>
                  <a:srgbClr val="0000FF"/>
                </a:solidFill>
                <a:ea typeface="楷体_GB2312" pitchFamily="49" charset="-122"/>
              </a:rPr>
              <a:t>atomic core:</a:t>
            </a:r>
          </a:p>
        </p:txBody>
      </p:sp>
      <p:cxnSp>
        <p:nvCxnSpPr>
          <p:cNvPr id="27" name="直接箭头连接符 26"/>
          <p:cNvCxnSpPr/>
          <p:nvPr/>
        </p:nvCxnSpPr>
        <p:spPr>
          <a:xfrm>
            <a:off x="3926635" y="3264694"/>
            <a:ext cx="1048590" cy="6429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28" name="Rectangle 10"/>
          <p:cNvSpPr>
            <a:spLocks noChangeArrowheads="1"/>
          </p:cNvSpPr>
          <p:nvPr/>
        </p:nvSpPr>
        <p:spPr bwMode="auto">
          <a:xfrm>
            <a:off x="1474788" y="5026025"/>
            <a:ext cx="1987550" cy="477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sz="2500" b="1" dirty="0">
                <a:ea typeface="楷体_GB2312" pitchFamily="49" charset="-122"/>
              </a:rPr>
              <a:t>再如</a:t>
            </a:r>
            <a:r>
              <a:rPr lang="en-US" altLang="zh-CN" sz="2500" b="1" dirty="0">
                <a:ea typeface="楷体_GB2312" pitchFamily="49" charset="-122"/>
              </a:rPr>
              <a:t>29</a:t>
            </a:r>
            <a:r>
              <a:rPr lang="zh-CN" altLang="en-US" sz="2500" b="1" dirty="0">
                <a:ea typeface="楷体_GB2312" pitchFamily="49" charset="-122"/>
              </a:rPr>
              <a:t>号</a:t>
            </a:r>
            <a:r>
              <a:rPr lang="en-US" altLang="zh-CN" sz="2500" b="1" dirty="0">
                <a:ea typeface="楷体_GB2312" pitchFamily="49" charset="-122"/>
              </a:rPr>
              <a:t>Cu:</a:t>
            </a:r>
          </a:p>
        </p:txBody>
      </p:sp>
      <p:sp>
        <p:nvSpPr>
          <p:cNvPr id="29" name="Rectangle 22"/>
          <p:cNvSpPr>
            <a:spLocks noChangeArrowheads="1"/>
          </p:cNvSpPr>
          <p:nvPr/>
        </p:nvSpPr>
        <p:spPr bwMode="auto">
          <a:xfrm>
            <a:off x="4643438" y="5054600"/>
            <a:ext cx="630237" cy="477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sz="2500" b="1">
                <a:ea typeface="楷体_GB2312" pitchFamily="49" charset="-122"/>
              </a:rPr>
              <a:t>4</a:t>
            </a:r>
            <a:r>
              <a:rPr lang="en-US" altLang="zh-CN" sz="2500" b="1" i="1">
                <a:ea typeface="楷体_GB2312" pitchFamily="49" charset="-122"/>
              </a:rPr>
              <a:t>s</a:t>
            </a:r>
            <a:endParaRPr lang="en-US" altLang="zh-CN" sz="2500" b="1">
              <a:ea typeface="楷体_GB2312" pitchFamily="49" charset="-122"/>
            </a:endParaRPr>
          </a:p>
        </p:txBody>
      </p:sp>
      <p:sp>
        <p:nvSpPr>
          <p:cNvPr id="30" name="Rectangle 23"/>
          <p:cNvSpPr>
            <a:spLocks noChangeArrowheads="1"/>
          </p:cNvSpPr>
          <p:nvPr/>
        </p:nvSpPr>
        <p:spPr bwMode="auto">
          <a:xfrm>
            <a:off x="5097463" y="5126038"/>
            <a:ext cx="292100" cy="349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500" b="1" baseline="30000">
                <a:ea typeface="楷体_GB2312" pitchFamily="49" charset="-122"/>
              </a:rPr>
              <a:t>1</a:t>
            </a:r>
          </a:p>
        </p:txBody>
      </p:sp>
      <p:sp>
        <p:nvSpPr>
          <p:cNvPr id="31" name="Rectangle 24"/>
          <p:cNvSpPr>
            <a:spLocks noChangeArrowheads="1"/>
          </p:cNvSpPr>
          <p:nvPr/>
        </p:nvSpPr>
        <p:spPr bwMode="auto">
          <a:xfrm>
            <a:off x="5186363" y="5060950"/>
            <a:ext cx="504825" cy="477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500" b="1">
                <a:ea typeface="楷体_GB2312" pitchFamily="49" charset="-122"/>
              </a:rPr>
              <a:t>3</a:t>
            </a:r>
            <a:r>
              <a:rPr lang="en-US" altLang="zh-CN" sz="2500" b="1" i="1">
                <a:ea typeface="楷体_GB2312" pitchFamily="49" charset="-122"/>
              </a:rPr>
              <a:t>d</a:t>
            </a:r>
            <a:endParaRPr lang="en-US" altLang="zh-CN" sz="2500" b="1">
              <a:ea typeface="楷体_GB2312" pitchFamily="49" charset="-122"/>
            </a:endParaRPr>
          </a:p>
        </p:txBody>
      </p:sp>
      <p:sp>
        <p:nvSpPr>
          <p:cNvPr id="32" name="Rectangle 25"/>
          <p:cNvSpPr>
            <a:spLocks noChangeArrowheads="1"/>
          </p:cNvSpPr>
          <p:nvPr/>
        </p:nvSpPr>
        <p:spPr bwMode="auto">
          <a:xfrm>
            <a:off x="5403850" y="5097463"/>
            <a:ext cx="400050" cy="349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500" b="1" baseline="30000">
                <a:ea typeface="楷体_GB2312" pitchFamily="49" charset="-122"/>
              </a:rPr>
              <a:t>10</a:t>
            </a:r>
          </a:p>
        </p:txBody>
      </p:sp>
      <p:sp>
        <p:nvSpPr>
          <p:cNvPr id="33" name="Rectangle 27"/>
          <p:cNvSpPr>
            <a:spLocks noChangeArrowheads="1"/>
          </p:cNvSpPr>
          <p:nvPr/>
        </p:nvSpPr>
        <p:spPr bwMode="auto">
          <a:xfrm>
            <a:off x="3832225" y="5026025"/>
            <a:ext cx="773113" cy="477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500" b="1">
                <a:ea typeface="楷体_GB2312" pitchFamily="49" charset="-122"/>
              </a:rPr>
              <a:t>[Ar]</a:t>
            </a:r>
          </a:p>
        </p:txBody>
      </p:sp>
      <p:sp useBgFill="1">
        <p:nvSpPr>
          <p:cNvPr id="34" name="Rectangle 53"/>
          <p:cNvSpPr>
            <a:spLocks noChangeArrowheads="1"/>
          </p:cNvSpPr>
          <p:nvPr/>
        </p:nvSpPr>
        <p:spPr bwMode="auto">
          <a:xfrm>
            <a:off x="4689475" y="5097463"/>
            <a:ext cx="1112838" cy="484187"/>
          </a:xfrm>
          <a:prstGeom prst="rect">
            <a:avLst/>
          </a:prstGeom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lnSpc>
                <a:spcPct val="110000"/>
              </a:lnSpc>
            </a:pPr>
            <a:r>
              <a:rPr lang="en-US" altLang="zh-CN" sz="2500" b="1" dirty="0">
                <a:ea typeface="楷体_GB2312" pitchFamily="49" charset="-122"/>
              </a:rPr>
              <a:t>3</a:t>
            </a:r>
            <a:r>
              <a:rPr lang="en-US" altLang="zh-CN" sz="2500" b="1" i="1" dirty="0">
                <a:ea typeface="楷体_GB2312" pitchFamily="49" charset="-122"/>
              </a:rPr>
              <a:t>d</a:t>
            </a:r>
            <a:r>
              <a:rPr lang="en-US" altLang="zh-CN" sz="2500" b="1" baseline="30000" dirty="0">
                <a:ea typeface="楷体_GB2312" pitchFamily="49" charset="-122"/>
              </a:rPr>
              <a:t>10</a:t>
            </a:r>
            <a:r>
              <a:rPr lang="en-US" altLang="zh-CN" sz="2500" b="1" dirty="0">
                <a:ea typeface="楷体_GB2312" pitchFamily="49" charset="-122"/>
              </a:rPr>
              <a:t>4</a:t>
            </a:r>
            <a:r>
              <a:rPr lang="en-US" altLang="zh-CN" sz="2500" b="1" i="1" dirty="0">
                <a:ea typeface="楷体_GB2312" pitchFamily="49" charset="-122"/>
              </a:rPr>
              <a:t>s</a:t>
            </a:r>
            <a:r>
              <a:rPr lang="en-US" altLang="zh-CN" sz="2500" b="1" baseline="30000" dirty="0">
                <a:ea typeface="楷体_GB2312" pitchFamily="49" charset="-122"/>
              </a:rPr>
              <a:t>1</a:t>
            </a:r>
            <a:endParaRPr lang="en-US" altLang="zh-CN" sz="2500" b="1" dirty="0">
              <a:ea typeface="楷体_GB2312" pitchFamily="49" charset="-122"/>
            </a:endParaRPr>
          </a:p>
        </p:txBody>
      </p:sp>
      <p:sp>
        <p:nvSpPr>
          <p:cNvPr id="11298" name="Oval 27" descr="图片9">
            <a:hlinkClick r:id="" action="ppaction://hlinkshowjump?jump=nextslide"/>
          </p:cNvPr>
          <p:cNvSpPr>
            <a:spLocks noChangeAspect="1" noChangeArrowheads="1"/>
          </p:cNvSpPr>
          <p:nvPr/>
        </p:nvSpPr>
        <p:spPr bwMode="gray">
          <a:xfrm>
            <a:off x="11161713" y="5526088"/>
            <a:ext cx="360362" cy="360362"/>
          </a:xfrm>
          <a:prstGeom prst="ellipse">
            <a:avLst/>
          </a:prstGeom>
          <a:blipFill dpi="0" rotWithShape="1">
            <a:blip r:embed="rId5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>
              <a:ea typeface="黑体" pitchFamily="49" charset="-122"/>
              <a:cs typeface="楷体_GB2312" pitchFamily="49" charset="-122"/>
            </a:endParaRPr>
          </a:p>
        </p:txBody>
      </p:sp>
      <p:sp>
        <p:nvSpPr>
          <p:cNvPr id="11299" name="Oval 26" descr="图片8">
            <a:hlinkClick r:id="" action="ppaction://hlinkshowjump?jump=previousslide"/>
          </p:cNvPr>
          <p:cNvSpPr>
            <a:spLocks noChangeAspect="1" noChangeArrowheads="1"/>
          </p:cNvSpPr>
          <p:nvPr/>
        </p:nvSpPr>
        <p:spPr bwMode="gray">
          <a:xfrm>
            <a:off x="0" y="5526088"/>
            <a:ext cx="360363" cy="360362"/>
          </a:xfrm>
          <a:prstGeom prst="ellipse">
            <a:avLst/>
          </a:prstGeom>
          <a:blipFill dpi="0" rotWithShape="1">
            <a:blip r:embed="rId6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7" dur="500"/>
                                        <p:tgtEl>
                                          <p:spTgt spid="542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2" dur="500"/>
                                        <p:tgtEl>
                                          <p:spTgt spid="542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8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7" dur="500"/>
                                        <p:tgtEl>
                                          <p:spTgt spid="5428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2" dur="500"/>
                                        <p:tgtEl>
                                          <p:spTgt spid="542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7" dur="500"/>
                                        <p:tgtEl>
                                          <p:spTgt spid="5428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2" dur="500"/>
                                        <p:tgtEl>
                                          <p:spTgt spid="542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7" dur="500"/>
                                        <p:tgtEl>
                                          <p:spTgt spid="5428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42" dur="500"/>
                                        <p:tgtEl>
                                          <p:spTgt spid="542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47" dur="500"/>
                                        <p:tgtEl>
                                          <p:spTgt spid="5428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52" dur="500"/>
                                        <p:tgtEl>
                                          <p:spTgt spid="542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57" dur="500"/>
                                        <p:tgtEl>
                                          <p:spTgt spid="5429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62" dur="500"/>
                                        <p:tgtEl>
                                          <p:spTgt spid="542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67" dur="500"/>
                                        <p:tgtEl>
                                          <p:spTgt spid="5429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2" dur="500"/>
                                        <p:tgtEl>
                                          <p:spTgt spid="542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7" dur="500"/>
                                        <p:tgtEl>
                                          <p:spTgt spid="5428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82" dur="500"/>
                                        <p:tgtEl>
                                          <p:spTgt spid="542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87" dur="500"/>
                                        <p:tgtEl>
                                          <p:spTgt spid="5429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2" dur="500"/>
                                        <p:tgtEl>
                                          <p:spTgt spid="5432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recycl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9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97" dur="500"/>
                                        <p:tgtEl>
                                          <p:spTgt spid="5429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2" dur="500"/>
                                        <p:tgtEl>
                                          <p:spTgt spid="543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8" fill="hold">
                            <p:stCondLst>
                              <p:cond delay="500"/>
                            </p:stCondLst>
                            <p:childTnLst>
                              <p:par>
                                <p:cTn id="10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1" dur="500"/>
                                        <p:tgtEl>
                                          <p:spTgt spid="5432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6" dur="500"/>
                                        <p:tgtEl>
                                          <p:spTgt spid="543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21" dur="500"/>
                                        <p:tgtEl>
                                          <p:spTgt spid="543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26" dur="500"/>
                                        <p:tgtEl>
                                          <p:spTgt spid="543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3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>
                      <p:stCondLst>
                        <p:cond delay="indefinite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3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indefinite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4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2" fill="hold">
                      <p:stCondLst>
                        <p:cond delay="indefinite"/>
                      </p:stCondLst>
                      <p:childTnLst>
                        <p:par>
                          <p:cTn id="143" fill="hold">
                            <p:stCondLst>
                              <p:cond delay="0"/>
                            </p:stCondLst>
                            <p:childTnLst>
                              <p:par>
                                <p:cTn id="144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4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4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5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2" fill="hold">
                      <p:stCondLst>
                        <p:cond delay="indefinite"/>
                      </p:stCondLst>
                      <p:childTnLst>
                        <p:par>
                          <p:cTn id="153" fill="hold">
                            <p:stCondLst>
                              <p:cond delay="0"/>
                            </p:stCondLst>
                            <p:childTnLst>
                              <p:par>
                                <p:cTn id="154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5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>
                      <p:stCondLst>
                        <p:cond delay="indefinite"/>
                      </p:stCondLst>
                      <p:childTnLst>
                        <p:par>
                          <p:cTn id="158" fill="hold">
                            <p:stCondLst>
                              <p:cond delay="0"/>
                            </p:stCondLst>
                            <p:childTnLst>
                              <p:par>
                                <p:cTn id="15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recycl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316" grpId="0" autoUpdateAnimBg="0"/>
      <p:bldP spid="54281" grpId="0" autoUpdateAnimBg="0"/>
      <p:bldP spid="54282" grpId="0" build="p" autoUpdateAnimBg="0"/>
      <p:bldP spid="54283" grpId="0" autoUpdateAnimBg="0"/>
      <p:bldP spid="54284" grpId="0" autoUpdateAnimBg="0"/>
      <p:bldP spid="54285" grpId="0" autoUpdateAnimBg="0"/>
      <p:bldP spid="54286" grpId="0" autoUpdateAnimBg="0"/>
      <p:bldP spid="54287" grpId="0" autoUpdateAnimBg="0"/>
      <p:bldP spid="54288" grpId="0" autoUpdateAnimBg="0"/>
      <p:bldP spid="54289" grpId="0" autoUpdateAnimBg="0"/>
      <p:bldP spid="54290" grpId="0" autoUpdateAnimBg="0"/>
      <p:bldP spid="54291" grpId="0" autoUpdateAnimBg="0"/>
      <p:bldP spid="54292" grpId="0" autoUpdateAnimBg="0"/>
      <p:bldP spid="54293" grpId="0" autoUpdateAnimBg="0"/>
      <p:bldP spid="54294" grpId="0" autoUpdateAnimBg="0"/>
      <p:bldP spid="54295" grpId="0" autoUpdateAnimBg="0"/>
      <p:bldP spid="54296" grpId="0" autoUpdateAnimBg="0"/>
      <p:bldP spid="54297" grpId="0" build="p" autoUpdateAnimBg="0"/>
      <p:bldP spid="54317" grpId="0" autoUpdateAnimBg="0"/>
      <p:bldP spid="54327" grpId="0" animBg="1"/>
      <p:bldP spid="54328" grpId="0"/>
      <p:bldP spid="54329" grpId="0" animBg="1"/>
      <p:bldP spid="54331" grpId="0"/>
      <p:bldP spid="28" grpId="0" autoUpdateAnimBg="0"/>
      <p:bldP spid="29" grpId="0" autoUpdateAnimBg="0"/>
      <p:bldP spid="30" grpId="0" autoUpdateAnimBg="0"/>
      <p:bldP spid="31" grpId="0" autoUpdateAnimBg="0"/>
      <p:bldP spid="32" grpId="0" autoUpdateAnimBg="0"/>
      <p:bldP spid="33" grpId="0" autoUpdateAnimBg="0"/>
      <p:bldP spid="34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9" name="Text Box 9"/>
          <p:cNvSpPr txBox="1">
            <a:spLocks noChangeArrowheads="1"/>
          </p:cNvSpPr>
          <p:nvPr/>
        </p:nvSpPr>
        <p:spPr bwMode="auto">
          <a:xfrm>
            <a:off x="906463" y="1836738"/>
            <a:ext cx="10136187" cy="4841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lnSpc>
                <a:spcPct val="110000"/>
              </a:lnSpc>
            </a:pPr>
            <a:r>
              <a:rPr lang="en-US" altLang="zh-CN" sz="2500" b="1">
                <a:ea typeface="楷体_GB2312" pitchFamily="49" charset="-122"/>
              </a:rPr>
              <a:t>→</a:t>
            </a:r>
            <a:r>
              <a:rPr lang="en-US" altLang="zh-CN" sz="2500" b="1" i="1">
                <a:solidFill>
                  <a:srgbClr val="FF3300"/>
                </a:solidFill>
                <a:ea typeface="楷体_GB2312" pitchFamily="49" charset="-122"/>
                <a:sym typeface="Monotype Sorts" pitchFamily="2" charset="2"/>
              </a:rPr>
              <a:t>np</a:t>
            </a:r>
            <a:r>
              <a:rPr lang="en-US" altLang="zh-CN" sz="2500" b="1">
                <a:ea typeface="楷体_GB2312" pitchFamily="49" charset="-122"/>
              </a:rPr>
              <a:t>→</a:t>
            </a:r>
            <a:r>
              <a:rPr lang="en-US" altLang="zh-CN" sz="2500" b="1" i="1">
                <a:solidFill>
                  <a:srgbClr val="FF3300"/>
                </a:solidFill>
                <a:ea typeface="楷体_GB2312" pitchFamily="49" charset="-122"/>
                <a:sym typeface="Monotype Sorts" pitchFamily="2" charset="2"/>
              </a:rPr>
              <a:t>ns</a:t>
            </a:r>
            <a:r>
              <a:rPr lang="en-US" altLang="zh-CN" sz="2500" b="1">
                <a:ea typeface="楷体_GB2312" pitchFamily="49" charset="-122"/>
              </a:rPr>
              <a:t>→</a:t>
            </a:r>
            <a:r>
              <a:rPr lang="en-US" altLang="zh-CN" sz="2500" b="1">
                <a:solidFill>
                  <a:srgbClr val="FF3300"/>
                </a:solidFill>
                <a:ea typeface="楷体_GB2312" pitchFamily="49" charset="-122"/>
                <a:sym typeface="Monotype Sorts" pitchFamily="2" charset="2"/>
              </a:rPr>
              <a:t>(</a:t>
            </a:r>
            <a:r>
              <a:rPr lang="en-US" altLang="zh-CN" sz="2500" b="1" i="1">
                <a:solidFill>
                  <a:srgbClr val="FF3300"/>
                </a:solidFill>
                <a:ea typeface="楷体_GB2312" pitchFamily="49" charset="-122"/>
                <a:sym typeface="Monotype Sorts" pitchFamily="2" charset="2"/>
              </a:rPr>
              <a:t>n </a:t>
            </a:r>
            <a:r>
              <a:rPr lang="en-US" altLang="zh-CN" sz="2500" b="1">
                <a:solidFill>
                  <a:srgbClr val="FF3300"/>
                </a:solidFill>
                <a:ea typeface="楷体_GB2312" pitchFamily="49" charset="-122"/>
                <a:sym typeface="Monotype Sorts" pitchFamily="2" charset="2"/>
              </a:rPr>
              <a:t>- 1)</a:t>
            </a:r>
            <a:r>
              <a:rPr lang="en-US" altLang="zh-CN" sz="2500" b="1" i="1">
                <a:solidFill>
                  <a:srgbClr val="FF3300"/>
                </a:solidFill>
                <a:ea typeface="楷体_GB2312" pitchFamily="49" charset="-122"/>
                <a:sym typeface="Monotype Sorts" pitchFamily="2" charset="2"/>
              </a:rPr>
              <a:t>d </a:t>
            </a:r>
            <a:r>
              <a:rPr lang="en-US" altLang="zh-CN" sz="2500" b="1">
                <a:ea typeface="楷体_GB2312" pitchFamily="49" charset="-122"/>
              </a:rPr>
              <a:t>→</a:t>
            </a:r>
            <a:r>
              <a:rPr lang="en-US" altLang="zh-CN" sz="2500" b="1">
                <a:solidFill>
                  <a:srgbClr val="FF3300"/>
                </a:solidFill>
                <a:ea typeface="楷体_GB2312" pitchFamily="49" charset="-122"/>
                <a:sym typeface="Monotype Sorts" pitchFamily="2" charset="2"/>
              </a:rPr>
              <a:t>(</a:t>
            </a:r>
            <a:r>
              <a:rPr lang="en-US" altLang="zh-CN" sz="2500" b="1" i="1">
                <a:solidFill>
                  <a:srgbClr val="FF3300"/>
                </a:solidFill>
                <a:ea typeface="楷体_GB2312" pitchFamily="49" charset="-122"/>
                <a:sym typeface="Monotype Sorts" pitchFamily="2" charset="2"/>
              </a:rPr>
              <a:t>n </a:t>
            </a:r>
            <a:r>
              <a:rPr lang="en-US" altLang="zh-CN" sz="2500" b="1">
                <a:solidFill>
                  <a:srgbClr val="FF3300"/>
                </a:solidFill>
                <a:ea typeface="楷体_GB2312" pitchFamily="49" charset="-122"/>
                <a:sym typeface="Monotype Sorts" pitchFamily="2" charset="2"/>
              </a:rPr>
              <a:t>- 2)</a:t>
            </a:r>
            <a:r>
              <a:rPr lang="en-US" altLang="zh-CN" sz="2500" b="1" i="1">
                <a:solidFill>
                  <a:srgbClr val="FF3300"/>
                </a:solidFill>
                <a:ea typeface="楷体_GB2312" pitchFamily="49" charset="-122"/>
                <a:sym typeface="Monotype Sorts" pitchFamily="2" charset="2"/>
              </a:rPr>
              <a:t>f</a:t>
            </a:r>
            <a:endParaRPr lang="en-US" altLang="zh-CN" sz="2500" b="1">
              <a:solidFill>
                <a:srgbClr val="FF3300"/>
              </a:solidFill>
              <a:ea typeface="楷体_GB2312" pitchFamily="49" charset="-122"/>
            </a:endParaRPr>
          </a:p>
        </p:txBody>
      </p:sp>
      <p:sp>
        <p:nvSpPr>
          <p:cNvPr id="56330" name="Rectangle 10"/>
          <p:cNvSpPr>
            <a:spLocks noChangeArrowheads="1"/>
          </p:cNvSpPr>
          <p:nvPr/>
        </p:nvSpPr>
        <p:spPr bwMode="auto">
          <a:xfrm>
            <a:off x="906463" y="2276475"/>
            <a:ext cx="10328275" cy="9382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10000"/>
              </a:lnSpc>
            </a:pPr>
            <a:r>
              <a:rPr lang="zh-CN" altLang="en-US" sz="2500" b="1">
                <a:ea typeface="楷体_GB2312" pitchFamily="49" charset="-122"/>
              </a:rPr>
              <a:t>　　原子失电子顺序并不是填充电子顺序的逆方向</a:t>
            </a:r>
            <a:r>
              <a:rPr lang="en-US" altLang="zh-CN" sz="2500" b="1">
                <a:ea typeface="楷体_GB2312" pitchFamily="49" charset="-122"/>
              </a:rPr>
              <a:t>.</a:t>
            </a:r>
          </a:p>
          <a:p>
            <a:pPr>
              <a:lnSpc>
                <a:spcPct val="110000"/>
              </a:lnSpc>
            </a:pPr>
            <a:r>
              <a:rPr lang="zh-CN" altLang="en-US" sz="2500" b="1">
                <a:ea typeface="楷体_GB2312" pitchFamily="49" charset="-122"/>
              </a:rPr>
              <a:t>如</a:t>
            </a:r>
            <a:r>
              <a:rPr lang="en-US" altLang="zh-CN" sz="2500" b="1">
                <a:ea typeface="楷体_GB2312" pitchFamily="49" charset="-122"/>
              </a:rPr>
              <a:t>Fe</a:t>
            </a:r>
            <a:r>
              <a:rPr lang="en-US" altLang="zh-CN" sz="2500" b="1" baseline="30000">
                <a:ea typeface="楷体_GB2312" pitchFamily="49" charset="-122"/>
              </a:rPr>
              <a:t>2+</a:t>
            </a:r>
            <a:r>
              <a:rPr lang="en-US" altLang="zh-CN" sz="2500" b="1">
                <a:ea typeface="楷体_GB2312" pitchFamily="49" charset="-122"/>
              </a:rPr>
              <a:t>:</a:t>
            </a:r>
          </a:p>
        </p:txBody>
      </p:sp>
      <p:sp>
        <p:nvSpPr>
          <p:cNvPr id="56331" name="Rectangle 11"/>
          <p:cNvSpPr>
            <a:spLocks noChangeArrowheads="1"/>
          </p:cNvSpPr>
          <p:nvPr/>
        </p:nvSpPr>
        <p:spPr bwMode="auto">
          <a:xfrm>
            <a:off x="2763838" y="3168650"/>
            <a:ext cx="3273425" cy="477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500" b="1" dirty="0">
                <a:ea typeface="楷体_GB2312" pitchFamily="49" charset="-122"/>
              </a:rPr>
              <a:t>Fe</a:t>
            </a:r>
            <a:r>
              <a:rPr lang="en-US" altLang="zh-CN" sz="2500" b="1" baseline="30000" dirty="0">
                <a:ea typeface="楷体_GB2312" pitchFamily="49" charset="-122"/>
              </a:rPr>
              <a:t>2+</a:t>
            </a:r>
            <a:r>
              <a:rPr lang="zh-CN" altLang="en-US" sz="2500" b="1" dirty="0">
                <a:ea typeface="楷体_GB2312" pitchFamily="49" charset="-122"/>
              </a:rPr>
              <a:t>的电子排布式</a:t>
            </a:r>
            <a:r>
              <a:rPr lang="en-US" altLang="zh-CN" sz="2500" b="1" dirty="0">
                <a:ea typeface="楷体_GB2312" pitchFamily="49" charset="-122"/>
              </a:rPr>
              <a:t>[</a:t>
            </a:r>
            <a:r>
              <a:rPr lang="en-US" altLang="zh-CN" sz="2500" b="1" dirty="0" err="1">
                <a:ea typeface="楷体_GB2312" pitchFamily="49" charset="-122"/>
              </a:rPr>
              <a:t>Ar</a:t>
            </a:r>
            <a:r>
              <a:rPr lang="en-US" altLang="zh-CN" sz="2500" b="1" dirty="0">
                <a:ea typeface="楷体_GB2312" pitchFamily="49" charset="-122"/>
              </a:rPr>
              <a:t>]</a:t>
            </a:r>
          </a:p>
        </p:txBody>
      </p:sp>
      <p:sp>
        <p:nvSpPr>
          <p:cNvPr id="56332" name="Rectangle 12"/>
          <p:cNvSpPr>
            <a:spLocks noChangeArrowheads="1"/>
          </p:cNvSpPr>
          <p:nvPr/>
        </p:nvSpPr>
        <p:spPr bwMode="auto">
          <a:xfrm>
            <a:off x="6403975" y="3168650"/>
            <a:ext cx="292100" cy="349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500" b="1" baseline="30000">
                <a:ea typeface="楷体_GB2312" pitchFamily="49" charset="-122"/>
              </a:rPr>
              <a:t>6</a:t>
            </a:r>
          </a:p>
        </p:txBody>
      </p:sp>
      <p:sp>
        <p:nvSpPr>
          <p:cNvPr id="56333" name="Rectangle 13"/>
          <p:cNvSpPr>
            <a:spLocks noChangeArrowheads="1"/>
          </p:cNvSpPr>
          <p:nvPr/>
        </p:nvSpPr>
        <p:spPr bwMode="auto">
          <a:xfrm>
            <a:off x="6832600" y="3168650"/>
            <a:ext cx="371475" cy="477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500" b="1" baseline="30000">
                <a:ea typeface="楷体_GB2312" pitchFamily="49" charset="-122"/>
              </a:rPr>
              <a:t>0</a:t>
            </a:r>
            <a:r>
              <a:rPr lang="en-US" altLang="zh-CN" sz="2500" b="1">
                <a:ea typeface="楷体_GB2312" pitchFamily="49" charset="-122"/>
              </a:rPr>
              <a:t>,</a:t>
            </a:r>
            <a:endParaRPr lang="en-US" altLang="zh-CN" sz="2500" b="1" baseline="30000">
              <a:ea typeface="楷体_GB2312" pitchFamily="49" charset="-122"/>
            </a:endParaRPr>
          </a:p>
        </p:txBody>
      </p:sp>
      <p:sp>
        <p:nvSpPr>
          <p:cNvPr id="56334" name="Rectangle 14"/>
          <p:cNvSpPr>
            <a:spLocks noChangeArrowheads="1"/>
          </p:cNvSpPr>
          <p:nvPr/>
        </p:nvSpPr>
        <p:spPr bwMode="auto">
          <a:xfrm>
            <a:off x="6546850" y="3240088"/>
            <a:ext cx="630238" cy="477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sz="2500" b="1" dirty="0">
                <a:ea typeface="楷体_GB2312" pitchFamily="49" charset="-122"/>
              </a:rPr>
              <a:t>4</a:t>
            </a:r>
            <a:r>
              <a:rPr lang="en-US" altLang="zh-CN" sz="2500" b="1" i="1" dirty="0">
                <a:ea typeface="楷体_GB2312" pitchFamily="49" charset="-122"/>
              </a:rPr>
              <a:t>s</a:t>
            </a:r>
            <a:endParaRPr lang="en-US" altLang="zh-CN" sz="2500" b="1" dirty="0">
              <a:ea typeface="楷体_GB2312" pitchFamily="49" charset="-122"/>
            </a:endParaRPr>
          </a:p>
        </p:txBody>
      </p:sp>
      <p:sp>
        <p:nvSpPr>
          <p:cNvPr id="56335" name="Rectangle 15"/>
          <p:cNvSpPr>
            <a:spLocks noChangeArrowheads="1"/>
          </p:cNvSpPr>
          <p:nvPr/>
        </p:nvSpPr>
        <p:spPr bwMode="auto">
          <a:xfrm>
            <a:off x="974725" y="4168775"/>
            <a:ext cx="2557463" cy="477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sz="2500" b="1">
                <a:ea typeface="楷体_GB2312" pitchFamily="49" charset="-122"/>
              </a:rPr>
              <a:t>再如</a:t>
            </a:r>
            <a:r>
              <a:rPr lang="en-US" altLang="zh-CN" sz="2500" b="1">
                <a:ea typeface="楷体_GB2312" pitchFamily="49" charset="-122"/>
              </a:rPr>
              <a:t>Mn</a:t>
            </a:r>
            <a:r>
              <a:rPr lang="en-US" altLang="zh-CN" sz="2500" b="1" baseline="30000">
                <a:ea typeface="楷体_GB2312" pitchFamily="49" charset="-122"/>
              </a:rPr>
              <a:t>2+</a:t>
            </a:r>
            <a:r>
              <a:rPr lang="en-US" altLang="zh-CN" sz="2500" b="1">
                <a:ea typeface="楷体_GB2312" pitchFamily="49" charset="-122"/>
              </a:rPr>
              <a:t>(</a:t>
            </a:r>
            <a:r>
              <a:rPr lang="en-US" altLang="zh-CN" sz="2500" b="1" baseline="-25000">
                <a:ea typeface="楷体_GB2312" pitchFamily="49" charset="-122"/>
              </a:rPr>
              <a:t>25</a:t>
            </a:r>
            <a:r>
              <a:rPr lang="en-US" altLang="zh-CN" sz="2500" b="1">
                <a:ea typeface="楷体_GB2312" pitchFamily="49" charset="-122"/>
              </a:rPr>
              <a:t>Mn):</a:t>
            </a:r>
          </a:p>
        </p:txBody>
      </p:sp>
      <p:sp>
        <p:nvSpPr>
          <p:cNvPr id="56336" name="Rectangle 16"/>
          <p:cNvSpPr>
            <a:spLocks noChangeArrowheads="1"/>
          </p:cNvSpPr>
          <p:nvPr/>
        </p:nvSpPr>
        <p:spPr bwMode="auto">
          <a:xfrm>
            <a:off x="5975350" y="3240088"/>
            <a:ext cx="504825" cy="477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500" b="1">
                <a:ea typeface="楷体_GB2312" pitchFamily="49" charset="-122"/>
              </a:rPr>
              <a:t>3</a:t>
            </a:r>
            <a:r>
              <a:rPr lang="en-US" altLang="zh-CN" sz="2500" b="1" i="1">
                <a:ea typeface="楷体_GB2312" pitchFamily="49" charset="-122"/>
              </a:rPr>
              <a:t>d</a:t>
            </a:r>
            <a:endParaRPr lang="en-US" altLang="zh-CN" sz="2500" b="1">
              <a:ea typeface="楷体_GB2312" pitchFamily="49" charset="-122"/>
            </a:endParaRPr>
          </a:p>
        </p:txBody>
      </p:sp>
      <p:sp>
        <p:nvSpPr>
          <p:cNvPr id="56337" name="Rectangle 17"/>
          <p:cNvSpPr>
            <a:spLocks noChangeArrowheads="1"/>
          </p:cNvSpPr>
          <p:nvPr/>
        </p:nvSpPr>
        <p:spPr bwMode="auto">
          <a:xfrm>
            <a:off x="3475038" y="4383088"/>
            <a:ext cx="773112" cy="477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500" b="1">
                <a:ea typeface="楷体_GB2312" pitchFamily="49" charset="-122"/>
              </a:rPr>
              <a:t>[Ar]</a:t>
            </a:r>
          </a:p>
        </p:txBody>
      </p:sp>
      <p:sp>
        <p:nvSpPr>
          <p:cNvPr id="56338" name="Rectangle 18"/>
          <p:cNvSpPr>
            <a:spLocks noChangeArrowheads="1"/>
          </p:cNvSpPr>
          <p:nvPr/>
        </p:nvSpPr>
        <p:spPr bwMode="auto">
          <a:xfrm>
            <a:off x="4117975" y="4383088"/>
            <a:ext cx="504825" cy="477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500" b="1" dirty="0">
                <a:ea typeface="楷体_GB2312" pitchFamily="49" charset="-122"/>
              </a:rPr>
              <a:t>3</a:t>
            </a:r>
            <a:r>
              <a:rPr lang="en-US" altLang="zh-CN" sz="2500" b="1" i="1" dirty="0">
                <a:ea typeface="楷体_GB2312" pitchFamily="49" charset="-122"/>
              </a:rPr>
              <a:t>d</a:t>
            </a:r>
            <a:endParaRPr lang="en-US" altLang="zh-CN" sz="2500" b="1" baseline="30000" dirty="0">
              <a:ea typeface="楷体_GB2312" pitchFamily="49" charset="-122"/>
            </a:endParaRPr>
          </a:p>
        </p:txBody>
      </p:sp>
      <p:sp>
        <p:nvSpPr>
          <p:cNvPr id="56339" name="Rectangle 19"/>
          <p:cNvSpPr>
            <a:spLocks noChangeArrowheads="1"/>
          </p:cNvSpPr>
          <p:nvPr/>
        </p:nvSpPr>
        <p:spPr bwMode="auto">
          <a:xfrm>
            <a:off x="4546600" y="4311650"/>
            <a:ext cx="292100" cy="349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500" b="1" baseline="30000">
                <a:ea typeface="楷体_GB2312" pitchFamily="49" charset="-122"/>
              </a:rPr>
              <a:t>5</a:t>
            </a:r>
          </a:p>
        </p:txBody>
      </p:sp>
      <p:sp>
        <p:nvSpPr>
          <p:cNvPr id="56340" name="Rectangle 20"/>
          <p:cNvSpPr>
            <a:spLocks noChangeArrowheads="1"/>
          </p:cNvSpPr>
          <p:nvPr/>
        </p:nvSpPr>
        <p:spPr bwMode="auto">
          <a:xfrm>
            <a:off x="4689475" y="4383088"/>
            <a:ext cx="469900" cy="477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500" b="1" dirty="0">
                <a:ea typeface="楷体_GB2312" pitchFamily="49" charset="-122"/>
              </a:rPr>
              <a:t>4</a:t>
            </a:r>
            <a:r>
              <a:rPr lang="en-US" altLang="zh-CN" sz="2500" b="1" i="1" dirty="0">
                <a:ea typeface="楷体_GB2312" pitchFamily="49" charset="-122"/>
              </a:rPr>
              <a:t>s</a:t>
            </a:r>
            <a:endParaRPr lang="en-US" altLang="zh-CN" sz="2500" b="1" dirty="0">
              <a:ea typeface="楷体_GB2312" pitchFamily="49" charset="-122"/>
            </a:endParaRPr>
          </a:p>
        </p:txBody>
      </p:sp>
      <p:sp>
        <p:nvSpPr>
          <p:cNvPr id="56341" name="Rectangle 21"/>
          <p:cNvSpPr>
            <a:spLocks noChangeArrowheads="1"/>
          </p:cNvSpPr>
          <p:nvPr/>
        </p:nvSpPr>
        <p:spPr bwMode="auto">
          <a:xfrm>
            <a:off x="4975225" y="4311650"/>
            <a:ext cx="292100" cy="349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500" b="1" baseline="30000">
                <a:ea typeface="楷体_GB2312" pitchFamily="49" charset="-122"/>
              </a:rPr>
              <a:t>0</a:t>
            </a:r>
          </a:p>
        </p:txBody>
      </p:sp>
      <p:sp>
        <p:nvSpPr>
          <p:cNvPr id="56342" name="Rectangle 22"/>
          <p:cNvSpPr>
            <a:spLocks noChangeArrowheads="1"/>
          </p:cNvSpPr>
          <p:nvPr/>
        </p:nvSpPr>
        <p:spPr bwMode="auto">
          <a:xfrm>
            <a:off x="2689225" y="3668713"/>
            <a:ext cx="2800350" cy="477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sz="2500" b="1">
                <a:ea typeface="楷体_GB2312" pitchFamily="49" charset="-122"/>
              </a:rPr>
              <a:t>而不是</a:t>
            </a:r>
            <a:r>
              <a:rPr lang="en-US" altLang="zh-CN" sz="2500" b="1">
                <a:ea typeface="楷体_GB2312" pitchFamily="49" charset="-122"/>
              </a:rPr>
              <a:t>:[Ar]3</a:t>
            </a:r>
            <a:r>
              <a:rPr lang="en-US" altLang="zh-CN" sz="2500" b="1" i="1">
                <a:ea typeface="楷体_GB2312" pitchFamily="49" charset="-122"/>
              </a:rPr>
              <a:t>d</a:t>
            </a:r>
            <a:r>
              <a:rPr lang="en-US" altLang="zh-CN" sz="2500" b="1" baseline="30000">
                <a:ea typeface="楷体_GB2312" pitchFamily="49" charset="-122"/>
              </a:rPr>
              <a:t>4 </a:t>
            </a:r>
            <a:r>
              <a:rPr lang="en-US" altLang="zh-CN" sz="2500" b="1">
                <a:ea typeface="楷体_GB2312" pitchFamily="49" charset="-122"/>
              </a:rPr>
              <a:t>4</a:t>
            </a:r>
            <a:r>
              <a:rPr lang="en-US" altLang="zh-CN" sz="2500" b="1" i="1">
                <a:ea typeface="楷体_GB2312" pitchFamily="49" charset="-122"/>
              </a:rPr>
              <a:t>s</a:t>
            </a:r>
            <a:r>
              <a:rPr lang="en-US" altLang="zh-CN" sz="2500" b="1" baseline="30000">
                <a:ea typeface="楷体_GB2312" pitchFamily="49" charset="-122"/>
              </a:rPr>
              <a:t>2</a:t>
            </a:r>
            <a:r>
              <a:rPr lang="en-US" altLang="zh-CN" sz="2500" b="1">
                <a:ea typeface="楷体_GB2312" pitchFamily="49" charset="-122"/>
              </a:rPr>
              <a:t>.</a:t>
            </a:r>
          </a:p>
        </p:txBody>
      </p:sp>
      <p:sp>
        <p:nvSpPr>
          <p:cNvPr id="56345" name="Rectangle 25"/>
          <p:cNvSpPr>
            <a:spLocks noChangeArrowheads="1"/>
          </p:cNvSpPr>
          <p:nvPr/>
        </p:nvSpPr>
        <p:spPr bwMode="auto">
          <a:xfrm>
            <a:off x="906463" y="957263"/>
            <a:ext cx="4773612" cy="477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2500" b="1" u="sng" dirty="0">
                <a:solidFill>
                  <a:srgbClr val="FF3300"/>
                </a:solidFill>
                <a:ea typeface="楷体_GB2312"/>
              </a:rPr>
              <a:t>(2.3)</a:t>
            </a:r>
            <a:r>
              <a:rPr lang="zh-CN" altLang="en-US" sz="2500" b="1" u="sng" dirty="0">
                <a:solidFill>
                  <a:srgbClr val="FF3300"/>
                </a:solidFill>
                <a:ea typeface="楷体_GB2312"/>
              </a:rPr>
              <a:t>简单基态阳离子的电子排布</a:t>
            </a:r>
            <a:r>
              <a:rPr lang="en-US" altLang="zh-CN" sz="2500" b="1" dirty="0">
                <a:solidFill>
                  <a:srgbClr val="FF3300"/>
                </a:solidFill>
                <a:ea typeface="楷体_GB2312"/>
              </a:rPr>
              <a:t>:</a:t>
            </a:r>
            <a:endParaRPr lang="en-US" altLang="zh-CN" sz="2500" b="1" dirty="0">
              <a:effectLst>
                <a:outerShdw blurRad="38100" dist="38100" dir="2700000" algn="tl">
                  <a:srgbClr val="FFFFFF"/>
                </a:outerShdw>
              </a:effectLst>
              <a:ea typeface="楷体_GB2312"/>
            </a:endParaRPr>
          </a:p>
        </p:txBody>
      </p:sp>
      <p:sp>
        <p:nvSpPr>
          <p:cNvPr id="56348" name="Rectangle 28"/>
          <p:cNvSpPr>
            <a:spLocks noChangeArrowheads="1"/>
          </p:cNvSpPr>
          <p:nvPr/>
        </p:nvSpPr>
        <p:spPr bwMode="auto">
          <a:xfrm>
            <a:off x="2689225" y="2668588"/>
            <a:ext cx="4614863" cy="477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500" b="1" baseline="-25000" dirty="0">
                <a:ea typeface="楷体_GB2312" pitchFamily="49" charset="-122"/>
              </a:rPr>
              <a:t>26</a:t>
            </a:r>
            <a:r>
              <a:rPr lang="en-US" altLang="zh-CN" sz="2500" b="1" dirty="0">
                <a:ea typeface="楷体_GB2312" pitchFamily="49" charset="-122"/>
              </a:rPr>
              <a:t>Fe </a:t>
            </a:r>
            <a:r>
              <a:rPr lang="zh-CN" altLang="en-US" sz="2500" b="1" dirty="0">
                <a:ea typeface="楷体_GB2312" pitchFamily="49" charset="-122"/>
              </a:rPr>
              <a:t>的电子排布式为</a:t>
            </a:r>
            <a:r>
              <a:rPr lang="en-US" altLang="zh-CN" sz="2500" b="1" dirty="0">
                <a:ea typeface="楷体_GB2312" pitchFamily="49" charset="-122"/>
              </a:rPr>
              <a:t>[</a:t>
            </a:r>
            <a:r>
              <a:rPr lang="en-US" altLang="zh-CN" sz="2500" b="1" dirty="0" err="1">
                <a:ea typeface="楷体_GB2312" pitchFamily="49" charset="-122"/>
              </a:rPr>
              <a:t>Ar</a:t>
            </a:r>
            <a:r>
              <a:rPr lang="en-US" altLang="zh-CN" sz="2500" b="1" dirty="0">
                <a:ea typeface="楷体_GB2312" pitchFamily="49" charset="-122"/>
              </a:rPr>
              <a:t>]3</a:t>
            </a:r>
            <a:r>
              <a:rPr lang="en-US" altLang="zh-CN" sz="2500" b="1" i="1" dirty="0">
                <a:ea typeface="楷体_GB2312" pitchFamily="49" charset="-122"/>
              </a:rPr>
              <a:t>d</a:t>
            </a:r>
            <a:r>
              <a:rPr lang="en-US" altLang="zh-CN" sz="2500" b="1" baseline="30000" dirty="0">
                <a:ea typeface="楷体_GB2312" pitchFamily="49" charset="-122"/>
              </a:rPr>
              <a:t>6 </a:t>
            </a:r>
            <a:r>
              <a:rPr lang="en-US" altLang="zh-CN" sz="2500" b="1" dirty="0">
                <a:ea typeface="楷体_GB2312" pitchFamily="49" charset="-122"/>
              </a:rPr>
              <a:t>4</a:t>
            </a:r>
            <a:r>
              <a:rPr lang="en-US" altLang="zh-CN" sz="2500" b="1" i="1" dirty="0">
                <a:ea typeface="楷体_GB2312" pitchFamily="49" charset="-122"/>
              </a:rPr>
              <a:t>s</a:t>
            </a:r>
            <a:r>
              <a:rPr lang="en-US" altLang="zh-CN" sz="2500" b="1" baseline="30000" dirty="0">
                <a:ea typeface="楷体_GB2312" pitchFamily="49" charset="-122"/>
              </a:rPr>
              <a:t>2</a:t>
            </a:r>
            <a:r>
              <a:rPr lang="en-US" altLang="zh-CN" sz="2500" b="1" dirty="0">
                <a:ea typeface="楷体_GB2312" pitchFamily="49" charset="-122"/>
              </a:rPr>
              <a:t>.</a:t>
            </a:r>
          </a:p>
        </p:txBody>
      </p:sp>
      <p:sp>
        <p:nvSpPr>
          <p:cNvPr id="56349" name="Rectangle 29"/>
          <p:cNvSpPr>
            <a:spLocks noChangeArrowheads="1"/>
          </p:cNvSpPr>
          <p:nvPr/>
        </p:nvSpPr>
        <p:spPr bwMode="auto">
          <a:xfrm>
            <a:off x="906463" y="1401763"/>
            <a:ext cx="6732587" cy="4810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lnSpc>
                <a:spcPct val="110000"/>
              </a:lnSpc>
            </a:pPr>
            <a:r>
              <a:rPr lang="en-US" altLang="zh-CN" sz="2500" b="1">
                <a:ea typeface="楷体_GB2312" pitchFamily="49" charset="-122"/>
              </a:rPr>
              <a:t>        </a:t>
            </a:r>
            <a:r>
              <a:rPr lang="zh-CN" altLang="en-US" sz="2500" b="1">
                <a:ea typeface="楷体_GB2312" pitchFamily="49" charset="-122"/>
              </a:rPr>
              <a:t>按以下价电子电离顺序的</a:t>
            </a:r>
            <a:r>
              <a:rPr lang="zh-CN" altLang="en-US" sz="2500" b="1">
                <a:solidFill>
                  <a:srgbClr val="FF3300"/>
                </a:solidFill>
                <a:ea typeface="楷体_GB2312" pitchFamily="49" charset="-122"/>
              </a:rPr>
              <a:t>经验规律</a:t>
            </a:r>
            <a:r>
              <a:rPr lang="zh-CN" altLang="en-US" sz="2500" b="1">
                <a:ea typeface="楷体_GB2312" pitchFamily="49" charset="-122"/>
              </a:rPr>
              <a:t>来</a:t>
            </a:r>
            <a:r>
              <a:rPr lang="zh-CN" altLang="en-US" sz="2500" b="1">
                <a:solidFill>
                  <a:srgbClr val="FF3300"/>
                </a:solidFill>
                <a:ea typeface="楷体_GB2312" pitchFamily="49" charset="-122"/>
              </a:rPr>
              <a:t>排布</a:t>
            </a:r>
            <a:r>
              <a:rPr lang="en-US" altLang="zh-CN" sz="2500" b="1">
                <a:ea typeface="楷体_GB2312" pitchFamily="49" charset="-122"/>
              </a:rPr>
              <a:t>:</a:t>
            </a:r>
          </a:p>
        </p:txBody>
      </p:sp>
      <p:sp>
        <p:nvSpPr>
          <p:cNvPr id="12307" name="Rectangle 52"/>
          <p:cNvSpPr>
            <a:spLocks noGrp="1" noChangeArrowheads="1"/>
          </p:cNvSpPr>
          <p:nvPr>
            <p:ph type="title"/>
          </p:nvPr>
        </p:nvSpPr>
        <p:spPr>
          <a:xfrm>
            <a:off x="576263" y="258763"/>
            <a:ext cx="10369550" cy="430212"/>
          </a:xfrm>
          <a:noFill/>
        </p:spPr>
        <p:txBody>
          <a:bodyPr/>
          <a:lstStyle/>
          <a:p>
            <a:r>
              <a:rPr lang="en-US" altLang="zh-CN" smtClean="0">
                <a:ea typeface="黑体" pitchFamily="49" charset="-122"/>
              </a:rPr>
              <a:t>7.3.1</a:t>
            </a:r>
            <a:r>
              <a:rPr lang="zh-CN" altLang="en-US" smtClean="0">
                <a:ea typeface="黑体" pitchFamily="49" charset="-122"/>
              </a:rPr>
              <a:t>多电子原子的核外电子排布</a:t>
            </a:r>
            <a:endParaRPr lang="zh-CN" altLang="en-US" b="0" smtClean="0">
              <a:ea typeface="黑体" pitchFamily="49" charset="-122"/>
            </a:endParaRPr>
          </a:p>
        </p:txBody>
      </p:sp>
      <p:sp>
        <p:nvSpPr>
          <p:cNvPr id="12308" name="Oval 27" descr="图片9">
            <a:hlinkClick r:id="" action="ppaction://hlinkshowjump?jump=nextslide"/>
          </p:cNvPr>
          <p:cNvSpPr>
            <a:spLocks noChangeAspect="1" noChangeArrowheads="1"/>
          </p:cNvSpPr>
          <p:nvPr/>
        </p:nvSpPr>
        <p:spPr bwMode="gray">
          <a:xfrm>
            <a:off x="11161713" y="5526088"/>
            <a:ext cx="360362" cy="360362"/>
          </a:xfrm>
          <a:prstGeom prst="ellipse">
            <a:avLst/>
          </a:prstGeom>
          <a:blipFill dpi="0" rotWithShape="1">
            <a:blip r:embed="rId4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>
              <a:ea typeface="黑体" pitchFamily="49" charset="-122"/>
              <a:cs typeface="楷体_GB2312" pitchFamily="49" charset="-122"/>
            </a:endParaRPr>
          </a:p>
        </p:txBody>
      </p:sp>
      <p:sp>
        <p:nvSpPr>
          <p:cNvPr id="12309" name="Oval 26" descr="图片8">
            <a:hlinkClick r:id="" action="ppaction://hlinkshowjump?jump=previousslide"/>
          </p:cNvPr>
          <p:cNvSpPr>
            <a:spLocks noChangeAspect="1" noChangeArrowheads="1"/>
          </p:cNvSpPr>
          <p:nvPr/>
        </p:nvSpPr>
        <p:spPr bwMode="gray">
          <a:xfrm>
            <a:off x="0" y="5526088"/>
            <a:ext cx="360363" cy="360362"/>
          </a:xfrm>
          <a:prstGeom prst="ellipse">
            <a:avLst/>
          </a:prstGeom>
          <a:blipFill dpi="0" rotWithShape="1">
            <a:blip r:embed="rId5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7" dur="1000"/>
                                        <p:tgtEl>
                                          <p:spTgt spid="563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2" dur="500"/>
                                        <p:tgtEl>
                                          <p:spTgt spid="563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3" presetClass="entr" presetSubtype="5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6" dur="500"/>
                                        <p:tgtEl>
                                          <p:spTgt spid="5632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1" dur="500"/>
                                        <p:tgtEl>
                                          <p:spTgt spid="563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6" dur="500"/>
                                        <p:tgtEl>
                                          <p:spTgt spid="563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1" dur="500"/>
                                        <p:tgtEl>
                                          <p:spTgt spid="563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6" dur="500"/>
                                        <p:tgtEl>
                                          <p:spTgt spid="563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41" dur="500"/>
                                        <p:tgtEl>
                                          <p:spTgt spid="563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46" dur="500"/>
                                        <p:tgtEl>
                                          <p:spTgt spid="5633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51" dur="500"/>
                                        <p:tgtEl>
                                          <p:spTgt spid="563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56" dur="500"/>
                                        <p:tgtEl>
                                          <p:spTgt spid="5633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61" dur="500"/>
                                        <p:tgtEl>
                                          <p:spTgt spid="563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66" dur="500"/>
                                        <p:tgtEl>
                                          <p:spTgt spid="563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1" dur="500"/>
                                        <p:tgtEl>
                                          <p:spTgt spid="563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6" dur="500"/>
                                        <p:tgtEl>
                                          <p:spTgt spid="563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81" dur="500"/>
                                        <p:tgtEl>
                                          <p:spTgt spid="5633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86" dur="500"/>
                                        <p:tgtEl>
                                          <p:spTgt spid="563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91" dur="500"/>
                                        <p:tgtEl>
                                          <p:spTgt spid="563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329" grpId="0" autoUpdateAnimBg="0"/>
      <p:bldP spid="56330" grpId="0" build="p" autoUpdateAnimBg="0"/>
      <p:bldP spid="56331" grpId="0" autoUpdateAnimBg="0"/>
      <p:bldP spid="56332" grpId="0" autoUpdateAnimBg="0"/>
      <p:bldP spid="56333" grpId="0" autoUpdateAnimBg="0"/>
      <p:bldP spid="56334" grpId="0" autoUpdateAnimBg="0"/>
      <p:bldP spid="56335" grpId="0" autoUpdateAnimBg="0"/>
      <p:bldP spid="56336" grpId="0" autoUpdateAnimBg="0"/>
      <p:bldP spid="56337" grpId="0" autoUpdateAnimBg="0"/>
      <p:bldP spid="56338" grpId="0" autoUpdateAnimBg="0"/>
      <p:bldP spid="56339" grpId="0" autoUpdateAnimBg="0"/>
      <p:bldP spid="56340" grpId="0" autoUpdateAnimBg="0"/>
      <p:bldP spid="56341" grpId="0" autoUpdateAnimBg="0"/>
      <p:bldP spid="56342" grpId="0" autoUpdateAnimBg="0"/>
      <p:bldP spid="56345" grpId="0" autoUpdateAnimBg="0"/>
      <p:bldP spid="56348" grpId="0" autoUpdateAnimBg="0"/>
      <p:bldP spid="56349" grpId="0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26"/>
          <p:cNvSpPr>
            <a:spLocks noChangeArrowheads="1"/>
          </p:cNvSpPr>
          <p:nvPr/>
        </p:nvSpPr>
        <p:spPr bwMode="auto">
          <a:xfrm>
            <a:off x="474663" y="882650"/>
            <a:ext cx="10328275" cy="4809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10000"/>
              </a:lnSpc>
            </a:pPr>
            <a:r>
              <a:rPr lang="zh-CN" altLang="en-US" sz="2500" b="1" dirty="0">
                <a:solidFill>
                  <a:srgbClr val="FF3300"/>
                </a:solidFill>
                <a:ea typeface="楷体_GB2312" pitchFamily="49" charset="-122"/>
              </a:rPr>
              <a:t>  </a:t>
            </a:r>
            <a:r>
              <a:rPr lang="en-US" altLang="zh-CN" sz="2500" b="1" dirty="0">
                <a:solidFill>
                  <a:srgbClr val="FF3300"/>
                </a:solidFill>
                <a:ea typeface="楷体_GB2312" pitchFamily="49" charset="-122"/>
              </a:rPr>
              <a:t>(2.4)</a:t>
            </a:r>
            <a:r>
              <a:rPr lang="zh-CN" altLang="en-US" sz="2500" b="1" dirty="0">
                <a:solidFill>
                  <a:srgbClr val="FF3300"/>
                </a:solidFill>
                <a:ea typeface="楷体_GB2312" pitchFamily="49" charset="-122"/>
              </a:rPr>
              <a:t>价电子层构型</a:t>
            </a:r>
            <a:r>
              <a:rPr lang="en-US" altLang="zh-CN" sz="2500" b="1" dirty="0">
                <a:solidFill>
                  <a:srgbClr val="FF3300"/>
                </a:solidFill>
                <a:ea typeface="楷体_GB2312" pitchFamily="49" charset="-122"/>
              </a:rPr>
              <a:t>(</a:t>
            </a:r>
            <a:r>
              <a:rPr lang="en-US" altLang="zh-CN" sz="2500" b="1" dirty="0">
                <a:solidFill>
                  <a:srgbClr val="0000FF"/>
                </a:solidFill>
                <a:ea typeface="楷体_GB2312" pitchFamily="49" charset="-122"/>
              </a:rPr>
              <a:t>configuration of valence shell</a:t>
            </a:r>
            <a:r>
              <a:rPr lang="en-US" altLang="zh-CN" sz="2500" b="1" dirty="0" smtClean="0">
                <a:solidFill>
                  <a:srgbClr val="FF3300"/>
                </a:solidFill>
                <a:ea typeface="楷体_GB2312" pitchFamily="49" charset="-122"/>
              </a:rPr>
              <a:t>):</a:t>
            </a:r>
            <a:endParaRPr lang="en-US" altLang="zh-CN" sz="2500" b="1" dirty="0">
              <a:ea typeface="楷体_GB2312" pitchFamily="49" charset="-122"/>
            </a:endParaRPr>
          </a:p>
        </p:txBody>
      </p:sp>
      <p:sp>
        <p:nvSpPr>
          <p:cNvPr id="11" name="Rectangle 31"/>
          <p:cNvSpPr>
            <a:spLocks noChangeArrowheads="1"/>
          </p:cNvSpPr>
          <p:nvPr/>
        </p:nvSpPr>
        <p:spPr bwMode="auto">
          <a:xfrm>
            <a:off x="617538" y="3454400"/>
            <a:ext cx="10231437" cy="9382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10000"/>
              </a:lnSpc>
              <a:defRPr/>
            </a:pPr>
            <a:r>
              <a:rPr lang="en-US" altLang="zh-CN" sz="2500" b="1" dirty="0">
                <a:solidFill>
                  <a:srgbClr val="FF00FF"/>
                </a:solidFill>
                <a:ea typeface="楷体_GB2312"/>
              </a:rPr>
              <a:t>        </a:t>
            </a:r>
            <a:r>
              <a:rPr lang="zh-CN" altLang="en-US" sz="2500" b="1" dirty="0">
                <a:solidFill>
                  <a:srgbClr val="FF00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/>
              </a:rPr>
              <a:t>注意</a:t>
            </a:r>
            <a:r>
              <a:rPr lang="en-US" altLang="zh-CN" sz="2500" b="1" dirty="0">
                <a:solidFill>
                  <a:srgbClr val="FF00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/>
              </a:rPr>
              <a:t>:</a:t>
            </a:r>
            <a:r>
              <a:rPr lang="zh-CN" altLang="en-US" sz="2500" b="1" dirty="0">
                <a:ea typeface="楷体_GB2312"/>
              </a:rPr>
              <a:t>价电子层中的电子并非一定全是价电子</a:t>
            </a:r>
            <a:r>
              <a:rPr lang="en-US" altLang="zh-CN" sz="2500" b="1" dirty="0">
                <a:ea typeface="楷体_GB2312"/>
              </a:rPr>
              <a:t>.</a:t>
            </a:r>
          </a:p>
          <a:p>
            <a:pPr>
              <a:lnSpc>
                <a:spcPct val="110000"/>
              </a:lnSpc>
              <a:defRPr/>
            </a:pPr>
            <a:r>
              <a:rPr lang="zh-CN" altLang="en-US" sz="2500" b="1" dirty="0">
                <a:ea typeface="楷体_GB2312"/>
              </a:rPr>
              <a:t>如</a:t>
            </a:r>
            <a:r>
              <a:rPr lang="en-US" altLang="zh-CN" sz="2500" b="1" baseline="-25000" dirty="0">
                <a:ea typeface="楷体_GB2312"/>
              </a:rPr>
              <a:t>47</a:t>
            </a:r>
            <a:r>
              <a:rPr lang="en-US" altLang="zh-CN" sz="2500" b="1" dirty="0">
                <a:ea typeface="楷体_GB2312"/>
              </a:rPr>
              <a:t>Ag</a:t>
            </a:r>
            <a:r>
              <a:rPr lang="zh-CN" altLang="en-US" sz="2500" b="1" dirty="0">
                <a:ea typeface="楷体_GB2312"/>
              </a:rPr>
              <a:t>的价电子层构型为</a:t>
            </a:r>
            <a:r>
              <a:rPr lang="en-US" altLang="zh-CN" sz="2500" b="1" dirty="0">
                <a:ea typeface="楷体_GB2312"/>
              </a:rPr>
              <a:t>:</a:t>
            </a:r>
          </a:p>
        </p:txBody>
      </p:sp>
      <p:sp>
        <p:nvSpPr>
          <p:cNvPr id="12" name="Rectangle 33"/>
          <p:cNvSpPr>
            <a:spLocks noChangeArrowheads="1"/>
          </p:cNvSpPr>
          <p:nvPr/>
        </p:nvSpPr>
        <p:spPr bwMode="auto">
          <a:xfrm>
            <a:off x="4975225" y="2882900"/>
            <a:ext cx="504825" cy="477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500" b="1">
                <a:ea typeface="楷体_GB2312" pitchFamily="49" charset="-122"/>
              </a:rPr>
              <a:t>3</a:t>
            </a:r>
            <a:r>
              <a:rPr lang="en-US" altLang="zh-CN" sz="2500" b="1" i="1">
                <a:ea typeface="楷体_GB2312" pitchFamily="49" charset="-122"/>
              </a:rPr>
              <a:t>d</a:t>
            </a:r>
            <a:endParaRPr lang="en-US" altLang="zh-CN" sz="2500" b="1" baseline="30000">
              <a:ea typeface="楷体_GB2312" pitchFamily="49" charset="-122"/>
            </a:endParaRPr>
          </a:p>
        </p:txBody>
      </p:sp>
      <p:sp>
        <p:nvSpPr>
          <p:cNvPr id="13" name="Rectangle 34"/>
          <p:cNvSpPr>
            <a:spLocks noChangeArrowheads="1"/>
          </p:cNvSpPr>
          <p:nvPr/>
        </p:nvSpPr>
        <p:spPr bwMode="auto">
          <a:xfrm>
            <a:off x="5332413" y="2882900"/>
            <a:ext cx="292100" cy="349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500" b="1" baseline="30000">
                <a:ea typeface="楷体_GB2312" pitchFamily="49" charset="-122"/>
              </a:rPr>
              <a:t>5</a:t>
            </a:r>
          </a:p>
        </p:txBody>
      </p:sp>
      <p:sp>
        <p:nvSpPr>
          <p:cNvPr id="14" name="Rectangle 35"/>
          <p:cNvSpPr>
            <a:spLocks noChangeArrowheads="1"/>
          </p:cNvSpPr>
          <p:nvPr/>
        </p:nvSpPr>
        <p:spPr bwMode="auto">
          <a:xfrm>
            <a:off x="5546725" y="2882900"/>
            <a:ext cx="469900" cy="477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500" b="1">
                <a:ea typeface="楷体_GB2312" pitchFamily="49" charset="-122"/>
              </a:rPr>
              <a:t>4s</a:t>
            </a:r>
          </a:p>
        </p:txBody>
      </p:sp>
      <p:sp>
        <p:nvSpPr>
          <p:cNvPr id="15" name="Rectangle 36"/>
          <p:cNvSpPr>
            <a:spLocks noChangeArrowheads="1"/>
          </p:cNvSpPr>
          <p:nvPr/>
        </p:nvSpPr>
        <p:spPr bwMode="auto">
          <a:xfrm>
            <a:off x="5903913" y="2882900"/>
            <a:ext cx="292100" cy="349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500" b="1" baseline="30000">
                <a:ea typeface="楷体_GB2312" pitchFamily="49" charset="-122"/>
              </a:rPr>
              <a:t>2</a:t>
            </a:r>
          </a:p>
        </p:txBody>
      </p:sp>
      <p:sp>
        <p:nvSpPr>
          <p:cNvPr id="16" name="Rectangle 38"/>
          <p:cNvSpPr>
            <a:spLocks noChangeArrowheads="1"/>
          </p:cNvSpPr>
          <p:nvPr/>
        </p:nvSpPr>
        <p:spPr bwMode="auto">
          <a:xfrm>
            <a:off x="4403725" y="4025900"/>
            <a:ext cx="504825" cy="477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500" b="1">
                <a:ea typeface="楷体_GB2312" pitchFamily="49" charset="-122"/>
              </a:rPr>
              <a:t>4</a:t>
            </a:r>
            <a:r>
              <a:rPr lang="en-US" altLang="zh-CN" sz="2500" b="1" i="1">
                <a:ea typeface="楷体_GB2312" pitchFamily="49" charset="-122"/>
              </a:rPr>
              <a:t>d</a:t>
            </a:r>
            <a:endParaRPr lang="en-US" altLang="zh-CN" sz="2500" b="1" baseline="30000">
              <a:ea typeface="楷体_GB2312" pitchFamily="49" charset="-122"/>
            </a:endParaRPr>
          </a:p>
        </p:txBody>
      </p:sp>
      <p:sp>
        <p:nvSpPr>
          <p:cNvPr id="17" name="Rectangle 39"/>
          <p:cNvSpPr>
            <a:spLocks noChangeArrowheads="1"/>
          </p:cNvSpPr>
          <p:nvPr/>
        </p:nvSpPr>
        <p:spPr bwMode="auto">
          <a:xfrm>
            <a:off x="5046663" y="4025900"/>
            <a:ext cx="469900" cy="477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500" b="1">
                <a:ea typeface="楷体_GB2312" pitchFamily="49" charset="-122"/>
              </a:rPr>
              <a:t>5</a:t>
            </a:r>
            <a:r>
              <a:rPr lang="en-US" altLang="zh-CN" sz="2500" b="1" i="1">
                <a:ea typeface="楷体_GB2312" pitchFamily="49" charset="-122"/>
              </a:rPr>
              <a:t>s</a:t>
            </a:r>
            <a:endParaRPr lang="en-US" altLang="zh-CN" sz="2500" b="1">
              <a:ea typeface="楷体_GB2312" pitchFamily="49" charset="-122"/>
            </a:endParaRPr>
          </a:p>
        </p:txBody>
      </p:sp>
      <p:sp>
        <p:nvSpPr>
          <p:cNvPr id="18" name="Rectangle 40"/>
          <p:cNvSpPr>
            <a:spLocks noChangeArrowheads="1"/>
          </p:cNvSpPr>
          <p:nvPr/>
        </p:nvSpPr>
        <p:spPr bwMode="auto">
          <a:xfrm>
            <a:off x="4760913" y="3954463"/>
            <a:ext cx="400050" cy="349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500" b="1" baseline="30000">
                <a:ea typeface="楷体_GB2312" pitchFamily="49" charset="-122"/>
              </a:rPr>
              <a:t>10</a:t>
            </a:r>
          </a:p>
        </p:txBody>
      </p:sp>
      <p:sp>
        <p:nvSpPr>
          <p:cNvPr id="19" name="Rectangle 41"/>
          <p:cNvSpPr>
            <a:spLocks noChangeArrowheads="1"/>
          </p:cNvSpPr>
          <p:nvPr/>
        </p:nvSpPr>
        <p:spPr bwMode="auto">
          <a:xfrm>
            <a:off x="5403850" y="3954463"/>
            <a:ext cx="292100" cy="349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500" b="1" baseline="30000">
                <a:ea typeface="楷体_GB2312" pitchFamily="49" charset="-122"/>
              </a:rPr>
              <a:t>1</a:t>
            </a:r>
          </a:p>
        </p:txBody>
      </p:sp>
      <p:sp>
        <p:nvSpPr>
          <p:cNvPr id="20" name="Rectangle 43"/>
          <p:cNvSpPr>
            <a:spLocks noChangeArrowheads="1"/>
          </p:cNvSpPr>
          <p:nvPr/>
        </p:nvSpPr>
        <p:spPr bwMode="auto">
          <a:xfrm>
            <a:off x="1260475" y="4525963"/>
            <a:ext cx="3778250" cy="477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500" b="1" dirty="0">
                <a:ea typeface="楷体_GB2312" pitchFamily="49" charset="-122"/>
              </a:rPr>
              <a:t>Ag</a:t>
            </a:r>
            <a:r>
              <a:rPr lang="zh-CN" altLang="en-US" sz="2500" b="1" dirty="0">
                <a:ea typeface="楷体_GB2312" pitchFamily="49" charset="-122"/>
              </a:rPr>
              <a:t>的氧化值只有</a:t>
            </a:r>
            <a:r>
              <a:rPr lang="en-US" altLang="zh-CN" sz="2500" b="1" dirty="0">
                <a:ea typeface="楷体_GB2312" pitchFamily="49" charset="-122"/>
              </a:rPr>
              <a:t>+1,+2,+3.</a:t>
            </a:r>
          </a:p>
        </p:txBody>
      </p:sp>
      <p:sp>
        <p:nvSpPr>
          <p:cNvPr id="13325" name="Rectangle 52"/>
          <p:cNvSpPr>
            <a:spLocks noGrp="1" noChangeArrowheads="1"/>
          </p:cNvSpPr>
          <p:nvPr>
            <p:ph type="title"/>
          </p:nvPr>
        </p:nvSpPr>
        <p:spPr>
          <a:xfrm>
            <a:off x="576263" y="258763"/>
            <a:ext cx="10369550" cy="430212"/>
          </a:xfrm>
          <a:noFill/>
        </p:spPr>
        <p:txBody>
          <a:bodyPr/>
          <a:lstStyle/>
          <a:p>
            <a:r>
              <a:rPr lang="en-US" altLang="zh-CN" smtClean="0">
                <a:ea typeface="黑体" pitchFamily="49" charset="-122"/>
              </a:rPr>
              <a:t>7.3.1</a:t>
            </a:r>
            <a:r>
              <a:rPr lang="zh-CN" altLang="en-US" smtClean="0">
                <a:ea typeface="黑体" pitchFamily="49" charset="-122"/>
              </a:rPr>
              <a:t>多电子原子的核外电子排布</a:t>
            </a:r>
            <a:endParaRPr lang="zh-CN" altLang="en-US" b="0" smtClean="0">
              <a:ea typeface="黑体" pitchFamily="49" charset="-122"/>
            </a:endParaRPr>
          </a:p>
        </p:txBody>
      </p:sp>
      <p:sp>
        <p:nvSpPr>
          <p:cNvPr id="13326" name="Oval 27" descr="图片9">
            <a:hlinkClick r:id="" action="ppaction://hlinkshowjump?jump=nextslide"/>
          </p:cNvPr>
          <p:cNvSpPr>
            <a:spLocks noChangeAspect="1" noChangeArrowheads="1"/>
          </p:cNvSpPr>
          <p:nvPr/>
        </p:nvSpPr>
        <p:spPr bwMode="gray">
          <a:xfrm>
            <a:off x="11161713" y="5526088"/>
            <a:ext cx="360362" cy="360362"/>
          </a:xfrm>
          <a:prstGeom prst="ellipse">
            <a:avLst/>
          </a:prstGeom>
          <a:blipFill dpi="0" rotWithShape="1">
            <a:blip r:embed="rId3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>
              <a:ea typeface="黑体" pitchFamily="49" charset="-122"/>
              <a:cs typeface="楷体_GB2312" pitchFamily="49" charset="-122"/>
            </a:endParaRPr>
          </a:p>
        </p:txBody>
      </p:sp>
      <p:sp>
        <p:nvSpPr>
          <p:cNvPr id="13327" name="Oval 26" descr="图片8">
            <a:hlinkClick r:id="" action="ppaction://hlinkshowjump?jump=previousslide"/>
          </p:cNvPr>
          <p:cNvSpPr>
            <a:spLocks noChangeAspect="1" noChangeArrowheads="1"/>
          </p:cNvSpPr>
          <p:nvPr/>
        </p:nvSpPr>
        <p:spPr bwMode="gray">
          <a:xfrm>
            <a:off x="0" y="5526088"/>
            <a:ext cx="360363" cy="360362"/>
          </a:xfrm>
          <a:prstGeom prst="ellipse">
            <a:avLst/>
          </a:prstGeom>
          <a:blipFill dpi="0" rotWithShape="1">
            <a:blip r:embed="rId4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" name="Rectangle 26"/>
          <p:cNvSpPr>
            <a:spLocks noChangeArrowheads="1"/>
          </p:cNvSpPr>
          <p:nvPr/>
        </p:nvSpPr>
        <p:spPr bwMode="auto">
          <a:xfrm>
            <a:off x="647736" y="1311261"/>
            <a:ext cx="10328275" cy="20390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2500" b="1" dirty="0" smtClean="0">
                <a:solidFill>
                  <a:srgbClr val="FF3300"/>
                </a:solidFill>
                <a:ea typeface="楷体_GB2312" pitchFamily="49" charset="-122"/>
              </a:rPr>
              <a:t> </a:t>
            </a:r>
            <a:r>
              <a:rPr lang="zh-CN" altLang="en-US" sz="2500" b="1" dirty="0">
                <a:solidFill>
                  <a:srgbClr val="FF3300"/>
                </a:solidFill>
                <a:ea typeface="楷体_GB2312" pitchFamily="49" charset="-122"/>
              </a:rPr>
              <a:t>　价电子层</a:t>
            </a:r>
            <a:r>
              <a:rPr lang="en-US" altLang="zh-CN" sz="2500" b="1" dirty="0">
                <a:ea typeface="楷体_GB2312" pitchFamily="49" charset="-122"/>
              </a:rPr>
              <a:t>:</a:t>
            </a:r>
            <a:r>
              <a:rPr lang="zh-CN" altLang="en-US" sz="2500" b="1" dirty="0">
                <a:ea typeface="楷体_GB2312" pitchFamily="49" charset="-122"/>
              </a:rPr>
              <a:t>价电子</a:t>
            </a:r>
            <a:r>
              <a:rPr lang="en-US" altLang="zh-CN" sz="2500" b="1" dirty="0">
                <a:ea typeface="楷体_GB2312" pitchFamily="49" charset="-122"/>
              </a:rPr>
              <a:t>(</a:t>
            </a:r>
            <a:r>
              <a:rPr lang="en-US" altLang="zh-CN" sz="2500" b="1" dirty="0">
                <a:solidFill>
                  <a:srgbClr val="0000FF"/>
                </a:solidFill>
                <a:ea typeface="楷体_GB2312" pitchFamily="49" charset="-122"/>
              </a:rPr>
              <a:t>valence electrons</a:t>
            </a:r>
            <a:r>
              <a:rPr lang="en-US" altLang="zh-CN" sz="2500" b="1" dirty="0">
                <a:ea typeface="楷体_GB2312" pitchFamily="49" charset="-122"/>
              </a:rPr>
              <a:t>)</a:t>
            </a:r>
            <a:r>
              <a:rPr lang="zh-CN" altLang="en-US" sz="2500" b="1" dirty="0">
                <a:ea typeface="楷体_GB2312" pitchFamily="49" charset="-122"/>
              </a:rPr>
              <a:t>所在亚层</a:t>
            </a:r>
            <a:r>
              <a:rPr lang="en-US" altLang="zh-CN" sz="2500" b="1" dirty="0">
                <a:ea typeface="楷体_GB2312" pitchFamily="49" charset="-122"/>
              </a:rPr>
              <a:t>.</a:t>
            </a:r>
          </a:p>
          <a:p>
            <a:pPr>
              <a:lnSpc>
                <a:spcPct val="130000"/>
              </a:lnSpc>
            </a:pPr>
            <a:r>
              <a:rPr lang="en-US" altLang="zh-CN" sz="2500" b="1" dirty="0">
                <a:solidFill>
                  <a:srgbClr val="FF3300"/>
                </a:solidFill>
                <a:ea typeface="楷体_GB2312" pitchFamily="49" charset="-122"/>
              </a:rPr>
              <a:t>     </a:t>
            </a:r>
            <a:r>
              <a:rPr lang="zh-CN" altLang="en-US" sz="2500" b="1" dirty="0">
                <a:solidFill>
                  <a:srgbClr val="FF3300"/>
                </a:solidFill>
                <a:ea typeface="楷体_GB2312" pitchFamily="49" charset="-122"/>
              </a:rPr>
              <a:t>价电子</a:t>
            </a:r>
            <a:r>
              <a:rPr lang="en-US" altLang="zh-CN" sz="2500" b="1" dirty="0">
                <a:ea typeface="楷体_GB2312" pitchFamily="49" charset="-122"/>
              </a:rPr>
              <a:t>:</a:t>
            </a:r>
            <a:r>
              <a:rPr lang="zh-CN" altLang="en-US" sz="2500" b="1" dirty="0">
                <a:ea typeface="楷体_GB2312" pitchFamily="49" charset="-122"/>
              </a:rPr>
              <a:t>参加化学反应时能用于成键的电子</a:t>
            </a:r>
            <a:r>
              <a:rPr lang="en-US" altLang="zh-CN" sz="2500" b="1" dirty="0">
                <a:ea typeface="楷体_GB2312" pitchFamily="49" charset="-122"/>
              </a:rPr>
              <a:t>.</a:t>
            </a:r>
          </a:p>
          <a:p>
            <a:pPr>
              <a:lnSpc>
                <a:spcPct val="130000"/>
              </a:lnSpc>
            </a:pPr>
            <a:r>
              <a:rPr lang="zh-CN" altLang="en-US" sz="2500" b="1" dirty="0">
                <a:solidFill>
                  <a:srgbClr val="FF3300"/>
                </a:solidFill>
                <a:ea typeface="楷体_GB2312" pitchFamily="49" charset="-122"/>
              </a:rPr>
              <a:t>　</a:t>
            </a:r>
            <a:r>
              <a:rPr lang="zh-CN" altLang="en-US" sz="2500" b="1" dirty="0" smtClean="0">
                <a:solidFill>
                  <a:srgbClr val="FF3300"/>
                </a:solidFill>
                <a:ea typeface="楷体_GB2312" pitchFamily="49" charset="-122"/>
              </a:rPr>
              <a:t> 价电子</a:t>
            </a:r>
            <a:r>
              <a:rPr lang="zh-CN" altLang="en-US" sz="2500" b="1" dirty="0">
                <a:solidFill>
                  <a:srgbClr val="FF3300"/>
                </a:solidFill>
                <a:ea typeface="楷体_GB2312" pitchFamily="49" charset="-122"/>
              </a:rPr>
              <a:t>层构型</a:t>
            </a:r>
            <a:r>
              <a:rPr lang="en-US" altLang="zh-CN" sz="2500" b="1" dirty="0">
                <a:ea typeface="楷体_GB2312" pitchFamily="49" charset="-122"/>
              </a:rPr>
              <a:t>:</a:t>
            </a:r>
            <a:r>
              <a:rPr lang="zh-CN" altLang="en-US" sz="2500" b="1" dirty="0">
                <a:ea typeface="楷体_GB2312" pitchFamily="49" charset="-122"/>
              </a:rPr>
              <a:t>价电子层的电子排布式</a:t>
            </a:r>
            <a:r>
              <a:rPr lang="en-US" altLang="zh-CN" sz="2500" b="1" dirty="0">
                <a:ea typeface="楷体_GB2312" pitchFamily="49" charset="-122"/>
              </a:rPr>
              <a:t>.</a:t>
            </a:r>
          </a:p>
          <a:p>
            <a:pPr>
              <a:lnSpc>
                <a:spcPct val="130000"/>
              </a:lnSpc>
            </a:pPr>
            <a:r>
              <a:rPr lang="zh-CN" altLang="en-US" sz="2500" b="1" dirty="0">
                <a:ea typeface="楷体_GB2312" pitchFamily="49" charset="-122"/>
              </a:rPr>
              <a:t>         如</a:t>
            </a:r>
            <a:r>
              <a:rPr lang="en-US" altLang="zh-CN" sz="2500" b="1" baseline="-25000" dirty="0">
                <a:ea typeface="楷体_GB2312" pitchFamily="49" charset="-122"/>
              </a:rPr>
              <a:t>25</a:t>
            </a:r>
            <a:r>
              <a:rPr lang="en-US" altLang="zh-CN" sz="2500" b="1" dirty="0">
                <a:ea typeface="楷体_GB2312" pitchFamily="49" charset="-122"/>
              </a:rPr>
              <a:t>Mn</a:t>
            </a:r>
            <a:r>
              <a:rPr lang="zh-CN" altLang="en-US" sz="2500" b="1" dirty="0">
                <a:ea typeface="楷体_GB2312" pitchFamily="49" charset="-122"/>
              </a:rPr>
              <a:t>的价电子层构型</a:t>
            </a:r>
            <a:r>
              <a:rPr lang="en-US" altLang="zh-CN" sz="2500" b="1" dirty="0">
                <a:ea typeface="楷体_GB2312" pitchFamily="49" charset="-122"/>
              </a:rPr>
              <a:t>:</a:t>
            </a:r>
          </a:p>
        </p:txBody>
      </p:sp>
    </p:spTree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2" dur="50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7" dur="500"/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2" dur="500"/>
                                        <p:tgtEl>
                                          <p:spTgt spid="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7" dur="500"/>
                                        <p:tgtEl>
                                          <p:spTgt spid="2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4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4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52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57" dur="5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6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6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8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uild="p" autoUpdateAnimBg="0"/>
      <p:bldP spid="11" grpId="0" build="p" autoUpdateAnimBg="0"/>
      <p:bldP spid="12" grpId="0" autoUpdateAnimBg="0"/>
      <p:bldP spid="13" grpId="0" autoUpdateAnimBg="0"/>
      <p:bldP spid="14" grpId="0" autoUpdateAnimBg="0"/>
      <p:bldP spid="15" grpId="0" autoUpdateAnimBg="0"/>
      <p:bldP spid="16" grpId="0" autoUpdateAnimBg="0"/>
      <p:bldP spid="17" grpId="0" autoUpdateAnimBg="0"/>
      <p:bldP spid="18" grpId="0" autoUpdateAnimBg="0"/>
      <p:bldP spid="19" grpId="0" autoUpdateAnimBg="0"/>
      <p:bldP spid="20" grpId="0" autoUpdateAnimBg="0"/>
      <p:bldP spid="21" grpId="0" build="p" autoUpdateAnimBg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2"/>
          <p:cNvSpPr>
            <a:spLocks noChangeArrowheads="1"/>
          </p:cNvSpPr>
          <p:nvPr/>
        </p:nvSpPr>
        <p:spPr bwMode="auto">
          <a:xfrm>
            <a:off x="906463" y="2855906"/>
            <a:ext cx="10039350" cy="1362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10000"/>
              </a:lnSpc>
            </a:pPr>
            <a:r>
              <a:rPr lang="en-US" altLang="zh-CN" sz="2500" b="1">
                <a:solidFill>
                  <a:srgbClr val="FF3300"/>
                </a:solidFill>
                <a:ea typeface="楷体_GB2312" pitchFamily="49" charset="-122"/>
              </a:rPr>
              <a:t>(1)</a:t>
            </a:r>
            <a:r>
              <a:rPr lang="zh-CN" altLang="en-US" sz="2500" b="1">
                <a:solidFill>
                  <a:srgbClr val="FF3300"/>
                </a:solidFill>
                <a:ea typeface="楷体_GB2312" pitchFamily="49" charset="-122"/>
                <a:hlinkClick r:id="rId3" action="ppaction://hlinksldjump"/>
              </a:rPr>
              <a:t>主族元素与副族元素</a:t>
            </a:r>
            <a:r>
              <a:rPr lang="en-US" altLang="zh-CN" sz="2500" b="1">
                <a:solidFill>
                  <a:srgbClr val="FF3300"/>
                </a:solidFill>
                <a:ea typeface="楷体_GB2312" pitchFamily="49" charset="-122"/>
              </a:rPr>
              <a:t>:</a:t>
            </a:r>
            <a:endParaRPr lang="en-US" altLang="zh-CN" sz="2500" b="1">
              <a:ea typeface="楷体_GB2312" pitchFamily="49" charset="-122"/>
            </a:endParaRPr>
          </a:p>
          <a:p>
            <a:pPr>
              <a:lnSpc>
                <a:spcPct val="110000"/>
              </a:lnSpc>
            </a:pPr>
            <a:r>
              <a:rPr lang="en-US" altLang="zh-CN" sz="2500" b="1">
                <a:solidFill>
                  <a:srgbClr val="FF3300"/>
                </a:solidFill>
                <a:ea typeface="楷体_GB2312" pitchFamily="49" charset="-122"/>
              </a:rPr>
              <a:t>(2)</a:t>
            </a:r>
            <a:r>
              <a:rPr lang="zh-CN" altLang="en-US" sz="2500" b="1">
                <a:solidFill>
                  <a:srgbClr val="FF3300"/>
                </a:solidFill>
                <a:ea typeface="楷体_GB2312" pitchFamily="49" charset="-122"/>
              </a:rPr>
              <a:t>价电子数</a:t>
            </a:r>
            <a:r>
              <a:rPr lang="en-US" altLang="zh-CN" sz="2500" b="1">
                <a:solidFill>
                  <a:srgbClr val="FF3300"/>
                </a:solidFill>
                <a:ea typeface="楷体_GB2312" pitchFamily="49" charset="-122"/>
              </a:rPr>
              <a:t>:</a:t>
            </a:r>
          </a:p>
          <a:p>
            <a:pPr>
              <a:lnSpc>
                <a:spcPct val="110000"/>
              </a:lnSpc>
            </a:pPr>
            <a:r>
              <a:rPr lang="en-US" altLang="zh-CN" sz="2500" b="1">
                <a:ea typeface="楷体_GB2312" pitchFamily="49" charset="-122"/>
              </a:rPr>
              <a:t>        </a:t>
            </a:r>
            <a:r>
              <a:rPr lang="zh-CN" altLang="en-US" sz="2500" b="1">
                <a:ea typeface="楷体_GB2312" pitchFamily="49" charset="-122"/>
              </a:rPr>
              <a:t>主族元素 </a:t>
            </a:r>
            <a:r>
              <a:rPr lang="en-US" altLang="zh-CN" sz="2500" b="1">
                <a:ea typeface="楷体_GB2312" pitchFamily="49" charset="-122"/>
              </a:rPr>
              <a:t>= </a:t>
            </a:r>
            <a:r>
              <a:rPr lang="zh-CN" altLang="en-US" sz="2500" b="1" u="sng">
                <a:ea typeface="楷体_GB2312" pitchFamily="49" charset="-122"/>
              </a:rPr>
              <a:t>最外层</a:t>
            </a:r>
            <a:r>
              <a:rPr lang="en-US" altLang="zh-CN" sz="2500" b="1" i="1" u="sng">
                <a:ea typeface="楷体_GB2312" pitchFamily="49" charset="-122"/>
              </a:rPr>
              <a:t>s</a:t>
            </a:r>
            <a:r>
              <a:rPr lang="zh-CN" altLang="en-US" sz="2500" b="1" u="sng">
                <a:ea typeface="楷体_GB2312" pitchFamily="49" charset="-122"/>
              </a:rPr>
              <a:t>、</a:t>
            </a:r>
            <a:r>
              <a:rPr lang="en-US" altLang="zh-CN" sz="2500" b="1" i="1" u="sng">
                <a:ea typeface="楷体_GB2312" pitchFamily="49" charset="-122"/>
              </a:rPr>
              <a:t>p</a:t>
            </a:r>
            <a:r>
              <a:rPr lang="zh-CN" altLang="en-US" sz="2500" b="1" u="sng">
                <a:ea typeface="楷体_GB2312" pitchFamily="49" charset="-122"/>
              </a:rPr>
              <a:t>电子总数</a:t>
            </a:r>
          </a:p>
        </p:txBody>
      </p:sp>
      <p:sp>
        <p:nvSpPr>
          <p:cNvPr id="82947" name="Rectangle 3"/>
          <p:cNvSpPr>
            <a:spLocks noChangeArrowheads="1"/>
          </p:cNvSpPr>
          <p:nvPr/>
        </p:nvSpPr>
        <p:spPr bwMode="auto">
          <a:xfrm>
            <a:off x="831850" y="954088"/>
            <a:ext cx="2282825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500" b="1" dirty="0">
                <a:solidFill>
                  <a:srgbClr val="FF3300"/>
                </a:solidFill>
                <a:ea typeface="楷体_GB2312" pitchFamily="49" charset="-122"/>
              </a:rPr>
              <a:t>1.</a:t>
            </a:r>
            <a:r>
              <a:rPr lang="zh-CN" altLang="en-US" sz="2500" b="1" dirty="0">
                <a:solidFill>
                  <a:srgbClr val="FF3300"/>
                </a:solidFill>
                <a:ea typeface="楷体_GB2312" pitchFamily="49" charset="-122"/>
              </a:rPr>
              <a:t>周期</a:t>
            </a:r>
            <a:r>
              <a:rPr lang="en-US" altLang="zh-CN" sz="2500" b="1" dirty="0">
                <a:solidFill>
                  <a:srgbClr val="FF3300"/>
                </a:solidFill>
                <a:ea typeface="楷体_GB2312" pitchFamily="49" charset="-122"/>
              </a:rPr>
              <a:t>(</a:t>
            </a:r>
            <a:r>
              <a:rPr lang="en-US" altLang="zh-CN" sz="2500" b="1" dirty="0">
                <a:solidFill>
                  <a:srgbClr val="0000FF"/>
                </a:solidFill>
                <a:ea typeface="楷体_GB2312" pitchFamily="49" charset="-122"/>
              </a:rPr>
              <a:t>period</a:t>
            </a:r>
            <a:r>
              <a:rPr lang="en-US" altLang="zh-CN" sz="2500" b="1" dirty="0">
                <a:solidFill>
                  <a:srgbClr val="FF3300"/>
                </a:solidFill>
                <a:ea typeface="楷体_GB2312" pitchFamily="49" charset="-122"/>
              </a:rPr>
              <a:t>):</a:t>
            </a:r>
          </a:p>
        </p:txBody>
      </p:sp>
      <p:sp>
        <p:nvSpPr>
          <p:cNvPr id="82948" name="Rectangle 4"/>
          <p:cNvSpPr>
            <a:spLocks noChangeArrowheads="1"/>
          </p:cNvSpPr>
          <p:nvPr/>
        </p:nvSpPr>
        <p:spPr bwMode="auto">
          <a:xfrm>
            <a:off x="906463" y="1460500"/>
            <a:ext cx="10390187" cy="9382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10000"/>
              </a:lnSpc>
            </a:pPr>
            <a:r>
              <a:rPr lang="zh-CN" altLang="en-US" sz="2500" b="1">
                <a:ea typeface="楷体_GB2312" pitchFamily="49" charset="-122"/>
              </a:rPr>
              <a:t>　　周期号数 </a:t>
            </a:r>
            <a:r>
              <a:rPr lang="en-US" altLang="zh-CN" sz="2500" b="1">
                <a:ea typeface="楷体_GB2312" pitchFamily="49" charset="-122"/>
              </a:rPr>
              <a:t>= </a:t>
            </a:r>
            <a:r>
              <a:rPr lang="zh-CN" altLang="en-US" sz="2500" b="1">
                <a:ea typeface="楷体_GB2312" pitchFamily="49" charset="-122"/>
              </a:rPr>
              <a:t>电子层数</a:t>
            </a:r>
            <a:r>
              <a:rPr lang="en-US" altLang="zh-CN" sz="2500" b="1">
                <a:ea typeface="楷体_GB2312" pitchFamily="49" charset="-122"/>
              </a:rPr>
              <a:t>(Pd</a:t>
            </a:r>
            <a:r>
              <a:rPr lang="zh-CN" altLang="en-US" sz="2500" b="1">
                <a:ea typeface="楷体_GB2312" pitchFamily="49" charset="-122"/>
              </a:rPr>
              <a:t>除外</a:t>
            </a:r>
            <a:r>
              <a:rPr lang="en-US" altLang="zh-CN" sz="2500" b="1">
                <a:ea typeface="楷体_GB2312" pitchFamily="49" charset="-122"/>
              </a:rPr>
              <a:t>).</a:t>
            </a:r>
          </a:p>
          <a:p>
            <a:pPr>
              <a:lnSpc>
                <a:spcPct val="110000"/>
              </a:lnSpc>
            </a:pPr>
            <a:r>
              <a:rPr lang="zh-CN" altLang="en-US" sz="2500" b="1">
                <a:solidFill>
                  <a:schemeClr val="hlink"/>
                </a:solidFill>
                <a:ea typeface="楷体_GB2312" pitchFamily="49" charset="-122"/>
              </a:rPr>
              <a:t>　　</a:t>
            </a:r>
            <a:r>
              <a:rPr lang="zh-CN" altLang="en-US" sz="2500" b="1">
                <a:solidFill>
                  <a:schemeClr val="hlink"/>
                </a:solidFill>
                <a:ea typeface="楷体_GB2312" pitchFamily="49" charset="-122"/>
                <a:hlinkClick r:id="rId4" action="ppaction://hlinksldjump"/>
              </a:rPr>
              <a:t>各周期元素的数目</a:t>
            </a:r>
            <a:r>
              <a:rPr lang="en-US" altLang="zh-CN" sz="2500" b="1">
                <a:ea typeface="楷体_GB2312" pitchFamily="49" charset="-122"/>
              </a:rPr>
              <a:t>= </a:t>
            </a:r>
            <a:r>
              <a:rPr lang="zh-CN" altLang="en-US" sz="2500" b="1">
                <a:ea typeface="楷体_GB2312" pitchFamily="49" charset="-122"/>
              </a:rPr>
              <a:t>相应能级组中原子轨道所能容纳的电子总数</a:t>
            </a:r>
            <a:r>
              <a:rPr lang="en-US" altLang="zh-CN" sz="2500" b="1">
                <a:ea typeface="楷体_GB2312" pitchFamily="49" charset="-122"/>
              </a:rPr>
              <a:t>.</a:t>
            </a:r>
          </a:p>
        </p:txBody>
      </p:sp>
      <p:sp>
        <p:nvSpPr>
          <p:cNvPr id="82949" name="Rectangle 5"/>
          <p:cNvSpPr>
            <a:spLocks noChangeArrowheads="1"/>
          </p:cNvSpPr>
          <p:nvPr/>
        </p:nvSpPr>
        <p:spPr bwMode="auto">
          <a:xfrm>
            <a:off x="906463" y="2454269"/>
            <a:ext cx="1882775" cy="477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500" b="1">
                <a:solidFill>
                  <a:srgbClr val="FF3300"/>
                </a:solidFill>
                <a:ea typeface="楷体_GB2312" pitchFamily="49" charset="-122"/>
              </a:rPr>
              <a:t>2.</a:t>
            </a:r>
            <a:r>
              <a:rPr lang="zh-CN" altLang="en-US" sz="2500" b="1">
                <a:solidFill>
                  <a:srgbClr val="FF3300"/>
                </a:solidFill>
                <a:ea typeface="楷体_GB2312" pitchFamily="49" charset="-122"/>
              </a:rPr>
              <a:t>族</a:t>
            </a:r>
            <a:r>
              <a:rPr lang="en-US" altLang="zh-CN" sz="2500" b="1">
                <a:solidFill>
                  <a:srgbClr val="FF3300"/>
                </a:solidFill>
                <a:ea typeface="楷体_GB2312" pitchFamily="49" charset="-122"/>
              </a:rPr>
              <a:t>(</a:t>
            </a:r>
            <a:r>
              <a:rPr lang="en-US" altLang="zh-CN" sz="2500" b="1">
                <a:solidFill>
                  <a:srgbClr val="0000FF"/>
                </a:solidFill>
                <a:ea typeface="楷体_GB2312" pitchFamily="49" charset="-122"/>
              </a:rPr>
              <a:t>group</a:t>
            </a:r>
            <a:r>
              <a:rPr lang="en-US" altLang="zh-CN" sz="2500" b="1">
                <a:solidFill>
                  <a:srgbClr val="FF3300"/>
                </a:solidFill>
                <a:ea typeface="楷体_GB2312" pitchFamily="49" charset="-122"/>
              </a:rPr>
              <a:t>):</a:t>
            </a:r>
          </a:p>
        </p:txBody>
      </p:sp>
      <p:sp>
        <p:nvSpPr>
          <p:cNvPr id="14342" name="Rectangle 6"/>
          <p:cNvSpPr>
            <a:spLocks noGrp="1" noChangeArrowheads="1"/>
          </p:cNvSpPr>
          <p:nvPr>
            <p:ph type="title"/>
          </p:nvPr>
        </p:nvSpPr>
        <p:spPr>
          <a:xfrm>
            <a:off x="576263" y="258763"/>
            <a:ext cx="10369550" cy="677862"/>
          </a:xfrm>
          <a:noFill/>
        </p:spPr>
        <p:txBody>
          <a:bodyPr/>
          <a:lstStyle/>
          <a:p>
            <a:r>
              <a:rPr lang="en-US" altLang="zh-CN" smtClean="0">
                <a:ea typeface="黑体" pitchFamily="49" charset="-122"/>
              </a:rPr>
              <a:t>7.3.2</a:t>
            </a:r>
            <a:r>
              <a:rPr lang="zh-CN" altLang="en-US" smtClean="0">
                <a:ea typeface="黑体" pitchFamily="49" charset="-122"/>
              </a:rPr>
              <a:t>原子的电子层结构和元素周期系</a:t>
            </a:r>
            <a:br>
              <a:rPr lang="zh-CN" altLang="en-US" smtClean="0">
                <a:ea typeface="黑体" pitchFamily="49" charset="-122"/>
              </a:rPr>
            </a:br>
            <a:endParaRPr lang="zh-CN" altLang="en-US" sz="1600" b="0" u="sng" smtClean="0">
              <a:solidFill>
                <a:schemeClr val="accent2"/>
              </a:solidFill>
              <a:ea typeface="黑体" pitchFamily="49" charset="-122"/>
            </a:endParaRPr>
          </a:p>
        </p:txBody>
      </p:sp>
      <p:sp>
        <p:nvSpPr>
          <p:cNvPr id="82951" name="Rectangle 7"/>
          <p:cNvSpPr>
            <a:spLocks noChangeArrowheads="1"/>
          </p:cNvSpPr>
          <p:nvPr/>
        </p:nvSpPr>
        <p:spPr bwMode="auto">
          <a:xfrm>
            <a:off x="906463" y="4183056"/>
            <a:ext cx="10039350" cy="4810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10000"/>
              </a:lnSpc>
            </a:pPr>
            <a:r>
              <a:rPr lang="en-US" altLang="zh-CN" sz="2500" b="1" dirty="0">
                <a:ea typeface="楷体_GB2312" pitchFamily="49" charset="-122"/>
              </a:rPr>
              <a:t>        </a:t>
            </a:r>
            <a:r>
              <a:rPr lang="en-US" altLang="zh-CN" sz="2500" b="1" dirty="0" err="1">
                <a:ea typeface="楷体_GB2312" pitchFamily="49" charset="-122"/>
              </a:rPr>
              <a:t>ⅠB</a:t>
            </a:r>
            <a:r>
              <a:rPr lang="zh-CN" altLang="en-US" sz="2500" b="1" dirty="0">
                <a:ea typeface="楷体_GB2312" pitchFamily="49" charset="-122"/>
              </a:rPr>
              <a:t>、</a:t>
            </a:r>
            <a:r>
              <a:rPr lang="en-US" altLang="zh-CN" sz="2500" b="1" dirty="0" err="1">
                <a:ea typeface="楷体_GB2312" pitchFamily="49" charset="-122"/>
              </a:rPr>
              <a:t>ⅡB</a:t>
            </a:r>
            <a:r>
              <a:rPr lang="zh-CN" altLang="en-US" sz="2500" b="1" dirty="0">
                <a:ea typeface="楷体_GB2312" pitchFamily="49" charset="-122"/>
              </a:rPr>
              <a:t>副族元素 </a:t>
            </a:r>
            <a:r>
              <a:rPr lang="en-US" altLang="zh-CN" sz="2500" b="1" dirty="0">
                <a:ea typeface="楷体_GB2312" pitchFamily="49" charset="-122"/>
              </a:rPr>
              <a:t>= </a:t>
            </a:r>
            <a:r>
              <a:rPr lang="zh-CN" altLang="en-US" sz="2500" b="1" u="sng" dirty="0">
                <a:ea typeface="楷体_GB2312" pitchFamily="49" charset="-122"/>
              </a:rPr>
              <a:t>最外层</a:t>
            </a:r>
            <a:r>
              <a:rPr lang="en-US" altLang="zh-CN" sz="2500" b="1" i="1" u="sng" dirty="0">
                <a:ea typeface="楷体_GB2312" pitchFamily="49" charset="-122"/>
              </a:rPr>
              <a:t>s</a:t>
            </a:r>
            <a:r>
              <a:rPr lang="zh-CN" altLang="en-US" sz="2500" b="1" u="sng" dirty="0">
                <a:ea typeface="楷体_GB2312" pitchFamily="49" charset="-122"/>
              </a:rPr>
              <a:t>电子数目</a:t>
            </a:r>
            <a:r>
              <a:rPr lang="en-US" altLang="zh-CN" sz="2500" b="1" dirty="0">
                <a:ea typeface="楷体_GB2312" pitchFamily="49" charset="-122"/>
              </a:rPr>
              <a:t>;</a:t>
            </a:r>
          </a:p>
        </p:txBody>
      </p:sp>
      <p:sp>
        <p:nvSpPr>
          <p:cNvPr id="14344" name="Oval 27" descr="图片9">
            <a:hlinkClick r:id="rId5" action="ppaction://hlinksldjump"/>
          </p:cNvPr>
          <p:cNvSpPr>
            <a:spLocks noChangeAspect="1" noChangeArrowheads="1"/>
          </p:cNvSpPr>
          <p:nvPr/>
        </p:nvSpPr>
        <p:spPr bwMode="gray">
          <a:xfrm>
            <a:off x="11161713" y="5526088"/>
            <a:ext cx="360362" cy="360362"/>
          </a:xfrm>
          <a:prstGeom prst="ellipse">
            <a:avLst/>
          </a:prstGeom>
          <a:blipFill dpi="0" rotWithShape="1">
            <a:blip r:embed="rId6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>
              <a:ea typeface="黑体" pitchFamily="49" charset="-122"/>
              <a:cs typeface="楷体_GB2312" pitchFamily="49" charset="-122"/>
            </a:endParaRPr>
          </a:p>
        </p:txBody>
      </p:sp>
      <p:sp>
        <p:nvSpPr>
          <p:cNvPr id="14345" name="Oval 26" descr="图片8">
            <a:hlinkClick r:id="" action="ppaction://hlinkshowjump?jump=previousslide"/>
          </p:cNvPr>
          <p:cNvSpPr>
            <a:spLocks noChangeAspect="1" noChangeArrowheads="1"/>
          </p:cNvSpPr>
          <p:nvPr/>
        </p:nvSpPr>
        <p:spPr bwMode="gray">
          <a:xfrm>
            <a:off x="0" y="5526088"/>
            <a:ext cx="360363" cy="360362"/>
          </a:xfrm>
          <a:prstGeom prst="ellipse">
            <a:avLst/>
          </a:prstGeom>
          <a:blipFill dpi="0" rotWithShape="1">
            <a:blip r:embed="rId7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7" dur="500"/>
                                        <p:tgtEl>
                                          <p:spTgt spid="829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829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4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8294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22" dur="500"/>
                                        <p:tgtEl>
                                          <p:spTgt spid="829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829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500"/>
                                        <p:tgtEl>
                                          <p:spTgt spid="829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7" dur="500"/>
                                        <p:tgtEl>
                                          <p:spTgt spid="829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2" dur="500"/>
                                        <p:tgtEl>
                                          <p:spTgt spid="8295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NOTIFY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2946" grpId="0" build="p" autoUpdateAnimBg="0"/>
      <p:bldP spid="82947" grpId="0" autoUpdateAnimBg="0"/>
      <p:bldP spid="82948" grpId="0" build="p" autoUpdateAnimBg="0"/>
      <p:bldP spid="82949" grpId="0" autoUpdateAnimBg="0"/>
      <p:bldP spid="82951" grpId="0" autoUpdateAnimBg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1" name="Rectangle 3"/>
          <p:cNvSpPr>
            <a:spLocks noChangeArrowheads="1"/>
          </p:cNvSpPr>
          <p:nvPr/>
        </p:nvSpPr>
        <p:spPr bwMode="auto">
          <a:xfrm>
            <a:off x="3117850" y="1025525"/>
            <a:ext cx="4695825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sz="2500" b="1">
                <a:solidFill>
                  <a:srgbClr val="00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_GB2312"/>
                <a:ea typeface="黑体" pitchFamily="2" charset="-122"/>
              </a:rPr>
              <a:t>各周期元素与相应能级组的关系</a:t>
            </a:r>
            <a:endParaRPr lang="zh-CN" altLang="en-US" sz="2500" b="1">
              <a:solidFill>
                <a:srgbClr val="00FF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楷体_GB2312"/>
            </a:endParaRPr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452438" y="1597025"/>
            <a:ext cx="10429875" cy="3714750"/>
            <a:chOff x="226" y="1065"/>
            <a:chExt cx="5214" cy="2222"/>
          </a:xfrm>
        </p:grpSpPr>
        <p:sp>
          <p:nvSpPr>
            <p:cNvPr id="83973" name="Rectangle 5"/>
            <p:cNvSpPr>
              <a:spLocks noChangeArrowheads="1"/>
            </p:cNvSpPr>
            <p:nvPr/>
          </p:nvSpPr>
          <p:spPr bwMode="auto">
            <a:xfrm>
              <a:off x="226" y="1065"/>
              <a:ext cx="4982" cy="28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zh-CN" sz="2500" b="1">
                  <a:solidFill>
                    <a:srgbClr val="FF0066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ea typeface="黑体" pitchFamily="2" charset="-122"/>
                </a:rPr>
                <a:t> </a:t>
              </a:r>
              <a:r>
                <a:rPr lang="zh-CN" altLang="en-US" sz="2500" b="1">
                  <a:solidFill>
                    <a:srgbClr val="FF0066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ea typeface="黑体" pitchFamily="2" charset="-122"/>
                </a:rPr>
                <a:t>周期  能级组 能级中原子轨道                   电子最大容量    元素数目</a:t>
              </a:r>
              <a:r>
                <a:rPr lang="zh-CN" altLang="en-US" sz="2500" b="1"/>
                <a:t>   </a:t>
              </a:r>
            </a:p>
          </p:txBody>
        </p:sp>
        <p:sp>
          <p:nvSpPr>
            <p:cNvPr id="15376" name="Line 6"/>
            <p:cNvSpPr>
              <a:spLocks noChangeShapeType="1"/>
            </p:cNvSpPr>
            <p:nvPr/>
          </p:nvSpPr>
          <p:spPr bwMode="auto">
            <a:xfrm>
              <a:off x="226" y="1065"/>
              <a:ext cx="521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377" name="Line 7"/>
            <p:cNvSpPr>
              <a:spLocks noChangeShapeType="1"/>
            </p:cNvSpPr>
            <p:nvPr/>
          </p:nvSpPr>
          <p:spPr bwMode="auto">
            <a:xfrm>
              <a:off x="226" y="1360"/>
              <a:ext cx="521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378" name="Line 8"/>
            <p:cNvSpPr>
              <a:spLocks noChangeShapeType="1"/>
            </p:cNvSpPr>
            <p:nvPr/>
          </p:nvSpPr>
          <p:spPr bwMode="auto">
            <a:xfrm>
              <a:off x="226" y="3287"/>
              <a:ext cx="521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83977" name="Rectangle 9"/>
          <p:cNvSpPr>
            <a:spLocks noChangeArrowheads="1"/>
          </p:cNvSpPr>
          <p:nvPr/>
        </p:nvSpPr>
        <p:spPr bwMode="auto">
          <a:xfrm>
            <a:off x="452438" y="2039938"/>
            <a:ext cx="3760787" cy="27860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500" b="1"/>
              <a:t>   1         1       1</a:t>
            </a:r>
            <a:r>
              <a:rPr lang="en-US" altLang="zh-CN" sz="2500" b="1" i="1"/>
              <a:t>s</a:t>
            </a:r>
            <a:endParaRPr lang="en-US" altLang="zh-CN" sz="2500" b="1"/>
          </a:p>
          <a:p>
            <a:r>
              <a:rPr lang="en-US" altLang="zh-CN" sz="2500" b="1"/>
              <a:t>   2         2       2</a:t>
            </a:r>
            <a:r>
              <a:rPr lang="en-US" altLang="zh-CN" sz="2500" b="1" i="1"/>
              <a:t>s</a:t>
            </a:r>
            <a:r>
              <a:rPr lang="en-US" altLang="zh-CN" sz="2500" b="1"/>
              <a:t>2</a:t>
            </a:r>
            <a:r>
              <a:rPr lang="en-US" altLang="zh-CN" sz="2500" b="1" i="1"/>
              <a:t>p</a:t>
            </a:r>
          </a:p>
          <a:p>
            <a:r>
              <a:rPr lang="en-US" altLang="zh-CN" sz="2500" b="1"/>
              <a:t>   3         3       3</a:t>
            </a:r>
            <a:r>
              <a:rPr lang="en-US" altLang="zh-CN" sz="2500" b="1" i="1"/>
              <a:t>s</a:t>
            </a:r>
            <a:r>
              <a:rPr lang="en-US" altLang="zh-CN" sz="2500" b="1"/>
              <a:t>3</a:t>
            </a:r>
            <a:r>
              <a:rPr lang="en-US" altLang="zh-CN" sz="2500" b="1" i="1"/>
              <a:t>p</a:t>
            </a:r>
            <a:endParaRPr lang="en-US" altLang="zh-CN" sz="2500" b="1"/>
          </a:p>
          <a:p>
            <a:r>
              <a:rPr lang="en-US" altLang="zh-CN" sz="2500" b="1"/>
              <a:t>   4         4       4</a:t>
            </a:r>
            <a:r>
              <a:rPr lang="en-US" altLang="zh-CN" sz="2500" b="1" i="1"/>
              <a:t>s</a:t>
            </a:r>
            <a:r>
              <a:rPr lang="en-US" altLang="zh-CN" sz="2500" b="1"/>
              <a:t>3</a:t>
            </a:r>
            <a:r>
              <a:rPr lang="en-US" altLang="zh-CN" sz="2500" b="1" i="1"/>
              <a:t>d</a:t>
            </a:r>
            <a:r>
              <a:rPr lang="en-US" altLang="zh-CN" sz="2500" b="1"/>
              <a:t>4</a:t>
            </a:r>
            <a:r>
              <a:rPr lang="en-US" altLang="zh-CN" sz="2500" b="1" i="1"/>
              <a:t>p</a:t>
            </a:r>
            <a:r>
              <a:rPr lang="en-US" altLang="zh-CN" sz="2500" b="1"/>
              <a:t> </a:t>
            </a:r>
          </a:p>
          <a:p>
            <a:r>
              <a:rPr lang="en-US" altLang="zh-CN" sz="2500" b="1"/>
              <a:t>   5         5       5</a:t>
            </a:r>
            <a:r>
              <a:rPr lang="en-US" altLang="zh-CN" sz="2500" b="1" i="1"/>
              <a:t>s</a:t>
            </a:r>
            <a:r>
              <a:rPr lang="en-US" altLang="zh-CN" sz="2500" b="1"/>
              <a:t>4</a:t>
            </a:r>
            <a:r>
              <a:rPr lang="en-US" altLang="zh-CN" sz="2500" b="1" i="1"/>
              <a:t>d</a:t>
            </a:r>
            <a:r>
              <a:rPr lang="en-US" altLang="zh-CN" sz="2500" b="1"/>
              <a:t>5</a:t>
            </a:r>
            <a:r>
              <a:rPr lang="en-US" altLang="zh-CN" sz="2500" b="1" i="1"/>
              <a:t>p</a:t>
            </a:r>
            <a:endParaRPr lang="en-US" altLang="zh-CN" sz="2500" b="1"/>
          </a:p>
          <a:p>
            <a:r>
              <a:rPr lang="en-US" altLang="zh-CN" sz="2500" b="1"/>
              <a:t>   6         6       6</a:t>
            </a:r>
            <a:r>
              <a:rPr lang="en-US" altLang="zh-CN" sz="2500" b="1" i="1"/>
              <a:t>s</a:t>
            </a:r>
            <a:r>
              <a:rPr lang="en-US" altLang="zh-CN" sz="2500" b="1"/>
              <a:t>4</a:t>
            </a:r>
            <a:r>
              <a:rPr lang="en-US" altLang="zh-CN" sz="2500" b="1" i="1"/>
              <a:t>f</a:t>
            </a:r>
            <a:r>
              <a:rPr lang="en-US" altLang="zh-CN" sz="2500" b="1"/>
              <a:t>5</a:t>
            </a:r>
            <a:r>
              <a:rPr lang="en-US" altLang="zh-CN" sz="2500" b="1" i="1"/>
              <a:t>d</a:t>
            </a:r>
            <a:r>
              <a:rPr lang="en-US" altLang="zh-CN" sz="2500" b="1"/>
              <a:t>6</a:t>
            </a:r>
            <a:r>
              <a:rPr lang="en-US" altLang="zh-CN" sz="2500" b="1" i="1"/>
              <a:t>p</a:t>
            </a:r>
            <a:r>
              <a:rPr lang="en-US" altLang="zh-CN" sz="2500" b="1"/>
              <a:t> </a:t>
            </a:r>
          </a:p>
          <a:p>
            <a:r>
              <a:rPr lang="en-US" altLang="zh-CN" sz="2500" b="1"/>
              <a:t>   7         7       7</a:t>
            </a:r>
            <a:r>
              <a:rPr lang="en-US" altLang="zh-CN" sz="2500" b="1" i="1"/>
              <a:t>s</a:t>
            </a:r>
            <a:r>
              <a:rPr lang="en-US" altLang="zh-CN" sz="2500" b="1"/>
              <a:t>5</a:t>
            </a:r>
            <a:r>
              <a:rPr lang="en-US" altLang="zh-CN" sz="2500" b="1" i="1"/>
              <a:t>f</a:t>
            </a:r>
            <a:r>
              <a:rPr lang="en-US" altLang="zh-CN" sz="2500" b="1"/>
              <a:t>6</a:t>
            </a:r>
            <a:r>
              <a:rPr lang="en-US" altLang="zh-CN" sz="2500" b="1" i="1"/>
              <a:t>d</a:t>
            </a:r>
            <a:r>
              <a:rPr lang="en-US" altLang="zh-CN" sz="2500" b="1"/>
              <a:t>(</a:t>
            </a:r>
            <a:r>
              <a:rPr lang="zh-CN" altLang="en-US" sz="2500" b="1"/>
              <a:t>未完</a:t>
            </a:r>
            <a:r>
              <a:rPr lang="en-US" altLang="zh-CN" sz="2500" b="1"/>
              <a:t>)</a:t>
            </a:r>
          </a:p>
        </p:txBody>
      </p:sp>
      <p:sp>
        <p:nvSpPr>
          <p:cNvPr id="83978" name="Rectangle 10"/>
          <p:cNvSpPr>
            <a:spLocks noChangeArrowheads="1"/>
          </p:cNvSpPr>
          <p:nvPr/>
        </p:nvSpPr>
        <p:spPr bwMode="auto">
          <a:xfrm>
            <a:off x="7073900" y="2039938"/>
            <a:ext cx="1947863" cy="477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500" b="1"/>
              <a:t>2                  2</a:t>
            </a:r>
          </a:p>
        </p:txBody>
      </p:sp>
      <p:sp>
        <p:nvSpPr>
          <p:cNvPr id="83979" name="Rectangle 11"/>
          <p:cNvSpPr>
            <a:spLocks noChangeArrowheads="1"/>
          </p:cNvSpPr>
          <p:nvPr/>
        </p:nvSpPr>
        <p:spPr bwMode="auto">
          <a:xfrm>
            <a:off x="7073900" y="2447925"/>
            <a:ext cx="1947863" cy="477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500" b="1"/>
              <a:t>8                  8</a:t>
            </a:r>
          </a:p>
        </p:txBody>
      </p:sp>
      <p:sp>
        <p:nvSpPr>
          <p:cNvPr id="83980" name="Rectangle 12"/>
          <p:cNvSpPr>
            <a:spLocks noChangeArrowheads="1"/>
          </p:cNvSpPr>
          <p:nvPr/>
        </p:nvSpPr>
        <p:spPr bwMode="auto">
          <a:xfrm>
            <a:off x="7073900" y="2855913"/>
            <a:ext cx="1947863" cy="477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500" b="1"/>
              <a:t>8                  8</a:t>
            </a:r>
          </a:p>
        </p:txBody>
      </p:sp>
      <p:sp>
        <p:nvSpPr>
          <p:cNvPr id="83981" name="Rectangle 13"/>
          <p:cNvSpPr>
            <a:spLocks noChangeArrowheads="1"/>
          </p:cNvSpPr>
          <p:nvPr/>
        </p:nvSpPr>
        <p:spPr bwMode="auto">
          <a:xfrm>
            <a:off x="6937375" y="3263900"/>
            <a:ext cx="2108200" cy="477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500" b="1"/>
              <a:t>18                18</a:t>
            </a:r>
          </a:p>
        </p:txBody>
      </p:sp>
      <p:sp>
        <p:nvSpPr>
          <p:cNvPr id="83982" name="Rectangle 14"/>
          <p:cNvSpPr>
            <a:spLocks noChangeArrowheads="1"/>
          </p:cNvSpPr>
          <p:nvPr/>
        </p:nvSpPr>
        <p:spPr bwMode="auto">
          <a:xfrm>
            <a:off x="6937375" y="3671888"/>
            <a:ext cx="2108200" cy="477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500" b="1"/>
              <a:t>18                18</a:t>
            </a:r>
          </a:p>
        </p:txBody>
      </p:sp>
      <p:sp>
        <p:nvSpPr>
          <p:cNvPr id="83983" name="Rectangle 15"/>
          <p:cNvSpPr>
            <a:spLocks noChangeArrowheads="1"/>
          </p:cNvSpPr>
          <p:nvPr/>
        </p:nvSpPr>
        <p:spPr bwMode="auto">
          <a:xfrm>
            <a:off x="6937375" y="4079875"/>
            <a:ext cx="2108200" cy="477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500" b="1"/>
              <a:t>32                32</a:t>
            </a:r>
          </a:p>
        </p:txBody>
      </p:sp>
      <p:sp>
        <p:nvSpPr>
          <p:cNvPr id="83984" name="Rectangle 16"/>
          <p:cNvSpPr>
            <a:spLocks noChangeArrowheads="1"/>
          </p:cNvSpPr>
          <p:nvPr/>
        </p:nvSpPr>
        <p:spPr bwMode="auto">
          <a:xfrm>
            <a:off x="6832600" y="4383088"/>
            <a:ext cx="3013075" cy="477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sz="2500" b="1"/>
              <a:t>尚未布满    </a:t>
            </a:r>
            <a:r>
              <a:rPr lang="en-US" altLang="zh-CN" sz="2500" b="1"/>
              <a:t>23(</a:t>
            </a:r>
            <a:r>
              <a:rPr lang="zh-CN" altLang="en-US" sz="2500" b="1"/>
              <a:t>未完</a:t>
            </a:r>
            <a:r>
              <a:rPr lang="en-US" altLang="zh-CN" sz="2500" b="1"/>
              <a:t>)</a:t>
            </a:r>
          </a:p>
        </p:txBody>
      </p:sp>
      <p:sp>
        <p:nvSpPr>
          <p:cNvPr id="15372" name="Rectangle 17"/>
          <p:cNvSpPr>
            <a:spLocks noGrp="1" noChangeArrowheads="1"/>
          </p:cNvSpPr>
          <p:nvPr>
            <p:ph type="title"/>
          </p:nvPr>
        </p:nvSpPr>
        <p:spPr>
          <a:xfrm>
            <a:off x="403225" y="239713"/>
            <a:ext cx="10369550" cy="430212"/>
          </a:xfrm>
          <a:noFill/>
        </p:spPr>
        <p:txBody>
          <a:bodyPr/>
          <a:lstStyle/>
          <a:p>
            <a:r>
              <a:rPr lang="en-US" altLang="zh-CN" smtClean="0">
                <a:ea typeface="黑体" pitchFamily="49" charset="-122"/>
              </a:rPr>
              <a:t>7.3.2</a:t>
            </a:r>
            <a:r>
              <a:rPr lang="zh-CN" altLang="en-US" smtClean="0">
                <a:ea typeface="黑体" pitchFamily="49" charset="-122"/>
              </a:rPr>
              <a:t>原子的电子层结构与元素周期系</a:t>
            </a:r>
            <a:endParaRPr lang="zh-CN" altLang="en-US" sz="1600" b="0" smtClean="0">
              <a:solidFill>
                <a:schemeClr val="accent2"/>
              </a:solidFill>
              <a:ea typeface="黑体" pitchFamily="49" charset="-122"/>
            </a:endParaRPr>
          </a:p>
        </p:txBody>
      </p:sp>
      <p:sp>
        <p:nvSpPr>
          <p:cNvPr id="15374" name="Oval 26" descr="图片8">
            <a:hlinkClick r:id="" action="ppaction://hlinkshowjump?jump=previousslide"/>
          </p:cNvPr>
          <p:cNvSpPr>
            <a:spLocks noChangeAspect="1" noChangeArrowheads="1"/>
          </p:cNvSpPr>
          <p:nvPr/>
        </p:nvSpPr>
        <p:spPr bwMode="gray">
          <a:xfrm>
            <a:off x="5546723" y="5668979"/>
            <a:ext cx="360363" cy="360362"/>
          </a:xfrm>
          <a:prstGeom prst="ellipse">
            <a:avLst/>
          </a:prstGeom>
          <a:blipFill dpi="0" rotWithShape="1">
            <a:blip r:embed="rId5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39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" dur="500"/>
                                        <p:tgtEl>
                                          <p:spTgt spid="8397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0" dur="500"/>
                                        <p:tgtEl>
                                          <p:spTgt spid="8397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5" dur="500"/>
                                        <p:tgtEl>
                                          <p:spTgt spid="8397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0" dur="500"/>
                                        <p:tgtEl>
                                          <p:spTgt spid="8397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5" dur="500"/>
                                        <p:tgtEl>
                                          <p:spTgt spid="8397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0" dur="500"/>
                                        <p:tgtEl>
                                          <p:spTgt spid="8397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5" dur="500"/>
                                        <p:tgtEl>
                                          <p:spTgt spid="8397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839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839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839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839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839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839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8398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NOTIFY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3971" grpId="0" autoUpdateAnimBg="0"/>
      <p:bldP spid="83977" grpId="0" build="p" autoUpdateAnimBg="0"/>
      <p:bldP spid="83978" grpId="0" autoUpdateAnimBg="0"/>
      <p:bldP spid="83979" grpId="0" autoUpdateAnimBg="0"/>
      <p:bldP spid="83980" grpId="0" autoUpdateAnimBg="0"/>
      <p:bldP spid="83981" grpId="0" autoUpdateAnimBg="0"/>
      <p:bldP spid="83982" grpId="0" autoUpdateAnimBg="0"/>
      <p:bldP spid="83983" grpId="0" autoUpdateAnimBg="0"/>
      <p:bldP spid="83984" grpId="0" autoUpdateAnimBg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6" name="Picture 3"/>
          <p:cNvPicPr>
            <a:picLocks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952500" y="1063625"/>
            <a:ext cx="9975850" cy="4518025"/>
          </a:xfrm>
          <a:prstGeom prst="rect">
            <a:avLst/>
          </a:prstGeom>
          <a:noFill/>
          <a:ln w="25400" cap="sq">
            <a:solidFill>
              <a:srgbClr val="FF00FF"/>
            </a:solidFill>
            <a:miter lim="800000"/>
            <a:headEnd type="none" w="sm" len="sm"/>
            <a:tailEnd type="none" w="sm" len="sm"/>
          </a:ln>
        </p:spPr>
      </p:pic>
      <p:sp>
        <p:nvSpPr>
          <p:cNvPr id="84999" name="Rectangle 7"/>
          <p:cNvSpPr>
            <a:spLocks noChangeArrowheads="1"/>
          </p:cNvSpPr>
          <p:nvPr/>
        </p:nvSpPr>
        <p:spPr bwMode="auto">
          <a:xfrm>
            <a:off x="4397375" y="1020763"/>
            <a:ext cx="2179638" cy="477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 sz="2500" b="1">
                <a:solidFill>
                  <a:srgbClr val="FF3300"/>
                </a:solidFill>
                <a:ea typeface="楷体_GB2312" pitchFamily="49" charset="-122"/>
              </a:rPr>
              <a:t>主族元素</a:t>
            </a:r>
          </a:p>
        </p:txBody>
      </p:sp>
      <p:sp>
        <p:nvSpPr>
          <p:cNvPr id="85000" name="Rectangle 8"/>
          <p:cNvSpPr>
            <a:spLocks noChangeArrowheads="1"/>
          </p:cNvSpPr>
          <p:nvPr/>
        </p:nvSpPr>
        <p:spPr bwMode="auto">
          <a:xfrm>
            <a:off x="4397375" y="1393825"/>
            <a:ext cx="2179638" cy="477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 sz="2500" b="1" dirty="0">
                <a:solidFill>
                  <a:srgbClr val="0000FF"/>
                </a:solidFill>
                <a:ea typeface="楷体_GB2312" pitchFamily="49" charset="-122"/>
              </a:rPr>
              <a:t>副族元素</a:t>
            </a:r>
            <a:endParaRPr lang="zh-CN" altLang="en-US" sz="2500" b="1" dirty="0">
              <a:solidFill>
                <a:srgbClr val="FF3300"/>
              </a:solidFill>
              <a:ea typeface="楷体_GB2312" pitchFamily="49" charset="-122"/>
            </a:endParaRPr>
          </a:p>
        </p:txBody>
      </p:sp>
      <p:sp>
        <p:nvSpPr>
          <p:cNvPr id="85001" name="Rectangle 9"/>
          <p:cNvSpPr>
            <a:spLocks noChangeArrowheads="1"/>
          </p:cNvSpPr>
          <p:nvPr/>
        </p:nvSpPr>
        <p:spPr bwMode="auto">
          <a:xfrm>
            <a:off x="3189288" y="3097213"/>
            <a:ext cx="2227262" cy="477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 sz="2500" b="1">
                <a:solidFill>
                  <a:srgbClr val="0000FF"/>
                </a:solidFill>
                <a:ea typeface="楷体_GB2312" pitchFamily="49" charset="-122"/>
              </a:rPr>
              <a:t>过渡元素</a:t>
            </a:r>
          </a:p>
        </p:txBody>
      </p:sp>
      <p:sp>
        <p:nvSpPr>
          <p:cNvPr id="85002" name="Rectangle 10"/>
          <p:cNvSpPr>
            <a:spLocks noChangeArrowheads="1"/>
          </p:cNvSpPr>
          <p:nvPr/>
        </p:nvSpPr>
        <p:spPr bwMode="auto">
          <a:xfrm>
            <a:off x="4081463" y="4249738"/>
            <a:ext cx="2587625" cy="477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 sz="2500" b="1">
                <a:solidFill>
                  <a:srgbClr val="0000FF"/>
                </a:solidFill>
                <a:ea typeface="楷体_GB2312" pitchFamily="49" charset="-122"/>
              </a:rPr>
              <a:t>内过渡元素</a:t>
            </a:r>
          </a:p>
        </p:txBody>
      </p:sp>
      <p:sp>
        <p:nvSpPr>
          <p:cNvPr id="85003" name="Rectangle 11"/>
          <p:cNvSpPr>
            <a:spLocks noChangeArrowheads="1"/>
          </p:cNvSpPr>
          <p:nvPr/>
        </p:nvSpPr>
        <p:spPr bwMode="auto">
          <a:xfrm>
            <a:off x="9975850" y="4168775"/>
            <a:ext cx="1273175" cy="477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 sz="2500" b="1">
                <a:solidFill>
                  <a:srgbClr val="009900"/>
                </a:solidFill>
                <a:ea typeface="楷体_GB2312" pitchFamily="49" charset="-122"/>
              </a:rPr>
              <a:t>零族</a:t>
            </a:r>
            <a:endParaRPr lang="zh-CN" altLang="en-US" sz="2500" b="1">
              <a:ea typeface="楷体_GB2312" pitchFamily="49" charset="-122"/>
            </a:endParaRPr>
          </a:p>
        </p:txBody>
      </p:sp>
      <p:sp>
        <p:nvSpPr>
          <p:cNvPr id="85004" name="Rectangle 12"/>
          <p:cNvSpPr>
            <a:spLocks noChangeArrowheads="1"/>
          </p:cNvSpPr>
          <p:nvPr/>
        </p:nvSpPr>
        <p:spPr bwMode="auto">
          <a:xfrm>
            <a:off x="1450975" y="1052513"/>
            <a:ext cx="812800" cy="477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500" b="1" i="1">
                <a:solidFill>
                  <a:srgbClr val="FF3300"/>
                </a:solidFill>
                <a:ea typeface="楷体_GB2312" pitchFamily="49" charset="-122"/>
              </a:rPr>
              <a:t>ns</a:t>
            </a:r>
            <a:r>
              <a:rPr lang="en-US" altLang="zh-CN" sz="2500" b="1" baseline="30000">
                <a:solidFill>
                  <a:srgbClr val="FF3300"/>
                </a:solidFill>
                <a:ea typeface="楷体_GB2312" pitchFamily="49" charset="-122"/>
              </a:rPr>
              <a:t>1~2</a:t>
            </a:r>
          </a:p>
        </p:txBody>
      </p:sp>
      <p:sp>
        <p:nvSpPr>
          <p:cNvPr id="85005" name="Rectangle 13"/>
          <p:cNvSpPr>
            <a:spLocks noChangeArrowheads="1"/>
          </p:cNvSpPr>
          <p:nvPr/>
        </p:nvSpPr>
        <p:spPr bwMode="auto">
          <a:xfrm>
            <a:off x="7843838" y="1052513"/>
            <a:ext cx="1258887" cy="477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500" b="1" i="1">
                <a:solidFill>
                  <a:srgbClr val="FF3300"/>
                </a:solidFill>
                <a:ea typeface="楷体_GB2312" pitchFamily="49" charset="-122"/>
              </a:rPr>
              <a:t>ns</a:t>
            </a:r>
            <a:r>
              <a:rPr lang="en-US" altLang="zh-CN" sz="2500" b="1" baseline="30000">
                <a:solidFill>
                  <a:srgbClr val="FF3300"/>
                </a:solidFill>
                <a:ea typeface="楷体_GB2312" pitchFamily="49" charset="-122"/>
              </a:rPr>
              <a:t>2</a:t>
            </a:r>
            <a:r>
              <a:rPr lang="en-US" altLang="zh-CN" sz="2500" b="1" i="1">
                <a:solidFill>
                  <a:srgbClr val="FF3300"/>
                </a:solidFill>
                <a:ea typeface="楷体_GB2312" pitchFamily="49" charset="-122"/>
              </a:rPr>
              <a:t>np</a:t>
            </a:r>
            <a:r>
              <a:rPr lang="en-US" altLang="zh-CN" sz="2500" b="1" baseline="30000">
                <a:solidFill>
                  <a:srgbClr val="FF3300"/>
                </a:solidFill>
                <a:ea typeface="楷体_GB2312" pitchFamily="49" charset="-122"/>
              </a:rPr>
              <a:t>1~6</a:t>
            </a:r>
            <a:endParaRPr lang="en-US" altLang="zh-CN" sz="2500" b="1" baseline="30000">
              <a:ea typeface="楷体_GB2312" pitchFamily="49" charset="-122"/>
            </a:endParaRPr>
          </a:p>
        </p:txBody>
      </p:sp>
      <p:sp>
        <p:nvSpPr>
          <p:cNvPr id="85006" name="Line 14"/>
          <p:cNvSpPr>
            <a:spLocks noChangeShapeType="1"/>
          </p:cNvSpPr>
          <p:nvPr/>
        </p:nvSpPr>
        <p:spPr bwMode="auto">
          <a:xfrm flipH="1">
            <a:off x="2400300" y="1439863"/>
            <a:ext cx="2016125" cy="6477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5007" name="Line 15"/>
          <p:cNvSpPr>
            <a:spLocks noChangeShapeType="1"/>
          </p:cNvSpPr>
          <p:nvPr/>
        </p:nvSpPr>
        <p:spPr bwMode="auto">
          <a:xfrm>
            <a:off x="6337300" y="1439863"/>
            <a:ext cx="1055688" cy="5048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5008" name="Rectangle 16"/>
          <p:cNvSpPr>
            <a:spLocks noChangeArrowheads="1"/>
          </p:cNvSpPr>
          <p:nvPr/>
        </p:nvSpPr>
        <p:spPr bwMode="auto">
          <a:xfrm>
            <a:off x="3536950" y="1903413"/>
            <a:ext cx="2049463" cy="477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500" b="1">
                <a:solidFill>
                  <a:srgbClr val="0000FF"/>
                </a:solidFill>
                <a:ea typeface="楷体_GB2312" pitchFamily="49" charset="-122"/>
              </a:rPr>
              <a:t>(</a:t>
            </a:r>
            <a:r>
              <a:rPr lang="en-US" altLang="zh-CN" sz="2500" b="1" i="1">
                <a:solidFill>
                  <a:srgbClr val="0000FF"/>
                </a:solidFill>
                <a:ea typeface="楷体_GB2312" pitchFamily="49" charset="-122"/>
              </a:rPr>
              <a:t>n </a:t>
            </a:r>
            <a:r>
              <a:rPr lang="en-US" altLang="zh-CN" sz="2500" b="1">
                <a:solidFill>
                  <a:srgbClr val="0000FF"/>
                </a:solidFill>
                <a:ea typeface="楷体_GB2312" pitchFamily="49" charset="-122"/>
              </a:rPr>
              <a:t>-1)</a:t>
            </a:r>
            <a:r>
              <a:rPr lang="en-US" altLang="zh-CN" sz="2500" b="1" i="1">
                <a:solidFill>
                  <a:srgbClr val="0000FF"/>
                </a:solidFill>
                <a:ea typeface="楷体_GB2312" pitchFamily="49" charset="-122"/>
              </a:rPr>
              <a:t>d</a:t>
            </a:r>
            <a:r>
              <a:rPr lang="en-US" altLang="zh-CN" sz="2500" b="1" baseline="30000">
                <a:solidFill>
                  <a:srgbClr val="0000FF"/>
                </a:solidFill>
                <a:ea typeface="楷体_GB2312" pitchFamily="49" charset="-122"/>
              </a:rPr>
              <a:t>1~10</a:t>
            </a:r>
            <a:r>
              <a:rPr lang="en-US" altLang="zh-CN" sz="2500" b="1">
                <a:solidFill>
                  <a:srgbClr val="0000FF"/>
                </a:solidFill>
                <a:ea typeface="楷体_GB2312" pitchFamily="49" charset="-122"/>
              </a:rPr>
              <a:t> </a:t>
            </a:r>
            <a:r>
              <a:rPr lang="en-US" altLang="zh-CN" sz="2500" b="1" i="1">
                <a:solidFill>
                  <a:srgbClr val="0000FF"/>
                </a:solidFill>
                <a:ea typeface="楷体_GB2312" pitchFamily="49" charset="-122"/>
              </a:rPr>
              <a:t>s</a:t>
            </a:r>
            <a:r>
              <a:rPr lang="en-US" altLang="zh-CN" sz="2500" b="1" baseline="30000">
                <a:solidFill>
                  <a:srgbClr val="0000FF"/>
                </a:solidFill>
                <a:ea typeface="楷体_GB2312" pitchFamily="49" charset="-122"/>
              </a:rPr>
              <a:t>1~2</a:t>
            </a:r>
            <a:endParaRPr lang="en-US" altLang="zh-CN" sz="2500" b="1" baseline="30000">
              <a:ea typeface="楷体_GB2312" pitchFamily="49" charset="-122"/>
            </a:endParaRPr>
          </a:p>
        </p:txBody>
      </p:sp>
      <p:sp>
        <p:nvSpPr>
          <p:cNvPr id="85009" name="Rectangle 17"/>
          <p:cNvSpPr>
            <a:spLocks noChangeArrowheads="1"/>
          </p:cNvSpPr>
          <p:nvPr/>
        </p:nvSpPr>
        <p:spPr bwMode="auto">
          <a:xfrm>
            <a:off x="9069388" y="4759325"/>
            <a:ext cx="1385887" cy="477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500" b="1">
                <a:solidFill>
                  <a:srgbClr val="0000FF"/>
                </a:solidFill>
                <a:ea typeface="楷体_GB2312" pitchFamily="49" charset="-122"/>
              </a:rPr>
              <a:t>(</a:t>
            </a:r>
            <a:r>
              <a:rPr lang="en-US" altLang="zh-CN" sz="2500" b="1" i="1">
                <a:solidFill>
                  <a:srgbClr val="0000FF"/>
                </a:solidFill>
                <a:ea typeface="楷体_GB2312" pitchFamily="49" charset="-122"/>
              </a:rPr>
              <a:t>n</a:t>
            </a:r>
            <a:r>
              <a:rPr lang="en-US" altLang="zh-CN" sz="2500" b="1">
                <a:solidFill>
                  <a:srgbClr val="0000FF"/>
                </a:solidFill>
                <a:ea typeface="楷体_GB2312" pitchFamily="49" charset="-122"/>
              </a:rPr>
              <a:t>-2)</a:t>
            </a:r>
            <a:r>
              <a:rPr lang="en-US" altLang="zh-CN" sz="2500" b="1" i="1">
                <a:solidFill>
                  <a:srgbClr val="0000FF"/>
                </a:solidFill>
                <a:ea typeface="楷体_GB2312" pitchFamily="49" charset="-122"/>
              </a:rPr>
              <a:t>f</a:t>
            </a:r>
            <a:r>
              <a:rPr lang="en-US" altLang="zh-CN" sz="2500" b="1" baseline="30000">
                <a:solidFill>
                  <a:srgbClr val="0000FF"/>
                </a:solidFill>
                <a:ea typeface="楷体_GB2312" pitchFamily="49" charset="-122"/>
              </a:rPr>
              <a:t>1~14</a:t>
            </a:r>
            <a:endParaRPr lang="en-US" altLang="zh-CN" sz="2500" b="1" baseline="30000">
              <a:ea typeface="楷体_GB2312" pitchFamily="49" charset="-122"/>
            </a:endParaRPr>
          </a:p>
        </p:txBody>
      </p:sp>
      <p:sp>
        <p:nvSpPr>
          <p:cNvPr id="85010" name="Line 18"/>
          <p:cNvSpPr>
            <a:spLocks noChangeShapeType="1"/>
          </p:cNvSpPr>
          <p:nvPr/>
        </p:nvSpPr>
        <p:spPr bwMode="auto">
          <a:xfrm flipH="1">
            <a:off x="3989388" y="1801813"/>
            <a:ext cx="479425" cy="3603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5011" name="Line 19"/>
          <p:cNvSpPr>
            <a:spLocks noChangeShapeType="1"/>
          </p:cNvSpPr>
          <p:nvPr/>
        </p:nvSpPr>
        <p:spPr bwMode="auto">
          <a:xfrm>
            <a:off x="6211888" y="1801813"/>
            <a:ext cx="2400300" cy="27352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5012" name="Line 20"/>
          <p:cNvSpPr>
            <a:spLocks noChangeShapeType="1"/>
          </p:cNvSpPr>
          <p:nvPr/>
        </p:nvSpPr>
        <p:spPr bwMode="auto">
          <a:xfrm flipV="1">
            <a:off x="10404475" y="3883025"/>
            <a:ext cx="0" cy="2159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5013" name="Rectangle 21"/>
          <p:cNvSpPr>
            <a:spLocks noChangeArrowheads="1"/>
          </p:cNvSpPr>
          <p:nvPr/>
        </p:nvSpPr>
        <p:spPr bwMode="auto">
          <a:xfrm>
            <a:off x="1268413" y="2820988"/>
            <a:ext cx="954087" cy="477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2500" b="1" i="1">
                <a:solidFill>
                  <a:srgbClr val="FF3300"/>
                </a:solidFill>
                <a:ea typeface="楷体_GB2312"/>
              </a:rPr>
              <a:t>s</a:t>
            </a:r>
            <a:r>
              <a:rPr lang="zh-CN" altLang="en-US" sz="2500" b="1">
                <a:solidFill>
                  <a:srgbClr val="FF3300"/>
                </a:solidFill>
                <a:ea typeface="楷体_GB2312"/>
              </a:rPr>
              <a:t>区</a:t>
            </a:r>
            <a:endParaRPr lang="zh-CN" altLang="en-US" sz="2500" b="1">
              <a:solidFill>
                <a:srgbClr val="FF3300"/>
              </a:solidFill>
              <a:effectLst>
                <a:outerShdw blurRad="38100" dist="38100" dir="2700000" algn="tl">
                  <a:srgbClr val="000000"/>
                </a:outerShdw>
              </a:effectLst>
              <a:ea typeface="楷体_GB2312"/>
            </a:endParaRPr>
          </a:p>
        </p:txBody>
      </p:sp>
      <p:sp>
        <p:nvSpPr>
          <p:cNvPr id="85014" name="Rectangle 22"/>
          <p:cNvSpPr>
            <a:spLocks noChangeArrowheads="1"/>
          </p:cNvSpPr>
          <p:nvPr/>
        </p:nvSpPr>
        <p:spPr bwMode="auto">
          <a:xfrm>
            <a:off x="8432800" y="2820988"/>
            <a:ext cx="1049338" cy="477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2500" b="1" i="1">
                <a:solidFill>
                  <a:srgbClr val="FF3300"/>
                </a:solidFill>
                <a:ea typeface="楷体_GB2312"/>
              </a:rPr>
              <a:t>p</a:t>
            </a:r>
            <a:r>
              <a:rPr lang="zh-CN" altLang="en-US" sz="2500" b="1">
                <a:solidFill>
                  <a:srgbClr val="FF3300"/>
                </a:solidFill>
                <a:ea typeface="楷体_GB2312"/>
              </a:rPr>
              <a:t>区</a:t>
            </a:r>
            <a:endParaRPr lang="zh-CN" altLang="en-US" sz="2500" b="1">
              <a:solidFill>
                <a:srgbClr val="FF3300"/>
              </a:solidFill>
              <a:effectLst>
                <a:outerShdw blurRad="38100" dist="38100" dir="2700000" algn="tl">
                  <a:srgbClr val="000000"/>
                </a:outerShdw>
              </a:effectLst>
              <a:ea typeface="楷体_GB2312"/>
            </a:endParaRPr>
          </a:p>
        </p:txBody>
      </p:sp>
      <p:sp>
        <p:nvSpPr>
          <p:cNvPr id="85015" name="Rectangle 23"/>
          <p:cNvSpPr>
            <a:spLocks noChangeArrowheads="1"/>
          </p:cNvSpPr>
          <p:nvPr/>
        </p:nvSpPr>
        <p:spPr bwMode="auto">
          <a:xfrm>
            <a:off x="4306888" y="3570288"/>
            <a:ext cx="1092200" cy="477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2500" b="1" i="1">
                <a:solidFill>
                  <a:srgbClr val="FF3300"/>
                </a:solidFill>
                <a:ea typeface="楷体_GB2312"/>
              </a:rPr>
              <a:t>d</a:t>
            </a:r>
            <a:r>
              <a:rPr lang="zh-CN" altLang="en-US" sz="2500" b="1">
                <a:solidFill>
                  <a:srgbClr val="FF3300"/>
                </a:solidFill>
                <a:ea typeface="楷体_GB2312"/>
              </a:rPr>
              <a:t>区</a:t>
            </a:r>
            <a:endParaRPr lang="zh-CN" altLang="en-US" sz="2500" b="1">
              <a:solidFill>
                <a:srgbClr val="FF3300"/>
              </a:solidFill>
              <a:effectLst>
                <a:outerShdw blurRad="38100" dist="38100" dir="2700000" algn="tl">
                  <a:srgbClr val="000000"/>
                </a:outerShdw>
              </a:effectLst>
              <a:ea typeface="楷体_GB2312"/>
            </a:endParaRPr>
          </a:p>
        </p:txBody>
      </p:sp>
      <p:sp>
        <p:nvSpPr>
          <p:cNvPr id="85016" name="Rectangle 24"/>
          <p:cNvSpPr>
            <a:spLocks noChangeArrowheads="1"/>
          </p:cNvSpPr>
          <p:nvPr/>
        </p:nvSpPr>
        <p:spPr bwMode="auto">
          <a:xfrm>
            <a:off x="6618288" y="3240088"/>
            <a:ext cx="1228725" cy="477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2500" b="1" i="1">
                <a:solidFill>
                  <a:srgbClr val="FF3300"/>
                </a:solidFill>
                <a:ea typeface="楷体_GB2312"/>
              </a:rPr>
              <a:t>ds</a:t>
            </a:r>
            <a:r>
              <a:rPr lang="zh-CN" altLang="en-US" sz="2500" b="1">
                <a:solidFill>
                  <a:srgbClr val="FF3300"/>
                </a:solidFill>
                <a:ea typeface="楷体_GB2312"/>
              </a:rPr>
              <a:t>区</a:t>
            </a:r>
            <a:endParaRPr lang="zh-CN" altLang="en-US" sz="2500" b="1">
              <a:solidFill>
                <a:srgbClr val="FF3300"/>
              </a:solidFill>
              <a:effectLst>
                <a:outerShdw blurRad="38100" dist="38100" dir="2700000" algn="tl">
                  <a:srgbClr val="000000"/>
                </a:outerShdw>
              </a:effectLst>
              <a:ea typeface="楷体_GB2312"/>
            </a:endParaRPr>
          </a:p>
        </p:txBody>
      </p:sp>
      <p:sp>
        <p:nvSpPr>
          <p:cNvPr id="85017" name="Text Box 25"/>
          <p:cNvSpPr txBox="1">
            <a:spLocks noChangeArrowheads="1"/>
          </p:cNvSpPr>
          <p:nvPr/>
        </p:nvSpPr>
        <p:spPr bwMode="auto">
          <a:xfrm>
            <a:off x="6711950" y="4829175"/>
            <a:ext cx="958850" cy="477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sz="2500" b="1" i="1">
                <a:solidFill>
                  <a:srgbClr val="FF3300"/>
                </a:solidFill>
                <a:ea typeface="楷体_GB2312" pitchFamily="49" charset="-122"/>
              </a:rPr>
              <a:t>f</a:t>
            </a:r>
            <a:r>
              <a:rPr lang="zh-CN" altLang="en-US" sz="2500" b="1">
                <a:solidFill>
                  <a:srgbClr val="FF3300"/>
                </a:solidFill>
                <a:ea typeface="楷体_GB2312" pitchFamily="49" charset="-122"/>
              </a:rPr>
              <a:t>区</a:t>
            </a:r>
            <a:endParaRPr lang="zh-CN" altLang="en-US" sz="2500" b="1">
              <a:ea typeface="楷体_GB2312" pitchFamily="49" charset="-122"/>
            </a:endParaRPr>
          </a:p>
        </p:txBody>
      </p:sp>
      <p:sp>
        <p:nvSpPr>
          <p:cNvPr id="85018" name="Rectangle 26"/>
          <p:cNvSpPr>
            <a:spLocks noChangeArrowheads="1"/>
          </p:cNvSpPr>
          <p:nvPr/>
        </p:nvSpPr>
        <p:spPr bwMode="auto">
          <a:xfrm>
            <a:off x="3989388" y="5268913"/>
            <a:ext cx="2316162" cy="477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 sz="2500" b="1">
                <a:solidFill>
                  <a:srgbClr val="0000FF"/>
                </a:solidFill>
                <a:ea typeface="楷体_GB2312" pitchFamily="49" charset="-122"/>
              </a:rPr>
              <a:t>超铀元素</a:t>
            </a:r>
          </a:p>
        </p:txBody>
      </p:sp>
      <p:sp>
        <p:nvSpPr>
          <p:cNvPr id="85019" name="Rectangle 27"/>
          <p:cNvSpPr>
            <a:spLocks noChangeArrowheads="1"/>
          </p:cNvSpPr>
          <p:nvPr/>
        </p:nvSpPr>
        <p:spPr bwMode="auto">
          <a:xfrm>
            <a:off x="1041400" y="4356100"/>
            <a:ext cx="344488" cy="477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500" b="1">
                <a:solidFill>
                  <a:srgbClr val="0000FF"/>
                </a:solidFill>
                <a:ea typeface="楷体_GB2312" pitchFamily="49" charset="-122"/>
              </a:rPr>
              <a:t>↓</a:t>
            </a:r>
          </a:p>
        </p:txBody>
      </p:sp>
      <p:sp>
        <p:nvSpPr>
          <p:cNvPr id="85020" name="Rectangle 28"/>
          <p:cNvSpPr>
            <a:spLocks noChangeArrowheads="1"/>
          </p:cNvSpPr>
          <p:nvPr/>
        </p:nvSpPr>
        <p:spPr bwMode="auto">
          <a:xfrm>
            <a:off x="1041400" y="5341938"/>
            <a:ext cx="344488" cy="477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500" b="1">
                <a:solidFill>
                  <a:srgbClr val="0000FF"/>
                </a:solidFill>
                <a:ea typeface="楷体_GB2312" pitchFamily="49" charset="-122"/>
              </a:rPr>
              <a:t>↑</a:t>
            </a:r>
          </a:p>
        </p:txBody>
      </p:sp>
      <p:sp>
        <p:nvSpPr>
          <p:cNvPr id="16409" name="Rectangle 6"/>
          <p:cNvSpPr>
            <a:spLocks noGrp="1" noChangeArrowheads="1"/>
          </p:cNvSpPr>
          <p:nvPr>
            <p:ph type="title"/>
          </p:nvPr>
        </p:nvSpPr>
        <p:spPr>
          <a:xfrm>
            <a:off x="188913" y="0"/>
            <a:ext cx="10369550" cy="1081088"/>
          </a:xfrm>
          <a:noFill/>
        </p:spPr>
        <p:txBody>
          <a:bodyPr/>
          <a:lstStyle/>
          <a:p>
            <a:r>
              <a:rPr lang="en-US" altLang="zh-CN" smtClean="0">
                <a:ea typeface="黑体" pitchFamily="49" charset="-122"/>
              </a:rPr>
              <a:t>7.3.2</a:t>
            </a:r>
            <a:r>
              <a:rPr lang="zh-CN" altLang="en-US" smtClean="0">
                <a:ea typeface="黑体" pitchFamily="49" charset="-122"/>
              </a:rPr>
              <a:t>原子的电子层结构和元素周期系</a:t>
            </a:r>
            <a:br>
              <a:rPr lang="zh-CN" altLang="en-US" smtClean="0">
                <a:ea typeface="黑体" pitchFamily="49" charset="-122"/>
              </a:rPr>
            </a:br>
            <a:endParaRPr lang="zh-CN" altLang="en-US" sz="1600" b="0" u="sng" smtClean="0">
              <a:solidFill>
                <a:schemeClr val="accent2"/>
              </a:solidFill>
              <a:ea typeface="黑体" pitchFamily="49" charset="-122"/>
            </a:endParaRPr>
          </a:p>
        </p:txBody>
      </p:sp>
      <p:sp>
        <p:nvSpPr>
          <p:cNvPr id="16411" name="Oval 26" descr="图片8">
            <a:hlinkClick r:id="rId6" action="ppaction://hlinksldjump"/>
          </p:cNvPr>
          <p:cNvSpPr>
            <a:spLocks noChangeAspect="1" noChangeArrowheads="1"/>
          </p:cNvSpPr>
          <p:nvPr/>
        </p:nvSpPr>
        <p:spPr bwMode="gray">
          <a:xfrm>
            <a:off x="5546723" y="5597541"/>
            <a:ext cx="360363" cy="360362"/>
          </a:xfrm>
          <a:prstGeom prst="ellipse">
            <a:avLst/>
          </a:prstGeom>
          <a:blipFill dpi="0" rotWithShape="1">
            <a:blip r:embed="rId7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8" name="动作按钮: 自定义 27">
            <a:hlinkClick r:id="" action="ppaction://hlinkshowjump?jump=nextslide" highlightClick="1"/>
          </p:cNvPr>
          <p:cNvSpPr/>
          <p:nvPr/>
        </p:nvSpPr>
        <p:spPr>
          <a:xfrm>
            <a:off x="10976011" y="5237541"/>
            <a:ext cx="360000" cy="360000"/>
          </a:xfrm>
          <a:prstGeom prst="actionButtonBlank">
            <a:avLst/>
          </a:prstGeom>
          <a:solidFill>
            <a:schemeClr val="bg1">
              <a:lumMod val="85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 smtClean="0">
                <a:solidFill>
                  <a:schemeClr val="tx1"/>
                </a:solidFill>
                <a:ea typeface="楷体_GB2312" pitchFamily="49" charset="-122"/>
              </a:rPr>
              <a:t>区</a:t>
            </a:r>
            <a:endParaRPr lang="zh-CN" altLang="en-US" b="1" dirty="0">
              <a:solidFill>
                <a:schemeClr val="tx1"/>
              </a:solidFill>
              <a:ea typeface="楷体_GB2312" pitchFamily="49" charset="-122"/>
            </a:endParaRPr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8500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8500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3" presetClass="entr" presetSubtype="52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8499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8499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849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849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850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000"/>
                            </p:stCondLst>
                            <p:childTnLst>
                              <p:par>
                                <p:cTn id="2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8500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3" dur="500"/>
                                        <p:tgtEl>
                                          <p:spTgt spid="8500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8" dur="500"/>
                                        <p:tgtEl>
                                          <p:spTgt spid="8500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3" presetClass="entr" presetSubtype="3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8500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x(#ppt_w*#ppt_h,.3),1)-7.4)/-.7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8500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x(#ppt_w*#ppt_h,.3),1)-7.4)/-.7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850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850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(6*min(max(#ppt_w*#ppt_h,.3),1)-7.4)/-.7*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"/>
                            </p:stCondLst>
                            <p:childTnLst>
                              <p:par>
                                <p:cTn id="4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0" dur="500"/>
                                        <p:tgtEl>
                                          <p:spTgt spid="850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1000"/>
                            </p:stCondLst>
                            <p:childTnLst>
                              <p:par>
                                <p:cTn id="5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4" dur="500"/>
                                        <p:tgtEl>
                                          <p:spTgt spid="8501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9" dur="500"/>
                                        <p:tgtEl>
                                          <p:spTgt spid="8500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4" dur="500"/>
                                        <p:tgtEl>
                                          <p:spTgt spid="8500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9" dur="500"/>
                                        <p:tgtEl>
                                          <p:spTgt spid="8501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50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4" dur="500"/>
                                        <p:tgtEl>
                                          <p:spTgt spid="8502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50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9" dur="500"/>
                                        <p:tgtEl>
                                          <p:spTgt spid="8501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4" dur="500"/>
                                        <p:tgtEl>
                                          <p:spTgt spid="850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500"/>
                            </p:stCondLst>
                            <p:childTnLst>
                              <p:par>
                                <p:cTn id="86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8" dur="500"/>
                                        <p:tgtEl>
                                          <p:spTgt spid="8501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NOTIFY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93" dur="500"/>
                                        <p:tgtEl>
                                          <p:spTgt spid="8501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98" dur="500"/>
                                        <p:tgtEl>
                                          <p:spTgt spid="8501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3" dur="500"/>
                                        <p:tgtEl>
                                          <p:spTgt spid="8501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8" dur="500"/>
                                        <p:tgtEl>
                                          <p:spTgt spid="8501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3" dur="500"/>
                                        <p:tgtEl>
                                          <p:spTgt spid="8501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NOTIFY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4999" grpId="0" autoUpdateAnimBg="0"/>
      <p:bldP spid="85000" grpId="0" autoUpdateAnimBg="0"/>
      <p:bldP spid="85001" grpId="0" autoUpdateAnimBg="0"/>
      <p:bldP spid="85002" grpId="0" autoUpdateAnimBg="0"/>
      <p:bldP spid="85003" grpId="0" autoUpdateAnimBg="0"/>
      <p:bldP spid="85004" grpId="0" autoUpdateAnimBg="0"/>
      <p:bldP spid="85005" grpId="0" autoUpdateAnimBg="0"/>
      <p:bldP spid="85006" grpId="0" animBg="1"/>
      <p:bldP spid="85007" grpId="0" animBg="1"/>
      <p:bldP spid="85008" grpId="0" autoUpdateAnimBg="0"/>
      <p:bldP spid="85009" grpId="0" autoUpdateAnimBg="0"/>
      <p:bldP spid="85010" grpId="0" animBg="1"/>
      <p:bldP spid="85011" grpId="0" animBg="1"/>
      <p:bldP spid="85012" grpId="0" animBg="1"/>
      <p:bldP spid="85013" grpId="0" autoUpdateAnimBg="0"/>
      <p:bldP spid="85014" grpId="0" autoUpdateAnimBg="0"/>
      <p:bldP spid="85015" grpId="0" autoUpdateAnimBg="0"/>
      <p:bldP spid="85016" grpId="0" autoUpdateAnimBg="0"/>
      <p:bldP spid="85017" grpId="0" autoUpdateAnimBg="0"/>
      <p:bldP spid="85018" grpId="0" autoUpdateAnimBg="0"/>
      <p:bldP spid="85019" grpId="0" autoUpdateAnimBg="0"/>
      <p:bldP spid="85020" grpId="0" autoUpdateAnimBg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Text Box 2"/>
          <p:cNvSpPr txBox="1">
            <a:spLocks noChangeArrowheads="1"/>
          </p:cNvSpPr>
          <p:nvPr/>
        </p:nvSpPr>
        <p:spPr bwMode="auto">
          <a:xfrm>
            <a:off x="906463" y="1597013"/>
            <a:ext cx="10231437" cy="4810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10000"/>
              </a:lnSpc>
            </a:pPr>
            <a:r>
              <a:rPr lang="zh-CN" altLang="en-US" sz="2500" b="1" dirty="0">
                <a:ea typeface="楷体_GB2312" pitchFamily="49" charset="-122"/>
              </a:rPr>
              <a:t>如</a:t>
            </a:r>
            <a:r>
              <a:rPr lang="en-US" altLang="zh-CN" sz="2500" b="1" dirty="0" err="1">
                <a:ea typeface="楷体_GB2312" pitchFamily="49" charset="-122"/>
              </a:rPr>
              <a:t>Mn</a:t>
            </a:r>
            <a:r>
              <a:rPr lang="en-US" altLang="zh-CN" sz="2500" b="1" dirty="0">
                <a:ea typeface="楷体_GB2312" pitchFamily="49" charset="-122"/>
              </a:rPr>
              <a:t>,</a:t>
            </a:r>
            <a:r>
              <a:rPr lang="zh-CN" altLang="en-US" sz="2500" b="1" dirty="0">
                <a:ea typeface="楷体_GB2312" pitchFamily="49" charset="-122"/>
              </a:rPr>
              <a:t>价电子层构型为</a:t>
            </a:r>
            <a:r>
              <a:rPr lang="en-US" altLang="zh-CN" sz="2500" b="1" dirty="0">
                <a:ea typeface="楷体_GB2312" pitchFamily="49" charset="-122"/>
              </a:rPr>
              <a:t>:3</a:t>
            </a:r>
            <a:r>
              <a:rPr lang="en-US" altLang="zh-CN" sz="2500" b="1" i="1" dirty="0">
                <a:ea typeface="楷体_GB2312" pitchFamily="49" charset="-122"/>
              </a:rPr>
              <a:t>d</a:t>
            </a:r>
            <a:r>
              <a:rPr lang="en-US" altLang="zh-CN" sz="2500" b="1" baseline="30000" dirty="0">
                <a:ea typeface="楷体_GB2312" pitchFamily="49" charset="-122"/>
              </a:rPr>
              <a:t>5</a:t>
            </a:r>
            <a:r>
              <a:rPr lang="en-US" altLang="zh-CN" sz="2500" b="1" dirty="0">
                <a:ea typeface="楷体_GB2312" pitchFamily="49" charset="-122"/>
              </a:rPr>
              <a:t>4</a:t>
            </a:r>
            <a:r>
              <a:rPr lang="en-US" altLang="zh-CN" sz="2500" b="1" i="1" dirty="0">
                <a:ea typeface="楷体_GB2312" pitchFamily="49" charset="-122"/>
              </a:rPr>
              <a:t>s</a:t>
            </a:r>
            <a:r>
              <a:rPr lang="en-US" altLang="zh-CN" sz="2500" b="1" baseline="30000" dirty="0">
                <a:ea typeface="楷体_GB2312" pitchFamily="49" charset="-122"/>
              </a:rPr>
              <a:t>2</a:t>
            </a:r>
            <a:r>
              <a:rPr lang="en-US" altLang="zh-CN" sz="2500" b="1" dirty="0">
                <a:ea typeface="楷体_GB2312" pitchFamily="49" charset="-122"/>
              </a:rPr>
              <a:t>,</a:t>
            </a:r>
            <a:r>
              <a:rPr lang="zh-CN" altLang="en-US" sz="2500" b="1" dirty="0">
                <a:ea typeface="楷体_GB2312" pitchFamily="49" charset="-122"/>
              </a:rPr>
              <a:t>价电子数目为</a:t>
            </a:r>
            <a:r>
              <a:rPr lang="en-US" altLang="zh-CN" sz="2500" b="1" dirty="0">
                <a:ea typeface="楷体_GB2312" pitchFamily="49" charset="-122"/>
              </a:rPr>
              <a:t>7.</a:t>
            </a:r>
          </a:p>
        </p:txBody>
      </p:sp>
      <p:sp>
        <p:nvSpPr>
          <p:cNvPr id="86019" name="Rectangle 3"/>
          <p:cNvSpPr>
            <a:spLocks noChangeArrowheads="1"/>
          </p:cNvSpPr>
          <p:nvPr/>
        </p:nvSpPr>
        <p:spPr bwMode="auto">
          <a:xfrm>
            <a:off x="906463" y="1020763"/>
            <a:ext cx="10299700" cy="4810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10000"/>
              </a:lnSpc>
            </a:pPr>
            <a:r>
              <a:rPr lang="en-US" altLang="zh-CN" sz="2500" b="1" dirty="0">
                <a:ea typeface="楷体_GB2312" pitchFamily="49" charset="-122"/>
              </a:rPr>
              <a:t>        </a:t>
            </a:r>
            <a:r>
              <a:rPr lang="en-US" altLang="zh-CN" sz="2500" b="1" dirty="0" err="1">
                <a:ea typeface="楷体_GB2312" pitchFamily="49" charset="-122"/>
              </a:rPr>
              <a:t>ⅢB~ⅦB</a:t>
            </a:r>
            <a:r>
              <a:rPr lang="zh-CN" altLang="en-US" sz="2500" b="1" dirty="0">
                <a:ea typeface="楷体_GB2312" pitchFamily="49" charset="-122"/>
              </a:rPr>
              <a:t>副族元素 </a:t>
            </a:r>
            <a:r>
              <a:rPr lang="en-US" altLang="zh-CN" sz="2500" b="1" dirty="0">
                <a:ea typeface="楷体_GB2312" pitchFamily="49" charset="-122"/>
              </a:rPr>
              <a:t>= </a:t>
            </a:r>
            <a:r>
              <a:rPr lang="zh-CN" altLang="en-US" sz="2500" b="1" u="sng" dirty="0">
                <a:ea typeface="楷体_GB2312" pitchFamily="49" charset="-122"/>
              </a:rPr>
              <a:t>最外层</a:t>
            </a:r>
            <a:r>
              <a:rPr lang="en-US" altLang="zh-CN" sz="2500" b="1" i="1" u="sng" dirty="0">
                <a:ea typeface="楷体_GB2312" pitchFamily="49" charset="-122"/>
              </a:rPr>
              <a:t>s</a:t>
            </a:r>
            <a:r>
              <a:rPr lang="zh-CN" altLang="en-US" sz="2500" b="1" u="sng" dirty="0">
                <a:ea typeface="楷体_GB2312" pitchFamily="49" charset="-122"/>
              </a:rPr>
              <a:t>和次外层</a:t>
            </a:r>
            <a:r>
              <a:rPr lang="en-US" altLang="zh-CN" sz="2500" b="1" i="1" u="sng" dirty="0">
                <a:ea typeface="楷体_GB2312" pitchFamily="49" charset="-122"/>
              </a:rPr>
              <a:t>d</a:t>
            </a:r>
            <a:r>
              <a:rPr lang="zh-CN" altLang="en-US" sz="2500" b="1" u="sng" dirty="0">
                <a:ea typeface="楷体_GB2312" pitchFamily="49" charset="-122"/>
              </a:rPr>
              <a:t>电子总数</a:t>
            </a:r>
            <a:r>
              <a:rPr lang="en-US" altLang="zh-CN" sz="2500" b="1" dirty="0">
                <a:ea typeface="楷体_GB2312" pitchFamily="49" charset="-122"/>
              </a:rPr>
              <a:t>.</a:t>
            </a:r>
          </a:p>
        </p:txBody>
      </p:sp>
      <p:sp>
        <p:nvSpPr>
          <p:cNvPr id="86020" name="Rectangle 4"/>
          <p:cNvSpPr>
            <a:spLocks noChangeArrowheads="1"/>
          </p:cNvSpPr>
          <p:nvPr/>
        </p:nvSpPr>
        <p:spPr bwMode="auto">
          <a:xfrm>
            <a:off x="906463" y="2520938"/>
            <a:ext cx="4610100" cy="477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sz="2500" b="1" dirty="0">
                <a:ea typeface="楷体_GB2312" pitchFamily="49" charset="-122"/>
              </a:rPr>
              <a:t>　　据原子结构特征分为</a:t>
            </a:r>
            <a:r>
              <a:rPr lang="en-US" altLang="zh-CN" sz="2500" b="1" dirty="0">
                <a:solidFill>
                  <a:schemeClr val="hlink"/>
                </a:solidFill>
                <a:ea typeface="楷体_GB2312" pitchFamily="49" charset="-122"/>
                <a:hlinkClick r:id="rId2" action="ppaction://hlinksldjump"/>
              </a:rPr>
              <a:t>4</a:t>
            </a:r>
            <a:r>
              <a:rPr lang="zh-CN" altLang="en-US" sz="2500" b="1" dirty="0">
                <a:solidFill>
                  <a:schemeClr val="hlink"/>
                </a:solidFill>
                <a:ea typeface="楷体_GB2312" pitchFamily="49" charset="-122"/>
                <a:hlinkClick r:id="rId2" action="ppaction://hlinksldjump"/>
              </a:rPr>
              <a:t>个区</a:t>
            </a:r>
            <a:r>
              <a:rPr lang="en-US" altLang="zh-CN" sz="2500" b="1" dirty="0">
                <a:ea typeface="楷体_GB2312" pitchFamily="49" charset="-122"/>
              </a:rPr>
              <a:t>.</a:t>
            </a:r>
          </a:p>
        </p:txBody>
      </p:sp>
      <p:sp>
        <p:nvSpPr>
          <p:cNvPr id="86021" name="Rectangle 5"/>
          <p:cNvSpPr>
            <a:spLocks noChangeArrowheads="1"/>
          </p:cNvSpPr>
          <p:nvPr/>
        </p:nvSpPr>
        <p:spPr bwMode="auto">
          <a:xfrm>
            <a:off x="906463" y="2078025"/>
            <a:ext cx="1817687" cy="477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500" b="1">
                <a:solidFill>
                  <a:srgbClr val="FF3300"/>
                </a:solidFill>
                <a:ea typeface="楷体_GB2312" pitchFamily="49" charset="-122"/>
              </a:rPr>
              <a:t>3.</a:t>
            </a:r>
            <a:r>
              <a:rPr lang="zh-CN" altLang="en-US" sz="2500" b="1">
                <a:solidFill>
                  <a:srgbClr val="FF3300"/>
                </a:solidFill>
                <a:ea typeface="楷体_GB2312" pitchFamily="49" charset="-122"/>
              </a:rPr>
              <a:t>区</a:t>
            </a:r>
            <a:r>
              <a:rPr lang="en-US" altLang="zh-CN" sz="2500" b="1">
                <a:solidFill>
                  <a:srgbClr val="FF3300"/>
                </a:solidFill>
                <a:ea typeface="楷体_GB2312" pitchFamily="49" charset="-122"/>
              </a:rPr>
              <a:t>(</a:t>
            </a:r>
            <a:r>
              <a:rPr lang="en-US" altLang="zh-CN" sz="2500" b="1">
                <a:solidFill>
                  <a:srgbClr val="0000FF"/>
                </a:solidFill>
                <a:ea typeface="楷体_GB2312" pitchFamily="49" charset="-122"/>
              </a:rPr>
              <a:t>block</a:t>
            </a:r>
            <a:r>
              <a:rPr lang="en-US" altLang="zh-CN" sz="2500" b="1">
                <a:solidFill>
                  <a:srgbClr val="FF3300"/>
                </a:solidFill>
                <a:ea typeface="楷体_GB2312" pitchFamily="49" charset="-122"/>
              </a:rPr>
              <a:t>):</a:t>
            </a:r>
          </a:p>
        </p:txBody>
      </p:sp>
      <p:sp>
        <p:nvSpPr>
          <p:cNvPr id="17414" name="Rectangle 6"/>
          <p:cNvSpPr>
            <a:spLocks noGrp="1" noChangeArrowheads="1"/>
          </p:cNvSpPr>
          <p:nvPr>
            <p:ph type="title"/>
          </p:nvPr>
        </p:nvSpPr>
        <p:spPr>
          <a:xfrm>
            <a:off x="576263" y="258763"/>
            <a:ext cx="10369550" cy="677862"/>
          </a:xfrm>
          <a:noFill/>
        </p:spPr>
        <p:txBody>
          <a:bodyPr/>
          <a:lstStyle/>
          <a:p>
            <a:r>
              <a:rPr lang="en-US" altLang="zh-CN" smtClean="0">
                <a:ea typeface="黑体" pitchFamily="49" charset="-122"/>
              </a:rPr>
              <a:t>7.3.2</a:t>
            </a:r>
            <a:r>
              <a:rPr lang="zh-CN" altLang="en-US" smtClean="0">
                <a:ea typeface="黑体" pitchFamily="49" charset="-122"/>
              </a:rPr>
              <a:t>原子的电子层结构和元素周期系</a:t>
            </a:r>
            <a:br>
              <a:rPr lang="zh-CN" altLang="en-US" smtClean="0">
                <a:ea typeface="黑体" pitchFamily="49" charset="-122"/>
              </a:rPr>
            </a:br>
            <a:endParaRPr lang="zh-CN" altLang="en-US" sz="1600" b="0" u="sng" smtClean="0">
              <a:solidFill>
                <a:schemeClr val="accent2"/>
              </a:solidFill>
              <a:ea typeface="黑体" pitchFamily="49" charset="-122"/>
            </a:endParaRPr>
          </a:p>
        </p:txBody>
      </p:sp>
      <p:sp>
        <p:nvSpPr>
          <p:cNvPr id="17415" name="Oval 27" descr="图片9">
            <a:hlinkClick r:id="" action="ppaction://hlinkshowjump?jump=nextslide"/>
          </p:cNvPr>
          <p:cNvSpPr>
            <a:spLocks noChangeAspect="1" noChangeArrowheads="1"/>
          </p:cNvSpPr>
          <p:nvPr/>
        </p:nvSpPr>
        <p:spPr bwMode="gray">
          <a:xfrm>
            <a:off x="11161713" y="5526088"/>
            <a:ext cx="360362" cy="360362"/>
          </a:xfrm>
          <a:prstGeom prst="ellipse">
            <a:avLst/>
          </a:prstGeom>
          <a:blipFill dpi="0" rotWithShape="1">
            <a:blip r:embed="rId3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>
              <a:ea typeface="黑体" pitchFamily="49" charset="-122"/>
              <a:cs typeface="楷体_GB2312" pitchFamily="49" charset="-122"/>
            </a:endParaRPr>
          </a:p>
        </p:txBody>
      </p:sp>
      <p:sp>
        <p:nvSpPr>
          <p:cNvPr id="17416" name="Oval 26" descr="图片8">
            <a:hlinkClick r:id="rId4" action="ppaction://hlinksldjump"/>
          </p:cNvPr>
          <p:cNvSpPr>
            <a:spLocks noChangeAspect="1" noChangeArrowheads="1"/>
          </p:cNvSpPr>
          <p:nvPr/>
        </p:nvSpPr>
        <p:spPr bwMode="gray">
          <a:xfrm>
            <a:off x="0" y="5526088"/>
            <a:ext cx="360363" cy="360362"/>
          </a:xfrm>
          <a:prstGeom prst="ellipse">
            <a:avLst/>
          </a:prstGeom>
          <a:blipFill dpi="0" rotWithShape="1">
            <a:blip r:embed="rId5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860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860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17" dur="500"/>
                                        <p:tgtEl>
                                          <p:spTgt spid="860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860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6018" grpId="0" build="p" autoUpdateAnimBg="0"/>
      <p:bldP spid="86019" grpId="0" autoUpdateAnimBg="0"/>
      <p:bldP spid="86020" grpId="0" autoUpdateAnimBg="0"/>
      <p:bldP spid="86021" grpId="0" autoUpdateAnimBg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Text Box 2"/>
          <p:cNvSpPr txBox="1">
            <a:spLocks noChangeArrowheads="1"/>
          </p:cNvSpPr>
          <p:nvPr/>
        </p:nvSpPr>
        <p:spPr bwMode="auto">
          <a:xfrm>
            <a:off x="2903538" y="954088"/>
            <a:ext cx="7259637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 sz="2500" b="1" dirty="0">
                <a:ea typeface="楷体_GB2312" pitchFamily="49" charset="-122"/>
              </a:rPr>
              <a:t>原子半径</a:t>
            </a:r>
            <a:r>
              <a:rPr lang="en-US" altLang="zh-CN" sz="2500" b="1" dirty="0">
                <a:ea typeface="楷体_GB2312" pitchFamily="49" charset="-122"/>
              </a:rPr>
              <a:t>,</a:t>
            </a:r>
            <a:r>
              <a:rPr lang="zh-CN" altLang="en-US" sz="2500" b="1" dirty="0">
                <a:ea typeface="楷体_GB2312" pitchFamily="49" charset="-122"/>
              </a:rPr>
              <a:t>电离能</a:t>
            </a:r>
            <a:r>
              <a:rPr lang="en-US" altLang="zh-CN" sz="2500" b="1" dirty="0">
                <a:ea typeface="楷体_GB2312" pitchFamily="49" charset="-122"/>
              </a:rPr>
              <a:t>,</a:t>
            </a:r>
            <a:r>
              <a:rPr lang="zh-CN" altLang="en-US" sz="2500" b="1" dirty="0">
                <a:ea typeface="楷体_GB2312" pitchFamily="49" charset="-122"/>
              </a:rPr>
              <a:t>电子亲和能以及电负性等</a:t>
            </a:r>
            <a:r>
              <a:rPr lang="en-US" altLang="zh-CN" sz="2500" b="1" dirty="0">
                <a:ea typeface="楷体_GB2312" pitchFamily="49" charset="-122"/>
              </a:rPr>
              <a:t>.</a:t>
            </a:r>
          </a:p>
        </p:txBody>
      </p:sp>
      <p:sp>
        <p:nvSpPr>
          <p:cNvPr id="87043" name="Rectangle 3"/>
          <p:cNvSpPr>
            <a:spLocks noChangeArrowheads="1"/>
          </p:cNvSpPr>
          <p:nvPr/>
        </p:nvSpPr>
        <p:spPr bwMode="auto">
          <a:xfrm>
            <a:off x="620713" y="1522413"/>
            <a:ext cx="3240087" cy="477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sz="2500" b="1" dirty="0">
                <a:solidFill>
                  <a:srgbClr val="FF3300"/>
                </a:solidFill>
                <a:ea typeface="楷体_GB2312" pitchFamily="49" charset="-122"/>
              </a:rPr>
              <a:t>原子参数</a:t>
            </a:r>
            <a:r>
              <a:rPr lang="en-US" altLang="zh-CN" sz="2500" b="1" dirty="0">
                <a:solidFill>
                  <a:srgbClr val="FF3300"/>
                </a:solidFill>
                <a:ea typeface="楷体_GB2312" pitchFamily="49" charset="-122"/>
              </a:rPr>
              <a:t>(</a:t>
            </a:r>
            <a:r>
              <a:rPr lang="en-US" altLang="zh-CN" sz="2500" b="1" dirty="0">
                <a:solidFill>
                  <a:srgbClr val="0000FF"/>
                </a:solidFill>
                <a:ea typeface="楷体_GB2312" pitchFamily="49" charset="-122"/>
              </a:rPr>
              <a:t>parameter</a:t>
            </a:r>
            <a:r>
              <a:rPr lang="en-US" altLang="zh-CN" sz="2500" b="1" dirty="0">
                <a:solidFill>
                  <a:srgbClr val="FF3300"/>
                </a:solidFill>
                <a:ea typeface="楷体_GB2312" pitchFamily="49" charset="-122"/>
              </a:rPr>
              <a:t>):</a:t>
            </a:r>
          </a:p>
        </p:txBody>
      </p:sp>
      <p:sp>
        <p:nvSpPr>
          <p:cNvPr id="87044" name="Rectangle 4"/>
          <p:cNvSpPr>
            <a:spLocks noChangeArrowheads="1"/>
          </p:cNvSpPr>
          <p:nvPr/>
        </p:nvSpPr>
        <p:spPr bwMode="auto">
          <a:xfrm>
            <a:off x="3975100" y="1525588"/>
            <a:ext cx="4130675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sz="2500" b="1" dirty="0">
                <a:ea typeface="楷体_GB2312" pitchFamily="49" charset="-122"/>
              </a:rPr>
              <a:t>表征原子基本性质的物理量</a:t>
            </a:r>
            <a:r>
              <a:rPr lang="en-US" altLang="zh-CN" sz="2500" b="1" dirty="0">
                <a:ea typeface="楷体_GB2312" pitchFamily="49" charset="-122"/>
              </a:rPr>
              <a:t>.</a:t>
            </a:r>
          </a:p>
        </p:txBody>
      </p:sp>
      <p:sp>
        <p:nvSpPr>
          <p:cNvPr id="87045" name="AutoShape 5"/>
          <p:cNvSpPr>
            <a:spLocks/>
          </p:cNvSpPr>
          <p:nvPr/>
        </p:nvSpPr>
        <p:spPr bwMode="auto">
          <a:xfrm>
            <a:off x="530225" y="2535238"/>
            <a:ext cx="192088" cy="936625"/>
          </a:xfrm>
          <a:prstGeom prst="leftBrace">
            <a:avLst>
              <a:gd name="adj1" fmla="val 54178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 sz="2500"/>
          </a:p>
        </p:txBody>
      </p:sp>
      <p:pic>
        <p:nvPicPr>
          <p:cNvPr id="87046" name="Picture 6" descr="共价半径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1538288" y="3602038"/>
            <a:ext cx="4792662" cy="1701800"/>
          </a:xfrm>
          <a:prstGeom prst="rect">
            <a:avLst/>
          </a:prstGeom>
          <a:noFill/>
          <a:ln w="25400">
            <a:solidFill>
              <a:srgbClr val="FF00FF"/>
            </a:solidFill>
            <a:miter lim="800000"/>
            <a:headEnd/>
            <a:tailEnd/>
          </a:ln>
        </p:spPr>
      </p:pic>
      <p:sp>
        <p:nvSpPr>
          <p:cNvPr id="87047" name="Line 7"/>
          <p:cNvSpPr>
            <a:spLocks noChangeShapeType="1"/>
          </p:cNvSpPr>
          <p:nvPr/>
        </p:nvSpPr>
        <p:spPr bwMode="auto">
          <a:xfrm>
            <a:off x="2354263" y="3636963"/>
            <a:ext cx="0" cy="679450"/>
          </a:xfrm>
          <a:prstGeom prst="line">
            <a:avLst/>
          </a:prstGeom>
          <a:noFill/>
          <a:ln w="9525">
            <a:solidFill>
              <a:srgbClr val="FF0000"/>
            </a:solidFill>
            <a:prstDash val="dash"/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7048" name="Line 8"/>
          <p:cNvSpPr>
            <a:spLocks noChangeShapeType="1"/>
          </p:cNvSpPr>
          <p:nvPr/>
        </p:nvSpPr>
        <p:spPr bwMode="auto">
          <a:xfrm>
            <a:off x="3170238" y="3636963"/>
            <a:ext cx="0" cy="679450"/>
          </a:xfrm>
          <a:prstGeom prst="line">
            <a:avLst/>
          </a:prstGeom>
          <a:noFill/>
          <a:ln w="9525">
            <a:solidFill>
              <a:srgbClr val="FF0000"/>
            </a:solidFill>
            <a:prstDash val="dash"/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7049" name="Line 9"/>
          <p:cNvSpPr>
            <a:spLocks noChangeShapeType="1"/>
          </p:cNvSpPr>
          <p:nvPr/>
        </p:nvSpPr>
        <p:spPr bwMode="auto">
          <a:xfrm>
            <a:off x="2751138" y="3895725"/>
            <a:ext cx="0" cy="341313"/>
          </a:xfrm>
          <a:prstGeom prst="line">
            <a:avLst/>
          </a:prstGeom>
          <a:noFill/>
          <a:ln w="9525">
            <a:solidFill>
              <a:srgbClr val="FF0000"/>
            </a:solidFill>
            <a:prstDash val="dash"/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7050" name="Rectangle 10"/>
          <p:cNvSpPr>
            <a:spLocks noChangeArrowheads="1"/>
          </p:cNvSpPr>
          <p:nvPr/>
        </p:nvSpPr>
        <p:spPr bwMode="auto">
          <a:xfrm>
            <a:off x="2174875" y="4217988"/>
            <a:ext cx="1111250" cy="477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500" b="1">
                <a:solidFill>
                  <a:srgbClr val="FF3300"/>
                </a:solidFill>
                <a:ea typeface="楷体_GB2312" pitchFamily="49" charset="-122"/>
              </a:rPr>
              <a:t>198pm</a:t>
            </a:r>
          </a:p>
        </p:txBody>
      </p:sp>
      <p:sp>
        <p:nvSpPr>
          <p:cNvPr id="87051" name="Line 11"/>
          <p:cNvSpPr>
            <a:spLocks noChangeShapeType="1"/>
          </p:cNvSpPr>
          <p:nvPr/>
        </p:nvSpPr>
        <p:spPr bwMode="auto">
          <a:xfrm>
            <a:off x="2354263" y="4111625"/>
            <a:ext cx="384175" cy="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 type="triangle" w="med" len="med"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7052" name="Line 12"/>
          <p:cNvSpPr>
            <a:spLocks noChangeShapeType="1"/>
          </p:cNvSpPr>
          <p:nvPr/>
        </p:nvSpPr>
        <p:spPr bwMode="auto">
          <a:xfrm>
            <a:off x="4706938" y="3602038"/>
            <a:ext cx="0" cy="679450"/>
          </a:xfrm>
          <a:prstGeom prst="line">
            <a:avLst/>
          </a:prstGeom>
          <a:noFill/>
          <a:ln w="9525">
            <a:solidFill>
              <a:srgbClr val="FF0000"/>
            </a:solidFill>
            <a:prstDash val="dash"/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7053" name="Rectangle 13"/>
          <p:cNvSpPr>
            <a:spLocks noChangeArrowheads="1"/>
          </p:cNvSpPr>
          <p:nvPr/>
        </p:nvSpPr>
        <p:spPr bwMode="auto">
          <a:xfrm>
            <a:off x="2944813" y="3911600"/>
            <a:ext cx="1831975" cy="477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500" b="1">
                <a:solidFill>
                  <a:srgbClr val="0000FF"/>
                </a:solidFill>
                <a:ea typeface="楷体_GB2312" pitchFamily="49" charset="-122"/>
              </a:rPr>
              <a:t>← </a:t>
            </a:r>
            <a:r>
              <a:rPr lang="en-US" altLang="zh-CN" sz="2500" b="1">
                <a:solidFill>
                  <a:srgbClr val="FF3300"/>
                </a:solidFill>
                <a:ea typeface="楷体_GB2312" pitchFamily="49" charset="-122"/>
              </a:rPr>
              <a:t>360pm</a:t>
            </a:r>
            <a:r>
              <a:rPr lang="en-US" altLang="zh-CN" sz="2500" b="1">
                <a:solidFill>
                  <a:srgbClr val="0000FF"/>
                </a:solidFill>
                <a:ea typeface="楷体_GB2312" pitchFamily="49" charset="-122"/>
              </a:rPr>
              <a:t>→</a:t>
            </a:r>
            <a:endParaRPr lang="en-US" altLang="zh-CN" sz="2500" b="1">
              <a:solidFill>
                <a:schemeClr val="accent1"/>
              </a:solidFill>
              <a:ea typeface="楷体_GB2312" pitchFamily="49" charset="-122"/>
            </a:endParaRPr>
          </a:p>
        </p:txBody>
      </p:sp>
      <p:sp>
        <p:nvSpPr>
          <p:cNvPr id="87054" name="Line 14"/>
          <p:cNvSpPr>
            <a:spLocks noChangeShapeType="1"/>
          </p:cNvSpPr>
          <p:nvPr/>
        </p:nvSpPr>
        <p:spPr bwMode="auto">
          <a:xfrm>
            <a:off x="3930650" y="3657600"/>
            <a:ext cx="0" cy="341313"/>
          </a:xfrm>
          <a:prstGeom prst="line">
            <a:avLst/>
          </a:prstGeom>
          <a:noFill/>
          <a:ln w="9525">
            <a:solidFill>
              <a:srgbClr val="FF0000"/>
            </a:solidFill>
            <a:prstDash val="dash"/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7055" name="Line 15"/>
          <p:cNvSpPr>
            <a:spLocks noChangeShapeType="1"/>
          </p:cNvSpPr>
          <p:nvPr/>
        </p:nvSpPr>
        <p:spPr bwMode="auto">
          <a:xfrm>
            <a:off x="3159125" y="3895725"/>
            <a:ext cx="815975" cy="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 type="triangle" w="med" len="med"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7056" name="Rectangle 16"/>
          <p:cNvSpPr>
            <a:spLocks noChangeArrowheads="1"/>
          </p:cNvSpPr>
          <p:nvPr/>
        </p:nvSpPr>
        <p:spPr bwMode="auto">
          <a:xfrm>
            <a:off x="620713" y="3187700"/>
            <a:ext cx="1901825" cy="477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500" b="1">
                <a:ea typeface="楷体_GB2312" pitchFamily="49" charset="-122"/>
                <a:sym typeface="Monotype Sorts" pitchFamily="2" charset="2"/>
              </a:rPr>
              <a:t>③</a:t>
            </a:r>
            <a:r>
              <a:rPr lang="zh-CN" altLang="en-US" sz="2500" b="1">
                <a:solidFill>
                  <a:srgbClr val="FF3300"/>
                </a:solidFill>
                <a:ea typeface="楷体_GB2312" pitchFamily="49" charset="-122"/>
              </a:rPr>
              <a:t>金属半径</a:t>
            </a:r>
            <a:r>
              <a:rPr lang="en-US" altLang="zh-CN" sz="2500" b="1">
                <a:solidFill>
                  <a:srgbClr val="FF3300"/>
                </a:solidFill>
                <a:ea typeface="楷体_GB2312" pitchFamily="49" charset="-122"/>
              </a:rPr>
              <a:t>:</a:t>
            </a:r>
          </a:p>
        </p:txBody>
      </p:sp>
      <p:sp>
        <p:nvSpPr>
          <p:cNvPr id="87057" name="Rectangle 17"/>
          <p:cNvSpPr>
            <a:spLocks noChangeArrowheads="1"/>
          </p:cNvSpPr>
          <p:nvPr/>
        </p:nvSpPr>
        <p:spPr bwMode="auto">
          <a:xfrm>
            <a:off x="620713" y="2779713"/>
            <a:ext cx="2224087" cy="477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500" b="1">
                <a:ea typeface="楷体_GB2312" pitchFamily="49" charset="-122"/>
                <a:sym typeface="Monotype Sorts" pitchFamily="2" charset="2"/>
              </a:rPr>
              <a:t>②</a:t>
            </a:r>
            <a:r>
              <a:rPr lang="zh-CN" altLang="en-US" sz="2500" b="1">
                <a:solidFill>
                  <a:srgbClr val="FF3300"/>
                </a:solidFill>
                <a:ea typeface="楷体_GB2312" pitchFamily="49" charset="-122"/>
              </a:rPr>
              <a:t>范德华半径</a:t>
            </a:r>
            <a:r>
              <a:rPr lang="en-US" altLang="zh-CN" sz="2500" b="1">
                <a:solidFill>
                  <a:srgbClr val="FF3300"/>
                </a:solidFill>
                <a:ea typeface="楷体_GB2312" pitchFamily="49" charset="-122"/>
              </a:rPr>
              <a:t>:</a:t>
            </a:r>
          </a:p>
        </p:txBody>
      </p:sp>
      <p:sp>
        <p:nvSpPr>
          <p:cNvPr id="87058" name="Rectangle 18"/>
          <p:cNvSpPr>
            <a:spLocks noChangeArrowheads="1"/>
          </p:cNvSpPr>
          <p:nvPr/>
        </p:nvSpPr>
        <p:spPr bwMode="auto">
          <a:xfrm>
            <a:off x="3068638" y="3490913"/>
            <a:ext cx="1111250" cy="477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500" b="1">
                <a:solidFill>
                  <a:srgbClr val="0000FF"/>
                </a:solidFill>
                <a:ea typeface="楷体_GB2312" pitchFamily="49" charset="-122"/>
              </a:rPr>
              <a:t>180pm</a:t>
            </a:r>
            <a:endParaRPr lang="en-US" altLang="zh-CN" sz="2500" b="1">
              <a:solidFill>
                <a:schemeClr val="accent2"/>
              </a:solidFill>
              <a:ea typeface="楷体_GB2312" pitchFamily="49" charset="-122"/>
            </a:endParaRPr>
          </a:p>
        </p:txBody>
      </p:sp>
      <p:sp>
        <p:nvSpPr>
          <p:cNvPr id="87059" name="Rectangle 19"/>
          <p:cNvSpPr>
            <a:spLocks noChangeArrowheads="1"/>
          </p:cNvSpPr>
          <p:nvPr/>
        </p:nvSpPr>
        <p:spPr bwMode="auto">
          <a:xfrm>
            <a:off x="2116138" y="3490913"/>
            <a:ext cx="950912" cy="477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500" b="1">
                <a:solidFill>
                  <a:srgbClr val="0000FF"/>
                </a:solidFill>
                <a:ea typeface="楷体_GB2312" pitchFamily="49" charset="-122"/>
              </a:rPr>
              <a:t>99pm</a:t>
            </a:r>
            <a:endParaRPr lang="en-US" altLang="zh-CN" sz="2500" b="1">
              <a:solidFill>
                <a:schemeClr val="accent2"/>
              </a:solidFill>
              <a:ea typeface="楷体_GB2312" pitchFamily="49" charset="-122"/>
            </a:endParaRPr>
          </a:p>
        </p:txBody>
      </p:sp>
      <p:sp>
        <p:nvSpPr>
          <p:cNvPr id="87060" name="Rectangle 20"/>
          <p:cNvSpPr>
            <a:spLocks noChangeArrowheads="1"/>
          </p:cNvSpPr>
          <p:nvPr/>
        </p:nvSpPr>
        <p:spPr bwMode="auto">
          <a:xfrm>
            <a:off x="6289675" y="2943225"/>
            <a:ext cx="1728788" cy="8620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 sz="2500" b="1">
                <a:solidFill>
                  <a:srgbClr val="0000FF"/>
                </a:solidFill>
                <a:ea typeface="楷体_GB2312" pitchFamily="49" charset="-122"/>
              </a:rPr>
              <a:t>氯原子的共价半径</a:t>
            </a:r>
            <a:endParaRPr lang="zh-CN" altLang="en-US" sz="2500" b="1">
              <a:solidFill>
                <a:schemeClr val="accent2"/>
              </a:solidFill>
              <a:ea typeface="楷体_GB2312" pitchFamily="49" charset="-122"/>
            </a:endParaRPr>
          </a:p>
        </p:txBody>
      </p:sp>
      <p:sp>
        <p:nvSpPr>
          <p:cNvPr id="87061" name="Rectangle 21"/>
          <p:cNvSpPr>
            <a:spLocks noChangeArrowheads="1"/>
          </p:cNvSpPr>
          <p:nvPr/>
        </p:nvSpPr>
        <p:spPr bwMode="auto">
          <a:xfrm>
            <a:off x="6289675" y="4338638"/>
            <a:ext cx="1824038" cy="8620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 sz="2500" b="1">
                <a:solidFill>
                  <a:srgbClr val="0000FF"/>
                </a:solidFill>
                <a:ea typeface="楷体_GB2312" pitchFamily="49" charset="-122"/>
              </a:rPr>
              <a:t>氯原子的范德华半径</a:t>
            </a:r>
            <a:endParaRPr lang="zh-CN" altLang="en-US" sz="2500" b="1">
              <a:solidFill>
                <a:schemeClr val="accent2"/>
              </a:solidFill>
              <a:ea typeface="楷体_GB2312" pitchFamily="49" charset="-122"/>
            </a:endParaRPr>
          </a:p>
        </p:txBody>
      </p:sp>
      <p:sp>
        <p:nvSpPr>
          <p:cNvPr id="87062" name="Rectangle 22"/>
          <p:cNvSpPr>
            <a:spLocks noChangeArrowheads="1"/>
          </p:cNvSpPr>
          <p:nvPr/>
        </p:nvSpPr>
        <p:spPr bwMode="auto">
          <a:xfrm>
            <a:off x="620713" y="2371725"/>
            <a:ext cx="1901825" cy="477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500" b="1">
                <a:ea typeface="楷体_GB2312" pitchFamily="49" charset="-122"/>
                <a:sym typeface="Monotype Sorts" pitchFamily="2" charset="2"/>
              </a:rPr>
              <a:t>①</a:t>
            </a:r>
            <a:r>
              <a:rPr lang="zh-CN" altLang="en-US" sz="2500" b="1">
                <a:solidFill>
                  <a:srgbClr val="FF3300"/>
                </a:solidFill>
                <a:ea typeface="楷体_GB2312" pitchFamily="49" charset="-122"/>
              </a:rPr>
              <a:t>共价半径</a:t>
            </a:r>
            <a:r>
              <a:rPr lang="en-US" altLang="zh-CN" sz="2500" b="1">
                <a:solidFill>
                  <a:srgbClr val="FF3300"/>
                </a:solidFill>
                <a:ea typeface="楷体_GB2312" pitchFamily="49" charset="-122"/>
              </a:rPr>
              <a:t>:</a:t>
            </a:r>
          </a:p>
        </p:txBody>
      </p:sp>
      <p:pic>
        <p:nvPicPr>
          <p:cNvPr id="87063" name="Picture 23" descr="金属半径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7875588" y="2954338"/>
            <a:ext cx="2952750" cy="2382837"/>
          </a:xfrm>
          <a:prstGeom prst="rect">
            <a:avLst/>
          </a:prstGeom>
          <a:noFill/>
          <a:ln w="25400">
            <a:solidFill>
              <a:srgbClr val="FF00FF"/>
            </a:solidFill>
            <a:miter lim="800000"/>
            <a:headEnd/>
            <a:tailEnd/>
          </a:ln>
        </p:spPr>
      </p:pic>
      <p:sp>
        <p:nvSpPr>
          <p:cNvPr id="87064" name="Line 24"/>
          <p:cNvSpPr>
            <a:spLocks noChangeShapeType="1"/>
          </p:cNvSpPr>
          <p:nvPr/>
        </p:nvSpPr>
        <p:spPr bwMode="auto">
          <a:xfrm flipH="1">
            <a:off x="8643938" y="3962400"/>
            <a:ext cx="671512" cy="647700"/>
          </a:xfrm>
          <a:prstGeom prst="line">
            <a:avLst/>
          </a:prstGeom>
          <a:noFill/>
          <a:ln w="9525">
            <a:solidFill>
              <a:srgbClr val="0000FF"/>
            </a:solidFill>
            <a:round/>
            <a:headEnd type="triangle" w="med" len="med"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7065" name="Rectangle 25"/>
          <p:cNvSpPr>
            <a:spLocks noChangeArrowheads="1"/>
          </p:cNvSpPr>
          <p:nvPr/>
        </p:nvSpPr>
        <p:spPr bwMode="auto">
          <a:xfrm rot="-3300000">
            <a:off x="8220868" y="3917157"/>
            <a:ext cx="1109663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500" b="1">
                <a:solidFill>
                  <a:srgbClr val="FF3300"/>
                </a:solidFill>
                <a:ea typeface="楷体_GB2312" pitchFamily="49" charset="-122"/>
              </a:rPr>
              <a:t>256pm</a:t>
            </a:r>
          </a:p>
        </p:txBody>
      </p:sp>
      <p:sp>
        <p:nvSpPr>
          <p:cNvPr id="87066" name="Rectangle 26"/>
          <p:cNvSpPr>
            <a:spLocks noChangeArrowheads="1"/>
          </p:cNvSpPr>
          <p:nvPr/>
        </p:nvSpPr>
        <p:spPr bwMode="auto">
          <a:xfrm>
            <a:off x="8466138" y="2630488"/>
            <a:ext cx="1795462" cy="477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sz="2500" b="1">
                <a:solidFill>
                  <a:srgbClr val="0000FF"/>
                </a:solidFill>
                <a:ea typeface="楷体_GB2312" pitchFamily="49" charset="-122"/>
              </a:rPr>
              <a:t>铜原子半径</a:t>
            </a:r>
            <a:endParaRPr lang="zh-CN" altLang="en-US" sz="2500" b="1">
              <a:solidFill>
                <a:schemeClr val="accent2"/>
              </a:solidFill>
              <a:ea typeface="楷体_GB2312" pitchFamily="49" charset="-122"/>
            </a:endParaRPr>
          </a:p>
        </p:txBody>
      </p:sp>
      <p:sp>
        <p:nvSpPr>
          <p:cNvPr id="87067" name="Line 27"/>
          <p:cNvSpPr>
            <a:spLocks noChangeShapeType="1"/>
          </p:cNvSpPr>
          <p:nvPr/>
        </p:nvSpPr>
        <p:spPr bwMode="auto">
          <a:xfrm flipH="1">
            <a:off x="2711450" y="3186113"/>
            <a:ext cx="3648075" cy="4333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7068" name="Line 28"/>
          <p:cNvSpPr>
            <a:spLocks noChangeShapeType="1"/>
          </p:cNvSpPr>
          <p:nvPr/>
        </p:nvSpPr>
        <p:spPr bwMode="auto">
          <a:xfrm flipH="1" flipV="1">
            <a:off x="4246563" y="3906838"/>
            <a:ext cx="2112962" cy="7207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7069" name="Rectangle 29"/>
          <p:cNvSpPr>
            <a:spLocks noChangeArrowheads="1"/>
          </p:cNvSpPr>
          <p:nvPr/>
        </p:nvSpPr>
        <p:spPr bwMode="auto">
          <a:xfrm>
            <a:off x="620713" y="1963738"/>
            <a:ext cx="3917950" cy="477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500" b="1">
                <a:solidFill>
                  <a:srgbClr val="FF3300"/>
                </a:solidFill>
                <a:ea typeface="楷体_GB2312" pitchFamily="49" charset="-122"/>
              </a:rPr>
              <a:t>1.</a:t>
            </a:r>
            <a:r>
              <a:rPr lang="zh-CN" altLang="en-US" sz="2500" b="1">
                <a:solidFill>
                  <a:srgbClr val="FF3300"/>
                </a:solidFill>
                <a:ea typeface="楷体_GB2312" pitchFamily="49" charset="-122"/>
              </a:rPr>
              <a:t>原子半径</a:t>
            </a:r>
            <a:r>
              <a:rPr lang="en-US" altLang="zh-CN" sz="2500" b="1">
                <a:solidFill>
                  <a:srgbClr val="FF3300"/>
                </a:solidFill>
                <a:ea typeface="楷体_GB2312" pitchFamily="49" charset="-122"/>
              </a:rPr>
              <a:t>(</a:t>
            </a:r>
            <a:r>
              <a:rPr lang="en-US" altLang="zh-CN" sz="2500" b="1">
                <a:solidFill>
                  <a:srgbClr val="0000FF"/>
                </a:solidFill>
                <a:ea typeface="楷体_GB2312" pitchFamily="49" charset="-122"/>
              </a:rPr>
              <a:t>atomic radius</a:t>
            </a:r>
            <a:r>
              <a:rPr lang="en-US" altLang="zh-CN" sz="2500" b="1">
                <a:solidFill>
                  <a:srgbClr val="FF3300"/>
                </a:solidFill>
                <a:ea typeface="楷体_GB2312" pitchFamily="49" charset="-122"/>
              </a:rPr>
              <a:t>):</a:t>
            </a:r>
          </a:p>
        </p:txBody>
      </p:sp>
      <p:sp>
        <p:nvSpPr>
          <p:cNvPr id="87070" name="Line 30"/>
          <p:cNvSpPr>
            <a:spLocks noChangeShapeType="1"/>
          </p:cNvSpPr>
          <p:nvPr/>
        </p:nvSpPr>
        <p:spPr bwMode="auto">
          <a:xfrm>
            <a:off x="9290050" y="4010025"/>
            <a:ext cx="576263" cy="360363"/>
          </a:xfrm>
          <a:prstGeom prst="line">
            <a:avLst/>
          </a:prstGeom>
          <a:noFill/>
          <a:ln w="9525">
            <a:solidFill>
              <a:srgbClr val="FF0000"/>
            </a:solidFill>
            <a:prstDash val="dash"/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7071" name="Line 31"/>
          <p:cNvSpPr>
            <a:spLocks noChangeShapeType="1"/>
          </p:cNvSpPr>
          <p:nvPr/>
        </p:nvSpPr>
        <p:spPr bwMode="auto">
          <a:xfrm>
            <a:off x="9002713" y="4298950"/>
            <a:ext cx="574675" cy="358775"/>
          </a:xfrm>
          <a:prstGeom prst="line">
            <a:avLst/>
          </a:prstGeom>
          <a:noFill/>
          <a:ln w="9525">
            <a:solidFill>
              <a:srgbClr val="FF0000"/>
            </a:solidFill>
            <a:prstDash val="dash"/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7072" name="Line 32"/>
          <p:cNvSpPr>
            <a:spLocks noChangeShapeType="1"/>
          </p:cNvSpPr>
          <p:nvPr/>
        </p:nvSpPr>
        <p:spPr bwMode="auto">
          <a:xfrm flipV="1">
            <a:off x="9220200" y="4178300"/>
            <a:ext cx="361950" cy="271463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 type="triangle" w="med" len="med"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7073" name="Line 33"/>
          <p:cNvSpPr>
            <a:spLocks noChangeShapeType="1"/>
          </p:cNvSpPr>
          <p:nvPr/>
        </p:nvSpPr>
        <p:spPr bwMode="auto">
          <a:xfrm>
            <a:off x="9328150" y="2919413"/>
            <a:ext cx="0" cy="14509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7074" name="Rectangle 34"/>
          <p:cNvSpPr>
            <a:spLocks noChangeArrowheads="1"/>
          </p:cNvSpPr>
          <p:nvPr/>
        </p:nvSpPr>
        <p:spPr bwMode="auto">
          <a:xfrm rot="-3000000">
            <a:off x="9036843" y="4161632"/>
            <a:ext cx="1109663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500" b="1">
                <a:solidFill>
                  <a:srgbClr val="0000FF"/>
                </a:solidFill>
                <a:ea typeface="楷体_GB2312" pitchFamily="49" charset="-122"/>
              </a:rPr>
              <a:t>128</a:t>
            </a:r>
            <a:r>
              <a:rPr lang="en-US" altLang="zh-CN" sz="2500" b="1">
                <a:solidFill>
                  <a:schemeClr val="accent2"/>
                </a:solidFill>
                <a:ea typeface="楷体_GB2312" pitchFamily="49" charset="-122"/>
              </a:rPr>
              <a:t>pm</a:t>
            </a:r>
          </a:p>
        </p:txBody>
      </p:sp>
      <p:sp>
        <p:nvSpPr>
          <p:cNvPr id="18467" name="Rectangle 35"/>
          <p:cNvSpPr>
            <a:spLocks noGrp="1" noChangeArrowheads="1"/>
          </p:cNvSpPr>
          <p:nvPr>
            <p:ph type="title"/>
          </p:nvPr>
        </p:nvSpPr>
        <p:spPr>
          <a:xfrm>
            <a:off x="576263" y="258763"/>
            <a:ext cx="10369550" cy="430212"/>
          </a:xfrm>
          <a:noFill/>
        </p:spPr>
        <p:txBody>
          <a:bodyPr/>
          <a:lstStyle/>
          <a:p>
            <a:r>
              <a:rPr lang="en-US" altLang="zh-CN" dirty="0" smtClean="0">
                <a:ea typeface="黑体" pitchFamily="49" charset="-122"/>
              </a:rPr>
              <a:t>7.3.3</a:t>
            </a:r>
            <a:r>
              <a:rPr lang="zh-CN" altLang="en-US" dirty="0" smtClean="0">
                <a:ea typeface="黑体" pitchFamily="49" charset="-122"/>
              </a:rPr>
              <a:t>元素基本性质的周期性变化规律</a:t>
            </a:r>
            <a:endParaRPr lang="zh-CN" altLang="en-US" sz="1600" b="0" dirty="0" smtClean="0">
              <a:solidFill>
                <a:schemeClr val="accent2"/>
              </a:solidFill>
              <a:ea typeface="黑体" pitchFamily="49" charset="-122"/>
            </a:endParaRPr>
          </a:p>
        </p:txBody>
      </p:sp>
      <p:sp>
        <p:nvSpPr>
          <p:cNvPr id="87076" name="Rectangle 36"/>
          <p:cNvSpPr>
            <a:spLocks noChangeArrowheads="1"/>
          </p:cNvSpPr>
          <p:nvPr/>
        </p:nvSpPr>
        <p:spPr bwMode="auto">
          <a:xfrm>
            <a:off x="617538" y="954088"/>
            <a:ext cx="2225675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sz="2500" b="1" dirty="0">
                <a:solidFill>
                  <a:srgbClr val="FF3300"/>
                </a:solidFill>
                <a:ea typeface="楷体_GB2312" pitchFamily="49" charset="-122"/>
              </a:rPr>
              <a:t>原子基本性质</a:t>
            </a:r>
            <a:r>
              <a:rPr lang="en-US" altLang="zh-CN" sz="2500" b="1" dirty="0">
                <a:solidFill>
                  <a:srgbClr val="FF3300"/>
                </a:solidFill>
                <a:ea typeface="楷体_GB2312" pitchFamily="49" charset="-122"/>
              </a:rPr>
              <a:t>:</a:t>
            </a:r>
          </a:p>
        </p:txBody>
      </p:sp>
      <p:sp>
        <p:nvSpPr>
          <p:cNvPr id="18469" name="Oval 27" descr="图片9">
            <a:hlinkClick r:id="" action="ppaction://hlinkshowjump?jump=nextslide"/>
          </p:cNvPr>
          <p:cNvSpPr>
            <a:spLocks noChangeAspect="1" noChangeArrowheads="1"/>
          </p:cNvSpPr>
          <p:nvPr/>
        </p:nvSpPr>
        <p:spPr bwMode="gray">
          <a:xfrm>
            <a:off x="11161713" y="5526088"/>
            <a:ext cx="360362" cy="360362"/>
          </a:xfrm>
          <a:prstGeom prst="ellipse">
            <a:avLst/>
          </a:prstGeom>
          <a:blipFill dpi="0" rotWithShape="1">
            <a:blip r:embed="rId7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>
              <a:ea typeface="黑体" pitchFamily="49" charset="-122"/>
              <a:cs typeface="楷体_GB2312" pitchFamily="49" charset="-122"/>
            </a:endParaRPr>
          </a:p>
        </p:txBody>
      </p:sp>
      <p:sp>
        <p:nvSpPr>
          <p:cNvPr id="18470" name="Oval 26" descr="图片8">
            <a:hlinkClick r:id="" action="ppaction://hlinkshowjump?jump=previousslide"/>
          </p:cNvPr>
          <p:cNvSpPr>
            <a:spLocks noChangeAspect="1" noChangeArrowheads="1"/>
          </p:cNvSpPr>
          <p:nvPr/>
        </p:nvSpPr>
        <p:spPr bwMode="gray">
          <a:xfrm>
            <a:off x="0" y="5526088"/>
            <a:ext cx="360363" cy="360362"/>
          </a:xfrm>
          <a:prstGeom prst="ellipse">
            <a:avLst/>
          </a:prstGeom>
          <a:blipFill dpi="0" rotWithShape="1">
            <a:blip r:embed="rId8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870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870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870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870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27" dur="500"/>
                                        <p:tgtEl>
                                          <p:spTgt spid="870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500"/>
                                        <p:tgtEl>
                                          <p:spTgt spid="870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7" dur="500"/>
                                        <p:tgtEl>
                                          <p:spTgt spid="870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2" dur="500"/>
                                        <p:tgtEl>
                                          <p:spTgt spid="8704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00"/>
                            </p:stCondLst>
                            <p:childTnLst>
                              <p:par>
                                <p:cTn id="44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6" dur="500"/>
                                        <p:tgtEl>
                                          <p:spTgt spid="870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1000"/>
                            </p:stCondLst>
                            <p:childTnLst>
                              <p:par>
                                <p:cTn id="48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0" dur="500"/>
                                        <p:tgtEl>
                                          <p:spTgt spid="8705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1500"/>
                            </p:stCondLst>
                            <p:childTnLst>
                              <p:par>
                                <p:cTn id="52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4" dur="500"/>
                                        <p:tgtEl>
                                          <p:spTgt spid="8704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2000"/>
                            </p:stCondLst>
                            <p:childTnLst>
                              <p:par>
                                <p:cTn id="56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8" dur="500"/>
                                        <p:tgtEl>
                                          <p:spTgt spid="8705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2500"/>
                            </p:stCondLst>
                            <p:childTnLst>
                              <p:par>
                                <p:cTn id="60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2" dur="500"/>
                                        <p:tgtEl>
                                          <p:spTgt spid="870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3000"/>
                            </p:stCondLst>
                            <p:childTnLst>
                              <p:par>
                                <p:cTn id="64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6" dur="500"/>
                                        <p:tgtEl>
                                          <p:spTgt spid="870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3500"/>
                            </p:stCondLst>
                            <p:childTnLst>
                              <p:par>
                                <p:cTn id="68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0" dur="500"/>
                                        <p:tgtEl>
                                          <p:spTgt spid="8706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5" dur="500"/>
                                        <p:tgtEl>
                                          <p:spTgt spid="870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80" dur="500"/>
                                        <p:tgtEl>
                                          <p:spTgt spid="8705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500"/>
                            </p:stCondLst>
                            <p:childTnLst>
                              <p:par>
                                <p:cTn id="82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84" dur="500"/>
                                        <p:tgtEl>
                                          <p:spTgt spid="8705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1000"/>
                            </p:stCondLst>
                            <p:childTnLst>
                              <p:par>
                                <p:cTn id="86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88" dur="500"/>
                                        <p:tgtEl>
                                          <p:spTgt spid="8705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1500"/>
                            </p:stCondLst>
                            <p:childTnLst>
                              <p:par>
                                <p:cTn id="90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92" dur="500"/>
                                        <p:tgtEl>
                                          <p:spTgt spid="8705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>
                            <p:stCondLst>
                              <p:cond delay="2000"/>
                            </p:stCondLst>
                            <p:childTnLst>
                              <p:par>
                                <p:cTn id="94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96" dur="500"/>
                                        <p:tgtEl>
                                          <p:spTgt spid="870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>
                            <p:stCondLst>
                              <p:cond delay="2500"/>
                            </p:stCondLst>
                            <p:childTnLst>
                              <p:par>
                                <p:cTn id="98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0" dur="500"/>
                                        <p:tgtEl>
                                          <p:spTgt spid="870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" fill="hold">
                            <p:stCondLst>
                              <p:cond delay="3000"/>
                            </p:stCondLst>
                            <p:childTnLst>
                              <p:par>
                                <p:cTn id="102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4" dur="500"/>
                                        <p:tgtEl>
                                          <p:spTgt spid="8706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9" dur="500"/>
                                        <p:tgtEl>
                                          <p:spTgt spid="870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7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7" dur="500"/>
                                        <p:tgtEl>
                                          <p:spTgt spid="870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2" dur="500"/>
                                        <p:tgtEl>
                                          <p:spTgt spid="8706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23" fill="hold">
                            <p:stCondLst>
                              <p:cond delay="500"/>
                            </p:stCondLst>
                            <p:childTnLst>
                              <p:par>
                                <p:cTn id="124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6" dur="500"/>
                                        <p:tgtEl>
                                          <p:spTgt spid="870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7" fill="hold">
                            <p:stCondLst>
                              <p:cond delay="1000"/>
                            </p:stCondLst>
                            <p:childTnLst>
                              <p:par>
                                <p:cTn id="128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30" dur="500"/>
                                        <p:tgtEl>
                                          <p:spTgt spid="8707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2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31" fill="hold">
                            <p:stCondLst>
                              <p:cond delay="1500"/>
                            </p:stCondLst>
                            <p:childTnLst>
                              <p:par>
                                <p:cTn id="132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34" dur="500"/>
                                        <p:tgtEl>
                                          <p:spTgt spid="870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5" fill="hold">
                            <p:stCondLst>
                              <p:cond delay="2000"/>
                            </p:stCondLst>
                            <p:childTnLst>
                              <p:par>
                                <p:cTn id="136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38" dur="500"/>
                                        <p:tgtEl>
                                          <p:spTgt spid="870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9" fill="hold">
                            <p:stCondLst>
                              <p:cond delay="2500"/>
                            </p:stCondLst>
                            <p:childTnLst>
                              <p:par>
                                <p:cTn id="140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42" dur="500"/>
                                        <p:tgtEl>
                                          <p:spTgt spid="8707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4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43" fill="hold">
                            <p:stCondLst>
                              <p:cond delay="3000"/>
                            </p:stCondLst>
                            <p:childTnLst>
                              <p:par>
                                <p:cTn id="14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6" dur="500"/>
                                        <p:tgtEl>
                                          <p:spTgt spid="870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7" fill="hold">
                            <p:stCondLst>
                              <p:cond delay="3500"/>
                            </p:stCondLst>
                            <p:childTnLst>
                              <p:par>
                                <p:cTn id="148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0" dur="500"/>
                                        <p:tgtEl>
                                          <p:spTgt spid="870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7042" grpId="0" autoUpdateAnimBg="0"/>
      <p:bldP spid="87043" grpId="0" autoUpdateAnimBg="0"/>
      <p:bldP spid="87044" grpId="0" autoUpdateAnimBg="0"/>
      <p:bldP spid="87045" grpId="0" animBg="1"/>
      <p:bldP spid="87047" grpId="0" animBg="1"/>
      <p:bldP spid="87048" grpId="0" animBg="1"/>
      <p:bldP spid="87049" grpId="0" animBg="1"/>
      <p:bldP spid="87050" grpId="0" autoUpdateAnimBg="0"/>
      <p:bldP spid="87051" grpId="0" animBg="1"/>
      <p:bldP spid="87052" grpId="0" animBg="1"/>
      <p:bldP spid="87053" grpId="0" autoUpdateAnimBg="0"/>
      <p:bldP spid="87054" grpId="0" animBg="1"/>
      <p:bldP spid="87055" grpId="0" animBg="1"/>
      <p:bldP spid="87056" grpId="0" autoUpdateAnimBg="0"/>
      <p:bldP spid="87057" grpId="0" autoUpdateAnimBg="0"/>
      <p:bldP spid="87058" grpId="0" autoUpdateAnimBg="0"/>
      <p:bldP spid="87059" grpId="0" autoUpdateAnimBg="0"/>
      <p:bldP spid="87060" grpId="0" autoUpdateAnimBg="0"/>
      <p:bldP spid="87061" grpId="0" autoUpdateAnimBg="0"/>
      <p:bldP spid="87062" grpId="0" autoUpdateAnimBg="0"/>
      <p:bldP spid="87064" grpId="0" animBg="1"/>
      <p:bldP spid="87065" grpId="0" autoUpdateAnimBg="0"/>
      <p:bldP spid="87066" grpId="0" autoUpdateAnimBg="0"/>
      <p:bldP spid="87067" grpId="0" animBg="1"/>
      <p:bldP spid="87068" grpId="0" animBg="1"/>
      <p:bldP spid="87069" grpId="0" autoUpdateAnimBg="0"/>
      <p:bldP spid="87070" grpId="0" animBg="1"/>
      <p:bldP spid="87071" grpId="0" animBg="1"/>
      <p:bldP spid="87072" grpId="0" animBg="1"/>
      <p:bldP spid="87073" grpId="0" animBg="1"/>
      <p:bldP spid="87074" grpId="0" autoUpdateAnimBg="0"/>
      <p:bldP spid="87076" grpId="0" autoUpdateAnimBg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2"/>
          <p:cNvSpPr>
            <a:spLocks noChangeArrowheads="1"/>
          </p:cNvSpPr>
          <p:nvPr/>
        </p:nvSpPr>
        <p:spPr bwMode="auto">
          <a:xfrm>
            <a:off x="760413" y="954088"/>
            <a:ext cx="9078912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sz="2500" b="1" dirty="0">
                <a:ea typeface="楷体_GB2312" pitchFamily="49" charset="-122"/>
              </a:rPr>
              <a:t>   </a:t>
            </a:r>
            <a:r>
              <a:rPr lang="zh-CN" altLang="en-US" sz="2500" b="1" dirty="0">
                <a:solidFill>
                  <a:srgbClr val="FF3300"/>
                </a:solidFill>
                <a:ea typeface="楷体_GB2312" pitchFamily="49" charset="-122"/>
              </a:rPr>
              <a:t>主要影响因素</a:t>
            </a:r>
            <a:r>
              <a:rPr lang="en-US" altLang="zh-CN" sz="2500" b="1" dirty="0">
                <a:ea typeface="楷体_GB2312" pitchFamily="49" charset="-122"/>
              </a:rPr>
              <a:t>:</a:t>
            </a:r>
          </a:p>
        </p:txBody>
      </p:sp>
      <p:sp>
        <p:nvSpPr>
          <p:cNvPr id="88067" name="Rectangle 3"/>
          <p:cNvSpPr>
            <a:spLocks noChangeArrowheads="1"/>
          </p:cNvSpPr>
          <p:nvPr/>
        </p:nvSpPr>
        <p:spPr bwMode="auto">
          <a:xfrm>
            <a:off x="906463" y="3162300"/>
            <a:ext cx="10136187" cy="2178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10000"/>
              </a:lnSpc>
            </a:pPr>
            <a:r>
              <a:rPr lang="en-US" altLang="zh-CN" sz="2500" b="1" dirty="0">
                <a:ea typeface="楷体_GB2312" pitchFamily="49" charset="-122"/>
              </a:rPr>
              <a:t>        </a:t>
            </a:r>
            <a:r>
              <a:rPr lang="zh-CN" altLang="en-US" sz="2500" b="1" dirty="0">
                <a:ea typeface="楷体_GB2312" pitchFamily="49" charset="-122"/>
              </a:rPr>
              <a:t>定义</a:t>
            </a:r>
            <a:r>
              <a:rPr lang="en-US" altLang="zh-CN" sz="2500" b="1" dirty="0">
                <a:ea typeface="楷体_GB2312" pitchFamily="49" charset="-122"/>
              </a:rPr>
              <a:t>: M(g) - e</a:t>
            </a:r>
            <a:r>
              <a:rPr lang="en-US" altLang="zh-CN" sz="2500" b="1" baseline="30000" dirty="0">
                <a:ea typeface="楷体_GB2312" pitchFamily="49" charset="-122"/>
              </a:rPr>
              <a:t>-</a:t>
            </a:r>
            <a:r>
              <a:rPr lang="en-US" altLang="zh-CN" sz="2500" b="1" dirty="0">
                <a:ea typeface="楷体_GB2312" pitchFamily="49" charset="-122"/>
              </a:rPr>
              <a:t> → M</a:t>
            </a:r>
            <a:r>
              <a:rPr lang="en-US" altLang="zh-CN" sz="2500" b="1" baseline="30000" dirty="0">
                <a:ea typeface="楷体_GB2312" pitchFamily="49" charset="-122"/>
              </a:rPr>
              <a:t>+</a:t>
            </a:r>
            <a:r>
              <a:rPr lang="en-US" altLang="zh-CN" sz="2500" b="1" dirty="0">
                <a:ea typeface="楷体_GB2312" pitchFamily="49" charset="-122"/>
              </a:rPr>
              <a:t>(g),  </a:t>
            </a:r>
            <a:r>
              <a:rPr lang="en-US" altLang="zh-CN" sz="2500" b="1" i="1" dirty="0">
                <a:ea typeface="楷体_GB2312" pitchFamily="49" charset="-122"/>
              </a:rPr>
              <a:t>I</a:t>
            </a:r>
            <a:r>
              <a:rPr lang="en-US" altLang="zh-CN" sz="2500" b="1" baseline="-25000" dirty="0">
                <a:ea typeface="楷体_GB2312" pitchFamily="49" charset="-122"/>
              </a:rPr>
              <a:t>1</a:t>
            </a:r>
            <a:r>
              <a:rPr lang="en-US" altLang="zh-CN" sz="2500" b="1" dirty="0">
                <a:ea typeface="楷体_GB2312" pitchFamily="49" charset="-122"/>
              </a:rPr>
              <a:t> </a:t>
            </a:r>
          </a:p>
          <a:p>
            <a:pPr>
              <a:lnSpc>
                <a:spcPct val="110000"/>
              </a:lnSpc>
            </a:pPr>
            <a:r>
              <a:rPr lang="zh-CN" altLang="en-US" sz="2500" b="1" dirty="0">
                <a:ea typeface="楷体_GB2312" pitchFamily="49" charset="-122"/>
              </a:rPr>
              <a:t>如</a:t>
            </a:r>
            <a:r>
              <a:rPr lang="en-US" altLang="zh-CN" sz="2500" b="1" dirty="0">
                <a:ea typeface="楷体_GB2312" pitchFamily="49" charset="-122"/>
              </a:rPr>
              <a:t>:    Al(g) - e</a:t>
            </a:r>
            <a:r>
              <a:rPr lang="en-US" altLang="zh-CN" sz="2500" b="1" baseline="30000" dirty="0">
                <a:ea typeface="楷体_GB2312" pitchFamily="49" charset="-122"/>
              </a:rPr>
              <a:t>-</a:t>
            </a:r>
            <a:r>
              <a:rPr lang="en-US" altLang="zh-CN" sz="2500" b="1" dirty="0">
                <a:ea typeface="楷体_GB2312" pitchFamily="49" charset="-122"/>
              </a:rPr>
              <a:t> → Al</a:t>
            </a:r>
            <a:r>
              <a:rPr lang="en-US" altLang="zh-CN" sz="2500" b="1" baseline="30000" dirty="0">
                <a:ea typeface="楷体_GB2312" pitchFamily="49" charset="-122"/>
              </a:rPr>
              <a:t>+</a:t>
            </a:r>
            <a:r>
              <a:rPr lang="en-US" altLang="zh-CN" sz="2500" b="1" dirty="0">
                <a:ea typeface="楷体_GB2312" pitchFamily="49" charset="-122"/>
              </a:rPr>
              <a:t>(g), </a:t>
            </a:r>
            <a:r>
              <a:rPr lang="en-US" altLang="zh-CN" sz="2500" b="1" i="1" dirty="0">
                <a:ea typeface="楷体_GB2312" pitchFamily="49" charset="-122"/>
              </a:rPr>
              <a:t>I</a:t>
            </a:r>
            <a:r>
              <a:rPr lang="en-US" altLang="zh-CN" sz="2500" b="1" baseline="-25000" dirty="0">
                <a:ea typeface="楷体_GB2312" pitchFamily="49" charset="-122"/>
              </a:rPr>
              <a:t>1</a:t>
            </a:r>
            <a:r>
              <a:rPr lang="en-US" altLang="zh-CN" sz="2500" b="1" dirty="0">
                <a:ea typeface="楷体_GB2312" pitchFamily="49" charset="-122"/>
              </a:rPr>
              <a:t> = 578 kJ·mol</a:t>
            </a:r>
            <a:r>
              <a:rPr lang="en-US" altLang="zh-CN" sz="2500" b="1" baseline="30000" dirty="0">
                <a:ea typeface="楷体_GB2312" pitchFamily="49" charset="-122"/>
              </a:rPr>
              <a:t>-1</a:t>
            </a:r>
            <a:r>
              <a:rPr lang="en-US" altLang="zh-CN" sz="2500" b="1" dirty="0">
                <a:ea typeface="楷体_GB2312" pitchFamily="49" charset="-122"/>
              </a:rPr>
              <a:t>;</a:t>
            </a:r>
          </a:p>
          <a:p>
            <a:pPr>
              <a:lnSpc>
                <a:spcPct val="110000"/>
              </a:lnSpc>
            </a:pPr>
            <a:r>
              <a:rPr lang="en-US" altLang="zh-CN" sz="2500" b="1" dirty="0">
                <a:ea typeface="楷体_GB2312" pitchFamily="49" charset="-122"/>
              </a:rPr>
              <a:t>         Al</a:t>
            </a:r>
            <a:r>
              <a:rPr lang="en-US" altLang="zh-CN" sz="2500" b="1" baseline="30000" dirty="0">
                <a:ea typeface="楷体_GB2312" pitchFamily="49" charset="-122"/>
              </a:rPr>
              <a:t>+</a:t>
            </a:r>
            <a:r>
              <a:rPr lang="en-US" altLang="zh-CN" sz="2500" b="1" dirty="0">
                <a:ea typeface="楷体_GB2312" pitchFamily="49" charset="-122"/>
              </a:rPr>
              <a:t>(g) - e</a:t>
            </a:r>
            <a:r>
              <a:rPr lang="en-US" altLang="zh-CN" sz="2500" b="1" baseline="30000" dirty="0">
                <a:ea typeface="楷体_GB2312" pitchFamily="49" charset="-122"/>
              </a:rPr>
              <a:t>-</a:t>
            </a:r>
            <a:r>
              <a:rPr lang="en-US" altLang="zh-CN" sz="2500" b="1" dirty="0">
                <a:ea typeface="楷体_GB2312" pitchFamily="49" charset="-122"/>
              </a:rPr>
              <a:t> → Al</a:t>
            </a:r>
            <a:r>
              <a:rPr lang="en-US" altLang="zh-CN" sz="2500" b="1" baseline="30000" dirty="0">
                <a:ea typeface="楷体_GB2312" pitchFamily="49" charset="-122"/>
              </a:rPr>
              <a:t>2+</a:t>
            </a:r>
            <a:r>
              <a:rPr lang="en-US" altLang="zh-CN" sz="2500" b="1" dirty="0">
                <a:ea typeface="楷体_GB2312" pitchFamily="49" charset="-122"/>
              </a:rPr>
              <a:t>(g), </a:t>
            </a:r>
            <a:r>
              <a:rPr lang="en-US" altLang="zh-CN" sz="2500" b="1" i="1" dirty="0">
                <a:ea typeface="楷体_GB2312" pitchFamily="49" charset="-122"/>
              </a:rPr>
              <a:t>I</a:t>
            </a:r>
            <a:r>
              <a:rPr lang="en-US" altLang="zh-CN" sz="2500" b="1" baseline="-25000" dirty="0">
                <a:ea typeface="楷体_GB2312" pitchFamily="49" charset="-122"/>
              </a:rPr>
              <a:t>2</a:t>
            </a:r>
            <a:r>
              <a:rPr lang="en-US" altLang="zh-CN" sz="2500" b="1" dirty="0">
                <a:ea typeface="楷体_GB2312" pitchFamily="49" charset="-122"/>
              </a:rPr>
              <a:t> = 1817kJ·mol</a:t>
            </a:r>
            <a:r>
              <a:rPr lang="en-US" altLang="zh-CN" sz="2500" b="1" baseline="30000" dirty="0">
                <a:ea typeface="楷体_GB2312" pitchFamily="49" charset="-122"/>
              </a:rPr>
              <a:t>-1</a:t>
            </a:r>
            <a:r>
              <a:rPr lang="en-US" altLang="zh-CN" sz="2500" b="1" dirty="0">
                <a:ea typeface="楷体_GB2312" pitchFamily="49" charset="-122"/>
              </a:rPr>
              <a:t>;</a:t>
            </a:r>
          </a:p>
          <a:p>
            <a:pPr>
              <a:lnSpc>
                <a:spcPct val="110000"/>
              </a:lnSpc>
            </a:pPr>
            <a:r>
              <a:rPr lang="en-US" altLang="zh-CN" sz="2500" b="1" dirty="0">
                <a:ea typeface="楷体_GB2312" pitchFamily="49" charset="-122"/>
              </a:rPr>
              <a:t>         Al</a:t>
            </a:r>
            <a:r>
              <a:rPr lang="en-US" altLang="zh-CN" sz="2500" b="1" baseline="30000" dirty="0">
                <a:ea typeface="楷体_GB2312" pitchFamily="49" charset="-122"/>
              </a:rPr>
              <a:t>2+</a:t>
            </a:r>
            <a:r>
              <a:rPr lang="en-US" altLang="zh-CN" sz="2500" b="1" dirty="0">
                <a:ea typeface="楷体_GB2312" pitchFamily="49" charset="-122"/>
              </a:rPr>
              <a:t>(g) - e</a:t>
            </a:r>
            <a:r>
              <a:rPr lang="en-US" altLang="zh-CN" sz="2500" b="1" baseline="30000" dirty="0">
                <a:ea typeface="楷体_GB2312" pitchFamily="49" charset="-122"/>
              </a:rPr>
              <a:t>-</a:t>
            </a:r>
            <a:r>
              <a:rPr lang="en-US" altLang="zh-CN" sz="2500" b="1" dirty="0">
                <a:ea typeface="楷体_GB2312" pitchFamily="49" charset="-122"/>
              </a:rPr>
              <a:t> → Al</a:t>
            </a:r>
            <a:r>
              <a:rPr lang="en-US" altLang="zh-CN" sz="2500" b="1" baseline="30000" dirty="0">
                <a:ea typeface="楷体_GB2312" pitchFamily="49" charset="-122"/>
              </a:rPr>
              <a:t>3+</a:t>
            </a:r>
            <a:r>
              <a:rPr lang="en-US" altLang="zh-CN" sz="2500" b="1" dirty="0">
                <a:ea typeface="楷体_GB2312" pitchFamily="49" charset="-122"/>
              </a:rPr>
              <a:t>(g), </a:t>
            </a:r>
            <a:r>
              <a:rPr lang="en-US" altLang="zh-CN" sz="2500" b="1" i="1" dirty="0">
                <a:ea typeface="楷体_GB2312" pitchFamily="49" charset="-122"/>
              </a:rPr>
              <a:t>I</a:t>
            </a:r>
            <a:r>
              <a:rPr lang="en-US" altLang="zh-CN" sz="2500" b="1" baseline="-25000" dirty="0">
                <a:ea typeface="楷体_GB2312" pitchFamily="49" charset="-122"/>
              </a:rPr>
              <a:t>3</a:t>
            </a:r>
            <a:r>
              <a:rPr lang="en-US" altLang="zh-CN" sz="2500" b="1" dirty="0">
                <a:ea typeface="楷体_GB2312" pitchFamily="49" charset="-122"/>
              </a:rPr>
              <a:t> = 2745kJ·mol</a:t>
            </a:r>
            <a:r>
              <a:rPr lang="en-US" altLang="zh-CN" sz="2500" b="1" baseline="30000" dirty="0">
                <a:ea typeface="楷体_GB2312" pitchFamily="49" charset="-122"/>
              </a:rPr>
              <a:t>-1</a:t>
            </a:r>
            <a:r>
              <a:rPr lang="en-US" altLang="zh-CN" sz="2500" b="1" dirty="0">
                <a:ea typeface="楷体_GB2312" pitchFamily="49" charset="-122"/>
              </a:rPr>
              <a:t>;</a:t>
            </a:r>
          </a:p>
          <a:p>
            <a:pPr>
              <a:lnSpc>
                <a:spcPct val="110000"/>
              </a:lnSpc>
            </a:pPr>
            <a:r>
              <a:rPr lang="en-US" altLang="zh-CN" sz="2500" b="1" dirty="0">
                <a:ea typeface="楷体_GB2312" pitchFamily="49" charset="-122"/>
              </a:rPr>
              <a:t>         Al</a:t>
            </a:r>
            <a:r>
              <a:rPr lang="en-US" altLang="zh-CN" sz="2500" b="1" baseline="30000" dirty="0">
                <a:ea typeface="楷体_GB2312" pitchFamily="49" charset="-122"/>
              </a:rPr>
              <a:t>3+</a:t>
            </a:r>
            <a:r>
              <a:rPr lang="en-US" altLang="zh-CN" sz="2500" b="1" dirty="0">
                <a:ea typeface="楷体_GB2312" pitchFamily="49" charset="-122"/>
              </a:rPr>
              <a:t>(g) - e</a:t>
            </a:r>
            <a:r>
              <a:rPr lang="en-US" altLang="zh-CN" sz="2500" b="1" baseline="30000" dirty="0">
                <a:ea typeface="楷体_GB2312" pitchFamily="49" charset="-122"/>
              </a:rPr>
              <a:t>-</a:t>
            </a:r>
            <a:r>
              <a:rPr lang="en-US" altLang="zh-CN" sz="2500" b="1" dirty="0">
                <a:ea typeface="楷体_GB2312" pitchFamily="49" charset="-122"/>
              </a:rPr>
              <a:t> → Al</a:t>
            </a:r>
            <a:r>
              <a:rPr lang="en-US" altLang="zh-CN" sz="2500" b="1" baseline="30000" dirty="0">
                <a:ea typeface="楷体_GB2312" pitchFamily="49" charset="-122"/>
              </a:rPr>
              <a:t>4+</a:t>
            </a:r>
            <a:r>
              <a:rPr lang="en-US" altLang="zh-CN" sz="2500" b="1" dirty="0">
                <a:ea typeface="楷体_GB2312" pitchFamily="49" charset="-122"/>
              </a:rPr>
              <a:t>(g), </a:t>
            </a:r>
            <a:r>
              <a:rPr lang="en-US" altLang="zh-CN" sz="2500" b="1" i="1" dirty="0">
                <a:ea typeface="楷体_GB2312" pitchFamily="49" charset="-122"/>
              </a:rPr>
              <a:t>I</a:t>
            </a:r>
            <a:r>
              <a:rPr lang="en-US" altLang="zh-CN" sz="2500" b="1" baseline="-25000" dirty="0">
                <a:ea typeface="楷体_GB2312" pitchFamily="49" charset="-122"/>
              </a:rPr>
              <a:t>4</a:t>
            </a:r>
            <a:r>
              <a:rPr lang="en-US" altLang="zh-CN" sz="2500" b="1" dirty="0">
                <a:ea typeface="楷体_GB2312" pitchFamily="49" charset="-122"/>
              </a:rPr>
              <a:t> = 11578kJ·mol</a:t>
            </a:r>
            <a:r>
              <a:rPr lang="en-US" altLang="zh-CN" sz="2500" b="1" baseline="30000" dirty="0">
                <a:ea typeface="楷体_GB2312" pitchFamily="49" charset="-122"/>
              </a:rPr>
              <a:t>-1</a:t>
            </a:r>
            <a:endParaRPr lang="en-US" altLang="zh-CN" sz="2500" b="1" dirty="0">
              <a:ea typeface="楷体_GB2312" pitchFamily="49" charset="-122"/>
            </a:endParaRPr>
          </a:p>
        </p:txBody>
      </p:sp>
      <p:sp>
        <p:nvSpPr>
          <p:cNvPr id="88068" name="Rectangle 4"/>
          <p:cNvSpPr>
            <a:spLocks noChangeArrowheads="1"/>
          </p:cNvSpPr>
          <p:nvPr/>
        </p:nvSpPr>
        <p:spPr bwMode="auto">
          <a:xfrm>
            <a:off x="1041400" y="1366838"/>
            <a:ext cx="2519363" cy="904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lnSpc>
                <a:spcPct val="110000"/>
              </a:lnSpc>
            </a:pPr>
            <a:r>
              <a:rPr lang="en-US" altLang="zh-CN" sz="2500" b="1">
                <a:ea typeface="楷体_GB2312" pitchFamily="49" charset="-122"/>
                <a:sym typeface="Monotype Sorts" pitchFamily="2" charset="2"/>
              </a:rPr>
              <a:t>①</a:t>
            </a:r>
            <a:r>
              <a:rPr lang="en-US" altLang="zh-CN" sz="2500" b="1" i="1">
                <a:ea typeface="楷体_GB2312" pitchFamily="49" charset="-122"/>
              </a:rPr>
              <a:t>Z</a:t>
            </a:r>
            <a:r>
              <a:rPr lang="en-US" altLang="zh-CN" sz="2500" b="1">
                <a:ea typeface="楷体_GB2312" pitchFamily="49" charset="-122"/>
              </a:rPr>
              <a:t>*;</a:t>
            </a:r>
          </a:p>
          <a:p>
            <a:pPr>
              <a:lnSpc>
                <a:spcPct val="110000"/>
              </a:lnSpc>
            </a:pPr>
            <a:r>
              <a:rPr lang="en-US" altLang="zh-CN" sz="2500" b="1">
                <a:ea typeface="楷体_GB2312" pitchFamily="49" charset="-122"/>
                <a:sym typeface="Monotype Sorts" pitchFamily="2" charset="2"/>
              </a:rPr>
              <a:t>②</a:t>
            </a:r>
            <a:r>
              <a:rPr lang="zh-CN" altLang="en-US" sz="2500" b="1">
                <a:ea typeface="楷体_GB2312" pitchFamily="49" charset="-122"/>
              </a:rPr>
              <a:t>核外电子层数</a:t>
            </a:r>
            <a:r>
              <a:rPr lang="en-US" altLang="zh-CN" sz="2500" b="1">
                <a:ea typeface="楷体_GB2312" pitchFamily="49" charset="-122"/>
              </a:rPr>
              <a:t>.</a:t>
            </a:r>
          </a:p>
        </p:txBody>
      </p:sp>
      <p:sp>
        <p:nvSpPr>
          <p:cNvPr id="88069" name="AutoShape 5"/>
          <p:cNvSpPr>
            <a:spLocks/>
          </p:cNvSpPr>
          <p:nvPr/>
        </p:nvSpPr>
        <p:spPr bwMode="auto">
          <a:xfrm>
            <a:off x="906463" y="1495425"/>
            <a:ext cx="192087" cy="720725"/>
          </a:xfrm>
          <a:prstGeom prst="leftBrace">
            <a:avLst>
              <a:gd name="adj1" fmla="val 41690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 sz="2500"/>
          </a:p>
        </p:txBody>
      </p:sp>
      <p:sp>
        <p:nvSpPr>
          <p:cNvPr id="88071" name="Rectangle 7"/>
          <p:cNvSpPr>
            <a:spLocks noChangeArrowheads="1"/>
          </p:cNvSpPr>
          <p:nvPr/>
        </p:nvSpPr>
        <p:spPr bwMode="auto">
          <a:xfrm>
            <a:off x="906463" y="2284413"/>
            <a:ext cx="2195512" cy="5159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10000"/>
              </a:lnSpc>
              <a:defRPr/>
            </a:pPr>
            <a:r>
              <a:rPr lang="en-US" altLang="zh-CN" sz="2500" b="1">
                <a:solidFill>
                  <a:schemeClr val="tx2"/>
                </a:solidFill>
                <a:ea typeface="楷体_GB2312"/>
              </a:rPr>
              <a:t>        </a:t>
            </a:r>
            <a:r>
              <a:rPr lang="zh-CN" altLang="en-US" sz="2500" b="1">
                <a:solidFill>
                  <a:schemeClr val="tx2"/>
                </a:solidFill>
                <a:ea typeface="楷体_GB2312"/>
                <a:hlinkClick r:id="rId4" action="ppaction://hlinksldjump"/>
              </a:rPr>
              <a:t>变化规律</a:t>
            </a:r>
            <a:r>
              <a:rPr lang="en-US" altLang="zh-CN" sz="2500" b="1">
                <a:solidFill>
                  <a:schemeClr val="tx2"/>
                </a:solidFill>
                <a:ea typeface="楷体_GB2312"/>
              </a:rPr>
              <a:t>.</a:t>
            </a:r>
            <a:endParaRPr lang="en-US" altLang="zh-CN" sz="2500" b="1">
              <a:solidFill>
                <a:srgbClr val="FF0066"/>
              </a:solidFill>
              <a:effectLst>
                <a:outerShdw blurRad="38100" dist="38100" dir="2700000" algn="tl">
                  <a:srgbClr val="000000"/>
                </a:outerShdw>
              </a:effectLst>
              <a:ea typeface="楷体_GB2312"/>
            </a:endParaRPr>
          </a:p>
        </p:txBody>
      </p:sp>
      <p:sp>
        <p:nvSpPr>
          <p:cNvPr id="88072" name="Rectangle 8"/>
          <p:cNvSpPr>
            <a:spLocks noChangeArrowheads="1"/>
          </p:cNvSpPr>
          <p:nvPr/>
        </p:nvSpPr>
        <p:spPr bwMode="auto">
          <a:xfrm>
            <a:off x="906463" y="2727325"/>
            <a:ext cx="4344987" cy="4810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10000"/>
              </a:lnSpc>
              <a:defRPr/>
            </a:pPr>
            <a:r>
              <a:rPr lang="en-US" altLang="zh-CN" sz="2500" b="1">
                <a:solidFill>
                  <a:srgbClr val="FF3300"/>
                </a:solidFill>
                <a:ea typeface="楷体_GB2312"/>
              </a:rPr>
              <a:t>2.</a:t>
            </a:r>
            <a:r>
              <a:rPr lang="zh-CN" altLang="en-US" sz="2500" b="1">
                <a:solidFill>
                  <a:srgbClr val="FF3300"/>
                </a:solidFill>
                <a:ea typeface="楷体_GB2312"/>
              </a:rPr>
              <a:t>电离能</a:t>
            </a:r>
            <a:r>
              <a:rPr lang="en-US" altLang="zh-CN" sz="2500" b="1">
                <a:solidFill>
                  <a:srgbClr val="FF3300"/>
                </a:solidFill>
                <a:ea typeface="楷体_GB2312"/>
              </a:rPr>
              <a:t>(</a:t>
            </a:r>
            <a:r>
              <a:rPr lang="en-US" altLang="zh-CN" sz="2500" b="1">
                <a:solidFill>
                  <a:srgbClr val="0000FF"/>
                </a:solidFill>
                <a:ea typeface="楷体_GB2312"/>
              </a:rPr>
              <a:t>ionization energy</a:t>
            </a:r>
            <a:r>
              <a:rPr lang="en-US" altLang="zh-CN" sz="2500" b="1">
                <a:solidFill>
                  <a:srgbClr val="FF3300"/>
                </a:solidFill>
                <a:ea typeface="楷体_GB2312"/>
              </a:rPr>
              <a:t>, </a:t>
            </a:r>
            <a:r>
              <a:rPr lang="en-US" altLang="zh-CN" sz="2500" b="1" i="1">
                <a:solidFill>
                  <a:srgbClr val="FF3300"/>
                </a:solidFill>
                <a:ea typeface="楷体_GB2312"/>
              </a:rPr>
              <a:t>I</a:t>
            </a:r>
            <a:r>
              <a:rPr lang="en-US" altLang="zh-CN" sz="2500" b="1">
                <a:solidFill>
                  <a:srgbClr val="FF3300"/>
                </a:solidFill>
                <a:ea typeface="楷体_GB2312"/>
              </a:rPr>
              <a:t>):</a:t>
            </a:r>
            <a:endParaRPr lang="en-US" altLang="zh-CN" sz="2500" b="1">
              <a:solidFill>
                <a:srgbClr val="FF3300"/>
              </a:solidFill>
              <a:effectLst>
                <a:outerShdw blurRad="38100" dist="38100" dir="2700000" algn="tl">
                  <a:srgbClr val="000000"/>
                </a:outerShdw>
              </a:effectLst>
              <a:ea typeface="楷体_GB2312"/>
            </a:endParaRPr>
          </a:p>
        </p:txBody>
      </p:sp>
      <p:sp>
        <p:nvSpPr>
          <p:cNvPr id="19464" name="Rectangle 35"/>
          <p:cNvSpPr>
            <a:spLocks noGrp="1" noChangeArrowheads="1"/>
          </p:cNvSpPr>
          <p:nvPr>
            <p:ph type="title"/>
          </p:nvPr>
        </p:nvSpPr>
        <p:spPr>
          <a:xfrm>
            <a:off x="576263" y="258763"/>
            <a:ext cx="10369550" cy="430212"/>
          </a:xfrm>
          <a:noFill/>
        </p:spPr>
        <p:txBody>
          <a:bodyPr/>
          <a:lstStyle/>
          <a:p>
            <a:r>
              <a:rPr lang="en-US" altLang="zh-CN" smtClean="0">
                <a:ea typeface="黑体" pitchFamily="49" charset="-122"/>
              </a:rPr>
              <a:t>7.3.3</a:t>
            </a:r>
            <a:r>
              <a:rPr lang="zh-CN" altLang="en-US" smtClean="0">
                <a:ea typeface="黑体" pitchFamily="49" charset="-122"/>
              </a:rPr>
              <a:t>元素基本性质的周期性变化规律</a:t>
            </a:r>
            <a:endParaRPr lang="zh-CN" altLang="en-US" sz="1600" b="0" smtClean="0">
              <a:solidFill>
                <a:schemeClr val="accent2"/>
              </a:solidFill>
              <a:ea typeface="黑体" pitchFamily="49" charset="-122"/>
            </a:endParaRPr>
          </a:p>
        </p:txBody>
      </p:sp>
      <p:sp>
        <p:nvSpPr>
          <p:cNvPr id="19465" name="Oval 27" descr="图片9">
            <a:hlinkClick r:id="rId5" action="ppaction://hlinksldjump"/>
          </p:cNvPr>
          <p:cNvSpPr>
            <a:spLocks noChangeAspect="1" noChangeArrowheads="1"/>
          </p:cNvSpPr>
          <p:nvPr/>
        </p:nvSpPr>
        <p:spPr bwMode="gray">
          <a:xfrm>
            <a:off x="11161713" y="5526088"/>
            <a:ext cx="360362" cy="360362"/>
          </a:xfrm>
          <a:prstGeom prst="ellipse">
            <a:avLst/>
          </a:prstGeom>
          <a:blipFill dpi="0" rotWithShape="1">
            <a:blip r:embed="rId6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>
              <a:ea typeface="黑体" pitchFamily="49" charset="-122"/>
              <a:cs typeface="楷体_GB2312" pitchFamily="49" charset="-122"/>
            </a:endParaRPr>
          </a:p>
        </p:txBody>
      </p:sp>
      <p:sp>
        <p:nvSpPr>
          <p:cNvPr id="19466" name="Oval 26" descr="图片8">
            <a:hlinkClick r:id="" action="ppaction://hlinkshowjump?jump=previousslide"/>
          </p:cNvPr>
          <p:cNvSpPr>
            <a:spLocks noChangeAspect="1" noChangeArrowheads="1"/>
          </p:cNvSpPr>
          <p:nvPr/>
        </p:nvSpPr>
        <p:spPr bwMode="gray">
          <a:xfrm>
            <a:off x="0" y="5526088"/>
            <a:ext cx="360363" cy="360362"/>
          </a:xfrm>
          <a:prstGeom prst="ellipse">
            <a:avLst/>
          </a:prstGeom>
          <a:blipFill dpi="0" rotWithShape="1">
            <a:blip r:embed="rId7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880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880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8806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1" dur="500"/>
                                        <p:tgtEl>
                                          <p:spTgt spid="8806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6" dur="500"/>
                                        <p:tgtEl>
                                          <p:spTgt spid="880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31" dur="500"/>
                                        <p:tgtEl>
                                          <p:spTgt spid="880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6" dur="500"/>
                                        <p:tgtEl>
                                          <p:spTgt spid="880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1" dur="500"/>
                                        <p:tgtEl>
                                          <p:spTgt spid="880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6" dur="500"/>
                                        <p:tgtEl>
                                          <p:spTgt spid="880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1" dur="500"/>
                                        <p:tgtEl>
                                          <p:spTgt spid="880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6" dur="500"/>
                                        <p:tgtEl>
                                          <p:spTgt spid="880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NOTIFY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8066" grpId="0" autoUpdateAnimBg="0"/>
      <p:bldP spid="88067" grpId="0" uiExpand="1" build="p" autoUpdateAnimBg="0"/>
      <p:bldP spid="88068" grpId="0" build="p" autoUpdateAnimBg="0"/>
      <p:bldP spid="88069" grpId="0" animBg="1"/>
      <p:bldP spid="88071" grpId="0" autoUpdateAnimBg="0"/>
      <p:bldP spid="88072" grpId="0" autoUpdateAnimBg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1" name="Text Box 3"/>
          <p:cNvSpPr txBox="1">
            <a:spLocks noChangeArrowheads="1"/>
          </p:cNvSpPr>
          <p:nvPr/>
        </p:nvSpPr>
        <p:spPr bwMode="auto">
          <a:xfrm>
            <a:off x="1028700" y="2447925"/>
            <a:ext cx="569913" cy="1512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eaVert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500" b="1">
                <a:solidFill>
                  <a:srgbClr val="0000FF"/>
                </a:solidFill>
                <a:ea typeface="黑体" pitchFamily="49" charset="-122"/>
              </a:rPr>
              <a:t>主族元素</a:t>
            </a:r>
            <a:endParaRPr lang="zh-CN" altLang="en-US" sz="2500" b="1">
              <a:solidFill>
                <a:schemeClr val="accent2"/>
              </a:solidFill>
            </a:endParaRPr>
          </a:p>
        </p:txBody>
      </p:sp>
      <p:sp>
        <p:nvSpPr>
          <p:cNvPr id="89092" name="Rectangle 4"/>
          <p:cNvSpPr>
            <a:spLocks noChangeArrowheads="1"/>
          </p:cNvSpPr>
          <p:nvPr/>
        </p:nvSpPr>
        <p:spPr bwMode="auto">
          <a:xfrm>
            <a:off x="7761288" y="2239963"/>
            <a:ext cx="2590800" cy="1362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lnSpc>
                <a:spcPct val="110000"/>
              </a:lnSpc>
            </a:pPr>
            <a:r>
              <a:rPr lang="zh-CN" altLang="en-US" sz="2500" b="1" dirty="0">
                <a:solidFill>
                  <a:srgbClr val="FF3300"/>
                </a:solidFill>
                <a:ea typeface="楷体_GB2312" pitchFamily="49" charset="-122"/>
              </a:rPr>
              <a:t>规律</a:t>
            </a:r>
            <a:r>
              <a:rPr lang="en-US" altLang="zh-CN" sz="2500" b="1" dirty="0">
                <a:solidFill>
                  <a:srgbClr val="FF3300"/>
                </a:solidFill>
                <a:ea typeface="楷体_GB2312" pitchFamily="49" charset="-122"/>
              </a:rPr>
              <a:t>(</a:t>
            </a:r>
            <a:r>
              <a:rPr lang="en-US" altLang="zh-CN" sz="2500" b="1" dirty="0">
                <a:solidFill>
                  <a:srgbClr val="0000FF"/>
                </a:solidFill>
                <a:ea typeface="楷体_GB2312" pitchFamily="49" charset="-122"/>
              </a:rPr>
              <a:t>rule</a:t>
            </a:r>
            <a:r>
              <a:rPr lang="en-US" altLang="zh-CN" sz="2500" b="1" dirty="0">
                <a:solidFill>
                  <a:srgbClr val="FF3300"/>
                </a:solidFill>
                <a:ea typeface="楷体_GB2312" pitchFamily="49" charset="-122"/>
              </a:rPr>
              <a:t>):</a:t>
            </a:r>
            <a:endParaRPr lang="en-US" altLang="zh-CN" sz="2500" b="1" dirty="0">
              <a:ea typeface="楷体_GB2312" pitchFamily="49" charset="-122"/>
            </a:endParaRPr>
          </a:p>
          <a:p>
            <a:pPr>
              <a:lnSpc>
                <a:spcPct val="110000"/>
              </a:lnSpc>
            </a:pPr>
            <a:r>
              <a:rPr lang="zh-CN" altLang="en-US" sz="2500" b="1" dirty="0">
                <a:ea typeface="楷体_GB2312" pitchFamily="49" charset="-122"/>
              </a:rPr>
              <a:t>从左到右</a:t>
            </a:r>
            <a:r>
              <a:rPr lang="en-US" altLang="zh-CN" sz="2500" b="1" dirty="0">
                <a:ea typeface="楷体_GB2312" pitchFamily="49" charset="-122"/>
              </a:rPr>
              <a:t>,</a:t>
            </a:r>
            <a:r>
              <a:rPr lang="en-US" altLang="zh-CN" sz="2500" b="1" i="1" dirty="0">
                <a:ea typeface="楷体_GB2312" pitchFamily="49" charset="-122"/>
              </a:rPr>
              <a:t> r</a:t>
            </a:r>
            <a:r>
              <a:rPr lang="en-US" altLang="zh-CN" sz="2500" b="1" dirty="0">
                <a:ea typeface="楷体_GB2312" pitchFamily="49" charset="-122"/>
              </a:rPr>
              <a:t> </a:t>
            </a:r>
            <a:r>
              <a:rPr lang="zh-CN" altLang="zh-CN" sz="2500" b="1" dirty="0">
                <a:ea typeface="楷体_GB2312" pitchFamily="49" charset="-122"/>
              </a:rPr>
              <a:t>减</a:t>
            </a:r>
            <a:r>
              <a:rPr lang="zh-CN" altLang="en-US" sz="2500" b="1" dirty="0">
                <a:ea typeface="楷体_GB2312" pitchFamily="49" charset="-122"/>
              </a:rPr>
              <a:t>小</a:t>
            </a:r>
            <a:r>
              <a:rPr lang="en-US" altLang="zh-CN" sz="2500" b="1" dirty="0">
                <a:ea typeface="楷体_GB2312" pitchFamily="49" charset="-122"/>
              </a:rPr>
              <a:t>;</a:t>
            </a:r>
          </a:p>
          <a:p>
            <a:pPr>
              <a:lnSpc>
                <a:spcPct val="110000"/>
              </a:lnSpc>
            </a:pPr>
            <a:r>
              <a:rPr lang="zh-CN" altLang="en-US" sz="2500" b="1" dirty="0">
                <a:ea typeface="楷体_GB2312" pitchFamily="49" charset="-122"/>
              </a:rPr>
              <a:t>从上到下</a:t>
            </a:r>
            <a:r>
              <a:rPr lang="en-US" altLang="zh-CN" sz="2500" b="1" dirty="0">
                <a:ea typeface="楷体_GB2312" pitchFamily="49" charset="-122"/>
              </a:rPr>
              <a:t>,</a:t>
            </a:r>
            <a:r>
              <a:rPr lang="en-US" altLang="zh-CN" sz="2500" b="1" i="1" dirty="0">
                <a:ea typeface="楷体_GB2312" pitchFamily="49" charset="-122"/>
              </a:rPr>
              <a:t> r</a:t>
            </a:r>
            <a:r>
              <a:rPr lang="en-US" altLang="zh-CN" sz="2500" b="1" dirty="0">
                <a:ea typeface="楷体_GB2312" pitchFamily="49" charset="-122"/>
              </a:rPr>
              <a:t> </a:t>
            </a:r>
            <a:r>
              <a:rPr lang="zh-CN" altLang="en-US" sz="2500" b="1" dirty="0">
                <a:ea typeface="楷体_GB2312" pitchFamily="49" charset="-122"/>
              </a:rPr>
              <a:t>增大</a:t>
            </a:r>
            <a:r>
              <a:rPr lang="en-US" altLang="zh-CN" sz="2500" b="1" dirty="0">
                <a:ea typeface="楷体_GB2312" pitchFamily="49" charset="-122"/>
              </a:rPr>
              <a:t>.</a:t>
            </a:r>
            <a:endParaRPr lang="zh-CN" altLang="en-US" sz="2500" b="1" dirty="0">
              <a:ea typeface="楷体_GB2312" pitchFamily="49" charset="-122"/>
            </a:endParaRPr>
          </a:p>
        </p:txBody>
      </p:sp>
      <p:grpSp>
        <p:nvGrpSpPr>
          <p:cNvPr id="2" name="Group 6"/>
          <p:cNvGrpSpPr>
            <a:grpSpLocks/>
          </p:cNvGrpSpPr>
          <p:nvPr/>
        </p:nvGrpSpPr>
        <p:grpSpPr bwMode="auto">
          <a:xfrm>
            <a:off x="1768475" y="1063625"/>
            <a:ext cx="5894388" cy="4659313"/>
            <a:chOff x="816" y="680"/>
            <a:chExt cx="2947" cy="3156"/>
          </a:xfrm>
        </p:grpSpPr>
        <p:pic>
          <p:nvPicPr>
            <p:cNvPr id="20488" name="Picture 7"/>
            <p:cNvPicPr>
              <a:picLocks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816" y="680"/>
              <a:ext cx="2947" cy="3060"/>
            </a:xfrm>
            <a:prstGeom prst="rect">
              <a:avLst/>
            </a:prstGeom>
            <a:noFill/>
            <a:ln w="25400">
              <a:solidFill>
                <a:srgbClr val="FF00FF"/>
              </a:solidFill>
              <a:miter lim="800000"/>
              <a:headEnd/>
              <a:tailEnd/>
            </a:ln>
          </p:spPr>
        </p:pic>
        <p:sp>
          <p:nvSpPr>
            <p:cNvPr id="20489" name="Rectangle 8"/>
            <p:cNvSpPr>
              <a:spLocks noChangeArrowheads="1"/>
            </p:cNvSpPr>
            <p:nvPr/>
          </p:nvSpPr>
          <p:spPr bwMode="auto">
            <a:xfrm>
              <a:off x="1722" y="3513"/>
              <a:ext cx="1381" cy="32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zh-CN" altLang="en-US" sz="2500" b="1">
                  <a:solidFill>
                    <a:srgbClr val="0000FF"/>
                  </a:solidFill>
                  <a:ea typeface="黑体" pitchFamily="49" charset="-122"/>
                </a:rPr>
                <a:t>主族元素原子半径</a:t>
              </a:r>
            </a:p>
          </p:txBody>
        </p:sp>
      </p:grpSp>
      <p:sp>
        <p:nvSpPr>
          <p:cNvPr id="20485" name="Rectangle 35"/>
          <p:cNvSpPr>
            <a:spLocks noGrp="1" noChangeArrowheads="1"/>
          </p:cNvSpPr>
          <p:nvPr>
            <p:ph type="title"/>
          </p:nvPr>
        </p:nvSpPr>
        <p:spPr>
          <a:xfrm>
            <a:off x="576263" y="258763"/>
            <a:ext cx="10369550" cy="430212"/>
          </a:xfrm>
          <a:noFill/>
        </p:spPr>
        <p:txBody>
          <a:bodyPr/>
          <a:lstStyle/>
          <a:p>
            <a:r>
              <a:rPr lang="en-US" altLang="zh-CN" smtClean="0">
                <a:ea typeface="黑体" pitchFamily="49" charset="-122"/>
              </a:rPr>
              <a:t>7.3.3</a:t>
            </a:r>
            <a:r>
              <a:rPr lang="zh-CN" altLang="en-US" smtClean="0">
                <a:ea typeface="黑体" pitchFamily="49" charset="-122"/>
              </a:rPr>
              <a:t>元素基本性质的周期性变化规律</a:t>
            </a:r>
            <a:endParaRPr lang="zh-CN" altLang="en-US" sz="1600" b="0" smtClean="0">
              <a:solidFill>
                <a:schemeClr val="accent2"/>
              </a:solidFill>
              <a:ea typeface="黑体" pitchFamily="49" charset="-122"/>
            </a:endParaRPr>
          </a:p>
        </p:txBody>
      </p:sp>
      <p:sp>
        <p:nvSpPr>
          <p:cNvPr id="10" name="Oval 27" descr="图片9">
            <a:hlinkClick r:id="" action="ppaction://hlinkshowjump?jump=nextslide"/>
          </p:cNvPr>
          <p:cNvSpPr>
            <a:spLocks noChangeAspect="1" noChangeArrowheads="1"/>
          </p:cNvSpPr>
          <p:nvPr/>
        </p:nvSpPr>
        <p:spPr bwMode="gray">
          <a:xfrm>
            <a:off x="5546723" y="5668979"/>
            <a:ext cx="360362" cy="360362"/>
          </a:xfrm>
          <a:prstGeom prst="ellipse">
            <a:avLst/>
          </a:prstGeom>
          <a:blipFill dpi="0" rotWithShape="1">
            <a:blip r:embed="rId4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>
              <a:ea typeface="黑体" pitchFamily="49" charset="-122"/>
              <a:cs typeface="楷体_GB2312" pitchFamily="49" charset="-122"/>
            </a:endParaRPr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90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" dur="500"/>
                                        <p:tgtEl>
                                          <p:spTgt spid="890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0" dur="500"/>
                                        <p:tgtEl>
                                          <p:spTgt spid="8909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5" dur="500"/>
                                        <p:tgtEl>
                                          <p:spTgt spid="8909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9091" grpId="0" autoUpdateAnimBg="0"/>
      <p:bldP spid="89092" grpId="0" uiExpand="1" build="p" autoUpdateAnimBg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5" name="Rectangle 3"/>
          <p:cNvSpPr>
            <a:spLocks noChangeArrowheads="1"/>
          </p:cNvSpPr>
          <p:nvPr/>
        </p:nvSpPr>
        <p:spPr bwMode="auto">
          <a:xfrm>
            <a:off x="906463" y="5105400"/>
            <a:ext cx="936625" cy="477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sz="2500" b="1">
                <a:solidFill>
                  <a:srgbClr val="FF3300"/>
                </a:solidFill>
                <a:ea typeface="楷体_GB2312"/>
              </a:rPr>
              <a:t>规律</a:t>
            </a:r>
            <a:r>
              <a:rPr lang="en-US" altLang="zh-CN" sz="2500" b="1">
                <a:solidFill>
                  <a:srgbClr val="FF3300"/>
                </a:solidFill>
                <a:ea typeface="楷体_GB2312"/>
              </a:rPr>
              <a:t>:</a:t>
            </a:r>
            <a:endParaRPr lang="en-US" altLang="zh-CN" sz="2500" b="1">
              <a:solidFill>
                <a:srgbClr val="FF3300"/>
              </a:solidFill>
              <a:effectLst>
                <a:outerShdw blurRad="38100" dist="38100" dir="2700000" algn="tl">
                  <a:srgbClr val="000000"/>
                </a:outerShdw>
              </a:effectLst>
              <a:ea typeface="楷体_GB2312"/>
            </a:endParaRPr>
          </a:p>
        </p:txBody>
      </p:sp>
      <p:sp>
        <p:nvSpPr>
          <p:cNvPr id="90116" name="Rectangle 4"/>
          <p:cNvSpPr>
            <a:spLocks noChangeArrowheads="1"/>
          </p:cNvSpPr>
          <p:nvPr/>
        </p:nvSpPr>
        <p:spPr bwMode="auto">
          <a:xfrm>
            <a:off x="6754813" y="5105400"/>
            <a:ext cx="3127375" cy="477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sz="2500" b="1" dirty="0">
                <a:ea typeface="楷体_GB2312" pitchFamily="49" charset="-122"/>
              </a:rPr>
              <a:t>从上到下</a:t>
            </a:r>
            <a:r>
              <a:rPr lang="en-US" altLang="zh-CN" sz="2500" b="1" dirty="0">
                <a:ea typeface="楷体_GB2312" pitchFamily="49" charset="-122"/>
              </a:rPr>
              <a:t>, </a:t>
            </a:r>
            <a:r>
              <a:rPr lang="en-US" altLang="zh-CN" sz="2500" b="1" i="1" dirty="0">
                <a:ea typeface="楷体_GB2312" pitchFamily="49" charset="-122"/>
              </a:rPr>
              <a:t>r</a:t>
            </a:r>
            <a:r>
              <a:rPr lang="zh-CN" altLang="zh-CN" sz="2500" b="1" dirty="0">
                <a:ea typeface="楷体_GB2312" pitchFamily="49" charset="-122"/>
              </a:rPr>
              <a:t>略</a:t>
            </a:r>
            <a:r>
              <a:rPr lang="zh-CN" altLang="en-US" sz="2500" b="1" dirty="0">
                <a:ea typeface="楷体_GB2312" pitchFamily="49" charset="-122"/>
              </a:rPr>
              <a:t>有增大</a:t>
            </a:r>
            <a:r>
              <a:rPr lang="en-US" altLang="zh-CN" sz="2500" b="1" dirty="0">
                <a:ea typeface="楷体_GB2312" pitchFamily="49" charset="-122"/>
              </a:rPr>
              <a:t>.</a:t>
            </a:r>
          </a:p>
        </p:txBody>
      </p:sp>
      <p:sp>
        <p:nvSpPr>
          <p:cNvPr id="90117" name="Rectangle 5"/>
          <p:cNvSpPr>
            <a:spLocks noChangeArrowheads="1"/>
          </p:cNvSpPr>
          <p:nvPr/>
        </p:nvSpPr>
        <p:spPr bwMode="auto">
          <a:xfrm>
            <a:off x="4943475" y="1020763"/>
            <a:ext cx="1997075" cy="477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defRPr/>
            </a:pPr>
            <a:r>
              <a:rPr lang="zh-CN" altLang="en-US" sz="2500" b="1">
                <a:solidFill>
                  <a:srgbClr val="0000FF"/>
                </a:solidFill>
                <a:ea typeface="黑体" pitchFamily="2" charset="-122"/>
              </a:rPr>
              <a:t>过渡元素</a:t>
            </a:r>
            <a:endParaRPr lang="zh-CN" altLang="en-US" sz="2500" b="1"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90118" name="Rectangle 6"/>
          <p:cNvSpPr>
            <a:spLocks noChangeArrowheads="1"/>
          </p:cNvSpPr>
          <p:nvPr/>
        </p:nvSpPr>
        <p:spPr bwMode="auto">
          <a:xfrm>
            <a:off x="2039938" y="5105400"/>
            <a:ext cx="3556000" cy="477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500" b="1">
                <a:ea typeface="楷体_GB2312" pitchFamily="49" charset="-122"/>
                <a:sym typeface="Monotype Sorts" pitchFamily="2" charset="2"/>
              </a:rPr>
              <a:t>①</a:t>
            </a:r>
            <a:r>
              <a:rPr lang="zh-CN" altLang="en-US" sz="2500" b="1">
                <a:ea typeface="楷体_GB2312" pitchFamily="49" charset="-122"/>
              </a:rPr>
              <a:t>从左到右</a:t>
            </a:r>
            <a:r>
              <a:rPr lang="en-US" altLang="zh-CN" sz="2500" b="1">
                <a:ea typeface="楷体_GB2312" pitchFamily="49" charset="-122"/>
              </a:rPr>
              <a:t>,</a:t>
            </a:r>
            <a:r>
              <a:rPr lang="en-US" altLang="zh-CN" sz="2500" b="1" i="1">
                <a:ea typeface="楷体_GB2312" pitchFamily="49" charset="-122"/>
              </a:rPr>
              <a:t> r</a:t>
            </a:r>
            <a:r>
              <a:rPr lang="en-US" altLang="zh-CN" sz="2500" b="1">
                <a:ea typeface="楷体_GB2312" pitchFamily="49" charset="-122"/>
              </a:rPr>
              <a:t> </a:t>
            </a:r>
            <a:r>
              <a:rPr lang="zh-CN" altLang="en-US" sz="2500" b="1">
                <a:ea typeface="楷体_GB2312" pitchFamily="49" charset="-122"/>
              </a:rPr>
              <a:t>缓慢减小</a:t>
            </a:r>
            <a:r>
              <a:rPr lang="en-US" altLang="zh-CN" sz="2500" b="1">
                <a:ea typeface="楷体_GB2312" pitchFamily="49" charset="-122"/>
              </a:rPr>
              <a:t>;</a:t>
            </a:r>
          </a:p>
        </p:txBody>
      </p:sp>
      <p:grpSp>
        <p:nvGrpSpPr>
          <p:cNvPr id="2" name="Group 7"/>
          <p:cNvGrpSpPr>
            <a:grpSpLocks/>
          </p:cNvGrpSpPr>
          <p:nvPr/>
        </p:nvGrpSpPr>
        <p:grpSpPr bwMode="auto">
          <a:xfrm>
            <a:off x="587375" y="1460500"/>
            <a:ext cx="10429875" cy="3673475"/>
            <a:chOff x="294" y="1020"/>
            <a:chExt cx="5214" cy="2449"/>
          </a:xfrm>
        </p:grpSpPr>
        <p:pic>
          <p:nvPicPr>
            <p:cNvPr id="21515" name="Picture 8" descr="snap54"/>
            <p:cNvPicPr>
              <a:picLocks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294" y="1020"/>
              <a:ext cx="5214" cy="2380"/>
            </a:xfrm>
            <a:prstGeom prst="rect">
              <a:avLst/>
            </a:prstGeom>
            <a:noFill/>
            <a:ln w="25400">
              <a:solidFill>
                <a:srgbClr val="FF00FF"/>
              </a:solidFill>
              <a:miter lim="800000"/>
              <a:headEnd/>
              <a:tailEnd/>
            </a:ln>
          </p:spPr>
        </p:pic>
        <p:sp>
          <p:nvSpPr>
            <p:cNvPr id="21516" name="Rectangle 9"/>
            <p:cNvSpPr>
              <a:spLocks noChangeArrowheads="1"/>
            </p:cNvSpPr>
            <p:nvPr/>
          </p:nvSpPr>
          <p:spPr bwMode="auto">
            <a:xfrm>
              <a:off x="2267" y="3151"/>
              <a:ext cx="1381" cy="31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zh-CN" altLang="en-US" sz="2500" b="1">
                  <a:solidFill>
                    <a:srgbClr val="0000FF"/>
                  </a:solidFill>
                  <a:latin typeface="楷体_GB2312" pitchFamily="49" charset="-122"/>
                  <a:ea typeface="黑体" pitchFamily="49" charset="-122"/>
                </a:rPr>
                <a:t>过渡元素原子半径</a:t>
              </a:r>
            </a:p>
          </p:txBody>
        </p:sp>
      </p:grpSp>
      <p:sp>
        <p:nvSpPr>
          <p:cNvPr id="90123" name="Freeform 11"/>
          <p:cNvSpPr>
            <a:spLocks/>
          </p:cNvSpPr>
          <p:nvPr/>
        </p:nvSpPr>
        <p:spPr bwMode="auto">
          <a:xfrm>
            <a:off x="3340100" y="3025775"/>
            <a:ext cx="3811588" cy="352425"/>
          </a:xfrm>
          <a:custGeom>
            <a:avLst/>
            <a:gdLst>
              <a:gd name="T0" fmla="*/ 0 w 1905"/>
              <a:gd name="T1" fmla="*/ 0 h 235"/>
              <a:gd name="T2" fmla="*/ 2147483647 w 1905"/>
              <a:gd name="T3" fmla="*/ 2147483647 h 235"/>
              <a:gd name="T4" fmla="*/ 2147483647 w 1905"/>
              <a:gd name="T5" fmla="*/ 2147483647 h 235"/>
              <a:gd name="T6" fmla="*/ 2147483647 w 1905"/>
              <a:gd name="T7" fmla="*/ 2147483647 h 235"/>
              <a:gd name="T8" fmla="*/ 2147483647 w 1905"/>
              <a:gd name="T9" fmla="*/ 2147483647 h 235"/>
              <a:gd name="T10" fmla="*/ 2147483647 w 1905"/>
              <a:gd name="T11" fmla="*/ 2147483647 h 235"/>
              <a:gd name="T12" fmla="*/ 2147483647 w 1905"/>
              <a:gd name="T13" fmla="*/ 2147483647 h 235"/>
              <a:gd name="T14" fmla="*/ 2147483647 w 1905"/>
              <a:gd name="T15" fmla="*/ 2147483647 h 235"/>
              <a:gd name="T16" fmla="*/ 2147483647 w 1905"/>
              <a:gd name="T17" fmla="*/ 2147483647 h 235"/>
              <a:gd name="T18" fmla="*/ 2147483647 w 1905"/>
              <a:gd name="T19" fmla="*/ 2147483647 h 235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1905"/>
              <a:gd name="T31" fmla="*/ 0 h 235"/>
              <a:gd name="T32" fmla="*/ 1905 w 1905"/>
              <a:gd name="T33" fmla="*/ 235 h 235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1905" h="235">
                <a:moveTo>
                  <a:pt x="0" y="0"/>
                </a:moveTo>
                <a:cubicBezTo>
                  <a:pt x="38" y="30"/>
                  <a:pt x="76" y="61"/>
                  <a:pt x="136" y="91"/>
                </a:cubicBezTo>
                <a:cubicBezTo>
                  <a:pt x="196" y="121"/>
                  <a:pt x="257" y="158"/>
                  <a:pt x="363" y="181"/>
                </a:cubicBezTo>
                <a:cubicBezTo>
                  <a:pt x="469" y="204"/>
                  <a:pt x="680" y="219"/>
                  <a:pt x="771" y="227"/>
                </a:cubicBezTo>
                <a:cubicBezTo>
                  <a:pt x="862" y="235"/>
                  <a:pt x="862" y="227"/>
                  <a:pt x="907" y="227"/>
                </a:cubicBezTo>
                <a:cubicBezTo>
                  <a:pt x="952" y="227"/>
                  <a:pt x="1006" y="227"/>
                  <a:pt x="1044" y="227"/>
                </a:cubicBezTo>
                <a:cubicBezTo>
                  <a:pt x="1082" y="227"/>
                  <a:pt x="1074" y="227"/>
                  <a:pt x="1134" y="227"/>
                </a:cubicBezTo>
                <a:cubicBezTo>
                  <a:pt x="1194" y="227"/>
                  <a:pt x="1323" y="235"/>
                  <a:pt x="1406" y="227"/>
                </a:cubicBezTo>
                <a:cubicBezTo>
                  <a:pt x="1489" y="219"/>
                  <a:pt x="1550" y="204"/>
                  <a:pt x="1633" y="181"/>
                </a:cubicBezTo>
                <a:cubicBezTo>
                  <a:pt x="1716" y="158"/>
                  <a:pt x="1852" y="114"/>
                  <a:pt x="1905" y="91"/>
                </a:cubicBezTo>
              </a:path>
            </a:pathLst>
          </a:custGeom>
          <a:noFill/>
          <a:ln w="38100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zh-CN" altLang="en-US" sz="2500"/>
          </a:p>
        </p:txBody>
      </p:sp>
      <p:sp>
        <p:nvSpPr>
          <p:cNvPr id="21512" name="Rectangle 35"/>
          <p:cNvSpPr>
            <a:spLocks noGrp="1" noChangeArrowheads="1"/>
          </p:cNvSpPr>
          <p:nvPr>
            <p:ph type="title"/>
          </p:nvPr>
        </p:nvSpPr>
        <p:spPr>
          <a:xfrm>
            <a:off x="576263" y="258763"/>
            <a:ext cx="10369550" cy="430212"/>
          </a:xfrm>
          <a:noFill/>
        </p:spPr>
        <p:txBody>
          <a:bodyPr/>
          <a:lstStyle/>
          <a:p>
            <a:r>
              <a:rPr lang="en-US" altLang="zh-CN" smtClean="0">
                <a:ea typeface="黑体" pitchFamily="49" charset="-122"/>
              </a:rPr>
              <a:t>7.3.3</a:t>
            </a:r>
            <a:r>
              <a:rPr lang="zh-CN" altLang="en-US" smtClean="0">
                <a:ea typeface="黑体" pitchFamily="49" charset="-122"/>
              </a:rPr>
              <a:t>元素基本性质的周期性变化规律</a:t>
            </a:r>
            <a:endParaRPr lang="zh-CN" altLang="en-US" sz="1600" b="0" smtClean="0">
              <a:solidFill>
                <a:schemeClr val="accent2"/>
              </a:solidFill>
              <a:ea typeface="黑体" pitchFamily="49" charset="-122"/>
            </a:endParaRPr>
          </a:p>
        </p:txBody>
      </p:sp>
      <p:sp>
        <p:nvSpPr>
          <p:cNvPr id="13" name="Oval 27" descr="图片9">
            <a:hlinkClick r:id="" action="ppaction://hlinkshowjump?jump=nextslide"/>
          </p:cNvPr>
          <p:cNvSpPr>
            <a:spLocks noChangeAspect="1" noChangeArrowheads="1"/>
          </p:cNvSpPr>
          <p:nvPr/>
        </p:nvSpPr>
        <p:spPr bwMode="gray">
          <a:xfrm>
            <a:off x="5546723" y="5668979"/>
            <a:ext cx="360362" cy="360362"/>
          </a:xfrm>
          <a:prstGeom prst="ellipse">
            <a:avLst/>
          </a:prstGeom>
          <a:blipFill dpi="0" rotWithShape="1">
            <a:blip r:embed="rId4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>
              <a:ea typeface="黑体" pitchFamily="49" charset="-122"/>
              <a:cs typeface="楷体_GB2312" pitchFamily="49" charset="-122"/>
            </a:endParaRPr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0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4" dur="500"/>
                                        <p:tgtEl>
                                          <p:spTgt spid="90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9" dur="500"/>
                                        <p:tgtEl>
                                          <p:spTgt spid="90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4" dur="500"/>
                                        <p:tgtEl>
                                          <p:spTgt spid="90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90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0115" grpId="0" autoUpdateAnimBg="0"/>
      <p:bldP spid="90116" grpId="0" autoUpdateAnimBg="0"/>
      <p:bldP spid="90117" grpId="0" autoUpdateAnimBg="0"/>
      <p:bldP spid="90118" grpId="0" autoUpdateAnimBg="0"/>
      <p:bldP spid="90123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/>
          </p:cNvGrpSpPr>
          <p:nvPr/>
        </p:nvGrpSpPr>
        <p:grpSpPr bwMode="auto">
          <a:xfrm>
            <a:off x="5802313" y="2719388"/>
            <a:ext cx="5097462" cy="2551112"/>
            <a:chOff x="2901" y="1813"/>
            <a:chExt cx="2548" cy="1701"/>
          </a:xfrm>
        </p:grpSpPr>
        <p:graphicFrame>
          <p:nvGraphicFramePr>
            <p:cNvPr id="14" name="Object 3"/>
            <p:cNvGraphicFramePr>
              <a:graphicFrameLocks noChangeAspect="1"/>
            </p:cNvGraphicFramePr>
            <p:nvPr/>
          </p:nvGraphicFramePr>
          <p:xfrm>
            <a:off x="2901" y="1813"/>
            <a:ext cx="2548" cy="1701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4"/>
            </a:graphicData>
          </a:graphic>
        </p:graphicFrame>
        <p:sp>
          <p:nvSpPr>
            <p:cNvPr id="1037" name="Rectangle 4"/>
            <p:cNvSpPr>
              <a:spLocks noChangeArrowheads="1"/>
            </p:cNvSpPr>
            <p:nvPr/>
          </p:nvSpPr>
          <p:spPr bwMode="auto">
            <a:xfrm>
              <a:off x="3808" y="1881"/>
              <a:ext cx="1059" cy="34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lnSpc>
                  <a:spcPct val="110000"/>
                </a:lnSpc>
              </a:pPr>
              <a:r>
                <a:rPr lang="zh-CN" altLang="en-US" sz="2500" b="1">
                  <a:solidFill>
                    <a:schemeClr val="bg2"/>
                  </a:solidFill>
                  <a:ea typeface="黑体" pitchFamily="49" charset="-122"/>
                </a:rPr>
                <a:t>第六周期元素</a:t>
              </a:r>
            </a:p>
          </p:txBody>
        </p:sp>
      </p:grpSp>
      <p:grpSp>
        <p:nvGrpSpPr>
          <p:cNvPr id="3" name="Group 5"/>
          <p:cNvGrpSpPr>
            <a:grpSpLocks/>
          </p:cNvGrpSpPr>
          <p:nvPr/>
        </p:nvGrpSpPr>
        <p:grpSpPr bwMode="auto">
          <a:xfrm>
            <a:off x="1131888" y="2719388"/>
            <a:ext cx="5546725" cy="2755900"/>
            <a:chOff x="566" y="1813"/>
            <a:chExt cx="2773" cy="1837"/>
          </a:xfrm>
        </p:grpSpPr>
        <p:graphicFrame>
          <p:nvGraphicFramePr>
            <p:cNvPr id="15" name="Object 2"/>
            <p:cNvGraphicFramePr>
              <a:graphicFrameLocks noChangeAspect="1"/>
            </p:cNvGraphicFramePr>
            <p:nvPr/>
          </p:nvGraphicFramePr>
          <p:xfrm>
            <a:off x="566" y="1813"/>
            <a:ext cx="2548" cy="1699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5"/>
            </a:graphicData>
          </a:graphic>
        </p:graphicFrame>
        <p:sp>
          <p:nvSpPr>
            <p:cNvPr id="1035" name="Rectangle 7"/>
            <p:cNvSpPr>
              <a:spLocks noChangeArrowheads="1"/>
            </p:cNvSpPr>
            <p:nvPr/>
          </p:nvSpPr>
          <p:spPr bwMode="auto">
            <a:xfrm>
              <a:off x="1496" y="1881"/>
              <a:ext cx="1059" cy="34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lnSpc>
                  <a:spcPct val="110000"/>
                </a:lnSpc>
              </a:pPr>
              <a:r>
                <a:rPr lang="zh-CN" altLang="en-US" sz="2500" b="1">
                  <a:solidFill>
                    <a:schemeClr val="bg2"/>
                  </a:solidFill>
                  <a:ea typeface="黑体" pitchFamily="49" charset="-122"/>
                </a:rPr>
                <a:t>第五周期元素</a:t>
              </a:r>
            </a:p>
          </p:txBody>
        </p:sp>
        <p:sp>
          <p:nvSpPr>
            <p:cNvPr id="1036" name="Rectangle 8"/>
            <p:cNvSpPr>
              <a:spLocks noChangeArrowheads="1"/>
            </p:cNvSpPr>
            <p:nvPr/>
          </p:nvSpPr>
          <p:spPr bwMode="auto">
            <a:xfrm>
              <a:off x="2335" y="3332"/>
              <a:ext cx="1004" cy="31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zh-CN" altLang="en-US" sz="2500" b="1">
                  <a:solidFill>
                    <a:schemeClr val="bg2"/>
                  </a:solidFill>
                  <a:ea typeface="黑体" pitchFamily="49" charset="-122"/>
                </a:rPr>
                <a:t>原子半径</a:t>
              </a:r>
              <a:r>
                <a:rPr lang="en-US" altLang="zh-CN" sz="2500" b="1">
                  <a:solidFill>
                    <a:schemeClr val="bg2"/>
                  </a:solidFill>
                  <a:ea typeface="黑体" pitchFamily="49" charset="-122"/>
                </a:rPr>
                <a:t>/pm</a:t>
              </a:r>
            </a:p>
          </p:txBody>
        </p:sp>
      </p:grpSp>
      <p:sp>
        <p:nvSpPr>
          <p:cNvPr id="91146" name="Rectangle 10"/>
          <p:cNvSpPr>
            <a:spLocks noChangeArrowheads="1"/>
          </p:cNvSpPr>
          <p:nvPr/>
        </p:nvSpPr>
        <p:spPr bwMode="auto">
          <a:xfrm>
            <a:off x="906463" y="992188"/>
            <a:ext cx="5227637" cy="477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2500" b="1">
                <a:ea typeface="楷体_GB2312"/>
                <a:sym typeface="Monotype Sorts" pitchFamily="2" charset="2"/>
              </a:rPr>
              <a:t>②</a:t>
            </a:r>
            <a:r>
              <a:rPr lang="zh-CN" altLang="en-US" sz="2500" b="1">
                <a:solidFill>
                  <a:srgbClr val="FF3300"/>
                </a:solidFill>
                <a:ea typeface="楷体_GB2312"/>
              </a:rPr>
              <a:t>镧系收缩</a:t>
            </a:r>
            <a:r>
              <a:rPr lang="en-US" altLang="zh-CN" sz="2500" b="1">
                <a:solidFill>
                  <a:srgbClr val="FF3300"/>
                </a:solidFill>
                <a:ea typeface="楷体_GB2312"/>
              </a:rPr>
              <a:t>(</a:t>
            </a:r>
            <a:r>
              <a:rPr lang="en-US" altLang="zh-CN" sz="2500" b="1">
                <a:solidFill>
                  <a:srgbClr val="0000FF"/>
                </a:solidFill>
                <a:ea typeface="楷体_GB2312"/>
              </a:rPr>
              <a:t>lanthanide contraction</a:t>
            </a:r>
            <a:r>
              <a:rPr lang="en-US" altLang="zh-CN" sz="2500" b="1">
                <a:solidFill>
                  <a:srgbClr val="FF3300"/>
                </a:solidFill>
                <a:ea typeface="楷体_GB2312"/>
              </a:rPr>
              <a:t>):</a:t>
            </a:r>
            <a:endParaRPr lang="en-US" altLang="zh-CN" sz="2500" b="1">
              <a:solidFill>
                <a:srgbClr val="FF3300"/>
              </a:solidFill>
              <a:effectLst>
                <a:outerShdw blurRad="38100" dist="38100" dir="2700000" algn="tl">
                  <a:srgbClr val="000000"/>
                </a:outerShdw>
              </a:effectLst>
              <a:ea typeface="楷体_GB2312"/>
            </a:endParaRPr>
          </a:p>
        </p:txBody>
      </p:sp>
      <p:sp>
        <p:nvSpPr>
          <p:cNvPr id="91147" name="Rectangle 11"/>
          <p:cNvSpPr>
            <a:spLocks noChangeArrowheads="1"/>
          </p:cNvSpPr>
          <p:nvPr/>
        </p:nvSpPr>
        <p:spPr bwMode="auto">
          <a:xfrm>
            <a:off x="906463" y="1358900"/>
            <a:ext cx="10136187" cy="17510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10000"/>
              </a:lnSpc>
            </a:pPr>
            <a:r>
              <a:rPr lang="zh-CN" altLang="en-US" sz="2500" b="1" dirty="0">
                <a:ea typeface="楷体_GB2312" pitchFamily="49" charset="-122"/>
              </a:rPr>
              <a:t>　　镧系元素整个系列的原子半径缩小的现象</a:t>
            </a:r>
            <a:r>
              <a:rPr lang="en-US" altLang="zh-CN" sz="2500" b="1" dirty="0">
                <a:ea typeface="楷体_GB2312" pitchFamily="49" charset="-122"/>
              </a:rPr>
              <a:t>.</a:t>
            </a:r>
          </a:p>
          <a:p>
            <a:pPr>
              <a:lnSpc>
                <a:spcPct val="110000"/>
              </a:lnSpc>
            </a:pPr>
            <a:r>
              <a:rPr lang="zh-CN" altLang="en-US" sz="2500" b="1" dirty="0">
                <a:ea typeface="楷体_GB2312" pitchFamily="49" charset="-122"/>
              </a:rPr>
              <a:t>　　因镧系收缩</a:t>
            </a:r>
            <a:r>
              <a:rPr lang="en-US" altLang="zh-CN" sz="2500" b="1" dirty="0">
                <a:ea typeface="楷体_GB2312" pitchFamily="49" charset="-122"/>
              </a:rPr>
              <a:t>,</a:t>
            </a:r>
            <a:r>
              <a:rPr lang="zh-CN" altLang="en-US" sz="2500" b="1" dirty="0">
                <a:ea typeface="楷体_GB2312" pitchFamily="49" charset="-122"/>
              </a:rPr>
              <a:t>使</a:t>
            </a:r>
            <a:r>
              <a:rPr lang="en-US" altLang="zh-CN" sz="2500" b="1" dirty="0">
                <a:ea typeface="楷体_GB2312" pitchFamily="49" charset="-122"/>
              </a:rPr>
              <a:t>La</a:t>
            </a:r>
            <a:r>
              <a:rPr lang="zh-CN" altLang="en-US" sz="2500" b="1" dirty="0">
                <a:ea typeface="楷体_GB2312" pitchFamily="49" charset="-122"/>
              </a:rPr>
              <a:t>以后元素的原子半径与第五周期同族元素的原子半径非常接近</a:t>
            </a:r>
            <a:r>
              <a:rPr lang="en-US" altLang="zh-CN" sz="2500" b="1" dirty="0">
                <a:ea typeface="楷体_GB2312" pitchFamily="49" charset="-122"/>
              </a:rPr>
              <a:t>.</a:t>
            </a:r>
          </a:p>
          <a:p>
            <a:pPr>
              <a:lnSpc>
                <a:spcPct val="110000"/>
              </a:lnSpc>
            </a:pPr>
            <a:r>
              <a:rPr lang="zh-CN" altLang="en-US" sz="2500" b="1" dirty="0">
                <a:ea typeface="楷体_GB2312" pitchFamily="49" charset="-122"/>
              </a:rPr>
              <a:t>如</a:t>
            </a:r>
            <a:r>
              <a:rPr lang="en-US" altLang="zh-CN" sz="2500" b="1" dirty="0">
                <a:ea typeface="楷体_GB2312" pitchFamily="49" charset="-122"/>
              </a:rPr>
              <a:t>:</a:t>
            </a:r>
          </a:p>
        </p:txBody>
      </p:sp>
      <p:sp>
        <p:nvSpPr>
          <p:cNvPr id="1032" name="Rectangle 35"/>
          <p:cNvSpPr>
            <a:spLocks noGrp="1" noChangeArrowheads="1"/>
          </p:cNvSpPr>
          <p:nvPr>
            <p:ph type="title"/>
          </p:nvPr>
        </p:nvSpPr>
        <p:spPr>
          <a:xfrm>
            <a:off x="576263" y="258763"/>
            <a:ext cx="10369550" cy="430212"/>
          </a:xfrm>
          <a:noFill/>
        </p:spPr>
        <p:txBody>
          <a:bodyPr/>
          <a:lstStyle/>
          <a:p>
            <a:r>
              <a:rPr lang="en-US" altLang="zh-CN" smtClean="0">
                <a:ea typeface="黑体" pitchFamily="49" charset="-122"/>
              </a:rPr>
              <a:t>7.3.3</a:t>
            </a:r>
            <a:r>
              <a:rPr lang="zh-CN" altLang="en-US" smtClean="0">
                <a:ea typeface="黑体" pitchFamily="49" charset="-122"/>
              </a:rPr>
              <a:t>元素基本性质的周期性变化规律</a:t>
            </a:r>
            <a:endParaRPr lang="zh-CN" altLang="en-US" sz="1600" b="0" smtClean="0">
              <a:solidFill>
                <a:schemeClr val="accent2"/>
              </a:solidFill>
              <a:ea typeface="黑体" pitchFamily="49" charset="-122"/>
            </a:endParaRPr>
          </a:p>
        </p:txBody>
      </p:sp>
      <p:sp>
        <p:nvSpPr>
          <p:cNvPr id="1034" name="Oval 26" descr="图片8">
            <a:hlinkClick r:id="rId6" action="ppaction://hlinksldjump"/>
          </p:cNvPr>
          <p:cNvSpPr>
            <a:spLocks noChangeAspect="1" noChangeArrowheads="1"/>
          </p:cNvSpPr>
          <p:nvPr/>
        </p:nvSpPr>
        <p:spPr bwMode="gray">
          <a:xfrm>
            <a:off x="5546723" y="5668979"/>
            <a:ext cx="360363" cy="360362"/>
          </a:xfrm>
          <a:prstGeom prst="ellipse">
            <a:avLst/>
          </a:prstGeom>
          <a:blipFill dpi="0" rotWithShape="1">
            <a:blip r:embed="rId7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91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91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91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911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14" presetClass="entr" presetSubtype="5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2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NOTIFY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1146" grpId="0" autoUpdateAnimBg="0"/>
      <p:bldP spid="91147" grpId="0" build="p" autoUpdateAnimBg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2"/>
          <p:cNvSpPr>
            <a:spLocks noChangeArrowheads="1"/>
          </p:cNvSpPr>
          <p:nvPr/>
        </p:nvSpPr>
        <p:spPr bwMode="auto">
          <a:xfrm>
            <a:off x="5035550" y="1809750"/>
            <a:ext cx="2197100" cy="1327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lnSpc>
                <a:spcPct val="110000"/>
              </a:lnSpc>
            </a:pPr>
            <a:r>
              <a:rPr lang="en-US" altLang="zh-CN" sz="2500" b="1">
                <a:ea typeface="楷体_GB2312" pitchFamily="49" charset="-122"/>
                <a:sym typeface="Monotype Sorts" pitchFamily="2" charset="2"/>
              </a:rPr>
              <a:t>①</a:t>
            </a:r>
            <a:r>
              <a:rPr lang="en-US" altLang="zh-CN" sz="2500" b="1" i="1">
                <a:ea typeface="楷体_GB2312" pitchFamily="49" charset="-122"/>
              </a:rPr>
              <a:t>Z</a:t>
            </a:r>
            <a:r>
              <a:rPr lang="en-US" altLang="zh-CN" sz="2500" b="1">
                <a:ea typeface="楷体_GB2312" pitchFamily="49" charset="-122"/>
              </a:rPr>
              <a:t>*;</a:t>
            </a:r>
          </a:p>
          <a:p>
            <a:pPr>
              <a:lnSpc>
                <a:spcPct val="110000"/>
              </a:lnSpc>
            </a:pPr>
            <a:r>
              <a:rPr lang="en-US" altLang="zh-CN" sz="2500" b="1">
                <a:ea typeface="楷体_GB2312" pitchFamily="49" charset="-122"/>
                <a:sym typeface="Monotype Sorts" pitchFamily="2" charset="2"/>
              </a:rPr>
              <a:t>②</a:t>
            </a:r>
            <a:r>
              <a:rPr lang="en-US" altLang="zh-CN" sz="2500" b="1" i="1">
                <a:ea typeface="楷体_GB2312" pitchFamily="49" charset="-122"/>
              </a:rPr>
              <a:t>r</a:t>
            </a:r>
            <a:r>
              <a:rPr lang="en-US" altLang="zh-CN" sz="2500" b="1">
                <a:ea typeface="楷体_GB2312" pitchFamily="49" charset="-122"/>
              </a:rPr>
              <a:t>;</a:t>
            </a:r>
          </a:p>
          <a:p>
            <a:pPr>
              <a:lnSpc>
                <a:spcPct val="110000"/>
              </a:lnSpc>
            </a:pPr>
            <a:r>
              <a:rPr lang="en-US" altLang="zh-CN" sz="2500" b="1">
                <a:ea typeface="楷体_GB2312" pitchFamily="49" charset="-122"/>
                <a:sym typeface="Monotype Sorts" pitchFamily="2" charset="2"/>
              </a:rPr>
              <a:t>③</a:t>
            </a:r>
            <a:r>
              <a:rPr lang="zh-CN" altLang="en-US" sz="2500" b="1">
                <a:ea typeface="楷体_GB2312" pitchFamily="49" charset="-122"/>
              </a:rPr>
              <a:t>电子层结构</a:t>
            </a:r>
            <a:r>
              <a:rPr lang="en-US" altLang="zh-CN" sz="2500" b="1">
                <a:ea typeface="楷体_GB2312" pitchFamily="49" charset="-122"/>
              </a:rPr>
              <a:t>.</a:t>
            </a:r>
          </a:p>
        </p:txBody>
      </p:sp>
      <p:sp>
        <p:nvSpPr>
          <p:cNvPr id="92163" name="AutoShape 3"/>
          <p:cNvSpPr>
            <a:spLocks/>
          </p:cNvSpPr>
          <p:nvPr/>
        </p:nvSpPr>
        <p:spPr bwMode="auto">
          <a:xfrm>
            <a:off x="4852988" y="2039938"/>
            <a:ext cx="192087" cy="936625"/>
          </a:xfrm>
          <a:prstGeom prst="leftBrace">
            <a:avLst>
              <a:gd name="adj1" fmla="val 54178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 sz="2500"/>
          </a:p>
        </p:txBody>
      </p:sp>
      <p:sp>
        <p:nvSpPr>
          <p:cNvPr id="92164" name="Rectangle 4"/>
          <p:cNvSpPr>
            <a:spLocks noChangeArrowheads="1"/>
          </p:cNvSpPr>
          <p:nvPr/>
        </p:nvSpPr>
        <p:spPr bwMode="auto">
          <a:xfrm>
            <a:off x="906463" y="2282825"/>
            <a:ext cx="2867025" cy="477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500" b="1">
                <a:solidFill>
                  <a:srgbClr val="FF3300"/>
                </a:solidFill>
                <a:ea typeface="楷体_GB2312" pitchFamily="49" charset="-122"/>
              </a:rPr>
              <a:t>        </a:t>
            </a:r>
            <a:r>
              <a:rPr lang="zh-CN" altLang="en-US" sz="2500" b="1">
                <a:solidFill>
                  <a:srgbClr val="FF3300"/>
                </a:solidFill>
                <a:ea typeface="楷体_GB2312" pitchFamily="49" charset="-122"/>
              </a:rPr>
              <a:t>主要影响因素</a:t>
            </a:r>
            <a:r>
              <a:rPr lang="en-US" altLang="zh-CN" sz="2500" b="1">
                <a:ea typeface="楷体_GB2312" pitchFamily="49" charset="-122"/>
              </a:rPr>
              <a:t>:</a:t>
            </a:r>
          </a:p>
        </p:txBody>
      </p:sp>
      <p:sp>
        <p:nvSpPr>
          <p:cNvPr id="92165" name="Rectangle 5"/>
          <p:cNvSpPr>
            <a:spLocks noChangeArrowheads="1"/>
          </p:cNvSpPr>
          <p:nvPr/>
        </p:nvSpPr>
        <p:spPr bwMode="auto">
          <a:xfrm>
            <a:off x="906463" y="950913"/>
            <a:ext cx="10039350" cy="477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sz="2500" b="1" dirty="0">
                <a:ea typeface="楷体_GB2312" pitchFamily="49" charset="-122"/>
              </a:rPr>
              <a:t>        </a:t>
            </a:r>
            <a:r>
              <a:rPr lang="en-US" altLang="zh-CN" sz="2500" b="1" i="1" dirty="0">
                <a:ea typeface="楷体_GB2312" pitchFamily="49" charset="-122"/>
              </a:rPr>
              <a:t>I</a:t>
            </a:r>
            <a:r>
              <a:rPr lang="en-US" altLang="zh-CN" sz="2500" b="1" baseline="-25000" dirty="0">
                <a:ea typeface="楷体_GB2312" pitchFamily="49" charset="-122"/>
              </a:rPr>
              <a:t>1</a:t>
            </a:r>
            <a:r>
              <a:rPr lang="en-US" altLang="zh-CN" sz="2500" b="1" dirty="0">
                <a:ea typeface="楷体_GB2312" pitchFamily="49" charset="-122"/>
              </a:rPr>
              <a:t> &lt; </a:t>
            </a:r>
            <a:r>
              <a:rPr lang="en-US" altLang="zh-CN" sz="2500" b="1" i="1" dirty="0">
                <a:ea typeface="楷体_GB2312" pitchFamily="49" charset="-122"/>
              </a:rPr>
              <a:t>I</a:t>
            </a:r>
            <a:r>
              <a:rPr lang="en-US" altLang="zh-CN" sz="2500" b="1" baseline="-25000" dirty="0">
                <a:ea typeface="楷体_GB2312" pitchFamily="49" charset="-122"/>
              </a:rPr>
              <a:t>2</a:t>
            </a:r>
            <a:r>
              <a:rPr lang="en-US" altLang="zh-CN" sz="2500" b="1" dirty="0">
                <a:ea typeface="楷体_GB2312" pitchFamily="49" charset="-122"/>
              </a:rPr>
              <a:t> &lt; </a:t>
            </a:r>
            <a:r>
              <a:rPr lang="en-US" altLang="zh-CN" sz="2500" b="1" i="1" dirty="0">
                <a:ea typeface="楷体_GB2312" pitchFamily="49" charset="-122"/>
              </a:rPr>
              <a:t>I</a:t>
            </a:r>
            <a:r>
              <a:rPr lang="en-US" altLang="zh-CN" sz="2500" b="1" baseline="-25000" dirty="0">
                <a:ea typeface="楷体_GB2312" pitchFamily="49" charset="-122"/>
              </a:rPr>
              <a:t>3</a:t>
            </a:r>
            <a:r>
              <a:rPr lang="en-US" altLang="zh-CN" sz="2500" b="1" dirty="0">
                <a:ea typeface="楷体_GB2312" pitchFamily="49" charset="-122"/>
              </a:rPr>
              <a:t> &lt; </a:t>
            </a:r>
            <a:r>
              <a:rPr lang="en-US" altLang="zh-CN" sz="2500" b="1" i="1" dirty="0">
                <a:ea typeface="楷体_GB2312" pitchFamily="49" charset="-122"/>
              </a:rPr>
              <a:t>I</a:t>
            </a:r>
            <a:r>
              <a:rPr lang="en-US" altLang="zh-CN" sz="2500" b="1" baseline="-25000" dirty="0">
                <a:ea typeface="楷体_GB2312" pitchFamily="49" charset="-122"/>
              </a:rPr>
              <a:t>4</a:t>
            </a:r>
            <a:r>
              <a:rPr lang="en-US" altLang="zh-CN" sz="2500" b="1" dirty="0">
                <a:ea typeface="楷体_GB2312" pitchFamily="49" charset="-122"/>
              </a:rPr>
              <a:t> </a:t>
            </a:r>
            <a:r>
              <a:rPr lang="en-US" altLang="zh-CN" sz="2500" b="1" dirty="0">
                <a:ea typeface="楷体_GB2312" pitchFamily="49" charset="-122"/>
                <a:sym typeface="Symbol" pitchFamily="18" charset="2"/>
              </a:rPr>
              <a:t> </a:t>
            </a:r>
            <a:endParaRPr lang="en-US" altLang="zh-CN" sz="2500" b="1" dirty="0">
              <a:ea typeface="楷体_GB2312" pitchFamily="49" charset="-122"/>
            </a:endParaRPr>
          </a:p>
        </p:txBody>
      </p:sp>
      <p:sp>
        <p:nvSpPr>
          <p:cNvPr id="92166" name="Rectangle 6"/>
          <p:cNvSpPr>
            <a:spLocks noChangeArrowheads="1"/>
          </p:cNvSpPr>
          <p:nvPr/>
        </p:nvSpPr>
        <p:spPr bwMode="auto">
          <a:xfrm>
            <a:off x="906463" y="1358900"/>
            <a:ext cx="10136187" cy="4810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10000"/>
              </a:lnSpc>
            </a:pPr>
            <a:r>
              <a:rPr lang="en-US" altLang="zh-CN" sz="2500" b="1">
                <a:ea typeface="楷体_GB2312" pitchFamily="49" charset="-122"/>
              </a:rPr>
              <a:t>        </a:t>
            </a:r>
            <a:r>
              <a:rPr lang="zh-CN" altLang="en-US" sz="2500" b="1">
                <a:ea typeface="楷体_GB2312" pitchFamily="49" charset="-122"/>
              </a:rPr>
              <a:t>电离能越小</a:t>
            </a:r>
            <a:r>
              <a:rPr lang="en-US" altLang="zh-CN" sz="2500" b="1">
                <a:ea typeface="楷体_GB2312" pitchFamily="49" charset="-122"/>
              </a:rPr>
              <a:t>(</a:t>
            </a:r>
            <a:r>
              <a:rPr lang="zh-CN" altLang="en-US" sz="2500" b="1">
                <a:ea typeface="楷体_GB2312" pitchFamily="49" charset="-122"/>
              </a:rPr>
              <a:t>大</a:t>
            </a:r>
            <a:r>
              <a:rPr lang="en-US" altLang="zh-CN" sz="2500" b="1">
                <a:ea typeface="楷体_GB2312" pitchFamily="49" charset="-122"/>
              </a:rPr>
              <a:t>),</a:t>
            </a:r>
            <a:r>
              <a:rPr lang="zh-CN" altLang="en-US" sz="2500" b="1">
                <a:ea typeface="楷体_GB2312" pitchFamily="49" charset="-122"/>
              </a:rPr>
              <a:t>原子就越易</a:t>
            </a:r>
            <a:r>
              <a:rPr lang="en-US" altLang="zh-CN" sz="2500" b="1">
                <a:ea typeface="楷体_GB2312" pitchFamily="49" charset="-122"/>
              </a:rPr>
              <a:t>(</a:t>
            </a:r>
            <a:r>
              <a:rPr lang="zh-CN" altLang="en-US" sz="2500" b="1">
                <a:ea typeface="楷体_GB2312" pitchFamily="49" charset="-122"/>
              </a:rPr>
              <a:t>难</a:t>
            </a:r>
            <a:r>
              <a:rPr lang="en-US" altLang="zh-CN" sz="2500" b="1">
                <a:ea typeface="楷体_GB2312" pitchFamily="49" charset="-122"/>
              </a:rPr>
              <a:t>)</a:t>
            </a:r>
            <a:r>
              <a:rPr lang="zh-CN" altLang="en-US" sz="2500" b="1">
                <a:ea typeface="楷体_GB2312" pitchFamily="49" charset="-122"/>
              </a:rPr>
              <a:t>失去电子</a:t>
            </a:r>
            <a:r>
              <a:rPr lang="en-US" altLang="zh-CN" sz="2500" b="1">
                <a:ea typeface="楷体_GB2312" pitchFamily="49" charset="-122"/>
              </a:rPr>
              <a:t>.</a:t>
            </a:r>
          </a:p>
        </p:txBody>
      </p:sp>
      <p:sp>
        <p:nvSpPr>
          <p:cNvPr id="92167" name="Rectangle 7"/>
          <p:cNvSpPr>
            <a:spLocks noChangeArrowheads="1"/>
          </p:cNvSpPr>
          <p:nvPr/>
        </p:nvSpPr>
        <p:spPr bwMode="auto">
          <a:xfrm>
            <a:off x="974725" y="3025775"/>
            <a:ext cx="2517775" cy="477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500" b="1">
                <a:ea typeface="楷体_GB2312" pitchFamily="49" charset="-122"/>
              </a:rPr>
              <a:t>        </a:t>
            </a:r>
            <a:r>
              <a:rPr lang="zh-CN" altLang="en-US" sz="2500" b="1">
                <a:ea typeface="楷体_GB2312" pitchFamily="49" charset="-122"/>
                <a:hlinkClick r:id="rId4" action="ppaction://hlinksldjump"/>
              </a:rPr>
              <a:t>周期性变化</a:t>
            </a:r>
            <a:r>
              <a:rPr lang="en-US" altLang="zh-CN" sz="2500" b="1">
                <a:ea typeface="楷体_GB2312" pitchFamily="49" charset="-122"/>
              </a:rPr>
              <a:t>.</a:t>
            </a:r>
          </a:p>
        </p:txBody>
      </p:sp>
      <p:sp>
        <p:nvSpPr>
          <p:cNvPr id="92168" name="Rectangle 8"/>
          <p:cNvSpPr>
            <a:spLocks noChangeArrowheads="1"/>
          </p:cNvSpPr>
          <p:nvPr/>
        </p:nvSpPr>
        <p:spPr bwMode="auto">
          <a:xfrm>
            <a:off x="906463" y="3609975"/>
            <a:ext cx="4538662" cy="477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2500" b="1">
                <a:solidFill>
                  <a:srgbClr val="FF3300"/>
                </a:solidFill>
                <a:ea typeface="楷体_GB2312"/>
              </a:rPr>
              <a:t>3.</a:t>
            </a:r>
            <a:r>
              <a:rPr lang="zh-CN" altLang="en-US" sz="2500" b="1">
                <a:solidFill>
                  <a:srgbClr val="FF3300"/>
                </a:solidFill>
                <a:ea typeface="楷体_GB2312"/>
              </a:rPr>
              <a:t>电子亲和能</a:t>
            </a:r>
            <a:r>
              <a:rPr lang="en-US" altLang="zh-CN" sz="2500" b="1">
                <a:solidFill>
                  <a:srgbClr val="FF3300"/>
                </a:solidFill>
                <a:ea typeface="楷体_GB2312"/>
              </a:rPr>
              <a:t>(</a:t>
            </a:r>
            <a:r>
              <a:rPr lang="en-US" altLang="zh-CN" sz="2500" b="1">
                <a:solidFill>
                  <a:srgbClr val="0000FF"/>
                </a:solidFill>
                <a:ea typeface="楷体_GB2312"/>
              </a:rPr>
              <a:t>electron affinity</a:t>
            </a:r>
            <a:r>
              <a:rPr lang="en-US" altLang="zh-CN" sz="2500" b="1">
                <a:solidFill>
                  <a:srgbClr val="FF3300"/>
                </a:solidFill>
                <a:ea typeface="楷体_GB2312"/>
              </a:rPr>
              <a:t>):</a:t>
            </a:r>
            <a:endParaRPr lang="en-US" altLang="zh-CN" sz="2500" b="1">
              <a:solidFill>
                <a:srgbClr val="FF3300"/>
              </a:solidFill>
              <a:effectLst>
                <a:outerShdw blurRad="38100" dist="38100" dir="2700000" algn="tl">
                  <a:srgbClr val="000000"/>
                </a:outerShdw>
              </a:effectLst>
              <a:ea typeface="楷体_GB2312"/>
            </a:endParaRPr>
          </a:p>
        </p:txBody>
      </p:sp>
      <p:sp>
        <p:nvSpPr>
          <p:cNvPr id="92169" name="Rectangle 9"/>
          <p:cNvSpPr>
            <a:spLocks noChangeArrowheads="1"/>
          </p:cNvSpPr>
          <p:nvPr/>
        </p:nvSpPr>
        <p:spPr bwMode="auto">
          <a:xfrm>
            <a:off x="906463" y="4019550"/>
            <a:ext cx="6289675" cy="1331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lnSpc>
                <a:spcPct val="110000"/>
              </a:lnSpc>
            </a:pPr>
            <a:r>
              <a:rPr lang="en-US" altLang="zh-CN" sz="2500" b="1" dirty="0">
                <a:ea typeface="楷体_GB2312" pitchFamily="49" charset="-122"/>
              </a:rPr>
              <a:t>        </a:t>
            </a:r>
            <a:r>
              <a:rPr lang="zh-CN" altLang="en-US" sz="2500" b="1" dirty="0">
                <a:ea typeface="楷体_GB2312" pitchFamily="49" charset="-122"/>
              </a:rPr>
              <a:t>定义</a:t>
            </a:r>
            <a:r>
              <a:rPr lang="en-US" altLang="zh-CN" sz="2500" b="1" dirty="0">
                <a:ea typeface="楷体_GB2312" pitchFamily="49" charset="-122"/>
              </a:rPr>
              <a:t>: M(g) + e</a:t>
            </a:r>
            <a:r>
              <a:rPr lang="en-US" altLang="zh-CN" sz="2500" b="1" baseline="30000" dirty="0">
                <a:ea typeface="楷体_GB2312" pitchFamily="49" charset="-122"/>
              </a:rPr>
              <a:t>-</a:t>
            </a:r>
            <a:r>
              <a:rPr lang="en-US" altLang="zh-CN" sz="2500" b="1" dirty="0">
                <a:ea typeface="楷体_GB2312" pitchFamily="49" charset="-122"/>
              </a:rPr>
              <a:t> → M</a:t>
            </a:r>
            <a:r>
              <a:rPr lang="en-US" altLang="zh-CN" sz="2500" b="1" baseline="30000" dirty="0">
                <a:ea typeface="楷体_GB2312" pitchFamily="49" charset="-122"/>
              </a:rPr>
              <a:t>-</a:t>
            </a:r>
            <a:r>
              <a:rPr lang="en-US" altLang="zh-CN" sz="2500" b="1" dirty="0">
                <a:ea typeface="楷体_GB2312" pitchFamily="49" charset="-122"/>
              </a:rPr>
              <a:t>(g), </a:t>
            </a:r>
            <a:r>
              <a:rPr lang="en-US" altLang="zh-CN" sz="2500" b="1" i="1" dirty="0">
                <a:ea typeface="楷体_GB2312" pitchFamily="49" charset="-122"/>
              </a:rPr>
              <a:t>E</a:t>
            </a:r>
            <a:r>
              <a:rPr lang="en-US" altLang="zh-CN" sz="2500" b="1" baseline="-25000" dirty="0">
                <a:ea typeface="楷体_GB2312" pitchFamily="49" charset="-122"/>
              </a:rPr>
              <a:t>ea</a:t>
            </a:r>
            <a:r>
              <a:rPr lang="en-US" altLang="zh-CN" sz="2500" b="1" baseline="-50000" dirty="0">
                <a:ea typeface="楷体_GB2312" pitchFamily="49" charset="-122"/>
              </a:rPr>
              <a:t>1</a:t>
            </a:r>
          </a:p>
          <a:p>
            <a:pPr>
              <a:lnSpc>
                <a:spcPct val="110000"/>
              </a:lnSpc>
            </a:pPr>
            <a:r>
              <a:rPr lang="zh-CN" altLang="en-US" sz="2500" b="1" dirty="0">
                <a:ea typeface="楷体_GB2312" pitchFamily="49" charset="-122"/>
              </a:rPr>
              <a:t>如</a:t>
            </a:r>
            <a:r>
              <a:rPr lang="en-US" altLang="zh-CN" sz="2500" b="1" dirty="0">
                <a:ea typeface="楷体_GB2312" pitchFamily="49" charset="-122"/>
              </a:rPr>
              <a:t>:    O(g) + e</a:t>
            </a:r>
            <a:r>
              <a:rPr lang="en-US" altLang="zh-CN" sz="2500" b="1" baseline="30000" dirty="0">
                <a:ea typeface="楷体_GB2312" pitchFamily="49" charset="-122"/>
              </a:rPr>
              <a:t>-</a:t>
            </a:r>
            <a:r>
              <a:rPr lang="en-US" altLang="zh-CN" sz="2500" b="1" dirty="0">
                <a:ea typeface="楷体_GB2312" pitchFamily="49" charset="-122"/>
              </a:rPr>
              <a:t> → O</a:t>
            </a:r>
            <a:r>
              <a:rPr lang="en-US" altLang="zh-CN" sz="2500" b="1" baseline="30000" dirty="0">
                <a:ea typeface="楷体_GB2312" pitchFamily="49" charset="-122"/>
              </a:rPr>
              <a:t>-</a:t>
            </a:r>
            <a:r>
              <a:rPr lang="en-US" altLang="zh-CN" sz="2500" b="1" dirty="0">
                <a:ea typeface="楷体_GB2312" pitchFamily="49" charset="-122"/>
              </a:rPr>
              <a:t>(g), </a:t>
            </a:r>
            <a:r>
              <a:rPr lang="en-US" altLang="zh-CN" sz="2500" b="1" i="1" dirty="0">
                <a:ea typeface="楷体_GB2312" pitchFamily="49" charset="-122"/>
              </a:rPr>
              <a:t>E</a:t>
            </a:r>
            <a:r>
              <a:rPr lang="en-US" altLang="zh-CN" sz="2500" b="1" baseline="-25000" dirty="0">
                <a:ea typeface="楷体_GB2312" pitchFamily="49" charset="-122"/>
              </a:rPr>
              <a:t>ea</a:t>
            </a:r>
            <a:r>
              <a:rPr lang="en-US" altLang="zh-CN" sz="2500" b="1" baseline="-50000" dirty="0">
                <a:ea typeface="楷体_GB2312" pitchFamily="49" charset="-122"/>
              </a:rPr>
              <a:t>1</a:t>
            </a:r>
            <a:r>
              <a:rPr lang="en-US" altLang="zh-CN" sz="2500" b="1" dirty="0">
                <a:ea typeface="楷体_GB2312" pitchFamily="49" charset="-122"/>
              </a:rPr>
              <a:t>= 141.8 kJ·mol</a:t>
            </a:r>
            <a:r>
              <a:rPr lang="en-US" altLang="zh-CN" sz="2500" b="1" baseline="30000" dirty="0">
                <a:ea typeface="楷体_GB2312" pitchFamily="49" charset="-122"/>
              </a:rPr>
              <a:t>-1</a:t>
            </a:r>
            <a:r>
              <a:rPr lang="en-US" altLang="zh-CN" sz="2500" b="1" dirty="0">
                <a:ea typeface="楷体_GB2312" pitchFamily="49" charset="-122"/>
              </a:rPr>
              <a:t>;</a:t>
            </a:r>
          </a:p>
          <a:p>
            <a:pPr>
              <a:lnSpc>
                <a:spcPct val="110000"/>
              </a:lnSpc>
            </a:pPr>
            <a:r>
              <a:rPr lang="en-US" altLang="zh-CN" sz="2500" b="1" dirty="0">
                <a:ea typeface="楷体_GB2312" pitchFamily="49" charset="-122"/>
              </a:rPr>
              <a:t>         O</a:t>
            </a:r>
            <a:r>
              <a:rPr lang="en-US" altLang="zh-CN" sz="2500" b="1" baseline="30000" dirty="0">
                <a:ea typeface="楷体_GB2312" pitchFamily="49" charset="-122"/>
              </a:rPr>
              <a:t>-</a:t>
            </a:r>
            <a:r>
              <a:rPr lang="en-US" altLang="zh-CN" sz="2500" b="1" dirty="0">
                <a:ea typeface="楷体_GB2312" pitchFamily="49" charset="-122"/>
              </a:rPr>
              <a:t>(g) + e</a:t>
            </a:r>
            <a:r>
              <a:rPr lang="en-US" altLang="zh-CN" sz="2500" b="1" baseline="30000" dirty="0">
                <a:ea typeface="楷体_GB2312" pitchFamily="49" charset="-122"/>
              </a:rPr>
              <a:t>-</a:t>
            </a:r>
            <a:r>
              <a:rPr lang="en-US" altLang="zh-CN" sz="2500" b="1" dirty="0">
                <a:ea typeface="楷体_GB2312" pitchFamily="49" charset="-122"/>
              </a:rPr>
              <a:t> → O</a:t>
            </a:r>
            <a:r>
              <a:rPr lang="en-US" altLang="zh-CN" sz="2500" b="1" baseline="30000" dirty="0">
                <a:ea typeface="楷体_GB2312" pitchFamily="49" charset="-122"/>
              </a:rPr>
              <a:t>2-</a:t>
            </a:r>
            <a:r>
              <a:rPr lang="en-US" altLang="zh-CN" sz="2500" b="1" dirty="0">
                <a:ea typeface="楷体_GB2312" pitchFamily="49" charset="-122"/>
              </a:rPr>
              <a:t>(g), </a:t>
            </a:r>
            <a:r>
              <a:rPr lang="en-US" altLang="zh-CN" sz="2500" b="1" i="1" dirty="0">
                <a:ea typeface="楷体_GB2312" pitchFamily="49" charset="-122"/>
              </a:rPr>
              <a:t>E</a:t>
            </a:r>
            <a:r>
              <a:rPr lang="en-US" altLang="zh-CN" sz="2500" b="1" baseline="-25000" dirty="0">
                <a:ea typeface="楷体_GB2312" pitchFamily="49" charset="-122"/>
              </a:rPr>
              <a:t>ea</a:t>
            </a:r>
            <a:r>
              <a:rPr lang="en-US" altLang="zh-CN" sz="2500" b="1" baseline="-50000" dirty="0">
                <a:ea typeface="楷体_GB2312" pitchFamily="49" charset="-122"/>
              </a:rPr>
              <a:t>2</a:t>
            </a:r>
            <a:r>
              <a:rPr lang="en-US" altLang="zh-CN" sz="2500" b="1" dirty="0">
                <a:ea typeface="楷体_GB2312" pitchFamily="49" charset="-122"/>
              </a:rPr>
              <a:t>= -780 kJ·mol</a:t>
            </a:r>
            <a:r>
              <a:rPr lang="en-US" altLang="zh-CN" sz="2500" b="1" baseline="30000" dirty="0">
                <a:ea typeface="楷体_GB2312" pitchFamily="49" charset="-122"/>
              </a:rPr>
              <a:t>-1</a:t>
            </a:r>
          </a:p>
        </p:txBody>
      </p:sp>
      <p:sp>
        <p:nvSpPr>
          <p:cNvPr id="22538" name="Rectangle 35"/>
          <p:cNvSpPr>
            <a:spLocks noGrp="1" noChangeArrowheads="1"/>
          </p:cNvSpPr>
          <p:nvPr>
            <p:ph type="title"/>
          </p:nvPr>
        </p:nvSpPr>
        <p:spPr>
          <a:xfrm>
            <a:off x="576263" y="258763"/>
            <a:ext cx="10369550" cy="430212"/>
          </a:xfrm>
          <a:noFill/>
        </p:spPr>
        <p:txBody>
          <a:bodyPr/>
          <a:lstStyle/>
          <a:p>
            <a:r>
              <a:rPr lang="en-US" altLang="zh-CN" smtClean="0">
                <a:ea typeface="黑体" pitchFamily="49" charset="-122"/>
              </a:rPr>
              <a:t>7.3.3</a:t>
            </a:r>
            <a:r>
              <a:rPr lang="zh-CN" altLang="en-US" smtClean="0">
                <a:ea typeface="黑体" pitchFamily="49" charset="-122"/>
              </a:rPr>
              <a:t>元素基本性质的周期性变化规律</a:t>
            </a:r>
            <a:endParaRPr lang="zh-CN" altLang="en-US" sz="1600" b="0" smtClean="0">
              <a:solidFill>
                <a:schemeClr val="accent2"/>
              </a:solidFill>
              <a:ea typeface="黑体" pitchFamily="49" charset="-122"/>
            </a:endParaRPr>
          </a:p>
        </p:txBody>
      </p:sp>
      <p:sp>
        <p:nvSpPr>
          <p:cNvPr id="22539" name="Oval 27" descr="图片9">
            <a:hlinkClick r:id="rId5" action="ppaction://hlinksldjump"/>
          </p:cNvPr>
          <p:cNvSpPr>
            <a:spLocks noChangeAspect="1" noChangeArrowheads="1"/>
          </p:cNvSpPr>
          <p:nvPr/>
        </p:nvSpPr>
        <p:spPr bwMode="gray">
          <a:xfrm>
            <a:off x="11161713" y="5526088"/>
            <a:ext cx="360362" cy="360362"/>
          </a:xfrm>
          <a:prstGeom prst="ellipse">
            <a:avLst/>
          </a:prstGeom>
          <a:blipFill dpi="0" rotWithShape="1">
            <a:blip r:embed="rId6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>
              <a:ea typeface="黑体" pitchFamily="49" charset="-122"/>
              <a:cs typeface="楷体_GB2312" pitchFamily="49" charset="-122"/>
            </a:endParaRPr>
          </a:p>
        </p:txBody>
      </p:sp>
      <p:sp>
        <p:nvSpPr>
          <p:cNvPr id="22540" name="Oval 26" descr="图片8">
            <a:hlinkClick r:id="rId7" action="ppaction://hlinksldjump"/>
          </p:cNvPr>
          <p:cNvSpPr>
            <a:spLocks noChangeAspect="1" noChangeArrowheads="1"/>
          </p:cNvSpPr>
          <p:nvPr/>
        </p:nvSpPr>
        <p:spPr bwMode="gray">
          <a:xfrm>
            <a:off x="0" y="5526088"/>
            <a:ext cx="360363" cy="360362"/>
          </a:xfrm>
          <a:prstGeom prst="ellipse">
            <a:avLst/>
          </a:prstGeom>
          <a:blipFill dpi="0" rotWithShape="1">
            <a:blip r:embed="rId8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92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92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92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921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9216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500"/>
                                        <p:tgtEl>
                                          <p:spTgt spid="9216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6" dur="500"/>
                                        <p:tgtEl>
                                          <p:spTgt spid="9216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1" dur="500"/>
                                        <p:tgtEl>
                                          <p:spTgt spid="92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6" dur="500"/>
                                        <p:tgtEl>
                                          <p:spTgt spid="92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1" dur="500"/>
                                        <p:tgtEl>
                                          <p:spTgt spid="921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6" dur="500"/>
                                        <p:tgtEl>
                                          <p:spTgt spid="9216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1" dur="500"/>
                                        <p:tgtEl>
                                          <p:spTgt spid="9216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NOTIFY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162" grpId="0" build="p" autoUpdateAnimBg="0"/>
      <p:bldP spid="92163" grpId="0" animBg="1"/>
      <p:bldP spid="92164" grpId="0" autoUpdateAnimBg="0"/>
      <p:bldP spid="92165" grpId="0" autoUpdateAnimBg="0"/>
      <p:bldP spid="92166" grpId="0" autoUpdateAnimBg="0"/>
      <p:bldP spid="92167" grpId="0" autoUpdateAnimBg="0"/>
      <p:bldP spid="92168" grpId="0" autoUpdateAnimBg="0"/>
      <p:bldP spid="92169" grpId="0" uiExpand="1" build="p" autoUpdateAnimBg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187" name="Picture 3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906463" y="1052513"/>
            <a:ext cx="7029450" cy="4522787"/>
          </a:xfrm>
          <a:prstGeom prst="rect">
            <a:avLst/>
          </a:prstGeom>
          <a:noFill/>
          <a:ln w="25400">
            <a:solidFill>
              <a:srgbClr val="FF00FF"/>
            </a:solidFill>
            <a:miter lim="800000"/>
            <a:headEnd/>
            <a:tailEnd/>
          </a:ln>
        </p:spPr>
      </p:pic>
      <p:sp>
        <p:nvSpPr>
          <p:cNvPr id="93188" name="Rectangle 4"/>
          <p:cNvSpPr>
            <a:spLocks noChangeArrowheads="1"/>
          </p:cNvSpPr>
          <p:nvPr/>
        </p:nvSpPr>
        <p:spPr bwMode="auto">
          <a:xfrm>
            <a:off x="3400425" y="1020763"/>
            <a:ext cx="2689225" cy="477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zh-CN" altLang="en-US" sz="2500" b="1">
                <a:solidFill>
                  <a:srgbClr val="0000FF"/>
                </a:solidFill>
                <a:ea typeface="黑体" pitchFamily="2" charset="-122"/>
              </a:rPr>
              <a:t>电离能变化</a:t>
            </a:r>
            <a:endParaRPr lang="zh-CN" altLang="en-US" sz="2500" b="1"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93189" name="Text Box 5"/>
          <p:cNvSpPr txBox="1">
            <a:spLocks noChangeArrowheads="1"/>
          </p:cNvSpPr>
          <p:nvPr/>
        </p:nvSpPr>
        <p:spPr bwMode="auto">
          <a:xfrm>
            <a:off x="8024813" y="1020763"/>
            <a:ext cx="3113087" cy="428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10000"/>
              </a:lnSpc>
              <a:defRPr/>
            </a:pPr>
            <a:r>
              <a:rPr lang="en-US" altLang="zh-CN" sz="2500" b="1">
                <a:solidFill>
                  <a:srgbClr val="FF3300"/>
                </a:solidFill>
                <a:ea typeface="楷体_GB2312"/>
              </a:rPr>
              <a:t>rule:</a:t>
            </a:r>
            <a:endParaRPr lang="en-US" altLang="zh-CN" sz="2500" b="1">
              <a:ea typeface="楷体_GB2312"/>
            </a:endParaRPr>
          </a:p>
          <a:p>
            <a:pPr>
              <a:lnSpc>
                <a:spcPct val="110000"/>
              </a:lnSpc>
              <a:defRPr/>
            </a:pPr>
            <a:r>
              <a:rPr lang="en-US" altLang="zh-CN" sz="2500" b="1">
                <a:ea typeface="楷体_GB2312"/>
                <a:sym typeface="Monotype Sorts" pitchFamily="2" charset="2"/>
              </a:rPr>
              <a:t>①</a:t>
            </a:r>
            <a:r>
              <a:rPr lang="zh-CN" altLang="en-US" sz="2500" b="1">
                <a:ea typeface="楷体_GB2312"/>
              </a:rPr>
              <a:t>主族元素</a:t>
            </a:r>
            <a:r>
              <a:rPr lang="en-US" altLang="zh-CN" sz="2500" b="1">
                <a:ea typeface="楷体_GB2312"/>
              </a:rPr>
              <a:t>:</a:t>
            </a:r>
          </a:p>
          <a:p>
            <a:pPr>
              <a:lnSpc>
                <a:spcPct val="110000"/>
              </a:lnSpc>
              <a:defRPr/>
            </a:pPr>
            <a:r>
              <a:rPr lang="en-US" altLang="zh-CN" sz="2500" b="1">
                <a:ea typeface="楷体_GB2312"/>
              </a:rPr>
              <a:t>    </a:t>
            </a:r>
            <a:r>
              <a:rPr lang="zh-CN" altLang="en-US" sz="2500" b="1">
                <a:ea typeface="楷体_GB2312"/>
              </a:rPr>
              <a:t>同周期</a:t>
            </a:r>
            <a:r>
              <a:rPr lang="en-US" altLang="zh-CN" sz="2500" b="1">
                <a:ea typeface="楷体_GB2312"/>
              </a:rPr>
              <a:t>,</a:t>
            </a:r>
            <a:r>
              <a:rPr lang="zh-CN" altLang="en-US" sz="2500" b="1">
                <a:ea typeface="楷体_GB2312"/>
              </a:rPr>
              <a:t>从左到右</a:t>
            </a:r>
            <a:r>
              <a:rPr lang="en-US" altLang="zh-CN" sz="2500" b="1">
                <a:ea typeface="楷体_GB2312"/>
              </a:rPr>
              <a:t>, </a:t>
            </a:r>
            <a:r>
              <a:rPr lang="en-US" altLang="zh-CN" sz="2500" b="1" i="1">
                <a:ea typeface="楷体_GB2312"/>
              </a:rPr>
              <a:t>I</a:t>
            </a:r>
            <a:r>
              <a:rPr lang="en-US" altLang="zh-CN" sz="2500" b="1" baseline="-25000">
                <a:ea typeface="楷体_GB2312"/>
              </a:rPr>
              <a:t>1</a:t>
            </a:r>
            <a:r>
              <a:rPr lang="zh-CN" altLang="en-US" sz="2500" b="1">
                <a:ea typeface="楷体_GB2312"/>
              </a:rPr>
              <a:t>增大</a:t>
            </a:r>
            <a:r>
              <a:rPr lang="en-US" altLang="zh-CN" sz="2500" b="1">
                <a:ea typeface="楷体_GB2312"/>
              </a:rPr>
              <a:t>;</a:t>
            </a:r>
          </a:p>
          <a:p>
            <a:pPr>
              <a:lnSpc>
                <a:spcPct val="110000"/>
              </a:lnSpc>
              <a:defRPr/>
            </a:pPr>
            <a:r>
              <a:rPr lang="en-US" altLang="zh-CN" sz="2500" b="1">
                <a:ea typeface="楷体_GB2312"/>
              </a:rPr>
              <a:t>    </a:t>
            </a:r>
            <a:r>
              <a:rPr lang="zh-CN" altLang="en-US" sz="2500" b="1">
                <a:ea typeface="楷体_GB2312"/>
              </a:rPr>
              <a:t>同族</a:t>
            </a:r>
            <a:r>
              <a:rPr lang="en-US" altLang="zh-CN" sz="2500" b="1">
                <a:ea typeface="楷体_GB2312"/>
              </a:rPr>
              <a:t>, </a:t>
            </a:r>
            <a:r>
              <a:rPr lang="zh-CN" altLang="en-US" sz="2500" b="1">
                <a:ea typeface="楷体_GB2312"/>
              </a:rPr>
              <a:t>从上到下</a:t>
            </a:r>
            <a:r>
              <a:rPr lang="en-US" altLang="zh-CN" sz="2500" b="1">
                <a:ea typeface="楷体_GB2312"/>
              </a:rPr>
              <a:t>, </a:t>
            </a:r>
            <a:r>
              <a:rPr lang="en-US" altLang="zh-CN" sz="2500" b="1" i="1">
                <a:ea typeface="楷体_GB2312"/>
              </a:rPr>
              <a:t>I</a:t>
            </a:r>
            <a:r>
              <a:rPr lang="en-US" altLang="zh-CN" sz="2500" b="1" baseline="-25000">
                <a:ea typeface="楷体_GB2312"/>
              </a:rPr>
              <a:t>1</a:t>
            </a:r>
            <a:r>
              <a:rPr lang="zh-CN" altLang="en-US" sz="2500" b="1">
                <a:ea typeface="楷体_GB2312"/>
              </a:rPr>
              <a:t>减小</a:t>
            </a:r>
            <a:r>
              <a:rPr lang="en-US" altLang="zh-CN" sz="2500" b="1">
                <a:ea typeface="楷体_GB2312"/>
              </a:rPr>
              <a:t>.</a:t>
            </a:r>
          </a:p>
          <a:p>
            <a:pPr>
              <a:lnSpc>
                <a:spcPct val="110000"/>
              </a:lnSpc>
              <a:defRPr/>
            </a:pPr>
            <a:r>
              <a:rPr lang="en-US" altLang="zh-CN" sz="2500" b="1">
                <a:ea typeface="楷体_GB2312"/>
                <a:sym typeface="Monotype Sorts" pitchFamily="2" charset="2"/>
              </a:rPr>
              <a:t>②</a:t>
            </a:r>
            <a:r>
              <a:rPr lang="zh-CN" altLang="en-US" sz="2500" b="1">
                <a:ea typeface="楷体_GB2312"/>
              </a:rPr>
              <a:t>过渡元素</a:t>
            </a:r>
            <a:r>
              <a:rPr lang="en-US" altLang="zh-CN" sz="2500" b="1">
                <a:ea typeface="楷体_GB2312"/>
              </a:rPr>
              <a:t>:</a:t>
            </a:r>
            <a:endParaRPr lang="en-US" altLang="zh-CN" sz="2500" b="1">
              <a:ea typeface="楷体_GB2312"/>
              <a:sym typeface="Monotype Sorts" pitchFamily="2" charset="2"/>
            </a:endParaRPr>
          </a:p>
          <a:p>
            <a:pPr>
              <a:lnSpc>
                <a:spcPct val="110000"/>
              </a:lnSpc>
              <a:defRPr/>
            </a:pPr>
            <a:r>
              <a:rPr lang="en-US" altLang="zh-CN" sz="2500" b="1" i="1">
                <a:ea typeface="楷体_GB2312"/>
              </a:rPr>
              <a:t>    I</a:t>
            </a:r>
            <a:r>
              <a:rPr lang="en-US" altLang="zh-CN" sz="2500" b="1" baseline="-25000">
                <a:ea typeface="楷体_GB2312"/>
              </a:rPr>
              <a:t>1</a:t>
            </a:r>
            <a:r>
              <a:rPr lang="zh-CN" altLang="zh-CN" sz="2500" b="1">
                <a:ea typeface="楷体_GB2312"/>
              </a:rPr>
              <a:t>变化不大.</a:t>
            </a:r>
          </a:p>
          <a:p>
            <a:pPr>
              <a:lnSpc>
                <a:spcPct val="110000"/>
              </a:lnSpc>
              <a:defRPr/>
            </a:pPr>
            <a:r>
              <a:rPr lang="zh-CN" altLang="zh-CN" sz="2500" b="1">
                <a:solidFill>
                  <a:srgbClr val="FF00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/>
              </a:rPr>
              <a:t>总趋势:</a:t>
            </a:r>
            <a:r>
              <a:rPr lang="zh-CN" altLang="zh-CN" sz="2500" b="1">
                <a:ea typeface="楷体_GB2312"/>
              </a:rPr>
              <a:t>从左到右,</a:t>
            </a:r>
            <a:r>
              <a:rPr lang="zh-CN" altLang="zh-CN" sz="2500" b="1" i="1">
                <a:ea typeface="楷体_GB2312"/>
              </a:rPr>
              <a:t> </a:t>
            </a:r>
            <a:r>
              <a:rPr lang="en-US" altLang="zh-CN" sz="2500" b="1" i="1">
                <a:ea typeface="楷体_GB2312"/>
              </a:rPr>
              <a:t>I</a:t>
            </a:r>
            <a:r>
              <a:rPr lang="en-US" altLang="zh-CN" sz="2500" b="1" baseline="-25000">
                <a:ea typeface="楷体_GB2312"/>
              </a:rPr>
              <a:t>1</a:t>
            </a:r>
            <a:r>
              <a:rPr lang="zh-CN" altLang="zh-CN" sz="2500" b="1">
                <a:ea typeface="楷体_GB2312"/>
              </a:rPr>
              <a:t>略有增加</a:t>
            </a:r>
            <a:r>
              <a:rPr lang="en-US" altLang="zh-CN" sz="2500" b="1">
                <a:ea typeface="楷体_GB2312"/>
              </a:rPr>
              <a:t>.</a:t>
            </a:r>
            <a:endParaRPr lang="en-US" altLang="zh-CN" sz="2500" b="1">
              <a:ea typeface="楷体_GB2312"/>
              <a:sym typeface="Monotype Sorts" pitchFamily="2" charset="2"/>
            </a:endParaRPr>
          </a:p>
        </p:txBody>
      </p:sp>
      <p:sp>
        <p:nvSpPr>
          <p:cNvPr id="93191" name="Oval 7"/>
          <p:cNvSpPr>
            <a:spLocks noChangeAspect="1" noChangeArrowheads="1"/>
          </p:cNvSpPr>
          <p:nvPr/>
        </p:nvSpPr>
        <p:spPr bwMode="auto">
          <a:xfrm>
            <a:off x="2992438" y="4452938"/>
            <a:ext cx="679450" cy="511175"/>
          </a:xfrm>
          <a:prstGeom prst="ellipse">
            <a:avLst/>
          </a:prstGeom>
          <a:noFill/>
          <a:ln w="38100">
            <a:solidFill>
              <a:srgbClr val="0099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 sz="2500"/>
          </a:p>
        </p:txBody>
      </p:sp>
      <p:sp>
        <p:nvSpPr>
          <p:cNvPr id="93192" name="Oval 8"/>
          <p:cNvSpPr>
            <a:spLocks noChangeAspect="1" noChangeArrowheads="1"/>
          </p:cNvSpPr>
          <p:nvPr/>
        </p:nvSpPr>
        <p:spPr bwMode="auto">
          <a:xfrm>
            <a:off x="3946525" y="4181475"/>
            <a:ext cx="681038" cy="511175"/>
          </a:xfrm>
          <a:prstGeom prst="ellipse">
            <a:avLst/>
          </a:prstGeom>
          <a:noFill/>
          <a:ln w="38100">
            <a:solidFill>
              <a:srgbClr val="0099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 sz="2500"/>
          </a:p>
        </p:txBody>
      </p:sp>
      <p:sp>
        <p:nvSpPr>
          <p:cNvPr id="23559" name="Rectangle 35"/>
          <p:cNvSpPr>
            <a:spLocks noGrp="1" noChangeArrowheads="1"/>
          </p:cNvSpPr>
          <p:nvPr>
            <p:ph type="title"/>
          </p:nvPr>
        </p:nvSpPr>
        <p:spPr>
          <a:xfrm>
            <a:off x="576263" y="258763"/>
            <a:ext cx="10369550" cy="430212"/>
          </a:xfrm>
          <a:noFill/>
        </p:spPr>
        <p:txBody>
          <a:bodyPr/>
          <a:lstStyle/>
          <a:p>
            <a:r>
              <a:rPr lang="en-US" altLang="zh-CN" smtClean="0">
                <a:ea typeface="黑体" pitchFamily="49" charset="-122"/>
              </a:rPr>
              <a:t>7.3.3</a:t>
            </a:r>
            <a:r>
              <a:rPr lang="zh-CN" altLang="en-US" smtClean="0">
                <a:ea typeface="黑体" pitchFamily="49" charset="-122"/>
              </a:rPr>
              <a:t>元素基本性质的周期性变化规律</a:t>
            </a:r>
            <a:endParaRPr lang="zh-CN" altLang="en-US" sz="1600" b="0" smtClean="0">
              <a:solidFill>
                <a:schemeClr val="accent2"/>
              </a:solidFill>
              <a:ea typeface="黑体" pitchFamily="49" charset="-122"/>
            </a:endParaRPr>
          </a:p>
        </p:txBody>
      </p:sp>
      <p:sp>
        <p:nvSpPr>
          <p:cNvPr id="23561" name="Oval 26" descr="图片8">
            <a:hlinkClick r:id="" action="ppaction://hlinkshowjump?jump=previousslide"/>
          </p:cNvPr>
          <p:cNvSpPr>
            <a:spLocks noChangeAspect="1" noChangeArrowheads="1"/>
          </p:cNvSpPr>
          <p:nvPr/>
        </p:nvSpPr>
        <p:spPr bwMode="gray">
          <a:xfrm>
            <a:off x="5546723" y="5668979"/>
            <a:ext cx="360363" cy="360362"/>
          </a:xfrm>
          <a:prstGeom prst="ellipse">
            <a:avLst/>
          </a:prstGeom>
          <a:blipFill dpi="0" rotWithShape="1">
            <a:blip r:embed="rId5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93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" dur="500"/>
                                        <p:tgtEl>
                                          <p:spTgt spid="9318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6" dur="500"/>
                                        <p:tgtEl>
                                          <p:spTgt spid="931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1" dur="500"/>
                                        <p:tgtEl>
                                          <p:spTgt spid="9318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6" dur="500"/>
                                        <p:tgtEl>
                                          <p:spTgt spid="9318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1" dur="500"/>
                                        <p:tgtEl>
                                          <p:spTgt spid="9318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6" dur="500"/>
                                        <p:tgtEl>
                                          <p:spTgt spid="9318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1" dur="500"/>
                                        <p:tgtEl>
                                          <p:spTgt spid="9318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6" dur="500"/>
                                        <p:tgtEl>
                                          <p:spTgt spid="9318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6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51" dur="1000"/>
                                        <p:tgtEl>
                                          <p:spTgt spid="93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6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56" dur="1000"/>
                                        <p:tgtEl>
                                          <p:spTgt spid="9319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NOTIFY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3188" grpId="0" autoUpdateAnimBg="0"/>
      <p:bldP spid="93189" grpId="0" build="p" autoUpdateAnimBg="0"/>
      <p:bldP spid="93191" grpId="0" animBg="1"/>
      <p:bldP spid="93192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2"/>
          <p:cNvSpPr>
            <a:spLocks noChangeArrowheads="1"/>
          </p:cNvSpPr>
          <p:nvPr/>
        </p:nvSpPr>
        <p:spPr bwMode="auto">
          <a:xfrm>
            <a:off x="906463" y="1020763"/>
            <a:ext cx="10274300" cy="4810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10000"/>
              </a:lnSpc>
            </a:pPr>
            <a:r>
              <a:rPr lang="en-US" altLang="zh-CN" sz="2500" b="1">
                <a:ea typeface="楷体_GB2312" pitchFamily="49" charset="-122"/>
              </a:rPr>
              <a:t>        </a:t>
            </a:r>
            <a:r>
              <a:rPr lang="zh-CN" altLang="en-US" sz="2500" b="1">
                <a:ea typeface="楷体_GB2312" pitchFamily="49" charset="-122"/>
              </a:rPr>
              <a:t>电子亲和能代数值越小</a:t>
            </a:r>
            <a:r>
              <a:rPr lang="en-US" altLang="zh-CN" sz="2500" b="1">
                <a:ea typeface="楷体_GB2312" pitchFamily="49" charset="-122"/>
              </a:rPr>
              <a:t>(</a:t>
            </a:r>
            <a:r>
              <a:rPr lang="zh-CN" altLang="en-US" sz="2500" b="1">
                <a:ea typeface="楷体_GB2312" pitchFamily="49" charset="-122"/>
              </a:rPr>
              <a:t>大</a:t>
            </a:r>
            <a:r>
              <a:rPr lang="en-US" altLang="zh-CN" sz="2500" b="1">
                <a:ea typeface="楷体_GB2312" pitchFamily="49" charset="-122"/>
              </a:rPr>
              <a:t>),</a:t>
            </a:r>
            <a:r>
              <a:rPr lang="zh-CN" altLang="en-US" sz="2500" b="1">
                <a:ea typeface="楷体_GB2312" pitchFamily="49" charset="-122"/>
              </a:rPr>
              <a:t>原子就越易</a:t>
            </a:r>
            <a:r>
              <a:rPr lang="en-US" altLang="zh-CN" sz="2500" b="1">
                <a:ea typeface="楷体_GB2312" pitchFamily="49" charset="-122"/>
              </a:rPr>
              <a:t>(</a:t>
            </a:r>
            <a:r>
              <a:rPr lang="zh-CN" altLang="en-US" sz="2500" b="1">
                <a:ea typeface="楷体_GB2312" pitchFamily="49" charset="-122"/>
              </a:rPr>
              <a:t>难</a:t>
            </a:r>
            <a:r>
              <a:rPr lang="en-US" altLang="zh-CN" sz="2500" b="1">
                <a:ea typeface="楷体_GB2312" pitchFamily="49" charset="-122"/>
              </a:rPr>
              <a:t>)</a:t>
            </a:r>
            <a:r>
              <a:rPr lang="zh-CN" altLang="en-US" sz="2500" b="1">
                <a:ea typeface="楷体_GB2312" pitchFamily="49" charset="-122"/>
              </a:rPr>
              <a:t>得到电子</a:t>
            </a:r>
            <a:r>
              <a:rPr lang="en-US" altLang="zh-CN" sz="2500" b="1">
                <a:ea typeface="楷体_GB2312" pitchFamily="49" charset="-122"/>
              </a:rPr>
              <a:t>. </a:t>
            </a:r>
          </a:p>
        </p:txBody>
      </p:sp>
      <p:sp>
        <p:nvSpPr>
          <p:cNvPr id="94211" name="Rectangle 3"/>
          <p:cNvSpPr>
            <a:spLocks noChangeArrowheads="1"/>
          </p:cNvSpPr>
          <p:nvPr/>
        </p:nvSpPr>
        <p:spPr bwMode="auto">
          <a:xfrm>
            <a:off x="2130425" y="1966900"/>
            <a:ext cx="2197100" cy="1327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lnSpc>
                <a:spcPct val="110000"/>
              </a:lnSpc>
            </a:pPr>
            <a:r>
              <a:rPr lang="en-US" altLang="zh-CN" sz="2500" b="1">
                <a:ea typeface="楷体_GB2312" pitchFamily="49" charset="-122"/>
                <a:sym typeface="Monotype Sorts" pitchFamily="2" charset="2"/>
              </a:rPr>
              <a:t>①</a:t>
            </a:r>
            <a:r>
              <a:rPr lang="en-US" altLang="zh-CN" sz="2500" b="1" i="1">
                <a:ea typeface="楷体_GB2312" pitchFamily="49" charset="-122"/>
              </a:rPr>
              <a:t>Z</a:t>
            </a:r>
            <a:r>
              <a:rPr lang="en-US" altLang="zh-CN" sz="2500" b="1">
                <a:ea typeface="楷体_GB2312" pitchFamily="49" charset="-122"/>
              </a:rPr>
              <a:t>*;</a:t>
            </a:r>
          </a:p>
          <a:p>
            <a:pPr>
              <a:lnSpc>
                <a:spcPct val="110000"/>
              </a:lnSpc>
            </a:pPr>
            <a:r>
              <a:rPr lang="en-US" altLang="zh-CN" sz="2500" b="1">
                <a:ea typeface="楷体_GB2312" pitchFamily="49" charset="-122"/>
                <a:sym typeface="Monotype Sorts" pitchFamily="2" charset="2"/>
              </a:rPr>
              <a:t>②</a:t>
            </a:r>
            <a:r>
              <a:rPr lang="en-US" altLang="zh-CN" sz="2500" b="1" i="1">
                <a:ea typeface="楷体_GB2312" pitchFamily="49" charset="-122"/>
              </a:rPr>
              <a:t>r</a:t>
            </a:r>
            <a:r>
              <a:rPr lang="en-US" altLang="zh-CN" sz="2500" b="1">
                <a:ea typeface="楷体_GB2312" pitchFamily="49" charset="-122"/>
              </a:rPr>
              <a:t>;</a:t>
            </a:r>
          </a:p>
          <a:p>
            <a:pPr>
              <a:lnSpc>
                <a:spcPct val="110000"/>
              </a:lnSpc>
            </a:pPr>
            <a:r>
              <a:rPr lang="en-US" altLang="zh-CN" sz="2500" b="1">
                <a:ea typeface="楷体_GB2312" pitchFamily="49" charset="-122"/>
                <a:sym typeface="Monotype Sorts" pitchFamily="2" charset="2"/>
              </a:rPr>
              <a:t>③</a:t>
            </a:r>
            <a:r>
              <a:rPr lang="zh-CN" altLang="en-US" sz="2500" b="1">
                <a:ea typeface="楷体_GB2312" pitchFamily="49" charset="-122"/>
              </a:rPr>
              <a:t>电子层结构</a:t>
            </a:r>
            <a:r>
              <a:rPr lang="en-US" altLang="zh-CN" sz="2500" b="1">
                <a:ea typeface="楷体_GB2312" pitchFamily="49" charset="-122"/>
              </a:rPr>
              <a:t>.</a:t>
            </a:r>
          </a:p>
        </p:txBody>
      </p:sp>
      <p:sp>
        <p:nvSpPr>
          <p:cNvPr id="94212" name="AutoShape 4"/>
          <p:cNvSpPr>
            <a:spLocks/>
          </p:cNvSpPr>
          <p:nvPr/>
        </p:nvSpPr>
        <p:spPr bwMode="auto">
          <a:xfrm>
            <a:off x="1951038" y="2130412"/>
            <a:ext cx="192087" cy="1081088"/>
          </a:xfrm>
          <a:prstGeom prst="leftBrace">
            <a:avLst>
              <a:gd name="adj1" fmla="val 62535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 sz="2500"/>
          </a:p>
        </p:txBody>
      </p:sp>
      <p:sp>
        <p:nvSpPr>
          <p:cNvPr id="94213" name="Rectangle 5"/>
          <p:cNvSpPr>
            <a:spLocks noChangeArrowheads="1"/>
          </p:cNvSpPr>
          <p:nvPr/>
        </p:nvSpPr>
        <p:spPr bwMode="auto">
          <a:xfrm>
            <a:off x="906463" y="1525575"/>
            <a:ext cx="2867025" cy="477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500" b="1">
                <a:solidFill>
                  <a:srgbClr val="FF3300"/>
                </a:solidFill>
                <a:ea typeface="楷体_GB2312" pitchFamily="49" charset="-122"/>
              </a:rPr>
              <a:t>        </a:t>
            </a:r>
            <a:r>
              <a:rPr lang="zh-CN" altLang="en-US" sz="2500" b="1">
                <a:solidFill>
                  <a:srgbClr val="FF3300"/>
                </a:solidFill>
                <a:ea typeface="楷体_GB2312" pitchFamily="49" charset="-122"/>
              </a:rPr>
              <a:t>主要影响因素</a:t>
            </a:r>
            <a:r>
              <a:rPr lang="en-US" altLang="zh-CN" sz="2500" b="1">
                <a:ea typeface="楷体_GB2312" pitchFamily="49" charset="-122"/>
              </a:rPr>
              <a:t>:</a:t>
            </a:r>
          </a:p>
        </p:txBody>
      </p:sp>
      <p:sp>
        <p:nvSpPr>
          <p:cNvPr id="94214" name="Rectangle 6"/>
          <p:cNvSpPr>
            <a:spLocks noChangeArrowheads="1"/>
          </p:cNvSpPr>
          <p:nvPr/>
        </p:nvSpPr>
        <p:spPr bwMode="auto">
          <a:xfrm>
            <a:off x="906463" y="3311525"/>
            <a:ext cx="2195512" cy="477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500" b="1">
                <a:ea typeface="楷体_GB2312" pitchFamily="49" charset="-122"/>
              </a:rPr>
              <a:t>        </a:t>
            </a:r>
            <a:r>
              <a:rPr lang="zh-CN" altLang="en-US" sz="2500" b="1">
                <a:ea typeface="楷体_GB2312" pitchFamily="49" charset="-122"/>
                <a:hlinkClick r:id="rId4" action="ppaction://hlinksldjump"/>
              </a:rPr>
              <a:t>变化规律</a:t>
            </a:r>
            <a:r>
              <a:rPr lang="en-US" altLang="zh-CN" sz="2500" b="1">
                <a:ea typeface="楷体_GB2312" pitchFamily="49" charset="-122"/>
              </a:rPr>
              <a:t>.</a:t>
            </a:r>
          </a:p>
        </p:txBody>
      </p:sp>
      <p:sp>
        <p:nvSpPr>
          <p:cNvPr id="94215" name="Rectangle 7"/>
          <p:cNvSpPr>
            <a:spLocks noChangeArrowheads="1"/>
          </p:cNvSpPr>
          <p:nvPr/>
        </p:nvSpPr>
        <p:spPr bwMode="auto">
          <a:xfrm>
            <a:off x="906463" y="3889375"/>
            <a:ext cx="3992562" cy="477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500" b="1">
                <a:solidFill>
                  <a:srgbClr val="FF3300"/>
                </a:solidFill>
                <a:ea typeface="楷体_GB2312" pitchFamily="49" charset="-122"/>
              </a:rPr>
              <a:t>4.</a:t>
            </a:r>
            <a:r>
              <a:rPr lang="zh-CN" altLang="en-US" sz="2500" b="1">
                <a:solidFill>
                  <a:srgbClr val="FF3300"/>
                </a:solidFill>
                <a:ea typeface="楷体_GB2312" pitchFamily="49" charset="-122"/>
              </a:rPr>
              <a:t>电负性</a:t>
            </a:r>
            <a:r>
              <a:rPr lang="en-US" altLang="zh-CN" sz="2500" b="1">
                <a:solidFill>
                  <a:srgbClr val="FF3300"/>
                </a:solidFill>
                <a:ea typeface="楷体_GB2312" pitchFamily="49" charset="-122"/>
              </a:rPr>
              <a:t>(</a:t>
            </a:r>
            <a:r>
              <a:rPr lang="en-US" altLang="zh-CN" sz="2500" b="1">
                <a:solidFill>
                  <a:srgbClr val="0000FF"/>
                </a:solidFill>
                <a:ea typeface="楷体_GB2312" pitchFamily="49" charset="-122"/>
              </a:rPr>
              <a:t>electronegativity</a:t>
            </a:r>
            <a:r>
              <a:rPr lang="en-US" altLang="zh-CN" sz="2500" b="1">
                <a:solidFill>
                  <a:srgbClr val="FF3300"/>
                </a:solidFill>
                <a:ea typeface="楷体_GB2312" pitchFamily="49" charset="-122"/>
              </a:rPr>
              <a:t>):</a:t>
            </a:r>
          </a:p>
        </p:txBody>
      </p:sp>
      <p:sp>
        <p:nvSpPr>
          <p:cNvPr id="94216" name="Rectangle 8"/>
          <p:cNvSpPr>
            <a:spLocks noChangeArrowheads="1"/>
          </p:cNvSpPr>
          <p:nvPr/>
        </p:nvSpPr>
        <p:spPr bwMode="auto">
          <a:xfrm>
            <a:off x="906463" y="4400550"/>
            <a:ext cx="5416550" cy="477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sz="2500" b="1" dirty="0">
                <a:ea typeface="楷体_GB2312" pitchFamily="49" charset="-122"/>
              </a:rPr>
              <a:t>　　分子中元素原子吸引电子的能力</a:t>
            </a:r>
            <a:r>
              <a:rPr lang="en-US" altLang="zh-CN" sz="2500" b="1" dirty="0">
                <a:ea typeface="楷体_GB2312" pitchFamily="49" charset="-122"/>
              </a:rPr>
              <a:t>.</a:t>
            </a:r>
          </a:p>
        </p:txBody>
      </p:sp>
      <p:sp>
        <p:nvSpPr>
          <p:cNvPr id="24585" name="Rectangle 35"/>
          <p:cNvSpPr>
            <a:spLocks noGrp="1" noChangeArrowheads="1"/>
          </p:cNvSpPr>
          <p:nvPr>
            <p:ph type="title"/>
          </p:nvPr>
        </p:nvSpPr>
        <p:spPr>
          <a:xfrm>
            <a:off x="576263" y="258763"/>
            <a:ext cx="10369550" cy="430212"/>
          </a:xfrm>
          <a:noFill/>
        </p:spPr>
        <p:txBody>
          <a:bodyPr/>
          <a:lstStyle/>
          <a:p>
            <a:r>
              <a:rPr lang="en-US" altLang="zh-CN" smtClean="0">
                <a:ea typeface="黑体" pitchFamily="49" charset="-122"/>
              </a:rPr>
              <a:t>7.3.3</a:t>
            </a:r>
            <a:r>
              <a:rPr lang="zh-CN" altLang="en-US" smtClean="0">
                <a:ea typeface="黑体" pitchFamily="49" charset="-122"/>
              </a:rPr>
              <a:t>元素基本性质的周期性变化规律</a:t>
            </a:r>
            <a:endParaRPr lang="zh-CN" altLang="en-US" sz="1600" b="0" smtClean="0">
              <a:solidFill>
                <a:schemeClr val="accent2"/>
              </a:solidFill>
              <a:ea typeface="黑体" pitchFamily="49" charset="-122"/>
            </a:endParaRPr>
          </a:p>
        </p:txBody>
      </p:sp>
      <p:sp>
        <p:nvSpPr>
          <p:cNvPr id="24586" name="Oval 27" descr="图片9">
            <a:hlinkClick r:id="rId5" action="ppaction://hlinksldjump"/>
          </p:cNvPr>
          <p:cNvSpPr>
            <a:spLocks noChangeAspect="1" noChangeArrowheads="1"/>
          </p:cNvSpPr>
          <p:nvPr/>
        </p:nvSpPr>
        <p:spPr bwMode="gray">
          <a:xfrm>
            <a:off x="11161713" y="5526088"/>
            <a:ext cx="360362" cy="360362"/>
          </a:xfrm>
          <a:prstGeom prst="ellipse">
            <a:avLst/>
          </a:prstGeom>
          <a:blipFill dpi="0" rotWithShape="1">
            <a:blip r:embed="rId6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>
              <a:ea typeface="黑体" pitchFamily="49" charset="-122"/>
              <a:cs typeface="楷体_GB2312" pitchFamily="49" charset="-122"/>
            </a:endParaRPr>
          </a:p>
        </p:txBody>
      </p:sp>
      <p:sp>
        <p:nvSpPr>
          <p:cNvPr id="24587" name="Oval 26" descr="图片8">
            <a:hlinkClick r:id="rId7" action="ppaction://hlinksldjump"/>
          </p:cNvPr>
          <p:cNvSpPr>
            <a:spLocks noChangeAspect="1" noChangeArrowheads="1"/>
          </p:cNvSpPr>
          <p:nvPr/>
        </p:nvSpPr>
        <p:spPr bwMode="gray">
          <a:xfrm>
            <a:off x="0" y="5526088"/>
            <a:ext cx="360363" cy="360362"/>
          </a:xfrm>
          <a:prstGeom prst="ellipse">
            <a:avLst/>
          </a:prstGeom>
          <a:blipFill dpi="0" rotWithShape="1">
            <a:blip r:embed="rId8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942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94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942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942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942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1" dur="500"/>
                                        <p:tgtEl>
                                          <p:spTgt spid="9421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6" dur="500"/>
                                        <p:tgtEl>
                                          <p:spTgt spid="94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1" dur="500"/>
                                        <p:tgtEl>
                                          <p:spTgt spid="94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6" dur="500"/>
                                        <p:tgtEl>
                                          <p:spTgt spid="9421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NOTIFY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4210" grpId="0" autoUpdateAnimBg="0"/>
      <p:bldP spid="94211" grpId="0" build="p" autoUpdateAnimBg="0"/>
      <p:bldP spid="94212" grpId="0" animBg="1"/>
      <p:bldP spid="94213" grpId="0" autoUpdateAnimBg="0"/>
      <p:bldP spid="94214" grpId="0" autoUpdateAnimBg="0"/>
      <p:bldP spid="94215" grpId="0" autoUpdateAnimBg="0"/>
      <p:bldP spid="94216" grpId="0" autoUpdateAnimBg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235" name="Picture 3" descr="snap56"/>
          <p:cNvPicPr>
            <a:picLocks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587375" y="1052513"/>
            <a:ext cx="10429875" cy="4522787"/>
          </a:xfrm>
          <a:prstGeom prst="rect">
            <a:avLst/>
          </a:prstGeom>
          <a:noFill/>
          <a:ln w="25400">
            <a:solidFill>
              <a:srgbClr val="FF00FF"/>
            </a:solidFill>
            <a:miter lim="800000"/>
            <a:headEnd/>
            <a:tailEnd/>
          </a:ln>
        </p:spPr>
      </p:pic>
      <p:sp>
        <p:nvSpPr>
          <p:cNvPr id="95236" name="Line 4"/>
          <p:cNvSpPr>
            <a:spLocks noChangeShapeType="1"/>
          </p:cNvSpPr>
          <p:nvPr/>
        </p:nvSpPr>
        <p:spPr bwMode="auto">
          <a:xfrm>
            <a:off x="1041400" y="1631950"/>
            <a:ext cx="1814513" cy="0"/>
          </a:xfrm>
          <a:prstGeom prst="line">
            <a:avLst/>
          </a:prstGeom>
          <a:noFill/>
          <a:ln w="9525">
            <a:solidFill>
              <a:srgbClr val="0000FF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5237" name="Rectangle 5"/>
          <p:cNvSpPr>
            <a:spLocks noChangeArrowheads="1"/>
          </p:cNvSpPr>
          <p:nvPr/>
        </p:nvSpPr>
        <p:spPr bwMode="auto">
          <a:xfrm>
            <a:off x="2763838" y="1492250"/>
            <a:ext cx="828675" cy="477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sz="2500" b="1">
                <a:solidFill>
                  <a:srgbClr val="FF3300"/>
                </a:solidFill>
                <a:ea typeface="楷体_GB2312"/>
              </a:rPr>
              <a:t>增大</a:t>
            </a:r>
            <a:endParaRPr lang="zh-CN" altLang="en-US" sz="2500" b="1">
              <a:solidFill>
                <a:schemeClr val="accent1"/>
              </a:solidFill>
              <a:effectLst>
                <a:outerShdw blurRad="38100" dist="38100" dir="2700000" algn="tl">
                  <a:srgbClr val="000000"/>
                </a:outerShdw>
              </a:effectLst>
              <a:ea typeface="楷体_GB2312"/>
            </a:endParaRPr>
          </a:p>
        </p:txBody>
      </p:sp>
      <p:sp>
        <p:nvSpPr>
          <p:cNvPr id="95238" name="Line 6"/>
          <p:cNvSpPr>
            <a:spLocks noChangeShapeType="1"/>
          </p:cNvSpPr>
          <p:nvPr/>
        </p:nvSpPr>
        <p:spPr bwMode="auto">
          <a:xfrm>
            <a:off x="1041400" y="1631950"/>
            <a:ext cx="0" cy="1360488"/>
          </a:xfrm>
          <a:prstGeom prst="line">
            <a:avLst/>
          </a:prstGeom>
          <a:noFill/>
          <a:ln w="9525">
            <a:solidFill>
              <a:srgbClr val="0000FF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5239" name="Rectangle 7"/>
          <p:cNvSpPr>
            <a:spLocks noChangeArrowheads="1"/>
          </p:cNvSpPr>
          <p:nvPr/>
        </p:nvSpPr>
        <p:spPr bwMode="auto">
          <a:xfrm>
            <a:off x="1055688" y="2232025"/>
            <a:ext cx="644525" cy="8620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 sz="2500" b="1">
                <a:solidFill>
                  <a:srgbClr val="FF3300"/>
                </a:solidFill>
                <a:ea typeface="楷体_GB2312" pitchFamily="49" charset="-122"/>
              </a:rPr>
              <a:t>减小</a:t>
            </a:r>
          </a:p>
        </p:txBody>
      </p:sp>
      <p:sp>
        <p:nvSpPr>
          <p:cNvPr id="95240" name="Text Box 8"/>
          <p:cNvSpPr txBox="1">
            <a:spLocks noChangeArrowheads="1"/>
          </p:cNvSpPr>
          <p:nvPr/>
        </p:nvSpPr>
        <p:spPr bwMode="auto">
          <a:xfrm>
            <a:off x="3852863" y="1020763"/>
            <a:ext cx="4470400" cy="477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 sz="2500" b="1">
                <a:solidFill>
                  <a:srgbClr val="0000FF"/>
                </a:solidFill>
                <a:ea typeface="黑体" pitchFamily="49" charset="-122"/>
              </a:rPr>
              <a:t>电子亲和能变化规律</a:t>
            </a:r>
            <a:endParaRPr lang="zh-CN" altLang="en-US" sz="2500" b="1">
              <a:solidFill>
                <a:schemeClr val="accent2"/>
              </a:solidFill>
            </a:endParaRPr>
          </a:p>
        </p:txBody>
      </p:sp>
      <p:sp>
        <p:nvSpPr>
          <p:cNvPr id="95242" name="AutoShape 10"/>
          <p:cNvSpPr>
            <a:spLocks noChangeArrowheads="1"/>
          </p:cNvSpPr>
          <p:nvPr/>
        </p:nvSpPr>
        <p:spPr bwMode="auto">
          <a:xfrm rot="-968177">
            <a:off x="8858250" y="5294313"/>
            <a:ext cx="542925" cy="509587"/>
          </a:xfrm>
          <a:prstGeom prst="upArrow">
            <a:avLst>
              <a:gd name="adj1" fmla="val 50000"/>
              <a:gd name="adj2" fmla="val 31250"/>
            </a:avLst>
          </a:prstGeom>
          <a:gradFill rotWithShape="1">
            <a:gsLst>
              <a:gs pos="0">
                <a:srgbClr val="FF3399"/>
              </a:gs>
              <a:gs pos="25000">
                <a:srgbClr val="FF6633"/>
              </a:gs>
              <a:gs pos="50000">
                <a:srgbClr val="FFFF00"/>
              </a:gs>
              <a:gs pos="75000">
                <a:srgbClr val="01A78F"/>
              </a:gs>
              <a:gs pos="100000">
                <a:srgbClr val="3366FF"/>
              </a:gs>
            </a:gsLst>
            <a:lin ang="5400000" scaled="1"/>
          </a:gra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 sz="2500"/>
          </a:p>
        </p:txBody>
      </p:sp>
      <p:sp>
        <p:nvSpPr>
          <p:cNvPr id="95243" name="AutoShape 11"/>
          <p:cNvSpPr>
            <a:spLocks noChangeArrowheads="1"/>
          </p:cNvSpPr>
          <p:nvPr/>
        </p:nvSpPr>
        <p:spPr bwMode="auto">
          <a:xfrm>
            <a:off x="9028113" y="654050"/>
            <a:ext cx="542925" cy="509588"/>
          </a:xfrm>
          <a:prstGeom prst="downArrow">
            <a:avLst>
              <a:gd name="adj1" fmla="val 50000"/>
              <a:gd name="adj2" fmla="val 31250"/>
            </a:avLst>
          </a:prstGeom>
          <a:gradFill rotWithShape="1">
            <a:gsLst>
              <a:gs pos="0">
                <a:srgbClr val="3366FF"/>
              </a:gs>
              <a:gs pos="25000">
                <a:srgbClr val="01A78F"/>
              </a:gs>
              <a:gs pos="50000">
                <a:srgbClr val="FFFF00"/>
              </a:gs>
              <a:gs pos="75000">
                <a:srgbClr val="FF6633"/>
              </a:gs>
              <a:gs pos="100000">
                <a:srgbClr val="FF3399"/>
              </a:gs>
            </a:gsLst>
            <a:lin ang="5400000" scaled="1"/>
          </a:gra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 sz="2500"/>
          </a:p>
        </p:txBody>
      </p:sp>
      <p:sp>
        <p:nvSpPr>
          <p:cNvPr id="95244" name="AutoShape 12"/>
          <p:cNvSpPr>
            <a:spLocks noChangeArrowheads="1"/>
          </p:cNvSpPr>
          <p:nvPr/>
        </p:nvSpPr>
        <p:spPr bwMode="auto">
          <a:xfrm>
            <a:off x="8391525" y="1401763"/>
            <a:ext cx="544513" cy="511175"/>
          </a:xfrm>
          <a:prstGeom prst="downArrow">
            <a:avLst>
              <a:gd name="adj1" fmla="val 50000"/>
              <a:gd name="adj2" fmla="val 31250"/>
            </a:avLst>
          </a:prstGeom>
          <a:gradFill rotWithShape="1">
            <a:gsLst>
              <a:gs pos="0">
                <a:srgbClr val="3366FF"/>
              </a:gs>
              <a:gs pos="25000">
                <a:srgbClr val="01A78F"/>
              </a:gs>
              <a:gs pos="50000">
                <a:srgbClr val="FFFF00"/>
              </a:gs>
              <a:gs pos="75000">
                <a:srgbClr val="FF6633"/>
              </a:gs>
              <a:gs pos="100000">
                <a:srgbClr val="FF3399"/>
              </a:gs>
            </a:gsLst>
            <a:lin ang="5400000" scaled="1"/>
          </a:gra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 sz="2500"/>
          </a:p>
        </p:txBody>
      </p:sp>
      <p:sp>
        <p:nvSpPr>
          <p:cNvPr id="25612" name="Rectangle 35"/>
          <p:cNvSpPr>
            <a:spLocks noGrp="1" noChangeArrowheads="1"/>
          </p:cNvSpPr>
          <p:nvPr>
            <p:ph type="title"/>
          </p:nvPr>
        </p:nvSpPr>
        <p:spPr>
          <a:xfrm>
            <a:off x="576263" y="258763"/>
            <a:ext cx="10369550" cy="430212"/>
          </a:xfrm>
          <a:noFill/>
        </p:spPr>
        <p:txBody>
          <a:bodyPr/>
          <a:lstStyle/>
          <a:p>
            <a:r>
              <a:rPr lang="en-US" altLang="zh-CN" smtClean="0">
                <a:ea typeface="黑体" pitchFamily="49" charset="-122"/>
              </a:rPr>
              <a:t>7.3.3</a:t>
            </a:r>
            <a:r>
              <a:rPr lang="zh-CN" altLang="en-US" smtClean="0">
                <a:ea typeface="黑体" pitchFamily="49" charset="-122"/>
              </a:rPr>
              <a:t>元素基本性质的周期性变化规律</a:t>
            </a:r>
            <a:endParaRPr lang="zh-CN" altLang="en-US" sz="1600" b="0" smtClean="0">
              <a:solidFill>
                <a:schemeClr val="accent2"/>
              </a:solidFill>
              <a:ea typeface="黑体" pitchFamily="49" charset="-122"/>
            </a:endParaRPr>
          </a:p>
        </p:txBody>
      </p:sp>
      <p:sp>
        <p:nvSpPr>
          <p:cNvPr id="25614" name="Oval 26" descr="图片8">
            <a:hlinkClick r:id="" action="ppaction://hlinkshowjump?jump=previousslide"/>
          </p:cNvPr>
          <p:cNvSpPr>
            <a:spLocks noChangeAspect="1" noChangeArrowheads="1"/>
          </p:cNvSpPr>
          <p:nvPr/>
        </p:nvSpPr>
        <p:spPr bwMode="gray">
          <a:xfrm>
            <a:off x="5546723" y="5668979"/>
            <a:ext cx="360363" cy="360362"/>
          </a:xfrm>
          <a:prstGeom prst="ellipse">
            <a:avLst/>
          </a:prstGeom>
          <a:blipFill dpi="0" rotWithShape="1">
            <a:blip r:embed="rId8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952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" dur="500"/>
                                        <p:tgtEl>
                                          <p:spTgt spid="9523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6" dur="500"/>
                                        <p:tgtEl>
                                          <p:spTgt spid="9523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0" dur="500"/>
                                        <p:tgtEl>
                                          <p:spTgt spid="9523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5" dur="500"/>
                                        <p:tgtEl>
                                          <p:spTgt spid="9523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9" dur="500"/>
                                        <p:tgtEl>
                                          <p:spTgt spid="9523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recycl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9524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recycl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95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4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9524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NOTIFY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5236" grpId="0" animBg="1"/>
      <p:bldP spid="95237" grpId="0" autoUpdateAnimBg="0"/>
      <p:bldP spid="95238" grpId="0" animBg="1"/>
      <p:bldP spid="95239" grpId="0" autoUpdateAnimBg="0"/>
      <p:bldP spid="95240" grpId="0" autoUpdateAnimBg="0"/>
      <p:bldP spid="95242" grpId="0" animBg="1"/>
      <p:bldP spid="95243" grpId="0" animBg="1"/>
      <p:bldP spid="95244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Text Box 2"/>
          <p:cNvSpPr txBox="1">
            <a:spLocks noChangeArrowheads="1"/>
          </p:cNvSpPr>
          <p:nvPr/>
        </p:nvSpPr>
        <p:spPr bwMode="auto">
          <a:xfrm>
            <a:off x="906463" y="950913"/>
            <a:ext cx="6529387" cy="477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sz="2500" b="1" dirty="0">
                <a:ea typeface="楷体_GB2312" pitchFamily="49" charset="-122"/>
                <a:sym typeface="Symbol" pitchFamily="18" charset="2"/>
              </a:rPr>
              <a:t>        </a:t>
            </a:r>
            <a:r>
              <a:rPr lang="zh-CN" altLang="en-US" sz="2500" b="1" dirty="0">
                <a:ea typeface="楷体_GB2312" pitchFamily="49" charset="-122"/>
                <a:sym typeface="Symbol" pitchFamily="18" charset="2"/>
              </a:rPr>
              <a:t>应注意</a:t>
            </a:r>
            <a:r>
              <a:rPr lang="en-US" altLang="zh-CN" sz="2500" b="1" dirty="0">
                <a:ea typeface="楷体_GB2312" pitchFamily="49" charset="-122"/>
                <a:sym typeface="Symbol" pitchFamily="18" charset="2"/>
              </a:rPr>
              <a:t>,</a:t>
            </a:r>
            <a:r>
              <a:rPr lang="zh-CN" altLang="en-US" sz="2500" b="1" dirty="0">
                <a:ea typeface="楷体_GB2312" pitchFamily="49" charset="-122"/>
                <a:sym typeface="Symbol" pitchFamily="18" charset="2"/>
              </a:rPr>
              <a:t>不同氧化态</a:t>
            </a:r>
            <a:r>
              <a:rPr lang="en-US" altLang="zh-CN" sz="2500" b="1" dirty="0">
                <a:ea typeface="楷体_GB2312" pitchFamily="49" charset="-122"/>
                <a:sym typeface="Symbol" pitchFamily="18" charset="2"/>
              </a:rPr>
              <a:t>, </a:t>
            </a:r>
            <a:r>
              <a:rPr lang="en-US" altLang="zh-CN" sz="2500" b="1" i="1" dirty="0">
                <a:ea typeface="楷体_GB2312" pitchFamily="49" charset="-122"/>
                <a:sym typeface="Symbol" pitchFamily="18" charset="2"/>
              </a:rPr>
              <a:t>χ</a:t>
            </a:r>
            <a:r>
              <a:rPr lang="zh-CN" altLang="en-US" sz="2500" b="1" dirty="0">
                <a:ea typeface="楷体_GB2312" pitchFamily="49" charset="-122"/>
                <a:sym typeface="Symbol" pitchFamily="18" charset="2"/>
              </a:rPr>
              <a:t>不同</a:t>
            </a:r>
            <a:r>
              <a:rPr lang="en-US" altLang="zh-CN" sz="2500" b="1" dirty="0">
                <a:ea typeface="楷体_GB2312" pitchFamily="49" charset="-122"/>
                <a:sym typeface="Symbol" pitchFamily="18" charset="2"/>
              </a:rPr>
              <a:t>.</a:t>
            </a:r>
            <a:r>
              <a:rPr lang="en-US" altLang="zh-CN" sz="2500" b="1" dirty="0">
                <a:solidFill>
                  <a:srgbClr val="FF3300"/>
                </a:solidFill>
                <a:ea typeface="楷体_GB2312" pitchFamily="49" charset="-122"/>
              </a:rPr>
              <a:t> </a:t>
            </a:r>
          </a:p>
        </p:txBody>
      </p:sp>
      <p:sp>
        <p:nvSpPr>
          <p:cNvPr id="96259" name="Rectangle 3"/>
          <p:cNvSpPr>
            <a:spLocks noChangeArrowheads="1"/>
          </p:cNvSpPr>
          <p:nvPr/>
        </p:nvSpPr>
        <p:spPr bwMode="auto">
          <a:xfrm>
            <a:off x="906463" y="2719388"/>
            <a:ext cx="10136187" cy="1327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10000"/>
              </a:lnSpc>
            </a:pPr>
            <a:r>
              <a:rPr lang="zh-CN" altLang="en-US" sz="2500" b="1" dirty="0">
                <a:ea typeface="楷体_GB2312" pitchFamily="49" charset="-122"/>
                <a:sym typeface="Symbol" pitchFamily="18" charset="2"/>
              </a:rPr>
              <a:t>　　</a:t>
            </a:r>
            <a:r>
              <a:rPr lang="en-US" altLang="zh-CN" sz="2500" b="1" i="1" dirty="0">
                <a:ea typeface="楷体_GB2312" pitchFamily="49" charset="-122"/>
                <a:sym typeface="Symbol" pitchFamily="18" charset="2"/>
              </a:rPr>
              <a:t>I</a:t>
            </a:r>
            <a:r>
              <a:rPr lang="zh-CN" altLang="en-US" sz="2500" b="1" dirty="0">
                <a:ea typeface="楷体_GB2312" pitchFamily="49" charset="-122"/>
                <a:sym typeface="Symbol" pitchFamily="18" charset="2"/>
              </a:rPr>
              <a:t>或</a:t>
            </a:r>
            <a:r>
              <a:rPr lang="en-US" altLang="zh-CN" sz="2500" b="1" i="1" dirty="0">
                <a:ea typeface="楷体_GB2312" pitchFamily="49" charset="-122"/>
                <a:sym typeface="Symbol" pitchFamily="18" charset="2"/>
              </a:rPr>
              <a:t>χ</a:t>
            </a:r>
            <a:r>
              <a:rPr lang="zh-CN" altLang="en-US" sz="2500" b="1" dirty="0">
                <a:ea typeface="楷体_GB2312" pitchFamily="49" charset="-122"/>
                <a:sym typeface="Symbol" pitchFamily="18" charset="2"/>
              </a:rPr>
              <a:t>越小</a:t>
            </a:r>
            <a:r>
              <a:rPr lang="en-US" altLang="zh-CN" sz="2500" b="1" dirty="0">
                <a:ea typeface="楷体_GB2312" pitchFamily="49" charset="-122"/>
                <a:sym typeface="Symbol" pitchFamily="18" charset="2"/>
              </a:rPr>
              <a:t>, </a:t>
            </a:r>
            <a:r>
              <a:rPr lang="zh-CN" altLang="en-US" sz="2500" b="1" dirty="0">
                <a:ea typeface="楷体_GB2312" pitchFamily="49" charset="-122"/>
                <a:sym typeface="Symbol" pitchFamily="18" charset="2"/>
              </a:rPr>
              <a:t>金属性越强</a:t>
            </a:r>
            <a:r>
              <a:rPr lang="en-US" altLang="zh-CN" sz="2500" b="1" dirty="0">
                <a:ea typeface="楷体_GB2312" pitchFamily="49" charset="-122"/>
                <a:sym typeface="Symbol" pitchFamily="18" charset="2"/>
              </a:rPr>
              <a:t>; </a:t>
            </a:r>
            <a:r>
              <a:rPr lang="en-US" altLang="zh-CN" sz="2500" b="1" i="1" dirty="0" err="1">
                <a:ea typeface="楷体_GB2312" pitchFamily="49" charset="-122"/>
                <a:sym typeface="Symbol" pitchFamily="18" charset="2"/>
              </a:rPr>
              <a:t>E</a:t>
            </a:r>
            <a:r>
              <a:rPr lang="en-US" altLang="zh-CN" sz="2500" b="1" baseline="-25000" dirty="0" err="1">
                <a:ea typeface="楷体_GB2312" pitchFamily="49" charset="-122"/>
                <a:sym typeface="Symbol" pitchFamily="18" charset="2"/>
              </a:rPr>
              <a:t>ea</a:t>
            </a:r>
            <a:r>
              <a:rPr lang="zh-CN" altLang="en-US" sz="2500" b="1" dirty="0">
                <a:ea typeface="楷体_GB2312" pitchFamily="49" charset="-122"/>
                <a:sym typeface="Symbol" pitchFamily="18" charset="2"/>
              </a:rPr>
              <a:t>代数值越小</a:t>
            </a:r>
            <a:r>
              <a:rPr lang="en-US" altLang="zh-CN" sz="2500" b="1" dirty="0">
                <a:ea typeface="楷体_GB2312" pitchFamily="49" charset="-122"/>
                <a:sym typeface="Symbol" pitchFamily="18" charset="2"/>
              </a:rPr>
              <a:t>,</a:t>
            </a:r>
            <a:r>
              <a:rPr lang="zh-CN" altLang="en-US" sz="2500" b="1" dirty="0">
                <a:ea typeface="楷体_GB2312" pitchFamily="49" charset="-122"/>
                <a:sym typeface="Symbol" pitchFamily="18" charset="2"/>
              </a:rPr>
              <a:t>或</a:t>
            </a:r>
            <a:r>
              <a:rPr lang="en-US" altLang="zh-CN" sz="2500" b="1" i="1" dirty="0">
                <a:ea typeface="楷体_GB2312" pitchFamily="49" charset="-122"/>
                <a:sym typeface="Symbol" pitchFamily="18" charset="2"/>
              </a:rPr>
              <a:t>χ</a:t>
            </a:r>
            <a:r>
              <a:rPr lang="zh-CN" altLang="en-US" sz="2500" b="1" dirty="0">
                <a:ea typeface="楷体_GB2312" pitchFamily="49" charset="-122"/>
                <a:sym typeface="Symbol" pitchFamily="18" charset="2"/>
              </a:rPr>
              <a:t>越大</a:t>
            </a:r>
            <a:r>
              <a:rPr lang="en-US" altLang="zh-CN" sz="2500" b="1" dirty="0">
                <a:ea typeface="楷体_GB2312" pitchFamily="49" charset="-122"/>
                <a:sym typeface="Symbol" pitchFamily="18" charset="2"/>
              </a:rPr>
              <a:t>,</a:t>
            </a:r>
            <a:r>
              <a:rPr lang="zh-CN" altLang="en-US" sz="2500" b="1" dirty="0">
                <a:ea typeface="楷体_GB2312" pitchFamily="49" charset="-122"/>
                <a:sym typeface="Symbol" pitchFamily="18" charset="2"/>
              </a:rPr>
              <a:t>非金属性就越强</a:t>
            </a:r>
            <a:r>
              <a:rPr lang="en-US" altLang="zh-CN" sz="2500" b="1" dirty="0">
                <a:ea typeface="楷体_GB2312" pitchFamily="49" charset="-122"/>
                <a:sym typeface="Symbol" pitchFamily="18" charset="2"/>
              </a:rPr>
              <a:t>.</a:t>
            </a:r>
          </a:p>
          <a:p>
            <a:pPr>
              <a:lnSpc>
                <a:spcPct val="110000"/>
              </a:lnSpc>
            </a:pPr>
            <a:r>
              <a:rPr lang="zh-CN" altLang="en-US" sz="2500" b="1" dirty="0">
                <a:ea typeface="楷体_GB2312" pitchFamily="49" charset="-122"/>
              </a:rPr>
              <a:t>　　同一周期元素</a:t>
            </a:r>
            <a:r>
              <a:rPr lang="en-US" altLang="zh-CN" sz="2500" b="1" dirty="0">
                <a:ea typeface="楷体_GB2312" pitchFamily="49" charset="-122"/>
              </a:rPr>
              <a:t>,</a:t>
            </a:r>
            <a:r>
              <a:rPr lang="zh-CN" altLang="en-US" sz="2500" b="1" dirty="0">
                <a:ea typeface="楷体_GB2312" pitchFamily="49" charset="-122"/>
              </a:rPr>
              <a:t>从左到右</a:t>
            </a:r>
            <a:r>
              <a:rPr lang="en-US" altLang="zh-CN" sz="2500" b="1" dirty="0">
                <a:ea typeface="楷体_GB2312" pitchFamily="49" charset="-122"/>
              </a:rPr>
              <a:t>, </a:t>
            </a:r>
            <a:r>
              <a:rPr lang="en-US" altLang="zh-CN" sz="2500" b="1" i="1" dirty="0">
                <a:ea typeface="楷体_GB2312" pitchFamily="49" charset="-122"/>
                <a:sym typeface="Symbol" pitchFamily="18" charset="2"/>
              </a:rPr>
              <a:t>χ</a:t>
            </a:r>
            <a:r>
              <a:rPr lang="zh-CN" altLang="en-US" sz="2500" b="1" dirty="0">
                <a:ea typeface="楷体_GB2312" pitchFamily="49" charset="-122"/>
              </a:rPr>
              <a:t>增大</a:t>
            </a:r>
            <a:r>
              <a:rPr lang="en-US" altLang="zh-CN" sz="2500" b="1" dirty="0">
                <a:ea typeface="楷体_GB2312" pitchFamily="49" charset="-122"/>
              </a:rPr>
              <a:t>,</a:t>
            </a:r>
            <a:r>
              <a:rPr lang="zh-CN" altLang="en-US" sz="2500" b="1" dirty="0">
                <a:ea typeface="楷体_GB2312" pitchFamily="49" charset="-122"/>
              </a:rPr>
              <a:t>元素金属性减弱</a:t>
            </a:r>
            <a:r>
              <a:rPr lang="en-US" altLang="zh-CN" sz="2500" b="1" dirty="0">
                <a:ea typeface="楷体_GB2312" pitchFamily="49" charset="-122"/>
              </a:rPr>
              <a:t>,</a:t>
            </a:r>
            <a:r>
              <a:rPr lang="zh-CN" altLang="en-US" sz="2500" b="1" dirty="0">
                <a:ea typeface="楷体_GB2312" pitchFamily="49" charset="-122"/>
              </a:rPr>
              <a:t>非金属性增强</a:t>
            </a:r>
            <a:r>
              <a:rPr lang="en-US" altLang="zh-CN" sz="2500" b="1" dirty="0">
                <a:ea typeface="楷体_GB2312" pitchFamily="49" charset="-122"/>
              </a:rPr>
              <a:t>;</a:t>
            </a:r>
          </a:p>
          <a:p>
            <a:pPr>
              <a:lnSpc>
                <a:spcPct val="110000"/>
              </a:lnSpc>
            </a:pPr>
            <a:r>
              <a:rPr lang="zh-CN" altLang="en-US" sz="2500" b="1" dirty="0">
                <a:ea typeface="楷体_GB2312" pitchFamily="49" charset="-122"/>
              </a:rPr>
              <a:t>　　同一族的元素</a:t>
            </a:r>
            <a:r>
              <a:rPr lang="en-US" altLang="zh-CN" sz="2500" b="1" dirty="0">
                <a:ea typeface="楷体_GB2312" pitchFamily="49" charset="-122"/>
              </a:rPr>
              <a:t>,</a:t>
            </a:r>
            <a:r>
              <a:rPr lang="zh-CN" altLang="en-US" sz="2500" b="1" dirty="0">
                <a:ea typeface="楷体_GB2312" pitchFamily="49" charset="-122"/>
              </a:rPr>
              <a:t>从上到下</a:t>
            </a:r>
            <a:r>
              <a:rPr lang="en-US" altLang="zh-CN" sz="2500" b="1" dirty="0">
                <a:ea typeface="楷体_GB2312" pitchFamily="49" charset="-122"/>
              </a:rPr>
              <a:t>, </a:t>
            </a:r>
            <a:r>
              <a:rPr lang="en-US" altLang="zh-CN" sz="2500" b="1" i="1" dirty="0">
                <a:ea typeface="楷体_GB2312" pitchFamily="49" charset="-122"/>
                <a:sym typeface="Symbol" pitchFamily="18" charset="2"/>
              </a:rPr>
              <a:t>χ</a:t>
            </a:r>
            <a:r>
              <a:rPr lang="zh-CN" altLang="en-US" sz="2500" b="1" dirty="0">
                <a:ea typeface="楷体_GB2312" pitchFamily="49" charset="-122"/>
              </a:rPr>
              <a:t>减小</a:t>
            </a:r>
            <a:r>
              <a:rPr lang="en-US" altLang="zh-CN" sz="2500" b="1" dirty="0">
                <a:ea typeface="楷体_GB2312" pitchFamily="49" charset="-122"/>
              </a:rPr>
              <a:t>,</a:t>
            </a:r>
            <a:r>
              <a:rPr lang="zh-CN" altLang="en-US" sz="2500" b="1" dirty="0">
                <a:ea typeface="楷体_GB2312" pitchFamily="49" charset="-122"/>
              </a:rPr>
              <a:t>元素金属性增强</a:t>
            </a:r>
            <a:r>
              <a:rPr lang="en-US" altLang="zh-CN" sz="2500" b="1" dirty="0">
                <a:ea typeface="楷体_GB2312" pitchFamily="49" charset="-122"/>
              </a:rPr>
              <a:t>,</a:t>
            </a:r>
            <a:r>
              <a:rPr lang="zh-CN" altLang="en-US" sz="2500" b="1" dirty="0">
                <a:ea typeface="楷体_GB2312" pitchFamily="49" charset="-122"/>
              </a:rPr>
              <a:t>非金属性减弱</a:t>
            </a:r>
          </a:p>
        </p:txBody>
      </p:sp>
      <p:sp>
        <p:nvSpPr>
          <p:cNvPr id="96261" name="Rectangle 5"/>
          <p:cNvSpPr>
            <a:spLocks noChangeArrowheads="1"/>
          </p:cNvSpPr>
          <p:nvPr/>
        </p:nvSpPr>
        <p:spPr bwMode="auto">
          <a:xfrm>
            <a:off x="906463" y="1373188"/>
            <a:ext cx="3965575" cy="9382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lnSpc>
                <a:spcPct val="110000"/>
              </a:lnSpc>
            </a:pPr>
            <a:r>
              <a:rPr lang="zh-CN" altLang="en-US" sz="2500" b="1">
                <a:ea typeface="楷体_GB2312" pitchFamily="49" charset="-122"/>
                <a:sym typeface="Symbol" pitchFamily="18" charset="2"/>
              </a:rPr>
              <a:t>如</a:t>
            </a:r>
            <a:r>
              <a:rPr lang="en-US" altLang="zh-CN" sz="2500" b="1">
                <a:ea typeface="楷体_GB2312" pitchFamily="49" charset="-122"/>
                <a:sym typeface="Symbol" pitchFamily="18" charset="2"/>
              </a:rPr>
              <a:t>: </a:t>
            </a:r>
            <a:r>
              <a:rPr lang="en-US" altLang="zh-CN" sz="2500" b="1" i="1">
                <a:ea typeface="楷体_GB2312" pitchFamily="49" charset="-122"/>
                <a:sym typeface="Symbol" pitchFamily="18" charset="2"/>
              </a:rPr>
              <a:t>χ</a:t>
            </a:r>
            <a:r>
              <a:rPr lang="en-US" altLang="zh-CN" sz="2500" b="1">
                <a:ea typeface="楷体_GB2312" pitchFamily="49" charset="-122"/>
                <a:sym typeface="Symbol" pitchFamily="18" charset="2"/>
              </a:rPr>
              <a:t> </a:t>
            </a:r>
            <a:r>
              <a:rPr lang="en-US" altLang="zh-CN" sz="2500" b="1" baseline="-25000">
                <a:ea typeface="楷体_GB2312" pitchFamily="49" charset="-122"/>
                <a:sym typeface="Symbol" pitchFamily="18" charset="2"/>
              </a:rPr>
              <a:t>Fe(Ⅱ)</a:t>
            </a:r>
            <a:r>
              <a:rPr lang="en-US" altLang="zh-CN" sz="2500" b="1">
                <a:ea typeface="楷体_GB2312" pitchFamily="49" charset="-122"/>
                <a:sym typeface="Symbol" pitchFamily="18" charset="2"/>
              </a:rPr>
              <a:t> = 1.7; </a:t>
            </a:r>
            <a:r>
              <a:rPr lang="en-US" altLang="zh-CN" sz="2500" b="1" i="1">
                <a:ea typeface="楷体_GB2312" pitchFamily="49" charset="-122"/>
                <a:sym typeface="Symbol" pitchFamily="18" charset="2"/>
              </a:rPr>
              <a:t>χ</a:t>
            </a:r>
            <a:r>
              <a:rPr lang="en-US" altLang="zh-CN" sz="2500" b="1" baseline="-25000">
                <a:ea typeface="楷体_GB2312" pitchFamily="49" charset="-122"/>
                <a:sym typeface="Symbol" pitchFamily="18" charset="2"/>
              </a:rPr>
              <a:t>Fe(Ⅲ)</a:t>
            </a:r>
            <a:r>
              <a:rPr lang="en-US" altLang="zh-CN" sz="2500" b="1">
                <a:ea typeface="楷体_GB2312" pitchFamily="49" charset="-122"/>
                <a:sym typeface="Symbol" pitchFamily="18" charset="2"/>
              </a:rPr>
              <a:t> = 1.8.</a:t>
            </a:r>
          </a:p>
          <a:p>
            <a:pPr>
              <a:lnSpc>
                <a:spcPct val="110000"/>
              </a:lnSpc>
            </a:pPr>
            <a:r>
              <a:rPr lang="en-US" altLang="zh-CN" sz="2500" b="1">
                <a:ea typeface="楷体_GB2312" pitchFamily="49" charset="-122"/>
                <a:sym typeface="Symbol" pitchFamily="18" charset="2"/>
              </a:rPr>
              <a:t>        </a:t>
            </a:r>
            <a:r>
              <a:rPr lang="zh-CN" altLang="en-US" sz="2500" b="1">
                <a:ea typeface="楷体_GB2312" pitchFamily="49" charset="-122"/>
                <a:sym typeface="Symbol" pitchFamily="18" charset="2"/>
                <a:hlinkClick r:id="rId3" action="ppaction://hlinksldjump"/>
              </a:rPr>
              <a:t>电负性变化的周期性</a:t>
            </a:r>
            <a:r>
              <a:rPr lang="en-US" altLang="zh-CN" sz="2500" b="1">
                <a:ea typeface="楷体_GB2312" pitchFamily="49" charset="-122"/>
                <a:sym typeface="Symbol" pitchFamily="18" charset="2"/>
              </a:rPr>
              <a:t>.</a:t>
            </a:r>
          </a:p>
        </p:txBody>
      </p:sp>
      <p:sp>
        <p:nvSpPr>
          <p:cNvPr id="96262" name="Rectangle 6"/>
          <p:cNvSpPr>
            <a:spLocks noChangeArrowheads="1"/>
          </p:cNvSpPr>
          <p:nvPr/>
        </p:nvSpPr>
        <p:spPr bwMode="auto">
          <a:xfrm>
            <a:off x="906463" y="2284413"/>
            <a:ext cx="4076700" cy="4810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10000"/>
              </a:lnSpc>
              <a:defRPr/>
            </a:pPr>
            <a:r>
              <a:rPr lang="en-US" altLang="zh-CN" sz="2500" b="1">
                <a:solidFill>
                  <a:srgbClr val="FF3300"/>
                </a:solidFill>
                <a:ea typeface="楷体_GB2312"/>
                <a:sym typeface="Symbol" pitchFamily="18" charset="2"/>
              </a:rPr>
              <a:t>5.</a:t>
            </a:r>
            <a:r>
              <a:rPr lang="zh-CN" altLang="en-US" sz="2500" b="1">
                <a:solidFill>
                  <a:srgbClr val="FF3300"/>
                </a:solidFill>
                <a:ea typeface="楷体_GB2312"/>
                <a:sym typeface="Symbol" pitchFamily="18" charset="2"/>
              </a:rPr>
              <a:t>元素的金属性和非金属性</a:t>
            </a:r>
            <a:r>
              <a:rPr lang="en-US" altLang="zh-CN" sz="2500" b="1">
                <a:solidFill>
                  <a:srgbClr val="FF3300"/>
                </a:solidFill>
                <a:ea typeface="楷体_GB2312"/>
                <a:sym typeface="Symbol" pitchFamily="18" charset="2"/>
              </a:rPr>
              <a:t>:</a:t>
            </a:r>
            <a:endParaRPr lang="en-US" altLang="zh-CN" sz="2500" b="1">
              <a:solidFill>
                <a:srgbClr val="FF3300"/>
              </a:solidFill>
              <a:effectLst>
                <a:outerShdw blurRad="38100" dist="38100" dir="2700000" algn="tl">
                  <a:srgbClr val="000000"/>
                </a:outerShdw>
              </a:effectLst>
              <a:ea typeface="楷体_GB2312"/>
              <a:sym typeface="Symbol" pitchFamily="18" charset="2"/>
            </a:endParaRPr>
          </a:p>
        </p:txBody>
      </p:sp>
      <p:sp>
        <p:nvSpPr>
          <p:cNvPr id="26630" name="Rectangle 35"/>
          <p:cNvSpPr>
            <a:spLocks noGrp="1" noChangeArrowheads="1"/>
          </p:cNvSpPr>
          <p:nvPr>
            <p:ph type="title"/>
          </p:nvPr>
        </p:nvSpPr>
        <p:spPr>
          <a:xfrm>
            <a:off x="576263" y="258763"/>
            <a:ext cx="10369550" cy="430212"/>
          </a:xfrm>
          <a:noFill/>
        </p:spPr>
        <p:txBody>
          <a:bodyPr/>
          <a:lstStyle/>
          <a:p>
            <a:r>
              <a:rPr lang="en-US" altLang="zh-CN" smtClean="0">
                <a:ea typeface="黑体" pitchFamily="49" charset="-122"/>
              </a:rPr>
              <a:t>7.3.3</a:t>
            </a:r>
            <a:r>
              <a:rPr lang="zh-CN" altLang="en-US" smtClean="0">
                <a:ea typeface="黑体" pitchFamily="49" charset="-122"/>
              </a:rPr>
              <a:t>元素基本性质的周期性变化规律</a:t>
            </a:r>
            <a:endParaRPr lang="zh-CN" altLang="en-US" sz="1600" b="0" smtClean="0">
              <a:solidFill>
                <a:schemeClr val="accent2"/>
              </a:solidFill>
              <a:ea typeface="黑体" pitchFamily="49" charset="-122"/>
            </a:endParaRPr>
          </a:p>
        </p:txBody>
      </p:sp>
      <p:sp>
        <p:nvSpPr>
          <p:cNvPr id="26631" name="Oval 27" descr="图片9">
            <a:hlinkClick r:id="rId4" action="ppaction://hlinksldjump"/>
          </p:cNvPr>
          <p:cNvSpPr>
            <a:spLocks noChangeAspect="1" noChangeArrowheads="1"/>
          </p:cNvSpPr>
          <p:nvPr/>
        </p:nvSpPr>
        <p:spPr bwMode="gray">
          <a:xfrm>
            <a:off x="11161713" y="5526088"/>
            <a:ext cx="360362" cy="360362"/>
          </a:xfrm>
          <a:prstGeom prst="ellipse">
            <a:avLst/>
          </a:prstGeom>
          <a:blipFill dpi="0" rotWithShape="1">
            <a:blip r:embed="rId5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>
              <a:ea typeface="黑体" pitchFamily="49" charset="-122"/>
              <a:cs typeface="楷体_GB2312" pitchFamily="49" charset="-122"/>
            </a:endParaRPr>
          </a:p>
        </p:txBody>
      </p:sp>
      <p:sp>
        <p:nvSpPr>
          <p:cNvPr id="26632" name="Oval 26" descr="图片8">
            <a:hlinkClick r:id="rId6" action="ppaction://hlinksldjump"/>
          </p:cNvPr>
          <p:cNvSpPr>
            <a:spLocks noChangeAspect="1" noChangeArrowheads="1"/>
          </p:cNvSpPr>
          <p:nvPr/>
        </p:nvSpPr>
        <p:spPr bwMode="gray">
          <a:xfrm>
            <a:off x="0" y="5526088"/>
            <a:ext cx="360363" cy="360362"/>
          </a:xfrm>
          <a:prstGeom prst="ellipse">
            <a:avLst/>
          </a:prstGeom>
          <a:blipFill dpi="0" rotWithShape="1">
            <a:blip r:embed="rId7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962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962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6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9626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22" dur="500"/>
                                        <p:tgtEl>
                                          <p:spTgt spid="962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962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500"/>
                                        <p:tgtEl>
                                          <p:spTgt spid="962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7" dur="500"/>
                                        <p:tgtEl>
                                          <p:spTgt spid="962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NOTIFY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6258" grpId="0" autoUpdateAnimBg="0"/>
      <p:bldP spid="96259" grpId="0" uiExpand="1" build="p" autoUpdateAnimBg="0"/>
      <p:bldP spid="96261" grpId="0" build="p" autoUpdateAnimBg="0"/>
      <p:bldP spid="96262" grpId="0" autoUpdateAnimBg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282" name="Picture 2" descr="snap57"/>
          <p:cNvPicPr>
            <a:picLocks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587375" y="1052513"/>
            <a:ext cx="10429875" cy="4522787"/>
          </a:xfrm>
          <a:prstGeom prst="rect">
            <a:avLst/>
          </a:prstGeom>
          <a:noFill/>
          <a:ln w="25400">
            <a:solidFill>
              <a:srgbClr val="FF00FF"/>
            </a:solidFill>
            <a:miter lim="800000"/>
            <a:headEnd/>
            <a:tailEnd/>
          </a:ln>
        </p:spPr>
      </p:pic>
      <p:sp>
        <p:nvSpPr>
          <p:cNvPr id="97284" name="Text Box 4"/>
          <p:cNvSpPr txBox="1">
            <a:spLocks noChangeArrowheads="1"/>
          </p:cNvSpPr>
          <p:nvPr/>
        </p:nvSpPr>
        <p:spPr bwMode="auto">
          <a:xfrm>
            <a:off x="3852863" y="950913"/>
            <a:ext cx="4605337" cy="477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defRPr/>
            </a:pPr>
            <a:r>
              <a:rPr lang="zh-CN" altLang="en-US" sz="2500" b="1">
                <a:solidFill>
                  <a:srgbClr val="0000FF"/>
                </a:solidFill>
                <a:ea typeface="黑体" pitchFamily="2" charset="-122"/>
              </a:rPr>
              <a:t>元素电负性变化规律</a:t>
            </a:r>
            <a:endParaRPr lang="zh-CN" altLang="en-US" sz="2500" b="1"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97285" name="Rectangle 5"/>
          <p:cNvSpPr>
            <a:spLocks noChangeArrowheads="1"/>
          </p:cNvSpPr>
          <p:nvPr/>
        </p:nvSpPr>
        <p:spPr bwMode="auto">
          <a:xfrm>
            <a:off x="2720975" y="1403350"/>
            <a:ext cx="4217988" cy="477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sz="2500" b="1">
                <a:solidFill>
                  <a:srgbClr val="FF3300"/>
                </a:solidFill>
                <a:ea typeface="楷体_GB2312"/>
                <a:sym typeface="Symbol" pitchFamily="18" charset="2"/>
              </a:rPr>
              <a:t>一般</a:t>
            </a:r>
            <a:r>
              <a:rPr lang="en-US" altLang="zh-CN" sz="2500" b="1" i="1">
                <a:solidFill>
                  <a:srgbClr val="FF3300"/>
                </a:solidFill>
                <a:ea typeface="楷体_GB2312"/>
                <a:sym typeface="Symbol" pitchFamily="18" charset="2"/>
              </a:rPr>
              <a:t>χ </a:t>
            </a:r>
            <a:r>
              <a:rPr lang="en-US" altLang="zh-CN" sz="2500" b="1">
                <a:solidFill>
                  <a:srgbClr val="FF3300"/>
                </a:solidFill>
                <a:ea typeface="楷体_GB2312"/>
                <a:sym typeface="Symbol" pitchFamily="18" charset="2"/>
              </a:rPr>
              <a:t>&gt; 2.0</a:t>
            </a:r>
            <a:r>
              <a:rPr lang="zh-CN" altLang="en-US" sz="2500" b="1">
                <a:solidFill>
                  <a:srgbClr val="FF3300"/>
                </a:solidFill>
                <a:ea typeface="楷体_GB2312"/>
                <a:sym typeface="Symbol" pitchFamily="18" charset="2"/>
              </a:rPr>
              <a:t>为非金属</a:t>
            </a:r>
            <a:r>
              <a:rPr lang="en-US" altLang="zh-CN" sz="2500" b="1">
                <a:solidFill>
                  <a:srgbClr val="FF3300"/>
                </a:solidFill>
                <a:ea typeface="楷体_GB2312"/>
                <a:sym typeface="Symbol" pitchFamily="18" charset="2"/>
              </a:rPr>
              <a:t>(</a:t>
            </a:r>
            <a:r>
              <a:rPr lang="en-US" altLang="zh-CN" sz="2500" b="1">
                <a:solidFill>
                  <a:schemeClr val="bg2"/>
                </a:solidFill>
                <a:ea typeface="楷体_GB2312"/>
                <a:sym typeface="Symbol" pitchFamily="18" charset="2"/>
              </a:rPr>
              <a:t>Si</a:t>
            </a:r>
            <a:r>
              <a:rPr lang="zh-CN" altLang="en-US" sz="2500" b="1">
                <a:solidFill>
                  <a:schemeClr val="bg2"/>
                </a:solidFill>
                <a:ea typeface="楷体_GB2312"/>
                <a:sym typeface="Symbol" pitchFamily="18" charset="2"/>
              </a:rPr>
              <a:t>例外</a:t>
            </a:r>
            <a:r>
              <a:rPr lang="en-US" altLang="zh-CN" sz="2500" b="1">
                <a:solidFill>
                  <a:srgbClr val="FF3300"/>
                </a:solidFill>
                <a:ea typeface="楷体_GB2312"/>
                <a:sym typeface="Symbol" pitchFamily="18" charset="2"/>
              </a:rPr>
              <a:t>)</a:t>
            </a:r>
            <a:r>
              <a:rPr lang="en-US" altLang="zh-CN" sz="2500" b="1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/>
                <a:sym typeface="Symbol" pitchFamily="18" charset="2"/>
              </a:rPr>
              <a:t> </a:t>
            </a:r>
          </a:p>
        </p:txBody>
      </p:sp>
      <p:sp>
        <p:nvSpPr>
          <p:cNvPr id="97286" name="Line 6"/>
          <p:cNvSpPr>
            <a:spLocks noChangeShapeType="1"/>
          </p:cNvSpPr>
          <p:nvPr/>
        </p:nvSpPr>
        <p:spPr bwMode="auto">
          <a:xfrm>
            <a:off x="671513" y="1871663"/>
            <a:ext cx="1360487" cy="0"/>
          </a:xfrm>
          <a:prstGeom prst="line">
            <a:avLst/>
          </a:prstGeom>
          <a:noFill/>
          <a:ln w="9525">
            <a:solidFill>
              <a:srgbClr val="0000FF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7287" name="Rectangle 7"/>
          <p:cNvSpPr>
            <a:spLocks noChangeArrowheads="1"/>
          </p:cNvSpPr>
          <p:nvPr/>
        </p:nvSpPr>
        <p:spPr bwMode="auto">
          <a:xfrm>
            <a:off x="960438" y="1471613"/>
            <a:ext cx="828675" cy="477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sz="2500" b="1">
                <a:solidFill>
                  <a:srgbClr val="FF3300"/>
                </a:solidFill>
                <a:ea typeface="楷体_GB2312"/>
                <a:sym typeface="Symbol" pitchFamily="18" charset="2"/>
              </a:rPr>
              <a:t>增大</a:t>
            </a:r>
            <a:endParaRPr lang="zh-CN" altLang="en-US" sz="2500" b="1">
              <a:solidFill>
                <a:srgbClr val="FF3300"/>
              </a:solidFill>
              <a:effectLst>
                <a:outerShdw blurRad="38100" dist="38100" dir="2700000" algn="tl">
                  <a:srgbClr val="000000"/>
                </a:outerShdw>
              </a:effectLst>
              <a:ea typeface="楷体_GB2312"/>
              <a:sym typeface="Symbol" pitchFamily="18" charset="2"/>
            </a:endParaRPr>
          </a:p>
        </p:txBody>
      </p:sp>
      <p:sp>
        <p:nvSpPr>
          <p:cNvPr id="97288" name="Line 8"/>
          <p:cNvSpPr>
            <a:spLocks noChangeShapeType="1"/>
          </p:cNvSpPr>
          <p:nvPr/>
        </p:nvSpPr>
        <p:spPr bwMode="auto">
          <a:xfrm>
            <a:off x="671513" y="1871663"/>
            <a:ext cx="0" cy="1020762"/>
          </a:xfrm>
          <a:prstGeom prst="line">
            <a:avLst/>
          </a:prstGeom>
          <a:noFill/>
          <a:ln w="9525">
            <a:solidFill>
              <a:srgbClr val="0000FF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7289" name="Rectangle 9"/>
          <p:cNvSpPr>
            <a:spLocks noChangeArrowheads="1"/>
          </p:cNvSpPr>
          <p:nvPr/>
        </p:nvSpPr>
        <p:spPr bwMode="auto">
          <a:xfrm>
            <a:off x="671513" y="1944688"/>
            <a:ext cx="596900" cy="8620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defRPr/>
            </a:pPr>
            <a:r>
              <a:rPr lang="zh-CN" altLang="en-US" sz="2500" b="1">
                <a:solidFill>
                  <a:srgbClr val="FF3300"/>
                </a:solidFill>
                <a:ea typeface="楷体_GB2312"/>
                <a:sym typeface="Symbol" pitchFamily="18" charset="2"/>
              </a:rPr>
              <a:t>减小</a:t>
            </a:r>
            <a:endParaRPr lang="zh-CN" altLang="en-US" sz="2500" b="1">
              <a:solidFill>
                <a:srgbClr val="FF3300"/>
              </a:solidFill>
              <a:effectLst>
                <a:outerShdw blurRad="38100" dist="38100" dir="2700000" algn="tl">
                  <a:srgbClr val="000000"/>
                </a:outerShdw>
              </a:effectLst>
              <a:ea typeface="楷体_GB2312"/>
              <a:sym typeface="Symbol" pitchFamily="18" charset="2"/>
            </a:endParaRPr>
          </a:p>
        </p:txBody>
      </p:sp>
      <p:sp>
        <p:nvSpPr>
          <p:cNvPr id="97291" name="Oval 11"/>
          <p:cNvSpPr>
            <a:spLocks noChangeAspect="1" noChangeArrowheads="1"/>
          </p:cNvSpPr>
          <p:nvPr/>
        </p:nvSpPr>
        <p:spPr bwMode="auto">
          <a:xfrm>
            <a:off x="8977313" y="1052513"/>
            <a:ext cx="998537" cy="749300"/>
          </a:xfrm>
          <a:prstGeom prst="ellips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 sz="2500"/>
          </a:p>
        </p:txBody>
      </p:sp>
      <p:sp>
        <p:nvSpPr>
          <p:cNvPr id="97292" name="Oval 12"/>
          <p:cNvSpPr>
            <a:spLocks noChangeAspect="1" noChangeArrowheads="1"/>
          </p:cNvSpPr>
          <p:nvPr/>
        </p:nvSpPr>
        <p:spPr bwMode="auto">
          <a:xfrm>
            <a:off x="679450" y="4351338"/>
            <a:ext cx="998538" cy="749300"/>
          </a:xfrm>
          <a:prstGeom prst="ellipse">
            <a:avLst/>
          </a:prstGeom>
          <a:noFill/>
          <a:ln w="381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 sz="2500"/>
          </a:p>
        </p:txBody>
      </p:sp>
      <p:sp>
        <p:nvSpPr>
          <p:cNvPr id="27659" name="Rectangle 35"/>
          <p:cNvSpPr>
            <a:spLocks noGrp="1" noChangeArrowheads="1"/>
          </p:cNvSpPr>
          <p:nvPr>
            <p:ph type="title"/>
          </p:nvPr>
        </p:nvSpPr>
        <p:spPr>
          <a:xfrm>
            <a:off x="576263" y="258763"/>
            <a:ext cx="10369550" cy="430212"/>
          </a:xfrm>
          <a:noFill/>
        </p:spPr>
        <p:txBody>
          <a:bodyPr/>
          <a:lstStyle/>
          <a:p>
            <a:r>
              <a:rPr lang="en-US" altLang="zh-CN" dirty="0" smtClean="0">
                <a:ea typeface="黑体" pitchFamily="49" charset="-122"/>
              </a:rPr>
              <a:t>7.3.3</a:t>
            </a:r>
            <a:r>
              <a:rPr lang="zh-CN" altLang="en-US" dirty="0" smtClean="0">
                <a:ea typeface="黑体" pitchFamily="49" charset="-122"/>
              </a:rPr>
              <a:t>元素基本性质的周期性变化规律</a:t>
            </a:r>
            <a:endParaRPr lang="zh-CN" altLang="en-US" sz="1600" b="0" dirty="0" smtClean="0">
              <a:solidFill>
                <a:schemeClr val="accent2"/>
              </a:solidFill>
              <a:ea typeface="黑体" pitchFamily="49" charset="-122"/>
            </a:endParaRPr>
          </a:p>
        </p:txBody>
      </p:sp>
      <p:sp>
        <p:nvSpPr>
          <p:cNvPr id="27661" name="Oval 26" descr="图片8">
            <a:hlinkClick r:id="" action="ppaction://hlinkshowjump?jump=previousslide"/>
          </p:cNvPr>
          <p:cNvSpPr>
            <a:spLocks noChangeAspect="1" noChangeArrowheads="1"/>
          </p:cNvSpPr>
          <p:nvPr/>
        </p:nvSpPr>
        <p:spPr bwMode="gray">
          <a:xfrm>
            <a:off x="5546723" y="5597541"/>
            <a:ext cx="360363" cy="360362"/>
          </a:xfrm>
          <a:prstGeom prst="ellipse">
            <a:avLst/>
          </a:prstGeom>
          <a:blipFill dpi="0" rotWithShape="1">
            <a:blip r:embed="rId8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972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" dur="500"/>
                                        <p:tgtEl>
                                          <p:spTgt spid="9728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6" dur="500"/>
                                        <p:tgtEl>
                                          <p:spTgt spid="9728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0" dur="500"/>
                                        <p:tgtEl>
                                          <p:spTgt spid="9728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5" dur="500"/>
                                        <p:tgtEl>
                                          <p:spTgt spid="9728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9" dur="500"/>
                                        <p:tgtEl>
                                          <p:spTgt spid="9728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4" dur="500"/>
                                        <p:tgtEl>
                                          <p:spTgt spid="9728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9" dur="500"/>
                                        <p:tgtEl>
                                          <p:spTgt spid="9729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recycl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9729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NOTIFY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7284" grpId="0" autoUpdateAnimBg="0"/>
      <p:bldP spid="97285" grpId="0" autoUpdateAnimBg="0"/>
      <p:bldP spid="97286" grpId="0" animBg="1"/>
      <p:bldP spid="97287" grpId="0" autoUpdateAnimBg="0"/>
      <p:bldP spid="97288" grpId="0" animBg="1"/>
      <p:bldP spid="97289" grpId="0" autoUpdateAnimBg="0"/>
      <p:bldP spid="97291" grpId="0" animBg="1"/>
      <p:bldP spid="97292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7" name="Text Box 3"/>
          <p:cNvSpPr txBox="1">
            <a:spLocks noChangeArrowheads="1"/>
          </p:cNvSpPr>
          <p:nvPr/>
        </p:nvSpPr>
        <p:spPr bwMode="auto">
          <a:xfrm>
            <a:off x="906463" y="950913"/>
            <a:ext cx="10136187" cy="4810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10000"/>
              </a:lnSpc>
            </a:pPr>
            <a:r>
              <a:rPr lang="en-US" altLang="zh-CN" sz="2500" b="1">
                <a:solidFill>
                  <a:srgbClr val="FF3300"/>
                </a:solidFill>
                <a:ea typeface="楷体_GB2312" pitchFamily="49" charset="-122"/>
              </a:rPr>
              <a:t>6.</a:t>
            </a:r>
            <a:r>
              <a:rPr lang="zh-CN" altLang="en-US" sz="2500" b="1">
                <a:solidFill>
                  <a:srgbClr val="FF3300"/>
                </a:solidFill>
                <a:ea typeface="楷体_GB2312" pitchFamily="49" charset="-122"/>
              </a:rPr>
              <a:t>氧化数</a:t>
            </a:r>
            <a:r>
              <a:rPr lang="en-US" altLang="zh-CN" sz="2500" b="1">
                <a:solidFill>
                  <a:srgbClr val="FF3300"/>
                </a:solidFill>
                <a:ea typeface="楷体_GB2312" pitchFamily="49" charset="-122"/>
              </a:rPr>
              <a:t>:</a:t>
            </a:r>
            <a:endParaRPr lang="en-US" altLang="zh-CN" sz="2500" b="1">
              <a:ea typeface="楷体_GB2312" pitchFamily="49" charset="-122"/>
            </a:endParaRPr>
          </a:p>
        </p:txBody>
      </p:sp>
      <p:sp>
        <p:nvSpPr>
          <p:cNvPr id="98308" name="Rectangle 4"/>
          <p:cNvSpPr>
            <a:spLocks noChangeArrowheads="1"/>
          </p:cNvSpPr>
          <p:nvPr/>
        </p:nvSpPr>
        <p:spPr bwMode="auto">
          <a:xfrm>
            <a:off x="906463" y="1358900"/>
            <a:ext cx="10136187" cy="1327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10000"/>
              </a:lnSpc>
            </a:pPr>
            <a:r>
              <a:rPr lang="zh-CN" altLang="en-US" sz="2500" b="1">
                <a:ea typeface="楷体_GB2312" pitchFamily="49" charset="-122"/>
              </a:rPr>
              <a:t>　　决定于价电子数目</a:t>
            </a:r>
            <a:r>
              <a:rPr lang="en-US" altLang="zh-CN" sz="2500" b="1">
                <a:ea typeface="楷体_GB2312" pitchFamily="49" charset="-122"/>
              </a:rPr>
              <a:t>.</a:t>
            </a:r>
          </a:p>
          <a:p>
            <a:pPr>
              <a:lnSpc>
                <a:spcPct val="110000"/>
              </a:lnSpc>
            </a:pPr>
            <a:r>
              <a:rPr lang="zh-CN" altLang="en-US" sz="2500" b="1">
                <a:ea typeface="楷体_GB2312" pitchFamily="49" charset="-122"/>
              </a:rPr>
              <a:t>　　主族元素</a:t>
            </a:r>
            <a:r>
              <a:rPr lang="en-US" altLang="zh-CN" sz="2500" b="1">
                <a:ea typeface="楷体_GB2312" pitchFamily="49" charset="-122"/>
              </a:rPr>
              <a:t>,</a:t>
            </a:r>
            <a:r>
              <a:rPr lang="zh-CN" altLang="en-US" sz="2500" b="1">
                <a:ea typeface="楷体_GB2312" pitchFamily="49" charset="-122"/>
              </a:rPr>
              <a:t>所呈现的最高氧化数 </a:t>
            </a:r>
            <a:r>
              <a:rPr lang="en-US" altLang="zh-CN" sz="2500" b="1">
                <a:ea typeface="楷体_GB2312" pitchFamily="49" charset="-122"/>
              </a:rPr>
              <a:t>= </a:t>
            </a:r>
            <a:r>
              <a:rPr lang="zh-CN" altLang="en-US" sz="2500" b="1">
                <a:ea typeface="楷体_GB2312" pitchFamily="49" charset="-122"/>
              </a:rPr>
              <a:t>该元素所属的族数</a:t>
            </a:r>
            <a:r>
              <a:rPr lang="en-US" altLang="zh-CN" sz="2500" b="1">
                <a:ea typeface="楷体_GB2312" pitchFamily="49" charset="-122"/>
              </a:rPr>
              <a:t>.</a:t>
            </a:r>
          </a:p>
          <a:p>
            <a:pPr>
              <a:lnSpc>
                <a:spcPct val="110000"/>
              </a:lnSpc>
            </a:pPr>
            <a:r>
              <a:rPr lang="zh-CN" altLang="en-US" sz="2500" b="1">
                <a:ea typeface="楷体_GB2312" pitchFamily="49" charset="-122"/>
              </a:rPr>
              <a:t>　　副族元素价电子构型和最高氧化数</a:t>
            </a:r>
            <a:r>
              <a:rPr lang="en-US" altLang="zh-CN" sz="2500" b="1">
                <a:ea typeface="楷体_GB2312" pitchFamily="49" charset="-122"/>
              </a:rPr>
              <a:t>:</a:t>
            </a:r>
          </a:p>
        </p:txBody>
      </p:sp>
      <p:grpSp>
        <p:nvGrpSpPr>
          <p:cNvPr id="2" name="Group 5"/>
          <p:cNvGrpSpPr>
            <a:grpSpLocks/>
          </p:cNvGrpSpPr>
          <p:nvPr/>
        </p:nvGrpSpPr>
        <p:grpSpPr bwMode="auto">
          <a:xfrm>
            <a:off x="452438" y="2811459"/>
            <a:ext cx="10693400" cy="2074863"/>
            <a:chOff x="226" y="2153"/>
            <a:chExt cx="5346" cy="1383"/>
          </a:xfrm>
        </p:grpSpPr>
        <p:sp>
          <p:nvSpPr>
            <p:cNvPr id="28689" name="Line 6"/>
            <p:cNvSpPr>
              <a:spLocks noChangeShapeType="1"/>
            </p:cNvSpPr>
            <p:nvPr/>
          </p:nvSpPr>
          <p:spPr bwMode="auto">
            <a:xfrm>
              <a:off x="340" y="2153"/>
              <a:ext cx="523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8690" name="Rectangle 7"/>
            <p:cNvSpPr>
              <a:spLocks noChangeArrowheads="1"/>
            </p:cNvSpPr>
            <p:nvPr/>
          </p:nvSpPr>
          <p:spPr bwMode="auto">
            <a:xfrm>
              <a:off x="226" y="2153"/>
              <a:ext cx="864" cy="134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/>
              <a:r>
                <a:rPr lang="zh-CN" altLang="en-US" sz="2500" b="1">
                  <a:ea typeface="楷体_GB2312" pitchFamily="49" charset="-122"/>
                </a:rPr>
                <a:t>副族</a:t>
              </a:r>
            </a:p>
            <a:p>
              <a:pPr algn="ctr"/>
              <a:r>
                <a:rPr lang="zh-CN" altLang="en-US" sz="2500" b="1">
                  <a:ea typeface="楷体_GB2312" pitchFamily="49" charset="-122"/>
                </a:rPr>
                <a:t>价电子</a:t>
              </a:r>
            </a:p>
            <a:p>
              <a:pPr algn="ctr"/>
              <a:r>
                <a:rPr lang="zh-CN" altLang="en-US" sz="2500" b="1">
                  <a:ea typeface="楷体_GB2312" pitchFamily="49" charset="-122"/>
                </a:rPr>
                <a:t>构型</a:t>
              </a:r>
            </a:p>
            <a:p>
              <a:pPr algn="ctr"/>
              <a:r>
                <a:rPr lang="zh-CN" altLang="en-US" sz="2500" b="1">
                  <a:ea typeface="楷体_GB2312" pitchFamily="49" charset="-122"/>
                </a:rPr>
                <a:t>最高</a:t>
              </a:r>
            </a:p>
            <a:p>
              <a:pPr algn="ctr"/>
              <a:r>
                <a:rPr lang="zh-CN" altLang="en-US" sz="2500" b="1">
                  <a:ea typeface="楷体_GB2312" pitchFamily="49" charset="-122"/>
                </a:rPr>
                <a:t>氧化数</a:t>
              </a:r>
            </a:p>
          </p:txBody>
        </p:sp>
        <p:sp>
          <p:nvSpPr>
            <p:cNvPr id="28691" name="Line 8"/>
            <p:cNvSpPr>
              <a:spLocks noChangeShapeType="1"/>
            </p:cNvSpPr>
            <p:nvPr/>
          </p:nvSpPr>
          <p:spPr bwMode="auto">
            <a:xfrm>
              <a:off x="340" y="2471"/>
              <a:ext cx="523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8692" name="Line 9"/>
            <p:cNvSpPr>
              <a:spLocks noChangeShapeType="1"/>
            </p:cNvSpPr>
            <p:nvPr/>
          </p:nvSpPr>
          <p:spPr bwMode="auto">
            <a:xfrm>
              <a:off x="340" y="3536"/>
              <a:ext cx="523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8693" name="Rectangle 10"/>
            <p:cNvSpPr>
              <a:spLocks noChangeArrowheads="1"/>
            </p:cNvSpPr>
            <p:nvPr/>
          </p:nvSpPr>
          <p:spPr bwMode="auto">
            <a:xfrm>
              <a:off x="1133" y="2157"/>
              <a:ext cx="3202" cy="31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CN" sz="2500" b="1">
                  <a:ea typeface="楷体_GB2312" pitchFamily="49" charset="-122"/>
                </a:rPr>
                <a:t>ⅢB   ⅣB   ⅤB   ⅥB    ⅦB    ⅧB  ⅠB   ⅡB</a:t>
              </a:r>
            </a:p>
          </p:txBody>
        </p:sp>
      </p:grpSp>
      <p:sp>
        <p:nvSpPr>
          <p:cNvPr id="98315" name="Rectangle 11"/>
          <p:cNvSpPr>
            <a:spLocks noChangeArrowheads="1"/>
          </p:cNvSpPr>
          <p:nvPr/>
        </p:nvSpPr>
        <p:spPr bwMode="auto">
          <a:xfrm>
            <a:off x="2266950" y="3322634"/>
            <a:ext cx="8970963" cy="8620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500" b="1">
                <a:ea typeface="楷体_GB2312" pitchFamily="49" charset="-122"/>
              </a:rPr>
              <a:t>(n-1)</a:t>
            </a:r>
            <a:r>
              <a:rPr lang="en-US" altLang="zh-CN" sz="2500" b="1" i="1">
                <a:ea typeface="楷体_GB2312" pitchFamily="49" charset="-122"/>
              </a:rPr>
              <a:t>d</a:t>
            </a:r>
            <a:r>
              <a:rPr lang="en-US" altLang="zh-CN" sz="2500" b="1" baseline="30000">
                <a:ea typeface="楷体_GB2312" pitchFamily="49" charset="-122"/>
              </a:rPr>
              <a:t>1   </a:t>
            </a:r>
            <a:r>
              <a:rPr lang="en-US" altLang="zh-CN" sz="2500" b="1">
                <a:ea typeface="楷体_GB2312" pitchFamily="49" charset="-122"/>
              </a:rPr>
              <a:t>(n-1)</a:t>
            </a:r>
            <a:r>
              <a:rPr lang="en-US" altLang="zh-CN" sz="2500" b="1" i="1">
                <a:ea typeface="楷体_GB2312" pitchFamily="49" charset="-122"/>
              </a:rPr>
              <a:t>d</a:t>
            </a:r>
            <a:r>
              <a:rPr lang="en-US" altLang="zh-CN" sz="2500" b="1" baseline="30000">
                <a:ea typeface="楷体_GB2312" pitchFamily="49" charset="-122"/>
              </a:rPr>
              <a:t>2   </a:t>
            </a:r>
            <a:r>
              <a:rPr lang="en-US" altLang="zh-CN" sz="2500" b="1">
                <a:ea typeface="楷体_GB2312" pitchFamily="49" charset="-122"/>
              </a:rPr>
              <a:t>(n-1)</a:t>
            </a:r>
            <a:r>
              <a:rPr lang="en-US" altLang="zh-CN" sz="2500" b="1" i="1">
                <a:ea typeface="楷体_GB2312" pitchFamily="49" charset="-122"/>
              </a:rPr>
              <a:t>d</a:t>
            </a:r>
            <a:r>
              <a:rPr lang="en-US" altLang="zh-CN" sz="2500" b="1" baseline="30000">
                <a:ea typeface="楷体_GB2312" pitchFamily="49" charset="-122"/>
              </a:rPr>
              <a:t>3 </a:t>
            </a:r>
            <a:r>
              <a:rPr lang="en-US" altLang="zh-CN" sz="2500" b="1">
                <a:ea typeface="楷体_GB2312" pitchFamily="49" charset="-122"/>
              </a:rPr>
              <a:t> (n-1)</a:t>
            </a:r>
            <a:r>
              <a:rPr lang="en-US" altLang="zh-CN" sz="2500" b="1" i="1">
                <a:ea typeface="楷体_GB2312" pitchFamily="49" charset="-122"/>
              </a:rPr>
              <a:t>d</a:t>
            </a:r>
            <a:r>
              <a:rPr lang="en-US" altLang="zh-CN" sz="2500" b="1" baseline="30000">
                <a:ea typeface="楷体_GB2312" pitchFamily="49" charset="-122"/>
              </a:rPr>
              <a:t>4    </a:t>
            </a:r>
            <a:r>
              <a:rPr lang="en-US" altLang="zh-CN" sz="2500" b="1">
                <a:ea typeface="楷体_GB2312" pitchFamily="49" charset="-122"/>
              </a:rPr>
              <a:t>(n-1)</a:t>
            </a:r>
            <a:r>
              <a:rPr lang="en-US" altLang="zh-CN" sz="2500" b="1" i="1">
                <a:ea typeface="楷体_GB2312" pitchFamily="49" charset="-122"/>
              </a:rPr>
              <a:t>d</a:t>
            </a:r>
            <a:r>
              <a:rPr lang="en-US" altLang="zh-CN" sz="2500" b="1" baseline="30000">
                <a:ea typeface="楷体_GB2312" pitchFamily="49" charset="-122"/>
              </a:rPr>
              <a:t>5</a:t>
            </a:r>
            <a:r>
              <a:rPr lang="en-US" altLang="zh-CN" sz="2500" b="1">
                <a:ea typeface="楷体_GB2312" pitchFamily="49" charset="-122"/>
              </a:rPr>
              <a:t>  (n-1)</a:t>
            </a:r>
            <a:r>
              <a:rPr lang="en-US" altLang="zh-CN" sz="2500" b="1" i="1">
                <a:ea typeface="楷体_GB2312" pitchFamily="49" charset="-122"/>
              </a:rPr>
              <a:t>d</a:t>
            </a:r>
            <a:r>
              <a:rPr lang="en-US" altLang="zh-CN" sz="2500" b="1" baseline="30000">
                <a:ea typeface="楷体_GB2312" pitchFamily="49" charset="-122"/>
              </a:rPr>
              <a:t>6~8 </a:t>
            </a:r>
            <a:r>
              <a:rPr lang="en-US" altLang="zh-CN" sz="2500" b="1">
                <a:ea typeface="楷体_GB2312" pitchFamily="49" charset="-122"/>
              </a:rPr>
              <a:t>(n-1)</a:t>
            </a:r>
            <a:r>
              <a:rPr lang="en-US" altLang="zh-CN" sz="2500" b="1" i="1">
                <a:ea typeface="楷体_GB2312" pitchFamily="49" charset="-122"/>
              </a:rPr>
              <a:t>d</a:t>
            </a:r>
            <a:r>
              <a:rPr lang="en-US" altLang="zh-CN" sz="2500" b="1" baseline="30000">
                <a:ea typeface="楷体_GB2312" pitchFamily="49" charset="-122"/>
              </a:rPr>
              <a:t>10 </a:t>
            </a:r>
            <a:r>
              <a:rPr lang="en-US" altLang="zh-CN" sz="2500" b="1">
                <a:ea typeface="楷体_GB2312" pitchFamily="49" charset="-122"/>
              </a:rPr>
              <a:t>(n-1)</a:t>
            </a:r>
            <a:r>
              <a:rPr lang="en-US" altLang="zh-CN" sz="2500" b="1" i="1">
                <a:ea typeface="楷体_GB2312" pitchFamily="49" charset="-122"/>
              </a:rPr>
              <a:t>d</a:t>
            </a:r>
            <a:r>
              <a:rPr lang="en-US" altLang="zh-CN" sz="2500" b="1" baseline="30000">
                <a:ea typeface="楷体_GB2312" pitchFamily="49" charset="-122"/>
              </a:rPr>
              <a:t>10</a:t>
            </a:r>
          </a:p>
          <a:p>
            <a:r>
              <a:rPr lang="en-US" altLang="zh-CN" sz="2500" b="1">
                <a:ea typeface="楷体_GB2312" pitchFamily="49" charset="-122"/>
              </a:rPr>
              <a:t>  n</a:t>
            </a:r>
            <a:r>
              <a:rPr lang="en-US" altLang="zh-CN" sz="2500" b="1" i="1">
                <a:ea typeface="楷体_GB2312" pitchFamily="49" charset="-122"/>
              </a:rPr>
              <a:t>s</a:t>
            </a:r>
            <a:r>
              <a:rPr lang="en-US" altLang="zh-CN" sz="2500" b="1" baseline="30000">
                <a:ea typeface="楷体_GB2312" pitchFamily="49" charset="-122"/>
              </a:rPr>
              <a:t>2              </a:t>
            </a:r>
            <a:r>
              <a:rPr lang="en-US" altLang="zh-CN" sz="2500" b="1">
                <a:ea typeface="楷体_GB2312" pitchFamily="49" charset="-122"/>
              </a:rPr>
              <a:t>n</a:t>
            </a:r>
            <a:r>
              <a:rPr lang="en-US" altLang="zh-CN" sz="2500" b="1" i="1">
                <a:ea typeface="楷体_GB2312" pitchFamily="49" charset="-122"/>
              </a:rPr>
              <a:t>s</a:t>
            </a:r>
            <a:r>
              <a:rPr lang="en-US" altLang="zh-CN" sz="2500" b="1" baseline="30000">
                <a:ea typeface="楷体_GB2312" pitchFamily="49" charset="-122"/>
              </a:rPr>
              <a:t>2              </a:t>
            </a:r>
            <a:r>
              <a:rPr lang="en-US" altLang="zh-CN" sz="2500" b="1">
                <a:ea typeface="楷体_GB2312" pitchFamily="49" charset="-122"/>
              </a:rPr>
              <a:t>n</a:t>
            </a:r>
            <a:r>
              <a:rPr lang="en-US" altLang="zh-CN" sz="2500" b="1" i="1">
                <a:ea typeface="楷体_GB2312" pitchFamily="49" charset="-122"/>
              </a:rPr>
              <a:t>s</a:t>
            </a:r>
            <a:r>
              <a:rPr lang="en-US" altLang="zh-CN" sz="2500" b="1" baseline="30000">
                <a:ea typeface="楷体_GB2312" pitchFamily="49" charset="-122"/>
              </a:rPr>
              <a:t>2             </a:t>
            </a:r>
            <a:r>
              <a:rPr lang="en-US" altLang="zh-CN" sz="2500" b="1">
                <a:ea typeface="楷体_GB2312" pitchFamily="49" charset="-122"/>
              </a:rPr>
              <a:t>n</a:t>
            </a:r>
            <a:r>
              <a:rPr lang="en-US" altLang="zh-CN" sz="2500" b="1" i="1">
                <a:ea typeface="楷体_GB2312" pitchFamily="49" charset="-122"/>
              </a:rPr>
              <a:t>s</a:t>
            </a:r>
            <a:r>
              <a:rPr lang="en-US" altLang="zh-CN" sz="2500" b="1" baseline="30000">
                <a:ea typeface="楷体_GB2312" pitchFamily="49" charset="-122"/>
              </a:rPr>
              <a:t>2            </a:t>
            </a:r>
            <a:r>
              <a:rPr lang="en-US" altLang="zh-CN" sz="2500" b="1">
                <a:ea typeface="楷体_GB2312" pitchFamily="49" charset="-122"/>
              </a:rPr>
              <a:t>n</a:t>
            </a:r>
            <a:r>
              <a:rPr lang="en-US" altLang="zh-CN" sz="2500" b="1" i="1">
                <a:ea typeface="楷体_GB2312" pitchFamily="49" charset="-122"/>
              </a:rPr>
              <a:t>s</a:t>
            </a:r>
            <a:r>
              <a:rPr lang="en-US" altLang="zh-CN" sz="2500" b="1" baseline="30000">
                <a:ea typeface="楷体_GB2312" pitchFamily="49" charset="-122"/>
              </a:rPr>
              <a:t>2              </a:t>
            </a:r>
            <a:r>
              <a:rPr lang="en-US" altLang="zh-CN" sz="2500" b="1">
                <a:ea typeface="楷体_GB2312" pitchFamily="49" charset="-122"/>
              </a:rPr>
              <a:t>n</a:t>
            </a:r>
            <a:r>
              <a:rPr lang="en-US" altLang="zh-CN" sz="2500" b="1" i="1">
                <a:ea typeface="楷体_GB2312" pitchFamily="49" charset="-122"/>
              </a:rPr>
              <a:t>s</a:t>
            </a:r>
            <a:r>
              <a:rPr lang="en-US" altLang="zh-CN" sz="2500" b="1" baseline="30000">
                <a:ea typeface="楷体_GB2312" pitchFamily="49" charset="-122"/>
              </a:rPr>
              <a:t>2              </a:t>
            </a:r>
            <a:r>
              <a:rPr lang="en-US" altLang="zh-CN" sz="2500" b="1">
                <a:ea typeface="楷体_GB2312" pitchFamily="49" charset="-122"/>
              </a:rPr>
              <a:t>n</a:t>
            </a:r>
            <a:r>
              <a:rPr lang="en-US" altLang="zh-CN" sz="2500" b="1" i="1">
                <a:ea typeface="楷体_GB2312" pitchFamily="49" charset="-122"/>
              </a:rPr>
              <a:t>s</a:t>
            </a:r>
            <a:r>
              <a:rPr lang="en-US" altLang="zh-CN" sz="2500" b="1" baseline="30000">
                <a:ea typeface="楷体_GB2312" pitchFamily="49" charset="-122"/>
              </a:rPr>
              <a:t>1              </a:t>
            </a:r>
            <a:r>
              <a:rPr lang="en-US" altLang="zh-CN" sz="2500" b="1">
                <a:ea typeface="楷体_GB2312" pitchFamily="49" charset="-122"/>
              </a:rPr>
              <a:t>n</a:t>
            </a:r>
            <a:r>
              <a:rPr lang="en-US" altLang="zh-CN" sz="2500" b="1" i="1">
                <a:ea typeface="楷体_GB2312" pitchFamily="49" charset="-122"/>
              </a:rPr>
              <a:t>s</a:t>
            </a:r>
            <a:r>
              <a:rPr lang="en-US" altLang="zh-CN" sz="2500" b="1" baseline="30000">
                <a:ea typeface="楷体_GB2312" pitchFamily="49" charset="-122"/>
              </a:rPr>
              <a:t>2 </a:t>
            </a:r>
          </a:p>
        </p:txBody>
      </p:sp>
      <p:sp>
        <p:nvSpPr>
          <p:cNvPr id="98316" name="Rectangle 12"/>
          <p:cNvSpPr>
            <a:spLocks noChangeArrowheads="1"/>
          </p:cNvSpPr>
          <p:nvPr/>
        </p:nvSpPr>
        <p:spPr bwMode="auto">
          <a:xfrm>
            <a:off x="2355850" y="4111622"/>
            <a:ext cx="527050" cy="477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500" b="1">
                <a:ea typeface="楷体_GB2312" pitchFamily="49" charset="-122"/>
              </a:rPr>
              <a:t>+3</a:t>
            </a:r>
          </a:p>
        </p:txBody>
      </p:sp>
      <p:sp>
        <p:nvSpPr>
          <p:cNvPr id="98317" name="Rectangle 13"/>
          <p:cNvSpPr>
            <a:spLocks noChangeArrowheads="1"/>
          </p:cNvSpPr>
          <p:nvPr/>
        </p:nvSpPr>
        <p:spPr bwMode="auto">
          <a:xfrm>
            <a:off x="3444875" y="4111622"/>
            <a:ext cx="527050" cy="477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500" b="1">
                <a:ea typeface="楷体_GB2312" pitchFamily="49" charset="-122"/>
              </a:rPr>
              <a:t>+4</a:t>
            </a:r>
          </a:p>
        </p:txBody>
      </p:sp>
      <p:sp>
        <p:nvSpPr>
          <p:cNvPr id="98318" name="Rectangle 14"/>
          <p:cNvSpPr>
            <a:spLocks noChangeArrowheads="1"/>
          </p:cNvSpPr>
          <p:nvPr/>
        </p:nvSpPr>
        <p:spPr bwMode="auto">
          <a:xfrm>
            <a:off x="4578350" y="4111622"/>
            <a:ext cx="527050" cy="477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500" b="1">
                <a:ea typeface="楷体_GB2312" pitchFamily="49" charset="-122"/>
              </a:rPr>
              <a:t>+5</a:t>
            </a:r>
          </a:p>
        </p:txBody>
      </p:sp>
      <p:sp>
        <p:nvSpPr>
          <p:cNvPr id="98319" name="Rectangle 15"/>
          <p:cNvSpPr>
            <a:spLocks noChangeArrowheads="1"/>
          </p:cNvSpPr>
          <p:nvPr/>
        </p:nvSpPr>
        <p:spPr bwMode="auto">
          <a:xfrm>
            <a:off x="5713413" y="4111622"/>
            <a:ext cx="527050" cy="477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500" b="1">
                <a:ea typeface="楷体_GB2312" pitchFamily="49" charset="-122"/>
              </a:rPr>
              <a:t>+6</a:t>
            </a:r>
          </a:p>
        </p:txBody>
      </p:sp>
      <p:sp>
        <p:nvSpPr>
          <p:cNvPr id="98320" name="Rectangle 16"/>
          <p:cNvSpPr>
            <a:spLocks noChangeArrowheads="1"/>
          </p:cNvSpPr>
          <p:nvPr/>
        </p:nvSpPr>
        <p:spPr bwMode="auto">
          <a:xfrm>
            <a:off x="6846888" y="4111622"/>
            <a:ext cx="527050" cy="477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500" b="1">
                <a:ea typeface="楷体_GB2312" pitchFamily="49" charset="-122"/>
              </a:rPr>
              <a:t>+7</a:t>
            </a:r>
          </a:p>
        </p:txBody>
      </p:sp>
      <p:sp>
        <p:nvSpPr>
          <p:cNvPr id="98321" name="Rectangle 17"/>
          <p:cNvSpPr>
            <a:spLocks noChangeArrowheads="1"/>
          </p:cNvSpPr>
          <p:nvPr/>
        </p:nvSpPr>
        <p:spPr bwMode="auto">
          <a:xfrm>
            <a:off x="7978775" y="4111622"/>
            <a:ext cx="527050" cy="477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500" b="1">
                <a:ea typeface="楷体_GB2312" pitchFamily="49" charset="-122"/>
              </a:rPr>
              <a:t>+8</a:t>
            </a:r>
          </a:p>
        </p:txBody>
      </p:sp>
      <p:sp>
        <p:nvSpPr>
          <p:cNvPr id="98322" name="Rectangle 18"/>
          <p:cNvSpPr>
            <a:spLocks noChangeArrowheads="1"/>
          </p:cNvSpPr>
          <p:nvPr/>
        </p:nvSpPr>
        <p:spPr bwMode="auto">
          <a:xfrm>
            <a:off x="9069388" y="4111622"/>
            <a:ext cx="527050" cy="477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500" b="1">
                <a:ea typeface="楷体_GB2312" pitchFamily="49" charset="-122"/>
              </a:rPr>
              <a:t>+1</a:t>
            </a:r>
          </a:p>
        </p:txBody>
      </p:sp>
      <p:sp>
        <p:nvSpPr>
          <p:cNvPr id="98323" name="Rectangle 19"/>
          <p:cNvSpPr>
            <a:spLocks noChangeArrowheads="1"/>
          </p:cNvSpPr>
          <p:nvPr/>
        </p:nvSpPr>
        <p:spPr bwMode="auto">
          <a:xfrm>
            <a:off x="10112375" y="4111622"/>
            <a:ext cx="527050" cy="477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500" b="1">
                <a:ea typeface="楷体_GB2312" pitchFamily="49" charset="-122"/>
              </a:rPr>
              <a:t>+2</a:t>
            </a:r>
          </a:p>
        </p:txBody>
      </p:sp>
      <p:sp>
        <p:nvSpPr>
          <p:cNvPr id="28686" name="Rectangle 23"/>
          <p:cNvSpPr>
            <a:spLocks noGrp="1" noChangeArrowheads="1"/>
          </p:cNvSpPr>
          <p:nvPr>
            <p:ph type="title"/>
          </p:nvPr>
        </p:nvSpPr>
        <p:spPr>
          <a:xfrm>
            <a:off x="576263" y="258763"/>
            <a:ext cx="10369550" cy="430212"/>
          </a:xfrm>
          <a:noFill/>
        </p:spPr>
        <p:txBody>
          <a:bodyPr/>
          <a:lstStyle/>
          <a:p>
            <a:r>
              <a:rPr lang="en-US" altLang="zh-CN" dirty="0" smtClean="0">
                <a:ea typeface="黑体" pitchFamily="49" charset="-122"/>
              </a:rPr>
              <a:t>7.3.3</a:t>
            </a:r>
            <a:r>
              <a:rPr lang="zh-CN" altLang="en-US" dirty="0" smtClean="0">
                <a:ea typeface="黑体" pitchFamily="49" charset="-122"/>
              </a:rPr>
              <a:t>元素基本性质的周期性变化规律</a:t>
            </a:r>
            <a:endParaRPr lang="zh-CN" altLang="en-US" sz="1600" b="0" dirty="0" smtClean="0">
              <a:solidFill>
                <a:schemeClr val="accent2"/>
              </a:solidFill>
              <a:ea typeface="黑体" pitchFamily="49" charset="-122"/>
            </a:endParaRPr>
          </a:p>
        </p:txBody>
      </p:sp>
      <p:sp>
        <p:nvSpPr>
          <p:cNvPr id="28688" name="Oval 26" descr="图片8">
            <a:hlinkClick r:id="rId5" action="ppaction://hlinksldjump"/>
          </p:cNvPr>
          <p:cNvSpPr>
            <a:spLocks noChangeAspect="1" noChangeArrowheads="1"/>
          </p:cNvSpPr>
          <p:nvPr/>
        </p:nvSpPr>
        <p:spPr bwMode="gray">
          <a:xfrm>
            <a:off x="0" y="5580000"/>
            <a:ext cx="360363" cy="360362"/>
          </a:xfrm>
          <a:prstGeom prst="ellipse">
            <a:avLst/>
          </a:prstGeom>
          <a:blipFill dpi="0" rotWithShape="1">
            <a:blip r:embed="rId6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" name="椭圆 62544" descr="图片1">
            <a:hlinkClick r:id="rId7" action="ppaction://hlinkpres?slideindex=1&amp;slidetitle="/>
          </p:cNvPr>
          <p:cNvSpPr>
            <a:spLocks noChangeAspect="1" noChangeArrowheads="1"/>
          </p:cNvSpPr>
          <p:nvPr/>
        </p:nvSpPr>
        <p:spPr bwMode="auto">
          <a:xfrm>
            <a:off x="11155363" y="5580000"/>
            <a:ext cx="360362" cy="360362"/>
          </a:xfrm>
          <a:prstGeom prst="ellipse">
            <a:avLst/>
          </a:prstGeom>
          <a:blipFill dpi="0" rotWithShape="1">
            <a:blip r:embed="rId8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zh-CN" altLang="en-US" sz="1200" b="1" dirty="0" smtClean="0">
                <a:solidFill>
                  <a:srgbClr val="000000"/>
                </a:solidFill>
                <a:ea typeface="楷体_GB2312" pitchFamily="49" charset="-122"/>
              </a:rPr>
              <a:t>下章</a:t>
            </a:r>
            <a:endParaRPr lang="zh-CN" altLang="en-US" sz="1200" b="1" dirty="0">
              <a:solidFill>
                <a:srgbClr val="000000"/>
              </a:solidFill>
              <a:ea typeface="楷体_GB2312" pitchFamily="49" charset="-122"/>
            </a:endParaRPr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" dur="500"/>
                                        <p:tgtEl>
                                          <p:spTgt spid="983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0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9830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0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9830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0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9830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500"/>
                                        <p:tgtEl>
                                          <p:spTgt spid="9831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7" dur="500"/>
                                        <p:tgtEl>
                                          <p:spTgt spid="9831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2" dur="500"/>
                                        <p:tgtEl>
                                          <p:spTgt spid="9831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7" dur="500"/>
                                        <p:tgtEl>
                                          <p:spTgt spid="9831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2" dur="500"/>
                                        <p:tgtEl>
                                          <p:spTgt spid="9831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7" dur="500"/>
                                        <p:tgtEl>
                                          <p:spTgt spid="9832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2" dur="500"/>
                                        <p:tgtEl>
                                          <p:spTgt spid="9832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7" dur="500"/>
                                        <p:tgtEl>
                                          <p:spTgt spid="9832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2" dur="500"/>
                                        <p:tgtEl>
                                          <p:spTgt spid="9832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NOTIFY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8307" grpId="0" autoUpdateAnimBg="0"/>
      <p:bldP spid="98308" grpId="0" build="p" autoUpdateAnimBg="0"/>
      <p:bldP spid="98315" grpId="0" autoUpdateAnimBg="0"/>
      <p:bldP spid="98316" grpId="0" autoUpdateAnimBg="0"/>
      <p:bldP spid="98317" grpId="0" autoUpdateAnimBg="0"/>
      <p:bldP spid="98318" grpId="0" autoUpdateAnimBg="0"/>
      <p:bldP spid="98319" grpId="0" autoUpdateAnimBg="0"/>
      <p:bldP spid="98320" grpId="0" autoUpdateAnimBg="0"/>
      <p:bldP spid="98321" grpId="0" autoUpdateAnimBg="0"/>
      <p:bldP spid="98322" grpId="0" autoUpdateAnimBg="0"/>
      <p:bldP spid="98323" grpId="0" autoUpdateAnimBg="0"/>
    </p:bldLst>
  </p:timing>
</p:sld>
</file>

<file path=ppt/theme/theme1.xml><?xml version="1.0" encoding="utf-8"?>
<a:theme xmlns:a="http://schemas.openxmlformats.org/drawingml/2006/main" name="医学研究PPT模板">
  <a:themeElements>
    <a:clrScheme name="医学研究PPT模板 1">
      <a:dk1>
        <a:srgbClr val="000000"/>
      </a:dk1>
      <a:lt1>
        <a:srgbClr val="FFFFFF"/>
      </a:lt1>
      <a:dk2>
        <a:srgbClr val="000000"/>
      </a:dk2>
      <a:lt2>
        <a:srgbClr val="000000"/>
      </a:lt2>
      <a:accent1>
        <a:srgbClr val="000000"/>
      </a:accent1>
      <a:accent2>
        <a:srgbClr val="FF00FF"/>
      </a:accent2>
      <a:accent3>
        <a:srgbClr val="FFFFFF"/>
      </a:accent3>
      <a:accent4>
        <a:srgbClr val="000000"/>
      </a:accent4>
      <a:accent5>
        <a:srgbClr val="AAAAAA"/>
      </a:accent5>
      <a:accent6>
        <a:srgbClr val="E700E7"/>
      </a:accent6>
      <a:hlink>
        <a:srgbClr val="FF9900"/>
      </a:hlink>
      <a:folHlink>
        <a:srgbClr val="6600FF"/>
      </a:folHlink>
    </a:clrScheme>
    <a:fontScheme name="医学研究PPT模板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医学研究PPT模板 1">
        <a:dk1>
          <a:srgbClr val="200B5B"/>
        </a:dk1>
        <a:lt1>
          <a:srgbClr val="EAEAEA"/>
        </a:lt1>
        <a:dk2>
          <a:srgbClr val="6600FF"/>
        </a:dk2>
        <a:lt2>
          <a:srgbClr val="FFCC66"/>
        </a:lt2>
        <a:accent1>
          <a:srgbClr val="EEB00B"/>
        </a:accent1>
        <a:accent2>
          <a:srgbClr val="6600CC"/>
        </a:accent2>
        <a:accent3>
          <a:srgbClr val="B8AAFF"/>
        </a:accent3>
        <a:accent4>
          <a:srgbClr val="C8C8C8"/>
        </a:accent4>
        <a:accent5>
          <a:srgbClr val="F5D4AA"/>
        </a:accent5>
        <a:accent6>
          <a:srgbClr val="5C00B9"/>
        </a:accent6>
        <a:hlink>
          <a:srgbClr val="FF33CC"/>
        </a:hlink>
        <a:folHlink>
          <a:srgbClr val="CC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医学研究PPT模板 2">
        <a:dk1>
          <a:srgbClr val="393939"/>
        </a:dk1>
        <a:lt1>
          <a:srgbClr val="FFFFFF"/>
        </a:lt1>
        <a:dk2>
          <a:srgbClr val="6600CC"/>
        </a:dk2>
        <a:lt2>
          <a:srgbClr val="CCCCFF"/>
        </a:lt2>
        <a:accent1>
          <a:srgbClr val="F9D87E"/>
        </a:accent1>
        <a:accent2>
          <a:srgbClr val="FFCCCC"/>
        </a:accent2>
        <a:accent3>
          <a:srgbClr val="FFFFFF"/>
        </a:accent3>
        <a:accent4>
          <a:srgbClr val="2F2F2F"/>
        </a:accent4>
        <a:accent5>
          <a:srgbClr val="FBE9C0"/>
        </a:accent5>
        <a:accent6>
          <a:srgbClr val="E7B9B9"/>
        </a:accent6>
        <a:hlink>
          <a:srgbClr val="FFCCFF"/>
        </a:hlink>
        <a:folHlink>
          <a:srgbClr val="99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医学研究PPT模板 3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CBCBCB"/>
        </a:accent1>
        <a:accent2>
          <a:srgbClr val="5F5F5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555555"/>
        </a:accent6>
        <a:hlink>
          <a:srgbClr val="969696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医学研究PPT模板 4">
        <a:dk1>
          <a:srgbClr val="330000"/>
        </a:dk1>
        <a:lt1>
          <a:srgbClr val="FFFFCC"/>
        </a:lt1>
        <a:dk2>
          <a:srgbClr val="000000"/>
        </a:dk2>
        <a:lt2>
          <a:srgbClr val="FFCC00"/>
        </a:lt2>
        <a:accent1>
          <a:srgbClr val="FF9900"/>
        </a:accent1>
        <a:accent2>
          <a:srgbClr val="330099"/>
        </a:accent2>
        <a:accent3>
          <a:srgbClr val="AAAAAA"/>
        </a:accent3>
        <a:accent4>
          <a:srgbClr val="DADAAE"/>
        </a:accent4>
        <a:accent5>
          <a:srgbClr val="FFCAAA"/>
        </a:accent5>
        <a:accent6>
          <a:srgbClr val="2D008A"/>
        </a:accent6>
        <a:hlink>
          <a:srgbClr val="FF6633"/>
        </a:hlink>
        <a:folHlink>
          <a:srgbClr val="66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医学研究PPT模板 5">
        <a:dk1>
          <a:srgbClr val="333300"/>
        </a:dk1>
        <a:lt1>
          <a:srgbClr val="DDDDDD"/>
        </a:lt1>
        <a:dk2>
          <a:srgbClr val="996600"/>
        </a:dk2>
        <a:lt2>
          <a:srgbClr val="FFCC66"/>
        </a:lt2>
        <a:accent1>
          <a:srgbClr val="EEB00B"/>
        </a:accent1>
        <a:accent2>
          <a:srgbClr val="330099"/>
        </a:accent2>
        <a:accent3>
          <a:srgbClr val="CAB8AA"/>
        </a:accent3>
        <a:accent4>
          <a:srgbClr val="BDBDBD"/>
        </a:accent4>
        <a:accent5>
          <a:srgbClr val="F5D4AA"/>
        </a:accent5>
        <a:accent6>
          <a:srgbClr val="2D008A"/>
        </a:accent6>
        <a:hlink>
          <a:srgbClr val="FF6633"/>
        </a:hlink>
        <a:folHlink>
          <a:srgbClr val="CC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医学研究PPT模板 6">
        <a:dk1>
          <a:srgbClr val="003300"/>
        </a:dk1>
        <a:lt1>
          <a:srgbClr val="FFFFCC"/>
        </a:lt1>
        <a:dk2>
          <a:srgbClr val="999933"/>
        </a:dk2>
        <a:lt2>
          <a:srgbClr val="FFFF66"/>
        </a:lt2>
        <a:accent1>
          <a:srgbClr val="CC9900"/>
        </a:accent1>
        <a:accent2>
          <a:srgbClr val="330099"/>
        </a:accent2>
        <a:accent3>
          <a:srgbClr val="CACAAD"/>
        </a:accent3>
        <a:accent4>
          <a:srgbClr val="DADAAE"/>
        </a:accent4>
        <a:accent5>
          <a:srgbClr val="E2CAAA"/>
        </a:accent5>
        <a:accent6>
          <a:srgbClr val="2D008A"/>
        </a:accent6>
        <a:hlink>
          <a:srgbClr val="FF9900"/>
        </a:hlink>
        <a:folHlink>
          <a:srgbClr val="FF66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医学研究PPT模板 1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CBCBCB"/>
        </a:accent1>
        <a:accent2>
          <a:srgbClr val="5F5F5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555555"/>
        </a:accent6>
        <a:hlink>
          <a:srgbClr val="969696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医学研究PPT模板 2">
        <a:dk1>
          <a:srgbClr val="000000"/>
        </a:dk1>
        <a:lt1>
          <a:srgbClr val="FFFFFF"/>
        </a:lt1>
        <a:dk2>
          <a:srgbClr val="000000"/>
        </a:dk2>
        <a:lt2>
          <a:srgbClr val="000000"/>
        </a:lt2>
        <a:accent1>
          <a:srgbClr val="FF0000"/>
        </a:accent1>
        <a:accent2>
          <a:srgbClr val="FF00FF"/>
        </a:accent2>
        <a:accent3>
          <a:srgbClr val="FFFFFF"/>
        </a:accent3>
        <a:accent4>
          <a:srgbClr val="000000"/>
        </a:accent4>
        <a:accent5>
          <a:srgbClr val="FFAAAA"/>
        </a:accent5>
        <a:accent6>
          <a:srgbClr val="E700E7"/>
        </a:accent6>
        <a:hlink>
          <a:srgbClr val="FF99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医学研究PPT模板 3">
        <a:dk1>
          <a:srgbClr val="FFFFFF"/>
        </a:dk1>
        <a:lt1>
          <a:srgbClr val="FFFFFF"/>
        </a:lt1>
        <a:dk2>
          <a:srgbClr val="000000"/>
        </a:dk2>
        <a:lt2>
          <a:srgbClr val="000000"/>
        </a:lt2>
        <a:accent1>
          <a:srgbClr val="FF0000"/>
        </a:accent1>
        <a:accent2>
          <a:srgbClr val="FF00FF"/>
        </a:accent2>
        <a:accent3>
          <a:srgbClr val="FFFFFF"/>
        </a:accent3>
        <a:accent4>
          <a:srgbClr val="DADADA"/>
        </a:accent4>
        <a:accent5>
          <a:srgbClr val="FFAAAA"/>
        </a:accent5>
        <a:accent6>
          <a:srgbClr val="E700E7"/>
        </a:accent6>
        <a:hlink>
          <a:srgbClr val="FF99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医学研究PPT模板 1">
        <a:dk1>
          <a:srgbClr val="FFFFFF"/>
        </a:dk1>
        <a:lt1>
          <a:srgbClr val="FFFFFF"/>
        </a:lt1>
        <a:dk2>
          <a:srgbClr val="000000"/>
        </a:dk2>
        <a:lt2>
          <a:srgbClr val="000000"/>
        </a:lt2>
        <a:accent1>
          <a:srgbClr val="000000"/>
        </a:accent1>
        <a:accent2>
          <a:srgbClr val="FF00FF"/>
        </a:accent2>
        <a:accent3>
          <a:srgbClr val="FFFFFF"/>
        </a:accent3>
        <a:accent4>
          <a:srgbClr val="DADADA"/>
        </a:accent4>
        <a:accent5>
          <a:srgbClr val="AAAAAA"/>
        </a:accent5>
        <a:accent6>
          <a:srgbClr val="E700E7"/>
        </a:accent6>
        <a:hlink>
          <a:srgbClr val="FF99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医学研究PPT模板 1">
        <a:dk1>
          <a:srgbClr val="000000"/>
        </a:dk1>
        <a:lt1>
          <a:srgbClr val="FFFFFF"/>
        </a:lt1>
        <a:dk2>
          <a:srgbClr val="000000"/>
        </a:dk2>
        <a:lt2>
          <a:srgbClr val="000000"/>
        </a:lt2>
        <a:accent1>
          <a:srgbClr val="000000"/>
        </a:accent1>
        <a:accent2>
          <a:srgbClr val="FF00FF"/>
        </a:accent2>
        <a:accent3>
          <a:srgbClr val="FFFFFF"/>
        </a:accent3>
        <a:accent4>
          <a:srgbClr val="000000"/>
        </a:accent4>
        <a:accent5>
          <a:srgbClr val="AAAAAA"/>
        </a:accent5>
        <a:accent6>
          <a:srgbClr val="E700E7"/>
        </a:accent6>
        <a:hlink>
          <a:srgbClr val="FF9900"/>
        </a:hlink>
        <a:folHlink>
          <a:srgbClr val="6600FF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医学研究PPT模板">
  <a:themeElements>
    <a:clrScheme name="1_医学研究PPT模板 1">
      <a:dk1>
        <a:srgbClr val="200B5B"/>
      </a:dk1>
      <a:lt1>
        <a:srgbClr val="EAEAEA"/>
      </a:lt1>
      <a:dk2>
        <a:srgbClr val="6600FF"/>
      </a:dk2>
      <a:lt2>
        <a:srgbClr val="FFCC66"/>
      </a:lt2>
      <a:accent1>
        <a:srgbClr val="EEB00B"/>
      </a:accent1>
      <a:accent2>
        <a:srgbClr val="6600CC"/>
      </a:accent2>
      <a:accent3>
        <a:srgbClr val="B8AAFF"/>
      </a:accent3>
      <a:accent4>
        <a:srgbClr val="C8C8C8"/>
      </a:accent4>
      <a:accent5>
        <a:srgbClr val="F5D4AA"/>
      </a:accent5>
      <a:accent6>
        <a:srgbClr val="5C00B9"/>
      </a:accent6>
      <a:hlink>
        <a:srgbClr val="FF33CC"/>
      </a:hlink>
      <a:folHlink>
        <a:srgbClr val="CC99FF"/>
      </a:folHlink>
    </a:clrScheme>
    <a:fontScheme name="1_医学研究PPT模板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1_医学研究PPT模板 1">
        <a:dk1>
          <a:srgbClr val="200B5B"/>
        </a:dk1>
        <a:lt1>
          <a:srgbClr val="EAEAEA"/>
        </a:lt1>
        <a:dk2>
          <a:srgbClr val="6600FF"/>
        </a:dk2>
        <a:lt2>
          <a:srgbClr val="FFCC66"/>
        </a:lt2>
        <a:accent1>
          <a:srgbClr val="EEB00B"/>
        </a:accent1>
        <a:accent2>
          <a:srgbClr val="6600CC"/>
        </a:accent2>
        <a:accent3>
          <a:srgbClr val="B8AAFF"/>
        </a:accent3>
        <a:accent4>
          <a:srgbClr val="C8C8C8"/>
        </a:accent4>
        <a:accent5>
          <a:srgbClr val="F5D4AA"/>
        </a:accent5>
        <a:accent6>
          <a:srgbClr val="5C00B9"/>
        </a:accent6>
        <a:hlink>
          <a:srgbClr val="FF33CC"/>
        </a:hlink>
        <a:folHlink>
          <a:srgbClr val="CC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医学研究PPT模板 2">
        <a:dk1>
          <a:srgbClr val="393939"/>
        </a:dk1>
        <a:lt1>
          <a:srgbClr val="FFFFFF"/>
        </a:lt1>
        <a:dk2>
          <a:srgbClr val="6600CC"/>
        </a:dk2>
        <a:lt2>
          <a:srgbClr val="CCCCFF"/>
        </a:lt2>
        <a:accent1>
          <a:srgbClr val="F9D87E"/>
        </a:accent1>
        <a:accent2>
          <a:srgbClr val="FFCCCC"/>
        </a:accent2>
        <a:accent3>
          <a:srgbClr val="FFFFFF"/>
        </a:accent3>
        <a:accent4>
          <a:srgbClr val="2F2F2F"/>
        </a:accent4>
        <a:accent5>
          <a:srgbClr val="FBE9C0"/>
        </a:accent5>
        <a:accent6>
          <a:srgbClr val="E7B9B9"/>
        </a:accent6>
        <a:hlink>
          <a:srgbClr val="FFCCFF"/>
        </a:hlink>
        <a:folHlink>
          <a:srgbClr val="99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医学研究PPT模板 3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CBCBCB"/>
        </a:accent1>
        <a:accent2>
          <a:srgbClr val="5F5F5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555555"/>
        </a:accent6>
        <a:hlink>
          <a:srgbClr val="969696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医学研究PPT模板 4">
        <a:dk1>
          <a:srgbClr val="330000"/>
        </a:dk1>
        <a:lt1>
          <a:srgbClr val="FFFFCC"/>
        </a:lt1>
        <a:dk2>
          <a:srgbClr val="000000"/>
        </a:dk2>
        <a:lt2>
          <a:srgbClr val="FFCC00"/>
        </a:lt2>
        <a:accent1>
          <a:srgbClr val="FF9900"/>
        </a:accent1>
        <a:accent2>
          <a:srgbClr val="330099"/>
        </a:accent2>
        <a:accent3>
          <a:srgbClr val="AAAAAA"/>
        </a:accent3>
        <a:accent4>
          <a:srgbClr val="DADAAE"/>
        </a:accent4>
        <a:accent5>
          <a:srgbClr val="FFCAAA"/>
        </a:accent5>
        <a:accent6>
          <a:srgbClr val="2D008A"/>
        </a:accent6>
        <a:hlink>
          <a:srgbClr val="FF6633"/>
        </a:hlink>
        <a:folHlink>
          <a:srgbClr val="66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医学研究PPT模板 5">
        <a:dk1>
          <a:srgbClr val="333300"/>
        </a:dk1>
        <a:lt1>
          <a:srgbClr val="DDDDDD"/>
        </a:lt1>
        <a:dk2>
          <a:srgbClr val="996600"/>
        </a:dk2>
        <a:lt2>
          <a:srgbClr val="FFCC66"/>
        </a:lt2>
        <a:accent1>
          <a:srgbClr val="EEB00B"/>
        </a:accent1>
        <a:accent2>
          <a:srgbClr val="330099"/>
        </a:accent2>
        <a:accent3>
          <a:srgbClr val="CAB8AA"/>
        </a:accent3>
        <a:accent4>
          <a:srgbClr val="BDBDBD"/>
        </a:accent4>
        <a:accent5>
          <a:srgbClr val="F5D4AA"/>
        </a:accent5>
        <a:accent6>
          <a:srgbClr val="2D008A"/>
        </a:accent6>
        <a:hlink>
          <a:srgbClr val="FF6633"/>
        </a:hlink>
        <a:folHlink>
          <a:srgbClr val="CC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医学研究PPT模板 6">
        <a:dk1>
          <a:srgbClr val="003300"/>
        </a:dk1>
        <a:lt1>
          <a:srgbClr val="FFFFCC"/>
        </a:lt1>
        <a:dk2>
          <a:srgbClr val="999933"/>
        </a:dk2>
        <a:lt2>
          <a:srgbClr val="FFFF66"/>
        </a:lt2>
        <a:accent1>
          <a:srgbClr val="CC9900"/>
        </a:accent1>
        <a:accent2>
          <a:srgbClr val="330099"/>
        </a:accent2>
        <a:accent3>
          <a:srgbClr val="CACAAD"/>
        </a:accent3>
        <a:accent4>
          <a:srgbClr val="DADAAE"/>
        </a:accent4>
        <a:accent5>
          <a:srgbClr val="E2CAAA"/>
        </a:accent5>
        <a:accent6>
          <a:srgbClr val="2D008A"/>
        </a:accent6>
        <a:hlink>
          <a:srgbClr val="FF9900"/>
        </a:hlink>
        <a:folHlink>
          <a:srgbClr val="FF66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医学研究PPT模板 1">
        <a:dk1>
          <a:srgbClr val="200B5B"/>
        </a:dk1>
        <a:lt1>
          <a:srgbClr val="EAEAEA"/>
        </a:lt1>
        <a:dk2>
          <a:srgbClr val="6600FF"/>
        </a:dk2>
        <a:lt2>
          <a:srgbClr val="FFCC66"/>
        </a:lt2>
        <a:accent1>
          <a:srgbClr val="EEB00B"/>
        </a:accent1>
        <a:accent2>
          <a:srgbClr val="6600CC"/>
        </a:accent2>
        <a:accent3>
          <a:srgbClr val="B8AAFF"/>
        </a:accent3>
        <a:accent4>
          <a:srgbClr val="C8C8C8"/>
        </a:accent4>
        <a:accent5>
          <a:srgbClr val="F5D4AA"/>
        </a:accent5>
        <a:accent6>
          <a:srgbClr val="5C00B9"/>
        </a:accent6>
        <a:hlink>
          <a:srgbClr val="FF33CC"/>
        </a:hlink>
        <a:folHlink>
          <a:srgbClr val="CC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医学研究PPT模板 2">
        <a:dk1>
          <a:srgbClr val="FFFFFF"/>
        </a:dk1>
        <a:lt1>
          <a:srgbClr val="FFFFFF"/>
        </a:lt1>
        <a:dk2>
          <a:srgbClr val="000000"/>
        </a:dk2>
        <a:lt2>
          <a:srgbClr val="000000"/>
        </a:lt2>
        <a:accent1>
          <a:srgbClr val="FF0000"/>
        </a:accent1>
        <a:accent2>
          <a:srgbClr val="FF00FF"/>
        </a:accent2>
        <a:accent3>
          <a:srgbClr val="FFFFFF"/>
        </a:accent3>
        <a:accent4>
          <a:srgbClr val="DADADA"/>
        </a:accent4>
        <a:accent5>
          <a:srgbClr val="FFAAAA"/>
        </a:accent5>
        <a:accent6>
          <a:srgbClr val="E700E7"/>
        </a:accent6>
        <a:hlink>
          <a:srgbClr val="FF99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医学研究PPT模板 1">
        <a:dk1>
          <a:srgbClr val="200B5B"/>
        </a:dk1>
        <a:lt1>
          <a:srgbClr val="EAEAEA"/>
        </a:lt1>
        <a:dk2>
          <a:srgbClr val="6600FF"/>
        </a:dk2>
        <a:lt2>
          <a:srgbClr val="FFCC66"/>
        </a:lt2>
        <a:accent1>
          <a:srgbClr val="EEB00B"/>
        </a:accent1>
        <a:accent2>
          <a:srgbClr val="6600CC"/>
        </a:accent2>
        <a:accent3>
          <a:srgbClr val="B8AAFF"/>
        </a:accent3>
        <a:accent4>
          <a:srgbClr val="C8C8C8"/>
        </a:accent4>
        <a:accent5>
          <a:srgbClr val="F5D4AA"/>
        </a:accent5>
        <a:accent6>
          <a:srgbClr val="5C00B9"/>
        </a:accent6>
        <a:hlink>
          <a:srgbClr val="FF33CC"/>
        </a:hlink>
        <a:folHlink>
          <a:srgbClr val="CC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医学研究PPT模板 2">
        <a:dk1>
          <a:srgbClr val="393939"/>
        </a:dk1>
        <a:lt1>
          <a:srgbClr val="FFFFFF"/>
        </a:lt1>
        <a:dk2>
          <a:srgbClr val="6600CC"/>
        </a:dk2>
        <a:lt2>
          <a:srgbClr val="CCCCFF"/>
        </a:lt2>
        <a:accent1>
          <a:srgbClr val="F9D87E"/>
        </a:accent1>
        <a:accent2>
          <a:srgbClr val="FFCCCC"/>
        </a:accent2>
        <a:accent3>
          <a:srgbClr val="FFFFFF"/>
        </a:accent3>
        <a:accent4>
          <a:srgbClr val="2F2F2F"/>
        </a:accent4>
        <a:accent5>
          <a:srgbClr val="FBE9C0"/>
        </a:accent5>
        <a:accent6>
          <a:srgbClr val="E7B9B9"/>
        </a:accent6>
        <a:hlink>
          <a:srgbClr val="FFCCFF"/>
        </a:hlink>
        <a:folHlink>
          <a:srgbClr val="99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医学研究PPT模板 3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CBCBCB"/>
        </a:accent1>
        <a:accent2>
          <a:srgbClr val="5F5F5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555555"/>
        </a:accent6>
        <a:hlink>
          <a:srgbClr val="969696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医学研究PPT模板 4">
        <a:dk1>
          <a:srgbClr val="330000"/>
        </a:dk1>
        <a:lt1>
          <a:srgbClr val="FFFFCC"/>
        </a:lt1>
        <a:dk2>
          <a:srgbClr val="000000"/>
        </a:dk2>
        <a:lt2>
          <a:srgbClr val="FFCC00"/>
        </a:lt2>
        <a:accent1>
          <a:srgbClr val="FF9900"/>
        </a:accent1>
        <a:accent2>
          <a:srgbClr val="330099"/>
        </a:accent2>
        <a:accent3>
          <a:srgbClr val="AAAAAA"/>
        </a:accent3>
        <a:accent4>
          <a:srgbClr val="DADAAE"/>
        </a:accent4>
        <a:accent5>
          <a:srgbClr val="FFCAAA"/>
        </a:accent5>
        <a:accent6>
          <a:srgbClr val="2D008A"/>
        </a:accent6>
        <a:hlink>
          <a:srgbClr val="FF6633"/>
        </a:hlink>
        <a:folHlink>
          <a:srgbClr val="66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医学研究PPT模板 5">
        <a:dk1>
          <a:srgbClr val="333300"/>
        </a:dk1>
        <a:lt1>
          <a:srgbClr val="DDDDDD"/>
        </a:lt1>
        <a:dk2>
          <a:srgbClr val="996600"/>
        </a:dk2>
        <a:lt2>
          <a:srgbClr val="FFCC66"/>
        </a:lt2>
        <a:accent1>
          <a:srgbClr val="EEB00B"/>
        </a:accent1>
        <a:accent2>
          <a:srgbClr val="330099"/>
        </a:accent2>
        <a:accent3>
          <a:srgbClr val="CAB8AA"/>
        </a:accent3>
        <a:accent4>
          <a:srgbClr val="BDBDBD"/>
        </a:accent4>
        <a:accent5>
          <a:srgbClr val="F5D4AA"/>
        </a:accent5>
        <a:accent6>
          <a:srgbClr val="2D008A"/>
        </a:accent6>
        <a:hlink>
          <a:srgbClr val="FF6633"/>
        </a:hlink>
        <a:folHlink>
          <a:srgbClr val="CC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医学研究PPT模板 6">
        <a:dk1>
          <a:srgbClr val="003300"/>
        </a:dk1>
        <a:lt1>
          <a:srgbClr val="FFFFCC"/>
        </a:lt1>
        <a:dk2>
          <a:srgbClr val="999933"/>
        </a:dk2>
        <a:lt2>
          <a:srgbClr val="FFFF66"/>
        </a:lt2>
        <a:accent1>
          <a:srgbClr val="CC9900"/>
        </a:accent1>
        <a:accent2>
          <a:srgbClr val="330099"/>
        </a:accent2>
        <a:accent3>
          <a:srgbClr val="CACAAD"/>
        </a:accent3>
        <a:accent4>
          <a:srgbClr val="DADAAE"/>
        </a:accent4>
        <a:accent5>
          <a:srgbClr val="E2CAAA"/>
        </a:accent5>
        <a:accent6>
          <a:srgbClr val="2D008A"/>
        </a:accent6>
        <a:hlink>
          <a:srgbClr val="FF9900"/>
        </a:hlink>
        <a:folHlink>
          <a:srgbClr val="FF66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医学研究PPT模板 7">
        <a:dk1>
          <a:srgbClr val="200B5B"/>
        </a:dk1>
        <a:lt1>
          <a:srgbClr val="EAEAEA"/>
        </a:lt1>
        <a:dk2>
          <a:srgbClr val="6600FF"/>
        </a:dk2>
        <a:lt2>
          <a:srgbClr val="FFCC66"/>
        </a:lt2>
        <a:accent1>
          <a:srgbClr val="EEB00B"/>
        </a:accent1>
        <a:accent2>
          <a:srgbClr val="6600CC"/>
        </a:accent2>
        <a:accent3>
          <a:srgbClr val="B8AAFF"/>
        </a:accent3>
        <a:accent4>
          <a:srgbClr val="C8C8C8"/>
        </a:accent4>
        <a:accent5>
          <a:srgbClr val="F5D4AA"/>
        </a:accent5>
        <a:accent6>
          <a:srgbClr val="5C00B9"/>
        </a:accent6>
        <a:hlink>
          <a:srgbClr val="FF33CC"/>
        </a:hlink>
        <a:folHlink>
          <a:srgbClr val="CC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医学研究PPT模板 8">
        <a:dk1>
          <a:srgbClr val="FFFFFF"/>
        </a:dk1>
        <a:lt1>
          <a:srgbClr val="FFFFFF"/>
        </a:lt1>
        <a:dk2>
          <a:srgbClr val="000000"/>
        </a:dk2>
        <a:lt2>
          <a:srgbClr val="000000"/>
        </a:lt2>
        <a:accent1>
          <a:srgbClr val="FF0000"/>
        </a:accent1>
        <a:accent2>
          <a:srgbClr val="FF00FF"/>
        </a:accent2>
        <a:accent3>
          <a:srgbClr val="FFFFFF"/>
        </a:accent3>
        <a:accent4>
          <a:srgbClr val="DADADA"/>
        </a:accent4>
        <a:accent5>
          <a:srgbClr val="FFAAAA"/>
        </a:accent5>
        <a:accent6>
          <a:srgbClr val="E700E7"/>
        </a:accent6>
        <a:hlink>
          <a:srgbClr val="FF99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医学研究PPT模板 9">
        <a:dk1>
          <a:srgbClr val="000000"/>
        </a:dk1>
        <a:lt1>
          <a:srgbClr val="FFFFFF"/>
        </a:lt1>
        <a:dk2>
          <a:srgbClr val="000000"/>
        </a:dk2>
        <a:lt2>
          <a:srgbClr val="000000"/>
        </a:lt2>
        <a:accent1>
          <a:srgbClr val="FF0000"/>
        </a:accent1>
        <a:accent2>
          <a:srgbClr val="FF00FF"/>
        </a:accent2>
        <a:accent3>
          <a:srgbClr val="AAAAAA"/>
        </a:accent3>
        <a:accent4>
          <a:srgbClr val="DADADA"/>
        </a:accent4>
        <a:accent5>
          <a:srgbClr val="FFAAAA"/>
        </a:accent5>
        <a:accent6>
          <a:srgbClr val="E700E7"/>
        </a:accent6>
        <a:hlink>
          <a:srgbClr val="FF9900"/>
        </a:hlink>
        <a:folHlink>
          <a:srgbClr val="3333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医学研究PPT模板 10">
        <a:dk1>
          <a:srgbClr val="FFFFFF"/>
        </a:dk1>
        <a:lt1>
          <a:srgbClr val="FFFFFF"/>
        </a:lt1>
        <a:dk2>
          <a:srgbClr val="000000"/>
        </a:dk2>
        <a:lt2>
          <a:srgbClr val="000000"/>
        </a:lt2>
        <a:accent1>
          <a:srgbClr val="000000"/>
        </a:accent1>
        <a:accent2>
          <a:srgbClr val="FF00FF"/>
        </a:accent2>
        <a:accent3>
          <a:srgbClr val="FFFFFF"/>
        </a:accent3>
        <a:accent4>
          <a:srgbClr val="DADADA"/>
        </a:accent4>
        <a:accent5>
          <a:srgbClr val="AAAAAA"/>
        </a:accent5>
        <a:accent6>
          <a:srgbClr val="E700E7"/>
        </a:accent6>
        <a:hlink>
          <a:srgbClr val="FF99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医学研究PPT模板</Template>
  <TotalTime>4195</TotalTime>
  <Pages>0</Pages>
  <Words>1427</Words>
  <Characters>0</Characters>
  <Application>Microsoft Office PowerPoint</Application>
  <DocSecurity>0</DocSecurity>
  <PresentationFormat>自定义</PresentationFormat>
  <Lines>0</Lines>
  <Paragraphs>301</Paragraphs>
  <Slides>26</Slides>
  <Notes>2</Notes>
  <HiddenSlides>0</HiddenSlides>
  <MMClips>0</MMClips>
  <ScaleCrop>false</ScaleCrop>
  <HeadingPairs>
    <vt:vector size="4" baseType="variant">
      <vt:variant>
        <vt:lpstr>主题</vt:lpstr>
      </vt:variant>
      <vt:variant>
        <vt:i4>2</vt:i4>
      </vt:variant>
      <vt:variant>
        <vt:lpstr>幻灯片标题</vt:lpstr>
      </vt:variant>
      <vt:variant>
        <vt:i4>26</vt:i4>
      </vt:variant>
    </vt:vector>
  </HeadingPairs>
  <TitlesOfParts>
    <vt:vector size="28" baseType="lpstr">
      <vt:lpstr>医学研究PPT模板</vt:lpstr>
      <vt:lpstr>1_医学研究PPT模板</vt:lpstr>
      <vt:lpstr>PowerPoint 演示文稿</vt:lpstr>
      <vt:lpstr>7.3 原子电子层结构和元素周期系</vt:lpstr>
      <vt:lpstr>7.3.1多电子原子的核外电子排布</vt:lpstr>
      <vt:lpstr>7.3.1多电子原子的核外电子排布</vt:lpstr>
      <vt:lpstr>7.3.1多电子原子的核外电子排布</vt:lpstr>
      <vt:lpstr>7.3.1多电子原子的核外电子排布</vt:lpstr>
      <vt:lpstr>7.3.1多电子原子的核外电子排布</vt:lpstr>
      <vt:lpstr>7.3.1多电子原子的核外电子排布</vt:lpstr>
      <vt:lpstr>7.3.1多电子原子的核外电子排布</vt:lpstr>
      <vt:lpstr>7.3.1多电子原子的核外电子排布</vt:lpstr>
      <vt:lpstr>7.3.2原子的电子层结构和元素周期系 </vt:lpstr>
      <vt:lpstr>7.3.2原子的电子层结构与元素周期系</vt:lpstr>
      <vt:lpstr>7.3.2原子的电子层结构和元素周期系 </vt:lpstr>
      <vt:lpstr>7.3.2原子的电子层结构和元素周期系 </vt:lpstr>
      <vt:lpstr>7.3.3元素基本性质的周期性变化规律</vt:lpstr>
      <vt:lpstr>7.3.3元素基本性质的周期性变化规律</vt:lpstr>
      <vt:lpstr>7.3.3元素基本性质的周期性变化规律</vt:lpstr>
      <vt:lpstr>7.3.3元素基本性质的周期性变化规律</vt:lpstr>
      <vt:lpstr>7.3.3元素基本性质的周期性变化规律</vt:lpstr>
      <vt:lpstr>7.3.3元素基本性质的周期性变化规律</vt:lpstr>
      <vt:lpstr>7.3.3元素基本性质的周期性变化规律</vt:lpstr>
      <vt:lpstr>7.3.3元素基本性质的周期性变化规律</vt:lpstr>
      <vt:lpstr>7.3.3元素基本性质的周期性变化规律</vt:lpstr>
      <vt:lpstr>7.3.3元素基本性质的周期性变化规律</vt:lpstr>
      <vt:lpstr>7.3.3元素基本性质的周期性变化规律</vt:lpstr>
      <vt:lpstr>7.3.3元素基本性质的周期性变化规律</vt:lpstr>
    </vt:vector>
  </TitlesOfParts>
  <LinksUpToDate>false</LinksUpToDate>
  <CharactersWithSpaces>0</CharactersWithSpaces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ch07-03</dc:title>
  <dc:creator>江南大学</dc:creator>
  <cp:lastModifiedBy>USER</cp:lastModifiedBy>
  <cp:revision>321</cp:revision>
  <cp:lastPrinted>1601-01-01T00:00:00Z</cp:lastPrinted>
  <dcterms:created xsi:type="dcterms:W3CDTF">2012-06-20T03:37:37Z</dcterms:created>
  <dcterms:modified xsi:type="dcterms:W3CDTF">2017-11-30T02:32:18Z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r8>1</vt:r8>
  </property>
  <property fmtid="{D5CDD505-2E9C-101B-9397-08002B2CF9AE}" pid="3" name="KSOProductBuildVer">
    <vt:lpwstr>2052-8.1.0.3089</vt:lpwstr>
  </property>
</Properties>
</file>