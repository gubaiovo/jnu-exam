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ustom.xml" ContentType="application/vnd.openxmlformats-officedocument.custom-properties+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9" r:id="rId1"/>
  </p:sldMasterIdLst>
  <p:notesMasterIdLst>
    <p:notesMasterId r:id="rId23"/>
  </p:notesMasterIdLst>
  <p:sldIdLst>
    <p:sldId id="275" r:id="rId2"/>
    <p:sldId id="279" r:id="rId3"/>
    <p:sldId id="283" r:id="rId4"/>
    <p:sldId id="284" r:id="rId5"/>
    <p:sldId id="285" r:id="rId6"/>
    <p:sldId id="286" r:id="rId7"/>
    <p:sldId id="287" r:id="rId8"/>
    <p:sldId id="288" r:id="rId9"/>
    <p:sldId id="302" r:id="rId10"/>
    <p:sldId id="289" r:id="rId11"/>
    <p:sldId id="290" r:id="rId12"/>
    <p:sldId id="291" r:id="rId13"/>
    <p:sldId id="292" r:id="rId14"/>
    <p:sldId id="293" r:id="rId15"/>
    <p:sldId id="294" r:id="rId16"/>
    <p:sldId id="295" r:id="rId17"/>
    <p:sldId id="301" r:id="rId18"/>
    <p:sldId id="296" r:id="rId19"/>
    <p:sldId id="297" r:id="rId20"/>
    <p:sldId id="300" r:id="rId21"/>
    <p:sldId id="298" r:id="rId22"/>
  </p:sldIdLst>
  <p:sldSz cx="11522075" cy="6480175"/>
  <p:notesSz cx="6858000" cy="9144000"/>
  <p:defaultTextStyle>
    <a:defPPr>
      <a:defRPr lang="en-US"/>
    </a:defPPr>
    <a:lvl1pPr algn="l" rtl="0" fontAlgn="base">
      <a:spcBef>
        <a:spcPct val="0"/>
      </a:spcBef>
      <a:spcAft>
        <a:spcPct val="0"/>
      </a:spcAft>
      <a:defRPr kern="1200">
        <a:solidFill>
          <a:schemeClr val="tx1"/>
        </a:solidFill>
        <a:latin typeface="Times New Roman" pitchFamily="18" charset="0"/>
        <a:ea typeface="宋体" charset="-122"/>
        <a:cs typeface="+mn-cs"/>
      </a:defRPr>
    </a:lvl1pPr>
    <a:lvl2pPr marL="457200" algn="l" rtl="0" fontAlgn="base">
      <a:spcBef>
        <a:spcPct val="0"/>
      </a:spcBef>
      <a:spcAft>
        <a:spcPct val="0"/>
      </a:spcAft>
      <a:defRPr kern="1200">
        <a:solidFill>
          <a:schemeClr val="tx1"/>
        </a:solidFill>
        <a:latin typeface="Times New Roman" pitchFamily="18" charset="0"/>
        <a:ea typeface="宋体" charset="-122"/>
        <a:cs typeface="+mn-cs"/>
      </a:defRPr>
    </a:lvl2pPr>
    <a:lvl3pPr marL="914400" algn="l" rtl="0" fontAlgn="base">
      <a:spcBef>
        <a:spcPct val="0"/>
      </a:spcBef>
      <a:spcAft>
        <a:spcPct val="0"/>
      </a:spcAft>
      <a:defRPr kern="1200">
        <a:solidFill>
          <a:schemeClr val="tx1"/>
        </a:solidFill>
        <a:latin typeface="Times New Roman" pitchFamily="18" charset="0"/>
        <a:ea typeface="宋体" charset="-122"/>
        <a:cs typeface="+mn-cs"/>
      </a:defRPr>
    </a:lvl3pPr>
    <a:lvl4pPr marL="1371600" algn="l" rtl="0" fontAlgn="base">
      <a:spcBef>
        <a:spcPct val="0"/>
      </a:spcBef>
      <a:spcAft>
        <a:spcPct val="0"/>
      </a:spcAft>
      <a:defRPr kern="1200">
        <a:solidFill>
          <a:schemeClr val="tx1"/>
        </a:solidFill>
        <a:latin typeface="Times New Roman" pitchFamily="18" charset="0"/>
        <a:ea typeface="宋体" charset="-122"/>
        <a:cs typeface="+mn-cs"/>
      </a:defRPr>
    </a:lvl4pPr>
    <a:lvl5pPr marL="1828800" algn="l" rtl="0" fontAlgn="base">
      <a:spcBef>
        <a:spcPct val="0"/>
      </a:spcBef>
      <a:spcAft>
        <a:spcPct val="0"/>
      </a:spcAft>
      <a:defRPr kern="1200">
        <a:solidFill>
          <a:schemeClr val="tx1"/>
        </a:solidFill>
        <a:latin typeface="Times New Roman" pitchFamily="18" charset="0"/>
        <a:ea typeface="宋体" charset="-122"/>
        <a:cs typeface="+mn-cs"/>
      </a:defRPr>
    </a:lvl5pPr>
    <a:lvl6pPr marL="2286000" algn="l" defTabSz="914400" rtl="0" eaLnBrk="1" latinLnBrk="0" hangingPunct="1">
      <a:defRPr kern="1200">
        <a:solidFill>
          <a:schemeClr val="tx1"/>
        </a:solidFill>
        <a:latin typeface="Times New Roman" pitchFamily="18" charset="0"/>
        <a:ea typeface="宋体" charset="-122"/>
        <a:cs typeface="+mn-cs"/>
      </a:defRPr>
    </a:lvl6pPr>
    <a:lvl7pPr marL="2743200" algn="l" defTabSz="914400" rtl="0" eaLnBrk="1" latinLnBrk="0" hangingPunct="1">
      <a:defRPr kern="1200">
        <a:solidFill>
          <a:schemeClr val="tx1"/>
        </a:solidFill>
        <a:latin typeface="Times New Roman" pitchFamily="18" charset="0"/>
        <a:ea typeface="宋体" charset="-122"/>
        <a:cs typeface="+mn-cs"/>
      </a:defRPr>
    </a:lvl7pPr>
    <a:lvl8pPr marL="3200400" algn="l" defTabSz="914400" rtl="0" eaLnBrk="1" latinLnBrk="0" hangingPunct="1">
      <a:defRPr kern="1200">
        <a:solidFill>
          <a:schemeClr val="tx1"/>
        </a:solidFill>
        <a:latin typeface="Times New Roman" pitchFamily="18" charset="0"/>
        <a:ea typeface="宋体" charset="-122"/>
        <a:cs typeface="+mn-cs"/>
      </a:defRPr>
    </a:lvl8pPr>
    <a:lvl9pPr marL="3657600" algn="l" defTabSz="914400" rtl="0" eaLnBrk="1" latinLnBrk="0" hangingPunct="1">
      <a:defRPr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gb2312"/>
  <p:clrMru>
    <a:srgbClr val="FFFFFF"/>
    <a:srgbClr val="FFFF00"/>
    <a:srgbClr val="F8F8F8"/>
    <a:srgbClr val="66CCFF"/>
    <a:srgbClr val="85D9F7"/>
    <a:srgbClr val="57BBFF"/>
    <a:srgbClr val="000000"/>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2" autoAdjust="0"/>
    <p:restoredTop sz="94620" autoAdjust="0"/>
  </p:normalViewPr>
  <p:slideViewPr>
    <p:cSldViewPr>
      <p:cViewPr varScale="1">
        <p:scale>
          <a:sx n="70" d="100"/>
          <a:sy n="70" d="100"/>
        </p:scale>
        <p:origin x="-594" y="-108"/>
      </p:cViewPr>
      <p:guideLst>
        <p:guide orient="horz" pos="2034"/>
        <p:guide pos="362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728"/>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 Id="rId4"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ea typeface="宋体" pitchFamily="2" charset="-122"/>
              </a:defRPr>
            </a:lvl1pPr>
          </a:lstStyle>
          <a:p>
            <a:pPr>
              <a:defRPr/>
            </a:pPr>
            <a:endParaRPr lang="zh-CN" altLang="en-US"/>
          </a:p>
        </p:txBody>
      </p:sp>
      <p:sp>
        <p:nvSpPr>
          <p:cNvPr id="27651"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ea typeface="宋体" pitchFamily="2" charset="-122"/>
              </a:defRPr>
            </a:lvl1pPr>
          </a:lstStyle>
          <a:p>
            <a:pPr>
              <a:defRPr/>
            </a:pPr>
            <a:fld id="{C726C71B-5FEC-4B02-A697-7A61F63D7CDC}" type="datetimeFigureOut">
              <a:rPr lang="zh-CN" altLang="en-US"/>
              <a:pPr>
                <a:defRPr/>
              </a:pPr>
              <a:t>2017/8/24</a:t>
            </a:fld>
            <a:endParaRPr lang="en-US" altLang="zh-CN"/>
          </a:p>
        </p:txBody>
      </p:sp>
      <p:sp>
        <p:nvSpPr>
          <p:cNvPr id="2355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27653"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7654"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ea typeface="宋体" pitchFamily="2" charset="-122"/>
              </a:defRPr>
            </a:lvl1pPr>
          </a:lstStyle>
          <a:p>
            <a:pPr>
              <a:defRPr/>
            </a:pPr>
            <a:endParaRPr lang="en-US" altLang="zh-CN"/>
          </a:p>
        </p:txBody>
      </p:sp>
      <p:sp>
        <p:nvSpPr>
          <p:cNvPr id="27655"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ea typeface="宋体" pitchFamily="2" charset="-122"/>
              </a:defRPr>
            </a:lvl1pPr>
          </a:lstStyle>
          <a:p>
            <a:pPr>
              <a:defRPr/>
            </a:pPr>
            <a:fld id="{42168054-A1F1-48C6-8CB0-01E10C4DDF83}"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Rot="1" noChangeAspect="1" noChangeArrowheads="1" noTextEdit="1"/>
          </p:cNvSpPr>
          <p:nvPr>
            <p:ph type="sldImg"/>
          </p:nvPr>
        </p:nvSpPr>
        <p:spPr>
          <a:ln/>
        </p:spPr>
      </p:sp>
      <p:sp>
        <p:nvSpPr>
          <p:cNvPr id="2560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ln/>
        </p:spPr>
      </p:sp>
      <p:sp>
        <p:nvSpPr>
          <p:cNvPr id="2662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ln/>
        </p:spPr>
      </p:sp>
      <p:sp>
        <p:nvSpPr>
          <p:cNvPr id="3072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ln/>
        </p:spPr>
      </p:sp>
      <p:sp>
        <p:nvSpPr>
          <p:cNvPr id="3174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ln/>
        </p:spPr>
      </p:sp>
      <p:sp>
        <p:nvSpPr>
          <p:cNvPr id="3277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Rot="1" noChangeAspect="1" noChangeArrowheads="1" noTextEdit="1"/>
          </p:cNvSpPr>
          <p:nvPr>
            <p:ph type="sldImg"/>
          </p:nvPr>
        </p:nvSpPr>
        <p:spPr>
          <a:ln/>
        </p:spPr>
      </p:sp>
      <p:sp>
        <p:nvSpPr>
          <p:cNvPr id="3379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ln/>
        </p:spPr>
      </p:sp>
      <p:sp>
        <p:nvSpPr>
          <p:cNvPr id="3481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Rot="1" noChangeAspect="1" noChangeArrowheads="1" noTextEdit="1"/>
          </p:cNvSpPr>
          <p:nvPr>
            <p:ph type="sldImg"/>
          </p:nvPr>
        </p:nvSpPr>
        <p:spPr>
          <a:ln/>
        </p:spPr>
      </p:sp>
      <p:sp>
        <p:nvSpPr>
          <p:cNvPr id="3584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ln/>
        </p:spPr>
      </p:sp>
      <p:sp>
        <p:nvSpPr>
          <p:cNvPr id="3789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Rot="1" noChangeAspect="1" noChangeArrowheads="1" noTextEdit="1"/>
          </p:cNvSpPr>
          <p:nvPr>
            <p:ph type="sldImg"/>
          </p:nvPr>
        </p:nvSpPr>
        <p:spPr>
          <a:ln/>
        </p:spPr>
      </p:sp>
      <p:sp>
        <p:nvSpPr>
          <p:cNvPr id="3993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Rot="1" noChangeAspect="1" noChangeArrowheads="1" noTextEdit="1"/>
          </p:cNvSpPr>
          <p:nvPr>
            <p:ph type="sldImg"/>
          </p:nvPr>
        </p:nvSpPr>
        <p:spPr>
          <a:ln/>
        </p:spPr>
      </p:sp>
      <p:sp>
        <p:nvSpPr>
          <p:cNvPr id="41987"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Rot="1" noChangeAspect="1" noChangeArrowheads="1" noTextEdit="1"/>
          </p:cNvSpPr>
          <p:nvPr>
            <p:ph type="sldImg"/>
          </p:nvPr>
        </p:nvSpPr>
        <p:spPr>
          <a:ln/>
        </p:spPr>
      </p:sp>
      <p:sp>
        <p:nvSpPr>
          <p:cNvPr id="44035"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ln/>
        </p:spPr>
      </p:sp>
      <p:sp>
        <p:nvSpPr>
          <p:cNvPr id="45059"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863600" y="2012950"/>
            <a:ext cx="9794875" cy="1389063"/>
          </a:xfrm>
          <a:prstGeom prst="rect">
            <a:avLst/>
          </a:prstGeo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728788" y="3671888"/>
            <a:ext cx="8064500" cy="1655762"/>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Tree>
  </p:cSld>
  <p:clrMapOvr>
    <a:masterClrMapping/>
  </p:clrMapOvr>
  <p:transition spd="slow">
    <p:split orient="vert"/>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a:xfrm>
            <a:off x="576263" y="1511300"/>
            <a:ext cx="10369550" cy="4276725"/>
          </a:xfrm>
          <a:prstGeom prst="rect">
            <a:avLst/>
          </a:prstGeo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a:prstGeom prst="rect">
            <a:avLst/>
          </a:prstGeo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09638" y="2746375"/>
            <a:ext cx="9794875" cy="1417638"/>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Tree>
  </p:cSld>
  <p:clrMapOvr>
    <a:masterClrMapping/>
  </p:clrMapOvr>
  <p:transition spd="slow">
    <p:split orient="vert"/>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76263" y="1511300"/>
            <a:ext cx="5108575" cy="4276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837238" y="1511300"/>
            <a:ext cx="5108575" cy="42767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576263" y="1450975"/>
            <a:ext cx="5091112" cy="604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576263" y="2055813"/>
            <a:ext cx="5091112" cy="373221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5853113" y="1450975"/>
            <a:ext cx="5092700" cy="604838"/>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5853113" y="2055813"/>
            <a:ext cx="5092700" cy="3732212"/>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Tree>
  </p:cSld>
  <p:clrMapOvr>
    <a:masterClrMapping/>
  </p:clrMapOvr>
  <p:transition spd="slow">
    <p:split orient="vert"/>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transition spd="slow">
    <p:split orient="vert"/>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505325" y="258763"/>
            <a:ext cx="6440488" cy="5529262"/>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576263" y="1355725"/>
            <a:ext cx="3790950" cy="44323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transition spd="slow">
    <p:split orient="vert"/>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a:prstGeom prst="rect">
            <a:avLst/>
          </a:prstGeo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259013" y="579438"/>
            <a:ext cx="6911975" cy="3887787"/>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259013" y="5072063"/>
            <a:ext cx="6911975" cy="76041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Tree>
  </p:cSld>
  <p:clrMapOvr>
    <a:masterClrMapping/>
  </p:clrMapOvr>
  <p:transition spd="slow">
    <p:split orient="vert"/>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76263" y="1511300"/>
            <a:ext cx="10369550" cy="4276725"/>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353425" y="258763"/>
            <a:ext cx="2592388" cy="5529262"/>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76263" y="258763"/>
            <a:ext cx="7624762" cy="5529262"/>
          </a:xfrm>
          <a:prstGeom prst="rect">
            <a:avLst/>
          </a:prstGeo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cSld>
  <p:clrMapOvr>
    <a:masterClrMapping/>
  </p:clrMapOvr>
  <p:transition spd="slow">
    <p:split orient="vert"/>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ransition spd="slow">
    <p:split orient="vert"/>
  </p:transition>
  <p:timing>
    <p:tnLst>
      <p:par>
        <p:cTn id="1" dur="indefinite" restart="never" nodeType="tmRoot"/>
      </p:par>
    </p:tnLst>
  </p:timing>
  <p:txStyles>
    <p:titleStyle>
      <a:lvl1pPr algn="ctr" rtl="0" eaLnBrk="0" fontAlgn="base" hangingPunct="0">
        <a:spcBef>
          <a:spcPct val="0"/>
        </a:spcBef>
        <a:spcAft>
          <a:spcPct val="0"/>
        </a:spcAft>
        <a:defRPr sz="4400" b="1">
          <a:solidFill>
            <a:srgbClr val="6600CC"/>
          </a:solidFill>
          <a:latin typeface="+mj-lt"/>
          <a:ea typeface="+mj-ea"/>
          <a:cs typeface="+mj-cs"/>
        </a:defRPr>
      </a:lvl1pPr>
      <a:lvl2pPr algn="ctr" rtl="0" eaLnBrk="0" fontAlgn="base" hangingPunct="0">
        <a:spcBef>
          <a:spcPct val="0"/>
        </a:spcBef>
        <a:spcAft>
          <a:spcPct val="0"/>
        </a:spcAft>
        <a:defRPr sz="4400" b="1">
          <a:solidFill>
            <a:srgbClr val="6600CC"/>
          </a:solidFill>
          <a:latin typeface="Times New Roman" pitchFamily="18" charset="0"/>
        </a:defRPr>
      </a:lvl2pPr>
      <a:lvl3pPr algn="ctr" rtl="0" eaLnBrk="0" fontAlgn="base" hangingPunct="0">
        <a:spcBef>
          <a:spcPct val="0"/>
        </a:spcBef>
        <a:spcAft>
          <a:spcPct val="0"/>
        </a:spcAft>
        <a:defRPr sz="4400" b="1">
          <a:solidFill>
            <a:srgbClr val="6600CC"/>
          </a:solidFill>
          <a:latin typeface="Times New Roman" pitchFamily="18" charset="0"/>
        </a:defRPr>
      </a:lvl3pPr>
      <a:lvl4pPr algn="ctr" rtl="0" eaLnBrk="0" fontAlgn="base" hangingPunct="0">
        <a:spcBef>
          <a:spcPct val="0"/>
        </a:spcBef>
        <a:spcAft>
          <a:spcPct val="0"/>
        </a:spcAft>
        <a:defRPr sz="4400" b="1">
          <a:solidFill>
            <a:srgbClr val="6600CC"/>
          </a:solidFill>
          <a:latin typeface="Times New Roman" pitchFamily="18" charset="0"/>
        </a:defRPr>
      </a:lvl4pPr>
      <a:lvl5pPr algn="ctr" rtl="0" eaLnBrk="0" fontAlgn="base" hangingPunct="0">
        <a:spcBef>
          <a:spcPct val="0"/>
        </a:spcBef>
        <a:spcAft>
          <a:spcPct val="0"/>
        </a:spcAft>
        <a:defRPr sz="4400" b="1">
          <a:solidFill>
            <a:srgbClr val="6600CC"/>
          </a:solidFill>
          <a:latin typeface="Times New Roman" pitchFamily="18" charset="0"/>
        </a:defRPr>
      </a:lvl5pPr>
      <a:lvl6pPr marL="457200" algn="ctr" rtl="0" eaLnBrk="0" fontAlgn="base" hangingPunct="0">
        <a:spcBef>
          <a:spcPct val="0"/>
        </a:spcBef>
        <a:spcAft>
          <a:spcPct val="0"/>
        </a:spcAft>
        <a:defRPr sz="4400" b="1">
          <a:solidFill>
            <a:srgbClr val="6600CC"/>
          </a:solidFill>
          <a:latin typeface="Times New Roman" pitchFamily="18" charset="0"/>
        </a:defRPr>
      </a:lvl6pPr>
      <a:lvl7pPr marL="914400" algn="ctr" rtl="0" eaLnBrk="0" fontAlgn="base" hangingPunct="0">
        <a:spcBef>
          <a:spcPct val="0"/>
        </a:spcBef>
        <a:spcAft>
          <a:spcPct val="0"/>
        </a:spcAft>
        <a:defRPr sz="4400" b="1">
          <a:solidFill>
            <a:srgbClr val="6600CC"/>
          </a:solidFill>
          <a:latin typeface="Times New Roman" pitchFamily="18" charset="0"/>
        </a:defRPr>
      </a:lvl7pPr>
      <a:lvl8pPr marL="1371600" algn="ctr" rtl="0" eaLnBrk="0" fontAlgn="base" hangingPunct="0">
        <a:spcBef>
          <a:spcPct val="0"/>
        </a:spcBef>
        <a:spcAft>
          <a:spcPct val="0"/>
        </a:spcAft>
        <a:defRPr sz="4400" b="1">
          <a:solidFill>
            <a:srgbClr val="6600CC"/>
          </a:solidFill>
          <a:latin typeface="Times New Roman" pitchFamily="18" charset="0"/>
        </a:defRPr>
      </a:lvl8pPr>
      <a:lvl9pPr marL="1828800" algn="ctr" rtl="0" eaLnBrk="0" fontAlgn="base" hangingPunct="0">
        <a:spcBef>
          <a:spcPct val="0"/>
        </a:spcBef>
        <a:spcAft>
          <a:spcPct val="0"/>
        </a:spcAft>
        <a:defRPr sz="4400" b="1">
          <a:solidFill>
            <a:srgbClr val="6600CC"/>
          </a:solidFill>
          <a:latin typeface="Times New Roman" pitchFamily="18" charset="0"/>
        </a:defRPr>
      </a:lvl9pPr>
    </p:titleStyle>
    <p:bodyStyle>
      <a:lvl1pPr marL="342900" indent="-342900" algn="l" rtl="0" eaLnBrk="0" fontAlgn="base" hangingPunct="0">
        <a:spcBef>
          <a:spcPct val="20000"/>
        </a:spcBef>
        <a:spcAft>
          <a:spcPct val="0"/>
        </a:spcAft>
        <a:buClr>
          <a:srgbClr val="FFFFCC"/>
        </a:buClr>
        <a:buSzPct val="90000"/>
        <a:buFont typeface="Wingdings" pitchFamily="2" charset="2"/>
        <a:buChar char="§"/>
        <a:defRPr sz="3200" b="1">
          <a:solidFill>
            <a:srgbClr val="FFFFCC"/>
          </a:solidFill>
          <a:latin typeface="+mn-lt"/>
          <a:ea typeface="+mn-ea"/>
          <a:cs typeface="+mn-cs"/>
        </a:defRPr>
      </a:lvl1pPr>
      <a:lvl2pPr marL="742950" indent="-285750" algn="l" rtl="0" eaLnBrk="0" fontAlgn="base" hangingPunct="0">
        <a:spcBef>
          <a:spcPct val="20000"/>
        </a:spcBef>
        <a:spcAft>
          <a:spcPct val="0"/>
        </a:spcAft>
        <a:buChar char="–"/>
        <a:defRPr sz="2800">
          <a:solidFill>
            <a:srgbClr val="FFFFCC"/>
          </a:solidFill>
          <a:latin typeface="+mn-lt"/>
        </a:defRPr>
      </a:lvl2pPr>
      <a:lvl3pPr marL="1143000" indent="-228600" algn="l" rtl="0" eaLnBrk="0" fontAlgn="base" hangingPunct="0">
        <a:spcBef>
          <a:spcPct val="20000"/>
        </a:spcBef>
        <a:spcAft>
          <a:spcPct val="0"/>
        </a:spcAft>
        <a:buChar char="•"/>
        <a:defRPr sz="2400">
          <a:solidFill>
            <a:srgbClr val="FFFFCC"/>
          </a:solidFill>
          <a:latin typeface="+mn-lt"/>
        </a:defRPr>
      </a:lvl3pPr>
      <a:lvl4pPr marL="1600200" indent="-228600" algn="l" rtl="0" eaLnBrk="0" fontAlgn="base" hangingPunct="0">
        <a:spcBef>
          <a:spcPct val="20000"/>
        </a:spcBef>
        <a:spcAft>
          <a:spcPct val="0"/>
        </a:spcAft>
        <a:buChar char="–"/>
        <a:defRPr sz="2000">
          <a:solidFill>
            <a:srgbClr val="FFFFCC"/>
          </a:solidFill>
          <a:latin typeface="+mn-lt"/>
        </a:defRPr>
      </a:lvl4pPr>
      <a:lvl5pPr marL="2057400" indent="-228600" algn="l" rtl="0" eaLnBrk="0" fontAlgn="base" hangingPunct="0">
        <a:spcBef>
          <a:spcPct val="20000"/>
        </a:spcBef>
        <a:spcAft>
          <a:spcPct val="0"/>
        </a:spcAft>
        <a:buChar char="•"/>
        <a:defRPr sz="2000">
          <a:solidFill>
            <a:srgbClr val="FFFFCC"/>
          </a:solidFill>
          <a:latin typeface="+mn-lt"/>
        </a:defRPr>
      </a:lvl5pPr>
      <a:lvl6pPr marL="2514600" indent="-228600" algn="l" rtl="0" eaLnBrk="0" fontAlgn="base" hangingPunct="0">
        <a:spcBef>
          <a:spcPct val="20000"/>
        </a:spcBef>
        <a:spcAft>
          <a:spcPct val="0"/>
        </a:spcAft>
        <a:buChar char="•"/>
        <a:defRPr sz="2000">
          <a:solidFill>
            <a:srgbClr val="FFFFCC"/>
          </a:solidFill>
          <a:latin typeface="+mn-lt"/>
        </a:defRPr>
      </a:lvl6pPr>
      <a:lvl7pPr marL="2971800" indent="-228600" algn="l" rtl="0" eaLnBrk="0" fontAlgn="base" hangingPunct="0">
        <a:spcBef>
          <a:spcPct val="20000"/>
        </a:spcBef>
        <a:spcAft>
          <a:spcPct val="0"/>
        </a:spcAft>
        <a:buChar char="•"/>
        <a:defRPr sz="2000">
          <a:solidFill>
            <a:srgbClr val="FFFFCC"/>
          </a:solidFill>
          <a:latin typeface="+mn-lt"/>
        </a:defRPr>
      </a:lvl7pPr>
      <a:lvl8pPr marL="3429000" indent="-228600" algn="l" rtl="0" eaLnBrk="0" fontAlgn="base" hangingPunct="0">
        <a:spcBef>
          <a:spcPct val="20000"/>
        </a:spcBef>
        <a:spcAft>
          <a:spcPct val="0"/>
        </a:spcAft>
        <a:buChar char="•"/>
        <a:defRPr sz="2000">
          <a:solidFill>
            <a:srgbClr val="FFFFCC"/>
          </a:solidFill>
          <a:latin typeface="+mn-lt"/>
        </a:defRPr>
      </a:lvl8pPr>
      <a:lvl9pPr marL="3886200" indent="-228600" algn="l" rtl="0" eaLnBrk="0" fontAlgn="base" hangingPunct="0">
        <a:spcBef>
          <a:spcPct val="20000"/>
        </a:spcBef>
        <a:spcAft>
          <a:spcPct val="0"/>
        </a:spcAft>
        <a:buChar char="•"/>
        <a:defRPr sz="2000">
          <a:solidFill>
            <a:srgbClr val="FFFFCC"/>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vmlDrawing" Target="../drawings/vmlDrawing3.vml"/><Relationship Id="rId5" Type="http://schemas.openxmlformats.org/officeDocument/2006/relationships/oleObject" Target="../embeddings/oleObject4.bin"/><Relationship Id="rId4" Type="http://schemas.openxmlformats.org/officeDocument/2006/relationships/oleObject" Target="../embeddings/oleObject3.bin"/></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7" Type="http://schemas.openxmlformats.org/officeDocument/2006/relationships/oleObject" Target="../embeddings/oleObject8.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vmlDrawing" Target="../drawings/vmlDrawing5.vml"/><Relationship Id="rId5" Type="http://schemas.openxmlformats.org/officeDocument/2006/relationships/oleObject" Target="../embeddings/oleObject10.bin"/><Relationship Id="rId4" Type="http://schemas.openxmlformats.org/officeDocument/2006/relationships/oleObject" Target="../embeddings/oleObject9.bin"/></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vmlDrawing" Target="../drawings/vmlDrawing6.vml"/><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7.xml"/><Relationship Id="rId1" Type="http://schemas.openxmlformats.org/officeDocument/2006/relationships/vmlDrawing" Target="../drawings/vmlDrawing7.vml"/><Relationship Id="rId5" Type="http://schemas.openxmlformats.org/officeDocument/2006/relationships/oleObject" Target="../embeddings/oleObject14.bin"/><Relationship Id="rId4" Type="http://schemas.openxmlformats.org/officeDocument/2006/relationships/oleObject" Target="../embeddings/oleObject13.bin"/></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7.xml"/><Relationship Id="rId1" Type="http://schemas.openxmlformats.org/officeDocument/2006/relationships/vmlDrawing" Target="../drawings/vmlDrawing8.vml"/><Relationship Id="rId5" Type="http://schemas.openxmlformats.org/officeDocument/2006/relationships/oleObject" Target="../embeddings/oleObject16.bin"/><Relationship Id="rId4" Type="http://schemas.openxmlformats.org/officeDocument/2006/relationships/oleObject" Target="../embeddings/oleObject15.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12464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zh-CN" altLang="zh-CN" sz="2500" b="1" dirty="0" smtClean="0">
                <a:latin typeface="+mn-lt"/>
                <a:ea typeface="华文新魏" pitchFamily="2" charset="-122"/>
              </a:rPr>
              <a:t>物质</a:t>
            </a:r>
            <a:r>
              <a:rPr lang="en-US" altLang="zh-CN" sz="2500" b="1" dirty="0" smtClean="0">
                <a:latin typeface="+mn-lt"/>
                <a:ea typeface="华文新魏" pitchFamily="2" charset="-122"/>
              </a:rPr>
              <a:t>B</a:t>
            </a:r>
            <a:r>
              <a:rPr lang="zh-CN" altLang="zh-CN" sz="2500" b="1" dirty="0" smtClean="0">
                <a:latin typeface="+mn-lt"/>
                <a:ea typeface="华文新魏" pitchFamily="2" charset="-122"/>
              </a:rPr>
              <a:t>的物质的量浓度</a:t>
            </a:r>
            <a:r>
              <a:rPr lang="en-US" altLang="zh-CN" sz="2500" b="1" i="1" dirty="0" err="1" smtClean="0">
                <a:latin typeface="+mn-lt"/>
                <a:ea typeface="华文新魏" pitchFamily="2" charset="-122"/>
              </a:rPr>
              <a:t>c</a:t>
            </a:r>
            <a:r>
              <a:rPr lang="en-US" altLang="zh-CN" sz="2500" b="1" baseline="-25000" dirty="0" err="1" smtClean="0">
                <a:latin typeface="+mn-lt"/>
                <a:ea typeface="华文新魏" pitchFamily="2" charset="-122"/>
              </a:rPr>
              <a:t>B</a:t>
            </a:r>
            <a:r>
              <a:rPr lang="zh-CN" altLang="zh-CN" sz="2500" b="1" dirty="0" smtClean="0">
                <a:latin typeface="+mn-lt"/>
                <a:ea typeface="华文新魏" pitchFamily="2" charset="-122"/>
              </a:rPr>
              <a:t>与与物质</a:t>
            </a:r>
            <a:r>
              <a:rPr lang="en-US" altLang="zh-CN" sz="2500" b="1" dirty="0" smtClean="0">
                <a:latin typeface="+mn-lt"/>
                <a:ea typeface="华文新魏" pitchFamily="2" charset="-122"/>
              </a:rPr>
              <a:t>B</a:t>
            </a:r>
            <a:r>
              <a:rPr lang="zh-CN" altLang="zh-CN" sz="2500" b="1" dirty="0" smtClean="0">
                <a:latin typeface="+mn-lt"/>
                <a:ea typeface="华文新魏" pitchFamily="2" charset="-122"/>
              </a:rPr>
              <a:t>的质量</a:t>
            </a:r>
            <a:r>
              <a:rPr lang="en-US" altLang="zh-CN" sz="2500" b="1" i="1" dirty="0" err="1" smtClean="0">
                <a:latin typeface="+mn-lt"/>
                <a:ea typeface="华文新魏" pitchFamily="2" charset="-122"/>
              </a:rPr>
              <a:t>m</a:t>
            </a:r>
            <a:r>
              <a:rPr lang="en-US" altLang="zh-CN" sz="2500" b="1" baseline="-25000" dirty="0" err="1" smtClean="0">
                <a:latin typeface="+mn-lt"/>
                <a:ea typeface="华文新魏" pitchFamily="2" charset="-122"/>
              </a:rPr>
              <a:t>B</a:t>
            </a:r>
            <a:r>
              <a:rPr lang="zh-CN" altLang="zh-CN" sz="2500" b="1" dirty="0" smtClean="0">
                <a:latin typeface="+mn-lt"/>
                <a:ea typeface="华文新魏" pitchFamily="2" charset="-122"/>
              </a:rPr>
              <a:t>和体积</a:t>
            </a:r>
            <a:r>
              <a:rPr lang="en-US" altLang="zh-CN" sz="2500" b="1" dirty="0" smtClean="0">
                <a:latin typeface="+mn-lt"/>
                <a:ea typeface="华文新魏" pitchFamily="2" charset="-122"/>
              </a:rPr>
              <a:t>V</a:t>
            </a:r>
            <a:r>
              <a:rPr lang="zh-CN" altLang="zh-CN" sz="2500" b="1" dirty="0" smtClean="0">
                <a:latin typeface="+mn-lt"/>
                <a:ea typeface="华文新魏" pitchFamily="2" charset="-122"/>
              </a:rPr>
              <a:t>存在如下关系</a:t>
            </a:r>
          </a:p>
          <a:p>
            <a:pPr eaLnBrk="1" hangingPunct="1">
              <a:defRPr/>
            </a:pPr>
            <a:endParaRPr kumimoji="1" lang="en-US" altLang="zh-CN" sz="2500" b="1" dirty="0" smtClean="0">
              <a:latin typeface="+mn-lt"/>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mn-lt"/>
                <a:ea typeface="华文新魏" pitchFamily="2" charset="-122"/>
                <a:sym typeface="Monotype Sorts" pitchFamily="2" charset="2"/>
              </a:rPr>
              <a:t>解题</a:t>
            </a:r>
            <a:r>
              <a:rPr lang="zh-CN" altLang="en-US" sz="2500" b="1" dirty="0" smtClean="0">
                <a:solidFill>
                  <a:srgbClr val="FFFF00"/>
                </a:solidFill>
                <a:ea typeface="华文新魏" pitchFamily="2" charset="-122"/>
                <a:cs typeface="Times New Roman" pitchFamily="18" charset="0"/>
              </a:rPr>
              <a:t>思路</a:t>
            </a:r>
            <a:r>
              <a:rPr kumimoji="1" lang="zh-CN" altLang="en-US" sz="2500" b="1" dirty="0" smtClean="0">
                <a:solidFill>
                  <a:srgbClr val="FFFF00"/>
                </a:solidFill>
                <a:latin typeface="+mn-lt"/>
                <a:ea typeface="华文新魏" pitchFamily="2" charset="-122"/>
                <a:sym typeface="Monotype Sorts" pitchFamily="2" charset="2"/>
              </a:rPr>
              <a:t>：</a:t>
            </a:r>
            <a:endParaRPr kumimoji="1" lang="zh-CN" altLang="en-US" sz="2500" b="1" dirty="0">
              <a:solidFill>
                <a:srgbClr val="FFFF00"/>
              </a:solidFill>
              <a:latin typeface="+mn-lt"/>
              <a:ea typeface="华文新魏" pitchFamily="2" charset="-122"/>
            </a:endParaRPr>
          </a:p>
        </p:txBody>
      </p:sp>
      <p:sp>
        <p:nvSpPr>
          <p:cNvPr id="5" name="Text Box 39"/>
          <p:cNvSpPr txBox="1">
            <a:spLocks noChangeArrowheads="1"/>
          </p:cNvSpPr>
          <p:nvPr/>
        </p:nvSpPr>
        <p:spPr bwMode="auto">
          <a:xfrm>
            <a:off x="288923" y="382567"/>
            <a:ext cx="5329238" cy="12464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latin typeface="+mn-lt"/>
                <a:ea typeface="华文新魏" pitchFamily="2" charset="-122"/>
              </a:rPr>
              <a:t>习题</a:t>
            </a:r>
            <a:r>
              <a:rPr lang="en-US" altLang="zh-CN" sz="2500" b="1" dirty="0" smtClean="0">
                <a:solidFill>
                  <a:srgbClr val="FFFF00"/>
                </a:solidFill>
                <a:latin typeface="+mn-lt"/>
                <a:ea typeface="华文新魏" pitchFamily="2" charset="-122"/>
              </a:rPr>
              <a:t>1-1</a:t>
            </a:r>
            <a:r>
              <a:rPr lang="zh-CN" altLang="en-US" sz="2500" b="1" dirty="0" smtClean="0">
                <a:solidFill>
                  <a:srgbClr val="FFFF00"/>
                </a:solidFill>
                <a:latin typeface="+mn-lt"/>
                <a:ea typeface="华文新魏" pitchFamily="2" charset="-122"/>
              </a:rPr>
              <a:t>：</a:t>
            </a:r>
            <a:r>
              <a:rPr kumimoji="1" lang="zh-CN" altLang="en-US" sz="2500" b="1" dirty="0" smtClean="0">
                <a:latin typeface="+mn-lt"/>
                <a:ea typeface="华文新魏" pitchFamily="2" charset="-122"/>
              </a:rPr>
              <a:t>称取纯金属锌</a:t>
            </a:r>
            <a:r>
              <a:rPr kumimoji="1" lang="en-US" altLang="zh-CN" sz="2500" b="1" dirty="0" smtClean="0">
                <a:latin typeface="+mn-lt"/>
                <a:ea typeface="华文新魏" pitchFamily="2" charset="-122"/>
              </a:rPr>
              <a:t>0.3250g</a:t>
            </a:r>
            <a:r>
              <a:rPr kumimoji="1" lang="zh-CN" altLang="en-US" sz="2500" b="1" dirty="0" smtClean="0">
                <a:latin typeface="+mn-lt"/>
                <a:ea typeface="华文新魏" pitchFamily="2" charset="-122"/>
              </a:rPr>
              <a:t>，溶于</a:t>
            </a:r>
            <a:r>
              <a:rPr kumimoji="1" lang="en-US" altLang="zh-CN" sz="2500" b="1" dirty="0" err="1" smtClean="0">
                <a:latin typeface="+mn-lt"/>
                <a:ea typeface="华文新魏" pitchFamily="2" charset="-122"/>
              </a:rPr>
              <a:t>HCl</a:t>
            </a:r>
            <a:r>
              <a:rPr kumimoji="1" lang="zh-CN" altLang="en-US" sz="2500" b="1" dirty="0" smtClean="0">
                <a:latin typeface="+mn-lt"/>
                <a:ea typeface="华文新魏" pitchFamily="2" charset="-122"/>
              </a:rPr>
              <a:t>后，在</a:t>
            </a:r>
            <a:r>
              <a:rPr kumimoji="1" lang="en-US" altLang="zh-CN" sz="2500" b="1" dirty="0" smtClean="0">
                <a:latin typeface="+mn-lt"/>
                <a:ea typeface="华文新魏" pitchFamily="2" charset="-122"/>
              </a:rPr>
              <a:t>250mL</a:t>
            </a:r>
            <a:r>
              <a:rPr kumimoji="1" lang="zh-CN" altLang="en-US" sz="2500" b="1" dirty="0" smtClean="0">
                <a:latin typeface="+mn-lt"/>
                <a:ea typeface="华文新魏" pitchFamily="2" charset="-122"/>
              </a:rPr>
              <a:t>容量瓶中定容，计算该标准</a:t>
            </a:r>
            <a:r>
              <a:rPr kumimoji="1" lang="en-US" altLang="zh-CN" sz="2500" b="1" dirty="0" smtClean="0">
                <a:latin typeface="+mn-lt"/>
                <a:ea typeface="华文新魏" pitchFamily="2" charset="-122"/>
              </a:rPr>
              <a:t>Zn</a:t>
            </a:r>
            <a:r>
              <a:rPr kumimoji="1" lang="en-US" altLang="zh-CN" sz="2500" b="1" baseline="30000" dirty="0" smtClean="0">
                <a:latin typeface="+mn-lt"/>
                <a:ea typeface="华文新魏" pitchFamily="2" charset="-122"/>
              </a:rPr>
              <a:t>2+</a:t>
            </a:r>
            <a:r>
              <a:rPr kumimoji="1" lang="zh-CN" altLang="en-US" sz="2500" b="1" dirty="0" smtClean="0">
                <a:latin typeface="+mn-lt"/>
                <a:ea typeface="华文新魏" pitchFamily="2" charset="-122"/>
              </a:rPr>
              <a:t>溶液的浓度。</a:t>
            </a:r>
            <a:endParaRPr lang="zh-CN" altLang="en-US" sz="2500" b="1" dirty="0" smtClean="0">
              <a:solidFill>
                <a:srgbClr val="FFFF00"/>
              </a:solidFill>
              <a:latin typeface="+mn-lt"/>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mn-lt"/>
                <a:ea typeface="华文新魏" pitchFamily="2" charset="-122"/>
                <a:sym typeface="Monotype Sorts" pitchFamily="2" charset="2"/>
              </a:rPr>
              <a:t>参考答案：</a:t>
            </a:r>
            <a:endParaRPr kumimoji="1" lang="zh-CN" altLang="en-US" sz="2500" b="1" dirty="0">
              <a:solidFill>
                <a:srgbClr val="FFFF00"/>
              </a:solidFill>
              <a:latin typeface="+mn-lt"/>
              <a:ea typeface="华文新魏" pitchFamily="2" charset="-122"/>
            </a:endParaRPr>
          </a:p>
        </p:txBody>
      </p:sp>
      <p:sp>
        <p:nvSpPr>
          <p:cNvPr id="8" name="Rectangle 11"/>
          <p:cNvSpPr>
            <a:spLocks noChangeArrowheads="1"/>
          </p:cNvSpPr>
          <p:nvPr/>
        </p:nvSpPr>
        <p:spPr bwMode="auto">
          <a:xfrm>
            <a:off x="5992813" y="4652963"/>
            <a:ext cx="5329237" cy="861774"/>
          </a:xfrm>
          <a:prstGeom prst="rect">
            <a:avLst/>
          </a:prstGeom>
          <a:noFill/>
          <a:ln w="9525">
            <a:noFill/>
            <a:miter lim="800000"/>
            <a:headEnd/>
            <a:tailEnd/>
          </a:ln>
          <a:effectLst/>
        </p:spPr>
        <p:txBody>
          <a:bodyPr>
            <a:spAutoFit/>
          </a:bodyPr>
          <a:lstStyle/>
          <a:p>
            <a:r>
              <a:rPr lang="en-US" altLang="zh-CN" sz="2500" b="1" dirty="0">
                <a:solidFill>
                  <a:srgbClr val="FFFFFF"/>
                </a:solidFill>
                <a:latin typeface="+mn-lt"/>
                <a:ea typeface="华文新魏" pitchFamily="2" charset="-122"/>
              </a:rPr>
              <a:t>0.01988 mol·L</a:t>
            </a:r>
            <a:r>
              <a:rPr lang="en-US" altLang="zh-CN" sz="2500" b="1" baseline="30000" dirty="0">
                <a:solidFill>
                  <a:srgbClr val="FFFFFF"/>
                </a:solidFill>
                <a:latin typeface="+mn-lt"/>
                <a:ea typeface="华文新魏" pitchFamily="2" charset="-122"/>
              </a:rPr>
              <a:t>-1</a:t>
            </a:r>
            <a:endParaRPr lang="zh-CN" altLang="en-US" sz="2500" b="1" dirty="0">
              <a:solidFill>
                <a:srgbClr val="FFFFFF"/>
              </a:solidFill>
              <a:latin typeface="+mn-lt"/>
              <a:ea typeface="华文新魏" pitchFamily="2" charset="-122"/>
            </a:endParaRPr>
          </a:p>
          <a:p>
            <a:endParaRPr kumimoji="1" lang="en-US" altLang="zh-CN" sz="2500" b="1" dirty="0">
              <a:latin typeface="+mn-lt"/>
              <a:ea typeface="华文新魏" pitchFamily="2" charset="-122"/>
            </a:endParaRPr>
          </a:p>
        </p:txBody>
      </p:sp>
      <p:sp>
        <p:nvSpPr>
          <p:cNvPr id="2055" name="Rectangle 31"/>
          <p:cNvSpPr>
            <a:spLocks noChangeArrowheads="1"/>
          </p:cNvSpPr>
          <p:nvPr/>
        </p:nvSpPr>
        <p:spPr bwMode="auto">
          <a:xfrm>
            <a:off x="0" y="0"/>
            <a:ext cx="184731" cy="477054"/>
          </a:xfrm>
          <a:prstGeom prst="rect">
            <a:avLst/>
          </a:prstGeom>
          <a:noFill/>
          <a:ln w="9525">
            <a:noFill/>
            <a:miter lim="800000"/>
            <a:headEnd/>
            <a:tailEnd/>
          </a:ln>
          <a:effectLst/>
        </p:spPr>
        <p:txBody>
          <a:bodyPr wrap="none" anchor="ctr">
            <a:spAutoFit/>
          </a:bodyPr>
          <a:lstStyle/>
          <a:p>
            <a:endParaRPr lang="zh-CN" altLang="en-US" sz="2500" dirty="0">
              <a:latin typeface="+mn-lt"/>
              <a:ea typeface="华文新魏" pitchFamily="2" charset="-122"/>
            </a:endParaRPr>
          </a:p>
        </p:txBody>
      </p:sp>
      <p:sp>
        <p:nvSpPr>
          <p:cNvPr id="2056" name="Rectangle 14"/>
          <p:cNvSpPr>
            <a:spLocks noChangeArrowheads="1"/>
          </p:cNvSpPr>
          <p:nvPr/>
        </p:nvSpPr>
        <p:spPr bwMode="auto">
          <a:xfrm>
            <a:off x="0" y="0"/>
            <a:ext cx="184731" cy="477054"/>
          </a:xfrm>
          <a:prstGeom prst="rect">
            <a:avLst/>
          </a:prstGeom>
          <a:noFill/>
          <a:ln w="9525">
            <a:noFill/>
            <a:miter lim="800000"/>
            <a:headEnd/>
            <a:tailEnd/>
          </a:ln>
          <a:effectLst/>
        </p:spPr>
        <p:txBody>
          <a:bodyPr wrap="none" anchor="ctr">
            <a:spAutoFit/>
          </a:bodyPr>
          <a:lstStyle/>
          <a:p>
            <a:endParaRPr lang="zh-CN" altLang="en-US" sz="2500" dirty="0">
              <a:latin typeface="+mn-lt"/>
              <a:ea typeface="华文新魏" pitchFamily="2" charset="-122"/>
            </a:endParaRPr>
          </a:p>
        </p:txBody>
      </p:sp>
      <p:graphicFrame>
        <p:nvGraphicFramePr>
          <p:cNvPr id="7" name="对象 6"/>
          <p:cNvGraphicFramePr>
            <a:graphicFrameLocks noChangeAspect="1"/>
          </p:cNvGraphicFramePr>
          <p:nvPr/>
        </p:nvGraphicFramePr>
        <p:xfrm>
          <a:off x="7358063" y="1727200"/>
          <a:ext cx="1965325" cy="893763"/>
        </p:xfrm>
        <a:graphic>
          <a:graphicData uri="http://schemas.openxmlformats.org/presentationml/2006/ole">
            <p:oleObj spid="_x0000_s2057" name="公式" r:id="rId4" imgW="977476" imgH="444307" progId="Equation.3">
              <p:embed/>
            </p:oleObj>
          </a:graphicData>
        </a:graphic>
      </p:graphicFrame>
      <p:sp>
        <p:nvSpPr>
          <p:cNvPr id="2058" name="Rectangle 15"/>
          <p:cNvSpPr>
            <a:spLocks noChangeArrowheads="1"/>
          </p:cNvSpPr>
          <p:nvPr/>
        </p:nvSpPr>
        <p:spPr bwMode="auto">
          <a:xfrm>
            <a:off x="0" y="447675"/>
            <a:ext cx="184731" cy="477054"/>
          </a:xfrm>
          <a:prstGeom prst="rect">
            <a:avLst/>
          </a:prstGeom>
          <a:noFill/>
          <a:ln w="9525">
            <a:noFill/>
            <a:miter lim="800000"/>
            <a:headEnd/>
            <a:tailEnd/>
          </a:ln>
          <a:effectLst/>
        </p:spPr>
        <p:txBody>
          <a:bodyPr wrap="none" anchor="ctr">
            <a:spAutoFit/>
          </a:bodyPr>
          <a:lstStyle/>
          <a:p>
            <a:endParaRPr lang="zh-CN" altLang="en-US" sz="2500" dirty="0">
              <a:latin typeface="+mn-lt"/>
              <a:ea typeface="华文新魏" pitchFamily="2" charset="-122"/>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in)">
                                      <p:cBhvr>
                                        <p:cTn id="17" dur="20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checkerboard(across)">
                                      <p:cBhvr>
                                        <p:cTn id="22" dur="500"/>
                                        <p:tgtEl>
                                          <p:spTgt spid="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checkerboard(across)">
                                      <p:cBhvr>
                                        <p:cTn id="2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1570037"/>
          </a:xfrm>
          <a:prstGeom prst="rect">
            <a:avLst/>
          </a:prstGeom>
          <a:noFill/>
          <a:ln w="9525">
            <a:noFill/>
            <a:miter lim="800000"/>
            <a:headEnd/>
            <a:tailEnd/>
          </a:ln>
          <a:effectLst/>
        </p:spPr>
        <p:txBody>
          <a:bodyPr>
            <a:spAutoFit/>
          </a:bodyPr>
          <a:lstStyle/>
          <a:p>
            <a:pPr algn="just" eaLnBrk="0" hangingPunct="0"/>
            <a:r>
              <a:rPr lang="zh-CN" altLang="zh-CN" sz="2400" b="1" dirty="0">
                <a:ea typeface="华文新魏" pitchFamily="2" charset="-122"/>
                <a:cs typeface="Times New Roman" pitchFamily="18" charset="0"/>
              </a:rPr>
              <a:t>若物质</a:t>
            </a:r>
            <a:r>
              <a:rPr lang="en-US" altLang="zh-CN" sz="2400" b="1" dirty="0">
                <a:ea typeface="华文新魏" pitchFamily="2" charset="-122"/>
                <a:cs typeface="Times New Roman" pitchFamily="18" charset="0"/>
              </a:rPr>
              <a:t>B</a:t>
            </a:r>
            <a:r>
              <a:rPr lang="zh-CN" altLang="zh-CN" sz="2400" b="1" dirty="0">
                <a:ea typeface="华文新魏" pitchFamily="2" charset="-122"/>
                <a:cs typeface="Times New Roman" pitchFamily="18" charset="0"/>
              </a:rPr>
              <a:t>与组分</a:t>
            </a:r>
            <a:r>
              <a:rPr lang="en-US" altLang="zh-CN" sz="2400" b="1" dirty="0">
                <a:ea typeface="华文新魏" pitchFamily="2" charset="-122"/>
                <a:cs typeface="Times New Roman" pitchFamily="18" charset="0"/>
              </a:rPr>
              <a:t>X</a:t>
            </a:r>
            <a:r>
              <a:rPr lang="zh-CN" altLang="zh-CN" sz="2400" b="1" dirty="0">
                <a:ea typeface="华文新魏" pitchFamily="2" charset="-122"/>
                <a:cs typeface="Times New Roman" pitchFamily="18" charset="0"/>
              </a:rPr>
              <a:t>之间按下式反应：</a:t>
            </a:r>
            <a:endParaRPr lang="zh-CN" altLang="zh-CN" sz="1000" dirty="0">
              <a:latin typeface="Calibri" pitchFamily="34" charset="0"/>
              <a:ea typeface="华文新魏" pitchFamily="2" charset="-122"/>
              <a:cs typeface="Times New Roman" pitchFamily="18" charset="0"/>
            </a:endParaRPr>
          </a:p>
          <a:p>
            <a:pPr algn="ctr" eaLnBrk="0" hangingPunct="0"/>
            <a:r>
              <a:rPr lang="en-US" altLang="zh-CN" sz="2400" b="1" i="1" dirty="0" err="1">
                <a:ea typeface="华文新魏" pitchFamily="2" charset="-122"/>
                <a:cs typeface="Times New Roman" pitchFamily="18" charset="0"/>
              </a:rPr>
              <a:t>x</a:t>
            </a:r>
            <a:r>
              <a:rPr lang="en-US" altLang="zh-CN" sz="2400" b="1" dirty="0" err="1">
                <a:ea typeface="华文新魏" pitchFamily="2" charset="-122"/>
                <a:cs typeface="Times New Roman" pitchFamily="18" charset="0"/>
              </a:rPr>
              <a:t>X</a:t>
            </a:r>
            <a:r>
              <a:rPr lang="en-US" altLang="zh-CN" sz="2400" b="1" dirty="0">
                <a:ea typeface="华文新魏" pitchFamily="2" charset="-122"/>
                <a:cs typeface="Times New Roman" pitchFamily="18" charset="0"/>
              </a:rPr>
              <a:t> + </a:t>
            </a:r>
            <a:r>
              <a:rPr lang="en-US" altLang="zh-CN" sz="2400" b="1" i="1" dirty="0" err="1">
                <a:ea typeface="华文新魏" pitchFamily="2" charset="-122"/>
                <a:cs typeface="Times New Roman" pitchFamily="18" charset="0"/>
              </a:rPr>
              <a:t>b</a:t>
            </a:r>
            <a:r>
              <a:rPr lang="en-US" altLang="zh-CN" sz="2400" b="1" dirty="0" err="1">
                <a:ea typeface="华文新魏" pitchFamily="2" charset="-122"/>
                <a:cs typeface="Times New Roman" pitchFamily="18" charset="0"/>
              </a:rPr>
              <a:t>B</a:t>
            </a:r>
            <a:r>
              <a:rPr lang="en-US" altLang="zh-CN" sz="2400" b="1" dirty="0">
                <a:ea typeface="华文新魏" pitchFamily="2" charset="-122"/>
                <a:cs typeface="Times New Roman" pitchFamily="18" charset="0"/>
              </a:rPr>
              <a:t> = </a:t>
            </a:r>
            <a:r>
              <a:rPr lang="en-US" altLang="zh-CN" sz="2400" b="1" i="1" dirty="0" err="1">
                <a:ea typeface="华文新魏" pitchFamily="2" charset="-122"/>
                <a:cs typeface="Times New Roman" pitchFamily="18" charset="0"/>
              </a:rPr>
              <a:t>c</a:t>
            </a:r>
            <a:r>
              <a:rPr lang="en-US" altLang="zh-CN" sz="2400" b="1" dirty="0" err="1">
                <a:ea typeface="华文新魏" pitchFamily="2" charset="-122"/>
                <a:cs typeface="Times New Roman" pitchFamily="18" charset="0"/>
              </a:rPr>
              <a:t>C</a:t>
            </a:r>
            <a:r>
              <a:rPr lang="en-US" altLang="zh-CN" sz="2400" b="1" dirty="0">
                <a:ea typeface="华文新魏" pitchFamily="2" charset="-122"/>
                <a:cs typeface="Times New Roman" pitchFamily="18" charset="0"/>
              </a:rPr>
              <a:t> + </a:t>
            </a:r>
            <a:r>
              <a:rPr lang="en-US" altLang="zh-CN" sz="2400" b="1" i="1" dirty="0" err="1">
                <a:ea typeface="华文新魏" pitchFamily="2" charset="-122"/>
                <a:cs typeface="Times New Roman" pitchFamily="18" charset="0"/>
              </a:rPr>
              <a:t>d</a:t>
            </a:r>
            <a:r>
              <a:rPr lang="en-US" altLang="zh-CN" sz="2400" b="1" dirty="0" err="1">
                <a:ea typeface="华文新魏" pitchFamily="2" charset="-122"/>
                <a:cs typeface="Times New Roman" pitchFamily="18" charset="0"/>
              </a:rPr>
              <a:t>D</a:t>
            </a:r>
            <a:endParaRPr lang="zh-CN" altLang="zh-CN" sz="1000" dirty="0">
              <a:latin typeface="Calibri" pitchFamily="34" charset="0"/>
              <a:ea typeface="华文新魏" pitchFamily="2" charset="-122"/>
              <a:cs typeface="Times New Roman" pitchFamily="18" charset="0"/>
            </a:endParaRPr>
          </a:p>
          <a:p>
            <a:pPr eaLnBrk="0" hangingPunct="0"/>
            <a:r>
              <a:rPr lang="zh-CN" altLang="zh-CN" sz="2400" b="1" dirty="0">
                <a:ea typeface="华文新魏" pitchFamily="2" charset="-122"/>
                <a:cs typeface="Times New Roman" pitchFamily="18" charset="0"/>
              </a:rPr>
              <a:t>则物质</a:t>
            </a:r>
            <a:r>
              <a:rPr lang="en-US" altLang="zh-CN" sz="2400" b="1" dirty="0">
                <a:ea typeface="华文新魏" pitchFamily="2" charset="-122"/>
                <a:cs typeface="Times New Roman" pitchFamily="18" charset="0"/>
              </a:rPr>
              <a:t>B</a:t>
            </a:r>
            <a:r>
              <a:rPr lang="zh-CN" altLang="zh-CN" sz="2400" b="1" dirty="0">
                <a:ea typeface="华文新魏" pitchFamily="2" charset="-122"/>
                <a:cs typeface="Times New Roman" pitchFamily="18" charset="0"/>
              </a:rPr>
              <a:t>的量浓度</a:t>
            </a:r>
            <a:r>
              <a:rPr lang="en-US" altLang="zh-CN" sz="2400" b="1" i="1" dirty="0" err="1">
                <a:ea typeface="华文新魏" pitchFamily="2" charset="-122"/>
                <a:cs typeface="Times New Roman" pitchFamily="18" charset="0"/>
              </a:rPr>
              <a:t>c</a:t>
            </a:r>
            <a:r>
              <a:rPr lang="en-US" altLang="zh-CN" sz="2400" b="1" baseline="-25000" dirty="0" err="1">
                <a:ea typeface="华文新魏" pitchFamily="2" charset="-122"/>
                <a:cs typeface="Times New Roman" pitchFamily="18" charset="0"/>
              </a:rPr>
              <a:t>B</a:t>
            </a:r>
            <a:r>
              <a:rPr lang="zh-CN" altLang="zh-CN" sz="2400" b="1" dirty="0">
                <a:ea typeface="华文新魏" pitchFamily="2" charset="-122"/>
                <a:cs typeface="Times New Roman" pitchFamily="18" charset="0"/>
              </a:rPr>
              <a:t>与滴定度</a:t>
            </a:r>
            <a:r>
              <a:rPr lang="en-US" altLang="zh-CN" sz="2400" b="1" i="1" dirty="0" err="1">
                <a:ea typeface="华文新魏" pitchFamily="2" charset="-122"/>
                <a:cs typeface="Times New Roman" pitchFamily="18" charset="0"/>
              </a:rPr>
              <a:t>T</a:t>
            </a:r>
            <a:r>
              <a:rPr lang="en-US" altLang="zh-CN" sz="2400" b="1" i="1" baseline="-25000" dirty="0" err="1">
                <a:ea typeface="华文新魏" pitchFamily="2" charset="-122"/>
                <a:cs typeface="Times New Roman" pitchFamily="18" charset="0"/>
              </a:rPr>
              <a:t>x</a:t>
            </a:r>
            <a:r>
              <a:rPr lang="en-US" altLang="zh-CN" sz="2400" b="1" baseline="-25000" dirty="0">
                <a:ea typeface="华文新魏" pitchFamily="2" charset="-122"/>
                <a:cs typeface="Times New Roman" pitchFamily="18" charset="0"/>
              </a:rPr>
              <a:t> / B</a:t>
            </a:r>
            <a:r>
              <a:rPr lang="zh-CN" altLang="zh-CN" sz="2400" b="1" dirty="0">
                <a:ea typeface="华文新魏" pitchFamily="2" charset="-122"/>
                <a:cs typeface="Times New Roman" pitchFamily="18" charset="0"/>
              </a:rPr>
              <a:t>之间有如下关系：</a:t>
            </a:r>
            <a:endParaRPr kumimoji="1" lang="en-US" altLang="zh-CN" sz="2400" b="1" dirty="0">
              <a:solidFill>
                <a:srgbClr val="FFFFFF"/>
              </a:solidFill>
              <a:ea typeface="华文新魏" pitchFamily="2" charset="-122"/>
              <a:cs typeface="Times New Roman" pitchFamily="18" charset="0"/>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88923" y="344870"/>
            <a:ext cx="5329238" cy="2323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1-2</a:t>
            </a:r>
            <a:r>
              <a:rPr lang="zh-CN" altLang="en-US" sz="2500" b="1" dirty="0" smtClean="0">
                <a:solidFill>
                  <a:srgbClr val="FFFF00"/>
                </a:solidFill>
                <a:ea typeface="华文新魏" pitchFamily="2" charset="-122"/>
              </a:rPr>
              <a:t>：</a:t>
            </a:r>
            <a:r>
              <a:rPr lang="zh-CN" altLang="zh-CN" sz="2400" b="1" dirty="0" smtClean="0">
                <a:latin typeface="+mj-lt"/>
                <a:ea typeface="华文新魏" pitchFamily="2" charset="-122"/>
              </a:rPr>
              <a:t>计算下列溶液的滴定度</a:t>
            </a:r>
            <a:r>
              <a:rPr lang="en-US" altLang="zh-CN" sz="2400" b="1" i="1" dirty="0" smtClean="0">
                <a:latin typeface="+mj-lt"/>
                <a:ea typeface="华文新魏" pitchFamily="2" charset="-122"/>
              </a:rPr>
              <a:t>T</a:t>
            </a:r>
            <a:r>
              <a:rPr lang="zh-CN" altLang="zh-CN" sz="2400" b="1" dirty="0" smtClean="0">
                <a:latin typeface="+mj-lt"/>
                <a:ea typeface="华文新魏" pitchFamily="2" charset="-122"/>
              </a:rPr>
              <a:t>，以</a:t>
            </a:r>
            <a:r>
              <a:rPr lang="en-US" altLang="zh-CN" sz="2400" b="1" dirty="0" smtClean="0">
                <a:latin typeface="+mj-lt"/>
                <a:ea typeface="华文新魏" pitchFamily="2" charset="-122"/>
              </a:rPr>
              <a:t>g / mL</a:t>
            </a:r>
            <a:r>
              <a:rPr lang="zh-CN" altLang="zh-CN" sz="2400" b="1" dirty="0" smtClean="0">
                <a:latin typeface="+mj-lt"/>
                <a:ea typeface="华文新魏" pitchFamily="2" charset="-122"/>
              </a:rPr>
              <a:t>表示：</a:t>
            </a:r>
          </a:p>
          <a:p>
            <a:pPr marL="0">
              <a:defRPr/>
            </a:pPr>
            <a:r>
              <a:rPr lang="zh-CN" altLang="zh-CN" sz="2400" b="1" dirty="0" smtClean="0">
                <a:latin typeface="+mj-lt"/>
                <a:ea typeface="华文新魏" pitchFamily="2" charset="-122"/>
              </a:rPr>
              <a:t>①</a:t>
            </a:r>
            <a:r>
              <a:rPr lang="en-US" altLang="zh-CN" sz="2400" b="1" i="1" dirty="0" smtClean="0">
                <a:latin typeface="+mj-lt"/>
                <a:ea typeface="华文新魏" pitchFamily="2" charset="-122"/>
              </a:rPr>
              <a:t>c</a:t>
            </a:r>
            <a:r>
              <a:rPr lang="en-US" altLang="zh-CN" sz="2400" b="1" dirty="0" smtClean="0">
                <a:latin typeface="+mj-lt"/>
                <a:ea typeface="华文新魏" pitchFamily="2" charset="-122"/>
              </a:rPr>
              <a:t>(</a:t>
            </a:r>
            <a:r>
              <a:rPr lang="en-US" altLang="zh-CN" sz="2400" b="1" dirty="0" err="1" smtClean="0">
                <a:latin typeface="+mj-lt"/>
                <a:ea typeface="华文新魏" pitchFamily="2" charset="-122"/>
              </a:rPr>
              <a:t>HCl</a:t>
            </a:r>
            <a:r>
              <a:rPr lang="en-US" altLang="zh-CN" sz="2400" b="1" dirty="0" smtClean="0">
                <a:latin typeface="+mj-lt"/>
                <a:ea typeface="华文新魏" pitchFamily="2" charset="-122"/>
              </a:rPr>
              <a:t>) = 0.2015mol·L</a:t>
            </a:r>
            <a:r>
              <a:rPr lang="en-US" altLang="zh-CN" sz="2400" b="1" baseline="30000" dirty="0" smtClean="0">
                <a:latin typeface="+mj-lt"/>
                <a:ea typeface="华文新魏" pitchFamily="2" charset="-122"/>
              </a:rPr>
              <a:t>-1</a:t>
            </a:r>
            <a:r>
              <a:rPr lang="zh-CN" altLang="zh-CN" sz="2400" b="1" dirty="0" smtClean="0">
                <a:latin typeface="+mj-lt"/>
                <a:ea typeface="华文新魏" pitchFamily="2" charset="-122"/>
              </a:rPr>
              <a:t>的</a:t>
            </a:r>
            <a:r>
              <a:rPr lang="en-US" altLang="zh-CN" sz="2400" b="1" dirty="0" err="1" smtClean="0">
                <a:latin typeface="+mj-lt"/>
                <a:ea typeface="华文新魏" pitchFamily="2" charset="-122"/>
              </a:rPr>
              <a:t>HCl</a:t>
            </a:r>
            <a:r>
              <a:rPr lang="zh-CN" altLang="zh-CN" sz="2400" b="1" dirty="0" smtClean="0">
                <a:latin typeface="+mj-lt"/>
                <a:ea typeface="华文新魏" pitchFamily="2" charset="-122"/>
              </a:rPr>
              <a:t>溶液，用来测定</a:t>
            </a:r>
            <a:r>
              <a:rPr lang="en-US" altLang="zh-CN" sz="2400" b="1" dirty="0" smtClean="0">
                <a:latin typeface="+mj-lt"/>
                <a:ea typeface="华文新魏" pitchFamily="2" charset="-122"/>
              </a:rPr>
              <a:t>Ca(OH)</a:t>
            </a:r>
            <a:r>
              <a:rPr lang="zh-CN" altLang="zh-CN" sz="2400" b="1" baseline="-25000" dirty="0" smtClean="0">
                <a:latin typeface="+mj-lt"/>
                <a:ea typeface="华文新魏" pitchFamily="2" charset="-122"/>
              </a:rPr>
              <a:t>２</a:t>
            </a:r>
            <a:r>
              <a:rPr lang="zh-CN" altLang="en-US" sz="2400" b="1" baseline="-25000" dirty="0" smtClean="0">
                <a:latin typeface="+mn-lt"/>
                <a:ea typeface="华文新魏" pitchFamily="2" charset="-122"/>
              </a:rPr>
              <a:t>、</a:t>
            </a:r>
            <a:r>
              <a:rPr lang="en-US" altLang="zh-CN" sz="2400" b="1" dirty="0" err="1" smtClean="0">
                <a:latin typeface="+mj-lt"/>
                <a:ea typeface="华文新魏" pitchFamily="2" charset="-122"/>
              </a:rPr>
              <a:t>NaOH</a:t>
            </a:r>
            <a:r>
              <a:rPr lang="zh-CN" altLang="zh-CN" sz="2400" b="1" dirty="0" smtClean="0">
                <a:latin typeface="+mj-lt"/>
                <a:ea typeface="华文新魏" pitchFamily="2" charset="-122"/>
              </a:rPr>
              <a:t>；</a:t>
            </a:r>
          </a:p>
          <a:p>
            <a:pPr marL="0">
              <a:defRPr/>
            </a:pPr>
            <a:r>
              <a:rPr lang="zh-CN" altLang="zh-CN" sz="2400" b="1" dirty="0" smtClean="0">
                <a:latin typeface="+mj-lt"/>
                <a:ea typeface="华文新魏" pitchFamily="2" charset="-122"/>
              </a:rPr>
              <a:t>②</a:t>
            </a:r>
            <a:r>
              <a:rPr lang="en-US" altLang="zh-CN" sz="2400" b="1" i="1" dirty="0" smtClean="0">
                <a:latin typeface="+mj-lt"/>
                <a:ea typeface="华文新魏" pitchFamily="2" charset="-122"/>
              </a:rPr>
              <a:t>c</a:t>
            </a:r>
            <a:r>
              <a:rPr lang="en-US" altLang="zh-CN" sz="2400" b="1" dirty="0" smtClean="0">
                <a:latin typeface="+mj-lt"/>
                <a:ea typeface="华文新魏" pitchFamily="2" charset="-122"/>
              </a:rPr>
              <a:t>(</a:t>
            </a:r>
            <a:r>
              <a:rPr lang="en-US" altLang="zh-CN" sz="2400" b="1" dirty="0" err="1" smtClean="0">
                <a:latin typeface="+mj-lt"/>
                <a:ea typeface="华文新魏" pitchFamily="2" charset="-122"/>
              </a:rPr>
              <a:t>NaOH</a:t>
            </a:r>
            <a:r>
              <a:rPr lang="en-US" altLang="zh-CN" sz="2400" b="1" dirty="0" smtClean="0">
                <a:latin typeface="+mj-lt"/>
                <a:ea typeface="华文新魏" pitchFamily="2" charset="-122"/>
              </a:rPr>
              <a:t>) = 0.1732mol·L</a:t>
            </a:r>
            <a:r>
              <a:rPr lang="en-US" altLang="zh-CN" sz="2400" b="1" baseline="30000" dirty="0" smtClean="0">
                <a:latin typeface="+mj-lt"/>
                <a:ea typeface="华文新魏" pitchFamily="2" charset="-122"/>
              </a:rPr>
              <a:t>-1</a:t>
            </a:r>
            <a:r>
              <a:rPr lang="zh-CN" altLang="zh-CN" sz="2400" b="1" dirty="0" smtClean="0">
                <a:latin typeface="+mj-lt"/>
                <a:ea typeface="华文新魏" pitchFamily="2" charset="-122"/>
              </a:rPr>
              <a:t>的</a:t>
            </a:r>
            <a:r>
              <a:rPr lang="en-US" altLang="zh-CN" sz="2400" b="1" dirty="0" err="1" smtClean="0">
                <a:latin typeface="+mj-lt"/>
                <a:ea typeface="华文新魏" pitchFamily="2" charset="-122"/>
              </a:rPr>
              <a:t>NaOH</a:t>
            </a:r>
            <a:r>
              <a:rPr lang="zh-CN" altLang="zh-CN" sz="2400" b="1" dirty="0" smtClean="0">
                <a:latin typeface="+mj-lt"/>
                <a:ea typeface="华文新魏" pitchFamily="2" charset="-122"/>
              </a:rPr>
              <a:t>溶液，用来测定</a:t>
            </a:r>
            <a:r>
              <a:rPr lang="en-US" altLang="zh-CN" sz="2400" b="1" dirty="0" smtClean="0">
                <a:latin typeface="+mj-lt"/>
                <a:ea typeface="华文新魏" pitchFamily="2" charset="-122"/>
              </a:rPr>
              <a:t>HClO</a:t>
            </a:r>
            <a:r>
              <a:rPr lang="en-US" altLang="zh-CN" sz="2400" b="1" baseline="-25000" dirty="0" smtClean="0">
                <a:latin typeface="+mj-lt"/>
                <a:ea typeface="华文新魏" pitchFamily="2" charset="-122"/>
              </a:rPr>
              <a:t>4</a:t>
            </a:r>
            <a:r>
              <a:rPr lang="zh-CN" altLang="zh-CN" sz="2400" b="1" dirty="0" smtClean="0">
                <a:latin typeface="+mj-lt"/>
                <a:ea typeface="华文新魏" pitchFamily="2" charset="-122"/>
              </a:rPr>
              <a:t>、</a:t>
            </a:r>
            <a:r>
              <a:rPr lang="en-US" altLang="zh-CN" sz="2400" b="1" dirty="0" smtClean="0">
                <a:latin typeface="+mj-lt"/>
                <a:ea typeface="华文新魏" pitchFamily="2" charset="-122"/>
              </a:rPr>
              <a:t>CH</a:t>
            </a:r>
            <a:r>
              <a:rPr lang="en-US" altLang="zh-CN" sz="2400" b="1" baseline="-25000" dirty="0" smtClean="0">
                <a:latin typeface="+mj-lt"/>
                <a:ea typeface="华文新魏" pitchFamily="2" charset="-122"/>
              </a:rPr>
              <a:t>3</a:t>
            </a:r>
            <a:r>
              <a:rPr lang="en-US" altLang="zh-CN" sz="2400" b="1" dirty="0" smtClean="0">
                <a:latin typeface="+mj-lt"/>
                <a:ea typeface="华文新魏" pitchFamily="2" charset="-122"/>
              </a:rPr>
              <a:t>COOH</a:t>
            </a:r>
            <a:r>
              <a:rPr lang="zh-CN" altLang="zh-CN" sz="2400" dirty="0" smtClean="0">
                <a:latin typeface="+mj-lt"/>
              </a:rPr>
              <a:t>。</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3960813"/>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76938" y="4319588"/>
            <a:ext cx="5329237" cy="831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eaLnBrk="1" hangingPunct="1">
              <a:defRPr/>
            </a:pPr>
            <a:r>
              <a:rPr lang="zh-CN" altLang="zh-CN" sz="2400" b="1" kern="100" dirty="0" smtClean="0">
                <a:ea typeface="宋体"/>
                <a:cs typeface="宋体"/>
              </a:rPr>
              <a:t>①</a:t>
            </a:r>
            <a:r>
              <a:rPr lang="en-US" altLang="zh-CN" sz="2400" b="1" kern="100" dirty="0" smtClean="0">
                <a:latin typeface="Times New Roman"/>
                <a:ea typeface="华文新魏" pitchFamily="2" charset="-122"/>
              </a:rPr>
              <a:t>0.007465g / mL</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cs typeface="Times New Roman"/>
              </a:rPr>
              <a:t> </a:t>
            </a:r>
            <a:r>
              <a:rPr lang="en-US" altLang="zh-CN" sz="2400" b="1" kern="100" dirty="0" smtClean="0">
                <a:latin typeface="Times New Roman"/>
                <a:ea typeface="华文新魏" pitchFamily="2" charset="-122"/>
              </a:rPr>
              <a:t>0.008060g / mL</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eaLnBrk="1" hangingPunct="1">
              <a:defRPr/>
            </a:pPr>
            <a:r>
              <a:rPr lang="zh-CN" altLang="zh-CN" sz="2400" b="1" kern="100" dirty="0" smtClean="0">
                <a:ea typeface="宋体"/>
                <a:cs typeface="宋体"/>
              </a:rPr>
              <a:t>②</a:t>
            </a:r>
            <a:r>
              <a:rPr lang="en-US" altLang="zh-CN" sz="2400" b="1" kern="100" dirty="0" smtClean="0">
                <a:latin typeface="Times New Roman"/>
                <a:ea typeface="华文新魏" pitchFamily="2" charset="-122"/>
              </a:rPr>
              <a:t>0.01741g / mL</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 0.01040g / mL</a:t>
            </a:r>
            <a:endParaRPr kumimoji="1" lang="en-US" altLang="zh-CN" sz="2400" b="1" dirty="0" smtClean="0">
              <a:solidFill>
                <a:srgbClr val="FFFFFF"/>
              </a:solidFill>
              <a:ea typeface="华文新魏" pitchFamily="2" charset="-122"/>
            </a:endParaRPr>
          </a:p>
        </p:txBody>
      </p:sp>
      <p:grpSp>
        <p:nvGrpSpPr>
          <p:cNvPr id="24" name="组合 23"/>
          <p:cNvGrpSpPr>
            <a:grpSpLocks/>
          </p:cNvGrpSpPr>
          <p:nvPr/>
        </p:nvGrpSpPr>
        <p:grpSpPr bwMode="auto">
          <a:xfrm>
            <a:off x="7345363" y="2500313"/>
            <a:ext cx="2571750" cy="811212"/>
            <a:chOff x="7658443" y="2644348"/>
            <a:chExt cx="2571645" cy="812014"/>
          </a:xfrm>
        </p:grpSpPr>
        <p:sp>
          <p:nvSpPr>
            <p:cNvPr id="3080" name="Rectangle 12"/>
            <p:cNvSpPr>
              <a:spLocks noChangeArrowheads="1"/>
            </p:cNvSpPr>
            <p:nvPr/>
          </p:nvSpPr>
          <p:spPr bwMode="auto">
            <a:xfrm>
              <a:off x="7658443" y="2909643"/>
              <a:ext cx="447238"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i="1"/>
                <a:t>c</a:t>
              </a:r>
              <a:r>
                <a:rPr lang="en-US" altLang="zh-CN" sz="2400" b="1" baseline="-25000"/>
                <a:t>B</a:t>
              </a:r>
              <a:r>
                <a:rPr lang="en-US" altLang="zh-CN" sz="2400" b="1" i="1"/>
                <a:t>=</a:t>
              </a:r>
              <a:endParaRPr lang="en-US" altLang="zh-CN" sz="2400" b="1" baseline="-25000"/>
            </a:p>
          </p:txBody>
        </p:sp>
        <p:cxnSp>
          <p:nvCxnSpPr>
            <p:cNvPr id="9" name="直接连接符 8"/>
            <p:cNvCxnSpPr/>
            <p:nvPr/>
          </p:nvCxnSpPr>
          <p:spPr>
            <a:xfrm>
              <a:off x="8171184" y="3103589"/>
              <a:ext cx="312725"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082" name="Rectangle 12"/>
            <p:cNvSpPr>
              <a:spLocks noChangeArrowheads="1"/>
            </p:cNvSpPr>
            <p:nvPr/>
          </p:nvSpPr>
          <p:spPr bwMode="auto">
            <a:xfrm>
              <a:off x="8209309" y="2736031"/>
              <a:ext cx="226709" cy="369583"/>
            </a:xfrm>
            <a:prstGeom prst="rect">
              <a:avLst/>
            </a:prstGeom>
            <a:noFill/>
            <a:ln w="9525">
              <a:noFill/>
              <a:miter lim="800000"/>
              <a:headEnd/>
              <a:tailEnd/>
            </a:ln>
          </p:spPr>
          <p:txBody>
            <a:bodyPr lIns="0" tIns="0" rIns="0" bIns="0">
              <a:spAutoFit/>
            </a:bodyPr>
            <a:lstStyle/>
            <a:p>
              <a:pPr algn="ctr">
                <a:buFont typeface="Monotype Sorts" pitchFamily="2" charset="2"/>
                <a:buNone/>
              </a:pPr>
              <a:r>
                <a:rPr lang="en-US" altLang="zh-CN" sz="2400" b="1" i="1"/>
                <a:t>b</a:t>
              </a:r>
            </a:p>
          </p:txBody>
        </p:sp>
        <p:sp>
          <p:nvSpPr>
            <p:cNvPr id="3083" name="Rectangle 12"/>
            <p:cNvSpPr>
              <a:spLocks noChangeArrowheads="1"/>
            </p:cNvSpPr>
            <p:nvPr/>
          </p:nvSpPr>
          <p:spPr bwMode="auto">
            <a:xfrm>
              <a:off x="8245720" y="3086779"/>
              <a:ext cx="153888"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i="1"/>
                <a:t>x</a:t>
              </a:r>
            </a:p>
          </p:txBody>
        </p:sp>
        <p:cxnSp>
          <p:nvCxnSpPr>
            <p:cNvPr id="12" name="直接连接符 11"/>
            <p:cNvCxnSpPr/>
            <p:nvPr/>
          </p:nvCxnSpPr>
          <p:spPr>
            <a:xfrm>
              <a:off x="8731549" y="3081342"/>
              <a:ext cx="769906"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3085" name="Rectangle 12"/>
            <p:cNvSpPr>
              <a:spLocks noChangeArrowheads="1"/>
            </p:cNvSpPr>
            <p:nvPr/>
          </p:nvSpPr>
          <p:spPr bwMode="auto">
            <a:xfrm>
              <a:off x="8929389" y="2644348"/>
              <a:ext cx="484107"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i="1"/>
                <a:t>T</a:t>
              </a:r>
              <a:r>
                <a:rPr lang="en-US" altLang="zh-CN" sz="2400" b="1" i="1" baseline="-25000"/>
                <a:t>x/</a:t>
              </a:r>
              <a:r>
                <a:rPr lang="en-US" altLang="zh-CN" sz="2400" b="1" baseline="-25000"/>
                <a:t>B</a:t>
              </a:r>
            </a:p>
          </p:txBody>
        </p:sp>
        <p:sp>
          <p:nvSpPr>
            <p:cNvPr id="3086" name="Rectangle 12"/>
            <p:cNvSpPr>
              <a:spLocks noChangeArrowheads="1"/>
            </p:cNvSpPr>
            <p:nvPr/>
          </p:nvSpPr>
          <p:spPr bwMode="auto">
            <a:xfrm>
              <a:off x="9024560" y="3086779"/>
              <a:ext cx="376691" cy="369583"/>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i="1"/>
                <a:t>M</a:t>
              </a:r>
              <a:r>
                <a:rPr lang="en-US" altLang="zh-CN" sz="2400" b="1" i="1" baseline="-25000"/>
                <a:t>x</a:t>
              </a:r>
              <a:endParaRPr lang="en-US" altLang="zh-CN" sz="2400" b="1"/>
            </a:p>
          </p:txBody>
        </p:sp>
        <p:sp>
          <p:nvSpPr>
            <p:cNvPr id="3087" name="矩形 20"/>
            <p:cNvSpPr>
              <a:spLocks noChangeArrowheads="1"/>
            </p:cNvSpPr>
            <p:nvPr/>
          </p:nvSpPr>
          <p:spPr bwMode="auto">
            <a:xfrm>
              <a:off x="8484543" y="2918375"/>
              <a:ext cx="261610" cy="369332"/>
            </a:xfrm>
            <a:prstGeom prst="rect">
              <a:avLst/>
            </a:prstGeom>
            <a:noFill/>
            <a:ln w="9525">
              <a:noFill/>
              <a:miter lim="800000"/>
              <a:headEnd/>
              <a:tailEnd/>
            </a:ln>
          </p:spPr>
          <p:txBody>
            <a:bodyPr wrap="none">
              <a:spAutoFit/>
            </a:bodyPr>
            <a:lstStyle/>
            <a:p>
              <a:r>
                <a:rPr lang="en-US" altLang="zh-CN" b="1" dirty="0">
                  <a:solidFill>
                    <a:srgbClr val="FFFFFF"/>
                  </a:solidFill>
                  <a:ea typeface="华文新魏" pitchFamily="2" charset="-122"/>
                </a:rPr>
                <a:t>·</a:t>
              </a:r>
              <a:endParaRPr lang="zh-CN" altLang="en-US" dirty="0"/>
            </a:p>
          </p:txBody>
        </p:sp>
        <p:sp>
          <p:nvSpPr>
            <p:cNvPr id="3088" name="矩形 21"/>
            <p:cNvSpPr>
              <a:spLocks noChangeArrowheads="1"/>
            </p:cNvSpPr>
            <p:nvPr/>
          </p:nvSpPr>
          <p:spPr bwMode="auto">
            <a:xfrm>
              <a:off x="9649469" y="2918375"/>
              <a:ext cx="261610" cy="369332"/>
            </a:xfrm>
            <a:prstGeom prst="rect">
              <a:avLst/>
            </a:prstGeom>
            <a:noFill/>
            <a:ln w="9525">
              <a:noFill/>
              <a:miter lim="800000"/>
              <a:headEnd/>
              <a:tailEnd/>
            </a:ln>
          </p:spPr>
          <p:txBody>
            <a:bodyPr wrap="none">
              <a:spAutoFit/>
            </a:bodyPr>
            <a:lstStyle/>
            <a:p>
              <a:r>
                <a:rPr lang="en-US" altLang="zh-CN" b="1" dirty="0">
                  <a:solidFill>
                    <a:srgbClr val="FFFFFF"/>
                  </a:solidFill>
                  <a:ea typeface="华文新魏" pitchFamily="2" charset="-122"/>
                </a:rPr>
                <a:t>·</a:t>
              </a:r>
              <a:endParaRPr lang="zh-CN" altLang="en-US" dirty="0"/>
            </a:p>
          </p:txBody>
        </p:sp>
        <p:sp>
          <p:nvSpPr>
            <p:cNvPr id="3089" name="Rectangle 12"/>
            <p:cNvSpPr>
              <a:spLocks noChangeArrowheads="1"/>
            </p:cNvSpPr>
            <p:nvPr/>
          </p:nvSpPr>
          <p:spPr bwMode="auto">
            <a:xfrm>
              <a:off x="9922311" y="2880047"/>
              <a:ext cx="307777" cy="246221"/>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baseline="-25000"/>
                <a:t>10</a:t>
              </a:r>
              <a:r>
                <a:rPr lang="en-US" altLang="zh-CN" sz="2400" b="1" baseline="30000"/>
                <a:t>3</a:t>
              </a:r>
            </a:p>
          </p:txBody>
        </p:sp>
      </p:gr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4" presetClass="entr" presetSubtype="10" fill="hold" nodeType="click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randombar(horizontal)">
                                      <p:cBhvr>
                                        <p:cTn id="27" dur="500"/>
                                        <p:tgtEl>
                                          <p:spTgt spid="2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checkerboard(across)">
                                      <p:cBhvr>
                                        <p:cTn id="32" dur="500"/>
                                        <p:tgtEl>
                                          <p:spTgt spid="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Effect transition="in" filter="checkerboard(across)">
                                      <p:cBhvr>
                                        <p:cTn id="37" dur="500"/>
                                        <p:tgtEl>
                                          <p:spTgt spid="8">
                                            <p:txEl>
                                              <p:pRg st="0" end="0"/>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8">
                                            <p:txEl>
                                              <p:pRg st="1" end="1"/>
                                            </p:txEl>
                                          </p:spTgt>
                                        </p:tgtEl>
                                        <p:attrNameLst>
                                          <p:attrName>style.visibility</p:attrName>
                                        </p:attrNameLst>
                                      </p:cBhvr>
                                      <p:to>
                                        <p:strVal val="visible"/>
                                      </p:to>
                                    </p:set>
                                    <p:animEffect transition="in" filter="checkerboard(across)">
                                      <p:cBhvr>
                                        <p:cTn id="4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3046412"/>
          </a:xfrm>
          <a:prstGeom prst="rect">
            <a:avLst/>
          </a:prstGeom>
          <a:noFill/>
          <a:ln w="9525">
            <a:noFill/>
            <a:miter lim="800000"/>
            <a:headEnd/>
            <a:tailEnd/>
          </a:ln>
          <a:effectLst/>
        </p:spPr>
        <p:txBody>
          <a:bodyPr>
            <a:spAutoFit/>
          </a:bodyPr>
          <a:lstStyle/>
          <a:p>
            <a:pPr algn="just" eaLnBrk="0" hangingPunct="0"/>
            <a:r>
              <a:rPr lang="zh-CN" altLang="zh-CN" sz="2400" b="1" dirty="0">
                <a:ea typeface="华文新魏" pitchFamily="2" charset="-122"/>
                <a:cs typeface="Times New Roman" pitchFamily="18" charset="0"/>
              </a:rPr>
              <a:t>此题涉及有关溶液稀释的计算。虽然稀释前后溶液的体积发生了变化，但所含溶质的物质的量保持不变。</a:t>
            </a:r>
            <a:endParaRPr lang="en-US" altLang="zh-CN" sz="2400" b="1" dirty="0">
              <a:ea typeface="华文新魏" pitchFamily="2" charset="-122"/>
              <a:cs typeface="Times New Roman" pitchFamily="18" charset="0"/>
            </a:endParaRPr>
          </a:p>
          <a:p>
            <a:pPr algn="just" eaLnBrk="0" hangingPunct="0"/>
            <a:r>
              <a:rPr lang="zh-CN" altLang="zh-CN" sz="2400" b="1" dirty="0">
                <a:ea typeface="华文新魏" pitchFamily="2" charset="-122"/>
                <a:cs typeface="Times New Roman" pitchFamily="18" charset="0"/>
              </a:rPr>
              <a:t>因此：如果稀释前浓度为</a:t>
            </a:r>
            <a:r>
              <a:rPr lang="en-US" altLang="zh-CN" sz="2400" b="1" i="1" dirty="0">
                <a:ea typeface="华文新魏" pitchFamily="2" charset="-122"/>
                <a:cs typeface="Times New Roman" pitchFamily="18" charset="0"/>
              </a:rPr>
              <a:t>c</a:t>
            </a:r>
            <a:r>
              <a:rPr lang="en-US" altLang="zh-CN" sz="2400" b="1" baseline="-25000" dirty="0">
                <a:ea typeface="华文新魏" pitchFamily="2" charset="-122"/>
                <a:cs typeface="Times New Roman" pitchFamily="18" charset="0"/>
              </a:rPr>
              <a:t>1</a:t>
            </a:r>
            <a:r>
              <a:rPr lang="zh-CN" altLang="zh-CN" sz="2400" b="1" dirty="0">
                <a:ea typeface="华文新魏" pitchFamily="2" charset="-122"/>
                <a:cs typeface="Times New Roman" pitchFamily="18" charset="0"/>
              </a:rPr>
              <a:t>，体积为</a:t>
            </a:r>
            <a:endParaRPr lang="en-US" altLang="zh-CN" sz="2400" b="1" dirty="0">
              <a:ea typeface="华文新魏" pitchFamily="2" charset="-122"/>
              <a:cs typeface="Times New Roman" pitchFamily="18" charset="0"/>
            </a:endParaRPr>
          </a:p>
          <a:p>
            <a:pPr algn="just" eaLnBrk="0" hangingPunct="0"/>
            <a:r>
              <a:rPr lang="en-US" altLang="zh-CN" sz="2400" b="1" i="1" dirty="0">
                <a:ea typeface="华文新魏" pitchFamily="2" charset="-122"/>
                <a:cs typeface="Times New Roman" pitchFamily="18" charset="0"/>
              </a:rPr>
              <a:t>V</a:t>
            </a:r>
            <a:r>
              <a:rPr lang="en-US" altLang="zh-CN" sz="2400" b="1" baseline="-25000" dirty="0">
                <a:ea typeface="华文新魏" pitchFamily="2" charset="-122"/>
                <a:cs typeface="Times New Roman" pitchFamily="18" charset="0"/>
              </a:rPr>
              <a:t>1</a:t>
            </a:r>
            <a:r>
              <a:rPr lang="zh-CN" altLang="zh-CN" sz="2400" b="1" dirty="0">
                <a:ea typeface="华文新魏" pitchFamily="2" charset="-122"/>
                <a:cs typeface="Times New Roman" pitchFamily="18" charset="0"/>
              </a:rPr>
              <a:t>（</a:t>
            </a:r>
            <a:r>
              <a:rPr lang="en-US" altLang="zh-CN" sz="2400" b="1" dirty="0" err="1">
                <a:ea typeface="华文新魏" pitchFamily="2" charset="-122"/>
                <a:cs typeface="Times New Roman" pitchFamily="18" charset="0"/>
              </a:rPr>
              <a:t>mL</a:t>
            </a:r>
            <a:r>
              <a:rPr lang="zh-CN" altLang="zh-CN" sz="2400" b="1" dirty="0">
                <a:ea typeface="华文新魏" pitchFamily="2" charset="-122"/>
                <a:cs typeface="Times New Roman" pitchFamily="18" charset="0"/>
              </a:rPr>
              <a:t>）；稀释后浓度为</a:t>
            </a:r>
            <a:r>
              <a:rPr lang="en-US" altLang="zh-CN" sz="2400" b="1" i="1" dirty="0">
                <a:ea typeface="华文新魏" pitchFamily="2" charset="-122"/>
                <a:cs typeface="Times New Roman" pitchFamily="18" charset="0"/>
              </a:rPr>
              <a:t>c</a:t>
            </a:r>
            <a:r>
              <a:rPr lang="en-US" altLang="zh-CN" sz="2400" b="1" baseline="-25000" dirty="0">
                <a:ea typeface="华文新魏" pitchFamily="2" charset="-122"/>
                <a:cs typeface="Times New Roman" pitchFamily="18" charset="0"/>
              </a:rPr>
              <a:t>2</a:t>
            </a:r>
            <a:r>
              <a:rPr lang="en-US" altLang="zh-CN" sz="2400" b="1" dirty="0">
                <a:ea typeface="华文新魏" pitchFamily="2" charset="-122"/>
                <a:cs typeface="Times New Roman" pitchFamily="18" charset="0"/>
              </a:rPr>
              <a:t> </a:t>
            </a:r>
            <a:r>
              <a:rPr lang="zh-CN" altLang="zh-CN" sz="2400" b="1" dirty="0">
                <a:ea typeface="华文新魏" pitchFamily="2" charset="-122"/>
                <a:cs typeface="Times New Roman" pitchFamily="18" charset="0"/>
              </a:rPr>
              <a:t>，体积为</a:t>
            </a:r>
            <a:r>
              <a:rPr lang="en-US" altLang="zh-CN" sz="2400" b="1" i="1" dirty="0">
                <a:ea typeface="华文新魏" pitchFamily="2" charset="-122"/>
                <a:cs typeface="Times New Roman" pitchFamily="18" charset="0"/>
              </a:rPr>
              <a:t>V</a:t>
            </a:r>
            <a:r>
              <a:rPr lang="en-US" altLang="zh-CN" sz="2400" b="1" baseline="-25000" dirty="0">
                <a:ea typeface="华文新魏" pitchFamily="2" charset="-122"/>
                <a:cs typeface="Times New Roman" pitchFamily="18" charset="0"/>
              </a:rPr>
              <a:t>2</a:t>
            </a:r>
            <a:r>
              <a:rPr lang="zh-CN" altLang="zh-CN" sz="2400" b="1" dirty="0">
                <a:ea typeface="华文新魏" pitchFamily="2" charset="-122"/>
                <a:cs typeface="Times New Roman" pitchFamily="18" charset="0"/>
              </a:rPr>
              <a:t>（</a:t>
            </a:r>
            <a:r>
              <a:rPr lang="en-US" altLang="zh-CN" sz="2400" b="1" dirty="0" err="1">
                <a:ea typeface="华文新魏" pitchFamily="2" charset="-122"/>
                <a:cs typeface="Times New Roman" pitchFamily="18" charset="0"/>
              </a:rPr>
              <a:t>mL</a:t>
            </a:r>
            <a:r>
              <a:rPr lang="zh-CN" altLang="zh-CN" sz="2400" b="1" dirty="0">
                <a:ea typeface="华文新魏" pitchFamily="2" charset="-122"/>
                <a:cs typeface="Times New Roman" pitchFamily="18" charset="0"/>
              </a:rPr>
              <a:t>），则有：</a:t>
            </a:r>
            <a:endParaRPr lang="zh-CN" altLang="zh-CN" sz="1000" dirty="0">
              <a:latin typeface="Calibri" pitchFamily="34" charset="0"/>
              <a:ea typeface="华文新魏" pitchFamily="2" charset="-122"/>
              <a:cs typeface="Times New Roman" pitchFamily="18" charset="0"/>
            </a:endParaRPr>
          </a:p>
          <a:p>
            <a:pPr algn="ctr" eaLnBrk="0" hangingPunct="0"/>
            <a:r>
              <a:rPr lang="en-US" altLang="zh-CN" sz="2400" b="1" i="1" dirty="0">
                <a:ea typeface="华文新魏" pitchFamily="2" charset="-122"/>
                <a:cs typeface="Times New Roman" pitchFamily="18" charset="0"/>
              </a:rPr>
              <a:t>c</a:t>
            </a:r>
            <a:r>
              <a:rPr lang="en-US" altLang="zh-CN" sz="2400" b="1" baseline="-25000" dirty="0">
                <a:ea typeface="华文新魏" pitchFamily="2" charset="-122"/>
                <a:cs typeface="Times New Roman" pitchFamily="18" charset="0"/>
              </a:rPr>
              <a:t>1</a:t>
            </a:r>
            <a:r>
              <a:rPr lang="en-US" altLang="zh-CN" sz="2400" b="1" i="1" dirty="0">
                <a:ea typeface="华文新魏" pitchFamily="2" charset="-122"/>
                <a:cs typeface="Times New Roman" pitchFamily="18" charset="0"/>
              </a:rPr>
              <a:t>V</a:t>
            </a:r>
            <a:r>
              <a:rPr lang="en-US" altLang="zh-CN" sz="2400" b="1" baseline="-25000" dirty="0">
                <a:ea typeface="华文新魏" pitchFamily="2" charset="-122"/>
                <a:cs typeface="Times New Roman" pitchFamily="18" charset="0"/>
              </a:rPr>
              <a:t>1</a:t>
            </a:r>
            <a:r>
              <a:rPr lang="en-US" altLang="zh-CN" sz="2400" b="1" i="1" dirty="0">
                <a:ea typeface="华文新魏" pitchFamily="2" charset="-122"/>
                <a:cs typeface="Times New Roman" pitchFamily="18" charset="0"/>
              </a:rPr>
              <a:t> = c</a:t>
            </a:r>
            <a:r>
              <a:rPr lang="en-US" altLang="zh-CN" sz="2400" b="1" baseline="-25000" dirty="0">
                <a:ea typeface="华文新魏" pitchFamily="2" charset="-122"/>
                <a:cs typeface="Times New Roman" pitchFamily="18" charset="0"/>
              </a:rPr>
              <a:t>2</a:t>
            </a:r>
            <a:r>
              <a:rPr lang="en-US" altLang="zh-CN" sz="2400" b="1" i="1" dirty="0">
                <a:ea typeface="华文新魏" pitchFamily="2" charset="-122"/>
                <a:cs typeface="Times New Roman" pitchFamily="18" charset="0"/>
              </a:rPr>
              <a:t>V</a:t>
            </a:r>
            <a:r>
              <a:rPr lang="en-US" altLang="zh-CN" sz="2400" b="1" baseline="-25000" dirty="0">
                <a:ea typeface="华文新魏" pitchFamily="2" charset="-122"/>
                <a:cs typeface="Times New Roman" pitchFamily="18" charset="0"/>
              </a:rPr>
              <a:t>2</a:t>
            </a:r>
            <a:endParaRPr lang="zh-CN" altLang="zh-CN" sz="1000" dirty="0">
              <a:latin typeface="Calibri" pitchFamily="34" charset="0"/>
              <a:ea typeface="华文新魏" pitchFamily="2" charset="-122"/>
              <a:cs typeface="Times New Roman" pitchFamily="18" charset="0"/>
            </a:endParaRPr>
          </a:p>
          <a:p>
            <a:endParaRPr kumimoji="1" lang="en-US" altLang="zh-CN" sz="2400" b="1" dirty="0">
              <a:ea typeface="华文新魏" pitchFamily="2" charset="-122"/>
              <a:cs typeface="Times New Roman" pitchFamily="18" charset="0"/>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88923" y="382567"/>
            <a:ext cx="5329238" cy="15850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1-3</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有一</a:t>
            </a:r>
            <a:r>
              <a:rPr lang="en-US" altLang="zh-CN" sz="2400" b="1" kern="100" dirty="0" err="1" smtClean="0">
                <a:latin typeface="Times New Roman"/>
                <a:ea typeface="华文新魏" pitchFamily="2" charset="-122"/>
                <a:cs typeface="Times New Roman"/>
              </a:rPr>
              <a:t>NaOH</a:t>
            </a:r>
            <a:r>
              <a:rPr lang="zh-CN" altLang="zh-CN" sz="2400" b="1" kern="100" dirty="0" smtClean="0">
                <a:latin typeface="Times New Roman"/>
                <a:ea typeface="华文新魏" pitchFamily="2" charset="-122"/>
                <a:cs typeface="Times New Roman"/>
              </a:rPr>
              <a:t>溶液，其浓度为</a:t>
            </a:r>
            <a:r>
              <a:rPr lang="en-US" altLang="zh-CN" sz="2400" b="1" kern="100" dirty="0" smtClean="0">
                <a:latin typeface="Times New Roman"/>
                <a:ea typeface="华文新魏" pitchFamily="2" charset="-122"/>
                <a:cs typeface="Times New Roman"/>
              </a:rPr>
              <a:t>0.5450mol·L</a:t>
            </a:r>
            <a:r>
              <a:rPr lang="en-US" altLang="zh-CN" sz="2400" b="1" kern="100" baseline="30000" dirty="0" smtClean="0">
                <a:latin typeface="Times New Roman"/>
                <a:ea typeface="华文新魏" pitchFamily="2" charset="-122"/>
                <a:cs typeface="Times New Roman"/>
              </a:rPr>
              <a:t>-1</a:t>
            </a:r>
            <a:r>
              <a:rPr lang="zh-CN" altLang="zh-CN" sz="2400" b="1" kern="100" dirty="0" smtClean="0">
                <a:latin typeface="Times New Roman"/>
                <a:ea typeface="华文新魏" pitchFamily="2" charset="-122"/>
                <a:cs typeface="Times New Roman"/>
              </a:rPr>
              <a:t>，取该溶液</a:t>
            </a:r>
            <a:r>
              <a:rPr lang="en-US" altLang="zh-CN" sz="2400" b="1" kern="100" dirty="0" smtClean="0">
                <a:latin typeface="Times New Roman"/>
                <a:ea typeface="华文新魏" pitchFamily="2" charset="-122"/>
                <a:cs typeface="Times New Roman"/>
              </a:rPr>
              <a:t>100.0mL</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zh-CN" altLang="zh-CN" sz="2400" b="1" kern="100" dirty="0" smtClean="0">
                <a:latin typeface="Times New Roman"/>
                <a:ea typeface="华文新魏" pitchFamily="2" charset="-122"/>
                <a:cs typeface="Times New Roman"/>
              </a:rPr>
              <a:t>需加水多少</a:t>
            </a:r>
            <a:r>
              <a:rPr lang="en-US" altLang="zh-CN" sz="2400" b="1" kern="100" dirty="0" smtClean="0">
                <a:latin typeface="Times New Roman"/>
                <a:ea typeface="华文新魏" pitchFamily="2" charset="-122"/>
                <a:cs typeface="Times New Roman"/>
              </a:rPr>
              <a:t>mL</a:t>
            </a:r>
            <a:r>
              <a:rPr lang="zh-CN" altLang="zh-CN" sz="2400" b="1" kern="100" dirty="0" smtClean="0">
                <a:latin typeface="Times New Roman"/>
                <a:ea typeface="华文新魏" pitchFamily="2" charset="-122"/>
                <a:cs typeface="Times New Roman"/>
              </a:rPr>
              <a:t>方能配成</a:t>
            </a:r>
            <a:r>
              <a:rPr lang="en-US" altLang="zh-CN" sz="2400" b="1" kern="100" dirty="0" smtClean="0">
                <a:latin typeface="Times New Roman"/>
                <a:ea typeface="华文新魏" pitchFamily="2" charset="-122"/>
                <a:cs typeface="Times New Roman"/>
              </a:rPr>
              <a:t>0.5000mol·L</a:t>
            </a:r>
            <a:r>
              <a:rPr lang="en-US" altLang="zh-CN" sz="2400" b="1" kern="100" baseline="30000" dirty="0" smtClean="0">
                <a:latin typeface="Times New Roman"/>
                <a:ea typeface="华文新魏" pitchFamily="2" charset="-122"/>
                <a:cs typeface="Times New Roman"/>
              </a:rPr>
              <a:t>-1</a:t>
            </a:r>
            <a:r>
              <a:rPr lang="zh-CN" altLang="zh-CN" sz="2400" b="1" kern="100" dirty="0" smtClean="0">
                <a:latin typeface="Times New Roman"/>
                <a:ea typeface="华文新魏" pitchFamily="2" charset="-122"/>
                <a:cs typeface="Times New Roman"/>
              </a:rPr>
              <a:t>溶液？</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eaLnBrk="1" hangingPunct="1">
              <a:defRPr/>
            </a:pPr>
            <a:r>
              <a:rPr lang="en-US" altLang="zh-CN" sz="2400" b="1" kern="100" dirty="0" smtClean="0">
                <a:latin typeface="Times New Roman"/>
                <a:ea typeface="华文新魏" pitchFamily="2" charset="-122"/>
              </a:rPr>
              <a:t>9.0mL</a:t>
            </a:r>
            <a:endParaRPr kumimoji="1" lang="en-US" altLang="zh-CN" sz="2400" b="1" dirty="0" smtClean="0">
              <a:ea typeface="华文新魏" pitchFamily="2" charset="-122"/>
            </a:endParaRPr>
          </a:p>
        </p:txBody>
      </p:sp>
      <p:sp>
        <p:nvSpPr>
          <p:cNvPr id="4103"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checkerboard(across)">
                                      <p:cBhvr>
                                        <p:cTn id="20" dur="500"/>
                                        <p:tgtEl>
                                          <p:spTgt spid="3">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checkerboard(across)">
                                      <p:cBhvr>
                                        <p:cTn id="25" dur="500"/>
                                        <p:tgtEl>
                                          <p:spTgt spid="3">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checkerboard(across)">
                                      <p:cBhvr>
                                        <p:cTn id="30" dur="500"/>
                                        <p:tgtEl>
                                          <p:spTgt spid="6">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Effect transition="in" filter="checkerboard(across)">
                                      <p:cBhvr>
                                        <p:cTn id="35"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2678112"/>
          </a:xfrm>
          <a:prstGeom prst="rect">
            <a:avLst/>
          </a:prstGeom>
          <a:noFill/>
          <a:ln w="9525">
            <a:noFill/>
            <a:miter lim="800000"/>
            <a:headEnd/>
            <a:tailEnd/>
          </a:ln>
          <a:effectLst/>
        </p:spPr>
        <p:txBody>
          <a:bodyPr>
            <a:spAutoFit/>
          </a:bodyPr>
          <a:lstStyle/>
          <a:p>
            <a:pPr algn="just" eaLnBrk="0" hangingPunct="0"/>
            <a:r>
              <a:rPr lang="zh-CN" altLang="zh-CN" sz="2400" b="1" dirty="0">
                <a:ea typeface="华文新魏" pitchFamily="2" charset="-122"/>
                <a:cs typeface="Times New Roman" pitchFamily="18" charset="0"/>
              </a:rPr>
              <a:t>此题涉及有关溶液混合的计算。混合前后所含溶质的物质的量保持不变。</a:t>
            </a:r>
            <a:endParaRPr lang="en-US" altLang="zh-CN" sz="2400" b="1" dirty="0">
              <a:ea typeface="华文新魏" pitchFamily="2" charset="-122"/>
              <a:cs typeface="Times New Roman" pitchFamily="18" charset="0"/>
            </a:endParaRPr>
          </a:p>
          <a:p>
            <a:pPr algn="just" eaLnBrk="0" hangingPunct="0"/>
            <a:r>
              <a:rPr lang="zh-CN" altLang="zh-CN" sz="2400" b="1" dirty="0">
                <a:ea typeface="华文新魏" pitchFamily="2" charset="-122"/>
                <a:cs typeface="Times New Roman" pitchFamily="18" charset="0"/>
              </a:rPr>
              <a:t>因此：</a:t>
            </a:r>
            <a:endParaRPr lang="zh-CN" altLang="zh-CN" sz="1000" dirty="0">
              <a:latin typeface="Calibri" pitchFamily="34" charset="0"/>
              <a:ea typeface="华文新魏" pitchFamily="2" charset="-122"/>
              <a:cs typeface="Times New Roman" pitchFamily="18" charset="0"/>
            </a:endParaRPr>
          </a:p>
          <a:p>
            <a:pPr algn="just" eaLnBrk="0" hangingPunct="0"/>
            <a:r>
              <a:rPr lang="zh-CN" altLang="zh-CN" sz="2400" b="1" dirty="0">
                <a:ea typeface="华文新魏" pitchFamily="2" charset="-122"/>
                <a:cs typeface="Times New Roman" pitchFamily="18" charset="0"/>
              </a:rPr>
              <a:t>如果混合前两溶液浓度分别为</a:t>
            </a:r>
            <a:r>
              <a:rPr lang="en-US" altLang="zh-CN" sz="2400" b="1" i="1" dirty="0">
                <a:ea typeface="华文新魏" pitchFamily="2" charset="-122"/>
                <a:cs typeface="Times New Roman" pitchFamily="18" charset="0"/>
              </a:rPr>
              <a:t>c</a:t>
            </a:r>
            <a:r>
              <a:rPr lang="en-US" altLang="zh-CN" sz="2400" b="1" dirty="0">
                <a:ea typeface="华文新魏" pitchFamily="2" charset="-122"/>
                <a:cs typeface="Times New Roman" pitchFamily="18" charset="0"/>
              </a:rPr>
              <a:t> </a:t>
            </a:r>
            <a:r>
              <a:rPr lang="en-US" altLang="zh-CN" sz="2400" b="1" baseline="-25000" dirty="0">
                <a:ea typeface="华文新魏" pitchFamily="2" charset="-122"/>
                <a:cs typeface="Times New Roman" pitchFamily="18" charset="0"/>
              </a:rPr>
              <a:t>1</a:t>
            </a:r>
            <a:r>
              <a:rPr lang="zh-CN" altLang="zh-CN" sz="2400" b="1" dirty="0">
                <a:ea typeface="华文新魏" pitchFamily="2" charset="-122"/>
                <a:cs typeface="Times New Roman" pitchFamily="18" charset="0"/>
              </a:rPr>
              <a:t>、</a:t>
            </a:r>
            <a:r>
              <a:rPr lang="en-US" altLang="zh-CN" sz="2400" b="1" i="1" dirty="0">
                <a:ea typeface="华文新魏" pitchFamily="2" charset="-122"/>
                <a:cs typeface="Times New Roman" pitchFamily="18" charset="0"/>
              </a:rPr>
              <a:t>c</a:t>
            </a:r>
            <a:r>
              <a:rPr lang="en-US" altLang="zh-CN" sz="2400" b="1" dirty="0">
                <a:ea typeface="华文新魏" pitchFamily="2" charset="-122"/>
                <a:cs typeface="Times New Roman" pitchFamily="18" charset="0"/>
              </a:rPr>
              <a:t> </a:t>
            </a:r>
            <a:r>
              <a:rPr lang="en-US" altLang="zh-CN" sz="2400" b="1" baseline="-25000" dirty="0">
                <a:ea typeface="华文新魏" pitchFamily="2" charset="-122"/>
                <a:cs typeface="Times New Roman" pitchFamily="18" charset="0"/>
              </a:rPr>
              <a:t>2</a:t>
            </a:r>
            <a:r>
              <a:rPr lang="en-US" altLang="zh-CN" sz="2400" b="1" dirty="0">
                <a:ea typeface="华文新魏" pitchFamily="2" charset="-122"/>
                <a:cs typeface="Times New Roman" pitchFamily="18" charset="0"/>
              </a:rPr>
              <a:t> </a:t>
            </a:r>
            <a:r>
              <a:rPr lang="zh-CN" altLang="zh-CN" sz="2400" b="1" dirty="0">
                <a:ea typeface="华文新魏" pitchFamily="2" charset="-122"/>
                <a:cs typeface="Times New Roman" pitchFamily="18" charset="0"/>
              </a:rPr>
              <a:t>，体积分别为</a:t>
            </a:r>
            <a:r>
              <a:rPr lang="en-US" altLang="zh-CN" sz="2400" b="1" i="1" dirty="0">
                <a:ea typeface="华文新魏" pitchFamily="2" charset="-122"/>
                <a:cs typeface="Times New Roman" pitchFamily="18" charset="0"/>
              </a:rPr>
              <a:t>V</a:t>
            </a:r>
            <a:r>
              <a:rPr lang="en-US" altLang="zh-CN" sz="2400" b="1" baseline="-25000" dirty="0">
                <a:ea typeface="华文新魏" pitchFamily="2" charset="-122"/>
                <a:cs typeface="Times New Roman" pitchFamily="18" charset="0"/>
              </a:rPr>
              <a:t>1</a:t>
            </a:r>
            <a:r>
              <a:rPr lang="zh-CN" altLang="zh-CN" sz="2400" b="1" dirty="0">
                <a:ea typeface="华文新魏" pitchFamily="2" charset="-122"/>
                <a:cs typeface="Times New Roman" pitchFamily="18" charset="0"/>
              </a:rPr>
              <a:t>、</a:t>
            </a:r>
            <a:r>
              <a:rPr lang="en-US" altLang="zh-CN" sz="2400" b="1" i="1" dirty="0">
                <a:ea typeface="华文新魏" pitchFamily="2" charset="-122"/>
                <a:cs typeface="Times New Roman" pitchFamily="18" charset="0"/>
              </a:rPr>
              <a:t>V</a:t>
            </a:r>
            <a:r>
              <a:rPr lang="en-US" altLang="zh-CN" sz="2400" b="1" baseline="-25000" dirty="0">
                <a:ea typeface="华文新魏" pitchFamily="2" charset="-122"/>
                <a:cs typeface="Times New Roman" pitchFamily="18" charset="0"/>
              </a:rPr>
              <a:t>2</a:t>
            </a:r>
            <a:r>
              <a:rPr lang="zh-CN" altLang="zh-CN" sz="2400" b="1" dirty="0">
                <a:ea typeface="华文新魏" pitchFamily="2" charset="-122"/>
                <a:cs typeface="Times New Roman" pitchFamily="18" charset="0"/>
              </a:rPr>
              <a:t>（</a:t>
            </a:r>
            <a:r>
              <a:rPr lang="en-US" altLang="zh-CN" sz="2400" b="1" dirty="0" err="1">
                <a:ea typeface="华文新魏" pitchFamily="2" charset="-122"/>
                <a:cs typeface="Times New Roman" pitchFamily="18" charset="0"/>
              </a:rPr>
              <a:t>mL</a:t>
            </a:r>
            <a:r>
              <a:rPr lang="zh-CN" altLang="zh-CN" sz="2400" b="1" dirty="0">
                <a:ea typeface="华文新魏" pitchFamily="2" charset="-122"/>
                <a:cs typeface="Times New Roman" pitchFamily="18" charset="0"/>
              </a:rPr>
              <a:t>）；混合后浓度为</a:t>
            </a:r>
            <a:r>
              <a:rPr lang="en-US" altLang="zh-CN" sz="2400" b="1" i="1" dirty="0">
                <a:ea typeface="华文新魏" pitchFamily="2" charset="-122"/>
                <a:cs typeface="Times New Roman" pitchFamily="18" charset="0"/>
              </a:rPr>
              <a:t>c</a:t>
            </a:r>
            <a:r>
              <a:rPr lang="en-US" altLang="zh-CN" sz="2400" b="1" dirty="0">
                <a:ea typeface="华文新魏" pitchFamily="2" charset="-122"/>
                <a:cs typeface="Times New Roman" pitchFamily="18" charset="0"/>
              </a:rPr>
              <a:t> </a:t>
            </a:r>
            <a:r>
              <a:rPr lang="en-US" altLang="zh-CN" sz="2400" b="1" baseline="-25000" dirty="0">
                <a:ea typeface="华文新魏" pitchFamily="2" charset="-122"/>
                <a:cs typeface="Times New Roman" pitchFamily="18" charset="0"/>
              </a:rPr>
              <a:t>3</a:t>
            </a:r>
            <a:r>
              <a:rPr lang="zh-CN" altLang="zh-CN" sz="2400" b="1" dirty="0">
                <a:ea typeface="华文新魏" pitchFamily="2" charset="-122"/>
                <a:cs typeface="Times New Roman" pitchFamily="18" charset="0"/>
              </a:rPr>
              <a:t>，体积为</a:t>
            </a:r>
            <a:r>
              <a:rPr lang="en-US" altLang="zh-CN" sz="2400" b="1" i="1" dirty="0">
                <a:ea typeface="华文新魏" pitchFamily="2" charset="-122"/>
                <a:cs typeface="Times New Roman" pitchFamily="18" charset="0"/>
              </a:rPr>
              <a:t>V</a:t>
            </a:r>
            <a:r>
              <a:rPr lang="en-US" altLang="zh-CN" sz="2400" b="1" baseline="-25000" dirty="0">
                <a:ea typeface="华文新魏" pitchFamily="2" charset="-122"/>
                <a:cs typeface="Times New Roman" pitchFamily="18" charset="0"/>
              </a:rPr>
              <a:t>3</a:t>
            </a:r>
            <a:r>
              <a:rPr lang="zh-CN" altLang="zh-CN" sz="2400" b="1" dirty="0">
                <a:ea typeface="华文新魏" pitchFamily="2" charset="-122"/>
                <a:cs typeface="Times New Roman" pitchFamily="18" charset="0"/>
              </a:rPr>
              <a:t>（</a:t>
            </a:r>
            <a:r>
              <a:rPr lang="en-US" altLang="zh-CN" sz="2400" b="1" dirty="0" err="1">
                <a:ea typeface="华文新魏" pitchFamily="2" charset="-122"/>
                <a:cs typeface="Times New Roman" pitchFamily="18" charset="0"/>
              </a:rPr>
              <a:t>mL</a:t>
            </a:r>
            <a:r>
              <a:rPr lang="zh-CN" altLang="zh-CN" sz="2400" b="1" dirty="0">
                <a:ea typeface="华文新魏" pitchFamily="2" charset="-122"/>
                <a:cs typeface="Times New Roman" pitchFamily="18" charset="0"/>
              </a:rPr>
              <a:t>），则有：</a:t>
            </a:r>
            <a:endParaRPr lang="en-US" altLang="zh-CN" sz="2400" b="1" dirty="0">
              <a:ea typeface="华文新魏" pitchFamily="2" charset="-122"/>
              <a:cs typeface="Times New Roman" pitchFamily="18" charset="0"/>
            </a:endParaRPr>
          </a:p>
          <a:p>
            <a:pPr algn="ctr" eaLnBrk="0" hangingPunct="0"/>
            <a:r>
              <a:rPr lang="en-US" altLang="zh-CN" sz="2400" b="1" i="1" dirty="0">
                <a:ea typeface="华文新魏" pitchFamily="2" charset="-122"/>
                <a:cs typeface="Times New Roman" pitchFamily="18" charset="0"/>
              </a:rPr>
              <a:t>c</a:t>
            </a:r>
            <a:r>
              <a:rPr lang="en-US" altLang="zh-CN" sz="2400" b="1" baseline="-25000" dirty="0">
                <a:ea typeface="华文新魏" pitchFamily="2" charset="-122"/>
                <a:cs typeface="Times New Roman" pitchFamily="18" charset="0"/>
              </a:rPr>
              <a:t>1</a:t>
            </a:r>
            <a:r>
              <a:rPr lang="en-US" altLang="zh-CN" sz="2400" b="1" i="1" dirty="0">
                <a:ea typeface="华文新魏" pitchFamily="2" charset="-122"/>
                <a:cs typeface="Times New Roman" pitchFamily="18" charset="0"/>
              </a:rPr>
              <a:t>V</a:t>
            </a:r>
            <a:r>
              <a:rPr lang="en-US" altLang="zh-CN" sz="2400" b="1" baseline="-25000" dirty="0">
                <a:ea typeface="华文新魏" pitchFamily="2" charset="-122"/>
                <a:cs typeface="Times New Roman" pitchFamily="18" charset="0"/>
              </a:rPr>
              <a:t>1</a:t>
            </a:r>
            <a:r>
              <a:rPr lang="en-US" altLang="zh-CN" sz="2400" b="1" i="1" dirty="0">
                <a:ea typeface="华文新魏" pitchFamily="2" charset="-122"/>
                <a:cs typeface="Times New Roman" pitchFamily="18" charset="0"/>
              </a:rPr>
              <a:t> </a:t>
            </a:r>
            <a:r>
              <a:rPr lang="en-US" altLang="zh-CN" sz="2400" b="1" dirty="0">
                <a:ea typeface="华文新魏" pitchFamily="2" charset="-122"/>
                <a:cs typeface="Times New Roman" pitchFamily="18" charset="0"/>
              </a:rPr>
              <a:t>+</a:t>
            </a:r>
            <a:r>
              <a:rPr lang="en-US" altLang="zh-CN" sz="2400" b="1" i="1" dirty="0">
                <a:ea typeface="华文新魏" pitchFamily="2" charset="-122"/>
                <a:cs typeface="Times New Roman" pitchFamily="18" charset="0"/>
              </a:rPr>
              <a:t>c</a:t>
            </a:r>
            <a:r>
              <a:rPr lang="en-US" altLang="zh-CN" sz="2400" b="1" baseline="-25000" dirty="0">
                <a:ea typeface="华文新魏" pitchFamily="2" charset="-122"/>
                <a:cs typeface="Times New Roman" pitchFamily="18" charset="0"/>
              </a:rPr>
              <a:t>2</a:t>
            </a:r>
            <a:r>
              <a:rPr lang="en-US" altLang="zh-CN" sz="2400" b="1" i="1" dirty="0">
                <a:ea typeface="华文新魏" pitchFamily="2" charset="-122"/>
                <a:cs typeface="Times New Roman" pitchFamily="18" charset="0"/>
              </a:rPr>
              <a:t>V</a:t>
            </a:r>
            <a:r>
              <a:rPr lang="en-US" altLang="zh-CN" sz="2400" b="1" baseline="-25000" dirty="0">
                <a:ea typeface="华文新魏" pitchFamily="2" charset="-122"/>
                <a:cs typeface="Times New Roman" pitchFamily="18" charset="0"/>
              </a:rPr>
              <a:t>2</a:t>
            </a:r>
            <a:r>
              <a:rPr lang="en-US" altLang="zh-CN" sz="2400" b="1" i="1" dirty="0">
                <a:ea typeface="华文新魏" pitchFamily="2" charset="-122"/>
                <a:cs typeface="Times New Roman" pitchFamily="18" charset="0"/>
              </a:rPr>
              <a:t>= c</a:t>
            </a:r>
            <a:r>
              <a:rPr lang="en-US" altLang="zh-CN" sz="2400" b="1" baseline="-25000" dirty="0">
                <a:ea typeface="华文新魏" pitchFamily="2" charset="-122"/>
                <a:cs typeface="Times New Roman" pitchFamily="18" charset="0"/>
              </a:rPr>
              <a:t>3</a:t>
            </a:r>
            <a:r>
              <a:rPr lang="en-US" altLang="zh-CN" sz="2400" b="1" i="1" dirty="0">
                <a:ea typeface="华文新魏" pitchFamily="2" charset="-122"/>
                <a:cs typeface="Times New Roman" pitchFamily="18" charset="0"/>
              </a:rPr>
              <a:t>V</a:t>
            </a:r>
            <a:r>
              <a:rPr lang="en-US" altLang="zh-CN" sz="2400" b="1" baseline="-25000" dirty="0">
                <a:ea typeface="华文新魏" pitchFamily="2" charset="-122"/>
                <a:cs typeface="Times New Roman" pitchFamily="18" charset="0"/>
              </a:rPr>
              <a:t>3</a:t>
            </a:r>
            <a:endParaRPr lang="zh-CN" altLang="zh-CN" sz="1000" dirty="0">
              <a:latin typeface="Calibri" pitchFamily="34" charset="0"/>
              <a:ea typeface="华文新魏" pitchFamily="2" charset="-122"/>
              <a:cs typeface="Times New Roman" pitchFamily="18" charset="0"/>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54006"/>
            <a:ext cx="5329238" cy="20288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1-4</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欲配制</a:t>
            </a:r>
            <a:r>
              <a:rPr lang="en-US" altLang="zh-CN" sz="2400" b="1" i="1" kern="100" dirty="0" smtClean="0">
                <a:latin typeface="Times New Roman"/>
                <a:ea typeface="华文新魏" pitchFamily="2" charset="-122"/>
              </a:rPr>
              <a:t>c</a:t>
            </a:r>
            <a:r>
              <a:rPr lang="en-US" altLang="zh-CN" sz="2400" b="1" kern="100" dirty="0" smtClean="0">
                <a:latin typeface="Times New Roman"/>
                <a:ea typeface="华文新魏" pitchFamily="2" charset="-122"/>
              </a:rPr>
              <a:t>(</a:t>
            </a:r>
            <a:r>
              <a:rPr lang="en-US" altLang="zh-CN" sz="2400" b="1" kern="100" dirty="0" err="1" smtClean="0">
                <a:latin typeface="Times New Roman"/>
                <a:ea typeface="华文新魏" pitchFamily="2" charset="-122"/>
              </a:rPr>
              <a:t>HCl</a:t>
            </a:r>
            <a:r>
              <a:rPr lang="en-US" altLang="zh-CN" sz="2400" b="1" kern="100" dirty="0" smtClean="0">
                <a:latin typeface="Times New Roman"/>
                <a:ea typeface="华文新魏" pitchFamily="2" charset="-122"/>
              </a:rPr>
              <a:t>) = 0.5000 mol·L</a:t>
            </a:r>
            <a:r>
              <a:rPr lang="en-US" altLang="zh-CN" sz="2400" b="1" kern="100" baseline="30000" dirty="0" smtClean="0">
                <a:latin typeface="Times New Roman"/>
                <a:ea typeface="华文新魏" pitchFamily="2" charset="-122"/>
              </a:rPr>
              <a:t>-1</a:t>
            </a:r>
            <a:r>
              <a:rPr lang="zh-CN" altLang="zh-CN" sz="2400" b="1" kern="100" dirty="0" smtClean="0">
                <a:latin typeface="Times New Roman"/>
                <a:ea typeface="华文新魏" pitchFamily="2" charset="-122"/>
                <a:cs typeface="Times New Roman"/>
              </a:rPr>
              <a:t>的</a:t>
            </a:r>
            <a:r>
              <a:rPr lang="en-US" altLang="zh-CN" sz="2400" b="1" kern="100" dirty="0" err="1" smtClean="0">
                <a:latin typeface="Times New Roman"/>
                <a:ea typeface="华文新魏" pitchFamily="2" charset="-122"/>
              </a:rPr>
              <a:t>HCl</a:t>
            </a:r>
            <a:r>
              <a:rPr lang="zh-CN" altLang="zh-CN" sz="2400" b="1" kern="100" dirty="0" smtClean="0">
                <a:latin typeface="Times New Roman"/>
                <a:ea typeface="华文新魏" pitchFamily="2" charset="-122"/>
                <a:cs typeface="Times New Roman"/>
              </a:rPr>
              <a:t>溶液。现有</a:t>
            </a:r>
            <a:r>
              <a:rPr lang="en-US" altLang="zh-CN" sz="2400" b="1" i="1" kern="100" dirty="0" smtClean="0">
                <a:latin typeface="Times New Roman"/>
                <a:ea typeface="华文新魏" pitchFamily="2" charset="-122"/>
              </a:rPr>
              <a:t>c</a:t>
            </a:r>
            <a:r>
              <a:rPr lang="en-US" altLang="zh-CN" sz="2400" b="1" kern="100" dirty="0" smtClean="0">
                <a:latin typeface="Times New Roman"/>
                <a:ea typeface="华文新魏" pitchFamily="2" charset="-122"/>
              </a:rPr>
              <a:t>(</a:t>
            </a:r>
            <a:r>
              <a:rPr lang="en-US" altLang="zh-CN" sz="2400" b="1" kern="100" dirty="0" err="1" smtClean="0">
                <a:latin typeface="Times New Roman"/>
                <a:ea typeface="华文新魏" pitchFamily="2" charset="-122"/>
              </a:rPr>
              <a:t>HCl</a:t>
            </a:r>
            <a:r>
              <a:rPr lang="en-US" altLang="zh-CN" sz="2400" b="1" kern="100" dirty="0" smtClean="0">
                <a:latin typeface="Times New Roman"/>
                <a:ea typeface="华文新魏" pitchFamily="2" charset="-122"/>
              </a:rPr>
              <a:t>) = 0.4920mol·L</a:t>
            </a:r>
            <a:r>
              <a:rPr lang="en-US" altLang="zh-CN" sz="2400" b="1" kern="100" baseline="30000" dirty="0" smtClean="0">
                <a:latin typeface="Times New Roman"/>
                <a:ea typeface="华文新魏" pitchFamily="2" charset="-122"/>
              </a:rPr>
              <a:t>-1</a:t>
            </a:r>
            <a:r>
              <a:rPr lang="zh-CN" altLang="zh-CN" sz="2400" b="1" kern="100" dirty="0" smtClean="0">
                <a:latin typeface="Times New Roman"/>
                <a:ea typeface="华文新魏" pitchFamily="2" charset="-122"/>
                <a:cs typeface="Times New Roman"/>
              </a:rPr>
              <a:t>的</a:t>
            </a:r>
            <a:r>
              <a:rPr lang="en-US" altLang="zh-CN" sz="2400" b="1" kern="100" dirty="0" err="1" smtClean="0">
                <a:latin typeface="Times New Roman"/>
                <a:ea typeface="华文新魏" pitchFamily="2" charset="-122"/>
              </a:rPr>
              <a:t>HCl</a:t>
            </a:r>
            <a:r>
              <a:rPr lang="zh-CN" altLang="zh-CN" sz="2400" b="1" kern="100" dirty="0" smtClean="0">
                <a:latin typeface="Times New Roman"/>
                <a:ea typeface="华文新魏" pitchFamily="2" charset="-122"/>
                <a:cs typeface="Times New Roman"/>
              </a:rPr>
              <a:t>溶液</a:t>
            </a:r>
            <a:r>
              <a:rPr lang="en-US" altLang="zh-CN" sz="2400" b="1" kern="100" dirty="0" smtClean="0">
                <a:latin typeface="Times New Roman"/>
                <a:ea typeface="华文新魏" pitchFamily="2" charset="-122"/>
              </a:rPr>
              <a:t>100.0mL</a:t>
            </a:r>
            <a:r>
              <a:rPr lang="zh-CN" altLang="zh-CN" sz="2400" b="1" kern="100" dirty="0" smtClean="0">
                <a:latin typeface="Times New Roman"/>
                <a:ea typeface="华文新魏" pitchFamily="2" charset="-122"/>
                <a:cs typeface="Times New Roman"/>
              </a:rPr>
              <a:t>，应加入</a:t>
            </a:r>
            <a:r>
              <a:rPr lang="en-US" altLang="zh-CN" sz="2400" b="1" i="1" kern="100" dirty="0" smtClean="0">
                <a:latin typeface="Times New Roman"/>
                <a:ea typeface="华文新魏" pitchFamily="2" charset="-122"/>
              </a:rPr>
              <a:t>c</a:t>
            </a:r>
            <a:r>
              <a:rPr lang="en-US" altLang="zh-CN" sz="2400" b="1" kern="100" dirty="0" smtClean="0">
                <a:latin typeface="Times New Roman"/>
                <a:ea typeface="华文新魏" pitchFamily="2" charset="-122"/>
              </a:rPr>
              <a:t>(</a:t>
            </a:r>
            <a:r>
              <a:rPr lang="en-US" altLang="zh-CN" sz="2400" b="1" kern="100" dirty="0" err="1" smtClean="0">
                <a:latin typeface="Times New Roman"/>
                <a:ea typeface="华文新魏" pitchFamily="2" charset="-122"/>
              </a:rPr>
              <a:t>HCl</a:t>
            </a:r>
            <a:r>
              <a:rPr lang="en-US" altLang="zh-CN" sz="2400" b="1" kern="100" dirty="0" smtClean="0">
                <a:latin typeface="Times New Roman"/>
                <a:ea typeface="华文新魏" pitchFamily="2" charset="-122"/>
              </a:rPr>
              <a:t>) = 1.021 mol·L</a:t>
            </a:r>
            <a:r>
              <a:rPr lang="en-US" altLang="zh-CN" sz="2400" b="1" kern="100" baseline="30000" dirty="0" smtClean="0">
                <a:latin typeface="Times New Roman"/>
                <a:ea typeface="华文新魏" pitchFamily="2" charset="-122"/>
              </a:rPr>
              <a:t>-1</a:t>
            </a:r>
            <a:r>
              <a:rPr lang="zh-CN" altLang="zh-CN" sz="2400" b="1" kern="100" dirty="0" smtClean="0">
                <a:latin typeface="Times New Roman"/>
                <a:ea typeface="华文新魏" pitchFamily="2" charset="-122"/>
                <a:cs typeface="Times New Roman"/>
              </a:rPr>
              <a:t>的</a:t>
            </a:r>
            <a:r>
              <a:rPr lang="en-US" altLang="zh-CN" sz="2400" b="1" kern="100" dirty="0" err="1" smtClean="0">
                <a:latin typeface="Times New Roman"/>
                <a:ea typeface="华文新魏" pitchFamily="2" charset="-122"/>
              </a:rPr>
              <a:t>HCl</a:t>
            </a:r>
            <a:r>
              <a:rPr lang="zh-CN" altLang="zh-CN" sz="2400" b="1" kern="100" dirty="0" smtClean="0">
                <a:latin typeface="Times New Roman"/>
                <a:ea typeface="华文新魏" pitchFamily="2" charset="-122"/>
                <a:cs typeface="Times New Roman"/>
              </a:rPr>
              <a:t>溶液多少</a:t>
            </a:r>
            <a:r>
              <a:rPr lang="en-US" altLang="zh-CN" sz="2400" b="1" kern="100" dirty="0" smtClean="0">
                <a:latin typeface="Times New Roman"/>
                <a:ea typeface="华文新魏" pitchFamily="2" charset="-122"/>
              </a:rPr>
              <a:t>mL</a:t>
            </a:r>
            <a:r>
              <a:rPr lang="zh-CN" altLang="zh-CN" sz="2400" b="1" kern="100" dirty="0" smtClean="0">
                <a:latin typeface="Times New Roman"/>
                <a:ea typeface="华文新魏" pitchFamily="2" charset="-122"/>
                <a:cs typeface="Times New Roman"/>
              </a:rPr>
              <a:t>？</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eaLnBrk="1" hangingPunct="1">
              <a:defRPr/>
            </a:pPr>
            <a:r>
              <a:rPr lang="en-US" altLang="zh-CN" sz="2400" b="1" kern="100" dirty="0" smtClean="0">
                <a:latin typeface="Times New Roman"/>
                <a:ea typeface="华文新魏" pitchFamily="2" charset="-122"/>
              </a:rPr>
              <a:t>1.536mL</a:t>
            </a:r>
            <a:endParaRPr kumimoji="1" lang="en-US" altLang="zh-CN" sz="2400" b="1" dirty="0" smtClean="0">
              <a:ea typeface="华文新魏" pitchFamily="2" charset="-122"/>
            </a:endParaRPr>
          </a:p>
        </p:txBody>
      </p:sp>
      <p:sp>
        <p:nvSpPr>
          <p:cNvPr id="5127"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checkerboard(across)">
                                      <p:cBhvr>
                                        <p:cTn id="32" dur="500"/>
                                        <p:tgtEl>
                                          <p:spTgt spid="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Effect transition="in" filter="checkerboard(across)">
                                      <p:cBhvr>
                                        <p:cTn id="3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en-US" altLang="zh-CN" sz="2400" b="1" kern="100" dirty="0" smtClean="0">
                <a:latin typeface="Times New Roman"/>
                <a:ea typeface="华文新魏" pitchFamily="2" charset="-122"/>
              </a:rPr>
              <a:t>F</a:t>
            </a:r>
            <a:r>
              <a:rPr lang="zh-CN" altLang="zh-CN" sz="2400" b="1" kern="100" dirty="0" smtClean="0">
                <a:latin typeface="Times New Roman"/>
                <a:ea typeface="华文新魏" pitchFamily="2" charset="-122"/>
                <a:cs typeface="Times New Roman"/>
              </a:rPr>
              <a:t>含量与</a:t>
            </a:r>
            <a:r>
              <a:rPr lang="en-US" altLang="zh-CN" sz="2400" b="1" kern="100" dirty="0" smtClean="0">
                <a:latin typeface="Times New Roman"/>
                <a:ea typeface="华文新魏" pitchFamily="2" charset="-122"/>
              </a:rPr>
              <a:t>SnF</a:t>
            </a:r>
            <a:r>
              <a:rPr lang="en-US" altLang="zh-CN" sz="2400" b="1" kern="100" baseline="-25000" dirty="0" smtClean="0">
                <a:latin typeface="Times New Roman"/>
                <a:ea typeface="华文新魏" pitchFamily="2" charset="-122"/>
              </a:rPr>
              <a:t>2</a:t>
            </a:r>
            <a:r>
              <a:rPr lang="zh-CN" altLang="zh-CN" sz="2400" b="1" kern="100" dirty="0" smtClean="0">
                <a:latin typeface="Times New Roman"/>
                <a:ea typeface="华文新魏" pitchFamily="2" charset="-122"/>
                <a:cs typeface="Times New Roman"/>
              </a:rPr>
              <a:t>含量的关系为：</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44870"/>
            <a:ext cx="5329238" cy="2323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1-5</a:t>
            </a:r>
            <a:r>
              <a:rPr lang="zh-CN" altLang="en-US" sz="2500" b="1" dirty="0" smtClean="0">
                <a:solidFill>
                  <a:srgbClr val="FFFF00"/>
                </a:solidFill>
                <a:ea typeface="华文新魏" pitchFamily="2" charset="-122"/>
              </a:rPr>
              <a:t>：</a:t>
            </a:r>
            <a:r>
              <a:rPr lang="en-US" altLang="zh-CN" sz="2400" b="1" kern="100" dirty="0" smtClean="0">
                <a:latin typeface="Times New Roman"/>
                <a:ea typeface="华文新魏" pitchFamily="2" charset="-122"/>
                <a:cs typeface="Times New Roman"/>
              </a:rPr>
              <a:t>SnF</a:t>
            </a:r>
            <a:r>
              <a:rPr lang="en-US" altLang="zh-CN" sz="2400" b="1" kern="100" baseline="-25000" dirty="0" smtClean="0">
                <a:latin typeface="Times New Roman"/>
                <a:ea typeface="华文新魏" pitchFamily="2" charset="-122"/>
                <a:cs typeface="Times New Roman"/>
              </a:rPr>
              <a:t>2</a:t>
            </a:r>
            <a:r>
              <a:rPr lang="zh-CN" altLang="zh-CN" sz="2400" b="1" kern="100" dirty="0" smtClean="0">
                <a:latin typeface="Times New Roman"/>
                <a:ea typeface="华文新魏" pitchFamily="2" charset="-122"/>
                <a:cs typeface="Times New Roman"/>
              </a:rPr>
              <a:t>是一种牙膏的添加剂，由分析得知</a:t>
            </a:r>
            <a:r>
              <a:rPr lang="en-US" altLang="zh-CN" sz="2400" b="1" kern="100" dirty="0" smtClean="0">
                <a:latin typeface="Times New Roman"/>
                <a:ea typeface="华文新魏" pitchFamily="2" charset="-122"/>
                <a:cs typeface="Times New Roman"/>
              </a:rPr>
              <a:t>1.340g</a:t>
            </a:r>
            <a:r>
              <a:rPr lang="zh-CN" altLang="zh-CN" sz="2400" b="1" kern="100" dirty="0" smtClean="0">
                <a:latin typeface="Times New Roman"/>
                <a:ea typeface="华文新魏" pitchFamily="2" charset="-122"/>
                <a:cs typeface="Times New Roman"/>
              </a:rPr>
              <a:t>样品中含</a:t>
            </a:r>
            <a:r>
              <a:rPr lang="en-US" altLang="zh-CN" sz="2400" b="1" kern="100" dirty="0" smtClean="0">
                <a:latin typeface="Times New Roman"/>
                <a:ea typeface="华文新魏" pitchFamily="2" charset="-122"/>
                <a:cs typeface="Times New Roman"/>
              </a:rPr>
              <a:t>F 1.200×10</a:t>
            </a:r>
            <a:r>
              <a:rPr lang="en-US" altLang="zh-CN" sz="2400" b="1" kern="100" baseline="30000" dirty="0" smtClean="0">
                <a:latin typeface="Times New Roman"/>
                <a:ea typeface="华文新魏" pitchFamily="2" charset="-122"/>
                <a:cs typeface="Times New Roman"/>
              </a:rPr>
              <a:t>-3</a:t>
            </a:r>
            <a:r>
              <a:rPr lang="en-US" altLang="zh-CN" sz="2400" b="1" kern="100" dirty="0" smtClean="0">
                <a:latin typeface="Times New Roman"/>
                <a:ea typeface="华文新魏" pitchFamily="2" charset="-122"/>
                <a:cs typeface="Times New Roman"/>
              </a:rPr>
              <a:t>g</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zh-CN" altLang="zh-CN" sz="2400" b="1" kern="100" dirty="0" smtClean="0">
                <a:latin typeface="Times New Roman"/>
                <a:ea typeface="华文新魏" pitchFamily="2" charset="-122"/>
                <a:cs typeface="Times New Roman"/>
              </a:rPr>
              <a:t>已知</a:t>
            </a:r>
            <a:r>
              <a:rPr lang="en-US" altLang="zh-CN" sz="2400" b="1" kern="100" dirty="0" smtClean="0">
                <a:latin typeface="Times New Roman"/>
                <a:ea typeface="华文新魏" pitchFamily="2" charset="-122"/>
                <a:cs typeface="Times New Roman"/>
              </a:rPr>
              <a:t>M(SnF</a:t>
            </a:r>
            <a:r>
              <a:rPr lang="en-US" altLang="zh-CN" sz="2400" b="1" kern="100" baseline="-25000" dirty="0" smtClean="0">
                <a:latin typeface="Times New Roman"/>
                <a:ea typeface="华文新魏" pitchFamily="2" charset="-122"/>
                <a:cs typeface="Times New Roman"/>
              </a:rPr>
              <a:t>2</a:t>
            </a:r>
            <a:r>
              <a:rPr lang="en-US" altLang="zh-CN" sz="2400" b="1" kern="100" dirty="0" smtClean="0">
                <a:latin typeface="Times New Roman"/>
                <a:ea typeface="华文新魏" pitchFamily="2" charset="-122"/>
                <a:cs typeface="Times New Roman"/>
              </a:rPr>
              <a:t>)=156.7</a:t>
            </a:r>
            <a:r>
              <a:rPr lang="zh-CN" altLang="zh-CN" sz="2400" b="1" kern="100" dirty="0" smtClean="0">
                <a:latin typeface="Times New Roman"/>
                <a:ea typeface="华文新魏" pitchFamily="2" charset="-122"/>
                <a:cs typeface="Times New Roman"/>
              </a:rPr>
              <a:t>。问：</a:t>
            </a:r>
            <a:endParaRPr lang="zh-CN" altLang="zh-CN" sz="1050" kern="100" dirty="0" smtClean="0">
              <a:latin typeface="Calibri"/>
              <a:ea typeface="宋体"/>
              <a:cs typeface="Times New Roman"/>
            </a:endParaRPr>
          </a:p>
          <a:p>
            <a:pPr algn="just">
              <a:spcAft>
                <a:spcPts val="0"/>
              </a:spcAft>
              <a:defRPr/>
            </a:pPr>
            <a:r>
              <a:rPr lang="zh-CN" altLang="zh-CN" sz="2400" b="1" kern="100" dirty="0" smtClean="0">
                <a:latin typeface="Calibri"/>
                <a:ea typeface="宋体"/>
                <a:cs typeface="宋体"/>
              </a:rPr>
              <a:t>①</a:t>
            </a:r>
            <a:r>
              <a:rPr lang="zh-CN" altLang="zh-CN" sz="2400" b="1" kern="100" dirty="0" smtClean="0">
                <a:latin typeface="Times New Roman"/>
                <a:ea typeface="华文新魏" pitchFamily="2" charset="-122"/>
                <a:cs typeface="Times New Roman"/>
              </a:rPr>
              <a:t>样品中有多少</a:t>
            </a:r>
            <a:r>
              <a:rPr lang="en-US" altLang="zh-CN" sz="2400" b="1" kern="100" dirty="0" smtClean="0">
                <a:latin typeface="Times New Roman"/>
                <a:ea typeface="华文新魏" pitchFamily="2" charset="-122"/>
                <a:cs typeface="Times New Roman"/>
              </a:rPr>
              <a:t>g</a:t>
            </a:r>
            <a:r>
              <a:rPr lang="zh-CN" altLang="zh-CN" sz="2400" b="1" kern="100" dirty="0" smtClean="0">
                <a:latin typeface="Times New Roman"/>
                <a:ea typeface="华文新魏" pitchFamily="2" charset="-122"/>
                <a:cs typeface="Times New Roman"/>
              </a:rPr>
              <a:t>的</a:t>
            </a:r>
            <a:r>
              <a:rPr lang="en-US" altLang="zh-CN" sz="2400" b="1" kern="100" dirty="0" err="1" smtClean="0">
                <a:latin typeface="Times New Roman"/>
                <a:ea typeface="华文新魏" pitchFamily="2" charset="-122"/>
                <a:cs typeface="Times New Roman"/>
              </a:rPr>
              <a:t>SnF</a:t>
            </a:r>
            <a:r>
              <a:rPr lang="zh-CN" altLang="zh-CN" sz="2400" b="1" kern="100" baseline="-25000" dirty="0" smtClean="0">
                <a:latin typeface="Times New Roman"/>
                <a:ea typeface="华文新魏" pitchFamily="2" charset="-122"/>
                <a:cs typeface="Times New Roman"/>
              </a:rPr>
              <a:t>２</a:t>
            </a:r>
            <a:r>
              <a:rPr lang="zh-CN" altLang="zh-CN" sz="2400" b="1" kern="100" dirty="0" smtClean="0">
                <a:latin typeface="Times New Roman"/>
                <a:ea typeface="华文新魏" pitchFamily="2" charset="-122"/>
                <a:cs typeface="Times New Roman"/>
              </a:rPr>
              <a:t>。</a:t>
            </a:r>
            <a:endParaRPr lang="zh-CN" altLang="zh-CN" sz="1050" kern="100" dirty="0" smtClean="0">
              <a:latin typeface="Calibri"/>
              <a:ea typeface="宋体"/>
              <a:cs typeface="Times New Roman"/>
            </a:endParaRPr>
          </a:p>
          <a:p>
            <a:pPr algn="just">
              <a:spcAft>
                <a:spcPts val="0"/>
              </a:spcAft>
              <a:defRPr/>
            </a:pPr>
            <a:r>
              <a:rPr lang="zh-CN" altLang="zh-CN" sz="2400" b="1" kern="100" dirty="0" smtClean="0">
                <a:latin typeface="Calibri"/>
                <a:ea typeface="宋体"/>
                <a:cs typeface="宋体"/>
              </a:rPr>
              <a:t>②</a:t>
            </a:r>
            <a:r>
              <a:rPr lang="zh-CN" altLang="zh-CN" sz="2400" b="1" kern="100" dirty="0" smtClean="0">
                <a:latin typeface="Times New Roman"/>
                <a:ea typeface="华文新魏" pitchFamily="2" charset="-122"/>
                <a:cs typeface="Times New Roman"/>
              </a:rPr>
              <a:t>样品中</a:t>
            </a:r>
            <a:r>
              <a:rPr lang="en-US" altLang="zh-CN" sz="2400" b="1" kern="100" dirty="0" smtClean="0">
                <a:latin typeface="Times New Roman"/>
                <a:ea typeface="华文新魏" pitchFamily="2" charset="-122"/>
                <a:cs typeface="Times New Roman"/>
              </a:rPr>
              <a:t>SnF</a:t>
            </a:r>
            <a:r>
              <a:rPr lang="en-US" altLang="zh-CN" sz="2400" b="1" kern="100" baseline="-25000" dirty="0" smtClean="0">
                <a:latin typeface="Times New Roman"/>
                <a:ea typeface="华文新魏" pitchFamily="2" charset="-122"/>
                <a:cs typeface="Times New Roman"/>
              </a:rPr>
              <a:t>2</a:t>
            </a:r>
            <a:r>
              <a:rPr lang="zh-CN" altLang="zh-CN" sz="2400" b="1" kern="100" dirty="0" smtClean="0">
                <a:latin typeface="Times New Roman"/>
                <a:ea typeface="华文新魏" pitchFamily="2" charset="-122"/>
                <a:cs typeface="Times New Roman"/>
              </a:rPr>
              <a:t>的质量分数是多少？</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eaLnBrk="1" hangingPunct="1">
              <a:defRPr/>
            </a:pPr>
            <a:r>
              <a:rPr lang="zh-CN" altLang="zh-CN" sz="2400" b="1" kern="100" dirty="0" smtClean="0">
                <a:ea typeface="宋体"/>
                <a:cs typeface="宋体"/>
              </a:rPr>
              <a:t>①</a:t>
            </a:r>
            <a:r>
              <a:rPr lang="en-US" altLang="zh-CN" sz="2400" b="1" kern="100" dirty="0" smtClean="0">
                <a:latin typeface="Times New Roman"/>
                <a:ea typeface="华文新魏" pitchFamily="2" charset="-122"/>
              </a:rPr>
              <a:t>4.948×10</a:t>
            </a:r>
            <a:r>
              <a:rPr lang="en-US" altLang="zh-CN" sz="2400" b="1" kern="100" baseline="30000" dirty="0" smtClean="0">
                <a:latin typeface="Times New Roman"/>
                <a:ea typeface="华文新魏" pitchFamily="2" charset="-122"/>
              </a:rPr>
              <a:t>-3</a:t>
            </a:r>
            <a:r>
              <a:rPr lang="en-US" altLang="zh-CN" sz="2400" b="1" kern="100" dirty="0" smtClean="0">
                <a:latin typeface="Times New Roman"/>
                <a:ea typeface="华文新魏" pitchFamily="2" charset="-122"/>
              </a:rPr>
              <a:t>g</a:t>
            </a:r>
            <a:r>
              <a:rPr lang="zh-CN" altLang="zh-CN" sz="2400" b="1" kern="100" dirty="0" smtClean="0">
                <a:latin typeface="Times New Roman"/>
                <a:ea typeface="华文新魏" pitchFamily="2" charset="-122"/>
                <a:cs typeface="Times New Roman"/>
              </a:rPr>
              <a:t>；</a:t>
            </a:r>
            <a:r>
              <a:rPr lang="zh-CN" altLang="zh-CN" sz="2400" b="1" kern="100" dirty="0" smtClean="0">
                <a:ea typeface="宋体"/>
                <a:cs typeface="宋体"/>
              </a:rPr>
              <a:t>②</a:t>
            </a:r>
            <a:r>
              <a:rPr lang="en-US" altLang="zh-CN" sz="2400" b="1" kern="100" dirty="0" smtClean="0">
                <a:latin typeface="Times New Roman"/>
                <a:ea typeface="华文新魏" pitchFamily="2" charset="-122"/>
              </a:rPr>
              <a:t>0.37</a:t>
            </a:r>
            <a:r>
              <a:rPr lang="zh-CN" altLang="zh-CN" sz="2400" b="1" kern="100" dirty="0" smtClean="0">
                <a:latin typeface="Times New Roman"/>
                <a:ea typeface="华文新魏" pitchFamily="2" charset="-122"/>
                <a:cs typeface="Times New Roman"/>
              </a:rPr>
              <a:t>％</a:t>
            </a:r>
            <a:endParaRPr kumimoji="1" lang="en-US" altLang="zh-CN" sz="2400" b="1" dirty="0" smtClean="0">
              <a:ea typeface="华文新魏" pitchFamily="2" charset="-122"/>
            </a:endParaRPr>
          </a:p>
        </p:txBody>
      </p:sp>
      <p:sp>
        <p:nvSpPr>
          <p:cNvPr id="6151"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pSp>
        <p:nvGrpSpPr>
          <p:cNvPr id="11" name="组合 10"/>
          <p:cNvGrpSpPr>
            <a:grpSpLocks/>
          </p:cNvGrpSpPr>
          <p:nvPr/>
        </p:nvGrpSpPr>
        <p:grpSpPr bwMode="auto">
          <a:xfrm>
            <a:off x="6121400" y="1317625"/>
            <a:ext cx="1820863" cy="811213"/>
            <a:chOff x="7108554" y="1807568"/>
            <a:chExt cx="1820835" cy="811763"/>
          </a:xfrm>
        </p:grpSpPr>
        <p:sp>
          <p:nvSpPr>
            <p:cNvPr id="6163" name="Rectangle 12"/>
            <p:cNvSpPr>
              <a:spLocks noChangeArrowheads="1"/>
            </p:cNvSpPr>
            <p:nvPr/>
          </p:nvSpPr>
          <p:spPr bwMode="auto">
            <a:xfrm>
              <a:off x="7108554" y="2050414"/>
              <a:ext cx="812723"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i="1"/>
                <a:t>n</a:t>
              </a:r>
              <a:r>
                <a:rPr lang="en-US" altLang="zh-CN" sz="2400" b="1" i="1" baseline="-25000"/>
                <a:t>SnF2</a:t>
              </a:r>
              <a:r>
                <a:rPr lang="en-US" altLang="zh-CN" sz="2400" b="1" i="1"/>
                <a:t>=</a:t>
              </a:r>
              <a:endParaRPr lang="en-US" altLang="zh-CN" sz="2400" b="1" baseline="-25000"/>
            </a:p>
          </p:txBody>
        </p:sp>
        <p:cxnSp>
          <p:nvCxnSpPr>
            <p:cNvPr id="22" name="直接连接符 21"/>
            <p:cNvCxnSpPr/>
            <p:nvPr/>
          </p:nvCxnSpPr>
          <p:spPr>
            <a:xfrm>
              <a:off x="8110252" y="2244427"/>
              <a:ext cx="327020" cy="317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6165" name="Rectangle 12"/>
            <p:cNvSpPr>
              <a:spLocks noChangeArrowheads="1"/>
            </p:cNvSpPr>
            <p:nvPr/>
          </p:nvSpPr>
          <p:spPr bwMode="auto">
            <a:xfrm>
              <a:off x="8209309" y="1807568"/>
              <a:ext cx="228605" cy="369332"/>
            </a:xfrm>
            <a:prstGeom prst="rect">
              <a:avLst/>
            </a:prstGeom>
            <a:noFill/>
            <a:ln w="9525">
              <a:noFill/>
              <a:miter lim="800000"/>
              <a:headEnd/>
              <a:tailEnd/>
            </a:ln>
          </p:spPr>
          <p:txBody>
            <a:bodyPr lIns="0" tIns="0" rIns="0" bIns="0">
              <a:spAutoFit/>
            </a:bodyPr>
            <a:lstStyle/>
            <a:p>
              <a:pPr>
                <a:buFont typeface="Monotype Sorts" pitchFamily="2" charset="2"/>
                <a:buNone/>
              </a:pPr>
              <a:r>
                <a:rPr lang="en-US" altLang="zh-CN" sz="2400" b="1"/>
                <a:t>1</a:t>
              </a:r>
              <a:endParaRPr lang="en-US" altLang="zh-CN" sz="2400" b="1" baseline="-25000"/>
            </a:p>
          </p:txBody>
        </p:sp>
        <p:sp>
          <p:nvSpPr>
            <p:cNvPr id="6166" name="Rectangle 12"/>
            <p:cNvSpPr>
              <a:spLocks noChangeArrowheads="1"/>
            </p:cNvSpPr>
            <p:nvPr/>
          </p:nvSpPr>
          <p:spPr bwMode="auto">
            <a:xfrm>
              <a:off x="8220078" y="2249999"/>
              <a:ext cx="153888"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a:t>2</a:t>
              </a:r>
            </a:p>
          </p:txBody>
        </p:sp>
        <p:sp>
          <p:nvSpPr>
            <p:cNvPr id="6167" name="Rectangle 12"/>
            <p:cNvSpPr>
              <a:spLocks noChangeArrowheads="1"/>
            </p:cNvSpPr>
            <p:nvPr/>
          </p:nvSpPr>
          <p:spPr bwMode="auto">
            <a:xfrm>
              <a:off x="8621612" y="2006659"/>
              <a:ext cx="307777"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i="1"/>
                <a:t>n</a:t>
              </a:r>
              <a:r>
                <a:rPr lang="en-US" altLang="zh-CN" sz="2400" b="1" i="1" baseline="-25000"/>
                <a:t>F</a:t>
              </a:r>
              <a:endParaRPr lang="en-US" altLang="zh-CN" sz="2400" b="1" baseline="-25000"/>
            </a:p>
          </p:txBody>
        </p:sp>
      </p:grpSp>
      <p:grpSp>
        <p:nvGrpSpPr>
          <p:cNvPr id="12" name="组合 11"/>
          <p:cNvGrpSpPr>
            <a:grpSpLocks/>
          </p:cNvGrpSpPr>
          <p:nvPr/>
        </p:nvGrpSpPr>
        <p:grpSpPr bwMode="auto">
          <a:xfrm>
            <a:off x="8816975" y="1295400"/>
            <a:ext cx="1912938" cy="820738"/>
            <a:chOff x="7201197" y="2447999"/>
            <a:chExt cx="1912127" cy="820060"/>
          </a:xfrm>
        </p:grpSpPr>
        <p:sp>
          <p:nvSpPr>
            <p:cNvPr id="6156" name="Rectangle 12"/>
            <p:cNvSpPr>
              <a:spLocks noChangeArrowheads="1"/>
            </p:cNvSpPr>
            <p:nvPr/>
          </p:nvSpPr>
          <p:spPr bwMode="auto">
            <a:xfrm>
              <a:off x="8065293" y="2699142"/>
              <a:ext cx="174728"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i="1"/>
                <a:t>=</a:t>
              </a:r>
              <a:endParaRPr lang="en-US" altLang="zh-CN" sz="2400" b="1" baseline="-25000"/>
            </a:p>
          </p:txBody>
        </p:sp>
        <p:cxnSp>
          <p:nvCxnSpPr>
            <p:cNvPr id="21" name="直接连接符 20"/>
            <p:cNvCxnSpPr/>
            <p:nvPr/>
          </p:nvCxnSpPr>
          <p:spPr>
            <a:xfrm>
              <a:off x="8343712" y="2892132"/>
              <a:ext cx="769612"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6158" name="Rectangle 12"/>
            <p:cNvSpPr>
              <a:spLocks noChangeArrowheads="1"/>
            </p:cNvSpPr>
            <p:nvPr/>
          </p:nvSpPr>
          <p:spPr bwMode="auto">
            <a:xfrm>
              <a:off x="8540679" y="2456296"/>
              <a:ext cx="375103"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i="1"/>
                <a:t>m</a:t>
              </a:r>
              <a:r>
                <a:rPr lang="en-US" altLang="zh-CN" sz="2400" b="1" baseline="-25000"/>
                <a:t>F</a:t>
              </a:r>
            </a:p>
          </p:txBody>
        </p:sp>
        <p:sp>
          <p:nvSpPr>
            <p:cNvPr id="6159" name="Rectangle 12"/>
            <p:cNvSpPr>
              <a:spLocks noChangeArrowheads="1"/>
            </p:cNvSpPr>
            <p:nvPr/>
          </p:nvSpPr>
          <p:spPr bwMode="auto">
            <a:xfrm>
              <a:off x="8452522" y="2898727"/>
              <a:ext cx="569067"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a:t>2</a:t>
              </a:r>
              <a:r>
                <a:rPr lang="en-US" altLang="zh-CN" sz="2400" b="1" i="1"/>
                <a:t>M</a:t>
              </a:r>
              <a:r>
                <a:rPr lang="en-US" altLang="zh-CN" sz="2400" b="1" baseline="-25000"/>
                <a:t>F</a:t>
              </a:r>
              <a:endParaRPr lang="en-US" altLang="zh-CN" sz="2400" b="1"/>
            </a:p>
          </p:txBody>
        </p:sp>
        <p:cxnSp>
          <p:nvCxnSpPr>
            <p:cNvPr id="28" name="直接连接符 27"/>
            <p:cNvCxnSpPr/>
            <p:nvPr/>
          </p:nvCxnSpPr>
          <p:spPr>
            <a:xfrm>
              <a:off x="7201197" y="2884201"/>
              <a:ext cx="769612"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6161" name="Rectangle 12"/>
            <p:cNvSpPr>
              <a:spLocks noChangeArrowheads="1"/>
            </p:cNvSpPr>
            <p:nvPr/>
          </p:nvSpPr>
          <p:spPr bwMode="auto">
            <a:xfrm>
              <a:off x="7289354" y="2447999"/>
              <a:ext cx="694101"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i="1"/>
                <a:t>m</a:t>
              </a:r>
              <a:r>
                <a:rPr lang="en-US" altLang="zh-CN" sz="2400" b="1" baseline="-25000"/>
                <a:t>SnF2</a:t>
              </a:r>
            </a:p>
          </p:txBody>
        </p:sp>
        <p:sp>
          <p:nvSpPr>
            <p:cNvPr id="6162" name="Rectangle 12"/>
            <p:cNvSpPr>
              <a:spLocks noChangeArrowheads="1"/>
            </p:cNvSpPr>
            <p:nvPr/>
          </p:nvSpPr>
          <p:spPr bwMode="auto">
            <a:xfrm>
              <a:off x="7247888" y="2890430"/>
              <a:ext cx="745397" cy="369332"/>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i="1"/>
                <a:t>M</a:t>
              </a:r>
              <a:r>
                <a:rPr lang="en-US" altLang="zh-CN" sz="2400" b="1" baseline="-25000"/>
                <a:t>SnF2</a:t>
              </a:r>
              <a:endParaRPr lang="en-US" altLang="zh-CN" sz="2400" b="1"/>
            </a:p>
          </p:txBody>
        </p:sp>
      </p:grpSp>
      <p:sp>
        <p:nvSpPr>
          <p:cNvPr id="31" name="Rectangle 12"/>
          <p:cNvSpPr>
            <a:spLocks noChangeArrowheads="1"/>
          </p:cNvSpPr>
          <p:nvPr/>
        </p:nvSpPr>
        <p:spPr bwMode="auto">
          <a:xfrm>
            <a:off x="8216900" y="1511300"/>
            <a:ext cx="619125" cy="369888"/>
          </a:xfrm>
          <a:prstGeom prst="rect">
            <a:avLst/>
          </a:prstGeom>
          <a:noFill/>
          <a:ln w="9525">
            <a:noFill/>
            <a:miter lim="800000"/>
            <a:headEnd/>
            <a:tailEnd/>
          </a:ln>
        </p:spPr>
        <p:txBody>
          <a:bodyPr wrap="none" lIns="0" tIns="0" rIns="0" bIns="0">
            <a:spAutoFit/>
          </a:bodyPr>
          <a:lstStyle/>
          <a:p>
            <a:pPr>
              <a:buFont typeface="Monotype Sorts" pitchFamily="2" charset="2"/>
              <a:buNone/>
            </a:pPr>
            <a:r>
              <a:rPr lang="zh-CN" altLang="en-US" sz="2400" b="1" dirty="0">
                <a:latin typeface="华文新魏" pitchFamily="2" charset="-122"/>
                <a:ea typeface="华文新魏" pitchFamily="2" charset="-122"/>
              </a:rPr>
              <a:t>即：</a:t>
            </a:r>
            <a:endParaRPr lang="en-US" altLang="zh-CN" sz="2400" b="1" dirty="0">
              <a:latin typeface="华文新魏" pitchFamily="2" charset="-122"/>
              <a:ea typeface="华文新魏" pitchFamily="2" charset="-122"/>
            </a:endParaRPr>
          </a:p>
        </p:txBody>
      </p:sp>
      <p:sp>
        <p:nvSpPr>
          <p:cNvPr id="32" name="Rectangle 11"/>
          <p:cNvSpPr>
            <a:spLocks noChangeArrowheads="1"/>
          </p:cNvSpPr>
          <p:nvPr/>
        </p:nvSpPr>
        <p:spPr bwMode="auto">
          <a:xfrm>
            <a:off x="5976938" y="2274888"/>
            <a:ext cx="5329237" cy="1200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zh-CN" altLang="zh-CN" sz="2400" b="1" kern="100" dirty="0" smtClean="0">
                <a:latin typeface="Times New Roman"/>
                <a:ea typeface="华文新魏" pitchFamily="2" charset="-122"/>
                <a:cs typeface="Times New Roman"/>
              </a:rPr>
              <a:t>物质</a:t>
            </a:r>
            <a:r>
              <a:rPr lang="en-US" altLang="zh-CN" sz="2400" b="1" kern="100" dirty="0" smtClean="0">
                <a:latin typeface="Times New Roman"/>
                <a:ea typeface="华文新魏" pitchFamily="2" charset="-122"/>
              </a:rPr>
              <a:t>B</a:t>
            </a:r>
            <a:r>
              <a:rPr lang="zh-CN" altLang="zh-CN" sz="2400" b="1" kern="100" dirty="0" smtClean="0">
                <a:latin typeface="Times New Roman"/>
                <a:ea typeface="华文新魏" pitchFamily="2" charset="-122"/>
                <a:cs typeface="Times New Roman"/>
              </a:rPr>
              <a:t>的质量分数是指物质</a:t>
            </a:r>
            <a:r>
              <a:rPr lang="en-US" altLang="zh-CN" sz="2400" b="1" kern="100" dirty="0" smtClean="0">
                <a:latin typeface="Times New Roman"/>
                <a:ea typeface="华文新魏" pitchFamily="2" charset="-122"/>
              </a:rPr>
              <a:t>B</a:t>
            </a:r>
            <a:r>
              <a:rPr lang="zh-CN" altLang="zh-CN" sz="2400" b="1" kern="100" dirty="0" smtClean="0">
                <a:latin typeface="Times New Roman"/>
                <a:ea typeface="华文新魏" pitchFamily="2" charset="-122"/>
                <a:cs typeface="Times New Roman"/>
              </a:rPr>
              <a:t>的质量与混合物质量之比，</a:t>
            </a:r>
            <a:endParaRPr lang="en-US" altLang="zh-CN" sz="2400" b="1" kern="100" dirty="0" smtClean="0">
              <a:latin typeface="Times New Roman"/>
              <a:ea typeface="华文新魏" pitchFamily="2" charset="-122"/>
              <a:cs typeface="Times New Roman"/>
            </a:endParaRPr>
          </a:p>
          <a:p>
            <a:pPr algn="ctr">
              <a:defRPr/>
            </a:pPr>
            <a:r>
              <a:rPr lang="zh-CN" altLang="zh-CN" sz="2400" b="1" kern="100" dirty="0" smtClean="0">
                <a:latin typeface="Times New Roman"/>
                <a:ea typeface="华文新魏" pitchFamily="2" charset="-122"/>
                <a:cs typeface="Times New Roman"/>
              </a:rPr>
              <a:t>即：</a:t>
            </a:r>
            <a:r>
              <a:rPr lang="en-US" altLang="zh-CN" sz="2400" b="1" i="1" kern="100" dirty="0" err="1">
                <a:latin typeface="Times New Roman"/>
                <a:ea typeface="华文新魏" pitchFamily="2" charset="-122"/>
              </a:rPr>
              <a:t>w</a:t>
            </a:r>
            <a:r>
              <a:rPr lang="en-US" altLang="zh-CN" sz="2400" b="1" kern="100" baseline="-25000" dirty="0" err="1" smtClean="0">
                <a:latin typeface="Times New Roman"/>
                <a:ea typeface="华文新魏" pitchFamily="2" charset="-122"/>
              </a:rPr>
              <a:t>B</a:t>
            </a:r>
            <a:r>
              <a:rPr lang="en-US" altLang="zh-CN" sz="2400" b="1" kern="100" dirty="0" smtClean="0">
                <a:latin typeface="Times New Roman"/>
                <a:ea typeface="华文新魏" pitchFamily="2" charset="-122"/>
              </a:rPr>
              <a:t> = </a:t>
            </a:r>
            <a:r>
              <a:rPr lang="en-US" altLang="zh-CN" sz="2400" b="1" i="1" kern="100" dirty="0" err="1" smtClean="0">
                <a:latin typeface="Times New Roman"/>
                <a:ea typeface="华文新魏" pitchFamily="2" charset="-122"/>
              </a:rPr>
              <a:t>m</a:t>
            </a:r>
            <a:r>
              <a:rPr lang="en-US" altLang="zh-CN" sz="2400" b="1" kern="100" baseline="-25000" dirty="0" err="1" smtClean="0">
                <a:latin typeface="Times New Roman"/>
                <a:ea typeface="华文新魏" pitchFamily="2" charset="-122"/>
              </a:rPr>
              <a:t>B</a:t>
            </a:r>
            <a:r>
              <a:rPr lang="en-US" altLang="zh-CN" sz="2400" b="1" kern="100" dirty="0" smtClean="0">
                <a:latin typeface="Times New Roman"/>
                <a:ea typeface="华文新魏" pitchFamily="2" charset="-122"/>
              </a:rPr>
              <a:t> / </a:t>
            </a:r>
            <a:r>
              <a:rPr lang="en-US" altLang="zh-CN" sz="2400" b="1" i="1" kern="100" dirty="0" smtClean="0">
                <a:latin typeface="Times New Roman"/>
                <a:ea typeface="华文新魏" pitchFamily="2" charset="-122"/>
              </a:rPr>
              <a:t>m</a:t>
            </a:r>
            <a:endParaRPr kumimoji="1" lang="en-US" altLang="zh-CN" sz="2400" b="1" dirty="0" smtClean="0">
              <a:ea typeface="华文新魏" pitchFamily="2" charset="-122"/>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6" presetClass="entr" presetSubtype="21"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barn(inVertical)">
                                      <p:cBhvr>
                                        <p:cTn id="17" dur="500"/>
                                        <p:tgtEl>
                                          <p:spTgt spid="1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barn(inVertical)">
                                      <p:cBhvr>
                                        <p:cTn id="22" dur="500"/>
                                        <p:tgtEl>
                                          <p:spTgt spid="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6" presetClass="entr" presetSubtype="21"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arn(inVertical)">
                                      <p:cBhvr>
                                        <p:cTn id="27" dur="500"/>
                                        <p:tgtEl>
                                          <p:spTgt spid="1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2">
                                            <p:txEl>
                                              <p:pRg st="0" end="0"/>
                                            </p:txEl>
                                          </p:spTgt>
                                        </p:tgtEl>
                                        <p:attrNameLst>
                                          <p:attrName>style.visibility</p:attrName>
                                        </p:attrNameLst>
                                      </p:cBhvr>
                                      <p:to>
                                        <p:strVal val="visible"/>
                                      </p:to>
                                    </p:set>
                                    <p:animEffect transition="in" filter="checkerboard(across)">
                                      <p:cBhvr>
                                        <p:cTn id="32" dur="500"/>
                                        <p:tgtEl>
                                          <p:spTgt spid="32">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2">
                                            <p:txEl>
                                              <p:pRg st="1" end="1"/>
                                            </p:txEl>
                                          </p:spTgt>
                                        </p:tgtEl>
                                        <p:attrNameLst>
                                          <p:attrName>style.visibility</p:attrName>
                                        </p:attrNameLst>
                                      </p:cBhvr>
                                      <p:to>
                                        <p:strVal val="visible"/>
                                      </p:to>
                                    </p:set>
                                    <p:animEffect transition="in" filter="checkerboard(across)">
                                      <p:cBhvr>
                                        <p:cTn id="37" dur="500"/>
                                        <p:tgtEl>
                                          <p:spTgt spid="32">
                                            <p:txEl>
                                              <p:pRg st="1" end="1"/>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6">
                                            <p:txEl>
                                              <p:pRg st="0" end="0"/>
                                            </p:txEl>
                                          </p:spTgt>
                                        </p:tgtEl>
                                        <p:attrNameLst>
                                          <p:attrName>style.visibility</p:attrName>
                                        </p:attrNameLst>
                                      </p:cBhvr>
                                      <p:to>
                                        <p:strVal val="visible"/>
                                      </p:to>
                                    </p:set>
                                    <p:animEffect transition="in" filter="checkerboard(across)">
                                      <p:cBhvr>
                                        <p:cTn id="42" dur="500"/>
                                        <p:tgtEl>
                                          <p:spTgt spid="6">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8">
                                            <p:txEl>
                                              <p:pRg st="0" end="0"/>
                                            </p:txEl>
                                          </p:spTgt>
                                        </p:tgtEl>
                                        <p:attrNameLst>
                                          <p:attrName>style.visibility</p:attrName>
                                        </p:attrNameLst>
                                      </p:cBhvr>
                                      <p:to>
                                        <p:strVal val="visible"/>
                                      </p:to>
                                    </p:set>
                                    <p:animEffect transition="in" filter="checkerboard(across)">
                                      <p:cBhvr>
                                        <p:cTn id="4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P spid="31" grpId="0"/>
      <p:bldP spid="32"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1938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lgn="just">
              <a:spcAft>
                <a:spcPts val="0"/>
              </a:spcAft>
              <a:defRPr/>
            </a:pPr>
            <a:r>
              <a:rPr lang="zh-CN" altLang="zh-CN" sz="2400" b="1" kern="100" dirty="0">
                <a:latin typeface="Times New Roman"/>
                <a:ea typeface="华文新魏" pitchFamily="2" charset="-122"/>
                <a:cs typeface="Times New Roman"/>
              </a:rPr>
              <a:t>对于确定的化学反应</a:t>
            </a:r>
            <a:r>
              <a:rPr lang="en-US" altLang="zh-CN" sz="2400" b="1" kern="100" dirty="0" smtClean="0">
                <a:latin typeface="Times New Roman"/>
                <a:ea typeface="华文新魏" pitchFamily="2" charset="-122"/>
                <a:cs typeface="Times New Roman"/>
              </a:rPr>
              <a:t>:</a:t>
            </a:r>
          </a:p>
          <a:p>
            <a:pPr algn="ctr">
              <a:spcAft>
                <a:spcPts val="0"/>
              </a:spcAft>
              <a:defRPr/>
            </a:pPr>
            <a:r>
              <a:rPr lang="en-US" altLang="zh-CN" sz="2400" b="1" i="1" kern="100" dirty="0" err="1" smtClean="0">
                <a:latin typeface="Times New Roman"/>
                <a:ea typeface="华文新魏" pitchFamily="2" charset="-122"/>
                <a:cs typeface="Times New Roman"/>
              </a:rPr>
              <a:t>a</a:t>
            </a:r>
            <a:r>
              <a:rPr lang="en-US" altLang="zh-CN" sz="2400" b="1" kern="100" dirty="0" err="1" smtClean="0">
                <a:latin typeface="Times New Roman"/>
                <a:ea typeface="华文新魏" pitchFamily="2" charset="-122"/>
                <a:cs typeface="Times New Roman"/>
              </a:rPr>
              <a:t>A</a:t>
            </a:r>
            <a:r>
              <a:rPr lang="en-US" altLang="zh-CN" sz="2400" b="1" kern="100" dirty="0" smtClean="0">
                <a:latin typeface="Times New Roman"/>
                <a:ea typeface="华文新魏" pitchFamily="2" charset="-122"/>
                <a:cs typeface="Times New Roman"/>
              </a:rPr>
              <a:t> </a:t>
            </a:r>
            <a:r>
              <a:rPr lang="en-US" altLang="zh-CN" sz="2400" b="1" kern="100" dirty="0">
                <a:latin typeface="Times New Roman"/>
                <a:ea typeface="华文新魏" pitchFamily="2" charset="-122"/>
                <a:cs typeface="Times New Roman"/>
              </a:rPr>
              <a:t>+ </a:t>
            </a:r>
            <a:r>
              <a:rPr lang="en-US" altLang="zh-CN" sz="2400" b="1" i="1" kern="100" dirty="0" err="1">
                <a:latin typeface="Times New Roman"/>
                <a:ea typeface="华文新魏" pitchFamily="2" charset="-122"/>
                <a:cs typeface="Times New Roman"/>
              </a:rPr>
              <a:t>b</a:t>
            </a:r>
            <a:r>
              <a:rPr lang="en-US" altLang="zh-CN" sz="2400" b="1" kern="100" dirty="0" err="1">
                <a:latin typeface="Times New Roman"/>
                <a:ea typeface="华文新魏" pitchFamily="2" charset="-122"/>
                <a:cs typeface="Times New Roman"/>
              </a:rPr>
              <a:t>B</a:t>
            </a:r>
            <a:r>
              <a:rPr lang="en-US" altLang="zh-CN" sz="2400" b="1" kern="100" dirty="0">
                <a:latin typeface="Times New Roman"/>
                <a:ea typeface="华文新魏" pitchFamily="2" charset="-122"/>
                <a:cs typeface="Times New Roman"/>
              </a:rPr>
              <a:t> = </a:t>
            </a:r>
            <a:r>
              <a:rPr lang="en-US" altLang="zh-CN" sz="2400" b="1" i="1" kern="100" dirty="0" err="1">
                <a:latin typeface="Times New Roman"/>
                <a:ea typeface="华文新魏" pitchFamily="2" charset="-122"/>
                <a:cs typeface="Times New Roman"/>
              </a:rPr>
              <a:t>c</a:t>
            </a:r>
            <a:r>
              <a:rPr lang="en-US" altLang="zh-CN" sz="2400" b="1" kern="100" dirty="0" err="1">
                <a:latin typeface="Times New Roman"/>
                <a:ea typeface="华文新魏" pitchFamily="2" charset="-122"/>
                <a:cs typeface="Times New Roman"/>
              </a:rPr>
              <a:t>C</a:t>
            </a:r>
            <a:r>
              <a:rPr lang="en-US" altLang="zh-CN" sz="2400" b="1" kern="100" dirty="0">
                <a:latin typeface="Times New Roman"/>
                <a:ea typeface="华文新魏" pitchFamily="2" charset="-122"/>
                <a:cs typeface="Times New Roman"/>
              </a:rPr>
              <a:t> + </a:t>
            </a:r>
            <a:r>
              <a:rPr lang="en-US" altLang="zh-CN" sz="2400" b="1" i="1" kern="100" dirty="0" err="1">
                <a:latin typeface="Times New Roman"/>
                <a:ea typeface="华文新魏" pitchFamily="2" charset="-122"/>
                <a:cs typeface="Times New Roman"/>
              </a:rPr>
              <a:t>d</a:t>
            </a:r>
            <a:r>
              <a:rPr lang="en-US" altLang="zh-CN" sz="2400" b="1" kern="100" dirty="0" err="1">
                <a:latin typeface="Times New Roman"/>
                <a:ea typeface="华文新魏" pitchFamily="2" charset="-122"/>
                <a:cs typeface="Times New Roman"/>
              </a:rPr>
              <a:t>D</a:t>
            </a:r>
            <a:endParaRPr lang="zh-CN" altLang="zh-CN" sz="1050" kern="100" dirty="0">
              <a:latin typeface="Calibri"/>
              <a:ea typeface="宋体"/>
              <a:cs typeface="Times New Roman"/>
            </a:endParaRPr>
          </a:p>
          <a:p>
            <a:pPr>
              <a:defRPr/>
            </a:pPr>
            <a:r>
              <a:rPr lang="zh-CN" altLang="zh-CN" sz="2400" b="1" kern="100" dirty="0">
                <a:latin typeface="Times New Roman"/>
                <a:ea typeface="华文新魏" pitchFamily="2" charset="-122"/>
                <a:cs typeface="Times New Roman"/>
              </a:rPr>
              <a:t>物质</a:t>
            </a:r>
            <a:r>
              <a:rPr lang="en-US" altLang="zh-CN" sz="2400" b="1" kern="100" dirty="0">
                <a:latin typeface="Times New Roman"/>
                <a:ea typeface="华文新魏" pitchFamily="2" charset="-122"/>
              </a:rPr>
              <a:t>B</a:t>
            </a:r>
            <a:r>
              <a:rPr lang="zh-CN" altLang="zh-CN" sz="2400" b="1" kern="100" dirty="0">
                <a:latin typeface="Times New Roman"/>
                <a:ea typeface="华文新魏" pitchFamily="2" charset="-122"/>
                <a:cs typeface="Times New Roman"/>
              </a:rPr>
              <a:t>的量与物质</a:t>
            </a:r>
            <a:r>
              <a:rPr lang="en-US" altLang="zh-CN" sz="2400" b="1" kern="100" dirty="0">
                <a:latin typeface="Times New Roman"/>
                <a:ea typeface="华文新魏" pitchFamily="2" charset="-122"/>
              </a:rPr>
              <a:t>A</a:t>
            </a:r>
            <a:r>
              <a:rPr lang="zh-CN" altLang="zh-CN" sz="2400" b="1" kern="100" dirty="0">
                <a:latin typeface="Times New Roman"/>
                <a:ea typeface="华文新魏" pitchFamily="2" charset="-122"/>
                <a:cs typeface="Times New Roman"/>
              </a:rPr>
              <a:t>的量之间存在以下关系</a:t>
            </a:r>
            <a:r>
              <a:rPr lang="en-US" altLang="zh-CN" sz="2400" b="1" kern="100" dirty="0" smtClean="0">
                <a:latin typeface="Times New Roman"/>
                <a:ea typeface="华文新魏" pitchFamily="2" charset="-122"/>
              </a:rPr>
              <a:t>:</a:t>
            </a:r>
          </a:p>
          <a:p>
            <a:pPr algn="ctr">
              <a:defRPr/>
            </a:pPr>
            <a:r>
              <a:rPr lang="en-US" altLang="zh-CN" sz="2400" b="1" i="1" kern="100" dirty="0" err="1" smtClean="0">
                <a:latin typeface="Times New Roman"/>
                <a:ea typeface="华文新魏" pitchFamily="2" charset="-122"/>
              </a:rPr>
              <a:t>n</a:t>
            </a:r>
            <a:r>
              <a:rPr lang="en-US" altLang="zh-CN" sz="2400" b="1" kern="100" baseline="-25000" dirty="0" err="1" smtClean="0">
                <a:latin typeface="Times New Roman"/>
                <a:ea typeface="华文新魏" pitchFamily="2" charset="-122"/>
              </a:rPr>
              <a:t>B</a:t>
            </a:r>
            <a:r>
              <a:rPr lang="en-US" altLang="zh-CN" sz="2400" b="1" kern="100" dirty="0" smtClean="0">
                <a:latin typeface="Times New Roman"/>
                <a:ea typeface="华文新魏" pitchFamily="2" charset="-122"/>
              </a:rPr>
              <a:t> </a:t>
            </a:r>
            <a:r>
              <a:rPr lang="en-US" altLang="zh-CN" sz="2400" b="1" kern="100" dirty="0">
                <a:latin typeface="Times New Roman"/>
                <a:ea typeface="华文新魏" pitchFamily="2" charset="-122"/>
              </a:rPr>
              <a:t>= (</a:t>
            </a:r>
            <a:r>
              <a:rPr lang="en-US" altLang="zh-CN" sz="2400" b="1" i="1" kern="100" dirty="0">
                <a:latin typeface="Times New Roman"/>
                <a:ea typeface="华文新魏" pitchFamily="2" charset="-122"/>
              </a:rPr>
              <a:t>b</a:t>
            </a:r>
            <a:r>
              <a:rPr lang="en-US" altLang="zh-CN" sz="2400" b="1" kern="100" dirty="0">
                <a:latin typeface="Times New Roman"/>
                <a:ea typeface="华文新魏" pitchFamily="2" charset="-122"/>
              </a:rPr>
              <a:t> / </a:t>
            </a:r>
            <a:r>
              <a:rPr lang="en-US" altLang="zh-CN" sz="2400" b="1" i="1" kern="100" dirty="0">
                <a:latin typeface="Times New Roman"/>
                <a:ea typeface="华文新魏" pitchFamily="2" charset="-122"/>
              </a:rPr>
              <a:t>a</a:t>
            </a:r>
            <a:r>
              <a:rPr lang="en-US" altLang="zh-CN" sz="2400" b="1" kern="100" dirty="0">
                <a:latin typeface="Times New Roman"/>
                <a:ea typeface="华文新魏" pitchFamily="2" charset="-122"/>
              </a:rPr>
              <a:t>)</a:t>
            </a:r>
            <a:r>
              <a:rPr lang="en-US" altLang="zh-CN" sz="2400" b="1" i="1" kern="100" dirty="0">
                <a:latin typeface="Times New Roman"/>
                <a:ea typeface="华文新魏" pitchFamily="2" charset="-122"/>
              </a:rPr>
              <a:t> </a:t>
            </a:r>
            <a:r>
              <a:rPr lang="en-US" altLang="zh-CN" sz="2400" b="1" i="1" kern="100" dirty="0" err="1">
                <a:latin typeface="Times New Roman"/>
                <a:ea typeface="华文新魏" pitchFamily="2" charset="-122"/>
              </a:rPr>
              <a:t>n</a:t>
            </a:r>
            <a:r>
              <a:rPr lang="en-US" altLang="zh-CN" sz="2400" b="1" kern="100" baseline="-25000" dirty="0" err="1">
                <a:latin typeface="Times New Roman"/>
                <a:ea typeface="华文新魏" pitchFamily="2" charset="-122"/>
              </a:rPr>
              <a:t>A</a:t>
            </a:r>
            <a:r>
              <a:rPr lang="en-US" altLang="zh-CN" sz="2400" b="1" kern="100" baseline="-25000" dirty="0">
                <a:latin typeface="Times New Roman"/>
                <a:ea typeface="华文新魏" pitchFamily="2" charset="-122"/>
              </a:rPr>
              <a:t> </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88923" y="357012"/>
            <a:ext cx="5329238" cy="19543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1-6</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胃酸</a:t>
            </a:r>
            <a:r>
              <a:rPr lang="zh-CN" altLang="zh-CN" sz="2400" b="1" kern="100" dirty="0">
                <a:latin typeface="Times New Roman"/>
                <a:ea typeface="华文新魏" pitchFamily="2" charset="-122"/>
                <a:cs typeface="Times New Roman"/>
              </a:rPr>
              <a:t>中</a:t>
            </a:r>
            <a:r>
              <a:rPr lang="en-US" altLang="zh-CN" sz="2400" b="1" kern="100" dirty="0" err="1">
                <a:latin typeface="Times New Roman"/>
                <a:ea typeface="华文新魏" pitchFamily="2" charset="-122"/>
                <a:cs typeface="Times New Roman"/>
              </a:rPr>
              <a:t>HCl</a:t>
            </a:r>
            <a:r>
              <a:rPr lang="zh-CN" altLang="zh-CN" sz="2400" b="1" kern="100" dirty="0">
                <a:latin typeface="Times New Roman"/>
                <a:ea typeface="华文新魏" pitchFamily="2" charset="-122"/>
                <a:cs typeface="Times New Roman"/>
              </a:rPr>
              <a:t>的近似浓度</a:t>
            </a:r>
            <a:r>
              <a:rPr lang="en-US" altLang="zh-CN" sz="2400" b="1" i="1" kern="100" dirty="0">
                <a:latin typeface="Times New Roman"/>
                <a:ea typeface="华文新魏" pitchFamily="2" charset="-122"/>
                <a:cs typeface="Times New Roman"/>
              </a:rPr>
              <a:t>c</a:t>
            </a:r>
            <a:r>
              <a:rPr lang="en-US" altLang="zh-CN" sz="2400" b="1" kern="100" dirty="0">
                <a:latin typeface="Times New Roman"/>
                <a:ea typeface="华文新魏" pitchFamily="2" charset="-122"/>
                <a:cs typeface="Times New Roman"/>
              </a:rPr>
              <a:t>(</a:t>
            </a:r>
            <a:r>
              <a:rPr lang="en-US" altLang="zh-CN" sz="2400" b="1" kern="100" dirty="0" err="1">
                <a:latin typeface="Times New Roman"/>
                <a:ea typeface="华文新魏" pitchFamily="2" charset="-122"/>
                <a:cs typeface="Times New Roman"/>
              </a:rPr>
              <a:t>HCl</a:t>
            </a:r>
            <a:r>
              <a:rPr lang="en-US" altLang="zh-CN" sz="2400" b="1" kern="100" dirty="0">
                <a:latin typeface="Times New Roman"/>
                <a:ea typeface="华文新魏" pitchFamily="2" charset="-122"/>
                <a:cs typeface="Times New Roman"/>
              </a:rPr>
              <a:t>) = 0.170 mol·L</a:t>
            </a:r>
            <a:r>
              <a:rPr lang="en-US" altLang="zh-CN" sz="2400" b="1" kern="100" baseline="30000" dirty="0">
                <a:latin typeface="Times New Roman"/>
                <a:ea typeface="华文新魏" pitchFamily="2" charset="-122"/>
                <a:cs typeface="Times New Roman"/>
              </a:rPr>
              <a:t>-1</a:t>
            </a:r>
            <a:r>
              <a:rPr lang="zh-CN" altLang="zh-CN" sz="2400" b="1" kern="100" dirty="0">
                <a:latin typeface="Times New Roman"/>
                <a:ea typeface="华文新魏" pitchFamily="2" charset="-122"/>
                <a:cs typeface="Times New Roman"/>
              </a:rPr>
              <a:t>。计算中和</a:t>
            </a:r>
            <a:r>
              <a:rPr lang="en-US" altLang="zh-CN" sz="2400" b="1" kern="100" dirty="0" smtClean="0">
                <a:latin typeface="Times New Roman"/>
                <a:ea typeface="华文新魏" pitchFamily="2" charset="-122"/>
                <a:cs typeface="Times New Roman"/>
              </a:rPr>
              <a:t>50.0mL</a:t>
            </a:r>
            <a:r>
              <a:rPr lang="zh-CN" altLang="zh-CN" sz="2400" b="1" kern="100" dirty="0" smtClean="0">
                <a:latin typeface="Times New Roman"/>
                <a:ea typeface="华文新魏" pitchFamily="2" charset="-122"/>
                <a:cs typeface="Times New Roman"/>
              </a:rPr>
              <a:t>这种</a:t>
            </a:r>
            <a:r>
              <a:rPr lang="zh-CN" altLang="zh-CN" sz="2400" b="1" kern="100" dirty="0">
                <a:latin typeface="Times New Roman"/>
                <a:ea typeface="华文新魏" pitchFamily="2" charset="-122"/>
                <a:cs typeface="Times New Roman"/>
              </a:rPr>
              <a:t>酸所需的下列抗酸剂的质量：</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①</a:t>
            </a:r>
            <a:r>
              <a:rPr lang="en-US" altLang="zh-CN" sz="2400" b="1" kern="100" dirty="0">
                <a:latin typeface="Times New Roman"/>
                <a:ea typeface="华文新魏" pitchFamily="2" charset="-122"/>
                <a:cs typeface="Times New Roman"/>
              </a:rPr>
              <a:t>NaHCO</a:t>
            </a:r>
            <a:r>
              <a:rPr lang="en-US" altLang="zh-CN" sz="2400" b="1" kern="100" baseline="-25000" dirty="0">
                <a:latin typeface="Times New Roman"/>
                <a:ea typeface="华文新魏" pitchFamily="2" charset="-122"/>
                <a:cs typeface="Times New Roman"/>
              </a:rPr>
              <a:t>3</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     </a:t>
            </a:r>
            <a:r>
              <a:rPr lang="zh-CN" altLang="zh-CN" sz="2400" b="1" kern="100" dirty="0">
                <a:latin typeface="Calibri"/>
                <a:ea typeface="宋体"/>
                <a:cs typeface="宋体"/>
              </a:rPr>
              <a:t>②</a:t>
            </a:r>
            <a:r>
              <a:rPr lang="en-US" altLang="zh-CN" sz="2400" b="1" kern="100" dirty="0" smtClean="0">
                <a:latin typeface="Times New Roman"/>
                <a:ea typeface="华文新魏" pitchFamily="2" charset="-122"/>
                <a:cs typeface="Times New Roman"/>
              </a:rPr>
              <a:t>Al(OH)</a:t>
            </a:r>
            <a:r>
              <a:rPr lang="en-US" altLang="zh-CN" sz="2400" b="1" kern="100" baseline="-25000" dirty="0" smtClean="0">
                <a:latin typeface="Times New Roman"/>
                <a:ea typeface="华文新魏" pitchFamily="2" charset="-122"/>
                <a:cs typeface="Times New Roman"/>
              </a:rPr>
              <a:t>3</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zh-CN" altLang="zh-CN" sz="2400" b="1" kern="100" dirty="0" smtClean="0">
                <a:solidFill>
                  <a:srgbClr val="FFFFFF"/>
                </a:solidFill>
                <a:latin typeface="Calibri"/>
                <a:ea typeface="宋体"/>
                <a:cs typeface="宋体"/>
              </a:rPr>
              <a:t>① </a:t>
            </a:r>
            <a:r>
              <a:rPr lang="en-US" altLang="zh-CN" sz="2400" b="1" kern="100" dirty="0" smtClean="0">
                <a:latin typeface="Times New Roman"/>
                <a:ea typeface="华文新魏" pitchFamily="2" charset="-122"/>
              </a:rPr>
              <a:t>0.714g</a:t>
            </a:r>
            <a:r>
              <a:rPr lang="zh-CN" altLang="zh-CN" sz="2400" b="1" kern="100" dirty="0" smtClean="0">
                <a:latin typeface="Times New Roman"/>
                <a:ea typeface="华文新魏" pitchFamily="2" charset="-122"/>
                <a:cs typeface="Times New Roman"/>
              </a:rPr>
              <a:t>；</a:t>
            </a:r>
            <a:r>
              <a:rPr lang="zh-CN" altLang="zh-CN" sz="2400" b="1" kern="100" dirty="0" smtClean="0">
                <a:ea typeface="宋体"/>
                <a:cs typeface="宋体"/>
              </a:rPr>
              <a:t>②</a:t>
            </a:r>
            <a:r>
              <a:rPr lang="en-US" altLang="zh-CN" sz="2400" b="1" kern="100" dirty="0" smtClean="0">
                <a:latin typeface="Times New Roman"/>
                <a:ea typeface="华文新魏" pitchFamily="2" charset="-122"/>
              </a:rPr>
              <a:t>0.221g</a:t>
            </a:r>
            <a:endParaRPr kumimoji="1" lang="en-US" altLang="zh-CN" sz="2400" b="1" dirty="0" smtClean="0">
              <a:ea typeface="华文新魏" pitchFamily="2" charset="-122"/>
            </a:endParaRPr>
          </a:p>
        </p:txBody>
      </p:sp>
      <p:sp>
        <p:nvSpPr>
          <p:cNvPr id="7175"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xEl>
                                              <p:pRg st="0" end="0"/>
                                            </p:txEl>
                                          </p:spTgt>
                                        </p:tgtEl>
                                        <p:attrNameLst>
                                          <p:attrName>style.visibility</p:attrName>
                                        </p:attrNameLst>
                                      </p:cBhvr>
                                      <p:to>
                                        <p:strVal val="visible"/>
                                      </p:to>
                                    </p:set>
                                    <p:animEffect transition="in" filter="checkerboard(across)">
                                      <p:cBhvr>
                                        <p:cTn id="32" dur="500"/>
                                        <p:tgtEl>
                                          <p:spTgt spid="6">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8">
                                            <p:txEl>
                                              <p:pRg st="0" end="0"/>
                                            </p:txEl>
                                          </p:spTgt>
                                        </p:tgtEl>
                                        <p:attrNameLst>
                                          <p:attrName>style.visibility</p:attrName>
                                        </p:attrNameLst>
                                      </p:cBhvr>
                                      <p:to>
                                        <p:strVal val="visible"/>
                                      </p:to>
                                    </p:set>
                                    <p:animEffect transition="in" filter="checkerboard(across)">
                                      <p:cBhvr>
                                        <p:cTn id="3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2308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lgn="just">
              <a:spcAft>
                <a:spcPts val="0"/>
              </a:spcAft>
              <a:defRPr/>
            </a:pPr>
            <a:r>
              <a:rPr lang="zh-CN" altLang="zh-CN" sz="2400" b="1" kern="100" dirty="0">
                <a:latin typeface="Times New Roman"/>
                <a:ea typeface="华文新魏" pitchFamily="2" charset="-122"/>
                <a:cs typeface="Times New Roman"/>
              </a:rPr>
              <a:t>对于确定的化学反应</a:t>
            </a:r>
            <a:r>
              <a:rPr lang="en-US" altLang="zh-CN" sz="2400" b="1" kern="100" dirty="0" smtClean="0">
                <a:latin typeface="Times New Roman"/>
                <a:ea typeface="华文新魏" pitchFamily="2" charset="-122"/>
                <a:cs typeface="Times New Roman"/>
              </a:rPr>
              <a:t>:</a:t>
            </a:r>
          </a:p>
          <a:p>
            <a:pPr algn="ctr">
              <a:spcAft>
                <a:spcPts val="0"/>
              </a:spcAft>
              <a:defRPr/>
            </a:pPr>
            <a:r>
              <a:rPr lang="en-US" altLang="zh-CN" sz="2400" b="1" i="1" kern="100" dirty="0" err="1" smtClean="0">
                <a:latin typeface="Times New Roman"/>
                <a:ea typeface="华文新魏" pitchFamily="2" charset="-122"/>
                <a:cs typeface="Times New Roman"/>
              </a:rPr>
              <a:t>a</a:t>
            </a:r>
            <a:r>
              <a:rPr lang="en-US" altLang="zh-CN" sz="2400" b="1" kern="100" dirty="0" err="1" smtClean="0">
                <a:latin typeface="Times New Roman"/>
                <a:ea typeface="华文新魏" pitchFamily="2" charset="-122"/>
                <a:cs typeface="Times New Roman"/>
              </a:rPr>
              <a:t>A</a:t>
            </a:r>
            <a:r>
              <a:rPr lang="en-US" altLang="zh-CN" sz="2400" b="1" kern="100" dirty="0" smtClean="0">
                <a:latin typeface="Times New Roman"/>
                <a:ea typeface="华文新魏" pitchFamily="2" charset="-122"/>
                <a:cs typeface="Times New Roman"/>
              </a:rPr>
              <a:t> </a:t>
            </a:r>
            <a:r>
              <a:rPr lang="en-US" altLang="zh-CN" sz="2400" b="1" kern="100" dirty="0">
                <a:latin typeface="Times New Roman"/>
                <a:ea typeface="华文新魏" pitchFamily="2" charset="-122"/>
                <a:cs typeface="Times New Roman"/>
              </a:rPr>
              <a:t>+ </a:t>
            </a:r>
            <a:r>
              <a:rPr lang="en-US" altLang="zh-CN" sz="2400" b="1" i="1" kern="100" dirty="0" err="1">
                <a:latin typeface="Times New Roman"/>
                <a:ea typeface="华文新魏" pitchFamily="2" charset="-122"/>
                <a:cs typeface="Times New Roman"/>
              </a:rPr>
              <a:t>b</a:t>
            </a:r>
            <a:r>
              <a:rPr lang="en-US" altLang="zh-CN" sz="2400" b="1" kern="100" dirty="0" err="1">
                <a:latin typeface="Times New Roman"/>
                <a:ea typeface="华文新魏" pitchFamily="2" charset="-122"/>
                <a:cs typeface="Times New Roman"/>
              </a:rPr>
              <a:t>B</a:t>
            </a:r>
            <a:r>
              <a:rPr lang="en-US" altLang="zh-CN" sz="2400" b="1" kern="100" dirty="0">
                <a:latin typeface="Times New Roman"/>
                <a:ea typeface="华文新魏" pitchFamily="2" charset="-122"/>
                <a:cs typeface="Times New Roman"/>
              </a:rPr>
              <a:t> = </a:t>
            </a:r>
            <a:r>
              <a:rPr lang="en-US" altLang="zh-CN" sz="2400" b="1" i="1" kern="100" dirty="0" err="1">
                <a:latin typeface="Times New Roman"/>
                <a:ea typeface="华文新魏" pitchFamily="2" charset="-122"/>
                <a:cs typeface="Times New Roman"/>
              </a:rPr>
              <a:t>c</a:t>
            </a:r>
            <a:r>
              <a:rPr lang="en-US" altLang="zh-CN" sz="2400" b="1" kern="100" dirty="0" err="1">
                <a:latin typeface="Times New Roman"/>
                <a:ea typeface="华文新魏" pitchFamily="2" charset="-122"/>
                <a:cs typeface="Times New Roman"/>
              </a:rPr>
              <a:t>C</a:t>
            </a:r>
            <a:r>
              <a:rPr lang="en-US" altLang="zh-CN" sz="2400" b="1" kern="100" dirty="0">
                <a:latin typeface="Times New Roman"/>
                <a:ea typeface="华文新魏" pitchFamily="2" charset="-122"/>
                <a:cs typeface="Times New Roman"/>
              </a:rPr>
              <a:t> + </a:t>
            </a:r>
            <a:r>
              <a:rPr lang="en-US" altLang="zh-CN" sz="2400" b="1" i="1" kern="100" dirty="0" err="1" smtClean="0">
                <a:latin typeface="Times New Roman"/>
                <a:ea typeface="华文新魏" pitchFamily="2" charset="-122"/>
                <a:cs typeface="Times New Roman"/>
              </a:rPr>
              <a:t>d</a:t>
            </a:r>
            <a:r>
              <a:rPr lang="en-US" altLang="zh-CN" sz="2400" b="1" kern="100" dirty="0" err="1" smtClean="0">
                <a:latin typeface="Times New Roman"/>
                <a:ea typeface="华文新魏" pitchFamily="2" charset="-122"/>
                <a:cs typeface="Times New Roman"/>
              </a:rPr>
              <a:t>D</a:t>
            </a:r>
            <a:endParaRPr lang="en-US" altLang="zh-CN" sz="2400" b="1" kern="100" dirty="0" smtClean="0">
              <a:latin typeface="Times New Roman"/>
              <a:ea typeface="华文新魏" pitchFamily="2" charset="-122"/>
              <a:cs typeface="Times New Roman"/>
            </a:endParaRPr>
          </a:p>
          <a:p>
            <a:pPr>
              <a:spcAft>
                <a:spcPts val="0"/>
              </a:spcAft>
              <a:defRPr/>
            </a:pPr>
            <a:r>
              <a:rPr lang="zh-CN" altLang="zh-CN" sz="2400" b="1" kern="100" dirty="0" smtClean="0">
                <a:latin typeface="Times New Roman"/>
                <a:ea typeface="华文新魏" pitchFamily="2" charset="-122"/>
                <a:cs typeface="Times New Roman"/>
              </a:rPr>
              <a:t>存在</a:t>
            </a:r>
            <a:r>
              <a:rPr lang="zh-CN" altLang="zh-CN" sz="2400" b="1" kern="100" dirty="0">
                <a:latin typeface="Times New Roman"/>
                <a:ea typeface="华文新魏" pitchFamily="2" charset="-122"/>
                <a:cs typeface="Times New Roman"/>
              </a:rPr>
              <a:t>如下关系</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algn="ctr">
              <a:spcAft>
                <a:spcPts val="0"/>
              </a:spcAft>
              <a:defRPr/>
            </a:pPr>
            <a:r>
              <a:rPr lang="en-US" altLang="zh-CN" sz="2400" b="1" i="1" kern="100" dirty="0" err="1" smtClean="0">
                <a:latin typeface="Times New Roman"/>
                <a:ea typeface="华文新魏" pitchFamily="2" charset="-122"/>
                <a:cs typeface="Times New Roman"/>
              </a:rPr>
              <a:t>n</a:t>
            </a:r>
            <a:r>
              <a:rPr lang="en-US" altLang="zh-CN" sz="2400" b="1" kern="100" baseline="-25000" dirty="0" err="1" smtClean="0">
                <a:latin typeface="Times New Roman"/>
                <a:ea typeface="华文新魏" pitchFamily="2" charset="-122"/>
                <a:cs typeface="Times New Roman"/>
              </a:rPr>
              <a:t>B</a:t>
            </a:r>
            <a:r>
              <a:rPr lang="en-US" altLang="zh-CN" sz="2400" b="1" kern="100" dirty="0" smtClean="0">
                <a:latin typeface="Times New Roman"/>
                <a:ea typeface="华文新魏" pitchFamily="2" charset="-122"/>
                <a:cs typeface="Times New Roman"/>
              </a:rPr>
              <a:t> </a:t>
            </a:r>
            <a:r>
              <a:rPr lang="en-US" altLang="zh-CN" sz="2400" b="1" kern="100" dirty="0">
                <a:latin typeface="Times New Roman"/>
                <a:ea typeface="华文新魏" pitchFamily="2" charset="-122"/>
                <a:cs typeface="Times New Roman"/>
              </a:rPr>
              <a:t>= (</a:t>
            </a:r>
            <a:r>
              <a:rPr lang="en-US" altLang="zh-CN" sz="2400" b="1" i="1" kern="100" dirty="0">
                <a:latin typeface="Times New Roman"/>
                <a:ea typeface="华文新魏" pitchFamily="2" charset="-122"/>
                <a:cs typeface="Times New Roman"/>
              </a:rPr>
              <a:t>b</a:t>
            </a:r>
            <a:r>
              <a:rPr lang="en-US" altLang="zh-CN" sz="2400" b="1" kern="100" dirty="0">
                <a:latin typeface="Times New Roman"/>
                <a:ea typeface="华文新魏" pitchFamily="2" charset="-122"/>
                <a:cs typeface="Times New Roman"/>
              </a:rPr>
              <a:t> / </a:t>
            </a:r>
            <a:r>
              <a:rPr lang="en-US" altLang="zh-CN" sz="2400" b="1" i="1" kern="100" dirty="0">
                <a:latin typeface="Times New Roman"/>
                <a:ea typeface="华文新魏" pitchFamily="2" charset="-122"/>
                <a:cs typeface="Times New Roman"/>
              </a:rPr>
              <a:t>a</a:t>
            </a:r>
            <a:r>
              <a:rPr lang="en-US" altLang="zh-CN" sz="2400" b="1" kern="100" dirty="0">
                <a:latin typeface="Times New Roman"/>
                <a:ea typeface="华文新魏" pitchFamily="2" charset="-122"/>
                <a:cs typeface="Times New Roman"/>
              </a:rPr>
              <a:t>)</a:t>
            </a:r>
            <a:r>
              <a:rPr lang="en-US" altLang="zh-CN" sz="2400" b="1" i="1" kern="100" dirty="0">
                <a:latin typeface="Times New Roman"/>
                <a:ea typeface="华文新魏" pitchFamily="2" charset="-122"/>
                <a:cs typeface="Times New Roman"/>
              </a:rPr>
              <a:t> </a:t>
            </a:r>
            <a:r>
              <a:rPr lang="en-US" altLang="zh-CN" sz="2400" b="1" i="1" kern="100" dirty="0" err="1" smtClean="0">
                <a:latin typeface="Times New Roman"/>
                <a:ea typeface="华文新魏" pitchFamily="2" charset="-122"/>
                <a:cs typeface="Times New Roman"/>
              </a:rPr>
              <a:t>n</a:t>
            </a:r>
            <a:r>
              <a:rPr lang="en-US" altLang="zh-CN" sz="2400" b="1" kern="100" baseline="-25000" dirty="0" err="1" smtClean="0">
                <a:latin typeface="Times New Roman"/>
                <a:ea typeface="华文新魏" pitchFamily="2" charset="-122"/>
                <a:cs typeface="Times New Roman"/>
              </a:rPr>
              <a:t>A</a:t>
            </a:r>
            <a:endParaRPr lang="en-US" altLang="zh-CN" sz="1050" kern="100" dirty="0" smtClean="0">
              <a:latin typeface="Calibri"/>
              <a:ea typeface="宋体"/>
              <a:cs typeface="Times New Roman"/>
            </a:endParaRPr>
          </a:p>
          <a:p>
            <a:pPr>
              <a:spcAft>
                <a:spcPts val="0"/>
              </a:spcAft>
              <a:defRPr/>
            </a:pPr>
            <a:r>
              <a:rPr lang="zh-CN" altLang="zh-CN" sz="2400" b="1" kern="100" dirty="0" smtClean="0">
                <a:latin typeface="Times New Roman"/>
                <a:ea typeface="华文新魏" pitchFamily="2" charset="-122"/>
                <a:cs typeface="Times New Roman"/>
              </a:rPr>
              <a:t>且</a:t>
            </a:r>
            <a:endParaRPr lang="en-US" altLang="zh-CN" sz="2400" b="1" kern="100" dirty="0" smtClean="0">
              <a:latin typeface="Times New Roman"/>
              <a:ea typeface="华文新魏" pitchFamily="2" charset="-122"/>
              <a:cs typeface="Times New Roman"/>
            </a:endParaRPr>
          </a:p>
          <a:p>
            <a:pPr algn="ctr">
              <a:defRPr/>
            </a:pPr>
            <a:r>
              <a:rPr lang="en-US" altLang="zh-CN" sz="2400" b="1" i="1" kern="100" dirty="0" err="1" smtClean="0">
                <a:latin typeface="Times New Roman"/>
                <a:ea typeface="华文新魏" pitchFamily="2" charset="-122"/>
              </a:rPr>
              <a:t>m</a:t>
            </a:r>
            <a:r>
              <a:rPr lang="en-US" altLang="zh-CN" sz="2400" b="1" kern="100" baseline="-25000" dirty="0" err="1" smtClean="0">
                <a:latin typeface="Times New Roman"/>
                <a:ea typeface="华文新魏" pitchFamily="2" charset="-122"/>
              </a:rPr>
              <a:t>B</a:t>
            </a:r>
            <a:r>
              <a:rPr lang="en-US" altLang="zh-CN" sz="2400" b="1" kern="100" dirty="0" smtClean="0">
                <a:latin typeface="Times New Roman"/>
                <a:ea typeface="华文新魏" pitchFamily="2" charset="-122"/>
              </a:rPr>
              <a:t> </a:t>
            </a:r>
            <a:r>
              <a:rPr lang="en-US" altLang="zh-CN" sz="2400" b="1" kern="100" dirty="0">
                <a:latin typeface="Times New Roman"/>
                <a:ea typeface="华文新魏" pitchFamily="2" charset="-122"/>
              </a:rPr>
              <a:t>=</a:t>
            </a:r>
            <a:r>
              <a:rPr lang="en-US" altLang="zh-CN" sz="2400" b="1" i="1" kern="100" dirty="0" err="1">
                <a:latin typeface="Times New Roman"/>
                <a:ea typeface="华文新魏" pitchFamily="2" charset="-122"/>
              </a:rPr>
              <a:t>n</a:t>
            </a:r>
            <a:r>
              <a:rPr lang="en-US" altLang="zh-CN" sz="2400" b="1" i="1" kern="100" baseline="-25000" dirty="0" err="1">
                <a:latin typeface="Times New Roman"/>
                <a:ea typeface="华文新魏" pitchFamily="2" charset="-122"/>
              </a:rPr>
              <a:t>B</a:t>
            </a:r>
            <a:r>
              <a:rPr lang="en-US" altLang="zh-CN" sz="2400" b="1" i="1" kern="100" dirty="0" err="1">
                <a:latin typeface="Times New Roman"/>
                <a:ea typeface="华文新魏" pitchFamily="2" charset="-122"/>
              </a:rPr>
              <a:t>V</a:t>
            </a:r>
            <a:r>
              <a:rPr lang="en-US" altLang="zh-CN" sz="2400" b="1" i="1" kern="100" baseline="-25000" dirty="0" err="1">
                <a:latin typeface="Times New Roman"/>
                <a:ea typeface="华文新魏" pitchFamily="2" charset="-122"/>
              </a:rPr>
              <a:t>B</a:t>
            </a:r>
            <a:r>
              <a:rPr lang="en-US" altLang="zh-CN" sz="2400" b="1" i="1" kern="100" dirty="0" err="1">
                <a:latin typeface="Times New Roman"/>
                <a:ea typeface="华文新魏" pitchFamily="2" charset="-122"/>
              </a:rPr>
              <a:t>M</a:t>
            </a:r>
            <a:r>
              <a:rPr lang="en-US" altLang="zh-CN" sz="2400" b="1" i="1" kern="100" baseline="-25000" dirty="0" err="1">
                <a:latin typeface="Times New Roman"/>
                <a:ea typeface="华文新魏" pitchFamily="2" charset="-122"/>
              </a:rPr>
              <a:t>B</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8196" name="Text Box 39"/>
          <p:cNvSpPr txBox="1">
            <a:spLocks noChangeArrowheads="1"/>
          </p:cNvSpPr>
          <p:nvPr/>
        </p:nvSpPr>
        <p:spPr bwMode="auto">
          <a:xfrm>
            <a:off x="215900" y="392024"/>
            <a:ext cx="5329238" cy="3062377"/>
          </a:xfrm>
          <a:prstGeom prst="rect">
            <a:avLst/>
          </a:prstGeom>
          <a:noFill/>
          <a:ln w="9525" algn="ctr">
            <a:noFill/>
            <a:miter lim="800000"/>
            <a:headEnd/>
            <a:tailEnd/>
          </a:ln>
          <a:effectLst/>
        </p:spPr>
        <p:txBody>
          <a:bodyPr>
            <a:spAutoFit/>
          </a:bodyPr>
          <a:lstStyle/>
          <a:p>
            <a:pPr eaLnBrk="0" hangingPunct="0">
              <a:spcBef>
                <a:spcPct val="20000"/>
              </a:spcBef>
              <a:buClr>
                <a:srgbClr val="FFFFCC"/>
              </a:buClr>
              <a:buSzPct val="90000"/>
            </a:pPr>
            <a:r>
              <a:rPr lang="zh-CN" altLang="en-US" sz="2500" b="1" dirty="0">
                <a:solidFill>
                  <a:srgbClr val="FFFF00"/>
                </a:solidFill>
                <a:ea typeface="华文新魏" pitchFamily="2" charset="-122"/>
              </a:rPr>
              <a:t>习题</a:t>
            </a:r>
            <a:r>
              <a:rPr lang="en-US" altLang="zh-CN" sz="2500" b="1" dirty="0">
                <a:solidFill>
                  <a:srgbClr val="FFFF00"/>
                </a:solidFill>
                <a:ea typeface="华文新魏" pitchFamily="2" charset="-122"/>
              </a:rPr>
              <a:t>1-7</a:t>
            </a:r>
            <a:r>
              <a:rPr lang="zh-CN" altLang="en-US" sz="2500" b="1" dirty="0" smtClean="0">
                <a:solidFill>
                  <a:srgbClr val="FFFF00"/>
                </a:solidFill>
                <a:ea typeface="华文新魏" pitchFamily="2" charset="-122"/>
              </a:rPr>
              <a:t>：</a:t>
            </a:r>
            <a:r>
              <a:rPr lang="zh-CN" altLang="zh-CN" sz="2400" b="1" dirty="0" smtClean="0">
                <a:ea typeface="华文新魏" pitchFamily="2" charset="-122"/>
                <a:cs typeface="Times New Roman" pitchFamily="18" charset="0"/>
              </a:rPr>
              <a:t>以</a:t>
            </a:r>
            <a:r>
              <a:rPr lang="en-US" altLang="zh-CN" sz="2400" b="1" dirty="0">
                <a:ea typeface="华文新魏" pitchFamily="2" charset="-122"/>
                <a:cs typeface="Times New Roman" pitchFamily="18" charset="0"/>
              </a:rPr>
              <a:t>AgNO</a:t>
            </a:r>
            <a:r>
              <a:rPr lang="en-US" altLang="zh-CN" sz="2400" b="1" baseline="-25000" dirty="0">
                <a:ea typeface="华文新魏" pitchFamily="2" charset="-122"/>
                <a:cs typeface="Times New Roman" pitchFamily="18" charset="0"/>
              </a:rPr>
              <a:t>3</a:t>
            </a:r>
            <a:r>
              <a:rPr lang="zh-CN" altLang="zh-CN" sz="2400" b="1" dirty="0">
                <a:ea typeface="华文新魏" pitchFamily="2" charset="-122"/>
                <a:cs typeface="Times New Roman" pitchFamily="18" charset="0"/>
              </a:rPr>
              <a:t>滴定一水源的样品中的</a:t>
            </a:r>
            <a:r>
              <a:rPr lang="en-US" altLang="zh-CN" sz="2400" b="1" dirty="0" err="1">
                <a:ea typeface="华文新魏" pitchFamily="2" charset="-122"/>
                <a:cs typeface="Times New Roman" pitchFamily="18" charset="0"/>
              </a:rPr>
              <a:t>Cl</a:t>
            </a:r>
            <a:r>
              <a:rPr lang="en-US" altLang="zh-CN" sz="2400" b="1" baseline="30000" dirty="0">
                <a:ea typeface="华文新魏" pitchFamily="2" charset="-122"/>
                <a:cs typeface="Times New Roman" pitchFamily="18" charset="0"/>
              </a:rPr>
              <a:t>-</a:t>
            </a:r>
            <a:r>
              <a:rPr lang="zh-CN" altLang="zh-CN" sz="2400" b="1" dirty="0">
                <a:ea typeface="华文新魏" pitchFamily="2" charset="-122"/>
                <a:cs typeface="Times New Roman" pitchFamily="18" charset="0"/>
              </a:rPr>
              <a:t>：</a:t>
            </a:r>
            <a:endParaRPr lang="zh-CN" altLang="zh-CN" sz="1000" dirty="0">
              <a:latin typeface="Calibri" pitchFamily="34" charset="0"/>
              <a:ea typeface="华文新魏" pitchFamily="2" charset="-122"/>
              <a:cs typeface="Times New Roman" pitchFamily="18" charset="0"/>
            </a:endParaRPr>
          </a:p>
          <a:p>
            <a:pPr algn="just" eaLnBrk="0" hangingPunct="0"/>
            <a:r>
              <a:rPr lang="en-US" altLang="zh-CN" sz="2400" b="1" dirty="0">
                <a:ea typeface="华文新魏" pitchFamily="2" charset="-122"/>
              </a:rPr>
              <a:t>      AgNO</a:t>
            </a:r>
            <a:r>
              <a:rPr lang="en-US" altLang="zh-CN" sz="2400" b="1" baseline="-25000" dirty="0">
                <a:ea typeface="华文新魏" pitchFamily="2" charset="-122"/>
              </a:rPr>
              <a:t>3</a:t>
            </a:r>
            <a:r>
              <a:rPr lang="zh-CN" altLang="zh-CN" sz="2400" b="1" dirty="0">
                <a:ea typeface="华文新魏" pitchFamily="2" charset="-122"/>
              </a:rPr>
              <a:t>（</a:t>
            </a:r>
            <a:r>
              <a:rPr lang="en-US" altLang="zh-CN" sz="2400" b="1" dirty="0" err="1">
                <a:ea typeface="华文新魏" pitchFamily="2" charset="-122"/>
              </a:rPr>
              <a:t>aq</a:t>
            </a:r>
            <a:r>
              <a:rPr lang="zh-CN" altLang="zh-CN" sz="2400" b="1" dirty="0">
                <a:ea typeface="华文新魏" pitchFamily="2" charset="-122"/>
              </a:rPr>
              <a:t>）</a:t>
            </a:r>
            <a:r>
              <a:rPr lang="en-US" altLang="zh-CN" sz="2400" b="1" dirty="0">
                <a:ea typeface="华文新魏" pitchFamily="2" charset="-122"/>
              </a:rPr>
              <a:t>+ </a:t>
            </a:r>
            <a:r>
              <a:rPr lang="en-US" altLang="zh-CN" sz="2400" b="1" dirty="0" err="1">
                <a:ea typeface="华文新魏" pitchFamily="2" charset="-122"/>
              </a:rPr>
              <a:t>Cl</a:t>
            </a:r>
            <a:r>
              <a:rPr lang="en-US" altLang="zh-CN" sz="2400" b="1" baseline="30000" dirty="0">
                <a:ea typeface="华文新魏" pitchFamily="2" charset="-122"/>
              </a:rPr>
              <a:t>-</a:t>
            </a:r>
            <a:r>
              <a:rPr lang="zh-CN" altLang="zh-CN" sz="2400" b="1" dirty="0">
                <a:ea typeface="华文新魏" pitchFamily="2" charset="-122"/>
              </a:rPr>
              <a:t>（</a:t>
            </a:r>
            <a:r>
              <a:rPr lang="en-US" altLang="zh-CN" sz="2400" b="1" dirty="0" err="1">
                <a:ea typeface="华文新魏" pitchFamily="2" charset="-122"/>
              </a:rPr>
              <a:t>aq</a:t>
            </a:r>
            <a:r>
              <a:rPr lang="zh-CN" altLang="zh-CN" sz="2400" b="1" dirty="0">
                <a:ea typeface="华文新魏" pitchFamily="2" charset="-122"/>
              </a:rPr>
              <a:t>）</a:t>
            </a:r>
            <a:r>
              <a:rPr lang="en-US" altLang="zh-CN" sz="2400" b="1" dirty="0">
                <a:ea typeface="华文新魏" pitchFamily="2" charset="-122"/>
              </a:rPr>
              <a:t>=</a:t>
            </a:r>
          </a:p>
          <a:p>
            <a:pPr algn="just" eaLnBrk="0" hangingPunct="0"/>
            <a:r>
              <a:rPr lang="en-US" altLang="zh-CN" sz="2400" b="1" dirty="0">
                <a:ea typeface="华文新魏" pitchFamily="2" charset="-122"/>
              </a:rPr>
              <a:t>                         </a:t>
            </a:r>
            <a:r>
              <a:rPr lang="en-US" altLang="zh-CN" sz="2400" b="1" dirty="0" err="1">
                <a:ea typeface="华文新魏" pitchFamily="2" charset="-122"/>
              </a:rPr>
              <a:t>AgCl</a:t>
            </a:r>
            <a:r>
              <a:rPr lang="zh-CN" altLang="zh-CN" sz="2400" b="1" dirty="0">
                <a:ea typeface="华文新魏" pitchFamily="2" charset="-122"/>
              </a:rPr>
              <a:t>（</a:t>
            </a:r>
            <a:r>
              <a:rPr lang="en-US" altLang="zh-CN" sz="2400" b="1" dirty="0">
                <a:ea typeface="华文新魏" pitchFamily="2" charset="-122"/>
              </a:rPr>
              <a:t>s</a:t>
            </a:r>
            <a:r>
              <a:rPr lang="zh-CN" altLang="zh-CN" sz="2400" b="1" dirty="0">
                <a:ea typeface="华文新魏" pitchFamily="2" charset="-122"/>
              </a:rPr>
              <a:t>）</a:t>
            </a:r>
            <a:r>
              <a:rPr lang="en-US" altLang="zh-CN" sz="2400" b="1" dirty="0">
                <a:ea typeface="华文新魏" pitchFamily="2" charset="-122"/>
              </a:rPr>
              <a:t>+ NO</a:t>
            </a:r>
            <a:r>
              <a:rPr lang="en-US" altLang="zh-CN" sz="2400" b="1" baseline="-25000" dirty="0">
                <a:ea typeface="华文新魏" pitchFamily="2" charset="-122"/>
              </a:rPr>
              <a:t>3</a:t>
            </a:r>
            <a:r>
              <a:rPr lang="en-US" altLang="zh-CN" sz="2400" b="1" baseline="30000" dirty="0">
                <a:ea typeface="华文新魏" pitchFamily="2" charset="-122"/>
              </a:rPr>
              <a:t>-</a:t>
            </a:r>
            <a:r>
              <a:rPr lang="zh-CN" altLang="zh-CN" sz="2400" b="1" dirty="0">
                <a:ea typeface="华文新魏" pitchFamily="2" charset="-122"/>
              </a:rPr>
              <a:t>（</a:t>
            </a:r>
            <a:r>
              <a:rPr lang="en-US" altLang="zh-CN" sz="2400" b="1" dirty="0" err="1">
                <a:ea typeface="华文新魏" pitchFamily="2" charset="-122"/>
              </a:rPr>
              <a:t>aq</a:t>
            </a:r>
            <a:r>
              <a:rPr lang="zh-CN" altLang="zh-CN" sz="2400" b="1" dirty="0">
                <a:ea typeface="华文新魏" pitchFamily="2" charset="-122"/>
              </a:rPr>
              <a:t>）</a:t>
            </a:r>
            <a:endParaRPr lang="zh-CN" altLang="zh-CN" sz="2400" dirty="0">
              <a:cs typeface="Times New Roman" pitchFamily="18" charset="0"/>
            </a:endParaRPr>
          </a:p>
          <a:p>
            <a:pPr algn="just" eaLnBrk="0" hangingPunct="0"/>
            <a:r>
              <a:rPr lang="zh-CN" altLang="zh-CN" sz="2400" b="1" dirty="0">
                <a:ea typeface="华文新魏" pitchFamily="2" charset="-122"/>
              </a:rPr>
              <a:t>如果需要</a:t>
            </a:r>
            <a:r>
              <a:rPr lang="en-US" altLang="zh-CN" sz="2400" b="1" dirty="0">
                <a:ea typeface="华文新魏" pitchFamily="2" charset="-122"/>
              </a:rPr>
              <a:t>20.2mL</a:t>
            </a:r>
            <a:r>
              <a:rPr lang="zh-CN" altLang="zh-CN" sz="2400" b="1" dirty="0">
                <a:ea typeface="华文新魏" pitchFamily="2" charset="-122"/>
              </a:rPr>
              <a:t>的</a:t>
            </a:r>
            <a:r>
              <a:rPr lang="en-US" altLang="zh-CN" sz="2400" b="1" i="1" dirty="0">
                <a:ea typeface="华文新魏" pitchFamily="2" charset="-122"/>
              </a:rPr>
              <a:t>c</a:t>
            </a:r>
            <a:r>
              <a:rPr lang="en-US" altLang="zh-CN" sz="2400" b="1" dirty="0">
                <a:ea typeface="华文新魏" pitchFamily="2" charset="-122"/>
              </a:rPr>
              <a:t>(AgNO</a:t>
            </a:r>
            <a:r>
              <a:rPr lang="en-US" altLang="zh-CN" sz="2400" b="1" baseline="-25000" dirty="0">
                <a:ea typeface="华文新魏" pitchFamily="2" charset="-122"/>
              </a:rPr>
              <a:t>3</a:t>
            </a:r>
            <a:r>
              <a:rPr lang="en-US" altLang="zh-CN" sz="2400" b="1" dirty="0">
                <a:ea typeface="华文新魏" pitchFamily="2" charset="-122"/>
              </a:rPr>
              <a:t>)</a:t>
            </a:r>
          </a:p>
          <a:p>
            <a:pPr algn="just" eaLnBrk="0" hangingPunct="0"/>
            <a:r>
              <a:rPr lang="en-US" altLang="zh-CN" sz="2400" b="1" dirty="0">
                <a:ea typeface="华文新魏" pitchFamily="2" charset="-122"/>
              </a:rPr>
              <a:t> = 0.100mol·L</a:t>
            </a:r>
            <a:r>
              <a:rPr lang="en-US" altLang="zh-CN" sz="2400" b="1" baseline="30000" dirty="0">
                <a:ea typeface="华文新魏" pitchFamily="2" charset="-122"/>
              </a:rPr>
              <a:t>-1</a:t>
            </a:r>
            <a:r>
              <a:rPr lang="zh-CN" altLang="zh-CN" sz="2400" b="1" dirty="0">
                <a:ea typeface="华文新魏" pitchFamily="2" charset="-122"/>
              </a:rPr>
              <a:t>的</a:t>
            </a:r>
            <a:r>
              <a:rPr lang="en-US" altLang="zh-CN" sz="2400" b="1" dirty="0">
                <a:ea typeface="华文新魏" pitchFamily="2" charset="-122"/>
              </a:rPr>
              <a:t>AgNO</a:t>
            </a:r>
            <a:r>
              <a:rPr lang="en-US" altLang="zh-CN" sz="2400" b="1" baseline="-25000" dirty="0">
                <a:ea typeface="华文新魏" pitchFamily="2" charset="-122"/>
              </a:rPr>
              <a:t>3</a:t>
            </a:r>
            <a:r>
              <a:rPr lang="zh-CN" altLang="zh-CN" sz="2400" b="1" dirty="0">
                <a:ea typeface="华文新魏" pitchFamily="2" charset="-122"/>
              </a:rPr>
              <a:t>溶液与样品中所有的</a:t>
            </a:r>
            <a:r>
              <a:rPr lang="en-US" altLang="zh-CN" sz="2400" b="1" dirty="0" err="1">
                <a:ea typeface="华文新魏" pitchFamily="2" charset="-122"/>
              </a:rPr>
              <a:t>Cl</a:t>
            </a:r>
            <a:r>
              <a:rPr lang="en-US" altLang="zh-CN" sz="2400" b="1" baseline="30000" dirty="0">
                <a:ea typeface="华文新魏" pitchFamily="2" charset="-122"/>
              </a:rPr>
              <a:t>-</a:t>
            </a:r>
            <a:r>
              <a:rPr lang="zh-CN" altLang="zh-CN" sz="2400" b="1" dirty="0">
                <a:ea typeface="华文新魏" pitchFamily="2" charset="-122"/>
              </a:rPr>
              <a:t>反应，那么</a:t>
            </a:r>
            <a:r>
              <a:rPr lang="en-US" altLang="zh-CN" sz="2400" b="1" dirty="0">
                <a:ea typeface="华文新魏" pitchFamily="2" charset="-122"/>
              </a:rPr>
              <a:t>10.0g</a:t>
            </a:r>
            <a:r>
              <a:rPr lang="zh-CN" altLang="zh-CN" sz="2400" b="1" dirty="0">
                <a:ea typeface="华文新魏" pitchFamily="2" charset="-122"/>
              </a:rPr>
              <a:t>水样中含有</a:t>
            </a:r>
            <a:r>
              <a:rPr lang="en-US" altLang="zh-CN" sz="2400" b="1" dirty="0" err="1">
                <a:ea typeface="华文新魏" pitchFamily="2" charset="-122"/>
              </a:rPr>
              <a:t>Cl</a:t>
            </a:r>
            <a:r>
              <a:rPr lang="en-US" altLang="zh-CN" sz="2400" b="1" baseline="30000" dirty="0">
                <a:ea typeface="华文新魏" pitchFamily="2" charset="-122"/>
              </a:rPr>
              <a:t>-</a:t>
            </a:r>
            <a:r>
              <a:rPr lang="zh-CN" altLang="zh-CN" sz="2400" b="1" dirty="0">
                <a:ea typeface="华文新魏" pitchFamily="2" charset="-122"/>
              </a:rPr>
              <a:t>多少</a:t>
            </a:r>
            <a:r>
              <a:rPr lang="en-US" altLang="zh-CN" sz="2400" b="1" dirty="0">
                <a:ea typeface="华文新魏" pitchFamily="2" charset="-122"/>
              </a:rPr>
              <a:t>g</a:t>
            </a:r>
            <a:r>
              <a:rPr lang="zh-CN" altLang="zh-CN" sz="2400" b="1" dirty="0" smtClean="0">
                <a:ea typeface="华文新魏" pitchFamily="2" charset="-122"/>
              </a:rPr>
              <a:t>？</a:t>
            </a:r>
            <a:endParaRPr lang="zh-CN" altLang="en-US" sz="2500" b="1" dirty="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en-US" altLang="zh-CN" sz="2400" b="1" kern="100" dirty="0" smtClean="0">
                <a:latin typeface="Times New Roman"/>
                <a:ea typeface="华文新魏" pitchFamily="2" charset="-122"/>
              </a:rPr>
              <a:t>0.07161g</a:t>
            </a:r>
            <a:endParaRPr kumimoji="1" lang="en-US" altLang="zh-CN" sz="2400" b="1" dirty="0" smtClean="0">
              <a:ea typeface="华文新魏" pitchFamily="2" charset="-122"/>
            </a:endParaRPr>
          </a:p>
        </p:txBody>
      </p:sp>
      <p:sp>
        <p:nvSpPr>
          <p:cNvPr id="8199"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checkerboard(across)">
                                      <p:cBhvr>
                                        <p:cTn id="27" dur="500"/>
                                        <p:tgtEl>
                                          <p:spTgt spid="3">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checkerboard(across)">
                                      <p:cBhvr>
                                        <p:cTn id="32" dur="500"/>
                                        <p:tgtEl>
                                          <p:spTgt spid="3">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checkerboard(across)">
                                      <p:cBhvr>
                                        <p:cTn id="37" dur="500"/>
                                        <p:tgtEl>
                                          <p:spTgt spid="3">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6">
                                            <p:txEl>
                                              <p:pRg st="0" end="0"/>
                                            </p:txEl>
                                          </p:spTgt>
                                        </p:tgtEl>
                                        <p:attrNameLst>
                                          <p:attrName>style.visibility</p:attrName>
                                        </p:attrNameLst>
                                      </p:cBhvr>
                                      <p:to>
                                        <p:strVal val="visible"/>
                                      </p:to>
                                    </p:set>
                                    <p:animEffect transition="in" filter="checkerboard(across)">
                                      <p:cBhvr>
                                        <p:cTn id="42" dur="500"/>
                                        <p:tgtEl>
                                          <p:spTgt spid="6">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8">
                                            <p:txEl>
                                              <p:pRg st="0" end="0"/>
                                            </p:txEl>
                                          </p:spTgt>
                                        </p:tgtEl>
                                        <p:attrNameLst>
                                          <p:attrName>style.visibility</p:attrName>
                                        </p:attrNameLst>
                                      </p:cBhvr>
                                      <p:to>
                                        <p:strVal val="visible"/>
                                      </p:to>
                                    </p:set>
                                    <p:animEffect transition="in" filter="checkerboard(across)">
                                      <p:cBhvr>
                                        <p:cTn id="4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2308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zh-CN" altLang="zh-CN" sz="2400" b="1" kern="100" dirty="0">
                <a:latin typeface="Times New Roman"/>
                <a:ea typeface="华文新魏" pitchFamily="2" charset="-122"/>
                <a:cs typeface="Times New Roman"/>
              </a:rPr>
              <a:t>系统误差是指在一定的实验条件下，由于某个或某些经常性的因素按某些确定的规律起作用而形成的误差</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a:defRPr/>
            </a:pPr>
            <a:r>
              <a:rPr lang="zh-CN" altLang="zh-CN" sz="2400" b="1" kern="100" dirty="0" smtClean="0">
                <a:latin typeface="Times New Roman"/>
                <a:ea typeface="华文新魏" pitchFamily="2" charset="-122"/>
                <a:cs typeface="Times New Roman"/>
              </a:rPr>
              <a:t>偶然误差</a:t>
            </a:r>
            <a:r>
              <a:rPr lang="zh-CN" altLang="zh-CN" sz="2400" b="1" kern="100" dirty="0">
                <a:latin typeface="Times New Roman"/>
                <a:ea typeface="华文新魏" pitchFamily="2" charset="-122"/>
                <a:cs typeface="Times New Roman"/>
              </a:rPr>
              <a:t>是由于在测定过程中一系列有关因素微小的随机波动而形成的具有相互抵偿性的误差。</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43457"/>
            <a:ext cx="5616575" cy="41703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1-8</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下列</a:t>
            </a:r>
            <a:r>
              <a:rPr lang="zh-CN" altLang="zh-CN" sz="2400" b="1" kern="100" dirty="0">
                <a:latin typeface="Times New Roman"/>
                <a:ea typeface="华文新魏" pitchFamily="2" charset="-122"/>
                <a:cs typeface="Times New Roman"/>
              </a:rPr>
              <a:t>情况分别引起什么误差</a:t>
            </a:r>
            <a:r>
              <a:rPr lang="en-US" altLang="zh-CN" sz="2400" b="1" kern="100" dirty="0">
                <a:latin typeface="Times New Roman"/>
                <a:ea typeface="华文新魏" pitchFamily="2" charset="-122"/>
                <a:cs typeface="Times New Roman"/>
              </a:rPr>
              <a:t>?</a:t>
            </a:r>
            <a:r>
              <a:rPr lang="zh-CN" altLang="zh-CN" sz="2400" b="1" kern="100" dirty="0">
                <a:latin typeface="Times New Roman"/>
                <a:ea typeface="华文新魏" pitchFamily="2" charset="-122"/>
                <a:cs typeface="Times New Roman"/>
              </a:rPr>
              <a:t>如果是</a:t>
            </a:r>
            <a:r>
              <a:rPr lang="zh-CN" altLang="zh-CN" sz="2400" b="1" kern="100" dirty="0" smtClean="0">
                <a:latin typeface="Times New Roman"/>
                <a:ea typeface="华文新魏" pitchFamily="2" charset="-122"/>
                <a:cs typeface="Times New Roman"/>
              </a:rPr>
              <a:t>系统误差</a:t>
            </a:r>
            <a:r>
              <a:rPr lang="zh-CN" altLang="zh-CN" sz="2400" b="1" kern="100" dirty="0">
                <a:latin typeface="Times New Roman"/>
                <a:ea typeface="华文新魏" pitchFamily="2" charset="-122"/>
                <a:cs typeface="Times New Roman"/>
              </a:rPr>
              <a:t>，应如何消除？</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①</a:t>
            </a:r>
            <a:r>
              <a:rPr lang="zh-CN" altLang="zh-CN" sz="2400" b="1" kern="100" dirty="0">
                <a:latin typeface="Times New Roman"/>
                <a:ea typeface="华文新魏" pitchFamily="2" charset="-122"/>
                <a:cs typeface="Times New Roman"/>
              </a:rPr>
              <a:t>砝码未经校正；</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②</a:t>
            </a:r>
            <a:r>
              <a:rPr lang="zh-CN" altLang="zh-CN" sz="2400" b="1" kern="100" dirty="0">
                <a:latin typeface="Times New Roman"/>
                <a:ea typeface="华文新魏" pitchFamily="2" charset="-122"/>
                <a:cs typeface="Times New Roman"/>
              </a:rPr>
              <a:t>容量瓶和移液管不配套；</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③</a:t>
            </a:r>
            <a:r>
              <a:rPr lang="zh-CN" altLang="zh-CN" sz="2400" b="1" kern="100" dirty="0">
                <a:latin typeface="Times New Roman"/>
                <a:ea typeface="华文新魏" pitchFamily="2" charset="-122"/>
                <a:cs typeface="Times New Roman"/>
              </a:rPr>
              <a:t>在重量分析中被测组分沉淀不完全；</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④</a:t>
            </a:r>
            <a:r>
              <a:rPr lang="zh-CN" altLang="zh-CN" sz="2400" b="1" kern="100" dirty="0">
                <a:latin typeface="Times New Roman"/>
                <a:ea typeface="华文新魏" pitchFamily="2" charset="-122"/>
                <a:cs typeface="Times New Roman"/>
              </a:rPr>
              <a:t>试剂含被测组分；</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⑤</a:t>
            </a:r>
            <a:r>
              <a:rPr lang="zh-CN" altLang="zh-CN" sz="2400" b="1" kern="100" dirty="0">
                <a:latin typeface="Times New Roman"/>
                <a:ea typeface="华文新魏" pitchFamily="2" charset="-122"/>
                <a:cs typeface="Times New Roman"/>
              </a:rPr>
              <a:t>以含量约为</a:t>
            </a:r>
            <a:r>
              <a:rPr lang="en-US" altLang="zh-CN" sz="2400" b="1" kern="100" dirty="0">
                <a:latin typeface="Times New Roman"/>
                <a:ea typeface="华文新魏" pitchFamily="2" charset="-122"/>
                <a:cs typeface="Times New Roman"/>
              </a:rPr>
              <a:t>99</a:t>
            </a:r>
            <a:r>
              <a:rPr lang="zh-CN" altLang="zh-CN" sz="2400" b="1" kern="100" dirty="0">
                <a:latin typeface="Times New Roman"/>
                <a:ea typeface="华文新魏" pitchFamily="2" charset="-122"/>
                <a:cs typeface="Times New Roman"/>
              </a:rPr>
              <a:t>％的</a:t>
            </a:r>
            <a:r>
              <a:rPr lang="en-US" altLang="zh-CN" sz="2400" b="1" kern="100" dirty="0">
                <a:latin typeface="Times New Roman"/>
                <a:ea typeface="华文新魏" pitchFamily="2" charset="-122"/>
                <a:cs typeface="Times New Roman"/>
              </a:rPr>
              <a:t>Na</a:t>
            </a:r>
            <a:r>
              <a:rPr lang="en-US" altLang="zh-CN" sz="2400" b="1" kern="100" baseline="-25000" dirty="0">
                <a:latin typeface="Times New Roman"/>
                <a:ea typeface="华文新魏" pitchFamily="2" charset="-122"/>
                <a:cs typeface="Times New Roman"/>
              </a:rPr>
              <a:t>2</a:t>
            </a:r>
            <a:r>
              <a:rPr lang="en-US" altLang="zh-CN" sz="2400" b="1" kern="100" dirty="0">
                <a:latin typeface="Times New Roman"/>
                <a:ea typeface="华文新魏" pitchFamily="2" charset="-122"/>
                <a:cs typeface="Times New Roman"/>
              </a:rPr>
              <a:t>C</a:t>
            </a:r>
            <a:r>
              <a:rPr lang="en-US" altLang="zh-CN" sz="2400" b="1" kern="100" baseline="-25000" dirty="0">
                <a:latin typeface="Times New Roman"/>
                <a:ea typeface="华文新魏" pitchFamily="2" charset="-122"/>
                <a:cs typeface="Times New Roman"/>
              </a:rPr>
              <a:t>2</a:t>
            </a:r>
            <a:r>
              <a:rPr lang="en-US" altLang="zh-CN" sz="2400" b="1" kern="100" dirty="0">
                <a:latin typeface="Times New Roman"/>
                <a:ea typeface="华文新魏" pitchFamily="2" charset="-122"/>
                <a:cs typeface="Times New Roman"/>
              </a:rPr>
              <a:t>O</a:t>
            </a:r>
            <a:r>
              <a:rPr lang="en-US" altLang="zh-CN" sz="2400" b="1" kern="100" baseline="-25000" dirty="0">
                <a:latin typeface="Times New Roman"/>
                <a:ea typeface="华文新魏" pitchFamily="2" charset="-122"/>
                <a:cs typeface="Times New Roman"/>
              </a:rPr>
              <a:t>4</a:t>
            </a:r>
            <a:r>
              <a:rPr lang="zh-CN" altLang="zh-CN" sz="2400" b="1" kern="100" dirty="0">
                <a:latin typeface="Times New Roman"/>
                <a:ea typeface="华文新魏" pitchFamily="2" charset="-122"/>
                <a:cs typeface="Times New Roman"/>
              </a:rPr>
              <a:t>作基准</a:t>
            </a:r>
            <a:r>
              <a:rPr lang="zh-CN" altLang="zh-CN" sz="2400" b="1" kern="100" dirty="0" smtClean="0">
                <a:latin typeface="Times New Roman"/>
                <a:ea typeface="华文新魏" pitchFamily="2" charset="-122"/>
                <a:cs typeface="Times New Roman"/>
              </a:rPr>
              <a:t>物</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en-US" altLang="zh-CN" sz="2400" b="1" kern="100" dirty="0" smtClean="0">
                <a:latin typeface="Times New Roman"/>
                <a:ea typeface="华文新魏" pitchFamily="2" charset="-122"/>
                <a:cs typeface="Times New Roman"/>
              </a:rPr>
              <a:t>    </a:t>
            </a:r>
            <a:r>
              <a:rPr lang="zh-CN" altLang="zh-CN" sz="2400" b="1" kern="100" dirty="0" smtClean="0">
                <a:latin typeface="Times New Roman"/>
                <a:ea typeface="华文新魏" pitchFamily="2" charset="-122"/>
                <a:cs typeface="Times New Roman"/>
              </a:rPr>
              <a:t>标定</a:t>
            </a:r>
            <a:r>
              <a:rPr lang="en-US" altLang="zh-CN" sz="2400" b="1" kern="100" dirty="0">
                <a:latin typeface="Times New Roman"/>
                <a:ea typeface="华文新魏" pitchFamily="2" charset="-122"/>
                <a:cs typeface="Times New Roman"/>
              </a:rPr>
              <a:t>KMnO</a:t>
            </a:r>
            <a:r>
              <a:rPr lang="en-US" altLang="zh-CN" sz="2400" b="1" kern="100" baseline="-25000" dirty="0">
                <a:latin typeface="Times New Roman"/>
                <a:ea typeface="华文新魏" pitchFamily="2" charset="-122"/>
                <a:cs typeface="Times New Roman"/>
              </a:rPr>
              <a:t>4</a:t>
            </a:r>
            <a:r>
              <a:rPr lang="zh-CN" altLang="zh-CN" sz="2400" b="1" kern="100" dirty="0">
                <a:latin typeface="Times New Roman"/>
                <a:ea typeface="华文新魏" pitchFamily="2" charset="-122"/>
                <a:cs typeface="Times New Roman"/>
              </a:rPr>
              <a:t>溶液的浓度；</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⑥</a:t>
            </a:r>
            <a:r>
              <a:rPr lang="zh-CN" altLang="zh-CN" sz="2400" b="1" kern="100" dirty="0">
                <a:latin typeface="Times New Roman"/>
                <a:ea typeface="华文新魏" pitchFamily="2" charset="-122"/>
                <a:cs typeface="Times New Roman"/>
              </a:rPr>
              <a:t>读取滴定管读数时，小数点后</a:t>
            </a:r>
            <a:r>
              <a:rPr lang="zh-CN" altLang="zh-CN" sz="2400" b="1" kern="100" dirty="0" smtClean="0">
                <a:latin typeface="Times New Roman"/>
                <a:ea typeface="华文新魏" pitchFamily="2" charset="-122"/>
                <a:cs typeface="Times New Roman"/>
              </a:rPr>
              <a:t>第二</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en-US" altLang="zh-CN" sz="2400" b="1" kern="100" dirty="0">
                <a:latin typeface="Times New Roman"/>
                <a:ea typeface="华文新魏" pitchFamily="2" charset="-122"/>
                <a:cs typeface="Times New Roman"/>
              </a:rPr>
              <a:t> </a:t>
            </a:r>
            <a:r>
              <a:rPr lang="en-US" altLang="zh-CN" sz="2400" b="1" kern="100" dirty="0" smtClean="0">
                <a:latin typeface="Times New Roman"/>
                <a:ea typeface="华文新魏" pitchFamily="2" charset="-122"/>
                <a:cs typeface="Times New Roman"/>
              </a:rPr>
              <a:t>   </a:t>
            </a:r>
            <a:r>
              <a:rPr lang="zh-CN" altLang="zh-CN" sz="2400" b="1" kern="100" dirty="0" smtClean="0">
                <a:latin typeface="Times New Roman"/>
                <a:ea typeface="华文新魏" pitchFamily="2" charset="-122"/>
                <a:cs typeface="Times New Roman"/>
              </a:rPr>
              <a:t>位</a:t>
            </a:r>
            <a:r>
              <a:rPr lang="zh-CN" altLang="zh-CN" sz="2400" b="1" kern="100" dirty="0">
                <a:latin typeface="Times New Roman"/>
                <a:ea typeface="华文新魏" pitchFamily="2" charset="-122"/>
                <a:cs typeface="Times New Roman"/>
              </a:rPr>
              <a:t>数字估读不准；</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⑦</a:t>
            </a:r>
            <a:r>
              <a:rPr lang="zh-CN" altLang="zh-CN" sz="2400" b="1" kern="100" dirty="0">
                <a:latin typeface="Times New Roman"/>
                <a:ea typeface="华文新魏" pitchFamily="2" charset="-122"/>
                <a:cs typeface="Times New Roman"/>
              </a:rPr>
              <a:t>天平两臂不等长</a:t>
            </a:r>
            <a:r>
              <a:rPr lang="zh-CN" altLang="zh-CN" sz="2400" b="1" kern="100" dirty="0" smtClean="0">
                <a:latin typeface="Times New Roman"/>
                <a:ea typeface="华文新魏" pitchFamily="2" charset="-122"/>
                <a:cs typeface="Times New Roman"/>
              </a:rPr>
              <a:t>。</a:t>
            </a:r>
            <a:endParaRPr lang="zh-CN" altLang="en-US" sz="2500" b="1" dirty="0" smtClean="0">
              <a:solidFill>
                <a:srgbClr val="FFFF00"/>
              </a:solidFill>
              <a:ea typeface="华文新魏" pitchFamily="2" charset="-122"/>
            </a:endParaRPr>
          </a:p>
        </p:txBody>
      </p:sp>
      <p:sp>
        <p:nvSpPr>
          <p:cNvPr id="9221"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9"/>
          <p:cNvSpPr txBox="1">
            <a:spLocks noChangeArrowheads="1"/>
          </p:cNvSpPr>
          <p:nvPr/>
        </p:nvSpPr>
        <p:spPr bwMode="auto">
          <a:xfrm>
            <a:off x="215900" y="355599"/>
            <a:ext cx="5616575" cy="41703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1-8</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下列</a:t>
            </a:r>
            <a:r>
              <a:rPr lang="zh-CN" altLang="zh-CN" sz="2400" b="1" kern="100" dirty="0">
                <a:latin typeface="Times New Roman"/>
                <a:ea typeface="华文新魏" pitchFamily="2" charset="-122"/>
                <a:cs typeface="Times New Roman"/>
              </a:rPr>
              <a:t>情况分别引起什么误差</a:t>
            </a:r>
            <a:r>
              <a:rPr lang="en-US" altLang="zh-CN" sz="2400" b="1" kern="100" dirty="0">
                <a:latin typeface="Times New Roman"/>
                <a:ea typeface="华文新魏" pitchFamily="2" charset="-122"/>
                <a:cs typeface="Times New Roman"/>
              </a:rPr>
              <a:t>?</a:t>
            </a:r>
            <a:r>
              <a:rPr lang="zh-CN" altLang="zh-CN" sz="2400" b="1" kern="100" dirty="0">
                <a:latin typeface="Times New Roman"/>
                <a:ea typeface="华文新魏" pitchFamily="2" charset="-122"/>
                <a:cs typeface="Times New Roman"/>
              </a:rPr>
              <a:t>如果是</a:t>
            </a:r>
            <a:r>
              <a:rPr lang="zh-CN" altLang="zh-CN" sz="2400" b="1" kern="100" dirty="0" smtClean="0">
                <a:latin typeface="Times New Roman"/>
                <a:ea typeface="华文新魏" pitchFamily="2" charset="-122"/>
                <a:cs typeface="Times New Roman"/>
              </a:rPr>
              <a:t>系统误差</a:t>
            </a:r>
            <a:r>
              <a:rPr lang="zh-CN" altLang="zh-CN" sz="2400" b="1" kern="100" dirty="0">
                <a:latin typeface="Times New Roman"/>
                <a:ea typeface="华文新魏" pitchFamily="2" charset="-122"/>
                <a:cs typeface="Times New Roman"/>
              </a:rPr>
              <a:t>，应如何消除？</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①</a:t>
            </a:r>
            <a:r>
              <a:rPr lang="zh-CN" altLang="zh-CN" sz="2400" b="1" kern="100" dirty="0">
                <a:latin typeface="Times New Roman"/>
                <a:ea typeface="华文新魏" pitchFamily="2" charset="-122"/>
                <a:cs typeface="Times New Roman"/>
              </a:rPr>
              <a:t>砝码未经校正；</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②</a:t>
            </a:r>
            <a:r>
              <a:rPr lang="zh-CN" altLang="zh-CN" sz="2400" b="1" kern="100" dirty="0">
                <a:latin typeface="Times New Roman"/>
                <a:ea typeface="华文新魏" pitchFamily="2" charset="-122"/>
                <a:cs typeface="Times New Roman"/>
              </a:rPr>
              <a:t>容量瓶和移液管不配套；</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③</a:t>
            </a:r>
            <a:r>
              <a:rPr lang="zh-CN" altLang="zh-CN" sz="2400" b="1" kern="100" dirty="0">
                <a:latin typeface="Times New Roman"/>
                <a:ea typeface="华文新魏" pitchFamily="2" charset="-122"/>
                <a:cs typeface="Times New Roman"/>
              </a:rPr>
              <a:t>在重量分析中被测组分沉淀不完全；</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④</a:t>
            </a:r>
            <a:r>
              <a:rPr lang="zh-CN" altLang="zh-CN" sz="2400" b="1" kern="100" dirty="0">
                <a:latin typeface="Times New Roman"/>
                <a:ea typeface="华文新魏" pitchFamily="2" charset="-122"/>
                <a:cs typeface="Times New Roman"/>
              </a:rPr>
              <a:t>试剂含被测组分；</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⑤</a:t>
            </a:r>
            <a:r>
              <a:rPr lang="zh-CN" altLang="zh-CN" sz="2400" b="1" kern="100" dirty="0">
                <a:latin typeface="Times New Roman"/>
                <a:ea typeface="华文新魏" pitchFamily="2" charset="-122"/>
                <a:cs typeface="Times New Roman"/>
              </a:rPr>
              <a:t>以含量约为</a:t>
            </a:r>
            <a:r>
              <a:rPr lang="en-US" altLang="zh-CN" sz="2400" b="1" kern="100" dirty="0">
                <a:latin typeface="Times New Roman"/>
                <a:ea typeface="华文新魏" pitchFamily="2" charset="-122"/>
                <a:cs typeface="Times New Roman"/>
              </a:rPr>
              <a:t>99</a:t>
            </a:r>
            <a:r>
              <a:rPr lang="zh-CN" altLang="zh-CN" sz="2400" b="1" kern="100" dirty="0">
                <a:latin typeface="Times New Roman"/>
                <a:ea typeface="华文新魏" pitchFamily="2" charset="-122"/>
                <a:cs typeface="Times New Roman"/>
              </a:rPr>
              <a:t>％的</a:t>
            </a:r>
            <a:r>
              <a:rPr lang="en-US" altLang="zh-CN" sz="2400" b="1" kern="100" dirty="0">
                <a:latin typeface="Times New Roman"/>
                <a:ea typeface="华文新魏" pitchFamily="2" charset="-122"/>
                <a:cs typeface="Times New Roman"/>
              </a:rPr>
              <a:t>Na</a:t>
            </a:r>
            <a:r>
              <a:rPr lang="en-US" altLang="zh-CN" sz="2400" b="1" kern="100" baseline="-25000" dirty="0">
                <a:latin typeface="Times New Roman"/>
                <a:ea typeface="华文新魏" pitchFamily="2" charset="-122"/>
                <a:cs typeface="Times New Roman"/>
              </a:rPr>
              <a:t>2</a:t>
            </a:r>
            <a:r>
              <a:rPr lang="en-US" altLang="zh-CN" sz="2400" b="1" kern="100" dirty="0">
                <a:latin typeface="Times New Roman"/>
                <a:ea typeface="华文新魏" pitchFamily="2" charset="-122"/>
                <a:cs typeface="Times New Roman"/>
              </a:rPr>
              <a:t>C</a:t>
            </a:r>
            <a:r>
              <a:rPr lang="en-US" altLang="zh-CN" sz="2400" b="1" kern="100" baseline="-25000" dirty="0">
                <a:latin typeface="Times New Roman"/>
                <a:ea typeface="华文新魏" pitchFamily="2" charset="-122"/>
                <a:cs typeface="Times New Roman"/>
              </a:rPr>
              <a:t>2</a:t>
            </a:r>
            <a:r>
              <a:rPr lang="en-US" altLang="zh-CN" sz="2400" b="1" kern="100" dirty="0">
                <a:latin typeface="Times New Roman"/>
                <a:ea typeface="华文新魏" pitchFamily="2" charset="-122"/>
                <a:cs typeface="Times New Roman"/>
              </a:rPr>
              <a:t>O</a:t>
            </a:r>
            <a:r>
              <a:rPr lang="en-US" altLang="zh-CN" sz="2400" b="1" kern="100" baseline="-25000" dirty="0">
                <a:latin typeface="Times New Roman"/>
                <a:ea typeface="华文新魏" pitchFamily="2" charset="-122"/>
                <a:cs typeface="Times New Roman"/>
              </a:rPr>
              <a:t>4</a:t>
            </a:r>
            <a:r>
              <a:rPr lang="zh-CN" altLang="zh-CN" sz="2400" b="1" kern="100" dirty="0">
                <a:latin typeface="Times New Roman"/>
                <a:ea typeface="华文新魏" pitchFamily="2" charset="-122"/>
                <a:cs typeface="Times New Roman"/>
              </a:rPr>
              <a:t>作基准</a:t>
            </a:r>
            <a:r>
              <a:rPr lang="zh-CN" altLang="zh-CN" sz="2400" b="1" kern="100" dirty="0" smtClean="0">
                <a:latin typeface="Times New Roman"/>
                <a:ea typeface="华文新魏" pitchFamily="2" charset="-122"/>
                <a:cs typeface="Times New Roman"/>
              </a:rPr>
              <a:t>物</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en-US" altLang="zh-CN" sz="2400" b="1" kern="100" dirty="0" smtClean="0">
                <a:latin typeface="Times New Roman"/>
                <a:ea typeface="华文新魏" pitchFamily="2" charset="-122"/>
                <a:cs typeface="Times New Roman"/>
              </a:rPr>
              <a:t>    </a:t>
            </a:r>
            <a:r>
              <a:rPr lang="zh-CN" altLang="zh-CN" sz="2400" b="1" kern="100" dirty="0" smtClean="0">
                <a:latin typeface="Times New Roman"/>
                <a:ea typeface="华文新魏" pitchFamily="2" charset="-122"/>
                <a:cs typeface="Times New Roman"/>
              </a:rPr>
              <a:t>标定</a:t>
            </a:r>
            <a:r>
              <a:rPr lang="en-US" altLang="zh-CN" sz="2400" b="1" kern="100" dirty="0">
                <a:latin typeface="Times New Roman"/>
                <a:ea typeface="华文新魏" pitchFamily="2" charset="-122"/>
                <a:cs typeface="Times New Roman"/>
              </a:rPr>
              <a:t>KMnO</a:t>
            </a:r>
            <a:r>
              <a:rPr lang="en-US" altLang="zh-CN" sz="2400" b="1" kern="100" baseline="-25000" dirty="0">
                <a:latin typeface="Times New Roman"/>
                <a:ea typeface="华文新魏" pitchFamily="2" charset="-122"/>
                <a:cs typeface="Times New Roman"/>
              </a:rPr>
              <a:t>4</a:t>
            </a:r>
            <a:r>
              <a:rPr lang="zh-CN" altLang="zh-CN" sz="2400" b="1" kern="100" dirty="0">
                <a:latin typeface="Times New Roman"/>
                <a:ea typeface="华文新魏" pitchFamily="2" charset="-122"/>
                <a:cs typeface="Times New Roman"/>
              </a:rPr>
              <a:t>溶液的浓度；</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⑥</a:t>
            </a:r>
            <a:r>
              <a:rPr lang="zh-CN" altLang="zh-CN" sz="2400" b="1" kern="100" dirty="0">
                <a:latin typeface="Times New Roman"/>
                <a:ea typeface="华文新魏" pitchFamily="2" charset="-122"/>
                <a:cs typeface="Times New Roman"/>
              </a:rPr>
              <a:t>读取滴定管读数时，小数点后</a:t>
            </a:r>
            <a:r>
              <a:rPr lang="zh-CN" altLang="zh-CN" sz="2400" b="1" kern="100" dirty="0" smtClean="0">
                <a:latin typeface="Times New Roman"/>
                <a:ea typeface="华文新魏" pitchFamily="2" charset="-122"/>
                <a:cs typeface="Times New Roman"/>
              </a:rPr>
              <a:t>第二</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en-US" altLang="zh-CN" sz="2400" b="1" kern="100" dirty="0">
                <a:latin typeface="Times New Roman"/>
                <a:ea typeface="华文新魏" pitchFamily="2" charset="-122"/>
                <a:cs typeface="Times New Roman"/>
              </a:rPr>
              <a:t> </a:t>
            </a:r>
            <a:r>
              <a:rPr lang="en-US" altLang="zh-CN" sz="2400" b="1" kern="100" dirty="0" smtClean="0">
                <a:latin typeface="Times New Roman"/>
                <a:ea typeface="华文新魏" pitchFamily="2" charset="-122"/>
                <a:cs typeface="Times New Roman"/>
              </a:rPr>
              <a:t>   </a:t>
            </a:r>
            <a:r>
              <a:rPr lang="zh-CN" altLang="zh-CN" sz="2400" b="1" kern="100" dirty="0" smtClean="0">
                <a:latin typeface="Times New Roman"/>
                <a:ea typeface="华文新魏" pitchFamily="2" charset="-122"/>
                <a:cs typeface="Times New Roman"/>
              </a:rPr>
              <a:t>位</a:t>
            </a:r>
            <a:r>
              <a:rPr lang="zh-CN" altLang="zh-CN" sz="2400" b="1" kern="100" dirty="0">
                <a:latin typeface="Times New Roman"/>
                <a:ea typeface="华文新魏" pitchFamily="2" charset="-122"/>
                <a:cs typeface="Times New Roman"/>
              </a:rPr>
              <a:t>数字估读不准；</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⑦</a:t>
            </a:r>
            <a:r>
              <a:rPr lang="zh-CN" altLang="zh-CN" sz="2400" b="1" kern="100" dirty="0">
                <a:latin typeface="Times New Roman"/>
                <a:ea typeface="华文新魏" pitchFamily="2" charset="-122"/>
                <a:cs typeface="Times New Roman"/>
              </a:rPr>
              <a:t>天平两臂不等长</a:t>
            </a:r>
            <a:r>
              <a:rPr lang="zh-CN" altLang="zh-CN" sz="2400" b="1" kern="100" dirty="0" smtClean="0">
                <a:latin typeface="Times New Roman"/>
                <a:ea typeface="华文新魏" pitchFamily="2" charset="-122"/>
                <a:cs typeface="Times New Roman"/>
              </a:rPr>
              <a:t>。</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3238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719138"/>
            <a:ext cx="5329237" cy="37861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zh-CN" altLang="zh-CN" sz="2400" b="1" kern="100" dirty="0" smtClean="0">
                <a:ea typeface="宋体"/>
                <a:cs typeface="宋体"/>
              </a:rPr>
              <a:t>①</a:t>
            </a:r>
            <a:r>
              <a:rPr lang="zh-CN" altLang="zh-CN" sz="2400" b="1" kern="100" dirty="0" smtClean="0">
                <a:latin typeface="Times New Roman"/>
                <a:ea typeface="华文新魏" pitchFamily="2" charset="-122"/>
                <a:cs typeface="Times New Roman"/>
              </a:rPr>
              <a:t>系统误差</a:t>
            </a:r>
            <a:r>
              <a:rPr lang="en-US" altLang="zh-CN" sz="2400" b="1" kern="100" dirty="0" smtClean="0">
                <a:latin typeface="Times New Roman"/>
                <a:ea typeface="华文新魏" pitchFamily="2" charset="-122"/>
              </a:rPr>
              <a:t>  </a:t>
            </a:r>
            <a:r>
              <a:rPr lang="zh-CN" altLang="zh-CN" sz="2400" b="1" kern="100" dirty="0" smtClean="0">
                <a:latin typeface="Times New Roman"/>
                <a:ea typeface="华文新魏" pitchFamily="2" charset="-122"/>
                <a:cs typeface="Times New Roman"/>
              </a:rPr>
              <a:t>可用标准砝码校正；</a:t>
            </a:r>
            <a:endParaRPr lang="en-US" altLang="zh-CN" sz="2400" b="1" kern="100" dirty="0" smtClean="0">
              <a:latin typeface="Times New Roman"/>
              <a:ea typeface="华文新魏" pitchFamily="2" charset="-122"/>
              <a:cs typeface="Times New Roman"/>
            </a:endParaRPr>
          </a:p>
          <a:p>
            <a:pPr eaLnBrk="1" hangingPunct="1">
              <a:defRPr/>
            </a:pPr>
            <a:r>
              <a:rPr lang="zh-CN" altLang="zh-CN" sz="2400" b="1" kern="100" dirty="0" smtClean="0">
                <a:ea typeface="宋体"/>
                <a:cs typeface="宋体"/>
              </a:rPr>
              <a:t>②</a:t>
            </a:r>
            <a:r>
              <a:rPr lang="zh-CN" altLang="zh-CN" sz="2400" b="1" kern="100" dirty="0" smtClean="0">
                <a:latin typeface="Times New Roman"/>
                <a:ea typeface="华文新魏" pitchFamily="2" charset="-122"/>
                <a:cs typeface="Times New Roman"/>
              </a:rPr>
              <a:t>系统误差</a:t>
            </a:r>
            <a:r>
              <a:rPr lang="en-US" altLang="zh-CN" sz="2400" b="1" kern="100" dirty="0" smtClean="0">
                <a:latin typeface="Times New Roman"/>
                <a:ea typeface="华文新魏" pitchFamily="2" charset="-122"/>
              </a:rPr>
              <a:t>  </a:t>
            </a:r>
            <a:r>
              <a:rPr lang="zh-CN" altLang="zh-CN" sz="2400" b="1" kern="100" dirty="0" smtClean="0">
                <a:latin typeface="Times New Roman"/>
                <a:ea typeface="华文新魏" pitchFamily="2" charset="-122"/>
                <a:cs typeface="Times New Roman"/>
              </a:rPr>
              <a:t>可用配套仪器做对比实验加以校正；</a:t>
            </a:r>
            <a:endParaRPr lang="en-US" altLang="zh-CN" sz="2400" b="1" kern="100" dirty="0" smtClean="0">
              <a:latin typeface="Times New Roman"/>
              <a:ea typeface="华文新魏" pitchFamily="2" charset="-122"/>
              <a:cs typeface="Times New Roman"/>
            </a:endParaRPr>
          </a:p>
          <a:p>
            <a:pPr eaLnBrk="1" hangingPunct="1">
              <a:defRPr/>
            </a:pPr>
            <a:r>
              <a:rPr lang="zh-CN" altLang="zh-CN" sz="2400" b="1" kern="100" dirty="0" smtClean="0">
                <a:ea typeface="宋体"/>
                <a:cs typeface="宋体"/>
              </a:rPr>
              <a:t>③</a:t>
            </a:r>
            <a:r>
              <a:rPr lang="zh-CN" altLang="zh-CN" sz="2400" b="1" kern="100" dirty="0" smtClean="0">
                <a:latin typeface="Times New Roman"/>
                <a:ea typeface="华文新魏" pitchFamily="2" charset="-122"/>
                <a:cs typeface="Times New Roman"/>
              </a:rPr>
              <a:t>系统误差</a:t>
            </a:r>
            <a:r>
              <a:rPr lang="en-US" altLang="zh-CN" sz="2400" b="1" kern="100" dirty="0" smtClean="0">
                <a:latin typeface="Times New Roman"/>
                <a:ea typeface="华文新魏" pitchFamily="2" charset="-122"/>
              </a:rPr>
              <a:t>  </a:t>
            </a:r>
            <a:r>
              <a:rPr lang="zh-CN" altLang="zh-CN" sz="2400" b="1" kern="100" dirty="0" smtClean="0">
                <a:latin typeface="Times New Roman"/>
                <a:ea typeface="华文新魏" pitchFamily="2" charset="-122"/>
                <a:cs typeface="Times New Roman"/>
              </a:rPr>
              <a:t>更换沉淀剂或改变条件使沉淀完全；</a:t>
            </a:r>
            <a:endParaRPr lang="en-US" altLang="zh-CN" sz="2400" b="1" kern="100" dirty="0" smtClean="0">
              <a:latin typeface="Times New Roman"/>
              <a:ea typeface="华文新魏" pitchFamily="2" charset="-122"/>
              <a:cs typeface="Times New Roman"/>
            </a:endParaRPr>
          </a:p>
          <a:p>
            <a:pPr eaLnBrk="1" hangingPunct="1">
              <a:defRPr/>
            </a:pPr>
            <a:r>
              <a:rPr lang="zh-CN" altLang="zh-CN" sz="2400" b="1" kern="100" dirty="0" smtClean="0">
                <a:ea typeface="宋体"/>
                <a:cs typeface="宋体"/>
              </a:rPr>
              <a:t>④</a:t>
            </a:r>
            <a:r>
              <a:rPr lang="zh-CN" altLang="zh-CN" sz="2400" b="1" kern="100" dirty="0" smtClean="0">
                <a:latin typeface="Times New Roman"/>
                <a:ea typeface="华文新魏" pitchFamily="2" charset="-122"/>
                <a:cs typeface="Times New Roman"/>
              </a:rPr>
              <a:t>系统误差</a:t>
            </a:r>
            <a:r>
              <a:rPr lang="en-US" altLang="zh-CN" sz="2400" b="1" kern="100" dirty="0" smtClean="0">
                <a:latin typeface="Times New Roman"/>
                <a:ea typeface="华文新魏" pitchFamily="2" charset="-122"/>
              </a:rPr>
              <a:t>  </a:t>
            </a:r>
            <a:r>
              <a:rPr lang="zh-CN" altLang="zh-CN" sz="2400" b="1" kern="100" dirty="0" smtClean="0">
                <a:latin typeface="Times New Roman"/>
                <a:ea typeface="华文新魏" pitchFamily="2" charset="-122"/>
                <a:cs typeface="Times New Roman"/>
              </a:rPr>
              <a:t>用空白实验加以校正；</a:t>
            </a:r>
            <a:endParaRPr lang="en-US" altLang="zh-CN" sz="2400" b="1" kern="100" dirty="0" smtClean="0">
              <a:latin typeface="Times New Roman"/>
              <a:ea typeface="华文新魏" pitchFamily="2" charset="-122"/>
              <a:cs typeface="Times New Roman"/>
            </a:endParaRPr>
          </a:p>
          <a:p>
            <a:pPr eaLnBrk="1" hangingPunct="1">
              <a:defRPr/>
            </a:pPr>
            <a:r>
              <a:rPr lang="zh-CN" altLang="zh-CN" sz="2400" b="1" kern="100" dirty="0" smtClean="0">
                <a:ea typeface="宋体"/>
                <a:cs typeface="宋体"/>
              </a:rPr>
              <a:t>⑤</a:t>
            </a:r>
            <a:r>
              <a:rPr lang="zh-CN" altLang="zh-CN" sz="2400" b="1" kern="100" dirty="0" smtClean="0">
                <a:latin typeface="Times New Roman"/>
                <a:ea typeface="华文新魏" pitchFamily="2" charset="-122"/>
                <a:cs typeface="Times New Roman"/>
              </a:rPr>
              <a:t>系统误差</a:t>
            </a:r>
            <a:r>
              <a:rPr lang="en-US" altLang="zh-CN" sz="2400" b="1" kern="100" dirty="0" smtClean="0">
                <a:latin typeface="Times New Roman"/>
                <a:ea typeface="华文新魏" pitchFamily="2" charset="-122"/>
              </a:rPr>
              <a:t>  </a:t>
            </a:r>
            <a:r>
              <a:rPr lang="zh-CN" altLang="zh-CN" sz="2400" b="1" kern="100" dirty="0" smtClean="0">
                <a:latin typeface="Times New Roman"/>
                <a:ea typeface="华文新魏" pitchFamily="2" charset="-122"/>
                <a:cs typeface="Times New Roman"/>
              </a:rPr>
              <a:t>换纯度高的草酸钠（</a:t>
            </a:r>
            <a:r>
              <a:rPr lang="en-US" altLang="zh-CN" sz="2400" b="1" kern="100" dirty="0" smtClean="0">
                <a:latin typeface="Times New Roman"/>
                <a:ea typeface="华文新魏" pitchFamily="2" charset="-122"/>
              </a:rPr>
              <a:t>99.9%</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eaLnBrk="1" hangingPunct="1">
              <a:defRPr/>
            </a:pPr>
            <a:r>
              <a:rPr lang="zh-CN" altLang="zh-CN" sz="2400" b="1" kern="100" dirty="0" smtClean="0">
                <a:ea typeface="宋体"/>
                <a:cs typeface="宋体"/>
              </a:rPr>
              <a:t>⑥</a:t>
            </a:r>
            <a:r>
              <a:rPr lang="zh-CN" altLang="zh-CN" sz="2400" b="1" kern="100" dirty="0" smtClean="0">
                <a:latin typeface="Times New Roman"/>
                <a:ea typeface="华文新魏" pitchFamily="2" charset="-122"/>
                <a:cs typeface="Times New Roman"/>
              </a:rPr>
              <a:t>偶然误差；</a:t>
            </a:r>
            <a:endParaRPr lang="en-US" altLang="zh-CN" sz="2400" b="1" kern="100" dirty="0" smtClean="0">
              <a:latin typeface="Times New Roman"/>
              <a:ea typeface="华文新魏" pitchFamily="2" charset="-122"/>
              <a:cs typeface="Times New Roman"/>
            </a:endParaRPr>
          </a:p>
          <a:p>
            <a:pPr eaLnBrk="1" hangingPunct="1">
              <a:defRPr/>
            </a:pPr>
            <a:r>
              <a:rPr lang="zh-CN" altLang="zh-CN" sz="2400" b="1" kern="100" dirty="0" smtClean="0">
                <a:ea typeface="宋体"/>
                <a:cs typeface="宋体"/>
              </a:rPr>
              <a:t>⑦</a:t>
            </a:r>
            <a:r>
              <a:rPr lang="zh-CN" altLang="zh-CN" sz="2400" b="1" kern="100" dirty="0" smtClean="0">
                <a:latin typeface="Times New Roman"/>
                <a:ea typeface="华文新魏" pitchFamily="2" charset="-122"/>
                <a:cs typeface="Times New Roman"/>
              </a:rPr>
              <a:t>系统误差</a:t>
            </a:r>
            <a:r>
              <a:rPr lang="en-US" altLang="zh-CN" sz="2400" b="1" kern="100" dirty="0" smtClean="0">
                <a:latin typeface="Times New Roman"/>
                <a:ea typeface="华文新魏" pitchFamily="2" charset="-122"/>
              </a:rPr>
              <a:t>  </a:t>
            </a:r>
            <a:r>
              <a:rPr lang="zh-CN" altLang="zh-CN" sz="2400" b="1" kern="100" dirty="0" smtClean="0">
                <a:latin typeface="Times New Roman"/>
                <a:ea typeface="华文新魏" pitchFamily="2" charset="-122"/>
                <a:cs typeface="Times New Roman"/>
              </a:rPr>
              <a:t>更换天平</a:t>
            </a:r>
            <a:endParaRPr kumimoji="1" lang="en-US" altLang="zh-CN" sz="2400" b="1" dirty="0" smtClean="0">
              <a:ea typeface="华文新魏" pitchFamily="2" charset="-122"/>
            </a:endParaRPr>
          </a:p>
        </p:txBody>
      </p:sp>
      <p:sp>
        <p:nvSpPr>
          <p:cNvPr id="10245"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checkerboard(across)">
                                      <p:cBhvr>
                                        <p:cTn id="7" dur="500"/>
                                        <p:tgtEl>
                                          <p:spTgt spid="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checkerboard(across)">
                                      <p:cBhvr>
                                        <p:cTn id="12" dur="500"/>
                                        <p:tgtEl>
                                          <p:spTgt spid="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checkerboard(across)">
                                      <p:cBhvr>
                                        <p:cTn id="17" dur="500"/>
                                        <p:tgtEl>
                                          <p:spTgt spid="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checkerboard(across)">
                                      <p:cBhvr>
                                        <p:cTn id="22" dur="500"/>
                                        <p:tgtEl>
                                          <p:spTgt spid="8">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checkerboard(across)">
                                      <p:cBhvr>
                                        <p:cTn id="27" dur="500"/>
                                        <p:tgtEl>
                                          <p:spTgt spid="8">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checkerboard(across)">
                                      <p:cBhvr>
                                        <p:cTn id="32" dur="500"/>
                                        <p:tgtEl>
                                          <p:spTgt spid="8">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8">
                                            <p:txEl>
                                              <p:pRg st="5" end="5"/>
                                            </p:txEl>
                                          </p:spTgt>
                                        </p:tgtEl>
                                        <p:attrNameLst>
                                          <p:attrName>style.visibility</p:attrName>
                                        </p:attrNameLst>
                                      </p:cBhvr>
                                      <p:to>
                                        <p:strVal val="visible"/>
                                      </p:to>
                                    </p:set>
                                    <p:animEffect transition="in" filter="checkerboard(across)">
                                      <p:cBhvr>
                                        <p:cTn id="37" dur="500"/>
                                        <p:tgtEl>
                                          <p:spTgt spid="8">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8">
                                            <p:txEl>
                                              <p:pRg st="6" end="6"/>
                                            </p:txEl>
                                          </p:spTgt>
                                        </p:tgtEl>
                                        <p:attrNameLst>
                                          <p:attrName>style.visibility</p:attrName>
                                        </p:attrNameLst>
                                      </p:cBhvr>
                                      <p:to>
                                        <p:strVal val="visible"/>
                                      </p:to>
                                    </p:set>
                                    <p:animEffect transition="in" filter="checkerboard(across)">
                                      <p:cBhvr>
                                        <p:cTn id="4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autoUpdateAnimBg="0" advAuto="0"/>
      <p:bldP spid="8"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8302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zh-CN" altLang="zh-CN" sz="2400" b="1" kern="100" dirty="0">
                <a:latin typeface="Times New Roman"/>
                <a:ea typeface="华文新魏" pitchFamily="2" charset="-122"/>
                <a:cs typeface="Times New Roman"/>
              </a:rPr>
              <a:t>准确度用误差</a:t>
            </a:r>
            <a:r>
              <a:rPr lang="zh-CN" altLang="zh-CN" sz="2400" b="1" kern="100" dirty="0" smtClean="0">
                <a:latin typeface="Times New Roman"/>
                <a:ea typeface="华文新魏" pitchFamily="2" charset="-122"/>
                <a:cs typeface="Times New Roman"/>
              </a:rPr>
              <a:t>衡量，精密度</a:t>
            </a:r>
            <a:r>
              <a:rPr lang="zh-CN" altLang="zh-CN" sz="2400" b="1" kern="100" dirty="0">
                <a:latin typeface="Times New Roman"/>
                <a:ea typeface="华文新魏" pitchFamily="2" charset="-122"/>
                <a:cs typeface="Times New Roman"/>
              </a:rPr>
              <a:t>用偏差衡量。</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57012"/>
            <a:ext cx="5329238" cy="195438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1-9</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某</a:t>
            </a:r>
            <a:r>
              <a:rPr lang="zh-CN" altLang="zh-CN" sz="2400" b="1" kern="100" dirty="0">
                <a:latin typeface="Times New Roman"/>
                <a:ea typeface="华文新魏" pitchFamily="2" charset="-122"/>
                <a:cs typeface="Times New Roman"/>
              </a:rPr>
              <a:t>铁矿石中</a:t>
            </a:r>
            <a:r>
              <a:rPr lang="en-US" altLang="zh-CN" sz="2400" b="1" kern="100" dirty="0">
                <a:latin typeface="Times New Roman"/>
                <a:ea typeface="华文新魏" pitchFamily="2" charset="-122"/>
              </a:rPr>
              <a:t>Fe</a:t>
            </a:r>
            <a:r>
              <a:rPr lang="zh-CN" altLang="zh-CN" sz="2400" b="1" kern="100" dirty="0">
                <a:latin typeface="Times New Roman"/>
                <a:ea typeface="华文新魏" pitchFamily="2" charset="-122"/>
                <a:cs typeface="Times New Roman"/>
              </a:rPr>
              <a:t>的质量分数为</a:t>
            </a:r>
            <a:r>
              <a:rPr lang="en-US" altLang="zh-CN" sz="2400" b="1" kern="100" dirty="0">
                <a:latin typeface="Times New Roman"/>
                <a:ea typeface="华文新魏" pitchFamily="2" charset="-122"/>
              </a:rPr>
              <a:t>0.3916</a:t>
            </a:r>
            <a:r>
              <a:rPr lang="zh-CN" altLang="zh-CN" sz="2400" b="1" kern="100" dirty="0">
                <a:latin typeface="Times New Roman"/>
                <a:ea typeface="华文新魏" pitchFamily="2" charset="-122"/>
                <a:cs typeface="Times New Roman"/>
              </a:rPr>
              <a:t>，若甲分析得结果为</a:t>
            </a:r>
            <a:r>
              <a:rPr lang="en-US" altLang="zh-CN" sz="2400" b="1" kern="100" dirty="0">
                <a:latin typeface="Times New Roman"/>
                <a:ea typeface="华文新魏" pitchFamily="2" charset="-122"/>
              </a:rPr>
              <a:t>0.3912</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0.3915</a:t>
            </a:r>
            <a:r>
              <a:rPr lang="zh-CN" altLang="zh-CN" sz="2400" b="1" kern="100" dirty="0">
                <a:latin typeface="Times New Roman"/>
                <a:ea typeface="华文新魏" pitchFamily="2" charset="-122"/>
                <a:cs typeface="Times New Roman"/>
              </a:rPr>
              <a:t>和</a:t>
            </a:r>
            <a:r>
              <a:rPr lang="en-US" altLang="zh-CN" sz="2400" b="1" kern="100" dirty="0">
                <a:latin typeface="Times New Roman"/>
                <a:ea typeface="华文新魏" pitchFamily="2" charset="-122"/>
              </a:rPr>
              <a:t>0.3918</a:t>
            </a:r>
            <a:r>
              <a:rPr lang="zh-CN" altLang="zh-CN" sz="2400" b="1" kern="100" dirty="0">
                <a:latin typeface="Times New Roman"/>
                <a:ea typeface="华文新魏" pitchFamily="2" charset="-122"/>
                <a:cs typeface="Times New Roman"/>
              </a:rPr>
              <a:t>，乙分析得</a:t>
            </a:r>
            <a:r>
              <a:rPr lang="en-US" altLang="zh-CN" sz="2400" b="1" kern="100" dirty="0">
                <a:latin typeface="Times New Roman"/>
                <a:ea typeface="华文新魏" pitchFamily="2" charset="-122"/>
              </a:rPr>
              <a:t>0.3919</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0.3924</a:t>
            </a:r>
            <a:r>
              <a:rPr lang="zh-CN" altLang="zh-CN" sz="2400" b="1" kern="100" dirty="0">
                <a:latin typeface="Times New Roman"/>
                <a:ea typeface="华文新魏" pitchFamily="2" charset="-122"/>
                <a:cs typeface="Times New Roman"/>
              </a:rPr>
              <a:t>和</a:t>
            </a:r>
            <a:r>
              <a:rPr lang="en-US" altLang="zh-CN" sz="2400" b="1" kern="100" dirty="0">
                <a:latin typeface="Times New Roman"/>
                <a:ea typeface="华文新魏" pitchFamily="2" charset="-122"/>
              </a:rPr>
              <a:t>0.3928</a:t>
            </a:r>
            <a:r>
              <a:rPr lang="zh-CN" altLang="zh-CN" sz="2400" b="1" kern="100" dirty="0">
                <a:latin typeface="Times New Roman"/>
                <a:ea typeface="华文新魏" pitchFamily="2" charset="-122"/>
                <a:cs typeface="Times New Roman"/>
              </a:rPr>
              <a:t>。试比较甲、乙两人分析结果的准确度和精密度。</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4276725"/>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1200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zh-CN" altLang="zh-CN" sz="2400" b="1" kern="100" dirty="0" smtClean="0">
                <a:latin typeface="Times New Roman"/>
                <a:ea typeface="华文新魏" pitchFamily="2" charset="-122"/>
                <a:cs typeface="Times New Roman"/>
              </a:rPr>
              <a:t>甲：</a:t>
            </a:r>
            <a:r>
              <a:rPr lang="en-US" altLang="zh-CN" sz="2400" b="1" kern="100" dirty="0" smtClean="0">
                <a:latin typeface="Times New Roman"/>
                <a:ea typeface="华文新魏" pitchFamily="2" charset="-122"/>
              </a:rPr>
              <a:t>-0.01</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0.02</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eaLnBrk="1" hangingPunct="1">
              <a:defRPr/>
            </a:pPr>
            <a:r>
              <a:rPr lang="zh-CN" altLang="zh-CN" sz="2400" b="1" kern="100" dirty="0" smtClean="0">
                <a:latin typeface="Times New Roman"/>
                <a:ea typeface="华文新魏" pitchFamily="2" charset="-122"/>
                <a:cs typeface="Times New Roman"/>
              </a:rPr>
              <a:t>乙：</a:t>
            </a:r>
            <a:r>
              <a:rPr lang="en-US" altLang="zh-CN" sz="2400" b="1" kern="100" dirty="0" smtClean="0">
                <a:latin typeface="Times New Roman"/>
                <a:ea typeface="华文新魏" pitchFamily="2" charset="-122"/>
              </a:rPr>
              <a:t>0.08</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0.03</a:t>
            </a:r>
            <a:r>
              <a:rPr lang="zh-CN" altLang="zh-CN" sz="2400" b="1" kern="100" dirty="0" smtClean="0">
                <a:latin typeface="Times New Roman"/>
                <a:ea typeface="华文新魏" pitchFamily="2" charset="-122"/>
                <a:cs typeface="Times New Roman"/>
              </a:rPr>
              <a:t>％</a:t>
            </a:r>
            <a:r>
              <a:rPr lang="zh-CN" altLang="en-US"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eaLnBrk="1" hangingPunct="1">
              <a:defRPr/>
            </a:pPr>
            <a:r>
              <a:rPr lang="zh-CN" altLang="zh-CN" sz="2400" b="1" kern="100" dirty="0" smtClean="0">
                <a:latin typeface="Times New Roman"/>
                <a:ea typeface="华文新魏" pitchFamily="2" charset="-122"/>
                <a:cs typeface="Times New Roman"/>
              </a:rPr>
              <a:t>准确度和精密度均为甲高</a:t>
            </a:r>
            <a:endParaRPr kumimoji="1" lang="en-US" altLang="zh-CN" sz="2400" b="1" dirty="0" smtClean="0">
              <a:ea typeface="华文新魏" pitchFamily="2" charset="-122"/>
            </a:endParaRPr>
          </a:p>
        </p:txBody>
      </p:sp>
      <p:sp>
        <p:nvSpPr>
          <p:cNvPr id="11271"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checkerboard(across)">
                                      <p:cBhvr>
                                        <p:cTn id="17" dur="500"/>
                                        <p:tgtEl>
                                          <p:spTgt spid="6">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8">
                                            <p:txEl>
                                              <p:pRg st="0" end="0"/>
                                            </p:txEl>
                                          </p:spTgt>
                                        </p:tgtEl>
                                        <p:attrNameLst>
                                          <p:attrName>style.visibility</p:attrName>
                                        </p:attrNameLst>
                                      </p:cBhvr>
                                      <p:to>
                                        <p:strVal val="visible"/>
                                      </p:to>
                                    </p:set>
                                    <p:animEffect transition="in" filter="checkerboard(across)">
                                      <p:cBhvr>
                                        <p:cTn id="22" dur="500"/>
                                        <p:tgtEl>
                                          <p:spTgt spid="8">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8">
                                            <p:txEl>
                                              <p:pRg st="1" end="1"/>
                                            </p:txEl>
                                          </p:spTgt>
                                        </p:tgtEl>
                                        <p:attrNameLst>
                                          <p:attrName>style.visibility</p:attrName>
                                        </p:attrNameLst>
                                      </p:cBhvr>
                                      <p:to>
                                        <p:strVal val="visible"/>
                                      </p:to>
                                    </p:set>
                                    <p:animEffect transition="in" filter="checkerboard(across)">
                                      <p:cBhvr>
                                        <p:cTn id="27" dur="500"/>
                                        <p:tgtEl>
                                          <p:spTgt spid="8">
                                            <p:txEl>
                                              <p:pRg st="1" end="1"/>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8">
                                            <p:txEl>
                                              <p:pRg st="2" end="2"/>
                                            </p:txEl>
                                          </p:spTgt>
                                        </p:tgtEl>
                                        <p:attrNameLst>
                                          <p:attrName>style.visibility</p:attrName>
                                        </p:attrNameLst>
                                      </p:cBhvr>
                                      <p:to>
                                        <p:strVal val="visible"/>
                                      </p:to>
                                    </p:set>
                                    <p:animEffect transition="in" filter="checkerboard(across)">
                                      <p:cBhvr>
                                        <p:cTn id="3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2678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zh-CN" altLang="zh-CN" sz="2400" b="1" kern="100" dirty="0">
                <a:latin typeface="Times New Roman"/>
                <a:ea typeface="华文新魏" pitchFamily="2" charset="-122"/>
                <a:cs typeface="Times New Roman"/>
              </a:rPr>
              <a:t>本题中分析结果是否合理决于有效数字的保留是否合理</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a:defRPr/>
            </a:pPr>
            <a:r>
              <a:rPr kumimoji="1" lang="zh-CN" altLang="en-US" sz="2400" b="1" dirty="0">
                <a:ea typeface="华文新魏" pitchFamily="2" charset="-122"/>
              </a:rPr>
              <a:t>因为取</a:t>
            </a:r>
            <a:r>
              <a:rPr kumimoji="1" lang="en-US" altLang="zh-CN" sz="2400" b="1" dirty="0">
                <a:ea typeface="华文新魏" pitchFamily="2" charset="-122"/>
              </a:rPr>
              <a:t>3.5g</a:t>
            </a:r>
            <a:r>
              <a:rPr kumimoji="1" lang="zh-CN" altLang="en-US" sz="2400" b="1" dirty="0">
                <a:ea typeface="华文新魏" pitchFamily="2" charset="-122"/>
              </a:rPr>
              <a:t>试样，只有两位有效数字，相对误差为</a:t>
            </a:r>
            <a:r>
              <a:rPr kumimoji="1" lang="en-US" altLang="zh-CN" sz="2400" b="1" dirty="0">
                <a:ea typeface="华文新魏" pitchFamily="2" charset="-122"/>
              </a:rPr>
              <a:t>1</a:t>
            </a:r>
            <a:r>
              <a:rPr kumimoji="1" lang="zh-CN" altLang="en-US" sz="2400" b="1" dirty="0">
                <a:ea typeface="华文新魏" pitchFamily="2" charset="-122"/>
              </a:rPr>
              <a:t>％，分析结果只能保留两位有效数字，而乙的报告有四位有效数字，相对误差达万分之一，这是不可能实现的。</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404166"/>
            <a:ext cx="5329238" cy="269304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1-10</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甲</a:t>
            </a:r>
            <a:r>
              <a:rPr lang="zh-CN" altLang="zh-CN" sz="2400" b="1" kern="100" dirty="0">
                <a:latin typeface="Times New Roman"/>
                <a:ea typeface="华文新魏" pitchFamily="2" charset="-122"/>
                <a:cs typeface="Times New Roman"/>
              </a:rPr>
              <a:t>、乙两人同时分析一矿物中的</a:t>
            </a:r>
            <a:r>
              <a:rPr lang="en-US" altLang="zh-CN" sz="2400" b="1" kern="100" dirty="0">
                <a:latin typeface="Times New Roman"/>
                <a:ea typeface="华文新魏" pitchFamily="2" charset="-122"/>
                <a:cs typeface="Times New Roman"/>
              </a:rPr>
              <a:t>S</a:t>
            </a:r>
            <a:r>
              <a:rPr lang="zh-CN" altLang="zh-CN" sz="2400" b="1" kern="100" dirty="0">
                <a:latin typeface="Times New Roman"/>
                <a:ea typeface="华文新魏" pitchFamily="2" charset="-122"/>
                <a:cs typeface="Times New Roman"/>
              </a:rPr>
              <a:t>的质量分数，每次取样</a:t>
            </a:r>
            <a:r>
              <a:rPr lang="en-US" altLang="zh-CN" sz="2400" b="1" kern="100" dirty="0">
                <a:latin typeface="Times New Roman"/>
                <a:ea typeface="华文新魏" pitchFamily="2" charset="-122"/>
                <a:cs typeface="Times New Roman"/>
              </a:rPr>
              <a:t>3.5g</a:t>
            </a:r>
            <a:r>
              <a:rPr lang="zh-CN" altLang="zh-CN" sz="2400" b="1" kern="100" dirty="0">
                <a:latin typeface="Times New Roman"/>
                <a:ea typeface="华文新魏" pitchFamily="2" charset="-122"/>
                <a:cs typeface="Times New Roman"/>
              </a:rPr>
              <a:t>，分析结果分别报告为：</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Times New Roman"/>
                <a:ea typeface="华文新魏" pitchFamily="2" charset="-122"/>
                <a:cs typeface="Times New Roman"/>
              </a:rPr>
              <a:t>甲：</a:t>
            </a:r>
            <a:r>
              <a:rPr lang="en-US" altLang="zh-CN" sz="2400" b="1" kern="100" dirty="0">
                <a:latin typeface="Times New Roman"/>
                <a:ea typeface="华文新魏" pitchFamily="2" charset="-122"/>
                <a:cs typeface="Times New Roman"/>
              </a:rPr>
              <a:t>0.00042</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0.00041</a:t>
            </a:r>
            <a:r>
              <a:rPr lang="zh-CN" altLang="zh-CN" sz="2400" b="1" kern="100" dirty="0">
                <a:latin typeface="Times New Roman"/>
                <a:ea typeface="华文新魏" pitchFamily="2" charset="-122"/>
                <a:cs typeface="Times New Roman"/>
              </a:rPr>
              <a:t>；</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Times New Roman"/>
                <a:ea typeface="华文新魏" pitchFamily="2" charset="-122"/>
                <a:cs typeface="Times New Roman"/>
              </a:rPr>
              <a:t>乙：</a:t>
            </a:r>
            <a:r>
              <a:rPr lang="en-US" altLang="zh-CN" sz="2400" b="1" kern="100" dirty="0">
                <a:latin typeface="Times New Roman"/>
                <a:ea typeface="华文新魏" pitchFamily="2" charset="-122"/>
                <a:cs typeface="Times New Roman"/>
              </a:rPr>
              <a:t>0.0004199</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0.0004201</a:t>
            </a:r>
            <a:r>
              <a:rPr lang="zh-CN" altLang="zh-CN" sz="2400" b="1" kern="100" dirty="0">
                <a:latin typeface="Times New Roman"/>
                <a:ea typeface="华文新魏" pitchFamily="2" charset="-122"/>
                <a:cs typeface="Times New Roman"/>
              </a:rPr>
              <a:t>。</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Times New Roman"/>
                <a:ea typeface="华文新魏" pitchFamily="2" charset="-122"/>
                <a:cs typeface="Times New Roman"/>
              </a:rPr>
              <a:t>哪份报告的分析结果是合理的？为什么</a:t>
            </a:r>
            <a:r>
              <a:rPr lang="zh-CN" altLang="zh-CN" sz="2400" b="1" kern="100" dirty="0" smtClean="0">
                <a:latin typeface="Times New Roman"/>
                <a:ea typeface="华文新魏" pitchFamily="2" charset="-122"/>
                <a:cs typeface="Times New Roman"/>
              </a:rPr>
              <a:t>？</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zh-CN" altLang="zh-CN" sz="2400" b="1" kern="100" dirty="0" smtClean="0">
                <a:latin typeface="Times New Roman"/>
                <a:ea typeface="华文新魏" pitchFamily="2" charset="-122"/>
                <a:cs typeface="Times New Roman"/>
              </a:rPr>
              <a:t>甲的报告合理</a:t>
            </a:r>
            <a:endParaRPr kumimoji="1" lang="en-US" altLang="zh-CN" sz="2400" b="1" dirty="0" smtClean="0">
              <a:ea typeface="华文新魏" pitchFamily="2" charset="-122"/>
            </a:endParaRPr>
          </a:p>
        </p:txBody>
      </p:sp>
      <p:sp>
        <p:nvSpPr>
          <p:cNvPr id="12295"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checkerboard(across)">
                                      <p:cBhvr>
                                        <p:cTn id="22" dur="500"/>
                                        <p:tgtEl>
                                          <p:spTgt spid="6">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checkerboard(across)">
                                      <p:cBhvr>
                                        <p:cTn id="2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19383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en-US" altLang="zh-CN" sz="2400" b="1" kern="100" dirty="0">
                <a:latin typeface="Times New Roman"/>
                <a:ea typeface="宋体"/>
              </a:rPr>
              <a:t>Na</a:t>
            </a:r>
            <a:r>
              <a:rPr lang="en-US" altLang="zh-CN" sz="2400" b="1" kern="100" baseline="-25000" dirty="0">
                <a:latin typeface="Times New Roman"/>
                <a:ea typeface="宋体"/>
              </a:rPr>
              <a:t>2</a:t>
            </a:r>
            <a:r>
              <a:rPr lang="en-US" altLang="zh-CN" sz="2400" b="1" kern="100" dirty="0">
                <a:latin typeface="Times New Roman"/>
                <a:ea typeface="宋体"/>
              </a:rPr>
              <a:t>CO</a:t>
            </a:r>
            <a:r>
              <a:rPr lang="en-US" altLang="zh-CN" sz="2400" b="1" kern="100" baseline="-25000" dirty="0">
                <a:latin typeface="Times New Roman"/>
                <a:ea typeface="宋体"/>
              </a:rPr>
              <a:t>3</a:t>
            </a:r>
            <a:r>
              <a:rPr lang="en-US" altLang="zh-CN" sz="2400" b="1" kern="100" dirty="0">
                <a:latin typeface="Times New Roman"/>
                <a:ea typeface="宋体"/>
              </a:rPr>
              <a:t>+2HCl=2NaCl+H</a:t>
            </a:r>
            <a:r>
              <a:rPr lang="en-US" altLang="zh-CN" sz="2400" b="1" kern="100" baseline="-25000" dirty="0">
                <a:latin typeface="Times New Roman"/>
                <a:ea typeface="宋体"/>
              </a:rPr>
              <a:t>2</a:t>
            </a:r>
            <a:r>
              <a:rPr lang="en-US" altLang="zh-CN" sz="2400" b="1" kern="100" dirty="0">
                <a:latin typeface="Times New Roman"/>
                <a:ea typeface="宋体"/>
              </a:rPr>
              <a:t>O+CO</a:t>
            </a:r>
            <a:r>
              <a:rPr lang="en-US" altLang="zh-CN" sz="2400" b="1" kern="100" baseline="-25000" dirty="0">
                <a:latin typeface="Times New Roman"/>
                <a:ea typeface="宋体"/>
              </a:rPr>
              <a:t>2</a:t>
            </a:r>
            <a:endParaRPr lang="en-US" altLang="zh-CN" sz="2400" b="1" kern="100" dirty="0" smtClean="0">
              <a:latin typeface="Times New Roman"/>
              <a:ea typeface="华文新魏" pitchFamily="2" charset="-122"/>
              <a:cs typeface="Times New Roman"/>
            </a:endParaRPr>
          </a:p>
          <a:p>
            <a:pPr>
              <a:defRPr/>
            </a:pPr>
            <a:r>
              <a:rPr lang="en-US" altLang="zh-CN" sz="2400" b="1" dirty="0"/>
              <a:t>Na</a:t>
            </a:r>
            <a:r>
              <a:rPr lang="en-US" altLang="zh-CN" sz="2400" b="1" baseline="-25000" dirty="0"/>
              <a:t>2</a:t>
            </a:r>
            <a:r>
              <a:rPr lang="en-US" altLang="zh-CN" sz="2400" b="1" dirty="0"/>
              <a:t>B</a:t>
            </a:r>
            <a:r>
              <a:rPr lang="en-US" altLang="zh-CN" sz="2400" b="1" baseline="-25000" dirty="0"/>
              <a:t>4</a:t>
            </a:r>
            <a:r>
              <a:rPr lang="en-US" altLang="zh-CN" sz="2400" b="1" dirty="0"/>
              <a:t>O</a:t>
            </a:r>
            <a:r>
              <a:rPr lang="en-US" altLang="zh-CN" sz="2400" b="1" baseline="-25000" dirty="0"/>
              <a:t>7</a:t>
            </a:r>
            <a:r>
              <a:rPr lang="zh-CN" altLang="zh-CN" sz="2400" b="1" dirty="0"/>
              <a:t>＋</a:t>
            </a:r>
            <a:r>
              <a:rPr lang="en-US" altLang="zh-CN" sz="2400" b="1" dirty="0"/>
              <a:t>2HCl</a:t>
            </a:r>
            <a:r>
              <a:rPr lang="zh-CN" altLang="zh-CN" sz="2400" b="1" dirty="0"/>
              <a:t>＋</a:t>
            </a:r>
            <a:r>
              <a:rPr lang="en-US" altLang="zh-CN" sz="2400" b="1" dirty="0" smtClean="0"/>
              <a:t>5H</a:t>
            </a:r>
            <a:r>
              <a:rPr lang="en-US" altLang="zh-CN" sz="2400" b="1" baseline="-25000" dirty="0" smtClean="0"/>
              <a:t>2</a:t>
            </a:r>
            <a:r>
              <a:rPr lang="en-US" altLang="zh-CN" sz="2400" b="1" dirty="0" smtClean="0"/>
              <a:t>O</a:t>
            </a:r>
          </a:p>
          <a:p>
            <a:pPr>
              <a:defRPr/>
            </a:pPr>
            <a:r>
              <a:rPr lang="en-US" altLang="zh-CN" sz="2400" b="1" dirty="0"/>
              <a:t> </a:t>
            </a:r>
            <a:r>
              <a:rPr lang="en-US" altLang="zh-CN" sz="2400" b="1" dirty="0" smtClean="0"/>
              <a:t>                    =4H</a:t>
            </a:r>
            <a:r>
              <a:rPr lang="en-US" altLang="zh-CN" sz="2400" b="1" baseline="-25000" dirty="0" smtClean="0"/>
              <a:t>3</a:t>
            </a:r>
            <a:r>
              <a:rPr lang="en-US" altLang="zh-CN" sz="2400" b="1" dirty="0" smtClean="0"/>
              <a:t>BO</a:t>
            </a:r>
            <a:r>
              <a:rPr lang="en-US" altLang="zh-CN" sz="2400" b="1" baseline="-25000" dirty="0" smtClean="0"/>
              <a:t>3</a:t>
            </a:r>
            <a:r>
              <a:rPr lang="zh-CN" altLang="zh-CN" sz="2400" b="1" dirty="0"/>
              <a:t>＋</a:t>
            </a:r>
            <a:r>
              <a:rPr lang="en-US" altLang="zh-CN" sz="2400" b="1" dirty="0"/>
              <a:t>2NaCl</a:t>
            </a:r>
            <a:endParaRPr lang="zh-CN" altLang="zh-CN" sz="2400" b="1" dirty="0"/>
          </a:p>
          <a:p>
            <a:pPr>
              <a:defRPr/>
            </a:pPr>
            <a:endParaRPr lang="en-US" altLang="zh-CN" sz="2400" b="1" kern="100" dirty="0" smtClean="0">
              <a:latin typeface="Times New Roman"/>
              <a:ea typeface="华文新魏" pitchFamily="2" charset="-122"/>
              <a:cs typeface="Times New Roman"/>
            </a:endParaRPr>
          </a:p>
          <a:p>
            <a:pPr>
              <a:defRPr/>
            </a:pPr>
            <a:r>
              <a:rPr lang="zh-CN" altLang="zh-CN" sz="2400" b="1" kern="100" dirty="0" smtClean="0">
                <a:latin typeface="Times New Roman"/>
                <a:ea typeface="华文新魏" pitchFamily="2" charset="-122"/>
                <a:cs typeface="Times New Roman"/>
              </a:rPr>
              <a:t>分析天平</a:t>
            </a:r>
            <a:r>
              <a:rPr lang="zh-CN" altLang="zh-CN" sz="2400" b="1" kern="100" dirty="0">
                <a:latin typeface="Times New Roman"/>
                <a:ea typeface="华文新魏" pitchFamily="2" charset="-122"/>
                <a:cs typeface="Times New Roman"/>
              </a:rPr>
              <a:t>的称量误差为</a:t>
            </a:r>
            <a:r>
              <a:rPr lang="en-US" altLang="zh-CN" sz="2400" b="1" kern="100" dirty="0">
                <a:latin typeface="Times New Roman"/>
                <a:ea typeface="华文新魏" pitchFamily="2" charset="-122"/>
              </a:rPr>
              <a:t>0.2mg</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92113"/>
            <a:ext cx="5473700" cy="3062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1-11</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标定</a:t>
            </a:r>
            <a:r>
              <a:rPr lang="en-US" altLang="zh-CN" sz="2400" b="1" i="1" kern="100" dirty="0">
                <a:latin typeface="Times New Roman"/>
                <a:ea typeface="华文新魏" pitchFamily="2" charset="-122"/>
              </a:rPr>
              <a:t>c</a:t>
            </a:r>
            <a:r>
              <a:rPr lang="zh-CN" altLang="zh-CN" sz="2400" b="1" kern="100" dirty="0">
                <a:latin typeface="Times New Roman"/>
                <a:ea typeface="华文新魏" pitchFamily="2" charset="-122"/>
                <a:cs typeface="Times New Roman"/>
              </a:rPr>
              <a:t>（</a:t>
            </a:r>
            <a:r>
              <a:rPr lang="en-US" altLang="zh-CN" sz="2400" b="1" kern="100" dirty="0" err="1">
                <a:latin typeface="Times New Roman"/>
                <a:ea typeface="华文新魏" pitchFamily="2" charset="-122"/>
              </a:rPr>
              <a:t>HCl</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 0.1mol·L</a:t>
            </a:r>
            <a:r>
              <a:rPr lang="en-US" altLang="zh-CN" sz="2400" b="1" kern="100" baseline="30000" dirty="0">
                <a:latin typeface="Times New Roman"/>
                <a:ea typeface="华文新魏" pitchFamily="2" charset="-122"/>
              </a:rPr>
              <a:t>-1</a:t>
            </a:r>
            <a:r>
              <a:rPr lang="zh-CN" altLang="zh-CN" sz="2400" b="1" kern="100" dirty="0">
                <a:latin typeface="Times New Roman"/>
                <a:ea typeface="华文新魏" pitchFamily="2" charset="-122"/>
                <a:cs typeface="Times New Roman"/>
              </a:rPr>
              <a:t>的</a:t>
            </a:r>
            <a:r>
              <a:rPr lang="en-US" altLang="zh-CN" sz="2400" b="1" kern="100" dirty="0" err="1">
                <a:latin typeface="Times New Roman"/>
                <a:ea typeface="华文新魏" pitchFamily="2" charset="-122"/>
              </a:rPr>
              <a:t>HCl</a:t>
            </a:r>
            <a:r>
              <a:rPr lang="zh-CN" altLang="zh-CN" sz="2400" b="1" kern="100" dirty="0">
                <a:latin typeface="Times New Roman"/>
                <a:ea typeface="华文新魏" pitchFamily="2" charset="-122"/>
                <a:cs typeface="Times New Roman"/>
              </a:rPr>
              <a:t>溶液。欲消耗</a:t>
            </a:r>
            <a:r>
              <a:rPr lang="en-US" altLang="zh-CN" sz="2400" b="1" kern="100" dirty="0" err="1">
                <a:latin typeface="Times New Roman"/>
                <a:ea typeface="华文新魏" pitchFamily="2" charset="-122"/>
              </a:rPr>
              <a:t>HCl</a:t>
            </a:r>
            <a:r>
              <a:rPr lang="zh-CN" altLang="zh-CN" sz="2400" b="1" kern="100" dirty="0">
                <a:latin typeface="Times New Roman"/>
                <a:ea typeface="华文新魏" pitchFamily="2" charset="-122"/>
                <a:cs typeface="Times New Roman"/>
              </a:rPr>
              <a:t>溶液</a:t>
            </a:r>
            <a:r>
              <a:rPr lang="en-US" altLang="zh-CN" sz="2400" b="1" kern="100" dirty="0" smtClean="0">
                <a:latin typeface="Times New Roman"/>
                <a:ea typeface="华文新魏" pitchFamily="2" charset="-122"/>
              </a:rPr>
              <a:t>25mL</a:t>
            </a:r>
            <a:r>
              <a:rPr lang="zh-CN" altLang="zh-CN" sz="2400" b="1" kern="100" dirty="0" smtClean="0">
                <a:latin typeface="Times New Roman"/>
                <a:ea typeface="华文新魏" pitchFamily="2" charset="-122"/>
                <a:cs typeface="Times New Roman"/>
              </a:rPr>
              <a:t>左右</a:t>
            </a:r>
            <a:r>
              <a:rPr lang="zh-CN" altLang="zh-CN" sz="2400" b="1" kern="100" dirty="0">
                <a:latin typeface="Times New Roman"/>
                <a:ea typeface="华文新魏" pitchFamily="2" charset="-122"/>
                <a:cs typeface="Times New Roman"/>
              </a:rPr>
              <a:t>，应称</a:t>
            </a:r>
            <a:r>
              <a:rPr lang="zh-CN" altLang="zh-CN" sz="2400" b="1" kern="100" dirty="0" smtClean="0">
                <a:latin typeface="Times New Roman"/>
                <a:ea typeface="华文新魏" pitchFamily="2" charset="-122"/>
                <a:cs typeface="Times New Roman"/>
              </a:rPr>
              <a:t>取</a:t>
            </a:r>
            <a:r>
              <a:rPr lang="en-US" altLang="zh-CN" sz="2400" b="1" kern="100" dirty="0" smtClean="0">
                <a:latin typeface="Times New Roman"/>
                <a:ea typeface="华文新魏" pitchFamily="2" charset="-122"/>
                <a:cs typeface="Times New Roman"/>
              </a:rPr>
              <a:t> </a:t>
            </a:r>
          </a:p>
          <a:p>
            <a:pPr marL="0" indent="0" algn="just">
              <a:spcBef>
                <a:spcPct val="20000"/>
              </a:spcBef>
              <a:buClr>
                <a:srgbClr val="FFFFCC"/>
              </a:buClr>
              <a:buSzPct val="90000"/>
              <a:defRPr/>
            </a:pPr>
            <a:r>
              <a:rPr lang="en-US" altLang="zh-CN" sz="2400" b="1" kern="100" dirty="0" smtClean="0">
                <a:latin typeface="Times New Roman"/>
                <a:ea typeface="华文新魏" pitchFamily="2" charset="-122"/>
              </a:rPr>
              <a:t>Na</a:t>
            </a:r>
            <a:r>
              <a:rPr lang="zh-CN" altLang="zh-CN" sz="2400" b="1" kern="100" baseline="-25000" dirty="0">
                <a:latin typeface="Times New Roman"/>
                <a:ea typeface="华文新魏" pitchFamily="2" charset="-122"/>
                <a:cs typeface="Times New Roman"/>
              </a:rPr>
              <a:t>２</a:t>
            </a:r>
            <a:r>
              <a:rPr lang="en-US" altLang="zh-CN" sz="2400" b="1" kern="100" dirty="0">
                <a:latin typeface="Times New Roman"/>
                <a:ea typeface="华文新魏" pitchFamily="2" charset="-122"/>
              </a:rPr>
              <a:t>CO</a:t>
            </a:r>
            <a:r>
              <a:rPr lang="en-US" altLang="zh-CN" sz="2400" b="1" kern="100" baseline="-25000" dirty="0">
                <a:latin typeface="Times New Roman"/>
                <a:ea typeface="华文新魏" pitchFamily="2" charset="-122"/>
              </a:rPr>
              <a:t>3</a:t>
            </a:r>
            <a:r>
              <a:rPr lang="zh-CN" altLang="zh-CN" sz="2400" b="1" kern="100" dirty="0">
                <a:latin typeface="Times New Roman"/>
                <a:ea typeface="华文新魏" pitchFamily="2" charset="-122"/>
                <a:cs typeface="Times New Roman"/>
              </a:rPr>
              <a:t>基准物多少</a:t>
            </a:r>
            <a:r>
              <a:rPr lang="en-US" altLang="zh-CN" sz="2400" b="1" kern="100" dirty="0">
                <a:latin typeface="Times New Roman"/>
                <a:ea typeface="华文新魏" pitchFamily="2" charset="-122"/>
              </a:rPr>
              <a:t>g</a:t>
            </a:r>
            <a:r>
              <a:rPr lang="zh-CN" altLang="zh-CN" sz="2400" b="1" kern="100" dirty="0">
                <a:latin typeface="Times New Roman"/>
                <a:ea typeface="华文新魏" pitchFamily="2" charset="-122"/>
                <a:cs typeface="Times New Roman"/>
              </a:rPr>
              <a:t>？从称量误差</a:t>
            </a:r>
            <a:r>
              <a:rPr lang="zh-CN" altLang="zh-CN" sz="2400" b="1" kern="100" dirty="0" smtClean="0">
                <a:latin typeface="Times New Roman"/>
                <a:ea typeface="华文新魏" pitchFamily="2" charset="-122"/>
                <a:cs typeface="Times New Roman"/>
              </a:rPr>
              <a:t>考</a:t>
            </a:r>
            <a:endParaRPr lang="en-US" altLang="zh-CN" sz="2400" b="1" kern="100" dirty="0" smtClean="0">
              <a:latin typeface="Times New Roman"/>
              <a:ea typeface="华文新魏" pitchFamily="2" charset="-122"/>
              <a:cs typeface="Times New Roman"/>
            </a:endParaRPr>
          </a:p>
          <a:p>
            <a:pPr marL="0" indent="0" algn="just">
              <a:spcBef>
                <a:spcPct val="20000"/>
              </a:spcBef>
              <a:buClr>
                <a:srgbClr val="FFFFCC"/>
              </a:buClr>
              <a:buSzPct val="90000"/>
              <a:defRPr/>
            </a:pPr>
            <a:r>
              <a:rPr lang="zh-CN" altLang="zh-CN" sz="2400" b="1" kern="100" dirty="0" smtClean="0">
                <a:latin typeface="Times New Roman"/>
                <a:ea typeface="华文新魏" pitchFamily="2" charset="-122"/>
                <a:cs typeface="Times New Roman"/>
              </a:rPr>
              <a:t>虑</a:t>
            </a:r>
            <a:r>
              <a:rPr lang="zh-CN" altLang="zh-CN" sz="2400" b="1" kern="100" dirty="0">
                <a:latin typeface="Times New Roman"/>
                <a:ea typeface="华文新魏" pitchFamily="2" charset="-122"/>
                <a:cs typeface="Times New Roman"/>
              </a:rPr>
              <a:t>能否达到</a:t>
            </a:r>
            <a:r>
              <a:rPr lang="en-US" altLang="zh-CN" sz="2400" b="1" kern="100" dirty="0">
                <a:latin typeface="Times New Roman"/>
                <a:ea typeface="华文新魏" pitchFamily="2" charset="-122"/>
              </a:rPr>
              <a:t>0.1</a:t>
            </a:r>
            <a:r>
              <a:rPr lang="zh-CN" altLang="zh-CN" sz="2400" b="1" kern="100" dirty="0">
                <a:latin typeface="Times New Roman"/>
                <a:ea typeface="华文新魏" pitchFamily="2" charset="-122"/>
                <a:cs typeface="Times New Roman"/>
              </a:rPr>
              <a:t>％的准确度</a:t>
            </a:r>
            <a:r>
              <a:rPr lang="en-US" altLang="zh-CN" sz="2400" b="1" kern="100" dirty="0">
                <a:latin typeface="Times New Roman"/>
                <a:ea typeface="华文新魏" pitchFamily="2" charset="-122"/>
              </a:rPr>
              <a:t>?</a:t>
            </a:r>
            <a:r>
              <a:rPr lang="zh-CN" altLang="zh-CN" sz="2400" b="1" kern="100" dirty="0">
                <a:latin typeface="Times New Roman"/>
                <a:ea typeface="华文新魏" pitchFamily="2" charset="-122"/>
                <a:cs typeface="Times New Roman"/>
              </a:rPr>
              <a:t>若改用</a:t>
            </a:r>
            <a:r>
              <a:rPr lang="zh-CN" altLang="zh-CN" sz="2400" b="1" kern="100" dirty="0" smtClean="0">
                <a:latin typeface="Times New Roman"/>
                <a:ea typeface="华文新魏" pitchFamily="2" charset="-122"/>
                <a:cs typeface="Times New Roman"/>
              </a:rPr>
              <a:t>硼</a:t>
            </a:r>
            <a:endParaRPr lang="en-US" altLang="zh-CN" sz="2400" b="1" kern="100" dirty="0" smtClean="0">
              <a:latin typeface="Times New Roman"/>
              <a:ea typeface="华文新魏" pitchFamily="2" charset="-122"/>
              <a:cs typeface="Times New Roman"/>
            </a:endParaRPr>
          </a:p>
          <a:p>
            <a:pPr marL="0" indent="0" algn="just">
              <a:spcBef>
                <a:spcPct val="20000"/>
              </a:spcBef>
              <a:buClr>
                <a:srgbClr val="FFFFCC"/>
              </a:buClr>
              <a:buSzPct val="90000"/>
              <a:defRPr/>
            </a:pPr>
            <a:r>
              <a:rPr lang="zh-CN" altLang="zh-CN" sz="2400" b="1" kern="100" dirty="0" smtClean="0">
                <a:latin typeface="Times New Roman"/>
                <a:ea typeface="华文新魏" pitchFamily="2" charset="-122"/>
                <a:cs typeface="Times New Roman"/>
              </a:rPr>
              <a:t>砂</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Na</a:t>
            </a:r>
            <a:r>
              <a:rPr lang="en-US" altLang="zh-CN" sz="2400" b="1" kern="100" baseline="-25000" dirty="0">
                <a:latin typeface="Times New Roman"/>
                <a:ea typeface="华文新魏" pitchFamily="2" charset="-122"/>
              </a:rPr>
              <a:t>2</a:t>
            </a:r>
            <a:r>
              <a:rPr lang="en-US" altLang="zh-CN" sz="2400" b="1" kern="100" dirty="0">
                <a:latin typeface="Times New Roman"/>
                <a:ea typeface="华文新魏" pitchFamily="2" charset="-122"/>
              </a:rPr>
              <a:t>B</a:t>
            </a:r>
            <a:r>
              <a:rPr lang="en-US" altLang="zh-CN" sz="2400" b="1" kern="100" baseline="-25000" dirty="0">
                <a:latin typeface="Times New Roman"/>
                <a:ea typeface="华文新魏" pitchFamily="2" charset="-122"/>
              </a:rPr>
              <a:t>4</a:t>
            </a:r>
            <a:r>
              <a:rPr lang="en-US" altLang="zh-CN" sz="2400" b="1" kern="100" dirty="0">
                <a:latin typeface="Times New Roman"/>
                <a:ea typeface="华文新魏" pitchFamily="2" charset="-122"/>
              </a:rPr>
              <a:t>O</a:t>
            </a:r>
            <a:r>
              <a:rPr lang="en-US" altLang="zh-CN" sz="2400" b="1" kern="100" baseline="-25000" dirty="0">
                <a:latin typeface="Times New Roman"/>
                <a:ea typeface="华文新魏" pitchFamily="2" charset="-122"/>
              </a:rPr>
              <a:t>7</a:t>
            </a:r>
            <a:r>
              <a:rPr lang="en-US" altLang="zh-CN" sz="2400" b="1" kern="100" dirty="0">
                <a:latin typeface="Times New Roman"/>
                <a:ea typeface="华文新魏" pitchFamily="2" charset="-122"/>
              </a:rPr>
              <a:t>·10H</a:t>
            </a:r>
            <a:r>
              <a:rPr lang="zh-CN" altLang="zh-CN" sz="2400" b="1" kern="100" baseline="-25000" dirty="0">
                <a:latin typeface="Times New Roman"/>
                <a:ea typeface="华文新魏" pitchFamily="2" charset="-122"/>
                <a:cs typeface="Times New Roman"/>
              </a:rPr>
              <a:t>２</a:t>
            </a:r>
            <a:r>
              <a:rPr lang="en-US" altLang="zh-CN" sz="2400" b="1" kern="100" dirty="0">
                <a:latin typeface="Times New Roman"/>
                <a:ea typeface="华文新魏" pitchFamily="2" charset="-122"/>
              </a:rPr>
              <a:t>O</a:t>
            </a:r>
            <a:r>
              <a:rPr lang="zh-CN" altLang="zh-CN" sz="2400" b="1" kern="100" dirty="0">
                <a:latin typeface="Times New Roman"/>
                <a:ea typeface="华文新魏" pitchFamily="2" charset="-122"/>
                <a:cs typeface="Times New Roman"/>
              </a:rPr>
              <a:t>）为基准物，</a:t>
            </a:r>
            <a:r>
              <a:rPr lang="zh-CN" altLang="zh-CN" sz="2400" b="1" kern="100" dirty="0" smtClean="0">
                <a:latin typeface="Times New Roman"/>
                <a:ea typeface="华文新魏" pitchFamily="2" charset="-122"/>
                <a:cs typeface="Times New Roman"/>
              </a:rPr>
              <a:t>结</a:t>
            </a:r>
            <a:endParaRPr lang="en-US" altLang="zh-CN" sz="2400" b="1" kern="100" dirty="0" smtClean="0">
              <a:latin typeface="Times New Roman"/>
              <a:ea typeface="华文新魏" pitchFamily="2" charset="-122"/>
              <a:cs typeface="Times New Roman"/>
            </a:endParaRPr>
          </a:p>
          <a:p>
            <a:pPr marL="0" indent="0" algn="just">
              <a:spcBef>
                <a:spcPct val="20000"/>
              </a:spcBef>
              <a:buClr>
                <a:srgbClr val="FFFFCC"/>
              </a:buClr>
              <a:buSzPct val="90000"/>
              <a:defRPr/>
            </a:pPr>
            <a:r>
              <a:rPr lang="zh-CN" altLang="zh-CN" sz="2400" b="1" kern="100" dirty="0" smtClean="0">
                <a:latin typeface="Times New Roman"/>
                <a:ea typeface="华文新魏" pitchFamily="2" charset="-122"/>
                <a:cs typeface="Times New Roman"/>
              </a:rPr>
              <a:t>果</a:t>
            </a:r>
            <a:r>
              <a:rPr lang="zh-CN" altLang="zh-CN" sz="2400" b="1" kern="100" dirty="0">
                <a:latin typeface="Times New Roman"/>
                <a:ea typeface="华文新魏" pitchFamily="2" charset="-122"/>
                <a:cs typeface="Times New Roman"/>
              </a:rPr>
              <a:t>又如何？</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8302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en-US" altLang="zh-CN" sz="2400" b="1" kern="100" dirty="0" smtClean="0">
                <a:latin typeface="Times New Roman"/>
                <a:ea typeface="华文新魏" pitchFamily="2" charset="-122"/>
              </a:rPr>
              <a:t>0.13g</a:t>
            </a:r>
            <a:r>
              <a:rPr lang="zh-CN" altLang="zh-CN" sz="2400" b="1" kern="100" dirty="0" smtClean="0">
                <a:latin typeface="Times New Roman"/>
                <a:ea typeface="华文新魏" pitchFamily="2" charset="-122"/>
                <a:cs typeface="Times New Roman"/>
              </a:rPr>
              <a:t>，不能；</a:t>
            </a:r>
            <a:endParaRPr lang="en-US" altLang="zh-CN" sz="2400" b="1" kern="100" dirty="0" smtClean="0">
              <a:latin typeface="Times New Roman"/>
              <a:ea typeface="华文新魏" pitchFamily="2" charset="-122"/>
              <a:cs typeface="Times New Roman"/>
            </a:endParaRPr>
          </a:p>
          <a:p>
            <a:pPr eaLnBrk="1" hangingPunct="1">
              <a:defRPr/>
            </a:pPr>
            <a:r>
              <a:rPr lang="en-US" altLang="zh-CN" sz="2400" b="1" kern="100" dirty="0" smtClean="0">
                <a:latin typeface="Times New Roman"/>
                <a:ea typeface="华文新魏" pitchFamily="2" charset="-122"/>
              </a:rPr>
              <a:t>0.95g</a:t>
            </a:r>
            <a:r>
              <a:rPr lang="zh-CN" altLang="zh-CN" sz="2400" b="1" kern="100" dirty="0" smtClean="0">
                <a:latin typeface="Times New Roman"/>
                <a:ea typeface="华文新魏" pitchFamily="2" charset="-122"/>
                <a:cs typeface="Times New Roman"/>
              </a:rPr>
              <a:t>，能</a:t>
            </a:r>
            <a:endParaRPr kumimoji="1" lang="en-US" altLang="zh-CN" sz="2400" b="1" dirty="0" smtClean="0">
              <a:ea typeface="华文新魏" pitchFamily="2" charset="-122"/>
            </a:endParaRPr>
          </a:p>
        </p:txBody>
      </p:sp>
      <p:sp>
        <p:nvSpPr>
          <p:cNvPr id="13319"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checkerboard(across)">
                                      <p:cBhvr>
                                        <p:cTn id="20" dur="500"/>
                                        <p:tgtEl>
                                          <p:spTgt spid="3">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checkerboard(across)">
                                      <p:cBhvr>
                                        <p:cTn id="25" dur="500"/>
                                        <p:tgtEl>
                                          <p:spTgt spid="3">
                                            <p:txEl>
                                              <p:pRg st="4" end="4"/>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6">
                                            <p:txEl>
                                              <p:pRg st="0" end="0"/>
                                            </p:txEl>
                                          </p:spTgt>
                                        </p:tgtEl>
                                        <p:attrNameLst>
                                          <p:attrName>style.visibility</p:attrName>
                                        </p:attrNameLst>
                                      </p:cBhvr>
                                      <p:to>
                                        <p:strVal val="visible"/>
                                      </p:to>
                                    </p:set>
                                    <p:animEffect transition="in" filter="checkerboard(across)">
                                      <p:cBhvr>
                                        <p:cTn id="30" dur="500"/>
                                        <p:tgtEl>
                                          <p:spTgt spid="6">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8">
                                            <p:txEl>
                                              <p:pRg st="0" end="0"/>
                                            </p:txEl>
                                          </p:spTgt>
                                        </p:tgtEl>
                                        <p:attrNameLst>
                                          <p:attrName>style.visibility</p:attrName>
                                        </p:attrNameLst>
                                      </p:cBhvr>
                                      <p:to>
                                        <p:strVal val="visible"/>
                                      </p:to>
                                    </p:set>
                                    <p:animEffect transition="in" filter="checkerboard(across)">
                                      <p:cBhvr>
                                        <p:cTn id="35" dur="500"/>
                                        <p:tgtEl>
                                          <p:spTgt spid="8">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8">
                                            <p:txEl>
                                              <p:pRg st="1" end="1"/>
                                            </p:txEl>
                                          </p:spTgt>
                                        </p:tgtEl>
                                        <p:attrNameLst>
                                          <p:attrName>style.visibility</p:attrName>
                                        </p:attrNameLst>
                                      </p:cBhvr>
                                      <p:to>
                                        <p:strVal val="visible"/>
                                      </p:to>
                                    </p:set>
                                    <p:animEffect transition="in" filter="checkerboard(across)">
                                      <p:cBhvr>
                                        <p:cTn id="40"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472112" cy="15700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zh-CN" altLang="zh-CN" sz="2400" b="1" kern="100" dirty="0">
                <a:latin typeface="Times New Roman"/>
                <a:ea typeface="华文新魏" pitchFamily="2" charset="-122"/>
                <a:cs typeface="Times New Roman"/>
              </a:rPr>
              <a:t>有效数字是指实际能够测量到的数字。也就是说，在一个数据中，除了</a:t>
            </a:r>
            <a:r>
              <a:rPr lang="zh-CN" altLang="zh-CN" sz="2400" b="1" kern="100" dirty="0" smtClean="0">
                <a:latin typeface="Times New Roman"/>
                <a:ea typeface="华文新魏" pitchFamily="2" charset="-122"/>
                <a:cs typeface="Times New Roman"/>
              </a:rPr>
              <a:t>最后</a:t>
            </a:r>
            <a:endParaRPr lang="en-US" altLang="zh-CN" sz="2400" b="1" kern="100" dirty="0" smtClean="0">
              <a:latin typeface="Times New Roman"/>
              <a:ea typeface="华文新魏" pitchFamily="2" charset="-122"/>
              <a:cs typeface="Times New Roman"/>
            </a:endParaRPr>
          </a:p>
          <a:p>
            <a:pPr>
              <a:defRPr/>
            </a:pPr>
            <a:r>
              <a:rPr lang="zh-CN" altLang="zh-CN" sz="2400" b="1" kern="100" dirty="0" smtClean="0">
                <a:latin typeface="Times New Roman"/>
                <a:ea typeface="华文新魏" pitchFamily="2" charset="-122"/>
                <a:cs typeface="Times New Roman"/>
              </a:rPr>
              <a:t>一</a:t>
            </a:r>
            <a:r>
              <a:rPr lang="zh-CN" altLang="zh-CN" sz="2400" b="1" kern="100" dirty="0">
                <a:latin typeface="Times New Roman"/>
                <a:ea typeface="华文新魏" pitchFamily="2" charset="-122"/>
                <a:cs typeface="Times New Roman"/>
              </a:rPr>
              <a:t>位是不确定的或是可疑的外，</a:t>
            </a:r>
            <a:r>
              <a:rPr lang="zh-CN" altLang="zh-CN" sz="2400" b="1" kern="100" dirty="0" smtClean="0">
                <a:latin typeface="Times New Roman"/>
                <a:ea typeface="华文新魏" pitchFamily="2" charset="-122"/>
                <a:cs typeface="Times New Roman"/>
              </a:rPr>
              <a:t>其他</a:t>
            </a:r>
            <a:endParaRPr lang="en-US" altLang="zh-CN" sz="2400" b="1" kern="100" dirty="0" smtClean="0">
              <a:latin typeface="Times New Roman"/>
              <a:ea typeface="华文新魏" pitchFamily="2" charset="-122"/>
              <a:cs typeface="Times New Roman"/>
            </a:endParaRPr>
          </a:p>
          <a:p>
            <a:pPr>
              <a:defRPr/>
            </a:pPr>
            <a:r>
              <a:rPr lang="zh-CN" altLang="zh-CN" sz="2400" b="1" kern="100" dirty="0" smtClean="0">
                <a:latin typeface="Times New Roman"/>
                <a:ea typeface="华文新魏" pitchFamily="2" charset="-122"/>
                <a:cs typeface="Times New Roman"/>
              </a:rPr>
              <a:t>各位</a:t>
            </a:r>
            <a:r>
              <a:rPr lang="zh-CN" altLang="zh-CN" sz="2400" b="1" kern="100" dirty="0">
                <a:latin typeface="Times New Roman"/>
                <a:ea typeface="华文新魏" pitchFamily="2" charset="-122"/>
                <a:cs typeface="Times New Roman"/>
              </a:rPr>
              <a:t>数字都是确定的。</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44870"/>
            <a:ext cx="5329238" cy="2323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1-12</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下列</a:t>
            </a:r>
            <a:r>
              <a:rPr lang="zh-CN" altLang="zh-CN" sz="2400" b="1" kern="100" dirty="0">
                <a:latin typeface="Times New Roman"/>
                <a:ea typeface="华文新魏" pitchFamily="2" charset="-122"/>
                <a:cs typeface="Times New Roman"/>
              </a:rPr>
              <a:t>数据中各包含几位有效数字</a:t>
            </a:r>
            <a:r>
              <a:rPr lang="en-US" altLang="zh-CN" sz="2400" b="1" kern="100" dirty="0">
                <a:latin typeface="Times New Roman"/>
                <a:ea typeface="华文新魏" pitchFamily="2" charset="-122"/>
                <a:cs typeface="Times New Roman"/>
              </a:rPr>
              <a:t>?</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①</a:t>
            </a:r>
            <a:r>
              <a:rPr lang="en-US" altLang="zh-CN" sz="2400" b="1" kern="100" dirty="0">
                <a:latin typeface="Times New Roman"/>
                <a:ea typeface="华文新魏" pitchFamily="2" charset="-122"/>
                <a:cs typeface="Times New Roman"/>
              </a:rPr>
              <a:t>0.0376</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zh-CN" altLang="zh-CN" sz="2400" b="1" kern="100" dirty="0" smtClean="0">
                <a:latin typeface="Calibri"/>
                <a:ea typeface="宋体"/>
                <a:cs typeface="宋体"/>
              </a:rPr>
              <a:t>②</a:t>
            </a:r>
            <a:r>
              <a:rPr lang="en-US" altLang="zh-CN" sz="2400" b="1" kern="100" dirty="0">
                <a:latin typeface="Times New Roman"/>
                <a:ea typeface="华文新魏" pitchFamily="2" charset="-122"/>
                <a:cs typeface="Times New Roman"/>
              </a:rPr>
              <a:t>1.2067</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zh-CN" altLang="zh-CN" sz="2400" b="1" kern="100" dirty="0" smtClean="0">
                <a:latin typeface="Calibri"/>
                <a:ea typeface="宋体"/>
                <a:cs typeface="宋体"/>
              </a:rPr>
              <a:t>③</a:t>
            </a:r>
            <a:r>
              <a:rPr lang="en-US" altLang="zh-CN" sz="2400" b="1" kern="100" dirty="0">
                <a:latin typeface="Times New Roman"/>
                <a:ea typeface="华文新魏" pitchFamily="2" charset="-122"/>
                <a:cs typeface="Times New Roman"/>
              </a:rPr>
              <a:t>0.2180</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zh-CN" altLang="zh-CN" sz="2400" b="1" kern="100" dirty="0" smtClean="0">
                <a:latin typeface="Calibri"/>
                <a:ea typeface="宋体"/>
                <a:cs typeface="宋体"/>
              </a:rPr>
              <a:t>④</a:t>
            </a:r>
            <a:r>
              <a:rPr lang="en-US" altLang="zh-CN" sz="2400" b="1" kern="100" dirty="0">
                <a:latin typeface="Times New Roman"/>
                <a:ea typeface="华文新魏" pitchFamily="2" charset="-122"/>
                <a:cs typeface="Times New Roman"/>
              </a:rPr>
              <a:t>1.8×10</a:t>
            </a:r>
            <a:r>
              <a:rPr lang="en-US" altLang="zh-CN" sz="2400" b="1" kern="100" baseline="30000" dirty="0">
                <a:latin typeface="Times New Roman"/>
                <a:ea typeface="华文新魏" pitchFamily="2" charset="-122"/>
                <a:cs typeface="Times New Roman"/>
              </a:rPr>
              <a:t>-5</a:t>
            </a:r>
            <a:r>
              <a:rPr lang="zh-CN" altLang="zh-CN" sz="2400" b="1" kern="100" dirty="0" smtClean="0">
                <a:latin typeface="Times New Roman"/>
                <a:ea typeface="华文新魏" pitchFamily="2" charset="-122"/>
                <a:cs typeface="Times New Roman"/>
              </a:rPr>
              <a:t>。</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zh-CN" altLang="zh-CN" sz="2400" b="1" kern="100" dirty="0" smtClean="0">
                <a:ea typeface="宋体"/>
                <a:cs typeface="宋体"/>
              </a:rPr>
              <a:t>①</a:t>
            </a:r>
            <a:r>
              <a:rPr lang="zh-CN" altLang="zh-CN" sz="2400" b="1" kern="100" dirty="0" smtClean="0">
                <a:latin typeface="Times New Roman"/>
                <a:ea typeface="华文新魏" pitchFamily="2" charset="-122"/>
                <a:cs typeface="Times New Roman"/>
              </a:rPr>
              <a:t>三位</a:t>
            </a:r>
            <a:r>
              <a:rPr lang="zh-CN" altLang="zh-CN" sz="2400" b="1" kern="100" dirty="0" smtClean="0">
                <a:ea typeface="宋体"/>
                <a:cs typeface="宋体"/>
              </a:rPr>
              <a:t>②</a:t>
            </a:r>
            <a:r>
              <a:rPr lang="zh-CN" altLang="zh-CN" sz="2400" b="1" kern="100" dirty="0" smtClean="0">
                <a:latin typeface="Times New Roman"/>
                <a:ea typeface="华文新魏" pitchFamily="2" charset="-122"/>
                <a:cs typeface="Times New Roman"/>
              </a:rPr>
              <a:t>五位</a:t>
            </a:r>
            <a:r>
              <a:rPr lang="zh-CN" altLang="zh-CN" sz="2400" b="1" kern="100" dirty="0" smtClean="0">
                <a:ea typeface="宋体"/>
                <a:cs typeface="宋体"/>
              </a:rPr>
              <a:t>③</a:t>
            </a:r>
            <a:r>
              <a:rPr lang="zh-CN" altLang="zh-CN" sz="2400" b="1" kern="100" dirty="0" smtClean="0">
                <a:latin typeface="Times New Roman"/>
                <a:ea typeface="华文新魏" pitchFamily="2" charset="-122"/>
                <a:cs typeface="Times New Roman"/>
              </a:rPr>
              <a:t>四位</a:t>
            </a:r>
            <a:r>
              <a:rPr lang="zh-CN" altLang="zh-CN" sz="2400" b="1" kern="100" dirty="0" smtClean="0">
                <a:ea typeface="宋体"/>
                <a:cs typeface="宋体"/>
              </a:rPr>
              <a:t>④</a:t>
            </a:r>
            <a:r>
              <a:rPr lang="zh-CN" altLang="zh-CN" sz="2400" b="1" kern="100" dirty="0" smtClean="0">
                <a:latin typeface="Times New Roman"/>
                <a:ea typeface="华文新魏" pitchFamily="2" charset="-122"/>
                <a:cs typeface="Times New Roman"/>
              </a:rPr>
              <a:t>两位</a:t>
            </a:r>
            <a:endParaRPr kumimoji="1" lang="en-US" altLang="zh-CN" sz="2400" b="1" dirty="0" smtClean="0">
              <a:ea typeface="华文新魏" pitchFamily="2" charset="-122"/>
            </a:endParaRPr>
          </a:p>
        </p:txBody>
      </p:sp>
      <p:sp>
        <p:nvSpPr>
          <p:cNvPr id="14343"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par>
                                <p:cTn id="13" presetID="5" presetClass="entr" presetSubtype="1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checkerboard(across)">
                                      <p:cBhvr>
                                        <p:cTn id="15" dur="500"/>
                                        <p:tgtEl>
                                          <p:spTgt spid="3">
                                            <p:txEl>
                                              <p:pRg st="1" end="1"/>
                                            </p:txEl>
                                          </p:spTgt>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checkerboard(across)">
                                      <p:cBhvr>
                                        <p:cTn id="18" dur="500"/>
                                        <p:tgtEl>
                                          <p:spTgt spid="3">
                                            <p:txEl>
                                              <p:pRg st="2" end="2"/>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6">
                                            <p:txEl>
                                              <p:pRg st="0" end="0"/>
                                            </p:txEl>
                                          </p:spTgt>
                                        </p:tgtEl>
                                        <p:attrNameLst>
                                          <p:attrName>style.visibility</p:attrName>
                                        </p:attrNameLst>
                                      </p:cBhvr>
                                      <p:to>
                                        <p:strVal val="visible"/>
                                      </p:to>
                                    </p:set>
                                    <p:animEffect transition="in" filter="checkerboard(across)">
                                      <p:cBhvr>
                                        <p:cTn id="23" dur="500"/>
                                        <p:tgtEl>
                                          <p:spTgt spid="6">
                                            <p:txEl>
                                              <p:pRg st="0" end="0"/>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8">
                                            <p:txEl>
                                              <p:pRg st="0" end="0"/>
                                            </p:txEl>
                                          </p:spTgt>
                                        </p:tgtEl>
                                        <p:attrNameLst>
                                          <p:attrName>style.visibility</p:attrName>
                                        </p:attrNameLst>
                                      </p:cBhvr>
                                      <p:to>
                                        <p:strVal val="visible"/>
                                      </p:to>
                                    </p:set>
                                    <p:animEffect transition="in" filter="checkerboard(across)">
                                      <p:cBhvr>
                                        <p:cTn id="28"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30464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zh-CN" altLang="zh-CN" sz="2400" b="1" kern="100" dirty="0">
                <a:latin typeface="Times New Roman"/>
                <a:ea typeface="华文新魏" pitchFamily="2" charset="-122"/>
                <a:cs typeface="Times New Roman"/>
              </a:rPr>
              <a:t>有效数字的运算规则：当测定结果是几个测量数据相加或相减时，所保留的有效数字的位数取决于小数点后位数最少的那个，即绝对误差最大的那个数据；当测定结果是几个测量数据相乘或相除时，所保留的有效数字的位数取决于有效数字位数最少的那个，即相对误差最大的那个数据。</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404819"/>
            <a:ext cx="5473700" cy="35925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1-13</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按</a:t>
            </a:r>
            <a:r>
              <a:rPr lang="zh-CN" altLang="zh-CN" sz="2400" b="1" kern="100" dirty="0">
                <a:latin typeface="Times New Roman"/>
                <a:ea typeface="华文新魏" pitchFamily="2" charset="-122"/>
                <a:cs typeface="Times New Roman"/>
              </a:rPr>
              <a:t>有效数字运算规则，计算下列各式：</a:t>
            </a:r>
            <a:endParaRPr lang="zh-CN" altLang="zh-CN" sz="1050" kern="100" dirty="0">
              <a:latin typeface="Calibri"/>
              <a:ea typeface="宋体"/>
              <a:cs typeface="Times New Roman"/>
            </a:endParaRPr>
          </a:p>
          <a:p>
            <a:pPr algn="just">
              <a:spcAft>
                <a:spcPts val="0"/>
              </a:spcAft>
              <a:defRPr/>
            </a:pPr>
            <a:r>
              <a:rPr lang="zh-CN" altLang="zh-CN" sz="2400" b="1" kern="100" dirty="0">
                <a:latin typeface="Calibri"/>
                <a:ea typeface="宋体"/>
                <a:cs typeface="宋体"/>
              </a:rPr>
              <a:t>①</a:t>
            </a:r>
            <a:r>
              <a:rPr lang="en-US" altLang="zh-CN" sz="2400" b="1" kern="100" dirty="0">
                <a:latin typeface="Times New Roman"/>
                <a:ea typeface="华文新魏" pitchFamily="2" charset="-122"/>
                <a:cs typeface="Times New Roman"/>
              </a:rPr>
              <a:t>2.187 × 0.854 +9.6 × </a:t>
            </a:r>
            <a:r>
              <a:rPr lang="en-US" altLang="zh-CN" sz="2400" b="1" kern="100" dirty="0" smtClean="0">
                <a:latin typeface="Times New Roman"/>
                <a:ea typeface="华文新魏" pitchFamily="2" charset="-122"/>
                <a:cs typeface="Times New Roman"/>
              </a:rPr>
              <a:t>10</a:t>
            </a:r>
            <a:r>
              <a:rPr lang="en-US" altLang="zh-CN" sz="2400" b="1" kern="100" baseline="30000" dirty="0" smtClean="0">
                <a:latin typeface="Times New Roman"/>
                <a:ea typeface="华文新魏" pitchFamily="2" charset="-122"/>
                <a:cs typeface="Times New Roman"/>
              </a:rPr>
              <a:t>-5</a:t>
            </a:r>
          </a:p>
          <a:p>
            <a:pPr algn="just">
              <a:spcAft>
                <a:spcPts val="0"/>
              </a:spcAft>
              <a:defRPr/>
            </a:pPr>
            <a:r>
              <a:rPr lang="en-US" altLang="zh-CN" sz="2400" b="1" kern="100" baseline="30000" dirty="0">
                <a:latin typeface="Times New Roman"/>
                <a:ea typeface="华文新魏" pitchFamily="2" charset="-122"/>
                <a:cs typeface="Times New Roman"/>
              </a:rPr>
              <a:t> </a:t>
            </a:r>
            <a:r>
              <a:rPr lang="en-US" altLang="zh-CN" sz="2400" b="1" kern="100" baseline="30000" dirty="0" smtClean="0">
                <a:latin typeface="Times New Roman"/>
                <a:ea typeface="华文新魏" pitchFamily="2" charset="-122"/>
                <a:cs typeface="Times New Roman"/>
              </a:rPr>
              <a:t>         </a:t>
            </a:r>
            <a:r>
              <a:rPr lang="en-US" altLang="zh-CN" sz="2400" b="1" kern="100" dirty="0" smtClean="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0.0326 × 0.00814</a:t>
            </a:r>
            <a:r>
              <a:rPr lang="zh-CN" altLang="zh-CN" sz="2400" b="1" kern="100" dirty="0">
                <a:latin typeface="Times New Roman"/>
                <a:ea typeface="华文新魏" pitchFamily="2" charset="-122"/>
                <a:cs typeface="Times New Roman"/>
              </a:rPr>
              <a:t>；</a:t>
            </a:r>
            <a:endParaRPr lang="zh-CN" altLang="zh-CN" sz="1050" kern="100" dirty="0">
              <a:latin typeface="Calibri"/>
              <a:ea typeface="宋体"/>
              <a:cs typeface="Times New Roman"/>
            </a:endParaRPr>
          </a:p>
          <a:p>
            <a:pPr algn="just">
              <a:spcAft>
                <a:spcPts val="0"/>
              </a:spcAft>
              <a:defRPr/>
            </a:pPr>
            <a:r>
              <a:rPr lang="zh-CN" altLang="zh-CN" sz="2400" b="1" kern="100" dirty="0">
                <a:latin typeface="Calibri"/>
                <a:ea typeface="宋体"/>
                <a:cs typeface="宋体"/>
              </a:rPr>
              <a:t>②</a:t>
            </a:r>
            <a:r>
              <a:rPr lang="en-US" altLang="zh-CN" sz="2400" b="1" kern="100" dirty="0">
                <a:latin typeface="Times New Roman"/>
                <a:ea typeface="华文新魏" pitchFamily="2" charset="-122"/>
                <a:cs typeface="Times New Roman"/>
              </a:rPr>
              <a:t>213.64 + 4.4 + 0.3244</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algn="just">
              <a:spcAft>
                <a:spcPts val="0"/>
              </a:spcAft>
              <a:defRPr/>
            </a:pPr>
            <a:endParaRPr lang="zh-CN" altLang="zh-CN" sz="2000" kern="100" dirty="0">
              <a:latin typeface="Calibri"/>
              <a:ea typeface="宋体"/>
              <a:cs typeface="Times New Roman"/>
            </a:endParaRPr>
          </a:p>
          <a:p>
            <a:pPr marL="0">
              <a:spcBef>
                <a:spcPct val="20000"/>
              </a:spcBef>
              <a:buClr>
                <a:srgbClr val="FFFFCC"/>
              </a:buClr>
              <a:buSzPct val="90000"/>
              <a:buFont typeface="Wingdings" pitchFamily="2" charset="2"/>
              <a:buNone/>
              <a:defRPr/>
            </a:pPr>
            <a:r>
              <a:rPr lang="zh-CN" altLang="zh-CN" sz="2400" b="1" kern="100" dirty="0" smtClean="0">
                <a:ea typeface="宋体"/>
                <a:cs typeface="宋体"/>
              </a:rPr>
              <a:t>③</a:t>
            </a:r>
            <a:endParaRPr lang="en-US" altLang="zh-CN" sz="2400" b="1" kern="100" dirty="0" smtClean="0">
              <a:ea typeface="宋体"/>
              <a:cs typeface="宋体"/>
            </a:endParaRPr>
          </a:p>
          <a:p>
            <a:pPr marL="0">
              <a:spcBef>
                <a:spcPct val="20000"/>
              </a:spcBef>
              <a:buClr>
                <a:srgbClr val="FFFFCC"/>
              </a:buClr>
              <a:buSzPct val="90000"/>
              <a:buFont typeface="Wingdings" pitchFamily="2" charset="2"/>
              <a:buNone/>
              <a:defRPr/>
            </a:pPr>
            <a:endParaRPr lang="en-US" altLang="zh-CN" sz="2400" b="1" kern="100" dirty="0" smtClean="0">
              <a:ea typeface="宋体"/>
              <a:cs typeface="宋体"/>
            </a:endParaRPr>
          </a:p>
          <a:p>
            <a:pPr marL="0">
              <a:spcBef>
                <a:spcPct val="20000"/>
              </a:spcBef>
              <a:buClr>
                <a:srgbClr val="FFFFCC"/>
              </a:buClr>
              <a:buSzPct val="90000"/>
              <a:buFont typeface="Wingdings" pitchFamily="2" charset="2"/>
              <a:buNone/>
              <a:defRPr/>
            </a:pPr>
            <a:r>
              <a:rPr lang="zh-CN" altLang="zh-CN" sz="2400" b="1" dirty="0" smtClean="0"/>
              <a:t>④</a:t>
            </a:r>
            <a:endParaRPr lang="zh-CN" altLang="en-US" sz="2400" b="1" baseline="30000" dirty="0" smtClean="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zh-CN" altLang="zh-CN" sz="2400" b="1" kern="100" dirty="0" smtClean="0">
                <a:ea typeface="宋体"/>
                <a:cs typeface="宋体"/>
              </a:rPr>
              <a:t>①</a:t>
            </a:r>
            <a:r>
              <a:rPr lang="en-US" altLang="zh-CN" sz="2400" b="1" kern="100" dirty="0" smtClean="0">
                <a:latin typeface="Times New Roman"/>
                <a:ea typeface="华文新魏" pitchFamily="2" charset="-122"/>
              </a:rPr>
              <a:t>1.868</a:t>
            </a:r>
            <a:r>
              <a:rPr lang="zh-CN" altLang="zh-CN" sz="2400" b="1" kern="100" dirty="0" smtClean="0">
                <a:ea typeface="宋体"/>
                <a:cs typeface="宋体"/>
              </a:rPr>
              <a:t>②</a:t>
            </a:r>
            <a:r>
              <a:rPr lang="en-US" altLang="zh-CN" sz="2400" b="1" kern="100" dirty="0" smtClean="0">
                <a:latin typeface="Times New Roman"/>
                <a:ea typeface="华文新魏" pitchFamily="2" charset="-122"/>
              </a:rPr>
              <a:t>218.3</a:t>
            </a:r>
            <a:r>
              <a:rPr lang="zh-CN" altLang="zh-CN" sz="2400" b="1" kern="100" dirty="0" smtClean="0">
                <a:ea typeface="宋体"/>
                <a:cs typeface="宋体"/>
              </a:rPr>
              <a:t>③</a:t>
            </a:r>
            <a:r>
              <a:rPr lang="en-US" altLang="zh-CN" sz="2400" b="1" kern="100" dirty="0" smtClean="0">
                <a:latin typeface="Times New Roman"/>
                <a:ea typeface="华文新魏" pitchFamily="2" charset="-122"/>
              </a:rPr>
              <a:t>705.2</a:t>
            </a:r>
            <a:r>
              <a:rPr lang="zh-CN" altLang="zh-CN" sz="2400" b="1" kern="100" dirty="0" smtClean="0">
                <a:ea typeface="宋体"/>
                <a:cs typeface="宋体"/>
              </a:rPr>
              <a:t>④</a:t>
            </a:r>
            <a:r>
              <a:rPr lang="en-US" altLang="zh-CN" sz="2400" b="1" kern="100" dirty="0" smtClean="0">
                <a:latin typeface="Times New Roman"/>
                <a:ea typeface="华文新魏" pitchFamily="2" charset="-122"/>
              </a:rPr>
              <a:t>5.3×10</a:t>
            </a:r>
            <a:r>
              <a:rPr lang="en-US" altLang="zh-CN" sz="2400" b="1" kern="100" baseline="30000" dirty="0" smtClean="0">
                <a:latin typeface="Times New Roman"/>
                <a:ea typeface="华文新魏" pitchFamily="2" charset="-122"/>
              </a:rPr>
              <a:t>-6</a:t>
            </a:r>
            <a:endParaRPr kumimoji="1" lang="en-US" altLang="zh-CN" sz="2400" b="1" dirty="0" smtClean="0">
              <a:ea typeface="华文新魏" pitchFamily="2" charset="-122"/>
            </a:endParaRPr>
          </a:p>
        </p:txBody>
      </p:sp>
      <p:sp>
        <p:nvSpPr>
          <p:cNvPr id="15367"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cxnSp>
        <p:nvCxnSpPr>
          <p:cNvPr id="16" name="直接连接符 15"/>
          <p:cNvCxnSpPr/>
          <p:nvPr/>
        </p:nvCxnSpPr>
        <p:spPr bwMode="auto">
          <a:xfrm>
            <a:off x="720725" y="2820994"/>
            <a:ext cx="2066925"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15369" name="Rectangle 12"/>
          <p:cNvSpPr>
            <a:spLocks noChangeArrowheads="1"/>
          </p:cNvSpPr>
          <p:nvPr/>
        </p:nvSpPr>
        <p:spPr bwMode="auto">
          <a:xfrm>
            <a:off x="835025" y="2384432"/>
            <a:ext cx="1693863" cy="369887"/>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a:t>9.827×50.62</a:t>
            </a:r>
            <a:endParaRPr lang="en-US" altLang="zh-CN" sz="2400" b="1" baseline="-25000"/>
          </a:p>
        </p:txBody>
      </p:sp>
      <p:sp>
        <p:nvSpPr>
          <p:cNvPr id="15370" name="Rectangle 12"/>
          <p:cNvSpPr>
            <a:spLocks noChangeArrowheads="1"/>
          </p:cNvSpPr>
          <p:nvPr/>
        </p:nvSpPr>
        <p:spPr bwMode="auto">
          <a:xfrm>
            <a:off x="647700" y="2827344"/>
            <a:ext cx="2157413" cy="368300"/>
          </a:xfrm>
          <a:prstGeom prst="rect">
            <a:avLst/>
          </a:prstGeom>
          <a:noFill/>
          <a:ln w="9525">
            <a:noFill/>
            <a:miter lim="800000"/>
            <a:headEnd/>
            <a:tailEnd/>
          </a:ln>
        </p:spPr>
        <p:txBody>
          <a:bodyPr wrap="none" lIns="0" tIns="0" rIns="0" bIns="0">
            <a:spAutoFit/>
          </a:bodyPr>
          <a:lstStyle/>
          <a:p>
            <a:pPr>
              <a:buFont typeface="Monotype Sorts" pitchFamily="2" charset="2"/>
              <a:buNone/>
            </a:pPr>
            <a:r>
              <a:rPr lang="en-US" altLang="zh-CN" sz="2400" b="1"/>
              <a:t>0.005164×136.6</a:t>
            </a:r>
          </a:p>
        </p:txBody>
      </p:sp>
      <p:sp>
        <p:nvSpPr>
          <p:cNvPr id="15371" name="Rectangle 14"/>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5372" name="对象 8"/>
          <p:cNvGraphicFramePr>
            <a:graphicFrameLocks noChangeAspect="1"/>
          </p:cNvGraphicFramePr>
          <p:nvPr/>
        </p:nvGraphicFramePr>
        <p:xfrm>
          <a:off x="576263" y="3321057"/>
          <a:ext cx="3630612" cy="990600"/>
        </p:xfrm>
        <a:graphic>
          <a:graphicData uri="http://schemas.openxmlformats.org/presentationml/2006/ole">
            <p:oleObj spid="_x0000_s15372" name="公式" r:id="rId4" imgW="1815312" imgH="495085" progId="Equation.3">
              <p:embed/>
            </p:oleObj>
          </a:graphicData>
        </a:graphic>
      </p:graphicFrame>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par>
                          <p:cTn id="13" fill="hold" nodeType="afterGroup">
                            <p:stCondLst>
                              <p:cond delay="500"/>
                            </p:stCondLst>
                            <p:childTnLst>
                              <p:par>
                                <p:cTn id="14" presetID="5" presetClass="entr" presetSubtype="10" fill="hold" grpId="0" nodeType="afterEffect">
                                  <p:stCondLst>
                                    <p:cond delay="0"/>
                                  </p:stCondLst>
                                  <p:childTnLst>
                                    <p:set>
                                      <p:cBhvr>
                                        <p:cTn id="15" dur="1" fill="hold">
                                          <p:stCondLst>
                                            <p:cond delay="0"/>
                                          </p:stCondLst>
                                        </p:cTn>
                                        <p:tgtEl>
                                          <p:spTgt spid="6">
                                            <p:txEl>
                                              <p:pRg st="0" end="0"/>
                                            </p:txEl>
                                          </p:spTgt>
                                        </p:tgtEl>
                                        <p:attrNameLst>
                                          <p:attrName>style.visibility</p:attrName>
                                        </p:attrNameLst>
                                      </p:cBhvr>
                                      <p:to>
                                        <p:strVal val="visible"/>
                                      </p:to>
                                    </p:set>
                                    <p:animEffect transition="in" filter="checkerboard(across)">
                                      <p:cBhvr>
                                        <p:cTn id="16" dur="500"/>
                                        <p:tgtEl>
                                          <p:spTgt spid="6">
                                            <p:txEl>
                                              <p:pRg st="0" end="0"/>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animEffect transition="in" filter="checkerboard(across)">
                                      <p:cBhvr>
                                        <p:cTn id="21"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19138"/>
            <a:ext cx="3168650"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lgn="just">
              <a:spcAft>
                <a:spcPts val="0"/>
              </a:spcAft>
              <a:defRPr/>
            </a:pPr>
            <a:r>
              <a:rPr lang="zh-CN" altLang="zh-CN" sz="2400" b="1" kern="100" dirty="0" smtClean="0">
                <a:latin typeface="Times New Roman"/>
                <a:ea typeface="华文新魏" pitchFamily="2" charset="-122"/>
                <a:cs typeface="Times New Roman"/>
              </a:rPr>
              <a:t>平均偏差</a:t>
            </a:r>
            <a:r>
              <a:rPr lang="zh-CN" altLang="en-US" sz="2400" b="1" kern="100" dirty="0" smtClean="0">
                <a:latin typeface="Times New Roman"/>
                <a:ea typeface="华文新魏" pitchFamily="2" charset="-122"/>
                <a:cs typeface="Times New Roman"/>
              </a:rPr>
              <a:t>：</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66725"/>
            <a:ext cx="5329238" cy="16589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1-14</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某</a:t>
            </a:r>
            <a:r>
              <a:rPr lang="zh-CN" altLang="zh-CN" sz="2400" b="1" kern="100" dirty="0">
                <a:latin typeface="Times New Roman"/>
                <a:ea typeface="华文新魏" pitchFamily="2" charset="-122"/>
                <a:cs typeface="Times New Roman"/>
              </a:rPr>
              <a:t>试样经分析测得</a:t>
            </a:r>
            <a:r>
              <a:rPr lang="en-US" altLang="zh-CN" sz="2400" b="1" kern="100" dirty="0" err="1">
                <a:latin typeface="Times New Roman"/>
                <a:ea typeface="华文新魏" pitchFamily="2" charset="-122"/>
              </a:rPr>
              <a:t>Mn</a:t>
            </a:r>
            <a:r>
              <a:rPr lang="zh-CN" altLang="zh-CN" sz="2400" b="1" kern="100" dirty="0">
                <a:latin typeface="Times New Roman"/>
                <a:ea typeface="华文新魏" pitchFamily="2" charset="-122"/>
                <a:cs typeface="Times New Roman"/>
              </a:rPr>
              <a:t>的质量分数为</a:t>
            </a:r>
            <a:r>
              <a:rPr lang="en-US" altLang="zh-CN" sz="2400" b="1" kern="100" dirty="0">
                <a:latin typeface="Times New Roman"/>
                <a:ea typeface="华文新魏" pitchFamily="2" charset="-122"/>
              </a:rPr>
              <a:t>0.4124</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0.4127</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0.4123</a:t>
            </a:r>
            <a:r>
              <a:rPr lang="zh-CN" altLang="zh-CN" sz="2400" b="1" kern="100" dirty="0">
                <a:latin typeface="Times New Roman"/>
                <a:ea typeface="华文新魏" pitchFamily="2" charset="-122"/>
                <a:cs typeface="Times New Roman"/>
              </a:rPr>
              <a:t>和</a:t>
            </a:r>
            <a:r>
              <a:rPr lang="en-US" altLang="zh-CN" sz="2400" b="1" kern="100" dirty="0">
                <a:latin typeface="Times New Roman"/>
                <a:ea typeface="华文新魏" pitchFamily="2" charset="-122"/>
              </a:rPr>
              <a:t>0.4126</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marL="0" indent="0">
              <a:spcBef>
                <a:spcPct val="20000"/>
              </a:spcBef>
              <a:buClr>
                <a:srgbClr val="FFFFCC"/>
              </a:buClr>
              <a:buSzPct val="90000"/>
              <a:defRPr/>
            </a:pPr>
            <a:r>
              <a:rPr lang="zh-CN" altLang="zh-CN" sz="2400" b="1" kern="100" dirty="0" smtClean="0">
                <a:latin typeface="Times New Roman"/>
                <a:ea typeface="华文新魏" pitchFamily="2" charset="-122"/>
                <a:cs typeface="Times New Roman"/>
              </a:rPr>
              <a:t>求</a:t>
            </a:r>
            <a:r>
              <a:rPr lang="zh-CN" altLang="zh-CN" sz="2400" b="1" kern="100" dirty="0">
                <a:latin typeface="Times New Roman"/>
                <a:ea typeface="华文新魏" pitchFamily="2" charset="-122"/>
                <a:cs typeface="Times New Roman"/>
              </a:rPr>
              <a:t>分析结果的平均偏差和标准偏差。</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en-US" altLang="zh-CN" sz="2400" b="1" kern="100" dirty="0" smtClean="0">
                <a:latin typeface="Times New Roman"/>
                <a:ea typeface="华文新魏" pitchFamily="2" charset="-122"/>
              </a:rPr>
              <a:t>0.00015</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0.00018</a:t>
            </a:r>
            <a:endParaRPr kumimoji="1" lang="en-US" altLang="zh-CN" sz="2400" b="1" dirty="0" smtClean="0">
              <a:ea typeface="华文新魏" pitchFamily="2" charset="-122"/>
            </a:endParaRPr>
          </a:p>
        </p:txBody>
      </p:sp>
      <p:sp>
        <p:nvSpPr>
          <p:cNvPr id="16391"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10" name="矩形 9"/>
          <p:cNvSpPr/>
          <p:nvPr/>
        </p:nvSpPr>
        <p:spPr>
          <a:xfrm>
            <a:off x="5976938" y="2181225"/>
            <a:ext cx="1731962" cy="460375"/>
          </a:xfrm>
          <a:prstGeom prst="rect">
            <a:avLst/>
          </a:prstGeom>
        </p:spPr>
        <p:txBody>
          <a:bodyPr wrap="none">
            <a:spAutoFit/>
          </a:bodyPr>
          <a:lstStyle/>
          <a:p>
            <a:pPr>
              <a:defRPr/>
            </a:pPr>
            <a:r>
              <a:rPr lang="zh-CN" altLang="zh-CN" sz="2400" b="1" kern="100" dirty="0">
                <a:solidFill>
                  <a:srgbClr val="FFFFFF"/>
                </a:solidFill>
                <a:latin typeface="Times New Roman"/>
                <a:ea typeface="华文新魏" pitchFamily="2" charset="-122"/>
                <a:cs typeface="Times New Roman"/>
              </a:rPr>
              <a:t>标准偏差</a:t>
            </a:r>
            <a:r>
              <a:rPr lang="zh-CN" altLang="en-US" sz="2400" b="1" kern="100" dirty="0">
                <a:solidFill>
                  <a:srgbClr val="FFFFFF"/>
                </a:solidFill>
                <a:latin typeface="Times New Roman"/>
                <a:ea typeface="华文新魏" pitchFamily="2" charset="-122"/>
                <a:cs typeface="Times New Roman"/>
              </a:rPr>
              <a:t>：</a:t>
            </a:r>
            <a:endParaRPr lang="zh-CN" altLang="en-US" dirty="0">
              <a:ea typeface="宋体" pitchFamily="2" charset="-122"/>
            </a:endParaRPr>
          </a:p>
        </p:txBody>
      </p:sp>
      <p:sp>
        <p:nvSpPr>
          <p:cNvPr id="16393" name="Rectangle 16"/>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7" name="对象 6"/>
          <p:cNvGraphicFramePr>
            <a:graphicFrameLocks noChangeAspect="1"/>
          </p:cNvGraphicFramePr>
          <p:nvPr/>
        </p:nvGraphicFramePr>
        <p:xfrm>
          <a:off x="7072313" y="1216025"/>
          <a:ext cx="2360612" cy="838200"/>
        </p:xfrm>
        <a:graphic>
          <a:graphicData uri="http://schemas.openxmlformats.org/presentationml/2006/ole">
            <p:oleObj spid="_x0000_s16394" name="公式" r:id="rId4" imgW="1180588" imgH="418918" progId="Equation.3">
              <p:embed/>
            </p:oleObj>
          </a:graphicData>
        </a:graphic>
      </p:graphicFrame>
      <p:sp>
        <p:nvSpPr>
          <p:cNvPr id="16395" name="Rectangle 17"/>
          <p:cNvSpPr>
            <a:spLocks noChangeArrowheads="1"/>
          </p:cNvSpPr>
          <p:nvPr/>
        </p:nvSpPr>
        <p:spPr bwMode="auto">
          <a:xfrm>
            <a:off x="0" y="419100"/>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16396" name="Rectangle 19"/>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4" name="对象 13"/>
          <p:cNvGraphicFramePr>
            <a:graphicFrameLocks noChangeAspect="1"/>
          </p:cNvGraphicFramePr>
          <p:nvPr/>
        </p:nvGraphicFramePr>
        <p:xfrm>
          <a:off x="7099300" y="2663825"/>
          <a:ext cx="1862138" cy="1276350"/>
        </p:xfrm>
        <a:graphic>
          <a:graphicData uri="http://schemas.openxmlformats.org/presentationml/2006/ole">
            <p:oleObj spid="_x0000_s16397" name="公式" r:id="rId5" imgW="926698" imgH="634725" progId="Equation.3">
              <p:embed/>
            </p:oleObj>
          </a:graphicData>
        </a:graphic>
      </p:graphicFrame>
      <p:sp>
        <p:nvSpPr>
          <p:cNvPr id="16398" name="Rectangle 20"/>
          <p:cNvSpPr>
            <a:spLocks noChangeArrowheads="1"/>
          </p:cNvSpPr>
          <p:nvPr/>
        </p:nvSpPr>
        <p:spPr bwMode="auto">
          <a:xfrm>
            <a:off x="0" y="638175"/>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circle(in)">
                                      <p:cBhvr>
                                        <p:cTn id="17" dur="20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0"/>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down)">
                                      <p:cBhvr>
                                        <p:cTn id="26" dur="500"/>
                                        <p:tgtEl>
                                          <p:spTgt spid="1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 presetClass="entr" presetSubtype="1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animEffect transition="in" filter="checkerboard(across)">
                                      <p:cBhvr>
                                        <p:cTn id="31" dur="500"/>
                                        <p:tgtEl>
                                          <p:spTgt spid="6">
                                            <p:txEl>
                                              <p:pRg st="0" end="0"/>
                                            </p:txEl>
                                          </p:spTgt>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8">
                                            <p:txEl>
                                              <p:pRg st="0" end="0"/>
                                            </p:txEl>
                                          </p:spTgt>
                                        </p:tgtEl>
                                        <p:attrNameLst>
                                          <p:attrName>style.visibility</p:attrName>
                                        </p:attrNameLst>
                                      </p:cBhvr>
                                      <p:to>
                                        <p:strVal val="visible"/>
                                      </p:to>
                                    </p:set>
                                    <p:animEffect transition="in" filter="checkerboard(across)">
                                      <p:cBhvr>
                                        <p:cTn id="36"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P spid="10"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67740"/>
            <a:ext cx="5329238" cy="38010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1-15</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测定</a:t>
            </a:r>
            <a:r>
              <a:rPr lang="zh-CN" altLang="zh-CN" sz="2400" b="1" kern="100" dirty="0">
                <a:latin typeface="Times New Roman"/>
                <a:ea typeface="华文新魏" pitchFamily="2" charset="-122"/>
                <a:cs typeface="Times New Roman"/>
              </a:rPr>
              <a:t>某样品中</a:t>
            </a:r>
            <a:r>
              <a:rPr lang="en-US" altLang="zh-CN" sz="2400" b="1" kern="100" dirty="0">
                <a:latin typeface="Times New Roman"/>
                <a:ea typeface="华文新魏" pitchFamily="2" charset="-122"/>
                <a:cs typeface="Times New Roman"/>
              </a:rPr>
              <a:t>N</a:t>
            </a:r>
            <a:r>
              <a:rPr lang="zh-CN" altLang="zh-CN" sz="2400" b="1" kern="100" dirty="0">
                <a:latin typeface="Times New Roman"/>
                <a:ea typeface="华文新魏" pitchFamily="2" charset="-122"/>
                <a:cs typeface="Times New Roman"/>
              </a:rPr>
              <a:t>的质量分数，</a:t>
            </a:r>
            <a:r>
              <a:rPr lang="en-US" altLang="zh-CN" sz="2400" b="1" kern="100" dirty="0">
                <a:latin typeface="Times New Roman"/>
                <a:ea typeface="华文新魏" pitchFamily="2" charset="-122"/>
                <a:cs typeface="Times New Roman"/>
              </a:rPr>
              <a:t>6</a:t>
            </a:r>
            <a:r>
              <a:rPr lang="zh-CN" altLang="zh-CN" sz="2400" b="1" kern="100" dirty="0">
                <a:latin typeface="Times New Roman"/>
                <a:ea typeface="华文新魏" pitchFamily="2" charset="-122"/>
                <a:cs typeface="Times New Roman"/>
              </a:rPr>
              <a:t>次平行测定的结果是</a:t>
            </a:r>
            <a:r>
              <a:rPr lang="en-US" altLang="zh-CN" sz="2400" b="1" kern="100" dirty="0">
                <a:latin typeface="Times New Roman"/>
                <a:ea typeface="华文新魏" pitchFamily="2" charset="-122"/>
                <a:cs typeface="Times New Roman"/>
              </a:rPr>
              <a:t>0.2048</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0.2055</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cs typeface="Times New Roman"/>
              </a:rPr>
              <a:t>0.2058</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0.2060</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0.2053</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cs typeface="Times New Roman"/>
              </a:rPr>
              <a:t>0.2050</a:t>
            </a:r>
            <a:r>
              <a:rPr lang="zh-CN" altLang="zh-CN" sz="2400" b="1" kern="100" dirty="0">
                <a:latin typeface="Times New Roman"/>
                <a:ea typeface="华文新魏" pitchFamily="2" charset="-122"/>
                <a:cs typeface="Times New Roman"/>
              </a:rPr>
              <a:t>。</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①</a:t>
            </a:r>
            <a:r>
              <a:rPr lang="zh-CN" altLang="zh-CN" sz="2400" b="1" kern="100" dirty="0">
                <a:latin typeface="Times New Roman"/>
                <a:ea typeface="华文新魏" pitchFamily="2" charset="-122"/>
                <a:cs typeface="Times New Roman"/>
              </a:rPr>
              <a:t>计算这组数据的平均值、中位数、极差、平均偏差、标准差、变异系数和平均值的标准差；</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Calibri"/>
                <a:ea typeface="宋体"/>
                <a:cs typeface="宋体"/>
              </a:rPr>
              <a:t>②</a:t>
            </a:r>
            <a:r>
              <a:rPr lang="zh-CN" altLang="zh-CN" sz="2400" b="1" kern="100" dirty="0">
                <a:latin typeface="Times New Roman"/>
                <a:ea typeface="华文新魏" pitchFamily="2" charset="-122"/>
                <a:cs typeface="Times New Roman"/>
              </a:rPr>
              <a:t>若此样品是标准样品，其</a:t>
            </a:r>
            <a:r>
              <a:rPr lang="en-US" altLang="zh-CN" sz="2400" b="1" kern="100" dirty="0">
                <a:latin typeface="Times New Roman"/>
                <a:ea typeface="华文新魏" pitchFamily="2" charset="-122"/>
                <a:cs typeface="Times New Roman"/>
              </a:rPr>
              <a:t> N</a:t>
            </a:r>
            <a:r>
              <a:rPr lang="zh-CN" altLang="zh-CN" sz="2400" b="1" kern="100" dirty="0">
                <a:latin typeface="Times New Roman"/>
                <a:ea typeface="华文新魏" pitchFamily="2" charset="-122"/>
                <a:cs typeface="Times New Roman"/>
              </a:rPr>
              <a:t>的质量分数为</a:t>
            </a:r>
            <a:r>
              <a:rPr lang="en-US" altLang="zh-CN" sz="2400" b="1" kern="100" dirty="0">
                <a:latin typeface="Times New Roman"/>
                <a:ea typeface="华文新魏" pitchFamily="2" charset="-122"/>
                <a:cs typeface="Times New Roman"/>
              </a:rPr>
              <a:t>0.2045</a:t>
            </a:r>
            <a:r>
              <a:rPr lang="zh-CN" altLang="zh-CN" sz="2400" b="1" kern="100" dirty="0">
                <a:latin typeface="Times New Roman"/>
                <a:ea typeface="华文新魏" pitchFamily="2" charset="-122"/>
                <a:cs typeface="Times New Roman"/>
              </a:rPr>
              <a:t>，计算以上测定结果的绝对误差和相对误差</a:t>
            </a:r>
            <a:r>
              <a:rPr lang="zh-CN" altLang="zh-CN" sz="2400" b="1" kern="100" dirty="0" smtClean="0">
                <a:latin typeface="Times New Roman"/>
                <a:ea typeface="华文新魏" pitchFamily="2" charset="-122"/>
                <a:cs typeface="Times New Roman"/>
              </a:rPr>
              <a:t>。</a:t>
            </a:r>
            <a:endParaRPr lang="zh-CN" altLang="en-US" sz="2500" b="1" dirty="0" smtClean="0">
              <a:solidFill>
                <a:srgbClr val="FFFF00"/>
              </a:solidFill>
              <a:ea typeface="华文新魏" pitchFamily="2" charset="-122"/>
            </a:endParaRPr>
          </a:p>
        </p:txBody>
      </p:sp>
      <p:sp>
        <p:nvSpPr>
          <p:cNvPr id="17412"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13" name="Rectangle 11"/>
          <p:cNvSpPr>
            <a:spLocks noChangeArrowheads="1"/>
          </p:cNvSpPr>
          <p:nvPr/>
        </p:nvSpPr>
        <p:spPr bwMode="auto">
          <a:xfrm>
            <a:off x="5976938" y="719138"/>
            <a:ext cx="5329237" cy="526297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lgn="just">
              <a:spcAft>
                <a:spcPts val="0"/>
              </a:spcAft>
              <a:defRPr/>
            </a:pPr>
            <a:r>
              <a:rPr lang="zh-CN" altLang="en-US" sz="2400" b="1" kern="100" dirty="0" smtClean="0">
                <a:latin typeface="Times New Roman"/>
                <a:ea typeface="华文新魏" pitchFamily="2" charset="-122"/>
                <a:cs typeface="Times New Roman"/>
              </a:rPr>
              <a:t>平均值：</a:t>
            </a:r>
            <a:endParaRPr lang="en-US" altLang="zh-CN" sz="2400" b="1" kern="100" dirty="0" smtClean="0">
              <a:latin typeface="Times New Roman"/>
              <a:ea typeface="华文新魏" pitchFamily="2" charset="-122"/>
              <a:cs typeface="Times New Roman"/>
            </a:endParaRPr>
          </a:p>
          <a:p>
            <a:pPr algn="just">
              <a:spcAft>
                <a:spcPts val="0"/>
              </a:spcAft>
              <a:defRPr/>
            </a:pPr>
            <a:endParaRPr lang="en-US" altLang="zh-CN" sz="2400" b="1" kern="100" dirty="0" smtClean="0">
              <a:latin typeface="Times New Roman"/>
              <a:ea typeface="华文新魏" pitchFamily="2" charset="-122"/>
              <a:cs typeface="Times New Roman"/>
            </a:endParaRPr>
          </a:p>
          <a:p>
            <a:pPr algn="just">
              <a:spcAft>
                <a:spcPts val="0"/>
              </a:spcAft>
              <a:defRPr/>
            </a:pPr>
            <a:r>
              <a:rPr kumimoji="1" lang="zh-CN" altLang="en-US" sz="2400" b="1" kern="100" dirty="0" smtClean="0">
                <a:latin typeface="Times New Roman"/>
                <a:ea typeface="华文新魏" pitchFamily="2" charset="-122"/>
                <a:cs typeface="Times New Roman"/>
              </a:rPr>
              <a:t>中位数</a:t>
            </a:r>
            <a:r>
              <a:rPr kumimoji="1" lang="zh-CN" altLang="en-US" sz="2400" b="1" kern="100" dirty="0">
                <a:latin typeface="Times New Roman"/>
                <a:ea typeface="华文新魏" pitchFamily="2" charset="-122"/>
                <a:cs typeface="Times New Roman"/>
              </a:rPr>
              <a:t>：将数据按大小顺序排列，位于正中的数据称为</a:t>
            </a:r>
            <a:r>
              <a:rPr kumimoji="1" lang="zh-CN" altLang="en-US" sz="2400" b="1" kern="100" dirty="0" smtClean="0">
                <a:latin typeface="Times New Roman"/>
                <a:ea typeface="华文新魏" pitchFamily="2" charset="-122"/>
                <a:cs typeface="Times New Roman"/>
              </a:rPr>
              <a:t>中位数</a:t>
            </a:r>
            <a:endParaRPr kumimoji="1" lang="en-US" altLang="zh-CN" sz="2400" b="1" kern="100" dirty="0" smtClean="0">
              <a:latin typeface="Times New Roman"/>
              <a:ea typeface="华文新魏" pitchFamily="2" charset="-122"/>
              <a:cs typeface="Times New Roman"/>
            </a:endParaRPr>
          </a:p>
          <a:p>
            <a:pPr algn="just">
              <a:spcAft>
                <a:spcPts val="0"/>
              </a:spcAft>
              <a:defRPr/>
            </a:pPr>
            <a:r>
              <a:rPr kumimoji="1" lang="zh-CN" altLang="en-US" sz="2400" b="1" kern="100" dirty="0" smtClean="0">
                <a:latin typeface="Times New Roman"/>
                <a:ea typeface="华文新魏" pitchFamily="2" charset="-122"/>
                <a:cs typeface="Times New Roman"/>
              </a:rPr>
              <a:t>极差：</a:t>
            </a:r>
            <a:r>
              <a:rPr lang="en-US" altLang="zh-CN" sz="2400" b="1" i="1" kern="100" dirty="0">
                <a:latin typeface="+mn-lt"/>
                <a:ea typeface="宋体"/>
              </a:rPr>
              <a:t>R</a:t>
            </a:r>
            <a:r>
              <a:rPr lang="en-US" altLang="zh-CN" sz="2400" b="1" kern="100" dirty="0">
                <a:latin typeface="+mn-lt"/>
                <a:ea typeface="宋体"/>
              </a:rPr>
              <a:t> = </a:t>
            </a:r>
            <a:r>
              <a:rPr lang="en-US" altLang="zh-CN" sz="2400" b="1" i="1" kern="100" dirty="0" err="1" smtClean="0">
                <a:latin typeface="+mn-lt"/>
                <a:ea typeface="宋体"/>
              </a:rPr>
              <a:t>x</a:t>
            </a:r>
            <a:r>
              <a:rPr lang="en-US" altLang="zh-CN" sz="2400" b="1" i="1" kern="100" baseline="-25000" dirty="0" err="1" smtClean="0">
                <a:latin typeface="+mn-lt"/>
                <a:ea typeface="宋体"/>
              </a:rPr>
              <a:t>max</a:t>
            </a:r>
            <a:r>
              <a:rPr lang="en-US" altLang="zh-CN" sz="2400" b="1" kern="100" dirty="0" err="1" smtClean="0">
                <a:latin typeface="+mn-lt"/>
                <a:ea typeface="宋体"/>
              </a:rPr>
              <a:t>-</a:t>
            </a:r>
            <a:r>
              <a:rPr lang="en-US" altLang="zh-CN" sz="2400" b="1" i="1" kern="100" dirty="0" err="1" smtClean="0">
                <a:latin typeface="+mn-lt"/>
                <a:ea typeface="宋体"/>
              </a:rPr>
              <a:t>x</a:t>
            </a:r>
            <a:r>
              <a:rPr lang="en-US" altLang="zh-CN" sz="2400" b="1" kern="100" baseline="-25000" dirty="0" err="1" smtClean="0">
                <a:latin typeface="+mn-lt"/>
                <a:ea typeface="宋体"/>
              </a:rPr>
              <a:t>min</a:t>
            </a:r>
            <a:r>
              <a:rPr lang="en-US" altLang="zh-CN" sz="2400" b="1" kern="100" dirty="0" smtClean="0">
                <a:latin typeface="+mn-lt"/>
                <a:ea typeface="宋体"/>
              </a:rPr>
              <a:t> </a:t>
            </a:r>
            <a:endParaRPr kumimoji="1" lang="en-US" altLang="zh-CN" sz="2400" b="1" kern="100" dirty="0">
              <a:latin typeface="+mn-lt"/>
              <a:ea typeface="华文新魏" pitchFamily="2" charset="-122"/>
              <a:cs typeface="Times New Roman"/>
            </a:endParaRPr>
          </a:p>
          <a:p>
            <a:pPr algn="just">
              <a:spcAft>
                <a:spcPts val="0"/>
              </a:spcAft>
              <a:defRPr/>
            </a:pPr>
            <a:endParaRPr kumimoji="1" lang="en-US" altLang="zh-CN" sz="2400" b="1" kern="100" dirty="0" smtClean="0">
              <a:latin typeface="Times New Roman"/>
              <a:ea typeface="华文新魏" pitchFamily="2" charset="-122"/>
              <a:cs typeface="Times New Roman"/>
            </a:endParaRPr>
          </a:p>
          <a:p>
            <a:pPr algn="just">
              <a:spcAft>
                <a:spcPts val="0"/>
              </a:spcAft>
              <a:defRPr/>
            </a:pPr>
            <a:r>
              <a:rPr kumimoji="1" lang="zh-CN" altLang="en-US" sz="2400" b="1" kern="100" dirty="0" smtClean="0">
                <a:latin typeface="Times New Roman"/>
                <a:ea typeface="华文新魏" pitchFamily="2" charset="-122"/>
                <a:cs typeface="Times New Roman"/>
              </a:rPr>
              <a:t>平均偏差</a:t>
            </a:r>
            <a:r>
              <a:rPr kumimoji="1" lang="zh-CN" altLang="en-US" sz="2400" b="1" kern="100" dirty="0">
                <a:latin typeface="Times New Roman"/>
                <a:ea typeface="华文新魏" pitchFamily="2" charset="-122"/>
                <a:cs typeface="Times New Roman"/>
              </a:rPr>
              <a:t>：</a:t>
            </a:r>
            <a:endParaRPr kumimoji="1" lang="en-US" altLang="zh-CN" sz="2400" b="1" kern="100" dirty="0" smtClean="0">
              <a:latin typeface="Times New Roman"/>
              <a:ea typeface="华文新魏" pitchFamily="2" charset="-122"/>
              <a:cs typeface="Times New Roman"/>
            </a:endParaRPr>
          </a:p>
          <a:p>
            <a:pPr algn="just">
              <a:spcAft>
                <a:spcPts val="0"/>
              </a:spcAft>
              <a:defRPr/>
            </a:pPr>
            <a:endParaRPr kumimoji="1" lang="en-US" altLang="zh-CN" sz="2400" b="1" kern="100" dirty="0" smtClean="0">
              <a:latin typeface="Times New Roman"/>
              <a:ea typeface="华文新魏" pitchFamily="2" charset="-122"/>
              <a:cs typeface="Times New Roman"/>
            </a:endParaRPr>
          </a:p>
          <a:p>
            <a:pPr algn="just">
              <a:spcAft>
                <a:spcPts val="0"/>
              </a:spcAft>
              <a:defRPr/>
            </a:pPr>
            <a:endParaRPr kumimoji="1" lang="en-US" altLang="zh-CN" sz="2400" b="1" kern="100" dirty="0" smtClean="0">
              <a:latin typeface="Times New Roman"/>
              <a:ea typeface="华文新魏" pitchFamily="2" charset="-122"/>
              <a:cs typeface="Times New Roman"/>
            </a:endParaRPr>
          </a:p>
          <a:p>
            <a:pPr algn="just">
              <a:spcAft>
                <a:spcPts val="0"/>
              </a:spcAft>
              <a:defRPr/>
            </a:pPr>
            <a:endParaRPr kumimoji="1" lang="en-US" altLang="zh-CN" sz="2400" b="1" kern="100" dirty="0" smtClean="0">
              <a:latin typeface="Times New Roman"/>
              <a:ea typeface="华文新魏" pitchFamily="2" charset="-122"/>
              <a:cs typeface="Times New Roman"/>
            </a:endParaRPr>
          </a:p>
          <a:p>
            <a:pPr algn="just">
              <a:spcAft>
                <a:spcPts val="0"/>
              </a:spcAft>
              <a:defRPr/>
            </a:pPr>
            <a:r>
              <a:rPr kumimoji="1" lang="zh-CN" altLang="en-US" sz="2400" b="1" kern="100" dirty="0" smtClean="0">
                <a:latin typeface="Times New Roman"/>
                <a:ea typeface="华文新魏" pitchFamily="2" charset="-122"/>
                <a:cs typeface="Times New Roman"/>
              </a:rPr>
              <a:t>标准差：</a:t>
            </a:r>
            <a:endParaRPr kumimoji="1" lang="en-US" altLang="zh-CN" sz="2400" b="1" kern="100" dirty="0" smtClean="0">
              <a:latin typeface="Times New Roman"/>
              <a:ea typeface="华文新魏" pitchFamily="2" charset="-122"/>
              <a:cs typeface="Times New Roman"/>
            </a:endParaRPr>
          </a:p>
          <a:p>
            <a:pPr algn="just">
              <a:spcAft>
                <a:spcPts val="0"/>
              </a:spcAft>
              <a:defRPr/>
            </a:pPr>
            <a:endParaRPr kumimoji="1" lang="en-US" altLang="zh-CN" sz="2400" b="1" kern="100" dirty="0">
              <a:latin typeface="Times New Roman"/>
              <a:ea typeface="华文新魏" pitchFamily="2" charset="-122"/>
              <a:cs typeface="Times New Roman"/>
            </a:endParaRPr>
          </a:p>
          <a:p>
            <a:pPr algn="just">
              <a:spcAft>
                <a:spcPts val="0"/>
              </a:spcAft>
              <a:defRPr/>
            </a:pPr>
            <a:endParaRPr kumimoji="1" lang="en-US" altLang="zh-CN" sz="2400" b="1" kern="100" dirty="0">
              <a:latin typeface="Times New Roman"/>
              <a:ea typeface="华文新魏" pitchFamily="2" charset="-122"/>
              <a:cs typeface="Times New Roman"/>
            </a:endParaRPr>
          </a:p>
          <a:p>
            <a:pPr algn="just">
              <a:spcAft>
                <a:spcPts val="0"/>
              </a:spcAft>
              <a:defRPr/>
            </a:pPr>
            <a:r>
              <a:rPr kumimoji="1" lang="zh-CN" altLang="en-US" sz="2400" b="1" kern="100" dirty="0">
                <a:latin typeface="Times New Roman"/>
                <a:ea typeface="华文新魏" pitchFamily="2" charset="-122"/>
                <a:cs typeface="Times New Roman"/>
              </a:rPr>
              <a:t>变异系数</a:t>
            </a:r>
            <a:r>
              <a:rPr kumimoji="1" lang="zh-CN" altLang="en-US" sz="2400" b="1" kern="100" dirty="0" smtClean="0">
                <a:latin typeface="Times New Roman"/>
                <a:ea typeface="华文新魏" pitchFamily="2" charset="-122"/>
                <a:cs typeface="Times New Roman"/>
              </a:rPr>
              <a:t>：</a:t>
            </a:r>
            <a:endParaRPr kumimoji="1" lang="en-US" altLang="zh-CN" sz="2400" b="1" dirty="0" smtClean="0">
              <a:ea typeface="华文新魏" pitchFamily="2" charset="-122"/>
            </a:endParaRPr>
          </a:p>
        </p:txBody>
      </p:sp>
      <p:sp>
        <p:nvSpPr>
          <p:cNvPr id="17414" name="Rectangle 14"/>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17415" name="Rectangle 16"/>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9" name="对象 8"/>
          <p:cNvGraphicFramePr>
            <a:graphicFrameLocks noChangeAspect="1"/>
          </p:cNvGraphicFramePr>
          <p:nvPr/>
        </p:nvGraphicFramePr>
        <p:xfrm>
          <a:off x="7575550" y="2762250"/>
          <a:ext cx="2362200" cy="838200"/>
        </p:xfrm>
        <a:graphic>
          <a:graphicData uri="http://schemas.openxmlformats.org/presentationml/2006/ole">
            <p:oleObj spid="_x0000_s17416" name="公式" r:id="rId4" imgW="1180588" imgH="418918" progId="Equation.3">
              <p:embed/>
            </p:oleObj>
          </a:graphicData>
        </a:graphic>
      </p:graphicFrame>
      <p:sp>
        <p:nvSpPr>
          <p:cNvPr id="17417" name="Rectangle 17"/>
          <p:cNvSpPr>
            <a:spLocks noChangeArrowheads="1"/>
          </p:cNvSpPr>
          <p:nvPr/>
        </p:nvSpPr>
        <p:spPr bwMode="auto">
          <a:xfrm>
            <a:off x="0" y="419100"/>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17418" name="Rectangle 20"/>
          <p:cNvSpPr>
            <a:spLocks noChangeArrowheads="1"/>
          </p:cNvSpPr>
          <p:nvPr/>
        </p:nvSpPr>
        <p:spPr bwMode="auto">
          <a:xfrm>
            <a:off x="152400" y="15240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2" name="对象 11"/>
          <p:cNvGraphicFramePr>
            <a:graphicFrameLocks noChangeAspect="1"/>
          </p:cNvGraphicFramePr>
          <p:nvPr/>
        </p:nvGraphicFramePr>
        <p:xfrm>
          <a:off x="7537450" y="647700"/>
          <a:ext cx="1752600" cy="838200"/>
        </p:xfrm>
        <a:graphic>
          <a:graphicData uri="http://schemas.openxmlformats.org/presentationml/2006/ole">
            <p:oleObj spid="_x0000_s17419" name="公式" r:id="rId5" imgW="876300" imgH="419100" progId="Equation.3">
              <p:embed/>
            </p:oleObj>
          </a:graphicData>
        </a:graphic>
      </p:graphicFrame>
      <p:sp>
        <p:nvSpPr>
          <p:cNvPr id="17420" name="Rectangle 21"/>
          <p:cNvSpPr>
            <a:spLocks noChangeArrowheads="1"/>
          </p:cNvSpPr>
          <p:nvPr/>
        </p:nvSpPr>
        <p:spPr bwMode="auto">
          <a:xfrm>
            <a:off x="152400" y="571500"/>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17421" name="Rectangle 25"/>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6" name="对象 15"/>
          <p:cNvGraphicFramePr>
            <a:graphicFrameLocks noChangeAspect="1"/>
          </p:cNvGraphicFramePr>
          <p:nvPr/>
        </p:nvGraphicFramePr>
        <p:xfrm>
          <a:off x="7573963" y="3770313"/>
          <a:ext cx="2641600" cy="1270000"/>
        </p:xfrm>
        <a:graphic>
          <a:graphicData uri="http://schemas.openxmlformats.org/presentationml/2006/ole">
            <p:oleObj spid="_x0000_s17422" name="公式" r:id="rId6" imgW="1320227" imgH="634725" progId="Equation.3">
              <p:embed/>
            </p:oleObj>
          </a:graphicData>
        </a:graphic>
      </p:graphicFrame>
      <p:sp>
        <p:nvSpPr>
          <p:cNvPr id="17423" name="Rectangle 26"/>
          <p:cNvSpPr>
            <a:spLocks noChangeArrowheads="1"/>
          </p:cNvSpPr>
          <p:nvPr/>
        </p:nvSpPr>
        <p:spPr bwMode="auto">
          <a:xfrm>
            <a:off x="0" y="561975"/>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17424" name="Rectangle 28"/>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9" name="对象 18"/>
          <p:cNvGraphicFramePr>
            <a:graphicFrameLocks noChangeAspect="1"/>
          </p:cNvGraphicFramePr>
          <p:nvPr/>
        </p:nvGraphicFramePr>
        <p:xfrm>
          <a:off x="8051800" y="5307013"/>
          <a:ext cx="2286000" cy="812800"/>
        </p:xfrm>
        <a:graphic>
          <a:graphicData uri="http://schemas.openxmlformats.org/presentationml/2006/ole">
            <p:oleObj spid="_x0000_s17425" name="公式" r:id="rId7" imgW="1143000" imgH="406400" progId="Equation.3">
              <p:embed/>
            </p:oleObj>
          </a:graphicData>
        </a:graphic>
      </p:graphicFrame>
      <p:sp>
        <p:nvSpPr>
          <p:cNvPr id="17426" name="Rectangle 29"/>
          <p:cNvSpPr>
            <a:spLocks noChangeArrowheads="1"/>
          </p:cNvSpPr>
          <p:nvPr/>
        </p:nvSpPr>
        <p:spPr bwMode="auto">
          <a:xfrm>
            <a:off x="0" y="361950"/>
            <a:ext cx="11522075" cy="0"/>
          </a:xfrm>
          <a:prstGeom prst="rect">
            <a:avLst/>
          </a:prstGeom>
          <a:noFill/>
          <a:ln w="9525">
            <a:noFill/>
            <a:miter lim="800000"/>
            <a:headEnd/>
            <a:tailEnd/>
          </a:ln>
          <a:effectLst/>
        </p:spPr>
        <p:txBody>
          <a:bodyPr wrap="none" anchor="ctr">
            <a:spAutoFit/>
          </a:bodyPr>
          <a:lstStyle/>
          <a:p>
            <a:endParaRPr lang="zh-CN" altLang="en-US"/>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3">
                                            <p:txEl>
                                              <p:pRg st="0" end="0"/>
                                            </p:txEl>
                                          </p:spTgt>
                                        </p:tgtEl>
                                        <p:attrNameLst>
                                          <p:attrName>style.visibility</p:attrName>
                                        </p:attrNameLst>
                                      </p:cBhvr>
                                      <p:to>
                                        <p:strVal val="visible"/>
                                      </p:to>
                                    </p:set>
                                    <p:animEffect transition="in" filter="checkerboard(across)">
                                      <p:cBhvr>
                                        <p:cTn id="12" dur="500"/>
                                        <p:tgtEl>
                                          <p:spTgt spid="13">
                                            <p:txEl>
                                              <p:pRg st="0" end="0"/>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down)">
                                      <p:cBhvr>
                                        <p:cTn id="15" dur="500"/>
                                        <p:tgtEl>
                                          <p:spTgt spid="1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 presetClass="entr" presetSubtype="10" fill="hold" grpId="0" nodeType="clickEffect">
                                  <p:stCondLst>
                                    <p:cond delay="0"/>
                                  </p:stCondLst>
                                  <p:childTnLst>
                                    <p:set>
                                      <p:cBhvr>
                                        <p:cTn id="19" dur="1" fill="hold">
                                          <p:stCondLst>
                                            <p:cond delay="0"/>
                                          </p:stCondLst>
                                        </p:cTn>
                                        <p:tgtEl>
                                          <p:spTgt spid="13">
                                            <p:txEl>
                                              <p:pRg st="2" end="2"/>
                                            </p:txEl>
                                          </p:spTgt>
                                        </p:tgtEl>
                                        <p:attrNameLst>
                                          <p:attrName>style.visibility</p:attrName>
                                        </p:attrNameLst>
                                      </p:cBhvr>
                                      <p:to>
                                        <p:strVal val="visible"/>
                                      </p:to>
                                    </p:set>
                                    <p:animEffect transition="in" filter="checkerboard(across)">
                                      <p:cBhvr>
                                        <p:cTn id="20" dur="500"/>
                                        <p:tgtEl>
                                          <p:spTgt spid="13">
                                            <p:txEl>
                                              <p:pRg st="2" end="2"/>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5" presetClass="entr" presetSubtype="10" fill="hold" grpId="0" nodeType="clickEffect">
                                  <p:stCondLst>
                                    <p:cond delay="0"/>
                                  </p:stCondLst>
                                  <p:childTnLst>
                                    <p:set>
                                      <p:cBhvr>
                                        <p:cTn id="24" dur="1" fill="hold">
                                          <p:stCondLst>
                                            <p:cond delay="0"/>
                                          </p:stCondLst>
                                        </p:cTn>
                                        <p:tgtEl>
                                          <p:spTgt spid="13">
                                            <p:txEl>
                                              <p:pRg st="3" end="3"/>
                                            </p:txEl>
                                          </p:spTgt>
                                        </p:tgtEl>
                                        <p:attrNameLst>
                                          <p:attrName>style.visibility</p:attrName>
                                        </p:attrNameLst>
                                      </p:cBhvr>
                                      <p:to>
                                        <p:strVal val="visible"/>
                                      </p:to>
                                    </p:set>
                                    <p:animEffect transition="in" filter="checkerboard(across)">
                                      <p:cBhvr>
                                        <p:cTn id="25" dur="500"/>
                                        <p:tgtEl>
                                          <p:spTgt spid="13">
                                            <p:txEl>
                                              <p:pRg st="3" end="3"/>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5" presetClass="entr" presetSubtype="10" fill="hold" grpId="0" nodeType="clickEffect">
                                  <p:stCondLst>
                                    <p:cond delay="0"/>
                                  </p:stCondLst>
                                  <p:childTnLst>
                                    <p:set>
                                      <p:cBhvr>
                                        <p:cTn id="29" dur="1" fill="hold">
                                          <p:stCondLst>
                                            <p:cond delay="0"/>
                                          </p:stCondLst>
                                        </p:cTn>
                                        <p:tgtEl>
                                          <p:spTgt spid="13">
                                            <p:txEl>
                                              <p:pRg st="5" end="5"/>
                                            </p:txEl>
                                          </p:spTgt>
                                        </p:tgtEl>
                                        <p:attrNameLst>
                                          <p:attrName>style.visibility</p:attrName>
                                        </p:attrNameLst>
                                      </p:cBhvr>
                                      <p:to>
                                        <p:strVal val="visible"/>
                                      </p:to>
                                    </p:set>
                                    <p:animEffect transition="in" filter="checkerboard(across)">
                                      <p:cBhvr>
                                        <p:cTn id="30" dur="500"/>
                                        <p:tgtEl>
                                          <p:spTgt spid="13">
                                            <p:txEl>
                                              <p:pRg st="5" end="5"/>
                                            </p:txEl>
                                          </p:spTgt>
                                        </p:tgtEl>
                                      </p:cBhvr>
                                    </p:animEffect>
                                  </p:childTnLst>
                                </p:cTn>
                              </p:par>
                              <p:par>
                                <p:cTn id="31" presetID="22" presetClass="entr" presetSubtype="4" fill="hold" nodeType="with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13">
                                            <p:txEl>
                                              <p:pRg st="9" end="9"/>
                                            </p:txEl>
                                          </p:spTgt>
                                        </p:tgtEl>
                                        <p:attrNameLst>
                                          <p:attrName>style.visibility</p:attrName>
                                        </p:attrNameLst>
                                      </p:cBhvr>
                                      <p:to>
                                        <p:strVal val="visible"/>
                                      </p:to>
                                    </p:set>
                                    <p:animEffect transition="in" filter="checkerboard(across)">
                                      <p:cBhvr>
                                        <p:cTn id="38" dur="500"/>
                                        <p:tgtEl>
                                          <p:spTgt spid="13">
                                            <p:txEl>
                                              <p:pRg st="9" end="9"/>
                                            </p:txEl>
                                          </p:spTgt>
                                        </p:tgtEl>
                                      </p:cBhvr>
                                    </p:animEffect>
                                  </p:childTnLst>
                                </p:cTn>
                              </p:par>
                              <p:par>
                                <p:cTn id="39" presetID="22" presetClass="entr" presetSubtype="4"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down)">
                                      <p:cBhvr>
                                        <p:cTn id="41" dur="500"/>
                                        <p:tgtEl>
                                          <p:spTgt spid="16"/>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5" presetClass="entr" presetSubtype="10" fill="hold" grpId="0" nodeType="clickEffect">
                                  <p:stCondLst>
                                    <p:cond delay="0"/>
                                  </p:stCondLst>
                                  <p:childTnLst>
                                    <p:set>
                                      <p:cBhvr>
                                        <p:cTn id="45" dur="1" fill="hold">
                                          <p:stCondLst>
                                            <p:cond delay="0"/>
                                          </p:stCondLst>
                                        </p:cTn>
                                        <p:tgtEl>
                                          <p:spTgt spid="13">
                                            <p:txEl>
                                              <p:pRg st="12" end="12"/>
                                            </p:txEl>
                                          </p:spTgt>
                                        </p:tgtEl>
                                        <p:attrNameLst>
                                          <p:attrName>style.visibility</p:attrName>
                                        </p:attrNameLst>
                                      </p:cBhvr>
                                      <p:to>
                                        <p:strVal val="visible"/>
                                      </p:to>
                                    </p:set>
                                    <p:animEffect transition="in" filter="checkerboard(across)">
                                      <p:cBhvr>
                                        <p:cTn id="46" dur="500"/>
                                        <p:tgtEl>
                                          <p:spTgt spid="13">
                                            <p:txEl>
                                              <p:pRg st="12" end="12"/>
                                            </p:txEl>
                                          </p:spTgt>
                                        </p:tgtEl>
                                      </p:cBhvr>
                                    </p:animEffect>
                                  </p:childTnLst>
                                </p:cTn>
                              </p:par>
                              <p:par>
                                <p:cTn id="47" presetID="22" presetClass="entr" presetSubtype="4" fill="hold"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wipe(down)">
                                      <p:cBhvr>
                                        <p:cTn id="49"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advAuto="0"/>
      <p:bldP spid="13"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67740"/>
            <a:ext cx="5329238" cy="380104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1-15</a:t>
            </a:r>
            <a:r>
              <a:rPr lang="zh-CN" altLang="en-US" sz="2500" b="1" dirty="0" smtClean="0">
                <a:solidFill>
                  <a:srgbClr val="FFFF00"/>
                </a:solidFill>
                <a:ea typeface="华文新魏" pitchFamily="2" charset="-122"/>
              </a:rPr>
              <a:t>：</a:t>
            </a:r>
            <a:r>
              <a:rPr lang="zh-CN" altLang="zh-CN" sz="2400" b="1" kern="100" dirty="0" smtClean="0">
                <a:solidFill>
                  <a:srgbClr val="FFFFFF"/>
                </a:solidFill>
                <a:latin typeface="Times New Roman"/>
                <a:ea typeface="华文新魏" pitchFamily="2" charset="-122"/>
                <a:cs typeface="Times New Roman"/>
              </a:rPr>
              <a:t>测定</a:t>
            </a:r>
            <a:r>
              <a:rPr lang="zh-CN" altLang="zh-CN" sz="2400" b="1" kern="100" dirty="0">
                <a:solidFill>
                  <a:srgbClr val="FFFFFF"/>
                </a:solidFill>
                <a:latin typeface="Times New Roman"/>
                <a:ea typeface="华文新魏" pitchFamily="2" charset="-122"/>
                <a:cs typeface="Times New Roman"/>
              </a:rPr>
              <a:t>某样品中</a:t>
            </a:r>
            <a:r>
              <a:rPr lang="en-US" altLang="zh-CN" sz="2400" b="1" kern="100" dirty="0">
                <a:solidFill>
                  <a:srgbClr val="FFFFFF"/>
                </a:solidFill>
                <a:latin typeface="Times New Roman"/>
                <a:ea typeface="华文新魏" pitchFamily="2" charset="-122"/>
                <a:cs typeface="Times New Roman"/>
              </a:rPr>
              <a:t>N</a:t>
            </a:r>
            <a:r>
              <a:rPr lang="zh-CN" altLang="zh-CN" sz="2400" b="1" kern="100" dirty="0">
                <a:solidFill>
                  <a:srgbClr val="FFFFFF"/>
                </a:solidFill>
                <a:latin typeface="Times New Roman"/>
                <a:ea typeface="华文新魏" pitchFamily="2" charset="-122"/>
                <a:cs typeface="Times New Roman"/>
              </a:rPr>
              <a:t>的质量分数，</a:t>
            </a:r>
            <a:r>
              <a:rPr lang="en-US" altLang="zh-CN" sz="2400" b="1" kern="100" dirty="0">
                <a:solidFill>
                  <a:srgbClr val="FFFFFF"/>
                </a:solidFill>
                <a:latin typeface="Times New Roman"/>
                <a:ea typeface="华文新魏" pitchFamily="2" charset="-122"/>
                <a:cs typeface="Times New Roman"/>
              </a:rPr>
              <a:t>6</a:t>
            </a:r>
            <a:r>
              <a:rPr lang="zh-CN" altLang="zh-CN" sz="2400" b="1" kern="100" dirty="0">
                <a:solidFill>
                  <a:srgbClr val="FFFFFF"/>
                </a:solidFill>
                <a:latin typeface="Times New Roman"/>
                <a:ea typeface="华文新魏" pitchFamily="2" charset="-122"/>
                <a:cs typeface="Times New Roman"/>
              </a:rPr>
              <a:t>次平行测定的结果是</a:t>
            </a:r>
            <a:r>
              <a:rPr lang="en-US" altLang="zh-CN" sz="2400" b="1" kern="100" dirty="0">
                <a:solidFill>
                  <a:srgbClr val="FFFFFF"/>
                </a:solidFill>
                <a:latin typeface="Times New Roman"/>
                <a:ea typeface="华文新魏" pitchFamily="2" charset="-122"/>
                <a:cs typeface="Times New Roman"/>
              </a:rPr>
              <a:t>0.2048</a:t>
            </a:r>
            <a:r>
              <a:rPr lang="zh-CN" altLang="zh-CN" sz="2400" b="1" kern="100" dirty="0">
                <a:solidFill>
                  <a:srgbClr val="FFFFFF"/>
                </a:solidFill>
                <a:latin typeface="Times New Roman"/>
                <a:ea typeface="华文新魏" pitchFamily="2" charset="-122"/>
                <a:cs typeface="Times New Roman"/>
              </a:rPr>
              <a:t>，</a:t>
            </a:r>
            <a:r>
              <a:rPr lang="en-US" altLang="zh-CN" sz="2400" b="1" kern="100" dirty="0">
                <a:solidFill>
                  <a:srgbClr val="FFFFFF"/>
                </a:solidFill>
                <a:latin typeface="Times New Roman"/>
                <a:ea typeface="华文新魏" pitchFamily="2" charset="-122"/>
                <a:cs typeface="Times New Roman"/>
              </a:rPr>
              <a:t>0.2055</a:t>
            </a:r>
            <a:r>
              <a:rPr lang="zh-CN" altLang="zh-CN" sz="2400" b="1" kern="100" dirty="0" smtClean="0">
                <a:solidFill>
                  <a:srgbClr val="FFFFFF"/>
                </a:solidFill>
                <a:latin typeface="Times New Roman"/>
                <a:ea typeface="华文新魏" pitchFamily="2" charset="-122"/>
                <a:cs typeface="Times New Roman"/>
              </a:rPr>
              <a:t>，</a:t>
            </a:r>
            <a:endParaRPr lang="en-US" altLang="zh-CN" sz="2400" b="1" kern="100" dirty="0" smtClean="0">
              <a:solidFill>
                <a:srgbClr val="FFFFFF"/>
              </a:solidFill>
              <a:latin typeface="Times New Roman"/>
              <a:ea typeface="华文新魏" pitchFamily="2" charset="-122"/>
              <a:cs typeface="Times New Roman"/>
            </a:endParaRPr>
          </a:p>
          <a:p>
            <a:pPr marL="0" indent="0" algn="just">
              <a:spcAft>
                <a:spcPts val="0"/>
              </a:spcAft>
              <a:defRPr/>
            </a:pPr>
            <a:r>
              <a:rPr lang="en-US" altLang="zh-CN" sz="2400" b="1" kern="100" dirty="0" smtClean="0">
                <a:solidFill>
                  <a:srgbClr val="FFFFFF"/>
                </a:solidFill>
                <a:latin typeface="Times New Roman"/>
                <a:ea typeface="华文新魏" pitchFamily="2" charset="-122"/>
                <a:cs typeface="Times New Roman"/>
              </a:rPr>
              <a:t>0.2058</a:t>
            </a:r>
            <a:r>
              <a:rPr lang="zh-CN" altLang="zh-CN" sz="2400" b="1" kern="100" dirty="0">
                <a:solidFill>
                  <a:srgbClr val="FFFFFF"/>
                </a:solidFill>
                <a:latin typeface="Times New Roman"/>
                <a:ea typeface="华文新魏" pitchFamily="2" charset="-122"/>
                <a:cs typeface="Times New Roman"/>
              </a:rPr>
              <a:t>，</a:t>
            </a:r>
            <a:r>
              <a:rPr lang="en-US" altLang="zh-CN" sz="2400" b="1" kern="100" dirty="0">
                <a:solidFill>
                  <a:srgbClr val="FFFFFF"/>
                </a:solidFill>
                <a:latin typeface="Times New Roman"/>
                <a:ea typeface="华文新魏" pitchFamily="2" charset="-122"/>
                <a:cs typeface="Times New Roman"/>
              </a:rPr>
              <a:t>0.2060</a:t>
            </a:r>
            <a:r>
              <a:rPr lang="zh-CN" altLang="zh-CN" sz="2400" b="1" kern="100" dirty="0">
                <a:solidFill>
                  <a:srgbClr val="FFFFFF"/>
                </a:solidFill>
                <a:latin typeface="Times New Roman"/>
                <a:ea typeface="华文新魏" pitchFamily="2" charset="-122"/>
                <a:cs typeface="Times New Roman"/>
              </a:rPr>
              <a:t>，</a:t>
            </a:r>
            <a:r>
              <a:rPr lang="en-US" altLang="zh-CN" sz="2400" b="1" kern="100" dirty="0">
                <a:solidFill>
                  <a:srgbClr val="FFFFFF"/>
                </a:solidFill>
                <a:latin typeface="Times New Roman"/>
                <a:ea typeface="华文新魏" pitchFamily="2" charset="-122"/>
                <a:cs typeface="Times New Roman"/>
              </a:rPr>
              <a:t>0.2053</a:t>
            </a:r>
            <a:r>
              <a:rPr lang="zh-CN" altLang="zh-CN" sz="2400" b="1" kern="100" dirty="0">
                <a:solidFill>
                  <a:srgbClr val="FFFFFF"/>
                </a:solidFill>
                <a:latin typeface="Times New Roman"/>
                <a:ea typeface="华文新魏" pitchFamily="2" charset="-122"/>
                <a:cs typeface="Times New Roman"/>
              </a:rPr>
              <a:t>，</a:t>
            </a:r>
            <a:r>
              <a:rPr lang="en-US" altLang="zh-CN" sz="2400" b="1" kern="100" dirty="0">
                <a:solidFill>
                  <a:srgbClr val="FFFFFF"/>
                </a:solidFill>
                <a:latin typeface="Times New Roman"/>
                <a:ea typeface="华文新魏" pitchFamily="2" charset="-122"/>
                <a:cs typeface="Times New Roman"/>
              </a:rPr>
              <a:t>0.2050</a:t>
            </a:r>
            <a:r>
              <a:rPr lang="zh-CN" altLang="zh-CN" sz="2400" b="1" kern="100" dirty="0">
                <a:solidFill>
                  <a:srgbClr val="FFFFFF"/>
                </a:solidFill>
                <a:latin typeface="Times New Roman"/>
                <a:ea typeface="华文新魏" pitchFamily="2" charset="-122"/>
                <a:cs typeface="Times New Roman"/>
              </a:rPr>
              <a:t>。</a:t>
            </a:r>
            <a:endParaRPr lang="zh-CN" altLang="zh-CN" sz="1050" kern="100" dirty="0">
              <a:solidFill>
                <a:srgbClr val="FFFFFF"/>
              </a:solidFill>
              <a:latin typeface="Calibri"/>
              <a:ea typeface="宋体"/>
              <a:cs typeface="Times New Roman"/>
            </a:endParaRPr>
          </a:p>
          <a:p>
            <a:pPr marL="0" indent="0" algn="just">
              <a:spcAft>
                <a:spcPts val="0"/>
              </a:spcAft>
              <a:defRPr/>
            </a:pPr>
            <a:r>
              <a:rPr lang="zh-CN" altLang="zh-CN" sz="2400" b="1" kern="100" dirty="0">
                <a:solidFill>
                  <a:srgbClr val="FFFFFF"/>
                </a:solidFill>
                <a:latin typeface="Calibri"/>
                <a:ea typeface="宋体"/>
                <a:cs typeface="宋体"/>
              </a:rPr>
              <a:t>①</a:t>
            </a:r>
            <a:r>
              <a:rPr lang="zh-CN" altLang="zh-CN" sz="2400" b="1" kern="100" dirty="0">
                <a:solidFill>
                  <a:srgbClr val="FFFFFF"/>
                </a:solidFill>
                <a:latin typeface="Times New Roman"/>
                <a:ea typeface="华文新魏" pitchFamily="2" charset="-122"/>
                <a:cs typeface="Times New Roman"/>
              </a:rPr>
              <a:t>计算这组数据的平均值、中位数、极差、平均偏差、标准差、变异系数和平均值的标准差；</a:t>
            </a:r>
            <a:endParaRPr lang="zh-CN" altLang="zh-CN" sz="1050" kern="100" dirty="0">
              <a:solidFill>
                <a:srgbClr val="FFFFFF"/>
              </a:solidFill>
              <a:latin typeface="Calibri"/>
              <a:ea typeface="宋体"/>
              <a:cs typeface="Times New Roman"/>
            </a:endParaRPr>
          </a:p>
          <a:p>
            <a:pPr marL="0" indent="0" algn="just">
              <a:spcAft>
                <a:spcPts val="0"/>
              </a:spcAft>
              <a:defRPr/>
            </a:pPr>
            <a:r>
              <a:rPr lang="zh-CN" altLang="zh-CN" sz="2400" b="1" kern="100" dirty="0">
                <a:solidFill>
                  <a:srgbClr val="FFFFFF"/>
                </a:solidFill>
                <a:latin typeface="Calibri"/>
                <a:ea typeface="宋体"/>
                <a:cs typeface="宋体"/>
              </a:rPr>
              <a:t>②</a:t>
            </a:r>
            <a:r>
              <a:rPr lang="zh-CN" altLang="zh-CN" sz="2400" b="1" kern="100" dirty="0">
                <a:solidFill>
                  <a:srgbClr val="FFFFFF"/>
                </a:solidFill>
                <a:latin typeface="Times New Roman"/>
                <a:ea typeface="华文新魏" pitchFamily="2" charset="-122"/>
                <a:cs typeface="Times New Roman"/>
              </a:rPr>
              <a:t>若此样品是标准样品，其</a:t>
            </a:r>
            <a:r>
              <a:rPr lang="en-US" altLang="zh-CN" sz="2400" b="1" kern="100" dirty="0">
                <a:solidFill>
                  <a:srgbClr val="FFFFFF"/>
                </a:solidFill>
                <a:latin typeface="Times New Roman"/>
                <a:ea typeface="华文新魏" pitchFamily="2" charset="-122"/>
                <a:cs typeface="Times New Roman"/>
              </a:rPr>
              <a:t> N</a:t>
            </a:r>
            <a:r>
              <a:rPr lang="zh-CN" altLang="zh-CN" sz="2400" b="1" kern="100" dirty="0">
                <a:solidFill>
                  <a:srgbClr val="FFFFFF"/>
                </a:solidFill>
                <a:latin typeface="Times New Roman"/>
                <a:ea typeface="华文新魏" pitchFamily="2" charset="-122"/>
                <a:cs typeface="Times New Roman"/>
              </a:rPr>
              <a:t>的质量分数为</a:t>
            </a:r>
            <a:r>
              <a:rPr lang="en-US" altLang="zh-CN" sz="2400" b="1" kern="100" dirty="0">
                <a:solidFill>
                  <a:srgbClr val="FFFFFF"/>
                </a:solidFill>
                <a:latin typeface="Times New Roman"/>
                <a:ea typeface="华文新魏" pitchFamily="2" charset="-122"/>
                <a:cs typeface="Times New Roman"/>
              </a:rPr>
              <a:t>0.2045</a:t>
            </a:r>
            <a:r>
              <a:rPr lang="zh-CN" altLang="zh-CN" sz="2400" b="1" kern="100" dirty="0">
                <a:solidFill>
                  <a:srgbClr val="FFFFFF"/>
                </a:solidFill>
                <a:latin typeface="Times New Roman"/>
                <a:ea typeface="华文新魏" pitchFamily="2" charset="-122"/>
                <a:cs typeface="Times New Roman"/>
              </a:rPr>
              <a:t>，计算以上测定结果的绝对误差和相对误差</a:t>
            </a:r>
            <a:r>
              <a:rPr lang="zh-CN" altLang="zh-CN" sz="2400" b="1" kern="100" dirty="0" smtClean="0">
                <a:solidFill>
                  <a:srgbClr val="FFFFFF"/>
                </a:solidFill>
                <a:latin typeface="Times New Roman"/>
                <a:ea typeface="华文新魏" pitchFamily="2" charset="-122"/>
                <a:cs typeface="Times New Roman"/>
              </a:rPr>
              <a:t>。</a:t>
            </a:r>
            <a:endParaRPr lang="zh-CN" altLang="en-US" sz="2500" b="1" dirty="0" smtClean="0">
              <a:solidFill>
                <a:srgbClr val="FFFF00"/>
              </a:solidFill>
              <a:ea typeface="华文新魏" pitchFamily="2" charset="-122"/>
            </a:endParaRPr>
          </a:p>
        </p:txBody>
      </p:sp>
      <p:sp>
        <p:nvSpPr>
          <p:cNvPr id="18436"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solidFill>
                <a:srgbClr val="FFFFFF"/>
              </a:solidFill>
            </a:endParaRPr>
          </a:p>
        </p:txBody>
      </p:sp>
      <p:sp>
        <p:nvSpPr>
          <p:cNvPr id="13" name="Rectangle 11"/>
          <p:cNvSpPr>
            <a:spLocks noChangeArrowheads="1"/>
          </p:cNvSpPr>
          <p:nvPr/>
        </p:nvSpPr>
        <p:spPr bwMode="auto">
          <a:xfrm>
            <a:off x="5913438" y="719138"/>
            <a:ext cx="5329237" cy="2308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lgn="just">
              <a:spcAft>
                <a:spcPts val="0"/>
              </a:spcAft>
              <a:defRPr/>
            </a:pPr>
            <a:r>
              <a:rPr kumimoji="1" lang="zh-CN" altLang="en-US" sz="2400" b="1" kern="100" dirty="0" smtClean="0">
                <a:solidFill>
                  <a:srgbClr val="FFFFFF"/>
                </a:solidFill>
                <a:latin typeface="Times New Roman"/>
                <a:ea typeface="华文新魏" pitchFamily="2" charset="-122"/>
                <a:cs typeface="Times New Roman"/>
              </a:rPr>
              <a:t>平均值</a:t>
            </a:r>
            <a:r>
              <a:rPr kumimoji="1" lang="zh-CN" altLang="en-US" sz="2400" b="1" kern="100" dirty="0">
                <a:solidFill>
                  <a:srgbClr val="FFFFFF"/>
                </a:solidFill>
                <a:latin typeface="Times New Roman"/>
                <a:ea typeface="华文新魏" pitchFamily="2" charset="-122"/>
                <a:cs typeface="Times New Roman"/>
              </a:rPr>
              <a:t>的标准差</a:t>
            </a:r>
            <a:r>
              <a:rPr kumimoji="1" lang="zh-CN" altLang="en-US" sz="2400" b="1" kern="100" dirty="0" smtClean="0">
                <a:solidFill>
                  <a:srgbClr val="FFFFFF"/>
                </a:solidFill>
                <a:latin typeface="Times New Roman"/>
                <a:ea typeface="华文新魏" pitchFamily="2" charset="-122"/>
                <a:cs typeface="Times New Roman"/>
              </a:rPr>
              <a:t>：</a:t>
            </a:r>
            <a:endParaRPr kumimoji="1" lang="en-US" altLang="zh-CN" sz="2400" b="1" kern="100" dirty="0" smtClean="0">
              <a:solidFill>
                <a:srgbClr val="FFFFFF"/>
              </a:solidFill>
              <a:latin typeface="Times New Roman"/>
              <a:ea typeface="华文新魏" pitchFamily="2" charset="-122"/>
              <a:cs typeface="Times New Roman"/>
            </a:endParaRPr>
          </a:p>
          <a:p>
            <a:pPr algn="just">
              <a:spcAft>
                <a:spcPts val="0"/>
              </a:spcAft>
              <a:defRPr/>
            </a:pPr>
            <a:endParaRPr kumimoji="1" lang="en-US" altLang="zh-CN" sz="2400" b="1" kern="100" dirty="0">
              <a:solidFill>
                <a:srgbClr val="FFFFFF"/>
              </a:solidFill>
              <a:latin typeface="Times New Roman"/>
              <a:ea typeface="华文新魏" pitchFamily="2" charset="-122"/>
              <a:cs typeface="Times New Roman"/>
            </a:endParaRPr>
          </a:p>
          <a:p>
            <a:pPr algn="just">
              <a:spcAft>
                <a:spcPts val="0"/>
              </a:spcAft>
              <a:defRPr/>
            </a:pPr>
            <a:r>
              <a:rPr kumimoji="1" lang="zh-CN" altLang="en-US" sz="2400" b="1" kern="100" dirty="0">
                <a:solidFill>
                  <a:srgbClr val="FFFFFF"/>
                </a:solidFill>
                <a:latin typeface="+mn-lt"/>
                <a:ea typeface="华文新魏" pitchFamily="2" charset="-122"/>
                <a:cs typeface="Times New Roman"/>
              </a:rPr>
              <a:t>绝对误差</a:t>
            </a:r>
            <a:r>
              <a:rPr kumimoji="1" lang="zh-CN" altLang="en-US" sz="2400" b="1" kern="100" dirty="0" smtClean="0">
                <a:solidFill>
                  <a:srgbClr val="FFFFFF"/>
                </a:solidFill>
                <a:latin typeface="+mn-lt"/>
                <a:ea typeface="华文新魏" pitchFamily="2" charset="-122"/>
                <a:cs typeface="Times New Roman"/>
              </a:rPr>
              <a:t>：</a:t>
            </a:r>
            <a:r>
              <a:rPr lang="en-US" altLang="zh-CN" sz="2400" b="1" i="1" dirty="0">
                <a:latin typeface="+mn-lt"/>
                <a:ea typeface="华文新魏" pitchFamily="2" charset="-122"/>
              </a:rPr>
              <a:t>E</a:t>
            </a:r>
            <a:r>
              <a:rPr lang="en-US" altLang="zh-CN" sz="2400" b="1" dirty="0">
                <a:latin typeface="+mn-lt"/>
                <a:ea typeface="华文新魏" pitchFamily="2" charset="-122"/>
              </a:rPr>
              <a:t> </a:t>
            </a:r>
            <a:r>
              <a:rPr lang="en-US" altLang="zh-CN" sz="2400" b="1" dirty="0" smtClean="0">
                <a:latin typeface="+mn-lt"/>
                <a:ea typeface="华文新魏" pitchFamily="2" charset="-122"/>
              </a:rPr>
              <a:t>=    -</a:t>
            </a:r>
            <a:r>
              <a:rPr lang="en-US" altLang="zh-CN" sz="2400" b="1" i="1" dirty="0" err="1">
                <a:latin typeface="+mn-lt"/>
                <a:ea typeface="华文新魏" pitchFamily="2" charset="-122"/>
              </a:rPr>
              <a:t>x</a:t>
            </a:r>
            <a:r>
              <a:rPr lang="en-US" altLang="zh-CN" sz="2400" b="1" baseline="-25000" dirty="0" err="1">
                <a:latin typeface="+mn-lt"/>
                <a:ea typeface="华文新魏" pitchFamily="2" charset="-122"/>
              </a:rPr>
              <a:t>T</a:t>
            </a:r>
            <a:r>
              <a:rPr lang="zh-CN" altLang="zh-CN" sz="2400" dirty="0"/>
              <a:t>；</a:t>
            </a:r>
            <a:endParaRPr kumimoji="1" lang="en-US" altLang="zh-CN" sz="2400" b="1" kern="100" dirty="0" smtClean="0">
              <a:solidFill>
                <a:srgbClr val="FFFFFF"/>
              </a:solidFill>
              <a:latin typeface="Times New Roman"/>
              <a:ea typeface="华文新魏" pitchFamily="2" charset="-122"/>
              <a:cs typeface="Times New Roman"/>
            </a:endParaRPr>
          </a:p>
          <a:p>
            <a:pPr algn="just">
              <a:spcAft>
                <a:spcPts val="0"/>
              </a:spcAft>
              <a:defRPr/>
            </a:pPr>
            <a:r>
              <a:rPr lang="zh-CN" altLang="zh-CN" sz="2400" b="1" kern="100" dirty="0">
                <a:solidFill>
                  <a:srgbClr val="FFFFFF"/>
                </a:solidFill>
                <a:latin typeface="Times New Roman"/>
                <a:ea typeface="华文新魏" pitchFamily="2" charset="-122"/>
                <a:cs typeface="Times New Roman"/>
              </a:rPr>
              <a:t>相对误差：</a:t>
            </a:r>
            <a:r>
              <a:rPr lang="en-US" altLang="zh-CN" sz="2400" b="1" i="1" kern="100" dirty="0">
                <a:solidFill>
                  <a:srgbClr val="FFFFFF"/>
                </a:solidFill>
                <a:latin typeface="Times New Roman"/>
                <a:ea typeface="华文新魏" pitchFamily="2" charset="-122"/>
              </a:rPr>
              <a:t>RE</a:t>
            </a:r>
            <a:r>
              <a:rPr lang="en-US" altLang="zh-CN" sz="2400" b="1" kern="100" dirty="0">
                <a:solidFill>
                  <a:srgbClr val="FFFFFF"/>
                </a:solidFill>
                <a:latin typeface="Times New Roman"/>
                <a:ea typeface="华文新魏" pitchFamily="2" charset="-122"/>
              </a:rPr>
              <a:t> = </a:t>
            </a:r>
            <a:r>
              <a:rPr lang="en-US" altLang="zh-CN" sz="2400" b="1" i="1" kern="100" dirty="0">
                <a:solidFill>
                  <a:srgbClr val="FFFFFF"/>
                </a:solidFill>
                <a:latin typeface="Times New Roman"/>
                <a:ea typeface="华文新魏" pitchFamily="2" charset="-122"/>
              </a:rPr>
              <a:t>E</a:t>
            </a:r>
            <a:r>
              <a:rPr lang="en-US" altLang="zh-CN" sz="2400" b="1" kern="100" dirty="0">
                <a:solidFill>
                  <a:srgbClr val="FFFFFF"/>
                </a:solidFill>
                <a:latin typeface="Times New Roman"/>
                <a:ea typeface="华文新魏" pitchFamily="2" charset="-122"/>
              </a:rPr>
              <a:t> / </a:t>
            </a:r>
            <a:r>
              <a:rPr lang="en-US" altLang="zh-CN" sz="2400" b="1" i="1" kern="100" dirty="0" err="1">
                <a:solidFill>
                  <a:srgbClr val="FFFFFF"/>
                </a:solidFill>
                <a:latin typeface="Times New Roman"/>
                <a:ea typeface="华文新魏" pitchFamily="2" charset="-122"/>
              </a:rPr>
              <a:t>x</a:t>
            </a:r>
            <a:r>
              <a:rPr lang="en-US" altLang="zh-CN" sz="2400" b="1" kern="100" baseline="-25000" dirty="0" err="1">
                <a:solidFill>
                  <a:srgbClr val="FFFFFF"/>
                </a:solidFill>
                <a:latin typeface="Times New Roman"/>
                <a:ea typeface="华文新魏" pitchFamily="2" charset="-122"/>
              </a:rPr>
              <a:t>T</a:t>
            </a:r>
            <a:endParaRPr kumimoji="1" lang="en-US" altLang="zh-CN" sz="2400" b="1" kern="100" dirty="0">
              <a:solidFill>
                <a:srgbClr val="FFFFFF"/>
              </a:solidFill>
              <a:latin typeface="Times New Roman"/>
              <a:ea typeface="华文新魏" pitchFamily="2" charset="-122"/>
              <a:cs typeface="Times New Roman"/>
            </a:endParaRPr>
          </a:p>
          <a:p>
            <a:pPr algn="just">
              <a:spcAft>
                <a:spcPts val="0"/>
              </a:spcAft>
              <a:defRPr/>
            </a:pPr>
            <a:endParaRPr kumimoji="1" lang="en-US" altLang="zh-CN" sz="2400" b="1" kern="100" dirty="0" smtClean="0">
              <a:solidFill>
                <a:srgbClr val="FFFFFF"/>
              </a:solidFill>
              <a:latin typeface="Times New Roman"/>
              <a:ea typeface="华文新魏" pitchFamily="2" charset="-122"/>
              <a:cs typeface="Times New Roman"/>
            </a:endParaRPr>
          </a:p>
          <a:p>
            <a:pPr algn="just">
              <a:spcAft>
                <a:spcPts val="0"/>
              </a:spcAft>
              <a:defRPr/>
            </a:pPr>
            <a:endParaRPr kumimoji="1" lang="en-US" altLang="zh-CN" sz="2400" b="1" dirty="0" smtClean="0">
              <a:solidFill>
                <a:srgbClr val="FFFFFF"/>
              </a:solidFill>
              <a:ea typeface="华文新魏" pitchFamily="2" charset="-122"/>
            </a:endParaRPr>
          </a:p>
        </p:txBody>
      </p:sp>
      <p:sp>
        <p:nvSpPr>
          <p:cNvPr id="18438" name="Rectangle 14"/>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solidFill>
                <a:srgbClr val="FFFFFF"/>
              </a:solidFill>
            </a:endParaRPr>
          </a:p>
        </p:txBody>
      </p:sp>
      <p:sp>
        <p:nvSpPr>
          <p:cNvPr id="18439" name="Rectangle 16"/>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solidFill>
                <a:srgbClr val="FFFFFF"/>
              </a:solidFill>
            </a:endParaRPr>
          </a:p>
        </p:txBody>
      </p:sp>
      <p:sp>
        <p:nvSpPr>
          <p:cNvPr id="18440" name="Rectangle 17"/>
          <p:cNvSpPr>
            <a:spLocks noChangeArrowheads="1"/>
          </p:cNvSpPr>
          <p:nvPr/>
        </p:nvSpPr>
        <p:spPr bwMode="auto">
          <a:xfrm>
            <a:off x="0" y="419100"/>
            <a:ext cx="11522075" cy="0"/>
          </a:xfrm>
          <a:prstGeom prst="rect">
            <a:avLst/>
          </a:prstGeom>
          <a:noFill/>
          <a:ln w="9525">
            <a:noFill/>
            <a:miter lim="800000"/>
            <a:headEnd/>
            <a:tailEnd/>
          </a:ln>
          <a:effectLst/>
        </p:spPr>
        <p:txBody>
          <a:bodyPr wrap="none" anchor="ctr">
            <a:spAutoFit/>
          </a:bodyPr>
          <a:lstStyle/>
          <a:p>
            <a:endParaRPr lang="zh-CN" altLang="en-US">
              <a:solidFill>
                <a:srgbClr val="FFFFFF"/>
              </a:solidFill>
            </a:endParaRPr>
          </a:p>
        </p:txBody>
      </p:sp>
      <p:sp>
        <p:nvSpPr>
          <p:cNvPr id="18441" name="Rectangle 20"/>
          <p:cNvSpPr>
            <a:spLocks noChangeArrowheads="1"/>
          </p:cNvSpPr>
          <p:nvPr/>
        </p:nvSpPr>
        <p:spPr bwMode="auto">
          <a:xfrm>
            <a:off x="152400" y="152400"/>
            <a:ext cx="11522075" cy="0"/>
          </a:xfrm>
          <a:prstGeom prst="rect">
            <a:avLst/>
          </a:prstGeom>
          <a:noFill/>
          <a:ln w="9525">
            <a:noFill/>
            <a:miter lim="800000"/>
            <a:headEnd/>
            <a:tailEnd/>
          </a:ln>
          <a:effectLst/>
        </p:spPr>
        <p:txBody>
          <a:bodyPr wrap="none" anchor="ctr">
            <a:spAutoFit/>
          </a:bodyPr>
          <a:lstStyle/>
          <a:p>
            <a:endParaRPr lang="zh-CN" altLang="en-US">
              <a:solidFill>
                <a:srgbClr val="FFFFFF"/>
              </a:solidFill>
            </a:endParaRPr>
          </a:p>
        </p:txBody>
      </p:sp>
      <p:sp>
        <p:nvSpPr>
          <p:cNvPr id="18442" name="Rectangle 21"/>
          <p:cNvSpPr>
            <a:spLocks noChangeArrowheads="1"/>
          </p:cNvSpPr>
          <p:nvPr/>
        </p:nvSpPr>
        <p:spPr bwMode="auto">
          <a:xfrm>
            <a:off x="152400" y="571500"/>
            <a:ext cx="11522075" cy="0"/>
          </a:xfrm>
          <a:prstGeom prst="rect">
            <a:avLst/>
          </a:prstGeom>
          <a:noFill/>
          <a:ln w="9525">
            <a:noFill/>
            <a:miter lim="800000"/>
            <a:headEnd/>
            <a:tailEnd/>
          </a:ln>
          <a:effectLst/>
        </p:spPr>
        <p:txBody>
          <a:bodyPr wrap="none" anchor="ctr">
            <a:spAutoFit/>
          </a:bodyPr>
          <a:lstStyle/>
          <a:p>
            <a:endParaRPr lang="zh-CN" altLang="en-US">
              <a:solidFill>
                <a:srgbClr val="FFFFFF"/>
              </a:solidFill>
            </a:endParaRPr>
          </a:p>
        </p:txBody>
      </p:sp>
      <p:sp>
        <p:nvSpPr>
          <p:cNvPr id="18443" name="Rectangle 25"/>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solidFill>
                <a:srgbClr val="FFFFFF"/>
              </a:solidFill>
            </a:endParaRPr>
          </a:p>
        </p:txBody>
      </p:sp>
      <p:sp>
        <p:nvSpPr>
          <p:cNvPr id="18444" name="Rectangle 26"/>
          <p:cNvSpPr>
            <a:spLocks noChangeArrowheads="1"/>
          </p:cNvSpPr>
          <p:nvPr/>
        </p:nvSpPr>
        <p:spPr bwMode="auto">
          <a:xfrm>
            <a:off x="0" y="561975"/>
            <a:ext cx="11522075" cy="0"/>
          </a:xfrm>
          <a:prstGeom prst="rect">
            <a:avLst/>
          </a:prstGeom>
          <a:noFill/>
          <a:ln w="9525">
            <a:noFill/>
            <a:miter lim="800000"/>
            <a:headEnd/>
            <a:tailEnd/>
          </a:ln>
          <a:effectLst/>
        </p:spPr>
        <p:txBody>
          <a:bodyPr wrap="none" anchor="ctr">
            <a:spAutoFit/>
          </a:bodyPr>
          <a:lstStyle/>
          <a:p>
            <a:endParaRPr lang="zh-CN" altLang="en-US">
              <a:solidFill>
                <a:srgbClr val="FFFFFF"/>
              </a:solidFill>
            </a:endParaRPr>
          </a:p>
        </p:txBody>
      </p:sp>
      <p:sp>
        <p:nvSpPr>
          <p:cNvPr id="18445" name="Rectangle 2"/>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6" name="对象 5"/>
          <p:cNvGraphicFramePr>
            <a:graphicFrameLocks noChangeAspect="1"/>
          </p:cNvGraphicFramePr>
          <p:nvPr/>
        </p:nvGraphicFramePr>
        <p:xfrm>
          <a:off x="7993063" y="1541463"/>
          <a:ext cx="279400" cy="330200"/>
        </p:xfrm>
        <a:graphic>
          <a:graphicData uri="http://schemas.openxmlformats.org/presentationml/2006/ole">
            <p:oleObj spid="_x0000_s18446" name="公式" r:id="rId4" imgW="139579" imgH="164957" progId="Equation.3">
              <p:embed/>
            </p:oleObj>
          </a:graphicData>
        </a:graphic>
      </p:graphicFrame>
      <p:sp>
        <p:nvSpPr>
          <p:cNvPr id="18447" name="Rectangle 3"/>
          <p:cNvSpPr>
            <a:spLocks noChangeArrowheads="1"/>
          </p:cNvSpPr>
          <p:nvPr/>
        </p:nvSpPr>
        <p:spPr bwMode="auto">
          <a:xfrm>
            <a:off x="0" y="161925"/>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18448" name="Rectangle 6"/>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9" name="对象 18"/>
          <p:cNvGraphicFramePr>
            <a:graphicFrameLocks noChangeAspect="1"/>
          </p:cNvGraphicFramePr>
          <p:nvPr/>
        </p:nvGraphicFramePr>
        <p:xfrm>
          <a:off x="8640763" y="576263"/>
          <a:ext cx="1117600" cy="887412"/>
        </p:xfrm>
        <a:graphic>
          <a:graphicData uri="http://schemas.openxmlformats.org/presentationml/2006/ole">
            <p:oleObj spid="_x0000_s18449" name="公式" r:id="rId5" imgW="558558" imgH="444307" progId="Equation.3">
              <p:embed/>
            </p:oleObj>
          </a:graphicData>
        </a:graphic>
      </p:graphicFrame>
      <p:sp>
        <p:nvSpPr>
          <p:cNvPr id="18450" name="Rectangle 7"/>
          <p:cNvSpPr>
            <a:spLocks noChangeArrowheads="1"/>
          </p:cNvSpPr>
          <p:nvPr/>
        </p:nvSpPr>
        <p:spPr bwMode="auto">
          <a:xfrm>
            <a:off x="0" y="400050"/>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22" name="Rectangle 22"/>
          <p:cNvSpPr>
            <a:spLocks noChangeArrowheads="1"/>
          </p:cNvSpPr>
          <p:nvPr/>
        </p:nvSpPr>
        <p:spPr bwMode="auto">
          <a:xfrm>
            <a:off x="5976938" y="4132263"/>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23" name="Rectangle 11"/>
          <p:cNvSpPr>
            <a:spLocks noChangeArrowheads="1"/>
          </p:cNvSpPr>
          <p:nvPr/>
        </p:nvSpPr>
        <p:spPr bwMode="auto">
          <a:xfrm>
            <a:off x="5976938" y="4703763"/>
            <a:ext cx="5329237" cy="12001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zh-CN" altLang="zh-CN" sz="2400" b="1" kern="100" dirty="0" smtClean="0">
                <a:ea typeface="宋体"/>
                <a:cs typeface="宋体"/>
              </a:rPr>
              <a:t>①</a:t>
            </a:r>
            <a:r>
              <a:rPr lang="en-US" altLang="zh-CN" sz="2400" b="1" kern="100" dirty="0" smtClean="0">
                <a:latin typeface="Times New Roman"/>
                <a:ea typeface="华文新魏" pitchFamily="2" charset="-122"/>
              </a:rPr>
              <a:t>0.2054</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0.2054</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0.0012</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0.0004</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0.00046</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0.22</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0.00019</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eaLnBrk="1" hangingPunct="1">
              <a:defRPr/>
            </a:pPr>
            <a:r>
              <a:rPr lang="zh-CN" altLang="zh-CN" sz="2400" b="1" kern="100" dirty="0" smtClean="0">
                <a:ea typeface="宋体"/>
                <a:cs typeface="宋体"/>
              </a:rPr>
              <a:t>②</a:t>
            </a:r>
            <a:r>
              <a:rPr lang="en-US" altLang="zh-CN" sz="2400" b="1" kern="100" dirty="0" smtClean="0">
                <a:latin typeface="Times New Roman"/>
                <a:ea typeface="华文新魏" pitchFamily="2" charset="-122"/>
              </a:rPr>
              <a:t>0.0009</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4.4</a:t>
            </a:r>
            <a:r>
              <a:rPr lang="zh-CN" altLang="zh-CN" sz="2400" b="1" kern="100" dirty="0" smtClean="0">
                <a:latin typeface="Times New Roman"/>
                <a:ea typeface="华文新魏" pitchFamily="2" charset="-122"/>
                <a:cs typeface="Times New Roman"/>
              </a:rPr>
              <a:t>％</a:t>
            </a:r>
            <a:endParaRPr kumimoji="1" lang="en-US" altLang="zh-CN" sz="2400" b="1" dirty="0" smtClean="0">
              <a:ea typeface="华文新魏" pitchFamily="2" charset="-122"/>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checkerboard(across)">
                                      <p:cBhvr>
                                        <p:cTn id="7" dur="500"/>
                                        <p:tgtEl>
                                          <p:spTgt spid="13">
                                            <p:txEl>
                                              <p:pRg st="0" end="0"/>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down)">
                                      <p:cBhvr>
                                        <p:cTn id="10" dur="500"/>
                                        <p:tgtEl>
                                          <p:spTgt spid="19"/>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13">
                                            <p:txEl>
                                              <p:pRg st="2" end="2"/>
                                            </p:txEl>
                                          </p:spTgt>
                                        </p:tgtEl>
                                        <p:attrNameLst>
                                          <p:attrName>style.visibility</p:attrName>
                                        </p:attrNameLst>
                                      </p:cBhvr>
                                      <p:to>
                                        <p:strVal val="visible"/>
                                      </p:to>
                                    </p:set>
                                    <p:animEffect transition="in" filter="checkerboard(across)">
                                      <p:cBhvr>
                                        <p:cTn id="15" dur="500"/>
                                        <p:tgtEl>
                                          <p:spTgt spid="13">
                                            <p:txEl>
                                              <p:pRg st="2" end="2"/>
                                            </p:txEl>
                                          </p:spTgt>
                                        </p:tgtEl>
                                      </p:cBhvr>
                                    </p:animEffect>
                                  </p:childTnLst>
                                </p:cTn>
                              </p:par>
                              <p:par>
                                <p:cTn id="16" presetID="22" presetClass="entr" presetSubtype="4"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wipe(down)">
                                      <p:cBhvr>
                                        <p:cTn id="18" dur="500"/>
                                        <p:tgtEl>
                                          <p:spTgt spid="6"/>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13">
                                            <p:txEl>
                                              <p:pRg st="3" end="3"/>
                                            </p:txEl>
                                          </p:spTgt>
                                        </p:tgtEl>
                                        <p:attrNameLst>
                                          <p:attrName>style.visibility</p:attrName>
                                        </p:attrNameLst>
                                      </p:cBhvr>
                                      <p:to>
                                        <p:strVal val="visible"/>
                                      </p:to>
                                    </p:set>
                                    <p:animEffect transition="in" filter="checkerboard(across)">
                                      <p:cBhvr>
                                        <p:cTn id="23" dur="500"/>
                                        <p:tgtEl>
                                          <p:spTgt spid="13">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5" presetClass="entr" presetSubtype="10" fill="hold" grpId="0" nodeType="clickEffect">
                                  <p:stCondLst>
                                    <p:cond delay="0"/>
                                  </p:stCondLst>
                                  <p:childTnLst>
                                    <p:set>
                                      <p:cBhvr>
                                        <p:cTn id="27" dur="1" fill="hold">
                                          <p:stCondLst>
                                            <p:cond delay="0"/>
                                          </p:stCondLst>
                                        </p:cTn>
                                        <p:tgtEl>
                                          <p:spTgt spid="22">
                                            <p:txEl>
                                              <p:pRg st="0" end="0"/>
                                            </p:txEl>
                                          </p:spTgt>
                                        </p:tgtEl>
                                        <p:attrNameLst>
                                          <p:attrName>style.visibility</p:attrName>
                                        </p:attrNameLst>
                                      </p:cBhvr>
                                      <p:to>
                                        <p:strVal val="visible"/>
                                      </p:to>
                                    </p:set>
                                    <p:animEffect transition="in" filter="checkerboard(across)">
                                      <p:cBhvr>
                                        <p:cTn id="28" dur="500"/>
                                        <p:tgtEl>
                                          <p:spTgt spid="22">
                                            <p:txEl>
                                              <p:pRg st="0" end="0"/>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5" presetClass="entr" presetSubtype="10" fill="hold" grpId="0" nodeType="clickEffect">
                                  <p:stCondLst>
                                    <p:cond delay="0"/>
                                  </p:stCondLst>
                                  <p:childTnLst>
                                    <p:set>
                                      <p:cBhvr>
                                        <p:cTn id="32" dur="1" fill="hold">
                                          <p:stCondLst>
                                            <p:cond delay="0"/>
                                          </p:stCondLst>
                                        </p:cTn>
                                        <p:tgtEl>
                                          <p:spTgt spid="23">
                                            <p:txEl>
                                              <p:pRg st="0" end="0"/>
                                            </p:txEl>
                                          </p:spTgt>
                                        </p:tgtEl>
                                        <p:attrNameLst>
                                          <p:attrName>style.visibility</p:attrName>
                                        </p:attrNameLst>
                                      </p:cBhvr>
                                      <p:to>
                                        <p:strVal val="visible"/>
                                      </p:to>
                                    </p:set>
                                    <p:animEffect transition="in" filter="checkerboard(across)">
                                      <p:cBhvr>
                                        <p:cTn id="33" dur="500"/>
                                        <p:tgtEl>
                                          <p:spTgt spid="23">
                                            <p:txEl>
                                              <p:pRg st="0" end="0"/>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5" presetClass="entr" presetSubtype="10" fill="hold" grpId="0" nodeType="clickEffect">
                                  <p:stCondLst>
                                    <p:cond delay="0"/>
                                  </p:stCondLst>
                                  <p:childTnLst>
                                    <p:set>
                                      <p:cBhvr>
                                        <p:cTn id="37" dur="1" fill="hold">
                                          <p:stCondLst>
                                            <p:cond delay="0"/>
                                          </p:stCondLst>
                                        </p:cTn>
                                        <p:tgtEl>
                                          <p:spTgt spid="23">
                                            <p:txEl>
                                              <p:pRg st="1" end="1"/>
                                            </p:txEl>
                                          </p:spTgt>
                                        </p:tgtEl>
                                        <p:attrNameLst>
                                          <p:attrName>style.visibility</p:attrName>
                                        </p:attrNameLst>
                                      </p:cBhvr>
                                      <p:to>
                                        <p:strVal val="visible"/>
                                      </p:to>
                                    </p:set>
                                    <p:animEffect transition="in" filter="checkerboard(across)">
                                      <p:cBhvr>
                                        <p:cTn id="38" dur="500"/>
                                        <p:tgtEl>
                                          <p:spTgt spid="2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utoUpdateAnimBg="0"/>
      <p:bldP spid="22" grpId="0" build="p" autoUpdateAnimBg="0" advAuto="0"/>
      <p:bldP spid="23"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8581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zh-CN" altLang="zh-CN" sz="2400" b="1" kern="100" dirty="0">
                <a:latin typeface="Times New Roman"/>
                <a:ea typeface="华文新魏" pitchFamily="2" charset="-122"/>
                <a:cs typeface="Times New Roman"/>
              </a:rPr>
              <a:t>平均值的标准差</a:t>
            </a:r>
            <a:r>
              <a:rPr lang="zh-CN" altLang="zh-CN" sz="2400" b="1" kern="100" dirty="0" smtClean="0">
                <a:latin typeface="Times New Roman"/>
                <a:ea typeface="华文新魏" pitchFamily="2" charset="-122"/>
                <a:cs typeface="Times New Roman"/>
              </a:rPr>
              <a:t>：</a:t>
            </a:r>
            <a:endParaRPr kumimoji="1" lang="en-US" altLang="zh-CN" sz="2400" b="1" dirty="0" smtClean="0">
              <a:ea typeface="华文新魏" pitchFamily="2" charset="-122"/>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69154"/>
            <a:ext cx="5329238" cy="158504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1-16</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测定</a:t>
            </a:r>
            <a:r>
              <a:rPr lang="zh-CN" altLang="zh-CN" sz="2400" b="1" kern="100" dirty="0">
                <a:latin typeface="Times New Roman"/>
                <a:ea typeface="华文新魏" pitchFamily="2" charset="-122"/>
                <a:cs typeface="Times New Roman"/>
              </a:rPr>
              <a:t>某矿石中</a:t>
            </a:r>
            <a:r>
              <a:rPr lang="en-US" altLang="zh-CN" sz="2400" b="1" kern="100" dirty="0">
                <a:latin typeface="Times New Roman"/>
                <a:ea typeface="华文新魏" pitchFamily="2" charset="-122"/>
              </a:rPr>
              <a:t>W</a:t>
            </a:r>
            <a:r>
              <a:rPr lang="zh-CN" altLang="zh-CN" sz="2400" b="1" kern="100" dirty="0">
                <a:latin typeface="Times New Roman"/>
                <a:ea typeface="华文新魏" pitchFamily="2" charset="-122"/>
                <a:cs typeface="Times New Roman"/>
              </a:rPr>
              <a:t>的质量分数，测定结果为</a:t>
            </a:r>
            <a:r>
              <a:rPr lang="en-US" altLang="zh-CN" sz="2400" b="1" kern="100" dirty="0">
                <a:latin typeface="Times New Roman"/>
                <a:ea typeface="华文新魏" pitchFamily="2" charset="-122"/>
              </a:rPr>
              <a:t>0.2039</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0.2041</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0.2043</a:t>
            </a:r>
            <a:r>
              <a:rPr lang="zh-CN" altLang="zh-CN" sz="2400" b="1" kern="100" dirty="0">
                <a:latin typeface="Times New Roman"/>
                <a:ea typeface="华文新魏" pitchFamily="2" charset="-122"/>
                <a:cs typeface="Times New Roman"/>
              </a:rPr>
              <a:t>。计算平均值的标准差</a:t>
            </a:r>
            <a:r>
              <a:rPr lang="en-US" altLang="zh-CN" sz="2400" b="1" i="1" kern="100" dirty="0">
                <a:latin typeface="Times New Roman"/>
                <a:ea typeface="华文新魏" pitchFamily="2" charset="-122"/>
              </a:rPr>
              <a:t>S</a:t>
            </a:r>
            <a:r>
              <a:rPr lang="en-US" altLang="zh-CN" sz="2400" b="1" kern="100" baseline="-25000" dirty="0">
                <a:latin typeface="Times New Roman"/>
                <a:ea typeface="华文新魏" pitchFamily="2" charset="-122"/>
              </a:rPr>
              <a:t> </a:t>
            </a:r>
            <a:r>
              <a:rPr lang="zh-CN" altLang="zh-CN" sz="2400" b="1" kern="100" dirty="0">
                <a:latin typeface="Times New Roman"/>
                <a:ea typeface="华文新魏" pitchFamily="2" charset="-122"/>
                <a:cs typeface="Times New Roman"/>
              </a:rPr>
              <a:t>及置信度为</a:t>
            </a:r>
            <a:r>
              <a:rPr lang="en-US" altLang="zh-CN" sz="2400" b="1" kern="100" dirty="0">
                <a:latin typeface="Times New Roman"/>
                <a:ea typeface="华文新魏" pitchFamily="2" charset="-122"/>
              </a:rPr>
              <a:t>95</a:t>
            </a:r>
            <a:r>
              <a:rPr lang="zh-CN" altLang="zh-CN" sz="2400" b="1" kern="100" dirty="0">
                <a:latin typeface="Times New Roman"/>
                <a:ea typeface="华文新魏" pitchFamily="2" charset="-122"/>
                <a:cs typeface="Times New Roman"/>
              </a:rPr>
              <a:t>％的置信区间。</a:t>
            </a:r>
            <a:endParaRPr lang="zh-CN" altLang="en-US" sz="2500" b="1" dirty="0" smtClean="0">
              <a:solidFill>
                <a:srgbClr val="FFFF00"/>
              </a:solidFill>
              <a:ea typeface="华文新魏" pitchFamily="2" charset="-122"/>
            </a:endParaRPr>
          </a:p>
        </p:txBody>
      </p:sp>
      <p:sp>
        <p:nvSpPr>
          <p:cNvPr id="6" name="Rectangle 22"/>
          <p:cNvSpPr>
            <a:spLocks noChangeArrowheads="1"/>
          </p:cNvSpPr>
          <p:nvPr/>
        </p:nvSpPr>
        <p:spPr bwMode="auto">
          <a:xfrm>
            <a:off x="5976938" y="42100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8" name="Rectangle 11"/>
          <p:cNvSpPr>
            <a:spLocks noChangeArrowheads="1"/>
          </p:cNvSpPr>
          <p:nvPr/>
        </p:nvSpPr>
        <p:spPr bwMode="auto">
          <a:xfrm>
            <a:off x="5992813" y="46529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en-US" altLang="zh-CN" sz="2400" b="1" kern="100" dirty="0" smtClean="0">
                <a:latin typeface="Times New Roman"/>
                <a:ea typeface="华文新魏" pitchFamily="2" charset="-122"/>
              </a:rPr>
              <a:t>0.00012</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rPr>
              <a:t>0.2041±0.0005</a:t>
            </a:r>
            <a:endParaRPr kumimoji="1" lang="en-US" altLang="zh-CN" sz="2400" b="1" dirty="0" smtClean="0">
              <a:ea typeface="华文新魏" pitchFamily="2" charset="-122"/>
            </a:endParaRPr>
          </a:p>
        </p:txBody>
      </p:sp>
      <p:sp>
        <p:nvSpPr>
          <p:cNvPr id="19463"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13" name="Rectangle 11"/>
          <p:cNvSpPr>
            <a:spLocks noChangeArrowheads="1"/>
          </p:cNvSpPr>
          <p:nvPr/>
        </p:nvSpPr>
        <p:spPr bwMode="auto">
          <a:xfrm>
            <a:off x="5992813" y="2087563"/>
            <a:ext cx="5329237" cy="461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defRPr/>
            </a:pPr>
            <a:r>
              <a:rPr lang="zh-CN" altLang="zh-CN" sz="2400" b="1" kern="100" dirty="0" smtClean="0">
                <a:latin typeface="Times New Roman"/>
                <a:ea typeface="华文新魏" pitchFamily="2" charset="-122"/>
                <a:cs typeface="Times New Roman"/>
              </a:rPr>
              <a:t>置信区间</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 </a:t>
            </a:r>
            <a:endParaRPr kumimoji="1" lang="en-US" altLang="zh-CN" sz="2400" b="1" dirty="0" smtClean="0">
              <a:ea typeface="华文新魏" pitchFamily="2" charset="-122"/>
            </a:endParaRPr>
          </a:p>
        </p:txBody>
      </p:sp>
      <p:sp>
        <p:nvSpPr>
          <p:cNvPr id="19465" name="Rectangle 15"/>
          <p:cNvSpPr>
            <a:spLocks noChangeArrowheads="1"/>
          </p:cNvSpPr>
          <p:nvPr/>
        </p:nvSpPr>
        <p:spPr bwMode="auto">
          <a:xfrm>
            <a:off x="0" y="0"/>
            <a:ext cx="11522075" cy="457200"/>
          </a:xfrm>
          <a:prstGeom prst="rect">
            <a:avLst/>
          </a:prstGeom>
          <a:noFill/>
          <a:ln w="9525">
            <a:noFill/>
            <a:miter lim="800000"/>
            <a:headEnd/>
            <a:tailEnd/>
          </a:ln>
          <a:effectLst/>
        </p:spPr>
        <p:txBody>
          <a:bodyPr wrap="none" anchor="ctr">
            <a:spAutoFit/>
          </a:bodyPr>
          <a:lstStyle/>
          <a:p>
            <a:endParaRPr lang="zh-CN" altLang="en-US"/>
          </a:p>
        </p:txBody>
      </p:sp>
      <p:sp>
        <p:nvSpPr>
          <p:cNvPr id="19466" name="Rectangle 19"/>
          <p:cNvSpPr>
            <a:spLocks noChangeArrowheads="1"/>
          </p:cNvSpPr>
          <p:nvPr/>
        </p:nvSpPr>
        <p:spPr bwMode="auto">
          <a:xfrm>
            <a:off x="0" y="0"/>
            <a:ext cx="11522075" cy="45720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2" name="对象 1"/>
          <p:cNvGraphicFramePr>
            <a:graphicFrameLocks noChangeAspect="1"/>
          </p:cNvGraphicFramePr>
          <p:nvPr/>
        </p:nvGraphicFramePr>
        <p:xfrm>
          <a:off x="8640763" y="576263"/>
          <a:ext cx="1117600" cy="887412"/>
        </p:xfrm>
        <a:graphic>
          <a:graphicData uri="http://schemas.openxmlformats.org/presentationml/2006/ole">
            <p:oleObj spid="_x0000_s19467" name="公式" r:id="rId4" imgW="558558" imgH="444307" progId="Equation.3">
              <p:embed/>
            </p:oleObj>
          </a:graphicData>
        </a:graphic>
      </p:graphicFrame>
      <p:sp>
        <p:nvSpPr>
          <p:cNvPr id="19468" name="Rectangle 18"/>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0" name="对象 9"/>
          <p:cNvGraphicFramePr>
            <a:graphicFrameLocks noChangeAspect="1"/>
          </p:cNvGraphicFramePr>
          <p:nvPr/>
        </p:nvGraphicFramePr>
        <p:xfrm>
          <a:off x="6624638" y="2663825"/>
          <a:ext cx="4318000" cy="889000"/>
        </p:xfrm>
        <a:graphic>
          <a:graphicData uri="http://schemas.openxmlformats.org/presentationml/2006/ole">
            <p:oleObj spid="_x0000_s19469" name="公式" r:id="rId5" imgW="2159000" imgH="444500" progId="Equation.3">
              <p:embed/>
            </p:oleObj>
          </a:graphicData>
        </a:graphic>
      </p:graphicFrame>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par>
                          <p:cTn id="13" fill="hold" nodeType="afterGroup">
                            <p:stCondLst>
                              <p:cond delay="500"/>
                            </p:stCondLst>
                            <p:childTnLst>
                              <p:par>
                                <p:cTn id="14" presetID="22" presetClass="entr" presetSubtype="4"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5" presetClass="entr" presetSubtype="10" fill="hold" grpId="0" nodeType="clickEffect">
                                  <p:stCondLst>
                                    <p:cond delay="0"/>
                                  </p:stCondLst>
                                  <p:childTnLst>
                                    <p:set>
                                      <p:cBhvr>
                                        <p:cTn id="20" dur="1" fill="hold">
                                          <p:stCondLst>
                                            <p:cond delay="0"/>
                                          </p:stCondLst>
                                        </p:cTn>
                                        <p:tgtEl>
                                          <p:spTgt spid="13">
                                            <p:txEl>
                                              <p:pRg st="0" end="0"/>
                                            </p:txEl>
                                          </p:spTgt>
                                        </p:tgtEl>
                                        <p:attrNameLst>
                                          <p:attrName>style.visibility</p:attrName>
                                        </p:attrNameLst>
                                      </p:cBhvr>
                                      <p:to>
                                        <p:strVal val="visible"/>
                                      </p:to>
                                    </p:set>
                                    <p:animEffect transition="in" filter="checkerboard(across)">
                                      <p:cBhvr>
                                        <p:cTn id="21" dur="500"/>
                                        <p:tgtEl>
                                          <p:spTgt spid="13">
                                            <p:txEl>
                                              <p:pRg st="0" end="0"/>
                                            </p:txEl>
                                          </p:spTgt>
                                        </p:tgtEl>
                                      </p:cBhvr>
                                    </p:animEffect>
                                  </p:childTnLst>
                                </p:cTn>
                              </p:par>
                              <p:par>
                                <p:cTn id="22" presetID="22" presetClass="entr" presetSubtype="4"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6">
                                            <p:txEl>
                                              <p:pRg st="0" end="0"/>
                                            </p:txEl>
                                          </p:spTgt>
                                        </p:tgtEl>
                                        <p:attrNameLst>
                                          <p:attrName>style.visibility</p:attrName>
                                        </p:attrNameLst>
                                      </p:cBhvr>
                                      <p:to>
                                        <p:strVal val="visible"/>
                                      </p:to>
                                    </p:set>
                                    <p:animEffect transition="in" filter="checkerboard(across)">
                                      <p:cBhvr>
                                        <p:cTn id="29" dur="500"/>
                                        <p:tgtEl>
                                          <p:spTgt spid="6">
                                            <p:txEl>
                                              <p:pRg st="0" end="0"/>
                                            </p:txEl>
                                          </p:spTgt>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5" presetClass="entr" presetSubtype="10" fill="hold" grpId="0" nodeType="clickEffect">
                                  <p:stCondLst>
                                    <p:cond delay="0"/>
                                  </p:stCondLst>
                                  <p:childTnLst>
                                    <p:set>
                                      <p:cBhvr>
                                        <p:cTn id="33" dur="1" fill="hold">
                                          <p:stCondLst>
                                            <p:cond delay="0"/>
                                          </p:stCondLst>
                                        </p:cTn>
                                        <p:tgtEl>
                                          <p:spTgt spid="8">
                                            <p:txEl>
                                              <p:pRg st="0" end="0"/>
                                            </p:txEl>
                                          </p:spTgt>
                                        </p:tgtEl>
                                        <p:attrNameLst>
                                          <p:attrName>style.visibility</p:attrName>
                                        </p:attrNameLst>
                                      </p:cBhvr>
                                      <p:to>
                                        <p:strVal val="visible"/>
                                      </p:to>
                                    </p:set>
                                    <p:animEffect transition="in" filter="checkerboard(across)">
                                      <p:cBhvr>
                                        <p:cTn id="34"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6" grpId="0" build="p" autoUpdateAnimBg="0" advAuto="0"/>
      <p:bldP spid="8" grpId="0" build="p" autoUpdateAnimBg="0"/>
      <p:bldP spid="1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1"/>
          <p:cNvSpPr>
            <a:spLocks noChangeArrowheads="1"/>
          </p:cNvSpPr>
          <p:nvPr/>
        </p:nvSpPr>
        <p:spPr bwMode="auto">
          <a:xfrm>
            <a:off x="5976938" y="719138"/>
            <a:ext cx="5329237" cy="1570037"/>
          </a:xfrm>
          <a:prstGeom prst="rect">
            <a:avLst/>
          </a:prstGeom>
          <a:noFill/>
          <a:ln w="9525">
            <a:noFill/>
            <a:miter lim="800000"/>
            <a:headEnd/>
            <a:tailEnd/>
          </a:ln>
          <a:effectLst/>
        </p:spPr>
        <p:txBody>
          <a:bodyPr>
            <a:spAutoFit/>
          </a:bodyPr>
          <a:lstStyle/>
          <a:p>
            <a:pPr algn="just" eaLnBrk="0" hangingPunct="0"/>
            <a:r>
              <a:rPr lang="en-US" altLang="zh-CN" sz="2400" b="1" dirty="0">
                <a:ea typeface="华文新魏" pitchFamily="2" charset="-122"/>
                <a:cs typeface="Times New Roman" pitchFamily="18" charset="0"/>
              </a:rPr>
              <a:t>Q</a:t>
            </a:r>
            <a:r>
              <a:rPr lang="zh-CN" altLang="zh-CN" sz="2400" b="1" dirty="0">
                <a:ea typeface="华文新魏" pitchFamily="2" charset="-122"/>
                <a:cs typeface="Times New Roman" pitchFamily="18" charset="0"/>
              </a:rPr>
              <a:t>检验法的基本步骤为：</a:t>
            </a:r>
            <a:endParaRPr lang="zh-CN" altLang="zh-CN" sz="1000" dirty="0">
              <a:latin typeface="Calibri" pitchFamily="34" charset="0"/>
              <a:ea typeface="华文新魏" pitchFamily="2" charset="-122"/>
              <a:cs typeface="Times New Roman" pitchFamily="18" charset="0"/>
            </a:endParaRPr>
          </a:p>
          <a:p>
            <a:pPr algn="just" eaLnBrk="0" hangingPunct="0"/>
            <a:r>
              <a:rPr lang="zh-CN" altLang="zh-CN" sz="2400" b="1" dirty="0">
                <a:latin typeface="Calibri" pitchFamily="34" charset="0"/>
                <a:ea typeface="华文新魏" pitchFamily="2" charset="-122"/>
                <a:cs typeface="Times New Roman" pitchFamily="18" charset="0"/>
              </a:rPr>
              <a:t>①</a:t>
            </a:r>
            <a:r>
              <a:rPr lang="zh-CN" altLang="zh-CN" sz="2400" b="1" dirty="0">
                <a:ea typeface="华文新魏" pitchFamily="2" charset="-122"/>
                <a:cs typeface="Times New Roman" pitchFamily="18" charset="0"/>
              </a:rPr>
              <a:t>将测定值（包括可疑值）由小到大排列，即</a:t>
            </a:r>
            <a:r>
              <a:rPr lang="en-US" altLang="zh-CN" sz="2400" b="1" i="1" dirty="0">
                <a:ea typeface="华文新魏" pitchFamily="2" charset="-122"/>
                <a:cs typeface="Times New Roman" pitchFamily="18" charset="0"/>
              </a:rPr>
              <a:t>x</a:t>
            </a:r>
            <a:r>
              <a:rPr lang="en-US" altLang="zh-CN" sz="2400" b="1" baseline="-25000" dirty="0">
                <a:ea typeface="华文新魏" pitchFamily="2" charset="-122"/>
                <a:cs typeface="Times New Roman" pitchFamily="18" charset="0"/>
              </a:rPr>
              <a:t>1</a:t>
            </a:r>
            <a:r>
              <a:rPr lang="zh-CN" altLang="zh-CN" sz="2400" b="1" dirty="0">
                <a:ea typeface="华文新魏" pitchFamily="2" charset="-122"/>
                <a:cs typeface="Times New Roman" pitchFamily="18" charset="0"/>
              </a:rPr>
              <a:t>＜</a:t>
            </a:r>
            <a:r>
              <a:rPr lang="en-US" altLang="zh-CN" sz="2400" b="1" i="1" dirty="0">
                <a:ea typeface="华文新魏" pitchFamily="2" charset="-122"/>
                <a:cs typeface="Times New Roman" pitchFamily="18" charset="0"/>
              </a:rPr>
              <a:t>x</a:t>
            </a:r>
            <a:r>
              <a:rPr lang="en-US" altLang="zh-CN" sz="2400" b="1" baseline="-25000" dirty="0">
                <a:ea typeface="华文新魏" pitchFamily="2" charset="-122"/>
                <a:cs typeface="Times New Roman" pitchFamily="18" charset="0"/>
              </a:rPr>
              <a:t>2</a:t>
            </a:r>
            <a:r>
              <a:rPr lang="zh-CN" altLang="zh-CN" sz="2400" b="1" dirty="0">
                <a:ea typeface="华文新魏" pitchFamily="2" charset="-122"/>
                <a:cs typeface="Times New Roman" pitchFamily="18" charset="0"/>
              </a:rPr>
              <a:t>＜</a:t>
            </a:r>
            <a:r>
              <a:rPr lang="en-US" altLang="zh-CN" sz="2400" b="1" dirty="0">
                <a:ea typeface="华文新魏" pitchFamily="2" charset="-122"/>
                <a:cs typeface="Times New Roman" pitchFamily="18" charset="0"/>
              </a:rPr>
              <a:t>……</a:t>
            </a:r>
            <a:r>
              <a:rPr lang="zh-CN" altLang="zh-CN" sz="2400" b="1" dirty="0">
                <a:ea typeface="华文新魏" pitchFamily="2" charset="-122"/>
                <a:cs typeface="Times New Roman" pitchFamily="18" charset="0"/>
              </a:rPr>
              <a:t>＜</a:t>
            </a:r>
            <a:r>
              <a:rPr lang="en-US" altLang="zh-CN" sz="2400" b="1" i="1" dirty="0" err="1">
                <a:ea typeface="华文新魏" pitchFamily="2" charset="-122"/>
                <a:cs typeface="Times New Roman" pitchFamily="18" charset="0"/>
              </a:rPr>
              <a:t>x</a:t>
            </a:r>
            <a:r>
              <a:rPr lang="en-US" altLang="zh-CN" sz="2400" b="1" baseline="-25000" dirty="0" err="1">
                <a:ea typeface="华文新魏" pitchFamily="2" charset="-122"/>
                <a:cs typeface="Times New Roman" pitchFamily="18" charset="0"/>
              </a:rPr>
              <a:t>n</a:t>
            </a:r>
            <a:r>
              <a:rPr lang="zh-CN" altLang="zh-CN" sz="2400" b="1" dirty="0">
                <a:ea typeface="华文新魏" pitchFamily="2" charset="-122"/>
                <a:cs typeface="Times New Roman" pitchFamily="18" charset="0"/>
              </a:rPr>
              <a:t>。</a:t>
            </a:r>
            <a:endParaRPr lang="zh-CN" altLang="zh-CN" sz="1000" dirty="0">
              <a:latin typeface="Calibri" pitchFamily="34" charset="0"/>
              <a:ea typeface="华文新魏" pitchFamily="2" charset="-122"/>
              <a:cs typeface="Times New Roman" pitchFamily="18" charset="0"/>
            </a:endParaRPr>
          </a:p>
          <a:p>
            <a:pPr algn="just" eaLnBrk="0" hangingPunct="0"/>
            <a:r>
              <a:rPr lang="zh-CN" altLang="zh-CN" sz="2400" b="1" dirty="0">
                <a:latin typeface="Calibri" pitchFamily="34" charset="0"/>
                <a:ea typeface="华文新魏" pitchFamily="2" charset="-122"/>
                <a:cs typeface="Times New Roman" pitchFamily="18" charset="0"/>
              </a:rPr>
              <a:t>②</a:t>
            </a:r>
            <a:r>
              <a:rPr lang="zh-CN" altLang="zh-CN" sz="2400" b="1" dirty="0">
                <a:ea typeface="华文新魏" pitchFamily="2" charset="-122"/>
                <a:cs typeface="Times New Roman" pitchFamily="18" charset="0"/>
              </a:rPr>
              <a:t>计算</a:t>
            </a:r>
            <a:r>
              <a:rPr lang="en-US" altLang="zh-CN" sz="2400" b="1" dirty="0">
                <a:ea typeface="华文新魏" pitchFamily="2" charset="-122"/>
                <a:cs typeface="Times New Roman" pitchFamily="18" charset="0"/>
              </a:rPr>
              <a:t>Q</a:t>
            </a:r>
            <a:r>
              <a:rPr lang="zh-CN" altLang="zh-CN" sz="2400" b="1" dirty="0">
                <a:ea typeface="华文新魏" pitchFamily="2" charset="-122"/>
                <a:cs typeface="Times New Roman" pitchFamily="18" charset="0"/>
              </a:rPr>
              <a:t>值。若</a:t>
            </a:r>
            <a:r>
              <a:rPr lang="en-US" altLang="zh-CN" sz="2400" b="1" dirty="0" err="1">
                <a:ea typeface="华文新魏" pitchFamily="2" charset="-122"/>
                <a:cs typeface="Times New Roman" pitchFamily="18" charset="0"/>
              </a:rPr>
              <a:t>x</a:t>
            </a:r>
            <a:r>
              <a:rPr lang="en-US" altLang="zh-CN" sz="2400" b="1" baseline="-25000" dirty="0" err="1">
                <a:ea typeface="华文新魏" pitchFamily="2" charset="-122"/>
                <a:cs typeface="Times New Roman" pitchFamily="18" charset="0"/>
              </a:rPr>
              <a:t>n</a:t>
            </a:r>
            <a:r>
              <a:rPr lang="zh-CN" altLang="zh-CN" sz="2400" b="1" dirty="0">
                <a:ea typeface="华文新魏" pitchFamily="2" charset="-122"/>
                <a:cs typeface="Times New Roman" pitchFamily="18" charset="0"/>
              </a:rPr>
              <a:t>为可疑值，则：</a:t>
            </a:r>
            <a:endParaRPr lang="zh-CN" altLang="zh-CN" sz="1000" dirty="0">
              <a:latin typeface="Calibri" pitchFamily="34" charset="0"/>
              <a:ea typeface="华文新魏" pitchFamily="2" charset="-122"/>
              <a:cs typeface="Times New Roman" pitchFamily="18" charset="0"/>
            </a:endParaRPr>
          </a:p>
        </p:txBody>
      </p:sp>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355599"/>
            <a:ext cx="5329238" cy="41703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1-17</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测定</a:t>
            </a:r>
            <a:r>
              <a:rPr lang="zh-CN" altLang="zh-CN" sz="2400" b="1" kern="100" dirty="0">
                <a:latin typeface="Times New Roman"/>
                <a:ea typeface="华文新魏" pitchFamily="2" charset="-122"/>
                <a:cs typeface="Times New Roman"/>
              </a:rPr>
              <a:t>某一热交换器水垢的</a:t>
            </a:r>
            <a:r>
              <a:rPr lang="en-US" altLang="zh-CN" sz="2400" b="1" kern="100" dirty="0">
                <a:latin typeface="Times New Roman"/>
                <a:ea typeface="华文新魏" pitchFamily="2" charset="-122"/>
                <a:cs typeface="Times New Roman"/>
              </a:rPr>
              <a:t>P</a:t>
            </a:r>
            <a:r>
              <a:rPr lang="en-US" altLang="zh-CN" sz="2400" b="1" kern="100" baseline="-25000" dirty="0">
                <a:latin typeface="Times New Roman"/>
                <a:ea typeface="华文新魏" pitchFamily="2" charset="-122"/>
                <a:cs typeface="Times New Roman"/>
              </a:rPr>
              <a:t>2</a:t>
            </a:r>
            <a:r>
              <a:rPr lang="en-US" altLang="zh-CN" sz="2400" b="1" kern="100" dirty="0">
                <a:latin typeface="Times New Roman"/>
                <a:ea typeface="华文新魏" pitchFamily="2" charset="-122"/>
                <a:cs typeface="Times New Roman"/>
              </a:rPr>
              <a:t>O</a:t>
            </a:r>
            <a:r>
              <a:rPr lang="en-US" altLang="zh-CN" sz="2400" b="1" kern="100" baseline="-25000" dirty="0">
                <a:latin typeface="Times New Roman"/>
                <a:ea typeface="华文新魏" pitchFamily="2" charset="-122"/>
                <a:cs typeface="Times New Roman"/>
              </a:rPr>
              <a:t>5</a:t>
            </a:r>
            <a:r>
              <a:rPr lang="zh-CN" altLang="zh-CN" sz="2400" b="1" kern="100" dirty="0">
                <a:latin typeface="Times New Roman"/>
                <a:ea typeface="华文新魏" pitchFamily="2" charset="-122"/>
                <a:cs typeface="Times New Roman"/>
              </a:rPr>
              <a:t>和</a:t>
            </a:r>
            <a:r>
              <a:rPr lang="en-US" altLang="zh-CN" sz="2400" b="1" kern="100" dirty="0">
                <a:latin typeface="Times New Roman"/>
                <a:ea typeface="华文新魏" pitchFamily="2" charset="-122"/>
                <a:cs typeface="Times New Roman"/>
              </a:rPr>
              <a:t>SiO</a:t>
            </a:r>
            <a:r>
              <a:rPr lang="en-US" altLang="zh-CN" sz="2400" b="1" kern="100" baseline="-25000" dirty="0">
                <a:latin typeface="Times New Roman"/>
                <a:ea typeface="华文新魏" pitchFamily="2" charset="-122"/>
                <a:cs typeface="Times New Roman"/>
              </a:rPr>
              <a:t>2</a:t>
            </a:r>
            <a:r>
              <a:rPr lang="zh-CN" altLang="zh-CN" sz="2400" b="1" kern="100" dirty="0">
                <a:latin typeface="Times New Roman"/>
                <a:ea typeface="华文新魏" pitchFamily="2" charset="-122"/>
                <a:cs typeface="Times New Roman"/>
              </a:rPr>
              <a:t>的质量分数，测定结果分别</a:t>
            </a:r>
            <a:r>
              <a:rPr lang="zh-CN" altLang="zh-CN" sz="2400" b="1" kern="100" dirty="0" smtClean="0">
                <a:latin typeface="Times New Roman"/>
                <a:ea typeface="华文新魏" pitchFamily="2" charset="-122"/>
                <a:cs typeface="Times New Roman"/>
              </a:rPr>
              <a:t>如下（</a:t>
            </a:r>
            <a:r>
              <a:rPr lang="zh-CN" altLang="zh-CN" sz="2400" b="1" kern="100" dirty="0">
                <a:latin typeface="Times New Roman"/>
                <a:ea typeface="华文新魏" pitchFamily="2" charset="-122"/>
                <a:cs typeface="Times New Roman"/>
              </a:rPr>
              <a:t>已校正系统误差）：</a:t>
            </a:r>
            <a:endParaRPr lang="zh-CN" altLang="zh-CN" sz="1050" kern="100" dirty="0">
              <a:latin typeface="Calibri"/>
              <a:ea typeface="宋体"/>
              <a:cs typeface="Times New Roman"/>
            </a:endParaRPr>
          </a:p>
          <a:p>
            <a:pPr marL="0" indent="0" algn="just">
              <a:spcAft>
                <a:spcPts val="0"/>
              </a:spcAft>
              <a:defRPr/>
            </a:pPr>
            <a:r>
              <a:rPr lang="en-US" altLang="zh-CN" sz="2400" b="1" i="1" kern="100" dirty="0">
                <a:latin typeface="Times New Roman"/>
                <a:ea typeface="华文新魏" pitchFamily="2" charset="-122"/>
                <a:cs typeface="Times New Roman"/>
              </a:rPr>
              <a:t>ω</a:t>
            </a:r>
            <a:r>
              <a:rPr lang="en-US" altLang="zh-CN" sz="2400" b="1" kern="100" dirty="0">
                <a:latin typeface="Times New Roman"/>
                <a:ea typeface="华文新魏" pitchFamily="2" charset="-122"/>
                <a:cs typeface="Times New Roman"/>
              </a:rPr>
              <a:t>(P</a:t>
            </a:r>
            <a:r>
              <a:rPr lang="en-US" altLang="zh-CN" sz="2400" b="1" kern="100" baseline="-25000" dirty="0">
                <a:latin typeface="Times New Roman"/>
                <a:ea typeface="华文新魏" pitchFamily="2" charset="-122"/>
                <a:cs typeface="Times New Roman"/>
              </a:rPr>
              <a:t>2</a:t>
            </a:r>
            <a:r>
              <a:rPr lang="en-US" altLang="zh-CN" sz="2400" b="1" kern="100" dirty="0">
                <a:latin typeface="Times New Roman"/>
                <a:ea typeface="华文新魏" pitchFamily="2" charset="-122"/>
                <a:cs typeface="Times New Roman"/>
              </a:rPr>
              <a:t>O</a:t>
            </a:r>
            <a:r>
              <a:rPr lang="en-US" altLang="zh-CN" sz="2400" b="1" kern="100" baseline="-25000" dirty="0">
                <a:latin typeface="Times New Roman"/>
                <a:ea typeface="华文新魏" pitchFamily="2" charset="-122"/>
                <a:cs typeface="Times New Roman"/>
              </a:rPr>
              <a:t>5</a:t>
            </a:r>
            <a:r>
              <a:rPr lang="en-US" altLang="zh-CN" sz="2400" b="1" kern="100" dirty="0">
                <a:latin typeface="Times New Roman"/>
                <a:ea typeface="华文新魏" pitchFamily="2" charset="-122"/>
                <a:cs typeface="Times New Roman"/>
              </a:rPr>
              <a:t>)</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0.0844</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0.0832</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0.0845</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cs typeface="Times New Roman"/>
              </a:rPr>
              <a:t> </a:t>
            </a:r>
          </a:p>
          <a:p>
            <a:pPr marL="0" indent="0" algn="just">
              <a:spcAft>
                <a:spcPts val="0"/>
              </a:spcAft>
              <a:defRPr/>
            </a:pPr>
            <a:r>
              <a:rPr lang="en-US" altLang="zh-CN" sz="2400" b="1" kern="100" dirty="0">
                <a:latin typeface="Times New Roman"/>
                <a:ea typeface="华文新魏" pitchFamily="2" charset="-122"/>
                <a:cs typeface="Times New Roman"/>
              </a:rPr>
              <a:t> </a:t>
            </a:r>
            <a:r>
              <a:rPr lang="en-US" altLang="zh-CN" sz="2400" b="1" kern="100" dirty="0" smtClean="0">
                <a:latin typeface="Times New Roman"/>
                <a:ea typeface="华文新魏" pitchFamily="2" charset="-122"/>
                <a:cs typeface="Times New Roman"/>
              </a:rPr>
              <a:t>                 0.0852</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0.0869</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0.0838</a:t>
            </a:r>
            <a:endParaRPr lang="zh-CN" altLang="zh-CN" sz="1050" kern="100" dirty="0">
              <a:latin typeface="Calibri"/>
              <a:ea typeface="宋体"/>
              <a:cs typeface="Times New Roman"/>
            </a:endParaRPr>
          </a:p>
          <a:p>
            <a:pPr marL="0" indent="0" algn="just">
              <a:spcAft>
                <a:spcPts val="0"/>
              </a:spcAft>
              <a:defRPr/>
            </a:pPr>
            <a:r>
              <a:rPr lang="en-US" altLang="zh-CN" sz="2400" b="1" i="1" kern="100" dirty="0">
                <a:latin typeface="Times New Roman"/>
                <a:ea typeface="华文新魏" pitchFamily="2" charset="-122"/>
                <a:cs typeface="Times New Roman"/>
              </a:rPr>
              <a:t>ω</a:t>
            </a:r>
            <a:r>
              <a:rPr lang="en-US" altLang="zh-CN" sz="2400" b="1" kern="100" dirty="0">
                <a:latin typeface="Times New Roman"/>
                <a:ea typeface="华文新魏" pitchFamily="2" charset="-122"/>
                <a:cs typeface="Times New Roman"/>
              </a:rPr>
              <a:t>(SiO</a:t>
            </a:r>
            <a:r>
              <a:rPr lang="en-US" altLang="zh-CN" sz="2400" b="1" kern="100" baseline="-25000" dirty="0">
                <a:latin typeface="Times New Roman"/>
                <a:ea typeface="华文新魏" pitchFamily="2" charset="-122"/>
                <a:cs typeface="Times New Roman"/>
              </a:rPr>
              <a:t>2</a:t>
            </a:r>
            <a:r>
              <a:rPr lang="en-US" altLang="zh-CN" sz="2400" b="1" kern="100" dirty="0">
                <a:latin typeface="Times New Roman"/>
                <a:ea typeface="华文新魏" pitchFamily="2" charset="-122"/>
                <a:cs typeface="Times New Roman"/>
              </a:rPr>
              <a:t>)</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0.0150</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0.0151</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0.0168</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en-US" altLang="zh-CN" sz="2400" b="1" kern="100" dirty="0">
                <a:latin typeface="Times New Roman"/>
                <a:ea typeface="华文新魏" pitchFamily="2" charset="-122"/>
                <a:cs typeface="Times New Roman"/>
              </a:rPr>
              <a:t> </a:t>
            </a:r>
            <a:r>
              <a:rPr lang="en-US" altLang="zh-CN" sz="2400" b="1" kern="100" dirty="0" smtClean="0">
                <a:latin typeface="Times New Roman"/>
                <a:ea typeface="华文新魏" pitchFamily="2" charset="-122"/>
                <a:cs typeface="Times New Roman"/>
              </a:rPr>
              <a:t>                 0.0122</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0.0163</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0.0172</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Times New Roman"/>
                <a:ea typeface="华文新魏" pitchFamily="2" charset="-122"/>
                <a:cs typeface="Times New Roman"/>
              </a:rPr>
              <a:t>根据</a:t>
            </a:r>
            <a:r>
              <a:rPr lang="en-US" altLang="zh-CN" sz="2400" b="1" kern="100" dirty="0">
                <a:latin typeface="Times New Roman"/>
                <a:ea typeface="华文新魏" pitchFamily="2" charset="-122"/>
                <a:cs typeface="Times New Roman"/>
              </a:rPr>
              <a:t>Q</a:t>
            </a:r>
            <a:r>
              <a:rPr lang="zh-CN" altLang="zh-CN" sz="2400" b="1" kern="100" dirty="0">
                <a:latin typeface="Times New Roman"/>
                <a:ea typeface="华文新魏" pitchFamily="2" charset="-122"/>
                <a:cs typeface="Times New Roman"/>
              </a:rPr>
              <a:t>检验法对可疑数据决定取舍（置信度</a:t>
            </a:r>
            <a:r>
              <a:rPr lang="en-US" altLang="zh-CN" sz="2400" b="1" kern="100" dirty="0">
                <a:latin typeface="Times New Roman"/>
                <a:ea typeface="华文新魏" pitchFamily="2" charset="-122"/>
                <a:cs typeface="Times New Roman"/>
              </a:rPr>
              <a:t>90</a:t>
            </a:r>
            <a:r>
              <a:rPr lang="zh-CN" altLang="zh-CN" sz="2400" b="1" kern="100" dirty="0">
                <a:latin typeface="Times New Roman"/>
                <a:ea typeface="华文新魏" pitchFamily="2" charset="-122"/>
                <a:cs typeface="Times New Roman"/>
              </a:rPr>
              <a:t>％），然后求出平均值、</a:t>
            </a:r>
            <a:r>
              <a:rPr lang="zh-CN" altLang="zh-CN" sz="2400" b="1" kern="100" dirty="0" smtClean="0">
                <a:latin typeface="Times New Roman"/>
                <a:ea typeface="华文新魏" pitchFamily="2" charset="-122"/>
                <a:cs typeface="Times New Roman"/>
              </a:rPr>
              <a:t>平均偏差、</a:t>
            </a:r>
            <a:r>
              <a:rPr lang="zh-CN" altLang="zh-CN" sz="2400" b="1" kern="100" dirty="0">
                <a:latin typeface="Times New Roman"/>
                <a:ea typeface="华文新魏" pitchFamily="2" charset="-122"/>
                <a:cs typeface="Times New Roman"/>
              </a:rPr>
              <a:t>标准差和置信度分别为</a:t>
            </a:r>
            <a:r>
              <a:rPr lang="en-US" altLang="zh-CN" sz="2400" b="1" kern="100" dirty="0">
                <a:latin typeface="Times New Roman"/>
                <a:ea typeface="华文新魏" pitchFamily="2" charset="-122"/>
                <a:cs typeface="Times New Roman"/>
              </a:rPr>
              <a:t>90</a:t>
            </a:r>
            <a:r>
              <a:rPr lang="zh-CN" altLang="zh-CN" sz="2400" b="1" kern="100" dirty="0">
                <a:latin typeface="Times New Roman"/>
                <a:ea typeface="华文新魏" pitchFamily="2" charset="-122"/>
                <a:cs typeface="Times New Roman"/>
              </a:rPr>
              <a:t>％时平均值的置信区间</a:t>
            </a:r>
            <a:r>
              <a:rPr lang="zh-CN" altLang="zh-CN" sz="2400" b="1" kern="100" dirty="0" smtClean="0">
                <a:latin typeface="Times New Roman"/>
                <a:ea typeface="华文新魏" pitchFamily="2" charset="-122"/>
                <a:cs typeface="Times New Roman"/>
              </a:rPr>
              <a:t>。</a:t>
            </a:r>
            <a:endParaRPr lang="zh-CN" altLang="en-US" sz="2500" b="1" dirty="0" smtClean="0">
              <a:solidFill>
                <a:srgbClr val="FFFF00"/>
              </a:solidFill>
              <a:ea typeface="华文新魏" pitchFamily="2" charset="-122"/>
            </a:endParaRPr>
          </a:p>
        </p:txBody>
      </p:sp>
      <p:sp>
        <p:nvSpPr>
          <p:cNvPr id="20485"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solidFill>
                <a:srgbClr val="FFFFFF"/>
              </a:solidFill>
            </a:endParaRPr>
          </a:p>
        </p:txBody>
      </p:sp>
      <p:sp>
        <p:nvSpPr>
          <p:cNvPr id="9" name="Rectangle 11"/>
          <p:cNvSpPr>
            <a:spLocks noChangeArrowheads="1"/>
          </p:cNvSpPr>
          <p:nvPr/>
        </p:nvSpPr>
        <p:spPr bwMode="auto">
          <a:xfrm>
            <a:off x="5999163" y="2663825"/>
            <a:ext cx="5329237" cy="831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lgn="just">
              <a:spcAft>
                <a:spcPts val="0"/>
              </a:spcAft>
              <a:defRPr/>
            </a:pPr>
            <a:endParaRPr lang="en-US" altLang="zh-CN" sz="2400" b="1" kern="100" dirty="0" smtClean="0">
              <a:latin typeface="Times New Roman"/>
              <a:ea typeface="华文新魏" pitchFamily="2" charset="-122"/>
              <a:cs typeface="Times New Roman"/>
            </a:endParaRPr>
          </a:p>
          <a:p>
            <a:pPr algn="just">
              <a:spcAft>
                <a:spcPts val="0"/>
              </a:spcAft>
              <a:defRPr/>
            </a:pPr>
            <a:r>
              <a:rPr lang="en-US" altLang="zh-CN" sz="2400" b="1" kern="100" dirty="0" smtClean="0">
                <a:latin typeface="Times New Roman"/>
                <a:ea typeface="华文新魏" pitchFamily="2" charset="-122"/>
                <a:cs typeface="Times New Roman"/>
              </a:rPr>
              <a:t>   </a:t>
            </a:r>
            <a:r>
              <a:rPr lang="zh-CN" altLang="zh-CN" sz="2400" b="1" kern="100" dirty="0" smtClean="0">
                <a:latin typeface="Times New Roman"/>
                <a:ea typeface="华文新魏" pitchFamily="2" charset="-122"/>
                <a:cs typeface="Times New Roman"/>
              </a:rPr>
              <a:t>若</a:t>
            </a:r>
            <a:r>
              <a:rPr lang="en-US" altLang="zh-CN" sz="2400" b="1" kern="100" dirty="0">
                <a:latin typeface="Times New Roman"/>
                <a:ea typeface="华文新魏" pitchFamily="2" charset="-122"/>
                <a:cs typeface="Times New Roman"/>
              </a:rPr>
              <a:t>x</a:t>
            </a:r>
            <a:r>
              <a:rPr lang="zh-CN" altLang="zh-CN" sz="2400" b="1" kern="100" baseline="-25000" dirty="0">
                <a:latin typeface="Times New Roman"/>
                <a:ea typeface="华文新魏" pitchFamily="2" charset="-122"/>
                <a:cs typeface="Times New Roman"/>
              </a:rPr>
              <a:t>１</a:t>
            </a:r>
            <a:r>
              <a:rPr lang="zh-CN" altLang="zh-CN" sz="2400" b="1" kern="100" dirty="0">
                <a:latin typeface="Times New Roman"/>
                <a:ea typeface="华文新魏" pitchFamily="2" charset="-122"/>
                <a:cs typeface="Times New Roman"/>
              </a:rPr>
              <a:t>为可疑值，则</a:t>
            </a:r>
            <a:r>
              <a:rPr lang="zh-CN" altLang="zh-CN" sz="2400" b="1" kern="100" dirty="0" smtClean="0">
                <a:latin typeface="Times New Roman"/>
                <a:ea typeface="华文新魏" pitchFamily="2" charset="-122"/>
                <a:cs typeface="Times New Roman"/>
              </a:rPr>
              <a:t>：</a:t>
            </a:r>
            <a:endParaRPr kumimoji="1" lang="en-US" altLang="zh-CN" sz="2400" b="1" dirty="0" smtClean="0">
              <a:solidFill>
                <a:srgbClr val="FFFFFF"/>
              </a:solidFill>
              <a:ea typeface="华文新魏" pitchFamily="2" charset="-122"/>
            </a:endParaRPr>
          </a:p>
        </p:txBody>
      </p:sp>
      <p:sp>
        <p:nvSpPr>
          <p:cNvPr id="10" name="Rectangle 11"/>
          <p:cNvSpPr>
            <a:spLocks noChangeArrowheads="1"/>
          </p:cNvSpPr>
          <p:nvPr/>
        </p:nvSpPr>
        <p:spPr bwMode="auto">
          <a:xfrm>
            <a:off x="5999163" y="4319588"/>
            <a:ext cx="5329237" cy="12017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lgn="just">
              <a:spcAft>
                <a:spcPts val="0"/>
              </a:spcAft>
              <a:defRPr/>
            </a:pPr>
            <a:r>
              <a:rPr lang="en-US" altLang="zh-CN" sz="2400" b="1" kern="100" dirty="0" smtClean="0">
                <a:latin typeface="Times New Roman"/>
                <a:ea typeface="华文新魏" pitchFamily="2" charset="-122"/>
                <a:cs typeface="Times New Roman"/>
              </a:rPr>
              <a:t>Q</a:t>
            </a:r>
            <a:r>
              <a:rPr lang="zh-CN" altLang="zh-CN" sz="2400" b="1" kern="100" dirty="0">
                <a:latin typeface="Times New Roman"/>
                <a:ea typeface="华文新魏" pitchFamily="2" charset="-122"/>
                <a:cs typeface="Times New Roman"/>
              </a:rPr>
              <a:t>计算越大，说明可疑值离群越远，至一定界限时即应舍去</a:t>
            </a:r>
            <a:endParaRPr lang="zh-CN" altLang="zh-CN" sz="1050" kern="100" dirty="0">
              <a:latin typeface="Calibri"/>
              <a:ea typeface="宋体"/>
              <a:cs typeface="Times New Roman"/>
            </a:endParaRPr>
          </a:p>
          <a:p>
            <a:pPr eaLnBrk="1" hangingPunct="1">
              <a:defRPr/>
            </a:pPr>
            <a:endParaRPr kumimoji="1" lang="en-US" altLang="zh-CN" sz="2400" b="1" dirty="0" smtClean="0">
              <a:solidFill>
                <a:srgbClr val="FFFFFF"/>
              </a:solidFill>
              <a:ea typeface="华文新魏" pitchFamily="2" charset="-122"/>
            </a:endParaRPr>
          </a:p>
        </p:txBody>
      </p:sp>
      <p:sp>
        <p:nvSpPr>
          <p:cNvPr id="20488" name="Rectangle 1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7" name="对象 6"/>
          <p:cNvGraphicFramePr>
            <a:graphicFrameLocks noChangeAspect="1"/>
          </p:cNvGraphicFramePr>
          <p:nvPr/>
        </p:nvGraphicFramePr>
        <p:xfrm>
          <a:off x="7129463" y="2232025"/>
          <a:ext cx="2132012" cy="889000"/>
        </p:xfrm>
        <a:graphic>
          <a:graphicData uri="http://schemas.openxmlformats.org/presentationml/2006/ole">
            <p:oleObj spid="_x0000_s20489" name="公式" r:id="rId4" imgW="1066337" imgH="444307" progId="Equation.3">
              <p:embed/>
            </p:oleObj>
          </a:graphicData>
        </a:graphic>
      </p:graphicFrame>
      <p:sp>
        <p:nvSpPr>
          <p:cNvPr id="20490" name="Rectangle 13"/>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graphicFrame>
        <p:nvGraphicFramePr>
          <p:cNvPr id="11" name="对象 10"/>
          <p:cNvGraphicFramePr>
            <a:graphicFrameLocks noChangeAspect="1"/>
          </p:cNvGraphicFramePr>
          <p:nvPr/>
        </p:nvGraphicFramePr>
        <p:xfrm>
          <a:off x="7129463" y="3384550"/>
          <a:ext cx="1930400" cy="889000"/>
        </p:xfrm>
        <a:graphic>
          <a:graphicData uri="http://schemas.openxmlformats.org/presentationml/2006/ole">
            <p:oleObj spid="_x0000_s20491" name="公式" r:id="rId5" imgW="965200" imgH="444500" progId="Equation.3">
              <p:embed/>
            </p:oleObj>
          </a:graphicData>
        </a:graphic>
      </p:graphicFrame>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checkerboard(across)">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checkerboard(across)">
                                      <p:cBhvr>
                                        <p:cTn id="17" dur="500"/>
                                        <p:tgtEl>
                                          <p:spTgt spid="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checkerboard(across)">
                                      <p:cBhvr>
                                        <p:cTn id="22" dur="500"/>
                                        <p:tgtEl>
                                          <p:spTgt spid="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9">
                                            <p:txEl>
                                              <p:pRg st="1" end="1"/>
                                            </p:txEl>
                                          </p:spTgt>
                                        </p:tgtEl>
                                        <p:attrNameLst>
                                          <p:attrName>style.visibility</p:attrName>
                                        </p:attrNameLst>
                                      </p:cBhvr>
                                      <p:to>
                                        <p:strVal val="visible"/>
                                      </p:to>
                                    </p:set>
                                    <p:animEffect transition="in" filter="checkerboard(across)">
                                      <p:cBhvr>
                                        <p:cTn id="32" dur="500"/>
                                        <p:tgtEl>
                                          <p:spTgt spid="9">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0">
                                            <p:txEl>
                                              <p:pRg st="0" end="0"/>
                                            </p:txEl>
                                          </p:spTgt>
                                        </p:tgtEl>
                                        <p:attrNameLst>
                                          <p:attrName>style.visibility</p:attrName>
                                        </p:attrNameLst>
                                      </p:cBhvr>
                                      <p:to>
                                        <p:strVal val="visible"/>
                                      </p:to>
                                    </p:set>
                                    <p:animEffect transition="in" filter="checkerboard(across)">
                                      <p:cBhvr>
                                        <p:cTn id="42"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4" grpId="0" build="p" autoUpdateAnimBg="0" advAuto="0"/>
      <p:bldP spid="9" grpId="0" build="p" autoUpdateAnimBg="0"/>
      <p:bldP spid="10"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Box 39"/>
          <p:cNvSpPr txBox="1">
            <a:spLocks noChangeArrowheads="1"/>
          </p:cNvSpPr>
          <p:nvPr/>
        </p:nvSpPr>
        <p:spPr bwMode="auto">
          <a:xfrm>
            <a:off x="215900" y="355599"/>
            <a:ext cx="5329238" cy="417037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1-17</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测定</a:t>
            </a:r>
            <a:r>
              <a:rPr lang="zh-CN" altLang="zh-CN" sz="2400" b="1" kern="100" dirty="0">
                <a:latin typeface="Times New Roman"/>
                <a:ea typeface="华文新魏" pitchFamily="2" charset="-122"/>
                <a:cs typeface="Times New Roman"/>
              </a:rPr>
              <a:t>某一热交换器水垢的</a:t>
            </a:r>
            <a:r>
              <a:rPr lang="en-US" altLang="zh-CN" sz="2400" b="1" kern="100" dirty="0">
                <a:latin typeface="Times New Roman"/>
                <a:ea typeface="华文新魏" pitchFamily="2" charset="-122"/>
                <a:cs typeface="Times New Roman"/>
              </a:rPr>
              <a:t>P</a:t>
            </a:r>
            <a:r>
              <a:rPr lang="en-US" altLang="zh-CN" sz="2400" b="1" kern="100" baseline="-25000" dirty="0">
                <a:latin typeface="Times New Roman"/>
                <a:ea typeface="华文新魏" pitchFamily="2" charset="-122"/>
                <a:cs typeface="Times New Roman"/>
              </a:rPr>
              <a:t>2</a:t>
            </a:r>
            <a:r>
              <a:rPr lang="en-US" altLang="zh-CN" sz="2400" b="1" kern="100" dirty="0">
                <a:latin typeface="Times New Roman"/>
                <a:ea typeface="华文新魏" pitchFamily="2" charset="-122"/>
                <a:cs typeface="Times New Roman"/>
              </a:rPr>
              <a:t>O</a:t>
            </a:r>
            <a:r>
              <a:rPr lang="en-US" altLang="zh-CN" sz="2400" b="1" kern="100" baseline="-25000" dirty="0">
                <a:latin typeface="Times New Roman"/>
                <a:ea typeface="华文新魏" pitchFamily="2" charset="-122"/>
                <a:cs typeface="Times New Roman"/>
              </a:rPr>
              <a:t>5</a:t>
            </a:r>
            <a:r>
              <a:rPr lang="zh-CN" altLang="zh-CN" sz="2400" b="1" kern="100" dirty="0">
                <a:latin typeface="Times New Roman"/>
                <a:ea typeface="华文新魏" pitchFamily="2" charset="-122"/>
                <a:cs typeface="Times New Roman"/>
              </a:rPr>
              <a:t>和</a:t>
            </a:r>
            <a:r>
              <a:rPr lang="en-US" altLang="zh-CN" sz="2400" b="1" kern="100" dirty="0">
                <a:latin typeface="Times New Roman"/>
                <a:ea typeface="华文新魏" pitchFamily="2" charset="-122"/>
                <a:cs typeface="Times New Roman"/>
              </a:rPr>
              <a:t>SiO</a:t>
            </a:r>
            <a:r>
              <a:rPr lang="en-US" altLang="zh-CN" sz="2400" b="1" kern="100" baseline="-25000" dirty="0">
                <a:latin typeface="Times New Roman"/>
                <a:ea typeface="华文新魏" pitchFamily="2" charset="-122"/>
                <a:cs typeface="Times New Roman"/>
              </a:rPr>
              <a:t>2</a:t>
            </a:r>
            <a:r>
              <a:rPr lang="zh-CN" altLang="zh-CN" sz="2400" b="1" kern="100" dirty="0">
                <a:latin typeface="Times New Roman"/>
                <a:ea typeface="华文新魏" pitchFamily="2" charset="-122"/>
                <a:cs typeface="Times New Roman"/>
              </a:rPr>
              <a:t>的质量分数，测定结果分别</a:t>
            </a:r>
            <a:r>
              <a:rPr lang="zh-CN" altLang="zh-CN" sz="2400" b="1" kern="100" dirty="0" smtClean="0">
                <a:latin typeface="Times New Roman"/>
                <a:ea typeface="华文新魏" pitchFamily="2" charset="-122"/>
                <a:cs typeface="Times New Roman"/>
              </a:rPr>
              <a:t>如下（</a:t>
            </a:r>
            <a:r>
              <a:rPr lang="zh-CN" altLang="zh-CN" sz="2400" b="1" kern="100" dirty="0">
                <a:latin typeface="Times New Roman"/>
                <a:ea typeface="华文新魏" pitchFamily="2" charset="-122"/>
                <a:cs typeface="Times New Roman"/>
              </a:rPr>
              <a:t>已校正系统误差）：</a:t>
            </a:r>
            <a:endParaRPr lang="zh-CN" altLang="zh-CN" sz="1050" kern="100" dirty="0">
              <a:latin typeface="Calibri"/>
              <a:ea typeface="宋体"/>
              <a:cs typeface="Times New Roman"/>
            </a:endParaRPr>
          </a:p>
          <a:p>
            <a:pPr marL="0" indent="0" algn="just">
              <a:spcAft>
                <a:spcPts val="0"/>
              </a:spcAft>
              <a:defRPr/>
            </a:pPr>
            <a:r>
              <a:rPr lang="en-US" altLang="zh-CN" sz="2400" b="1" i="1" kern="100" dirty="0">
                <a:latin typeface="Times New Roman"/>
                <a:ea typeface="华文新魏" pitchFamily="2" charset="-122"/>
                <a:cs typeface="Times New Roman"/>
              </a:rPr>
              <a:t>ω</a:t>
            </a:r>
            <a:r>
              <a:rPr lang="en-US" altLang="zh-CN" sz="2400" b="1" kern="100" dirty="0">
                <a:latin typeface="Times New Roman"/>
                <a:ea typeface="华文新魏" pitchFamily="2" charset="-122"/>
                <a:cs typeface="Times New Roman"/>
              </a:rPr>
              <a:t>(P</a:t>
            </a:r>
            <a:r>
              <a:rPr lang="en-US" altLang="zh-CN" sz="2400" b="1" kern="100" baseline="-25000" dirty="0">
                <a:latin typeface="Times New Roman"/>
                <a:ea typeface="华文新魏" pitchFamily="2" charset="-122"/>
                <a:cs typeface="Times New Roman"/>
              </a:rPr>
              <a:t>2</a:t>
            </a:r>
            <a:r>
              <a:rPr lang="en-US" altLang="zh-CN" sz="2400" b="1" kern="100" dirty="0">
                <a:latin typeface="Times New Roman"/>
                <a:ea typeface="华文新魏" pitchFamily="2" charset="-122"/>
                <a:cs typeface="Times New Roman"/>
              </a:rPr>
              <a:t>O</a:t>
            </a:r>
            <a:r>
              <a:rPr lang="en-US" altLang="zh-CN" sz="2400" b="1" kern="100" baseline="-25000" dirty="0">
                <a:latin typeface="Times New Roman"/>
                <a:ea typeface="华文新魏" pitchFamily="2" charset="-122"/>
                <a:cs typeface="Times New Roman"/>
              </a:rPr>
              <a:t>5</a:t>
            </a:r>
            <a:r>
              <a:rPr lang="en-US" altLang="zh-CN" sz="2400" b="1" kern="100" dirty="0">
                <a:latin typeface="Times New Roman"/>
                <a:ea typeface="华文新魏" pitchFamily="2" charset="-122"/>
                <a:cs typeface="Times New Roman"/>
              </a:rPr>
              <a:t>)</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0.0844</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0.0832</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0.0845</a:t>
            </a:r>
            <a:r>
              <a:rPr lang="zh-CN" altLang="zh-CN" sz="2400" b="1" kern="100" dirty="0" smtClean="0">
                <a:latin typeface="Times New Roman"/>
                <a:ea typeface="华文新魏" pitchFamily="2" charset="-122"/>
                <a:cs typeface="Times New Roman"/>
              </a:rPr>
              <a:t>，</a:t>
            </a:r>
            <a:r>
              <a:rPr lang="en-US" altLang="zh-CN" sz="2400" b="1" kern="100" dirty="0" smtClean="0">
                <a:latin typeface="Times New Roman"/>
                <a:ea typeface="华文新魏" pitchFamily="2" charset="-122"/>
                <a:cs typeface="Times New Roman"/>
              </a:rPr>
              <a:t> </a:t>
            </a:r>
          </a:p>
          <a:p>
            <a:pPr marL="0" indent="0" algn="just">
              <a:spcAft>
                <a:spcPts val="0"/>
              </a:spcAft>
              <a:defRPr/>
            </a:pPr>
            <a:r>
              <a:rPr lang="en-US" altLang="zh-CN" sz="2400" b="1" kern="100" dirty="0">
                <a:latin typeface="Times New Roman"/>
                <a:ea typeface="华文新魏" pitchFamily="2" charset="-122"/>
                <a:cs typeface="Times New Roman"/>
              </a:rPr>
              <a:t> </a:t>
            </a:r>
            <a:r>
              <a:rPr lang="en-US" altLang="zh-CN" sz="2400" b="1" kern="100" dirty="0" smtClean="0">
                <a:latin typeface="Times New Roman"/>
                <a:ea typeface="华文新魏" pitchFamily="2" charset="-122"/>
                <a:cs typeface="Times New Roman"/>
              </a:rPr>
              <a:t>                 0.0852</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0.0869</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0.0838</a:t>
            </a:r>
            <a:endParaRPr lang="zh-CN" altLang="zh-CN" sz="1050" kern="100" dirty="0">
              <a:latin typeface="Calibri"/>
              <a:ea typeface="宋体"/>
              <a:cs typeface="Times New Roman"/>
            </a:endParaRPr>
          </a:p>
          <a:p>
            <a:pPr marL="0" indent="0" algn="just">
              <a:spcAft>
                <a:spcPts val="0"/>
              </a:spcAft>
              <a:defRPr/>
            </a:pPr>
            <a:r>
              <a:rPr lang="en-US" altLang="zh-CN" sz="2400" b="1" i="1" kern="100" dirty="0">
                <a:latin typeface="Times New Roman"/>
                <a:ea typeface="华文新魏" pitchFamily="2" charset="-122"/>
                <a:cs typeface="Times New Roman"/>
              </a:rPr>
              <a:t>ω</a:t>
            </a:r>
            <a:r>
              <a:rPr lang="en-US" altLang="zh-CN" sz="2400" b="1" kern="100" dirty="0">
                <a:latin typeface="Times New Roman"/>
                <a:ea typeface="华文新魏" pitchFamily="2" charset="-122"/>
                <a:cs typeface="Times New Roman"/>
              </a:rPr>
              <a:t>(SiO</a:t>
            </a:r>
            <a:r>
              <a:rPr lang="en-US" altLang="zh-CN" sz="2400" b="1" kern="100" baseline="-25000" dirty="0">
                <a:latin typeface="Times New Roman"/>
                <a:ea typeface="华文新魏" pitchFamily="2" charset="-122"/>
                <a:cs typeface="Times New Roman"/>
              </a:rPr>
              <a:t>2</a:t>
            </a:r>
            <a:r>
              <a:rPr lang="en-US" altLang="zh-CN" sz="2400" b="1" kern="100" dirty="0">
                <a:latin typeface="Times New Roman"/>
                <a:ea typeface="华文新魏" pitchFamily="2" charset="-122"/>
                <a:cs typeface="Times New Roman"/>
              </a:rPr>
              <a:t>)</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0.0150</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0.0151</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0.0168</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marL="0" indent="0" algn="just">
              <a:spcAft>
                <a:spcPts val="0"/>
              </a:spcAft>
              <a:defRPr/>
            </a:pPr>
            <a:r>
              <a:rPr lang="en-US" altLang="zh-CN" sz="2400" b="1" kern="100" dirty="0">
                <a:latin typeface="Times New Roman"/>
                <a:ea typeface="华文新魏" pitchFamily="2" charset="-122"/>
                <a:cs typeface="Times New Roman"/>
              </a:rPr>
              <a:t> </a:t>
            </a:r>
            <a:r>
              <a:rPr lang="en-US" altLang="zh-CN" sz="2400" b="1" kern="100" dirty="0" smtClean="0">
                <a:latin typeface="Times New Roman"/>
                <a:ea typeface="华文新魏" pitchFamily="2" charset="-122"/>
                <a:cs typeface="Times New Roman"/>
              </a:rPr>
              <a:t>                 0.0122</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0.0163</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cs typeface="Times New Roman"/>
              </a:rPr>
              <a:t>0.0172</a:t>
            </a:r>
            <a:endParaRPr lang="zh-CN" altLang="zh-CN" sz="1050" kern="100" dirty="0">
              <a:latin typeface="Calibri"/>
              <a:ea typeface="宋体"/>
              <a:cs typeface="Times New Roman"/>
            </a:endParaRPr>
          </a:p>
          <a:p>
            <a:pPr marL="0" indent="0" algn="just">
              <a:spcAft>
                <a:spcPts val="0"/>
              </a:spcAft>
              <a:defRPr/>
            </a:pPr>
            <a:r>
              <a:rPr lang="zh-CN" altLang="zh-CN" sz="2400" b="1" kern="100" dirty="0">
                <a:latin typeface="Times New Roman"/>
                <a:ea typeface="华文新魏" pitchFamily="2" charset="-122"/>
                <a:cs typeface="Times New Roman"/>
              </a:rPr>
              <a:t>根据</a:t>
            </a:r>
            <a:r>
              <a:rPr lang="en-US" altLang="zh-CN" sz="2400" b="1" kern="100" dirty="0">
                <a:latin typeface="Times New Roman"/>
                <a:ea typeface="华文新魏" pitchFamily="2" charset="-122"/>
                <a:cs typeface="Times New Roman"/>
              </a:rPr>
              <a:t>Q</a:t>
            </a:r>
            <a:r>
              <a:rPr lang="zh-CN" altLang="zh-CN" sz="2400" b="1" kern="100" dirty="0">
                <a:latin typeface="Times New Roman"/>
                <a:ea typeface="华文新魏" pitchFamily="2" charset="-122"/>
                <a:cs typeface="Times New Roman"/>
              </a:rPr>
              <a:t>检验法对可疑数据决定取舍（置信度</a:t>
            </a:r>
            <a:r>
              <a:rPr lang="en-US" altLang="zh-CN" sz="2400" b="1" kern="100" dirty="0">
                <a:latin typeface="Times New Roman"/>
                <a:ea typeface="华文新魏" pitchFamily="2" charset="-122"/>
                <a:cs typeface="Times New Roman"/>
              </a:rPr>
              <a:t>90</a:t>
            </a:r>
            <a:r>
              <a:rPr lang="zh-CN" altLang="zh-CN" sz="2400" b="1" kern="100" dirty="0">
                <a:latin typeface="Times New Roman"/>
                <a:ea typeface="华文新魏" pitchFamily="2" charset="-122"/>
                <a:cs typeface="Times New Roman"/>
              </a:rPr>
              <a:t>％），然后求出平均值、</a:t>
            </a:r>
            <a:r>
              <a:rPr lang="zh-CN" altLang="zh-CN" sz="2400" b="1" kern="100" dirty="0" smtClean="0">
                <a:latin typeface="Times New Roman"/>
                <a:ea typeface="华文新魏" pitchFamily="2" charset="-122"/>
                <a:cs typeface="Times New Roman"/>
              </a:rPr>
              <a:t>平均偏差、</a:t>
            </a:r>
            <a:r>
              <a:rPr lang="zh-CN" altLang="zh-CN" sz="2400" b="1" kern="100" dirty="0">
                <a:latin typeface="Times New Roman"/>
                <a:ea typeface="华文新魏" pitchFamily="2" charset="-122"/>
                <a:cs typeface="Times New Roman"/>
              </a:rPr>
              <a:t>标准差和置信度分别为</a:t>
            </a:r>
            <a:r>
              <a:rPr lang="en-US" altLang="zh-CN" sz="2400" b="1" kern="100" dirty="0">
                <a:latin typeface="Times New Roman"/>
                <a:ea typeface="华文新魏" pitchFamily="2" charset="-122"/>
                <a:cs typeface="Times New Roman"/>
              </a:rPr>
              <a:t>90</a:t>
            </a:r>
            <a:r>
              <a:rPr lang="zh-CN" altLang="zh-CN" sz="2400" b="1" kern="100" dirty="0">
                <a:latin typeface="Times New Roman"/>
                <a:ea typeface="华文新魏" pitchFamily="2" charset="-122"/>
                <a:cs typeface="Times New Roman"/>
              </a:rPr>
              <a:t>％时平均值的置信区间</a:t>
            </a:r>
            <a:r>
              <a:rPr lang="zh-CN" altLang="zh-CN" sz="2400" b="1" kern="100" dirty="0" smtClean="0">
                <a:latin typeface="Times New Roman"/>
                <a:ea typeface="华文新魏" pitchFamily="2" charset="-122"/>
                <a:cs typeface="Times New Roman"/>
              </a:rPr>
              <a:t>。</a:t>
            </a:r>
            <a:endParaRPr lang="zh-CN" altLang="en-US" sz="2500" b="1" dirty="0" smtClean="0">
              <a:solidFill>
                <a:srgbClr val="FFFF00"/>
              </a:solidFill>
              <a:ea typeface="华文新魏" pitchFamily="2" charset="-122"/>
            </a:endParaRPr>
          </a:p>
        </p:txBody>
      </p:sp>
      <p:sp>
        <p:nvSpPr>
          <p:cNvPr id="21507"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solidFill>
                <a:srgbClr val="FFFFFF"/>
              </a:solidFill>
            </a:endParaRPr>
          </a:p>
        </p:txBody>
      </p:sp>
      <p:sp>
        <p:nvSpPr>
          <p:cNvPr id="13" name="Rectangle 22"/>
          <p:cNvSpPr>
            <a:spLocks noChangeArrowheads="1"/>
          </p:cNvSpPr>
          <p:nvPr/>
        </p:nvSpPr>
        <p:spPr bwMode="auto">
          <a:xfrm>
            <a:off x="5976938" y="323850"/>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14" name="Rectangle 11"/>
          <p:cNvSpPr>
            <a:spLocks noChangeArrowheads="1"/>
          </p:cNvSpPr>
          <p:nvPr/>
        </p:nvSpPr>
        <p:spPr bwMode="auto">
          <a:xfrm>
            <a:off x="5953125" y="800100"/>
            <a:ext cx="5329238" cy="15700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pitchFamily="2" charset="-122"/>
              </a:defRPr>
            </a:lvl1pPr>
            <a:lvl2pPr marL="742950" indent="-285750" eaLnBrk="0" hangingPunct="0">
              <a:defRPr>
                <a:solidFill>
                  <a:schemeClr val="tx1"/>
                </a:solidFill>
                <a:latin typeface="Times New Roman" pitchFamily="18" charset="0"/>
                <a:ea typeface="宋体" pitchFamily="2" charset="-122"/>
              </a:defRPr>
            </a:lvl2pPr>
            <a:lvl3pPr marL="1143000" indent="-228600" eaLnBrk="0" hangingPunct="0">
              <a:defRPr>
                <a:solidFill>
                  <a:schemeClr val="tx1"/>
                </a:solidFill>
                <a:latin typeface="Times New Roman" pitchFamily="18" charset="0"/>
                <a:ea typeface="宋体" pitchFamily="2" charset="-122"/>
              </a:defRPr>
            </a:lvl3pPr>
            <a:lvl4pPr marL="1600200" indent="-228600" eaLnBrk="0" hangingPunct="0">
              <a:defRPr>
                <a:solidFill>
                  <a:schemeClr val="tx1"/>
                </a:solidFill>
                <a:latin typeface="Times New Roman" pitchFamily="18" charset="0"/>
                <a:ea typeface="宋体" pitchFamily="2" charset="-122"/>
              </a:defRPr>
            </a:lvl4pPr>
            <a:lvl5pPr marL="2057400" indent="-228600" eaLnBrk="0" hangingPunct="0">
              <a:defRPr>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a:solidFill>
                  <a:schemeClr val="tx1"/>
                </a:solidFill>
                <a:latin typeface="Times New Roman" pitchFamily="18" charset="0"/>
                <a:ea typeface="宋体" pitchFamily="2" charset="-122"/>
              </a:defRPr>
            </a:lvl9pPr>
          </a:lstStyle>
          <a:p>
            <a:pPr eaLnBrk="1" hangingPunct="1">
              <a:defRPr/>
            </a:pPr>
            <a:r>
              <a:rPr lang="zh-CN" altLang="en-US" sz="2400" b="1" kern="100" dirty="0" smtClean="0">
                <a:latin typeface="Times New Roman"/>
                <a:ea typeface="华文新魏" pitchFamily="2" charset="-122"/>
              </a:rPr>
              <a:t>可疑值</a:t>
            </a:r>
            <a:r>
              <a:rPr lang="en-US" altLang="zh-CN" sz="2400" b="1" kern="100" dirty="0" smtClean="0">
                <a:latin typeface="Times New Roman"/>
                <a:ea typeface="华文新魏" pitchFamily="2" charset="-122"/>
              </a:rPr>
              <a:t>0.0869</a:t>
            </a:r>
            <a:r>
              <a:rPr lang="zh-CN" altLang="zh-CN" sz="2400" b="1" kern="100" dirty="0">
                <a:latin typeface="Times New Roman"/>
                <a:ea typeface="华文新魏" pitchFamily="2" charset="-122"/>
                <a:cs typeface="Times New Roman"/>
              </a:rPr>
              <a:t>、保留，</a:t>
            </a:r>
            <a:r>
              <a:rPr lang="en-US" altLang="zh-CN" sz="2400" b="1" kern="100" dirty="0">
                <a:latin typeface="Times New Roman"/>
                <a:ea typeface="华文新魏" pitchFamily="2" charset="-122"/>
              </a:rPr>
              <a:t>0.0847</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0.0009</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0.0013</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0.0847±0.0011</a:t>
            </a:r>
            <a:r>
              <a:rPr lang="zh-CN" altLang="zh-CN" sz="2400" b="1" kern="100" dirty="0" smtClean="0">
                <a:latin typeface="Times New Roman"/>
                <a:ea typeface="华文新魏" pitchFamily="2" charset="-122"/>
                <a:cs typeface="Times New Roman"/>
              </a:rPr>
              <a:t>；</a:t>
            </a:r>
            <a:endParaRPr lang="en-US" altLang="zh-CN" sz="2400" b="1" kern="100" dirty="0" smtClean="0">
              <a:latin typeface="Times New Roman"/>
              <a:ea typeface="华文新魏" pitchFamily="2" charset="-122"/>
              <a:cs typeface="Times New Roman"/>
            </a:endParaRPr>
          </a:p>
          <a:p>
            <a:pPr eaLnBrk="1" hangingPunct="1">
              <a:defRPr/>
            </a:pPr>
            <a:r>
              <a:rPr lang="zh-CN" altLang="en-US" sz="2400" b="1" kern="100" dirty="0">
                <a:latin typeface="Times New Roman"/>
                <a:ea typeface="华文新魏" pitchFamily="2" charset="-122"/>
              </a:rPr>
              <a:t>可疑值</a:t>
            </a:r>
            <a:r>
              <a:rPr lang="en-US" altLang="zh-CN" sz="2400" b="1" kern="100" dirty="0" smtClean="0">
                <a:latin typeface="Times New Roman"/>
                <a:ea typeface="华文新魏" pitchFamily="2" charset="-122"/>
              </a:rPr>
              <a:t>0.0122</a:t>
            </a:r>
            <a:r>
              <a:rPr lang="zh-CN" altLang="zh-CN" sz="2400" b="1" kern="100" dirty="0">
                <a:latin typeface="Times New Roman"/>
                <a:ea typeface="华文新魏" pitchFamily="2" charset="-122"/>
                <a:cs typeface="Times New Roman"/>
              </a:rPr>
              <a:t>、舍去，</a:t>
            </a:r>
            <a:r>
              <a:rPr lang="en-US" altLang="zh-CN" sz="2400" b="1" kern="100" dirty="0">
                <a:latin typeface="Times New Roman"/>
                <a:ea typeface="华文新魏" pitchFamily="2" charset="-122"/>
              </a:rPr>
              <a:t>0.0161</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0.0008</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0.0010</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0.0161±0.0010</a:t>
            </a:r>
            <a:endParaRPr kumimoji="1" lang="en-US" altLang="zh-CN" sz="2400" b="1" dirty="0" smtClean="0">
              <a:ea typeface="华文新魏" pitchFamily="2" charset="-122"/>
            </a:endParaRPr>
          </a:p>
        </p:txBody>
      </p:sp>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Effect transition="in" filter="checkerboard(across)">
                                      <p:cBhvr>
                                        <p:cTn id="7" dur="500"/>
                                        <p:tgtEl>
                                          <p:spTgt spid="1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checkerboard(across)">
                                      <p:cBhvr>
                                        <p:cTn id="12" dur="500"/>
                                        <p:tgtEl>
                                          <p:spTgt spid="1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checkerboard(across)">
                                      <p:cBhvr>
                                        <p:cTn id="17" dur="500"/>
                                        <p:tgtEl>
                                          <p:spTgt spid="1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utoUpdateAnimBg="0" advAuto="0"/>
      <p:bldP spid="14"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2"/>
          <p:cNvSpPr>
            <a:spLocks noChangeArrowheads="1"/>
          </p:cNvSpPr>
          <p:nvPr/>
        </p:nvSpPr>
        <p:spPr bwMode="auto">
          <a:xfrm>
            <a:off x="5976938" y="323850"/>
            <a:ext cx="1787525" cy="477838"/>
          </a:xfrm>
          <a:prstGeom prst="rect">
            <a:avLst/>
          </a:prstGeom>
          <a:noFill/>
          <a:ln w="9525">
            <a:noFill/>
            <a:miter lim="800000"/>
            <a:headEnd/>
            <a:tailEnd/>
          </a:ln>
          <a:effectLst/>
        </p:spPr>
        <p:txBody>
          <a:bodyPr wrap="none">
            <a:spAutoFit/>
          </a:bodyPr>
          <a:lstStyle/>
          <a:p>
            <a:r>
              <a:rPr kumimoji="1" lang="zh-CN" altLang="en-US" sz="2500" b="1" dirty="0" smtClean="0">
                <a:solidFill>
                  <a:srgbClr val="FFFF00"/>
                </a:solidFill>
                <a:latin typeface="华文新魏" pitchFamily="2" charset="-122"/>
                <a:ea typeface="华文新魏" pitchFamily="2" charset="-122"/>
                <a:sym typeface="Monotype Sorts" pitchFamily="2" charset="2"/>
              </a:rPr>
              <a:t>解题思路：</a:t>
            </a:r>
            <a:endParaRPr kumimoji="1" lang="zh-CN" altLang="en-US" sz="2500" b="1" dirty="0">
              <a:solidFill>
                <a:srgbClr val="FFFF00"/>
              </a:solidFill>
              <a:latin typeface="华文新魏" pitchFamily="2" charset="-122"/>
              <a:ea typeface="华文新魏" pitchFamily="2" charset="-122"/>
            </a:endParaRPr>
          </a:p>
        </p:txBody>
      </p:sp>
      <p:sp>
        <p:nvSpPr>
          <p:cNvPr id="5" name="Text Box 39"/>
          <p:cNvSpPr txBox="1">
            <a:spLocks noChangeArrowheads="1"/>
          </p:cNvSpPr>
          <p:nvPr/>
        </p:nvSpPr>
        <p:spPr bwMode="auto">
          <a:xfrm>
            <a:off x="215900" y="401636"/>
            <a:ext cx="5329238" cy="27670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lgn="ctr">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marL="342900" indent="-342900"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marL="0" indent="0">
              <a:spcBef>
                <a:spcPct val="20000"/>
              </a:spcBef>
              <a:buClr>
                <a:srgbClr val="FFFFCC"/>
              </a:buClr>
              <a:buSzPct val="90000"/>
              <a:defRPr/>
            </a:pPr>
            <a:r>
              <a:rPr lang="zh-CN" altLang="en-US" sz="2500" b="1" dirty="0" smtClean="0">
                <a:solidFill>
                  <a:srgbClr val="FFFF00"/>
                </a:solidFill>
                <a:ea typeface="华文新魏" pitchFamily="2" charset="-122"/>
              </a:rPr>
              <a:t>习题</a:t>
            </a:r>
            <a:r>
              <a:rPr lang="en-US" altLang="zh-CN" sz="2500" b="1" dirty="0" smtClean="0">
                <a:solidFill>
                  <a:srgbClr val="FFFF00"/>
                </a:solidFill>
                <a:ea typeface="华文新魏" pitchFamily="2" charset="-122"/>
              </a:rPr>
              <a:t>1-18</a:t>
            </a:r>
            <a:r>
              <a:rPr lang="zh-CN" altLang="en-US" sz="2500" b="1" dirty="0" smtClean="0">
                <a:solidFill>
                  <a:srgbClr val="FFFF00"/>
                </a:solidFill>
                <a:ea typeface="华文新魏" pitchFamily="2" charset="-122"/>
              </a:rPr>
              <a:t>：</a:t>
            </a:r>
            <a:r>
              <a:rPr lang="zh-CN" altLang="zh-CN" sz="2400" b="1" kern="100" dirty="0" smtClean="0">
                <a:latin typeface="Times New Roman"/>
                <a:ea typeface="华文新魏" pitchFamily="2" charset="-122"/>
                <a:cs typeface="Times New Roman"/>
              </a:rPr>
              <a:t>某</a:t>
            </a:r>
            <a:r>
              <a:rPr lang="zh-CN" altLang="zh-CN" sz="2400" b="1" kern="100" dirty="0">
                <a:latin typeface="Times New Roman"/>
                <a:ea typeface="华文新魏" pitchFamily="2" charset="-122"/>
                <a:cs typeface="Times New Roman"/>
              </a:rPr>
              <a:t>学生标定</a:t>
            </a:r>
            <a:r>
              <a:rPr lang="en-US" altLang="zh-CN" sz="2400" b="1" kern="100" dirty="0" err="1">
                <a:latin typeface="Times New Roman"/>
                <a:ea typeface="华文新魏" pitchFamily="2" charset="-122"/>
              </a:rPr>
              <a:t>HCl</a:t>
            </a:r>
            <a:r>
              <a:rPr lang="zh-CN" altLang="zh-CN" sz="2400" b="1" kern="100" dirty="0">
                <a:latin typeface="Times New Roman"/>
                <a:ea typeface="华文新魏" pitchFamily="2" charset="-122"/>
                <a:cs typeface="Times New Roman"/>
              </a:rPr>
              <a:t>溶液的浓度时，得到下列数据：</a:t>
            </a:r>
            <a:r>
              <a:rPr lang="en-US" altLang="zh-CN" sz="2400" b="1" kern="100" dirty="0">
                <a:latin typeface="Times New Roman"/>
                <a:ea typeface="华文新魏" pitchFamily="2" charset="-122"/>
              </a:rPr>
              <a:t>0.1011</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0.1010</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0.1012</a:t>
            </a:r>
            <a:r>
              <a:rPr lang="zh-CN" altLang="zh-CN" sz="2400" b="1" kern="100" dirty="0">
                <a:latin typeface="Times New Roman"/>
                <a:ea typeface="华文新魏" pitchFamily="2" charset="-122"/>
                <a:cs typeface="Times New Roman"/>
              </a:rPr>
              <a:t>，</a:t>
            </a:r>
            <a:r>
              <a:rPr lang="en-US" altLang="zh-CN" sz="2400" b="1" kern="100" dirty="0">
                <a:latin typeface="Times New Roman"/>
                <a:ea typeface="华文新魏" pitchFamily="2" charset="-122"/>
              </a:rPr>
              <a:t>0.1016mol·L</a:t>
            </a:r>
            <a:r>
              <a:rPr lang="en-US" altLang="zh-CN" sz="2400" b="1" kern="100" baseline="30000" dirty="0">
                <a:latin typeface="Times New Roman"/>
                <a:ea typeface="华文新魏" pitchFamily="2" charset="-122"/>
              </a:rPr>
              <a:t>-1</a:t>
            </a:r>
            <a:r>
              <a:rPr lang="zh-CN" altLang="zh-CN" sz="2400" b="1" kern="100" dirty="0">
                <a:latin typeface="Times New Roman"/>
                <a:ea typeface="华文新魏" pitchFamily="2" charset="-122"/>
                <a:cs typeface="Times New Roman"/>
              </a:rPr>
              <a:t>。按</a:t>
            </a:r>
            <a:r>
              <a:rPr lang="en-US" altLang="zh-CN" sz="2400" b="1" kern="100" dirty="0">
                <a:latin typeface="Times New Roman"/>
                <a:ea typeface="华文新魏" pitchFamily="2" charset="-122"/>
              </a:rPr>
              <a:t>Q</a:t>
            </a:r>
            <a:r>
              <a:rPr lang="zh-CN" altLang="zh-CN" sz="2400" b="1" kern="100" dirty="0">
                <a:latin typeface="Times New Roman"/>
                <a:ea typeface="华文新魏" pitchFamily="2" charset="-122"/>
                <a:cs typeface="Times New Roman"/>
              </a:rPr>
              <a:t>检验法进行判断，当置信度为</a:t>
            </a:r>
            <a:r>
              <a:rPr lang="en-US" altLang="zh-CN" sz="2400" b="1" kern="100" dirty="0">
                <a:latin typeface="Times New Roman"/>
                <a:ea typeface="华文新魏" pitchFamily="2" charset="-122"/>
              </a:rPr>
              <a:t>90</a:t>
            </a:r>
            <a:r>
              <a:rPr lang="zh-CN" altLang="zh-CN" sz="2400" b="1" kern="100" dirty="0">
                <a:latin typeface="Times New Roman"/>
                <a:ea typeface="华文新魏" pitchFamily="2" charset="-122"/>
                <a:cs typeface="Times New Roman"/>
              </a:rPr>
              <a:t>％时，第四个数据是否应保留</a:t>
            </a:r>
            <a:r>
              <a:rPr lang="en-US" altLang="zh-CN" sz="2400" b="1" kern="100" dirty="0">
                <a:latin typeface="Times New Roman"/>
                <a:ea typeface="华文新魏" pitchFamily="2" charset="-122"/>
              </a:rPr>
              <a:t>?</a:t>
            </a:r>
            <a:r>
              <a:rPr lang="zh-CN" altLang="zh-CN" sz="2400" b="1" kern="100" dirty="0">
                <a:latin typeface="Times New Roman"/>
                <a:ea typeface="华文新魏" pitchFamily="2" charset="-122"/>
                <a:cs typeface="Times New Roman"/>
              </a:rPr>
              <a:t>若再测定一次，得到</a:t>
            </a:r>
            <a:r>
              <a:rPr lang="en-US" altLang="zh-CN" sz="2400" b="1" kern="100" dirty="0">
                <a:latin typeface="Times New Roman"/>
                <a:ea typeface="华文新魏" pitchFamily="2" charset="-122"/>
              </a:rPr>
              <a:t>0.1014</a:t>
            </a:r>
            <a:r>
              <a:rPr lang="zh-CN" altLang="zh-CN" sz="2400" b="1" kern="100" dirty="0">
                <a:latin typeface="Times New Roman"/>
                <a:ea typeface="华文新魏" pitchFamily="2" charset="-122"/>
                <a:cs typeface="Times New Roman"/>
              </a:rPr>
              <a:t>，上面第四个数据是否应该保留？</a:t>
            </a:r>
            <a:endParaRPr lang="zh-CN" altLang="en-US" sz="2500" b="1" dirty="0" smtClean="0">
              <a:solidFill>
                <a:srgbClr val="FFFF00"/>
              </a:solidFill>
              <a:ea typeface="华文新魏" pitchFamily="2" charset="-122"/>
            </a:endParaRPr>
          </a:p>
        </p:txBody>
      </p:sp>
      <p:sp>
        <p:nvSpPr>
          <p:cNvPr id="22532" name="Rectangle 31"/>
          <p:cNvSpPr>
            <a:spLocks noChangeArrowheads="1"/>
          </p:cNvSpPr>
          <p:nvPr/>
        </p:nvSpPr>
        <p:spPr bwMode="auto">
          <a:xfrm>
            <a:off x="0" y="0"/>
            <a:ext cx="11522075" cy="0"/>
          </a:xfrm>
          <a:prstGeom prst="rect">
            <a:avLst/>
          </a:prstGeom>
          <a:noFill/>
          <a:ln w="9525">
            <a:noFill/>
            <a:miter lim="800000"/>
            <a:headEnd/>
            <a:tailEnd/>
          </a:ln>
          <a:effectLst/>
        </p:spPr>
        <p:txBody>
          <a:bodyPr wrap="none" anchor="ctr">
            <a:spAutoFit/>
          </a:bodyPr>
          <a:lstStyle/>
          <a:p>
            <a:endParaRPr lang="zh-CN" altLang="en-US"/>
          </a:p>
        </p:txBody>
      </p:sp>
      <p:sp>
        <p:nvSpPr>
          <p:cNvPr id="14" name="Rectangle 11"/>
          <p:cNvSpPr>
            <a:spLocks noChangeArrowheads="1"/>
          </p:cNvSpPr>
          <p:nvPr/>
        </p:nvSpPr>
        <p:spPr bwMode="auto">
          <a:xfrm>
            <a:off x="5976938" y="719138"/>
            <a:ext cx="5329237" cy="1570037"/>
          </a:xfrm>
          <a:prstGeom prst="rect">
            <a:avLst/>
          </a:prstGeom>
          <a:noFill/>
          <a:ln w="9525">
            <a:noFill/>
            <a:miter lim="800000"/>
            <a:headEnd/>
            <a:tailEnd/>
          </a:ln>
          <a:effectLst/>
        </p:spPr>
        <p:txBody>
          <a:bodyPr>
            <a:spAutoFit/>
          </a:bodyPr>
          <a:lstStyle/>
          <a:p>
            <a:pPr algn="just" eaLnBrk="0" hangingPunct="0"/>
            <a:r>
              <a:rPr lang="en-US" altLang="zh-CN" sz="2400" b="1" dirty="0">
                <a:ea typeface="华文新魏" pitchFamily="2" charset="-122"/>
                <a:cs typeface="Times New Roman" pitchFamily="18" charset="0"/>
              </a:rPr>
              <a:t>Q</a:t>
            </a:r>
            <a:r>
              <a:rPr lang="zh-CN" altLang="zh-CN" sz="2400" b="1" dirty="0">
                <a:ea typeface="华文新魏" pitchFamily="2" charset="-122"/>
                <a:cs typeface="Times New Roman" pitchFamily="18" charset="0"/>
              </a:rPr>
              <a:t>检验法的基本步骤为：</a:t>
            </a:r>
            <a:endParaRPr lang="zh-CN" altLang="zh-CN" sz="1000" dirty="0">
              <a:ea typeface="华文新魏" pitchFamily="2" charset="-122"/>
              <a:cs typeface="Times New Roman" pitchFamily="18" charset="0"/>
            </a:endParaRPr>
          </a:p>
          <a:p>
            <a:pPr algn="just" eaLnBrk="0" hangingPunct="0"/>
            <a:r>
              <a:rPr lang="zh-CN" altLang="zh-CN" sz="2400" b="1" dirty="0">
                <a:ea typeface="华文新魏" pitchFamily="2" charset="-122"/>
                <a:cs typeface="Times New Roman" pitchFamily="18" charset="0"/>
              </a:rPr>
              <a:t>①将测定值（包括可疑值）由小到大排列，即</a:t>
            </a:r>
            <a:r>
              <a:rPr lang="en-US" altLang="zh-CN" sz="2400" b="1" i="1" dirty="0">
                <a:ea typeface="华文新魏" pitchFamily="2" charset="-122"/>
                <a:cs typeface="Times New Roman" pitchFamily="18" charset="0"/>
              </a:rPr>
              <a:t>x</a:t>
            </a:r>
            <a:r>
              <a:rPr lang="en-US" altLang="zh-CN" sz="2400" b="1" baseline="-25000" dirty="0">
                <a:ea typeface="华文新魏" pitchFamily="2" charset="-122"/>
                <a:cs typeface="Times New Roman" pitchFamily="18" charset="0"/>
              </a:rPr>
              <a:t>1</a:t>
            </a:r>
            <a:r>
              <a:rPr lang="zh-CN" altLang="zh-CN" sz="2400" b="1" dirty="0">
                <a:ea typeface="华文新魏" pitchFamily="2" charset="-122"/>
                <a:cs typeface="Times New Roman" pitchFamily="18" charset="0"/>
              </a:rPr>
              <a:t>＜</a:t>
            </a:r>
            <a:r>
              <a:rPr lang="en-US" altLang="zh-CN" sz="2400" b="1" i="1" dirty="0">
                <a:ea typeface="华文新魏" pitchFamily="2" charset="-122"/>
                <a:cs typeface="Times New Roman" pitchFamily="18" charset="0"/>
              </a:rPr>
              <a:t>x</a:t>
            </a:r>
            <a:r>
              <a:rPr lang="en-US" altLang="zh-CN" sz="2400" b="1" baseline="-25000" dirty="0">
                <a:ea typeface="华文新魏" pitchFamily="2" charset="-122"/>
                <a:cs typeface="Times New Roman" pitchFamily="18" charset="0"/>
              </a:rPr>
              <a:t>2</a:t>
            </a:r>
            <a:r>
              <a:rPr lang="zh-CN" altLang="zh-CN" sz="2400" b="1" dirty="0">
                <a:ea typeface="华文新魏" pitchFamily="2" charset="-122"/>
                <a:cs typeface="Times New Roman" pitchFamily="18" charset="0"/>
              </a:rPr>
              <a:t>＜</a:t>
            </a:r>
            <a:r>
              <a:rPr lang="en-US" altLang="zh-CN" sz="2400" b="1" dirty="0">
                <a:ea typeface="华文新魏" pitchFamily="2" charset="-122"/>
                <a:cs typeface="Times New Roman" pitchFamily="18" charset="0"/>
              </a:rPr>
              <a:t>……</a:t>
            </a:r>
            <a:r>
              <a:rPr lang="zh-CN" altLang="zh-CN" sz="2400" b="1" dirty="0">
                <a:ea typeface="华文新魏" pitchFamily="2" charset="-122"/>
                <a:cs typeface="Times New Roman" pitchFamily="18" charset="0"/>
              </a:rPr>
              <a:t>＜</a:t>
            </a:r>
            <a:r>
              <a:rPr lang="en-US" altLang="zh-CN" sz="2400" b="1" i="1" dirty="0" err="1">
                <a:ea typeface="华文新魏" pitchFamily="2" charset="-122"/>
                <a:cs typeface="Times New Roman" pitchFamily="18" charset="0"/>
              </a:rPr>
              <a:t>x</a:t>
            </a:r>
            <a:r>
              <a:rPr lang="en-US" altLang="zh-CN" sz="2400" b="1" baseline="-25000" dirty="0" err="1">
                <a:ea typeface="华文新魏" pitchFamily="2" charset="-122"/>
                <a:cs typeface="Times New Roman" pitchFamily="18" charset="0"/>
              </a:rPr>
              <a:t>n</a:t>
            </a:r>
            <a:r>
              <a:rPr lang="zh-CN" altLang="zh-CN" sz="2400" b="1" dirty="0">
                <a:ea typeface="华文新魏" pitchFamily="2" charset="-122"/>
                <a:cs typeface="Times New Roman" pitchFamily="18" charset="0"/>
              </a:rPr>
              <a:t>。</a:t>
            </a:r>
            <a:endParaRPr lang="zh-CN" altLang="zh-CN" sz="1000" dirty="0">
              <a:ea typeface="华文新魏" pitchFamily="2" charset="-122"/>
              <a:cs typeface="Times New Roman" pitchFamily="18" charset="0"/>
            </a:endParaRPr>
          </a:p>
          <a:p>
            <a:pPr algn="just" eaLnBrk="0" hangingPunct="0"/>
            <a:r>
              <a:rPr lang="zh-CN" altLang="zh-CN" sz="2400" b="1" dirty="0">
                <a:latin typeface="Calibri" pitchFamily="34" charset="0"/>
                <a:ea typeface="华文新魏" pitchFamily="2" charset="-122"/>
                <a:cs typeface="Times New Roman" pitchFamily="18" charset="0"/>
              </a:rPr>
              <a:t>②</a:t>
            </a:r>
            <a:r>
              <a:rPr lang="zh-CN" altLang="zh-CN" sz="2400" b="1" dirty="0">
                <a:ea typeface="华文新魏" pitchFamily="2" charset="-122"/>
                <a:cs typeface="Times New Roman" pitchFamily="18" charset="0"/>
              </a:rPr>
              <a:t>计算</a:t>
            </a:r>
            <a:r>
              <a:rPr lang="en-US" altLang="zh-CN" sz="2400" b="1" dirty="0">
                <a:ea typeface="华文新魏" pitchFamily="2" charset="-122"/>
                <a:cs typeface="Times New Roman" pitchFamily="18" charset="0"/>
              </a:rPr>
              <a:t>Q</a:t>
            </a:r>
            <a:r>
              <a:rPr lang="zh-CN" altLang="zh-CN" sz="2400" b="1" dirty="0">
                <a:ea typeface="华文新魏" pitchFamily="2" charset="-122"/>
                <a:cs typeface="Times New Roman" pitchFamily="18" charset="0"/>
              </a:rPr>
              <a:t>值。若</a:t>
            </a:r>
            <a:r>
              <a:rPr lang="en-US" altLang="zh-CN" sz="2400" b="1" dirty="0" err="1">
                <a:ea typeface="华文新魏" pitchFamily="2" charset="-122"/>
                <a:cs typeface="Times New Roman" pitchFamily="18" charset="0"/>
              </a:rPr>
              <a:t>x</a:t>
            </a:r>
            <a:r>
              <a:rPr lang="en-US" altLang="zh-CN" sz="2400" b="1" baseline="-25000" dirty="0" err="1">
                <a:ea typeface="华文新魏" pitchFamily="2" charset="-122"/>
                <a:cs typeface="Times New Roman" pitchFamily="18" charset="0"/>
              </a:rPr>
              <a:t>n</a:t>
            </a:r>
            <a:r>
              <a:rPr lang="zh-CN" altLang="zh-CN" sz="2400" b="1" dirty="0">
                <a:ea typeface="华文新魏" pitchFamily="2" charset="-122"/>
                <a:cs typeface="Times New Roman" pitchFamily="18" charset="0"/>
              </a:rPr>
              <a:t>为可疑值，则：</a:t>
            </a:r>
            <a:endParaRPr lang="zh-CN" altLang="zh-CN" sz="1000" dirty="0">
              <a:latin typeface="Calibri" pitchFamily="34" charset="0"/>
              <a:ea typeface="华文新魏" pitchFamily="2" charset="-122"/>
              <a:cs typeface="Times New Roman" pitchFamily="18" charset="0"/>
            </a:endParaRPr>
          </a:p>
        </p:txBody>
      </p:sp>
      <p:sp>
        <p:nvSpPr>
          <p:cNvPr id="15" name="Rectangle 11"/>
          <p:cNvSpPr>
            <a:spLocks noChangeArrowheads="1"/>
          </p:cNvSpPr>
          <p:nvPr/>
        </p:nvSpPr>
        <p:spPr bwMode="auto">
          <a:xfrm>
            <a:off x="5999163" y="2663825"/>
            <a:ext cx="5329237" cy="8318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lgn="just">
              <a:spcAft>
                <a:spcPts val="0"/>
              </a:spcAft>
              <a:defRPr/>
            </a:pPr>
            <a:endParaRPr lang="en-US" altLang="zh-CN" sz="2400" b="1" kern="100" dirty="0" smtClean="0">
              <a:latin typeface="Times New Roman"/>
              <a:ea typeface="华文新魏" pitchFamily="2" charset="-122"/>
              <a:cs typeface="Times New Roman"/>
            </a:endParaRPr>
          </a:p>
          <a:p>
            <a:pPr algn="just">
              <a:spcAft>
                <a:spcPts val="0"/>
              </a:spcAft>
              <a:defRPr/>
            </a:pPr>
            <a:r>
              <a:rPr lang="en-US" altLang="zh-CN" sz="2400" b="1" kern="100" dirty="0" smtClean="0">
                <a:latin typeface="Times New Roman"/>
                <a:ea typeface="华文新魏" pitchFamily="2" charset="-122"/>
                <a:cs typeface="Times New Roman"/>
              </a:rPr>
              <a:t>   </a:t>
            </a:r>
            <a:r>
              <a:rPr lang="zh-CN" altLang="zh-CN" sz="2400" b="1" kern="100" dirty="0" smtClean="0">
                <a:latin typeface="Times New Roman"/>
                <a:ea typeface="华文新魏" pitchFamily="2" charset="-122"/>
                <a:cs typeface="Times New Roman"/>
              </a:rPr>
              <a:t>若</a:t>
            </a:r>
            <a:r>
              <a:rPr lang="en-US" altLang="zh-CN" sz="2400" b="1" kern="100" dirty="0">
                <a:latin typeface="Times New Roman"/>
                <a:ea typeface="华文新魏" pitchFamily="2" charset="-122"/>
                <a:cs typeface="Times New Roman"/>
              </a:rPr>
              <a:t>x</a:t>
            </a:r>
            <a:r>
              <a:rPr lang="zh-CN" altLang="zh-CN" sz="2400" b="1" kern="100" baseline="-25000" dirty="0">
                <a:latin typeface="Times New Roman"/>
                <a:ea typeface="华文新魏" pitchFamily="2" charset="-122"/>
                <a:cs typeface="Times New Roman"/>
              </a:rPr>
              <a:t>１</a:t>
            </a:r>
            <a:r>
              <a:rPr lang="zh-CN" altLang="zh-CN" sz="2400" b="1" kern="100" dirty="0">
                <a:latin typeface="Times New Roman"/>
                <a:ea typeface="华文新魏" pitchFamily="2" charset="-122"/>
                <a:cs typeface="Times New Roman"/>
              </a:rPr>
              <a:t>为可疑值，则</a:t>
            </a:r>
            <a:r>
              <a:rPr lang="zh-CN" altLang="zh-CN" sz="2400" b="1" kern="100" dirty="0" smtClean="0">
                <a:latin typeface="Times New Roman"/>
                <a:ea typeface="华文新魏" pitchFamily="2" charset="-122"/>
                <a:cs typeface="Times New Roman"/>
              </a:rPr>
              <a:t>：</a:t>
            </a:r>
            <a:endParaRPr kumimoji="1" lang="en-US" altLang="zh-CN" sz="2400" b="1" dirty="0" smtClean="0">
              <a:solidFill>
                <a:srgbClr val="FFFFFF"/>
              </a:solidFill>
              <a:ea typeface="华文新魏" pitchFamily="2" charset="-122"/>
            </a:endParaRPr>
          </a:p>
        </p:txBody>
      </p:sp>
      <p:sp>
        <p:nvSpPr>
          <p:cNvPr id="16" name="Rectangle 11"/>
          <p:cNvSpPr>
            <a:spLocks noChangeArrowheads="1"/>
          </p:cNvSpPr>
          <p:nvPr/>
        </p:nvSpPr>
        <p:spPr bwMode="auto">
          <a:xfrm>
            <a:off x="5999163" y="4319588"/>
            <a:ext cx="5329237" cy="12017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Times New Roman" pitchFamily="18" charset="0"/>
                <a:ea typeface="宋体" charset="-122"/>
              </a:defRPr>
            </a:lvl1pPr>
            <a:lvl2pPr marL="742950" indent="-285750" eaLnBrk="0" hangingPunct="0">
              <a:defRPr>
                <a:solidFill>
                  <a:schemeClr val="tx1"/>
                </a:solidFill>
                <a:latin typeface="Times New Roman" pitchFamily="18" charset="0"/>
                <a:ea typeface="宋体" charset="-122"/>
              </a:defRPr>
            </a:lvl2pPr>
            <a:lvl3pPr marL="1143000" indent="-228600" eaLnBrk="0" hangingPunct="0">
              <a:defRPr>
                <a:solidFill>
                  <a:schemeClr val="tx1"/>
                </a:solidFill>
                <a:latin typeface="Times New Roman" pitchFamily="18" charset="0"/>
                <a:ea typeface="宋体" charset="-122"/>
              </a:defRPr>
            </a:lvl3pPr>
            <a:lvl4pPr marL="1600200" indent="-228600" eaLnBrk="0" hangingPunct="0">
              <a:defRPr>
                <a:solidFill>
                  <a:schemeClr val="tx1"/>
                </a:solidFill>
                <a:latin typeface="Times New Roman" pitchFamily="18" charset="0"/>
                <a:ea typeface="宋体" charset="-122"/>
              </a:defRPr>
            </a:lvl4pPr>
            <a:lvl5pPr marL="2057400" indent="-228600" eaLnBrk="0" hangingPunct="0">
              <a:defRPr>
                <a:solidFill>
                  <a:schemeClr val="tx1"/>
                </a:solidFill>
                <a:latin typeface="Times New Roman" pitchFamily="18" charset="0"/>
                <a:ea typeface="宋体" charset="-122"/>
              </a:defRPr>
            </a:lvl5pPr>
            <a:lvl6pPr marL="2514600" indent="-228600" eaLnBrk="0" fontAlgn="base" hangingPunct="0">
              <a:spcBef>
                <a:spcPct val="0"/>
              </a:spcBef>
              <a:spcAft>
                <a:spcPct val="0"/>
              </a:spcAft>
              <a:defRPr>
                <a:solidFill>
                  <a:schemeClr val="tx1"/>
                </a:solidFill>
                <a:latin typeface="Times New Roman" pitchFamily="18" charset="0"/>
                <a:ea typeface="宋体" charset="-122"/>
              </a:defRPr>
            </a:lvl6pPr>
            <a:lvl7pPr marL="2971800" indent="-228600" eaLnBrk="0" fontAlgn="base" hangingPunct="0">
              <a:spcBef>
                <a:spcPct val="0"/>
              </a:spcBef>
              <a:spcAft>
                <a:spcPct val="0"/>
              </a:spcAft>
              <a:defRPr>
                <a:solidFill>
                  <a:schemeClr val="tx1"/>
                </a:solidFill>
                <a:latin typeface="Times New Roman" pitchFamily="18" charset="0"/>
                <a:ea typeface="宋体" charset="-122"/>
              </a:defRPr>
            </a:lvl7pPr>
            <a:lvl8pPr marL="3429000" indent="-228600" eaLnBrk="0" fontAlgn="base" hangingPunct="0">
              <a:spcBef>
                <a:spcPct val="0"/>
              </a:spcBef>
              <a:spcAft>
                <a:spcPct val="0"/>
              </a:spcAft>
              <a:defRPr>
                <a:solidFill>
                  <a:schemeClr val="tx1"/>
                </a:solidFill>
                <a:latin typeface="Times New Roman" pitchFamily="18" charset="0"/>
                <a:ea typeface="宋体" charset="-122"/>
              </a:defRPr>
            </a:lvl8pPr>
            <a:lvl9pPr marL="3886200" indent="-228600" eaLnBrk="0" fontAlgn="base" hangingPunct="0">
              <a:spcBef>
                <a:spcPct val="0"/>
              </a:spcBef>
              <a:spcAft>
                <a:spcPct val="0"/>
              </a:spcAft>
              <a:defRPr>
                <a:solidFill>
                  <a:schemeClr val="tx1"/>
                </a:solidFill>
                <a:latin typeface="Times New Roman" pitchFamily="18" charset="0"/>
                <a:ea typeface="宋体" charset="-122"/>
              </a:defRPr>
            </a:lvl9pPr>
          </a:lstStyle>
          <a:p>
            <a:pPr algn="just">
              <a:spcAft>
                <a:spcPts val="0"/>
              </a:spcAft>
              <a:defRPr/>
            </a:pPr>
            <a:r>
              <a:rPr lang="en-US" altLang="zh-CN" sz="2400" b="1" kern="100" dirty="0" smtClean="0">
                <a:latin typeface="Times New Roman"/>
                <a:ea typeface="华文新魏" pitchFamily="2" charset="-122"/>
                <a:cs typeface="Times New Roman"/>
              </a:rPr>
              <a:t>Q</a:t>
            </a:r>
            <a:r>
              <a:rPr lang="zh-CN" altLang="zh-CN" sz="2400" b="1" kern="100" dirty="0">
                <a:latin typeface="Times New Roman"/>
                <a:ea typeface="华文新魏" pitchFamily="2" charset="-122"/>
                <a:cs typeface="Times New Roman"/>
              </a:rPr>
              <a:t>计算越大，说明可疑值离群越远，至一定界限时即应舍去</a:t>
            </a:r>
            <a:endParaRPr lang="zh-CN" altLang="zh-CN" sz="1050" kern="100" dirty="0">
              <a:latin typeface="Calibri"/>
              <a:ea typeface="宋体"/>
              <a:cs typeface="Times New Roman"/>
            </a:endParaRPr>
          </a:p>
          <a:p>
            <a:pPr eaLnBrk="1" hangingPunct="1">
              <a:defRPr/>
            </a:pPr>
            <a:endParaRPr kumimoji="1" lang="en-US" altLang="zh-CN" sz="2400" b="1" dirty="0" smtClean="0">
              <a:solidFill>
                <a:srgbClr val="FFFFFF"/>
              </a:solidFill>
              <a:ea typeface="华文新魏" pitchFamily="2" charset="-122"/>
            </a:endParaRPr>
          </a:p>
        </p:txBody>
      </p:sp>
      <p:sp>
        <p:nvSpPr>
          <p:cNvPr id="19" name="Rectangle 22"/>
          <p:cNvSpPr>
            <a:spLocks noChangeArrowheads="1"/>
          </p:cNvSpPr>
          <p:nvPr/>
        </p:nvSpPr>
        <p:spPr bwMode="auto">
          <a:xfrm>
            <a:off x="5976938" y="5184775"/>
            <a:ext cx="1787525" cy="476250"/>
          </a:xfrm>
          <a:prstGeom prst="rect">
            <a:avLst/>
          </a:prstGeom>
          <a:noFill/>
          <a:ln w="9525">
            <a:noFill/>
            <a:miter lim="800000"/>
            <a:headEnd/>
            <a:tailEnd/>
          </a:ln>
          <a:effectLst/>
        </p:spPr>
        <p:txBody>
          <a:bodyPr wrap="none">
            <a:spAutoFit/>
          </a:bodyPr>
          <a:lstStyle/>
          <a:p>
            <a:r>
              <a:rPr kumimoji="1" lang="zh-CN" altLang="en-US" sz="2500" b="1" dirty="0">
                <a:solidFill>
                  <a:srgbClr val="FFFF00"/>
                </a:solidFill>
                <a:latin typeface="华文新魏" pitchFamily="2" charset="-122"/>
                <a:ea typeface="华文新魏" pitchFamily="2" charset="-122"/>
                <a:sym typeface="Monotype Sorts" pitchFamily="2" charset="2"/>
              </a:rPr>
              <a:t>参考答案：</a:t>
            </a:r>
            <a:endParaRPr kumimoji="1" lang="zh-CN" altLang="en-US" sz="2500" b="1" dirty="0">
              <a:solidFill>
                <a:srgbClr val="FFFF00"/>
              </a:solidFill>
              <a:latin typeface="华文新魏" pitchFamily="2" charset="-122"/>
              <a:ea typeface="华文新魏" pitchFamily="2" charset="-122"/>
            </a:endParaRPr>
          </a:p>
        </p:txBody>
      </p:sp>
      <p:sp>
        <p:nvSpPr>
          <p:cNvPr id="20" name="Rectangle 11"/>
          <p:cNvSpPr>
            <a:spLocks noChangeArrowheads="1"/>
          </p:cNvSpPr>
          <p:nvPr/>
        </p:nvSpPr>
        <p:spPr bwMode="auto">
          <a:xfrm>
            <a:off x="5992813" y="5627688"/>
            <a:ext cx="5340387" cy="461962"/>
          </a:xfrm>
          <a:prstGeom prst="rect">
            <a:avLst/>
          </a:prstGeom>
          <a:noFill/>
          <a:ln w="9525">
            <a:noFill/>
            <a:miter lim="800000"/>
            <a:headEnd/>
            <a:tailEnd/>
          </a:ln>
          <a:effectLst/>
        </p:spPr>
        <p:txBody>
          <a:bodyPr wrap="square">
            <a:spAutoFit/>
          </a:bodyPr>
          <a:lstStyle/>
          <a:p>
            <a:r>
              <a:rPr lang="zh-CN" altLang="zh-CN" sz="2400" b="1" dirty="0" smtClean="0">
                <a:latin typeface="+mn-lt"/>
                <a:ea typeface="华文新魏" pitchFamily="2" charset="-122"/>
              </a:rPr>
              <a:t>均</a:t>
            </a:r>
            <a:r>
              <a:rPr lang="zh-CN" altLang="zh-CN" sz="2400" b="1" dirty="0">
                <a:latin typeface="+mn-lt"/>
                <a:ea typeface="华文新魏" pitchFamily="2" charset="-122"/>
              </a:rPr>
              <a:t>应保留</a:t>
            </a:r>
            <a:endParaRPr kumimoji="1" lang="en-US" altLang="zh-CN" sz="2400" b="1" dirty="0">
              <a:latin typeface="+mn-lt"/>
              <a:ea typeface="华文新魏" pitchFamily="2" charset="-122"/>
            </a:endParaRPr>
          </a:p>
        </p:txBody>
      </p:sp>
      <p:graphicFrame>
        <p:nvGraphicFramePr>
          <p:cNvPr id="2" name="对象 1"/>
          <p:cNvGraphicFramePr>
            <a:graphicFrameLocks noChangeAspect="1"/>
          </p:cNvGraphicFramePr>
          <p:nvPr/>
        </p:nvGraphicFramePr>
        <p:xfrm>
          <a:off x="7129463" y="2232025"/>
          <a:ext cx="2132012" cy="889000"/>
        </p:xfrm>
        <a:graphic>
          <a:graphicData uri="http://schemas.openxmlformats.org/presentationml/2006/ole">
            <p:oleObj spid="_x0000_s22538" name="公式" r:id="rId4" imgW="1066337" imgH="444307" progId="Equation.3">
              <p:embed/>
            </p:oleObj>
          </a:graphicData>
        </a:graphic>
      </p:graphicFrame>
      <p:graphicFrame>
        <p:nvGraphicFramePr>
          <p:cNvPr id="3" name="对象 2"/>
          <p:cNvGraphicFramePr>
            <a:graphicFrameLocks noChangeAspect="1"/>
          </p:cNvGraphicFramePr>
          <p:nvPr/>
        </p:nvGraphicFramePr>
        <p:xfrm>
          <a:off x="7129463" y="3384550"/>
          <a:ext cx="1930400" cy="889000"/>
        </p:xfrm>
        <a:graphic>
          <a:graphicData uri="http://schemas.openxmlformats.org/presentationml/2006/ole">
            <p:oleObj spid="_x0000_s22539" name="公式" r:id="rId5" imgW="965200" imgH="444500" progId="Equation.3">
              <p:embed/>
            </p:oleObj>
          </a:graphicData>
        </a:graphic>
      </p:graphicFrame>
    </p:spTree>
  </p:cSld>
  <p:clrMapOvr>
    <a:masterClrMapping/>
  </p:clrMapOvr>
  <p:transition spd="slow">
    <p:split orient="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checkerboard(across)">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14">
                                            <p:txEl>
                                              <p:pRg st="0" end="0"/>
                                            </p:txEl>
                                          </p:spTgt>
                                        </p:tgtEl>
                                        <p:attrNameLst>
                                          <p:attrName>style.visibility</p:attrName>
                                        </p:attrNameLst>
                                      </p:cBhvr>
                                      <p:to>
                                        <p:strVal val="visible"/>
                                      </p:to>
                                    </p:set>
                                    <p:animEffect transition="in" filter="checkerboard(across)">
                                      <p:cBhvr>
                                        <p:cTn id="12" dur="500"/>
                                        <p:tgtEl>
                                          <p:spTgt spid="1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4">
                                            <p:txEl>
                                              <p:pRg st="1" end="1"/>
                                            </p:txEl>
                                          </p:spTgt>
                                        </p:tgtEl>
                                        <p:attrNameLst>
                                          <p:attrName>style.visibility</p:attrName>
                                        </p:attrNameLst>
                                      </p:cBhvr>
                                      <p:to>
                                        <p:strVal val="visible"/>
                                      </p:to>
                                    </p:set>
                                    <p:animEffect transition="in" filter="checkerboard(across)">
                                      <p:cBhvr>
                                        <p:cTn id="17" dur="500"/>
                                        <p:tgtEl>
                                          <p:spTgt spid="1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14">
                                            <p:txEl>
                                              <p:pRg st="2" end="2"/>
                                            </p:txEl>
                                          </p:spTgt>
                                        </p:tgtEl>
                                        <p:attrNameLst>
                                          <p:attrName>style.visibility</p:attrName>
                                        </p:attrNameLst>
                                      </p:cBhvr>
                                      <p:to>
                                        <p:strVal val="visible"/>
                                      </p:to>
                                    </p:set>
                                    <p:animEffect transition="in" filter="checkerboard(across)">
                                      <p:cBhvr>
                                        <p:cTn id="22" dur="500"/>
                                        <p:tgtEl>
                                          <p:spTgt spid="14">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4"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down)">
                                      <p:cBhvr>
                                        <p:cTn id="27" dur="500"/>
                                        <p:tgtEl>
                                          <p:spTgt spid="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5">
                                            <p:txEl>
                                              <p:pRg st="1" end="1"/>
                                            </p:txEl>
                                          </p:spTgt>
                                        </p:tgtEl>
                                        <p:attrNameLst>
                                          <p:attrName>style.visibility</p:attrName>
                                        </p:attrNameLst>
                                      </p:cBhvr>
                                      <p:to>
                                        <p:strVal val="visible"/>
                                      </p:to>
                                    </p:set>
                                    <p:animEffect transition="in" filter="checkerboard(across)">
                                      <p:cBhvr>
                                        <p:cTn id="32" dur="500"/>
                                        <p:tgtEl>
                                          <p:spTgt spid="15">
                                            <p:txEl>
                                              <p:pRg st="1" end="1"/>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4"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down)">
                                      <p:cBhvr>
                                        <p:cTn id="37" dur="500"/>
                                        <p:tgtEl>
                                          <p:spTgt spid="3"/>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16">
                                            <p:txEl>
                                              <p:pRg st="0" end="0"/>
                                            </p:txEl>
                                          </p:spTgt>
                                        </p:tgtEl>
                                        <p:attrNameLst>
                                          <p:attrName>style.visibility</p:attrName>
                                        </p:attrNameLst>
                                      </p:cBhvr>
                                      <p:to>
                                        <p:strVal val="visible"/>
                                      </p:to>
                                    </p:set>
                                    <p:animEffect transition="in" filter="checkerboard(across)">
                                      <p:cBhvr>
                                        <p:cTn id="42" dur="500"/>
                                        <p:tgtEl>
                                          <p:spTgt spid="16">
                                            <p:txEl>
                                              <p:pRg st="0" end="0"/>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19">
                                            <p:txEl>
                                              <p:pRg st="0" end="0"/>
                                            </p:txEl>
                                          </p:spTgt>
                                        </p:tgtEl>
                                        <p:attrNameLst>
                                          <p:attrName>style.visibility</p:attrName>
                                        </p:attrNameLst>
                                      </p:cBhvr>
                                      <p:to>
                                        <p:strVal val="visible"/>
                                      </p:to>
                                    </p:set>
                                    <p:animEffect transition="in" filter="checkerboard(across)">
                                      <p:cBhvr>
                                        <p:cTn id="47" dur="500"/>
                                        <p:tgtEl>
                                          <p:spTgt spid="19">
                                            <p:txEl>
                                              <p:pRg st="0" end="0"/>
                                            </p:txEl>
                                          </p:spTgt>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5" presetClass="entr" presetSubtype="10" fill="hold" grpId="0" nodeType="clickEffect">
                                  <p:stCondLst>
                                    <p:cond delay="0"/>
                                  </p:stCondLst>
                                  <p:childTnLst>
                                    <p:set>
                                      <p:cBhvr>
                                        <p:cTn id="51" dur="1" fill="hold">
                                          <p:stCondLst>
                                            <p:cond delay="0"/>
                                          </p:stCondLst>
                                        </p:cTn>
                                        <p:tgtEl>
                                          <p:spTgt spid="20">
                                            <p:txEl>
                                              <p:pRg st="0" end="0"/>
                                            </p:txEl>
                                          </p:spTgt>
                                        </p:tgtEl>
                                        <p:attrNameLst>
                                          <p:attrName>style.visibility</p:attrName>
                                        </p:attrNameLst>
                                      </p:cBhvr>
                                      <p:to>
                                        <p:strVal val="visible"/>
                                      </p:to>
                                    </p:set>
                                    <p:animEffect transition="in" filter="checkerboard(across)">
                                      <p:cBhvr>
                                        <p:cTn id="52"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advAuto="0"/>
      <p:bldP spid="14" grpId="0" build="p" autoUpdateAnimBg="0"/>
      <p:bldP spid="15" grpId="0" build="p" autoUpdateAnimBg="0"/>
      <p:bldP spid="16" grpId="0" build="p" autoUpdateAnimBg="0"/>
      <p:bldP spid="19" grpId="0" build="p" autoUpdateAnimBg="0" advAuto="0"/>
      <p:bldP spid="20" grpId="0" build="p" autoUpdateAnimBg="0"/>
    </p:bldLst>
  </p:timing>
</p:sld>
</file>

<file path=ppt/theme/theme1.xml><?xml version="1.0" encoding="utf-8"?>
<a:theme xmlns:a="http://schemas.openxmlformats.org/drawingml/2006/main" name="医学研究PPT模板">
  <a:themeElements>
    <a:clrScheme name="医学研究PPT模板 1">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CCFF"/>
      </a:hlink>
      <a:folHlink>
        <a:srgbClr val="66FF33"/>
      </a:folHlink>
    </a:clrScheme>
    <a:fontScheme name="医学研究PPT模板">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医学研究PPT模板 1">
        <a:dk1>
          <a:srgbClr val="200B5B"/>
        </a:dk1>
        <a:lt1>
          <a:srgbClr val="EAEAEA"/>
        </a:lt1>
        <a:dk2>
          <a:srgbClr val="6600FF"/>
        </a:dk2>
        <a:lt2>
          <a:srgbClr val="FFCC66"/>
        </a:lt2>
        <a:accent1>
          <a:srgbClr val="EEB00B"/>
        </a:accent1>
        <a:accent2>
          <a:srgbClr val="6600CC"/>
        </a:accent2>
        <a:accent3>
          <a:srgbClr val="B8AAFF"/>
        </a:accent3>
        <a:accent4>
          <a:srgbClr val="C8C8C8"/>
        </a:accent4>
        <a:accent5>
          <a:srgbClr val="F5D4AA"/>
        </a:accent5>
        <a:accent6>
          <a:srgbClr val="5C00B9"/>
        </a:accent6>
        <a:hlink>
          <a:srgbClr val="FF33CC"/>
        </a:hlink>
        <a:folHlink>
          <a:srgbClr val="CC99FF"/>
        </a:folHlink>
      </a:clrScheme>
      <a:clrMap bg1="dk2" tx1="lt1" bg2="dk1" tx2="lt2" accent1="accent1" accent2="accent2" accent3="accent3" accent4="accent4" accent5="accent5" accent6="accent6" hlink="hlink" folHlink="folHlink"/>
    </a:extraClrScheme>
    <a:extraClrScheme>
      <a:clrScheme name="医学研究PPT模板 2">
        <a:dk1>
          <a:srgbClr val="393939"/>
        </a:dk1>
        <a:lt1>
          <a:srgbClr val="FFFFFF"/>
        </a:lt1>
        <a:dk2>
          <a:srgbClr val="6600CC"/>
        </a:dk2>
        <a:lt2>
          <a:srgbClr val="CCCCFF"/>
        </a:lt2>
        <a:accent1>
          <a:srgbClr val="F9D87E"/>
        </a:accent1>
        <a:accent2>
          <a:srgbClr val="FFCCCC"/>
        </a:accent2>
        <a:accent3>
          <a:srgbClr val="FFFFFF"/>
        </a:accent3>
        <a:accent4>
          <a:srgbClr val="2F2F2F"/>
        </a:accent4>
        <a:accent5>
          <a:srgbClr val="FBE9C0"/>
        </a:accent5>
        <a:accent6>
          <a:srgbClr val="E7B9B9"/>
        </a:accent6>
        <a:hlink>
          <a:srgbClr val="FFCCFF"/>
        </a:hlink>
        <a:folHlink>
          <a:srgbClr val="99CCFF"/>
        </a:folHlink>
      </a:clrScheme>
      <a:clrMap bg1="lt1" tx1="dk1" bg2="lt2" tx2="dk2" accent1="accent1" accent2="accent2" accent3="accent3" accent4="accent4" accent5="accent5" accent6="accent6" hlink="hlink" folHlink="folHlink"/>
    </a:extraClrScheme>
    <a:extraClrScheme>
      <a:clrScheme name="医学研究PPT模板 3">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医学研究PPT模板 4">
        <a:dk1>
          <a:srgbClr val="330000"/>
        </a:dk1>
        <a:lt1>
          <a:srgbClr val="FFFFCC"/>
        </a:lt1>
        <a:dk2>
          <a:srgbClr val="000000"/>
        </a:dk2>
        <a:lt2>
          <a:srgbClr val="FFCC00"/>
        </a:lt2>
        <a:accent1>
          <a:srgbClr val="FF9900"/>
        </a:accent1>
        <a:accent2>
          <a:srgbClr val="330099"/>
        </a:accent2>
        <a:accent3>
          <a:srgbClr val="AAAAAA"/>
        </a:accent3>
        <a:accent4>
          <a:srgbClr val="DADAAE"/>
        </a:accent4>
        <a:accent5>
          <a:srgbClr val="FFCAAA"/>
        </a:accent5>
        <a:accent6>
          <a:srgbClr val="2D008A"/>
        </a:accent6>
        <a:hlink>
          <a:srgbClr val="FF6633"/>
        </a:hlink>
        <a:folHlink>
          <a:srgbClr val="669900"/>
        </a:folHlink>
      </a:clrScheme>
      <a:clrMap bg1="dk2" tx1="lt1" bg2="dk1" tx2="lt2" accent1="accent1" accent2="accent2" accent3="accent3" accent4="accent4" accent5="accent5" accent6="accent6" hlink="hlink" folHlink="folHlink"/>
    </a:extraClrScheme>
    <a:extraClrScheme>
      <a:clrScheme name="医学研究PPT模板 5">
        <a:dk1>
          <a:srgbClr val="333300"/>
        </a:dk1>
        <a:lt1>
          <a:srgbClr val="DDDDDD"/>
        </a:lt1>
        <a:dk2>
          <a:srgbClr val="996600"/>
        </a:dk2>
        <a:lt2>
          <a:srgbClr val="FFCC66"/>
        </a:lt2>
        <a:accent1>
          <a:srgbClr val="EEB00B"/>
        </a:accent1>
        <a:accent2>
          <a:srgbClr val="330099"/>
        </a:accent2>
        <a:accent3>
          <a:srgbClr val="CAB8AA"/>
        </a:accent3>
        <a:accent4>
          <a:srgbClr val="BDBDBD"/>
        </a:accent4>
        <a:accent5>
          <a:srgbClr val="F5D4AA"/>
        </a:accent5>
        <a:accent6>
          <a:srgbClr val="2D008A"/>
        </a:accent6>
        <a:hlink>
          <a:srgbClr val="FF6633"/>
        </a:hlink>
        <a:folHlink>
          <a:srgbClr val="CC9900"/>
        </a:folHlink>
      </a:clrScheme>
      <a:clrMap bg1="dk2" tx1="lt1" bg2="dk1" tx2="lt2" accent1="accent1" accent2="accent2" accent3="accent3" accent4="accent4" accent5="accent5" accent6="accent6" hlink="hlink" folHlink="folHlink"/>
    </a:extraClrScheme>
    <a:extraClrScheme>
      <a:clrScheme name="医学研究PPT模板 6">
        <a:dk1>
          <a:srgbClr val="003300"/>
        </a:dk1>
        <a:lt1>
          <a:srgbClr val="FFFFCC"/>
        </a:lt1>
        <a:dk2>
          <a:srgbClr val="999933"/>
        </a:dk2>
        <a:lt2>
          <a:srgbClr val="FFFF66"/>
        </a:lt2>
        <a:accent1>
          <a:srgbClr val="CC9900"/>
        </a:accent1>
        <a:accent2>
          <a:srgbClr val="330099"/>
        </a:accent2>
        <a:accent3>
          <a:srgbClr val="CACAAD"/>
        </a:accent3>
        <a:accent4>
          <a:srgbClr val="DADAAE"/>
        </a:accent4>
        <a:accent5>
          <a:srgbClr val="E2CAAA"/>
        </a:accent5>
        <a:accent6>
          <a:srgbClr val="2D008A"/>
        </a:accent6>
        <a:hlink>
          <a:srgbClr val="FF9900"/>
        </a:hlink>
        <a:folHlink>
          <a:srgbClr val="FF6600"/>
        </a:folHlink>
      </a:clrScheme>
      <a:clrMap bg1="dk2" tx1="lt1" bg2="dk1" tx2="lt2" accent1="accent1" accent2="accent2" accent3="accent3" accent4="accent4" accent5="accent5" accent6="accent6" hlink="hlink" folHlink="folHlink"/>
    </a:extraClrScheme>
    <a:extraClrScheme>
      <a:clrScheme name="医学研究PPT模板 1">
        <a:dk1>
          <a:srgbClr val="000000"/>
        </a:dk1>
        <a:lt1>
          <a:srgbClr val="FFFFFF"/>
        </a:lt1>
        <a:dk2>
          <a:srgbClr val="000000"/>
        </a:dk2>
        <a:lt2>
          <a:srgbClr val="FFFFFF"/>
        </a:lt2>
        <a:accent1>
          <a:srgbClr val="CBCBCB"/>
        </a:accent1>
        <a:accent2>
          <a:srgbClr val="5F5F5F"/>
        </a:accent2>
        <a:accent3>
          <a:srgbClr val="FFFFFF"/>
        </a:accent3>
        <a:accent4>
          <a:srgbClr val="000000"/>
        </a:accent4>
        <a:accent5>
          <a:srgbClr val="E2E2E2"/>
        </a:accent5>
        <a:accent6>
          <a:srgbClr val="555555"/>
        </a:accent6>
        <a:hlink>
          <a:srgbClr val="969696"/>
        </a:hlink>
        <a:folHlink>
          <a:srgbClr val="EAEAEA"/>
        </a:folHlink>
      </a:clrScheme>
      <a:clrMap bg1="lt1" tx1="dk1" bg2="lt2" tx2="dk2" accent1="accent1" accent2="accent2" accent3="accent3" accent4="accent4" accent5="accent5" accent6="accent6" hlink="hlink" folHlink="folHlink"/>
    </a:extraClrScheme>
    <a:extraClrScheme>
      <a:clrScheme name="医学研究PPT模板 2">
        <a:dk1>
          <a:srgbClr val="000000"/>
        </a:dk1>
        <a:lt1>
          <a:srgbClr val="FFFFFF"/>
        </a:lt1>
        <a:dk2>
          <a:srgbClr val="000000"/>
        </a:dk2>
        <a:lt2>
          <a:srgbClr val="000000"/>
        </a:lt2>
        <a:accent1>
          <a:srgbClr val="FF0000"/>
        </a:accent1>
        <a:accent2>
          <a:srgbClr val="FF00FF"/>
        </a:accent2>
        <a:accent3>
          <a:srgbClr val="FFFFFF"/>
        </a:accent3>
        <a:accent4>
          <a:srgbClr val="000000"/>
        </a:accent4>
        <a:accent5>
          <a:srgbClr val="FF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3">
        <a:dk1>
          <a:srgbClr val="FFFFFF"/>
        </a:dk1>
        <a:lt1>
          <a:srgbClr val="FFFFFF"/>
        </a:lt1>
        <a:dk2>
          <a:srgbClr val="000000"/>
        </a:dk2>
        <a:lt2>
          <a:srgbClr val="000000"/>
        </a:lt2>
        <a:accent1>
          <a:srgbClr val="FF0000"/>
        </a:accent1>
        <a:accent2>
          <a:srgbClr val="FF00FF"/>
        </a:accent2>
        <a:accent3>
          <a:srgbClr val="FFFFFF"/>
        </a:accent3>
        <a:accent4>
          <a:srgbClr val="DADADA"/>
        </a:accent4>
        <a:accent5>
          <a:srgbClr val="FF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1">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9900"/>
        </a:hlink>
        <a:folHlink>
          <a:srgbClr val="3333CC"/>
        </a:folHlink>
      </a:clrScheme>
      <a:clrMap bg1="lt1" tx1="dk1" bg2="lt2" tx2="dk2" accent1="accent1" accent2="accent2" accent3="accent3" accent4="accent4" accent5="accent5" accent6="accent6" hlink="hlink" folHlink="folHlink"/>
    </a:extraClrScheme>
    <a:extraClrScheme>
      <a:clrScheme name="医学研究PPT模板 1">
        <a:dk1>
          <a:srgbClr val="FFFFFF"/>
        </a:dk1>
        <a:lt1>
          <a:srgbClr val="FFFFFF"/>
        </a:lt1>
        <a:dk2>
          <a:srgbClr val="000000"/>
        </a:dk2>
        <a:lt2>
          <a:srgbClr val="000000"/>
        </a:lt2>
        <a:accent1>
          <a:srgbClr val="000000"/>
        </a:accent1>
        <a:accent2>
          <a:srgbClr val="FF00FF"/>
        </a:accent2>
        <a:accent3>
          <a:srgbClr val="FFFFFF"/>
        </a:accent3>
        <a:accent4>
          <a:srgbClr val="DADADA"/>
        </a:accent4>
        <a:accent5>
          <a:srgbClr val="AAAAAA"/>
        </a:accent5>
        <a:accent6>
          <a:srgbClr val="E700E7"/>
        </a:accent6>
        <a:hlink>
          <a:srgbClr val="FFCCFF"/>
        </a:hlink>
        <a:folHlink>
          <a:srgbClr val="66FF33"/>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3227</TotalTime>
  <Pages>0</Pages>
  <Words>2216</Words>
  <Characters>0</Characters>
  <Application>Microsoft Office PowerPoint</Application>
  <DocSecurity>0</DocSecurity>
  <PresentationFormat>自定义</PresentationFormat>
  <Lines>0</Lines>
  <Paragraphs>243</Paragraphs>
  <Slides>21</Slides>
  <Notes>21</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21</vt:i4>
      </vt:variant>
    </vt:vector>
  </HeadingPairs>
  <TitlesOfParts>
    <vt:vector size="23" baseType="lpstr">
      <vt:lpstr>医学研究PPT模板</vt:lpstr>
      <vt:lpstr>公式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vector>
  </TitlesOfParts>
  <LinksUpToDate>false</LinksUpToDate>
  <CharactersWithSpaces>0</CharactersWithSpaces>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ch01定量分析概述习题指导</dc:title>
  <dc:creator>江南大学</dc:creator>
  <cp:lastModifiedBy>ASUS</cp:lastModifiedBy>
  <cp:revision>308</cp:revision>
  <cp:lastPrinted>1601-01-01T00:00:00Z</cp:lastPrinted>
  <dcterms:created xsi:type="dcterms:W3CDTF">2012-06-20T03:37:37Z</dcterms:created>
  <dcterms:modified xsi:type="dcterms:W3CDTF">2017-08-23T16:32:10Z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2052-8.1.0.3089</vt:lpwstr>
  </property>
</Properties>
</file>