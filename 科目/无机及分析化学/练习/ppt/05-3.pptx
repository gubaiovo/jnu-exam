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5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304" r:id="rId24"/>
    <p:sldId id="305" r:id="rId25"/>
  </p:sldIdLst>
  <p:sldSz cx="11522075" cy="6480175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2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FF0000"/>
    <a:srgbClr val="FFFF00"/>
    <a:srgbClr val="317F45"/>
    <a:srgbClr val="FFFFFF"/>
    <a:srgbClr val="F8F8F8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9"/>
  </p:normalViewPr>
  <p:slideViewPr>
    <p:cSldViewPr showGuides="1">
      <p:cViewPr varScale="1">
        <p:scale>
          <a:sx n="73" d="100"/>
          <a:sy n="73" d="100"/>
        </p:scale>
        <p:origin x="750" y="66"/>
      </p:cViewPr>
      <p:guideLst>
        <p:guide orient="horz" pos="1982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47" d="100"/>
          <a:sy n="47" d="100"/>
        </p:scale>
        <p:origin x="-2732" y="-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EA11C-9CE7-4CD1-B460-0A77FE38A94F}" type="datetimeFigureOut">
              <a:rPr lang="zh-CN" altLang="en-US" smtClean="0"/>
              <a:pPr/>
              <a:t>2021/11/23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B57AF-9E40-4F51-8B04-97E75CCDB5C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77D298-59EF-40DE-8D3C-27FBCDB1584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2021/11/23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lvl="0" indent="0" defTabSz="914400"/>
            <a:r>
              <a:rPr lang="zh-CN" altLang="en-US"/>
              <a:t>单击此处编辑母版文本样式</a:t>
            </a:r>
          </a:p>
          <a:p>
            <a:pPr lvl="1" indent="0" defTabSz="914400"/>
            <a:r>
              <a:rPr lang="zh-CN" altLang="en-US"/>
              <a:t>第二级</a:t>
            </a:r>
          </a:p>
          <a:p>
            <a:pPr lvl="2" indent="0" defTabSz="914400"/>
            <a:r>
              <a:rPr lang="zh-CN" altLang="en-US"/>
              <a:t>第三级</a:t>
            </a:r>
          </a:p>
          <a:p>
            <a:pPr lvl="3" indent="0" defTabSz="914400"/>
            <a:r>
              <a:rPr lang="zh-CN" altLang="en-US"/>
              <a:t>第四级</a:t>
            </a:r>
          </a:p>
          <a:p>
            <a:pPr lvl="4" indent="0" defTabSz="914400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pPr lvl="0" algn="r" fontAlgn="base"/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2"/>
          <p:cNvGrpSpPr/>
          <p:nvPr userDrawn="1"/>
        </p:nvGrpSpPr>
        <p:grpSpPr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7" name="Freeform 1027"/>
            <p:cNvSpPr/>
            <p:nvPr userDrawn="1"/>
          </p:nvSpPr>
          <p:spPr>
            <a:xfrm>
              <a:off x="80" y="431"/>
              <a:ext cx="7080" cy="3174"/>
            </a:xfrm>
            <a:custGeom>
              <a:avLst/>
              <a:gdLst/>
              <a:ahLst/>
              <a:cxnLst>
                <a:cxn ang="0">
                  <a:pos x="9512" y="0"/>
                </a:cxn>
                <a:cxn ang="0">
                  <a:pos x="0" y="0"/>
                </a:cxn>
                <a:cxn ang="0">
                  <a:pos x="0" y="3383"/>
                </a:cxn>
              </a:cxnLst>
              <a:rect l="0" t="0" r="0" b="0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8" name="Group 1042"/>
            <p:cNvGrpSpPr/>
            <p:nvPr userDrawn="1"/>
          </p:nvGrpSpPr>
          <p:grpSpPr>
            <a:xfrm rot="5400000">
              <a:off x="3595" y="-3111"/>
              <a:ext cx="68" cy="7141"/>
              <a:chOff x="336" y="1103"/>
              <a:chExt cx="97" cy="2785"/>
            </a:xfrm>
          </p:grpSpPr>
          <p:sp>
            <p:nvSpPr>
              <p:cNvPr id="1029" name="Rectangle 1043"/>
              <p:cNvSpPr/>
              <p:nvPr userDrawn="1"/>
            </p:nvSpPr>
            <p:spPr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0" name="Freeform 1044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96" y="2784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Freeform 1045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2" name="Freeform 1028"/>
            <p:cNvSpPr/>
            <p:nvPr userDrawn="1"/>
          </p:nvSpPr>
          <p:spPr>
            <a:xfrm>
              <a:off x="96" y="431"/>
              <a:ext cx="7080" cy="3174"/>
            </a:xfrm>
            <a:custGeom>
              <a:avLst/>
              <a:gdLst/>
              <a:ahLst/>
              <a:cxnLst>
                <a:cxn ang="0">
                  <a:pos x="9512" y="0"/>
                </a:cxn>
                <a:cxn ang="0">
                  <a:pos x="9512" y="3383"/>
                </a:cxn>
                <a:cxn ang="0">
                  <a:pos x="0" y="3383"/>
                </a:cxn>
              </a:cxnLst>
              <a:rect l="0" t="0" r="0" b="0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Rectangle 1036"/>
            <p:cNvSpPr/>
            <p:nvPr userDrawn="1"/>
          </p:nvSpPr>
          <p:spPr>
            <a:xfrm>
              <a:off x="61" y="68"/>
              <a:ext cx="7141" cy="3584"/>
            </a:xfrm>
            <a:prstGeom prst="rect">
              <a:avLst/>
            </a:prstGeom>
            <a:noFill/>
            <a:ln w="254000" cap="flat" cmpd="sng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lvl="0" indent="0" algn="ctr"/>
              <a:endParaRPr lang="zh-CN" altLang="en-US" sz="16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1034" name="Group 1038"/>
            <p:cNvGrpSpPr/>
            <p:nvPr userDrawn="1"/>
          </p:nvGrpSpPr>
          <p:grpSpPr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5" name="Rectangle 1039"/>
              <p:cNvSpPr/>
              <p:nvPr userDrawn="1"/>
            </p:nvSpPr>
            <p:spPr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lvl="0" indent="0" algn="ctr"/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Freeform 1040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96" y="2784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1041"/>
              <p:cNvSpPr/>
              <p:nvPr userDrawn="1"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rect l="0" t="0" r="0" b="0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8" name="Rectangle 139" descr="深色横线"/>
            <p:cNvSpPr/>
            <p:nvPr userDrawn="1"/>
          </p:nvSpPr>
          <p:spPr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39" name="AutoShape 143"/>
            <p:cNvSpPr/>
            <p:nvPr userDrawn="1"/>
          </p:nvSpPr>
          <p:spPr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40" name="Rectangle 146"/>
            <p:cNvSpPr/>
            <p:nvPr userDrawn="1"/>
          </p:nvSpPr>
          <p:spPr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 cap="flat" cmpd="sng">
              <a:solidFill>
                <a:srgbClr val="F8F8F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inden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41" name="Rectangle 149"/>
          <p:cNvSpPr>
            <a:spLocks noGrp="1"/>
          </p:cNvSpPr>
          <p:nvPr>
            <p:ph type="title"/>
          </p:nvPr>
        </p:nvSpPr>
        <p:spPr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split orient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anose="0201060906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anose="02020603050405020304" pitchFamily="18" charset="0"/>
          <a:ea typeface="黑体" panose="0201060906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split orient="vert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5-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05-2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7.jpeg"/><Relationship Id="rId4" Type="http://schemas.openxmlformats.org/officeDocument/2006/relationships/audio" Target="../media/audio4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audio" Target="../media/audio2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audio" Target="../media/audio4.wav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3.jpeg"/><Relationship Id="rId5" Type="http://schemas.openxmlformats.org/officeDocument/2006/relationships/image" Target="../media/image9.wmf"/><Relationship Id="rId10" Type="http://schemas.openxmlformats.org/officeDocument/2006/relationships/image" Target="../media/image4.jpe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hyperlink" Target="e5.3.pptx" TargetMode="External"/><Relationship Id="rId7" Type="http://schemas.openxmlformats.org/officeDocument/2006/relationships/hyperlink" Target="../ch06/06-01.pptx" TargetMode="Externa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4.xml"/><Relationship Id="rId6" Type="http://schemas.openxmlformats.org/officeDocument/2006/relationships/hyperlink" Target="../../03EXAMPLE/ch05/05-03-&#20363;&#39064;.pptx#-1,1,&#24187;&#28783;&#29255; 1" TargetMode="External"/><Relationship Id="rId5" Type="http://schemas.openxmlformats.org/officeDocument/2006/relationships/hyperlink" Target="file:///C:\Users\123\Desktop\&#26080;&#26426;&#21450;&#20998;&#26512;&#21270;&#23398;(&#27754;&#20113;)\&#26080;&#26426;&#21450;&#20998;&#26512;&#21270;&#23398;(&#27754;&#20113;)\03EXAMPLE\ch05\example5.3.pptx" TargetMode="External"/><Relationship Id="rId4" Type="http://schemas.openxmlformats.org/officeDocument/2006/relationships/hyperlink" Target="../../03EXAMPLE/ch05/05-03-&#20363;&#39064;.pptx#-1,3,&#24187;&#28783;&#29255; 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080"/>
          <p:cNvSpPr>
            <a:spLocks noGrp="1"/>
          </p:cNvSpPr>
          <p:nvPr/>
        </p:nvSpPr>
        <p:spPr>
          <a:xfrm>
            <a:off x="3403583" y="1504251"/>
            <a:ext cx="4929222" cy="2031968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 anchor="t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800" b="1" dirty="0" smtClean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  <a:hlinkClick r:id="rId3" action="ppaction://hlinkpres?slideindex=1&amp;slidetitle="/>
              </a:rPr>
              <a:t>5.1</a:t>
            </a:r>
            <a:r>
              <a:rPr lang="en-US" altLang="zh-CN" sz="2800" b="1" dirty="0" smtClean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氧化还原</a:t>
            </a:r>
            <a:r>
              <a:rPr lang="zh-CN" altLang="en-US" sz="2800" b="1" dirty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反应与</a:t>
            </a:r>
            <a:r>
              <a:rPr lang="zh-CN" altLang="en-US" sz="2800" b="1" dirty="0" smtClean="0">
                <a:solidFill>
                  <a:srgbClr val="FFFF00"/>
                </a:solidFill>
                <a:uFillTx/>
                <a:latin typeface="Times New Roman" panose="02020603050405020304" pitchFamily="18" charset="0"/>
                <a:ea typeface="黑体" pitchFamily="49" charset="-122"/>
              </a:rPr>
              <a:t>电极电势</a:t>
            </a:r>
            <a:endParaRPr lang="en-US" altLang="zh-CN" sz="2800" b="1" dirty="0" smtClean="0">
              <a:solidFill>
                <a:srgbClr val="FFFF00"/>
              </a:solidFill>
              <a:uFillTx/>
              <a:latin typeface="Times New Roman" panose="02020603050405020304" pitchFamily="18" charset="0"/>
              <a:ea typeface="黑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4" action="ppaction://hlinkpres?slideindex=1&amp;slidetitle="/>
              </a:rPr>
              <a:t>5.2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电势的应用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SzPct val="75000"/>
            </a:pPr>
            <a:r>
              <a:rPr lang="en-US" altLang="zh-CN" sz="2800" b="1" dirty="0" smtClean="0">
                <a:ea typeface="黑体" pitchFamily="49" charset="-122"/>
              </a:rPr>
              <a:t>5.3 </a:t>
            </a:r>
            <a:r>
              <a:rPr lang="zh-CN" altLang="en-US" sz="2800" b="1" dirty="0" smtClean="0">
                <a:ea typeface="黑体" pitchFamily="49" charset="-122"/>
              </a:rPr>
              <a:t>氧化还原滴定法</a:t>
            </a:r>
            <a:endParaRPr lang="zh-CN" altLang="en-US" sz="2800" b="1" dirty="0">
              <a:solidFill>
                <a:schemeClr val="tx1"/>
              </a:solidFill>
              <a:uFillTx/>
              <a:latin typeface="Times New Roman" panose="02020603050405020304" pitchFamily="18" charset="0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AutoShape 7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2117699" y="1811327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0245" name="AutoShape 8">
            <a:hlinkClick r:id="rId3" action="ppaction://hlinksldjump"/>
          </p:cNvPr>
          <p:cNvSpPr>
            <a:spLocks noChangeAspect="1"/>
          </p:cNvSpPr>
          <p:nvPr/>
        </p:nvSpPr>
        <p:spPr>
          <a:xfrm>
            <a:off x="2117699" y="2597145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5609" name="Text Box 9"/>
          <p:cNvSpPr txBox="1"/>
          <p:nvPr/>
        </p:nvSpPr>
        <p:spPr>
          <a:xfrm>
            <a:off x="2689225" y="1525575"/>
            <a:ext cx="8832850" cy="230499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黑体" pitchFamily="49" charset="-122"/>
              </a:rPr>
              <a:t>5.3.1</a:t>
            </a:r>
            <a:r>
              <a:rPr lang="zh-CN" altLang="en-US" sz="2800" b="1" dirty="0">
                <a:latin typeface="Times New Roman" panose="02020603050405020304" pitchFamily="18" charset="0"/>
                <a:ea typeface="黑体" pitchFamily="49" charset="-122"/>
              </a:rPr>
              <a:t>对反应的要求及滴定的前处理</a:t>
            </a:r>
          </a:p>
          <a:p>
            <a:pPr>
              <a:lnSpc>
                <a:spcPct val="18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黑体" pitchFamily="49" charset="-122"/>
              </a:rPr>
              <a:t>5.3.2</a:t>
            </a:r>
            <a:r>
              <a:rPr lang="zh-CN" altLang="en-US" sz="2800" b="1" dirty="0">
                <a:latin typeface="Times New Roman" panose="02020603050405020304" pitchFamily="18" charset="0"/>
                <a:ea typeface="黑体" pitchFamily="49" charset="-122"/>
              </a:rPr>
              <a:t>氧化还原滴定曲线</a:t>
            </a:r>
          </a:p>
          <a:p>
            <a:pPr>
              <a:lnSpc>
                <a:spcPct val="18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黑体" pitchFamily="49" charset="-122"/>
              </a:rPr>
              <a:t>5.3.3</a:t>
            </a:r>
            <a:r>
              <a:rPr lang="zh-CN" altLang="en-US" sz="2800" b="1" dirty="0">
                <a:latin typeface="Times New Roman" panose="02020603050405020304" pitchFamily="18" charset="0"/>
                <a:ea typeface="黑体" pitchFamily="49" charset="-122"/>
              </a:rPr>
              <a:t>常用氧化还原滴定方法</a:t>
            </a:r>
          </a:p>
        </p:txBody>
      </p:sp>
      <p:sp>
        <p:nvSpPr>
          <p:cNvPr id="10247" name="AutoShape 10">
            <a:hlinkClick r:id="rId4" action="ppaction://hlinksldjump"/>
          </p:cNvPr>
          <p:cNvSpPr>
            <a:spLocks noChangeAspect="1"/>
          </p:cNvSpPr>
          <p:nvPr/>
        </p:nvSpPr>
        <p:spPr>
          <a:xfrm>
            <a:off x="2117699" y="3311525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5131" name="Rectangle 15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3300"/>
                </a:solidFill>
                <a:uFillTx/>
                <a:latin typeface="黑体" panose="02010609060101010101" pitchFamily="2" charset="-122"/>
              </a:rPr>
              <a:t>5.3</a:t>
            </a:r>
            <a:r>
              <a:rPr lang="zh-CN" altLang="en-US" strike="noStrike" noProof="1">
                <a:solidFill>
                  <a:srgbClr val="FF3300"/>
                </a:solidFill>
                <a:uFillTx/>
                <a:latin typeface="黑体" panose="02010609060101010101" pitchFamily="2" charset="-122"/>
              </a:rPr>
              <a:t>氧化还原滴定法</a:t>
            </a:r>
          </a:p>
        </p:txBody>
      </p:sp>
      <p:sp>
        <p:nvSpPr>
          <p:cNvPr id="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56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5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6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5.3.1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对反应的要求及滴定的前处理</a:t>
            </a:r>
          </a:p>
        </p:txBody>
      </p:sp>
      <p:sp>
        <p:nvSpPr>
          <p:cNvPr id="59400" name="Rectangle 8"/>
          <p:cNvSpPr/>
          <p:nvPr/>
        </p:nvSpPr>
        <p:spPr>
          <a:xfrm>
            <a:off x="737394" y="945684"/>
            <a:ext cx="5805487" cy="515526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Ox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1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Red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Red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1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Ox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59401" name="Text Box 9"/>
          <p:cNvSpPr txBox="1"/>
          <p:nvPr/>
        </p:nvSpPr>
        <p:spPr>
          <a:xfrm>
            <a:off x="1680738" y="2189734"/>
            <a:ext cx="1471591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lg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K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 err="1" smtClean="0">
                <a:latin typeface="Times New Roman" panose="02020603050405020304" pitchFamily="18" charset="0"/>
                <a:ea typeface="楷体_GB2312"/>
              </a:rPr>
              <a:t>lg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59402" name="Line 10"/>
          <p:cNvSpPr/>
          <p:nvPr/>
        </p:nvSpPr>
        <p:spPr>
          <a:xfrm>
            <a:off x="3217863" y="2482850"/>
            <a:ext cx="24050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03" name="Rectangle 11"/>
          <p:cNvSpPr/>
          <p:nvPr/>
        </p:nvSpPr>
        <p:spPr>
          <a:xfrm>
            <a:off x="3217863" y="1938338"/>
            <a:ext cx="1790875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[Red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][Ox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]</a:t>
            </a:r>
            <a:endParaRPr lang="en-US" altLang="zh-CN" sz="2500" b="1" baseline="-25000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59404" name="Rectangle 12"/>
          <p:cNvSpPr/>
          <p:nvPr/>
        </p:nvSpPr>
        <p:spPr>
          <a:xfrm>
            <a:off x="3217863" y="2482850"/>
            <a:ext cx="2536825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[Ox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][Red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]</a:t>
            </a:r>
          </a:p>
        </p:txBody>
      </p:sp>
      <p:sp>
        <p:nvSpPr>
          <p:cNvPr id="59405" name="Rectangle 13"/>
          <p:cNvSpPr/>
          <p:nvPr/>
        </p:nvSpPr>
        <p:spPr>
          <a:xfrm>
            <a:off x="5622925" y="2209800"/>
            <a:ext cx="36740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</a:t>
            </a:r>
          </a:p>
        </p:txBody>
      </p:sp>
      <p:sp>
        <p:nvSpPr>
          <p:cNvPr id="59406" name="Rectangle 14"/>
          <p:cNvSpPr/>
          <p:nvPr/>
        </p:nvSpPr>
        <p:spPr>
          <a:xfrm>
            <a:off x="6711950" y="2482850"/>
            <a:ext cx="106631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0.0592</a:t>
            </a:r>
          </a:p>
        </p:txBody>
      </p:sp>
      <p:sp>
        <p:nvSpPr>
          <p:cNvPr id="59407" name="Line 15"/>
          <p:cNvSpPr/>
          <p:nvPr/>
        </p:nvSpPr>
        <p:spPr>
          <a:xfrm>
            <a:off x="6167438" y="2482850"/>
            <a:ext cx="22685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08" name="Rectangle 16"/>
          <p:cNvSpPr/>
          <p:nvPr/>
        </p:nvSpPr>
        <p:spPr>
          <a:xfrm>
            <a:off x="6121400" y="1938338"/>
            <a:ext cx="1891865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n’(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1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-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sp>
        <p:nvSpPr>
          <p:cNvPr id="59418" name="Rectangle 26"/>
          <p:cNvSpPr/>
          <p:nvPr/>
        </p:nvSpPr>
        <p:spPr>
          <a:xfrm>
            <a:off x="3468424" y="4226646"/>
            <a:ext cx="1995487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若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n’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1:</a:t>
            </a:r>
          </a:p>
        </p:txBody>
      </p:sp>
      <p:sp>
        <p:nvSpPr>
          <p:cNvPr id="59419" name="Rectangle 27"/>
          <p:cNvSpPr/>
          <p:nvPr/>
        </p:nvSpPr>
        <p:spPr>
          <a:xfrm>
            <a:off x="5910297" y="4242202"/>
            <a:ext cx="2077813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_GB2312"/>
              </a:rPr>
              <a:t>△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0.36V;</a:t>
            </a:r>
          </a:p>
        </p:txBody>
      </p:sp>
      <p:sp>
        <p:nvSpPr>
          <p:cNvPr id="59423" name="Rectangle 31"/>
          <p:cNvSpPr/>
          <p:nvPr/>
        </p:nvSpPr>
        <p:spPr>
          <a:xfrm>
            <a:off x="846873" y="4752975"/>
            <a:ext cx="10231437" cy="989502"/>
          </a:xfrm>
          <a:prstGeom prst="rect">
            <a:avLst/>
          </a:prstGeom>
          <a:noFill/>
          <a:ln w="88900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　　</a:t>
            </a:r>
            <a:r>
              <a:rPr lang="zh-CN" altLang="en-US" sz="2800" b="1" dirty="0">
                <a:solidFill>
                  <a:srgbClr val="FF0000"/>
                </a:solidFill>
              </a:rPr>
              <a:t>滴定</a:t>
            </a:r>
            <a:r>
              <a:rPr lang="zh-CN" altLang="en-US" sz="2800" b="1" noProof="1" smtClean="0">
                <a:solidFill>
                  <a:srgbClr val="FF0000"/>
                </a:solidFill>
              </a:rPr>
              <a:t>要求：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</a:rPr>
              <a:t>两电对的</a:t>
            </a:r>
            <a:r>
              <a:rPr lang="en-US" altLang="zh-CN" sz="2000" b="1" dirty="0" smtClean="0">
                <a:solidFill>
                  <a:srgbClr val="FF0000"/>
                </a:solidFill>
                <a:ea typeface="楷体_GB2312"/>
              </a:rPr>
              <a:t>△</a:t>
            </a:r>
            <a:r>
              <a:rPr lang="en-US" altLang="zh-CN" sz="2800" b="1" dirty="0" smtClean="0">
                <a:ea typeface="楷体_GB2312"/>
              </a:rPr>
              <a:t> </a:t>
            </a:r>
            <a:r>
              <a:rPr lang="en-US" altLang="zh-CN" sz="2500" b="1" i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E</a:t>
            </a:r>
            <a:r>
              <a:rPr lang="en-US" altLang="zh-CN" b="1" baseline="100000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≥0.4V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 smtClean="0">
                <a:latin typeface="楷体_GB2312"/>
                <a:ea typeface="楷体_GB2312"/>
              </a:rPr>
              <a:t>这样的氧化还原反应才有可能用于滴定分析</a:t>
            </a:r>
            <a:r>
              <a:rPr lang="en-US" altLang="zh-CN" sz="2500" b="1" dirty="0" smtClean="0">
                <a:latin typeface="楷体_GB2312"/>
                <a:ea typeface="楷体_GB2312"/>
              </a:rPr>
              <a:t>.</a:t>
            </a:r>
            <a:endParaRPr lang="zh-CN" altLang="en-US" sz="2500" b="1" dirty="0">
              <a:latin typeface="楷体_GB2312"/>
              <a:ea typeface="楷体_GB2312"/>
            </a:endParaRPr>
          </a:p>
        </p:txBody>
      </p:sp>
      <p:sp>
        <p:nvSpPr>
          <p:cNvPr id="2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10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10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74239" y="3115187"/>
            <a:ext cx="5134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根据实验经验，要能准确滴定则满足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16533" y="3693039"/>
            <a:ext cx="10518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err="1">
                <a:ea typeface="楷体_GB2312"/>
              </a:rPr>
              <a:t>lg</a:t>
            </a:r>
            <a:r>
              <a:rPr lang="en-US" altLang="zh-CN" sz="3200" b="1" i="1" dirty="0" err="1">
                <a:ea typeface="楷体_GB2312"/>
              </a:rPr>
              <a:t>K</a:t>
            </a:r>
            <a:r>
              <a:rPr lang="en-US" altLang="zh-CN" sz="3200" b="1" baseline="100000" dirty="0">
                <a:ea typeface="楷体_GB2312"/>
                <a:sym typeface="Webdings" panose="05030102010509060703" pitchFamily="18" charset="2"/>
              </a:rPr>
              <a:t>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3548448" y="3707731"/>
            <a:ext cx="6158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ea typeface="楷体_GB2312"/>
              </a:rPr>
              <a:t>≥</a:t>
            </a:r>
            <a:r>
              <a:rPr lang="en-US" altLang="zh-CN" sz="3200" dirty="0" smtClean="0">
                <a:ea typeface="楷体_GB2312"/>
              </a:rPr>
              <a:t>6</a:t>
            </a:r>
            <a:endParaRPr lang="zh-CN" altLang="en-US" sz="3200" dirty="0">
              <a:ea typeface="楷体_GB231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94927" y="1325054"/>
            <a:ext cx="7761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楷体_GB2312"/>
              </a:rPr>
              <a:t>△</a:t>
            </a:r>
            <a:r>
              <a:rPr lang="en-US" altLang="zh-CN" sz="2400" b="1" i="1" dirty="0">
                <a:ea typeface="楷体_GB2312"/>
              </a:rPr>
              <a:t>E</a:t>
            </a:r>
            <a:r>
              <a:rPr lang="en-US" altLang="zh-CN" b="1" baseline="100000" dirty="0">
                <a:ea typeface="楷体_GB2312"/>
                <a:sym typeface="Webdings" panose="05030102010509060703" pitchFamily="18" charset="2"/>
              </a:rPr>
              <a:t>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501334" y="1770613"/>
            <a:ext cx="1470384" cy="644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4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9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3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/>
      <p:bldP spid="59401" grpId="0"/>
      <p:bldP spid="59403" grpId="0"/>
      <p:bldP spid="59404" grpId="0"/>
      <p:bldP spid="59405" grpId="0"/>
      <p:bldP spid="59406" grpId="0"/>
      <p:bldP spid="59408" grpId="0"/>
      <p:bldP spid="59418" grpId="0"/>
      <p:bldP spid="59419" grpId="0"/>
      <p:bldP spid="594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906463" y="950913"/>
            <a:ext cx="466248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2.</a:t>
            </a:r>
            <a:r>
              <a:rPr kumimoji="0" lang="zh-CN" altLang="en-US" sz="2500" b="1" i="0" strike="noStrike" kern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前处理</a:t>
            </a:r>
            <a:r>
              <a:rPr kumimoji="0" lang="zh-CN" altLang="en-US" sz="2500" b="1" i="0" strike="noStrike" kern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（ pretreatment）</a:t>
            </a:r>
          </a:p>
        </p:txBody>
      </p:sp>
      <p:sp>
        <p:nvSpPr>
          <p:cNvPr id="28682" name="AutoShape 10"/>
          <p:cNvSpPr/>
          <p:nvPr/>
        </p:nvSpPr>
        <p:spPr>
          <a:xfrm>
            <a:off x="671513" y="2016125"/>
            <a:ext cx="288925" cy="1395413"/>
          </a:xfrm>
          <a:prstGeom prst="leftBrace">
            <a:avLst>
              <a:gd name="adj1" fmla="val 41499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8683" name="Rectangle 11"/>
          <p:cNvSpPr/>
          <p:nvPr/>
        </p:nvSpPr>
        <p:spPr>
          <a:xfrm>
            <a:off x="906463" y="1393825"/>
            <a:ext cx="10231437" cy="34004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　</a:t>
            </a:r>
            <a:r>
              <a:rPr lang="zh-CN" altLang="en-US" sz="2500" b="1" dirty="0">
                <a:ea typeface="楷体_GB2312"/>
              </a:rPr>
              <a:t>预还原剂应具备</a:t>
            </a:r>
            <a:r>
              <a:rPr lang="en-US" altLang="zh-CN" sz="2500" b="1" dirty="0">
                <a:ea typeface="楷体_GB231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定量还原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选择性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过量处理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ea typeface="楷体_GB2312"/>
                <a:sym typeface="Monotype Sorts" pitchFamily="2" charset="2"/>
              </a:rPr>
              <a:t>        Fe</a:t>
            </a:r>
            <a:r>
              <a:rPr lang="en-US" altLang="zh-CN" sz="2500" b="1" baseline="30000" dirty="0">
                <a:ea typeface="楷体_GB2312"/>
                <a:sym typeface="Monotype Sorts" pitchFamily="2" charset="2"/>
              </a:rPr>
              <a:t>3+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预还原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ea typeface="楷体_GB2312"/>
                <a:sym typeface="Monotype Sorts" pitchFamily="2" charset="2"/>
              </a:rPr>
              <a:t>        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用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SnCl</a:t>
            </a:r>
            <a:r>
              <a:rPr lang="en-US" altLang="zh-CN" sz="2500" b="1" baseline="-25000" dirty="0">
                <a:ea typeface="楷体_GB2312"/>
                <a:sym typeface="Monotype Sorts" pitchFamily="2" charset="2"/>
              </a:rPr>
              <a:t>2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.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过量的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SnCl</a:t>
            </a:r>
            <a:r>
              <a:rPr lang="en-US" altLang="zh-CN" sz="2500" b="1" baseline="-25000" dirty="0">
                <a:ea typeface="楷体_GB2312"/>
                <a:sym typeface="Monotype Sorts" pitchFamily="2" charset="2"/>
              </a:rPr>
              <a:t>2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一般可加入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HgCl</a:t>
            </a:r>
            <a:r>
              <a:rPr lang="en-US" altLang="zh-CN" sz="2500" b="1" baseline="-25000" dirty="0">
                <a:ea typeface="楷体_GB2312"/>
                <a:sym typeface="Monotype Sorts" pitchFamily="2" charset="2"/>
              </a:rPr>
              <a:t>2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,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使之形成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SnCl</a:t>
            </a:r>
            <a:r>
              <a:rPr lang="en-US" altLang="zh-CN" sz="2500" b="1" baseline="-25000" dirty="0">
                <a:ea typeface="楷体_GB2312"/>
                <a:sym typeface="Monotype Sorts" pitchFamily="2" charset="2"/>
              </a:rPr>
              <a:t>4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.</a:t>
            </a:r>
          </a:p>
        </p:txBody>
      </p:sp>
      <p:sp>
        <p:nvSpPr>
          <p:cNvPr id="6148" name="Rectangle 6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</a:rPr>
              <a:t>5.3.1</a:t>
            </a:r>
            <a:r>
              <a:rPr lang="zh-CN" altLang="en-US" strike="noStrike" noProof="1">
                <a:solidFill>
                  <a:srgbClr val="FF0000"/>
                </a:solidFill>
                <a:uFillTx/>
              </a:rPr>
              <a:t>对反应的要求及滴定的前处理</a:t>
            </a:r>
          </a:p>
        </p:txBody>
      </p:sp>
      <p:sp>
        <p:nvSpPr>
          <p:cNvPr id="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8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8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28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28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28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28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8682" grpId="0" bldLvl="0" animBg="1"/>
      <p:bldP spid="2868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906463" y="958850"/>
            <a:ext cx="471963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1.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滴定曲线</a:t>
            </a:r>
            <a:endParaRPr kumimoji="0" lang="zh-CN" altLang="en-US" sz="2500" b="1" strike="noStrike" kern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29704" name="Rectangle 8"/>
          <p:cNvSpPr/>
          <p:nvPr/>
        </p:nvSpPr>
        <p:spPr>
          <a:xfrm>
            <a:off x="906463" y="1473202"/>
            <a:ext cx="10414000" cy="480966"/>
          </a:xfrm>
          <a:prstGeom prst="rect">
            <a:avLst/>
          </a:prstGeom>
          <a:noFill/>
          <a:ln w="88900">
            <a:noFill/>
          </a:ln>
        </p:spPr>
        <p:txBody>
          <a:bodyPr wrap="square" lIns="162000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0.1000 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Ce(SO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溶液滴定同浓度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溶液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1 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中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).</a:t>
            </a:r>
          </a:p>
        </p:txBody>
      </p:sp>
      <p:sp>
        <p:nvSpPr>
          <p:cNvPr id="29705" name="Rectangle 9"/>
          <p:cNvSpPr/>
          <p:nvPr/>
        </p:nvSpPr>
        <p:spPr>
          <a:xfrm>
            <a:off x="923818" y="3306891"/>
            <a:ext cx="10039350" cy="2400657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的可逆氧化还原反应称为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对称可逆氧化还原反应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查得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(Ce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4+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/Ce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)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 1.45V;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(Fe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/Fe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)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 0.68.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滴定曲线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的获得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逐点计算法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;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滴定曲线</a:t>
            </a:r>
            <a:r>
              <a:rPr lang="zh-CN" altLang="en-US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方程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.</a:t>
            </a:r>
            <a:endParaRPr lang="zh-CN" altLang="en-US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  <a:sym typeface="Webdings" panose="05030102010509060703" pitchFamily="18" charset="2"/>
            </a:endParaRPr>
          </a:p>
        </p:txBody>
      </p:sp>
      <p:sp>
        <p:nvSpPr>
          <p:cNvPr id="29707" name="Rectangle 11"/>
          <p:cNvSpPr/>
          <p:nvPr/>
        </p:nvSpPr>
        <p:spPr>
          <a:xfrm>
            <a:off x="1316831" y="2333395"/>
            <a:ext cx="10025063" cy="474663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滴定反应为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    Ce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4+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Ce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3+</a:t>
            </a:r>
          </a:p>
        </p:txBody>
      </p:sp>
      <p:sp>
        <p:nvSpPr>
          <p:cNvPr id="8201" name="Rectangle 31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氧化还原滴定曲线</a:t>
            </a:r>
          </a:p>
        </p:txBody>
      </p:sp>
      <p:sp>
        <p:nvSpPr>
          <p:cNvPr id="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10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1" y="1456058"/>
            <a:ext cx="1093960" cy="1327168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2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2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29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29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 bldLvl="0" animBg="1"/>
      <p:bldP spid="29704" grpId="0" build="p"/>
      <p:bldP spid="29705" grpId="0" uiExpand="1" build="p"/>
      <p:bldP spid="297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906463" y="1358900"/>
            <a:ext cx="6870798" cy="481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4+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/Ce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= E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/Fe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2+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 =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</a:p>
          <a:p>
            <a:pPr marL="0"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　　用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还原剂电对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计算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.</a:t>
            </a:r>
          </a:p>
          <a:p>
            <a:pPr marL="0"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 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600" b="1" strike="noStrike" kern="0" baseline="10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’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/Fe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2+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 +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0.0592lg{c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/c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2+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}</a:t>
            </a:r>
          </a:p>
          <a:p>
            <a:pPr marL="0"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(2)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化学计量点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kumimoji="0" lang="en-US" altLang="zh-CN" sz="2500" b="1" strike="noStrike" kern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-2500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sp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):</a:t>
            </a:r>
          </a:p>
          <a:p>
            <a:pPr marL="0"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4+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/Ce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/Fe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2+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 = </a:t>
            </a: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sp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;</a:t>
            </a:r>
          </a:p>
          <a:p>
            <a:pPr marL="0"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4+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 =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2+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); 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=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.</a:t>
            </a:r>
          </a:p>
          <a:p>
            <a:pPr lvl="0" rtl="0">
              <a:lnSpc>
                <a:spcPct val="120000"/>
              </a:lnSpc>
              <a:defRPr/>
            </a:pPr>
            <a:r>
              <a:rPr lang="en-US" altLang="zh-CN" sz="2800" b="1" i="1" kern="0" dirty="0" smtClean="0">
                <a:ea typeface="楷体_GB2312"/>
                <a:sym typeface="Symbol" panose="05050102010706020507" pitchFamily="18" charset="2"/>
              </a:rPr>
              <a:t>                  E</a:t>
            </a:r>
            <a:r>
              <a:rPr lang="en-US" altLang="zh-CN" sz="1600" b="1" kern="0" baseline="100000" dirty="0"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800" b="1" kern="0" dirty="0"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800" b="1" kern="0" baseline="-25000" dirty="0">
                <a:ea typeface="楷体_GB2312"/>
                <a:sym typeface="Webdings" panose="05030102010509060703" pitchFamily="18" charset="2"/>
              </a:rPr>
              <a:t>1</a:t>
            </a:r>
            <a:endParaRPr kumimoji="0" lang="en-US" altLang="zh-CN" sz="2500" b="1" i="1" strike="noStrike" kern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strike="noStrike" kern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sp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600" b="1" strike="noStrike" kern="0" baseline="10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’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4+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/Ce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0.0592lg{c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4+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/c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};</a:t>
            </a:r>
          </a:p>
          <a:p>
            <a:pPr lvl="0" rtl="0">
              <a:lnSpc>
                <a:spcPct val="120000"/>
              </a:lnSpc>
              <a:defRPr/>
            </a:pPr>
            <a:r>
              <a:rPr lang="en-US" altLang="zh-CN" sz="2800" b="1" i="1" kern="0" dirty="0" smtClean="0">
                <a:ea typeface="楷体_GB2312"/>
                <a:sym typeface="Symbol" panose="05050102010706020507" pitchFamily="18" charset="2"/>
              </a:rPr>
              <a:t>                  E</a:t>
            </a:r>
            <a:r>
              <a:rPr lang="en-US" altLang="zh-CN" sz="1600" b="1" kern="0" baseline="100000" dirty="0"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800" b="1" kern="0" dirty="0"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800" b="1" kern="0" baseline="-25000" dirty="0">
                <a:ea typeface="楷体_GB2312"/>
                <a:sym typeface="Webdings" panose="05030102010509060703" pitchFamily="18" charset="2"/>
              </a:rPr>
              <a:t>2</a:t>
            </a:r>
            <a:endParaRPr kumimoji="0" lang="en-US" altLang="zh-CN" sz="2500" b="1" i="1" strike="noStrike" kern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strike="noStrike" kern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sp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600" b="1" strike="noStrike" kern="0" baseline="10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’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/Fe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2+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 +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0.0592lg{c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/c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2+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};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906463" y="950913"/>
            <a:ext cx="3889206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(1)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滴定开始至化学计量点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</p:txBody>
      </p:sp>
      <p:sp>
        <p:nvSpPr>
          <p:cNvPr id="8201" name="Rectangle 31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氧化还原滴定曲线</a:t>
            </a:r>
          </a:p>
        </p:txBody>
      </p:sp>
      <p:sp>
        <p:nvSpPr>
          <p:cNvPr id="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右箭头 1"/>
          <p:cNvSpPr/>
          <p:nvPr/>
        </p:nvSpPr>
        <p:spPr>
          <a:xfrm>
            <a:off x="7446060" y="5237501"/>
            <a:ext cx="1008112" cy="36004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435179" y="508587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两式相加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6581" y="4644243"/>
            <a:ext cx="2088232" cy="4416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637993" y="5601610"/>
            <a:ext cx="2088232" cy="4416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85173" y="1097597"/>
            <a:ext cx="3972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ea typeface="楷体_GB2312"/>
              </a:rPr>
              <a:t>Ce</a:t>
            </a:r>
            <a:r>
              <a:rPr lang="en-US" altLang="zh-CN" sz="2800" b="1" baseline="30000" dirty="0">
                <a:ea typeface="楷体_GB2312"/>
              </a:rPr>
              <a:t>4+</a:t>
            </a:r>
            <a:r>
              <a:rPr lang="en-US" altLang="zh-CN" sz="2800" b="1" dirty="0">
                <a:ea typeface="楷体_GB2312"/>
              </a:rPr>
              <a:t> + Fe</a:t>
            </a:r>
            <a:r>
              <a:rPr lang="en-US" altLang="zh-CN" sz="2800" b="1" baseline="30000" dirty="0">
                <a:ea typeface="楷体_GB2312"/>
              </a:rPr>
              <a:t>2+</a:t>
            </a:r>
            <a:r>
              <a:rPr lang="en-US" altLang="zh-CN" sz="2800" b="1" dirty="0">
                <a:ea typeface="楷体_GB2312"/>
              </a:rPr>
              <a:t> = Ce</a:t>
            </a:r>
            <a:r>
              <a:rPr lang="en-US" altLang="zh-CN" sz="2800" b="1" baseline="30000" dirty="0">
                <a:ea typeface="楷体_GB2312"/>
              </a:rPr>
              <a:t>3+</a:t>
            </a:r>
            <a:r>
              <a:rPr lang="en-US" altLang="zh-CN" sz="2800" b="1" dirty="0">
                <a:ea typeface="楷体_GB2312"/>
              </a:rPr>
              <a:t> + Fe</a:t>
            </a:r>
            <a:r>
              <a:rPr lang="en-US" altLang="zh-CN" sz="2800" b="1" baseline="30000" dirty="0">
                <a:ea typeface="楷体_GB2312"/>
              </a:rPr>
              <a:t>3+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07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07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307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307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307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307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307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307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307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2" dur="500"/>
                                        <p:tgtEl>
                                          <p:spTgt spid="307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 build="p"/>
      <p:bldP spid="30731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4" name="Rectangle 10"/>
          <p:cNvSpPr/>
          <p:nvPr/>
        </p:nvSpPr>
        <p:spPr>
          <a:xfrm>
            <a:off x="1872605" y="2612881"/>
            <a:ext cx="1329690" cy="47561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sp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31755" name="Line 11"/>
          <p:cNvSpPr/>
          <p:nvPr/>
        </p:nvSpPr>
        <p:spPr>
          <a:xfrm>
            <a:off x="2618413" y="2823701"/>
            <a:ext cx="25876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56" name="Rectangle 12"/>
          <p:cNvSpPr/>
          <p:nvPr/>
        </p:nvSpPr>
        <p:spPr>
          <a:xfrm>
            <a:off x="2618413" y="2347451"/>
            <a:ext cx="223490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1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1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+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n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2</a:t>
            </a:r>
            <a:r>
              <a:rPr lang="en-US" altLang="zh-CN" sz="2500" b="1" i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 smtClean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2</a:t>
            </a:r>
            <a:endParaRPr lang="en-US" altLang="zh-CN" sz="2500" b="1" baseline="-25000" dirty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31757" name="Rectangle 13"/>
          <p:cNvSpPr/>
          <p:nvPr/>
        </p:nvSpPr>
        <p:spPr>
          <a:xfrm>
            <a:off x="3077200" y="2822114"/>
            <a:ext cx="109837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1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 + 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2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Webdings" panose="05030102010509060703" pitchFamily="18" charset="2"/>
            </a:endParaRPr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714375" y="3132889"/>
            <a:ext cx="10231438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(3)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化学计量点后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　　用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氧化剂电对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计算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2500" b="1" i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600" b="1" u="none" strike="noStrike" kern="0" baseline="10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’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4+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/Ce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+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0.0592lg{c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4+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/c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(Ce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3+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)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} 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(4)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电势突跃范围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　　被滴物质剩余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0.1%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时至滴定剂过量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0.1%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时相应的系统电势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endParaRPr kumimoji="0" lang="zh-CN" altLang="en-US" sz="2500" b="1" u="none" strike="noStrike" kern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31761" name="Rectangle 17"/>
          <p:cNvSpPr/>
          <p:nvPr/>
        </p:nvSpPr>
        <p:spPr>
          <a:xfrm>
            <a:off x="576263" y="1768996"/>
            <a:ext cx="319189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化学计量点的计算式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8201" name="Rectangle 31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氧化还原滴定曲线</a:t>
            </a:r>
          </a:p>
        </p:txBody>
      </p:sp>
      <p:sp>
        <p:nvSpPr>
          <p:cNvPr id="1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10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10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0"/>
          <p:cNvSpPr/>
          <p:nvPr/>
        </p:nvSpPr>
        <p:spPr>
          <a:xfrm>
            <a:off x="1872605" y="1057245"/>
            <a:ext cx="1329690" cy="47561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sp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13" name="Line 11"/>
          <p:cNvSpPr/>
          <p:nvPr/>
        </p:nvSpPr>
        <p:spPr>
          <a:xfrm flipV="1">
            <a:off x="2618414" y="1266478"/>
            <a:ext cx="1628972" cy="15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Rectangle 12"/>
          <p:cNvSpPr/>
          <p:nvPr/>
        </p:nvSpPr>
        <p:spPr>
          <a:xfrm>
            <a:off x="2618413" y="791815"/>
            <a:ext cx="1628972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i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1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+ </a:t>
            </a:r>
            <a:r>
              <a:rPr lang="en-US" altLang="zh-CN" sz="2500" b="1" i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 smtClean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baseline="-25000" dirty="0" smtClean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2</a:t>
            </a:r>
            <a:endParaRPr lang="en-US" altLang="zh-CN" sz="2500" b="1" baseline="-25000" dirty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15" name="Rectangle 13"/>
          <p:cNvSpPr/>
          <p:nvPr/>
        </p:nvSpPr>
        <p:spPr>
          <a:xfrm>
            <a:off x="3077200" y="1266478"/>
            <a:ext cx="34496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ea typeface="楷体_GB2312"/>
                <a:sym typeface="Webdings" panose="05030102010509060703" pitchFamily="18" charset="2"/>
              </a:rPr>
              <a:t>2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Webdings" panose="05030102010509060703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26761" y="963625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kern="0" dirty="0">
                <a:ea typeface="楷体_GB2312"/>
                <a:sym typeface="Symbol" panose="05050102010706020507" pitchFamily="18" charset="2"/>
              </a:rPr>
              <a:t>(1.44 + 0.68)/2 = 1.06V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206411" y="976883"/>
            <a:ext cx="5212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0" dirty="0">
                <a:ea typeface="楷体_GB2312"/>
                <a:sym typeface="Symbol" panose="05050102010706020507" pitchFamily="18" charset="2"/>
              </a:rPr>
              <a:t>= </a:t>
            </a:r>
            <a:endParaRPr lang="zh-CN" altLang="en-US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120" y="1868710"/>
            <a:ext cx="1758776" cy="168665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4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9" dur="500"/>
                                        <p:tgtEl>
                                          <p:spTgt spid="317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31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9" dur="500"/>
                                        <p:tgtEl>
                                          <p:spTgt spid="31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4" dur="500"/>
                                        <p:tgtEl>
                                          <p:spTgt spid="31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9" dur="500"/>
                                        <p:tgtEl>
                                          <p:spTgt spid="31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4" dur="500"/>
                                        <p:tgtEl>
                                          <p:spTgt spid="31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4" grpId="0"/>
      <p:bldP spid="31756" grpId="0"/>
      <p:bldP spid="31757" grpId="0"/>
      <p:bldP spid="31758" grpId="0" build="p"/>
      <p:bldP spid="31761" grpId="0"/>
      <p:bldP spid="12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6" name="Rectangle 8"/>
          <p:cNvSpPr/>
          <p:nvPr/>
        </p:nvSpPr>
        <p:spPr>
          <a:xfrm>
            <a:off x="833025" y="2339486"/>
            <a:ext cx="5455467" cy="159067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 0.68 + 0.059lg(99.9/0.1) = 0.86V;</a:t>
            </a:r>
          </a:p>
          <a:p>
            <a:pPr>
              <a:lnSpc>
                <a:spcPct val="13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当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4+</a:t>
            </a: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过量0.1%时:</a:t>
            </a:r>
          </a:p>
          <a:p>
            <a:pPr>
              <a:lnSpc>
                <a:spcPct val="13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1.44 + 0.059lg(0.1/100) = 1.26V.</a:t>
            </a:r>
          </a:p>
        </p:txBody>
      </p:sp>
      <p:sp>
        <p:nvSpPr>
          <p:cNvPr id="32779" name="Rectangle 11"/>
          <p:cNvSpPr/>
          <p:nvPr/>
        </p:nvSpPr>
        <p:spPr>
          <a:xfrm>
            <a:off x="145933" y="4702566"/>
            <a:ext cx="10231437" cy="1092607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一般借指示剂目测终点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要求有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0.2V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以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上突跃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　　滴定介质不同常会改变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1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从而改变曲线形状及突跃大小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       </a:t>
            </a:r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2780" name="Rectangle 12"/>
          <p:cNvSpPr/>
          <p:nvPr/>
        </p:nvSpPr>
        <p:spPr>
          <a:xfrm>
            <a:off x="648469" y="4156263"/>
            <a:ext cx="6086923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　　</a:t>
            </a:r>
            <a:r>
              <a:rPr lang="zh-CN" altLang="en-US" sz="25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突跃的大小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与两电对之</a:t>
            </a:r>
            <a:r>
              <a:rPr lang="zh-CN" altLang="en-US" sz="25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</a:t>
            </a:r>
            <a:r>
              <a:rPr lang="en-US" altLang="zh-CN" sz="2500" b="1" i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zh-CN" altLang="en-US" sz="2500" b="1" u="sng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大小有关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2782" name="Rectangle 14"/>
          <p:cNvSpPr/>
          <p:nvPr/>
        </p:nvSpPr>
        <p:spPr>
          <a:xfrm>
            <a:off x="809626" y="1858520"/>
            <a:ext cx="3510898" cy="48096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当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剩余0.1%时:</a:t>
            </a:r>
          </a:p>
        </p:txBody>
      </p:sp>
      <p:sp>
        <p:nvSpPr>
          <p:cNvPr id="8201" name="Rectangle 31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氧化还原滴定曲线</a:t>
            </a:r>
          </a:p>
        </p:txBody>
      </p:sp>
      <p:sp>
        <p:nvSpPr>
          <p:cNvPr id="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76263" y="888320"/>
            <a:ext cx="9188183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rtl="0">
              <a:lnSpc>
                <a:spcPct val="110000"/>
              </a:lnSpc>
              <a:defRPr/>
            </a:pPr>
            <a:r>
              <a:rPr lang="en-US" altLang="zh-CN" sz="2400" b="1" kern="0" dirty="0">
                <a:solidFill>
                  <a:srgbClr val="0000FF"/>
                </a:solidFill>
                <a:ea typeface="楷体_GB2312"/>
              </a:rPr>
              <a:t>(4)</a:t>
            </a:r>
            <a:r>
              <a:rPr lang="zh-CN" altLang="en-US" sz="2400" b="1" kern="0" dirty="0">
                <a:solidFill>
                  <a:srgbClr val="0000FF"/>
                </a:solidFill>
                <a:ea typeface="楷体_GB2312"/>
              </a:rPr>
              <a:t>电势突跃范围</a:t>
            </a:r>
            <a:r>
              <a:rPr lang="en-US" altLang="zh-CN" sz="2400" b="1" kern="0" dirty="0">
                <a:solidFill>
                  <a:srgbClr val="0000FF"/>
                </a:solidFill>
                <a:ea typeface="楷体_GB2312"/>
              </a:rPr>
              <a:t>:</a:t>
            </a:r>
          </a:p>
          <a:p>
            <a:pPr lvl="0" rtl="0">
              <a:lnSpc>
                <a:spcPct val="110000"/>
              </a:lnSpc>
              <a:defRPr/>
            </a:pPr>
            <a:r>
              <a:rPr lang="zh-CN" altLang="en-US" b="1" kern="0" dirty="0">
                <a:ea typeface="楷体_GB2312"/>
              </a:rPr>
              <a:t>　　</a:t>
            </a:r>
            <a:r>
              <a:rPr lang="zh-CN" altLang="en-US" sz="2400" b="1" kern="0" dirty="0">
                <a:ea typeface="楷体_GB2312"/>
              </a:rPr>
              <a:t>被滴物质剩余</a:t>
            </a:r>
            <a:r>
              <a:rPr lang="en-US" altLang="zh-CN" sz="2400" b="1" kern="0" dirty="0">
                <a:ea typeface="楷体_GB2312"/>
              </a:rPr>
              <a:t>0.1%</a:t>
            </a:r>
            <a:r>
              <a:rPr lang="zh-CN" altLang="en-US" sz="2400" b="1" kern="0" dirty="0">
                <a:ea typeface="楷体_GB2312"/>
              </a:rPr>
              <a:t>时至滴定剂过量</a:t>
            </a:r>
            <a:r>
              <a:rPr lang="en-US" altLang="zh-CN" sz="2400" b="1" kern="0" dirty="0">
                <a:ea typeface="楷体_GB2312"/>
              </a:rPr>
              <a:t>0.1%</a:t>
            </a:r>
            <a:r>
              <a:rPr lang="zh-CN" altLang="en-US" sz="2400" b="1" kern="0" dirty="0">
                <a:ea typeface="楷体_GB2312"/>
              </a:rPr>
              <a:t>时相应的系统电势</a:t>
            </a:r>
            <a:r>
              <a:rPr lang="en-US" altLang="zh-CN" sz="2400" b="1" kern="0" dirty="0">
                <a:ea typeface="楷体_GB2312"/>
              </a:rPr>
              <a:t>.</a:t>
            </a:r>
            <a:endParaRPr lang="zh-CN" altLang="en-US" sz="2400" b="1" kern="0" dirty="0"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27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27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75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32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32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 build="p"/>
      <p:bldP spid="32779" grpId="0" build="p"/>
      <p:bldP spid="32780" grpId="0"/>
      <p:bldP spid="327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20" name="Picture 4" descr="氧还滴定曲线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1313" y="1008063"/>
            <a:ext cx="6188075" cy="4591050"/>
          </a:xfrm>
          <a:prstGeom prst="rect">
            <a:avLst/>
          </a:prstGeom>
          <a:noFill/>
          <a:ln w="254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0421" name="Rectangle 5"/>
          <p:cNvSpPr/>
          <p:nvPr/>
        </p:nvSpPr>
        <p:spPr>
          <a:xfrm>
            <a:off x="3263900" y="1057275"/>
            <a:ext cx="6029215" cy="4770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KMnO</a:t>
            </a:r>
            <a:r>
              <a:rPr lang="en-US" altLang="zh-CN" sz="2500" b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4</a:t>
            </a:r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在不同介质中滴定</a:t>
            </a:r>
            <a:r>
              <a:rPr lang="en-US" altLang="zh-CN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Fe</a:t>
            </a:r>
            <a:r>
              <a:rPr lang="en-US" altLang="zh-CN" sz="2500" b="1" baseline="30000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2+</a:t>
            </a:r>
            <a:r>
              <a:rPr lang="zh-CN" altLang="en-US" sz="2500" b="1" dirty="0">
                <a:solidFill>
                  <a:schemeClr val="bg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的滴定曲线</a:t>
            </a:r>
          </a:p>
        </p:txBody>
      </p:sp>
      <p:sp>
        <p:nvSpPr>
          <p:cNvPr id="60422" name="Rectangle 6"/>
          <p:cNvSpPr/>
          <p:nvPr/>
        </p:nvSpPr>
        <p:spPr>
          <a:xfrm>
            <a:off x="1744663" y="4895850"/>
            <a:ext cx="3924472" cy="4770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电势受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Fe(Ⅲ)/Fe(Ⅱ)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所控制</a:t>
            </a:r>
          </a:p>
        </p:txBody>
      </p:sp>
      <p:sp>
        <p:nvSpPr>
          <p:cNvPr id="60423" name="Rectangle 7"/>
          <p:cNvSpPr/>
          <p:nvPr/>
        </p:nvSpPr>
        <p:spPr>
          <a:xfrm>
            <a:off x="6432550" y="2376488"/>
            <a:ext cx="4705350" cy="8604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电势受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/Mn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2+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所</a:t>
            </a: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控制</a:t>
            </a:r>
            <a:endParaRPr lang="en-US" altLang="zh-CN" sz="2500" b="1" dirty="0" smtClean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  <a:p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{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实为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Mn(Ⅲ)/Mn(Ⅱ)}</a:t>
            </a:r>
          </a:p>
        </p:txBody>
      </p:sp>
      <p:sp>
        <p:nvSpPr>
          <p:cNvPr id="8201" name="Rectangle 31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氧化还原滴定曲线</a:t>
            </a:r>
          </a:p>
        </p:txBody>
      </p:sp>
      <p:sp>
        <p:nvSpPr>
          <p:cNvPr id="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60362" y="2887523"/>
            <a:ext cx="2592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ea typeface="楷体_GB2312"/>
              </a:rPr>
              <a:t>能斯特方程</a:t>
            </a:r>
            <a:endParaRPr lang="zh-CN" altLang="en-US" sz="3200" b="1" dirty="0">
              <a:solidFill>
                <a:srgbClr val="FF0000"/>
              </a:solidFill>
              <a:ea typeface="楷体_GB231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16" y="854193"/>
            <a:ext cx="1573213" cy="1811351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/>
      <p:bldP spid="60422" grpId="0"/>
      <p:bldP spid="604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9" name="Rectangle 11"/>
          <p:cNvSpPr/>
          <p:nvPr/>
        </p:nvSpPr>
        <p:spPr>
          <a:xfrm>
            <a:off x="906463" y="1460500"/>
            <a:ext cx="10299700" cy="4285789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(1)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自身指示剂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　有些滴定剂或被测组分本身有色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而产物无色或颜色很浅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可利用反应自身颜色改变确定终点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这种在滴定中起指示作用的物质称为自身指示剂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zh-CN" altLang="en-US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高锰酸钾法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中的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KMnO</a:t>
            </a:r>
            <a:r>
              <a:rPr lang="en-US" altLang="zh-CN" sz="25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4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自身指示剂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  <a:p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(2)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特殊指示剂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又称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专属指示剂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或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显色指示剂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本身不具氧化还原性质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但能与氧化型物质或还原型物质产生特殊颜色的物质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solidFill>
                  <a:srgbClr val="0000FF"/>
                </a:solidFill>
                <a:ea typeface="楷体_GB2312"/>
              </a:rPr>
              <a:t>碘量法中的淀粉指示剂</a:t>
            </a:r>
          </a:p>
        </p:txBody>
      </p:sp>
      <p:sp>
        <p:nvSpPr>
          <p:cNvPr id="22542" name="Rectangle 14"/>
          <p:cNvSpPr/>
          <p:nvPr/>
        </p:nvSpPr>
        <p:spPr>
          <a:xfrm>
            <a:off x="906463" y="946150"/>
            <a:ext cx="2036135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2.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指示剂</a:t>
            </a:r>
            <a:r>
              <a:rPr lang="zh-CN" altLang="en-US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分类</a:t>
            </a:r>
            <a:endParaRPr lang="zh-CN" altLang="en-US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201" name="Rectangle 31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氧化还原滴定曲线</a:t>
            </a:r>
          </a:p>
        </p:txBody>
      </p:sp>
      <p:sp>
        <p:nvSpPr>
          <p:cNvPr id="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2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2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22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22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22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22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9" grpId="0" build="p"/>
      <p:bldP spid="225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Rectangle 7"/>
          <p:cNvSpPr/>
          <p:nvPr/>
        </p:nvSpPr>
        <p:spPr>
          <a:xfrm>
            <a:off x="906463" y="1358900"/>
            <a:ext cx="10328275" cy="9366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　　氧化还原性质的有机化合物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氧化态与还原态的颜色不同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                      In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Ox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ne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 In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Red</a:t>
            </a:r>
          </a:p>
        </p:txBody>
      </p:sp>
      <p:sp>
        <p:nvSpPr>
          <p:cNvPr id="33800" name="Rectangle 8"/>
          <p:cNvSpPr/>
          <p:nvPr/>
        </p:nvSpPr>
        <p:spPr>
          <a:xfrm>
            <a:off x="906463" y="985838"/>
            <a:ext cx="10136187" cy="480966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(3)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氧化还原指示剂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33811" name="Rectangle 19"/>
          <p:cNvSpPr/>
          <p:nvPr/>
        </p:nvSpPr>
        <p:spPr>
          <a:xfrm>
            <a:off x="3201542" y="2309365"/>
            <a:ext cx="1151277" cy="477054"/>
          </a:xfrm>
          <a:prstGeom prst="rect">
            <a:avLst/>
          </a:prstGeom>
          <a:solidFill>
            <a:srgbClr val="FFFFD1"/>
          </a:solidFill>
          <a:ln w="12700" cap="flat" cmpd="sng">
            <a:solidFill>
              <a:srgbClr val="C0C0C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/>
              </a:rPr>
              <a:t>红紫色</a:t>
            </a:r>
          </a:p>
        </p:txBody>
      </p:sp>
      <p:sp>
        <p:nvSpPr>
          <p:cNvPr id="33812" name="Rectangle 20"/>
          <p:cNvSpPr/>
          <p:nvPr/>
        </p:nvSpPr>
        <p:spPr>
          <a:xfrm>
            <a:off x="5334497" y="2379836"/>
            <a:ext cx="829073" cy="47705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0C0C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无色</a:t>
            </a:r>
          </a:p>
        </p:txBody>
      </p:sp>
      <p:sp>
        <p:nvSpPr>
          <p:cNvPr id="33813" name="Rectangle 21"/>
          <p:cNvSpPr/>
          <p:nvPr/>
        </p:nvSpPr>
        <p:spPr>
          <a:xfrm>
            <a:off x="654050" y="2295525"/>
            <a:ext cx="2547492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二苯胺磺酸钠</a:t>
            </a:r>
          </a:p>
        </p:txBody>
      </p:sp>
      <p:sp>
        <p:nvSpPr>
          <p:cNvPr id="33814" name="Rectangle 22"/>
          <p:cNvSpPr/>
          <p:nvPr/>
        </p:nvSpPr>
        <p:spPr>
          <a:xfrm>
            <a:off x="1044575" y="3147371"/>
            <a:ext cx="9859962" cy="480966"/>
          </a:xfrm>
          <a:prstGeom prst="rect">
            <a:avLst/>
          </a:prstGeom>
          <a:noFill/>
          <a:ln w="88900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变色</a:t>
            </a:r>
            <a:r>
              <a:rPr lang="zh-CN" altLang="en-US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域（变色范围）</a:t>
            </a:r>
            <a:r>
              <a:rPr lang="en-US" altLang="zh-CN" sz="2500" b="1" dirty="0" smtClean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solidFill>
                <a:srgbClr val="FF33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3815" name="Rectangle 23"/>
          <p:cNvSpPr/>
          <p:nvPr/>
        </p:nvSpPr>
        <p:spPr>
          <a:xfrm>
            <a:off x="4066252" y="3133531"/>
            <a:ext cx="3482043" cy="477054"/>
          </a:xfrm>
          <a:prstGeom prst="rect">
            <a:avLst/>
          </a:prstGeom>
          <a:noFill/>
          <a:ln w="88900">
            <a:noFill/>
          </a:ln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In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8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’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In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± 0.059/n(V)</a:t>
            </a:r>
          </a:p>
        </p:txBody>
      </p:sp>
      <p:sp>
        <p:nvSpPr>
          <p:cNvPr id="33816" name="Rectangle 24"/>
          <p:cNvSpPr>
            <a:spLocks noChangeArrowheads="1"/>
          </p:cNvSpPr>
          <p:nvPr/>
        </p:nvSpPr>
        <p:spPr bwMode="auto">
          <a:xfrm>
            <a:off x="563070" y="3901440"/>
            <a:ext cx="9239521" cy="197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选择原则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  <a:endParaRPr kumimoji="0" lang="en-US" altLang="zh-CN" sz="2500" b="1" strike="noStrike" kern="0" baseline="0" noProof="0" dirty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　　</a:t>
            </a:r>
            <a:r>
              <a:rPr kumimoji="0" lang="en-US" altLang="zh-CN" sz="2500" b="1" i="1" strike="noStrike" kern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600" b="1" strike="noStrike" kern="0" baseline="10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strike="noStrike" kern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’</a:t>
            </a:r>
            <a:r>
              <a:rPr kumimoji="0" lang="en-US" altLang="zh-CN" sz="2500" b="1" strike="noStrike" kern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In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尽可能接近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sp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或在电势突跃范围内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.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Ce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4+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滴定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Fe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2+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,</a:t>
            </a:r>
            <a:r>
              <a:rPr kumimoji="0" lang="en-US" altLang="zh-CN" sz="2500" b="1" i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500" b="1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sp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= 1.06V;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电势突跃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:0.86~1.26V.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一般选邻二氮杂菲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zh-CN" altLang="en-US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亚铁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,</a:t>
            </a:r>
            <a:r>
              <a:rPr kumimoji="0" lang="en-US" altLang="zh-CN" sz="2500" b="1" i="1" strike="noStrike" kern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600" b="1" strike="noStrike" kern="0" baseline="10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strike="noStrike" kern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’</a:t>
            </a:r>
            <a:r>
              <a:rPr kumimoji="0" lang="en-US" altLang="zh-CN" sz="2500" b="1" strike="noStrike" kern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In</a:t>
            </a:r>
            <a:r>
              <a:rPr kumimoji="0" lang="en-US" altLang="zh-CN" sz="2500" b="1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= 1.06V</a:t>
            </a:r>
          </a:p>
        </p:txBody>
      </p:sp>
      <p:sp>
        <p:nvSpPr>
          <p:cNvPr id="8201" name="Rectangle 31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5.3.2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氧化还原滴定曲线</a:t>
            </a:r>
          </a:p>
        </p:txBody>
      </p:sp>
      <p:sp>
        <p:nvSpPr>
          <p:cNvPr id="1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33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338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33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33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2" dur="500"/>
                                        <p:tgtEl>
                                          <p:spTgt spid="338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build="p"/>
      <p:bldP spid="33800" grpId="0"/>
      <p:bldP spid="33811" grpId="0" bldLvl="0" animBg="1"/>
      <p:bldP spid="33812" grpId="0" bldLvl="0" animBg="1"/>
      <p:bldP spid="33813" grpId="0"/>
      <p:bldP spid="33814" grpId="0" build="p"/>
      <p:bldP spid="33815" grpId="0"/>
      <p:bldP spid="3381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Rectangle 7"/>
          <p:cNvSpPr/>
          <p:nvPr/>
        </p:nvSpPr>
        <p:spPr>
          <a:xfrm>
            <a:off x="906463" y="993775"/>
            <a:ext cx="2036135" cy="477054"/>
          </a:xfrm>
          <a:prstGeom prst="rect">
            <a:avLst/>
          </a:prstGeom>
          <a:noFill/>
          <a:ln w="88900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1.</a:t>
            </a:r>
            <a:r>
              <a:rPr lang="zh-CN" alt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高锰酸钾法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906463" y="1450975"/>
            <a:ext cx="10328275" cy="389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rgbClr val="00844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(1)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方法原理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　　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KMnO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为滴定剂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强酸性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溶液中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MnO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 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+ 8H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+ 5e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= Mn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2+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+ 4H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O, </a:t>
            </a:r>
            <a:r>
              <a:rPr kumimoji="0" lang="en-US" altLang="zh-CN" sz="2500" b="1" i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u="none" strike="noStrike" kern="0" baseline="10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= 1.507V;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中性、碱性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溶液中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MnO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 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+ 2H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 + 3e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= MnO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+ 4OH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,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kumimoji="0" lang="en-US" altLang="zh-CN" sz="2500" b="1" i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u="none" strike="noStrike" kern="0" baseline="10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= 0.595V;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强碱性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溶液中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MnO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 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e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= MnO</a:t>
            </a:r>
            <a:r>
              <a:rPr kumimoji="0" lang="en-US" altLang="zh-CN" sz="2500" b="1" u="none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2- 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,</a:t>
            </a:r>
            <a:r>
              <a:rPr kumimoji="0" lang="en-US" altLang="zh-CN" sz="2500" b="1" u="none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i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u="none" strike="noStrike" kern="0" baseline="10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Webdings" panose="05030102010509060703" pitchFamily="18" charset="2"/>
              </a:rPr>
              <a:t>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= 0.595V.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　　一般在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强酸性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溶液中进行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,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采用</a:t>
            </a:r>
            <a:r>
              <a:rPr kumimoji="0" lang="zh-CN" altLang="en-US" sz="2500" b="1" u="none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自身指示剂</a:t>
            </a:r>
            <a:r>
              <a:rPr kumimoji="0" lang="en-US" altLang="zh-CN" sz="2500" b="1" u="none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.</a:t>
            </a:r>
            <a:endParaRPr kumimoji="0" lang="zh-CN" altLang="en-US" sz="2500" b="1" u="none" strike="noStrike" kern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10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66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6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26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266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266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266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266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266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266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266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/>
      <p:bldP spid="2663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Rectangle 8"/>
          <p:cNvSpPr/>
          <p:nvPr/>
        </p:nvSpPr>
        <p:spPr>
          <a:xfrm>
            <a:off x="906463" y="993775"/>
            <a:ext cx="9698037" cy="474663"/>
          </a:xfrm>
          <a:prstGeom prst="rect">
            <a:avLst/>
          </a:prstGeom>
          <a:noFill/>
          <a:ln w="88900">
            <a:noFill/>
          </a:ln>
        </p:spPr>
        <p:txBody>
          <a:bodyPr anchor="ctr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一般草酸钠为基准物标定高锰酸钾浓度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8921" name="Rectangle 9"/>
          <p:cNvSpPr/>
          <p:nvPr/>
        </p:nvSpPr>
        <p:spPr>
          <a:xfrm>
            <a:off x="906463" y="1468755"/>
            <a:ext cx="10328275" cy="390048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(2)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滴定方式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  <a:sym typeface="Monotype Sorts" pitchFamily="2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直接法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一些还原性物质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等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返滴法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一些氧化性物质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PbO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等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待测物质中加入一定量过量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Na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使之作用完全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剩余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以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KMnO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标准溶液滴定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③</a:t>
            </a:r>
            <a:r>
              <a:rPr lang="zh-CN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间接滴定法: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zh-CN" sz="2500" b="1" dirty="0">
                <a:latin typeface="Times New Roman" panose="02020603050405020304" pitchFamily="18" charset="0"/>
                <a:ea typeface="楷体_GB2312"/>
              </a:rPr>
              <a:t>某些非氧化还原性的物质,如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Ba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,Ca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等</a:t>
            </a: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8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8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8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389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389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389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389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389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/>
      <p:bldP spid="3892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2" name="Text Box 6"/>
          <p:cNvSpPr txBox="1"/>
          <p:nvPr/>
        </p:nvSpPr>
        <p:spPr>
          <a:xfrm>
            <a:off x="906463" y="1020763"/>
            <a:ext cx="585628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Ca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测定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39943" name="Rectangle 7"/>
          <p:cNvSpPr/>
          <p:nvPr/>
        </p:nvSpPr>
        <p:spPr>
          <a:xfrm>
            <a:off x="906463" y="1428750"/>
            <a:ext cx="80502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Ca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</a:p>
        </p:txBody>
      </p:sp>
      <p:sp>
        <p:nvSpPr>
          <p:cNvPr id="39944" name="Line 8"/>
          <p:cNvSpPr/>
          <p:nvPr/>
        </p:nvSpPr>
        <p:spPr>
          <a:xfrm>
            <a:off x="1698625" y="1666875"/>
            <a:ext cx="4810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39945" name="Rectangle 9"/>
          <p:cNvSpPr/>
          <p:nvPr/>
        </p:nvSpPr>
        <p:spPr>
          <a:xfrm>
            <a:off x="2179638" y="1428750"/>
            <a:ext cx="1271502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CaC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endParaRPr lang="en-US" altLang="zh-CN" sz="2500" b="1" baseline="30000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9946" name="Line 10"/>
          <p:cNvSpPr/>
          <p:nvPr/>
        </p:nvSpPr>
        <p:spPr>
          <a:xfrm>
            <a:off x="3433763" y="1735138"/>
            <a:ext cx="985837" cy="15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39947" name="Rectangle 11"/>
          <p:cNvSpPr/>
          <p:nvPr/>
        </p:nvSpPr>
        <p:spPr>
          <a:xfrm>
            <a:off x="3336925" y="1190625"/>
            <a:ext cx="1181100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过滤</a:t>
            </a:r>
          </a:p>
        </p:txBody>
      </p:sp>
      <p:sp>
        <p:nvSpPr>
          <p:cNvPr id="39948" name="Rectangle 12"/>
          <p:cNvSpPr/>
          <p:nvPr/>
        </p:nvSpPr>
        <p:spPr>
          <a:xfrm>
            <a:off x="3336925" y="1736725"/>
            <a:ext cx="1181100" cy="474663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洗涤</a:t>
            </a:r>
          </a:p>
        </p:txBody>
      </p:sp>
      <p:sp>
        <p:nvSpPr>
          <p:cNvPr id="39949" name="Line 13"/>
          <p:cNvSpPr/>
          <p:nvPr/>
        </p:nvSpPr>
        <p:spPr>
          <a:xfrm>
            <a:off x="4900613" y="1733550"/>
            <a:ext cx="14128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39950" name="Rectangle 14"/>
          <p:cNvSpPr/>
          <p:nvPr/>
        </p:nvSpPr>
        <p:spPr>
          <a:xfrm>
            <a:off x="4900613" y="1254125"/>
            <a:ext cx="1862137" cy="474663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稀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9951" name="Rectangle 15"/>
          <p:cNvSpPr/>
          <p:nvPr/>
        </p:nvSpPr>
        <p:spPr>
          <a:xfrm>
            <a:off x="6421438" y="1497013"/>
            <a:ext cx="123783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9952" name="Line 16"/>
          <p:cNvSpPr/>
          <p:nvPr/>
        </p:nvSpPr>
        <p:spPr>
          <a:xfrm>
            <a:off x="7637463" y="1733550"/>
            <a:ext cx="411162" cy="15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</p:spPr>
      </p:sp>
      <p:sp>
        <p:nvSpPr>
          <p:cNvPr id="39953" name="Rectangle 17"/>
          <p:cNvSpPr/>
          <p:nvPr/>
        </p:nvSpPr>
        <p:spPr>
          <a:xfrm>
            <a:off x="8047038" y="1497013"/>
            <a:ext cx="3286477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KMnO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标准溶液滴定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39955" name="Rectangle 19"/>
          <p:cNvSpPr/>
          <p:nvPr/>
        </p:nvSpPr>
        <p:spPr>
          <a:xfrm>
            <a:off x="617501" y="2311393"/>
            <a:ext cx="7242688" cy="263149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滴定反应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 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+ 5C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+ 16H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2Mn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+ 10CO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+ 8H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(3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滴定所需条件（</a:t>
            </a:r>
            <a:r>
              <a:rPr lang="zh-CN" altLang="en-US" sz="25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三度</a:t>
            </a:r>
            <a:r>
              <a:rPr lang="zh-CN" altLang="en-US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）</a:t>
            </a:r>
            <a:r>
              <a:rPr lang="en-US" altLang="zh-CN" sz="25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酸度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过高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滴定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分解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过低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生成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39956" name="Rectangle 20"/>
          <p:cNvSpPr>
            <a:spLocks noChangeArrowheads="1"/>
          </p:cNvSpPr>
          <p:nvPr/>
        </p:nvSpPr>
        <p:spPr bwMode="auto">
          <a:xfrm>
            <a:off x="1260443" y="4954599"/>
            <a:ext cx="2893741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一般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0.5 ~ 1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mol·L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-1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Symbol" panose="05050102010706020507" pitchFamily="18" charset="2"/>
              </a:rPr>
              <a:t>.</a:t>
            </a:r>
            <a:endParaRPr kumimoji="0" lang="en-US" altLang="zh-CN" sz="2500" b="1" i="0" strike="noStrike" kern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1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9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3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6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1" dur="500"/>
                                        <p:tgtEl>
                                          <p:spTgt spid="3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6" dur="500"/>
                                        <p:tgtEl>
                                          <p:spTgt spid="3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1" dur="500"/>
                                        <p:tgtEl>
                                          <p:spTgt spid="3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6" dur="500"/>
                                        <p:tgtEl>
                                          <p:spTgt spid="3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1" dur="500"/>
                                        <p:tgtEl>
                                          <p:spTgt spid="3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6" dur="500"/>
                                        <p:tgtEl>
                                          <p:spTgt spid="39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1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/>
      <p:bldP spid="39943" grpId="0"/>
      <p:bldP spid="39945" grpId="0"/>
      <p:bldP spid="39947" grpId="0"/>
      <p:bldP spid="39948" grpId="0"/>
      <p:bldP spid="39950" grpId="0"/>
      <p:bldP spid="39951" grpId="0"/>
      <p:bldP spid="39953" grpId="0"/>
      <p:bldP spid="39955" grpId="0" build="p"/>
      <p:bldP spid="3995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6" name="Text Box 6"/>
          <p:cNvSpPr txBox="1"/>
          <p:nvPr/>
        </p:nvSpPr>
        <p:spPr>
          <a:xfrm>
            <a:off x="906463" y="985838"/>
            <a:ext cx="5856287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温度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40968" name="Rectangle 8"/>
          <p:cNvSpPr/>
          <p:nvPr/>
        </p:nvSpPr>
        <p:spPr>
          <a:xfrm>
            <a:off x="906463" y="1358900"/>
            <a:ext cx="7188186" cy="3901068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     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T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&lt; 60℃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反应进行缓慢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      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T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&gt; 90℃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的滴定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分解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    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 CO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CO + 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一般控制在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75 ~ 85℃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滴定速度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滴定速度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慢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快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慢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的自动催化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若太快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:4MnO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+ 12H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→ 4Mn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+ 5O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+ 6H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   2MnO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+ 3Mn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+ 3H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 → 5MnO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↓+ 4H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+</a:t>
            </a: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09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09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40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409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409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409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409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409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/>
      <p:bldP spid="4096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906463" y="1020763"/>
            <a:ext cx="5856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 rtl="0">
              <a:buClrTx/>
              <a:buSzTx/>
              <a:buFontTx/>
              <a:defRPr/>
            </a:pPr>
            <a:r>
              <a:rPr kumimoji="0" lang="en-US" altLang="zh-CN" sz="2500" b="1" kern="0" baseline="0" noProof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(4)</a:t>
            </a:r>
            <a:r>
              <a:rPr kumimoji="0" lang="zh-CN" altLang="en-US" sz="2500" b="1" kern="0" baseline="0" noProof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标准溶液配制</a:t>
            </a:r>
            <a:r>
              <a:rPr kumimoji="0" lang="en-US" altLang="zh-CN" sz="2500" b="1" kern="0" baseline="0" noProof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  <a:endParaRPr kumimoji="0" lang="en-US" altLang="zh-CN" sz="2500" b="1" kern="0" baseline="0" noProof="0" smtClean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41998" name="Rectangle 14"/>
          <p:cNvSpPr/>
          <p:nvPr/>
        </p:nvSpPr>
        <p:spPr>
          <a:xfrm>
            <a:off x="3834607" y="2947053"/>
            <a:ext cx="3897312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2I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楷体_GB2312"/>
                <a:sym typeface="Webdings" panose="05030102010509060703" pitchFamily="18" charset="2"/>
              </a:rPr>
              <a:t>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0.5355V.</a:t>
            </a:r>
          </a:p>
        </p:txBody>
      </p:sp>
      <p:sp>
        <p:nvSpPr>
          <p:cNvPr id="42002" name="Rectangle 18"/>
          <p:cNvSpPr/>
          <p:nvPr/>
        </p:nvSpPr>
        <p:spPr>
          <a:xfrm>
            <a:off x="906463" y="1393825"/>
            <a:ext cx="2036135" cy="48096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(5)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主要特点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 </a:t>
            </a:r>
          </a:p>
        </p:txBody>
      </p:sp>
      <p:sp>
        <p:nvSpPr>
          <p:cNvPr id="42005" name="Rectangle 21"/>
          <p:cNvSpPr/>
          <p:nvPr/>
        </p:nvSpPr>
        <p:spPr>
          <a:xfrm>
            <a:off x="706218" y="2916534"/>
            <a:ext cx="2922595" cy="48096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(1)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方法分类与原理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42006" name="Rectangle 22"/>
          <p:cNvSpPr/>
          <p:nvPr/>
        </p:nvSpPr>
        <p:spPr>
          <a:xfrm>
            <a:off x="606031" y="2212319"/>
            <a:ext cx="3122971" cy="48096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3.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碘量法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(iodometry):</a:t>
            </a: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1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 bldLvl="0" animBg="1"/>
      <p:bldP spid="41998" grpId="0"/>
      <p:bldP spid="42002" grpId="0"/>
      <p:bldP spid="42005" grpId="0"/>
      <p:bldP spid="4200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906463" y="1358900"/>
            <a:ext cx="9944100" cy="359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　　利用碘的</a:t>
            </a:r>
            <a:r>
              <a:rPr kumimoji="0" lang="zh-CN" altLang="en-US" sz="2500" b="1" u="sng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氧化性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,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测一些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强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还原性物质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;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如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Sn(Ⅱ), Sb(Ⅲ), SO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2-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等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以淀粉作指示剂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②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间接碘量法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滴定碘法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):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　　利用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的</a:t>
            </a:r>
            <a:r>
              <a:rPr kumimoji="0" lang="zh-CN" altLang="en-US" sz="2500" b="1" i="0" u="sng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还原性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,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与氧化性物质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,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如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KIO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,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Cu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2+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等作用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,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定量释放出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IO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+ 5I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+ 6H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= 3I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+ 3H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所释出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再以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Na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标准溶液滴定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基本反应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  <a:endParaRPr kumimoji="0" lang="en-US" altLang="zh-CN" sz="2500" b="1" i="0" strike="noStrike" kern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43018" name="Rectangle 10"/>
          <p:cNvSpPr/>
          <p:nvPr/>
        </p:nvSpPr>
        <p:spPr>
          <a:xfrm>
            <a:off x="906463" y="950913"/>
            <a:ext cx="3727302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直接碘量法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碘滴定法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):</a:t>
            </a:r>
          </a:p>
        </p:txBody>
      </p:sp>
      <p:sp>
        <p:nvSpPr>
          <p:cNvPr id="43019" name="Rectangle 11"/>
          <p:cNvSpPr/>
          <p:nvPr/>
        </p:nvSpPr>
        <p:spPr>
          <a:xfrm>
            <a:off x="3175000" y="4487863"/>
            <a:ext cx="3978974" cy="86177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2I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- 2e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+ 2S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2I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+ S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6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43021" name="AutoShape 13"/>
          <p:cNvSpPr/>
          <p:nvPr/>
        </p:nvSpPr>
        <p:spPr>
          <a:xfrm>
            <a:off x="3079750" y="4630738"/>
            <a:ext cx="95250" cy="576262"/>
          </a:xfrm>
          <a:prstGeom prst="leftBrace">
            <a:avLst>
              <a:gd name="adj1" fmla="val 67194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44038" name="Text Box 6"/>
          <p:cNvSpPr txBox="1"/>
          <p:nvPr/>
        </p:nvSpPr>
        <p:spPr>
          <a:xfrm>
            <a:off x="7089775" y="4873625"/>
            <a:ext cx="5724525" cy="47625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淀粉为指示剂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不能加得过早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3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30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30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430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430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430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430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43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43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6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0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 build="p"/>
      <p:bldP spid="43018" grpId="0"/>
      <p:bldP spid="43019" grpId="0" build="p"/>
      <p:bldP spid="43021" grpId="0" bldLvl="0" animBg="1"/>
      <p:bldP spid="440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8" name="Rectangle 16"/>
          <p:cNvSpPr>
            <a:spLocks noChangeArrowheads="1"/>
          </p:cNvSpPr>
          <p:nvPr/>
        </p:nvSpPr>
        <p:spPr bwMode="auto">
          <a:xfrm>
            <a:off x="722314" y="847725"/>
            <a:ext cx="5895980" cy="592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(2)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间接碘量法的酸度条件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1074778" y="1382699"/>
            <a:ext cx="954404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中性、弱酸性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介质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endParaRPr kumimoji="0" lang="en-US" altLang="zh-CN" sz="2500" b="1" i="0" strike="noStrike" kern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  <a:sym typeface="Monotype Sorts" pitchFamily="2" charset="2"/>
            </a:endParaRP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        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酸度过高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: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2-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分解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; 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          S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2-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H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→ H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→ H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 + SO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S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                  I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易被氧化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         4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+ 4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H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= 2I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 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+ 2H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 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酸度过低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副反应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;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               S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2- 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+ 4I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+ 10OH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 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= 2SO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4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2-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+ 8I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+ 5H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</a:p>
          <a:p>
            <a:pPr marL="0" marR="0" lvl="0" indent="0" algn="l" defTabSz="9144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  <a:sym typeface="Monotype Sorts" pitchFamily="2" charset="2"/>
              </a:rPr>
              <a:t>                         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zh-CN" altLang="en-US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歧化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:3I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 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+ 6OH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  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= IO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3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+ 5I</a:t>
            </a:r>
            <a:r>
              <a:rPr kumimoji="0" lang="en-US" altLang="zh-CN" sz="2500" b="1" i="0" strike="noStrike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-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  + 3H</a:t>
            </a:r>
            <a:r>
              <a:rPr kumimoji="0" lang="en-US" altLang="zh-CN" sz="2500" b="1" i="0" strike="noStrike" kern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kumimoji="0" lang="en-US" altLang="zh-CN" sz="2500" b="1" i="0" strike="noStrike" kern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O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8" grpId="0"/>
      <p:bldP spid="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5" name="Rectangle 9"/>
          <p:cNvSpPr/>
          <p:nvPr/>
        </p:nvSpPr>
        <p:spPr>
          <a:xfrm>
            <a:off x="906463" y="1020763"/>
            <a:ext cx="5500224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(3)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方法的主要误差来源及采取的措施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楷体_GB2312"/>
              <a:sym typeface="Monotype Sorts" pitchFamily="2" charset="2"/>
            </a:endParaRPr>
          </a:p>
        </p:txBody>
      </p:sp>
      <p:sp>
        <p:nvSpPr>
          <p:cNvPr id="45067" name="Rectangle 11"/>
          <p:cNvSpPr/>
          <p:nvPr/>
        </p:nvSpPr>
        <p:spPr>
          <a:xfrm>
            <a:off x="906463" y="1604963"/>
            <a:ext cx="3222625" cy="476250"/>
          </a:xfrm>
          <a:prstGeom prst="rect">
            <a:avLst/>
          </a:prstGeom>
          <a:noFill/>
          <a:ln w="88900">
            <a:noFill/>
          </a:ln>
        </p:spPr>
        <p:txBody>
          <a:bodyPr anchor="ctr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主要误差来源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5068" name="Rectangle 12"/>
          <p:cNvSpPr/>
          <p:nvPr/>
        </p:nvSpPr>
        <p:spPr>
          <a:xfrm>
            <a:off x="3581400" y="1425575"/>
            <a:ext cx="2482850" cy="936625"/>
          </a:xfrm>
          <a:prstGeom prst="rect">
            <a:avLst/>
          </a:prstGeom>
          <a:noFill/>
          <a:ln w="88900">
            <a:noFill/>
          </a:ln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易挥发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易被氧化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45071" name="AutoShape 15"/>
          <p:cNvSpPr/>
          <p:nvPr/>
        </p:nvSpPr>
        <p:spPr>
          <a:xfrm>
            <a:off x="3389313" y="1604963"/>
            <a:ext cx="192087" cy="576262"/>
          </a:xfrm>
          <a:prstGeom prst="leftBrace">
            <a:avLst>
              <a:gd name="adj1" fmla="val 33319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5073" name="Rectangle 17"/>
          <p:cNvSpPr/>
          <p:nvPr/>
        </p:nvSpPr>
        <p:spPr>
          <a:xfrm>
            <a:off x="1346200" y="2716213"/>
            <a:ext cx="1813317" cy="477054"/>
          </a:xfrm>
          <a:prstGeom prst="rect">
            <a:avLst/>
          </a:prstGeom>
          <a:noFill/>
          <a:ln w="88900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防止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挥发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45074" name="Rectangle 18"/>
          <p:cNvSpPr/>
          <p:nvPr/>
        </p:nvSpPr>
        <p:spPr>
          <a:xfrm>
            <a:off x="3581400" y="2273300"/>
            <a:ext cx="6816725" cy="1360488"/>
          </a:xfrm>
          <a:prstGeom prst="rect">
            <a:avLst/>
          </a:prstGeom>
          <a:noFill/>
          <a:ln w="88900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过量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KI;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Monotype Sorts" pitchFamily="2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室温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摇动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45079" name="AutoShape 23"/>
          <p:cNvSpPr/>
          <p:nvPr/>
        </p:nvSpPr>
        <p:spPr>
          <a:xfrm>
            <a:off x="3400425" y="2447925"/>
            <a:ext cx="280988" cy="1042988"/>
          </a:xfrm>
          <a:prstGeom prst="leftBrace">
            <a:avLst>
              <a:gd name="adj1" fmla="val 41225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5081" name="Rectangle 25"/>
          <p:cNvSpPr/>
          <p:nvPr/>
        </p:nvSpPr>
        <p:spPr>
          <a:xfrm>
            <a:off x="1204913" y="4249738"/>
            <a:ext cx="2098651" cy="48096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防止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baseline="30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-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被氧化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45082" name="Rectangle 26"/>
          <p:cNvSpPr/>
          <p:nvPr/>
        </p:nvSpPr>
        <p:spPr>
          <a:xfrm>
            <a:off x="3581400" y="3614738"/>
            <a:ext cx="7200900" cy="1784350"/>
          </a:xfrm>
          <a:prstGeom prst="rect">
            <a:avLst/>
          </a:prstGeom>
          <a:noFill/>
          <a:ln w="88900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酸度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阳光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干扰离子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④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释出碘即滴定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滴速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500" b="1" dirty="0">
              <a:latin typeface="Times New Roman" panose="02020603050405020304" pitchFamily="18" charset="0"/>
              <a:ea typeface="楷体_GB2312"/>
              <a:sym typeface="Monotype Sorts" pitchFamily="2" charset="2"/>
            </a:endParaRPr>
          </a:p>
        </p:txBody>
      </p:sp>
      <p:sp>
        <p:nvSpPr>
          <p:cNvPr id="45083" name="AutoShape 27"/>
          <p:cNvSpPr/>
          <p:nvPr/>
        </p:nvSpPr>
        <p:spPr>
          <a:xfrm>
            <a:off x="3389313" y="3787775"/>
            <a:ext cx="192087" cy="1439863"/>
          </a:xfrm>
          <a:prstGeom prst="leftBrace">
            <a:avLst>
              <a:gd name="adj1" fmla="val 83252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1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75"/>
                                        <p:tgtEl>
                                          <p:spTgt spid="45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75"/>
                                        <p:tgtEl>
                                          <p:spTgt spid="45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12"/>
                            </p:stCondLst>
                            <p:childTnLst>
                              <p:par>
                                <p:cTn id="2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6" dur="500"/>
                                        <p:tgtEl>
                                          <p:spTgt spid="45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45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45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0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5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0" dur="500"/>
                                        <p:tgtEl>
                                          <p:spTgt spid="45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5" dur="500"/>
                                        <p:tgtEl>
                                          <p:spTgt spid="45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0" dur="500"/>
                                        <p:tgtEl>
                                          <p:spTgt spid="45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5" dur="500"/>
                                        <p:tgtEl>
                                          <p:spTgt spid="45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9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5" grpId="0"/>
      <p:bldP spid="45067" grpId="0"/>
      <p:bldP spid="45068" grpId="0" build="p"/>
      <p:bldP spid="45071" grpId="0" bldLvl="0" animBg="1"/>
      <p:bldP spid="45073" grpId="0"/>
      <p:bldP spid="45074" grpId="0" build="p"/>
      <p:bldP spid="45079" grpId="0" animBg="1"/>
      <p:bldP spid="45081" grpId="0"/>
      <p:bldP spid="45082" grpId="0" build="p"/>
      <p:bldP spid="4508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8" name="Rectangle 8"/>
          <p:cNvSpPr/>
          <p:nvPr/>
        </p:nvSpPr>
        <p:spPr>
          <a:xfrm>
            <a:off x="906463" y="958850"/>
            <a:ext cx="2600392" cy="477054"/>
          </a:xfrm>
          <a:prstGeom prst="rect">
            <a:avLst/>
          </a:prstGeom>
          <a:noFill/>
          <a:ln w="88900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(4)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标准溶液配制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46093" name="Rectangle 13"/>
          <p:cNvSpPr/>
          <p:nvPr/>
        </p:nvSpPr>
        <p:spPr>
          <a:xfrm>
            <a:off x="906463" y="1358900"/>
            <a:ext cx="10231437" cy="136048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(5)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应用示例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测定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原理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en-US" altLang="zh-CN" sz="2500" b="1" dirty="0">
                <a:solidFill>
                  <a:srgbClr val="00B05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pH = 3 ~ 4,  2Cu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 4I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=  2CuI↓+  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</a:p>
        </p:txBody>
      </p:sp>
      <p:grpSp>
        <p:nvGrpSpPr>
          <p:cNvPr id="46111" name="Group 31"/>
          <p:cNvGrpSpPr/>
          <p:nvPr/>
        </p:nvGrpSpPr>
        <p:grpSpPr>
          <a:xfrm>
            <a:off x="3770313" y="2867025"/>
            <a:ext cx="2949575" cy="433388"/>
            <a:chOff x="3287" y="1881"/>
            <a:chExt cx="1474" cy="288"/>
          </a:xfrm>
        </p:grpSpPr>
        <p:sp>
          <p:nvSpPr>
            <p:cNvPr id="28678" name="Line 15"/>
            <p:cNvSpPr/>
            <p:nvPr/>
          </p:nvSpPr>
          <p:spPr>
            <a:xfrm>
              <a:off x="4760" y="1881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8679" name="Line 16"/>
            <p:cNvSpPr/>
            <p:nvPr/>
          </p:nvSpPr>
          <p:spPr>
            <a:xfrm flipH="1">
              <a:off x="3287" y="2153"/>
              <a:ext cx="14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sp>
        <p:nvSpPr>
          <p:cNvPr id="46097" name="Rectangle 17"/>
          <p:cNvSpPr/>
          <p:nvPr/>
        </p:nvSpPr>
        <p:spPr>
          <a:xfrm>
            <a:off x="4138613" y="2719388"/>
            <a:ext cx="261481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Na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3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标准溶液</a:t>
            </a:r>
          </a:p>
        </p:txBody>
      </p:sp>
      <p:sp>
        <p:nvSpPr>
          <p:cNvPr id="46098" name="Rectangle 18"/>
          <p:cNvSpPr/>
          <p:nvPr/>
        </p:nvSpPr>
        <p:spPr>
          <a:xfrm>
            <a:off x="4670425" y="3276600"/>
            <a:ext cx="1795684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淀粉指示剂</a:t>
            </a:r>
          </a:p>
        </p:txBody>
      </p:sp>
      <p:sp>
        <p:nvSpPr>
          <p:cNvPr id="46099" name="Rectangle 19"/>
          <p:cNvSpPr/>
          <p:nvPr/>
        </p:nvSpPr>
        <p:spPr>
          <a:xfrm>
            <a:off x="2297113" y="3001963"/>
            <a:ext cx="159530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S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6 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2-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</a:p>
        </p:txBody>
      </p:sp>
      <p:sp>
        <p:nvSpPr>
          <p:cNvPr id="46100" name="Rectangle 20"/>
          <p:cNvSpPr/>
          <p:nvPr/>
        </p:nvSpPr>
        <p:spPr>
          <a:xfrm>
            <a:off x="906463" y="3127375"/>
            <a:ext cx="1579278" cy="1361911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条件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1)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过量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KI;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作用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46101" name="AutoShape 21"/>
          <p:cNvSpPr/>
          <p:nvPr/>
        </p:nvSpPr>
        <p:spPr>
          <a:xfrm>
            <a:off x="952500" y="4533900"/>
            <a:ext cx="192088" cy="863600"/>
          </a:xfrm>
          <a:prstGeom prst="leftBrace">
            <a:avLst>
              <a:gd name="adj1" fmla="val 49933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6104" name="Rectangle 24"/>
          <p:cNvSpPr/>
          <p:nvPr/>
        </p:nvSpPr>
        <p:spPr>
          <a:xfrm>
            <a:off x="906463" y="4452938"/>
            <a:ext cx="4855816" cy="938719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使反应完全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②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沉淀剂、还原剂、配位剂作用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59715"/>
            <a:ext cx="10369550" cy="42989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Times New Roman" panose="02020603050405020304" pitchFamily="18" charset="0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1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6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6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6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5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9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4" dur="500"/>
                                        <p:tgtEl>
                                          <p:spTgt spid="46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9" dur="500"/>
                                        <p:tgtEl>
                                          <p:spTgt spid="46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4" dur="500"/>
                                        <p:tgtEl>
                                          <p:spTgt spid="46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9" dur="500"/>
                                        <p:tgtEl>
                                          <p:spTgt spid="46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4" dur="500"/>
                                        <p:tgtEl>
                                          <p:spTgt spid="46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8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8" grpId="0"/>
      <p:bldP spid="46093" grpId="0" build="p"/>
      <p:bldP spid="46097" grpId="0"/>
      <p:bldP spid="46098" grpId="0"/>
      <p:bldP spid="46099" grpId="0"/>
      <p:bldP spid="46100" grpId="0" build="p"/>
      <p:bldP spid="46101" grpId="0" animBg="1"/>
      <p:bldP spid="4610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2" name="Rectangle 8"/>
          <p:cNvSpPr/>
          <p:nvPr/>
        </p:nvSpPr>
        <p:spPr>
          <a:xfrm>
            <a:off x="906463" y="1020763"/>
            <a:ext cx="273825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2)KSCN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加入时间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;</a:t>
            </a:r>
          </a:p>
        </p:txBody>
      </p:sp>
      <p:sp>
        <p:nvSpPr>
          <p:cNvPr id="47119" name="Rectangle 15"/>
          <p:cNvSpPr/>
          <p:nvPr/>
        </p:nvSpPr>
        <p:spPr>
          <a:xfrm>
            <a:off x="906463" y="1497013"/>
            <a:ext cx="4718050" cy="936625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KSCN  +  CuI  →  CuSCN↓ +  KI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作用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47121" name="AutoShape 17"/>
          <p:cNvSpPr/>
          <p:nvPr/>
        </p:nvSpPr>
        <p:spPr>
          <a:xfrm>
            <a:off x="1766888" y="2263775"/>
            <a:ext cx="192087" cy="649288"/>
          </a:xfrm>
          <a:prstGeom prst="leftBrace">
            <a:avLst>
              <a:gd name="adj1" fmla="val 37541"/>
              <a:gd name="adj2" fmla="val 50000"/>
            </a:avLst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7124" name="Rectangle 20"/>
          <p:cNvSpPr/>
          <p:nvPr/>
        </p:nvSpPr>
        <p:spPr>
          <a:xfrm>
            <a:off x="906463" y="3094038"/>
            <a:ext cx="5355953" cy="1361911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3)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酸度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:pH = 3 ~ 4.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过低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反应慢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终点拖长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2+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水解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过高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 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楷体_GB2312"/>
              </a:rPr>
              <a:t>-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易被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氧化</a:t>
            </a:r>
          </a:p>
        </p:txBody>
      </p:sp>
      <p:sp>
        <p:nvSpPr>
          <p:cNvPr id="47129" name="Rectangle 25"/>
          <p:cNvSpPr/>
          <p:nvPr/>
        </p:nvSpPr>
        <p:spPr>
          <a:xfrm>
            <a:off x="1116013" y="2119313"/>
            <a:ext cx="3951723" cy="938719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           ①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减少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CuI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对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吸附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      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节约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KI.</a:t>
            </a:r>
          </a:p>
        </p:txBody>
      </p:sp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41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7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7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7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47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6" dur="500"/>
                                        <p:tgtEl>
                                          <p:spTgt spid="47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47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47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/>
      <p:bldP spid="47119" grpId="0" build="p"/>
      <p:bldP spid="47121" grpId="0" bldLvl="0" animBg="1"/>
      <p:bldP spid="47124" grpId="0" build="p"/>
      <p:bldP spid="4712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82" name="Object 18"/>
          <p:cNvGraphicFramePr>
            <a:graphicFrameLocks/>
          </p:cNvGraphicFramePr>
          <p:nvPr/>
        </p:nvGraphicFramePr>
        <p:xfrm>
          <a:off x="2189137" y="4811723"/>
          <a:ext cx="3481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r:id="rId4" imgW="1307532" imgH="406224" progId="Equation.3">
                  <p:embed/>
                </p:oleObj>
              </mc:Choice>
              <mc:Fallback>
                <p:oleObj r:id="rId4" imgW="1307532" imgH="406224" progId="Equation.3">
                  <p:embed/>
                  <p:pic>
                    <p:nvPicPr>
                      <p:cNvPr id="0" name="Picture 10" descr="image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37" y="4811723"/>
                        <a:ext cx="34813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3" name="Rectangle 19"/>
          <p:cNvSpPr/>
          <p:nvPr/>
        </p:nvSpPr>
        <p:spPr>
          <a:xfrm>
            <a:off x="906463" y="1020763"/>
            <a:ext cx="10207625" cy="860425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某</a:t>
            </a:r>
            <a:r>
              <a:rPr lang="zh-CN" altLang="en-US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滴定剂</a:t>
            </a:r>
            <a:r>
              <a:rPr lang="en-US" altLang="zh-CN" sz="25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与某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组分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X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按下式反应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:</a:t>
            </a:r>
          </a:p>
          <a:p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                 </a:t>
            </a:r>
            <a:r>
              <a:rPr lang="en-US" altLang="zh-CN" sz="2500" b="1" dirty="0" err="1" smtClean="0">
                <a:latin typeface="Times New Roman" panose="02020603050405020304" pitchFamily="18" charset="0"/>
                <a:ea typeface="楷体_GB2312"/>
              </a:rPr>
              <a:t>xX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+  bB = cC +  dD</a:t>
            </a:r>
          </a:p>
        </p:txBody>
      </p:sp>
      <p:sp>
        <p:nvSpPr>
          <p:cNvPr id="62490" name="Rectangle 26"/>
          <p:cNvSpPr/>
          <p:nvPr/>
        </p:nvSpPr>
        <p:spPr>
          <a:xfrm>
            <a:off x="906463" y="1868488"/>
            <a:ext cx="10117137" cy="1360487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若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B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的浓度为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滴定消耗的体积为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V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mL;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组分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X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的质量为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,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摩尔质量为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500" b="1" baseline="-25000" dirty="0">
              <a:latin typeface="Times New Roman" panose="02020603050405020304" pitchFamily="18" charset="0"/>
              <a:ea typeface="楷体_GB231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                  </a:t>
            </a:r>
            <a:r>
              <a:rPr lang="en-US" altLang="zh-CN" sz="2500" b="1" dirty="0" err="1" smtClean="0"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2500" b="1" i="1" dirty="0" err="1" smtClean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500" b="1" baseline="-25000" dirty="0" err="1" smtClean="0">
                <a:latin typeface="Times New Roman" panose="02020603050405020304" pitchFamily="18" charset="0"/>
                <a:ea typeface="楷体_GB2312"/>
              </a:rPr>
              <a:t>X</a:t>
            </a:r>
            <a:r>
              <a:rPr lang="en-US" altLang="zh-CN" sz="2500" b="1" dirty="0" smtClean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x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楷体_GB2312"/>
              </a:rPr>
              <a:t>B</a:t>
            </a:r>
            <a:endParaRPr lang="en-US" altLang="zh-CN" sz="2500" b="1" dirty="0"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62497" name="Object 33"/>
          <p:cNvGraphicFramePr>
            <a:graphicFrameLocks noGrp="1"/>
          </p:cNvGraphicFramePr>
          <p:nvPr>
            <p:ph sz="half" idx="1"/>
          </p:nvPr>
        </p:nvGraphicFramePr>
        <p:xfrm>
          <a:off x="2117699" y="3240087"/>
          <a:ext cx="33004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r:id="rId6" imgW="1307532" imgH="444307" progId="Equation.3">
                  <p:embed/>
                </p:oleObj>
              </mc:Choice>
              <mc:Fallback>
                <p:oleObj r:id="rId6" imgW="1307532" imgH="444307" progId="Equation.3">
                  <p:embed/>
                  <p:pic>
                    <p:nvPicPr>
                      <p:cNvPr id="0" name="Picture 8" descr="image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699" y="3240087"/>
                        <a:ext cx="330041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02" name="Object 38"/>
          <p:cNvGraphicFramePr>
            <a:graphicFrameLocks noGrp="1"/>
          </p:cNvGraphicFramePr>
          <p:nvPr>
            <p:ph sz="half" idx="2"/>
          </p:nvPr>
        </p:nvGraphicFramePr>
        <p:xfrm>
          <a:off x="2189137" y="4097343"/>
          <a:ext cx="34004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r:id="rId8" imgW="1358310" imgH="444307" progId="Equation.3">
                  <p:embed/>
                </p:oleObj>
              </mc:Choice>
              <mc:Fallback>
                <p:oleObj r:id="rId8" imgW="1358310" imgH="444307" progId="Equation.3">
                  <p:embed/>
                  <p:pic>
                    <p:nvPicPr>
                      <p:cNvPr id="0" name="Picture 9" descr="image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37" y="4097343"/>
                        <a:ext cx="340042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1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41"/>
            <a:ext cx="360362" cy="360362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62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62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62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6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3" grpId="0"/>
      <p:bldP spid="6249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0"/>
          <p:cNvSpPr>
            <a:spLocks noGrp="1"/>
          </p:cNvSpPr>
          <p:nvPr>
            <p:ph type="title"/>
          </p:nvPr>
        </p:nvSpPr>
        <p:spPr>
          <a:xfrm>
            <a:off x="576263" y="260350"/>
            <a:ext cx="10369550" cy="428625"/>
          </a:xfrm>
        </p:spPr>
        <p:txBody>
          <a:bodyPr vert="horz" wrap="square" lIns="91440" tIns="45720" rIns="91440" bIns="45720" anchor="ctr">
            <a:spAutoFit/>
          </a:bodyPr>
          <a:lstStyle/>
          <a:p>
            <a:pPr fontAlgn="base"/>
            <a:r>
              <a:rPr lang="en-US" altLang="zh-CN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5.3.3</a:t>
            </a:r>
            <a:r>
              <a:rPr lang="zh-CN" altLang="en-US" strike="noStrike" noProof="1">
                <a:solidFill>
                  <a:srgbClr val="FF0000"/>
                </a:solidFill>
                <a:uFillTx/>
                <a:latin typeface="黑体" panose="02010609060101010101" pitchFamily="2" charset="-122"/>
              </a:rPr>
              <a:t>常用氧化还原滴定方法</a:t>
            </a:r>
          </a:p>
        </p:txBody>
      </p:sp>
      <p:sp>
        <p:nvSpPr>
          <p:cNvPr id="2" name="文本框 1">
            <a:hlinkClick r:id="rId3" action="ppaction://hlinkfile"/>
          </p:cNvPr>
          <p:cNvSpPr txBox="1"/>
          <p:nvPr/>
        </p:nvSpPr>
        <p:spPr>
          <a:xfrm>
            <a:off x="688939" y="4454533"/>
            <a:ext cx="614271" cy="4770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500" b="1" dirty="0" smtClean="0">
                <a:uFillTx/>
                <a:ea typeface="楷体_GB2312"/>
                <a:sym typeface="+mn-ea"/>
                <a:hlinkClick r:id="rId4" action="ppaction://hlinkpres?slideindex=3&amp;slidetitle=幻灯片 3"/>
              </a:rPr>
              <a:t>解</a:t>
            </a:r>
            <a:r>
              <a:rPr lang="en-US" altLang="zh-CN" sz="2500" b="1" dirty="0" smtClean="0">
                <a:uFillTx/>
                <a:ea typeface="楷体_GB2312"/>
                <a:sym typeface="+mn-ea"/>
              </a:rPr>
              <a:t>:</a:t>
            </a:r>
            <a:endParaRPr lang="en-US" altLang="zh-CN" sz="2500" b="1" dirty="0">
              <a:uFillTx/>
              <a:ea typeface="楷体_GB2312"/>
              <a:sym typeface="+mn-ea"/>
            </a:endParaRPr>
          </a:p>
        </p:txBody>
      </p:sp>
      <p:sp>
        <p:nvSpPr>
          <p:cNvPr id="3" name="文本框 2">
            <a:hlinkClick r:id="rId5" action="ppaction://hlinkfile"/>
          </p:cNvPr>
          <p:cNvSpPr txBox="1"/>
          <p:nvPr/>
        </p:nvSpPr>
        <p:spPr>
          <a:xfrm>
            <a:off x="688939" y="2168517"/>
            <a:ext cx="614271" cy="4770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500" b="1" dirty="0" smtClean="0">
                <a:uFillTx/>
                <a:ea typeface="楷体_GB2312"/>
                <a:sym typeface="+mn-ea"/>
                <a:hlinkClick r:id="rId6" action="ppaction://hlinkpres?slideindex=1&amp;slidetitle=幻灯片 1"/>
              </a:rPr>
              <a:t>解</a:t>
            </a:r>
            <a:r>
              <a:rPr lang="en-US" altLang="zh-CN" sz="2500" b="1" dirty="0" smtClean="0">
                <a:uFillTx/>
                <a:ea typeface="楷体_GB2312"/>
                <a:sym typeface="+mn-ea"/>
              </a:rPr>
              <a:t>:</a:t>
            </a:r>
            <a:endParaRPr lang="en-US" altLang="zh-CN" sz="2500" b="1" dirty="0">
              <a:uFillTx/>
              <a:ea typeface="楷体_GB2312"/>
              <a:sym typeface="+mn-ea"/>
            </a:endParaRPr>
          </a:p>
        </p:txBody>
      </p:sp>
      <p:sp>
        <p:nvSpPr>
          <p:cNvPr id="12" name="椭圆 62544" descr="图片1">
            <a:hlinkClick r:id="rId7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6" name="Rectangle 43"/>
          <p:cNvSpPr/>
          <p:nvPr/>
        </p:nvSpPr>
        <p:spPr>
          <a:xfrm>
            <a:off x="663499" y="2740021"/>
            <a:ext cx="10858576" cy="124649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2.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称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取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Pb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4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试样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0.1000g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加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HCl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后释出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Cl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与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KI</a:t>
            </a:r>
            <a:r>
              <a:rPr lang="zh-CN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液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反应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析出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用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Na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S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滴定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耗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25.00mL.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已知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1.00mL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Na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S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液相当于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0.3250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mg KIO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·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HIO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求试样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中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Pb</a:t>
            </a:r>
            <a:r>
              <a:rPr lang="en-US" altLang="zh-CN" sz="2500" b="1" baseline="-25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4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含量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17" name="文本框 1"/>
          <p:cNvSpPr txBox="1"/>
          <p:nvPr/>
        </p:nvSpPr>
        <p:spPr>
          <a:xfrm>
            <a:off x="760377" y="3954467"/>
            <a:ext cx="387317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｛Pb</a:t>
            </a:r>
            <a:r>
              <a:rPr lang="en-US" altLang="zh-CN" sz="2500" b="1" baseline="-25000" dirty="0">
                <a:uFillTx/>
                <a:latin typeface="+mn-lt"/>
                <a:ea typeface="楷体_GB2312" pitchFamily="49" charset="-122"/>
                <a:sym typeface="+mn-ea"/>
              </a:rPr>
              <a:t>3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O</a:t>
            </a:r>
            <a:r>
              <a:rPr lang="en-US" altLang="zh-CN" sz="2500" b="1" baseline="-25000" dirty="0">
                <a:uFillTx/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(</a:t>
            </a:r>
            <a:r>
              <a:rPr lang="en-US" altLang="zh-CN" sz="2500" b="1" i="1" dirty="0">
                <a:uFillTx/>
                <a:latin typeface="+mn-lt"/>
                <a:ea typeface="楷体_GB2312" pitchFamily="49" charset="-122"/>
                <a:sym typeface="+mn-ea"/>
              </a:rPr>
              <a:t>M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 = 685.6g·mol</a:t>
            </a:r>
            <a:r>
              <a:rPr lang="en-US" altLang="zh-CN" sz="2500" b="1" baseline="30000" dirty="0">
                <a:uFillTx/>
                <a:latin typeface="+mn-lt"/>
                <a:ea typeface="楷体_GB2312" pitchFamily="49" charset="-122"/>
                <a:sym typeface="+mn-ea"/>
              </a:rPr>
              <a:t>-1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)</a:t>
            </a:r>
            <a:endParaRPr lang="zh-CN" altLang="en-US" sz="2500" dirty="0">
              <a:latin typeface="+mn-lt"/>
              <a:ea typeface="楷体_GB2312" pitchFamily="49" charset="-122"/>
            </a:endParaRPr>
          </a:p>
        </p:txBody>
      </p:sp>
      <p:sp>
        <p:nvSpPr>
          <p:cNvPr id="18" name="文本框 3"/>
          <p:cNvSpPr txBox="1"/>
          <p:nvPr/>
        </p:nvSpPr>
        <p:spPr>
          <a:xfrm>
            <a:off x="4618029" y="3954467"/>
            <a:ext cx="4767652" cy="4770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KIO</a:t>
            </a:r>
            <a:r>
              <a:rPr lang="en-US" altLang="zh-CN" sz="2500" b="1" baseline="-25000" dirty="0">
                <a:uFillTx/>
                <a:latin typeface="+mn-lt"/>
                <a:ea typeface="楷体_GB2312" pitchFamily="49" charset="-122"/>
                <a:sym typeface="+mn-ea"/>
              </a:rPr>
              <a:t>3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Symbol" panose="05050102010706020507" pitchFamily="18" charset="2"/>
              </a:rPr>
              <a:t>·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HIO</a:t>
            </a:r>
            <a:r>
              <a:rPr lang="en-US" altLang="zh-CN" sz="2500" b="1" baseline="-25000" dirty="0">
                <a:uFillTx/>
                <a:latin typeface="+mn-lt"/>
                <a:ea typeface="楷体_GB2312" pitchFamily="49" charset="-122"/>
                <a:sym typeface="+mn-ea"/>
              </a:rPr>
              <a:t>3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(</a:t>
            </a:r>
            <a:r>
              <a:rPr lang="en-US" altLang="zh-CN" sz="2500" b="1" i="1" dirty="0">
                <a:uFillTx/>
                <a:latin typeface="+mn-lt"/>
                <a:ea typeface="楷体_GB2312" pitchFamily="49" charset="-122"/>
                <a:sym typeface="+mn-ea"/>
              </a:rPr>
              <a:t>M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 = 389.92g·mol</a:t>
            </a:r>
            <a:r>
              <a:rPr lang="en-US" altLang="zh-CN" sz="2500" b="1" baseline="30000" dirty="0">
                <a:uFillTx/>
                <a:latin typeface="+mn-lt"/>
                <a:ea typeface="楷体_GB2312" pitchFamily="49" charset="-122"/>
                <a:sym typeface="+mn-ea"/>
              </a:rPr>
              <a:t>-1</a:t>
            </a:r>
            <a:r>
              <a:rPr lang="en-US" altLang="zh-CN" sz="2500" b="1" dirty="0">
                <a:uFillTx/>
                <a:latin typeface="+mn-lt"/>
                <a:ea typeface="楷体_GB2312" pitchFamily="49" charset="-122"/>
                <a:sym typeface="+mn-ea"/>
              </a:rPr>
              <a:t>)｝</a:t>
            </a:r>
          </a:p>
        </p:txBody>
      </p:sp>
      <p:sp>
        <p:nvSpPr>
          <p:cNvPr id="19" name="文本框 1"/>
          <p:cNvSpPr txBox="1"/>
          <p:nvPr/>
        </p:nvSpPr>
        <p:spPr>
          <a:xfrm>
            <a:off x="668699" y="922022"/>
            <a:ext cx="10664502" cy="1246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例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1.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以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KMnO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法测矿样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中</a:t>
            </a:r>
            <a:r>
              <a:rPr lang="en-US" altLang="zh-CN" sz="2500" b="1" dirty="0" err="1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CaO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称试样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0.5000g,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以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酸分解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后加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(NH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)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C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,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得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CaC</a:t>
            </a:r>
            <a:r>
              <a:rPr lang="en-US" altLang="zh-CN" sz="2500" b="1" baseline="-25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O</a:t>
            </a:r>
            <a:r>
              <a:rPr lang="en-US" altLang="zh-CN" sz="2500" b="1" baseline="-25000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沉淀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过滤洗涤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后溶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于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H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SO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中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用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0.01000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mol·L</a:t>
            </a:r>
            <a:r>
              <a:rPr lang="en-US" altLang="zh-CN" sz="2500" b="1" baseline="30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-1 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KMnO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溶液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滴定所得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H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C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O</a:t>
            </a:r>
            <a:r>
              <a:rPr lang="en-US" altLang="zh-CN" sz="2500" b="1" baseline="-25000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4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,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用去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20.00mL</a:t>
            </a:r>
            <a:r>
              <a:rPr lang="en-US" altLang="zh-CN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.</a:t>
            </a:r>
            <a:r>
              <a:rPr lang="zh-CN" altLang="en-US" sz="2500" b="1" dirty="0" smtClean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求</a:t>
            </a:r>
            <a:r>
              <a:rPr lang="en-US" altLang="zh-CN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CaO</a:t>
            </a:r>
            <a:r>
              <a:rPr lang="zh-CN" altLang="en-US" sz="2500" b="1" dirty="0">
                <a:solidFill>
                  <a:schemeClr val="tx1"/>
                </a:solidFill>
                <a:uFillTx/>
                <a:latin typeface="+mn-lt"/>
                <a:ea typeface="楷体_GB2312" pitchFamily="49" charset="-122"/>
                <a:sym typeface="+mn-ea"/>
              </a:rPr>
              <a:t>的质量分数。</a:t>
            </a:r>
            <a:endParaRPr lang="en-US" altLang="zh-CN" sz="2500" b="1" dirty="0">
              <a:solidFill>
                <a:schemeClr val="tx1"/>
              </a:solidFill>
              <a:uFillTx/>
              <a:latin typeface="+mn-lt"/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6" grpId="0"/>
      <p:bldP spid="17" grpId="0"/>
      <p:bldP spid="18" grpId="0"/>
      <p:bldP spid="19" grpId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564</TotalTime>
  <Words>1252</Words>
  <Application>Microsoft Office PowerPoint</Application>
  <PresentationFormat>自定义</PresentationFormat>
  <Paragraphs>230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Monotype Sorts</vt:lpstr>
      <vt:lpstr>黑体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Microsoft 公式 3.0</vt:lpstr>
      <vt:lpstr>PowerPoint 演示文稿</vt:lpstr>
      <vt:lpstr>5.3氧化还原滴定法</vt:lpstr>
      <vt:lpstr>5.3.1对反应的要求及滴定的前处理</vt:lpstr>
      <vt:lpstr>5.3.1对反应的要求及滴定的前处理</vt:lpstr>
      <vt:lpstr>5.3.2氧化还原滴定曲线</vt:lpstr>
      <vt:lpstr>5.3.2氧化还原滴定曲线</vt:lpstr>
      <vt:lpstr>5.3.2氧化还原滴定曲线</vt:lpstr>
      <vt:lpstr>5.3.2氧化还原滴定曲线</vt:lpstr>
      <vt:lpstr>5.3.2氧化还原滴定曲线</vt:lpstr>
      <vt:lpstr>5.3.2氧化还原滴定曲线</vt:lpstr>
      <vt:lpstr>5.3.2氧化还原滴定曲线</vt:lpstr>
      <vt:lpstr>5.3.3常用氧化还原滴定方法</vt:lpstr>
      <vt:lpstr>5.3.3常用氧化还原滴定方法</vt:lpstr>
      <vt:lpstr>5.3.3常用氧化还原滴定方法</vt:lpstr>
      <vt:lpstr>5.3.3常用氧化还原滴定方法</vt:lpstr>
      <vt:lpstr>5.3.3常用氧化还原滴定方法</vt:lpstr>
      <vt:lpstr>5.3.3常用氧化还原滴定方法</vt:lpstr>
      <vt:lpstr>5.3.3常用氧化还原滴定方法</vt:lpstr>
      <vt:lpstr>5.3.3常用氧化还原滴定方法</vt:lpstr>
      <vt:lpstr>5.3.3常用氧化还原滴定方法</vt:lpstr>
      <vt:lpstr>5.3.3常用氧化还原滴定方法</vt:lpstr>
      <vt:lpstr>5.3.3常用氧化还原滴定方法</vt:lpstr>
      <vt:lpstr>5.3.3常用氧化还原滴定方法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ch05-03</dc:title>
  <dc:creator>江南大学</dc:creator>
  <cp:lastModifiedBy>USER</cp:lastModifiedBy>
  <cp:revision>321</cp:revision>
  <dcterms:created xsi:type="dcterms:W3CDTF">2012-06-20T03:37:00Z</dcterms:created>
  <dcterms:modified xsi:type="dcterms:W3CDTF">2021-11-22T16:22:25Z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2052-10.1.0.6554</vt:lpwstr>
  </property>
</Properties>
</file>