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wav" ContentType="audio/wav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9" r:id="rId1"/>
    <p:sldMasterId id="2147483661" r:id="rId2"/>
  </p:sldMasterIdLst>
  <p:notesMasterIdLst>
    <p:notesMasterId r:id="rId9"/>
  </p:notesMasterIdLst>
  <p:sldIdLst>
    <p:sldId id="356" r:id="rId3"/>
    <p:sldId id="370" r:id="rId4"/>
    <p:sldId id="371" r:id="rId5"/>
    <p:sldId id="373" r:id="rId6"/>
    <p:sldId id="376" r:id="rId7"/>
    <p:sldId id="377" r:id="rId8"/>
  </p:sldIdLst>
  <p:sldSz cx="11522075" cy="6480175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90">
          <p15:clr>
            <a:srgbClr val="A4A3A4"/>
          </p15:clr>
        </p15:guide>
        <p15:guide id="2" pos="27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0000FF"/>
    <a:srgbClr val="FF0000"/>
    <a:srgbClr val="FFFFFF"/>
    <a:srgbClr val="F8F8F8"/>
    <a:srgbClr val="FF00FF"/>
    <a:srgbClr val="FF3300"/>
    <a:srgbClr val="EAEA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 autoAdjust="0"/>
    <p:restoredTop sz="94619" autoAdjust="0"/>
  </p:normalViewPr>
  <p:slideViewPr>
    <p:cSldViewPr>
      <p:cViewPr varScale="1">
        <p:scale>
          <a:sx n="73" d="100"/>
          <a:sy n="73" d="100"/>
        </p:scale>
        <p:origin x="750" y="66"/>
      </p:cViewPr>
      <p:guideLst>
        <p:guide orient="horz" pos="1890"/>
        <p:guide pos="27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728"/>
    </p:cViewPr>
  </p:sorterViewPr>
  <p:gridSpacing cx="71999" cy="71999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buFontTx/>
              <a:buNone/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0" hangingPunct="0">
              <a:buFontTx/>
              <a:buNone/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196" name="Rectangle 4"/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76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276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0" hangingPunct="0">
              <a:buFontTx/>
              <a:buNone/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76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buFont typeface="Arial" pitchFamily="34" charset="0"/>
              <a:buNone/>
              <a:defRPr sz="1200" noProof="1">
                <a:ea typeface="宋体" pitchFamily="2" charset="-122"/>
              </a:defRPr>
            </a:lvl1pPr>
          </a:lstStyle>
          <a:p>
            <a:pPr>
              <a:defRPr/>
            </a:pPr>
            <a:fld id="{B4CF1ADB-2B59-4B8E-A8B7-BB53658C5C7B}" type="slidenum">
              <a:rPr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63600" y="2012950"/>
            <a:ext cx="9794875" cy="1389063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728788" y="3671888"/>
            <a:ext cx="80645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noProof="1" smtClean="0"/>
              <a:t>单击此处编辑母版副标题样式</a:t>
            </a:r>
            <a:endParaRPr lang="zh-CN" altLang="en-US" noProof="1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76263" y="1511300"/>
            <a:ext cx="10369550" cy="42767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09638" y="4164013"/>
            <a:ext cx="9794875" cy="1287462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09638" y="2746375"/>
            <a:ext cx="9794875" cy="141763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</p:spTree>
  </p:cSld>
  <p:clrMapOvr>
    <a:masterClrMapping/>
  </p:clrMapOvr>
  <p:transition spd="slow">
    <p:split orient="vert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76263" y="1511300"/>
            <a:ext cx="5108575" cy="4276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837238" y="1511300"/>
            <a:ext cx="5108575" cy="4276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76263" y="1450975"/>
            <a:ext cx="5091112" cy="60483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76263" y="2055813"/>
            <a:ext cx="5091112" cy="3732212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853113" y="1450975"/>
            <a:ext cx="5092700" cy="60483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853113" y="2055813"/>
            <a:ext cx="5092700" cy="3732212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split orient="vert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3790950" cy="1096962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05325" y="258763"/>
            <a:ext cx="6440488" cy="5529262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76263" y="1355725"/>
            <a:ext cx="3790950" cy="4432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</p:spTree>
  </p:cSld>
  <p:clrMapOvr>
    <a:masterClrMapping/>
  </p:clrMapOvr>
  <p:transition spd="slow">
    <p:split orient="vert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59013" y="4535488"/>
            <a:ext cx="6911975" cy="536575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259013" y="579438"/>
            <a:ext cx="6911975" cy="38877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259013" y="5072063"/>
            <a:ext cx="6911975" cy="7604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</p:spTree>
  </p:cSld>
  <p:clrMapOvr>
    <a:masterClrMapping/>
  </p:clrMapOvr>
  <p:transition spd="slow">
    <p:split orient="vert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76263" y="1511300"/>
            <a:ext cx="10369550" cy="42767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353425" y="258763"/>
            <a:ext cx="2592388" cy="5529262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76263" y="258763"/>
            <a:ext cx="7624762" cy="552926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63600" y="2012950"/>
            <a:ext cx="9794875" cy="1389063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728788" y="3671888"/>
            <a:ext cx="80645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noProof="1" smtClean="0"/>
              <a:t>单击此处编辑母版副标题样式</a:t>
            </a:r>
            <a:endParaRPr lang="zh-CN" altLang="en-US" noProof="1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76263" y="1511300"/>
            <a:ext cx="10369550" cy="42767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09638" y="4164013"/>
            <a:ext cx="9794875" cy="1287462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09638" y="2746375"/>
            <a:ext cx="9794875" cy="141763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</p:spTree>
  </p:cSld>
  <p:clrMapOvr>
    <a:masterClrMapping/>
  </p:clrMapOvr>
  <p:transition spd="slow">
    <p:split orient="vert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76263" y="1511300"/>
            <a:ext cx="5108575" cy="4276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837238" y="1511300"/>
            <a:ext cx="5108575" cy="4276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76263" y="1450975"/>
            <a:ext cx="5091112" cy="60483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76263" y="2055813"/>
            <a:ext cx="5091112" cy="3732212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853113" y="1450975"/>
            <a:ext cx="5092700" cy="60483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853113" y="2055813"/>
            <a:ext cx="5092700" cy="3732212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split orient="vert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3790950" cy="1096962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05325" y="258763"/>
            <a:ext cx="6440488" cy="5529262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76263" y="1355725"/>
            <a:ext cx="3790950" cy="4432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</p:spTree>
  </p:cSld>
  <p:clrMapOvr>
    <a:masterClrMapping/>
  </p:clrMapOvr>
  <p:transition spd="slow">
    <p:split orient="vert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59013" y="4535488"/>
            <a:ext cx="6911975" cy="536575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259013" y="579438"/>
            <a:ext cx="6911975" cy="38877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259013" y="5072063"/>
            <a:ext cx="6911975" cy="7604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</p:spTree>
  </p:cSld>
  <p:clrMapOvr>
    <a:masterClrMapping/>
  </p:clrMapOvr>
  <p:transition spd="slow">
    <p:split orient="vert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76263" y="1511300"/>
            <a:ext cx="10369550" cy="42767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353425" y="258763"/>
            <a:ext cx="2592388" cy="5529262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76263" y="258763"/>
            <a:ext cx="7624762" cy="552926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  <p:transition spd="slow">
    <p:split orient="vert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组合 3223"/>
          <p:cNvGrpSpPr>
            <a:grpSpLocks/>
          </p:cNvGrpSpPr>
          <p:nvPr userDrawn="1"/>
        </p:nvGrpSpPr>
        <p:grpSpPr bwMode="auto">
          <a:xfrm>
            <a:off x="-34925" y="107950"/>
            <a:ext cx="11588750" cy="6408738"/>
            <a:chOff x="-22" y="68"/>
            <a:chExt cx="7300" cy="4037"/>
          </a:xfrm>
        </p:grpSpPr>
        <p:sp>
          <p:nvSpPr>
            <p:cNvPr id="1028" name="Freeform 1027"/>
            <p:cNvSpPr>
              <a:spLocks/>
            </p:cNvSpPr>
            <p:nvPr/>
          </p:nvSpPr>
          <p:spPr bwMode="auto">
            <a:xfrm>
              <a:off x="80" y="431"/>
              <a:ext cx="7080" cy="3174"/>
            </a:xfrm>
            <a:custGeom>
              <a:avLst/>
              <a:gdLst>
                <a:gd name="T0" fmla="*/ 7079 w 5269"/>
                <a:gd name="T1" fmla="*/ 0 h 2977"/>
                <a:gd name="T2" fmla="*/ 0 w 5269"/>
                <a:gd name="T3" fmla="*/ 0 h 2977"/>
                <a:gd name="T4" fmla="*/ 0 w 5269"/>
                <a:gd name="T5" fmla="*/ 3173 h 297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269" h="2977">
                  <a:moveTo>
                    <a:pt x="5268" y="0"/>
                  </a:moveTo>
                  <a:lnTo>
                    <a:pt x="0" y="0"/>
                  </a:lnTo>
                  <a:lnTo>
                    <a:pt x="0" y="2976"/>
                  </a:lnTo>
                </a:path>
              </a:pathLst>
            </a:custGeom>
            <a:noFill/>
            <a:ln w="12700" cap="rnd" cmpd="sng">
              <a:solidFill>
                <a:srgbClr val="B2B2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grpSp>
          <p:nvGrpSpPr>
            <p:cNvPr id="1029" name="Group 1042"/>
            <p:cNvGrpSpPr>
              <a:grpSpLocks/>
            </p:cNvGrpSpPr>
            <p:nvPr userDrawn="1"/>
          </p:nvGrpSpPr>
          <p:grpSpPr bwMode="auto">
            <a:xfrm rot="5400000">
              <a:off x="3577" y="-3112"/>
              <a:ext cx="68" cy="7141"/>
              <a:chOff x="336" y="1103"/>
              <a:chExt cx="97" cy="2785"/>
            </a:xfrm>
          </p:grpSpPr>
          <p:sp>
            <p:nvSpPr>
              <p:cNvPr id="2" name="Rectangle 1043"/>
              <p:cNvSpPr>
                <a:spLocks noChangeArrowheads="1"/>
              </p:cNvSpPr>
              <p:nvPr userDrawn="1"/>
            </p:nvSpPr>
            <p:spPr bwMode="auto">
              <a:xfrm>
                <a:off x="338" y="1104"/>
                <a:ext cx="97" cy="2784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  <a:extLst/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Arial" panose="020B0604020202020204" pitchFamily="34" charset="0"/>
                  <a:buNone/>
                  <a:defRPr/>
                </a:pPr>
                <a:endParaRPr lang="zh-CN" altLang="zh-CN" sz="2400" smtClean="0"/>
              </a:p>
            </p:txBody>
          </p:sp>
          <p:sp>
            <p:nvSpPr>
              <p:cNvPr id="3" name="Freeform 1044"/>
              <p:cNvSpPr>
                <a:spLocks noChangeArrowheads="1"/>
              </p:cNvSpPr>
              <p:nvPr userDrawn="1"/>
            </p:nvSpPr>
            <p:spPr bwMode="auto">
              <a:xfrm>
                <a:off x="338" y="1103"/>
                <a:ext cx="97" cy="2785"/>
              </a:xfrm>
              <a:custGeom>
                <a:avLst/>
                <a:gdLst>
                  <a:gd name="T0" fmla="*/ 0 w 97"/>
                  <a:gd name="T1" fmla="*/ 2784 h 2785"/>
                  <a:gd name="T2" fmla="*/ 96 w 97"/>
                  <a:gd name="T3" fmla="*/ 2784 h 2785"/>
                  <a:gd name="T4" fmla="*/ 96 w 97"/>
                  <a:gd name="T5" fmla="*/ 0 h 27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7" h="2785">
                    <a:moveTo>
                      <a:pt x="0" y="2784"/>
                    </a:moveTo>
                    <a:lnTo>
                      <a:pt x="96" y="2784"/>
                    </a:lnTo>
                    <a:lnTo>
                      <a:pt x="96" y="0"/>
                    </a:lnTo>
                  </a:path>
                </a:pathLst>
              </a:custGeom>
              <a:solidFill>
                <a:srgbClr val="DDDDDD"/>
              </a:solidFill>
              <a:ln>
                <a:noFill/>
              </a:ln>
              <a:extLst/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 typeface="Arial" panose="020B0604020202020204" pitchFamily="34" charset="0"/>
                  <a:buNone/>
                  <a:defRPr/>
                </a:pPr>
                <a:endParaRPr lang="zh-CN" altLang="en-US" smtClean="0"/>
              </a:p>
            </p:txBody>
          </p:sp>
          <p:sp>
            <p:nvSpPr>
              <p:cNvPr id="1031" name="Freeform 1045"/>
              <p:cNvSpPr>
                <a:spLocks noChangeArrowheads="1"/>
              </p:cNvSpPr>
              <p:nvPr userDrawn="1"/>
            </p:nvSpPr>
            <p:spPr bwMode="auto">
              <a:xfrm>
                <a:off x="338" y="1103"/>
                <a:ext cx="97" cy="2785"/>
              </a:xfrm>
              <a:custGeom>
                <a:avLst/>
                <a:gdLst>
                  <a:gd name="T0" fmla="*/ 0 w 97"/>
                  <a:gd name="T1" fmla="*/ 2784 h 2785"/>
                  <a:gd name="T2" fmla="*/ 0 w 97"/>
                  <a:gd name="T3" fmla="*/ 0 h 2785"/>
                  <a:gd name="T4" fmla="*/ 96 w 97"/>
                  <a:gd name="T5" fmla="*/ 0 h 27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7" h="2785">
                    <a:moveTo>
                      <a:pt x="0" y="2784"/>
                    </a:moveTo>
                    <a:lnTo>
                      <a:pt x="0" y="0"/>
                    </a:lnTo>
                    <a:lnTo>
                      <a:pt x="96" y="0"/>
                    </a:lnTo>
                  </a:path>
                </a:pathLst>
              </a:custGeom>
              <a:solidFill>
                <a:srgbClr val="DDDDDD"/>
              </a:solidFill>
              <a:ln>
                <a:noFill/>
              </a:ln>
              <a:extLst/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 typeface="Arial" panose="020B0604020202020204" pitchFamily="34" charset="0"/>
                  <a:buNone/>
                  <a:defRPr/>
                </a:pPr>
                <a:endParaRPr lang="zh-CN" altLang="en-US" smtClean="0"/>
              </a:p>
            </p:txBody>
          </p:sp>
        </p:grpSp>
        <p:sp>
          <p:nvSpPr>
            <p:cNvPr id="1030" name="Freeform 1028"/>
            <p:cNvSpPr>
              <a:spLocks/>
            </p:cNvSpPr>
            <p:nvPr/>
          </p:nvSpPr>
          <p:spPr bwMode="auto">
            <a:xfrm>
              <a:off x="96" y="431"/>
              <a:ext cx="7080" cy="3174"/>
            </a:xfrm>
            <a:custGeom>
              <a:avLst/>
              <a:gdLst>
                <a:gd name="T0" fmla="*/ 7079 w 5269"/>
                <a:gd name="T1" fmla="*/ 0 h 2977"/>
                <a:gd name="T2" fmla="*/ 7079 w 5269"/>
                <a:gd name="T3" fmla="*/ 3173 h 2977"/>
                <a:gd name="T4" fmla="*/ 0 w 5269"/>
                <a:gd name="T5" fmla="*/ 3173 h 297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269" h="2977">
                  <a:moveTo>
                    <a:pt x="5268" y="0"/>
                  </a:moveTo>
                  <a:lnTo>
                    <a:pt x="5268" y="2976"/>
                  </a:lnTo>
                  <a:lnTo>
                    <a:pt x="0" y="2976"/>
                  </a:lnTo>
                </a:path>
              </a:pathLst>
            </a:custGeom>
            <a:noFill/>
            <a:ln w="1270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1033" name="Rectangle 1036"/>
            <p:cNvSpPr>
              <a:spLocks noChangeArrowheads="1"/>
            </p:cNvSpPr>
            <p:nvPr userDrawn="1"/>
          </p:nvSpPr>
          <p:spPr bwMode="auto">
            <a:xfrm>
              <a:off x="61" y="68"/>
              <a:ext cx="7141" cy="3584"/>
            </a:xfrm>
            <a:prstGeom prst="rect">
              <a:avLst/>
            </a:prstGeom>
            <a:noFill/>
            <a:ln w="254000">
              <a:pattFill prst="dkHorz">
                <a:fgClr>
                  <a:srgbClr val="C8C8C8"/>
                </a:fgClr>
                <a:bgClr>
                  <a:schemeClr val="bg1"/>
                </a:bgClr>
              </a:pattFill>
              <a:miter lim="800000"/>
              <a:headEnd type="none" w="sm" len="sm"/>
              <a:tailEnd type="none" w="sm" len="sm"/>
            </a:ln>
            <a:extLst/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  <a:defRPr/>
              </a:pPr>
              <a:endParaRPr lang="zh-CN" altLang="en-US" sz="1600" smtClean="0">
                <a:ea typeface="楷体_GB2312" panose="02010609030101010101" pitchFamily="49" charset="-122"/>
              </a:endParaRPr>
            </a:p>
          </p:txBody>
        </p:sp>
        <p:grpSp>
          <p:nvGrpSpPr>
            <p:cNvPr id="1032" name="Group 1038"/>
            <p:cNvGrpSpPr>
              <a:grpSpLocks/>
            </p:cNvGrpSpPr>
            <p:nvPr userDrawn="1"/>
          </p:nvGrpSpPr>
          <p:grpSpPr bwMode="auto">
            <a:xfrm>
              <a:off x="306" y="584"/>
              <a:ext cx="68" cy="2879"/>
              <a:chOff x="336" y="1103"/>
              <a:chExt cx="97" cy="2785"/>
            </a:xfrm>
          </p:grpSpPr>
          <p:sp>
            <p:nvSpPr>
              <p:cNvPr id="1035" name="Rectangle 1039"/>
              <p:cNvSpPr>
                <a:spLocks noChangeArrowheads="1"/>
              </p:cNvSpPr>
              <p:nvPr userDrawn="1"/>
            </p:nvSpPr>
            <p:spPr bwMode="auto">
              <a:xfrm>
                <a:off x="336" y="1104"/>
                <a:ext cx="96" cy="2784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  <a:extLst/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Arial" panose="020B0604020202020204" pitchFamily="34" charset="0"/>
                  <a:buNone/>
                  <a:defRPr/>
                </a:pPr>
                <a:endParaRPr lang="zh-CN" altLang="zh-CN" sz="2400" smtClean="0"/>
              </a:p>
            </p:txBody>
          </p:sp>
          <p:sp>
            <p:nvSpPr>
              <p:cNvPr id="1036" name="Freeform 1040"/>
              <p:cNvSpPr>
                <a:spLocks noChangeArrowheads="1"/>
              </p:cNvSpPr>
              <p:nvPr userDrawn="1"/>
            </p:nvSpPr>
            <p:spPr bwMode="auto">
              <a:xfrm>
                <a:off x="336" y="1103"/>
                <a:ext cx="97" cy="2785"/>
              </a:xfrm>
              <a:custGeom>
                <a:avLst/>
                <a:gdLst>
                  <a:gd name="T0" fmla="*/ 0 w 97"/>
                  <a:gd name="T1" fmla="*/ 2784 h 2785"/>
                  <a:gd name="T2" fmla="*/ 96 w 97"/>
                  <a:gd name="T3" fmla="*/ 2784 h 2785"/>
                  <a:gd name="T4" fmla="*/ 96 w 97"/>
                  <a:gd name="T5" fmla="*/ 0 h 27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7" h="2785">
                    <a:moveTo>
                      <a:pt x="0" y="2784"/>
                    </a:moveTo>
                    <a:lnTo>
                      <a:pt x="96" y="2784"/>
                    </a:lnTo>
                    <a:lnTo>
                      <a:pt x="96" y="0"/>
                    </a:lnTo>
                  </a:path>
                </a:pathLst>
              </a:custGeom>
              <a:solidFill>
                <a:srgbClr val="DDDDDD"/>
              </a:solidFill>
              <a:ln w="12700" cap="rnd">
                <a:solidFill>
                  <a:srgbClr val="B2B2B2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 typeface="Arial" panose="020B0604020202020204" pitchFamily="34" charset="0"/>
                  <a:buNone/>
                  <a:defRPr/>
                </a:pPr>
                <a:endParaRPr lang="zh-CN" altLang="en-US" smtClean="0"/>
              </a:p>
            </p:txBody>
          </p:sp>
          <p:sp>
            <p:nvSpPr>
              <p:cNvPr id="1037" name="Freeform 1041"/>
              <p:cNvSpPr>
                <a:spLocks noChangeArrowheads="1"/>
              </p:cNvSpPr>
              <p:nvPr userDrawn="1"/>
            </p:nvSpPr>
            <p:spPr bwMode="auto">
              <a:xfrm>
                <a:off x="336" y="1103"/>
                <a:ext cx="97" cy="2785"/>
              </a:xfrm>
              <a:custGeom>
                <a:avLst/>
                <a:gdLst>
                  <a:gd name="T0" fmla="*/ 0 w 97"/>
                  <a:gd name="T1" fmla="*/ 2784 h 2785"/>
                  <a:gd name="T2" fmla="*/ 0 w 97"/>
                  <a:gd name="T3" fmla="*/ 0 h 2785"/>
                  <a:gd name="T4" fmla="*/ 96 w 97"/>
                  <a:gd name="T5" fmla="*/ 0 h 27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7" h="2785">
                    <a:moveTo>
                      <a:pt x="0" y="2784"/>
                    </a:moveTo>
                    <a:lnTo>
                      <a:pt x="0" y="0"/>
                    </a:lnTo>
                    <a:lnTo>
                      <a:pt x="96" y="0"/>
                    </a:lnTo>
                  </a:path>
                </a:pathLst>
              </a:custGeom>
              <a:solidFill>
                <a:srgbClr val="DDDDDD"/>
              </a:solidFill>
              <a:ln w="12700" cap="rnd">
                <a:solidFill>
                  <a:srgbClr val="FFFFFF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 typeface="Arial" panose="020B0604020202020204" pitchFamily="34" charset="0"/>
                  <a:buNone/>
                  <a:defRPr/>
                </a:pPr>
                <a:endParaRPr lang="zh-CN" altLang="en-US" smtClean="0"/>
              </a:p>
            </p:txBody>
          </p:sp>
        </p:grpSp>
        <p:sp>
          <p:nvSpPr>
            <p:cNvPr id="1038" name="矩形 3210"/>
            <p:cNvSpPr>
              <a:spLocks noChangeArrowheads="1"/>
            </p:cNvSpPr>
            <p:nvPr userDrawn="1"/>
          </p:nvSpPr>
          <p:spPr bwMode="auto">
            <a:xfrm>
              <a:off x="-22" y="3652"/>
              <a:ext cx="7300" cy="453"/>
            </a:xfrm>
            <a:prstGeom prst="rect">
              <a:avLst/>
            </a:prstGeom>
            <a:pattFill prst="dkHorz">
              <a:fgClr>
                <a:srgbClr val="C8C8C8"/>
              </a:fgClr>
              <a:bgClr>
                <a:schemeClr val="bg1"/>
              </a:bgClr>
            </a:pattFill>
            <a:ln>
              <a:noFill/>
            </a:ln>
            <a:extLst/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lang="zh-CN" altLang="en-US" smtClean="0"/>
            </a:p>
          </p:txBody>
        </p:sp>
        <p:sp>
          <p:nvSpPr>
            <p:cNvPr id="1039" name="流程图: 可选过程 3214"/>
            <p:cNvSpPr>
              <a:spLocks noChangeArrowheads="1"/>
            </p:cNvSpPr>
            <p:nvPr userDrawn="1"/>
          </p:nvSpPr>
          <p:spPr bwMode="auto">
            <a:xfrm>
              <a:off x="136" y="136"/>
              <a:ext cx="6994" cy="295"/>
            </a:xfrm>
            <a:prstGeom prst="flowChartAlternateProcess">
              <a:avLst/>
            </a:prstGeom>
            <a:solidFill>
              <a:srgbClr val="EAEAEA"/>
            </a:solidFill>
            <a:ln>
              <a:noFill/>
            </a:ln>
            <a:extLst/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lang="zh-CN" altLang="en-US" smtClean="0"/>
            </a:p>
          </p:txBody>
        </p:sp>
        <p:sp>
          <p:nvSpPr>
            <p:cNvPr id="1040" name="矩形 3217"/>
            <p:cNvSpPr>
              <a:spLocks noChangeArrowheads="1"/>
            </p:cNvSpPr>
            <p:nvPr userDrawn="1"/>
          </p:nvSpPr>
          <p:spPr bwMode="auto">
            <a:xfrm>
              <a:off x="136" y="499"/>
              <a:ext cx="6982" cy="3083"/>
            </a:xfrm>
            <a:prstGeom prst="rect">
              <a:avLst/>
            </a:prstGeom>
            <a:solidFill>
              <a:srgbClr val="EAEAEA">
                <a:alpha val="85001"/>
              </a:srgbClr>
            </a:solidFill>
            <a:ln w="19050">
              <a:solidFill>
                <a:srgbClr val="F8F8F8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lang="zh-CN" altLang="en-US" smtClean="0"/>
            </a:p>
          </p:txBody>
        </p:sp>
      </p:grpSp>
      <p:sp>
        <p:nvSpPr>
          <p:cNvPr id="1027" name="标题 3220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323850" y="215900"/>
            <a:ext cx="10369550" cy="427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ransition spd="slow">
    <p:split orient="vert"/>
  </p:transition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anose="02020603050405020304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anose="02020603050405020304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anose="02020603050405020304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anose="02020603050405020304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anose="02020603050405020304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anose="02020603050405020304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anose="02020603050405020304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anose="02020603050405020304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FFFFCC"/>
        </a:buClr>
        <a:buSzPct val="90000"/>
        <a:buFont typeface="Wingdings" pitchFamily="2" charset="2"/>
        <a:buChar char="§"/>
        <a:defRPr sz="3200" b="1">
          <a:solidFill>
            <a:srgbClr val="FFFFCC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rgbClr val="FFFFCC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rgbClr val="FFFFCC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rgbClr val="FFFFCC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dk2" tx1="lt1" bg2="dk1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ransition spd="slow">
    <p:split orient="vert"/>
  </p:transition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anose="02020603050405020304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anose="02020603050405020304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anose="02020603050405020304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anose="02020603050405020304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anose="02020603050405020304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anose="02020603050405020304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anose="02020603050405020304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anose="02020603050405020304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FFFFCC"/>
        </a:buClr>
        <a:buSzPct val="90000"/>
        <a:buFont typeface="Wingdings" pitchFamily="2" charset="2"/>
        <a:buChar char="§"/>
        <a:defRPr sz="3200" b="1">
          <a:solidFill>
            <a:srgbClr val="FFFFCC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rgbClr val="FFFFCC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rgbClr val="FFFFCC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rgbClr val="FFFFCC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04-03.pptx" TargetMode="External"/><Relationship Id="rId2" Type="http://schemas.openxmlformats.org/officeDocument/2006/relationships/hyperlink" Target="04-01.pptx" TargetMode="External"/><Relationship Id="rId1" Type="http://schemas.openxmlformats.org/officeDocument/2006/relationships/slideLayout" Target="../slideLayouts/slideLayout18.xml"/><Relationship Id="rId4" Type="http://schemas.openxmlformats.org/officeDocument/2006/relationships/hyperlink" Target="04-04.pptx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slide" Target="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../../04MEDIA/ch04/&#27785;&#28096;&#20808;&#21518;.MPG" TargetMode="Externa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hyperlink" Target="../../03EXAMPLE/ch04/04-02-&#20363;&#39064;.pptx#-1,1,&#24187;&#28783;&#29255; 1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../../03EXAMPLE/ch04/04-02-&#20363;&#39064;.pptx#-1,5,&#24187;&#28783;&#29255; 5" TargetMode="External"/><Relationship Id="rId2" Type="http://schemas.openxmlformats.org/officeDocument/2006/relationships/hyperlink" Target="../../03EXAMPLE/ch04/04-02-&#20363;&#39064;.pptx#-1,2,&#24187;&#28783;&#29255; 2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eg"/><Relationship Id="rId3" Type="http://schemas.openxmlformats.org/officeDocument/2006/relationships/audio" Target="../media/audio3.wav"/><Relationship Id="rId7" Type="http://schemas.openxmlformats.org/officeDocument/2006/relationships/image" Target="../media/image3.jpe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hyperlink" Target="../../04MEDIA/ch04/&#27785;&#28096;&#36716;&#21270;.MPG" TargetMode="External"/><Relationship Id="rId4" Type="http://schemas.openxmlformats.org/officeDocument/2006/relationships/audio" Target="../media/audio4.wav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5.wav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hyperlink" Target="04-03.pptx" TargetMode="External"/><Relationship Id="rId4" Type="http://schemas.openxmlformats.org/officeDocument/2006/relationships/hyperlink" Target="../../03EXAMPLE/ch04/04-02-&#20363;&#39064;.pptx#-1,6,&#24187;&#28783;&#29255; 6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3065226" y="1096947"/>
            <a:ext cx="5410455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 smtClean="0">
                <a:solidFill>
                  <a:srgbClr val="FFFF00"/>
                </a:solidFill>
                <a:latin typeface="+mn-lt"/>
                <a:ea typeface="黑体" pitchFamily="49" charset="-122"/>
                <a:hlinkClick r:id="rId2" action="ppaction://hlinkpres?slideindex=1&amp;slidetitle="/>
              </a:rPr>
              <a:t>4.1</a:t>
            </a:r>
            <a:r>
              <a:rPr lang="en-US" altLang="zh-CN" sz="2800" b="1" dirty="0" smtClean="0">
                <a:solidFill>
                  <a:srgbClr val="FFFF00"/>
                </a:solidFill>
                <a:latin typeface="+mn-lt"/>
                <a:ea typeface="黑体" pitchFamily="49" charset="-122"/>
              </a:rPr>
              <a:t> </a:t>
            </a:r>
            <a:r>
              <a:rPr lang="zh-CN" altLang="en-US" sz="2800" b="1" dirty="0" smtClean="0">
                <a:solidFill>
                  <a:srgbClr val="FFFF00"/>
                </a:solidFill>
                <a:latin typeface="+mn-lt"/>
                <a:ea typeface="黑体" pitchFamily="49" charset="-122"/>
              </a:rPr>
              <a:t>沉淀</a:t>
            </a:r>
            <a:r>
              <a:rPr lang="en-US" altLang="zh-CN" sz="2800" b="1" dirty="0" smtClean="0">
                <a:solidFill>
                  <a:srgbClr val="FFFF00"/>
                </a:solidFill>
                <a:latin typeface="+mn-lt"/>
                <a:ea typeface="黑体" pitchFamily="49" charset="-122"/>
              </a:rPr>
              <a:t>—</a:t>
            </a:r>
            <a:r>
              <a:rPr lang="zh-CN" altLang="en-US" sz="2800" b="1" dirty="0" smtClean="0">
                <a:solidFill>
                  <a:srgbClr val="FFFF00"/>
                </a:solidFill>
                <a:latin typeface="+mn-lt"/>
                <a:ea typeface="黑体" pitchFamily="49" charset="-122"/>
              </a:rPr>
              <a:t>溶解平衡及其影响因素</a:t>
            </a:r>
            <a:endParaRPr lang="en-US" altLang="zh-CN" sz="2800" b="1" dirty="0" smtClean="0">
              <a:solidFill>
                <a:srgbClr val="FFFF00"/>
              </a:solidFill>
              <a:latin typeface="+mn-lt"/>
              <a:ea typeface="黑体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b="1" dirty="0" smtClean="0">
                <a:latin typeface="+mn-lt"/>
                <a:ea typeface="黑体" pitchFamily="49" charset="-122"/>
              </a:rPr>
              <a:t>4.2 </a:t>
            </a:r>
            <a:r>
              <a:rPr lang="zh-CN" altLang="en-US" sz="2800" b="1" dirty="0" smtClean="0">
                <a:latin typeface="+mn-lt"/>
                <a:ea typeface="黑体" pitchFamily="49" charset="-122"/>
              </a:rPr>
              <a:t>分步沉淀、沉淀的转化</a:t>
            </a:r>
            <a:endParaRPr lang="en-US" altLang="zh-CN" sz="2800" b="1" dirty="0" smtClean="0">
              <a:latin typeface="+mn-lt"/>
              <a:ea typeface="黑体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b="1" dirty="0" smtClean="0">
                <a:latin typeface="+mn-lt"/>
                <a:ea typeface="黑体" pitchFamily="49" charset="-122"/>
                <a:hlinkClick r:id="rId3" action="ppaction://hlinkpres?slideindex=1&amp;slidetitle="/>
              </a:rPr>
              <a:t>4.3</a:t>
            </a:r>
            <a:r>
              <a:rPr lang="en-US" altLang="zh-CN" sz="2800" b="1" dirty="0" smtClean="0">
                <a:latin typeface="+mn-lt"/>
                <a:ea typeface="黑体" pitchFamily="49" charset="-122"/>
              </a:rPr>
              <a:t> </a:t>
            </a:r>
            <a:r>
              <a:rPr lang="zh-CN" altLang="en-US" sz="2800" b="1" dirty="0" smtClean="0">
                <a:latin typeface="+mn-lt"/>
                <a:ea typeface="黑体" pitchFamily="49" charset="-122"/>
              </a:rPr>
              <a:t>沉淀的形成与纯度</a:t>
            </a:r>
            <a:endParaRPr lang="en-US" altLang="zh-CN" sz="2800" b="1" dirty="0" smtClean="0">
              <a:latin typeface="+mn-lt"/>
              <a:ea typeface="黑体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b="1" dirty="0" smtClean="0">
                <a:latin typeface="+mn-lt"/>
                <a:ea typeface="黑体" pitchFamily="49" charset="-122"/>
                <a:hlinkClick r:id="rId4" action="ppaction://hlinkpres?slideindex=1&amp;slidetitle="/>
              </a:rPr>
              <a:t>4.4</a:t>
            </a:r>
            <a:r>
              <a:rPr lang="en-US" altLang="zh-CN" sz="2800" b="1" dirty="0" smtClean="0">
                <a:latin typeface="+mn-lt"/>
                <a:ea typeface="黑体" pitchFamily="49" charset="-122"/>
              </a:rPr>
              <a:t> </a:t>
            </a:r>
            <a:r>
              <a:rPr lang="zh-CN" altLang="en-US" sz="2800" b="1" dirty="0" smtClean="0">
                <a:latin typeface="+mn-lt"/>
                <a:ea typeface="黑体" pitchFamily="49" charset="-122"/>
              </a:rPr>
              <a:t>沉淀分析法</a:t>
            </a:r>
            <a:r>
              <a:rPr lang="en-US" altLang="zh-CN" sz="2800" b="1" dirty="0" smtClean="0">
                <a:latin typeface="+mn-lt"/>
                <a:ea typeface="黑体" pitchFamily="49" charset="-122"/>
              </a:rPr>
              <a:t> </a:t>
            </a:r>
            <a:endParaRPr lang="zh-CN" altLang="en-US" sz="2800" b="1" dirty="0">
              <a:latin typeface="+mn-lt"/>
              <a:ea typeface="黑体" pitchFamily="49" charset="-122"/>
            </a:endParaRPr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" dur="5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" dur="5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动作按钮: 前进或下一项 62472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auto">
          <a:xfrm>
            <a:off x="3760788" y="1882775"/>
            <a:ext cx="431800" cy="431800"/>
          </a:xfrm>
          <a:prstGeom prst="actionButtonForwardNext">
            <a:avLst/>
          </a:prstGeom>
          <a:solidFill>
            <a:srgbClr val="C0C0C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1" hangingPunct="1">
              <a:buFont typeface="Arial" charset="0"/>
              <a:buNone/>
            </a:pPr>
            <a:endParaRPr lang="zh-CN" altLang="en-US" sz="2800"/>
          </a:p>
        </p:txBody>
      </p:sp>
      <p:sp>
        <p:nvSpPr>
          <p:cNvPr id="3075" name="动作按钮: 前进或下一项 62473">
            <a:hlinkClick r:id="rId2" action="ppaction://hlinksldjump"/>
          </p:cNvPr>
          <p:cNvSpPr>
            <a:spLocks noChangeAspect="1" noChangeArrowheads="1"/>
          </p:cNvSpPr>
          <p:nvPr/>
        </p:nvSpPr>
        <p:spPr bwMode="auto">
          <a:xfrm>
            <a:off x="3760788" y="2668588"/>
            <a:ext cx="431800" cy="436562"/>
          </a:xfrm>
          <a:prstGeom prst="actionButtonForwardNext">
            <a:avLst/>
          </a:prstGeom>
          <a:solidFill>
            <a:srgbClr val="C0C0C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1" hangingPunct="1">
              <a:buFont typeface="Arial" charset="0"/>
              <a:buNone/>
            </a:pPr>
            <a:endParaRPr lang="zh-CN" altLang="en-US" sz="2800"/>
          </a:p>
        </p:txBody>
      </p:sp>
      <p:sp>
        <p:nvSpPr>
          <p:cNvPr id="62475" name="文本框 62474"/>
          <p:cNvSpPr txBox="1">
            <a:spLocks noChangeArrowheads="1"/>
          </p:cNvSpPr>
          <p:nvPr/>
        </p:nvSpPr>
        <p:spPr bwMode="auto">
          <a:xfrm>
            <a:off x="4260850" y="1454150"/>
            <a:ext cx="3219450" cy="2541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lnSpc>
                <a:spcPct val="200000"/>
              </a:lnSpc>
              <a:buFont typeface="Arial" charset="0"/>
              <a:buNone/>
            </a:pPr>
            <a:r>
              <a:rPr lang="en-US" altLang="zh-CN" sz="2800" b="1">
                <a:ea typeface="黑体" pitchFamily="49" charset="-122"/>
              </a:rPr>
              <a:t>4.2.1 </a:t>
            </a:r>
            <a:r>
              <a:rPr lang="zh-CN" altLang="en-US" sz="2800" b="1">
                <a:ea typeface="黑体" pitchFamily="49" charset="-122"/>
              </a:rPr>
              <a:t>分步沉淀</a:t>
            </a:r>
          </a:p>
          <a:p>
            <a:pPr eaLnBrk="1" hangingPunct="1">
              <a:lnSpc>
                <a:spcPct val="200000"/>
              </a:lnSpc>
              <a:buFont typeface="Arial" charset="0"/>
              <a:buNone/>
            </a:pPr>
            <a:r>
              <a:rPr lang="en-US" altLang="zh-CN" sz="2800" b="1">
                <a:ea typeface="黑体" pitchFamily="49" charset="-122"/>
              </a:rPr>
              <a:t>4.2.2 </a:t>
            </a:r>
            <a:r>
              <a:rPr lang="zh-CN" altLang="en-US" sz="2800" b="1">
                <a:ea typeface="黑体" pitchFamily="49" charset="-122"/>
              </a:rPr>
              <a:t>物质的分离</a:t>
            </a:r>
          </a:p>
          <a:p>
            <a:pPr eaLnBrk="1" hangingPunct="1">
              <a:lnSpc>
                <a:spcPct val="200000"/>
              </a:lnSpc>
              <a:buFont typeface="Arial" charset="0"/>
              <a:buNone/>
            </a:pPr>
            <a:r>
              <a:rPr lang="en-US" altLang="zh-CN" sz="2800" b="1">
                <a:ea typeface="黑体" pitchFamily="49" charset="-122"/>
              </a:rPr>
              <a:t>4.2.3 </a:t>
            </a:r>
            <a:r>
              <a:rPr lang="zh-CN" altLang="en-US" sz="2800" b="1">
                <a:ea typeface="黑体" pitchFamily="49" charset="-122"/>
              </a:rPr>
              <a:t>沉淀的转化</a:t>
            </a:r>
          </a:p>
        </p:txBody>
      </p:sp>
      <p:sp>
        <p:nvSpPr>
          <p:cNvPr id="3077" name="动作按钮: 前进或下一项 62477">
            <a:hlinkClick r:id="rId3" action="ppaction://hlinksldjump"/>
          </p:cNvPr>
          <p:cNvSpPr>
            <a:spLocks noChangeAspect="1" noChangeArrowheads="1"/>
          </p:cNvSpPr>
          <p:nvPr/>
        </p:nvSpPr>
        <p:spPr bwMode="auto">
          <a:xfrm>
            <a:off x="3760788" y="3454400"/>
            <a:ext cx="431800" cy="436563"/>
          </a:xfrm>
          <a:prstGeom prst="actionButtonForwardNext">
            <a:avLst/>
          </a:prstGeom>
          <a:solidFill>
            <a:srgbClr val="C0C0C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1" hangingPunct="1">
              <a:buFont typeface="Arial" charset="0"/>
              <a:buNone/>
            </a:pPr>
            <a:endParaRPr lang="zh-CN" altLang="en-US" sz="2800"/>
          </a:p>
        </p:txBody>
      </p:sp>
      <p:sp>
        <p:nvSpPr>
          <p:cNvPr id="3078" name="文本框 68635"/>
          <p:cNvSpPr txBox="1">
            <a:spLocks noChangeArrowheads="1"/>
          </p:cNvSpPr>
          <p:nvPr/>
        </p:nvSpPr>
        <p:spPr bwMode="auto">
          <a:xfrm>
            <a:off x="257175" y="230188"/>
            <a:ext cx="4811713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zh-CN" altLang="en-US" sz="2500" b="1">
                <a:solidFill>
                  <a:srgbClr val="FF3300"/>
                </a:solidFill>
                <a:ea typeface="黑体" pitchFamily="49" charset="-122"/>
              </a:rPr>
              <a:t>4.2 分步沉淀 沉淀的转化</a:t>
            </a:r>
          </a:p>
        </p:txBody>
      </p:sp>
      <p:sp>
        <p:nvSpPr>
          <p:cNvPr id="3079" name="椭圆 62501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auto">
          <a:xfrm>
            <a:off x="71438" y="5688013"/>
            <a:ext cx="360362" cy="360362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  <p:sp>
        <p:nvSpPr>
          <p:cNvPr id="3080" name="椭圆 68634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auto">
          <a:xfrm>
            <a:off x="11155363" y="5688013"/>
            <a:ext cx="360362" cy="360362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" dur="500"/>
                                        <p:tgtEl>
                                          <p:spTgt spid="624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2" dur="500"/>
                                        <p:tgtEl>
                                          <p:spTgt spid="624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7" dur="500"/>
                                        <p:tgtEl>
                                          <p:spTgt spid="624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475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7" name="文本框 58376"/>
          <p:cNvSpPr txBox="1">
            <a:spLocks noChangeArrowheads="1"/>
          </p:cNvSpPr>
          <p:nvPr/>
        </p:nvSpPr>
        <p:spPr bwMode="auto">
          <a:xfrm>
            <a:off x="649108" y="859656"/>
            <a:ext cx="1583978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zh-CN" altLang="en-US" sz="2500" b="1" u="sng" dirty="0" smtClean="0">
                <a:solidFill>
                  <a:srgbClr val="FF3300"/>
                </a:solidFill>
                <a:ea typeface="楷体_GB2312" pitchFamily="49" charset="-122"/>
                <a:hlinkClick r:id="rId3" action="ppaction://hlinkfile"/>
              </a:rPr>
              <a:t>分步沉淀</a:t>
            </a:r>
            <a:r>
              <a:rPr lang="en-US" altLang="zh-CN" sz="2500" b="1" dirty="0" smtClean="0">
                <a:solidFill>
                  <a:srgbClr val="FF3300"/>
                </a:solidFill>
                <a:ea typeface="楷体_GB2312" pitchFamily="49" charset="-122"/>
              </a:rPr>
              <a:t>:</a:t>
            </a:r>
            <a:endParaRPr lang="en-US" altLang="zh-CN" sz="2500" b="1" dirty="0">
              <a:ea typeface="楷体_GB2312" pitchFamily="49" charset="-122"/>
            </a:endParaRPr>
          </a:p>
        </p:txBody>
      </p:sp>
      <p:sp>
        <p:nvSpPr>
          <p:cNvPr id="58378" name="矩形 58377"/>
          <p:cNvSpPr>
            <a:spLocks noChangeArrowheads="1"/>
          </p:cNvSpPr>
          <p:nvPr/>
        </p:nvSpPr>
        <p:spPr bwMode="auto">
          <a:xfrm>
            <a:off x="812787" y="1296774"/>
            <a:ext cx="8750300" cy="1804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lnSpc>
                <a:spcPct val="150000"/>
              </a:lnSpc>
              <a:buFont typeface="Arial" charset="0"/>
              <a:buNone/>
            </a:pPr>
            <a:r>
              <a:rPr lang="zh-CN" altLang="en-US" sz="2500" b="1" dirty="0">
                <a:ea typeface="楷体_GB2312" pitchFamily="49" charset="-122"/>
              </a:rPr>
              <a:t>　　两种以上的共存离子与同一沉淀剂所生成沉淀的</a:t>
            </a:r>
            <a:r>
              <a:rPr lang="zh-CN" altLang="en-US" sz="2500" b="1" u="sng" dirty="0">
                <a:ea typeface="楷体_GB2312" pitchFamily="49" charset="-122"/>
              </a:rPr>
              <a:t>溶度积之差</a:t>
            </a:r>
            <a:r>
              <a:rPr lang="zh-CN" altLang="en-US" sz="2500" b="1" dirty="0">
                <a:ea typeface="楷体_GB2312" pitchFamily="49" charset="-122"/>
              </a:rPr>
              <a:t>所导致</a:t>
            </a:r>
            <a:r>
              <a:rPr lang="en-US" altLang="zh-CN" sz="2500" b="1" dirty="0">
                <a:ea typeface="楷体_GB2312" pitchFamily="49" charset="-122"/>
              </a:rPr>
              <a:t>.</a:t>
            </a:r>
            <a:endParaRPr lang="zh-CN" altLang="en-US" sz="2500" b="1" dirty="0">
              <a:ea typeface="楷体_GB2312" pitchFamily="49" charset="-122"/>
            </a:endParaRPr>
          </a:p>
          <a:p>
            <a:pPr eaLnBrk="1" hangingPunct="1">
              <a:lnSpc>
                <a:spcPct val="150000"/>
              </a:lnSpc>
              <a:buFont typeface="Arial" charset="0"/>
              <a:buNone/>
            </a:pPr>
            <a:r>
              <a:rPr lang="zh-CN" altLang="en-US" sz="2500" b="1" dirty="0">
                <a:solidFill>
                  <a:srgbClr val="FF3300"/>
                </a:solidFill>
                <a:ea typeface="楷体_GB2312" pitchFamily="49" charset="-122"/>
              </a:rPr>
              <a:t>规律</a:t>
            </a:r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</a:rPr>
              <a:t>:</a:t>
            </a:r>
          </a:p>
        </p:txBody>
      </p:sp>
      <p:sp>
        <p:nvSpPr>
          <p:cNvPr id="58382" name="矩形 58381"/>
          <p:cNvSpPr>
            <a:spLocks noChangeArrowheads="1"/>
          </p:cNvSpPr>
          <p:nvPr/>
        </p:nvSpPr>
        <p:spPr bwMode="auto">
          <a:xfrm>
            <a:off x="812431" y="3021259"/>
            <a:ext cx="8043862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zh-CN" altLang="en-US" sz="2500" b="1" dirty="0">
                <a:ea typeface="楷体_GB2312" pitchFamily="49" charset="-122"/>
              </a:rPr>
              <a:t>　　离子积先超过溶度积的难溶物先沉淀</a:t>
            </a:r>
            <a:r>
              <a:rPr lang="en-US" altLang="zh-CN" sz="2500" b="1" dirty="0">
                <a:ea typeface="楷体_GB2312" pitchFamily="49" charset="-122"/>
              </a:rPr>
              <a:t>.</a:t>
            </a:r>
          </a:p>
        </p:txBody>
      </p:sp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831815" y="4597409"/>
            <a:ext cx="928694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zh-CN" altLang="en-US" sz="2500" b="1" dirty="0" smtClean="0">
                <a:ea typeface="楷体_GB2312" pitchFamily="49" charset="-122"/>
                <a:hlinkClick r:id="rId4" action="ppaction://hlinkpres?slideindex=1&amp;slidetitle=幻灯片 1"/>
              </a:rPr>
              <a:t>解</a:t>
            </a:r>
            <a:r>
              <a:rPr lang="en-US" altLang="zh-CN" sz="2500" b="1" dirty="0" smtClean="0">
                <a:ea typeface="楷体_GB2312" pitchFamily="49" charset="-122"/>
              </a:rPr>
              <a:t>:</a:t>
            </a:r>
            <a:endParaRPr lang="en-US" altLang="zh-CN" sz="2500" b="1" dirty="0">
              <a:ea typeface="楷体_GB2312" pitchFamily="49" charset="-122"/>
            </a:endParaRPr>
          </a:p>
        </p:txBody>
      </p:sp>
      <p:sp>
        <p:nvSpPr>
          <p:cNvPr id="4102" name="文本框 68635"/>
          <p:cNvSpPr txBox="1">
            <a:spLocks noChangeArrowheads="1"/>
          </p:cNvSpPr>
          <p:nvPr/>
        </p:nvSpPr>
        <p:spPr bwMode="auto">
          <a:xfrm>
            <a:off x="257175" y="230188"/>
            <a:ext cx="4811713" cy="427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zh-CN" altLang="en-US" sz="2200" b="1">
                <a:solidFill>
                  <a:srgbClr val="FF3300"/>
                </a:solidFill>
                <a:ea typeface="黑体" pitchFamily="49" charset="-122"/>
              </a:rPr>
              <a:t>4.2.1分步沉淀</a:t>
            </a:r>
          </a:p>
        </p:txBody>
      </p:sp>
      <p:sp>
        <p:nvSpPr>
          <p:cNvPr id="4103" name="椭圆 62501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auto">
          <a:xfrm>
            <a:off x="71438" y="5688013"/>
            <a:ext cx="360362" cy="360362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  <p:sp>
        <p:nvSpPr>
          <p:cNvPr id="4104" name="椭圆 68634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auto">
          <a:xfrm>
            <a:off x="11155363" y="5688013"/>
            <a:ext cx="360362" cy="360362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  <p:sp>
        <p:nvSpPr>
          <p:cNvPr id="9" name="矩形 8"/>
          <p:cNvSpPr>
            <a:spLocks noChangeArrowheads="1"/>
          </p:cNvSpPr>
          <p:nvPr/>
        </p:nvSpPr>
        <p:spPr bwMode="auto">
          <a:xfrm>
            <a:off x="812787" y="3735635"/>
            <a:ext cx="10377538" cy="8617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500" b="1" dirty="0" smtClean="0">
                <a:latin typeface="+mn-lt"/>
                <a:ea typeface="楷体_GB2312" pitchFamily="49" charset="-122"/>
              </a:rPr>
              <a:t>例</a:t>
            </a:r>
            <a:r>
              <a:rPr lang="en-US" altLang="zh-CN" sz="2500" b="1" dirty="0" smtClean="0">
                <a:latin typeface="+mn-lt"/>
                <a:ea typeface="楷体_GB2312" pitchFamily="49" charset="-122"/>
              </a:rPr>
              <a:t>1.</a:t>
            </a:r>
            <a:r>
              <a:rPr lang="zh-CN" altLang="zh-CN" sz="2500" b="1" dirty="0" smtClean="0">
                <a:latin typeface="+mn-lt"/>
                <a:ea typeface="楷体_GB2312" pitchFamily="49" charset="-122"/>
              </a:rPr>
              <a:t>100</a:t>
            </a:r>
            <a:r>
              <a:rPr lang="zh-CN" altLang="zh-CN" sz="2500" b="1" dirty="0">
                <a:latin typeface="+mn-lt"/>
                <a:ea typeface="楷体_GB2312" pitchFamily="49" charset="-122"/>
              </a:rPr>
              <a:t>mL 溶液中含 0.00100 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mol </a:t>
            </a:r>
            <a:r>
              <a:rPr lang="en-US" altLang="zh-CN" sz="2500" b="1" dirty="0" err="1">
                <a:latin typeface="+mn-lt"/>
                <a:ea typeface="楷体_GB2312" pitchFamily="49" charset="-122"/>
              </a:rPr>
              <a:t>NaCl</a:t>
            </a:r>
            <a:r>
              <a:rPr lang="zh-CN" altLang="zh-CN" sz="2500" b="1" dirty="0">
                <a:latin typeface="+mn-lt"/>
                <a:ea typeface="楷体_GB2312" pitchFamily="49" charset="-122"/>
              </a:rPr>
              <a:t>和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K</a:t>
            </a:r>
            <a:r>
              <a:rPr lang="en-US" altLang="zh-CN" sz="2500" b="1" baseline="-25000" dirty="0">
                <a:latin typeface="+mn-lt"/>
                <a:ea typeface="楷体_GB2312" pitchFamily="49" charset="-122"/>
              </a:rPr>
              <a:t>2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CrO</a:t>
            </a:r>
            <a:r>
              <a:rPr lang="en-US" altLang="zh-CN" sz="2500" b="1" baseline="-25000" dirty="0">
                <a:latin typeface="+mn-lt"/>
                <a:ea typeface="楷体_GB2312" pitchFamily="49" charset="-122"/>
              </a:rPr>
              <a:t>4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,</a:t>
            </a:r>
            <a:r>
              <a:rPr lang="zh-CN" altLang="en-US" sz="2500" b="1" dirty="0">
                <a:latin typeface="+mn-lt"/>
                <a:ea typeface="楷体_GB2312" pitchFamily="49" charset="-122"/>
              </a:rPr>
              <a:t>当逐滴加入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AgNO</a:t>
            </a:r>
            <a:r>
              <a:rPr lang="en-US" altLang="zh-CN" sz="2500" b="1" baseline="-25000" dirty="0">
                <a:latin typeface="+mn-lt"/>
                <a:ea typeface="楷体_GB2312" pitchFamily="49" charset="-122"/>
              </a:rPr>
              <a:t>3</a:t>
            </a:r>
            <a:r>
              <a:rPr lang="zh-CN" altLang="en-US" sz="2500" b="1" dirty="0">
                <a:latin typeface="+mn-lt"/>
                <a:ea typeface="楷体_GB2312" pitchFamily="49" charset="-122"/>
              </a:rPr>
              <a:t>时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,</a:t>
            </a:r>
            <a:r>
              <a:rPr lang="zh-CN" altLang="en-US" sz="2500" b="1" dirty="0">
                <a:latin typeface="+mn-lt"/>
                <a:ea typeface="楷体_GB2312" pitchFamily="49" charset="-122"/>
              </a:rPr>
              <a:t>产生沉淀的次序如何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?</a:t>
            </a:r>
            <a:r>
              <a:rPr lang="zh-CN" altLang="en-US" sz="2500" b="1" dirty="0">
                <a:latin typeface="+mn-lt"/>
                <a:ea typeface="楷体_GB2312" pitchFamily="49" charset="-122"/>
              </a:rPr>
              <a:t>有无分离可能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?(</a:t>
            </a:r>
            <a:r>
              <a:rPr lang="zh-CN" altLang="en-US" sz="2500" b="1" dirty="0">
                <a:latin typeface="+mn-lt"/>
                <a:ea typeface="楷体_GB2312" pitchFamily="49" charset="-122"/>
              </a:rPr>
              <a:t>忽略加入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AgNO</a:t>
            </a:r>
            <a:r>
              <a:rPr lang="en-US" altLang="zh-CN" sz="2500" b="1" baseline="-25000" dirty="0">
                <a:latin typeface="+mn-lt"/>
                <a:ea typeface="楷体_GB2312" pitchFamily="49" charset="-122"/>
              </a:rPr>
              <a:t>3</a:t>
            </a:r>
            <a:r>
              <a:rPr lang="zh-CN" altLang="en-US" sz="2500" b="1" dirty="0">
                <a:latin typeface="+mn-lt"/>
                <a:ea typeface="楷体_GB2312" pitchFamily="49" charset="-122"/>
              </a:rPr>
              <a:t>所引起的体积变化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)</a:t>
            </a:r>
            <a:endParaRPr lang="en-US" altLang="zh-CN" sz="2500" b="1" dirty="0">
              <a:solidFill>
                <a:schemeClr val="accent2"/>
              </a:solidFill>
              <a:latin typeface="+mn-lt"/>
              <a:ea typeface="楷体_GB2312" pitchFamily="49" charset="-122"/>
            </a:endParaRPr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58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583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583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35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100"/>
                                        <p:tgtEl>
                                          <p:spTgt spid="5838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tart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2" dur="1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77" grpId="0"/>
      <p:bldP spid="58378" grpId="0" build="p"/>
      <p:bldP spid="58382" grpId="0"/>
      <p:bldP spid="2" grpId="0"/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7" name="文本框 94216"/>
          <p:cNvSpPr txBox="1"/>
          <p:nvPr/>
        </p:nvSpPr>
        <p:spPr>
          <a:xfrm>
            <a:off x="731856" y="811195"/>
            <a:ext cx="7672387" cy="6969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150000"/>
              </a:lnSpc>
              <a:buFont typeface="Arial" panose="020B0604020202020204" pitchFamily="34" charset="0"/>
              <a:buNone/>
              <a:defRPr/>
            </a:pPr>
            <a:r>
              <a:rPr lang="en-US" altLang="zh-CN" sz="2645" b="1" noProof="1">
                <a:solidFill>
                  <a:srgbClr val="FF0000"/>
                </a:solidFill>
                <a:ea typeface="楷体_GB2312" panose="02010609030101010101" pitchFamily="49" charset="-122"/>
                <a:cs typeface="+mn-ea"/>
              </a:rPr>
              <a:t>1.</a:t>
            </a:r>
            <a:r>
              <a:rPr lang="zh-CN" altLang="en-US" sz="2645" b="1" u="sng" noProof="1">
                <a:solidFill>
                  <a:srgbClr val="FF0000"/>
                </a:solidFill>
                <a:ea typeface="楷体_GB2312" panose="02010609030101010101" pitchFamily="49" charset="-122"/>
                <a:cs typeface="+mn-ea"/>
              </a:rPr>
              <a:t>氢氧化物沉淀</a:t>
            </a:r>
            <a:r>
              <a:rPr lang="en-US" altLang="zh-CN" sz="2645" b="1" noProof="1">
                <a:solidFill>
                  <a:srgbClr val="FF0000"/>
                </a:solidFill>
                <a:ea typeface="楷体_GB2312" panose="02010609030101010101" pitchFamily="49" charset="-122"/>
                <a:cs typeface="+mn-ea"/>
              </a:rPr>
              <a:t>:</a:t>
            </a:r>
            <a:endParaRPr lang="en-US" altLang="zh-CN" sz="2645" b="1" noProof="1">
              <a:solidFill>
                <a:srgbClr val="FF0000"/>
              </a:solidFill>
              <a:ea typeface="楷体_GB2312" panose="02010609030101010101" pitchFamily="49" charset="-122"/>
            </a:endParaRPr>
          </a:p>
        </p:txBody>
      </p:sp>
      <p:sp>
        <p:nvSpPr>
          <p:cNvPr id="94218" name="矩形 94217"/>
          <p:cNvSpPr/>
          <p:nvPr/>
        </p:nvSpPr>
        <p:spPr>
          <a:xfrm>
            <a:off x="688939" y="2597145"/>
            <a:ext cx="1000132" cy="629788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150000"/>
              </a:lnSpc>
              <a:buFont typeface="Arial" panose="020B0604020202020204" pitchFamily="34" charset="0"/>
              <a:buNone/>
              <a:defRPr/>
            </a:pPr>
            <a:r>
              <a:rPr lang="zh-CN" altLang="en-US" sz="2645" b="1" noProof="1" smtClean="0">
                <a:ea typeface="楷体_GB2312" panose="02010609030101010101" pitchFamily="49" charset="-122"/>
                <a:hlinkClick r:id="rId2" action="ppaction://hlinkpres?slideindex=2&amp;slidetitle=幻灯片 2"/>
              </a:rPr>
              <a:t>解</a:t>
            </a:r>
            <a:r>
              <a:rPr lang="en-US" altLang="zh-CN" sz="2645" b="1" noProof="1" smtClean="0">
                <a:ea typeface="楷体_GB2312" panose="02010609030101010101" pitchFamily="49" charset="-122"/>
              </a:rPr>
              <a:t>:</a:t>
            </a:r>
            <a:endParaRPr lang="en-US" altLang="zh-CN" sz="2645" b="1" noProof="1">
              <a:ea typeface="楷体_GB2312" panose="02010609030101010101" pitchFamily="49" charset="-122"/>
            </a:endParaRPr>
          </a:p>
        </p:txBody>
      </p:sp>
      <p:sp>
        <p:nvSpPr>
          <p:cNvPr id="5124" name="文本框 68635"/>
          <p:cNvSpPr txBox="1">
            <a:spLocks noChangeArrowheads="1"/>
          </p:cNvSpPr>
          <p:nvPr/>
        </p:nvSpPr>
        <p:spPr bwMode="auto">
          <a:xfrm>
            <a:off x="257175" y="230188"/>
            <a:ext cx="4811713" cy="427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zh-CN" altLang="en-US" sz="2200" b="1">
                <a:solidFill>
                  <a:srgbClr val="FF3300"/>
                </a:solidFill>
                <a:ea typeface="黑体" pitchFamily="49" charset="-122"/>
              </a:rPr>
              <a:t>4.2.2 物质的分离</a:t>
            </a:r>
          </a:p>
        </p:txBody>
      </p:sp>
      <p:sp>
        <p:nvSpPr>
          <p:cNvPr id="96295" name="文本框 96294"/>
          <p:cNvSpPr txBox="1">
            <a:spLocks noChangeArrowheads="1"/>
          </p:cNvSpPr>
          <p:nvPr/>
        </p:nvSpPr>
        <p:spPr bwMode="auto">
          <a:xfrm>
            <a:off x="712809" y="3168649"/>
            <a:ext cx="2240267" cy="663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150000"/>
              </a:lnSpc>
              <a:buFont typeface="Arial" charset="0"/>
              <a:buNone/>
            </a:pPr>
            <a:r>
              <a:rPr lang="en-US" altLang="zh-CN" sz="2500" b="1" dirty="0">
                <a:solidFill>
                  <a:srgbClr val="FF0000"/>
                </a:solidFill>
                <a:ea typeface="楷体_GB2312" pitchFamily="49" charset="-122"/>
              </a:rPr>
              <a:t>2.</a:t>
            </a:r>
            <a:r>
              <a:rPr lang="zh-CN" altLang="en-US" sz="2500" b="1" u="sng" dirty="0">
                <a:solidFill>
                  <a:srgbClr val="FF0000"/>
                </a:solidFill>
                <a:ea typeface="楷体_GB2312" pitchFamily="49" charset="-122"/>
              </a:rPr>
              <a:t>硫化物沉淀</a:t>
            </a:r>
            <a:r>
              <a:rPr lang="en-US" altLang="zh-CN" sz="2500" b="1" dirty="0">
                <a:solidFill>
                  <a:srgbClr val="FF0000"/>
                </a:solidFill>
                <a:ea typeface="楷体_GB2312" pitchFamily="49" charset="-122"/>
              </a:rPr>
              <a:t>:</a:t>
            </a:r>
          </a:p>
        </p:txBody>
      </p:sp>
      <p:sp>
        <p:nvSpPr>
          <p:cNvPr id="5" name="矩形 4"/>
          <p:cNvSpPr/>
          <p:nvPr/>
        </p:nvSpPr>
        <p:spPr>
          <a:xfrm>
            <a:off x="760377" y="4954599"/>
            <a:ext cx="928694" cy="629788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150000"/>
              </a:lnSpc>
              <a:buFont typeface="Arial" panose="020B0604020202020204" pitchFamily="34" charset="0"/>
              <a:buNone/>
              <a:defRPr/>
            </a:pPr>
            <a:r>
              <a:rPr lang="zh-CN" altLang="en-US" sz="2645" b="1" noProof="1" smtClean="0">
                <a:ea typeface="楷体_GB2312" panose="02010609030101010101" pitchFamily="49" charset="-122"/>
                <a:hlinkClick r:id="rId3" action="ppaction://hlinkpres?slideindex=5&amp;slidetitle=幻灯片 5"/>
              </a:rPr>
              <a:t>解</a:t>
            </a:r>
            <a:r>
              <a:rPr lang="en-US" altLang="zh-CN" sz="2645" b="1" noProof="1" smtClean="0">
                <a:ea typeface="楷体_GB2312" panose="02010609030101010101" pitchFamily="49" charset="-122"/>
              </a:rPr>
              <a:t>:</a:t>
            </a:r>
            <a:endParaRPr lang="en-US" altLang="zh-CN" sz="2645" b="1" noProof="1">
              <a:ea typeface="楷体_GB2312" panose="02010609030101010101" pitchFamily="49" charset="-122"/>
            </a:endParaRPr>
          </a:p>
        </p:txBody>
      </p:sp>
      <p:sp>
        <p:nvSpPr>
          <p:cNvPr id="5127" name="椭圆 62501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auto">
          <a:xfrm>
            <a:off x="71438" y="5688013"/>
            <a:ext cx="360362" cy="360362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  <p:sp>
        <p:nvSpPr>
          <p:cNvPr id="5128" name="椭圆 68634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auto">
          <a:xfrm>
            <a:off x="11155363" y="5688013"/>
            <a:ext cx="360362" cy="360362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676221" y="1454137"/>
            <a:ext cx="10585542" cy="124649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2500" b="1" noProof="1" smtClean="0">
                <a:latin typeface="+mn-lt"/>
                <a:ea typeface="楷体_GB2312" pitchFamily="49" charset="-122"/>
                <a:cs typeface="+mn-ea"/>
              </a:rPr>
              <a:t>例</a:t>
            </a:r>
            <a:r>
              <a:rPr lang="en-US" altLang="zh-CN" sz="2500" b="1" noProof="1" smtClean="0">
                <a:latin typeface="+mn-lt"/>
                <a:ea typeface="楷体_GB2312" pitchFamily="49" charset="-122"/>
                <a:cs typeface="+mn-ea"/>
              </a:rPr>
              <a:t>2.</a:t>
            </a:r>
            <a:r>
              <a:rPr lang="zh-CN" altLang="en-US" sz="2500" b="1" noProof="1" smtClean="0">
                <a:latin typeface="+mn-lt"/>
                <a:ea typeface="楷体_GB2312" pitchFamily="49" charset="-122"/>
                <a:cs typeface="+mn-ea"/>
              </a:rPr>
              <a:t>某</a:t>
            </a:r>
            <a:r>
              <a:rPr lang="zh-CN" altLang="en-US" sz="2500" b="1" noProof="1">
                <a:latin typeface="+mn-lt"/>
                <a:ea typeface="楷体_GB2312" pitchFamily="49" charset="-122"/>
                <a:cs typeface="+mn-ea"/>
              </a:rPr>
              <a:t>溶液中</a:t>
            </a:r>
            <a:r>
              <a:rPr lang="en-US" altLang="zh-CN" sz="2500" b="1" noProof="1">
                <a:latin typeface="+mn-lt"/>
                <a:ea typeface="楷体_GB2312" pitchFamily="49" charset="-122"/>
                <a:cs typeface="+mn-ea"/>
              </a:rPr>
              <a:t>,Fe</a:t>
            </a:r>
            <a:r>
              <a:rPr lang="en-US" altLang="zh-CN" sz="2500" b="1" baseline="30000" noProof="1">
                <a:latin typeface="+mn-lt"/>
                <a:ea typeface="楷体_GB2312" pitchFamily="49" charset="-122"/>
                <a:cs typeface="+mn-ea"/>
              </a:rPr>
              <a:t>3+</a:t>
            </a:r>
            <a:r>
              <a:rPr lang="zh-CN" altLang="en-US" sz="2500" b="1" noProof="1">
                <a:latin typeface="+mn-lt"/>
                <a:ea typeface="楷体_GB2312" pitchFamily="49" charset="-122"/>
                <a:cs typeface="+mn-ea"/>
              </a:rPr>
              <a:t>和</a:t>
            </a:r>
            <a:r>
              <a:rPr lang="en-US" altLang="zh-CN" sz="2500" b="1" noProof="1">
                <a:latin typeface="+mn-lt"/>
                <a:ea typeface="楷体_GB2312" pitchFamily="49" charset="-122"/>
                <a:cs typeface="+mn-ea"/>
              </a:rPr>
              <a:t>Ni</a:t>
            </a:r>
            <a:r>
              <a:rPr lang="en-US" altLang="zh-CN" sz="2500" b="1" baseline="30000" noProof="1">
                <a:latin typeface="+mn-lt"/>
                <a:ea typeface="楷体_GB2312" pitchFamily="49" charset="-122"/>
                <a:cs typeface="+mn-ea"/>
              </a:rPr>
              <a:t>2+</a:t>
            </a:r>
            <a:r>
              <a:rPr lang="zh-CN" altLang="en-US" sz="2500" b="1" noProof="1">
                <a:latin typeface="+mn-lt"/>
                <a:ea typeface="楷体_GB2312" pitchFamily="49" charset="-122"/>
                <a:cs typeface="+mn-ea"/>
              </a:rPr>
              <a:t>浓度分别为</a:t>
            </a:r>
            <a:r>
              <a:rPr lang="en-US" altLang="zh-CN" sz="2500" b="1" noProof="1">
                <a:latin typeface="+mn-lt"/>
                <a:ea typeface="楷体_GB2312" pitchFamily="49" charset="-122"/>
                <a:cs typeface="+mn-ea"/>
              </a:rPr>
              <a:t>0.10</a:t>
            </a:r>
            <a:r>
              <a:rPr lang="zh-CN" altLang="en-US" sz="2500" b="1" noProof="1">
                <a:latin typeface="+mn-lt"/>
                <a:ea typeface="楷体_GB2312" pitchFamily="49" charset="-122"/>
                <a:cs typeface="+mn-ea"/>
              </a:rPr>
              <a:t>、</a:t>
            </a:r>
            <a:r>
              <a:rPr lang="en-US" altLang="zh-CN" sz="2500" b="1" noProof="1">
                <a:latin typeface="+mn-lt"/>
                <a:ea typeface="楷体_GB2312" pitchFamily="49" charset="-122"/>
                <a:cs typeface="+mn-ea"/>
              </a:rPr>
              <a:t>1.0 mol·L</a:t>
            </a:r>
            <a:r>
              <a:rPr lang="en-US" altLang="zh-CN" sz="2500" b="1" baseline="30000" noProof="1">
                <a:latin typeface="+mn-lt"/>
                <a:ea typeface="楷体_GB2312" pitchFamily="49" charset="-122"/>
                <a:cs typeface="+mn-ea"/>
              </a:rPr>
              <a:t>-1</a:t>
            </a:r>
            <a:r>
              <a:rPr lang="en-US" altLang="zh-CN" sz="2500" b="1" noProof="1">
                <a:latin typeface="+mn-lt"/>
                <a:ea typeface="楷体_GB2312" pitchFamily="49" charset="-122"/>
                <a:cs typeface="+mn-ea"/>
              </a:rPr>
              <a:t>.</a:t>
            </a:r>
            <a:r>
              <a:rPr lang="zh-CN" altLang="en-US" sz="2500" b="1" noProof="1">
                <a:latin typeface="+mn-lt"/>
                <a:ea typeface="楷体_GB2312" pitchFamily="49" charset="-122"/>
                <a:cs typeface="+mn-ea"/>
              </a:rPr>
              <a:t>若要使</a:t>
            </a:r>
            <a:r>
              <a:rPr lang="en-US" altLang="zh-CN" sz="2500" b="1" noProof="1">
                <a:latin typeface="+mn-lt"/>
                <a:ea typeface="楷体_GB2312" pitchFamily="49" charset="-122"/>
                <a:cs typeface="+mn-ea"/>
              </a:rPr>
              <a:t>Fe</a:t>
            </a:r>
            <a:r>
              <a:rPr lang="en-US" altLang="zh-CN" sz="2500" b="1" baseline="30000" noProof="1">
                <a:latin typeface="+mn-lt"/>
                <a:ea typeface="楷体_GB2312" pitchFamily="49" charset="-122"/>
                <a:cs typeface="+mn-ea"/>
              </a:rPr>
              <a:t>3+</a:t>
            </a:r>
            <a:r>
              <a:rPr lang="zh-CN" altLang="en-US" sz="2500" b="1" noProof="1">
                <a:latin typeface="+mn-lt"/>
                <a:ea typeface="楷体_GB2312" pitchFamily="49" charset="-122"/>
                <a:cs typeface="+mn-ea"/>
                <a:sym typeface="Webdings" panose="05030102010509060703" pitchFamily="18" charset="2"/>
              </a:rPr>
              <a:t>与</a:t>
            </a:r>
            <a:r>
              <a:rPr lang="en-US" altLang="zh-CN" sz="2500" b="1" noProof="1">
                <a:latin typeface="+mn-lt"/>
                <a:ea typeface="楷体_GB2312" pitchFamily="49" charset="-122"/>
                <a:cs typeface="+mn-ea"/>
              </a:rPr>
              <a:t>Ni</a:t>
            </a:r>
            <a:r>
              <a:rPr lang="en-US" altLang="zh-CN" sz="2500" b="1" baseline="30000" noProof="1">
                <a:latin typeface="+mn-lt"/>
                <a:ea typeface="楷体_GB2312" pitchFamily="49" charset="-122"/>
                <a:cs typeface="+mn-ea"/>
              </a:rPr>
              <a:t>2+</a:t>
            </a:r>
            <a:r>
              <a:rPr lang="zh-CN" altLang="en-US" sz="2500" b="1" noProof="1">
                <a:latin typeface="+mn-lt"/>
                <a:ea typeface="楷体_GB2312" pitchFamily="49" charset="-122"/>
                <a:cs typeface="+mn-ea"/>
              </a:rPr>
              <a:t>实现定性分离</a:t>
            </a:r>
            <a:r>
              <a:rPr lang="en-US" altLang="zh-CN" sz="2500" b="1" noProof="1">
                <a:latin typeface="+mn-lt"/>
                <a:ea typeface="楷体_GB2312" pitchFamily="49" charset="-122"/>
                <a:cs typeface="+mn-ea"/>
                <a:sym typeface="Webdings" panose="05030102010509060703" pitchFamily="18" charset="2"/>
              </a:rPr>
              <a:t>,</a:t>
            </a:r>
            <a:r>
              <a:rPr lang="zh-CN" altLang="en-US" sz="2500" b="1" noProof="1">
                <a:latin typeface="+mn-lt"/>
                <a:ea typeface="楷体_GB2312" pitchFamily="49" charset="-122"/>
                <a:cs typeface="+mn-ea"/>
              </a:rPr>
              <a:t>问应控制怎样的酸度条件</a:t>
            </a:r>
            <a:r>
              <a:rPr lang="en-US" altLang="zh-CN" sz="2500" b="1" noProof="1">
                <a:latin typeface="+mn-lt"/>
                <a:ea typeface="楷体_GB2312" pitchFamily="49" charset="-122"/>
                <a:cs typeface="+mn-ea"/>
              </a:rPr>
              <a:t>?</a:t>
            </a:r>
            <a:r>
              <a:rPr lang="zh-CN" altLang="en-US" sz="2500" b="1" noProof="1">
                <a:latin typeface="+mn-lt"/>
                <a:ea typeface="楷体_GB2312" pitchFamily="49" charset="-122"/>
                <a:cs typeface="+mn-ea"/>
              </a:rPr>
              <a:t>已知</a:t>
            </a:r>
            <a:r>
              <a:rPr lang="en-US" altLang="zh-CN" sz="2500" b="1" i="1" noProof="1">
                <a:latin typeface="+mn-lt"/>
                <a:ea typeface="楷体_GB2312" pitchFamily="49" charset="-122"/>
                <a:cs typeface="+mn-ea"/>
              </a:rPr>
              <a:t>K</a:t>
            </a:r>
            <a:r>
              <a:rPr lang="en-US" altLang="zh-CN" sz="1600" b="1" baseline="100000" noProof="1">
                <a:latin typeface="+mn-lt"/>
                <a:ea typeface="楷体_GB2312" pitchFamily="49" charset="-122"/>
                <a:cs typeface="+mn-ea"/>
                <a:sym typeface="Webdings" panose="05030102010509060703" pitchFamily="18" charset="2"/>
              </a:rPr>
              <a:t></a:t>
            </a:r>
            <a:r>
              <a:rPr lang="en-US" altLang="zh-CN" sz="2500" b="1" baseline="-25000" noProof="1">
                <a:latin typeface="+mn-lt"/>
                <a:ea typeface="楷体_GB2312" pitchFamily="49" charset="-122"/>
                <a:cs typeface="+mn-ea"/>
                <a:sym typeface="Webdings" panose="05030102010509060703" pitchFamily="18" charset="2"/>
              </a:rPr>
              <a:t>sp</a:t>
            </a:r>
            <a:r>
              <a:rPr lang="en-US" altLang="zh-CN" sz="2500" b="1" noProof="1">
                <a:latin typeface="+mn-lt"/>
                <a:ea typeface="楷体_GB2312" pitchFamily="49" charset="-122"/>
                <a:cs typeface="+mn-ea"/>
                <a:sym typeface="Webdings" panose="05030102010509060703" pitchFamily="18" charset="2"/>
              </a:rPr>
              <a:t>{Fe(OH)</a:t>
            </a:r>
            <a:r>
              <a:rPr lang="en-US" altLang="zh-CN" sz="2500" b="1" baseline="-25000" noProof="1">
                <a:latin typeface="+mn-lt"/>
                <a:ea typeface="楷体_GB2312" pitchFamily="49" charset="-122"/>
                <a:cs typeface="+mn-ea"/>
                <a:sym typeface="Webdings" panose="05030102010509060703" pitchFamily="18" charset="2"/>
              </a:rPr>
              <a:t>3</a:t>
            </a:r>
            <a:r>
              <a:rPr lang="en-US" altLang="zh-CN" sz="2500" b="1" noProof="1">
                <a:latin typeface="+mn-lt"/>
                <a:ea typeface="楷体_GB2312" pitchFamily="49" charset="-122"/>
                <a:cs typeface="+mn-ea"/>
                <a:sym typeface="Webdings" panose="05030102010509060703" pitchFamily="18" charset="2"/>
              </a:rPr>
              <a:t>} = 2.64 </a:t>
            </a:r>
            <a:r>
              <a:rPr lang="en-US" altLang="zh-CN" sz="2500" b="1" noProof="1">
                <a:latin typeface="+mn-lt"/>
                <a:ea typeface="楷体_GB2312" pitchFamily="49" charset="-122"/>
                <a:cs typeface="+mn-ea"/>
                <a:sym typeface="Symbol" panose="05050102010706020507" pitchFamily="18" charset="2"/>
              </a:rPr>
              <a:t>10</a:t>
            </a:r>
            <a:r>
              <a:rPr lang="en-US" altLang="zh-CN" sz="2500" b="1" baseline="30000" noProof="1">
                <a:latin typeface="+mn-lt"/>
                <a:ea typeface="楷体_GB2312" pitchFamily="49" charset="-122"/>
                <a:cs typeface="+mn-ea"/>
                <a:sym typeface="Symbol" panose="05050102010706020507" pitchFamily="18" charset="2"/>
              </a:rPr>
              <a:t>-39</a:t>
            </a:r>
            <a:r>
              <a:rPr lang="en-US" altLang="zh-CN" sz="2500" b="1" noProof="1">
                <a:latin typeface="+mn-lt"/>
                <a:ea typeface="楷体_GB2312" pitchFamily="49" charset="-122"/>
                <a:cs typeface="+mn-ea"/>
              </a:rPr>
              <a:t>;                  </a:t>
            </a:r>
            <a:r>
              <a:rPr lang="en-US" altLang="zh-CN" sz="2500" b="1" i="1" noProof="1" smtClean="0">
                <a:latin typeface="+mn-lt"/>
                <a:ea typeface="楷体_GB2312" pitchFamily="49" charset="-122"/>
                <a:cs typeface="+mn-ea"/>
              </a:rPr>
              <a:t>K</a:t>
            </a:r>
            <a:r>
              <a:rPr lang="en-US" altLang="zh-CN" sz="1600" b="1" baseline="100000" noProof="1" smtClean="0">
                <a:latin typeface="+mn-lt"/>
                <a:ea typeface="楷体_GB2312" pitchFamily="49" charset="-122"/>
                <a:cs typeface="+mn-ea"/>
                <a:sym typeface="Webdings" panose="05030102010509060703" pitchFamily="18" charset="2"/>
              </a:rPr>
              <a:t></a:t>
            </a:r>
            <a:r>
              <a:rPr lang="en-US" altLang="zh-CN" sz="2500" b="1" baseline="-25000" noProof="1" smtClean="0">
                <a:latin typeface="+mn-lt"/>
                <a:ea typeface="楷体_GB2312" pitchFamily="49" charset="-122"/>
                <a:cs typeface="+mn-ea"/>
                <a:sym typeface="Webdings" panose="05030102010509060703" pitchFamily="18" charset="2"/>
              </a:rPr>
              <a:t>sp</a:t>
            </a:r>
            <a:r>
              <a:rPr lang="en-US" altLang="zh-CN" sz="2500" b="1" noProof="1" smtClean="0">
                <a:latin typeface="+mn-lt"/>
                <a:ea typeface="楷体_GB2312" pitchFamily="49" charset="-122"/>
                <a:cs typeface="+mn-ea"/>
                <a:sym typeface="Webdings" panose="05030102010509060703" pitchFamily="18" charset="2"/>
              </a:rPr>
              <a:t>{Ni(OH)</a:t>
            </a:r>
            <a:r>
              <a:rPr lang="en-US" altLang="zh-CN" sz="2500" b="1" baseline="-25000" noProof="1" smtClean="0">
                <a:latin typeface="+mn-lt"/>
                <a:ea typeface="楷体_GB2312" pitchFamily="49" charset="-122"/>
                <a:cs typeface="+mn-ea"/>
                <a:sym typeface="Webdings" panose="05030102010509060703" pitchFamily="18" charset="2"/>
              </a:rPr>
              <a:t>2</a:t>
            </a:r>
            <a:r>
              <a:rPr lang="en-US" altLang="zh-CN" sz="2500" b="1" noProof="1">
                <a:latin typeface="+mn-lt"/>
                <a:ea typeface="楷体_GB2312" pitchFamily="49" charset="-122"/>
                <a:cs typeface="+mn-ea"/>
                <a:sym typeface="Webdings" panose="05030102010509060703" pitchFamily="18" charset="2"/>
              </a:rPr>
              <a:t>} = 5.47 </a:t>
            </a:r>
            <a:r>
              <a:rPr lang="en-US" altLang="zh-CN" sz="2500" b="1" noProof="1">
                <a:latin typeface="+mn-lt"/>
                <a:ea typeface="楷体_GB2312" pitchFamily="49" charset="-122"/>
                <a:cs typeface="+mn-ea"/>
                <a:sym typeface="Symbol" panose="05050102010706020507" pitchFamily="18" charset="2"/>
              </a:rPr>
              <a:t>10</a:t>
            </a:r>
            <a:r>
              <a:rPr lang="en-US" altLang="zh-CN" sz="2500" b="1" baseline="30000" noProof="1">
                <a:latin typeface="+mn-lt"/>
                <a:ea typeface="楷体_GB2312" pitchFamily="49" charset="-122"/>
                <a:cs typeface="+mn-ea"/>
                <a:sym typeface="Symbol" panose="05050102010706020507" pitchFamily="18" charset="2"/>
              </a:rPr>
              <a:t>-16</a:t>
            </a:r>
            <a:r>
              <a:rPr lang="en-US" altLang="zh-CN" sz="2500" b="1" noProof="1">
                <a:latin typeface="+mn-lt"/>
                <a:ea typeface="楷体_GB2312" pitchFamily="49" charset="-122"/>
                <a:cs typeface="+mn-ea"/>
                <a:sym typeface="Symbol" panose="05050102010706020507" pitchFamily="18" charset="2"/>
              </a:rPr>
              <a:t>.</a:t>
            </a:r>
            <a:endParaRPr lang="en-US" altLang="zh-CN" sz="2500" b="1" noProof="1">
              <a:latin typeface="+mn-lt"/>
              <a:ea typeface="楷体_GB2312" pitchFamily="49" charset="-122"/>
              <a:sym typeface="Symbol" panose="05050102010706020507" pitchFamily="18" charset="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88939" y="3811591"/>
            <a:ext cx="10501386" cy="1304203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/>
            </a:pPr>
            <a:r>
              <a:rPr lang="zh-CN" altLang="en-US" sz="2500" b="1" noProof="1" smtClean="0">
                <a:latin typeface="+mn-lt"/>
                <a:ea typeface="楷体_GB2312" pitchFamily="49" charset="-122"/>
                <a:cs typeface="+mn-ea"/>
                <a:sym typeface="+mn-ea"/>
              </a:rPr>
              <a:t>例</a:t>
            </a:r>
            <a:r>
              <a:rPr lang="en-US" altLang="zh-CN" sz="2500" b="1" noProof="1" smtClean="0">
                <a:latin typeface="+mn-lt"/>
                <a:ea typeface="楷体_GB2312" pitchFamily="49" charset="-122"/>
                <a:cs typeface="+mn-ea"/>
                <a:sym typeface="+mn-ea"/>
              </a:rPr>
              <a:t>3.</a:t>
            </a:r>
            <a:r>
              <a:rPr lang="zh-CN" altLang="en-US" sz="2500" b="1" noProof="1" smtClean="0">
                <a:latin typeface="+mn-lt"/>
                <a:ea typeface="楷体_GB2312" pitchFamily="49" charset="-122"/>
                <a:cs typeface="+mn-ea"/>
                <a:sym typeface="+mn-ea"/>
              </a:rPr>
              <a:t>在</a:t>
            </a:r>
            <a:r>
              <a:rPr lang="zh-CN" altLang="en-US" sz="2500" b="1" noProof="1">
                <a:latin typeface="+mn-lt"/>
                <a:ea typeface="楷体_GB2312" pitchFamily="49" charset="-122"/>
                <a:cs typeface="+mn-ea"/>
                <a:sym typeface="+mn-ea"/>
              </a:rPr>
              <a:t>浓度均为</a:t>
            </a:r>
            <a:r>
              <a:rPr lang="en-US" altLang="zh-CN" sz="2500" b="1" noProof="1">
                <a:latin typeface="+mn-lt"/>
                <a:ea typeface="楷体_GB2312" pitchFamily="49" charset="-122"/>
                <a:cs typeface="+mn-ea"/>
                <a:sym typeface="+mn-ea"/>
              </a:rPr>
              <a:t>0.10 mol·L</a:t>
            </a:r>
            <a:r>
              <a:rPr lang="en-US" altLang="zh-CN" sz="2500" b="1" baseline="30000" noProof="1">
                <a:latin typeface="+mn-lt"/>
                <a:ea typeface="楷体_GB2312" pitchFamily="49" charset="-122"/>
                <a:cs typeface="+mn-ea"/>
                <a:sym typeface="+mn-ea"/>
              </a:rPr>
              <a:t>-1</a:t>
            </a:r>
            <a:r>
              <a:rPr lang="zh-CN" altLang="en-US" sz="2500" b="1" noProof="1">
                <a:latin typeface="+mn-lt"/>
                <a:ea typeface="楷体_GB2312" pitchFamily="49" charset="-122"/>
                <a:cs typeface="+mn-ea"/>
                <a:sym typeface="+mn-ea"/>
              </a:rPr>
              <a:t>的</a:t>
            </a:r>
            <a:r>
              <a:rPr lang="en-US" altLang="zh-CN" sz="2500" b="1" noProof="1">
                <a:latin typeface="+mn-lt"/>
                <a:ea typeface="楷体_GB2312" pitchFamily="49" charset="-122"/>
                <a:cs typeface="+mn-ea"/>
                <a:sym typeface="+mn-ea"/>
              </a:rPr>
              <a:t>Cd</a:t>
            </a:r>
            <a:r>
              <a:rPr lang="en-US" altLang="zh-CN" sz="2500" b="1" baseline="30000" noProof="1">
                <a:latin typeface="+mn-lt"/>
                <a:ea typeface="楷体_GB2312" pitchFamily="49" charset="-122"/>
                <a:cs typeface="+mn-ea"/>
                <a:sym typeface="+mn-ea"/>
              </a:rPr>
              <a:t>2+</a:t>
            </a:r>
            <a:r>
              <a:rPr lang="zh-CN" altLang="en-US" sz="2500" b="1" noProof="1">
                <a:latin typeface="+mn-lt"/>
                <a:ea typeface="楷体_GB2312" pitchFamily="49" charset="-122"/>
                <a:cs typeface="+mn-ea"/>
                <a:sym typeface="+mn-ea"/>
              </a:rPr>
              <a:t>和</a:t>
            </a:r>
            <a:r>
              <a:rPr lang="en-US" altLang="zh-CN" sz="2500" b="1" noProof="1">
                <a:latin typeface="+mn-lt"/>
                <a:ea typeface="楷体_GB2312" pitchFamily="49" charset="-122"/>
                <a:cs typeface="+mn-ea"/>
                <a:sym typeface="+mn-ea"/>
              </a:rPr>
              <a:t>Zn</a:t>
            </a:r>
            <a:r>
              <a:rPr lang="en-US" altLang="zh-CN" sz="2500" b="1" baseline="30000" noProof="1">
                <a:latin typeface="+mn-lt"/>
                <a:ea typeface="楷体_GB2312" pitchFamily="49" charset="-122"/>
                <a:cs typeface="+mn-ea"/>
                <a:sym typeface="+mn-ea"/>
              </a:rPr>
              <a:t>2+</a:t>
            </a:r>
            <a:r>
              <a:rPr lang="zh-CN" altLang="en-US" sz="2500" b="1" noProof="1">
                <a:latin typeface="+mn-lt"/>
                <a:ea typeface="楷体_GB2312" pitchFamily="49" charset="-122"/>
                <a:cs typeface="+mn-ea"/>
                <a:sym typeface="+mn-ea"/>
              </a:rPr>
              <a:t>溶液中通入</a:t>
            </a:r>
            <a:r>
              <a:rPr lang="en-US" altLang="zh-CN" sz="2500" b="1" noProof="1">
                <a:latin typeface="+mn-lt"/>
                <a:ea typeface="楷体_GB2312" pitchFamily="49" charset="-122"/>
                <a:cs typeface="+mn-ea"/>
                <a:sym typeface="+mn-ea"/>
              </a:rPr>
              <a:t>H</a:t>
            </a:r>
            <a:r>
              <a:rPr lang="en-US" altLang="zh-CN" sz="2500" b="1" baseline="-25000" noProof="1">
                <a:latin typeface="+mn-lt"/>
                <a:ea typeface="楷体_GB2312" pitchFamily="49" charset="-122"/>
                <a:cs typeface="+mn-ea"/>
                <a:sym typeface="+mn-ea"/>
              </a:rPr>
              <a:t>2</a:t>
            </a:r>
            <a:r>
              <a:rPr lang="en-US" altLang="zh-CN" sz="2500" b="1" noProof="1">
                <a:latin typeface="+mn-lt"/>
                <a:ea typeface="楷体_GB2312" pitchFamily="49" charset="-122"/>
                <a:cs typeface="+mn-ea"/>
                <a:sym typeface="+mn-ea"/>
              </a:rPr>
              <a:t>S</a:t>
            </a:r>
            <a:r>
              <a:rPr lang="zh-CN" altLang="en-US" sz="2500" b="1" noProof="1">
                <a:latin typeface="+mn-lt"/>
                <a:ea typeface="楷体_GB2312" pitchFamily="49" charset="-122"/>
                <a:cs typeface="+mn-ea"/>
                <a:sym typeface="+mn-ea"/>
              </a:rPr>
              <a:t>并使之达到饱和</a:t>
            </a:r>
            <a:r>
              <a:rPr lang="en-US" altLang="zh-CN" sz="2500" b="1" noProof="1">
                <a:latin typeface="+mn-lt"/>
                <a:ea typeface="楷体_GB2312" pitchFamily="49" charset="-122"/>
                <a:cs typeface="+mn-ea"/>
                <a:sym typeface="+mn-ea"/>
              </a:rPr>
              <a:t>.</a:t>
            </a:r>
            <a:r>
              <a:rPr lang="zh-CN" altLang="en-US" sz="2500" b="1" noProof="1">
                <a:latin typeface="+mn-lt"/>
                <a:ea typeface="楷体_GB2312" pitchFamily="49" charset="-122"/>
                <a:cs typeface="+mn-ea"/>
                <a:sym typeface="+mn-ea"/>
              </a:rPr>
              <a:t>问应控制怎样的酸度条件才能使两者定性分离完全</a:t>
            </a:r>
            <a:r>
              <a:rPr lang="en-US" altLang="zh-CN" sz="2500" b="1" noProof="1">
                <a:latin typeface="+mn-lt"/>
                <a:ea typeface="楷体_GB2312" pitchFamily="49" charset="-122"/>
                <a:cs typeface="+mn-ea"/>
                <a:sym typeface="+mn-ea"/>
              </a:rPr>
              <a:t>.</a:t>
            </a:r>
            <a:r>
              <a:rPr lang="zh-CN" altLang="en-US" sz="2500" b="1" noProof="1">
                <a:latin typeface="+mn-lt"/>
                <a:ea typeface="楷体_GB2312" pitchFamily="49" charset="-122"/>
                <a:cs typeface="+mn-ea"/>
                <a:sym typeface="+mn-ea"/>
              </a:rPr>
              <a:t>已知</a:t>
            </a:r>
            <a:r>
              <a:rPr lang="en-US" altLang="zh-CN" sz="2500" b="1" i="1" noProof="1">
                <a:latin typeface="+mn-lt"/>
                <a:ea typeface="楷体_GB2312" pitchFamily="49" charset="-122"/>
                <a:cs typeface="+mn-ea"/>
                <a:sym typeface="+mn-ea"/>
              </a:rPr>
              <a:t>K</a:t>
            </a:r>
            <a:r>
              <a:rPr lang="en-US" altLang="zh-CN" sz="2500" b="1" baseline="100000" noProof="1">
                <a:latin typeface="+mn-lt"/>
                <a:ea typeface="楷体_GB2312" pitchFamily="49" charset="-122"/>
                <a:cs typeface="+mn-ea"/>
                <a:sym typeface="Webdings" panose="05030102010509060703" pitchFamily="18" charset="2"/>
              </a:rPr>
              <a:t></a:t>
            </a:r>
            <a:r>
              <a:rPr lang="en-US" altLang="zh-CN" sz="2500" b="1" baseline="-25000" noProof="1">
                <a:latin typeface="+mn-lt"/>
                <a:ea typeface="楷体_GB2312" pitchFamily="49" charset="-122"/>
                <a:cs typeface="+mn-ea"/>
                <a:sym typeface="Webdings" panose="05030102010509060703" pitchFamily="18" charset="2"/>
              </a:rPr>
              <a:t>sp</a:t>
            </a:r>
            <a:r>
              <a:rPr lang="en-US" altLang="zh-CN" sz="2500" b="1" noProof="1">
                <a:latin typeface="+mn-lt"/>
                <a:ea typeface="楷体_GB2312" pitchFamily="49" charset="-122"/>
                <a:cs typeface="+mn-ea"/>
                <a:sym typeface="Webdings" panose="05030102010509060703" pitchFamily="18" charset="2"/>
              </a:rPr>
              <a:t>(CdS) = 8.0 </a:t>
            </a:r>
            <a:r>
              <a:rPr lang="en-US" altLang="zh-CN" sz="2500" b="1" noProof="1">
                <a:latin typeface="+mn-lt"/>
                <a:ea typeface="楷体_GB2312" pitchFamily="49" charset="-122"/>
                <a:cs typeface="+mn-ea"/>
                <a:sym typeface="Symbol" panose="05050102010706020507" pitchFamily="18" charset="2"/>
              </a:rPr>
              <a:t>10</a:t>
            </a:r>
            <a:r>
              <a:rPr lang="en-US" altLang="zh-CN" sz="2500" b="1" baseline="30000" noProof="1">
                <a:latin typeface="+mn-lt"/>
                <a:ea typeface="楷体_GB2312" pitchFamily="49" charset="-122"/>
                <a:cs typeface="+mn-ea"/>
                <a:sym typeface="Symbol" panose="05050102010706020507" pitchFamily="18" charset="2"/>
              </a:rPr>
              <a:t>-27</a:t>
            </a:r>
            <a:r>
              <a:rPr lang="en-US" altLang="zh-CN" sz="2500" b="1" noProof="1">
                <a:latin typeface="+mn-lt"/>
                <a:ea typeface="楷体_GB2312" pitchFamily="49" charset="-122"/>
                <a:cs typeface="+mn-ea"/>
                <a:sym typeface="+mn-ea"/>
              </a:rPr>
              <a:t>; </a:t>
            </a:r>
            <a:r>
              <a:rPr lang="en-US" altLang="zh-CN" sz="2500" b="1" i="1" noProof="1">
                <a:latin typeface="+mn-lt"/>
                <a:ea typeface="楷体_GB2312" pitchFamily="49" charset="-122"/>
                <a:cs typeface="+mn-ea"/>
                <a:sym typeface="+mn-ea"/>
              </a:rPr>
              <a:t>K</a:t>
            </a:r>
            <a:r>
              <a:rPr lang="en-US" altLang="zh-CN" sz="2500" b="1" baseline="100000" noProof="1">
                <a:latin typeface="+mn-lt"/>
                <a:ea typeface="楷体_GB2312" pitchFamily="49" charset="-122"/>
                <a:cs typeface="+mn-ea"/>
                <a:sym typeface="Webdings" panose="05030102010509060703" pitchFamily="18" charset="2"/>
              </a:rPr>
              <a:t></a:t>
            </a:r>
            <a:r>
              <a:rPr lang="en-US" altLang="zh-CN" sz="2500" b="1" baseline="-25000" noProof="1">
                <a:latin typeface="+mn-lt"/>
                <a:ea typeface="楷体_GB2312" pitchFamily="49" charset="-122"/>
                <a:cs typeface="+mn-ea"/>
                <a:sym typeface="Webdings" panose="05030102010509060703" pitchFamily="18" charset="2"/>
              </a:rPr>
              <a:t>sp</a:t>
            </a:r>
            <a:r>
              <a:rPr lang="en-US" altLang="zh-CN" sz="2500" b="1" noProof="1">
                <a:latin typeface="+mn-lt"/>
                <a:ea typeface="楷体_GB2312" pitchFamily="49" charset="-122"/>
                <a:cs typeface="+mn-ea"/>
                <a:sym typeface="Webdings" panose="05030102010509060703" pitchFamily="18" charset="2"/>
              </a:rPr>
              <a:t>(ZnS) = 2.5 </a:t>
            </a:r>
            <a:r>
              <a:rPr lang="en-US" altLang="zh-CN" sz="2500" b="1" noProof="1">
                <a:latin typeface="+mn-lt"/>
                <a:ea typeface="楷体_GB2312" pitchFamily="49" charset="-122"/>
                <a:cs typeface="+mn-ea"/>
                <a:sym typeface="Symbol" panose="05050102010706020507" pitchFamily="18" charset="2"/>
              </a:rPr>
              <a:t>10</a:t>
            </a:r>
            <a:r>
              <a:rPr lang="en-US" altLang="zh-CN" sz="2500" b="1" baseline="30000" noProof="1">
                <a:latin typeface="+mn-lt"/>
                <a:ea typeface="楷体_GB2312" pitchFamily="49" charset="-122"/>
                <a:cs typeface="+mn-ea"/>
                <a:sym typeface="Symbol" panose="05050102010706020507" pitchFamily="18" charset="2"/>
              </a:rPr>
              <a:t>-22</a:t>
            </a:r>
            <a:r>
              <a:rPr lang="en-US" altLang="zh-CN" sz="2500" b="1" noProof="1">
                <a:latin typeface="+mn-lt"/>
                <a:ea typeface="楷体_GB2312" pitchFamily="49" charset="-122"/>
                <a:cs typeface="+mn-ea"/>
                <a:sym typeface="Symbol" panose="05050102010706020507" pitchFamily="18" charset="2"/>
              </a:rPr>
              <a:t>.</a:t>
            </a:r>
            <a:endParaRPr lang="en-US" altLang="zh-CN" sz="2500" b="1" noProof="1">
              <a:latin typeface="+mn-lt"/>
              <a:ea typeface="楷体_GB2312" pitchFamily="49" charset="-122"/>
              <a:sym typeface="Symbol" panose="05050102010706020507" pitchFamily="18" charset="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580740" y="134046"/>
            <a:ext cx="4292099" cy="120032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srgbClr val="FF0000"/>
                </a:solidFill>
              </a:rPr>
              <a:t>两种离子分离的条件：一种刚开始沉淀时另外一种已经</a:t>
            </a:r>
            <a:r>
              <a:rPr lang="zh-CN" altLang="en-US" sz="2400" b="1" dirty="0">
                <a:solidFill>
                  <a:srgbClr val="FF0000"/>
                </a:solidFill>
              </a:rPr>
              <a:t>沉淀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完全（</a:t>
            </a:r>
            <a:r>
              <a:rPr lang="en-US" altLang="zh-CN" sz="2400" b="1" dirty="0" smtClean="0">
                <a:solidFill>
                  <a:srgbClr val="FF0000"/>
                </a:solidFill>
              </a:rPr>
              <a:t>10</a:t>
            </a:r>
            <a:r>
              <a:rPr lang="en-US" altLang="zh-CN" sz="2400" b="1" baseline="30000" dirty="0" smtClean="0">
                <a:solidFill>
                  <a:srgbClr val="FF0000"/>
                </a:solidFill>
              </a:rPr>
              <a:t>-5</a:t>
            </a:r>
            <a:r>
              <a:rPr lang="en-US" altLang="zh-CN" sz="2400" b="1" dirty="0" smtClean="0">
                <a:solidFill>
                  <a:srgbClr val="FF0000"/>
                </a:solidFill>
              </a:rPr>
              <a:t>moL/L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）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94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94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6" dur="500"/>
                                        <p:tgtEl>
                                          <p:spTgt spid="96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217" grpId="0"/>
      <p:bldP spid="94218" grpId="0"/>
      <p:bldP spid="96295" grpId="0"/>
      <p:bldP spid="5" grpId="0"/>
      <p:bldP spid="9" grpId="0"/>
      <p:bldP spid="10" grpId="0"/>
      <p:bldP spid="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13" name="文本框 98312"/>
          <p:cNvSpPr txBox="1">
            <a:spLocks noChangeArrowheads="1"/>
          </p:cNvSpPr>
          <p:nvPr/>
        </p:nvSpPr>
        <p:spPr bwMode="auto">
          <a:xfrm>
            <a:off x="831850" y="954088"/>
            <a:ext cx="5800725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zh-CN" altLang="en-US" sz="2500" b="1" dirty="0">
                <a:solidFill>
                  <a:srgbClr val="FF3300"/>
                </a:solidFill>
                <a:ea typeface="楷体_GB2312" pitchFamily="49" charset="-122"/>
                <a:hlinkClick r:id="rId5" action="ppaction://hlinkfile"/>
              </a:rPr>
              <a:t>沉淀转化</a:t>
            </a:r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</a:rPr>
              <a:t>(</a:t>
            </a:r>
            <a:r>
              <a:rPr lang="en-US" altLang="zh-CN" sz="2500" b="1" dirty="0" err="1">
                <a:solidFill>
                  <a:srgbClr val="0000FF"/>
                </a:solidFill>
                <a:ea typeface="楷体_GB2312" pitchFamily="49" charset="-122"/>
              </a:rPr>
              <a:t>invertion</a:t>
            </a:r>
            <a:r>
              <a:rPr lang="en-US" altLang="zh-CN" sz="2500" b="1" dirty="0">
                <a:solidFill>
                  <a:srgbClr val="0000FF"/>
                </a:solidFill>
                <a:ea typeface="楷体_GB2312" pitchFamily="49" charset="-122"/>
              </a:rPr>
              <a:t> of precipitation</a:t>
            </a:r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</a:rPr>
              <a:t>):</a:t>
            </a:r>
            <a:endParaRPr lang="en-US" altLang="zh-CN" sz="2500" b="1" dirty="0">
              <a:ea typeface="楷体_GB2312" pitchFamily="49" charset="-122"/>
            </a:endParaRPr>
          </a:p>
        </p:txBody>
      </p:sp>
      <p:sp>
        <p:nvSpPr>
          <p:cNvPr id="98314" name="矩形 98313"/>
          <p:cNvSpPr>
            <a:spLocks noChangeArrowheads="1"/>
          </p:cNvSpPr>
          <p:nvPr/>
        </p:nvSpPr>
        <p:spPr bwMode="auto">
          <a:xfrm>
            <a:off x="1189038" y="1454137"/>
            <a:ext cx="10215562" cy="1246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zh-CN" altLang="en-US" sz="2500" b="1" dirty="0">
                <a:ea typeface="楷体_GB2312" pitchFamily="49" charset="-122"/>
              </a:rPr>
              <a:t>　　一种沉淀借助于某一试剂的作用转化为另一种沉淀的过程</a:t>
            </a:r>
            <a:r>
              <a:rPr lang="en-US" altLang="zh-CN" sz="2500" b="1" dirty="0">
                <a:ea typeface="楷体_GB2312" pitchFamily="49" charset="-122"/>
              </a:rPr>
              <a:t>.</a:t>
            </a:r>
          </a:p>
          <a:p>
            <a:pPr eaLnBrk="1" hangingPunct="1">
              <a:buFont typeface="Arial" charset="0"/>
              <a:buNone/>
            </a:pPr>
            <a:r>
              <a:rPr lang="en-US" altLang="zh-CN" sz="2500" b="1" dirty="0">
                <a:ea typeface="楷体_GB2312" pitchFamily="49" charset="-122"/>
              </a:rPr>
              <a:t>        </a:t>
            </a:r>
            <a:r>
              <a:rPr lang="zh-CN" altLang="en-US" sz="2500" b="1" dirty="0">
                <a:ea typeface="楷体_GB2312" pitchFamily="49" charset="-122"/>
              </a:rPr>
              <a:t>如锅炉除垢</a:t>
            </a:r>
            <a:r>
              <a:rPr lang="en-US" altLang="zh-CN" sz="2500" b="1" dirty="0">
                <a:ea typeface="楷体_GB2312" pitchFamily="49" charset="-122"/>
              </a:rPr>
              <a:t>.</a:t>
            </a:r>
          </a:p>
          <a:p>
            <a:pPr eaLnBrk="1" hangingPunct="1">
              <a:buFont typeface="Arial" charset="0"/>
              <a:buNone/>
            </a:pPr>
            <a:r>
              <a:rPr lang="en-US" altLang="zh-CN" sz="2500" b="1" dirty="0">
                <a:ea typeface="楷体_GB2312" pitchFamily="49" charset="-122"/>
              </a:rPr>
              <a:t>CaSO</a:t>
            </a:r>
            <a:r>
              <a:rPr lang="en-US" altLang="zh-CN" sz="2500" b="1" baseline="-25000" dirty="0">
                <a:ea typeface="楷体_GB2312" pitchFamily="49" charset="-122"/>
              </a:rPr>
              <a:t>4</a:t>
            </a:r>
            <a:r>
              <a:rPr lang="en-US" altLang="zh-CN" sz="2500" b="1" dirty="0">
                <a:ea typeface="楷体_GB2312" pitchFamily="49" charset="-122"/>
              </a:rPr>
              <a:t>(s) ⇋ Ca</a:t>
            </a:r>
            <a:r>
              <a:rPr lang="en-US" altLang="zh-CN" sz="2500" b="1" baseline="30000" dirty="0">
                <a:ea typeface="楷体_GB2312" pitchFamily="49" charset="-122"/>
              </a:rPr>
              <a:t>2+</a:t>
            </a:r>
            <a:r>
              <a:rPr lang="en-US" altLang="zh-CN" sz="2500" b="1" dirty="0">
                <a:ea typeface="楷体_GB2312" pitchFamily="49" charset="-122"/>
              </a:rPr>
              <a:t> + SO</a:t>
            </a:r>
            <a:r>
              <a:rPr lang="en-US" altLang="zh-CN" sz="2500" b="1" baseline="-25000" dirty="0">
                <a:ea typeface="楷体_GB2312" pitchFamily="49" charset="-122"/>
              </a:rPr>
              <a:t>4</a:t>
            </a:r>
            <a:r>
              <a:rPr lang="en-US" altLang="zh-CN" sz="2500" b="1" baseline="30000" dirty="0">
                <a:ea typeface="楷体_GB2312" pitchFamily="49" charset="-122"/>
              </a:rPr>
              <a:t>2-</a:t>
            </a:r>
          </a:p>
        </p:txBody>
      </p:sp>
      <p:sp>
        <p:nvSpPr>
          <p:cNvPr id="98315" name="矩形 98314"/>
          <p:cNvSpPr>
            <a:spLocks noChangeArrowheads="1"/>
          </p:cNvSpPr>
          <p:nvPr/>
        </p:nvSpPr>
        <p:spPr bwMode="auto">
          <a:xfrm>
            <a:off x="3017838" y="2555862"/>
            <a:ext cx="37465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zh-CN" altLang="zh-CN" sz="2600" b="1" noProof="1">
                <a:ea typeface="楷体_GB2312" pitchFamily="49" charset="-122"/>
              </a:rPr>
              <a:t>+</a:t>
            </a:r>
          </a:p>
        </p:txBody>
      </p:sp>
      <p:sp>
        <p:nvSpPr>
          <p:cNvPr id="98316" name="矩形 98315"/>
          <p:cNvSpPr>
            <a:spLocks noChangeArrowheads="1"/>
          </p:cNvSpPr>
          <p:nvPr/>
        </p:nvSpPr>
        <p:spPr bwMode="auto">
          <a:xfrm>
            <a:off x="2847975" y="2895587"/>
            <a:ext cx="933450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en-US" altLang="zh-CN" sz="2500" b="1">
                <a:ea typeface="楷体_GB2312" pitchFamily="49" charset="-122"/>
              </a:rPr>
              <a:t>CO</a:t>
            </a:r>
            <a:r>
              <a:rPr lang="en-US" altLang="zh-CN" sz="2500" b="1" baseline="-25000">
                <a:ea typeface="楷体_GB2312" pitchFamily="49" charset="-122"/>
              </a:rPr>
              <a:t>3</a:t>
            </a:r>
            <a:r>
              <a:rPr lang="en-US" altLang="zh-CN" sz="2500" b="1" baseline="30000">
                <a:ea typeface="楷体_GB2312" pitchFamily="49" charset="-122"/>
              </a:rPr>
              <a:t>2-</a:t>
            </a:r>
          </a:p>
        </p:txBody>
      </p:sp>
      <p:sp>
        <p:nvSpPr>
          <p:cNvPr id="98317" name="矩形 98316"/>
          <p:cNvSpPr/>
          <p:nvPr/>
        </p:nvSpPr>
        <p:spPr>
          <a:xfrm>
            <a:off x="3732213" y="2895587"/>
            <a:ext cx="520700" cy="4953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altLang="zh-CN" sz="2645" b="1" noProof="1">
                <a:ea typeface="楷体_GB2312" panose="02010609030101010101" pitchFamily="49" charset="-122"/>
                <a:cs typeface="+mn-ea"/>
              </a:rPr>
              <a:t>⇋</a:t>
            </a:r>
            <a:endParaRPr lang="en-US" altLang="zh-CN" sz="2645" b="1" noProof="1">
              <a:ea typeface="楷体_GB2312" panose="02010609030101010101" pitchFamily="49" charset="-122"/>
            </a:endParaRPr>
          </a:p>
        </p:txBody>
      </p:sp>
      <p:sp>
        <p:nvSpPr>
          <p:cNvPr id="98318" name="矩形 98317"/>
          <p:cNvSpPr>
            <a:spLocks noChangeArrowheads="1"/>
          </p:cNvSpPr>
          <p:nvPr/>
        </p:nvSpPr>
        <p:spPr bwMode="auto">
          <a:xfrm>
            <a:off x="4141788" y="2906700"/>
            <a:ext cx="1485900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en-US" altLang="zh-CN" sz="2500" b="1">
                <a:ea typeface="楷体_GB2312" pitchFamily="49" charset="-122"/>
              </a:rPr>
              <a:t>CaCO</a:t>
            </a:r>
            <a:r>
              <a:rPr lang="en-US" altLang="zh-CN" sz="2500" b="1" baseline="-25000">
                <a:ea typeface="楷体_GB2312" pitchFamily="49" charset="-122"/>
              </a:rPr>
              <a:t>3</a:t>
            </a:r>
            <a:r>
              <a:rPr lang="en-US" altLang="zh-CN" sz="2500" b="1">
                <a:ea typeface="楷体_GB2312" pitchFamily="49" charset="-122"/>
              </a:rPr>
              <a:t>(s)</a:t>
            </a:r>
          </a:p>
        </p:txBody>
      </p:sp>
      <p:sp>
        <p:nvSpPr>
          <p:cNvPr id="98319" name="矩形 98318"/>
          <p:cNvSpPr>
            <a:spLocks noChangeArrowheads="1"/>
          </p:cNvSpPr>
          <p:nvPr/>
        </p:nvSpPr>
        <p:spPr bwMode="auto">
          <a:xfrm>
            <a:off x="1046163" y="3271825"/>
            <a:ext cx="6586848" cy="477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zh-CN" altLang="en-US" sz="2500" b="1" dirty="0">
                <a:ea typeface="楷体_GB2312" pitchFamily="49" charset="-122"/>
              </a:rPr>
              <a:t>转化反应</a:t>
            </a:r>
            <a:r>
              <a:rPr lang="en-US" altLang="zh-CN" sz="2500" b="1" dirty="0">
                <a:ea typeface="楷体_GB2312" pitchFamily="49" charset="-122"/>
              </a:rPr>
              <a:t>CaSO</a:t>
            </a:r>
            <a:r>
              <a:rPr lang="en-US" altLang="zh-CN" sz="2500" b="1" baseline="-25000" dirty="0">
                <a:ea typeface="楷体_GB2312" pitchFamily="49" charset="-122"/>
              </a:rPr>
              <a:t>4</a:t>
            </a:r>
            <a:r>
              <a:rPr lang="en-US" altLang="zh-CN" sz="2500" b="1" dirty="0">
                <a:ea typeface="楷体_GB2312" pitchFamily="49" charset="-122"/>
              </a:rPr>
              <a:t>(s) + CO</a:t>
            </a:r>
            <a:r>
              <a:rPr lang="en-US" altLang="zh-CN" sz="2500" b="1" baseline="-25000" dirty="0">
                <a:ea typeface="楷体_GB2312" pitchFamily="49" charset="-122"/>
              </a:rPr>
              <a:t>3</a:t>
            </a:r>
            <a:r>
              <a:rPr lang="en-US" altLang="zh-CN" sz="2500" b="1" baseline="30000" dirty="0">
                <a:ea typeface="楷体_GB2312" pitchFamily="49" charset="-122"/>
              </a:rPr>
              <a:t>2-</a:t>
            </a:r>
            <a:r>
              <a:rPr lang="en-US" altLang="zh-CN" sz="2500" b="1" dirty="0">
                <a:ea typeface="楷体_GB2312" pitchFamily="49" charset="-122"/>
              </a:rPr>
              <a:t> ⇋ CaCO</a:t>
            </a:r>
            <a:r>
              <a:rPr lang="en-US" altLang="zh-CN" sz="2500" b="1" baseline="-25000" dirty="0">
                <a:ea typeface="楷体_GB2312" pitchFamily="49" charset="-122"/>
              </a:rPr>
              <a:t>3</a:t>
            </a:r>
            <a:r>
              <a:rPr lang="en-US" altLang="zh-CN" sz="2500" b="1" dirty="0">
                <a:ea typeface="楷体_GB2312" pitchFamily="49" charset="-122"/>
              </a:rPr>
              <a:t>(s) + SO</a:t>
            </a:r>
            <a:r>
              <a:rPr lang="en-US" altLang="zh-CN" sz="2500" b="1" baseline="-25000" dirty="0">
                <a:ea typeface="楷体_GB2312" pitchFamily="49" charset="-122"/>
              </a:rPr>
              <a:t>4</a:t>
            </a:r>
            <a:r>
              <a:rPr lang="en-US" altLang="zh-CN" sz="2500" b="1" baseline="30000" dirty="0">
                <a:ea typeface="楷体_GB2312" pitchFamily="49" charset="-122"/>
              </a:rPr>
              <a:t>2-</a:t>
            </a:r>
          </a:p>
        </p:txBody>
      </p:sp>
      <p:sp>
        <p:nvSpPr>
          <p:cNvPr id="98320" name="矩形 98319"/>
          <p:cNvSpPr>
            <a:spLocks noChangeArrowheads="1"/>
          </p:cNvSpPr>
          <p:nvPr/>
        </p:nvSpPr>
        <p:spPr bwMode="auto">
          <a:xfrm>
            <a:off x="1046163" y="4094163"/>
            <a:ext cx="723900" cy="471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en-US" altLang="zh-CN" sz="2500" b="1" i="1">
                <a:ea typeface="楷体_GB2312" pitchFamily="49" charset="-122"/>
              </a:rPr>
              <a:t>K</a:t>
            </a:r>
            <a:r>
              <a:rPr lang="en-US" altLang="zh-CN" b="1" baseline="100000"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=</a:t>
            </a:r>
            <a:endParaRPr lang="en-US" altLang="zh-CN" sz="2500" b="1" baseline="100000">
              <a:ea typeface="楷体_GB2312" pitchFamily="49" charset="-122"/>
              <a:sym typeface="Webdings" pitchFamily="18" charset="2"/>
            </a:endParaRPr>
          </a:p>
        </p:txBody>
      </p:sp>
      <p:sp>
        <p:nvSpPr>
          <p:cNvPr id="98321" name="直接连接符 98320"/>
          <p:cNvSpPr>
            <a:spLocks noChangeShapeType="1"/>
          </p:cNvSpPr>
          <p:nvPr/>
        </p:nvSpPr>
        <p:spPr bwMode="auto">
          <a:xfrm>
            <a:off x="1793875" y="4365625"/>
            <a:ext cx="20399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8322" name="矩形 98321"/>
          <p:cNvSpPr>
            <a:spLocks noChangeArrowheads="1"/>
          </p:cNvSpPr>
          <p:nvPr/>
        </p:nvSpPr>
        <p:spPr bwMode="auto">
          <a:xfrm>
            <a:off x="1793875" y="3822700"/>
            <a:ext cx="1093788" cy="471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en-US" altLang="zh-CN" sz="2500" b="1">
                <a:ea typeface="楷体_GB2312" pitchFamily="49" charset="-122"/>
              </a:rPr>
              <a:t>[SO</a:t>
            </a:r>
            <a:r>
              <a:rPr lang="en-US" altLang="zh-CN" sz="2500" b="1" baseline="-25000">
                <a:ea typeface="楷体_GB2312" pitchFamily="49" charset="-122"/>
              </a:rPr>
              <a:t>4</a:t>
            </a:r>
            <a:r>
              <a:rPr lang="en-US" altLang="zh-CN" sz="2500" b="1" baseline="30000">
                <a:ea typeface="楷体_GB2312" pitchFamily="49" charset="-122"/>
              </a:rPr>
              <a:t>2-</a:t>
            </a:r>
            <a:r>
              <a:rPr lang="en-US" altLang="zh-CN" sz="2500" b="1">
                <a:ea typeface="楷体_GB2312" pitchFamily="49" charset="-122"/>
              </a:rPr>
              <a:t>]</a:t>
            </a:r>
          </a:p>
        </p:txBody>
      </p:sp>
      <p:sp>
        <p:nvSpPr>
          <p:cNvPr id="98323" name="矩形 98322"/>
          <p:cNvSpPr>
            <a:spLocks noChangeArrowheads="1"/>
          </p:cNvSpPr>
          <p:nvPr/>
        </p:nvSpPr>
        <p:spPr bwMode="auto">
          <a:xfrm>
            <a:off x="1758950" y="4365625"/>
            <a:ext cx="1147763" cy="471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en-US" altLang="zh-CN" sz="2500" b="1">
                <a:ea typeface="楷体_GB2312" pitchFamily="49" charset="-122"/>
              </a:rPr>
              <a:t>[CO</a:t>
            </a:r>
            <a:r>
              <a:rPr lang="en-US" altLang="zh-CN" sz="2500" b="1" baseline="-25000">
                <a:ea typeface="楷体_GB2312" pitchFamily="49" charset="-122"/>
              </a:rPr>
              <a:t>3</a:t>
            </a:r>
            <a:r>
              <a:rPr lang="en-US" altLang="zh-CN" sz="2500" b="1" baseline="30000">
                <a:ea typeface="楷体_GB2312" pitchFamily="49" charset="-122"/>
              </a:rPr>
              <a:t>2-</a:t>
            </a:r>
            <a:r>
              <a:rPr lang="en-US" altLang="zh-CN" sz="2500" b="1">
                <a:ea typeface="楷体_GB2312" pitchFamily="49" charset="-122"/>
              </a:rPr>
              <a:t>]</a:t>
            </a:r>
          </a:p>
        </p:txBody>
      </p:sp>
      <p:sp>
        <p:nvSpPr>
          <p:cNvPr id="98324" name="矩形 98323"/>
          <p:cNvSpPr>
            <a:spLocks noChangeArrowheads="1"/>
          </p:cNvSpPr>
          <p:nvPr/>
        </p:nvSpPr>
        <p:spPr bwMode="auto">
          <a:xfrm>
            <a:off x="2744788" y="3822700"/>
            <a:ext cx="1004887" cy="471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en-US" altLang="zh-CN" sz="2500" b="1">
                <a:ea typeface="楷体_GB2312" pitchFamily="49" charset="-122"/>
              </a:rPr>
              <a:t>[Ca</a:t>
            </a:r>
            <a:r>
              <a:rPr lang="en-US" altLang="zh-CN" sz="2500" b="1" baseline="30000">
                <a:ea typeface="楷体_GB2312" pitchFamily="49" charset="-122"/>
              </a:rPr>
              <a:t>2+</a:t>
            </a:r>
            <a:r>
              <a:rPr lang="en-US" altLang="zh-CN" sz="2500" b="1">
                <a:ea typeface="楷体_GB2312" pitchFamily="49" charset="-122"/>
              </a:rPr>
              <a:t>]</a:t>
            </a:r>
          </a:p>
        </p:txBody>
      </p:sp>
      <p:sp>
        <p:nvSpPr>
          <p:cNvPr id="98325" name="矩形 98324"/>
          <p:cNvSpPr>
            <a:spLocks noChangeArrowheads="1"/>
          </p:cNvSpPr>
          <p:nvPr/>
        </p:nvSpPr>
        <p:spPr bwMode="auto">
          <a:xfrm>
            <a:off x="2779713" y="4365625"/>
            <a:ext cx="1003300" cy="471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en-US" altLang="zh-CN" sz="2500" b="1">
                <a:ea typeface="楷体_GB2312" pitchFamily="49" charset="-122"/>
              </a:rPr>
              <a:t>[Ca</a:t>
            </a:r>
            <a:r>
              <a:rPr lang="en-US" altLang="zh-CN" sz="2500" b="1" baseline="30000">
                <a:ea typeface="楷体_GB2312" pitchFamily="49" charset="-122"/>
              </a:rPr>
              <a:t>2+</a:t>
            </a:r>
            <a:r>
              <a:rPr lang="en-US" altLang="zh-CN" sz="2500" b="1">
                <a:ea typeface="楷体_GB2312" pitchFamily="49" charset="-122"/>
              </a:rPr>
              <a:t>]</a:t>
            </a:r>
          </a:p>
        </p:txBody>
      </p:sp>
      <p:sp>
        <p:nvSpPr>
          <p:cNvPr id="98326" name="矩形 98325"/>
          <p:cNvSpPr>
            <a:spLocks noChangeArrowheads="1"/>
          </p:cNvSpPr>
          <p:nvPr/>
        </p:nvSpPr>
        <p:spPr bwMode="auto">
          <a:xfrm>
            <a:off x="3833813" y="4094163"/>
            <a:ext cx="363537" cy="471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en-US" altLang="zh-CN" sz="2500" b="1">
                <a:ea typeface="楷体_GB2312" pitchFamily="49" charset="-122"/>
              </a:rPr>
              <a:t>=</a:t>
            </a:r>
          </a:p>
        </p:txBody>
      </p:sp>
      <p:sp>
        <p:nvSpPr>
          <p:cNvPr id="98327" name="直接连接符 98326"/>
          <p:cNvSpPr>
            <a:spLocks noChangeShapeType="1"/>
          </p:cNvSpPr>
          <p:nvPr/>
        </p:nvSpPr>
        <p:spPr bwMode="auto">
          <a:xfrm>
            <a:off x="4241800" y="4365625"/>
            <a:ext cx="20161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8328" name="矩形 98327"/>
          <p:cNvSpPr>
            <a:spLocks noChangeArrowheads="1"/>
          </p:cNvSpPr>
          <p:nvPr/>
        </p:nvSpPr>
        <p:spPr bwMode="auto">
          <a:xfrm>
            <a:off x="6180138" y="4127500"/>
            <a:ext cx="363537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=</a:t>
            </a:r>
          </a:p>
        </p:txBody>
      </p:sp>
      <p:sp>
        <p:nvSpPr>
          <p:cNvPr id="98329" name="矩形 98328"/>
          <p:cNvSpPr>
            <a:spLocks noChangeArrowheads="1"/>
          </p:cNvSpPr>
          <p:nvPr/>
        </p:nvSpPr>
        <p:spPr bwMode="auto">
          <a:xfrm>
            <a:off x="1385888" y="4806950"/>
            <a:ext cx="2006600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en-US" altLang="zh-CN" sz="2500" b="1" dirty="0">
                <a:ea typeface="楷体_GB2312" pitchFamily="49" charset="-122"/>
                <a:sym typeface="Webdings" pitchFamily="18" charset="2"/>
              </a:rPr>
              <a:t>= 1.8×10</a:t>
            </a:r>
            <a:r>
              <a:rPr lang="en-US" altLang="zh-CN" sz="2500" b="1" baseline="30000" dirty="0">
                <a:ea typeface="楷体_GB2312" pitchFamily="49" charset="-122"/>
                <a:sym typeface="Webdings" pitchFamily="18" charset="2"/>
              </a:rPr>
              <a:t>3</a:t>
            </a:r>
          </a:p>
        </p:txBody>
      </p:sp>
      <p:sp>
        <p:nvSpPr>
          <p:cNvPr id="98330" name="矩形 98329"/>
          <p:cNvSpPr>
            <a:spLocks noChangeArrowheads="1"/>
          </p:cNvSpPr>
          <p:nvPr/>
        </p:nvSpPr>
        <p:spPr bwMode="auto">
          <a:xfrm>
            <a:off x="4241800" y="3822700"/>
            <a:ext cx="1866900" cy="471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en-US" altLang="zh-CN" sz="2500" b="1" i="1">
                <a:ea typeface="楷体_GB2312" pitchFamily="49" charset="-122"/>
              </a:rPr>
              <a:t>K</a:t>
            </a:r>
            <a:r>
              <a:rPr lang="en-US" altLang="zh-CN" b="1" baseline="100000"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-25000">
                <a:ea typeface="楷体_GB2312" pitchFamily="49" charset="-122"/>
                <a:sym typeface="Webdings" pitchFamily="18" charset="2"/>
              </a:rPr>
              <a:t>sp</a:t>
            </a:r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(CaSO</a:t>
            </a:r>
            <a:r>
              <a:rPr lang="en-US" altLang="zh-CN" sz="2500" b="1" baseline="-25000">
                <a:ea typeface="楷体_GB2312" pitchFamily="49" charset="-122"/>
                <a:sym typeface="Webdings" pitchFamily="18" charset="2"/>
              </a:rPr>
              <a:t>4</a:t>
            </a:r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)</a:t>
            </a:r>
          </a:p>
        </p:txBody>
      </p:sp>
      <p:sp>
        <p:nvSpPr>
          <p:cNvPr id="98331" name="矩形 98330"/>
          <p:cNvSpPr>
            <a:spLocks noChangeArrowheads="1"/>
          </p:cNvSpPr>
          <p:nvPr/>
        </p:nvSpPr>
        <p:spPr bwMode="auto">
          <a:xfrm>
            <a:off x="4241800" y="4365625"/>
            <a:ext cx="2000250" cy="471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en-US" altLang="zh-CN" sz="2500" b="1" i="1">
                <a:ea typeface="楷体_GB2312" pitchFamily="49" charset="-122"/>
              </a:rPr>
              <a:t>K</a:t>
            </a:r>
            <a:r>
              <a:rPr lang="en-US" altLang="zh-CN" b="1" baseline="100000"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-25000">
                <a:ea typeface="楷体_GB2312" pitchFamily="49" charset="-122"/>
                <a:sym typeface="Webdings" pitchFamily="18" charset="2"/>
              </a:rPr>
              <a:t>sp</a:t>
            </a:r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(CaCO</a:t>
            </a:r>
            <a:r>
              <a:rPr lang="en-US" altLang="zh-CN" sz="2500" b="1" baseline="-25000">
                <a:ea typeface="楷体_GB2312" pitchFamily="49" charset="-122"/>
                <a:sym typeface="Webdings" pitchFamily="18" charset="2"/>
              </a:rPr>
              <a:t>3</a:t>
            </a:r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)</a:t>
            </a:r>
          </a:p>
        </p:txBody>
      </p:sp>
      <p:sp>
        <p:nvSpPr>
          <p:cNvPr id="98332" name="直接连接符 98331"/>
          <p:cNvSpPr>
            <a:spLocks noChangeShapeType="1"/>
          </p:cNvSpPr>
          <p:nvPr/>
        </p:nvSpPr>
        <p:spPr bwMode="auto">
          <a:xfrm>
            <a:off x="6553200" y="4365625"/>
            <a:ext cx="13604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8333" name="矩形 98332"/>
          <p:cNvSpPr>
            <a:spLocks noChangeArrowheads="1"/>
          </p:cNvSpPr>
          <p:nvPr/>
        </p:nvSpPr>
        <p:spPr bwMode="auto">
          <a:xfrm>
            <a:off x="6553200" y="3854450"/>
            <a:ext cx="1671638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9.1×10</a:t>
            </a:r>
            <a:r>
              <a:rPr lang="en-US" altLang="zh-CN" sz="2500" b="1" baseline="30000">
                <a:ea typeface="楷体_GB2312" pitchFamily="49" charset="-122"/>
                <a:sym typeface="Webdings" pitchFamily="18" charset="2"/>
              </a:rPr>
              <a:t>-6</a:t>
            </a:r>
          </a:p>
        </p:txBody>
      </p:sp>
      <p:sp>
        <p:nvSpPr>
          <p:cNvPr id="98334" name="矩形 98333"/>
          <p:cNvSpPr>
            <a:spLocks noChangeArrowheads="1"/>
          </p:cNvSpPr>
          <p:nvPr/>
        </p:nvSpPr>
        <p:spPr bwMode="auto">
          <a:xfrm>
            <a:off x="6553200" y="4365625"/>
            <a:ext cx="1603375" cy="471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5.0×10</a:t>
            </a:r>
            <a:r>
              <a:rPr lang="en-US" altLang="zh-CN" sz="2500" b="1" baseline="30000">
                <a:ea typeface="楷体_GB2312" pitchFamily="49" charset="-122"/>
                <a:sym typeface="Webdings" pitchFamily="18" charset="2"/>
              </a:rPr>
              <a:t>-9</a:t>
            </a:r>
          </a:p>
        </p:txBody>
      </p:sp>
      <p:grpSp>
        <p:nvGrpSpPr>
          <p:cNvPr id="2" name="组合 98341"/>
          <p:cNvGrpSpPr>
            <a:grpSpLocks/>
          </p:cNvGrpSpPr>
          <p:nvPr/>
        </p:nvGrpSpPr>
        <p:grpSpPr bwMode="auto">
          <a:xfrm>
            <a:off x="8689975" y="2525713"/>
            <a:ext cx="2544763" cy="2041525"/>
            <a:chOff x="3581" y="1020"/>
            <a:chExt cx="1696" cy="1361"/>
          </a:xfrm>
        </p:grpSpPr>
        <p:pic>
          <p:nvPicPr>
            <p:cNvPr id="6172" name="图片 98339" descr="水管水垢s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3581" y="1020"/>
              <a:ext cx="1687" cy="1361"/>
            </a:xfrm>
            <a:prstGeom prst="rect">
              <a:avLst/>
            </a:prstGeom>
            <a:noFill/>
            <a:ln w="25400">
              <a:solidFill>
                <a:srgbClr val="FF00FF"/>
              </a:solidFill>
              <a:miter lim="800000"/>
              <a:headEnd/>
              <a:tailEnd/>
            </a:ln>
          </p:spPr>
        </p:pic>
        <p:sp>
          <p:nvSpPr>
            <p:cNvPr id="98341" name="矩形 98340"/>
            <p:cNvSpPr/>
            <p:nvPr/>
          </p:nvSpPr>
          <p:spPr>
            <a:xfrm>
              <a:off x="4512" y="2108"/>
              <a:ext cx="765" cy="25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eaLnBrk="1" hangingPunct="1">
                <a:buFont typeface="Arial" panose="020B0604020202020204" pitchFamily="34" charset="0"/>
                <a:buNone/>
                <a:defRPr/>
              </a:pPr>
              <a:r>
                <a:rPr lang="zh-CN" altLang="en-US" sz="1890" b="1" noProof="1">
                  <a:solidFill>
                    <a:srgbClr val="0000FF"/>
                  </a:solidFill>
                  <a:ea typeface="黑体" panose="02010609060101010101" pitchFamily="2" charset="-122"/>
                  <a:cs typeface="+mn-ea"/>
                </a:rPr>
                <a:t>水管水垢</a:t>
              </a:r>
              <a:endParaRPr lang="zh-CN" altLang="en-US" sz="1890" b="1" noProof="1">
                <a:solidFill>
                  <a:srgbClr val="0000FF"/>
                </a:solidFill>
                <a:ea typeface="黑体" panose="02010609060101010101" pitchFamily="2" charset="-122"/>
              </a:endParaRPr>
            </a:p>
          </p:txBody>
        </p:sp>
      </p:grpSp>
      <p:sp>
        <p:nvSpPr>
          <p:cNvPr id="6169" name="文本框 68635"/>
          <p:cNvSpPr txBox="1">
            <a:spLocks noChangeArrowheads="1"/>
          </p:cNvSpPr>
          <p:nvPr/>
        </p:nvSpPr>
        <p:spPr bwMode="auto">
          <a:xfrm>
            <a:off x="257175" y="242888"/>
            <a:ext cx="4811713" cy="427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zh-CN" altLang="en-US" sz="2200" b="1">
                <a:solidFill>
                  <a:srgbClr val="FF3300"/>
                </a:solidFill>
                <a:ea typeface="黑体" pitchFamily="49" charset="-122"/>
              </a:rPr>
              <a:t>4.2.3 沉淀的转化</a:t>
            </a:r>
          </a:p>
        </p:txBody>
      </p:sp>
      <p:sp>
        <p:nvSpPr>
          <p:cNvPr id="6170" name="椭圆 62501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auto">
          <a:xfrm>
            <a:off x="71438" y="5688013"/>
            <a:ext cx="360362" cy="360362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  <p:sp>
        <p:nvSpPr>
          <p:cNvPr id="6171" name="椭圆 68634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auto">
          <a:xfrm>
            <a:off x="11155363" y="5688013"/>
            <a:ext cx="360362" cy="360362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98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RECYCL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6" dur="500"/>
                                        <p:tgtEl>
                                          <p:spTgt spid="983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1" dur="500"/>
                                        <p:tgtEl>
                                          <p:spTgt spid="983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6" dur="500"/>
                                        <p:tgtEl>
                                          <p:spTgt spid="983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1" dur="500"/>
                                        <p:tgtEl>
                                          <p:spTgt spid="98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5" dur="500"/>
                                        <p:tgtEl>
                                          <p:spTgt spid="98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7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9" dur="500"/>
                                        <p:tgtEl>
                                          <p:spTgt spid="98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1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3" dur="500"/>
                                        <p:tgtEl>
                                          <p:spTgt spid="9831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8" dur="500"/>
                                        <p:tgtEl>
                                          <p:spTgt spid="98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3" dur="500"/>
                                        <p:tgtEl>
                                          <p:spTgt spid="98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5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7" dur="500"/>
                                        <p:tgtEl>
                                          <p:spTgt spid="98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9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61" dur="500"/>
                                        <p:tgtEl>
                                          <p:spTgt spid="98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63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65" dur="500"/>
                                        <p:tgtEl>
                                          <p:spTgt spid="9832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0" dur="500"/>
                                        <p:tgtEl>
                                          <p:spTgt spid="983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5" dur="500"/>
                                        <p:tgtEl>
                                          <p:spTgt spid="9832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80" dur="500"/>
                                        <p:tgtEl>
                                          <p:spTgt spid="98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2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84" dur="500"/>
                                        <p:tgtEl>
                                          <p:spTgt spid="98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6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88" dur="500"/>
                                        <p:tgtEl>
                                          <p:spTgt spid="98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90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92" dur="500"/>
                                        <p:tgtEl>
                                          <p:spTgt spid="9833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97" dur="500"/>
                                        <p:tgtEl>
                                          <p:spTgt spid="98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9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01" dur="500"/>
                                        <p:tgtEl>
                                          <p:spTgt spid="98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3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05" dur="500"/>
                                        <p:tgtEl>
                                          <p:spTgt spid="98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07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09" dur="500"/>
                                        <p:tgtEl>
                                          <p:spTgt spid="98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14" dur="500"/>
                                        <p:tgtEl>
                                          <p:spTgt spid="98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313" grpId="0"/>
      <p:bldP spid="98314" grpId="0" build="p"/>
      <p:bldP spid="98315" grpId="0"/>
      <p:bldP spid="98316" grpId="0"/>
      <p:bldP spid="98317" grpId="0"/>
      <p:bldP spid="98318" grpId="0"/>
      <p:bldP spid="98319" grpId="0"/>
      <p:bldP spid="98320" grpId="0"/>
      <p:bldP spid="98321" grpId="0" animBg="1"/>
      <p:bldP spid="98322" grpId="0"/>
      <p:bldP spid="98323" grpId="0"/>
      <p:bldP spid="98324" grpId="0"/>
      <p:bldP spid="98325" grpId="0"/>
      <p:bldP spid="98326" grpId="0"/>
      <p:bldP spid="98327" grpId="0" animBg="1"/>
      <p:bldP spid="98328" grpId="0"/>
      <p:bldP spid="98329" grpId="0"/>
      <p:bldP spid="98330" grpId="0"/>
      <p:bldP spid="98331" grpId="0"/>
      <p:bldP spid="98332" grpId="0" animBg="1"/>
      <p:bldP spid="98333" grpId="0"/>
      <p:bldP spid="9833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33" name="文本框 103432"/>
          <p:cNvSpPr txBox="1">
            <a:spLocks noChangeArrowheads="1"/>
          </p:cNvSpPr>
          <p:nvPr/>
        </p:nvSpPr>
        <p:spPr bwMode="auto">
          <a:xfrm>
            <a:off x="1117600" y="954071"/>
            <a:ext cx="2051473" cy="477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zh-CN" altLang="en-US" sz="2500" b="1" dirty="0">
                <a:solidFill>
                  <a:srgbClr val="FF3300"/>
                </a:solidFill>
                <a:ea typeface="楷体_GB2312" pitchFamily="49" charset="-122"/>
              </a:rPr>
              <a:t>规律</a:t>
            </a:r>
            <a:r>
              <a:rPr lang="en-US" altLang="zh-CN" sz="2500" b="1" dirty="0" smtClean="0">
                <a:solidFill>
                  <a:srgbClr val="FF3300"/>
                </a:solidFill>
                <a:ea typeface="楷体_GB2312" pitchFamily="49" charset="-122"/>
              </a:rPr>
              <a:t>:</a:t>
            </a:r>
            <a:r>
              <a:rPr lang="zh-CN" altLang="en-US" sz="2500" b="1" dirty="0" smtClean="0">
                <a:solidFill>
                  <a:srgbClr val="FF3300"/>
                </a:solidFill>
                <a:ea typeface="楷体_GB2312" pitchFamily="49" charset="-122"/>
              </a:rPr>
              <a:t>强换弱</a:t>
            </a:r>
            <a:endParaRPr lang="en-US" altLang="zh-CN" sz="2500" b="1" dirty="0">
              <a:solidFill>
                <a:srgbClr val="FF3300"/>
              </a:solidFill>
              <a:ea typeface="楷体_GB2312" pitchFamily="49" charset="-122"/>
            </a:endParaRPr>
          </a:p>
        </p:txBody>
      </p:sp>
      <p:sp>
        <p:nvSpPr>
          <p:cNvPr id="103434" name="矩形 103433"/>
          <p:cNvSpPr>
            <a:spLocks noChangeArrowheads="1"/>
          </p:cNvSpPr>
          <p:nvPr/>
        </p:nvSpPr>
        <p:spPr bwMode="auto">
          <a:xfrm>
            <a:off x="1117600" y="1425559"/>
            <a:ext cx="7985125" cy="1173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lnSpc>
                <a:spcPct val="150000"/>
              </a:lnSpc>
              <a:buFont typeface="Arial" charset="0"/>
              <a:buNone/>
            </a:pPr>
            <a:r>
              <a:rPr lang="zh-CN" altLang="en-US" sz="2500" b="1" i="1" dirty="0">
                <a:ea typeface="楷体_GB2312" pitchFamily="49" charset="-122"/>
              </a:rPr>
              <a:t>　　</a:t>
            </a:r>
            <a:r>
              <a:rPr lang="en-US" altLang="zh-CN" sz="2500" b="1" i="1" dirty="0" err="1">
                <a:ea typeface="楷体_GB2312" pitchFamily="49" charset="-122"/>
              </a:rPr>
              <a:t>K</a:t>
            </a:r>
            <a:r>
              <a:rPr lang="en-US" altLang="zh-CN" b="1" baseline="100000" dirty="0" err="1"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-25000" dirty="0" err="1">
                <a:ea typeface="楷体_GB2312" pitchFamily="49" charset="-122"/>
                <a:sym typeface="Webdings" pitchFamily="18" charset="2"/>
              </a:rPr>
              <a:t>sp</a:t>
            </a:r>
            <a:r>
              <a:rPr lang="zh-CN" altLang="en-US" sz="2500" b="1" dirty="0">
                <a:ea typeface="楷体_GB2312" pitchFamily="49" charset="-122"/>
              </a:rPr>
              <a:t>较大的难溶物易转化为</a:t>
            </a:r>
            <a:r>
              <a:rPr lang="en-US" altLang="zh-CN" sz="2500" b="1" i="1" dirty="0" err="1">
                <a:ea typeface="楷体_GB2312" pitchFamily="49" charset="-122"/>
              </a:rPr>
              <a:t>K</a:t>
            </a:r>
            <a:r>
              <a:rPr lang="en-US" altLang="zh-CN" b="1" baseline="100000" dirty="0" err="1"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-25000" dirty="0" err="1">
                <a:ea typeface="楷体_GB2312" pitchFamily="49" charset="-122"/>
                <a:sym typeface="Webdings" pitchFamily="18" charset="2"/>
              </a:rPr>
              <a:t>sp</a:t>
            </a:r>
            <a:r>
              <a:rPr lang="zh-CN" altLang="en-US" sz="2500" b="1" dirty="0">
                <a:ea typeface="楷体_GB2312" pitchFamily="49" charset="-122"/>
              </a:rPr>
              <a:t>较小的难溶物</a:t>
            </a:r>
            <a:r>
              <a:rPr lang="en-US" altLang="zh-CN" sz="2500" b="1" dirty="0">
                <a:ea typeface="楷体_GB2312" pitchFamily="49" charset="-122"/>
              </a:rPr>
              <a:t>.</a:t>
            </a:r>
          </a:p>
          <a:p>
            <a:pPr eaLnBrk="1" hangingPunct="1">
              <a:lnSpc>
                <a:spcPct val="150000"/>
              </a:lnSpc>
              <a:buFont typeface="Arial" charset="0"/>
              <a:buNone/>
            </a:pPr>
            <a:r>
              <a:rPr lang="zh-CN" altLang="en-US" sz="2500" b="1" dirty="0">
                <a:ea typeface="楷体_GB2312" pitchFamily="49" charset="-122"/>
              </a:rPr>
              <a:t>　　两物质</a:t>
            </a:r>
            <a:r>
              <a:rPr lang="en-US" altLang="zh-CN" sz="2500" b="1" i="1" dirty="0" err="1">
                <a:ea typeface="楷体_GB2312" pitchFamily="49" charset="-122"/>
              </a:rPr>
              <a:t>K</a:t>
            </a:r>
            <a:r>
              <a:rPr lang="en-US" altLang="zh-CN" b="1" baseline="100000" dirty="0" err="1"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-25000" dirty="0" err="1">
                <a:ea typeface="楷体_GB2312" pitchFamily="49" charset="-122"/>
                <a:sym typeface="Webdings" pitchFamily="18" charset="2"/>
              </a:rPr>
              <a:t>sp</a:t>
            </a:r>
            <a:r>
              <a:rPr lang="zh-CN" altLang="en-US" sz="2500" b="1" dirty="0">
                <a:ea typeface="楷体_GB2312" pitchFamily="49" charset="-122"/>
              </a:rPr>
              <a:t>相差越大</a:t>
            </a:r>
            <a:r>
              <a:rPr lang="en-US" altLang="zh-CN" sz="2500" b="1" dirty="0">
                <a:ea typeface="楷体_GB2312" pitchFamily="49" charset="-122"/>
              </a:rPr>
              <a:t>, </a:t>
            </a:r>
            <a:r>
              <a:rPr lang="zh-CN" altLang="en-US" sz="2500" b="1" dirty="0">
                <a:ea typeface="楷体_GB2312" pitchFamily="49" charset="-122"/>
              </a:rPr>
              <a:t>沉淀转化得越完全</a:t>
            </a:r>
            <a:r>
              <a:rPr lang="en-US" altLang="zh-CN" sz="2500" b="1" dirty="0">
                <a:ea typeface="楷体_GB2312" pitchFamily="49" charset="-122"/>
              </a:rPr>
              <a:t>.</a:t>
            </a:r>
            <a:endParaRPr lang="en-US" altLang="en-US" sz="2500" b="1" dirty="0">
              <a:ea typeface="楷体_GB2312" pitchFamily="49" charset="-122"/>
            </a:endParaRPr>
          </a:p>
        </p:txBody>
      </p:sp>
      <p:sp>
        <p:nvSpPr>
          <p:cNvPr id="7172" name="文本框 68635"/>
          <p:cNvSpPr txBox="1">
            <a:spLocks noChangeArrowheads="1"/>
          </p:cNvSpPr>
          <p:nvPr/>
        </p:nvSpPr>
        <p:spPr bwMode="auto">
          <a:xfrm>
            <a:off x="257175" y="242888"/>
            <a:ext cx="4811713" cy="427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zh-CN" altLang="en-US" sz="2200" b="1" dirty="0">
                <a:solidFill>
                  <a:srgbClr val="FF3300"/>
                </a:solidFill>
                <a:ea typeface="黑体" pitchFamily="49" charset="-122"/>
              </a:rPr>
              <a:t>4.2.3 沉淀的转化</a:t>
            </a:r>
          </a:p>
        </p:txBody>
      </p:sp>
      <p:sp>
        <p:nvSpPr>
          <p:cNvPr id="7173" name="椭圆 62501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auto">
          <a:xfrm>
            <a:off x="0" y="5580000"/>
            <a:ext cx="360362" cy="360362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760378" y="3525839"/>
            <a:ext cx="1214446" cy="629788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150000"/>
              </a:lnSpc>
              <a:buFont typeface="Arial" panose="020B0604020202020204" pitchFamily="34" charset="0"/>
              <a:buNone/>
              <a:defRPr/>
            </a:pPr>
            <a:r>
              <a:rPr lang="zh-CN" altLang="en-US" sz="2645" b="1" noProof="1" smtClean="0">
                <a:ea typeface="楷体_GB2312" panose="02010609030101010101" pitchFamily="49" charset="-122"/>
                <a:hlinkClick r:id="rId4" action="ppaction://hlinkpres?slideindex=6&amp;slidetitle=幻灯片 6"/>
              </a:rPr>
              <a:t>解</a:t>
            </a:r>
            <a:r>
              <a:rPr lang="en-US" altLang="zh-CN" sz="2645" b="1" noProof="1" smtClean="0">
                <a:ea typeface="楷体_GB2312" panose="02010609030101010101" pitchFamily="49" charset="-122"/>
              </a:rPr>
              <a:t>:</a:t>
            </a:r>
            <a:endParaRPr lang="en-US" altLang="zh-CN" sz="2645" b="1" noProof="1">
              <a:ea typeface="楷体_GB2312" panose="02010609030101010101" pitchFamily="49" charset="-122"/>
            </a:endParaRPr>
          </a:p>
        </p:txBody>
      </p:sp>
      <p:sp>
        <p:nvSpPr>
          <p:cNvPr id="8" name="椭圆 62544" descr="图片1">
            <a:hlinkClick r:id="rId5" action="ppaction://hlinkpres?slideindex=1&amp;slidetitle="/>
          </p:cNvPr>
          <p:cNvSpPr>
            <a:spLocks noChangeAspect="1" noChangeArrowheads="1"/>
          </p:cNvSpPr>
          <p:nvPr/>
        </p:nvSpPr>
        <p:spPr bwMode="auto">
          <a:xfrm>
            <a:off x="11155363" y="5580000"/>
            <a:ext cx="360362" cy="360362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 sz="1200" b="1" dirty="0" smtClean="0">
                <a:solidFill>
                  <a:srgbClr val="000000"/>
                </a:solidFill>
                <a:ea typeface="楷体_GB2312" pitchFamily="49" charset="-122"/>
              </a:rPr>
              <a:t>下节</a:t>
            </a:r>
            <a:endParaRPr lang="zh-CN" altLang="en-US" sz="1200" b="1" dirty="0">
              <a:solidFill>
                <a:srgbClr val="000000"/>
              </a:solidFill>
              <a:ea typeface="楷体_GB2312" pitchFamily="49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773099" y="2668583"/>
            <a:ext cx="10274350" cy="900246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/>
            </a:pPr>
            <a:r>
              <a:rPr lang="zh-CN" altLang="en-US" sz="2500" b="1" noProof="1" smtClean="0">
                <a:latin typeface="+mn-lt"/>
                <a:ea typeface="楷体_GB2312" pitchFamily="49" charset="-122"/>
                <a:cs typeface="+mn-ea"/>
                <a:sym typeface="+mn-ea"/>
              </a:rPr>
              <a:t>例</a:t>
            </a:r>
            <a:r>
              <a:rPr lang="en-US" altLang="zh-CN" sz="2500" b="1" noProof="1" smtClean="0">
                <a:latin typeface="+mn-lt"/>
                <a:ea typeface="楷体_GB2312" pitchFamily="49" charset="-122"/>
                <a:cs typeface="+mn-ea"/>
                <a:sym typeface="+mn-ea"/>
              </a:rPr>
              <a:t>4. 0.20 </a:t>
            </a:r>
            <a:r>
              <a:rPr lang="en-US" altLang="zh-CN" sz="2500" b="1" noProof="1">
                <a:latin typeface="+mn-lt"/>
                <a:ea typeface="楷体_GB2312" pitchFamily="49" charset="-122"/>
                <a:cs typeface="+mn-ea"/>
                <a:sym typeface="+mn-ea"/>
              </a:rPr>
              <a:t>mol BaSO</a:t>
            </a:r>
            <a:r>
              <a:rPr lang="en-US" altLang="zh-CN" sz="2500" b="1" baseline="-25000" noProof="1">
                <a:latin typeface="+mn-lt"/>
                <a:ea typeface="楷体_GB2312" pitchFamily="49" charset="-122"/>
                <a:cs typeface="+mn-ea"/>
                <a:sym typeface="+mn-ea"/>
              </a:rPr>
              <a:t>4</a:t>
            </a:r>
            <a:r>
              <a:rPr lang="en-US" altLang="zh-CN" sz="2500" b="1" noProof="1">
                <a:latin typeface="+mn-lt"/>
                <a:ea typeface="楷体_GB2312" pitchFamily="49" charset="-122"/>
                <a:cs typeface="+mn-ea"/>
                <a:sym typeface="+mn-ea"/>
              </a:rPr>
              <a:t>, </a:t>
            </a:r>
            <a:r>
              <a:rPr lang="zh-CN" altLang="en-US" sz="2500" b="1" noProof="1">
                <a:latin typeface="+mn-lt"/>
                <a:ea typeface="楷体_GB2312" pitchFamily="49" charset="-122"/>
                <a:cs typeface="+mn-ea"/>
                <a:sym typeface="+mn-ea"/>
              </a:rPr>
              <a:t>用</a:t>
            </a:r>
            <a:r>
              <a:rPr lang="en-US" altLang="zh-CN" sz="2500" b="1" noProof="1">
                <a:latin typeface="+mn-lt"/>
                <a:ea typeface="楷体_GB2312" pitchFamily="49" charset="-122"/>
                <a:cs typeface="+mn-ea"/>
                <a:sym typeface="+mn-ea"/>
              </a:rPr>
              <a:t>1.0L</a:t>
            </a:r>
            <a:r>
              <a:rPr lang="zh-CN" altLang="en-US" sz="2500" b="1" noProof="1">
                <a:latin typeface="+mn-lt"/>
                <a:ea typeface="楷体_GB2312" pitchFamily="49" charset="-122"/>
                <a:cs typeface="+mn-ea"/>
                <a:sym typeface="+mn-ea"/>
              </a:rPr>
              <a:t>饱和</a:t>
            </a:r>
            <a:r>
              <a:rPr lang="en-US" altLang="zh-CN" sz="2500" b="1" noProof="1">
                <a:latin typeface="+mn-lt"/>
                <a:ea typeface="楷体_GB2312" pitchFamily="49" charset="-122"/>
                <a:cs typeface="+mn-ea"/>
                <a:sym typeface="+mn-ea"/>
              </a:rPr>
              <a:t>Na</a:t>
            </a:r>
            <a:r>
              <a:rPr lang="en-US" altLang="zh-CN" sz="2500" b="1" baseline="-25000" noProof="1">
                <a:latin typeface="+mn-lt"/>
                <a:ea typeface="楷体_GB2312" pitchFamily="49" charset="-122"/>
                <a:cs typeface="+mn-ea"/>
                <a:sym typeface="+mn-ea"/>
              </a:rPr>
              <a:t>2</a:t>
            </a:r>
            <a:r>
              <a:rPr lang="en-US" altLang="zh-CN" sz="2500" b="1" noProof="1">
                <a:latin typeface="+mn-lt"/>
                <a:ea typeface="楷体_GB2312" pitchFamily="49" charset="-122"/>
                <a:cs typeface="+mn-ea"/>
                <a:sym typeface="+mn-ea"/>
              </a:rPr>
              <a:t>CO</a:t>
            </a:r>
            <a:r>
              <a:rPr lang="en-US" altLang="zh-CN" sz="2500" b="1" baseline="-25000" noProof="1">
                <a:latin typeface="+mn-lt"/>
                <a:ea typeface="楷体_GB2312" pitchFamily="49" charset="-122"/>
                <a:cs typeface="+mn-ea"/>
                <a:sym typeface="+mn-ea"/>
              </a:rPr>
              <a:t>3</a:t>
            </a:r>
            <a:r>
              <a:rPr lang="en-US" altLang="zh-CN" sz="2500" b="1" noProof="1">
                <a:latin typeface="+mn-lt"/>
                <a:ea typeface="楷体_GB2312" pitchFamily="49" charset="-122"/>
                <a:cs typeface="+mn-ea"/>
                <a:sym typeface="+mn-ea"/>
              </a:rPr>
              <a:t>(</a:t>
            </a:r>
            <a:r>
              <a:rPr lang="zh-CN" altLang="en-US" sz="2500" b="1" noProof="1">
                <a:latin typeface="+mn-lt"/>
                <a:ea typeface="楷体_GB2312" pitchFamily="49" charset="-122"/>
                <a:cs typeface="+mn-ea"/>
                <a:sym typeface="+mn-ea"/>
              </a:rPr>
              <a:t>浓度</a:t>
            </a:r>
            <a:r>
              <a:rPr lang="en-US" altLang="zh-CN" sz="2500" b="1" noProof="1">
                <a:latin typeface="+mn-lt"/>
                <a:ea typeface="楷体_GB2312" pitchFamily="49" charset="-122"/>
                <a:cs typeface="+mn-ea"/>
                <a:sym typeface="+mn-ea"/>
              </a:rPr>
              <a:t>1.6 mol·L</a:t>
            </a:r>
            <a:r>
              <a:rPr lang="en-US" altLang="zh-CN" sz="2500" b="1" baseline="30000" noProof="1">
                <a:latin typeface="+mn-lt"/>
                <a:ea typeface="楷体_GB2312" pitchFamily="49" charset="-122"/>
                <a:cs typeface="+mn-ea"/>
                <a:sym typeface="+mn-ea"/>
              </a:rPr>
              <a:t>-1</a:t>
            </a:r>
            <a:r>
              <a:rPr lang="en-US" altLang="zh-CN" sz="2500" b="1" noProof="1">
                <a:latin typeface="+mn-lt"/>
                <a:ea typeface="楷体_GB2312" pitchFamily="49" charset="-122"/>
                <a:cs typeface="+mn-ea"/>
                <a:sym typeface="+mn-ea"/>
              </a:rPr>
              <a:t> )</a:t>
            </a:r>
            <a:r>
              <a:rPr lang="zh-CN" altLang="en-US" sz="2500" b="1" noProof="1">
                <a:latin typeface="+mn-lt"/>
                <a:ea typeface="楷体_GB2312" pitchFamily="49" charset="-122"/>
                <a:cs typeface="+mn-ea"/>
                <a:sym typeface="+mn-ea"/>
              </a:rPr>
              <a:t>处理</a:t>
            </a:r>
            <a:r>
              <a:rPr lang="en-US" altLang="zh-CN" sz="2500" b="1" noProof="1">
                <a:latin typeface="+mn-lt"/>
                <a:ea typeface="楷体_GB2312" pitchFamily="49" charset="-122"/>
                <a:cs typeface="+mn-ea"/>
                <a:sym typeface="+mn-ea"/>
              </a:rPr>
              <a:t>,</a:t>
            </a:r>
            <a:r>
              <a:rPr lang="zh-CN" altLang="en-US" sz="2500" b="1" noProof="1">
                <a:latin typeface="+mn-lt"/>
                <a:ea typeface="楷体_GB2312" pitchFamily="49" charset="-122"/>
                <a:cs typeface="+mn-ea"/>
                <a:sym typeface="+mn-ea"/>
              </a:rPr>
              <a:t>可使</a:t>
            </a:r>
            <a:r>
              <a:rPr lang="en-US" altLang="zh-CN" sz="2500" b="1" noProof="1">
                <a:latin typeface="+mn-lt"/>
                <a:ea typeface="楷体_GB2312" pitchFamily="49" charset="-122"/>
                <a:cs typeface="+mn-ea"/>
                <a:sym typeface="+mn-ea"/>
              </a:rPr>
              <a:t>BaSO</a:t>
            </a:r>
            <a:r>
              <a:rPr lang="en-US" altLang="zh-CN" sz="2500" b="1" baseline="-25000" noProof="1">
                <a:latin typeface="+mn-lt"/>
                <a:ea typeface="楷体_GB2312" pitchFamily="49" charset="-122"/>
                <a:cs typeface="+mn-ea"/>
                <a:sym typeface="+mn-ea"/>
              </a:rPr>
              <a:t>4</a:t>
            </a:r>
            <a:r>
              <a:rPr lang="zh-CN" altLang="zh-CN" sz="2500" b="1" noProof="1">
                <a:latin typeface="+mn-lt"/>
                <a:ea typeface="楷体_GB2312" pitchFamily="49" charset="-122"/>
                <a:cs typeface="+mn-ea"/>
                <a:sym typeface="+mn-ea"/>
              </a:rPr>
              <a:t>(s)溶解多少</a:t>
            </a:r>
            <a:r>
              <a:rPr lang="en-US" altLang="zh-CN" sz="2500" b="1" noProof="1">
                <a:latin typeface="+mn-lt"/>
                <a:ea typeface="楷体_GB2312" pitchFamily="49" charset="-122"/>
                <a:cs typeface="+mn-ea"/>
                <a:sym typeface="+mn-ea"/>
              </a:rPr>
              <a:t>mol?</a:t>
            </a:r>
            <a:endParaRPr lang="en-US" altLang="zh-CN" sz="2500" b="1" noProof="1">
              <a:latin typeface="+mn-lt"/>
              <a:ea typeface="楷体_GB2312" pitchFamily="49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103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1034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1034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26000"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NOTIFY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433" grpId="0"/>
      <p:bldP spid="103434" grpId="0" build="p"/>
      <p:bldP spid="5" grpId="0"/>
      <p:bldP spid="9" grpId="0"/>
    </p:bldLst>
  </p:timing>
</p:sld>
</file>

<file path=ppt/theme/theme1.xml><?xml version="1.0" encoding="utf-8"?>
<a:theme xmlns:a="http://schemas.openxmlformats.org/drawingml/2006/main" name="医学研究PPT模板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医学研究PPT模板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医学研究PPT模板 1">
        <a:dk1>
          <a:srgbClr val="200B5B"/>
        </a:dk1>
        <a:lt1>
          <a:srgbClr val="EAEAEA"/>
        </a:lt1>
        <a:dk2>
          <a:srgbClr val="6600FF"/>
        </a:dk2>
        <a:lt2>
          <a:srgbClr val="FFCC66"/>
        </a:lt2>
        <a:accent1>
          <a:srgbClr val="EEB00B"/>
        </a:accent1>
        <a:accent2>
          <a:srgbClr val="6600CC"/>
        </a:accent2>
        <a:accent3>
          <a:srgbClr val="B8AAFF"/>
        </a:accent3>
        <a:accent4>
          <a:srgbClr val="C8C8C8"/>
        </a:accent4>
        <a:accent5>
          <a:srgbClr val="F5D4AA"/>
        </a:accent5>
        <a:accent6>
          <a:srgbClr val="5C00B9"/>
        </a:accent6>
        <a:hlink>
          <a:srgbClr val="FF33CC"/>
        </a:hlink>
        <a:folHlink>
          <a:srgbClr val="CC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医学研究PPT模板 2">
        <a:dk1>
          <a:srgbClr val="393939"/>
        </a:dk1>
        <a:lt1>
          <a:srgbClr val="FFFFFF"/>
        </a:lt1>
        <a:dk2>
          <a:srgbClr val="6600CC"/>
        </a:dk2>
        <a:lt2>
          <a:srgbClr val="CCCCFF"/>
        </a:lt2>
        <a:accent1>
          <a:srgbClr val="F9D87E"/>
        </a:accent1>
        <a:accent2>
          <a:srgbClr val="FFCCCC"/>
        </a:accent2>
        <a:accent3>
          <a:srgbClr val="FFFFFF"/>
        </a:accent3>
        <a:accent4>
          <a:srgbClr val="2F2F2F"/>
        </a:accent4>
        <a:accent5>
          <a:srgbClr val="FBE9C0"/>
        </a:accent5>
        <a:accent6>
          <a:srgbClr val="E7B9B9"/>
        </a:accent6>
        <a:hlink>
          <a:srgbClr val="FFCC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555555"/>
        </a:accent6>
        <a:hlink>
          <a:srgbClr val="969696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4">
        <a:dk1>
          <a:srgbClr val="330000"/>
        </a:dk1>
        <a:lt1>
          <a:srgbClr val="FFFFCC"/>
        </a:lt1>
        <a:dk2>
          <a:srgbClr val="000000"/>
        </a:dk2>
        <a:lt2>
          <a:srgbClr val="FFCC00"/>
        </a:lt2>
        <a:accent1>
          <a:srgbClr val="FF9900"/>
        </a:accent1>
        <a:accent2>
          <a:srgbClr val="330099"/>
        </a:accent2>
        <a:accent3>
          <a:srgbClr val="AAAAAA"/>
        </a:accent3>
        <a:accent4>
          <a:srgbClr val="DADAAE"/>
        </a:accent4>
        <a:accent5>
          <a:srgbClr val="FFCAAA"/>
        </a:accent5>
        <a:accent6>
          <a:srgbClr val="2D008A"/>
        </a:accent6>
        <a:hlink>
          <a:srgbClr val="FF6633"/>
        </a:hlink>
        <a:folHlink>
          <a:srgbClr val="66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医学研究PPT模板 5">
        <a:dk1>
          <a:srgbClr val="333300"/>
        </a:dk1>
        <a:lt1>
          <a:srgbClr val="DDDDDD"/>
        </a:lt1>
        <a:dk2>
          <a:srgbClr val="996600"/>
        </a:dk2>
        <a:lt2>
          <a:srgbClr val="FFCC66"/>
        </a:lt2>
        <a:accent1>
          <a:srgbClr val="EEB00B"/>
        </a:accent1>
        <a:accent2>
          <a:srgbClr val="330099"/>
        </a:accent2>
        <a:accent3>
          <a:srgbClr val="CAB8AA"/>
        </a:accent3>
        <a:accent4>
          <a:srgbClr val="BDBDBD"/>
        </a:accent4>
        <a:accent5>
          <a:srgbClr val="F5D4AA"/>
        </a:accent5>
        <a:accent6>
          <a:srgbClr val="2D008A"/>
        </a:accent6>
        <a:hlink>
          <a:srgbClr val="FF6633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医学研究PPT模板 6">
        <a:dk1>
          <a:srgbClr val="003300"/>
        </a:dk1>
        <a:lt1>
          <a:srgbClr val="FFFFCC"/>
        </a:lt1>
        <a:dk2>
          <a:srgbClr val="999933"/>
        </a:dk2>
        <a:lt2>
          <a:srgbClr val="FFFF66"/>
        </a:lt2>
        <a:accent1>
          <a:srgbClr val="CC9900"/>
        </a:accent1>
        <a:accent2>
          <a:srgbClr val="330099"/>
        </a:accent2>
        <a:accent3>
          <a:srgbClr val="CACAAD"/>
        </a:accent3>
        <a:accent4>
          <a:srgbClr val="DADAAE"/>
        </a:accent4>
        <a:accent5>
          <a:srgbClr val="E2CAAA"/>
        </a:accent5>
        <a:accent6>
          <a:srgbClr val="2D008A"/>
        </a:accent6>
        <a:hlink>
          <a:srgbClr val="FF9900"/>
        </a:hlink>
        <a:folHlink>
          <a:srgbClr val="FF66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医学研究PPT模板 1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555555"/>
        </a:accent6>
        <a:hlink>
          <a:srgbClr val="969696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2">
        <a:dk1>
          <a:srgbClr val="000000"/>
        </a:dk1>
        <a:lt1>
          <a:srgbClr val="FFFFFF"/>
        </a:lt1>
        <a:dk2>
          <a:srgbClr val="000000"/>
        </a:dk2>
        <a:lt2>
          <a:srgbClr val="000000"/>
        </a:lt2>
        <a:accent1>
          <a:srgbClr val="FF0000"/>
        </a:accent1>
        <a:accent2>
          <a:srgbClr val="FF00FF"/>
        </a:accent2>
        <a:accent3>
          <a:srgbClr val="FFFFFF"/>
        </a:accent3>
        <a:accent4>
          <a:srgbClr val="000000"/>
        </a:accent4>
        <a:accent5>
          <a:srgbClr val="FFAAAA"/>
        </a:accent5>
        <a:accent6>
          <a:srgbClr val="E700E7"/>
        </a:accent6>
        <a:hlink>
          <a:srgbClr val="FF99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3">
        <a:dk1>
          <a:srgbClr val="FFFFFF"/>
        </a:dk1>
        <a:lt1>
          <a:srgbClr val="FFFFFF"/>
        </a:lt1>
        <a:dk2>
          <a:srgbClr val="000000"/>
        </a:dk2>
        <a:lt2>
          <a:srgbClr val="000000"/>
        </a:lt2>
        <a:accent1>
          <a:srgbClr val="FF0000"/>
        </a:accent1>
        <a:accent2>
          <a:srgbClr val="FF00FF"/>
        </a:accent2>
        <a:accent3>
          <a:srgbClr val="FFFFFF"/>
        </a:accent3>
        <a:accent4>
          <a:srgbClr val="DADADA"/>
        </a:accent4>
        <a:accent5>
          <a:srgbClr val="FFAAAA"/>
        </a:accent5>
        <a:accent6>
          <a:srgbClr val="E700E7"/>
        </a:accent6>
        <a:hlink>
          <a:srgbClr val="FF99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1">
        <a:dk1>
          <a:srgbClr val="FFFFFF"/>
        </a:dk1>
        <a:lt1>
          <a:srgbClr val="FFFFFF"/>
        </a:lt1>
        <a:dk2>
          <a:srgbClr val="000000"/>
        </a:dk2>
        <a:lt2>
          <a:srgbClr val="000000"/>
        </a:lt2>
        <a:accent1>
          <a:srgbClr val="000000"/>
        </a:accent1>
        <a:accent2>
          <a:srgbClr val="FF00FF"/>
        </a:accent2>
        <a:accent3>
          <a:srgbClr val="FFFFFF"/>
        </a:accent3>
        <a:accent4>
          <a:srgbClr val="DADADA"/>
        </a:accent4>
        <a:accent5>
          <a:srgbClr val="AAAAAA"/>
        </a:accent5>
        <a:accent6>
          <a:srgbClr val="E700E7"/>
        </a:accent6>
        <a:hlink>
          <a:srgbClr val="FF99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医学研究PPT模板">
  <a:themeElements>
    <a:clrScheme name="1_医学研究PPT模板 1">
      <a:dk1>
        <a:srgbClr val="200B5B"/>
      </a:dk1>
      <a:lt1>
        <a:srgbClr val="EAEAEA"/>
      </a:lt1>
      <a:dk2>
        <a:srgbClr val="6600FF"/>
      </a:dk2>
      <a:lt2>
        <a:srgbClr val="FFCC66"/>
      </a:lt2>
      <a:accent1>
        <a:srgbClr val="EEB00B"/>
      </a:accent1>
      <a:accent2>
        <a:srgbClr val="6600CC"/>
      </a:accent2>
      <a:accent3>
        <a:srgbClr val="B8AAFF"/>
      </a:accent3>
      <a:accent4>
        <a:srgbClr val="C8C8C8"/>
      </a:accent4>
      <a:accent5>
        <a:srgbClr val="F5D4AA"/>
      </a:accent5>
      <a:accent6>
        <a:srgbClr val="5C00B9"/>
      </a:accent6>
      <a:hlink>
        <a:srgbClr val="FF33CC"/>
      </a:hlink>
      <a:folHlink>
        <a:srgbClr val="CC99FF"/>
      </a:folHlink>
    </a:clrScheme>
    <a:fontScheme name="1_医学研究PPT模板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医学研究PPT模板 1">
        <a:dk1>
          <a:srgbClr val="200B5B"/>
        </a:dk1>
        <a:lt1>
          <a:srgbClr val="EAEAEA"/>
        </a:lt1>
        <a:dk2>
          <a:srgbClr val="6600FF"/>
        </a:dk2>
        <a:lt2>
          <a:srgbClr val="FFCC66"/>
        </a:lt2>
        <a:accent1>
          <a:srgbClr val="EEB00B"/>
        </a:accent1>
        <a:accent2>
          <a:srgbClr val="6600CC"/>
        </a:accent2>
        <a:accent3>
          <a:srgbClr val="B8AAFF"/>
        </a:accent3>
        <a:accent4>
          <a:srgbClr val="C8C8C8"/>
        </a:accent4>
        <a:accent5>
          <a:srgbClr val="F5D4AA"/>
        </a:accent5>
        <a:accent6>
          <a:srgbClr val="5C00B9"/>
        </a:accent6>
        <a:hlink>
          <a:srgbClr val="FF33CC"/>
        </a:hlink>
        <a:folHlink>
          <a:srgbClr val="CC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2">
        <a:dk1>
          <a:srgbClr val="393939"/>
        </a:dk1>
        <a:lt1>
          <a:srgbClr val="FFFFFF"/>
        </a:lt1>
        <a:dk2>
          <a:srgbClr val="6600CC"/>
        </a:dk2>
        <a:lt2>
          <a:srgbClr val="CCCCFF"/>
        </a:lt2>
        <a:accent1>
          <a:srgbClr val="F9D87E"/>
        </a:accent1>
        <a:accent2>
          <a:srgbClr val="FFCCCC"/>
        </a:accent2>
        <a:accent3>
          <a:srgbClr val="FFFFFF"/>
        </a:accent3>
        <a:accent4>
          <a:srgbClr val="2F2F2F"/>
        </a:accent4>
        <a:accent5>
          <a:srgbClr val="FBE9C0"/>
        </a:accent5>
        <a:accent6>
          <a:srgbClr val="E7B9B9"/>
        </a:accent6>
        <a:hlink>
          <a:srgbClr val="FFCC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医学研究PPT模板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555555"/>
        </a:accent6>
        <a:hlink>
          <a:srgbClr val="969696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医学研究PPT模板 4">
        <a:dk1>
          <a:srgbClr val="330000"/>
        </a:dk1>
        <a:lt1>
          <a:srgbClr val="FFFFCC"/>
        </a:lt1>
        <a:dk2>
          <a:srgbClr val="000000"/>
        </a:dk2>
        <a:lt2>
          <a:srgbClr val="FFCC00"/>
        </a:lt2>
        <a:accent1>
          <a:srgbClr val="FF9900"/>
        </a:accent1>
        <a:accent2>
          <a:srgbClr val="330099"/>
        </a:accent2>
        <a:accent3>
          <a:srgbClr val="AAAAAA"/>
        </a:accent3>
        <a:accent4>
          <a:srgbClr val="DADAAE"/>
        </a:accent4>
        <a:accent5>
          <a:srgbClr val="FFCAAA"/>
        </a:accent5>
        <a:accent6>
          <a:srgbClr val="2D008A"/>
        </a:accent6>
        <a:hlink>
          <a:srgbClr val="FF6633"/>
        </a:hlink>
        <a:folHlink>
          <a:srgbClr val="66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5">
        <a:dk1>
          <a:srgbClr val="333300"/>
        </a:dk1>
        <a:lt1>
          <a:srgbClr val="DDDDDD"/>
        </a:lt1>
        <a:dk2>
          <a:srgbClr val="996600"/>
        </a:dk2>
        <a:lt2>
          <a:srgbClr val="FFCC66"/>
        </a:lt2>
        <a:accent1>
          <a:srgbClr val="EEB00B"/>
        </a:accent1>
        <a:accent2>
          <a:srgbClr val="330099"/>
        </a:accent2>
        <a:accent3>
          <a:srgbClr val="CAB8AA"/>
        </a:accent3>
        <a:accent4>
          <a:srgbClr val="BDBDBD"/>
        </a:accent4>
        <a:accent5>
          <a:srgbClr val="F5D4AA"/>
        </a:accent5>
        <a:accent6>
          <a:srgbClr val="2D008A"/>
        </a:accent6>
        <a:hlink>
          <a:srgbClr val="FF6633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6">
        <a:dk1>
          <a:srgbClr val="003300"/>
        </a:dk1>
        <a:lt1>
          <a:srgbClr val="FFFFCC"/>
        </a:lt1>
        <a:dk2>
          <a:srgbClr val="999933"/>
        </a:dk2>
        <a:lt2>
          <a:srgbClr val="FFFF66"/>
        </a:lt2>
        <a:accent1>
          <a:srgbClr val="CC9900"/>
        </a:accent1>
        <a:accent2>
          <a:srgbClr val="330099"/>
        </a:accent2>
        <a:accent3>
          <a:srgbClr val="CACAAD"/>
        </a:accent3>
        <a:accent4>
          <a:srgbClr val="DADAAE"/>
        </a:accent4>
        <a:accent5>
          <a:srgbClr val="E2CAAA"/>
        </a:accent5>
        <a:accent6>
          <a:srgbClr val="2D008A"/>
        </a:accent6>
        <a:hlink>
          <a:srgbClr val="FF9900"/>
        </a:hlink>
        <a:folHlink>
          <a:srgbClr val="FF66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1">
        <a:dk1>
          <a:srgbClr val="200B5B"/>
        </a:dk1>
        <a:lt1>
          <a:srgbClr val="EAEAEA"/>
        </a:lt1>
        <a:dk2>
          <a:srgbClr val="6600FF"/>
        </a:dk2>
        <a:lt2>
          <a:srgbClr val="FFCC66"/>
        </a:lt2>
        <a:accent1>
          <a:srgbClr val="EEB00B"/>
        </a:accent1>
        <a:accent2>
          <a:srgbClr val="6600CC"/>
        </a:accent2>
        <a:accent3>
          <a:srgbClr val="B8AAFF"/>
        </a:accent3>
        <a:accent4>
          <a:srgbClr val="C8C8C8"/>
        </a:accent4>
        <a:accent5>
          <a:srgbClr val="F5D4AA"/>
        </a:accent5>
        <a:accent6>
          <a:srgbClr val="5C00B9"/>
        </a:accent6>
        <a:hlink>
          <a:srgbClr val="FF33CC"/>
        </a:hlink>
        <a:folHlink>
          <a:srgbClr val="CC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2">
        <a:dk1>
          <a:srgbClr val="FFFFFF"/>
        </a:dk1>
        <a:lt1>
          <a:srgbClr val="FFFFFF"/>
        </a:lt1>
        <a:dk2>
          <a:srgbClr val="000000"/>
        </a:dk2>
        <a:lt2>
          <a:srgbClr val="000000"/>
        </a:lt2>
        <a:accent1>
          <a:srgbClr val="FF0000"/>
        </a:accent1>
        <a:accent2>
          <a:srgbClr val="FF00FF"/>
        </a:accent2>
        <a:accent3>
          <a:srgbClr val="FFFFFF"/>
        </a:accent3>
        <a:accent4>
          <a:srgbClr val="DADADA"/>
        </a:accent4>
        <a:accent5>
          <a:srgbClr val="FFAAAA"/>
        </a:accent5>
        <a:accent6>
          <a:srgbClr val="E700E7"/>
        </a:accent6>
        <a:hlink>
          <a:srgbClr val="FF99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医学研究PPT模板 1">
        <a:dk1>
          <a:srgbClr val="200B5B"/>
        </a:dk1>
        <a:lt1>
          <a:srgbClr val="EAEAEA"/>
        </a:lt1>
        <a:dk2>
          <a:srgbClr val="6600FF"/>
        </a:dk2>
        <a:lt2>
          <a:srgbClr val="FFCC66"/>
        </a:lt2>
        <a:accent1>
          <a:srgbClr val="EEB00B"/>
        </a:accent1>
        <a:accent2>
          <a:srgbClr val="6600CC"/>
        </a:accent2>
        <a:accent3>
          <a:srgbClr val="B8AAFF"/>
        </a:accent3>
        <a:accent4>
          <a:srgbClr val="C8C8C8"/>
        </a:accent4>
        <a:accent5>
          <a:srgbClr val="F5D4AA"/>
        </a:accent5>
        <a:accent6>
          <a:srgbClr val="5C00B9"/>
        </a:accent6>
        <a:hlink>
          <a:srgbClr val="FF33CC"/>
        </a:hlink>
        <a:folHlink>
          <a:srgbClr val="CC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2">
        <a:dk1>
          <a:srgbClr val="393939"/>
        </a:dk1>
        <a:lt1>
          <a:srgbClr val="FFFFFF"/>
        </a:lt1>
        <a:dk2>
          <a:srgbClr val="6600CC"/>
        </a:dk2>
        <a:lt2>
          <a:srgbClr val="CCCCFF"/>
        </a:lt2>
        <a:accent1>
          <a:srgbClr val="F9D87E"/>
        </a:accent1>
        <a:accent2>
          <a:srgbClr val="FFCCCC"/>
        </a:accent2>
        <a:accent3>
          <a:srgbClr val="FFFFFF"/>
        </a:accent3>
        <a:accent4>
          <a:srgbClr val="2F2F2F"/>
        </a:accent4>
        <a:accent5>
          <a:srgbClr val="FBE9C0"/>
        </a:accent5>
        <a:accent6>
          <a:srgbClr val="E7B9B9"/>
        </a:accent6>
        <a:hlink>
          <a:srgbClr val="FFCC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医学研究PPT模板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555555"/>
        </a:accent6>
        <a:hlink>
          <a:srgbClr val="969696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医学研究PPT模板 4">
        <a:dk1>
          <a:srgbClr val="330000"/>
        </a:dk1>
        <a:lt1>
          <a:srgbClr val="FFFFCC"/>
        </a:lt1>
        <a:dk2>
          <a:srgbClr val="000000"/>
        </a:dk2>
        <a:lt2>
          <a:srgbClr val="FFCC00"/>
        </a:lt2>
        <a:accent1>
          <a:srgbClr val="FF9900"/>
        </a:accent1>
        <a:accent2>
          <a:srgbClr val="330099"/>
        </a:accent2>
        <a:accent3>
          <a:srgbClr val="AAAAAA"/>
        </a:accent3>
        <a:accent4>
          <a:srgbClr val="DADAAE"/>
        </a:accent4>
        <a:accent5>
          <a:srgbClr val="FFCAAA"/>
        </a:accent5>
        <a:accent6>
          <a:srgbClr val="2D008A"/>
        </a:accent6>
        <a:hlink>
          <a:srgbClr val="FF6633"/>
        </a:hlink>
        <a:folHlink>
          <a:srgbClr val="66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5">
        <a:dk1>
          <a:srgbClr val="333300"/>
        </a:dk1>
        <a:lt1>
          <a:srgbClr val="DDDDDD"/>
        </a:lt1>
        <a:dk2>
          <a:srgbClr val="996600"/>
        </a:dk2>
        <a:lt2>
          <a:srgbClr val="FFCC66"/>
        </a:lt2>
        <a:accent1>
          <a:srgbClr val="EEB00B"/>
        </a:accent1>
        <a:accent2>
          <a:srgbClr val="330099"/>
        </a:accent2>
        <a:accent3>
          <a:srgbClr val="CAB8AA"/>
        </a:accent3>
        <a:accent4>
          <a:srgbClr val="BDBDBD"/>
        </a:accent4>
        <a:accent5>
          <a:srgbClr val="F5D4AA"/>
        </a:accent5>
        <a:accent6>
          <a:srgbClr val="2D008A"/>
        </a:accent6>
        <a:hlink>
          <a:srgbClr val="FF6633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6">
        <a:dk1>
          <a:srgbClr val="003300"/>
        </a:dk1>
        <a:lt1>
          <a:srgbClr val="FFFFCC"/>
        </a:lt1>
        <a:dk2>
          <a:srgbClr val="999933"/>
        </a:dk2>
        <a:lt2>
          <a:srgbClr val="FFFF66"/>
        </a:lt2>
        <a:accent1>
          <a:srgbClr val="CC9900"/>
        </a:accent1>
        <a:accent2>
          <a:srgbClr val="330099"/>
        </a:accent2>
        <a:accent3>
          <a:srgbClr val="CACAAD"/>
        </a:accent3>
        <a:accent4>
          <a:srgbClr val="DADAAE"/>
        </a:accent4>
        <a:accent5>
          <a:srgbClr val="E2CAAA"/>
        </a:accent5>
        <a:accent6>
          <a:srgbClr val="2D008A"/>
        </a:accent6>
        <a:hlink>
          <a:srgbClr val="FF9900"/>
        </a:hlink>
        <a:folHlink>
          <a:srgbClr val="FF66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7">
        <a:dk1>
          <a:srgbClr val="200B5B"/>
        </a:dk1>
        <a:lt1>
          <a:srgbClr val="EAEAEA"/>
        </a:lt1>
        <a:dk2>
          <a:srgbClr val="6600FF"/>
        </a:dk2>
        <a:lt2>
          <a:srgbClr val="FFCC66"/>
        </a:lt2>
        <a:accent1>
          <a:srgbClr val="EEB00B"/>
        </a:accent1>
        <a:accent2>
          <a:srgbClr val="6600CC"/>
        </a:accent2>
        <a:accent3>
          <a:srgbClr val="B8AAFF"/>
        </a:accent3>
        <a:accent4>
          <a:srgbClr val="C8C8C8"/>
        </a:accent4>
        <a:accent5>
          <a:srgbClr val="F5D4AA"/>
        </a:accent5>
        <a:accent6>
          <a:srgbClr val="5C00B9"/>
        </a:accent6>
        <a:hlink>
          <a:srgbClr val="FF33CC"/>
        </a:hlink>
        <a:folHlink>
          <a:srgbClr val="CC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8">
        <a:dk1>
          <a:srgbClr val="FFFFFF"/>
        </a:dk1>
        <a:lt1>
          <a:srgbClr val="FFFFFF"/>
        </a:lt1>
        <a:dk2>
          <a:srgbClr val="000000"/>
        </a:dk2>
        <a:lt2>
          <a:srgbClr val="000000"/>
        </a:lt2>
        <a:accent1>
          <a:srgbClr val="FF0000"/>
        </a:accent1>
        <a:accent2>
          <a:srgbClr val="FF00FF"/>
        </a:accent2>
        <a:accent3>
          <a:srgbClr val="FFFFFF"/>
        </a:accent3>
        <a:accent4>
          <a:srgbClr val="DADADA"/>
        </a:accent4>
        <a:accent5>
          <a:srgbClr val="FFAAAA"/>
        </a:accent5>
        <a:accent6>
          <a:srgbClr val="E700E7"/>
        </a:accent6>
        <a:hlink>
          <a:srgbClr val="FF99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医学研究PPT模板 9">
        <a:dk1>
          <a:srgbClr val="000000"/>
        </a:dk1>
        <a:lt1>
          <a:srgbClr val="FFFFFF"/>
        </a:lt1>
        <a:dk2>
          <a:srgbClr val="000000"/>
        </a:dk2>
        <a:lt2>
          <a:srgbClr val="000000"/>
        </a:lt2>
        <a:accent1>
          <a:srgbClr val="FF0000"/>
        </a:accent1>
        <a:accent2>
          <a:srgbClr val="FF00FF"/>
        </a:accent2>
        <a:accent3>
          <a:srgbClr val="AAAAAA"/>
        </a:accent3>
        <a:accent4>
          <a:srgbClr val="DADADA"/>
        </a:accent4>
        <a:accent5>
          <a:srgbClr val="FFAAAA"/>
        </a:accent5>
        <a:accent6>
          <a:srgbClr val="E700E7"/>
        </a:accent6>
        <a:hlink>
          <a:srgbClr val="FF9900"/>
        </a:hlink>
        <a:folHlink>
          <a:srgbClr val="3333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10">
        <a:dk1>
          <a:srgbClr val="FFFFFF"/>
        </a:dk1>
        <a:lt1>
          <a:srgbClr val="FFFFFF"/>
        </a:lt1>
        <a:dk2>
          <a:srgbClr val="000000"/>
        </a:dk2>
        <a:lt2>
          <a:srgbClr val="000000"/>
        </a:lt2>
        <a:accent1>
          <a:srgbClr val="000000"/>
        </a:accent1>
        <a:accent2>
          <a:srgbClr val="FF00FF"/>
        </a:accent2>
        <a:accent3>
          <a:srgbClr val="FFFFFF"/>
        </a:accent3>
        <a:accent4>
          <a:srgbClr val="DADADA"/>
        </a:accent4>
        <a:accent5>
          <a:srgbClr val="AAAAAA"/>
        </a:accent5>
        <a:accent6>
          <a:srgbClr val="E700E7"/>
        </a:accent6>
        <a:hlink>
          <a:srgbClr val="FF99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医学研究PPT模板</Template>
  <TotalTime>268</TotalTime>
  <Pages>0</Pages>
  <Words>359</Words>
  <Characters>0</Characters>
  <Application>Microsoft Office PowerPoint</Application>
  <DocSecurity>0</DocSecurity>
  <PresentationFormat>自定义</PresentationFormat>
  <Lines>0</Lines>
  <Paragraphs>53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6</vt:i4>
      </vt:variant>
    </vt:vector>
  </HeadingPairs>
  <TitlesOfParts>
    <vt:vector size="17" baseType="lpstr">
      <vt:lpstr>黑体</vt:lpstr>
      <vt:lpstr>楷体_GB2312</vt:lpstr>
      <vt:lpstr>宋体</vt:lpstr>
      <vt:lpstr>Arial</vt:lpstr>
      <vt:lpstr>Calibri</vt:lpstr>
      <vt:lpstr>Symbol</vt:lpstr>
      <vt:lpstr>Times New Roman</vt:lpstr>
      <vt:lpstr>Webdings</vt:lpstr>
      <vt:lpstr>Wingdings</vt:lpstr>
      <vt:lpstr>医学研究PPT模板</vt:lpstr>
      <vt:lpstr>1_医学研究PPT模板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ch04-02</dc:title>
  <dc:subject/>
  <dc:creator>j江南大学</dc:creator>
  <cp:keywords/>
  <dc:description/>
  <cp:lastModifiedBy>USER</cp:lastModifiedBy>
  <cp:revision>320</cp:revision>
  <dcterms:created xsi:type="dcterms:W3CDTF">2012-06-20T03:37:37Z</dcterms:created>
  <dcterms:modified xsi:type="dcterms:W3CDTF">2021-10-10T13:30:50Z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r8>1</vt:r8>
  </property>
  <property fmtid="{D5CDD505-2E9C-101B-9397-08002B2CF9AE}" pid="3" name="KSOProductBuildVer">
    <vt:lpwstr>2052-10.1.0.6156</vt:lpwstr>
  </property>
</Properties>
</file>