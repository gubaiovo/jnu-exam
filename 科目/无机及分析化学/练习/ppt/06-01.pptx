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61" r:id="rId2"/>
  </p:sldMasterIdLst>
  <p:notesMasterIdLst>
    <p:notesMasterId r:id="rId42"/>
  </p:notesMasterIdLst>
  <p:handoutMasterIdLst>
    <p:handoutMasterId r:id="rId43"/>
  </p:handoutMasterIdLst>
  <p:sldIdLst>
    <p:sldId id="256" r:id="rId3"/>
    <p:sldId id="294" r:id="rId4"/>
    <p:sldId id="345" r:id="rId5"/>
    <p:sldId id="346" r:id="rId6"/>
    <p:sldId id="328" r:id="rId7"/>
    <p:sldId id="300" r:id="rId8"/>
    <p:sldId id="329" r:id="rId9"/>
    <p:sldId id="301" r:id="rId10"/>
    <p:sldId id="302" r:id="rId11"/>
    <p:sldId id="303" r:id="rId12"/>
    <p:sldId id="304" r:id="rId13"/>
    <p:sldId id="305" r:id="rId14"/>
    <p:sldId id="324" r:id="rId15"/>
    <p:sldId id="323" r:id="rId16"/>
    <p:sldId id="325" r:id="rId17"/>
    <p:sldId id="307" r:id="rId18"/>
    <p:sldId id="309" r:id="rId19"/>
    <p:sldId id="333" r:id="rId20"/>
    <p:sldId id="335" r:id="rId21"/>
    <p:sldId id="336" r:id="rId22"/>
    <p:sldId id="337" r:id="rId23"/>
    <p:sldId id="339" r:id="rId24"/>
    <p:sldId id="344" r:id="rId25"/>
    <p:sldId id="341" r:id="rId26"/>
    <p:sldId id="342" r:id="rId27"/>
    <p:sldId id="343" r:id="rId28"/>
    <p:sldId id="311" r:id="rId29"/>
    <p:sldId id="312" r:id="rId30"/>
    <p:sldId id="330" r:id="rId31"/>
    <p:sldId id="334" r:id="rId32"/>
    <p:sldId id="332" r:id="rId33"/>
    <p:sldId id="315" r:id="rId34"/>
    <p:sldId id="316" r:id="rId35"/>
    <p:sldId id="317" r:id="rId36"/>
    <p:sldId id="318" r:id="rId37"/>
    <p:sldId id="319" r:id="rId38"/>
    <p:sldId id="320" r:id="rId39"/>
    <p:sldId id="321" r:id="rId40"/>
    <p:sldId id="322" r:id="rId41"/>
  </p:sldIdLst>
  <p:sldSz cx="11522075" cy="6480175"/>
  <p:notesSz cx="6858000" cy="9144000"/>
  <p:custDataLst>
    <p:tags r:id="rId44"/>
  </p:custDataLst>
  <p:defaultTextStyle>
    <a:defPPr>
      <a:defRPr lang="en-US"/>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034">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6FC6"/>
    <a:srgbClr val="FFFF00"/>
    <a:srgbClr val="FF00FF"/>
    <a:srgbClr val="FF0000"/>
    <a:srgbClr val="FFFFFF"/>
    <a:srgbClr val="0000FF"/>
    <a:srgbClr val="F8F8F8"/>
    <a:srgbClr val="FF330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2" autoAdjust="0"/>
    <p:restoredTop sz="99323" autoAdjust="0"/>
  </p:normalViewPr>
  <p:slideViewPr>
    <p:cSldViewPr>
      <p:cViewPr varScale="1">
        <p:scale>
          <a:sx n="73" d="100"/>
          <a:sy n="73" d="100"/>
        </p:scale>
        <p:origin x="90" y="138"/>
      </p:cViewPr>
      <p:guideLst>
        <p:guide orient="horz" pos="2034"/>
        <p:guide pos="362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4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楷体_GB231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ea typeface="楷体_GB2312"/>
              </a:defRPr>
            </a:lvl1pPr>
          </a:lstStyle>
          <a:p>
            <a:pPr>
              <a:defRPr/>
            </a:pPr>
            <a:fld id="{2737BBF2-700B-45C8-94D9-33E628BFD28C}" type="datetimeFigureOut">
              <a:rPr lang="zh-CN" altLang="en-US"/>
              <a:pPr>
                <a:defRPr/>
              </a:pPr>
              <a:t>2021/12/2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ea typeface="楷体_GB231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ea typeface="楷体_GB2312"/>
              </a:defRPr>
            </a:lvl1pPr>
          </a:lstStyle>
          <a:p>
            <a:pPr>
              <a:defRPr/>
            </a:pPr>
            <a:fld id="{B7E89AB9-4D4D-4D72-8F6D-5C79A9EE4FD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ea typeface="楷体_GB2312"/>
              </a:defRPr>
            </a:lvl1pPr>
          </a:lstStyle>
          <a:p>
            <a:pPr>
              <a:defRPr/>
            </a:pPr>
            <a:endParaRPr lang="zh-CN" altLang="en-US"/>
          </a:p>
        </p:txBody>
      </p:sp>
      <p:sp>
        <p:nvSpPr>
          <p:cNvPr id="2765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ea typeface="楷体_GB2312"/>
              </a:defRPr>
            </a:lvl1pPr>
          </a:lstStyle>
          <a:p>
            <a:pPr>
              <a:defRPr/>
            </a:pPr>
            <a:fld id="{3E32FD89-9DAA-4D78-B5E4-D597C9A38DC2}" type="datetimeFigureOut">
              <a:rPr lang="zh-CN" altLang="en-US"/>
              <a:pPr>
                <a:defRPr/>
              </a:pPr>
              <a:t>2021/12/2</a:t>
            </a:fld>
            <a:endParaRPr lang="en-US" altLang="zh-CN"/>
          </a:p>
        </p:txBody>
      </p:sp>
      <p:sp>
        <p:nvSpPr>
          <p:cNvPr id="2765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ea typeface="楷体_GB2312"/>
              </a:defRPr>
            </a:lvl1pPr>
          </a:lstStyle>
          <a:p>
            <a:pPr>
              <a:defRPr/>
            </a:pPr>
            <a:endParaRPr lang="en-US" altLang="zh-CN"/>
          </a:p>
        </p:txBody>
      </p:sp>
      <p:sp>
        <p:nvSpPr>
          <p:cNvPr id="2765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ea typeface="楷体_GB2312"/>
              </a:defRPr>
            </a:lvl1pPr>
          </a:lstStyle>
          <a:p>
            <a:pPr>
              <a:defRPr/>
            </a:pPr>
            <a:fld id="{A79DB106-A357-4FBA-B13A-CE4600D3BE6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pitchFamily="34" charset="0"/>
        <a:ea typeface="楷体_GB231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楷体_GB231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楷体_GB231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楷体_GB231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楷体_GB231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p:spPr>
        <p:txBody>
          <a:bodyPr/>
          <a:lstStyle/>
          <a:p>
            <a:pPr eaLnBrk="1" hangingPunct="1"/>
            <a:endParaRPr lang="zh-CN" altLang="en-US">
              <a:ea typeface="楷体_GB2312"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a:noFill/>
        </p:spPr>
        <p:txBody>
          <a:bodyPr/>
          <a:lstStyle/>
          <a:p>
            <a:r>
              <a:rPr lang="en-US" altLang="zh-CN">
                <a:ea typeface="楷体_GB2312" pitchFamily="49" charset="-122"/>
              </a:rPr>
              <a:t>商少明</a:t>
            </a:r>
          </a:p>
        </p:txBody>
      </p:sp>
      <p:sp>
        <p:nvSpPr>
          <p:cNvPr id="29699" name="Rectangle 3"/>
          <p:cNvSpPr>
            <a:spLocks noGrp="1" noChangeArrowheads="1"/>
          </p:cNvSpPr>
          <p:nvPr>
            <p:ph type="dt" sz="quarter" idx="1"/>
          </p:nvPr>
        </p:nvSpPr>
        <p:spPr>
          <a:noFill/>
        </p:spPr>
        <p:txBody>
          <a:bodyPr/>
          <a:lstStyle/>
          <a:p>
            <a:fld id="{C75ADA02-E4CA-4632-9149-5D64710B845A}" type="datetime1">
              <a:rPr lang="zh-CN" altLang="en-US" smtClean="0">
                <a:ea typeface="楷体_GB2312" pitchFamily="49" charset="-122"/>
              </a:rPr>
              <a:pPr/>
              <a:t>2021/12/2</a:t>
            </a:fld>
            <a:endParaRPr lang="en-US" altLang="zh-CN">
              <a:ea typeface="楷体_GB2312" pitchFamily="49" charset="-122"/>
            </a:endParaRPr>
          </a:p>
        </p:txBody>
      </p:sp>
      <p:sp>
        <p:nvSpPr>
          <p:cNvPr id="29700" name="Rectangle 7"/>
          <p:cNvSpPr>
            <a:spLocks noGrp="1" noChangeArrowheads="1"/>
          </p:cNvSpPr>
          <p:nvPr>
            <p:ph type="sldNum" sz="quarter" idx="5"/>
          </p:nvPr>
        </p:nvSpPr>
        <p:spPr>
          <a:noFill/>
        </p:spPr>
        <p:txBody>
          <a:bodyPr/>
          <a:lstStyle/>
          <a:p>
            <a:fld id="{BF85EDAD-922F-4B99-92F9-B072A2170ECA}" type="slidenum">
              <a:rPr lang="en-US" altLang="zh-CN" smtClean="0">
                <a:ea typeface="楷体_GB2312" pitchFamily="49" charset="-122"/>
              </a:rPr>
              <a:pPr/>
              <a:t>10</a:t>
            </a:fld>
            <a:endParaRPr lang="en-US" altLang="zh-CN">
              <a:ea typeface="楷体_GB2312" pitchFamily="49" charset="-122"/>
            </a:endParaRPr>
          </a:p>
        </p:txBody>
      </p:sp>
      <p:sp>
        <p:nvSpPr>
          <p:cNvPr id="29701" name="Rectangle 2"/>
          <p:cNvSpPr>
            <a:spLocks noGrp="1" noRot="1" noChangeAspect="1" noChangeArrowheads="1" noTextEdit="1"/>
          </p:cNvSpPr>
          <p:nvPr>
            <p:ph type="sldImg"/>
          </p:nvPr>
        </p:nvSpPr>
        <p:spPr>
          <a:ln/>
        </p:spPr>
      </p:sp>
      <p:sp>
        <p:nvSpPr>
          <p:cNvPr id="29702" name="Rectangle 3"/>
          <p:cNvSpPr>
            <a:spLocks noGrp="1" noChangeArrowheads="1"/>
          </p:cNvSpPr>
          <p:nvPr>
            <p:ph type="body" idx="1"/>
          </p:nvPr>
        </p:nvSpPr>
        <p:spPr>
          <a:noFill/>
          <a:ln/>
        </p:spPr>
        <p:txBody>
          <a:bodyPr/>
          <a:lstStyle/>
          <a:p>
            <a:endParaRPr lang="zh-CN" altLang="zh-CN">
              <a:ea typeface="楷体_GB2312" pitchFamily="49"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a:noFill/>
        </p:spPr>
        <p:txBody>
          <a:bodyPr/>
          <a:lstStyle/>
          <a:p>
            <a:r>
              <a:rPr lang="en-US" altLang="zh-CN">
                <a:ea typeface="楷体_GB2312" pitchFamily="49" charset="-122"/>
              </a:rPr>
              <a:t>商少明</a:t>
            </a:r>
          </a:p>
        </p:txBody>
      </p:sp>
      <p:sp>
        <p:nvSpPr>
          <p:cNvPr id="30723" name="Rectangle 3"/>
          <p:cNvSpPr>
            <a:spLocks noGrp="1" noChangeArrowheads="1"/>
          </p:cNvSpPr>
          <p:nvPr>
            <p:ph type="dt" sz="quarter" idx="1"/>
          </p:nvPr>
        </p:nvSpPr>
        <p:spPr>
          <a:noFill/>
        </p:spPr>
        <p:txBody>
          <a:bodyPr/>
          <a:lstStyle/>
          <a:p>
            <a:fld id="{425B8441-C171-4FDD-BC66-9BA34B5F35D7}" type="datetime1">
              <a:rPr lang="zh-CN" altLang="en-US" smtClean="0">
                <a:ea typeface="楷体_GB2312" pitchFamily="49" charset="-122"/>
              </a:rPr>
              <a:pPr/>
              <a:t>2021/12/2</a:t>
            </a:fld>
            <a:endParaRPr lang="en-US" altLang="zh-CN">
              <a:ea typeface="楷体_GB2312" pitchFamily="49" charset="-122"/>
            </a:endParaRPr>
          </a:p>
        </p:txBody>
      </p:sp>
      <p:sp>
        <p:nvSpPr>
          <p:cNvPr id="30724" name="Rectangle 7"/>
          <p:cNvSpPr>
            <a:spLocks noGrp="1" noChangeArrowheads="1"/>
          </p:cNvSpPr>
          <p:nvPr>
            <p:ph type="sldNum" sz="quarter" idx="5"/>
          </p:nvPr>
        </p:nvSpPr>
        <p:spPr>
          <a:noFill/>
        </p:spPr>
        <p:txBody>
          <a:bodyPr/>
          <a:lstStyle/>
          <a:p>
            <a:fld id="{2D055D56-0062-4F37-BB1D-5F8147BF548A}" type="slidenum">
              <a:rPr lang="en-US" altLang="zh-CN" smtClean="0">
                <a:ea typeface="楷体_GB2312" pitchFamily="49" charset="-122"/>
              </a:rPr>
              <a:pPr/>
              <a:t>11</a:t>
            </a:fld>
            <a:endParaRPr lang="en-US" altLang="zh-CN">
              <a:ea typeface="楷体_GB2312" pitchFamily="49" charset="-122"/>
            </a:endParaRPr>
          </a:p>
        </p:txBody>
      </p:sp>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p:spPr>
        <p:txBody>
          <a:bodyPr/>
          <a:lstStyle/>
          <a:p>
            <a:endParaRPr lang="zh-CN" altLang="zh-CN">
              <a:ea typeface="楷体_GB2312"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a:noFill/>
        </p:spPr>
        <p:txBody>
          <a:bodyPr/>
          <a:lstStyle/>
          <a:p>
            <a:r>
              <a:rPr lang="en-US" altLang="zh-CN">
                <a:ea typeface="楷体_GB2312" pitchFamily="49" charset="-122"/>
              </a:rPr>
              <a:t>商少明</a:t>
            </a:r>
          </a:p>
        </p:txBody>
      </p:sp>
      <p:sp>
        <p:nvSpPr>
          <p:cNvPr id="31747" name="Rectangle 3"/>
          <p:cNvSpPr>
            <a:spLocks noGrp="1" noChangeArrowheads="1"/>
          </p:cNvSpPr>
          <p:nvPr>
            <p:ph type="dt" sz="quarter" idx="1"/>
          </p:nvPr>
        </p:nvSpPr>
        <p:spPr>
          <a:noFill/>
        </p:spPr>
        <p:txBody>
          <a:bodyPr/>
          <a:lstStyle/>
          <a:p>
            <a:fld id="{8CF82BDC-46D4-4DDE-9D21-37D1CA69A179}" type="datetime1">
              <a:rPr lang="zh-CN" altLang="en-US" smtClean="0">
                <a:ea typeface="楷体_GB2312" pitchFamily="49" charset="-122"/>
              </a:rPr>
              <a:pPr/>
              <a:t>2021/12/2</a:t>
            </a:fld>
            <a:endParaRPr lang="en-US" altLang="zh-CN">
              <a:ea typeface="楷体_GB2312" pitchFamily="49" charset="-122"/>
            </a:endParaRPr>
          </a:p>
        </p:txBody>
      </p:sp>
      <p:sp>
        <p:nvSpPr>
          <p:cNvPr id="31748" name="Rectangle 7"/>
          <p:cNvSpPr>
            <a:spLocks noGrp="1" noChangeArrowheads="1"/>
          </p:cNvSpPr>
          <p:nvPr>
            <p:ph type="sldNum" sz="quarter" idx="5"/>
          </p:nvPr>
        </p:nvSpPr>
        <p:spPr>
          <a:noFill/>
        </p:spPr>
        <p:txBody>
          <a:bodyPr/>
          <a:lstStyle/>
          <a:p>
            <a:fld id="{626D2800-A2B8-416B-A605-3F88E9E53E52}" type="slidenum">
              <a:rPr lang="en-US" altLang="zh-CN" smtClean="0">
                <a:ea typeface="楷体_GB2312" pitchFamily="49" charset="-122"/>
              </a:rPr>
              <a:pPr/>
              <a:t>12</a:t>
            </a:fld>
            <a:endParaRPr lang="en-US" altLang="zh-CN">
              <a:ea typeface="楷体_GB2312" pitchFamily="49" charset="-122"/>
            </a:endParaRPr>
          </a:p>
        </p:txBody>
      </p:sp>
      <p:sp>
        <p:nvSpPr>
          <p:cNvPr id="31749" name="Rectangle 2"/>
          <p:cNvSpPr>
            <a:spLocks noGrp="1" noRot="1" noChangeAspect="1" noChangeArrowheads="1" noTextEdit="1"/>
          </p:cNvSpPr>
          <p:nvPr>
            <p:ph type="sldImg"/>
          </p:nvPr>
        </p:nvSpPr>
        <p:spPr>
          <a:ln/>
        </p:spPr>
      </p:sp>
      <p:sp>
        <p:nvSpPr>
          <p:cNvPr id="31750" name="Rectangle 3"/>
          <p:cNvSpPr>
            <a:spLocks noGrp="1" noChangeArrowheads="1"/>
          </p:cNvSpPr>
          <p:nvPr>
            <p:ph type="body" idx="1"/>
          </p:nvPr>
        </p:nvSpPr>
        <p:spPr>
          <a:noFill/>
          <a:ln/>
        </p:spPr>
        <p:txBody>
          <a:bodyPr/>
          <a:lstStyle/>
          <a:p>
            <a:endParaRPr lang="zh-CN" altLang="zh-CN">
              <a:ea typeface="楷体_GB2312" pitchFamily="49"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63600" y="2012950"/>
            <a:ext cx="9794875" cy="1389063"/>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728788" y="3671888"/>
            <a:ext cx="8064500" cy="1655762"/>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slow">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432000"/>
          </a:xfrm>
          <a:prstGeom prst="rect">
            <a:avLst/>
          </a:prstGeom>
        </p:spPr>
        <p:txBody>
          <a:bodyPr/>
          <a:lstStyle/>
          <a:p>
            <a:r>
              <a:rPr lang="zh-CN" altLang="en-US" dirty="0"/>
              <a:t>单击此处编辑母版标题样式</a:t>
            </a:r>
          </a:p>
        </p:txBody>
      </p:sp>
      <p:sp>
        <p:nvSpPr>
          <p:cNvPr id="3" name="内容占位符 2"/>
          <p:cNvSpPr>
            <a:spLocks noGrp="1"/>
          </p:cNvSpPr>
          <p:nvPr>
            <p:ph idx="1"/>
          </p:nvPr>
        </p:nvSpPr>
        <p:spPr>
          <a:xfrm>
            <a:off x="648469" y="863823"/>
            <a:ext cx="10369550" cy="4276725"/>
          </a:xfrm>
          <a:prstGeom prst="rect">
            <a:avLst/>
          </a:prstGeom>
        </p:spPr>
        <p:txBody>
          <a:bodyPr/>
          <a:lstStyle>
            <a:lvl1pPr marL="0" indent="0">
              <a:buNone/>
              <a:defRPr sz="2500">
                <a:latin typeface="楷体_GB2312" pitchFamily="49" charset="-122"/>
                <a:ea typeface="楷体_GB2312" pitchFamily="49" charset="-122"/>
              </a:defRPr>
            </a:lvl1pPr>
            <a:lvl2pPr marL="457200" indent="0">
              <a:buNone/>
              <a:defRPr sz="2500">
                <a:latin typeface="楷体_GB2312" pitchFamily="49" charset="-122"/>
                <a:ea typeface="楷体_GB2312" pitchFamily="49" charset="-122"/>
              </a:defRPr>
            </a:lvl2pPr>
            <a:lvl3pPr marL="914400" indent="0">
              <a:buNone/>
              <a:defRPr sz="2500">
                <a:latin typeface="楷体_GB2312" pitchFamily="49" charset="-122"/>
                <a:ea typeface="楷体_GB2312" pitchFamily="49" charset="-122"/>
              </a:defRPr>
            </a:lvl3pPr>
            <a:lvl4pPr marL="1371600" indent="0">
              <a:buNone/>
              <a:defRPr sz="2500">
                <a:latin typeface="楷体_GB2312" pitchFamily="49" charset="-122"/>
                <a:ea typeface="楷体_GB2312" pitchFamily="49" charset="-122"/>
              </a:defRPr>
            </a:lvl4pPr>
            <a:lvl5pPr marL="1828800" indent="0">
              <a:buNone/>
              <a:defRPr sz="2500">
                <a:latin typeface="楷体_GB2312" pitchFamily="49" charset="-122"/>
                <a:ea typeface="楷体_GB2312" pitchFamily="49" charset="-122"/>
              </a:defRPr>
            </a:lvl5pPr>
          </a:lstStyle>
          <a:p>
            <a:pPr lvl="0"/>
            <a:r>
              <a:rPr lang="zh-CN" altLang="en-US" dirty="0"/>
              <a:t>单击此处编辑母版文本样式</a:t>
            </a:r>
          </a:p>
        </p:txBody>
      </p:sp>
    </p:spTree>
  </p:cSld>
  <p:clrMapOvr>
    <a:masterClrMapping/>
  </p:clrMapOvr>
  <p:transition spd="slow">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slow">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576263" y="1511300"/>
            <a:ext cx="5108575" cy="4276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37238" y="1511300"/>
            <a:ext cx="5108575" cy="4276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a:t>单击此处编辑母版标题样式</a:t>
            </a:r>
          </a:p>
        </p:txBody>
      </p:sp>
    </p:spTree>
  </p:cSld>
  <p:clrMapOvr>
    <a:masterClrMapping/>
  </p:clrMapOvr>
  <p:transition spd="slow">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transition spd="slow">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576263" y="1511300"/>
            <a:ext cx="10369550" cy="42767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353425" y="258763"/>
            <a:ext cx="2592388" cy="5529262"/>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76263" y="258763"/>
            <a:ext cx="7624762" cy="552926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plit orient="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63600" y="2012950"/>
            <a:ext cx="9794875" cy="1389063"/>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728788" y="3671888"/>
            <a:ext cx="8064500" cy="1655762"/>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slow">
    <p:split orient="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576263" y="1511300"/>
            <a:ext cx="10369550" cy="42767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plit orient="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slow">
    <p:split orient="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576263" y="1511300"/>
            <a:ext cx="5108575" cy="4276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37238" y="1511300"/>
            <a:ext cx="5108575" cy="4276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plit orient="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plit orient="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a:t>单击此处编辑母版标题样式</a:t>
            </a:r>
          </a:p>
        </p:txBody>
      </p:sp>
    </p:spTree>
  </p:cSld>
  <p:clrMapOvr>
    <a:masterClrMapping/>
  </p:clrMapOvr>
  <p:transition spd="slow">
    <p:split orient="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split orient="vert"/>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plit orient="vert"/>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slow">
    <p:split orient="vert"/>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576263" y="1511300"/>
            <a:ext cx="10369550" cy="42767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plit orient="ver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353425" y="258763"/>
            <a:ext cx="2592388" cy="5529262"/>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76263" y="258763"/>
            <a:ext cx="7624762" cy="552926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slow">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grpSp>
        <p:nvGrpSpPr>
          <p:cNvPr id="3074" name="Group 152"/>
          <p:cNvGrpSpPr>
            <a:grpSpLocks/>
          </p:cNvGrpSpPr>
          <p:nvPr userDrawn="1"/>
        </p:nvGrpSpPr>
        <p:grpSpPr bwMode="auto">
          <a:xfrm>
            <a:off x="-34925" y="107950"/>
            <a:ext cx="11588750" cy="6408738"/>
            <a:chOff x="-22" y="68"/>
            <a:chExt cx="7300" cy="4037"/>
          </a:xfrm>
        </p:grpSpPr>
        <p:sp>
          <p:nvSpPr>
            <p:cNvPr id="1028" name="Freeform 1027"/>
            <p:cNvSpPr>
              <a:spLocks/>
            </p:cNvSpPr>
            <p:nvPr userDrawn="1"/>
          </p:nvSpPr>
          <p:spPr bwMode="auto">
            <a:xfrm>
              <a:off x="80" y="431"/>
              <a:ext cx="7080" cy="3174"/>
            </a:xfrm>
            <a:custGeom>
              <a:avLst/>
              <a:gdLst>
                <a:gd name="T0" fmla="*/ 9512 w 5269"/>
                <a:gd name="T1" fmla="*/ 0 h 2977"/>
                <a:gd name="T2" fmla="*/ 0 w 5269"/>
                <a:gd name="T3" fmla="*/ 0 h 2977"/>
                <a:gd name="T4" fmla="*/ 0 w 5269"/>
                <a:gd name="T5" fmla="*/ 3383 h 2977"/>
                <a:gd name="T6" fmla="*/ 0 60000 65536"/>
                <a:gd name="T7" fmla="*/ 0 60000 65536"/>
                <a:gd name="T8" fmla="*/ 0 60000 65536"/>
              </a:gdLst>
              <a:ahLst/>
              <a:cxnLst>
                <a:cxn ang="T6">
                  <a:pos x="T0" y="T1"/>
                </a:cxn>
                <a:cxn ang="T7">
                  <a:pos x="T2" y="T3"/>
                </a:cxn>
                <a:cxn ang="T8">
                  <a:pos x="T4" y="T5"/>
                </a:cxn>
              </a:cxnLst>
              <a:rect l="0" t="0" r="r" b="b"/>
              <a:pathLst>
                <a:path w="5269" h="2977">
                  <a:moveTo>
                    <a:pt x="5268" y="0"/>
                  </a:moveTo>
                  <a:lnTo>
                    <a:pt x="0" y="0"/>
                  </a:lnTo>
                  <a:lnTo>
                    <a:pt x="0" y="2976"/>
                  </a:lnTo>
                </a:path>
              </a:pathLst>
            </a:custGeom>
            <a:noFill/>
            <a:ln w="12700" cap="rnd" cmpd="sng">
              <a:solidFill>
                <a:srgbClr val="B2B2B2"/>
              </a:solidFill>
              <a:prstDash val="solid"/>
              <a:round/>
              <a:headEnd type="none" w="sm" len="sm"/>
              <a:tailEnd type="none" w="sm" len="sm"/>
            </a:ln>
          </p:spPr>
          <p:txBody>
            <a:bodyPr/>
            <a:lstStyle/>
            <a:p>
              <a:pPr>
                <a:defRPr/>
              </a:pPr>
              <a:endParaRPr lang="zh-CN" altLang="en-US">
                <a:ea typeface="楷体_GB2312"/>
              </a:endParaRPr>
            </a:p>
          </p:txBody>
        </p:sp>
        <p:grpSp>
          <p:nvGrpSpPr>
            <p:cNvPr id="3077" name="Group 1042"/>
            <p:cNvGrpSpPr>
              <a:grpSpLocks/>
            </p:cNvGrpSpPr>
            <p:nvPr userDrawn="1"/>
          </p:nvGrpSpPr>
          <p:grpSpPr bwMode="auto">
            <a:xfrm rot="5400000">
              <a:off x="3597" y="-3112"/>
              <a:ext cx="68" cy="7141"/>
              <a:chOff x="336" y="1103"/>
              <a:chExt cx="97" cy="2785"/>
            </a:xfrm>
          </p:grpSpPr>
          <p:sp>
            <p:nvSpPr>
              <p:cNvPr id="1039" name="Rectangle 1043"/>
              <p:cNvSpPr>
                <a:spLocks noChangeArrowheads="1"/>
              </p:cNvSpPr>
              <p:nvPr userDrawn="1"/>
            </p:nvSpPr>
            <p:spPr bwMode="auto">
              <a:xfrm>
                <a:off x="338" y="1104"/>
                <a:ext cx="97" cy="2784"/>
              </a:xfrm>
              <a:prstGeom prst="rect">
                <a:avLst/>
              </a:prstGeom>
              <a:solidFill>
                <a:srgbClr val="DDDDDD"/>
              </a:solidFill>
              <a:ln w="15875">
                <a:noFill/>
                <a:miter lim="800000"/>
                <a:headEnd/>
                <a:tailEnd/>
              </a:ln>
            </p:spPr>
            <p:txBody>
              <a:bodyPr wrap="none" anchor="ctr"/>
              <a:lstStyle/>
              <a:p>
                <a:pPr algn="ctr">
                  <a:defRPr/>
                </a:pPr>
                <a:endParaRPr kumimoji="1" lang="zh-CN" altLang="zh-CN" sz="2400">
                  <a:ea typeface="楷体_GB2312"/>
                </a:endParaRPr>
              </a:p>
            </p:txBody>
          </p:sp>
          <p:sp>
            <p:nvSpPr>
              <p:cNvPr id="1040" name="Freeform 1044"/>
              <p:cNvSpPr>
                <a:spLocks/>
              </p:cNvSpPr>
              <p:nvPr userDrawn="1"/>
            </p:nvSpPr>
            <p:spPr bwMode="auto">
              <a:xfrm>
                <a:off x="338" y="1103"/>
                <a:ext cx="97" cy="2785"/>
              </a:xfrm>
              <a:custGeom>
                <a:avLst/>
                <a:gdLst>
                  <a:gd name="T0" fmla="*/ 0 w 97"/>
                  <a:gd name="T1" fmla="*/ 2784 h 2785"/>
                  <a:gd name="T2" fmla="*/ 96 w 97"/>
                  <a:gd name="T3" fmla="*/ 2784 h 2785"/>
                  <a:gd name="T4" fmla="*/ 96 w 97"/>
                  <a:gd name="T5" fmla="*/ 0 h 2785"/>
                  <a:gd name="T6" fmla="*/ 0 60000 65536"/>
                  <a:gd name="T7" fmla="*/ 0 60000 65536"/>
                  <a:gd name="T8" fmla="*/ 0 60000 65536"/>
                  <a:gd name="T9" fmla="*/ 0 w 97"/>
                  <a:gd name="T10" fmla="*/ 0 h 2785"/>
                  <a:gd name="T11" fmla="*/ 97 w 97"/>
                  <a:gd name="T12" fmla="*/ 2785 h 2785"/>
                </a:gdLst>
                <a:ahLst/>
                <a:cxnLst>
                  <a:cxn ang="T6">
                    <a:pos x="T0" y="T1"/>
                  </a:cxn>
                  <a:cxn ang="T7">
                    <a:pos x="T2" y="T3"/>
                  </a:cxn>
                  <a:cxn ang="T8">
                    <a:pos x="T4" y="T5"/>
                  </a:cxn>
                </a:cxnLst>
                <a:rect l="T9" t="T10" r="T11" b="T12"/>
                <a:pathLst>
                  <a:path w="97" h="2785">
                    <a:moveTo>
                      <a:pt x="0" y="2784"/>
                    </a:moveTo>
                    <a:lnTo>
                      <a:pt x="96" y="2784"/>
                    </a:lnTo>
                    <a:lnTo>
                      <a:pt x="96" y="0"/>
                    </a:lnTo>
                  </a:path>
                </a:pathLst>
              </a:custGeom>
              <a:solidFill>
                <a:srgbClr val="DDDDDD"/>
              </a:solidFill>
              <a:ln w="15875" cap="rnd">
                <a:noFill/>
                <a:round/>
                <a:headEnd type="none" w="sm" len="sm"/>
                <a:tailEnd type="none" w="sm" len="sm"/>
              </a:ln>
            </p:spPr>
            <p:txBody>
              <a:bodyPr rot="10800000" vert="eaVert"/>
              <a:lstStyle/>
              <a:p>
                <a:pPr>
                  <a:defRPr/>
                </a:pPr>
                <a:endParaRPr lang="zh-CN" altLang="en-US">
                  <a:ea typeface="楷体_GB2312"/>
                </a:endParaRPr>
              </a:p>
            </p:txBody>
          </p:sp>
          <p:sp>
            <p:nvSpPr>
              <p:cNvPr id="1041" name="Freeform 1045"/>
              <p:cNvSpPr>
                <a:spLocks/>
              </p:cNvSpPr>
              <p:nvPr userDrawn="1"/>
            </p:nvSpPr>
            <p:spPr bwMode="auto">
              <a:xfrm>
                <a:off x="338" y="1103"/>
                <a:ext cx="97" cy="2785"/>
              </a:xfrm>
              <a:custGeom>
                <a:avLst/>
                <a:gdLst>
                  <a:gd name="T0" fmla="*/ 0 w 97"/>
                  <a:gd name="T1" fmla="*/ 2784 h 2785"/>
                  <a:gd name="T2" fmla="*/ 0 w 97"/>
                  <a:gd name="T3" fmla="*/ 0 h 2785"/>
                  <a:gd name="T4" fmla="*/ 96 w 97"/>
                  <a:gd name="T5" fmla="*/ 0 h 2785"/>
                  <a:gd name="T6" fmla="*/ 0 60000 65536"/>
                  <a:gd name="T7" fmla="*/ 0 60000 65536"/>
                  <a:gd name="T8" fmla="*/ 0 60000 65536"/>
                  <a:gd name="T9" fmla="*/ 0 w 97"/>
                  <a:gd name="T10" fmla="*/ 0 h 2785"/>
                  <a:gd name="T11" fmla="*/ 97 w 97"/>
                  <a:gd name="T12" fmla="*/ 2785 h 2785"/>
                </a:gdLst>
                <a:ahLst/>
                <a:cxnLst>
                  <a:cxn ang="T6">
                    <a:pos x="T0" y="T1"/>
                  </a:cxn>
                  <a:cxn ang="T7">
                    <a:pos x="T2" y="T3"/>
                  </a:cxn>
                  <a:cxn ang="T8">
                    <a:pos x="T4" y="T5"/>
                  </a:cxn>
                </a:cxnLst>
                <a:rect l="T9" t="T10" r="T11" b="T12"/>
                <a:pathLst>
                  <a:path w="97" h="2785">
                    <a:moveTo>
                      <a:pt x="0" y="2784"/>
                    </a:moveTo>
                    <a:lnTo>
                      <a:pt x="0" y="0"/>
                    </a:lnTo>
                    <a:lnTo>
                      <a:pt x="96" y="0"/>
                    </a:lnTo>
                  </a:path>
                </a:pathLst>
              </a:custGeom>
              <a:solidFill>
                <a:srgbClr val="DDDDDD"/>
              </a:solidFill>
              <a:ln w="15875" cap="rnd">
                <a:noFill/>
                <a:round/>
                <a:headEnd type="none" w="sm" len="sm"/>
                <a:tailEnd type="none" w="sm" len="sm"/>
              </a:ln>
            </p:spPr>
            <p:txBody>
              <a:bodyPr rot="10800000" vert="eaVert"/>
              <a:lstStyle/>
              <a:p>
                <a:pPr>
                  <a:defRPr/>
                </a:pPr>
                <a:endParaRPr lang="zh-CN" altLang="en-US">
                  <a:ea typeface="楷体_GB2312"/>
                </a:endParaRPr>
              </a:p>
            </p:txBody>
          </p:sp>
        </p:grpSp>
        <p:sp>
          <p:nvSpPr>
            <p:cNvPr id="1030" name="Freeform 1028"/>
            <p:cNvSpPr>
              <a:spLocks/>
            </p:cNvSpPr>
            <p:nvPr userDrawn="1"/>
          </p:nvSpPr>
          <p:spPr bwMode="auto">
            <a:xfrm>
              <a:off x="96" y="431"/>
              <a:ext cx="7080" cy="3174"/>
            </a:xfrm>
            <a:custGeom>
              <a:avLst/>
              <a:gdLst>
                <a:gd name="T0" fmla="*/ 9512 w 5269"/>
                <a:gd name="T1" fmla="*/ 0 h 2977"/>
                <a:gd name="T2" fmla="*/ 9512 w 5269"/>
                <a:gd name="T3" fmla="*/ 3383 h 2977"/>
                <a:gd name="T4" fmla="*/ 0 w 5269"/>
                <a:gd name="T5" fmla="*/ 3383 h 2977"/>
                <a:gd name="T6" fmla="*/ 0 60000 65536"/>
                <a:gd name="T7" fmla="*/ 0 60000 65536"/>
                <a:gd name="T8" fmla="*/ 0 60000 65536"/>
              </a:gdLst>
              <a:ahLst/>
              <a:cxnLst>
                <a:cxn ang="T6">
                  <a:pos x="T0" y="T1"/>
                </a:cxn>
                <a:cxn ang="T7">
                  <a:pos x="T2" y="T3"/>
                </a:cxn>
                <a:cxn ang="T8">
                  <a:pos x="T4" y="T5"/>
                </a:cxn>
              </a:cxnLst>
              <a:rect l="0" t="0" r="r" b="b"/>
              <a:pathLst>
                <a:path w="5269" h="2977">
                  <a:moveTo>
                    <a:pt x="5268" y="0"/>
                  </a:moveTo>
                  <a:lnTo>
                    <a:pt x="5268" y="2976"/>
                  </a:lnTo>
                  <a:lnTo>
                    <a:pt x="0" y="2976"/>
                  </a:lnTo>
                </a:path>
              </a:pathLst>
            </a:custGeom>
            <a:noFill/>
            <a:ln w="12700" cap="rnd" cmpd="sng">
              <a:solidFill>
                <a:srgbClr val="FFFFFF"/>
              </a:solidFill>
              <a:prstDash val="solid"/>
              <a:round/>
              <a:headEnd type="none" w="sm" len="sm"/>
              <a:tailEnd type="none" w="sm" len="sm"/>
            </a:ln>
          </p:spPr>
          <p:txBody>
            <a:bodyPr/>
            <a:lstStyle/>
            <a:p>
              <a:pPr>
                <a:defRPr/>
              </a:pPr>
              <a:endParaRPr lang="zh-CN" altLang="en-US">
                <a:ea typeface="楷体_GB2312"/>
              </a:endParaRPr>
            </a:p>
          </p:txBody>
        </p:sp>
        <p:sp>
          <p:nvSpPr>
            <p:cNvPr id="1031" name="Rectangle 1036"/>
            <p:cNvSpPr>
              <a:spLocks noChangeArrowheads="1"/>
            </p:cNvSpPr>
            <p:nvPr userDrawn="1"/>
          </p:nvSpPr>
          <p:spPr bwMode="auto">
            <a:xfrm>
              <a:off x="61" y="68"/>
              <a:ext cx="7141" cy="3584"/>
            </a:xfrm>
            <a:prstGeom prst="rect">
              <a:avLst/>
            </a:prstGeom>
            <a:noFill/>
            <a:ln w="254000">
              <a:pattFill prst="dkHorz">
                <a:fgClr>
                  <a:srgbClr val="C8C8C8"/>
                </a:fgClr>
                <a:bgClr>
                  <a:schemeClr val="bg1"/>
                </a:bgClr>
              </a:pattFill>
              <a:miter lim="800000"/>
              <a:headEnd type="none" w="sm" len="sm"/>
              <a:tailEnd type="none" w="sm" len="sm"/>
            </a:ln>
          </p:spPr>
          <p:txBody>
            <a:bodyPr wrap="none" anchor="ctr"/>
            <a:lstStyle/>
            <a:p>
              <a:pPr algn="ctr">
                <a:defRPr/>
              </a:pPr>
              <a:endParaRPr kumimoji="1" lang="zh-CN" altLang="en-US" sz="1600">
                <a:ea typeface="楷体_GB2312" pitchFamily="49" charset="-122"/>
              </a:endParaRPr>
            </a:p>
          </p:txBody>
        </p:sp>
        <p:grpSp>
          <p:nvGrpSpPr>
            <p:cNvPr id="3080" name="Group 1038"/>
            <p:cNvGrpSpPr>
              <a:grpSpLocks/>
            </p:cNvGrpSpPr>
            <p:nvPr userDrawn="1"/>
          </p:nvGrpSpPr>
          <p:grpSpPr bwMode="auto">
            <a:xfrm>
              <a:off x="306" y="584"/>
              <a:ext cx="68" cy="2879"/>
              <a:chOff x="336" y="1103"/>
              <a:chExt cx="97" cy="2785"/>
            </a:xfrm>
          </p:grpSpPr>
          <p:sp>
            <p:nvSpPr>
              <p:cNvPr id="1036" name="Rectangle 1039"/>
              <p:cNvSpPr>
                <a:spLocks noChangeArrowheads="1"/>
              </p:cNvSpPr>
              <p:nvPr userDrawn="1"/>
            </p:nvSpPr>
            <p:spPr bwMode="auto">
              <a:xfrm>
                <a:off x="336" y="1104"/>
                <a:ext cx="96" cy="2784"/>
              </a:xfrm>
              <a:prstGeom prst="rect">
                <a:avLst/>
              </a:prstGeom>
              <a:solidFill>
                <a:srgbClr val="DDDDDD"/>
              </a:solidFill>
              <a:ln w="9525">
                <a:noFill/>
                <a:miter lim="800000"/>
                <a:headEnd/>
                <a:tailEnd/>
              </a:ln>
            </p:spPr>
            <p:txBody>
              <a:bodyPr wrap="none" anchor="ctr"/>
              <a:lstStyle/>
              <a:p>
                <a:pPr algn="ctr">
                  <a:defRPr/>
                </a:pPr>
                <a:endParaRPr kumimoji="1" lang="zh-CN" altLang="zh-CN" sz="2400">
                  <a:ea typeface="楷体_GB2312"/>
                </a:endParaRPr>
              </a:p>
            </p:txBody>
          </p:sp>
          <p:sp>
            <p:nvSpPr>
              <p:cNvPr id="1037" name="Freeform 1040"/>
              <p:cNvSpPr>
                <a:spLocks/>
              </p:cNvSpPr>
              <p:nvPr userDrawn="1"/>
            </p:nvSpPr>
            <p:spPr bwMode="auto">
              <a:xfrm>
                <a:off x="336" y="1103"/>
                <a:ext cx="97" cy="2785"/>
              </a:xfrm>
              <a:custGeom>
                <a:avLst/>
                <a:gdLst>
                  <a:gd name="T0" fmla="*/ 0 w 97"/>
                  <a:gd name="T1" fmla="*/ 2784 h 2785"/>
                  <a:gd name="T2" fmla="*/ 96 w 97"/>
                  <a:gd name="T3" fmla="*/ 2784 h 2785"/>
                  <a:gd name="T4" fmla="*/ 96 w 97"/>
                  <a:gd name="T5" fmla="*/ 0 h 2785"/>
                  <a:gd name="T6" fmla="*/ 0 60000 65536"/>
                  <a:gd name="T7" fmla="*/ 0 60000 65536"/>
                  <a:gd name="T8" fmla="*/ 0 60000 65536"/>
                  <a:gd name="T9" fmla="*/ 0 w 97"/>
                  <a:gd name="T10" fmla="*/ 0 h 2785"/>
                  <a:gd name="T11" fmla="*/ 97 w 97"/>
                  <a:gd name="T12" fmla="*/ 2785 h 2785"/>
                </a:gdLst>
                <a:ahLst/>
                <a:cxnLst>
                  <a:cxn ang="T6">
                    <a:pos x="T0" y="T1"/>
                  </a:cxn>
                  <a:cxn ang="T7">
                    <a:pos x="T2" y="T3"/>
                  </a:cxn>
                  <a:cxn ang="T8">
                    <a:pos x="T4" y="T5"/>
                  </a:cxn>
                </a:cxnLst>
                <a:rect l="T9" t="T10" r="T11" b="T12"/>
                <a:pathLst>
                  <a:path w="97" h="2785">
                    <a:moveTo>
                      <a:pt x="0" y="2784"/>
                    </a:moveTo>
                    <a:lnTo>
                      <a:pt x="96" y="2784"/>
                    </a:lnTo>
                    <a:lnTo>
                      <a:pt x="96" y="0"/>
                    </a:lnTo>
                  </a:path>
                </a:pathLst>
              </a:custGeom>
              <a:solidFill>
                <a:srgbClr val="DDDDDD"/>
              </a:solidFill>
              <a:ln w="12700" cap="rnd">
                <a:solidFill>
                  <a:srgbClr val="B2B2B2"/>
                </a:solidFill>
                <a:round/>
                <a:headEnd type="none" w="sm" len="sm"/>
                <a:tailEnd type="none" w="sm" len="sm"/>
              </a:ln>
            </p:spPr>
            <p:txBody>
              <a:bodyPr/>
              <a:lstStyle/>
              <a:p>
                <a:pPr>
                  <a:defRPr/>
                </a:pPr>
                <a:endParaRPr lang="zh-CN" altLang="en-US">
                  <a:ea typeface="楷体_GB2312"/>
                </a:endParaRPr>
              </a:p>
            </p:txBody>
          </p:sp>
          <p:sp>
            <p:nvSpPr>
              <p:cNvPr id="1038" name="Freeform 1041"/>
              <p:cNvSpPr>
                <a:spLocks/>
              </p:cNvSpPr>
              <p:nvPr userDrawn="1"/>
            </p:nvSpPr>
            <p:spPr bwMode="auto">
              <a:xfrm>
                <a:off x="336" y="1103"/>
                <a:ext cx="97" cy="2785"/>
              </a:xfrm>
              <a:custGeom>
                <a:avLst/>
                <a:gdLst>
                  <a:gd name="T0" fmla="*/ 0 w 97"/>
                  <a:gd name="T1" fmla="*/ 2784 h 2785"/>
                  <a:gd name="T2" fmla="*/ 0 w 97"/>
                  <a:gd name="T3" fmla="*/ 0 h 2785"/>
                  <a:gd name="T4" fmla="*/ 96 w 97"/>
                  <a:gd name="T5" fmla="*/ 0 h 2785"/>
                  <a:gd name="T6" fmla="*/ 0 60000 65536"/>
                  <a:gd name="T7" fmla="*/ 0 60000 65536"/>
                  <a:gd name="T8" fmla="*/ 0 60000 65536"/>
                  <a:gd name="T9" fmla="*/ 0 w 97"/>
                  <a:gd name="T10" fmla="*/ 0 h 2785"/>
                  <a:gd name="T11" fmla="*/ 97 w 97"/>
                  <a:gd name="T12" fmla="*/ 2785 h 2785"/>
                </a:gdLst>
                <a:ahLst/>
                <a:cxnLst>
                  <a:cxn ang="T6">
                    <a:pos x="T0" y="T1"/>
                  </a:cxn>
                  <a:cxn ang="T7">
                    <a:pos x="T2" y="T3"/>
                  </a:cxn>
                  <a:cxn ang="T8">
                    <a:pos x="T4" y="T5"/>
                  </a:cxn>
                </a:cxnLst>
                <a:rect l="T9" t="T10" r="T11" b="T12"/>
                <a:pathLst>
                  <a:path w="97" h="2785">
                    <a:moveTo>
                      <a:pt x="0" y="2784"/>
                    </a:moveTo>
                    <a:lnTo>
                      <a:pt x="0" y="0"/>
                    </a:lnTo>
                    <a:lnTo>
                      <a:pt x="96" y="0"/>
                    </a:lnTo>
                  </a:path>
                </a:pathLst>
              </a:custGeom>
              <a:solidFill>
                <a:srgbClr val="DDDDDD"/>
              </a:solidFill>
              <a:ln w="12700" cap="rnd">
                <a:solidFill>
                  <a:srgbClr val="FFFFFF"/>
                </a:solidFill>
                <a:round/>
                <a:headEnd type="none" w="sm" len="sm"/>
                <a:tailEnd type="none" w="sm" len="sm"/>
              </a:ln>
            </p:spPr>
            <p:txBody>
              <a:bodyPr/>
              <a:lstStyle/>
              <a:p>
                <a:pPr>
                  <a:defRPr/>
                </a:pPr>
                <a:endParaRPr lang="zh-CN" altLang="en-US">
                  <a:ea typeface="楷体_GB2312"/>
                </a:endParaRPr>
              </a:p>
            </p:txBody>
          </p:sp>
        </p:grpSp>
        <p:sp>
          <p:nvSpPr>
            <p:cNvPr id="1033" name="Rectangle 139" descr="深色横线"/>
            <p:cNvSpPr>
              <a:spLocks noChangeArrowheads="1"/>
            </p:cNvSpPr>
            <p:nvPr userDrawn="1"/>
          </p:nvSpPr>
          <p:spPr bwMode="auto">
            <a:xfrm>
              <a:off x="-22" y="3652"/>
              <a:ext cx="7300" cy="453"/>
            </a:xfrm>
            <a:prstGeom prst="rect">
              <a:avLst/>
            </a:prstGeom>
            <a:pattFill prst="dkHorz">
              <a:fgClr>
                <a:srgbClr val="C8C8C8"/>
              </a:fgClr>
              <a:bgClr>
                <a:schemeClr val="bg1"/>
              </a:bgClr>
            </a:pattFill>
            <a:ln w="12700">
              <a:noFill/>
              <a:miter lim="800000"/>
              <a:headEnd/>
              <a:tailEnd/>
            </a:ln>
            <a:effectLst/>
          </p:spPr>
          <p:txBody>
            <a:bodyPr wrap="none" anchor="ctr"/>
            <a:lstStyle/>
            <a:p>
              <a:pPr>
                <a:defRPr/>
              </a:pPr>
              <a:endParaRPr lang="zh-CN" altLang="en-US">
                <a:ea typeface="楷体_GB2312"/>
              </a:endParaRPr>
            </a:p>
          </p:txBody>
        </p:sp>
        <p:sp>
          <p:nvSpPr>
            <p:cNvPr id="1034" name="AutoShape 143"/>
            <p:cNvSpPr>
              <a:spLocks noChangeArrowheads="1"/>
            </p:cNvSpPr>
            <p:nvPr userDrawn="1"/>
          </p:nvSpPr>
          <p:spPr bwMode="auto">
            <a:xfrm>
              <a:off x="136" y="136"/>
              <a:ext cx="6994" cy="295"/>
            </a:xfrm>
            <a:prstGeom prst="flowChartAlternateProcess">
              <a:avLst/>
            </a:prstGeom>
            <a:solidFill>
              <a:srgbClr val="EAEAEA"/>
            </a:solidFill>
            <a:ln w="3175">
              <a:noFill/>
              <a:miter lim="800000"/>
              <a:headEnd/>
              <a:tailEnd/>
            </a:ln>
            <a:effectLst/>
          </p:spPr>
          <p:txBody>
            <a:bodyPr wrap="none" anchor="ctr"/>
            <a:lstStyle/>
            <a:p>
              <a:pPr>
                <a:defRPr/>
              </a:pPr>
              <a:endParaRPr lang="zh-CN" altLang="en-US">
                <a:ea typeface="楷体_GB2312"/>
              </a:endParaRPr>
            </a:p>
          </p:txBody>
        </p:sp>
        <p:sp>
          <p:nvSpPr>
            <p:cNvPr id="1035" name="Rectangle 146"/>
            <p:cNvSpPr>
              <a:spLocks noChangeArrowheads="1"/>
            </p:cNvSpPr>
            <p:nvPr userDrawn="1"/>
          </p:nvSpPr>
          <p:spPr bwMode="auto">
            <a:xfrm>
              <a:off x="136" y="499"/>
              <a:ext cx="6982" cy="3083"/>
            </a:xfrm>
            <a:prstGeom prst="rect">
              <a:avLst/>
            </a:prstGeom>
            <a:solidFill>
              <a:srgbClr val="EAEAEA">
                <a:alpha val="85097"/>
              </a:srgbClr>
            </a:solidFill>
            <a:ln w="19050">
              <a:solidFill>
                <a:srgbClr val="F8F8F8"/>
              </a:solidFill>
              <a:miter lim="800000"/>
              <a:headEnd/>
              <a:tailEnd/>
            </a:ln>
            <a:effectLst/>
          </p:spPr>
          <p:txBody>
            <a:bodyPr wrap="none" anchor="ctr"/>
            <a:lstStyle/>
            <a:p>
              <a:pPr>
                <a:defRPr/>
              </a:pPr>
              <a:endParaRPr lang="zh-CN" altLang="en-US">
                <a:ea typeface="楷体_GB2312"/>
              </a:endParaRPr>
            </a:p>
          </p:txBody>
        </p:sp>
      </p:grpSp>
      <p:sp>
        <p:nvSpPr>
          <p:cNvPr id="3075" name="Rectangle 149"/>
          <p:cNvSpPr>
            <a:spLocks noGrp="1" noChangeArrowheads="1"/>
          </p:cNvSpPr>
          <p:nvPr>
            <p:ph type="title"/>
          </p:nvPr>
        </p:nvSpPr>
        <p:spPr bwMode="auto">
          <a:xfrm>
            <a:off x="323850" y="215900"/>
            <a:ext cx="10369550" cy="4270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spAutoFit/>
          </a:bodyPr>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spd="slow">
    <p:split orient="vert"/>
  </p:transition>
  <p:hf sldNum="0" hdr="0" ftr="0" dt="0"/>
  <p:txStyles>
    <p:titleStyle>
      <a:lvl1pPr algn="l" rtl="0" eaLnBrk="0" fontAlgn="base" hangingPunct="0">
        <a:spcBef>
          <a:spcPct val="0"/>
        </a:spcBef>
        <a:spcAft>
          <a:spcPct val="0"/>
        </a:spcAft>
        <a:defRPr sz="2200" b="1">
          <a:solidFill>
            <a:srgbClr val="FF0000"/>
          </a:solidFill>
          <a:latin typeface="+mj-lt"/>
          <a:ea typeface="黑体" pitchFamily="2" charset="-122"/>
          <a:cs typeface="+mj-cs"/>
        </a:defRPr>
      </a:lvl1pPr>
      <a:lvl2pPr algn="l" rtl="0" eaLnBrk="0" fontAlgn="base" hangingPunct="0">
        <a:spcBef>
          <a:spcPct val="0"/>
        </a:spcBef>
        <a:spcAft>
          <a:spcPct val="0"/>
        </a:spcAft>
        <a:defRPr sz="2200" b="1">
          <a:solidFill>
            <a:srgbClr val="FF0000"/>
          </a:solidFill>
          <a:latin typeface="Times New Roman" pitchFamily="18" charset="0"/>
          <a:ea typeface="黑体" pitchFamily="2" charset="-122"/>
        </a:defRPr>
      </a:lvl2pPr>
      <a:lvl3pPr algn="l" rtl="0" eaLnBrk="0" fontAlgn="base" hangingPunct="0">
        <a:spcBef>
          <a:spcPct val="0"/>
        </a:spcBef>
        <a:spcAft>
          <a:spcPct val="0"/>
        </a:spcAft>
        <a:defRPr sz="2200" b="1">
          <a:solidFill>
            <a:srgbClr val="FF0000"/>
          </a:solidFill>
          <a:latin typeface="Times New Roman" pitchFamily="18" charset="0"/>
          <a:ea typeface="黑体" pitchFamily="2" charset="-122"/>
        </a:defRPr>
      </a:lvl3pPr>
      <a:lvl4pPr algn="l" rtl="0" eaLnBrk="0" fontAlgn="base" hangingPunct="0">
        <a:spcBef>
          <a:spcPct val="0"/>
        </a:spcBef>
        <a:spcAft>
          <a:spcPct val="0"/>
        </a:spcAft>
        <a:defRPr sz="2200" b="1">
          <a:solidFill>
            <a:srgbClr val="FF0000"/>
          </a:solidFill>
          <a:latin typeface="Times New Roman" pitchFamily="18" charset="0"/>
          <a:ea typeface="黑体" pitchFamily="2" charset="-122"/>
        </a:defRPr>
      </a:lvl4pPr>
      <a:lvl5pPr algn="l" rtl="0" eaLnBrk="0" fontAlgn="base" hangingPunct="0">
        <a:spcBef>
          <a:spcPct val="0"/>
        </a:spcBef>
        <a:spcAft>
          <a:spcPct val="0"/>
        </a:spcAft>
        <a:defRPr sz="2200" b="1">
          <a:solidFill>
            <a:srgbClr val="FF0000"/>
          </a:solidFill>
          <a:latin typeface="Times New Roman" pitchFamily="18" charset="0"/>
          <a:ea typeface="黑体" pitchFamily="2" charset="-122"/>
        </a:defRPr>
      </a:lvl5pPr>
      <a:lvl6pPr marL="457200" algn="ctr" rtl="0" eaLnBrk="0" fontAlgn="base" hangingPunct="0">
        <a:spcBef>
          <a:spcPct val="0"/>
        </a:spcBef>
        <a:spcAft>
          <a:spcPct val="0"/>
        </a:spcAft>
        <a:defRPr sz="4400" b="1">
          <a:solidFill>
            <a:srgbClr val="6600CC"/>
          </a:solidFill>
          <a:latin typeface="Times New Roman" pitchFamily="18" charset="0"/>
        </a:defRPr>
      </a:lvl6pPr>
      <a:lvl7pPr marL="914400" algn="ctr" rtl="0" eaLnBrk="0" fontAlgn="base" hangingPunct="0">
        <a:spcBef>
          <a:spcPct val="0"/>
        </a:spcBef>
        <a:spcAft>
          <a:spcPct val="0"/>
        </a:spcAft>
        <a:defRPr sz="4400" b="1">
          <a:solidFill>
            <a:srgbClr val="6600CC"/>
          </a:solidFill>
          <a:latin typeface="Times New Roman" pitchFamily="18" charset="0"/>
        </a:defRPr>
      </a:lvl7pPr>
      <a:lvl8pPr marL="1371600" algn="ctr" rtl="0" eaLnBrk="0" fontAlgn="base" hangingPunct="0">
        <a:spcBef>
          <a:spcPct val="0"/>
        </a:spcBef>
        <a:spcAft>
          <a:spcPct val="0"/>
        </a:spcAft>
        <a:defRPr sz="4400" b="1">
          <a:solidFill>
            <a:srgbClr val="6600CC"/>
          </a:solidFill>
          <a:latin typeface="Times New Roman" pitchFamily="18" charset="0"/>
        </a:defRPr>
      </a:lvl8pPr>
      <a:lvl9pPr marL="1828800" algn="ctr" rtl="0" eaLnBrk="0" fontAlgn="base" hangingPunct="0">
        <a:spcBef>
          <a:spcPct val="0"/>
        </a:spcBef>
        <a:spcAft>
          <a:spcPct val="0"/>
        </a:spcAft>
        <a:defRPr sz="4400" b="1">
          <a:solidFill>
            <a:srgbClr val="6600CC"/>
          </a:solidFill>
          <a:latin typeface="Times New Roman" pitchFamily="18" charset="0"/>
        </a:defRPr>
      </a:lvl9pPr>
    </p:titleStyle>
    <p:bodyStyle>
      <a:lvl1pPr marL="342900" indent="-342900" algn="l" rtl="0" eaLnBrk="0" fontAlgn="base" hangingPunct="0">
        <a:spcBef>
          <a:spcPct val="20000"/>
        </a:spcBef>
        <a:spcAft>
          <a:spcPct val="0"/>
        </a:spcAft>
        <a:buClr>
          <a:srgbClr val="FFFFCC"/>
        </a:buClr>
        <a:buSzPct val="90000"/>
        <a:buFont typeface="Wingdings" pitchFamily="2" charset="2"/>
        <a:buChar char="§"/>
        <a:defRPr sz="3200" b="1">
          <a:solidFill>
            <a:srgbClr val="FFFFCC"/>
          </a:solidFill>
          <a:latin typeface="+mn-lt"/>
          <a:ea typeface="+mn-ea"/>
          <a:cs typeface="+mn-cs"/>
        </a:defRPr>
      </a:lvl1pPr>
      <a:lvl2pPr marL="742950" indent="-285750" algn="l" rtl="0" eaLnBrk="0" fontAlgn="base" hangingPunct="0">
        <a:spcBef>
          <a:spcPct val="20000"/>
        </a:spcBef>
        <a:spcAft>
          <a:spcPct val="0"/>
        </a:spcAft>
        <a:buChar char="–"/>
        <a:defRPr sz="2800">
          <a:solidFill>
            <a:srgbClr val="FFFFCC"/>
          </a:solidFill>
          <a:latin typeface="+mn-lt"/>
        </a:defRPr>
      </a:lvl2pPr>
      <a:lvl3pPr marL="1143000" indent="-228600" algn="l" rtl="0" eaLnBrk="0" fontAlgn="base" hangingPunct="0">
        <a:spcBef>
          <a:spcPct val="20000"/>
        </a:spcBef>
        <a:spcAft>
          <a:spcPct val="0"/>
        </a:spcAft>
        <a:buChar char="•"/>
        <a:defRPr sz="2400">
          <a:solidFill>
            <a:srgbClr val="FFFFCC"/>
          </a:solidFill>
          <a:latin typeface="+mn-lt"/>
        </a:defRPr>
      </a:lvl3pPr>
      <a:lvl4pPr marL="1600200" indent="-228600" algn="l" rtl="0" eaLnBrk="0" fontAlgn="base" hangingPunct="0">
        <a:spcBef>
          <a:spcPct val="20000"/>
        </a:spcBef>
        <a:spcAft>
          <a:spcPct val="0"/>
        </a:spcAft>
        <a:buChar char="–"/>
        <a:defRPr sz="2000">
          <a:solidFill>
            <a:srgbClr val="FFFFCC"/>
          </a:solidFill>
          <a:latin typeface="+mn-lt"/>
        </a:defRPr>
      </a:lvl4pPr>
      <a:lvl5pPr marL="2057400" indent="-228600" algn="l" rtl="0" eaLnBrk="0" fontAlgn="base" hangingPunct="0">
        <a:spcBef>
          <a:spcPct val="20000"/>
        </a:spcBef>
        <a:spcAft>
          <a:spcPct val="0"/>
        </a:spcAft>
        <a:buChar char="•"/>
        <a:defRPr sz="2000">
          <a:solidFill>
            <a:srgbClr val="FFFFCC"/>
          </a:solidFill>
          <a:latin typeface="+mn-lt"/>
        </a:defRPr>
      </a:lvl5pPr>
      <a:lvl6pPr marL="2514600" indent="-228600" algn="l" rtl="0" eaLnBrk="0" fontAlgn="base" hangingPunct="0">
        <a:spcBef>
          <a:spcPct val="20000"/>
        </a:spcBef>
        <a:spcAft>
          <a:spcPct val="0"/>
        </a:spcAft>
        <a:buChar char="•"/>
        <a:defRPr sz="2000">
          <a:solidFill>
            <a:srgbClr val="FFFFCC"/>
          </a:solidFill>
          <a:latin typeface="+mn-lt"/>
        </a:defRPr>
      </a:lvl6pPr>
      <a:lvl7pPr marL="2971800" indent="-228600" algn="l" rtl="0" eaLnBrk="0" fontAlgn="base" hangingPunct="0">
        <a:spcBef>
          <a:spcPct val="20000"/>
        </a:spcBef>
        <a:spcAft>
          <a:spcPct val="0"/>
        </a:spcAft>
        <a:buChar char="•"/>
        <a:defRPr sz="2000">
          <a:solidFill>
            <a:srgbClr val="FFFFCC"/>
          </a:solidFill>
          <a:latin typeface="+mn-lt"/>
        </a:defRPr>
      </a:lvl7pPr>
      <a:lvl8pPr marL="3429000" indent="-228600" algn="l" rtl="0" eaLnBrk="0" fontAlgn="base" hangingPunct="0">
        <a:spcBef>
          <a:spcPct val="20000"/>
        </a:spcBef>
        <a:spcAft>
          <a:spcPct val="0"/>
        </a:spcAft>
        <a:buChar char="•"/>
        <a:defRPr sz="2000">
          <a:solidFill>
            <a:srgbClr val="FFFFCC"/>
          </a:solidFill>
          <a:latin typeface="+mn-lt"/>
        </a:defRPr>
      </a:lvl8pPr>
      <a:lvl9pPr marL="3886200" indent="-228600" algn="l" rtl="0" eaLnBrk="0" fontAlgn="base" hangingPunct="0">
        <a:spcBef>
          <a:spcPct val="20000"/>
        </a:spcBef>
        <a:spcAft>
          <a:spcPct val="0"/>
        </a:spcAft>
        <a:buChar char="•"/>
        <a:defRPr sz="2000">
          <a:solidFill>
            <a:srgbClr val="FFFFC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Tree>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split orient="vert"/>
  </p:transition>
  <p:hf sldNum="0" hdr="0" ftr="0" dt="0"/>
  <p:txStyles>
    <p:titleStyle>
      <a:lvl1pPr algn="ctr" rtl="0" eaLnBrk="0" fontAlgn="base" hangingPunct="0">
        <a:spcBef>
          <a:spcPct val="0"/>
        </a:spcBef>
        <a:spcAft>
          <a:spcPct val="0"/>
        </a:spcAft>
        <a:defRPr sz="4400" b="1">
          <a:solidFill>
            <a:srgbClr val="6600CC"/>
          </a:solidFill>
          <a:latin typeface="+mj-lt"/>
          <a:ea typeface="+mj-ea"/>
          <a:cs typeface="+mj-cs"/>
        </a:defRPr>
      </a:lvl1pPr>
      <a:lvl2pPr algn="ctr" rtl="0" eaLnBrk="0" fontAlgn="base" hangingPunct="0">
        <a:spcBef>
          <a:spcPct val="0"/>
        </a:spcBef>
        <a:spcAft>
          <a:spcPct val="0"/>
        </a:spcAft>
        <a:defRPr sz="4400" b="1">
          <a:solidFill>
            <a:srgbClr val="6600CC"/>
          </a:solidFill>
          <a:latin typeface="Times New Roman" pitchFamily="18" charset="0"/>
        </a:defRPr>
      </a:lvl2pPr>
      <a:lvl3pPr algn="ctr" rtl="0" eaLnBrk="0" fontAlgn="base" hangingPunct="0">
        <a:spcBef>
          <a:spcPct val="0"/>
        </a:spcBef>
        <a:spcAft>
          <a:spcPct val="0"/>
        </a:spcAft>
        <a:defRPr sz="4400" b="1">
          <a:solidFill>
            <a:srgbClr val="6600CC"/>
          </a:solidFill>
          <a:latin typeface="Times New Roman" pitchFamily="18" charset="0"/>
        </a:defRPr>
      </a:lvl3pPr>
      <a:lvl4pPr algn="ctr" rtl="0" eaLnBrk="0" fontAlgn="base" hangingPunct="0">
        <a:spcBef>
          <a:spcPct val="0"/>
        </a:spcBef>
        <a:spcAft>
          <a:spcPct val="0"/>
        </a:spcAft>
        <a:defRPr sz="4400" b="1">
          <a:solidFill>
            <a:srgbClr val="6600CC"/>
          </a:solidFill>
          <a:latin typeface="Times New Roman" pitchFamily="18" charset="0"/>
        </a:defRPr>
      </a:lvl4pPr>
      <a:lvl5pPr algn="ctr" rtl="0" eaLnBrk="0" fontAlgn="base" hangingPunct="0">
        <a:spcBef>
          <a:spcPct val="0"/>
        </a:spcBef>
        <a:spcAft>
          <a:spcPct val="0"/>
        </a:spcAft>
        <a:defRPr sz="4400" b="1">
          <a:solidFill>
            <a:srgbClr val="6600CC"/>
          </a:solidFill>
          <a:latin typeface="Times New Roman" pitchFamily="18" charset="0"/>
        </a:defRPr>
      </a:lvl5pPr>
      <a:lvl6pPr marL="457200" algn="ctr" rtl="0" eaLnBrk="0" fontAlgn="base" hangingPunct="0">
        <a:spcBef>
          <a:spcPct val="0"/>
        </a:spcBef>
        <a:spcAft>
          <a:spcPct val="0"/>
        </a:spcAft>
        <a:defRPr sz="4400" b="1">
          <a:solidFill>
            <a:srgbClr val="6600CC"/>
          </a:solidFill>
          <a:latin typeface="Times New Roman" pitchFamily="18" charset="0"/>
        </a:defRPr>
      </a:lvl6pPr>
      <a:lvl7pPr marL="914400" algn="ctr" rtl="0" eaLnBrk="0" fontAlgn="base" hangingPunct="0">
        <a:spcBef>
          <a:spcPct val="0"/>
        </a:spcBef>
        <a:spcAft>
          <a:spcPct val="0"/>
        </a:spcAft>
        <a:defRPr sz="4400" b="1">
          <a:solidFill>
            <a:srgbClr val="6600CC"/>
          </a:solidFill>
          <a:latin typeface="Times New Roman" pitchFamily="18" charset="0"/>
        </a:defRPr>
      </a:lvl7pPr>
      <a:lvl8pPr marL="1371600" algn="ctr" rtl="0" eaLnBrk="0" fontAlgn="base" hangingPunct="0">
        <a:spcBef>
          <a:spcPct val="0"/>
        </a:spcBef>
        <a:spcAft>
          <a:spcPct val="0"/>
        </a:spcAft>
        <a:defRPr sz="4400" b="1">
          <a:solidFill>
            <a:srgbClr val="6600CC"/>
          </a:solidFill>
          <a:latin typeface="Times New Roman" pitchFamily="18" charset="0"/>
        </a:defRPr>
      </a:lvl8pPr>
      <a:lvl9pPr marL="1828800" algn="ctr" rtl="0" eaLnBrk="0" fontAlgn="base" hangingPunct="0">
        <a:spcBef>
          <a:spcPct val="0"/>
        </a:spcBef>
        <a:spcAft>
          <a:spcPct val="0"/>
        </a:spcAft>
        <a:defRPr sz="4400" b="1">
          <a:solidFill>
            <a:srgbClr val="6600CC"/>
          </a:solidFill>
          <a:latin typeface="Times New Roman" pitchFamily="18" charset="0"/>
        </a:defRPr>
      </a:lvl9pPr>
    </p:titleStyle>
    <p:bodyStyle>
      <a:lvl1pPr marL="342900" indent="-342900" algn="l" rtl="0" eaLnBrk="0" fontAlgn="base" hangingPunct="0">
        <a:spcBef>
          <a:spcPct val="20000"/>
        </a:spcBef>
        <a:spcAft>
          <a:spcPct val="0"/>
        </a:spcAft>
        <a:buClr>
          <a:srgbClr val="FFFFCC"/>
        </a:buClr>
        <a:buSzPct val="90000"/>
        <a:buFont typeface="Wingdings" pitchFamily="2" charset="2"/>
        <a:buChar char="§"/>
        <a:defRPr sz="3200" b="1">
          <a:solidFill>
            <a:srgbClr val="FFFFCC"/>
          </a:solidFill>
          <a:latin typeface="+mn-lt"/>
          <a:ea typeface="+mn-ea"/>
          <a:cs typeface="+mn-cs"/>
        </a:defRPr>
      </a:lvl1pPr>
      <a:lvl2pPr marL="742950" indent="-285750" algn="l" rtl="0" eaLnBrk="0" fontAlgn="base" hangingPunct="0">
        <a:spcBef>
          <a:spcPct val="20000"/>
        </a:spcBef>
        <a:spcAft>
          <a:spcPct val="0"/>
        </a:spcAft>
        <a:buChar char="–"/>
        <a:defRPr sz="2800">
          <a:solidFill>
            <a:srgbClr val="FFFFCC"/>
          </a:solidFill>
          <a:latin typeface="+mn-lt"/>
        </a:defRPr>
      </a:lvl2pPr>
      <a:lvl3pPr marL="1143000" indent="-228600" algn="l" rtl="0" eaLnBrk="0" fontAlgn="base" hangingPunct="0">
        <a:spcBef>
          <a:spcPct val="20000"/>
        </a:spcBef>
        <a:spcAft>
          <a:spcPct val="0"/>
        </a:spcAft>
        <a:buChar char="•"/>
        <a:defRPr sz="2400">
          <a:solidFill>
            <a:srgbClr val="FFFFCC"/>
          </a:solidFill>
          <a:latin typeface="+mn-lt"/>
        </a:defRPr>
      </a:lvl3pPr>
      <a:lvl4pPr marL="1600200" indent="-228600" algn="l" rtl="0" eaLnBrk="0" fontAlgn="base" hangingPunct="0">
        <a:spcBef>
          <a:spcPct val="20000"/>
        </a:spcBef>
        <a:spcAft>
          <a:spcPct val="0"/>
        </a:spcAft>
        <a:buChar char="–"/>
        <a:defRPr sz="2000">
          <a:solidFill>
            <a:srgbClr val="FFFFCC"/>
          </a:solidFill>
          <a:latin typeface="+mn-lt"/>
        </a:defRPr>
      </a:lvl4pPr>
      <a:lvl5pPr marL="2057400" indent="-228600" algn="l" rtl="0" eaLnBrk="0" fontAlgn="base" hangingPunct="0">
        <a:spcBef>
          <a:spcPct val="20000"/>
        </a:spcBef>
        <a:spcAft>
          <a:spcPct val="0"/>
        </a:spcAft>
        <a:buChar char="•"/>
        <a:defRPr sz="2000">
          <a:solidFill>
            <a:srgbClr val="FFFFCC"/>
          </a:solidFill>
          <a:latin typeface="+mn-lt"/>
        </a:defRPr>
      </a:lvl5pPr>
      <a:lvl6pPr marL="2514600" indent="-228600" algn="l" rtl="0" eaLnBrk="0" fontAlgn="base" hangingPunct="0">
        <a:spcBef>
          <a:spcPct val="20000"/>
        </a:spcBef>
        <a:spcAft>
          <a:spcPct val="0"/>
        </a:spcAft>
        <a:buChar char="•"/>
        <a:defRPr sz="2000">
          <a:solidFill>
            <a:srgbClr val="FFFFCC"/>
          </a:solidFill>
          <a:latin typeface="+mn-lt"/>
        </a:defRPr>
      </a:lvl6pPr>
      <a:lvl7pPr marL="2971800" indent="-228600" algn="l" rtl="0" eaLnBrk="0" fontAlgn="base" hangingPunct="0">
        <a:spcBef>
          <a:spcPct val="20000"/>
        </a:spcBef>
        <a:spcAft>
          <a:spcPct val="0"/>
        </a:spcAft>
        <a:buChar char="•"/>
        <a:defRPr sz="2000">
          <a:solidFill>
            <a:srgbClr val="FFFFCC"/>
          </a:solidFill>
          <a:latin typeface="+mn-lt"/>
        </a:defRPr>
      </a:lvl7pPr>
      <a:lvl8pPr marL="3429000" indent="-228600" algn="l" rtl="0" eaLnBrk="0" fontAlgn="base" hangingPunct="0">
        <a:spcBef>
          <a:spcPct val="20000"/>
        </a:spcBef>
        <a:spcAft>
          <a:spcPct val="0"/>
        </a:spcAft>
        <a:buChar char="•"/>
        <a:defRPr sz="2000">
          <a:solidFill>
            <a:srgbClr val="FFFFCC"/>
          </a:solidFill>
          <a:latin typeface="+mn-lt"/>
        </a:defRPr>
      </a:lvl8pPr>
      <a:lvl9pPr marL="3886200" indent="-228600" algn="l" rtl="0" eaLnBrk="0" fontAlgn="base" hangingPunct="0">
        <a:spcBef>
          <a:spcPct val="20000"/>
        </a:spcBef>
        <a:spcAft>
          <a:spcPct val="0"/>
        </a:spcAft>
        <a:buChar char="•"/>
        <a:defRPr sz="2000">
          <a:solidFill>
            <a:srgbClr val="FFFFC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ch05/05-1.pptx"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hyperlink" Target="../ch07/07-1.pptx" TargetMode="Externa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hyperlink" Target="06-03.pptx" TargetMode="External"/><Relationship Id="rId2" Type="http://schemas.openxmlformats.org/officeDocument/2006/relationships/hyperlink" Target="06-02.pptx" TargetMode="Externa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gif"/></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8.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slide" Target="slide3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audio" Target="../media/audio2.wav"/><Relationship Id="rId7"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13.xml"/><Relationship Id="rId4" Type="http://schemas.openxmlformats.org/officeDocument/2006/relationships/audio" Target="../media/audio3.wav"/></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audio" Target="../media/audio2.wav"/><Relationship Id="rId7" Type="http://schemas.openxmlformats.org/officeDocument/2006/relationships/image" Target="../media/image14.wmf"/><Relationship Id="rId12" Type="http://schemas.openxmlformats.org/officeDocument/2006/relationships/image" Target="../media/image5.jpe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oleObject" Target="../embeddings/oleObject4.bin"/><Relationship Id="rId5" Type="http://schemas.openxmlformats.org/officeDocument/2006/relationships/audio" Target="../media/audio3.wav"/><Relationship Id="rId10" Type="http://schemas.openxmlformats.org/officeDocument/2006/relationships/oleObject" Target="../embeddings/oleObject3.bin"/><Relationship Id="rId4" Type="http://schemas.openxmlformats.org/officeDocument/2006/relationships/audio" Target="../media/audio4.wav"/><Relationship Id="rId9" Type="http://schemas.openxmlformats.org/officeDocument/2006/relationships/image" Target="../media/image15.wmf"/></Relationships>
</file>

<file path=ppt/slides/_rels/slide14.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slide" Target="slide15.xml"/><Relationship Id="rId7" Type="http://schemas.openxmlformats.org/officeDocument/2006/relationships/slide" Target="slide12.xml"/><Relationship Id="rId2" Type="http://schemas.openxmlformats.org/officeDocument/2006/relationships/audio" Target="../media/audio4.wav"/><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slide" Target="slide16.xml"/><Relationship Id="rId4" Type="http://schemas.openxmlformats.org/officeDocument/2006/relationships/slide" Target="slide14.xml"/></Relationships>
</file>

<file path=ppt/slides/_rels/slide15.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2.wav"/><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audio" Target="../media/audio3.wav"/></Relationships>
</file>

<file path=ppt/slides/_rels/slide16.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2.wav"/><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7.jpg"/></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21.jpg"/><Relationship Id="rId4" Type="http://schemas.openxmlformats.org/officeDocument/2006/relationships/image" Target="../media/image20.jp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xml"/><Relationship Id="rId1" Type="http://schemas.openxmlformats.org/officeDocument/2006/relationships/tags" Target="../tags/tag6.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27.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audio" Target="../media/audio2.wav"/><Relationship Id="rId7"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slide" Target="slide32.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29.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slide" Target="slide28.xml"/><Relationship Id="rId4" Type="http://schemas.openxmlformats.org/officeDocument/2006/relationships/image" Target="../media/image4.jpeg"/></Relationships>
</file>

<file path=ppt/slides/_rels/slide30.xml.rels><?xml version="1.0" encoding="UTF-8" standalone="yes"?>
<Relationships xmlns="http://schemas.openxmlformats.org/package/2006/relationships"><Relationship Id="rId3" Type="http://schemas.openxmlformats.org/officeDocument/2006/relationships/hyperlink" Target="file:///I:\01&#26412;&#31185;&#29983;&#25945;&#23398;\05&#25945;&#23398;&#35838;&#20214;\01&#25945;&#23398;&#35838;&#20214;\&#26080;&#26426;&#21450;&#20998;&#26512;&#21270;&#23398;(&#30701;&#23398;&#26102;)\MEDIA\ch06\EDTA&#21512;&#38041;&#37197;&#31163;&#23376;&#30340;&#32467;&#26500;.swf" TargetMode="External"/><Relationship Id="rId2" Type="http://schemas.openxmlformats.org/officeDocument/2006/relationships/audio" Target="../media/audio3.wav"/><Relationship Id="rId1" Type="http://schemas.openxmlformats.org/officeDocument/2006/relationships/slideLayout" Target="../slideLayouts/slideLayout2.xml"/><Relationship Id="rId6" Type="http://schemas.openxmlformats.org/officeDocument/2006/relationships/hyperlink" Target="file:///I:\01&#26412;&#31185;&#29983;&#25945;&#23398;\05&#25945;&#23398;&#35838;&#20214;\01&#25945;&#23398;&#35838;&#20214;\&#26080;&#26426;&#21450;&#20998;&#26512;&#21270;&#23398;(&#30701;&#23398;&#26102;)\MEDIA\ch06\EDTA&#20998;&#24067;&#26354;&#32447;.swf" TargetMode="External"/><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audio" Target="../media/audio4.wav"/></Relationships>
</file>

<file path=ppt/slides/_rels/slide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5.wav"/><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5.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audio" Target="../media/audio2.wav"/><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audio" Target="../media/audio2.wav"/><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audio" Target="../media/audio1.wav"/></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6.wav"/><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6.wav"/><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9.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6.wav"/><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3.jpeg"/><Relationship Id="rId4" Type="http://schemas.openxmlformats.org/officeDocument/2006/relationships/hyperlink" Target="06-02.ppt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2546358" y="1581482"/>
            <a:ext cx="6429389" cy="1015663"/>
          </a:xfrm>
          <a:prstGeom prst="rect">
            <a:avLst/>
          </a:prstGeom>
          <a:noFill/>
          <a:ln>
            <a:noFill/>
          </a:ln>
          <a:effectLst>
            <a:outerShdw dist="53882" dir="2700000" algn="ctr" rotWithShape="0">
              <a:srgbClr val="000000"/>
            </a:outerShdw>
          </a:effectLst>
        </p:spPr>
        <p:txBody>
          <a:bodyPr wrap="square" anchor="ctr">
            <a:spAutoFit/>
          </a:bodyPr>
          <a:lstStyle/>
          <a:p>
            <a:pPr algn="ctr" eaLnBrk="0" hangingPunct="0">
              <a:defRPr/>
            </a:pPr>
            <a:r>
              <a:rPr lang="zh-CN" altLang="en-US" sz="3200" b="1" dirty="0">
                <a:solidFill>
                  <a:srgbClr val="FFFFFF"/>
                </a:solidFill>
                <a:ea typeface="黑体" pitchFamily="2" charset="-122"/>
              </a:rPr>
              <a:t>第</a:t>
            </a:r>
            <a:r>
              <a:rPr lang="en-US" altLang="zh-CN" sz="3200" b="1" dirty="0">
                <a:solidFill>
                  <a:srgbClr val="FFFFFF"/>
                </a:solidFill>
                <a:ea typeface="黑体" pitchFamily="2" charset="-122"/>
              </a:rPr>
              <a:t>6</a:t>
            </a:r>
            <a:r>
              <a:rPr lang="zh-CN" altLang="en-US" sz="3200" b="1" dirty="0">
                <a:solidFill>
                  <a:srgbClr val="FFFFFF"/>
                </a:solidFill>
                <a:ea typeface="黑体" pitchFamily="2" charset="-122"/>
              </a:rPr>
              <a:t>章 配合物与配位平衡</a:t>
            </a:r>
            <a:endParaRPr lang="zh-CN" altLang="en-US" sz="4000" b="1" dirty="0">
              <a:solidFill>
                <a:srgbClr val="FFFFFF"/>
              </a:solidFill>
              <a:ea typeface="黑体" pitchFamily="2" charset="-122"/>
            </a:endParaRPr>
          </a:p>
          <a:p>
            <a:pPr algn="ctr" eaLnBrk="0" hangingPunct="0">
              <a:defRPr/>
            </a:pPr>
            <a:r>
              <a:rPr lang="en-US" sz="2800" b="1" dirty="0">
                <a:solidFill>
                  <a:srgbClr val="FFFF00"/>
                </a:solidFill>
                <a:ea typeface="楷体_GB2312"/>
              </a:rPr>
              <a:t>Complex and coordination Equilibrium</a:t>
            </a:r>
            <a:endParaRPr kumimoji="1" lang="en-US" altLang="zh-CN" sz="2800" b="1" dirty="0">
              <a:solidFill>
                <a:srgbClr val="FFFF00"/>
              </a:solidFill>
              <a:effectLst>
                <a:outerShdw blurRad="38100" dist="38100" dir="2700000" algn="tl">
                  <a:srgbClr val="C0C0C0"/>
                </a:outerShdw>
              </a:effectLst>
              <a:ea typeface="楷体_GB2312"/>
            </a:endParaRPr>
          </a:p>
        </p:txBody>
      </p:sp>
      <p:sp>
        <p:nvSpPr>
          <p:cNvPr id="4" name="椭圆 62544" descr="图片1">
            <a:hlinkClick r:id="rId3" action="ppaction://hlinkpres?slideindex=1&amp;slidetitle="/>
          </p:cNvPr>
          <p:cNvSpPr>
            <a:spLocks noChangeAspect="1" noChangeArrowheads="1"/>
          </p:cNvSpPr>
          <p:nvPr/>
        </p:nvSpPr>
        <p:spPr bwMode="auto">
          <a:xfrm>
            <a:off x="0" y="5580000"/>
            <a:ext cx="360362" cy="360362"/>
          </a:xfrm>
          <a:prstGeom prst="ellipse">
            <a:avLst/>
          </a:prstGeom>
          <a:blipFill dpi="0" rotWithShape="1">
            <a:blip r:embed="rId4"/>
            <a:srcRect/>
            <a:stretch>
              <a:fillRect/>
            </a:stretch>
          </a:blipFill>
          <a:ln w="9525">
            <a:solidFill>
              <a:srgbClr val="808080"/>
            </a:solidFill>
            <a:round/>
            <a:headEnd/>
            <a:tailEnd/>
          </a:ln>
        </p:spPr>
        <p:txBody>
          <a:bodyPr wrap="none" anchor="ctr"/>
          <a:lstStyle/>
          <a:p>
            <a:pPr algn="ctr"/>
            <a:r>
              <a:rPr lang="zh-CN" altLang="en-US" sz="1200" b="1" dirty="0">
                <a:solidFill>
                  <a:srgbClr val="000000"/>
                </a:solidFill>
                <a:ea typeface="楷体_GB2312" pitchFamily="49" charset="-122"/>
              </a:rPr>
              <a:t>上章</a:t>
            </a:r>
          </a:p>
        </p:txBody>
      </p:sp>
      <p:sp>
        <p:nvSpPr>
          <p:cNvPr id="5" name="椭圆 62544" descr="图片1">
            <a:hlinkClick r:id="rId5" action="ppaction://hlinkpres?slideindex=1&amp;slidetitle="/>
          </p:cNvPr>
          <p:cNvSpPr>
            <a:spLocks noChangeAspect="1" noChangeArrowheads="1"/>
          </p:cNvSpPr>
          <p:nvPr/>
        </p:nvSpPr>
        <p:spPr bwMode="auto">
          <a:xfrm>
            <a:off x="11160000" y="5580000"/>
            <a:ext cx="360362" cy="360362"/>
          </a:xfrm>
          <a:prstGeom prst="ellipse">
            <a:avLst/>
          </a:prstGeom>
          <a:blipFill dpi="0" rotWithShape="1">
            <a:blip r:embed="rId4"/>
            <a:srcRect/>
            <a:stretch>
              <a:fillRect/>
            </a:stretch>
          </a:blipFill>
          <a:ln w="9525">
            <a:solidFill>
              <a:srgbClr val="808080"/>
            </a:solidFill>
            <a:round/>
            <a:headEnd/>
            <a:tailEnd/>
          </a:ln>
        </p:spPr>
        <p:txBody>
          <a:bodyPr wrap="none" anchor="ctr"/>
          <a:lstStyle/>
          <a:p>
            <a:pPr algn="ctr"/>
            <a:r>
              <a:rPr lang="zh-CN" altLang="en-US" sz="1200" b="1" dirty="0">
                <a:solidFill>
                  <a:srgbClr val="000000"/>
                </a:solidFill>
                <a:ea typeface="楷体_GB2312" pitchFamily="49" charset="-122"/>
              </a:rPr>
              <a:t>下章</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out)">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4145" y="1597013"/>
            <a:ext cx="4330032" cy="2031325"/>
          </a:xfrm>
          <a:prstGeom prst="rect">
            <a:avLst/>
          </a:prstGeom>
          <a:noFill/>
        </p:spPr>
        <p:txBody>
          <a:bodyPr wrap="none" rtlCol="0">
            <a:spAutoFit/>
          </a:bodyPr>
          <a:lstStyle/>
          <a:p>
            <a:pPr>
              <a:lnSpc>
                <a:spcPct val="150000"/>
              </a:lnSpc>
            </a:pPr>
            <a:r>
              <a:rPr lang="en-US" altLang="zh-CN" sz="2800" b="1" dirty="0">
                <a:latin typeface="+mn-lt"/>
                <a:ea typeface="黑体" pitchFamily="49" charset="-122"/>
              </a:rPr>
              <a:t>6.1 </a:t>
            </a:r>
            <a:r>
              <a:rPr lang="zh-CN" altLang="en-US" sz="2800" b="1" dirty="0">
                <a:latin typeface="+mn-lt"/>
                <a:ea typeface="黑体" pitchFamily="49" charset="-122"/>
              </a:rPr>
              <a:t>配合物与螯合物</a:t>
            </a:r>
            <a:endParaRPr lang="en-US" altLang="zh-CN" sz="2800" b="1" dirty="0">
              <a:latin typeface="+mn-lt"/>
              <a:ea typeface="黑体" pitchFamily="49" charset="-122"/>
            </a:endParaRPr>
          </a:p>
          <a:p>
            <a:pPr>
              <a:lnSpc>
                <a:spcPct val="150000"/>
              </a:lnSpc>
            </a:pPr>
            <a:r>
              <a:rPr lang="en-US" altLang="zh-CN" sz="2800" b="1" dirty="0">
                <a:latin typeface="+mn-lt"/>
                <a:ea typeface="黑体" pitchFamily="49" charset="-122"/>
                <a:hlinkClick r:id="rId2" action="ppaction://hlinkpres?slideindex=1&amp;slidetitle="/>
              </a:rPr>
              <a:t>6.2</a:t>
            </a:r>
            <a:r>
              <a:rPr lang="en-US" altLang="zh-CN" sz="2800" b="1" dirty="0">
                <a:latin typeface="+mn-lt"/>
                <a:ea typeface="黑体" pitchFamily="49" charset="-122"/>
              </a:rPr>
              <a:t> </a:t>
            </a:r>
            <a:r>
              <a:rPr lang="zh-CN" altLang="en-US" sz="2800" b="1" dirty="0">
                <a:latin typeface="+mn-lt"/>
                <a:ea typeface="黑体" pitchFamily="49" charset="-122"/>
              </a:rPr>
              <a:t>配位平衡及其影响因素</a:t>
            </a:r>
            <a:endParaRPr lang="en-US" altLang="zh-CN" sz="2800" b="1" dirty="0">
              <a:latin typeface="+mn-lt"/>
              <a:ea typeface="黑体" pitchFamily="49" charset="-122"/>
            </a:endParaRPr>
          </a:p>
          <a:p>
            <a:pPr>
              <a:lnSpc>
                <a:spcPct val="150000"/>
              </a:lnSpc>
            </a:pPr>
            <a:r>
              <a:rPr lang="en-US" altLang="zh-CN" sz="2800" b="1" dirty="0">
                <a:latin typeface="+mn-lt"/>
                <a:ea typeface="黑体" pitchFamily="49" charset="-122"/>
                <a:hlinkClick r:id="rId3" action="ppaction://hlinkpres?slideindex=1&amp;slidetitle="/>
              </a:rPr>
              <a:t>6.3</a:t>
            </a:r>
            <a:r>
              <a:rPr lang="en-US" altLang="zh-CN" sz="2800" b="1" dirty="0">
                <a:latin typeface="+mn-lt"/>
                <a:ea typeface="黑体" pitchFamily="49" charset="-122"/>
              </a:rPr>
              <a:t> </a:t>
            </a:r>
            <a:r>
              <a:rPr lang="zh-CN" altLang="en-US" sz="2800" b="1" dirty="0">
                <a:latin typeface="+mn-lt"/>
                <a:ea typeface="黑体" pitchFamily="49" charset="-122"/>
              </a:rPr>
              <a:t>配位滴定法</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0" end="0"/>
                                            </p:txEl>
                                          </p:spTgt>
                                        </p:tgtEl>
                                        <p:attrNameLst>
                                          <p:attrName>style.color</p:attrName>
                                        </p:attrNameLst>
                                      </p:cBhvr>
                                      <p:to>
                                        <p:clrVal>
                                          <a:srgbClr val="FFFF00"/>
                                        </p:clrVal>
                                      </p:to>
                                    </p:set>
                                    <p:set>
                                      <p:cBhvr>
                                        <p:cTn id="7" dur="500" fill="hold"/>
                                        <p:tgtEl>
                                          <p:spTgt spid="3">
                                            <p:txEl>
                                              <p:pRg st="0" end="0"/>
                                            </p:txEl>
                                          </p:spTgt>
                                        </p:tgtEl>
                                        <p:attrNameLst>
                                          <p:attrName>fillcolor</p:attrName>
                                        </p:attrNameLst>
                                      </p:cBhvr>
                                      <p:to>
                                        <p:clrVal>
                                          <a:srgbClr val="FFFF00"/>
                                        </p:clrVal>
                                      </p:to>
                                    </p:set>
                                    <p:set>
                                      <p:cBhvr>
                                        <p:cTn id="8" dur="500" fill="hold"/>
                                        <p:tgtEl>
                                          <p:spTgt spid="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46" name="Rectangle 54"/>
          <p:cNvSpPr>
            <a:spLocks noChangeArrowheads="1"/>
          </p:cNvSpPr>
          <p:nvPr/>
        </p:nvSpPr>
        <p:spPr bwMode="auto">
          <a:xfrm>
            <a:off x="3536950" y="1597025"/>
            <a:ext cx="5856288" cy="2881313"/>
          </a:xfrm>
          <a:prstGeom prst="rect">
            <a:avLst/>
          </a:prstGeom>
          <a:noFill/>
          <a:ln w="9525">
            <a:noFill/>
            <a:miter lim="800000"/>
            <a:headEnd/>
            <a:tailEnd/>
          </a:ln>
        </p:spPr>
        <p:txBody>
          <a:bodyPr/>
          <a:lstStyle/>
          <a:p>
            <a:pPr marL="0" marR="0" lvl="0" indent="0" algn="l" defTabSz="914400" rtl="0" eaLnBrk="1" fontAlgn="base" latinLnBrk="0" hangingPunct="1">
              <a:lnSpc>
                <a:spcPct val="220000"/>
              </a:lnSpc>
              <a:spcBef>
                <a:spcPct val="0"/>
              </a:spcBef>
              <a:spcAft>
                <a:spcPct val="0"/>
              </a:spcAft>
              <a:buClrTx/>
              <a:buSzTx/>
              <a:buFontTx/>
              <a:buNone/>
              <a:tabLst/>
              <a:defRPr/>
            </a:pP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黑体" pitchFamily="49" charset="-122"/>
              <a:cs typeface="+mn-cs"/>
            </a:endParaRPr>
          </a:p>
        </p:txBody>
      </p:sp>
      <p:sp>
        <p:nvSpPr>
          <p:cNvPr id="6150" name="Rectangle 61"/>
          <p:cNvSpPr>
            <a:spLocks noGrp="1" noChangeArrowheads="1"/>
          </p:cNvSpPr>
          <p:nvPr>
            <p:ph type="title"/>
          </p:nvPr>
        </p:nvSpPr>
        <p:spPr>
          <a:xfrm>
            <a:off x="576263" y="258763"/>
            <a:ext cx="10369550" cy="431800"/>
          </a:xfrm>
          <a:noFill/>
        </p:spPr>
        <p:txBody>
          <a:bodyPr/>
          <a:lstStyle/>
          <a:p>
            <a:r>
              <a:rPr lang="en-US" altLang="zh-CN" dirty="0">
                <a:solidFill>
                  <a:srgbClr val="FF3300"/>
                </a:solidFill>
                <a:ea typeface="黑体" pitchFamily="49" charset="-122"/>
              </a:rPr>
              <a:t>6.1 </a:t>
            </a:r>
            <a:r>
              <a:rPr lang="zh-CN" altLang="en-US" dirty="0">
                <a:solidFill>
                  <a:srgbClr val="FF3300"/>
                </a:solidFill>
                <a:ea typeface="黑体" pitchFamily="49" charset="-122"/>
              </a:rPr>
              <a:t>配合物与螯合物</a:t>
            </a:r>
            <a:endParaRPr lang="zh-CN" altLang="en-US" sz="1400" b="0" dirty="0">
              <a:solidFill>
                <a:srgbClr val="FF3300"/>
              </a:solidFill>
              <a:ea typeface="黑体" pitchFamily="49" charset="-122"/>
            </a:endParaRPr>
          </a:p>
        </p:txBody>
      </p:sp>
      <p:sp>
        <p:nvSpPr>
          <p:cNvPr id="6151"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2"/>
            <a:srcRect/>
            <a:stretch>
              <a:fillRect/>
            </a:stretch>
          </a:blipFill>
          <a:ln w="9525">
            <a:solidFill>
              <a:srgbClr val="80808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152"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3"/>
            <a:srcRect/>
            <a:stretch>
              <a:fillRect/>
            </a:stretch>
          </a:blipFill>
          <a:ln w="9525">
            <a:solidFill>
              <a:srgbClr val="80808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 name="文本框 1"/>
          <p:cNvSpPr txBox="1"/>
          <p:nvPr/>
        </p:nvSpPr>
        <p:spPr>
          <a:xfrm>
            <a:off x="545927" y="894590"/>
            <a:ext cx="3406702" cy="4770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500" b="1" i="0" u="none" strike="noStrike" kern="1200" cap="none" spc="0" normalizeH="0" baseline="0" noProof="0" dirty="0">
                <a:ln>
                  <a:noFill/>
                </a:ln>
                <a:solidFill>
                  <a:srgbClr val="000000"/>
                </a:solidFill>
                <a:effectLst/>
                <a:uLnTx/>
                <a:uFillTx/>
                <a:latin typeface="黑体" panose="02010609060101010101" pitchFamily="49" charset="-122"/>
                <a:ea typeface="楷体_GB2312"/>
                <a:cs typeface="+mn-cs"/>
              </a:rPr>
              <a:t>配合物理论的前世今生</a:t>
            </a:r>
          </a:p>
        </p:txBody>
      </p:sp>
      <p:sp>
        <p:nvSpPr>
          <p:cNvPr id="3" name="文本框 2"/>
          <p:cNvSpPr txBox="1"/>
          <p:nvPr/>
        </p:nvSpPr>
        <p:spPr>
          <a:xfrm>
            <a:off x="1044514" y="1421592"/>
            <a:ext cx="9433048" cy="95410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CoCl</a:t>
            </a:r>
            <a:r>
              <a:rPr kumimoji="0" lang="en-US" altLang="zh-CN" sz="2800" b="1"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3</a:t>
            </a:r>
            <a:r>
              <a:rPr kumimoji="0" lang="en-US" altLang="zh-CN"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•6NH</a:t>
            </a:r>
            <a:r>
              <a:rPr kumimoji="0" lang="en-US" altLang="zh-CN" sz="2800" b="1" i="0" u="none" strike="noStrike" kern="1200" cap="none" spc="0" normalizeH="0" baseline="-25000" noProof="0" dirty="0">
                <a:ln>
                  <a:noFill/>
                </a:ln>
                <a:solidFill>
                  <a:srgbClr val="000000"/>
                </a:solidFill>
                <a:effectLst/>
                <a:uLnTx/>
                <a:uFillTx/>
                <a:latin typeface="Times New Roman" pitchFamily="18" charset="0"/>
                <a:ea typeface="宋体" pitchFamily="2" charset="-122"/>
                <a:cs typeface="+mn-cs"/>
              </a:rPr>
              <a:t>3    </a:t>
            </a:r>
            <a:r>
              <a:rPr kumimoji="0" lang="en-US" altLang="zh-CN"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1798</a:t>
            </a: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年第一次问世后被认为两个简单化合物形成新化合物</a:t>
            </a:r>
            <a:r>
              <a:rPr kumimoji="0" lang="en-US" altLang="zh-CN"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5" name="文本框 4"/>
          <p:cNvSpPr txBox="1"/>
          <p:nvPr/>
        </p:nvSpPr>
        <p:spPr>
          <a:xfrm>
            <a:off x="5717205" y="2414230"/>
            <a:ext cx="4536503" cy="138499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楷体_GB2312"/>
                <a:cs typeface="+mn-cs"/>
              </a:rPr>
              <a:t>各原子都满足化合价，不了解成键本质无法解释形成新化合物的原因</a:t>
            </a:r>
          </a:p>
        </p:txBody>
      </p:sp>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68749" y="2475596"/>
            <a:ext cx="2365593" cy="2956991"/>
          </a:xfrm>
          <a:prstGeom prst="rect">
            <a:avLst/>
          </a:prstGeom>
        </p:spPr>
      </p:pic>
      <p:sp>
        <p:nvSpPr>
          <p:cNvPr id="8" name="云形标注 7"/>
          <p:cNvSpPr/>
          <p:nvPr/>
        </p:nvSpPr>
        <p:spPr>
          <a:xfrm>
            <a:off x="400908" y="2746461"/>
            <a:ext cx="2393815" cy="1457700"/>
          </a:xfrm>
          <a:prstGeom prst="cloudCallout">
            <a:avLst>
              <a:gd name="adj1" fmla="val -6940"/>
              <a:gd name="adj2" fmla="val -100969"/>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srgbClr val="000000"/>
                </a:solidFill>
                <a:effectLst/>
                <a:uLnTx/>
                <a:uFillTx/>
                <a:latin typeface="Times New Roman"/>
                <a:ea typeface="楷体_GB2312"/>
                <a:cs typeface="+mn-cs"/>
              </a:rPr>
              <a:t>复杂化合物</a:t>
            </a:r>
          </a:p>
        </p:txBody>
      </p:sp>
      <p:sp>
        <p:nvSpPr>
          <p:cNvPr id="9" name="文本框 8"/>
          <p:cNvSpPr txBox="1"/>
          <p:nvPr/>
        </p:nvSpPr>
        <p:spPr>
          <a:xfrm>
            <a:off x="5902543" y="3954091"/>
            <a:ext cx="3249608" cy="138499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2060"/>
                </a:solidFill>
                <a:effectLst/>
                <a:uLnTx/>
                <a:uFillTx/>
                <a:latin typeface="Times New Roman" pitchFamily="18" charset="0"/>
                <a:ea typeface="楷体_GB2312"/>
                <a:cs typeface="+mn-cs"/>
              </a:rPr>
              <a:t>学术之争：</a:t>
            </a:r>
            <a:endParaRPr kumimoji="0" lang="en-US" altLang="zh-CN" sz="2800" b="1" i="0" u="none" strike="noStrike" kern="1200" cap="none" spc="0" normalizeH="0" baseline="0" noProof="0" dirty="0">
              <a:ln>
                <a:noFill/>
              </a:ln>
              <a:solidFill>
                <a:srgbClr val="002060"/>
              </a:solidFill>
              <a:effectLst/>
              <a:uLnTx/>
              <a:uFillTx/>
              <a:latin typeface="Times New Roman" pitchFamily="18" charset="0"/>
              <a:ea typeface="楷体_GB231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2060"/>
                </a:solidFill>
                <a:effectLst/>
                <a:uLnTx/>
                <a:uFillTx/>
                <a:latin typeface="Times New Roman" pitchFamily="18" charset="0"/>
                <a:ea typeface="楷体_GB2312"/>
                <a:cs typeface="+mn-cs"/>
              </a:rPr>
              <a:t>维尔纳  配合物理论</a:t>
            </a:r>
            <a:endParaRPr kumimoji="0" lang="en-US" altLang="zh-CN" sz="2800" b="1" i="0" u="none" strike="noStrike" kern="1200" cap="none" spc="0" normalizeH="0" baseline="0" noProof="0" dirty="0">
              <a:ln>
                <a:noFill/>
              </a:ln>
              <a:solidFill>
                <a:srgbClr val="002060"/>
              </a:solidFill>
              <a:effectLst/>
              <a:uLnTx/>
              <a:uFillTx/>
              <a:latin typeface="Times New Roman" pitchFamily="18" charset="0"/>
              <a:ea typeface="楷体_GB231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2060"/>
                </a:solidFill>
                <a:effectLst/>
                <a:uLnTx/>
                <a:uFillTx/>
                <a:latin typeface="Times New Roman" pitchFamily="18" charset="0"/>
                <a:ea typeface="楷体_GB2312"/>
                <a:cs typeface="+mn-cs"/>
              </a:rPr>
              <a:t>约尔更生  链理论</a:t>
            </a:r>
          </a:p>
        </p:txBody>
      </p:sp>
    </p:spTree>
    <p:extLst>
      <p:ext uri="{BB962C8B-B14F-4D97-AF65-F5344CB8AC3E}">
        <p14:creationId xmlns:p14="http://schemas.microsoft.com/office/powerpoint/2010/main" val="241880755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nodePh="1">
                                  <p:stCondLst>
                                    <p:cond delay="0"/>
                                  </p:stCondLst>
                                  <p:endCondLst>
                                    <p:cond evt="begin" delay="0">
                                      <p:tn val="9"/>
                                    </p:cond>
                                  </p:endCondLst>
                                  <p:childTnLst>
                                    <p:set>
                                      <p:cBhvr>
                                        <p:cTn id="10" dur="1" fill="hold">
                                          <p:stCondLst>
                                            <p:cond delay="0"/>
                                          </p:stCondLst>
                                        </p:cTn>
                                        <p:tgtEl>
                                          <p:spTgt spid="8246">
                                            <p:txEl>
                                              <p:pRg st="0" end="0"/>
                                            </p:txEl>
                                          </p:spTgt>
                                        </p:tgtEl>
                                        <p:attrNameLst>
                                          <p:attrName>style.visibility</p:attrName>
                                        </p:attrNameLst>
                                      </p:cBhvr>
                                      <p:to>
                                        <p:strVal val="visible"/>
                                      </p:to>
                                    </p:set>
                                    <p:animEffect transition="in" filter="blinds(horizontal)">
                                      <p:cBhvr>
                                        <p:cTn id="11" dur="500"/>
                                        <p:tgtEl>
                                          <p:spTgt spid="8246">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6" grpId="0" build="p"/>
      <p:bldP spid="2" grpId="0"/>
      <p:bldP spid="5" grpId="0"/>
      <p:bldP spid="8" grpId="0" animBg="1"/>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FF3300"/>
                </a:solidFill>
                <a:ea typeface="黑体" pitchFamily="49" charset="-122"/>
              </a:rPr>
              <a:t>6.1 </a:t>
            </a:r>
            <a:r>
              <a:rPr lang="zh-CN" altLang="en-US" dirty="0">
                <a:solidFill>
                  <a:srgbClr val="FF3300"/>
                </a:solidFill>
                <a:ea typeface="黑体" pitchFamily="49" charset="-122"/>
              </a:rPr>
              <a:t>配合物与螯合物</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00" y="1554912"/>
            <a:ext cx="1752845" cy="2429214"/>
          </a:xfrm>
          <a:prstGeom prst="rect">
            <a:avLst/>
          </a:prstGeom>
        </p:spPr>
      </p:pic>
      <p:sp>
        <p:nvSpPr>
          <p:cNvPr id="6" name="矩形 5"/>
          <p:cNvSpPr/>
          <p:nvPr/>
        </p:nvSpPr>
        <p:spPr>
          <a:xfrm>
            <a:off x="402604" y="4221776"/>
            <a:ext cx="2768707" cy="10156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楷体_GB2312"/>
                <a:ea typeface="宋体" pitchFamily="2" charset="-122"/>
                <a:cs typeface="+mn-cs"/>
              </a:rPr>
              <a:t>     韦尔纳</a:t>
            </a:r>
            <a:endParaRPr kumimoji="0" lang="en-US" altLang="zh-CN" sz="2000" b="1" i="0" u="none" strike="noStrike" kern="1200" cap="none" spc="0" normalizeH="0" baseline="0" noProof="0" dirty="0">
              <a:ln>
                <a:noFill/>
              </a:ln>
              <a:solidFill>
                <a:srgbClr val="000000"/>
              </a:solidFill>
              <a:effectLst/>
              <a:uLnTx/>
              <a:uFillTx/>
              <a:latin typeface="楷体_GB231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楷体_GB2312"/>
                <a:ea typeface="宋体" pitchFamily="2" charset="-122"/>
                <a:cs typeface="+mn-cs"/>
              </a:rPr>
              <a:t> 配位化学的奠基人</a:t>
            </a:r>
            <a:endParaRPr kumimoji="0" lang="en-US" altLang="zh-CN" sz="2000" b="1" i="0" u="none" strike="noStrike" kern="1200" cap="none" spc="0" normalizeH="0" baseline="0" noProof="0" dirty="0">
              <a:ln>
                <a:noFill/>
              </a:ln>
              <a:solidFill>
                <a:srgbClr val="000000"/>
              </a:solidFill>
              <a:effectLst/>
              <a:uLnTx/>
              <a:uFillTx/>
              <a:latin typeface="楷体_GB231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楷体_GB2312"/>
                <a:ea typeface="宋体" pitchFamily="2" charset="-122"/>
                <a:cs typeface="+mn-cs"/>
              </a:rPr>
              <a:t>1913</a:t>
            </a:r>
            <a:r>
              <a:rPr kumimoji="0" lang="zh-CN" altLang="en-US" sz="2000" b="1" i="0" u="none" strike="noStrike" kern="1200" cap="none" spc="0" normalizeH="0" baseline="0" noProof="0" dirty="0">
                <a:ln>
                  <a:noFill/>
                </a:ln>
                <a:solidFill>
                  <a:srgbClr val="000000"/>
                </a:solidFill>
                <a:effectLst/>
                <a:uLnTx/>
                <a:uFillTx/>
                <a:latin typeface="楷体_GB2312"/>
                <a:ea typeface="宋体" pitchFamily="2" charset="-122"/>
                <a:cs typeface="+mn-cs"/>
              </a:rPr>
              <a:t>年获</a:t>
            </a:r>
            <a:r>
              <a:rPr kumimoji="0" lang="zh-CN" altLang="en-US" sz="2000" b="1" i="0" u="sng" strike="noStrike" kern="1200" cap="none" spc="0" normalizeH="0" baseline="0" noProof="0" dirty="0">
                <a:ln>
                  <a:noFill/>
                </a:ln>
                <a:solidFill>
                  <a:srgbClr val="FF0000"/>
                </a:solidFill>
                <a:effectLst/>
                <a:uLnTx/>
                <a:uFillTx/>
                <a:latin typeface="楷体_GB2312"/>
                <a:ea typeface="宋体" pitchFamily="2" charset="-122"/>
                <a:cs typeface="+mn-cs"/>
              </a:rPr>
              <a:t>诺贝尔化学奖</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5550" y="1585252"/>
            <a:ext cx="3679484" cy="2685028"/>
          </a:xfrm>
          <a:prstGeom prst="rect">
            <a:avLst/>
          </a:prstGeom>
        </p:spPr>
      </p:pic>
      <p:sp>
        <p:nvSpPr>
          <p:cNvPr id="8" name="文本框 7"/>
          <p:cNvSpPr txBox="1"/>
          <p:nvPr/>
        </p:nvSpPr>
        <p:spPr>
          <a:xfrm>
            <a:off x="4288668" y="4376706"/>
            <a:ext cx="2664296"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楷体_GB2312"/>
                <a:cs typeface="+mn-cs"/>
              </a:rPr>
              <a:t>配合物理论</a:t>
            </a:r>
          </a:p>
        </p:txBody>
      </p:sp>
      <p:sp>
        <p:nvSpPr>
          <p:cNvPr id="9" name="文本框 8"/>
          <p:cNvSpPr txBox="1"/>
          <p:nvPr/>
        </p:nvSpPr>
        <p:spPr>
          <a:xfrm>
            <a:off x="7345413" y="1064002"/>
            <a:ext cx="3600400" cy="156966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楷体_GB2312"/>
                <a:cs typeface="+mn-cs"/>
              </a:rPr>
              <a:t>在没有成键理论之前，</a:t>
            </a:r>
            <a:endPar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楷体_GB2312"/>
                <a:ea typeface="宋体" pitchFamily="2" charset="-122"/>
                <a:cs typeface="+mn-cs"/>
              </a:rPr>
              <a:t>韦尔纳提出假设</a:t>
            </a:r>
            <a:endParaRPr kumimoji="0" lang="en-US" altLang="zh-CN" sz="2400" b="1" i="0" u="none" strike="noStrike" kern="1200" cap="none" spc="0" normalizeH="0" baseline="0" noProof="0" dirty="0">
              <a:ln>
                <a:noFill/>
              </a:ln>
              <a:solidFill>
                <a:srgbClr val="000000"/>
              </a:solidFill>
              <a:effectLst/>
              <a:uLnTx/>
              <a:uFillTx/>
              <a:latin typeface="楷体_GB231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楷体_GB2312"/>
                <a:cs typeface="+mn-cs"/>
              </a:rPr>
              <a:t>大多数化学元素存在两种化学价：主价和副价</a:t>
            </a:r>
          </a:p>
        </p:txBody>
      </p:sp>
      <p:sp>
        <p:nvSpPr>
          <p:cNvPr id="10" name="矩形 9"/>
          <p:cNvSpPr/>
          <p:nvPr/>
        </p:nvSpPr>
        <p:spPr>
          <a:xfrm>
            <a:off x="4464894" y="4959906"/>
            <a:ext cx="3717232" cy="646331"/>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楷体_GB2312"/>
                <a:cs typeface="+mn-cs"/>
              </a:rPr>
              <a:t>约尔更生发表实验结果承认自己理论错误 </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楷体_GB2312"/>
                <a:cs typeface="+mn-cs"/>
              </a:rPr>
              <a:t>——</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楷体_GB2312"/>
                <a:cs typeface="+mn-cs"/>
              </a:rPr>
              <a:t>科学家的诚信</a:t>
            </a:r>
            <a:endParaRPr kumimoji="0" lang="zh-CN" altLang="en-US" sz="18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1" name="文本框 10"/>
          <p:cNvSpPr txBox="1"/>
          <p:nvPr/>
        </p:nvSpPr>
        <p:spPr>
          <a:xfrm>
            <a:off x="557029" y="879260"/>
            <a:ext cx="3406702" cy="4770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500" b="1" i="0" u="none" strike="noStrike" kern="1200" cap="none" spc="0" normalizeH="0" baseline="0" noProof="0" dirty="0">
                <a:ln>
                  <a:noFill/>
                </a:ln>
                <a:solidFill>
                  <a:srgbClr val="000000"/>
                </a:solidFill>
                <a:effectLst/>
                <a:uLnTx/>
                <a:uFillTx/>
                <a:latin typeface="黑体" panose="02010609060101010101" pitchFamily="49" charset="-122"/>
                <a:ea typeface="楷体_GB2312"/>
                <a:cs typeface="+mn-cs"/>
              </a:rPr>
              <a:t>配合物理论的前世今生</a:t>
            </a:r>
          </a:p>
        </p:txBody>
      </p:sp>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2125" y="4223894"/>
            <a:ext cx="1656184" cy="1656184"/>
          </a:xfrm>
          <a:prstGeom prst="rect">
            <a:avLst/>
          </a:prstGeom>
        </p:spPr>
      </p:pic>
    </p:spTree>
    <p:extLst>
      <p:ext uri="{BB962C8B-B14F-4D97-AF65-F5344CB8AC3E}">
        <p14:creationId xmlns:p14="http://schemas.microsoft.com/office/powerpoint/2010/main" val="1597828795"/>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animEffect transition="in" filter="fade">
                                      <p:cBhvr>
                                        <p:cTn id="31" dur="500"/>
                                        <p:tgtEl>
                                          <p:spTgt spid="10">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6421" y="259719"/>
            <a:ext cx="1661195" cy="432000"/>
          </a:xfrm>
        </p:spPr>
        <p:txBody>
          <a:bodyPr/>
          <a:lstStyle/>
          <a:p>
            <a:r>
              <a:rPr lang="zh-CN" altLang="en-US" dirty="0"/>
              <a:t>实验现象</a:t>
            </a:r>
          </a:p>
        </p:txBody>
      </p:sp>
      <p:pic>
        <p:nvPicPr>
          <p:cNvPr id="4" name="Picture 11" descr="酸碱络合物生成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8609" y="287759"/>
            <a:ext cx="1782760" cy="2808312"/>
          </a:xfrm>
          <a:prstGeom prst="rect">
            <a:avLst/>
          </a:prstGeom>
          <a:noFill/>
          <a:ln w="25400">
            <a:solidFill>
              <a:srgbClr val="FF00FF"/>
            </a:solidFill>
            <a:miter lim="800000"/>
            <a:headEnd/>
            <a:tailEnd/>
          </a:ln>
          <a:extLst>
            <a:ext uri="{909E8E84-426E-40DD-AFC4-6F175D3DCCD1}">
              <a14:hiddenFill xmlns:a14="http://schemas.microsoft.com/office/drawing/2010/main">
                <a:solidFill>
                  <a:srgbClr val="FFFFFF"/>
                </a:solidFill>
              </a14:hiddenFill>
            </a:ext>
          </a:extLst>
        </p:spPr>
      </p:pic>
      <p:sp>
        <p:nvSpPr>
          <p:cNvPr id="5" name="矩形 4"/>
          <p:cNvSpPr/>
          <p:nvPr/>
        </p:nvSpPr>
        <p:spPr>
          <a:xfrm>
            <a:off x="1008509" y="3429689"/>
            <a:ext cx="1244251"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0" u="none" strike="noStrike" kern="0" cap="none" spc="0" normalizeH="0" baseline="0" noProof="0" dirty="0">
                <a:ln>
                  <a:noFill/>
                </a:ln>
                <a:solidFill>
                  <a:srgbClr val="000000"/>
                </a:solidFill>
                <a:effectLst/>
                <a:uLnTx/>
                <a:uFillTx/>
                <a:ea typeface="楷体_GB2312" pitchFamily="49" charset="-122"/>
              </a:rPr>
              <a:t>CuSO</a:t>
            </a:r>
            <a:r>
              <a:rPr kumimoji="1" lang="en-US" altLang="zh-CN" sz="2800" b="1" i="0" u="none" strike="noStrike" kern="0" cap="none" spc="0" normalizeH="0" baseline="-25000" noProof="0" dirty="0">
                <a:ln>
                  <a:noFill/>
                </a:ln>
                <a:solidFill>
                  <a:srgbClr val="000000"/>
                </a:solidFill>
                <a:effectLst/>
                <a:uLnTx/>
                <a:uFillTx/>
                <a:ea typeface="楷体_GB2312" pitchFamily="49" charset="-122"/>
              </a:rPr>
              <a:t>4</a:t>
            </a:r>
            <a:endParaRPr kumimoji="0" lang="zh-CN" altLang="en-US" sz="1800" b="0" i="0" u="none" strike="noStrike" kern="0" cap="none" spc="0" normalizeH="0" baseline="-25000" noProof="0" dirty="0">
              <a:ln>
                <a:noFill/>
              </a:ln>
              <a:solidFill>
                <a:sysClr val="windowText" lastClr="000000"/>
              </a:solidFill>
              <a:effectLst/>
              <a:uLnTx/>
              <a:uFillTx/>
            </a:endParaRPr>
          </a:p>
        </p:txBody>
      </p:sp>
      <p:sp>
        <p:nvSpPr>
          <p:cNvPr id="6" name="矩形 5"/>
          <p:cNvSpPr/>
          <p:nvPr/>
        </p:nvSpPr>
        <p:spPr>
          <a:xfrm>
            <a:off x="1732229" y="2125284"/>
            <a:ext cx="1244251"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0" u="none" strike="noStrike" kern="0" cap="none" spc="0" normalizeH="0" baseline="0" noProof="0" dirty="0">
                <a:ln>
                  <a:noFill/>
                </a:ln>
                <a:solidFill>
                  <a:srgbClr val="000000"/>
                </a:solidFill>
                <a:effectLst/>
                <a:uLnTx/>
                <a:uFillTx/>
                <a:ea typeface="楷体_GB2312" pitchFamily="49" charset="-122"/>
              </a:rPr>
              <a:t>CuSO</a:t>
            </a:r>
            <a:r>
              <a:rPr kumimoji="1" lang="en-US" altLang="zh-CN" sz="2800" b="1" i="0" u="none" strike="noStrike" kern="0" cap="none" spc="0" normalizeH="0" baseline="-25000" noProof="0" dirty="0">
                <a:ln>
                  <a:noFill/>
                </a:ln>
                <a:solidFill>
                  <a:srgbClr val="000000"/>
                </a:solidFill>
                <a:effectLst/>
                <a:uLnTx/>
                <a:uFillTx/>
                <a:ea typeface="楷体_GB2312" pitchFamily="49" charset="-122"/>
              </a:rPr>
              <a:t>4</a:t>
            </a:r>
            <a:endParaRPr kumimoji="0" lang="zh-CN" altLang="en-US" sz="1800" b="0" i="0" u="none" strike="noStrike" kern="0" cap="none" spc="0" normalizeH="0" baseline="-25000" noProof="0" dirty="0">
              <a:ln>
                <a:noFill/>
              </a:ln>
              <a:solidFill>
                <a:sysClr val="windowText" lastClr="000000"/>
              </a:solidFill>
              <a:effectLst/>
              <a:uLnTx/>
              <a:uFillTx/>
            </a:endParaRPr>
          </a:p>
        </p:txBody>
      </p:sp>
      <p:sp>
        <p:nvSpPr>
          <p:cNvPr id="7" name="右箭头 6"/>
          <p:cNvSpPr/>
          <p:nvPr/>
        </p:nvSpPr>
        <p:spPr>
          <a:xfrm>
            <a:off x="3042732" y="2384625"/>
            <a:ext cx="792088" cy="14401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右箭头 7"/>
          <p:cNvSpPr/>
          <p:nvPr/>
        </p:nvSpPr>
        <p:spPr>
          <a:xfrm>
            <a:off x="2312071" y="3631241"/>
            <a:ext cx="1144710" cy="15848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2312071" y="3168079"/>
            <a:ext cx="1204176" cy="523220"/>
          </a:xfrm>
          <a:prstGeom prst="rect">
            <a:avLst/>
          </a:prstGeom>
          <a:noFill/>
        </p:spPr>
        <p:txBody>
          <a:bodyPr wrap="none" rtlCol="0">
            <a:spAutoFit/>
          </a:bodyPr>
          <a:lstStyle/>
          <a:p>
            <a:r>
              <a:rPr lang="en-US" altLang="zh-CN" sz="2800" b="1" dirty="0">
                <a:ea typeface="楷体_GB2312"/>
              </a:rPr>
              <a:t>NH</a:t>
            </a:r>
            <a:r>
              <a:rPr lang="en-US" altLang="zh-CN" sz="2800" b="1" baseline="-25000" dirty="0">
                <a:ea typeface="楷体_GB2312"/>
              </a:rPr>
              <a:t>3</a:t>
            </a:r>
            <a:r>
              <a:rPr lang="zh-CN" altLang="en-US" sz="2800" b="1" dirty="0">
                <a:ea typeface="楷体_GB2312"/>
              </a:rPr>
              <a:t>水</a:t>
            </a:r>
          </a:p>
        </p:txBody>
      </p:sp>
      <p:sp>
        <p:nvSpPr>
          <p:cNvPr id="10" name="矩形 9"/>
          <p:cNvSpPr/>
          <p:nvPr/>
        </p:nvSpPr>
        <p:spPr>
          <a:xfrm>
            <a:off x="3834730" y="3433140"/>
            <a:ext cx="2284600"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0" u="none" strike="noStrike" kern="0" cap="none" spc="0" normalizeH="0" noProof="0" dirty="0">
                <a:ln>
                  <a:noFill/>
                </a:ln>
                <a:solidFill>
                  <a:srgbClr val="000000"/>
                </a:solidFill>
                <a:effectLst/>
                <a:uLnTx/>
                <a:uFillTx/>
                <a:ea typeface="楷体_GB2312" pitchFamily="49" charset="-122"/>
              </a:rPr>
              <a:t>Cu</a:t>
            </a:r>
            <a:r>
              <a:rPr kumimoji="1" lang="en-US" altLang="zh-CN" sz="2800" b="1" kern="0" dirty="0">
                <a:solidFill>
                  <a:srgbClr val="000000"/>
                </a:solidFill>
                <a:ea typeface="楷体_GB2312" pitchFamily="49" charset="-122"/>
              </a:rPr>
              <a:t>(OH)</a:t>
            </a:r>
            <a:r>
              <a:rPr kumimoji="1" lang="en-US" altLang="zh-CN" sz="2800" b="1" kern="0" baseline="-25000" dirty="0">
                <a:solidFill>
                  <a:srgbClr val="000000"/>
                </a:solidFill>
                <a:ea typeface="楷体_GB2312" pitchFamily="49" charset="-122"/>
              </a:rPr>
              <a:t>2</a:t>
            </a:r>
            <a:r>
              <a:rPr kumimoji="1" lang="zh-CN" altLang="en-US" sz="2800" b="1" kern="0" dirty="0">
                <a:solidFill>
                  <a:srgbClr val="000000"/>
                </a:solidFill>
                <a:ea typeface="楷体_GB2312" pitchFamily="49" charset="-122"/>
              </a:rPr>
              <a:t>沉淀</a:t>
            </a:r>
            <a:endParaRPr kumimoji="0" lang="zh-CN" altLang="en-US" sz="1800" b="0" i="0" u="none" strike="noStrike" kern="0" cap="none" spc="0" normalizeH="0" noProof="0" dirty="0">
              <a:ln>
                <a:noFill/>
              </a:ln>
              <a:solidFill>
                <a:sysClr val="windowText" lastClr="000000"/>
              </a:solidFill>
              <a:effectLst/>
              <a:uLnTx/>
              <a:uFillTx/>
            </a:endParaRPr>
          </a:p>
        </p:txBody>
      </p:sp>
      <p:sp>
        <p:nvSpPr>
          <p:cNvPr id="12" name="右箭头 11"/>
          <p:cNvSpPr/>
          <p:nvPr/>
        </p:nvSpPr>
        <p:spPr>
          <a:xfrm>
            <a:off x="6119330" y="3637646"/>
            <a:ext cx="1144710" cy="15848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6031629" y="3215810"/>
            <a:ext cx="1204176" cy="523220"/>
          </a:xfrm>
          <a:prstGeom prst="rect">
            <a:avLst/>
          </a:prstGeom>
          <a:noFill/>
        </p:spPr>
        <p:txBody>
          <a:bodyPr wrap="none" rtlCol="0">
            <a:spAutoFit/>
          </a:bodyPr>
          <a:lstStyle/>
          <a:p>
            <a:r>
              <a:rPr lang="en-US" altLang="zh-CN" sz="2800" b="1" dirty="0">
                <a:ea typeface="楷体_GB2312"/>
              </a:rPr>
              <a:t>NH</a:t>
            </a:r>
            <a:r>
              <a:rPr lang="en-US" altLang="zh-CN" sz="2800" b="1" baseline="-25000" dirty="0">
                <a:ea typeface="楷体_GB2312"/>
              </a:rPr>
              <a:t>3</a:t>
            </a:r>
            <a:r>
              <a:rPr lang="zh-CN" altLang="en-US" sz="2800" b="1" dirty="0">
                <a:ea typeface="楷体_GB2312"/>
              </a:rPr>
              <a:t>水</a:t>
            </a:r>
          </a:p>
        </p:txBody>
      </p:sp>
      <p:sp>
        <p:nvSpPr>
          <p:cNvPr id="14" name="矩形 13"/>
          <p:cNvSpPr/>
          <p:nvPr/>
        </p:nvSpPr>
        <p:spPr>
          <a:xfrm>
            <a:off x="7398947" y="3390633"/>
            <a:ext cx="3284874" cy="523220"/>
          </a:xfrm>
          <a:prstGeom prst="rect">
            <a:avLst/>
          </a:prstGeom>
        </p:spPr>
        <p:txBody>
          <a:bodyPr wrap="none">
            <a:spAutoFit/>
          </a:bodyPr>
          <a:lstStyle/>
          <a:p>
            <a:r>
              <a:rPr lang="en-US" altLang="zh-CN" sz="2800" b="1" dirty="0"/>
              <a:t>[Cu(NH</a:t>
            </a:r>
            <a:r>
              <a:rPr lang="en-US" altLang="zh-CN" sz="2800" b="1" baseline="-25000" dirty="0"/>
              <a:t>3</a:t>
            </a:r>
            <a:r>
              <a:rPr lang="en-US" altLang="zh-CN" sz="2800" b="1" dirty="0"/>
              <a:t>)</a:t>
            </a:r>
            <a:r>
              <a:rPr lang="en-US" altLang="zh-CN" sz="2800" b="1" baseline="-25000" dirty="0"/>
              <a:t>4</a:t>
            </a:r>
            <a:r>
              <a:rPr lang="en-US" altLang="zh-CN" sz="2800" b="1" dirty="0"/>
              <a:t>]SO</a:t>
            </a:r>
            <a:r>
              <a:rPr lang="en-US" altLang="zh-CN" sz="2800" b="1" baseline="-25000" dirty="0"/>
              <a:t>4 </a:t>
            </a:r>
            <a:r>
              <a:rPr lang="zh-CN" altLang="en-US" sz="2800" b="1" dirty="0"/>
              <a:t>溶液</a:t>
            </a:r>
          </a:p>
        </p:txBody>
      </p:sp>
      <p:sp>
        <p:nvSpPr>
          <p:cNvPr id="15" name="矩形 14"/>
          <p:cNvSpPr/>
          <p:nvPr/>
        </p:nvSpPr>
        <p:spPr>
          <a:xfrm>
            <a:off x="5631185" y="1635399"/>
            <a:ext cx="1563248" cy="523220"/>
          </a:xfrm>
          <a:prstGeom prst="rect">
            <a:avLst/>
          </a:prstGeom>
        </p:spPr>
        <p:txBody>
          <a:bodyPr wrap="none">
            <a:spAutoFit/>
          </a:bodyPr>
          <a:lstStyle/>
          <a:p>
            <a:r>
              <a:rPr kumimoji="1" lang="en-US" altLang="zh-CN" sz="2800" b="1" kern="0" dirty="0">
                <a:solidFill>
                  <a:srgbClr val="000000"/>
                </a:solidFill>
                <a:ea typeface="楷体_GB2312" pitchFamily="49" charset="-122"/>
              </a:rPr>
              <a:t>Cu(OH)</a:t>
            </a:r>
            <a:r>
              <a:rPr kumimoji="1" lang="en-US" altLang="zh-CN" sz="2800" b="1" kern="0" baseline="-25000" dirty="0">
                <a:solidFill>
                  <a:srgbClr val="000000"/>
                </a:solidFill>
                <a:ea typeface="楷体_GB2312" pitchFamily="49" charset="-122"/>
              </a:rPr>
              <a:t>2</a:t>
            </a:r>
            <a:endParaRPr lang="zh-CN" altLang="en-US" sz="2800" dirty="0"/>
          </a:p>
        </p:txBody>
      </p:sp>
      <p:sp>
        <p:nvSpPr>
          <p:cNvPr id="16" name="右箭头 15"/>
          <p:cNvSpPr/>
          <p:nvPr/>
        </p:nvSpPr>
        <p:spPr>
          <a:xfrm>
            <a:off x="3030692" y="1177654"/>
            <a:ext cx="792088" cy="14401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右箭头 16"/>
          <p:cNvSpPr/>
          <p:nvPr/>
        </p:nvSpPr>
        <p:spPr>
          <a:xfrm rot="10800000">
            <a:off x="4810778" y="1729209"/>
            <a:ext cx="792088" cy="14401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右箭头 17"/>
          <p:cNvSpPr/>
          <p:nvPr/>
        </p:nvSpPr>
        <p:spPr>
          <a:xfrm rot="9117868">
            <a:off x="4540021" y="2548536"/>
            <a:ext cx="1260000" cy="1440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60437" y="981047"/>
            <a:ext cx="2473754" cy="523220"/>
          </a:xfrm>
          <a:prstGeom prst="rect">
            <a:avLst/>
          </a:prstGeom>
        </p:spPr>
        <p:txBody>
          <a:bodyPr wrap="none">
            <a:spAutoFit/>
          </a:bodyPr>
          <a:lstStyle/>
          <a:p>
            <a:r>
              <a:rPr kumimoji="1" lang="en-US" altLang="zh-CN" sz="2800" b="1" kern="0" dirty="0">
                <a:solidFill>
                  <a:srgbClr val="000000"/>
                </a:solidFill>
                <a:ea typeface="楷体_GB2312" pitchFamily="49" charset="-122"/>
              </a:rPr>
              <a:t>Cu(NH</a:t>
            </a:r>
            <a:r>
              <a:rPr kumimoji="1" lang="en-US" altLang="zh-CN" sz="2800" b="1" kern="0" baseline="-25000" dirty="0">
                <a:solidFill>
                  <a:srgbClr val="000000"/>
                </a:solidFill>
                <a:ea typeface="楷体_GB2312" pitchFamily="49" charset="-122"/>
              </a:rPr>
              <a:t>3</a:t>
            </a:r>
            <a:r>
              <a:rPr kumimoji="1" lang="en-US" altLang="zh-CN" sz="2800" b="1" kern="0" dirty="0">
                <a:solidFill>
                  <a:srgbClr val="000000"/>
                </a:solidFill>
                <a:ea typeface="楷体_GB2312" pitchFamily="49" charset="-122"/>
              </a:rPr>
              <a:t>)</a:t>
            </a:r>
            <a:r>
              <a:rPr kumimoji="1" lang="en-US" altLang="zh-CN" sz="2800" b="1" kern="0" baseline="-25000" dirty="0">
                <a:solidFill>
                  <a:srgbClr val="000000"/>
                </a:solidFill>
                <a:ea typeface="楷体_GB2312" pitchFamily="49" charset="-122"/>
              </a:rPr>
              <a:t>4</a:t>
            </a:r>
            <a:r>
              <a:rPr kumimoji="1" lang="en-US" altLang="zh-CN" sz="2800" b="1" kern="0" dirty="0">
                <a:solidFill>
                  <a:srgbClr val="000000"/>
                </a:solidFill>
                <a:ea typeface="楷体_GB2312" pitchFamily="49" charset="-122"/>
              </a:rPr>
              <a:t>]SO</a:t>
            </a:r>
            <a:r>
              <a:rPr kumimoji="1" lang="en-US" altLang="zh-CN" sz="2800" b="1" kern="0" baseline="-25000" dirty="0">
                <a:solidFill>
                  <a:srgbClr val="000000"/>
                </a:solidFill>
                <a:ea typeface="楷体_GB2312" pitchFamily="49" charset="-122"/>
              </a:rPr>
              <a:t>4</a:t>
            </a:r>
            <a:r>
              <a:rPr kumimoji="1" lang="en-US" altLang="zh-CN" sz="2800" b="1" kern="0" dirty="0">
                <a:solidFill>
                  <a:srgbClr val="000000"/>
                </a:solidFill>
                <a:ea typeface="楷体_GB2312" pitchFamily="49" charset="-122"/>
              </a:rPr>
              <a:t> </a:t>
            </a:r>
            <a:endParaRPr kumimoji="1" lang="zh-CN" altLang="en-US" sz="2800" b="1" kern="0" dirty="0">
              <a:solidFill>
                <a:srgbClr val="000000"/>
              </a:solidFill>
              <a:ea typeface="楷体_GB2312" pitchFamily="49" charset="-122"/>
            </a:endParaRPr>
          </a:p>
        </p:txBody>
      </p:sp>
      <p:sp>
        <p:nvSpPr>
          <p:cNvPr id="20" name="右箭头 19"/>
          <p:cNvSpPr/>
          <p:nvPr/>
        </p:nvSpPr>
        <p:spPr>
          <a:xfrm>
            <a:off x="504453" y="4437801"/>
            <a:ext cx="1800000" cy="15848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p:cNvSpPr txBox="1"/>
          <p:nvPr/>
        </p:nvSpPr>
        <p:spPr>
          <a:xfrm>
            <a:off x="553899" y="3984879"/>
            <a:ext cx="1701107" cy="523220"/>
          </a:xfrm>
          <a:prstGeom prst="rect">
            <a:avLst/>
          </a:prstGeom>
          <a:noFill/>
        </p:spPr>
        <p:txBody>
          <a:bodyPr wrap="none" rtlCol="0">
            <a:spAutoFit/>
          </a:bodyPr>
          <a:lstStyle/>
          <a:p>
            <a:pPr marL="514350" indent="-514350">
              <a:buFont typeface="+mj-ea"/>
              <a:buAutoNum type="circleNumDbPlain"/>
            </a:pPr>
            <a:r>
              <a:rPr lang="en-US" altLang="zh-CN" sz="2800" b="1" dirty="0" err="1">
                <a:ea typeface="楷体_GB2312"/>
              </a:rPr>
              <a:t>NaOH</a:t>
            </a:r>
            <a:endParaRPr lang="zh-CN" altLang="en-US" sz="2800" b="1" dirty="0">
              <a:ea typeface="楷体_GB2312"/>
            </a:endParaRPr>
          </a:p>
        </p:txBody>
      </p:sp>
      <p:sp>
        <p:nvSpPr>
          <p:cNvPr id="22" name="文本框 21"/>
          <p:cNvSpPr txBox="1"/>
          <p:nvPr/>
        </p:nvSpPr>
        <p:spPr>
          <a:xfrm>
            <a:off x="525964" y="4578397"/>
            <a:ext cx="1351652" cy="523220"/>
          </a:xfrm>
          <a:prstGeom prst="rect">
            <a:avLst/>
          </a:prstGeom>
          <a:noFill/>
        </p:spPr>
        <p:txBody>
          <a:bodyPr wrap="none" rtlCol="0">
            <a:spAutoFit/>
          </a:bodyPr>
          <a:lstStyle/>
          <a:p>
            <a:r>
              <a:rPr lang="en-US" altLang="zh-CN" sz="2800" b="1" dirty="0">
                <a:ea typeface="楷体_GB2312"/>
              </a:rPr>
              <a:t>2 BaCl</a:t>
            </a:r>
            <a:r>
              <a:rPr lang="en-US" altLang="zh-CN" sz="2800" b="1" baseline="-25000" dirty="0">
                <a:ea typeface="楷体_GB2312"/>
              </a:rPr>
              <a:t>2</a:t>
            </a:r>
            <a:endParaRPr lang="zh-CN" altLang="en-US" sz="2800" b="1" baseline="-25000" dirty="0">
              <a:ea typeface="楷体_GB2312"/>
            </a:endParaRPr>
          </a:p>
        </p:txBody>
      </p:sp>
      <p:pic>
        <p:nvPicPr>
          <p:cNvPr id="25" name="图片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7506" y="3933654"/>
            <a:ext cx="2318238" cy="1686518"/>
          </a:xfrm>
          <a:prstGeom prst="rect">
            <a:avLst/>
          </a:prstGeom>
        </p:spPr>
      </p:pic>
      <p:sp>
        <p:nvSpPr>
          <p:cNvPr id="3" name="文本框 2"/>
          <p:cNvSpPr txBox="1"/>
          <p:nvPr/>
        </p:nvSpPr>
        <p:spPr>
          <a:xfrm>
            <a:off x="2448040" y="3993825"/>
            <a:ext cx="7015551"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2800" b="1" dirty="0" err="1">
                <a:ea typeface="楷体_GB2312"/>
              </a:rPr>
              <a:t>NaOH</a:t>
            </a:r>
            <a:r>
              <a:rPr lang="en-US" altLang="zh-CN" sz="2800" b="1" dirty="0">
                <a:ea typeface="楷体_GB2312"/>
              </a:rPr>
              <a:t> </a:t>
            </a:r>
            <a:r>
              <a:rPr lang="zh-CN" altLang="en-US" sz="2800" b="1" dirty="0">
                <a:ea typeface="楷体_GB2312"/>
              </a:rPr>
              <a:t>无</a:t>
            </a:r>
            <a:r>
              <a:rPr kumimoji="1" lang="en-US" altLang="zh-CN" sz="2800" b="1" kern="0" dirty="0">
                <a:solidFill>
                  <a:srgbClr val="000000"/>
                </a:solidFill>
                <a:ea typeface="楷体_GB2312" pitchFamily="49" charset="-122"/>
              </a:rPr>
              <a:t>Cu(OH)</a:t>
            </a:r>
            <a:r>
              <a:rPr kumimoji="1" lang="en-US" altLang="zh-CN" sz="2800" b="1" kern="0" baseline="-25000" dirty="0">
                <a:solidFill>
                  <a:srgbClr val="000000"/>
                </a:solidFill>
                <a:ea typeface="楷体_GB2312" pitchFamily="49" charset="-122"/>
              </a:rPr>
              <a:t>2</a:t>
            </a:r>
            <a:r>
              <a:rPr kumimoji="1" lang="zh-CN" altLang="en-US" sz="2800" b="1" kern="0" dirty="0">
                <a:solidFill>
                  <a:srgbClr val="000000"/>
                </a:solidFill>
                <a:ea typeface="楷体_GB2312" pitchFamily="49" charset="-122"/>
              </a:rPr>
              <a:t>沉淀 表明无游离</a:t>
            </a:r>
            <a:r>
              <a:rPr kumimoji="1" lang="en-US" altLang="zh-CN" sz="2800" b="1" kern="0" dirty="0">
                <a:solidFill>
                  <a:srgbClr val="000000"/>
                </a:solidFill>
                <a:ea typeface="楷体_GB2312" pitchFamily="49" charset="-122"/>
              </a:rPr>
              <a:t>Cu</a:t>
            </a:r>
            <a:r>
              <a:rPr kumimoji="1" lang="en-US" altLang="zh-CN" sz="2800" b="1" kern="0" baseline="30000" dirty="0">
                <a:solidFill>
                  <a:srgbClr val="000000"/>
                </a:solidFill>
                <a:ea typeface="楷体_GB2312" pitchFamily="49" charset="-122"/>
              </a:rPr>
              <a:t>2+</a:t>
            </a:r>
            <a:endParaRPr lang="zh-CN" altLang="en-US" kern="0" baseline="30000" dirty="0">
              <a:solidFill>
                <a:sysClr val="windowText" lastClr="000000"/>
              </a:solidFill>
            </a:endParaRPr>
          </a:p>
        </p:txBody>
      </p:sp>
      <p:sp>
        <p:nvSpPr>
          <p:cNvPr id="23" name="文本框 22"/>
          <p:cNvSpPr txBox="1"/>
          <p:nvPr/>
        </p:nvSpPr>
        <p:spPr>
          <a:xfrm>
            <a:off x="2523853" y="4758726"/>
            <a:ext cx="7015551"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2800" b="1" dirty="0">
                <a:ea typeface="楷体_GB2312"/>
              </a:rPr>
              <a:t>BaCl</a:t>
            </a:r>
            <a:r>
              <a:rPr lang="en-US" altLang="zh-CN" sz="2800" b="1" baseline="-25000" dirty="0">
                <a:ea typeface="楷体_GB2312"/>
              </a:rPr>
              <a:t>2</a:t>
            </a:r>
            <a:r>
              <a:rPr lang="en-US" altLang="zh-CN" sz="2800" b="1" dirty="0">
                <a:ea typeface="楷体_GB2312"/>
              </a:rPr>
              <a:t> </a:t>
            </a:r>
            <a:r>
              <a:rPr lang="zh-CN" altLang="en-US" sz="2800" b="1" dirty="0">
                <a:ea typeface="楷体_GB2312"/>
              </a:rPr>
              <a:t>有</a:t>
            </a:r>
            <a:r>
              <a:rPr lang="en-US" altLang="zh-CN" sz="2800" b="1" dirty="0">
                <a:ea typeface="楷体_GB2312"/>
              </a:rPr>
              <a:t>BaSO</a:t>
            </a:r>
            <a:r>
              <a:rPr lang="en-US" altLang="zh-CN" sz="2800" b="1" baseline="-25000" dirty="0">
                <a:ea typeface="楷体_GB2312"/>
              </a:rPr>
              <a:t>4</a:t>
            </a:r>
            <a:r>
              <a:rPr kumimoji="1" lang="zh-CN" altLang="en-US" sz="2800" b="1" kern="0" dirty="0">
                <a:solidFill>
                  <a:srgbClr val="000000"/>
                </a:solidFill>
                <a:ea typeface="楷体_GB2312" pitchFamily="49" charset="-122"/>
              </a:rPr>
              <a:t>沉淀 表明有游离</a:t>
            </a:r>
            <a:r>
              <a:rPr kumimoji="1" lang="en-US" altLang="zh-CN" sz="2800" b="1" kern="0" dirty="0">
                <a:solidFill>
                  <a:srgbClr val="000000"/>
                </a:solidFill>
                <a:ea typeface="楷体_GB2312" pitchFamily="49" charset="-122"/>
              </a:rPr>
              <a:t>SO</a:t>
            </a:r>
            <a:r>
              <a:rPr kumimoji="1" lang="en-US" altLang="zh-CN" sz="2800" b="1" kern="0" baseline="-25000" dirty="0">
                <a:solidFill>
                  <a:srgbClr val="000000"/>
                </a:solidFill>
                <a:ea typeface="楷体_GB2312" pitchFamily="49" charset="-122"/>
              </a:rPr>
              <a:t>4</a:t>
            </a:r>
            <a:r>
              <a:rPr kumimoji="1" lang="en-US" altLang="zh-CN" sz="2800" b="1" kern="0" baseline="30000" dirty="0">
                <a:solidFill>
                  <a:srgbClr val="000000"/>
                </a:solidFill>
                <a:ea typeface="楷体_GB2312" pitchFamily="49" charset="-122"/>
              </a:rPr>
              <a:t>2+</a:t>
            </a:r>
            <a:endParaRPr lang="zh-CN" altLang="en-US" kern="0" baseline="30000" dirty="0">
              <a:solidFill>
                <a:sysClr val="windowText" lastClr="000000"/>
              </a:solidFill>
            </a:endParaRPr>
          </a:p>
        </p:txBody>
      </p:sp>
      <p:sp>
        <p:nvSpPr>
          <p:cNvPr id="24" name="文本框 23"/>
          <p:cNvSpPr txBox="1"/>
          <p:nvPr/>
        </p:nvSpPr>
        <p:spPr>
          <a:xfrm>
            <a:off x="7459101" y="1414674"/>
            <a:ext cx="3236936" cy="1815882"/>
          </a:xfrm>
          <a:prstGeom prst="rect">
            <a:avLst/>
          </a:prstGeom>
          <a:solidFill>
            <a:srgbClr val="FFFF00"/>
          </a:solidFill>
        </p:spPr>
        <p:txBody>
          <a:bodyPr wrap="square" rtlCol="0">
            <a:spAutoFit/>
          </a:bodyPr>
          <a:lstStyle/>
          <a:p>
            <a:r>
              <a:rPr lang="en-US" altLang="zh-CN" sz="2800" b="1" dirty="0">
                <a:ea typeface="楷体_GB2312"/>
              </a:rPr>
              <a:t>Cu</a:t>
            </a:r>
            <a:r>
              <a:rPr lang="en-US" altLang="zh-CN" sz="2800" b="1" baseline="30000" dirty="0">
                <a:ea typeface="楷体_GB2312"/>
              </a:rPr>
              <a:t>2+</a:t>
            </a:r>
            <a:r>
              <a:rPr lang="zh-CN" altLang="en-US" sz="2800" b="1" dirty="0">
                <a:ea typeface="楷体_GB2312"/>
              </a:rPr>
              <a:t>与</a:t>
            </a:r>
            <a:r>
              <a:rPr lang="en-US" altLang="zh-CN" sz="2800" b="1" dirty="0">
                <a:ea typeface="楷体_GB2312"/>
              </a:rPr>
              <a:t>NH</a:t>
            </a:r>
            <a:r>
              <a:rPr lang="en-US" altLang="zh-CN" sz="2800" b="1" baseline="-25000" dirty="0">
                <a:ea typeface="楷体_GB2312"/>
              </a:rPr>
              <a:t>3</a:t>
            </a:r>
            <a:r>
              <a:rPr lang="zh-CN" altLang="en-US" sz="2800" b="1" dirty="0">
                <a:ea typeface="楷体_GB2312"/>
              </a:rPr>
              <a:t>存在特殊化学键即</a:t>
            </a:r>
            <a:r>
              <a:rPr lang="zh-CN" altLang="en-US" sz="2800" b="1" dirty="0">
                <a:solidFill>
                  <a:srgbClr val="FF0000"/>
                </a:solidFill>
                <a:ea typeface="楷体_GB2312"/>
              </a:rPr>
              <a:t>配位键</a:t>
            </a:r>
            <a:endParaRPr lang="en-US" altLang="zh-CN" sz="2800" b="1" dirty="0">
              <a:solidFill>
                <a:srgbClr val="FF0000"/>
              </a:solidFill>
              <a:ea typeface="楷体_GB2312"/>
            </a:endParaRPr>
          </a:p>
          <a:p>
            <a:r>
              <a:rPr lang="en-US" altLang="zh-CN" sz="2800" b="1" dirty="0">
                <a:ea typeface="楷体_GB2312"/>
              </a:rPr>
              <a:t>[Cu(NH</a:t>
            </a:r>
            <a:r>
              <a:rPr lang="en-US" altLang="zh-CN" sz="2800" b="1" baseline="-25000" dirty="0">
                <a:ea typeface="楷体_GB2312"/>
              </a:rPr>
              <a:t>3</a:t>
            </a:r>
            <a:r>
              <a:rPr lang="en-US" altLang="zh-CN" sz="2800" b="1" dirty="0">
                <a:ea typeface="楷体_GB2312"/>
              </a:rPr>
              <a:t>)</a:t>
            </a:r>
            <a:r>
              <a:rPr lang="en-US" altLang="zh-CN" sz="2800" b="1" baseline="-25000" dirty="0">
                <a:ea typeface="楷体_GB2312"/>
              </a:rPr>
              <a:t>4</a:t>
            </a:r>
            <a:r>
              <a:rPr lang="en-US" altLang="zh-CN" sz="2800" b="1" dirty="0">
                <a:ea typeface="楷体_GB2312"/>
              </a:rPr>
              <a:t>] </a:t>
            </a:r>
            <a:r>
              <a:rPr lang="en-US" altLang="zh-CN" sz="2800" b="1" baseline="30000" dirty="0">
                <a:ea typeface="楷体_GB2312"/>
              </a:rPr>
              <a:t>2+</a:t>
            </a:r>
            <a:r>
              <a:rPr lang="zh-CN" altLang="en-US" sz="2800" b="1" dirty="0">
                <a:ea typeface="楷体_GB2312"/>
              </a:rPr>
              <a:t>与</a:t>
            </a:r>
            <a:r>
              <a:rPr lang="en-US" altLang="zh-CN" sz="2800" b="1" dirty="0">
                <a:ea typeface="楷体_GB2312"/>
              </a:rPr>
              <a:t>SO</a:t>
            </a:r>
            <a:r>
              <a:rPr lang="en-US" altLang="zh-CN" sz="2800" b="1" baseline="-25000" dirty="0">
                <a:ea typeface="楷体_GB2312"/>
              </a:rPr>
              <a:t>4</a:t>
            </a:r>
            <a:r>
              <a:rPr lang="en-US" altLang="zh-CN" sz="2800" b="1" baseline="30000" dirty="0">
                <a:ea typeface="楷体_GB2312"/>
              </a:rPr>
              <a:t>2-</a:t>
            </a:r>
            <a:r>
              <a:rPr lang="en-US" altLang="zh-CN" sz="2800" b="1" dirty="0">
                <a:ea typeface="楷体_GB2312"/>
              </a:rPr>
              <a:t> </a:t>
            </a:r>
            <a:r>
              <a:rPr lang="zh-CN" altLang="en-US" sz="2800" b="1" dirty="0">
                <a:ea typeface="楷体_GB2312"/>
              </a:rPr>
              <a:t>存在</a:t>
            </a:r>
            <a:r>
              <a:rPr lang="zh-CN" altLang="en-US" sz="2800" b="1" dirty="0">
                <a:solidFill>
                  <a:srgbClr val="006C2E"/>
                </a:solidFill>
                <a:ea typeface="楷体_GB2312"/>
              </a:rPr>
              <a:t>离子键</a:t>
            </a:r>
            <a:endParaRPr lang="zh-CN" altLang="en-US" sz="2800" dirty="0">
              <a:solidFill>
                <a:srgbClr val="006C2E"/>
              </a:solidFill>
              <a:ea typeface="楷体_GB2312"/>
            </a:endParaRPr>
          </a:p>
        </p:txBody>
      </p:sp>
      <p:sp>
        <p:nvSpPr>
          <p:cNvPr id="11" name="爆炸形 1 10"/>
          <p:cNvSpPr/>
          <p:nvPr/>
        </p:nvSpPr>
        <p:spPr>
          <a:xfrm rot="10800000" flipH="1" flipV="1">
            <a:off x="6625134" y="143744"/>
            <a:ext cx="2160239" cy="1457108"/>
          </a:xfrm>
          <a:prstGeom prst="irregularSeal1">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rgbClr val="FF0000"/>
                </a:solidFill>
                <a:ea typeface="楷体_GB2312"/>
              </a:rPr>
              <a:t>  </a:t>
            </a:r>
            <a:r>
              <a:rPr lang="zh-CN" altLang="en-US" sz="3000" b="1" dirty="0">
                <a:solidFill>
                  <a:srgbClr val="FF0000"/>
                </a:solidFill>
                <a:ea typeface="楷体_GB2312"/>
              </a:rPr>
              <a:t>结果    表明  </a:t>
            </a:r>
            <a:endParaRPr lang="en-US" altLang="zh-CN" sz="3000" b="1" dirty="0">
              <a:solidFill>
                <a:srgbClr val="FF0000"/>
              </a:solidFill>
              <a:ea typeface="楷体_GB2312"/>
            </a:endParaRPr>
          </a:p>
        </p:txBody>
      </p:sp>
    </p:spTree>
    <p:extLst>
      <p:ext uri="{BB962C8B-B14F-4D97-AF65-F5344CB8AC3E}">
        <p14:creationId xmlns:p14="http://schemas.microsoft.com/office/powerpoint/2010/main" val="1720990020"/>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500"/>
                                        <p:tgtEl>
                                          <p:spTgt spid="25"/>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nodeType="clickEffect">
                                  <p:stCondLst>
                                    <p:cond delay="0"/>
                                  </p:stCondLst>
                                  <p:childTnLst>
                                    <p:set>
                                      <p:cBhvr>
                                        <p:cTn id="91" dur="1" fill="hold">
                                          <p:stCondLst>
                                            <p:cond delay="0"/>
                                          </p:stCondLst>
                                        </p:cTn>
                                        <p:tgtEl>
                                          <p:spTgt spid="25"/>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
                                        </p:tgtEl>
                                        <p:attrNameLst>
                                          <p:attrName>style.visibility</p:attrName>
                                        </p:attrNameLst>
                                      </p:cBhvr>
                                      <p:to>
                                        <p:strVal val="visible"/>
                                      </p:to>
                                    </p:set>
                                    <p:animEffect transition="in" filter="fade">
                                      <p:cBhvr>
                                        <p:cTn id="96" dur="500"/>
                                        <p:tgtEl>
                                          <p:spTgt spid="3"/>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500"/>
                                        <p:tgtEl>
                                          <p:spTgt spid="23"/>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11"/>
                                        </p:tgtEl>
                                        <p:attrNameLst>
                                          <p:attrName>style.visibility</p:attrName>
                                        </p:attrNameLst>
                                      </p:cBhvr>
                                      <p:to>
                                        <p:strVal val="visible"/>
                                      </p:to>
                                    </p:set>
                                    <p:animEffect transition="in" filter="fade">
                                      <p:cBhvr>
                                        <p:cTn id="106" dur="500"/>
                                        <p:tgtEl>
                                          <p:spTgt spid="11"/>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24"/>
                                        </p:tgtEl>
                                        <p:attrNameLst>
                                          <p:attrName>style.visibility</p:attrName>
                                        </p:attrNameLst>
                                      </p:cBhvr>
                                      <p:to>
                                        <p:strVal val="visible"/>
                                      </p:to>
                                    </p:set>
                                    <p:animEffect transition="in" filter="fade">
                                      <p:cBhvr>
                                        <p:cTn id="11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P spid="9" grpId="0"/>
      <p:bldP spid="10" grpId="0"/>
      <p:bldP spid="12" grpId="0" animBg="1"/>
      <p:bldP spid="13" grpId="0"/>
      <p:bldP spid="14" grpId="0"/>
      <p:bldP spid="15" grpId="0"/>
      <p:bldP spid="16" grpId="0" animBg="1"/>
      <p:bldP spid="17" grpId="0" animBg="1"/>
      <p:bldP spid="18" grpId="0" animBg="1"/>
      <p:bldP spid="19" grpId="0"/>
      <p:bldP spid="20" grpId="0" animBg="1"/>
      <p:bldP spid="21" grpId="0"/>
      <p:bldP spid="22" grpId="0"/>
      <p:bldP spid="3" grpId="0"/>
      <p:bldP spid="23" grpId="0"/>
      <p:bldP spid="24"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AutoShape 51">
            <a:hlinkClick r:id="rId2" action="ppaction://hlinksldjump" highlightClick="1"/>
          </p:cNvPr>
          <p:cNvSpPr>
            <a:spLocks noChangeAspect="1" noChangeArrowheads="1"/>
          </p:cNvSpPr>
          <p:nvPr/>
        </p:nvSpPr>
        <p:spPr bwMode="auto">
          <a:xfrm>
            <a:off x="2974975" y="2025650"/>
            <a:ext cx="544513" cy="407988"/>
          </a:xfrm>
          <a:prstGeom prst="actionButtonForwardNext">
            <a:avLst/>
          </a:prstGeom>
          <a:solidFill>
            <a:srgbClr val="C0C0C0"/>
          </a:solidFill>
          <a:ln w="9525">
            <a:noFill/>
            <a:miter lim="800000"/>
            <a:headEnd/>
            <a:tailEnd/>
          </a:ln>
        </p:spPr>
        <p:txBody>
          <a:bodyPr wrap="none" anchor="ctr"/>
          <a:lstStyle/>
          <a:p>
            <a:endParaRPr lang="zh-CN" altLang="en-US">
              <a:ea typeface="楷体_GB2312" pitchFamily="49" charset="-122"/>
            </a:endParaRPr>
          </a:p>
        </p:txBody>
      </p:sp>
      <p:sp>
        <p:nvSpPr>
          <p:cNvPr id="6147" name="AutoShape 52">
            <a:hlinkClick r:id="rId3" action="ppaction://hlinksldjump" highlightClick="1"/>
          </p:cNvPr>
          <p:cNvSpPr>
            <a:spLocks noChangeAspect="1" noChangeArrowheads="1"/>
          </p:cNvSpPr>
          <p:nvPr/>
        </p:nvSpPr>
        <p:spPr bwMode="auto">
          <a:xfrm>
            <a:off x="2974975" y="2954338"/>
            <a:ext cx="544513" cy="407987"/>
          </a:xfrm>
          <a:prstGeom prst="actionButtonForwardNext">
            <a:avLst/>
          </a:prstGeom>
          <a:solidFill>
            <a:srgbClr val="C0C0C0"/>
          </a:solidFill>
          <a:ln w="9525">
            <a:noFill/>
            <a:miter lim="800000"/>
            <a:headEnd/>
            <a:tailEnd/>
          </a:ln>
        </p:spPr>
        <p:txBody>
          <a:bodyPr wrap="none" anchor="ctr"/>
          <a:lstStyle/>
          <a:p>
            <a:endParaRPr lang="zh-CN" altLang="en-US">
              <a:ea typeface="楷体_GB2312" pitchFamily="49" charset="-122"/>
            </a:endParaRPr>
          </a:p>
        </p:txBody>
      </p:sp>
      <p:sp>
        <p:nvSpPr>
          <p:cNvPr id="6148" name="AutoShape 53">
            <a:hlinkClick r:id="rId4" action="ppaction://hlinksldjump" highlightClick="1"/>
          </p:cNvPr>
          <p:cNvSpPr>
            <a:spLocks noChangeAspect="1" noChangeArrowheads="1"/>
          </p:cNvSpPr>
          <p:nvPr/>
        </p:nvSpPr>
        <p:spPr bwMode="auto">
          <a:xfrm>
            <a:off x="2974975" y="3883025"/>
            <a:ext cx="544513" cy="407988"/>
          </a:xfrm>
          <a:prstGeom prst="actionButtonForwardNext">
            <a:avLst/>
          </a:prstGeom>
          <a:solidFill>
            <a:srgbClr val="C0C0C0"/>
          </a:solidFill>
          <a:ln w="9525">
            <a:noFill/>
            <a:miter lim="800000"/>
            <a:headEnd/>
            <a:tailEnd/>
          </a:ln>
        </p:spPr>
        <p:txBody>
          <a:bodyPr wrap="none" anchor="ctr"/>
          <a:lstStyle/>
          <a:p>
            <a:endParaRPr lang="zh-CN" altLang="en-US">
              <a:ea typeface="楷体_GB2312" pitchFamily="49" charset="-122"/>
            </a:endParaRPr>
          </a:p>
        </p:txBody>
      </p:sp>
      <p:sp>
        <p:nvSpPr>
          <p:cNvPr id="8246" name="Rectangle 54"/>
          <p:cNvSpPr>
            <a:spLocks noChangeArrowheads="1"/>
          </p:cNvSpPr>
          <p:nvPr/>
        </p:nvSpPr>
        <p:spPr bwMode="auto">
          <a:xfrm>
            <a:off x="3536950" y="1597025"/>
            <a:ext cx="5856288" cy="2881313"/>
          </a:xfrm>
          <a:prstGeom prst="rect">
            <a:avLst/>
          </a:prstGeom>
          <a:noFill/>
          <a:ln w="9525">
            <a:noFill/>
            <a:miter lim="800000"/>
            <a:headEnd/>
            <a:tailEnd/>
          </a:ln>
        </p:spPr>
        <p:txBody>
          <a:bodyPr/>
          <a:lstStyle/>
          <a:p>
            <a:pPr>
              <a:lnSpc>
                <a:spcPct val="220000"/>
              </a:lnSpc>
            </a:pPr>
            <a:r>
              <a:rPr lang="en-US" altLang="zh-CN" sz="2800" b="1" dirty="0">
                <a:ea typeface="黑体" pitchFamily="49" charset="-122"/>
              </a:rPr>
              <a:t>6.1.1</a:t>
            </a:r>
            <a:r>
              <a:rPr lang="zh-CN" altLang="en-US" sz="2800" b="1" dirty="0">
                <a:ea typeface="黑体" pitchFamily="49" charset="-122"/>
              </a:rPr>
              <a:t>配合物及其组成</a:t>
            </a:r>
          </a:p>
          <a:p>
            <a:pPr>
              <a:lnSpc>
                <a:spcPct val="220000"/>
              </a:lnSpc>
            </a:pPr>
            <a:r>
              <a:rPr lang="en-US" altLang="zh-CN" sz="2800" b="1" dirty="0">
                <a:ea typeface="黑体" pitchFamily="49" charset="-122"/>
              </a:rPr>
              <a:t>6.1.2</a:t>
            </a:r>
            <a:r>
              <a:rPr lang="zh-CN" altLang="en-US" sz="2800" b="1" dirty="0">
                <a:ea typeface="黑体" pitchFamily="49" charset="-122"/>
              </a:rPr>
              <a:t>螯合物</a:t>
            </a:r>
          </a:p>
          <a:p>
            <a:pPr>
              <a:lnSpc>
                <a:spcPct val="220000"/>
              </a:lnSpc>
            </a:pPr>
            <a:r>
              <a:rPr lang="en-US" altLang="zh-CN" sz="2800" b="1" dirty="0">
                <a:ea typeface="黑体" pitchFamily="49" charset="-122"/>
              </a:rPr>
              <a:t>6.1.3</a:t>
            </a:r>
            <a:r>
              <a:rPr lang="zh-CN" altLang="en-US" sz="2800" b="1" dirty="0">
                <a:ea typeface="黑体" pitchFamily="49" charset="-122"/>
              </a:rPr>
              <a:t>配合物的命名</a:t>
            </a:r>
          </a:p>
        </p:txBody>
      </p:sp>
      <p:sp>
        <p:nvSpPr>
          <p:cNvPr id="6150" name="Rectangle 61"/>
          <p:cNvSpPr>
            <a:spLocks noGrp="1" noChangeArrowheads="1"/>
          </p:cNvSpPr>
          <p:nvPr>
            <p:ph type="title"/>
          </p:nvPr>
        </p:nvSpPr>
        <p:spPr>
          <a:xfrm>
            <a:off x="576263" y="258763"/>
            <a:ext cx="10369550" cy="431800"/>
          </a:xfrm>
          <a:noFill/>
        </p:spPr>
        <p:txBody>
          <a:bodyPr/>
          <a:lstStyle/>
          <a:p>
            <a:r>
              <a:rPr lang="en-US" altLang="zh-CN">
                <a:solidFill>
                  <a:srgbClr val="FF3300"/>
                </a:solidFill>
                <a:ea typeface="黑体" pitchFamily="49" charset="-122"/>
              </a:rPr>
              <a:t>6.1 </a:t>
            </a:r>
            <a:r>
              <a:rPr lang="zh-CN" altLang="en-US">
                <a:solidFill>
                  <a:srgbClr val="FF3300"/>
                </a:solidFill>
                <a:ea typeface="黑体" pitchFamily="49" charset="-122"/>
              </a:rPr>
              <a:t>配合物与螯合物</a:t>
            </a:r>
            <a:endParaRPr lang="zh-CN" altLang="en-US" sz="1400" b="0">
              <a:solidFill>
                <a:srgbClr val="FF3300"/>
              </a:solidFill>
              <a:ea typeface="黑体" pitchFamily="49" charset="-122"/>
            </a:endParaRPr>
          </a:p>
        </p:txBody>
      </p:sp>
      <p:sp>
        <p:nvSpPr>
          <p:cNvPr id="6151"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a:p>
        </p:txBody>
      </p:sp>
      <p:sp>
        <p:nvSpPr>
          <p:cNvPr id="6152"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6"/>
            <a:srcRect/>
            <a:stretch>
              <a:fillRect/>
            </a:stretch>
          </a:blipFill>
          <a:ln w="9525">
            <a:solidFill>
              <a:srgbClr val="808080"/>
            </a:solidFill>
            <a:round/>
            <a:headEnd/>
            <a:tailEnd/>
          </a:ln>
        </p:spPr>
        <p:txBody>
          <a:bodyPr wrap="none" anchor="ctr"/>
          <a:lstStyle/>
          <a:p>
            <a:endParaRPr lang="zh-CN" altLang="en-US"/>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46">
                                            <p:txEl>
                                              <p:pRg st="0" end="0"/>
                                            </p:txEl>
                                          </p:spTgt>
                                        </p:tgtEl>
                                        <p:attrNameLst>
                                          <p:attrName>style.visibility</p:attrName>
                                        </p:attrNameLst>
                                      </p:cBhvr>
                                      <p:to>
                                        <p:strVal val="visible"/>
                                      </p:to>
                                    </p:set>
                                    <p:animEffect transition="in" filter="blinds(horizontal)">
                                      <p:cBhvr>
                                        <p:cTn id="7" dur="500"/>
                                        <p:tgtEl>
                                          <p:spTgt spid="82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246">
                                            <p:txEl>
                                              <p:pRg st="1" end="1"/>
                                            </p:txEl>
                                          </p:spTgt>
                                        </p:tgtEl>
                                        <p:attrNameLst>
                                          <p:attrName>style.visibility</p:attrName>
                                        </p:attrNameLst>
                                      </p:cBhvr>
                                      <p:to>
                                        <p:strVal val="visible"/>
                                      </p:to>
                                    </p:set>
                                    <p:animEffect transition="in" filter="blinds(horizontal)">
                                      <p:cBhvr>
                                        <p:cTn id="12" dur="500"/>
                                        <p:tgtEl>
                                          <p:spTgt spid="82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246">
                                            <p:txEl>
                                              <p:pRg st="2" end="2"/>
                                            </p:txEl>
                                          </p:spTgt>
                                        </p:tgtEl>
                                        <p:attrNameLst>
                                          <p:attrName>style.visibility</p:attrName>
                                        </p:attrNameLst>
                                      </p:cBhvr>
                                      <p:to>
                                        <p:strVal val="visible"/>
                                      </p:to>
                                    </p:set>
                                    <p:animEffect transition="in" filter="blinds(horizontal)">
                                      <p:cBhvr>
                                        <p:cTn id="17" dur="500"/>
                                        <p:tgtEl>
                                          <p:spTgt spid="824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9" name="Rectangle 28"/>
          <p:cNvSpPr>
            <a:spLocks noGrp="1" noChangeArrowheads="1"/>
          </p:cNvSpPr>
          <p:nvPr>
            <p:ph type="title"/>
          </p:nvPr>
        </p:nvSpPr>
        <p:spPr>
          <a:xfrm>
            <a:off x="576263" y="258763"/>
            <a:ext cx="10369550" cy="431800"/>
          </a:xfrm>
          <a:noFill/>
        </p:spPr>
        <p:txBody>
          <a:bodyPr/>
          <a:lstStyle/>
          <a:p>
            <a:r>
              <a:rPr lang="en-US" altLang="zh-CN">
                <a:ea typeface="黑体" pitchFamily="49" charset="-122"/>
              </a:rPr>
              <a:t>6.1.1 </a:t>
            </a:r>
            <a:r>
              <a:rPr lang="zh-CN" altLang="en-US">
                <a:ea typeface="黑体" pitchFamily="49" charset="-122"/>
              </a:rPr>
              <a:t>配合物及其组成</a:t>
            </a:r>
            <a:endParaRPr lang="zh-CN" altLang="en-US" sz="1200" b="0">
              <a:solidFill>
                <a:srgbClr val="0000FF"/>
              </a:solidFill>
              <a:ea typeface="黑体" pitchFamily="49" charset="-122"/>
            </a:endParaRPr>
          </a:p>
        </p:txBody>
      </p:sp>
      <p:sp>
        <p:nvSpPr>
          <p:cNvPr id="50207" name="Rectangle 31"/>
          <p:cNvSpPr>
            <a:spLocks noChangeArrowheads="1"/>
          </p:cNvSpPr>
          <p:nvPr/>
        </p:nvSpPr>
        <p:spPr bwMode="auto">
          <a:xfrm>
            <a:off x="559594" y="3270859"/>
            <a:ext cx="1258887" cy="476250"/>
          </a:xfrm>
          <a:prstGeom prst="rect">
            <a:avLst/>
          </a:prstGeom>
          <a:noFill/>
          <a:ln w="9525">
            <a:noFill/>
            <a:miter lim="800000"/>
            <a:headEnd/>
            <a:tailEnd/>
          </a:ln>
        </p:spPr>
        <p:txBody>
          <a:bodyPr wrap="none">
            <a:spAutoFit/>
          </a:bodyPr>
          <a:lstStyle/>
          <a:p>
            <a:pPr>
              <a:spcBef>
                <a:spcPct val="50000"/>
              </a:spcBef>
            </a:pPr>
            <a:r>
              <a:rPr lang="zh-CN" altLang="en-US" sz="2500" b="1" dirty="0">
                <a:solidFill>
                  <a:schemeClr val="tx2"/>
                </a:solidFill>
                <a:ea typeface="楷体_GB2312" pitchFamily="49" charset="-122"/>
              </a:rPr>
              <a:t>配合物</a:t>
            </a:r>
            <a:r>
              <a:rPr lang="en-US" altLang="zh-CN" sz="2500" b="1" dirty="0">
                <a:solidFill>
                  <a:schemeClr val="tx2"/>
                </a:solidFill>
                <a:ea typeface="楷体_GB2312" pitchFamily="49" charset="-122"/>
              </a:rPr>
              <a:t>:</a:t>
            </a:r>
          </a:p>
        </p:txBody>
      </p:sp>
      <p:sp>
        <p:nvSpPr>
          <p:cNvPr id="50208" name="Rectangle 32"/>
          <p:cNvSpPr>
            <a:spLocks noChangeArrowheads="1"/>
          </p:cNvSpPr>
          <p:nvPr/>
        </p:nvSpPr>
        <p:spPr bwMode="auto">
          <a:xfrm>
            <a:off x="576263" y="3257921"/>
            <a:ext cx="10778978" cy="523220"/>
          </a:xfrm>
          <a:prstGeom prst="rect">
            <a:avLst/>
          </a:prstGeom>
          <a:noFill/>
          <a:ln w="9525">
            <a:noFill/>
            <a:miter lim="800000"/>
            <a:headEnd/>
            <a:tailEnd/>
          </a:ln>
        </p:spPr>
        <p:txBody>
          <a:bodyPr wrap="square">
            <a:spAutoFit/>
          </a:bodyPr>
          <a:lstStyle/>
          <a:p>
            <a:pPr>
              <a:spcBef>
                <a:spcPct val="50000"/>
              </a:spcBef>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中心离子</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或原子</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与配体以</a:t>
            </a:r>
            <a:r>
              <a:rPr lang="zh-CN" altLang="en-US" sz="2800" b="1" dirty="0">
                <a:solidFill>
                  <a:srgbClr val="FF0000"/>
                </a:solidFill>
                <a:latin typeface="楷体_GB2312" pitchFamily="49" charset="-122"/>
                <a:ea typeface="楷体_GB2312" pitchFamily="49" charset="-122"/>
              </a:rPr>
              <a:t>配位键</a:t>
            </a:r>
            <a:r>
              <a:rPr lang="zh-CN" altLang="en-US" sz="2800" b="1" dirty="0">
                <a:latin typeface="楷体_GB2312" pitchFamily="49" charset="-122"/>
                <a:ea typeface="楷体_GB2312" pitchFamily="49" charset="-122"/>
              </a:rPr>
              <a:t>结合所形成的复杂化合物</a:t>
            </a:r>
            <a:r>
              <a:rPr lang="en-US" altLang="zh-CN" sz="2800" b="1" dirty="0">
                <a:latin typeface="楷体_GB2312" pitchFamily="49" charset="-122"/>
                <a:ea typeface="楷体_GB2312" pitchFamily="49" charset="-122"/>
              </a:rPr>
              <a:t>.</a:t>
            </a:r>
          </a:p>
        </p:txBody>
      </p:sp>
      <p:sp>
        <p:nvSpPr>
          <p:cNvPr id="7192"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2"/>
            <a:srcRect/>
            <a:stretch>
              <a:fillRect/>
            </a:stretch>
          </a:blipFill>
          <a:ln w="9525">
            <a:solidFill>
              <a:srgbClr val="808080"/>
            </a:solidFill>
            <a:round/>
            <a:headEnd/>
            <a:tailEnd/>
          </a:ln>
        </p:spPr>
        <p:txBody>
          <a:bodyPr wrap="none" anchor="ctr"/>
          <a:lstStyle/>
          <a:p>
            <a:endParaRPr lang="zh-CN" altLang="en-US"/>
          </a:p>
        </p:txBody>
      </p:sp>
      <p:sp>
        <p:nvSpPr>
          <p:cNvPr id="7193"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3"/>
            <a:srcRect/>
            <a:stretch>
              <a:fillRect/>
            </a:stretch>
          </a:blipFill>
          <a:ln w="9525">
            <a:solidFill>
              <a:srgbClr val="808080"/>
            </a:solidFill>
            <a:round/>
            <a:headEnd/>
            <a:tailEnd/>
          </a:ln>
        </p:spPr>
        <p:txBody>
          <a:bodyPr wrap="none" anchor="ctr"/>
          <a:lstStyle/>
          <a:p>
            <a:endParaRPr lang="zh-CN" altLang="en-US"/>
          </a:p>
        </p:txBody>
      </p:sp>
      <p:sp>
        <p:nvSpPr>
          <p:cNvPr id="27" name="矩形 26"/>
          <p:cNvSpPr/>
          <p:nvPr/>
        </p:nvSpPr>
        <p:spPr>
          <a:xfrm>
            <a:off x="6884371" y="1728042"/>
            <a:ext cx="1108914" cy="523220"/>
          </a:xfrm>
          <a:prstGeom prst="rect">
            <a:avLst/>
          </a:prstGeom>
        </p:spPr>
        <p:txBody>
          <a:bodyPr wrap="square">
            <a:spAutoFit/>
          </a:bodyPr>
          <a:lstStyle/>
          <a:p>
            <a:r>
              <a:rPr lang="en-US" altLang="zh-CN" sz="2800" b="1" dirty="0"/>
              <a:t>SO</a:t>
            </a:r>
            <a:r>
              <a:rPr lang="en-US" altLang="zh-CN" sz="2800" b="1" baseline="-25000" dirty="0"/>
              <a:t>4</a:t>
            </a:r>
            <a:r>
              <a:rPr lang="en-US" altLang="zh-CN" sz="2800" b="1" baseline="30000" dirty="0"/>
              <a:t>2-</a:t>
            </a:r>
            <a:r>
              <a:rPr lang="en-US" altLang="zh-CN" sz="2800" b="1" baseline="-25000" dirty="0"/>
              <a:t> </a:t>
            </a:r>
            <a:endParaRPr lang="zh-CN" altLang="en-US" sz="2800" b="1" dirty="0"/>
          </a:p>
        </p:txBody>
      </p:sp>
      <p:sp>
        <p:nvSpPr>
          <p:cNvPr id="28" name="矩形 27"/>
          <p:cNvSpPr/>
          <p:nvPr/>
        </p:nvSpPr>
        <p:spPr>
          <a:xfrm>
            <a:off x="3495906" y="1709260"/>
            <a:ext cx="704039" cy="523220"/>
          </a:xfrm>
          <a:prstGeom prst="rect">
            <a:avLst/>
          </a:prstGeom>
        </p:spPr>
        <p:txBody>
          <a:bodyPr wrap="none">
            <a:spAutoFit/>
          </a:bodyPr>
          <a:lstStyle/>
          <a:p>
            <a:r>
              <a:rPr lang="en-US" altLang="zh-CN" sz="2800" b="1" dirty="0"/>
              <a:t>Cu</a:t>
            </a:r>
            <a:r>
              <a:rPr lang="en-US" altLang="zh-CN" sz="2800" b="1" baseline="-25000" dirty="0"/>
              <a:t> </a:t>
            </a:r>
            <a:endParaRPr lang="zh-CN" altLang="en-US" sz="2800" b="1" dirty="0"/>
          </a:p>
        </p:txBody>
      </p:sp>
      <p:sp>
        <p:nvSpPr>
          <p:cNvPr id="29" name="矩形 28"/>
          <p:cNvSpPr/>
          <p:nvPr/>
        </p:nvSpPr>
        <p:spPr>
          <a:xfrm>
            <a:off x="4069386" y="1689868"/>
            <a:ext cx="1263487" cy="523220"/>
          </a:xfrm>
          <a:prstGeom prst="rect">
            <a:avLst/>
          </a:prstGeom>
        </p:spPr>
        <p:txBody>
          <a:bodyPr wrap="none">
            <a:spAutoFit/>
          </a:bodyPr>
          <a:lstStyle/>
          <a:p>
            <a:r>
              <a:rPr lang="en-US" altLang="zh-CN" sz="2800" b="1" dirty="0"/>
              <a:t>(NH</a:t>
            </a:r>
            <a:r>
              <a:rPr lang="en-US" altLang="zh-CN" sz="2800" b="1" baseline="-25000" dirty="0"/>
              <a:t>3</a:t>
            </a:r>
            <a:r>
              <a:rPr lang="en-US" altLang="zh-CN" sz="2800" b="1" dirty="0"/>
              <a:t>)</a:t>
            </a:r>
            <a:r>
              <a:rPr lang="en-US" altLang="zh-CN" sz="2800" b="1" baseline="-25000" dirty="0"/>
              <a:t>4 </a:t>
            </a:r>
            <a:endParaRPr lang="zh-CN" altLang="en-US" sz="2800" b="1" dirty="0"/>
          </a:p>
        </p:txBody>
      </p:sp>
      <p:sp>
        <p:nvSpPr>
          <p:cNvPr id="30" name="矩形 29"/>
          <p:cNvSpPr/>
          <p:nvPr/>
        </p:nvSpPr>
        <p:spPr>
          <a:xfrm>
            <a:off x="4393204" y="908725"/>
            <a:ext cx="2563522" cy="523220"/>
          </a:xfrm>
          <a:prstGeom prst="rect">
            <a:avLst/>
          </a:prstGeom>
        </p:spPr>
        <p:txBody>
          <a:bodyPr wrap="none">
            <a:spAutoFit/>
          </a:bodyPr>
          <a:lstStyle/>
          <a:p>
            <a:r>
              <a:rPr lang="en-US" altLang="zh-CN" sz="2800" b="1" dirty="0"/>
              <a:t>[Cu(NH</a:t>
            </a:r>
            <a:r>
              <a:rPr lang="en-US" altLang="zh-CN" sz="2800" b="1" baseline="-25000" dirty="0"/>
              <a:t>3</a:t>
            </a:r>
            <a:r>
              <a:rPr lang="en-US" altLang="zh-CN" sz="2800" b="1" dirty="0"/>
              <a:t>)</a:t>
            </a:r>
            <a:r>
              <a:rPr lang="en-US" altLang="zh-CN" sz="2800" b="1" baseline="-25000" dirty="0"/>
              <a:t>4</a:t>
            </a:r>
            <a:r>
              <a:rPr lang="en-US" altLang="zh-CN" sz="2800" b="1" dirty="0"/>
              <a:t>]SO</a:t>
            </a:r>
            <a:r>
              <a:rPr lang="en-US" altLang="zh-CN" sz="2800" b="1" baseline="-25000" dirty="0"/>
              <a:t>4 </a:t>
            </a:r>
            <a:endParaRPr lang="zh-CN" altLang="en-US" sz="2800" b="1" dirty="0"/>
          </a:p>
        </p:txBody>
      </p:sp>
      <p:sp>
        <p:nvSpPr>
          <p:cNvPr id="31" name="矩形 30"/>
          <p:cNvSpPr/>
          <p:nvPr/>
        </p:nvSpPr>
        <p:spPr>
          <a:xfrm>
            <a:off x="3384773" y="1698147"/>
            <a:ext cx="364202" cy="523220"/>
          </a:xfrm>
          <a:prstGeom prst="rect">
            <a:avLst/>
          </a:prstGeom>
        </p:spPr>
        <p:txBody>
          <a:bodyPr wrap="none">
            <a:spAutoFit/>
          </a:bodyPr>
          <a:lstStyle/>
          <a:p>
            <a:r>
              <a:rPr lang="en-US" altLang="zh-CN" sz="2800" b="1" dirty="0"/>
              <a:t>[</a:t>
            </a:r>
            <a:r>
              <a:rPr lang="en-US" altLang="zh-CN" sz="2800" b="1" baseline="-25000" dirty="0"/>
              <a:t> </a:t>
            </a:r>
            <a:endParaRPr lang="zh-CN" altLang="en-US" sz="2800" b="1" dirty="0"/>
          </a:p>
        </p:txBody>
      </p:sp>
      <p:sp>
        <p:nvSpPr>
          <p:cNvPr id="32" name="矩形 31"/>
          <p:cNvSpPr/>
          <p:nvPr/>
        </p:nvSpPr>
        <p:spPr>
          <a:xfrm>
            <a:off x="4962350" y="1653760"/>
            <a:ext cx="620683" cy="523220"/>
          </a:xfrm>
          <a:prstGeom prst="rect">
            <a:avLst/>
          </a:prstGeom>
        </p:spPr>
        <p:txBody>
          <a:bodyPr wrap="none">
            <a:spAutoFit/>
          </a:bodyPr>
          <a:lstStyle/>
          <a:p>
            <a:r>
              <a:rPr lang="en-US" altLang="zh-CN" sz="2800" b="1" dirty="0"/>
              <a:t>]</a:t>
            </a:r>
            <a:r>
              <a:rPr lang="en-US" altLang="zh-CN" sz="2800" b="1" baseline="30000" dirty="0"/>
              <a:t>2+</a:t>
            </a:r>
            <a:r>
              <a:rPr lang="en-US" altLang="zh-CN" sz="2800" b="1" baseline="-25000" dirty="0"/>
              <a:t> </a:t>
            </a:r>
            <a:endParaRPr lang="zh-CN" altLang="en-US" sz="2800" b="1" dirty="0"/>
          </a:p>
        </p:txBody>
      </p:sp>
      <p:cxnSp>
        <p:nvCxnSpPr>
          <p:cNvPr id="4" name="直接箭头连接符 3"/>
          <p:cNvCxnSpPr/>
          <p:nvPr/>
        </p:nvCxnSpPr>
        <p:spPr>
          <a:xfrm flipH="1">
            <a:off x="4608909" y="1460876"/>
            <a:ext cx="652066" cy="33467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6433401" y="1396395"/>
            <a:ext cx="622035" cy="43836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935290" y="2618289"/>
            <a:ext cx="1627369" cy="523220"/>
          </a:xfrm>
          <a:prstGeom prst="rect">
            <a:avLst/>
          </a:prstGeom>
        </p:spPr>
        <p:txBody>
          <a:bodyPr wrap="none">
            <a:spAutoFit/>
          </a:bodyPr>
          <a:lstStyle/>
          <a:p>
            <a:r>
              <a:rPr lang="zh-CN" altLang="en-US" sz="2800" b="1" dirty="0">
                <a:latin typeface="楷体_GB2312" pitchFamily="49" charset="-122"/>
                <a:ea typeface="楷体_GB2312" pitchFamily="49" charset="-122"/>
              </a:rPr>
              <a:t>中心离子</a:t>
            </a:r>
            <a:endParaRPr lang="zh-CN" altLang="en-US" sz="2800" dirty="0"/>
          </a:p>
        </p:txBody>
      </p:sp>
      <p:cxnSp>
        <p:nvCxnSpPr>
          <p:cNvPr id="9" name="直接箭头连接符 8"/>
          <p:cNvCxnSpPr>
            <a:stCxn id="28" idx="2"/>
          </p:cNvCxnSpPr>
          <p:nvPr/>
        </p:nvCxnSpPr>
        <p:spPr>
          <a:xfrm flipH="1">
            <a:off x="3847925" y="2232480"/>
            <a:ext cx="1" cy="4036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29" idx="2"/>
          </p:cNvCxnSpPr>
          <p:nvPr/>
        </p:nvCxnSpPr>
        <p:spPr>
          <a:xfrm>
            <a:off x="4701130" y="2213088"/>
            <a:ext cx="363007" cy="438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4718425" y="2599701"/>
            <a:ext cx="906017" cy="523220"/>
          </a:xfrm>
          <a:prstGeom prst="rect">
            <a:avLst/>
          </a:prstGeom>
        </p:spPr>
        <p:txBody>
          <a:bodyPr wrap="none">
            <a:spAutoFit/>
          </a:bodyPr>
          <a:lstStyle/>
          <a:p>
            <a:r>
              <a:rPr lang="zh-CN" altLang="en-US" sz="2800" b="1" dirty="0">
                <a:latin typeface="楷体_GB2312" pitchFamily="49" charset="-122"/>
                <a:ea typeface="楷体_GB2312" pitchFamily="49" charset="-122"/>
              </a:rPr>
              <a:t>配体</a:t>
            </a:r>
          </a:p>
        </p:txBody>
      </p:sp>
      <p:sp>
        <p:nvSpPr>
          <p:cNvPr id="14" name="文本框 13"/>
          <p:cNvSpPr txBox="1"/>
          <p:nvPr/>
        </p:nvSpPr>
        <p:spPr>
          <a:xfrm>
            <a:off x="479016" y="4018872"/>
            <a:ext cx="2246957" cy="523220"/>
          </a:xfrm>
          <a:prstGeom prst="rect">
            <a:avLst/>
          </a:prstGeom>
          <a:noFill/>
        </p:spPr>
        <p:txBody>
          <a:bodyPr wrap="square" rtlCol="0">
            <a:spAutoFit/>
          </a:bodyPr>
          <a:lstStyle/>
          <a:p>
            <a:r>
              <a:rPr lang="zh-CN" altLang="en-US" sz="2800" b="1" dirty="0">
                <a:solidFill>
                  <a:srgbClr val="FF0000"/>
                </a:solidFill>
                <a:latin typeface="楷体_GB2312" pitchFamily="49" charset="-122"/>
                <a:ea typeface="楷体_GB2312" pitchFamily="49" charset="-122"/>
              </a:rPr>
              <a:t>实质：</a:t>
            </a:r>
            <a:r>
              <a:rPr lang="zh-CN" altLang="en-US" sz="2800" b="1" dirty="0">
                <a:latin typeface="楷体_GB2312" pitchFamily="49" charset="-122"/>
                <a:ea typeface="楷体_GB2312" pitchFamily="49" charset="-122"/>
              </a:rPr>
              <a:t>给出</a:t>
            </a:r>
          </a:p>
        </p:txBody>
      </p:sp>
      <p:sp>
        <p:nvSpPr>
          <p:cNvPr id="15" name="矩形 14"/>
          <p:cNvSpPr/>
          <p:nvPr/>
        </p:nvSpPr>
        <p:spPr>
          <a:xfrm>
            <a:off x="1393515" y="4579824"/>
            <a:ext cx="2355459" cy="523220"/>
          </a:xfrm>
          <a:prstGeom prst="rect">
            <a:avLst/>
          </a:prstGeom>
        </p:spPr>
        <p:txBody>
          <a:bodyPr wrap="square">
            <a:spAutoFit/>
          </a:bodyPr>
          <a:lstStyle/>
          <a:p>
            <a:r>
              <a:rPr lang="zh-CN" altLang="en-US" sz="2800" b="1" dirty="0">
                <a:latin typeface="楷体_GB2312" pitchFamily="49" charset="-122"/>
                <a:ea typeface="楷体_GB2312" pitchFamily="49" charset="-122"/>
              </a:rPr>
              <a:t>形成的化合物</a:t>
            </a:r>
          </a:p>
        </p:txBody>
      </p:sp>
      <p:sp>
        <p:nvSpPr>
          <p:cNvPr id="16" name="矩形 15"/>
          <p:cNvSpPr/>
          <p:nvPr/>
        </p:nvSpPr>
        <p:spPr>
          <a:xfrm>
            <a:off x="2317154" y="4029067"/>
            <a:ext cx="4152099" cy="523220"/>
          </a:xfrm>
          <a:prstGeom prst="rect">
            <a:avLst/>
          </a:prstGeom>
        </p:spPr>
        <p:txBody>
          <a:bodyPr wrap="none">
            <a:spAutoFit/>
          </a:bodyPr>
          <a:lstStyle/>
          <a:p>
            <a:r>
              <a:rPr lang="zh-CN" altLang="en-US" sz="2800" b="1" dirty="0">
                <a:latin typeface="楷体_GB2312" pitchFamily="49" charset="-122"/>
                <a:ea typeface="楷体_GB2312" pitchFamily="49" charset="-122"/>
              </a:rPr>
              <a:t>孤对电子的分子（离子）</a:t>
            </a:r>
          </a:p>
        </p:txBody>
      </p:sp>
      <p:sp>
        <p:nvSpPr>
          <p:cNvPr id="17" name="矩形 16"/>
          <p:cNvSpPr/>
          <p:nvPr/>
        </p:nvSpPr>
        <p:spPr>
          <a:xfrm>
            <a:off x="6049069" y="4012585"/>
            <a:ext cx="545342" cy="523220"/>
          </a:xfrm>
          <a:prstGeom prst="rect">
            <a:avLst/>
          </a:prstGeom>
        </p:spPr>
        <p:txBody>
          <a:bodyPr wrap="none">
            <a:spAutoFit/>
          </a:bodyPr>
          <a:lstStyle/>
          <a:p>
            <a:r>
              <a:rPr lang="zh-CN" altLang="en-US" sz="2800" b="1" dirty="0">
                <a:latin typeface="楷体_GB2312" pitchFamily="49" charset="-122"/>
                <a:ea typeface="楷体_GB2312" pitchFamily="49" charset="-122"/>
              </a:rPr>
              <a:t>与</a:t>
            </a:r>
          </a:p>
        </p:txBody>
      </p:sp>
      <p:sp>
        <p:nvSpPr>
          <p:cNvPr id="18" name="矩形 17"/>
          <p:cNvSpPr/>
          <p:nvPr/>
        </p:nvSpPr>
        <p:spPr>
          <a:xfrm>
            <a:off x="6547480" y="4041300"/>
            <a:ext cx="5054589" cy="523220"/>
          </a:xfrm>
          <a:prstGeom prst="rect">
            <a:avLst/>
          </a:prstGeom>
        </p:spPr>
        <p:txBody>
          <a:bodyPr wrap="none">
            <a:spAutoFit/>
          </a:bodyPr>
          <a:lstStyle/>
          <a:p>
            <a:r>
              <a:rPr lang="zh-CN" altLang="en-US" sz="2800" b="1" dirty="0">
                <a:latin typeface="楷体_GB2312" pitchFamily="49" charset="-122"/>
                <a:ea typeface="楷体_GB2312" pitchFamily="49" charset="-122"/>
              </a:rPr>
              <a:t>接受孤对电子的分子（离子） </a:t>
            </a:r>
          </a:p>
        </p:txBody>
      </p:sp>
      <p:sp>
        <p:nvSpPr>
          <p:cNvPr id="50" name="矩形 49"/>
          <p:cNvSpPr/>
          <p:nvPr/>
        </p:nvSpPr>
        <p:spPr>
          <a:xfrm>
            <a:off x="4354958" y="4503376"/>
            <a:ext cx="906017" cy="523220"/>
          </a:xfrm>
          <a:prstGeom prst="rect">
            <a:avLst/>
          </a:prstGeom>
        </p:spPr>
        <p:txBody>
          <a:bodyPr wrap="none">
            <a:spAutoFit/>
          </a:bodyPr>
          <a:lstStyle/>
          <a:p>
            <a:r>
              <a:rPr lang="zh-CN" altLang="en-US" sz="2800" b="1" dirty="0">
                <a:latin typeface="楷体_GB2312" pitchFamily="49" charset="-122"/>
                <a:ea typeface="楷体_GB2312" pitchFamily="49" charset="-122"/>
              </a:rPr>
              <a:t>配体</a:t>
            </a:r>
          </a:p>
        </p:txBody>
      </p:sp>
      <p:sp>
        <p:nvSpPr>
          <p:cNvPr id="19" name="矩形 18"/>
          <p:cNvSpPr/>
          <p:nvPr/>
        </p:nvSpPr>
        <p:spPr>
          <a:xfrm>
            <a:off x="7705253" y="4656768"/>
            <a:ext cx="3071675" cy="523220"/>
          </a:xfrm>
          <a:prstGeom prst="rect">
            <a:avLst/>
          </a:prstGeom>
        </p:spPr>
        <p:txBody>
          <a:bodyPr wrap="none">
            <a:spAutoFit/>
          </a:bodyPr>
          <a:lstStyle/>
          <a:p>
            <a:r>
              <a:rPr lang="zh-CN" altLang="en-US" sz="2800" b="1" dirty="0">
                <a:latin typeface="楷体_GB2312" pitchFamily="49" charset="-122"/>
                <a:ea typeface="楷体_GB2312" pitchFamily="49" charset="-122"/>
              </a:rPr>
              <a:t>中心离子</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或原子</a:t>
            </a:r>
            <a:r>
              <a:rPr lang="en-US" altLang="zh-CN" sz="2800" b="1" dirty="0">
                <a:latin typeface="楷体_GB2312" pitchFamily="49" charset="-122"/>
                <a:ea typeface="楷体_GB2312" pitchFamily="49" charset="-122"/>
              </a:rPr>
              <a:t>)</a:t>
            </a:r>
            <a:endParaRPr lang="zh-CN" altLang="en-US" sz="2800" dirty="0"/>
          </a:p>
        </p:txBody>
      </p:sp>
      <p:sp>
        <p:nvSpPr>
          <p:cNvPr id="52" name="矩形 51"/>
          <p:cNvSpPr/>
          <p:nvPr/>
        </p:nvSpPr>
        <p:spPr>
          <a:xfrm>
            <a:off x="320733" y="5130581"/>
            <a:ext cx="2563522" cy="523220"/>
          </a:xfrm>
          <a:prstGeom prst="rect">
            <a:avLst/>
          </a:prstGeom>
        </p:spPr>
        <p:txBody>
          <a:bodyPr wrap="none">
            <a:spAutoFit/>
          </a:bodyPr>
          <a:lstStyle/>
          <a:p>
            <a:r>
              <a:rPr lang="en-US" altLang="zh-CN" sz="2800" b="1" dirty="0"/>
              <a:t>[Cu(NH</a:t>
            </a:r>
            <a:r>
              <a:rPr lang="en-US" altLang="zh-CN" sz="2800" b="1" baseline="-25000" dirty="0"/>
              <a:t>3</a:t>
            </a:r>
            <a:r>
              <a:rPr lang="en-US" altLang="zh-CN" sz="2800" b="1" dirty="0"/>
              <a:t>)</a:t>
            </a:r>
            <a:r>
              <a:rPr lang="en-US" altLang="zh-CN" sz="2800" b="1" baseline="-25000" dirty="0"/>
              <a:t>4</a:t>
            </a:r>
            <a:r>
              <a:rPr lang="en-US" altLang="zh-CN" sz="2800" b="1" dirty="0"/>
              <a:t>]SO</a:t>
            </a:r>
            <a:r>
              <a:rPr lang="en-US" altLang="zh-CN" sz="2800" b="1" baseline="-25000" dirty="0"/>
              <a:t>4 </a:t>
            </a:r>
            <a:endParaRPr lang="zh-CN" altLang="en-US" sz="2800" b="1" dirty="0"/>
          </a:p>
        </p:txBody>
      </p:sp>
      <p:sp>
        <p:nvSpPr>
          <p:cNvPr id="20" name="文本框 19"/>
          <p:cNvSpPr txBox="1"/>
          <p:nvPr/>
        </p:nvSpPr>
        <p:spPr>
          <a:xfrm>
            <a:off x="2956935" y="5183049"/>
            <a:ext cx="3733714" cy="523220"/>
          </a:xfrm>
          <a:prstGeom prst="rect">
            <a:avLst/>
          </a:prstGeom>
          <a:noFill/>
        </p:spPr>
        <p:txBody>
          <a:bodyPr wrap="none" rtlCol="0">
            <a:spAutoFit/>
          </a:bodyPr>
          <a:lstStyle/>
          <a:p>
            <a:r>
              <a:rPr lang="en-US" altLang="zh-CN" sz="2800" b="1" dirty="0">
                <a:latin typeface="楷体_GB2312" pitchFamily="49" charset="-122"/>
                <a:ea typeface="楷体_GB2312" pitchFamily="49" charset="-122"/>
              </a:rPr>
              <a:t>NH</a:t>
            </a:r>
            <a:r>
              <a:rPr lang="en-US" altLang="zh-CN" sz="2800" b="1" baseline="-25000" dirty="0">
                <a:latin typeface="楷体_GB2312" pitchFamily="49" charset="-122"/>
                <a:ea typeface="楷体_GB2312" pitchFamily="49" charset="-122"/>
              </a:rPr>
              <a:t>3</a:t>
            </a:r>
            <a:r>
              <a:rPr lang="zh-CN" altLang="en-US" sz="2800" b="1" dirty="0">
                <a:latin typeface="楷体_GB2312" pitchFamily="49" charset="-122"/>
                <a:ea typeface="楷体_GB2312" pitchFamily="49" charset="-122"/>
              </a:rPr>
              <a:t>上的</a:t>
            </a:r>
            <a:r>
              <a:rPr lang="en-US" altLang="zh-CN" sz="2800" b="1" dirty="0">
                <a:latin typeface="楷体_GB2312" pitchFamily="49" charset="-122"/>
                <a:ea typeface="楷体_GB2312" pitchFamily="49" charset="-122"/>
              </a:rPr>
              <a:t>N</a:t>
            </a:r>
            <a:r>
              <a:rPr lang="zh-CN" altLang="en-US" sz="2800" b="1" dirty="0">
                <a:latin typeface="楷体_GB2312" pitchFamily="49" charset="-122"/>
                <a:ea typeface="楷体_GB2312" pitchFamily="49" charset="-122"/>
              </a:rPr>
              <a:t>给出孤对电子</a:t>
            </a:r>
          </a:p>
        </p:txBody>
      </p:sp>
      <p:sp>
        <p:nvSpPr>
          <p:cNvPr id="21" name="矩形 20"/>
          <p:cNvSpPr/>
          <p:nvPr/>
        </p:nvSpPr>
        <p:spPr>
          <a:xfrm>
            <a:off x="7068971" y="5278358"/>
            <a:ext cx="3252814" cy="523220"/>
          </a:xfrm>
          <a:prstGeom prst="rect">
            <a:avLst/>
          </a:prstGeom>
        </p:spPr>
        <p:txBody>
          <a:bodyPr wrap="none">
            <a:spAutoFit/>
          </a:bodyPr>
          <a:lstStyle/>
          <a:p>
            <a:r>
              <a:rPr lang="en-US" altLang="zh-CN" sz="2800" b="1" dirty="0">
                <a:latin typeface="楷体_GB2312" pitchFamily="49" charset="-122"/>
                <a:ea typeface="楷体_GB2312" pitchFamily="49" charset="-122"/>
              </a:rPr>
              <a:t>Cu </a:t>
            </a:r>
            <a:r>
              <a:rPr lang="en-US" altLang="zh-CN" sz="2800" b="1" baseline="30000" dirty="0">
                <a:latin typeface="楷体_GB2312" pitchFamily="49" charset="-122"/>
                <a:ea typeface="楷体_GB2312" pitchFamily="49" charset="-122"/>
              </a:rPr>
              <a:t>2+ </a:t>
            </a:r>
            <a:r>
              <a:rPr lang="zh-CN" altLang="en-US" sz="2800" b="1" dirty="0">
                <a:latin typeface="楷体_GB2312" pitchFamily="49" charset="-122"/>
                <a:ea typeface="楷体_GB2312" pitchFamily="49" charset="-122"/>
              </a:rPr>
              <a:t>接受孤对电子</a:t>
            </a:r>
            <a:endParaRPr lang="zh-CN" altLang="en-US" sz="2800" dirty="0"/>
          </a:p>
        </p:txBody>
      </p:sp>
      <p:sp>
        <p:nvSpPr>
          <p:cNvPr id="22" name="文本框 21"/>
          <p:cNvSpPr txBox="1"/>
          <p:nvPr/>
        </p:nvSpPr>
        <p:spPr>
          <a:xfrm>
            <a:off x="4894929" y="5749598"/>
            <a:ext cx="1266693" cy="523220"/>
          </a:xfrm>
          <a:prstGeom prst="rect">
            <a:avLst/>
          </a:prstGeom>
          <a:noFill/>
        </p:spPr>
        <p:txBody>
          <a:bodyPr wrap="none" rtlCol="0">
            <a:spAutoFit/>
          </a:bodyPr>
          <a:lstStyle/>
          <a:p>
            <a:r>
              <a:rPr lang="zh-CN" altLang="en-US" sz="2800" b="1" dirty="0">
                <a:latin typeface="楷体_GB2312" pitchFamily="49" charset="-122"/>
                <a:ea typeface="楷体_GB2312" pitchFamily="49" charset="-122"/>
              </a:rPr>
              <a:t>配位键</a:t>
            </a:r>
          </a:p>
        </p:txBody>
      </p:sp>
    </p:spTree>
    <p:extLst>
      <p:ext uri="{BB962C8B-B14F-4D97-AF65-F5344CB8AC3E}">
        <p14:creationId xmlns:p14="http://schemas.microsoft.com/office/powerpoint/2010/main" val="178697532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500"/>
                                        <p:tgtEl>
                                          <p:spTgt spid="3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mph" presetSubtype="2" fill="hold" nodeType="clickEffect">
                                  <p:stCondLst>
                                    <p:cond delay="0"/>
                                  </p:stCondLst>
                                  <p:childTnLst>
                                    <p:animClr clrSpc="rgb" dir="cw">
                                      <p:cBhvr>
                                        <p:cTn id="36" dur="1000" fill="hold"/>
                                        <p:tgtEl>
                                          <p:spTgt spid="28"/>
                                        </p:tgtEl>
                                        <p:attrNameLst>
                                          <p:attrName>fillcolor</p:attrName>
                                        </p:attrNameLst>
                                      </p:cBhvr>
                                      <p:to>
                                        <a:schemeClr val="accent2"/>
                                      </p:to>
                                    </p:animClr>
                                    <p:set>
                                      <p:cBhvr>
                                        <p:cTn id="37" dur="1000" fill="hold"/>
                                        <p:tgtEl>
                                          <p:spTgt spid="28"/>
                                        </p:tgtEl>
                                        <p:attrNameLst>
                                          <p:attrName>fill.type</p:attrName>
                                        </p:attrNameLst>
                                      </p:cBhvr>
                                      <p:to>
                                        <p:strVal val="solid"/>
                                      </p:to>
                                    </p:set>
                                    <p:set>
                                      <p:cBhvr>
                                        <p:cTn id="38" dur="1000" fill="hold"/>
                                        <p:tgtEl>
                                          <p:spTgt spid="28"/>
                                        </p:tgtEl>
                                        <p:attrNameLst>
                                          <p:attrName>fill.on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par>
                                <p:cTn id="44" presetID="10" presetClass="entr" presetSubtype="0" fill="hold"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mph" presetSubtype="2" fill="hold" nodeType="clickEffect">
                                  <p:stCondLst>
                                    <p:cond delay="0"/>
                                  </p:stCondLst>
                                  <p:childTnLst>
                                    <p:animClr clrSpc="rgb" dir="cw">
                                      <p:cBhvr>
                                        <p:cTn id="50" dur="1000" fill="hold"/>
                                        <p:tgtEl>
                                          <p:spTgt spid="29"/>
                                        </p:tgtEl>
                                        <p:attrNameLst>
                                          <p:attrName>fillcolor</p:attrName>
                                        </p:attrNameLst>
                                      </p:cBhvr>
                                      <p:to>
                                        <a:srgbClr val="FFC000"/>
                                      </p:to>
                                    </p:animClr>
                                    <p:set>
                                      <p:cBhvr>
                                        <p:cTn id="51" dur="1000" fill="hold"/>
                                        <p:tgtEl>
                                          <p:spTgt spid="29"/>
                                        </p:tgtEl>
                                        <p:attrNameLst>
                                          <p:attrName>fill.type</p:attrName>
                                        </p:attrNameLst>
                                      </p:cBhvr>
                                      <p:to>
                                        <p:strVal val="solid"/>
                                      </p:to>
                                    </p:set>
                                    <p:set>
                                      <p:cBhvr>
                                        <p:cTn id="52" dur="1000" fill="hold"/>
                                        <p:tgtEl>
                                          <p:spTgt spid="29"/>
                                        </p:tgtEl>
                                        <p:attrNameLst>
                                          <p:attrName>fill.on</p:attrName>
                                        </p:attrNameLst>
                                      </p:cBhvr>
                                      <p:to>
                                        <p:strVal val="true"/>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00"/>
                                        <p:tgtEl>
                                          <p:spTgt spid="1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50208"/>
                                        </p:tgtEl>
                                        <p:attrNameLst>
                                          <p:attrName>style.visibility</p:attrName>
                                        </p:attrNameLst>
                                      </p:cBhvr>
                                      <p:to>
                                        <p:strVal val="visible"/>
                                      </p:to>
                                    </p:set>
                                    <p:animEffect transition="in" filter="fade">
                                      <p:cBhvr>
                                        <p:cTn id="65" dur="500"/>
                                        <p:tgtEl>
                                          <p:spTgt spid="5020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iterate type="lt">
                                    <p:tmPct val="0"/>
                                  </p:iterate>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500"/>
                                        <p:tgtEl>
                                          <p:spTgt spid="15"/>
                                        </p:tgtEl>
                                      </p:cBhvr>
                                    </p:animEffect>
                                  </p:childTnLst>
                                </p:cTn>
                              </p:par>
                              <p:par>
                                <p:cTn id="79" presetID="10" presetClass="entr" presetSubtype="0" fill="hold" grpId="0" nodeType="withEffect">
                                  <p:stCondLst>
                                    <p:cond delay="0"/>
                                  </p:stCondLst>
                                  <p:iterate type="lt">
                                    <p:tmPct val="0"/>
                                  </p:iterate>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childTnLst>
                          </p:cTn>
                        </p:par>
                      </p:childTnLst>
                    </p:cTn>
                  </p:par>
                  <p:par>
                    <p:cTn id="85" fill="hold">
                      <p:stCondLst>
                        <p:cond delay="indefinite"/>
                      </p:stCondLst>
                      <p:childTnLst>
                        <p:par>
                          <p:cTn id="86" fill="hold">
                            <p:stCondLst>
                              <p:cond delay="0"/>
                            </p:stCondLst>
                            <p:childTnLst>
                              <p:par>
                                <p:cTn id="87" presetID="18" presetClass="emph" presetSubtype="0" fill="hold" grpId="1" nodeType="clickEffect">
                                  <p:stCondLst>
                                    <p:cond delay="0"/>
                                  </p:stCondLst>
                                  <p:iterate type="lt">
                                    <p:tmPct val="4000"/>
                                  </p:iterate>
                                  <p:childTnLst>
                                    <p:set>
                                      <p:cBhvr override="childStyle">
                                        <p:cTn id="88" dur="500" fill="hold"/>
                                        <p:tgtEl>
                                          <p:spTgt spid="16"/>
                                        </p:tgtEl>
                                        <p:attrNameLst>
                                          <p:attrName>style.textDecorationUnderline</p:attrName>
                                        </p:attrNameLst>
                                      </p:cBhvr>
                                      <p:to>
                                        <p:strVal val="true"/>
                                      </p:to>
                                    </p:se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50"/>
                                        </p:tgtEl>
                                        <p:attrNameLst>
                                          <p:attrName>style.visibility</p:attrName>
                                        </p:attrNameLst>
                                      </p:cBhvr>
                                      <p:to>
                                        <p:strVal val="visible"/>
                                      </p:to>
                                    </p:set>
                                    <p:animEffect transition="in" filter="fade">
                                      <p:cBhvr>
                                        <p:cTn id="93" dur="500"/>
                                        <p:tgtEl>
                                          <p:spTgt spid="50"/>
                                        </p:tgtEl>
                                      </p:cBhvr>
                                    </p:animEffect>
                                  </p:childTnLst>
                                </p:cTn>
                              </p:par>
                            </p:childTnLst>
                          </p:cTn>
                        </p:par>
                      </p:childTnLst>
                    </p:cTn>
                  </p:par>
                  <p:par>
                    <p:cTn id="94" fill="hold">
                      <p:stCondLst>
                        <p:cond delay="indefinite"/>
                      </p:stCondLst>
                      <p:childTnLst>
                        <p:par>
                          <p:cTn id="95" fill="hold">
                            <p:stCondLst>
                              <p:cond delay="0"/>
                            </p:stCondLst>
                            <p:childTnLst>
                              <p:par>
                                <p:cTn id="96" presetID="18" presetClass="emph" presetSubtype="0" fill="hold" grpId="1" nodeType="clickEffect">
                                  <p:stCondLst>
                                    <p:cond delay="0"/>
                                  </p:stCondLst>
                                  <p:iterate type="lt">
                                    <p:tmPct val="4000"/>
                                  </p:iterate>
                                  <p:childTnLst>
                                    <p:set>
                                      <p:cBhvr override="childStyle">
                                        <p:cTn id="97" dur="500" fill="hold"/>
                                        <p:tgtEl>
                                          <p:spTgt spid="18"/>
                                        </p:tgtEl>
                                        <p:attrNameLst>
                                          <p:attrName>style.textDecorationUnderline</p:attrName>
                                        </p:attrNameLst>
                                      </p:cBhvr>
                                      <p:to>
                                        <p:strVal val="true"/>
                                      </p:to>
                                    </p:se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9">
                                            <p:txEl>
                                              <p:pRg st="0" end="0"/>
                                            </p:txEl>
                                          </p:spTgt>
                                        </p:tgtEl>
                                        <p:attrNameLst>
                                          <p:attrName>style.visibility</p:attrName>
                                        </p:attrNameLst>
                                      </p:cBhvr>
                                      <p:to>
                                        <p:strVal val="visible"/>
                                      </p:to>
                                    </p:set>
                                    <p:animEffect transition="in" filter="fade">
                                      <p:cBhvr>
                                        <p:cTn id="102" dur="500"/>
                                        <p:tgtEl>
                                          <p:spTgt spid="19">
                                            <p:txEl>
                                              <p:pRg st="0" end="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52"/>
                                        </p:tgtEl>
                                        <p:attrNameLst>
                                          <p:attrName>style.visibility</p:attrName>
                                        </p:attrNameLst>
                                      </p:cBhvr>
                                      <p:to>
                                        <p:strVal val="visible"/>
                                      </p:to>
                                    </p:set>
                                    <p:anim calcmode="lin" valueType="num">
                                      <p:cBhvr additive="base">
                                        <p:cTn id="107" dur="500" fill="hold"/>
                                        <p:tgtEl>
                                          <p:spTgt spid="52"/>
                                        </p:tgtEl>
                                        <p:attrNameLst>
                                          <p:attrName>ppt_x</p:attrName>
                                        </p:attrNameLst>
                                      </p:cBhvr>
                                      <p:tavLst>
                                        <p:tav tm="0">
                                          <p:val>
                                            <p:strVal val="#ppt_x"/>
                                          </p:val>
                                        </p:tav>
                                        <p:tav tm="100000">
                                          <p:val>
                                            <p:strVal val="#ppt_x"/>
                                          </p:val>
                                        </p:tav>
                                      </p:tavLst>
                                    </p:anim>
                                    <p:anim calcmode="lin" valueType="num">
                                      <p:cBhvr additive="base">
                                        <p:cTn id="108" dur="500" fill="hold"/>
                                        <p:tgtEl>
                                          <p:spTgt spid="52"/>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20"/>
                                        </p:tgtEl>
                                        <p:attrNameLst>
                                          <p:attrName>style.visibility</p:attrName>
                                        </p:attrNameLst>
                                      </p:cBhvr>
                                      <p:to>
                                        <p:strVal val="visible"/>
                                      </p:to>
                                    </p:set>
                                    <p:anim calcmode="lin" valueType="num">
                                      <p:cBhvr additive="base">
                                        <p:cTn id="111" dur="500" fill="hold"/>
                                        <p:tgtEl>
                                          <p:spTgt spid="20"/>
                                        </p:tgtEl>
                                        <p:attrNameLst>
                                          <p:attrName>ppt_x</p:attrName>
                                        </p:attrNameLst>
                                      </p:cBhvr>
                                      <p:tavLst>
                                        <p:tav tm="0">
                                          <p:val>
                                            <p:strVal val="#ppt_x"/>
                                          </p:val>
                                        </p:tav>
                                        <p:tav tm="100000">
                                          <p:val>
                                            <p:strVal val="#ppt_x"/>
                                          </p:val>
                                        </p:tav>
                                      </p:tavLst>
                                    </p:anim>
                                    <p:anim calcmode="lin" valueType="num">
                                      <p:cBhvr additive="base">
                                        <p:cTn id="112" dur="500" fill="hold"/>
                                        <p:tgtEl>
                                          <p:spTgt spid="20"/>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21"/>
                                        </p:tgtEl>
                                        <p:attrNameLst>
                                          <p:attrName>style.visibility</p:attrName>
                                        </p:attrNameLst>
                                      </p:cBhvr>
                                      <p:to>
                                        <p:strVal val="visible"/>
                                      </p:to>
                                    </p:set>
                                    <p:anim calcmode="lin" valueType="num">
                                      <p:cBhvr additive="base">
                                        <p:cTn id="115" dur="500" fill="hold"/>
                                        <p:tgtEl>
                                          <p:spTgt spid="21"/>
                                        </p:tgtEl>
                                        <p:attrNameLst>
                                          <p:attrName>ppt_x</p:attrName>
                                        </p:attrNameLst>
                                      </p:cBhvr>
                                      <p:tavLst>
                                        <p:tav tm="0">
                                          <p:val>
                                            <p:strVal val="#ppt_x"/>
                                          </p:val>
                                        </p:tav>
                                        <p:tav tm="100000">
                                          <p:val>
                                            <p:strVal val="#ppt_x"/>
                                          </p:val>
                                        </p:tav>
                                      </p:tavLst>
                                    </p:anim>
                                    <p:anim calcmode="lin" valueType="num">
                                      <p:cBhvr additive="base">
                                        <p:cTn id="11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08" grpId="0"/>
      <p:bldP spid="27" grpId="0"/>
      <p:bldP spid="28" grpId="0"/>
      <p:bldP spid="29" grpId="0"/>
      <p:bldP spid="30" grpId="0"/>
      <p:bldP spid="31" grpId="0"/>
      <p:bldP spid="32" grpId="0"/>
      <p:bldP spid="7" grpId="0"/>
      <p:bldP spid="13" grpId="0"/>
      <p:bldP spid="14" grpId="0"/>
      <p:bldP spid="15" grpId="0"/>
      <p:bldP spid="16" grpId="0"/>
      <p:bldP spid="16" grpId="1"/>
      <p:bldP spid="17" grpId="0"/>
      <p:bldP spid="18" grpId="0"/>
      <p:bldP spid="18" grpId="1"/>
      <p:bldP spid="50" grpId="0"/>
      <p:bldP spid="52"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5"/>
          <p:cNvSpPr>
            <a:spLocks noChangeArrowheads="1"/>
          </p:cNvSpPr>
          <p:nvPr/>
        </p:nvSpPr>
        <p:spPr bwMode="auto">
          <a:xfrm>
            <a:off x="831850" y="1597025"/>
            <a:ext cx="1175322" cy="523220"/>
          </a:xfrm>
          <a:prstGeom prst="rect">
            <a:avLst/>
          </a:prstGeom>
          <a:noFill/>
          <a:ln w="9525">
            <a:noFill/>
            <a:miter lim="800000"/>
            <a:headEnd/>
            <a:tailEnd/>
          </a:ln>
        </p:spPr>
        <p:txBody>
          <a:bodyPr wrap="none">
            <a:spAutoFit/>
          </a:bodyPr>
          <a:lstStyle/>
          <a:p>
            <a:pPr>
              <a:spcBef>
                <a:spcPct val="50000"/>
              </a:spcBef>
            </a:pPr>
            <a:r>
              <a:rPr lang="en-US" altLang="zh-CN" sz="2800" b="1" dirty="0">
                <a:solidFill>
                  <a:srgbClr val="FF3300"/>
                </a:solidFill>
                <a:ea typeface="楷体_GB2312" pitchFamily="49" charset="-122"/>
              </a:rPr>
              <a:t>1.</a:t>
            </a:r>
            <a:r>
              <a:rPr lang="zh-CN" altLang="en-US" sz="2800" b="1" dirty="0">
                <a:solidFill>
                  <a:srgbClr val="FF3300"/>
                </a:solidFill>
                <a:ea typeface="楷体_GB2312" pitchFamily="49" charset="-122"/>
              </a:rPr>
              <a:t>分类</a:t>
            </a:r>
            <a:endParaRPr lang="en-US" altLang="zh-CN" sz="2800" b="1" dirty="0">
              <a:ea typeface="楷体_GB2312" pitchFamily="49" charset="-122"/>
            </a:endParaRPr>
          </a:p>
        </p:txBody>
      </p:sp>
      <p:sp>
        <p:nvSpPr>
          <p:cNvPr id="50186" name="Rectangle 10"/>
          <p:cNvSpPr>
            <a:spLocks noChangeArrowheads="1"/>
          </p:cNvSpPr>
          <p:nvPr/>
        </p:nvSpPr>
        <p:spPr bwMode="auto">
          <a:xfrm>
            <a:off x="576263" y="2141865"/>
            <a:ext cx="1722437" cy="523220"/>
          </a:xfrm>
          <a:prstGeom prst="rect">
            <a:avLst/>
          </a:prstGeom>
          <a:noFill/>
          <a:ln w="9525">
            <a:noFill/>
            <a:miter lim="800000"/>
            <a:headEnd/>
            <a:tailEnd/>
          </a:ln>
        </p:spPr>
        <p:txBody>
          <a:bodyPr anchor="ctr">
            <a:spAutoFit/>
          </a:bodyPr>
          <a:lstStyle/>
          <a:p>
            <a:pPr algn="ctr"/>
            <a:r>
              <a:rPr lang="zh-CN" altLang="en-US" sz="2800" b="1" dirty="0">
                <a:solidFill>
                  <a:srgbClr val="0000FF"/>
                </a:solidFill>
                <a:ea typeface="楷体_GB2312" pitchFamily="49" charset="-122"/>
              </a:rPr>
              <a:t>配离子</a:t>
            </a:r>
            <a:endParaRPr lang="zh-CN" altLang="en-US" sz="2800" b="1" dirty="0">
              <a:ea typeface="楷体_GB2312" pitchFamily="49" charset="-122"/>
            </a:endParaRPr>
          </a:p>
        </p:txBody>
      </p:sp>
      <p:sp>
        <p:nvSpPr>
          <p:cNvPr id="50200" name="Rectangle 24"/>
          <p:cNvSpPr>
            <a:spLocks noChangeArrowheads="1"/>
          </p:cNvSpPr>
          <p:nvPr/>
        </p:nvSpPr>
        <p:spPr bwMode="auto">
          <a:xfrm>
            <a:off x="932656" y="4673803"/>
            <a:ext cx="936625" cy="477837"/>
          </a:xfrm>
          <a:prstGeom prst="rect">
            <a:avLst/>
          </a:prstGeom>
          <a:noFill/>
          <a:ln w="9525">
            <a:noFill/>
            <a:miter lim="800000"/>
            <a:headEnd/>
            <a:tailEnd/>
          </a:ln>
        </p:spPr>
        <p:txBody>
          <a:bodyPr wrap="none">
            <a:spAutoFit/>
          </a:bodyPr>
          <a:lstStyle/>
          <a:p>
            <a:pPr>
              <a:spcBef>
                <a:spcPct val="50000"/>
              </a:spcBef>
            </a:pPr>
            <a:r>
              <a:rPr lang="zh-CN" altLang="en-US" sz="2500" b="1" dirty="0">
                <a:solidFill>
                  <a:srgbClr val="FF3300"/>
                </a:solidFill>
                <a:ea typeface="楷体_GB2312" pitchFamily="49" charset="-122"/>
              </a:rPr>
              <a:t>组成</a:t>
            </a:r>
            <a:r>
              <a:rPr lang="en-US" altLang="zh-CN" sz="2500" b="1" dirty="0">
                <a:ea typeface="楷体_GB2312" pitchFamily="49" charset="-122"/>
              </a:rPr>
              <a:t>:</a:t>
            </a:r>
          </a:p>
        </p:txBody>
      </p:sp>
      <p:sp>
        <p:nvSpPr>
          <p:cNvPr id="50201" name="Text Box 25"/>
          <p:cNvSpPr txBox="1">
            <a:spLocks noChangeArrowheads="1"/>
          </p:cNvSpPr>
          <p:nvPr/>
        </p:nvSpPr>
        <p:spPr bwMode="auto">
          <a:xfrm>
            <a:off x="2047989" y="4629847"/>
            <a:ext cx="8861981" cy="523220"/>
          </a:xfrm>
          <a:prstGeom prst="rect">
            <a:avLst/>
          </a:prstGeom>
          <a:noFill/>
          <a:ln w="9525">
            <a:noFill/>
            <a:miter lim="800000"/>
            <a:headEnd/>
            <a:tailEnd/>
          </a:ln>
        </p:spPr>
        <p:txBody>
          <a:bodyPr wrap="square">
            <a:spAutoFit/>
          </a:bodyPr>
          <a:lstStyle/>
          <a:p>
            <a:pPr>
              <a:spcBef>
                <a:spcPct val="50000"/>
              </a:spcBef>
            </a:pPr>
            <a:r>
              <a:rPr lang="zh-CN" altLang="en-US" sz="2800" b="1" dirty="0">
                <a:ea typeface="楷体_GB2312" pitchFamily="49" charset="-122"/>
              </a:rPr>
              <a:t>内、外界两部分组成</a:t>
            </a:r>
            <a:r>
              <a:rPr lang="en-US" altLang="zh-CN" sz="2800" b="1" dirty="0">
                <a:ea typeface="楷体_GB2312" pitchFamily="49" charset="-122"/>
              </a:rPr>
              <a:t>(</a:t>
            </a:r>
            <a:r>
              <a:rPr lang="zh-CN" altLang="en-US" sz="2800" b="1" dirty="0">
                <a:ea typeface="楷体_GB2312" pitchFamily="49" charset="-122"/>
              </a:rPr>
              <a:t>除配分子外</a:t>
            </a:r>
            <a:r>
              <a:rPr lang="en-US" altLang="zh-CN" sz="2800" b="1" dirty="0">
                <a:ea typeface="楷体_GB2312" pitchFamily="49" charset="-122"/>
              </a:rPr>
              <a:t>).</a:t>
            </a:r>
            <a:endParaRPr lang="en-US" altLang="zh-CN" sz="2800" b="1" dirty="0">
              <a:solidFill>
                <a:srgbClr val="FF9900"/>
              </a:solidFill>
              <a:ea typeface="楷体_GB2312" pitchFamily="49" charset="-122"/>
            </a:endParaRPr>
          </a:p>
        </p:txBody>
      </p:sp>
      <p:sp>
        <p:nvSpPr>
          <p:cNvPr id="7189" name="Rectangle 28"/>
          <p:cNvSpPr>
            <a:spLocks noGrp="1" noChangeArrowheads="1"/>
          </p:cNvSpPr>
          <p:nvPr>
            <p:ph type="title"/>
          </p:nvPr>
        </p:nvSpPr>
        <p:spPr>
          <a:xfrm>
            <a:off x="576263" y="258763"/>
            <a:ext cx="10369550" cy="431800"/>
          </a:xfrm>
          <a:noFill/>
        </p:spPr>
        <p:txBody>
          <a:bodyPr/>
          <a:lstStyle/>
          <a:p>
            <a:r>
              <a:rPr lang="en-US" altLang="zh-CN">
                <a:ea typeface="黑体" pitchFamily="49" charset="-122"/>
              </a:rPr>
              <a:t>6.1.1 </a:t>
            </a:r>
            <a:r>
              <a:rPr lang="zh-CN" altLang="en-US">
                <a:ea typeface="黑体" pitchFamily="49" charset="-122"/>
              </a:rPr>
              <a:t>配合物及其组成</a:t>
            </a:r>
            <a:endParaRPr lang="zh-CN" altLang="en-US" sz="1200" b="0">
              <a:solidFill>
                <a:srgbClr val="0000FF"/>
              </a:solidFill>
              <a:ea typeface="黑体" pitchFamily="49" charset="-122"/>
            </a:endParaRPr>
          </a:p>
        </p:txBody>
      </p:sp>
      <p:sp>
        <p:nvSpPr>
          <p:cNvPr id="50207" name="Rectangle 31"/>
          <p:cNvSpPr>
            <a:spLocks noChangeArrowheads="1"/>
          </p:cNvSpPr>
          <p:nvPr/>
        </p:nvSpPr>
        <p:spPr bwMode="auto">
          <a:xfrm>
            <a:off x="906463" y="1020763"/>
            <a:ext cx="1258887" cy="476250"/>
          </a:xfrm>
          <a:prstGeom prst="rect">
            <a:avLst/>
          </a:prstGeom>
          <a:noFill/>
          <a:ln w="9525">
            <a:noFill/>
            <a:miter lim="800000"/>
            <a:headEnd/>
            <a:tailEnd/>
          </a:ln>
        </p:spPr>
        <p:txBody>
          <a:bodyPr wrap="none">
            <a:spAutoFit/>
          </a:bodyPr>
          <a:lstStyle/>
          <a:p>
            <a:pPr>
              <a:spcBef>
                <a:spcPct val="50000"/>
              </a:spcBef>
            </a:pPr>
            <a:r>
              <a:rPr lang="zh-CN" altLang="en-US" sz="2500" b="1" dirty="0">
                <a:solidFill>
                  <a:schemeClr val="tx2"/>
                </a:solidFill>
                <a:ea typeface="楷体_GB2312" pitchFamily="49" charset="-122"/>
              </a:rPr>
              <a:t>配合物</a:t>
            </a:r>
            <a:r>
              <a:rPr lang="en-US" altLang="zh-CN" sz="2500" b="1" dirty="0">
                <a:solidFill>
                  <a:schemeClr val="tx2"/>
                </a:solidFill>
                <a:ea typeface="楷体_GB2312" pitchFamily="49" charset="-122"/>
              </a:rPr>
              <a:t>:</a:t>
            </a:r>
          </a:p>
        </p:txBody>
      </p:sp>
      <p:sp>
        <p:nvSpPr>
          <p:cNvPr id="7192"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3"/>
            <a:srcRect/>
            <a:stretch>
              <a:fillRect/>
            </a:stretch>
          </a:blipFill>
          <a:ln w="9525">
            <a:solidFill>
              <a:srgbClr val="808080"/>
            </a:solidFill>
            <a:round/>
            <a:headEnd/>
            <a:tailEnd/>
          </a:ln>
        </p:spPr>
        <p:txBody>
          <a:bodyPr wrap="none" anchor="ctr"/>
          <a:lstStyle/>
          <a:p>
            <a:endParaRPr lang="zh-CN" altLang="en-US"/>
          </a:p>
        </p:txBody>
      </p:sp>
      <p:sp>
        <p:nvSpPr>
          <p:cNvPr id="7193"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2" name="矩形 1"/>
          <p:cNvSpPr/>
          <p:nvPr/>
        </p:nvSpPr>
        <p:spPr>
          <a:xfrm>
            <a:off x="7699062" y="4652558"/>
            <a:ext cx="2117887" cy="477054"/>
          </a:xfrm>
          <a:prstGeom prst="rect">
            <a:avLst/>
          </a:prstGeom>
        </p:spPr>
        <p:txBody>
          <a:bodyPr wrap="none">
            <a:spAutoFit/>
          </a:bodyPr>
          <a:lstStyle/>
          <a:p>
            <a:r>
              <a:rPr lang="zh-CN" altLang="en-US" sz="2500" b="1" dirty="0">
                <a:ea typeface="楷体_GB2312" pitchFamily="49" charset="-122"/>
              </a:rPr>
              <a:t>配合物在内界</a:t>
            </a:r>
          </a:p>
        </p:txBody>
      </p:sp>
      <p:sp>
        <p:nvSpPr>
          <p:cNvPr id="3" name="矩形 2"/>
          <p:cNvSpPr/>
          <p:nvPr/>
        </p:nvSpPr>
        <p:spPr>
          <a:xfrm>
            <a:off x="2472072" y="2086005"/>
            <a:ext cx="2220480" cy="523220"/>
          </a:xfrm>
          <a:prstGeom prst="rect">
            <a:avLst/>
          </a:prstGeom>
        </p:spPr>
        <p:txBody>
          <a:bodyPr wrap="none">
            <a:spAutoFit/>
          </a:bodyPr>
          <a:lstStyle/>
          <a:p>
            <a:r>
              <a:rPr lang="en-US" altLang="zh-CN" sz="2800" b="1" dirty="0">
                <a:ea typeface="楷体_GB2312" pitchFamily="49" charset="-122"/>
              </a:rPr>
              <a:t>[Cu(NH</a:t>
            </a:r>
            <a:r>
              <a:rPr lang="en-US" altLang="zh-CN" sz="2800" b="1" baseline="-25000" dirty="0">
                <a:ea typeface="楷体_GB2312" pitchFamily="49" charset="-122"/>
              </a:rPr>
              <a:t>3</a:t>
            </a:r>
            <a:r>
              <a:rPr lang="en-US" altLang="zh-CN" sz="2800" b="1" dirty="0">
                <a:ea typeface="楷体_GB2312" pitchFamily="49" charset="-122"/>
              </a:rPr>
              <a:t>)</a:t>
            </a:r>
            <a:r>
              <a:rPr lang="en-US" altLang="zh-CN" sz="2800" b="1" baseline="-25000" dirty="0">
                <a:ea typeface="楷体_GB2312" pitchFamily="49" charset="-122"/>
              </a:rPr>
              <a:t>4</a:t>
            </a:r>
            <a:r>
              <a:rPr lang="en-US" altLang="zh-CN" sz="2800" b="1" dirty="0">
                <a:ea typeface="楷体_GB2312" pitchFamily="49" charset="-122"/>
              </a:rPr>
              <a:t>]</a:t>
            </a:r>
            <a:r>
              <a:rPr lang="en-US" altLang="zh-CN" sz="2800" b="1" baseline="30000" dirty="0">
                <a:ea typeface="楷体_GB2312" pitchFamily="49" charset="-122"/>
              </a:rPr>
              <a:t>2+ </a:t>
            </a:r>
            <a:endParaRPr lang="zh-CN" altLang="en-US" sz="2800" baseline="30000" dirty="0"/>
          </a:p>
        </p:txBody>
      </p:sp>
      <p:sp>
        <p:nvSpPr>
          <p:cNvPr id="4" name="矩形 3"/>
          <p:cNvSpPr/>
          <p:nvPr/>
        </p:nvSpPr>
        <p:spPr>
          <a:xfrm>
            <a:off x="4536901" y="2960424"/>
            <a:ext cx="2173993" cy="523220"/>
          </a:xfrm>
          <a:prstGeom prst="rect">
            <a:avLst/>
          </a:prstGeom>
        </p:spPr>
        <p:txBody>
          <a:bodyPr wrap="none">
            <a:spAutoFit/>
          </a:bodyPr>
          <a:lstStyle/>
          <a:p>
            <a:r>
              <a:rPr lang="en-US" altLang="zh-CN" sz="2800" b="1" dirty="0">
                <a:ea typeface="楷体_GB2312" pitchFamily="49" charset="-122"/>
              </a:rPr>
              <a:t>[Fe(NCS)</a:t>
            </a:r>
            <a:r>
              <a:rPr lang="en-US" altLang="zh-CN" sz="2800" b="1" baseline="-25000" dirty="0">
                <a:ea typeface="楷体_GB2312" pitchFamily="49" charset="-122"/>
              </a:rPr>
              <a:t>6</a:t>
            </a:r>
            <a:r>
              <a:rPr lang="en-US" altLang="zh-CN" sz="2800" b="1" dirty="0">
                <a:ea typeface="楷体_GB2312" pitchFamily="49" charset="-122"/>
              </a:rPr>
              <a:t>]</a:t>
            </a:r>
            <a:r>
              <a:rPr lang="en-US" altLang="zh-CN" sz="2800" b="1" baseline="30000" dirty="0">
                <a:ea typeface="楷体_GB2312" pitchFamily="49" charset="-122"/>
              </a:rPr>
              <a:t>3-</a:t>
            </a:r>
            <a:r>
              <a:rPr lang="en-US" altLang="zh-CN" sz="2800" b="1" dirty="0">
                <a:ea typeface="楷体_GB2312" pitchFamily="49" charset="-122"/>
              </a:rPr>
              <a:t> </a:t>
            </a:r>
            <a:endParaRPr lang="zh-CN" altLang="en-US" sz="2800" dirty="0"/>
          </a:p>
        </p:txBody>
      </p:sp>
      <p:sp>
        <p:nvSpPr>
          <p:cNvPr id="5" name="矩形 4"/>
          <p:cNvSpPr/>
          <p:nvPr/>
        </p:nvSpPr>
        <p:spPr>
          <a:xfrm>
            <a:off x="4865924" y="2073206"/>
            <a:ext cx="2089033" cy="523220"/>
          </a:xfrm>
          <a:prstGeom prst="rect">
            <a:avLst/>
          </a:prstGeom>
        </p:spPr>
        <p:txBody>
          <a:bodyPr wrap="none">
            <a:spAutoFit/>
          </a:bodyPr>
          <a:lstStyle/>
          <a:p>
            <a:r>
              <a:rPr lang="en-US" altLang="zh-CN" sz="2800" b="1" dirty="0">
                <a:ea typeface="楷体_GB2312" pitchFamily="49" charset="-122"/>
              </a:rPr>
              <a:t>[Ag(NH</a:t>
            </a:r>
            <a:r>
              <a:rPr lang="en-US" altLang="zh-CN" sz="2800" b="1" baseline="-25000" dirty="0">
                <a:ea typeface="楷体_GB2312" pitchFamily="49" charset="-122"/>
              </a:rPr>
              <a:t>3</a:t>
            </a:r>
            <a:r>
              <a:rPr lang="en-US" altLang="zh-CN" sz="2800" b="1" dirty="0">
                <a:ea typeface="楷体_GB2312" pitchFamily="49" charset="-122"/>
              </a:rPr>
              <a:t>)</a:t>
            </a:r>
            <a:r>
              <a:rPr lang="en-US" altLang="zh-CN" sz="2800" b="1" baseline="-25000" dirty="0">
                <a:ea typeface="楷体_GB2312" pitchFamily="49" charset="-122"/>
              </a:rPr>
              <a:t>2</a:t>
            </a:r>
            <a:r>
              <a:rPr lang="en-US" altLang="zh-CN" sz="2800" b="1" dirty="0">
                <a:ea typeface="楷体_GB2312" pitchFamily="49" charset="-122"/>
              </a:rPr>
              <a:t>]</a:t>
            </a:r>
            <a:r>
              <a:rPr lang="en-US" altLang="zh-CN" sz="2800" b="1" baseline="30000" dirty="0">
                <a:ea typeface="楷体_GB2312" pitchFamily="49" charset="-122"/>
              </a:rPr>
              <a:t>+</a:t>
            </a:r>
            <a:endParaRPr lang="zh-CN" altLang="en-US" sz="2800" baseline="30000" dirty="0"/>
          </a:p>
        </p:txBody>
      </p:sp>
      <p:sp>
        <p:nvSpPr>
          <p:cNvPr id="6" name="矩形 5"/>
          <p:cNvSpPr/>
          <p:nvPr/>
        </p:nvSpPr>
        <p:spPr>
          <a:xfrm>
            <a:off x="2664693" y="2781231"/>
            <a:ext cx="1444626" cy="661207"/>
          </a:xfrm>
          <a:prstGeom prst="rect">
            <a:avLst/>
          </a:prstGeom>
        </p:spPr>
        <p:txBody>
          <a:bodyPr wrap="none">
            <a:spAutoFit/>
          </a:bodyPr>
          <a:lstStyle/>
          <a:p>
            <a:pPr>
              <a:lnSpc>
                <a:spcPct val="150000"/>
              </a:lnSpc>
            </a:pPr>
            <a:r>
              <a:rPr lang="en-US" altLang="zh-CN" sz="2800" b="1" dirty="0">
                <a:ea typeface="楷体_GB2312" pitchFamily="49" charset="-122"/>
              </a:rPr>
              <a:t>[PtCl</a:t>
            </a:r>
            <a:r>
              <a:rPr lang="en-US" altLang="zh-CN" sz="2800" b="1" baseline="-25000" dirty="0">
                <a:ea typeface="楷体_GB2312" pitchFamily="49" charset="-122"/>
              </a:rPr>
              <a:t>6</a:t>
            </a:r>
            <a:r>
              <a:rPr lang="en-US" altLang="zh-CN" sz="2800" b="1" dirty="0">
                <a:ea typeface="楷体_GB2312" pitchFamily="49" charset="-122"/>
              </a:rPr>
              <a:t>]</a:t>
            </a:r>
            <a:r>
              <a:rPr lang="en-US" altLang="zh-CN" sz="2800" b="1" baseline="30000" dirty="0">
                <a:ea typeface="楷体_GB2312" pitchFamily="49" charset="-122"/>
              </a:rPr>
              <a:t>2-</a:t>
            </a:r>
          </a:p>
        </p:txBody>
      </p:sp>
      <p:sp>
        <p:nvSpPr>
          <p:cNvPr id="31" name="Rectangle 11"/>
          <p:cNvSpPr>
            <a:spLocks noChangeArrowheads="1"/>
          </p:cNvSpPr>
          <p:nvPr/>
        </p:nvSpPr>
        <p:spPr bwMode="auto">
          <a:xfrm>
            <a:off x="538161" y="3823397"/>
            <a:ext cx="1725613" cy="523220"/>
          </a:xfrm>
          <a:prstGeom prst="rect">
            <a:avLst/>
          </a:prstGeom>
          <a:noFill/>
          <a:ln w="9525">
            <a:noFill/>
            <a:miter lim="800000"/>
            <a:headEnd/>
            <a:tailEnd/>
          </a:ln>
        </p:spPr>
        <p:txBody>
          <a:bodyPr anchor="ctr">
            <a:spAutoFit/>
          </a:bodyPr>
          <a:lstStyle/>
          <a:p>
            <a:pPr algn="ctr"/>
            <a:r>
              <a:rPr lang="zh-CN" altLang="en-US" sz="2800" b="1" dirty="0">
                <a:solidFill>
                  <a:srgbClr val="008000"/>
                </a:solidFill>
                <a:ea typeface="楷体_GB2312" pitchFamily="49" charset="-122"/>
              </a:rPr>
              <a:t>配分子</a:t>
            </a:r>
            <a:endParaRPr lang="zh-CN" altLang="en-US" sz="2800" b="1" dirty="0">
              <a:ea typeface="楷体_GB2312" pitchFamily="49" charset="-122"/>
            </a:endParaRPr>
          </a:p>
        </p:txBody>
      </p:sp>
      <p:sp>
        <p:nvSpPr>
          <p:cNvPr id="7" name="文本框 6"/>
          <p:cNvSpPr txBox="1"/>
          <p:nvPr/>
        </p:nvSpPr>
        <p:spPr>
          <a:xfrm>
            <a:off x="7192636" y="2141865"/>
            <a:ext cx="1627369" cy="523220"/>
          </a:xfrm>
          <a:prstGeom prst="rect">
            <a:avLst/>
          </a:prstGeom>
          <a:solidFill>
            <a:srgbClr val="FFFF00"/>
          </a:solidFill>
        </p:spPr>
        <p:txBody>
          <a:bodyPr wrap="none" rtlCol="0">
            <a:spAutoFit/>
          </a:bodyPr>
          <a:lstStyle/>
          <a:p>
            <a:r>
              <a:rPr lang="zh-CN" altLang="en-US" sz="2800" b="1" dirty="0">
                <a:ea typeface="楷体_GB2312"/>
              </a:rPr>
              <a:t>配阳离子</a:t>
            </a:r>
          </a:p>
        </p:txBody>
      </p:sp>
      <p:sp>
        <p:nvSpPr>
          <p:cNvPr id="8" name="矩形 7"/>
          <p:cNvSpPr/>
          <p:nvPr/>
        </p:nvSpPr>
        <p:spPr>
          <a:xfrm>
            <a:off x="2409553" y="3823397"/>
            <a:ext cx="1792478" cy="523220"/>
          </a:xfrm>
          <a:prstGeom prst="rect">
            <a:avLst/>
          </a:prstGeom>
        </p:spPr>
        <p:txBody>
          <a:bodyPr wrap="none">
            <a:spAutoFit/>
          </a:bodyPr>
          <a:lstStyle/>
          <a:p>
            <a:r>
              <a:rPr lang="en-US" altLang="zh-CN" sz="2800" b="1" dirty="0">
                <a:ea typeface="楷体_GB2312" pitchFamily="49" charset="-122"/>
              </a:rPr>
              <a:t>[Fe(CO)</a:t>
            </a:r>
            <a:r>
              <a:rPr lang="en-US" altLang="zh-CN" sz="2800" b="1" baseline="-25000" dirty="0">
                <a:ea typeface="楷体_GB2312" pitchFamily="49" charset="-122"/>
              </a:rPr>
              <a:t>5</a:t>
            </a:r>
            <a:r>
              <a:rPr lang="en-US" altLang="zh-CN" sz="2800" b="1" dirty="0">
                <a:ea typeface="楷体_GB2312" pitchFamily="49" charset="-122"/>
              </a:rPr>
              <a:t>] </a:t>
            </a:r>
            <a:endParaRPr lang="zh-CN" altLang="en-US" sz="2800" dirty="0"/>
          </a:p>
        </p:txBody>
      </p:sp>
      <p:sp>
        <p:nvSpPr>
          <p:cNvPr id="34" name="文本框 33"/>
          <p:cNvSpPr txBox="1"/>
          <p:nvPr/>
        </p:nvSpPr>
        <p:spPr>
          <a:xfrm>
            <a:off x="7130637" y="2987306"/>
            <a:ext cx="1627369" cy="523220"/>
          </a:xfrm>
          <a:prstGeom prst="rect">
            <a:avLst/>
          </a:prstGeom>
          <a:solidFill>
            <a:srgbClr val="FFFF00"/>
          </a:solidFill>
        </p:spPr>
        <p:txBody>
          <a:bodyPr wrap="none" rtlCol="0">
            <a:spAutoFit/>
          </a:bodyPr>
          <a:lstStyle/>
          <a:p>
            <a:r>
              <a:rPr lang="zh-CN" altLang="en-US" sz="2800" b="1" dirty="0">
                <a:ea typeface="楷体_GB2312"/>
              </a:rPr>
              <a:t>配阴离子</a:t>
            </a:r>
          </a:p>
        </p:txBody>
      </p:sp>
      <p:sp>
        <p:nvSpPr>
          <p:cNvPr id="9" name="矩形 8"/>
          <p:cNvSpPr/>
          <p:nvPr/>
        </p:nvSpPr>
        <p:spPr>
          <a:xfrm>
            <a:off x="4579464" y="3695576"/>
            <a:ext cx="2363147" cy="661207"/>
          </a:xfrm>
          <a:prstGeom prst="rect">
            <a:avLst/>
          </a:prstGeom>
        </p:spPr>
        <p:txBody>
          <a:bodyPr wrap="none">
            <a:spAutoFit/>
          </a:bodyPr>
          <a:lstStyle/>
          <a:p>
            <a:pPr>
              <a:lnSpc>
                <a:spcPct val="150000"/>
              </a:lnSpc>
            </a:pPr>
            <a:r>
              <a:rPr lang="en-US" altLang="zh-CN" sz="2800" b="1" dirty="0">
                <a:ea typeface="楷体_GB2312" pitchFamily="49" charset="-122"/>
              </a:rPr>
              <a:t>[CoCl</a:t>
            </a:r>
            <a:r>
              <a:rPr lang="en-US" altLang="zh-CN" sz="2800" b="1" baseline="-25000" dirty="0">
                <a:ea typeface="楷体_GB2312" pitchFamily="49" charset="-122"/>
              </a:rPr>
              <a:t>3</a:t>
            </a:r>
            <a:r>
              <a:rPr lang="en-US" altLang="zh-CN" sz="2800" b="1" dirty="0">
                <a:ea typeface="楷体_GB2312" pitchFamily="49" charset="-122"/>
              </a:rPr>
              <a:t>(NH</a:t>
            </a:r>
            <a:r>
              <a:rPr lang="en-US" altLang="zh-CN" sz="2800" b="1" baseline="-25000" dirty="0">
                <a:ea typeface="楷体_GB2312" pitchFamily="49" charset="-122"/>
              </a:rPr>
              <a:t>3</a:t>
            </a:r>
            <a:r>
              <a:rPr lang="en-US" altLang="zh-CN" sz="2800" b="1" dirty="0">
                <a:ea typeface="楷体_GB2312" pitchFamily="49" charset="-122"/>
              </a:rPr>
              <a:t>)</a:t>
            </a:r>
            <a:r>
              <a:rPr lang="en-US" altLang="zh-CN" sz="2800" b="1" baseline="-25000" dirty="0">
                <a:ea typeface="楷体_GB2312" pitchFamily="49" charset="-122"/>
              </a:rPr>
              <a:t>3</a:t>
            </a:r>
            <a:r>
              <a:rPr lang="en-US" altLang="zh-CN" sz="2800" b="1" dirty="0">
                <a:ea typeface="楷体_GB2312" pitchFamily="49" charset="-122"/>
              </a:rPr>
              <a:t>]</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0207"/>
                                        </p:tgtEl>
                                        <p:attrNameLst>
                                          <p:attrName>style.visibility</p:attrName>
                                        </p:attrNameLst>
                                      </p:cBhvr>
                                      <p:to>
                                        <p:strVal val="visible"/>
                                      </p:to>
                                    </p:set>
                                    <p:animEffect transition="in" filter="blinds(horizontal)">
                                      <p:cBhvr>
                                        <p:cTn id="7" dur="500"/>
                                        <p:tgtEl>
                                          <p:spTgt spid="5020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0181"/>
                                        </p:tgtEl>
                                        <p:attrNameLst>
                                          <p:attrName>style.visibility</p:attrName>
                                        </p:attrNameLst>
                                      </p:cBhvr>
                                      <p:to>
                                        <p:strVal val="visible"/>
                                      </p:to>
                                    </p:set>
                                    <p:animEffect transition="in" filter="slide(fromLeft)">
                                      <p:cBhvr>
                                        <p:cTn id="12" dur="500"/>
                                        <p:tgtEl>
                                          <p:spTgt spid="50181"/>
                                        </p:tgtEl>
                                      </p:cBhvr>
                                    </p:animEffect>
                                  </p:childTnLst>
                                </p:cTn>
                              </p:par>
                            </p:childTnLst>
                          </p:cTn>
                        </p:par>
                        <p:par>
                          <p:cTn id="13" fill="hold">
                            <p:stCondLst>
                              <p:cond delay="500"/>
                            </p:stCondLst>
                            <p:childTnLst>
                              <p:par>
                                <p:cTn id="14" presetID="12" presetClass="entr" presetSubtype="1" fill="hold" grpId="0" nodeType="afterEffect">
                                  <p:stCondLst>
                                    <p:cond delay="0"/>
                                  </p:stCondLst>
                                  <p:childTnLst>
                                    <p:set>
                                      <p:cBhvr>
                                        <p:cTn id="15" dur="1" fill="hold">
                                          <p:stCondLst>
                                            <p:cond delay="0"/>
                                          </p:stCondLst>
                                        </p:cTn>
                                        <p:tgtEl>
                                          <p:spTgt spid="50186"/>
                                        </p:tgtEl>
                                        <p:attrNameLst>
                                          <p:attrName>style.visibility</p:attrName>
                                        </p:attrNameLst>
                                      </p:cBhvr>
                                      <p:to>
                                        <p:strVal val="visible"/>
                                      </p:to>
                                    </p:set>
                                    <p:animEffect transition="in" filter="slide(fromTop)">
                                      <p:cBhvr>
                                        <p:cTn id="16" dur="500"/>
                                        <p:tgtEl>
                                          <p:spTgt spid="50186"/>
                                        </p:tgtEl>
                                      </p:cBhvr>
                                    </p:animEffect>
                                  </p:childTnLst>
                                  <p:subTnLst>
                                    <p:audio>
                                      <p:cMediaNode>
                                        <p:cTn display="0" masterRel="sameClick">
                                          <p:stCondLst>
                                            <p:cond evt="begin" delay="0">
                                              <p:tn val="14"/>
                                            </p:cond>
                                          </p:stCondLst>
                                          <p:endCondLst>
                                            <p:cond evt="onStopAudio" delay="0">
                                              <p:tgtEl>
                                                <p:sldTgt/>
                                              </p:tgtEl>
                                            </p:cond>
                                          </p:endCondLst>
                                        </p:cTn>
                                        <p:tgtEl>
                                          <p:sndTgt r:embed="rId2" name="RECYCLE.WAV"/>
                                        </p:tgtEl>
                                      </p:cMediaNode>
                                    </p:audio>
                                  </p:sub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0200"/>
                                        </p:tgtEl>
                                        <p:attrNameLst>
                                          <p:attrName>style.visibility</p:attrName>
                                        </p:attrNameLst>
                                      </p:cBhvr>
                                      <p:to>
                                        <p:strVal val="visible"/>
                                      </p:to>
                                    </p:set>
                                    <p:animEffect transition="in" filter="blinds(horizontal)">
                                      <p:cBhvr>
                                        <p:cTn id="21" dur="500"/>
                                        <p:tgtEl>
                                          <p:spTgt spid="50200"/>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50201"/>
                                        </p:tgtEl>
                                        <p:attrNameLst>
                                          <p:attrName>style.visibility</p:attrName>
                                        </p:attrNameLst>
                                      </p:cBhvr>
                                      <p:to>
                                        <p:strVal val="visible"/>
                                      </p:to>
                                    </p:set>
                                    <p:animEffect transition="in" filter="blinds(horizontal)">
                                      <p:cBhvr>
                                        <p:cTn id="26" dur="500"/>
                                        <p:tgtEl>
                                          <p:spTgt spid="50201"/>
                                        </p:tgtEl>
                                      </p:cBhvr>
                                    </p:animEffect>
                                  </p:childTnLst>
                                </p:cTn>
                              </p:par>
                            </p:childTnLst>
                          </p:cTn>
                        </p:par>
                        <p:par>
                          <p:cTn id="27" fill="hold">
                            <p:stCondLst>
                              <p:cond delay="500"/>
                            </p:stCondLst>
                            <p:childTnLst>
                              <p:par>
                                <p:cTn id="28" presetID="12" presetClass="entr" presetSubtype="4" fill="hold" grpId="0" nodeType="after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slide(fromBottom)">
                                      <p:cBhvr>
                                        <p:cTn id="30" dur="500"/>
                                        <p:tgtEl>
                                          <p:spTgt spid="31"/>
                                        </p:tgtEl>
                                      </p:cBhvr>
                                    </p:animEffect>
                                  </p:childTnLst>
                                  <p:subTnLst>
                                    <p:audio>
                                      <p:cMediaNode>
                                        <p:cTn display="0" masterRel="sameClick">
                                          <p:stCondLst>
                                            <p:cond evt="begin" delay="0">
                                              <p:tn val="28"/>
                                            </p:cond>
                                          </p:stCondLst>
                                          <p:endCondLst>
                                            <p:cond evt="onStopAudio" delay="0">
                                              <p:tgtEl>
                                                <p:sldTgt/>
                                              </p:tgtEl>
                                            </p:cond>
                                          </p:endCondLst>
                                        </p:cTn>
                                        <p:tgtEl>
                                          <p:sndTgt r:embed="rId2" name="RECYC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autoUpdateAnimBg="0"/>
      <p:bldP spid="50186" grpId="0" autoUpdateAnimBg="0"/>
      <p:bldP spid="50200" grpId="0" autoUpdateAnimBg="0"/>
      <p:bldP spid="50201" grpId="0" autoUpdateAnimBg="0"/>
      <p:bldP spid="50207" grpId="0"/>
      <p:bldP spid="31"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Rectangle 8"/>
          <p:cNvSpPr>
            <a:spLocks noChangeArrowheads="1"/>
          </p:cNvSpPr>
          <p:nvPr/>
        </p:nvSpPr>
        <p:spPr bwMode="auto">
          <a:xfrm>
            <a:off x="1189038" y="1044000"/>
            <a:ext cx="2334293" cy="477054"/>
          </a:xfrm>
          <a:prstGeom prst="rect">
            <a:avLst/>
          </a:prstGeom>
          <a:noFill/>
          <a:ln w="9525">
            <a:noFill/>
            <a:miter lim="800000"/>
            <a:headEnd/>
            <a:tailEnd/>
          </a:ln>
        </p:spPr>
        <p:txBody>
          <a:bodyPr wrap="none">
            <a:spAutoFit/>
          </a:bodyPr>
          <a:lstStyle/>
          <a:p>
            <a:r>
              <a:rPr lang="en-US" altLang="zh-CN" sz="2500" b="1" dirty="0">
                <a:ea typeface="楷体_GB2312" pitchFamily="49" charset="-122"/>
              </a:rPr>
              <a:t>[Cu(</a:t>
            </a:r>
            <a:r>
              <a:rPr lang="en-US" altLang="zh-CN" sz="2500" b="1" dirty="0">
                <a:solidFill>
                  <a:srgbClr val="FF0000"/>
                </a:solidFill>
                <a:ea typeface="楷体_GB2312" pitchFamily="49" charset="-122"/>
              </a:rPr>
              <a:t>N</a:t>
            </a:r>
            <a:r>
              <a:rPr lang="en-US" altLang="zh-CN" sz="2500" b="1" dirty="0">
                <a:ea typeface="楷体_GB2312" pitchFamily="49" charset="-122"/>
              </a:rPr>
              <a:t>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4</a:t>
            </a:r>
            <a:r>
              <a:rPr lang="en-US" altLang="zh-CN" sz="2500" b="1" dirty="0">
                <a:ea typeface="楷体_GB2312" pitchFamily="49" charset="-122"/>
              </a:rPr>
              <a:t>] SO</a:t>
            </a:r>
            <a:r>
              <a:rPr lang="en-US" altLang="zh-CN" sz="2500" b="1" baseline="-25000" dirty="0">
                <a:ea typeface="楷体_GB2312" pitchFamily="49" charset="-122"/>
              </a:rPr>
              <a:t>4</a:t>
            </a:r>
          </a:p>
        </p:txBody>
      </p:sp>
      <p:sp>
        <p:nvSpPr>
          <p:cNvPr id="12299" name="Rectangle 11"/>
          <p:cNvSpPr>
            <a:spLocks noChangeArrowheads="1"/>
          </p:cNvSpPr>
          <p:nvPr/>
        </p:nvSpPr>
        <p:spPr bwMode="auto">
          <a:xfrm>
            <a:off x="7904163" y="1044000"/>
            <a:ext cx="2128837" cy="476250"/>
          </a:xfrm>
          <a:prstGeom prst="rect">
            <a:avLst/>
          </a:prstGeom>
          <a:noFill/>
          <a:ln w="9525">
            <a:noFill/>
            <a:miter lim="800000"/>
            <a:headEnd/>
            <a:tailEnd/>
          </a:ln>
        </p:spPr>
        <p:txBody>
          <a:bodyPr wrap="none">
            <a:spAutoFit/>
          </a:bodyPr>
          <a:lstStyle/>
          <a:p>
            <a:r>
              <a:rPr lang="en-US" altLang="zh-CN" sz="2500" b="1" dirty="0">
                <a:ea typeface="楷体_GB2312" pitchFamily="49" charset="-122"/>
              </a:rPr>
              <a:t>[Co</a:t>
            </a:r>
            <a:r>
              <a:rPr lang="en-US" altLang="zh-CN" sz="2500" b="1" dirty="0">
                <a:solidFill>
                  <a:srgbClr val="FF0000"/>
                </a:solidFill>
                <a:ea typeface="楷体_GB2312" pitchFamily="49" charset="-122"/>
              </a:rPr>
              <a:t>Cl</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dirty="0">
                <a:solidFill>
                  <a:srgbClr val="FF0000"/>
                </a:solidFill>
                <a:ea typeface="楷体_GB2312" pitchFamily="49" charset="-122"/>
              </a:rPr>
              <a:t>N</a:t>
            </a:r>
            <a:r>
              <a:rPr lang="en-US" altLang="zh-CN" sz="2500" b="1" dirty="0">
                <a:ea typeface="楷体_GB2312" pitchFamily="49" charset="-122"/>
              </a:rPr>
              <a:t>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3</a:t>
            </a:r>
            <a:r>
              <a:rPr lang="en-US" altLang="zh-CN" sz="2500" b="1" dirty="0">
                <a:ea typeface="楷体_GB2312" pitchFamily="49" charset="-122"/>
              </a:rPr>
              <a:t>]</a:t>
            </a:r>
          </a:p>
        </p:txBody>
      </p:sp>
      <p:sp>
        <p:nvSpPr>
          <p:cNvPr id="12307" name="Text Box 19"/>
          <p:cNvSpPr txBox="1">
            <a:spLocks noChangeArrowheads="1"/>
          </p:cNvSpPr>
          <p:nvPr/>
        </p:nvSpPr>
        <p:spPr bwMode="auto">
          <a:xfrm>
            <a:off x="5403850" y="3097213"/>
            <a:ext cx="569913" cy="1079500"/>
          </a:xfrm>
          <a:prstGeom prst="rect">
            <a:avLst/>
          </a:prstGeom>
          <a:noFill/>
          <a:ln w="12700" cap="sq">
            <a:noFill/>
            <a:miter lim="800000"/>
            <a:headEnd type="none" w="sm" len="sm"/>
            <a:tailEnd type="none" w="sm" len="sm"/>
          </a:ln>
        </p:spPr>
        <p:txBody>
          <a:bodyPr vert="eaVert">
            <a:spAutoFit/>
          </a:bodyPr>
          <a:lstStyle/>
          <a:p>
            <a:pPr>
              <a:spcBef>
                <a:spcPct val="50000"/>
              </a:spcBef>
            </a:pPr>
            <a:r>
              <a:rPr lang="zh-CN" altLang="en-US" sz="2500" b="1">
                <a:solidFill>
                  <a:srgbClr val="FF3300"/>
                </a:solidFill>
                <a:ea typeface="楷体_GB2312" pitchFamily="49" charset="-122"/>
              </a:rPr>
              <a:t>内界</a:t>
            </a:r>
            <a:endParaRPr lang="zh-CN" altLang="en-US" sz="2500">
              <a:solidFill>
                <a:srgbClr val="FF3300"/>
              </a:solidFill>
              <a:ea typeface="楷体_GB2312" pitchFamily="49" charset="-122"/>
            </a:endParaRPr>
          </a:p>
        </p:txBody>
      </p:sp>
      <p:sp>
        <p:nvSpPr>
          <p:cNvPr id="12312" name="Rectangle 24"/>
          <p:cNvSpPr>
            <a:spLocks noChangeArrowheads="1"/>
          </p:cNvSpPr>
          <p:nvPr/>
        </p:nvSpPr>
        <p:spPr bwMode="auto">
          <a:xfrm>
            <a:off x="7874000" y="2997200"/>
            <a:ext cx="1539875" cy="476250"/>
          </a:xfrm>
          <a:prstGeom prst="rect">
            <a:avLst/>
          </a:prstGeom>
          <a:noFill/>
          <a:ln w="9525">
            <a:noFill/>
            <a:miter lim="800000"/>
            <a:headEnd/>
            <a:tailEnd/>
          </a:ln>
        </p:spPr>
        <p:txBody>
          <a:bodyPr wrap="none">
            <a:spAutoFit/>
          </a:bodyPr>
          <a:lstStyle/>
          <a:p>
            <a:r>
              <a:rPr lang="en-US" altLang="zh-CN" sz="2500" b="1" dirty="0">
                <a:ea typeface="楷体_GB2312" pitchFamily="49" charset="-122"/>
              </a:rPr>
              <a:t>[Fe(C</a:t>
            </a:r>
            <a:r>
              <a:rPr lang="en-US" altLang="zh-CN" sz="2500" b="1" dirty="0">
                <a:solidFill>
                  <a:srgbClr val="FF0000"/>
                </a:solidFill>
                <a:ea typeface="楷体_GB2312" pitchFamily="49" charset="-122"/>
              </a:rPr>
              <a:t>O</a:t>
            </a:r>
            <a:r>
              <a:rPr lang="en-US" altLang="zh-CN" sz="2500" b="1" dirty="0">
                <a:ea typeface="楷体_GB2312" pitchFamily="49" charset="-122"/>
              </a:rPr>
              <a:t>)</a:t>
            </a:r>
            <a:r>
              <a:rPr lang="en-US" altLang="zh-CN" sz="2500" b="1" baseline="-25000" dirty="0">
                <a:ea typeface="楷体_GB2312" pitchFamily="49" charset="-122"/>
              </a:rPr>
              <a:t>5</a:t>
            </a:r>
            <a:r>
              <a:rPr lang="en-US" altLang="zh-CN" sz="2500" b="1" dirty="0">
                <a:ea typeface="楷体_GB2312" pitchFamily="49" charset="-122"/>
              </a:rPr>
              <a:t>]</a:t>
            </a:r>
          </a:p>
        </p:txBody>
      </p:sp>
      <p:sp>
        <p:nvSpPr>
          <p:cNvPr id="12320" name="Text Box 32"/>
          <p:cNvSpPr txBox="1">
            <a:spLocks noChangeArrowheads="1"/>
          </p:cNvSpPr>
          <p:nvPr/>
        </p:nvSpPr>
        <p:spPr bwMode="auto">
          <a:xfrm>
            <a:off x="1733550" y="4427424"/>
            <a:ext cx="568325" cy="1079500"/>
          </a:xfrm>
          <a:prstGeom prst="rect">
            <a:avLst/>
          </a:prstGeom>
          <a:noFill/>
          <a:ln w="12700" cap="sq">
            <a:noFill/>
            <a:miter lim="800000"/>
            <a:headEnd type="none" w="sm" len="sm"/>
            <a:tailEnd type="none" w="sm" len="sm"/>
          </a:ln>
        </p:spPr>
        <p:txBody>
          <a:bodyPr vert="eaVert">
            <a:spAutoFit/>
          </a:bodyPr>
          <a:lstStyle/>
          <a:p>
            <a:pPr>
              <a:spcBef>
                <a:spcPct val="50000"/>
              </a:spcBef>
            </a:pPr>
            <a:r>
              <a:rPr lang="zh-CN" altLang="en-US" sz="2500" b="1" dirty="0">
                <a:solidFill>
                  <a:srgbClr val="FF3300"/>
                </a:solidFill>
                <a:ea typeface="楷体_GB2312" pitchFamily="49" charset="-122"/>
              </a:rPr>
              <a:t>内界</a:t>
            </a:r>
            <a:endParaRPr lang="zh-CN" altLang="en-US" sz="2500" dirty="0">
              <a:ea typeface="楷体_GB2312" pitchFamily="49" charset="-122"/>
            </a:endParaRPr>
          </a:p>
        </p:txBody>
      </p:sp>
      <p:sp>
        <p:nvSpPr>
          <p:cNvPr id="12323" name="Rectangle 35"/>
          <p:cNvSpPr>
            <a:spLocks noChangeArrowheads="1"/>
          </p:cNvSpPr>
          <p:nvPr/>
        </p:nvSpPr>
        <p:spPr bwMode="auto">
          <a:xfrm>
            <a:off x="4475153" y="1044000"/>
            <a:ext cx="2055813" cy="476250"/>
          </a:xfrm>
          <a:prstGeom prst="rect">
            <a:avLst/>
          </a:prstGeom>
          <a:noFill/>
          <a:ln w="9525">
            <a:noFill/>
            <a:miter lim="800000"/>
            <a:headEnd/>
            <a:tailEnd/>
          </a:ln>
        </p:spPr>
        <p:txBody>
          <a:bodyPr wrap="none" anchor="ctr">
            <a:spAutoFit/>
          </a:bodyPr>
          <a:lstStyle/>
          <a:p>
            <a:pPr algn="ctr"/>
            <a:r>
              <a:rPr lang="en-US" altLang="zh-CN" sz="2500" b="1" dirty="0">
                <a:ea typeface="楷体_GB2312" pitchFamily="49" charset="-122"/>
              </a:rPr>
              <a:t>K</a:t>
            </a:r>
            <a:r>
              <a:rPr lang="en-US" altLang="zh-CN" sz="2500" b="1" baseline="-25000" dirty="0">
                <a:ea typeface="楷体_GB2312" pitchFamily="49" charset="-122"/>
              </a:rPr>
              <a:t>3</a:t>
            </a:r>
            <a:r>
              <a:rPr lang="en-US" altLang="zh-CN" sz="2500" b="1" dirty="0">
                <a:ea typeface="楷体_GB2312" pitchFamily="49" charset="-122"/>
              </a:rPr>
              <a:t>[Fe(</a:t>
            </a:r>
            <a:r>
              <a:rPr lang="en-US" altLang="zh-CN" sz="2500" b="1" dirty="0">
                <a:solidFill>
                  <a:srgbClr val="FF0000"/>
                </a:solidFill>
                <a:ea typeface="楷体_GB2312" pitchFamily="49" charset="-122"/>
              </a:rPr>
              <a:t>N</a:t>
            </a:r>
            <a:r>
              <a:rPr lang="en-US" altLang="zh-CN" sz="2500" b="1" dirty="0">
                <a:ea typeface="楷体_GB2312" pitchFamily="49" charset="-122"/>
              </a:rPr>
              <a:t>CS)</a:t>
            </a:r>
            <a:r>
              <a:rPr lang="en-US" altLang="zh-CN" sz="2500" b="1" baseline="-25000" dirty="0">
                <a:ea typeface="楷体_GB2312" pitchFamily="49" charset="-122"/>
              </a:rPr>
              <a:t>6</a:t>
            </a:r>
            <a:r>
              <a:rPr lang="en-US" altLang="zh-CN" sz="2500" b="1" dirty="0">
                <a:ea typeface="楷体_GB2312" pitchFamily="49" charset="-122"/>
              </a:rPr>
              <a:t>]</a:t>
            </a:r>
          </a:p>
        </p:txBody>
      </p:sp>
      <p:sp>
        <p:nvSpPr>
          <p:cNvPr id="12303" name="Text Box 15"/>
          <p:cNvSpPr txBox="1">
            <a:spLocks noChangeArrowheads="1"/>
          </p:cNvSpPr>
          <p:nvPr/>
        </p:nvSpPr>
        <p:spPr bwMode="auto">
          <a:xfrm>
            <a:off x="2832100" y="1454150"/>
            <a:ext cx="569913" cy="1295400"/>
          </a:xfrm>
          <a:prstGeom prst="rect">
            <a:avLst/>
          </a:prstGeom>
          <a:noFill/>
          <a:ln w="12700" cap="sq">
            <a:noFill/>
            <a:miter lim="800000"/>
            <a:headEnd type="none" w="sm" len="sm"/>
            <a:tailEnd type="none" w="sm" len="sm"/>
          </a:ln>
        </p:spPr>
        <p:txBody>
          <a:bodyPr vert="eaVert">
            <a:spAutoFit/>
          </a:bodyPr>
          <a:lstStyle/>
          <a:p>
            <a:pPr>
              <a:spcBef>
                <a:spcPct val="50000"/>
              </a:spcBef>
            </a:pPr>
            <a:r>
              <a:rPr lang="en-US" altLang="zh-CN" sz="2500" b="1" dirty="0">
                <a:solidFill>
                  <a:srgbClr val="FF3300"/>
                </a:solidFill>
                <a:ea typeface="楷体_GB2312" pitchFamily="49" charset="-122"/>
              </a:rPr>
              <a:t>←</a:t>
            </a:r>
            <a:r>
              <a:rPr lang="zh-CN" altLang="en-US" sz="2500" b="1" dirty="0">
                <a:solidFill>
                  <a:srgbClr val="FF3300"/>
                </a:solidFill>
                <a:ea typeface="楷体_GB2312" pitchFamily="49" charset="-122"/>
              </a:rPr>
              <a:t>外界</a:t>
            </a:r>
            <a:endParaRPr lang="zh-CN" altLang="en-US" sz="2500" dirty="0">
              <a:ea typeface="楷体_GB2312" pitchFamily="49" charset="-122"/>
            </a:endParaRPr>
          </a:p>
        </p:txBody>
      </p:sp>
      <p:sp>
        <p:nvSpPr>
          <p:cNvPr id="12305" name="Text Box 17"/>
          <p:cNvSpPr txBox="1">
            <a:spLocks noChangeArrowheads="1"/>
          </p:cNvSpPr>
          <p:nvPr/>
        </p:nvSpPr>
        <p:spPr bwMode="auto">
          <a:xfrm>
            <a:off x="4403725" y="1525588"/>
            <a:ext cx="569913" cy="1295400"/>
          </a:xfrm>
          <a:prstGeom prst="rect">
            <a:avLst/>
          </a:prstGeom>
          <a:noFill/>
          <a:ln w="12700" cap="sq">
            <a:noFill/>
            <a:miter lim="800000"/>
            <a:headEnd type="none" w="sm" len="sm"/>
            <a:tailEnd type="none" w="sm" len="sm"/>
          </a:ln>
        </p:spPr>
        <p:txBody>
          <a:bodyPr vert="eaVert">
            <a:spAutoFit/>
          </a:bodyPr>
          <a:lstStyle/>
          <a:p>
            <a:pPr>
              <a:spcBef>
                <a:spcPct val="50000"/>
              </a:spcBef>
            </a:pPr>
            <a:r>
              <a:rPr lang="en-US" altLang="zh-CN" sz="2500" b="1">
                <a:solidFill>
                  <a:srgbClr val="FF3300"/>
                </a:solidFill>
                <a:ea typeface="楷体_GB2312" pitchFamily="49" charset="-122"/>
              </a:rPr>
              <a:t>←</a:t>
            </a:r>
            <a:r>
              <a:rPr lang="zh-CN" altLang="en-US" sz="2500" b="1">
                <a:solidFill>
                  <a:srgbClr val="FF3300"/>
                </a:solidFill>
                <a:ea typeface="楷体_GB2312" pitchFamily="49" charset="-122"/>
              </a:rPr>
              <a:t>外界</a:t>
            </a:r>
            <a:endParaRPr lang="zh-CN" altLang="en-US" sz="2500">
              <a:solidFill>
                <a:srgbClr val="FF3300"/>
              </a:solidFill>
              <a:ea typeface="楷体_GB2312" pitchFamily="49" charset="-122"/>
            </a:endParaRPr>
          </a:p>
        </p:txBody>
      </p:sp>
      <p:sp>
        <p:nvSpPr>
          <p:cNvPr id="12308" name="Text Box 20"/>
          <p:cNvSpPr txBox="1">
            <a:spLocks noChangeArrowheads="1"/>
          </p:cNvSpPr>
          <p:nvPr/>
        </p:nvSpPr>
        <p:spPr bwMode="auto">
          <a:xfrm>
            <a:off x="1379538" y="1460500"/>
            <a:ext cx="568325" cy="3671888"/>
          </a:xfrm>
          <a:prstGeom prst="rect">
            <a:avLst/>
          </a:prstGeom>
          <a:noFill/>
          <a:ln w="12700" cap="sq">
            <a:noFill/>
            <a:miter lim="800000"/>
            <a:headEnd type="none" w="sm" len="sm"/>
            <a:tailEnd type="none" w="sm" len="sm"/>
          </a:ln>
        </p:spPr>
        <p:txBody>
          <a:bodyPr vert="eaVert">
            <a:spAutoFit/>
          </a:bodyPr>
          <a:lstStyle/>
          <a:p>
            <a:pPr>
              <a:spcBef>
                <a:spcPct val="50000"/>
              </a:spcBef>
            </a:pPr>
            <a:r>
              <a:rPr lang="en-US" altLang="zh-CN" sz="2500" b="1" dirty="0">
                <a:ea typeface="楷体_GB2312" pitchFamily="49" charset="-122"/>
              </a:rPr>
              <a:t>←</a:t>
            </a:r>
            <a:r>
              <a:rPr lang="zh-CN" altLang="en-US" sz="2500" b="1" dirty="0">
                <a:ea typeface="楷体_GB2312" pitchFamily="49" charset="-122"/>
              </a:rPr>
              <a:t>中心离子</a:t>
            </a:r>
            <a:r>
              <a:rPr lang="en-US" altLang="zh-CN" sz="2500" b="1" dirty="0">
                <a:ea typeface="楷体_GB2312" pitchFamily="49" charset="-122"/>
              </a:rPr>
              <a:t>(</a:t>
            </a:r>
            <a:r>
              <a:rPr lang="zh-CN" altLang="en-US" sz="2500" b="1" dirty="0">
                <a:ea typeface="楷体_GB2312" pitchFamily="49" charset="-122"/>
              </a:rPr>
              <a:t>形成体</a:t>
            </a:r>
            <a:r>
              <a:rPr lang="en-US" altLang="zh-CN" sz="2500" b="1" dirty="0">
                <a:ea typeface="楷体_GB2312" pitchFamily="49" charset="-122"/>
              </a:rPr>
              <a:t>)</a:t>
            </a:r>
          </a:p>
        </p:txBody>
      </p:sp>
      <p:sp>
        <p:nvSpPr>
          <p:cNvPr id="12313" name="Text Box 25"/>
          <p:cNvSpPr txBox="1">
            <a:spLocks noChangeArrowheads="1"/>
          </p:cNvSpPr>
          <p:nvPr/>
        </p:nvSpPr>
        <p:spPr bwMode="auto">
          <a:xfrm>
            <a:off x="1903413" y="1525588"/>
            <a:ext cx="569912" cy="3605212"/>
          </a:xfrm>
          <a:prstGeom prst="rect">
            <a:avLst/>
          </a:prstGeom>
          <a:noFill/>
          <a:ln w="12700" cap="sq">
            <a:noFill/>
            <a:miter lim="800000"/>
            <a:headEnd type="none" w="sm" len="sm"/>
            <a:tailEnd type="none" w="sm" len="sm"/>
          </a:ln>
        </p:spPr>
        <p:txBody>
          <a:bodyPr vert="eaVert">
            <a:spAutoFit/>
          </a:bodyPr>
          <a:lstStyle/>
          <a:p>
            <a:pPr>
              <a:spcBef>
                <a:spcPct val="50000"/>
              </a:spcBef>
            </a:pPr>
            <a:r>
              <a:rPr lang="en-US" altLang="zh-CN" sz="2500" b="1" dirty="0">
                <a:ea typeface="楷体_GB2312" pitchFamily="49" charset="-122"/>
              </a:rPr>
              <a:t>←</a:t>
            </a:r>
            <a:r>
              <a:rPr lang="zh-CN" altLang="en-US" sz="2500" b="1" dirty="0">
                <a:ea typeface="楷体_GB2312" pitchFamily="49" charset="-122"/>
              </a:rPr>
              <a:t>配位体</a:t>
            </a:r>
            <a:r>
              <a:rPr lang="en-US" altLang="zh-CN" sz="2500" b="1" dirty="0">
                <a:ea typeface="楷体_GB2312" pitchFamily="49" charset="-122"/>
              </a:rPr>
              <a:t>(</a:t>
            </a:r>
            <a:r>
              <a:rPr lang="zh-CN" altLang="en-US" sz="2500" b="1" dirty="0">
                <a:ea typeface="楷体_GB2312" pitchFamily="49" charset="-122"/>
              </a:rPr>
              <a:t>简称配体</a:t>
            </a:r>
            <a:r>
              <a:rPr lang="en-US" altLang="zh-CN" sz="2500" b="1" dirty="0">
                <a:ea typeface="楷体_GB2312" pitchFamily="49" charset="-122"/>
              </a:rPr>
              <a:t>)</a:t>
            </a:r>
          </a:p>
        </p:txBody>
      </p:sp>
      <p:sp>
        <p:nvSpPr>
          <p:cNvPr id="12316" name="Text Box 28"/>
          <p:cNvSpPr txBox="1">
            <a:spLocks noChangeArrowheads="1"/>
          </p:cNvSpPr>
          <p:nvPr/>
        </p:nvSpPr>
        <p:spPr bwMode="auto">
          <a:xfrm>
            <a:off x="4903788" y="1597025"/>
            <a:ext cx="569912" cy="2016125"/>
          </a:xfrm>
          <a:prstGeom prst="rect">
            <a:avLst/>
          </a:prstGeom>
          <a:noFill/>
          <a:ln w="12700" cap="sq">
            <a:noFill/>
            <a:miter lim="800000"/>
            <a:headEnd type="none" w="sm" len="sm"/>
            <a:tailEnd type="none" w="sm" len="sm"/>
          </a:ln>
        </p:spPr>
        <p:txBody>
          <a:bodyPr vert="eaVert">
            <a:spAutoFit/>
          </a:bodyPr>
          <a:lstStyle/>
          <a:p>
            <a:pPr>
              <a:spcBef>
                <a:spcPct val="50000"/>
              </a:spcBef>
            </a:pPr>
            <a:r>
              <a:rPr lang="en-US" altLang="zh-CN" sz="2500" b="1">
                <a:ea typeface="楷体_GB2312" pitchFamily="49" charset="-122"/>
              </a:rPr>
              <a:t>←</a:t>
            </a:r>
            <a:r>
              <a:rPr lang="zh-CN" altLang="en-US" sz="2500" b="1">
                <a:ea typeface="楷体_GB2312" pitchFamily="49" charset="-122"/>
              </a:rPr>
              <a:t>形成体</a:t>
            </a:r>
          </a:p>
        </p:txBody>
      </p:sp>
      <p:sp>
        <p:nvSpPr>
          <p:cNvPr id="12321" name="Text Box 33"/>
          <p:cNvSpPr txBox="1">
            <a:spLocks noChangeArrowheads="1"/>
          </p:cNvSpPr>
          <p:nvPr/>
        </p:nvSpPr>
        <p:spPr bwMode="auto">
          <a:xfrm>
            <a:off x="5475288" y="1382713"/>
            <a:ext cx="569912" cy="2022475"/>
          </a:xfrm>
          <a:prstGeom prst="rect">
            <a:avLst/>
          </a:prstGeom>
          <a:noFill/>
          <a:ln w="12700" cap="sq">
            <a:noFill/>
            <a:miter lim="800000"/>
            <a:headEnd type="none" w="sm" len="sm"/>
            <a:tailEnd type="none" w="sm" len="sm"/>
          </a:ln>
        </p:spPr>
        <p:txBody>
          <a:bodyPr vert="eaVert">
            <a:spAutoFit/>
          </a:bodyPr>
          <a:lstStyle/>
          <a:p>
            <a:pPr>
              <a:spcBef>
                <a:spcPct val="50000"/>
              </a:spcBef>
            </a:pPr>
            <a:r>
              <a:rPr lang="en-US" altLang="zh-CN" sz="2500" b="1">
                <a:ea typeface="楷体_GB2312" pitchFamily="49" charset="-122"/>
              </a:rPr>
              <a:t>←</a:t>
            </a:r>
            <a:r>
              <a:rPr lang="zh-CN" altLang="en-US" sz="2500" b="1">
                <a:ea typeface="楷体_GB2312" pitchFamily="49" charset="-122"/>
              </a:rPr>
              <a:t>配体</a:t>
            </a:r>
            <a:endParaRPr lang="zh-CN" altLang="en-US" sz="2500">
              <a:ea typeface="楷体_GB2312" pitchFamily="49" charset="-122"/>
            </a:endParaRPr>
          </a:p>
        </p:txBody>
      </p:sp>
      <p:sp>
        <p:nvSpPr>
          <p:cNvPr id="12322" name="Text Box 34"/>
          <p:cNvSpPr txBox="1">
            <a:spLocks noChangeArrowheads="1"/>
          </p:cNvSpPr>
          <p:nvPr/>
        </p:nvSpPr>
        <p:spPr bwMode="auto">
          <a:xfrm>
            <a:off x="9283700" y="1868488"/>
            <a:ext cx="569913" cy="1584325"/>
          </a:xfrm>
          <a:prstGeom prst="rect">
            <a:avLst/>
          </a:prstGeom>
          <a:noFill/>
          <a:ln w="12700" cap="sq">
            <a:noFill/>
            <a:miter lim="800000"/>
            <a:headEnd type="none" w="sm" len="sm"/>
            <a:tailEnd type="none" w="sm" len="sm"/>
          </a:ln>
        </p:spPr>
        <p:txBody>
          <a:bodyPr vert="eaVert">
            <a:spAutoFit/>
          </a:bodyPr>
          <a:lstStyle/>
          <a:p>
            <a:pPr>
              <a:spcBef>
                <a:spcPct val="50000"/>
              </a:spcBef>
            </a:pPr>
            <a:r>
              <a:rPr lang="zh-CN" altLang="en-US" sz="2500" b="1">
                <a:ea typeface="楷体_GB2312" pitchFamily="49" charset="-122"/>
              </a:rPr>
              <a:t>配体</a:t>
            </a:r>
            <a:endParaRPr lang="zh-CN" altLang="en-US" sz="2500">
              <a:ea typeface="楷体_GB2312" pitchFamily="49" charset="-122"/>
            </a:endParaRPr>
          </a:p>
        </p:txBody>
      </p:sp>
      <p:sp>
        <p:nvSpPr>
          <p:cNvPr id="12326" name="Text Box 38"/>
          <p:cNvSpPr txBox="1">
            <a:spLocks noChangeArrowheads="1"/>
          </p:cNvSpPr>
          <p:nvPr/>
        </p:nvSpPr>
        <p:spPr bwMode="auto">
          <a:xfrm>
            <a:off x="8047038" y="1525588"/>
            <a:ext cx="569912" cy="1728787"/>
          </a:xfrm>
          <a:prstGeom prst="rect">
            <a:avLst/>
          </a:prstGeom>
          <a:noFill/>
          <a:ln w="12700" cap="sq">
            <a:noFill/>
            <a:miter lim="800000"/>
            <a:headEnd type="none" w="sm" len="sm"/>
            <a:tailEnd type="none" w="sm" len="sm"/>
          </a:ln>
        </p:spPr>
        <p:txBody>
          <a:bodyPr vert="eaVert">
            <a:spAutoFit/>
          </a:bodyPr>
          <a:lstStyle/>
          <a:p>
            <a:pPr>
              <a:spcBef>
                <a:spcPct val="50000"/>
              </a:spcBef>
            </a:pPr>
            <a:r>
              <a:rPr lang="en-US" altLang="zh-CN" sz="2500" b="1">
                <a:ea typeface="楷体_GB2312" pitchFamily="49" charset="-122"/>
              </a:rPr>
              <a:t>←</a:t>
            </a:r>
            <a:r>
              <a:rPr lang="zh-CN" altLang="en-US" sz="2500" b="1">
                <a:ea typeface="楷体_GB2312" pitchFamily="49" charset="-122"/>
              </a:rPr>
              <a:t>形成体</a:t>
            </a:r>
          </a:p>
        </p:txBody>
      </p:sp>
      <p:sp>
        <p:nvSpPr>
          <p:cNvPr id="12327" name="AutoShape 39"/>
          <p:cNvSpPr>
            <a:spLocks/>
          </p:cNvSpPr>
          <p:nvPr/>
        </p:nvSpPr>
        <p:spPr bwMode="auto">
          <a:xfrm rot="-5400000">
            <a:off x="9194006" y="1092994"/>
            <a:ext cx="144463" cy="1152525"/>
          </a:xfrm>
          <a:prstGeom prst="leftBrace">
            <a:avLst>
              <a:gd name="adj1" fmla="val 49862"/>
              <a:gd name="adj2" fmla="val 50000"/>
            </a:avLst>
          </a:prstGeom>
          <a:noFill/>
          <a:ln w="9525">
            <a:solidFill>
              <a:schemeClr val="tx1"/>
            </a:solidFill>
            <a:round/>
            <a:headEnd/>
            <a:tailEnd/>
          </a:ln>
        </p:spPr>
        <p:txBody>
          <a:bodyPr wrap="none" anchor="ctr"/>
          <a:lstStyle/>
          <a:p>
            <a:endParaRPr lang="zh-CN" altLang="en-US" sz="2500">
              <a:ea typeface="楷体_GB2312" pitchFamily="49" charset="-122"/>
            </a:endParaRPr>
          </a:p>
        </p:txBody>
      </p:sp>
      <p:sp>
        <p:nvSpPr>
          <p:cNvPr id="12311" name="Text Box 23"/>
          <p:cNvSpPr txBox="1">
            <a:spLocks noChangeArrowheads="1"/>
          </p:cNvSpPr>
          <p:nvPr/>
        </p:nvSpPr>
        <p:spPr bwMode="auto">
          <a:xfrm>
            <a:off x="7904163" y="3382963"/>
            <a:ext cx="569912" cy="2232025"/>
          </a:xfrm>
          <a:prstGeom prst="rect">
            <a:avLst/>
          </a:prstGeom>
          <a:noFill/>
          <a:ln w="12700" cap="sq">
            <a:noFill/>
            <a:miter lim="800000"/>
            <a:headEnd type="none" w="sm" len="sm"/>
            <a:tailEnd type="none" w="sm" len="sm"/>
          </a:ln>
        </p:spPr>
        <p:txBody>
          <a:bodyPr vert="eaVert">
            <a:spAutoFit/>
          </a:bodyPr>
          <a:lstStyle/>
          <a:p>
            <a:pPr>
              <a:spcBef>
                <a:spcPct val="50000"/>
              </a:spcBef>
            </a:pPr>
            <a:r>
              <a:rPr lang="en-US" altLang="zh-CN" sz="2500" b="1">
                <a:ea typeface="楷体_GB2312" pitchFamily="49" charset="-122"/>
              </a:rPr>
              <a:t>←</a:t>
            </a:r>
            <a:r>
              <a:rPr lang="zh-CN" altLang="en-US" sz="2500" b="1">
                <a:ea typeface="楷体_GB2312" pitchFamily="49" charset="-122"/>
              </a:rPr>
              <a:t>中心原子</a:t>
            </a:r>
          </a:p>
        </p:txBody>
      </p:sp>
      <p:sp>
        <p:nvSpPr>
          <p:cNvPr id="12328" name="Text Box 40"/>
          <p:cNvSpPr txBox="1">
            <a:spLocks noChangeArrowheads="1"/>
          </p:cNvSpPr>
          <p:nvPr/>
        </p:nvSpPr>
        <p:spPr bwMode="auto">
          <a:xfrm>
            <a:off x="8618538" y="3382963"/>
            <a:ext cx="569912" cy="1800225"/>
          </a:xfrm>
          <a:prstGeom prst="rect">
            <a:avLst/>
          </a:prstGeom>
          <a:noFill/>
          <a:ln w="12700" cap="sq">
            <a:noFill/>
            <a:miter lim="800000"/>
            <a:headEnd type="none" w="sm" len="sm"/>
            <a:tailEnd type="none" w="sm" len="sm"/>
          </a:ln>
        </p:spPr>
        <p:txBody>
          <a:bodyPr vert="eaVert">
            <a:spAutoFit/>
          </a:bodyPr>
          <a:lstStyle/>
          <a:p>
            <a:pPr>
              <a:spcBef>
                <a:spcPct val="50000"/>
              </a:spcBef>
            </a:pPr>
            <a:r>
              <a:rPr lang="en-US" altLang="zh-CN" sz="2500" b="1">
                <a:ea typeface="楷体_GB2312" pitchFamily="49" charset="-122"/>
              </a:rPr>
              <a:t>←</a:t>
            </a:r>
            <a:r>
              <a:rPr lang="zh-CN" altLang="en-US" sz="2500" b="1">
                <a:ea typeface="楷体_GB2312" pitchFamily="49" charset="-122"/>
              </a:rPr>
              <a:t>配体</a:t>
            </a:r>
            <a:endParaRPr lang="zh-CN" altLang="en-US" sz="2500">
              <a:ea typeface="楷体_GB2312" pitchFamily="49" charset="-122"/>
            </a:endParaRPr>
          </a:p>
        </p:txBody>
      </p:sp>
      <p:sp>
        <p:nvSpPr>
          <p:cNvPr id="8213" name="Rectangle 55"/>
          <p:cNvSpPr>
            <a:spLocks noGrp="1" noChangeArrowheads="1"/>
          </p:cNvSpPr>
          <p:nvPr>
            <p:ph type="title"/>
          </p:nvPr>
        </p:nvSpPr>
        <p:spPr>
          <a:xfrm>
            <a:off x="576263" y="258763"/>
            <a:ext cx="10369550" cy="431800"/>
          </a:xfrm>
          <a:noFill/>
        </p:spPr>
        <p:txBody>
          <a:bodyPr/>
          <a:lstStyle/>
          <a:p>
            <a:r>
              <a:rPr lang="en-US" altLang="zh-CN">
                <a:ea typeface="黑体" pitchFamily="49" charset="-122"/>
              </a:rPr>
              <a:t>6.1.1</a:t>
            </a:r>
            <a:r>
              <a:rPr lang="zh-CN" altLang="en-US">
                <a:ea typeface="黑体" pitchFamily="49" charset="-122"/>
              </a:rPr>
              <a:t>配合物及其组成</a:t>
            </a:r>
            <a:endParaRPr lang="zh-CN" altLang="en-US" sz="1200" b="0">
              <a:solidFill>
                <a:srgbClr val="0000FF"/>
              </a:solidFill>
              <a:ea typeface="黑体" pitchFamily="49" charset="-122"/>
            </a:endParaRPr>
          </a:p>
        </p:txBody>
      </p:sp>
      <p:sp>
        <p:nvSpPr>
          <p:cNvPr id="12346" name="Rectangle 58"/>
          <p:cNvSpPr>
            <a:spLocks noChangeArrowheads="1"/>
          </p:cNvSpPr>
          <p:nvPr/>
        </p:nvSpPr>
        <p:spPr bwMode="auto">
          <a:xfrm>
            <a:off x="3154363" y="4354027"/>
            <a:ext cx="4392614" cy="1631216"/>
          </a:xfrm>
          <a:prstGeom prst="rect">
            <a:avLst/>
          </a:prstGeom>
          <a:noFill/>
          <a:ln w="9525">
            <a:noFill/>
            <a:miter lim="800000"/>
            <a:headEnd/>
            <a:tailEnd/>
          </a:ln>
        </p:spPr>
        <p:txBody>
          <a:bodyPr wrap="square" anchor="ctr">
            <a:spAutoFit/>
          </a:bodyPr>
          <a:lstStyle/>
          <a:p>
            <a:r>
              <a:rPr lang="zh-CN" altLang="en-US" sz="2500" b="1" dirty="0">
                <a:solidFill>
                  <a:srgbClr val="FF3300"/>
                </a:solidFill>
                <a:ea typeface="楷体_GB2312" pitchFamily="49" charset="-122"/>
              </a:rPr>
              <a:t>配位原子</a:t>
            </a:r>
            <a:r>
              <a:rPr lang="en-US" altLang="zh-CN" sz="2500" b="1" dirty="0">
                <a:solidFill>
                  <a:srgbClr val="FF3300"/>
                </a:solidFill>
                <a:ea typeface="楷体_GB2312" pitchFamily="49" charset="-122"/>
              </a:rPr>
              <a:t>:</a:t>
            </a:r>
            <a:r>
              <a:rPr lang="en-US" altLang="zh-CN" sz="2500" b="1" dirty="0">
                <a:ea typeface="楷体_GB2312" pitchFamily="49" charset="-122"/>
              </a:rPr>
              <a:t>1.</a:t>
            </a:r>
            <a:r>
              <a:rPr lang="zh-CN" altLang="en-US" sz="2500" b="1" dirty="0">
                <a:ea typeface="楷体_GB2312" pitchFamily="49" charset="-122"/>
              </a:rPr>
              <a:t>提供孤对给电子形成体从而形成配位键的原子</a:t>
            </a:r>
            <a:endParaRPr lang="en-US" altLang="zh-CN" sz="2500" b="1" dirty="0">
              <a:ea typeface="楷体_GB2312" pitchFamily="49" charset="-122"/>
            </a:endParaRPr>
          </a:p>
          <a:p>
            <a:r>
              <a:rPr lang="en-US" altLang="zh-CN" sz="2500" b="1" dirty="0">
                <a:ea typeface="楷体_GB2312" pitchFamily="49" charset="-122"/>
              </a:rPr>
              <a:t>2. </a:t>
            </a:r>
            <a:r>
              <a:rPr lang="zh-CN" altLang="en-US" sz="2500" b="1" dirty="0">
                <a:ea typeface="楷体_GB2312" pitchFamily="49" charset="-122"/>
              </a:rPr>
              <a:t>电负性较大的非金属原子</a:t>
            </a:r>
            <a:r>
              <a:rPr lang="en-US" altLang="zh-CN" sz="2500" b="1" dirty="0">
                <a:ea typeface="楷体_GB2312" pitchFamily="49" charset="-122"/>
              </a:rPr>
              <a:t>.</a:t>
            </a:r>
            <a:endParaRPr lang="en-US" altLang="zh-CN" sz="2500" b="1" dirty="0">
              <a:solidFill>
                <a:schemeClr val="tx2"/>
              </a:solidFill>
              <a:ea typeface="楷体_GB2312" pitchFamily="49" charset="-122"/>
            </a:endParaRPr>
          </a:p>
          <a:p>
            <a:endParaRPr lang="en-US" altLang="zh-CN" sz="2500" b="1" dirty="0">
              <a:ea typeface="楷体_GB2312" pitchFamily="49" charset="-122"/>
            </a:endParaRPr>
          </a:p>
        </p:txBody>
      </p:sp>
      <p:sp>
        <p:nvSpPr>
          <p:cNvPr id="8218"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8219"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a:p>
        </p:txBody>
      </p:sp>
      <p:sp>
        <p:nvSpPr>
          <p:cNvPr id="2" name="矩形 1"/>
          <p:cNvSpPr/>
          <p:nvPr/>
        </p:nvSpPr>
        <p:spPr>
          <a:xfrm>
            <a:off x="1123380" y="1018601"/>
            <a:ext cx="1707131" cy="333432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4869881" y="993487"/>
            <a:ext cx="1707131" cy="2176751"/>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2296"/>
                                        </p:tgtEl>
                                        <p:attrNameLst>
                                          <p:attrName>style.visibility</p:attrName>
                                        </p:attrNameLst>
                                      </p:cBhvr>
                                      <p:to>
                                        <p:strVal val="visible"/>
                                      </p:to>
                                    </p:set>
                                    <p:animEffect transition="in" filter="blinds(horizontal)">
                                      <p:cBhvr>
                                        <p:cTn id="7" dur="500"/>
                                        <p:tgtEl>
                                          <p:spTgt spid="1229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2320"/>
                                        </p:tgtEl>
                                        <p:attrNameLst>
                                          <p:attrName>style.visibility</p:attrName>
                                        </p:attrNameLst>
                                      </p:cBhvr>
                                      <p:to>
                                        <p:strVal val="visible"/>
                                      </p:to>
                                    </p:set>
                                    <p:animEffect transition="in" filter="blinds(horizontal)">
                                      <p:cBhvr>
                                        <p:cTn id="16" dur="500"/>
                                        <p:tgtEl>
                                          <p:spTgt spid="12320"/>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2303"/>
                                        </p:tgtEl>
                                        <p:attrNameLst>
                                          <p:attrName>style.visibility</p:attrName>
                                        </p:attrNameLst>
                                      </p:cBhvr>
                                      <p:to>
                                        <p:strVal val="visible"/>
                                      </p:to>
                                    </p:set>
                                    <p:animEffect transition="in" filter="blinds(horizontal)">
                                      <p:cBhvr>
                                        <p:cTn id="21" dur="500"/>
                                        <p:tgtEl>
                                          <p:spTgt spid="12303"/>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308"/>
                                        </p:tgtEl>
                                        <p:attrNameLst>
                                          <p:attrName>style.visibility</p:attrName>
                                        </p:attrNameLst>
                                      </p:cBhvr>
                                      <p:to>
                                        <p:strVal val="visible"/>
                                      </p:to>
                                    </p:set>
                                    <p:animEffect transition="in" filter="blinds(horizontal)">
                                      <p:cBhvr>
                                        <p:cTn id="26" dur="500"/>
                                        <p:tgtEl>
                                          <p:spTgt spid="12308"/>
                                        </p:tgtEl>
                                      </p:cBhvr>
                                    </p:animEffect>
                                  </p:childTnLst>
                                  <p:subTnLst>
                                    <p:audio>
                                      <p:cMediaNode>
                                        <p:cTn display="0" masterRel="sameClick">
                                          <p:stCondLst>
                                            <p:cond evt="begin" delay="0">
                                              <p:tn val="24"/>
                                            </p:cond>
                                          </p:stCondLst>
                                          <p:endCondLst>
                                            <p:cond evt="onStopAudio" delay="0">
                                              <p:tgtEl>
                                                <p:sldTgt/>
                                              </p:tgtEl>
                                            </p:cond>
                                          </p:endCondLst>
                                        </p:cTn>
                                        <p:tgtEl>
                                          <p:sndTgt r:embed="rId3" name="RECYCLE.WAV"/>
                                        </p:tgtEl>
                                      </p:cMediaNode>
                                    </p:audio>
                                  </p:sub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313"/>
                                        </p:tgtEl>
                                        <p:attrNameLst>
                                          <p:attrName>style.visibility</p:attrName>
                                        </p:attrNameLst>
                                      </p:cBhvr>
                                      <p:to>
                                        <p:strVal val="visible"/>
                                      </p:to>
                                    </p:set>
                                    <p:animEffect transition="in" filter="blinds(horizontal)">
                                      <p:cBhvr>
                                        <p:cTn id="31" dur="500"/>
                                        <p:tgtEl>
                                          <p:spTgt spid="12313"/>
                                        </p:tgtEl>
                                      </p:cBhvr>
                                    </p:animEffect>
                                  </p:childTnLst>
                                  <p:subTnLst>
                                    <p:audio>
                                      <p:cMediaNode>
                                        <p:cTn display="0" masterRel="sameClick">
                                          <p:stCondLst>
                                            <p:cond evt="begin" delay="0">
                                              <p:tn val="29"/>
                                            </p:cond>
                                          </p:stCondLst>
                                          <p:endCondLst>
                                            <p:cond evt="onStopAudio" delay="0">
                                              <p:tgtEl>
                                                <p:sldTgt/>
                                              </p:tgtEl>
                                            </p:cond>
                                          </p:endCondLst>
                                        </p:cTn>
                                        <p:tgtEl>
                                          <p:sndTgt r:embed="rId3" name="RECYCLE.WAV"/>
                                        </p:tgtEl>
                                      </p:cMediaNode>
                                    </p:audio>
                                  </p:sub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2323"/>
                                        </p:tgtEl>
                                        <p:attrNameLst>
                                          <p:attrName>style.visibility</p:attrName>
                                        </p:attrNameLst>
                                      </p:cBhvr>
                                      <p:to>
                                        <p:strVal val="visible"/>
                                      </p:to>
                                    </p:set>
                                    <p:animEffect transition="in" filter="blinds(horizontal)">
                                      <p:cBhvr>
                                        <p:cTn id="36" dur="500"/>
                                        <p:tgtEl>
                                          <p:spTgt spid="12323"/>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2305"/>
                                        </p:tgtEl>
                                        <p:attrNameLst>
                                          <p:attrName>style.visibility</p:attrName>
                                        </p:attrNameLst>
                                      </p:cBhvr>
                                      <p:to>
                                        <p:strVal val="visible"/>
                                      </p:to>
                                    </p:set>
                                    <p:animEffect transition="in" filter="blinds(horizontal)">
                                      <p:cBhvr>
                                        <p:cTn id="41" dur="500"/>
                                        <p:tgtEl>
                                          <p:spTgt spid="12305"/>
                                        </p:tgtEl>
                                      </p:cBhvr>
                                    </p:animEffec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childTnLst>
                          </p:cTn>
                        </p:par>
                        <p:par>
                          <p:cTn id="47" fill="hold">
                            <p:stCondLst>
                              <p:cond delay="500"/>
                            </p:stCondLst>
                            <p:childTnLst>
                              <p:par>
                                <p:cTn id="48" presetID="3" presetClass="entr" presetSubtype="10" fill="hold" grpId="0" nodeType="afterEffect">
                                  <p:stCondLst>
                                    <p:cond delay="0"/>
                                  </p:stCondLst>
                                  <p:childTnLst>
                                    <p:set>
                                      <p:cBhvr>
                                        <p:cTn id="49" dur="1" fill="hold">
                                          <p:stCondLst>
                                            <p:cond delay="0"/>
                                          </p:stCondLst>
                                        </p:cTn>
                                        <p:tgtEl>
                                          <p:spTgt spid="12307"/>
                                        </p:tgtEl>
                                        <p:attrNameLst>
                                          <p:attrName>style.visibility</p:attrName>
                                        </p:attrNameLst>
                                      </p:cBhvr>
                                      <p:to>
                                        <p:strVal val="visible"/>
                                      </p:to>
                                    </p:set>
                                    <p:animEffect transition="in" filter="blinds(horizontal)">
                                      <p:cBhvr>
                                        <p:cTn id="50" dur="500"/>
                                        <p:tgtEl>
                                          <p:spTgt spid="12307"/>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2316"/>
                                        </p:tgtEl>
                                        <p:attrNameLst>
                                          <p:attrName>style.visibility</p:attrName>
                                        </p:attrNameLst>
                                      </p:cBhvr>
                                      <p:to>
                                        <p:strVal val="visible"/>
                                      </p:to>
                                    </p:set>
                                    <p:animEffect transition="in" filter="blinds(horizontal)">
                                      <p:cBhvr>
                                        <p:cTn id="55" dur="500"/>
                                        <p:tgtEl>
                                          <p:spTgt spid="12316"/>
                                        </p:tgtEl>
                                      </p:cBhvr>
                                    </p:animEffect>
                                  </p:childTnLst>
                                  <p:subTnLst>
                                    <p:audio>
                                      <p:cMediaNode>
                                        <p:cTn display="0" masterRel="sameClick">
                                          <p:stCondLst>
                                            <p:cond evt="begin" delay="0">
                                              <p:tn val="53"/>
                                            </p:cond>
                                          </p:stCondLst>
                                          <p:endCondLst>
                                            <p:cond evt="onStopAudio" delay="0">
                                              <p:tgtEl>
                                                <p:sldTgt/>
                                              </p:tgtEl>
                                            </p:cond>
                                          </p:endCondLst>
                                        </p:cTn>
                                        <p:tgtEl>
                                          <p:sndTgt r:embed="rId3" name="RECYCLE.WAV"/>
                                        </p:tgtEl>
                                      </p:cMediaNode>
                                    </p:audio>
                                  </p:sub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2321"/>
                                        </p:tgtEl>
                                        <p:attrNameLst>
                                          <p:attrName>style.visibility</p:attrName>
                                        </p:attrNameLst>
                                      </p:cBhvr>
                                      <p:to>
                                        <p:strVal val="visible"/>
                                      </p:to>
                                    </p:set>
                                    <p:animEffect transition="in" filter="blinds(horizontal)">
                                      <p:cBhvr>
                                        <p:cTn id="60" dur="500"/>
                                        <p:tgtEl>
                                          <p:spTgt spid="12321"/>
                                        </p:tgtEl>
                                      </p:cBhvr>
                                    </p:animEffect>
                                  </p:childTnLst>
                                  <p:subTnLst>
                                    <p:audio>
                                      <p:cMediaNode>
                                        <p:cTn display="0" masterRel="sameClick">
                                          <p:stCondLst>
                                            <p:cond evt="begin" delay="0">
                                              <p:tn val="58"/>
                                            </p:cond>
                                          </p:stCondLst>
                                          <p:endCondLst>
                                            <p:cond evt="onStopAudio" delay="0">
                                              <p:tgtEl>
                                                <p:sldTgt/>
                                              </p:tgtEl>
                                            </p:cond>
                                          </p:endCondLst>
                                        </p:cTn>
                                        <p:tgtEl>
                                          <p:sndTgt r:embed="rId3" name="RECYCLE.WAV"/>
                                        </p:tgtEl>
                                      </p:cMediaNode>
                                    </p:audio>
                                  </p:sub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2299"/>
                                        </p:tgtEl>
                                        <p:attrNameLst>
                                          <p:attrName>style.visibility</p:attrName>
                                        </p:attrNameLst>
                                      </p:cBhvr>
                                      <p:to>
                                        <p:strVal val="visible"/>
                                      </p:to>
                                    </p:set>
                                    <p:animEffect transition="in" filter="blinds(horizontal)">
                                      <p:cBhvr>
                                        <p:cTn id="65" dur="500"/>
                                        <p:tgtEl>
                                          <p:spTgt spid="12299"/>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2326"/>
                                        </p:tgtEl>
                                        <p:attrNameLst>
                                          <p:attrName>style.visibility</p:attrName>
                                        </p:attrNameLst>
                                      </p:cBhvr>
                                      <p:to>
                                        <p:strVal val="visible"/>
                                      </p:to>
                                    </p:set>
                                    <p:animEffect transition="in" filter="blinds(horizontal)">
                                      <p:cBhvr>
                                        <p:cTn id="70" dur="500"/>
                                        <p:tgtEl>
                                          <p:spTgt spid="12326"/>
                                        </p:tgtEl>
                                      </p:cBhvr>
                                    </p:animEffect>
                                  </p:childTnLst>
                                  <p:subTnLst>
                                    <p:audio>
                                      <p:cMediaNode>
                                        <p:cTn display="0" masterRel="sameClick">
                                          <p:stCondLst>
                                            <p:cond evt="begin" delay="0">
                                              <p:tn val="68"/>
                                            </p:cond>
                                          </p:stCondLst>
                                          <p:endCondLst>
                                            <p:cond evt="onStopAudio" delay="0">
                                              <p:tgtEl>
                                                <p:sldTgt/>
                                              </p:tgtEl>
                                            </p:cond>
                                          </p:endCondLst>
                                        </p:cTn>
                                        <p:tgtEl>
                                          <p:sndTgt r:embed="rId3" name="RECYCLE.WAV"/>
                                        </p:tgtEl>
                                      </p:cMediaNode>
                                    </p:audio>
                                  </p:sub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12327"/>
                                        </p:tgtEl>
                                        <p:attrNameLst>
                                          <p:attrName>style.visibility</p:attrName>
                                        </p:attrNameLst>
                                      </p:cBhvr>
                                      <p:to>
                                        <p:strVal val="visible"/>
                                      </p:to>
                                    </p:set>
                                  </p:childTnLst>
                                </p:cTn>
                              </p:par>
                            </p:childTnLst>
                          </p:cTn>
                        </p:par>
                        <p:par>
                          <p:cTn id="75" fill="hold">
                            <p:stCondLst>
                              <p:cond delay="500"/>
                            </p:stCondLst>
                            <p:childTnLst>
                              <p:par>
                                <p:cTn id="76" presetID="3" presetClass="entr" presetSubtype="10" fill="hold" grpId="0" nodeType="afterEffect">
                                  <p:stCondLst>
                                    <p:cond delay="0"/>
                                  </p:stCondLst>
                                  <p:childTnLst>
                                    <p:set>
                                      <p:cBhvr>
                                        <p:cTn id="77" dur="1" fill="hold">
                                          <p:stCondLst>
                                            <p:cond delay="0"/>
                                          </p:stCondLst>
                                        </p:cTn>
                                        <p:tgtEl>
                                          <p:spTgt spid="12322"/>
                                        </p:tgtEl>
                                        <p:attrNameLst>
                                          <p:attrName>style.visibility</p:attrName>
                                        </p:attrNameLst>
                                      </p:cBhvr>
                                      <p:to>
                                        <p:strVal val="visible"/>
                                      </p:to>
                                    </p:set>
                                    <p:animEffect transition="in" filter="blinds(horizontal)">
                                      <p:cBhvr>
                                        <p:cTn id="78" dur="500"/>
                                        <p:tgtEl>
                                          <p:spTgt spid="12322"/>
                                        </p:tgtEl>
                                      </p:cBhvr>
                                    </p:animEffect>
                                  </p:childTnLst>
                                  <p:subTnLst>
                                    <p:audio>
                                      <p:cMediaNode>
                                        <p:cTn display="0" masterRel="sameClick">
                                          <p:stCondLst>
                                            <p:cond evt="begin" delay="0">
                                              <p:tn val="76"/>
                                            </p:cond>
                                          </p:stCondLst>
                                          <p:endCondLst>
                                            <p:cond evt="onStopAudio" delay="0">
                                              <p:tgtEl>
                                                <p:sldTgt/>
                                              </p:tgtEl>
                                            </p:cond>
                                          </p:endCondLst>
                                        </p:cTn>
                                        <p:tgtEl>
                                          <p:sndTgt r:embed="rId3" name="RECYCLE.WAV"/>
                                        </p:tgtEl>
                                      </p:cMediaNode>
                                    </p:audio>
                                  </p:sub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2312"/>
                                        </p:tgtEl>
                                        <p:attrNameLst>
                                          <p:attrName>style.visibility</p:attrName>
                                        </p:attrNameLst>
                                      </p:cBhvr>
                                      <p:to>
                                        <p:strVal val="visible"/>
                                      </p:to>
                                    </p:set>
                                    <p:animEffect transition="in" filter="blinds(horizontal)">
                                      <p:cBhvr>
                                        <p:cTn id="83" dur="500"/>
                                        <p:tgtEl>
                                          <p:spTgt spid="12312"/>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12311"/>
                                        </p:tgtEl>
                                        <p:attrNameLst>
                                          <p:attrName>style.visibility</p:attrName>
                                        </p:attrNameLst>
                                      </p:cBhvr>
                                      <p:to>
                                        <p:strVal val="visible"/>
                                      </p:to>
                                    </p:set>
                                    <p:animEffect transition="in" filter="blinds(horizontal)">
                                      <p:cBhvr>
                                        <p:cTn id="88" dur="500"/>
                                        <p:tgtEl>
                                          <p:spTgt spid="12311"/>
                                        </p:tgtEl>
                                      </p:cBhvr>
                                    </p:animEffect>
                                  </p:childTnLst>
                                  <p:subTnLst>
                                    <p:audio>
                                      <p:cMediaNode>
                                        <p:cTn display="0" masterRel="sameClick">
                                          <p:stCondLst>
                                            <p:cond evt="begin" delay="0">
                                              <p:tn val="86"/>
                                            </p:cond>
                                          </p:stCondLst>
                                          <p:endCondLst>
                                            <p:cond evt="onStopAudio" delay="0">
                                              <p:tgtEl>
                                                <p:sldTgt/>
                                              </p:tgtEl>
                                            </p:cond>
                                          </p:endCondLst>
                                        </p:cTn>
                                        <p:tgtEl>
                                          <p:sndTgt r:embed="rId3" name="RECYCLE.WAV"/>
                                        </p:tgtEl>
                                      </p:cMediaNode>
                                    </p:audio>
                                  </p:sub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12328"/>
                                        </p:tgtEl>
                                        <p:attrNameLst>
                                          <p:attrName>style.visibility</p:attrName>
                                        </p:attrNameLst>
                                      </p:cBhvr>
                                      <p:to>
                                        <p:strVal val="visible"/>
                                      </p:to>
                                    </p:set>
                                    <p:animEffect transition="in" filter="blinds(horizontal)">
                                      <p:cBhvr>
                                        <p:cTn id="93" dur="500"/>
                                        <p:tgtEl>
                                          <p:spTgt spid="12328"/>
                                        </p:tgtEl>
                                      </p:cBhvr>
                                    </p:animEffect>
                                  </p:childTnLst>
                                  <p:subTnLst>
                                    <p:audio>
                                      <p:cMediaNode>
                                        <p:cTn display="0" masterRel="sameClick">
                                          <p:stCondLst>
                                            <p:cond evt="begin" delay="0">
                                              <p:tn val="91"/>
                                            </p:cond>
                                          </p:stCondLst>
                                          <p:endCondLst>
                                            <p:cond evt="onStopAudio" delay="0">
                                              <p:tgtEl>
                                                <p:sldTgt/>
                                              </p:tgtEl>
                                            </p:cond>
                                          </p:endCondLst>
                                        </p:cTn>
                                        <p:tgtEl>
                                          <p:sndTgt r:embed="rId3" name="RECYCLE.WAV"/>
                                        </p:tgtEl>
                                      </p:cMediaNode>
                                    </p:audio>
                                  </p:sub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12346"/>
                                        </p:tgtEl>
                                        <p:attrNameLst>
                                          <p:attrName>style.visibility</p:attrName>
                                        </p:attrNameLst>
                                      </p:cBhvr>
                                      <p:to>
                                        <p:strVal val="visible"/>
                                      </p:to>
                                    </p:set>
                                    <p:animEffect transition="in" filter="blinds(horizontal)">
                                      <p:cBhvr>
                                        <p:cTn id="98" dur="500"/>
                                        <p:tgtEl>
                                          <p:spTgt spid="12346"/>
                                        </p:tgtEl>
                                      </p:cBhvr>
                                    </p:animEffect>
                                  </p:childTnLst>
                                  <p:subTnLst>
                                    <p:audio>
                                      <p:cMediaNode>
                                        <p:cTn display="0" masterRel="sameClick">
                                          <p:stCondLst>
                                            <p:cond evt="begin" delay="0">
                                              <p:tn val="9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6" grpId="0" autoUpdateAnimBg="0"/>
      <p:bldP spid="12299" grpId="0" autoUpdateAnimBg="0"/>
      <p:bldP spid="12307" grpId="0" autoUpdateAnimBg="0"/>
      <p:bldP spid="12312" grpId="0" autoUpdateAnimBg="0"/>
      <p:bldP spid="12320" grpId="0" autoUpdateAnimBg="0"/>
      <p:bldP spid="12323" grpId="0" autoUpdateAnimBg="0"/>
      <p:bldP spid="12303" grpId="0" autoUpdateAnimBg="0"/>
      <p:bldP spid="12305" grpId="0" autoUpdateAnimBg="0"/>
      <p:bldP spid="12308" grpId="0" autoUpdateAnimBg="0"/>
      <p:bldP spid="12313" grpId="0" autoUpdateAnimBg="0"/>
      <p:bldP spid="12316" grpId="0" autoUpdateAnimBg="0"/>
      <p:bldP spid="12321" grpId="0" autoUpdateAnimBg="0"/>
      <p:bldP spid="12322" grpId="0" autoUpdateAnimBg="0"/>
      <p:bldP spid="12326" grpId="0" autoUpdateAnimBg="0"/>
      <p:bldP spid="12327" grpId="0" animBg="1"/>
      <p:bldP spid="12311" grpId="0" autoUpdateAnimBg="0"/>
      <p:bldP spid="12328" grpId="0" autoUpdateAnimBg="0"/>
      <p:bldP spid="12346" grpId="0" autoUpdateAnimBg="0"/>
      <p:bldP spid="2" grpId="0" animBg="1"/>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9" name="Text Box 15"/>
          <p:cNvSpPr txBox="1">
            <a:spLocks noChangeArrowheads="1"/>
          </p:cNvSpPr>
          <p:nvPr/>
        </p:nvSpPr>
        <p:spPr bwMode="auto">
          <a:xfrm>
            <a:off x="906463" y="1020361"/>
            <a:ext cx="3942105" cy="477054"/>
          </a:xfrm>
          <a:prstGeom prst="rect">
            <a:avLst/>
          </a:prstGeom>
          <a:noFill/>
          <a:ln w="9525">
            <a:noFill/>
            <a:miter lim="800000"/>
            <a:headEnd/>
            <a:tailEnd/>
          </a:ln>
        </p:spPr>
        <p:txBody>
          <a:bodyPr wrap="none" anchor="ctr">
            <a:spAutoFit/>
          </a:bodyPr>
          <a:lstStyle/>
          <a:p>
            <a:pPr>
              <a:spcBef>
                <a:spcPct val="50000"/>
              </a:spcBef>
            </a:pPr>
            <a:r>
              <a:rPr lang="en-US" altLang="zh-CN" sz="2500" b="1" dirty="0">
                <a:solidFill>
                  <a:srgbClr val="FF3300"/>
                </a:solidFill>
                <a:ea typeface="楷体_GB2312" pitchFamily="49" charset="-122"/>
              </a:rPr>
              <a:t>1.</a:t>
            </a:r>
            <a:r>
              <a:rPr lang="zh-CN" altLang="en-US" sz="2500" b="1" dirty="0">
                <a:solidFill>
                  <a:srgbClr val="FF3300"/>
                </a:solidFill>
                <a:ea typeface="楷体_GB2312" pitchFamily="49" charset="-122"/>
              </a:rPr>
              <a:t>形成体</a:t>
            </a:r>
            <a:r>
              <a:rPr lang="en-US" altLang="zh-CN" sz="2500" b="1" dirty="0">
                <a:solidFill>
                  <a:srgbClr val="FF3300"/>
                </a:solidFill>
                <a:ea typeface="楷体_GB2312" pitchFamily="49" charset="-122"/>
              </a:rPr>
              <a:t>(</a:t>
            </a:r>
            <a:r>
              <a:rPr lang="zh-CN" altLang="en-US" sz="2500" b="1" dirty="0">
                <a:solidFill>
                  <a:srgbClr val="FF3300"/>
                </a:solidFill>
                <a:ea typeface="楷体_GB2312" pitchFamily="49" charset="-122"/>
              </a:rPr>
              <a:t>中心原子或离子</a:t>
            </a:r>
            <a:r>
              <a:rPr lang="en-US" altLang="zh-CN" sz="2500" b="1" dirty="0">
                <a:solidFill>
                  <a:srgbClr val="FF3300"/>
                </a:solidFill>
                <a:ea typeface="楷体_GB2312" pitchFamily="49" charset="-122"/>
              </a:rPr>
              <a:t>:</a:t>
            </a:r>
            <a:endParaRPr lang="en-US" altLang="zh-CN" sz="2500" dirty="0">
              <a:ea typeface="楷体_GB2312" pitchFamily="49" charset="-122"/>
            </a:endParaRPr>
          </a:p>
        </p:txBody>
      </p:sp>
      <p:sp>
        <p:nvSpPr>
          <p:cNvPr id="11280" name="Text Box 16"/>
          <p:cNvSpPr txBox="1">
            <a:spLocks noChangeArrowheads="1"/>
          </p:cNvSpPr>
          <p:nvPr/>
        </p:nvSpPr>
        <p:spPr bwMode="auto">
          <a:xfrm>
            <a:off x="906464" y="1460500"/>
            <a:ext cx="4278510" cy="2016125"/>
          </a:xfrm>
          <a:prstGeom prst="rect">
            <a:avLst/>
          </a:prstGeom>
          <a:noFill/>
          <a:ln w="12700" cap="sq">
            <a:noFill/>
            <a:miter lim="800000"/>
            <a:headEnd type="none" w="sm" len="sm"/>
            <a:tailEnd type="none" w="sm" len="sm"/>
          </a:ln>
        </p:spPr>
        <p:txBody>
          <a:bodyPr wrap="square">
            <a:spAutoFit/>
          </a:bodyPr>
          <a:lstStyle/>
          <a:p>
            <a:r>
              <a:rPr lang="en-US" altLang="zh-CN" sz="2500" b="1" dirty="0">
                <a:ea typeface="楷体_GB2312" pitchFamily="49" charset="-122"/>
              </a:rPr>
              <a:t>①</a:t>
            </a:r>
            <a:r>
              <a:rPr lang="zh-CN" altLang="en-US" sz="2500" b="1" dirty="0">
                <a:ea typeface="楷体_GB2312" pitchFamily="49" charset="-122"/>
              </a:rPr>
              <a:t>阳离子多</a:t>
            </a:r>
            <a:r>
              <a:rPr lang="en-US" altLang="zh-CN" sz="2500" b="1" dirty="0">
                <a:ea typeface="楷体_GB2312" pitchFamily="49" charset="-122"/>
              </a:rPr>
              <a:t>,</a:t>
            </a:r>
            <a:r>
              <a:rPr lang="zh-CN" altLang="en-US" sz="2500" b="1" dirty="0">
                <a:ea typeface="楷体_GB2312" pitchFamily="49" charset="-122"/>
              </a:rPr>
              <a:t>中性原子少</a:t>
            </a:r>
            <a:r>
              <a:rPr lang="en-US" altLang="zh-CN" sz="2500" b="1" dirty="0">
                <a:ea typeface="楷体_GB2312" pitchFamily="49" charset="-122"/>
              </a:rPr>
              <a:t>;</a:t>
            </a:r>
          </a:p>
          <a:p>
            <a:r>
              <a:rPr lang="en-US" altLang="zh-CN" sz="2500" b="1" dirty="0">
                <a:ea typeface="楷体_GB2312" pitchFamily="49" charset="-122"/>
              </a:rPr>
              <a:t>    Fe(CO)</a:t>
            </a:r>
            <a:r>
              <a:rPr lang="en-US" altLang="zh-CN" sz="2500" b="1" baseline="-25000" dirty="0">
                <a:ea typeface="楷体_GB2312" pitchFamily="49" charset="-122"/>
              </a:rPr>
              <a:t>5</a:t>
            </a:r>
            <a:r>
              <a:rPr lang="en-US" altLang="zh-CN" sz="2500" b="1" dirty="0">
                <a:ea typeface="楷体_GB2312" pitchFamily="49" charset="-122"/>
              </a:rPr>
              <a:t>, Ni(CO)</a:t>
            </a:r>
            <a:r>
              <a:rPr lang="en-US" altLang="zh-CN" sz="2500" b="1" baseline="-25000" dirty="0">
                <a:ea typeface="楷体_GB2312" pitchFamily="49" charset="-122"/>
              </a:rPr>
              <a:t>4</a:t>
            </a:r>
            <a:r>
              <a:rPr lang="en-US" altLang="zh-CN" sz="2500" b="1" dirty="0">
                <a:ea typeface="楷体_GB2312" pitchFamily="49" charset="-122"/>
              </a:rPr>
              <a:t>;</a:t>
            </a:r>
          </a:p>
          <a:p>
            <a:r>
              <a:rPr lang="en-US" altLang="zh-CN" sz="2500" b="1" dirty="0">
                <a:ea typeface="楷体_GB2312" pitchFamily="49" charset="-122"/>
              </a:rPr>
              <a:t>②</a:t>
            </a:r>
            <a:r>
              <a:rPr lang="zh-CN" altLang="en-US" sz="2500" b="1" dirty="0">
                <a:ea typeface="楷体_GB2312" pitchFamily="49" charset="-122"/>
              </a:rPr>
              <a:t>金属元素多</a:t>
            </a:r>
            <a:r>
              <a:rPr lang="en-US" altLang="zh-CN" sz="2500" b="1" dirty="0">
                <a:ea typeface="楷体_GB2312" pitchFamily="49" charset="-122"/>
              </a:rPr>
              <a:t>,</a:t>
            </a:r>
            <a:r>
              <a:rPr lang="zh-CN" altLang="en-US" sz="2500" b="1" dirty="0">
                <a:solidFill>
                  <a:srgbClr val="FF0000"/>
                </a:solidFill>
                <a:ea typeface="楷体_GB2312" pitchFamily="49" charset="-122"/>
              </a:rPr>
              <a:t>非金属元素少</a:t>
            </a:r>
            <a:r>
              <a:rPr lang="en-US" altLang="zh-CN" sz="2500" b="1" dirty="0">
                <a:ea typeface="楷体_GB2312" pitchFamily="49" charset="-122"/>
              </a:rPr>
              <a:t>.</a:t>
            </a:r>
          </a:p>
          <a:p>
            <a:r>
              <a:rPr lang="en-US" altLang="zh-CN" sz="2500" b="1" dirty="0">
                <a:ea typeface="楷体_GB2312" pitchFamily="49" charset="-122"/>
              </a:rPr>
              <a:t>    </a:t>
            </a:r>
            <a:r>
              <a:rPr lang="zh-CN" altLang="en-US" sz="2500" b="1" dirty="0">
                <a:ea typeface="楷体_GB2312" pitchFamily="49" charset="-122"/>
              </a:rPr>
              <a:t>多数是</a:t>
            </a:r>
            <a:r>
              <a:rPr lang="en-US" altLang="zh-CN" sz="2500" b="1" dirty="0">
                <a:ea typeface="楷体_GB2312" pitchFamily="49" charset="-122"/>
              </a:rPr>
              <a:t>d</a:t>
            </a:r>
            <a:r>
              <a:rPr lang="zh-CN" altLang="en-US" sz="2500" b="1" dirty="0">
                <a:ea typeface="楷体_GB2312" pitchFamily="49" charset="-122"/>
              </a:rPr>
              <a:t>区过渡元素</a:t>
            </a:r>
            <a:r>
              <a:rPr lang="en-US" altLang="zh-CN" sz="2500" b="1" dirty="0">
                <a:ea typeface="楷体_GB2312" pitchFamily="49" charset="-122"/>
              </a:rPr>
              <a:t>;</a:t>
            </a:r>
          </a:p>
          <a:p>
            <a:r>
              <a:rPr lang="en-US" altLang="zh-CN" sz="2500" b="1" dirty="0">
                <a:ea typeface="楷体_GB2312" pitchFamily="49" charset="-122"/>
              </a:rPr>
              <a:t>    </a:t>
            </a:r>
            <a:r>
              <a:rPr lang="en-US" altLang="zh-CN" sz="2500" b="1" dirty="0">
                <a:solidFill>
                  <a:srgbClr val="FF0000"/>
                </a:solidFill>
                <a:ea typeface="楷体_GB2312" pitchFamily="49" charset="-122"/>
              </a:rPr>
              <a:t>B</a:t>
            </a:r>
            <a:r>
              <a:rPr lang="en-US" altLang="zh-CN" sz="2500" b="1" dirty="0">
                <a:ea typeface="楷体_GB2312" pitchFamily="49" charset="-122"/>
              </a:rPr>
              <a:t>F</a:t>
            </a:r>
            <a:r>
              <a:rPr lang="en-US" altLang="zh-CN" sz="2500" b="1" baseline="-25000" dirty="0">
                <a:ea typeface="楷体_GB2312" pitchFamily="49" charset="-122"/>
              </a:rPr>
              <a:t>4</a:t>
            </a:r>
            <a:r>
              <a:rPr lang="en-US" altLang="zh-CN" sz="2500" b="1" baseline="30000" dirty="0">
                <a:ea typeface="楷体_GB2312" pitchFamily="49" charset="-122"/>
              </a:rPr>
              <a:t>-</a:t>
            </a:r>
            <a:r>
              <a:rPr lang="en-US" altLang="zh-CN" sz="2500" b="1" dirty="0">
                <a:ea typeface="楷体_GB2312" pitchFamily="49" charset="-122"/>
              </a:rPr>
              <a:t> , </a:t>
            </a:r>
            <a:r>
              <a:rPr lang="en-US" altLang="zh-CN" sz="2500" b="1" dirty="0">
                <a:solidFill>
                  <a:srgbClr val="FF0000"/>
                </a:solidFill>
                <a:ea typeface="楷体_GB2312" pitchFamily="49" charset="-122"/>
              </a:rPr>
              <a:t>Si</a:t>
            </a:r>
            <a:r>
              <a:rPr lang="en-US" altLang="zh-CN" sz="2500" b="1" dirty="0">
                <a:ea typeface="楷体_GB2312" pitchFamily="49" charset="-122"/>
              </a:rPr>
              <a:t>F</a:t>
            </a:r>
            <a:r>
              <a:rPr lang="en-US" altLang="zh-CN" sz="2500" b="1" baseline="-25000" dirty="0">
                <a:ea typeface="楷体_GB2312" pitchFamily="49" charset="-122"/>
              </a:rPr>
              <a:t>6</a:t>
            </a:r>
            <a:r>
              <a:rPr lang="en-US" altLang="zh-CN" sz="2500" b="1" baseline="30000" dirty="0">
                <a:ea typeface="楷体_GB2312" pitchFamily="49" charset="-122"/>
              </a:rPr>
              <a:t>2-</a:t>
            </a:r>
            <a:r>
              <a:rPr lang="en-US" altLang="zh-CN" sz="2500" b="1" dirty="0">
                <a:ea typeface="楷体_GB2312" pitchFamily="49" charset="-122"/>
              </a:rPr>
              <a:t>.</a:t>
            </a:r>
          </a:p>
        </p:txBody>
      </p:sp>
      <p:sp>
        <p:nvSpPr>
          <p:cNvPr id="9220" name="Rectangle 45"/>
          <p:cNvSpPr>
            <a:spLocks noGrp="1" noChangeArrowheads="1"/>
          </p:cNvSpPr>
          <p:nvPr>
            <p:ph type="title"/>
          </p:nvPr>
        </p:nvSpPr>
        <p:spPr>
          <a:xfrm>
            <a:off x="576263" y="258763"/>
            <a:ext cx="10369550" cy="431800"/>
          </a:xfrm>
          <a:noFill/>
        </p:spPr>
        <p:txBody>
          <a:bodyPr/>
          <a:lstStyle/>
          <a:p>
            <a:r>
              <a:rPr lang="en-US" altLang="zh-CN">
                <a:ea typeface="黑体" pitchFamily="49" charset="-122"/>
              </a:rPr>
              <a:t>6.1.1</a:t>
            </a:r>
            <a:r>
              <a:rPr lang="zh-CN" altLang="en-US">
                <a:ea typeface="黑体" pitchFamily="49" charset="-122"/>
              </a:rPr>
              <a:t>配合物及其组成</a:t>
            </a:r>
            <a:endParaRPr lang="zh-CN" altLang="en-US" sz="1200" b="0">
              <a:solidFill>
                <a:srgbClr val="0000FF"/>
              </a:solidFill>
              <a:ea typeface="黑体" pitchFamily="49" charset="-122"/>
            </a:endParaRPr>
          </a:p>
        </p:txBody>
      </p:sp>
      <p:sp>
        <p:nvSpPr>
          <p:cNvPr id="11310" name="AutoShape 46"/>
          <p:cNvSpPr>
            <a:spLocks/>
          </p:cNvSpPr>
          <p:nvPr/>
        </p:nvSpPr>
        <p:spPr bwMode="auto">
          <a:xfrm>
            <a:off x="815975" y="1631950"/>
            <a:ext cx="182563" cy="952500"/>
          </a:xfrm>
          <a:prstGeom prst="leftBrace">
            <a:avLst>
              <a:gd name="adj1" fmla="val 57971"/>
              <a:gd name="adj2" fmla="val 50000"/>
            </a:avLst>
          </a:prstGeom>
          <a:noFill/>
          <a:ln w="9525">
            <a:solidFill>
              <a:schemeClr val="tx1"/>
            </a:solidFill>
            <a:round/>
            <a:headEnd/>
            <a:tailEnd/>
          </a:ln>
        </p:spPr>
        <p:txBody>
          <a:bodyPr wrap="none" anchor="ctr"/>
          <a:lstStyle/>
          <a:p>
            <a:endParaRPr lang="zh-CN" altLang="en-US" sz="2500">
              <a:ea typeface="楷体_GB2312" pitchFamily="49" charset="-122"/>
            </a:endParaRPr>
          </a:p>
        </p:txBody>
      </p:sp>
      <p:sp>
        <p:nvSpPr>
          <p:cNvPr id="9222"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3"/>
            <a:srcRect/>
            <a:stretch>
              <a:fillRect/>
            </a:stretch>
          </a:blipFill>
          <a:ln w="9525">
            <a:solidFill>
              <a:srgbClr val="808080"/>
            </a:solidFill>
            <a:round/>
            <a:headEnd/>
            <a:tailEnd/>
          </a:ln>
        </p:spPr>
        <p:txBody>
          <a:bodyPr wrap="none" anchor="ctr"/>
          <a:lstStyle/>
          <a:p>
            <a:endParaRPr lang="zh-CN" altLang="en-US"/>
          </a:p>
        </p:txBody>
      </p:sp>
      <p:sp>
        <p:nvSpPr>
          <p:cNvPr id="9223"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3" name="云形 2"/>
          <p:cNvSpPr/>
          <p:nvPr/>
        </p:nvSpPr>
        <p:spPr>
          <a:xfrm>
            <a:off x="4747015" y="537755"/>
            <a:ext cx="2538397" cy="1325562"/>
          </a:xfrm>
          <a:prstGeom prst="clou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FF0000"/>
                </a:solidFill>
              </a:rPr>
              <a:t>为何没有阴离子？</a:t>
            </a:r>
          </a:p>
        </p:txBody>
      </p:sp>
      <p:sp>
        <p:nvSpPr>
          <p:cNvPr id="4" name="文本框 3"/>
          <p:cNvSpPr txBox="1"/>
          <p:nvPr/>
        </p:nvSpPr>
        <p:spPr>
          <a:xfrm>
            <a:off x="2244827" y="3776660"/>
            <a:ext cx="5244402" cy="461665"/>
          </a:xfrm>
          <a:prstGeom prst="rect">
            <a:avLst/>
          </a:prstGeom>
          <a:noFill/>
        </p:spPr>
        <p:txBody>
          <a:bodyPr wrap="square" rtlCol="0">
            <a:spAutoFit/>
          </a:bodyPr>
          <a:lstStyle/>
          <a:p>
            <a:r>
              <a:rPr lang="en-US" altLang="zh-CN" sz="2400" b="1" dirty="0">
                <a:ea typeface="楷体_GB2312"/>
              </a:rPr>
              <a:t>1</a:t>
            </a:r>
            <a:r>
              <a:rPr lang="zh-CN" altLang="en-US" sz="2400" b="1" dirty="0">
                <a:ea typeface="楷体_GB2312"/>
              </a:rPr>
              <a:t>配合物中的中心离子都是金属离子</a:t>
            </a:r>
          </a:p>
        </p:txBody>
      </p:sp>
      <p:sp>
        <p:nvSpPr>
          <p:cNvPr id="5" name="矩形 4"/>
          <p:cNvSpPr/>
          <p:nvPr/>
        </p:nvSpPr>
        <p:spPr>
          <a:xfrm>
            <a:off x="2240724" y="4275745"/>
            <a:ext cx="3741730" cy="461665"/>
          </a:xfrm>
          <a:prstGeom prst="rect">
            <a:avLst/>
          </a:prstGeom>
        </p:spPr>
        <p:txBody>
          <a:bodyPr wrap="none">
            <a:spAutoFit/>
          </a:bodyPr>
          <a:lstStyle/>
          <a:p>
            <a:r>
              <a:rPr lang="en-US" altLang="zh-CN" sz="2400" b="1" dirty="0">
                <a:ea typeface="楷体_GB2312"/>
              </a:rPr>
              <a:t>2</a:t>
            </a:r>
            <a:r>
              <a:rPr lang="zh-CN" altLang="en-US" sz="2400" b="1" dirty="0">
                <a:ea typeface="楷体_GB2312"/>
              </a:rPr>
              <a:t>配位原子都是非金属原子</a:t>
            </a:r>
          </a:p>
        </p:txBody>
      </p:sp>
      <p:sp>
        <p:nvSpPr>
          <p:cNvPr id="6" name="矩形 5"/>
          <p:cNvSpPr/>
          <p:nvPr/>
        </p:nvSpPr>
        <p:spPr>
          <a:xfrm>
            <a:off x="2218919" y="4845328"/>
            <a:ext cx="5056192" cy="461665"/>
          </a:xfrm>
          <a:prstGeom prst="rect">
            <a:avLst/>
          </a:prstGeom>
        </p:spPr>
        <p:txBody>
          <a:bodyPr wrap="none">
            <a:spAutoFit/>
          </a:bodyPr>
          <a:lstStyle/>
          <a:p>
            <a:r>
              <a:rPr lang="en-US" altLang="zh-CN" sz="2400" b="1" dirty="0">
                <a:ea typeface="楷体_GB2312"/>
              </a:rPr>
              <a:t>3 </a:t>
            </a:r>
            <a:r>
              <a:rPr lang="zh-CN" altLang="en-US" sz="2400" b="1" dirty="0">
                <a:ea typeface="楷体_GB2312"/>
              </a:rPr>
              <a:t>金属元素在形成体中只能是阳离子</a:t>
            </a:r>
          </a:p>
        </p:txBody>
      </p:sp>
      <p:sp>
        <p:nvSpPr>
          <p:cNvPr id="7" name="文本框 6"/>
          <p:cNvSpPr txBox="1"/>
          <p:nvPr/>
        </p:nvSpPr>
        <p:spPr>
          <a:xfrm>
            <a:off x="576263" y="3762571"/>
            <a:ext cx="1008310" cy="523220"/>
          </a:xfrm>
          <a:prstGeom prst="rect">
            <a:avLst/>
          </a:prstGeom>
          <a:noFill/>
        </p:spPr>
        <p:txBody>
          <a:bodyPr wrap="square" rtlCol="0">
            <a:spAutoFit/>
          </a:bodyPr>
          <a:lstStyle/>
          <a:p>
            <a:r>
              <a:rPr lang="zh-CN" altLang="en-US" sz="2800" b="1" dirty="0">
                <a:solidFill>
                  <a:srgbClr val="FF0000"/>
                </a:solidFill>
                <a:ea typeface="楷体_GB2312"/>
              </a:rPr>
              <a:t>判断</a:t>
            </a:r>
          </a:p>
        </p:txBody>
      </p:sp>
      <p:sp>
        <p:nvSpPr>
          <p:cNvPr id="8" name="矩形 7"/>
          <p:cNvSpPr/>
          <p:nvPr/>
        </p:nvSpPr>
        <p:spPr>
          <a:xfrm>
            <a:off x="7741026" y="3808737"/>
            <a:ext cx="290218" cy="369332"/>
          </a:xfrm>
          <a:prstGeom prst="rect">
            <a:avLst/>
          </a:prstGeom>
        </p:spPr>
        <p:txBody>
          <a:bodyPr wrap="square">
            <a:spAutoFit/>
          </a:bodyPr>
          <a:lstStyle/>
          <a:p>
            <a:r>
              <a:rPr lang="en-US" altLang="zh-CN" b="1" dirty="0">
                <a:solidFill>
                  <a:srgbClr val="FF0000"/>
                </a:solidFill>
                <a:ea typeface="楷体_GB2312" pitchFamily="49" charset="-122"/>
              </a:rPr>
              <a:t>B</a:t>
            </a:r>
            <a:endParaRPr lang="zh-CN" altLang="en-US" dirty="0"/>
          </a:p>
        </p:txBody>
      </p:sp>
      <p:sp>
        <p:nvSpPr>
          <p:cNvPr id="9" name="矩形 8"/>
          <p:cNvSpPr/>
          <p:nvPr/>
        </p:nvSpPr>
        <p:spPr>
          <a:xfrm>
            <a:off x="8264444" y="3808737"/>
            <a:ext cx="377026" cy="369332"/>
          </a:xfrm>
          <a:prstGeom prst="rect">
            <a:avLst/>
          </a:prstGeom>
        </p:spPr>
        <p:txBody>
          <a:bodyPr wrap="none">
            <a:spAutoFit/>
          </a:bodyPr>
          <a:lstStyle/>
          <a:p>
            <a:r>
              <a:rPr lang="en-US" altLang="zh-CN" b="1" dirty="0">
                <a:solidFill>
                  <a:srgbClr val="FF0000"/>
                </a:solidFill>
                <a:ea typeface="楷体_GB2312" pitchFamily="49" charset="-122"/>
              </a:rPr>
              <a:t>Si</a:t>
            </a:r>
            <a:endParaRPr lang="zh-CN" altLang="en-US" dirty="0"/>
          </a:p>
        </p:txBody>
      </p:sp>
      <p:sp>
        <p:nvSpPr>
          <p:cNvPr id="16" name="Rectangle 24"/>
          <p:cNvSpPr>
            <a:spLocks noChangeArrowheads="1"/>
          </p:cNvSpPr>
          <p:nvPr/>
        </p:nvSpPr>
        <p:spPr bwMode="auto">
          <a:xfrm>
            <a:off x="7489229" y="4760246"/>
            <a:ext cx="1539875" cy="476250"/>
          </a:xfrm>
          <a:prstGeom prst="rect">
            <a:avLst/>
          </a:prstGeom>
          <a:noFill/>
          <a:ln w="9525">
            <a:noFill/>
            <a:miter lim="800000"/>
            <a:headEnd/>
            <a:tailEnd/>
          </a:ln>
        </p:spPr>
        <p:txBody>
          <a:bodyPr wrap="none">
            <a:spAutoFit/>
          </a:bodyPr>
          <a:lstStyle/>
          <a:p>
            <a:r>
              <a:rPr lang="en-US" altLang="zh-CN" sz="2500" b="1" dirty="0">
                <a:ea typeface="楷体_GB2312" pitchFamily="49" charset="-122"/>
              </a:rPr>
              <a:t>[Fe(CO)</a:t>
            </a:r>
            <a:r>
              <a:rPr lang="en-US" altLang="zh-CN" sz="2500" b="1" baseline="-25000" dirty="0">
                <a:ea typeface="楷体_GB2312" pitchFamily="49" charset="-122"/>
              </a:rPr>
              <a:t>5</a:t>
            </a:r>
            <a:r>
              <a:rPr lang="en-US" altLang="zh-CN" sz="2500" b="1" dirty="0">
                <a:ea typeface="楷体_GB2312" pitchFamily="49" charset="-122"/>
              </a:rPr>
              <a:t>]</a:t>
            </a:r>
          </a:p>
        </p:txBody>
      </p:sp>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95120" y="4275745"/>
            <a:ext cx="523799" cy="511618"/>
          </a:xfrm>
          <a:prstGeom prst="rect">
            <a:avLst/>
          </a:prstGeom>
        </p:spPr>
      </p:pic>
      <p:pic>
        <p:nvPicPr>
          <p:cNvPr id="12" name="图片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64487" y="4817965"/>
            <a:ext cx="496150" cy="508554"/>
          </a:xfrm>
          <a:prstGeom prst="rect">
            <a:avLst/>
          </a:prstGeom>
        </p:spPr>
      </p:pic>
      <p:pic>
        <p:nvPicPr>
          <p:cNvPr id="20" name="图片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59937" y="3736589"/>
            <a:ext cx="496150" cy="508554"/>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279"/>
                                        </p:tgtEl>
                                        <p:attrNameLst>
                                          <p:attrName>style.visibility</p:attrName>
                                        </p:attrNameLst>
                                      </p:cBhvr>
                                      <p:to>
                                        <p:strVal val="visible"/>
                                      </p:to>
                                    </p:set>
                                    <p:animEffect transition="in" filter="blinds(horizontal)">
                                      <p:cBhvr>
                                        <p:cTn id="7" dur="500"/>
                                        <p:tgtEl>
                                          <p:spTgt spid="112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80">
                                            <p:txEl>
                                              <p:pRg st="0" end="0"/>
                                            </p:txEl>
                                          </p:spTgt>
                                        </p:tgtEl>
                                        <p:attrNameLst>
                                          <p:attrName>style.visibility</p:attrName>
                                        </p:attrNameLst>
                                      </p:cBhvr>
                                      <p:to>
                                        <p:strVal val="visible"/>
                                      </p:to>
                                    </p:set>
                                    <p:animEffect transition="in" filter="blinds(horizontal)">
                                      <p:cBhvr>
                                        <p:cTn id="12" dur="500"/>
                                        <p:tgtEl>
                                          <p:spTgt spid="1128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80">
                                            <p:txEl>
                                              <p:pRg st="1" end="1"/>
                                            </p:txEl>
                                          </p:spTgt>
                                        </p:tgtEl>
                                        <p:attrNameLst>
                                          <p:attrName>style.visibility</p:attrName>
                                        </p:attrNameLst>
                                      </p:cBhvr>
                                      <p:to>
                                        <p:strVal val="visible"/>
                                      </p:to>
                                    </p:set>
                                    <p:animEffect transition="in" filter="blinds(horizontal)">
                                      <p:cBhvr>
                                        <p:cTn id="17" dur="500"/>
                                        <p:tgtEl>
                                          <p:spTgt spid="1128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280">
                                            <p:txEl>
                                              <p:pRg st="2" end="2"/>
                                            </p:txEl>
                                          </p:spTgt>
                                        </p:tgtEl>
                                        <p:attrNameLst>
                                          <p:attrName>style.visibility</p:attrName>
                                        </p:attrNameLst>
                                      </p:cBhvr>
                                      <p:to>
                                        <p:strVal val="visible"/>
                                      </p:to>
                                    </p:set>
                                    <p:animEffect transition="in" filter="blinds(horizontal)">
                                      <p:cBhvr>
                                        <p:cTn id="22" dur="500"/>
                                        <p:tgtEl>
                                          <p:spTgt spid="1128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280">
                                            <p:txEl>
                                              <p:pRg st="3" end="3"/>
                                            </p:txEl>
                                          </p:spTgt>
                                        </p:tgtEl>
                                        <p:attrNameLst>
                                          <p:attrName>style.visibility</p:attrName>
                                        </p:attrNameLst>
                                      </p:cBhvr>
                                      <p:to>
                                        <p:strVal val="visible"/>
                                      </p:to>
                                    </p:set>
                                    <p:animEffect transition="in" filter="blinds(horizontal)">
                                      <p:cBhvr>
                                        <p:cTn id="27" dur="500"/>
                                        <p:tgtEl>
                                          <p:spTgt spid="1128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280">
                                            <p:txEl>
                                              <p:pRg st="4" end="4"/>
                                            </p:txEl>
                                          </p:spTgt>
                                        </p:tgtEl>
                                        <p:attrNameLst>
                                          <p:attrName>style.visibility</p:attrName>
                                        </p:attrNameLst>
                                      </p:cBhvr>
                                      <p:to>
                                        <p:strVal val="visible"/>
                                      </p:to>
                                    </p:set>
                                    <p:animEffect transition="in" filter="blinds(horizontal)">
                                      <p:cBhvr>
                                        <p:cTn id="32" dur="500"/>
                                        <p:tgtEl>
                                          <p:spTgt spid="11280">
                                            <p:txEl>
                                              <p:pRg st="4" end="4"/>
                                            </p:txEl>
                                          </p:spTgt>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1131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500"/>
                                        <p:tgtEl>
                                          <p:spTgt spid="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500"/>
                                        <p:tgtEl>
                                          <p:spTgt spid="5"/>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blinds(horizontal)">
                                      <p:cBhvr>
                                        <p:cTn id="64" dur="5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fade">
                                      <p:cBhvr>
                                        <p:cTn id="69" dur="500"/>
                                        <p:tgtEl>
                                          <p:spTgt spid="8"/>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fade">
                                      <p:cBhvr>
                                        <p:cTn id="74" dur="500"/>
                                        <p:tgtEl>
                                          <p:spTgt spid="9"/>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500"/>
                                        <p:tgtEl>
                                          <p:spTgt spid="20"/>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fade">
                                      <p:cBhvr>
                                        <p:cTn id="84" dur="500"/>
                                        <p:tgtEl>
                                          <p:spTgt spid="11"/>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2"/>
                                        </p:tgtEl>
                                        <p:attrNameLst>
                                          <p:attrName>style.visibility</p:attrName>
                                        </p:attrNameLst>
                                      </p:cBhvr>
                                      <p:to>
                                        <p:strVal val="visible"/>
                                      </p:to>
                                    </p:set>
                                    <p:animEffect transition="in" filter="fade">
                                      <p:cBhvr>
                                        <p:cTn id="8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9" grpId="0" autoUpdateAnimBg="0"/>
      <p:bldP spid="11280" grpId="0" build="p" autoUpdateAnimBg="0"/>
      <p:bldP spid="11310" grpId="0" animBg="1"/>
      <p:bldP spid="3" grpId="0" animBg="1"/>
      <p:bldP spid="4" grpId="0"/>
      <p:bldP spid="5" grpId="0"/>
      <p:bldP spid="6" grpId="0"/>
      <p:bldP spid="7" grpId="0"/>
      <p:bldP spid="8" grpId="0"/>
      <p:bldP spid="9" grpId="0"/>
      <p:bldP spid="1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8" name="Rectangle 12"/>
          <p:cNvSpPr>
            <a:spLocks noChangeArrowheads="1"/>
          </p:cNvSpPr>
          <p:nvPr/>
        </p:nvSpPr>
        <p:spPr bwMode="auto">
          <a:xfrm>
            <a:off x="906463" y="1020763"/>
            <a:ext cx="3414712" cy="476250"/>
          </a:xfrm>
          <a:prstGeom prst="rect">
            <a:avLst/>
          </a:prstGeom>
          <a:noFill/>
          <a:ln w="9525">
            <a:noFill/>
            <a:miter lim="800000"/>
            <a:headEnd/>
            <a:tailEnd/>
          </a:ln>
        </p:spPr>
        <p:txBody>
          <a:bodyPr anchor="ctr">
            <a:spAutoFit/>
          </a:bodyPr>
          <a:lstStyle/>
          <a:p>
            <a:r>
              <a:rPr lang="en-US" altLang="zh-CN" sz="2500" b="1" dirty="0">
                <a:solidFill>
                  <a:srgbClr val="FF3300"/>
                </a:solidFill>
                <a:ea typeface="楷体_GB2312" pitchFamily="49" charset="-122"/>
              </a:rPr>
              <a:t>2 </a:t>
            </a:r>
            <a:r>
              <a:rPr lang="zh-CN" altLang="en-US" sz="2500" b="1" dirty="0">
                <a:solidFill>
                  <a:srgbClr val="FF3300"/>
                </a:solidFill>
                <a:ea typeface="楷体_GB2312" pitchFamily="49" charset="-122"/>
              </a:rPr>
              <a:t>配位体</a:t>
            </a:r>
            <a:r>
              <a:rPr lang="en-US" altLang="zh-CN" sz="2500" b="1" dirty="0">
                <a:solidFill>
                  <a:srgbClr val="FF3300"/>
                </a:solidFill>
                <a:ea typeface="楷体_GB2312" pitchFamily="49" charset="-122"/>
              </a:rPr>
              <a:t>(</a:t>
            </a:r>
            <a:r>
              <a:rPr lang="zh-CN" altLang="en-US" sz="2500" b="1" dirty="0">
                <a:solidFill>
                  <a:srgbClr val="FF3300"/>
                </a:solidFill>
                <a:ea typeface="楷体_GB2312" pitchFamily="49" charset="-122"/>
              </a:rPr>
              <a:t>配体</a:t>
            </a:r>
            <a:r>
              <a:rPr lang="en-US" altLang="zh-CN" sz="2500" b="1" dirty="0">
                <a:solidFill>
                  <a:srgbClr val="FF3300"/>
                </a:solidFill>
                <a:ea typeface="楷体_GB2312" pitchFamily="49" charset="-122"/>
              </a:rPr>
              <a:t>):</a:t>
            </a:r>
            <a:endParaRPr lang="en-US" altLang="zh-CN" sz="2500" dirty="0">
              <a:solidFill>
                <a:srgbClr val="FF3300"/>
              </a:solidFill>
              <a:ea typeface="楷体_GB2312" pitchFamily="49" charset="-122"/>
            </a:endParaRPr>
          </a:p>
        </p:txBody>
      </p:sp>
      <p:sp>
        <p:nvSpPr>
          <p:cNvPr id="55309" name="Rectangle 13"/>
          <p:cNvSpPr>
            <a:spLocks noChangeArrowheads="1"/>
          </p:cNvSpPr>
          <p:nvPr/>
        </p:nvSpPr>
        <p:spPr bwMode="auto">
          <a:xfrm>
            <a:off x="906463" y="1460500"/>
            <a:ext cx="10207625" cy="862013"/>
          </a:xfrm>
          <a:prstGeom prst="rect">
            <a:avLst/>
          </a:prstGeom>
          <a:noFill/>
          <a:ln w="9525">
            <a:noFill/>
            <a:miter lim="800000"/>
            <a:headEnd/>
            <a:tailEnd/>
          </a:ln>
        </p:spPr>
        <p:txBody>
          <a:bodyPr anchor="ctr">
            <a:spAutoFit/>
          </a:bodyPr>
          <a:lstStyle/>
          <a:p>
            <a:r>
              <a:rPr lang="en-US" altLang="zh-CN" sz="2500" b="1" dirty="0">
                <a:solidFill>
                  <a:schemeClr val="tx2"/>
                </a:solidFill>
                <a:ea typeface="楷体_GB2312" pitchFamily="49" charset="-122"/>
              </a:rPr>
              <a:t>         </a:t>
            </a:r>
            <a:r>
              <a:rPr lang="zh-CN" altLang="en-US" sz="2500" b="1" dirty="0">
                <a:ea typeface="楷体_GB2312" pitchFamily="49" charset="-122"/>
              </a:rPr>
              <a:t>一般是阴离子或中性分子，具有孤对电子</a:t>
            </a:r>
            <a:r>
              <a:rPr lang="en-US" altLang="zh-CN" sz="2500" b="1" dirty="0">
                <a:ea typeface="楷体_GB2312" pitchFamily="49" charset="-122"/>
              </a:rPr>
              <a:t>.</a:t>
            </a:r>
          </a:p>
          <a:p>
            <a:r>
              <a:rPr lang="en-US" altLang="zh-CN" sz="2500" b="1" dirty="0">
                <a:ea typeface="楷体_GB2312" pitchFamily="49" charset="-122"/>
              </a:rPr>
              <a:t>        </a:t>
            </a:r>
            <a:r>
              <a:rPr lang="zh-CN" altLang="en-US" sz="2500" b="1" dirty="0">
                <a:ea typeface="楷体_GB2312" pitchFamily="49" charset="-122"/>
              </a:rPr>
              <a:t>如</a:t>
            </a:r>
            <a:r>
              <a:rPr lang="en-US" altLang="zh-CN" sz="2500" b="1" dirty="0">
                <a:ea typeface="楷体_GB2312" pitchFamily="49" charset="-122"/>
              </a:rPr>
              <a:t>:X</a:t>
            </a:r>
            <a:r>
              <a:rPr lang="en-US" altLang="zh-CN" sz="2500" b="1" baseline="30000" dirty="0">
                <a:ea typeface="楷体_GB2312" pitchFamily="49" charset="-122"/>
              </a:rPr>
              <a:t>-</a:t>
            </a:r>
            <a:r>
              <a:rPr lang="en-US" altLang="zh-CN" sz="2500" b="1" dirty="0">
                <a:ea typeface="楷体_GB2312" pitchFamily="49" charset="-122"/>
              </a:rPr>
              <a:t>,SCN</a:t>
            </a:r>
            <a:r>
              <a:rPr lang="en-US" altLang="zh-CN" sz="2500" b="1" baseline="30000" dirty="0">
                <a:ea typeface="楷体_GB2312" pitchFamily="49" charset="-122"/>
              </a:rPr>
              <a:t>-</a:t>
            </a:r>
            <a:r>
              <a:rPr lang="en-US" altLang="zh-CN" sz="2500" b="1" dirty="0">
                <a:ea typeface="楷体_GB2312" pitchFamily="49" charset="-122"/>
              </a:rPr>
              <a:t>,C</a:t>
            </a:r>
            <a:r>
              <a:rPr lang="en-US" altLang="zh-CN" sz="2500" b="1" baseline="-25000" dirty="0">
                <a:ea typeface="楷体_GB2312" pitchFamily="49" charset="-122"/>
              </a:rPr>
              <a:t>2</a:t>
            </a:r>
            <a:r>
              <a:rPr lang="en-US" altLang="zh-CN" sz="2500" b="1" dirty="0">
                <a:ea typeface="楷体_GB2312" pitchFamily="49" charset="-122"/>
              </a:rPr>
              <a:t>O</a:t>
            </a:r>
            <a:r>
              <a:rPr lang="en-US" altLang="zh-CN" sz="2500" b="1" baseline="-25000" dirty="0">
                <a:ea typeface="楷体_GB2312" pitchFamily="49" charset="-122"/>
              </a:rPr>
              <a:t>4</a:t>
            </a:r>
            <a:r>
              <a:rPr lang="en-US" altLang="zh-CN" sz="2500" b="1" baseline="30000" dirty="0">
                <a:ea typeface="楷体_GB2312" pitchFamily="49" charset="-122"/>
              </a:rPr>
              <a:t>2-</a:t>
            </a:r>
            <a:r>
              <a:rPr lang="en-US" altLang="zh-CN" sz="2500" b="1" dirty="0">
                <a:ea typeface="楷体_GB2312" pitchFamily="49" charset="-122"/>
              </a:rPr>
              <a:t> ,CN</a:t>
            </a:r>
            <a:r>
              <a:rPr lang="en-US" altLang="zh-CN" sz="2500" b="1" baseline="30000" dirty="0">
                <a:ea typeface="楷体_GB2312" pitchFamily="49" charset="-122"/>
              </a:rPr>
              <a:t>-</a:t>
            </a:r>
            <a:r>
              <a:rPr lang="en-US" altLang="zh-CN" sz="2500" b="1" dirty="0">
                <a:ea typeface="楷体_GB2312" pitchFamily="49" charset="-122"/>
              </a:rPr>
              <a:t>, H</a:t>
            </a:r>
            <a:r>
              <a:rPr lang="en-US" altLang="zh-CN" sz="2500" b="1" baseline="-25000" dirty="0">
                <a:ea typeface="楷体_GB2312" pitchFamily="49" charset="-122"/>
              </a:rPr>
              <a:t>2</a:t>
            </a:r>
            <a:r>
              <a:rPr lang="en-US" altLang="zh-CN" sz="2500" b="1" dirty="0">
                <a:ea typeface="楷体_GB2312" pitchFamily="49" charset="-122"/>
              </a:rPr>
              <a:t>O, NH</a:t>
            </a:r>
            <a:r>
              <a:rPr lang="en-US" altLang="zh-CN" sz="2500" b="1" baseline="-25000" dirty="0">
                <a:ea typeface="楷体_GB2312" pitchFamily="49" charset="-122"/>
              </a:rPr>
              <a:t>3</a:t>
            </a:r>
            <a:r>
              <a:rPr lang="en-US" altLang="zh-CN" sz="2500" b="1" dirty="0">
                <a:ea typeface="楷体_GB2312" pitchFamily="49" charset="-122"/>
              </a:rPr>
              <a:t>, </a:t>
            </a:r>
            <a:r>
              <a:rPr lang="en-US" altLang="zh-CN" sz="2500" b="1" dirty="0" err="1">
                <a:ea typeface="楷体_GB2312" pitchFamily="49" charset="-122"/>
              </a:rPr>
              <a:t>CO,en</a:t>
            </a:r>
            <a:r>
              <a:rPr lang="zh-CN" altLang="en-US" sz="2500" b="1" dirty="0">
                <a:ea typeface="楷体_GB2312" pitchFamily="49" charset="-122"/>
              </a:rPr>
              <a:t>等</a:t>
            </a:r>
            <a:r>
              <a:rPr lang="en-US" altLang="zh-CN" sz="2500" b="1" dirty="0">
                <a:ea typeface="楷体_GB2312" pitchFamily="49" charset="-122"/>
              </a:rPr>
              <a:t>.</a:t>
            </a:r>
          </a:p>
        </p:txBody>
      </p:sp>
      <p:sp>
        <p:nvSpPr>
          <p:cNvPr id="55310" name="Rectangle 14"/>
          <p:cNvSpPr>
            <a:spLocks noChangeArrowheads="1"/>
          </p:cNvSpPr>
          <p:nvPr/>
        </p:nvSpPr>
        <p:spPr bwMode="auto">
          <a:xfrm>
            <a:off x="1008510" y="2952055"/>
            <a:ext cx="1656184" cy="476250"/>
          </a:xfrm>
          <a:prstGeom prst="rect">
            <a:avLst/>
          </a:prstGeom>
          <a:noFill/>
          <a:ln w="9525">
            <a:noFill/>
            <a:miter lim="800000"/>
            <a:headEnd/>
            <a:tailEnd/>
          </a:ln>
        </p:spPr>
        <p:txBody>
          <a:bodyPr wrap="square" anchor="ctr">
            <a:spAutoFit/>
          </a:bodyPr>
          <a:lstStyle/>
          <a:p>
            <a:r>
              <a:rPr lang="zh-CN" altLang="en-US" sz="2500" b="1" dirty="0">
                <a:solidFill>
                  <a:srgbClr val="FF3300"/>
                </a:solidFill>
                <a:latin typeface="宋体" pitchFamily="2" charset="-122"/>
              </a:rPr>
              <a:t>①</a:t>
            </a:r>
            <a:r>
              <a:rPr lang="zh-CN" altLang="en-US" sz="2500" b="1" dirty="0">
                <a:solidFill>
                  <a:srgbClr val="FF3300"/>
                </a:solidFill>
                <a:ea typeface="楷体_GB2312" pitchFamily="49" charset="-122"/>
              </a:rPr>
              <a:t>配位剂</a:t>
            </a:r>
            <a:r>
              <a:rPr lang="en-US" altLang="zh-CN" sz="2500" b="1" dirty="0">
                <a:solidFill>
                  <a:srgbClr val="FF3300"/>
                </a:solidFill>
                <a:ea typeface="楷体_GB2312" pitchFamily="49" charset="-122"/>
              </a:rPr>
              <a:t>:</a:t>
            </a:r>
            <a:endParaRPr lang="en-US" altLang="zh-CN" sz="2500" b="1" dirty="0">
              <a:solidFill>
                <a:schemeClr val="tx2"/>
              </a:solidFill>
              <a:ea typeface="楷体_GB2312" pitchFamily="49" charset="-122"/>
            </a:endParaRPr>
          </a:p>
        </p:txBody>
      </p:sp>
      <p:sp>
        <p:nvSpPr>
          <p:cNvPr id="55311" name="Rectangle 15"/>
          <p:cNvSpPr>
            <a:spLocks noChangeArrowheads="1"/>
          </p:cNvSpPr>
          <p:nvPr/>
        </p:nvSpPr>
        <p:spPr bwMode="auto">
          <a:xfrm>
            <a:off x="360364" y="3499553"/>
            <a:ext cx="7920954" cy="861774"/>
          </a:xfrm>
          <a:prstGeom prst="rect">
            <a:avLst/>
          </a:prstGeom>
          <a:noFill/>
          <a:ln w="9525">
            <a:noFill/>
            <a:miter lim="800000"/>
            <a:headEnd/>
            <a:tailEnd/>
          </a:ln>
        </p:spPr>
        <p:txBody>
          <a:bodyPr wrap="square" anchor="ctr">
            <a:spAutoFit/>
          </a:bodyPr>
          <a:lstStyle/>
          <a:p>
            <a:r>
              <a:rPr lang="en-US" altLang="zh-CN" sz="2500" b="1" dirty="0">
                <a:ea typeface="楷体_GB2312" pitchFamily="49" charset="-122"/>
              </a:rPr>
              <a:t>        </a:t>
            </a:r>
            <a:r>
              <a:rPr lang="zh-CN" altLang="en-US" sz="2500" b="1" dirty="0">
                <a:ea typeface="楷体_GB2312" pitchFamily="49" charset="-122"/>
              </a:rPr>
              <a:t>具有</a:t>
            </a:r>
            <a:r>
              <a:rPr lang="zh-CN" altLang="en-US" sz="2500" b="1" u="sng" dirty="0">
                <a:ea typeface="楷体_GB2312" pitchFamily="49" charset="-122"/>
              </a:rPr>
              <a:t>自由电子对</a:t>
            </a:r>
            <a:r>
              <a:rPr lang="zh-CN" altLang="en-US" sz="2500" b="1" dirty="0">
                <a:ea typeface="楷体_GB2312" pitchFamily="49" charset="-122"/>
              </a:rPr>
              <a:t>并能和金属离子形成配合物的试剂</a:t>
            </a:r>
            <a:r>
              <a:rPr lang="en-US" altLang="zh-CN" sz="2500" b="1" dirty="0">
                <a:ea typeface="楷体_GB2312" pitchFamily="49" charset="-122"/>
              </a:rPr>
              <a:t>.  </a:t>
            </a:r>
          </a:p>
          <a:p>
            <a:r>
              <a:rPr lang="en-US" altLang="zh-CN" sz="2500" b="1" dirty="0">
                <a:ea typeface="楷体_GB2312" pitchFamily="49" charset="-122"/>
              </a:rPr>
              <a:t>        </a:t>
            </a:r>
            <a:r>
              <a:rPr lang="zh-CN" altLang="en-US" sz="2500" b="1" dirty="0">
                <a:ea typeface="楷体_GB2312" pitchFamily="49" charset="-122"/>
              </a:rPr>
              <a:t>（提供配体的试剂</a:t>
            </a:r>
            <a:r>
              <a:rPr lang="en-US" altLang="zh-CN" sz="2500" b="1" dirty="0">
                <a:ea typeface="楷体_GB2312" pitchFamily="49" charset="-122"/>
              </a:rPr>
              <a:t> </a:t>
            </a:r>
            <a:r>
              <a:rPr lang="zh-CN" altLang="en-US" sz="2500" b="1" dirty="0">
                <a:ea typeface="楷体_GB2312" pitchFamily="49" charset="-122"/>
              </a:rPr>
              <a:t>）</a:t>
            </a:r>
            <a:endParaRPr lang="en-US" altLang="zh-CN" sz="2500" b="1" dirty="0">
              <a:ea typeface="楷体_GB2312" pitchFamily="49" charset="-122"/>
            </a:endParaRPr>
          </a:p>
        </p:txBody>
      </p:sp>
      <p:sp>
        <p:nvSpPr>
          <p:cNvPr id="10246" name="Rectangle 19"/>
          <p:cNvSpPr>
            <a:spLocks noGrp="1" noChangeArrowheads="1"/>
          </p:cNvSpPr>
          <p:nvPr>
            <p:ph type="title"/>
          </p:nvPr>
        </p:nvSpPr>
        <p:spPr>
          <a:xfrm>
            <a:off x="576263" y="258763"/>
            <a:ext cx="10369550" cy="431800"/>
          </a:xfrm>
          <a:noFill/>
        </p:spPr>
        <p:txBody>
          <a:bodyPr/>
          <a:lstStyle/>
          <a:p>
            <a:r>
              <a:rPr lang="en-US" altLang="zh-CN">
                <a:ea typeface="黑体" pitchFamily="49" charset="-122"/>
              </a:rPr>
              <a:t>6.1.1</a:t>
            </a:r>
            <a:r>
              <a:rPr lang="zh-CN" altLang="en-US">
                <a:ea typeface="黑体" pitchFamily="49" charset="-122"/>
              </a:rPr>
              <a:t>配合物及其组成</a:t>
            </a:r>
            <a:endParaRPr lang="zh-CN" altLang="en-US" sz="1200" b="0">
              <a:solidFill>
                <a:srgbClr val="0000FF"/>
              </a:solidFill>
              <a:ea typeface="黑体" pitchFamily="49" charset="-122"/>
            </a:endParaRPr>
          </a:p>
        </p:txBody>
      </p:sp>
      <p:sp>
        <p:nvSpPr>
          <p:cNvPr id="55316" name="Rectangle 20"/>
          <p:cNvSpPr>
            <a:spLocks noChangeArrowheads="1"/>
          </p:cNvSpPr>
          <p:nvPr/>
        </p:nvSpPr>
        <p:spPr bwMode="auto">
          <a:xfrm>
            <a:off x="792485" y="4259846"/>
            <a:ext cx="6721475" cy="477837"/>
          </a:xfrm>
          <a:prstGeom prst="rect">
            <a:avLst/>
          </a:prstGeom>
          <a:noFill/>
          <a:ln w="9525">
            <a:noFill/>
            <a:miter lim="800000"/>
            <a:headEnd/>
            <a:tailEnd/>
          </a:ln>
        </p:spPr>
        <p:txBody>
          <a:bodyPr anchor="ctr">
            <a:spAutoFit/>
          </a:bodyPr>
          <a:lstStyle/>
          <a:p>
            <a:r>
              <a:rPr lang="en-US" altLang="zh-CN" sz="2500" b="1" dirty="0">
                <a:ea typeface="楷体_GB2312" pitchFamily="49" charset="-122"/>
              </a:rPr>
              <a:t>        </a:t>
            </a:r>
            <a:r>
              <a:rPr lang="zh-CN" altLang="en-US" sz="2500" b="1" dirty="0">
                <a:ea typeface="楷体_GB2312" pitchFamily="49" charset="-122"/>
              </a:rPr>
              <a:t>如</a:t>
            </a:r>
            <a:r>
              <a:rPr lang="en-US" altLang="zh-CN" sz="2500" b="1" dirty="0">
                <a:ea typeface="楷体_GB2312" pitchFamily="49" charset="-122"/>
              </a:rPr>
              <a:t>:KSCN, NH</a:t>
            </a:r>
            <a:r>
              <a:rPr lang="en-US" altLang="zh-CN" sz="2500" b="1" baseline="-25000" dirty="0">
                <a:ea typeface="楷体_GB2312" pitchFamily="49" charset="-122"/>
              </a:rPr>
              <a:t>3</a:t>
            </a:r>
            <a:r>
              <a:rPr lang="en-US" altLang="zh-CN" sz="2500" b="1" dirty="0">
                <a:ea typeface="楷体_GB2312" pitchFamily="49" charset="-122"/>
              </a:rPr>
              <a:t>·H</a:t>
            </a:r>
            <a:r>
              <a:rPr lang="en-US" altLang="zh-CN" sz="2500" b="1" baseline="-25000" dirty="0">
                <a:ea typeface="楷体_GB2312" pitchFamily="49" charset="-122"/>
              </a:rPr>
              <a:t>2</a:t>
            </a:r>
            <a:r>
              <a:rPr lang="en-US" altLang="zh-CN" sz="2500" b="1" dirty="0">
                <a:ea typeface="楷体_GB2312" pitchFamily="49" charset="-122"/>
              </a:rPr>
              <a:t>O, </a:t>
            </a:r>
            <a:r>
              <a:rPr lang="en-US" altLang="zh-CN" sz="2500" b="1" dirty="0" err="1">
                <a:ea typeface="楷体_GB2312" pitchFamily="49" charset="-122"/>
              </a:rPr>
              <a:t>KCl</a:t>
            </a:r>
            <a:r>
              <a:rPr lang="zh-CN" altLang="en-US" sz="2500" b="1" dirty="0">
                <a:ea typeface="楷体_GB2312" pitchFamily="49" charset="-122"/>
              </a:rPr>
              <a:t>等</a:t>
            </a:r>
            <a:r>
              <a:rPr lang="en-US" altLang="zh-CN" sz="2500" b="1" dirty="0">
                <a:ea typeface="楷体_GB2312" pitchFamily="49" charset="-122"/>
              </a:rPr>
              <a:t>.</a:t>
            </a:r>
          </a:p>
        </p:txBody>
      </p:sp>
      <p:sp>
        <p:nvSpPr>
          <p:cNvPr id="10248"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3"/>
            <a:srcRect/>
            <a:stretch>
              <a:fillRect/>
            </a:stretch>
          </a:blipFill>
          <a:ln w="9525">
            <a:solidFill>
              <a:srgbClr val="808080"/>
            </a:solidFill>
            <a:round/>
            <a:headEnd/>
            <a:tailEnd/>
          </a:ln>
        </p:spPr>
        <p:txBody>
          <a:bodyPr wrap="none" anchor="ctr"/>
          <a:lstStyle/>
          <a:p>
            <a:endParaRPr lang="zh-CN" altLang="en-US"/>
          </a:p>
        </p:txBody>
      </p:sp>
      <p:sp>
        <p:nvSpPr>
          <p:cNvPr id="10249"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2" name="文本框 1"/>
          <p:cNvSpPr txBox="1"/>
          <p:nvPr/>
        </p:nvSpPr>
        <p:spPr>
          <a:xfrm>
            <a:off x="1216222" y="2348588"/>
            <a:ext cx="4533613" cy="477054"/>
          </a:xfrm>
          <a:prstGeom prst="rect">
            <a:avLst/>
          </a:prstGeom>
          <a:noFill/>
        </p:spPr>
        <p:txBody>
          <a:bodyPr wrap="none" rtlCol="0">
            <a:spAutoFit/>
          </a:bodyPr>
          <a:lstStyle/>
          <a:p>
            <a:r>
              <a:rPr lang="zh-CN" altLang="en-US" sz="2500" b="1" dirty="0">
                <a:solidFill>
                  <a:srgbClr val="FF0000"/>
                </a:solidFill>
                <a:ea typeface="楷体_GB2312" pitchFamily="49" charset="-122"/>
              </a:rPr>
              <a:t>配位原子</a:t>
            </a:r>
            <a:r>
              <a:rPr lang="zh-CN" altLang="en-US" sz="2500" b="1" dirty="0">
                <a:ea typeface="楷体_GB2312" pitchFamily="49" charset="-122"/>
              </a:rPr>
              <a:t>  提供孤对电子的原子</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5308"/>
                                        </p:tgtEl>
                                        <p:attrNameLst>
                                          <p:attrName>style.visibility</p:attrName>
                                        </p:attrNameLst>
                                      </p:cBhvr>
                                      <p:to>
                                        <p:strVal val="visible"/>
                                      </p:to>
                                    </p:set>
                                    <p:animEffect transition="in" filter="blinds(horizontal)">
                                      <p:cBhvr>
                                        <p:cTn id="7" dur="500"/>
                                        <p:tgtEl>
                                          <p:spTgt spid="5530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309">
                                            <p:txEl>
                                              <p:pRg st="0" end="0"/>
                                            </p:txEl>
                                          </p:spTgt>
                                        </p:tgtEl>
                                        <p:attrNameLst>
                                          <p:attrName>style.visibility</p:attrName>
                                        </p:attrNameLst>
                                      </p:cBhvr>
                                      <p:to>
                                        <p:strVal val="visible"/>
                                      </p:to>
                                    </p:set>
                                    <p:animEffect transition="in" filter="blinds(horizontal)">
                                      <p:cBhvr>
                                        <p:cTn id="12" dur="500"/>
                                        <p:tgtEl>
                                          <p:spTgt spid="5530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5309">
                                            <p:txEl>
                                              <p:pRg st="1" end="1"/>
                                            </p:txEl>
                                          </p:spTgt>
                                        </p:tgtEl>
                                        <p:attrNameLst>
                                          <p:attrName>style.visibility</p:attrName>
                                        </p:attrNameLst>
                                      </p:cBhvr>
                                      <p:to>
                                        <p:strVal val="visible"/>
                                      </p:to>
                                    </p:set>
                                    <p:animEffect transition="in" filter="blinds(horizontal)">
                                      <p:cBhvr>
                                        <p:cTn id="17" dur="500"/>
                                        <p:tgtEl>
                                          <p:spTgt spid="5530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5310"/>
                                        </p:tgtEl>
                                        <p:attrNameLst>
                                          <p:attrName>style.visibility</p:attrName>
                                        </p:attrNameLst>
                                      </p:cBhvr>
                                      <p:to>
                                        <p:strVal val="visible"/>
                                      </p:to>
                                    </p:set>
                                    <p:animEffect transition="in" filter="blinds(horizontal)">
                                      <p:cBhvr>
                                        <p:cTn id="22" dur="500"/>
                                        <p:tgtEl>
                                          <p:spTgt spid="5531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5311">
                                            <p:txEl>
                                              <p:pRg st="0" end="0"/>
                                            </p:txEl>
                                          </p:spTgt>
                                        </p:tgtEl>
                                        <p:attrNameLst>
                                          <p:attrName>style.visibility</p:attrName>
                                        </p:attrNameLst>
                                      </p:cBhvr>
                                      <p:to>
                                        <p:strVal val="visible"/>
                                      </p:to>
                                    </p:set>
                                    <p:animEffect transition="in" filter="blinds(horizontal)">
                                      <p:cBhvr>
                                        <p:cTn id="27" dur="500"/>
                                        <p:tgtEl>
                                          <p:spTgt spid="5531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5311">
                                            <p:txEl>
                                              <p:pRg st="1" end="1"/>
                                            </p:txEl>
                                          </p:spTgt>
                                        </p:tgtEl>
                                        <p:attrNameLst>
                                          <p:attrName>style.visibility</p:attrName>
                                        </p:attrNameLst>
                                      </p:cBhvr>
                                      <p:to>
                                        <p:strVal val="visible"/>
                                      </p:to>
                                    </p:set>
                                    <p:animEffect transition="in" filter="blinds(horizontal)">
                                      <p:cBhvr>
                                        <p:cTn id="32" dur="500"/>
                                        <p:tgtEl>
                                          <p:spTgt spid="55311">
                                            <p:txEl>
                                              <p:pRg st="1" end="1"/>
                                            </p:txEl>
                                          </p:spTgt>
                                        </p:tgtEl>
                                      </p:cBhvr>
                                    </p:animEffect>
                                  </p:childTnLst>
                                </p:cTn>
                              </p:par>
                            </p:childTnLst>
                          </p:cTn>
                        </p:par>
                        <p:par>
                          <p:cTn id="33" fill="hold">
                            <p:stCondLst>
                              <p:cond delay="500"/>
                            </p:stCondLst>
                            <p:childTnLst>
                              <p:par>
                                <p:cTn id="34" presetID="3" presetClass="entr" presetSubtype="10" fill="hold" grpId="0" nodeType="afterEffect">
                                  <p:stCondLst>
                                    <p:cond delay="0"/>
                                  </p:stCondLst>
                                  <p:childTnLst>
                                    <p:set>
                                      <p:cBhvr>
                                        <p:cTn id="35" dur="1" fill="hold">
                                          <p:stCondLst>
                                            <p:cond delay="0"/>
                                          </p:stCondLst>
                                        </p:cTn>
                                        <p:tgtEl>
                                          <p:spTgt spid="55316">
                                            <p:txEl>
                                              <p:pRg st="0" end="0"/>
                                            </p:txEl>
                                          </p:spTgt>
                                        </p:tgtEl>
                                        <p:attrNameLst>
                                          <p:attrName>style.visibility</p:attrName>
                                        </p:attrNameLst>
                                      </p:cBhvr>
                                      <p:to>
                                        <p:strVal val="visible"/>
                                      </p:to>
                                    </p:set>
                                    <p:animEffect transition="in" filter="blinds(horizontal)">
                                      <p:cBhvr>
                                        <p:cTn id="36" dur="500"/>
                                        <p:tgtEl>
                                          <p:spTgt spid="553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8" grpId="0" autoUpdateAnimBg="0"/>
      <p:bldP spid="55309" grpId="0" build="p" autoUpdateAnimBg="0"/>
      <p:bldP spid="55310" grpId="0" autoUpdateAnimBg="0"/>
      <p:bldP spid="55311" grpId="0" build="p" autoUpdateAnimBg="0"/>
      <p:bldP spid="55316"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8" name="Rectangle 36"/>
          <p:cNvSpPr>
            <a:spLocks noChangeArrowheads="1"/>
          </p:cNvSpPr>
          <p:nvPr/>
        </p:nvSpPr>
        <p:spPr bwMode="auto">
          <a:xfrm>
            <a:off x="617538" y="953686"/>
            <a:ext cx="1903085" cy="477054"/>
          </a:xfrm>
          <a:prstGeom prst="rect">
            <a:avLst/>
          </a:prstGeom>
          <a:noFill/>
          <a:ln w="9525">
            <a:noFill/>
            <a:miter lim="800000"/>
            <a:headEnd/>
            <a:tailEnd/>
          </a:ln>
        </p:spPr>
        <p:txBody>
          <a:bodyPr wrap="none" anchor="ctr">
            <a:spAutoFit/>
          </a:bodyPr>
          <a:lstStyle/>
          <a:p>
            <a:r>
              <a:rPr lang="en-US" altLang="zh-CN" sz="2500" b="1" dirty="0">
                <a:solidFill>
                  <a:srgbClr val="FF3300"/>
                </a:solidFill>
                <a:latin typeface="宋体" pitchFamily="2" charset="-122"/>
              </a:rPr>
              <a:t>②</a:t>
            </a:r>
            <a:r>
              <a:rPr lang="zh-CN" altLang="en-US" sz="2500" b="1" dirty="0">
                <a:solidFill>
                  <a:srgbClr val="FF3300"/>
                </a:solidFill>
                <a:ea typeface="楷体_GB2312" pitchFamily="49" charset="-122"/>
              </a:rPr>
              <a:t>配体分类</a:t>
            </a:r>
            <a:r>
              <a:rPr lang="en-US" altLang="zh-CN" sz="2500" b="1" dirty="0">
                <a:solidFill>
                  <a:srgbClr val="FF3300"/>
                </a:solidFill>
                <a:ea typeface="楷体_GB2312" pitchFamily="49" charset="-122"/>
              </a:rPr>
              <a:t>:</a:t>
            </a:r>
          </a:p>
        </p:txBody>
      </p:sp>
      <p:sp>
        <p:nvSpPr>
          <p:cNvPr id="13349" name="Rectangle 37"/>
          <p:cNvSpPr>
            <a:spLocks noChangeArrowheads="1"/>
          </p:cNvSpPr>
          <p:nvPr/>
        </p:nvSpPr>
        <p:spPr bwMode="auto">
          <a:xfrm>
            <a:off x="906463" y="1665288"/>
            <a:ext cx="1225550" cy="476250"/>
          </a:xfrm>
          <a:prstGeom prst="rect">
            <a:avLst/>
          </a:prstGeom>
          <a:noFill/>
          <a:ln w="9525">
            <a:noFill/>
            <a:miter lim="800000"/>
            <a:headEnd/>
            <a:tailEnd/>
          </a:ln>
        </p:spPr>
        <p:txBody>
          <a:bodyPr anchor="ctr">
            <a:spAutoFit/>
          </a:bodyPr>
          <a:lstStyle/>
          <a:p>
            <a:pPr algn="ctr"/>
            <a:r>
              <a:rPr lang="zh-CN" altLang="en-US" sz="2500" b="1">
                <a:ea typeface="楷体_GB2312" pitchFamily="49" charset="-122"/>
              </a:rPr>
              <a:t>分类</a:t>
            </a:r>
            <a:endParaRPr lang="zh-CN" altLang="en-US" sz="2500" b="1">
              <a:solidFill>
                <a:schemeClr val="tx2"/>
              </a:solidFill>
              <a:ea typeface="楷体_GB2312" pitchFamily="49" charset="-122"/>
            </a:endParaRPr>
          </a:p>
        </p:txBody>
      </p:sp>
      <p:sp>
        <p:nvSpPr>
          <p:cNvPr id="13350" name="Rectangle 38"/>
          <p:cNvSpPr>
            <a:spLocks noChangeArrowheads="1"/>
          </p:cNvSpPr>
          <p:nvPr/>
        </p:nvSpPr>
        <p:spPr bwMode="auto">
          <a:xfrm>
            <a:off x="2130425" y="1520818"/>
            <a:ext cx="1901825" cy="862013"/>
          </a:xfrm>
          <a:prstGeom prst="rect">
            <a:avLst/>
          </a:prstGeom>
          <a:noFill/>
          <a:ln w="9525">
            <a:noFill/>
            <a:miter lim="800000"/>
            <a:headEnd/>
            <a:tailEnd/>
          </a:ln>
        </p:spPr>
        <p:txBody>
          <a:bodyPr wrap="none" anchor="ctr">
            <a:spAutoFit/>
          </a:bodyPr>
          <a:lstStyle/>
          <a:p>
            <a:r>
              <a:rPr lang="en-US" altLang="zh-CN" sz="2500" b="1" dirty="0">
                <a:ea typeface="楷体_GB2312" pitchFamily="49" charset="-122"/>
              </a:rPr>
              <a:t>①</a:t>
            </a:r>
            <a:r>
              <a:rPr lang="zh-CN" altLang="en-US" sz="2500" b="1" dirty="0">
                <a:solidFill>
                  <a:srgbClr val="FF0000"/>
                </a:solidFill>
                <a:ea typeface="楷体_GB2312" pitchFamily="49" charset="-122"/>
              </a:rPr>
              <a:t>单齿</a:t>
            </a:r>
            <a:r>
              <a:rPr lang="zh-CN" altLang="en-US" sz="2500" b="1" dirty="0">
                <a:solidFill>
                  <a:schemeClr val="tx2"/>
                </a:solidFill>
                <a:ea typeface="楷体_GB2312" pitchFamily="49" charset="-122"/>
              </a:rPr>
              <a:t>配体</a:t>
            </a:r>
            <a:r>
              <a:rPr lang="en-US" altLang="zh-CN" sz="2500" b="1" dirty="0">
                <a:solidFill>
                  <a:schemeClr val="tx2"/>
                </a:solidFill>
                <a:ea typeface="楷体_GB2312" pitchFamily="49" charset="-122"/>
              </a:rPr>
              <a:t>:</a:t>
            </a:r>
          </a:p>
          <a:p>
            <a:r>
              <a:rPr lang="en-US" altLang="zh-CN" sz="2500" b="1" dirty="0">
                <a:ea typeface="楷体_GB2312" pitchFamily="49" charset="-122"/>
              </a:rPr>
              <a:t>②</a:t>
            </a:r>
            <a:r>
              <a:rPr lang="zh-CN" altLang="en-US" sz="2500" b="1" dirty="0">
                <a:solidFill>
                  <a:schemeClr val="tx2"/>
                </a:solidFill>
                <a:ea typeface="楷体_GB2312" pitchFamily="49" charset="-122"/>
                <a:hlinkClick r:id="rId5" action="ppaction://hlinksldjump"/>
              </a:rPr>
              <a:t>多齿配体</a:t>
            </a:r>
            <a:r>
              <a:rPr lang="en-US" altLang="zh-CN" sz="2500" b="1" dirty="0">
                <a:solidFill>
                  <a:schemeClr val="tx2"/>
                </a:solidFill>
                <a:ea typeface="楷体_GB2312" pitchFamily="49" charset="-122"/>
              </a:rPr>
              <a:t>:</a:t>
            </a:r>
          </a:p>
        </p:txBody>
      </p:sp>
      <p:sp>
        <p:nvSpPr>
          <p:cNvPr id="13352" name="AutoShape 40"/>
          <p:cNvSpPr>
            <a:spLocks/>
          </p:cNvSpPr>
          <p:nvPr/>
        </p:nvSpPr>
        <p:spPr bwMode="auto">
          <a:xfrm>
            <a:off x="2039938" y="1530350"/>
            <a:ext cx="227012" cy="850900"/>
          </a:xfrm>
          <a:prstGeom prst="leftBrace">
            <a:avLst>
              <a:gd name="adj1" fmla="val 41647"/>
              <a:gd name="adj2" fmla="val 50000"/>
            </a:avLst>
          </a:prstGeom>
          <a:noFill/>
          <a:ln w="9525">
            <a:solidFill>
              <a:schemeClr val="tx1"/>
            </a:solidFill>
            <a:round/>
            <a:headEnd/>
            <a:tailEnd/>
          </a:ln>
        </p:spPr>
        <p:txBody>
          <a:bodyPr wrap="none" anchor="ctr"/>
          <a:lstStyle/>
          <a:p>
            <a:endParaRPr lang="zh-CN" altLang="en-US" sz="2500">
              <a:ea typeface="楷体_GB2312" pitchFamily="49" charset="-122"/>
            </a:endParaRPr>
          </a:p>
        </p:txBody>
      </p:sp>
      <p:sp>
        <p:nvSpPr>
          <p:cNvPr id="13357" name="Rectangle 45"/>
          <p:cNvSpPr>
            <a:spLocks noChangeArrowheads="1"/>
          </p:cNvSpPr>
          <p:nvPr/>
        </p:nvSpPr>
        <p:spPr bwMode="auto">
          <a:xfrm>
            <a:off x="3953346" y="1965670"/>
            <a:ext cx="6559550" cy="477837"/>
          </a:xfrm>
          <a:prstGeom prst="rect">
            <a:avLst/>
          </a:prstGeom>
          <a:noFill/>
          <a:ln w="9525">
            <a:noFill/>
            <a:miter lim="800000"/>
            <a:headEnd/>
            <a:tailEnd/>
          </a:ln>
        </p:spPr>
        <p:txBody>
          <a:bodyPr anchor="ctr">
            <a:spAutoFit/>
          </a:bodyPr>
          <a:lstStyle/>
          <a:p>
            <a:r>
              <a:rPr lang="zh-CN" altLang="en-US" sz="2500" b="1" dirty="0">
                <a:ea typeface="楷体_GB2312" pitchFamily="49" charset="-122"/>
              </a:rPr>
              <a:t>含</a:t>
            </a:r>
            <a:r>
              <a:rPr lang="zh-CN" altLang="en-US" sz="2500" b="1" dirty="0">
                <a:solidFill>
                  <a:srgbClr val="FF0000"/>
                </a:solidFill>
                <a:ea typeface="楷体_GB2312" pitchFamily="49" charset="-122"/>
              </a:rPr>
              <a:t>多个</a:t>
            </a:r>
            <a:r>
              <a:rPr lang="zh-CN" altLang="en-US" sz="2500" b="1" dirty="0">
                <a:ea typeface="楷体_GB2312" pitchFamily="49" charset="-122"/>
              </a:rPr>
              <a:t>配位原子的配体</a:t>
            </a:r>
            <a:r>
              <a:rPr lang="en-US" altLang="zh-CN" sz="2500" b="1" dirty="0">
                <a:ea typeface="楷体_GB2312" pitchFamily="49" charset="-122"/>
              </a:rPr>
              <a:t>.</a:t>
            </a:r>
          </a:p>
        </p:txBody>
      </p:sp>
      <p:sp>
        <p:nvSpPr>
          <p:cNvPr id="11271" name="Rectangle 52"/>
          <p:cNvSpPr>
            <a:spLocks noGrp="1" noChangeArrowheads="1"/>
          </p:cNvSpPr>
          <p:nvPr>
            <p:ph type="title"/>
          </p:nvPr>
        </p:nvSpPr>
        <p:spPr>
          <a:xfrm>
            <a:off x="576263" y="258763"/>
            <a:ext cx="10369550" cy="431800"/>
          </a:xfrm>
          <a:noFill/>
        </p:spPr>
        <p:txBody>
          <a:bodyPr/>
          <a:lstStyle/>
          <a:p>
            <a:r>
              <a:rPr lang="en-US" altLang="zh-CN">
                <a:ea typeface="黑体" pitchFamily="49" charset="-122"/>
              </a:rPr>
              <a:t>6.1.1</a:t>
            </a:r>
            <a:r>
              <a:rPr lang="zh-CN" altLang="en-US">
                <a:ea typeface="黑体" pitchFamily="49" charset="-122"/>
              </a:rPr>
              <a:t>配合物及其组成</a:t>
            </a:r>
            <a:endParaRPr lang="zh-CN" altLang="en-US" sz="1200" b="0">
              <a:solidFill>
                <a:srgbClr val="0000FF"/>
              </a:solidFill>
              <a:ea typeface="黑体" pitchFamily="49" charset="-122"/>
            </a:endParaRPr>
          </a:p>
        </p:txBody>
      </p:sp>
      <p:sp>
        <p:nvSpPr>
          <p:cNvPr id="23" name="Text Box 36"/>
          <p:cNvSpPr txBox="1">
            <a:spLocks noChangeArrowheads="1"/>
          </p:cNvSpPr>
          <p:nvPr/>
        </p:nvSpPr>
        <p:spPr bwMode="auto">
          <a:xfrm>
            <a:off x="878640" y="2892270"/>
            <a:ext cx="9058862" cy="1677987"/>
          </a:xfrm>
          <a:prstGeom prst="rect">
            <a:avLst/>
          </a:prstGeom>
          <a:noFill/>
          <a:ln w="12700" cap="sq">
            <a:noFill/>
            <a:miter lim="800000"/>
            <a:headEnd type="none" w="sm" len="sm"/>
            <a:tailEnd type="none" w="sm" len="sm"/>
          </a:ln>
        </p:spPr>
        <p:txBody>
          <a:bodyPr wrap="square">
            <a:spAutoFit/>
          </a:bodyPr>
          <a:lstStyle/>
          <a:p>
            <a:r>
              <a:rPr lang="zh-CN" altLang="en-US" sz="2500" b="1" dirty="0">
                <a:solidFill>
                  <a:srgbClr val="0000FF"/>
                </a:solidFill>
                <a:ea typeface="楷体_GB2312" pitchFamily="49" charset="-122"/>
              </a:rPr>
              <a:t>两可配体</a:t>
            </a:r>
            <a:r>
              <a:rPr lang="en-US" altLang="zh-CN" sz="2500" b="1" dirty="0">
                <a:solidFill>
                  <a:srgbClr val="0000FF"/>
                </a:solidFill>
                <a:ea typeface="楷体_GB2312" pitchFamily="49" charset="-122"/>
              </a:rPr>
              <a:t>:</a:t>
            </a:r>
            <a:endParaRPr lang="en-US" altLang="zh-CN" sz="2500" b="1" dirty="0">
              <a:ea typeface="楷体_GB2312" pitchFamily="49" charset="-122"/>
            </a:endParaRPr>
          </a:p>
          <a:p>
            <a:r>
              <a:rPr lang="en-US" altLang="zh-CN" sz="2500" b="1" dirty="0">
                <a:ea typeface="楷体_GB2312" pitchFamily="49" charset="-122"/>
              </a:rPr>
              <a:t>        </a:t>
            </a:r>
            <a:r>
              <a:rPr lang="zh-CN" altLang="en-US" sz="2500" b="1" dirty="0">
                <a:ea typeface="楷体_GB2312" pitchFamily="49" charset="-122"/>
              </a:rPr>
              <a:t>与不同的中心离子配位时</a:t>
            </a:r>
            <a:r>
              <a:rPr lang="en-US" altLang="zh-CN" sz="2500" b="1" dirty="0">
                <a:ea typeface="楷体_GB2312" pitchFamily="49" charset="-122"/>
              </a:rPr>
              <a:t>,</a:t>
            </a:r>
            <a:r>
              <a:rPr lang="zh-CN" altLang="en-US" sz="2500" b="1" dirty="0">
                <a:ea typeface="楷体_GB2312" pitchFamily="49" charset="-122"/>
              </a:rPr>
              <a:t>配位原子可以是不同的</a:t>
            </a:r>
            <a:r>
              <a:rPr lang="zh-CN" altLang="en-US" sz="2500" b="1" dirty="0">
                <a:solidFill>
                  <a:srgbClr val="FF0000"/>
                </a:solidFill>
                <a:ea typeface="楷体_GB2312" pitchFamily="49" charset="-122"/>
              </a:rPr>
              <a:t>单齿配体</a:t>
            </a:r>
            <a:r>
              <a:rPr lang="en-US" altLang="zh-CN" sz="2500" b="1" dirty="0">
                <a:ea typeface="楷体_GB2312" pitchFamily="49" charset="-122"/>
              </a:rPr>
              <a:t>.</a:t>
            </a:r>
          </a:p>
          <a:p>
            <a:r>
              <a:rPr lang="zh-CN" altLang="en-US" sz="2500" b="1" dirty="0">
                <a:ea typeface="楷体_GB2312" pitchFamily="49" charset="-122"/>
              </a:rPr>
              <a:t>如</a:t>
            </a:r>
            <a:r>
              <a:rPr lang="en-US" altLang="zh-CN" sz="2500" b="1" dirty="0">
                <a:ea typeface="楷体_GB2312" pitchFamily="49" charset="-122"/>
              </a:rPr>
              <a:t>: SCN</a:t>
            </a:r>
            <a:r>
              <a:rPr lang="en-US" altLang="zh-CN" sz="2500" b="1" baseline="30000" dirty="0">
                <a:ea typeface="楷体_GB2312" pitchFamily="49" charset="-122"/>
              </a:rPr>
              <a:t>-</a:t>
            </a:r>
            <a:r>
              <a:rPr lang="zh-CN" altLang="en-US" sz="2500" b="1" dirty="0">
                <a:ea typeface="楷体_GB2312" pitchFamily="49" charset="-122"/>
              </a:rPr>
              <a:t>在与</a:t>
            </a:r>
            <a:r>
              <a:rPr lang="en-US" altLang="zh-CN" sz="2500" b="1" dirty="0">
                <a:ea typeface="楷体_GB2312" pitchFamily="49" charset="-122"/>
              </a:rPr>
              <a:t>Fe</a:t>
            </a:r>
            <a:r>
              <a:rPr lang="en-US" altLang="zh-CN" sz="2500" b="1" baseline="30000" dirty="0">
                <a:ea typeface="楷体_GB2312" pitchFamily="49" charset="-122"/>
              </a:rPr>
              <a:t>3+</a:t>
            </a:r>
            <a:r>
              <a:rPr lang="zh-CN" altLang="en-US" sz="2500" b="1" dirty="0">
                <a:ea typeface="楷体_GB2312" pitchFamily="49" charset="-122"/>
              </a:rPr>
              <a:t>配位时</a:t>
            </a:r>
            <a:r>
              <a:rPr lang="en-US" altLang="zh-CN" sz="2500" b="1" dirty="0">
                <a:ea typeface="楷体_GB2312" pitchFamily="49" charset="-122"/>
              </a:rPr>
              <a:t>,</a:t>
            </a:r>
            <a:r>
              <a:rPr lang="zh-CN" altLang="en-US" sz="2500" b="1" dirty="0">
                <a:ea typeface="楷体_GB2312" pitchFamily="49" charset="-122"/>
              </a:rPr>
              <a:t>配位原子是</a:t>
            </a:r>
            <a:r>
              <a:rPr lang="en-US" altLang="zh-CN" sz="2500" b="1" dirty="0">
                <a:solidFill>
                  <a:srgbClr val="FF0000"/>
                </a:solidFill>
                <a:ea typeface="楷体_GB2312" pitchFamily="49" charset="-122"/>
              </a:rPr>
              <a:t>N</a:t>
            </a:r>
            <a:r>
              <a:rPr lang="en-US" altLang="zh-CN" sz="2500" b="1" dirty="0">
                <a:ea typeface="楷体_GB2312" pitchFamily="49" charset="-122"/>
              </a:rPr>
              <a:t>;</a:t>
            </a:r>
          </a:p>
          <a:p>
            <a:r>
              <a:rPr lang="en-US" altLang="zh-CN" sz="2500" b="1" dirty="0">
                <a:ea typeface="楷体_GB2312" pitchFamily="49" charset="-122"/>
              </a:rPr>
              <a:t>      SCN</a:t>
            </a:r>
            <a:r>
              <a:rPr lang="en-US" altLang="zh-CN" sz="2500" b="1" baseline="30000" dirty="0">
                <a:ea typeface="楷体_GB2312" pitchFamily="49" charset="-122"/>
              </a:rPr>
              <a:t>-</a:t>
            </a:r>
            <a:r>
              <a:rPr lang="zh-CN" altLang="en-US" sz="2500" b="1" dirty="0">
                <a:ea typeface="楷体_GB2312" pitchFamily="49" charset="-122"/>
              </a:rPr>
              <a:t>在与</a:t>
            </a:r>
            <a:r>
              <a:rPr lang="en-US" altLang="zh-CN" sz="2500" b="1" dirty="0">
                <a:ea typeface="楷体_GB2312" pitchFamily="49" charset="-122"/>
              </a:rPr>
              <a:t>Ag</a:t>
            </a:r>
            <a:r>
              <a:rPr lang="en-US" altLang="zh-CN" sz="2500" b="1" baseline="30000" dirty="0">
                <a:ea typeface="楷体_GB2312" pitchFamily="49" charset="-122"/>
              </a:rPr>
              <a:t>+</a:t>
            </a:r>
            <a:r>
              <a:rPr lang="zh-CN" altLang="en-US" sz="2500" b="1" dirty="0">
                <a:ea typeface="楷体_GB2312" pitchFamily="49" charset="-122"/>
              </a:rPr>
              <a:t>配位时</a:t>
            </a:r>
            <a:r>
              <a:rPr lang="en-US" altLang="zh-CN" sz="2500" b="1" dirty="0">
                <a:ea typeface="楷体_GB2312" pitchFamily="49" charset="-122"/>
              </a:rPr>
              <a:t>,</a:t>
            </a:r>
            <a:r>
              <a:rPr lang="zh-CN" altLang="en-US" sz="2500" b="1" dirty="0">
                <a:ea typeface="楷体_GB2312" pitchFamily="49" charset="-122"/>
              </a:rPr>
              <a:t>配位原子是</a:t>
            </a:r>
            <a:r>
              <a:rPr lang="en-US" altLang="zh-CN" sz="2500" b="1" dirty="0">
                <a:solidFill>
                  <a:srgbClr val="FF0000"/>
                </a:solidFill>
                <a:ea typeface="楷体_GB2312" pitchFamily="49" charset="-122"/>
              </a:rPr>
              <a:t>S</a:t>
            </a:r>
            <a:r>
              <a:rPr lang="en-US" altLang="zh-CN" sz="2500" b="1" dirty="0">
                <a:solidFill>
                  <a:schemeClr val="bg2"/>
                </a:solidFill>
                <a:ea typeface="楷体_GB2312" pitchFamily="49" charset="-122"/>
              </a:rPr>
              <a:t>.</a:t>
            </a:r>
          </a:p>
        </p:txBody>
      </p:sp>
      <p:sp>
        <p:nvSpPr>
          <p:cNvPr id="24" name="Rectangle 45"/>
          <p:cNvSpPr>
            <a:spLocks noChangeArrowheads="1"/>
          </p:cNvSpPr>
          <p:nvPr/>
        </p:nvSpPr>
        <p:spPr bwMode="auto">
          <a:xfrm>
            <a:off x="3816821" y="1485978"/>
            <a:ext cx="6559550" cy="476250"/>
          </a:xfrm>
          <a:prstGeom prst="rect">
            <a:avLst/>
          </a:prstGeom>
          <a:noFill/>
          <a:ln w="9525">
            <a:noFill/>
            <a:miter lim="800000"/>
            <a:headEnd/>
            <a:tailEnd/>
          </a:ln>
        </p:spPr>
        <p:txBody>
          <a:bodyPr anchor="ctr">
            <a:spAutoFit/>
          </a:bodyPr>
          <a:lstStyle/>
          <a:p>
            <a:r>
              <a:rPr lang="zh-CN" altLang="en-US" sz="2500" b="1" dirty="0">
                <a:solidFill>
                  <a:srgbClr val="FF0000"/>
                </a:solidFill>
                <a:ea typeface="楷体_GB2312" pitchFamily="49" charset="-122"/>
              </a:rPr>
              <a:t>仅</a:t>
            </a:r>
            <a:r>
              <a:rPr lang="zh-CN" altLang="en-US" sz="2500" b="1" dirty="0">
                <a:ea typeface="楷体_GB2312" pitchFamily="49" charset="-122"/>
              </a:rPr>
              <a:t>含</a:t>
            </a:r>
            <a:r>
              <a:rPr lang="zh-CN" altLang="en-US" sz="2500" b="1" dirty="0">
                <a:solidFill>
                  <a:srgbClr val="FF0000"/>
                </a:solidFill>
                <a:ea typeface="楷体_GB2312" pitchFamily="49" charset="-122"/>
              </a:rPr>
              <a:t>一个</a:t>
            </a:r>
            <a:r>
              <a:rPr lang="zh-CN" altLang="en-US" sz="2500" b="1" dirty="0">
                <a:ea typeface="楷体_GB2312" pitchFamily="49" charset="-122"/>
              </a:rPr>
              <a:t>配位原子的配体</a:t>
            </a:r>
            <a:r>
              <a:rPr lang="en-US" altLang="zh-CN" sz="2500" b="1" dirty="0">
                <a:ea typeface="楷体_GB2312" pitchFamily="49" charset="-122"/>
              </a:rPr>
              <a:t>.</a:t>
            </a:r>
          </a:p>
        </p:txBody>
      </p:sp>
      <p:sp>
        <p:nvSpPr>
          <p:cNvPr id="11274" name="矩形 24"/>
          <p:cNvSpPr>
            <a:spLocks noChangeArrowheads="1"/>
          </p:cNvSpPr>
          <p:nvPr/>
        </p:nvSpPr>
        <p:spPr bwMode="auto">
          <a:xfrm>
            <a:off x="7397750" y="1460176"/>
            <a:ext cx="3951723" cy="477054"/>
          </a:xfrm>
          <a:prstGeom prst="rect">
            <a:avLst/>
          </a:prstGeom>
          <a:noFill/>
          <a:ln w="9525">
            <a:noFill/>
            <a:miter lim="800000"/>
            <a:headEnd/>
            <a:tailEnd/>
          </a:ln>
        </p:spPr>
        <p:txBody>
          <a:bodyPr wrap="none">
            <a:spAutoFit/>
          </a:bodyPr>
          <a:lstStyle/>
          <a:p>
            <a:r>
              <a:rPr lang="zh-CN" altLang="en-US" sz="2500" b="1" dirty="0">
                <a:ea typeface="楷体_GB2312" pitchFamily="49" charset="-122"/>
              </a:rPr>
              <a:t>如</a:t>
            </a:r>
            <a:r>
              <a:rPr lang="en-US" altLang="zh-CN" sz="2500" b="1" dirty="0">
                <a:ea typeface="楷体_GB2312" pitchFamily="49" charset="-122"/>
              </a:rPr>
              <a:t>, </a:t>
            </a:r>
            <a:r>
              <a:rPr lang="en-US" altLang="zh-CN" sz="2500" b="1" dirty="0">
                <a:solidFill>
                  <a:srgbClr val="FF0000"/>
                </a:solidFill>
                <a:ea typeface="楷体_GB2312" pitchFamily="49" charset="-122"/>
              </a:rPr>
              <a:t>Cl</a:t>
            </a:r>
            <a:r>
              <a:rPr lang="en-US" altLang="zh-CN" sz="2500" b="1" baseline="30000" dirty="0">
                <a:ea typeface="楷体_GB2312" pitchFamily="49" charset="-122"/>
              </a:rPr>
              <a:t>-</a:t>
            </a:r>
            <a:r>
              <a:rPr lang="zh-CN" altLang="en-US" sz="2500" b="1" dirty="0">
                <a:ea typeface="楷体_GB2312" pitchFamily="49" charset="-122"/>
              </a:rPr>
              <a:t>，</a:t>
            </a:r>
            <a:r>
              <a:rPr lang="en-US" altLang="zh-CN" sz="2500" b="1" dirty="0">
                <a:ea typeface="楷体_GB2312" pitchFamily="49" charset="-122"/>
              </a:rPr>
              <a:t>C</a:t>
            </a:r>
            <a:r>
              <a:rPr lang="en-US" altLang="zh-CN" sz="2500" b="1" dirty="0">
                <a:solidFill>
                  <a:srgbClr val="FF0000"/>
                </a:solidFill>
                <a:ea typeface="楷体_GB2312" pitchFamily="49" charset="-122"/>
              </a:rPr>
              <a:t>O</a:t>
            </a:r>
            <a:r>
              <a:rPr lang="zh-CN" altLang="en-US" sz="2500" b="1" dirty="0">
                <a:ea typeface="楷体_GB2312" pitchFamily="49" charset="-122"/>
              </a:rPr>
              <a:t>，</a:t>
            </a:r>
            <a:r>
              <a:rPr lang="en-US" altLang="zh-CN" sz="2500" b="1" dirty="0">
                <a:ea typeface="楷体_GB2312" pitchFamily="49" charset="-122"/>
              </a:rPr>
              <a:t> C</a:t>
            </a:r>
            <a:r>
              <a:rPr lang="en-US" altLang="zh-CN" sz="2500" b="1" dirty="0">
                <a:solidFill>
                  <a:srgbClr val="FF0000"/>
                </a:solidFill>
                <a:ea typeface="楷体_GB2312" pitchFamily="49" charset="-122"/>
              </a:rPr>
              <a:t>N</a:t>
            </a:r>
            <a:r>
              <a:rPr lang="en-US" altLang="zh-CN" sz="2500" b="1" baseline="30000" dirty="0">
                <a:ea typeface="楷体_GB2312" pitchFamily="49" charset="-122"/>
              </a:rPr>
              <a:t>-</a:t>
            </a:r>
            <a:r>
              <a:rPr lang="en-US" altLang="zh-CN" sz="2500" b="1" dirty="0">
                <a:ea typeface="楷体_GB2312" pitchFamily="49" charset="-122"/>
              </a:rPr>
              <a:t>,N</a:t>
            </a:r>
            <a:r>
              <a:rPr lang="en-US" altLang="zh-CN" sz="2500" b="1" dirty="0">
                <a:solidFill>
                  <a:srgbClr val="FF0000"/>
                </a:solidFill>
                <a:ea typeface="楷体_GB2312" pitchFamily="49" charset="-122"/>
              </a:rPr>
              <a:t>O</a:t>
            </a:r>
            <a:r>
              <a:rPr lang="en-US" altLang="zh-CN" sz="2500" b="1" baseline="-25000" dirty="0">
                <a:ea typeface="楷体_GB2312" pitchFamily="49" charset="-122"/>
              </a:rPr>
              <a:t>2</a:t>
            </a:r>
            <a:r>
              <a:rPr lang="en-US" altLang="zh-CN" sz="2500" b="1" baseline="30000" dirty="0">
                <a:ea typeface="楷体_GB2312" pitchFamily="49" charset="-122"/>
              </a:rPr>
              <a:t>-</a:t>
            </a:r>
            <a:r>
              <a:rPr lang="zh-CN" altLang="en-US" sz="2500" b="1" dirty="0">
                <a:ea typeface="楷体_GB2312" pitchFamily="49" charset="-122"/>
              </a:rPr>
              <a:t>等</a:t>
            </a:r>
            <a:r>
              <a:rPr lang="en-US" altLang="zh-CN" b="1" dirty="0">
                <a:ea typeface="楷体_GB2312" pitchFamily="49" charset="-122"/>
              </a:rPr>
              <a:t>.</a:t>
            </a:r>
            <a:endParaRPr lang="zh-CN" altLang="en-US" dirty="0"/>
          </a:p>
        </p:txBody>
      </p:sp>
      <p:sp>
        <p:nvSpPr>
          <p:cNvPr id="11275" name="Oval 27" descr="图片9">
            <a:hlinkClick r:id="rId6" action="ppaction://hlinksldjump"/>
          </p:cNvPr>
          <p:cNvSpPr>
            <a:spLocks noChangeAspect="1" noChangeArrowheads="1"/>
          </p:cNvSpPr>
          <p:nvPr/>
        </p:nvSpPr>
        <p:spPr bwMode="gray">
          <a:xfrm>
            <a:off x="11161713" y="5597525"/>
            <a:ext cx="360362" cy="360363"/>
          </a:xfrm>
          <a:prstGeom prst="ellipse">
            <a:avLst/>
          </a:prstGeom>
          <a:blipFill dpi="0" rotWithShape="1">
            <a:blip r:embed="rId7"/>
            <a:srcRect/>
            <a:stretch>
              <a:fillRect/>
            </a:stretch>
          </a:blipFill>
          <a:ln w="9525">
            <a:solidFill>
              <a:srgbClr val="808080"/>
            </a:solidFill>
            <a:round/>
            <a:headEnd/>
            <a:tailEnd/>
          </a:ln>
        </p:spPr>
        <p:txBody>
          <a:bodyPr wrap="none" anchor="ctr"/>
          <a:lstStyle/>
          <a:p>
            <a:endParaRPr lang="zh-CN" altLang="en-US"/>
          </a:p>
        </p:txBody>
      </p:sp>
      <p:sp>
        <p:nvSpPr>
          <p:cNvPr id="11276"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8"/>
            <a:srcRect/>
            <a:stretch>
              <a:fillRect/>
            </a:stretch>
          </a:blipFill>
          <a:ln w="9525">
            <a:solidFill>
              <a:srgbClr val="808080"/>
            </a:solidFill>
            <a:round/>
            <a:headEnd/>
            <a:tailEnd/>
          </a:ln>
        </p:spPr>
        <p:txBody>
          <a:bodyPr wrap="none" anchor="ctr"/>
          <a:lstStyle/>
          <a:p>
            <a:endParaRPr lang="zh-CN" altLang="en-US"/>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13348"/>
                                        </p:tgtEl>
                                        <p:attrNameLst>
                                          <p:attrName>style.visibility</p:attrName>
                                        </p:attrNameLst>
                                      </p:cBhvr>
                                      <p:to>
                                        <p:strVal val="visible"/>
                                      </p:to>
                                    </p:set>
                                    <p:animEffect transition="in" filter="slide(fromRight)">
                                      <p:cBhvr>
                                        <p:cTn id="7" dur="500"/>
                                        <p:tgtEl>
                                          <p:spTgt spid="133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49"/>
                                        </p:tgtEl>
                                        <p:attrNameLst>
                                          <p:attrName>style.visibility</p:attrName>
                                        </p:attrNameLst>
                                      </p:cBhvr>
                                      <p:to>
                                        <p:strVal val="visible"/>
                                      </p:to>
                                    </p:set>
                                    <p:animEffect transition="in" filter="blinds(horizontal)">
                                      <p:cBhvr>
                                        <p:cTn id="12" dur="500"/>
                                        <p:tgtEl>
                                          <p:spTgt spid="1334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50">
                                            <p:txEl>
                                              <p:pRg st="0" end="0"/>
                                            </p:txEl>
                                          </p:spTgt>
                                        </p:tgtEl>
                                        <p:attrNameLst>
                                          <p:attrName>style.visibility</p:attrName>
                                        </p:attrNameLst>
                                      </p:cBhvr>
                                      <p:to>
                                        <p:strVal val="visible"/>
                                      </p:to>
                                    </p:set>
                                    <p:animEffect transition="in" filter="blinds(horizontal)">
                                      <p:cBhvr>
                                        <p:cTn id="17" dur="500"/>
                                        <p:tgtEl>
                                          <p:spTgt spid="1335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50">
                                            <p:txEl>
                                              <p:pRg st="1" end="1"/>
                                            </p:txEl>
                                          </p:spTgt>
                                        </p:tgtEl>
                                        <p:attrNameLst>
                                          <p:attrName>style.visibility</p:attrName>
                                        </p:attrNameLst>
                                      </p:cBhvr>
                                      <p:to>
                                        <p:strVal val="visible"/>
                                      </p:to>
                                    </p:set>
                                    <p:animEffect transition="in" filter="blinds(horizontal)">
                                      <p:cBhvr>
                                        <p:cTn id="22" dur="500"/>
                                        <p:tgtEl>
                                          <p:spTgt spid="1335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blinds(horizontal)">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357"/>
                                        </p:tgtEl>
                                        <p:attrNameLst>
                                          <p:attrName>style.visibility</p:attrName>
                                        </p:attrNameLst>
                                      </p:cBhvr>
                                      <p:to>
                                        <p:strVal val="visible"/>
                                      </p:to>
                                    </p:set>
                                    <p:animEffect transition="in" filter="blinds(horizontal)">
                                      <p:cBhvr>
                                        <p:cTn id="32" dur="500"/>
                                        <p:tgtEl>
                                          <p:spTgt spid="1335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274"/>
                                        </p:tgtEl>
                                        <p:attrNameLst>
                                          <p:attrName>style.visibility</p:attrName>
                                        </p:attrNameLst>
                                      </p:cBhvr>
                                      <p:to>
                                        <p:strVal val="visible"/>
                                      </p:to>
                                    </p:set>
                                    <p:animEffect transition="in" filter="blinds(horizontal)">
                                      <p:cBhvr>
                                        <p:cTn id="37" dur="500"/>
                                        <p:tgtEl>
                                          <p:spTgt spid="11274"/>
                                        </p:tgtEl>
                                      </p:cBhvr>
                                    </p:animEffect>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13352"/>
                                        </p:tgtEl>
                                        <p:attrNameLst>
                                          <p:attrName>style.visibility</p:attrName>
                                        </p:attrNameLst>
                                      </p:cBhvr>
                                      <p:to>
                                        <p:strVal val="visible"/>
                                      </p:to>
                                    </p:se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3">
                                            <p:txEl>
                                              <p:pRg st="0" end="0"/>
                                            </p:txEl>
                                          </p:spTgt>
                                        </p:tgtEl>
                                        <p:attrNameLst>
                                          <p:attrName>style.visibility</p:attrName>
                                        </p:attrNameLst>
                                      </p:cBhvr>
                                      <p:to>
                                        <p:strVal val="visible"/>
                                      </p:to>
                                    </p:set>
                                    <p:animEffect transition="in" filter="blinds(horizontal)">
                                      <p:cBhvr>
                                        <p:cTn id="45" dur="500"/>
                                        <p:tgtEl>
                                          <p:spTgt spid="23">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3">
                                            <p:txEl>
                                              <p:pRg st="1" end="1"/>
                                            </p:txEl>
                                          </p:spTgt>
                                        </p:tgtEl>
                                        <p:attrNameLst>
                                          <p:attrName>style.visibility</p:attrName>
                                        </p:attrNameLst>
                                      </p:cBhvr>
                                      <p:to>
                                        <p:strVal val="visible"/>
                                      </p:to>
                                    </p:set>
                                    <p:animEffect transition="in" filter="blinds(horizontal)">
                                      <p:cBhvr>
                                        <p:cTn id="50" dur="500"/>
                                        <p:tgtEl>
                                          <p:spTgt spid="23">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3">
                                            <p:txEl>
                                              <p:pRg st="2" end="2"/>
                                            </p:txEl>
                                          </p:spTgt>
                                        </p:tgtEl>
                                        <p:attrNameLst>
                                          <p:attrName>style.visibility</p:attrName>
                                        </p:attrNameLst>
                                      </p:cBhvr>
                                      <p:to>
                                        <p:strVal val="visible"/>
                                      </p:to>
                                    </p:set>
                                    <p:animEffect transition="in" filter="blinds(horizontal)">
                                      <p:cBhvr>
                                        <p:cTn id="55" dur="500"/>
                                        <p:tgtEl>
                                          <p:spTgt spid="23">
                                            <p:txEl>
                                              <p:pRg st="2" end="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23">
                                            <p:txEl>
                                              <p:pRg st="3" end="3"/>
                                            </p:txEl>
                                          </p:spTgt>
                                        </p:tgtEl>
                                        <p:attrNameLst>
                                          <p:attrName>style.visibility</p:attrName>
                                        </p:attrNameLst>
                                      </p:cBhvr>
                                      <p:to>
                                        <p:strVal val="visible"/>
                                      </p:to>
                                    </p:set>
                                    <p:animEffect transition="in" filter="blinds(horizontal)">
                                      <p:cBhvr>
                                        <p:cTn id="60" dur="500"/>
                                        <p:tgtEl>
                                          <p:spTgt spid="23">
                                            <p:txEl>
                                              <p:pRg st="3" end="3"/>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4" name="NOTIFY.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48" grpId="0" autoUpdateAnimBg="0"/>
      <p:bldP spid="13349" grpId="0" autoUpdateAnimBg="0"/>
      <p:bldP spid="13350" grpId="0" build="p" autoUpdateAnimBg="0"/>
      <p:bldP spid="13352" grpId="0" animBg="1"/>
      <p:bldP spid="13357" grpId="0" autoUpdateAnimBg="0"/>
      <p:bldP spid="23" grpId="0" uiExpand="1" build="p" autoUpdateAnimBg="0"/>
      <p:bldP spid="24" grpId="0" autoUpdateAnimBg="0"/>
      <p:bldP spid="1127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a:spLocks noChangeArrowheads="1"/>
          </p:cNvSpPr>
          <p:nvPr/>
        </p:nvSpPr>
        <p:spPr bwMode="auto">
          <a:xfrm>
            <a:off x="906463" y="1025525"/>
            <a:ext cx="3082925" cy="476250"/>
          </a:xfrm>
          <a:prstGeom prst="rect">
            <a:avLst/>
          </a:prstGeom>
          <a:noFill/>
          <a:ln w="9525">
            <a:noFill/>
            <a:miter lim="800000"/>
            <a:headEnd/>
            <a:tailEnd/>
          </a:ln>
        </p:spPr>
        <p:txBody>
          <a:bodyPr wrap="none" anchor="ctr">
            <a:spAutoFit/>
          </a:bodyPr>
          <a:lstStyle/>
          <a:p>
            <a:r>
              <a:rPr lang="zh-CN" altLang="en-US" sz="2500" b="1" dirty="0">
                <a:solidFill>
                  <a:schemeClr val="tx2"/>
                </a:solidFill>
                <a:ea typeface="楷体_GB2312" pitchFamily="49" charset="-122"/>
              </a:rPr>
              <a:t>二齿配体</a:t>
            </a:r>
            <a:r>
              <a:rPr lang="en-US" altLang="zh-CN" sz="2500" b="1" dirty="0">
                <a:ea typeface="楷体_GB2312" pitchFamily="49" charset="-122"/>
              </a:rPr>
              <a:t>:</a:t>
            </a:r>
            <a:r>
              <a:rPr lang="zh-CN" altLang="en-US" sz="2500" b="1" dirty="0">
                <a:ea typeface="楷体_GB2312" pitchFamily="49" charset="-122"/>
              </a:rPr>
              <a:t>乙二胺</a:t>
            </a:r>
            <a:r>
              <a:rPr lang="en-US" altLang="zh-CN" sz="2500" b="1" dirty="0">
                <a:ea typeface="楷体_GB2312" pitchFamily="49" charset="-122"/>
              </a:rPr>
              <a:t>(</a:t>
            </a:r>
            <a:r>
              <a:rPr lang="en-US" altLang="zh-CN" sz="2500" b="1" dirty="0" err="1">
                <a:ea typeface="楷体_GB2312" pitchFamily="49" charset="-122"/>
              </a:rPr>
              <a:t>en</a:t>
            </a:r>
            <a:r>
              <a:rPr lang="en-US" altLang="zh-CN" sz="2500" b="1" dirty="0">
                <a:ea typeface="楷体_GB2312" pitchFamily="49" charset="-122"/>
              </a:rPr>
              <a:t>)</a:t>
            </a:r>
          </a:p>
        </p:txBody>
      </p:sp>
      <p:sp>
        <p:nvSpPr>
          <p:cNvPr id="3" name="Rectangle 14"/>
          <p:cNvSpPr>
            <a:spLocks noChangeArrowheads="1"/>
          </p:cNvSpPr>
          <p:nvPr/>
        </p:nvSpPr>
        <p:spPr bwMode="auto">
          <a:xfrm>
            <a:off x="2332013" y="1466850"/>
            <a:ext cx="2762250" cy="476250"/>
          </a:xfrm>
          <a:prstGeom prst="rect">
            <a:avLst/>
          </a:prstGeom>
          <a:noFill/>
          <a:ln w="9525">
            <a:noFill/>
            <a:miter lim="800000"/>
            <a:headEnd/>
            <a:tailEnd/>
          </a:ln>
        </p:spPr>
        <p:txBody>
          <a:bodyPr wrap="none" anchor="ctr">
            <a:spAutoFit/>
          </a:bodyPr>
          <a:lstStyle/>
          <a:p>
            <a:pPr algn="ctr"/>
            <a:r>
              <a:rPr lang="zh-CN" altLang="en-US" sz="2500" b="1" dirty="0">
                <a:ea typeface="楷体_GB2312" pitchFamily="49" charset="-122"/>
              </a:rPr>
              <a:t>乙二酸根</a:t>
            </a:r>
            <a:r>
              <a:rPr lang="en-US" altLang="zh-CN" sz="2500" b="1" dirty="0">
                <a:ea typeface="楷体_GB2312" pitchFamily="49" charset="-122"/>
              </a:rPr>
              <a:t>(</a:t>
            </a:r>
            <a:r>
              <a:rPr lang="zh-CN" altLang="en-US" sz="2500" b="1" dirty="0">
                <a:ea typeface="楷体_GB2312" pitchFamily="49" charset="-122"/>
              </a:rPr>
              <a:t>草酸根</a:t>
            </a:r>
            <a:r>
              <a:rPr lang="en-US" altLang="zh-CN" sz="2500" b="1" dirty="0">
                <a:ea typeface="楷体_GB2312" pitchFamily="49" charset="-122"/>
              </a:rPr>
              <a:t>):</a:t>
            </a:r>
          </a:p>
        </p:txBody>
      </p:sp>
      <p:grpSp>
        <p:nvGrpSpPr>
          <p:cNvPr id="4" name="Group 73"/>
          <p:cNvGrpSpPr>
            <a:grpSpLocks/>
          </p:cNvGrpSpPr>
          <p:nvPr/>
        </p:nvGrpSpPr>
        <p:grpSpPr bwMode="auto">
          <a:xfrm>
            <a:off x="6475413" y="1382713"/>
            <a:ext cx="3233737" cy="2003425"/>
            <a:chOff x="3795" y="816"/>
            <a:chExt cx="1617" cy="1336"/>
          </a:xfrm>
        </p:grpSpPr>
        <p:graphicFrame>
          <p:nvGraphicFramePr>
            <p:cNvPr id="1028" name="Object 2"/>
            <p:cNvGraphicFramePr>
              <a:graphicFrameLocks noChangeAspect="1"/>
            </p:cNvGraphicFramePr>
            <p:nvPr/>
          </p:nvGraphicFramePr>
          <p:xfrm>
            <a:off x="3831" y="930"/>
            <a:ext cx="243" cy="1222"/>
          </p:xfrm>
          <a:graphic>
            <a:graphicData uri="http://schemas.openxmlformats.org/presentationml/2006/ole">
              <mc:AlternateContent xmlns:mc="http://schemas.openxmlformats.org/markup-compatibility/2006">
                <mc:Choice xmlns:v="urn:schemas-microsoft-com:vml" Requires="v">
                  <p:oleObj spid="_x0000_s1190" name="公式" r:id="rId6" imgW="152280" imgH="215640" progId="Equation.3">
                    <p:embed/>
                  </p:oleObj>
                </mc:Choice>
                <mc:Fallback>
                  <p:oleObj name="公式" r:id="rId6" imgW="152280" imgH="21564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31" y="930"/>
                          <a:ext cx="243" cy="12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49" name="Group 72"/>
            <p:cNvGrpSpPr>
              <a:grpSpLocks/>
            </p:cNvGrpSpPr>
            <p:nvPr/>
          </p:nvGrpSpPr>
          <p:grpSpPr bwMode="auto">
            <a:xfrm>
              <a:off x="3795" y="816"/>
              <a:ext cx="1617" cy="1318"/>
              <a:chOff x="3795" y="816"/>
              <a:chExt cx="1617" cy="1318"/>
            </a:xfrm>
          </p:grpSpPr>
          <p:sp>
            <p:nvSpPr>
              <p:cNvPr id="1050" name="Text Box 15"/>
              <p:cNvSpPr txBox="1">
                <a:spLocks noChangeArrowheads="1"/>
              </p:cNvSpPr>
              <p:nvPr/>
            </p:nvSpPr>
            <p:spPr bwMode="auto">
              <a:xfrm>
                <a:off x="3795" y="959"/>
                <a:ext cx="1296" cy="1011"/>
              </a:xfrm>
              <a:prstGeom prst="rect">
                <a:avLst/>
              </a:prstGeom>
              <a:noFill/>
              <a:ln w="12700" cap="sq">
                <a:noFill/>
                <a:miter lim="800000"/>
                <a:headEnd type="none" w="sm" len="sm"/>
                <a:tailEnd type="none" w="sm" len="sm"/>
              </a:ln>
            </p:spPr>
            <p:txBody>
              <a:bodyPr>
                <a:spAutoFit/>
              </a:bodyPr>
              <a:lstStyle/>
              <a:p>
                <a:pPr algn="ctr">
                  <a:lnSpc>
                    <a:spcPct val="90000"/>
                  </a:lnSpc>
                  <a:spcBef>
                    <a:spcPct val="50000"/>
                  </a:spcBef>
                </a:pPr>
                <a:r>
                  <a:rPr lang="en-US" altLang="zh-CN" sz="2500" b="1">
                    <a:ea typeface="楷体_GB2312" pitchFamily="49" charset="-122"/>
                  </a:rPr>
                  <a:t>O                  O</a:t>
                </a:r>
              </a:p>
              <a:p>
                <a:pPr algn="ctr">
                  <a:lnSpc>
                    <a:spcPct val="90000"/>
                  </a:lnSpc>
                  <a:spcBef>
                    <a:spcPct val="50000"/>
                  </a:spcBef>
                </a:pPr>
                <a:r>
                  <a:rPr lang="en-US" altLang="zh-CN" sz="2500" b="1">
                    <a:ea typeface="楷体_GB2312" pitchFamily="49" charset="-122"/>
                  </a:rPr>
                  <a:t>C     C</a:t>
                </a:r>
              </a:p>
              <a:p>
                <a:pPr algn="ctr">
                  <a:lnSpc>
                    <a:spcPct val="90000"/>
                  </a:lnSpc>
                  <a:spcBef>
                    <a:spcPct val="50000"/>
                  </a:spcBef>
                </a:pPr>
                <a:r>
                  <a:rPr lang="en-US" altLang="zh-CN" sz="2500" b="1">
                    <a:solidFill>
                      <a:srgbClr val="FF0000"/>
                    </a:solidFill>
                    <a:ea typeface="楷体_GB2312" pitchFamily="49" charset="-122"/>
                  </a:rPr>
                  <a:t>O</a:t>
                </a:r>
                <a:r>
                  <a:rPr lang="en-US" altLang="zh-CN" sz="2500" b="1">
                    <a:ea typeface="楷体_GB2312" pitchFamily="49" charset="-122"/>
                  </a:rPr>
                  <a:t>               </a:t>
                </a:r>
                <a:r>
                  <a:rPr lang="en-US" altLang="zh-CN" sz="2500" b="1">
                    <a:solidFill>
                      <a:srgbClr val="FF0000"/>
                    </a:solidFill>
                    <a:ea typeface="楷体_GB2312" pitchFamily="49" charset="-122"/>
                  </a:rPr>
                  <a:t>O</a:t>
                </a:r>
                <a:endParaRPr lang="en-US" altLang="zh-CN" sz="2500">
                  <a:solidFill>
                    <a:srgbClr val="FF0000"/>
                  </a:solidFill>
                  <a:ea typeface="楷体_GB2312" pitchFamily="49" charset="-122"/>
                </a:endParaRPr>
              </a:p>
            </p:txBody>
          </p:sp>
          <p:graphicFrame>
            <p:nvGraphicFramePr>
              <p:cNvPr id="1029" name="Object 3"/>
              <p:cNvGraphicFramePr>
                <a:graphicFrameLocks noChangeAspect="1"/>
              </p:cNvGraphicFramePr>
              <p:nvPr/>
            </p:nvGraphicFramePr>
            <p:xfrm>
              <a:off x="4896" y="816"/>
              <a:ext cx="288" cy="1318"/>
            </p:xfrm>
            <a:graphic>
              <a:graphicData uri="http://schemas.openxmlformats.org/presentationml/2006/ole">
                <mc:AlternateContent xmlns:mc="http://schemas.openxmlformats.org/markup-compatibility/2006">
                  <mc:Choice xmlns:v="urn:schemas-microsoft-com:vml" Requires="v">
                    <p:oleObj spid="_x0000_s1191" name="公式" r:id="rId8" imgW="203040" imgH="241200" progId="Equation.3">
                      <p:embed/>
                    </p:oleObj>
                  </mc:Choice>
                  <mc:Fallback>
                    <p:oleObj name="公式" r:id="rId8" imgW="203040" imgH="2412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96" y="816"/>
                            <a:ext cx="288" cy="1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1" name="Line 18"/>
              <p:cNvSpPr>
                <a:spLocks noChangeShapeType="1"/>
              </p:cNvSpPr>
              <p:nvPr/>
            </p:nvSpPr>
            <p:spPr bwMode="auto">
              <a:xfrm flipH="1">
                <a:off x="4740" y="1198"/>
                <a:ext cx="144" cy="240"/>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052" name="Line 19"/>
              <p:cNvSpPr>
                <a:spLocks noChangeShapeType="1"/>
              </p:cNvSpPr>
              <p:nvPr/>
            </p:nvSpPr>
            <p:spPr bwMode="auto">
              <a:xfrm>
                <a:off x="4068" y="1198"/>
                <a:ext cx="192" cy="192"/>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053" name="Line 20"/>
              <p:cNvSpPr>
                <a:spLocks noChangeShapeType="1"/>
              </p:cNvSpPr>
              <p:nvPr/>
            </p:nvSpPr>
            <p:spPr bwMode="auto">
              <a:xfrm>
                <a:off x="4116" y="1198"/>
                <a:ext cx="192" cy="192"/>
              </a:xfrm>
              <a:prstGeom prst="line">
                <a:avLst/>
              </a:prstGeom>
              <a:noFill/>
              <a:ln w="12700" cap="sq">
                <a:solidFill>
                  <a:schemeClr val="tx1"/>
                </a:solidFill>
                <a:round/>
                <a:headEnd type="none" w="sm" len="sm"/>
                <a:tailEnd type="none" w="sm" len="sm"/>
              </a:ln>
            </p:spPr>
            <p:txBody>
              <a:bodyPr wrap="none" anchor="ctr">
                <a:spAutoFit/>
              </a:bodyPr>
              <a:lstStyle/>
              <a:p>
                <a:endParaRPr lang="zh-CN" altLang="en-US"/>
              </a:p>
            </p:txBody>
          </p:sp>
          <p:sp>
            <p:nvSpPr>
              <p:cNvPr id="1054" name="Line 21"/>
              <p:cNvSpPr>
                <a:spLocks noChangeShapeType="1"/>
              </p:cNvSpPr>
              <p:nvPr/>
            </p:nvSpPr>
            <p:spPr bwMode="auto">
              <a:xfrm flipH="1">
                <a:off x="4692" y="1198"/>
                <a:ext cx="144" cy="240"/>
              </a:xfrm>
              <a:prstGeom prst="line">
                <a:avLst/>
              </a:prstGeom>
              <a:noFill/>
              <a:ln w="12700" cap="sq">
                <a:solidFill>
                  <a:schemeClr val="tx1"/>
                </a:solidFill>
                <a:round/>
                <a:headEnd type="none" w="sm" len="sm"/>
                <a:tailEnd type="none" w="sm" len="sm"/>
              </a:ln>
            </p:spPr>
            <p:txBody>
              <a:bodyPr wrap="none" anchor="ctr">
                <a:spAutoFit/>
              </a:bodyPr>
              <a:lstStyle/>
              <a:p>
                <a:endParaRPr lang="zh-CN" altLang="en-US"/>
              </a:p>
            </p:txBody>
          </p:sp>
          <p:sp>
            <p:nvSpPr>
              <p:cNvPr id="1055" name="Line 22"/>
              <p:cNvSpPr>
                <a:spLocks noChangeShapeType="1"/>
              </p:cNvSpPr>
              <p:nvPr/>
            </p:nvSpPr>
            <p:spPr bwMode="auto">
              <a:xfrm flipH="1">
                <a:off x="4128" y="1536"/>
                <a:ext cx="144" cy="240"/>
              </a:xfrm>
              <a:prstGeom prst="line">
                <a:avLst/>
              </a:prstGeom>
              <a:noFill/>
              <a:ln w="12700" cap="sq">
                <a:solidFill>
                  <a:schemeClr val="tx1"/>
                </a:solidFill>
                <a:round/>
                <a:headEnd type="none" w="sm" len="sm"/>
                <a:tailEnd type="none" w="sm" len="sm"/>
              </a:ln>
            </p:spPr>
            <p:txBody>
              <a:bodyPr wrap="none" anchor="ctr">
                <a:spAutoFit/>
              </a:bodyPr>
              <a:lstStyle/>
              <a:p>
                <a:endParaRPr lang="zh-CN" altLang="en-US"/>
              </a:p>
            </p:txBody>
          </p:sp>
          <p:sp>
            <p:nvSpPr>
              <p:cNvPr id="1056" name="Line 23"/>
              <p:cNvSpPr>
                <a:spLocks noChangeShapeType="1"/>
              </p:cNvSpPr>
              <p:nvPr/>
            </p:nvSpPr>
            <p:spPr bwMode="auto">
              <a:xfrm>
                <a:off x="4704" y="1536"/>
                <a:ext cx="144" cy="240"/>
              </a:xfrm>
              <a:prstGeom prst="line">
                <a:avLst/>
              </a:prstGeom>
              <a:noFill/>
              <a:ln w="12700" cap="sq">
                <a:solidFill>
                  <a:schemeClr val="tx1"/>
                </a:solidFill>
                <a:round/>
                <a:headEnd type="none" w="sm" len="sm"/>
                <a:tailEnd type="none" w="sm" len="sm"/>
              </a:ln>
            </p:spPr>
            <p:txBody>
              <a:bodyPr wrap="none" anchor="ctr">
                <a:spAutoFit/>
              </a:bodyPr>
              <a:lstStyle/>
              <a:p>
                <a:endParaRPr lang="zh-CN" altLang="en-US"/>
              </a:p>
            </p:txBody>
          </p:sp>
          <p:sp>
            <p:nvSpPr>
              <p:cNvPr id="1057" name="Line 24"/>
              <p:cNvSpPr>
                <a:spLocks noChangeShapeType="1"/>
              </p:cNvSpPr>
              <p:nvPr/>
            </p:nvSpPr>
            <p:spPr bwMode="auto">
              <a:xfrm>
                <a:off x="4352" y="1473"/>
                <a:ext cx="204" cy="0"/>
              </a:xfrm>
              <a:prstGeom prst="line">
                <a:avLst/>
              </a:prstGeom>
              <a:noFill/>
              <a:ln w="12700" cap="sq">
                <a:solidFill>
                  <a:schemeClr val="tx1"/>
                </a:solidFill>
                <a:round/>
                <a:headEnd type="none" w="sm" len="sm"/>
                <a:tailEnd type="none" w="sm" len="sm"/>
              </a:ln>
            </p:spPr>
            <p:txBody>
              <a:bodyPr wrap="none" anchor="ctr">
                <a:spAutoFit/>
              </a:bodyPr>
              <a:lstStyle/>
              <a:p>
                <a:endParaRPr lang="zh-CN" altLang="en-US"/>
              </a:p>
            </p:txBody>
          </p:sp>
          <p:sp>
            <p:nvSpPr>
              <p:cNvPr id="1058" name="Text Box 25"/>
              <p:cNvSpPr txBox="1">
                <a:spLocks noChangeArrowheads="1"/>
              </p:cNvSpPr>
              <p:nvPr/>
            </p:nvSpPr>
            <p:spPr bwMode="auto">
              <a:xfrm>
                <a:off x="5078" y="930"/>
                <a:ext cx="334" cy="318"/>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2500" b="1">
                    <a:ea typeface="楷体_GB2312" pitchFamily="49" charset="-122"/>
                  </a:rPr>
                  <a:t>2-</a:t>
                </a:r>
              </a:p>
            </p:txBody>
          </p:sp>
        </p:grpSp>
      </p:grpSp>
      <p:sp>
        <p:nvSpPr>
          <p:cNvPr id="17" name="Rectangle 28"/>
          <p:cNvSpPr>
            <a:spLocks noChangeArrowheads="1"/>
          </p:cNvSpPr>
          <p:nvPr/>
        </p:nvSpPr>
        <p:spPr bwMode="auto">
          <a:xfrm>
            <a:off x="6121400" y="1025525"/>
            <a:ext cx="3178175" cy="476250"/>
          </a:xfrm>
          <a:prstGeom prst="rect">
            <a:avLst/>
          </a:prstGeom>
          <a:noFill/>
          <a:ln w="9525">
            <a:noFill/>
            <a:miter lim="800000"/>
            <a:headEnd/>
            <a:tailEnd/>
          </a:ln>
        </p:spPr>
        <p:txBody>
          <a:bodyPr wrap="none" anchor="ctr">
            <a:spAutoFit/>
          </a:bodyPr>
          <a:lstStyle/>
          <a:p>
            <a:pPr algn="ctr"/>
            <a:r>
              <a:rPr lang="en-US" altLang="zh-CN" sz="2500" b="1" dirty="0">
                <a:solidFill>
                  <a:srgbClr val="FF0000"/>
                </a:solidFill>
                <a:ea typeface="楷体_GB2312" pitchFamily="49" charset="-122"/>
              </a:rPr>
              <a:t>N</a:t>
            </a:r>
            <a:r>
              <a:rPr lang="en-US" altLang="zh-CN" sz="2500" b="1" dirty="0">
                <a:ea typeface="楷体_GB2312" pitchFamily="49" charset="-122"/>
              </a:rPr>
              <a:t>H</a:t>
            </a:r>
            <a:r>
              <a:rPr lang="en-US" altLang="zh-CN" sz="2500" b="1" baseline="-25000" dirty="0">
                <a:ea typeface="楷体_GB2312" pitchFamily="49" charset="-122"/>
              </a:rPr>
              <a:t>2</a:t>
            </a:r>
            <a:r>
              <a:rPr lang="en-US" altLang="zh-CN" sz="2500" b="1" dirty="0">
                <a:ea typeface="楷体_GB2312" pitchFamily="49" charset="-122"/>
              </a:rPr>
              <a:t>–CH</a:t>
            </a:r>
            <a:r>
              <a:rPr lang="en-US" altLang="zh-CN" sz="2500" b="1" baseline="-25000" dirty="0">
                <a:ea typeface="楷体_GB2312" pitchFamily="49" charset="-122"/>
              </a:rPr>
              <a:t>2</a:t>
            </a:r>
            <a:r>
              <a:rPr lang="en-US" altLang="zh-CN" sz="2500" b="1" dirty="0">
                <a:ea typeface="楷体_GB2312" pitchFamily="49" charset="-122"/>
              </a:rPr>
              <a:t> –CH</a:t>
            </a:r>
            <a:r>
              <a:rPr lang="en-US" altLang="zh-CN" sz="2500" b="1" baseline="-25000" dirty="0">
                <a:ea typeface="楷体_GB2312" pitchFamily="49" charset="-122"/>
              </a:rPr>
              <a:t>2</a:t>
            </a:r>
            <a:r>
              <a:rPr lang="en-US" altLang="zh-CN" sz="2500" b="1" dirty="0">
                <a:ea typeface="楷体_GB2312" pitchFamily="49" charset="-122"/>
              </a:rPr>
              <a:t> –</a:t>
            </a:r>
            <a:r>
              <a:rPr lang="en-US" altLang="zh-CN" sz="2500" b="1" dirty="0">
                <a:solidFill>
                  <a:srgbClr val="FF0000"/>
                </a:solidFill>
                <a:ea typeface="楷体_GB2312" pitchFamily="49" charset="-122"/>
              </a:rPr>
              <a:t>N</a:t>
            </a:r>
            <a:r>
              <a:rPr lang="en-US" altLang="zh-CN" sz="2500" b="1" dirty="0">
                <a:ea typeface="楷体_GB2312" pitchFamily="49" charset="-122"/>
              </a:rPr>
              <a:t>H</a:t>
            </a:r>
            <a:r>
              <a:rPr lang="en-US" altLang="zh-CN" sz="2500" b="1" baseline="-25000" dirty="0">
                <a:ea typeface="楷体_GB2312" pitchFamily="49" charset="-122"/>
              </a:rPr>
              <a:t>2</a:t>
            </a:r>
          </a:p>
        </p:txBody>
      </p:sp>
      <p:sp>
        <p:nvSpPr>
          <p:cNvPr id="18" name="Text Box 29"/>
          <p:cNvSpPr txBox="1">
            <a:spLocks noChangeArrowheads="1"/>
          </p:cNvSpPr>
          <p:nvPr/>
        </p:nvSpPr>
        <p:spPr bwMode="auto">
          <a:xfrm>
            <a:off x="906463" y="2990850"/>
            <a:ext cx="5532952" cy="477838"/>
          </a:xfrm>
          <a:prstGeom prst="rect">
            <a:avLst/>
          </a:prstGeom>
          <a:noFill/>
          <a:ln w="12700" cap="sq">
            <a:noFill/>
            <a:miter lim="800000"/>
            <a:headEnd type="none" w="sm" len="sm"/>
            <a:tailEnd type="none" w="sm" len="sm"/>
          </a:ln>
        </p:spPr>
        <p:txBody>
          <a:bodyPr wrap="square">
            <a:spAutoFit/>
          </a:bodyPr>
          <a:lstStyle/>
          <a:p>
            <a:pPr>
              <a:spcBef>
                <a:spcPct val="50000"/>
              </a:spcBef>
            </a:pPr>
            <a:r>
              <a:rPr lang="zh-CN" altLang="en-US" sz="2500" b="1" dirty="0">
                <a:solidFill>
                  <a:schemeClr val="tx2"/>
                </a:solidFill>
                <a:ea typeface="楷体_GB2312" pitchFamily="49" charset="-122"/>
              </a:rPr>
              <a:t>六齿配体</a:t>
            </a:r>
            <a:r>
              <a:rPr lang="en-US" altLang="zh-CN" sz="2500" b="1" dirty="0">
                <a:ea typeface="楷体_GB2312" pitchFamily="49" charset="-122"/>
              </a:rPr>
              <a:t>:</a:t>
            </a:r>
            <a:r>
              <a:rPr lang="zh-CN" altLang="en-US" sz="2500" b="1" dirty="0">
                <a:ea typeface="楷体_GB2312" pitchFamily="49" charset="-122"/>
              </a:rPr>
              <a:t>乙二胺四乙酸根 </a:t>
            </a:r>
            <a:r>
              <a:rPr lang="en-US" altLang="zh-CN" sz="2500" b="1" dirty="0">
                <a:ea typeface="楷体_GB2312" pitchFamily="49" charset="-122"/>
              </a:rPr>
              <a:t>EDTA(Y</a:t>
            </a:r>
            <a:r>
              <a:rPr lang="en-US" altLang="zh-CN" sz="2500" b="1" baseline="30000" dirty="0">
                <a:ea typeface="楷体_GB2312" pitchFamily="49" charset="-122"/>
              </a:rPr>
              <a:t>4-</a:t>
            </a:r>
            <a:r>
              <a:rPr lang="en-US" altLang="zh-CN" sz="2500" b="1" dirty="0">
                <a:ea typeface="楷体_GB2312" pitchFamily="49" charset="-122"/>
              </a:rPr>
              <a:t>)</a:t>
            </a:r>
            <a:endParaRPr lang="en-US" altLang="zh-CN" sz="2500" dirty="0">
              <a:ea typeface="楷体_GB2312" pitchFamily="49" charset="-122"/>
            </a:endParaRPr>
          </a:p>
        </p:txBody>
      </p:sp>
      <p:grpSp>
        <p:nvGrpSpPr>
          <p:cNvPr id="6" name="Group 76"/>
          <p:cNvGrpSpPr>
            <a:grpSpLocks/>
          </p:cNvGrpSpPr>
          <p:nvPr/>
        </p:nvGrpSpPr>
        <p:grpSpPr bwMode="auto">
          <a:xfrm>
            <a:off x="1585913" y="3235325"/>
            <a:ext cx="9191625" cy="2074863"/>
            <a:chOff x="793" y="2153"/>
            <a:chExt cx="4595" cy="1383"/>
          </a:xfrm>
        </p:grpSpPr>
        <p:sp>
          <p:nvSpPr>
            <p:cNvPr id="1039" name="Line 31"/>
            <p:cNvSpPr>
              <a:spLocks noChangeShapeType="1"/>
            </p:cNvSpPr>
            <p:nvPr/>
          </p:nvSpPr>
          <p:spPr bwMode="auto">
            <a:xfrm>
              <a:off x="2068" y="2450"/>
              <a:ext cx="192" cy="384"/>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040" name="Line 32"/>
            <p:cNvSpPr>
              <a:spLocks noChangeShapeType="1"/>
            </p:cNvSpPr>
            <p:nvPr/>
          </p:nvSpPr>
          <p:spPr bwMode="auto">
            <a:xfrm flipH="1">
              <a:off x="3696" y="2448"/>
              <a:ext cx="192" cy="384"/>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041" name="Line 33"/>
            <p:cNvSpPr>
              <a:spLocks noChangeShapeType="1"/>
            </p:cNvSpPr>
            <p:nvPr/>
          </p:nvSpPr>
          <p:spPr bwMode="auto">
            <a:xfrm flipH="1">
              <a:off x="2116" y="2978"/>
              <a:ext cx="144" cy="336"/>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042" name="Line 34"/>
            <p:cNvSpPr>
              <a:spLocks noChangeShapeType="1"/>
            </p:cNvSpPr>
            <p:nvPr/>
          </p:nvSpPr>
          <p:spPr bwMode="auto">
            <a:xfrm>
              <a:off x="3696" y="2928"/>
              <a:ext cx="247" cy="395"/>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graphicFrame>
          <p:nvGraphicFramePr>
            <p:cNvPr id="1026" name="Object 4"/>
            <p:cNvGraphicFramePr>
              <a:graphicFrameLocks noChangeAspect="1"/>
            </p:cNvGraphicFramePr>
            <p:nvPr/>
          </p:nvGraphicFramePr>
          <p:xfrm>
            <a:off x="861" y="2289"/>
            <a:ext cx="249" cy="1247"/>
          </p:xfrm>
          <a:graphic>
            <a:graphicData uri="http://schemas.openxmlformats.org/presentationml/2006/ole">
              <mc:AlternateContent xmlns:mc="http://schemas.openxmlformats.org/markup-compatibility/2006">
                <mc:Choice xmlns:v="urn:schemas-microsoft-com:vml" Requires="v">
                  <p:oleObj spid="_x0000_s1192" name="公式" r:id="rId10" imgW="152280" imgH="215640" progId="Equation.3">
                    <p:embed/>
                  </p:oleObj>
                </mc:Choice>
                <mc:Fallback>
                  <p:oleObj name="公式" r:id="rId10" imgW="152280" imgH="21564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1" y="2289"/>
                          <a:ext cx="249" cy="12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5"/>
            <p:cNvGraphicFramePr>
              <a:graphicFrameLocks noChangeAspect="1"/>
            </p:cNvGraphicFramePr>
            <p:nvPr/>
          </p:nvGraphicFramePr>
          <p:xfrm>
            <a:off x="4942" y="2153"/>
            <a:ext cx="326" cy="1364"/>
          </p:xfrm>
          <a:graphic>
            <a:graphicData uri="http://schemas.openxmlformats.org/presentationml/2006/ole">
              <mc:AlternateContent xmlns:mc="http://schemas.openxmlformats.org/markup-compatibility/2006">
                <mc:Choice xmlns:v="urn:schemas-microsoft-com:vml" Requires="v">
                  <p:oleObj spid="_x0000_s1193" name="公式" r:id="rId11" imgW="203040" imgH="241200" progId="Equation.3">
                    <p:embed/>
                  </p:oleObj>
                </mc:Choice>
                <mc:Fallback>
                  <p:oleObj name="公式" r:id="rId11" imgW="203040" imgH="2412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42" y="2153"/>
                          <a:ext cx="326" cy="13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3" name="Text Box 37"/>
            <p:cNvSpPr txBox="1">
              <a:spLocks noChangeArrowheads="1"/>
            </p:cNvSpPr>
            <p:nvPr/>
          </p:nvSpPr>
          <p:spPr bwMode="auto">
            <a:xfrm>
              <a:off x="5100" y="2267"/>
              <a:ext cx="288" cy="318"/>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2500" b="1">
                  <a:ea typeface="楷体_GB2312" pitchFamily="49" charset="-122"/>
                </a:rPr>
                <a:t>4-</a:t>
              </a:r>
              <a:endParaRPr lang="en-US" altLang="zh-CN" sz="2500">
                <a:ea typeface="楷体_GB2312" pitchFamily="49" charset="-122"/>
              </a:endParaRPr>
            </a:p>
          </p:txBody>
        </p:sp>
        <p:sp>
          <p:nvSpPr>
            <p:cNvPr id="1044" name="Rectangle 48"/>
            <p:cNvSpPr>
              <a:spLocks noChangeArrowheads="1"/>
            </p:cNvSpPr>
            <p:nvPr/>
          </p:nvSpPr>
          <p:spPr bwMode="auto">
            <a:xfrm>
              <a:off x="2064" y="2675"/>
              <a:ext cx="1881" cy="318"/>
            </a:xfrm>
            <a:prstGeom prst="rect">
              <a:avLst/>
            </a:prstGeom>
            <a:noFill/>
            <a:ln w="9525">
              <a:noFill/>
              <a:miter lim="800000"/>
              <a:headEnd/>
              <a:tailEnd/>
            </a:ln>
          </p:spPr>
          <p:txBody>
            <a:bodyPr anchor="ctr">
              <a:spAutoFit/>
            </a:bodyPr>
            <a:lstStyle/>
            <a:p>
              <a:pPr algn="ctr"/>
              <a:r>
                <a:rPr lang="en-US" altLang="zh-CN" sz="2500" b="1">
                  <a:solidFill>
                    <a:srgbClr val="FF0000"/>
                  </a:solidFill>
                  <a:ea typeface="楷体_GB2312" pitchFamily="49" charset="-122"/>
                </a:rPr>
                <a:t>N</a:t>
              </a:r>
              <a:r>
                <a:rPr lang="en-US" altLang="zh-CN" sz="2500" b="1">
                  <a:ea typeface="楷体_GB2312" pitchFamily="49" charset="-122"/>
                </a:rPr>
                <a:t>–CH</a:t>
              </a:r>
              <a:r>
                <a:rPr lang="en-US" altLang="zh-CN" sz="2500" b="1" baseline="-25000">
                  <a:ea typeface="楷体_GB2312" pitchFamily="49" charset="-122"/>
                </a:rPr>
                <a:t>2</a:t>
              </a:r>
              <a:r>
                <a:rPr lang="en-US" altLang="zh-CN" sz="2500" b="1">
                  <a:ea typeface="楷体_GB2312" pitchFamily="49" charset="-122"/>
                </a:rPr>
                <a:t> –CH</a:t>
              </a:r>
              <a:r>
                <a:rPr lang="en-US" altLang="zh-CN" sz="2500" b="1" baseline="-25000">
                  <a:ea typeface="楷体_GB2312" pitchFamily="49" charset="-122"/>
                </a:rPr>
                <a:t>2</a:t>
              </a:r>
              <a:r>
                <a:rPr lang="en-US" altLang="zh-CN" sz="2500" b="1">
                  <a:ea typeface="楷体_GB2312" pitchFamily="49" charset="-122"/>
                </a:rPr>
                <a:t> –</a:t>
              </a:r>
              <a:r>
                <a:rPr lang="en-US" altLang="zh-CN" sz="2500" b="1">
                  <a:solidFill>
                    <a:srgbClr val="FF0000"/>
                  </a:solidFill>
                  <a:ea typeface="楷体_GB2312" pitchFamily="49" charset="-122"/>
                </a:rPr>
                <a:t>N</a:t>
              </a:r>
              <a:endParaRPr lang="en-US" altLang="zh-CN" sz="2500" b="1" baseline="-25000">
                <a:solidFill>
                  <a:srgbClr val="FF0000"/>
                </a:solidFill>
                <a:ea typeface="楷体_GB2312" pitchFamily="49" charset="-122"/>
              </a:endParaRPr>
            </a:p>
          </p:txBody>
        </p:sp>
        <p:sp>
          <p:nvSpPr>
            <p:cNvPr id="1045" name="Rectangle 49"/>
            <p:cNvSpPr>
              <a:spLocks noChangeArrowheads="1"/>
            </p:cNvSpPr>
            <p:nvPr/>
          </p:nvSpPr>
          <p:spPr bwMode="auto">
            <a:xfrm>
              <a:off x="3808" y="2267"/>
              <a:ext cx="1323" cy="318"/>
            </a:xfrm>
            <a:prstGeom prst="rect">
              <a:avLst/>
            </a:prstGeom>
            <a:noFill/>
            <a:ln w="9525">
              <a:noFill/>
              <a:miter lim="800000"/>
              <a:headEnd/>
              <a:tailEnd/>
            </a:ln>
          </p:spPr>
          <p:txBody>
            <a:bodyPr anchor="ctr">
              <a:spAutoFit/>
            </a:bodyPr>
            <a:lstStyle/>
            <a:p>
              <a:pPr algn="ctr"/>
              <a:r>
                <a:rPr lang="en-US" altLang="zh-CN" sz="2500" b="1">
                  <a:ea typeface="楷体_GB2312" pitchFamily="49" charset="-122"/>
                </a:rPr>
                <a:t>CH</a:t>
              </a:r>
              <a:r>
                <a:rPr lang="en-US" altLang="zh-CN" sz="2500" b="1" baseline="-25000">
                  <a:ea typeface="楷体_GB2312" pitchFamily="49" charset="-122"/>
                </a:rPr>
                <a:t>2 </a:t>
              </a:r>
              <a:r>
                <a:rPr lang="en-US" altLang="zh-CN" sz="2500" b="1">
                  <a:ea typeface="楷体_GB2312" pitchFamily="49" charset="-122"/>
                </a:rPr>
                <a:t>– CO</a:t>
              </a:r>
              <a:r>
                <a:rPr lang="en-US" altLang="zh-CN" sz="2500" b="1">
                  <a:solidFill>
                    <a:srgbClr val="FF0000"/>
                  </a:solidFill>
                  <a:ea typeface="楷体_GB2312" pitchFamily="49" charset="-122"/>
                </a:rPr>
                <a:t>O</a:t>
              </a:r>
              <a:endParaRPr lang="en-US" altLang="zh-CN" sz="2500" b="1" baseline="-25000">
                <a:solidFill>
                  <a:srgbClr val="FF0000"/>
                </a:solidFill>
                <a:ea typeface="楷体_GB2312" pitchFamily="49" charset="-122"/>
              </a:endParaRPr>
            </a:p>
          </p:txBody>
        </p:sp>
        <p:sp>
          <p:nvSpPr>
            <p:cNvPr id="1046" name="Rectangle 50"/>
            <p:cNvSpPr>
              <a:spLocks noChangeArrowheads="1"/>
            </p:cNvSpPr>
            <p:nvPr/>
          </p:nvSpPr>
          <p:spPr bwMode="auto">
            <a:xfrm>
              <a:off x="793" y="2267"/>
              <a:ext cx="1440" cy="318"/>
            </a:xfrm>
            <a:prstGeom prst="rect">
              <a:avLst/>
            </a:prstGeom>
            <a:noFill/>
            <a:ln w="9525">
              <a:noFill/>
              <a:miter lim="800000"/>
              <a:headEnd/>
              <a:tailEnd/>
            </a:ln>
          </p:spPr>
          <p:txBody>
            <a:bodyPr anchor="ctr">
              <a:spAutoFit/>
            </a:bodyPr>
            <a:lstStyle/>
            <a:p>
              <a:pPr algn="ctr"/>
              <a:r>
                <a:rPr lang="en-US" altLang="zh-CN" sz="2500" b="1">
                  <a:ea typeface="楷体_GB2312" pitchFamily="49" charset="-122"/>
                </a:rPr>
                <a:t> </a:t>
              </a:r>
              <a:r>
                <a:rPr lang="en-US" altLang="zh-CN" sz="2500" b="1">
                  <a:solidFill>
                    <a:srgbClr val="FF0000"/>
                  </a:solidFill>
                  <a:ea typeface="楷体_GB2312" pitchFamily="49" charset="-122"/>
                </a:rPr>
                <a:t>O</a:t>
              </a:r>
              <a:r>
                <a:rPr lang="en-US" altLang="zh-CN" sz="2500" b="1">
                  <a:ea typeface="楷体_GB2312" pitchFamily="49" charset="-122"/>
                </a:rPr>
                <a:t>OC– H</a:t>
              </a:r>
              <a:r>
                <a:rPr lang="en-US" altLang="zh-CN" sz="2500" b="1" baseline="-25000">
                  <a:ea typeface="楷体_GB2312" pitchFamily="49" charset="-122"/>
                </a:rPr>
                <a:t>2</a:t>
              </a:r>
              <a:r>
                <a:rPr lang="en-US" altLang="zh-CN" sz="2500" b="1">
                  <a:ea typeface="楷体_GB2312" pitchFamily="49" charset="-122"/>
                </a:rPr>
                <a:t>C</a:t>
              </a:r>
              <a:endParaRPr lang="en-US" altLang="zh-CN" sz="2500" b="1" baseline="-25000">
                <a:ea typeface="楷体_GB2312" pitchFamily="49" charset="-122"/>
              </a:endParaRPr>
            </a:p>
          </p:txBody>
        </p:sp>
        <p:sp>
          <p:nvSpPr>
            <p:cNvPr id="1047" name="Rectangle 74"/>
            <p:cNvSpPr>
              <a:spLocks noChangeArrowheads="1"/>
            </p:cNvSpPr>
            <p:nvPr/>
          </p:nvSpPr>
          <p:spPr bwMode="auto">
            <a:xfrm>
              <a:off x="816" y="3151"/>
              <a:ext cx="1440" cy="318"/>
            </a:xfrm>
            <a:prstGeom prst="rect">
              <a:avLst/>
            </a:prstGeom>
            <a:noFill/>
            <a:ln w="9525">
              <a:noFill/>
              <a:miter lim="800000"/>
              <a:headEnd/>
              <a:tailEnd/>
            </a:ln>
          </p:spPr>
          <p:txBody>
            <a:bodyPr anchor="ctr">
              <a:spAutoFit/>
            </a:bodyPr>
            <a:lstStyle/>
            <a:p>
              <a:pPr algn="ctr"/>
              <a:r>
                <a:rPr lang="en-US" altLang="zh-CN" sz="2500" b="1">
                  <a:ea typeface="楷体_GB2312" pitchFamily="49" charset="-122"/>
                </a:rPr>
                <a:t> </a:t>
              </a:r>
              <a:r>
                <a:rPr lang="en-US" altLang="zh-CN" sz="2500" b="1">
                  <a:solidFill>
                    <a:srgbClr val="FF0000"/>
                  </a:solidFill>
                  <a:ea typeface="楷体_GB2312" pitchFamily="49" charset="-122"/>
                </a:rPr>
                <a:t>O</a:t>
              </a:r>
              <a:r>
                <a:rPr lang="en-US" altLang="zh-CN" sz="2500" b="1">
                  <a:ea typeface="楷体_GB2312" pitchFamily="49" charset="-122"/>
                </a:rPr>
                <a:t>OC– H</a:t>
              </a:r>
              <a:r>
                <a:rPr lang="en-US" altLang="zh-CN" sz="2500" b="1" baseline="-25000">
                  <a:ea typeface="楷体_GB2312" pitchFamily="49" charset="-122"/>
                </a:rPr>
                <a:t>2</a:t>
              </a:r>
              <a:r>
                <a:rPr lang="en-US" altLang="zh-CN" sz="2500" b="1">
                  <a:ea typeface="楷体_GB2312" pitchFamily="49" charset="-122"/>
                </a:rPr>
                <a:t>C</a:t>
              </a:r>
              <a:endParaRPr lang="en-US" altLang="zh-CN" sz="2500" b="1" baseline="-25000">
                <a:ea typeface="楷体_GB2312" pitchFamily="49" charset="-122"/>
              </a:endParaRPr>
            </a:p>
          </p:txBody>
        </p:sp>
        <p:sp>
          <p:nvSpPr>
            <p:cNvPr id="1048" name="Rectangle 75"/>
            <p:cNvSpPr>
              <a:spLocks noChangeArrowheads="1"/>
            </p:cNvSpPr>
            <p:nvPr/>
          </p:nvSpPr>
          <p:spPr bwMode="auto">
            <a:xfrm>
              <a:off x="3808" y="3151"/>
              <a:ext cx="1323" cy="318"/>
            </a:xfrm>
            <a:prstGeom prst="rect">
              <a:avLst/>
            </a:prstGeom>
            <a:noFill/>
            <a:ln w="9525">
              <a:noFill/>
              <a:miter lim="800000"/>
              <a:headEnd/>
              <a:tailEnd/>
            </a:ln>
          </p:spPr>
          <p:txBody>
            <a:bodyPr anchor="ctr">
              <a:spAutoFit/>
            </a:bodyPr>
            <a:lstStyle/>
            <a:p>
              <a:pPr algn="ctr"/>
              <a:r>
                <a:rPr lang="en-US" altLang="zh-CN" sz="2500" b="1">
                  <a:ea typeface="楷体_GB2312" pitchFamily="49" charset="-122"/>
                </a:rPr>
                <a:t>CH</a:t>
              </a:r>
              <a:r>
                <a:rPr lang="en-US" altLang="zh-CN" sz="2500" b="1" baseline="-25000">
                  <a:ea typeface="楷体_GB2312" pitchFamily="49" charset="-122"/>
                </a:rPr>
                <a:t>2 </a:t>
              </a:r>
              <a:r>
                <a:rPr lang="en-US" altLang="zh-CN" sz="2500" b="1">
                  <a:ea typeface="楷体_GB2312" pitchFamily="49" charset="-122"/>
                </a:rPr>
                <a:t>– CO</a:t>
              </a:r>
              <a:r>
                <a:rPr lang="en-US" altLang="zh-CN" sz="2500" b="1">
                  <a:solidFill>
                    <a:srgbClr val="FF0000"/>
                  </a:solidFill>
                  <a:ea typeface="楷体_GB2312" pitchFamily="49" charset="-122"/>
                </a:rPr>
                <a:t>O</a:t>
              </a:r>
              <a:endParaRPr lang="en-US" altLang="zh-CN" sz="2500" b="1" baseline="-25000">
                <a:solidFill>
                  <a:srgbClr val="FF0000"/>
                </a:solidFill>
                <a:ea typeface="楷体_GB2312" pitchFamily="49" charset="-122"/>
              </a:endParaRPr>
            </a:p>
          </p:txBody>
        </p:sp>
      </p:grpSp>
      <p:sp>
        <p:nvSpPr>
          <p:cNvPr id="32" name="Rectangle 19"/>
          <p:cNvSpPr txBox="1">
            <a:spLocks noChangeArrowheads="1"/>
          </p:cNvSpPr>
          <p:nvPr/>
        </p:nvSpPr>
        <p:spPr>
          <a:xfrm>
            <a:off x="576263" y="258763"/>
            <a:ext cx="10369550" cy="431800"/>
          </a:xfrm>
          <a:prstGeom prst="rect">
            <a:avLst/>
          </a:prstGeom>
          <a:noFill/>
          <a:ln/>
        </p:spPr>
        <p:txBody>
          <a:bodyPr/>
          <a:lstStyle/>
          <a:p>
            <a:pPr eaLnBrk="0" hangingPunct="0">
              <a:defRPr/>
            </a:pPr>
            <a:r>
              <a:rPr lang="en-US" altLang="zh-CN" sz="2200" b="1" kern="0">
                <a:solidFill>
                  <a:srgbClr val="FF0000"/>
                </a:solidFill>
                <a:latin typeface="+mj-lt"/>
                <a:ea typeface="黑体" pitchFamily="2" charset="-122"/>
                <a:cs typeface="+mj-cs"/>
              </a:rPr>
              <a:t>6.1.1</a:t>
            </a:r>
            <a:r>
              <a:rPr lang="zh-CN" altLang="en-US" sz="2200" b="1" kern="0">
                <a:solidFill>
                  <a:srgbClr val="FF0000"/>
                </a:solidFill>
                <a:latin typeface="+mj-lt"/>
                <a:ea typeface="黑体" pitchFamily="2" charset="-122"/>
                <a:cs typeface="+mj-cs"/>
              </a:rPr>
              <a:t>配合物及其组成</a:t>
            </a:r>
            <a:endParaRPr lang="zh-CN" altLang="en-US" sz="1200" kern="0">
              <a:solidFill>
                <a:srgbClr val="0000FF"/>
              </a:solidFill>
              <a:latin typeface="+mj-lt"/>
              <a:ea typeface="黑体" pitchFamily="2" charset="-122"/>
              <a:cs typeface="+mj-cs"/>
            </a:endParaRPr>
          </a:p>
        </p:txBody>
      </p:sp>
      <p:sp>
        <p:nvSpPr>
          <p:cNvPr id="1038" name="Oval 26" descr="图片8">
            <a:hlinkClick r:id="" action="ppaction://hlinkshowjump?jump=previousslide"/>
          </p:cNvPr>
          <p:cNvSpPr>
            <a:spLocks noChangeAspect="1" noChangeArrowheads="1"/>
          </p:cNvSpPr>
          <p:nvPr/>
        </p:nvSpPr>
        <p:spPr bwMode="gray">
          <a:xfrm>
            <a:off x="5546723" y="5668979"/>
            <a:ext cx="360363" cy="360362"/>
          </a:xfrm>
          <a:prstGeom prst="ellipse">
            <a:avLst/>
          </a:prstGeom>
          <a:blipFill dpi="0" rotWithShape="1">
            <a:blip r:embed="rId12"/>
            <a:srcRect/>
            <a:stretch>
              <a:fillRect/>
            </a:stretch>
          </a:blipFill>
          <a:ln w="9525">
            <a:solidFill>
              <a:srgbClr val="808080"/>
            </a:solidFill>
            <a:round/>
            <a:headEnd/>
            <a:tailEnd/>
          </a:ln>
        </p:spPr>
        <p:txBody>
          <a:bodyPr wrap="none" anchor="ct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blinds(horizontal)">
                                      <p:cBhvr>
                                        <p:cTn id="11" dur="500"/>
                                        <p:tgtEl>
                                          <p:spTgt spid="17"/>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childTnLst>
                          </p:cTn>
                        </p:par>
                        <p:par>
                          <p:cTn id="17" fill="hold">
                            <p:stCondLst>
                              <p:cond delay="500"/>
                            </p:stCondLst>
                            <p:childTnLst>
                              <p:par>
                                <p:cTn id="18" presetID="4" presetClass="entr" presetSubtype="16"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ox(in)">
                                      <p:cBhvr>
                                        <p:cTn id="20" dur="500"/>
                                        <p:tgtEl>
                                          <p:spTgt spid="4"/>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linds(horizontal)">
                                      <p:cBhvr>
                                        <p:cTn id="25" dur="500"/>
                                        <p:tgtEl>
                                          <p:spTgt spid="18"/>
                                        </p:tgtEl>
                                      </p:cBhvr>
                                    </p:animEffect>
                                  </p:childTnLst>
                                </p:cTn>
                              </p:par>
                            </p:childTnLst>
                          </p:cTn>
                        </p:par>
                        <p:par>
                          <p:cTn id="26" fill="hold">
                            <p:stCondLst>
                              <p:cond delay="500"/>
                            </p:stCondLst>
                            <p:childTnLst>
                              <p:par>
                                <p:cTn id="27" presetID="4" presetClass="entr" presetSubtype="32"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ox(out)">
                                      <p:cBhvr>
                                        <p:cTn id="29" dur="500"/>
                                        <p:tgtEl>
                                          <p:spTgt spid="6"/>
                                        </p:tgtEl>
                                      </p:cBhvr>
                                    </p:animEffect>
                                  </p:childTnLst>
                                  <p:subTnLst>
                                    <p:audio>
                                      <p:cMediaNode>
                                        <p:cTn display="0" masterRel="sameClick">
                                          <p:stCondLst>
                                            <p:cond evt="begin" delay="0">
                                              <p:tn val="27"/>
                                            </p:cond>
                                          </p:stCondLst>
                                          <p:endCondLst>
                                            <p:cond evt="onStopAudio" delay="0">
                                              <p:tgtEl>
                                                <p:sldTgt/>
                                              </p:tgtEl>
                                            </p:cond>
                                          </p:endCondLst>
                                        </p:cTn>
                                        <p:tgtEl>
                                          <p:sndTgt r:embed="rId5" name="NOTIFY.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17" grpId="0" autoUpdateAnimBg="0"/>
      <p:bldP spid="1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52"/>
          <p:cNvSpPr>
            <a:spLocks noGrp="1" noChangeArrowheads="1"/>
          </p:cNvSpPr>
          <p:nvPr>
            <p:ph type="title"/>
          </p:nvPr>
        </p:nvSpPr>
        <p:spPr>
          <a:xfrm>
            <a:off x="576263" y="258763"/>
            <a:ext cx="10369550" cy="431800"/>
          </a:xfrm>
          <a:noFill/>
        </p:spPr>
        <p:txBody>
          <a:bodyPr/>
          <a:lstStyle/>
          <a:p>
            <a:r>
              <a:rPr lang="en-US" altLang="zh-CN">
                <a:ea typeface="黑体" pitchFamily="49" charset="-122"/>
              </a:rPr>
              <a:t>6.1.1</a:t>
            </a:r>
            <a:r>
              <a:rPr lang="zh-CN" altLang="en-US">
                <a:ea typeface="黑体" pitchFamily="49" charset="-122"/>
              </a:rPr>
              <a:t>配合物及其组成</a:t>
            </a:r>
            <a:endParaRPr lang="zh-CN" altLang="en-US" sz="1200" b="0">
              <a:solidFill>
                <a:srgbClr val="0000FF"/>
              </a:solidFill>
              <a:ea typeface="黑体" pitchFamily="49" charset="-122"/>
            </a:endParaRPr>
          </a:p>
        </p:txBody>
      </p:sp>
      <p:sp>
        <p:nvSpPr>
          <p:cNvPr id="13" name="Rectangle 53"/>
          <p:cNvSpPr>
            <a:spLocks noChangeArrowheads="1"/>
          </p:cNvSpPr>
          <p:nvPr/>
        </p:nvSpPr>
        <p:spPr bwMode="auto">
          <a:xfrm>
            <a:off x="688975" y="882650"/>
            <a:ext cx="3028950" cy="476250"/>
          </a:xfrm>
          <a:prstGeom prst="rect">
            <a:avLst/>
          </a:prstGeom>
          <a:noFill/>
          <a:ln w="9525">
            <a:noFill/>
            <a:miter lim="800000"/>
            <a:headEnd/>
            <a:tailEnd/>
          </a:ln>
        </p:spPr>
        <p:txBody>
          <a:bodyPr wrap="none" anchor="ctr">
            <a:spAutoFit/>
          </a:bodyPr>
          <a:lstStyle/>
          <a:p>
            <a:pPr algn="ctr"/>
            <a:r>
              <a:rPr lang="en-US" altLang="zh-CN" sz="2500" b="1" dirty="0">
                <a:solidFill>
                  <a:srgbClr val="FF3300"/>
                </a:solidFill>
                <a:ea typeface="楷体_GB2312" pitchFamily="49" charset="-122"/>
              </a:rPr>
              <a:t>1.3</a:t>
            </a:r>
            <a:r>
              <a:rPr lang="zh-CN" altLang="en-US" sz="2500" b="1" dirty="0">
                <a:solidFill>
                  <a:srgbClr val="FF3300"/>
                </a:solidFill>
                <a:ea typeface="楷体_GB2312" pitchFamily="49" charset="-122"/>
              </a:rPr>
              <a:t>配位数与配位比</a:t>
            </a:r>
            <a:r>
              <a:rPr lang="en-US" altLang="zh-CN" sz="2500" b="1" dirty="0">
                <a:solidFill>
                  <a:srgbClr val="FF3300"/>
                </a:solidFill>
                <a:ea typeface="楷体_GB2312" pitchFamily="49" charset="-122"/>
              </a:rPr>
              <a:t>:</a:t>
            </a:r>
            <a:endParaRPr lang="en-US" altLang="zh-CN" sz="2500" b="1" dirty="0">
              <a:solidFill>
                <a:schemeClr val="tx2"/>
              </a:solidFill>
              <a:ea typeface="楷体_GB2312" pitchFamily="49" charset="-122"/>
            </a:endParaRPr>
          </a:p>
        </p:txBody>
      </p:sp>
      <p:sp>
        <p:nvSpPr>
          <p:cNvPr id="14" name="Rectangle 54"/>
          <p:cNvSpPr>
            <a:spLocks noChangeArrowheads="1"/>
          </p:cNvSpPr>
          <p:nvPr/>
        </p:nvSpPr>
        <p:spPr bwMode="auto">
          <a:xfrm>
            <a:off x="903288" y="1382832"/>
            <a:ext cx="6585941" cy="861774"/>
          </a:xfrm>
          <a:prstGeom prst="rect">
            <a:avLst/>
          </a:prstGeom>
          <a:noFill/>
          <a:ln w="9525">
            <a:noFill/>
            <a:miter lim="800000"/>
            <a:headEnd/>
            <a:tailEnd/>
          </a:ln>
        </p:spPr>
        <p:txBody>
          <a:bodyPr wrap="square" anchor="ctr">
            <a:spAutoFit/>
          </a:bodyPr>
          <a:lstStyle/>
          <a:p>
            <a:r>
              <a:rPr lang="zh-CN" altLang="en-US" sz="2500" b="1" dirty="0">
                <a:solidFill>
                  <a:srgbClr val="FF3300"/>
                </a:solidFill>
                <a:latin typeface="宋体" pitchFamily="2" charset="-122"/>
              </a:rPr>
              <a:t>①</a:t>
            </a:r>
            <a:r>
              <a:rPr lang="zh-CN" altLang="en-US" sz="2500" b="1" dirty="0">
                <a:solidFill>
                  <a:srgbClr val="FF3300"/>
                </a:solidFill>
                <a:ea typeface="楷体_GB2312" pitchFamily="49" charset="-122"/>
              </a:rPr>
              <a:t>配位数</a:t>
            </a:r>
            <a:r>
              <a:rPr lang="en-US" altLang="zh-CN" sz="2500" b="1" dirty="0">
                <a:solidFill>
                  <a:srgbClr val="FF3300"/>
                </a:solidFill>
                <a:ea typeface="楷体_GB2312" pitchFamily="49" charset="-122"/>
              </a:rPr>
              <a:t>:</a:t>
            </a:r>
            <a:r>
              <a:rPr lang="zh-CN" altLang="en-US" sz="2500" b="1" dirty="0">
                <a:solidFill>
                  <a:srgbClr val="FF0000"/>
                </a:solidFill>
                <a:ea typeface="楷体_GB2312" pitchFamily="49" charset="-122"/>
              </a:rPr>
              <a:t>形成配位健的个数</a:t>
            </a:r>
            <a:endParaRPr lang="en-US" altLang="zh-CN" sz="2500" b="1" dirty="0">
              <a:solidFill>
                <a:srgbClr val="FF3300"/>
              </a:solidFill>
              <a:ea typeface="楷体_GB2312" pitchFamily="49" charset="-122"/>
            </a:endParaRPr>
          </a:p>
          <a:p>
            <a:r>
              <a:rPr lang="zh-CN" altLang="en-US" sz="2500" b="1" dirty="0">
                <a:ea typeface="楷体_GB2312" pitchFamily="49" charset="-122"/>
              </a:rPr>
              <a:t>与形成体以配位键直接成键的配位原子总数</a:t>
            </a:r>
            <a:r>
              <a:rPr lang="en-US" altLang="zh-CN" sz="2500" b="1" dirty="0">
                <a:ea typeface="楷体_GB2312" pitchFamily="49" charset="-122"/>
              </a:rPr>
              <a:t>.</a:t>
            </a:r>
            <a:endParaRPr lang="en-US" altLang="zh-CN" sz="2500" b="1" dirty="0">
              <a:solidFill>
                <a:srgbClr val="FF0000"/>
              </a:solidFill>
              <a:ea typeface="楷体_GB2312" pitchFamily="49" charset="-122"/>
            </a:endParaRPr>
          </a:p>
        </p:txBody>
      </p:sp>
      <p:sp>
        <p:nvSpPr>
          <p:cNvPr id="15" name="Rectangle 55"/>
          <p:cNvSpPr>
            <a:spLocks noChangeArrowheads="1"/>
          </p:cNvSpPr>
          <p:nvPr/>
        </p:nvSpPr>
        <p:spPr bwMode="auto">
          <a:xfrm>
            <a:off x="903288" y="2454275"/>
            <a:ext cx="4390946" cy="477054"/>
          </a:xfrm>
          <a:prstGeom prst="rect">
            <a:avLst/>
          </a:prstGeom>
          <a:noFill/>
          <a:ln w="9525">
            <a:noFill/>
            <a:miter lim="800000"/>
            <a:headEnd/>
            <a:tailEnd/>
          </a:ln>
        </p:spPr>
        <p:txBody>
          <a:bodyPr wrap="none" anchor="ctr">
            <a:spAutoFit/>
          </a:bodyPr>
          <a:lstStyle/>
          <a:p>
            <a:pPr algn="ctr"/>
            <a:r>
              <a:rPr lang="zh-CN" altLang="en-US" sz="2500" b="1" dirty="0">
                <a:ea typeface="楷体_GB2312" pitchFamily="49" charset="-122"/>
                <a:hlinkClick r:id="rId3" action="ppaction://hlinksldjump"/>
              </a:rPr>
              <a:t>配位数</a:t>
            </a:r>
            <a:r>
              <a:rPr lang="zh-CN" altLang="en-US" sz="2500" b="1" dirty="0">
                <a:ea typeface="楷体_GB2312" pitchFamily="49" charset="-122"/>
                <a:hlinkClick r:id="rId4" action="ppaction://hlinksldjump"/>
              </a:rPr>
              <a:t> </a:t>
            </a:r>
            <a:r>
              <a:rPr lang="en-US" altLang="zh-CN" sz="2500" b="1" dirty="0">
                <a:ea typeface="楷体_GB2312" pitchFamily="49" charset="-122"/>
              </a:rPr>
              <a:t>=∑</a:t>
            </a:r>
            <a:r>
              <a:rPr lang="zh-CN" altLang="en-US" sz="2500" b="1" dirty="0">
                <a:ea typeface="楷体_GB2312" pitchFamily="49" charset="-122"/>
              </a:rPr>
              <a:t>配体</a:t>
            </a:r>
            <a:r>
              <a:rPr lang="en-US" altLang="zh-CN" sz="2500" b="1" i="1" dirty="0" err="1">
                <a:ea typeface="楷体_GB2312" pitchFamily="49" charset="-122"/>
              </a:rPr>
              <a:t>i</a:t>
            </a:r>
            <a:r>
              <a:rPr lang="zh-CN" altLang="zh-CN" sz="2500" b="1" dirty="0">
                <a:ea typeface="楷体_GB2312" pitchFamily="49" charset="-122"/>
              </a:rPr>
              <a:t>的数目×齿数.</a:t>
            </a:r>
            <a:endParaRPr lang="en-US" altLang="zh-CN" sz="2500" b="1" dirty="0">
              <a:ea typeface="楷体_GB2312" pitchFamily="49" charset="-122"/>
            </a:endParaRPr>
          </a:p>
        </p:txBody>
      </p:sp>
      <p:sp>
        <p:nvSpPr>
          <p:cNvPr id="16" name="Rectangle 56"/>
          <p:cNvSpPr>
            <a:spLocks noChangeArrowheads="1"/>
          </p:cNvSpPr>
          <p:nvPr/>
        </p:nvSpPr>
        <p:spPr bwMode="auto">
          <a:xfrm>
            <a:off x="974725" y="3025775"/>
            <a:ext cx="4795838" cy="477838"/>
          </a:xfrm>
          <a:prstGeom prst="rect">
            <a:avLst/>
          </a:prstGeom>
          <a:noFill/>
          <a:ln w="9525">
            <a:noFill/>
            <a:miter lim="800000"/>
            <a:headEnd/>
            <a:tailEnd/>
          </a:ln>
        </p:spPr>
        <p:txBody>
          <a:bodyPr wrap="none" anchor="ctr">
            <a:spAutoFit/>
          </a:bodyPr>
          <a:lstStyle/>
          <a:p>
            <a:r>
              <a:rPr lang="en-US" altLang="zh-CN" sz="2500" b="1" dirty="0">
                <a:ea typeface="楷体_GB2312" pitchFamily="49" charset="-122"/>
              </a:rPr>
              <a:t>                </a:t>
            </a:r>
            <a:r>
              <a:rPr lang="zh-CN" altLang="en-US" sz="2500" b="1" dirty="0">
                <a:ea typeface="楷体_GB2312" pitchFamily="49" charset="-122"/>
              </a:rPr>
              <a:t>决定配位数大小的因素</a:t>
            </a:r>
            <a:r>
              <a:rPr lang="en-US" altLang="zh-CN" sz="2500" b="1" dirty="0">
                <a:ea typeface="楷体_GB2312" pitchFamily="49" charset="-122"/>
              </a:rPr>
              <a:t>:</a:t>
            </a:r>
          </a:p>
        </p:txBody>
      </p:sp>
      <p:sp>
        <p:nvSpPr>
          <p:cNvPr id="17" name="Rectangle 57"/>
          <p:cNvSpPr>
            <a:spLocks noChangeArrowheads="1"/>
          </p:cNvSpPr>
          <p:nvPr/>
        </p:nvSpPr>
        <p:spPr bwMode="auto">
          <a:xfrm>
            <a:off x="5981700" y="2897188"/>
            <a:ext cx="1901825" cy="862012"/>
          </a:xfrm>
          <a:prstGeom prst="rect">
            <a:avLst/>
          </a:prstGeom>
          <a:noFill/>
          <a:ln w="9525">
            <a:noFill/>
            <a:miter lim="800000"/>
            <a:headEnd/>
            <a:tailEnd/>
          </a:ln>
        </p:spPr>
        <p:txBody>
          <a:bodyPr wrap="none" anchor="ctr">
            <a:spAutoFit/>
          </a:bodyPr>
          <a:lstStyle/>
          <a:p>
            <a:r>
              <a:rPr lang="en-US" altLang="zh-CN" sz="2500" b="1" dirty="0">
                <a:ea typeface="楷体_GB2312" pitchFamily="49" charset="-122"/>
              </a:rPr>
              <a:t>①</a:t>
            </a:r>
            <a:r>
              <a:rPr lang="zh-CN" altLang="en-US" sz="2500" b="1" dirty="0">
                <a:ea typeface="楷体_GB2312" pitchFamily="49" charset="-122"/>
              </a:rPr>
              <a:t>中心离子</a:t>
            </a:r>
            <a:r>
              <a:rPr lang="en-US" altLang="zh-CN" sz="2500" b="1" dirty="0">
                <a:ea typeface="楷体_GB2312" pitchFamily="49" charset="-122"/>
              </a:rPr>
              <a:t>;</a:t>
            </a:r>
          </a:p>
          <a:p>
            <a:r>
              <a:rPr lang="en-US" altLang="zh-CN" sz="2500" b="1" dirty="0">
                <a:ea typeface="楷体_GB2312" pitchFamily="49" charset="-122"/>
              </a:rPr>
              <a:t>②</a:t>
            </a:r>
            <a:r>
              <a:rPr lang="zh-CN" altLang="en-US" sz="2500" b="1" dirty="0">
                <a:ea typeface="楷体_GB2312" pitchFamily="49" charset="-122"/>
              </a:rPr>
              <a:t>配体</a:t>
            </a:r>
            <a:r>
              <a:rPr lang="en-US" altLang="zh-CN" sz="2500" b="1" dirty="0">
                <a:ea typeface="楷体_GB2312" pitchFamily="49" charset="-122"/>
              </a:rPr>
              <a:t>.</a:t>
            </a:r>
          </a:p>
        </p:txBody>
      </p:sp>
      <p:sp>
        <p:nvSpPr>
          <p:cNvPr id="18" name="AutoShape 58"/>
          <p:cNvSpPr>
            <a:spLocks/>
          </p:cNvSpPr>
          <p:nvPr/>
        </p:nvSpPr>
        <p:spPr bwMode="auto">
          <a:xfrm>
            <a:off x="5849938" y="2963863"/>
            <a:ext cx="192087" cy="720725"/>
          </a:xfrm>
          <a:prstGeom prst="leftBrace">
            <a:avLst>
              <a:gd name="adj1" fmla="val 41690"/>
              <a:gd name="adj2" fmla="val 50000"/>
            </a:avLst>
          </a:prstGeom>
          <a:noFill/>
          <a:ln w="9525">
            <a:solidFill>
              <a:schemeClr val="tx1"/>
            </a:solidFill>
            <a:round/>
            <a:headEnd/>
            <a:tailEnd/>
          </a:ln>
        </p:spPr>
        <p:txBody>
          <a:bodyPr wrap="none" anchor="ctr"/>
          <a:lstStyle/>
          <a:p>
            <a:endParaRPr lang="zh-CN" altLang="en-US" sz="2500">
              <a:ea typeface="楷体_GB2312" pitchFamily="49" charset="-122"/>
            </a:endParaRPr>
          </a:p>
        </p:txBody>
      </p:sp>
      <p:sp>
        <p:nvSpPr>
          <p:cNvPr id="12301" name="Oval 27" descr="图片9">
            <a:hlinkClick r:id="rId5" action="ppaction://hlinksldjump"/>
          </p:cNvPr>
          <p:cNvSpPr>
            <a:spLocks noChangeAspect="1" noChangeArrowheads="1"/>
          </p:cNvSpPr>
          <p:nvPr/>
        </p:nvSpPr>
        <p:spPr bwMode="gray">
          <a:xfrm>
            <a:off x="11161713" y="5597525"/>
            <a:ext cx="360362" cy="360363"/>
          </a:xfrm>
          <a:prstGeom prst="ellipse">
            <a:avLst/>
          </a:prstGeom>
          <a:blipFill dpi="0" rotWithShape="1">
            <a:blip r:embed="rId6"/>
            <a:srcRect/>
            <a:stretch>
              <a:fillRect/>
            </a:stretch>
          </a:blipFill>
          <a:ln w="9525">
            <a:solidFill>
              <a:srgbClr val="808080"/>
            </a:solidFill>
            <a:round/>
            <a:headEnd/>
            <a:tailEnd/>
          </a:ln>
        </p:spPr>
        <p:txBody>
          <a:bodyPr wrap="none" anchor="ctr"/>
          <a:lstStyle/>
          <a:p>
            <a:endParaRPr lang="zh-CN" altLang="en-US"/>
          </a:p>
        </p:txBody>
      </p:sp>
      <p:sp>
        <p:nvSpPr>
          <p:cNvPr id="12302" name="Oval 26" descr="图片8">
            <a:hlinkClick r:id="rId7" action="ppaction://hlinksldjump"/>
          </p:cNvPr>
          <p:cNvSpPr>
            <a:spLocks noChangeAspect="1" noChangeArrowheads="1"/>
          </p:cNvSpPr>
          <p:nvPr/>
        </p:nvSpPr>
        <p:spPr bwMode="gray">
          <a:xfrm>
            <a:off x="0" y="5526088"/>
            <a:ext cx="360363" cy="360362"/>
          </a:xfrm>
          <a:prstGeom prst="ellipse">
            <a:avLst/>
          </a:prstGeom>
          <a:blipFill dpi="0" rotWithShape="1">
            <a:blip r:embed="rId8"/>
            <a:srcRect/>
            <a:stretch>
              <a:fillRect/>
            </a:stretch>
          </a:blipFill>
          <a:ln w="9525">
            <a:solidFill>
              <a:srgbClr val="808080"/>
            </a:solidFill>
            <a:round/>
            <a:headEnd/>
            <a:tailEnd/>
          </a:ln>
        </p:spPr>
        <p:txBody>
          <a:bodyPr wrap="none" anchor="ctr"/>
          <a:lstStyle/>
          <a:p>
            <a:endParaRPr lang="zh-CN" altLang="en-US"/>
          </a:p>
        </p:txBody>
      </p:sp>
      <p:sp>
        <p:nvSpPr>
          <p:cNvPr id="21" name="矩形 24"/>
          <p:cNvSpPr>
            <a:spLocks noChangeArrowheads="1"/>
          </p:cNvSpPr>
          <p:nvPr/>
        </p:nvSpPr>
        <p:spPr bwMode="auto">
          <a:xfrm>
            <a:off x="2376661" y="4046255"/>
            <a:ext cx="5619102" cy="1908215"/>
          </a:xfrm>
          <a:prstGeom prst="rect">
            <a:avLst/>
          </a:prstGeom>
          <a:noFill/>
          <a:ln w="9525">
            <a:noFill/>
            <a:miter lim="800000"/>
            <a:headEnd/>
            <a:tailEnd/>
          </a:ln>
        </p:spPr>
        <p:txBody>
          <a:bodyPr wrap="none">
            <a:spAutoFit/>
          </a:bodyPr>
          <a:lstStyle/>
          <a:p>
            <a:r>
              <a:rPr lang="zh-CN" altLang="en-US" sz="2500" b="1" dirty="0">
                <a:ea typeface="楷体_GB2312" pitchFamily="49" charset="-122"/>
              </a:rPr>
              <a:t>单齿配体：</a:t>
            </a:r>
            <a:r>
              <a:rPr lang="en-US" altLang="zh-CN" sz="2500" b="1" dirty="0">
                <a:ea typeface="楷体_GB2312" pitchFamily="49" charset="-122"/>
              </a:rPr>
              <a:t> </a:t>
            </a:r>
            <a:r>
              <a:rPr lang="en-US" altLang="zh-CN" sz="2500" b="1" dirty="0">
                <a:solidFill>
                  <a:srgbClr val="FF0000"/>
                </a:solidFill>
                <a:ea typeface="楷体_GB2312" pitchFamily="49" charset="-122"/>
              </a:rPr>
              <a:t>Cl</a:t>
            </a:r>
            <a:r>
              <a:rPr lang="en-US" altLang="zh-CN" sz="2500" b="1" baseline="30000" dirty="0">
                <a:ea typeface="楷体_GB2312" pitchFamily="49" charset="-122"/>
              </a:rPr>
              <a:t>-</a:t>
            </a:r>
            <a:r>
              <a:rPr lang="zh-CN" altLang="en-US" sz="2500" b="1" dirty="0">
                <a:ea typeface="楷体_GB2312" pitchFamily="49" charset="-122"/>
              </a:rPr>
              <a:t>，</a:t>
            </a:r>
            <a:r>
              <a:rPr lang="en-US" altLang="zh-CN" sz="2500" b="1" dirty="0">
                <a:ea typeface="楷体_GB2312" pitchFamily="49" charset="-122"/>
              </a:rPr>
              <a:t>C</a:t>
            </a:r>
            <a:r>
              <a:rPr lang="en-US" altLang="zh-CN" sz="2500" b="1" dirty="0">
                <a:solidFill>
                  <a:srgbClr val="FF0000"/>
                </a:solidFill>
                <a:ea typeface="楷体_GB2312" pitchFamily="49" charset="-122"/>
              </a:rPr>
              <a:t>O</a:t>
            </a:r>
            <a:r>
              <a:rPr lang="zh-CN" altLang="en-US" sz="2500" b="1" dirty="0">
                <a:ea typeface="楷体_GB2312" pitchFamily="49" charset="-122"/>
              </a:rPr>
              <a:t>，</a:t>
            </a:r>
            <a:r>
              <a:rPr lang="en-US" altLang="zh-CN" sz="2500" b="1" dirty="0">
                <a:ea typeface="楷体_GB2312" pitchFamily="49" charset="-122"/>
              </a:rPr>
              <a:t> C</a:t>
            </a:r>
            <a:r>
              <a:rPr lang="en-US" altLang="zh-CN" sz="2500" b="1" dirty="0">
                <a:solidFill>
                  <a:srgbClr val="FF0000"/>
                </a:solidFill>
                <a:ea typeface="楷体_GB2312" pitchFamily="49" charset="-122"/>
              </a:rPr>
              <a:t>N</a:t>
            </a:r>
            <a:r>
              <a:rPr lang="en-US" altLang="zh-CN" sz="2500" b="1" baseline="30000" dirty="0">
                <a:ea typeface="楷体_GB2312" pitchFamily="49" charset="-122"/>
              </a:rPr>
              <a:t>-</a:t>
            </a:r>
            <a:r>
              <a:rPr lang="en-US" altLang="zh-CN" sz="2500" b="1" dirty="0">
                <a:ea typeface="楷体_GB2312" pitchFamily="49" charset="-122"/>
              </a:rPr>
              <a:t>,N</a:t>
            </a:r>
            <a:r>
              <a:rPr lang="en-US" altLang="zh-CN" sz="2500" b="1" dirty="0">
                <a:solidFill>
                  <a:srgbClr val="FF0000"/>
                </a:solidFill>
                <a:ea typeface="楷体_GB2312" pitchFamily="49" charset="-122"/>
              </a:rPr>
              <a:t>O</a:t>
            </a:r>
            <a:r>
              <a:rPr lang="en-US" altLang="zh-CN" sz="2500" b="1" baseline="-25000" dirty="0">
                <a:ea typeface="楷体_GB2312" pitchFamily="49" charset="-122"/>
              </a:rPr>
              <a:t>2</a:t>
            </a:r>
            <a:r>
              <a:rPr lang="en-US" altLang="zh-CN" sz="2500" b="1" baseline="30000" dirty="0">
                <a:ea typeface="楷体_GB2312" pitchFamily="49" charset="-122"/>
              </a:rPr>
              <a:t>-</a:t>
            </a:r>
          </a:p>
          <a:p>
            <a:pPr lvl="0"/>
            <a:r>
              <a:rPr lang="zh-CN" altLang="en-US" sz="2500" b="1" dirty="0">
                <a:solidFill>
                  <a:srgbClr val="000000"/>
                </a:solidFill>
                <a:ea typeface="楷体_GB2312" pitchFamily="49" charset="-122"/>
              </a:rPr>
              <a:t>二齿配体：乙二胺</a:t>
            </a:r>
            <a:r>
              <a:rPr lang="en-US" altLang="zh-CN" sz="2500" b="1" dirty="0">
                <a:solidFill>
                  <a:srgbClr val="000000"/>
                </a:solidFill>
                <a:ea typeface="楷体_GB2312" pitchFamily="49" charset="-122"/>
              </a:rPr>
              <a:t>(</a:t>
            </a:r>
            <a:r>
              <a:rPr lang="en-US" altLang="zh-CN" sz="2500" b="1" dirty="0" err="1">
                <a:solidFill>
                  <a:srgbClr val="000000"/>
                </a:solidFill>
                <a:ea typeface="楷体_GB2312" pitchFamily="49" charset="-122"/>
              </a:rPr>
              <a:t>en</a:t>
            </a:r>
            <a:r>
              <a:rPr lang="en-US" altLang="zh-CN" sz="2500" b="1" dirty="0">
                <a:solidFill>
                  <a:srgbClr val="000000"/>
                </a:solidFill>
                <a:ea typeface="楷体_GB2312" pitchFamily="49" charset="-122"/>
              </a:rPr>
              <a:t>)</a:t>
            </a:r>
          </a:p>
          <a:p>
            <a:r>
              <a:rPr lang="zh-CN" altLang="en-US" sz="2500" b="1" dirty="0">
                <a:solidFill>
                  <a:srgbClr val="000000"/>
                </a:solidFill>
                <a:ea typeface="楷体_GB2312" pitchFamily="49" charset="-122"/>
              </a:rPr>
              <a:t>六齿配体：</a:t>
            </a:r>
            <a:r>
              <a:rPr lang="zh-CN" altLang="en-US" sz="2500" b="1" dirty="0">
                <a:ea typeface="楷体_GB2312" pitchFamily="49" charset="-122"/>
              </a:rPr>
              <a:t>乙二胺四乙酸根 </a:t>
            </a:r>
            <a:r>
              <a:rPr lang="en-US" altLang="zh-CN" sz="2500" b="1" dirty="0">
                <a:ea typeface="楷体_GB2312" pitchFamily="49" charset="-122"/>
              </a:rPr>
              <a:t>EDTA(Y</a:t>
            </a:r>
            <a:r>
              <a:rPr lang="en-US" altLang="zh-CN" sz="2500" b="1" baseline="30000" dirty="0">
                <a:ea typeface="楷体_GB2312" pitchFamily="49" charset="-122"/>
              </a:rPr>
              <a:t>4-</a:t>
            </a:r>
            <a:r>
              <a:rPr lang="en-US" altLang="zh-CN" sz="2500" b="1" dirty="0">
                <a:ea typeface="楷体_GB2312" pitchFamily="49" charset="-122"/>
              </a:rPr>
              <a:t>)</a:t>
            </a:r>
            <a:endParaRPr lang="en-US" altLang="zh-CN" sz="2500" dirty="0">
              <a:ea typeface="楷体_GB2312" pitchFamily="49" charset="-122"/>
            </a:endParaRPr>
          </a:p>
          <a:p>
            <a:pPr lvl="0"/>
            <a:endParaRPr lang="en-US" altLang="zh-CN" sz="2500" b="1" dirty="0">
              <a:solidFill>
                <a:srgbClr val="000000"/>
              </a:solidFill>
              <a:ea typeface="楷体_GB2312" pitchFamily="49" charset="-122"/>
            </a:endParaRPr>
          </a:p>
          <a:p>
            <a:endParaRPr lang="zh-CN" altLang="en-US" dirty="0"/>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animEffect transition="in" filter="blinds(horizontal)">
                                      <p:cBhvr>
                                        <p:cTn id="27" dur="500"/>
                                        <p:tgtEl>
                                          <p:spTgt spid="1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
                                            <p:txEl>
                                              <p:pRg st="1" end="1"/>
                                            </p:txEl>
                                          </p:spTgt>
                                        </p:tgtEl>
                                        <p:attrNameLst>
                                          <p:attrName>style.visibility</p:attrName>
                                        </p:attrNameLst>
                                      </p:cBhvr>
                                      <p:to>
                                        <p:strVal val="visible"/>
                                      </p:to>
                                    </p:set>
                                    <p:animEffect transition="in" filter="blinds(horizontal)">
                                      <p:cBhvr>
                                        <p:cTn id="32" dur="500"/>
                                        <p:tgtEl>
                                          <p:spTgt spid="17">
                                            <p:txEl>
                                              <p:pRg st="1" end="1"/>
                                            </p:txEl>
                                          </p:spTgt>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18"/>
                                        </p:tgtEl>
                                        <p:attrNameLst>
                                          <p:attrName>style.visibility</p:attrName>
                                        </p:attrNameLst>
                                      </p:cBhvr>
                                      <p:to>
                                        <p:strVal val="visible"/>
                                      </p:to>
                                    </p:set>
                                  </p:childTnLst>
                                  <p:subTnLst>
                                    <p:audio>
                                      <p:cMediaNode>
                                        <p:cTn display="0" masterRel="sameClick">
                                          <p:stCondLst>
                                            <p:cond evt="begin" delay="0">
                                              <p:tn val="34"/>
                                            </p:cond>
                                          </p:stCondLst>
                                          <p:endCondLst>
                                            <p:cond evt="onStopAudio" delay="0">
                                              <p:tgtEl>
                                                <p:sldTgt/>
                                              </p:tgtEl>
                                            </p:cond>
                                          </p:endCondLst>
                                        </p:cTn>
                                        <p:tgtEl>
                                          <p:sndTgt r:embed="rId2" name="CHIMES.WAV"/>
                                        </p:tgtEl>
                                      </p:cMediaNode>
                                    </p:audio>
                                  </p:sub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blinds(horizontal)">
                                      <p:cBhvr>
                                        <p:cTn id="4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P spid="15" grpId="0" autoUpdateAnimBg="0"/>
      <p:bldP spid="16" grpId="0" autoUpdateAnimBg="0"/>
      <p:bldP spid="17" grpId="0" build="p" autoUpdateAnimBg="0"/>
      <p:bldP spid="18" grpId="0" animBg="1"/>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1"/>
          <p:cNvSpPr txBox="1">
            <a:spLocks noChangeArrowheads="1"/>
          </p:cNvSpPr>
          <p:nvPr/>
        </p:nvSpPr>
        <p:spPr bwMode="auto">
          <a:xfrm>
            <a:off x="906463" y="1460500"/>
            <a:ext cx="4206502" cy="2978150"/>
          </a:xfrm>
          <a:prstGeom prst="rect">
            <a:avLst/>
          </a:prstGeom>
          <a:noFill/>
          <a:ln w="9525">
            <a:noFill/>
            <a:miter lim="800000"/>
            <a:headEnd/>
            <a:tailEnd/>
          </a:ln>
        </p:spPr>
        <p:txBody>
          <a:bodyPr wrap="square">
            <a:spAutoFit/>
          </a:bodyPr>
          <a:lstStyle/>
          <a:p>
            <a:pPr>
              <a:lnSpc>
                <a:spcPct val="150000"/>
              </a:lnSpc>
            </a:pPr>
            <a:r>
              <a:rPr lang="zh-CN" altLang="en-US" sz="2500" b="1" dirty="0">
                <a:ea typeface="楷体_GB2312" pitchFamily="49" charset="-122"/>
              </a:rPr>
              <a:t>单齿配体</a:t>
            </a:r>
            <a:r>
              <a:rPr lang="en-US" altLang="zh-CN" sz="2500" b="1" dirty="0">
                <a:ea typeface="楷体_GB2312" pitchFamily="49" charset="-122"/>
              </a:rPr>
              <a:t>:     [Cu(NH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4</a:t>
            </a:r>
            <a:r>
              <a:rPr lang="en-US" altLang="zh-CN" sz="2500" b="1" dirty="0">
                <a:ea typeface="楷体_GB2312" pitchFamily="49" charset="-122"/>
              </a:rPr>
              <a:t>]</a:t>
            </a:r>
            <a:r>
              <a:rPr lang="en-US" altLang="zh-CN" sz="2500" b="1" baseline="30000" dirty="0">
                <a:ea typeface="楷体_GB2312" pitchFamily="49" charset="-122"/>
              </a:rPr>
              <a:t>2+</a:t>
            </a:r>
            <a:r>
              <a:rPr lang="en-US" altLang="zh-CN" sz="2500" b="1" dirty="0">
                <a:ea typeface="楷体_GB2312" pitchFamily="49" charset="-122"/>
              </a:rPr>
              <a:t> </a:t>
            </a:r>
          </a:p>
          <a:p>
            <a:pPr>
              <a:lnSpc>
                <a:spcPct val="150000"/>
              </a:lnSpc>
            </a:pPr>
            <a:r>
              <a:rPr lang="en-US" altLang="zh-CN" sz="2500" b="1" dirty="0">
                <a:ea typeface="楷体_GB2312" pitchFamily="49" charset="-122"/>
              </a:rPr>
              <a:t>                      [PtCl</a:t>
            </a:r>
            <a:r>
              <a:rPr lang="en-US" altLang="zh-CN" sz="2500" b="1" baseline="-25000" dirty="0">
                <a:ea typeface="楷体_GB2312" pitchFamily="49" charset="-122"/>
              </a:rPr>
              <a:t>3</a:t>
            </a: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30000" dirty="0">
                <a:ea typeface="楷体_GB2312" pitchFamily="49" charset="-122"/>
              </a:rPr>
              <a:t>-</a:t>
            </a:r>
            <a:endParaRPr lang="en-US" altLang="zh-CN" sz="2500" b="1" dirty="0">
              <a:ea typeface="楷体_GB2312" pitchFamily="49" charset="-122"/>
            </a:endParaRPr>
          </a:p>
          <a:p>
            <a:pPr>
              <a:lnSpc>
                <a:spcPct val="150000"/>
              </a:lnSpc>
            </a:pPr>
            <a:r>
              <a:rPr lang="zh-CN" altLang="en-US" sz="2500" b="1" dirty="0">
                <a:ea typeface="楷体_GB2312" pitchFamily="49" charset="-122"/>
              </a:rPr>
              <a:t>多齿配体</a:t>
            </a:r>
            <a:r>
              <a:rPr lang="en-US" altLang="zh-CN" sz="2500" b="1" dirty="0">
                <a:ea typeface="楷体_GB2312" pitchFamily="49" charset="-122"/>
              </a:rPr>
              <a:t>:     [CoCl</a:t>
            </a:r>
            <a:r>
              <a:rPr lang="en-US" altLang="zh-CN" sz="2500" b="1" baseline="-25000" dirty="0">
                <a:ea typeface="楷体_GB2312" pitchFamily="49" charset="-122"/>
              </a:rPr>
              <a:t>2</a:t>
            </a:r>
            <a:r>
              <a:rPr lang="en-US" altLang="zh-CN" sz="2500" b="1" dirty="0">
                <a:ea typeface="楷体_GB2312" pitchFamily="49" charset="-122"/>
              </a:rPr>
              <a:t>(</a:t>
            </a:r>
            <a:r>
              <a:rPr lang="en-US" altLang="zh-CN" sz="2500" b="1" dirty="0" err="1">
                <a:ea typeface="楷体_GB2312" pitchFamily="49" charset="-122"/>
              </a:rPr>
              <a:t>en</a:t>
            </a:r>
            <a:r>
              <a:rPr lang="en-US" altLang="zh-CN" sz="2500" b="1" dirty="0">
                <a:ea typeface="楷体_GB2312" pitchFamily="49" charset="-122"/>
              </a:rPr>
              <a:t>)</a:t>
            </a:r>
            <a:r>
              <a:rPr lang="en-US" altLang="zh-CN" sz="2500" b="1" baseline="-25000" dirty="0">
                <a:ea typeface="楷体_GB2312" pitchFamily="49" charset="-122"/>
              </a:rPr>
              <a:t>2</a:t>
            </a:r>
            <a:r>
              <a:rPr lang="en-US" altLang="zh-CN" sz="2500" b="1" dirty="0">
                <a:ea typeface="楷体_GB2312" pitchFamily="49" charset="-122"/>
              </a:rPr>
              <a:t>]</a:t>
            </a:r>
            <a:r>
              <a:rPr lang="en-US" altLang="zh-CN" sz="2500" b="1" baseline="30000" dirty="0">
                <a:ea typeface="楷体_GB2312" pitchFamily="49" charset="-122"/>
              </a:rPr>
              <a:t>+</a:t>
            </a:r>
            <a:endParaRPr lang="en-US" altLang="zh-CN" sz="2500" b="1" dirty="0">
              <a:ea typeface="楷体_GB2312" pitchFamily="49" charset="-122"/>
            </a:endParaRPr>
          </a:p>
          <a:p>
            <a:pPr>
              <a:lnSpc>
                <a:spcPct val="150000"/>
              </a:lnSpc>
            </a:pPr>
            <a:r>
              <a:rPr lang="en-US" altLang="zh-CN" sz="2500" b="1" dirty="0">
                <a:ea typeface="楷体_GB2312" pitchFamily="49" charset="-122"/>
              </a:rPr>
              <a:t>                       [Al(C</a:t>
            </a:r>
            <a:r>
              <a:rPr lang="en-US" altLang="zh-CN" sz="2500" b="1" baseline="-25000" dirty="0">
                <a:ea typeface="楷体_GB2312" pitchFamily="49" charset="-122"/>
              </a:rPr>
              <a:t>2</a:t>
            </a:r>
            <a:r>
              <a:rPr lang="en-US" altLang="zh-CN" sz="2500" b="1" dirty="0">
                <a:ea typeface="楷体_GB2312" pitchFamily="49" charset="-122"/>
              </a:rPr>
              <a:t>O</a:t>
            </a:r>
            <a:r>
              <a:rPr lang="en-US" altLang="zh-CN" sz="2500" b="1" baseline="-25000" dirty="0">
                <a:ea typeface="楷体_GB2312" pitchFamily="49" charset="-122"/>
              </a:rPr>
              <a:t>4</a:t>
            </a:r>
            <a:r>
              <a:rPr lang="en-US" altLang="zh-CN" sz="2500" b="1" dirty="0">
                <a:ea typeface="楷体_GB2312" pitchFamily="49" charset="-122"/>
              </a:rPr>
              <a:t>)</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30000" dirty="0">
                <a:ea typeface="楷体_GB2312" pitchFamily="49" charset="-122"/>
              </a:rPr>
              <a:t>3-</a:t>
            </a:r>
            <a:r>
              <a:rPr lang="en-US" altLang="zh-CN" sz="2500" b="1" dirty="0">
                <a:ea typeface="楷体_GB2312" pitchFamily="49" charset="-122"/>
              </a:rPr>
              <a:t> </a:t>
            </a:r>
          </a:p>
          <a:p>
            <a:pPr>
              <a:lnSpc>
                <a:spcPct val="150000"/>
              </a:lnSpc>
            </a:pPr>
            <a:r>
              <a:rPr lang="en-US" altLang="zh-CN" sz="2500" b="1" dirty="0">
                <a:ea typeface="楷体_GB2312" pitchFamily="49" charset="-122"/>
              </a:rPr>
              <a:t>                       [Ca(EDTA)]</a:t>
            </a:r>
            <a:r>
              <a:rPr lang="en-US" altLang="zh-CN" sz="2500" b="1" baseline="30000" dirty="0">
                <a:ea typeface="楷体_GB2312" pitchFamily="49" charset="-122"/>
              </a:rPr>
              <a:t>2-</a:t>
            </a:r>
          </a:p>
        </p:txBody>
      </p:sp>
      <p:sp>
        <p:nvSpPr>
          <p:cNvPr id="7" name="Rectangle 12"/>
          <p:cNvSpPr>
            <a:spLocks noChangeArrowheads="1"/>
          </p:cNvSpPr>
          <p:nvPr/>
        </p:nvSpPr>
        <p:spPr bwMode="auto">
          <a:xfrm>
            <a:off x="7689850" y="1168400"/>
            <a:ext cx="1150938" cy="476250"/>
          </a:xfrm>
          <a:prstGeom prst="rect">
            <a:avLst/>
          </a:prstGeom>
          <a:noFill/>
          <a:ln w="9525">
            <a:noFill/>
            <a:miter lim="800000"/>
            <a:headEnd/>
            <a:tailEnd/>
          </a:ln>
        </p:spPr>
        <p:txBody>
          <a:bodyPr wrap="none" anchor="ctr">
            <a:spAutoFit/>
          </a:bodyPr>
          <a:lstStyle/>
          <a:p>
            <a:pPr algn="ctr"/>
            <a:r>
              <a:rPr lang="zh-CN" altLang="en-US" sz="2500" b="1">
                <a:ea typeface="楷体_GB2312" pitchFamily="49" charset="-122"/>
              </a:rPr>
              <a:t>配位数</a:t>
            </a:r>
          </a:p>
        </p:txBody>
      </p:sp>
      <p:sp>
        <p:nvSpPr>
          <p:cNvPr id="8" name="Rectangle 14"/>
          <p:cNvSpPr>
            <a:spLocks noChangeArrowheads="1"/>
          </p:cNvSpPr>
          <p:nvPr/>
        </p:nvSpPr>
        <p:spPr bwMode="auto">
          <a:xfrm>
            <a:off x="7405688" y="1509713"/>
            <a:ext cx="1809750" cy="2908300"/>
          </a:xfrm>
          <a:prstGeom prst="rect">
            <a:avLst/>
          </a:prstGeom>
          <a:noFill/>
          <a:ln w="9525">
            <a:noFill/>
            <a:miter lim="800000"/>
            <a:headEnd/>
            <a:tailEnd/>
          </a:ln>
        </p:spPr>
        <p:txBody>
          <a:bodyPr wrap="none" anchor="ctr">
            <a:spAutoFit/>
          </a:bodyPr>
          <a:lstStyle/>
          <a:p>
            <a:pPr algn="ctr">
              <a:lnSpc>
                <a:spcPct val="150000"/>
              </a:lnSpc>
            </a:pPr>
            <a:r>
              <a:rPr lang="en-US" altLang="zh-CN" sz="2500" b="1">
                <a:ea typeface="楷体_GB2312" pitchFamily="49" charset="-122"/>
              </a:rPr>
              <a:t>4</a:t>
            </a:r>
          </a:p>
          <a:p>
            <a:pPr algn="ctr">
              <a:lnSpc>
                <a:spcPct val="150000"/>
              </a:lnSpc>
            </a:pPr>
            <a:r>
              <a:rPr lang="en-US" altLang="zh-CN" sz="2500" b="1">
                <a:ea typeface="楷体_GB2312" pitchFamily="49" charset="-122"/>
              </a:rPr>
              <a:t>3 + 1 = 4</a:t>
            </a:r>
          </a:p>
          <a:p>
            <a:pPr algn="ctr">
              <a:lnSpc>
                <a:spcPct val="150000"/>
              </a:lnSpc>
            </a:pPr>
            <a:r>
              <a:rPr lang="en-US" altLang="zh-CN" sz="2500" b="1">
                <a:ea typeface="楷体_GB2312" pitchFamily="49" charset="-122"/>
              </a:rPr>
              <a:t>2 + 2×2 = 6 </a:t>
            </a:r>
          </a:p>
          <a:p>
            <a:pPr algn="ctr">
              <a:lnSpc>
                <a:spcPct val="150000"/>
              </a:lnSpc>
            </a:pPr>
            <a:r>
              <a:rPr lang="en-US" altLang="zh-CN" sz="2500" b="1">
                <a:ea typeface="楷体_GB2312" pitchFamily="49" charset="-122"/>
              </a:rPr>
              <a:t>3 × 2 = 6</a:t>
            </a:r>
          </a:p>
          <a:p>
            <a:pPr algn="ctr">
              <a:lnSpc>
                <a:spcPct val="150000"/>
              </a:lnSpc>
            </a:pPr>
            <a:endParaRPr lang="en-US" altLang="zh-CN" sz="2500" b="1">
              <a:ea typeface="楷体_GB2312" pitchFamily="49" charset="-122"/>
            </a:endParaRPr>
          </a:p>
        </p:txBody>
      </p:sp>
      <p:sp>
        <p:nvSpPr>
          <p:cNvPr id="9" name="Rectangle 21"/>
          <p:cNvSpPr>
            <a:spLocks noChangeArrowheads="1"/>
          </p:cNvSpPr>
          <p:nvPr/>
        </p:nvSpPr>
        <p:spPr bwMode="auto">
          <a:xfrm>
            <a:off x="7689850" y="3883025"/>
            <a:ext cx="1387475" cy="477838"/>
          </a:xfrm>
          <a:prstGeom prst="rect">
            <a:avLst/>
          </a:prstGeom>
          <a:noFill/>
          <a:ln w="9525">
            <a:noFill/>
            <a:miter lim="800000"/>
            <a:headEnd/>
            <a:tailEnd/>
          </a:ln>
        </p:spPr>
        <p:txBody>
          <a:bodyPr wrap="none" anchor="ctr">
            <a:spAutoFit/>
          </a:bodyPr>
          <a:lstStyle/>
          <a:p>
            <a:pPr algn="ctr"/>
            <a:r>
              <a:rPr lang="en-US" altLang="zh-CN" sz="2500" b="1">
                <a:ea typeface="楷体_GB2312" pitchFamily="49" charset="-122"/>
              </a:rPr>
              <a:t>1 × 6 = 6</a:t>
            </a:r>
          </a:p>
        </p:txBody>
      </p:sp>
      <p:sp>
        <p:nvSpPr>
          <p:cNvPr id="11" name="Rectangle 25"/>
          <p:cNvSpPr>
            <a:spLocks noChangeArrowheads="1"/>
          </p:cNvSpPr>
          <p:nvPr/>
        </p:nvSpPr>
        <p:spPr bwMode="auto">
          <a:xfrm>
            <a:off x="1046163" y="1025525"/>
            <a:ext cx="1150937" cy="476250"/>
          </a:xfrm>
          <a:prstGeom prst="rect">
            <a:avLst/>
          </a:prstGeom>
          <a:noFill/>
          <a:ln w="9525">
            <a:noFill/>
            <a:miter lim="800000"/>
            <a:headEnd/>
            <a:tailEnd/>
          </a:ln>
        </p:spPr>
        <p:txBody>
          <a:bodyPr wrap="none" anchor="ctr">
            <a:spAutoFit/>
          </a:bodyPr>
          <a:lstStyle/>
          <a:p>
            <a:r>
              <a:rPr lang="zh-CN" altLang="en-US" sz="2500" b="1">
                <a:ea typeface="楷体_GB2312" pitchFamily="49" charset="-122"/>
              </a:rPr>
              <a:t>配合物</a:t>
            </a:r>
            <a:endParaRPr lang="en-US" altLang="zh-CN" sz="2500" b="1">
              <a:ea typeface="楷体_GB2312" pitchFamily="49" charset="-122"/>
            </a:endParaRPr>
          </a:p>
        </p:txBody>
      </p:sp>
      <p:sp>
        <p:nvSpPr>
          <p:cNvPr id="13320" name="Rectangle 27"/>
          <p:cNvSpPr>
            <a:spLocks noGrp="1" noChangeArrowheads="1"/>
          </p:cNvSpPr>
          <p:nvPr>
            <p:ph type="title"/>
          </p:nvPr>
        </p:nvSpPr>
        <p:spPr>
          <a:xfrm>
            <a:off x="576263" y="258763"/>
            <a:ext cx="10369550" cy="431800"/>
          </a:xfrm>
          <a:noFill/>
        </p:spPr>
        <p:txBody>
          <a:bodyPr/>
          <a:lstStyle/>
          <a:p>
            <a:r>
              <a:rPr lang="en-US" altLang="zh-CN">
                <a:ea typeface="黑体" pitchFamily="49" charset="-122"/>
              </a:rPr>
              <a:t>6.1.1</a:t>
            </a:r>
            <a:r>
              <a:rPr lang="zh-CN" altLang="en-US">
                <a:ea typeface="黑体" pitchFamily="49" charset="-122"/>
              </a:rPr>
              <a:t>配合物及其组成</a:t>
            </a:r>
            <a:endParaRPr lang="zh-CN" altLang="en-US" sz="1200" b="0">
              <a:solidFill>
                <a:srgbClr val="0000FF"/>
              </a:solidFill>
              <a:ea typeface="黑体" pitchFamily="49" charset="-122"/>
            </a:endParaRPr>
          </a:p>
        </p:txBody>
      </p:sp>
      <p:sp>
        <p:nvSpPr>
          <p:cNvPr id="13322" name="Oval 26" descr="图片8">
            <a:hlinkClick r:id="" action="ppaction://hlinkshowjump?jump=previousslide"/>
          </p:cNvPr>
          <p:cNvSpPr>
            <a:spLocks noChangeAspect="1" noChangeArrowheads="1"/>
          </p:cNvSpPr>
          <p:nvPr/>
        </p:nvSpPr>
        <p:spPr bwMode="gray">
          <a:xfrm>
            <a:off x="5546723" y="5668979"/>
            <a:ext cx="360363" cy="360362"/>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childTnLst>
                          </p:cTn>
                        </p:par>
                      </p:childTnLst>
                    </p:cTn>
                  </p:par>
                  <p:par>
                    <p:cTn id="16" fill="hold">
                      <p:stCondLst>
                        <p:cond delay="indefinite"/>
                      </p:stCondLst>
                      <p:childTnLst>
                        <p:par>
                          <p:cTn id="17" fill="hold">
                            <p:stCondLst>
                              <p:cond delay="0"/>
                            </p:stCondLst>
                            <p:childTnLst>
                              <p:par>
                                <p:cTn id="18" presetID="12" presetClass="entr" presetSubtype="2" fill="hold" grpId="0"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slide(fromRight)">
                                      <p:cBhvr>
                                        <p:cTn id="20" dur="500"/>
                                        <p:tgtEl>
                                          <p:spTgt spid="8">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HIMES.WAV"/>
                                        </p:tgtEl>
                                      </p:cMediaNode>
                                    </p:audio>
                                  </p:subTnLst>
                                </p:cTn>
                              </p:par>
                            </p:childTnLst>
                          </p:cTn>
                        </p:par>
                      </p:childTnLst>
                    </p:cTn>
                  </p:par>
                  <p:par>
                    <p:cTn id="21" fill="hold">
                      <p:stCondLst>
                        <p:cond delay="indefinite"/>
                      </p:stCondLst>
                      <p:childTnLst>
                        <p:par>
                          <p:cTn id="22" fill="hold">
                            <p:stCondLst>
                              <p:cond delay="0"/>
                            </p:stCondLst>
                            <p:childTnLst>
                              <p:par>
                                <p:cTn id="23" presetID="12" presetClass="entr" presetSubtype="2" fill="hold" grpId="0"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animEffect transition="in" filter="slide(fromRight)">
                                      <p:cBhvr>
                                        <p:cTn id="25" dur="500"/>
                                        <p:tgtEl>
                                          <p:spTgt spid="8">
                                            <p:txEl>
                                              <p:pRg st="1" end="1"/>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3" name="CHIMES.WAV"/>
                                        </p:tgtEl>
                                      </p:cMediaNode>
                                    </p:audio>
                                  </p:subTnLst>
                                </p:cTn>
                              </p:par>
                            </p:childTnLst>
                          </p:cTn>
                        </p:par>
                      </p:childTnLst>
                    </p:cTn>
                  </p:par>
                  <p:par>
                    <p:cTn id="26" fill="hold">
                      <p:stCondLst>
                        <p:cond delay="indefinite"/>
                      </p:stCondLst>
                      <p:childTnLst>
                        <p:par>
                          <p:cTn id="27" fill="hold">
                            <p:stCondLst>
                              <p:cond delay="0"/>
                            </p:stCondLst>
                            <p:childTnLst>
                              <p:par>
                                <p:cTn id="28" presetID="12" presetClass="entr" presetSubtype="2" fill="hold" grpId="0" nodeType="clickEffect">
                                  <p:stCondLst>
                                    <p:cond delay="0"/>
                                  </p:stCondLst>
                                  <p:childTnLst>
                                    <p:set>
                                      <p:cBhvr>
                                        <p:cTn id="29" dur="1" fill="hold">
                                          <p:stCondLst>
                                            <p:cond delay="0"/>
                                          </p:stCondLst>
                                        </p:cTn>
                                        <p:tgtEl>
                                          <p:spTgt spid="8">
                                            <p:txEl>
                                              <p:pRg st="2" end="2"/>
                                            </p:txEl>
                                          </p:spTgt>
                                        </p:tgtEl>
                                        <p:attrNameLst>
                                          <p:attrName>style.visibility</p:attrName>
                                        </p:attrNameLst>
                                      </p:cBhvr>
                                      <p:to>
                                        <p:strVal val="visible"/>
                                      </p:to>
                                    </p:set>
                                    <p:animEffect transition="in" filter="slide(fromRight)">
                                      <p:cBhvr>
                                        <p:cTn id="30" dur="500"/>
                                        <p:tgtEl>
                                          <p:spTgt spid="8">
                                            <p:txEl>
                                              <p:pRg st="2" end="2"/>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3" name="CHIMES.WAV"/>
                                        </p:tgtEl>
                                      </p:cMediaNode>
                                    </p:audio>
                                  </p:subTnLst>
                                </p:cTn>
                              </p:par>
                            </p:childTnLst>
                          </p:cTn>
                        </p:par>
                      </p:childTnLst>
                    </p:cTn>
                  </p:par>
                  <p:par>
                    <p:cTn id="31" fill="hold">
                      <p:stCondLst>
                        <p:cond delay="indefinite"/>
                      </p:stCondLst>
                      <p:childTnLst>
                        <p:par>
                          <p:cTn id="32" fill="hold">
                            <p:stCondLst>
                              <p:cond delay="0"/>
                            </p:stCondLst>
                            <p:childTnLst>
                              <p:par>
                                <p:cTn id="33" presetID="12" presetClass="entr" presetSubtype="2" fill="hold" grpId="0" nodeType="clickEffect">
                                  <p:stCondLst>
                                    <p:cond delay="0"/>
                                  </p:stCondLst>
                                  <p:childTnLst>
                                    <p:set>
                                      <p:cBhvr>
                                        <p:cTn id="34" dur="1" fill="hold">
                                          <p:stCondLst>
                                            <p:cond delay="0"/>
                                          </p:stCondLst>
                                        </p:cTn>
                                        <p:tgtEl>
                                          <p:spTgt spid="8">
                                            <p:txEl>
                                              <p:pRg st="3" end="3"/>
                                            </p:txEl>
                                          </p:spTgt>
                                        </p:tgtEl>
                                        <p:attrNameLst>
                                          <p:attrName>style.visibility</p:attrName>
                                        </p:attrNameLst>
                                      </p:cBhvr>
                                      <p:to>
                                        <p:strVal val="visible"/>
                                      </p:to>
                                    </p:set>
                                    <p:animEffect transition="in" filter="slide(fromRight)">
                                      <p:cBhvr>
                                        <p:cTn id="35" dur="500"/>
                                        <p:tgtEl>
                                          <p:spTgt spid="8">
                                            <p:txEl>
                                              <p:pRg st="3" end="3"/>
                                            </p:txEl>
                                          </p:spTgt>
                                        </p:tgtEl>
                                      </p:cBhvr>
                                    </p:animEffect>
                                  </p:childTnLst>
                                  <p:subTnLst>
                                    <p:audio>
                                      <p:cMediaNode>
                                        <p:cTn display="0" masterRel="sameClick">
                                          <p:stCondLst>
                                            <p:cond evt="begin" delay="0">
                                              <p:tn val="33"/>
                                            </p:cond>
                                          </p:stCondLst>
                                          <p:endCondLst>
                                            <p:cond evt="onStopAudio" delay="0">
                                              <p:tgtEl>
                                                <p:sldTgt/>
                                              </p:tgtEl>
                                            </p:cond>
                                          </p:endCondLst>
                                        </p:cTn>
                                        <p:tgtEl>
                                          <p:sndTgt r:embed="rId3" name="CHIMES.WAV"/>
                                        </p:tgtEl>
                                      </p:cMediaNode>
                                    </p:audio>
                                  </p:subTnLst>
                                </p:cTn>
                              </p:par>
                            </p:childTnLst>
                          </p:cTn>
                        </p:par>
                      </p:childTnLst>
                    </p:cTn>
                  </p:par>
                  <p:par>
                    <p:cTn id="36" fill="hold">
                      <p:stCondLst>
                        <p:cond delay="indefinite"/>
                      </p:stCondLst>
                      <p:childTnLst>
                        <p:par>
                          <p:cTn id="37" fill="hold">
                            <p:stCondLst>
                              <p:cond delay="0"/>
                            </p:stCondLst>
                            <p:childTnLst>
                              <p:par>
                                <p:cTn id="38" presetID="12" presetClass="entr" presetSubtype="2"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slide(fromRight)">
                                      <p:cBhvr>
                                        <p:cTn id="40" dur="500"/>
                                        <p:tgtEl>
                                          <p:spTgt spid="9"/>
                                        </p:tgtEl>
                                      </p:cBhvr>
                                    </p:animEffect>
                                  </p:childTnLst>
                                  <p:subTnLst>
                                    <p:audio>
                                      <p:cMediaNode>
                                        <p:cTn display="0" masterRel="sameClick">
                                          <p:stCondLst>
                                            <p:cond evt="begin" delay="0">
                                              <p:tn val="38"/>
                                            </p:cond>
                                          </p:stCondLst>
                                          <p:endCondLst>
                                            <p:cond evt="onStopAudio" delay="0">
                                              <p:tgtEl>
                                                <p:sldTgt/>
                                              </p:tgtEl>
                                            </p:cond>
                                          </p:endCondLst>
                                        </p:cTn>
                                        <p:tgtEl>
                                          <p:sndTgt r:embed="rId4" name="NOTIFY.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utoUpdateAnimBg="0"/>
      <p:bldP spid="8" grpId="0" build="p" autoUpdateAnimBg="0"/>
      <p:bldP spid="9" grpId="0" autoUpdateAnimBg="0"/>
      <p:bldP spid="1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0"/>
          <p:cNvSpPr>
            <a:spLocks noGrp="1" noChangeArrowheads="1"/>
          </p:cNvSpPr>
          <p:nvPr>
            <p:ph type="title"/>
          </p:nvPr>
        </p:nvSpPr>
        <p:spPr>
          <a:xfrm>
            <a:off x="576263" y="258763"/>
            <a:ext cx="10369550" cy="431800"/>
          </a:xfrm>
          <a:noFill/>
        </p:spPr>
        <p:txBody>
          <a:bodyPr/>
          <a:lstStyle/>
          <a:p>
            <a:r>
              <a:rPr lang="en-US" altLang="zh-CN">
                <a:ea typeface="黑体" pitchFamily="49" charset="-122"/>
              </a:rPr>
              <a:t>6.1.1</a:t>
            </a:r>
            <a:r>
              <a:rPr lang="zh-CN" altLang="en-US">
                <a:ea typeface="黑体" pitchFamily="49" charset="-122"/>
              </a:rPr>
              <a:t>配合物及其组成</a:t>
            </a:r>
            <a:endParaRPr lang="zh-CN" altLang="en-US" sz="1200" b="0">
              <a:solidFill>
                <a:srgbClr val="0000FF"/>
              </a:solidFill>
              <a:ea typeface="黑体" pitchFamily="49" charset="-122"/>
            </a:endParaRPr>
          </a:p>
        </p:txBody>
      </p:sp>
      <p:sp>
        <p:nvSpPr>
          <p:cNvPr id="14339" name="Text Box 66"/>
          <p:cNvSpPr txBox="1">
            <a:spLocks noChangeArrowheads="1"/>
          </p:cNvSpPr>
          <p:nvPr/>
        </p:nvSpPr>
        <p:spPr bwMode="auto">
          <a:xfrm>
            <a:off x="3332163" y="2597150"/>
            <a:ext cx="2989262" cy="2451100"/>
          </a:xfrm>
          <a:prstGeom prst="rect">
            <a:avLst/>
          </a:prstGeom>
          <a:noFill/>
          <a:ln w="9525">
            <a:noFill/>
            <a:miter lim="800000"/>
            <a:headEnd/>
            <a:tailEnd/>
          </a:ln>
        </p:spPr>
        <p:txBody>
          <a:bodyPr>
            <a:spAutoFit/>
          </a:bodyPr>
          <a:lstStyle/>
          <a:p>
            <a:pPr>
              <a:lnSpc>
                <a:spcPct val="125000"/>
              </a:lnSpc>
            </a:pPr>
            <a:r>
              <a:rPr lang="en-US" altLang="zh-CN" sz="2500" b="1" dirty="0"/>
              <a:t>a.[Cu(NH</a:t>
            </a:r>
            <a:r>
              <a:rPr lang="en-US" altLang="zh-CN" sz="2500" b="1" baseline="-25000" dirty="0"/>
              <a:t>3</a:t>
            </a:r>
            <a:r>
              <a:rPr lang="en-US" altLang="zh-CN" sz="2500" b="1" dirty="0"/>
              <a:t>)</a:t>
            </a:r>
            <a:r>
              <a:rPr lang="en-US" altLang="zh-CN" sz="2500" b="1" baseline="-25000" dirty="0"/>
              <a:t>4</a:t>
            </a:r>
            <a:r>
              <a:rPr lang="en-US" altLang="zh-CN" sz="2500" b="1" dirty="0"/>
              <a:t>]</a:t>
            </a:r>
            <a:r>
              <a:rPr lang="en-US" altLang="zh-CN" sz="2500" b="1" baseline="30000" dirty="0"/>
              <a:t>2+</a:t>
            </a:r>
            <a:r>
              <a:rPr lang="en-US" altLang="zh-CN" sz="2500" b="1" dirty="0"/>
              <a:t> </a:t>
            </a:r>
          </a:p>
          <a:p>
            <a:pPr>
              <a:lnSpc>
                <a:spcPct val="125000"/>
              </a:lnSpc>
            </a:pPr>
            <a:r>
              <a:rPr lang="en-US" altLang="zh-CN" sz="2500" b="1" dirty="0"/>
              <a:t>b.[PtCl</a:t>
            </a:r>
            <a:r>
              <a:rPr lang="en-US" altLang="zh-CN" sz="2500" b="1" baseline="-25000" dirty="0"/>
              <a:t>3</a:t>
            </a:r>
            <a:r>
              <a:rPr lang="en-US" altLang="zh-CN" sz="2500" b="1" dirty="0"/>
              <a:t>(NH</a:t>
            </a:r>
            <a:r>
              <a:rPr lang="en-US" altLang="zh-CN" sz="2500" b="1" baseline="-25000" dirty="0"/>
              <a:t>3</a:t>
            </a:r>
            <a:r>
              <a:rPr lang="en-US" altLang="zh-CN" sz="2500" b="1" dirty="0"/>
              <a:t>)]</a:t>
            </a:r>
            <a:r>
              <a:rPr lang="en-US" altLang="zh-CN" sz="2500" b="1" baseline="30000" dirty="0"/>
              <a:t>-</a:t>
            </a:r>
            <a:endParaRPr lang="en-US" altLang="zh-CN" sz="2500" b="1" dirty="0"/>
          </a:p>
          <a:p>
            <a:pPr>
              <a:lnSpc>
                <a:spcPct val="125000"/>
              </a:lnSpc>
            </a:pPr>
            <a:r>
              <a:rPr lang="en-US" altLang="zh-CN" sz="2500" b="1" dirty="0"/>
              <a:t>c.[CoCl</a:t>
            </a:r>
            <a:r>
              <a:rPr lang="en-US" altLang="zh-CN" sz="2500" b="1" baseline="-25000" dirty="0"/>
              <a:t>2</a:t>
            </a:r>
            <a:r>
              <a:rPr lang="en-US" altLang="zh-CN" sz="2500" b="1" dirty="0"/>
              <a:t>(en)</a:t>
            </a:r>
            <a:r>
              <a:rPr lang="en-US" altLang="zh-CN" sz="2500" b="1" baseline="-25000" dirty="0"/>
              <a:t>2</a:t>
            </a:r>
            <a:r>
              <a:rPr lang="en-US" altLang="zh-CN" sz="2500" b="1" dirty="0"/>
              <a:t>]</a:t>
            </a:r>
            <a:r>
              <a:rPr lang="en-US" altLang="zh-CN" sz="2500" b="1" baseline="30000" dirty="0"/>
              <a:t>+</a:t>
            </a:r>
            <a:endParaRPr lang="en-US" altLang="zh-CN" sz="2500" b="1" dirty="0"/>
          </a:p>
          <a:p>
            <a:pPr>
              <a:lnSpc>
                <a:spcPct val="125000"/>
              </a:lnSpc>
            </a:pPr>
            <a:r>
              <a:rPr lang="en-US" altLang="zh-CN" sz="2500" b="1" dirty="0"/>
              <a:t>d.[Al(C</a:t>
            </a:r>
            <a:r>
              <a:rPr lang="en-US" altLang="zh-CN" sz="2500" b="1" baseline="-25000" dirty="0"/>
              <a:t>2</a:t>
            </a:r>
            <a:r>
              <a:rPr lang="en-US" altLang="zh-CN" sz="2500" b="1" dirty="0"/>
              <a:t>O</a:t>
            </a:r>
            <a:r>
              <a:rPr lang="en-US" altLang="zh-CN" sz="2500" b="1" baseline="-25000" dirty="0"/>
              <a:t>4</a:t>
            </a:r>
            <a:r>
              <a:rPr lang="en-US" altLang="zh-CN" sz="2500" b="1" dirty="0"/>
              <a:t>)</a:t>
            </a:r>
            <a:r>
              <a:rPr lang="en-US" altLang="zh-CN" sz="2500" b="1" baseline="-25000" dirty="0"/>
              <a:t>3</a:t>
            </a:r>
            <a:r>
              <a:rPr lang="en-US" altLang="zh-CN" sz="2500" b="1" dirty="0"/>
              <a:t>]</a:t>
            </a:r>
            <a:r>
              <a:rPr lang="en-US" altLang="zh-CN" sz="2500" b="1" baseline="30000" dirty="0"/>
              <a:t>3-</a:t>
            </a:r>
            <a:r>
              <a:rPr lang="en-US" altLang="zh-CN" sz="2500" b="1" dirty="0"/>
              <a:t> </a:t>
            </a:r>
          </a:p>
          <a:p>
            <a:pPr>
              <a:lnSpc>
                <a:spcPct val="125000"/>
              </a:lnSpc>
            </a:pPr>
            <a:r>
              <a:rPr lang="en-US" altLang="zh-CN" sz="2500" b="1" dirty="0"/>
              <a:t>e.[Ca(EDTA)]</a:t>
            </a:r>
            <a:r>
              <a:rPr lang="en-US" altLang="zh-CN" sz="2500" b="1" baseline="30000" dirty="0"/>
              <a:t>2-</a:t>
            </a:r>
          </a:p>
        </p:txBody>
      </p:sp>
      <p:sp>
        <p:nvSpPr>
          <p:cNvPr id="14340" name="矩形 36"/>
          <p:cNvSpPr>
            <a:spLocks noChangeArrowheads="1"/>
          </p:cNvSpPr>
          <p:nvPr/>
        </p:nvSpPr>
        <p:spPr bwMode="auto">
          <a:xfrm>
            <a:off x="688975" y="954088"/>
            <a:ext cx="4712022" cy="477054"/>
          </a:xfrm>
          <a:prstGeom prst="rect">
            <a:avLst/>
          </a:prstGeom>
          <a:noFill/>
          <a:ln w="9525">
            <a:noFill/>
            <a:miter lim="800000"/>
            <a:headEnd/>
            <a:tailEnd/>
          </a:ln>
        </p:spPr>
        <p:txBody>
          <a:bodyPr wrap="square">
            <a:spAutoFit/>
          </a:bodyPr>
          <a:lstStyle/>
          <a:p>
            <a:r>
              <a:rPr lang="zh-CN" altLang="en-US" sz="2500" b="1" dirty="0">
                <a:solidFill>
                  <a:srgbClr val="FF0000"/>
                </a:solidFill>
                <a:ea typeface="楷体_GB2312" pitchFamily="49" charset="-122"/>
              </a:rPr>
              <a:t>②配位比 （配体下标数总和）</a:t>
            </a:r>
            <a:endParaRPr lang="zh-CN" altLang="en-US" sz="2500" dirty="0">
              <a:ea typeface="楷体_GB2312" pitchFamily="49" charset="-122"/>
            </a:endParaRPr>
          </a:p>
        </p:txBody>
      </p:sp>
      <p:sp>
        <p:nvSpPr>
          <p:cNvPr id="14341"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2"/>
            <a:srcRect/>
            <a:stretch>
              <a:fillRect/>
            </a:stretch>
          </a:blipFill>
          <a:ln w="9525">
            <a:solidFill>
              <a:srgbClr val="808080"/>
            </a:solidFill>
            <a:round/>
            <a:headEnd/>
            <a:tailEnd/>
          </a:ln>
        </p:spPr>
        <p:txBody>
          <a:bodyPr wrap="none" anchor="ctr"/>
          <a:lstStyle/>
          <a:p>
            <a:endParaRPr lang="zh-CN" altLang="en-US"/>
          </a:p>
        </p:txBody>
      </p:sp>
      <p:sp>
        <p:nvSpPr>
          <p:cNvPr id="14342" name="Oval 26" descr="图片8">
            <a:hlinkClick r:id="rId3" action="ppaction://hlinksldjump"/>
          </p:cNvPr>
          <p:cNvSpPr>
            <a:spLocks noChangeAspect="1" noChangeArrowheads="1"/>
          </p:cNvSpPr>
          <p:nvPr/>
        </p:nvSpPr>
        <p:spPr bwMode="gray">
          <a:xfrm>
            <a:off x="0" y="5526088"/>
            <a:ext cx="360363" cy="360362"/>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7" name="矩形 36"/>
          <p:cNvSpPr>
            <a:spLocks noChangeArrowheads="1"/>
          </p:cNvSpPr>
          <p:nvPr/>
        </p:nvSpPr>
        <p:spPr bwMode="auto">
          <a:xfrm>
            <a:off x="576263" y="1583259"/>
            <a:ext cx="9505254" cy="1246495"/>
          </a:xfrm>
          <a:prstGeom prst="rect">
            <a:avLst/>
          </a:prstGeom>
          <a:noFill/>
          <a:ln w="9525">
            <a:noFill/>
            <a:miter lim="800000"/>
            <a:headEnd/>
            <a:tailEnd/>
          </a:ln>
        </p:spPr>
        <p:txBody>
          <a:bodyPr wrap="square">
            <a:spAutoFit/>
          </a:bodyPr>
          <a:lstStyle/>
          <a:p>
            <a:r>
              <a:rPr lang="zh-CN" altLang="en-US" sz="2500" b="1" dirty="0">
                <a:ea typeface="楷体_GB2312" pitchFamily="49" charset="-122"/>
              </a:rPr>
              <a:t>      形成体与配体结合的个数比</a:t>
            </a:r>
            <a:r>
              <a:rPr lang="en-US" altLang="zh-CN" sz="2500" b="1" dirty="0">
                <a:ea typeface="楷体_GB2312" pitchFamily="49" charset="-122"/>
              </a:rPr>
              <a:t>. </a:t>
            </a:r>
          </a:p>
          <a:p>
            <a:r>
              <a:rPr lang="zh-CN" altLang="en-US" sz="2500" b="1" dirty="0">
                <a:ea typeface="楷体_GB2312" pitchFamily="49" charset="-122"/>
              </a:rPr>
              <a:t>例如</a:t>
            </a:r>
            <a:r>
              <a:rPr lang="en-US" altLang="zh-CN" sz="2500" b="1" dirty="0">
                <a:ea typeface="楷体_GB2312" pitchFamily="49" charset="-122"/>
              </a:rPr>
              <a:t>: [Fe(CO)</a:t>
            </a:r>
            <a:r>
              <a:rPr lang="en-US" altLang="zh-CN" sz="2500" b="1" baseline="-25000" dirty="0">
                <a:ea typeface="楷体_GB2312" pitchFamily="49" charset="-122"/>
              </a:rPr>
              <a:t>5</a:t>
            </a:r>
            <a:r>
              <a:rPr lang="zh-CN" altLang="en-US" sz="2500" b="1" dirty="0">
                <a:ea typeface="楷体_GB2312" pitchFamily="49" charset="-122"/>
              </a:rPr>
              <a:t>中有</a:t>
            </a:r>
            <a:r>
              <a:rPr lang="en-US" altLang="zh-CN" sz="2500" b="1" dirty="0">
                <a:solidFill>
                  <a:srgbClr val="FF0000"/>
                </a:solidFill>
                <a:ea typeface="楷体_GB2312" pitchFamily="49" charset="-122"/>
              </a:rPr>
              <a:t>5</a:t>
            </a:r>
            <a:r>
              <a:rPr lang="zh-CN" altLang="en-US" sz="2500" b="1" dirty="0">
                <a:ea typeface="楷体_GB2312" pitchFamily="49" charset="-122"/>
              </a:rPr>
              <a:t>个配体</a:t>
            </a:r>
            <a:r>
              <a:rPr lang="en-US" altLang="zh-CN" sz="2500" b="1" dirty="0">
                <a:ea typeface="楷体_GB2312" pitchFamily="49" charset="-122"/>
              </a:rPr>
              <a:t>,</a:t>
            </a:r>
            <a:r>
              <a:rPr lang="zh-CN" altLang="en-US" sz="2500" b="1" dirty="0">
                <a:ea typeface="楷体_GB2312" pitchFamily="49" charset="-122"/>
              </a:rPr>
              <a:t>配位比为</a:t>
            </a:r>
            <a:r>
              <a:rPr lang="en-US" altLang="zh-CN" sz="2500" b="1" dirty="0">
                <a:solidFill>
                  <a:srgbClr val="FF0000"/>
                </a:solidFill>
                <a:ea typeface="楷体_GB2312" pitchFamily="49" charset="-122"/>
              </a:rPr>
              <a:t>1</a:t>
            </a:r>
            <a:r>
              <a:rPr lang="zh-CN" altLang="en-US" sz="2500" b="1" dirty="0">
                <a:solidFill>
                  <a:srgbClr val="FF0000"/>
                </a:solidFill>
                <a:ea typeface="楷体_GB2312" pitchFamily="49" charset="-122"/>
              </a:rPr>
              <a:t>∶</a:t>
            </a:r>
            <a:r>
              <a:rPr lang="en-US" altLang="zh-CN" sz="2500" b="1" dirty="0">
                <a:solidFill>
                  <a:srgbClr val="FF0000"/>
                </a:solidFill>
                <a:ea typeface="楷体_GB2312" pitchFamily="49" charset="-122"/>
              </a:rPr>
              <a:t>5</a:t>
            </a:r>
            <a:r>
              <a:rPr lang="en-US" altLang="zh-CN" sz="2500" b="1" dirty="0">
                <a:ea typeface="楷体_GB2312" pitchFamily="49" charset="-122"/>
              </a:rPr>
              <a:t>,[Zn(en)</a:t>
            </a:r>
            <a:r>
              <a:rPr lang="en-US" altLang="zh-CN" sz="2500" b="1" baseline="-25000" dirty="0">
                <a:ea typeface="楷体_GB2312" pitchFamily="49" charset="-122"/>
              </a:rPr>
              <a:t>2</a:t>
            </a:r>
            <a:r>
              <a:rPr lang="en-US" altLang="zh-CN" sz="2500" b="1" dirty="0">
                <a:ea typeface="楷体_GB2312" pitchFamily="49" charset="-122"/>
              </a:rPr>
              <a:t>]</a:t>
            </a:r>
            <a:r>
              <a:rPr lang="en-US" altLang="zh-CN" sz="2500" b="1" baseline="30000" dirty="0">
                <a:ea typeface="楷体_GB2312" pitchFamily="49" charset="-122"/>
              </a:rPr>
              <a:t>2+</a:t>
            </a:r>
            <a:r>
              <a:rPr lang="zh-CN" altLang="en-US" sz="2500" b="1" dirty="0">
                <a:ea typeface="楷体_GB2312" pitchFamily="49" charset="-122"/>
              </a:rPr>
              <a:t>中有</a:t>
            </a:r>
            <a:r>
              <a:rPr lang="zh-CN" altLang="en-US" sz="2500" b="1" dirty="0">
                <a:solidFill>
                  <a:srgbClr val="FF0000"/>
                </a:solidFill>
                <a:ea typeface="楷体_GB2312" pitchFamily="49" charset="-122"/>
              </a:rPr>
              <a:t>两</a:t>
            </a:r>
            <a:r>
              <a:rPr lang="zh-CN" altLang="en-US" sz="2500" b="1" dirty="0">
                <a:ea typeface="楷体_GB2312" pitchFamily="49" charset="-122"/>
              </a:rPr>
              <a:t>个配体，配位比为</a:t>
            </a:r>
            <a:r>
              <a:rPr lang="en-US" altLang="zh-CN" sz="2500" b="1" dirty="0">
                <a:solidFill>
                  <a:srgbClr val="FF0000"/>
                </a:solidFill>
                <a:ea typeface="楷体_GB2312" pitchFamily="49" charset="-122"/>
              </a:rPr>
              <a:t>1</a:t>
            </a:r>
            <a:r>
              <a:rPr lang="zh-CN" altLang="en-US" sz="2500" b="1" dirty="0">
                <a:solidFill>
                  <a:srgbClr val="FF0000"/>
                </a:solidFill>
                <a:ea typeface="楷体_GB2312" pitchFamily="49" charset="-122"/>
              </a:rPr>
              <a:t>∶</a:t>
            </a:r>
            <a:r>
              <a:rPr lang="en-US" altLang="zh-CN" sz="2500" b="1" dirty="0">
                <a:solidFill>
                  <a:srgbClr val="FF0000"/>
                </a:solidFill>
                <a:ea typeface="楷体_GB2312" pitchFamily="49" charset="-122"/>
              </a:rPr>
              <a:t>2</a:t>
            </a:r>
            <a:r>
              <a:rPr lang="en-US" altLang="zh-CN" sz="2500" b="1" dirty="0">
                <a:ea typeface="楷体_GB2312" pitchFamily="49" charset="-122"/>
              </a:rPr>
              <a:t>.</a:t>
            </a:r>
            <a:endParaRPr lang="zh-CN" altLang="en-US" sz="2500" dirty="0">
              <a:ea typeface="楷体_GB2312" pitchFamily="49"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linds(horizontal)">
                                      <p:cBhvr>
                                        <p:cTn id="7" dur="500"/>
                                        <p:tgtEl>
                                          <p:spTgt spid="143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blinds(horizontal)">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blinds(horizontal)">
                                      <p:cBhvr>
                                        <p:cTn id="17" dur="500"/>
                                        <p:tgtEl>
                                          <p:spTgt spid="7">
                                            <p:txEl>
                                              <p:pRg st="1" end="1"/>
                                            </p:txEl>
                                          </p:spTgt>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21" dur="500"/>
                                        <p:tgtEl>
                                          <p:spTgt spid="14339">
                                            <p:txEl>
                                              <p:pRg st="0" end="0"/>
                                            </p:txEl>
                                          </p:spTgt>
                                        </p:tgtEl>
                                      </p:cBhvr>
                                    </p:animEffect>
                                  </p:childTnLst>
                                </p:cTn>
                              </p:par>
                            </p:childTnLst>
                          </p:cTn>
                        </p:par>
                        <p:par>
                          <p:cTn id="22" fill="hold">
                            <p:stCondLst>
                              <p:cond delay="1000"/>
                            </p:stCondLst>
                            <p:childTnLst>
                              <p:par>
                                <p:cTn id="23" presetID="3" presetClass="entr" presetSubtype="10" fill="hold" grpId="0" nodeType="afterEffect">
                                  <p:stCondLst>
                                    <p:cond delay="0"/>
                                  </p:stCondLst>
                                  <p:childTnLst>
                                    <p:set>
                                      <p:cBhvr>
                                        <p:cTn id="24"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25" dur="500"/>
                                        <p:tgtEl>
                                          <p:spTgt spid="14339">
                                            <p:txEl>
                                              <p:pRg st="1" end="1"/>
                                            </p:txEl>
                                          </p:spTgt>
                                        </p:tgtEl>
                                      </p:cBhvr>
                                    </p:animEffect>
                                  </p:childTnLst>
                                </p:cTn>
                              </p:par>
                            </p:childTnLst>
                          </p:cTn>
                        </p:par>
                        <p:par>
                          <p:cTn id="26" fill="hold">
                            <p:stCondLst>
                              <p:cond delay="1500"/>
                            </p:stCondLst>
                            <p:childTnLst>
                              <p:par>
                                <p:cTn id="27" presetID="3" presetClass="entr" presetSubtype="10" fill="hold" grpId="0" nodeType="afterEffect">
                                  <p:stCondLst>
                                    <p:cond delay="0"/>
                                  </p:stCondLst>
                                  <p:childTnLst>
                                    <p:set>
                                      <p:cBhvr>
                                        <p:cTn id="28"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29" dur="500"/>
                                        <p:tgtEl>
                                          <p:spTgt spid="14339">
                                            <p:txEl>
                                              <p:pRg st="2" end="2"/>
                                            </p:txEl>
                                          </p:spTgt>
                                        </p:tgtEl>
                                      </p:cBhvr>
                                    </p:animEffect>
                                  </p:childTnLst>
                                </p:cTn>
                              </p:par>
                            </p:childTnLst>
                          </p:cTn>
                        </p:par>
                        <p:par>
                          <p:cTn id="30" fill="hold">
                            <p:stCondLst>
                              <p:cond delay="2000"/>
                            </p:stCondLst>
                            <p:childTnLst>
                              <p:par>
                                <p:cTn id="31" presetID="3" presetClass="entr" presetSubtype="10" fill="hold" grpId="0" nodeType="afterEffect">
                                  <p:stCondLst>
                                    <p:cond delay="0"/>
                                  </p:stCondLst>
                                  <p:childTnLst>
                                    <p:set>
                                      <p:cBhvr>
                                        <p:cTn id="32"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33" dur="500"/>
                                        <p:tgtEl>
                                          <p:spTgt spid="14339">
                                            <p:txEl>
                                              <p:pRg st="3" end="3"/>
                                            </p:txEl>
                                          </p:spTgt>
                                        </p:tgtEl>
                                      </p:cBhvr>
                                    </p:animEffect>
                                  </p:childTnLst>
                                </p:cTn>
                              </p:par>
                            </p:childTnLst>
                          </p:cTn>
                        </p:par>
                        <p:par>
                          <p:cTn id="34" fill="hold">
                            <p:stCondLst>
                              <p:cond delay="2500"/>
                            </p:stCondLst>
                            <p:childTnLst>
                              <p:par>
                                <p:cTn id="35" presetID="3" presetClass="entr" presetSubtype="10" fill="hold" grpId="0" nodeType="afterEffect">
                                  <p:stCondLst>
                                    <p:cond delay="0"/>
                                  </p:stCondLst>
                                  <p:childTnLst>
                                    <p:set>
                                      <p:cBhvr>
                                        <p:cTn id="36"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37" dur="500"/>
                                        <p:tgtEl>
                                          <p:spTgt spid="14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14340" grpId="0"/>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3" name="Rectangle 11"/>
          <p:cNvSpPr>
            <a:spLocks noChangeArrowheads="1"/>
          </p:cNvSpPr>
          <p:nvPr/>
        </p:nvSpPr>
        <p:spPr bwMode="auto">
          <a:xfrm>
            <a:off x="906463" y="1460500"/>
            <a:ext cx="4800600" cy="3362325"/>
          </a:xfrm>
          <a:prstGeom prst="rect">
            <a:avLst/>
          </a:prstGeom>
          <a:noFill/>
          <a:ln w="9525">
            <a:noFill/>
            <a:miter lim="800000"/>
            <a:headEnd/>
            <a:tailEnd/>
          </a:ln>
        </p:spPr>
        <p:txBody>
          <a:bodyPr>
            <a:spAutoFit/>
          </a:bodyPr>
          <a:lstStyle/>
          <a:p>
            <a:pPr>
              <a:lnSpc>
                <a:spcPct val="85000"/>
              </a:lnSpc>
            </a:pPr>
            <a:r>
              <a:rPr lang="en-US" altLang="zh-CN" sz="2500" b="1">
                <a:ea typeface="楷体_GB2312" pitchFamily="49" charset="-122"/>
              </a:rPr>
              <a:t>[Ag(S</a:t>
            </a:r>
            <a:r>
              <a:rPr lang="en-US" altLang="zh-CN" sz="2500" b="1" baseline="-25000">
                <a:ea typeface="楷体_GB2312" pitchFamily="49" charset="-122"/>
              </a:rPr>
              <a:t>2</a:t>
            </a:r>
            <a:r>
              <a:rPr lang="en-US" altLang="zh-CN" sz="2500" b="1">
                <a:ea typeface="楷体_GB2312" pitchFamily="49" charset="-122"/>
              </a:rPr>
              <a:t>O</a:t>
            </a:r>
            <a:r>
              <a:rPr lang="en-US" altLang="zh-CN" sz="2500" b="1" baseline="-25000">
                <a:ea typeface="楷体_GB2312" pitchFamily="49" charset="-122"/>
              </a:rPr>
              <a:t>3</a:t>
            </a:r>
            <a:r>
              <a:rPr lang="en-US" altLang="zh-CN" sz="2500" b="1">
                <a:ea typeface="楷体_GB2312" pitchFamily="49" charset="-122"/>
              </a:rPr>
              <a:t>)</a:t>
            </a:r>
            <a:r>
              <a:rPr lang="en-US" altLang="zh-CN" sz="2500" b="1" baseline="-25000">
                <a:ea typeface="楷体_GB2312" pitchFamily="49" charset="-122"/>
              </a:rPr>
              <a:t>2</a:t>
            </a:r>
            <a:r>
              <a:rPr lang="en-US" altLang="zh-CN" sz="2500" b="1">
                <a:ea typeface="楷体_GB2312" pitchFamily="49" charset="-122"/>
              </a:rPr>
              <a:t>]</a:t>
            </a:r>
            <a:r>
              <a:rPr lang="en-US" altLang="zh-CN" sz="2500" b="1" i="1" baseline="30000">
                <a:ea typeface="楷体_GB2312" pitchFamily="49" charset="-122"/>
              </a:rPr>
              <a:t>x</a:t>
            </a:r>
            <a:endParaRPr lang="en-US" altLang="zh-CN" sz="2500" b="1" baseline="30000">
              <a:ea typeface="楷体_GB2312" pitchFamily="49" charset="-122"/>
            </a:endParaRPr>
          </a:p>
          <a:p>
            <a:pPr>
              <a:lnSpc>
                <a:spcPct val="85000"/>
              </a:lnSpc>
            </a:pPr>
            <a:r>
              <a:rPr lang="en-US" altLang="zh-CN" sz="2500" b="1">
                <a:ea typeface="楷体_GB2312" pitchFamily="49" charset="-122"/>
              </a:rPr>
              <a:t>  </a:t>
            </a:r>
            <a:r>
              <a:rPr lang="en-US" altLang="zh-CN" sz="2500" b="1" baseline="-25000">
                <a:ea typeface="楷体_GB2312" pitchFamily="49" charset="-122"/>
              </a:rPr>
              <a:t>(</a:t>
            </a:r>
            <a:r>
              <a:rPr lang="en-US" altLang="zh-CN" sz="2500" b="1" i="1" baseline="-25000">
                <a:ea typeface="楷体_GB2312" pitchFamily="49" charset="-122"/>
              </a:rPr>
              <a:t>x</a:t>
            </a:r>
            <a:r>
              <a:rPr lang="en-US" altLang="zh-CN" sz="2500" b="1" baseline="-25000">
                <a:ea typeface="楷体_GB2312" pitchFamily="49" charset="-122"/>
              </a:rPr>
              <a:t>)</a:t>
            </a:r>
            <a:endParaRPr lang="en-US" altLang="zh-CN" sz="2500" b="1">
              <a:ea typeface="楷体_GB2312" pitchFamily="49" charset="-122"/>
            </a:endParaRPr>
          </a:p>
          <a:p>
            <a:pPr>
              <a:lnSpc>
                <a:spcPct val="85000"/>
              </a:lnSpc>
            </a:pPr>
            <a:r>
              <a:rPr lang="en-US" altLang="zh-CN" sz="2500" b="1">
                <a:ea typeface="楷体_GB2312" pitchFamily="49" charset="-122"/>
              </a:rPr>
              <a:t>[PtCl</a:t>
            </a:r>
            <a:r>
              <a:rPr lang="en-US" altLang="zh-CN" sz="2500" b="1" baseline="-25000">
                <a:ea typeface="楷体_GB2312" pitchFamily="49" charset="-122"/>
              </a:rPr>
              <a:t>3</a:t>
            </a:r>
            <a:r>
              <a:rPr lang="en-US" altLang="zh-CN" sz="2500" b="1">
                <a:ea typeface="楷体_GB2312" pitchFamily="49" charset="-122"/>
              </a:rPr>
              <a:t>(NH</a:t>
            </a:r>
            <a:r>
              <a:rPr lang="en-US" altLang="zh-CN" sz="2500" b="1" baseline="-25000">
                <a:ea typeface="楷体_GB2312" pitchFamily="49" charset="-122"/>
              </a:rPr>
              <a:t>3</a:t>
            </a:r>
            <a:r>
              <a:rPr lang="en-US" altLang="zh-CN" sz="2500" b="1">
                <a:ea typeface="楷体_GB2312" pitchFamily="49" charset="-122"/>
              </a:rPr>
              <a:t>)]</a:t>
            </a:r>
            <a:r>
              <a:rPr lang="en-US" altLang="zh-CN" sz="2500" b="1" baseline="30000">
                <a:ea typeface="楷体_GB2312" pitchFamily="49" charset="-122"/>
              </a:rPr>
              <a:t>-</a:t>
            </a:r>
            <a:endParaRPr lang="en-US" altLang="zh-CN" sz="2500" b="1">
              <a:ea typeface="楷体_GB2312" pitchFamily="49" charset="-122"/>
            </a:endParaRPr>
          </a:p>
          <a:p>
            <a:pPr>
              <a:lnSpc>
                <a:spcPct val="85000"/>
              </a:lnSpc>
            </a:pPr>
            <a:r>
              <a:rPr lang="en-US" altLang="zh-CN" sz="2500" b="1" baseline="-25000">
                <a:ea typeface="楷体_GB2312" pitchFamily="49" charset="-122"/>
              </a:rPr>
              <a:t>  (+3)</a:t>
            </a:r>
          </a:p>
          <a:p>
            <a:pPr>
              <a:lnSpc>
                <a:spcPct val="85000"/>
              </a:lnSpc>
            </a:pPr>
            <a:r>
              <a:rPr lang="en-US" altLang="zh-CN" sz="2500" b="1">
                <a:ea typeface="楷体_GB2312" pitchFamily="49" charset="-122"/>
              </a:rPr>
              <a:t>[Fe(CN)</a:t>
            </a:r>
            <a:r>
              <a:rPr lang="en-US" altLang="zh-CN" sz="2500" b="1" baseline="-25000">
                <a:ea typeface="楷体_GB2312" pitchFamily="49" charset="-122"/>
              </a:rPr>
              <a:t>6</a:t>
            </a:r>
            <a:r>
              <a:rPr lang="en-US" altLang="zh-CN" sz="2500" b="1">
                <a:ea typeface="楷体_GB2312" pitchFamily="49" charset="-122"/>
              </a:rPr>
              <a:t>]</a:t>
            </a:r>
            <a:r>
              <a:rPr lang="en-US" altLang="zh-CN" sz="2500" b="1" i="1" baseline="30000">
                <a:ea typeface="楷体_GB2312" pitchFamily="49" charset="-122"/>
              </a:rPr>
              <a:t>x</a:t>
            </a:r>
            <a:r>
              <a:rPr lang="en-US" altLang="zh-CN" sz="2500" b="1">
                <a:ea typeface="楷体_GB2312" pitchFamily="49" charset="-122"/>
              </a:rPr>
              <a:t>(</a:t>
            </a:r>
            <a:r>
              <a:rPr lang="zh-CN" altLang="en-US" sz="2500" b="1">
                <a:ea typeface="楷体_GB2312" pitchFamily="49" charset="-122"/>
              </a:rPr>
              <a:t>赤血盐</a:t>
            </a:r>
            <a:r>
              <a:rPr lang="en-US" altLang="zh-CN" sz="2500" b="1">
                <a:ea typeface="楷体_GB2312" pitchFamily="49" charset="-122"/>
              </a:rPr>
              <a:t>)</a:t>
            </a:r>
          </a:p>
          <a:p>
            <a:pPr>
              <a:lnSpc>
                <a:spcPct val="85000"/>
              </a:lnSpc>
            </a:pPr>
            <a:r>
              <a:rPr lang="en-US" altLang="zh-CN" sz="2500" b="1" baseline="-25000">
                <a:ea typeface="楷体_GB2312" pitchFamily="49" charset="-122"/>
              </a:rPr>
              <a:t>  (+2)</a:t>
            </a:r>
          </a:p>
          <a:p>
            <a:pPr>
              <a:lnSpc>
                <a:spcPct val="85000"/>
              </a:lnSpc>
            </a:pPr>
            <a:r>
              <a:rPr lang="en-US" altLang="zh-CN" sz="2500" b="1">
                <a:ea typeface="楷体_GB2312" pitchFamily="49" charset="-122"/>
              </a:rPr>
              <a:t>[Fe(CN)</a:t>
            </a:r>
            <a:r>
              <a:rPr lang="en-US" altLang="zh-CN" sz="2500" b="1" baseline="-25000">
                <a:ea typeface="楷体_GB2312" pitchFamily="49" charset="-122"/>
              </a:rPr>
              <a:t>6</a:t>
            </a:r>
            <a:r>
              <a:rPr lang="en-US" altLang="zh-CN" sz="2500" b="1">
                <a:ea typeface="楷体_GB2312" pitchFamily="49" charset="-122"/>
              </a:rPr>
              <a:t>]</a:t>
            </a:r>
            <a:r>
              <a:rPr lang="en-US" altLang="zh-CN" sz="2500" b="1" i="1" baseline="30000">
                <a:ea typeface="楷体_GB2312" pitchFamily="49" charset="-122"/>
              </a:rPr>
              <a:t>x</a:t>
            </a:r>
            <a:r>
              <a:rPr lang="en-US" altLang="zh-CN" sz="2500" b="1">
                <a:ea typeface="楷体_GB2312" pitchFamily="49" charset="-122"/>
              </a:rPr>
              <a:t>(</a:t>
            </a:r>
            <a:r>
              <a:rPr lang="zh-CN" altLang="en-US" sz="2500" b="1">
                <a:ea typeface="楷体_GB2312" pitchFamily="49" charset="-122"/>
              </a:rPr>
              <a:t>黄血盐</a:t>
            </a:r>
            <a:r>
              <a:rPr lang="en-US" altLang="zh-CN" sz="2500" b="1">
                <a:ea typeface="楷体_GB2312" pitchFamily="49" charset="-122"/>
              </a:rPr>
              <a:t>) </a:t>
            </a:r>
          </a:p>
          <a:p>
            <a:pPr>
              <a:lnSpc>
                <a:spcPct val="85000"/>
              </a:lnSpc>
            </a:pPr>
            <a:r>
              <a:rPr lang="en-US" altLang="zh-CN" sz="2500" b="1" baseline="-25000">
                <a:ea typeface="楷体_GB2312" pitchFamily="49" charset="-122"/>
              </a:rPr>
              <a:t>   (</a:t>
            </a:r>
            <a:r>
              <a:rPr lang="en-US" altLang="zh-CN" sz="2500" b="1" i="1" baseline="-25000">
                <a:ea typeface="楷体_GB2312" pitchFamily="49" charset="-122"/>
              </a:rPr>
              <a:t>x</a:t>
            </a:r>
            <a:r>
              <a:rPr lang="en-US" altLang="zh-CN" sz="2500" b="1" baseline="-25000">
                <a:ea typeface="楷体_GB2312" pitchFamily="49" charset="-122"/>
              </a:rPr>
              <a:t>)</a:t>
            </a:r>
            <a:r>
              <a:rPr lang="en-US" altLang="zh-CN" sz="2500" b="1">
                <a:ea typeface="楷体_GB2312" pitchFamily="49" charset="-122"/>
              </a:rPr>
              <a:t> </a:t>
            </a:r>
          </a:p>
          <a:p>
            <a:pPr>
              <a:lnSpc>
                <a:spcPct val="85000"/>
              </a:lnSpc>
            </a:pPr>
            <a:r>
              <a:rPr lang="en-US" altLang="zh-CN" sz="2500" b="1">
                <a:ea typeface="楷体_GB2312" pitchFamily="49" charset="-122"/>
              </a:rPr>
              <a:t>[CoCl</a:t>
            </a:r>
            <a:r>
              <a:rPr lang="en-US" altLang="zh-CN" sz="2500" b="1" baseline="-25000">
                <a:ea typeface="楷体_GB2312" pitchFamily="49" charset="-122"/>
              </a:rPr>
              <a:t>3</a:t>
            </a:r>
            <a:r>
              <a:rPr lang="en-US" altLang="zh-CN" sz="2500" b="1">
                <a:ea typeface="楷体_GB2312" pitchFamily="49" charset="-122"/>
              </a:rPr>
              <a:t>(NH</a:t>
            </a:r>
            <a:r>
              <a:rPr lang="en-US" altLang="zh-CN" sz="2500" b="1" baseline="-25000">
                <a:ea typeface="楷体_GB2312" pitchFamily="49" charset="-122"/>
              </a:rPr>
              <a:t>3</a:t>
            </a:r>
            <a:r>
              <a:rPr lang="en-US" altLang="zh-CN" sz="2500" b="1">
                <a:ea typeface="楷体_GB2312" pitchFamily="49" charset="-122"/>
              </a:rPr>
              <a:t>)</a:t>
            </a:r>
            <a:r>
              <a:rPr lang="en-US" altLang="zh-CN" sz="2500" b="1" baseline="-25000">
                <a:ea typeface="楷体_GB2312" pitchFamily="49" charset="-122"/>
              </a:rPr>
              <a:t>3</a:t>
            </a:r>
            <a:r>
              <a:rPr lang="en-US" altLang="zh-CN" sz="2500" b="1">
                <a:ea typeface="楷体_GB2312" pitchFamily="49" charset="-122"/>
              </a:rPr>
              <a:t>]</a:t>
            </a:r>
          </a:p>
          <a:p>
            <a:pPr>
              <a:lnSpc>
                <a:spcPct val="85000"/>
              </a:lnSpc>
            </a:pPr>
            <a:r>
              <a:rPr lang="en-US" altLang="zh-CN" sz="2500" b="1" baseline="-25000">
                <a:ea typeface="楷体_GB2312" pitchFamily="49" charset="-122"/>
              </a:rPr>
              <a:t>   (</a:t>
            </a:r>
            <a:r>
              <a:rPr lang="en-US" altLang="zh-CN" sz="2500" b="1" i="1" baseline="-25000">
                <a:ea typeface="楷体_GB2312" pitchFamily="49" charset="-122"/>
              </a:rPr>
              <a:t>x</a:t>
            </a:r>
            <a:r>
              <a:rPr lang="en-US" altLang="zh-CN" sz="2500" b="1" baseline="-25000">
                <a:ea typeface="楷体_GB2312" pitchFamily="49" charset="-122"/>
              </a:rPr>
              <a:t>)</a:t>
            </a:r>
          </a:p>
          <a:p>
            <a:pPr>
              <a:lnSpc>
                <a:spcPct val="85000"/>
              </a:lnSpc>
            </a:pPr>
            <a:r>
              <a:rPr lang="en-US" altLang="zh-CN" sz="2500" b="1">
                <a:ea typeface="楷体_GB2312" pitchFamily="49" charset="-122"/>
              </a:rPr>
              <a:t>[Fe(CO)</a:t>
            </a:r>
            <a:r>
              <a:rPr lang="en-US" altLang="zh-CN" sz="2500" b="1" baseline="-25000">
                <a:ea typeface="楷体_GB2312" pitchFamily="49" charset="-122"/>
              </a:rPr>
              <a:t>5</a:t>
            </a:r>
            <a:r>
              <a:rPr lang="en-US" altLang="zh-CN" sz="2500" b="1">
                <a:ea typeface="楷体_GB2312" pitchFamily="49" charset="-122"/>
              </a:rPr>
              <a:t>]</a:t>
            </a:r>
          </a:p>
        </p:txBody>
      </p:sp>
      <p:sp>
        <p:nvSpPr>
          <p:cNvPr id="28684" name="Text Box 12"/>
          <p:cNvSpPr txBox="1">
            <a:spLocks noChangeArrowheads="1"/>
          </p:cNvSpPr>
          <p:nvPr/>
        </p:nvSpPr>
        <p:spPr bwMode="auto">
          <a:xfrm>
            <a:off x="5576888" y="1358900"/>
            <a:ext cx="5505450" cy="2908300"/>
          </a:xfrm>
          <a:prstGeom prst="rect">
            <a:avLst/>
          </a:prstGeom>
          <a:noFill/>
          <a:ln w="9525">
            <a:noFill/>
            <a:miter lim="800000"/>
            <a:headEnd/>
            <a:tailEnd/>
          </a:ln>
        </p:spPr>
        <p:txBody>
          <a:bodyPr>
            <a:spAutoFit/>
          </a:bodyPr>
          <a:lstStyle/>
          <a:p>
            <a:pPr>
              <a:lnSpc>
                <a:spcPct val="150000"/>
              </a:lnSpc>
            </a:pPr>
            <a:r>
              <a:rPr lang="en-US" altLang="zh-CN" sz="2500" b="1" i="1">
                <a:ea typeface="楷体_GB2312" pitchFamily="49" charset="-122"/>
              </a:rPr>
              <a:t>x </a:t>
            </a:r>
            <a:r>
              <a:rPr lang="en-US" altLang="zh-CN" sz="2500" b="1">
                <a:ea typeface="楷体_GB2312" pitchFamily="49" charset="-122"/>
              </a:rPr>
              <a:t>= +1 + (</a:t>
            </a:r>
            <a:r>
              <a:rPr lang="en-US" altLang="zh-CN" sz="2500" b="1">
                <a:ea typeface="楷体_GB2312" pitchFamily="49" charset="-122"/>
                <a:sym typeface="Symbol" pitchFamily="18" charset="2"/>
              </a:rPr>
              <a:t>-</a:t>
            </a:r>
            <a:r>
              <a:rPr lang="en-US" altLang="zh-CN" sz="2500" b="1">
                <a:ea typeface="楷体_GB2312" pitchFamily="49" charset="-122"/>
              </a:rPr>
              <a:t>2</a:t>
            </a:r>
            <a:r>
              <a:rPr lang="en-US" altLang="zh-CN" sz="2500" b="1">
                <a:ea typeface="楷体_GB2312" pitchFamily="49" charset="-122"/>
                <a:sym typeface="Symbol" pitchFamily="18" charset="2"/>
              </a:rPr>
              <a:t></a:t>
            </a:r>
            <a:r>
              <a:rPr lang="en-US" altLang="zh-CN" sz="2500" b="1">
                <a:ea typeface="楷体_GB2312" pitchFamily="49" charset="-122"/>
              </a:rPr>
              <a:t>2) = -3</a:t>
            </a:r>
          </a:p>
          <a:p>
            <a:pPr>
              <a:lnSpc>
                <a:spcPct val="150000"/>
              </a:lnSpc>
            </a:pPr>
            <a:r>
              <a:rPr lang="en-US" altLang="zh-CN" sz="2500" b="1" i="1">
                <a:ea typeface="楷体_GB2312" pitchFamily="49" charset="-122"/>
              </a:rPr>
              <a:t>x </a:t>
            </a:r>
            <a:r>
              <a:rPr lang="en-US" altLang="zh-CN" sz="2500" b="1">
                <a:ea typeface="楷体_GB2312" pitchFamily="49" charset="-122"/>
                <a:sym typeface="Symbol" pitchFamily="18" charset="2"/>
              </a:rPr>
              <a:t>+ (-</a:t>
            </a:r>
            <a:r>
              <a:rPr lang="en-US" altLang="zh-CN" sz="2500" b="1">
                <a:ea typeface="楷体_GB2312" pitchFamily="49" charset="-122"/>
              </a:rPr>
              <a:t>1 </a:t>
            </a:r>
            <a:r>
              <a:rPr lang="en-US" altLang="zh-CN" sz="2500" b="1">
                <a:ea typeface="楷体_GB2312" pitchFamily="49" charset="-122"/>
                <a:sym typeface="Symbol" pitchFamily="18" charset="2"/>
              </a:rPr>
              <a:t></a:t>
            </a:r>
            <a:r>
              <a:rPr lang="en-US" altLang="zh-CN" sz="2500" b="1">
                <a:ea typeface="楷体_GB2312" pitchFamily="49" charset="-122"/>
              </a:rPr>
              <a:t> 3) = -1, </a:t>
            </a:r>
            <a:r>
              <a:rPr lang="en-US" altLang="zh-CN" sz="2500" b="1" i="1">
                <a:ea typeface="楷体_GB2312" pitchFamily="49" charset="-122"/>
              </a:rPr>
              <a:t>x </a:t>
            </a:r>
            <a:r>
              <a:rPr lang="en-US" altLang="zh-CN" sz="2500" b="1">
                <a:ea typeface="楷体_GB2312" pitchFamily="49" charset="-122"/>
              </a:rPr>
              <a:t>= +2</a:t>
            </a:r>
          </a:p>
          <a:p>
            <a:pPr>
              <a:lnSpc>
                <a:spcPct val="150000"/>
              </a:lnSpc>
            </a:pPr>
            <a:r>
              <a:rPr lang="en-US" altLang="zh-CN" sz="2500" b="1" i="1">
                <a:ea typeface="楷体_GB2312" pitchFamily="49" charset="-122"/>
              </a:rPr>
              <a:t>x </a:t>
            </a:r>
            <a:r>
              <a:rPr lang="en-US" altLang="zh-CN" sz="2500" b="1">
                <a:ea typeface="楷体_GB2312" pitchFamily="49" charset="-122"/>
              </a:rPr>
              <a:t>= +3 + (-1 </a:t>
            </a:r>
            <a:r>
              <a:rPr lang="en-US" altLang="zh-CN" sz="2500" b="1">
                <a:ea typeface="楷体_GB2312" pitchFamily="49" charset="-122"/>
                <a:sym typeface="Symbol" pitchFamily="18" charset="2"/>
              </a:rPr>
              <a:t></a:t>
            </a:r>
            <a:r>
              <a:rPr lang="en-US" altLang="zh-CN" sz="2500" b="1">
                <a:ea typeface="楷体_GB2312" pitchFamily="49" charset="-122"/>
              </a:rPr>
              <a:t> 6) = -3</a:t>
            </a:r>
          </a:p>
          <a:p>
            <a:pPr>
              <a:lnSpc>
                <a:spcPct val="150000"/>
              </a:lnSpc>
            </a:pPr>
            <a:r>
              <a:rPr lang="en-US" altLang="zh-CN" sz="2500" b="1" i="1">
                <a:ea typeface="楷体_GB2312" pitchFamily="49" charset="-122"/>
              </a:rPr>
              <a:t>x </a:t>
            </a:r>
            <a:r>
              <a:rPr lang="en-US" altLang="zh-CN" sz="2500" b="1">
                <a:ea typeface="楷体_GB2312" pitchFamily="49" charset="-122"/>
              </a:rPr>
              <a:t>= +2 + (-1 </a:t>
            </a:r>
            <a:r>
              <a:rPr lang="en-US" altLang="zh-CN" sz="2500" b="1">
                <a:ea typeface="楷体_GB2312" pitchFamily="49" charset="-122"/>
                <a:sym typeface="Symbol" pitchFamily="18" charset="2"/>
              </a:rPr>
              <a:t></a:t>
            </a:r>
            <a:r>
              <a:rPr lang="en-US" altLang="zh-CN" sz="2500" b="1">
                <a:ea typeface="楷体_GB2312" pitchFamily="49" charset="-122"/>
              </a:rPr>
              <a:t> 6) = -4</a:t>
            </a:r>
          </a:p>
          <a:p>
            <a:pPr>
              <a:lnSpc>
                <a:spcPct val="150000"/>
              </a:lnSpc>
            </a:pPr>
            <a:r>
              <a:rPr lang="en-US" altLang="zh-CN" sz="2500" b="1" i="1">
                <a:ea typeface="楷体_GB2312" pitchFamily="49" charset="-122"/>
              </a:rPr>
              <a:t>x </a:t>
            </a:r>
            <a:r>
              <a:rPr lang="en-US" altLang="zh-CN" sz="2500" b="1">
                <a:ea typeface="楷体_GB2312" pitchFamily="49" charset="-122"/>
              </a:rPr>
              <a:t>+ (-1 </a:t>
            </a:r>
            <a:r>
              <a:rPr lang="en-US" altLang="zh-CN" sz="2500" b="1">
                <a:ea typeface="楷体_GB2312" pitchFamily="49" charset="-122"/>
                <a:sym typeface="Symbol" pitchFamily="18" charset="2"/>
              </a:rPr>
              <a:t></a:t>
            </a:r>
            <a:r>
              <a:rPr lang="en-US" altLang="zh-CN" sz="2500" b="1">
                <a:ea typeface="楷体_GB2312" pitchFamily="49" charset="-122"/>
              </a:rPr>
              <a:t> 3) = 0,  </a:t>
            </a:r>
            <a:r>
              <a:rPr lang="en-US" altLang="zh-CN" sz="2500" b="1" i="1">
                <a:ea typeface="楷体_GB2312" pitchFamily="49" charset="-122"/>
              </a:rPr>
              <a:t>x </a:t>
            </a:r>
            <a:r>
              <a:rPr lang="en-US" altLang="zh-CN" sz="2500" b="1">
                <a:ea typeface="楷体_GB2312" pitchFamily="49" charset="-122"/>
              </a:rPr>
              <a:t>= +3</a:t>
            </a:r>
          </a:p>
        </p:txBody>
      </p:sp>
      <p:sp>
        <p:nvSpPr>
          <p:cNvPr id="28687" name="Rectangle 15"/>
          <p:cNvSpPr>
            <a:spLocks noChangeArrowheads="1"/>
          </p:cNvSpPr>
          <p:nvPr/>
        </p:nvSpPr>
        <p:spPr bwMode="auto">
          <a:xfrm>
            <a:off x="5618163" y="4383088"/>
            <a:ext cx="2390775" cy="585787"/>
          </a:xfrm>
          <a:prstGeom prst="rect">
            <a:avLst/>
          </a:prstGeom>
          <a:noFill/>
          <a:ln w="9525">
            <a:noFill/>
            <a:miter lim="800000"/>
            <a:headEnd/>
            <a:tailEnd/>
          </a:ln>
        </p:spPr>
        <p:txBody>
          <a:bodyPr wrap="none" anchor="ctr">
            <a:spAutoFit/>
          </a:bodyPr>
          <a:lstStyle/>
          <a:p>
            <a:pPr>
              <a:lnSpc>
                <a:spcPct val="145000"/>
              </a:lnSpc>
            </a:pPr>
            <a:r>
              <a:rPr lang="en-US" altLang="zh-CN" sz="2500" b="1" i="1" dirty="0">
                <a:ea typeface="楷体_GB2312" pitchFamily="49" charset="-122"/>
              </a:rPr>
              <a:t>x </a:t>
            </a:r>
            <a:r>
              <a:rPr lang="en-US" altLang="zh-CN" sz="2500" b="1" dirty="0">
                <a:ea typeface="楷体_GB2312" pitchFamily="49" charset="-122"/>
              </a:rPr>
              <a:t>+ (0) = 0, </a:t>
            </a:r>
            <a:r>
              <a:rPr lang="en-US" altLang="zh-CN" sz="2500" b="1" i="1" dirty="0">
                <a:ea typeface="楷体_GB2312" pitchFamily="49" charset="-122"/>
              </a:rPr>
              <a:t>x</a:t>
            </a:r>
            <a:r>
              <a:rPr lang="en-US" altLang="zh-CN" sz="2500" b="1" dirty="0">
                <a:ea typeface="楷体_GB2312" pitchFamily="49" charset="-122"/>
              </a:rPr>
              <a:t> = 0</a:t>
            </a:r>
          </a:p>
        </p:txBody>
      </p:sp>
      <p:sp>
        <p:nvSpPr>
          <p:cNvPr id="15365" name="Rectangle 34"/>
          <p:cNvSpPr>
            <a:spLocks noGrp="1" noChangeArrowheads="1"/>
          </p:cNvSpPr>
          <p:nvPr>
            <p:ph type="title"/>
          </p:nvPr>
        </p:nvSpPr>
        <p:spPr>
          <a:xfrm>
            <a:off x="576263" y="258763"/>
            <a:ext cx="10369550" cy="431800"/>
          </a:xfrm>
          <a:noFill/>
        </p:spPr>
        <p:txBody>
          <a:bodyPr/>
          <a:lstStyle/>
          <a:p>
            <a:r>
              <a:rPr lang="en-US" altLang="zh-CN">
                <a:ea typeface="黑体" pitchFamily="49" charset="-122"/>
              </a:rPr>
              <a:t>6.1.1</a:t>
            </a:r>
            <a:r>
              <a:rPr lang="zh-CN" altLang="en-US">
                <a:ea typeface="黑体" pitchFamily="49" charset="-122"/>
              </a:rPr>
              <a:t>配合物及其特点</a:t>
            </a:r>
            <a:endParaRPr lang="zh-CN" altLang="en-US" sz="1200" b="0">
              <a:solidFill>
                <a:srgbClr val="0000FF"/>
              </a:solidFill>
              <a:ea typeface="黑体" pitchFamily="49" charset="-122"/>
            </a:endParaRPr>
          </a:p>
        </p:txBody>
      </p:sp>
      <p:sp>
        <p:nvSpPr>
          <p:cNvPr id="28707" name="Rectangle 35"/>
          <p:cNvSpPr>
            <a:spLocks noChangeArrowheads="1"/>
          </p:cNvSpPr>
          <p:nvPr/>
        </p:nvSpPr>
        <p:spPr bwMode="auto">
          <a:xfrm>
            <a:off x="831850" y="882650"/>
            <a:ext cx="4513263" cy="476250"/>
          </a:xfrm>
          <a:prstGeom prst="rect">
            <a:avLst/>
          </a:prstGeom>
          <a:noFill/>
          <a:ln w="9525">
            <a:noFill/>
            <a:miter lim="800000"/>
            <a:headEnd/>
            <a:tailEnd/>
          </a:ln>
        </p:spPr>
        <p:txBody>
          <a:bodyPr anchor="ctr">
            <a:spAutoFit/>
          </a:bodyPr>
          <a:lstStyle/>
          <a:p>
            <a:r>
              <a:rPr lang="en-US" altLang="zh-CN" sz="2500" b="1" dirty="0">
                <a:solidFill>
                  <a:srgbClr val="FF0000"/>
                </a:solidFill>
                <a:ea typeface="楷体_GB2312" pitchFamily="49" charset="-122"/>
              </a:rPr>
              <a:t>1.4</a:t>
            </a:r>
            <a:r>
              <a:rPr lang="zh-CN" altLang="en-US" sz="2500" b="1" dirty="0">
                <a:solidFill>
                  <a:srgbClr val="FF0000"/>
                </a:solidFill>
                <a:ea typeface="楷体_GB2312" pitchFamily="49" charset="-122"/>
              </a:rPr>
              <a:t>配离子的电荷数</a:t>
            </a:r>
            <a:r>
              <a:rPr lang="en-US" altLang="zh-CN" sz="2500" b="1" dirty="0">
                <a:solidFill>
                  <a:srgbClr val="FF0000"/>
                </a:solidFill>
                <a:ea typeface="楷体_GB2312" pitchFamily="49" charset="-122"/>
              </a:rPr>
              <a:t>:</a:t>
            </a:r>
          </a:p>
        </p:txBody>
      </p:sp>
      <p:sp>
        <p:nvSpPr>
          <p:cNvPr id="15367"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15368"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8707"/>
                                        </p:tgtEl>
                                        <p:attrNameLst>
                                          <p:attrName>style.visibility</p:attrName>
                                        </p:attrNameLst>
                                      </p:cBhvr>
                                      <p:to>
                                        <p:strVal val="visible"/>
                                      </p:to>
                                    </p:set>
                                    <p:animEffect transition="in" filter="blinds(horizontal)">
                                      <p:cBhvr>
                                        <p:cTn id="7" dur="500"/>
                                        <p:tgtEl>
                                          <p:spTgt spid="2870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8683"/>
                                        </p:tgtEl>
                                        <p:attrNameLst>
                                          <p:attrName>style.visibility</p:attrName>
                                        </p:attrNameLst>
                                      </p:cBhvr>
                                      <p:to>
                                        <p:strVal val="visible"/>
                                      </p:to>
                                    </p:set>
                                    <p:animEffect transition="in" filter="blinds(horizontal)">
                                      <p:cBhvr>
                                        <p:cTn id="11" dur="500"/>
                                        <p:tgtEl>
                                          <p:spTgt spid="28683"/>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8684">
                                            <p:txEl>
                                              <p:pRg st="0" end="0"/>
                                            </p:txEl>
                                          </p:spTgt>
                                        </p:tgtEl>
                                        <p:attrNameLst>
                                          <p:attrName>style.visibility</p:attrName>
                                        </p:attrNameLst>
                                      </p:cBhvr>
                                      <p:to>
                                        <p:strVal val="visible"/>
                                      </p:to>
                                    </p:set>
                                    <p:animEffect transition="in" filter="blinds(horizontal)">
                                      <p:cBhvr>
                                        <p:cTn id="16" dur="500"/>
                                        <p:tgtEl>
                                          <p:spTgt spid="28684">
                                            <p:txEl>
                                              <p:pRg st="0" end="0"/>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3" name="CHIMES.WAV"/>
                                        </p:tgtEl>
                                      </p:cMediaNode>
                                    </p:audio>
                                  </p:sub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8684">
                                            <p:txEl>
                                              <p:pRg st="1" end="1"/>
                                            </p:txEl>
                                          </p:spTgt>
                                        </p:tgtEl>
                                        <p:attrNameLst>
                                          <p:attrName>style.visibility</p:attrName>
                                        </p:attrNameLst>
                                      </p:cBhvr>
                                      <p:to>
                                        <p:strVal val="visible"/>
                                      </p:to>
                                    </p:set>
                                    <p:animEffect transition="in" filter="blinds(horizontal)">
                                      <p:cBhvr>
                                        <p:cTn id="21" dur="500"/>
                                        <p:tgtEl>
                                          <p:spTgt spid="28684">
                                            <p:txEl>
                                              <p:pRg st="1" end="1"/>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CHIMES.WAV"/>
                                        </p:tgtEl>
                                      </p:cMediaNode>
                                    </p:audio>
                                  </p:sub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8684">
                                            <p:txEl>
                                              <p:pRg st="2" end="2"/>
                                            </p:txEl>
                                          </p:spTgt>
                                        </p:tgtEl>
                                        <p:attrNameLst>
                                          <p:attrName>style.visibility</p:attrName>
                                        </p:attrNameLst>
                                      </p:cBhvr>
                                      <p:to>
                                        <p:strVal val="visible"/>
                                      </p:to>
                                    </p:set>
                                    <p:animEffect transition="in" filter="blinds(horizontal)">
                                      <p:cBhvr>
                                        <p:cTn id="26" dur="500"/>
                                        <p:tgtEl>
                                          <p:spTgt spid="28684">
                                            <p:txEl>
                                              <p:pRg st="2" end="2"/>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3" name="CHIMES.WAV"/>
                                        </p:tgtEl>
                                      </p:cMediaNode>
                                    </p:audio>
                                  </p:sub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8684">
                                            <p:txEl>
                                              <p:pRg st="3" end="3"/>
                                            </p:txEl>
                                          </p:spTgt>
                                        </p:tgtEl>
                                        <p:attrNameLst>
                                          <p:attrName>style.visibility</p:attrName>
                                        </p:attrNameLst>
                                      </p:cBhvr>
                                      <p:to>
                                        <p:strVal val="visible"/>
                                      </p:to>
                                    </p:set>
                                    <p:animEffect transition="in" filter="blinds(horizontal)">
                                      <p:cBhvr>
                                        <p:cTn id="31" dur="500"/>
                                        <p:tgtEl>
                                          <p:spTgt spid="28684">
                                            <p:txEl>
                                              <p:pRg st="3" end="3"/>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8684">
                                            <p:txEl>
                                              <p:pRg st="4" end="4"/>
                                            </p:txEl>
                                          </p:spTgt>
                                        </p:tgtEl>
                                        <p:attrNameLst>
                                          <p:attrName>style.visibility</p:attrName>
                                        </p:attrNameLst>
                                      </p:cBhvr>
                                      <p:to>
                                        <p:strVal val="visible"/>
                                      </p:to>
                                    </p:set>
                                    <p:animEffect transition="in" filter="blinds(horizontal)">
                                      <p:cBhvr>
                                        <p:cTn id="36" dur="500"/>
                                        <p:tgtEl>
                                          <p:spTgt spid="28684">
                                            <p:txEl>
                                              <p:pRg st="4" end="4"/>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3" name="CHIMES.WAV"/>
                                        </p:tgtEl>
                                      </p:cMediaNode>
                                    </p:audio>
                                  </p:sub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8687"/>
                                        </p:tgtEl>
                                        <p:attrNameLst>
                                          <p:attrName>style.visibility</p:attrName>
                                        </p:attrNameLst>
                                      </p:cBhvr>
                                      <p:to>
                                        <p:strVal val="visible"/>
                                      </p:to>
                                    </p:set>
                                    <p:animEffect transition="in" filter="blinds(horizontal)">
                                      <p:cBhvr>
                                        <p:cTn id="41" dur="500"/>
                                        <p:tgtEl>
                                          <p:spTgt spid="28687"/>
                                        </p:tgtEl>
                                      </p:cBhvr>
                                    </p:animEffect>
                                  </p:childTnLst>
                                  <p:subTnLst>
                                    <p:audio>
                                      <p:cMediaNode>
                                        <p:cTn display="0" masterRel="sameClick">
                                          <p:stCondLst>
                                            <p:cond evt="begin" delay="0">
                                              <p:tn val="39"/>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3" grpId="0" autoUpdateAnimBg="0"/>
      <p:bldP spid="28684" grpId="0" build="p" autoUpdateAnimBg="0"/>
      <p:bldP spid="28687" grpId="0" autoUpdateAnimBg="0"/>
      <p:bldP spid="28707"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656382" cy="432000"/>
          </a:xfrm>
        </p:spPr>
        <p:txBody>
          <a:bodyPr/>
          <a:lstStyle/>
          <a:p>
            <a:r>
              <a:rPr lang="zh-CN" altLang="en-US" dirty="0"/>
              <a:t>课堂总结</a:t>
            </a:r>
          </a:p>
        </p:txBody>
      </p:sp>
      <p:sp>
        <p:nvSpPr>
          <p:cNvPr id="4" name="矩形 3"/>
          <p:cNvSpPr/>
          <p:nvPr/>
        </p:nvSpPr>
        <p:spPr>
          <a:xfrm>
            <a:off x="4032845" y="166393"/>
            <a:ext cx="2563522" cy="523220"/>
          </a:xfrm>
          <a:prstGeom prst="rect">
            <a:avLst/>
          </a:prstGeom>
        </p:spPr>
        <p:txBody>
          <a:bodyPr wrap="none">
            <a:spAutoFit/>
          </a:bodyPr>
          <a:lstStyle/>
          <a:p>
            <a:r>
              <a:rPr lang="en-US" altLang="zh-CN" sz="2800" b="1" dirty="0"/>
              <a:t>[Cu(NH</a:t>
            </a:r>
            <a:r>
              <a:rPr lang="en-US" altLang="zh-CN" sz="2800" b="1" baseline="-25000" dirty="0"/>
              <a:t>3</a:t>
            </a:r>
            <a:r>
              <a:rPr lang="en-US" altLang="zh-CN" sz="2800" b="1" dirty="0"/>
              <a:t>)</a:t>
            </a:r>
            <a:r>
              <a:rPr lang="en-US" altLang="zh-CN" sz="2800" b="1" baseline="-25000" dirty="0"/>
              <a:t>4</a:t>
            </a:r>
            <a:r>
              <a:rPr lang="en-US" altLang="zh-CN" sz="2800" b="1" dirty="0"/>
              <a:t>]SO</a:t>
            </a:r>
            <a:r>
              <a:rPr lang="en-US" altLang="zh-CN" sz="2800" b="1" baseline="-25000" dirty="0"/>
              <a:t>4 </a:t>
            </a:r>
            <a:endParaRPr lang="zh-CN" altLang="en-US" sz="2800" b="1" dirty="0"/>
          </a:p>
        </p:txBody>
      </p:sp>
      <p:sp>
        <p:nvSpPr>
          <p:cNvPr id="5" name="文本框 4"/>
          <p:cNvSpPr txBox="1"/>
          <p:nvPr/>
        </p:nvSpPr>
        <p:spPr>
          <a:xfrm>
            <a:off x="792485" y="1511895"/>
            <a:ext cx="8749511" cy="2246769"/>
          </a:xfrm>
          <a:prstGeom prst="rect">
            <a:avLst/>
          </a:prstGeom>
          <a:noFill/>
        </p:spPr>
        <p:txBody>
          <a:bodyPr wrap="none" rtlCol="0">
            <a:spAutoFit/>
          </a:bodyPr>
          <a:lstStyle/>
          <a:p>
            <a:r>
              <a:rPr lang="en-US" altLang="zh-CN" sz="2800" b="1" dirty="0"/>
              <a:t>1.</a:t>
            </a:r>
            <a:r>
              <a:rPr lang="zh-CN" altLang="en-US" sz="2800" b="1" dirty="0"/>
              <a:t>配合物的组成   </a:t>
            </a:r>
            <a:r>
              <a:rPr lang="en-US" altLang="zh-CN" sz="2800" b="1" dirty="0"/>
              <a:t>[</a:t>
            </a:r>
            <a:r>
              <a:rPr lang="zh-CN" altLang="en-US" sz="2800" b="1" dirty="0"/>
              <a:t>内界 </a:t>
            </a:r>
            <a:r>
              <a:rPr lang="en-US" altLang="zh-CN" sz="2800" b="1" dirty="0"/>
              <a:t>] </a:t>
            </a:r>
            <a:r>
              <a:rPr lang="zh-CN" altLang="en-US" sz="2800" b="1" dirty="0"/>
              <a:t> 外界</a:t>
            </a:r>
            <a:endParaRPr lang="en-US" altLang="zh-CN" sz="2800" b="1" dirty="0"/>
          </a:p>
          <a:p>
            <a:r>
              <a:rPr lang="en-US" altLang="zh-CN" sz="2800" b="1" dirty="0"/>
              <a:t>2.</a:t>
            </a:r>
            <a:r>
              <a:rPr lang="zh-CN" altLang="en-US" sz="2800" b="1" dirty="0"/>
              <a:t>中心原子（中心离子）、配位体（配体）</a:t>
            </a:r>
            <a:endParaRPr lang="en-US" altLang="zh-CN" sz="2800" b="1" dirty="0"/>
          </a:p>
          <a:p>
            <a:r>
              <a:rPr lang="en-US" altLang="zh-CN" sz="2800" b="1" dirty="0"/>
              <a:t>3.</a:t>
            </a:r>
            <a:r>
              <a:rPr lang="zh-CN" altLang="en-US" sz="2800" b="1" dirty="0"/>
              <a:t>单齿配体、多齿配体、</a:t>
            </a:r>
            <a:r>
              <a:rPr lang="zh-CN" altLang="en-US" sz="2800" b="1" dirty="0">
                <a:solidFill>
                  <a:srgbClr val="FF0000"/>
                </a:solidFill>
              </a:rPr>
              <a:t>两可配体（前提：单齿配体）</a:t>
            </a:r>
            <a:endParaRPr lang="en-US" altLang="zh-CN" sz="2800" b="1" dirty="0">
              <a:solidFill>
                <a:srgbClr val="FF0000"/>
              </a:solidFill>
            </a:endParaRPr>
          </a:p>
          <a:p>
            <a:r>
              <a:rPr lang="en-US" altLang="zh-CN" sz="2800" b="1" dirty="0"/>
              <a:t>4.</a:t>
            </a:r>
            <a:r>
              <a:rPr lang="zh-CN" altLang="en-US" sz="2800" b="1" dirty="0"/>
              <a:t>配位数</a:t>
            </a:r>
            <a:endParaRPr lang="en-US" altLang="zh-CN" sz="2800" b="1" dirty="0"/>
          </a:p>
          <a:p>
            <a:r>
              <a:rPr lang="en-US" altLang="zh-CN" sz="2800" b="1" dirty="0"/>
              <a:t>5.</a:t>
            </a:r>
            <a:r>
              <a:rPr lang="zh-CN" altLang="en-US" sz="2800" b="1" dirty="0"/>
              <a:t>配位比</a:t>
            </a:r>
          </a:p>
        </p:txBody>
      </p:sp>
    </p:spTree>
    <p:extLst>
      <p:ext uri="{BB962C8B-B14F-4D97-AF65-F5344CB8AC3E}">
        <p14:creationId xmlns:p14="http://schemas.microsoft.com/office/powerpoint/2010/main" val="148522616"/>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944414" cy="432000"/>
          </a:xfrm>
        </p:spPr>
        <p:txBody>
          <a:bodyPr/>
          <a:lstStyle/>
          <a:p>
            <a:r>
              <a:rPr lang="zh-CN" altLang="en-US" dirty="0"/>
              <a:t>配合物应用</a:t>
            </a:r>
          </a:p>
        </p:txBody>
      </p:sp>
      <p:grpSp>
        <p:nvGrpSpPr>
          <p:cNvPr id="7" name="PA_组合 9"/>
          <p:cNvGrpSpPr/>
          <p:nvPr>
            <p:custDataLst>
              <p:tags r:id="rId1"/>
            </p:custDataLst>
          </p:nvPr>
        </p:nvGrpSpPr>
        <p:grpSpPr>
          <a:xfrm>
            <a:off x="720477" y="863823"/>
            <a:ext cx="576064" cy="576064"/>
            <a:chOff x="2494238" y="1545926"/>
            <a:chExt cx="1170130" cy="1170130"/>
          </a:xfrm>
        </p:grpSpPr>
        <p:sp>
          <p:nvSpPr>
            <p:cNvPr id="8" name="椭圆 7"/>
            <p:cNvSpPr/>
            <p:nvPr/>
          </p:nvSpPr>
          <p:spPr>
            <a:xfrm>
              <a:off x="2494238" y="1545926"/>
              <a:ext cx="1170130" cy="1170130"/>
            </a:xfrm>
            <a:prstGeom prst="ellipse">
              <a:avLst/>
            </a:prstGeom>
            <a:gradFill flip="none" rotWithShape="1">
              <a:gsLst>
                <a:gs pos="100000">
                  <a:srgbClr val="FCFCFC"/>
                </a:gs>
                <a:gs pos="0">
                  <a:srgbClr val="CCCCCC"/>
                </a:gs>
              </a:gsLst>
              <a:lin ang="7200000" scaled="0"/>
              <a:tileRect/>
            </a:gradFill>
            <a:ln w="12700" cap="flat" cmpd="sng" algn="ctr">
              <a:gradFill>
                <a:gsLst>
                  <a:gs pos="89000">
                    <a:sysClr val="window" lastClr="FFFFFF">
                      <a:lumMod val="85000"/>
                    </a:sysClr>
                  </a:gs>
                  <a:gs pos="0">
                    <a:sysClr val="window" lastClr="FFFFFF"/>
                  </a:gs>
                </a:gsLst>
                <a:lin ang="7200000" scaled="0"/>
              </a:gradFill>
              <a:prstDash val="solid"/>
              <a:miter lim="800000"/>
            </a:ln>
            <a:effectLst>
              <a:outerShdw blurRad="254000" dist="127000" dir="8160000" algn="tr" rotWithShape="0">
                <a:prstClr val="black">
                  <a:alpha val="34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椭圆 8"/>
            <p:cNvSpPr/>
            <p:nvPr/>
          </p:nvSpPr>
          <p:spPr>
            <a:xfrm>
              <a:off x="2633023" y="1684711"/>
              <a:ext cx="892559" cy="892559"/>
            </a:xfrm>
            <a:prstGeom prst="ellipse">
              <a:avLst/>
            </a:prstGeom>
            <a:solidFill>
              <a:srgbClr val="0F6FC6"/>
            </a:solidFill>
            <a:ln w="12700" cap="flat" cmpd="sng" algn="ctr">
              <a:noFill/>
              <a:prstDash val="solid"/>
              <a:miter lim="800000"/>
            </a:ln>
            <a:effectLst>
              <a:innerShdw blurRad="63500" dist="50800" dir="18900000">
                <a:prstClr val="black">
                  <a:alpha val="34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10" name="文本框 9"/>
          <p:cNvSpPr txBox="1"/>
          <p:nvPr/>
        </p:nvSpPr>
        <p:spPr>
          <a:xfrm>
            <a:off x="1364866" y="855112"/>
            <a:ext cx="1008609" cy="584775"/>
          </a:xfrm>
          <a:prstGeom prst="rect">
            <a:avLst/>
          </a:prstGeom>
          <a:noFill/>
        </p:spPr>
        <p:txBody>
          <a:bodyPr wrap="none" rtlCol="0">
            <a:spAutoFit/>
          </a:bodyPr>
          <a:lstStyle/>
          <a:p>
            <a:r>
              <a:rPr lang="zh-CN" altLang="en-US" sz="3200" b="1" dirty="0">
                <a:latin typeface="楷体_GB2312"/>
              </a:rPr>
              <a:t>染料</a:t>
            </a:r>
          </a:p>
        </p:txBody>
      </p:sp>
      <p:sp>
        <p:nvSpPr>
          <p:cNvPr id="11" name="矩形 10"/>
          <p:cNvSpPr/>
          <p:nvPr/>
        </p:nvSpPr>
        <p:spPr>
          <a:xfrm>
            <a:off x="1008509" y="1612947"/>
            <a:ext cx="4830168" cy="400110"/>
          </a:xfrm>
          <a:prstGeom prst="rect">
            <a:avLst/>
          </a:prstGeom>
        </p:spPr>
        <p:txBody>
          <a:bodyPr wrap="none">
            <a:spAutoFit/>
          </a:bodyPr>
          <a:lstStyle/>
          <a:p>
            <a:r>
              <a:rPr lang="zh-CN" altLang="en-US" sz="2000" b="1" dirty="0">
                <a:solidFill>
                  <a:srgbClr val="121212"/>
                </a:solidFill>
                <a:latin typeface="-apple-system"/>
                <a:ea typeface="楷体_GB2312"/>
              </a:rPr>
              <a:t>世界上第一个人工合成的染料：</a:t>
            </a:r>
            <a:r>
              <a:rPr lang="zh-CN" altLang="en-US" sz="2000" b="1" dirty="0">
                <a:solidFill>
                  <a:srgbClr val="0F6FC6"/>
                </a:solidFill>
                <a:latin typeface="-apple-system"/>
                <a:ea typeface="楷体_GB2312"/>
              </a:rPr>
              <a:t>普鲁士蓝</a:t>
            </a:r>
            <a:endParaRPr lang="zh-CN" altLang="en-US" sz="2000" b="1" dirty="0">
              <a:solidFill>
                <a:srgbClr val="0F6FC6"/>
              </a:solidFill>
              <a:ea typeface="楷体_GB2312"/>
            </a:endParaRPr>
          </a:p>
        </p:txBody>
      </p:sp>
      <p:sp>
        <p:nvSpPr>
          <p:cNvPr id="12" name="矩形 11"/>
          <p:cNvSpPr/>
          <p:nvPr/>
        </p:nvSpPr>
        <p:spPr>
          <a:xfrm>
            <a:off x="576263" y="2186117"/>
            <a:ext cx="5904854" cy="1323439"/>
          </a:xfrm>
          <a:prstGeom prst="rect">
            <a:avLst/>
          </a:prstGeom>
        </p:spPr>
        <p:txBody>
          <a:bodyPr wrap="square">
            <a:spAutoFit/>
          </a:bodyPr>
          <a:lstStyle/>
          <a:p>
            <a:r>
              <a:rPr lang="en-US" altLang="zh-CN" sz="2000" b="1" dirty="0">
                <a:solidFill>
                  <a:srgbClr val="121212"/>
                </a:solidFill>
                <a:latin typeface="-apple-system"/>
                <a:ea typeface="楷体_GB2312"/>
              </a:rPr>
              <a:t>18</a:t>
            </a:r>
            <a:r>
              <a:rPr lang="zh-CN" altLang="en-US" sz="2000" b="1" dirty="0">
                <a:solidFill>
                  <a:srgbClr val="121212"/>
                </a:solidFill>
                <a:latin typeface="-apple-system"/>
                <a:ea typeface="楷体_GB2312"/>
              </a:rPr>
              <a:t>世纪初德国的一个染料工人把草木灰和牛血混合在一起进行焙烧成灰，再用水浸取焙烧后的物质，过滤掉不溶解的物质以后，向滤液中加入氯化铁溶液得到了一种颜色很鲜艳的蓝色沉淀</a:t>
            </a:r>
            <a:endParaRPr lang="zh-CN" altLang="en-US" sz="2000" b="1" dirty="0">
              <a:ea typeface="楷体_GB2312"/>
            </a:endParaRP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263" y="4182429"/>
            <a:ext cx="6103467" cy="569826"/>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13165" y="1371562"/>
            <a:ext cx="3610915" cy="2858641"/>
          </a:xfrm>
          <a:prstGeom prst="rect">
            <a:avLst/>
          </a:prstGeom>
        </p:spPr>
      </p:pic>
      <p:sp>
        <p:nvSpPr>
          <p:cNvPr id="16" name="文本框 15"/>
          <p:cNvSpPr txBox="1"/>
          <p:nvPr/>
        </p:nvSpPr>
        <p:spPr>
          <a:xfrm>
            <a:off x="6758124" y="4449337"/>
            <a:ext cx="4206601" cy="461665"/>
          </a:xfrm>
          <a:prstGeom prst="rect">
            <a:avLst/>
          </a:prstGeom>
          <a:noFill/>
        </p:spPr>
        <p:txBody>
          <a:bodyPr wrap="none" rtlCol="0">
            <a:spAutoFit/>
          </a:bodyPr>
          <a:lstStyle/>
          <a:p>
            <a:r>
              <a:rPr lang="zh-CN" altLang="en-US" sz="2400" b="1" dirty="0"/>
              <a:t>梵高的星空采用大量普鲁士蓝</a:t>
            </a:r>
          </a:p>
        </p:txBody>
      </p:sp>
    </p:spTree>
    <p:extLst>
      <p:ext uri="{BB962C8B-B14F-4D97-AF65-F5344CB8AC3E}">
        <p14:creationId xmlns:p14="http://schemas.microsoft.com/office/powerpoint/2010/main" val="1516530212"/>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76263" y="258763"/>
            <a:ext cx="1944414" cy="432000"/>
          </a:xfrm>
        </p:spPr>
        <p:txBody>
          <a:bodyPr/>
          <a:lstStyle/>
          <a:p>
            <a:r>
              <a:rPr lang="zh-CN" altLang="en-US" dirty="0"/>
              <a:t>配合物应用</a:t>
            </a:r>
          </a:p>
        </p:txBody>
      </p:sp>
      <p:grpSp>
        <p:nvGrpSpPr>
          <p:cNvPr id="5" name="PA_组合 9"/>
          <p:cNvGrpSpPr/>
          <p:nvPr>
            <p:custDataLst>
              <p:tags r:id="rId1"/>
            </p:custDataLst>
          </p:nvPr>
        </p:nvGrpSpPr>
        <p:grpSpPr>
          <a:xfrm>
            <a:off x="720477" y="863823"/>
            <a:ext cx="576064" cy="576064"/>
            <a:chOff x="2494238" y="1545926"/>
            <a:chExt cx="1170130" cy="1170130"/>
          </a:xfrm>
        </p:grpSpPr>
        <p:sp>
          <p:nvSpPr>
            <p:cNvPr id="6" name="椭圆 5"/>
            <p:cNvSpPr/>
            <p:nvPr/>
          </p:nvSpPr>
          <p:spPr>
            <a:xfrm>
              <a:off x="2494238" y="1545926"/>
              <a:ext cx="1170130" cy="1170130"/>
            </a:xfrm>
            <a:prstGeom prst="ellipse">
              <a:avLst/>
            </a:prstGeom>
            <a:gradFill flip="none" rotWithShape="1">
              <a:gsLst>
                <a:gs pos="100000">
                  <a:srgbClr val="FCFCFC"/>
                </a:gs>
                <a:gs pos="0">
                  <a:srgbClr val="CCCCCC"/>
                </a:gs>
              </a:gsLst>
              <a:lin ang="7200000" scaled="0"/>
              <a:tileRect/>
            </a:gradFill>
            <a:ln w="12700" cap="flat" cmpd="sng" algn="ctr">
              <a:gradFill>
                <a:gsLst>
                  <a:gs pos="89000">
                    <a:sysClr val="window" lastClr="FFFFFF">
                      <a:lumMod val="85000"/>
                    </a:sysClr>
                  </a:gs>
                  <a:gs pos="0">
                    <a:sysClr val="window" lastClr="FFFFFF"/>
                  </a:gs>
                </a:gsLst>
                <a:lin ang="7200000" scaled="0"/>
              </a:gradFill>
              <a:prstDash val="solid"/>
              <a:miter lim="800000"/>
            </a:ln>
            <a:effectLst>
              <a:outerShdw blurRad="254000" dist="127000" dir="8160000" algn="tr" rotWithShape="0">
                <a:prstClr val="black">
                  <a:alpha val="34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椭圆 6"/>
            <p:cNvSpPr/>
            <p:nvPr/>
          </p:nvSpPr>
          <p:spPr>
            <a:xfrm>
              <a:off x="2633023" y="1684711"/>
              <a:ext cx="892559" cy="892559"/>
            </a:xfrm>
            <a:prstGeom prst="ellipse">
              <a:avLst/>
            </a:prstGeom>
            <a:solidFill>
              <a:srgbClr val="0F6FC6"/>
            </a:solidFill>
            <a:ln w="12700" cap="flat" cmpd="sng" algn="ctr">
              <a:noFill/>
              <a:prstDash val="solid"/>
              <a:miter lim="800000"/>
            </a:ln>
            <a:effectLst>
              <a:innerShdw blurRad="63500" dist="50800" dir="18900000">
                <a:prstClr val="black">
                  <a:alpha val="34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8" name="矩形 7"/>
          <p:cNvSpPr/>
          <p:nvPr/>
        </p:nvSpPr>
        <p:spPr>
          <a:xfrm>
            <a:off x="1354979" y="890575"/>
            <a:ext cx="3587842" cy="461665"/>
          </a:xfrm>
          <a:prstGeom prst="rect">
            <a:avLst/>
          </a:prstGeom>
        </p:spPr>
        <p:txBody>
          <a:bodyPr wrap="none">
            <a:spAutoFit/>
          </a:bodyPr>
          <a:lstStyle/>
          <a:p>
            <a:r>
              <a:rPr lang="zh-CN" altLang="en-US" sz="2400" b="1" dirty="0">
                <a:solidFill>
                  <a:srgbClr val="121212"/>
                </a:solidFill>
                <a:latin typeface="楷体_GB2312"/>
              </a:rPr>
              <a:t>物质的分析、分离与提纯</a:t>
            </a:r>
            <a:endParaRPr lang="zh-CN" altLang="en-US" sz="2400" b="1" i="0" dirty="0">
              <a:solidFill>
                <a:srgbClr val="121212"/>
              </a:solidFill>
              <a:effectLst/>
              <a:latin typeface="楷体_GB2312"/>
            </a:endParaRPr>
          </a:p>
        </p:txBody>
      </p:sp>
      <p:sp>
        <p:nvSpPr>
          <p:cNvPr id="9" name="矩形 8"/>
          <p:cNvSpPr/>
          <p:nvPr/>
        </p:nvSpPr>
        <p:spPr>
          <a:xfrm>
            <a:off x="642944" y="1647896"/>
            <a:ext cx="1627369" cy="523220"/>
          </a:xfrm>
          <a:prstGeom prst="rect">
            <a:avLst/>
          </a:prstGeom>
        </p:spPr>
        <p:txBody>
          <a:bodyPr wrap="none">
            <a:spAutoFit/>
          </a:bodyPr>
          <a:lstStyle/>
          <a:p>
            <a:pPr eaLnBrk="1" hangingPunct="1"/>
            <a:r>
              <a:rPr kumimoji="1" lang="zh-CN" altLang="en-US" sz="2800" b="1" dirty="0">
                <a:latin typeface="楷体_GB2312"/>
              </a:rPr>
              <a:t>湿法冶金</a:t>
            </a:r>
          </a:p>
        </p:txBody>
      </p:sp>
      <p:sp>
        <p:nvSpPr>
          <p:cNvPr id="10" name="Rectangle 4"/>
          <p:cNvSpPr>
            <a:spLocks noChangeArrowheads="1"/>
          </p:cNvSpPr>
          <p:nvPr/>
        </p:nvSpPr>
        <p:spPr bwMode="auto">
          <a:xfrm>
            <a:off x="288429" y="2309373"/>
            <a:ext cx="6624736" cy="2234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kumimoji="1" lang="en-US" altLang="zh-CN" sz="2400" b="1" dirty="0">
                <a:latin typeface="Times New Roman" panose="02020603050405020304" pitchFamily="18" charset="0"/>
              </a:rPr>
              <a:t>1. </a:t>
            </a:r>
            <a:r>
              <a:rPr kumimoji="1" lang="zh-CN" altLang="en-US" sz="2400" b="1" dirty="0">
                <a:latin typeface="Times New Roman" panose="02020603050405020304" pitchFamily="18" charset="0"/>
              </a:rPr>
              <a:t>在</a:t>
            </a:r>
            <a:r>
              <a:rPr kumimoji="1" lang="en-US" altLang="zh-CN" sz="2400" b="1" dirty="0" err="1">
                <a:latin typeface="Times New Roman" panose="02020603050405020304" pitchFamily="18" charset="0"/>
              </a:rPr>
              <a:t>NaCN</a:t>
            </a:r>
            <a:r>
              <a:rPr kumimoji="1" lang="zh-CN" altLang="en-US" sz="2400" b="1" dirty="0">
                <a:latin typeface="Times New Roman" panose="02020603050405020304" pitchFamily="18" charset="0"/>
              </a:rPr>
              <a:t>溶液中，</a:t>
            </a:r>
            <a:r>
              <a:rPr kumimoji="1" lang="en-US" altLang="zh-CN" sz="2400" b="1" dirty="0">
                <a:latin typeface="Times New Roman" panose="02020603050405020304" pitchFamily="18" charset="0"/>
              </a:rPr>
              <a:t>Au</a:t>
            </a:r>
            <a:r>
              <a:rPr kumimoji="1" lang="zh-CN" altLang="en-US" sz="2400" b="1" dirty="0">
                <a:latin typeface="Times New Roman" panose="02020603050405020304" pitchFamily="18" charset="0"/>
              </a:rPr>
              <a:t>的还原性增强：</a:t>
            </a:r>
          </a:p>
          <a:p>
            <a:pPr>
              <a:spcBef>
                <a:spcPct val="20000"/>
              </a:spcBef>
            </a:pPr>
            <a:r>
              <a:rPr kumimoji="1" lang="zh-CN" altLang="en-US" sz="2400" b="1" dirty="0">
                <a:latin typeface="Times New Roman" panose="02020603050405020304" pitchFamily="18" charset="0"/>
              </a:rPr>
              <a:t>    </a:t>
            </a:r>
            <a:r>
              <a:rPr kumimoji="1" lang="en-US" altLang="zh-CN" sz="2400" b="1" dirty="0">
                <a:solidFill>
                  <a:srgbClr val="0000FF"/>
                </a:solidFill>
                <a:latin typeface="Times New Roman" panose="02020603050405020304" pitchFamily="18" charset="0"/>
              </a:rPr>
              <a:t>4Au+8CN</a:t>
            </a:r>
            <a:r>
              <a:rPr kumimoji="1" lang="en-US" altLang="zh-CN" sz="2400" b="1" baseline="30000" dirty="0">
                <a:solidFill>
                  <a:srgbClr val="0000FF"/>
                </a:solidFill>
                <a:latin typeface="Times New Roman" panose="02020603050405020304" pitchFamily="18" charset="0"/>
              </a:rPr>
              <a:t>-</a:t>
            </a:r>
            <a:r>
              <a:rPr kumimoji="1" lang="en-US" altLang="zh-CN" sz="2400" b="1" dirty="0">
                <a:solidFill>
                  <a:srgbClr val="0000FF"/>
                </a:solidFill>
                <a:latin typeface="Times New Roman" panose="02020603050405020304" pitchFamily="18" charset="0"/>
              </a:rPr>
              <a:t> + 2H</a:t>
            </a:r>
            <a:r>
              <a:rPr kumimoji="1" lang="en-US" altLang="zh-CN" sz="2400" b="1" baseline="-25000" dirty="0">
                <a:solidFill>
                  <a:srgbClr val="0000FF"/>
                </a:solidFill>
                <a:latin typeface="Times New Roman" panose="02020603050405020304" pitchFamily="18" charset="0"/>
              </a:rPr>
              <a:t>2</a:t>
            </a:r>
            <a:r>
              <a:rPr kumimoji="1" lang="en-US" altLang="zh-CN" sz="2400" b="1" dirty="0">
                <a:solidFill>
                  <a:srgbClr val="0000FF"/>
                </a:solidFill>
                <a:latin typeface="Times New Roman" panose="02020603050405020304" pitchFamily="18" charset="0"/>
              </a:rPr>
              <a:t>O + O</a:t>
            </a:r>
            <a:r>
              <a:rPr kumimoji="1" lang="en-US" altLang="zh-CN" sz="2400" b="1" baseline="-25000" dirty="0">
                <a:solidFill>
                  <a:srgbClr val="0000FF"/>
                </a:solidFill>
                <a:latin typeface="Times New Roman" panose="02020603050405020304" pitchFamily="18" charset="0"/>
              </a:rPr>
              <a:t>2</a:t>
            </a:r>
            <a:r>
              <a:rPr kumimoji="1" lang="en-US" altLang="zh-CN" sz="2400" b="1" dirty="0">
                <a:solidFill>
                  <a:srgbClr val="0000FF"/>
                </a:solidFill>
                <a:latin typeface="Times New Roman" panose="02020603050405020304" pitchFamily="18" charset="0"/>
              </a:rPr>
              <a:t> → 4Au(CN)</a:t>
            </a:r>
            <a:r>
              <a:rPr kumimoji="1" lang="en-US" altLang="zh-CN" sz="2400" b="1" baseline="-25000" dirty="0">
                <a:solidFill>
                  <a:srgbClr val="0000FF"/>
                </a:solidFill>
                <a:latin typeface="Times New Roman" panose="02020603050405020304" pitchFamily="18" charset="0"/>
              </a:rPr>
              <a:t>2</a:t>
            </a:r>
            <a:r>
              <a:rPr kumimoji="1" lang="en-US" altLang="zh-CN" sz="2400" b="1" baseline="30000" dirty="0">
                <a:solidFill>
                  <a:srgbClr val="0000FF"/>
                </a:solidFill>
                <a:latin typeface="Times New Roman" panose="02020603050405020304" pitchFamily="18" charset="0"/>
              </a:rPr>
              <a:t>-</a:t>
            </a:r>
            <a:r>
              <a:rPr kumimoji="1" lang="en-US" altLang="zh-CN" sz="2400" b="1" dirty="0">
                <a:solidFill>
                  <a:srgbClr val="0000FF"/>
                </a:solidFill>
                <a:latin typeface="Times New Roman" panose="02020603050405020304" pitchFamily="18" charset="0"/>
              </a:rPr>
              <a:t> + 4OH</a:t>
            </a:r>
            <a:r>
              <a:rPr kumimoji="1" lang="en-US" altLang="zh-CN" sz="2400" b="1" baseline="30000" dirty="0">
                <a:solidFill>
                  <a:srgbClr val="0000FF"/>
                </a:solidFill>
                <a:latin typeface="Times New Roman" panose="02020603050405020304" pitchFamily="18" charset="0"/>
              </a:rPr>
              <a:t>-</a:t>
            </a:r>
          </a:p>
          <a:p>
            <a:pPr>
              <a:spcBef>
                <a:spcPct val="20000"/>
              </a:spcBef>
            </a:pPr>
            <a:r>
              <a:rPr kumimoji="1" lang="en-US" altLang="zh-CN" sz="2400" b="1" dirty="0">
                <a:latin typeface="Times New Roman" panose="02020603050405020304" pitchFamily="18" charset="0"/>
              </a:rPr>
              <a:t>2. </a:t>
            </a:r>
            <a:r>
              <a:rPr kumimoji="1" lang="zh-CN" altLang="en-US" sz="2400" b="1" dirty="0">
                <a:latin typeface="Times New Roman" panose="02020603050405020304" pitchFamily="18" charset="0"/>
              </a:rPr>
              <a:t>用锌粉置换出金：</a:t>
            </a:r>
          </a:p>
          <a:p>
            <a:pPr>
              <a:spcBef>
                <a:spcPct val="20000"/>
              </a:spcBef>
            </a:pPr>
            <a:r>
              <a:rPr kumimoji="1" lang="zh-CN" altLang="en-US" sz="2400" b="1" dirty="0">
                <a:latin typeface="Times New Roman" panose="02020603050405020304" pitchFamily="18" charset="0"/>
              </a:rPr>
              <a:t>    </a:t>
            </a:r>
            <a:r>
              <a:rPr kumimoji="1" lang="en-US" altLang="zh-CN" sz="2400" b="1" dirty="0">
                <a:solidFill>
                  <a:srgbClr val="0000FF"/>
                </a:solidFill>
                <a:latin typeface="Times New Roman" panose="02020603050405020304" pitchFamily="18" charset="0"/>
              </a:rPr>
              <a:t>Zn + 2Au(CN)</a:t>
            </a:r>
            <a:r>
              <a:rPr kumimoji="1" lang="en-US" altLang="zh-CN" sz="2400" b="1" baseline="-25000" dirty="0">
                <a:solidFill>
                  <a:srgbClr val="0000FF"/>
                </a:solidFill>
                <a:latin typeface="Times New Roman" panose="02020603050405020304" pitchFamily="18" charset="0"/>
              </a:rPr>
              <a:t>2</a:t>
            </a:r>
            <a:r>
              <a:rPr kumimoji="1" lang="en-US" altLang="zh-CN" sz="2400" b="1" baseline="30000" dirty="0">
                <a:solidFill>
                  <a:srgbClr val="0000FF"/>
                </a:solidFill>
                <a:latin typeface="Times New Roman" panose="02020603050405020304" pitchFamily="18" charset="0"/>
              </a:rPr>
              <a:t>-</a:t>
            </a:r>
            <a:r>
              <a:rPr kumimoji="1" lang="en-US" altLang="zh-CN" sz="2400" b="1" dirty="0">
                <a:solidFill>
                  <a:srgbClr val="0000FF"/>
                </a:solidFill>
                <a:latin typeface="Times New Roman" panose="02020603050405020304" pitchFamily="18" charset="0"/>
              </a:rPr>
              <a:t> → 2Au + Zn(CN)</a:t>
            </a:r>
            <a:r>
              <a:rPr kumimoji="1" lang="en-US" altLang="zh-CN" sz="2400" b="1" baseline="-25000" dirty="0">
                <a:solidFill>
                  <a:srgbClr val="0000FF"/>
                </a:solidFill>
                <a:latin typeface="Times New Roman" panose="02020603050405020304" pitchFamily="18" charset="0"/>
              </a:rPr>
              <a:t>4</a:t>
            </a:r>
            <a:r>
              <a:rPr kumimoji="1" lang="en-US" altLang="zh-CN" sz="2400" b="1" baseline="30000" dirty="0">
                <a:solidFill>
                  <a:srgbClr val="0000FF"/>
                </a:solidFill>
                <a:latin typeface="Times New Roman" panose="02020603050405020304" pitchFamily="18" charset="0"/>
              </a:rPr>
              <a:t>2-</a:t>
            </a:r>
            <a:r>
              <a:rPr kumimoji="1" lang="en-US" altLang="zh-CN" sz="2400" b="1" dirty="0">
                <a:latin typeface="Times New Roman" panose="02020603050405020304" pitchFamily="18" charset="0"/>
              </a:rPr>
              <a:t> </a:t>
            </a:r>
          </a:p>
          <a:p>
            <a:pPr>
              <a:spcBef>
                <a:spcPct val="20000"/>
              </a:spcBef>
            </a:pPr>
            <a:r>
              <a:rPr kumimoji="1" lang="en-US" altLang="zh-CN" sz="2400" b="1" dirty="0">
                <a:latin typeface="Times New Roman" panose="02020603050405020304" pitchFamily="18" charset="0"/>
              </a:rPr>
              <a:t>3. </a:t>
            </a:r>
            <a:r>
              <a:rPr kumimoji="1" lang="zh-CN" altLang="en-US" sz="2400" b="1" dirty="0">
                <a:latin typeface="Times New Roman" panose="02020603050405020304" pitchFamily="18" charset="0"/>
              </a:rPr>
              <a:t>电解得纯金。</a:t>
            </a:r>
          </a:p>
        </p:txBody>
      </p:sp>
      <p:pic>
        <p:nvPicPr>
          <p:cNvPr id="11" name="Picture 8" descr="20070213170139947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7221" y="1223863"/>
            <a:ext cx="3317875"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7454033"/>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 calcmode="lin" valueType="num">
                                      <p:cBhvr additive="base">
                                        <p:cTn id="12"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
                                            <p:txEl>
                                              <p:pRg st="1" end="1"/>
                                            </p:txEl>
                                          </p:spTgt>
                                        </p:tgtEl>
                                        <p:attrNameLst>
                                          <p:attrName>style.visibility</p:attrName>
                                        </p:attrNameLst>
                                      </p:cBhvr>
                                      <p:to>
                                        <p:strVal val="visible"/>
                                      </p:to>
                                    </p:set>
                                    <p:anim calcmode="lin" valueType="num">
                                      <p:cBhvr additive="base">
                                        <p:cTn id="18" dur="500" fill="hold"/>
                                        <p:tgtEl>
                                          <p:spTgt spid="10">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
                                            <p:txEl>
                                              <p:pRg st="2" end="2"/>
                                            </p:txEl>
                                          </p:spTgt>
                                        </p:tgtEl>
                                        <p:attrNameLst>
                                          <p:attrName>style.visibility</p:attrName>
                                        </p:attrNameLst>
                                      </p:cBhvr>
                                      <p:to>
                                        <p:strVal val="visible"/>
                                      </p:to>
                                    </p:set>
                                    <p:anim calcmode="lin" valueType="num">
                                      <p:cBhvr additive="base">
                                        <p:cTn id="24" dur="500" fill="hold"/>
                                        <p:tgtEl>
                                          <p:spTgt spid="10">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0">
                                            <p:txEl>
                                              <p:pRg st="3" end="3"/>
                                            </p:txEl>
                                          </p:spTgt>
                                        </p:tgtEl>
                                        <p:attrNameLst>
                                          <p:attrName>style.visibility</p:attrName>
                                        </p:attrNameLst>
                                      </p:cBhvr>
                                      <p:to>
                                        <p:strVal val="visible"/>
                                      </p:to>
                                    </p:set>
                                    <p:anim calcmode="lin" valueType="num">
                                      <p:cBhvr additive="base">
                                        <p:cTn id="30" dur="500" fill="hold"/>
                                        <p:tgtEl>
                                          <p:spTgt spid="10">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1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0">
                                            <p:txEl>
                                              <p:pRg st="4" end="4"/>
                                            </p:txEl>
                                          </p:spTgt>
                                        </p:tgtEl>
                                        <p:attrNameLst>
                                          <p:attrName>style.visibility</p:attrName>
                                        </p:attrNameLst>
                                      </p:cBhvr>
                                      <p:to>
                                        <p:strVal val="visible"/>
                                      </p:to>
                                    </p:set>
                                    <p:anim calcmode="lin" valueType="num">
                                      <p:cBhvr additive="base">
                                        <p:cTn id="36" dur="500" fill="hold"/>
                                        <p:tgtEl>
                                          <p:spTgt spid="10">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1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1"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70" decel="100000"/>
                                        <p:tgtEl>
                                          <p:spTgt spid="11"/>
                                        </p:tgtEl>
                                      </p:cBhvr>
                                    </p:animEffect>
                                    <p:animScale>
                                      <p:cBhvr>
                                        <p:cTn id="43" dur="770" decel="100000"/>
                                        <p:tgtEl>
                                          <p:spTgt spid="11"/>
                                        </p:tgtEl>
                                      </p:cBhvr>
                                      <p:from x="10000" y="10000"/>
                                      <p:to x="200000" y="450000"/>
                                    </p:animScale>
                                    <p:animScale>
                                      <p:cBhvr>
                                        <p:cTn id="44" dur="1230" accel="100000" fill="hold">
                                          <p:stCondLst>
                                            <p:cond delay="770"/>
                                          </p:stCondLst>
                                        </p:cTn>
                                        <p:tgtEl>
                                          <p:spTgt spid="11"/>
                                        </p:tgtEl>
                                      </p:cBhvr>
                                      <p:from x="200000" y="450000"/>
                                      <p:to x="100000" y="100000"/>
                                    </p:animScale>
                                    <p:set>
                                      <p:cBhvr>
                                        <p:cTn id="45" dur="770" fill="hold"/>
                                        <p:tgtEl>
                                          <p:spTgt spid="11"/>
                                        </p:tgtEl>
                                        <p:attrNameLst>
                                          <p:attrName>ppt_x</p:attrName>
                                        </p:attrNameLst>
                                      </p:cBhvr>
                                      <p:to>
                                        <p:strVal val="(0.5)"/>
                                      </p:to>
                                    </p:set>
                                    <p:anim from="(0.5)" to="(#ppt_x)" calcmode="lin" valueType="num">
                                      <p:cBhvr>
                                        <p:cTn id="46" dur="1230" accel="100000" fill="hold">
                                          <p:stCondLst>
                                            <p:cond delay="770"/>
                                          </p:stCondLst>
                                        </p:cTn>
                                        <p:tgtEl>
                                          <p:spTgt spid="11"/>
                                        </p:tgtEl>
                                        <p:attrNameLst>
                                          <p:attrName>ppt_x</p:attrName>
                                        </p:attrNameLst>
                                      </p:cBhvr>
                                    </p:anim>
                                    <p:set>
                                      <p:cBhvr>
                                        <p:cTn id="47" dur="770" fill="hold"/>
                                        <p:tgtEl>
                                          <p:spTgt spid="11"/>
                                        </p:tgtEl>
                                        <p:attrNameLst>
                                          <p:attrName>ppt_y</p:attrName>
                                        </p:attrNameLst>
                                      </p:cBhvr>
                                      <p:to>
                                        <p:strVal val="(#ppt_y+0.4)"/>
                                      </p:to>
                                    </p:set>
                                    <p:anim from="(#ppt_y+0.4)" to="(#ppt_y)" calcmode="lin" valueType="num">
                                      <p:cBhvr>
                                        <p:cTn id="48" dur="1230" accel="100000" fill="hold">
                                          <p:stCondLst>
                                            <p:cond delay="770"/>
                                          </p:stCondLst>
                                        </p:cTn>
                                        <p:tgtEl>
                                          <p:spTgt spid="11"/>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20477" y="1598866"/>
            <a:ext cx="9793088" cy="1569660"/>
          </a:xfrm>
          <a:prstGeom prst="rect">
            <a:avLst/>
          </a:prstGeom>
        </p:spPr>
        <p:txBody>
          <a:bodyPr wrap="square">
            <a:spAutoFit/>
          </a:bodyPr>
          <a:lstStyle/>
          <a:p>
            <a:r>
              <a:rPr lang="zh-CN" altLang="en-US" sz="2400" b="1" dirty="0">
                <a:solidFill>
                  <a:srgbClr val="121212"/>
                </a:solidFill>
                <a:latin typeface="-apple-system"/>
              </a:rPr>
              <a:t>由于原子能及火箭的发展，亟需大量核燃料及高纯度铀、稀土的化合物，这一需求促进了配位化学对有关分离、分析方法的研究。例如，用乙二胺四乙酸钠和稀土离子生成的配合物稳定性差，用离子交换技术，成功地分离性质极为相似的</a:t>
            </a:r>
            <a:r>
              <a:rPr lang="en-US" altLang="zh-CN" sz="2400" b="1" dirty="0">
                <a:solidFill>
                  <a:srgbClr val="121212"/>
                </a:solidFill>
                <a:latin typeface="-apple-system"/>
              </a:rPr>
              <a:t>13</a:t>
            </a:r>
            <a:r>
              <a:rPr lang="zh-CN" altLang="en-US" sz="2400" b="1" dirty="0">
                <a:solidFill>
                  <a:srgbClr val="121212"/>
                </a:solidFill>
                <a:latin typeface="-apple-system"/>
              </a:rPr>
              <a:t>个稀土元素，从而代替了传统的分级沉淀法。</a:t>
            </a:r>
            <a:endParaRPr lang="zh-CN" altLang="en-US" sz="2400" b="1" dirty="0"/>
          </a:p>
        </p:txBody>
      </p:sp>
      <p:grpSp>
        <p:nvGrpSpPr>
          <p:cNvPr id="5" name="PA_组合 9"/>
          <p:cNvGrpSpPr/>
          <p:nvPr>
            <p:custDataLst>
              <p:tags r:id="rId1"/>
            </p:custDataLst>
          </p:nvPr>
        </p:nvGrpSpPr>
        <p:grpSpPr>
          <a:xfrm>
            <a:off x="720477" y="863823"/>
            <a:ext cx="576064" cy="576064"/>
            <a:chOff x="2494238" y="1545926"/>
            <a:chExt cx="1170130" cy="1170130"/>
          </a:xfrm>
        </p:grpSpPr>
        <p:sp>
          <p:nvSpPr>
            <p:cNvPr id="6" name="椭圆 5"/>
            <p:cNvSpPr/>
            <p:nvPr/>
          </p:nvSpPr>
          <p:spPr>
            <a:xfrm>
              <a:off x="2494238" y="1545926"/>
              <a:ext cx="1170130" cy="1170130"/>
            </a:xfrm>
            <a:prstGeom prst="ellipse">
              <a:avLst/>
            </a:prstGeom>
            <a:gradFill flip="none" rotWithShape="1">
              <a:gsLst>
                <a:gs pos="100000">
                  <a:srgbClr val="FCFCFC"/>
                </a:gs>
                <a:gs pos="0">
                  <a:srgbClr val="CCCCCC"/>
                </a:gs>
              </a:gsLst>
              <a:lin ang="7200000" scaled="0"/>
              <a:tileRect/>
            </a:gradFill>
            <a:ln w="12700" cap="flat" cmpd="sng" algn="ctr">
              <a:gradFill>
                <a:gsLst>
                  <a:gs pos="89000">
                    <a:sysClr val="window" lastClr="FFFFFF">
                      <a:lumMod val="85000"/>
                    </a:sysClr>
                  </a:gs>
                  <a:gs pos="0">
                    <a:sysClr val="window" lastClr="FFFFFF"/>
                  </a:gs>
                </a:gsLst>
                <a:lin ang="7200000" scaled="0"/>
              </a:gradFill>
              <a:prstDash val="solid"/>
              <a:miter lim="800000"/>
            </a:ln>
            <a:effectLst>
              <a:outerShdw blurRad="254000" dist="127000" dir="8160000" algn="tr" rotWithShape="0">
                <a:prstClr val="black">
                  <a:alpha val="34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椭圆 6"/>
            <p:cNvSpPr/>
            <p:nvPr/>
          </p:nvSpPr>
          <p:spPr>
            <a:xfrm>
              <a:off x="2633023" y="1684711"/>
              <a:ext cx="892559" cy="892559"/>
            </a:xfrm>
            <a:prstGeom prst="ellipse">
              <a:avLst/>
            </a:prstGeom>
            <a:solidFill>
              <a:srgbClr val="0F6FC6"/>
            </a:solidFill>
            <a:ln w="12700" cap="flat" cmpd="sng" algn="ctr">
              <a:noFill/>
              <a:prstDash val="solid"/>
              <a:miter lim="800000"/>
            </a:ln>
            <a:effectLst>
              <a:innerShdw blurRad="63500" dist="50800" dir="18900000">
                <a:prstClr val="black">
                  <a:alpha val="34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9" name="矩形 8"/>
          <p:cNvSpPr/>
          <p:nvPr/>
        </p:nvSpPr>
        <p:spPr>
          <a:xfrm>
            <a:off x="1356234" y="934860"/>
            <a:ext cx="3587842" cy="461665"/>
          </a:xfrm>
          <a:prstGeom prst="rect">
            <a:avLst/>
          </a:prstGeom>
        </p:spPr>
        <p:txBody>
          <a:bodyPr wrap="square">
            <a:spAutoFit/>
          </a:bodyPr>
          <a:lstStyle/>
          <a:p>
            <a:r>
              <a:rPr lang="zh-CN" altLang="en-US" sz="2400" b="1" dirty="0">
                <a:solidFill>
                  <a:srgbClr val="121212"/>
                </a:solidFill>
                <a:latin typeface="楷体_GB2312"/>
              </a:rPr>
              <a:t>物质的分析、分离与提纯</a:t>
            </a:r>
            <a:endParaRPr lang="zh-CN" altLang="en-US" sz="2400" b="1" i="0" dirty="0">
              <a:solidFill>
                <a:srgbClr val="121212"/>
              </a:solidFill>
              <a:effectLst/>
              <a:latin typeface="楷体_GB231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509" y="3221746"/>
            <a:ext cx="2533217" cy="2598043"/>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9907" y="3210221"/>
            <a:ext cx="4032448" cy="2621091"/>
          </a:xfrm>
          <a:prstGeom prst="rect">
            <a:avLst/>
          </a:prstGeom>
        </p:spPr>
      </p:pic>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56981" y="5903665"/>
            <a:ext cx="3658300" cy="416110"/>
          </a:xfrm>
          <a:prstGeom prst="rect">
            <a:avLst/>
          </a:prstGeom>
        </p:spPr>
      </p:pic>
    </p:spTree>
    <p:extLst>
      <p:ext uri="{BB962C8B-B14F-4D97-AF65-F5344CB8AC3E}">
        <p14:creationId xmlns:p14="http://schemas.microsoft.com/office/powerpoint/2010/main" val="3460216336"/>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23" name="Rectangle 3"/>
          <p:cNvSpPr>
            <a:spLocks noChangeArrowheads="1"/>
          </p:cNvSpPr>
          <p:nvPr/>
        </p:nvSpPr>
        <p:spPr bwMode="auto">
          <a:xfrm>
            <a:off x="1315632" y="752940"/>
            <a:ext cx="3384091" cy="684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45000"/>
              </a:lnSpc>
            </a:pPr>
            <a:r>
              <a:rPr kumimoji="1" lang="en-US" altLang="zh-CN" sz="3024" b="1" dirty="0">
                <a:solidFill>
                  <a:srgbClr val="FF0000"/>
                </a:solidFill>
                <a:latin typeface="Times New Roman" panose="02020603050405020304" pitchFamily="18" charset="0"/>
              </a:rPr>
              <a:t>  </a:t>
            </a:r>
            <a:r>
              <a:rPr kumimoji="1" lang="zh-CN" altLang="en-US" sz="3024" b="1" dirty="0">
                <a:latin typeface="Times New Roman" panose="02020603050405020304" pitchFamily="18" charset="0"/>
              </a:rPr>
              <a:t>离子的鉴定 </a:t>
            </a:r>
          </a:p>
        </p:txBody>
      </p:sp>
      <p:sp>
        <p:nvSpPr>
          <p:cNvPr id="286724" name="Rectangle 4"/>
          <p:cNvSpPr>
            <a:spLocks noChangeArrowheads="1"/>
          </p:cNvSpPr>
          <p:nvPr/>
        </p:nvSpPr>
        <p:spPr bwMode="auto">
          <a:xfrm>
            <a:off x="450221" y="1287159"/>
            <a:ext cx="10783424" cy="1792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45000"/>
              </a:lnSpc>
            </a:pPr>
            <a:r>
              <a:rPr kumimoji="1" lang="zh-CN" altLang="en-US" sz="2646" b="1" dirty="0">
                <a:solidFill>
                  <a:srgbClr val="FF00FF"/>
                </a:solidFill>
                <a:latin typeface="Times New Roman" panose="02020603050405020304" pitchFamily="18" charset="0"/>
              </a:rPr>
              <a:t>形成有色配离子</a:t>
            </a:r>
            <a:r>
              <a:rPr kumimoji="1" lang="en-US" altLang="zh-CN" sz="2646" b="1" dirty="0">
                <a:latin typeface="Times New Roman" panose="02020603050405020304" pitchFamily="18" charset="0"/>
              </a:rPr>
              <a:t>: </a:t>
            </a:r>
            <a:r>
              <a:rPr kumimoji="1" lang="zh-CN" altLang="en-US" sz="2646" b="1" dirty="0">
                <a:latin typeface="Times New Roman" panose="02020603050405020304" pitchFamily="18" charset="0"/>
              </a:rPr>
              <a:t>例如在溶液中</a:t>
            </a:r>
            <a:r>
              <a:rPr kumimoji="1" lang="en-US" altLang="zh-CN" sz="2646" b="1" dirty="0">
                <a:latin typeface="Times New Roman" panose="02020603050405020304" pitchFamily="18" charset="0"/>
              </a:rPr>
              <a:t>NH</a:t>
            </a:r>
            <a:r>
              <a:rPr kumimoji="1" lang="en-US" altLang="zh-CN" sz="2646" b="1" baseline="-25000" dirty="0">
                <a:latin typeface="Times New Roman" panose="02020603050405020304" pitchFamily="18" charset="0"/>
              </a:rPr>
              <a:t>3</a:t>
            </a:r>
            <a:r>
              <a:rPr kumimoji="1" lang="zh-CN" altLang="en-US" sz="2646" b="1" dirty="0">
                <a:latin typeface="Times New Roman" panose="02020603050405020304" pitchFamily="18" charset="0"/>
              </a:rPr>
              <a:t>与</a:t>
            </a:r>
            <a:r>
              <a:rPr kumimoji="1" lang="en-US" altLang="zh-CN" sz="2646" b="1" dirty="0">
                <a:latin typeface="Times New Roman" panose="02020603050405020304" pitchFamily="18" charset="0"/>
              </a:rPr>
              <a:t>Cu </a:t>
            </a:r>
            <a:r>
              <a:rPr kumimoji="1" lang="en-US" altLang="zh-CN" sz="2646" b="1" baseline="30000" dirty="0">
                <a:latin typeface="Times New Roman" panose="02020603050405020304" pitchFamily="18" charset="0"/>
              </a:rPr>
              <a:t>2+</a:t>
            </a:r>
            <a:r>
              <a:rPr kumimoji="1" lang="zh-CN" altLang="en-US" sz="2646" b="1" dirty="0">
                <a:latin typeface="Times New Roman" panose="02020603050405020304" pitchFamily="18" charset="0"/>
              </a:rPr>
              <a:t>能形成深蓝色的</a:t>
            </a:r>
            <a:r>
              <a:rPr kumimoji="1" lang="en-US" altLang="zh-CN" sz="2646" b="1" dirty="0">
                <a:latin typeface="Times New Roman" panose="02020603050405020304" pitchFamily="18" charset="0"/>
              </a:rPr>
              <a:t>[Cu(NH</a:t>
            </a:r>
            <a:r>
              <a:rPr kumimoji="1" lang="en-US" altLang="zh-CN" sz="2646" b="1" baseline="-25000" dirty="0">
                <a:latin typeface="Times New Roman" panose="02020603050405020304" pitchFamily="18" charset="0"/>
              </a:rPr>
              <a:t>3</a:t>
            </a:r>
            <a:r>
              <a:rPr kumimoji="1" lang="en-US" altLang="zh-CN" sz="2646" b="1" dirty="0">
                <a:latin typeface="Times New Roman" panose="02020603050405020304" pitchFamily="18" charset="0"/>
              </a:rPr>
              <a:t>)</a:t>
            </a:r>
            <a:r>
              <a:rPr kumimoji="1" lang="en-US" altLang="zh-CN" sz="2646" b="1" baseline="-25000" dirty="0">
                <a:latin typeface="Times New Roman" panose="02020603050405020304" pitchFamily="18" charset="0"/>
              </a:rPr>
              <a:t>4</a:t>
            </a:r>
            <a:r>
              <a:rPr kumimoji="1" lang="en-US" altLang="zh-CN" sz="2646" b="1" dirty="0">
                <a:latin typeface="Times New Roman" panose="02020603050405020304" pitchFamily="18" charset="0"/>
              </a:rPr>
              <a:t>] </a:t>
            </a:r>
            <a:r>
              <a:rPr kumimoji="1" lang="en-US" altLang="zh-CN" sz="2646" b="1" baseline="30000" dirty="0">
                <a:latin typeface="Times New Roman" panose="02020603050405020304" pitchFamily="18" charset="0"/>
              </a:rPr>
              <a:t>2+</a:t>
            </a:r>
            <a:r>
              <a:rPr kumimoji="1" lang="zh-CN" altLang="en-US" sz="2646" b="1" dirty="0">
                <a:latin typeface="Times New Roman" panose="02020603050405020304" pitchFamily="18" charset="0"/>
              </a:rPr>
              <a:t>，藉此配位反应可鉴定</a:t>
            </a:r>
            <a:r>
              <a:rPr kumimoji="1" lang="en-US" altLang="zh-CN" sz="2646" b="1" dirty="0">
                <a:latin typeface="Times New Roman" panose="02020603050405020304" pitchFamily="18" charset="0"/>
              </a:rPr>
              <a:t>Cu </a:t>
            </a:r>
            <a:r>
              <a:rPr kumimoji="1" lang="en-US" altLang="zh-CN" sz="2646" b="1" baseline="30000" dirty="0">
                <a:latin typeface="Times New Roman" panose="02020603050405020304" pitchFamily="18" charset="0"/>
              </a:rPr>
              <a:t>2+</a:t>
            </a:r>
            <a:r>
              <a:rPr kumimoji="1" lang="en-US" altLang="zh-CN" sz="2646" b="1" dirty="0">
                <a:latin typeface="Times New Roman" panose="02020603050405020304" pitchFamily="18" charset="0"/>
              </a:rPr>
              <a:t> </a:t>
            </a:r>
            <a:r>
              <a:rPr kumimoji="1" lang="zh-CN" altLang="en-US" sz="2646" b="1" dirty="0">
                <a:latin typeface="Times New Roman" panose="02020603050405020304" pitchFamily="18" charset="0"/>
              </a:rPr>
              <a:t>。而</a:t>
            </a:r>
            <a:r>
              <a:rPr kumimoji="1" lang="en-US" altLang="zh-CN" sz="2646" b="1" dirty="0">
                <a:latin typeface="Times New Roman" panose="02020603050405020304" pitchFamily="18" charset="0"/>
              </a:rPr>
              <a:t>[Fe(SCN)</a:t>
            </a:r>
            <a:r>
              <a:rPr kumimoji="1" lang="en-US" altLang="zh-CN" sz="2646" b="1" baseline="-25000" dirty="0">
                <a:latin typeface="Times New Roman" panose="02020603050405020304" pitchFamily="18" charset="0"/>
              </a:rPr>
              <a:t>6</a:t>
            </a:r>
            <a:r>
              <a:rPr kumimoji="1" lang="en-US" altLang="zh-CN" sz="2646" b="1" dirty="0">
                <a:latin typeface="Times New Roman" panose="02020603050405020304" pitchFamily="18" charset="0"/>
              </a:rPr>
              <a:t>]</a:t>
            </a:r>
            <a:r>
              <a:rPr kumimoji="1" lang="en-US" altLang="zh-CN" sz="2646" b="1" baseline="30000" dirty="0">
                <a:latin typeface="Times New Roman" panose="02020603050405020304" pitchFamily="18" charset="0"/>
              </a:rPr>
              <a:t>3-</a:t>
            </a:r>
            <a:r>
              <a:rPr kumimoji="1" lang="zh-CN" altLang="en-US" sz="2646" b="1" dirty="0">
                <a:latin typeface="Times New Roman" panose="02020603050405020304" pitchFamily="18" charset="0"/>
              </a:rPr>
              <a:t>呈现血红色 </a:t>
            </a:r>
          </a:p>
        </p:txBody>
      </p:sp>
      <p:sp>
        <p:nvSpPr>
          <p:cNvPr id="286725" name="Rectangle 5"/>
          <p:cNvSpPr>
            <a:spLocks noChangeArrowheads="1"/>
          </p:cNvSpPr>
          <p:nvPr/>
        </p:nvSpPr>
        <p:spPr bwMode="auto">
          <a:xfrm>
            <a:off x="432445" y="3160428"/>
            <a:ext cx="10441160" cy="239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45000"/>
              </a:lnSpc>
            </a:pPr>
            <a:r>
              <a:rPr kumimoji="1" lang="zh-CN" altLang="en-US" sz="2646" b="1" dirty="0">
                <a:solidFill>
                  <a:srgbClr val="FF00FF"/>
                </a:solidFill>
                <a:latin typeface="Times New Roman" panose="02020603050405020304" pitchFamily="18" charset="0"/>
              </a:rPr>
              <a:t>形成难溶有色配合物</a:t>
            </a:r>
            <a:r>
              <a:rPr kumimoji="1" lang="zh-CN" altLang="en-US" sz="2646" b="1" dirty="0">
                <a:latin typeface="Times New Roman" panose="02020603050405020304" pitchFamily="18" charset="0"/>
              </a:rPr>
              <a:t>：例如丁二肟在弱碱性介质中与</a:t>
            </a:r>
            <a:r>
              <a:rPr kumimoji="1" lang="en-US" altLang="zh-CN" sz="2646" b="1" dirty="0">
                <a:latin typeface="Times New Roman" panose="02020603050405020304" pitchFamily="18" charset="0"/>
              </a:rPr>
              <a:t>Ni </a:t>
            </a:r>
            <a:r>
              <a:rPr kumimoji="1" lang="en-US" altLang="zh-CN" sz="2646" b="1" baseline="30000" dirty="0">
                <a:latin typeface="Times New Roman" panose="02020603050405020304" pitchFamily="18" charset="0"/>
              </a:rPr>
              <a:t>2+</a:t>
            </a:r>
            <a:r>
              <a:rPr kumimoji="1" lang="zh-CN" altLang="en-US" sz="2646" b="1" dirty="0">
                <a:latin typeface="Times New Roman" panose="02020603050405020304" pitchFamily="18" charset="0"/>
              </a:rPr>
              <a:t>可形成</a:t>
            </a:r>
            <a:r>
              <a:rPr kumimoji="1" lang="zh-CN" altLang="en-US" sz="2646" b="1" dirty="0">
                <a:solidFill>
                  <a:srgbClr val="FF3300"/>
                </a:solidFill>
                <a:latin typeface="Times New Roman" panose="02020603050405020304" pitchFamily="18" charset="0"/>
              </a:rPr>
              <a:t>鲜红色难溶</a:t>
            </a:r>
            <a:r>
              <a:rPr kumimoji="1" lang="zh-CN" altLang="en-US" sz="2646" b="1" dirty="0">
                <a:latin typeface="Times New Roman" panose="02020603050405020304" pitchFamily="18" charset="0"/>
              </a:rPr>
              <a:t>的二</a:t>
            </a:r>
            <a:r>
              <a:rPr kumimoji="1" lang="en-US" altLang="zh-CN" sz="2646" b="1" dirty="0">
                <a:latin typeface="Times New Roman" panose="02020603050405020304" pitchFamily="18" charset="0"/>
              </a:rPr>
              <a:t>(</a:t>
            </a:r>
            <a:r>
              <a:rPr kumimoji="1" lang="zh-CN" altLang="en-US" sz="2646" b="1" dirty="0">
                <a:latin typeface="Times New Roman" panose="02020603050405020304" pitchFamily="18" charset="0"/>
              </a:rPr>
              <a:t>丁二肟</a:t>
            </a:r>
            <a:r>
              <a:rPr kumimoji="1" lang="en-US" altLang="zh-CN" sz="2646" b="1" dirty="0">
                <a:latin typeface="Times New Roman" panose="02020603050405020304" pitchFamily="18" charset="0"/>
              </a:rPr>
              <a:t>)</a:t>
            </a:r>
            <a:r>
              <a:rPr kumimoji="1" lang="zh-CN" altLang="en-US" sz="2646" b="1" dirty="0">
                <a:latin typeface="Times New Roman" panose="02020603050405020304" pitchFamily="18" charset="0"/>
              </a:rPr>
              <a:t>合镍</a:t>
            </a:r>
            <a:r>
              <a:rPr kumimoji="1" lang="en-US" altLang="zh-CN" sz="2646" b="1" dirty="0">
                <a:latin typeface="Times New Roman" panose="02020603050405020304" pitchFamily="18" charset="0"/>
              </a:rPr>
              <a:t>(Ⅱ)</a:t>
            </a:r>
            <a:r>
              <a:rPr kumimoji="1" lang="zh-CN" altLang="en-US" sz="2646" b="1" dirty="0">
                <a:latin typeface="Times New Roman" panose="02020603050405020304" pitchFamily="18" charset="0"/>
              </a:rPr>
              <a:t>沉淀（</a:t>
            </a:r>
            <a:r>
              <a:rPr kumimoji="1" lang="zh-CN" altLang="en-US" sz="2646" b="1" dirty="0"/>
              <a:t>称为</a:t>
            </a:r>
            <a:r>
              <a:rPr kumimoji="1" lang="en-US" altLang="zh-CN" sz="2646" b="1" dirty="0"/>
              <a:t>HDMG</a:t>
            </a:r>
            <a:r>
              <a:rPr kumimoji="1" lang="zh-CN" altLang="en-US" sz="2646" b="1" dirty="0"/>
              <a:t>）</a:t>
            </a:r>
            <a:r>
              <a:rPr kumimoji="1" lang="zh-CN" altLang="en-US" sz="2646" dirty="0"/>
              <a:t> </a:t>
            </a:r>
            <a:r>
              <a:rPr kumimoji="1" lang="en-US" altLang="zh-CN" sz="2646" b="1" dirty="0">
                <a:latin typeface="Times New Roman" panose="02020603050405020304" pitchFamily="18" charset="0"/>
              </a:rPr>
              <a:t>, </a:t>
            </a:r>
            <a:r>
              <a:rPr kumimoji="1" lang="zh-CN" altLang="en-US" sz="2646" b="1" dirty="0">
                <a:latin typeface="Times New Roman" panose="02020603050405020304" pitchFamily="18" charset="0"/>
              </a:rPr>
              <a:t>藉此以鉴定</a:t>
            </a:r>
            <a:r>
              <a:rPr kumimoji="1" lang="en-US" altLang="zh-CN" sz="2646" b="1" dirty="0">
                <a:latin typeface="Times New Roman" panose="02020603050405020304" pitchFamily="18" charset="0"/>
              </a:rPr>
              <a:t>Ni </a:t>
            </a:r>
            <a:r>
              <a:rPr kumimoji="1" lang="en-US" altLang="zh-CN" sz="2646" b="1" baseline="30000" dirty="0">
                <a:latin typeface="Times New Roman" panose="02020603050405020304" pitchFamily="18" charset="0"/>
              </a:rPr>
              <a:t>2+</a:t>
            </a:r>
            <a:r>
              <a:rPr kumimoji="1" lang="zh-CN" altLang="en-US" sz="2646" b="1" dirty="0">
                <a:latin typeface="Times New Roman" panose="02020603050405020304" pitchFamily="18" charset="0"/>
              </a:rPr>
              <a:t>，也可用于</a:t>
            </a:r>
            <a:r>
              <a:rPr kumimoji="1" lang="en-US" altLang="zh-CN" sz="2646" b="1" dirty="0">
                <a:latin typeface="Times New Roman" panose="02020603050405020304" pitchFamily="18" charset="0"/>
              </a:rPr>
              <a:t>Ni </a:t>
            </a:r>
            <a:r>
              <a:rPr kumimoji="1" lang="en-US" altLang="zh-CN" sz="2646" b="1" baseline="30000" dirty="0">
                <a:latin typeface="Times New Roman" panose="02020603050405020304" pitchFamily="18" charset="0"/>
              </a:rPr>
              <a:t>2+</a:t>
            </a:r>
            <a:r>
              <a:rPr kumimoji="1" lang="zh-CN" altLang="en-US" sz="2646" b="1" dirty="0">
                <a:latin typeface="Times New Roman" panose="02020603050405020304" pitchFamily="18" charset="0"/>
              </a:rPr>
              <a:t>的测定。</a:t>
            </a:r>
          </a:p>
        </p:txBody>
      </p:sp>
      <p:grpSp>
        <p:nvGrpSpPr>
          <p:cNvPr id="6" name="PA_组合 9"/>
          <p:cNvGrpSpPr/>
          <p:nvPr>
            <p:custDataLst>
              <p:tags r:id="rId1"/>
            </p:custDataLst>
          </p:nvPr>
        </p:nvGrpSpPr>
        <p:grpSpPr>
          <a:xfrm>
            <a:off x="720477" y="863823"/>
            <a:ext cx="576064" cy="576064"/>
            <a:chOff x="2494238" y="1545926"/>
            <a:chExt cx="1170130" cy="1170130"/>
          </a:xfrm>
        </p:grpSpPr>
        <p:sp>
          <p:nvSpPr>
            <p:cNvPr id="7" name="椭圆 6"/>
            <p:cNvSpPr/>
            <p:nvPr/>
          </p:nvSpPr>
          <p:spPr>
            <a:xfrm>
              <a:off x="2494238" y="1545926"/>
              <a:ext cx="1170130" cy="1170130"/>
            </a:xfrm>
            <a:prstGeom prst="ellipse">
              <a:avLst/>
            </a:prstGeom>
            <a:gradFill flip="none" rotWithShape="1">
              <a:gsLst>
                <a:gs pos="100000">
                  <a:srgbClr val="FCFCFC"/>
                </a:gs>
                <a:gs pos="0">
                  <a:srgbClr val="CCCCCC"/>
                </a:gs>
              </a:gsLst>
              <a:lin ang="7200000" scaled="0"/>
              <a:tileRect/>
            </a:gradFill>
            <a:ln w="12700" cap="flat" cmpd="sng" algn="ctr">
              <a:gradFill>
                <a:gsLst>
                  <a:gs pos="89000">
                    <a:sysClr val="window" lastClr="FFFFFF">
                      <a:lumMod val="85000"/>
                    </a:sysClr>
                  </a:gs>
                  <a:gs pos="0">
                    <a:sysClr val="window" lastClr="FFFFFF"/>
                  </a:gs>
                </a:gsLst>
                <a:lin ang="7200000" scaled="0"/>
              </a:gradFill>
              <a:prstDash val="solid"/>
              <a:miter lim="800000"/>
            </a:ln>
            <a:effectLst>
              <a:outerShdw blurRad="254000" dist="127000" dir="8160000" algn="tr" rotWithShape="0">
                <a:prstClr val="black">
                  <a:alpha val="34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椭圆 7"/>
            <p:cNvSpPr/>
            <p:nvPr/>
          </p:nvSpPr>
          <p:spPr>
            <a:xfrm>
              <a:off x="2633023" y="1684711"/>
              <a:ext cx="892559" cy="892559"/>
            </a:xfrm>
            <a:prstGeom prst="ellipse">
              <a:avLst/>
            </a:prstGeom>
            <a:solidFill>
              <a:srgbClr val="0F6FC6"/>
            </a:solidFill>
            <a:ln w="12700" cap="flat" cmpd="sng" algn="ctr">
              <a:noFill/>
              <a:prstDash val="solid"/>
              <a:miter lim="800000"/>
            </a:ln>
            <a:effectLst>
              <a:innerShdw blurRad="63500" dist="50800" dir="18900000">
                <a:prstClr val="black">
                  <a:alpha val="34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3024127782"/>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6723"/>
                                        </p:tgtEl>
                                        <p:attrNameLst>
                                          <p:attrName>style.visibility</p:attrName>
                                        </p:attrNameLst>
                                      </p:cBhvr>
                                      <p:to>
                                        <p:strVal val="visible"/>
                                      </p:to>
                                    </p:set>
                                    <p:anim calcmode="lin" valueType="num">
                                      <p:cBhvr additive="base">
                                        <p:cTn id="7" dur="500" fill="hold"/>
                                        <p:tgtEl>
                                          <p:spTgt spid="286723"/>
                                        </p:tgtEl>
                                        <p:attrNameLst>
                                          <p:attrName>ppt_x</p:attrName>
                                        </p:attrNameLst>
                                      </p:cBhvr>
                                      <p:tavLst>
                                        <p:tav tm="0">
                                          <p:val>
                                            <p:strVal val="0-#ppt_w/2"/>
                                          </p:val>
                                        </p:tav>
                                        <p:tav tm="100000">
                                          <p:val>
                                            <p:strVal val="#ppt_x"/>
                                          </p:val>
                                        </p:tav>
                                      </p:tavLst>
                                    </p:anim>
                                    <p:anim calcmode="lin" valueType="num">
                                      <p:cBhvr additive="base">
                                        <p:cTn id="8" dur="500" fill="hold"/>
                                        <p:tgtEl>
                                          <p:spTgt spid="28672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6724">
                                            <p:txEl>
                                              <p:pRg st="0" end="0"/>
                                            </p:txEl>
                                          </p:spTgt>
                                        </p:tgtEl>
                                        <p:attrNameLst>
                                          <p:attrName>style.visibility</p:attrName>
                                        </p:attrNameLst>
                                      </p:cBhvr>
                                      <p:to>
                                        <p:strVal val="visible"/>
                                      </p:to>
                                    </p:set>
                                    <p:anim calcmode="lin" valueType="num">
                                      <p:cBhvr additive="base">
                                        <p:cTn id="13" dur="500" fill="hold"/>
                                        <p:tgtEl>
                                          <p:spTgt spid="286724">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867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86725">
                                            <p:txEl>
                                              <p:pRg st="0" end="0"/>
                                            </p:txEl>
                                          </p:spTgt>
                                        </p:tgtEl>
                                        <p:attrNameLst>
                                          <p:attrName>style.visibility</p:attrName>
                                        </p:attrNameLst>
                                      </p:cBhvr>
                                      <p:to>
                                        <p:strVal val="visible"/>
                                      </p:to>
                                    </p:set>
                                    <p:anim calcmode="lin" valueType="num">
                                      <p:cBhvr additive="base">
                                        <p:cTn id="19" dur="500" fill="hold"/>
                                        <p:tgtEl>
                                          <p:spTgt spid="286725">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86725">
                                            <p:txEl>
                                              <p:pRg st="0" end="0"/>
                                            </p:txEl>
                                          </p:spTgt>
                                        </p:tgtEl>
                                        <p:attrNameLst>
                                          <p:attrName>ppt_y</p:attrName>
                                        </p:attrNameLst>
                                      </p:cBhvr>
                                      <p:tavLst>
                                        <p:tav tm="0">
                                          <p:val>
                                            <p:strVal val="#ppt_y"/>
                                          </p:val>
                                        </p:tav>
                                        <p:tav tm="100000">
                                          <p:val>
                                            <p:strVal val="#ppt_y"/>
                                          </p:val>
                                        </p:tav>
                                      </p:tavLst>
                                    </p:anim>
                                  </p:childTnLst>
                                </p:cTn>
                              </p:par>
                              <p:par>
                                <p:cTn id="21" presetID="10" presetClass="entr" presetSubtype="0" fill="hold" nodeType="withEffect">
                                  <p:stCondLst>
                                    <p:cond delay="3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3" grpId="0" autoUpdateAnimBg="0"/>
      <p:bldP spid="286724" grpId="0" build="p" autoUpdateAnimBg="0"/>
      <p:bldP spid="286725"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论文用图.jpg"/>
          <p:cNvPicPr/>
          <p:nvPr/>
        </p:nvPicPr>
        <p:blipFill>
          <a:blip r:embed="rId2">
            <a:extLst>
              <a:ext uri="{28A0092B-C50C-407E-A947-70E740481C1C}">
                <a14:useLocalDpi xmlns:a14="http://schemas.microsoft.com/office/drawing/2010/main" val="0"/>
              </a:ext>
            </a:extLst>
          </a:blip>
          <a:srcRect/>
          <a:stretch>
            <a:fillRect/>
          </a:stretch>
        </p:blipFill>
        <p:spPr bwMode="auto">
          <a:xfrm>
            <a:off x="2808709" y="2746643"/>
            <a:ext cx="6840760" cy="3024336"/>
          </a:xfrm>
          <a:prstGeom prst="rect">
            <a:avLst/>
          </a:prstGeom>
          <a:noFill/>
          <a:ln>
            <a:noFill/>
          </a:ln>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6581" y="143743"/>
            <a:ext cx="8568952" cy="2602900"/>
          </a:xfrm>
          <a:prstGeom prst="rect">
            <a:avLst/>
          </a:prstGeom>
        </p:spPr>
      </p:pic>
    </p:spTree>
    <p:extLst>
      <p:ext uri="{BB962C8B-B14F-4D97-AF65-F5344CB8AC3E}">
        <p14:creationId xmlns:p14="http://schemas.microsoft.com/office/powerpoint/2010/main" val="3819651967"/>
      </p:ext>
    </p:extLst>
  </p:cSld>
  <p:clrMapOvr>
    <a:masterClrMapping/>
  </p:clrMapOvr>
  <p:transition spd="slow">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ChangeArrowheads="1"/>
          </p:cNvSpPr>
          <p:nvPr/>
        </p:nvSpPr>
        <p:spPr bwMode="auto">
          <a:xfrm>
            <a:off x="737815" y="1508900"/>
            <a:ext cx="9073008" cy="12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45000"/>
              </a:lnSpc>
            </a:pPr>
            <a:r>
              <a:rPr kumimoji="1" lang="zh-CN" altLang="en-US" sz="2800" b="1" dirty="0">
                <a:latin typeface="Times New Roman" panose="02020603050405020304" pitchFamily="18" charset="0"/>
              </a:rPr>
              <a:t>例</a:t>
            </a:r>
            <a:r>
              <a:rPr kumimoji="1" lang="en-US" altLang="zh-CN" sz="2800" b="1" dirty="0">
                <a:latin typeface="Times New Roman" panose="02020603050405020304" pitchFamily="18" charset="0"/>
              </a:rPr>
              <a:t>Cu</a:t>
            </a:r>
            <a:r>
              <a:rPr kumimoji="1" lang="en-US" altLang="zh-CN" sz="2800" b="1" baseline="30000" dirty="0">
                <a:latin typeface="Times New Roman" panose="02020603050405020304" pitchFamily="18" charset="0"/>
              </a:rPr>
              <a:t>2+</a:t>
            </a:r>
            <a:r>
              <a:rPr kumimoji="1" lang="zh-CN" altLang="en-US" sz="2800" b="1" dirty="0">
                <a:latin typeface="Times New Roman" panose="02020603050405020304" pitchFamily="18" charset="0"/>
              </a:rPr>
              <a:t>和</a:t>
            </a:r>
            <a:r>
              <a:rPr kumimoji="1" lang="en-US" altLang="zh-CN" sz="2800" b="1" dirty="0">
                <a:latin typeface="Times New Roman" panose="02020603050405020304" pitchFamily="18" charset="0"/>
              </a:rPr>
              <a:t>Fe</a:t>
            </a:r>
            <a:r>
              <a:rPr kumimoji="1" lang="en-US" altLang="zh-CN" sz="2800" b="1" baseline="30000" dirty="0">
                <a:latin typeface="Times New Roman" panose="02020603050405020304" pitchFamily="18" charset="0"/>
              </a:rPr>
              <a:t>3+</a:t>
            </a:r>
            <a:r>
              <a:rPr kumimoji="1" lang="zh-CN" altLang="en-US" sz="2800" b="1" dirty="0">
                <a:latin typeface="Times New Roman" panose="02020603050405020304" pitchFamily="18" charset="0"/>
              </a:rPr>
              <a:t>都会氧化</a:t>
            </a:r>
            <a:r>
              <a:rPr kumimoji="1" lang="en-US" altLang="zh-CN" sz="2800" b="1" dirty="0">
                <a:latin typeface="Times New Roman" panose="02020603050405020304" pitchFamily="18" charset="0"/>
              </a:rPr>
              <a:t>I</a:t>
            </a:r>
            <a:r>
              <a:rPr kumimoji="1" lang="en-US" altLang="zh-CN" sz="2800" b="1" baseline="30000" dirty="0">
                <a:latin typeface="Times New Roman" panose="02020603050405020304" pitchFamily="18" charset="0"/>
              </a:rPr>
              <a:t>-</a:t>
            </a:r>
            <a:r>
              <a:rPr kumimoji="1" lang="zh-CN" altLang="en-US" sz="2800" b="1" dirty="0">
                <a:latin typeface="Times New Roman" panose="02020603050405020304" pitchFamily="18" charset="0"/>
              </a:rPr>
              <a:t>离子成为</a:t>
            </a:r>
            <a:r>
              <a:rPr kumimoji="1" lang="en-US" altLang="zh-CN" sz="2800" b="1" dirty="0">
                <a:latin typeface="Times New Roman" panose="02020603050405020304" pitchFamily="18" charset="0"/>
              </a:rPr>
              <a:t>I</a:t>
            </a:r>
            <a:r>
              <a:rPr kumimoji="1" lang="en-US" altLang="zh-CN" sz="2800" b="1" baseline="-25000" dirty="0">
                <a:latin typeface="Times New Roman" panose="02020603050405020304" pitchFamily="18" charset="0"/>
              </a:rPr>
              <a:t>2</a:t>
            </a:r>
            <a:r>
              <a:rPr kumimoji="1" lang="zh-CN" altLang="en-US" sz="2800" b="1" dirty="0">
                <a:latin typeface="Times New Roman" panose="02020603050405020304" pitchFamily="18" charset="0"/>
              </a:rPr>
              <a:t>。加入</a:t>
            </a:r>
            <a:r>
              <a:rPr kumimoji="1" lang="en-US" altLang="zh-CN" sz="2800" b="1" dirty="0">
                <a:latin typeface="Times New Roman" panose="02020603050405020304" pitchFamily="18" charset="0"/>
              </a:rPr>
              <a:t>F</a:t>
            </a:r>
            <a:r>
              <a:rPr kumimoji="1" lang="en-US" altLang="zh-CN" sz="2800" b="1" baseline="30000" dirty="0">
                <a:latin typeface="Times New Roman" panose="02020603050405020304" pitchFamily="18" charset="0"/>
              </a:rPr>
              <a:t>-</a:t>
            </a:r>
            <a:r>
              <a:rPr kumimoji="1" lang="zh-CN" altLang="en-US" sz="2800" b="1" dirty="0">
                <a:latin typeface="Times New Roman" panose="02020603050405020304" pitchFamily="18" charset="0"/>
              </a:rPr>
              <a:t>或</a:t>
            </a:r>
            <a:r>
              <a:rPr kumimoji="1" lang="en-US" altLang="zh-CN" sz="2800" b="1" dirty="0">
                <a:latin typeface="Times New Roman" panose="02020603050405020304" pitchFamily="18" charset="0"/>
              </a:rPr>
              <a:t>PO</a:t>
            </a:r>
            <a:r>
              <a:rPr kumimoji="1" lang="en-US" altLang="zh-CN" sz="2800" b="1" baseline="-25000" dirty="0">
                <a:latin typeface="Times New Roman" panose="02020603050405020304" pitchFamily="18" charset="0"/>
              </a:rPr>
              <a:t>4</a:t>
            </a:r>
            <a:r>
              <a:rPr kumimoji="1" lang="en-US" altLang="zh-CN" sz="2800" b="1" baseline="30000" dirty="0">
                <a:latin typeface="Times New Roman" panose="02020603050405020304" pitchFamily="18" charset="0"/>
              </a:rPr>
              <a:t>3-</a:t>
            </a:r>
            <a:r>
              <a:rPr kumimoji="1" lang="zh-CN" altLang="en-US" sz="2800" b="1" dirty="0">
                <a:latin typeface="Times New Roman" panose="02020603050405020304" pitchFamily="18" charset="0"/>
              </a:rPr>
              <a:t>防止</a:t>
            </a:r>
            <a:r>
              <a:rPr kumimoji="1" lang="en-US" altLang="zh-CN" sz="2800" b="1" dirty="0">
                <a:latin typeface="Times New Roman" panose="02020603050405020304" pitchFamily="18" charset="0"/>
              </a:rPr>
              <a:t>Fe</a:t>
            </a:r>
            <a:r>
              <a:rPr kumimoji="1" lang="en-US" altLang="zh-CN" sz="2800" b="1" baseline="30000" dirty="0">
                <a:latin typeface="Times New Roman" panose="02020603050405020304" pitchFamily="18" charset="0"/>
              </a:rPr>
              <a:t>3+</a:t>
            </a:r>
            <a:r>
              <a:rPr kumimoji="1" lang="zh-CN" altLang="en-US" sz="2800" b="1" dirty="0">
                <a:latin typeface="Times New Roman" panose="02020603050405020304" pitchFamily="18" charset="0"/>
              </a:rPr>
              <a:t>的干扰。</a:t>
            </a:r>
            <a:endParaRPr kumimoji="1" lang="zh-CN" altLang="en-US" sz="2800" b="1" dirty="0">
              <a:solidFill>
                <a:srgbClr val="FF0000"/>
              </a:solidFill>
              <a:latin typeface="Times New Roman" panose="02020603050405020304" pitchFamily="18" charset="0"/>
            </a:endParaRPr>
          </a:p>
        </p:txBody>
      </p:sp>
      <p:sp>
        <p:nvSpPr>
          <p:cNvPr id="287747" name="Rectangle 3"/>
          <p:cNvSpPr>
            <a:spLocks noChangeArrowheads="1"/>
          </p:cNvSpPr>
          <p:nvPr/>
        </p:nvSpPr>
        <p:spPr bwMode="auto">
          <a:xfrm>
            <a:off x="720477" y="3888159"/>
            <a:ext cx="10297144" cy="1227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40000"/>
              </a:lnSpc>
            </a:pPr>
            <a:r>
              <a:rPr kumimoji="1" lang="zh-CN" altLang="en-US" sz="2800" b="1" dirty="0">
                <a:latin typeface="Times New Roman" panose="02020603050405020304" pitchFamily="18" charset="0"/>
              </a:rPr>
              <a:t>内络盐难溶于水，易溶于有机溶剂，因此可将某些金属离子从水溶液中萃取到有机溶剂中，从而达到分离金属的目的。</a:t>
            </a:r>
          </a:p>
        </p:txBody>
      </p:sp>
      <p:grpSp>
        <p:nvGrpSpPr>
          <p:cNvPr id="4" name="PA_组合 9"/>
          <p:cNvGrpSpPr/>
          <p:nvPr>
            <p:custDataLst>
              <p:tags r:id="rId1"/>
            </p:custDataLst>
          </p:nvPr>
        </p:nvGrpSpPr>
        <p:grpSpPr>
          <a:xfrm>
            <a:off x="720477" y="863823"/>
            <a:ext cx="576064" cy="576064"/>
            <a:chOff x="2494238" y="1545926"/>
            <a:chExt cx="1170130" cy="1170130"/>
          </a:xfrm>
        </p:grpSpPr>
        <p:sp>
          <p:nvSpPr>
            <p:cNvPr id="5" name="椭圆 4"/>
            <p:cNvSpPr/>
            <p:nvPr/>
          </p:nvSpPr>
          <p:spPr>
            <a:xfrm>
              <a:off x="2494238" y="1545926"/>
              <a:ext cx="1170130" cy="1170130"/>
            </a:xfrm>
            <a:prstGeom prst="ellipse">
              <a:avLst/>
            </a:prstGeom>
            <a:gradFill flip="none" rotWithShape="1">
              <a:gsLst>
                <a:gs pos="100000">
                  <a:srgbClr val="FCFCFC"/>
                </a:gs>
                <a:gs pos="0">
                  <a:srgbClr val="CCCCCC"/>
                </a:gs>
              </a:gsLst>
              <a:lin ang="7200000" scaled="0"/>
              <a:tileRect/>
            </a:gradFill>
            <a:ln w="12700" cap="flat" cmpd="sng" algn="ctr">
              <a:gradFill>
                <a:gsLst>
                  <a:gs pos="89000">
                    <a:sysClr val="window" lastClr="FFFFFF">
                      <a:lumMod val="85000"/>
                    </a:sysClr>
                  </a:gs>
                  <a:gs pos="0">
                    <a:sysClr val="window" lastClr="FFFFFF"/>
                  </a:gs>
                </a:gsLst>
                <a:lin ang="7200000" scaled="0"/>
              </a:gradFill>
              <a:prstDash val="solid"/>
              <a:miter lim="800000"/>
            </a:ln>
            <a:effectLst>
              <a:outerShdw blurRad="254000" dist="127000" dir="8160000" algn="tr" rotWithShape="0">
                <a:prstClr val="black">
                  <a:alpha val="34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椭圆 5"/>
            <p:cNvSpPr/>
            <p:nvPr/>
          </p:nvSpPr>
          <p:spPr>
            <a:xfrm>
              <a:off x="2633023" y="1684711"/>
              <a:ext cx="892559" cy="892559"/>
            </a:xfrm>
            <a:prstGeom prst="ellipse">
              <a:avLst/>
            </a:prstGeom>
            <a:solidFill>
              <a:srgbClr val="0F6FC6"/>
            </a:solidFill>
            <a:ln w="12700" cap="flat" cmpd="sng" algn="ctr">
              <a:noFill/>
              <a:prstDash val="solid"/>
              <a:miter lim="800000"/>
            </a:ln>
            <a:effectLst>
              <a:innerShdw blurRad="63500" dist="50800" dir="18900000">
                <a:prstClr val="black">
                  <a:alpha val="34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矩形 1"/>
          <p:cNvSpPr/>
          <p:nvPr/>
        </p:nvSpPr>
        <p:spPr>
          <a:xfrm>
            <a:off x="1364866" y="765513"/>
            <a:ext cx="1988045" cy="640688"/>
          </a:xfrm>
          <a:prstGeom prst="rect">
            <a:avLst/>
          </a:prstGeom>
        </p:spPr>
        <p:txBody>
          <a:bodyPr wrap="none">
            <a:spAutoFit/>
          </a:bodyPr>
          <a:lstStyle/>
          <a:p>
            <a:pPr lvl="0">
              <a:lnSpc>
                <a:spcPct val="145000"/>
              </a:lnSpc>
            </a:pPr>
            <a:r>
              <a:rPr kumimoji="1" lang="zh-CN" altLang="en-US" sz="2800" b="1" dirty="0"/>
              <a:t>离子的掩蔽</a:t>
            </a:r>
          </a:p>
        </p:txBody>
      </p:sp>
      <p:sp>
        <p:nvSpPr>
          <p:cNvPr id="3" name="矩形 2"/>
          <p:cNvSpPr/>
          <p:nvPr/>
        </p:nvSpPr>
        <p:spPr>
          <a:xfrm>
            <a:off x="1545203" y="3132134"/>
            <a:ext cx="1627369" cy="624530"/>
          </a:xfrm>
          <a:prstGeom prst="rect">
            <a:avLst/>
          </a:prstGeom>
        </p:spPr>
        <p:txBody>
          <a:bodyPr wrap="none">
            <a:spAutoFit/>
          </a:bodyPr>
          <a:lstStyle/>
          <a:p>
            <a:pPr lvl="0">
              <a:lnSpc>
                <a:spcPct val="140000"/>
              </a:lnSpc>
            </a:pPr>
            <a:r>
              <a:rPr kumimoji="1" lang="zh-CN" altLang="en-US" sz="2800" b="1" dirty="0"/>
              <a:t>萃取分离</a:t>
            </a:r>
          </a:p>
        </p:txBody>
      </p:sp>
      <p:grpSp>
        <p:nvGrpSpPr>
          <p:cNvPr id="9" name="PA_组合 9"/>
          <p:cNvGrpSpPr/>
          <p:nvPr>
            <p:custDataLst>
              <p:tags r:id="rId2"/>
            </p:custDataLst>
          </p:nvPr>
        </p:nvGrpSpPr>
        <p:grpSpPr>
          <a:xfrm>
            <a:off x="788802" y="3162239"/>
            <a:ext cx="576064" cy="576064"/>
            <a:chOff x="2494238" y="1545926"/>
            <a:chExt cx="1170130" cy="1170130"/>
          </a:xfrm>
        </p:grpSpPr>
        <p:sp>
          <p:nvSpPr>
            <p:cNvPr id="10" name="椭圆 9"/>
            <p:cNvSpPr/>
            <p:nvPr/>
          </p:nvSpPr>
          <p:spPr>
            <a:xfrm>
              <a:off x="2494238" y="1545926"/>
              <a:ext cx="1170130" cy="1170130"/>
            </a:xfrm>
            <a:prstGeom prst="ellipse">
              <a:avLst/>
            </a:prstGeom>
            <a:gradFill flip="none" rotWithShape="1">
              <a:gsLst>
                <a:gs pos="100000">
                  <a:srgbClr val="FCFCFC"/>
                </a:gs>
                <a:gs pos="0">
                  <a:srgbClr val="CCCCCC"/>
                </a:gs>
              </a:gsLst>
              <a:lin ang="7200000" scaled="0"/>
              <a:tileRect/>
            </a:gradFill>
            <a:ln w="12700" cap="flat" cmpd="sng" algn="ctr">
              <a:gradFill>
                <a:gsLst>
                  <a:gs pos="89000">
                    <a:sysClr val="window" lastClr="FFFFFF">
                      <a:lumMod val="85000"/>
                    </a:sysClr>
                  </a:gs>
                  <a:gs pos="0">
                    <a:sysClr val="window" lastClr="FFFFFF"/>
                  </a:gs>
                </a:gsLst>
                <a:lin ang="7200000" scaled="0"/>
              </a:gradFill>
              <a:prstDash val="solid"/>
              <a:miter lim="800000"/>
            </a:ln>
            <a:effectLst>
              <a:outerShdw blurRad="254000" dist="127000" dir="8160000" algn="tr" rotWithShape="0">
                <a:prstClr val="black">
                  <a:alpha val="34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椭圆 10"/>
            <p:cNvSpPr/>
            <p:nvPr/>
          </p:nvSpPr>
          <p:spPr>
            <a:xfrm>
              <a:off x="2633023" y="1684711"/>
              <a:ext cx="892559" cy="892559"/>
            </a:xfrm>
            <a:prstGeom prst="ellipse">
              <a:avLst/>
            </a:prstGeom>
            <a:solidFill>
              <a:srgbClr val="0F6FC6"/>
            </a:solidFill>
            <a:ln w="12700" cap="flat" cmpd="sng" algn="ctr">
              <a:noFill/>
              <a:prstDash val="solid"/>
              <a:miter lim="800000"/>
            </a:ln>
            <a:effectLst>
              <a:innerShdw blurRad="63500" dist="50800" dir="18900000">
                <a:prstClr val="black">
                  <a:alpha val="34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16524830"/>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7747">
                                            <p:txEl>
                                              <p:pRg st="0" end="0"/>
                                            </p:txEl>
                                          </p:spTgt>
                                        </p:tgtEl>
                                        <p:attrNameLst>
                                          <p:attrName>style.visibility</p:attrName>
                                        </p:attrNameLst>
                                      </p:cBhvr>
                                      <p:to>
                                        <p:strVal val="visible"/>
                                      </p:to>
                                    </p:set>
                                    <p:anim calcmode="lin" valueType="num">
                                      <p:cBhvr additive="base">
                                        <p:cTn id="7" dur="500" fill="hold"/>
                                        <p:tgtEl>
                                          <p:spTgt spid="287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87747">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3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3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96541" y="863823"/>
            <a:ext cx="4515980" cy="461665"/>
          </a:xfrm>
          <a:prstGeom prst="rect">
            <a:avLst/>
          </a:prstGeom>
        </p:spPr>
        <p:txBody>
          <a:bodyPr wrap="none">
            <a:spAutoFit/>
          </a:bodyPr>
          <a:lstStyle/>
          <a:p>
            <a:r>
              <a:rPr lang="zh-CN" altLang="en-US" sz="2400" b="1" dirty="0">
                <a:latin typeface="楷体_GB2312"/>
              </a:rPr>
              <a:t>药物中的金属及抗癌活性配合物</a:t>
            </a:r>
            <a:endParaRPr lang="zh-CN" altLang="en-US" sz="2400" dirty="0">
              <a:latin typeface="楷体_GB2312"/>
            </a:endParaRPr>
          </a:p>
        </p:txBody>
      </p:sp>
      <p:sp>
        <p:nvSpPr>
          <p:cNvPr id="3" name="Rectangle 1"/>
          <p:cNvSpPr>
            <a:spLocks noChangeArrowheads="1"/>
          </p:cNvSpPr>
          <p:nvPr/>
        </p:nvSpPr>
        <p:spPr bwMode="auto">
          <a:xfrm>
            <a:off x="508683" y="2165238"/>
            <a:ext cx="988601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121212"/>
                </a:solidFill>
                <a:effectLst/>
                <a:latin typeface="楷体_GB2312"/>
                <a:ea typeface="-apple-system"/>
              </a:rPr>
              <a:t>顺铂进入体内后经过体内运输、水解，然后再与DNA作用形成稳定的配合物，从而阻止其复制和转录，迫使细胞凋亡或死亡</a:t>
            </a:r>
            <a:endParaRPr kumimoji="0" lang="zh-CN" altLang="zh-CN" sz="2400" b="1" i="0" u="none" strike="noStrike" cap="none" normalizeH="0" baseline="0" dirty="0">
              <a:ln>
                <a:noFill/>
              </a:ln>
              <a:solidFill>
                <a:schemeClr val="tx1"/>
              </a:solidFill>
              <a:effectLst/>
              <a:latin typeface="楷体_GB2312"/>
            </a:endParaRPr>
          </a:p>
        </p:txBody>
      </p:sp>
      <p:sp>
        <p:nvSpPr>
          <p:cNvPr id="4" name="AutoShape 2" descr="[公式]"/>
          <p:cNvSpPr>
            <a:spLocks noChangeAspect="1" noChangeArrowheads="1"/>
          </p:cNvSpPr>
          <p:nvPr/>
        </p:nvSpPr>
        <p:spPr bwMode="auto">
          <a:xfrm>
            <a:off x="356283" y="201550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4493" y="1604783"/>
            <a:ext cx="3168352" cy="449944"/>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31819" y="3109557"/>
            <a:ext cx="5013394" cy="3230003"/>
          </a:xfrm>
          <a:prstGeom prst="rect">
            <a:avLst/>
          </a:prstGeom>
        </p:spPr>
      </p:pic>
      <p:grpSp>
        <p:nvGrpSpPr>
          <p:cNvPr id="11" name="PA_组合 9"/>
          <p:cNvGrpSpPr/>
          <p:nvPr>
            <p:custDataLst>
              <p:tags r:id="rId1"/>
            </p:custDataLst>
          </p:nvPr>
        </p:nvGrpSpPr>
        <p:grpSpPr>
          <a:xfrm>
            <a:off x="720477" y="863823"/>
            <a:ext cx="576064" cy="576064"/>
            <a:chOff x="2494238" y="1545926"/>
            <a:chExt cx="1170130" cy="1170130"/>
          </a:xfrm>
        </p:grpSpPr>
        <p:sp>
          <p:nvSpPr>
            <p:cNvPr id="12" name="椭圆 11"/>
            <p:cNvSpPr/>
            <p:nvPr/>
          </p:nvSpPr>
          <p:spPr>
            <a:xfrm>
              <a:off x="2494238" y="1545926"/>
              <a:ext cx="1170130" cy="1170130"/>
            </a:xfrm>
            <a:prstGeom prst="ellipse">
              <a:avLst/>
            </a:prstGeom>
            <a:gradFill flip="none" rotWithShape="1">
              <a:gsLst>
                <a:gs pos="100000">
                  <a:srgbClr val="FCFCFC"/>
                </a:gs>
                <a:gs pos="0">
                  <a:srgbClr val="CCCCCC"/>
                </a:gs>
              </a:gsLst>
              <a:lin ang="7200000" scaled="0"/>
              <a:tileRect/>
            </a:gradFill>
            <a:ln w="12700" cap="flat" cmpd="sng" algn="ctr">
              <a:gradFill>
                <a:gsLst>
                  <a:gs pos="89000">
                    <a:sysClr val="window" lastClr="FFFFFF">
                      <a:lumMod val="85000"/>
                    </a:sysClr>
                  </a:gs>
                  <a:gs pos="0">
                    <a:sysClr val="window" lastClr="FFFFFF"/>
                  </a:gs>
                </a:gsLst>
                <a:lin ang="7200000" scaled="0"/>
              </a:gradFill>
              <a:prstDash val="solid"/>
              <a:miter lim="800000"/>
            </a:ln>
            <a:effectLst>
              <a:outerShdw blurRad="254000" dist="127000" dir="8160000" algn="tr" rotWithShape="0">
                <a:prstClr val="black">
                  <a:alpha val="34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a:off x="2633023" y="1684711"/>
              <a:ext cx="892559" cy="892559"/>
            </a:xfrm>
            <a:prstGeom prst="ellipse">
              <a:avLst/>
            </a:prstGeom>
            <a:solidFill>
              <a:srgbClr val="0F6FC6"/>
            </a:solidFill>
            <a:ln w="12700" cap="flat" cmpd="sng" algn="ctr">
              <a:noFill/>
              <a:prstDash val="solid"/>
              <a:miter lim="800000"/>
            </a:ln>
            <a:effectLst>
              <a:innerShdw blurRad="63500" dist="50800" dir="18900000">
                <a:prstClr val="black">
                  <a:alpha val="34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147980358"/>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04456" y="890972"/>
            <a:ext cx="4515980" cy="461665"/>
          </a:xfrm>
          <a:prstGeom prst="rect">
            <a:avLst/>
          </a:prstGeom>
        </p:spPr>
        <p:txBody>
          <a:bodyPr wrap="none">
            <a:spAutoFit/>
          </a:bodyPr>
          <a:lstStyle/>
          <a:p>
            <a:r>
              <a:rPr lang="zh-CN" altLang="en-US" sz="2400" b="1" dirty="0">
                <a:solidFill>
                  <a:srgbClr val="121212"/>
                </a:solidFill>
                <a:latin typeface="楷体_GB2312"/>
              </a:rPr>
              <a:t>生命体系中的金属酶与金属蛋白</a:t>
            </a:r>
            <a:endParaRPr lang="zh-CN" altLang="en-US" sz="2400" b="1" i="0" dirty="0">
              <a:solidFill>
                <a:srgbClr val="121212"/>
              </a:solidFill>
              <a:effectLst/>
              <a:latin typeface="楷体_GB2312"/>
            </a:endParaRPr>
          </a:p>
        </p:txBody>
      </p:sp>
      <p:sp>
        <p:nvSpPr>
          <p:cNvPr id="3" name="矩形 2"/>
          <p:cNvSpPr/>
          <p:nvPr/>
        </p:nvSpPr>
        <p:spPr>
          <a:xfrm>
            <a:off x="1136215" y="1952321"/>
            <a:ext cx="9521342" cy="1323439"/>
          </a:xfrm>
          <a:prstGeom prst="rect">
            <a:avLst/>
          </a:prstGeom>
        </p:spPr>
        <p:txBody>
          <a:bodyPr wrap="square">
            <a:spAutoFit/>
          </a:bodyPr>
          <a:lstStyle/>
          <a:p>
            <a:r>
              <a:rPr lang="zh-CN" altLang="en-US" sz="2000" b="1" dirty="0">
                <a:solidFill>
                  <a:srgbClr val="121212"/>
                </a:solidFill>
                <a:latin typeface="-apple-system"/>
                <a:ea typeface="楷体_GB2312"/>
              </a:rPr>
              <a:t>金属离子在生物体内的存在十分广泛，它们和卟啉、蛋白质等生物配体结合，表现出多种功能，哺乳动物体内约有</a:t>
            </a:r>
            <a:r>
              <a:rPr lang="en-US" altLang="zh-CN" sz="2000" b="1" dirty="0">
                <a:solidFill>
                  <a:srgbClr val="121212"/>
                </a:solidFill>
                <a:latin typeface="-apple-system"/>
                <a:ea typeface="楷体_GB2312"/>
              </a:rPr>
              <a:t>70%</a:t>
            </a:r>
            <a:r>
              <a:rPr lang="zh-CN" altLang="en-US" sz="2000" b="1" dirty="0">
                <a:solidFill>
                  <a:srgbClr val="121212"/>
                </a:solidFill>
                <a:latin typeface="-apple-system"/>
                <a:ea typeface="楷体_GB2312"/>
              </a:rPr>
              <a:t>的铁与叶啉形成配合物，卟啉环上取代基不同，金属离子不同，轴向配体不同，显示的功能各异。它们是生物体内酶和蛋白质的活性部分。</a:t>
            </a:r>
            <a:endParaRPr lang="zh-CN" altLang="en-US" sz="2000" b="1" dirty="0">
              <a:ea typeface="楷体_GB2312"/>
            </a:endParaRPr>
          </a:p>
        </p:txBody>
      </p:sp>
      <p:sp>
        <p:nvSpPr>
          <p:cNvPr id="4" name="矩形 3"/>
          <p:cNvSpPr/>
          <p:nvPr/>
        </p:nvSpPr>
        <p:spPr>
          <a:xfrm>
            <a:off x="1228216" y="3808330"/>
            <a:ext cx="9432452" cy="1877437"/>
          </a:xfrm>
          <a:prstGeom prst="rect">
            <a:avLst/>
          </a:prstGeom>
        </p:spPr>
        <p:txBody>
          <a:bodyPr wrap="square">
            <a:spAutoFit/>
          </a:bodyPr>
          <a:lstStyle/>
          <a:p>
            <a:r>
              <a:rPr lang="zh-CN" altLang="en-US" sz="2000" b="1" dirty="0">
                <a:solidFill>
                  <a:srgbClr val="121212"/>
                </a:solidFill>
                <a:latin typeface="-apple-system"/>
                <a:ea typeface="楷体_GB2312"/>
              </a:rPr>
              <a:t>土壤中仅</a:t>
            </a:r>
            <a:r>
              <a:rPr lang="en-US" altLang="zh-CN" sz="2000" b="1" dirty="0">
                <a:solidFill>
                  <a:srgbClr val="121212"/>
                </a:solidFill>
                <a:latin typeface="-apple-system"/>
                <a:ea typeface="楷体_GB2312"/>
              </a:rPr>
              <a:t>5%</a:t>
            </a:r>
            <a:r>
              <a:rPr lang="zh-CN" altLang="en-US" sz="2000" b="1" dirty="0">
                <a:solidFill>
                  <a:srgbClr val="121212"/>
                </a:solidFill>
                <a:latin typeface="-apple-system"/>
                <a:ea typeface="楷体_GB2312"/>
              </a:rPr>
              <a:t>的细菌被人们所认识，它们通过体内酶的作用转化废物成为人们所需要的物质。在已知一千多种酶中有</a:t>
            </a:r>
            <a:r>
              <a:rPr lang="en-US" altLang="zh-CN" sz="2000" b="1" dirty="0">
                <a:solidFill>
                  <a:srgbClr val="121212"/>
                </a:solidFill>
                <a:latin typeface="-apple-system"/>
                <a:ea typeface="楷体_GB2312"/>
              </a:rPr>
              <a:t>1/3</a:t>
            </a:r>
            <a:r>
              <a:rPr lang="zh-CN" altLang="en-US" sz="2000" b="1" dirty="0">
                <a:solidFill>
                  <a:srgbClr val="121212"/>
                </a:solidFill>
                <a:latin typeface="-apple-system"/>
                <a:ea typeface="楷体_GB2312"/>
              </a:rPr>
              <a:t>以上含有金属离子。它们以配合物的形式存在，作为酶的活性中心。因此，配位化合物在模拟生物转化方面是一个重要的课题。模拟生物转化可以用配合物模拟生物作用，将低廉物质转化成有用产品。</a:t>
            </a:r>
          </a:p>
          <a:p>
            <a:br>
              <a:rPr lang="zh-CN" altLang="en-US" dirty="0"/>
            </a:br>
            <a:endParaRPr lang="zh-CN" altLang="en-US" dirty="0"/>
          </a:p>
        </p:txBody>
      </p:sp>
      <p:sp>
        <p:nvSpPr>
          <p:cNvPr id="5" name="Freeform 12"/>
          <p:cNvSpPr/>
          <p:nvPr/>
        </p:nvSpPr>
        <p:spPr bwMode="auto">
          <a:xfrm>
            <a:off x="181171" y="2066354"/>
            <a:ext cx="550863" cy="1101725"/>
          </a:xfrm>
          <a:custGeom>
            <a:avLst/>
            <a:gdLst>
              <a:gd name="T0" fmla="*/ 776 w 776"/>
              <a:gd name="T1" fmla="*/ 1553 h 1553"/>
              <a:gd name="T2" fmla="*/ 0 w 776"/>
              <a:gd name="T3" fmla="*/ 777 h 1553"/>
              <a:gd name="T4" fmla="*/ 776 w 776"/>
              <a:gd name="T5" fmla="*/ 0 h 1553"/>
            </a:gdLst>
            <a:ahLst/>
            <a:cxnLst>
              <a:cxn ang="0">
                <a:pos x="T0" y="T1"/>
              </a:cxn>
              <a:cxn ang="0">
                <a:pos x="T2" y="T3"/>
              </a:cxn>
              <a:cxn ang="0">
                <a:pos x="T4" y="T5"/>
              </a:cxn>
            </a:cxnLst>
            <a:rect l="0" t="0" r="r" b="b"/>
            <a:pathLst>
              <a:path w="776" h="1553">
                <a:moveTo>
                  <a:pt x="776" y="1553"/>
                </a:moveTo>
                <a:cubicBezTo>
                  <a:pt x="348" y="1553"/>
                  <a:pt x="0" y="1205"/>
                  <a:pt x="0" y="777"/>
                </a:cubicBezTo>
                <a:cubicBezTo>
                  <a:pt x="0" y="348"/>
                  <a:pt x="348" y="0"/>
                  <a:pt x="776" y="0"/>
                </a:cubicBezTo>
              </a:path>
            </a:pathLst>
          </a:custGeom>
          <a:noFill/>
          <a:ln w="12700" cap="flat">
            <a:solidFill>
              <a:srgbClr val="0F6FC6">
                <a:alpha val="50000"/>
              </a:srgb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6" name="Oval 13"/>
          <p:cNvSpPr>
            <a:spLocks noChangeArrowheads="1"/>
          </p:cNvSpPr>
          <p:nvPr/>
        </p:nvSpPr>
        <p:spPr bwMode="auto">
          <a:xfrm>
            <a:off x="284358" y="2163191"/>
            <a:ext cx="895350" cy="901700"/>
          </a:xfrm>
          <a:prstGeom prst="ellipse">
            <a:avLst/>
          </a:prstGeom>
          <a:solidFill>
            <a:sysClr val="window" lastClr="FFFFFF">
              <a:alpha val="50000"/>
            </a:sysClr>
          </a:solidFill>
          <a:ln w="12700">
            <a:solidFill>
              <a:srgbClr val="0F6FC6"/>
            </a:solidFill>
            <a:round/>
          </a:ln>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7" name="Freeform 70"/>
          <p:cNvSpPr/>
          <p:nvPr/>
        </p:nvSpPr>
        <p:spPr bwMode="auto">
          <a:xfrm>
            <a:off x="509148" y="2380996"/>
            <a:ext cx="445135" cy="466090"/>
          </a:xfrm>
          <a:custGeom>
            <a:avLst/>
            <a:gdLst>
              <a:gd name="T0" fmla="*/ 69 w 138"/>
              <a:gd name="T1" fmla="*/ 0 h 131"/>
              <a:gd name="T2" fmla="*/ 86 w 138"/>
              <a:gd name="T3" fmla="*/ 48 h 131"/>
              <a:gd name="T4" fmla="*/ 138 w 138"/>
              <a:gd name="T5" fmla="*/ 49 h 131"/>
              <a:gd name="T6" fmla="*/ 96 w 138"/>
              <a:gd name="T7" fmla="*/ 81 h 131"/>
              <a:gd name="T8" fmla="*/ 111 w 138"/>
              <a:gd name="T9" fmla="*/ 131 h 131"/>
              <a:gd name="T10" fmla="*/ 69 w 138"/>
              <a:gd name="T11" fmla="*/ 101 h 131"/>
              <a:gd name="T12" fmla="*/ 26 w 138"/>
              <a:gd name="T13" fmla="*/ 131 h 131"/>
              <a:gd name="T14" fmla="*/ 41 w 138"/>
              <a:gd name="T15" fmla="*/ 81 h 131"/>
              <a:gd name="T16" fmla="*/ 0 w 138"/>
              <a:gd name="T17" fmla="*/ 49 h 131"/>
              <a:gd name="T18" fmla="*/ 52 w 138"/>
              <a:gd name="T19" fmla="*/ 48 h 131"/>
              <a:gd name="T20" fmla="*/ 69 w 138"/>
              <a:gd name="T21"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8" h="131">
                <a:moveTo>
                  <a:pt x="69" y="0"/>
                </a:moveTo>
                <a:lnTo>
                  <a:pt x="86" y="48"/>
                </a:lnTo>
                <a:lnTo>
                  <a:pt x="138" y="49"/>
                </a:lnTo>
                <a:lnTo>
                  <a:pt x="96" y="81"/>
                </a:lnTo>
                <a:lnTo>
                  <a:pt x="111" y="131"/>
                </a:lnTo>
                <a:lnTo>
                  <a:pt x="69" y="101"/>
                </a:lnTo>
                <a:lnTo>
                  <a:pt x="26" y="131"/>
                </a:lnTo>
                <a:lnTo>
                  <a:pt x="41" y="81"/>
                </a:lnTo>
                <a:lnTo>
                  <a:pt x="0" y="49"/>
                </a:lnTo>
                <a:lnTo>
                  <a:pt x="52" y="48"/>
                </a:lnTo>
                <a:lnTo>
                  <a:pt x="69" y="0"/>
                </a:lnTo>
                <a:close/>
              </a:path>
            </a:pathLst>
          </a:custGeom>
          <a:solidFill>
            <a:srgbClr val="0F6FC6"/>
          </a:solidFill>
          <a:ln>
            <a:noFill/>
          </a:ln>
        </p:spPr>
        <p:txBody>
          <a:bodyPr/>
          <a:lstStyle/>
          <a:p>
            <a:pPr marL="0" marR="0" lvl="0" indent="0" defTabSz="685165"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Calibri"/>
            </a:endParaRPr>
          </a:p>
        </p:txBody>
      </p:sp>
      <p:sp>
        <p:nvSpPr>
          <p:cNvPr id="11" name="Freeform 12"/>
          <p:cNvSpPr/>
          <p:nvPr/>
        </p:nvSpPr>
        <p:spPr bwMode="auto">
          <a:xfrm>
            <a:off x="274471" y="3791322"/>
            <a:ext cx="550863" cy="1101725"/>
          </a:xfrm>
          <a:custGeom>
            <a:avLst/>
            <a:gdLst>
              <a:gd name="T0" fmla="*/ 776 w 776"/>
              <a:gd name="T1" fmla="*/ 1553 h 1553"/>
              <a:gd name="T2" fmla="*/ 0 w 776"/>
              <a:gd name="T3" fmla="*/ 777 h 1553"/>
              <a:gd name="T4" fmla="*/ 776 w 776"/>
              <a:gd name="T5" fmla="*/ 0 h 1553"/>
            </a:gdLst>
            <a:ahLst/>
            <a:cxnLst>
              <a:cxn ang="0">
                <a:pos x="T0" y="T1"/>
              </a:cxn>
              <a:cxn ang="0">
                <a:pos x="T2" y="T3"/>
              </a:cxn>
              <a:cxn ang="0">
                <a:pos x="T4" y="T5"/>
              </a:cxn>
            </a:cxnLst>
            <a:rect l="0" t="0" r="r" b="b"/>
            <a:pathLst>
              <a:path w="776" h="1553">
                <a:moveTo>
                  <a:pt x="776" y="1553"/>
                </a:moveTo>
                <a:cubicBezTo>
                  <a:pt x="348" y="1553"/>
                  <a:pt x="0" y="1205"/>
                  <a:pt x="0" y="777"/>
                </a:cubicBezTo>
                <a:cubicBezTo>
                  <a:pt x="0" y="348"/>
                  <a:pt x="348" y="0"/>
                  <a:pt x="776" y="0"/>
                </a:cubicBezTo>
              </a:path>
            </a:pathLst>
          </a:custGeom>
          <a:noFill/>
          <a:ln w="12700" cap="flat">
            <a:solidFill>
              <a:srgbClr val="0F6FC6">
                <a:alpha val="50000"/>
              </a:srgbClr>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12" name="Oval 13"/>
          <p:cNvSpPr>
            <a:spLocks noChangeArrowheads="1"/>
          </p:cNvSpPr>
          <p:nvPr/>
        </p:nvSpPr>
        <p:spPr bwMode="auto">
          <a:xfrm>
            <a:off x="377658" y="3888159"/>
            <a:ext cx="895350" cy="901700"/>
          </a:xfrm>
          <a:prstGeom prst="ellipse">
            <a:avLst/>
          </a:prstGeom>
          <a:solidFill>
            <a:sysClr val="window" lastClr="FFFFFF">
              <a:alpha val="50000"/>
            </a:sysClr>
          </a:solidFill>
          <a:ln w="12700">
            <a:solidFill>
              <a:srgbClr val="0F6FC6"/>
            </a:solidFill>
            <a:round/>
          </a:ln>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13" name="Freeform 70"/>
          <p:cNvSpPr/>
          <p:nvPr/>
        </p:nvSpPr>
        <p:spPr bwMode="auto">
          <a:xfrm>
            <a:off x="602448" y="4105964"/>
            <a:ext cx="445135" cy="466090"/>
          </a:xfrm>
          <a:custGeom>
            <a:avLst/>
            <a:gdLst>
              <a:gd name="T0" fmla="*/ 69 w 138"/>
              <a:gd name="T1" fmla="*/ 0 h 131"/>
              <a:gd name="T2" fmla="*/ 86 w 138"/>
              <a:gd name="T3" fmla="*/ 48 h 131"/>
              <a:gd name="T4" fmla="*/ 138 w 138"/>
              <a:gd name="T5" fmla="*/ 49 h 131"/>
              <a:gd name="T6" fmla="*/ 96 w 138"/>
              <a:gd name="T7" fmla="*/ 81 h 131"/>
              <a:gd name="T8" fmla="*/ 111 w 138"/>
              <a:gd name="T9" fmla="*/ 131 h 131"/>
              <a:gd name="T10" fmla="*/ 69 w 138"/>
              <a:gd name="T11" fmla="*/ 101 h 131"/>
              <a:gd name="T12" fmla="*/ 26 w 138"/>
              <a:gd name="T13" fmla="*/ 131 h 131"/>
              <a:gd name="T14" fmla="*/ 41 w 138"/>
              <a:gd name="T15" fmla="*/ 81 h 131"/>
              <a:gd name="T16" fmla="*/ 0 w 138"/>
              <a:gd name="T17" fmla="*/ 49 h 131"/>
              <a:gd name="T18" fmla="*/ 52 w 138"/>
              <a:gd name="T19" fmla="*/ 48 h 131"/>
              <a:gd name="T20" fmla="*/ 69 w 138"/>
              <a:gd name="T21"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8" h="131">
                <a:moveTo>
                  <a:pt x="69" y="0"/>
                </a:moveTo>
                <a:lnTo>
                  <a:pt x="86" y="48"/>
                </a:lnTo>
                <a:lnTo>
                  <a:pt x="138" y="49"/>
                </a:lnTo>
                <a:lnTo>
                  <a:pt x="96" y="81"/>
                </a:lnTo>
                <a:lnTo>
                  <a:pt x="111" y="131"/>
                </a:lnTo>
                <a:lnTo>
                  <a:pt x="69" y="101"/>
                </a:lnTo>
                <a:lnTo>
                  <a:pt x="26" y="131"/>
                </a:lnTo>
                <a:lnTo>
                  <a:pt x="41" y="81"/>
                </a:lnTo>
                <a:lnTo>
                  <a:pt x="0" y="49"/>
                </a:lnTo>
                <a:lnTo>
                  <a:pt x="52" y="48"/>
                </a:lnTo>
                <a:lnTo>
                  <a:pt x="69" y="0"/>
                </a:lnTo>
                <a:close/>
              </a:path>
            </a:pathLst>
          </a:custGeom>
          <a:solidFill>
            <a:srgbClr val="0F6FC6"/>
          </a:solidFill>
          <a:ln>
            <a:noFill/>
          </a:ln>
        </p:spPr>
        <p:txBody>
          <a:bodyPr/>
          <a:lstStyle/>
          <a:p>
            <a:pPr marL="0" marR="0" lvl="0" indent="0" defTabSz="685165"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Calibri"/>
            </a:endParaRPr>
          </a:p>
        </p:txBody>
      </p:sp>
      <p:grpSp>
        <p:nvGrpSpPr>
          <p:cNvPr id="14" name="PA_组合 9"/>
          <p:cNvGrpSpPr/>
          <p:nvPr>
            <p:custDataLst>
              <p:tags r:id="rId1"/>
            </p:custDataLst>
          </p:nvPr>
        </p:nvGrpSpPr>
        <p:grpSpPr>
          <a:xfrm>
            <a:off x="720477" y="863823"/>
            <a:ext cx="576064" cy="576064"/>
            <a:chOff x="2494238" y="1545926"/>
            <a:chExt cx="1170130" cy="1170130"/>
          </a:xfrm>
        </p:grpSpPr>
        <p:sp>
          <p:nvSpPr>
            <p:cNvPr id="15" name="椭圆 14"/>
            <p:cNvSpPr/>
            <p:nvPr/>
          </p:nvSpPr>
          <p:spPr>
            <a:xfrm>
              <a:off x="2494238" y="1545926"/>
              <a:ext cx="1170130" cy="1170130"/>
            </a:xfrm>
            <a:prstGeom prst="ellipse">
              <a:avLst/>
            </a:prstGeom>
            <a:gradFill flip="none" rotWithShape="1">
              <a:gsLst>
                <a:gs pos="100000">
                  <a:srgbClr val="FCFCFC"/>
                </a:gs>
                <a:gs pos="0">
                  <a:srgbClr val="CCCCCC"/>
                </a:gs>
              </a:gsLst>
              <a:lin ang="7200000" scaled="0"/>
              <a:tileRect/>
            </a:gradFill>
            <a:ln w="12700" cap="flat" cmpd="sng" algn="ctr">
              <a:gradFill>
                <a:gsLst>
                  <a:gs pos="89000">
                    <a:sysClr val="window" lastClr="FFFFFF">
                      <a:lumMod val="85000"/>
                    </a:sysClr>
                  </a:gs>
                  <a:gs pos="0">
                    <a:sysClr val="window" lastClr="FFFFFF"/>
                  </a:gs>
                </a:gsLst>
                <a:lin ang="7200000" scaled="0"/>
              </a:gradFill>
              <a:prstDash val="solid"/>
              <a:miter lim="800000"/>
            </a:ln>
            <a:effectLst>
              <a:outerShdw blurRad="254000" dist="127000" dir="8160000" algn="tr" rotWithShape="0">
                <a:prstClr val="black">
                  <a:alpha val="34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椭圆 15"/>
            <p:cNvSpPr/>
            <p:nvPr/>
          </p:nvSpPr>
          <p:spPr>
            <a:xfrm>
              <a:off x="2633023" y="1684711"/>
              <a:ext cx="892559" cy="892559"/>
            </a:xfrm>
            <a:prstGeom prst="ellipse">
              <a:avLst/>
            </a:prstGeom>
            <a:solidFill>
              <a:srgbClr val="0F6FC6"/>
            </a:solidFill>
            <a:ln w="12700" cap="flat" cmpd="sng" algn="ctr">
              <a:noFill/>
              <a:prstDash val="solid"/>
              <a:miter lim="800000"/>
            </a:ln>
            <a:effectLst>
              <a:innerShdw blurRad="63500" dist="50800" dir="18900000">
                <a:prstClr val="black">
                  <a:alpha val="34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65"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748644200"/>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p:cTn id="10" dur="500" fill="hold"/>
                                        <p:tgtEl>
                                          <p:spTgt spid="6"/>
                                        </p:tgtEl>
                                        <p:attrNameLst>
                                          <p:attrName>ppt_w</p:attrName>
                                        </p:attrNameLst>
                                      </p:cBhvr>
                                      <p:tavLst>
                                        <p:tav tm="0">
                                          <p:val>
                                            <p:fltVal val="0"/>
                                          </p:val>
                                        </p:tav>
                                        <p:tav tm="100000">
                                          <p:val>
                                            <p:strVal val="#ppt_w"/>
                                          </p:val>
                                        </p:tav>
                                      </p:tavLst>
                                    </p:anim>
                                    <p:anim calcmode="lin" valueType="num">
                                      <p:cBhvr>
                                        <p:cTn id="11" dur="500" fill="hold"/>
                                        <p:tgtEl>
                                          <p:spTgt spid="6"/>
                                        </p:tgtEl>
                                        <p:attrNameLst>
                                          <p:attrName>ppt_h</p:attrName>
                                        </p:attrNameLst>
                                      </p:cBhvr>
                                      <p:tavLst>
                                        <p:tav tm="0">
                                          <p:val>
                                            <p:fltVal val="0"/>
                                          </p:val>
                                        </p:tav>
                                        <p:tav tm="100000">
                                          <p:val>
                                            <p:strVal val="#ppt_h"/>
                                          </p:val>
                                        </p:tav>
                                      </p:tavLst>
                                    </p:anim>
                                    <p:animEffect transition="in" filter="fade">
                                      <p:cBhvr>
                                        <p:cTn id="12" dur="500"/>
                                        <p:tgtEl>
                                          <p:spTgt spid="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up)">
                                      <p:cBhvr>
                                        <p:cTn id="16" dur="500"/>
                                        <p:tgtEl>
                                          <p:spTgt spid="11"/>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par>
                                <p:cTn id="22" presetID="10" presetClass="entr" presetSubtype="0" fill="hold" nodeType="withEffect">
                                  <p:stCondLst>
                                    <p:cond delay="30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11" grpId="0" bldLvl="0" animBg="1"/>
      <p:bldP spid="12"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5" name="Rectangle 9"/>
          <p:cNvSpPr>
            <a:spLocks noChangeArrowheads="1"/>
          </p:cNvSpPr>
          <p:nvPr/>
        </p:nvSpPr>
        <p:spPr bwMode="auto">
          <a:xfrm>
            <a:off x="906463" y="1020763"/>
            <a:ext cx="10369550" cy="860425"/>
          </a:xfrm>
          <a:prstGeom prst="rect">
            <a:avLst/>
          </a:prstGeom>
          <a:noFill/>
          <a:ln w="9525">
            <a:noFill/>
            <a:miter lim="800000"/>
            <a:headEnd/>
            <a:tailEnd/>
          </a:ln>
        </p:spPr>
        <p:txBody>
          <a:bodyPr>
            <a:spAutoFit/>
          </a:bodyPr>
          <a:lstStyle/>
          <a:p>
            <a:r>
              <a:rPr lang="en-US" altLang="zh-CN" sz="2500" b="1" dirty="0">
                <a:ea typeface="楷体_GB2312" pitchFamily="49" charset="-122"/>
              </a:rPr>
              <a:t>            </a:t>
            </a:r>
            <a:r>
              <a:rPr lang="zh-CN" altLang="en-US" sz="2500" b="1" dirty="0">
                <a:ea typeface="楷体_GB2312" pitchFamily="49" charset="-122"/>
              </a:rPr>
              <a:t>形成体与</a:t>
            </a:r>
            <a:r>
              <a:rPr lang="zh-CN" altLang="en-US" sz="2500" b="1" dirty="0">
                <a:solidFill>
                  <a:srgbClr val="FF0000"/>
                </a:solidFill>
                <a:ea typeface="楷体_GB2312" pitchFamily="49" charset="-122"/>
              </a:rPr>
              <a:t>多齿配体</a:t>
            </a:r>
            <a:r>
              <a:rPr lang="zh-CN" altLang="en-US" sz="2500" b="1" dirty="0">
                <a:ea typeface="楷体_GB2312" pitchFamily="49" charset="-122"/>
              </a:rPr>
              <a:t>形成具</a:t>
            </a:r>
            <a:r>
              <a:rPr lang="zh-CN" altLang="en-US" sz="2500" b="1" dirty="0">
                <a:solidFill>
                  <a:srgbClr val="FF0000"/>
                </a:solidFill>
                <a:ea typeface="楷体_GB2312" pitchFamily="49" charset="-122"/>
              </a:rPr>
              <a:t>环状结构</a:t>
            </a:r>
            <a:r>
              <a:rPr lang="zh-CN" altLang="en-US" sz="2500" b="1" dirty="0">
                <a:ea typeface="楷体_GB2312" pitchFamily="49" charset="-122"/>
              </a:rPr>
              <a:t>的配合物</a:t>
            </a:r>
            <a:r>
              <a:rPr lang="en-US" altLang="zh-CN" sz="2500" b="1" dirty="0">
                <a:ea typeface="楷体_GB2312" pitchFamily="49" charset="-122"/>
              </a:rPr>
              <a:t>.</a:t>
            </a:r>
          </a:p>
          <a:p>
            <a:r>
              <a:rPr lang="zh-CN" altLang="en-US" sz="2500" b="1" dirty="0">
                <a:ea typeface="楷体_GB2312" pitchFamily="49" charset="-122"/>
              </a:rPr>
              <a:t>           如</a:t>
            </a:r>
            <a:r>
              <a:rPr lang="en-US" altLang="zh-CN" sz="2500" b="1" dirty="0">
                <a:ea typeface="楷体_GB2312" pitchFamily="49" charset="-122"/>
              </a:rPr>
              <a:t>[Cu(en)</a:t>
            </a:r>
            <a:r>
              <a:rPr lang="en-US" altLang="zh-CN" sz="2500" b="1" baseline="-25000" dirty="0">
                <a:ea typeface="楷体_GB2312" pitchFamily="49" charset="-122"/>
              </a:rPr>
              <a:t>2</a:t>
            </a:r>
            <a:r>
              <a:rPr lang="en-US" altLang="zh-CN" sz="2500" b="1" dirty="0">
                <a:ea typeface="楷体_GB2312" pitchFamily="49" charset="-122"/>
              </a:rPr>
              <a:t>]</a:t>
            </a:r>
            <a:r>
              <a:rPr lang="en-US" altLang="zh-CN" sz="2500" b="1" baseline="30000" dirty="0">
                <a:ea typeface="楷体_GB2312" pitchFamily="49" charset="-122"/>
              </a:rPr>
              <a:t>2+</a:t>
            </a:r>
            <a:r>
              <a:rPr lang="en-US" altLang="zh-CN" sz="2500" b="1" dirty="0">
                <a:ea typeface="楷体_GB2312" pitchFamily="49" charset="-122"/>
              </a:rPr>
              <a:t>:</a:t>
            </a:r>
            <a:endParaRPr lang="en-US" altLang="zh-CN" sz="2500" baseline="30000" dirty="0">
              <a:solidFill>
                <a:schemeClr val="tx2"/>
              </a:solidFill>
              <a:ea typeface="楷体_GB2312" pitchFamily="49" charset="-122"/>
            </a:endParaRPr>
          </a:p>
        </p:txBody>
      </p:sp>
      <p:sp>
        <p:nvSpPr>
          <p:cNvPr id="9226" name="Rectangle 10"/>
          <p:cNvSpPr>
            <a:spLocks noChangeArrowheads="1"/>
          </p:cNvSpPr>
          <p:nvPr/>
        </p:nvSpPr>
        <p:spPr bwMode="auto">
          <a:xfrm>
            <a:off x="617538" y="1025525"/>
            <a:ext cx="1258887" cy="476250"/>
          </a:xfrm>
          <a:prstGeom prst="rect">
            <a:avLst/>
          </a:prstGeom>
          <a:noFill/>
          <a:ln w="9525">
            <a:noFill/>
            <a:miter lim="800000"/>
            <a:headEnd/>
            <a:tailEnd/>
          </a:ln>
        </p:spPr>
        <p:txBody>
          <a:bodyPr wrap="none" anchor="ctr">
            <a:spAutoFit/>
          </a:bodyPr>
          <a:lstStyle/>
          <a:p>
            <a:pPr algn="ctr"/>
            <a:r>
              <a:rPr lang="zh-CN" altLang="en-US" sz="2500" b="1" dirty="0">
                <a:solidFill>
                  <a:srgbClr val="FF0000"/>
                </a:solidFill>
                <a:ea typeface="楷体_GB2312" pitchFamily="49" charset="-122"/>
              </a:rPr>
              <a:t>螯合物</a:t>
            </a:r>
            <a:r>
              <a:rPr lang="en-US" altLang="zh-CN" sz="2500" b="1" dirty="0">
                <a:solidFill>
                  <a:srgbClr val="FF0000"/>
                </a:solidFill>
                <a:ea typeface="楷体_GB2312" pitchFamily="49" charset="-122"/>
              </a:rPr>
              <a:t>:</a:t>
            </a:r>
          </a:p>
        </p:txBody>
      </p:sp>
      <p:sp>
        <p:nvSpPr>
          <p:cNvPr id="9244" name="Rectangle 28"/>
          <p:cNvSpPr>
            <a:spLocks noChangeArrowheads="1"/>
          </p:cNvSpPr>
          <p:nvPr/>
        </p:nvSpPr>
        <p:spPr bwMode="auto">
          <a:xfrm>
            <a:off x="1136650" y="3978275"/>
            <a:ext cx="1878013" cy="476250"/>
          </a:xfrm>
          <a:prstGeom prst="rect">
            <a:avLst/>
          </a:prstGeom>
          <a:noFill/>
          <a:ln w="9525">
            <a:noFill/>
            <a:miter lim="800000"/>
            <a:headEnd/>
            <a:tailEnd/>
          </a:ln>
        </p:spPr>
        <p:txBody>
          <a:bodyPr wrap="none" anchor="ctr">
            <a:spAutoFit/>
          </a:bodyPr>
          <a:lstStyle/>
          <a:p>
            <a:pPr algn="ctr"/>
            <a:r>
              <a:rPr lang="zh-CN" altLang="en-US" sz="2500" b="1" dirty="0">
                <a:ea typeface="楷体_GB2312" pitchFamily="49" charset="-122"/>
              </a:rPr>
              <a:t>再如</a:t>
            </a:r>
            <a:r>
              <a:rPr lang="en-US" altLang="zh-CN" sz="2500" b="1" dirty="0">
                <a:ea typeface="楷体_GB2312" pitchFamily="49" charset="-122"/>
              </a:rPr>
              <a:t>CaY</a:t>
            </a:r>
            <a:r>
              <a:rPr lang="en-US" altLang="zh-CN" sz="2500" b="1" baseline="30000" dirty="0">
                <a:ea typeface="楷体_GB2312" pitchFamily="49" charset="-122"/>
              </a:rPr>
              <a:t>2</a:t>
            </a:r>
            <a:r>
              <a:rPr lang="zh-CN" altLang="en-US" sz="2500" b="1" baseline="30000" dirty="0">
                <a:ea typeface="楷体_GB2312" pitchFamily="49" charset="-122"/>
              </a:rPr>
              <a:t>－</a:t>
            </a:r>
            <a:r>
              <a:rPr lang="en-US" altLang="zh-CN" sz="2500" b="1" dirty="0">
                <a:ea typeface="楷体_GB2312" pitchFamily="49" charset="-122"/>
              </a:rPr>
              <a:t>:</a:t>
            </a:r>
            <a:endParaRPr lang="en-US" altLang="zh-CN" sz="2500" b="1" baseline="30000" dirty="0">
              <a:ea typeface="楷体_GB2312" pitchFamily="49" charset="-122"/>
            </a:endParaRPr>
          </a:p>
        </p:txBody>
      </p:sp>
      <p:graphicFrame>
        <p:nvGraphicFramePr>
          <p:cNvPr id="9247" name="Object 2"/>
          <p:cNvGraphicFramePr>
            <a:graphicFrameLocks noChangeAspect="1"/>
          </p:cNvGraphicFramePr>
          <p:nvPr/>
        </p:nvGraphicFramePr>
        <p:xfrm>
          <a:off x="2946400" y="4589463"/>
          <a:ext cx="5916613" cy="474662"/>
        </p:xfrm>
        <a:graphic>
          <a:graphicData uri="http://schemas.openxmlformats.org/presentationml/2006/ole">
            <mc:AlternateContent xmlns:mc="http://schemas.openxmlformats.org/markup-compatibility/2006">
              <mc:Choice xmlns:v="urn:schemas-microsoft-com:vml" Requires="v">
                <p:oleObj spid="_x0000_s2092" name="公式" r:id="rId4" imgW="2082600" imgH="228600" progId="Equation.3">
                  <p:embed/>
                </p:oleObj>
              </mc:Choice>
              <mc:Fallback>
                <p:oleObj name="公式" r:id="rId4" imgW="208260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6400" y="4589463"/>
                        <a:ext cx="5916613" cy="474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261" name="Picture 45" descr="乙二胺铜"/>
          <p:cNvPicPr>
            <a:picLocks noChangeAspect="1" noChangeArrowheads="1"/>
          </p:cNvPicPr>
          <p:nvPr/>
        </p:nvPicPr>
        <p:blipFill>
          <a:blip r:embed="rId6"/>
          <a:srcRect/>
          <a:stretch>
            <a:fillRect/>
          </a:stretch>
        </p:blipFill>
        <p:spPr bwMode="auto">
          <a:xfrm>
            <a:off x="2474913" y="2025650"/>
            <a:ext cx="5643562" cy="1930400"/>
          </a:xfrm>
          <a:prstGeom prst="rect">
            <a:avLst/>
          </a:prstGeom>
          <a:noFill/>
          <a:ln w="9525">
            <a:noFill/>
            <a:miter lim="800000"/>
            <a:headEnd/>
            <a:tailEnd/>
          </a:ln>
        </p:spPr>
      </p:pic>
      <p:sp>
        <p:nvSpPr>
          <p:cNvPr id="2055" name="Rectangle 47"/>
          <p:cNvSpPr>
            <a:spLocks noGrp="1" noChangeArrowheads="1"/>
          </p:cNvSpPr>
          <p:nvPr>
            <p:ph type="title"/>
          </p:nvPr>
        </p:nvSpPr>
        <p:spPr>
          <a:xfrm>
            <a:off x="576263" y="258763"/>
            <a:ext cx="10369550" cy="431800"/>
          </a:xfrm>
          <a:noFill/>
        </p:spPr>
        <p:txBody>
          <a:bodyPr/>
          <a:lstStyle/>
          <a:p>
            <a:r>
              <a:rPr lang="en-US" altLang="zh-CN">
                <a:ea typeface="黑体" pitchFamily="49" charset="-122"/>
              </a:rPr>
              <a:t>6.1.2</a:t>
            </a:r>
            <a:r>
              <a:rPr lang="zh-CN" altLang="en-US">
                <a:ea typeface="黑体" pitchFamily="49" charset="-122"/>
              </a:rPr>
              <a:t>螯合物</a:t>
            </a:r>
            <a:endParaRPr lang="zh-CN" altLang="en-US" sz="1200" b="0">
              <a:solidFill>
                <a:srgbClr val="0000FF"/>
              </a:solidFill>
              <a:ea typeface="黑体" pitchFamily="49" charset="-122"/>
            </a:endParaRPr>
          </a:p>
        </p:txBody>
      </p:sp>
      <p:sp>
        <p:nvSpPr>
          <p:cNvPr id="2056"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7"/>
            <a:srcRect/>
            <a:stretch>
              <a:fillRect/>
            </a:stretch>
          </a:blipFill>
          <a:ln w="9525">
            <a:solidFill>
              <a:srgbClr val="808080"/>
            </a:solidFill>
            <a:round/>
            <a:headEnd/>
            <a:tailEnd/>
          </a:ln>
        </p:spPr>
        <p:txBody>
          <a:bodyPr wrap="none" anchor="ctr"/>
          <a:lstStyle/>
          <a:p>
            <a:endParaRPr lang="zh-CN" altLang="en-US"/>
          </a:p>
        </p:txBody>
      </p:sp>
      <p:sp>
        <p:nvSpPr>
          <p:cNvPr id="2057"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8"/>
            <a:srcRect/>
            <a:stretch>
              <a:fillRect/>
            </a:stretch>
          </a:blipFill>
          <a:ln w="9525">
            <a:solidFill>
              <a:srgbClr val="808080"/>
            </a:solidFill>
            <a:round/>
            <a:headEnd/>
            <a:tailEnd/>
          </a:ln>
        </p:spPr>
        <p:txBody>
          <a:bodyPr wrap="none" anchor="ctr"/>
          <a:lstStyle/>
          <a:p>
            <a:endParaRPr lang="zh-CN" altLang="en-US"/>
          </a:p>
        </p:txBody>
      </p:sp>
    </p:spTree>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9226"/>
                                        </p:tgtEl>
                                        <p:attrNameLst>
                                          <p:attrName>style.visibility</p:attrName>
                                        </p:attrNameLst>
                                      </p:cBhvr>
                                      <p:to>
                                        <p:strVal val="visible"/>
                                      </p:to>
                                    </p:set>
                                    <p:animEffect transition="in" filter="slide(fromLeft)">
                                      <p:cBhvr>
                                        <p:cTn id="7" dur="500"/>
                                        <p:tgtEl>
                                          <p:spTgt spid="92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9225">
                                            <p:txEl>
                                              <p:pRg st="0" end="0"/>
                                            </p:txEl>
                                          </p:spTgt>
                                        </p:tgtEl>
                                        <p:attrNameLst>
                                          <p:attrName>style.visibility</p:attrName>
                                        </p:attrNameLst>
                                      </p:cBhvr>
                                      <p:to>
                                        <p:strVal val="visible"/>
                                      </p:to>
                                    </p:set>
                                    <p:animEffect transition="in" filter="blinds(vertical)">
                                      <p:cBhvr>
                                        <p:cTn id="12" dur="500"/>
                                        <p:tgtEl>
                                          <p:spTgt spid="92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9225">
                                            <p:txEl>
                                              <p:pRg st="1" end="1"/>
                                            </p:txEl>
                                          </p:spTgt>
                                        </p:tgtEl>
                                        <p:attrNameLst>
                                          <p:attrName>style.visibility</p:attrName>
                                        </p:attrNameLst>
                                      </p:cBhvr>
                                      <p:to>
                                        <p:strVal val="visible"/>
                                      </p:to>
                                    </p:set>
                                    <p:animEffect transition="in" filter="blinds(vertical)">
                                      <p:cBhvr>
                                        <p:cTn id="17" dur="500"/>
                                        <p:tgtEl>
                                          <p:spTgt spid="9225">
                                            <p:txEl>
                                              <p:pRg st="1" end="1"/>
                                            </p:txEl>
                                          </p:spTgt>
                                        </p:tgtEl>
                                      </p:cBhvr>
                                    </p:animEffect>
                                  </p:childTnLst>
                                </p:cTn>
                              </p:par>
                            </p:childTnLst>
                          </p:cTn>
                        </p:par>
                        <p:par>
                          <p:cTn id="18" fill="hold">
                            <p:stCondLst>
                              <p:cond delay="500"/>
                            </p:stCondLst>
                            <p:childTnLst>
                              <p:par>
                                <p:cTn id="19" presetID="4" presetClass="entr" presetSubtype="32" fill="hold" nodeType="afterEffect">
                                  <p:stCondLst>
                                    <p:cond delay="0"/>
                                  </p:stCondLst>
                                  <p:childTnLst>
                                    <p:set>
                                      <p:cBhvr>
                                        <p:cTn id="20" dur="1" fill="hold">
                                          <p:stCondLst>
                                            <p:cond delay="0"/>
                                          </p:stCondLst>
                                        </p:cTn>
                                        <p:tgtEl>
                                          <p:spTgt spid="9261"/>
                                        </p:tgtEl>
                                        <p:attrNameLst>
                                          <p:attrName>style.visibility</p:attrName>
                                        </p:attrNameLst>
                                      </p:cBhvr>
                                      <p:to>
                                        <p:strVal val="visible"/>
                                      </p:to>
                                    </p:set>
                                    <p:animEffect transition="in" filter="box(out)">
                                      <p:cBhvr>
                                        <p:cTn id="21" dur="500"/>
                                        <p:tgtEl>
                                          <p:spTgt spid="9261"/>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3" presetClass="entr" presetSubtype="5" fill="hold" grpId="0" nodeType="clickEffect">
                                  <p:stCondLst>
                                    <p:cond delay="0"/>
                                  </p:stCondLst>
                                  <p:childTnLst>
                                    <p:set>
                                      <p:cBhvr>
                                        <p:cTn id="25" dur="1" fill="hold">
                                          <p:stCondLst>
                                            <p:cond delay="0"/>
                                          </p:stCondLst>
                                        </p:cTn>
                                        <p:tgtEl>
                                          <p:spTgt spid="9244"/>
                                        </p:tgtEl>
                                        <p:attrNameLst>
                                          <p:attrName>style.visibility</p:attrName>
                                        </p:attrNameLst>
                                      </p:cBhvr>
                                      <p:to>
                                        <p:strVal val="visible"/>
                                      </p:to>
                                    </p:set>
                                    <p:animEffect transition="in" filter="blinds(vertical)">
                                      <p:cBhvr>
                                        <p:cTn id="26" dur="500"/>
                                        <p:tgtEl>
                                          <p:spTgt spid="9244"/>
                                        </p:tgtEl>
                                      </p:cBhvr>
                                    </p:animEffect>
                                  </p:childTnLst>
                                </p:cTn>
                              </p:par>
                            </p:childTnLst>
                          </p:cTn>
                        </p:par>
                        <p:par>
                          <p:cTn id="27" fill="hold">
                            <p:stCondLst>
                              <p:cond delay="500"/>
                            </p:stCondLst>
                            <p:childTnLst>
                              <p:par>
                                <p:cTn id="28" presetID="3" presetClass="entr" presetSubtype="5" fill="hold" nodeType="afterEffect">
                                  <p:stCondLst>
                                    <p:cond delay="0"/>
                                  </p:stCondLst>
                                  <p:childTnLst>
                                    <p:set>
                                      <p:cBhvr>
                                        <p:cTn id="29" dur="1" fill="hold">
                                          <p:stCondLst>
                                            <p:cond delay="0"/>
                                          </p:stCondLst>
                                        </p:cTn>
                                        <p:tgtEl>
                                          <p:spTgt spid="9247"/>
                                        </p:tgtEl>
                                        <p:attrNameLst>
                                          <p:attrName>style.visibility</p:attrName>
                                        </p:attrNameLst>
                                      </p:cBhvr>
                                      <p:to>
                                        <p:strVal val="visible"/>
                                      </p:to>
                                    </p:set>
                                    <p:animEffect transition="in" filter="blinds(vertical)">
                                      <p:cBhvr>
                                        <p:cTn id="30" dur="500"/>
                                        <p:tgtEl>
                                          <p:spTgt spid="9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5" grpId="0" uiExpand="1" build="p" autoUpdateAnimBg="0"/>
      <p:bldP spid="9226" grpId="0" autoUpdateAnimBg="0"/>
      <p:bldP spid="924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6" name="Text Box 8"/>
          <p:cNvSpPr txBox="1">
            <a:spLocks noChangeArrowheads="1"/>
          </p:cNvSpPr>
          <p:nvPr/>
        </p:nvSpPr>
        <p:spPr bwMode="auto">
          <a:xfrm>
            <a:off x="906463" y="1620411"/>
            <a:ext cx="10615612" cy="1631216"/>
          </a:xfrm>
          <a:prstGeom prst="rect">
            <a:avLst/>
          </a:prstGeom>
          <a:noFill/>
          <a:ln w="9525">
            <a:noFill/>
            <a:miter lim="800000"/>
            <a:headEnd/>
            <a:tailEnd/>
          </a:ln>
        </p:spPr>
        <p:txBody>
          <a:bodyPr anchor="ctr">
            <a:spAutoFit/>
          </a:bodyPr>
          <a:lstStyle/>
          <a:p>
            <a:r>
              <a:rPr lang="en-US" altLang="zh-CN" sz="2500" b="1" dirty="0">
                <a:ea typeface="楷体_GB2312" pitchFamily="49" charset="-122"/>
              </a:rPr>
              <a:t>              </a:t>
            </a:r>
            <a:r>
              <a:rPr lang="zh-CN" altLang="en-US" sz="2500" b="1" dirty="0">
                <a:ea typeface="楷体_GB2312" pitchFamily="49" charset="-122"/>
              </a:rPr>
              <a:t>含多齿配体的配位剂</a:t>
            </a:r>
            <a:r>
              <a:rPr lang="en-US" altLang="zh-CN" sz="2500" b="1" dirty="0">
                <a:ea typeface="楷体_GB2312" pitchFamily="49" charset="-122"/>
              </a:rPr>
              <a:t>.</a:t>
            </a:r>
          </a:p>
          <a:p>
            <a:r>
              <a:rPr lang="en-US" altLang="zh-CN" sz="2500" b="1" dirty="0">
                <a:ea typeface="楷体_GB2312" pitchFamily="49" charset="-122"/>
              </a:rPr>
              <a:t>        </a:t>
            </a:r>
            <a:r>
              <a:rPr lang="zh-CN" altLang="en-US" sz="2500" b="1" dirty="0">
                <a:ea typeface="楷体_GB2312" pitchFamily="49" charset="-122"/>
              </a:rPr>
              <a:t>一般是含</a:t>
            </a:r>
            <a:r>
              <a:rPr lang="en-US" altLang="zh-CN" sz="2500" b="1" dirty="0">
                <a:ea typeface="楷体_GB2312" pitchFamily="49" charset="-122"/>
              </a:rPr>
              <a:t>N</a:t>
            </a:r>
            <a:r>
              <a:rPr lang="zh-CN" altLang="en-US" sz="2500" b="1" dirty="0">
                <a:ea typeface="楷体_GB2312" pitchFamily="49" charset="-122"/>
              </a:rPr>
              <a:t>、</a:t>
            </a:r>
            <a:r>
              <a:rPr lang="en-US" altLang="zh-CN" sz="2500" b="1" dirty="0">
                <a:ea typeface="楷体_GB2312" pitchFamily="49" charset="-122"/>
              </a:rPr>
              <a:t>O</a:t>
            </a:r>
            <a:r>
              <a:rPr lang="zh-CN" altLang="en-US" sz="2500" b="1" dirty="0">
                <a:ea typeface="楷体_GB2312" pitchFamily="49" charset="-122"/>
              </a:rPr>
              <a:t>、</a:t>
            </a:r>
            <a:r>
              <a:rPr lang="en-US" altLang="zh-CN" sz="2500" b="1" dirty="0">
                <a:ea typeface="楷体_GB2312" pitchFamily="49" charset="-122"/>
              </a:rPr>
              <a:t>S</a:t>
            </a:r>
            <a:r>
              <a:rPr lang="zh-CN" altLang="en-US" sz="2500" b="1" dirty="0">
                <a:ea typeface="楷体_GB2312" pitchFamily="49" charset="-122"/>
              </a:rPr>
              <a:t>、</a:t>
            </a:r>
            <a:r>
              <a:rPr lang="en-US" altLang="zh-CN" sz="2500" b="1" dirty="0">
                <a:ea typeface="楷体_GB2312" pitchFamily="49" charset="-122"/>
              </a:rPr>
              <a:t>P</a:t>
            </a:r>
            <a:r>
              <a:rPr lang="zh-CN" altLang="en-US" sz="2500" b="1" dirty="0">
                <a:ea typeface="楷体_GB2312" pitchFamily="49" charset="-122"/>
              </a:rPr>
              <a:t>等配位原子的有机物</a:t>
            </a:r>
            <a:r>
              <a:rPr lang="en-US" altLang="zh-CN" sz="2500" b="1" dirty="0">
                <a:ea typeface="楷体_GB2312" pitchFamily="49" charset="-122"/>
              </a:rPr>
              <a:t>.</a:t>
            </a:r>
          </a:p>
          <a:p>
            <a:r>
              <a:rPr lang="en-US" altLang="zh-CN" sz="2500" b="1" dirty="0">
                <a:ea typeface="楷体_GB2312" pitchFamily="49" charset="-122"/>
              </a:rPr>
              <a:t>        </a:t>
            </a:r>
            <a:r>
              <a:rPr lang="zh-CN" altLang="en-US" sz="2500" b="1" dirty="0">
                <a:ea typeface="楷体_GB2312" pitchFamily="49" charset="-122"/>
              </a:rPr>
              <a:t>如氨羧螯合剂大多是</a:t>
            </a:r>
            <a:r>
              <a:rPr lang="zh-CN" altLang="zh-CN" sz="2500" b="1" dirty="0">
                <a:ea typeface="楷体_GB2312" pitchFamily="49" charset="-122"/>
              </a:rPr>
              <a:t>以</a:t>
            </a:r>
            <a:r>
              <a:rPr lang="en-US" altLang="zh-CN" sz="2500" b="1" dirty="0">
                <a:ea typeface="楷体_GB2312" pitchFamily="49" charset="-122"/>
              </a:rPr>
              <a:t>[–N(CH</a:t>
            </a:r>
            <a:r>
              <a:rPr lang="en-US" altLang="zh-CN" sz="2500" b="1" baseline="-25000" dirty="0">
                <a:ea typeface="楷体_GB2312" pitchFamily="49" charset="-122"/>
              </a:rPr>
              <a:t>2</a:t>
            </a:r>
            <a:r>
              <a:rPr lang="en-US" altLang="zh-CN" sz="2500" b="1" dirty="0">
                <a:ea typeface="楷体_GB2312" pitchFamily="49" charset="-122"/>
              </a:rPr>
              <a:t>COOH)</a:t>
            </a:r>
            <a:r>
              <a:rPr lang="en-US" altLang="zh-CN" sz="2500" b="1" baseline="-25000" dirty="0">
                <a:ea typeface="楷体_GB2312" pitchFamily="49" charset="-122"/>
              </a:rPr>
              <a:t>2</a:t>
            </a:r>
            <a:r>
              <a:rPr lang="en-US" altLang="zh-CN" sz="2500" b="1" dirty="0">
                <a:ea typeface="楷体_GB2312" pitchFamily="49" charset="-122"/>
              </a:rPr>
              <a:t>]</a:t>
            </a:r>
            <a:r>
              <a:rPr lang="zh-CN" altLang="en-US" sz="2500" b="1" dirty="0">
                <a:ea typeface="楷体_GB2312" pitchFamily="49" charset="-122"/>
              </a:rPr>
              <a:t>为基体的“</a:t>
            </a:r>
            <a:r>
              <a:rPr lang="en-US" altLang="zh-CN" sz="2500" b="1" dirty="0">
                <a:ea typeface="楷体_GB2312" pitchFamily="49" charset="-122"/>
              </a:rPr>
              <a:t>NO”</a:t>
            </a:r>
            <a:r>
              <a:rPr lang="zh-CN" altLang="en-US" sz="2500" b="1" dirty="0">
                <a:ea typeface="楷体_GB2312" pitchFamily="49" charset="-122"/>
              </a:rPr>
              <a:t>型螯合剂</a:t>
            </a:r>
            <a:r>
              <a:rPr lang="en-US" altLang="zh-CN" sz="2500" b="1" dirty="0">
                <a:ea typeface="楷体_GB2312" pitchFamily="49" charset="-122"/>
              </a:rPr>
              <a:t>.</a:t>
            </a:r>
          </a:p>
          <a:p>
            <a:r>
              <a:rPr lang="en-US" altLang="zh-CN" sz="2500" b="1" dirty="0">
                <a:ea typeface="楷体_GB2312" pitchFamily="49" charset="-122"/>
              </a:rPr>
              <a:t>        </a:t>
            </a:r>
            <a:r>
              <a:rPr lang="zh-CN" altLang="en-US" sz="2500" b="1" dirty="0">
                <a:ea typeface="楷体_GB2312" pitchFamily="49" charset="-122"/>
              </a:rPr>
              <a:t>乙二胺四乙酸</a:t>
            </a:r>
            <a:r>
              <a:rPr lang="en-US" altLang="zh-CN" sz="2500" b="1" dirty="0">
                <a:ea typeface="楷体_GB2312" pitchFamily="49" charset="-122"/>
              </a:rPr>
              <a:t>(</a:t>
            </a:r>
            <a:r>
              <a:rPr lang="en-US" altLang="zh-CN" sz="2500" b="1" dirty="0">
                <a:ea typeface="楷体_GB2312" pitchFamily="49" charset="-122"/>
                <a:hlinkClick r:id="rId2" action="ppaction://hlinksldjump"/>
              </a:rPr>
              <a:t>EDTA</a:t>
            </a:r>
            <a:r>
              <a:rPr lang="en-US" altLang="zh-CN" sz="2500" b="1" dirty="0">
                <a:ea typeface="楷体_GB2312" pitchFamily="49" charset="-122"/>
              </a:rPr>
              <a:t>),</a:t>
            </a:r>
            <a:r>
              <a:rPr lang="zh-CN" altLang="en-US" sz="2500" b="1" dirty="0">
                <a:ea typeface="楷体_GB2312" pitchFamily="49" charset="-122"/>
              </a:rPr>
              <a:t>就属氨羧螯合剂</a:t>
            </a:r>
            <a:r>
              <a:rPr lang="en-US" altLang="zh-CN" sz="2500" b="1" dirty="0">
                <a:ea typeface="楷体_GB2312" pitchFamily="49" charset="-122"/>
              </a:rPr>
              <a:t>.</a:t>
            </a:r>
          </a:p>
        </p:txBody>
      </p:sp>
      <p:sp>
        <p:nvSpPr>
          <p:cNvPr id="17420" name="Rectangle 12"/>
          <p:cNvSpPr>
            <a:spLocks noChangeArrowheads="1"/>
          </p:cNvSpPr>
          <p:nvPr/>
        </p:nvSpPr>
        <p:spPr bwMode="auto">
          <a:xfrm>
            <a:off x="906463" y="1428750"/>
            <a:ext cx="1258887" cy="476250"/>
          </a:xfrm>
          <a:prstGeom prst="rect">
            <a:avLst/>
          </a:prstGeom>
          <a:noFill/>
          <a:ln w="9525">
            <a:noFill/>
            <a:miter lim="800000"/>
            <a:headEnd/>
            <a:tailEnd/>
          </a:ln>
        </p:spPr>
        <p:txBody>
          <a:bodyPr wrap="none" anchor="ctr">
            <a:spAutoFit/>
          </a:bodyPr>
          <a:lstStyle/>
          <a:p>
            <a:r>
              <a:rPr lang="zh-CN" altLang="en-US" sz="2500" b="1">
                <a:solidFill>
                  <a:srgbClr val="FF3300"/>
                </a:solidFill>
                <a:ea typeface="楷体_GB2312" pitchFamily="49" charset="-122"/>
              </a:rPr>
              <a:t>螯合剂</a:t>
            </a:r>
            <a:r>
              <a:rPr lang="en-US" altLang="zh-CN" sz="2500" b="1">
                <a:solidFill>
                  <a:srgbClr val="FF3300"/>
                </a:solidFill>
                <a:ea typeface="楷体_GB2312" pitchFamily="49" charset="-122"/>
              </a:rPr>
              <a:t>:</a:t>
            </a:r>
          </a:p>
        </p:txBody>
      </p:sp>
      <p:sp>
        <p:nvSpPr>
          <p:cNvPr id="16392" name="Rectangle 32"/>
          <p:cNvSpPr>
            <a:spLocks noGrp="1" noChangeArrowheads="1"/>
          </p:cNvSpPr>
          <p:nvPr>
            <p:ph type="title"/>
          </p:nvPr>
        </p:nvSpPr>
        <p:spPr>
          <a:xfrm>
            <a:off x="576263" y="258763"/>
            <a:ext cx="10369550" cy="431800"/>
          </a:xfrm>
          <a:noFill/>
        </p:spPr>
        <p:txBody>
          <a:bodyPr/>
          <a:lstStyle/>
          <a:p>
            <a:r>
              <a:rPr lang="en-US" altLang="zh-CN" dirty="0">
                <a:ea typeface="黑体" pitchFamily="49" charset="-122"/>
              </a:rPr>
              <a:t>6.1.2</a:t>
            </a:r>
            <a:r>
              <a:rPr lang="zh-CN" altLang="en-US" dirty="0">
                <a:ea typeface="黑体" pitchFamily="49" charset="-122"/>
              </a:rPr>
              <a:t>螯合物</a:t>
            </a:r>
            <a:endParaRPr lang="zh-CN" altLang="en-US" sz="1200" b="0" dirty="0">
              <a:solidFill>
                <a:srgbClr val="0000FF"/>
              </a:solidFill>
              <a:ea typeface="黑体" pitchFamily="49" charset="-122"/>
            </a:endParaRPr>
          </a:p>
        </p:txBody>
      </p:sp>
      <p:sp>
        <p:nvSpPr>
          <p:cNvPr id="16393" name="Oval 27" descr="图片9">
            <a:hlinkClick r:id="rId3" action="ppaction://hlinksldjump"/>
          </p:cNvPr>
          <p:cNvSpPr>
            <a:spLocks noChangeAspect="1" noChangeArrowheads="1"/>
          </p:cNvSpPr>
          <p:nvPr/>
        </p:nvSpPr>
        <p:spPr bwMode="gray">
          <a:xfrm>
            <a:off x="11161713" y="5597525"/>
            <a:ext cx="360362" cy="360363"/>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16394"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a:p>
        </p:txBody>
      </p:sp>
    </p:spTree>
  </p:cSld>
  <p:clrMapOvr>
    <a:masterClrMapping/>
  </p:clrMapOvr>
  <p:transition spd="slow">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7420"/>
                                        </p:tgtEl>
                                        <p:attrNameLst>
                                          <p:attrName>style.visibility</p:attrName>
                                        </p:attrNameLst>
                                      </p:cBhvr>
                                      <p:to>
                                        <p:strVal val="visible"/>
                                      </p:to>
                                    </p:set>
                                    <p:animEffect transition="in" filter="blinds(vertical)">
                                      <p:cBhvr>
                                        <p:cTn id="7" dur="500"/>
                                        <p:tgtEl>
                                          <p:spTgt spid="174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7416">
                                            <p:txEl>
                                              <p:pRg st="0" end="0"/>
                                            </p:txEl>
                                          </p:spTgt>
                                        </p:tgtEl>
                                        <p:attrNameLst>
                                          <p:attrName>style.visibility</p:attrName>
                                        </p:attrNameLst>
                                      </p:cBhvr>
                                      <p:to>
                                        <p:strVal val="visible"/>
                                      </p:to>
                                    </p:set>
                                    <p:animEffect transition="in" filter="blinds(vertical)">
                                      <p:cBhvr>
                                        <p:cTn id="12" dur="500"/>
                                        <p:tgtEl>
                                          <p:spTgt spid="174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7416">
                                            <p:txEl>
                                              <p:pRg st="1" end="1"/>
                                            </p:txEl>
                                          </p:spTgt>
                                        </p:tgtEl>
                                        <p:attrNameLst>
                                          <p:attrName>style.visibility</p:attrName>
                                        </p:attrNameLst>
                                      </p:cBhvr>
                                      <p:to>
                                        <p:strVal val="visible"/>
                                      </p:to>
                                    </p:set>
                                    <p:animEffect transition="in" filter="blinds(vertical)">
                                      <p:cBhvr>
                                        <p:cTn id="17" dur="500"/>
                                        <p:tgtEl>
                                          <p:spTgt spid="1741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7416">
                                            <p:txEl>
                                              <p:pRg st="2" end="2"/>
                                            </p:txEl>
                                          </p:spTgt>
                                        </p:tgtEl>
                                        <p:attrNameLst>
                                          <p:attrName>style.visibility</p:attrName>
                                        </p:attrNameLst>
                                      </p:cBhvr>
                                      <p:to>
                                        <p:strVal val="visible"/>
                                      </p:to>
                                    </p:set>
                                    <p:animEffect transition="in" filter="blinds(vertical)">
                                      <p:cBhvr>
                                        <p:cTn id="22" dur="500"/>
                                        <p:tgtEl>
                                          <p:spTgt spid="1741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7416">
                                            <p:txEl>
                                              <p:pRg st="3" end="3"/>
                                            </p:txEl>
                                          </p:spTgt>
                                        </p:tgtEl>
                                        <p:attrNameLst>
                                          <p:attrName>style.visibility</p:attrName>
                                        </p:attrNameLst>
                                      </p:cBhvr>
                                      <p:to>
                                        <p:strVal val="visible"/>
                                      </p:to>
                                    </p:set>
                                    <p:animEffect transition="in" filter="blinds(vertical)">
                                      <p:cBhvr>
                                        <p:cTn id="27" dur="500"/>
                                        <p:tgtEl>
                                          <p:spTgt spid="174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build="p" autoUpdateAnimBg="0"/>
      <p:bldP spid="1742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0" name="Picture 40" descr="丁二肟镍"/>
          <p:cNvPicPr>
            <a:picLocks noChangeArrowheads="1"/>
          </p:cNvPicPr>
          <p:nvPr/>
        </p:nvPicPr>
        <p:blipFill>
          <a:blip r:embed="rId3"/>
          <a:srcRect/>
          <a:stretch>
            <a:fillRect/>
          </a:stretch>
        </p:blipFill>
        <p:spPr bwMode="auto">
          <a:xfrm>
            <a:off x="5689600" y="2097088"/>
            <a:ext cx="4535488" cy="3060700"/>
          </a:xfrm>
          <a:prstGeom prst="rect">
            <a:avLst/>
          </a:prstGeom>
          <a:noFill/>
          <a:ln w="9525">
            <a:noFill/>
            <a:miter lim="800000"/>
            <a:headEnd/>
            <a:tailEnd/>
          </a:ln>
        </p:spPr>
      </p:pic>
      <p:sp>
        <p:nvSpPr>
          <p:cNvPr id="20490" name="Text Box 10"/>
          <p:cNvSpPr txBox="1">
            <a:spLocks noChangeArrowheads="1"/>
          </p:cNvSpPr>
          <p:nvPr/>
        </p:nvSpPr>
        <p:spPr bwMode="auto">
          <a:xfrm>
            <a:off x="1041400" y="2719388"/>
            <a:ext cx="5953125" cy="477837"/>
          </a:xfrm>
          <a:prstGeom prst="rect">
            <a:avLst/>
          </a:prstGeom>
          <a:noFill/>
          <a:ln w="9525">
            <a:noFill/>
            <a:miter lim="800000"/>
            <a:headEnd/>
            <a:tailEnd/>
          </a:ln>
        </p:spPr>
        <p:txBody>
          <a:bodyPr anchor="ctr">
            <a:spAutoFit/>
          </a:bodyPr>
          <a:lstStyle/>
          <a:p>
            <a:pPr>
              <a:spcBef>
                <a:spcPct val="50000"/>
              </a:spcBef>
            </a:pPr>
            <a:r>
              <a:rPr lang="en-US" altLang="zh-CN" sz="2500" b="1">
                <a:ea typeface="楷体_GB2312" pitchFamily="49" charset="-122"/>
              </a:rPr>
              <a:t>②</a:t>
            </a:r>
            <a:r>
              <a:rPr lang="zh-CN" altLang="en-US" sz="2500" b="1">
                <a:solidFill>
                  <a:srgbClr val="FF3300"/>
                </a:solidFill>
                <a:ea typeface="楷体_GB2312" pitchFamily="49" charset="-122"/>
              </a:rPr>
              <a:t>特征颜色</a:t>
            </a:r>
            <a:r>
              <a:rPr lang="en-US" altLang="zh-CN" sz="2500" b="1">
                <a:solidFill>
                  <a:srgbClr val="FF3300"/>
                </a:solidFill>
                <a:ea typeface="楷体_GB2312" pitchFamily="49" charset="-122"/>
              </a:rPr>
              <a:t>.</a:t>
            </a:r>
          </a:p>
        </p:txBody>
      </p:sp>
      <p:sp>
        <p:nvSpPr>
          <p:cNvPr id="20492" name="Rectangle 12"/>
          <p:cNvSpPr>
            <a:spLocks noChangeArrowheads="1"/>
          </p:cNvSpPr>
          <p:nvPr/>
        </p:nvSpPr>
        <p:spPr bwMode="auto">
          <a:xfrm>
            <a:off x="1041400" y="1428750"/>
            <a:ext cx="2224088" cy="476250"/>
          </a:xfrm>
          <a:prstGeom prst="rect">
            <a:avLst/>
          </a:prstGeom>
          <a:noFill/>
          <a:ln w="9525">
            <a:noFill/>
            <a:miter lim="800000"/>
            <a:headEnd/>
            <a:tailEnd/>
          </a:ln>
        </p:spPr>
        <p:txBody>
          <a:bodyPr wrap="none" anchor="ctr">
            <a:spAutoFit/>
          </a:bodyPr>
          <a:lstStyle/>
          <a:p>
            <a:pPr>
              <a:spcBef>
                <a:spcPct val="50000"/>
              </a:spcBef>
            </a:pPr>
            <a:r>
              <a:rPr lang="en-US" altLang="zh-CN" sz="2500" b="1">
                <a:ea typeface="楷体_GB2312" pitchFamily="49" charset="-122"/>
              </a:rPr>
              <a:t>①</a:t>
            </a:r>
            <a:r>
              <a:rPr lang="zh-CN" altLang="en-US" sz="2500" b="1">
                <a:solidFill>
                  <a:srgbClr val="FF3300"/>
                </a:solidFill>
                <a:ea typeface="楷体_GB2312" pitchFamily="49" charset="-122"/>
              </a:rPr>
              <a:t>特殊稳定性</a:t>
            </a:r>
            <a:r>
              <a:rPr lang="en-US" altLang="zh-CN" sz="2500" b="1">
                <a:solidFill>
                  <a:srgbClr val="FF3300"/>
                </a:solidFill>
                <a:ea typeface="楷体_GB2312" pitchFamily="49" charset="-122"/>
              </a:rPr>
              <a:t>;</a:t>
            </a:r>
          </a:p>
        </p:txBody>
      </p:sp>
      <p:sp>
        <p:nvSpPr>
          <p:cNvPr id="20493" name="Rectangle 13"/>
          <p:cNvSpPr>
            <a:spLocks noChangeArrowheads="1"/>
          </p:cNvSpPr>
          <p:nvPr/>
        </p:nvSpPr>
        <p:spPr bwMode="auto">
          <a:xfrm>
            <a:off x="1585913" y="2028423"/>
            <a:ext cx="3167012" cy="477054"/>
          </a:xfrm>
          <a:prstGeom prst="rect">
            <a:avLst/>
          </a:prstGeom>
          <a:noFill/>
          <a:ln w="9525">
            <a:noFill/>
            <a:miter lim="800000"/>
            <a:headEnd/>
            <a:tailEnd/>
          </a:ln>
        </p:spPr>
        <p:txBody>
          <a:bodyPr wrap="square" anchor="ctr">
            <a:spAutoFit/>
          </a:bodyPr>
          <a:lstStyle/>
          <a:p>
            <a:r>
              <a:rPr lang="zh-CN" altLang="en-US" sz="2500" b="1" dirty="0">
                <a:ea typeface="楷体_GB2312" pitchFamily="49" charset="-122"/>
              </a:rPr>
              <a:t>螯合物中的多原子环</a:t>
            </a:r>
            <a:r>
              <a:rPr lang="en-US" altLang="zh-CN" sz="2500" b="1" dirty="0">
                <a:ea typeface="楷体_GB2312" pitchFamily="49" charset="-122"/>
              </a:rPr>
              <a:t>.</a:t>
            </a:r>
          </a:p>
        </p:txBody>
      </p:sp>
      <p:sp>
        <p:nvSpPr>
          <p:cNvPr id="20495" name="AutoShape 15"/>
          <p:cNvSpPr>
            <a:spLocks/>
          </p:cNvSpPr>
          <p:nvPr/>
        </p:nvSpPr>
        <p:spPr bwMode="auto">
          <a:xfrm>
            <a:off x="906463" y="1631950"/>
            <a:ext cx="287337" cy="1439863"/>
          </a:xfrm>
          <a:prstGeom prst="leftBrace">
            <a:avLst>
              <a:gd name="adj1" fmla="val 55678"/>
              <a:gd name="adj2" fmla="val 50000"/>
            </a:avLst>
          </a:prstGeom>
          <a:noFill/>
          <a:ln w="9525">
            <a:solidFill>
              <a:schemeClr val="tx1"/>
            </a:solidFill>
            <a:round/>
            <a:headEnd/>
            <a:tailEnd/>
          </a:ln>
        </p:spPr>
        <p:txBody>
          <a:bodyPr wrap="none" anchor="ctr"/>
          <a:lstStyle/>
          <a:p>
            <a:endParaRPr lang="zh-CN" altLang="en-US" sz="2500">
              <a:ea typeface="楷体_GB2312" pitchFamily="49" charset="-122"/>
            </a:endParaRPr>
          </a:p>
        </p:txBody>
      </p:sp>
      <p:sp>
        <p:nvSpPr>
          <p:cNvPr id="20498" name="Rectangle 18"/>
          <p:cNvSpPr>
            <a:spLocks noChangeArrowheads="1"/>
          </p:cNvSpPr>
          <p:nvPr/>
        </p:nvSpPr>
        <p:spPr bwMode="auto">
          <a:xfrm>
            <a:off x="831850" y="953686"/>
            <a:ext cx="2143536" cy="477054"/>
          </a:xfrm>
          <a:prstGeom prst="rect">
            <a:avLst/>
          </a:prstGeom>
          <a:noFill/>
          <a:ln w="9525">
            <a:noFill/>
            <a:miter lim="800000"/>
            <a:headEnd/>
            <a:tailEnd/>
          </a:ln>
        </p:spPr>
        <p:txBody>
          <a:bodyPr wrap="none" anchor="ctr">
            <a:spAutoFit/>
          </a:bodyPr>
          <a:lstStyle/>
          <a:p>
            <a:r>
              <a:rPr lang="en-US" altLang="zh-CN" sz="2500" b="1" dirty="0">
                <a:solidFill>
                  <a:srgbClr val="FF3300"/>
                </a:solidFill>
                <a:ea typeface="楷体_GB2312" pitchFamily="49" charset="-122"/>
              </a:rPr>
              <a:t>2.</a:t>
            </a:r>
            <a:r>
              <a:rPr lang="zh-CN" altLang="en-US" sz="2500" b="1" dirty="0">
                <a:solidFill>
                  <a:srgbClr val="FF3300"/>
                </a:solidFill>
                <a:ea typeface="楷体_GB2312" pitchFamily="49" charset="-122"/>
              </a:rPr>
              <a:t>螯合剂特征</a:t>
            </a:r>
            <a:r>
              <a:rPr lang="en-US" altLang="zh-CN" sz="2500" b="1" dirty="0">
                <a:solidFill>
                  <a:srgbClr val="FF3300"/>
                </a:solidFill>
                <a:ea typeface="楷体_GB2312" pitchFamily="49" charset="-122"/>
              </a:rPr>
              <a:t>:</a:t>
            </a:r>
          </a:p>
        </p:txBody>
      </p:sp>
      <p:sp>
        <p:nvSpPr>
          <p:cNvPr id="20500" name="Rectangle 20"/>
          <p:cNvSpPr>
            <a:spLocks noChangeArrowheads="1"/>
          </p:cNvSpPr>
          <p:nvPr/>
        </p:nvSpPr>
        <p:spPr bwMode="auto">
          <a:xfrm>
            <a:off x="1585913" y="3195638"/>
            <a:ext cx="4079875" cy="862012"/>
          </a:xfrm>
          <a:prstGeom prst="rect">
            <a:avLst/>
          </a:prstGeom>
          <a:noFill/>
          <a:ln w="9525">
            <a:noFill/>
            <a:miter lim="800000"/>
            <a:headEnd/>
            <a:tailEnd/>
          </a:ln>
        </p:spPr>
        <p:txBody>
          <a:bodyPr anchor="ctr">
            <a:spAutoFit/>
          </a:bodyPr>
          <a:lstStyle/>
          <a:p>
            <a:pPr>
              <a:spcBef>
                <a:spcPct val="50000"/>
              </a:spcBef>
            </a:pPr>
            <a:r>
              <a:rPr lang="en-US" altLang="zh-CN" sz="2500" b="1" dirty="0">
                <a:ea typeface="楷体_GB2312" pitchFamily="49" charset="-122"/>
              </a:rPr>
              <a:t>        </a:t>
            </a:r>
            <a:r>
              <a:rPr lang="zh-CN" altLang="en-US" sz="2500" b="1" dirty="0">
                <a:ea typeface="楷体_GB2312" pitchFamily="49" charset="-122"/>
              </a:rPr>
              <a:t>如</a:t>
            </a:r>
            <a:r>
              <a:rPr lang="en-US" altLang="zh-CN" sz="2500" b="1" dirty="0">
                <a:ea typeface="楷体_GB2312" pitchFamily="49" charset="-122"/>
              </a:rPr>
              <a:t>Ni</a:t>
            </a:r>
            <a:r>
              <a:rPr lang="en-US" altLang="zh-CN" sz="2500" b="1" baseline="30000" dirty="0">
                <a:ea typeface="楷体_GB2312" pitchFamily="49" charset="-122"/>
              </a:rPr>
              <a:t>2+</a:t>
            </a:r>
            <a:r>
              <a:rPr lang="zh-CN" altLang="en-US" sz="2500" b="1" dirty="0">
                <a:ea typeface="楷体_GB2312" pitchFamily="49" charset="-122"/>
              </a:rPr>
              <a:t>在氨性条件下与丁二酮肟形成红色螯合物</a:t>
            </a:r>
            <a:r>
              <a:rPr lang="en-US" altLang="zh-CN" sz="2500" b="1" dirty="0">
                <a:ea typeface="楷体_GB2312" pitchFamily="49" charset="-122"/>
              </a:rPr>
              <a:t>.</a:t>
            </a:r>
          </a:p>
        </p:txBody>
      </p:sp>
      <p:sp>
        <p:nvSpPr>
          <p:cNvPr id="18441" name="Rectangle 43"/>
          <p:cNvSpPr>
            <a:spLocks noGrp="1" noChangeArrowheads="1"/>
          </p:cNvSpPr>
          <p:nvPr>
            <p:ph type="title"/>
          </p:nvPr>
        </p:nvSpPr>
        <p:spPr>
          <a:xfrm>
            <a:off x="576263" y="258763"/>
            <a:ext cx="10369550" cy="431800"/>
          </a:xfrm>
          <a:noFill/>
        </p:spPr>
        <p:txBody>
          <a:bodyPr/>
          <a:lstStyle/>
          <a:p>
            <a:r>
              <a:rPr lang="en-US" altLang="zh-CN">
                <a:ea typeface="黑体" pitchFamily="49" charset="-122"/>
              </a:rPr>
              <a:t>6.1.2</a:t>
            </a:r>
            <a:r>
              <a:rPr lang="zh-CN" altLang="en-US">
                <a:ea typeface="黑体" pitchFamily="49" charset="-122"/>
              </a:rPr>
              <a:t>螯合物及其特点</a:t>
            </a:r>
            <a:endParaRPr lang="zh-CN" altLang="en-US" sz="1200" b="0">
              <a:solidFill>
                <a:srgbClr val="0000FF"/>
              </a:solidFill>
              <a:ea typeface="黑体" pitchFamily="49" charset="-122"/>
            </a:endParaRPr>
          </a:p>
        </p:txBody>
      </p:sp>
      <p:sp>
        <p:nvSpPr>
          <p:cNvPr id="18442"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18443" name="Oval 26" descr="图片8">
            <a:hlinkClick r:id="rId5" action="ppaction://hlinksldjump"/>
          </p:cNvPr>
          <p:cNvSpPr>
            <a:spLocks noChangeAspect="1" noChangeArrowheads="1"/>
          </p:cNvSpPr>
          <p:nvPr/>
        </p:nvSpPr>
        <p:spPr bwMode="gray">
          <a:xfrm>
            <a:off x="0" y="5526088"/>
            <a:ext cx="360363" cy="360362"/>
          </a:xfrm>
          <a:prstGeom prst="ellipse">
            <a:avLst/>
          </a:prstGeom>
          <a:blipFill dpi="0" rotWithShape="1">
            <a:blip r:embed="rId6"/>
            <a:srcRect/>
            <a:stretch>
              <a:fillRect/>
            </a:stretch>
          </a:blipFill>
          <a:ln w="9525">
            <a:solidFill>
              <a:srgbClr val="808080"/>
            </a:solidFill>
            <a:round/>
            <a:headEnd/>
            <a:tailEnd/>
          </a:ln>
        </p:spPr>
        <p:txBody>
          <a:bodyPr wrap="none" anchor="ctr"/>
          <a:lstStyle/>
          <a:p>
            <a:endParaRPr lang="zh-CN" altLang="en-US"/>
          </a:p>
        </p:txBody>
      </p:sp>
    </p:spTree>
    <p:extLst>
      <p:ext uri="{BB962C8B-B14F-4D97-AF65-F5344CB8AC3E}">
        <p14:creationId xmlns:p14="http://schemas.microsoft.com/office/powerpoint/2010/main" val="4260277877"/>
      </p:ext>
    </p:extLst>
  </p:cSld>
  <p:clrMapOvr>
    <a:masterClrMapping/>
  </p:clrMapOvr>
  <p:transition spd="slow">
    <p:spli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0498"/>
                                        </p:tgtEl>
                                        <p:attrNameLst>
                                          <p:attrName>style.visibility</p:attrName>
                                        </p:attrNameLst>
                                      </p:cBhvr>
                                      <p:to>
                                        <p:strVal val="visible"/>
                                      </p:to>
                                    </p:set>
                                    <p:animEffect transition="in" filter="slide(fromTop)">
                                      <p:cBhvr>
                                        <p:cTn id="7" dur="500"/>
                                        <p:tgtEl>
                                          <p:spTgt spid="204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0492"/>
                                        </p:tgtEl>
                                        <p:attrNameLst>
                                          <p:attrName>style.visibility</p:attrName>
                                        </p:attrNameLst>
                                      </p:cBhvr>
                                      <p:to>
                                        <p:strVal val="visible"/>
                                      </p:to>
                                    </p:set>
                                    <p:animEffect transition="in" filter="blinds(vertical)">
                                      <p:cBhvr>
                                        <p:cTn id="12" dur="500"/>
                                        <p:tgtEl>
                                          <p:spTgt spid="204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0493">
                                            <p:txEl>
                                              <p:pRg st="0" end="0"/>
                                            </p:txEl>
                                          </p:spTgt>
                                        </p:tgtEl>
                                        <p:attrNameLst>
                                          <p:attrName>style.visibility</p:attrName>
                                        </p:attrNameLst>
                                      </p:cBhvr>
                                      <p:to>
                                        <p:strVal val="visible"/>
                                      </p:to>
                                    </p:set>
                                    <p:animEffect transition="in" filter="blinds(vertical)">
                                      <p:cBhvr>
                                        <p:cTn id="17" dur="500"/>
                                        <p:tgtEl>
                                          <p:spTgt spid="2049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0490"/>
                                        </p:tgtEl>
                                        <p:attrNameLst>
                                          <p:attrName>style.visibility</p:attrName>
                                        </p:attrNameLst>
                                      </p:cBhvr>
                                      <p:to>
                                        <p:strVal val="visible"/>
                                      </p:to>
                                    </p:set>
                                    <p:animEffect transition="in" filter="blinds(vertical)">
                                      <p:cBhvr>
                                        <p:cTn id="22" dur="500"/>
                                        <p:tgtEl>
                                          <p:spTgt spid="2049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20500"/>
                                        </p:tgtEl>
                                        <p:attrNameLst>
                                          <p:attrName>style.visibility</p:attrName>
                                        </p:attrNameLst>
                                      </p:cBhvr>
                                      <p:to>
                                        <p:strVal val="visible"/>
                                      </p:to>
                                    </p:set>
                                    <p:animEffect transition="in" filter="blinds(vertical)">
                                      <p:cBhvr>
                                        <p:cTn id="27" dur="500"/>
                                        <p:tgtEl>
                                          <p:spTgt spid="20500"/>
                                        </p:tgtEl>
                                      </p:cBhvr>
                                    </p:animEffect>
                                  </p:childTnLst>
                                </p:cTn>
                              </p:par>
                            </p:childTnLst>
                          </p:cTn>
                        </p:par>
                        <p:par>
                          <p:cTn id="28" fill="hold">
                            <p:stCondLst>
                              <p:cond delay="500"/>
                            </p:stCondLst>
                            <p:childTnLst>
                              <p:par>
                                <p:cTn id="29" presetID="4" presetClass="entr" presetSubtype="32" fill="hold" nodeType="afterEffect">
                                  <p:stCondLst>
                                    <p:cond delay="0"/>
                                  </p:stCondLst>
                                  <p:childTnLst>
                                    <p:set>
                                      <p:cBhvr>
                                        <p:cTn id="30" dur="1" fill="hold">
                                          <p:stCondLst>
                                            <p:cond delay="0"/>
                                          </p:stCondLst>
                                        </p:cTn>
                                        <p:tgtEl>
                                          <p:spTgt spid="20520"/>
                                        </p:tgtEl>
                                        <p:attrNameLst>
                                          <p:attrName>style.visibility</p:attrName>
                                        </p:attrNameLst>
                                      </p:cBhvr>
                                      <p:to>
                                        <p:strVal val="visible"/>
                                      </p:to>
                                    </p:set>
                                    <p:animEffect transition="in" filter="box(out)">
                                      <p:cBhvr>
                                        <p:cTn id="31" dur="500"/>
                                        <p:tgtEl>
                                          <p:spTgt spid="20520"/>
                                        </p:tgtEl>
                                      </p:cBhvr>
                                    </p:animEffect>
                                  </p:childTnLst>
                                </p:cTn>
                              </p:par>
                            </p:childTnLst>
                          </p:cTn>
                        </p:par>
                        <p:par>
                          <p:cTn id="32" fill="hold">
                            <p:stCondLst>
                              <p:cond delay="1000"/>
                            </p:stCondLst>
                            <p:childTnLst>
                              <p:par>
                                <p:cTn id="33" presetID="1" presetClass="entr" presetSubtype="0" fill="hold" grpId="0" nodeType="afterEffect">
                                  <p:stCondLst>
                                    <p:cond delay="0"/>
                                  </p:stCondLst>
                                  <p:childTnLst>
                                    <p:set>
                                      <p:cBhvr>
                                        <p:cTn id="34" dur="1" fill="hold">
                                          <p:stCondLst>
                                            <p:cond delay="499"/>
                                          </p:stCondLst>
                                        </p:cTn>
                                        <p:tgtEl>
                                          <p:spTgt spid="20495"/>
                                        </p:tgtEl>
                                        <p:attrNameLst>
                                          <p:attrName>style.visibility</p:attrName>
                                        </p:attrNameLst>
                                      </p:cBhvr>
                                      <p:to>
                                        <p:strVal val="visible"/>
                                      </p:to>
                                    </p:set>
                                  </p:childTnLst>
                                  <p:subTnLst>
                                    <p:audio>
                                      <p:cMediaNode>
                                        <p:cTn display="0" masterRel="sameClick">
                                          <p:stCondLst>
                                            <p:cond evt="begin" delay="0">
                                              <p:tn val="33"/>
                                            </p:cond>
                                          </p:stCondLst>
                                          <p:endCondLst>
                                            <p:cond evt="onStopAudio" delay="0">
                                              <p:tgtEl>
                                                <p:sldTgt/>
                                              </p:tgtEl>
                                            </p:cond>
                                          </p:endCondLst>
                                        </p:cTn>
                                        <p:tgtEl>
                                          <p:sndTgt r:embed="rId2" name="RECYC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0" grpId="0" autoUpdateAnimBg="0"/>
      <p:bldP spid="20492" grpId="0" autoUpdateAnimBg="0"/>
      <p:bldP spid="20493" grpId="0" build="p" autoUpdateAnimBg="0"/>
      <p:bldP spid="20495" grpId="0" animBg="1"/>
      <p:bldP spid="20498" grpId="0" autoUpdateAnimBg="0"/>
      <p:bldP spid="20500"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6263" y="243930"/>
            <a:ext cx="10369550" cy="461665"/>
          </a:xfrm>
        </p:spPr>
        <p:txBody>
          <a:bodyPr/>
          <a:lstStyle/>
          <a:p>
            <a:r>
              <a:rPr lang="en-US" altLang="zh-CN" sz="2400" dirty="0">
                <a:solidFill>
                  <a:srgbClr val="FF3300"/>
                </a:solidFill>
                <a:ea typeface="楷体_GB2312" pitchFamily="49" charset="-122"/>
              </a:rPr>
              <a:t>EDTA——</a:t>
            </a:r>
            <a:r>
              <a:rPr lang="zh-CN" altLang="en-US" sz="2400" dirty="0">
                <a:solidFill>
                  <a:srgbClr val="FF3300"/>
                </a:solidFill>
                <a:ea typeface="楷体_GB2312" pitchFamily="49" charset="-122"/>
              </a:rPr>
              <a:t>明星螯合剂</a:t>
            </a:r>
            <a:endParaRPr lang="zh-CN" altLang="en-US" dirty="0"/>
          </a:p>
        </p:txBody>
      </p:sp>
      <p:sp>
        <p:nvSpPr>
          <p:cNvPr id="4" name="Rectangle 30"/>
          <p:cNvSpPr>
            <a:spLocks noChangeArrowheads="1"/>
          </p:cNvSpPr>
          <p:nvPr/>
        </p:nvSpPr>
        <p:spPr bwMode="auto">
          <a:xfrm>
            <a:off x="1426898" y="1441552"/>
            <a:ext cx="2600520" cy="1292662"/>
          </a:xfrm>
          <a:prstGeom prst="rect">
            <a:avLst/>
          </a:prstGeom>
          <a:noFill/>
          <a:ln w="9525">
            <a:noFill/>
            <a:miter lim="800000"/>
            <a:headEnd/>
            <a:tailEnd/>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①</a:t>
            </a:r>
            <a:r>
              <a:rPr kumimoji="0" lang="en-US" altLang="zh-CN" sz="2800" b="0" i="0" u="none" strike="noStrike" kern="1200" cap="none" spc="0" normalizeH="0" baseline="0" noProof="0" dirty="0">
                <a:ln>
                  <a:noFill/>
                </a:ln>
                <a:solidFill>
                  <a:srgbClr val="FF3300"/>
                </a:solidFill>
                <a:effectLst/>
                <a:uLnTx/>
                <a:uFillTx/>
                <a:latin typeface="Times New Roman" pitchFamily="18" charset="0"/>
                <a:ea typeface="楷体_GB2312" pitchFamily="49" charset="-122"/>
                <a:cs typeface="+mn-cs"/>
              </a:rPr>
              <a:t> </a:t>
            </a:r>
            <a:r>
              <a:rPr kumimoji="0" lang="en-US" altLang="zh-CN" sz="2800" b="0"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EDTA</a:t>
            </a:r>
            <a:r>
              <a:rPr kumimoji="0" lang="zh-CN" altLang="en-US"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溶解度</a:t>
            </a:r>
            <a:r>
              <a:rPr kumimoji="0" lang="en-US" altLang="zh-CN"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5" name="Rectangle 29"/>
          <p:cNvSpPr>
            <a:spLocks noChangeArrowheads="1"/>
          </p:cNvSpPr>
          <p:nvPr/>
        </p:nvSpPr>
        <p:spPr bwMode="auto">
          <a:xfrm>
            <a:off x="455602" y="4467751"/>
            <a:ext cx="11161438" cy="477054"/>
          </a:xfrm>
          <a:prstGeom prst="rect">
            <a:avLst/>
          </a:prstGeom>
          <a:noFill/>
          <a:ln w="9525">
            <a:noFill/>
            <a:miter lim="800000"/>
            <a:headEnd/>
            <a:tailEnd/>
          </a:ln>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        EDTA</a:t>
            </a:r>
            <a:r>
              <a:rPr kumimoji="0" lang="zh-CN" altLang="en-US"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螯合物一般含</a:t>
            </a:r>
            <a:r>
              <a:rPr kumimoji="0" lang="zh-CN" altLang="en-US"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hlinkClick r:id="rId3" action="ppaction://hlinkfile"/>
              </a:rPr>
              <a:t>五个五原子环</a:t>
            </a:r>
            <a:r>
              <a:rPr kumimoji="0" lang="en-US" altLang="zh-CN"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a:t>
            </a:r>
            <a:r>
              <a:rPr kumimoji="0" lang="zh-CN" altLang="en-US"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配位比</a:t>
            </a:r>
            <a:r>
              <a:rPr kumimoji="0" lang="en-US" altLang="zh-CN"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1:1;</a:t>
            </a:r>
            <a:r>
              <a:rPr kumimoji="0" lang="zh-CN" altLang="en-US"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无分步配位现象。易溶于水</a:t>
            </a:r>
            <a:r>
              <a:rPr kumimoji="0" lang="en-US" altLang="zh-CN"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a:t>
            </a:r>
          </a:p>
        </p:txBody>
      </p:sp>
      <p:sp>
        <p:nvSpPr>
          <p:cNvPr id="6" name="矩形 5"/>
          <p:cNvSpPr/>
          <p:nvPr/>
        </p:nvSpPr>
        <p:spPr>
          <a:xfrm>
            <a:off x="1474463" y="2343742"/>
            <a:ext cx="1875835" cy="477054"/>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②</a:t>
            </a:r>
            <a:r>
              <a:rPr kumimoji="0" lang="zh-CN" altLang="en-US"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配位能力</a:t>
            </a:r>
            <a:r>
              <a:rPr kumimoji="0" lang="en-US" altLang="zh-CN"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a:t>
            </a:r>
          </a:p>
        </p:txBody>
      </p:sp>
      <p:sp>
        <p:nvSpPr>
          <p:cNvPr id="7" name="矩形 6"/>
          <p:cNvSpPr/>
          <p:nvPr/>
        </p:nvSpPr>
        <p:spPr>
          <a:xfrm>
            <a:off x="1368549" y="3231657"/>
            <a:ext cx="3278462"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③</a:t>
            </a:r>
            <a:r>
              <a:rPr kumimoji="0" lang="zh-CN" altLang="en-US"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水溶液中存在形式：</a:t>
            </a:r>
            <a:endParaRPr kumimoji="0" lang="zh-CN" altLang="en-US"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47011" y="1191473"/>
            <a:ext cx="783934" cy="750216"/>
          </a:xfrm>
          <a:prstGeom prst="rect">
            <a:avLst/>
          </a:prstGeom>
        </p:spPr>
      </p:pic>
      <p:sp>
        <p:nvSpPr>
          <p:cNvPr id="9" name="文本框 8"/>
          <p:cNvSpPr txBox="1"/>
          <p:nvPr/>
        </p:nvSpPr>
        <p:spPr>
          <a:xfrm>
            <a:off x="3827180" y="1497732"/>
            <a:ext cx="829073" cy="4770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500" b="1" i="0" u="none" strike="noStrike" kern="1200" cap="none" spc="0" normalizeH="0" baseline="0" noProof="0" dirty="0">
                <a:ln>
                  <a:noFill/>
                </a:ln>
                <a:solidFill>
                  <a:srgbClr val="FF0000"/>
                </a:solidFill>
                <a:effectLst/>
                <a:uLnTx/>
                <a:uFillTx/>
                <a:latin typeface="Times New Roman" pitchFamily="18" charset="0"/>
                <a:ea typeface="楷体_GB2312" pitchFamily="49" charset="-122"/>
                <a:cs typeface="+mn-cs"/>
              </a:rPr>
              <a:t>很小</a:t>
            </a:r>
          </a:p>
        </p:txBody>
      </p:sp>
      <p:sp>
        <p:nvSpPr>
          <p:cNvPr id="10" name="文本框 9"/>
          <p:cNvSpPr txBox="1"/>
          <p:nvPr/>
        </p:nvSpPr>
        <p:spPr>
          <a:xfrm>
            <a:off x="3346310" y="2290621"/>
            <a:ext cx="829073" cy="4770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500" b="1" i="0" u="none" strike="noStrike" kern="1200" cap="none" spc="0" normalizeH="0" baseline="0" noProof="0" dirty="0">
                <a:ln>
                  <a:noFill/>
                </a:ln>
                <a:solidFill>
                  <a:srgbClr val="FF0000"/>
                </a:solidFill>
                <a:effectLst/>
                <a:uLnTx/>
                <a:uFillTx/>
                <a:latin typeface="Times New Roman" pitchFamily="18" charset="0"/>
                <a:ea typeface="楷体_GB2312" pitchFamily="49" charset="-122"/>
                <a:cs typeface="+mn-cs"/>
              </a:rPr>
              <a:t>很强</a:t>
            </a:r>
          </a:p>
        </p:txBody>
      </p:sp>
      <p:pic>
        <p:nvPicPr>
          <p:cNvPr id="11" name="图片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43646" y="2087883"/>
            <a:ext cx="1190663" cy="725737"/>
          </a:xfrm>
          <a:prstGeom prst="rect">
            <a:avLst/>
          </a:prstGeom>
        </p:spPr>
      </p:pic>
      <p:sp>
        <p:nvSpPr>
          <p:cNvPr id="12" name="矩形 11"/>
          <p:cNvSpPr/>
          <p:nvPr/>
        </p:nvSpPr>
        <p:spPr>
          <a:xfrm>
            <a:off x="4392885" y="3231657"/>
            <a:ext cx="5776538" cy="830997"/>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H</a:t>
            </a:r>
            <a:r>
              <a:rPr kumimoji="0" lang="en-US" altLang="zh-CN" sz="2400" b="1" i="0" u="none" strike="noStrike" kern="1200" cap="none" spc="0" normalizeH="0" baseline="-25000" noProof="0" dirty="0">
                <a:ln>
                  <a:noFill/>
                </a:ln>
                <a:solidFill>
                  <a:srgbClr val="000000"/>
                </a:solidFill>
                <a:effectLst/>
                <a:uLnTx/>
                <a:uFillTx/>
                <a:latin typeface="Times New Roman" pitchFamily="18" charset="0"/>
                <a:ea typeface="楷体_GB2312" pitchFamily="49" charset="-122"/>
                <a:cs typeface="+mn-cs"/>
              </a:rPr>
              <a:t>6</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Y</a:t>
            </a:r>
            <a:r>
              <a:rPr kumimoji="0" lang="en-US" altLang="zh-CN" sz="2400" b="1" i="0" u="none" strike="noStrike" kern="1200" cap="none" spc="0" normalizeH="0" baseline="30000" noProof="0" dirty="0">
                <a:ln>
                  <a:noFill/>
                </a:ln>
                <a:solidFill>
                  <a:srgbClr val="000000"/>
                </a:solidFill>
                <a:effectLst/>
                <a:uLnTx/>
                <a:uFillTx/>
                <a:latin typeface="Times New Roman" pitchFamily="18" charset="0"/>
                <a:ea typeface="楷体_GB2312" pitchFamily="49" charset="-122"/>
                <a:cs typeface="+mn-cs"/>
              </a:rPr>
              <a:t>2+    </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H</a:t>
            </a:r>
            <a:r>
              <a:rPr kumimoji="0" lang="en-US" altLang="zh-CN" sz="2400" b="1" i="0" u="none" strike="noStrike" kern="1200" cap="none" spc="0" normalizeH="0" baseline="-25000" noProof="0" dirty="0">
                <a:ln>
                  <a:noFill/>
                </a:ln>
                <a:solidFill>
                  <a:srgbClr val="000000"/>
                </a:solidFill>
                <a:effectLst/>
                <a:uLnTx/>
                <a:uFillTx/>
                <a:latin typeface="Times New Roman" pitchFamily="18" charset="0"/>
                <a:ea typeface="楷体_GB2312" pitchFamily="49" charset="-122"/>
                <a:cs typeface="+mn-cs"/>
              </a:rPr>
              <a:t>5</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Y</a:t>
            </a:r>
            <a:r>
              <a:rPr kumimoji="0" lang="en-US" altLang="zh-CN" sz="2400" b="1" i="0" u="none" strike="noStrike" kern="1200" cap="none" spc="0" normalizeH="0" baseline="30000" noProof="0" dirty="0">
                <a:ln>
                  <a:noFill/>
                </a:ln>
                <a:solidFill>
                  <a:srgbClr val="000000"/>
                </a:solidFill>
                <a:effectLst/>
                <a:uLnTx/>
                <a:uFillTx/>
                <a:latin typeface="Times New Roman" pitchFamily="18" charset="0"/>
                <a:ea typeface="楷体_GB2312" pitchFamily="49" charset="-122"/>
                <a:cs typeface="+mn-cs"/>
              </a:rPr>
              <a:t>+   </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 H</a:t>
            </a:r>
            <a:r>
              <a:rPr kumimoji="0" lang="en-US" altLang="zh-CN" sz="2400" b="1" i="0" u="none" strike="noStrike" kern="1200" cap="none" spc="0" normalizeH="0" baseline="-25000" noProof="0" dirty="0">
                <a:ln>
                  <a:noFill/>
                </a:ln>
                <a:solidFill>
                  <a:srgbClr val="000000"/>
                </a:solidFill>
                <a:effectLst/>
                <a:uLnTx/>
                <a:uFillTx/>
                <a:latin typeface="Times New Roman" pitchFamily="18" charset="0"/>
                <a:ea typeface="楷体_GB2312" pitchFamily="49" charset="-122"/>
                <a:cs typeface="+mn-cs"/>
              </a:rPr>
              <a:t>4</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Y   H</a:t>
            </a:r>
            <a:r>
              <a:rPr kumimoji="0" lang="en-US" altLang="zh-CN" sz="2400" b="1" i="0" u="none" strike="noStrike" kern="1200" cap="none" spc="0" normalizeH="0" baseline="-25000" noProof="0" dirty="0">
                <a:ln>
                  <a:noFill/>
                </a:ln>
                <a:solidFill>
                  <a:srgbClr val="000000"/>
                </a:solidFill>
                <a:effectLst/>
                <a:uLnTx/>
                <a:uFillTx/>
                <a:latin typeface="Times New Roman" pitchFamily="18" charset="0"/>
                <a:ea typeface="楷体_GB2312" pitchFamily="49" charset="-122"/>
                <a:cs typeface="+mn-cs"/>
              </a:rPr>
              <a:t>3</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Y</a:t>
            </a:r>
            <a:r>
              <a:rPr kumimoji="0" lang="en-US" altLang="zh-CN" sz="2400" b="1" i="0" u="none" strike="noStrike" kern="1200" cap="none" spc="0" normalizeH="0" baseline="30000" noProof="0" dirty="0">
                <a:ln>
                  <a:noFill/>
                </a:ln>
                <a:solidFill>
                  <a:srgbClr val="000000"/>
                </a:solidFill>
                <a:effectLst/>
                <a:uLnTx/>
                <a:uFillTx/>
                <a:latin typeface="Times New Roman" pitchFamily="18" charset="0"/>
                <a:ea typeface="楷体_GB2312" pitchFamily="49" charset="-122"/>
                <a:cs typeface="+mn-cs"/>
              </a:rPr>
              <a:t>-  </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H</a:t>
            </a:r>
            <a:r>
              <a:rPr kumimoji="0" lang="en-US" altLang="zh-CN" sz="2400" b="1" i="0" u="none" strike="noStrike" kern="1200" cap="none" spc="0" normalizeH="0" baseline="-25000" noProof="0" dirty="0">
                <a:ln>
                  <a:noFill/>
                </a:ln>
                <a:solidFill>
                  <a:srgbClr val="000000"/>
                </a:solidFill>
                <a:effectLst/>
                <a:uLnTx/>
                <a:uFillTx/>
                <a:latin typeface="Times New Roman" pitchFamily="18" charset="0"/>
                <a:ea typeface="楷体_GB2312" pitchFamily="49" charset="-122"/>
                <a:cs typeface="+mn-cs"/>
              </a:rPr>
              <a:t>2</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Y</a:t>
            </a:r>
            <a:r>
              <a:rPr kumimoji="0" lang="en-US" altLang="zh-CN" sz="2400" b="1" i="0" u="none" strike="noStrike" kern="1200" cap="none" spc="0" normalizeH="0" baseline="30000" noProof="0" dirty="0">
                <a:ln>
                  <a:noFill/>
                </a:ln>
                <a:solidFill>
                  <a:srgbClr val="000000"/>
                </a:solidFill>
                <a:effectLst/>
                <a:uLnTx/>
                <a:uFillTx/>
                <a:latin typeface="Times New Roman" pitchFamily="18" charset="0"/>
                <a:ea typeface="楷体_GB2312" pitchFamily="49" charset="-122"/>
                <a:cs typeface="+mn-cs"/>
              </a:rPr>
              <a:t>2-   </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HY</a:t>
            </a:r>
            <a:r>
              <a:rPr kumimoji="0" lang="en-US" altLang="zh-CN" sz="2400" b="1" i="0" u="none" strike="noStrike" kern="1200" cap="none" spc="0" normalizeH="0" baseline="30000" noProof="0" dirty="0">
                <a:ln>
                  <a:noFill/>
                </a:ln>
                <a:solidFill>
                  <a:srgbClr val="000000"/>
                </a:solidFill>
                <a:effectLst/>
                <a:uLnTx/>
                <a:uFillTx/>
                <a:latin typeface="Times New Roman" pitchFamily="18" charset="0"/>
                <a:ea typeface="楷体_GB2312" pitchFamily="49" charset="-122"/>
                <a:cs typeface="+mn-cs"/>
              </a:rPr>
              <a:t>3-  </a:t>
            </a:r>
            <a:r>
              <a:rPr kumimoji="0" lang="en-US" altLang="zh-CN" sz="24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rPr>
              <a:t>  Y</a:t>
            </a:r>
            <a:r>
              <a:rPr kumimoji="0" lang="en-US" altLang="zh-CN" sz="2400" b="1" i="0" u="none" strike="noStrike" kern="1200" cap="none" spc="0" normalizeH="0" baseline="30000" noProof="0" dirty="0">
                <a:ln>
                  <a:noFill/>
                </a:ln>
                <a:solidFill>
                  <a:srgbClr val="000000"/>
                </a:solidFill>
                <a:effectLst/>
                <a:uLnTx/>
                <a:uFillTx/>
                <a:latin typeface="Times New Roman" pitchFamily="18" charset="0"/>
                <a:ea typeface="楷体_GB2312" pitchFamily="49" charset="-122"/>
                <a:cs typeface="+mn-cs"/>
              </a:rPr>
              <a:t>4-</a:t>
            </a:r>
            <a:endParaRPr kumimoji="0" lang="zh-CN" altLang="en-US" sz="2400" b="0" i="0" u="none" strike="noStrike" kern="1200" cap="none" spc="0" normalizeH="0" baseline="30000" noProof="0" dirty="0">
              <a:ln>
                <a:noFill/>
              </a:ln>
              <a:solidFill>
                <a:srgbClr val="000000"/>
              </a:solidFill>
              <a:effectLst/>
              <a:uLnTx/>
              <a:uFillTx/>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15" name="文本框 14"/>
          <p:cNvSpPr txBox="1"/>
          <p:nvPr/>
        </p:nvSpPr>
        <p:spPr>
          <a:xfrm>
            <a:off x="2680725" y="3714086"/>
            <a:ext cx="3224327" cy="461665"/>
          </a:xfrm>
          <a:prstGeom prst="rect">
            <a:avLst/>
          </a:prstGeom>
          <a:solidFill>
            <a:srgbClr val="FFFF00"/>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uLnTx/>
                <a:uFillTx/>
                <a:latin typeface="Times New Roman" pitchFamily="18" charset="0"/>
                <a:ea typeface="楷体_GB2312" pitchFamily="49" charset="-122"/>
                <a:cs typeface="+mn-cs"/>
              </a:rPr>
              <a:t>不同</a:t>
            </a:r>
            <a:r>
              <a:rPr kumimoji="0" lang="en-US" altLang="zh-CN" sz="2400" b="1" i="0" u="none" strike="noStrike" kern="1200" cap="none" spc="0" normalizeH="0" baseline="0" noProof="0" dirty="0">
                <a:ln>
                  <a:noFill/>
                </a:ln>
                <a:solidFill>
                  <a:srgbClr val="FF0000"/>
                </a:solidFill>
                <a:effectLst/>
                <a:uLnTx/>
                <a:uFillTx/>
                <a:latin typeface="Times New Roman" pitchFamily="18" charset="0"/>
                <a:ea typeface="楷体_GB2312" pitchFamily="49" charset="-122"/>
                <a:cs typeface="+mn-cs"/>
              </a:rPr>
              <a:t>pH</a:t>
            </a:r>
            <a:r>
              <a:rPr kumimoji="0" lang="zh-CN" altLang="en-US" sz="2400" b="1" i="0" u="none" strike="noStrike" kern="1200" cap="none" spc="0" normalizeH="0" baseline="0" noProof="0" dirty="0">
                <a:ln>
                  <a:noFill/>
                </a:ln>
                <a:solidFill>
                  <a:srgbClr val="FF0000"/>
                </a:solidFill>
                <a:effectLst/>
                <a:uLnTx/>
                <a:uFillTx/>
                <a:latin typeface="Times New Roman" pitchFamily="18" charset="0"/>
                <a:ea typeface="楷体_GB2312" pitchFamily="49" charset="-122"/>
                <a:cs typeface="+mn-cs"/>
              </a:rPr>
              <a:t>下的存在形式</a:t>
            </a:r>
          </a:p>
        </p:txBody>
      </p:sp>
      <p:sp>
        <p:nvSpPr>
          <p:cNvPr id="16" name="Text Box 63"/>
          <p:cNvSpPr txBox="1">
            <a:spLocks noChangeArrowheads="1"/>
          </p:cNvSpPr>
          <p:nvPr/>
        </p:nvSpPr>
        <p:spPr bwMode="auto">
          <a:xfrm>
            <a:off x="5933431" y="3693322"/>
            <a:ext cx="3086100" cy="476250"/>
          </a:xfrm>
          <a:prstGeom prst="rect">
            <a:avLst/>
          </a:prstGeom>
          <a:noFill/>
          <a:ln w="9525">
            <a:noFill/>
            <a:miter lim="800000"/>
            <a:headEnd/>
            <a:tailEnd/>
          </a:ln>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hlinkClick r:id="rId6" action="ppaction://hlinkfile"/>
              </a:rPr>
              <a:t>水溶液中分布</a:t>
            </a:r>
            <a:endParaRPr kumimoji="0" lang="zh-CN" altLang="en-US" sz="2500" b="1" i="0" u="none" strike="noStrike" kern="1200" cap="none" spc="0" normalizeH="0" baseline="0" noProof="0" dirty="0">
              <a:ln>
                <a:noFill/>
              </a:ln>
              <a:solidFill>
                <a:srgbClr val="000000"/>
              </a:solidFill>
              <a:effectLst/>
              <a:uLnTx/>
              <a:uFillTx/>
              <a:latin typeface="Times New Roman" pitchFamily="18" charset="0"/>
              <a:ea typeface="楷体_GB2312" pitchFamily="49" charset="-122"/>
              <a:cs typeface="+mn-cs"/>
            </a:endParaRPr>
          </a:p>
        </p:txBody>
      </p:sp>
      <p:sp>
        <p:nvSpPr>
          <p:cNvPr id="17" name="椭圆形标注 16"/>
          <p:cNvSpPr/>
          <p:nvPr/>
        </p:nvSpPr>
        <p:spPr>
          <a:xfrm>
            <a:off x="6036321" y="5112295"/>
            <a:ext cx="1440160" cy="936104"/>
          </a:xfrm>
          <a:prstGeom prst="wedgeEllipseCallout">
            <a:avLst>
              <a:gd name="adj1" fmla="val -7963"/>
              <a:gd name="adj2" fmla="val -73066"/>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Times New Roman"/>
                <a:ea typeface="+mn-ea"/>
                <a:cs typeface="+mn-cs"/>
              </a:rPr>
              <a:t>配位数？</a:t>
            </a:r>
          </a:p>
        </p:txBody>
      </p:sp>
      <p:sp>
        <p:nvSpPr>
          <p:cNvPr id="18" name="文本框 17"/>
          <p:cNvSpPr txBox="1"/>
          <p:nvPr/>
        </p:nvSpPr>
        <p:spPr>
          <a:xfrm>
            <a:off x="720477" y="907967"/>
            <a:ext cx="902811"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楷体_GB2312"/>
                <a:cs typeface="+mn-cs"/>
              </a:rPr>
              <a:t>要点</a:t>
            </a:r>
          </a:p>
        </p:txBody>
      </p:sp>
    </p:spTree>
    <p:extLst>
      <p:ext uri="{BB962C8B-B14F-4D97-AF65-F5344CB8AC3E}">
        <p14:creationId xmlns:p14="http://schemas.microsoft.com/office/powerpoint/2010/main" val="4243209289"/>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vertical)">
                                      <p:cBhvr>
                                        <p:cTn id="17" dur="500"/>
                                        <p:tgtEl>
                                          <p:spTgt spid="16"/>
                                        </p:tgtEl>
                                      </p:cBhvr>
                                    </p:animEffect>
                                  </p:childTnLst>
                                  <p:subTnLst>
                                    <p:audio>
                                      <p:cMediaNode>
                                        <p:cTn display="0" masterRel="sameClick">
                                          <p:stCondLst>
                                            <p:cond evt="begin" delay="0">
                                              <p:tn val="15"/>
                                            </p:cond>
                                          </p:stCondLst>
                                          <p:endCondLst>
                                            <p:cond evt="onStopAudio" delay="0">
                                              <p:tgtEl>
                                                <p:sldTgt/>
                                              </p:tgtEl>
                                            </p:cond>
                                          </p:endCondLst>
                                        </p:cTn>
                                        <p:tgtEl>
                                          <p:sndTgt r:embed="rId2" name="NOTIFY.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16"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8" name="Rectangle 16"/>
          <p:cNvSpPr>
            <a:spLocks noChangeArrowheads="1"/>
          </p:cNvSpPr>
          <p:nvPr/>
        </p:nvSpPr>
        <p:spPr bwMode="auto">
          <a:xfrm>
            <a:off x="906463" y="1020763"/>
            <a:ext cx="4402137" cy="476250"/>
          </a:xfrm>
          <a:prstGeom prst="rect">
            <a:avLst/>
          </a:prstGeom>
          <a:noFill/>
          <a:ln w="9525">
            <a:noFill/>
            <a:miter lim="800000"/>
            <a:headEnd/>
            <a:tailEnd/>
          </a:ln>
        </p:spPr>
        <p:txBody>
          <a:bodyPr wrap="none" anchor="ctr">
            <a:spAutoFit/>
          </a:bodyPr>
          <a:lstStyle/>
          <a:p>
            <a:r>
              <a:rPr lang="en-US" altLang="zh-CN" sz="2500" b="1" dirty="0">
                <a:solidFill>
                  <a:schemeClr val="tx2"/>
                </a:solidFill>
                <a:ea typeface="楷体_GB2312" pitchFamily="49" charset="-122"/>
              </a:rPr>
              <a:t>EDTA</a:t>
            </a:r>
            <a:r>
              <a:rPr lang="zh-CN" altLang="en-US" sz="2500" b="1" dirty="0">
                <a:ea typeface="楷体_GB2312" pitchFamily="49" charset="-122"/>
              </a:rPr>
              <a:t>常用</a:t>
            </a:r>
            <a:r>
              <a:rPr lang="en-US" altLang="zh-CN" sz="2500" b="1" dirty="0">
                <a:ea typeface="楷体_GB2312" pitchFamily="49" charset="-122"/>
              </a:rPr>
              <a:t>H</a:t>
            </a:r>
            <a:r>
              <a:rPr lang="en-US" altLang="zh-CN" sz="2500" b="1" baseline="-25000" dirty="0">
                <a:ea typeface="楷体_GB2312" pitchFamily="49" charset="-122"/>
              </a:rPr>
              <a:t>4</a:t>
            </a:r>
            <a:r>
              <a:rPr lang="en-US" altLang="zh-CN" sz="2500" b="1" dirty="0">
                <a:ea typeface="楷体_GB2312" pitchFamily="49" charset="-122"/>
              </a:rPr>
              <a:t>Y</a:t>
            </a:r>
            <a:r>
              <a:rPr lang="zh-CN" altLang="en-US" sz="2500" b="1" dirty="0">
                <a:ea typeface="楷体_GB2312" pitchFamily="49" charset="-122"/>
              </a:rPr>
              <a:t>表示</a:t>
            </a:r>
            <a:r>
              <a:rPr lang="en-US" altLang="zh-CN" sz="2500" b="1" dirty="0">
                <a:ea typeface="楷体_GB2312" pitchFamily="49" charset="-122"/>
              </a:rPr>
              <a:t>,</a:t>
            </a:r>
            <a:r>
              <a:rPr lang="zh-CN" altLang="en-US" sz="2500" b="1" dirty="0">
                <a:ea typeface="楷体_GB2312" pitchFamily="49" charset="-122"/>
              </a:rPr>
              <a:t>结构式为</a:t>
            </a:r>
            <a:r>
              <a:rPr lang="en-US" altLang="zh-CN" sz="2500" b="1" dirty="0">
                <a:ea typeface="楷体_GB2312" pitchFamily="49" charset="-122"/>
              </a:rPr>
              <a:t>:</a:t>
            </a:r>
          </a:p>
        </p:txBody>
      </p:sp>
      <p:sp>
        <p:nvSpPr>
          <p:cNvPr id="17411" name="Rectangle 19"/>
          <p:cNvSpPr>
            <a:spLocks noChangeArrowheads="1"/>
          </p:cNvSpPr>
          <p:nvPr/>
        </p:nvSpPr>
        <p:spPr bwMode="auto">
          <a:xfrm>
            <a:off x="3617913" y="5068888"/>
            <a:ext cx="185737" cy="476250"/>
          </a:xfrm>
          <a:prstGeom prst="rect">
            <a:avLst/>
          </a:prstGeom>
          <a:noFill/>
          <a:ln w="9525">
            <a:noFill/>
            <a:miter lim="800000"/>
            <a:headEnd/>
            <a:tailEnd/>
          </a:ln>
        </p:spPr>
        <p:txBody>
          <a:bodyPr wrap="none" anchor="ctr">
            <a:spAutoFit/>
          </a:bodyPr>
          <a:lstStyle/>
          <a:p>
            <a:pPr algn="ctr">
              <a:spcBef>
                <a:spcPct val="50000"/>
              </a:spcBef>
            </a:pPr>
            <a:endParaRPr lang="zh-CN" altLang="zh-CN" sz="2500" b="1">
              <a:ea typeface="楷体_GB2312" pitchFamily="49" charset="-122"/>
            </a:endParaRPr>
          </a:p>
        </p:txBody>
      </p:sp>
      <p:sp>
        <p:nvSpPr>
          <p:cNvPr id="17412" name="Rectangle 20"/>
          <p:cNvSpPr>
            <a:spLocks noChangeArrowheads="1"/>
          </p:cNvSpPr>
          <p:nvPr/>
        </p:nvSpPr>
        <p:spPr bwMode="auto">
          <a:xfrm>
            <a:off x="5645150" y="3024188"/>
            <a:ext cx="184150" cy="476250"/>
          </a:xfrm>
          <a:prstGeom prst="rect">
            <a:avLst/>
          </a:prstGeom>
          <a:noFill/>
          <a:ln w="9525">
            <a:noFill/>
            <a:miter lim="800000"/>
            <a:headEnd/>
            <a:tailEnd/>
          </a:ln>
        </p:spPr>
        <p:txBody>
          <a:bodyPr wrap="none" anchor="ctr">
            <a:spAutoFit/>
          </a:bodyPr>
          <a:lstStyle/>
          <a:p>
            <a:pPr algn="ctr">
              <a:spcBef>
                <a:spcPct val="50000"/>
              </a:spcBef>
            </a:pPr>
            <a:endParaRPr lang="zh-CN" altLang="zh-CN" sz="2500" b="1">
              <a:ea typeface="楷体_GB2312" pitchFamily="49" charset="-122"/>
            </a:endParaRPr>
          </a:p>
        </p:txBody>
      </p:sp>
      <p:grpSp>
        <p:nvGrpSpPr>
          <p:cNvPr id="2" name="Group 51"/>
          <p:cNvGrpSpPr>
            <a:grpSpLocks/>
          </p:cNvGrpSpPr>
          <p:nvPr/>
        </p:nvGrpSpPr>
        <p:grpSpPr bwMode="auto">
          <a:xfrm>
            <a:off x="2018454" y="1552958"/>
            <a:ext cx="6413605" cy="1670872"/>
            <a:chOff x="839" y="821"/>
            <a:chExt cx="3618" cy="1365"/>
          </a:xfrm>
        </p:grpSpPr>
        <p:sp>
          <p:nvSpPr>
            <p:cNvPr id="17436" name="Line 10"/>
            <p:cNvSpPr>
              <a:spLocks noChangeShapeType="1"/>
            </p:cNvSpPr>
            <p:nvPr/>
          </p:nvSpPr>
          <p:spPr bwMode="auto">
            <a:xfrm flipH="1">
              <a:off x="1728" y="1632"/>
              <a:ext cx="144" cy="240"/>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7437" name="Line 11"/>
            <p:cNvSpPr>
              <a:spLocks noChangeShapeType="1"/>
            </p:cNvSpPr>
            <p:nvPr/>
          </p:nvSpPr>
          <p:spPr bwMode="auto">
            <a:xfrm>
              <a:off x="1680" y="1104"/>
              <a:ext cx="144" cy="288"/>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7438" name="Line 12"/>
            <p:cNvSpPr>
              <a:spLocks noChangeShapeType="1"/>
            </p:cNvSpPr>
            <p:nvPr/>
          </p:nvSpPr>
          <p:spPr bwMode="auto">
            <a:xfrm>
              <a:off x="3408" y="1632"/>
              <a:ext cx="144" cy="240"/>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7439" name="Line 13"/>
            <p:cNvSpPr>
              <a:spLocks noChangeShapeType="1"/>
            </p:cNvSpPr>
            <p:nvPr/>
          </p:nvSpPr>
          <p:spPr bwMode="auto">
            <a:xfrm flipH="1">
              <a:off x="3456" y="1152"/>
              <a:ext cx="96" cy="240"/>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7440" name="Rectangle 14"/>
            <p:cNvSpPr>
              <a:spLocks noChangeArrowheads="1"/>
            </p:cNvSpPr>
            <p:nvPr/>
          </p:nvSpPr>
          <p:spPr bwMode="auto">
            <a:xfrm>
              <a:off x="3468" y="821"/>
              <a:ext cx="989" cy="390"/>
            </a:xfrm>
            <a:prstGeom prst="rect">
              <a:avLst/>
            </a:prstGeom>
            <a:noFill/>
            <a:ln w="9525">
              <a:noFill/>
              <a:miter lim="800000"/>
              <a:headEnd/>
              <a:tailEnd/>
            </a:ln>
          </p:spPr>
          <p:txBody>
            <a:bodyPr wrap="none" anchor="ctr">
              <a:spAutoFit/>
            </a:bodyPr>
            <a:lstStyle/>
            <a:p>
              <a:pPr algn="ctr"/>
              <a:r>
                <a:rPr lang="en-US" altLang="zh-CN" sz="2500" b="1" dirty="0">
                  <a:ea typeface="楷体_GB2312" pitchFamily="49" charset="-122"/>
                </a:rPr>
                <a:t>CH</a:t>
              </a:r>
              <a:r>
                <a:rPr lang="en-US" altLang="zh-CN" sz="2500" b="1" baseline="-25000" dirty="0">
                  <a:ea typeface="楷体_GB2312" pitchFamily="49" charset="-122"/>
                </a:rPr>
                <a:t>2</a:t>
              </a:r>
              <a:r>
                <a:rPr lang="en-US" altLang="zh-CN" sz="2500" b="1" dirty="0">
                  <a:ea typeface="楷体_GB2312" pitchFamily="49" charset="-122"/>
                </a:rPr>
                <a:t>CO</a:t>
              </a:r>
              <a:r>
                <a:rPr lang="en-US" altLang="zh-CN" sz="2500" b="1" dirty="0">
                  <a:solidFill>
                    <a:srgbClr val="FF0000"/>
                  </a:solidFill>
                  <a:ea typeface="楷体_GB2312" pitchFamily="49" charset="-122"/>
                </a:rPr>
                <a:t>O</a:t>
              </a:r>
              <a:r>
                <a:rPr lang="en-US" altLang="zh-CN" sz="2500" b="1" dirty="0">
                  <a:solidFill>
                    <a:srgbClr val="0000FF"/>
                  </a:solidFill>
                  <a:ea typeface="楷体_GB2312" pitchFamily="49" charset="-122"/>
                </a:rPr>
                <a:t>H</a:t>
              </a:r>
            </a:p>
          </p:txBody>
        </p:sp>
        <p:sp>
          <p:nvSpPr>
            <p:cNvPr id="17441" name="Text Box 17"/>
            <p:cNvSpPr txBox="1">
              <a:spLocks noChangeArrowheads="1"/>
            </p:cNvSpPr>
            <p:nvPr/>
          </p:nvSpPr>
          <p:spPr bwMode="auto">
            <a:xfrm>
              <a:off x="1805" y="1320"/>
              <a:ext cx="1435" cy="390"/>
            </a:xfrm>
            <a:prstGeom prst="rect">
              <a:avLst/>
            </a:prstGeom>
            <a:noFill/>
            <a:ln w="9525">
              <a:noFill/>
              <a:miter lim="800000"/>
              <a:headEnd/>
              <a:tailEnd/>
            </a:ln>
          </p:spPr>
          <p:txBody>
            <a:bodyPr wrap="none" anchor="ctr">
              <a:spAutoFit/>
            </a:bodyPr>
            <a:lstStyle/>
            <a:p>
              <a:pPr algn="ctr">
                <a:spcBef>
                  <a:spcPct val="50000"/>
                </a:spcBef>
              </a:pPr>
              <a:r>
                <a:rPr lang="en-US" altLang="zh-CN" sz="2500" b="1" dirty="0">
                  <a:solidFill>
                    <a:srgbClr val="FF0000"/>
                  </a:solidFill>
                  <a:ea typeface="楷体_GB2312" pitchFamily="49" charset="-122"/>
                </a:rPr>
                <a:t>N</a:t>
              </a:r>
              <a:r>
                <a:rPr lang="en-US" altLang="zh-CN" sz="2500" b="1" dirty="0">
                  <a:ea typeface="楷体_GB2312" pitchFamily="49" charset="-122"/>
                </a:rPr>
                <a:t>–CH</a:t>
              </a:r>
              <a:r>
                <a:rPr lang="en-US" altLang="zh-CN" sz="2500" b="1" baseline="-25000" dirty="0">
                  <a:ea typeface="楷体_GB2312" pitchFamily="49" charset="-122"/>
                </a:rPr>
                <a:t>2</a:t>
              </a:r>
              <a:r>
                <a:rPr lang="en-US" altLang="zh-CN" sz="2500" b="1" dirty="0">
                  <a:ea typeface="楷体_GB2312" pitchFamily="49" charset="-122"/>
                </a:rPr>
                <a:t> – CH</a:t>
              </a:r>
              <a:r>
                <a:rPr lang="en-US" altLang="zh-CN" sz="2500" b="1" baseline="-25000" dirty="0">
                  <a:ea typeface="楷体_GB2312" pitchFamily="49" charset="-122"/>
                </a:rPr>
                <a:t>2</a:t>
              </a:r>
              <a:r>
                <a:rPr lang="en-US" altLang="zh-CN" sz="2500" b="1" dirty="0">
                  <a:ea typeface="楷体_GB2312" pitchFamily="49" charset="-122"/>
                </a:rPr>
                <a:t> –</a:t>
              </a:r>
              <a:r>
                <a:rPr lang="en-US" altLang="zh-CN" sz="2500" b="1" dirty="0">
                  <a:solidFill>
                    <a:srgbClr val="FF0000"/>
                  </a:solidFill>
                  <a:ea typeface="楷体_GB2312" pitchFamily="49" charset="-122"/>
                </a:rPr>
                <a:t>N</a:t>
              </a:r>
            </a:p>
          </p:txBody>
        </p:sp>
        <p:sp>
          <p:nvSpPr>
            <p:cNvPr id="17442" name="Rectangle 18"/>
            <p:cNvSpPr>
              <a:spLocks noChangeArrowheads="1"/>
            </p:cNvSpPr>
            <p:nvPr/>
          </p:nvSpPr>
          <p:spPr bwMode="auto">
            <a:xfrm>
              <a:off x="3468" y="1796"/>
              <a:ext cx="989" cy="390"/>
            </a:xfrm>
            <a:prstGeom prst="rect">
              <a:avLst/>
            </a:prstGeom>
            <a:noFill/>
            <a:ln w="9525">
              <a:noFill/>
              <a:miter lim="800000"/>
              <a:headEnd/>
              <a:tailEnd/>
            </a:ln>
          </p:spPr>
          <p:txBody>
            <a:bodyPr wrap="none" anchor="ctr">
              <a:spAutoFit/>
            </a:bodyPr>
            <a:lstStyle/>
            <a:p>
              <a:pPr algn="ctr"/>
              <a:r>
                <a:rPr lang="en-US" altLang="zh-CN" sz="2500" b="1" dirty="0">
                  <a:ea typeface="楷体_GB2312" pitchFamily="49" charset="-122"/>
                </a:rPr>
                <a:t>CH</a:t>
              </a:r>
              <a:r>
                <a:rPr lang="en-US" altLang="zh-CN" sz="2500" b="1" baseline="-25000" dirty="0">
                  <a:ea typeface="楷体_GB2312" pitchFamily="49" charset="-122"/>
                </a:rPr>
                <a:t>2</a:t>
              </a:r>
              <a:r>
                <a:rPr lang="en-US" altLang="zh-CN" sz="2500" b="1" dirty="0">
                  <a:ea typeface="楷体_GB2312" pitchFamily="49" charset="-122"/>
                </a:rPr>
                <a:t>CO</a:t>
              </a:r>
              <a:r>
                <a:rPr lang="en-US" altLang="zh-CN" sz="2500" b="1" dirty="0">
                  <a:solidFill>
                    <a:srgbClr val="FF0000"/>
                  </a:solidFill>
                  <a:ea typeface="楷体_GB2312" pitchFamily="49" charset="-122"/>
                </a:rPr>
                <a:t>O</a:t>
              </a:r>
              <a:r>
                <a:rPr lang="en-US" altLang="zh-CN" sz="2500" b="1" dirty="0">
                  <a:solidFill>
                    <a:srgbClr val="0000FF"/>
                  </a:solidFill>
                  <a:ea typeface="楷体_GB2312" pitchFamily="49" charset="-122"/>
                </a:rPr>
                <a:t>H</a:t>
              </a:r>
            </a:p>
          </p:txBody>
        </p:sp>
        <p:sp>
          <p:nvSpPr>
            <p:cNvPr id="17443" name="Rectangle 21"/>
            <p:cNvSpPr>
              <a:spLocks noChangeArrowheads="1"/>
            </p:cNvSpPr>
            <p:nvPr/>
          </p:nvSpPr>
          <p:spPr bwMode="auto">
            <a:xfrm>
              <a:off x="839" y="821"/>
              <a:ext cx="989" cy="390"/>
            </a:xfrm>
            <a:prstGeom prst="rect">
              <a:avLst/>
            </a:prstGeom>
            <a:noFill/>
            <a:ln w="9525">
              <a:noFill/>
              <a:miter lim="800000"/>
              <a:headEnd/>
              <a:tailEnd/>
            </a:ln>
          </p:spPr>
          <p:txBody>
            <a:bodyPr wrap="none" anchor="ctr">
              <a:spAutoFit/>
            </a:bodyPr>
            <a:lstStyle/>
            <a:p>
              <a:pPr algn="ctr"/>
              <a:r>
                <a:rPr lang="en-US" altLang="zh-CN" sz="2500" b="1" dirty="0">
                  <a:solidFill>
                    <a:srgbClr val="0000FF"/>
                  </a:solidFill>
                  <a:ea typeface="楷体_GB2312" pitchFamily="49" charset="-122"/>
                </a:rPr>
                <a:t>H</a:t>
              </a:r>
              <a:r>
                <a:rPr lang="en-US" altLang="zh-CN" sz="2500" b="1" dirty="0">
                  <a:ea typeface="楷体_GB2312" pitchFamily="49" charset="-122"/>
                </a:rPr>
                <a:t>CO</a:t>
              </a:r>
              <a:r>
                <a:rPr lang="en-US" altLang="zh-CN" sz="2500" b="1" dirty="0">
                  <a:solidFill>
                    <a:srgbClr val="FF0000"/>
                  </a:solidFill>
                  <a:ea typeface="楷体_GB2312" pitchFamily="49" charset="-122"/>
                </a:rPr>
                <a:t>O</a:t>
              </a:r>
              <a:r>
                <a:rPr lang="en-US" altLang="zh-CN" sz="2500" b="1" dirty="0">
                  <a:ea typeface="楷体_GB2312" pitchFamily="49" charset="-122"/>
                </a:rPr>
                <a:t>CH</a:t>
              </a:r>
              <a:r>
                <a:rPr lang="en-US" altLang="zh-CN" sz="2500" b="1" baseline="-25000" dirty="0">
                  <a:ea typeface="楷体_GB2312" pitchFamily="49" charset="-122"/>
                </a:rPr>
                <a:t>2</a:t>
              </a:r>
            </a:p>
          </p:txBody>
        </p:sp>
        <p:sp>
          <p:nvSpPr>
            <p:cNvPr id="17444" name="Rectangle 22"/>
            <p:cNvSpPr>
              <a:spLocks noChangeArrowheads="1"/>
            </p:cNvSpPr>
            <p:nvPr/>
          </p:nvSpPr>
          <p:spPr bwMode="auto">
            <a:xfrm>
              <a:off x="839" y="1796"/>
              <a:ext cx="989" cy="390"/>
            </a:xfrm>
            <a:prstGeom prst="rect">
              <a:avLst/>
            </a:prstGeom>
            <a:noFill/>
            <a:ln w="9525">
              <a:noFill/>
              <a:miter lim="800000"/>
              <a:headEnd/>
              <a:tailEnd/>
            </a:ln>
          </p:spPr>
          <p:txBody>
            <a:bodyPr wrap="none" anchor="ctr">
              <a:spAutoFit/>
            </a:bodyPr>
            <a:lstStyle/>
            <a:p>
              <a:pPr algn="ctr"/>
              <a:r>
                <a:rPr lang="en-US" altLang="zh-CN" sz="2500" b="1" dirty="0">
                  <a:solidFill>
                    <a:srgbClr val="0000FF"/>
                  </a:solidFill>
                  <a:ea typeface="楷体_GB2312" pitchFamily="49" charset="-122"/>
                </a:rPr>
                <a:t>H</a:t>
              </a:r>
              <a:r>
                <a:rPr lang="en-US" altLang="zh-CN" sz="2500" b="1" dirty="0">
                  <a:ea typeface="楷体_GB2312" pitchFamily="49" charset="-122"/>
                </a:rPr>
                <a:t>CO</a:t>
              </a:r>
              <a:r>
                <a:rPr lang="en-US" altLang="zh-CN" sz="2500" b="1" dirty="0">
                  <a:solidFill>
                    <a:srgbClr val="FF0000"/>
                  </a:solidFill>
                  <a:ea typeface="楷体_GB2312" pitchFamily="49" charset="-122"/>
                </a:rPr>
                <a:t>O</a:t>
              </a:r>
              <a:r>
                <a:rPr lang="en-US" altLang="zh-CN" sz="2500" b="1" dirty="0">
                  <a:ea typeface="楷体_GB2312" pitchFamily="49" charset="-122"/>
                </a:rPr>
                <a:t>CH</a:t>
              </a:r>
              <a:r>
                <a:rPr lang="en-US" altLang="zh-CN" sz="2500" b="1" baseline="-25000" dirty="0">
                  <a:ea typeface="楷体_GB2312" pitchFamily="49" charset="-122"/>
                </a:rPr>
                <a:t>2</a:t>
              </a:r>
            </a:p>
          </p:txBody>
        </p:sp>
      </p:grpSp>
      <p:sp>
        <p:nvSpPr>
          <p:cNvPr id="18455" name="Text Box 23"/>
          <p:cNvSpPr txBox="1">
            <a:spLocks noChangeArrowheads="1"/>
          </p:cNvSpPr>
          <p:nvPr/>
        </p:nvSpPr>
        <p:spPr bwMode="auto">
          <a:xfrm>
            <a:off x="974725" y="3168650"/>
            <a:ext cx="4700588" cy="477838"/>
          </a:xfrm>
          <a:prstGeom prst="rect">
            <a:avLst/>
          </a:prstGeom>
          <a:noFill/>
          <a:ln w="9525">
            <a:noFill/>
            <a:miter lim="800000"/>
            <a:headEnd/>
            <a:tailEnd/>
          </a:ln>
        </p:spPr>
        <p:txBody>
          <a:bodyPr wrap="none" anchor="ctr">
            <a:spAutoFit/>
          </a:bodyPr>
          <a:lstStyle/>
          <a:p>
            <a:pPr algn="ctr">
              <a:spcBef>
                <a:spcPct val="50000"/>
              </a:spcBef>
            </a:pPr>
            <a:r>
              <a:rPr lang="en-US" altLang="zh-CN" sz="2500" b="1">
                <a:ea typeface="楷体_GB2312" pitchFamily="49" charset="-122"/>
              </a:rPr>
              <a:t>EDTA</a:t>
            </a:r>
            <a:r>
              <a:rPr lang="zh-CN" altLang="en-US" sz="2500" b="1">
                <a:ea typeface="楷体_GB2312" pitchFamily="49" charset="-122"/>
              </a:rPr>
              <a:t>常以双偶极离子形式存在</a:t>
            </a:r>
            <a:r>
              <a:rPr lang="en-US" altLang="zh-CN" sz="2500" b="1">
                <a:ea typeface="楷体_GB2312" pitchFamily="49" charset="-122"/>
              </a:rPr>
              <a:t>:</a:t>
            </a:r>
            <a:endParaRPr lang="en-US" altLang="zh-CN" sz="2500">
              <a:ea typeface="楷体_GB2312" pitchFamily="49" charset="-122"/>
            </a:endParaRPr>
          </a:p>
        </p:txBody>
      </p:sp>
      <p:grpSp>
        <p:nvGrpSpPr>
          <p:cNvPr id="3" name="Group 52"/>
          <p:cNvGrpSpPr>
            <a:grpSpLocks/>
          </p:cNvGrpSpPr>
          <p:nvPr/>
        </p:nvGrpSpPr>
        <p:grpSpPr bwMode="auto">
          <a:xfrm>
            <a:off x="1631950" y="3671888"/>
            <a:ext cx="7353300" cy="1973262"/>
            <a:chOff x="816" y="2399"/>
            <a:chExt cx="3676" cy="1315"/>
          </a:xfrm>
        </p:grpSpPr>
        <p:sp>
          <p:nvSpPr>
            <p:cNvPr id="17427" name="Text Box 24"/>
            <p:cNvSpPr txBox="1">
              <a:spLocks noChangeArrowheads="1"/>
            </p:cNvSpPr>
            <p:nvPr/>
          </p:nvSpPr>
          <p:spPr bwMode="auto">
            <a:xfrm>
              <a:off x="1744" y="2920"/>
              <a:ext cx="1644" cy="318"/>
            </a:xfrm>
            <a:prstGeom prst="rect">
              <a:avLst/>
            </a:prstGeom>
            <a:noFill/>
            <a:ln w="9525">
              <a:noFill/>
              <a:miter lim="800000"/>
              <a:headEnd/>
              <a:tailEnd/>
            </a:ln>
          </p:spPr>
          <p:txBody>
            <a:bodyPr wrap="none" anchor="ctr">
              <a:spAutoFit/>
            </a:bodyPr>
            <a:lstStyle/>
            <a:p>
              <a:pPr algn="ctr">
                <a:spcBef>
                  <a:spcPct val="50000"/>
                </a:spcBef>
              </a:pPr>
              <a:r>
                <a:rPr lang="en-US" altLang="zh-CN" sz="2500" b="1">
                  <a:solidFill>
                    <a:srgbClr val="0000FF"/>
                  </a:solidFill>
                  <a:ea typeface="楷体_GB2312" pitchFamily="49" charset="-122"/>
                </a:rPr>
                <a:t>H</a:t>
              </a:r>
              <a:r>
                <a:rPr lang="en-US" altLang="zh-CN" sz="2500" b="1">
                  <a:ea typeface="楷体_GB2312" pitchFamily="49" charset="-122"/>
                </a:rPr>
                <a:t>N</a:t>
              </a:r>
              <a:r>
                <a:rPr lang="en-US" altLang="zh-CN" sz="2500" b="1" baseline="30000">
                  <a:solidFill>
                    <a:schemeClr val="tx2"/>
                  </a:solidFill>
                  <a:ea typeface="楷体_GB2312" pitchFamily="49" charset="-122"/>
                </a:rPr>
                <a:t>+</a:t>
              </a:r>
              <a:r>
                <a:rPr lang="en-US" altLang="zh-CN" sz="2500" b="1">
                  <a:ea typeface="楷体_GB2312" pitchFamily="49" charset="-122"/>
                </a:rPr>
                <a:t>–CH</a:t>
              </a:r>
              <a:r>
                <a:rPr lang="en-US" altLang="zh-CN" sz="2500" b="1" baseline="-25000">
                  <a:ea typeface="楷体_GB2312" pitchFamily="49" charset="-122"/>
                </a:rPr>
                <a:t>2</a:t>
              </a:r>
              <a:r>
                <a:rPr lang="en-US" altLang="zh-CN" sz="2500" b="1">
                  <a:ea typeface="楷体_GB2312" pitchFamily="49" charset="-122"/>
                </a:rPr>
                <a:t> – CH</a:t>
              </a:r>
              <a:r>
                <a:rPr lang="en-US" altLang="zh-CN" sz="2500" b="1" baseline="-25000">
                  <a:ea typeface="楷体_GB2312" pitchFamily="49" charset="-122"/>
                </a:rPr>
                <a:t>2</a:t>
              </a:r>
              <a:r>
                <a:rPr lang="en-US" altLang="zh-CN" sz="2500" b="1">
                  <a:ea typeface="楷体_GB2312" pitchFamily="49" charset="-122"/>
                </a:rPr>
                <a:t> –</a:t>
              </a:r>
              <a:r>
                <a:rPr lang="en-US" altLang="zh-CN" sz="2500" b="1" baseline="30000">
                  <a:solidFill>
                    <a:schemeClr val="tx2"/>
                  </a:solidFill>
                  <a:ea typeface="楷体_GB2312" pitchFamily="49" charset="-122"/>
                </a:rPr>
                <a:t>+</a:t>
              </a:r>
              <a:r>
                <a:rPr lang="en-US" altLang="zh-CN" sz="2500" b="1">
                  <a:ea typeface="楷体_GB2312" pitchFamily="49" charset="-122"/>
                </a:rPr>
                <a:t>N</a:t>
              </a:r>
              <a:r>
                <a:rPr lang="en-US" altLang="zh-CN" sz="2500" b="1">
                  <a:solidFill>
                    <a:srgbClr val="0000FF"/>
                  </a:solidFill>
                  <a:ea typeface="楷体_GB2312" pitchFamily="49" charset="-122"/>
                </a:rPr>
                <a:t>H</a:t>
              </a:r>
            </a:p>
          </p:txBody>
        </p:sp>
        <p:sp>
          <p:nvSpPr>
            <p:cNvPr id="17428" name="Line 25"/>
            <p:cNvSpPr>
              <a:spLocks noChangeShapeType="1"/>
            </p:cNvSpPr>
            <p:nvPr/>
          </p:nvSpPr>
          <p:spPr bwMode="auto">
            <a:xfrm flipH="1">
              <a:off x="3552" y="2688"/>
              <a:ext cx="96" cy="240"/>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7429" name="Line 26"/>
            <p:cNvSpPr>
              <a:spLocks noChangeShapeType="1"/>
            </p:cNvSpPr>
            <p:nvPr/>
          </p:nvSpPr>
          <p:spPr bwMode="auto">
            <a:xfrm>
              <a:off x="3552" y="3168"/>
              <a:ext cx="192" cy="288"/>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7430" name="Line 27"/>
            <p:cNvSpPr>
              <a:spLocks noChangeShapeType="1"/>
            </p:cNvSpPr>
            <p:nvPr/>
          </p:nvSpPr>
          <p:spPr bwMode="auto">
            <a:xfrm flipH="1">
              <a:off x="1776" y="3168"/>
              <a:ext cx="144" cy="288"/>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7431" name="Line 28"/>
            <p:cNvSpPr>
              <a:spLocks noChangeShapeType="1"/>
            </p:cNvSpPr>
            <p:nvPr/>
          </p:nvSpPr>
          <p:spPr bwMode="auto">
            <a:xfrm>
              <a:off x="1728" y="2688"/>
              <a:ext cx="144" cy="240"/>
            </a:xfrm>
            <a:prstGeom prst="line">
              <a:avLst/>
            </a:prstGeom>
            <a:noFill/>
            <a:ln w="12700" cap="sq">
              <a:solidFill>
                <a:schemeClr val="tx1"/>
              </a:solidFill>
              <a:round/>
              <a:headEnd type="none" w="sm" len="sm"/>
              <a:tailEnd type="none" w="sm" len="sm"/>
            </a:ln>
          </p:spPr>
          <p:txBody>
            <a:bodyPr anchor="ctr">
              <a:spAutoFit/>
            </a:bodyPr>
            <a:lstStyle/>
            <a:p>
              <a:endParaRPr lang="zh-CN" altLang="en-US"/>
            </a:p>
          </p:txBody>
        </p:sp>
        <p:sp>
          <p:nvSpPr>
            <p:cNvPr id="17432" name="Rectangle 29"/>
            <p:cNvSpPr>
              <a:spLocks noChangeArrowheads="1"/>
            </p:cNvSpPr>
            <p:nvPr/>
          </p:nvSpPr>
          <p:spPr bwMode="auto">
            <a:xfrm>
              <a:off x="3583" y="2399"/>
              <a:ext cx="787" cy="318"/>
            </a:xfrm>
            <a:prstGeom prst="rect">
              <a:avLst/>
            </a:prstGeom>
            <a:noFill/>
            <a:ln w="9525">
              <a:noFill/>
              <a:miter lim="800000"/>
              <a:headEnd/>
              <a:tailEnd/>
            </a:ln>
          </p:spPr>
          <p:txBody>
            <a:bodyPr wrap="none" anchor="ctr">
              <a:spAutoFit/>
            </a:bodyPr>
            <a:lstStyle/>
            <a:p>
              <a:pPr algn="ctr"/>
              <a:r>
                <a:rPr lang="en-US" altLang="zh-CN" sz="2500" b="1">
                  <a:ea typeface="楷体_GB2312" pitchFamily="49" charset="-122"/>
                </a:rPr>
                <a:t>CH</a:t>
              </a:r>
              <a:r>
                <a:rPr lang="en-US" altLang="zh-CN" sz="2500" b="1" baseline="-25000">
                  <a:ea typeface="楷体_GB2312" pitchFamily="49" charset="-122"/>
                </a:rPr>
                <a:t>2</a:t>
              </a:r>
              <a:r>
                <a:rPr lang="en-US" altLang="zh-CN" sz="2500" b="1">
                  <a:ea typeface="楷体_GB2312" pitchFamily="49" charset="-122"/>
                </a:rPr>
                <a:t>COO</a:t>
              </a:r>
              <a:r>
                <a:rPr lang="en-US" altLang="zh-CN" sz="2500" b="1" baseline="30000">
                  <a:solidFill>
                    <a:schemeClr val="tx2"/>
                  </a:solidFill>
                  <a:ea typeface="楷体_GB2312" pitchFamily="49" charset="-122"/>
                </a:rPr>
                <a:t>-</a:t>
              </a:r>
            </a:p>
          </p:txBody>
        </p:sp>
        <p:sp>
          <p:nvSpPr>
            <p:cNvPr id="17433" name="Rectangle 30"/>
            <p:cNvSpPr>
              <a:spLocks noChangeArrowheads="1"/>
            </p:cNvSpPr>
            <p:nvPr/>
          </p:nvSpPr>
          <p:spPr bwMode="auto">
            <a:xfrm>
              <a:off x="3615" y="3396"/>
              <a:ext cx="877" cy="318"/>
            </a:xfrm>
            <a:prstGeom prst="rect">
              <a:avLst/>
            </a:prstGeom>
            <a:noFill/>
            <a:ln w="9525">
              <a:noFill/>
              <a:miter lim="800000"/>
              <a:headEnd/>
              <a:tailEnd/>
            </a:ln>
          </p:spPr>
          <p:txBody>
            <a:bodyPr wrap="none" anchor="ctr">
              <a:spAutoFit/>
            </a:bodyPr>
            <a:lstStyle/>
            <a:p>
              <a:pPr algn="ctr"/>
              <a:r>
                <a:rPr lang="en-US" altLang="zh-CN" sz="2500" b="1">
                  <a:ea typeface="楷体_GB2312" pitchFamily="49" charset="-122"/>
                </a:rPr>
                <a:t>CH</a:t>
              </a:r>
              <a:r>
                <a:rPr lang="en-US" altLang="zh-CN" sz="2500" b="1" baseline="-25000">
                  <a:ea typeface="楷体_GB2312" pitchFamily="49" charset="-122"/>
                </a:rPr>
                <a:t>2</a:t>
              </a:r>
              <a:r>
                <a:rPr lang="en-US" altLang="zh-CN" sz="2500" b="1">
                  <a:ea typeface="楷体_GB2312" pitchFamily="49" charset="-122"/>
                </a:rPr>
                <a:t>COO</a:t>
              </a:r>
              <a:r>
                <a:rPr lang="en-US" altLang="zh-CN" sz="2500" b="1">
                  <a:solidFill>
                    <a:srgbClr val="0000FF"/>
                  </a:solidFill>
                  <a:ea typeface="楷体_GB2312" pitchFamily="49" charset="-122"/>
                </a:rPr>
                <a:t>H</a:t>
              </a:r>
            </a:p>
          </p:txBody>
        </p:sp>
        <p:sp>
          <p:nvSpPr>
            <p:cNvPr id="17434" name="Rectangle 31"/>
            <p:cNvSpPr>
              <a:spLocks noChangeArrowheads="1"/>
            </p:cNvSpPr>
            <p:nvPr/>
          </p:nvSpPr>
          <p:spPr bwMode="auto">
            <a:xfrm>
              <a:off x="895" y="2399"/>
              <a:ext cx="877" cy="318"/>
            </a:xfrm>
            <a:prstGeom prst="rect">
              <a:avLst/>
            </a:prstGeom>
            <a:noFill/>
            <a:ln w="9525">
              <a:noFill/>
              <a:miter lim="800000"/>
              <a:headEnd/>
              <a:tailEnd/>
            </a:ln>
          </p:spPr>
          <p:txBody>
            <a:bodyPr wrap="none" anchor="ctr">
              <a:spAutoFit/>
            </a:bodyPr>
            <a:lstStyle/>
            <a:p>
              <a:pPr algn="ctr"/>
              <a:r>
                <a:rPr lang="en-US" altLang="zh-CN" sz="2500" b="1">
                  <a:solidFill>
                    <a:srgbClr val="0000FF"/>
                  </a:solidFill>
                  <a:ea typeface="楷体_GB2312" pitchFamily="49" charset="-122"/>
                </a:rPr>
                <a:t>H</a:t>
              </a:r>
              <a:r>
                <a:rPr lang="en-US" altLang="zh-CN" sz="2500" b="1">
                  <a:ea typeface="楷体_GB2312" pitchFamily="49" charset="-122"/>
                </a:rPr>
                <a:t>COOCH</a:t>
              </a:r>
              <a:r>
                <a:rPr lang="en-US" altLang="zh-CN" sz="2500" b="1" baseline="-25000">
                  <a:ea typeface="楷体_GB2312" pitchFamily="49" charset="-122"/>
                </a:rPr>
                <a:t>2</a:t>
              </a:r>
            </a:p>
          </p:txBody>
        </p:sp>
        <p:sp>
          <p:nvSpPr>
            <p:cNvPr id="17435" name="Rectangle 32"/>
            <p:cNvSpPr>
              <a:spLocks noChangeArrowheads="1"/>
            </p:cNvSpPr>
            <p:nvPr/>
          </p:nvSpPr>
          <p:spPr bwMode="auto">
            <a:xfrm>
              <a:off x="816" y="3396"/>
              <a:ext cx="787" cy="318"/>
            </a:xfrm>
            <a:prstGeom prst="rect">
              <a:avLst/>
            </a:prstGeom>
            <a:noFill/>
            <a:ln w="9525">
              <a:noFill/>
              <a:miter lim="800000"/>
              <a:headEnd/>
              <a:tailEnd/>
            </a:ln>
          </p:spPr>
          <p:txBody>
            <a:bodyPr wrap="none" anchor="ctr">
              <a:spAutoFit/>
            </a:bodyPr>
            <a:lstStyle/>
            <a:p>
              <a:r>
                <a:rPr lang="en-US" altLang="zh-CN" sz="2500" b="1" baseline="30000">
                  <a:solidFill>
                    <a:schemeClr val="tx2"/>
                  </a:solidFill>
                  <a:ea typeface="楷体_GB2312" pitchFamily="49" charset="-122"/>
                </a:rPr>
                <a:t>-</a:t>
              </a:r>
              <a:r>
                <a:rPr lang="en-US" altLang="zh-CN" sz="2500" b="1">
                  <a:ea typeface="楷体_GB2312" pitchFamily="49" charset="-122"/>
                </a:rPr>
                <a:t>OOCH</a:t>
              </a:r>
              <a:r>
                <a:rPr lang="en-US" altLang="zh-CN" sz="2500" b="1" baseline="-25000">
                  <a:ea typeface="楷体_GB2312" pitchFamily="49" charset="-122"/>
                </a:rPr>
                <a:t>2</a:t>
              </a:r>
              <a:r>
                <a:rPr lang="en-US" altLang="zh-CN" sz="2500" b="1">
                  <a:ea typeface="楷体_GB2312" pitchFamily="49" charset="-122"/>
                </a:rPr>
                <a:t>C</a:t>
              </a:r>
            </a:p>
          </p:txBody>
        </p:sp>
      </p:grpSp>
      <p:sp>
        <p:nvSpPr>
          <p:cNvPr id="18487" name="Line 55"/>
          <p:cNvSpPr>
            <a:spLocks noChangeShapeType="1"/>
          </p:cNvSpPr>
          <p:nvPr/>
        </p:nvSpPr>
        <p:spPr bwMode="auto">
          <a:xfrm>
            <a:off x="1722438" y="5541963"/>
            <a:ext cx="454025" cy="0"/>
          </a:xfrm>
          <a:prstGeom prst="line">
            <a:avLst/>
          </a:prstGeom>
          <a:noFill/>
          <a:ln w="25400">
            <a:solidFill>
              <a:srgbClr val="FF0000"/>
            </a:solidFill>
            <a:round/>
            <a:headEnd/>
            <a:tailEnd/>
          </a:ln>
        </p:spPr>
        <p:txBody>
          <a:bodyPr wrap="none" anchor="ctr"/>
          <a:lstStyle/>
          <a:p>
            <a:endParaRPr lang="zh-CN" altLang="en-US"/>
          </a:p>
        </p:txBody>
      </p:sp>
      <p:sp>
        <p:nvSpPr>
          <p:cNvPr id="18488" name="Line 56"/>
          <p:cNvSpPr>
            <a:spLocks noChangeShapeType="1"/>
          </p:cNvSpPr>
          <p:nvPr/>
        </p:nvSpPr>
        <p:spPr bwMode="auto">
          <a:xfrm>
            <a:off x="3854450" y="4829175"/>
            <a:ext cx="454025" cy="0"/>
          </a:xfrm>
          <a:prstGeom prst="line">
            <a:avLst/>
          </a:prstGeom>
          <a:noFill/>
          <a:ln w="25400">
            <a:solidFill>
              <a:srgbClr val="FF0000"/>
            </a:solidFill>
            <a:round/>
            <a:headEnd/>
            <a:tailEnd/>
          </a:ln>
        </p:spPr>
        <p:txBody>
          <a:bodyPr wrap="none" anchor="ctr"/>
          <a:lstStyle/>
          <a:p>
            <a:endParaRPr lang="zh-CN" altLang="en-US"/>
          </a:p>
        </p:txBody>
      </p:sp>
      <p:sp>
        <p:nvSpPr>
          <p:cNvPr id="18489" name="Line 57"/>
          <p:cNvSpPr>
            <a:spLocks noChangeShapeType="1"/>
          </p:cNvSpPr>
          <p:nvPr/>
        </p:nvSpPr>
        <p:spPr bwMode="auto">
          <a:xfrm>
            <a:off x="6619875" y="4829175"/>
            <a:ext cx="454025" cy="0"/>
          </a:xfrm>
          <a:prstGeom prst="line">
            <a:avLst/>
          </a:prstGeom>
          <a:noFill/>
          <a:ln w="25400">
            <a:solidFill>
              <a:srgbClr val="FF0000"/>
            </a:solidFill>
            <a:round/>
            <a:headEnd/>
            <a:tailEnd/>
          </a:ln>
        </p:spPr>
        <p:txBody>
          <a:bodyPr wrap="none" anchor="ctr"/>
          <a:lstStyle/>
          <a:p>
            <a:endParaRPr lang="zh-CN" altLang="en-US"/>
          </a:p>
        </p:txBody>
      </p:sp>
      <p:sp>
        <p:nvSpPr>
          <p:cNvPr id="18490" name="Line 58"/>
          <p:cNvSpPr>
            <a:spLocks noChangeShapeType="1"/>
          </p:cNvSpPr>
          <p:nvPr/>
        </p:nvSpPr>
        <p:spPr bwMode="auto">
          <a:xfrm>
            <a:off x="8478838" y="4044950"/>
            <a:ext cx="454025" cy="0"/>
          </a:xfrm>
          <a:prstGeom prst="line">
            <a:avLst/>
          </a:prstGeom>
          <a:noFill/>
          <a:ln w="25400">
            <a:solidFill>
              <a:srgbClr val="FF0000"/>
            </a:solidFill>
            <a:round/>
            <a:headEnd/>
            <a:tailEnd/>
          </a:ln>
        </p:spPr>
        <p:txBody>
          <a:bodyPr wrap="none" anchor="ctr"/>
          <a:lstStyle/>
          <a:p>
            <a:endParaRPr lang="zh-CN" altLang="en-US"/>
          </a:p>
        </p:txBody>
      </p:sp>
      <p:sp>
        <p:nvSpPr>
          <p:cNvPr id="18491" name="Text Box 59"/>
          <p:cNvSpPr txBox="1">
            <a:spLocks noChangeArrowheads="1"/>
          </p:cNvSpPr>
          <p:nvPr/>
        </p:nvSpPr>
        <p:spPr bwMode="auto">
          <a:xfrm>
            <a:off x="8391525" y="4386263"/>
            <a:ext cx="2676525" cy="476250"/>
          </a:xfrm>
          <a:prstGeom prst="rect">
            <a:avLst/>
          </a:prstGeom>
          <a:noFill/>
          <a:ln w="9525">
            <a:noFill/>
            <a:miter lim="800000"/>
            <a:headEnd/>
            <a:tailEnd/>
          </a:ln>
        </p:spPr>
        <p:txBody>
          <a:bodyPr anchor="ctr">
            <a:spAutoFit/>
          </a:bodyPr>
          <a:lstStyle/>
          <a:p>
            <a:r>
              <a:rPr lang="zh-CN" altLang="en-US" sz="2500" b="1">
                <a:solidFill>
                  <a:schemeClr val="accent2"/>
                </a:solidFill>
                <a:ea typeface="楷体_GB2312" pitchFamily="49" charset="-122"/>
              </a:rPr>
              <a:t>酸度较高</a:t>
            </a:r>
            <a:r>
              <a:rPr lang="zh-CN" altLang="en-US" sz="2500" b="1">
                <a:ea typeface="楷体_GB2312" pitchFamily="49" charset="-122"/>
              </a:rPr>
              <a:t>时</a:t>
            </a:r>
          </a:p>
        </p:txBody>
      </p:sp>
      <p:sp>
        <p:nvSpPr>
          <p:cNvPr id="18492" name="Text Box 60"/>
          <p:cNvSpPr txBox="1">
            <a:spLocks noChangeArrowheads="1"/>
          </p:cNvSpPr>
          <p:nvPr/>
        </p:nvSpPr>
        <p:spPr bwMode="auto">
          <a:xfrm>
            <a:off x="8705850" y="3621088"/>
            <a:ext cx="633413" cy="477837"/>
          </a:xfrm>
          <a:prstGeom prst="rect">
            <a:avLst/>
          </a:prstGeom>
          <a:noFill/>
          <a:ln w="9525">
            <a:noFill/>
            <a:miter lim="800000"/>
            <a:headEnd/>
            <a:tailEnd/>
          </a:ln>
          <a:effectLst/>
        </p:spPr>
        <p:txBody>
          <a:bodyPr anchor="ctr">
            <a:spAutoFit/>
          </a:bodyPr>
          <a:lstStyle/>
          <a:p>
            <a:pPr>
              <a:defRPr/>
            </a:pPr>
            <a:r>
              <a:rPr lang="en-US" altLang="zh-CN" sz="2500" b="1">
                <a:solidFill>
                  <a:schemeClr val="accent2"/>
                </a:solidFill>
                <a:effectLst>
                  <a:outerShdw blurRad="38100" dist="38100" dir="2700000" algn="tl">
                    <a:srgbClr val="000000"/>
                  </a:outerShdw>
                </a:effectLst>
                <a:ea typeface="楷体_GB2312"/>
              </a:rPr>
              <a:t>H</a:t>
            </a:r>
          </a:p>
        </p:txBody>
      </p:sp>
      <p:sp>
        <p:nvSpPr>
          <p:cNvPr id="18493" name="Text Box 61"/>
          <p:cNvSpPr txBox="1">
            <a:spLocks noChangeArrowheads="1"/>
          </p:cNvSpPr>
          <p:nvPr/>
        </p:nvSpPr>
        <p:spPr bwMode="auto">
          <a:xfrm>
            <a:off x="1360488" y="5116513"/>
            <a:ext cx="633412" cy="477837"/>
          </a:xfrm>
          <a:prstGeom prst="rect">
            <a:avLst/>
          </a:prstGeom>
          <a:noFill/>
          <a:ln w="9525">
            <a:noFill/>
            <a:miter lim="800000"/>
            <a:headEnd/>
            <a:tailEnd/>
          </a:ln>
          <a:effectLst/>
        </p:spPr>
        <p:txBody>
          <a:bodyPr anchor="ctr">
            <a:spAutoFit/>
          </a:bodyPr>
          <a:lstStyle/>
          <a:p>
            <a:pPr>
              <a:defRPr/>
            </a:pPr>
            <a:r>
              <a:rPr lang="en-US" altLang="zh-CN" sz="2500" b="1">
                <a:solidFill>
                  <a:schemeClr val="accent2"/>
                </a:solidFill>
                <a:effectLst>
                  <a:outerShdw blurRad="38100" dist="38100" dir="2700000" algn="tl">
                    <a:srgbClr val="000000"/>
                  </a:outerShdw>
                </a:effectLst>
                <a:ea typeface="楷体_GB2312"/>
              </a:rPr>
              <a:t>H</a:t>
            </a:r>
          </a:p>
        </p:txBody>
      </p:sp>
      <p:sp>
        <p:nvSpPr>
          <p:cNvPr id="17426" name="Oval 26" descr="图片8">
            <a:hlinkClick r:id="" action="ppaction://hlinkshowjump?jump=previousslide"/>
          </p:cNvPr>
          <p:cNvSpPr>
            <a:spLocks noChangeAspect="1" noChangeArrowheads="1"/>
          </p:cNvSpPr>
          <p:nvPr/>
        </p:nvSpPr>
        <p:spPr bwMode="gray">
          <a:xfrm>
            <a:off x="5618161" y="5668979"/>
            <a:ext cx="360363" cy="360362"/>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a:p>
        </p:txBody>
      </p:sp>
      <p:sp>
        <p:nvSpPr>
          <p:cNvPr id="35" name="标题 1"/>
          <p:cNvSpPr txBox="1">
            <a:spLocks/>
          </p:cNvSpPr>
          <p:nvPr/>
        </p:nvSpPr>
        <p:spPr bwMode="auto">
          <a:xfrm>
            <a:off x="613567" y="207848"/>
            <a:ext cx="3236080" cy="4616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2200" b="1">
                <a:solidFill>
                  <a:srgbClr val="FF0000"/>
                </a:solidFill>
                <a:latin typeface="+mj-lt"/>
                <a:ea typeface="黑体" pitchFamily="2" charset="-122"/>
                <a:cs typeface="+mj-cs"/>
              </a:defRPr>
            </a:lvl1pPr>
            <a:lvl2pPr algn="l" rtl="0" eaLnBrk="0" fontAlgn="base" hangingPunct="0">
              <a:spcBef>
                <a:spcPct val="0"/>
              </a:spcBef>
              <a:spcAft>
                <a:spcPct val="0"/>
              </a:spcAft>
              <a:defRPr sz="2200" b="1">
                <a:solidFill>
                  <a:srgbClr val="FF0000"/>
                </a:solidFill>
                <a:latin typeface="Times New Roman" pitchFamily="18" charset="0"/>
                <a:ea typeface="黑体" pitchFamily="2" charset="-122"/>
              </a:defRPr>
            </a:lvl2pPr>
            <a:lvl3pPr algn="l" rtl="0" eaLnBrk="0" fontAlgn="base" hangingPunct="0">
              <a:spcBef>
                <a:spcPct val="0"/>
              </a:spcBef>
              <a:spcAft>
                <a:spcPct val="0"/>
              </a:spcAft>
              <a:defRPr sz="2200" b="1">
                <a:solidFill>
                  <a:srgbClr val="FF0000"/>
                </a:solidFill>
                <a:latin typeface="Times New Roman" pitchFamily="18" charset="0"/>
                <a:ea typeface="黑体" pitchFamily="2" charset="-122"/>
              </a:defRPr>
            </a:lvl3pPr>
            <a:lvl4pPr algn="l" rtl="0" eaLnBrk="0" fontAlgn="base" hangingPunct="0">
              <a:spcBef>
                <a:spcPct val="0"/>
              </a:spcBef>
              <a:spcAft>
                <a:spcPct val="0"/>
              </a:spcAft>
              <a:defRPr sz="2200" b="1">
                <a:solidFill>
                  <a:srgbClr val="FF0000"/>
                </a:solidFill>
                <a:latin typeface="Times New Roman" pitchFamily="18" charset="0"/>
                <a:ea typeface="黑体" pitchFamily="2" charset="-122"/>
              </a:defRPr>
            </a:lvl4pPr>
            <a:lvl5pPr algn="l" rtl="0" eaLnBrk="0" fontAlgn="base" hangingPunct="0">
              <a:spcBef>
                <a:spcPct val="0"/>
              </a:spcBef>
              <a:spcAft>
                <a:spcPct val="0"/>
              </a:spcAft>
              <a:defRPr sz="2200" b="1">
                <a:solidFill>
                  <a:srgbClr val="FF0000"/>
                </a:solidFill>
                <a:latin typeface="Times New Roman" pitchFamily="18" charset="0"/>
                <a:ea typeface="黑体" pitchFamily="2" charset="-122"/>
              </a:defRPr>
            </a:lvl5pPr>
            <a:lvl6pPr marL="457200" algn="ctr" rtl="0" eaLnBrk="0" fontAlgn="base" hangingPunct="0">
              <a:spcBef>
                <a:spcPct val="0"/>
              </a:spcBef>
              <a:spcAft>
                <a:spcPct val="0"/>
              </a:spcAft>
              <a:defRPr sz="4400" b="1">
                <a:solidFill>
                  <a:srgbClr val="6600CC"/>
                </a:solidFill>
                <a:latin typeface="Times New Roman" pitchFamily="18" charset="0"/>
              </a:defRPr>
            </a:lvl6pPr>
            <a:lvl7pPr marL="914400" algn="ctr" rtl="0" eaLnBrk="0" fontAlgn="base" hangingPunct="0">
              <a:spcBef>
                <a:spcPct val="0"/>
              </a:spcBef>
              <a:spcAft>
                <a:spcPct val="0"/>
              </a:spcAft>
              <a:defRPr sz="4400" b="1">
                <a:solidFill>
                  <a:srgbClr val="6600CC"/>
                </a:solidFill>
                <a:latin typeface="Times New Roman" pitchFamily="18" charset="0"/>
              </a:defRPr>
            </a:lvl7pPr>
            <a:lvl8pPr marL="1371600" algn="ctr" rtl="0" eaLnBrk="0" fontAlgn="base" hangingPunct="0">
              <a:spcBef>
                <a:spcPct val="0"/>
              </a:spcBef>
              <a:spcAft>
                <a:spcPct val="0"/>
              </a:spcAft>
              <a:defRPr sz="4400" b="1">
                <a:solidFill>
                  <a:srgbClr val="6600CC"/>
                </a:solidFill>
                <a:latin typeface="Times New Roman" pitchFamily="18" charset="0"/>
              </a:defRPr>
            </a:lvl8pPr>
            <a:lvl9pPr marL="1828800" algn="ctr" rtl="0" eaLnBrk="0" fontAlgn="base" hangingPunct="0">
              <a:spcBef>
                <a:spcPct val="0"/>
              </a:spcBef>
              <a:spcAft>
                <a:spcPct val="0"/>
              </a:spcAft>
              <a:defRPr sz="4400" b="1">
                <a:solidFill>
                  <a:srgbClr val="6600CC"/>
                </a:solidFill>
                <a:latin typeface="Times New Roman" pitchFamily="18" charset="0"/>
              </a:defRPr>
            </a:lvl9pPr>
          </a:lstStyle>
          <a:p>
            <a:r>
              <a:rPr lang="en-US" altLang="zh-CN" sz="2400" kern="0" dirty="0">
                <a:solidFill>
                  <a:srgbClr val="FF3300"/>
                </a:solidFill>
                <a:ea typeface="楷体_GB2312" pitchFamily="49" charset="-122"/>
              </a:rPr>
              <a:t>EDTA——</a:t>
            </a:r>
            <a:r>
              <a:rPr lang="zh-CN" altLang="en-US" sz="2400" kern="0" dirty="0">
                <a:solidFill>
                  <a:srgbClr val="FF3300"/>
                </a:solidFill>
                <a:ea typeface="楷体_GB2312" pitchFamily="49" charset="-122"/>
              </a:rPr>
              <a:t>明星螯合剂</a:t>
            </a:r>
            <a:endParaRPr lang="zh-CN" altLang="en-US" kern="0" dirty="0"/>
          </a:p>
        </p:txBody>
      </p:sp>
    </p:spTree>
    <p:extLst>
      <p:ext uri="{BB962C8B-B14F-4D97-AF65-F5344CB8AC3E}">
        <p14:creationId xmlns:p14="http://schemas.microsoft.com/office/powerpoint/2010/main" val="2897272441"/>
      </p:ext>
    </p:extLst>
  </p:cSld>
  <p:clrMapOvr>
    <a:masterClrMapping/>
  </p:clrMapOvr>
  <p:transition spd="slow">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0"/>
                                  </p:stCondLst>
                                  <p:childTnLst>
                                    <p:set>
                                      <p:cBhvr>
                                        <p:cTn id="6" dur="1" fill="hold">
                                          <p:stCondLst>
                                            <p:cond delay="0"/>
                                          </p:stCondLst>
                                        </p:cTn>
                                        <p:tgtEl>
                                          <p:spTgt spid="18448"/>
                                        </p:tgtEl>
                                        <p:attrNameLst>
                                          <p:attrName>style.visibility</p:attrName>
                                        </p:attrNameLst>
                                      </p:cBhvr>
                                      <p:to>
                                        <p:strVal val="visible"/>
                                      </p:to>
                                    </p:set>
                                    <p:animEffect transition="in" filter="blinds(vertical)">
                                      <p:cBhvr>
                                        <p:cTn id="7" dur="500"/>
                                        <p:tgtEl>
                                          <p:spTgt spid="18448"/>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randombar(horizontal)">
                                      <p:cBhvr>
                                        <p:cTn id="11" dur="500"/>
                                        <p:tgtEl>
                                          <p:spTgt spid="2"/>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3" presetClass="entr" presetSubtype="5" fill="hold" grpId="0" nodeType="clickEffect">
                                  <p:stCondLst>
                                    <p:cond delay="0"/>
                                  </p:stCondLst>
                                  <p:childTnLst>
                                    <p:set>
                                      <p:cBhvr>
                                        <p:cTn id="15" dur="1" fill="hold">
                                          <p:stCondLst>
                                            <p:cond delay="0"/>
                                          </p:stCondLst>
                                        </p:cTn>
                                        <p:tgtEl>
                                          <p:spTgt spid="18455"/>
                                        </p:tgtEl>
                                        <p:attrNameLst>
                                          <p:attrName>style.visibility</p:attrName>
                                        </p:attrNameLst>
                                      </p:cBhvr>
                                      <p:to>
                                        <p:strVal val="visible"/>
                                      </p:to>
                                    </p:set>
                                    <p:animEffect transition="in" filter="blinds(vertical)">
                                      <p:cBhvr>
                                        <p:cTn id="16" dur="500"/>
                                        <p:tgtEl>
                                          <p:spTgt spid="18455"/>
                                        </p:tgtEl>
                                      </p:cBhvr>
                                    </p:animEffect>
                                  </p:childTnLst>
                                </p:cTn>
                              </p:par>
                            </p:childTnLst>
                          </p:cTn>
                        </p:par>
                        <p:par>
                          <p:cTn id="17" fill="hold">
                            <p:stCondLst>
                              <p:cond delay="500"/>
                            </p:stCondLst>
                            <p:childTnLst>
                              <p:par>
                                <p:cTn id="18" presetID="14" presetClass="entr" presetSubtype="5"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randombar(vertical)">
                                      <p:cBhvr>
                                        <p:cTn id="20" dur="500"/>
                                        <p:tgtEl>
                                          <p:spTgt spid="3"/>
                                        </p:tgtEl>
                                      </p:cBhvr>
                                    </p:animEffect>
                                  </p:childTnLst>
                                  <p:subTnLst>
                                    <p:audio>
                                      <p:cMediaNode>
                                        <p:cTn display="0" masterRel="sameClick">
                                          <p:stCondLst>
                                            <p:cond evt="begin" delay="0">
                                              <p:tn val="18"/>
                                            </p:cond>
                                          </p:stCondLst>
                                          <p:endCondLst>
                                            <p:cond evt="onStopAudio" delay="0">
                                              <p:tgtEl>
                                                <p:sldTgt/>
                                              </p:tgtEl>
                                            </p:cond>
                                          </p:endCondLst>
                                        </p:cTn>
                                        <p:tgtEl>
                                          <p:sndTgt r:embed="rId3" name="RECYCLE.WAV"/>
                                        </p:tgtEl>
                                      </p:cMediaNode>
                                    </p:audio>
                                  </p:sub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8487"/>
                                        </p:tgtEl>
                                        <p:attrNameLst>
                                          <p:attrName>style.visibility</p:attrName>
                                        </p:attrNameLst>
                                      </p:cBhvr>
                                      <p:to>
                                        <p:strVal val="visible"/>
                                      </p:to>
                                    </p:set>
                                    <p:animEffect transition="in" filter="blinds(horizontal)">
                                      <p:cBhvr>
                                        <p:cTn id="25" dur="500"/>
                                        <p:tgtEl>
                                          <p:spTgt spid="18487"/>
                                        </p:tgtEl>
                                      </p:cBhvr>
                                    </p:animEffect>
                                  </p:childTnLst>
                                </p:cTn>
                              </p:par>
                            </p:childTnLst>
                          </p:cTn>
                        </p:par>
                        <p:par>
                          <p:cTn id="26" fill="hold">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18488"/>
                                        </p:tgtEl>
                                        <p:attrNameLst>
                                          <p:attrName>style.visibility</p:attrName>
                                        </p:attrNameLst>
                                      </p:cBhvr>
                                      <p:to>
                                        <p:strVal val="visible"/>
                                      </p:to>
                                    </p:set>
                                    <p:animEffect transition="in" filter="blinds(horizontal)">
                                      <p:cBhvr>
                                        <p:cTn id="29" dur="500"/>
                                        <p:tgtEl>
                                          <p:spTgt spid="18488"/>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8489"/>
                                        </p:tgtEl>
                                        <p:attrNameLst>
                                          <p:attrName>style.visibility</p:attrName>
                                        </p:attrNameLst>
                                      </p:cBhvr>
                                      <p:to>
                                        <p:strVal val="visible"/>
                                      </p:to>
                                    </p:set>
                                    <p:animEffect transition="in" filter="blinds(horizontal)">
                                      <p:cBhvr>
                                        <p:cTn id="34" dur="500"/>
                                        <p:tgtEl>
                                          <p:spTgt spid="18489"/>
                                        </p:tgtEl>
                                      </p:cBhvr>
                                    </p:animEffect>
                                  </p:childTnLst>
                                </p:cTn>
                              </p:par>
                            </p:childTnLst>
                          </p:cTn>
                        </p:par>
                        <p:par>
                          <p:cTn id="35" fill="hold">
                            <p:stCondLst>
                              <p:cond delay="500"/>
                            </p:stCondLst>
                            <p:childTnLst>
                              <p:par>
                                <p:cTn id="36" presetID="3" presetClass="entr" presetSubtype="10" fill="hold" grpId="0" nodeType="afterEffect">
                                  <p:stCondLst>
                                    <p:cond delay="0"/>
                                  </p:stCondLst>
                                  <p:childTnLst>
                                    <p:set>
                                      <p:cBhvr>
                                        <p:cTn id="37" dur="1" fill="hold">
                                          <p:stCondLst>
                                            <p:cond delay="0"/>
                                          </p:stCondLst>
                                        </p:cTn>
                                        <p:tgtEl>
                                          <p:spTgt spid="18490"/>
                                        </p:tgtEl>
                                        <p:attrNameLst>
                                          <p:attrName>style.visibility</p:attrName>
                                        </p:attrNameLst>
                                      </p:cBhvr>
                                      <p:to>
                                        <p:strVal val="visible"/>
                                      </p:to>
                                    </p:set>
                                    <p:animEffect transition="in" filter="blinds(horizontal)">
                                      <p:cBhvr>
                                        <p:cTn id="38" dur="500"/>
                                        <p:tgtEl>
                                          <p:spTgt spid="18490"/>
                                        </p:tgtEl>
                                      </p:cBhvr>
                                    </p:animEffect>
                                  </p:childTnLst>
                                  <p:subTnLst>
                                    <p:audio>
                                      <p:cMediaNode>
                                        <p:cTn display="0" masterRel="sameClick">
                                          <p:stCondLst>
                                            <p:cond evt="begin" delay="0">
                                              <p:tn val="36"/>
                                            </p:cond>
                                          </p:stCondLst>
                                          <p:endCondLst>
                                            <p:cond evt="onStopAudio" delay="0">
                                              <p:tgtEl>
                                                <p:sldTgt/>
                                              </p:tgtEl>
                                            </p:cond>
                                          </p:endCondLst>
                                        </p:cTn>
                                        <p:tgtEl>
                                          <p:sndTgt r:embed="rId4" name="CHIMES.WAV"/>
                                        </p:tgtEl>
                                      </p:cMediaNode>
                                    </p:audio>
                                  </p:subTnLst>
                                </p:cTn>
                              </p:par>
                            </p:childTnLst>
                          </p:cTn>
                        </p:par>
                      </p:childTnLst>
                    </p:cTn>
                  </p:par>
                  <p:par>
                    <p:cTn id="39" fill="hold">
                      <p:stCondLst>
                        <p:cond delay="indefinite"/>
                      </p:stCondLst>
                      <p:childTnLst>
                        <p:par>
                          <p:cTn id="40" fill="hold">
                            <p:stCondLst>
                              <p:cond delay="0"/>
                            </p:stCondLst>
                            <p:childTnLst>
                              <p:par>
                                <p:cTn id="41" presetID="3" presetClass="entr" presetSubtype="5" fill="hold" grpId="0" nodeType="clickEffect">
                                  <p:stCondLst>
                                    <p:cond delay="0"/>
                                  </p:stCondLst>
                                  <p:childTnLst>
                                    <p:set>
                                      <p:cBhvr>
                                        <p:cTn id="42" dur="1" fill="hold">
                                          <p:stCondLst>
                                            <p:cond delay="0"/>
                                          </p:stCondLst>
                                        </p:cTn>
                                        <p:tgtEl>
                                          <p:spTgt spid="18491"/>
                                        </p:tgtEl>
                                        <p:attrNameLst>
                                          <p:attrName>style.visibility</p:attrName>
                                        </p:attrNameLst>
                                      </p:cBhvr>
                                      <p:to>
                                        <p:strVal val="visible"/>
                                      </p:to>
                                    </p:set>
                                    <p:animEffect transition="in" filter="blinds(vertical)">
                                      <p:cBhvr>
                                        <p:cTn id="43" dur="500"/>
                                        <p:tgtEl>
                                          <p:spTgt spid="18491"/>
                                        </p:tgtEl>
                                      </p:cBhvr>
                                    </p:animEffect>
                                  </p:childTnLst>
                                </p:cTn>
                              </p:par>
                            </p:childTnLst>
                          </p:cTn>
                        </p:par>
                        <p:par>
                          <p:cTn id="44" fill="hold">
                            <p:stCondLst>
                              <p:cond delay="500"/>
                            </p:stCondLst>
                            <p:childTnLst>
                              <p:par>
                                <p:cTn id="45" presetID="12" presetClass="entr" presetSubtype="2" fill="hold" grpId="0" nodeType="afterEffect">
                                  <p:stCondLst>
                                    <p:cond delay="0"/>
                                  </p:stCondLst>
                                  <p:childTnLst>
                                    <p:set>
                                      <p:cBhvr>
                                        <p:cTn id="46" dur="1" fill="hold">
                                          <p:stCondLst>
                                            <p:cond delay="0"/>
                                          </p:stCondLst>
                                        </p:cTn>
                                        <p:tgtEl>
                                          <p:spTgt spid="18492"/>
                                        </p:tgtEl>
                                        <p:attrNameLst>
                                          <p:attrName>style.visibility</p:attrName>
                                        </p:attrNameLst>
                                      </p:cBhvr>
                                      <p:to>
                                        <p:strVal val="visible"/>
                                      </p:to>
                                    </p:set>
                                    <p:animEffect transition="in" filter="slide(fromRight)">
                                      <p:cBhvr>
                                        <p:cTn id="47" dur="500"/>
                                        <p:tgtEl>
                                          <p:spTgt spid="18492"/>
                                        </p:tgtEl>
                                      </p:cBhvr>
                                    </p:animEffect>
                                  </p:childTnLst>
                                  <p:subTnLst>
                                    <p:audio>
                                      <p:cMediaNode>
                                        <p:cTn display="0" masterRel="sameClick">
                                          <p:stCondLst>
                                            <p:cond evt="begin" delay="0">
                                              <p:tn val="45"/>
                                            </p:cond>
                                          </p:stCondLst>
                                          <p:endCondLst>
                                            <p:cond evt="onStopAudio" delay="0">
                                              <p:tgtEl>
                                                <p:sldTgt/>
                                              </p:tgtEl>
                                            </p:cond>
                                          </p:endCondLst>
                                        </p:cTn>
                                        <p:tgtEl>
                                          <p:sndTgt r:embed="rId3" name="RECYCLE.WAV"/>
                                        </p:tgtEl>
                                      </p:cMediaNode>
                                    </p:audio>
                                  </p:subTnLst>
                                </p:cTn>
                              </p:par>
                            </p:childTnLst>
                          </p:cTn>
                        </p:par>
                        <p:par>
                          <p:cTn id="48" fill="hold">
                            <p:stCondLst>
                              <p:cond delay="1000"/>
                            </p:stCondLst>
                            <p:childTnLst>
                              <p:par>
                                <p:cTn id="49" presetID="12" presetClass="entr" presetSubtype="8" fill="hold" grpId="0" nodeType="afterEffect">
                                  <p:stCondLst>
                                    <p:cond delay="0"/>
                                  </p:stCondLst>
                                  <p:childTnLst>
                                    <p:set>
                                      <p:cBhvr>
                                        <p:cTn id="50" dur="1" fill="hold">
                                          <p:stCondLst>
                                            <p:cond delay="0"/>
                                          </p:stCondLst>
                                        </p:cTn>
                                        <p:tgtEl>
                                          <p:spTgt spid="18493"/>
                                        </p:tgtEl>
                                        <p:attrNameLst>
                                          <p:attrName>style.visibility</p:attrName>
                                        </p:attrNameLst>
                                      </p:cBhvr>
                                      <p:to>
                                        <p:strVal val="visible"/>
                                      </p:to>
                                    </p:set>
                                    <p:animEffect transition="in" filter="slide(fromLeft)">
                                      <p:cBhvr>
                                        <p:cTn id="51" dur="500"/>
                                        <p:tgtEl>
                                          <p:spTgt spid="18493"/>
                                        </p:tgtEl>
                                      </p:cBhvr>
                                    </p:animEffect>
                                  </p:childTnLst>
                                  <p:subTnLst>
                                    <p:audio>
                                      <p:cMediaNode>
                                        <p:cTn display="0" masterRel="sameClick">
                                          <p:stCondLst>
                                            <p:cond evt="begin" delay="0">
                                              <p:tn val="49"/>
                                            </p:cond>
                                          </p:stCondLst>
                                          <p:endCondLst>
                                            <p:cond evt="onStopAudio" delay="0">
                                              <p:tgtEl>
                                                <p:sldTgt/>
                                              </p:tgtEl>
                                            </p:cond>
                                          </p:endCondLst>
                                        </p:cTn>
                                        <p:tgtEl>
                                          <p:sndTgt r:embed="rId3" name="RECYC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8" grpId="0" autoUpdateAnimBg="0"/>
      <p:bldP spid="18455" grpId="0" autoUpdateAnimBg="0"/>
      <p:bldP spid="18487" grpId="0" animBg="1"/>
      <p:bldP spid="18488" grpId="0" animBg="1"/>
      <p:bldP spid="18489" grpId="0" animBg="1"/>
      <p:bldP spid="18490" grpId="0" animBg="1"/>
      <p:bldP spid="18491" grpId="0" autoUpdateAnimBg="0"/>
      <p:bldP spid="18492" grpId="0" autoUpdateAnimBg="0"/>
      <p:bldP spid="1849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Text Box 5"/>
          <p:cNvSpPr txBox="1">
            <a:spLocks noChangeArrowheads="1"/>
          </p:cNvSpPr>
          <p:nvPr/>
        </p:nvSpPr>
        <p:spPr bwMode="auto">
          <a:xfrm>
            <a:off x="720477" y="1270095"/>
            <a:ext cx="9904413" cy="3901068"/>
          </a:xfrm>
          <a:prstGeom prst="rect">
            <a:avLst/>
          </a:prstGeom>
          <a:noFill/>
          <a:ln w="9525">
            <a:noFill/>
            <a:miter lim="800000"/>
            <a:headEnd/>
            <a:tailEnd/>
          </a:ln>
          <a:effectLst/>
        </p:spPr>
        <p:txBody>
          <a:bodyPr anchor="ctr">
            <a:spAutoFit/>
          </a:bodyPr>
          <a:lstStyle/>
          <a:p>
            <a:pPr>
              <a:lnSpc>
                <a:spcPct val="120000"/>
              </a:lnSpc>
              <a:defRPr/>
            </a:pPr>
            <a:r>
              <a:rPr lang="en-US" altLang="zh-CN" sz="2500" b="1" dirty="0">
                <a:ea typeface="楷体_GB2312"/>
              </a:rPr>
              <a:t>①</a:t>
            </a:r>
            <a:r>
              <a:rPr lang="zh-CN" altLang="en-US" sz="2500" b="1" dirty="0">
                <a:solidFill>
                  <a:schemeClr val="bg2"/>
                </a:solidFill>
                <a:ea typeface="楷体_GB2312"/>
              </a:rPr>
              <a:t>配离子化合物</a:t>
            </a:r>
            <a:r>
              <a:rPr lang="en-US" altLang="zh-CN" sz="2500" b="1" dirty="0">
                <a:ea typeface="楷体_GB2312"/>
              </a:rPr>
              <a:t>:</a:t>
            </a:r>
          </a:p>
          <a:p>
            <a:pPr>
              <a:lnSpc>
                <a:spcPct val="120000"/>
              </a:lnSpc>
              <a:defRPr/>
            </a:pPr>
            <a:r>
              <a:rPr lang="en-US" altLang="zh-CN" sz="2500" b="1" dirty="0">
                <a:ea typeface="楷体_GB2312"/>
              </a:rPr>
              <a:t>    </a:t>
            </a:r>
            <a:r>
              <a:rPr lang="zh-CN" altLang="en-US" sz="2500" b="1" dirty="0">
                <a:ea typeface="楷体_GB2312"/>
              </a:rPr>
              <a:t>阴离子在前</a:t>
            </a:r>
            <a:r>
              <a:rPr lang="en-US" altLang="zh-CN" sz="2500" b="1" dirty="0">
                <a:ea typeface="楷体_GB2312"/>
              </a:rPr>
              <a:t>,</a:t>
            </a:r>
            <a:r>
              <a:rPr lang="zh-CN" altLang="en-US" sz="2500" b="1" dirty="0">
                <a:ea typeface="楷体_GB2312"/>
              </a:rPr>
              <a:t>阳离子在后</a:t>
            </a:r>
            <a:r>
              <a:rPr lang="en-US" altLang="zh-CN" sz="2500" b="1" dirty="0">
                <a:ea typeface="楷体_GB2312"/>
              </a:rPr>
              <a:t>; </a:t>
            </a:r>
            <a:r>
              <a:rPr lang="en-US" altLang="zh-CN" sz="2500" b="1" dirty="0">
                <a:ea typeface="楷体_GB2312" pitchFamily="49" charset="-122"/>
              </a:rPr>
              <a:t>[Cu(NH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4</a:t>
            </a:r>
            <a:r>
              <a:rPr lang="en-US" altLang="zh-CN" sz="2500" b="1" dirty="0">
                <a:ea typeface="楷体_GB2312" pitchFamily="49" charset="-122"/>
              </a:rPr>
              <a:t>]</a:t>
            </a:r>
            <a:r>
              <a:rPr lang="en-US" altLang="zh-CN" sz="2500" b="1" dirty="0">
                <a:solidFill>
                  <a:srgbClr val="FF0000"/>
                </a:solidFill>
                <a:ea typeface="楷体_GB2312" pitchFamily="49" charset="-122"/>
              </a:rPr>
              <a:t>[PtCl</a:t>
            </a:r>
            <a:r>
              <a:rPr lang="en-US" altLang="zh-CN" sz="2500" b="1" baseline="-25000" dirty="0">
                <a:solidFill>
                  <a:srgbClr val="FF0000"/>
                </a:solidFill>
                <a:ea typeface="楷体_GB2312" pitchFamily="49" charset="-122"/>
              </a:rPr>
              <a:t>4</a:t>
            </a:r>
            <a:r>
              <a:rPr lang="en-US" altLang="zh-CN" sz="2500" b="1" dirty="0">
                <a:solidFill>
                  <a:srgbClr val="FF0000"/>
                </a:solidFill>
                <a:ea typeface="楷体_GB2312" pitchFamily="49" charset="-122"/>
              </a:rPr>
              <a:t>]</a:t>
            </a:r>
            <a:endParaRPr lang="en-US" altLang="zh-CN" sz="2500" b="1" baseline="-25000" dirty="0">
              <a:solidFill>
                <a:srgbClr val="FF0000"/>
              </a:solidFill>
              <a:ea typeface="楷体_GB2312" pitchFamily="49" charset="-122"/>
            </a:endParaRPr>
          </a:p>
          <a:p>
            <a:pPr>
              <a:lnSpc>
                <a:spcPct val="120000"/>
              </a:lnSpc>
              <a:defRPr/>
            </a:pPr>
            <a:endParaRPr lang="en-US" altLang="zh-CN" sz="2500" b="1" dirty="0">
              <a:ea typeface="楷体_GB2312"/>
            </a:endParaRPr>
          </a:p>
          <a:p>
            <a:pPr>
              <a:lnSpc>
                <a:spcPct val="120000"/>
              </a:lnSpc>
              <a:defRPr/>
            </a:pPr>
            <a:r>
              <a:rPr lang="en-US" altLang="zh-CN" sz="2500" b="1" dirty="0">
                <a:ea typeface="楷体_GB2312"/>
              </a:rPr>
              <a:t>②</a:t>
            </a:r>
            <a:r>
              <a:rPr lang="zh-CN" altLang="en-US" sz="2500" b="1" dirty="0">
                <a:solidFill>
                  <a:schemeClr val="accent2"/>
                </a:solidFill>
                <a:effectLst>
                  <a:outerShdw blurRad="38100" dist="38100" dir="2700000" algn="tl">
                    <a:srgbClr val="000000"/>
                  </a:outerShdw>
                </a:effectLst>
                <a:ea typeface="楷体_GB2312"/>
              </a:rPr>
              <a:t>配阳离子</a:t>
            </a:r>
            <a:r>
              <a:rPr lang="en-US" altLang="zh-CN" sz="2500" b="1" dirty="0">
                <a:ea typeface="楷体_GB2312"/>
              </a:rPr>
              <a:t>:</a:t>
            </a:r>
          </a:p>
          <a:p>
            <a:pPr>
              <a:lnSpc>
                <a:spcPct val="120000"/>
              </a:lnSpc>
              <a:defRPr/>
            </a:pPr>
            <a:r>
              <a:rPr lang="en-US" altLang="zh-CN" sz="2500" b="1" dirty="0">
                <a:ea typeface="楷体_GB2312"/>
              </a:rPr>
              <a:t>        “</a:t>
            </a:r>
            <a:r>
              <a:rPr lang="zh-CN" altLang="en-US" sz="2500" b="1" dirty="0">
                <a:ea typeface="楷体_GB2312"/>
              </a:rPr>
              <a:t>某化某”或“某酸某”</a:t>
            </a:r>
            <a:r>
              <a:rPr lang="en-US" altLang="zh-CN" sz="2500" b="1" dirty="0">
                <a:ea typeface="楷体_GB2312"/>
              </a:rPr>
              <a:t>;</a:t>
            </a:r>
            <a:r>
              <a:rPr lang="en-US" altLang="zh-CN" sz="2500" b="1" dirty="0">
                <a:ea typeface="楷体_GB2312" pitchFamily="49" charset="-122"/>
              </a:rPr>
              <a:t> [Cu(NH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4</a:t>
            </a:r>
            <a:r>
              <a:rPr lang="en-US" altLang="zh-CN" sz="2500" b="1" dirty="0">
                <a:ea typeface="楷体_GB2312" pitchFamily="49" charset="-122"/>
              </a:rPr>
              <a:t>]SO</a:t>
            </a:r>
            <a:r>
              <a:rPr lang="en-US" altLang="zh-CN" sz="2500" b="1" baseline="-25000" dirty="0">
                <a:ea typeface="楷体_GB2312" pitchFamily="49" charset="-122"/>
              </a:rPr>
              <a:t>4</a:t>
            </a:r>
          </a:p>
          <a:p>
            <a:pPr>
              <a:lnSpc>
                <a:spcPct val="120000"/>
              </a:lnSpc>
              <a:defRPr/>
            </a:pPr>
            <a:endParaRPr lang="en-US" altLang="zh-CN" sz="2500" b="1" dirty="0">
              <a:ea typeface="楷体_GB2312"/>
            </a:endParaRPr>
          </a:p>
          <a:p>
            <a:pPr>
              <a:lnSpc>
                <a:spcPct val="120000"/>
              </a:lnSpc>
              <a:defRPr/>
            </a:pPr>
            <a:r>
              <a:rPr lang="en-US" altLang="zh-CN" sz="2500" b="1" dirty="0">
                <a:ea typeface="楷体_GB2312"/>
              </a:rPr>
              <a:t>③</a:t>
            </a:r>
            <a:r>
              <a:rPr lang="zh-CN" altLang="en-US" sz="2500" b="1" dirty="0">
                <a:solidFill>
                  <a:srgbClr val="009900"/>
                </a:solidFill>
                <a:effectLst>
                  <a:outerShdw blurRad="38100" dist="38100" dir="2700000" algn="tl">
                    <a:srgbClr val="000000"/>
                  </a:outerShdw>
                </a:effectLst>
                <a:ea typeface="楷体_GB2312"/>
              </a:rPr>
              <a:t>配阴离子</a:t>
            </a:r>
            <a:r>
              <a:rPr lang="en-US" altLang="zh-CN" sz="2500" b="1" dirty="0">
                <a:ea typeface="楷体_GB2312"/>
              </a:rPr>
              <a:t>:</a:t>
            </a:r>
          </a:p>
          <a:p>
            <a:pPr>
              <a:lnSpc>
                <a:spcPct val="120000"/>
              </a:lnSpc>
              <a:defRPr/>
            </a:pPr>
            <a:r>
              <a:rPr lang="en-US" altLang="zh-CN" sz="2500" b="1" dirty="0">
                <a:ea typeface="楷体_GB2312"/>
              </a:rPr>
              <a:t>        </a:t>
            </a:r>
            <a:r>
              <a:rPr lang="zh-CN" altLang="en-US" sz="2500" b="1" dirty="0">
                <a:ea typeface="楷体_GB2312"/>
              </a:rPr>
              <a:t>配阴离子与外界阳离子间用“酸”字相连</a:t>
            </a:r>
            <a:r>
              <a:rPr lang="en-US" altLang="zh-CN" sz="2500" b="1" dirty="0">
                <a:ea typeface="楷体_GB2312"/>
              </a:rPr>
              <a:t>.  </a:t>
            </a:r>
          </a:p>
        </p:txBody>
      </p:sp>
      <p:sp>
        <p:nvSpPr>
          <p:cNvPr id="19461" name="Rectangle 14"/>
          <p:cNvSpPr>
            <a:spLocks noGrp="1" noChangeArrowheads="1"/>
          </p:cNvSpPr>
          <p:nvPr>
            <p:ph type="title"/>
          </p:nvPr>
        </p:nvSpPr>
        <p:spPr>
          <a:xfrm>
            <a:off x="576263" y="258763"/>
            <a:ext cx="10369550" cy="431800"/>
          </a:xfrm>
          <a:noFill/>
        </p:spPr>
        <p:txBody>
          <a:bodyPr/>
          <a:lstStyle/>
          <a:p>
            <a:r>
              <a:rPr lang="en-US" altLang="zh-CN" dirty="0">
                <a:ea typeface="黑体" pitchFamily="49" charset="-122"/>
              </a:rPr>
              <a:t>6.1.3</a:t>
            </a:r>
            <a:r>
              <a:rPr lang="zh-CN" altLang="en-US" dirty="0">
                <a:ea typeface="黑体" pitchFamily="49" charset="-122"/>
              </a:rPr>
              <a:t>配合物的命名</a:t>
            </a:r>
            <a:endParaRPr lang="zh-CN" altLang="en-US" sz="1200" b="0" dirty="0">
              <a:solidFill>
                <a:srgbClr val="0000FF"/>
              </a:solidFill>
              <a:ea typeface="黑体" pitchFamily="49" charset="-122"/>
            </a:endParaRPr>
          </a:p>
        </p:txBody>
      </p:sp>
      <p:sp>
        <p:nvSpPr>
          <p:cNvPr id="19462"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2"/>
            <a:srcRect/>
            <a:stretch>
              <a:fillRect/>
            </a:stretch>
          </a:blipFill>
          <a:ln w="9525">
            <a:solidFill>
              <a:srgbClr val="808080"/>
            </a:solidFill>
            <a:round/>
            <a:headEnd/>
            <a:tailEnd/>
          </a:ln>
        </p:spPr>
        <p:txBody>
          <a:bodyPr wrap="none" anchor="ctr"/>
          <a:lstStyle/>
          <a:p>
            <a:endParaRPr lang="zh-CN" altLang="en-US"/>
          </a:p>
        </p:txBody>
      </p:sp>
      <p:sp>
        <p:nvSpPr>
          <p:cNvPr id="19463"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3"/>
            <a:srcRect/>
            <a:stretch>
              <a:fillRect/>
            </a:stretch>
          </a:blipFill>
          <a:ln w="9525">
            <a:solidFill>
              <a:srgbClr val="808080"/>
            </a:solidFill>
            <a:round/>
            <a:headEnd/>
            <a:tailEnd/>
          </a:ln>
        </p:spPr>
        <p:txBody>
          <a:bodyPr wrap="none" anchor="ctr"/>
          <a:lstStyle/>
          <a:p>
            <a:endParaRPr lang="zh-CN" altLang="en-US"/>
          </a:p>
        </p:txBody>
      </p:sp>
      <p:sp>
        <p:nvSpPr>
          <p:cNvPr id="3" name="矩形 2"/>
          <p:cNvSpPr/>
          <p:nvPr/>
        </p:nvSpPr>
        <p:spPr>
          <a:xfrm>
            <a:off x="7632366" y="4416559"/>
            <a:ext cx="2056973" cy="600293"/>
          </a:xfrm>
          <a:prstGeom prst="rect">
            <a:avLst/>
          </a:prstGeom>
        </p:spPr>
        <p:txBody>
          <a:bodyPr wrap="none">
            <a:spAutoFit/>
          </a:bodyPr>
          <a:lstStyle/>
          <a:p>
            <a:pPr>
              <a:lnSpc>
                <a:spcPct val="150000"/>
              </a:lnSpc>
            </a:pPr>
            <a:r>
              <a:rPr lang="en-US" altLang="zh-CN" sz="2500" b="1" dirty="0">
                <a:ea typeface="楷体_GB2312" pitchFamily="49" charset="-122"/>
              </a:rPr>
              <a:t>K</a:t>
            </a:r>
            <a:r>
              <a:rPr lang="en-US" altLang="zh-CN" sz="2500" b="1" baseline="-25000" dirty="0">
                <a:ea typeface="楷体_GB2312" pitchFamily="49" charset="-122"/>
              </a:rPr>
              <a:t>3</a:t>
            </a:r>
            <a:r>
              <a:rPr lang="en-US" altLang="zh-CN" sz="2500" b="1" dirty="0">
                <a:ea typeface="楷体_GB2312" pitchFamily="49" charset="-122"/>
              </a:rPr>
              <a:t>[Fe(NCS)</a:t>
            </a:r>
            <a:r>
              <a:rPr lang="en-US" altLang="zh-CN" sz="2500" b="1" baseline="-25000" dirty="0">
                <a:ea typeface="楷体_GB2312" pitchFamily="49" charset="-122"/>
              </a:rPr>
              <a:t>6</a:t>
            </a:r>
            <a:r>
              <a:rPr lang="en-US" altLang="zh-CN" sz="2500" b="1" dirty="0">
                <a:ea typeface="楷体_GB2312" pitchFamily="49" charset="-122"/>
              </a:rPr>
              <a:t>]</a:t>
            </a:r>
          </a:p>
        </p:txBody>
      </p:sp>
      <p:sp>
        <p:nvSpPr>
          <p:cNvPr id="4" name="矩形 3"/>
          <p:cNvSpPr/>
          <p:nvPr/>
        </p:nvSpPr>
        <p:spPr>
          <a:xfrm>
            <a:off x="7354339" y="3085979"/>
            <a:ext cx="2654894" cy="669414"/>
          </a:xfrm>
          <a:prstGeom prst="rect">
            <a:avLst/>
          </a:prstGeom>
        </p:spPr>
        <p:txBody>
          <a:bodyPr wrap="none">
            <a:spAutoFit/>
          </a:bodyPr>
          <a:lstStyle/>
          <a:p>
            <a:pPr>
              <a:lnSpc>
                <a:spcPct val="150000"/>
              </a:lnSpc>
            </a:pPr>
            <a:r>
              <a:rPr lang="zh-CN" altLang="en-US" sz="2500" b="1" dirty="0">
                <a:solidFill>
                  <a:srgbClr val="FF0000"/>
                </a:solidFill>
                <a:ea typeface="楷体_GB2312" pitchFamily="49" charset="-122"/>
              </a:rPr>
              <a:t>硫酸</a:t>
            </a:r>
            <a:r>
              <a:rPr lang="zh-CN" altLang="en-US" sz="2500" b="1" dirty="0">
                <a:ea typeface="楷体_GB2312" pitchFamily="49" charset="-122"/>
              </a:rPr>
              <a:t>四氨合铜</a:t>
            </a:r>
            <a:r>
              <a:rPr lang="en-US" altLang="zh-CN" sz="2500" b="1" dirty="0">
                <a:ea typeface="楷体_GB2312" pitchFamily="49" charset="-122"/>
              </a:rPr>
              <a:t>(Ⅱ)</a:t>
            </a:r>
          </a:p>
        </p:txBody>
      </p:sp>
      <p:sp>
        <p:nvSpPr>
          <p:cNvPr id="5" name="矩形 4"/>
          <p:cNvSpPr/>
          <p:nvPr/>
        </p:nvSpPr>
        <p:spPr>
          <a:xfrm>
            <a:off x="7151174" y="1735612"/>
            <a:ext cx="4158511" cy="604012"/>
          </a:xfrm>
          <a:prstGeom prst="rect">
            <a:avLst/>
          </a:prstGeom>
        </p:spPr>
        <p:txBody>
          <a:bodyPr wrap="none">
            <a:spAutoFit/>
          </a:bodyPr>
          <a:lstStyle/>
          <a:p>
            <a:pPr>
              <a:lnSpc>
                <a:spcPct val="133000"/>
              </a:lnSpc>
            </a:pPr>
            <a:r>
              <a:rPr lang="zh-CN" altLang="en-US" sz="2500" b="1" dirty="0">
                <a:solidFill>
                  <a:srgbClr val="FF0000"/>
                </a:solidFill>
                <a:ea typeface="楷体_GB2312" pitchFamily="49" charset="-122"/>
              </a:rPr>
              <a:t>四氯合铂</a:t>
            </a:r>
            <a:r>
              <a:rPr lang="en-US" altLang="zh-CN" sz="2500" b="1" dirty="0">
                <a:solidFill>
                  <a:srgbClr val="FF0000"/>
                </a:solidFill>
                <a:ea typeface="楷体_GB2312" pitchFamily="49" charset="-122"/>
              </a:rPr>
              <a:t>(Ⅱ)</a:t>
            </a:r>
            <a:r>
              <a:rPr lang="zh-CN" altLang="en-US" sz="2500" b="1" dirty="0">
                <a:ea typeface="楷体_GB2312" pitchFamily="49" charset="-122"/>
              </a:rPr>
              <a:t>酸四氨合铜</a:t>
            </a:r>
            <a:r>
              <a:rPr lang="en-US" altLang="zh-CN" sz="2500" b="1" dirty="0">
                <a:ea typeface="楷体_GB2312" pitchFamily="49" charset="-122"/>
              </a:rPr>
              <a:t>(Ⅱ)</a:t>
            </a:r>
          </a:p>
        </p:txBody>
      </p:sp>
      <p:sp>
        <p:nvSpPr>
          <p:cNvPr id="6" name="矩形 5"/>
          <p:cNvSpPr/>
          <p:nvPr/>
        </p:nvSpPr>
        <p:spPr>
          <a:xfrm>
            <a:off x="7306589" y="5001152"/>
            <a:ext cx="3621504" cy="596382"/>
          </a:xfrm>
          <a:prstGeom prst="rect">
            <a:avLst/>
          </a:prstGeom>
        </p:spPr>
        <p:txBody>
          <a:bodyPr wrap="none">
            <a:spAutoFit/>
          </a:bodyPr>
          <a:lstStyle/>
          <a:p>
            <a:pPr>
              <a:lnSpc>
                <a:spcPct val="150000"/>
              </a:lnSpc>
            </a:pPr>
            <a:r>
              <a:rPr lang="zh-CN" altLang="en-US" sz="2500" b="1" dirty="0">
                <a:ea typeface="楷体_GB2312"/>
              </a:rPr>
              <a:t>六异硫氰根合铁</a:t>
            </a:r>
            <a:r>
              <a:rPr lang="en-US" altLang="zh-CN" sz="2500" b="1" dirty="0">
                <a:ea typeface="楷体_GB2312"/>
              </a:rPr>
              <a:t>(Ⅲ)</a:t>
            </a:r>
            <a:r>
              <a:rPr lang="zh-CN" altLang="en-US" sz="2500" b="1" dirty="0">
                <a:solidFill>
                  <a:srgbClr val="FF0000"/>
                </a:solidFill>
                <a:ea typeface="楷体_GB2312"/>
              </a:rPr>
              <a:t>酸</a:t>
            </a:r>
            <a:r>
              <a:rPr lang="zh-CN" altLang="en-US" sz="2500" b="1" dirty="0">
                <a:ea typeface="楷体_GB2312"/>
              </a:rPr>
              <a:t>钾</a:t>
            </a:r>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animEffect transition="in" filter="box(in)">
                                      <p:cBhvr>
                                        <p:cTn id="7" dur="500"/>
                                        <p:tgtEl>
                                          <p:spTgt spid="450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061">
                                            <p:txEl>
                                              <p:pRg st="1" end="1"/>
                                            </p:txEl>
                                          </p:spTgt>
                                        </p:tgtEl>
                                        <p:attrNameLst>
                                          <p:attrName>style.visibility</p:attrName>
                                        </p:attrNameLst>
                                      </p:cBhvr>
                                      <p:to>
                                        <p:strVal val="visible"/>
                                      </p:to>
                                    </p:set>
                                    <p:animEffect transition="in" filter="box(in)">
                                      <p:cBhvr>
                                        <p:cTn id="12" dur="500"/>
                                        <p:tgtEl>
                                          <p:spTgt spid="450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5061">
                                            <p:txEl>
                                              <p:pRg st="3" end="3"/>
                                            </p:txEl>
                                          </p:spTgt>
                                        </p:tgtEl>
                                        <p:attrNameLst>
                                          <p:attrName>style.visibility</p:attrName>
                                        </p:attrNameLst>
                                      </p:cBhvr>
                                      <p:to>
                                        <p:strVal val="visible"/>
                                      </p:to>
                                    </p:set>
                                    <p:animEffect transition="in" filter="box(in)">
                                      <p:cBhvr>
                                        <p:cTn id="17" dur="500"/>
                                        <p:tgtEl>
                                          <p:spTgt spid="4506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5061">
                                            <p:txEl>
                                              <p:pRg st="4" end="4"/>
                                            </p:txEl>
                                          </p:spTgt>
                                        </p:tgtEl>
                                        <p:attrNameLst>
                                          <p:attrName>style.visibility</p:attrName>
                                        </p:attrNameLst>
                                      </p:cBhvr>
                                      <p:to>
                                        <p:strVal val="visible"/>
                                      </p:to>
                                    </p:set>
                                    <p:animEffect transition="in" filter="box(in)">
                                      <p:cBhvr>
                                        <p:cTn id="22" dur="500"/>
                                        <p:tgtEl>
                                          <p:spTgt spid="4506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5061">
                                            <p:txEl>
                                              <p:pRg st="6" end="6"/>
                                            </p:txEl>
                                          </p:spTgt>
                                        </p:tgtEl>
                                        <p:attrNameLst>
                                          <p:attrName>style.visibility</p:attrName>
                                        </p:attrNameLst>
                                      </p:cBhvr>
                                      <p:to>
                                        <p:strVal val="visible"/>
                                      </p:to>
                                    </p:set>
                                    <p:animEffect transition="in" filter="box(in)">
                                      <p:cBhvr>
                                        <p:cTn id="27" dur="500"/>
                                        <p:tgtEl>
                                          <p:spTgt spid="45061">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5061">
                                            <p:txEl>
                                              <p:pRg st="7" end="7"/>
                                            </p:txEl>
                                          </p:spTgt>
                                        </p:tgtEl>
                                        <p:attrNameLst>
                                          <p:attrName>style.visibility</p:attrName>
                                        </p:attrNameLst>
                                      </p:cBhvr>
                                      <p:to>
                                        <p:strVal val="visible"/>
                                      </p:to>
                                    </p:set>
                                    <p:animEffect transition="in" filter="box(in)">
                                      <p:cBhvr>
                                        <p:cTn id="32" dur="500"/>
                                        <p:tgtEl>
                                          <p:spTgt spid="4506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uiExpand="1"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Text Box 4"/>
          <p:cNvSpPr txBox="1">
            <a:spLocks noChangeArrowheads="1"/>
          </p:cNvSpPr>
          <p:nvPr/>
        </p:nvSpPr>
        <p:spPr bwMode="auto">
          <a:xfrm>
            <a:off x="1041400" y="1460500"/>
            <a:ext cx="8104013" cy="2208297"/>
          </a:xfrm>
          <a:prstGeom prst="rect">
            <a:avLst/>
          </a:prstGeom>
          <a:noFill/>
          <a:ln w="12700" cap="sq">
            <a:noFill/>
            <a:miter lim="800000"/>
            <a:headEnd type="none" w="sm" len="sm"/>
            <a:tailEnd type="none" w="sm" len="sm"/>
          </a:ln>
        </p:spPr>
        <p:txBody>
          <a:bodyPr wrap="square">
            <a:spAutoFit/>
          </a:bodyPr>
          <a:lstStyle/>
          <a:p>
            <a:pPr>
              <a:lnSpc>
                <a:spcPct val="110000"/>
              </a:lnSpc>
            </a:pPr>
            <a:r>
              <a:rPr lang="en-US" altLang="zh-CN" sz="2500" b="1" dirty="0">
                <a:ea typeface="楷体_GB2312" pitchFamily="49" charset="-122"/>
              </a:rPr>
              <a:t>①</a:t>
            </a:r>
            <a:r>
              <a:rPr lang="zh-CN" altLang="en-US" sz="2500" b="1" dirty="0">
                <a:solidFill>
                  <a:schemeClr val="bg2"/>
                </a:solidFill>
                <a:ea typeface="楷体_GB2312" pitchFamily="49" charset="-122"/>
              </a:rPr>
              <a:t>配体名</a:t>
            </a:r>
            <a:r>
              <a:rPr lang="zh-CN" altLang="en-US" sz="2500" b="1" dirty="0">
                <a:ea typeface="楷体_GB2312" pitchFamily="49" charset="-122"/>
              </a:rPr>
              <a:t>列在中心离子</a:t>
            </a:r>
            <a:r>
              <a:rPr lang="en-US" altLang="zh-CN" sz="2500" b="1" dirty="0">
                <a:ea typeface="楷体_GB2312" pitchFamily="49" charset="-122"/>
              </a:rPr>
              <a:t>(</a:t>
            </a:r>
            <a:r>
              <a:rPr lang="zh-CN" altLang="en-US" sz="2500" b="1" dirty="0">
                <a:ea typeface="楷体_GB2312" pitchFamily="49" charset="-122"/>
              </a:rPr>
              <a:t>或原子</a:t>
            </a:r>
            <a:r>
              <a:rPr lang="en-US" altLang="zh-CN" sz="2500" b="1" dirty="0">
                <a:ea typeface="楷体_GB2312" pitchFamily="49" charset="-122"/>
              </a:rPr>
              <a:t>)</a:t>
            </a:r>
            <a:r>
              <a:rPr lang="zh-CN" altLang="en-US" sz="2500" b="1" dirty="0">
                <a:ea typeface="楷体_GB2312" pitchFamily="49" charset="-122"/>
              </a:rPr>
              <a:t>前</a:t>
            </a:r>
            <a:r>
              <a:rPr lang="en-US" altLang="zh-CN" sz="2500" b="1" dirty="0">
                <a:ea typeface="楷体_GB2312" pitchFamily="49" charset="-122"/>
              </a:rPr>
              <a:t>;</a:t>
            </a:r>
          </a:p>
          <a:p>
            <a:pPr>
              <a:lnSpc>
                <a:spcPct val="110000"/>
              </a:lnSpc>
            </a:pPr>
            <a:r>
              <a:rPr lang="en-US" altLang="zh-CN" sz="2500" b="1" dirty="0">
                <a:ea typeface="楷体_GB2312" pitchFamily="49" charset="-122"/>
              </a:rPr>
              <a:t>②</a:t>
            </a:r>
            <a:r>
              <a:rPr lang="zh-CN" altLang="en-US" sz="2500" b="1" dirty="0">
                <a:solidFill>
                  <a:schemeClr val="bg2"/>
                </a:solidFill>
                <a:ea typeface="楷体_GB2312" pitchFamily="49" charset="-122"/>
              </a:rPr>
              <a:t>配体数</a:t>
            </a:r>
            <a:r>
              <a:rPr lang="zh-CN" altLang="en-US" sz="2500" b="1" dirty="0">
                <a:ea typeface="楷体_GB2312" pitchFamily="49" charset="-122"/>
              </a:rPr>
              <a:t>用倍数词头二、三、四等表示</a:t>
            </a:r>
            <a:r>
              <a:rPr lang="en-US" altLang="zh-CN" sz="2500" b="1" dirty="0">
                <a:ea typeface="楷体_GB2312" pitchFamily="49" charset="-122"/>
              </a:rPr>
              <a:t>(</a:t>
            </a:r>
            <a:r>
              <a:rPr lang="zh-CN" altLang="en-US" sz="2500" b="1" dirty="0">
                <a:ea typeface="楷体_GB2312" pitchFamily="49" charset="-122"/>
              </a:rPr>
              <a:t>配体数为</a:t>
            </a:r>
            <a:r>
              <a:rPr lang="en-US" altLang="zh-CN" sz="2500" b="1" dirty="0">
                <a:ea typeface="楷体_GB2312" pitchFamily="49" charset="-122"/>
              </a:rPr>
              <a:t>1</a:t>
            </a:r>
            <a:r>
              <a:rPr lang="zh-CN" altLang="en-US" sz="2500" b="1" dirty="0">
                <a:ea typeface="楷体_GB2312" pitchFamily="49" charset="-122"/>
              </a:rPr>
              <a:t>省略</a:t>
            </a:r>
            <a:r>
              <a:rPr lang="en-US" altLang="zh-CN" sz="2500" b="1" dirty="0">
                <a:ea typeface="楷体_GB2312" pitchFamily="49" charset="-122"/>
              </a:rPr>
              <a:t>);</a:t>
            </a:r>
          </a:p>
          <a:p>
            <a:pPr>
              <a:lnSpc>
                <a:spcPct val="110000"/>
              </a:lnSpc>
            </a:pPr>
            <a:r>
              <a:rPr lang="en-US" altLang="zh-CN" sz="2500" b="1" dirty="0">
                <a:ea typeface="楷体_GB2312" pitchFamily="49" charset="-122"/>
              </a:rPr>
              <a:t>③</a:t>
            </a:r>
            <a:r>
              <a:rPr lang="zh-CN" altLang="en-US" sz="2500" b="1" dirty="0">
                <a:solidFill>
                  <a:schemeClr val="bg2"/>
                </a:solidFill>
                <a:ea typeface="楷体_GB2312" pitchFamily="49" charset="-122"/>
              </a:rPr>
              <a:t>不同配体</a:t>
            </a:r>
            <a:r>
              <a:rPr lang="zh-CN" altLang="en-US" sz="2500" b="1" dirty="0">
                <a:ea typeface="楷体_GB2312" pitchFamily="49" charset="-122"/>
              </a:rPr>
              <a:t>间以“</a:t>
            </a:r>
            <a:r>
              <a:rPr lang="en-US" altLang="zh-CN" sz="2500" b="1" dirty="0">
                <a:ea typeface="楷体_GB2312" pitchFamily="49" charset="-122"/>
              </a:rPr>
              <a:t>•”</a:t>
            </a:r>
            <a:r>
              <a:rPr lang="zh-CN" altLang="en-US" sz="2500" b="1" dirty="0">
                <a:ea typeface="楷体_GB2312" pitchFamily="49" charset="-122"/>
              </a:rPr>
              <a:t>分开</a:t>
            </a:r>
            <a:r>
              <a:rPr lang="en-US" altLang="zh-CN" sz="2500" b="1" dirty="0">
                <a:ea typeface="楷体_GB2312" pitchFamily="49" charset="-122"/>
              </a:rPr>
              <a:t>;</a:t>
            </a:r>
          </a:p>
          <a:p>
            <a:pPr>
              <a:lnSpc>
                <a:spcPct val="110000"/>
              </a:lnSpc>
            </a:pPr>
            <a:r>
              <a:rPr lang="en-US" altLang="zh-CN" sz="2500" b="1" dirty="0">
                <a:ea typeface="楷体_GB2312" pitchFamily="49" charset="-122"/>
              </a:rPr>
              <a:t>④</a:t>
            </a:r>
            <a:r>
              <a:rPr lang="zh-CN" altLang="en-US" sz="2500" b="1" dirty="0">
                <a:solidFill>
                  <a:schemeClr val="bg2"/>
                </a:solidFill>
                <a:ea typeface="楷体_GB2312" pitchFamily="49" charset="-122"/>
              </a:rPr>
              <a:t>最后一个配体名</a:t>
            </a:r>
            <a:r>
              <a:rPr lang="zh-CN" altLang="en-US" sz="2500" b="1" dirty="0">
                <a:ea typeface="楷体_GB2312" pitchFamily="49" charset="-122"/>
              </a:rPr>
              <a:t>后缀以“合”字</a:t>
            </a:r>
            <a:r>
              <a:rPr lang="en-US" altLang="zh-CN" sz="2500" b="1" dirty="0">
                <a:ea typeface="楷体_GB2312" pitchFamily="49" charset="-122"/>
              </a:rPr>
              <a:t>;</a:t>
            </a:r>
          </a:p>
          <a:p>
            <a:pPr>
              <a:lnSpc>
                <a:spcPct val="110000"/>
              </a:lnSpc>
            </a:pPr>
            <a:r>
              <a:rPr lang="en-US" altLang="zh-CN" sz="2500" b="1" dirty="0">
                <a:ea typeface="楷体_GB2312" pitchFamily="49" charset="-122"/>
              </a:rPr>
              <a:t>⑤</a:t>
            </a:r>
            <a:r>
              <a:rPr lang="zh-CN" altLang="en-US" sz="2500" b="1" dirty="0">
                <a:solidFill>
                  <a:schemeClr val="bg2"/>
                </a:solidFill>
                <a:ea typeface="楷体_GB2312" pitchFamily="49" charset="-122"/>
              </a:rPr>
              <a:t>形成体氧化值</a:t>
            </a:r>
            <a:r>
              <a:rPr lang="zh-CN" altLang="en-US" sz="2500" b="1" dirty="0">
                <a:ea typeface="楷体_GB2312" pitchFamily="49" charset="-122"/>
              </a:rPr>
              <a:t>用带括号罗马数字表示</a:t>
            </a:r>
            <a:r>
              <a:rPr lang="en-US" altLang="zh-CN" sz="2500" b="1" dirty="0">
                <a:ea typeface="楷体_GB2312" pitchFamily="49" charset="-122"/>
              </a:rPr>
              <a:t>(</a:t>
            </a:r>
            <a:r>
              <a:rPr lang="zh-CN" altLang="en-US" sz="2500" b="1" dirty="0">
                <a:ea typeface="楷体_GB2312" pitchFamily="49" charset="-122"/>
              </a:rPr>
              <a:t>氧化值为</a:t>
            </a:r>
            <a:r>
              <a:rPr lang="en-US" altLang="zh-CN" sz="2500" b="1" dirty="0">
                <a:ea typeface="楷体_GB2312" pitchFamily="49" charset="-122"/>
              </a:rPr>
              <a:t>0</a:t>
            </a:r>
            <a:r>
              <a:rPr lang="zh-CN" altLang="en-US" sz="2500" b="1" dirty="0">
                <a:ea typeface="楷体_GB2312" pitchFamily="49" charset="-122"/>
              </a:rPr>
              <a:t>省略</a:t>
            </a:r>
            <a:r>
              <a:rPr lang="en-US" altLang="zh-CN" sz="2500" b="1" dirty="0">
                <a:ea typeface="楷体_GB2312" pitchFamily="49" charset="-122"/>
              </a:rPr>
              <a:t>).</a:t>
            </a:r>
          </a:p>
        </p:txBody>
      </p:sp>
      <p:sp>
        <p:nvSpPr>
          <p:cNvPr id="46085" name="Rectangle 5"/>
          <p:cNvSpPr>
            <a:spLocks noChangeArrowheads="1"/>
          </p:cNvSpPr>
          <p:nvPr/>
        </p:nvSpPr>
        <p:spPr bwMode="auto">
          <a:xfrm>
            <a:off x="906463" y="1020361"/>
            <a:ext cx="936475" cy="477054"/>
          </a:xfrm>
          <a:prstGeom prst="rect">
            <a:avLst/>
          </a:prstGeom>
          <a:noFill/>
          <a:ln w="9525">
            <a:noFill/>
            <a:miter lim="800000"/>
            <a:headEnd/>
            <a:tailEnd/>
          </a:ln>
        </p:spPr>
        <p:txBody>
          <a:bodyPr wrap="none" anchor="ctr">
            <a:spAutoFit/>
          </a:bodyPr>
          <a:lstStyle/>
          <a:p>
            <a:r>
              <a:rPr lang="zh-CN" altLang="en-US" sz="2500" b="1" dirty="0">
                <a:solidFill>
                  <a:srgbClr val="FF3300"/>
                </a:solidFill>
                <a:ea typeface="楷体_GB2312" pitchFamily="49" charset="-122"/>
              </a:rPr>
              <a:t>配体</a:t>
            </a:r>
            <a:r>
              <a:rPr lang="en-US" altLang="zh-CN" sz="2500" b="1" dirty="0">
                <a:solidFill>
                  <a:srgbClr val="FF3300"/>
                </a:solidFill>
                <a:ea typeface="楷体_GB2312" pitchFamily="49" charset="-122"/>
              </a:rPr>
              <a:t>:</a:t>
            </a:r>
          </a:p>
        </p:txBody>
      </p:sp>
      <p:sp>
        <p:nvSpPr>
          <p:cNvPr id="46090" name="AutoShape 10"/>
          <p:cNvSpPr>
            <a:spLocks/>
          </p:cNvSpPr>
          <p:nvPr/>
        </p:nvSpPr>
        <p:spPr bwMode="auto">
          <a:xfrm>
            <a:off x="906463" y="1597025"/>
            <a:ext cx="211137" cy="1857375"/>
          </a:xfrm>
          <a:prstGeom prst="leftBrace">
            <a:avLst>
              <a:gd name="adj1" fmla="val 100147"/>
              <a:gd name="adj2" fmla="val 50000"/>
            </a:avLst>
          </a:prstGeom>
          <a:noFill/>
          <a:ln w="9525">
            <a:solidFill>
              <a:schemeClr val="tx1"/>
            </a:solidFill>
            <a:round/>
            <a:headEnd/>
            <a:tailEnd/>
          </a:ln>
        </p:spPr>
        <p:txBody>
          <a:bodyPr wrap="none" anchor="ctr"/>
          <a:lstStyle/>
          <a:p>
            <a:endParaRPr lang="zh-CN" altLang="en-US">
              <a:ea typeface="楷体_GB2312" pitchFamily="49" charset="-122"/>
            </a:endParaRPr>
          </a:p>
        </p:txBody>
      </p:sp>
      <p:sp>
        <p:nvSpPr>
          <p:cNvPr id="20485" name="Rectangle 14"/>
          <p:cNvSpPr>
            <a:spLocks noGrp="1" noChangeArrowheads="1"/>
          </p:cNvSpPr>
          <p:nvPr>
            <p:ph type="title"/>
          </p:nvPr>
        </p:nvSpPr>
        <p:spPr>
          <a:xfrm>
            <a:off x="576263" y="258763"/>
            <a:ext cx="10369550" cy="431800"/>
          </a:xfrm>
          <a:noFill/>
        </p:spPr>
        <p:txBody>
          <a:bodyPr/>
          <a:lstStyle/>
          <a:p>
            <a:r>
              <a:rPr lang="en-US" altLang="zh-CN">
                <a:ea typeface="黑体" pitchFamily="49" charset="-122"/>
              </a:rPr>
              <a:t>6.1.3</a:t>
            </a:r>
            <a:r>
              <a:rPr lang="zh-CN" altLang="en-US">
                <a:ea typeface="黑体" pitchFamily="49" charset="-122"/>
              </a:rPr>
              <a:t>配合物的命名</a:t>
            </a:r>
            <a:endParaRPr lang="zh-CN" altLang="en-US" sz="1200" b="0">
              <a:solidFill>
                <a:srgbClr val="0000FF"/>
              </a:solidFill>
              <a:ea typeface="黑体" pitchFamily="49" charset="-122"/>
            </a:endParaRPr>
          </a:p>
        </p:txBody>
      </p:sp>
      <p:sp>
        <p:nvSpPr>
          <p:cNvPr id="20486"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3"/>
            <a:srcRect/>
            <a:stretch>
              <a:fillRect/>
            </a:stretch>
          </a:blipFill>
          <a:ln w="9525">
            <a:solidFill>
              <a:srgbClr val="808080"/>
            </a:solidFill>
            <a:round/>
            <a:headEnd/>
            <a:tailEnd/>
          </a:ln>
        </p:spPr>
        <p:txBody>
          <a:bodyPr wrap="none" anchor="ctr"/>
          <a:lstStyle/>
          <a:p>
            <a:endParaRPr lang="zh-CN" altLang="en-US"/>
          </a:p>
        </p:txBody>
      </p:sp>
      <p:sp>
        <p:nvSpPr>
          <p:cNvPr id="20487"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2" name="矩形 1"/>
          <p:cNvSpPr/>
          <p:nvPr/>
        </p:nvSpPr>
        <p:spPr>
          <a:xfrm>
            <a:off x="1117600" y="3720943"/>
            <a:ext cx="2254143" cy="553998"/>
          </a:xfrm>
          <a:prstGeom prst="rect">
            <a:avLst/>
          </a:prstGeom>
        </p:spPr>
        <p:txBody>
          <a:bodyPr wrap="none">
            <a:spAutoFit/>
          </a:bodyPr>
          <a:lstStyle/>
          <a:p>
            <a:pPr>
              <a:lnSpc>
                <a:spcPct val="120000"/>
              </a:lnSpc>
              <a:defRPr/>
            </a:pPr>
            <a:r>
              <a:rPr lang="en-US" altLang="zh-CN" sz="2500" b="1" dirty="0">
                <a:ea typeface="楷体_GB2312" pitchFamily="49" charset="-122"/>
              </a:rPr>
              <a:t>[Cu(NH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4</a:t>
            </a:r>
            <a:r>
              <a:rPr lang="en-US" altLang="zh-CN" sz="2500" b="1" dirty="0">
                <a:ea typeface="楷体_GB2312" pitchFamily="49" charset="-122"/>
              </a:rPr>
              <a:t>]SO</a:t>
            </a:r>
            <a:r>
              <a:rPr lang="en-US" altLang="zh-CN" sz="2500" b="1" baseline="-25000" dirty="0">
                <a:ea typeface="楷体_GB2312" pitchFamily="49" charset="-122"/>
              </a:rPr>
              <a:t>4</a:t>
            </a:r>
          </a:p>
        </p:txBody>
      </p:sp>
      <p:sp>
        <p:nvSpPr>
          <p:cNvPr id="3" name="矩形 2"/>
          <p:cNvSpPr/>
          <p:nvPr/>
        </p:nvSpPr>
        <p:spPr>
          <a:xfrm>
            <a:off x="3371743" y="3635375"/>
            <a:ext cx="2654894" cy="596382"/>
          </a:xfrm>
          <a:prstGeom prst="rect">
            <a:avLst/>
          </a:prstGeom>
        </p:spPr>
        <p:txBody>
          <a:bodyPr wrap="none">
            <a:spAutoFit/>
          </a:bodyPr>
          <a:lstStyle/>
          <a:p>
            <a:pPr>
              <a:lnSpc>
                <a:spcPct val="150000"/>
              </a:lnSpc>
            </a:pPr>
            <a:r>
              <a:rPr lang="zh-CN" altLang="en-US" sz="2500" b="1" dirty="0">
                <a:ea typeface="楷体_GB2312" pitchFamily="49" charset="-122"/>
              </a:rPr>
              <a:t>硫酸四氨合铜</a:t>
            </a:r>
            <a:r>
              <a:rPr lang="en-US" altLang="zh-CN" sz="2500" b="1" dirty="0">
                <a:solidFill>
                  <a:srgbClr val="FF0000"/>
                </a:solidFill>
                <a:ea typeface="楷体_GB2312" pitchFamily="49" charset="-122"/>
              </a:rPr>
              <a:t>(Ⅱ)</a:t>
            </a:r>
          </a:p>
        </p:txBody>
      </p:sp>
      <p:sp>
        <p:nvSpPr>
          <p:cNvPr id="4" name="矩形 3"/>
          <p:cNvSpPr/>
          <p:nvPr/>
        </p:nvSpPr>
        <p:spPr>
          <a:xfrm>
            <a:off x="1194380" y="4231757"/>
            <a:ext cx="2056973" cy="600293"/>
          </a:xfrm>
          <a:prstGeom prst="rect">
            <a:avLst/>
          </a:prstGeom>
        </p:spPr>
        <p:txBody>
          <a:bodyPr wrap="none">
            <a:spAutoFit/>
          </a:bodyPr>
          <a:lstStyle/>
          <a:p>
            <a:pPr>
              <a:lnSpc>
                <a:spcPct val="150000"/>
              </a:lnSpc>
            </a:pPr>
            <a:r>
              <a:rPr lang="en-US" altLang="zh-CN" sz="2500" b="1" dirty="0">
                <a:ea typeface="楷体_GB2312" pitchFamily="49" charset="-122"/>
              </a:rPr>
              <a:t>K</a:t>
            </a:r>
            <a:r>
              <a:rPr lang="en-US" altLang="zh-CN" sz="2500" b="1" baseline="-25000" dirty="0">
                <a:ea typeface="楷体_GB2312" pitchFamily="49" charset="-122"/>
              </a:rPr>
              <a:t>3</a:t>
            </a:r>
            <a:r>
              <a:rPr lang="en-US" altLang="zh-CN" sz="2500" b="1" dirty="0">
                <a:ea typeface="楷体_GB2312" pitchFamily="49" charset="-122"/>
              </a:rPr>
              <a:t>[Fe(NCS)</a:t>
            </a:r>
            <a:r>
              <a:rPr lang="en-US" altLang="zh-CN" sz="2500" b="1" baseline="-25000" dirty="0">
                <a:ea typeface="楷体_GB2312" pitchFamily="49" charset="-122"/>
              </a:rPr>
              <a:t>6</a:t>
            </a:r>
            <a:r>
              <a:rPr lang="en-US" altLang="zh-CN" sz="2500" b="1" dirty="0">
                <a:ea typeface="楷体_GB2312" pitchFamily="49" charset="-122"/>
              </a:rPr>
              <a:t>]</a:t>
            </a:r>
          </a:p>
        </p:txBody>
      </p:sp>
      <p:sp>
        <p:nvSpPr>
          <p:cNvPr id="5" name="矩形 4"/>
          <p:cNvSpPr/>
          <p:nvPr/>
        </p:nvSpPr>
        <p:spPr>
          <a:xfrm>
            <a:off x="3261564" y="4317325"/>
            <a:ext cx="3483646" cy="646331"/>
          </a:xfrm>
          <a:prstGeom prst="rect">
            <a:avLst/>
          </a:prstGeom>
        </p:spPr>
        <p:txBody>
          <a:bodyPr wrap="none">
            <a:spAutoFit/>
          </a:bodyPr>
          <a:lstStyle/>
          <a:p>
            <a:pPr>
              <a:lnSpc>
                <a:spcPct val="150000"/>
              </a:lnSpc>
            </a:pPr>
            <a:r>
              <a:rPr lang="zh-CN" altLang="en-US" sz="2400" b="1" dirty="0">
                <a:ea typeface="楷体_GB2312"/>
              </a:rPr>
              <a:t>六异硫氰根合铁</a:t>
            </a:r>
            <a:r>
              <a:rPr lang="en-US" altLang="zh-CN" sz="2400" b="1" dirty="0">
                <a:solidFill>
                  <a:srgbClr val="FF0000"/>
                </a:solidFill>
                <a:ea typeface="楷体_GB2312"/>
              </a:rPr>
              <a:t>(Ⅲ)</a:t>
            </a:r>
            <a:r>
              <a:rPr lang="zh-CN" altLang="en-US" sz="2400" b="1" dirty="0">
                <a:ea typeface="楷体_GB2312"/>
              </a:rPr>
              <a:t>酸钾</a:t>
            </a:r>
          </a:p>
        </p:txBody>
      </p:sp>
      <p:sp>
        <p:nvSpPr>
          <p:cNvPr id="6" name="矩形 5"/>
          <p:cNvSpPr/>
          <p:nvPr/>
        </p:nvSpPr>
        <p:spPr>
          <a:xfrm>
            <a:off x="1194380" y="4876005"/>
            <a:ext cx="2183611" cy="600293"/>
          </a:xfrm>
          <a:prstGeom prst="rect">
            <a:avLst/>
          </a:prstGeom>
        </p:spPr>
        <p:txBody>
          <a:bodyPr wrap="none">
            <a:spAutoFit/>
          </a:bodyPr>
          <a:lstStyle/>
          <a:p>
            <a:pPr>
              <a:lnSpc>
                <a:spcPct val="150000"/>
              </a:lnSpc>
            </a:pPr>
            <a:r>
              <a:rPr lang="en-US" altLang="zh-CN" sz="2500" b="1" dirty="0">
                <a:ea typeface="楷体_GB2312" pitchFamily="49" charset="-122"/>
              </a:rPr>
              <a:t>K[PtCl</a:t>
            </a:r>
            <a:r>
              <a:rPr lang="en-US" altLang="zh-CN" sz="2500" b="1" baseline="-25000" dirty="0">
                <a:ea typeface="楷体_GB2312" pitchFamily="49" charset="-122"/>
              </a:rPr>
              <a:t>5</a:t>
            </a: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a:t>
            </a:r>
            <a:endParaRPr lang="en-US" altLang="zh-CN" sz="2500" b="1" baseline="-25000" dirty="0">
              <a:ea typeface="楷体_GB2312" pitchFamily="49" charset="-122"/>
            </a:endParaRPr>
          </a:p>
        </p:txBody>
      </p:sp>
      <p:sp>
        <p:nvSpPr>
          <p:cNvPr id="7" name="矩形 6"/>
          <p:cNvSpPr/>
          <p:nvPr/>
        </p:nvSpPr>
        <p:spPr>
          <a:xfrm>
            <a:off x="3349759" y="4946408"/>
            <a:ext cx="3089307" cy="477054"/>
          </a:xfrm>
          <a:prstGeom prst="rect">
            <a:avLst/>
          </a:prstGeom>
        </p:spPr>
        <p:txBody>
          <a:bodyPr wrap="none">
            <a:spAutoFit/>
          </a:bodyPr>
          <a:lstStyle/>
          <a:p>
            <a:pPr algn="ctr"/>
            <a:r>
              <a:rPr lang="zh-CN" altLang="en-US" sz="2500" b="1" dirty="0">
                <a:ea typeface="楷体_GB2312" pitchFamily="49" charset="-122"/>
              </a:rPr>
              <a:t>五氯</a:t>
            </a:r>
            <a:r>
              <a:rPr lang="en-US" altLang="zh-CN" sz="2500" b="1" dirty="0">
                <a:solidFill>
                  <a:srgbClr val="FF0000"/>
                </a:solidFill>
                <a:ea typeface="楷体_GB2312" pitchFamily="49" charset="-122"/>
              </a:rPr>
              <a:t>•</a:t>
            </a:r>
            <a:r>
              <a:rPr lang="zh-CN" altLang="en-US" sz="2500" b="1" dirty="0">
                <a:ea typeface="楷体_GB2312" pitchFamily="49" charset="-122"/>
              </a:rPr>
              <a:t>氨合铂</a:t>
            </a:r>
            <a:r>
              <a:rPr lang="en-US" altLang="zh-CN" sz="2500" b="1" dirty="0">
                <a:solidFill>
                  <a:srgbClr val="FF0000"/>
                </a:solidFill>
                <a:ea typeface="楷体_GB2312" pitchFamily="49" charset="-122"/>
              </a:rPr>
              <a:t>(Ⅳ)</a:t>
            </a:r>
            <a:r>
              <a:rPr lang="zh-CN" altLang="en-US" sz="2500" b="1" dirty="0">
                <a:ea typeface="楷体_GB2312" pitchFamily="49" charset="-122"/>
              </a:rPr>
              <a:t>酸钾</a:t>
            </a:r>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slide(fromTop)">
                                      <p:cBhvr>
                                        <p:cTn id="7" dur="500"/>
                                        <p:tgtEl>
                                          <p:spTgt spid="4608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6084">
                                            <p:txEl>
                                              <p:pRg st="0" end="0"/>
                                            </p:txEl>
                                          </p:spTgt>
                                        </p:tgtEl>
                                        <p:attrNameLst>
                                          <p:attrName>style.visibility</p:attrName>
                                        </p:attrNameLst>
                                      </p:cBhvr>
                                      <p:to>
                                        <p:strVal val="visible"/>
                                      </p:to>
                                    </p:set>
                                    <p:animEffect transition="in" filter="box(in)">
                                      <p:cBhvr>
                                        <p:cTn id="12" dur="500"/>
                                        <p:tgtEl>
                                          <p:spTgt spid="4608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6084">
                                            <p:txEl>
                                              <p:pRg st="1" end="1"/>
                                            </p:txEl>
                                          </p:spTgt>
                                        </p:tgtEl>
                                        <p:attrNameLst>
                                          <p:attrName>style.visibility</p:attrName>
                                        </p:attrNameLst>
                                      </p:cBhvr>
                                      <p:to>
                                        <p:strVal val="visible"/>
                                      </p:to>
                                    </p:set>
                                    <p:animEffect transition="in" filter="box(in)">
                                      <p:cBhvr>
                                        <p:cTn id="17" dur="500"/>
                                        <p:tgtEl>
                                          <p:spTgt spid="4608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6084">
                                            <p:txEl>
                                              <p:pRg st="2" end="2"/>
                                            </p:txEl>
                                          </p:spTgt>
                                        </p:tgtEl>
                                        <p:attrNameLst>
                                          <p:attrName>style.visibility</p:attrName>
                                        </p:attrNameLst>
                                      </p:cBhvr>
                                      <p:to>
                                        <p:strVal val="visible"/>
                                      </p:to>
                                    </p:set>
                                    <p:animEffect transition="in" filter="box(in)">
                                      <p:cBhvr>
                                        <p:cTn id="22" dur="500"/>
                                        <p:tgtEl>
                                          <p:spTgt spid="4608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6084">
                                            <p:txEl>
                                              <p:pRg st="3" end="3"/>
                                            </p:txEl>
                                          </p:spTgt>
                                        </p:tgtEl>
                                        <p:attrNameLst>
                                          <p:attrName>style.visibility</p:attrName>
                                        </p:attrNameLst>
                                      </p:cBhvr>
                                      <p:to>
                                        <p:strVal val="visible"/>
                                      </p:to>
                                    </p:set>
                                    <p:animEffect transition="in" filter="box(in)">
                                      <p:cBhvr>
                                        <p:cTn id="27" dur="500"/>
                                        <p:tgtEl>
                                          <p:spTgt spid="4608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6084">
                                            <p:txEl>
                                              <p:pRg st="4" end="4"/>
                                            </p:txEl>
                                          </p:spTgt>
                                        </p:tgtEl>
                                        <p:attrNameLst>
                                          <p:attrName>style.visibility</p:attrName>
                                        </p:attrNameLst>
                                      </p:cBhvr>
                                      <p:to>
                                        <p:strVal val="visible"/>
                                      </p:to>
                                    </p:set>
                                    <p:animEffect transition="in" filter="box(in)">
                                      <p:cBhvr>
                                        <p:cTn id="32" dur="500"/>
                                        <p:tgtEl>
                                          <p:spTgt spid="46084">
                                            <p:txEl>
                                              <p:pRg st="4" end="4"/>
                                            </p:txEl>
                                          </p:spTgt>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46090"/>
                                        </p:tgtEl>
                                        <p:attrNameLst>
                                          <p:attrName>style.visibility</p:attrName>
                                        </p:attrNameLst>
                                      </p:cBhvr>
                                      <p:to>
                                        <p:strVal val="visible"/>
                                      </p:to>
                                    </p:set>
                                  </p:childTnLst>
                                  <p:subTnLst>
                                    <p:audio>
                                      <p:cMediaNode>
                                        <p:cTn display="0" masterRel="sameClick">
                                          <p:stCondLst>
                                            <p:cond evt="begin" delay="0">
                                              <p:tn val="34"/>
                                            </p:cond>
                                          </p:stCondLst>
                                          <p:endCondLst>
                                            <p:cond evt="onStopAudio" delay="0">
                                              <p:tgtEl>
                                                <p:sldTgt/>
                                              </p:tgtEl>
                                            </p:cond>
                                          </p:endCondLst>
                                        </p:cTn>
                                        <p:tgtEl>
                                          <p:sndTgt r:embed="rId2" name="RECYC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build="p" autoUpdateAnimBg="0"/>
      <p:bldP spid="46085" grpId="0" autoUpdateAnimBg="0"/>
      <p:bldP spid="4609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Text Box 4"/>
          <p:cNvSpPr txBox="1">
            <a:spLocks noChangeArrowheads="1"/>
          </p:cNvSpPr>
          <p:nvPr/>
        </p:nvSpPr>
        <p:spPr bwMode="auto">
          <a:xfrm>
            <a:off x="906464" y="1020763"/>
            <a:ext cx="4926582" cy="476250"/>
          </a:xfrm>
          <a:prstGeom prst="rect">
            <a:avLst/>
          </a:prstGeom>
          <a:noFill/>
          <a:ln w="12700" cap="sq">
            <a:noFill/>
            <a:miter lim="800000"/>
            <a:headEnd type="none" w="sm" len="sm"/>
            <a:tailEnd type="none" w="sm" len="sm"/>
          </a:ln>
        </p:spPr>
        <p:txBody>
          <a:bodyPr wrap="square">
            <a:spAutoFit/>
          </a:bodyPr>
          <a:lstStyle/>
          <a:p>
            <a:pPr>
              <a:spcBef>
                <a:spcPct val="50000"/>
              </a:spcBef>
            </a:pPr>
            <a:r>
              <a:rPr lang="zh-CN" altLang="en-US" sz="2500" b="1" dirty="0">
                <a:ea typeface="楷体_GB2312" pitchFamily="49" charset="-122"/>
              </a:rPr>
              <a:t>多个配体的次序</a:t>
            </a:r>
            <a:r>
              <a:rPr lang="en-US" altLang="zh-CN" sz="2500" b="1" dirty="0">
                <a:solidFill>
                  <a:srgbClr val="FF0000"/>
                </a:solidFill>
                <a:ea typeface="楷体_GB2312" pitchFamily="49" charset="-122"/>
              </a:rPr>
              <a:t>(</a:t>
            </a:r>
            <a:r>
              <a:rPr lang="zh-CN" altLang="en-US" sz="2500" b="1" dirty="0">
                <a:solidFill>
                  <a:srgbClr val="FF0000"/>
                </a:solidFill>
                <a:ea typeface="楷体_GB2312" pitchFamily="49" charset="-122"/>
              </a:rPr>
              <a:t>正着写正着念</a:t>
            </a:r>
            <a:r>
              <a:rPr lang="en-US" altLang="zh-CN" sz="2500" b="1" dirty="0">
                <a:solidFill>
                  <a:srgbClr val="FF0000"/>
                </a:solidFill>
                <a:ea typeface="楷体_GB2312" pitchFamily="49" charset="-122"/>
              </a:rPr>
              <a:t>):</a:t>
            </a:r>
            <a:endParaRPr lang="en-US" altLang="zh-CN" sz="2500" dirty="0">
              <a:solidFill>
                <a:srgbClr val="FF0000"/>
              </a:solidFill>
              <a:ea typeface="楷体_GB2312" pitchFamily="49" charset="-122"/>
            </a:endParaRPr>
          </a:p>
        </p:txBody>
      </p:sp>
      <p:sp>
        <p:nvSpPr>
          <p:cNvPr id="47109" name="Text Box 5"/>
          <p:cNvSpPr txBox="1">
            <a:spLocks noChangeArrowheads="1"/>
          </p:cNvSpPr>
          <p:nvPr/>
        </p:nvSpPr>
        <p:spPr bwMode="auto">
          <a:xfrm>
            <a:off x="1041400" y="1460500"/>
            <a:ext cx="6447829" cy="2401888"/>
          </a:xfrm>
          <a:prstGeom prst="rect">
            <a:avLst/>
          </a:prstGeom>
          <a:noFill/>
          <a:ln w="12700" cap="sq">
            <a:noFill/>
            <a:miter lim="800000"/>
            <a:headEnd type="none" w="sm" len="sm"/>
            <a:tailEnd type="none" w="sm" len="sm"/>
          </a:ln>
          <a:effectLst/>
        </p:spPr>
        <p:txBody>
          <a:bodyPr wrap="square">
            <a:spAutoFit/>
          </a:bodyPr>
          <a:lstStyle/>
          <a:p>
            <a:pPr>
              <a:defRPr/>
            </a:pPr>
            <a:r>
              <a:rPr lang="en-US" altLang="zh-CN" sz="2500" b="1" dirty="0">
                <a:ea typeface="楷体_GB2312"/>
                <a:sym typeface="Monotype Sorts"/>
              </a:rPr>
              <a:t>①</a:t>
            </a:r>
            <a:r>
              <a:rPr lang="zh-CN" altLang="en-US" sz="2500" b="1" dirty="0">
                <a:ea typeface="楷体_GB2312"/>
              </a:rPr>
              <a:t>含</a:t>
            </a:r>
            <a:r>
              <a:rPr lang="zh-CN" altLang="en-US" sz="2500" b="1" dirty="0">
                <a:solidFill>
                  <a:srgbClr val="009900"/>
                </a:solidFill>
                <a:effectLst>
                  <a:outerShdw blurRad="38100" dist="38100" dir="2700000" algn="tl">
                    <a:srgbClr val="000000"/>
                  </a:outerShdw>
                </a:effectLst>
                <a:ea typeface="楷体_GB2312"/>
              </a:rPr>
              <a:t>多种配体</a:t>
            </a:r>
            <a:r>
              <a:rPr lang="en-US" altLang="zh-CN" sz="2500" b="1" dirty="0">
                <a:ea typeface="楷体_GB2312"/>
              </a:rPr>
              <a:t>:</a:t>
            </a:r>
          </a:p>
          <a:p>
            <a:pPr>
              <a:defRPr/>
            </a:pPr>
            <a:r>
              <a:rPr lang="en-US" altLang="zh-CN" sz="2500" b="1" dirty="0">
                <a:ea typeface="楷体_GB2312"/>
              </a:rPr>
              <a:t>        </a:t>
            </a:r>
            <a:r>
              <a:rPr lang="zh-CN" altLang="en-US" sz="2500" b="1" dirty="0">
                <a:ea typeface="楷体_GB2312"/>
              </a:rPr>
              <a:t>先</a:t>
            </a:r>
            <a:r>
              <a:rPr lang="zh-CN" altLang="en-US" sz="2500" b="1" u="sng" dirty="0">
                <a:ea typeface="楷体_GB2312"/>
              </a:rPr>
              <a:t>无机</a:t>
            </a:r>
            <a:r>
              <a:rPr lang="zh-CN" altLang="en-US" sz="2500" b="1" dirty="0">
                <a:ea typeface="楷体_GB2312"/>
              </a:rPr>
              <a:t>后</a:t>
            </a:r>
            <a:r>
              <a:rPr lang="zh-CN" altLang="en-US" sz="2500" b="1" u="sng" dirty="0">
                <a:ea typeface="楷体_GB2312"/>
              </a:rPr>
              <a:t>有机</a:t>
            </a:r>
            <a:r>
              <a:rPr lang="en-US" altLang="zh-CN" sz="2500" b="1" dirty="0">
                <a:ea typeface="楷体_GB2312"/>
              </a:rPr>
              <a:t>,</a:t>
            </a:r>
            <a:r>
              <a:rPr lang="zh-CN" altLang="en-US" sz="2500" b="1" dirty="0">
                <a:ea typeface="楷体_GB2312"/>
              </a:rPr>
              <a:t>先</a:t>
            </a:r>
            <a:r>
              <a:rPr lang="zh-CN" altLang="en-US" sz="2500" b="1" u="sng" dirty="0">
                <a:ea typeface="楷体_GB2312"/>
              </a:rPr>
              <a:t>简单</a:t>
            </a:r>
            <a:r>
              <a:rPr lang="zh-CN" altLang="en-US" sz="2500" b="1" dirty="0">
                <a:ea typeface="楷体_GB2312"/>
              </a:rPr>
              <a:t>后</a:t>
            </a:r>
            <a:r>
              <a:rPr lang="zh-CN" altLang="en-US" sz="2500" b="1" u="sng" dirty="0">
                <a:ea typeface="楷体_GB2312"/>
              </a:rPr>
              <a:t>复杂</a:t>
            </a:r>
            <a:r>
              <a:rPr lang="en-US" altLang="zh-CN" sz="2500" b="1" dirty="0">
                <a:ea typeface="楷体_GB2312"/>
              </a:rPr>
              <a:t>; </a:t>
            </a:r>
          </a:p>
          <a:p>
            <a:pPr>
              <a:defRPr/>
            </a:pPr>
            <a:r>
              <a:rPr lang="en-US" altLang="zh-CN" sz="2500" b="1" dirty="0">
                <a:ea typeface="楷体_GB2312"/>
                <a:sym typeface="Monotype Sorts"/>
              </a:rPr>
              <a:t>②</a:t>
            </a:r>
            <a:r>
              <a:rPr lang="zh-CN" altLang="en-US" sz="2500" b="1" dirty="0">
                <a:solidFill>
                  <a:srgbClr val="009900"/>
                </a:solidFill>
                <a:effectLst>
                  <a:outerShdw blurRad="38100" dist="38100" dir="2700000" algn="tl">
                    <a:srgbClr val="000000"/>
                  </a:outerShdw>
                </a:effectLst>
                <a:ea typeface="楷体_GB2312"/>
              </a:rPr>
              <a:t>多种无机配体</a:t>
            </a:r>
            <a:r>
              <a:rPr lang="en-US" altLang="zh-CN" sz="2500" b="1" dirty="0">
                <a:ea typeface="楷体_GB2312"/>
              </a:rPr>
              <a:t>:</a:t>
            </a:r>
          </a:p>
          <a:p>
            <a:pPr>
              <a:defRPr/>
            </a:pPr>
            <a:r>
              <a:rPr lang="en-US" altLang="zh-CN" sz="2500" b="1" dirty="0">
                <a:ea typeface="楷体_GB2312"/>
              </a:rPr>
              <a:t>        </a:t>
            </a:r>
            <a:r>
              <a:rPr lang="zh-CN" altLang="en-US" sz="2500" b="1" dirty="0">
                <a:ea typeface="楷体_GB2312"/>
              </a:rPr>
              <a:t>先</a:t>
            </a:r>
            <a:r>
              <a:rPr lang="zh-CN" altLang="en-US" sz="2500" b="1" u="sng" dirty="0">
                <a:ea typeface="楷体_GB2312"/>
              </a:rPr>
              <a:t>阴离子</a:t>
            </a:r>
            <a:r>
              <a:rPr lang="zh-CN" altLang="en-US" sz="2500" b="1" dirty="0">
                <a:ea typeface="楷体_GB2312"/>
              </a:rPr>
              <a:t>后</a:t>
            </a:r>
            <a:r>
              <a:rPr lang="zh-CN" altLang="en-US" sz="2500" b="1" u="sng" dirty="0">
                <a:ea typeface="楷体_GB2312"/>
              </a:rPr>
              <a:t>中性分子</a:t>
            </a:r>
            <a:r>
              <a:rPr lang="en-US" altLang="zh-CN" sz="2500" b="1" dirty="0">
                <a:ea typeface="楷体_GB2312"/>
              </a:rPr>
              <a:t>;</a:t>
            </a:r>
          </a:p>
          <a:p>
            <a:pPr>
              <a:defRPr/>
            </a:pPr>
            <a:r>
              <a:rPr lang="en-US" altLang="zh-CN" sz="2500" b="1" dirty="0">
                <a:ea typeface="楷体_GB2312"/>
                <a:sym typeface="Monotype Sorts"/>
              </a:rPr>
              <a:t>③</a:t>
            </a:r>
            <a:r>
              <a:rPr lang="zh-CN" altLang="en-US" sz="2500" b="1" dirty="0">
                <a:solidFill>
                  <a:srgbClr val="009900"/>
                </a:solidFill>
                <a:effectLst>
                  <a:outerShdw blurRad="38100" dist="38100" dir="2700000" algn="tl">
                    <a:srgbClr val="000000"/>
                  </a:outerShdw>
                </a:effectLst>
                <a:ea typeface="楷体_GB2312"/>
              </a:rPr>
              <a:t>同类配体</a:t>
            </a:r>
            <a:r>
              <a:rPr lang="en-US" altLang="zh-CN" sz="2500" b="1" dirty="0">
                <a:ea typeface="楷体_GB2312"/>
              </a:rPr>
              <a:t>:</a:t>
            </a:r>
          </a:p>
          <a:p>
            <a:pPr>
              <a:defRPr/>
            </a:pPr>
            <a:r>
              <a:rPr lang="en-US" altLang="zh-CN" sz="2500" b="1" dirty="0">
                <a:ea typeface="楷体_GB2312"/>
              </a:rPr>
              <a:t>        </a:t>
            </a:r>
            <a:r>
              <a:rPr lang="zh-CN" altLang="en-US" sz="2500" b="1" dirty="0">
                <a:ea typeface="楷体_GB2312"/>
              </a:rPr>
              <a:t>按配位原子元素符号的英文</a:t>
            </a:r>
            <a:r>
              <a:rPr lang="zh-CN" altLang="en-US" sz="2500" b="1" u="sng" dirty="0">
                <a:solidFill>
                  <a:srgbClr val="FF0000"/>
                </a:solidFill>
                <a:ea typeface="楷体_GB2312"/>
              </a:rPr>
              <a:t>字母顺序</a:t>
            </a:r>
            <a:r>
              <a:rPr lang="en-US" altLang="zh-CN" sz="2500" b="1" dirty="0">
                <a:ea typeface="楷体_GB2312"/>
              </a:rPr>
              <a:t>.</a:t>
            </a:r>
          </a:p>
        </p:txBody>
      </p:sp>
      <p:sp>
        <p:nvSpPr>
          <p:cNvPr id="47114" name="AutoShape 10"/>
          <p:cNvSpPr>
            <a:spLocks/>
          </p:cNvSpPr>
          <p:nvPr/>
        </p:nvSpPr>
        <p:spPr bwMode="auto">
          <a:xfrm>
            <a:off x="906463" y="1530350"/>
            <a:ext cx="285750" cy="2016125"/>
          </a:xfrm>
          <a:prstGeom prst="leftBrace">
            <a:avLst>
              <a:gd name="adj1" fmla="val 78395"/>
              <a:gd name="adj2" fmla="val 50000"/>
            </a:avLst>
          </a:prstGeom>
          <a:noFill/>
          <a:ln w="9525">
            <a:solidFill>
              <a:schemeClr val="tx1"/>
            </a:solidFill>
            <a:round/>
            <a:headEnd/>
            <a:tailEnd/>
          </a:ln>
        </p:spPr>
        <p:txBody>
          <a:bodyPr wrap="none" anchor="ctr"/>
          <a:lstStyle/>
          <a:p>
            <a:endParaRPr lang="zh-CN" altLang="en-US" sz="2500">
              <a:ea typeface="楷体_GB2312" pitchFamily="49" charset="-122"/>
            </a:endParaRPr>
          </a:p>
        </p:txBody>
      </p:sp>
      <p:sp>
        <p:nvSpPr>
          <p:cNvPr id="47117" name="Rectangle 13"/>
          <p:cNvSpPr>
            <a:spLocks noChangeArrowheads="1"/>
          </p:cNvSpPr>
          <p:nvPr/>
        </p:nvSpPr>
        <p:spPr bwMode="auto">
          <a:xfrm>
            <a:off x="1041400" y="3910013"/>
            <a:ext cx="10136188" cy="477837"/>
          </a:xfrm>
          <a:prstGeom prst="rect">
            <a:avLst/>
          </a:prstGeom>
          <a:noFill/>
          <a:ln w="9525">
            <a:noFill/>
            <a:miter lim="800000"/>
            <a:headEnd/>
            <a:tailEnd/>
          </a:ln>
        </p:spPr>
        <p:txBody>
          <a:bodyPr anchor="ctr">
            <a:spAutoFit/>
          </a:bodyPr>
          <a:lstStyle/>
          <a:p>
            <a:r>
              <a:rPr lang="en-US" altLang="zh-CN" sz="2500" b="1" dirty="0">
                <a:ea typeface="楷体_GB2312" pitchFamily="49" charset="-122"/>
              </a:rPr>
              <a:t>        </a:t>
            </a:r>
            <a:r>
              <a:rPr lang="zh-CN" altLang="en-US" sz="2500" b="1" dirty="0">
                <a:ea typeface="楷体_GB2312" pitchFamily="49" charset="-122"/>
              </a:rPr>
              <a:t>如含两个中性分子配体</a:t>
            </a:r>
            <a:r>
              <a:rPr lang="en-US" altLang="zh-CN" sz="2500" b="1" dirty="0">
                <a:solidFill>
                  <a:srgbClr val="FF0000"/>
                </a:solidFill>
                <a:ea typeface="楷体_GB2312" pitchFamily="49" charset="-122"/>
              </a:rPr>
              <a:t>N</a:t>
            </a:r>
            <a:r>
              <a:rPr lang="en-US" altLang="zh-CN" sz="2500" b="1" dirty="0">
                <a:ea typeface="楷体_GB2312" pitchFamily="49" charset="-122"/>
              </a:rPr>
              <a:t>H</a:t>
            </a:r>
            <a:r>
              <a:rPr lang="en-US" altLang="zh-CN" sz="2500" b="1" baseline="-25000" dirty="0">
                <a:ea typeface="楷体_GB2312" pitchFamily="49" charset="-122"/>
              </a:rPr>
              <a:t>3</a:t>
            </a:r>
            <a:r>
              <a:rPr lang="zh-CN" altLang="en-US" sz="2500" b="1" dirty="0">
                <a:ea typeface="楷体_GB2312" pitchFamily="49" charset="-122"/>
              </a:rPr>
              <a:t>和</a:t>
            </a:r>
            <a:r>
              <a:rPr lang="en-US" altLang="zh-CN" sz="2500" b="1" dirty="0">
                <a:ea typeface="楷体_GB2312" pitchFamily="49" charset="-122"/>
              </a:rPr>
              <a:t>H</a:t>
            </a:r>
            <a:r>
              <a:rPr lang="en-US" altLang="zh-CN" sz="2500" b="1" baseline="-25000" dirty="0">
                <a:ea typeface="楷体_GB2312" pitchFamily="49" charset="-122"/>
              </a:rPr>
              <a:t>2</a:t>
            </a:r>
            <a:r>
              <a:rPr lang="en-US" altLang="zh-CN" sz="2500" b="1" dirty="0">
                <a:solidFill>
                  <a:srgbClr val="FF0000"/>
                </a:solidFill>
                <a:ea typeface="楷体_GB2312" pitchFamily="49" charset="-122"/>
              </a:rPr>
              <a:t>O</a:t>
            </a:r>
            <a:r>
              <a:rPr lang="en-US" altLang="zh-CN" sz="2500" b="1" dirty="0">
                <a:ea typeface="楷体_GB2312" pitchFamily="49" charset="-122"/>
              </a:rPr>
              <a:t>,</a:t>
            </a:r>
            <a:r>
              <a:rPr lang="zh-CN" altLang="en-US" sz="2500" b="1" dirty="0">
                <a:ea typeface="楷体_GB2312" pitchFamily="49" charset="-122"/>
              </a:rPr>
              <a:t>命名时先</a:t>
            </a:r>
            <a:r>
              <a:rPr lang="en-US" altLang="zh-CN" sz="2500" b="1" dirty="0">
                <a:ea typeface="楷体_GB2312" pitchFamily="49" charset="-122"/>
              </a:rPr>
              <a:t>NH</a:t>
            </a:r>
            <a:r>
              <a:rPr lang="en-US" altLang="zh-CN" sz="2500" b="1" baseline="-25000" dirty="0">
                <a:ea typeface="楷体_GB2312" pitchFamily="49" charset="-122"/>
              </a:rPr>
              <a:t>3 </a:t>
            </a:r>
            <a:r>
              <a:rPr lang="en-US" altLang="zh-CN" sz="2500" b="1" dirty="0">
                <a:ea typeface="楷体_GB2312" pitchFamily="49" charset="-122"/>
              </a:rPr>
              <a:t>,</a:t>
            </a:r>
            <a:r>
              <a:rPr lang="zh-CN" altLang="en-US" sz="2500" b="1" dirty="0">
                <a:ea typeface="楷体_GB2312" pitchFamily="49" charset="-122"/>
              </a:rPr>
              <a:t>后</a:t>
            </a:r>
            <a:r>
              <a:rPr lang="en-US" altLang="zh-CN" sz="2500" b="1" dirty="0">
                <a:ea typeface="楷体_GB2312" pitchFamily="49" charset="-122"/>
              </a:rPr>
              <a:t>H</a:t>
            </a:r>
            <a:r>
              <a:rPr lang="en-US" altLang="zh-CN" sz="2500" b="1" baseline="-25000" dirty="0">
                <a:ea typeface="楷体_GB2312" pitchFamily="49" charset="-122"/>
              </a:rPr>
              <a:t>2</a:t>
            </a:r>
            <a:r>
              <a:rPr lang="en-US" altLang="zh-CN" sz="2500" b="1" dirty="0">
                <a:ea typeface="楷体_GB2312" pitchFamily="49" charset="-122"/>
              </a:rPr>
              <a:t>O.</a:t>
            </a:r>
          </a:p>
        </p:txBody>
      </p:sp>
      <p:sp>
        <p:nvSpPr>
          <p:cNvPr id="21510" name="Rectangle 15"/>
          <p:cNvSpPr>
            <a:spLocks noGrp="1" noChangeArrowheads="1"/>
          </p:cNvSpPr>
          <p:nvPr>
            <p:ph type="title"/>
          </p:nvPr>
        </p:nvSpPr>
        <p:spPr>
          <a:xfrm>
            <a:off x="576263" y="258763"/>
            <a:ext cx="10369550" cy="431800"/>
          </a:xfrm>
          <a:noFill/>
        </p:spPr>
        <p:txBody>
          <a:bodyPr/>
          <a:lstStyle/>
          <a:p>
            <a:r>
              <a:rPr lang="en-US" altLang="zh-CN">
                <a:ea typeface="黑体" pitchFamily="49" charset="-122"/>
              </a:rPr>
              <a:t>6.1.3</a:t>
            </a:r>
            <a:r>
              <a:rPr lang="zh-CN" altLang="en-US">
                <a:ea typeface="黑体" pitchFamily="49" charset="-122"/>
              </a:rPr>
              <a:t>配合物的命名</a:t>
            </a:r>
            <a:endParaRPr lang="zh-CN" altLang="en-US" sz="1200" b="0">
              <a:solidFill>
                <a:srgbClr val="0000FF"/>
              </a:solidFill>
              <a:ea typeface="黑体" pitchFamily="49" charset="-122"/>
            </a:endParaRPr>
          </a:p>
        </p:txBody>
      </p:sp>
      <p:sp>
        <p:nvSpPr>
          <p:cNvPr id="21511"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21512"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a:p>
        </p:txBody>
      </p:sp>
      <p:sp>
        <p:nvSpPr>
          <p:cNvPr id="3" name="矩形 2"/>
          <p:cNvSpPr/>
          <p:nvPr/>
        </p:nvSpPr>
        <p:spPr>
          <a:xfrm>
            <a:off x="1793421" y="4515633"/>
            <a:ext cx="3062057" cy="477054"/>
          </a:xfrm>
          <a:prstGeom prst="rect">
            <a:avLst/>
          </a:prstGeom>
        </p:spPr>
        <p:txBody>
          <a:bodyPr wrap="none">
            <a:spAutoFit/>
          </a:bodyPr>
          <a:lstStyle/>
          <a:p>
            <a:r>
              <a:rPr lang="en-US" altLang="zh-CN" b="1" dirty="0">
                <a:ea typeface="楷体_GB2312" pitchFamily="49" charset="-122"/>
              </a:rPr>
              <a:t>[</a:t>
            </a:r>
            <a:r>
              <a:rPr lang="en-US" altLang="zh-CN" sz="2500" b="1" dirty="0" err="1">
                <a:ea typeface="楷体_GB2312" pitchFamily="49" charset="-122"/>
              </a:rPr>
              <a:t>CoCl</a:t>
            </a: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dirty="0" err="1">
                <a:ea typeface="楷体_GB2312" pitchFamily="49" charset="-122"/>
              </a:rPr>
              <a:t>en</a:t>
            </a:r>
            <a:r>
              <a:rPr lang="en-US" altLang="zh-CN" sz="2500" b="1" dirty="0">
                <a:ea typeface="楷体_GB2312" pitchFamily="49" charset="-122"/>
              </a:rPr>
              <a:t>)</a:t>
            </a:r>
            <a:r>
              <a:rPr lang="en-US" altLang="zh-CN" sz="2500" b="1" baseline="-25000" dirty="0">
                <a:ea typeface="楷体_GB2312" pitchFamily="49" charset="-122"/>
              </a:rPr>
              <a:t>2</a:t>
            </a:r>
            <a:r>
              <a:rPr lang="en-US" altLang="zh-CN" sz="2500" b="1" dirty="0">
                <a:ea typeface="楷体_GB2312" pitchFamily="49" charset="-122"/>
              </a:rPr>
              <a:t>]SO</a:t>
            </a:r>
            <a:r>
              <a:rPr lang="en-US" altLang="zh-CN" sz="2500" b="1" baseline="-25000" dirty="0">
                <a:ea typeface="楷体_GB2312" pitchFamily="49" charset="-122"/>
              </a:rPr>
              <a:t>4</a:t>
            </a:r>
            <a:endParaRPr lang="zh-CN" altLang="en-US" sz="2500" dirty="0"/>
          </a:p>
        </p:txBody>
      </p:sp>
      <p:sp>
        <p:nvSpPr>
          <p:cNvPr id="4" name="矩形 3"/>
          <p:cNvSpPr/>
          <p:nvPr/>
        </p:nvSpPr>
        <p:spPr>
          <a:xfrm>
            <a:off x="5040957" y="4399606"/>
            <a:ext cx="4360489" cy="669414"/>
          </a:xfrm>
          <a:prstGeom prst="rect">
            <a:avLst/>
          </a:prstGeom>
        </p:spPr>
        <p:txBody>
          <a:bodyPr wrap="none">
            <a:spAutoFit/>
          </a:bodyPr>
          <a:lstStyle/>
          <a:p>
            <a:pPr>
              <a:lnSpc>
                <a:spcPct val="150000"/>
              </a:lnSpc>
            </a:pPr>
            <a:r>
              <a:rPr lang="zh-CN" altLang="en-US" sz="2500" b="1" dirty="0">
                <a:ea typeface="楷体_GB2312" pitchFamily="49" charset="-122"/>
              </a:rPr>
              <a:t>硫酸氯</a:t>
            </a:r>
            <a:r>
              <a:rPr lang="en-US" altLang="zh-CN" sz="2500" b="1" dirty="0">
                <a:ea typeface="楷体_GB2312" pitchFamily="49" charset="-122"/>
              </a:rPr>
              <a:t> •</a:t>
            </a:r>
            <a:r>
              <a:rPr lang="zh-CN" altLang="en-US" sz="2500" b="1" dirty="0">
                <a:ea typeface="楷体_GB2312" pitchFamily="49" charset="-122"/>
              </a:rPr>
              <a:t>氨</a:t>
            </a:r>
            <a:r>
              <a:rPr lang="en-US" altLang="zh-CN" sz="2500" b="1" dirty="0">
                <a:ea typeface="楷体_GB2312" pitchFamily="49" charset="-122"/>
              </a:rPr>
              <a:t>•</a:t>
            </a:r>
            <a:r>
              <a:rPr lang="zh-CN" altLang="en-US" sz="2500" b="1" dirty="0">
                <a:ea typeface="楷体_GB2312" pitchFamily="49" charset="-122"/>
              </a:rPr>
              <a:t>二乙二胺合钴</a:t>
            </a:r>
            <a:r>
              <a:rPr lang="en-US" altLang="zh-CN" sz="2500" b="1" dirty="0">
                <a:ea typeface="楷体_GB2312" pitchFamily="49" charset="-122"/>
              </a:rPr>
              <a:t>(Ⅲ)</a:t>
            </a:r>
          </a:p>
        </p:txBody>
      </p:sp>
      <p:sp>
        <p:nvSpPr>
          <p:cNvPr id="5" name="矩形 4"/>
          <p:cNvSpPr/>
          <p:nvPr/>
        </p:nvSpPr>
        <p:spPr>
          <a:xfrm>
            <a:off x="2232643" y="4920132"/>
            <a:ext cx="2183611" cy="600293"/>
          </a:xfrm>
          <a:prstGeom prst="rect">
            <a:avLst/>
          </a:prstGeom>
        </p:spPr>
        <p:txBody>
          <a:bodyPr wrap="none">
            <a:spAutoFit/>
          </a:bodyPr>
          <a:lstStyle/>
          <a:p>
            <a:pPr>
              <a:lnSpc>
                <a:spcPct val="150000"/>
              </a:lnSpc>
            </a:pPr>
            <a:r>
              <a:rPr lang="en-US" altLang="zh-CN" sz="2500" b="1" dirty="0">
                <a:ea typeface="楷体_GB2312" pitchFamily="49" charset="-122"/>
              </a:rPr>
              <a:t>K[PtCl</a:t>
            </a:r>
            <a:r>
              <a:rPr lang="en-US" altLang="zh-CN" sz="2500" b="1" baseline="-25000" dirty="0">
                <a:ea typeface="楷体_GB2312" pitchFamily="49" charset="-122"/>
              </a:rPr>
              <a:t>5</a:t>
            </a: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a:t>
            </a:r>
            <a:endParaRPr lang="en-US" altLang="zh-CN" sz="2500" b="1" baseline="-25000" dirty="0">
              <a:ea typeface="楷体_GB2312" pitchFamily="49" charset="-122"/>
            </a:endParaRPr>
          </a:p>
        </p:txBody>
      </p:sp>
      <p:sp>
        <p:nvSpPr>
          <p:cNvPr id="13" name="Rectangle 14"/>
          <p:cNvSpPr>
            <a:spLocks noChangeArrowheads="1"/>
          </p:cNvSpPr>
          <p:nvPr/>
        </p:nvSpPr>
        <p:spPr bwMode="auto">
          <a:xfrm>
            <a:off x="5112965" y="5048251"/>
            <a:ext cx="3122612" cy="477837"/>
          </a:xfrm>
          <a:prstGeom prst="rect">
            <a:avLst/>
          </a:prstGeom>
          <a:noFill/>
          <a:ln w="9525">
            <a:noFill/>
            <a:miter lim="800000"/>
            <a:headEnd/>
            <a:tailEnd/>
          </a:ln>
        </p:spPr>
        <p:txBody>
          <a:bodyPr wrap="none" anchor="ctr">
            <a:spAutoFit/>
          </a:bodyPr>
          <a:lstStyle/>
          <a:p>
            <a:pPr algn="ctr"/>
            <a:r>
              <a:rPr lang="zh-CN" altLang="en-US" sz="2500" b="1" dirty="0">
                <a:ea typeface="楷体_GB2312" pitchFamily="49" charset="-122"/>
              </a:rPr>
              <a:t>五氯</a:t>
            </a:r>
            <a:r>
              <a:rPr lang="en-US" altLang="zh-CN" sz="2500" b="1" dirty="0">
                <a:ea typeface="楷体_GB2312" pitchFamily="49" charset="-122"/>
              </a:rPr>
              <a:t>•</a:t>
            </a:r>
            <a:r>
              <a:rPr lang="zh-CN" altLang="en-US" sz="2500" b="1" dirty="0">
                <a:ea typeface="楷体_GB2312" pitchFamily="49" charset="-122"/>
              </a:rPr>
              <a:t>氨合铂</a:t>
            </a:r>
            <a:r>
              <a:rPr lang="en-US" altLang="zh-CN" sz="2500" b="1" dirty="0">
                <a:ea typeface="楷体_GB2312" pitchFamily="49" charset="-122"/>
              </a:rPr>
              <a:t>(Ⅳ)</a:t>
            </a:r>
            <a:r>
              <a:rPr lang="zh-CN" altLang="en-US" sz="2500" b="1" dirty="0">
                <a:ea typeface="楷体_GB2312" pitchFamily="49" charset="-122"/>
              </a:rPr>
              <a:t>酸钾</a:t>
            </a:r>
          </a:p>
        </p:txBody>
      </p:sp>
      <p:sp>
        <p:nvSpPr>
          <p:cNvPr id="6" name="矩形 5"/>
          <p:cNvSpPr/>
          <p:nvPr/>
        </p:nvSpPr>
        <p:spPr>
          <a:xfrm>
            <a:off x="1797146" y="5647923"/>
            <a:ext cx="3004349" cy="477054"/>
          </a:xfrm>
          <a:prstGeom prst="rect">
            <a:avLst/>
          </a:prstGeom>
        </p:spPr>
        <p:txBody>
          <a:bodyPr wrap="none">
            <a:spAutoFit/>
          </a:bodyPr>
          <a:lstStyle/>
          <a:p>
            <a:r>
              <a:rPr lang="en-US" altLang="zh-CN" sz="2500" b="1" dirty="0">
                <a:ea typeface="楷体_GB2312" pitchFamily="49" charset="-122"/>
              </a:rPr>
              <a:t>[Co(NH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5 </a:t>
            </a:r>
            <a:r>
              <a:rPr lang="en-US" altLang="zh-CN" sz="2500" b="1" dirty="0">
                <a:ea typeface="楷体_GB2312" pitchFamily="49" charset="-122"/>
              </a:rPr>
              <a:t>(H</a:t>
            </a:r>
            <a:r>
              <a:rPr lang="en-US" altLang="zh-CN" sz="2500" b="1" baseline="-25000" dirty="0">
                <a:ea typeface="楷体_GB2312" pitchFamily="49" charset="-122"/>
              </a:rPr>
              <a:t>2</a:t>
            </a:r>
            <a:r>
              <a:rPr lang="en-US" altLang="zh-CN" sz="2500" b="1" dirty="0">
                <a:ea typeface="楷体_GB2312" pitchFamily="49" charset="-122"/>
              </a:rPr>
              <a:t>O)]Cl</a:t>
            </a:r>
            <a:r>
              <a:rPr lang="en-US" altLang="zh-CN" sz="2500" b="1" baseline="-25000" dirty="0">
                <a:ea typeface="楷体_GB2312" pitchFamily="49" charset="-122"/>
              </a:rPr>
              <a:t>3</a:t>
            </a:r>
            <a:endParaRPr lang="zh-CN" altLang="en-US" sz="2500" dirty="0"/>
          </a:p>
        </p:txBody>
      </p:sp>
      <p:sp>
        <p:nvSpPr>
          <p:cNvPr id="7" name="矩形 6"/>
          <p:cNvSpPr/>
          <p:nvPr/>
        </p:nvSpPr>
        <p:spPr>
          <a:xfrm>
            <a:off x="5112965" y="5586053"/>
            <a:ext cx="3626314" cy="596382"/>
          </a:xfrm>
          <a:prstGeom prst="rect">
            <a:avLst/>
          </a:prstGeom>
        </p:spPr>
        <p:txBody>
          <a:bodyPr wrap="none">
            <a:spAutoFit/>
          </a:bodyPr>
          <a:lstStyle/>
          <a:p>
            <a:pPr>
              <a:lnSpc>
                <a:spcPct val="150000"/>
              </a:lnSpc>
            </a:pPr>
            <a:r>
              <a:rPr lang="en-US" altLang="zh-CN" sz="2500" b="1" dirty="0">
                <a:ea typeface="楷体_GB2312" pitchFamily="49" charset="-122"/>
              </a:rPr>
              <a:t>(</a:t>
            </a:r>
            <a:r>
              <a:rPr lang="zh-CN" altLang="en-US" sz="2500" b="1" dirty="0">
                <a:ea typeface="楷体_GB2312" pitchFamily="49" charset="-122"/>
              </a:rPr>
              <a:t>三</a:t>
            </a:r>
            <a:r>
              <a:rPr lang="en-US" altLang="zh-CN" sz="2500" b="1" dirty="0">
                <a:ea typeface="楷体_GB2312" pitchFamily="49" charset="-122"/>
              </a:rPr>
              <a:t>)</a:t>
            </a:r>
            <a:r>
              <a:rPr lang="zh-CN" altLang="en-US" sz="2500" b="1" dirty="0">
                <a:ea typeface="楷体_GB2312" pitchFamily="49" charset="-122"/>
              </a:rPr>
              <a:t>氯化五氨</a:t>
            </a:r>
            <a:r>
              <a:rPr lang="en-US" altLang="zh-CN" sz="2500" b="1" dirty="0">
                <a:ea typeface="楷体_GB2312" pitchFamily="49" charset="-122"/>
              </a:rPr>
              <a:t>•</a:t>
            </a:r>
            <a:r>
              <a:rPr lang="zh-CN" altLang="en-US" sz="2500" b="1" dirty="0">
                <a:ea typeface="楷体_GB2312" pitchFamily="49" charset="-122"/>
              </a:rPr>
              <a:t>水合钴</a:t>
            </a:r>
            <a:r>
              <a:rPr lang="en-US" altLang="zh-CN" sz="2500" b="1" dirty="0">
                <a:ea typeface="楷体_GB2312" pitchFamily="49" charset="-122"/>
              </a:rPr>
              <a:t>(Ⅲ)</a:t>
            </a:r>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box(in)">
                                      <p:cBhvr>
                                        <p:cTn id="7" dur="500"/>
                                        <p:tgtEl>
                                          <p:spTgt spid="4710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7109">
                                            <p:txEl>
                                              <p:pRg st="0" end="0"/>
                                            </p:txEl>
                                          </p:spTgt>
                                        </p:tgtEl>
                                        <p:attrNameLst>
                                          <p:attrName>style.visibility</p:attrName>
                                        </p:attrNameLst>
                                      </p:cBhvr>
                                      <p:to>
                                        <p:strVal val="visible"/>
                                      </p:to>
                                    </p:set>
                                    <p:animEffect transition="in" filter="box(in)">
                                      <p:cBhvr>
                                        <p:cTn id="12" dur="500"/>
                                        <p:tgtEl>
                                          <p:spTgt spid="47109">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7109">
                                            <p:txEl>
                                              <p:pRg st="1" end="1"/>
                                            </p:txEl>
                                          </p:spTgt>
                                        </p:tgtEl>
                                        <p:attrNameLst>
                                          <p:attrName>style.visibility</p:attrName>
                                        </p:attrNameLst>
                                      </p:cBhvr>
                                      <p:to>
                                        <p:strVal val="visible"/>
                                      </p:to>
                                    </p:set>
                                    <p:animEffect transition="in" filter="box(in)">
                                      <p:cBhvr>
                                        <p:cTn id="17" dur="500"/>
                                        <p:tgtEl>
                                          <p:spTgt spid="47109">
                                            <p:txEl>
                                              <p:pRg st="1" end="1"/>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7109">
                                            <p:txEl>
                                              <p:pRg st="2" end="2"/>
                                            </p:txEl>
                                          </p:spTgt>
                                        </p:tgtEl>
                                        <p:attrNameLst>
                                          <p:attrName>style.visibility</p:attrName>
                                        </p:attrNameLst>
                                      </p:cBhvr>
                                      <p:to>
                                        <p:strVal val="visible"/>
                                      </p:to>
                                    </p:set>
                                    <p:animEffect transition="in" filter="box(in)">
                                      <p:cBhvr>
                                        <p:cTn id="22" dur="500"/>
                                        <p:tgtEl>
                                          <p:spTgt spid="47109">
                                            <p:txEl>
                                              <p:pRg st="2" end="2"/>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7109">
                                            <p:txEl>
                                              <p:pRg st="3" end="3"/>
                                            </p:txEl>
                                          </p:spTgt>
                                        </p:tgtEl>
                                        <p:attrNameLst>
                                          <p:attrName>style.visibility</p:attrName>
                                        </p:attrNameLst>
                                      </p:cBhvr>
                                      <p:to>
                                        <p:strVal val="visible"/>
                                      </p:to>
                                    </p:set>
                                    <p:animEffect transition="in" filter="box(in)">
                                      <p:cBhvr>
                                        <p:cTn id="27" dur="500"/>
                                        <p:tgtEl>
                                          <p:spTgt spid="47109">
                                            <p:txEl>
                                              <p:pRg st="3" end="3"/>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7109">
                                            <p:txEl>
                                              <p:pRg st="4" end="4"/>
                                            </p:txEl>
                                          </p:spTgt>
                                        </p:tgtEl>
                                        <p:attrNameLst>
                                          <p:attrName>style.visibility</p:attrName>
                                        </p:attrNameLst>
                                      </p:cBhvr>
                                      <p:to>
                                        <p:strVal val="visible"/>
                                      </p:to>
                                    </p:set>
                                    <p:animEffect transition="in" filter="box(in)">
                                      <p:cBhvr>
                                        <p:cTn id="32" dur="500"/>
                                        <p:tgtEl>
                                          <p:spTgt spid="47109">
                                            <p:txEl>
                                              <p:pRg st="4" end="4"/>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7109">
                                            <p:txEl>
                                              <p:pRg st="5" end="5"/>
                                            </p:txEl>
                                          </p:spTgt>
                                        </p:tgtEl>
                                        <p:attrNameLst>
                                          <p:attrName>style.visibility</p:attrName>
                                        </p:attrNameLst>
                                      </p:cBhvr>
                                      <p:to>
                                        <p:strVal val="visible"/>
                                      </p:to>
                                    </p:set>
                                    <p:animEffect transition="in" filter="box(in)">
                                      <p:cBhvr>
                                        <p:cTn id="37" dur="500"/>
                                        <p:tgtEl>
                                          <p:spTgt spid="47109">
                                            <p:txEl>
                                              <p:pRg st="5" end="5"/>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47117"/>
                                        </p:tgtEl>
                                        <p:attrNameLst>
                                          <p:attrName>style.visibility</p:attrName>
                                        </p:attrNameLst>
                                      </p:cBhvr>
                                      <p:to>
                                        <p:strVal val="visible"/>
                                      </p:to>
                                    </p:set>
                                    <p:animEffect transition="in" filter="box(in)">
                                      <p:cBhvr>
                                        <p:cTn id="42" dur="500"/>
                                        <p:tgtEl>
                                          <p:spTgt spid="47117"/>
                                        </p:tgtEl>
                                      </p:cBhvr>
                                    </p:animEffect>
                                  </p:childTnLst>
                                </p:cTn>
                              </p:par>
                            </p:childTnLst>
                          </p:cTn>
                        </p:par>
                        <p:par>
                          <p:cTn id="43" fill="hold">
                            <p:stCondLst>
                              <p:cond delay="500"/>
                            </p:stCondLst>
                            <p:childTnLst>
                              <p:par>
                                <p:cTn id="44" presetID="1" presetClass="entr" presetSubtype="0" fill="hold" grpId="0" nodeType="afterEffect">
                                  <p:stCondLst>
                                    <p:cond delay="0"/>
                                  </p:stCondLst>
                                  <p:childTnLst>
                                    <p:set>
                                      <p:cBhvr>
                                        <p:cTn id="45" dur="1" fill="hold">
                                          <p:stCondLst>
                                            <p:cond delay="499"/>
                                          </p:stCondLst>
                                        </p:cTn>
                                        <p:tgtEl>
                                          <p:spTgt spid="47114"/>
                                        </p:tgtEl>
                                        <p:attrNameLst>
                                          <p:attrName>style.visibility</p:attrName>
                                        </p:attrNameLst>
                                      </p:cBhvr>
                                      <p:to>
                                        <p:strVal val="visible"/>
                                      </p:to>
                                    </p:set>
                                  </p:childTnLst>
                                  <p:subTnLst>
                                    <p:audio>
                                      <p:cMediaNode>
                                        <p:cTn display="0" masterRel="sameClick">
                                          <p:stCondLst>
                                            <p:cond evt="begin" delay="0">
                                              <p:tn val="44"/>
                                            </p:cond>
                                          </p:stCondLst>
                                          <p:endCondLst>
                                            <p:cond evt="onStopAudio" delay="0">
                                              <p:tgtEl>
                                                <p:sldTgt/>
                                              </p:tgtEl>
                                            </p:cond>
                                          </p:endCondLst>
                                        </p:cTn>
                                        <p:tgtEl>
                                          <p:sndTgt r:embed="rId3" name="RECYCLE.WAV"/>
                                        </p:tgtEl>
                                      </p:cMediaNode>
                                    </p:audio>
                                  </p:sub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box(in)">
                                      <p:cBhvr>
                                        <p:cTn id="50" dur="500"/>
                                        <p:tgtEl>
                                          <p:spTgt spid="13"/>
                                        </p:tgtEl>
                                      </p:cBhvr>
                                    </p:animEffect>
                                  </p:childTnLst>
                                  <p:subTnLst>
                                    <p:audio>
                                      <p:cMediaNode>
                                        <p:cTn display="0" masterRel="sameClick">
                                          <p:stCondLst>
                                            <p:cond evt="begin" delay="0">
                                              <p:tn val="48"/>
                                            </p:cond>
                                          </p:stCondLst>
                                          <p:endCondLst>
                                            <p:cond evt="onStopAudio" delay="0">
                                              <p:tgtEl>
                                                <p:sldTgt/>
                                              </p:tgtEl>
                                            </p:cond>
                                          </p:endCondLst>
                                        </p:cTn>
                                        <p:tgtEl>
                                          <p:sndTgt r:embed="rId3" name="RECYC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utoUpdateAnimBg="0"/>
      <p:bldP spid="47109" grpId="0" build="p" autoUpdateAnimBg="0"/>
      <p:bldP spid="47114" grpId="0" animBg="1"/>
      <p:bldP spid="47117" grpId="0" autoUpdateAnimBg="0"/>
      <p:bldP spid="13"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Text Box 9"/>
          <p:cNvSpPr txBox="1">
            <a:spLocks noChangeArrowheads="1"/>
          </p:cNvSpPr>
          <p:nvPr/>
        </p:nvSpPr>
        <p:spPr bwMode="auto">
          <a:xfrm>
            <a:off x="4897438" y="1428750"/>
            <a:ext cx="3671911" cy="2400657"/>
          </a:xfrm>
          <a:prstGeom prst="rect">
            <a:avLst/>
          </a:prstGeom>
          <a:noFill/>
          <a:ln w="12700" cap="sq">
            <a:noFill/>
            <a:miter lim="800000"/>
            <a:headEnd type="none" w="sm" len="sm"/>
            <a:tailEnd type="none" w="sm" len="sm"/>
          </a:ln>
        </p:spPr>
        <p:txBody>
          <a:bodyPr wrap="square">
            <a:spAutoFit/>
          </a:bodyPr>
          <a:lstStyle/>
          <a:p>
            <a:pPr>
              <a:lnSpc>
                <a:spcPct val="150000"/>
              </a:lnSpc>
            </a:pPr>
            <a:r>
              <a:rPr lang="zh-CN" altLang="en-US" sz="2500" b="1" dirty="0">
                <a:ea typeface="楷体_GB2312" pitchFamily="49" charset="-122"/>
              </a:rPr>
              <a:t>硫酸四氨合铜</a:t>
            </a:r>
            <a:r>
              <a:rPr lang="en-US" altLang="zh-CN" sz="2500" b="1" dirty="0">
                <a:ea typeface="楷体_GB2312" pitchFamily="49" charset="-122"/>
              </a:rPr>
              <a:t>(Ⅱ)</a:t>
            </a:r>
          </a:p>
          <a:p>
            <a:pPr>
              <a:lnSpc>
                <a:spcPct val="150000"/>
              </a:lnSpc>
            </a:pPr>
            <a:r>
              <a:rPr lang="zh-CN" altLang="en-US" sz="2500" b="1" dirty="0">
                <a:ea typeface="楷体_GB2312" pitchFamily="49" charset="-122"/>
              </a:rPr>
              <a:t>六异硫氰根合铁</a:t>
            </a:r>
            <a:r>
              <a:rPr lang="en-US" altLang="zh-CN" sz="2500" b="1" dirty="0">
                <a:ea typeface="楷体_GB2312" pitchFamily="49" charset="-122"/>
              </a:rPr>
              <a:t>(Ⅲ)</a:t>
            </a:r>
            <a:r>
              <a:rPr lang="zh-CN" altLang="en-US" sz="2500" b="1" dirty="0">
                <a:ea typeface="楷体_GB2312" pitchFamily="49" charset="-122"/>
              </a:rPr>
              <a:t>酸钾</a:t>
            </a:r>
          </a:p>
          <a:p>
            <a:pPr>
              <a:lnSpc>
                <a:spcPct val="150000"/>
              </a:lnSpc>
            </a:pPr>
            <a:r>
              <a:rPr lang="zh-CN" altLang="en-US" sz="2500" b="1" dirty="0">
                <a:ea typeface="楷体_GB2312" pitchFamily="49" charset="-122"/>
              </a:rPr>
              <a:t>六氯合铂</a:t>
            </a:r>
            <a:r>
              <a:rPr lang="en-US" altLang="zh-CN" sz="2500" b="1" dirty="0">
                <a:ea typeface="楷体_GB2312" pitchFamily="49" charset="-122"/>
              </a:rPr>
              <a:t>(Ⅳ)</a:t>
            </a:r>
            <a:r>
              <a:rPr lang="zh-CN" altLang="en-US" sz="2500" b="1" dirty="0">
                <a:ea typeface="楷体_GB2312" pitchFamily="49" charset="-122"/>
              </a:rPr>
              <a:t>酸</a:t>
            </a:r>
          </a:p>
          <a:p>
            <a:pPr>
              <a:lnSpc>
                <a:spcPct val="150000"/>
              </a:lnSpc>
            </a:pPr>
            <a:r>
              <a:rPr lang="zh-CN" altLang="en-US" sz="2500" b="1" dirty="0">
                <a:ea typeface="楷体_GB2312" pitchFamily="49" charset="-122"/>
              </a:rPr>
              <a:t>氢氧化四氨合铜</a:t>
            </a:r>
            <a:r>
              <a:rPr lang="en-US" altLang="zh-CN" sz="2500" b="1" dirty="0">
                <a:ea typeface="楷体_GB2312" pitchFamily="49" charset="-122"/>
              </a:rPr>
              <a:t>(Ⅱ)</a:t>
            </a:r>
            <a:endParaRPr lang="en-US" altLang="zh-CN" sz="2500" dirty="0">
              <a:ea typeface="楷体_GB2312" pitchFamily="49" charset="-122"/>
            </a:endParaRPr>
          </a:p>
        </p:txBody>
      </p:sp>
      <p:sp>
        <p:nvSpPr>
          <p:cNvPr id="23562" name="Rectangle 10"/>
          <p:cNvSpPr>
            <a:spLocks noChangeArrowheads="1"/>
          </p:cNvSpPr>
          <p:nvPr/>
        </p:nvSpPr>
        <p:spPr bwMode="auto">
          <a:xfrm>
            <a:off x="906463" y="1428750"/>
            <a:ext cx="2622326" cy="2977738"/>
          </a:xfrm>
          <a:prstGeom prst="rect">
            <a:avLst/>
          </a:prstGeom>
          <a:noFill/>
          <a:ln w="9525">
            <a:noFill/>
            <a:miter lim="800000"/>
            <a:headEnd/>
            <a:tailEnd/>
          </a:ln>
        </p:spPr>
        <p:txBody>
          <a:bodyPr wrap="square">
            <a:spAutoFit/>
          </a:bodyPr>
          <a:lstStyle/>
          <a:p>
            <a:pPr>
              <a:lnSpc>
                <a:spcPct val="150000"/>
              </a:lnSpc>
            </a:pPr>
            <a:r>
              <a:rPr lang="en-US" altLang="zh-CN" sz="2500" b="1" dirty="0">
                <a:ea typeface="楷体_GB2312" pitchFamily="49" charset="-122"/>
              </a:rPr>
              <a:t>[Cu(NH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4</a:t>
            </a:r>
            <a:r>
              <a:rPr lang="en-US" altLang="zh-CN" sz="2500" b="1" dirty="0">
                <a:ea typeface="楷体_GB2312" pitchFamily="49" charset="-122"/>
              </a:rPr>
              <a:t>]SO</a:t>
            </a:r>
            <a:r>
              <a:rPr lang="en-US" altLang="zh-CN" sz="2500" b="1" baseline="-25000" dirty="0">
                <a:ea typeface="楷体_GB2312" pitchFamily="49" charset="-122"/>
              </a:rPr>
              <a:t>4</a:t>
            </a:r>
          </a:p>
          <a:p>
            <a:pPr>
              <a:lnSpc>
                <a:spcPct val="150000"/>
              </a:lnSpc>
            </a:pPr>
            <a:r>
              <a:rPr lang="en-US" altLang="zh-CN" sz="2500" b="1" dirty="0">
                <a:ea typeface="楷体_GB2312" pitchFamily="49" charset="-122"/>
              </a:rPr>
              <a:t>K</a:t>
            </a:r>
            <a:r>
              <a:rPr lang="en-US" altLang="zh-CN" sz="2500" b="1" baseline="-25000" dirty="0">
                <a:ea typeface="楷体_GB2312" pitchFamily="49" charset="-122"/>
              </a:rPr>
              <a:t>3</a:t>
            </a:r>
            <a:r>
              <a:rPr lang="en-US" altLang="zh-CN" sz="2500" b="1" dirty="0">
                <a:ea typeface="楷体_GB2312" pitchFamily="49" charset="-122"/>
              </a:rPr>
              <a:t>[Fe(NCS)</a:t>
            </a:r>
            <a:r>
              <a:rPr lang="en-US" altLang="zh-CN" sz="2500" b="1" baseline="-25000" dirty="0">
                <a:ea typeface="楷体_GB2312" pitchFamily="49" charset="-122"/>
              </a:rPr>
              <a:t>6</a:t>
            </a:r>
            <a:r>
              <a:rPr lang="en-US" altLang="zh-CN" sz="2500" b="1" dirty="0">
                <a:ea typeface="楷体_GB2312" pitchFamily="49" charset="-122"/>
              </a:rPr>
              <a:t>]</a:t>
            </a:r>
          </a:p>
          <a:p>
            <a:pPr>
              <a:lnSpc>
                <a:spcPct val="150000"/>
              </a:lnSpc>
            </a:pPr>
            <a:r>
              <a:rPr lang="en-US" altLang="zh-CN" sz="2500" b="1" dirty="0">
                <a:ea typeface="楷体_GB2312" pitchFamily="49" charset="-122"/>
              </a:rPr>
              <a:t>H</a:t>
            </a:r>
            <a:r>
              <a:rPr lang="en-US" altLang="zh-CN" sz="2500" b="1" baseline="-25000" dirty="0">
                <a:ea typeface="楷体_GB2312" pitchFamily="49" charset="-122"/>
              </a:rPr>
              <a:t>2</a:t>
            </a:r>
            <a:r>
              <a:rPr lang="en-US" altLang="zh-CN" sz="2500" b="1" dirty="0">
                <a:ea typeface="楷体_GB2312" pitchFamily="49" charset="-122"/>
              </a:rPr>
              <a:t>[PtCl</a:t>
            </a:r>
            <a:r>
              <a:rPr lang="en-US" altLang="zh-CN" sz="2500" b="1" baseline="-25000" dirty="0">
                <a:ea typeface="楷体_GB2312" pitchFamily="49" charset="-122"/>
              </a:rPr>
              <a:t>6</a:t>
            </a:r>
            <a:r>
              <a:rPr lang="en-US" altLang="zh-CN" sz="2500" b="1" dirty="0">
                <a:ea typeface="楷体_GB2312" pitchFamily="49" charset="-122"/>
              </a:rPr>
              <a:t>] </a:t>
            </a:r>
          </a:p>
          <a:p>
            <a:pPr>
              <a:lnSpc>
                <a:spcPct val="150000"/>
              </a:lnSpc>
            </a:pPr>
            <a:r>
              <a:rPr lang="en-US" altLang="zh-CN" sz="2500" b="1" dirty="0">
                <a:ea typeface="楷体_GB2312" pitchFamily="49" charset="-122"/>
              </a:rPr>
              <a:t>[Cu(NH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4</a:t>
            </a:r>
            <a:r>
              <a:rPr lang="en-US" altLang="zh-CN" sz="2500" b="1" dirty="0">
                <a:ea typeface="楷体_GB2312" pitchFamily="49" charset="-122"/>
              </a:rPr>
              <a:t>](OH)</a:t>
            </a:r>
            <a:r>
              <a:rPr lang="en-US" altLang="zh-CN" sz="2500" b="1" baseline="-25000" dirty="0">
                <a:ea typeface="楷体_GB2312" pitchFamily="49" charset="-122"/>
              </a:rPr>
              <a:t>2</a:t>
            </a:r>
          </a:p>
          <a:p>
            <a:pPr>
              <a:lnSpc>
                <a:spcPct val="150000"/>
              </a:lnSpc>
            </a:pPr>
            <a:r>
              <a:rPr lang="en-US" altLang="zh-CN" sz="2500" b="1" dirty="0">
                <a:ea typeface="楷体_GB2312" pitchFamily="49" charset="-122"/>
              </a:rPr>
              <a:t>K[PtCl</a:t>
            </a:r>
            <a:r>
              <a:rPr lang="en-US" altLang="zh-CN" sz="2500" b="1" baseline="-25000" dirty="0">
                <a:ea typeface="楷体_GB2312" pitchFamily="49" charset="-122"/>
              </a:rPr>
              <a:t>5</a:t>
            </a: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a:t>
            </a:r>
            <a:endParaRPr lang="en-US" altLang="zh-CN" sz="2500" b="1" baseline="-25000" dirty="0">
              <a:ea typeface="楷体_GB2312" pitchFamily="49" charset="-122"/>
            </a:endParaRPr>
          </a:p>
        </p:txBody>
      </p:sp>
      <p:sp>
        <p:nvSpPr>
          <p:cNvPr id="23566" name="Rectangle 14"/>
          <p:cNvSpPr>
            <a:spLocks noChangeArrowheads="1"/>
          </p:cNvSpPr>
          <p:nvPr/>
        </p:nvSpPr>
        <p:spPr bwMode="auto">
          <a:xfrm>
            <a:off x="4903788" y="3811588"/>
            <a:ext cx="3122612" cy="477837"/>
          </a:xfrm>
          <a:prstGeom prst="rect">
            <a:avLst/>
          </a:prstGeom>
          <a:noFill/>
          <a:ln w="9525">
            <a:noFill/>
            <a:miter lim="800000"/>
            <a:headEnd/>
            <a:tailEnd/>
          </a:ln>
        </p:spPr>
        <p:txBody>
          <a:bodyPr wrap="none" anchor="ctr">
            <a:spAutoFit/>
          </a:bodyPr>
          <a:lstStyle/>
          <a:p>
            <a:pPr algn="ctr"/>
            <a:r>
              <a:rPr lang="zh-CN" altLang="en-US" sz="2500" b="1" dirty="0">
                <a:ea typeface="楷体_GB2312" pitchFamily="49" charset="-122"/>
              </a:rPr>
              <a:t>五氯</a:t>
            </a:r>
            <a:r>
              <a:rPr lang="en-US" altLang="zh-CN" sz="2500" b="1" dirty="0">
                <a:ea typeface="楷体_GB2312" pitchFamily="49" charset="-122"/>
              </a:rPr>
              <a:t>•</a:t>
            </a:r>
            <a:r>
              <a:rPr lang="zh-CN" altLang="en-US" sz="2500" b="1" dirty="0">
                <a:ea typeface="楷体_GB2312" pitchFamily="49" charset="-122"/>
              </a:rPr>
              <a:t>氨合铂</a:t>
            </a:r>
            <a:r>
              <a:rPr lang="en-US" altLang="zh-CN" sz="2500" b="1" dirty="0">
                <a:ea typeface="楷体_GB2312" pitchFamily="49" charset="-122"/>
              </a:rPr>
              <a:t>(Ⅳ)</a:t>
            </a:r>
            <a:r>
              <a:rPr lang="zh-CN" altLang="en-US" sz="2500" b="1" dirty="0">
                <a:ea typeface="楷体_GB2312" pitchFamily="49" charset="-122"/>
              </a:rPr>
              <a:t>酸钾</a:t>
            </a:r>
          </a:p>
        </p:txBody>
      </p:sp>
      <p:sp>
        <p:nvSpPr>
          <p:cNvPr id="23579" name="Rectangle 27"/>
          <p:cNvSpPr>
            <a:spLocks noChangeArrowheads="1"/>
          </p:cNvSpPr>
          <p:nvPr/>
        </p:nvSpPr>
        <p:spPr bwMode="auto">
          <a:xfrm>
            <a:off x="906463" y="1122363"/>
            <a:ext cx="614362" cy="476250"/>
          </a:xfrm>
          <a:prstGeom prst="rect">
            <a:avLst/>
          </a:prstGeom>
          <a:noFill/>
          <a:ln w="9525">
            <a:noFill/>
            <a:miter lim="800000"/>
            <a:headEnd/>
            <a:tailEnd/>
          </a:ln>
        </p:spPr>
        <p:txBody>
          <a:bodyPr wrap="none" anchor="ctr">
            <a:spAutoFit/>
          </a:bodyPr>
          <a:lstStyle/>
          <a:p>
            <a:r>
              <a:rPr lang="zh-CN" altLang="en-US" sz="2500" b="1" dirty="0">
                <a:ea typeface="楷体_GB2312" pitchFamily="49" charset="-122"/>
              </a:rPr>
              <a:t>如</a:t>
            </a:r>
            <a:r>
              <a:rPr lang="en-US" altLang="zh-CN" sz="2500" b="1" dirty="0">
                <a:ea typeface="楷体_GB2312" pitchFamily="49" charset="-122"/>
              </a:rPr>
              <a:t>:</a:t>
            </a:r>
          </a:p>
        </p:txBody>
      </p:sp>
      <p:sp>
        <p:nvSpPr>
          <p:cNvPr id="22534" name="Rectangle 29"/>
          <p:cNvSpPr>
            <a:spLocks noGrp="1" noChangeArrowheads="1"/>
          </p:cNvSpPr>
          <p:nvPr>
            <p:ph type="title"/>
          </p:nvPr>
        </p:nvSpPr>
        <p:spPr>
          <a:xfrm>
            <a:off x="576263" y="258763"/>
            <a:ext cx="10369550" cy="431800"/>
          </a:xfrm>
          <a:noFill/>
        </p:spPr>
        <p:txBody>
          <a:bodyPr/>
          <a:lstStyle/>
          <a:p>
            <a:r>
              <a:rPr lang="en-US" altLang="zh-CN">
                <a:ea typeface="黑体" pitchFamily="49" charset="-122"/>
              </a:rPr>
              <a:t>6.1.3</a:t>
            </a:r>
            <a:r>
              <a:rPr lang="zh-CN" altLang="en-US">
                <a:ea typeface="黑体" pitchFamily="49" charset="-122"/>
              </a:rPr>
              <a:t>配合物的命名</a:t>
            </a:r>
            <a:endParaRPr lang="zh-CN" altLang="en-US" sz="1200" b="0">
              <a:solidFill>
                <a:srgbClr val="0000FF"/>
              </a:solidFill>
              <a:ea typeface="黑体" pitchFamily="49" charset="-122"/>
            </a:endParaRPr>
          </a:p>
        </p:txBody>
      </p:sp>
      <p:sp>
        <p:nvSpPr>
          <p:cNvPr id="22535"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a:p>
        </p:txBody>
      </p:sp>
      <p:sp>
        <p:nvSpPr>
          <p:cNvPr id="22536"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6"/>
            <a:srcRect/>
            <a:stretch>
              <a:fillRect/>
            </a:stretch>
          </a:blipFill>
          <a:ln w="9525">
            <a:solidFill>
              <a:srgbClr val="808080"/>
            </a:solidFill>
            <a:round/>
            <a:headEnd/>
            <a:tailEnd/>
          </a:ln>
        </p:spPr>
        <p:txBody>
          <a:bodyPr wrap="none" anchor="ctr"/>
          <a:lstStyle/>
          <a:p>
            <a:endParaRPr lang="zh-CN" altLang="en-US"/>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3579"/>
                                        </p:tgtEl>
                                        <p:attrNameLst>
                                          <p:attrName>style.visibility</p:attrName>
                                        </p:attrNameLst>
                                      </p:cBhvr>
                                      <p:to>
                                        <p:strVal val="visible"/>
                                      </p:to>
                                    </p:set>
                                    <p:animEffect transition="in" filter="box(in)">
                                      <p:cBhvr>
                                        <p:cTn id="7" dur="500"/>
                                        <p:tgtEl>
                                          <p:spTgt spid="23579"/>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3562"/>
                                        </p:tgtEl>
                                        <p:attrNameLst>
                                          <p:attrName>style.visibility</p:attrName>
                                        </p:attrNameLst>
                                      </p:cBhvr>
                                      <p:to>
                                        <p:strVal val="visible"/>
                                      </p:to>
                                    </p:set>
                                    <p:animEffect transition="in" filter="blinds(horizontal)">
                                      <p:cBhvr>
                                        <p:cTn id="11" dur="500"/>
                                        <p:tgtEl>
                                          <p:spTgt spid="23562"/>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iterate type="lt">
                                    <p:tmPct val="350000"/>
                                  </p:iterate>
                                  <p:childTnLst>
                                    <p:set>
                                      <p:cBhvr>
                                        <p:cTn id="15" dur="1" fill="hold">
                                          <p:stCondLst>
                                            <p:cond delay="0"/>
                                          </p:stCondLst>
                                        </p:cTn>
                                        <p:tgtEl>
                                          <p:spTgt spid="23561">
                                            <p:txEl>
                                              <p:pRg st="0" end="0"/>
                                            </p:txEl>
                                          </p:spTgt>
                                        </p:tgtEl>
                                        <p:attrNameLst>
                                          <p:attrName>style.visibility</p:attrName>
                                        </p:attrNameLst>
                                      </p:cBhvr>
                                      <p:to>
                                        <p:strVal val="visible"/>
                                      </p:to>
                                    </p:set>
                                    <p:animEffect transition="in" filter="box(in)">
                                      <p:cBhvr>
                                        <p:cTn id="16" dur="75"/>
                                        <p:tgtEl>
                                          <p:spTgt spid="23561">
                                            <p:txEl>
                                              <p:pRg st="0" end="0"/>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3" name="start.wav"/>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iterate type="lt">
                                    <p:tmPct val="350000"/>
                                  </p:iterate>
                                  <p:childTnLst>
                                    <p:set>
                                      <p:cBhvr>
                                        <p:cTn id="20" dur="1" fill="hold">
                                          <p:stCondLst>
                                            <p:cond delay="0"/>
                                          </p:stCondLst>
                                        </p:cTn>
                                        <p:tgtEl>
                                          <p:spTgt spid="23561">
                                            <p:txEl>
                                              <p:pRg st="1" end="1"/>
                                            </p:txEl>
                                          </p:spTgt>
                                        </p:tgtEl>
                                        <p:attrNameLst>
                                          <p:attrName>style.visibility</p:attrName>
                                        </p:attrNameLst>
                                      </p:cBhvr>
                                      <p:to>
                                        <p:strVal val="visible"/>
                                      </p:to>
                                    </p:set>
                                    <p:animEffect transition="in" filter="box(in)">
                                      <p:cBhvr>
                                        <p:cTn id="21" dur="75"/>
                                        <p:tgtEl>
                                          <p:spTgt spid="23561">
                                            <p:txEl>
                                              <p:pRg st="1" end="1"/>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start.wav"/>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iterate type="lt">
                                    <p:tmPct val="350000"/>
                                  </p:iterate>
                                  <p:childTnLst>
                                    <p:set>
                                      <p:cBhvr>
                                        <p:cTn id="25" dur="1" fill="hold">
                                          <p:stCondLst>
                                            <p:cond delay="0"/>
                                          </p:stCondLst>
                                        </p:cTn>
                                        <p:tgtEl>
                                          <p:spTgt spid="23561">
                                            <p:txEl>
                                              <p:pRg st="2" end="2"/>
                                            </p:txEl>
                                          </p:spTgt>
                                        </p:tgtEl>
                                        <p:attrNameLst>
                                          <p:attrName>style.visibility</p:attrName>
                                        </p:attrNameLst>
                                      </p:cBhvr>
                                      <p:to>
                                        <p:strVal val="visible"/>
                                      </p:to>
                                    </p:set>
                                    <p:animEffect transition="in" filter="box(in)">
                                      <p:cBhvr>
                                        <p:cTn id="26" dur="75"/>
                                        <p:tgtEl>
                                          <p:spTgt spid="23561">
                                            <p:txEl>
                                              <p:pRg st="2" end="2"/>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3" name="start.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iterate type="lt">
                                    <p:tmPct val="350000"/>
                                  </p:iterate>
                                  <p:childTnLst>
                                    <p:set>
                                      <p:cBhvr>
                                        <p:cTn id="30" dur="1" fill="hold">
                                          <p:stCondLst>
                                            <p:cond delay="0"/>
                                          </p:stCondLst>
                                        </p:cTn>
                                        <p:tgtEl>
                                          <p:spTgt spid="23561">
                                            <p:txEl>
                                              <p:pRg st="3" end="3"/>
                                            </p:txEl>
                                          </p:spTgt>
                                        </p:tgtEl>
                                        <p:attrNameLst>
                                          <p:attrName>style.visibility</p:attrName>
                                        </p:attrNameLst>
                                      </p:cBhvr>
                                      <p:to>
                                        <p:strVal val="visible"/>
                                      </p:to>
                                    </p:set>
                                    <p:animEffect transition="in" filter="box(in)">
                                      <p:cBhvr>
                                        <p:cTn id="31" dur="75"/>
                                        <p:tgtEl>
                                          <p:spTgt spid="23561">
                                            <p:txEl>
                                              <p:pRg st="3" end="3"/>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3" name="start.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23566"/>
                                        </p:tgtEl>
                                        <p:attrNameLst>
                                          <p:attrName>style.visibility</p:attrName>
                                        </p:attrNameLst>
                                      </p:cBhvr>
                                      <p:to>
                                        <p:strVal val="visible"/>
                                      </p:to>
                                    </p:set>
                                    <p:animEffect transition="in" filter="box(in)">
                                      <p:cBhvr>
                                        <p:cTn id="36" dur="500"/>
                                        <p:tgtEl>
                                          <p:spTgt spid="23566"/>
                                        </p:tgtEl>
                                      </p:cBhvr>
                                    </p:animEffect>
                                  </p:childTnLst>
                                  <p:subTnLst>
                                    <p:audio>
                                      <p:cMediaNode>
                                        <p:cTn display="0" masterRel="sameClick">
                                          <p:stCondLst>
                                            <p:cond evt="begin" delay="0">
                                              <p:tn val="34"/>
                                            </p:cond>
                                          </p:stCondLst>
                                          <p:endCondLst>
                                            <p:cond evt="onStopAudio" delay="0">
                                              <p:tgtEl>
                                                <p:sldTgt/>
                                              </p:tgtEl>
                                            </p:cond>
                                          </p:endCondLst>
                                        </p:cTn>
                                        <p:tgtEl>
                                          <p:sndTgt r:embed="rId4" name="RECYC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1" grpId="0" build="p" autoUpdateAnimBg="0"/>
      <p:bldP spid="23562" grpId="0" autoUpdateAnimBg="0"/>
      <p:bldP spid="23566" grpId="0" autoUpdateAnimBg="0"/>
      <p:bldP spid="2357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1" name="Text Box 7"/>
          <p:cNvSpPr txBox="1">
            <a:spLocks noChangeArrowheads="1"/>
          </p:cNvSpPr>
          <p:nvPr/>
        </p:nvSpPr>
        <p:spPr bwMode="auto">
          <a:xfrm>
            <a:off x="5259388" y="1460500"/>
            <a:ext cx="3670001" cy="2400657"/>
          </a:xfrm>
          <a:prstGeom prst="rect">
            <a:avLst/>
          </a:prstGeom>
          <a:noFill/>
          <a:ln w="12700" cap="sq">
            <a:noFill/>
            <a:miter lim="800000"/>
            <a:headEnd type="none" w="sm" len="sm"/>
            <a:tailEnd type="none" w="sm" len="sm"/>
          </a:ln>
        </p:spPr>
        <p:txBody>
          <a:bodyPr wrap="square">
            <a:spAutoFit/>
          </a:bodyPr>
          <a:lstStyle/>
          <a:p>
            <a:pPr>
              <a:lnSpc>
                <a:spcPct val="150000"/>
              </a:lnSpc>
            </a:pPr>
            <a:r>
              <a:rPr lang="zh-CN" altLang="en-US" sz="2500" b="1" dirty="0">
                <a:ea typeface="楷体_GB2312" pitchFamily="49" charset="-122"/>
              </a:rPr>
              <a:t>硝酸羟基</a:t>
            </a:r>
            <a:r>
              <a:rPr lang="en-US" altLang="zh-CN" sz="2500" b="1" dirty="0">
                <a:ea typeface="楷体_GB2312" pitchFamily="49" charset="-122"/>
              </a:rPr>
              <a:t>•</a:t>
            </a:r>
            <a:r>
              <a:rPr lang="zh-CN" altLang="en-US" sz="2500" b="1" dirty="0">
                <a:ea typeface="楷体_GB2312" pitchFamily="49" charset="-122"/>
              </a:rPr>
              <a:t>三水合锌</a:t>
            </a:r>
            <a:r>
              <a:rPr lang="en-US" altLang="zh-CN" sz="2500" b="1" dirty="0">
                <a:ea typeface="楷体_GB2312" pitchFamily="49" charset="-122"/>
              </a:rPr>
              <a:t>(Ⅱ)</a:t>
            </a:r>
          </a:p>
          <a:p>
            <a:pPr>
              <a:lnSpc>
                <a:spcPct val="150000"/>
              </a:lnSpc>
            </a:pPr>
            <a:r>
              <a:rPr lang="en-US" altLang="zh-CN" sz="2500" b="1" dirty="0">
                <a:ea typeface="楷体_GB2312" pitchFamily="49" charset="-122"/>
              </a:rPr>
              <a:t>(</a:t>
            </a:r>
            <a:r>
              <a:rPr lang="zh-CN" altLang="en-US" sz="2500" b="1" dirty="0">
                <a:ea typeface="楷体_GB2312" pitchFamily="49" charset="-122"/>
              </a:rPr>
              <a:t>三</a:t>
            </a:r>
            <a:r>
              <a:rPr lang="en-US" altLang="zh-CN" sz="2500" b="1" dirty="0">
                <a:ea typeface="楷体_GB2312" pitchFamily="49" charset="-122"/>
              </a:rPr>
              <a:t>)</a:t>
            </a:r>
            <a:r>
              <a:rPr lang="zh-CN" altLang="en-US" sz="2500" b="1" dirty="0">
                <a:ea typeface="楷体_GB2312" pitchFamily="49" charset="-122"/>
              </a:rPr>
              <a:t>氯化五氨</a:t>
            </a:r>
            <a:r>
              <a:rPr lang="en-US" altLang="zh-CN" sz="2500" b="1" dirty="0">
                <a:ea typeface="楷体_GB2312" pitchFamily="49" charset="-122"/>
              </a:rPr>
              <a:t>•</a:t>
            </a:r>
            <a:r>
              <a:rPr lang="zh-CN" altLang="en-US" sz="2500" b="1" dirty="0">
                <a:ea typeface="楷体_GB2312" pitchFamily="49" charset="-122"/>
              </a:rPr>
              <a:t>水合钴</a:t>
            </a:r>
            <a:r>
              <a:rPr lang="en-US" altLang="zh-CN" sz="2500" b="1" dirty="0">
                <a:ea typeface="楷体_GB2312" pitchFamily="49" charset="-122"/>
              </a:rPr>
              <a:t>(Ⅲ)</a:t>
            </a:r>
          </a:p>
          <a:p>
            <a:pPr>
              <a:lnSpc>
                <a:spcPct val="150000"/>
              </a:lnSpc>
            </a:pPr>
            <a:r>
              <a:rPr lang="zh-CN" altLang="en-US" sz="2500" b="1" dirty="0">
                <a:ea typeface="楷体_GB2312" pitchFamily="49" charset="-122"/>
              </a:rPr>
              <a:t>五羰</a:t>
            </a:r>
            <a:r>
              <a:rPr lang="en-US" altLang="zh-CN" sz="2500" b="1" dirty="0">
                <a:ea typeface="楷体_GB2312" pitchFamily="49" charset="-122"/>
              </a:rPr>
              <a:t>(</a:t>
            </a:r>
            <a:r>
              <a:rPr lang="zh-CN" altLang="en-US" sz="2500" b="1" dirty="0">
                <a:ea typeface="楷体_GB2312" pitchFamily="49" charset="-122"/>
              </a:rPr>
              <a:t>基</a:t>
            </a:r>
            <a:r>
              <a:rPr lang="en-US" altLang="zh-CN" sz="2500" b="1" dirty="0">
                <a:ea typeface="楷体_GB2312" pitchFamily="49" charset="-122"/>
              </a:rPr>
              <a:t>)</a:t>
            </a:r>
            <a:r>
              <a:rPr lang="zh-CN" altLang="en-US" sz="2500" b="1" dirty="0">
                <a:ea typeface="楷体_GB2312" pitchFamily="49" charset="-122"/>
              </a:rPr>
              <a:t>合铁</a:t>
            </a:r>
          </a:p>
          <a:p>
            <a:pPr>
              <a:lnSpc>
                <a:spcPct val="150000"/>
              </a:lnSpc>
            </a:pPr>
            <a:r>
              <a:rPr lang="zh-CN" altLang="en-US" sz="2500" b="1" dirty="0">
                <a:ea typeface="楷体_GB2312" pitchFamily="49" charset="-122"/>
              </a:rPr>
              <a:t>三硝基</a:t>
            </a:r>
            <a:r>
              <a:rPr lang="en-US" altLang="zh-CN" sz="2500" b="1" dirty="0">
                <a:ea typeface="楷体_GB2312" pitchFamily="49" charset="-122"/>
              </a:rPr>
              <a:t>•</a:t>
            </a:r>
            <a:r>
              <a:rPr lang="zh-CN" altLang="en-US" sz="2500" b="1" dirty="0">
                <a:ea typeface="楷体_GB2312" pitchFamily="49" charset="-122"/>
              </a:rPr>
              <a:t>三氨合钴</a:t>
            </a:r>
            <a:r>
              <a:rPr lang="en-US" altLang="zh-CN" sz="2500" b="1" dirty="0">
                <a:ea typeface="楷体_GB2312" pitchFamily="49" charset="-122"/>
              </a:rPr>
              <a:t>(Ⅲ)</a:t>
            </a:r>
            <a:endParaRPr lang="en-US" altLang="zh-CN" sz="2500" dirty="0">
              <a:ea typeface="楷体_GB2312" pitchFamily="49" charset="-122"/>
            </a:endParaRPr>
          </a:p>
        </p:txBody>
      </p:sp>
      <p:sp>
        <p:nvSpPr>
          <p:cNvPr id="36872" name="Rectangle 8"/>
          <p:cNvSpPr>
            <a:spLocks noChangeArrowheads="1"/>
          </p:cNvSpPr>
          <p:nvPr/>
        </p:nvSpPr>
        <p:spPr bwMode="auto">
          <a:xfrm>
            <a:off x="906463" y="1460500"/>
            <a:ext cx="3054374" cy="2977738"/>
          </a:xfrm>
          <a:prstGeom prst="rect">
            <a:avLst/>
          </a:prstGeom>
          <a:noFill/>
          <a:ln w="9525">
            <a:noFill/>
            <a:miter lim="800000"/>
            <a:headEnd/>
            <a:tailEnd/>
          </a:ln>
        </p:spPr>
        <p:txBody>
          <a:bodyPr wrap="square">
            <a:spAutoFit/>
          </a:bodyPr>
          <a:lstStyle/>
          <a:p>
            <a:pPr>
              <a:lnSpc>
                <a:spcPct val="150000"/>
              </a:lnSpc>
            </a:pPr>
            <a:r>
              <a:rPr lang="en-US" altLang="zh-CN" sz="2500" b="1" dirty="0">
                <a:ea typeface="楷体_GB2312" pitchFamily="49" charset="-122"/>
              </a:rPr>
              <a:t>[Zn(OH)(H</a:t>
            </a:r>
            <a:r>
              <a:rPr lang="en-US" altLang="zh-CN" sz="2500" b="1" baseline="-25000" dirty="0">
                <a:ea typeface="楷体_GB2312" pitchFamily="49" charset="-122"/>
              </a:rPr>
              <a:t>2</a:t>
            </a:r>
            <a:r>
              <a:rPr lang="en-US" altLang="zh-CN" sz="2500" b="1" dirty="0">
                <a:ea typeface="楷体_GB2312" pitchFamily="49" charset="-122"/>
              </a:rPr>
              <a:t>O)</a:t>
            </a:r>
            <a:r>
              <a:rPr lang="en-US" altLang="zh-CN" sz="2500" b="1" baseline="-25000" dirty="0">
                <a:ea typeface="楷体_GB2312" pitchFamily="49" charset="-122"/>
              </a:rPr>
              <a:t>3</a:t>
            </a:r>
            <a:r>
              <a:rPr lang="en-US" altLang="zh-CN" sz="2500" b="1" dirty="0">
                <a:ea typeface="楷体_GB2312" pitchFamily="49" charset="-122"/>
              </a:rPr>
              <a:t>]NO</a:t>
            </a:r>
            <a:r>
              <a:rPr lang="en-US" altLang="zh-CN" sz="2500" b="1" baseline="-25000" dirty="0">
                <a:ea typeface="楷体_GB2312" pitchFamily="49" charset="-122"/>
              </a:rPr>
              <a:t>3</a:t>
            </a:r>
            <a:endParaRPr lang="en-US" altLang="zh-CN" sz="2500" b="1" baseline="30000" dirty="0">
              <a:ea typeface="楷体_GB2312" pitchFamily="49" charset="-122"/>
            </a:endParaRPr>
          </a:p>
          <a:p>
            <a:pPr>
              <a:lnSpc>
                <a:spcPct val="150000"/>
              </a:lnSpc>
            </a:pPr>
            <a:r>
              <a:rPr lang="en-US" altLang="zh-CN" sz="2500" b="1" dirty="0">
                <a:ea typeface="楷体_GB2312" pitchFamily="49" charset="-122"/>
              </a:rPr>
              <a:t>[Co(NH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5 </a:t>
            </a:r>
            <a:r>
              <a:rPr lang="en-US" altLang="zh-CN" sz="2500" b="1" dirty="0">
                <a:ea typeface="楷体_GB2312" pitchFamily="49" charset="-122"/>
              </a:rPr>
              <a:t>(H</a:t>
            </a:r>
            <a:r>
              <a:rPr lang="en-US" altLang="zh-CN" sz="2500" b="1" baseline="-25000" dirty="0">
                <a:ea typeface="楷体_GB2312" pitchFamily="49" charset="-122"/>
              </a:rPr>
              <a:t>2</a:t>
            </a:r>
            <a:r>
              <a:rPr lang="en-US" altLang="zh-CN" sz="2500" b="1" dirty="0">
                <a:ea typeface="楷体_GB2312" pitchFamily="49" charset="-122"/>
              </a:rPr>
              <a:t>O)]Cl</a:t>
            </a:r>
            <a:r>
              <a:rPr lang="en-US" altLang="zh-CN" sz="2500" b="1" baseline="-25000" dirty="0">
                <a:ea typeface="楷体_GB2312" pitchFamily="49" charset="-122"/>
              </a:rPr>
              <a:t>3</a:t>
            </a:r>
            <a:endParaRPr lang="en-US" altLang="zh-CN" sz="2500" b="1" dirty="0">
              <a:ea typeface="楷体_GB2312" pitchFamily="49" charset="-122"/>
            </a:endParaRPr>
          </a:p>
          <a:p>
            <a:pPr>
              <a:lnSpc>
                <a:spcPct val="150000"/>
              </a:lnSpc>
            </a:pPr>
            <a:r>
              <a:rPr lang="en-US" altLang="zh-CN" sz="2500" b="1" dirty="0">
                <a:ea typeface="楷体_GB2312" pitchFamily="49" charset="-122"/>
              </a:rPr>
              <a:t>[Fe(CO)</a:t>
            </a:r>
            <a:r>
              <a:rPr lang="en-US" altLang="zh-CN" sz="2500" b="1" baseline="-25000" dirty="0">
                <a:ea typeface="楷体_GB2312" pitchFamily="49" charset="-122"/>
              </a:rPr>
              <a:t>5</a:t>
            </a:r>
            <a:r>
              <a:rPr lang="en-US" altLang="zh-CN" sz="2500" b="1" dirty="0">
                <a:ea typeface="楷体_GB2312" pitchFamily="49" charset="-122"/>
              </a:rPr>
              <a:t>]</a:t>
            </a:r>
          </a:p>
          <a:p>
            <a:pPr>
              <a:lnSpc>
                <a:spcPct val="150000"/>
              </a:lnSpc>
            </a:pPr>
            <a:r>
              <a:rPr lang="en-US" altLang="zh-CN" sz="2500" b="1" dirty="0">
                <a:ea typeface="楷体_GB2312" pitchFamily="49" charset="-122"/>
              </a:rPr>
              <a:t>[Co(NO</a:t>
            </a:r>
            <a:r>
              <a:rPr lang="en-US" altLang="zh-CN" sz="2500" b="1" baseline="-25000" dirty="0">
                <a:ea typeface="楷体_GB2312" pitchFamily="49" charset="-122"/>
              </a:rPr>
              <a:t>2</a:t>
            </a:r>
            <a:r>
              <a:rPr lang="en-US" altLang="zh-CN" sz="2500" b="1" dirty="0">
                <a:ea typeface="楷体_GB2312" pitchFamily="49" charset="-122"/>
              </a:rPr>
              <a:t>)</a:t>
            </a:r>
            <a:r>
              <a:rPr lang="en-US" altLang="zh-CN" sz="2500" b="1" baseline="-25000" dirty="0">
                <a:ea typeface="楷体_GB2312" pitchFamily="49" charset="-122"/>
              </a:rPr>
              <a:t>3 </a:t>
            </a: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3</a:t>
            </a:r>
            <a:r>
              <a:rPr lang="en-US" altLang="zh-CN" sz="2500" b="1" dirty="0">
                <a:ea typeface="楷体_GB2312" pitchFamily="49" charset="-122"/>
              </a:rPr>
              <a:t>]</a:t>
            </a:r>
            <a:endParaRPr lang="en-US" altLang="zh-CN" sz="2500" b="1" baseline="-25000" dirty="0">
              <a:ea typeface="楷体_GB2312" pitchFamily="49" charset="-122"/>
            </a:endParaRPr>
          </a:p>
          <a:p>
            <a:pPr>
              <a:lnSpc>
                <a:spcPct val="150000"/>
              </a:lnSpc>
            </a:pPr>
            <a:r>
              <a:rPr lang="en-US" altLang="zh-CN" sz="2500" b="1" dirty="0">
                <a:ea typeface="楷体_GB2312" pitchFamily="49" charset="-122"/>
              </a:rPr>
              <a:t>[Ca(EDTA)]</a:t>
            </a:r>
            <a:r>
              <a:rPr lang="en-US" altLang="zh-CN" sz="2500" b="1" baseline="30000" dirty="0">
                <a:ea typeface="楷体_GB2312" pitchFamily="49" charset="-122"/>
              </a:rPr>
              <a:t>2-</a:t>
            </a:r>
            <a:endParaRPr lang="en-US" altLang="zh-CN" sz="2500" b="1" baseline="-25000" dirty="0">
              <a:ea typeface="楷体_GB2312" pitchFamily="49" charset="-122"/>
            </a:endParaRPr>
          </a:p>
        </p:txBody>
      </p:sp>
      <p:sp>
        <p:nvSpPr>
          <p:cNvPr id="36874" name="Rectangle 10"/>
          <p:cNvSpPr>
            <a:spLocks noChangeArrowheads="1"/>
          </p:cNvSpPr>
          <p:nvPr/>
        </p:nvSpPr>
        <p:spPr bwMode="auto">
          <a:xfrm>
            <a:off x="5189538" y="3883025"/>
            <a:ext cx="3544887" cy="477838"/>
          </a:xfrm>
          <a:prstGeom prst="rect">
            <a:avLst/>
          </a:prstGeom>
          <a:noFill/>
          <a:ln w="9525">
            <a:noFill/>
            <a:miter lim="800000"/>
            <a:headEnd/>
            <a:tailEnd/>
          </a:ln>
        </p:spPr>
        <p:txBody>
          <a:bodyPr wrap="none" anchor="ctr">
            <a:spAutoFit/>
          </a:bodyPr>
          <a:lstStyle/>
          <a:p>
            <a:pPr algn="ctr"/>
            <a:r>
              <a:rPr lang="zh-CN" altLang="en-US" sz="2500" b="1" dirty="0">
                <a:ea typeface="楷体_GB2312" pitchFamily="49" charset="-122"/>
              </a:rPr>
              <a:t>乙二胺四乙酸根合钙</a:t>
            </a:r>
            <a:r>
              <a:rPr lang="en-US" altLang="zh-CN" sz="2500" b="1" dirty="0">
                <a:ea typeface="楷体_GB2312" pitchFamily="49" charset="-122"/>
              </a:rPr>
              <a:t>(Ⅱ)</a:t>
            </a:r>
          </a:p>
        </p:txBody>
      </p:sp>
      <p:sp>
        <p:nvSpPr>
          <p:cNvPr id="36887" name="Rectangle 23"/>
          <p:cNvSpPr>
            <a:spLocks noChangeArrowheads="1"/>
          </p:cNvSpPr>
          <p:nvPr/>
        </p:nvSpPr>
        <p:spPr bwMode="auto">
          <a:xfrm>
            <a:off x="906463" y="1122363"/>
            <a:ext cx="936625" cy="476250"/>
          </a:xfrm>
          <a:prstGeom prst="rect">
            <a:avLst/>
          </a:prstGeom>
          <a:noFill/>
          <a:ln w="9525">
            <a:noFill/>
            <a:miter lim="800000"/>
            <a:headEnd/>
            <a:tailEnd/>
          </a:ln>
        </p:spPr>
        <p:txBody>
          <a:bodyPr wrap="none" anchor="ctr">
            <a:spAutoFit/>
          </a:bodyPr>
          <a:lstStyle/>
          <a:p>
            <a:r>
              <a:rPr lang="zh-CN" altLang="en-US" sz="2500" b="1">
                <a:ea typeface="楷体_GB2312" pitchFamily="49" charset="-122"/>
              </a:rPr>
              <a:t>再如</a:t>
            </a:r>
            <a:r>
              <a:rPr lang="en-US" altLang="zh-CN" sz="2500" b="1">
                <a:ea typeface="楷体_GB2312" pitchFamily="49" charset="-122"/>
              </a:rPr>
              <a:t>:</a:t>
            </a:r>
          </a:p>
        </p:txBody>
      </p:sp>
      <p:sp>
        <p:nvSpPr>
          <p:cNvPr id="23558" name="Rectangle 25"/>
          <p:cNvSpPr>
            <a:spLocks noGrp="1" noChangeArrowheads="1"/>
          </p:cNvSpPr>
          <p:nvPr>
            <p:ph type="title"/>
          </p:nvPr>
        </p:nvSpPr>
        <p:spPr>
          <a:xfrm>
            <a:off x="617538" y="382588"/>
            <a:ext cx="10369550" cy="431800"/>
          </a:xfrm>
          <a:noFill/>
        </p:spPr>
        <p:txBody>
          <a:bodyPr/>
          <a:lstStyle/>
          <a:p>
            <a:r>
              <a:rPr lang="en-US" altLang="zh-CN">
                <a:ea typeface="黑体" pitchFamily="49" charset="-122"/>
              </a:rPr>
              <a:t>6.1.3</a:t>
            </a:r>
            <a:r>
              <a:rPr lang="zh-CN" altLang="en-US">
                <a:ea typeface="黑体" pitchFamily="49" charset="-122"/>
              </a:rPr>
              <a:t>配合物的命名</a:t>
            </a:r>
            <a:endParaRPr lang="zh-CN" altLang="en-US" sz="1200" b="0">
              <a:solidFill>
                <a:srgbClr val="0000FF"/>
              </a:solidFill>
              <a:ea typeface="黑体" pitchFamily="49" charset="-122"/>
            </a:endParaRPr>
          </a:p>
        </p:txBody>
      </p:sp>
      <p:sp>
        <p:nvSpPr>
          <p:cNvPr id="23559"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a:p>
        </p:txBody>
      </p:sp>
      <p:sp>
        <p:nvSpPr>
          <p:cNvPr id="23560"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6"/>
            <a:srcRect/>
            <a:stretch>
              <a:fillRect/>
            </a:stretch>
          </a:blipFill>
          <a:ln w="9525">
            <a:solidFill>
              <a:srgbClr val="808080"/>
            </a:solidFill>
            <a:round/>
            <a:headEnd/>
            <a:tailEnd/>
          </a:ln>
        </p:spPr>
        <p:txBody>
          <a:bodyPr wrap="none" anchor="ctr"/>
          <a:lstStyle/>
          <a:p>
            <a:endParaRPr lang="zh-CN" altLang="en-US"/>
          </a:p>
        </p:txBody>
      </p:sp>
      <p:sp>
        <p:nvSpPr>
          <p:cNvPr id="2" name="矩形 1"/>
          <p:cNvSpPr/>
          <p:nvPr/>
        </p:nvSpPr>
        <p:spPr>
          <a:xfrm>
            <a:off x="2086717" y="1052905"/>
            <a:ext cx="2440092" cy="477054"/>
          </a:xfrm>
          <a:prstGeom prst="rect">
            <a:avLst/>
          </a:prstGeom>
        </p:spPr>
        <p:txBody>
          <a:bodyPr wrap="none">
            <a:spAutoFit/>
          </a:bodyPr>
          <a:lstStyle/>
          <a:p>
            <a:pPr>
              <a:spcBef>
                <a:spcPct val="50000"/>
              </a:spcBef>
            </a:pPr>
            <a:r>
              <a:rPr lang="en-US" altLang="zh-CN" sz="2500" b="1" dirty="0">
                <a:solidFill>
                  <a:srgbClr val="FF0000"/>
                </a:solidFill>
                <a:ea typeface="楷体_GB2312" pitchFamily="49" charset="-122"/>
              </a:rPr>
              <a:t>(</a:t>
            </a:r>
            <a:r>
              <a:rPr lang="zh-CN" altLang="en-US" sz="2500" b="1" dirty="0">
                <a:solidFill>
                  <a:srgbClr val="FF0000"/>
                </a:solidFill>
                <a:ea typeface="楷体_GB2312" pitchFamily="49" charset="-122"/>
              </a:rPr>
              <a:t>正着写正着念</a:t>
            </a:r>
            <a:r>
              <a:rPr lang="en-US" altLang="zh-CN" sz="2500" b="1" dirty="0">
                <a:solidFill>
                  <a:srgbClr val="FF0000"/>
                </a:solidFill>
                <a:ea typeface="楷体_GB2312" pitchFamily="49" charset="-122"/>
              </a:rPr>
              <a:t>):</a:t>
            </a:r>
            <a:endParaRPr lang="en-US" altLang="zh-CN" sz="2500" dirty="0">
              <a:solidFill>
                <a:srgbClr val="FF0000"/>
              </a:solidFill>
              <a:ea typeface="楷体_GB2312" pitchFamily="49" charset="-122"/>
            </a:endParaRPr>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6887"/>
                                        </p:tgtEl>
                                        <p:attrNameLst>
                                          <p:attrName>style.visibility</p:attrName>
                                        </p:attrNameLst>
                                      </p:cBhvr>
                                      <p:to>
                                        <p:strVal val="visible"/>
                                      </p:to>
                                    </p:set>
                                    <p:animEffect transition="in" filter="box(in)">
                                      <p:cBhvr>
                                        <p:cTn id="7" dur="500"/>
                                        <p:tgtEl>
                                          <p:spTgt spid="36887"/>
                                        </p:tgtEl>
                                      </p:cBhvr>
                                    </p:animEffect>
                                  </p:childTnLst>
                                </p:cTn>
                              </p:par>
                            </p:childTnLst>
                          </p:cTn>
                        </p:par>
                        <p:par>
                          <p:cTn id="8" fill="hold">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36872"/>
                                        </p:tgtEl>
                                        <p:attrNameLst>
                                          <p:attrName>style.visibility</p:attrName>
                                        </p:attrNameLst>
                                      </p:cBhvr>
                                      <p:to>
                                        <p:strVal val="visible"/>
                                      </p:to>
                                    </p:set>
                                    <p:animEffect transition="in" filter="blinds(vertical)">
                                      <p:cBhvr>
                                        <p:cTn id="11" dur="500"/>
                                        <p:tgtEl>
                                          <p:spTgt spid="36872"/>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iterate type="lt">
                                    <p:tmPct val="350000"/>
                                  </p:iterate>
                                  <p:childTnLst>
                                    <p:set>
                                      <p:cBhvr>
                                        <p:cTn id="15" dur="1" fill="hold">
                                          <p:stCondLst>
                                            <p:cond delay="0"/>
                                          </p:stCondLst>
                                        </p:cTn>
                                        <p:tgtEl>
                                          <p:spTgt spid="36871">
                                            <p:txEl>
                                              <p:pRg st="0" end="0"/>
                                            </p:txEl>
                                          </p:spTgt>
                                        </p:tgtEl>
                                        <p:attrNameLst>
                                          <p:attrName>style.visibility</p:attrName>
                                        </p:attrNameLst>
                                      </p:cBhvr>
                                      <p:to>
                                        <p:strVal val="visible"/>
                                      </p:to>
                                    </p:set>
                                    <p:animEffect transition="in" filter="box(in)">
                                      <p:cBhvr>
                                        <p:cTn id="16" dur="75"/>
                                        <p:tgtEl>
                                          <p:spTgt spid="36871">
                                            <p:txEl>
                                              <p:pRg st="0" end="0"/>
                                            </p:txEl>
                                          </p:spTgt>
                                        </p:tgtEl>
                                      </p:cBhvr>
                                    </p:animEffect>
                                  </p:childTnLst>
                                  <p:subTnLst>
                                    <p:audio>
                                      <p:cMediaNode>
                                        <p:cTn display="0" masterRel="sameClick">
                                          <p:stCondLst>
                                            <p:cond evt="begin" delay="0">
                                              <p:tn val="14"/>
                                            </p:cond>
                                          </p:stCondLst>
                                          <p:endCondLst>
                                            <p:cond evt="onStopAudio" delay="0">
                                              <p:tgtEl>
                                                <p:sldTgt/>
                                              </p:tgtEl>
                                            </p:cond>
                                          </p:endCondLst>
                                        </p:cTn>
                                        <p:tgtEl>
                                          <p:sndTgt r:embed="rId3" name="start.wav"/>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iterate type="lt">
                                    <p:tmPct val="350000"/>
                                  </p:iterate>
                                  <p:childTnLst>
                                    <p:set>
                                      <p:cBhvr>
                                        <p:cTn id="20" dur="1" fill="hold">
                                          <p:stCondLst>
                                            <p:cond delay="0"/>
                                          </p:stCondLst>
                                        </p:cTn>
                                        <p:tgtEl>
                                          <p:spTgt spid="36871">
                                            <p:txEl>
                                              <p:pRg st="1" end="1"/>
                                            </p:txEl>
                                          </p:spTgt>
                                        </p:tgtEl>
                                        <p:attrNameLst>
                                          <p:attrName>style.visibility</p:attrName>
                                        </p:attrNameLst>
                                      </p:cBhvr>
                                      <p:to>
                                        <p:strVal val="visible"/>
                                      </p:to>
                                    </p:set>
                                    <p:animEffect transition="in" filter="box(in)">
                                      <p:cBhvr>
                                        <p:cTn id="21" dur="75"/>
                                        <p:tgtEl>
                                          <p:spTgt spid="36871">
                                            <p:txEl>
                                              <p:pRg st="1" end="1"/>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start.wav"/>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iterate type="lt">
                                    <p:tmPct val="350000"/>
                                  </p:iterate>
                                  <p:childTnLst>
                                    <p:set>
                                      <p:cBhvr>
                                        <p:cTn id="25" dur="1" fill="hold">
                                          <p:stCondLst>
                                            <p:cond delay="0"/>
                                          </p:stCondLst>
                                        </p:cTn>
                                        <p:tgtEl>
                                          <p:spTgt spid="36871">
                                            <p:txEl>
                                              <p:pRg st="2" end="2"/>
                                            </p:txEl>
                                          </p:spTgt>
                                        </p:tgtEl>
                                        <p:attrNameLst>
                                          <p:attrName>style.visibility</p:attrName>
                                        </p:attrNameLst>
                                      </p:cBhvr>
                                      <p:to>
                                        <p:strVal val="visible"/>
                                      </p:to>
                                    </p:set>
                                    <p:animEffect transition="in" filter="box(in)">
                                      <p:cBhvr>
                                        <p:cTn id="26" dur="75"/>
                                        <p:tgtEl>
                                          <p:spTgt spid="36871">
                                            <p:txEl>
                                              <p:pRg st="2" end="2"/>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3" name="start.wav"/>
                                        </p:tgtEl>
                                      </p:cMediaNode>
                                    </p:audio>
                                  </p:sub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iterate type="lt">
                                    <p:tmPct val="350000"/>
                                  </p:iterate>
                                  <p:childTnLst>
                                    <p:set>
                                      <p:cBhvr>
                                        <p:cTn id="30" dur="1" fill="hold">
                                          <p:stCondLst>
                                            <p:cond delay="0"/>
                                          </p:stCondLst>
                                        </p:cTn>
                                        <p:tgtEl>
                                          <p:spTgt spid="36871">
                                            <p:txEl>
                                              <p:pRg st="3" end="3"/>
                                            </p:txEl>
                                          </p:spTgt>
                                        </p:tgtEl>
                                        <p:attrNameLst>
                                          <p:attrName>style.visibility</p:attrName>
                                        </p:attrNameLst>
                                      </p:cBhvr>
                                      <p:to>
                                        <p:strVal val="visible"/>
                                      </p:to>
                                    </p:set>
                                    <p:animEffect transition="in" filter="box(in)">
                                      <p:cBhvr>
                                        <p:cTn id="31" dur="75"/>
                                        <p:tgtEl>
                                          <p:spTgt spid="36871">
                                            <p:txEl>
                                              <p:pRg st="3" end="3"/>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3" name="start.wav"/>
                                        </p:tgtEl>
                                      </p:cMediaNode>
                                    </p:audio>
                                  </p:sub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6874"/>
                                        </p:tgtEl>
                                        <p:attrNameLst>
                                          <p:attrName>style.visibility</p:attrName>
                                        </p:attrNameLst>
                                      </p:cBhvr>
                                      <p:to>
                                        <p:strVal val="visible"/>
                                      </p:to>
                                    </p:set>
                                    <p:animEffect transition="in" filter="wipe(left)">
                                      <p:cBhvr>
                                        <p:cTn id="36" dur="500"/>
                                        <p:tgtEl>
                                          <p:spTgt spid="36874"/>
                                        </p:tgtEl>
                                      </p:cBhvr>
                                    </p:animEffect>
                                  </p:childTnLst>
                                  <p:subTnLst>
                                    <p:audio>
                                      <p:cMediaNode>
                                        <p:cTn display="0" masterRel="sameClick">
                                          <p:stCondLst>
                                            <p:cond evt="begin" delay="0">
                                              <p:tn val="34"/>
                                            </p:cond>
                                          </p:stCondLst>
                                          <p:endCondLst>
                                            <p:cond evt="onStopAudio" delay="0">
                                              <p:tgtEl>
                                                <p:sldTgt/>
                                              </p:tgtEl>
                                            </p:cond>
                                          </p:endCondLst>
                                        </p:cTn>
                                        <p:tgtEl>
                                          <p:sndTgt r:embed="rId4" name="RECYC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build="p" autoUpdateAnimBg="0"/>
      <p:bldP spid="36872" grpId="0" autoUpdateAnimBg="0"/>
      <p:bldP spid="36874" grpId="0" autoUpdateAnimBg="0"/>
      <p:bldP spid="36887"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3308350" y="1460500"/>
            <a:ext cx="7392988" cy="2933700"/>
          </a:xfrm>
          <a:prstGeom prst="rect">
            <a:avLst/>
          </a:prstGeom>
          <a:noFill/>
          <a:ln w="12700" cap="sq">
            <a:noFill/>
            <a:miter lim="800000"/>
            <a:headEnd type="none" w="sm" len="sm"/>
            <a:tailEnd type="none" w="sm" len="sm"/>
          </a:ln>
        </p:spPr>
        <p:txBody>
          <a:bodyPr>
            <a:spAutoFit/>
          </a:bodyPr>
          <a:lstStyle/>
          <a:p>
            <a:pPr>
              <a:lnSpc>
                <a:spcPct val="125000"/>
              </a:lnSpc>
            </a:pPr>
            <a:r>
              <a:rPr lang="zh-CN" altLang="en-US" sz="2500" b="1" dirty="0">
                <a:ea typeface="楷体_GB2312" pitchFamily="49" charset="-122"/>
              </a:rPr>
              <a:t>四硫氰 </a:t>
            </a:r>
            <a:r>
              <a:rPr lang="en-US" altLang="zh-CN" sz="2500" b="1" dirty="0">
                <a:ea typeface="楷体_GB2312" pitchFamily="49" charset="-122"/>
              </a:rPr>
              <a:t>• </a:t>
            </a:r>
            <a:r>
              <a:rPr lang="zh-CN" altLang="en-US" sz="2500" b="1" dirty="0">
                <a:ea typeface="楷体_GB2312" pitchFamily="49" charset="-122"/>
              </a:rPr>
              <a:t>二氨合铬</a:t>
            </a:r>
            <a:r>
              <a:rPr lang="en-US" altLang="zh-CN" sz="2500" b="1" dirty="0">
                <a:ea typeface="楷体_GB2312" pitchFamily="49" charset="-122"/>
              </a:rPr>
              <a:t>(Ⅲ)</a:t>
            </a:r>
            <a:r>
              <a:rPr lang="zh-CN" altLang="en-US" sz="2500" b="1" dirty="0">
                <a:ea typeface="楷体_GB2312" pitchFamily="49" charset="-122"/>
              </a:rPr>
              <a:t>酸铵</a:t>
            </a:r>
          </a:p>
          <a:p>
            <a:pPr>
              <a:lnSpc>
                <a:spcPct val="125000"/>
              </a:lnSpc>
            </a:pPr>
            <a:r>
              <a:rPr lang="en-US" altLang="zh-CN" sz="2500" b="1" dirty="0">
                <a:ea typeface="楷体_GB2312" pitchFamily="49" charset="-122"/>
              </a:rPr>
              <a:t>[Cr(SCN)</a:t>
            </a:r>
            <a:r>
              <a:rPr lang="en-US" altLang="zh-CN" sz="2500" b="1" baseline="-25000" dirty="0">
                <a:ea typeface="楷体_GB2312" pitchFamily="49" charset="-122"/>
              </a:rPr>
              <a:t>4</a:t>
            </a: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2</a:t>
            </a:r>
            <a:r>
              <a:rPr lang="en-US" altLang="zh-CN" sz="2500" b="1" dirty="0">
                <a:ea typeface="楷体_GB2312" pitchFamily="49" charset="-122"/>
              </a:rPr>
              <a:t>]</a:t>
            </a:r>
            <a:r>
              <a:rPr lang="en-US" altLang="zh-CN" sz="2500" b="1" baseline="30000" dirty="0">
                <a:ea typeface="楷体_GB2312" pitchFamily="49" charset="-122"/>
              </a:rPr>
              <a:t>-</a:t>
            </a:r>
          </a:p>
          <a:p>
            <a:pPr>
              <a:lnSpc>
                <a:spcPct val="125000"/>
              </a:lnSpc>
            </a:pPr>
            <a:r>
              <a:rPr lang="en-US" altLang="zh-CN" sz="2500" b="1" dirty="0">
                <a:ea typeface="楷体_GB2312" pitchFamily="49" charset="-122"/>
              </a:rPr>
              <a:t>NH</a:t>
            </a:r>
            <a:r>
              <a:rPr lang="en-US" altLang="zh-CN" sz="2500" b="1" baseline="-25000" dirty="0">
                <a:ea typeface="楷体_GB2312" pitchFamily="49" charset="-122"/>
              </a:rPr>
              <a:t>4</a:t>
            </a:r>
            <a:r>
              <a:rPr lang="en-US" altLang="zh-CN" sz="2500" b="1" baseline="30000" dirty="0">
                <a:ea typeface="楷体_GB2312" pitchFamily="49" charset="-122"/>
              </a:rPr>
              <a:t>+</a:t>
            </a:r>
          </a:p>
          <a:p>
            <a:pPr>
              <a:lnSpc>
                <a:spcPct val="125000"/>
              </a:lnSpc>
            </a:pPr>
            <a:r>
              <a:rPr lang="en-US" altLang="zh-CN" sz="2500" b="1" dirty="0">
                <a:ea typeface="楷体_GB2312" pitchFamily="49" charset="-122"/>
              </a:rPr>
              <a:t>Cr</a:t>
            </a:r>
            <a:r>
              <a:rPr lang="en-US" altLang="zh-CN" sz="2500" b="1" baseline="30000" dirty="0">
                <a:ea typeface="楷体_GB2312" pitchFamily="49" charset="-122"/>
              </a:rPr>
              <a:t>3+ </a:t>
            </a:r>
          </a:p>
          <a:p>
            <a:pPr>
              <a:lnSpc>
                <a:spcPct val="125000"/>
              </a:lnSpc>
            </a:pPr>
            <a:r>
              <a:rPr lang="en-US" altLang="zh-CN" sz="2500" b="1" dirty="0">
                <a:ea typeface="楷体_GB2312" pitchFamily="49" charset="-122"/>
              </a:rPr>
              <a:t>SCN</a:t>
            </a:r>
            <a:r>
              <a:rPr lang="en-US" altLang="zh-CN" sz="2500" b="1" baseline="30000" dirty="0">
                <a:ea typeface="楷体_GB2312" pitchFamily="49" charset="-122"/>
              </a:rPr>
              <a:t>-</a:t>
            </a:r>
            <a:r>
              <a:rPr lang="en-US" altLang="zh-CN" sz="2500" b="1" dirty="0">
                <a:ea typeface="楷体_GB2312" pitchFamily="49" charset="-122"/>
              </a:rPr>
              <a:t>, NH</a:t>
            </a:r>
            <a:r>
              <a:rPr lang="en-US" altLang="zh-CN" sz="2500" b="1" baseline="-25000" dirty="0">
                <a:ea typeface="楷体_GB2312" pitchFamily="49" charset="-122"/>
              </a:rPr>
              <a:t>3  </a:t>
            </a:r>
            <a:endParaRPr lang="en-US" altLang="zh-CN" sz="2500" b="1" dirty="0">
              <a:ea typeface="楷体_GB2312" pitchFamily="49" charset="-122"/>
            </a:endParaRPr>
          </a:p>
          <a:p>
            <a:pPr>
              <a:lnSpc>
                <a:spcPct val="125000"/>
              </a:lnSpc>
            </a:pPr>
            <a:r>
              <a:rPr lang="en-US" altLang="zh-CN" sz="2500" b="1" dirty="0">
                <a:ea typeface="楷体_GB2312" pitchFamily="49" charset="-122"/>
              </a:rPr>
              <a:t>S, N </a:t>
            </a:r>
          </a:p>
        </p:txBody>
      </p:sp>
      <p:sp>
        <p:nvSpPr>
          <p:cNvPr id="57347" name="Rectangle 3"/>
          <p:cNvSpPr>
            <a:spLocks noChangeArrowheads="1"/>
          </p:cNvSpPr>
          <p:nvPr/>
        </p:nvSpPr>
        <p:spPr bwMode="auto">
          <a:xfrm>
            <a:off x="906463" y="1020763"/>
            <a:ext cx="4548187" cy="533400"/>
          </a:xfrm>
          <a:prstGeom prst="rect">
            <a:avLst/>
          </a:prstGeom>
          <a:noFill/>
          <a:ln w="9525">
            <a:noFill/>
            <a:miter lim="800000"/>
            <a:headEnd/>
            <a:tailEnd/>
          </a:ln>
        </p:spPr>
        <p:txBody>
          <a:bodyPr wrap="none" anchor="ctr">
            <a:spAutoFit/>
          </a:bodyPr>
          <a:lstStyle/>
          <a:p>
            <a:pPr>
              <a:lnSpc>
                <a:spcPct val="115000"/>
              </a:lnSpc>
            </a:pPr>
            <a:r>
              <a:rPr lang="zh-CN" altLang="en-US" sz="2500" b="1" dirty="0">
                <a:solidFill>
                  <a:schemeClr val="tx2"/>
                </a:solidFill>
                <a:ea typeface="楷体_GB2312" pitchFamily="49" charset="-122"/>
              </a:rPr>
              <a:t>试试看</a:t>
            </a:r>
            <a:r>
              <a:rPr lang="en-US" altLang="zh-CN" sz="2500" b="1" dirty="0">
                <a:solidFill>
                  <a:schemeClr val="tx2"/>
                </a:solidFill>
                <a:ea typeface="楷体_GB2312" pitchFamily="49" charset="-122"/>
              </a:rPr>
              <a:t>1:</a:t>
            </a:r>
            <a:r>
              <a:rPr lang="en-US" altLang="zh-CN" sz="2500" b="1" dirty="0">
                <a:ea typeface="楷体_GB2312" pitchFamily="49" charset="-122"/>
              </a:rPr>
              <a:t> NH</a:t>
            </a:r>
            <a:r>
              <a:rPr lang="en-US" altLang="zh-CN" sz="2500" b="1" baseline="-25000" dirty="0">
                <a:ea typeface="楷体_GB2312" pitchFamily="49" charset="-122"/>
              </a:rPr>
              <a:t>4</a:t>
            </a:r>
            <a:r>
              <a:rPr lang="en-US" altLang="zh-CN" sz="2500" b="1" dirty="0">
                <a:ea typeface="楷体_GB2312" pitchFamily="49" charset="-122"/>
              </a:rPr>
              <a:t>[Cr(SCN)</a:t>
            </a:r>
            <a:r>
              <a:rPr lang="en-US" altLang="zh-CN" sz="2500" b="1" baseline="-25000" dirty="0">
                <a:ea typeface="楷体_GB2312" pitchFamily="49" charset="-122"/>
              </a:rPr>
              <a:t>4</a:t>
            </a: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2</a:t>
            </a:r>
            <a:r>
              <a:rPr lang="en-US" altLang="zh-CN" sz="2500" b="1" dirty="0">
                <a:ea typeface="楷体_GB2312" pitchFamily="49" charset="-122"/>
              </a:rPr>
              <a:t>]</a:t>
            </a:r>
            <a:endParaRPr lang="en-US" altLang="zh-CN" sz="2500" b="1" baseline="-25000" dirty="0">
              <a:ea typeface="楷体_GB2312" pitchFamily="49" charset="-122"/>
            </a:endParaRPr>
          </a:p>
        </p:txBody>
      </p:sp>
      <p:sp>
        <p:nvSpPr>
          <p:cNvPr id="57348" name="Rectangle 4"/>
          <p:cNvSpPr>
            <a:spLocks noChangeArrowheads="1"/>
          </p:cNvSpPr>
          <p:nvPr/>
        </p:nvSpPr>
        <p:spPr bwMode="auto">
          <a:xfrm>
            <a:off x="906463" y="1460500"/>
            <a:ext cx="1581150" cy="3409950"/>
          </a:xfrm>
          <a:prstGeom prst="rect">
            <a:avLst/>
          </a:prstGeom>
          <a:noFill/>
          <a:ln w="9525">
            <a:noFill/>
            <a:miter lim="800000"/>
            <a:headEnd/>
            <a:tailEnd/>
          </a:ln>
        </p:spPr>
        <p:txBody>
          <a:bodyPr wrap="none" anchor="ctr">
            <a:spAutoFit/>
          </a:bodyPr>
          <a:lstStyle/>
          <a:p>
            <a:pPr>
              <a:lnSpc>
                <a:spcPct val="125000"/>
              </a:lnSpc>
            </a:pPr>
            <a:r>
              <a:rPr lang="zh-CN" altLang="en-US" sz="2500" b="1">
                <a:ea typeface="楷体_GB2312" pitchFamily="49" charset="-122"/>
              </a:rPr>
              <a:t>命名：</a:t>
            </a:r>
          </a:p>
          <a:p>
            <a:pPr>
              <a:lnSpc>
                <a:spcPct val="125000"/>
              </a:lnSpc>
            </a:pPr>
            <a:r>
              <a:rPr lang="zh-CN" altLang="en-US" sz="2500" b="1">
                <a:ea typeface="楷体_GB2312" pitchFamily="49" charset="-122"/>
              </a:rPr>
              <a:t>内界</a:t>
            </a:r>
            <a:r>
              <a:rPr lang="en-US" altLang="zh-CN" sz="2500" b="1">
                <a:ea typeface="楷体_GB2312" pitchFamily="49" charset="-122"/>
              </a:rPr>
              <a:t>:</a:t>
            </a:r>
          </a:p>
          <a:p>
            <a:pPr>
              <a:lnSpc>
                <a:spcPct val="125000"/>
              </a:lnSpc>
            </a:pPr>
            <a:r>
              <a:rPr lang="zh-CN" altLang="en-US" sz="2500" b="1">
                <a:ea typeface="楷体_GB2312" pitchFamily="49" charset="-122"/>
              </a:rPr>
              <a:t>外界</a:t>
            </a:r>
            <a:r>
              <a:rPr lang="en-US" altLang="zh-CN" sz="2500" b="1">
                <a:ea typeface="楷体_GB2312" pitchFamily="49" charset="-122"/>
              </a:rPr>
              <a:t>: </a:t>
            </a:r>
          </a:p>
          <a:p>
            <a:pPr>
              <a:lnSpc>
                <a:spcPct val="125000"/>
              </a:lnSpc>
            </a:pPr>
            <a:r>
              <a:rPr lang="zh-CN" altLang="en-US" sz="2500" b="1">
                <a:ea typeface="楷体_GB2312" pitchFamily="49" charset="-122"/>
              </a:rPr>
              <a:t>形成体</a:t>
            </a:r>
            <a:r>
              <a:rPr lang="en-US" altLang="zh-CN" sz="2500" b="1">
                <a:ea typeface="楷体_GB2312" pitchFamily="49" charset="-122"/>
              </a:rPr>
              <a:t>:</a:t>
            </a:r>
          </a:p>
          <a:p>
            <a:pPr>
              <a:lnSpc>
                <a:spcPct val="125000"/>
              </a:lnSpc>
            </a:pPr>
            <a:r>
              <a:rPr lang="zh-CN" altLang="en-US" sz="2500" b="1">
                <a:ea typeface="楷体_GB2312" pitchFamily="49" charset="-122"/>
              </a:rPr>
              <a:t>配位体</a:t>
            </a:r>
            <a:r>
              <a:rPr lang="en-US" altLang="zh-CN" sz="2500" b="1">
                <a:ea typeface="楷体_GB2312" pitchFamily="49" charset="-122"/>
              </a:rPr>
              <a:t>:</a:t>
            </a:r>
          </a:p>
          <a:p>
            <a:pPr>
              <a:lnSpc>
                <a:spcPct val="125000"/>
              </a:lnSpc>
            </a:pPr>
            <a:r>
              <a:rPr lang="zh-CN" altLang="en-US" sz="2500" b="1">
                <a:ea typeface="楷体_GB2312" pitchFamily="49" charset="-122"/>
              </a:rPr>
              <a:t>配位原子</a:t>
            </a:r>
            <a:r>
              <a:rPr lang="en-US" altLang="zh-CN" sz="2500" b="1">
                <a:ea typeface="楷体_GB2312" pitchFamily="49" charset="-122"/>
              </a:rPr>
              <a:t>:</a:t>
            </a:r>
          </a:p>
          <a:p>
            <a:pPr>
              <a:lnSpc>
                <a:spcPct val="125000"/>
              </a:lnSpc>
            </a:pPr>
            <a:r>
              <a:rPr lang="zh-CN" altLang="en-US" sz="2500" b="1">
                <a:ea typeface="楷体_GB2312" pitchFamily="49" charset="-122"/>
              </a:rPr>
              <a:t>配位数</a:t>
            </a:r>
            <a:r>
              <a:rPr lang="en-US" altLang="zh-CN" sz="2500" b="1">
                <a:ea typeface="楷体_GB2312" pitchFamily="49" charset="-122"/>
              </a:rPr>
              <a:t>:</a:t>
            </a:r>
          </a:p>
        </p:txBody>
      </p:sp>
      <p:sp>
        <p:nvSpPr>
          <p:cNvPr id="57349" name="Rectangle 5"/>
          <p:cNvSpPr>
            <a:spLocks noChangeArrowheads="1"/>
          </p:cNvSpPr>
          <p:nvPr/>
        </p:nvSpPr>
        <p:spPr bwMode="auto">
          <a:xfrm>
            <a:off x="3308350" y="4383095"/>
            <a:ext cx="344488" cy="528637"/>
          </a:xfrm>
          <a:prstGeom prst="rect">
            <a:avLst/>
          </a:prstGeom>
          <a:noFill/>
          <a:ln w="9525">
            <a:noFill/>
            <a:miter lim="800000"/>
            <a:headEnd/>
            <a:tailEnd/>
          </a:ln>
        </p:spPr>
        <p:txBody>
          <a:bodyPr wrap="none" anchor="ctr">
            <a:spAutoFit/>
          </a:bodyPr>
          <a:lstStyle/>
          <a:p>
            <a:pPr algn="ctr">
              <a:lnSpc>
                <a:spcPct val="125000"/>
              </a:lnSpc>
            </a:pPr>
            <a:r>
              <a:rPr lang="en-US" altLang="zh-CN" sz="2500" b="1" dirty="0">
                <a:ea typeface="楷体_GB2312" pitchFamily="49" charset="-122"/>
              </a:rPr>
              <a:t>6</a:t>
            </a:r>
          </a:p>
        </p:txBody>
      </p:sp>
      <p:sp>
        <p:nvSpPr>
          <p:cNvPr id="24582" name="Rectangle 11"/>
          <p:cNvSpPr>
            <a:spLocks noGrp="1" noChangeArrowheads="1"/>
          </p:cNvSpPr>
          <p:nvPr>
            <p:ph type="title"/>
          </p:nvPr>
        </p:nvSpPr>
        <p:spPr>
          <a:xfrm>
            <a:off x="576263" y="258763"/>
            <a:ext cx="10369550" cy="477837"/>
          </a:xfrm>
          <a:noFill/>
        </p:spPr>
        <p:txBody>
          <a:bodyPr/>
          <a:lstStyle/>
          <a:p>
            <a:r>
              <a:rPr lang="en-US" altLang="zh-CN" sz="2500">
                <a:ea typeface="黑体" pitchFamily="49" charset="-122"/>
              </a:rPr>
              <a:t>6.1.3</a:t>
            </a:r>
            <a:r>
              <a:rPr lang="zh-CN" altLang="en-US" sz="2500">
                <a:ea typeface="黑体" pitchFamily="49" charset="-122"/>
              </a:rPr>
              <a:t>配合物的命名</a:t>
            </a:r>
            <a:endParaRPr lang="zh-CN" altLang="en-US" sz="2500" b="0">
              <a:solidFill>
                <a:srgbClr val="0000FF"/>
              </a:solidFill>
              <a:ea typeface="黑体" pitchFamily="49" charset="-122"/>
            </a:endParaRPr>
          </a:p>
        </p:txBody>
      </p:sp>
      <p:sp>
        <p:nvSpPr>
          <p:cNvPr id="24583" name="Oval 27" descr="图片9">
            <a:hlinkClick r:id="" action="ppaction://hlinkshowjump?jump=nextslide"/>
          </p:cNvPr>
          <p:cNvSpPr>
            <a:spLocks noChangeAspect="1" noChangeArrowheads="1"/>
          </p:cNvSpPr>
          <p:nvPr/>
        </p:nvSpPr>
        <p:spPr bwMode="gray">
          <a:xfrm>
            <a:off x="11161713" y="5597525"/>
            <a:ext cx="360362" cy="360363"/>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a:p>
        </p:txBody>
      </p:sp>
      <p:sp>
        <p:nvSpPr>
          <p:cNvPr id="24584" name="Oval 26" descr="图片8">
            <a:hlinkClick r:id="" action="ppaction://hlinkshowjump?jump=previousslide"/>
          </p:cNvPr>
          <p:cNvSpPr>
            <a:spLocks noChangeAspect="1" noChangeArrowheads="1"/>
          </p:cNvSpPr>
          <p:nvPr/>
        </p:nvSpPr>
        <p:spPr bwMode="gray">
          <a:xfrm>
            <a:off x="0" y="5526088"/>
            <a:ext cx="360363" cy="360362"/>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7347"/>
                                        </p:tgtEl>
                                        <p:attrNameLst>
                                          <p:attrName>style.visibility</p:attrName>
                                        </p:attrNameLst>
                                      </p:cBhvr>
                                      <p:to>
                                        <p:strVal val="visible"/>
                                      </p:to>
                                    </p:set>
                                    <p:animEffect transition="in" filter="box(in)">
                                      <p:cBhvr>
                                        <p:cTn id="7" dur="500"/>
                                        <p:tgtEl>
                                          <p:spTgt spid="5734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7348"/>
                                        </p:tgtEl>
                                        <p:attrNameLst>
                                          <p:attrName>style.visibility</p:attrName>
                                        </p:attrNameLst>
                                      </p:cBhvr>
                                      <p:to>
                                        <p:strVal val="visible"/>
                                      </p:to>
                                    </p:set>
                                    <p:animEffect transition="in" filter="box(in)">
                                      <p:cBhvr>
                                        <p:cTn id="12" dur="500"/>
                                        <p:tgtEl>
                                          <p:spTgt spid="5734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iterate type="lt">
                                    <p:tmPct val="350000"/>
                                  </p:iterate>
                                  <p:childTnLst>
                                    <p:set>
                                      <p:cBhvr>
                                        <p:cTn id="16" dur="1" fill="hold">
                                          <p:stCondLst>
                                            <p:cond delay="0"/>
                                          </p:stCondLst>
                                        </p:cTn>
                                        <p:tgtEl>
                                          <p:spTgt spid="57346">
                                            <p:txEl>
                                              <p:pRg st="0" end="0"/>
                                            </p:txEl>
                                          </p:spTgt>
                                        </p:tgtEl>
                                        <p:attrNameLst>
                                          <p:attrName>style.visibility</p:attrName>
                                        </p:attrNameLst>
                                      </p:cBhvr>
                                      <p:to>
                                        <p:strVal val="visible"/>
                                      </p:to>
                                    </p:set>
                                    <p:animEffect transition="in" filter="box(in)">
                                      <p:cBhvr>
                                        <p:cTn id="17" dur="75"/>
                                        <p:tgtEl>
                                          <p:spTgt spid="57346">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start.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iterate type="lt">
                                    <p:tmPct val="350000"/>
                                  </p:iterate>
                                  <p:childTnLst>
                                    <p:set>
                                      <p:cBhvr>
                                        <p:cTn id="21" dur="1" fill="hold">
                                          <p:stCondLst>
                                            <p:cond delay="0"/>
                                          </p:stCondLst>
                                        </p:cTn>
                                        <p:tgtEl>
                                          <p:spTgt spid="57346">
                                            <p:txEl>
                                              <p:pRg st="1" end="1"/>
                                            </p:txEl>
                                          </p:spTgt>
                                        </p:tgtEl>
                                        <p:attrNameLst>
                                          <p:attrName>style.visibility</p:attrName>
                                        </p:attrNameLst>
                                      </p:cBhvr>
                                      <p:to>
                                        <p:strVal val="visible"/>
                                      </p:to>
                                    </p:set>
                                    <p:animEffect transition="in" filter="box(in)">
                                      <p:cBhvr>
                                        <p:cTn id="22" dur="75"/>
                                        <p:tgtEl>
                                          <p:spTgt spid="57346">
                                            <p:txEl>
                                              <p:pRg st="1" end="1"/>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start.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iterate type="lt">
                                    <p:tmPct val="350000"/>
                                  </p:iterate>
                                  <p:childTnLst>
                                    <p:set>
                                      <p:cBhvr>
                                        <p:cTn id="26" dur="1" fill="hold">
                                          <p:stCondLst>
                                            <p:cond delay="0"/>
                                          </p:stCondLst>
                                        </p:cTn>
                                        <p:tgtEl>
                                          <p:spTgt spid="57346">
                                            <p:txEl>
                                              <p:pRg st="2" end="2"/>
                                            </p:txEl>
                                          </p:spTgt>
                                        </p:tgtEl>
                                        <p:attrNameLst>
                                          <p:attrName>style.visibility</p:attrName>
                                        </p:attrNameLst>
                                      </p:cBhvr>
                                      <p:to>
                                        <p:strVal val="visible"/>
                                      </p:to>
                                    </p:set>
                                    <p:animEffect transition="in" filter="box(in)">
                                      <p:cBhvr>
                                        <p:cTn id="27" dur="75"/>
                                        <p:tgtEl>
                                          <p:spTgt spid="57346">
                                            <p:txEl>
                                              <p:pRg st="2" end="2"/>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start.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iterate type="lt">
                                    <p:tmPct val="350000"/>
                                  </p:iterate>
                                  <p:childTnLst>
                                    <p:set>
                                      <p:cBhvr>
                                        <p:cTn id="31" dur="1" fill="hold">
                                          <p:stCondLst>
                                            <p:cond delay="0"/>
                                          </p:stCondLst>
                                        </p:cTn>
                                        <p:tgtEl>
                                          <p:spTgt spid="57346">
                                            <p:txEl>
                                              <p:pRg st="3" end="3"/>
                                            </p:txEl>
                                          </p:spTgt>
                                        </p:tgtEl>
                                        <p:attrNameLst>
                                          <p:attrName>style.visibility</p:attrName>
                                        </p:attrNameLst>
                                      </p:cBhvr>
                                      <p:to>
                                        <p:strVal val="visible"/>
                                      </p:to>
                                    </p:set>
                                    <p:animEffect transition="in" filter="box(in)">
                                      <p:cBhvr>
                                        <p:cTn id="32" dur="75"/>
                                        <p:tgtEl>
                                          <p:spTgt spid="57346">
                                            <p:txEl>
                                              <p:pRg st="3" end="3"/>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start.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iterate type="lt">
                                    <p:tmPct val="350000"/>
                                  </p:iterate>
                                  <p:childTnLst>
                                    <p:set>
                                      <p:cBhvr>
                                        <p:cTn id="36" dur="1" fill="hold">
                                          <p:stCondLst>
                                            <p:cond delay="0"/>
                                          </p:stCondLst>
                                        </p:cTn>
                                        <p:tgtEl>
                                          <p:spTgt spid="57346">
                                            <p:txEl>
                                              <p:pRg st="4" end="4"/>
                                            </p:txEl>
                                          </p:spTgt>
                                        </p:tgtEl>
                                        <p:attrNameLst>
                                          <p:attrName>style.visibility</p:attrName>
                                        </p:attrNameLst>
                                      </p:cBhvr>
                                      <p:to>
                                        <p:strVal val="visible"/>
                                      </p:to>
                                    </p:set>
                                    <p:animEffect transition="in" filter="box(in)">
                                      <p:cBhvr>
                                        <p:cTn id="37" dur="75"/>
                                        <p:tgtEl>
                                          <p:spTgt spid="57346">
                                            <p:txEl>
                                              <p:pRg st="4" end="4"/>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start.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iterate type="lt">
                                    <p:tmPct val="350000"/>
                                  </p:iterate>
                                  <p:childTnLst>
                                    <p:set>
                                      <p:cBhvr>
                                        <p:cTn id="41" dur="1" fill="hold">
                                          <p:stCondLst>
                                            <p:cond delay="0"/>
                                          </p:stCondLst>
                                        </p:cTn>
                                        <p:tgtEl>
                                          <p:spTgt spid="57346">
                                            <p:txEl>
                                              <p:pRg st="5" end="5"/>
                                            </p:txEl>
                                          </p:spTgt>
                                        </p:tgtEl>
                                        <p:attrNameLst>
                                          <p:attrName>style.visibility</p:attrName>
                                        </p:attrNameLst>
                                      </p:cBhvr>
                                      <p:to>
                                        <p:strVal val="visible"/>
                                      </p:to>
                                    </p:set>
                                    <p:animEffect transition="in" filter="box(in)">
                                      <p:cBhvr>
                                        <p:cTn id="42" dur="75"/>
                                        <p:tgtEl>
                                          <p:spTgt spid="57346">
                                            <p:txEl>
                                              <p:pRg st="5" end="5"/>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start.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57349"/>
                                        </p:tgtEl>
                                        <p:attrNameLst>
                                          <p:attrName>style.visibility</p:attrName>
                                        </p:attrNameLst>
                                      </p:cBhvr>
                                      <p:to>
                                        <p:strVal val="visible"/>
                                      </p:to>
                                    </p:set>
                                    <p:animEffect transition="in" filter="box(in)">
                                      <p:cBhvr>
                                        <p:cTn id="47" dur="500"/>
                                        <p:tgtEl>
                                          <p:spTgt spid="57349"/>
                                        </p:tgtEl>
                                      </p:cBhvr>
                                    </p:animEffect>
                                  </p:childTnLst>
                                  <p:subTnLst>
                                    <p:audio>
                                      <p:cMediaNode>
                                        <p:cTn display="0" masterRel="sameClick">
                                          <p:stCondLst>
                                            <p:cond evt="begin" delay="0">
                                              <p:tn val="45"/>
                                            </p:cond>
                                          </p:stCondLst>
                                          <p:endCondLst>
                                            <p:cond evt="onStopAudio" delay="0">
                                              <p:tgtEl>
                                                <p:sldTgt/>
                                              </p:tgtEl>
                                            </p:cond>
                                          </p:endCondLst>
                                        </p:cTn>
                                        <p:tgtEl>
                                          <p:sndTgt r:embed="rId3" name="RECYC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uild="p" autoUpdateAnimBg="0"/>
      <p:bldP spid="57347" grpId="0" autoUpdateAnimBg="0"/>
      <p:bldP spid="57348" grpId="0" autoUpdateAnimBg="0"/>
      <p:bldP spid="57349"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3322120" y="1636713"/>
            <a:ext cx="4383133" cy="2991845"/>
          </a:xfrm>
          <a:prstGeom prst="rect">
            <a:avLst/>
          </a:prstGeom>
          <a:noFill/>
          <a:ln w="12700" cap="sq">
            <a:noFill/>
            <a:miter lim="800000"/>
            <a:headEnd type="none" w="sm" len="sm"/>
            <a:tailEnd type="none" w="sm" len="sm"/>
          </a:ln>
        </p:spPr>
        <p:txBody>
          <a:bodyPr wrap="square">
            <a:spAutoFit/>
          </a:bodyPr>
          <a:lstStyle/>
          <a:p>
            <a:pPr>
              <a:lnSpc>
                <a:spcPct val="133000"/>
              </a:lnSpc>
            </a:pPr>
            <a:r>
              <a:rPr lang="zh-CN" altLang="en-US" sz="2500" b="1" dirty="0">
                <a:ea typeface="楷体_GB2312" pitchFamily="49" charset="-122"/>
              </a:rPr>
              <a:t>四氯合铂</a:t>
            </a:r>
            <a:r>
              <a:rPr lang="en-US" altLang="zh-CN" sz="2500" b="1" dirty="0">
                <a:ea typeface="楷体_GB2312" pitchFamily="49" charset="-122"/>
              </a:rPr>
              <a:t>(Ⅱ)</a:t>
            </a:r>
            <a:r>
              <a:rPr lang="zh-CN" altLang="en-US" sz="2500" b="1" dirty="0">
                <a:ea typeface="楷体_GB2312" pitchFamily="49" charset="-122"/>
              </a:rPr>
              <a:t>酸四氨合铜</a:t>
            </a:r>
            <a:r>
              <a:rPr lang="en-US" altLang="zh-CN" sz="2500" b="1" dirty="0">
                <a:ea typeface="楷体_GB2312" pitchFamily="49" charset="-122"/>
              </a:rPr>
              <a:t>(Ⅱ)</a:t>
            </a:r>
          </a:p>
          <a:p>
            <a:pPr>
              <a:lnSpc>
                <a:spcPct val="133000"/>
              </a:lnSpc>
            </a:pPr>
            <a:r>
              <a:rPr lang="en-US" altLang="zh-CN" sz="2500" b="1" dirty="0">
                <a:ea typeface="楷体_GB2312" pitchFamily="49" charset="-122"/>
              </a:rPr>
              <a:t>[Cu(NH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4</a:t>
            </a:r>
            <a:r>
              <a:rPr lang="en-US" altLang="zh-CN" sz="2500" b="1" dirty="0">
                <a:ea typeface="楷体_GB2312" pitchFamily="49" charset="-122"/>
              </a:rPr>
              <a:t>]</a:t>
            </a:r>
            <a:r>
              <a:rPr lang="en-US" altLang="zh-CN" sz="2500" b="1" baseline="30000" dirty="0">
                <a:ea typeface="楷体_GB2312" pitchFamily="49" charset="-122"/>
              </a:rPr>
              <a:t>2+</a:t>
            </a:r>
            <a:r>
              <a:rPr lang="en-US" altLang="zh-CN" sz="2500" b="1" dirty="0">
                <a:ea typeface="楷体_GB2312" pitchFamily="49" charset="-122"/>
              </a:rPr>
              <a:t>, [PtCl</a:t>
            </a:r>
            <a:r>
              <a:rPr lang="en-US" altLang="zh-CN" sz="2500" b="1" baseline="-25000" dirty="0">
                <a:ea typeface="楷体_GB2312" pitchFamily="49" charset="-122"/>
              </a:rPr>
              <a:t>4</a:t>
            </a:r>
            <a:r>
              <a:rPr lang="en-US" altLang="zh-CN" sz="2500" b="1" dirty="0">
                <a:ea typeface="楷体_GB2312" pitchFamily="49" charset="-122"/>
              </a:rPr>
              <a:t>]</a:t>
            </a:r>
            <a:r>
              <a:rPr lang="en-US" altLang="zh-CN" sz="2500" b="1" baseline="30000" dirty="0">
                <a:ea typeface="楷体_GB2312" pitchFamily="49" charset="-122"/>
              </a:rPr>
              <a:t>2-</a:t>
            </a:r>
          </a:p>
          <a:p>
            <a:pPr>
              <a:lnSpc>
                <a:spcPct val="133000"/>
              </a:lnSpc>
            </a:pPr>
            <a:endParaRPr lang="en-US" altLang="zh-CN" sz="2500" b="1" baseline="30000" dirty="0">
              <a:ea typeface="楷体_GB2312" pitchFamily="49" charset="-122"/>
            </a:endParaRPr>
          </a:p>
          <a:p>
            <a:pPr>
              <a:lnSpc>
                <a:spcPct val="133000"/>
              </a:lnSpc>
            </a:pPr>
            <a:r>
              <a:rPr lang="en-US" altLang="zh-CN" sz="2500" b="1" dirty="0">
                <a:ea typeface="楷体_GB2312" pitchFamily="49" charset="-122"/>
              </a:rPr>
              <a:t>Cu</a:t>
            </a:r>
            <a:r>
              <a:rPr lang="en-US" altLang="zh-CN" sz="2500" b="1" baseline="30000" dirty="0">
                <a:ea typeface="楷体_GB2312" pitchFamily="49" charset="-122"/>
              </a:rPr>
              <a:t>2+</a:t>
            </a:r>
            <a:r>
              <a:rPr lang="en-US" altLang="zh-CN" sz="2500" b="1" dirty="0">
                <a:ea typeface="楷体_GB2312" pitchFamily="49" charset="-122"/>
              </a:rPr>
              <a:t>, Pt</a:t>
            </a:r>
            <a:r>
              <a:rPr lang="en-US" altLang="zh-CN" sz="2500" b="1" baseline="30000" dirty="0">
                <a:ea typeface="楷体_GB2312" pitchFamily="49" charset="-122"/>
              </a:rPr>
              <a:t>2+</a:t>
            </a:r>
          </a:p>
          <a:p>
            <a:pPr>
              <a:lnSpc>
                <a:spcPct val="133000"/>
              </a:lnSpc>
            </a:pP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 Cl</a:t>
            </a:r>
            <a:r>
              <a:rPr lang="en-US" altLang="zh-CN" sz="2500" b="1" baseline="30000" dirty="0">
                <a:ea typeface="楷体_GB2312" pitchFamily="49" charset="-122"/>
              </a:rPr>
              <a:t>-</a:t>
            </a:r>
            <a:r>
              <a:rPr lang="en-US" altLang="zh-CN" sz="2500" b="1" baseline="-25000" dirty="0">
                <a:ea typeface="楷体_GB2312" pitchFamily="49" charset="-122"/>
              </a:rPr>
              <a:t>  </a:t>
            </a:r>
            <a:endParaRPr lang="en-US" altLang="zh-CN" sz="2500" b="1" dirty="0">
              <a:ea typeface="楷体_GB2312" pitchFamily="49" charset="-122"/>
            </a:endParaRPr>
          </a:p>
          <a:p>
            <a:pPr>
              <a:lnSpc>
                <a:spcPct val="133000"/>
              </a:lnSpc>
            </a:pPr>
            <a:r>
              <a:rPr lang="en-US" altLang="zh-CN" sz="2500" b="1" dirty="0">
                <a:ea typeface="楷体_GB2312" pitchFamily="49" charset="-122"/>
              </a:rPr>
              <a:t>N, Cl </a:t>
            </a:r>
          </a:p>
        </p:txBody>
      </p:sp>
      <p:sp>
        <p:nvSpPr>
          <p:cNvPr id="58371" name="Rectangle 3"/>
          <p:cNvSpPr>
            <a:spLocks noChangeArrowheads="1"/>
          </p:cNvSpPr>
          <p:nvPr/>
        </p:nvSpPr>
        <p:spPr bwMode="auto">
          <a:xfrm>
            <a:off x="906463" y="1141413"/>
            <a:ext cx="3978275" cy="495300"/>
          </a:xfrm>
          <a:prstGeom prst="rect">
            <a:avLst/>
          </a:prstGeom>
          <a:noFill/>
          <a:ln w="9525">
            <a:noFill/>
            <a:miter lim="800000"/>
            <a:headEnd/>
            <a:tailEnd/>
          </a:ln>
        </p:spPr>
        <p:txBody>
          <a:bodyPr wrap="none" anchor="ctr">
            <a:spAutoFit/>
          </a:bodyPr>
          <a:lstStyle/>
          <a:p>
            <a:pPr>
              <a:lnSpc>
                <a:spcPct val="115000"/>
              </a:lnSpc>
            </a:pPr>
            <a:r>
              <a:rPr lang="zh-CN" altLang="en-US" sz="2500" b="1" dirty="0">
                <a:solidFill>
                  <a:schemeClr val="tx2"/>
                </a:solidFill>
                <a:ea typeface="楷体_GB2312" pitchFamily="49" charset="-122"/>
              </a:rPr>
              <a:t>试试看</a:t>
            </a:r>
            <a:r>
              <a:rPr lang="en-US" altLang="zh-CN" sz="2500" b="1" dirty="0">
                <a:solidFill>
                  <a:schemeClr val="tx2"/>
                </a:solidFill>
                <a:ea typeface="楷体_GB2312" pitchFamily="49" charset="-122"/>
              </a:rPr>
              <a:t>2:</a:t>
            </a:r>
            <a:r>
              <a:rPr lang="en-US" altLang="zh-CN" sz="2500" b="1" dirty="0">
                <a:ea typeface="楷体_GB2312" pitchFamily="49" charset="-122"/>
              </a:rPr>
              <a:t> [Cu(NH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baseline="-25000" dirty="0">
                <a:ea typeface="楷体_GB2312" pitchFamily="49" charset="-122"/>
              </a:rPr>
              <a:t>4</a:t>
            </a:r>
            <a:r>
              <a:rPr lang="en-US" altLang="zh-CN" sz="2500" b="1" dirty="0">
                <a:ea typeface="楷体_GB2312" pitchFamily="49" charset="-122"/>
              </a:rPr>
              <a:t>][PtCl</a:t>
            </a:r>
            <a:r>
              <a:rPr lang="en-US" altLang="zh-CN" sz="2500" b="1" baseline="-25000" dirty="0">
                <a:ea typeface="楷体_GB2312" pitchFamily="49" charset="-122"/>
              </a:rPr>
              <a:t>4</a:t>
            </a:r>
            <a:r>
              <a:rPr lang="en-US" altLang="zh-CN" sz="2500" b="1" dirty="0">
                <a:ea typeface="楷体_GB2312" pitchFamily="49" charset="-122"/>
              </a:rPr>
              <a:t>]</a:t>
            </a:r>
            <a:endParaRPr lang="en-US" altLang="zh-CN" sz="2500" b="1" baseline="-25000" dirty="0">
              <a:ea typeface="楷体_GB2312" pitchFamily="49" charset="-122"/>
            </a:endParaRPr>
          </a:p>
        </p:txBody>
      </p:sp>
      <p:sp>
        <p:nvSpPr>
          <p:cNvPr id="58372" name="Rectangle 4"/>
          <p:cNvSpPr>
            <a:spLocks noChangeArrowheads="1"/>
          </p:cNvSpPr>
          <p:nvPr/>
        </p:nvSpPr>
        <p:spPr bwMode="auto">
          <a:xfrm>
            <a:off x="906463" y="1582738"/>
            <a:ext cx="1581150" cy="3409950"/>
          </a:xfrm>
          <a:prstGeom prst="rect">
            <a:avLst/>
          </a:prstGeom>
          <a:noFill/>
          <a:ln w="9525">
            <a:noFill/>
            <a:miter lim="800000"/>
            <a:headEnd/>
            <a:tailEnd/>
          </a:ln>
        </p:spPr>
        <p:txBody>
          <a:bodyPr wrap="none" anchor="ctr">
            <a:spAutoFit/>
          </a:bodyPr>
          <a:lstStyle/>
          <a:p>
            <a:pPr>
              <a:lnSpc>
                <a:spcPct val="125000"/>
              </a:lnSpc>
            </a:pPr>
            <a:r>
              <a:rPr lang="zh-CN" altLang="en-US" sz="2500" b="1">
                <a:ea typeface="楷体_GB2312" pitchFamily="49" charset="-122"/>
              </a:rPr>
              <a:t>命名：</a:t>
            </a:r>
          </a:p>
          <a:p>
            <a:pPr>
              <a:lnSpc>
                <a:spcPct val="125000"/>
              </a:lnSpc>
            </a:pPr>
            <a:r>
              <a:rPr lang="zh-CN" altLang="en-US" sz="2500" b="1">
                <a:ea typeface="楷体_GB2312" pitchFamily="49" charset="-122"/>
              </a:rPr>
              <a:t>内界</a:t>
            </a:r>
            <a:r>
              <a:rPr lang="en-US" altLang="zh-CN" sz="2500" b="1">
                <a:ea typeface="楷体_GB2312" pitchFamily="49" charset="-122"/>
              </a:rPr>
              <a:t>:</a:t>
            </a:r>
          </a:p>
          <a:p>
            <a:pPr>
              <a:lnSpc>
                <a:spcPct val="125000"/>
              </a:lnSpc>
            </a:pPr>
            <a:r>
              <a:rPr lang="zh-CN" altLang="en-US" sz="2500" b="1">
                <a:ea typeface="楷体_GB2312" pitchFamily="49" charset="-122"/>
              </a:rPr>
              <a:t>外界</a:t>
            </a:r>
            <a:r>
              <a:rPr lang="en-US" altLang="zh-CN" sz="2500" b="1">
                <a:ea typeface="楷体_GB2312" pitchFamily="49" charset="-122"/>
              </a:rPr>
              <a:t>: </a:t>
            </a:r>
          </a:p>
          <a:p>
            <a:pPr>
              <a:lnSpc>
                <a:spcPct val="125000"/>
              </a:lnSpc>
            </a:pPr>
            <a:r>
              <a:rPr lang="zh-CN" altLang="en-US" sz="2500" b="1">
                <a:ea typeface="楷体_GB2312" pitchFamily="49" charset="-122"/>
              </a:rPr>
              <a:t>形成体</a:t>
            </a:r>
            <a:r>
              <a:rPr lang="en-US" altLang="zh-CN" sz="2500" b="1">
                <a:ea typeface="楷体_GB2312" pitchFamily="49" charset="-122"/>
              </a:rPr>
              <a:t>:</a:t>
            </a:r>
          </a:p>
          <a:p>
            <a:pPr>
              <a:lnSpc>
                <a:spcPct val="125000"/>
              </a:lnSpc>
            </a:pPr>
            <a:r>
              <a:rPr lang="zh-CN" altLang="en-US" sz="2500" b="1">
                <a:ea typeface="楷体_GB2312" pitchFamily="49" charset="-122"/>
              </a:rPr>
              <a:t>配位体</a:t>
            </a:r>
            <a:r>
              <a:rPr lang="en-US" altLang="zh-CN" sz="2500" b="1">
                <a:ea typeface="楷体_GB2312" pitchFamily="49" charset="-122"/>
              </a:rPr>
              <a:t>:</a:t>
            </a:r>
          </a:p>
          <a:p>
            <a:pPr>
              <a:lnSpc>
                <a:spcPct val="125000"/>
              </a:lnSpc>
            </a:pPr>
            <a:r>
              <a:rPr lang="zh-CN" altLang="en-US" sz="2500" b="1">
                <a:ea typeface="楷体_GB2312" pitchFamily="49" charset="-122"/>
              </a:rPr>
              <a:t>配位原子</a:t>
            </a:r>
            <a:r>
              <a:rPr lang="en-US" altLang="zh-CN" sz="2500" b="1">
                <a:ea typeface="楷体_GB2312" pitchFamily="49" charset="-122"/>
              </a:rPr>
              <a:t>:</a:t>
            </a:r>
          </a:p>
          <a:p>
            <a:pPr>
              <a:lnSpc>
                <a:spcPct val="125000"/>
              </a:lnSpc>
            </a:pPr>
            <a:r>
              <a:rPr lang="zh-CN" altLang="en-US" sz="2500" b="1">
                <a:ea typeface="楷体_GB2312" pitchFamily="49" charset="-122"/>
              </a:rPr>
              <a:t>配位数</a:t>
            </a:r>
            <a:r>
              <a:rPr lang="en-US" altLang="zh-CN" sz="2500" b="1">
                <a:ea typeface="楷体_GB2312" pitchFamily="49" charset="-122"/>
              </a:rPr>
              <a:t>:</a:t>
            </a:r>
          </a:p>
        </p:txBody>
      </p:sp>
      <p:sp>
        <p:nvSpPr>
          <p:cNvPr id="58373" name="Rectangle 5"/>
          <p:cNvSpPr>
            <a:spLocks noChangeArrowheads="1"/>
          </p:cNvSpPr>
          <p:nvPr/>
        </p:nvSpPr>
        <p:spPr bwMode="auto">
          <a:xfrm>
            <a:off x="3308350" y="4525971"/>
            <a:ext cx="666750" cy="523875"/>
          </a:xfrm>
          <a:prstGeom prst="rect">
            <a:avLst/>
          </a:prstGeom>
          <a:noFill/>
          <a:ln w="9525">
            <a:noFill/>
            <a:miter lim="800000"/>
            <a:headEnd/>
            <a:tailEnd/>
          </a:ln>
        </p:spPr>
        <p:txBody>
          <a:bodyPr wrap="none" anchor="ctr">
            <a:spAutoFit/>
          </a:bodyPr>
          <a:lstStyle/>
          <a:p>
            <a:pPr algn="ctr">
              <a:lnSpc>
                <a:spcPct val="125000"/>
              </a:lnSpc>
            </a:pPr>
            <a:r>
              <a:rPr lang="zh-CN" altLang="en-US" sz="2500" b="1" dirty="0">
                <a:ea typeface="楷体_GB2312" pitchFamily="49" charset="-122"/>
              </a:rPr>
              <a:t>各</a:t>
            </a:r>
            <a:r>
              <a:rPr lang="en-US" altLang="zh-CN" sz="2500" b="1" dirty="0">
                <a:ea typeface="楷体_GB2312" pitchFamily="49" charset="-122"/>
              </a:rPr>
              <a:t>4</a:t>
            </a:r>
          </a:p>
        </p:txBody>
      </p:sp>
      <p:sp>
        <p:nvSpPr>
          <p:cNvPr id="25606" name="Rectangle 9"/>
          <p:cNvSpPr>
            <a:spLocks noGrp="1" noChangeArrowheads="1"/>
          </p:cNvSpPr>
          <p:nvPr>
            <p:ph type="title"/>
          </p:nvPr>
        </p:nvSpPr>
        <p:spPr>
          <a:xfrm>
            <a:off x="576461" y="287759"/>
            <a:ext cx="2952328" cy="476250"/>
          </a:xfrm>
          <a:noFill/>
        </p:spPr>
        <p:txBody>
          <a:bodyPr/>
          <a:lstStyle/>
          <a:p>
            <a:r>
              <a:rPr lang="en-US" altLang="zh-CN" sz="2500" dirty="0">
                <a:ea typeface="黑体" pitchFamily="49" charset="-122"/>
              </a:rPr>
              <a:t>6.1.3</a:t>
            </a:r>
            <a:r>
              <a:rPr lang="zh-CN" altLang="en-US" sz="2500" dirty="0">
                <a:ea typeface="黑体" pitchFamily="49" charset="-122"/>
              </a:rPr>
              <a:t>配合物的命名</a:t>
            </a:r>
            <a:endParaRPr lang="zh-CN" altLang="en-US" sz="2500" b="0" dirty="0">
              <a:solidFill>
                <a:srgbClr val="0000FF"/>
              </a:solidFill>
              <a:ea typeface="黑体" pitchFamily="49" charset="-122"/>
            </a:endParaRPr>
          </a:p>
        </p:txBody>
      </p:sp>
      <p:sp>
        <p:nvSpPr>
          <p:cNvPr id="25607" name="Oval 27" descr="图片9">
            <a:hlinkClick r:id="" action="ppaction://hlinkshowjump?jump=nextslide"/>
          </p:cNvPr>
          <p:cNvSpPr>
            <a:spLocks noChangeAspect="1" noChangeArrowheads="1"/>
          </p:cNvSpPr>
          <p:nvPr/>
        </p:nvSpPr>
        <p:spPr bwMode="gray">
          <a:xfrm>
            <a:off x="11161713" y="5719763"/>
            <a:ext cx="360362" cy="360362"/>
          </a:xfrm>
          <a:prstGeom prst="ellipse">
            <a:avLst/>
          </a:prstGeom>
          <a:blipFill dpi="0" rotWithShape="1">
            <a:blip r:embed="rId4"/>
            <a:srcRect/>
            <a:stretch>
              <a:fillRect/>
            </a:stretch>
          </a:blipFill>
          <a:ln w="9525">
            <a:solidFill>
              <a:srgbClr val="808080"/>
            </a:solidFill>
            <a:round/>
            <a:headEnd/>
            <a:tailEnd/>
          </a:ln>
        </p:spPr>
        <p:txBody>
          <a:bodyPr wrap="none" anchor="ctr"/>
          <a:lstStyle/>
          <a:p>
            <a:endParaRPr lang="zh-CN" altLang="en-US" sz="2500"/>
          </a:p>
        </p:txBody>
      </p:sp>
      <p:sp>
        <p:nvSpPr>
          <p:cNvPr id="25608" name="Oval 26" descr="图片8">
            <a:hlinkClick r:id="" action="ppaction://hlinkshowjump?jump=previousslide"/>
          </p:cNvPr>
          <p:cNvSpPr>
            <a:spLocks noChangeAspect="1" noChangeArrowheads="1"/>
          </p:cNvSpPr>
          <p:nvPr/>
        </p:nvSpPr>
        <p:spPr bwMode="gray">
          <a:xfrm>
            <a:off x="0" y="5648325"/>
            <a:ext cx="360363" cy="360363"/>
          </a:xfrm>
          <a:prstGeom prst="ellipse">
            <a:avLst/>
          </a:prstGeom>
          <a:blipFill dpi="0" rotWithShape="1">
            <a:blip r:embed="rId5"/>
            <a:srcRect/>
            <a:stretch>
              <a:fillRect/>
            </a:stretch>
          </a:blipFill>
          <a:ln w="9525">
            <a:solidFill>
              <a:srgbClr val="808080"/>
            </a:solidFill>
            <a:round/>
            <a:headEnd/>
            <a:tailEnd/>
          </a:ln>
        </p:spPr>
        <p:txBody>
          <a:bodyPr wrap="none" anchor="ctr"/>
          <a:lstStyle/>
          <a:p>
            <a:endParaRPr lang="zh-CN" altLang="en-US" sz="2500"/>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58371"/>
                                        </p:tgtEl>
                                        <p:attrNameLst>
                                          <p:attrName>style.visibility</p:attrName>
                                        </p:attrNameLst>
                                      </p:cBhvr>
                                      <p:to>
                                        <p:strVal val="visible"/>
                                      </p:to>
                                    </p:set>
                                    <p:animEffect transition="in" filter="box(in)">
                                      <p:cBhvr>
                                        <p:cTn id="7" dur="500"/>
                                        <p:tgtEl>
                                          <p:spTgt spid="5837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8372"/>
                                        </p:tgtEl>
                                        <p:attrNameLst>
                                          <p:attrName>style.visibility</p:attrName>
                                        </p:attrNameLst>
                                      </p:cBhvr>
                                      <p:to>
                                        <p:strVal val="visible"/>
                                      </p:to>
                                    </p:set>
                                    <p:animEffect transition="in" filter="box(in)">
                                      <p:cBhvr>
                                        <p:cTn id="12" dur="500"/>
                                        <p:tgtEl>
                                          <p:spTgt spid="5837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iterate type="lt">
                                    <p:tmPct val="350000"/>
                                  </p:iterate>
                                  <p:childTnLst>
                                    <p:set>
                                      <p:cBhvr>
                                        <p:cTn id="16" dur="1" fill="hold">
                                          <p:stCondLst>
                                            <p:cond delay="0"/>
                                          </p:stCondLst>
                                        </p:cTn>
                                        <p:tgtEl>
                                          <p:spTgt spid="58370">
                                            <p:txEl>
                                              <p:pRg st="0" end="0"/>
                                            </p:txEl>
                                          </p:spTgt>
                                        </p:tgtEl>
                                        <p:attrNameLst>
                                          <p:attrName>style.visibility</p:attrName>
                                        </p:attrNameLst>
                                      </p:cBhvr>
                                      <p:to>
                                        <p:strVal val="visible"/>
                                      </p:to>
                                    </p:set>
                                    <p:animEffect transition="in" filter="box(in)">
                                      <p:cBhvr>
                                        <p:cTn id="17" dur="75"/>
                                        <p:tgtEl>
                                          <p:spTgt spid="58370">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start.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iterate type="lt">
                                    <p:tmPct val="350000"/>
                                  </p:iterate>
                                  <p:childTnLst>
                                    <p:set>
                                      <p:cBhvr>
                                        <p:cTn id="21" dur="1" fill="hold">
                                          <p:stCondLst>
                                            <p:cond delay="0"/>
                                          </p:stCondLst>
                                        </p:cTn>
                                        <p:tgtEl>
                                          <p:spTgt spid="58370">
                                            <p:txEl>
                                              <p:pRg st="1" end="1"/>
                                            </p:txEl>
                                          </p:spTgt>
                                        </p:tgtEl>
                                        <p:attrNameLst>
                                          <p:attrName>style.visibility</p:attrName>
                                        </p:attrNameLst>
                                      </p:cBhvr>
                                      <p:to>
                                        <p:strVal val="visible"/>
                                      </p:to>
                                    </p:set>
                                    <p:animEffect transition="in" filter="box(in)">
                                      <p:cBhvr>
                                        <p:cTn id="22" dur="75"/>
                                        <p:tgtEl>
                                          <p:spTgt spid="58370">
                                            <p:txEl>
                                              <p:pRg st="1" end="1"/>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start.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iterate type="lt">
                                    <p:tmPct val="350000"/>
                                  </p:iterate>
                                  <p:childTnLst>
                                    <p:set>
                                      <p:cBhvr>
                                        <p:cTn id="26" dur="1" fill="hold">
                                          <p:stCondLst>
                                            <p:cond delay="0"/>
                                          </p:stCondLst>
                                        </p:cTn>
                                        <p:tgtEl>
                                          <p:spTgt spid="58370">
                                            <p:txEl>
                                              <p:pRg st="3" end="3"/>
                                            </p:txEl>
                                          </p:spTgt>
                                        </p:tgtEl>
                                        <p:attrNameLst>
                                          <p:attrName>style.visibility</p:attrName>
                                        </p:attrNameLst>
                                      </p:cBhvr>
                                      <p:to>
                                        <p:strVal val="visible"/>
                                      </p:to>
                                    </p:set>
                                    <p:animEffect transition="in" filter="box(in)">
                                      <p:cBhvr>
                                        <p:cTn id="27" dur="75"/>
                                        <p:tgtEl>
                                          <p:spTgt spid="58370">
                                            <p:txEl>
                                              <p:pRg st="3" end="3"/>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start.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iterate type="lt">
                                    <p:tmPct val="350000"/>
                                  </p:iterate>
                                  <p:childTnLst>
                                    <p:set>
                                      <p:cBhvr>
                                        <p:cTn id="31" dur="1" fill="hold">
                                          <p:stCondLst>
                                            <p:cond delay="0"/>
                                          </p:stCondLst>
                                        </p:cTn>
                                        <p:tgtEl>
                                          <p:spTgt spid="58370">
                                            <p:txEl>
                                              <p:pRg st="4" end="4"/>
                                            </p:txEl>
                                          </p:spTgt>
                                        </p:tgtEl>
                                        <p:attrNameLst>
                                          <p:attrName>style.visibility</p:attrName>
                                        </p:attrNameLst>
                                      </p:cBhvr>
                                      <p:to>
                                        <p:strVal val="visible"/>
                                      </p:to>
                                    </p:set>
                                    <p:animEffect transition="in" filter="box(in)">
                                      <p:cBhvr>
                                        <p:cTn id="32" dur="75"/>
                                        <p:tgtEl>
                                          <p:spTgt spid="58370">
                                            <p:txEl>
                                              <p:pRg st="4" end="4"/>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start.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iterate type="lt">
                                    <p:tmPct val="350000"/>
                                  </p:iterate>
                                  <p:childTnLst>
                                    <p:set>
                                      <p:cBhvr>
                                        <p:cTn id="36" dur="1" fill="hold">
                                          <p:stCondLst>
                                            <p:cond delay="0"/>
                                          </p:stCondLst>
                                        </p:cTn>
                                        <p:tgtEl>
                                          <p:spTgt spid="58370">
                                            <p:txEl>
                                              <p:pRg st="5" end="5"/>
                                            </p:txEl>
                                          </p:spTgt>
                                        </p:tgtEl>
                                        <p:attrNameLst>
                                          <p:attrName>style.visibility</p:attrName>
                                        </p:attrNameLst>
                                      </p:cBhvr>
                                      <p:to>
                                        <p:strVal val="visible"/>
                                      </p:to>
                                    </p:set>
                                    <p:animEffect transition="in" filter="box(in)">
                                      <p:cBhvr>
                                        <p:cTn id="37" dur="75"/>
                                        <p:tgtEl>
                                          <p:spTgt spid="58370">
                                            <p:txEl>
                                              <p:pRg st="5" end="5"/>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start.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58373"/>
                                        </p:tgtEl>
                                        <p:attrNameLst>
                                          <p:attrName>style.visibility</p:attrName>
                                        </p:attrNameLst>
                                      </p:cBhvr>
                                      <p:to>
                                        <p:strVal val="visible"/>
                                      </p:to>
                                    </p:set>
                                    <p:animEffect transition="in" filter="box(in)">
                                      <p:cBhvr>
                                        <p:cTn id="42" dur="500"/>
                                        <p:tgtEl>
                                          <p:spTgt spid="58373"/>
                                        </p:tgtEl>
                                      </p:cBhvr>
                                    </p:animEffect>
                                  </p:childTnLst>
                                  <p:subTnLst>
                                    <p:audio>
                                      <p:cMediaNode>
                                        <p:cTn display="0" masterRel="sameClick">
                                          <p:stCondLst>
                                            <p:cond evt="begin" delay="0">
                                              <p:tn val="40"/>
                                            </p:cond>
                                          </p:stCondLst>
                                          <p:endCondLst>
                                            <p:cond evt="onStopAudio" delay="0">
                                              <p:tgtEl>
                                                <p:sldTgt/>
                                              </p:tgtEl>
                                            </p:cond>
                                          </p:endCondLst>
                                        </p:cTn>
                                        <p:tgtEl>
                                          <p:sndTgt r:embed="rId3" name="RECYCL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autoUpdateAnimBg="0"/>
      <p:bldP spid="58371" grpId="0" autoUpdateAnimBg="0"/>
      <p:bldP spid="58372" grpId="0" autoUpdateAnimBg="0"/>
      <p:bldP spid="58373"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Text Box 4"/>
          <p:cNvSpPr txBox="1">
            <a:spLocks noChangeArrowheads="1"/>
          </p:cNvSpPr>
          <p:nvPr/>
        </p:nvSpPr>
        <p:spPr bwMode="auto">
          <a:xfrm>
            <a:off x="3308350" y="1460500"/>
            <a:ext cx="4756943" cy="2933700"/>
          </a:xfrm>
          <a:prstGeom prst="rect">
            <a:avLst/>
          </a:prstGeom>
          <a:noFill/>
          <a:ln w="12700" cap="sq">
            <a:noFill/>
            <a:miter lim="800000"/>
            <a:headEnd type="none" w="sm" len="sm"/>
            <a:tailEnd type="none" w="sm" len="sm"/>
          </a:ln>
        </p:spPr>
        <p:txBody>
          <a:bodyPr wrap="square">
            <a:spAutoFit/>
          </a:bodyPr>
          <a:lstStyle/>
          <a:p>
            <a:pPr>
              <a:lnSpc>
                <a:spcPct val="125000"/>
              </a:lnSpc>
            </a:pPr>
            <a:r>
              <a:rPr lang="zh-CN" altLang="en-US" sz="2500" b="1" dirty="0">
                <a:ea typeface="楷体_GB2312" pitchFamily="49" charset="-122"/>
              </a:rPr>
              <a:t>硫酸 氯 </a:t>
            </a:r>
            <a:r>
              <a:rPr lang="en-US" altLang="zh-CN" sz="2500" b="1" dirty="0">
                <a:ea typeface="楷体_GB2312" pitchFamily="49" charset="-122"/>
              </a:rPr>
              <a:t>• </a:t>
            </a:r>
            <a:r>
              <a:rPr lang="zh-CN" altLang="en-US" sz="2500" b="1" dirty="0">
                <a:ea typeface="楷体_GB2312" pitchFamily="49" charset="-122"/>
              </a:rPr>
              <a:t>氨 </a:t>
            </a:r>
            <a:r>
              <a:rPr lang="en-US" altLang="zh-CN" sz="2500" b="1" dirty="0">
                <a:ea typeface="楷体_GB2312" pitchFamily="49" charset="-122"/>
              </a:rPr>
              <a:t>• </a:t>
            </a:r>
            <a:r>
              <a:rPr lang="zh-CN" altLang="en-US" sz="2500" b="1" dirty="0">
                <a:ea typeface="楷体_GB2312" pitchFamily="49" charset="-122"/>
              </a:rPr>
              <a:t>二乙二胺合钴</a:t>
            </a:r>
            <a:r>
              <a:rPr lang="en-US" altLang="zh-CN" sz="2500" b="1" dirty="0">
                <a:ea typeface="楷体_GB2312" pitchFamily="49" charset="-122"/>
              </a:rPr>
              <a:t>(Ⅲ)</a:t>
            </a:r>
          </a:p>
          <a:p>
            <a:pPr>
              <a:lnSpc>
                <a:spcPct val="125000"/>
              </a:lnSpc>
            </a:pPr>
            <a:r>
              <a:rPr lang="en-US" altLang="zh-CN" sz="2500" b="1" dirty="0">
                <a:ea typeface="楷体_GB2312" pitchFamily="49" charset="-122"/>
              </a:rPr>
              <a:t>[</a:t>
            </a:r>
            <a:r>
              <a:rPr lang="en-US" altLang="zh-CN" sz="2500" b="1" dirty="0" err="1">
                <a:ea typeface="楷体_GB2312" pitchFamily="49" charset="-122"/>
              </a:rPr>
              <a:t>CoCl</a:t>
            </a: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)(en)</a:t>
            </a:r>
            <a:r>
              <a:rPr lang="en-US" altLang="zh-CN" sz="2500" b="1" baseline="-25000" dirty="0">
                <a:ea typeface="楷体_GB2312" pitchFamily="49" charset="-122"/>
              </a:rPr>
              <a:t>2</a:t>
            </a:r>
            <a:r>
              <a:rPr lang="en-US" altLang="zh-CN" sz="2500" b="1" dirty="0">
                <a:ea typeface="楷体_GB2312" pitchFamily="49" charset="-122"/>
              </a:rPr>
              <a:t>]</a:t>
            </a:r>
            <a:r>
              <a:rPr lang="en-US" altLang="zh-CN" sz="2500" b="1" baseline="30000" dirty="0">
                <a:ea typeface="楷体_GB2312" pitchFamily="49" charset="-122"/>
              </a:rPr>
              <a:t>2+</a:t>
            </a:r>
          </a:p>
          <a:p>
            <a:pPr>
              <a:lnSpc>
                <a:spcPct val="125000"/>
              </a:lnSpc>
            </a:pPr>
            <a:r>
              <a:rPr lang="en-US" altLang="zh-CN" sz="2500" b="1" dirty="0">
                <a:ea typeface="楷体_GB2312" pitchFamily="49" charset="-122"/>
              </a:rPr>
              <a:t>SO</a:t>
            </a:r>
            <a:r>
              <a:rPr lang="en-US" altLang="zh-CN" sz="2500" b="1" baseline="-25000" dirty="0">
                <a:ea typeface="楷体_GB2312" pitchFamily="49" charset="-122"/>
              </a:rPr>
              <a:t>4</a:t>
            </a:r>
            <a:r>
              <a:rPr lang="en-US" altLang="zh-CN" sz="2500" b="1" baseline="30000" dirty="0">
                <a:ea typeface="楷体_GB2312" pitchFamily="49" charset="-122"/>
              </a:rPr>
              <a:t>2-</a:t>
            </a:r>
          </a:p>
          <a:p>
            <a:pPr>
              <a:lnSpc>
                <a:spcPct val="125000"/>
              </a:lnSpc>
            </a:pPr>
            <a:r>
              <a:rPr lang="en-US" altLang="zh-CN" sz="2500" b="1" dirty="0">
                <a:ea typeface="楷体_GB2312" pitchFamily="49" charset="-122"/>
              </a:rPr>
              <a:t>Co</a:t>
            </a:r>
            <a:r>
              <a:rPr lang="en-US" altLang="zh-CN" sz="2500" b="1" baseline="30000" dirty="0">
                <a:ea typeface="楷体_GB2312" pitchFamily="49" charset="-122"/>
              </a:rPr>
              <a:t>3+ </a:t>
            </a:r>
          </a:p>
          <a:p>
            <a:pPr>
              <a:lnSpc>
                <a:spcPct val="125000"/>
              </a:lnSpc>
            </a:pPr>
            <a:r>
              <a:rPr lang="en-US" altLang="zh-CN" sz="2500" b="1" dirty="0" err="1">
                <a:ea typeface="楷体_GB2312" pitchFamily="49" charset="-122"/>
              </a:rPr>
              <a:t>Cl</a:t>
            </a:r>
            <a:r>
              <a:rPr lang="en-US" altLang="zh-CN" sz="2500" b="1" baseline="30000" dirty="0">
                <a:ea typeface="楷体_GB2312" pitchFamily="49" charset="-122"/>
              </a:rPr>
              <a:t>-</a:t>
            </a:r>
            <a:r>
              <a:rPr lang="en-US" altLang="zh-CN" sz="2500" b="1" dirty="0">
                <a:ea typeface="楷体_GB2312" pitchFamily="49" charset="-122"/>
              </a:rPr>
              <a:t>   NH</a:t>
            </a:r>
            <a:r>
              <a:rPr lang="en-US" altLang="zh-CN" sz="2500" b="1" baseline="-25000" dirty="0">
                <a:ea typeface="楷体_GB2312" pitchFamily="49" charset="-122"/>
              </a:rPr>
              <a:t>3   </a:t>
            </a:r>
            <a:r>
              <a:rPr lang="en-US" altLang="zh-CN" sz="2500" b="1" dirty="0">
                <a:ea typeface="楷体_GB2312" pitchFamily="49" charset="-122"/>
              </a:rPr>
              <a:t>en</a:t>
            </a:r>
          </a:p>
          <a:p>
            <a:pPr>
              <a:lnSpc>
                <a:spcPct val="125000"/>
              </a:lnSpc>
            </a:pPr>
            <a:r>
              <a:rPr lang="en-US" altLang="zh-CN" sz="2500" b="1" dirty="0">
                <a:ea typeface="楷体_GB2312" pitchFamily="49" charset="-122"/>
              </a:rPr>
              <a:t>Cl    N </a:t>
            </a:r>
            <a:endParaRPr lang="en-US" altLang="zh-CN" sz="2500" b="1" baseline="30000" dirty="0">
              <a:ea typeface="楷体_GB2312" pitchFamily="49" charset="-122"/>
            </a:endParaRPr>
          </a:p>
        </p:txBody>
      </p:sp>
      <p:sp>
        <p:nvSpPr>
          <p:cNvPr id="48133" name="Rectangle 5"/>
          <p:cNvSpPr>
            <a:spLocks noChangeArrowheads="1"/>
          </p:cNvSpPr>
          <p:nvPr/>
        </p:nvSpPr>
        <p:spPr bwMode="auto">
          <a:xfrm>
            <a:off x="906463" y="1020763"/>
            <a:ext cx="4406900" cy="495300"/>
          </a:xfrm>
          <a:prstGeom prst="rect">
            <a:avLst/>
          </a:prstGeom>
          <a:noFill/>
          <a:ln w="9525">
            <a:noFill/>
            <a:miter lim="800000"/>
            <a:headEnd/>
            <a:tailEnd/>
          </a:ln>
        </p:spPr>
        <p:txBody>
          <a:bodyPr wrap="none" anchor="ctr">
            <a:spAutoFit/>
          </a:bodyPr>
          <a:lstStyle/>
          <a:p>
            <a:pPr>
              <a:lnSpc>
                <a:spcPct val="115000"/>
              </a:lnSpc>
            </a:pPr>
            <a:r>
              <a:rPr lang="zh-CN" altLang="en-US" sz="2500" b="1" dirty="0">
                <a:solidFill>
                  <a:schemeClr val="tx2"/>
                </a:solidFill>
                <a:ea typeface="楷体_GB2312" pitchFamily="49" charset="-122"/>
              </a:rPr>
              <a:t>试试看</a:t>
            </a:r>
            <a:r>
              <a:rPr lang="en-US" altLang="zh-CN" sz="2500" b="1" dirty="0">
                <a:solidFill>
                  <a:schemeClr val="tx2"/>
                </a:solidFill>
                <a:ea typeface="楷体_GB2312" pitchFamily="49" charset="-122"/>
              </a:rPr>
              <a:t>3:</a:t>
            </a:r>
            <a:r>
              <a:rPr lang="en-US" altLang="zh-CN" sz="2500" b="1" dirty="0">
                <a:ea typeface="楷体_GB2312" pitchFamily="49" charset="-122"/>
              </a:rPr>
              <a:t> [</a:t>
            </a:r>
            <a:r>
              <a:rPr lang="en-US" altLang="zh-CN" sz="2500" b="1" dirty="0" err="1">
                <a:ea typeface="楷体_GB2312" pitchFamily="49" charset="-122"/>
              </a:rPr>
              <a:t>CoCl</a:t>
            </a:r>
            <a:r>
              <a:rPr lang="en-US" altLang="zh-CN" sz="2500" b="1" dirty="0">
                <a:ea typeface="楷体_GB2312" pitchFamily="49" charset="-122"/>
              </a:rPr>
              <a:t>(NH</a:t>
            </a:r>
            <a:r>
              <a:rPr lang="en-US" altLang="zh-CN" sz="2500" b="1" baseline="-25000" dirty="0">
                <a:ea typeface="楷体_GB2312" pitchFamily="49" charset="-122"/>
              </a:rPr>
              <a:t>3</a:t>
            </a:r>
            <a:r>
              <a:rPr lang="en-US" altLang="zh-CN" sz="2500" b="1" dirty="0">
                <a:ea typeface="楷体_GB2312" pitchFamily="49" charset="-122"/>
              </a:rPr>
              <a:t>)(</a:t>
            </a:r>
            <a:r>
              <a:rPr lang="en-US" altLang="zh-CN" sz="2500" b="1" dirty="0" err="1">
                <a:ea typeface="楷体_GB2312" pitchFamily="49" charset="-122"/>
              </a:rPr>
              <a:t>en</a:t>
            </a:r>
            <a:r>
              <a:rPr lang="en-US" altLang="zh-CN" sz="2500" b="1" dirty="0">
                <a:ea typeface="楷体_GB2312" pitchFamily="49" charset="-122"/>
              </a:rPr>
              <a:t>)</a:t>
            </a:r>
            <a:r>
              <a:rPr lang="en-US" altLang="zh-CN" sz="2500" b="1" baseline="-25000" dirty="0">
                <a:ea typeface="楷体_GB2312" pitchFamily="49" charset="-122"/>
              </a:rPr>
              <a:t>2</a:t>
            </a:r>
            <a:r>
              <a:rPr lang="en-US" altLang="zh-CN" sz="2500" b="1" dirty="0">
                <a:ea typeface="楷体_GB2312" pitchFamily="49" charset="-122"/>
              </a:rPr>
              <a:t>]SO</a:t>
            </a:r>
            <a:r>
              <a:rPr lang="en-US" altLang="zh-CN" sz="2500" b="1" baseline="-25000" dirty="0">
                <a:ea typeface="楷体_GB2312" pitchFamily="49" charset="-122"/>
              </a:rPr>
              <a:t>4</a:t>
            </a:r>
          </a:p>
        </p:txBody>
      </p:sp>
      <p:sp>
        <p:nvSpPr>
          <p:cNvPr id="48134" name="Rectangle 6"/>
          <p:cNvSpPr>
            <a:spLocks noChangeArrowheads="1"/>
          </p:cNvSpPr>
          <p:nvPr/>
        </p:nvSpPr>
        <p:spPr bwMode="auto">
          <a:xfrm>
            <a:off x="906463" y="1460500"/>
            <a:ext cx="1581150" cy="3409950"/>
          </a:xfrm>
          <a:prstGeom prst="rect">
            <a:avLst/>
          </a:prstGeom>
          <a:noFill/>
          <a:ln w="9525">
            <a:noFill/>
            <a:miter lim="800000"/>
            <a:headEnd/>
            <a:tailEnd/>
          </a:ln>
        </p:spPr>
        <p:txBody>
          <a:bodyPr wrap="none" anchor="ctr">
            <a:spAutoFit/>
          </a:bodyPr>
          <a:lstStyle/>
          <a:p>
            <a:pPr>
              <a:lnSpc>
                <a:spcPct val="125000"/>
              </a:lnSpc>
            </a:pPr>
            <a:r>
              <a:rPr lang="zh-CN" altLang="en-US" sz="2500" b="1">
                <a:ea typeface="楷体_GB2312" pitchFamily="49" charset="-122"/>
              </a:rPr>
              <a:t>命名：</a:t>
            </a:r>
          </a:p>
          <a:p>
            <a:pPr>
              <a:lnSpc>
                <a:spcPct val="125000"/>
              </a:lnSpc>
            </a:pPr>
            <a:r>
              <a:rPr lang="zh-CN" altLang="en-US" sz="2500" b="1">
                <a:ea typeface="楷体_GB2312" pitchFamily="49" charset="-122"/>
              </a:rPr>
              <a:t>内界</a:t>
            </a:r>
            <a:r>
              <a:rPr lang="en-US" altLang="zh-CN" sz="2500" b="1">
                <a:ea typeface="楷体_GB2312" pitchFamily="49" charset="-122"/>
              </a:rPr>
              <a:t>:</a:t>
            </a:r>
          </a:p>
          <a:p>
            <a:pPr>
              <a:lnSpc>
                <a:spcPct val="125000"/>
              </a:lnSpc>
            </a:pPr>
            <a:r>
              <a:rPr lang="zh-CN" altLang="en-US" sz="2500" b="1">
                <a:ea typeface="楷体_GB2312" pitchFamily="49" charset="-122"/>
              </a:rPr>
              <a:t>外界</a:t>
            </a:r>
            <a:r>
              <a:rPr lang="en-US" altLang="zh-CN" sz="2500" b="1">
                <a:ea typeface="楷体_GB2312" pitchFamily="49" charset="-122"/>
              </a:rPr>
              <a:t>: </a:t>
            </a:r>
          </a:p>
          <a:p>
            <a:pPr>
              <a:lnSpc>
                <a:spcPct val="125000"/>
              </a:lnSpc>
            </a:pPr>
            <a:r>
              <a:rPr lang="zh-CN" altLang="en-US" sz="2500" b="1">
                <a:ea typeface="楷体_GB2312" pitchFamily="49" charset="-122"/>
              </a:rPr>
              <a:t>形成体</a:t>
            </a:r>
            <a:r>
              <a:rPr lang="en-US" altLang="zh-CN" sz="2500" b="1">
                <a:ea typeface="楷体_GB2312" pitchFamily="49" charset="-122"/>
              </a:rPr>
              <a:t>:</a:t>
            </a:r>
          </a:p>
          <a:p>
            <a:pPr>
              <a:lnSpc>
                <a:spcPct val="125000"/>
              </a:lnSpc>
            </a:pPr>
            <a:r>
              <a:rPr lang="zh-CN" altLang="en-US" sz="2500" b="1">
                <a:ea typeface="楷体_GB2312" pitchFamily="49" charset="-122"/>
              </a:rPr>
              <a:t>配位体</a:t>
            </a:r>
            <a:r>
              <a:rPr lang="en-US" altLang="zh-CN" sz="2500" b="1">
                <a:ea typeface="楷体_GB2312" pitchFamily="49" charset="-122"/>
              </a:rPr>
              <a:t>:</a:t>
            </a:r>
          </a:p>
          <a:p>
            <a:pPr>
              <a:lnSpc>
                <a:spcPct val="125000"/>
              </a:lnSpc>
            </a:pPr>
            <a:r>
              <a:rPr lang="zh-CN" altLang="en-US" sz="2500" b="1">
                <a:ea typeface="楷体_GB2312" pitchFamily="49" charset="-122"/>
              </a:rPr>
              <a:t>配位原子</a:t>
            </a:r>
            <a:r>
              <a:rPr lang="en-US" altLang="zh-CN" sz="2500" b="1">
                <a:ea typeface="楷体_GB2312" pitchFamily="49" charset="-122"/>
              </a:rPr>
              <a:t>:</a:t>
            </a:r>
          </a:p>
          <a:p>
            <a:pPr>
              <a:lnSpc>
                <a:spcPct val="125000"/>
              </a:lnSpc>
            </a:pPr>
            <a:r>
              <a:rPr lang="zh-CN" altLang="en-US" sz="2500" b="1">
                <a:ea typeface="楷体_GB2312" pitchFamily="49" charset="-122"/>
              </a:rPr>
              <a:t>配位数</a:t>
            </a:r>
            <a:r>
              <a:rPr lang="en-US" altLang="zh-CN" sz="2500" b="1">
                <a:ea typeface="楷体_GB2312" pitchFamily="49" charset="-122"/>
              </a:rPr>
              <a:t>:</a:t>
            </a:r>
          </a:p>
        </p:txBody>
      </p:sp>
      <p:sp>
        <p:nvSpPr>
          <p:cNvPr id="48135" name="Rectangle 7"/>
          <p:cNvSpPr>
            <a:spLocks noChangeArrowheads="1"/>
          </p:cNvSpPr>
          <p:nvPr/>
        </p:nvSpPr>
        <p:spPr bwMode="auto">
          <a:xfrm>
            <a:off x="3308350" y="4383095"/>
            <a:ext cx="344488" cy="528637"/>
          </a:xfrm>
          <a:prstGeom prst="rect">
            <a:avLst/>
          </a:prstGeom>
          <a:noFill/>
          <a:ln w="9525">
            <a:noFill/>
            <a:miter lim="800000"/>
            <a:headEnd/>
            <a:tailEnd/>
          </a:ln>
        </p:spPr>
        <p:txBody>
          <a:bodyPr wrap="none" anchor="ctr">
            <a:spAutoFit/>
          </a:bodyPr>
          <a:lstStyle/>
          <a:p>
            <a:pPr algn="ctr">
              <a:lnSpc>
                <a:spcPct val="125000"/>
              </a:lnSpc>
            </a:pPr>
            <a:r>
              <a:rPr lang="en-US" altLang="zh-CN" sz="2500" b="1" dirty="0">
                <a:ea typeface="楷体_GB2312" pitchFamily="49" charset="-122"/>
              </a:rPr>
              <a:t>6</a:t>
            </a:r>
          </a:p>
        </p:txBody>
      </p:sp>
      <p:sp>
        <p:nvSpPr>
          <p:cNvPr id="26630" name="Rectangle 16"/>
          <p:cNvSpPr>
            <a:spLocks noGrp="1" noChangeArrowheads="1"/>
          </p:cNvSpPr>
          <p:nvPr>
            <p:ph type="title"/>
          </p:nvPr>
        </p:nvSpPr>
        <p:spPr>
          <a:xfrm>
            <a:off x="576263" y="258763"/>
            <a:ext cx="10369550" cy="431800"/>
          </a:xfrm>
          <a:noFill/>
        </p:spPr>
        <p:txBody>
          <a:bodyPr/>
          <a:lstStyle/>
          <a:p>
            <a:r>
              <a:rPr lang="en-US" altLang="zh-CN">
                <a:ea typeface="黑体" pitchFamily="49" charset="-122"/>
              </a:rPr>
              <a:t>6.1.3</a:t>
            </a:r>
            <a:r>
              <a:rPr lang="zh-CN" altLang="en-US">
                <a:ea typeface="黑体" pitchFamily="49" charset="-122"/>
              </a:rPr>
              <a:t>配合物的命名</a:t>
            </a:r>
            <a:endParaRPr lang="zh-CN" altLang="en-US" sz="1200" b="0">
              <a:solidFill>
                <a:srgbClr val="0000FF"/>
              </a:solidFill>
              <a:ea typeface="黑体" pitchFamily="49" charset="-122"/>
            </a:endParaRPr>
          </a:p>
        </p:txBody>
      </p:sp>
      <p:sp>
        <p:nvSpPr>
          <p:cNvPr id="8" name="椭圆 62544" descr="图片1">
            <a:hlinkClick r:id="rId4" action="ppaction://hlinkpres?slideindex=1&amp;slidetitle="/>
          </p:cNvPr>
          <p:cNvSpPr>
            <a:spLocks noChangeAspect="1" noChangeArrowheads="1"/>
          </p:cNvSpPr>
          <p:nvPr/>
        </p:nvSpPr>
        <p:spPr bwMode="auto">
          <a:xfrm>
            <a:off x="11155363" y="5580000"/>
            <a:ext cx="360362" cy="360362"/>
          </a:xfrm>
          <a:prstGeom prst="ellipse">
            <a:avLst/>
          </a:prstGeom>
          <a:blipFill dpi="0" rotWithShape="1">
            <a:blip r:embed="rId5"/>
            <a:srcRect/>
            <a:stretch>
              <a:fillRect/>
            </a:stretch>
          </a:blipFill>
          <a:ln w="9525">
            <a:solidFill>
              <a:srgbClr val="808080"/>
            </a:solidFill>
            <a:round/>
            <a:headEnd/>
            <a:tailEnd/>
          </a:ln>
        </p:spPr>
        <p:txBody>
          <a:bodyPr wrap="none" anchor="ctr"/>
          <a:lstStyle/>
          <a:p>
            <a:pPr algn="ctr"/>
            <a:r>
              <a:rPr lang="zh-CN" altLang="en-US" sz="1200" b="1" dirty="0">
                <a:solidFill>
                  <a:srgbClr val="000000"/>
                </a:solidFill>
                <a:ea typeface="楷体_GB2312" pitchFamily="49" charset="-122"/>
              </a:rPr>
              <a:t>下节</a:t>
            </a:r>
          </a:p>
        </p:txBody>
      </p:sp>
      <p:sp>
        <p:nvSpPr>
          <p:cNvPr id="9" name="Oval 26" descr="图片8">
            <a:hlinkClick r:id="" action="ppaction://hlinkshowjump?jump=previousslide"/>
          </p:cNvPr>
          <p:cNvSpPr>
            <a:spLocks noChangeAspect="1" noChangeArrowheads="1"/>
          </p:cNvSpPr>
          <p:nvPr/>
        </p:nvSpPr>
        <p:spPr bwMode="gray">
          <a:xfrm>
            <a:off x="0" y="5580000"/>
            <a:ext cx="360363" cy="360362"/>
          </a:xfrm>
          <a:prstGeom prst="ellipse">
            <a:avLst/>
          </a:prstGeom>
          <a:blipFill dpi="0" rotWithShape="1">
            <a:blip r:embed="rId6"/>
            <a:srcRect/>
            <a:stretch>
              <a:fillRect/>
            </a:stretch>
          </a:blipFill>
          <a:ln w="9525">
            <a:solidFill>
              <a:srgbClr val="808080"/>
            </a:solidFill>
            <a:round/>
            <a:headEnd/>
            <a:tailEnd/>
          </a:ln>
        </p:spPr>
        <p:txBody>
          <a:bodyPr wrap="none" anchor="ctr"/>
          <a:lstStyle/>
          <a:p>
            <a:endParaRPr lang="zh-CN" altLang="en-US"/>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48133"/>
                                        </p:tgtEl>
                                        <p:attrNameLst>
                                          <p:attrName>style.visibility</p:attrName>
                                        </p:attrNameLst>
                                      </p:cBhvr>
                                      <p:to>
                                        <p:strVal val="visible"/>
                                      </p:to>
                                    </p:set>
                                    <p:animEffect transition="in" filter="box(in)">
                                      <p:cBhvr>
                                        <p:cTn id="7" dur="500"/>
                                        <p:tgtEl>
                                          <p:spTgt spid="4813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8134"/>
                                        </p:tgtEl>
                                        <p:attrNameLst>
                                          <p:attrName>style.visibility</p:attrName>
                                        </p:attrNameLst>
                                      </p:cBhvr>
                                      <p:to>
                                        <p:strVal val="visible"/>
                                      </p:to>
                                    </p:set>
                                    <p:animEffect transition="in" filter="box(in)">
                                      <p:cBhvr>
                                        <p:cTn id="12" dur="500"/>
                                        <p:tgtEl>
                                          <p:spTgt spid="4813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iterate type="lt">
                                    <p:tmPct val="350000"/>
                                  </p:iterate>
                                  <p:childTnLst>
                                    <p:set>
                                      <p:cBhvr>
                                        <p:cTn id="16" dur="1" fill="hold">
                                          <p:stCondLst>
                                            <p:cond delay="0"/>
                                          </p:stCondLst>
                                        </p:cTn>
                                        <p:tgtEl>
                                          <p:spTgt spid="48132">
                                            <p:txEl>
                                              <p:pRg st="0" end="0"/>
                                            </p:txEl>
                                          </p:spTgt>
                                        </p:tgtEl>
                                        <p:attrNameLst>
                                          <p:attrName>style.visibility</p:attrName>
                                        </p:attrNameLst>
                                      </p:cBhvr>
                                      <p:to>
                                        <p:strVal val="visible"/>
                                      </p:to>
                                    </p:set>
                                    <p:animEffect transition="in" filter="box(in)">
                                      <p:cBhvr>
                                        <p:cTn id="17" dur="75"/>
                                        <p:tgtEl>
                                          <p:spTgt spid="48132">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start.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iterate type="lt">
                                    <p:tmPct val="350000"/>
                                  </p:iterate>
                                  <p:childTnLst>
                                    <p:set>
                                      <p:cBhvr>
                                        <p:cTn id="21" dur="1" fill="hold">
                                          <p:stCondLst>
                                            <p:cond delay="0"/>
                                          </p:stCondLst>
                                        </p:cTn>
                                        <p:tgtEl>
                                          <p:spTgt spid="48132">
                                            <p:txEl>
                                              <p:pRg st="1" end="1"/>
                                            </p:txEl>
                                          </p:spTgt>
                                        </p:tgtEl>
                                        <p:attrNameLst>
                                          <p:attrName>style.visibility</p:attrName>
                                        </p:attrNameLst>
                                      </p:cBhvr>
                                      <p:to>
                                        <p:strVal val="visible"/>
                                      </p:to>
                                    </p:set>
                                    <p:animEffect transition="in" filter="box(in)">
                                      <p:cBhvr>
                                        <p:cTn id="22" dur="75"/>
                                        <p:tgtEl>
                                          <p:spTgt spid="48132">
                                            <p:txEl>
                                              <p:pRg st="1" end="1"/>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start.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iterate type="lt">
                                    <p:tmPct val="350000"/>
                                  </p:iterate>
                                  <p:childTnLst>
                                    <p:set>
                                      <p:cBhvr>
                                        <p:cTn id="26" dur="1" fill="hold">
                                          <p:stCondLst>
                                            <p:cond delay="0"/>
                                          </p:stCondLst>
                                        </p:cTn>
                                        <p:tgtEl>
                                          <p:spTgt spid="48132">
                                            <p:txEl>
                                              <p:pRg st="2" end="2"/>
                                            </p:txEl>
                                          </p:spTgt>
                                        </p:tgtEl>
                                        <p:attrNameLst>
                                          <p:attrName>style.visibility</p:attrName>
                                        </p:attrNameLst>
                                      </p:cBhvr>
                                      <p:to>
                                        <p:strVal val="visible"/>
                                      </p:to>
                                    </p:set>
                                    <p:animEffect transition="in" filter="box(in)">
                                      <p:cBhvr>
                                        <p:cTn id="27" dur="75"/>
                                        <p:tgtEl>
                                          <p:spTgt spid="48132">
                                            <p:txEl>
                                              <p:pRg st="2" end="2"/>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start.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iterate type="lt">
                                    <p:tmPct val="350000"/>
                                  </p:iterate>
                                  <p:childTnLst>
                                    <p:set>
                                      <p:cBhvr>
                                        <p:cTn id="31" dur="1" fill="hold">
                                          <p:stCondLst>
                                            <p:cond delay="0"/>
                                          </p:stCondLst>
                                        </p:cTn>
                                        <p:tgtEl>
                                          <p:spTgt spid="48132">
                                            <p:txEl>
                                              <p:pRg st="3" end="3"/>
                                            </p:txEl>
                                          </p:spTgt>
                                        </p:tgtEl>
                                        <p:attrNameLst>
                                          <p:attrName>style.visibility</p:attrName>
                                        </p:attrNameLst>
                                      </p:cBhvr>
                                      <p:to>
                                        <p:strVal val="visible"/>
                                      </p:to>
                                    </p:set>
                                    <p:animEffect transition="in" filter="box(in)">
                                      <p:cBhvr>
                                        <p:cTn id="32" dur="75"/>
                                        <p:tgtEl>
                                          <p:spTgt spid="48132">
                                            <p:txEl>
                                              <p:pRg st="3" end="3"/>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start.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iterate type="lt">
                                    <p:tmPct val="350000"/>
                                  </p:iterate>
                                  <p:childTnLst>
                                    <p:set>
                                      <p:cBhvr>
                                        <p:cTn id="36" dur="1" fill="hold">
                                          <p:stCondLst>
                                            <p:cond delay="0"/>
                                          </p:stCondLst>
                                        </p:cTn>
                                        <p:tgtEl>
                                          <p:spTgt spid="48132">
                                            <p:txEl>
                                              <p:pRg st="4" end="4"/>
                                            </p:txEl>
                                          </p:spTgt>
                                        </p:tgtEl>
                                        <p:attrNameLst>
                                          <p:attrName>style.visibility</p:attrName>
                                        </p:attrNameLst>
                                      </p:cBhvr>
                                      <p:to>
                                        <p:strVal val="visible"/>
                                      </p:to>
                                    </p:set>
                                    <p:animEffect transition="in" filter="box(in)">
                                      <p:cBhvr>
                                        <p:cTn id="37" dur="75"/>
                                        <p:tgtEl>
                                          <p:spTgt spid="48132">
                                            <p:txEl>
                                              <p:pRg st="4" end="4"/>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start.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iterate type="lt">
                                    <p:tmPct val="350000"/>
                                  </p:iterate>
                                  <p:childTnLst>
                                    <p:set>
                                      <p:cBhvr>
                                        <p:cTn id="41" dur="1" fill="hold">
                                          <p:stCondLst>
                                            <p:cond delay="0"/>
                                          </p:stCondLst>
                                        </p:cTn>
                                        <p:tgtEl>
                                          <p:spTgt spid="48132">
                                            <p:txEl>
                                              <p:pRg st="5" end="5"/>
                                            </p:txEl>
                                          </p:spTgt>
                                        </p:tgtEl>
                                        <p:attrNameLst>
                                          <p:attrName>style.visibility</p:attrName>
                                        </p:attrNameLst>
                                      </p:cBhvr>
                                      <p:to>
                                        <p:strVal val="visible"/>
                                      </p:to>
                                    </p:set>
                                    <p:animEffect transition="in" filter="box(in)">
                                      <p:cBhvr>
                                        <p:cTn id="42" dur="75"/>
                                        <p:tgtEl>
                                          <p:spTgt spid="48132">
                                            <p:txEl>
                                              <p:pRg st="5" end="5"/>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start.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48135"/>
                                        </p:tgtEl>
                                        <p:attrNameLst>
                                          <p:attrName>style.visibility</p:attrName>
                                        </p:attrNameLst>
                                      </p:cBhvr>
                                      <p:to>
                                        <p:strVal val="visible"/>
                                      </p:to>
                                    </p:set>
                                    <p:animEffect transition="in" filter="box(in)">
                                      <p:cBhvr>
                                        <p:cTn id="47" dur="500"/>
                                        <p:tgtEl>
                                          <p:spTgt spid="48135"/>
                                        </p:tgtEl>
                                      </p:cBhvr>
                                    </p:animEffect>
                                  </p:childTnLst>
                                  <p:subTnLst>
                                    <p:audio>
                                      <p:cMediaNode>
                                        <p:cTn display="0" masterRel="sameClick">
                                          <p:stCondLst>
                                            <p:cond evt="begin" delay="0">
                                              <p:tn val="45"/>
                                            </p:cond>
                                          </p:stCondLst>
                                          <p:endCondLst>
                                            <p:cond evt="onStopAudio" delay="0">
                                              <p:tgtEl>
                                                <p:sldTgt/>
                                              </p:tgtEl>
                                            </p:cond>
                                          </p:endCondLst>
                                        </p:cTn>
                                        <p:tgtEl>
                                          <p:sndTgt r:embed="rId3" name="NOTIFY.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build="p" autoUpdateAnimBg="0"/>
      <p:bldP spid="48133" grpId="0" autoUpdateAnimBg="0"/>
      <p:bldP spid="48134" grpId="0" autoUpdateAnimBg="0"/>
      <p:bldP spid="48135" grpId="0"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cfadb383da5ed4d31475c117c99555cab5f1cf9c"/>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PA" val="v3.0.1"/>
</p:tagLst>
</file>

<file path=ppt/tags/tag9.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医学研究PPT模板">
  <a:themeElements>
    <a:clrScheme name="医学研究PPT模板 1">
      <a:dk1>
        <a:srgbClr val="000000"/>
      </a:dk1>
      <a:lt1>
        <a:srgbClr val="FFFFFF"/>
      </a:lt1>
      <a:dk2>
        <a:srgbClr val="000000"/>
      </a:dk2>
      <a:lt2>
        <a:srgbClr val="000000"/>
      </a:lt2>
      <a:accent1>
        <a:srgbClr val="000000"/>
      </a:accent1>
      <a:accent2>
        <a:srgbClr val="FF00FF"/>
      </a:accent2>
      <a:accent3>
        <a:srgbClr val="FFFFFF"/>
      </a:accent3>
      <a:accent4>
        <a:srgbClr val="000000"/>
      </a:accent4>
      <a:accent5>
        <a:srgbClr val="AAAAAA"/>
      </a:accent5>
      <a:accent6>
        <a:srgbClr val="E700E7"/>
      </a:accent6>
      <a:hlink>
        <a:srgbClr val="FF9900"/>
      </a:hlink>
      <a:folHlink>
        <a:srgbClr val="6600FF"/>
      </a:folHlink>
    </a:clrScheme>
    <a:fontScheme name="医学研究PPT模板">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医学研究PPT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医学研究PPT模板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医学研究PPT模板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医学研究PPT模板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医学研究PPT模板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医学研究PPT模板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
      <a:clrScheme name="医学研究PPT模板 1">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医学研究PPT模板 2">
        <a:dk1>
          <a:srgbClr val="000000"/>
        </a:dk1>
        <a:lt1>
          <a:srgbClr val="FFFFFF"/>
        </a:lt1>
        <a:dk2>
          <a:srgbClr val="000000"/>
        </a:dk2>
        <a:lt2>
          <a:srgbClr val="000000"/>
        </a:lt2>
        <a:accent1>
          <a:srgbClr val="FF0000"/>
        </a:accent1>
        <a:accent2>
          <a:srgbClr val="FF00FF"/>
        </a:accent2>
        <a:accent3>
          <a:srgbClr val="FFFFFF"/>
        </a:accent3>
        <a:accent4>
          <a:srgbClr val="000000"/>
        </a:accent4>
        <a:accent5>
          <a:srgbClr val="FF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3">
        <a:dk1>
          <a:srgbClr val="FFFFFF"/>
        </a:dk1>
        <a:lt1>
          <a:srgbClr val="FFFFFF"/>
        </a:lt1>
        <a:dk2>
          <a:srgbClr val="000000"/>
        </a:dk2>
        <a:lt2>
          <a:srgbClr val="000000"/>
        </a:lt2>
        <a:accent1>
          <a:srgbClr val="FF0000"/>
        </a:accent1>
        <a:accent2>
          <a:srgbClr val="FF00FF"/>
        </a:accent2>
        <a:accent3>
          <a:srgbClr val="FFFFFF"/>
        </a:accent3>
        <a:accent4>
          <a:srgbClr val="DADADA"/>
        </a:accent4>
        <a:accent5>
          <a:srgbClr val="FF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1">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1">
        <a:dk1>
          <a:srgbClr val="000000"/>
        </a:dk1>
        <a:lt1>
          <a:srgbClr val="FFFFFF"/>
        </a:lt1>
        <a:dk2>
          <a:srgbClr val="000000"/>
        </a:dk2>
        <a:lt2>
          <a:srgbClr val="000000"/>
        </a:lt2>
        <a:accent1>
          <a:srgbClr val="000000"/>
        </a:accent1>
        <a:accent2>
          <a:srgbClr val="FF00FF"/>
        </a:accent2>
        <a:accent3>
          <a:srgbClr val="FFFFFF"/>
        </a:accent3>
        <a:accent4>
          <a:srgbClr val="000000"/>
        </a:accent4>
        <a:accent5>
          <a:srgbClr val="AAAAAA"/>
        </a:accent5>
        <a:accent6>
          <a:srgbClr val="E700E7"/>
        </a:accent6>
        <a:hlink>
          <a:srgbClr val="FF9900"/>
        </a:hlink>
        <a:folHlink>
          <a:srgbClr val="6600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医学研究PPT模板">
  <a:themeElements>
    <a:clrScheme name="1_医学研究PPT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fontScheme name="1_医学研究PPT模板">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医学研究PPT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1_医学研究PPT模板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1_医学研究PPT模板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1_医学研究PPT模板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1_医学研究PPT模板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1_医学研究PPT模板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
      <a:clrScheme name="1_医学研究PPT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1_医学研究PPT模板 2">
        <a:dk1>
          <a:srgbClr val="FFFFFF"/>
        </a:dk1>
        <a:lt1>
          <a:srgbClr val="FFFFFF"/>
        </a:lt1>
        <a:dk2>
          <a:srgbClr val="000000"/>
        </a:dk2>
        <a:lt2>
          <a:srgbClr val="000000"/>
        </a:lt2>
        <a:accent1>
          <a:srgbClr val="FF0000"/>
        </a:accent1>
        <a:accent2>
          <a:srgbClr val="FF00FF"/>
        </a:accent2>
        <a:accent3>
          <a:srgbClr val="FFFFFF"/>
        </a:accent3>
        <a:accent4>
          <a:srgbClr val="DADADA"/>
        </a:accent4>
        <a:accent5>
          <a:srgbClr val="FF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1_医学研究PPT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1_医学研究PPT模板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1_医学研究PPT模板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1_医学研究PPT模板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1_医学研究PPT模板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1_医学研究PPT模板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
      <a:clrScheme name="1_医学研究PPT模板 7">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1_医学研究PPT模板 8">
        <a:dk1>
          <a:srgbClr val="FFFFFF"/>
        </a:dk1>
        <a:lt1>
          <a:srgbClr val="FFFFFF"/>
        </a:lt1>
        <a:dk2>
          <a:srgbClr val="000000"/>
        </a:dk2>
        <a:lt2>
          <a:srgbClr val="000000"/>
        </a:lt2>
        <a:accent1>
          <a:srgbClr val="FF0000"/>
        </a:accent1>
        <a:accent2>
          <a:srgbClr val="FF00FF"/>
        </a:accent2>
        <a:accent3>
          <a:srgbClr val="FFFFFF"/>
        </a:accent3>
        <a:accent4>
          <a:srgbClr val="DADADA"/>
        </a:accent4>
        <a:accent5>
          <a:srgbClr val="FF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1_医学研究PPT模板 9">
        <a:dk1>
          <a:srgbClr val="000000"/>
        </a:dk1>
        <a:lt1>
          <a:srgbClr val="FFFFFF"/>
        </a:lt1>
        <a:dk2>
          <a:srgbClr val="000000"/>
        </a:dk2>
        <a:lt2>
          <a:srgbClr val="000000"/>
        </a:lt2>
        <a:accent1>
          <a:srgbClr val="FF0000"/>
        </a:accent1>
        <a:accent2>
          <a:srgbClr val="FF00FF"/>
        </a:accent2>
        <a:accent3>
          <a:srgbClr val="AAAAAA"/>
        </a:accent3>
        <a:accent4>
          <a:srgbClr val="DADADA"/>
        </a:accent4>
        <a:accent5>
          <a:srgbClr val="FFAAAA"/>
        </a:accent5>
        <a:accent6>
          <a:srgbClr val="E700E7"/>
        </a:accent6>
        <a:hlink>
          <a:srgbClr val="FF9900"/>
        </a:hlink>
        <a:folHlink>
          <a:srgbClr val="3333CC"/>
        </a:folHlink>
      </a:clrScheme>
      <a:clrMap bg1="dk2" tx1="lt1" bg2="dk1" tx2="lt2" accent1="accent1" accent2="accent2" accent3="accent3" accent4="accent4" accent5="accent5" accent6="accent6" hlink="hlink" folHlink="folHlink"/>
    </a:extraClrScheme>
    <a:extraClrScheme>
      <a:clrScheme name="1_医学研究PPT模板 10">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医学研究PPT模板</Template>
  <TotalTime>4717</TotalTime>
  <Pages>0</Pages>
  <Words>2903</Words>
  <Characters>0</Characters>
  <Application>Microsoft Office PowerPoint</Application>
  <DocSecurity>0</DocSecurity>
  <PresentationFormat>自定义</PresentationFormat>
  <Lines>0</Lines>
  <Paragraphs>409</Paragraphs>
  <Slides>39</Slides>
  <Notes>4</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39</vt:i4>
      </vt:variant>
    </vt:vector>
  </HeadingPairs>
  <TitlesOfParts>
    <vt:vector size="51" baseType="lpstr">
      <vt:lpstr>-apple-system</vt:lpstr>
      <vt:lpstr>黑体</vt:lpstr>
      <vt:lpstr>楷体_GB2312</vt:lpstr>
      <vt:lpstr>宋体</vt:lpstr>
      <vt:lpstr>微软雅黑</vt:lpstr>
      <vt:lpstr>Arial</vt:lpstr>
      <vt:lpstr>Calibri</vt:lpstr>
      <vt:lpstr>Times New Roman</vt:lpstr>
      <vt:lpstr>Wingdings</vt:lpstr>
      <vt:lpstr>医学研究PPT模板</vt:lpstr>
      <vt:lpstr>1_医学研究PPT模板</vt:lpstr>
      <vt:lpstr>公式</vt:lpstr>
      <vt:lpstr>PowerPoint 演示文稿</vt:lpstr>
      <vt:lpstr>PowerPoint 演示文稿</vt:lpstr>
      <vt:lpstr>6.1 配合物与螯合物</vt:lpstr>
      <vt:lpstr>6.1 配合物与螯合物</vt:lpstr>
      <vt:lpstr>实验现象</vt:lpstr>
      <vt:lpstr>6.1 配合物与螯合物</vt:lpstr>
      <vt:lpstr>6.1.1 配合物及其组成</vt:lpstr>
      <vt:lpstr>6.1.1 配合物及其组成</vt:lpstr>
      <vt:lpstr>6.1.1配合物及其组成</vt:lpstr>
      <vt:lpstr>6.1.1配合物及其组成</vt:lpstr>
      <vt:lpstr>6.1.1配合物及其组成</vt:lpstr>
      <vt:lpstr>6.1.1配合物及其组成</vt:lpstr>
      <vt:lpstr>PowerPoint 演示文稿</vt:lpstr>
      <vt:lpstr>6.1.1配合物及其组成</vt:lpstr>
      <vt:lpstr>6.1.1配合物及其组成</vt:lpstr>
      <vt:lpstr>6.1.1配合物及其组成</vt:lpstr>
      <vt:lpstr>6.1.1配合物及其特点</vt:lpstr>
      <vt:lpstr>课堂总结</vt:lpstr>
      <vt:lpstr>配合物应用</vt:lpstr>
      <vt:lpstr>配合物应用</vt:lpstr>
      <vt:lpstr>PowerPoint 演示文稿</vt:lpstr>
      <vt:lpstr>PowerPoint 演示文稿</vt:lpstr>
      <vt:lpstr>PowerPoint 演示文稿</vt:lpstr>
      <vt:lpstr>PowerPoint 演示文稿</vt:lpstr>
      <vt:lpstr>PowerPoint 演示文稿</vt:lpstr>
      <vt:lpstr>PowerPoint 演示文稿</vt:lpstr>
      <vt:lpstr>6.1.2螯合物</vt:lpstr>
      <vt:lpstr>6.1.2螯合物</vt:lpstr>
      <vt:lpstr>6.1.2螯合物及其特点</vt:lpstr>
      <vt:lpstr>EDTA——明星螯合剂</vt:lpstr>
      <vt:lpstr>PowerPoint 演示文稿</vt:lpstr>
      <vt:lpstr>6.1.3配合物的命名</vt:lpstr>
      <vt:lpstr>6.1.3配合物的命名</vt:lpstr>
      <vt:lpstr>6.1.3配合物的命名</vt:lpstr>
      <vt:lpstr>6.1.3配合物的命名</vt:lpstr>
      <vt:lpstr>6.1.3配合物的命名</vt:lpstr>
      <vt:lpstr>6.1.3配合物的命名</vt:lpstr>
      <vt:lpstr>6.1.3配合物的命名</vt:lpstr>
      <vt:lpstr>6.1.3配合物的命名</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ch06-01配位平衡</dc:title>
  <dc:creator>江南大学</dc:creator>
  <cp:lastModifiedBy>Administrator</cp:lastModifiedBy>
  <cp:revision>443</cp:revision>
  <cp:lastPrinted>1601-01-01T00:00:00Z</cp:lastPrinted>
  <dcterms:created xsi:type="dcterms:W3CDTF">2012-06-20T03:37:37Z</dcterms:created>
  <dcterms:modified xsi:type="dcterms:W3CDTF">2021-12-02T00:34:53Z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2052-8.1.0.3089</vt:lpwstr>
  </property>
</Properties>
</file>