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av" ContentType="audio/wav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  <p:sldMasterId id="2147483661" r:id="rId2"/>
  </p:sldMasterIdLst>
  <p:notesMasterIdLst>
    <p:notesMasterId r:id="rId26"/>
  </p:notesMasterIdLst>
  <p:handoutMasterIdLst>
    <p:handoutMasterId r:id="rId27"/>
  </p:handoutMasterIdLst>
  <p:sldIdLst>
    <p:sldId id="294" r:id="rId3"/>
    <p:sldId id="301" r:id="rId4"/>
    <p:sldId id="302" r:id="rId5"/>
    <p:sldId id="303" r:id="rId6"/>
    <p:sldId id="304" r:id="rId7"/>
    <p:sldId id="305" r:id="rId8"/>
    <p:sldId id="338" r:id="rId9"/>
    <p:sldId id="339" r:id="rId10"/>
    <p:sldId id="333" r:id="rId11"/>
    <p:sldId id="335" r:id="rId12"/>
    <p:sldId id="334" r:id="rId13"/>
    <p:sldId id="336" r:id="rId14"/>
    <p:sldId id="319" r:id="rId15"/>
    <p:sldId id="320" r:id="rId16"/>
    <p:sldId id="321" r:id="rId17"/>
    <p:sldId id="322" r:id="rId18"/>
    <p:sldId id="323" r:id="rId19"/>
    <p:sldId id="324" r:id="rId20"/>
    <p:sldId id="325" r:id="rId21"/>
    <p:sldId id="326" r:id="rId22"/>
    <p:sldId id="327" r:id="rId23"/>
    <p:sldId id="328" r:id="rId24"/>
    <p:sldId id="337" r:id="rId25"/>
  </p:sldIdLst>
  <p:sldSz cx="11522075" cy="6480175"/>
  <p:notesSz cx="6858000" cy="9144000"/>
  <p:custDataLst>
    <p:tags r:id="rId28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34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FF00"/>
    <a:srgbClr val="0000FF"/>
    <a:srgbClr val="FFFFFF"/>
    <a:srgbClr val="F8F8F8"/>
    <a:srgbClr val="FF00FF"/>
    <a:srgbClr val="FF330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30" autoAdjust="0"/>
    <p:restoredTop sz="99258" autoAdjust="0"/>
  </p:normalViewPr>
  <p:slideViewPr>
    <p:cSldViewPr>
      <p:cViewPr varScale="1">
        <p:scale>
          <a:sx n="78" d="100"/>
          <a:sy n="78" d="100"/>
        </p:scale>
        <p:origin x="546" y="78"/>
      </p:cViewPr>
      <p:guideLst>
        <p:guide orient="horz" pos="2034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25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楷体_GB231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楷体_GB2312"/>
              </a:defRPr>
            </a:lvl1pPr>
          </a:lstStyle>
          <a:p>
            <a:pPr>
              <a:defRPr/>
            </a:pPr>
            <a:fld id="{36616F13-42B1-4FBC-B042-FD0EC773C067}" type="datetimeFigureOut">
              <a:rPr lang="zh-CN" altLang="en-US"/>
              <a:pPr>
                <a:defRPr/>
              </a:pPr>
              <a:t>2021/12/8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楷体_GB231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楷体_GB2312"/>
              </a:defRPr>
            </a:lvl1pPr>
          </a:lstStyle>
          <a:p>
            <a:pPr>
              <a:defRPr/>
            </a:pPr>
            <a:fld id="{623AD072-B6FC-4811-B3D8-94329D3E693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楷体_GB231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楷体_GB2312"/>
              </a:defRPr>
            </a:lvl1pPr>
          </a:lstStyle>
          <a:p>
            <a:pPr>
              <a:defRPr/>
            </a:pPr>
            <a:fld id="{DCBA127F-8644-45F5-AEE3-0821A728019F}" type="datetimeFigureOut">
              <a:rPr lang="zh-CN" altLang="en-US"/>
              <a:pPr>
                <a:defRPr/>
              </a:pPr>
              <a:t>2021/12/8</a:t>
            </a:fld>
            <a:endParaRPr lang="en-US" altLang="zh-CN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楷体_GB2312"/>
              </a:defRPr>
            </a:lvl1pPr>
          </a:lstStyle>
          <a:p>
            <a:pPr>
              <a:defRPr/>
            </a:pPr>
            <a:fld id="{8F3B44F5-3854-47BC-8B45-645B455FA8D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楷体_GB2312"/>
        <a:cs typeface="楷体_GB2312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楷体_GB2312"/>
        <a:cs typeface="楷体_GB2312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楷体_GB2312"/>
        <a:cs typeface="楷体_GB2312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楷体_GB2312"/>
        <a:cs typeface="楷体_GB2312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楷体_GB2312"/>
        <a:cs typeface="楷体_GB231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altLang="zh-CN" smtClean="0">
                <a:ea typeface="楷体_GB2312" pitchFamily="49" charset="-122"/>
              </a:rPr>
              <a:t>商少明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5747412C-F1B0-4228-A12D-964FAB887010}" type="datetime1">
              <a:rPr lang="zh-CN" altLang="en-US" smtClean="0">
                <a:ea typeface="楷体_GB2312" pitchFamily="49" charset="-122"/>
              </a:rPr>
              <a:pPr/>
              <a:t>2021/12/8</a:t>
            </a:fld>
            <a:endParaRPr lang="en-US" altLang="zh-CN" smtClean="0">
              <a:ea typeface="楷体_GB2312" pitchFamily="49" charset="-122"/>
            </a:endParaRPr>
          </a:p>
        </p:txBody>
      </p:sp>
      <p:sp>
        <p:nvSpPr>
          <p:cNvPr id="215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7AAE7FF-D311-45BD-8089-A61E2142ED43}" type="slidenum">
              <a:rPr lang="en-US" altLang="zh-CN" smtClean="0">
                <a:ea typeface="楷体_GB2312" pitchFamily="49" charset="-122"/>
              </a:rPr>
              <a:pPr/>
              <a:t>2</a:t>
            </a:fld>
            <a:endParaRPr lang="en-US" altLang="zh-CN" smtClean="0">
              <a:ea typeface="楷体_GB2312" pitchFamily="49" charset="-122"/>
            </a:endParaRPr>
          </a:p>
        </p:txBody>
      </p:sp>
      <p:sp>
        <p:nvSpPr>
          <p:cNvPr id="2150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1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zh-CN" smtClean="0">
              <a:ea typeface="楷体_GB2312" pitchFamily="49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altLang="zh-CN" smtClean="0">
                <a:ea typeface="楷体_GB2312" pitchFamily="49" charset="-122"/>
              </a:rPr>
              <a:t>商少明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41DBACF4-1FBD-4EE9-AD4C-B876353F2671}" type="datetime1">
              <a:rPr lang="zh-CN" altLang="en-US" smtClean="0">
                <a:ea typeface="楷体_GB2312" pitchFamily="49" charset="-122"/>
              </a:rPr>
              <a:pPr/>
              <a:t>2021/12/8</a:t>
            </a:fld>
            <a:endParaRPr lang="en-US" altLang="zh-CN" smtClean="0">
              <a:ea typeface="楷体_GB2312" pitchFamily="49" charset="-122"/>
            </a:endParaRPr>
          </a:p>
        </p:txBody>
      </p:sp>
      <p:sp>
        <p:nvSpPr>
          <p:cNvPr id="2253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6EF9027-7CA4-4848-88D2-019E8A1CB578}" type="slidenum">
              <a:rPr lang="en-US" altLang="zh-CN" smtClean="0">
                <a:ea typeface="楷体_GB2312" pitchFamily="49" charset="-122"/>
              </a:rPr>
              <a:pPr/>
              <a:t>3</a:t>
            </a:fld>
            <a:endParaRPr lang="en-US" altLang="zh-CN" smtClean="0">
              <a:ea typeface="楷体_GB2312" pitchFamily="49" charset="-122"/>
            </a:endParaRPr>
          </a:p>
        </p:txBody>
      </p:sp>
      <p:sp>
        <p:nvSpPr>
          <p:cNvPr id="225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zh-CN" smtClean="0">
              <a:ea typeface="楷体_GB2312" pitchFamily="49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altLang="zh-CN" smtClean="0">
                <a:ea typeface="楷体_GB2312" pitchFamily="49" charset="-122"/>
              </a:rPr>
              <a:t>商少明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CE2C3355-99A7-4D7A-8BCA-2C34D5C76188}" type="datetime1">
              <a:rPr lang="zh-CN" altLang="en-US" smtClean="0">
                <a:ea typeface="楷体_GB2312" pitchFamily="49" charset="-122"/>
              </a:rPr>
              <a:pPr/>
              <a:t>2021/12/8</a:t>
            </a:fld>
            <a:endParaRPr lang="en-US" altLang="zh-CN" smtClean="0">
              <a:ea typeface="楷体_GB2312" pitchFamily="49" charset="-122"/>
            </a:endParaRPr>
          </a:p>
        </p:txBody>
      </p:sp>
      <p:sp>
        <p:nvSpPr>
          <p:cNvPr id="2355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0818015-2EA6-49B1-913F-8337C9135D1E}" type="slidenum">
              <a:rPr lang="en-US" altLang="zh-CN" smtClean="0">
                <a:ea typeface="楷体_GB2312" pitchFamily="49" charset="-122"/>
              </a:rPr>
              <a:pPr/>
              <a:t>4</a:t>
            </a:fld>
            <a:endParaRPr lang="en-US" altLang="zh-CN" smtClean="0">
              <a:ea typeface="楷体_GB2312" pitchFamily="49" charset="-122"/>
            </a:endParaRPr>
          </a:p>
        </p:txBody>
      </p:sp>
      <p:sp>
        <p:nvSpPr>
          <p:cNvPr id="235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zh-CN" smtClean="0">
              <a:ea typeface="楷体_GB2312" pitchFamily="49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altLang="zh-CN" smtClean="0">
                <a:ea typeface="楷体_GB2312" pitchFamily="49" charset="-122"/>
              </a:rPr>
              <a:t>商少明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71512356-DE34-49E2-B728-C1347ECB93E8}" type="datetime1">
              <a:rPr lang="zh-CN" altLang="en-US" smtClean="0">
                <a:ea typeface="楷体_GB2312" pitchFamily="49" charset="-122"/>
              </a:rPr>
              <a:pPr/>
              <a:t>2021/12/8</a:t>
            </a:fld>
            <a:endParaRPr lang="en-US" altLang="zh-CN" smtClean="0">
              <a:ea typeface="楷体_GB2312" pitchFamily="49" charset="-122"/>
            </a:endParaRPr>
          </a:p>
        </p:txBody>
      </p:sp>
      <p:sp>
        <p:nvSpPr>
          <p:cNvPr id="2458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9C08384-A9B4-4266-9D51-EB44852A54B6}" type="slidenum">
              <a:rPr lang="en-US" altLang="zh-CN" smtClean="0">
                <a:ea typeface="楷体_GB2312" pitchFamily="49" charset="-122"/>
              </a:rPr>
              <a:pPr/>
              <a:t>5</a:t>
            </a:fld>
            <a:endParaRPr lang="en-US" altLang="zh-CN" smtClean="0">
              <a:ea typeface="楷体_GB2312" pitchFamily="49" charset="-122"/>
            </a:endParaRPr>
          </a:p>
        </p:txBody>
      </p:sp>
      <p:sp>
        <p:nvSpPr>
          <p:cNvPr id="245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zh-CN" smtClean="0">
              <a:ea typeface="楷体_GB2312" pitchFamily="49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altLang="zh-CN" smtClean="0">
                <a:ea typeface="楷体_GB2312" pitchFamily="49" charset="-122"/>
              </a:rPr>
              <a:t>商少明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66C46031-12D5-4EE2-8870-41C99630B84B}" type="datetime1">
              <a:rPr lang="zh-CN" altLang="en-US" smtClean="0">
                <a:ea typeface="楷体_GB2312" pitchFamily="49" charset="-122"/>
              </a:rPr>
              <a:pPr/>
              <a:t>2021/12/8</a:t>
            </a:fld>
            <a:endParaRPr lang="en-US" altLang="zh-CN" smtClean="0">
              <a:ea typeface="楷体_GB2312" pitchFamily="49" charset="-122"/>
            </a:endParaRPr>
          </a:p>
        </p:txBody>
      </p:sp>
      <p:sp>
        <p:nvSpPr>
          <p:cNvPr id="2560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CD6166-6289-4AFA-B064-A649FE6EA8B7}" type="slidenum">
              <a:rPr lang="en-US" altLang="zh-CN" smtClean="0">
                <a:ea typeface="楷体_GB2312" pitchFamily="49" charset="-122"/>
              </a:rPr>
              <a:pPr/>
              <a:t>6</a:t>
            </a:fld>
            <a:endParaRPr lang="en-US" altLang="zh-CN" smtClean="0">
              <a:ea typeface="楷体_GB2312" pitchFamily="49" charset="-122"/>
            </a:endParaRPr>
          </a:p>
        </p:txBody>
      </p:sp>
      <p:sp>
        <p:nvSpPr>
          <p:cNvPr id="256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zh-CN" smtClean="0">
              <a:ea typeface="楷体_GB2312" pitchFamily="49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altLang="zh-CN" smtClean="0">
                <a:ea typeface="楷体_GB2312" pitchFamily="49" charset="-122"/>
              </a:rPr>
              <a:t>商少明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66C46031-12D5-4EE2-8870-41C99630B84B}" type="datetime1">
              <a:rPr lang="zh-CN" altLang="en-US" smtClean="0">
                <a:ea typeface="楷体_GB2312" pitchFamily="49" charset="-122"/>
              </a:rPr>
              <a:pPr/>
              <a:t>2021/12/8</a:t>
            </a:fld>
            <a:endParaRPr lang="en-US" altLang="zh-CN" smtClean="0">
              <a:ea typeface="楷体_GB2312" pitchFamily="49" charset="-122"/>
            </a:endParaRPr>
          </a:p>
        </p:txBody>
      </p:sp>
      <p:sp>
        <p:nvSpPr>
          <p:cNvPr id="2560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CD6166-6289-4AFA-B064-A649FE6EA8B7}" type="slidenum">
              <a:rPr lang="en-US" altLang="zh-CN" smtClean="0">
                <a:ea typeface="楷体_GB2312" pitchFamily="49" charset="-122"/>
              </a:rPr>
              <a:pPr/>
              <a:t>7</a:t>
            </a:fld>
            <a:endParaRPr lang="en-US" altLang="zh-CN" smtClean="0">
              <a:ea typeface="楷体_GB2312" pitchFamily="49" charset="-122"/>
            </a:endParaRPr>
          </a:p>
        </p:txBody>
      </p:sp>
      <p:sp>
        <p:nvSpPr>
          <p:cNvPr id="256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zh-CN" smtClean="0"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09248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altLang="zh-CN" smtClean="0">
                <a:ea typeface="楷体_GB2312" pitchFamily="49" charset="-122"/>
              </a:rPr>
              <a:t>商少明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984D6720-0059-4B82-9BFD-2D954F407F05}" type="datetime1">
              <a:rPr lang="zh-CN" altLang="en-US" smtClean="0">
                <a:ea typeface="楷体_GB2312" pitchFamily="49" charset="-122"/>
              </a:rPr>
              <a:pPr/>
              <a:t>2021/12/8</a:t>
            </a:fld>
            <a:endParaRPr lang="en-US" altLang="zh-CN" smtClean="0">
              <a:ea typeface="楷体_GB2312" pitchFamily="49" charset="-122"/>
            </a:endParaRPr>
          </a:p>
        </p:txBody>
      </p:sp>
      <p:sp>
        <p:nvSpPr>
          <p:cNvPr id="2662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7AF3997-4691-43FB-9B81-F5B251B62E98}" type="slidenum">
              <a:rPr lang="en-US" altLang="zh-CN" smtClean="0">
                <a:ea typeface="楷体_GB2312" pitchFamily="49" charset="-122"/>
              </a:rPr>
              <a:pPr/>
              <a:t>16</a:t>
            </a:fld>
            <a:endParaRPr lang="en-US" altLang="zh-CN" smtClean="0">
              <a:ea typeface="楷体_GB2312" pitchFamily="49" charset="-122"/>
            </a:endParaRPr>
          </a:p>
        </p:txBody>
      </p:sp>
      <p:sp>
        <p:nvSpPr>
          <p:cNvPr id="266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 smtClean="0">
                <a:ea typeface="楷体_GB2312" pitchFamily="49" charset="-122"/>
              </a:rPr>
              <a:t>配体大多为弱酸、碱</a:t>
            </a:r>
            <a:r>
              <a:rPr lang="en-US" altLang="zh-CN" smtClean="0">
                <a:ea typeface="楷体_GB2312" pitchFamily="49" charset="-122"/>
              </a:rPr>
              <a:t>;</a:t>
            </a:r>
            <a:r>
              <a:rPr lang="zh-CN" altLang="en-US" smtClean="0">
                <a:ea typeface="楷体_GB2312" pitchFamily="49" charset="-122"/>
              </a:rPr>
              <a:t>多元酸、碱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43200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8469" y="863823"/>
            <a:ext cx="10369550" cy="4276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1pPr>
            <a:lvl2pPr marL="4572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2pPr>
            <a:lvl3pPr marL="9144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3pPr>
            <a:lvl4pPr marL="13716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4pPr>
            <a:lvl5pPr marL="18288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152"/>
          <p:cNvGrpSpPr>
            <a:grpSpLocks/>
          </p:cNvGrpSpPr>
          <p:nvPr userDrawn="1"/>
        </p:nvGrpSpPr>
        <p:grpSpPr bwMode="auto">
          <a:xfrm>
            <a:off x="-34925" y="107950"/>
            <a:ext cx="11588750" cy="6408738"/>
            <a:chOff x="-22" y="68"/>
            <a:chExt cx="7300" cy="4037"/>
          </a:xfrm>
        </p:grpSpPr>
        <p:sp>
          <p:nvSpPr>
            <p:cNvPr id="1028" name="Freeform 1027"/>
            <p:cNvSpPr>
              <a:spLocks/>
            </p:cNvSpPr>
            <p:nvPr userDrawn="1"/>
          </p:nvSpPr>
          <p:spPr bwMode="auto">
            <a:xfrm>
              <a:off x="80" y="431"/>
              <a:ext cx="7080" cy="3174"/>
            </a:xfrm>
            <a:custGeom>
              <a:avLst/>
              <a:gdLst>
                <a:gd name="T0" fmla="*/ 9512 w 5269"/>
                <a:gd name="T1" fmla="*/ 0 h 2977"/>
                <a:gd name="T2" fmla="*/ 0 w 5269"/>
                <a:gd name="T3" fmla="*/ 0 h 2977"/>
                <a:gd name="T4" fmla="*/ 0 w 5269"/>
                <a:gd name="T5" fmla="*/ 3383 h 297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69" h="2977">
                  <a:moveTo>
                    <a:pt x="5268" y="0"/>
                  </a:moveTo>
                  <a:lnTo>
                    <a:pt x="0" y="0"/>
                  </a:lnTo>
                  <a:lnTo>
                    <a:pt x="0" y="2976"/>
                  </a:lnTo>
                </a:path>
              </a:pathLst>
            </a:custGeom>
            <a:noFill/>
            <a:ln w="12700" cap="rnd" cmpd="sng">
              <a:solidFill>
                <a:srgbClr val="B2B2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楷体_GB2312"/>
              </a:endParaRPr>
            </a:p>
          </p:txBody>
        </p:sp>
        <p:grpSp>
          <p:nvGrpSpPr>
            <p:cNvPr id="4101" name="Group 1042"/>
            <p:cNvGrpSpPr>
              <a:grpSpLocks/>
            </p:cNvGrpSpPr>
            <p:nvPr userDrawn="1"/>
          </p:nvGrpSpPr>
          <p:grpSpPr bwMode="auto">
            <a:xfrm rot="5400000">
              <a:off x="3597" y="-3112"/>
              <a:ext cx="68" cy="7141"/>
              <a:chOff x="336" y="1103"/>
              <a:chExt cx="97" cy="2785"/>
            </a:xfrm>
          </p:grpSpPr>
          <p:sp>
            <p:nvSpPr>
              <p:cNvPr id="1039" name="Rectangle 1043"/>
              <p:cNvSpPr>
                <a:spLocks noChangeArrowheads="1"/>
              </p:cNvSpPr>
              <p:nvPr userDrawn="1"/>
            </p:nvSpPr>
            <p:spPr bwMode="auto">
              <a:xfrm>
                <a:off x="338" y="1104"/>
                <a:ext cx="97" cy="2784"/>
              </a:xfrm>
              <a:prstGeom prst="rect">
                <a:avLst/>
              </a:prstGeom>
              <a:solidFill>
                <a:srgbClr val="DDDDDD"/>
              </a:solidFill>
              <a:ln w="1587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zh-CN" sz="2400">
                  <a:ea typeface="楷体_GB2312"/>
                </a:endParaRPr>
              </a:p>
            </p:txBody>
          </p:sp>
          <p:sp>
            <p:nvSpPr>
              <p:cNvPr id="1040" name="Freeform 1044"/>
              <p:cNvSpPr>
                <a:spLocks/>
              </p:cNvSpPr>
              <p:nvPr userDrawn="1"/>
            </p:nvSpPr>
            <p:spPr bwMode="auto">
              <a:xfrm>
                <a:off x="338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96 w 97"/>
                  <a:gd name="T3" fmla="*/ 2784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96" y="2784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5875" cap="rnd">
                <a:noFill/>
                <a:round/>
                <a:headEnd type="none" w="sm" len="sm"/>
                <a:tailEnd type="none" w="sm" len="sm"/>
              </a:ln>
            </p:spPr>
            <p:txBody>
              <a:bodyPr rot="10800000" vert="eaVert"/>
              <a:lstStyle/>
              <a:p>
                <a:pPr>
                  <a:defRPr/>
                </a:pPr>
                <a:endParaRPr lang="zh-CN" altLang="en-US">
                  <a:ea typeface="楷体_GB2312"/>
                </a:endParaRPr>
              </a:p>
            </p:txBody>
          </p:sp>
          <p:sp>
            <p:nvSpPr>
              <p:cNvPr id="1041" name="Freeform 1045"/>
              <p:cNvSpPr>
                <a:spLocks/>
              </p:cNvSpPr>
              <p:nvPr userDrawn="1"/>
            </p:nvSpPr>
            <p:spPr bwMode="auto">
              <a:xfrm>
                <a:off x="338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0 w 97"/>
                  <a:gd name="T3" fmla="*/ 0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5875" cap="rnd">
                <a:noFill/>
                <a:round/>
                <a:headEnd type="none" w="sm" len="sm"/>
                <a:tailEnd type="none" w="sm" len="sm"/>
              </a:ln>
            </p:spPr>
            <p:txBody>
              <a:bodyPr rot="10800000" vert="eaVert"/>
              <a:lstStyle/>
              <a:p>
                <a:pPr>
                  <a:defRPr/>
                </a:pPr>
                <a:endParaRPr lang="zh-CN" altLang="en-US">
                  <a:ea typeface="楷体_GB2312"/>
                </a:endParaRPr>
              </a:p>
            </p:txBody>
          </p:sp>
        </p:grpSp>
        <p:sp>
          <p:nvSpPr>
            <p:cNvPr id="1030" name="Freeform 1028"/>
            <p:cNvSpPr>
              <a:spLocks/>
            </p:cNvSpPr>
            <p:nvPr userDrawn="1"/>
          </p:nvSpPr>
          <p:spPr bwMode="auto">
            <a:xfrm>
              <a:off x="96" y="431"/>
              <a:ext cx="7080" cy="3174"/>
            </a:xfrm>
            <a:custGeom>
              <a:avLst/>
              <a:gdLst>
                <a:gd name="T0" fmla="*/ 9512 w 5269"/>
                <a:gd name="T1" fmla="*/ 0 h 2977"/>
                <a:gd name="T2" fmla="*/ 9512 w 5269"/>
                <a:gd name="T3" fmla="*/ 3383 h 2977"/>
                <a:gd name="T4" fmla="*/ 0 w 5269"/>
                <a:gd name="T5" fmla="*/ 3383 h 297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69" h="2977">
                  <a:moveTo>
                    <a:pt x="5268" y="0"/>
                  </a:moveTo>
                  <a:lnTo>
                    <a:pt x="5268" y="2976"/>
                  </a:lnTo>
                  <a:lnTo>
                    <a:pt x="0" y="2976"/>
                  </a:lnTo>
                </a:path>
              </a:pathLst>
            </a:custGeom>
            <a:noFill/>
            <a:ln w="127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楷体_GB2312"/>
              </a:endParaRPr>
            </a:p>
          </p:txBody>
        </p:sp>
        <p:sp>
          <p:nvSpPr>
            <p:cNvPr id="1031" name="Rectangle 1036"/>
            <p:cNvSpPr>
              <a:spLocks noChangeArrowheads="1"/>
            </p:cNvSpPr>
            <p:nvPr userDrawn="1"/>
          </p:nvSpPr>
          <p:spPr bwMode="auto">
            <a:xfrm>
              <a:off x="61" y="68"/>
              <a:ext cx="7141" cy="3584"/>
            </a:xfrm>
            <a:prstGeom prst="rect">
              <a:avLst/>
            </a:prstGeom>
            <a:noFill/>
            <a:ln w="254000">
              <a:pattFill prst="dkHorz">
                <a:fgClr>
                  <a:srgbClr val="C8C8C8"/>
                </a:fgClr>
                <a:bgClr>
                  <a:schemeClr val="bg1"/>
                </a:bgClr>
              </a:patt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1600">
                <a:ea typeface="楷体_GB2312" pitchFamily="49" charset="-122"/>
              </a:endParaRPr>
            </a:p>
          </p:txBody>
        </p:sp>
        <p:grpSp>
          <p:nvGrpSpPr>
            <p:cNvPr id="4104" name="Group 1038"/>
            <p:cNvGrpSpPr>
              <a:grpSpLocks/>
            </p:cNvGrpSpPr>
            <p:nvPr userDrawn="1"/>
          </p:nvGrpSpPr>
          <p:grpSpPr bwMode="auto">
            <a:xfrm>
              <a:off x="306" y="584"/>
              <a:ext cx="68" cy="2879"/>
              <a:chOff x="336" y="1103"/>
              <a:chExt cx="97" cy="2785"/>
            </a:xfrm>
          </p:grpSpPr>
          <p:sp>
            <p:nvSpPr>
              <p:cNvPr id="1036" name="Rectangle 1039"/>
              <p:cNvSpPr>
                <a:spLocks noChangeArrowheads="1"/>
              </p:cNvSpPr>
              <p:nvPr userDrawn="1"/>
            </p:nvSpPr>
            <p:spPr bwMode="auto">
              <a:xfrm>
                <a:off x="336" y="1104"/>
                <a:ext cx="96" cy="2784"/>
              </a:xfrm>
              <a:prstGeom prst="rect">
                <a:avLst/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zh-CN" sz="2400">
                  <a:ea typeface="楷体_GB2312"/>
                </a:endParaRPr>
              </a:p>
            </p:txBody>
          </p:sp>
          <p:sp>
            <p:nvSpPr>
              <p:cNvPr id="1037" name="Freeform 1040"/>
              <p:cNvSpPr>
                <a:spLocks/>
              </p:cNvSpPr>
              <p:nvPr userDrawn="1"/>
            </p:nvSpPr>
            <p:spPr bwMode="auto">
              <a:xfrm>
                <a:off x="336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96 w 97"/>
                  <a:gd name="T3" fmla="*/ 2784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96" y="2784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2700" cap="rnd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楷体_GB2312"/>
                </a:endParaRPr>
              </a:p>
            </p:txBody>
          </p:sp>
          <p:sp>
            <p:nvSpPr>
              <p:cNvPr id="1038" name="Freeform 1041"/>
              <p:cNvSpPr>
                <a:spLocks/>
              </p:cNvSpPr>
              <p:nvPr userDrawn="1"/>
            </p:nvSpPr>
            <p:spPr bwMode="auto">
              <a:xfrm>
                <a:off x="336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0 w 97"/>
                  <a:gd name="T3" fmla="*/ 0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2700" cap="rnd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楷体_GB2312"/>
                </a:endParaRPr>
              </a:p>
            </p:txBody>
          </p:sp>
        </p:grpSp>
        <p:sp>
          <p:nvSpPr>
            <p:cNvPr id="1033" name="Rectangle 139" descr="深色横线"/>
            <p:cNvSpPr>
              <a:spLocks noChangeArrowheads="1"/>
            </p:cNvSpPr>
            <p:nvPr userDrawn="1"/>
          </p:nvSpPr>
          <p:spPr bwMode="auto">
            <a:xfrm>
              <a:off x="-22" y="3652"/>
              <a:ext cx="7300" cy="453"/>
            </a:xfrm>
            <a:prstGeom prst="rect">
              <a:avLst/>
            </a:prstGeom>
            <a:pattFill prst="dkHorz">
              <a:fgClr>
                <a:srgbClr val="C8C8C8"/>
              </a:fgClr>
              <a:bgClr>
                <a:schemeClr val="bg1"/>
              </a:bgClr>
            </a:patt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楷体_GB2312"/>
              </a:endParaRPr>
            </a:p>
          </p:txBody>
        </p:sp>
        <p:sp>
          <p:nvSpPr>
            <p:cNvPr id="1034" name="AutoShape 143"/>
            <p:cNvSpPr>
              <a:spLocks noChangeArrowheads="1"/>
            </p:cNvSpPr>
            <p:nvPr userDrawn="1"/>
          </p:nvSpPr>
          <p:spPr bwMode="auto">
            <a:xfrm>
              <a:off x="136" y="136"/>
              <a:ext cx="6994" cy="295"/>
            </a:xfrm>
            <a:prstGeom prst="flowChartAlternateProcess">
              <a:avLst/>
            </a:prstGeom>
            <a:solidFill>
              <a:srgbClr val="EAEAEA"/>
            </a:solidFill>
            <a:ln w="31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楷体_GB2312"/>
              </a:endParaRPr>
            </a:p>
          </p:txBody>
        </p:sp>
        <p:sp>
          <p:nvSpPr>
            <p:cNvPr id="1035" name="Rectangle 146"/>
            <p:cNvSpPr>
              <a:spLocks noChangeArrowheads="1"/>
            </p:cNvSpPr>
            <p:nvPr userDrawn="1"/>
          </p:nvSpPr>
          <p:spPr bwMode="auto">
            <a:xfrm>
              <a:off x="136" y="499"/>
              <a:ext cx="6982" cy="3083"/>
            </a:xfrm>
            <a:prstGeom prst="rect">
              <a:avLst/>
            </a:prstGeom>
            <a:solidFill>
              <a:srgbClr val="EAEAEA">
                <a:alpha val="85097"/>
              </a:srgbClr>
            </a:solidFill>
            <a:ln w="19050">
              <a:solidFill>
                <a:srgbClr val="F8F8F8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楷体_GB2312"/>
              </a:endParaRPr>
            </a:p>
          </p:txBody>
        </p:sp>
      </p:grpSp>
      <p:sp>
        <p:nvSpPr>
          <p:cNvPr id="4099" name="Rectangle 149"/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215900"/>
            <a:ext cx="10369550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ransition spd="slow">
    <p:split orient="vert"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+mj-lt"/>
          <a:ea typeface="黑体" pitchFamily="2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黑体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slow">
    <p:split orient="vert"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06-03.pptx" TargetMode="External"/><Relationship Id="rId2" Type="http://schemas.openxmlformats.org/officeDocument/2006/relationships/hyperlink" Target="06-01.pptx" TargetMode="Externa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slide" Target="slide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audio" Target="../media/audio2.wav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audio" Target="../media/audio1.wav"/><Relationship Id="rId7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audio" Target="../media/audio2.wav"/><Relationship Id="rId4" Type="http://schemas.openxmlformats.org/officeDocument/2006/relationships/audio" Target="../media/audio3.wav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../../MEDIA/ch06/&#37197;&#21512;&#29289;&#19981;&#31283;&#23450;&#24615;.MPG" TargetMode="External"/><Relationship Id="rId3" Type="http://schemas.openxmlformats.org/officeDocument/2006/relationships/audio" Target="../media/audio1.wav"/><Relationship Id="rId7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audio" Target="../media/audio3.wav"/><Relationship Id="rId4" Type="http://schemas.openxmlformats.org/officeDocument/2006/relationships/audio" Target="../media/audio2.wav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hyperlink" Target="../../MEDIA/ch06/&#37197;&#21512;&#29289;&#19981;&#31283;&#23450;&#24615;.MPG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audio" Target="../media/audio3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../../03EXAMPLE/ch06/06-02-&#20363;&#39064;.pptx#-1,1,&#24187;&#28783;&#29255; 1" TargetMode="External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hyperlink" Target="../../03EXAMPLE/ch06/06-02-&#20363;&#39064;.pptx#-1,2,&#24187;&#28783;&#29255; 2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../../03EXAMPLE/ch06/06-02-&#20363;&#39064;.pptx#-1,4,&#24187;&#28783;&#29255; 4" TargetMode="External"/><Relationship Id="rId2" Type="http://schemas.openxmlformats.org/officeDocument/2006/relationships/hyperlink" Target="../../03EXAMPLE/ch06/06-02-&#20363;&#39064;.pptx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../../03EXAMPLE/ch06/06-02-&#20363;&#39064;.pptx#-1,10,&#24187;&#28783;&#29255; 10" TargetMode="External"/><Relationship Id="rId2" Type="http://schemas.openxmlformats.org/officeDocument/2006/relationships/hyperlink" Target="../../03EXAMPLE/ch06/06-02-&#20363;&#39064;.pptx#-1,8,&#24187;&#28783;&#29255; 8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../../03EXAMPLE/ch06/06-02-&#20363;&#39064;.pptx#-1,12,&#24187;&#28783;&#29255; 12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1.bin"/><Relationship Id="rId4" Type="http://schemas.openxmlformats.org/officeDocument/2006/relationships/audio" Target="../media/audio4.wav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3.wav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audio" Target="../media/audio2.wav"/><Relationship Id="rId10" Type="http://schemas.openxmlformats.org/officeDocument/2006/relationships/image" Target="../media/image4.jpeg"/><Relationship Id="rId4" Type="http://schemas.openxmlformats.org/officeDocument/2006/relationships/audio" Target="../media/audio5.wav"/><Relationship Id="rId9" Type="http://schemas.openxmlformats.org/officeDocument/2006/relationships/slide" Target="slide1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audio" Target="../media/audio6.wav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1.wav"/><Relationship Id="rId5" Type="http://schemas.openxmlformats.org/officeDocument/2006/relationships/audio" Target="../media/audio5.wav"/><Relationship Id="rId4" Type="http://schemas.openxmlformats.org/officeDocument/2006/relationships/audio" Target="../media/audio3.wav"/><Relationship Id="rId9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audio" Target="../media/audio4.wav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7" Type="http://schemas.openxmlformats.org/officeDocument/2006/relationships/image" Target="../media/image4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slide" Target="slide20.xml"/><Relationship Id="rId4" Type="http://schemas.openxmlformats.org/officeDocument/2006/relationships/audio" Target="../media/audio4.wav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.jpeg"/><Relationship Id="rId5" Type="http://schemas.openxmlformats.org/officeDocument/2006/relationships/image" Target="../media/image9.png"/><Relationship Id="rId4" Type="http://schemas.openxmlformats.org/officeDocument/2006/relationships/oleObject" Target="../embeddings/oleObject3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slide" Target="slide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../../03EXAMPLE/ch06/06-02-&#20363;&#39064;.pptx#-1,14,&#24187;&#28783;&#29255; 14" TargetMode="External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3.jpeg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74145" y="1597013"/>
            <a:ext cx="433003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 smtClean="0">
                <a:solidFill>
                  <a:srgbClr val="FFFF00"/>
                </a:solidFill>
                <a:latin typeface="+mn-lt"/>
                <a:ea typeface="黑体" pitchFamily="49" charset="-122"/>
                <a:hlinkClick r:id="rId2" action="ppaction://hlinkpres?slideindex=1&amp;slidetitle="/>
              </a:rPr>
              <a:t>6.1</a:t>
            </a:r>
            <a:r>
              <a:rPr lang="en-US" altLang="zh-CN" sz="2800" b="1" dirty="0" smtClean="0">
                <a:solidFill>
                  <a:srgbClr val="FFFF00"/>
                </a:solidFill>
                <a:latin typeface="+mn-lt"/>
                <a:ea typeface="黑体" pitchFamily="49" charset="-122"/>
              </a:rPr>
              <a:t> </a:t>
            </a:r>
            <a:r>
              <a:rPr lang="zh-CN" altLang="en-US" sz="2800" b="1" dirty="0" smtClean="0">
                <a:solidFill>
                  <a:srgbClr val="FFFF00"/>
                </a:solidFill>
                <a:latin typeface="+mn-lt"/>
                <a:ea typeface="黑体" pitchFamily="49" charset="-122"/>
              </a:rPr>
              <a:t>配合物与螯合物</a:t>
            </a:r>
            <a:endParaRPr lang="en-US" altLang="zh-CN" sz="2800" b="1" dirty="0" smtClean="0">
              <a:solidFill>
                <a:srgbClr val="FFFF00"/>
              </a:solidFill>
              <a:latin typeface="+mn-lt"/>
              <a:ea typeface="黑体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 smtClean="0">
                <a:latin typeface="+mn-lt"/>
                <a:ea typeface="黑体" pitchFamily="49" charset="-122"/>
              </a:rPr>
              <a:t>6.2 </a:t>
            </a:r>
            <a:r>
              <a:rPr lang="zh-CN" altLang="en-US" sz="2800" b="1" dirty="0" smtClean="0">
                <a:latin typeface="+mn-lt"/>
                <a:ea typeface="黑体" pitchFamily="49" charset="-122"/>
              </a:rPr>
              <a:t>配位平衡及其影响因素</a:t>
            </a:r>
            <a:endParaRPr lang="en-US" altLang="zh-CN" sz="2800" b="1" dirty="0" smtClean="0">
              <a:latin typeface="+mn-lt"/>
              <a:ea typeface="黑体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 smtClean="0">
                <a:latin typeface="+mn-lt"/>
                <a:ea typeface="黑体" pitchFamily="49" charset="-122"/>
                <a:hlinkClick r:id="rId3" action="ppaction://hlinkpres?slideindex=1&amp;slidetitle="/>
              </a:rPr>
              <a:t>6.3</a:t>
            </a:r>
            <a:r>
              <a:rPr lang="en-US" altLang="zh-CN" sz="2800" b="1" dirty="0" smtClean="0">
                <a:latin typeface="+mn-lt"/>
                <a:ea typeface="黑体" pitchFamily="49" charset="-122"/>
              </a:rPr>
              <a:t> </a:t>
            </a:r>
            <a:r>
              <a:rPr lang="zh-CN" altLang="en-US" sz="2800" b="1" dirty="0" smtClean="0">
                <a:latin typeface="+mn-lt"/>
                <a:ea typeface="黑体" pitchFamily="49" charset="-122"/>
              </a:rPr>
              <a:t>配位滴定法</a:t>
            </a:r>
            <a:endParaRPr lang="zh-CN" altLang="en-US" sz="2800" b="1" dirty="0">
              <a:latin typeface="+mn-lt"/>
              <a:ea typeface="黑体" pitchFamily="49" charset="-12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AutoShape 58">
            <a:hlinkClick r:id="rId3" action="ppaction://hlinksldjump" highlightClick="1"/>
          </p:cNvPr>
          <p:cNvSpPr>
            <a:spLocks noChangeAspect="1" noChangeArrowheads="1"/>
          </p:cNvSpPr>
          <p:nvPr/>
        </p:nvSpPr>
        <p:spPr bwMode="auto">
          <a:xfrm>
            <a:off x="1728589" y="2311400"/>
            <a:ext cx="544512" cy="407988"/>
          </a:xfrm>
          <a:prstGeom prst="actionButtonForwardNex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6147" name="AutoShape 59">
            <a:hlinkClick r:id="rId4" action="ppaction://hlinksldjump" highlightClick="1"/>
          </p:cNvPr>
          <p:cNvSpPr>
            <a:spLocks noChangeAspect="1" noChangeArrowheads="1"/>
          </p:cNvSpPr>
          <p:nvPr/>
        </p:nvSpPr>
        <p:spPr bwMode="auto">
          <a:xfrm>
            <a:off x="1728589" y="3382963"/>
            <a:ext cx="544512" cy="407987"/>
          </a:xfrm>
          <a:prstGeom prst="actionButtonForwardNex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楷体_GB2312" pitchFamily="49" charset="-122"/>
            </a:endParaRPr>
          </a:p>
        </p:txBody>
      </p:sp>
      <p:sp>
        <p:nvSpPr>
          <p:cNvPr id="2108" name="Rectangle 60"/>
          <p:cNvSpPr>
            <a:spLocks noChangeArrowheads="1"/>
          </p:cNvSpPr>
          <p:nvPr/>
        </p:nvSpPr>
        <p:spPr bwMode="auto">
          <a:xfrm>
            <a:off x="2228651" y="1668463"/>
            <a:ext cx="8404225" cy="2087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270000"/>
              </a:lnSpc>
            </a:pPr>
            <a:r>
              <a:rPr lang="en-US" altLang="zh-CN" sz="2800" b="1" dirty="0">
                <a:ea typeface="黑体" pitchFamily="49" charset="-122"/>
              </a:rPr>
              <a:t>6.2.1 </a:t>
            </a:r>
            <a:r>
              <a:rPr lang="zh-CN" altLang="en-US" sz="2800" b="1" dirty="0">
                <a:ea typeface="黑体" pitchFamily="49" charset="-122"/>
              </a:rPr>
              <a:t>配位平衡及配合物的稳定常数</a:t>
            </a:r>
          </a:p>
          <a:p>
            <a:pPr>
              <a:lnSpc>
                <a:spcPct val="270000"/>
              </a:lnSpc>
            </a:pPr>
            <a:r>
              <a:rPr lang="en-US" altLang="zh-CN" sz="2800" b="1" dirty="0">
                <a:ea typeface="黑体" pitchFamily="49" charset="-122"/>
              </a:rPr>
              <a:t>6.2.2 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配合物的稳定性以及影响配位平衡的主要因素</a:t>
            </a:r>
            <a:endParaRPr lang="zh-CN" altLang="en-US" sz="2800" dirty="0"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270000"/>
              </a:lnSpc>
            </a:pPr>
            <a:endParaRPr lang="zh-CN" altLang="en-US" sz="2800" b="1" dirty="0">
              <a:ea typeface="黑体" pitchFamily="49" charset="-122"/>
            </a:endParaRPr>
          </a:p>
        </p:txBody>
      </p:sp>
      <p:sp>
        <p:nvSpPr>
          <p:cNvPr id="6149" name="Rectangle 66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  <a:noFill/>
        </p:spPr>
        <p:txBody>
          <a:bodyPr/>
          <a:lstStyle/>
          <a:p>
            <a:r>
              <a:rPr lang="en-US" altLang="zh-CN" smtClean="0">
                <a:solidFill>
                  <a:srgbClr val="FF3300"/>
                </a:solidFill>
                <a:ea typeface="黑体" pitchFamily="49" charset="-122"/>
              </a:rPr>
              <a:t>6.2 </a:t>
            </a:r>
            <a:r>
              <a:rPr lang="zh-CN" altLang="en-US" smtClean="0">
                <a:solidFill>
                  <a:srgbClr val="FF3300"/>
                </a:solidFill>
                <a:ea typeface="黑体" pitchFamily="49" charset="-122"/>
              </a:rPr>
              <a:t>配位平衡及其影响因素</a:t>
            </a:r>
            <a:endParaRPr lang="zh-CN" altLang="en-US" sz="1400" b="0" smtClean="0">
              <a:solidFill>
                <a:srgbClr val="FF3300"/>
              </a:solidFill>
              <a:ea typeface="黑体" pitchFamily="49" charset="-122"/>
            </a:endParaRPr>
          </a:p>
        </p:txBody>
      </p:sp>
      <p:sp>
        <p:nvSpPr>
          <p:cNvPr id="6150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1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8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6" name="Text Box 4"/>
          <p:cNvSpPr txBox="1">
            <a:spLocks noChangeArrowheads="1"/>
          </p:cNvSpPr>
          <p:nvPr/>
        </p:nvSpPr>
        <p:spPr bwMode="auto">
          <a:xfrm>
            <a:off x="688975" y="954088"/>
            <a:ext cx="10231438" cy="4762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 dirty="0" smtClean="0">
                <a:solidFill>
                  <a:srgbClr val="FF3300"/>
                </a:solidFill>
                <a:ea typeface="楷体_GB2312" pitchFamily="49" charset="-122"/>
              </a:rPr>
              <a:t>1.</a:t>
            </a:r>
            <a:r>
              <a:rPr lang="zh-CN" altLang="en-US" sz="2500" b="1" dirty="0" smtClean="0">
                <a:solidFill>
                  <a:srgbClr val="FF3300"/>
                </a:solidFill>
                <a:ea typeface="楷体_GB2312" pitchFamily="49" charset="-122"/>
              </a:rPr>
              <a:t>配合物的稳定常数</a:t>
            </a:r>
            <a:r>
              <a:rPr lang="en-US" altLang="zh-CN" sz="2500" b="1" dirty="0" smtClean="0">
                <a:solidFill>
                  <a:srgbClr val="FF3300"/>
                </a:solidFill>
                <a:ea typeface="楷体_GB2312" pitchFamily="49" charset="-122"/>
              </a:rPr>
              <a:t>:</a:t>
            </a:r>
            <a:endParaRPr lang="en-US" altLang="zh-CN" sz="2500" b="1" dirty="0">
              <a:solidFill>
                <a:srgbClr val="FF3300"/>
              </a:solidFill>
              <a:ea typeface="楷体_GB2312" pitchFamily="49" charset="-122"/>
            </a:endParaRPr>
          </a:p>
        </p:txBody>
      </p:sp>
      <p:sp>
        <p:nvSpPr>
          <p:cNvPr id="110597" name="Rectangle 5"/>
          <p:cNvSpPr>
            <a:spLocks noChangeArrowheads="1"/>
          </p:cNvSpPr>
          <p:nvPr/>
        </p:nvSpPr>
        <p:spPr bwMode="auto">
          <a:xfrm>
            <a:off x="3415779" y="2017315"/>
            <a:ext cx="3888432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500" b="1" dirty="0">
                <a:ea typeface="楷体_GB2312" pitchFamily="49" charset="-122"/>
              </a:rPr>
              <a:t>Ca</a:t>
            </a:r>
            <a:r>
              <a:rPr lang="en-US" altLang="zh-CN" sz="2500" b="1" baseline="30000" dirty="0">
                <a:ea typeface="楷体_GB2312" pitchFamily="49" charset="-122"/>
              </a:rPr>
              <a:t>2+</a:t>
            </a:r>
            <a:r>
              <a:rPr lang="en-US" altLang="zh-CN" sz="2500" b="1" dirty="0">
                <a:ea typeface="楷体_GB2312" pitchFamily="49" charset="-122"/>
              </a:rPr>
              <a:t> + Y</a:t>
            </a:r>
            <a:r>
              <a:rPr lang="en-US" altLang="zh-CN" sz="2500" b="1" baseline="30000" dirty="0">
                <a:ea typeface="楷体_GB2312" pitchFamily="49" charset="-122"/>
              </a:rPr>
              <a:t>4-</a:t>
            </a:r>
            <a:r>
              <a:rPr lang="en-US" altLang="zh-CN" sz="2500" b="1" baseline="-25000" dirty="0">
                <a:ea typeface="楷体_GB2312" pitchFamily="49" charset="-122"/>
              </a:rPr>
              <a:t> </a:t>
            </a:r>
            <a:r>
              <a:rPr lang="en-US" altLang="zh-CN" sz="2500" b="1" dirty="0">
                <a:ea typeface="楷体_GB2312" pitchFamily="49" charset="-122"/>
              </a:rPr>
              <a:t>⇋ CaY</a:t>
            </a:r>
            <a:r>
              <a:rPr lang="en-US" altLang="zh-CN" sz="2500" b="1" baseline="30000" dirty="0">
                <a:ea typeface="楷体_GB2312" pitchFamily="49" charset="-122"/>
              </a:rPr>
              <a:t>2-</a:t>
            </a:r>
          </a:p>
        </p:txBody>
      </p:sp>
      <p:sp>
        <p:nvSpPr>
          <p:cNvPr id="110602" name="Rectangle 10"/>
          <p:cNvSpPr>
            <a:spLocks noChangeArrowheads="1"/>
          </p:cNvSpPr>
          <p:nvPr/>
        </p:nvSpPr>
        <p:spPr bwMode="auto">
          <a:xfrm>
            <a:off x="891729" y="3574257"/>
            <a:ext cx="2619821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500" b="1" i="1" dirty="0">
                <a:solidFill>
                  <a:srgbClr val="FF0000"/>
                </a:solidFill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lang="zh-CN" altLang="en-US" sz="2500" b="1" baseline="-25000" dirty="0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稳</a:t>
            </a:r>
            <a:r>
              <a:rPr lang="zh-CN" altLang="en-US" sz="2500" b="1" dirty="0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意义及作用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:</a:t>
            </a:r>
          </a:p>
        </p:txBody>
      </p:sp>
      <p:sp>
        <p:nvSpPr>
          <p:cNvPr id="110604" name="Rectangle 12"/>
          <p:cNvSpPr>
            <a:spLocks noChangeArrowheads="1"/>
          </p:cNvSpPr>
          <p:nvPr/>
        </p:nvSpPr>
        <p:spPr bwMode="auto">
          <a:xfrm>
            <a:off x="903288" y="1526371"/>
            <a:ext cx="2539478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      </a:t>
            </a:r>
            <a:r>
              <a:rPr lang="en-US" altLang="zh-CN" sz="2500" b="1" dirty="0" smtClean="0">
                <a:ea typeface="楷体_GB2312" pitchFamily="49" charset="-122"/>
              </a:rPr>
              <a:t>CaY</a:t>
            </a:r>
            <a:r>
              <a:rPr lang="en-US" altLang="zh-CN" sz="2500" b="1" baseline="30000" dirty="0" smtClean="0">
                <a:ea typeface="楷体_GB2312" pitchFamily="49" charset="-122"/>
              </a:rPr>
              <a:t>2-</a:t>
            </a:r>
            <a:r>
              <a:rPr lang="zh-CN" altLang="en-US" sz="2500" b="1" dirty="0">
                <a:ea typeface="楷体_GB2312" pitchFamily="49" charset="-122"/>
              </a:rPr>
              <a:t>的形成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</a:p>
        </p:txBody>
      </p:sp>
      <p:sp>
        <p:nvSpPr>
          <p:cNvPr id="7174" name="Rectangle 16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  <a:noFill/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6.2.1</a:t>
            </a:r>
            <a:r>
              <a:rPr lang="zh-CN" altLang="en-US" smtClean="0">
                <a:ea typeface="黑体" pitchFamily="49" charset="-122"/>
              </a:rPr>
              <a:t>配位平衡及配合物的稳定常数</a:t>
            </a:r>
            <a:endParaRPr lang="zh-CN" altLang="en-US" sz="1200" b="0" smtClean="0">
              <a:solidFill>
                <a:srgbClr val="0000FF"/>
              </a:solidFill>
              <a:ea typeface="黑体" pitchFamily="49" charset="-122"/>
            </a:endParaRPr>
          </a:p>
        </p:txBody>
      </p:sp>
      <p:sp>
        <p:nvSpPr>
          <p:cNvPr id="110609" name="Rectangle 17"/>
          <p:cNvSpPr>
            <a:spLocks noChangeArrowheads="1"/>
          </p:cNvSpPr>
          <p:nvPr/>
        </p:nvSpPr>
        <p:spPr bwMode="auto">
          <a:xfrm>
            <a:off x="1117600" y="2740025"/>
            <a:ext cx="7969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 =</a:t>
            </a:r>
            <a:endParaRPr lang="en-US" altLang="zh-CN" sz="2500" b="1" baseline="30000" dirty="0">
              <a:ea typeface="楷体_GB2312" pitchFamily="49" charset="-122"/>
              <a:sym typeface="Webdings" pitchFamily="18" charset="2"/>
            </a:endParaRPr>
          </a:p>
        </p:txBody>
      </p:sp>
      <p:sp>
        <p:nvSpPr>
          <p:cNvPr id="110610" name="Line 18"/>
          <p:cNvSpPr>
            <a:spLocks noChangeShapeType="1"/>
          </p:cNvSpPr>
          <p:nvPr/>
        </p:nvSpPr>
        <p:spPr bwMode="auto">
          <a:xfrm>
            <a:off x="2039938" y="3060700"/>
            <a:ext cx="22685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0611" name="Rectangle 19"/>
          <p:cNvSpPr>
            <a:spLocks noChangeArrowheads="1"/>
          </p:cNvSpPr>
          <p:nvPr/>
        </p:nvSpPr>
        <p:spPr bwMode="auto">
          <a:xfrm>
            <a:off x="2312988" y="2549525"/>
            <a:ext cx="1198562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>
                <a:ea typeface="楷体_GB2312" pitchFamily="49" charset="-122"/>
              </a:rPr>
              <a:t>[CaY</a:t>
            </a:r>
            <a:r>
              <a:rPr lang="en-US" altLang="zh-CN" sz="2500" b="1" baseline="30000">
                <a:ea typeface="楷体_GB2312" pitchFamily="49" charset="-122"/>
              </a:rPr>
              <a:t>2-</a:t>
            </a:r>
            <a:r>
              <a:rPr lang="en-US" altLang="zh-CN" sz="2500" b="1">
                <a:ea typeface="楷体_GB2312" pitchFamily="49" charset="-122"/>
              </a:rPr>
              <a:t>]</a:t>
            </a:r>
          </a:p>
        </p:txBody>
      </p:sp>
      <p:sp>
        <p:nvSpPr>
          <p:cNvPr id="110612" name="Rectangle 20"/>
          <p:cNvSpPr>
            <a:spLocks noChangeArrowheads="1"/>
          </p:cNvSpPr>
          <p:nvPr/>
        </p:nvSpPr>
        <p:spPr bwMode="auto">
          <a:xfrm>
            <a:off x="2039938" y="3025775"/>
            <a:ext cx="102076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>
                <a:ea typeface="楷体_GB2312" pitchFamily="49" charset="-122"/>
              </a:rPr>
              <a:t>[Ca</a:t>
            </a:r>
            <a:r>
              <a:rPr lang="en-US" altLang="zh-CN" sz="2500" b="1" baseline="30000">
                <a:ea typeface="楷体_GB2312" pitchFamily="49" charset="-122"/>
              </a:rPr>
              <a:t>2+</a:t>
            </a:r>
            <a:r>
              <a:rPr lang="en-US" altLang="zh-CN" sz="2500" b="1">
                <a:ea typeface="楷体_GB2312" pitchFamily="49" charset="-122"/>
              </a:rPr>
              <a:t>]</a:t>
            </a:r>
          </a:p>
        </p:txBody>
      </p:sp>
      <p:sp>
        <p:nvSpPr>
          <p:cNvPr id="110613" name="Rectangle 21"/>
          <p:cNvSpPr>
            <a:spLocks noChangeArrowheads="1"/>
          </p:cNvSpPr>
          <p:nvPr/>
        </p:nvSpPr>
        <p:spPr bwMode="auto">
          <a:xfrm>
            <a:off x="3171825" y="3025775"/>
            <a:ext cx="8096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>
                <a:ea typeface="楷体_GB2312" pitchFamily="49" charset="-122"/>
              </a:rPr>
              <a:t>[Y</a:t>
            </a:r>
            <a:r>
              <a:rPr lang="en-US" altLang="zh-CN" sz="2500" b="1" baseline="30000">
                <a:ea typeface="楷体_GB2312" pitchFamily="49" charset="-122"/>
              </a:rPr>
              <a:t>4-</a:t>
            </a:r>
            <a:r>
              <a:rPr lang="en-US" altLang="zh-CN" sz="2500" b="1">
                <a:ea typeface="楷体_GB2312" pitchFamily="49" charset="-122"/>
              </a:rPr>
              <a:t>]</a:t>
            </a:r>
          </a:p>
        </p:txBody>
      </p:sp>
      <p:sp>
        <p:nvSpPr>
          <p:cNvPr id="110614" name="Rectangle 22"/>
          <p:cNvSpPr>
            <a:spLocks noChangeArrowheads="1"/>
          </p:cNvSpPr>
          <p:nvPr/>
        </p:nvSpPr>
        <p:spPr bwMode="auto">
          <a:xfrm>
            <a:off x="4189413" y="2811463"/>
            <a:ext cx="14541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=10</a:t>
            </a:r>
            <a:r>
              <a:rPr lang="en-US" altLang="zh-CN" sz="2500" b="1" baseline="30000">
                <a:ea typeface="楷体_GB2312" pitchFamily="49" charset="-122"/>
                <a:sym typeface="Webdings" pitchFamily="18" charset="2"/>
              </a:rPr>
              <a:t>11.0</a:t>
            </a:r>
          </a:p>
        </p:txBody>
      </p:sp>
      <p:sp>
        <p:nvSpPr>
          <p:cNvPr id="110615" name="Rectangle 23"/>
          <p:cNvSpPr>
            <a:spLocks noChangeArrowheads="1"/>
          </p:cNvSpPr>
          <p:nvPr/>
        </p:nvSpPr>
        <p:spPr bwMode="auto">
          <a:xfrm>
            <a:off x="5475288" y="2811463"/>
            <a:ext cx="1011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=</a:t>
            </a:r>
            <a:r>
              <a:rPr lang="en-US" altLang="zh-CN" sz="2500" b="1" i="1" dirty="0">
                <a:ea typeface="楷体_GB2312" pitchFamily="49" charset="-122"/>
              </a:rPr>
              <a:t> 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zh-CN" altLang="en-US" sz="2500" b="1" baseline="-25000" dirty="0">
                <a:ea typeface="楷体_GB2312" pitchFamily="49" charset="-122"/>
                <a:sym typeface="Webdings" pitchFamily="18" charset="2"/>
              </a:rPr>
              <a:t>稳</a:t>
            </a:r>
          </a:p>
        </p:txBody>
      </p:sp>
      <p:sp>
        <p:nvSpPr>
          <p:cNvPr id="110618" name="Rectangle 26"/>
          <p:cNvSpPr>
            <a:spLocks noChangeArrowheads="1"/>
          </p:cNvSpPr>
          <p:nvPr/>
        </p:nvSpPr>
        <p:spPr bwMode="auto">
          <a:xfrm>
            <a:off x="1974850" y="3954463"/>
            <a:ext cx="5226347" cy="1246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①</a:t>
            </a:r>
            <a:r>
              <a:rPr lang="zh-CN" altLang="en-US" sz="2500" b="1" dirty="0">
                <a:latin typeface="楷体_GB2312" pitchFamily="49" charset="-122"/>
                <a:ea typeface="楷体_GB2312" pitchFamily="49" charset="-122"/>
                <a:sym typeface="Webdings" pitchFamily="18" charset="2"/>
              </a:rPr>
              <a:t>衡量稳定性高低</a:t>
            </a:r>
            <a:r>
              <a:rPr lang="en-US" altLang="zh-CN" sz="2500" b="1" dirty="0">
                <a:latin typeface="楷体_GB2312" pitchFamily="49" charset="-122"/>
                <a:ea typeface="楷体_GB2312" pitchFamily="49" charset="-122"/>
                <a:sym typeface="Webdings" pitchFamily="18" charset="2"/>
              </a:rPr>
              <a:t>;</a:t>
            </a:r>
          </a:p>
          <a:p>
            <a:r>
              <a:rPr lang="en-US" altLang="zh-CN" sz="2500" b="1" dirty="0">
                <a:ea typeface="楷体_GB2312" pitchFamily="49" charset="-122"/>
              </a:rPr>
              <a:t>②</a:t>
            </a:r>
            <a:r>
              <a:rPr lang="zh-CN" altLang="en-US" sz="2500" b="1" dirty="0">
                <a:ea typeface="楷体_GB2312" pitchFamily="49" charset="-122"/>
                <a:sym typeface="Webdings" pitchFamily="18" charset="2"/>
              </a:rPr>
              <a:t>比较</a:t>
            </a:r>
            <a:r>
              <a:rPr lang="zh-CN" altLang="en-US" sz="2500" b="1" dirty="0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同型</a:t>
            </a:r>
            <a:r>
              <a:rPr lang="zh-CN" altLang="en-US" sz="2500" b="1" dirty="0">
                <a:ea typeface="楷体_GB2312" pitchFamily="49" charset="-122"/>
                <a:sym typeface="Webdings" pitchFamily="18" charset="2"/>
              </a:rPr>
              <a:t>配合物稳定性相对高低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;</a:t>
            </a:r>
          </a:p>
          <a:p>
            <a:r>
              <a:rPr lang="en-US" altLang="zh-CN" sz="2500" b="1" dirty="0">
                <a:ea typeface="楷体_GB2312" pitchFamily="49" charset="-122"/>
              </a:rPr>
              <a:t>③</a:t>
            </a:r>
            <a:r>
              <a:rPr lang="zh-CN" altLang="en-US" sz="2500" b="1" dirty="0">
                <a:ea typeface="楷体_GB2312" pitchFamily="49" charset="-122"/>
                <a:sym typeface="Webdings" pitchFamily="18" charset="2"/>
              </a:rPr>
              <a:t>平衡计算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.</a:t>
            </a:r>
          </a:p>
        </p:txBody>
      </p:sp>
      <p:sp>
        <p:nvSpPr>
          <p:cNvPr id="24" name="Rectangle 10"/>
          <p:cNvSpPr>
            <a:spLocks noChangeArrowheads="1"/>
          </p:cNvSpPr>
          <p:nvPr/>
        </p:nvSpPr>
        <p:spPr bwMode="auto">
          <a:xfrm>
            <a:off x="6832600" y="2882900"/>
            <a:ext cx="10344150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</a:rPr>
              <a:t>如</a:t>
            </a:r>
            <a:r>
              <a:rPr lang="en-US" altLang="zh-CN" sz="2500" b="1" dirty="0">
                <a:ea typeface="楷体_GB2312" pitchFamily="49" charset="-122"/>
              </a:rPr>
              <a:t>:  ZnY</a:t>
            </a:r>
            <a:r>
              <a:rPr lang="en-US" altLang="zh-CN" sz="2500" b="1" baseline="30000" dirty="0">
                <a:ea typeface="楷体_GB2312" pitchFamily="49" charset="-122"/>
              </a:rPr>
              <a:t>2-  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en-US" altLang="zh-CN" sz="2500" b="1" baseline="30000" dirty="0">
                <a:ea typeface="楷体_GB2312" pitchFamily="49" charset="-122"/>
              </a:rPr>
              <a:t>    </a:t>
            </a:r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zh-CN" altLang="en-US" sz="2500" b="1" baseline="-25000" dirty="0">
                <a:ea typeface="楷体_GB2312" pitchFamily="49" charset="-122"/>
                <a:sym typeface="Webdings" pitchFamily="18" charset="2"/>
              </a:rPr>
              <a:t>稳</a:t>
            </a:r>
            <a:r>
              <a:rPr lang="zh-CN" altLang="en-US" sz="2500" b="1" dirty="0">
                <a:ea typeface="楷体_GB2312" pitchFamily="49" charset="-122"/>
                <a:sym typeface="Webdings" pitchFamily="18" charset="2"/>
              </a:rPr>
              <a:t> 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= 10</a:t>
            </a:r>
            <a:r>
              <a:rPr lang="en-US" altLang="zh-CN" sz="2500" b="1" baseline="30000" dirty="0">
                <a:ea typeface="楷体_GB2312" pitchFamily="49" charset="-122"/>
                <a:sym typeface="Webdings" pitchFamily="18" charset="2"/>
              </a:rPr>
              <a:t>16.4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.</a:t>
            </a:r>
          </a:p>
        </p:txBody>
      </p:sp>
      <p:sp>
        <p:nvSpPr>
          <p:cNvPr id="7184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85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Rectangle 23"/>
          <p:cNvSpPr>
            <a:spLocks noChangeArrowheads="1"/>
          </p:cNvSpPr>
          <p:nvPr/>
        </p:nvSpPr>
        <p:spPr bwMode="auto">
          <a:xfrm>
            <a:off x="6327049" y="3616323"/>
            <a:ext cx="3728906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 i="1" dirty="0" smtClean="0">
                <a:ea typeface="楷体_GB2312" pitchFamily="49" charset="-122"/>
              </a:rPr>
              <a:t> </a:t>
            </a:r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zh-CN" altLang="en-US" sz="2500" b="1" baseline="-25000" dirty="0" smtClean="0">
                <a:ea typeface="楷体_GB2312" pitchFamily="49" charset="-122"/>
                <a:sym typeface="Webdings" pitchFamily="18" charset="2"/>
              </a:rPr>
              <a:t>稳</a:t>
            </a:r>
            <a:r>
              <a:rPr lang="zh-CN" altLang="en-US" sz="2500" b="1" dirty="0" smtClean="0">
                <a:ea typeface="楷体_GB2312" pitchFamily="49" charset="-122"/>
                <a:sym typeface="Webdings" pitchFamily="18" charset="2"/>
              </a:rPr>
              <a:t>越大，配合物越？？</a:t>
            </a:r>
            <a:endParaRPr lang="zh-CN" altLang="en-US" sz="2500" b="1" baseline="-25000" dirty="0">
              <a:ea typeface="楷体_GB2312" pitchFamily="49" charset="-122"/>
              <a:sym typeface="Webdings" pitchFamily="18" charset="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070" y="3256719"/>
            <a:ext cx="1112912" cy="1112912"/>
          </a:xfrm>
          <a:prstGeom prst="rect">
            <a:avLst/>
          </a:prstGeom>
        </p:spPr>
      </p:pic>
      <p:sp>
        <p:nvSpPr>
          <p:cNvPr id="20" name="Rectangle 34"/>
          <p:cNvSpPr>
            <a:spLocks noChangeArrowheads="1"/>
          </p:cNvSpPr>
          <p:nvPr/>
        </p:nvSpPr>
        <p:spPr bwMode="auto">
          <a:xfrm>
            <a:off x="7057181" y="4216007"/>
            <a:ext cx="3606800" cy="86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华文新魏" pitchFamily="2" charset="-122"/>
              </a:rPr>
              <a:t>[Ag(NH</a:t>
            </a:r>
            <a:r>
              <a:rPr lang="en-US" altLang="zh-CN" sz="2500" b="1" baseline="-25000" dirty="0">
                <a:ea typeface="华文新魏" pitchFamily="2" charset="-122"/>
              </a:rPr>
              <a:t>3</a:t>
            </a:r>
            <a:r>
              <a:rPr lang="en-US" altLang="zh-CN" sz="2500" b="1" dirty="0">
                <a:ea typeface="华文新魏" pitchFamily="2" charset="-122"/>
              </a:rPr>
              <a:t>)</a:t>
            </a:r>
            <a:r>
              <a:rPr lang="en-US" altLang="zh-CN" sz="2500" b="1" baseline="-25000" dirty="0">
                <a:ea typeface="华文新魏" pitchFamily="2" charset="-122"/>
              </a:rPr>
              <a:t>2</a:t>
            </a:r>
            <a:r>
              <a:rPr lang="en-US" altLang="zh-CN" sz="2500" b="1" dirty="0">
                <a:ea typeface="华文新魏" pitchFamily="2" charset="-122"/>
              </a:rPr>
              <a:t>]</a:t>
            </a:r>
            <a:r>
              <a:rPr lang="en-US" altLang="zh-CN" sz="2500" b="1" baseline="30000" dirty="0">
                <a:ea typeface="华文新魏" pitchFamily="2" charset="-122"/>
              </a:rPr>
              <a:t>+ </a:t>
            </a:r>
            <a:r>
              <a:rPr lang="en-US" altLang="zh-CN" sz="2500" b="1" i="1" dirty="0">
                <a:ea typeface="华文新魏" pitchFamily="2" charset="-122"/>
              </a:rPr>
              <a:t>K</a:t>
            </a:r>
            <a:r>
              <a:rPr lang="en-US" altLang="zh-CN" sz="1600" b="1" baseline="100000" dirty="0">
                <a:ea typeface="华文新魏" pitchFamily="2" charset="-122"/>
                <a:sym typeface="Webdings" pitchFamily="18" charset="2"/>
              </a:rPr>
              <a:t></a:t>
            </a:r>
            <a:r>
              <a:rPr lang="zh-CN" altLang="en-US" sz="2500" b="1" baseline="-25000" dirty="0">
                <a:ea typeface="华文新魏" pitchFamily="2" charset="-122"/>
                <a:sym typeface="Webdings" pitchFamily="18" charset="2"/>
              </a:rPr>
              <a:t>稳</a:t>
            </a:r>
            <a:r>
              <a:rPr lang="zh-CN" altLang="en-US" sz="2500" b="1" dirty="0">
                <a:ea typeface="华文新魏" pitchFamily="2" charset="-122"/>
                <a:sym typeface="Webdings" pitchFamily="18" charset="2"/>
              </a:rPr>
              <a:t> 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= 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10</a:t>
            </a:r>
            <a:r>
              <a:rPr lang="en-US" altLang="zh-CN" sz="2500" b="1" baseline="30000" dirty="0">
                <a:ea typeface="华文新魏" pitchFamily="2" charset="-122"/>
                <a:sym typeface="Symbol" pitchFamily="18" charset="2"/>
              </a:rPr>
              <a:t>7.05</a:t>
            </a:r>
            <a:r>
              <a:rPr lang="en-US" altLang="zh-CN" sz="2500" b="1" baseline="30000" dirty="0">
                <a:ea typeface="华文新魏" pitchFamily="2" charset="-122"/>
              </a:rPr>
              <a:t> </a:t>
            </a:r>
          </a:p>
          <a:p>
            <a:r>
              <a:rPr lang="en-US" altLang="zh-CN" sz="2500" b="1" dirty="0">
                <a:ea typeface="华文新魏" pitchFamily="2" charset="-122"/>
              </a:rPr>
              <a:t>[Ag(CN)</a:t>
            </a:r>
            <a:r>
              <a:rPr lang="en-US" altLang="zh-CN" sz="2500" b="1" baseline="-25000" dirty="0">
                <a:ea typeface="华文新魏" pitchFamily="2" charset="-122"/>
              </a:rPr>
              <a:t>2</a:t>
            </a:r>
            <a:r>
              <a:rPr lang="en-US" altLang="zh-CN" sz="2500" b="1" dirty="0">
                <a:ea typeface="华文新魏" pitchFamily="2" charset="-122"/>
              </a:rPr>
              <a:t>]</a:t>
            </a:r>
            <a:r>
              <a:rPr lang="en-US" altLang="zh-CN" sz="2500" b="1" baseline="30000" dirty="0">
                <a:ea typeface="华文新魏" pitchFamily="2" charset="-122"/>
              </a:rPr>
              <a:t>-</a:t>
            </a:r>
            <a:r>
              <a:rPr lang="en-US" altLang="zh-CN" sz="2500" b="1" dirty="0">
                <a:ea typeface="华文新魏" pitchFamily="2" charset="-122"/>
              </a:rPr>
              <a:t>   </a:t>
            </a:r>
            <a:r>
              <a:rPr lang="en-US" altLang="zh-CN" sz="2500" b="1" i="1" dirty="0">
                <a:ea typeface="华文新魏" pitchFamily="2" charset="-122"/>
              </a:rPr>
              <a:t>K</a:t>
            </a:r>
            <a:r>
              <a:rPr lang="en-US" altLang="zh-CN" sz="1600" b="1" baseline="100000" dirty="0">
                <a:ea typeface="华文新魏" pitchFamily="2" charset="-122"/>
                <a:sym typeface="Webdings" pitchFamily="18" charset="2"/>
              </a:rPr>
              <a:t></a:t>
            </a:r>
            <a:r>
              <a:rPr lang="zh-CN" altLang="en-US" sz="2500" b="1" baseline="-25000" dirty="0">
                <a:ea typeface="华文新魏" pitchFamily="2" charset="-122"/>
                <a:sym typeface="Webdings" pitchFamily="18" charset="2"/>
              </a:rPr>
              <a:t>稳</a:t>
            </a:r>
            <a:r>
              <a:rPr lang="zh-CN" altLang="en-US" sz="2500" b="1" dirty="0">
                <a:ea typeface="华文新魏" pitchFamily="2" charset="-122"/>
                <a:sym typeface="Webdings" pitchFamily="18" charset="2"/>
              </a:rPr>
              <a:t> 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= 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10</a:t>
            </a:r>
            <a:r>
              <a:rPr lang="en-US" altLang="zh-CN" sz="2500" b="1" baseline="30000" dirty="0">
                <a:ea typeface="华文新魏" pitchFamily="2" charset="-122"/>
                <a:sym typeface="Symbol" pitchFamily="18" charset="2"/>
              </a:rPr>
              <a:t>21.1</a:t>
            </a:r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110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10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105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10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10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106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106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106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10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1106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110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110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5" dur="500"/>
                                        <p:tgtEl>
                                          <p:spTgt spid="1106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1106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6" grpId="0" autoUpdateAnimBg="0"/>
      <p:bldP spid="110597" grpId="0" build="p" autoUpdateAnimBg="0"/>
      <p:bldP spid="110602" grpId="0" build="p" autoUpdateAnimBg="0"/>
      <p:bldP spid="110604" grpId="0" build="p" autoUpdateAnimBg="0"/>
      <p:bldP spid="110609" grpId="0" autoUpdateAnimBg="0"/>
      <p:bldP spid="110610" grpId="0" animBg="1"/>
      <p:bldP spid="110611" grpId="0" autoUpdateAnimBg="0"/>
      <p:bldP spid="110612" grpId="0" autoUpdateAnimBg="0"/>
      <p:bldP spid="110613" grpId="0" autoUpdateAnimBg="0"/>
      <p:bldP spid="110614" grpId="0" autoUpdateAnimBg="0"/>
      <p:bldP spid="110615" grpId="0" autoUpdateAnimBg="0"/>
      <p:bldP spid="110618" grpId="0" uiExpand="1" build="p" autoUpdateAnimBg="0"/>
      <p:bldP spid="24" grpId="0" build="p" autoUpdateAnimBg="0"/>
      <p:bldP spid="18" grpId="0" autoUpdateAnimBg="0"/>
      <p:bldP spid="20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3" name="Rectangle 3"/>
          <p:cNvSpPr>
            <a:spLocks noChangeArrowheads="1"/>
          </p:cNvSpPr>
          <p:nvPr/>
        </p:nvSpPr>
        <p:spPr bwMode="auto">
          <a:xfrm>
            <a:off x="906463" y="1757262"/>
            <a:ext cx="5214937" cy="163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Cu</a:t>
            </a:r>
            <a:r>
              <a:rPr lang="en-US" altLang="zh-CN" sz="2500" b="1" baseline="30000" dirty="0">
                <a:ea typeface="楷体_GB2312" pitchFamily="49" charset="-122"/>
              </a:rPr>
              <a:t>2+</a:t>
            </a:r>
            <a:r>
              <a:rPr lang="en-US" altLang="zh-CN" sz="2500" b="1" dirty="0">
                <a:ea typeface="楷体_GB2312" pitchFamily="49" charset="-122"/>
              </a:rPr>
              <a:t> + NH</a:t>
            </a:r>
            <a:r>
              <a:rPr lang="en-US" altLang="zh-CN" sz="2500" b="1" baseline="-25000" dirty="0">
                <a:ea typeface="楷体_GB2312" pitchFamily="49" charset="-122"/>
              </a:rPr>
              <a:t>3 </a:t>
            </a:r>
            <a:r>
              <a:rPr lang="en-US" altLang="zh-CN" sz="2500" b="1" dirty="0">
                <a:ea typeface="楷体_GB2312" pitchFamily="49" charset="-122"/>
              </a:rPr>
              <a:t>⇋ [Cu(NH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dirty="0">
                <a:ea typeface="楷体_GB2312" pitchFamily="49" charset="-122"/>
              </a:rPr>
              <a:t>)]</a:t>
            </a:r>
            <a:r>
              <a:rPr lang="en-US" altLang="zh-CN" sz="2500" b="1" baseline="30000" dirty="0">
                <a:ea typeface="楷体_GB2312" pitchFamily="49" charset="-122"/>
              </a:rPr>
              <a:t>2+</a:t>
            </a:r>
          </a:p>
          <a:p>
            <a:r>
              <a:rPr lang="en-US" altLang="zh-CN" sz="2500" b="1" dirty="0">
                <a:ea typeface="楷体_GB2312" pitchFamily="49" charset="-122"/>
              </a:rPr>
              <a:t>[Cu(NH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dirty="0">
                <a:ea typeface="楷体_GB2312" pitchFamily="49" charset="-122"/>
              </a:rPr>
              <a:t>)]</a:t>
            </a:r>
            <a:r>
              <a:rPr lang="en-US" altLang="zh-CN" sz="2500" b="1" baseline="30000" dirty="0">
                <a:ea typeface="楷体_GB2312" pitchFamily="49" charset="-122"/>
              </a:rPr>
              <a:t>2+</a:t>
            </a:r>
            <a:r>
              <a:rPr lang="en-US" altLang="zh-CN" sz="2500" b="1" dirty="0">
                <a:ea typeface="楷体_GB2312" pitchFamily="49" charset="-122"/>
              </a:rPr>
              <a:t> + NH</a:t>
            </a:r>
            <a:r>
              <a:rPr lang="en-US" altLang="zh-CN" sz="2500" b="1" baseline="-25000" dirty="0">
                <a:ea typeface="楷体_GB2312" pitchFamily="49" charset="-122"/>
              </a:rPr>
              <a:t>3 </a:t>
            </a:r>
            <a:r>
              <a:rPr lang="en-US" altLang="zh-CN" sz="2500" b="1" dirty="0">
                <a:ea typeface="楷体_GB2312" pitchFamily="49" charset="-122"/>
              </a:rPr>
              <a:t>⇋ [Cu(NH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dirty="0">
                <a:ea typeface="楷体_GB2312" pitchFamily="49" charset="-122"/>
              </a:rPr>
              <a:t>)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]</a:t>
            </a:r>
            <a:r>
              <a:rPr lang="en-US" altLang="zh-CN" sz="2500" b="1" baseline="30000" dirty="0">
                <a:ea typeface="楷体_GB2312" pitchFamily="49" charset="-122"/>
              </a:rPr>
              <a:t>2+</a:t>
            </a:r>
            <a:endParaRPr lang="en-US" altLang="zh-CN" sz="2500" b="1" baseline="-25000" dirty="0">
              <a:ea typeface="楷体_GB2312" pitchFamily="49" charset="-122"/>
            </a:endParaRPr>
          </a:p>
          <a:p>
            <a:r>
              <a:rPr lang="en-US" altLang="zh-CN" sz="2500" b="1" dirty="0">
                <a:ea typeface="楷体_GB2312" pitchFamily="49" charset="-122"/>
              </a:rPr>
              <a:t>[Cu(NH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dirty="0">
                <a:ea typeface="楷体_GB2312" pitchFamily="49" charset="-122"/>
              </a:rPr>
              <a:t>)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]</a:t>
            </a:r>
            <a:r>
              <a:rPr lang="en-US" altLang="zh-CN" sz="2500" b="1" baseline="30000" dirty="0">
                <a:ea typeface="楷体_GB2312" pitchFamily="49" charset="-122"/>
              </a:rPr>
              <a:t>2+ </a:t>
            </a:r>
            <a:r>
              <a:rPr lang="en-US" altLang="zh-CN" sz="2500" b="1" dirty="0">
                <a:ea typeface="楷体_GB2312" pitchFamily="49" charset="-122"/>
              </a:rPr>
              <a:t>+ NH</a:t>
            </a:r>
            <a:r>
              <a:rPr lang="en-US" altLang="zh-CN" sz="2500" b="1" baseline="-25000" dirty="0">
                <a:ea typeface="楷体_GB2312" pitchFamily="49" charset="-122"/>
              </a:rPr>
              <a:t>3 </a:t>
            </a:r>
            <a:r>
              <a:rPr lang="en-US" altLang="zh-CN" sz="2500" b="1" dirty="0">
                <a:ea typeface="楷体_GB2312" pitchFamily="49" charset="-122"/>
              </a:rPr>
              <a:t>⇋ [Cu(NH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dirty="0">
                <a:ea typeface="楷体_GB2312" pitchFamily="49" charset="-122"/>
              </a:rPr>
              <a:t>)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dirty="0">
                <a:ea typeface="楷体_GB2312" pitchFamily="49" charset="-122"/>
              </a:rPr>
              <a:t>]</a:t>
            </a:r>
            <a:r>
              <a:rPr lang="en-US" altLang="zh-CN" sz="2500" b="1" baseline="30000" dirty="0">
                <a:ea typeface="楷体_GB2312" pitchFamily="49" charset="-122"/>
              </a:rPr>
              <a:t>2+</a:t>
            </a:r>
            <a:endParaRPr lang="en-US" altLang="zh-CN" sz="2500" b="1" dirty="0">
              <a:ea typeface="楷体_GB2312" pitchFamily="49" charset="-122"/>
            </a:endParaRPr>
          </a:p>
          <a:p>
            <a:r>
              <a:rPr lang="en-US" altLang="zh-CN" sz="2500" b="1" dirty="0">
                <a:ea typeface="楷体_GB2312" pitchFamily="49" charset="-122"/>
              </a:rPr>
              <a:t>[Cu(NH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dirty="0">
                <a:ea typeface="楷体_GB2312" pitchFamily="49" charset="-122"/>
              </a:rPr>
              <a:t>)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dirty="0">
                <a:ea typeface="楷体_GB2312" pitchFamily="49" charset="-122"/>
              </a:rPr>
              <a:t>]</a:t>
            </a:r>
            <a:r>
              <a:rPr lang="en-US" altLang="zh-CN" sz="2500" b="1" baseline="30000" dirty="0">
                <a:ea typeface="楷体_GB2312" pitchFamily="49" charset="-122"/>
              </a:rPr>
              <a:t>2+ </a:t>
            </a:r>
            <a:r>
              <a:rPr lang="en-US" altLang="zh-CN" sz="2500" b="1" dirty="0">
                <a:ea typeface="楷体_GB2312" pitchFamily="49" charset="-122"/>
              </a:rPr>
              <a:t>+ NH</a:t>
            </a:r>
            <a:r>
              <a:rPr lang="en-US" altLang="zh-CN" sz="2500" b="1" baseline="-25000" dirty="0">
                <a:ea typeface="楷体_GB2312" pitchFamily="49" charset="-122"/>
              </a:rPr>
              <a:t>3 </a:t>
            </a:r>
            <a:r>
              <a:rPr lang="en-US" altLang="zh-CN" sz="2500" b="1" dirty="0">
                <a:ea typeface="楷体_GB2312" pitchFamily="49" charset="-122"/>
              </a:rPr>
              <a:t>⇋ [Cu(NH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dirty="0">
                <a:ea typeface="楷体_GB2312" pitchFamily="49" charset="-122"/>
              </a:rPr>
              <a:t>)</a:t>
            </a:r>
            <a:r>
              <a:rPr lang="en-US" altLang="zh-CN" sz="2500" b="1" baseline="-25000" dirty="0">
                <a:ea typeface="楷体_GB2312" pitchFamily="49" charset="-122"/>
              </a:rPr>
              <a:t>4</a:t>
            </a:r>
            <a:r>
              <a:rPr lang="en-US" altLang="zh-CN" sz="2500" b="1" dirty="0">
                <a:ea typeface="楷体_GB2312" pitchFamily="49" charset="-122"/>
              </a:rPr>
              <a:t>]</a:t>
            </a:r>
            <a:r>
              <a:rPr lang="en-US" altLang="zh-CN" sz="2500" b="1" baseline="30000" dirty="0">
                <a:ea typeface="楷体_GB2312" pitchFamily="49" charset="-122"/>
              </a:rPr>
              <a:t>2+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8659813" y="1020763"/>
            <a:ext cx="2493962" cy="2755900"/>
            <a:chOff x="4375" y="1632"/>
            <a:chExt cx="1152" cy="1838"/>
          </a:xfrm>
        </p:grpSpPr>
        <p:pic>
          <p:nvPicPr>
            <p:cNvPr id="8215" name="Picture 11" descr="酸碱络合物生成s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420" y="1654"/>
              <a:ext cx="1065" cy="1816"/>
            </a:xfrm>
            <a:prstGeom prst="rect">
              <a:avLst/>
            </a:prstGeom>
            <a:noFill/>
            <a:ln w="25400">
              <a:solidFill>
                <a:srgbClr val="FF00FF"/>
              </a:solidFill>
              <a:miter lim="800000"/>
              <a:headEnd/>
              <a:tailEnd/>
            </a:ln>
          </p:spPr>
        </p:pic>
        <p:sp>
          <p:nvSpPr>
            <p:cNvPr id="8216" name="Rectangle 12"/>
            <p:cNvSpPr>
              <a:spLocks noChangeArrowheads="1"/>
            </p:cNvSpPr>
            <p:nvPr/>
          </p:nvSpPr>
          <p:spPr bwMode="auto">
            <a:xfrm>
              <a:off x="4375" y="1632"/>
              <a:ext cx="1152" cy="4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zh-CN" sz="2500" b="1">
                  <a:solidFill>
                    <a:srgbClr val="0000FF"/>
                  </a:solidFill>
                  <a:ea typeface="黑体" pitchFamily="49" charset="-122"/>
                </a:rPr>
                <a:t>[Cu(NH</a:t>
              </a:r>
              <a:r>
                <a:rPr lang="en-US" altLang="zh-CN" sz="2500" b="1" baseline="-25000">
                  <a:solidFill>
                    <a:srgbClr val="0000FF"/>
                  </a:solidFill>
                  <a:ea typeface="黑体" pitchFamily="49" charset="-122"/>
                </a:rPr>
                <a:t>3</a:t>
              </a:r>
              <a:r>
                <a:rPr lang="en-US" altLang="zh-CN" sz="2500" b="1">
                  <a:solidFill>
                    <a:srgbClr val="0000FF"/>
                  </a:solidFill>
                  <a:ea typeface="黑体" pitchFamily="49" charset="-122"/>
                </a:rPr>
                <a:t>)</a:t>
              </a:r>
              <a:r>
                <a:rPr lang="en-US" altLang="zh-CN" sz="2500" b="1" baseline="-25000">
                  <a:solidFill>
                    <a:srgbClr val="0000FF"/>
                  </a:solidFill>
                  <a:ea typeface="黑体" pitchFamily="49" charset="-122"/>
                </a:rPr>
                <a:t>4</a:t>
              </a:r>
              <a:r>
                <a:rPr lang="en-US" altLang="zh-CN" sz="2500" b="1">
                  <a:solidFill>
                    <a:srgbClr val="0000FF"/>
                  </a:solidFill>
                  <a:ea typeface="黑体" pitchFamily="49" charset="-122"/>
                </a:rPr>
                <a:t>]</a:t>
              </a:r>
              <a:r>
                <a:rPr lang="en-US" altLang="zh-CN" sz="2500" b="1" baseline="30000">
                  <a:solidFill>
                    <a:srgbClr val="0000FF"/>
                  </a:solidFill>
                  <a:ea typeface="黑体" pitchFamily="49" charset="-122"/>
                </a:rPr>
                <a:t>2+</a:t>
              </a:r>
            </a:p>
            <a:p>
              <a:pPr algn="r">
                <a:lnSpc>
                  <a:spcPct val="80000"/>
                </a:lnSpc>
              </a:pPr>
              <a:r>
                <a:rPr lang="zh-CN" altLang="en-US" sz="2500" b="1">
                  <a:solidFill>
                    <a:srgbClr val="0000FF"/>
                  </a:solidFill>
                  <a:ea typeface="黑体" pitchFamily="49" charset="-122"/>
                </a:rPr>
                <a:t>形成</a:t>
              </a:r>
            </a:p>
          </p:txBody>
        </p:sp>
      </p:grpSp>
      <p:sp>
        <p:nvSpPr>
          <p:cNvPr id="8196" name="Rectangle 13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  <a:noFill/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6.2.1</a:t>
            </a:r>
            <a:r>
              <a:rPr lang="zh-CN" altLang="en-US" smtClean="0">
                <a:ea typeface="黑体" pitchFamily="49" charset="-122"/>
              </a:rPr>
              <a:t>配位平衡及配合物的稳定常数</a:t>
            </a:r>
            <a:endParaRPr lang="zh-CN" altLang="en-US" sz="1200" b="0" smtClean="0">
              <a:solidFill>
                <a:srgbClr val="0000FF"/>
              </a:solidFill>
              <a:ea typeface="黑体" pitchFamily="49" charset="-122"/>
            </a:endParaRPr>
          </a:p>
        </p:txBody>
      </p:sp>
      <p:sp>
        <p:nvSpPr>
          <p:cNvPr id="122894" name="Rectangle 14"/>
          <p:cNvSpPr>
            <a:spLocks noChangeArrowheads="1"/>
          </p:cNvSpPr>
          <p:nvPr/>
        </p:nvSpPr>
        <p:spPr bwMode="auto">
          <a:xfrm>
            <a:off x="903288" y="954088"/>
            <a:ext cx="5123518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</a:rPr>
              <a:t>配位比非</a:t>
            </a:r>
            <a:r>
              <a:rPr lang="en-US" altLang="zh-CN" sz="2500" b="1" dirty="0">
                <a:ea typeface="楷体_GB2312" pitchFamily="49" charset="-122"/>
              </a:rPr>
              <a:t>1∶</a:t>
            </a:r>
            <a:r>
              <a:rPr lang="en-US" altLang="zh-CN" sz="2500" b="1" dirty="0" smtClean="0">
                <a:ea typeface="楷体_GB2312" pitchFamily="49" charset="-122"/>
              </a:rPr>
              <a:t>1</a:t>
            </a:r>
            <a:r>
              <a:rPr lang="zh-CN" altLang="en-US" sz="2500" b="1" dirty="0" smtClean="0">
                <a:ea typeface="楷体_GB2312" pitchFamily="49" charset="-122"/>
              </a:rPr>
              <a:t>（逐级形成配合物）</a:t>
            </a:r>
            <a:r>
              <a:rPr lang="en-US" altLang="zh-CN" sz="2500" b="1" dirty="0" smtClean="0">
                <a:ea typeface="楷体_GB2312" pitchFamily="49" charset="-122"/>
              </a:rPr>
              <a:t>: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122895" name="Rectangle 15"/>
          <p:cNvSpPr>
            <a:spLocks noChangeArrowheads="1"/>
          </p:cNvSpPr>
          <p:nvPr/>
        </p:nvSpPr>
        <p:spPr bwMode="auto">
          <a:xfrm>
            <a:off x="1403350" y="3640037"/>
            <a:ext cx="1119188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zh-CN" altLang="en-US" sz="2500" b="1" baseline="-25000" dirty="0">
                <a:ea typeface="楷体_GB2312" pitchFamily="49" charset="-122"/>
                <a:sym typeface="Webdings" pitchFamily="18" charset="2"/>
              </a:rPr>
              <a:t>稳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1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 =</a:t>
            </a:r>
            <a:endParaRPr lang="en-US" altLang="zh-CN" sz="2500" b="1" baseline="30000" dirty="0">
              <a:ea typeface="楷体_GB2312" pitchFamily="49" charset="-122"/>
              <a:sym typeface="Webdings" pitchFamily="18" charset="2"/>
            </a:endParaRPr>
          </a:p>
        </p:txBody>
      </p:sp>
      <p:sp>
        <p:nvSpPr>
          <p:cNvPr id="122896" name="Rectangle 16"/>
          <p:cNvSpPr>
            <a:spLocks noChangeArrowheads="1"/>
          </p:cNvSpPr>
          <p:nvPr/>
        </p:nvSpPr>
        <p:spPr bwMode="auto">
          <a:xfrm>
            <a:off x="6030913" y="3625750"/>
            <a:ext cx="1062037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=10</a:t>
            </a:r>
            <a:r>
              <a:rPr lang="en-US" altLang="zh-CN" sz="2500" b="1" baseline="30000">
                <a:ea typeface="楷体_GB2312" pitchFamily="49" charset="-122"/>
                <a:sym typeface="Webdings" pitchFamily="18" charset="2"/>
              </a:rPr>
              <a:t>4.31</a:t>
            </a:r>
          </a:p>
        </p:txBody>
      </p:sp>
      <p:sp>
        <p:nvSpPr>
          <p:cNvPr id="122897" name="Line 17"/>
          <p:cNvSpPr>
            <a:spLocks noChangeShapeType="1"/>
          </p:cNvSpPr>
          <p:nvPr/>
        </p:nvSpPr>
        <p:spPr bwMode="auto">
          <a:xfrm>
            <a:off x="2689225" y="3854350"/>
            <a:ext cx="33607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2898" name="Rectangle 18"/>
          <p:cNvSpPr>
            <a:spLocks noChangeArrowheads="1"/>
          </p:cNvSpPr>
          <p:nvPr/>
        </p:nvSpPr>
        <p:spPr bwMode="auto">
          <a:xfrm>
            <a:off x="3117850" y="3354287"/>
            <a:ext cx="1839913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>
                <a:ea typeface="楷体_GB2312" pitchFamily="49" charset="-122"/>
              </a:rPr>
              <a:t>[Cu(NH</a:t>
            </a:r>
            <a:r>
              <a:rPr lang="en-US" altLang="zh-CN" sz="2500" b="1" baseline="-25000">
                <a:ea typeface="楷体_GB2312" pitchFamily="49" charset="-122"/>
              </a:rPr>
              <a:t>3</a:t>
            </a:r>
            <a:r>
              <a:rPr lang="en-US" altLang="zh-CN" sz="2500" b="1">
                <a:ea typeface="楷体_GB2312" pitchFamily="49" charset="-122"/>
              </a:rPr>
              <a:t>)</a:t>
            </a:r>
            <a:r>
              <a:rPr lang="en-US" altLang="zh-CN" sz="2500" b="1" baseline="30000">
                <a:ea typeface="楷体_GB2312" pitchFamily="49" charset="-122"/>
              </a:rPr>
              <a:t>2+</a:t>
            </a:r>
            <a:r>
              <a:rPr lang="en-US" altLang="zh-CN" sz="2500" b="1">
                <a:ea typeface="楷体_GB2312" pitchFamily="49" charset="-122"/>
              </a:rPr>
              <a:t>]</a:t>
            </a:r>
          </a:p>
        </p:txBody>
      </p:sp>
      <p:sp>
        <p:nvSpPr>
          <p:cNvPr id="122899" name="Rectangle 19"/>
          <p:cNvSpPr>
            <a:spLocks noChangeArrowheads="1"/>
          </p:cNvSpPr>
          <p:nvPr/>
        </p:nvSpPr>
        <p:spPr bwMode="auto">
          <a:xfrm>
            <a:off x="2994025" y="3898800"/>
            <a:ext cx="10382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>
                <a:ea typeface="楷体_GB2312" pitchFamily="49" charset="-122"/>
              </a:rPr>
              <a:t>[Cu</a:t>
            </a:r>
            <a:r>
              <a:rPr lang="en-US" altLang="zh-CN" sz="2500" b="1" baseline="30000">
                <a:ea typeface="楷体_GB2312" pitchFamily="49" charset="-122"/>
              </a:rPr>
              <a:t>2+</a:t>
            </a:r>
            <a:r>
              <a:rPr lang="en-US" altLang="zh-CN" sz="2500" b="1">
                <a:ea typeface="楷体_GB2312" pitchFamily="49" charset="-122"/>
              </a:rPr>
              <a:t>]</a:t>
            </a:r>
          </a:p>
        </p:txBody>
      </p:sp>
      <p:sp>
        <p:nvSpPr>
          <p:cNvPr id="122900" name="Rectangle 20"/>
          <p:cNvSpPr>
            <a:spLocks noChangeArrowheads="1"/>
          </p:cNvSpPr>
          <p:nvPr/>
        </p:nvSpPr>
        <p:spPr bwMode="auto">
          <a:xfrm>
            <a:off x="3975100" y="3925787"/>
            <a:ext cx="9874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>
                <a:ea typeface="楷体_GB2312" pitchFamily="49" charset="-122"/>
              </a:rPr>
              <a:t>[NH</a:t>
            </a:r>
            <a:r>
              <a:rPr lang="en-US" altLang="zh-CN" sz="2500" b="1" baseline="-25000">
                <a:ea typeface="楷体_GB2312" pitchFamily="49" charset="-122"/>
              </a:rPr>
              <a:t>3</a:t>
            </a:r>
            <a:r>
              <a:rPr lang="en-US" altLang="zh-CN" sz="2500" b="1">
                <a:ea typeface="楷体_GB2312" pitchFamily="49" charset="-122"/>
              </a:rPr>
              <a:t>]</a:t>
            </a:r>
          </a:p>
        </p:txBody>
      </p:sp>
      <p:sp>
        <p:nvSpPr>
          <p:cNvPr id="122901" name="Rectangle 21"/>
          <p:cNvSpPr>
            <a:spLocks noChangeArrowheads="1"/>
          </p:cNvSpPr>
          <p:nvPr/>
        </p:nvSpPr>
        <p:spPr bwMode="auto">
          <a:xfrm>
            <a:off x="1403350" y="5068787"/>
            <a:ext cx="1092200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zh-CN" altLang="en-US" sz="2500" b="1" baseline="-25000" dirty="0">
                <a:ea typeface="楷体_GB2312" pitchFamily="49" charset="-122"/>
                <a:sym typeface="Webdings" pitchFamily="18" charset="2"/>
              </a:rPr>
              <a:t>稳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4 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=</a:t>
            </a:r>
            <a:endParaRPr lang="en-US" altLang="zh-CN" sz="2500" b="1" baseline="30000" dirty="0">
              <a:ea typeface="楷体_GB2312" pitchFamily="49" charset="-122"/>
              <a:sym typeface="Webdings" pitchFamily="18" charset="2"/>
            </a:endParaRPr>
          </a:p>
        </p:txBody>
      </p:sp>
      <p:sp>
        <p:nvSpPr>
          <p:cNvPr id="122902" name="Rectangle 22"/>
          <p:cNvSpPr>
            <a:spLocks noChangeArrowheads="1"/>
          </p:cNvSpPr>
          <p:nvPr/>
        </p:nvSpPr>
        <p:spPr bwMode="auto">
          <a:xfrm>
            <a:off x="6121400" y="5054500"/>
            <a:ext cx="10604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=10</a:t>
            </a:r>
            <a:r>
              <a:rPr lang="en-US" altLang="zh-CN" sz="2500" b="1" baseline="30000" dirty="0">
                <a:ea typeface="楷体_GB2312" pitchFamily="49" charset="-122"/>
                <a:sym typeface="Webdings" pitchFamily="18" charset="2"/>
              </a:rPr>
              <a:t>2.30</a:t>
            </a:r>
          </a:p>
        </p:txBody>
      </p:sp>
      <p:sp>
        <p:nvSpPr>
          <p:cNvPr id="122903" name="Line 23"/>
          <p:cNvSpPr>
            <a:spLocks noChangeShapeType="1"/>
          </p:cNvSpPr>
          <p:nvPr/>
        </p:nvSpPr>
        <p:spPr bwMode="auto">
          <a:xfrm>
            <a:off x="2674938" y="5325962"/>
            <a:ext cx="33607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2904" name="Rectangle 24"/>
          <p:cNvSpPr>
            <a:spLocks noChangeArrowheads="1"/>
          </p:cNvSpPr>
          <p:nvPr/>
        </p:nvSpPr>
        <p:spPr bwMode="auto">
          <a:xfrm>
            <a:off x="3046413" y="4854475"/>
            <a:ext cx="1947862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>
                <a:ea typeface="楷体_GB2312" pitchFamily="49" charset="-122"/>
              </a:rPr>
              <a:t>[Cu(NH</a:t>
            </a:r>
            <a:r>
              <a:rPr lang="en-US" altLang="zh-CN" sz="2500" b="1" baseline="-25000">
                <a:ea typeface="楷体_GB2312" pitchFamily="49" charset="-122"/>
              </a:rPr>
              <a:t>3</a:t>
            </a:r>
            <a:r>
              <a:rPr lang="en-US" altLang="zh-CN" sz="2500" b="1">
                <a:ea typeface="楷体_GB2312" pitchFamily="49" charset="-122"/>
              </a:rPr>
              <a:t>)</a:t>
            </a:r>
            <a:r>
              <a:rPr lang="en-US" altLang="zh-CN" sz="2500" b="1" baseline="-25000">
                <a:ea typeface="楷体_GB2312" pitchFamily="49" charset="-122"/>
              </a:rPr>
              <a:t>4</a:t>
            </a:r>
            <a:r>
              <a:rPr lang="en-US" altLang="zh-CN" sz="2500" b="1" baseline="30000">
                <a:ea typeface="楷体_GB2312" pitchFamily="49" charset="-122"/>
              </a:rPr>
              <a:t>2+</a:t>
            </a:r>
            <a:r>
              <a:rPr lang="en-US" altLang="zh-CN" sz="2500" b="1">
                <a:ea typeface="楷体_GB2312" pitchFamily="49" charset="-122"/>
              </a:rPr>
              <a:t>]</a:t>
            </a:r>
          </a:p>
        </p:txBody>
      </p:sp>
      <p:sp>
        <p:nvSpPr>
          <p:cNvPr id="122905" name="Rectangle 25"/>
          <p:cNvSpPr>
            <a:spLocks noChangeArrowheads="1"/>
          </p:cNvSpPr>
          <p:nvPr/>
        </p:nvSpPr>
        <p:spPr bwMode="auto">
          <a:xfrm>
            <a:off x="2492375" y="5325962"/>
            <a:ext cx="1947863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>
                <a:ea typeface="楷体_GB2312" pitchFamily="49" charset="-122"/>
              </a:rPr>
              <a:t>[Cu(NH</a:t>
            </a:r>
            <a:r>
              <a:rPr lang="en-US" altLang="zh-CN" sz="2500" b="1" baseline="-25000">
                <a:ea typeface="楷体_GB2312" pitchFamily="49" charset="-122"/>
              </a:rPr>
              <a:t>3</a:t>
            </a:r>
            <a:r>
              <a:rPr lang="en-US" altLang="zh-CN" sz="2500" b="1">
                <a:ea typeface="楷体_GB2312" pitchFamily="49" charset="-122"/>
              </a:rPr>
              <a:t>)</a:t>
            </a:r>
            <a:r>
              <a:rPr lang="en-US" altLang="zh-CN" sz="2500" b="1" baseline="-25000">
                <a:ea typeface="楷体_GB2312" pitchFamily="49" charset="-122"/>
              </a:rPr>
              <a:t>3</a:t>
            </a:r>
            <a:r>
              <a:rPr lang="en-US" altLang="zh-CN" sz="2500" b="1" baseline="30000">
                <a:ea typeface="楷体_GB2312" pitchFamily="49" charset="-122"/>
              </a:rPr>
              <a:t>2+</a:t>
            </a:r>
            <a:r>
              <a:rPr lang="en-US" altLang="zh-CN" sz="2500" b="1">
                <a:ea typeface="楷体_GB2312" pitchFamily="49" charset="-122"/>
              </a:rPr>
              <a:t>]</a:t>
            </a:r>
          </a:p>
        </p:txBody>
      </p:sp>
      <p:sp>
        <p:nvSpPr>
          <p:cNvPr id="122906" name="Rectangle 26"/>
          <p:cNvSpPr>
            <a:spLocks noChangeArrowheads="1"/>
          </p:cNvSpPr>
          <p:nvPr/>
        </p:nvSpPr>
        <p:spPr bwMode="auto">
          <a:xfrm>
            <a:off x="4332288" y="5354537"/>
            <a:ext cx="9874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>
                <a:ea typeface="楷体_GB2312" pitchFamily="49" charset="-122"/>
              </a:rPr>
              <a:t>[NH</a:t>
            </a:r>
            <a:r>
              <a:rPr lang="en-US" altLang="zh-CN" sz="2500" b="1" baseline="-25000">
                <a:ea typeface="楷体_GB2312" pitchFamily="49" charset="-122"/>
              </a:rPr>
              <a:t>3</a:t>
            </a:r>
            <a:r>
              <a:rPr lang="en-US" altLang="zh-CN" sz="2500" b="1">
                <a:ea typeface="楷体_GB2312" pitchFamily="49" charset="-122"/>
              </a:rPr>
              <a:t>]</a:t>
            </a:r>
          </a:p>
        </p:txBody>
      </p:sp>
      <p:sp>
        <p:nvSpPr>
          <p:cNvPr id="122907" name="Rectangle 27"/>
          <p:cNvSpPr>
            <a:spLocks noChangeArrowheads="1"/>
          </p:cNvSpPr>
          <p:nvPr/>
        </p:nvSpPr>
        <p:spPr bwMode="auto">
          <a:xfrm>
            <a:off x="1403350" y="4425850"/>
            <a:ext cx="5127625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zh-CN" altLang="en-US" sz="2500" b="1" baseline="-25000" dirty="0">
                <a:ea typeface="楷体_GB2312" pitchFamily="49" charset="-122"/>
                <a:sym typeface="Webdings" pitchFamily="18" charset="2"/>
              </a:rPr>
              <a:t>稳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2 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= 10</a:t>
            </a:r>
            <a:r>
              <a:rPr lang="en-US" altLang="zh-CN" sz="2500" b="1" baseline="30000" dirty="0">
                <a:ea typeface="楷体_GB2312" pitchFamily="49" charset="-122"/>
                <a:sym typeface="Webdings" pitchFamily="18" charset="2"/>
              </a:rPr>
              <a:t>3.67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;</a:t>
            </a:r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zh-CN" altLang="en-US" sz="2500" b="1" baseline="-25000" dirty="0">
                <a:ea typeface="楷体_GB2312" pitchFamily="49" charset="-122"/>
                <a:sym typeface="Webdings" pitchFamily="18" charset="2"/>
              </a:rPr>
              <a:t>稳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3 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= 10</a:t>
            </a:r>
            <a:r>
              <a:rPr lang="en-US" altLang="zh-CN" sz="2500" b="1" baseline="30000" dirty="0">
                <a:ea typeface="楷体_GB2312" pitchFamily="49" charset="-122"/>
                <a:sym typeface="Webdings" pitchFamily="18" charset="2"/>
              </a:rPr>
              <a:t>3.04</a:t>
            </a:r>
          </a:p>
        </p:txBody>
      </p:sp>
      <p:sp>
        <p:nvSpPr>
          <p:cNvPr id="122908" name="Rectangle 28"/>
          <p:cNvSpPr>
            <a:spLocks noChangeArrowheads="1"/>
          </p:cNvSpPr>
          <p:nvPr/>
        </p:nvSpPr>
        <p:spPr bwMode="auto">
          <a:xfrm>
            <a:off x="7736682" y="4117432"/>
            <a:ext cx="3109912" cy="178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zh-CN" altLang="en-US" sz="2500" b="1" baseline="-25000" dirty="0">
                <a:ea typeface="楷体_GB2312" pitchFamily="49" charset="-122"/>
                <a:sym typeface="Webdings" pitchFamily="18" charset="2"/>
              </a:rPr>
              <a:t>稳</a:t>
            </a:r>
            <a:r>
              <a:rPr lang="en-US" altLang="zh-CN" sz="2500" b="1" baseline="-25000" dirty="0" smtClean="0">
                <a:ea typeface="楷体_GB2312" pitchFamily="49" charset="-122"/>
                <a:sym typeface="Webdings" pitchFamily="18" charset="2"/>
              </a:rPr>
              <a:t>1</a:t>
            </a:r>
            <a:r>
              <a:rPr lang="en-US" altLang="zh-CN" sz="2500" b="1" i="1" dirty="0">
                <a:ea typeface="楷体_GB2312" pitchFamily="49" charset="-122"/>
              </a:rPr>
              <a:t> 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zh-CN" altLang="en-US" sz="2500" b="1" baseline="-25000" dirty="0">
                <a:ea typeface="楷体_GB2312" pitchFamily="49" charset="-122"/>
                <a:sym typeface="Webdings" pitchFamily="18" charset="2"/>
              </a:rPr>
              <a:t>稳</a:t>
            </a:r>
            <a:r>
              <a:rPr lang="en-US" altLang="zh-CN" sz="2500" b="1" baseline="-25000" dirty="0" smtClean="0">
                <a:ea typeface="楷体_GB2312" pitchFamily="49" charset="-122"/>
                <a:sym typeface="Webdings" pitchFamily="18" charset="2"/>
              </a:rPr>
              <a:t>2</a:t>
            </a:r>
            <a:r>
              <a:rPr lang="en-US" altLang="zh-CN" sz="2500" b="1" i="1" dirty="0">
                <a:ea typeface="楷体_GB2312" pitchFamily="49" charset="-122"/>
              </a:rPr>
              <a:t> 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zh-CN" altLang="en-US" sz="2500" b="1" baseline="-25000" dirty="0" smtClean="0">
                <a:ea typeface="楷体_GB2312" pitchFamily="49" charset="-122"/>
                <a:sym typeface="Webdings" pitchFamily="18" charset="2"/>
              </a:rPr>
              <a:t>稳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3</a:t>
            </a:r>
            <a:r>
              <a:rPr lang="en-US" altLang="zh-CN" sz="2500" b="1" i="1" dirty="0" smtClean="0">
                <a:ea typeface="楷体_GB2312" pitchFamily="49" charset="-122"/>
              </a:rPr>
              <a:t> </a:t>
            </a:r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zh-CN" altLang="en-US" sz="2500" b="1" baseline="-25000" dirty="0" smtClean="0">
                <a:ea typeface="楷体_GB2312" pitchFamily="49" charset="-122"/>
                <a:sym typeface="Webdings" pitchFamily="18" charset="2"/>
              </a:rPr>
              <a:t>稳</a:t>
            </a:r>
            <a:r>
              <a:rPr lang="en-US" altLang="zh-CN" sz="2500" b="1" baseline="-25000" dirty="0" smtClean="0">
                <a:ea typeface="楷体_GB2312" pitchFamily="49" charset="-122"/>
                <a:sym typeface="Webdings" pitchFamily="18" charset="2"/>
              </a:rPr>
              <a:t>4</a:t>
            </a:r>
            <a:r>
              <a:rPr lang="zh-CN" altLang="en-US" sz="2500" b="1" dirty="0" smtClean="0">
                <a:solidFill>
                  <a:srgbClr val="FF3300"/>
                </a:solidFill>
                <a:ea typeface="楷体_GB2312" pitchFamily="49" charset="-122"/>
                <a:sym typeface="Symbol" pitchFamily="18" charset="2"/>
              </a:rPr>
              <a:t>逐级稳定常数</a:t>
            </a:r>
            <a:r>
              <a:rPr lang="zh-CN" altLang="en-US" sz="2500" b="1" dirty="0" smtClean="0">
                <a:ea typeface="楷体_GB2312" pitchFamily="49" charset="-122"/>
                <a:sym typeface="Symbol" pitchFamily="18" charset="2"/>
              </a:rPr>
              <a:t>或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逐级形成常数或</a:t>
            </a:r>
            <a:r>
              <a:rPr lang="zh-CN" altLang="en-US" sz="2500" b="1" dirty="0" smtClean="0">
                <a:ea typeface="楷体_GB2312" pitchFamily="49" charset="-122"/>
                <a:sym typeface="Symbol" pitchFamily="18" charset="2"/>
              </a:rPr>
              <a:t>分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步稳定常数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.</a:t>
            </a:r>
          </a:p>
        </p:txBody>
      </p:sp>
      <p:sp>
        <p:nvSpPr>
          <p:cNvPr id="122913" name="Rectangle 33"/>
          <p:cNvSpPr>
            <a:spLocks noChangeArrowheads="1"/>
          </p:cNvSpPr>
          <p:nvPr/>
        </p:nvSpPr>
        <p:spPr bwMode="auto">
          <a:xfrm>
            <a:off x="903288" y="1387032"/>
            <a:ext cx="205581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</a:rPr>
              <a:t>[Cu(NH</a:t>
            </a:r>
            <a:r>
              <a:rPr lang="en-US" altLang="zh-CN" sz="2500" b="1" baseline="-25000" dirty="0">
                <a:solidFill>
                  <a:srgbClr val="0000FF"/>
                </a:solidFill>
                <a:ea typeface="楷体_GB2312" pitchFamily="49" charset="-122"/>
              </a:rPr>
              <a:t>3</a:t>
            </a:r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</a:rPr>
              <a:t>)</a:t>
            </a:r>
            <a:r>
              <a:rPr lang="en-US" altLang="zh-CN" sz="2500" b="1" baseline="-25000" dirty="0">
                <a:solidFill>
                  <a:srgbClr val="0000FF"/>
                </a:solidFill>
                <a:ea typeface="楷体_GB2312" pitchFamily="49" charset="-122"/>
              </a:rPr>
              <a:t>4</a:t>
            </a:r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</a:rPr>
              <a:t>]</a:t>
            </a:r>
            <a:r>
              <a:rPr lang="en-US" altLang="zh-CN" sz="2500" b="1" baseline="30000" dirty="0">
                <a:solidFill>
                  <a:srgbClr val="0000FF"/>
                </a:solidFill>
                <a:ea typeface="楷体_GB2312" pitchFamily="49" charset="-122"/>
              </a:rPr>
              <a:t>2+</a:t>
            </a:r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8213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4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28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229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2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2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122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22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1228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1228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229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500"/>
                            </p:stCondLst>
                            <p:childTnLst>
                              <p:par>
                                <p:cTn id="5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1228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122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122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1229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500"/>
                            </p:stCondLst>
                            <p:childTnLst>
                              <p:par>
                                <p:cTn id="7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8" dur="500"/>
                                        <p:tgtEl>
                                          <p:spTgt spid="1229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000"/>
                            </p:stCondLst>
                            <p:childTnLst>
                              <p:par>
                                <p:cTn id="8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1229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500"/>
                            </p:stCondLst>
                            <p:childTnLst>
                              <p:par>
                                <p:cTn id="8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6" dur="500"/>
                                        <p:tgtEl>
                                          <p:spTgt spid="1229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1" dur="500"/>
                                        <p:tgtEl>
                                          <p:spTgt spid="1229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6" dur="500"/>
                                        <p:tgtEl>
                                          <p:spTgt spid="122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3" grpId="0" build="p"/>
      <p:bldP spid="122894" grpId="0" build="p" autoUpdateAnimBg="0"/>
      <p:bldP spid="122895" grpId="0" autoUpdateAnimBg="0"/>
      <p:bldP spid="122896" grpId="0" autoUpdateAnimBg="0"/>
      <p:bldP spid="122897" grpId="0" animBg="1"/>
      <p:bldP spid="122898" grpId="0" autoUpdateAnimBg="0"/>
      <p:bldP spid="122899" grpId="0" autoUpdateAnimBg="0"/>
      <p:bldP spid="122900" grpId="0" autoUpdateAnimBg="0"/>
      <p:bldP spid="122901" grpId="0" autoUpdateAnimBg="0"/>
      <p:bldP spid="122902" grpId="0" autoUpdateAnimBg="0"/>
      <p:bldP spid="122903" grpId="0" animBg="1"/>
      <p:bldP spid="122904" grpId="0" autoUpdateAnimBg="0"/>
      <p:bldP spid="122905" grpId="0" autoUpdateAnimBg="0"/>
      <p:bldP spid="122906" grpId="0" autoUpdateAnimBg="0"/>
      <p:bldP spid="122907" grpId="0" autoUpdateAnimBg="0"/>
      <p:bldP spid="122908" grpId="0" autoUpdateAnimBg="0"/>
      <p:bldP spid="122913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6" name="Rectangle 4"/>
          <p:cNvSpPr>
            <a:spLocks noChangeArrowheads="1"/>
          </p:cNvSpPr>
          <p:nvPr/>
        </p:nvSpPr>
        <p:spPr bwMode="auto">
          <a:xfrm>
            <a:off x="906463" y="1020763"/>
            <a:ext cx="10369550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zh-CN" altLang="en-US" sz="2500" b="1" dirty="0">
                <a:ea typeface="楷体_GB2312" pitchFamily="49" charset="-122"/>
              </a:rPr>
              <a:t>一般来说</a:t>
            </a:r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zh-CN" altLang="en-US" sz="2500" b="1" baseline="-25000" dirty="0">
                <a:ea typeface="楷体_GB2312" pitchFamily="49" charset="-122"/>
                <a:sym typeface="Webdings" pitchFamily="18" charset="2"/>
              </a:rPr>
              <a:t>稳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1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 &gt;</a:t>
            </a:r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zh-CN" altLang="en-US" sz="2500" b="1" baseline="-25000" dirty="0">
                <a:ea typeface="楷体_GB2312" pitchFamily="49" charset="-122"/>
                <a:sym typeface="Webdings" pitchFamily="18" charset="2"/>
              </a:rPr>
              <a:t>稳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2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 &gt;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 </a:t>
            </a:r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zh-CN" altLang="en-US" sz="2500" b="1" baseline="-25000" dirty="0">
                <a:ea typeface="楷体_GB2312" pitchFamily="49" charset="-122"/>
                <a:sym typeface="Webdings" pitchFamily="18" charset="2"/>
              </a:rPr>
              <a:t>稳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3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 &gt;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 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       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9219" name="Rectangle 13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  <a:noFill/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6.2.1</a:t>
            </a:r>
            <a:r>
              <a:rPr lang="zh-CN" altLang="en-US" smtClean="0">
                <a:ea typeface="黑体" pitchFamily="49" charset="-122"/>
              </a:rPr>
              <a:t>配位平衡及配合物的稳定常数</a:t>
            </a:r>
            <a:endParaRPr lang="zh-CN" altLang="en-US" sz="1200" b="0" smtClean="0">
              <a:solidFill>
                <a:srgbClr val="0000FF"/>
              </a:solidFill>
              <a:ea typeface="黑体" pitchFamily="49" charset="-122"/>
            </a:endParaRPr>
          </a:p>
        </p:txBody>
      </p:sp>
      <p:sp>
        <p:nvSpPr>
          <p:cNvPr id="105486" name="Rectangle 14"/>
          <p:cNvSpPr>
            <a:spLocks noChangeArrowheads="1"/>
          </p:cNvSpPr>
          <p:nvPr/>
        </p:nvSpPr>
        <p:spPr bwMode="auto">
          <a:xfrm>
            <a:off x="906463" y="1460500"/>
            <a:ext cx="10369550" cy="50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        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逐级稳定常数随配位数的增加而减小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.</a:t>
            </a:r>
            <a:r>
              <a:rPr lang="en-US" altLang="zh-CN" sz="2500" b="1" dirty="0">
                <a:ea typeface="楷体_GB2312" pitchFamily="49" charset="-122"/>
              </a:rPr>
              <a:t>        </a:t>
            </a:r>
          </a:p>
        </p:txBody>
      </p:sp>
      <p:sp>
        <p:nvSpPr>
          <p:cNvPr id="105487" name="Rectangle 15"/>
          <p:cNvSpPr>
            <a:spLocks noChangeArrowheads="1"/>
          </p:cNvSpPr>
          <p:nvPr/>
        </p:nvSpPr>
        <p:spPr bwMode="auto">
          <a:xfrm>
            <a:off x="906463" y="2346325"/>
            <a:ext cx="1024731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        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将逐级稳定常数依次相乘所得到的稳定常数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.</a:t>
            </a:r>
            <a:r>
              <a:rPr lang="en-US" altLang="zh-CN" sz="2500" b="1" dirty="0">
                <a:ea typeface="楷体_GB2312" pitchFamily="49" charset="-122"/>
              </a:rPr>
              <a:t> </a:t>
            </a:r>
            <a:endParaRPr lang="en-US" altLang="zh-CN" sz="2500" b="1" dirty="0">
              <a:ea typeface="楷体_GB2312" pitchFamily="49" charset="-122"/>
              <a:sym typeface="Symbol" pitchFamily="18" charset="2"/>
            </a:endParaRPr>
          </a:p>
        </p:txBody>
      </p:sp>
      <p:sp>
        <p:nvSpPr>
          <p:cNvPr id="105488" name="Rectangle 16"/>
          <p:cNvSpPr>
            <a:spLocks noChangeArrowheads="1"/>
          </p:cNvSpPr>
          <p:nvPr/>
        </p:nvSpPr>
        <p:spPr bwMode="auto">
          <a:xfrm>
            <a:off x="906463" y="1903413"/>
            <a:ext cx="10247312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  <a:sym typeface="Symbol" pitchFamily="18" charset="2"/>
              </a:rPr>
              <a:t>累积稳定常数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(</a:t>
            </a:r>
            <a:r>
              <a:rPr lang="en-US" altLang="zh-CN" sz="2500" b="1" i="1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</a:t>
            </a:r>
            <a:r>
              <a:rPr lang="en-US" altLang="zh-CN" sz="2500" b="1" i="1" baseline="-2500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i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):        </a:t>
            </a:r>
          </a:p>
        </p:txBody>
      </p:sp>
      <p:sp>
        <p:nvSpPr>
          <p:cNvPr id="105489" name="Rectangle 17"/>
          <p:cNvSpPr>
            <a:spLocks noChangeArrowheads="1"/>
          </p:cNvSpPr>
          <p:nvPr/>
        </p:nvSpPr>
        <p:spPr bwMode="auto">
          <a:xfrm>
            <a:off x="906463" y="2754313"/>
            <a:ext cx="10247312" cy="862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对</a:t>
            </a:r>
            <a:r>
              <a:rPr lang="en-US" altLang="zh-CN" sz="2500" b="1" dirty="0">
                <a:ea typeface="楷体_GB2312" pitchFamily="49" charset="-122"/>
              </a:rPr>
              <a:t>[Cu(NH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dirty="0">
                <a:ea typeface="楷体_GB2312" pitchFamily="49" charset="-122"/>
              </a:rPr>
              <a:t>)</a:t>
            </a:r>
            <a:r>
              <a:rPr lang="en-US" altLang="zh-CN" sz="2500" b="1" baseline="-25000" dirty="0">
                <a:ea typeface="楷体_GB2312" pitchFamily="49" charset="-122"/>
              </a:rPr>
              <a:t>4</a:t>
            </a:r>
            <a:r>
              <a:rPr lang="en-US" altLang="zh-CN" sz="2500" b="1" dirty="0">
                <a:ea typeface="楷体_GB2312" pitchFamily="49" charset="-122"/>
              </a:rPr>
              <a:t>]</a:t>
            </a:r>
            <a:r>
              <a:rPr lang="en-US" altLang="zh-CN" sz="2500" b="1" baseline="30000" dirty="0">
                <a:ea typeface="楷体_GB2312" pitchFamily="49" charset="-122"/>
              </a:rPr>
              <a:t>2+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</a:p>
          <a:p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</a:t>
            </a:r>
            <a:r>
              <a:rPr lang="en-US" altLang="zh-CN" sz="2500" b="1" baseline="-25000" dirty="0">
                <a:ea typeface="楷体_GB2312" pitchFamily="49" charset="-122"/>
                <a:sym typeface="Symbol" pitchFamily="18" charset="2"/>
              </a:rPr>
              <a:t>1 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=</a:t>
            </a:r>
            <a:endParaRPr lang="en-US" altLang="zh-CN" sz="2500" b="1" i="1" dirty="0">
              <a:ea typeface="楷体_GB2312" pitchFamily="49" charset="-122"/>
            </a:endParaRPr>
          </a:p>
        </p:txBody>
      </p:sp>
      <p:sp>
        <p:nvSpPr>
          <p:cNvPr id="105490" name="Rectangle 18"/>
          <p:cNvSpPr>
            <a:spLocks noChangeArrowheads="1"/>
          </p:cNvSpPr>
          <p:nvPr/>
        </p:nvSpPr>
        <p:spPr bwMode="auto">
          <a:xfrm>
            <a:off x="1860550" y="3195638"/>
            <a:ext cx="855663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zh-CN" altLang="en-US" sz="2500" b="1" baseline="-25000">
                <a:ea typeface="楷体_GB2312" pitchFamily="49" charset="-122"/>
                <a:sym typeface="Webdings" pitchFamily="18" charset="2"/>
              </a:rPr>
              <a:t>稳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1</a:t>
            </a:r>
          </a:p>
        </p:txBody>
      </p:sp>
      <p:sp>
        <p:nvSpPr>
          <p:cNvPr id="105491" name="Rectangle 19"/>
          <p:cNvSpPr>
            <a:spLocks noChangeArrowheads="1"/>
          </p:cNvSpPr>
          <p:nvPr/>
        </p:nvSpPr>
        <p:spPr bwMode="auto">
          <a:xfrm>
            <a:off x="906463" y="3570288"/>
            <a:ext cx="703262" cy="46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</a:t>
            </a:r>
            <a:r>
              <a:rPr lang="en-US" altLang="zh-CN" sz="2500" b="1" baseline="-25000">
                <a:ea typeface="楷体_GB2312" pitchFamily="49" charset="-122"/>
                <a:sym typeface="Symbol" pitchFamily="18" charset="2"/>
              </a:rPr>
              <a:t>2 </a:t>
            </a:r>
            <a:r>
              <a:rPr lang="en-US" altLang="zh-CN" sz="2500" b="1" i="1">
                <a:ea typeface="楷体_GB2312" pitchFamily="49" charset="-122"/>
              </a:rPr>
              <a:t>=</a:t>
            </a:r>
            <a:endParaRPr lang="en-US" altLang="zh-CN" sz="2500" b="1">
              <a:ea typeface="楷体_GB2312" pitchFamily="49" charset="-122"/>
              <a:sym typeface="Webdings" pitchFamily="18" charset="2"/>
            </a:endParaRPr>
          </a:p>
        </p:txBody>
      </p:sp>
      <p:sp>
        <p:nvSpPr>
          <p:cNvPr id="105492" name="Rectangle 20"/>
          <p:cNvSpPr>
            <a:spLocks noChangeArrowheads="1"/>
          </p:cNvSpPr>
          <p:nvPr/>
        </p:nvSpPr>
        <p:spPr bwMode="auto">
          <a:xfrm>
            <a:off x="1858963" y="3570288"/>
            <a:ext cx="1608137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zh-CN" altLang="en-US" sz="2500" b="1" baseline="-25000" dirty="0">
                <a:ea typeface="楷体_GB2312" pitchFamily="49" charset="-122"/>
                <a:sym typeface="Webdings" pitchFamily="18" charset="2"/>
              </a:rPr>
              <a:t>稳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1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 </a:t>
            </a:r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zh-CN" altLang="en-US" sz="2500" b="1" baseline="-25000" dirty="0">
                <a:ea typeface="楷体_GB2312" pitchFamily="49" charset="-122"/>
                <a:sym typeface="Webdings" pitchFamily="18" charset="2"/>
              </a:rPr>
              <a:t>稳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2</a:t>
            </a:r>
          </a:p>
        </p:txBody>
      </p:sp>
      <p:sp>
        <p:nvSpPr>
          <p:cNvPr id="105493" name="Rectangle 21"/>
          <p:cNvSpPr>
            <a:spLocks noChangeArrowheads="1"/>
          </p:cNvSpPr>
          <p:nvPr/>
        </p:nvSpPr>
        <p:spPr bwMode="auto">
          <a:xfrm>
            <a:off x="906463" y="3978275"/>
            <a:ext cx="703262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</a:t>
            </a:r>
            <a:r>
              <a:rPr lang="en-US" altLang="zh-CN" sz="2500" b="1" baseline="-25000">
                <a:ea typeface="楷体_GB2312" pitchFamily="49" charset="-122"/>
                <a:sym typeface="Symbol" pitchFamily="18" charset="2"/>
              </a:rPr>
              <a:t>3 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=</a:t>
            </a:r>
            <a:endParaRPr lang="en-US" altLang="zh-CN" sz="2500" b="1" baseline="-25000">
              <a:ea typeface="楷体_GB2312" pitchFamily="49" charset="-122"/>
              <a:sym typeface="Webdings" pitchFamily="18" charset="2"/>
            </a:endParaRPr>
          </a:p>
        </p:txBody>
      </p:sp>
      <p:sp>
        <p:nvSpPr>
          <p:cNvPr id="105494" name="Rectangle 22"/>
          <p:cNvSpPr>
            <a:spLocks noChangeArrowheads="1"/>
          </p:cNvSpPr>
          <p:nvPr/>
        </p:nvSpPr>
        <p:spPr bwMode="auto">
          <a:xfrm>
            <a:off x="1331913" y="3954463"/>
            <a:ext cx="33591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zh-CN" altLang="en-US" sz="2500" b="1" baseline="-25000">
                <a:ea typeface="楷体_GB2312" pitchFamily="49" charset="-122"/>
                <a:sym typeface="Webdings" pitchFamily="18" charset="2"/>
              </a:rPr>
              <a:t>稳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1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 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zh-CN" altLang="en-US" sz="2500" b="1" baseline="-25000">
                <a:ea typeface="楷体_GB2312" pitchFamily="49" charset="-122"/>
                <a:sym typeface="Webdings" pitchFamily="18" charset="2"/>
              </a:rPr>
              <a:t>稳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2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 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zh-CN" altLang="en-US" sz="2500" b="1" baseline="-25000">
                <a:ea typeface="楷体_GB2312" pitchFamily="49" charset="-122"/>
                <a:sym typeface="Webdings" pitchFamily="18" charset="2"/>
              </a:rPr>
              <a:t>稳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3</a:t>
            </a:r>
          </a:p>
        </p:txBody>
      </p:sp>
      <p:sp>
        <p:nvSpPr>
          <p:cNvPr id="105495" name="Rectangle 23"/>
          <p:cNvSpPr>
            <a:spLocks noChangeArrowheads="1"/>
          </p:cNvSpPr>
          <p:nvPr/>
        </p:nvSpPr>
        <p:spPr bwMode="auto">
          <a:xfrm>
            <a:off x="906463" y="4386263"/>
            <a:ext cx="70326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</a:t>
            </a:r>
            <a:r>
              <a:rPr lang="en-US" altLang="zh-CN" sz="2500" b="1" baseline="-25000">
                <a:ea typeface="楷体_GB2312" pitchFamily="49" charset="-122"/>
                <a:sym typeface="Symbol" pitchFamily="18" charset="2"/>
              </a:rPr>
              <a:t>4 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=</a:t>
            </a:r>
          </a:p>
        </p:txBody>
      </p:sp>
      <p:sp>
        <p:nvSpPr>
          <p:cNvPr id="105496" name="Rectangle 24"/>
          <p:cNvSpPr>
            <a:spLocks noChangeArrowheads="1"/>
          </p:cNvSpPr>
          <p:nvPr/>
        </p:nvSpPr>
        <p:spPr bwMode="auto">
          <a:xfrm>
            <a:off x="1858963" y="4386263"/>
            <a:ext cx="4424362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zh-CN" altLang="en-US" sz="2500" b="1" baseline="-25000">
                <a:ea typeface="楷体_GB2312" pitchFamily="49" charset="-122"/>
                <a:sym typeface="Webdings" pitchFamily="18" charset="2"/>
              </a:rPr>
              <a:t>稳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1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 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zh-CN" altLang="en-US" sz="2500" b="1" baseline="-25000">
                <a:ea typeface="楷体_GB2312" pitchFamily="49" charset="-122"/>
                <a:sym typeface="Webdings" pitchFamily="18" charset="2"/>
              </a:rPr>
              <a:t>稳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2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 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zh-CN" altLang="en-US" sz="2500" b="1" baseline="-25000">
                <a:ea typeface="楷体_GB2312" pitchFamily="49" charset="-122"/>
                <a:sym typeface="Webdings" pitchFamily="18" charset="2"/>
              </a:rPr>
              <a:t>稳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3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 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zh-CN" altLang="en-US" sz="2500" b="1" baseline="-25000">
                <a:ea typeface="楷体_GB2312" pitchFamily="49" charset="-122"/>
                <a:sym typeface="Webdings" pitchFamily="18" charset="2"/>
              </a:rPr>
              <a:t>稳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4 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= 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zh-CN" altLang="en-US" sz="2500" b="1" baseline="-25000">
                <a:ea typeface="楷体_GB2312" pitchFamily="49" charset="-122"/>
                <a:sym typeface="Webdings" pitchFamily="18" charset="2"/>
              </a:rPr>
              <a:t>稳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(</a:t>
            </a:r>
            <a:r>
              <a:rPr lang="zh-CN" altLang="en-US" sz="2500" b="1" baseline="-25000">
                <a:ea typeface="楷体_GB2312" pitchFamily="49" charset="-122"/>
                <a:sym typeface="Webdings" pitchFamily="18" charset="2"/>
              </a:rPr>
              <a:t>总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)</a:t>
            </a:r>
          </a:p>
        </p:txBody>
      </p:sp>
      <p:sp>
        <p:nvSpPr>
          <p:cNvPr id="9232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33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爆炸形 2 2"/>
          <p:cNvSpPr/>
          <p:nvPr/>
        </p:nvSpPr>
        <p:spPr>
          <a:xfrm>
            <a:off x="6841157" y="808935"/>
            <a:ext cx="2160240" cy="1296144"/>
          </a:xfrm>
          <a:prstGeom prst="irregularSeal2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rgbClr val="FF0000"/>
                </a:solidFill>
              </a:rPr>
              <a:t>Why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？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062795" y="1846456"/>
            <a:ext cx="41520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ea typeface="楷体_GB2312"/>
              </a:rPr>
              <a:t>原因：</a:t>
            </a:r>
            <a:r>
              <a:rPr lang="zh-CN" altLang="en-US" sz="2800" b="1" dirty="0" smtClean="0">
                <a:ea typeface="楷体_GB2312"/>
              </a:rPr>
              <a:t>配体之间相互斥力</a:t>
            </a:r>
            <a:endParaRPr lang="zh-CN" altLang="en-US" sz="2800" b="1" dirty="0">
              <a:ea typeface="楷体_GB2312"/>
            </a:endParaRPr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54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54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054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05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054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054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054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05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054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105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1054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105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1054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6" grpId="0" build="p" autoUpdateAnimBg="0"/>
      <p:bldP spid="105486" grpId="0" build="p" autoUpdateAnimBg="0"/>
      <p:bldP spid="105487" grpId="0" build="p" autoUpdateAnimBg="0"/>
      <p:bldP spid="105488" grpId="0" build="p" autoUpdateAnimBg="0"/>
      <p:bldP spid="105489" grpId="0" build="p" autoUpdateAnimBg="0"/>
      <p:bldP spid="105490" grpId="0" autoUpdateAnimBg="0"/>
      <p:bldP spid="105491" grpId="0" autoUpdateAnimBg="0"/>
      <p:bldP spid="105492" grpId="0" autoUpdateAnimBg="0"/>
      <p:bldP spid="105493" grpId="0" autoUpdateAnimBg="0"/>
      <p:bldP spid="105494" grpId="0" autoUpdateAnimBg="0"/>
      <p:bldP spid="105495" grpId="0" autoUpdateAnimBg="0"/>
      <p:bldP spid="105496" grpId="0" autoUpdateAnimBg="0"/>
      <p:bldP spid="3" grpId="0" animBg="1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45" name="Rectangle 29"/>
          <p:cNvSpPr>
            <a:spLocks noChangeArrowheads="1"/>
          </p:cNvSpPr>
          <p:nvPr/>
        </p:nvSpPr>
        <p:spPr bwMode="auto">
          <a:xfrm>
            <a:off x="2468904" y="2847602"/>
            <a:ext cx="9048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1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 =</a:t>
            </a:r>
            <a:endParaRPr lang="en-US" altLang="zh-CN" sz="2500" b="1" baseline="30000" dirty="0">
              <a:ea typeface="楷体_GB2312" pitchFamily="49" charset="-122"/>
              <a:sym typeface="Webdings" pitchFamily="18" charset="2"/>
            </a:endParaRPr>
          </a:p>
        </p:txBody>
      </p:sp>
      <p:sp>
        <p:nvSpPr>
          <p:cNvPr id="86046" name="Line 30"/>
          <p:cNvSpPr>
            <a:spLocks noChangeShapeType="1"/>
          </p:cNvSpPr>
          <p:nvPr/>
        </p:nvSpPr>
        <p:spPr bwMode="auto">
          <a:xfrm>
            <a:off x="3581741" y="3092077"/>
            <a:ext cx="33607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6047" name="Rectangle 31"/>
          <p:cNvSpPr>
            <a:spLocks noChangeArrowheads="1"/>
          </p:cNvSpPr>
          <p:nvPr/>
        </p:nvSpPr>
        <p:spPr bwMode="auto">
          <a:xfrm>
            <a:off x="3554754" y="2609477"/>
            <a:ext cx="194786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 dirty="0">
                <a:ea typeface="楷体_GB2312" pitchFamily="49" charset="-122"/>
              </a:rPr>
              <a:t>[Cu(NH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dirty="0">
                <a:ea typeface="楷体_GB2312" pitchFamily="49" charset="-122"/>
              </a:rPr>
              <a:t>)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baseline="30000" dirty="0">
                <a:ea typeface="楷体_GB2312" pitchFamily="49" charset="-122"/>
              </a:rPr>
              <a:t>2+</a:t>
            </a:r>
            <a:r>
              <a:rPr lang="en-US" altLang="zh-CN" sz="2500" b="1" dirty="0">
                <a:ea typeface="楷体_GB2312" pitchFamily="49" charset="-122"/>
              </a:rPr>
              <a:t>]</a:t>
            </a:r>
          </a:p>
        </p:txBody>
      </p:sp>
      <p:sp>
        <p:nvSpPr>
          <p:cNvPr id="86048" name="Rectangle 32"/>
          <p:cNvSpPr>
            <a:spLocks noChangeArrowheads="1"/>
          </p:cNvSpPr>
          <p:nvPr/>
        </p:nvSpPr>
        <p:spPr bwMode="auto">
          <a:xfrm>
            <a:off x="5367679" y="2592015"/>
            <a:ext cx="987425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 dirty="0">
                <a:ea typeface="楷体_GB2312" pitchFamily="49" charset="-122"/>
              </a:rPr>
              <a:t>[NH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dirty="0">
                <a:ea typeface="楷体_GB2312" pitchFamily="49" charset="-122"/>
              </a:rPr>
              <a:t>]</a:t>
            </a:r>
          </a:p>
        </p:txBody>
      </p:sp>
      <p:sp>
        <p:nvSpPr>
          <p:cNvPr id="86049" name="Rectangle 33"/>
          <p:cNvSpPr>
            <a:spLocks noChangeArrowheads="1"/>
          </p:cNvSpPr>
          <p:nvPr/>
        </p:nvSpPr>
        <p:spPr bwMode="auto">
          <a:xfrm>
            <a:off x="3938929" y="3092077"/>
            <a:ext cx="1947862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 dirty="0">
                <a:ea typeface="楷体_GB2312" pitchFamily="49" charset="-122"/>
              </a:rPr>
              <a:t>[Cu(NH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dirty="0">
                <a:ea typeface="楷体_GB2312" pitchFamily="49" charset="-122"/>
              </a:rPr>
              <a:t>)</a:t>
            </a:r>
            <a:r>
              <a:rPr lang="en-US" altLang="zh-CN" sz="2500" b="1" baseline="-25000" dirty="0">
                <a:ea typeface="楷体_GB2312" pitchFamily="49" charset="-122"/>
              </a:rPr>
              <a:t>4</a:t>
            </a:r>
            <a:r>
              <a:rPr lang="en-US" altLang="zh-CN" sz="2500" b="1" baseline="30000" dirty="0">
                <a:ea typeface="楷体_GB2312" pitchFamily="49" charset="-122"/>
              </a:rPr>
              <a:t>2+</a:t>
            </a:r>
            <a:r>
              <a:rPr lang="en-US" altLang="zh-CN" sz="2500" b="1" dirty="0">
                <a:ea typeface="楷体_GB2312" pitchFamily="49" charset="-122"/>
              </a:rPr>
              <a:t>]</a:t>
            </a:r>
          </a:p>
        </p:txBody>
      </p:sp>
      <p:sp>
        <p:nvSpPr>
          <p:cNvPr id="86050" name="Rectangle 34"/>
          <p:cNvSpPr>
            <a:spLocks noChangeArrowheads="1"/>
          </p:cNvSpPr>
          <p:nvPr/>
        </p:nvSpPr>
        <p:spPr bwMode="auto">
          <a:xfrm>
            <a:off x="5293889" y="5102630"/>
            <a:ext cx="12890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=1/</a:t>
            </a:r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zh-CN" altLang="en-US" sz="2500" b="1" baseline="-25000" dirty="0">
                <a:ea typeface="楷体_GB2312" pitchFamily="49" charset="-122"/>
                <a:sym typeface="Webdings" pitchFamily="18" charset="2"/>
              </a:rPr>
              <a:t>稳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4</a:t>
            </a:r>
            <a:endParaRPr lang="en-US" altLang="zh-CN" sz="2500" b="1" baseline="30000" dirty="0">
              <a:ea typeface="楷体_GB2312" pitchFamily="49" charset="-122"/>
              <a:sym typeface="Webdings" pitchFamily="18" charset="2"/>
            </a:endParaRPr>
          </a:p>
        </p:txBody>
      </p:sp>
      <p:sp>
        <p:nvSpPr>
          <p:cNvPr id="86051" name="Rectangle 35"/>
          <p:cNvSpPr>
            <a:spLocks noChangeArrowheads="1"/>
          </p:cNvSpPr>
          <p:nvPr/>
        </p:nvSpPr>
        <p:spPr bwMode="auto">
          <a:xfrm>
            <a:off x="7070054" y="2896176"/>
            <a:ext cx="1211263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= 10</a:t>
            </a:r>
            <a:r>
              <a:rPr lang="en-US" altLang="zh-CN" sz="2500" b="1" baseline="30000" dirty="0">
                <a:ea typeface="楷体_GB2312" pitchFamily="49" charset="-122"/>
                <a:sym typeface="Webdings" pitchFamily="18" charset="2"/>
              </a:rPr>
              <a:t>-2.30</a:t>
            </a:r>
          </a:p>
        </p:txBody>
      </p:sp>
      <p:sp>
        <p:nvSpPr>
          <p:cNvPr id="10249" name="Rectangle 42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  <a:noFill/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6.2.1</a:t>
            </a:r>
            <a:r>
              <a:rPr lang="zh-CN" altLang="en-US" smtClean="0">
                <a:ea typeface="黑体" pitchFamily="49" charset="-122"/>
              </a:rPr>
              <a:t>配位平衡及配合物的稳定常数</a:t>
            </a:r>
            <a:endParaRPr lang="zh-CN" altLang="en-US" sz="1200" b="0" smtClean="0">
              <a:solidFill>
                <a:srgbClr val="0000FF"/>
              </a:solidFill>
              <a:ea typeface="黑体" pitchFamily="49" charset="-122"/>
            </a:endParaRPr>
          </a:p>
        </p:txBody>
      </p:sp>
      <p:sp>
        <p:nvSpPr>
          <p:cNvPr id="86062" name="Rectangle 46"/>
          <p:cNvSpPr>
            <a:spLocks noChangeArrowheads="1"/>
          </p:cNvSpPr>
          <p:nvPr/>
        </p:nvSpPr>
        <p:spPr bwMode="auto">
          <a:xfrm>
            <a:off x="906463" y="1511895"/>
            <a:ext cx="931907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500" b="1" dirty="0">
                <a:ea typeface="楷体_GB2312" pitchFamily="49" charset="-122"/>
              </a:rPr>
              <a:t>[Cu(NH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dirty="0">
                <a:ea typeface="楷体_GB2312" pitchFamily="49" charset="-122"/>
              </a:rPr>
              <a:t>)</a:t>
            </a:r>
            <a:r>
              <a:rPr lang="en-US" altLang="zh-CN" sz="2500" b="1" baseline="-25000" dirty="0">
                <a:ea typeface="楷体_GB2312" pitchFamily="49" charset="-122"/>
              </a:rPr>
              <a:t>4</a:t>
            </a:r>
            <a:r>
              <a:rPr lang="en-US" altLang="zh-CN" sz="2500" b="1" dirty="0">
                <a:ea typeface="楷体_GB2312" pitchFamily="49" charset="-122"/>
              </a:rPr>
              <a:t>]</a:t>
            </a:r>
            <a:r>
              <a:rPr lang="en-US" altLang="zh-CN" sz="2500" b="1" baseline="30000" dirty="0">
                <a:ea typeface="楷体_GB2312" pitchFamily="49" charset="-122"/>
              </a:rPr>
              <a:t>2+</a:t>
            </a:r>
            <a:r>
              <a:rPr lang="zh-CN" altLang="en-US" sz="2500" b="1" dirty="0">
                <a:ea typeface="楷体_GB2312" pitchFamily="49" charset="-122"/>
              </a:rPr>
              <a:t>第一级解离平衡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</a:p>
          <a:p>
            <a:pPr algn="ctr">
              <a:lnSpc>
                <a:spcPct val="120000"/>
              </a:lnSpc>
            </a:pPr>
            <a:r>
              <a:rPr lang="en-US" altLang="zh-CN" sz="2500" b="1" dirty="0">
                <a:ea typeface="楷体_GB2312" pitchFamily="49" charset="-122"/>
              </a:rPr>
              <a:t>[Cu(NH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dirty="0">
                <a:ea typeface="楷体_GB2312" pitchFamily="49" charset="-122"/>
              </a:rPr>
              <a:t>)</a:t>
            </a:r>
            <a:r>
              <a:rPr lang="en-US" altLang="zh-CN" sz="2500" b="1" baseline="-25000" dirty="0">
                <a:ea typeface="楷体_GB2312" pitchFamily="49" charset="-122"/>
              </a:rPr>
              <a:t>4</a:t>
            </a:r>
            <a:r>
              <a:rPr lang="en-US" altLang="zh-CN" sz="2500" b="1" dirty="0">
                <a:ea typeface="楷体_GB2312" pitchFamily="49" charset="-122"/>
              </a:rPr>
              <a:t>]</a:t>
            </a:r>
            <a:r>
              <a:rPr lang="en-US" altLang="zh-CN" sz="2500" b="1" baseline="30000" dirty="0">
                <a:ea typeface="楷体_GB2312" pitchFamily="49" charset="-122"/>
              </a:rPr>
              <a:t>2+ </a:t>
            </a:r>
            <a:r>
              <a:rPr lang="en-US" altLang="zh-CN" sz="2500" b="1" dirty="0">
                <a:ea typeface="楷体_GB2312" pitchFamily="49" charset="-122"/>
              </a:rPr>
              <a:t>⇋ [Cu(NH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dirty="0">
                <a:ea typeface="楷体_GB2312" pitchFamily="49" charset="-122"/>
              </a:rPr>
              <a:t>)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dirty="0">
                <a:ea typeface="楷体_GB2312" pitchFamily="49" charset="-122"/>
              </a:rPr>
              <a:t>]</a:t>
            </a:r>
            <a:r>
              <a:rPr lang="en-US" altLang="zh-CN" sz="2500" b="1" baseline="30000" dirty="0">
                <a:ea typeface="楷体_GB2312" pitchFamily="49" charset="-122"/>
              </a:rPr>
              <a:t>2+ </a:t>
            </a:r>
            <a:r>
              <a:rPr lang="en-US" altLang="zh-CN" sz="2500" b="1" dirty="0">
                <a:ea typeface="楷体_GB2312" pitchFamily="49" charset="-122"/>
              </a:rPr>
              <a:t>+ NH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dirty="0">
                <a:ea typeface="楷体_GB2312" pitchFamily="49" charset="-122"/>
              </a:rPr>
              <a:t>        </a:t>
            </a:r>
          </a:p>
        </p:txBody>
      </p:sp>
      <p:sp>
        <p:nvSpPr>
          <p:cNvPr id="86064" name="Rectangle 48"/>
          <p:cNvSpPr>
            <a:spLocks noChangeArrowheads="1"/>
          </p:cNvSpPr>
          <p:nvPr/>
        </p:nvSpPr>
        <p:spPr bwMode="auto">
          <a:xfrm>
            <a:off x="8281317" y="2902022"/>
            <a:ext cx="1253869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=</a:t>
            </a:r>
            <a:r>
              <a:rPr lang="en-US" altLang="zh-CN" sz="2500" b="1" i="1" dirty="0" smtClean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zh-CN" altLang="en-US" sz="2500" b="1" baseline="-25000" dirty="0">
                <a:ea typeface="楷体_GB2312" pitchFamily="49" charset="-122"/>
                <a:sym typeface="Webdings" pitchFamily="18" charset="2"/>
              </a:rPr>
              <a:t>不稳</a:t>
            </a:r>
            <a:r>
              <a:rPr lang="en-US" altLang="zh-CN" sz="2500" b="1" baseline="-25000" dirty="0" smtClean="0">
                <a:ea typeface="楷体_GB2312" pitchFamily="49" charset="-122"/>
                <a:sym typeface="Webdings" pitchFamily="18" charset="2"/>
              </a:rPr>
              <a:t>1</a:t>
            </a:r>
            <a:endParaRPr lang="en-US" altLang="zh-CN" sz="2500" b="1" baseline="-25000" dirty="0">
              <a:ea typeface="楷体_GB2312" pitchFamily="49" charset="-122"/>
              <a:sym typeface="Webdings" pitchFamily="18" charset="2"/>
            </a:endParaRPr>
          </a:p>
        </p:txBody>
      </p:sp>
      <p:sp>
        <p:nvSpPr>
          <p:cNvPr id="10252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3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Rectangle 25"/>
          <p:cNvSpPr>
            <a:spLocks noChangeArrowheads="1"/>
          </p:cNvSpPr>
          <p:nvPr/>
        </p:nvSpPr>
        <p:spPr bwMode="auto">
          <a:xfrm>
            <a:off x="150813" y="854955"/>
            <a:ext cx="3377976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zh-CN" altLang="en-US" sz="2500" b="1" dirty="0">
                <a:solidFill>
                  <a:srgbClr val="FF0000"/>
                </a:solidFill>
                <a:ea typeface="楷体_GB2312" pitchFamily="49" charset="-122"/>
                <a:hlinkClick r:id="rId8" action="ppaction://hlinkfile"/>
              </a:rPr>
              <a:t>配离子的解离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.</a:t>
            </a:r>
          </a:p>
        </p:txBody>
      </p:sp>
      <p:sp>
        <p:nvSpPr>
          <p:cNvPr id="15" name="Rectangle 21"/>
          <p:cNvSpPr>
            <a:spLocks noChangeArrowheads="1"/>
          </p:cNvSpPr>
          <p:nvPr/>
        </p:nvSpPr>
        <p:spPr bwMode="auto">
          <a:xfrm>
            <a:off x="2281579" y="3936945"/>
            <a:ext cx="1092200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zh-CN" altLang="en-US" sz="2500" b="1" baseline="-25000" dirty="0">
                <a:ea typeface="楷体_GB2312" pitchFamily="49" charset="-122"/>
                <a:sym typeface="Webdings" pitchFamily="18" charset="2"/>
              </a:rPr>
              <a:t>稳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4 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=</a:t>
            </a:r>
            <a:endParaRPr lang="en-US" altLang="zh-CN" sz="2500" b="1" baseline="30000" dirty="0">
              <a:ea typeface="楷体_GB2312" pitchFamily="49" charset="-122"/>
              <a:sym typeface="Webdings" pitchFamily="18" charset="2"/>
            </a:endParaRPr>
          </a:p>
        </p:txBody>
      </p:sp>
      <p:sp>
        <p:nvSpPr>
          <p:cNvPr id="16" name="Rectangle 22"/>
          <p:cNvSpPr>
            <a:spLocks noChangeArrowheads="1"/>
          </p:cNvSpPr>
          <p:nvPr/>
        </p:nvSpPr>
        <p:spPr bwMode="auto">
          <a:xfrm>
            <a:off x="6999629" y="3922658"/>
            <a:ext cx="10604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=10</a:t>
            </a:r>
            <a:r>
              <a:rPr lang="en-US" altLang="zh-CN" sz="2500" b="1" baseline="30000" dirty="0">
                <a:ea typeface="楷体_GB2312" pitchFamily="49" charset="-122"/>
                <a:sym typeface="Webdings" pitchFamily="18" charset="2"/>
              </a:rPr>
              <a:t>2.30</a:t>
            </a:r>
          </a:p>
        </p:txBody>
      </p:sp>
      <p:sp>
        <p:nvSpPr>
          <p:cNvPr id="17" name="Line 23"/>
          <p:cNvSpPr>
            <a:spLocks noChangeShapeType="1"/>
          </p:cNvSpPr>
          <p:nvPr/>
        </p:nvSpPr>
        <p:spPr bwMode="auto">
          <a:xfrm>
            <a:off x="3553167" y="4194120"/>
            <a:ext cx="33607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" name="Rectangle 24"/>
          <p:cNvSpPr>
            <a:spLocks noChangeArrowheads="1"/>
          </p:cNvSpPr>
          <p:nvPr/>
        </p:nvSpPr>
        <p:spPr bwMode="auto">
          <a:xfrm>
            <a:off x="3924642" y="3722633"/>
            <a:ext cx="1947862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>
                <a:ea typeface="楷体_GB2312" pitchFamily="49" charset="-122"/>
              </a:rPr>
              <a:t>[Cu(NH</a:t>
            </a:r>
            <a:r>
              <a:rPr lang="en-US" altLang="zh-CN" sz="2500" b="1" baseline="-25000">
                <a:ea typeface="楷体_GB2312" pitchFamily="49" charset="-122"/>
              </a:rPr>
              <a:t>3</a:t>
            </a:r>
            <a:r>
              <a:rPr lang="en-US" altLang="zh-CN" sz="2500" b="1">
                <a:ea typeface="楷体_GB2312" pitchFamily="49" charset="-122"/>
              </a:rPr>
              <a:t>)</a:t>
            </a:r>
            <a:r>
              <a:rPr lang="en-US" altLang="zh-CN" sz="2500" b="1" baseline="-25000">
                <a:ea typeface="楷体_GB2312" pitchFamily="49" charset="-122"/>
              </a:rPr>
              <a:t>4</a:t>
            </a:r>
            <a:r>
              <a:rPr lang="en-US" altLang="zh-CN" sz="2500" b="1" baseline="30000">
                <a:ea typeface="楷体_GB2312" pitchFamily="49" charset="-122"/>
              </a:rPr>
              <a:t>2+</a:t>
            </a:r>
            <a:r>
              <a:rPr lang="en-US" altLang="zh-CN" sz="2500" b="1">
                <a:ea typeface="楷体_GB2312" pitchFamily="49" charset="-122"/>
              </a:rPr>
              <a:t>]</a:t>
            </a:r>
          </a:p>
        </p:txBody>
      </p:sp>
      <p:sp>
        <p:nvSpPr>
          <p:cNvPr id="19" name="Rectangle 25"/>
          <p:cNvSpPr>
            <a:spLocks noChangeArrowheads="1"/>
          </p:cNvSpPr>
          <p:nvPr/>
        </p:nvSpPr>
        <p:spPr bwMode="auto">
          <a:xfrm>
            <a:off x="3370604" y="4194120"/>
            <a:ext cx="1947863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>
                <a:ea typeface="楷体_GB2312" pitchFamily="49" charset="-122"/>
              </a:rPr>
              <a:t>[Cu(NH</a:t>
            </a:r>
            <a:r>
              <a:rPr lang="en-US" altLang="zh-CN" sz="2500" b="1" baseline="-25000">
                <a:ea typeface="楷体_GB2312" pitchFamily="49" charset="-122"/>
              </a:rPr>
              <a:t>3</a:t>
            </a:r>
            <a:r>
              <a:rPr lang="en-US" altLang="zh-CN" sz="2500" b="1">
                <a:ea typeface="楷体_GB2312" pitchFamily="49" charset="-122"/>
              </a:rPr>
              <a:t>)</a:t>
            </a:r>
            <a:r>
              <a:rPr lang="en-US" altLang="zh-CN" sz="2500" b="1" baseline="-25000">
                <a:ea typeface="楷体_GB2312" pitchFamily="49" charset="-122"/>
              </a:rPr>
              <a:t>3</a:t>
            </a:r>
            <a:r>
              <a:rPr lang="en-US" altLang="zh-CN" sz="2500" b="1" baseline="30000">
                <a:ea typeface="楷体_GB2312" pitchFamily="49" charset="-122"/>
              </a:rPr>
              <a:t>2+</a:t>
            </a:r>
            <a:r>
              <a:rPr lang="en-US" altLang="zh-CN" sz="2500" b="1">
                <a:ea typeface="楷体_GB2312" pitchFamily="49" charset="-122"/>
              </a:rPr>
              <a:t>]</a:t>
            </a:r>
          </a:p>
        </p:txBody>
      </p:sp>
      <p:sp>
        <p:nvSpPr>
          <p:cNvPr id="20" name="Rectangle 26"/>
          <p:cNvSpPr>
            <a:spLocks noChangeArrowheads="1"/>
          </p:cNvSpPr>
          <p:nvPr/>
        </p:nvSpPr>
        <p:spPr bwMode="auto">
          <a:xfrm>
            <a:off x="5210517" y="4222695"/>
            <a:ext cx="9874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>
                <a:ea typeface="楷体_GB2312" pitchFamily="49" charset="-122"/>
              </a:rPr>
              <a:t>[NH</a:t>
            </a:r>
            <a:r>
              <a:rPr lang="en-US" altLang="zh-CN" sz="2500" b="1" baseline="-25000">
                <a:ea typeface="楷体_GB2312" pitchFamily="49" charset="-122"/>
              </a:rPr>
              <a:t>3</a:t>
            </a:r>
            <a:r>
              <a:rPr lang="en-US" altLang="zh-CN" sz="2500" b="1">
                <a:ea typeface="楷体_GB2312" pitchFamily="49" charset="-122"/>
              </a:rPr>
              <a:t>]</a:t>
            </a:r>
          </a:p>
        </p:txBody>
      </p:sp>
      <p:sp>
        <p:nvSpPr>
          <p:cNvPr id="21" name="Rectangle 48"/>
          <p:cNvSpPr>
            <a:spLocks noChangeArrowheads="1"/>
          </p:cNvSpPr>
          <p:nvPr/>
        </p:nvSpPr>
        <p:spPr bwMode="auto">
          <a:xfrm>
            <a:off x="4285544" y="4997950"/>
            <a:ext cx="1071127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 i="1" dirty="0" smtClean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zh-CN" altLang="en-US" sz="2500" b="1" baseline="-25000" dirty="0">
                <a:ea typeface="楷体_GB2312" pitchFamily="49" charset="-122"/>
                <a:sym typeface="Webdings" pitchFamily="18" charset="2"/>
              </a:rPr>
              <a:t>不稳</a:t>
            </a:r>
            <a:r>
              <a:rPr lang="en-US" altLang="zh-CN" sz="2500" b="1" baseline="-25000" dirty="0" smtClean="0">
                <a:ea typeface="楷体_GB2312" pitchFamily="49" charset="-122"/>
                <a:sym typeface="Webdings" pitchFamily="18" charset="2"/>
              </a:rPr>
              <a:t>1</a:t>
            </a:r>
            <a:endParaRPr lang="en-US" altLang="zh-CN" sz="2500" b="1" baseline="-25000" dirty="0">
              <a:ea typeface="楷体_GB2312" pitchFamily="49" charset="-122"/>
              <a:sym typeface="Webdings" pitchFamily="18" charset="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827679" y="5751731"/>
            <a:ext cx="43735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ea typeface="楷体_GB2312"/>
              </a:rPr>
              <a:t>配离子形成与解离是可逆的</a:t>
            </a:r>
            <a:endParaRPr lang="zh-CN" altLang="en-US" sz="2400" b="1" dirty="0">
              <a:ea typeface="楷体_GB2312"/>
            </a:endParaRPr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60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860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86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86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60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860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860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860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86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860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500"/>
                            </p:stCondLst>
                            <p:childTnLst>
                              <p:par>
                                <p:cTn id="7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500"/>
                            </p:stCondLst>
                            <p:childTnLst>
                              <p:par>
                                <p:cTn id="7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45" grpId="0" autoUpdateAnimBg="0"/>
      <p:bldP spid="86046" grpId="0" animBg="1"/>
      <p:bldP spid="86047" grpId="0" autoUpdateAnimBg="0"/>
      <p:bldP spid="86048" grpId="0" autoUpdateAnimBg="0"/>
      <p:bldP spid="86049" grpId="0" autoUpdateAnimBg="0"/>
      <p:bldP spid="86050" grpId="0" autoUpdateAnimBg="0"/>
      <p:bldP spid="86051" grpId="0" autoUpdateAnimBg="0"/>
      <p:bldP spid="86062" grpId="0" build="p" autoUpdateAnimBg="0"/>
      <p:bldP spid="86064" grpId="0" autoUpdateAnimBg="0"/>
      <p:bldP spid="14" grpId="0" build="p" autoUpdateAnimBg="0"/>
      <p:bldP spid="15" grpId="0" autoUpdateAnimBg="0"/>
      <p:bldP spid="16" grpId="0" autoUpdateAnimBg="0"/>
      <p:bldP spid="17" grpId="0" animBg="1"/>
      <p:bldP spid="18" grpId="0" autoUpdateAnimBg="0"/>
      <p:bldP spid="19" grpId="0" autoUpdateAnimBg="0"/>
      <p:bldP spid="20" grpId="0" autoUpdateAnimBg="0"/>
      <p:bldP spid="21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46" name="Line 30"/>
          <p:cNvSpPr>
            <a:spLocks noChangeShapeType="1"/>
          </p:cNvSpPr>
          <p:nvPr/>
        </p:nvSpPr>
        <p:spPr bwMode="auto">
          <a:xfrm flipV="1">
            <a:off x="3581741" y="3241659"/>
            <a:ext cx="2755360" cy="1699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86047" name="Rectangle 31"/>
          <p:cNvSpPr>
            <a:spLocks noChangeArrowheads="1"/>
          </p:cNvSpPr>
          <p:nvPr/>
        </p:nvSpPr>
        <p:spPr bwMode="auto">
          <a:xfrm>
            <a:off x="4095682" y="2736031"/>
            <a:ext cx="1037463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 dirty="0">
                <a:ea typeface="楷体_GB2312" pitchFamily="49" charset="-122"/>
              </a:rPr>
              <a:t>[</a:t>
            </a:r>
            <a:r>
              <a:rPr lang="en-US" altLang="zh-CN" sz="2500" b="1" dirty="0" smtClean="0">
                <a:ea typeface="楷体_GB2312" pitchFamily="49" charset="-122"/>
              </a:rPr>
              <a:t>Cu</a:t>
            </a:r>
            <a:r>
              <a:rPr lang="en-US" altLang="zh-CN" sz="2500" b="1" baseline="30000" dirty="0" smtClean="0">
                <a:ea typeface="楷体_GB2312" pitchFamily="49" charset="-122"/>
              </a:rPr>
              <a:t>2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en-US" altLang="zh-CN" sz="2500" b="1" dirty="0">
                <a:ea typeface="楷体_GB2312" pitchFamily="49" charset="-122"/>
              </a:rPr>
              <a:t>]</a:t>
            </a:r>
          </a:p>
        </p:txBody>
      </p:sp>
      <p:sp>
        <p:nvSpPr>
          <p:cNvPr id="86048" name="Rectangle 32"/>
          <p:cNvSpPr>
            <a:spLocks noChangeArrowheads="1"/>
          </p:cNvSpPr>
          <p:nvPr/>
        </p:nvSpPr>
        <p:spPr bwMode="auto">
          <a:xfrm>
            <a:off x="5047415" y="2747037"/>
            <a:ext cx="1095172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 dirty="0">
                <a:ea typeface="楷体_GB2312" pitchFamily="49" charset="-122"/>
              </a:rPr>
              <a:t>[</a:t>
            </a:r>
            <a:r>
              <a:rPr lang="en-US" altLang="zh-CN" sz="2500" b="1" dirty="0" smtClean="0">
                <a:ea typeface="楷体_GB2312" pitchFamily="49" charset="-122"/>
              </a:rPr>
              <a:t>NH</a:t>
            </a:r>
            <a:r>
              <a:rPr lang="en-US" altLang="zh-CN" sz="2500" b="1" baseline="-25000" dirty="0" smtClean="0">
                <a:ea typeface="楷体_GB2312" pitchFamily="49" charset="-122"/>
              </a:rPr>
              <a:t>3</a:t>
            </a:r>
            <a:r>
              <a:rPr lang="en-US" altLang="zh-CN" sz="2500" b="1" dirty="0" smtClean="0">
                <a:ea typeface="楷体_GB2312" pitchFamily="49" charset="-122"/>
              </a:rPr>
              <a:t>]</a:t>
            </a:r>
            <a:r>
              <a:rPr lang="en-US" altLang="zh-CN" sz="2500" b="1" baseline="30000" dirty="0" smtClean="0">
                <a:ea typeface="楷体_GB2312" pitchFamily="49" charset="-122"/>
              </a:rPr>
              <a:t>4</a:t>
            </a:r>
            <a:endParaRPr lang="en-US" altLang="zh-CN" sz="2500" b="1" baseline="30000" dirty="0">
              <a:ea typeface="楷体_GB2312" pitchFamily="49" charset="-122"/>
            </a:endParaRPr>
          </a:p>
        </p:txBody>
      </p:sp>
      <p:sp>
        <p:nvSpPr>
          <p:cNvPr id="86049" name="Rectangle 33"/>
          <p:cNvSpPr>
            <a:spLocks noChangeArrowheads="1"/>
          </p:cNvSpPr>
          <p:nvPr/>
        </p:nvSpPr>
        <p:spPr bwMode="auto">
          <a:xfrm>
            <a:off x="3938929" y="3258651"/>
            <a:ext cx="1947862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 dirty="0">
                <a:ea typeface="楷体_GB2312" pitchFamily="49" charset="-122"/>
              </a:rPr>
              <a:t>[Cu(NH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dirty="0">
                <a:ea typeface="楷体_GB2312" pitchFamily="49" charset="-122"/>
              </a:rPr>
              <a:t>)</a:t>
            </a:r>
            <a:r>
              <a:rPr lang="en-US" altLang="zh-CN" sz="2500" b="1" baseline="-25000" dirty="0">
                <a:ea typeface="楷体_GB2312" pitchFamily="49" charset="-122"/>
              </a:rPr>
              <a:t>4</a:t>
            </a:r>
            <a:r>
              <a:rPr lang="en-US" altLang="zh-CN" sz="2500" b="1" baseline="30000" dirty="0">
                <a:ea typeface="楷体_GB2312" pitchFamily="49" charset="-122"/>
              </a:rPr>
              <a:t>2+</a:t>
            </a:r>
            <a:r>
              <a:rPr lang="en-US" altLang="zh-CN" sz="2500" b="1" dirty="0">
                <a:ea typeface="楷体_GB2312" pitchFamily="49" charset="-122"/>
              </a:rPr>
              <a:t>]</a:t>
            </a:r>
          </a:p>
        </p:txBody>
      </p:sp>
      <p:sp>
        <p:nvSpPr>
          <p:cNvPr id="86050" name="Rectangle 34"/>
          <p:cNvSpPr>
            <a:spLocks noChangeArrowheads="1"/>
          </p:cNvSpPr>
          <p:nvPr/>
        </p:nvSpPr>
        <p:spPr bwMode="auto">
          <a:xfrm>
            <a:off x="6350631" y="3001521"/>
            <a:ext cx="12890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=1/</a:t>
            </a:r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zh-CN" altLang="en-US" sz="2500" b="1" baseline="-25000" dirty="0">
                <a:ea typeface="楷体_GB2312" pitchFamily="49" charset="-122"/>
                <a:sym typeface="Webdings" pitchFamily="18" charset="2"/>
              </a:rPr>
              <a:t>稳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4</a:t>
            </a:r>
            <a:endParaRPr lang="en-US" altLang="zh-CN" sz="2500" b="1" baseline="30000" dirty="0">
              <a:ea typeface="楷体_GB2312" pitchFamily="49" charset="-122"/>
              <a:sym typeface="Webdings" pitchFamily="18" charset="2"/>
            </a:endParaRPr>
          </a:p>
        </p:txBody>
      </p:sp>
      <p:sp>
        <p:nvSpPr>
          <p:cNvPr id="10249" name="Rectangle 42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  <a:noFill/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6.2.1</a:t>
            </a:r>
            <a:r>
              <a:rPr lang="zh-CN" altLang="en-US" smtClean="0">
                <a:ea typeface="黑体" pitchFamily="49" charset="-122"/>
              </a:rPr>
              <a:t>配位平衡及配合物的稳定常数</a:t>
            </a:r>
            <a:endParaRPr lang="zh-CN" altLang="en-US" sz="1200" b="0" smtClean="0">
              <a:solidFill>
                <a:srgbClr val="0000FF"/>
              </a:solidFill>
              <a:ea typeface="黑体" pitchFamily="49" charset="-122"/>
            </a:endParaRPr>
          </a:p>
        </p:txBody>
      </p:sp>
      <p:sp>
        <p:nvSpPr>
          <p:cNvPr id="86062" name="Rectangle 46"/>
          <p:cNvSpPr>
            <a:spLocks noChangeArrowheads="1"/>
          </p:cNvSpPr>
          <p:nvPr/>
        </p:nvSpPr>
        <p:spPr bwMode="auto">
          <a:xfrm>
            <a:off x="2921341" y="2220044"/>
            <a:ext cx="9319070" cy="5132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500" b="1" dirty="0" smtClean="0">
                <a:ea typeface="楷体_GB2312" pitchFamily="49" charset="-122"/>
              </a:rPr>
              <a:t> [</a:t>
            </a:r>
            <a:r>
              <a:rPr lang="en-US" altLang="zh-CN" sz="2500" b="1" dirty="0">
                <a:ea typeface="楷体_GB2312" pitchFamily="49" charset="-122"/>
              </a:rPr>
              <a:t>Cu(NH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dirty="0">
                <a:ea typeface="楷体_GB2312" pitchFamily="49" charset="-122"/>
              </a:rPr>
              <a:t>)</a:t>
            </a:r>
            <a:r>
              <a:rPr lang="en-US" altLang="zh-CN" sz="2500" b="1" baseline="-25000" dirty="0">
                <a:ea typeface="楷体_GB2312" pitchFamily="49" charset="-122"/>
              </a:rPr>
              <a:t>4</a:t>
            </a:r>
            <a:r>
              <a:rPr lang="en-US" altLang="zh-CN" sz="2500" b="1" dirty="0">
                <a:ea typeface="楷体_GB2312" pitchFamily="49" charset="-122"/>
              </a:rPr>
              <a:t>]</a:t>
            </a:r>
            <a:r>
              <a:rPr lang="en-US" altLang="zh-CN" sz="2500" b="1" baseline="30000" dirty="0">
                <a:ea typeface="楷体_GB2312" pitchFamily="49" charset="-122"/>
              </a:rPr>
              <a:t>2+ </a:t>
            </a:r>
            <a:r>
              <a:rPr lang="en-US" altLang="zh-CN" sz="2500" b="1" dirty="0">
                <a:ea typeface="楷体_GB2312" pitchFamily="49" charset="-122"/>
              </a:rPr>
              <a:t>⇋ </a:t>
            </a:r>
            <a:r>
              <a:rPr lang="en-US" altLang="zh-CN" sz="2500" b="1" dirty="0" smtClean="0">
                <a:ea typeface="楷体_GB2312" pitchFamily="49" charset="-122"/>
              </a:rPr>
              <a:t>Cu </a:t>
            </a:r>
            <a:r>
              <a:rPr lang="en-US" altLang="zh-CN" sz="2500" b="1" baseline="30000" dirty="0" smtClean="0">
                <a:ea typeface="楷体_GB2312" pitchFamily="49" charset="-122"/>
              </a:rPr>
              <a:t>2+ </a:t>
            </a:r>
            <a:r>
              <a:rPr lang="en-US" altLang="zh-CN" sz="2500" b="1" dirty="0">
                <a:ea typeface="楷体_GB2312" pitchFamily="49" charset="-122"/>
              </a:rPr>
              <a:t>+ </a:t>
            </a:r>
            <a:r>
              <a:rPr lang="en-US" altLang="zh-CN" sz="2500" b="1" dirty="0" smtClean="0">
                <a:ea typeface="楷体_GB2312" pitchFamily="49" charset="-122"/>
              </a:rPr>
              <a:t>4NH</a:t>
            </a:r>
            <a:r>
              <a:rPr lang="en-US" altLang="zh-CN" sz="2500" b="1" baseline="-25000" dirty="0" smtClean="0">
                <a:ea typeface="楷体_GB2312" pitchFamily="49" charset="-122"/>
              </a:rPr>
              <a:t>3</a:t>
            </a:r>
            <a:r>
              <a:rPr lang="en-US" altLang="zh-CN" sz="2500" b="1" dirty="0" smtClean="0">
                <a:ea typeface="楷体_GB2312" pitchFamily="49" charset="-122"/>
              </a:rPr>
              <a:t>        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86064" name="Rectangle 48"/>
          <p:cNvSpPr>
            <a:spLocks noChangeArrowheads="1"/>
          </p:cNvSpPr>
          <p:nvPr/>
        </p:nvSpPr>
        <p:spPr bwMode="auto">
          <a:xfrm>
            <a:off x="2328621" y="2948997"/>
            <a:ext cx="1146468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 i="1" dirty="0" smtClean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zh-CN" altLang="en-US" sz="2500" b="1" baseline="-25000" dirty="0">
                <a:ea typeface="楷体_GB2312" pitchFamily="49" charset="-122"/>
                <a:sym typeface="Webdings" pitchFamily="18" charset="2"/>
              </a:rPr>
              <a:t>不</a:t>
            </a:r>
            <a:r>
              <a:rPr lang="zh-CN" altLang="en-US" sz="2500" b="1" baseline="-25000" dirty="0" smtClean="0">
                <a:ea typeface="楷体_GB2312" pitchFamily="49" charset="-122"/>
                <a:sym typeface="Webdings" pitchFamily="18" charset="2"/>
              </a:rPr>
              <a:t>稳</a:t>
            </a:r>
            <a:r>
              <a:rPr lang="en-US" altLang="zh-CN" sz="2500" b="1" dirty="0" smtClean="0">
                <a:ea typeface="楷体_GB2312" pitchFamily="49" charset="-122"/>
                <a:sym typeface="Webdings" pitchFamily="18" charset="2"/>
              </a:rPr>
              <a:t>=</a:t>
            </a:r>
            <a:endParaRPr lang="en-US" altLang="zh-CN" sz="2500" b="1" baseline="-25000" dirty="0">
              <a:ea typeface="楷体_GB2312" pitchFamily="49" charset="-122"/>
              <a:sym typeface="Webdings" pitchFamily="18" charset="2"/>
            </a:endParaRPr>
          </a:p>
        </p:txBody>
      </p:sp>
      <p:sp>
        <p:nvSpPr>
          <p:cNvPr id="10252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3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Rectangle 25"/>
          <p:cNvSpPr>
            <a:spLocks noChangeArrowheads="1"/>
          </p:cNvSpPr>
          <p:nvPr/>
        </p:nvSpPr>
        <p:spPr bwMode="auto">
          <a:xfrm>
            <a:off x="150813" y="854955"/>
            <a:ext cx="3377976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zh-CN" altLang="en-US" sz="2500" b="1" dirty="0">
                <a:solidFill>
                  <a:srgbClr val="FF0000"/>
                </a:solidFill>
                <a:ea typeface="楷体_GB2312" pitchFamily="49" charset="-122"/>
                <a:hlinkClick r:id="rId7" action="ppaction://hlinkfile"/>
              </a:rPr>
              <a:t>配离子的解离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160637" y="1679926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仿宋_GB2312"/>
              </a:rPr>
              <a:t>同理：</a:t>
            </a:r>
            <a:endParaRPr lang="zh-CN" altLang="en-US" sz="2800" b="1" dirty="0">
              <a:latin typeface="仿宋_GB2312"/>
            </a:endParaRPr>
          </a:p>
        </p:txBody>
      </p:sp>
      <p:sp>
        <p:nvSpPr>
          <p:cNvPr id="24" name="Rectangle 34"/>
          <p:cNvSpPr>
            <a:spLocks noChangeArrowheads="1"/>
          </p:cNvSpPr>
          <p:nvPr/>
        </p:nvSpPr>
        <p:spPr bwMode="auto">
          <a:xfrm>
            <a:off x="4095682" y="1747281"/>
            <a:ext cx="1289135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=1/</a:t>
            </a:r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zh-CN" altLang="en-US" sz="2500" b="1" baseline="-25000" dirty="0" smtClean="0">
                <a:ea typeface="楷体_GB2312" pitchFamily="49" charset="-122"/>
                <a:sym typeface="Webdings" pitchFamily="18" charset="2"/>
              </a:rPr>
              <a:t>稳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3</a:t>
            </a:r>
            <a:endParaRPr lang="en-US" altLang="zh-CN" sz="2500" b="1" baseline="30000" dirty="0">
              <a:ea typeface="楷体_GB2312" pitchFamily="49" charset="-122"/>
              <a:sym typeface="Webdings" pitchFamily="18" charset="2"/>
            </a:endParaRPr>
          </a:p>
        </p:txBody>
      </p:sp>
      <p:sp>
        <p:nvSpPr>
          <p:cNvPr id="25" name="Rectangle 48"/>
          <p:cNvSpPr>
            <a:spLocks noChangeArrowheads="1"/>
          </p:cNvSpPr>
          <p:nvPr/>
        </p:nvSpPr>
        <p:spPr bwMode="auto">
          <a:xfrm>
            <a:off x="3087379" y="1642601"/>
            <a:ext cx="1071127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 i="1" dirty="0" smtClean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zh-CN" altLang="en-US" sz="2500" b="1" baseline="-25000" dirty="0">
                <a:ea typeface="楷体_GB2312" pitchFamily="49" charset="-122"/>
                <a:sym typeface="Webdings" pitchFamily="18" charset="2"/>
              </a:rPr>
              <a:t>不</a:t>
            </a:r>
            <a:r>
              <a:rPr lang="zh-CN" altLang="en-US" sz="2500" b="1" baseline="-25000" dirty="0" smtClean="0">
                <a:ea typeface="楷体_GB2312" pitchFamily="49" charset="-122"/>
                <a:sym typeface="Webdings" pitchFamily="18" charset="2"/>
              </a:rPr>
              <a:t>稳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2</a:t>
            </a:r>
          </a:p>
        </p:txBody>
      </p:sp>
      <p:sp>
        <p:nvSpPr>
          <p:cNvPr id="26" name="Rectangle 34"/>
          <p:cNvSpPr>
            <a:spLocks noChangeArrowheads="1"/>
          </p:cNvSpPr>
          <p:nvPr/>
        </p:nvSpPr>
        <p:spPr bwMode="auto">
          <a:xfrm>
            <a:off x="6670681" y="1790019"/>
            <a:ext cx="1289135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=1/</a:t>
            </a:r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zh-CN" altLang="en-US" sz="2500" b="1" baseline="-25000" dirty="0" smtClean="0">
                <a:ea typeface="楷体_GB2312" pitchFamily="49" charset="-122"/>
                <a:sym typeface="Webdings" pitchFamily="18" charset="2"/>
              </a:rPr>
              <a:t>稳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2</a:t>
            </a:r>
            <a:endParaRPr lang="en-US" altLang="zh-CN" sz="2500" b="1" baseline="30000" dirty="0">
              <a:ea typeface="楷体_GB2312" pitchFamily="49" charset="-122"/>
              <a:sym typeface="Webdings" pitchFamily="18" charset="2"/>
            </a:endParaRPr>
          </a:p>
        </p:txBody>
      </p:sp>
      <p:sp>
        <p:nvSpPr>
          <p:cNvPr id="27" name="Rectangle 48"/>
          <p:cNvSpPr>
            <a:spLocks noChangeArrowheads="1"/>
          </p:cNvSpPr>
          <p:nvPr/>
        </p:nvSpPr>
        <p:spPr bwMode="auto">
          <a:xfrm>
            <a:off x="5662378" y="1685339"/>
            <a:ext cx="1071127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 i="1" dirty="0" smtClean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zh-CN" altLang="en-US" sz="2500" b="1" baseline="-25000" dirty="0">
                <a:ea typeface="楷体_GB2312" pitchFamily="49" charset="-122"/>
                <a:sym typeface="Webdings" pitchFamily="18" charset="2"/>
              </a:rPr>
              <a:t>不</a:t>
            </a:r>
            <a:r>
              <a:rPr lang="zh-CN" altLang="en-US" sz="2500" b="1" baseline="-25000" dirty="0" smtClean="0">
                <a:ea typeface="楷体_GB2312" pitchFamily="49" charset="-122"/>
                <a:sym typeface="Webdings" pitchFamily="18" charset="2"/>
              </a:rPr>
              <a:t>稳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3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28966" y="3497570"/>
            <a:ext cx="21508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ea typeface="楷体_GB2312"/>
              </a:rPr>
              <a:t>应用</a:t>
            </a:r>
            <a:endParaRPr lang="zh-CN" altLang="en-US" sz="2800" b="1" dirty="0">
              <a:solidFill>
                <a:srgbClr val="FF0000"/>
              </a:solidFill>
              <a:ea typeface="楷体_GB231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28813" y="4179990"/>
            <a:ext cx="88456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/>
              <a:t>1.</a:t>
            </a:r>
            <a:r>
              <a:rPr lang="zh-CN" altLang="en-US" sz="2400" b="1" dirty="0" smtClean="0"/>
              <a:t>实际工作，为防止配合物解离，加入过量配位剂 （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化学平衡</a:t>
            </a:r>
            <a:r>
              <a:rPr lang="zh-CN" altLang="en-US" sz="2400" b="1" dirty="0" smtClean="0"/>
              <a:t>）</a:t>
            </a:r>
            <a:endParaRPr lang="zh-CN" altLang="en-US" sz="24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1006719" y="4773782"/>
            <a:ext cx="85363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/>
              <a:t>2. </a:t>
            </a:r>
            <a:r>
              <a:rPr lang="zh-CN" altLang="en-US" sz="2400" b="1" dirty="0" smtClean="0"/>
              <a:t>过量配位剂使形成体处于高配位数态，忽略低级配离子影响</a:t>
            </a:r>
            <a:endParaRPr lang="en-US" altLang="zh-CN" sz="2400" b="1" dirty="0" smtClean="0"/>
          </a:p>
          <a:p>
            <a:r>
              <a:rPr lang="zh-CN" altLang="en-US" sz="2400" b="1" dirty="0" smtClean="0"/>
              <a:t>（直接采用</a:t>
            </a:r>
            <a:r>
              <a:rPr lang="en-US" altLang="zh-CN" sz="2400" b="1" i="1" dirty="0" smtClean="0">
                <a:ea typeface="楷体_GB2312" pitchFamily="49" charset="-122"/>
              </a:rPr>
              <a:t>K</a:t>
            </a:r>
            <a:r>
              <a:rPr lang="en-US" altLang="zh-CN" sz="1400" b="1" baseline="100000" dirty="0" smtClean="0">
                <a:ea typeface="楷体_GB2312" pitchFamily="49" charset="-122"/>
                <a:sym typeface="Webdings" pitchFamily="18" charset="2"/>
              </a:rPr>
              <a:t></a:t>
            </a:r>
            <a:r>
              <a:rPr lang="zh-CN" altLang="en-US" sz="2400" b="1" baseline="-25000" dirty="0" smtClean="0">
                <a:ea typeface="楷体_GB2312" pitchFamily="49" charset="-122"/>
                <a:sym typeface="Webdings" pitchFamily="18" charset="2"/>
              </a:rPr>
              <a:t>稳</a:t>
            </a:r>
            <a:r>
              <a:rPr lang="zh-CN" altLang="en-US" sz="2400" b="1" dirty="0" smtClean="0">
                <a:ea typeface="楷体_GB2312" pitchFamily="49" charset="-122"/>
                <a:sym typeface="Webdings" pitchFamily="18" charset="2"/>
              </a:rPr>
              <a:t>或</a:t>
            </a:r>
            <a:r>
              <a:rPr lang="en-US" altLang="zh-CN" sz="2400" b="1" i="1" dirty="0">
                <a:ea typeface="楷体_GB2312" pitchFamily="49" charset="-122"/>
              </a:rPr>
              <a:t>K</a:t>
            </a:r>
            <a:r>
              <a:rPr lang="en-US" altLang="zh-CN" sz="1400" b="1" baseline="100000" dirty="0" smtClean="0">
                <a:ea typeface="楷体_GB2312" pitchFamily="49" charset="-122"/>
                <a:sym typeface="Webdings" pitchFamily="18" charset="2"/>
              </a:rPr>
              <a:t></a:t>
            </a:r>
            <a:r>
              <a:rPr lang="zh-CN" altLang="en-US" sz="1400" b="1" baseline="-25000" dirty="0" smtClean="0">
                <a:ea typeface="楷体_GB2312" pitchFamily="49" charset="-122"/>
                <a:sym typeface="Webdings" pitchFamily="18" charset="2"/>
              </a:rPr>
              <a:t>不</a:t>
            </a:r>
            <a:r>
              <a:rPr lang="zh-CN" altLang="en-US" sz="2400" b="1" baseline="-25000" dirty="0" smtClean="0">
                <a:ea typeface="楷体_GB2312" pitchFamily="49" charset="-122"/>
                <a:sym typeface="Webdings" pitchFamily="18" charset="2"/>
              </a:rPr>
              <a:t>稳</a:t>
            </a:r>
            <a:r>
              <a:rPr lang="zh-CN" altLang="en-US" sz="2400" b="1" dirty="0" smtClean="0"/>
              <a:t>）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457354093"/>
      </p:ext>
    </p:extLst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60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86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860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860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860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86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860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46" grpId="0" animBg="1"/>
      <p:bldP spid="86047" grpId="0" autoUpdateAnimBg="0"/>
      <p:bldP spid="86048" grpId="0" autoUpdateAnimBg="0"/>
      <p:bldP spid="86049" grpId="0" autoUpdateAnimBg="0"/>
      <p:bldP spid="86050" grpId="0" autoUpdateAnimBg="0"/>
      <p:bldP spid="86062" grpId="0" build="p" autoUpdateAnimBg="0"/>
      <p:bldP spid="86064" grpId="0" autoUpdateAnimBg="0"/>
      <p:bldP spid="14" grpId="0" build="p" autoUpdateAnimBg="0"/>
      <p:bldP spid="24" grpId="0" autoUpdateAnimBg="0"/>
      <p:bldP spid="25" grpId="0" autoUpdateAnimBg="0"/>
      <p:bldP spid="26" grpId="0" autoUpdateAnimBg="0"/>
      <p:bldP spid="27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68749" y="2808039"/>
            <a:ext cx="58641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altLang="zh-CN" sz="2800" b="1" kern="0" dirty="0">
                <a:ea typeface="黑体" pitchFamily="2" charset="-122"/>
              </a:rPr>
              <a:t>2.</a:t>
            </a:r>
            <a:r>
              <a:rPr lang="zh-CN" altLang="en-US" sz="2800" b="1" kern="0" dirty="0">
                <a:ea typeface="楷体_GB2312"/>
              </a:rPr>
              <a:t>配离子稳定常数的</a:t>
            </a:r>
            <a:r>
              <a:rPr lang="zh-CN" altLang="en-US" sz="2800" b="1" kern="0" dirty="0" smtClean="0">
                <a:ea typeface="楷体_GB2312"/>
              </a:rPr>
              <a:t>应用（计算题）</a:t>
            </a:r>
            <a:endParaRPr lang="zh-CN" altLang="en-US" sz="2800" kern="0" dirty="0"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723879589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1"/>
          <p:cNvSpPr txBox="1">
            <a:spLocks noChangeArrowheads="1"/>
          </p:cNvSpPr>
          <p:nvPr/>
        </p:nvSpPr>
        <p:spPr bwMode="auto">
          <a:xfrm>
            <a:off x="688939" y="1311261"/>
            <a:ext cx="10177462" cy="4762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(2.1)</a:t>
            </a:r>
            <a:r>
              <a:rPr lang="zh-CN" altLang="en-US" sz="2500" b="1" dirty="0">
                <a:solidFill>
                  <a:srgbClr val="FF0000"/>
                </a:solidFill>
                <a:latin typeface="仿宋_GB2312"/>
                <a:ea typeface="楷体_GB2312" pitchFamily="49" charset="-122"/>
              </a:rPr>
              <a:t>计算配合物溶液中有关离子的浓度</a:t>
            </a:r>
          </a:p>
        </p:txBody>
      </p:sp>
      <p:sp>
        <p:nvSpPr>
          <p:cNvPr id="11267" name="矩形 7"/>
          <p:cNvSpPr>
            <a:spLocks noChangeArrowheads="1"/>
          </p:cNvSpPr>
          <p:nvPr/>
        </p:nvSpPr>
        <p:spPr bwMode="auto">
          <a:xfrm>
            <a:off x="739766" y="3497363"/>
            <a:ext cx="38068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(2.2)</a:t>
            </a:r>
            <a:r>
              <a:rPr lang="zh-CN" altLang="en-US" sz="2500" b="1" u="sng" dirty="0">
                <a:solidFill>
                  <a:srgbClr val="FF3300"/>
                </a:solidFill>
                <a:ea typeface="楷体_GB2312" pitchFamily="49" charset="-122"/>
              </a:rPr>
              <a:t>判断是否有沉淀产生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11270" name="矩形 10"/>
          <p:cNvSpPr>
            <a:spLocks noChangeArrowheads="1"/>
          </p:cNvSpPr>
          <p:nvPr/>
        </p:nvSpPr>
        <p:spPr bwMode="auto">
          <a:xfrm>
            <a:off x="760377" y="2668583"/>
            <a:ext cx="614271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 dirty="0" smtClean="0">
                <a:ea typeface="楷体_GB2312" pitchFamily="49" charset="-122"/>
                <a:hlinkClick r:id="rId3" action="ppaction://hlinkpres?slideindex=1&amp;slidetitle=幻灯片 1"/>
              </a:rPr>
              <a:t>解</a:t>
            </a:r>
            <a:r>
              <a:rPr lang="en-US" altLang="zh-CN" sz="2500" b="1" dirty="0" smtClean="0">
                <a:ea typeface="楷体_GB2312" pitchFamily="49" charset="-122"/>
              </a:rPr>
              <a:t>: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11273" name="矩形 13"/>
          <p:cNvSpPr>
            <a:spLocks noChangeArrowheads="1"/>
          </p:cNvSpPr>
          <p:nvPr/>
        </p:nvSpPr>
        <p:spPr bwMode="auto">
          <a:xfrm>
            <a:off x="760377" y="5283313"/>
            <a:ext cx="614271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 dirty="0" smtClean="0">
                <a:ea typeface="楷体_GB2312" pitchFamily="49" charset="-122"/>
                <a:hlinkClick r:id="rId4" action="ppaction://hlinkpres?slideindex=2&amp;slidetitle=幻灯片 2"/>
              </a:rPr>
              <a:t>解</a:t>
            </a:r>
            <a:r>
              <a:rPr lang="en-US" altLang="zh-CN" sz="2500" b="1" dirty="0" smtClean="0">
                <a:ea typeface="楷体_GB2312" pitchFamily="49" charset="-122"/>
              </a:rPr>
              <a:t>: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18" name="Rectangle 42"/>
          <p:cNvSpPr txBox="1">
            <a:spLocks noChangeArrowheads="1"/>
          </p:cNvSpPr>
          <p:nvPr/>
        </p:nvSpPr>
        <p:spPr bwMode="auto">
          <a:xfrm>
            <a:off x="688975" y="811213"/>
            <a:ext cx="1036955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0" hangingPunct="0">
              <a:defRPr/>
            </a:pPr>
            <a:r>
              <a:rPr lang="en-US" altLang="zh-CN" sz="2500" b="1" kern="0" dirty="0">
                <a:solidFill>
                  <a:srgbClr val="FF0000"/>
                </a:solidFill>
                <a:latin typeface="+mj-lt"/>
                <a:ea typeface="黑体" pitchFamily="2" charset="-122"/>
                <a:cs typeface="+mj-cs"/>
              </a:rPr>
              <a:t>2.</a:t>
            </a:r>
            <a:r>
              <a:rPr lang="zh-CN" altLang="en-US" sz="2500" b="1" kern="0" dirty="0">
                <a:solidFill>
                  <a:srgbClr val="FF0000"/>
                </a:solidFill>
                <a:latin typeface="+mj-lt"/>
                <a:ea typeface="楷体_GB2312"/>
                <a:cs typeface="+mj-cs"/>
              </a:rPr>
              <a:t>配离子稳定常数的应用</a:t>
            </a:r>
            <a:endParaRPr lang="zh-CN" altLang="en-US" sz="2500" kern="0" dirty="0">
              <a:solidFill>
                <a:srgbClr val="0000FF"/>
              </a:solidFill>
              <a:latin typeface="+mj-lt"/>
              <a:ea typeface="楷体_GB2312"/>
              <a:cs typeface="+mj-cs"/>
            </a:endParaRPr>
          </a:p>
        </p:txBody>
      </p:sp>
      <p:sp>
        <p:nvSpPr>
          <p:cNvPr id="11278" name="Rectangle 42"/>
          <p:cNvSpPr>
            <a:spLocks noGrp="1" noChangeArrowheads="1"/>
          </p:cNvSpPr>
          <p:nvPr>
            <p:ph type="title"/>
          </p:nvPr>
        </p:nvSpPr>
        <p:spPr>
          <a:xfrm>
            <a:off x="260350" y="239713"/>
            <a:ext cx="10369550" cy="431800"/>
          </a:xfrm>
          <a:noFill/>
        </p:spPr>
        <p:txBody>
          <a:bodyPr/>
          <a:lstStyle/>
          <a:p>
            <a:r>
              <a:rPr lang="en-US" altLang="zh-CN" dirty="0" smtClean="0">
                <a:ea typeface="黑体" pitchFamily="49" charset="-122"/>
              </a:rPr>
              <a:t>6.2.1</a:t>
            </a:r>
            <a:r>
              <a:rPr lang="zh-CN" altLang="en-US" dirty="0" smtClean="0">
                <a:ea typeface="黑体" pitchFamily="49" charset="-122"/>
              </a:rPr>
              <a:t>配位平衡及配合物的稳定常数</a:t>
            </a:r>
            <a:endParaRPr lang="zh-CN" altLang="en-US" sz="1200" b="0" dirty="0" smtClean="0">
              <a:solidFill>
                <a:srgbClr val="0000FF"/>
              </a:solidFill>
              <a:ea typeface="黑体" pitchFamily="49" charset="-122"/>
            </a:endParaRPr>
          </a:p>
        </p:txBody>
      </p:sp>
      <p:sp>
        <p:nvSpPr>
          <p:cNvPr id="11279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80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Text Box 51"/>
          <p:cNvSpPr txBox="1">
            <a:spLocks noChangeArrowheads="1"/>
          </p:cNvSpPr>
          <p:nvPr/>
        </p:nvSpPr>
        <p:spPr bwMode="auto">
          <a:xfrm>
            <a:off x="688939" y="1811327"/>
            <a:ext cx="10358487" cy="86177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zh-CN" altLang="en-US" sz="2500" b="1" dirty="0">
                <a:latin typeface="+mn-lt"/>
                <a:ea typeface="楷体_GB2312" pitchFamily="49" charset="-122"/>
              </a:rPr>
              <a:t>例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1</a:t>
            </a:r>
            <a:r>
              <a:rPr lang="en-US" altLang="zh-CN" sz="2500" b="1" dirty="0" smtClean="0">
                <a:latin typeface="+mn-lt"/>
                <a:ea typeface="楷体_GB2312" pitchFamily="49" charset="-122"/>
              </a:rPr>
              <a:t>:</a:t>
            </a:r>
            <a:r>
              <a:rPr lang="zh-CN" altLang="en-US" sz="2500" b="1" dirty="0" smtClean="0">
                <a:latin typeface="+mn-lt"/>
                <a:ea typeface="楷体_GB2312" pitchFamily="49" charset="-122"/>
              </a:rPr>
              <a:t>室温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下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,0.010mol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的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AgNO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3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(s)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溶于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1.0L 0.030 mol·L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-1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的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NH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3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·H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2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O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中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(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设体积不变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),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计算该溶液中游离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Ag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+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、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NH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3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和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[Ag(NH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3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)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2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]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+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的浓度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.</a:t>
            </a:r>
          </a:p>
        </p:txBody>
      </p:sp>
      <p:sp>
        <p:nvSpPr>
          <p:cNvPr id="19" name="Text Box 32"/>
          <p:cNvSpPr txBox="1">
            <a:spLocks noChangeArrowheads="1"/>
          </p:cNvSpPr>
          <p:nvPr/>
        </p:nvSpPr>
        <p:spPr bwMode="auto">
          <a:xfrm>
            <a:off x="688939" y="4036818"/>
            <a:ext cx="10358471" cy="1246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500" b="1" dirty="0">
                <a:latin typeface="+mn-lt"/>
                <a:ea typeface="楷体_GB2312" pitchFamily="49" charset="-122"/>
              </a:rPr>
              <a:t>例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2: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在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1L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含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1.0 mol·L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-1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游离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NH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3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及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1.0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Symbol" pitchFamily="18" charset="2"/>
              </a:rPr>
              <a:t>10</a:t>
            </a:r>
            <a:r>
              <a:rPr lang="en-US" altLang="zh-CN" sz="2500" b="1" baseline="30000" dirty="0">
                <a:latin typeface="+mn-lt"/>
                <a:ea typeface="楷体_GB2312" pitchFamily="49" charset="-122"/>
                <a:sym typeface="Symbol" pitchFamily="18" charset="2"/>
              </a:rPr>
              <a:t>-3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Symbol" pitchFamily="18" charset="2"/>
              </a:rPr>
              <a:t>  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mol·L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-1 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[Cu(NH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3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)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4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]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2+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溶液中</a:t>
            </a:r>
            <a:r>
              <a:rPr lang="zh-CN" altLang="en-US" sz="2500" b="1" dirty="0">
                <a:latin typeface="+mn-lt"/>
                <a:ea typeface="楷体_GB2312" pitchFamily="49" charset="-122"/>
                <a:sym typeface="Monotype Sorts" pitchFamily="2" charset="2"/>
              </a:rPr>
              <a:t>①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加入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1.0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Symbol" pitchFamily="18" charset="2"/>
              </a:rPr>
              <a:t>10</a:t>
            </a:r>
            <a:r>
              <a:rPr lang="en-US" altLang="zh-CN" sz="2500" b="1" baseline="30000" dirty="0">
                <a:latin typeface="+mn-lt"/>
                <a:ea typeface="楷体_GB2312" pitchFamily="49" charset="-122"/>
                <a:sym typeface="Symbol" pitchFamily="18" charset="2"/>
              </a:rPr>
              <a:t>-3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mol Na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2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S,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问是否有</a:t>
            </a:r>
            <a:r>
              <a:rPr lang="en-US" altLang="zh-CN" sz="2500" b="1" dirty="0" err="1">
                <a:latin typeface="+mn-lt"/>
                <a:ea typeface="楷体_GB2312" pitchFamily="49" charset="-122"/>
              </a:rPr>
              <a:t>CuS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沉淀生成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?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Monotype Sorts" pitchFamily="2" charset="2"/>
              </a:rPr>
              <a:t>②</a:t>
            </a:r>
            <a:r>
              <a:rPr lang="zh-CN" altLang="en-US" sz="2500" b="1" dirty="0">
                <a:latin typeface="+mn-lt"/>
                <a:ea typeface="楷体_GB2312" pitchFamily="49" charset="-122"/>
                <a:sym typeface="Monotype Sorts" pitchFamily="2" charset="2"/>
              </a:rPr>
              <a:t>若是加入</a:t>
            </a:r>
            <a:r>
              <a:rPr lang="en-US" altLang="zh-CN" sz="2500" b="1" dirty="0" err="1">
                <a:latin typeface="+mn-lt"/>
                <a:ea typeface="楷体_GB2312" pitchFamily="49" charset="-122"/>
                <a:sym typeface="Monotype Sorts" pitchFamily="2" charset="2"/>
              </a:rPr>
              <a:t>NaOH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Monotype Sorts" pitchFamily="2" charset="2"/>
              </a:rPr>
              <a:t> 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1.0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Symbol" pitchFamily="18" charset="2"/>
              </a:rPr>
              <a:t>10</a:t>
            </a:r>
            <a:r>
              <a:rPr lang="en-US" altLang="zh-CN" sz="2500" b="1" baseline="30000" dirty="0">
                <a:latin typeface="+mn-lt"/>
                <a:ea typeface="楷体_GB2312" pitchFamily="49" charset="-122"/>
                <a:sym typeface="Symbol" pitchFamily="18" charset="2"/>
              </a:rPr>
              <a:t>-3 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mol,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问是否有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Cu(OH)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2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沉淀？</a:t>
            </a:r>
          </a:p>
        </p:txBody>
      </p:sp>
      <p:sp>
        <p:nvSpPr>
          <p:cNvPr id="12" name="Text Box 53"/>
          <p:cNvSpPr txBox="1">
            <a:spLocks noChangeArrowheads="1"/>
          </p:cNvSpPr>
          <p:nvPr/>
        </p:nvSpPr>
        <p:spPr bwMode="auto">
          <a:xfrm>
            <a:off x="2808709" y="2720715"/>
            <a:ext cx="4224338" cy="4762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 i="1" dirty="0" smtClean="0">
                <a:ea typeface="华文新魏" pitchFamily="2" charset="-122"/>
              </a:rPr>
              <a:t>K</a:t>
            </a:r>
            <a:r>
              <a:rPr lang="en-US" altLang="zh-CN" sz="1600" b="1" baseline="100000" dirty="0">
                <a:ea typeface="华文新魏" pitchFamily="2" charset="-122"/>
                <a:sym typeface="Webdings" pitchFamily="18" charset="2"/>
              </a:rPr>
              <a:t></a:t>
            </a:r>
            <a:r>
              <a:rPr lang="zh-CN" altLang="en-US" sz="2500" b="1" baseline="-25000" dirty="0">
                <a:ea typeface="华文新魏" pitchFamily="2" charset="-122"/>
                <a:sym typeface="Webdings" pitchFamily="18" charset="2"/>
              </a:rPr>
              <a:t>稳</a:t>
            </a:r>
            <a:r>
              <a:rPr lang="zh-CN" altLang="en-US" sz="2500" b="1" dirty="0">
                <a:ea typeface="华文新魏" pitchFamily="2" charset="-122"/>
                <a:sym typeface="Webdings" pitchFamily="18" charset="2"/>
              </a:rPr>
              <a:t> 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= 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10</a:t>
            </a:r>
            <a:r>
              <a:rPr lang="en-US" altLang="zh-CN" sz="2500" b="1" baseline="30000" dirty="0">
                <a:ea typeface="华文新魏" pitchFamily="2" charset="-122"/>
                <a:sym typeface="Symbol" pitchFamily="18" charset="2"/>
              </a:rPr>
              <a:t>7.05</a:t>
            </a:r>
            <a:r>
              <a:rPr lang="en-US" altLang="zh-CN" sz="2500" b="1" dirty="0">
                <a:ea typeface="华文新魏" pitchFamily="2" charset="-122"/>
              </a:rPr>
              <a:t>. </a:t>
            </a:r>
          </a:p>
        </p:txBody>
      </p:sp>
      <p:sp>
        <p:nvSpPr>
          <p:cNvPr id="13" name="Rectangle 24"/>
          <p:cNvSpPr>
            <a:spLocks noChangeArrowheads="1"/>
          </p:cNvSpPr>
          <p:nvPr/>
        </p:nvSpPr>
        <p:spPr bwMode="auto">
          <a:xfrm>
            <a:off x="3096741" y="5205412"/>
            <a:ext cx="4176464" cy="136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ea typeface="华文新魏" pitchFamily="2" charset="-122"/>
              </a:rPr>
              <a:t>已知</a:t>
            </a:r>
            <a:r>
              <a:rPr lang="en-US" altLang="zh-CN" sz="2500" b="1" i="1" dirty="0" err="1">
                <a:ea typeface="华文新魏" pitchFamily="2" charset="-122"/>
              </a:rPr>
              <a:t>K</a:t>
            </a:r>
            <a:r>
              <a:rPr lang="en-US" altLang="zh-CN" sz="1600" b="1" baseline="100000" dirty="0" err="1"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华文新魏" pitchFamily="2" charset="-122"/>
                <a:sym typeface="Webdings" pitchFamily="18" charset="2"/>
              </a:rPr>
              <a:t>sp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(</a:t>
            </a:r>
            <a:r>
              <a:rPr lang="en-US" altLang="zh-CN" sz="2500" b="1" dirty="0" err="1">
                <a:ea typeface="华文新魏" pitchFamily="2" charset="-122"/>
                <a:sym typeface="Webdings" pitchFamily="18" charset="2"/>
              </a:rPr>
              <a:t>CuS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) = 6.3 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10</a:t>
            </a:r>
            <a:r>
              <a:rPr lang="en-US" altLang="zh-CN" sz="2500" b="1" baseline="30000" dirty="0">
                <a:ea typeface="华文新魏" pitchFamily="2" charset="-122"/>
                <a:sym typeface="Symbol" pitchFamily="18" charset="2"/>
              </a:rPr>
              <a:t>-36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; </a:t>
            </a:r>
          </a:p>
          <a:p>
            <a:pPr>
              <a:lnSpc>
                <a:spcPct val="110000"/>
              </a:lnSpc>
            </a:pPr>
            <a:r>
              <a:rPr lang="en-US" altLang="zh-CN" sz="2500" b="1" i="1" dirty="0">
                <a:ea typeface="华文新魏" pitchFamily="2" charset="-122"/>
                <a:sym typeface="Symbol" pitchFamily="18" charset="2"/>
              </a:rPr>
              <a:t> </a:t>
            </a:r>
            <a:r>
              <a:rPr lang="en-US" altLang="zh-CN" sz="2500" b="1" i="1" dirty="0" err="1">
                <a:ea typeface="华文新魏" pitchFamily="2" charset="-122"/>
              </a:rPr>
              <a:t>K</a:t>
            </a:r>
            <a:r>
              <a:rPr lang="en-US" altLang="zh-CN" sz="1600" b="1" baseline="80000" dirty="0" err="1"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华文新魏" pitchFamily="2" charset="-122"/>
                <a:sym typeface="Webdings" pitchFamily="18" charset="2"/>
              </a:rPr>
              <a:t>sp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(Cu(OH)</a:t>
            </a:r>
            <a:r>
              <a:rPr lang="en-US" altLang="zh-CN" sz="2500" b="1" baseline="-25000" dirty="0">
                <a:ea typeface="华文新魏" pitchFamily="2" charset="-122"/>
                <a:sym typeface="Webdings" pitchFamily="18" charset="2"/>
              </a:rPr>
              <a:t>2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) = 2.2 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10</a:t>
            </a:r>
            <a:r>
              <a:rPr lang="en-US" altLang="zh-CN" sz="2500" b="1" baseline="30000" dirty="0">
                <a:ea typeface="华文新魏" pitchFamily="2" charset="-122"/>
                <a:sym typeface="Symbol" pitchFamily="18" charset="2"/>
              </a:rPr>
              <a:t>-20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 </a:t>
            </a:r>
            <a:r>
              <a:rPr lang="en-US" altLang="zh-CN" sz="2500" b="1" dirty="0" err="1">
                <a:ea typeface="华文新魏" pitchFamily="2" charset="-122"/>
                <a:sym typeface="Symbol" pitchFamily="18" charset="2"/>
              </a:rPr>
              <a:t>lg</a:t>
            </a:r>
            <a:r>
              <a:rPr lang="en-US" altLang="zh-CN" sz="2500" b="1" i="1" dirty="0" err="1">
                <a:ea typeface="华文新魏" pitchFamily="2" charset="-122"/>
              </a:rPr>
              <a:t>K</a:t>
            </a:r>
            <a:r>
              <a:rPr lang="en-US" altLang="zh-CN" sz="1600" b="1" baseline="100000" dirty="0">
                <a:ea typeface="华文新魏" pitchFamily="2" charset="-122"/>
                <a:sym typeface="Webdings" pitchFamily="18" charset="2"/>
              </a:rPr>
              <a:t></a:t>
            </a:r>
            <a:r>
              <a:rPr lang="zh-CN" altLang="en-US" sz="2500" b="1" baseline="-25000" dirty="0">
                <a:ea typeface="华文新魏" pitchFamily="2" charset="-122"/>
                <a:sym typeface="Webdings" pitchFamily="18" charset="2"/>
              </a:rPr>
              <a:t>稳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(Cu(NH</a:t>
            </a:r>
            <a:r>
              <a:rPr lang="en-US" altLang="zh-CN" sz="2500" b="1" baseline="-25000" dirty="0">
                <a:ea typeface="华文新魏" pitchFamily="2" charset="-122"/>
                <a:sym typeface="Webdings" pitchFamily="18" charset="2"/>
              </a:rPr>
              <a:t>3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)</a:t>
            </a:r>
            <a:r>
              <a:rPr lang="en-US" altLang="zh-CN" sz="2500" b="1" baseline="-25000" dirty="0">
                <a:ea typeface="华文新魏" pitchFamily="2" charset="-122"/>
                <a:sym typeface="Webdings" pitchFamily="18" charset="2"/>
              </a:rPr>
              <a:t>4</a:t>
            </a:r>
            <a:r>
              <a:rPr lang="en-US" altLang="zh-CN" sz="2500" b="1" baseline="30000" dirty="0">
                <a:ea typeface="华文新魏" pitchFamily="2" charset="-122"/>
                <a:sym typeface="Webdings" pitchFamily="18" charset="2"/>
              </a:rPr>
              <a:t>2+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) = 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13.32.</a:t>
            </a:r>
            <a:endParaRPr lang="en-US" altLang="zh-CN" sz="2500" b="1" baseline="30000" dirty="0">
              <a:ea typeface="华文新魏" pitchFamily="2" charset="-122"/>
              <a:sym typeface="Symbol" pitchFamily="18" charset="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267" grpId="0"/>
      <p:bldP spid="11270" grpId="0"/>
      <p:bldP spid="11273" grpId="0"/>
      <p:bldP spid="18" grpId="0"/>
      <p:bldP spid="17" grpId="0"/>
      <p:bldP spid="19" grpId="0"/>
      <p:bldP spid="12" grpId="0" autoUpdateAnimBg="0"/>
      <p:bldP spid="13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1" name="矩形 11"/>
          <p:cNvSpPr>
            <a:spLocks noChangeArrowheads="1"/>
          </p:cNvSpPr>
          <p:nvPr/>
        </p:nvSpPr>
        <p:spPr bwMode="auto">
          <a:xfrm>
            <a:off x="789048" y="3915161"/>
            <a:ext cx="614271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 dirty="0" smtClean="0">
                <a:ea typeface="楷体_GB2312" pitchFamily="49" charset="-122"/>
                <a:hlinkClick r:id="rId2" action="ppaction://hlinkpres?slideindex=1&amp;slidetitle="/>
              </a:rPr>
              <a:t>解</a:t>
            </a:r>
            <a:r>
              <a:rPr lang="en-US" altLang="zh-CN" sz="2500" b="1" dirty="0" smtClean="0">
                <a:ea typeface="楷体_GB2312" pitchFamily="49" charset="-122"/>
                <a:hlinkClick r:id="rId2" action="ppaction://hlinkpres?slideindex=1&amp;slidetitle="/>
              </a:rPr>
              <a:t>: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11272" name="矩形 12"/>
          <p:cNvSpPr>
            <a:spLocks noChangeArrowheads="1"/>
          </p:cNvSpPr>
          <p:nvPr/>
        </p:nvSpPr>
        <p:spPr bwMode="auto">
          <a:xfrm>
            <a:off x="831815" y="1882765"/>
            <a:ext cx="614271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 dirty="0" smtClean="0">
                <a:ea typeface="楷体_GB2312" pitchFamily="49" charset="-122"/>
                <a:hlinkClick r:id="rId3" action="ppaction://hlinkpres?slideindex=4&amp;slidetitle=幻灯片 4"/>
              </a:rPr>
              <a:t>解</a:t>
            </a:r>
            <a:r>
              <a:rPr lang="en-US" altLang="zh-CN" sz="2500" b="1" dirty="0" smtClean="0">
                <a:ea typeface="楷体_GB2312" pitchFamily="49" charset="-122"/>
              </a:rPr>
              <a:t>: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11278" name="Rectangle 42"/>
          <p:cNvSpPr>
            <a:spLocks noGrp="1" noChangeArrowheads="1"/>
          </p:cNvSpPr>
          <p:nvPr>
            <p:ph type="title"/>
          </p:nvPr>
        </p:nvSpPr>
        <p:spPr>
          <a:xfrm>
            <a:off x="260350" y="239713"/>
            <a:ext cx="10369550" cy="431800"/>
          </a:xfrm>
          <a:noFill/>
        </p:spPr>
        <p:txBody>
          <a:bodyPr/>
          <a:lstStyle/>
          <a:p>
            <a:r>
              <a:rPr lang="en-US" altLang="zh-CN" dirty="0" smtClean="0">
                <a:ea typeface="黑体" pitchFamily="49" charset="-122"/>
              </a:rPr>
              <a:t>6.2.1</a:t>
            </a:r>
            <a:r>
              <a:rPr lang="zh-CN" altLang="en-US" dirty="0" smtClean="0">
                <a:ea typeface="黑体" pitchFamily="49" charset="-122"/>
              </a:rPr>
              <a:t>配位平衡及配合物的稳定常数</a:t>
            </a:r>
            <a:endParaRPr lang="zh-CN" altLang="en-US" sz="1200" b="0" dirty="0" smtClean="0">
              <a:solidFill>
                <a:srgbClr val="0000FF"/>
              </a:solidFill>
              <a:ea typeface="黑体" pitchFamily="49" charset="-122"/>
            </a:endParaRPr>
          </a:p>
        </p:txBody>
      </p:sp>
      <p:sp>
        <p:nvSpPr>
          <p:cNvPr id="11279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Rectangle 33"/>
          <p:cNvSpPr>
            <a:spLocks noChangeArrowheads="1"/>
          </p:cNvSpPr>
          <p:nvPr/>
        </p:nvSpPr>
        <p:spPr bwMode="auto">
          <a:xfrm>
            <a:off x="688978" y="944046"/>
            <a:ext cx="10715661" cy="938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latin typeface="+mn-lt"/>
                <a:ea typeface="楷体_GB2312" pitchFamily="49" charset="-122"/>
              </a:rPr>
              <a:t>例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3: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求完全溶解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0.010mol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的</a:t>
            </a:r>
            <a:r>
              <a:rPr lang="en-US" altLang="zh-CN" sz="2500" b="1" dirty="0" err="1">
                <a:latin typeface="+mn-lt"/>
                <a:ea typeface="楷体_GB2312" pitchFamily="49" charset="-122"/>
              </a:rPr>
              <a:t>AgCl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所需要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1L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的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NH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3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溶液的浓度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zh-CN" altLang="en-US" sz="2500" b="1" dirty="0" smtClean="0">
                <a:latin typeface="+mn-lt"/>
                <a:ea typeface="楷体_GB2312" pitchFamily="49" charset="-122"/>
              </a:rPr>
              <a:t>        已知</a:t>
            </a:r>
            <a:r>
              <a:rPr lang="en-US" altLang="zh-CN" sz="2500" b="1" i="1" dirty="0" err="1">
                <a:latin typeface="+mn-lt"/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latin typeface="+mn-lt"/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latin typeface="+mn-lt"/>
                <a:ea typeface="楷体_GB2312" pitchFamily="49" charset="-122"/>
                <a:sym typeface="Webdings" pitchFamily="18" charset="2"/>
              </a:rPr>
              <a:t>sp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(</a:t>
            </a:r>
            <a:r>
              <a:rPr lang="en-US" altLang="zh-CN" sz="2500" b="1" dirty="0" err="1">
                <a:latin typeface="+mn-lt"/>
                <a:ea typeface="楷体_GB2312" pitchFamily="49" charset="-122"/>
                <a:sym typeface="Webdings" pitchFamily="18" charset="2"/>
              </a:rPr>
              <a:t>AgCl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) = 1.77 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Symbol" pitchFamily="18" charset="2"/>
              </a:rPr>
              <a:t>10</a:t>
            </a:r>
            <a:r>
              <a:rPr lang="en-US" altLang="zh-CN" sz="2500" b="1" baseline="30000" dirty="0">
                <a:latin typeface="+mn-lt"/>
                <a:ea typeface="楷体_GB2312" pitchFamily="49" charset="-122"/>
                <a:sym typeface="Symbol" pitchFamily="18" charset="2"/>
              </a:rPr>
              <a:t>-10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Symbol" pitchFamily="18" charset="2"/>
              </a:rPr>
              <a:t>; </a:t>
            </a:r>
            <a:r>
              <a:rPr lang="en-US" altLang="zh-CN" sz="2500" b="1" dirty="0" err="1" smtClean="0">
                <a:latin typeface="+mn-lt"/>
                <a:ea typeface="楷体_GB2312" pitchFamily="49" charset="-122"/>
                <a:sym typeface="Symbol" pitchFamily="18" charset="2"/>
              </a:rPr>
              <a:t>lg</a:t>
            </a:r>
            <a:r>
              <a:rPr lang="en-US" altLang="zh-CN" sz="2500" b="1" i="1" dirty="0" err="1" smtClean="0">
                <a:latin typeface="+mn-lt"/>
                <a:ea typeface="楷体_GB2312" pitchFamily="49" charset="-122"/>
              </a:rPr>
              <a:t>K</a:t>
            </a:r>
            <a:r>
              <a:rPr lang="en-US" altLang="zh-CN" sz="1600" b="1" baseline="100000" dirty="0" smtClean="0">
                <a:latin typeface="+mn-lt"/>
                <a:ea typeface="楷体_GB2312" pitchFamily="49" charset="-122"/>
                <a:sym typeface="Webdings" pitchFamily="18" charset="2"/>
              </a:rPr>
              <a:t></a:t>
            </a:r>
            <a:r>
              <a:rPr lang="zh-CN" altLang="en-US" sz="2500" b="1" baseline="-25000" dirty="0" smtClean="0">
                <a:latin typeface="+mn-lt"/>
                <a:ea typeface="楷体_GB2312" pitchFamily="49" charset="-122"/>
                <a:sym typeface="Webdings" pitchFamily="18" charset="2"/>
              </a:rPr>
              <a:t>稳</a:t>
            </a:r>
            <a:r>
              <a:rPr lang="zh-CN" altLang="en-US" sz="2500" b="1" dirty="0" smtClean="0">
                <a:latin typeface="+mn-lt"/>
                <a:ea typeface="楷体_GB2312" pitchFamily="49" charset="-122"/>
                <a:sym typeface="Webdings" pitchFamily="18" charset="2"/>
              </a:rPr>
              <a:t> 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(Ag(NH</a:t>
            </a:r>
            <a:r>
              <a:rPr lang="en-US" altLang="zh-CN" sz="2500" b="1" baseline="-25000" dirty="0">
                <a:latin typeface="+mn-lt"/>
                <a:ea typeface="楷体_GB2312" pitchFamily="49" charset="-122"/>
                <a:sym typeface="Webdings" pitchFamily="18" charset="2"/>
              </a:rPr>
              <a:t>3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)</a:t>
            </a:r>
            <a:r>
              <a:rPr lang="en-US" altLang="zh-CN" sz="2500" b="1" baseline="-25000" dirty="0">
                <a:latin typeface="+mn-lt"/>
                <a:ea typeface="楷体_GB2312" pitchFamily="49" charset="-122"/>
                <a:sym typeface="Webdings" pitchFamily="18" charset="2"/>
              </a:rPr>
              <a:t>2</a:t>
            </a:r>
            <a:r>
              <a:rPr lang="en-US" altLang="zh-CN" sz="2500" b="1" baseline="30000" dirty="0">
                <a:latin typeface="+mn-lt"/>
                <a:ea typeface="楷体_GB2312" pitchFamily="49" charset="-122"/>
                <a:sym typeface="Webdings" pitchFamily="18" charset="2"/>
              </a:rPr>
              <a:t>+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) = 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Symbol" pitchFamily="18" charset="2"/>
              </a:rPr>
              <a:t>7.05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.</a:t>
            </a:r>
          </a:p>
        </p:txBody>
      </p:sp>
      <p:sp>
        <p:nvSpPr>
          <p:cNvPr id="19" name="Rectangle 35"/>
          <p:cNvSpPr>
            <a:spLocks noChangeArrowheads="1"/>
          </p:cNvSpPr>
          <p:nvPr/>
        </p:nvSpPr>
        <p:spPr bwMode="auto">
          <a:xfrm>
            <a:off x="758826" y="2547009"/>
            <a:ext cx="10502937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500" b="1" dirty="0">
                <a:latin typeface="+mn-lt"/>
                <a:ea typeface="楷体_GB2312" pitchFamily="49" charset="-122"/>
              </a:rPr>
              <a:t>例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4:1L 6 mol·L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-1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氨水和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1L 1mol·L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-1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 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的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KCN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溶液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,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哪个可溶解较多的</a:t>
            </a:r>
            <a:r>
              <a:rPr lang="en-US" altLang="zh-CN" sz="2500" b="1" dirty="0" err="1">
                <a:latin typeface="+mn-lt"/>
                <a:ea typeface="楷体_GB2312" pitchFamily="49" charset="-122"/>
              </a:rPr>
              <a:t>AgCl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?</a:t>
            </a: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760377" y="3035676"/>
            <a:ext cx="10429908" cy="938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latin typeface="+mn-lt"/>
                <a:ea typeface="楷体_GB2312" pitchFamily="49" charset="-122"/>
              </a:rPr>
              <a:t>已知</a:t>
            </a:r>
            <a:r>
              <a:rPr lang="en-US" altLang="zh-CN" sz="2500" b="1" i="1" dirty="0" err="1">
                <a:latin typeface="+mn-lt"/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latin typeface="+mn-lt"/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latin typeface="+mn-lt"/>
                <a:ea typeface="楷体_GB2312" pitchFamily="49" charset="-122"/>
                <a:sym typeface="Webdings" pitchFamily="18" charset="2"/>
              </a:rPr>
              <a:t>sp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(</a:t>
            </a:r>
            <a:r>
              <a:rPr lang="en-US" altLang="zh-CN" sz="2500" b="1" dirty="0" err="1">
                <a:latin typeface="+mn-lt"/>
                <a:ea typeface="楷体_GB2312" pitchFamily="49" charset="-122"/>
                <a:sym typeface="Webdings" pitchFamily="18" charset="2"/>
              </a:rPr>
              <a:t>AgCl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) = 1.77 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Symbol" pitchFamily="18" charset="2"/>
              </a:rPr>
              <a:t>10</a:t>
            </a:r>
            <a:r>
              <a:rPr lang="en-US" altLang="zh-CN" sz="2500" b="1" baseline="30000" dirty="0">
                <a:latin typeface="+mn-lt"/>
                <a:ea typeface="楷体_GB2312" pitchFamily="49" charset="-122"/>
                <a:sym typeface="Symbol" pitchFamily="18" charset="2"/>
              </a:rPr>
              <a:t>-10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Symbol" pitchFamily="18" charset="2"/>
              </a:rPr>
              <a:t>; </a:t>
            </a:r>
            <a:r>
              <a:rPr lang="en-US" altLang="zh-CN" sz="2500" b="1" dirty="0" err="1">
                <a:latin typeface="+mn-lt"/>
                <a:ea typeface="楷体_GB2312" pitchFamily="49" charset="-122"/>
                <a:sym typeface="Symbol" pitchFamily="18" charset="2"/>
              </a:rPr>
              <a:t>lg</a:t>
            </a:r>
            <a:r>
              <a:rPr lang="en-US" altLang="zh-CN" sz="2500" b="1" i="1" dirty="0" err="1">
                <a:latin typeface="+mn-lt"/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latin typeface="+mn-lt"/>
                <a:ea typeface="楷体_GB2312" pitchFamily="49" charset="-122"/>
                <a:sym typeface="Webdings" pitchFamily="18" charset="2"/>
              </a:rPr>
              <a:t></a:t>
            </a:r>
            <a:r>
              <a:rPr lang="zh-CN" altLang="en-US" sz="2500" b="1" baseline="-25000" dirty="0">
                <a:latin typeface="+mn-lt"/>
                <a:ea typeface="楷体_GB2312" pitchFamily="49" charset="-122"/>
                <a:sym typeface="Webdings" pitchFamily="18" charset="2"/>
              </a:rPr>
              <a:t>稳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{Ag(NH</a:t>
            </a:r>
            <a:r>
              <a:rPr lang="en-US" altLang="zh-CN" sz="2500" b="1" baseline="-25000" dirty="0">
                <a:latin typeface="+mn-lt"/>
                <a:ea typeface="楷体_GB2312" pitchFamily="49" charset="-122"/>
                <a:sym typeface="Webdings" pitchFamily="18" charset="2"/>
              </a:rPr>
              <a:t>3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)</a:t>
            </a:r>
            <a:r>
              <a:rPr lang="en-US" altLang="zh-CN" sz="2500" b="1" baseline="-25000" dirty="0">
                <a:latin typeface="+mn-lt"/>
                <a:ea typeface="楷体_GB2312" pitchFamily="49" charset="-122"/>
                <a:sym typeface="Webdings" pitchFamily="18" charset="2"/>
              </a:rPr>
              <a:t>2</a:t>
            </a:r>
            <a:r>
              <a:rPr lang="en-US" altLang="zh-CN" sz="2500" b="1" baseline="30000" dirty="0">
                <a:latin typeface="+mn-lt"/>
                <a:ea typeface="楷体_GB2312" pitchFamily="49" charset="-122"/>
                <a:sym typeface="Webdings" pitchFamily="18" charset="2"/>
              </a:rPr>
              <a:t>+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} = 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Symbol" pitchFamily="18" charset="2"/>
              </a:rPr>
              <a:t>7.05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; </a:t>
            </a:r>
            <a:r>
              <a:rPr lang="en-US" altLang="zh-CN" sz="2500" b="1" dirty="0" err="1">
                <a:latin typeface="+mn-lt"/>
                <a:ea typeface="楷体_GB2312" pitchFamily="49" charset="-122"/>
              </a:rPr>
              <a:t>lg</a:t>
            </a:r>
            <a:r>
              <a:rPr lang="en-US" altLang="zh-CN" sz="2500" b="1" i="1" dirty="0" err="1">
                <a:latin typeface="+mn-lt"/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latin typeface="+mn-lt"/>
                <a:ea typeface="楷体_GB2312" pitchFamily="49" charset="-122"/>
                <a:sym typeface="Webdings" pitchFamily="18" charset="2"/>
              </a:rPr>
              <a:t></a:t>
            </a:r>
            <a:r>
              <a:rPr lang="zh-CN" altLang="en-US" sz="2500" b="1" baseline="-25000" dirty="0">
                <a:latin typeface="+mn-lt"/>
                <a:ea typeface="楷体_GB2312" pitchFamily="49" charset="-122"/>
                <a:sym typeface="Webdings" pitchFamily="18" charset="2"/>
              </a:rPr>
              <a:t>稳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(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Ag(CN)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2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-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) = 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Symbol" pitchFamily="18" charset="2"/>
              </a:rPr>
              <a:t>21.1</a:t>
            </a:r>
            <a:r>
              <a:rPr lang="en-US" altLang="zh-CN" sz="2500" b="1" dirty="0" smtClean="0">
                <a:latin typeface="+mn-lt"/>
                <a:ea typeface="楷体_GB2312" pitchFamily="49" charset="-122"/>
                <a:sym typeface="Symbol" pitchFamily="18" charset="2"/>
              </a:rPr>
              <a:t>.</a:t>
            </a:r>
            <a:endParaRPr lang="en-US" altLang="zh-CN" sz="2500" b="1" dirty="0">
              <a:latin typeface="+mn-lt"/>
              <a:ea typeface="楷体_GB2312" pitchFamily="49" charset="-12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1" grpId="0"/>
      <p:bldP spid="11272" grpId="0"/>
      <p:bldP spid="17" grpId="0"/>
      <p:bldP spid="19" grpId="0"/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31"/>
          <p:cNvSpPr txBox="1">
            <a:spLocks noChangeArrowheads="1"/>
          </p:cNvSpPr>
          <p:nvPr/>
        </p:nvSpPr>
        <p:spPr bwMode="auto">
          <a:xfrm>
            <a:off x="760377" y="938200"/>
            <a:ext cx="10177463" cy="51593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(2.3)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判断两种配离子间转化的可能性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11274" name="矩形 14"/>
          <p:cNvSpPr>
            <a:spLocks noChangeArrowheads="1"/>
          </p:cNvSpPr>
          <p:nvPr/>
        </p:nvSpPr>
        <p:spPr bwMode="auto">
          <a:xfrm>
            <a:off x="760377" y="2763033"/>
            <a:ext cx="614271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 dirty="0" smtClean="0">
                <a:ea typeface="楷体_GB2312" pitchFamily="49" charset="-122"/>
                <a:hlinkClick r:id="rId2" action="ppaction://hlinkpres?slideindex=8&amp;slidetitle=幻灯片 8"/>
              </a:rPr>
              <a:t>解</a:t>
            </a:r>
            <a:r>
              <a:rPr lang="en-US" altLang="zh-CN" sz="2500" b="1" dirty="0" smtClean="0">
                <a:ea typeface="楷体_GB2312" pitchFamily="49" charset="-122"/>
              </a:rPr>
              <a:t>: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11275" name="矩形 15"/>
          <p:cNvSpPr>
            <a:spLocks noChangeArrowheads="1"/>
          </p:cNvSpPr>
          <p:nvPr/>
        </p:nvSpPr>
        <p:spPr bwMode="auto">
          <a:xfrm>
            <a:off x="701888" y="5120471"/>
            <a:ext cx="614271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 dirty="0" smtClean="0">
                <a:ea typeface="楷体_GB2312" pitchFamily="49" charset="-122"/>
                <a:hlinkClick r:id="rId3" action="ppaction://hlinkpres?slideindex=10&amp;slidetitle=幻灯片 10"/>
              </a:rPr>
              <a:t>解</a:t>
            </a:r>
            <a:r>
              <a:rPr lang="en-US" altLang="zh-CN" sz="2500" b="1" dirty="0" smtClean="0">
                <a:ea typeface="楷体_GB2312" pitchFamily="49" charset="-122"/>
              </a:rPr>
              <a:t>: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11278" name="Rectangle 42"/>
          <p:cNvSpPr>
            <a:spLocks noGrp="1" noChangeArrowheads="1"/>
          </p:cNvSpPr>
          <p:nvPr>
            <p:ph type="title"/>
          </p:nvPr>
        </p:nvSpPr>
        <p:spPr>
          <a:xfrm>
            <a:off x="260350" y="239713"/>
            <a:ext cx="10369550" cy="431800"/>
          </a:xfrm>
          <a:noFill/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6.2.1</a:t>
            </a:r>
            <a:r>
              <a:rPr lang="zh-CN" altLang="en-US" smtClean="0">
                <a:ea typeface="黑体" pitchFamily="49" charset="-122"/>
              </a:rPr>
              <a:t>配位平衡及配合物的稳定常数</a:t>
            </a:r>
            <a:endParaRPr lang="zh-CN" altLang="en-US" sz="1200" b="0" smtClean="0">
              <a:solidFill>
                <a:srgbClr val="0000FF"/>
              </a:solidFill>
              <a:ea typeface="黑体" pitchFamily="49" charset="-122"/>
            </a:endParaRPr>
          </a:p>
        </p:txBody>
      </p:sp>
      <p:sp>
        <p:nvSpPr>
          <p:cNvPr id="11279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80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Rectangle 32"/>
          <p:cNvSpPr>
            <a:spLocks noChangeArrowheads="1"/>
          </p:cNvSpPr>
          <p:nvPr/>
        </p:nvSpPr>
        <p:spPr bwMode="auto">
          <a:xfrm>
            <a:off x="688959" y="1454137"/>
            <a:ext cx="10501366" cy="13619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latin typeface="+mn-lt"/>
                <a:ea typeface="楷体_GB2312" pitchFamily="49" charset="-122"/>
              </a:rPr>
              <a:t>例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5: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在含有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NH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3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和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CN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-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的溶液中加入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Ag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+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,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可能会形成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[Ag(NH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3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)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2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]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+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和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[Ag(CN)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2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]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-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. 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Monotype Sorts" pitchFamily="2" charset="2"/>
              </a:rPr>
              <a:t>①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试问哪种配离子先形成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? 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Monotype Sorts" pitchFamily="2" charset="2"/>
              </a:rPr>
              <a:t>②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若在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[Ag(NH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3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)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2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]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+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溶液中加入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KCN,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问否能发生配离子的转化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?</a:t>
            </a:r>
          </a:p>
        </p:txBody>
      </p:sp>
      <p:sp>
        <p:nvSpPr>
          <p:cNvPr id="19" name="Text Box 23"/>
          <p:cNvSpPr txBox="1">
            <a:spLocks noChangeArrowheads="1"/>
          </p:cNvSpPr>
          <p:nvPr/>
        </p:nvSpPr>
        <p:spPr bwMode="auto">
          <a:xfrm>
            <a:off x="516450" y="3835483"/>
            <a:ext cx="10644243" cy="130420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2500" b="1" dirty="0">
                <a:latin typeface="+mn-lt"/>
                <a:ea typeface="楷体_GB2312" pitchFamily="49" charset="-122"/>
              </a:rPr>
              <a:t>例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6</a:t>
            </a:r>
            <a:r>
              <a:rPr lang="en-US" altLang="zh-CN" sz="2500" b="1" dirty="0" smtClean="0">
                <a:latin typeface="+mn-lt"/>
                <a:ea typeface="楷体_GB2312" pitchFamily="49" charset="-122"/>
              </a:rPr>
              <a:t>:  25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℃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时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[Ag(NH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3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)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2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]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+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溶液中</a:t>
            </a:r>
            <a:r>
              <a:rPr lang="en-US" altLang="zh-CN" sz="2500" b="1" i="1" dirty="0">
                <a:latin typeface="+mn-lt"/>
                <a:ea typeface="楷体_GB2312" pitchFamily="49" charset="-122"/>
              </a:rPr>
              <a:t>c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([Ag(NH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3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)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2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]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+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) = 0.10 mol·L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-1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, </a:t>
            </a:r>
            <a:r>
              <a:rPr lang="en-US" altLang="zh-CN" sz="2500" b="1" i="1" dirty="0">
                <a:latin typeface="+mn-lt"/>
                <a:ea typeface="楷体_GB2312" pitchFamily="49" charset="-122"/>
              </a:rPr>
              <a:t>c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(NH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3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) = 1.0 mol·L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-1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. 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现加入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Na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2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S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2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O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3 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, 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使</a:t>
            </a:r>
            <a:r>
              <a:rPr lang="en-US" altLang="zh-CN" sz="2500" b="1" i="1" dirty="0">
                <a:latin typeface="+mn-lt"/>
                <a:ea typeface="楷体_GB2312" pitchFamily="49" charset="-122"/>
              </a:rPr>
              <a:t>c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(S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2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O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3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2-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) = 1.0 mol·L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-1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.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计算平衡时溶液中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NH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3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、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[Ag(NH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3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)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2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]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+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的浓度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.</a:t>
            </a:r>
          </a:p>
        </p:txBody>
      </p:sp>
      <p:sp>
        <p:nvSpPr>
          <p:cNvPr id="10" name="Rectangle 34"/>
          <p:cNvSpPr>
            <a:spLocks noChangeArrowheads="1"/>
          </p:cNvSpPr>
          <p:nvPr/>
        </p:nvSpPr>
        <p:spPr bwMode="auto">
          <a:xfrm>
            <a:off x="3024733" y="2734874"/>
            <a:ext cx="3606800" cy="86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华文新魏" pitchFamily="2" charset="-122"/>
              </a:rPr>
              <a:t>[Ag(NH</a:t>
            </a:r>
            <a:r>
              <a:rPr lang="en-US" altLang="zh-CN" sz="2500" b="1" baseline="-25000" dirty="0">
                <a:ea typeface="华文新魏" pitchFamily="2" charset="-122"/>
              </a:rPr>
              <a:t>3</a:t>
            </a:r>
            <a:r>
              <a:rPr lang="en-US" altLang="zh-CN" sz="2500" b="1" dirty="0">
                <a:ea typeface="华文新魏" pitchFamily="2" charset="-122"/>
              </a:rPr>
              <a:t>)</a:t>
            </a:r>
            <a:r>
              <a:rPr lang="en-US" altLang="zh-CN" sz="2500" b="1" baseline="-25000" dirty="0">
                <a:ea typeface="华文新魏" pitchFamily="2" charset="-122"/>
              </a:rPr>
              <a:t>2</a:t>
            </a:r>
            <a:r>
              <a:rPr lang="en-US" altLang="zh-CN" sz="2500" b="1" dirty="0">
                <a:ea typeface="华文新魏" pitchFamily="2" charset="-122"/>
              </a:rPr>
              <a:t>]</a:t>
            </a:r>
            <a:r>
              <a:rPr lang="en-US" altLang="zh-CN" sz="2500" b="1" baseline="30000" dirty="0">
                <a:ea typeface="华文新魏" pitchFamily="2" charset="-122"/>
              </a:rPr>
              <a:t>+ </a:t>
            </a:r>
            <a:r>
              <a:rPr lang="en-US" altLang="zh-CN" sz="2500" b="1" i="1" dirty="0">
                <a:ea typeface="华文新魏" pitchFamily="2" charset="-122"/>
              </a:rPr>
              <a:t>K</a:t>
            </a:r>
            <a:r>
              <a:rPr lang="en-US" altLang="zh-CN" sz="1600" b="1" baseline="100000" dirty="0">
                <a:ea typeface="华文新魏" pitchFamily="2" charset="-122"/>
                <a:sym typeface="Webdings" pitchFamily="18" charset="2"/>
              </a:rPr>
              <a:t></a:t>
            </a:r>
            <a:r>
              <a:rPr lang="zh-CN" altLang="en-US" sz="2500" b="1" baseline="-25000" dirty="0">
                <a:ea typeface="华文新魏" pitchFamily="2" charset="-122"/>
                <a:sym typeface="Webdings" pitchFamily="18" charset="2"/>
              </a:rPr>
              <a:t>稳</a:t>
            </a:r>
            <a:r>
              <a:rPr lang="zh-CN" altLang="en-US" sz="2500" b="1" dirty="0">
                <a:ea typeface="华文新魏" pitchFamily="2" charset="-122"/>
                <a:sym typeface="Webdings" pitchFamily="18" charset="2"/>
              </a:rPr>
              <a:t> 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= 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10</a:t>
            </a:r>
            <a:r>
              <a:rPr lang="en-US" altLang="zh-CN" sz="2500" b="1" baseline="30000" dirty="0">
                <a:ea typeface="华文新魏" pitchFamily="2" charset="-122"/>
                <a:sym typeface="Symbol" pitchFamily="18" charset="2"/>
              </a:rPr>
              <a:t>7.05</a:t>
            </a:r>
            <a:r>
              <a:rPr lang="en-US" altLang="zh-CN" sz="2500" b="1" baseline="30000" dirty="0">
                <a:ea typeface="华文新魏" pitchFamily="2" charset="-122"/>
              </a:rPr>
              <a:t> </a:t>
            </a:r>
          </a:p>
          <a:p>
            <a:r>
              <a:rPr lang="en-US" altLang="zh-CN" sz="2500" b="1" dirty="0">
                <a:ea typeface="华文新魏" pitchFamily="2" charset="-122"/>
              </a:rPr>
              <a:t>[Ag(CN)</a:t>
            </a:r>
            <a:r>
              <a:rPr lang="en-US" altLang="zh-CN" sz="2500" b="1" baseline="-25000" dirty="0">
                <a:ea typeface="华文新魏" pitchFamily="2" charset="-122"/>
              </a:rPr>
              <a:t>2</a:t>
            </a:r>
            <a:r>
              <a:rPr lang="en-US" altLang="zh-CN" sz="2500" b="1" dirty="0">
                <a:ea typeface="华文新魏" pitchFamily="2" charset="-122"/>
              </a:rPr>
              <a:t>]</a:t>
            </a:r>
            <a:r>
              <a:rPr lang="en-US" altLang="zh-CN" sz="2500" b="1" baseline="30000" dirty="0">
                <a:ea typeface="华文新魏" pitchFamily="2" charset="-122"/>
              </a:rPr>
              <a:t>-</a:t>
            </a:r>
            <a:r>
              <a:rPr lang="en-US" altLang="zh-CN" sz="2500" b="1" dirty="0">
                <a:ea typeface="华文新魏" pitchFamily="2" charset="-122"/>
              </a:rPr>
              <a:t>   </a:t>
            </a:r>
            <a:r>
              <a:rPr lang="en-US" altLang="zh-CN" sz="2500" b="1" i="1" dirty="0">
                <a:ea typeface="华文新魏" pitchFamily="2" charset="-122"/>
              </a:rPr>
              <a:t>K</a:t>
            </a:r>
            <a:r>
              <a:rPr lang="en-US" altLang="zh-CN" sz="1600" b="1" baseline="100000" dirty="0">
                <a:ea typeface="华文新魏" pitchFamily="2" charset="-122"/>
                <a:sym typeface="Webdings" pitchFamily="18" charset="2"/>
              </a:rPr>
              <a:t></a:t>
            </a:r>
            <a:r>
              <a:rPr lang="zh-CN" altLang="en-US" sz="2500" b="1" baseline="-25000" dirty="0">
                <a:ea typeface="华文新魏" pitchFamily="2" charset="-122"/>
                <a:sym typeface="Webdings" pitchFamily="18" charset="2"/>
              </a:rPr>
              <a:t>稳</a:t>
            </a:r>
            <a:r>
              <a:rPr lang="zh-CN" altLang="en-US" sz="2500" b="1" dirty="0">
                <a:ea typeface="华文新魏" pitchFamily="2" charset="-122"/>
                <a:sym typeface="Webdings" pitchFamily="18" charset="2"/>
              </a:rPr>
              <a:t> 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= 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10</a:t>
            </a:r>
            <a:r>
              <a:rPr lang="en-US" altLang="zh-CN" sz="2500" b="1" baseline="30000" dirty="0">
                <a:ea typeface="华文新魏" pitchFamily="2" charset="-122"/>
                <a:sym typeface="Symbol" pitchFamily="18" charset="2"/>
              </a:rPr>
              <a:t>21.1</a:t>
            </a:r>
          </a:p>
        </p:txBody>
      </p:sp>
      <p:sp>
        <p:nvSpPr>
          <p:cNvPr id="11" name="Rectangle 24"/>
          <p:cNvSpPr>
            <a:spLocks noChangeArrowheads="1"/>
          </p:cNvSpPr>
          <p:nvPr/>
        </p:nvSpPr>
        <p:spPr bwMode="auto">
          <a:xfrm>
            <a:off x="3517353" y="4813197"/>
            <a:ext cx="3855543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 smtClean="0">
                <a:ea typeface="华文新魏" pitchFamily="2" charset="-122"/>
              </a:rPr>
              <a:t>[</a:t>
            </a:r>
            <a:r>
              <a:rPr lang="en-US" altLang="zh-CN" sz="2500" b="1" dirty="0">
                <a:ea typeface="华文新魏" pitchFamily="2" charset="-122"/>
              </a:rPr>
              <a:t>Ag(NH</a:t>
            </a:r>
            <a:r>
              <a:rPr lang="en-US" altLang="zh-CN" sz="2500" b="1" baseline="-25000" dirty="0">
                <a:ea typeface="华文新魏" pitchFamily="2" charset="-122"/>
              </a:rPr>
              <a:t>3</a:t>
            </a:r>
            <a:r>
              <a:rPr lang="en-US" altLang="zh-CN" sz="2500" b="1" dirty="0">
                <a:ea typeface="华文新魏" pitchFamily="2" charset="-122"/>
              </a:rPr>
              <a:t>)</a:t>
            </a:r>
            <a:r>
              <a:rPr lang="en-US" altLang="zh-CN" sz="2500" b="1" baseline="-25000" dirty="0">
                <a:ea typeface="华文新魏" pitchFamily="2" charset="-122"/>
              </a:rPr>
              <a:t>2</a:t>
            </a:r>
            <a:r>
              <a:rPr lang="en-US" altLang="zh-CN" sz="2500" b="1" dirty="0">
                <a:ea typeface="华文新魏" pitchFamily="2" charset="-122"/>
              </a:rPr>
              <a:t>]</a:t>
            </a:r>
            <a:r>
              <a:rPr lang="en-US" altLang="zh-CN" sz="2500" b="1" baseline="30000" dirty="0">
                <a:ea typeface="华文新魏" pitchFamily="2" charset="-122"/>
              </a:rPr>
              <a:t>+ </a:t>
            </a:r>
            <a:r>
              <a:rPr lang="en-US" altLang="zh-CN" sz="2500" b="1" i="1" dirty="0">
                <a:ea typeface="华文新魏" pitchFamily="2" charset="-122"/>
              </a:rPr>
              <a:t>K</a:t>
            </a:r>
            <a:r>
              <a:rPr lang="en-US" altLang="zh-CN" sz="1600" b="1" baseline="100000" dirty="0">
                <a:ea typeface="华文新魏" pitchFamily="2" charset="-122"/>
                <a:sym typeface="Webdings" pitchFamily="18" charset="2"/>
              </a:rPr>
              <a:t></a:t>
            </a:r>
            <a:r>
              <a:rPr lang="zh-CN" altLang="en-US" sz="2500" b="1" baseline="-25000" dirty="0">
                <a:ea typeface="华文新魏" pitchFamily="2" charset="-122"/>
                <a:sym typeface="Webdings" pitchFamily="18" charset="2"/>
              </a:rPr>
              <a:t>稳</a:t>
            </a:r>
            <a:r>
              <a:rPr lang="zh-CN" altLang="en-US" sz="2500" b="1" dirty="0">
                <a:ea typeface="华文新魏" pitchFamily="2" charset="-122"/>
                <a:sym typeface="Webdings" pitchFamily="18" charset="2"/>
              </a:rPr>
              <a:t> 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= 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10</a:t>
            </a:r>
            <a:r>
              <a:rPr lang="en-US" altLang="zh-CN" sz="2500" b="1" baseline="30000" dirty="0">
                <a:ea typeface="华文新魏" pitchFamily="2" charset="-122"/>
                <a:sym typeface="Symbol" pitchFamily="18" charset="2"/>
              </a:rPr>
              <a:t>7.05</a:t>
            </a:r>
            <a:r>
              <a:rPr lang="en-US" altLang="zh-CN" sz="2500" b="1" baseline="30000" dirty="0">
                <a:ea typeface="华文新魏" pitchFamily="2" charset="-122"/>
              </a:rPr>
              <a:t> </a:t>
            </a:r>
          </a:p>
          <a:p>
            <a:r>
              <a:rPr lang="en-US" altLang="zh-CN" sz="2500" b="1" dirty="0" smtClean="0">
                <a:ea typeface="华文新魏" pitchFamily="2" charset="-122"/>
              </a:rPr>
              <a:t>  [</a:t>
            </a:r>
            <a:r>
              <a:rPr lang="en-US" altLang="zh-CN" sz="2500" b="1" dirty="0">
                <a:ea typeface="华文新魏" pitchFamily="2" charset="-122"/>
              </a:rPr>
              <a:t>Ag(S</a:t>
            </a:r>
            <a:r>
              <a:rPr lang="en-US" altLang="zh-CN" sz="2500" b="1" baseline="-25000" dirty="0">
                <a:ea typeface="华文新魏" pitchFamily="2" charset="-122"/>
              </a:rPr>
              <a:t>2</a:t>
            </a:r>
            <a:r>
              <a:rPr lang="en-US" altLang="zh-CN" sz="2500" b="1" dirty="0">
                <a:ea typeface="华文新魏" pitchFamily="2" charset="-122"/>
              </a:rPr>
              <a:t>O</a:t>
            </a:r>
            <a:r>
              <a:rPr lang="en-US" altLang="zh-CN" sz="2500" b="1" baseline="-25000" dirty="0">
                <a:ea typeface="华文新魏" pitchFamily="2" charset="-122"/>
              </a:rPr>
              <a:t>3</a:t>
            </a:r>
            <a:r>
              <a:rPr lang="en-US" altLang="zh-CN" sz="2500" b="1" dirty="0">
                <a:ea typeface="华文新魏" pitchFamily="2" charset="-122"/>
              </a:rPr>
              <a:t>)</a:t>
            </a:r>
            <a:r>
              <a:rPr lang="en-US" altLang="zh-CN" sz="2500" b="1" baseline="-25000" dirty="0">
                <a:ea typeface="华文新魏" pitchFamily="2" charset="-122"/>
              </a:rPr>
              <a:t>2</a:t>
            </a:r>
            <a:r>
              <a:rPr lang="en-US" altLang="zh-CN" sz="2500" b="1" dirty="0">
                <a:ea typeface="华文新魏" pitchFamily="2" charset="-122"/>
              </a:rPr>
              <a:t>]</a:t>
            </a:r>
            <a:r>
              <a:rPr lang="en-US" altLang="zh-CN" sz="2500" b="1" baseline="30000" dirty="0">
                <a:ea typeface="华文新魏" pitchFamily="2" charset="-122"/>
              </a:rPr>
              <a:t>3- </a:t>
            </a:r>
            <a:r>
              <a:rPr lang="en-US" altLang="zh-CN" sz="2500" b="1" i="1" dirty="0">
                <a:ea typeface="华文新魏" pitchFamily="2" charset="-122"/>
              </a:rPr>
              <a:t>K</a:t>
            </a:r>
            <a:r>
              <a:rPr lang="en-US" altLang="zh-CN" sz="1600" b="1" baseline="100000" dirty="0">
                <a:ea typeface="华文新魏" pitchFamily="2" charset="-122"/>
                <a:sym typeface="Webdings" pitchFamily="18" charset="2"/>
              </a:rPr>
              <a:t></a:t>
            </a:r>
            <a:r>
              <a:rPr lang="zh-CN" altLang="en-US" sz="2500" b="1" baseline="-25000" dirty="0">
                <a:ea typeface="华文新魏" pitchFamily="2" charset="-122"/>
                <a:sym typeface="Webdings" pitchFamily="18" charset="2"/>
              </a:rPr>
              <a:t>稳</a:t>
            </a:r>
            <a:r>
              <a:rPr lang="zh-CN" altLang="en-US" sz="2500" b="1" dirty="0">
                <a:ea typeface="华文新魏" pitchFamily="2" charset="-122"/>
                <a:sym typeface="Webdings" pitchFamily="18" charset="2"/>
              </a:rPr>
              <a:t> 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= 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10</a:t>
            </a:r>
            <a:r>
              <a:rPr lang="en-US" altLang="zh-CN" sz="2500" b="1" baseline="30000" dirty="0">
                <a:ea typeface="华文新魏" pitchFamily="2" charset="-122"/>
                <a:sym typeface="Symbol" pitchFamily="18" charset="2"/>
              </a:rPr>
              <a:t>13.46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274" grpId="0"/>
      <p:bldP spid="11275" grpId="0"/>
      <p:bldP spid="17" grpId="0"/>
      <p:bldP spid="19" grpId="0"/>
      <p:bldP spid="10" grpId="0" autoUpdateAnimBg="0"/>
      <p:bldP spid="11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032"/>
          <p:cNvSpPr>
            <a:spLocks noChangeArrowheads="1"/>
          </p:cNvSpPr>
          <p:nvPr/>
        </p:nvSpPr>
        <p:spPr bwMode="auto">
          <a:xfrm>
            <a:off x="688939" y="882633"/>
            <a:ext cx="44513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(2.4)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判断氧化还原性质的改变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:</a:t>
            </a:r>
          </a:p>
        </p:txBody>
      </p:sp>
      <p:sp>
        <p:nvSpPr>
          <p:cNvPr id="11276" name="矩形 16"/>
          <p:cNvSpPr>
            <a:spLocks noChangeArrowheads="1"/>
          </p:cNvSpPr>
          <p:nvPr/>
        </p:nvSpPr>
        <p:spPr bwMode="auto">
          <a:xfrm>
            <a:off x="760377" y="2619373"/>
            <a:ext cx="614271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 dirty="0" smtClean="0">
                <a:ea typeface="楷体_GB2312" pitchFamily="49" charset="-122"/>
                <a:hlinkClick r:id="rId2" action="ppaction://hlinkpres?slideindex=12&amp;slidetitle=幻灯片 12"/>
              </a:rPr>
              <a:t>解</a:t>
            </a:r>
            <a:r>
              <a:rPr lang="en-US" altLang="zh-CN" sz="2500" b="1" dirty="0" smtClean="0">
                <a:ea typeface="楷体_GB2312" pitchFamily="49" charset="-122"/>
              </a:rPr>
              <a:t>: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11278" name="Rectangle 42"/>
          <p:cNvSpPr>
            <a:spLocks noGrp="1" noChangeArrowheads="1"/>
          </p:cNvSpPr>
          <p:nvPr>
            <p:ph type="title"/>
          </p:nvPr>
        </p:nvSpPr>
        <p:spPr>
          <a:xfrm>
            <a:off x="260350" y="239713"/>
            <a:ext cx="10369550" cy="431800"/>
          </a:xfrm>
          <a:noFill/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6.2.1</a:t>
            </a:r>
            <a:r>
              <a:rPr lang="zh-CN" altLang="en-US" smtClean="0">
                <a:ea typeface="黑体" pitchFamily="49" charset="-122"/>
              </a:rPr>
              <a:t>配位平衡及配合物的稳定常数</a:t>
            </a:r>
            <a:endParaRPr lang="zh-CN" altLang="en-US" sz="1200" b="0" smtClean="0">
              <a:solidFill>
                <a:srgbClr val="0000FF"/>
              </a:solidFill>
              <a:ea typeface="黑体" pitchFamily="49" charset="-122"/>
            </a:endParaRPr>
          </a:p>
        </p:txBody>
      </p:sp>
      <p:sp>
        <p:nvSpPr>
          <p:cNvPr id="11279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80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Rectangle 16"/>
          <p:cNvSpPr>
            <a:spLocks noChangeArrowheads="1"/>
          </p:cNvSpPr>
          <p:nvPr/>
        </p:nvSpPr>
        <p:spPr bwMode="auto">
          <a:xfrm>
            <a:off x="688940" y="1382699"/>
            <a:ext cx="10572824" cy="1246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500" b="1" dirty="0">
                <a:latin typeface="+mn-lt"/>
                <a:ea typeface="楷体_GB2312" pitchFamily="49" charset="-122"/>
              </a:rPr>
              <a:t>例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7</a:t>
            </a:r>
            <a:r>
              <a:rPr lang="en-US" altLang="zh-CN" sz="2500" b="1" dirty="0" smtClean="0">
                <a:latin typeface="+mn-lt"/>
                <a:ea typeface="楷体_GB2312" pitchFamily="49" charset="-122"/>
              </a:rPr>
              <a:t>: </a:t>
            </a:r>
            <a:r>
              <a:rPr lang="zh-CN" altLang="en-US" sz="2500" b="1" dirty="0" smtClean="0">
                <a:latin typeface="+mn-lt"/>
                <a:ea typeface="楷体_GB2312" pitchFamily="49" charset="-122"/>
              </a:rPr>
              <a:t>据</a:t>
            </a:r>
            <a:r>
              <a:rPr lang="en-US" altLang="zh-CN" sz="2500" b="1" i="1" dirty="0">
                <a:latin typeface="+mn-lt"/>
                <a:ea typeface="楷体_GB2312" pitchFamily="49" charset="-122"/>
                <a:sym typeface="Symbol" pitchFamily="18" charset="2"/>
              </a:rPr>
              <a:t>E</a:t>
            </a:r>
            <a:r>
              <a:rPr lang="en-US" altLang="zh-CN" sz="1600" b="1" baseline="100000" dirty="0">
                <a:latin typeface="+mn-lt"/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(Au</a:t>
            </a:r>
            <a:r>
              <a:rPr lang="en-US" altLang="zh-CN" sz="2500" b="1" baseline="30000" dirty="0">
                <a:latin typeface="+mn-lt"/>
                <a:ea typeface="楷体_GB2312" pitchFamily="49" charset="-122"/>
                <a:sym typeface="Webdings" pitchFamily="18" charset="2"/>
              </a:rPr>
              <a:t>+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/Au) = +</a:t>
            </a:r>
            <a:r>
              <a:rPr lang="en-US" altLang="zh-CN" sz="2500" b="1" dirty="0" smtClean="0">
                <a:latin typeface="+mn-lt"/>
                <a:ea typeface="楷体_GB2312" pitchFamily="49" charset="-122"/>
                <a:sym typeface="Webdings" pitchFamily="18" charset="2"/>
              </a:rPr>
              <a:t>1.692V,</a:t>
            </a:r>
            <a:r>
              <a:rPr lang="en-US" altLang="zh-CN" sz="2500" b="1" i="1" dirty="0" smtClean="0">
                <a:latin typeface="+mn-lt"/>
                <a:ea typeface="楷体_GB2312" pitchFamily="49" charset="-122"/>
                <a:sym typeface="Symbol" pitchFamily="18" charset="2"/>
              </a:rPr>
              <a:t>E</a:t>
            </a:r>
            <a:r>
              <a:rPr lang="en-US" altLang="zh-CN" sz="1600" b="1" baseline="100000" dirty="0">
                <a:latin typeface="+mn-lt"/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(O</a:t>
            </a:r>
            <a:r>
              <a:rPr lang="en-US" altLang="zh-CN" sz="2500" b="1" baseline="-25000" dirty="0">
                <a:latin typeface="+mn-lt"/>
                <a:ea typeface="楷体_GB2312" pitchFamily="49" charset="-122"/>
                <a:sym typeface="Webdings" pitchFamily="18" charset="2"/>
              </a:rPr>
              <a:t>2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/OH</a:t>
            </a:r>
            <a:r>
              <a:rPr lang="en-US" altLang="zh-CN" sz="2500" b="1" baseline="30000" dirty="0">
                <a:latin typeface="+mn-lt"/>
                <a:ea typeface="楷体_GB2312" pitchFamily="49" charset="-122"/>
                <a:sym typeface="Webdings" pitchFamily="18" charset="2"/>
              </a:rPr>
              <a:t>-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) = </a:t>
            </a:r>
            <a:r>
              <a:rPr lang="en-US" altLang="zh-CN" sz="2500" b="1" dirty="0" smtClean="0">
                <a:latin typeface="+mn-lt"/>
                <a:ea typeface="楷体_GB2312" pitchFamily="49" charset="-122"/>
                <a:sym typeface="Webdings" pitchFamily="18" charset="2"/>
              </a:rPr>
              <a:t>0.401V,</a:t>
            </a:r>
            <a:r>
              <a:rPr lang="zh-CN" altLang="en-US" sz="2500" b="1" dirty="0" smtClean="0">
                <a:latin typeface="+mn-lt"/>
                <a:ea typeface="楷体_GB2312" pitchFamily="49" charset="-122"/>
                <a:sym typeface="Webdings" pitchFamily="18" charset="2"/>
              </a:rPr>
              <a:t>因此</a:t>
            </a:r>
            <a:r>
              <a:rPr lang="en-US" altLang="zh-CN" sz="2500" b="1" dirty="0" smtClean="0">
                <a:latin typeface="+mn-lt"/>
                <a:ea typeface="楷体_GB2312" pitchFamily="49" charset="-122"/>
                <a:sym typeface="Webdings" pitchFamily="18" charset="2"/>
              </a:rPr>
              <a:t>Au</a:t>
            </a:r>
            <a:r>
              <a:rPr lang="zh-CN" altLang="en-US" sz="2500" b="1" dirty="0">
                <a:latin typeface="+mn-lt"/>
                <a:ea typeface="楷体_GB2312" pitchFamily="49" charset="-122"/>
                <a:sym typeface="Webdings" pitchFamily="18" charset="2"/>
              </a:rPr>
              <a:t>很难被氧化</a:t>
            </a:r>
            <a:r>
              <a:rPr lang="en-US" altLang="zh-CN" sz="2500" b="1" dirty="0" smtClean="0">
                <a:latin typeface="+mn-lt"/>
                <a:ea typeface="楷体_GB2312" pitchFamily="49" charset="-122"/>
                <a:sym typeface="Webdings" pitchFamily="18" charset="2"/>
              </a:rPr>
              <a:t>.</a:t>
            </a:r>
            <a:r>
              <a:rPr lang="zh-CN" altLang="en-US" sz="2500" b="1" dirty="0" smtClean="0">
                <a:latin typeface="+mn-lt"/>
                <a:ea typeface="楷体_GB2312" pitchFamily="49" charset="-122"/>
                <a:sym typeface="Webdings" pitchFamily="18" charset="2"/>
              </a:rPr>
              <a:t>若加入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KCN</a:t>
            </a:r>
            <a:r>
              <a:rPr lang="en-US" altLang="zh-CN" sz="2500" b="1" dirty="0" smtClean="0">
                <a:latin typeface="+mn-lt"/>
                <a:ea typeface="楷体_GB2312" pitchFamily="49" charset="-122"/>
                <a:sym typeface="Webdings" pitchFamily="18" charset="2"/>
              </a:rPr>
              <a:t>,</a:t>
            </a:r>
            <a:r>
              <a:rPr lang="zh-CN" altLang="en-US" sz="2500" b="1" dirty="0" smtClean="0">
                <a:latin typeface="+mn-lt"/>
                <a:ea typeface="楷体_GB2312" pitchFamily="49" charset="-122"/>
                <a:sym typeface="Webdings" pitchFamily="18" charset="2"/>
              </a:rPr>
              <a:t> 就</a:t>
            </a:r>
            <a:r>
              <a:rPr lang="zh-CN" altLang="en-US" sz="2500" b="1" dirty="0">
                <a:latin typeface="+mn-lt"/>
                <a:ea typeface="楷体_GB2312" pitchFamily="49" charset="-122"/>
                <a:sym typeface="Webdings" pitchFamily="18" charset="2"/>
              </a:rPr>
              <a:t>可以在碱性条件下利用空气中的氧将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Au</a:t>
            </a:r>
            <a:r>
              <a:rPr lang="zh-CN" altLang="en-US" sz="2500" b="1" dirty="0">
                <a:latin typeface="+mn-lt"/>
                <a:ea typeface="楷体_GB2312" pitchFamily="49" charset="-122"/>
                <a:sym typeface="Webdings" pitchFamily="18" charset="2"/>
              </a:rPr>
              <a:t>氧</a:t>
            </a:r>
            <a:r>
              <a:rPr lang="zh-CN" altLang="en-US" sz="2500" b="1" dirty="0" smtClean="0">
                <a:latin typeface="+mn-lt"/>
                <a:ea typeface="楷体_GB2312" pitchFamily="49" charset="-122"/>
                <a:sym typeface="Webdings" pitchFamily="18" charset="2"/>
              </a:rPr>
              <a:t>化</a:t>
            </a:r>
            <a:r>
              <a:rPr lang="en-US" altLang="zh-CN" sz="2500" b="1" dirty="0" smtClean="0">
                <a:latin typeface="+mn-lt"/>
                <a:ea typeface="楷体_GB2312" pitchFamily="49" charset="-122"/>
                <a:sym typeface="Webdings" pitchFamily="18" charset="2"/>
              </a:rPr>
              <a:t>.</a:t>
            </a:r>
            <a:r>
              <a:rPr lang="zh-CN" altLang="en-US" sz="2500" b="1" dirty="0">
                <a:latin typeface="+mn-lt"/>
                <a:ea typeface="楷体_GB2312" pitchFamily="49" charset="-122"/>
                <a:sym typeface="Webdings" pitchFamily="18" charset="2"/>
              </a:rPr>
              <a:t>试计算说明 </a:t>
            </a:r>
            <a:r>
              <a:rPr lang="en-US" altLang="zh-CN" sz="2500" b="1" dirty="0" smtClean="0">
                <a:latin typeface="+mn-lt"/>
                <a:ea typeface="楷体_GB2312" pitchFamily="49" charset="-122"/>
                <a:sym typeface="Webdings" pitchFamily="18" charset="2"/>
              </a:rPr>
              <a:t>(</a:t>
            </a:r>
            <a:r>
              <a:rPr lang="en-US" altLang="zh-CN" sz="2500" b="1" dirty="0" err="1">
                <a:latin typeface="+mn-lt"/>
                <a:ea typeface="楷体_GB2312" pitchFamily="49" charset="-122"/>
                <a:sym typeface="Webdings" pitchFamily="18" charset="2"/>
              </a:rPr>
              <a:t>lg</a:t>
            </a:r>
            <a:r>
              <a:rPr lang="en-US" altLang="zh-CN" sz="2500" b="1" i="1" dirty="0" err="1">
                <a:latin typeface="+mn-lt"/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latin typeface="+mn-lt"/>
                <a:ea typeface="楷体_GB2312" pitchFamily="49" charset="-122"/>
                <a:sym typeface="Webdings" pitchFamily="18" charset="2"/>
              </a:rPr>
              <a:t></a:t>
            </a:r>
            <a:r>
              <a:rPr lang="zh-CN" altLang="en-US" sz="2500" b="1" baseline="-25000" dirty="0">
                <a:latin typeface="+mn-lt"/>
                <a:ea typeface="楷体_GB2312" pitchFamily="49" charset="-122"/>
                <a:sym typeface="Webdings" pitchFamily="18" charset="2"/>
              </a:rPr>
              <a:t>稳</a:t>
            </a:r>
            <a:r>
              <a:rPr lang="zh-CN" altLang="en-US" sz="2500" b="1" dirty="0">
                <a:latin typeface="+mn-lt"/>
                <a:ea typeface="楷体_GB2312" pitchFamily="49" charset="-122"/>
                <a:sym typeface="Webdings" pitchFamily="18" charset="2"/>
              </a:rPr>
              <a:t> 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{Au(CN)</a:t>
            </a:r>
            <a:r>
              <a:rPr lang="en-US" altLang="zh-CN" sz="2500" b="1" baseline="-25000" dirty="0">
                <a:latin typeface="+mn-lt"/>
                <a:ea typeface="楷体_GB2312" pitchFamily="49" charset="-122"/>
                <a:sym typeface="Webdings" pitchFamily="18" charset="2"/>
              </a:rPr>
              <a:t>2</a:t>
            </a:r>
            <a:r>
              <a:rPr lang="en-US" altLang="zh-CN" sz="2500" b="1" baseline="30000" dirty="0">
                <a:latin typeface="+mn-lt"/>
                <a:ea typeface="楷体_GB2312" pitchFamily="49" charset="-122"/>
                <a:sym typeface="Webdings" pitchFamily="18" charset="2"/>
              </a:rPr>
              <a:t>-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} = 38.3</a:t>
            </a:r>
            <a:r>
              <a:rPr lang="en-US" altLang="zh-CN" sz="2500" b="1" dirty="0" smtClean="0">
                <a:latin typeface="+mn-lt"/>
                <a:ea typeface="楷体_GB2312" pitchFamily="49" charset="-122"/>
                <a:sym typeface="Webdings" pitchFamily="18" charset="2"/>
              </a:rPr>
              <a:t>). </a:t>
            </a:r>
            <a:r>
              <a:rPr lang="zh-CN" altLang="en-US" sz="2500" b="1" dirty="0" smtClean="0">
                <a:latin typeface="+mn-lt"/>
                <a:ea typeface="楷体_GB2312" pitchFamily="49" charset="-122"/>
                <a:sym typeface="Webdings" pitchFamily="18" charset="2"/>
              </a:rPr>
              <a:t>为方便计算各组分均在标准状态下</a:t>
            </a:r>
            <a:r>
              <a:rPr lang="zh-CN" altLang="en-US" sz="2500" b="1" dirty="0" smtClean="0">
                <a:ea typeface="楷体_GB2312" pitchFamily="49" charset="-122"/>
                <a:sym typeface="Webdings" pitchFamily="18" charset="2"/>
              </a:rPr>
              <a:t>（</a:t>
            </a:r>
            <a:r>
              <a:rPr lang="en-US" altLang="zh-CN" sz="2500" b="1" dirty="0" smtClean="0">
                <a:ea typeface="楷体_GB2312" pitchFamily="49" charset="-122"/>
                <a:sym typeface="Webdings" pitchFamily="18" charset="2"/>
              </a:rPr>
              <a:t> 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KCN =1mol/L</a:t>
            </a:r>
            <a:r>
              <a:rPr lang="zh-CN" altLang="en-US" sz="2500" b="1" dirty="0">
                <a:ea typeface="楷体_GB2312" pitchFamily="49" charset="-122"/>
                <a:sym typeface="Webdings" pitchFamily="18" charset="2"/>
              </a:rPr>
              <a:t>）</a:t>
            </a:r>
            <a:endParaRPr lang="en-US" altLang="zh-CN" sz="2500" b="1" dirty="0">
              <a:latin typeface="+mn-lt"/>
              <a:ea typeface="楷体_GB2312" pitchFamily="49" charset="-122"/>
              <a:sym typeface="Webdings" pitchFamily="18" charset="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376661" y="3528119"/>
            <a:ext cx="443743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500" b="1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  <a:sym typeface="Symbol" pitchFamily="18" charset="2"/>
              </a:rPr>
              <a:t>实质计算</a:t>
            </a:r>
            <a:r>
              <a:rPr lang="en-US" altLang="zh-CN" sz="2500" b="1" i="1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  <a:sym typeface="Symbol" pitchFamily="18" charset="2"/>
              </a:rPr>
              <a:t>E</a:t>
            </a:r>
            <a:r>
              <a:rPr lang="en-US" altLang="zh-CN" sz="1600" b="1" baseline="100000" dirty="0">
                <a:solidFill>
                  <a:srgbClr val="000000"/>
                </a:solidFill>
                <a:latin typeface="Times New Roman"/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  <a:sym typeface="Webdings" pitchFamily="18" charset="2"/>
              </a:rPr>
              <a:t>(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Au(CN)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2</a:t>
            </a:r>
            <a:r>
              <a:rPr lang="en-US" altLang="zh-CN" sz="2500" b="1" baseline="30000" dirty="0">
                <a:ea typeface="楷体_GB2312" pitchFamily="49" charset="-122"/>
                <a:sym typeface="Webdings" pitchFamily="18" charset="2"/>
              </a:rPr>
              <a:t>- </a:t>
            </a:r>
            <a:r>
              <a:rPr lang="en-US" altLang="zh-CN" sz="2500" b="1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  <a:sym typeface="Webdings" pitchFamily="18" charset="2"/>
              </a:rPr>
              <a:t>/</a:t>
            </a:r>
            <a:r>
              <a:rPr lang="en-US" altLang="zh-CN" sz="2500" b="1" dirty="0">
                <a:solidFill>
                  <a:srgbClr val="000000"/>
                </a:solidFill>
                <a:latin typeface="Times New Roman"/>
                <a:ea typeface="楷体_GB2312" pitchFamily="49" charset="-122"/>
                <a:sym typeface="Webdings" pitchFamily="18" charset="2"/>
              </a:rPr>
              <a:t>Au) </a:t>
            </a:r>
            <a:r>
              <a:rPr lang="en-US" altLang="zh-CN" sz="2500" b="1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  <a:sym typeface="Webdings" pitchFamily="18" charset="2"/>
              </a:rPr>
              <a:t>=</a:t>
            </a:r>
            <a:r>
              <a:rPr lang="zh-CN" altLang="en-US" sz="2500" b="1" dirty="0" smtClean="0">
                <a:solidFill>
                  <a:srgbClr val="000000"/>
                </a:solidFill>
                <a:latin typeface="Times New Roman"/>
                <a:ea typeface="楷体_GB2312" pitchFamily="49" charset="-122"/>
                <a:sym typeface="Webdings" pitchFamily="18" charset="2"/>
              </a:rPr>
              <a:t>？</a:t>
            </a:r>
            <a:endParaRPr lang="zh-CN" altLang="en-US" dirty="0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276" grpId="0"/>
      <p:bldP spid="12" grpId="0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11" name="Rectangle 19"/>
          <p:cNvSpPr>
            <a:spLocks noChangeArrowheads="1"/>
          </p:cNvSpPr>
          <p:nvPr/>
        </p:nvSpPr>
        <p:spPr bwMode="auto">
          <a:xfrm>
            <a:off x="617538" y="1025525"/>
            <a:ext cx="10479087" cy="509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1. 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内在</a:t>
            </a:r>
            <a:r>
              <a:rPr lang="zh-CN" altLang="en-US" sz="2500" b="1" dirty="0" smtClean="0">
                <a:solidFill>
                  <a:srgbClr val="FF3300"/>
                </a:solidFill>
                <a:ea typeface="楷体_GB2312" pitchFamily="49" charset="-122"/>
              </a:rPr>
              <a:t>因素（自身原因）</a:t>
            </a:r>
            <a:r>
              <a:rPr lang="en-US" altLang="zh-CN" sz="2500" b="1" dirty="0" smtClean="0">
                <a:ea typeface="楷体_GB2312" pitchFamily="49" charset="-122"/>
              </a:rPr>
              <a:t>        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12291" name="Rectangle 32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  <a:noFill/>
        </p:spPr>
        <p:txBody>
          <a:bodyPr/>
          <a:lstStyle/>
          <a:p>
            <a:r>
              <a:rPr lang="en-US" altLang="zh-CN" dirty="0" smtClean="0">
                <a:ea typeface="黑体" pitchFamily="49" charset="-122"/>
              </a:rPr>
              <a:t>6.2.2</a:t>
            </a:r>
            <a:r>
              <a:rPr lang="zh-CN" altLang="en-US" dirty="0" smtClean="0">
                <a:ea typeface="黑体" pitchFamily="49" charset="-122"/>
              </a:rPr>
              <a:t>配合物的稳定性及影响配位平衡的主要因素</a:t>
            </a:r>
            <a:endParaRPr lang="zh-CN" altLang="en-US" sz="1200" dirty="0" smtClean="0">
              <a:solidFill>
                <a:srgbClr val="0000FF"/>
              </a:solidFill>
              <a:ea typeface="黑体" pitchFamily="49" charset="-122"/>
            </a:endParaRPr>
          </a:p>
        </p:txBody>
      </p:sp>
      <p:sp>
        <p:nvSpPr>
          <p:cNvPr id="12292" name="Oval 27" descr="图片9">
            <a:hlinkClick r:id="rId3" action="ppaction://hlinksldjump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3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19"/>
          <p:cNvSpPr>
            <a:spLocks noChangeArrowheads="1"/>
          </p:cNvSpPr>
          <p:nvPr/>
        </p:nvSpPr>
        <p:spPr bwMode="auto">
          <a:xfrm>
            <a:off x="688939" y="1525575"/>
            <a:ext cx="10479087" cy="2400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500" b="1" dirty="0" smtClean="0">
                <a:ea typeface="楷体_GB2312" pitchFamily="49" charset="-122"/>
              </a:rPr>
              <a:t>        </a:t>
            </a:r>
            <a:r>
              <a:rPr lang="zh-CN" altLang="en-US" sz="2500" b="1" dirty="0">
                <a:solidFill>
                  <a:srgbClr val="C00000"/>
                </a:solidFill>
                <a:ea typeface="楷体_GB2312" pitchFamily="49" charset="-122"/>
              </a:rPr>
              <a:t>金属离子和配体的性质</a:t>
            </a:r>
            <a:r>
              <a:rPr lang="en-US" altLang="zh-CN" sz="2500" b="1" dirty="0">
                <a:solidFill>
                  <a:srgbClr val="C00000"/>
                </a:solidFill>
                <a:ea typeface="楷体_GB2312" pitchFamily="49" charset="-122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①</a:t>
            </a:r>
            <a:r>
              <a:rPr lang="zh-CN" altLang="en-US" sz="2500" b="1" dirty="0">
                <a:ea typeface="楷体_GB2312" pitchFamily="49" charset="-122"/>
              </a:rPr>
              <a:t>同种金属离子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不同配体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zh-CN" altLang="en-US" sz="2500" b="1" dirty="0">
                <a:ea typeface="楷体_GB2312" pitchFamily="49" charset="-122"/>
              </a:rPr>
              <a:t>螯合物要比具相同配位原子的简单配合物稳定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此现象称为</a:t>
            </a:r>
            <a:r>
              <a:rPr lang="zh-CN" altLang="en-US" sz="2500" b="1" dirty="0">
                <a:solidFill>
                  <a:srgbClr val="FF9933"/>
                </a:solidFill>
                <a:ea typeface="楷体_GB2312" pitchFamily="49" charset="-122"/>
                <a:hlinkClick r:id="" action="ppaction://hlinkshowjump?jump=nextslide"/>
              </a:rPr>
              <a:t>螯合效应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②</a:t>
            </a:r>
            <a:r>
              <a:rPr lang="zh-CN" altLang="en-US" sz="2500" b="1" dirty="0">
                <a:ea typeface="楷体_GB2312" pitchFamily="49" charset="-122"/>
              </a:rPr>
              <a:t>同种配体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不同金属离子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zh-CN" altLang="en-US" sz="2500" b="1" dirty="0">
                <a:ea typeface="楷体_GB2312" pitchFamily="49" charset="-122"/>
              </a:rPr>
              <a:t>如</a:t>
            </a:r>
            <a:r>
              <a:rPr lang="en-US" altLang="zh-CN" sz="2500" b="1" dirty="0">
                <a:ea typeface="楷体_GB2312" pitchFamily="49" charset="-122"/>
              </a:rPr>
              <a:t>EDTA</a:t>
            </a:r>
            <a:r>
              <a:rPr lang="zh-CN" altLang="en-US" sz="2500" b="1" dirty="0">
                <a:ea typeface="楷体_GB2312" pitchFamily="49" charset="-122"/>
              </a:rPr>
              <a:t>与金属离子所形成的螯合物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2" name="矩形 1"/>
          <p:cNvSpPr/>
          <p:nvPr/>
        </p:nvSpPr>
        <p:spPr>
          <a:xfrm>
            <a:off x="2304653" y="4426282"/>
            <a:ext cx="52886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ea typeface="楷体_GB2312" pitchFamily="49" charset="-122"/>
              </a:rPr>
              <a:t>与</a:t>
            </a:r>
            <a:r>
              <a:rPr lang="zh-CN" altLang="en-US" sz="2400" b="1" dirty="0" smtClean="0">
                <a:solidFill>
                  <a:srgbClr val="FF0000"/>
                </a:solidFill>
                <a:ea typeface="楷体_GB2312" pitchFamily="49" charset="-122"/>
              </a:rPr>
              <a:t>金属离子电荷 半径 电子层结构有关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3" name="下箭头 2"/>
          <p:cNvSpPr/>
          <p:nvPr/>
        </p:nvSpPr>
        <p:spPr>
          <a:xfrm>
            <a:off x="4032845" y="3816150"/>
            <a:ext cx="288032" cy="610131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3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11" grpId="0" build="p" autoUpdateAnimBg="0"/>
      <p:bldP spid="6" grpId="0" uiExpand="1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9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  <a:noFill/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6.2.2</a:t>
            </a:r>
            <a:r>
              <a:rPr lang="zh-CN" altLang="en-US" smtClean="0">
                <a:ea typeface="黑体" pitchFamily="49" charset="-122"/>
              </a:rPr>
              <a:t>配合物的稳定性及影响配位平衡的主要因素</a:t>
            </a:r>
            <a:endParaRPr lang="zh-CN" altLang="en-US" sz="1200" b="0" smtClean="0">
              <a:solidFill>
                <a:srgbClr val="0000FF"/>
              </a:solidFill>
              <a:ea typeface="黑体" pitchFamily="49" charset="-122"/>
            </a:endParaRPr>
          </a:p>
        </p:txBody>
      </p:sp>
      <p:graphicFrame>
        <p:nvGraphicFramePr>
          <p:cNvPr id="118794" name="Object 2"/>
          <p:cNvGraphicFramePr>
            <a:graphicFrameLocks noChangeAspect="1"/>
          </p:cNvGraphicFramePr>
          <p:nvPr/>
        </p:nvGraphicFramePr>
        <p:xfrm>
          <a:off x="1990725" y="1895475"/>
          <a:ext cx="6627813" cy="2693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公式" r:id="rId5" imgW="3009600" imgH="1282680" progId="Equation.3">
                  <p:embed/>
                </p:oleObj>
              </mc:Choice>
              <mc:Fallback>
                <p:oleObj name="公式" r:id="rId5" imgW="3009600" imgH="128268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0725" y="1895475"/>
                        <a:ext cx="6627813" cy="2693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947863" y="1239838"/>
            <a:ext cx="7969250" cy="3349625"/>
            <a:chOff x="974" y="827"/>
            <a:chExt cx="3984" cy="2233"/>
          </a:xfrm>
        </p:grpSpPr>
        <p:sp>
          <p:nvSpPr>
            <p:cNvPr id="118796" name="Rectangle 12"/>
            <p:cNvSpPr>
              <a:spLocks noChangeArrowheads="1"/>
            </p:cNvSpPr>
            <p:nvPr/>
          </p:nvSpPr>
          <p:spPr bwMode="auto">
            <a:xfrm>
              <a:off x="1844" y="827"/>
              <a:ext cx="2016" cy="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z="2500" b="1">
                  <a:solidFill>
                    <a:srgbClr val="0000FF"/>
                  </a:solidFill>
                  <a:ea typeface="楷体_GB2312"/>
                </a:rPr>
                <a:t>螯合物稳定性的比较</a:t>
              </a:r>
              <a:r>
                <a:rPr lang="en-US" altLang="zh-CN" sz="2500" b="1">
                  <a:solidFill>
                    <a:srgbClr val="0000FF"/>
                  </a:solidFill>
                  <a:ea typeface="楷体_GB2312"/>
                </a:rPr>
                <a:t>:</a:t>
              </a:r>
              <a:endParaRPr lang="en-US" altLang="zh-CN" sz="25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endParaRPr>
            </a:p>
          </p:txBody>
        </p:sp>
        <p:sp>
          <p:nvSpPr>
            <p:cNvPr id="1032" name="Line 13"/>
            <p:cNvSpPr>
              <a:spLocks noChangeShapeType="1"/>
            </p:cNvSpPr>
            <p:nvPr/>
          </p:nvSpPr>
          <p:spPr bwMode="auto">
            <a:xfrm>
              <a:off x="974" y="1156"/>
              <a:ext cx="39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33" name="Line 14"/>
            <p:cNvSpPr>
              <a:spLocks noChangeShapeType="1"/>
            </p:cNvSpPr>
            <p:nvPr/>
          </p:nvSpPr>
          <p:spPr bwMode="auto">
            <a:xfrm>
              <a:off x="974" y="3060"/>
              <a:ext cx="39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34" name="Line 15"/>
            <p:cNvSpPr>
              <a:spLocks noChangeShapeType="1"/>
            </p:cNvSpPr>
            <p:nvPr/>
          </p:nvSpPr>
          <p:spPr bwMode="auto">
            <a:xfrm>
              <a:off x="974" y="1541"/>
              <a:ext cx="39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030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5546723" y="5668979"/>
            <a:ext cx="360363" cy="360362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187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>
          <a:xfrm>
            <a:off x="617538" y="258763"/>
            <a:ext cx="10369550" cy="431800"/>
          </a:xfrm>
          <a:noFill/>
        </p:spPr>
        <p:txBody>
          <a:bodyPr/>
          <a:lstStyle/>
          <a:p>
            <a:r>
              <a:rPr lang="en-US" altLang="zh-CN" dirty="0" smtClean="0">
                <a:ea typeface="黑体" pitchFamily="49" charset="-122"/>
              </a:rPr>
              <a:t>6.2.2</a:t>
            </a:r>
            <a:r>
              <a:rPr lang="zh-CN" altLang="en-US" dirty="0" smtClean="0">
                <a:ea typeface="黑体" pitchFamily="49" charset="-122"/>
              </a:rPr>
              <a:t>配合物的稳定性及影响配位平衡的主要因素</a:t>
            </a:r>
            <a:endParaRPr lang="zh-CN" altLang="en-US" sz="1200" b="0" dirty="0" smtClean="0">
              <a:solidFill>
                <a:srgbClr val="0000FF"/>
              </a:solidFill>
              <a:ea typeface="黑体" pitchFamily="49" charset="-122"/>
            </a:endParaRPr>
          </a:p>
        </p:txBody>
      </p:sp>
      <p:graphicFrame>
        <p:nvGraphicFramePr>
          <p:cNvPr id="119811" name="Object 2"/>
          <p:cNvGraphicFramePr>
            <a:graphicFrameLocks noChangeAspect="1"/>
          </p:cNvGraphicFramePr>
          <p:nvPr/>
        </p:nvGraphicFramePr>
        <p:xfrm>
          <a:off x="857250" y="1052513"/>
          <a:ext cx="8021638" cy="451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" name="BMP 图象" r:id="rId6" imgW="4439270" imgH="3209524" progId="PBrush">
                  <p:embed/>
                </p:oleObj>
              </mc:Choice>
              <mc:Fallback>
                <p:oleObj name="BMP 图象" r:id="rId6" imgW="4439270" imgH="3209524" progId="PBrush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1052513"/>
                        <a:ext cx="8021638" cy="4519612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818" name="Rectangle 10"/>
          <p:cNvSpPr>
            <a:spLocks noChangeArrowheads="1"/>
          </p:cNvSpPr>
          <p:nvPr/>
        </p:nvSpPr>
        <p:spPr bwMode="auto">
          <a:xfrm>
            <a:off x="8928100" y="1020763"/>
            <a:ext cx="7747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>
                <a:solidFill>
                  <a:srgbClr val="FF3300"/>
                </a:solidFill>
                <a:ea typeface="楷体_GB2312" pitchFamily="49" charset="-122"/>
              </a:rPr>
              <a:t>rule</a:t>
            </a:r>
            <a:r>
              <a:rPr lang="en-US" altLang="zh-CN" sz="2500">
                <a:ea typeface="楷体_GB2312" pitchFamily="49" charset="-122"/>
              </a:rPr>
              <a:t>:</a:t>
            </a:r>
          </a:p>
        </p:txBody>
      </p:sp>
      <p:sp>
        <p:nvSpPr>
          <p:cNvPr id="119826" name="Line 18"/>
          <p:cNvSpPr>
            <a:spLocks noChangeShapeType="1"/>
          </p:cNvSpPr>
          <p:nvPr/>
        </p:nvSpPr>
        <p:spPr bwMode="auto">
          <a:xfrm>
            <a:off x="2443163" y="5440363"/>
            <a:ext cx="681037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9816" name="Line 8"/>
          <p:cNvSpPr>
            <a:spLocks noChangeShapeType="1"/>
          </p:cNvSpPr>
          <p:nvPr/>
        </p:nvSpPr>
        <p:spPr bwMode="auto">
          <a:xfrm>
            <a:off x="2489200" y="1766888"/>
            <a:ext cx="681038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9817" name="Line 9"/>
          <p:cNvSpPr>
            <a:spLocks noChangeShapeType="1"/>
          </p:cNvSpPr>
          <p:nvPr/>
        </p:nvSpPr>
        <p:spPr bwMode="auto">
          <a:xfrm>
            <a:off x="2489200" y="2174875"/>
            <a:ext cx="681038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9819" name="Line 11"/>
          <p:cNvSpPr>
            <a:spLocks noChangeShapeType="1"/>
          </p:cNvSpPr>
          <p:nvPr/>
        </p:nvSpPr>
        <p:spPr bwMode="auto">
          <a:xfrm>
            <a:off x="2489200" y="2855913"/>
            <a:ext cx="681038" cy="0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9820" name="Line 12"/>
          <p:cNvSpPr>
            <a:spLocks noChangeShapeType="1"/>
          </p:cNvSpPr>
          <p:nvPr/>
        </p:nvSpPr>
        <p:spPr bwMode="auto">
          <a:xfrm>
            <a:off x="2489200" y="3263900"/>
            <a:ext cx="681038" cy="0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9821" name="Line 13"/>
          <p:cNvSpPr>
            <a:spLocks noChangeShapeType="1"/>
          </p:cNvSpPr>
          <p:nvPr/>
        </p:nvSpPr>
        <p:spPr bwMode="auto">
          <a:xfrm>
            <a:off x="2489200" y="3636963"/>
            <a:ext cx="681038" cy="0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9822" name="Line 14"/>
          <p:cNvSpPr>
            <a:spLocks noChangeShapeType="1"/>
          </p:cNvSpPr>
          <p:nvPr/>
        </p:nvSpPr>
        <p:spPr bwMode="auto">
          <a:xfrm>
            <a:off x="2489200" y="4013200"/>
            <a:ext cx="681038" cy="0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9823" name="Line 15"/>
          <p:cNvSpPr>
            <a:spLocks noChangeShapeType="1"/>
          </p:cNvSpPr>
          <p:nvPr/>
        </p:nvSpPr>
        <p:spPr bwMode="auto">
          <a:xfrm>
            <a:off x="2443163" y="4386263"/>
            <a:ext cx="681037" cy="0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9824" name="Line 16"/>
          <p:cNvSpPr>
            <a:spLocks noChangeShapeType="1"/>
          </p:cNvSpPr>
          <p:nvPr/>
        </p:nvSpPr>
        <p:spPr bwMode="auto">
          <a:xfrm>
            <a:off x="2443163" y="4725988"/>
            <a:ext cx="681037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9825" name="Line 17"/>
          <p:cNvSpPr>
            <a:spLocks noChangeShapeType="1"/>
          </p:cNvSpPr>
          <p:nvPr/>
        </p:nvSpPr>
        <p:spPr bwMode="auto">
          <a:xfrm>
            <a:off x="2443163" y="5100638"/>
            <a:ext cx="681037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9837" name="Line 29"/>
          <p:cNvSpPr>
            <a:spLocks noChangeShapeType="1"/>
          </p:cNvSpPr>
          <p:nvPr/>
        </p:nvSpPr>
        <p:spPr bwMode="auto">
          <a:xfrm>
            <a:off x="5027613" y="5440363"/>
            <a:ext cx="681037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9827" name="Line 19"/>
          <p:cNvSpPr>
            <a:spLocks noChangeShapeType="1"/>
          </p:cNvSpPr>
          <p:nvPr/>
        </p:nvSpPr>
        <p:spPr bwMode="auto">
          <a:xfrm>
            <a:off x="5073650" y="1766888"/>
            <a:ext cx="681038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9828" name="Line 20"/>
          <p:cNvSpPr>
            <a:spLocks noChangeShapeType="1"/>
          </p:cNvSpPr>
          <p:nvPr/>
        </p:nvSpPr>
        <p:spPr bwMode="auto">
          <a:xfrm>
            <a:off x="5027613" y="2174875"/>
            <a:ext cx="681037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9829" name="Line 21"/>
          <p:cNvSpPr>
            <a:spLocks noChangeShapeType="1"/>
          </p:cNvSpPr>
          <p:nvPr/>
        </p:nvSpPr>
        <p:spPr bwMode="auto">
          <a:xfrm>
            <a:off x="5027613" y="2516188"/>
            <a:ext cx="681037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9830" name="Line 22"/>
          <p:cNvSpPr>
            <a:spLocks noChangeShapeType="1"/>
          </p:cNvSpPr>
          <p:nvPr/>
        </p:nvSpPr>
        <p:spPr bwMode="auto">
          <a:xfrm>
            <a:off x="5027613" y="2924175"/>
            <a:ext cx="681037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9831" name="Line 23"/>
          <p:cNvSpPr>
            <a:spLocks noChangeShapeType="1"/>
          </p:cNvSpPr>
          <p:nvPr/>
        </p:nvSpPr>
        <p:spPr bwMode="auto">
          <a:xfrm>
            <a:off x="5073650" y="3297238"/>
            <a:ext cx="681038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9832" name="Line 24"/>
          <p:cNvSpPr>
            <a:spLocks noChangeShapeType="1"/>
          </p:cNvSpPr>
          <p:nvPr/>
        </p:nvSpPr>
        <p:spPr bwMode="auto">
          <a:xfrm>
            <a:off x="5027613" y="3671888"/>
            <a:ext cx="681037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9833" name="Line 25"/>
          <p:cNvSpPr>
            <a:spLocks noChangeShapeType="1"/>
          </p:cNvSpPr>
          <p:nvPr/>
        </p:nvSpPr>
        <p:spPr bwMode="auto">
          <a:xfrm>
            <a:off x="5027613" y="4013200"/>
            <a:ext cx="681037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9834" name="Line 26"/>
          <p:cNvSpPr>
            <a:spLocks noChangeShapeType="1"/>
          </p:cNvSpPr>
          <p:nvPr/>
        </p:nvSpPr>
        <p:spPr bwMode="auto">
          <a:xfrm>
            <a:off x="5073650" y="4386263"/>
            <a:ext cx="681038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9835" name="Line 27"/>
          <p:cNvSpPr>
            <a:spLocks noChangeShapeType="1"/>
          </p:cNvSpPr>
          <p:nvPr/>
        </p:nvSpPr>
        <p:spPr bwMode="auto">
          <a:xfrm>
            <a:off x="5027613" y="4725988"/>
            <a:ext cx="681037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9836" name="Line 28"/>
          <p:cNvSpPr>
            <a:spLocks noChangeShapeType="1"/>
          </p:cNvSpPr>
          <p:nvPr/>
        </p:nvSpPr>
        <p:spPr bwMode="auto">
          <a:xfrm>
            <a:off x="5027613" y="5100638"/>
            <a:ext cx="681037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9838" name="Line 30"/>
          <p:cNvSpPr>
            <a:spLocks noChangeShapeType="1"/>
          </p:cNvSpPr>
          <p:nvPr/>
        </p:nvSpPr>
        <p:spPr bwMode="auto">
          <a:xfrm>
            <a:off x="7658100" y="1836738"/>
            <a:ext cx="681038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9839" name="Line 31"/>
          <p:cNvSpPr>
            <a:spLocks noChangeShapeType="1"/>
          </p:cNvSpPr>
          <p:nvPr/>
        </p:nvSpPr>
        <p:spPr bwMode="auto">
          <a:xfrm>
            <a:off x="7612063" y="2209800"/>
            <a:ext cx="681037" cy="0"/>
          </a:xfrm>
          <a:prstGeom prst="line">
            <a:avLst/>
          </a:prstGeom>
          <a:noFill/>
          <a:ln w="25400">
            <a:solidFill>
              <a:srgbClr val="339966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9840" name="Line 32"/>
          <p:cNvSpPr>
            <a:spLocks noChangeShapeType="1"/>
          </p:cNvSpPr>
          <p:nvPr/>
        </p:nvSpPr>
        <p:spPr bwMode="auto">
          <a:xfrm>
            <a:off x="7612063" y="2549525"/>
            <a:ext cx="681037" cy="0"/>
          </a:xfrm>
          <a:prstGeom prst="line">
            <a:avLst/>
          </a:prstGeom>
          <a:noFill/>
          <a:ln w="25400">
            <a:solidFill>
              <a:srgbClr val="339966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9841" name="Line 33"/>
          <p:cNvSpPr>
            <a:spLocks noChangeShapeType="1"/>
          </p:cNvSpPr>
          <p:nvPr/>
        </p:nvSpPr>
        <p:spPr bwMode="auto">
          <a:xfrm>
            <a:off x="7612063" y="2924175"/>
            <a:ext cx="681037" cy="0"/>
          </a:xfrm>
          <a:prstGeom prst="line">
            <a:avLst/>
          </a:prstGeom>
          <a:noFill/>
          <a:ln w="25400">
            <a:solidFill>
              <a:srgbClr val="339966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9842" name="Line 34"/>
          <p:cNvSpPr>
            <a:spLocks noChangeShapeType="1"/>
          </p:cNvSpPr>
          <p:nvPr/>
        </p:nvSpPr>
        <p:spPr bwMode="auto">
          <a:xfrm>
            <a:off x="7612063" y="3297238"/>
            <a:ext cx="681037" cy="0"/>
          </a:xfrm>
          <a:prstGeom prst="line">
            <a:avLst/>
          </a:prstGeom>
          <a:noFill/>
          <a:ln w="25400">
            <a:solidFill>
              <a:srgbClr val="339966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9843" name="Line 35"/>
          <p:cNvSpPr>
            <a:spLocks noChangeShapeType="1"/>
          </p:cNvSpPr>
          <p:nvPr/>
        </p:nvSpPr>
        <p:spPr bwMode="auto">
          <a:xfrm>
            <a:off x="7569200" y="3671888"/>
            <a:ext cx="679450" cy="0"/>
          </a:xfrm>
          <a:prstGeom prst="line">
            <a:avLst/>
          </a:prstGeom>
          <a:noFill/>
          <a:ln w="25400">
            <a:solidFill>
              <a:srgbClr val="339966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9844" name="Line 36"/>
          <p:cNvSpPr>
            <a:spLocks noChangeShapeType="1"/>
          </p:cNvSpPr>
          <p:nvPr/>
        </p:nvSpPr>
        <p:spPr bwMode="auto">
          <a:xfrm>
            <a:off x="7569200" y="4013200"/>
            <a:ext cx="679450" cy="0"/>
          </a:xfrm>
          <a:prstGeom prst="line">
            <a:avLst/>
          </a:prstGeom>
          <a:noFill/>
          <a:ln w="25400">
            <a:solidFill>
              <a:srgbClr val="339966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9845" name="Line 37"/>
          <p:cNvSpPr>
            <a:spLocks noChangeShapeType="1"/>
          </p:cNvSpPr>
          <p:nvPr/>
        </p:nvSpPr>
        <p:spPr bwMode="auto">
          <a:xfrm>
            <a:off x="7569200" y="4386263"/>
            <a:ext cx="679450" cy="0"/>
          </a:xfrm>
          <a:prstGeom prst="line">
            <a:avLst/>
          </a:prstGeom>
          <a:noFill/>
          <a:ln w="25400">
            <a:solidFill>
              <a:srgbClr val="339966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9846" name="Line 38"/>
          <p:cNvSpPr>
            <a:spLocks noChangeShapeType="1"/>
          </p:cNvSpPr>
          <p:nvPr/>
        </p:nvSpPr>
        <p:spPr bwMode="auto">
          <a:xfrm>
            <a:off x="7658100" y="4725988"/>
            <a:ext cx="681038" cy="0"/>
          </a:xfrm>
          <a:prstGeom prst="line">
            <a:avLst/>
          </a:prstGeom>
          <a:noFill/>
          <a:ln w="25400">
            <a:solidFill>
              <a:srgbClr val="339966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9847" name="Line 39"/>
          <p:cNvSpPr>
            <a:spLocks noChangeShapeType="1"/>
          </p:cNvSpPr>
          <p:nvPr/>
        </p:nvSpPr>
        <p:spPr bwMode="auto">
          <a:xfrm>
            <a:off x="7569200" y="5100638"/>
            <a:ext cx="679450" cy="0"/>
          </a:xfrm>
          <a:prstGeom prst="line">
            <a:avLst/>
          </a:prstGeom>
          <a:noFill/>
          <a:ln w="25400">
            <a:solidFill>
              <a:srgbClr val="339966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9848" name="Rectangle 40"/>
          <p:cNvSpPr>
            <a:spLocks noChangeArrowheads="1"/>
          </p:cNvSpPr>
          <p:nvPr/>
        </p:nvSpPr>
        <p:spPr bwMode="auto">
          <a:xfrm>
            <a:off x="8928100" y="1428750"/>
            <a:ext cx="2209800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</a:rPr>
              <a:t>①</a:t>
            </a:r>
            <a:r>
              <a:rPr lang="zh-CN" altLang="en-US" sz="2500" b="1" dirty="0">
                <a:solidFill>
                  <a:srgbClr val="0000FF"/>
                </a:solidFill>
                <a:ea typeface="楷体_GB2312" pitchFamily="49" charset="-122"/>
              </a:rPr>
              <a:t>碱金属</a:t>
            </a:r>
            <a:r>
              <a:rPr lang="zh-CN" altLang="en-US" sz="2500" b="1" dirty="0" smtClean="0">
                <a:solidFill>
                  <a:srgbClr val="0000FF"/>
                </a:solidFill>
                <a:ea typeface="楷体_GB2312" pitchFamily="49" charset="-122"/>
              </a:rPr>
              <a:t>离子不稳定</a:t>
            </a:r>
            <a:r>
              <a:rPr lang="en-US" altLang="zh-CN" sz="2500" b="1" dirty="0" smtClean="0">
                <a:solidFill>
                  <a:srgbClr val="0000FF"/>
                </a:solidFill>
                <a:ea typeface="楷体_GB2312" pitchFamily="49" charset="-122"/>
              </a:rPr>
              <a:t>;</a:t>
            </a:r>
            <a:endParaRPr lang="en-US" altLang="zh-CN" sz="2500" b="1" dirty="0">
              <a:solidFill>
                <a:srgbClr val="0000FF"/>
              </a:solidFill>
              <a:ea typeface="楷体_GB2312" pitchFamily="49" charset="-122"/>
            </a:endParaRPr>
          </a:p>
        </p:txBody>
      </p:sp>
      <p:sp>
        <p:nvSpPr>
          <p:cNvPr id="119849" name="Rectangle 41"/>
          <p:cNvSpPr>
            <a:spLocks noChangeArrowheads="1"/>
          </p:cNvSpPr>
          <p:nvPr/>
        </p:nvSpPr>
        <p:spPr bwMode="auto">
          <a:xfrm>
            <a:off x="8928100" y="2244725"/>
            <a:ext cx="2251075" cy="86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</a:rPr>
              <a:t>②</a:t>
            </a:r>
            <a:r>
              <a:rPr lang="zh-CN" altLang="en-US" sz="2500" b="1" dirty="0">
                <a:solidFill>
                  <a:srgbClr val="0000FF"/>
                </a:solidFill>
                <a:ea typeface="楷体_GB2312" pitchFamily="49" charset="-122"/>
              </a:rPr>
              <a:t>碱土金属离子</a:t>
            </a:r>
            <a:r>
              <a:rPr lang="en-US" altLang="zh-CN" sz="2500" b="1" dirty="0" smtClean="0">
                <a:solidFill>
                  <a:srgbClr val="0000FF"/>
                </a:solidFill>
                <a:ea typeface="楷体_GB2312" pitchFamily="49" charset="-122"/>
              </a:rPr>
              <a:t>; </a:t>
            </a:r>
            <a:r>
              <a:rPr lang="zh-CN" altLang="en-US" sz="2500" b="1" dirty="0" smtClean="0">
                <a:solidFill>
                  <a:srgbClr val="0000FF"/>
                </a:solidFill>
                <a:ea typeface="楷体_GB2312" pitchFamily="49" charset="-122"/>
              </a:rPr>
              <a:t>适中</a:t>
            </a:r>
            <a:endParaRPr lang="en-US" altLang="zh-CN" sz="2500" b="1" dirty="0">
              <a:solidFill>
                <a:srgbClr val="0000FF"/>
              </a:solidFill>
              <a:ea typeface="楷体_GB2312" pitchFamily="49" charset="-122"/>
            </a:endParaRPr>
          </a:p>
        </p:txBody>
      </p:sp>
      <p:sp>
        <p:nvSpPr>
          <p:cNvPr id="119850" name="Rectangle 42"/>
          <p:cNvSpPr>
            <a:spLocks noChangeArrowheads="1"/>
          </p:cNvSpPr>
          <p:nvPr/>
        </p:nvSpPr>
        <p:spPr bwMode="auto">
          <a:xfrm>
            <a:off x="8928100" y="3060700"/>
            <a:ext cx="2305050" cy="1246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</a:rPr>
              <a:t>③</a:t>
            </a:r>
            <a:r>
              <a:rPr lang="zh-CN" altLang="en-US" sz="2500" b="1" dirty="0">
                <a:solidFill>
                  <a:srgbClr val="0000FF"/>
                </a:solidFill>
                <a:ea typeface="楷体_GB2312" pitchFamily="49" charset="-122"/>
              </a:rPr>
              <a:t>过渡金属、稀土金属离子和</a:t>
            </a:r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</a:rPr>
              <a:t>Al</a:t>
            </a:r>
            <a:r>
              <a:rPr lang="en-US" altLang="zh-CN" sz="2500" b="1" baseline="30000" dirty="0">
                <a:solidFill>
                  <a:srgbClr val="0000FF"/>
                </a:solidFill>
                <a:ea typeface="楷体_GB2312" pitchFamily="49" charset="-122"/>
              </a:rPr>
              <a:t>3</a:t>
            </a:r>
            <a:r>
              <a:rPr lang="en-US" altLang="zh-CN" sz="2500" b="1" baseline="30000" dirty="0" smtClean="0">
                <a:solidFill>
                  <a:srgbClr val="0000FF"/>
                </a:solidFill>
                <a:ea typeface="楷体_GB2312" pitchFamily="49" charset="-122"/>
              </a:rPr>
              <a:t>+</a:t>
            </a:r>
            <a:r>
              <a:rPr lang="zh-CN" altLang="en-US" sz="2500" b="1" dirty="0" smtClean="0">
                <a:solidFill>
                  <a:srgbClr val="0000FF"/>
                </a:solidFill>
                <a:ea typeface="楷体_GB2312" pitchFamily="49" charset="-122"/>
              </a:rPr>
              <a:t>较强</a:t>
            </a:r>
            <a:r>
              <a:rPr lang="en-US" altLang="zh-CN" sz="2500" b="1" dirty="0" smtClean="0">
                <a:solidFill>
                  <a:srgbClr val="0000FF"/>
                </a:solidFill>
                <a:ea typeface="楷体_GB2312" pitchFamily="49" charset="-122"/>
              </a:rPr>
              <a:t>;</a:t>
            </a:r>
            <a:endParaRPr lang="en-US" altLang="zh-CN" sz="2500" b="1" baseline="30000" dirty="0">
              <a:solidFill>
                <a:srgbClr val="0000FF"/>
              </a:solidFill>
              <a:ea typeface="楷体_GB2312" pitchFamily="49" charset="-122"/>
            </a:endParaRPr>
          </a:p>
        </p:txBody>
      </p:sp>
      <p:sp>
        <p:nvSpPr>
          <p:cNvPr id="119851" name="Rectangle 43"/>
          <p:cNvSpPr>
            <a:spLocks noChangeArrowheads="1"/>
          </p:cNvSpPr>
          <p:nvPr/>
        </p:nvSpPr>
        <p:spPr bwMode="auto">
          <a:xfrm>
            <a:off x="8928100" y="4284663"/>
            <a:ext cx="2225675" cy="1246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</a:rPr>
              <a:t>④</a:t>
            </a:r>
            <a:r>
              <a:rPr lang="zh-CN" altLang="en-US" sz="2500" b="1" dirty="0">
                <a:solidFill>
                  <a:srgbClr val="0000FF"/>
                </a:solidFill>
                <a:ea typeface="楷体_GB2312" pitchFamily="49" charset="-122"/>
              </a:rPr>
              <a:t>三价、四价金属离子及</a:t>
            </a:r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</a:rPr>
              <a:t>Hg</a:t>
            </a:r>
            <a:r>
              <a:rPr lang="en-US" altLang="zh-CN" sz="2500" b="1" baseline="30000" dirty="0">
                <a:solidFill>
                  <a:srgbClr val="0000FF"/>
                </a:solidFill>
                <a:ea typeface="楷体_GB2312" pitchFamily="49" charset="-122"/>
              </a:rPr>
              <a:t>2</a:t>
            </a:r>
            <a:r>
              <a:rPr lang="en-US" altLang="zh-CN" sz="2500" b="1" baseline="30000" dirty="0" smtClean="0">
                <a:solidFill>
                  <a:srgbClr val="0000FF"/>
                </a:solidFill>
                <a:ea typeface="楷体_GB2312" pitchFamily="49" charset="-122"/>
              </a:rPr>
              <a:t>+</a:t>
            </a:r>
            <a:r>
              <a:rPr lang="en-US" altLang="zh-CN" sz="2500" b="1" dirty="0" smtClean="0">
                <a:solidFill>
                  <a:srgbClr val="0000FF"/>
                </a:solidFill>
                <a:ea typeface="楷体_GB2312" pitchFamily="49" charset="-122"/>
              </a:rPr>
              <a:t>. </a:t>
            </a:r>
            <a:r>
              <a:rPr lang="zh-CN" altLang="en-US" sz="2500" b="1" dirty="0" smtClean="0">
                <a:solidFill>
                  <a:srgbClr val="0000FF"/>
                </a:solidFill>
                <a:ea typeface="楷体_GB2312" pitchFamily="49" charset="-122"/>
              </a:rPr>
              <a:t>最强</a:t>
            </a:r>
            <a:endParaRPr lang="en-US" altLang="zh-CN" sz="2500" b="1" baseline="30000" dirty="0">
              <a:solidFill>
                <a:srgbClr val="0000FF"/>
              </a:solidFill>
              <a:ea typeface="楷体_GB2312" pitchFamily="49" charset="-122"/>
            </a:endParaRPr>
          </a:p>
        </p:txBody>
      </p:sp>
      <p:sp>
        <p:nvSpPr>
          <p:cNvPr id="2088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9" name="Oval 26" descr="图片8">
            <a:hlinkClick r:id="rId9" action="ppaction://hlinksldjump"/>
          </p:cNvPr>
          <p:cNvSpPr>
            <a:spLocks noChangeAspect="1" noChangeArrowheads="1"/>
          </p:cNvSpPr>
          <p:nvPr/>
        </p:nvSpPr>
        <p:spPr bwMode="gray">
          <a:xfrm>
            <a:off x="0" y="5580000"/>
            <a:ext cx="360363" cy="360362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198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9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9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19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198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19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198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19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19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119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1198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119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1198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119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"/>
                            </p:stCondLst>
                            <p:childTnLst>
                              <p:par>
                                <p:cTn id="6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119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119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500"/>
                            </p:stCondLst>
                            <p:childTnLst>
                              <p:par>
                                <p:cTn id="7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5" dur="500"/>
                                        <p:tgtEl>
                                          <p:spTgt spid="119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000"/>
                            </p:stCondLst>
                            <p:childTnLst>
                              <p:par>
                                <p:cTn id="7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9" dur="500"/>
                                        <p:tgtEl>
                                          <p:spTgt spid="119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500"/>
                            </p:stCondLst>
                            <p:childTnLst>
                              <p:par>
                                <p:cTn id="8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3" dur="500"/>
                                        <p:tgtEl>
                                          <p:spTgt spid="119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4000"/>
                            </p:stCondLst>
                            <p:childTnLst>
                              <p:par>
                                <p:cTn id="8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119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4500"/>
                            </p:stCondLst>
                            <p:childTnLst>
                              <p:par>
                                <p:cTn id="8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1" dur="500"/>
                                        <p:tgtEl>
                                          <p:spTgt spid="119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0"/>
                            </p:stCondLst>
                            <p:childTnLst>
                              <p:par>
                                <p:cTn id="9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5" dur="500"/>
                                        <p:tgtEl>
                                          <p:spTgt spid="119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500"/>
                            </p:stCondLst>
                            <p:childTnLst>
                              <p:par>
                                <p:cTn id="9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9" dur="500"/>
                                        <p:tgtEl>
                                          <p:spTgt spid="119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6000"/>
                            </p:stCondLst>
                            <p:childTnLst>
                              <p:par>
                                <p:cTn id="10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3" dur="500"/>
                                        <p:tgtEl>
                                          <p:spTgt spid="119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6500"/>
                            </p:stCondLst>
                            <p:childTnLst>
                              <p:par>
                                <p:cTn id="10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7" dur="500"/>
                                        <p:tgtEl>
                                          <p:spTgt spid="119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7000"/>
                            </p:stCondLst>
                            <p:childTnLst>
                              <p:par>
                                <p:cTn id="10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1" dur="500"/>
                                        <p:tgtEl>
                                          <p:spTgt spid="119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7500"/>
                            </p:stCondLst>
                            <p:childTnLst>
                              <p:par>
                                <p:cTn id="1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5" dur="500"/>
                                        <p:tgtEl>
                                          <p:spTgt spid="1198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0" dur="500"/>
                                        <p:tgtEl>
                                          <p:spTgt spid="119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00"/>
                            </p:stCondLst>
                            <p:childTnLst>
                              <p:par>
                                <p:cTn id="12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4" dur="500"/>
                                        <p:tgtEl>
                                          <p:spTgt spid="1198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000"/>
                            </p:stCondLst>
                            <p:childTnLst>
                              <p:par>
                                <p:cTn id="12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8" dur="500"/>
                                        <p:tgtEl>
                                          <p:spTgt spid="119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500"/>
                            </p:stCondLst>
                            <p:childTnLst>
                              <p:par>
                                <p:cTn id="13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2" dur="500"/>
                                        <p:tgtEl>
                                          <p:spTgt spid="119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2000"/>
                            </p:stCondLst>
                            <p:childTnLst>
                              <p:par>
                                <p:cTn id="13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6" dur="500"/>
                                        <p:tgtEl>
                                          <p:spTgt spid="119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2500"/>
                            </p:stCondLst>
                            <p:childTnLst>
                              <p:par>
                                <p:cTn id="13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0" dur="500"/>
                                        <p:tgtEl>
                                          <p:spTgt spid="119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3000"/>
                            </p:stCondLst>
                            <p:childTnLst>
                              <p:par>
                                <p:cTn id="14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4" dur="500"/>
                                        <p:tgtEl>
                                          <p:spTgt spid="119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3500"/>
                            </p:stCondLst>
                            <p:childTnLst>
                              <p:par>
                                <p:cTn id="14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8" dur="500"/>
                                        <p:tgtEl>
                                          <p:spTgt spid="119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4000"/>
                            </p:stCondLst>
                            <p:childTnLst>
                              <p:par>
                                <p:cTn id="15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2" dur="500"/>
                                        <p:tgtEl>
                                          <p:spTgt spid="119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4500"/>
                            </p:stCondLst>
                            <p:childTnLst>
                              <p:par>
                                <p:cTn id="15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6" dur="500"/>
                                        <p:tgtEl>
                                          <p:spTgt spid="1198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8" grpId="0" autoUpdateAnimBg="0"/>
      <p:bldP spid="119826" grpId="0" animBg="1"/>
      <p:bldP spid="119816" grpId="0" animBg="1"/>
      <p:bldP spid="119817" grpId="0" animBg="1"/>
      <p:bldP spid="119819" grpId="0" animBg="1"/>
      <p:bldP spid="119820" grpId="0" animBg="1"/>
      <p:bldP spid="119821" grpId="0" animBg="1"/>
      <p:bldP spid="119822" grpId="0" animBg="1"/>
      <p:bldP spid="119823" grpId="0" animBg="1"/>
      <p:bldP spid="119824" grpId="0" animBg="1"/>
      <p:bldP spid="119825" grpId="0" animBg="1"/>
      <p:bldP spid="119837" grpId="0" animBg="1"/>
      <p:bldP spid="119827" grpId="0" animBg="1"/>
      <p:bldP spid="119828" grpId="0" animBg="1"/>
      <p:bldP spid="119829" grpId="0" animBg="1"/>
      <p:bldP spid="119830" grpId="0" animBg="1"/>
      <p:bldP spid="119831" grpId="0" animBg="1"/>
      <p:bldP spid="119832" grpId="0" animBg="1"/>
      <p:bldP spid="119833" grpId="0" animBg="1"/>
      <p:bldP spid="119834" grpId="0" animBg="1"/>
      <p:bldP spid="119835" grpId="0" animBg="1"/>
      <p:bldP spid="119836" grpId="0" animBg="1"/>
      <p:bldP spid="119838" grpId="0" animBg="1"/>
      <p:bldP spid="119839" grpId="0" animBg="1"/>
      <p:bldP spid="119840" grpId="0" animBg="1"/>
      <p:bldP spid="119841" grpId="0" animBg="1"/>
      <p:bldP spid="119842" grpId="0" animBg="1"/>
      <p:bldP spid="119843" grpId="0" animBg="1"/>
      <p:bldP spid="119844" grpId="0" animBg="1"/>
      <p:bldP spid="119845" grpId="0" animBg="1"/>
      <p:bldP spid="119846" grpId="0" animBg="1"/>
      <p:bldP spid="119847" grpId="0" animBg="1"/>
      <p:bldP spid="119848" grpId="0" autoUpdateAnimBg="0"/>
      <p:bldP spid="119849" grpId="0" autoUpdateAnimBg="0"/>
      <p:bldP spid="119850" grpId="0" autoUpdateAnimBg="0"/>
      <p:bldP spid="119851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1" name="Text Box 11"/>
          <p:cNvSpPr txBox="1">
            <a:spLocks noChangeArrowheads="1"/>
          </p:cNvSpPr>
          <p:nvPr/>
        </p:nvSpPr>
        <p:spPr bwMode="auto">
          <a:xfrm>
            <a:off x="7832725" y="1739900"/>
            <a:ext cx="1671638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主反应</a:t>
            </a:r>
          </a:p>
        </p:txBody>
      </p:sp>
      <p:sp>
        <p:nvSpPr>
          <p:cNvPr id="5157" name="Rectangle 37"/>
          <p:cNvSpPr>
            <a:spLocks noChangeArrowheads="1"/>
          </p:cNvSpPr>
          <p:nvPr/>
        </p:nvSpPr>
        <p:spPr bwMode="auto">
          <a:xfrm>
            <a:off x="906463" y="3773488"/>
            <a:ext cx="7702750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</a:rPr>
              <a:t>主要外部因素（</a:t>
            </a:r>
            <a:r>
              <a:rPr lang="zh-CN" altLang="en-US" sz="2500" b="1" dirty="0" smtClean="0">
                <a:ea typeface="楷体_GB2312" pitchFamily="49" charset="-122"/>
              </a:rPr>
              <a:t>考虑</a:t>
            </a:r>
            <a:r>
              <a:rPr lang="zh-CN" altLang="en-US" sz="2500" b="1" dirty="0">
                <a:ea typeface="楷体_GB2312" pitchFamily="49" charset="-122"/>
              </a:rPr>
              <a:t>金属</a:t>
            </a:r>
            <a:r>
              <a:rPr lang="zh-CN" altLang="en-US" sz="2500" b="1" dirty="0" smtClean="0">
                <a:ea typeface="楷体_GB2312" pitchFamily="49" charset="-122"/>
              </a:rPr>
              <a:t>离子与配体各自的副反应）</a:t>
            </a:r>
            <a:r>
              <a:rPr lang="en-US" altLang="zh-CN" sz="2500" b="1" dirty="0" smtClean="0">
                <a:ea typeface="楷体_GB2312" pitchFamily="49" charset="-122"/>
              </a:rPr>
              <a:t>: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5158" name="Rectangle 38"/>
          <p:cNvSpPr>
            <a:spLocks noChangeArrowheads="1"/>
          </p:cNvSpPr>
          <p:nvPr/>
        </p:nvSpPr>
        <p:spPr bwMode="auto">
          <a:xfrm>
            <a:off x="1360488" y="4216400"/>
            <a:ext cx="2224087" cy="1246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500" b="1" dirty="0">
                <a:ea typeface="楷体_GB2312"/>
                <a:sym typeface="Monotype Sorts"/>
              </a:rPr>
              <a:t>①</a:t>
            </a:r>
            <a:r>
              <a:rPr lang="zh-CN" altLang="en-US" sz="25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酸度</a:t>
            </a:r>
            <a:r>
              <a:rPr lang="en-US" altLang="zh-CN" sz="2500" b="1" dirty="0">
                <a:ea typeface="楷体_GB2312"/>
              </a:rPr>
              <a:t>;</a:t>
            </a:r>
          </a:p>
          <a:p>
            <a:pPr>
              <a:defRPr/>
            </a:pPr>
            <a:r>
              <a:rPr lang="en-US" altLang="zh-CN" sz="2500" b="1" dirty="0">
                <a:ea typeface="楷体_GB2312"/>
                <a:sym typeface="Monotype Sorts"/>
              </a:rPr>
              <a:t>②</a:t>
            </a:r>
            <a:r>
              <a:rPr lang="zh-CN" altLang="en-US" sz="25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其它配位剂</a:t>
            </a:r>
            <a:r>
              <a:rPr lang="en-US" altLang="zh-CN" sz="2500" b="1" dirty="0">
                <a:ea typeface="楷体_GB2312"/>
              </a:rPr>
              <a:t>;</a:t>
            </a:r>
          </a:p>
          <a:p>
            <a:pPr>
              <a:defRPr/>
            </a:pPr>
            <a:r>
              <a:rPr lang="en-US" altLang="zh-CN" sz="2500" b="1" dirty="0">
                <a:ea typeface="楷体_GB2312"/>
                <a:sym typeface="Monotype Sorts"/>
              </a:rPr>
              <a:t>③</a:t>
            </a:r>
            <a:r>
              <a:rPr lang="zh-CN" altLang="en-US" sz="2500" b="1" dirty="0">
                <a:ea typeface="楷体_GB2312"/>
              </a:rPr>
              <a:t>共存离子</a:t>
            </a:r>
            <a:r>
              <a:rPr lang="en-US" altLang="zh-CN" sz="2500" b="1" dirty="0">
                <a:ea typeface="楷体_GB2312"/>
              </a:rPr>
              <a:t>.</a:t>
            </a:r>
          </a:p>
        </p:txBody>
      </p:sp>
      <p:sp>
        <p:nvSpPr>
          <p:cNvPr id="13317" name="AutoShape 40"/>
          <p:cNvSpPr>
            <a:spLocks/>
          </p:cNvSpPr>
          <p:nvPr/>
        </p:nvSpPr>
        <p:spPr bwMode="auto">
          <a:xfrm>
            <a:off x="3455988" y="4319588"/>
            <a:ext cx="519112" cy="555625"/>
          </a:xfrm>
          <a:prstGeom prst="leftBrace">
            <a:avLst>
              <a:gd name="adj1" fmla="val 124962"/>
              <a:gd name="adj2" fmla="val 50000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 sz="2500" b="1">
              <a:ea typeface="楷体_GB2312" pitchFamily="49" charset="-122"/>
            </a:endParaRPr>
          </a:p>
        </p:txBody>
      </p:sp>
      <p:sp>
        <p:nvSpPr>
          <p:cNvPr id="13318" name="AutoShape 41"/>
          <p:cNvSpPr>
            <a:spLocks/>
          </p:cNvSpPr>
          <p:nvPr/>
        </p:nvSpPr>
        <p:spPr bwMode="auto">
          <a:xfrm>
            <a:off x="3455988" y="4319588"/>
            <a:ext cx="519112" cy="555625"/>
          </a:xfrm>
          <a:prstGeom prst="leftBrace">
            <a:avLst>
              <a:gd name="adj1" fmla="val 124962"/>
              <a:gd name="adj2" fmla="val 50000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 sz="2500" b="1">
              <a:ea typeface="楷体_GB2312" pitchFamily="49" charset="-122"/>
            </a:endParaRPr>
          </a:p>
        </p:txBody>
      </p:sp>
      <p:sp>
        <p:nvSpPr>
          <p:cNvPr id="5129" name="Text Box 9"/>
          <p:cNvSpPr txBox="1">
            <a:spLocks noChangeArrowheads="1"/>
          </p:cNvSpPr>
          <p:nvPr/>
        </p:nvSpPr>
        <p:spPr bwMode="auto">
          <a:xfrm>
            <a:off x="1722438" y="1460500"/>
            <a:ext cx="9217025" cy="86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</a:rPr>
              <a:t>如在</a:t>
            </a:r>
            <a:r>
              <a:rPr lang="en-US" altLang="zh-CN" sz="2500" b="1" dirty="0">
                <a:ea typeface="楷体_GB2312" pitchFamily="49" charset="-122"/>
              </a:rPr>
              <a:t>EDTA</a:t>
            </a:r>
            <a:r>
              <a:rPr lang="zh-CN" altLang="en-US" sz="2500" b="1" dirty="0">
                <a:ea typeface="楷体_GB2312" pitchFamily="49" charset="-122"/>
              </a:rPr>
              <a:t>与金属离子的形成反应中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</a:p>
          <a:p>
            <a:r>
              <a:rPr lang="en-US" altLang="zh-CN" sz="2500" b="1" dirty="0">
                <a:ea typeface="楷体_GB2312" pitchFamily="49" charset="-122"/>
              </a:rPr>
              <a:t>     M        +         Y             ⇋           MY</a:t>
            </a:r>
          </a:p>
        </p:txBody>
      </p:sp>
      <p:sp>
        <p:nvSpPr>
          <p:cNvPr id="5133" name="Text Box 13"/>
          <p:cNvSpPr txBox="1">
            <a:spLocks noChangeArrowheads="1"/>
          </p:cNvSpPr>
          <p:nvPr/>
        </p:nvSpPr>
        <p:spPr bwMode="auto">
          <a:xfrm>
            <a:off x="1117567" y="2311400"/>
            <a:ext cx="1055688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500" b="1">
                <a:ea typeface="楷体_GB2312" pitchFamily="49" charset="-122"/>
              </a:rPr>
              <a:t>OH</a:t>
            </a:r>
            <a:r>
              <a:rPr lang="en-US" altLang="zh-CN" sz="2500" b="1" baseline="30000">
                <a:ea typeface="楷体_GB2312" pitchFamily="49" charset="-122"/>
              </a:rPr>
              <a:t>-</a:t>
            </a:r>
            <a:endParaRPr lang="en-US" altLang="zh-CN" sz="2500" b="1">
              <a:ea typeface="楷体_GB2312" pitchFamily="49" charset="-122"/>
            </a:endParaRPr>
          </a:p>
        </p:txBody>
      </p:sp>
      <p:sp>
        <p:nvSpPr>
          <p:cNvPr id="5134" name="Text Box 14"/>
          <p:cNvSpPr txBox="1">
            <a:spLocks noChangeArrowheads="1"/>
          </p:cNvSpPr>
          <p:nvPr/>
        </p:nvSpPr>
        <p:spPr bwMode="auto">
          <a:xfrm>
            <a:off x="617501" y="3240000"/>
            <a:ext cx="2016125" cy="322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 sz="2500" b="1">
                <a:ea typeface="楷体_GB2312" pitchFamily="49" charset="-122"/>
              </a:rPr>
              <a:t>M(OH) </a:t>
            </a:r>
            <a:r>
              <a:rPr lang="en-US" altLang="zh-CN" sz="2500" b="1">
                <a:ea typeface="仿宋_GB2312"/>
                <a:cs typeface="仿宋_GB2312"/>
              </a:rPr>
              <a:t>…</a:t>
            </a:r>
            <a:endParaRPr lang="en-US" altLang="zh-CN" sz="2500" b="1">
              <a:ea typeface="楷体_GB2312" pitchFamily="49" charset="-122"/>
            </a:endParaRPr>
          </a:p>
        </p:txBody>
      </p:sp>
      <p:sp>
        <p:nvSpPr>
          <p:cNvPr id="5135" name="Text Box 15"/>
          <p:cNvSpPr txBox="1">
            <a:spLocks noChangeArrowheads="1"/>
          </p:cNvSpPr>
          <p:nvPr/>
        </p:nvSpPr>
        <p:spPr bwMode="auto">
          <a:xfrm>
            <a:off x="3260707" y="2239955"/>
            <a:ext cx="863600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500" b="1" dirty="0">
                <a:ea typeface="楷体_GB2312" pitchFamily="49" charset="-122"/>
              </a:rPr>
              <a:t>H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5136" name="Text Box 16"/>
          <p:cNvSpPr txBox="1">
            <a:spLocks noChangeArrowheads="1"/>
          </p:cNvSpPr>
          <p:nvPr/>
        </p:nvSpPr>
        <p:spPr bwMode="auto">
          <a:xfrm>
            <a:off x="3189269" y="2882897"/>
            <a:ext cx="1439862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 sz="2500" b="1" dirty="0">
                <a:ea typeface="楷体_GB2312" pitchFamily="49" charset="-122"/>
              </a:rPr>
              <a:t>HY </a:t>
            </a:r>
            <a:r>
              <a:rPr lang="en-US" altLang="zh-CN" sz="2500" b="1" dirty="0">
                <a:ea typeface="仿宋_GB2312"/>
                <a:cs typeface="仿宋_GB2312"/>
              </a:rPr>
              <a:t>…</a:t>
            </a:r>
          </a:p>
        </p:txBody>
      </p:sp>
      <p:sp>
        <p:nvSpPr>
          <p:cNvPr id="5137" name="Text Box 17"/>
          <p:cNvSpPr txBox="1">
            <a:spLocks noChangeArrowheads="1"/>
          </p:cNvSpPr>
          <p:nvPr/>
        </p:nvSpPr>
        <p:spPr bwMode="auto">
          <a:xfrm>
            <a:off x="6769120" y="3240000"/>
            <a:ext cx="192087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500" b="1">
                <a:ea typeface="楷体_GB2312" pitchFamily="49" charset="-122"/>
              </a:rPr>
              <a:t>MOHY</a:t>
            </a:r>
          </a:p>
        </p:txBody>
      </p:sp>
      <p:sp>
        <p:nvSpPr>
          <p:cNvPr id="5138" name="Text Box 18"/>
          <p:cNvSpPr txBox="1">
            <a:spLocks noChangeArrowheads="1"/>
          </p:cNvSpPr>
          <p:nvPr/>
        </p:nvSpPr>
        <p:spPr bwMode="auto">
          <a:xfrm>
            <a:off x="5260971" y="3240000"/>
            <a:ext cx="1824038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500" b="1">
                <a:ea typeface="楷体_GB2312" pitchFamily="49" charset="-122"/>
              </a:rPr>
              <a:t>MHY</a:t>
            </a:r>
          </a:p>
        </p:txBody>
      </p:sp>
      <p:sp>
        <p:nvSpPr>
          <p:cNvPr id="5140" name="Rectangle 20"/>
          <p:cNvSpPr>
            <a:spLocks noChangeArrowheads="1"/>
          </p:cNvSpPr>
          <p:nvPr/>
        </p:nvSpPr>
        <p:spPr bwMode="auto">
          <a:xfrm rot="2700000">
            <a:off x="6847635" y="2600267"/>
            <a:ext cx="454025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⇋</a:t>
            </a:r>
          </a:p>
        </p:txBody>
      </p:sp>
      <p:sp>
        <p:nvSpPr>
          <p:cNvPr id="5141" name="Rectangle 21"/>
          <p:cNvSpPr>
            <a:spLocks noChangeArrowheads="1"/>
          </p:cNvSpPr>
          <p:nvPr/>
        </p:nvSpPr>
        <p:spPr bwMode="auto">
          <a:xfrm rot="8100000">
            <a:off x="1390761" y="2640663"/>
            <a:ext cx="747713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⇋</a:t>
            </a:r>
          </a:p>
        </p:txBody>
      </p:sp>
      <p:sp>
        <p:nvSpPr>
          <p:cNvPr id="5145" name="Rectangle 25"/>
          <p:cNvSpPr>
            <a:spLocks noChangeArrowheads="1"/>
          </p:cNvSpPr>
          <p:nvPr/>
        </p:nvSpPr>
        <p:spPr bwMode="auto">
          <a:xfrm rot="2700000">
            <a:off x="4148931" y="2401094"/>
            <a:ext cx="4540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⇋</a:t>
            </a:r>
          </a:p>
        </p:txBody>
      </p:sp>
      <p:sp>
        <p:nvSpPr>
          <p:cNvPr id="5146" name="Rectangle 26"/>
          <p:cNvSpPr>
            <a:spLocks noChangeArrowheads="1"/>
          </p:cNvSpPr>
          <p:nvPr/>
        </p:nvSpPr>
        <p:spPr bwMode="auto">
          <a:xfrm rot="2700000">
            <a:off x="2418479" y="2528829"/>
            <a:ext cx="454025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⇋</a:t>
            </a:r>
          </a:p>
        </p:txBody>
      </p:sp>
      <p:sp>
        <p:nvSpPr>
          <p:cNvPr id="5147" name="Rectangle 27"/>
          <p:cNvSpPr>
            <a:spLocks noChangeArrowheads="1"/>
          </p:cNvSpPr>
          <p:nvPr/>
        </p:nvSpPr>
        <p:spPr bwMode="auto">
          <a:xfrm rot="8100000">
            <a:off x="3391025" y="2506005"/>
            <a:ext cx="747713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⇋</a:t>
            </a:r>
          </a:p>
        </p:txBody>
      </p:sp>
      <p:sp>
        <p:nvSpPr>
          <p:cNvPr id="5149" name="Rectangle 29"/>
          <p:cNvSpPr>
            <a:spLocks noChangeArrowheads="1"/>
          </p:cNvSpPr>
          <p:nvPr/>
        </p:nvSpPr>
        <p:spPr bwMode="auto">
          <a:xfrm>
            <a:off x="7077089" y="2476497"/>
            <a:ext cx="755650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500" b="1">
                <a:ea typeface="楷体_GB2312" pitchFamily="49" charset="-122"/>
              </a:rPr>
              <a:t>OH</a:t>
            </a:r>
            <a:r>
              <a:rPr lang="en-US" altLang="zh-CN" sz="2500" b="1" baseline="30000">
                <a:ea typeface="楷体_GB2312" pitchFamily="49" charset="-122"/>
              </a:rPr>
              <a:t>-</a:t>
            </a:r>
          </a:p>
        </p:txBody>
      </p:sp>
      <p:sp>
        <p:nvSpPr>
          <p:cNvPr id="5150" name="Text Box 30"/>
          <p:cNvSpPr txBox="1">
            <a:spLocks noChangeArrowheads="1"/>
          </p:cNvSpPr>
          <p:nvPr/>
        </p:nvSpPr>
        <p:spPr bwMode="auto">
          <a:xfrm>
            <a:off x="2546350" y="3240000"/>
            <a:ext cx="1439863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 sz="2500" b="1">
                <a:ea typeface="楷体_GB2312" pitchFamily="49" charset="-122"/>
              </a:rPr>
              <a:t>ML </a:t>
            </a:r>
            <a:r>
              <a:rPr lang="en-US" altLang="zh-CN" sz="2500" b="1">
                <a:ea typeface="仿宋_GB2312"/>
                <a:cs typeface="仿宋_GB2312"/>
              </a:rPr>
              <a:t>…</a:t>
            </a:r>
          </a:p>
        </p:txBody>
      </p:sp>
      <p:sp>
        <p:nvSpPr>
          <p:cNvPr id="5151" name="Rectangle 31"/>
          <p:cNvSpPr>
            <a:spLocks noChangeArrowheads="1"/>
          </p:cNvSpPr>
          <p:nvPr/>
        </p:nvSpPr>
        <p:spPr bwMode="auto">
          <a:xfrm>
            <a:off x="4475153" y="2311393"/>
            <a:ext cx="414337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N</a:t>
            </a:r>
          </a:p>
        </p:txBody>
      </p:sp>
      <p:sp>
        <p:nvSpPr>
          <p:cNvPr id="5152" name="Rectangle 32"/>
          <p:cNvSpPr>
            <a:spLocks noChangeArrowheads="1"/>
          </p:cNvSpPr>
          <p:nvPr/>
        </p:nvSpPr>
        <p:spPr bwMode="auto">
          <a:xfrm>
            <a:off x="4400544" y="2740021"/>
            <a:ext cx="646113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NY</a:t>
            </a:r>
          </a:p>
        </p:txBody>
      </p:sp>
      <p:sp>
        <p:nvSpPr>
          <p:cNvPr id="5153" name="Rectangle 33"/>
          <p:cNvSpPr>
            <a:spLocks noChangeArrowheads="1"/>
          </p:cNvSpPr>
          <p:nvPr/>
        </p:nvSpPr>
        <p:spPr bwMode="auto">
          <a:xfrm>
            <a:off x="2689225" y="2382831"/>
            <a:ext cx="398463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L</a:t>
            </a:r>
          </a:p>
        </p:txBody>
      </p:sp>
      <p:sp>
        <p:nvSpPr>
          <p:cNvPr id="5154" name="Text Box 34"/>
          <p:cNvSpPr txBox="1">
            <a:spLocks noChangeArrowheads="1"/>
          </p:cNvSpPr>
          <p:nvPr/>
        </p:nvSpPr>
        <p:spPr bwMode="auto">
          <a:xfrm>
            <a:off x="5826131" y="2333621"/>
            <a:ext cx="863600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500" b="1">
                <a:ea typeface="楷体_GB2312" pitchFamily="49" charset="-122"/>
              </a:rPr>
              <a:t>H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  <a:endParaRPr lang="en-US" altLang="zh-CN" sz="2500" b="1">
              <a:ea typeface="楷体_GB2312" pitchFamily="49" charset="-122"/>
            </a:endParaRPr>
          </a:p>
        </p:txBody>
      </p:sp>
      <p:sp>
        <p:nvSpPr>
          <p:cNvPr id="5155" name="Text Box 35"/>
          <p:cNvSpPr txBox="1">
            <a:spLocks noChangeArrowheads="1"/>
          </p:cNvSpPr>
          <p:nvPr/>
        </p:nvSpPr>
        <p:spPr bwMode="auto">
          <a:xfrm>
            <a:off x="9045575" y="2620961"/>
            <a:ext cx="1143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副反应</a:t>
            </a:r>
            <a:endParaRPr lang="zh-CN" altLang="en-US" sz="2500" b="1">
              <a:ea typeface="楷体_GB2312" pitchFamily="49" charset="-122"/>
            </a:endParaRPr>
          </a:p>
        </p:txBody>
      </p:sp>
      <p:sp>
        <p:nvSpPr>
          <p:cNvPr id="5166" name="AutoShape 46"/>
          <p:cNvSpPr>
            <a:spLocks/>
          </p:cNvSpPr>
          <p:nvPr/>
        </p:nvSpPr>
        <p:spPr bwMode="auto">
          <a:xfrm>
            <a:off x="8688388" y="2613024"/>
            <a:ext cx="285750" cy="555625"/>
          </a:xfrm>
          <a:prstGeom prst="rightBrace">
            <a:avLst>
              <a:gd name="adj1" fmla="val 5418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 sz="2500" b="1">
              <a:ea typeface="楷体_GB2312" pitchFamily="49" charset="-122"/>
            </a:endParaRPr>
          </a:p>
        </p:txBody>
      </p:sp>
      <p:sp>
        <p:nvSpPr>
          <p:cNvPr id="5175" name="Rectangle 55"/>
          <p:cNvSpPr>
            <a:spLocks noChangeArrowheads="1"/>
          </p:cNvSpPr>
          <p:nvPr/>
        </p:nvSpPr>
        <p:spPr bwMode="auto">
          <a:xfrm rot="8100000">
            <a:off x="5748479" y="2712102"/>
            <a:ext cx="74771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⇋</a:t>
            </a:r>
          </a:p>
        </p:txBody>
      </p:sp>
      <p:sp>
        <p:nvSpPr>
          <p:cNvPr id="5176" name="Rectangle 56"/>
          <p:cNvSpPr>
            <a:spLocks noChangeArrowheads="1"/>
          </p:cNvSpPr>
          <p:nvPr/>
        </p:nvSpPr>
        <p:spPr bwMode="auto">
          <a:xfrm>
            <a:off x="760413" y="882650"/>
            <a:ext cx="3432350" cy="509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2.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外部</a:t>
            </a:r>
            <a:r>
              <a:rPr lang="zh-CN" altLang="en-US" sz="2500" b="1" dirty="0" smtClean="0">
                <a:solidFill>
                  <a:srgbClr val="FF3300"/>
                </a:solidFill>
                <a:ea typeface="楷体_GB2312" pitchFamily="49" charset="-122"/>
              </a:rPr>
              <a:t>因素（副反应）</a:t>
            </a:r>
            <a:r>
              <a:rPr lang="en-US" altLang="zh-CN" sz="2500" b="1" dirty="0" smtClean="0">
                <a:solidFill>
                  <a:srgbClr val="FF3300"/>
                </a:solidFill>
                <a:ea typeface="楷体_GB2312" pitchFamily="49" charset="-122"/>
              </a:rPr>
              <a:t>: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13341" name="Rectangle 60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  <a:noFill/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6.2.2</a:t>
            </a:r>
            <a:r>
              <a:rPr lang="zh-CN" altLang="en-US" smtClean="0">
                <a:ea typeface="黑体" pitchFamily="49" charset="-122"/>
              </a:rPr>
              <a:t>配合物的稳定性及影响配位平衡的主要因素</a:t>
            </a:r>
            <a:endParaRPr lang="zh-CN" altLang="en-US" sz="1200" b="0" smtClean="0">
              <a:solidFill>
                <a:srgbClr val="0000FF"/>
              </a:solidFill>
              <a:ea typeface="黑体" pitchFamily="49" charset="-122"/>
            </a:endParaRPr>
          </a:p>
        </p:txBody>
      </p:sp>
      <p:sp>
        <p:nvSpPr>
          <p:cNvPr id="13342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43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51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51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5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5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5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5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000"/>
                            </p:stCondLst>
                            <p:childTnLst>
                              <p:par>
                                <p:cTn id="9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5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50000"/>
                                  </p:iterate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3" dur="75"/>
                                        <p:tgtEl>
                                          <p:spTgt spid="51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star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8" dur="500"/>
                                        <p:tgtEl>
                                          <p:spTgt spid="5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3" dur="500"/>
                                        <p:tgtEl>
                                          <p:spTgt spid="51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8" dur="500"/>
                                        <p:tgtEl>
                                          <p:spTgt spid="51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1" grpId="0" autoUpdateAnimBg="0"/>
      <p:bldP spid="5157" grpId="0" autoUpdateAnimBg="0"/>
      <p:bldP spid="5158" grpId="0" build="p" autoUpdateAnimBg="0"/>
      <p:bldP spid="5129" grpId="0" autoUpdateAnimBg="0"/>
      <p:bldP spid="5133" grpId="0" autoUpdateAnimBg="0"/>
      <p:bldP spid="5134" grpId="0" autoUpdateAnimBg="0"/>
      <p:bldP spid="5135" grpId="0" autoUpdateAnimBg="0"/>
      <p:bldP spid="5136" grpId="0" autoUpdateAnimBg="0"/>
      <p:bldP spid="5137" grpId="0" autoUpdateAnimBg="0"/>
      <p:bldP spid="5138" grpId="0" autoUpdateAnimBg="0"/>
      <p:bldP spid="5140" grpId="0" autoUpdateAnimBg="0"/>
      <p:bldP spid="5141" grpId="0" autoUpdateAnimBg="0"/>
      <p:bldP spid="5145" grpId="0" autoUpdateAnimBg="0"/>
      <p:bldP spid="5146" grpId="0" autoUpdateAnimBg="0"/>
      <p:bldP spid="5147" grpId="0" autoUpdateAnimBg="0"/>
      <p:bldP spid="5149" grpId="0" autoUpdateAnimBg="0"/>
      <p:bldP spid="5150" grpId="0" autoUpdateAnimBg="0"/>
      <p:bldP spid="5151" grpId="0" autoUpdateAnimBg="0"/>
      <p:bldP spid="5152" grpId="0" autoUpdateAnimBg="0"/>
      <p:bldP spid="5153" grpId="0" autoUpdateAnimBg="0"/>
      <p:bldP spid="5154" grpId="0" autoUpdateAnimBg="0"/>
      <p:bldP spid="5155" grpId="0" autoUpdateAnimBg="0"/>
      <p:bldP spid="5166" grpId="0" animBg="1"/>
      <p:bldP spid="5175" grpId="0" autoUpdateAnimBg="0"/>
      <p:bldP spid="5176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73" name="Rectangle 9"/>
          <p:cNvSpPr>
            <a:spLocks noChangeArrowheads="1"/>
          </p:cNvSpPr>
          <p:nvPr/>
        </p:nvSpPr>
        <p:spPr bwMode="auto">
          <a:xfrm>
            <a:off x="903288" y="2097088"/>
            <a:ext cx="10328275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500" b="1" dirty="0">
                <a:ea typeface="楷体_GB2312" pitchFamily="49" charset="-122"/>
              </a:rPr>
              <a:t>酸效应系数</a:t>
            </a:r>
            <a:r>
              <a:rPr lang="en-US" altLang="zh-CN" sz="2500" b="1" dirty="0">
                <a:ea typeface="楷体_GB2312" pitchFamily="49" charset="-122"/>
              </a:rPr>
              <a:t>: </a:t>
            </a:r>
            <a:r>
              <a:rPr lang="zh-CN" altLang="en-US" sz="2500" b="1" dirty="0">
                <a:ea typeface="楷体_GB2312" pitchFamily="49" charset="-122"/>
              </a:rPr>
              <a:t>对</a:t>
            </a:r>
            <a:r>
              <a:rPr lang="en-US" altLang="zh-CN" sz="2500" b="1" dirty="0">
                <a:ea typeface="楷体_GB2312" pitchFamily="49" charset="-122"/>
              </a:rPr>
              <a:t>EDTA,</a:t>
            </a:r>
            <a:r>
              <a:rPr lang="zh-CN" altLang="en-US" sz="2500" b="1" dirty="0">
                <a:ea typeface="楷体_GB2312" pitchFamily="49" charset="-122"/>
              </a:rPr>
              <a:t>一般用</a:t>
            </a:r>
            <a:r>
              <a:rPr lang="en-US" altLang="zh-CN" sz="2500" b="1" i="1" dirty="0" err="1">
                <a:ea typeface="楷体_GB2312" pitchFamily="49" charset="-122"/>
              </a:rPr>
              <a:t>α</a:t>
            </a:r>
            <a:r>
              <a:rPr lang="en-US" altLang="zh-CN" sz="2500" b="1" baseline="-25000" dirty="0" err="1">
                <a:ea typeface="楷体_GB2312" pitchFamily="49" charset="-122"/>
              </a:rPr>
              <a:t>Y</a:t>
            </a:r>
            <a:r>
              <a:rPr lang="en-US" altLang="zh-CN" sz="2500" b="1" baseline="-25000" dirty="0">
                <a:ea typeface="楷体_GB2312" pitchFamily="49" charset="-122"/>
              </a:rPr>
              <a:t>(H)</a:t>
            </a:r>
            <a:r>
              <a:rPr lang="zh-CN" altLang="en-US" sz="2500" b="1" dirty="0">
                <a:ea typeface="楷体_GB2312" pitchFamily="49" charset="-122"/>
              </a:rPr>
              <a:t>表示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  <a:p>
            <a:pPr algn="ctr">
              <a:lnSpc>
                <a:spcPct val="120000"/>
              </a:lnSpc>
            </a:pPr>
            <a:r>
              <a:rPr lang="en-US" altLang="zh-CN" sz="2500" b="1" i="1" dirty="0" err="1">
                <a:ea typeface="楷体_GB2312" pitchFamily="49" charset="-122"/>
              </a:rPr>
              <a:t>α</a:t>
            </a:r>
            <a:r>
              <a:rPr lang="en-US" altLang="zh-CN" sz="2500" b="1" baseline="-25000" dirty="0" err="1">
                <a:ea typeface="楷体_GB2312" pitchFamily="49" charset="-122"/>
              </a:rPr>
              <a:t>Y</a:t>
            </a:r>
            <a:r>
              <a:rPr lang="en-US" altLang="zh-CN" sz="2500" b="1" baseline="-25000" dirty="0">
                <a:ea typeface="楷体_GB2312" pitchFamily="49" charset="-122"/>
              </a:rPr>
              <a:t>(H)</a:t>
            </a:r>
            <a:r>
              <a:rPr lang="en-US" altLang="zh-CN" sz="2500" b="1" dirty="0">
                <a:ea typeface="楷体_GB2312" pitchFamily="49" charset="-122"/>
              </a:rPr>
              <a:t>= [Y’]/[Y]</a:t>
            </a:r>
          </a:p>
        </p:txBody>
      </p:sp>
      <p:sp>
        <p:nvSpPr>
          <p:cNvPr id="36876" name="Rectangle 12"/>
          <p:cNvSpPr>
            <a:spLocks noChangeArrowheads="1"/>
          </p:cNvSpPr>
          <p:nvPr/>
        </p:nvSpPr>
        <p:spPr bwMode="auto">
          <a:xfrm>
            <a:off x="688975" y="954088"/>
            <a:ext cx="3613490" cy="5016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95000"/>
              </a:lnSpc>
            </a:pPr>
            <a:r>
              <a:rPr lang="en-US" altLang="zh-CN" sz="2500" b="1" dirty="0" smtClean="0">
                <a:solidFill>
                  <a:srgbClr val="FF3300"/>
                </a:solidFill>
                <a:ea typeface="楷体_GB2312" pitchFamily="49" charset="-122"/>
              </a:rPr>
              <a:t>(1)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酸</a:t>
            </a:r>
            <a:r>
              <a:rPr lang="zh-CN" altLang="en-US" sz="2500" b="1" dirty="0" smtClean="0">
                <a:solidFill>
                  <a:srgbClr val="FF3300"/>
                </a:solidFill>
                <a:ea typeface="楷体_GB2312" pitchFamily="49" charset="-122"/>
              </a:rPr>
              <a:t>效应（</a:t>
            </a:r>
            <a:r>
              <a:rPr lang="zh-CN" altLang="en-US" sz="2800" b="1" dirty="0" smtClean="0">
                <a:solidFill>
                  <a:srgbClr val="FF3300"/>
                </a:solidFill>
                <a:ea typeface="楷体_GB2312" pitchFamily="49" charset="-122"/>
              </a:rPr>
              <a:t>重点掌握</a:t>
            </a:r>
            <a:r>
              <a:rPr lang="zh-CN" altLang="en-US" sz="2500" b="1" dirty="0" smtClean="0">
                <a:solidFill>
                  <a:srgbClr val="FF3300"/>
                </a:solidFill>
                <a:ea typeface="楷体_GB2312" pitchFamily="49" charset="-122"/>
              </a:rPr>
              <a:t>）</a:t>
            </a:r>
            <a:endParaRPr lang="en-US" altLang="zh-CN" sz="2500" b="1" dirty="0">
              <a:solidFill>
                <a:srgbClr val="FF3300"/>
              </a:solidFill>
              <a:ea typeface="楷体_GB2312" pitchFamily="49" charset="-122"/>
            </a:endParaRPr>
          </a:p>
        </p:txBody>
      </p:sp>
      <p:sp>
        <p:nvSpPr>
          <p:cNvPr id="36893" name="Rectangle 29"/>
          <p:cNvSpPr>
            <a:spLocks noChangeArrowheads="1"/>
          </p:cNvSpPr>
          <p:nvPr/>
        </p:nvSpPr>
        <p:spPr bwMode="auto">
          <a:xfrm>
            <a:off x="2474913" y="1511302"/>
            <a:ext cx="102997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</a:rPr>
              <a:t>　　      </a:t>
            </a:r>
            <a:r>
              <a:rPr lang="en-US" altLang="zh-CN" sz="2500" b="1" dirty="0">
                <a:ea typeface="楷体_GB2312" pitchFamily="49" charset="-122"/>
              </a:rPr>
              <a:t>H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zh-CN" altLang="en-US" sz="2500" b="1" dirty="0">
                <a:ea typeface="楷体_GB2312" pitchFamily="49" charset="-122"/>
              </a:rPr>
              <a:t>存在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使配体参加主反应能力降低的现象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14341" name="Rectangle 32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  <a:noFill/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6.2.2</a:t>
            </a:r>
            <a:r>
              <a:rPr lang="zh-CN" altLang="en-US" smtClean="0">
                <a:ea typeface="黑体" pitchFamily="49" charset="-122"/>
              </a:rPr>
              <a:t>配合物的稳定性及影响配位平衡的主要因素</a:t>
            </a:r>
            <a:endParaRPr lang="zh-CN" altLang="en-US" sz="1200" smtClean="0">
              <a:solidFill>
                <a:srgbClr val="0000FF"/>
              </a:solidFill>
              <a:ea typeface="黑体" pitchFamily="49" charset="-122"/>
            </a:endParaRPr>
          </a:p>
        </p:txBody>
      </p:sp>
      <p:sp>
        <p:nvSpPr>
          <p:cNvPr id="36902" name="Rectangle 38"/>
          <p:cNvSpPr>
            <a:spLocks noChangeArrowheads="1"/>
          </p:cNvSpPr>
          <p:nvPr/>
        </p:nvSpPr>
        <p:spPr bwMode="auto">
          <a:xfrm>
            <a:off x="831850" y="4454525"/>
            <a:ext cx="100647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i="1">
                <a:ea typeface="楷体_GB2312" pitchFamily="49" charset="-122"/>
              </a:rPr>
              <a:t>α</a:t>
            </a:r>
            <a:r>
              <a:rPr lang="en-US" altLang="zh-CN" sz="2500" b="1" baseline="-25000">
                <a:ea typeface="楷体_GB2312" pitchFamily="49" charset="-122"/>
              </a:rPr>
              <a:t>Y(H)</a:t>
            </a:r>
            <a:r>
              <a:rPr lang="en-US" altLang="zh-CN" sz="2500" b="1">
                <a:ea typeface="楷体_GB2312" pitchFamily="49" charset="-122"/>
              </a:rPr>
              <a:t>=</a:t>
            </a:r>
          </a:p>
        </p:txBody>
      </p:sp>
      <p:sp>
        <p:nvSpPr>
          <p:cNvPr id="36903" name="Line 39"/>
          <p:cNvSpPr>
            <a:spLocks noChangeShapeType="1"/>
          </p:cNvSpPr>
          <p:nvPr/>
        </p:nvSpPr>
        <p:spPr bwMode="auto">
          <a:xfrm>
            <a:off x="1858963" y="4768850"/>
            <a:ext cx="92948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6904" name="Rectangle 40"/>
          <p:cNvSpPr>
            <a:spLocks noChangeArrowheads="1"/>
          </p:cNvSpPr>
          <p:nvPr/>
        </p:nvSpPr>
        <p:spPr bwMode="auto">
          <a:xfrm>
            <a:off x="6167438" y="4768850"/>
            <a:ext cx="808037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[Y</a:t>
            </a:r>
            <a:r>
              <a:rPr lang="en-US" altLang="zh-CN" sz="2500" b="1" baseline="30000">
                <a:ea typeface="楷体_GB2312" pitchFamily="49" charset="-122"/>
              </a:rPr>
              <a:t>4-</a:t>
            </a:r>
            <a:r>
              <a:rPr lang="en-US" altLang="zh-CN" sz="2500" b="1">
                <a:ea typeface="楷体_GB2312" pitchFamily="49" charset="-122"/>
              </a:rPr>
              <a:t>]</a:t>
            </a:r>
          </a:p>
        </p:txBody>
      </p:sp>
      <p:sp>
        <p:nvSpPr>
          <p:cNvPr id="36905" name="Rectangle 41"/>
          <p:cNvSpPr>
            <a:spLocks noChangeArrowheads="1"/>
          </p:cNvSpPr>
          <p:nvPr/>
        </p:nvSpPr>
        <p:spPr bwMode="auto">
          <a:xfrm>
            <a:off x="1812925" y="4292600"/>
            <a:ext cx="989013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[Y</a:t>
            </a:r>
            <a:r>
              <a:rPr lang="en-US" altLang="zh-CN" sz="2500" b="1" baseline="30000">
                <a:ea typeface="楷体_GB2312" pitchFamily="49" charset="-122"/>
              </a:rPr>
              <a:t>4-</a:t>
            </a:r>
            <a:r>
              <a:rPr lang="en-US" altLang="zh-CN" sz="2500" b="1">
                <a:ea typeface="楷体_GB2312" pitchFamily="49" charset="-122"/>
              </a:rPr>
              <a:t>]+</a:t>
            </a:r>
          </a:p>
        </p:txBody>
      </p:sp>
      <p:sp>
        <p:nvSpPr>
          <p:cNvPr id="36906" name="Rectangle 42"/>
          <p:cNvSpPr>
            <a:spLocks noChangeArrowheads="1"/>
          </p:cNvSpPr>
          <p:nvPr/>
        </p:nvSpPr>
        <p:spPr bwMode="auto">
          <a:xfrm>
            <a:off x="2855913" y="4292600"/>
            <a:ext cx="12414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[HY</a:t>
            </a:r>
            <a:r>
              <a:rPr lang="en-US" altLang="zh-CN" sz="2500" b="1" baseline="30000">
                <a:ea typeface="楷体_GB2312" pitchFamily="49" charset="-122"/>
              </a:rPr>
              <a:t>3-</a:t>
            </a:r>
            <a:r>
              <a:rPr lang="en-US" altLang="zh-CN" sz="2500" b="1">
                <a:ea typeface="楷体_GB2312" pitchFamily="49" charset="-122"/>
              </a:rPr>
              <a:t>]+</a:t>
            </a:r>
          </a:p>
        </p:txBody>
      </p:sp>
      <p:sp>
        <p:nvSpPr>
          <p:cNvPr id="36907" name="Rectangle 43"/>
          <p:cNvSpPr>
            <a:spLocks noChangeArrowheads="1"/>
          </p:cNvSpPr>
          <p:nvPr/>
        </p:nvSpPr>
        <p:spPr bwMode="auto">
          <a:xfrm>
            <a:off x="4216400" y="4292600"/>
            <a:ext cx="134937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[H</a:t>
            </a:r>
            <a:r>
              <a:rPr lang="en-US" altLang="zh-CN" sz="2500" b="1" baseline="-25000">
                <a:ea typeface="楷体_GB2312" pitchFamily="49" charset="-122"/>
              </a:rPr>
              <a:t>2</a:t>
            </a:r>
            <a:r>
              <a:rPr lang="en-US" altLang="zh-CN" sz="2500" b="1">
                <a:ea typeface="楷体_GB2312" pitchFamily="49" charset="-122"/>
              </a:rPr>
              <a:t>Y</a:t>
            </a:r>
            <a:r>
              <a:rPr lang="en-US" altLang="zh-CN" sz="2500" b="1" baseline="30000">
                <a:ea typeface="楷体_GB2312" pitchFamily="49" charset="-122"/>
              </a:rPr>
              <a:t>2-</a:t>
            </a:r>
            <a:r>
              <a:rPr lang="en-US" altLang="zh-CN" sz="2500" b="1">
                <a:ea typeface="楷体_GB2312" pitchFamily="49" charset="-122"/>
              </a:rPr>
              <a:t>]+</a:t>
            </a:r>
          </a:p>
        </p:txBody>
      </p:sp>
      <p:sp>
        <p:nvSpPr>
          <p:cNvPr id="36908" name="Rectangle 44"/>
          <p:cNvSpPr>
            <a:spLocks noChangeArrowheads="1"/>
          </p:cNvSpPr>
          <p:nvPr/>
        </p:nvSpPr>
        <p:spPr bwMode="auto">
          <a:xfrm>
            <a:off x="5713413" y="4292600"/>
            <a:ext cx="1211262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[H</a:t>
            </a:r>
            <a:r>
              <a:rPr lang="en-US" altLang="zh-CN" sz="2500" b="1" baseline="-25000">
                <a:ea typeface="楷体_GB2312" pitchFamily="49" charset="-122"/>
              </a:rPr>
              <a:t>3</a:t>
            </a:r>
            <a:r>
              <a:rPr lang="en-US" altLang="zh-CN" sz="2500" b="1">
                <a:ea typeface="楷体_GB2312" pitchFamily="49" charset="-122"/>
              </a:rPr>
              <a:t>Y</a:t>
            </a:r>
            <a:r>
              <a:rPr lang="en-US" altLang="zh-CN" sz="2500" b="1" baseline="30000">
                <a:ea typeface="楷体_GB2312" pitchFamily="49" charset="-122"/>
              </a:rPr>
              <a:t>-</a:t>
            </a:r>
            <a:r>
              <a:rPr lang="en-US" altLang="zh-CN" sz="2500" b="1">
                <a:ea typeface="楷体_GB2312" pitchFamily="49" charset="-122"/>
              </a:rPr>
              <a:t>]+</a:t>
            </a:r>
          </a:p>
        </p:txBody>
      </p:sp>
      <p:sp>
        <p:nvSpPr>
          <p:cNvPr id="36909" name="Rectangle 45"/>
          <p:cNvSpPr>
            <a:spLocks noChangeArrowheads="1"/>
          </p:cNvSpPr>
          <p:nvPr/>
        </p:nvSpPr>
        <p:spPr bwMode="auto">
          <a:xfrm>
            <a:off x="7073900" y="4292600"/>
            <a:ext cx="1169988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[H</a:t>
            </a:r>
            <a:r>
              <a:rPr lang="en-US" altLang="zh-CN" sz="2500" b="1" baseline="-25000">
                <a:ea typeface="楷体_GB2312" pitchFamily="49" charset="-122"/>
              </a:rPr>
              <a:t>4</a:t>
            </a:r>
            <a:r>
              <a:rPr lang="en-US" altLang="zh-CN" sz="2500" b="1">
                <a:ea typeface="楷体_GB2312" pitchFamily="49" charset="-122"/>
              </a:rPr>
              <a:t>Y]+</a:t>
            </a:r>
          </a:p>
        </p:txBody>
      </p:sp>
      <p:sp>
        <p:nvSpPr>
          <p:cNvPr id="36910" name="Rectangle 46"/>
          <p:cNvSpPr>
            <a:spLocks noChangeArrowheads="1"/>
          </p:cNvSpPr>
          <p:nvPr/>
        </p:nvSpPr>
        <p:spPr bwMode="auto">
          <a:xfrm>
            <a:off x="8343900" y="4292600"/>
            <a:ext cx="12922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[H</a:t>
            </a:r>
            <a:r>
              <a:rPr lang="en-US" altLang="zh-CN" sz="2500" b="1" baseline="-25000">
                <a:ea typeface="楷体_GB2312" pitchFamily="49" charset="-122"/>
              </a:rPr>
              <a:t>5</a:t>
            </a:r>
            <a:r>
              <a:rPr lang="en-US" altLang="zh-CN" sz="2500" b="1">
                <a:ea typeface="楷体_GB2312" pitchFamily="49" charset="-122"/>
              </a:rPr>
              <a:t>Y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  <a:r>
              <a:rPr lang="en-US" altLang="zh-CN" sz="2500" b="1">
                <a:ea typeface="楷体_GB2312" pitchFamily="49" charset="-122"/>
              </a:rPr>
              <a:t>]+</a:t>
            </a:r>
          </a:p>
        </p:txBody>
      </p:sp>
      <p:sp>
        <p:nvSpPr>
          <p:cNvPr id="36911" name="Rectangle 47"/>
          <p:cNvSpPr>
            <a:spLocks noChangeArrowheads="1"/>
          </p:cNvSpPr>
          <p:nvPr/>
        </p:nvSpPr>
        <p:spPr bwMode="auto">
          <a:xfrm>
            <a:off x="9750425" y="4292600"/>
            <a:ext cx="12160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[H</a:t>
            </a:r>
            <a:r>
              <a:rPr lang="en-US" altLang="zh-CN" sz="2500" b="1" baseline="-25000">
                <a:ea typeface="楷体_GB2312" pitchFamily="49" charset="-122"/>
              </a:rPr>
              <a:t>6</a:t>
            </a:r>
            <a:r>
              <a:rPr lang="en-US" altLang="zh-CN" sz="2500" b="1">
                <a:ea typeface="楷体_GB2312" pitchFamily="49" charset="-122"/>
              </a:rPr>
              <a:t>Y</a:t>
            </a:r>
            <a:r>
              <a:rPr lang="en-US" altLang="zh-CN" sz="2500" b="1" baseline="30000">
                <a:ea typeface="楷体_GB2312" pitchFamily="49" charset="-122"/>
              </a:rPr>
              <a:t>2+</a:t>
            </a:r>
            <a:r>
              <a:rPr lang="en-US" altLang="zh-CN" sz="2500" b="1">
                <a:ea typeface="楷体_GB2312" pitchFamily="49" charset="-122"/>
              </a:rPr>
              <a:t>]</a:t>
            </a:r>
          </a:p>
        </p:txBody>
      </p:sp>
      <p:sp>
        <p:nvSpPr>
          <p:cNvPr id="36913" name="Rectangle 49"/>
          <p:cNvSpPr>
            <a:spLocks noChangeArrowheads="1"/>
          </p:cNvSpPr>
          <p:nvPr/>
        </p:nvSpPr>
        <p:spPr bwMode="auto">
          <a:xfrm>
            <a:off x="7832725" y="2597145"/>
            <a:ext cx="2813050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200" b="1">
                <a:solidFill>
                  <a:schemeClr val="bg2"/>
                </a:solidFill>
                <a:ea typeface="黑体" pitchFamily="49" charset="-122"/>
              </a:rPr>
              <a:t>Y</a:t>
            </a:r>
            <a:r>
              <a:rPr lang="en-US" altLang="zh-CN" sz="2200" b="1" baseline="30000">
                <a:solidFill>
                  <a:schemeClr val="bg2"/>
                </a:solidFill>
                <a:ea typeface="黑体" pitchFamily="49" charset="-122"/>
              </a:rPr>
              <a:t>4-</a:t>
            </a:r>
            <a:r>
              <a:rPr lang="zh-CN" altLang="en-US" sz="2200" b="1">
                <a:solidFill>
                  <a:schemeClr val="bg2"/>
                </a:solidFill>
                <a:ea typeface="黑体" pitchFamily="49" charset="-122"/>
              </a:rPr>
              <a:t>的平衡浓度        </a:t>
            </a:r>
          </a:p>
        </p:txBody>
      </p:sp>
      <p:sp>
        <p:nvSpPr>
          <p:cNvPr id="36914" name="Rectangle 50"/>
          <p:cNvSpPr>
            <a:spLocks noChangeArrowheads="1"/>
          </p:cNvSpPr>
          <p:nvPr/>
        </p:nvSpPr>
        <p:spPr bwMode="auto">
          <a:xfrm>
            <a:off x="2474913" y="3166390"/>
            <a:ext cx="6170612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200" b="1" dirty="0">
                <a:solidFill>
                  <a:schemeClr val="bg2"/>
                </a:solidFill>
                <a:ea typeface="黑体" pitchFamily="49" charset="-122"/>
              </a:rPr>
              <a:t>平衡时</a:t>
            </a:r>
            <a:r>
              <a:rPr lang="en-US" altLang="zh-CN" sz="2200" b="1" dirty="0">
                <a:solidFill>
                  <a:schemeClr val="bg2"/>
                </a:solidFill>
                <a:ea typeface="黑体" pitchFamily="49" charset="-122"/>
              </a:rPr>
              <a:t>,</a:t>
            </a:r>
            <a:r>
              <a:rPr lang="zh-CN" altLang="en-US" sz="2200" b="1" dirty="0">
                <a:solidFill>
                  <a:schemeClr val="bg2"/>
                </a:solidFill>
                <a:ea typeface="黑体" pitchFamily="49" charset="-122"/>
              </a:rPr>
              <a:t>未与</a:t>
            </a:r>
            <a:r>
              <a:rPr lang="en-US" altLang="zh-CN" sz="2200" b="1" dirty="0">
                <a:solidFill>
                  <a:schemeClr val="bg2"/>
                </a:solidFill>
                <a:ea typeface="黑体" pitchFamily="49" charset="-122"/>
              </a:rPr>
              <a:t>M</a:t>
            </a:r>
            <a:r>
              <a:rPr lang="zh-CN" altLang="en-US" sz="2200" b="1" dirty="0">
                <a:solidFill>
                  <a:schemeClr val="bg2"/>
                </a:solidFill>
                <a:ea typeface="黑体" pitchFamily="49" charset="-122"/>
              </a:rPr>
              <a:t>结合的</a:t>
            </a:r>
            <a:r>
              <a:rPr lang="en-US" altLang="zh-CN" sz="2200" b="1" dirty="0">
                <a:solidFill>
                  <a:schemeClr val="bg2"/>
                </a:solidFill>
                <a:ea typeface="黑体" pitchFamily="49" charset="-122"/>
              </a:rPr>
              <a:t>EDTA</a:t>
            </a:r>
            <a:r>
              <a:rPr lang="zh-CN" altLang="en-US" sz="2200" b="1" dirty="0">
                <a:solidFill>
                  <a:schemeClr val="bg2"/>
                </a:solidFill>
                <a:ea typeface="黑体" pitchFamily="49" charset="-122"/>
              </a:rPr>
              <a:t>总浓度</a:t>
            </a:r>
          </a:p>
        </p:txBody>
      </p:sp>
      <p:sp>
        <p:nvSpPr>
          <p:cNvPr id="36916" name="Rectangle 52"/>
          <p:cNvSpPr>
            <a:spLocks noChangeArrowheads="1"/>
          </p:cNvSpPr>
          <p:nvPr/>
        </p:nvSpPr>
        <p:spPr bwMode="auto">
          <a:xfrm>
            <a:off x="4129088" y="3690938"/>
            <a:ext cx="2085975" cy="785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500" b="1">
                <a:solidFill>
                  <a:schemeClr val="bg2"/>
                </a:solidFill>
                <a:ea typeface="黑体" pitchFamily="49" charset="-122"/>
              </a:rPr>
              <a:t>= [MY] </a:t>
            </a:r>
          </a:p>
          <a:p>
            <a:pPr>
              <a:lnSpc>
                <a:spcPct val="90000"/>
              </a:lnSpc>
            </a:pPr>
            <a:r>
              <a:rPr lang="en-US" altLang="zh-CN" sz="2500" b="1">
                <a:solidFill>
                  <a:schemeClr val="bg2"/>
                </a:solidFill>
                <a:ea typeface="黑体" pitchFamily="49" charset="-122"/>
              </a:rPr>
              <a:t>       + </a:t>
            </a:r>
          </a:p>
        </p:txBody>
      </p:sp>
      <p:sp>
        <p:nvSpPr>
          <p:cNvPr id="36918" name="Line 54"/>
          <p:cNvSpPr>
            <a:spLocks noChangeShapeType="1"/>
          </p:cNvSpPr>
          <p:nvPr/>
        </p:nvSpPr>
        <p:spPr bwMode="auto">
          <a:xfrm flipH="1">
            <a:off x="7046913" y="2811459"/>
            <a:ext cx="725487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6919" name="Line 55"/>
          <p:cNvSpPr>
            <a:spLocks noChangeShapeType="1"/>
          </p:cNvSpPr>
          <p:nvPr/>
        </p:nvSpPr>
        <p:spPr bwMode="auto">
          <a:xfrm flipV="1">
            <a:off x="6189665" y="2967037"/>
            <a:ext cx="0" cy="27305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6920" name="Rectangle 56"/>
          <p:cNvSpPr>
            <a:spLocks noChangeArrowheads="1"/>
          </p:cNvSpPr>
          <p:nvPr/>
        </p:nvSpPr>
        <p:spPr bwMode="auto">
          <a:xfrm>
            <a:off x="2628900" y="3648075"/>
            <a:ext cx="1906588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>
                <a:solidFill>
                  <a:schemeClr val="bg2"/>
                </a:solidFill>
                <a:ea typeface="黑体" pitchFamily="49" charset="-122"/>
              </a:rPr>
              <a:t>[Y’]≠</a:t>
            </a:r>
            <a:r>
              <a:rPr lang="en-US" altLang="zh-CN" sz="2500" b="1" i="1">
                <a:solidFill>
                  <a:schemeClr val="bg2"/>
                </a:solidFill>
                <a:ea typeface="黑体" pitchFamily="49" charset="-122"/>
              </a:rPr>
              <a:t>c</a:t>
            </a:r>
            <a:r>
              <a:rPr lang="en-US" altLang="zh-CN" sz="2500" b="1" baseline="-25000">
                <a:solidFill>
                  <a:schemeClr val="bg2"/>
                </a:solidFill>
                <a:ea typeface="黑体" pitchFamily="49" charset="-122"/>
              </a:rPr>
              <a:t>Y</a:t>
            </a:r>
            <a:r>
              <a:rPr lang="en-US" altLang="zh-CN" sz="2500" b="1">
                <a:solidFill>
                  <a:schemeClr val="bg2"/>
                </a:solidFill>
                <a:ea typeface="黑体" pitchFamily="49" charset="-122"/>
              </a:rPr>
              <a:t> </a:t>
            </a:r>
          </a:p>
        </p:txBody>
      </p:sp>
      <p:sp>
        <p:nvSpPr>
          <p:cNvPr id="36921" name="Rectangle 57"/>
          <p:cNvSpPr>
            <a:spLocks noChangeArrowheads="1"/>
          </p:cNvSpPr>
          <p:nvPr/>
        </p:nvSpPr>
        <p:spPr bwMode="auto">
          <a:xfrm rot="5400000">
            <a:off x="2878931" y="3993357"/>
            <a:ext cx="407987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500" b="1">
                <a:solidFill>
                  <a:schemeClr val="bg2"/>
                </a:solidFill>
                <a:ea typeface="黑体" pitchFamily="49" charset="-122"/>
              </a:rPr>
              <a:t>=</a:t>
            </a:r>
          </a:p>
        </p:txBody>
      </p:sp>
      <p:sp>
        <p:nvSpPr>
          <p:cNvPr id="36926" name="Rectangle 62"/>
          <p:cNvSpPr>
            <a:spLocks noChangeArrowheads="1"/>
          </p:cNvSpPr>
          <p:nvPr/>
        </p:nvSpPr>
        <p:spPr bwMode="auto">
          <a:xfrm>
            <a:off x="576263" y="1487338"/>
            <a:ext cx="3191900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500" b="1" u="sng" dirty="0">
                <a:solidFill>
                  <a:srgbClr val="FF3300"/>
                </a:solidFill>
                <a:ea typeface="楷体_GB2312" pitchFamily="49" charset="-122"/>
              </a:rPr>
              <a:t>酸</a:t>
            </a:r>
            <a:r>
              <a:rPr lang="zh-CN" altLang="en-US" sz="2500" b="1" u="sng" dirty="0" smtClean="0">
                <a:solidFill>
                  <a:srgbClr val="FF3300"/>
                </a:solidFill>
                <a:ea typeface="楷体_GB2312" pitchFamily="49" charset="-122"/>
              </a:rPr>
              <a:t>效应（针对配体）</a:t>
            </a:r>
            <a:r>
              <a:rPr lang="en-US" altLang="zh-CN" sz="2500" b="1" dirty="0" smtClean="0">
                <a:solidFill>
                  <a:srgbClr val="FF3300"/>
                </a:solidFill>
                <a:ea typeface="楷体_GB2312" pitchFamily="49" charset="-122"/>
              </a:rPr>
              <a:t>:</a:t>
            </a:r>
            <a:endParaRPr lang="en-US" altLang="zh-CN" sz="2500" b="1" dirty="0">
              <a:solidFill>
                <a:srgbClr val="FF3300"/>
              </a:solidFill>
              <a:ea typeface="楷体_GB2312" pitchFamily="49" charset="-122"/>
            </a:endParaRPr>
          </a:p>
        </p:txBody>
      </p:sp>
      <p:sp>
        <p:nvSpPr>
          <p:cNvPr id="14360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61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6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36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369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368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368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36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6" dur="500"/>
                                        <p:tgtEl>
                                          <p:spTgt spid="369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6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5" dur="500"/>
                                        <p:tgtEl>
                                          <p:spTgt spid="369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0" dur="500"/>
                                        <p:tgtEl>
                                          <p:spTgt spid="369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5" dur="500"/>
                                        <p:tgtEl>
                                          <p:spTgt spid="36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9" dur="500"/>
                                        <p:tgtEl>
                                          <p:spTgt spid="36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3" dur="500"/>
                                        <p:tgtEl>
                                          <p:spTgt spid="36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8" dur="500"/>
                                        <p:tgtEl>
                                          <p:spTgt spid="36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3" dur="500"/>
                                        <p:tgtEl>
                                          <p:spTgt spid="36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8" dur="500"/>
                                        <p:tgtEl>
                                          <p:spTgt spid="36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3" dur="500"/>
                                        <p:tgtEl>
                                          <p:spTgt spid="36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8" dur="500"/>
                                        <p:tgtEl>
                                          <p:spTgt spid="36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3" dur="500"/>
                                        <p:tgtEl>
                                          <p:spTgt spid="36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8" dur="500"/>
                                        <p:tgtEl>
                                          <p:spTgt spid="36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3" dur="500"/>
                                        <p:tgtEl>
                                          <p:spTgt spid="369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8" dur="500"/>
                                        <p:tgtEl>
                                          <p:spTgt spid="369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3" grpId="0" build="p" autoUpdateAnimBg="0"/>
      <p:bldP spid="36876" grpId="0" autoUpdateAnimBg="0"/>
      <p:bldP spid="36893" grpId="0" autoUpdateAnimBg="0"/>
      <p:bldP spid="36902" grpId="0" autoUpdateAnimBg="0"/>
      <p:bldP spid="36903" grpId="0" animBg="1"/>
      <p:bldP spid="36904" grpId="0" autoUpdateAnimBg="0"/>
      <p:bldP spid="36905" grpId="0" autoUpdateAnimBg="0"/>
      <p:bldP spid="36906" grpId="0" autoUpdateAnimBg="0"/>
      <p:bldP spid="36907" grpId="0" autoUpdateAnimBg="0"/>
      <p:bldP spid="36908" grpId="0" autoUpdateAnimBg="0"/>
      <p:bldP spid="36909" grpId="0" autoUpdateAnimBg="0"/>
      <p:bldP spid="36910" grpId="0" autoUpdateAnimBg="0"/>
      <p:bldP spid="36911" grpId="0" autoUpdateAnimBg="0"/>
      <p:bldP spid="36913" grpId="0" build="p" autoUpdateAnimBg="0"/>
      <p:bldP spid="36914" grpId="0" build="p" autoUpdateAnimBg="0"/>
      <p:bldP spid="36916" grpId="0" autoUpdateAnimBg="0"/>
      <p:bldP spid="36918" grpId="0" animBg="1"/>
      <p:bldP spid="36919" grpId="0" animBg="1"/>
      <p:bldP spid="36920" grpId="0" build="p" autoUpdateAnimBg="0"/>
      <p:bldP spid="36921" grpId="0" autoUpdateAnimBg="0"/>
      <p:bldP spid="36926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03" name="Rectangle 15"/>
          <p:cNvSpPr>
            <a:spLocks noChangeArrowheads="1"/>
          </p:cNvSpPr>
          <p:nvPr/>
        </p:nvSpPr>
        <p:spPr bwMode="auto">
          <a:xfrm>
            <a:off x="617538" y="2311400"/>
            <a:ext cx="10082212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b"/>
          <a:lstStyle/>
          <a:p>
            <a:r>
              <a:rPr lang="zh-CN" altLang="en-US" sz="2500" b="1">
                <a:ea typeface="楷体_GB2312" pitchFamily="49" charset="-122"/>
              </a:rPr>
              <a:t>不同</a:t>
            </a:r>
            <a:r>
              <a:rPr lang="en-US" altLang="zh-CN" sz="2500" b="1">
                <a:ea typeface="楷体_GB2312" pitchFamily="49" charset="-122"/>
              </a:rPr>
              <a:t>pH</a:t>
            </a:r>
            <a:r>
              <a:rPr lang="zh-CN" altLang="en-US" sz="2500" b="1">
                <a:ea typeface="楷体_GB2312" pitchFamily="49" charset="-122"/>
              </a:rPr>
              <a:t>时的</a:t>
            </a:r>
            <a:r>
              <a:rPr lang="en-US" altLang="zh-CN" sz="2500" b="1" i="1">
                <a:ea typeface="楷体_GB2312" pitchFamily="49" charset="-122"/>
                <a:hlinkClick r:id="" action="ppaction://hlinkshowjump?jump=nextslide"/>
              </a:rPr>
              <a:t>α</a:t>
            </a:r>
            <a:r>
              <a:rPr lang="en-US" altLang="zh-CN" sz="2500" b="1" baseline="-25000">
                <a:ea typeface="楷体_GB2312" pitchFamily="49" charset="-122"/>
                <a:hlinkClick r:id="" action="ppaction://hlinkshowjump?jump=nextslide"/>
              </a:rPr>
              <a:t>Y(H) </a:t>
            </a:r>
            <a:r>
              <a:rPr lang="en-US" altLang="zh-CN" sz="2500" b="1">
                <a:ea typeface="楷体_GB2312" pitchFamily="49" charset="-122"/>
              </a:rPr>
              <a:t>.</a:t>
            </a:r>
            <a:endParaRPr lang="en-US" altLang="zh-CN" sz="2500" b="1" baseline="-25000">
              <a:ea typeface="楷体_GB2312" pitchFamily="49" charset="-122"/>
            </a:endParaRPr>
          </a:p>
        </p:txBody>
      </p:sp>
      <p:sp>
        <p:nvSpPr>
          <p:cNvPr id="89105" name="Text Box 17"/>
          <p:cNvSpPr txBox="1">
            <a:spLocks noChangeArrowheads="1"/>
          </p:cNvSpPr>
          <p:nvPr/>
        </p:nvSpPr>
        <p:spPr bwMode="auto">
          <a:xfrm>
            <a:off x="906463" y="2957513"/>
            <a:ext cx="10231437" cy="163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</a:rPr>
              <a:t>上式和表中数据可见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</a:p>
          <a:p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①</a:t>
            </a:r>
            <a:r>
              <a:rPr lang="zh-CN" altLang="en-US" sz="2500" b="1" dirty="0">
                <a:ea typeface="楷体_GB2312" pitchFamily="49" charset="-122"/>
              </a:rPr>
              <a:t>酸度↑或</a:t>
            </a:r>
            <a:r>
              <a:rPr lang="en-US" altLang="zh-CN" sz="2500" b="1" dirty="0">
                <a:ea typeface="楷体_GB2312" pitchFamily="49" charset="-122"/>
              </a:rPr>
              <a:t>pH↓,</a:t>
            </a:r>
            <a:r>
              <a:rPr lang="en-US" altLang="zh-CN" sz="2500" b="1" i="1" dirty="0">
                <a:ea typeface="楷体_GB2312" pitchFamily="49" charset="-122"/>
              </a:rPr>
              <a:t>α</a:t>
            </a:r>
            <a:r>
              <a:rPr lang="en-US" altLang="zh-CN" sz="2500" b="1" baseline="-25000" dirty="0">
                <a:ea typeface="楷体_GB2312" pitchFamily="49" charset="-122"/>
              </a:rPr>
              <a:t>Y(H)</a:t>
            </a:r>
            <a:r>
              <a:rPr lang="en-US" altLang="zh-CN" sz="2500" b="1" dirty="0">
                <a:ea typeface="楷体_GB2312" pitchFamily="49" charset="-122"/>
              </a:rPr>
              <a:t>↑; </a:t>
            </a:r>
            <a:endParaRPr lang="en-US" altLang="zh-CN" sz="2500" b="1" dirty="0">
              <a:solidFill>
                <a:srgbClr val="FF3300"/>
              </a:solidFill>
              <a:ea typeface="楷体_GB2312" pitchFamily="49" charset="-122"/>
            </a:endParaRPr>
          </a:p>
          <a:p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②</a:t>
            </a:r>
            <a:r>
              <a:rPr lang="zh-CN" altLang="en-US" sz="2500" b="1" dirty="0">
                <a:ea typeface="楷体_GB2312" pitchFamily="49" charset="-122"/>
              </a:rPr>
              <a:t>通常</a:t>
            </a:r>
            <a:r>
              <a:rPr lang="en-US" altLang="zh-CN" sz="2500" b="1" i="1" dirty="0">
                <a:ea typeface="楷体_GB2312" pitchFamily="49" charset="-122"/>
              </a:rPr>
              <a:t>α</a:t>
            </a:r>
            <a:r>
              <a:rPr lang="en-US" altLang="zh-CN" sz="2500" b="1" baseline="-25000" dirty="0">
                <a:ea typeface="楷体_GB2312" pitchFamily="49" charset="-122"/>
              </a:rPr>
              <a:t>Y(H) </a:t>
            </a:r>
            <a:r>
              <a:rPr lang="en-US" altLang="zh-CN" sz="2500" b="1" dirty="0">
                <a:ea typeface="楷体_GB2312" pitchFamily="49" charset="-122"/>
              </a:rPr>
              <a:t>&gt; 1</a:t>
            </a: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;</a:t>
            </a:r>
            <a:endParaRPr lang="en-US" altLang="zh-CN" sz="2500" b="1" dirty="0">
              <a:ea typeface="楷体_GB2312" pitchFamily="49" charset="-122"/>
            </a:endParaRPr>
          </a:p>
          <a:p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③</a:t>
            </a:r>
            <a:r>
              <a:rPr lang="en-US" altLang="zh-CN" sz="2500" b="1" i="1" dirty="0">
                <a:ea typeface="楷体_GB2312" pitchFamily="49" charset="-122"/>
              </a:rPr>
              <a:t>α</a:t>
            </a:r>
            <a:r>
              <a:rPr lang="en-US" altLang="zh-CN" sz="2500" b="1" baseline="-25000" dirty="0">
                <a:ea typeface="楷体_GB2312" pitchFamily="49" charset="-122"/>
              </a:rPr>
              <a:t>Y(H)</a:t>
            </a:r>
            <a:r>
              <a:rPr lang="zh-CN" altLang="en-US" sz="2500" b="1" dirty="0">
                <a:ea typeface="楷体_GB2312" pitchFamily="49" charset="-122"/>
              </a:rPr>
              <a:t>与分布系数为倒数关系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</a:p>
        </p:txBody>
      </p:sp>
      <p:sp>
        <p:nvSpPr>
          <p:cNvPr id="15364" name="Rectangle 28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  <a:noFill/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6.2.2</a:t>
            </a:r>
            <a:r>
              <a:rPr lang="zh-CN" altLang="en-US" smtClean="0">
                <a:ea typeface="黑体" pitchFamily="49" charset="-122"/>
              </a:rPr>
              <a:t>配合物的稳定性及影响配位平衡的主要因素</a:t>
            </a:r>
            <a:endParaRPr lang="zh-CN" altLang="en-US" sz="1200" b="0" smtClean="0">
              <a:solidFill>
                <a:srgbClr val="0000FF"/>
              </a:solidFill>
              <a:ea typeface="黑体" pitchFamily="49" charset="-122"/>
            </a:endParaRPr>
          </a:p>
        </p:txBody>
      </p:sp>
      <p:sp>
        <p:nvSpPr>
          <p:cNvPr id="89118" name="Rectangle 30"/>
          <p:cNvSpPr>
            <a:spLocks noChangeArrowheads="1"/>
          </p:cNvSpPr>
          <p:nvPr/>
        </p:nvSpPr>
        <p:spPr bwMode="auto">
          <a:xfrm>
            <a:off x="903288" y="1239838"/>
            <a:ext cx="15875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 i="1">
                <a:ea typeface="楷体_GB2312" pitchFamily="49" charset="-122"/>
              </a:rPr>
              <a:t>α</a:t>
            </a:r>
            <a:r>
              <a:rPr lang="en-US" altLang="zh-CN" sz="2500" b="1" baseline="-25000">
                <a:ea typeface="楷体_GB2312" pitchFamily="49" charset="-122"/>
              </a:rPr>
              <a:t>Y(H)</a:t>
            </a:r>
            <a:r>
              <a:rPr lang="en-US" altLang="zh-CN" sz="2500" b="1">
                <a:ea typeface="楷体_GB2312" pitchFamily="49" charset="-122"/>
              </a:rPr>
              <a:t>=</a:t>
            </a:r>
          </a:p>
        </p:txBody>
      </p:sp>
      <p:sp>
        <p:nvSpPr>
          <p:cNvPr id="89119" name="Rectangle 31"/>
          <p:cNvSpPr>
            <a:spLocks noChangeArrowheads="1"/>
          </p:cNvSpPr>
          <p:nvPr/>
        </p:nvSpPr>
        <p:spPr bwMode="auto">
          <a:xfrm>
            <a:off x="1768475" y="1223963"/>
            <a:ext cx="671513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1+</a:t>
            </a:r>
          </a:p>
        </p:txBody>
      </p:sp>
      <p:sp>
        <p:nvSpPr>
          <p:cNvPr id="89122" name="Line 34"/>
          <p:cNvSpPr>
            <a:spLocks noChangeShapeType="1"/>
          </p:cNvSpPr>
          <p:nvPr/>
        </p:nvSpPr>
        <p:spPr bwMode="auto">
          <a:xfrm>
            <a:off x="2492375" y="1460500"/>
            <a:ext cx="679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9123" name="Rectangle 35"/>
          <p:cNvSpPr>
            <a:spLocks noChangeArrowheads="1"/>
          </p:cNvSpPr>
          <p:nvPr/>
        </p:nvSpPr>
        <p:spPr bwMode="auto">
          <a:xfrm>
            <a:off x="2401888" y="1020763"/>
            <a:ext cx="771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[H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  <a:r>
              <a:rPr lang="en-US" altLang="zh-CN" sz="2500" b="1">
                <a:ea typeface="楷体_GB2312" pitchFamily="49" charset="-122"/>
              </a:rPr>
              <a:t>]</a:t>
            </a:r>
          </a:p>
        </p:txBody>
      </p:sp>
      <p:sp>
        <p:nvSpPr>
          <p:cNvPr id="89124" name="Rectangle 36"/>
          <p:cNvSpPr>
            <a:spLocks noChangeArrowheads="1"/>
          </p:cNvSpPr>
          <p:nvPr/>
        </p:nvSpPr>
        <p:spPr bwMode="auto">
          <a:xfrm>
            <a:off x="2401888" y="1460500"/>
            <a:ext cx="749300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a6</a:t>
            </a:r>
          </a:p>
        </p:txBody>
      </p:sp>
      <p:sp>
        <p:nvSpPr>
          <p:cNvPr id="89125" name="Rectangle 37"/>
          <p:cNvSpPr>
            <a:spLocks noChangeArrowheads="1"/>
          </p:cNvSpPr>
          <p:nvPr/>
        </p:nvSpPr>
        <p:spPr bwMode="auto">
          <a:xfrm>
            <a:off x="3171825" y="1223963"/>
            <a:ext cx="481013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+</a:t>
            </a:r>
          </a:p>
        </p:txBody>
      </p:sp>
      <p:sp>
        <p:nvSpPr>
          <p:cNvPr id="89126" name="Line 38"/>
          <p:cNvSpPr>
            <a:spLocks noChangeShapeType="1"/>
          </p:cNvSpPr>
          <p:nvPr/>
        </p:nvSpPr>
        <p:spPr bwMode="auto">
          <a:xfrm>
            <a:off x="3671888" y="1460500"/>
            <a:ext cx="1441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89127" name="Rectangle 39"/>
          <p:cNvSpPr>
            <a:spLocks noChangeArrowheads="1"/>
          </p:cNvSpPr>
          <p:nvPr/>
        </p:nvSpPr>
        <p:spPr bwMode="auto">
          <a:xfrm>
            <a:off x="3852863" y="1020763"/>
            <a:ext cx="877887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[H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  <a:r>
              <a:rPr lang="en-US" altLang="zh-CN" sz="2500" b="1">
                <a:ea typeface="楷体_GB2312" pitchFamily="49" charset="-122"/>
              </a:rPr>
              <a:t>]</a:t>
            </a:r>
            <a:r>
              <a:rPr lang="en-US" altLang="zh-CN" sz="2500" b="1" baseline="30000">
                <a:ea typeface="楷体_GB2312" pitchFamily="49" charset="-122"/>
              </a:rPr>
              <a:t>2</a:t>
            </a:r>
            <a:endParaRPr lang="en-US" altLang="zh-CN" sz="2500" b="1">
              <a:ea typeface="楷体_GB2312" pitchFamily="49" charset="-122"/>
            </a:endParaRPr>
          </a:p>
        </p:txBody>
      </p:sp>
      <p:sp>
        <p:nvSpPr>
          <p:cNvPr id="89128" name="Rectangle 40"/>
          <p:cNvSpPr>
            <a:spLocks noChangeArrowheads="1"/>
          </p:cNvSpPr>
          <p:nvPr/>
        </p:nvSpPr>
        <p:spPr bwMode="auto">
          <a:xfrm>
            <a:off x="3627438" y="1460500"/>
            <a:ext cx="1365250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a6 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a5</a:t>
            </a:r>
          </a:p>
        </p:txBody>
      </p:sp>
      <p:sp>
        <p:nvSpPr>
          <p:cNvPr id="89129" name="Rectangle 41"/>
          <p:cNvSpPr>
            <a:spLocks noChangeArrowheads="1"/>
          </p:cNvSpPr>
          <p:nvPr/>
        </p:nvSpPr>
        <p:spPr bwMode="auto">
          <a:xfrm>
            <a:off x="5078413" y="1223963"/>
            <a:ext cx="481012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+</a:t>
            </a:r>
          </a:p>
        </p:txBody>
      </p:sp>
      <p:sp>
        <p:nvSpPr>
          <p:cNvPr id="89131" name="Rectangle 43"/>
          <p:cNvSpPr>
            <a:spLocks noChangeArrowheads="1"/>
          </p:cNvSpPr>
          <p:nvPr/>
        </p:nvSpPr>
        <p:spPr bwMode="auto">
          <a:xfrm>
            <a:off x="6256338" y="1020763"/>
            <a:ext cx="8794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[H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  <a:r>
              <a:rPr lang="en-US" altLang="zh-CN" sz="2500" b="1">
                <a:ea typeface="楷体_GB2312" pitchFamily="49" charset="-122"/>
              </a:rPr>
              <a:t>]</a:t>
            </a:r>
            <a:r>
              <a:rPr lang="en-US" altLang="zh-CN" sz="2500" b="1" baseline="30000">
                <a:ea typeface="楷体_GB2312" pitchFamily="49" charset="-122"/>
              </a:rPr>
              <a:t>3</a:t>
            </a:r>
            <a:endParaRPr lang="en-US" altLang="zh-CN" sz="2500" b="1">
              <a:ea typeface="楷体_GB2312" pitchFamily="49" charset="-122"/>
            </a:endParaRPr>
          </a:p>
        </p:txBody>
      </p:sp>
      <p:sp>
        <p:nvSpPr>
          <p:cNvPr id="89132" name="Rectangle 44"/>
          <p:cNvSpPr>
            <a:spLocks noChangeArrowheads="1"/>
          </p:cNvSpPr>
          <p:nvPr/>
        </p:nvSpPr>
        <p:spPr bwMode="auto">
          <a:xfrm>
            <a:off x="5576888" y="1460500"/>
            <a:ext cx="2112962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a6 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a5 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a4 </a:t>
            </a:r>
          </a:p>
        </p:txBody>
      </p:sp>
      <p:sp>
        <p:nvSpPr>
          <p:cNvPr id="89133" name="Rectangle 45"/>
          <p:cNvSpPr>
            <a:spLocks noChangeArrowheads="1"/>
          </p:cNvSpPr>
          <p:nvPr/>
        </p:nvSpPr>
        <p:spPr bwMode="auto">
          <a:xfrm>
            <a:off x="8297863" y="1223963"/>
            <a:ext cx="105568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</a:t>
            </a:r>
            <a:endParaRPr lang="en-US" altLang="zh-CN" sz="2500" b="1">
              <a:ea typeface="楷体_GB2312" pitchFamily="49" charset="-122"/>
            </a:endParaRPr>
          </a:p>
        </p:txBody>
      </p:sp>
      <p:sp>
        <p:nvSpPr>
          <p:cNvPr id="89134" name="Rectangle 46"/>
          <p:cNvSpPr>
            <a:spLocks noChangeArrowheads="1"/>
          </p:cNvSpPr>
          <p:nvPr/>
        </p:nvSpPr>
        <p:spPr bwMode="auto">
          <a:xfrm>
            <a:off x="7978775" y="1223963"/>
            <a:ext cx="481013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+</a:t>
            </a:r>
          </a:p>
        </p:txBody>
      </p:sp>
      <p:sp>
        <p:nvSpPr>
          <p:cNvPr id="89135" name="Rectangle 47"/>
          <p:cNvSpPr>
            <a:spLocks noChangeArrowheads="1"/>
          </p:cNvSpPr>
          <p:nvPr/>
        </p:nvSpPr>
        <p:spPr bwMode="auto">
          <a:xfrm>
            <a:off x="6167438" y="1938338"/>
            <a:ext cx="4794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+</a:t>
            </a:r>
          </a:p>
        </p:txBody>
      </p:sp>
      <p:sp>
        <p:nvSpPr>
          <p:cNvPr id="89136" name="Rectangle 48"/>
          <p:cNvSpPr>
            <a:spLocks noChangeArrowheads="1"/>
          </p:cNvSpPr>
          <p:nvPr/>
        </p:nvSpPr>
        <p:spPr bwMode="auto">
          <a:xfrm>
            <a:off x="7904163" y="1668463"/>
            <a:ext cx="8794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[H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  <a:r>
              <a:rPr lang="en-US" altLang="zh-CN" sz="2500" b="1">
                <a:ea typeface="楷体_GB2312" pitchFamily="49" charset="-122"/>
              </a:rPr>
              <a:t>]</a:t>
            </a:r>
            <a:r>
              <a:rPr lang="en-US" altLang="zh-CN" sz="2500" b="1" baseline="30000">
                <a:ea typeface="楷体_GB2312" pitchFamily="49" charset="-122"/>
              </a:rPr>
              <a:t>6</a:t>
            </a:r>
            <a:endParaRPr lang="en-US" altLang="zh-CN" sz="2500" b="1">
              <a:ea typeface="楷体_GB2312" pitchFamily="49" charset="-122"/>
            </a:endParaRPr>
          </a:p>
        </p:txBody>
      </p:sp>
      <p:sp>
        <p:nvSpPr>
          <p:cNvPr id="89137" name="Line 49"/>
          <p:cNvSpPr>
            <a:spLocks noChangeShapeType="1"/>
          </p:cNvSpPr>
          <p:nvPr/>
        </p:nvSpPr>
        <p:spPr bwMode="auto">
          <a:xfrm>
            <a:off x="5576888" y="1460500"/>
            <a:ext cx="2400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89138" name="Rectangle 50"/>
          <p:cNvSpPr>
            <a:spLocks noChangeArrowheads="1"/>
          </p:cNvSpPr>
          <p:nvPr/>
        </p:nvSpPr>
        <p:spPr bwMode="auto">
          <a:xfrm>
            <a:off x="6575425" y="2141538"/>
            <a:ext cx="3833813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a6 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a5 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a4 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a3 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a2 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a1</a:t>
            </a:r>
          </a:p>
        </p:txBody>
      </p:sp>
      <p:sp>
        <p:nvSpPr>
          <p:cNvPr id="89139" name="Line 51"/>
          <p:cNvSpPr>
            <a:spLocks noChangeShapeType="1"/>
          </p:cNvSpPr>
          <p:nvPr/>
        </p:nvSpPr>
        <p:spPr bwMode="auto">
          <a:xfrm>
            <a:off x="6665913" y="2141538"/>
            <a:ext cx="4416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89140" name="Rectangle 52"/>
          <p:cNvSpPr>
            <a:spLocks noChangeArrowheads="1"/>
          </p:cNvSpPr>
          <p:nvPr/>
        </p:nvSpPr>
        <p:spPr bwMode="auto">
          <a:xfrm>
            <a:off x="4308475" y="4624388"/>
            <a:ext cx="3030538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2500" b="1" i="1" dirty="0" err="1">
                <a:ea typeface="楷体_GB2312" pitchFamily="49" charset="-122"/>
              </a:rPr>
              <a:t>α</a:t>
            </a:r>
            <a:r>
              <a:rPr lang="en-US" altLang="zh-CN" sz="2500" b="1" baseline="-25000" dirty="0" err="1">
                <a:ea typeface="楷体_GB2312" pitchFamily="49" charset="-122"/>
              </a:rPr>
              <a:t>Y</a:t>
            </a:r>
            <a:r>
              <a:rPr lang="en-US" altLang="zh-CN" sz="2500" b="1" baseline="-25000" dirty="0">
                <a:ea typeface="楷体_GB2312" pitchFamily="49" charset="-122"/>
              </a:rPr>
              <a:t>(H) </a:t>
            </a:r>
            <a:r>
              <a:rPr lang="en-US" altLang="zh-CN" sz="2500" b="1" dirty="0">
                <a:ea typeface="楷体_GB2312" pitchFamily="49" charset="-122"/>
              </a:rPr>
              <a:t>= 1/</a:t>
            </a:r>
            <a:r>
              <a:rPr lang="en-US" altLang="zh-CN" sz="2500" b="1" i="1" dirty="0" err="1">
                <a:ea typeface="楷体_GB2312" pitchFamily="49" charset="-122"/>
              </a:rPr>
              <a:t>δ</a:t>
            </a:r>
            <a:r>
              <a:rPr lang="en-US" altLang="zh-CN" sz="2500" b="1" baseline="-25000" dirty="0" err="1">
                <a:ea typeface="楷体_GB2312" pitchFamily="49" charset="-122"/>
              </a:rPr>
              <a:t>Y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15385" name="Oval 27" descr="图片9">
            <a:hlinkClick r:id="rId5" action="ppaction://hlinksldjump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86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89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89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89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89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500"/>
                                        <p:tgtEl>
                                          <p:spTgt spid="891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0" dur="500"/>
                                        <p:tgtEl>
                                          <p:spTgt spid="89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4" dur="500"/>
                                        <p:tgtEl>
                                          <p:spTgt spid="89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9" dur="500"/>
                                        <p:tgtEl>
                                          <p:spTgt spid="89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4" dur="500"/>
                                        <p:tgtEl>
                                          <p:spTgt spid="891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8" dur="500"/>
                                        <p:tgtEl>
                                          <p:spTgt spid="89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2" dur="500"/>
                                        <p:tgtEl>
                                          <p:spTgt spid="89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7" dur="500"/>
                                        <p:tgtEl>
                                          <p:spTgt spid="89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2" dur="500"/>
                                        <p:tgtEl>
                                          <p:spTgt spid="891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6" dur="500"/>
                                        <p:tgtEl>
                                          <p:spTgt spid="89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1" dur="500"/>
                                        <p:tgtEl>
                                          <p:spTgt spid="89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5" dur="500"/>
                                        <p:tgtEl>
                                          <p:spTgt spid="89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9" dur="500"/>
                                        <p:tgtEl>
                                          <p:spTgt spid="89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4" dur="500"/>
                                        <p:tgtEl>
                                          <p:spTgt spid="89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9" dur="500"/>
                                        <p:tgtEl>
                                          <p:spTgt spid="891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4" dur="500"/>
                                        <p:tgtEl>
                                          <p:spTgt spid="89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9" dur="500"/>
                                        <p:tgtEl>
                                          <p:spTgt spid="89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4" dur="500"/>
                                        <p:tgtEl>
                                          <p:spTgt spid="891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9" dur="500"/>
                                        <p:tgtEl>
                                          <p:spTgt spid="891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4" dur="500"/>
                                        <p:tgtEl>
                                          <p:spTgt spid="891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9" dur="500"/>
                                        <p:tgtEl>
                                          <p:spTgt spid="891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103" grpId="0" autoUpdateAnimBg="0"/>
      <p:bldP spid="89105" grpId="0" build="p" autoUpdateAnimBg="0"/>
      <p:bldP spid="89118" grpId="0" autoUpdateAnimBg="0"/>
      <p:bldP spid="89119" grpId="0" autoUpdateAnimBg="0"/>
      <p:bldP spid="89122" grpId="0" animBg="1"/>
      <p:bldP spid="89123" grpId="0" autoUpdateAnimBg="0"/>
      <p:bldP spid="89124" grpId="0" autoUpdateAnimBg="0"/>
      <p:bldP spid="89125" grpId="0" autoUpdateAnimBg="0"/>
      <p:bldP spid="89126" grpId="0" animBg="1"/>
      <p:bldP spid="89127" grpId="0" autoUpdateAnimBg="0"/>
      <p:bldP spid="89128" grpId="0" autoUpdateAnimBg="0"/>
      <p:bldP spid="89129" grpId="0" autoUpdateAnimBg="0"/>
      <p:bldP spid="89131" grpId="0" autoUpdateAnimBg="0"/>
      <p:bldP spid="89132" grpId="0" autoUpdateAnimBg="0"/>
      <p:bldP spid="89133" grpId="0" autoUpdateAnimBg="0"/>
      <p:bldP spid="89134" grpId="0" autoUpdateAnimBg="0"/>
      <p:bldP spid="89135" grpId="0" autoUpdateAnimBg="0"/>
      <p:bldP spid="89136" grpId="0" autoUpdateAnimBg="0"/>
      <p:bldP spid="89137" grpId="0" animBg="1"/>
      <p:bldP spid="89138" grpId="0" autoUpdateAnimBg="0"/>
      <p:bldP spid="89139" grpId="0" animBg="1"/>
      <p:bldP spid="89140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1026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  <a:noFill/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6.2.2</a:t>
            </a:r>
            <a:r>
              <a:rPr lang="zh-CN" altLang="en-US" smtClean="0">
                <a:ea typeface="黑体" pitchFamily="49" charset="-122"/>
              </a:rPr>
              <a:t>配合物的稳定性及影响配位平衡的主要因素</a:t>
            </a:r>
            <a:endParaRPr lang="zh-CN" altLang="en-US" sz="1200" b="0" smtClean="0">
              <a:solidFill>
                <a:srgbClr val="0000FF"/>
              </a:solidFill>
              <a:ea typeface="黑体" pitchFamily="49" charset="-122"/>
            </a:endParaRPr>
          </a:p>
        </p:txBody>
      </p:sp>
      <p:graphicFrame>
        <p:nvGraphicFramePr>
          <p:cNvPr id="3074" name="Object 2"/>
          <p:cNvGraphicFramePr>
            <a:graphicFrameLocks/>
          </p:cNvGraphicFramePr>
          <p:nvPr/>
        </p:nvGraphicFramePr>
        <p:xfrm>
          <a:off x="3082925" y="1052513"/>
          <a:ext cx="6548438" cy="452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BMP 图象" r:id="rId4" imgW="3780952" imgH="3048426" progId="PBrush">
                  <p:embed/>
                </p:oleObj>
              </mc:Choice>
              <mc:Fallback>
                <p:oleObj name="BMP 图象" r:id="rId4" imgW="3780952" imgH="3048426" progId="PBrush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2925" y="1052513"/>
                        <a:ext cx="6548438" cy="4522787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7" name="Rectangle 1029"/>
          <p:cNvSpPr>
            <a:spLocks noChangeArrowheads="1"/>
          </p:cNvSpPr>
          <p:nvPr/>
        </p:nvSpPr>
        <p:spPr bwMode="auto">
          <a:xfrm>
            <a:off x="1041400" y="1938338"/>
            <a:ext cx="2017713" cy="862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>
              <a:defRPr/>
            </a:pPr>
            <a:r>
              <a:rPr lang="zh-CN" altLang="en-US" sz="2500" b="1">
                <a:solidFill>
                  <a:srgbClr val="0000FF"/>
                </a:solidFill>
                <a:ea typeface="黑体" pitchFamily="49" charset="-122"/>
              </a:rPr>
              <a:t>不同</a:t>
            </a:r>
            <a:r>
              <a:rPr lang="en-US" altLang="zh-CN" sz="2500" b="1">
                <a:solidFill>
                  <a:srgbClr val="0000FF"/>
                </a:solidFill>
                <a:ea typeface="黑体" pitchFamily="49" charset="-122"/>
              </a:rPr>
              <a:t>pH</a:t>
            </a:r>
            <a:r>
              <a:rPr lang="zh-CN" altLang="en-US" sz="2500" b="1">
                <a:solidFill>
                  <a:srgbClr val="0000FF"/>
                </a:solidFill>
                <a:ea typeface="黑体" pitchFamily="49" charset="-122"/>
              </a:rPr>
              <a:t>时的</a:t>
            </a:r>
            <a:r>
              <a:rPr lang="en-US" altLang="zh-CN" sz="2500" b="1">
                <a:solidFill>
                  <a:srgbClr val="0000FF"/>
                </a:solidFill>
                <a:ea typeface="黑体" pitchFamily="49" charset="-122"/>
              </a:rPr>
              <a:t>lg</a:t>
            </a:r>
            <a:r>
              <a:rPr lang="en-US" altLang="zh-CN" sz="2500" b="1" i="1">
                <a:solidFill>
                  <a:srgbClr val="0000FF"/>
                </a:solidFill>
                <a:ea typeface="黑体" pitchFamily="49" charset="-122"/>
              </a:rPr>
              <a:t>α</a:t>
            </a:r>
            <a:r>
              <a:rPr lang="en-US" altLang="zh-CN" sz="2500" b="1" baseline="-25000">
                <a:solidFill>
                  <a:srgbClr val="0000FF"/>
                </a:solidFill>
                <a:ea typeface="黑体" pitchFamily="49" charset="-122"/>
              </a:rPr>
              <a:t>Y(H)</a:t>
            </a:r>
            <a:r>
              <a:rPr lang="zh-CN" altLang="en-US" sz="2500" b="1" baseline="-25000">
                <a:solidFill>
                  <a:srgbClr val="0000FF"/>
                </a:solidFill>
                <a:latin typeface="+mn-ea"/>
                <a:ea typeface="+mn-ea"/>
              </a:rPr>
              <a:t>：</a:t>
            </a:r>
            <a:endParaRPr lang="en-US" altLang="zh-CN" sz="2500" b="1">
              <a:solidFill>
                <a:srgbClr val="FFFF66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3078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5546723" y="5668979"/>
            <a:ext cx="360363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208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7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21" name="Rectangle 33"/>
          <p:cNvSpPr>
            <a:spLocks noChangeArrowheads="1"/>
          </p:cNvSpPr>
          <p:nvPr/>
        </p:nvSpPr>
        <p:spPr bwMode="auto">
          <a:xfrm>
            <a:off x="906463" y="1428750"/>
            <a:ext cx="103282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                  </a:t>
            </a:r>
            <a:r>
              <a:rPr lang="zh-CN" altLang="en-US" sz="2500" b="1">
                <a:ea typeface="楷体_GB2312" pitchFamily="49" charset="-122"/>
              </a:rPr>
              <a:t>其它配位剂的作用</a:t>
            </a:r>
            <a:r>
              <a:rPr lang="en-US" altLang="zh-CN" sz="2500" b="1">
                <a:ea typeface="楷体_GB2312" pitchFamily="49" charset="-122"/>
              </a:rPr>
              <a:t>,</a:t>
            </a:r>
            <a:r>
              <a:rPr lang="zh-CN" altLang="en-US" sz="2500" b="1">
                <a:ea typeface="楷体_GB2312" pitchFamily="49" charset="-122"/>
              </a:rPr>
              <a:t>使金属离子参加主反应能力降低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</p:txBody>
      </p:sp>
      <p:sp>
        <p:nvSpPr>
          <p:cNvPr id="16387" name="Rectangle 30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  <a:noFill/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6.2.2</a:t>
            </a:r>
            <a:r>
              <a:rPr lang="zh-CN" altLang="en-US" smtClean="0">
                <a:ea typeface="黑体" pitchFamily="49" charset="-122"/>
              </a:rPr>
              <a:t>配合物的稳定性及影响配位平衡的主要因素</a:t>
            </a:r>
            <a:endParaRPr lang="zh-CN" altLang="en-US" sz="1200" b="0" smtClean="0">
              <a:solidFill>
                <a:srgbClr val="0000FF"/>
              </a:solidFill>
              <a:ea typeface="黑体" pitchFamily="49" charset="-122"/>
            </a:endParaRPr>
          </a:p>
        </p:txBody>
      </p:sp>
      <p:sp>
        <p:nvSpPr>
          <p:cNvPr id="37919" name="Text Box 31"/>
          <p:cNvSpPr txBox="1">
            <a:spLocks noChangeArrowheads="1"/>
          </p:cNvSpPr>
          <p:nvPr/>
        </p:nvSpPr>
        <p:spPr bwMode="auto">
          <a:xfrm>
            <a:off x="688975" y="954088"/>
            <a:ext cx="10177463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US" altLang="zh-CN" sz="2500" b="1" dirty="0" smtClean="0">
                <a:solidFill>
                  <a:srgbClr val="FF3300"/>
                </a:solidFill>
                <a:ea typeface="楷体_GB2312" pitchFamily="49" charset="-122"/>
              </a:rPr>
              <a:t>2.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配位效应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:</a:t>
            </a:r>
          </a:p>
          <a:p>
            <a:pPr algn="just"/>
            <a:endParaRPr lang="en-US" altLang="zh-CN" sz="2500" b="1" dirty="0">
              <a:solidFill>
                <a:srgbClr val="FF3300"/>
              </a:solidFill>
              <a:ea typeface="楷体_GB2312" pitchFamily="49" charset="-122"/>
            </a:endParaRPr>
          </a:p>
        </p:txBody>
      </p:sp>
      <p:sp>
        <p:nvSpPr>
          <p:cNvPr id="37926" name="Rectangle 38"/>
          <p:cNvSpPr>
            <a:spLocks noChangeArrowheads="1"/>
          </p:cNvSpPr>
          <p:nvPr/>
        </p:nvSpPr>
        <p:spPr bwMode="auto">
          <a:xfrm>
            <a:off x="906463" y="2536816"/>
            <a:ext cx="103282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2500" b="1" i="1">
                <a:ea typeface="楷体_GB2312" pitchFamily="49" charset="-122"/>
              </a:rPr>
              <a:t>α</a:t>
            </a:r>
            <a:r>
              <a:rPr lang="en-US" altLang="zh-CN" sz="2500" b="1" baseline="-25000">
                <a:ea typeface="楷体_GB2312" pitchFamily="49" charset="-122"/>
              </a:rPr>
              <a:t>M </a:t>
            </a:r>
            <a:r>
              <a:rPr lang="en-US" altLang="zh-CN" sz="2500" b="1">
                <a:ea typeface="楷体_GB2312" pitchFamily="49" charset="-122"/>
              </a:rPr>
              <a:t>= [M’]/[M]</a:t>
            </a:r>
          </a:p>
        </p:txBody>
      </p:sp>
      <p:sp>
        <p:nvSpPr>
          <p:cNvPr id="37928" name="Rectangle 40"/>
          <p:cNvSpPr>
            <a:spLocks noChangeArrowheads="1"/>
          </p:cNvSpPr>
          <p:nvPr/>
        </p:nvSpPr>
        <p:spPr bwMode="auto">
          <a:xfrm>
            <a:off x="906463" y="2128828"/>
            <a:ext cx="28194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</a:rPr>
              <a:t>配位效应系数</a:t>
            </a:r>
            <a:r>
              <a:rPr lang="en-US" altLang="zh-CN" sz="2500" b="1" dirty="0">
                <a:ea typeface="楷体_GB2312" pitchFamily="49" charset="-122"/>
              </a:rPr>
              <a:t>(</a:t>
            </a:r>
            <a:r>
              <a:rPr lang="en-US" altLang="zh-CN" sz="2500" b="1" i="1" dirty="0">
                <a:ea typeface="楷体_GB2312" pitchFamily="49" charset="-122"/>
              </a:rPr>
              <a:t>α</a:t>
            </a:r>
            <a:r>
              <a:rPr lang="en-US" altLang="zh-CN" sz="2500" b="1" baseline="-25000" dirty="0">
                <a:ea typeface="楷体_GB2312" pitchFamily="49" charset="-122"/>
              </a:rPr>
              <a:t>M</a:t>
            </a:r>
            <a:r>
              <a:rPr lang="en-US" altLang="zh-CN" sz="2500" b="1" dirty="0">
                <a:ea typeface="楷体_GB2312" pitchFamily="49" charset="-122"/>
              </a:rPr>
              <a:t>):</a:t>
            </a:r>
          </a:p>
        </p:txBody>
      </p:sp>
      <p:sp>
        <p:nvSpPr>
          <p:cNvPr id="37929" name="Rectangle 41"/>
          <p:cNvSpPr>
            <a:spLocks noChangeArrowheads="1"/>
          </p:cNvSpPr>
          <p:nvPr/>
        </p:nvSpPr>
        <p:spPr bwMode="auto">
          <a:xfrm>
            <a:off x="1041400" y="3240087"/>
            <a:ext cx="7005653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200" b="1" dirty="0">
                <a:solidFill>
                  <a:schemeClr val="bg2"/>
                </a:solidFill>
                <a:ea typeface="楷体_GB2312" pitchFamily="49" charset="-122"/>
              </a:rPr>
              <a:t>平衡时</a:t>
            </a:r>
            <a:r>
              <a:rPr lang="en-US" altLang="zh-CN" sz="2200" b="1" dirty="0">
                <a:solidFill>
                  <a:schemeClr val="bg2"/>
                </a:solidFill>
                <a:ea typeface="楷体_GB2312" pitchFamily="49" charset="-122"/>
              </a:rPr>
              <a:t>,</a:t>
            </a:r>
            <a:r>
              <a:rPr lang="zh-CN" altLang="en-US" sz="2200" b="1" dirty="0">
                <a:solidFill>
                  <a:schemeClr val="bg2"/>
                </a:solidFill>
                <a:ea typeface="楷体_GB2312" pitchFamily="49" charset="-122"/>
              </a:rPr>
              <a:t>未参加主反应的</a:t>
            </a:r>
            <a:r>
              <a:rPr lang="en-US" altLang="zh-CN" sz="2200" b="1" dirty="0">
                <a:solidFill>
                  <a:schemeClr val="bg2"/>
                </a:solidFill>
                <a:ea typeface="楷体_GB2312" pitchFamily="49" charset="-122"/>
              </a:rPr>
              <a:t>M</a:t>
            </a:r>
            <a:r>
              <a:rPr lang="zh-CN" altLang="en-US" sz="2200" b="1" dirty="0">
                <a:solidFill>
                  <a:schemeClr val="bg2"/>
                </a:solidFill>
                <a:ea typeface="楷体_GB2312" pitchFamily="49" charset="-122"/>
              </a:rPr>
              <a:t>离子各种存在形式的总浓度         </a:t>
            </a:r>
            <a:endParaRPr lang="zh-CN" altLang="en-US" sz="2200" b="1" dirty="0">
              <a:solidFill>
                <a:schemeClr val="bg2"/>
              </a:solidFill>
              <a:ea typeface="楷体_GB2312" pitchFamily="49" charset="-122"/>
              <a:sym typeface="Symbol" pitchFamily="18" charset="2"/>
            </a:endParaRPr>
          </a:p>
        </p:txBody>
      </p:sp>
      <p:sp>
        <p:nvSpPr>
          <p:cNvPr id="37930" name="Rectangle 42"/>
          <p:cNvSpPr>
            <a:spLocks noChangeArrowheads="1"/>
          </p:cNvSpPr>
          <p:nvPr/>
        </p:nvSpPr>
        <p:spPr bwMode="auto">
          <a:xfrm>
            <a:off x="6937375" y="2025641"/>
            <a:ext cx="4205288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200" b="1" dirty="0">
                <a:solidFill>
                  <a:schemeClr val="bg2"/>
                </a:solidFill>
                <a:ea typeface="楷体_GB2312" pitchFamily="49" charset="-122"/>
              </a:rPr>
              <a:t>游离</a:t>
            </a:r>
            <a:r>
              <a:rPr lang="en-US" altLang="zh-CN" sz="2200" b="1" dirty="0">
                <a:solidFill>
                  <a:schemeClr val="bg2"/>
                </a:solidFill>
                <a:ea typeface="楷体_GB2312" pitchFamily="49" charset="-122"/>
              </a:rPr>
              <a:t>M</a:t>
            </a:r>
            <a:r>
              <a:rPr lang="zh-CN" altLang="en-US" sz="2200" b="1" dirty="0">
                <a:solidFill>
                  <a:schemeClr val="bg2"/>
                </a:solidFill>
                <a:ea typeface="楷体_GB2312" pitchFamily="49" charset="-122"/>
              </a:rPr>
              <a:t>离子的平衡浓度</a:t>
            </a:r>
            <a:endParaRPr lang="zh-CN" altLang="en-US" sz="2200" b="1" dirty="0">
              <a:solidFill>
                <a:schemeClr val="bg2"/>
              </a:solidFill>
              <a:ea typeface="楷体_GB2312" pitchFamily="49" charset="-122"/>
              <a:sym typeface="Symbol" pitchFamily="18" charset="2"/>
            </a:endParaRPr>
          </a:p>
        </p:txBody>
      </p:sp>
      <p:sp>
        <p:nvSpPr>
          <p:cNvPr id="37931" name="Rectangle 43"/>
          <p:cNvSpPr>
            <a:spLocks noChangeArrowheads="1"/>
          </p:cNvSpPr>
          <p:nvPr/>
        </p:nvSpPr>
        <p:spPr bwMode="auto">
          <a:xfrm>
            <a:off x="903288" y="3740150"/>
            <a:ext cx="10328275" cy="1246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>
                <a:ea typeface="楷体_GB2312" pitchFamily="49" charset="-122"/>
              </a:rPr>
              <a:t>　　由</a:t>
            </a:r>
            <a:r>
              <a:rPr lang="zh-CN" altLang="en-US" sz="2500" b="1" u="sng">
                <a:ea typeface="楷体_GB2312" pitchFamily="49" charset="-122"/>
              </a:rPr>
              <a:t>其它配位剂</a:t>
            </a:r>
            <a:r>
              <a:rPr lang="en-US" altLang="zh-CN" sz="2500" b="1">
                <a:ea typeface="楷体_GB2312" pitchFamily="49" charset="-122"/>
              </a:rPr>
              <a:t>L</a:t>
            </a:r>
            <a:r>
              <a:rPr lang="zh-CN" altLang="en-US" sz="2500" b="1">
                <a:ea typeface="楷体_GB2312" pitchFamily="49" charset="-122"/>
              </a:rPr>
              <a:t>引起的配位效应又称</a:t>
            </a: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辅助配位效应</a:t>
            </a:r>
            <a:r>
              <a:rPr lang="en-US" altLang="zh-CN" sz="2500" b="1">
                <a:ea typeface="楷体_GB2312" pitchFamily="49" charset="-122"/>
              </a:rPr>
              <a:t>.</a:t>
            </a:r>
            <a:r>
              <a:rPr lang="zh-CN" altLang="en-US" sz="2500" b="1">
                <a:ea typeface="楷体_GB2312" pitchFamily="49" charset="-122"/>
              </a:rPr>
              <a:t>用</a:t>
            </a:r>
            <a:r>
              <a:rPr lang="en-US" altLang="zh-CN" sz="2500" b="1" i="1">
                <a:ea typeface="楷体_GB2312" pitchFamily="49" charset="-122"/>
              </a:rPr>
              <a:t>α</a:t>
            </a:r>
            <a:r>
              <a:rPr lang="en-US" altLang="zh-CN" sz="2500" b="1" baseline="-25000">
                <a:ea typeface="楷体_GB2312" pitchFamily="49" charset="-122"/>
              </a:rPr>
              <a:t>M(L)</a:t>
            </a:r>
            <a:r>
              <a:rPr lang="zh-CN" altLang="en-US" sz="2500" b="1">
                <a:ea typeface="楷体_GB2312" pitchFamily="49" charset="-122"/>
              </a:rPr>
              <a:t>表示</a:t>
            </a:r>
            <a:r>
              <a:rPr lang="en-US" altLang="zh-CN" sz="2500" b="1">
                <a:ea typeface="楷体_GB2312" pitchFamily="49" charset="-122"/>
              </a:rPr>
              <a:t>:</a:t>
            </a:r>
          </a:p>
          <a:p>
            <a:pPr algn="ctr"/>
            <a:r>
              <a:rPr lang="en-US" altLang="zh-CN" sz="2500" b="1" i="1">
                <a:ea typeface="楷体_GB2312" pitchFamily="49" charset="-122"/>
              </a:rPr>
              <a:t>α</a:t>
            </a:r>
            <a:r>
              <a:rPr lang="en-US" altLang="zh-CN" sz="2500" b="1" baseline="-25000">
                <a:ea typeface="楷体_GB2312" pitchFamily="49" charset="-122"/>
              </a:rPr>
              <a:t>M(L) </a:t>
            </a:r>
            <a:r>
              <a:rPr lang="en-US" altLang="zh-CN" sz="2500" b="1">
                <a:ea typeface="楷体_GB2312" pitchFamily="49" charset="-122"/>
              </a:rPr>
              <a:t>= 1 + </a:t>
            </a: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</a:t>
            </a:r>
            <a:r>
              <a:rPr lang="en-US" altLang="zh-CN" sz="2500" b="1" baseline="-25000">
                <a:ea typeface="楷体_GB2312" pitchFamily="49" charset="-122"/>
                <a:sym typeface="Symbol" pitchFamily="18" charset="2"/>
              </a:rPr>
              <a:t>1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[L] + </a:t>
            </a: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</a:t>
            </a:r>
            <a:r>
              <a:rPr lang="en-US" altLang="zh-CN" sz="2500" b="1" baseline="-25000">
                <a:ea typeface="楷体_GB2312" pitchFamily="49" charset="-122"/>
                <a:sym typeface="Symbol" pitchFamily="18" charset="2"/>
              </a:rPr>
              <a:t>2 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[L]</a:t>
            </a:r>
            <a:r>
              <a:rPr lang="en-US" altLang="zh-CN" sz="2500" b="1" baseline="30000">
                <a:ea typeface="楷体_GB2312" pitchFamily="49" charset="-122"/>
                <a:sym typeface="Symbol" pitchFamily="18" charset="2"/>
              </a:rPr>
              <a:t>2  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+… + </a:t>
            </a: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</a:t>
            </a:r>
            <a:r>
              <a:rPr lang="en-US" altLang="zh-CN" sz="2500" b="1" baseline="-25000">
                <a:ea typeface="楷体_GB2312" pitchFamily="49" charset="-122"/>
                <a:sym typeface="Symbol" pitchFamily="18" charset="2"/>
              </a:rPr>
              <a:t>n 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[L]</a:t>
            </a:r>
            <a:r>
              <a:rPr lang="en-US" altLang="zh-CN" sz="2500" b="1" baseline="30000">
                <a:ea typeface="楷体_GB2312" pitchFamily="49" charset="-122"/>
                <a:sym typeface="Symbol" pitchFamily="18" charset="2"/>
              </a:rPr>
              <a:t>n</a:t>
            </a:r>
            <a:endParaRPr lang="en-US" altLang="zh-CN" sz="2500" b="1">
              <a:ea typeface="楷体_GB2312" pitchFamily="49" charset="-122"/>
            </a:endParaRPr>
          </a:p>
          <a:p>
            <a:r>
              <a:rPr lang="en-US" altLang="zh-CN" sz="2500" b="1">
                <a:ea typeface="楷体_GB2312" pitchFamily="49" charset="-122"/>
              </a:rPr>
              <a:t>    </a:t>
            </a: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</a:t>
            </a:r>
            <a:r>
              <a:rPr lang="en-US" altLang="zh-CN" sz="2500" b="1" i="1" baseline="-25000">
                <a:ea typeface="楷体_GB2312" pitchFamily="49" charset="-122"/>
                <a:sym typeface="Symbol" pitchFamily="18" charset="2"/>
              </a:rPr>
              <a:t>i</a:t>
            </a:r>
            <a:r>
              <a:rPr lang="en-US" altLang="zh-CN" sz="2500" b="1">
                <a:ea typeface="楷体_GB2312" pitchFamily="49" charset="-122"/>
              </a:rPr>
              <a:t> :L</a:t>
            </a:r>
            <a:r>
              <a:rPr lang="zh-CN" altLang="en-US" sz="2500" b="1">
                <a:ea typeface="楷体_GB2312" pitchFamily="49" charset="-122"/>
              </a:rPr>
              <a:t>与</a:t>
            </a:r>
            <a:r>
              <a:rPr lang="en-US" altLang="zh-CN" sz="2500" b="1">
                <a:ea typeface="楷体_GB2312" pitchFamily="49" charset="-122"/>
              </a:rPr>
              <a:t>M</a:t>
            </a:r>
            <a:r>
              <a:rPr lang="zh-CN" altLang="en-US" sz="2500" b="1">
                <a:ea typeface="楷体_GB2312" pitchFamily="49" charset="-122"/>
              </a:rPr>
              <a:t>离子所得配合物的各级</a:t>
            </a:r>
            <a:r>
              <a:rPr lang="zh-CN" altLang="en-US" sz="2500" b="1">
                <a:ea typeface="楷体_GB2312" pitchFamily="49" charset="-122"/>
                <a:sym typeface="Symbol" pitchFamily="18" charset="2"/>
              </a:rPr>
              <a:t>累积稳定常数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.</a:t>
            </a:r>
            <a:endParaRPr lang="zh-CN" altLang="en-US" sz="2500" b="1">
              <a:ea typeface="楷体_GB2312" pitchFamily="49" charset="-122"/>
              <a:sym typeface="Symbol" pitchFamily="18" charset="2"/>
            </a:endParaRPr>
          </a:p>
        </p:txBody>
      </p:sp>
      <p:sp>
        <p:nvSpPr>
          <p:cNvPr id="37932" name="Line 44"/>
          <p:cNvSpPr>
            <a:spLocks noChangeShapeType="1"/>
          </p:cNvSpPr>
          <p:nvPr/>
        </p:nvSpPr>
        <p:spPr bwMode="auto">
          <a:xfrm rot="18900000" flipH="1">
            <a:off x="6873700" y="2543354"/>
            <a:ext cx="45402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7933" name="Line 45"/>
          <p:cNvSpPr>
            <a:spLocks noChangeShapeType="1"/>
          </p:cNvSpPr>
          <p:nvPr/>
        </p:nvSpPr>
        <p:spPr bwMode="auto">
          <a:xfrm rot="5400000" flipH="1">
            <a:off x="5953125" y="3108316"/>
            <a:ext cx="33972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6397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98" name="Oval 26" descr="图片8">
            <a:hlinkClick r:id="rId4" action="ppaction://hlinksldjump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520677" y="894427"/>
            <a:ext cx="1627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00B050"/>
                </a:solidFill>
                <a:ea typeface="楷体_GB2312"/>
              </a:rPr>
              <a:t>（了解）</a:t>
            </a:r>
            <a:endParaRPr lang="zh-CN" altLang="en-US" sz="2800" b="1" dirty="0">
              <a:solidFill>
                <a:srgbClr val="00B050"/>
              </a:solidFill>
              <a:ea typeface="楷体_GB2312"/>
            </a:endParaRPr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7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37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37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379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379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379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6" dur="500"/>
                                        <p:tgtEl>
                                          <p:spTgt spid="379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79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5" dur="500"/>
                                        <p:tgtEl>
                                          <p:spTgt spid="37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0" dur="500"/>
                                        <p:tgtEl>
                                          <p:spTgt spid="37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5" dur="500"/>
                                        <p:tgtEl>
                                          <p:spTgt spid="37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21" grpId="0" autoUpdateAnimBg="0"/>
      <p:bldP spid="37919" grpId="0" autoUpdateAnimBg="0"/>
      <p:bldP spid="37926" grpId="0" build="p" autoUpdateAnimBg="0"/>
      <p:bldP spid="37928" grpId="0" autoUpdateAnimBg="0"/>
      <p:bldP spid="37929" grpId="0" build="p" autoUpdateAnimBg="0"/>
      <p:bldP spid="37930" grpId="0" build="p" autoUpdateAnimBg="0"/>
      <p:bldP spid="37931" grpId="0" build="p" autoUpdateAnimBg="0"/>
      <p:bldP spid="37932" grpId="0" animBg="1"/>
      <p:bldP spid="3793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8" name="Rectangle 18"/>
          <p:cNvSpPr>
            <a:spLocks noChangeArrowheads="1"/>
          </p:cNvSpPr>
          <p:nvPr/>
        </p:nvSpPr>
        <p:spPr bwMode="auto">
          <a:xfrm>
            <a:off x="906463" y="1096963"/>
            <a:ext cx="10615612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>
                <a:ea typeface="楷体_GB2312" pitchFamily="49" charset="-122"/>
              </a:rPr>
              <a:t>　　</a:t>
            </a:r>
            <a:r>
              <a:rPr lang="en-US" altLang="zh-CN" sz="2500" b="1" u="sng">
                <a:ea typeface="楷体_GB2312" pitchFamily="49" charset="-122"/>
              </a:rPr>
              <a:t>OH</a:t>
            </a:r>
            <a:r>
              <a:rPr lang="en-US" altLang="zh-CN" sz="2500" b="1" u="sng" baseline="30000">
                <a:ea typeface="楷体_GB2312" pitchFamily="49" charset="-122"/>
              </a:rPr>
              <a:t>-</a:t>
            </a:r>
            <a:r>
              <a:rPr lang="zh-CN" altLang="en-US" sz="2500" b="1">
                <a:ea typeface="楷体_GB2312" pitchFamily="49" charset="-122"/>
              </a:rPr>
              <a:t>引起的配位效应称为</a:t>
            </a: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羟基配位效应</a:t>
            </a:r>
            <a:r>
              <a:rPr lang="en-US" altLang="zh-CN" sz="2500" b="1">
                <a:ea typeface="楷体_GB2312" pitchFamily="49" charset="-122"/>
              </a:rPr>
              <a:t>,</a:t>
            </a:r>
            <a:r>
              <a:rPr lang="zh-CN" altLang="en-US" sz="2500" b="1">
                <a:ea typeface="楷体_GB2312" pitchFamily="49" charset="-122"/>
              </a:rPr>
              <a:t>用</a:t>
            </a:r>
            <a:r>
              <a:rPr lang="en-US" altLang="zh-CN" sz="2500" b="1" i="1">
                <a:ea typeface="楷体_GB2312" pitchFamily="49" charset="-122"/>
              </a:rPr>
              <a:t>α</a:t>
            </a:r>
            <a:r>
              <a:rPr lang="en-US" altLang="zh-CN" sz="2500" b="1" baseline="-25000">
                <a:ea typeface="楷体_GB2312" pitchFamily="49" charset="-122"/>
              </a:rPr>
              <a:t>M(OH)</a:t>
            </a:r>
            <a:r>
              <a:rPr lang="zh-CN" altLang="en-US" sz="2500" b="1">
                <a:ea typeface="楷体_GB2312" pitchFamily="49" charset="-122"/>
              </a:rPr>
              <a:t>表示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</p:txBody>
      </p:sp>
      <p:sp>
        <p:nvSpPr>
          <p:cNvPr id="40980" name="Rectangle 20"/>
          <p:cNvSpPr>
            <a:spLocks noChangeArrowheads="1"/>
          </p:cNvSpPr>
          <p:nvPr/>
        </p:nvSpPr>
        <p:spPr bwMode="auto">
          <a:xfrm>
            <a:off x="903288" y="1668451"/>
            <a:ext cx="10328275" cy="151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i="1" dirty="0" err="1">
                <a:ea typeface="楷体_GB2312" pitchFamily="49" charset="-122"/>
              </a:rPr>
              <a:t>α</a:t>
            </a:r>
            <a:r>
              <a:rPr lang="en-US" altLang="zh-CN" sz="2500" b="1" baseline="-25000" dirty="0" err="1">
                <a:ea typeface="楷体_GB2312" pitchFamily="49" charset="-122"/>
              </a:rPr>
              <a:t>M</a:t>
            </a:r>
            <a:r>
              <a:rPr lang="en-US" altLang="zh-CN" sz="2500" b="1" baseline="-25000" dirty="0">
                <a:ea typeface="楷体_GB2312" pitchFamily="49" charset="-122"/>
              </a:rPr>
              <a:t>(OH)</a:t>
            </a:r>
            <a:r>
              <a:rPr lang="en-US" altLang="zh-CN" sz="2500" b="1" dirty="0">
                <a:ea typeface="楷体_GB2312" pitchFamily="49" charset="-122"/>
              </a:rPr>
              <a:t>=1 + </a:t>
            </a:r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</a:t>
            </a:r>
            <a:r>
              <a:rPr lang="en-US" altLang="zh-CN" sz="2500" b="1" baseline="-25000" dirty="0">
                <a:ea typeface="楷体_GB2312" pitchFamily="49" charset="-122"/>
                <a:sym typeface="Symbol" pitchFamily="18" charset="2"/>
              </a:rPr>
              <a:t>1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[OH</a:t>
            </a:r>
            <a:r>
              <a:rPr lang="en-US" altLang="zh-CN" sz="2500" b="1" baseline="30000" dirty="0">
                <a:ea typeface="楷体_GB2312" pitchFamily="49" charset="-122"/>
                <a:sym typeface="Symbol" pitchFamily="18" charset="2"/>
              </a:rPr>
              <a:t>-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] + </a:t>
            </a:r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</a:t>
            </a:r>
            <a:r>
              <a:rPr lang="en-US" altLang="zh-CN" sz="2500" b="1" baseline="-25000" dirty="0">
                <a:ea typeface="楷体_GB2312" pitchFamily="49" charset="-122"/>
                <a:sym typeface="Symbol" pitchFamily="18" charset="2"/>
              </a:rPr>
              <a:t>2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[OH</a:t>
            </a:r>
            <a:r>
              <a:rPr lang="en-US" altLang="zh-CN" sz="2500" b="1" baseline="30000" dirty="0">
                <a:ea typeface="楷体_GB2312" pitchFamily="49" charset="-122"/>
                <a:sym typeface="Symbol" pitchFamily="18" charset="2"/>
              </a:rPr>
              <a:t>-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]</a:t>
            </a:r>
            <a:r>
              <a:rPr lang="en-US" altLang="zh-CN" sz="2500" b="1" baseline="30000" dirty="0">
                <a:ea typeface="楷体_GB2312" pitchFamily="49" charset="-122"/>
                <a:sym typeface="Symbol" pitchFamily="18" charset="2"/>
              </a:rPr>
              <a:t>2 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+… + </a:t>
            </a:r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</a:t>
            </a:r>
            <a:r>
              <a:rPr lang="en-US" altLang="zh-CN" sz="2500" b="1" baseline="-25000" dirty="0">
                <a:ea typeface="楷体_GB2312" pitchFamily="49" charset="-122"/>
                <a:sym typeface="Symbol" pitchFamily="18" charset="2"/>
              </a:rPr>
              <a:t>n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[OH</a:t>
            </a:r>
            <a:r>
              <a:rPr lang="en-US" altLang="zh-CN" sz="2500" b="1" baseline="30000" dirty="0">
                <a:ea typeface="楷体_GB2312" pitchFamily="49" charset="-122"/>
                <a:sym typeface="Symbol" pitchFamily="18" charset="2"/>
              </a:rPr>
              <a:t>-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]</a:t>
            </a:r>
            <a:r>
              <a:rPr lang="en-US" altLang="zh-CN" sz="2500" b="1" baseline="30000" dirty="0">
                <a:ea typeface="楷体_GB2312" pitchFamily="49" charset="-122"/>
                <a:sym typeface="Symbol" pitchFamily="18" charset="2"/>
              </a:rPr>
              <a:t>n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</a:t>
            </a:r>
            <a:r>
              <a:rPr lang="en-US" altLang="zh-CN" sz="2500" b="1" i="1" baseline="-25000" dirty="0" err="1">
                <a:ea typeface="楷体_GB2312" pitchFamily="49" charset="-122"/>
                <a:sym typeface="Symbol" pitchFamily="18" charset="2"/>
              </a:rPr>
              <a:t>i</a:t>
            </a:r>
            <a:r>
              <a:rPr lang="en-US" altLang="zh-CN" sz="2500" b="1" dirty="0">
                <a:ea typeface="楷体_GB2312" pitchFamily="49" charset="-122"/>
              </a:rPr>
              <a:t> </a:t>
            </a:r>
            <a:r>
              <a:rPr lang="zh-CN" altLang="en-US" sz="2500" b="1" dirty="0">
                <a:ea typeface="楷体_GB2312" pitchFamily="49" charset="-122"/>
              </a:rPr>
              <a:t>为</a:t>
            </a:r>
            <a:r>
              <a:rPr lang="en-US" altLang="zh-CN" sz="2500" b="1" dirty="0">
                <a:ea typeface="楷体_GB2312" pitchFamily="49" charset="-122"/>
              </a:rPr>
              <a:t>OH</a:t>
            </a:r>
            <a:r>
              <a:rPr lang="en-US" altLang="zh-CN" sz="2500" b="1" baseline="30000" dirty="0">
                <a:ea typeface="楷体_GB2312" pitchFamily="49" charset="-122"/>
              </a:rPr>
              <a:t>-</a:t>
            </a:r>
            <a:r>
              <a:rPr lang="zh-CN" altLang="en-US" sz="2500" b="1" dirty="0">
                <a:ea typeface="楷体_GB2312" pitchFamily="49" charset="-122"/>
              </a:rPr>
              <a:t>与</a:t>
            </a:r>
            <a:r>
              <a:rPr lang="en-US" altLang="zh-CN" sz="2500" b="1" dirty="0">
                <a:ea typeface="楷体_GB2312" pitchFamily="49" charset="-122"/>
              </a:rPr>
              <a:t>M</a:t>
            </a:r>
            <a:r>
              <a:rPr lang="zh-CN" altLang="en-US" sz="2500" b="1" dirty="0">
                <a:ea typeface="楷体_GB2312" pitchFamily="49" charset="-122"/>
              </a:rPr>
              <a:t>离子所形成配合物的各级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累积稳定常数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.</a:t>
            </a:r>
            <a:r>
              <a:rPr lang="zh-CN" altLang="en-US" sz="2500" b="1" dirty="0">
                <a:ea typeface="楷体_GB2312" pitchFamily="49" charset="-122"/>
              </a:rPr>
              <a:t>　　</a:t>
            </a:r>
          </a:p>
          <a:p>
            <a:pPr>
              <a:lnSpc>
                <a:spcPct val="150000"/>
              </a:lnSpc>
            </a:pPr>
            <a:r>
              <a:rPr lang="zh-CN" altLang="en-US" sz="2500" b="1" dirty="0">
                <a:ea typeface="楷体_GB2312" pitchFamily="49" charset="-122"/>
              </a:rPr>
              <a:t>　　若</a:t>
            </a:r>
            <a:r>
              <a:rPr lang="zh-CN" altLang="en-US" sz="2500" b="1" dirty="0">
                <a:ea typeface="楷体_GB2312" pitchFamily="49" charset="-122"/>
                <a:sym typeface="Webdings" pitchFamily="18" charset="2"/>
              </a:rPr>
              <a:t>金属离子存在几种副反应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,</a:t>
            </a:r>
            <a:r>
              <a:rPr lang="zh-CN" altLang="en-US" sz="2500" b="1" dirty="0">
                <a:ea typeface="楷体_GB2312" pitchFamily="49" charset="-122"/>
                <a:sym typeface="Webdings" pitchFamily="18" charset="2"/>
              </a:rPr>
              <a:t>总的</a:t>
            </a:r>
            <a:r>
              <a:rPr lang="zh-CN" altLang="en-US" sz="2500" b="1" dirty="0">
                <a:ea typeface="楷体_GB2312" pitchFamily="49" charset="-122"/>
              </a:rPr>
              <a:t>副反应系数</a:t>
            </a:r>
            <a:r>
              <a:rPr lang="en-US" altLang="zh-CN" sz="2500" b="1" i="1" dirty="0" err="1">
                <a:ea typeface="楷体_GB2312" pitchFamily="49" charset="-122"/>
              </a:rPr>
              <a:t>α</a:t>
            </a:r>
            <a:r>
              <a:rPr lang="en-US" altLang="zh-CN" sz="2500" b="1" baseline="-25000" dirty="0" err="1">
                <a:ea typeface="楷体_GB2312" pitchFamily="49" charset="-122"/>
              </a:rPr>
              <a:t>M</a:t>
            </a:r>
            <a:r>
              <a:rPr lang="en-US" altLang="zh-CN" sz="2500" b="1" dirty="0">
                <a:ea typeface="楷体_GB2312" pitchFamily="49" charset="-122"/>
              </a:rPr>
              <a:t>: </a:t>
            </a:r>
          </a:p>
        </p:txBody>
      </p:sp>
      <p:sp>
        <p:nvSpPr>
          <p:cNvPr id="40989" name="Rectangle 29"/>
          <p:cNvSpPr>
            <a:spLocks noChangeArrowheads="1"/>
          </p:cNvSpPr>
          <p:nvPr/>
        </p:nvSpPr>
        <p:spPr bwMode="auto">
          <a:xfrm>
            <a:off x="3332163" y="3811576"/>
            <a:ext cx="2274887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≈ </a:t>
            </a:r>
            <a:r>
              <a:rPr lang="en-US" altLang="zh-CN" sz="2500" b="1" i="1" dirty="0" err="1">
                <a:ea typeface="楷体_GB2312" pitchFamily="49" charset="-122"/>
              </a:rPr>
              <a:t>α</a:t>
            </a:r>
            <a:r>
              <a:rPr lang="en-US" altLang="zh-CN" sz="2500" b="1" baseline="-25000" dirty="0" err="1">
                <a:ea typeface="楷体_GB2312" pitchFamily="49" charset="-122"/>
              </a:rPr>
              <a:t>M</a:t>
            </a:r>
            <a:r>
              <a:rPr lang="en-US" altLang="zh-CN" sz="2500" b="1" baseline="-25000" dirty="0">
                <a:ea typeface="楷体_GB2312" pitchFamily="49" charset="-122"/>
              </a:rPr>
              <a:t>(L) </a:t>
            </a:r>
            <a:r>
              <a:rPr lang="en-US" altLang="zh-CN" sz="2500" b="1" dirty="0">
                <a:ea typeface="楷体_GB2312" pitchFamily="49" charset="-122"/>
              </a:rPr>
              <a:t>+ </a:t>
            </a:r>
            <a:r>
              <a:rPr lang="en-US" altLang="zh-CN" sz="2500" b="1" i="1" dirty="0" err="1">
                <a:ea typeface="楷体_GB2312" pitchFamily="49" charset="-122"/>
              </a:rPr>
              <a:t>α</a:t>
            </a:r>
            <a:r>
              <a:rPr lang="en-US" altLang="zh-CN" sz="2500" b="1" baseline="-25000" dirty="0" err="1">
                <a:ea typeface="楷体_GB2312" pitchFamily="49" charset="-122"/>
              </a:rPr>
              <a:t>M</a:t>
            </a:r>
            <a:r>
              <a:rPr lang="en-US" altLang="zh-CN" sz="2500" b="1" baseline="-25000" dirty="0">
                <a:ea typeface="楷体_GB2312" pitchFamily="49" charset="-122"/>
              </a:rPr>
              <a:t>(OH)</a:t>
            </a:r>
          </a:p>
        </p:txBody>
      </p:sp>
      <p:sp>
        <p:nvSpPr>
          <p:cNvPr id="17413" name="Rectangle 31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  <a:noFill/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6.2.2</a:t>
            </a:r>
            <a:r>
              <a:rPr lang="zh-CN" altLang="en-US" smtClean="0">
                <a:ea typeface="黑体" pitchFamily="49" charset="-122"/>
              </a:rPr>
              <a:t>配合物的稳定性及影响配位平衡的主要因素</a:t>
            </a:r>
            <a:endParaRPr lang="zh-CN" altLang="en-US" sz="1200" b="0" smtClean="0">
              <a:solidFill>
                <a:srgbClr val="0000FF"/>
              </a:solidFill>
              <a:ea typeface="黑体" pitchFamily="49" charset="-122"/>
            </a:endParaRPr>
          </a:p>
        </p:txBody>
      </p:sp>
      <p:sp>
        <p:nvSpPr>
          <p:cNvPr id="40992" name="Rectangle 32"/>
          <p:cNvSpPr>
            <a:spLocks noChangeArrowheads="1"/>
          </p:cNvSpPr>
          <p:nvPr/>
        </p:nvSpPr>
        <p:spPr bwMode="auto">
          <a:xfrm>
            <a:off x="2974975" y="3240076"/>
            <a:ext cx="3997325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i="1" dirty="0" err="1">
                <a:ea typeface="楷体_GB2312" pitchFamily="49" charset="-122"/>
              </a:rPr>
              <a:t>α</a:t>
            </a:r>
            <a:r>
              <a:rPr lang="en-US" altLang="zh-CN" sz="2500" b="1" baseline="-25000" dirty="0" err="1">
                <a:ea typeface="楷体_GB2312" pitchFamily="49" charset="-122"/>
              </a:rPr>
              <a:t>M</a:t>
            </a:r>
            <a:r>
              <a:rPr lang="en-US" altLang="zh-CN" sz="2500" b="1" baseline="-25000" dirty="0">
                <a:ea typeface="楷体_GB2312" pitchFamily="49" charset="-122"/>
              </a:rPr>
              <a:t> </a:t>
            </a:r>
            <a:r>
              <a:rPr lang="en-US" altLang="zh-CN" sz="2500" b="1" dirty="0">
                <a:ea typeface="楷体_GB2312" pitchFamily="49" charset="-122"/>
              </a:rPr>
              <a:t>= </a:t>
            </a:r>
            <a:r>
              <a:rPr lang="en-US" altLang="zh-CN" sz="2500" b="1" i="1" dirty="0" err="1">
                <a:ea typeface="楷体_GB2312" pitchFamily="49" charset="-122"/>
              </a:rPr>
              <a:t>α</a:t>
            </a:r>
            <a:r>
              <a:rPr lang="en-US" altLang="zh-CN" sz="2500" b="1" baseline="-25000" dirty="0" err="1">
                <a:ea typeface="楷体_GB2312" pitchFamily="49" charset="-122"/>
              </a:rPr>
              <a:t>M</a:t>
            </a:r>
            <a:r>
              <a:rPr lang="en-US" altLang="zh-CN" sz="2500" b="1" baseline="-25000" dirty="0">
                <a:ea typeface="楷体_GB2312" pitchFamily="49" charset="-122"/>
              </a:rPr>
              <a:t>(L) </a:t>
            </a:r>
            <a:r>
              <a:rPr lang="en-US" altLang="zh-CN" sz="2500" b="1" dirty="0">
                <a:ea typeface="楷体_GB2312" pitchFamily="49" charset="-122"/>
              </a:rPr>
              <a:t>+ </a:t>
            </a:r>
            <a:r>
              <a:rPr lang="en-US" altLang="zh-CN" sz="2500" b="1" i="1" dirty="0" err="1">
                <a:ea typeface="楷体_GB2312" pitchFamily="49" charset="-122"/>
              </a:rPr>
              <a:t>α</a:t>
            </a:r>
            <a:r>
              <a:rPr lang="en-US" altLang="zh-CN" sz="2500" b="1" baseline="-25000" dirty="0" err="1">
                <a:ea typeface="楷体_GB2312" pitchFamily="49" charset="-122"/>
              </a:rPr>
              <a:t>M</a:t>
            </a:r>
            <a:r>
              <a:rPr lang="en-US" altLang="zh-CN" sz="2500" b="1" baseline="-25000" dirty="0">
                <a:ea typeface="楷体_GB2312" pitchFamily="49" charset="-122"/>
              </a:rPr>
              <a:t>(OH) </a:t>
            </a:r>
            <a:r>
              <a:rPr lang="en-US" altLang="zh-CN" sz="2500" b="1" dirty="0">
                <a:ea typeface="楷体_GB2312" pitchFamily="49" charset="-122"/>
              </a:rPr>
              <a:t>- 1           </a:t>
            </a:r>
          </a:p>
        </p:txBody>
      </p:sp>
      <p:sp>
        <p:nvSpPr>
          <p:cNvPr id="17415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16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0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409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409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409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409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40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78" grpId="0" autoUpdateAnimBg="0"/>
      <p:bldP spid="40980" grpId="0" build="p" autoUpdateAnimBg="0"/>
      <p:bldP spid="40989" grpId="0" autoUpdateAnimBg="0"/>
      <p:bldP spid="40992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92" name="Rectangle 8"/>
          <p:cNvSpPr>
            <a:spLocks noChangeArrowheads="1"/>
          </p:cNvSpPr>
          <p:nvPr/>
        </p:nvSpPr>
        <p:spPr bwMode="auto">
          <a:xfrm>
            <a:off x="906464" y="1428750"/>
            <a:ext cx="4782566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MY</a:t>
            </a:r>
            <a:r>
              <a:rPr lang="zh-CN" altLang="en-US" sz="2500" b="1" dirty="0">
                <a:ea typeface="楷体_GB2312" pitchFamily="49" charset="-122"/>
              </a:rPr>
              <a:t>在水溶液中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  <a:r>
              <a:rPr lang="en-US" altLang="zh-CN" sz="2500" b="1" i="1" dirty="0">
                <a:ea typeface="楷体_GB2312" pitchFamily="49" charset="-122"/>
              </a:rPr>
              <a:t>      </a:t>
            </a:r>
            <a:r>
              <a:rPr lang="en-US" altLang="zh-CN" sz="2500" b="1" dirty="0">
                <a:ea typeface="楷体_GB2312" pitchFamily="49" charset="-122"/>
              </a:rPr>
              <a:t>M + Y ⇋ MY</a:t>
            </a:r>
          </a:p>
        </p:txBody>
      </p:sp>
      <p:sp>
        <p:nvSpPr>
          <p:cNvPr id="41998" name="Rectangle 14"/>
          <p:cNvSpPr>
            <a:spLocks noChangeArrowheads="1"/>
          </p:cNvSpPr>
          <p:nvPr/>
        </p:nvSpPr>
        <p:spPr bwMode="auto">
          <a:xfrm>
            <a:off x="2556055" y="5290591"/>
            <a:ext cx="4034822" cy="861774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  <a:sym typeface="Webdings" pitchFamily="18" charset="2"/>
              </a:rPr>
              <a:t>因为</a:t>
            </a:r>
            <a:r>
              <a:rPr lang="en-US" altLang="zh-CN" sz="2500" b="1" dirty="0" smtClean="0">
                <a:ea typeface="楷体_GB2312" pitchFamily="49" charset="-122"/>
                <a:sym typeface="Webdings" pitchFamily="18" charset="2"/>
              </a:rPr>
              <a:t>[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M’] = [</a:t>
            </a:r>
            <a:r>
              <a:rPr lang="en-US" altLang="zh-CN" sz="2500" b="1" dirty="0" smtClean="0">
                <a:ea typeface="楷体_GB2312" pitchFamily="49" charset="-122"/>
                <a:sym typeface="Webdings" pitchFamily="18" charset="2"/>
              </a:rPr>
              <a:t>M]</a:t>
            </a:r>
            <a:r>
              <a:rPr lang="en-US" altLang="zh-CN" sz="2500" b="1" i="1" dirty="0" smtClean="0">
                <a:ea typeface="楷体_GB2312" pitchFamily="49" charset="-122"/>
              </a:rPr>
              <a:t>α</a:t>
            </a:r>
            <a:r>
              <a:rPr lang="en-US" altLang="zh-CN" sz="2500" b="1" baseline="-25000" dirty="0" smtClean="0">
                <a:ea typeface="楷体_GB2312" pitchFamily="49" charset="-122"/>
              </a:rPr>
              <a:t>M</a:t>
            </a:r>
            <a:r>
              <a:rPr lang="en-US" altLang="zh-CN" sz="2500" b="1" dirty="0">
                <a:ea typeface="楷体_GB2312" pitchFamily="49" charset="-122"/>
              </a:rPr>
              <a:t>;</a:t>
            </a:r>
          </a:p>
          <a:p>
            <a:r>
              <a:rPr lang="en-US" altLang="zh-CN" sz="2500" b="1" dirty="0">
                <a:ea typeface="楷体_GB2312" pitchFamily="49" charset="-122"/>
              </a:rPr>
              <a:t>    </a:t>
            </a:r>
            <a:r>
              <a:rPr lang="en-US" altLang="zh-CN" sz="2500" b="1" dirty="0" smtClean="0">
                <a:ea typeface="楷体_GB2312" pitchFamily="49" charset="-122"/>
              </a:rPr>
              <a:t>   [</a:t>
            </a:r>
            <a:r>
              <a:rPr lang="en-US" altLang="zh-CN" sz="2500" b="1" dirty="0">
                <a:ea typeface="楷体_GB2312" pitchFamily="49" charset="-122"/>
              </a:rPr>
              <a:t>Y’] = [</a:t>
            </a:r>
            <a:r>
              <a:rPr lang="en-US" altLang="zh-CN" sz="2500" b="1" dirty="0" smtClean="0">
                <a:ea typeface="楷体_GB2312" pitchFamily="49" charset="-122"/>
              </a:rPr>
              <a:t>Y]</a:t>
            </a:r>
            <a:r>
              <a:rPr lang="en-US" altLang="zh-CN" sz="2500" b="1" i="1" dirty="0" smtClean="0">
                <a:ea typeface="楷体_GB2312" pitchFamily="49" charset="-122"/>
              </a:rPr>
              <a:t>α</a:t>
            </a:r>
            <a:r>
              <a:rPr lang="en-US" altLang="zh-CN" sz="2500" b="1" baseline="-25000" dirty="0" smtClean="0">
                <a:ea typeface="楷体_GB2312" pitchFamily="49" charset="-122"/>
              </a:rPr>
              <a:t>Y</a:t>
            </a:r>
            <a:r>
              <a:rPr lang="en-US" altLang="zh-CN" sz="2500" b="1" baseline="-25000" dirty="0">
                <a:ea typeface="楷体_GB2312" pitchFamily="49" charset="-122"/>
              </a:rPr>
              <a:t>.</a:t>
            </a:r>
            <a:r>
              <a:rPr lang="en-US" altLang="zh-CN" sz="2500" b="1" i="1" dirty="0">
                <a:ea typeface="楷体_GB2312" pitchFamily="49" charset="-122"/>
              </a:rPr>
              <a:t> </a:t>
            </a:r>
            <a:r>
              <a:rPr lang="en-US" altLang="zh-CN" sz="2500" b="1" i="1" dirty="0" smtClean="0">
                <a:ea typeface="楷体_GB2312" pitchFamily="49" charset="-122"/>
              </a:rPr>
              <a:t> </a:t>
            </a:r>
            <a:r>
              <a:rPr lang="zh-CN" altLang="en-US" sz="2500" b="1" i="1" dirty="0" smtClean="0">
                <a:ea typeface="楷体_GB2312" pitchFamily="49" charset="-122"/>
              </a:rPr>
              <a:t>代入式中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41999" name="Rectangle 15"/>
          <p:cNvSpPr>
            <a:spLocks noChangeArrowheads="1"/>
          </p:cNvSpPr>
          <p:nvPr/>
        </p:nvSpPr>
        <p:spPr bwMode="auto">
          <a:xfrm>
            <a:off x="2628900" y="2005013"/>
            <a:ext cx="1412875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zh-CN" altLang="en-US" sz="2500" b="1" baseline="-25000">
                <a:ea typeface="楷体_GB2312" pitchFamily="49" charset="-122"/>
                <a:sym typeface="Webdings" pitchFamily="18" charset="2"/>
              </a:rPr>
              <a:t>稳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,MY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 =</a:t>
            </a:r>
          </a:p>
        </p:txBody>
      </p:sp>
      <p:sp>
        <p:nvSpPr>
          <p:cNvPr id="42000" name="Line 16"/>
          <p:cNvSpPr>
            <a:spLocks noChangeShapeType="1"/>
          </p:cNvSpPr>
          <p:nvPr/>
        </p:nvSpPr>
        <p:spPr bwMode="auto">
          <a:xfrm>
            <a:off x="4117975" y="2239963"/>
            <a:ext cx="22082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2001" name="Rectangle 17"/>
          <p:cNvSpPr>
            <a:spLocks noChangeArrowheads="1"/>
          </p:cNvSpPr>
          <p:nvPr/>
        </p:nvSpPr>
        <p:spPr bwMode="auto">
          <a:xfrm>
            <a:off x="4689475" y="1811338"/>
            <a:ext cx="1824038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[MY]</a:t>
            </a:r>
          </a:p>
        </p:txBody>
      </p:sp>
      <p:sp>
        <p:nvSpPr>
          <p:cNvPr id="42002" name="Rectangle 18"/>
          <p:cNvSpPr>
            <a:spLocks noChangeArrowheads="1"/>
          </p:cNvSpPr>
          <p:nvPr/>
        </p:nvSpPr>
        <p:spPr bwMode="auto">
          <a:xfrm>
            <a:off x="4618038" y="2239963"/>
            <a:ext cx="1147762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[M][Y]</a:t>
            </a:r>
          </a:p>
        </p:txBody>
      </p:sp>
      <p:sp>
        <p:nvSpPr>
          <p:cNvPr id="42003" name="Rectangle 19"/>
          <p:cNvSpPr>
            <a:spLocks noChangeArrowheads="1"/>
          </p:cNvSpPr>
          <p:nvPr/>
        </p:nvSpPr>
        <p:spPr bwMode="auto">
          <a:xfrm>
            <a:off x="4579527" y="3496435"/>
            <a:ext cx="13620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[M’][Y’]</a:t>
            </a:r>
          </a:p>
        </p:txBody>
      </p:sp>
      <p:sp>
        <p:nvSpPr>
          <p:cNvPr id="42004" name="Rectangle 20"/>
          <p:cNvSpPr>
            <a:spLocks noChangeArrowheads="1"/>
          </p:cNvSpPr>
          <p:nvPr/>
        </p:nvSpPr>
        <p:spPr bwMode="auto">
          <a:xfrm>
            <a:off x="3117850" y="3166367"/>
            <a:ext cx="1252331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 smtClean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’</a:t>
            </a:r>
            <a:r>
              <a:rPr lang="en-US" altLang="zh-CN" sz="2500" b="1" baseline="-25000" dirty="0" smtClean="0">
                <a:ea typeface="楷体_GB2312" pitchFamily="49" charset="-122"/>
                <a:sym typeface="Webdings" pitchFamily="18" charset="2"/>
              </a:rPr>
              <a:t>MY</a:t>
            </a:r>
            <a:r>
              <a:rPr lang="en-US" altLang="zh-CN" sz="2500" b="1" dirty="0" smtClean="0">
                <a:ea typeface="楷体_GB2312" pitchFamily="49" charset="-122"/>
                <a:sym typeface="Webdings" pitchFamily="18" charset="2"/>
              </a:rPr>
              <a:t> 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=</a:t>
            </a:r>
          </a:p>
        </p:txBody>
      </p:sp>
      <p:sp>
        <p:nvSpPr>
          <p:cNvPr id="42008" name="Line 24"/>
          <p:cNvSpPr>
            <a:spLocks noChangeShapeType="1"/>
          </p:cNvSpPr>
          <p:nvPr/>
        </p:nvSpPr>
        <p:spPr bwMode="auto">
          <a:xfrm>
            <a:off x="4443413" y="3439416"/>
            <a:ext cx="1611013" cy="1459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42009" name="Rectangle 25"/>
          <p:cNvSpPr>
            <a:spLocks noChangeArrowheads="1"/>
          </p:cNvSpPr>
          <p:nvPr/>
        </p:nvSpPr>
        <p:spPr bwMode="auto">
          <a:xfrm>
            <a:off x="4618038" y="2952055"/>
            <a:ext cx="1173719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[MY</a:t>
            </a:r>
            <a:r>
              <a:rPr lang="en-US" altLang="zh-CN" sz="2500" b="1" dirty="0" smtClean="0">
                <a:ea typeface="楷体_GB2312" pitchFamily="49" charset="-122"/>
                <a:sym typeface="Webdings" pitchFamily="18" charset="2"/>
              </a:rPr>
              <a:t>]   </a:t>
            </a:r>
            <a:endParaRPr lang="en-US" altLang="zh-CN" sz="2500" b="1" baseline="-25000" dirty="0">
              <a:ea typeface="楷体_GB2312" pitchFamily="49" charset="-122"/>
            </a:endParaRPr>
          </a:p>
        </p:txBody>
      </p:sp>
      <p:sp>
        <p:nvSpPr>
          <p:cNvPr id="42010" name="Rectangle 26"/>
          <p:cNvSpPr>
            <a:spLocks noChangeArrowheads="1"/>
          </p:cNvSpPr>
          <p:nvPr/>
        </p:nvSpPr>
        <p:spPr bwMode="auto">
          <a:xfrm>
            <a:off x="1590554" y="4203362"/>
            <a:ext cx="1332481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i="1" dirty="0" smtClean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’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MY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 = </a:t>
            </a:r>
          </a:p>
        </p:txBody>
      </p:sp>
      <p:sp>
        <p:nvSpPr>
          <p:cNvPr id="42011" name="Line 27"/>
          <p:cNvSpPr>
            <a:spLocks noChangeShapeType="1"/>
          </p:cNvSpPr>
          <p:nvPr/>
        </p:nvSpPr>
        <p:spPr bwMode="auto">
          <a:xfrm>
            <a:off x="3190754" y="4531974"/>
            <a:ext cx="2209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2012" name="Rectangle 28"/>
          <p:cNvSpPr>
            <a:spLocks noChangeArrowheads="1"/>
          </p:cNvSpPr>
          <p:nvPr/>
        </p:nvSpPr>
        <p:spPr bwMode="auto">
          <a:xfrm>
            <a:off x="3689229" y="4033499"/>
            <a:ext cx="93345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[MY]</a:t>
            </a:r>
          </a:p>
        </p:txBody>
      </p:sp>
      <p:sp>
        <p:nvSpPr>
          <p:cNvPr id="42013" name="Rectangle 29"/>
          <p:cNvSpPr>
            <a:spLocks noChangeArrowheads="1"/>
          </p:cNvSpPr>
          <p:nvPr/>
        </p:nvSpPr>
        <p:spPr bwMode="auto">
          <a:xfrm>
            <a:off x="3373316" y="4465299"/>
            <a:ext cx="24003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[M’][Y’]</a:t>
            </a:r>
          </a:p>
        </p:txBody>
      </p:sp>
      <p:sp>
        <p:nvSpPr>
          <p:cNvPr id="42022" name="Rectangle 38"/>
          <p:cNvSpPr>
            <a:spLocks noChangeArrowheads="1"/>
          </p:cNvSpPr>
          <p:nvPr/>
        </p:nvSpPr>
        <p:spPr bwMode="auto">
          <a:xfrm>
            <a:off x="691114" y="697707"/>
            <a:ext cx="3350661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 smtClean="0">
                <a:solidFill>
                  <a:srgbClr val="FF3300"/>
                </a:solidFill>
                <a:ea typeface="楷体_GB2312" pitchFamily="49" charset="-122"/>
              </a:rPr>
              <a:t>3.</a:t>
            </a:r>
            <a:r>
              <a:rPr lang="zh-CN" altLang="en-US" sz="2500" b="1" dirty="0" smtClean="0">
                <a:solidFill>
                  <a:srgbClr val="FF3300"/>
                </a:solidFill>
                <a:ea typeface="楷体_GB2312" pitchFamily="49" charset="-122"/>
              </a:rPr>
              <a:t>条件稳定常数</a:t>
            </a:r>
            <a:r>
              <a:rPr lang="en-US" altLang="zh-CN" sz="2500" b="1" i="1" dirty="0">
                <a:solidFill>
                  <a:srgbClr val="FF0000"/>
                </a:solidFill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’</a:t>
            </a:r>
            <a:r>
              <a:rPr lang="en-US" altLang="zh-CN" sz="2500" b="1" baseline="-25000" dirty="0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MY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 </a:t>
            </a:r>
            <a:r>
              <a:rPr lang="en-US" altLang="zh-CN" sz="2500" b="1" dirty="0" smtClean="0">
                <a:solidFill>
                  <a:srgbClr val="FF3300"/>
                </a:solidFill>
                <a:ea typeface="楷体_GB2312" pitchFamily="49" charset="-122"/>
              </a:rPr>
              <a:t>:</a:t>
            </a:r>
            <a:endParaRPr lang="en-US" altLang="zh-CN" sz="2500" b="1" dirty="0">
              <a:solidFill>
                <a:srgbClr val="FF3300"/>
              </a:solidFill>
              <a:ea typeface="楷体_GB2312" pitchFamily="49" charset="-122"/>
            </a:endParaRPr>
          </a:p>
        </p:txBody>
      </p:sp>
      <p:sp>
        <p:nvSpPr>
          <p:cNvPr id="42023" name="Rectangle 39"/>
          <p:cNvSpPr>
            <a:spLocks noChangeArrowheads="1"/>
          </p:cNvSpPr>
          <p:nvPr/>
        </p:nvSpPr>
        <p:spPr bwMode="auto">
          <a:xfrm>
            <a:off x="325535" y="2787959"/>
            <a:ext cx="3402012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500" b="1" dirty="0">
                <a:ea typeface="楷体_GB2312" pitchFamily="49" charset="-122"/>
                <a:sym typeface="Webdings" pitchFamily="18" charset="2"/>
              </a:rPr>
              <a:t>若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M</a:t>
            </a:r>
            <a:r>
              <a:rPr lang="zh-CN" altLang="en-US" sz="2500" b="1" dirty="0">
                <a:ea typeface="楷体_GB2312" pitchFamily="49" charset="-122"/>
                <a:sym typeface="Webdings" pitchFamily="18" charset="2"/>
              </a:rPr>
              <a:t>、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Y</a:t>
            </a:r>
            <a:r>
              <a:rPr lang="zh-CN" altLang="en-US" sz="2500" b="1" dirty="0">
                <a:ea typeface="楷体_GB2312" pitchFamily="49" charset="-122"/>
                <a:sym typeface="Webdings" pitchFamily="18" charset="2"/>
              </a:rPr>
              <a:t>均发生副反应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:</a:t>
            </a:r>
          </a:p>
        </p:txBody>
      </p:sp>
      <p:sp>
        <p:nvSpPr>
          <p:cNvPr id="18450" name="Rectangle 42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  <a:noFill/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6.2.2</a:t>
            </a:r>
            <a:r>
              <a:rPr lang="zh-CN" altLang="en-US" smtClean="0">
                <a:ea typeface="黑体" pitchFamily="49" charset="-122"/>
              </a:rPr>
              <a:t>配合物的稳定性及影响配位平衡的主要因素</a:t>
            </a:r>
            <a:endParaRPr lang="zh-CN" altLang="en-US" sz="1200" b="0" smtClean="0">
              <a:solidFill>
                <a:srgbClr val="0000FF"/>
              </a:solidFill>
              <a:ea typeface="黑体" pitchFamily="49" charset="-122"/>
            </a:endParaRPr>
          </a:p>
        </p:txBody>
      </p:sp>
      <p:sp>
        <p:nvSpPr>
          <p:cNvPr id="18451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52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5501854" y="4334092"/>
            <a:ext cx="3161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ea typeface="楷体_GB2312" pitchFamily="49" charset="-122"/>
                <a:sym typeface="Webdings" pitchFamily="18" charset="2"/>
              </a:rPr>
              <a:t>=</a:t>
            </a:r>
            <a:endParaRPr lang="zh-CN" altLang="en-US" dirty="0"/>
          </a:p>
        </p:txBody>
      </p:sp>
      <p:sp>
        <p:nvSpPr>
          <p:cNvPr id="22" name="Rectangle 25"/>
          <p:cNvSpPr>
            <a:spLocks noChangeArrowheads="1"/>
          </p:cNvSpPr>
          <p:nvPr/>
        </p:nvSpPr>
        <p:spPr bwMode="auto">
          <a:xfrm>
            <a:off x="5774042" y="3963342"/>
            <a:ext cx="933269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[</a:t>
            </a:r>
            <a:r>
              <a:rPr lang="en-US" altLang="zh-CN" sz="2500" b="1" dirty="0" smtClean="0">
                <a:ea typeface="楷体_GB2312" pitchFamily="49" charset="-122"/>
                <a:sym typeface="Webdings" pitchFamily="18" charset="2"/>
              </a:rPr>
              <a:t>MY]</a:t>
            </a:r>
            <a:endParaRPr lang="en-US" altLang="zh-CN" sz="2500" b="1" baseline="-25000" dirty="0">
              <a:ea typeface="楷体_GB2312" pitchFamily="49" charset="-122"/>
            </a:endParaRPr>
          </a:p>
        </p:txBody>
      </p:sp>
      <p:sp>
        <p:nvSpPr>
          <p:cNvPr id="23" name="Line 24"/>
          <p:cNvSpPr>
            <a:spLocks noChangeShapeType="1"/>
          </p:cNvSpPr>
          <p:nvPr/>
        </p:nvSpPr>
        <p:spPr bwMode="auto">
          <a:xfrm>
            <a:off x="5927605" y="4495627"/>
            <a:ext cx="1471788" cy="1412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5824416" y="4503713"/>
            <a:ext cx="10438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ea typeface="楷体_GB2312" pitchFamily="49" charset="-122"/>
                <a:sym typeface="Webdings" pitchFamily="18" charset="2"/>
              </a:rPr>
              <a:t>[M]</a:t>
            </a:r>
            <a:r>
              <a:rPr lang="en-US" altLang="zh-CN" sz="2400" b="1" i="1" dirty="0">
                <a:ea typeface="楷体_GB2312" pitchFamily="49" charset="-122"/>
              </a:rPr>
              <a:t>α</a:t>
            </a:r>
            <a:r>
              <a:rPr lang="en-US" altLang="zh-CN" sz="2400" b="1" baseline="-25000" dirty="0">
                <a:ea typeface="楷体_GB2312" pitchFamily="49" charset="-122"/>
              </a:rPr>
              <a:t>M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6697141" y="4508649"/>
            <a:ext cx="9300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ea typeface="楷体_GB2312" pitchFamily="49" charset="-122"/>
              </a:rPr>
              <a:t>[Y]</a:t>
            </a:r>
            <a:r>
              <a:rPr lang="en-US" altLang="zh-CN" sz="2400" b="1" i="1" dirty="0">
                <a:ea typeface="楷体_GB2312" pitchFamily="49" charset="-122"/>
              </a:rPr>
              <a:t>α</a:t>
            </a:r>
            <a:r>
              <a:rPr lang="en-US" altLang="zh-CN" sz="2400" b="1" baseline="-25000" dirty="0">
                <a:ea typeface="楷体_GB2312" pitchFamily="49" charset="-122"/>
              </a:rPr>
              <a:t>Y</a:t>
            </a:r>
            <a:endParaRPr lang="zh-CN" altLang="en-US" sz="2400" dirty="0"/>
          </a:p>
        </p:txBody>
      </p:sp>
      <p:sp>
        <p:nvSpPr>
          <p:cNvPr id="26" name="矩形 25"/>
          <p:cNvSpPr/>
          <p:nvPr/>
        </p:nvSpPr>
        <p:spPr>
          <a:xfrm>
            <a:off x="7556636" y="4365213"/>
            <a:ext cx="3161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ea typeface="楷体_GB2312" pitchFamily="49" charset="-122"/>
                <a:sym typeface="Webdings" pitchFamily="18" charset="2"/>
              </a:rPr>
              <a:t>=</a:t>
            </a:r>
            <a:endParaRPr lang="zh-CN" altLang="en-US" dirty="0"/>
          </a:p>
        </p:txBody>
      </p:sp>
      <p:sp>
        <p:nvSpPr>
          <p:cNvPr id="27" name="Rectangle 20"/>
          <p:cNvSpPr>
            <a:spLocks noChangeArrowheads="1"/>
          </p:cNvSpPr>
          <p:nvPr/>
        </p:nvSpPr>
        <p:spPr bwMode="auto">
          <a:xfrm>
            <a:off x="8116098" y="3888159"/>
            <a:ext cx="889987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smtClean="0">
                <a:ea typeface="楷体_GB2312" pitchFamily="49" charset="-122"/>
                <a:sym typeface="Webdings" pitchFamily="18" charset="2"/>
              </a:rPr>
              <a:t>MY</a:t>
            </a:r>
            <a:endParaRPr lang="en-US" altLang="zh-CN" sz="2500" b="1" dirty="0">
              <a:ea typeface="楷体_GB2312" pitchFamily="49" charset="-122"/>
              <a:sym typeface="Webdings" pitchFamily="18" charset="2"/>
            </a:endParaRPr>
          </a:p>
        </p:txBody>
      </p:sp>
      <p:sp>
        <p:nvSpPr>
          <p:cNvPr id="28" name="Line 24"/>
          <p:cNvSpPr>
            <a:spLocks noChangeShapeType="1"/>
          </p:cNvSpPr>
          <p:nvPr/>
        </p:nvSpPr>
        <p:spPr bwMode="auto">
          <a:xfrm>
            <a:off x="7872748" y="4433335"/>
            <a:ext cx="1471788" cy="1412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071651" y="4447457"/>
            <a:ext cx="5485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ea typeface="楷体_GB2312" pitchFamily="49" charset="-122"/>
              </a:rPr>
              <a:t>α</a:t>
            </a:r>
            <a:r>
              <a:rPr lang="en-US" altLang="zh-CN" sz="2400" b="1" baseline="-25000" dirty="0">
                <a:ea typeface="楷体_GB2312" pitchFamily="49" charset="-122"/>
              </a:rPr>
              <a:t>M</a:t>
            </a:r>
            <a:endParaRPr lang="zh-CN" altLang="en-US" sz="2400" dirty="0"/>
          </a:p>
        </p:txBody>
      </p:sp>
      <p:sp>
        <p:nvSpPr>
          <p:cNvPr id="6" name="矩形 5"/>
          <p:cNvSpPr/>
          <p:nvPr/>
        </p:nvSpPr>
        <p:spPr>
          <a:xfrm>
            <a:off x="8634786" y="4465299"/>
            <a:ext cx="5020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ea typeface="楷体_GB2312" pitchFamily="49" charset="-122"/>
              </a:rPr>
              <a:t>α</a:t>
            </a:r>
            <a:r>
              <a:rPr lang="en-US" altLang="zh-CN" sz="2400" b="1" baseline="-25000" dirty="0">
                <a:ea typeface="楷体_GB2312" pitchFamily="49" charset="-122"/>
              </a:rPr>
              <a:t>Y</a:t>
            </a:r>
            <a:endParaRPr lang="zh-CN" altLang="en-US" sz="2400" dirty="0"/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2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4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41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500"/>
                                        <p:tgtEl>
                                          <p:spTgt spid="42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" dur="500"/>
                                        <p:tgtEl>
                                          <p:spTgt spid="42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9" dur="500"/>
                                        <p:tgtEl>
                                          <p:spTgt spid="420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4" dur="500"/>
                                        <p:tgtEl>
                                          <p:spTgt spid="42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9" dur="500"/>
                                        <p:tgtEl>
                                          <p:spTgt spid="419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4" dur="500"/>
                                        <p:tgtEl>
                                          <p:spTgt spid="419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9" dur="500"/>
                                        <p:tgtEl>
                                          <p:spTgt spid="42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3" dur="500"/>
                                        <p:tgtEl>
                                          <p:spTgt spid="42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42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1" dur="500"/>
                                        <p:tgtEl>
                                          <p:spTgt spid="420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6" dur="500"/>
                                        <p:tgtEl>
                                          <p:spTgt spid="42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0" dur="500"/>
                                        <p:tgtEl>
                                          <p:spTgt spid="42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4" dur="500"/>
                                        <p:tgtEl>
                                          <p:spTgt spid="42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500"/>
                            </p:stCondLst>
                            <p:childTnLst>
                              <p:par>
                                <p:cTn id="7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8" dur="500"/>
                                        <p:tgtEl>
                                          <p:spTgt spid="42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000"/>
                            </p:stCondLst>
                            <p:childTnLst>
                              <p:par>
                                <p:cTn id="8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500"/>
                            </p:stCondLst>
                            <p:childTnLst>
                              <p:par>
                                <p:cTn id="8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2" grpId="0" autoUpdateAnimBg="0"/>
      <p:bldP spid="41998" grpId="0" build="p" autoUpdateAnimBg="0"/>
      <p:bldP spid="41999" grpId="0" autoUpdateAnimBg="0"/>
      <p:bldP spid="42000" grpId="0" animBg="1"/>
      <p:bldP spid="42001" grpId="0" autoUpdateAnimBg="0"/>
      <p:bldP spid="42002" grpId="0" autoUpdateAnimBg="0"/>
      <p:bldP spid="42003" grpId="0" autoUpdateAnimBg="0"/>
      <p:bldP spid="42004" grpId="0" autoUpdateAnimBg="0"/>
      <p:bldP spid="42008" grpId="0" animBg="1"/>
      <p:bldP spid="42009" grpId="0" autoUpdateAnimBg="0"/>
      <p:bldP spid="42010" grpId="0" autoUpdateAnimBg="0"/>
      <p:bldP spid="42011" grpId="0" animBg="1"/>
      <p:bldP spid="42012" grpId="0" autoUpdateAnimBg="0"/>
      <p:bldP spid="42013" grpId="0" autoUpdateAnimBg="0"/>
      <p:bldP spid="42022" grpId="0" autoUpdateAnimBg="0"/>
      <p:bldP spid="42023" grpId="0" autoUpdateAnimBg="0"/>
      <p:bldP spid="22" grpId="0" autoUpdateAnimBg="0"/>
      <p:bldP spid="23" grpId="0" animBg="1"/>
      <p:bldP spid="27" grpId="0" autoUpdateAnimBg="0"/>
      <p:bldP spid="2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6" name="Rectangle 8"/>
          <p:cNvSpPr>
            <a:spLocks noChangeArrowheads="1"/>
          </p:cNvSpPr>
          <p:nvPr/>
        </p:nvSpPr>
        <p:spPr bwMode="auto">
          <a:xfrm>
            <a:off x="1189001" y="1703448"/>
            <a:ext cx="7092316" cy="2092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500" b="1" dirty="0" err="1">
                <a:ea typeface="楷体_GB2312"/>
              </a:rPr>
              <a:t>lg</a:t>
            </a:r>
            <a:r>
              <a:rPr lang="en-US" altLang="zh-CN" sz="2500" b="1" i="1" dirty="0" err="1">
                <a:ea typeface="楷体_GB2312"/>
              </a:rPr>
              <a:t>K</a:t>
            </a:r>
            <a:r>
              <a:rPr lang="en-US" altLang="zh-CN" sz="1600" b="1" baseline="100000" dirty="0" err="1">
                <a:ea typeface="楷体_GB2312"/>
                <a:sym typeface="Webdings" pitchFamily="18" charset="2"/>
              </a:rPr>
              <a:t></a:t>
            </a:r>
            <a:r>
              <a:rPr lang="en-US" altLang="zh-CN" sz="2500" b="1" dirty="0" err="1">
                <a:ea typeface="楷体_GB2312"/>
                <a:sym typeface="Webdings" pitchFamily="18" charset="2"/>
              </a:rPr>
              <a:t>’</a:t>
            </a:r>
            <a:r>
              <a:rPr lang="en-US" altLang="zh-CN" sz="2500" b="1" baseline="-25000" dirty="0" err="1">
                <a:ea typeface="楷体_GB2312"/>
                <a:sym typeface="Webdings" pitchFamily="18" charset="2"/>
              </a:rPr>
              <a:t>MY</a:t>
            </a:r>
            <a:r>
              <a:rPr lang="en-US" altLang="zh-CN" sz="2500" b="1" dirty="0">
                <a:ea typeface="楷体_GB2312"/>
                <a:sym typeface="Webdings" pitchFamily="18" charset="2"/>
              </a:rPr>
              <a:t> = </a:t>
            </a:r>
            <a:r>
              <a:rPr lang="en-US" altLang="zh-CN" sz="2500" b="1" dirty="0" err="1">
                <a:ea typeface="楷体_GB2312"/>
              </a:rPr>
              <a:t>lg</a:t>
            </a:r>
            <a:r>
              <a:rPr lang="en-US" altLang="zh-CN" sz="2500" b="1" i="1" dirty="0" err="1">
                <a:ea typeface="楷体_GB2312"/>
              </a:rPr>
              <a:t>K</a:t>
            </a:r>
            <a:r>
              <a:rPr lang="en-US" altLang="zh-CN" sz="1600" b="1" baseline="100000" dirty="0" err="1">
                <a:ea typeface="楷体_GB231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楷体_GB2312"/>
                <a:sym typeface="Webdings" pitchFamily="18" charset="2"/>
              </a:rPr>
              <a:t>MY</a:t>
            </a:r>
            <a:r>
              <a:rPr lang="en-US" altLang="zh-CN" sz="2500" b="1" dirty="0">
                <a:ea typeface="楷体_GB2312"/>
                <a:sym typeface="Webdings" pitchFamily="18" charset="2"/>
              </a:rPr>
              <a:t> - </a:t>
            </a:r>
            <a:r>
              <a:rPr lang="en-US" altLang="zh-CN" sz="2500" b="1" dirty="0" err="1">
                <a:ea typeface="楷体_GB2312"/>
              </a:rPr>
              <a:t>lg</a:t>
            </a:r>
            <a:r>
              <a:rPr lang="en-US" altLang="zh-CN" sz="2500" b="1" i="1" dirty="0" err="1">
                <a:ea typeface="楷体_GB2312"/>
              </a:rPr>
              <a:t>α</a:t>
            </a:r>
            <a:r>
              <a:rPr lang="en-US" altLang="zh-CN" sz="2500" b="1" baseline="-25000" dirty="0" err="1">
                <a:ea typeface="楷体_GB2312"/>
              </a:rPr>
              <a:t>Y</a:t>
            </a:r>
            <a:r>
              <a:rPr lang="en-US" altLang="zh-CN" sz="2500" b="1" dirty="0">
                <a:ea typeface="楷体_GB2312"/>
                <a:sym typeface="Symbol" pitchFamily="18" charset="2"/>
              </a:rPr>
              <a:t> </a:t>
            </a:r>
            <a:r>
              <a:rPr lang="en-US" altLang="zh-CN" sz="2500" b="1" dirty="0">
                <a:ea typeface="楷体_GB2312"/>
                <a:sym typeface="Webdings" pitchFamily="18" charset="2"/>
              </a:rPr>
              <a:t>- </a:t>
            </a:r>
            <a:r>
              <a:rPr lang="en-US" altLang="zh-CN" sz="2500" b="1" dirty="0" err="1">
                <a:ea typeface="楷体_GB2312"/>
              </a:rPr>
              <a:t>lg</a:t>
            </a:r>
            <a:r>
              <a:rPr lang="en-US" altLang="zh-CN" sz="2500" b="1" i="1" dirty="0" err="1">
                <a:ea typeface="楷体_GB2312"/>
              </a:rPr>
              <a:t>α</a:t>
            </a:r>
            <a:r>
              <a:rPr lang="en-US" altLang="zh-CN" sz="2500" b="1" baseline="-25000" dirty="0" err="1">
                <a:ea typeface="楷体_GB2312"/>
              </a:rPr>
              <a:t>M</a:t>
            </a:r>
            <a:endParaRPr lang="en-US" altLang="zh-CN" sz="2500" b="1" baseline="-25000" dirty="0">
              <a:ea typeface="楷体_GB2312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2500" b="1" dirty="0">
                <a:ea typeface="楷体_GB2312"/>
              </a:rPr>
              <a:t>        </a:t>
            </a:r>
            <a:r>
              <a:rPr lang="zh-CN" altLang="en-US" sz="2500" b="1" dirty="0">
                <a:ea typeface="楷体_GB2312"/>
              </a:rPr>
              <a:t>一般</a:t>
            </a:r>
            <a:r>
              <a:rPr lang="en-US" altLang="zh-CN" sz="2500" b="1" i="1" dirty="0" err="1">
                <a:ea typeface="楷体_GB2312"/>
              </a:rPr>
              <a:t>α</a:t>
            </a:r>
            <a:r>
              <a:rPr lang="en-US" altLang="zh-CN" sz="2500" b="1" baseline="-25000" dirty="0" err="1">
                <a:ea typeface="楷体_GB2312"/>
              </a:rPr>
              <a:t>Y</a:t>
            </a:r>
            <a:r>
              <a:rPr lang="zh-CN" altLang="en-US" sz="2500" b="1" dirty="0">
                <a:ea typeface="楷体_GB2312"/>
              </a:rPr>
              <a:t>、</a:t>
            </a:r>
            <a:r>
              <a:rPr lang="en-US" altLang="zh-CN" sz="2500" b="1" i="1" dirty="0" err="1">
                <a:ea typeface="楷体_GB2312"/>
              </a:rPr>
              <a:t>α</a:t>
            </a:r>
            <a:r>
              <a:rPr lang="en-US" altLang="zh-CN" sz="2500" b="1" baseline="-25000" dirty="0" err="1">
                <a:ea typeface="楷体_GB2312"/>
              </a:rPr>
              <a:t>M</a:t>
            </a:r>
            <a:r>
              <a:rPr lang="zh-CN" altLang="en-US" sz="2500" b="1" dirty="0">
                <a:ea typeface="楷体_GB2312"/>
              </a:rPr>
              <a:t>均大于</a:t>
            </a:r>
            <a:r>
              <a:rPr lang="en-US" altLang="zh-CN" sz="2500" b="1" dirty="0">
                <a:ea typeface="楷体_GB2312"/>
              </a:rPr>
              <a:t>1,</a:t>
            </a:r>
            <a:r>
              <a:rPr lang="zh-CN" altLang="en-US" sz="2500" b="1" dirty="0">
                <a:ea typeface="楷体_GB2312"/>
              </a:rPr>
              <a:t>故</a:t>
            </a:r>
            <a:r>
              <a:rPr lang="en-US" altLang="zh-CN" sz="2500" b="1" i="1" dirty="0">
                <a:ea typeface="楷体_GB2312"/>
              </a:rPr>
              <a:t>K</a:t>
            </a:r>
            <a:r>
              <a:rPr lang="en-US" altLang="zh-CN" sz="1600" b="1" baseline="100000" dirty="0">
                <a:ea typeface="楷体_GB2312"/>
                <a:sym typeface="Webdings" pitchFamily="18" charset="2"/>
              </a:rPr>
              <a:t></a:t>
            </a:r>
            <a:r>
              <a:rPr lang="en-US" altLang="zh-CN" sz="2500" b="1" dirty="0">
                <a:ea typeface="楷体_GB2312"/>
                <a:sym typeface="Webdings" pitchFamily="18" charset="2"/>
              </a:rPr>
              <a:t>’</a:t>
            </a:r>
            <a:r>
              <a:rPr lang="en-US" altLang="zh-CN" sz="2500" b="1" baseline="-25000" dirty="0">
                <a:ea typeface="楷体_GB2312"/>
                <a:sym typeface="Webdings" pitchFamily="18" charset="2"/>
              </a:rPr>
              <a:t>MY</a:t>
            </a:r>
            <a:r>
              <a:rPr lang="en-US" altLang="zh-CN" sz="2500" b="1" dirty="0">
                <a:ea typeface="楷体_GB2312"/>
                <a:sym typeface="Webdings" pitchFamily="18" charset="2"/>
              </a:rPr>
              <a:t> &lt; </a:t>
            </a:r>
            <a:r>
              <a:rPr lang="en-US" altLang="zh-CN" sz="2500" b="1" i="1" dirty="0">
                <a:ea typeface="楷体_GB2312"/>
              </a:rPr>
              <a:t>K</a:t>
            </a:r>
            <a:r>
              <a:rPr lang="en-US" altLang="zh-CN" sz="1600" b="1" baseline="100000" dirty="0">
                <a:ea typeface="楷体_GB231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ea typeface="楷体_GB2312"/>
                <a:sym typeface="Webdings" pitchFamily="18" charset="2"/>
              </a:rPr>
              <a:t>MY</a:t>
            </a:r>
            <a:r>
              <a:rPr lang="en-US" altLang="zh-CN" sz="2500" b="1" dirty="0">
                <a:ea typeface="楷体_GB2312"/>
                <a:sym typeface="Webdings" pitchFamily="18" charset="2"/>
              </a:rPr>
              <a:t>.</a:t>
            </a:r>
          </a:p>
          <a:p>
            <a:pPr>
              <a:lnSpc>
                <a:spcPct val="130000"/>
              </a:lnSpc>
              <a:defRPr/>
            </a:pPr>
            <a:r>
              <a:rPr lang="zh-CN" altLang="en-US" sz="2500" b="1" dirty="0">
                <a:solidFill>
                  <a:srgbClr val="FF3300"/>
                </a:solidFill>
                <a:ea typeface="楷体_GB2312"/>
              </a:rPr>
              <a:t>条件稳定常数</a:t>
            </a:r>
            <a:r>
              <a:rPr lang="en-US" altLang="zh-CN" sz="2500" b="1" dirty="0">
                <a:ea typeface="楷体_GB2312"/>
              </a:rPr>
              <a:t>(</a:t>
            </a:r>
            <a:r>
              <a:rPr lang="zh-CN" altLang="en-US" sz="2500" b="1" dirty="0">
                <a:ea typeface="楷体_GB2312"/>
              </a:rPr>
              <a:t>或</a:t>
            </a:r>
            <a:r>
              <a:rPr lang="zh-CN" altLang="en-US" sz="2500" b="1" dirty="0">
                <a:solidFill>
                  <a:srgbClr val="FF3300"/>
                </a:solidFill>
                <a:ea typeface="楷体_GB2312"/>
              </a:rPr>
              <a:t>表观稳定常数</a:t>
            </a:r>
            <a:r>
              <a:rPr lang="en-US" altLang="zh-CN" sz="2500" b="1" dirty="0">
                <a:ea typeface="楷体_GB2312"/>
              </a:rPr>
              <a:t>,</a:t>
            </a:r>
            <a:r>
              <a:rPr lang="zh-CN" altLang="en-US" sz="2500" b="1" dirty="0">
                <a:ea typeface="楷体_GB2312"/>
              </a:rPr>
              <a:t>或</a:t>
            </a:r>
            <a:r>
              <a:rPr lang="zh-CN" altLang="en-US" sz="2500" b="1" dirty="0">
                <a:solidFill>
                  <a:srgbClr val="FF3300"/>
                </a:solidFill>
                <a:ea typeface="楷体_GB2312"/>
              </a:rPr>
              <a:t>有效稳定常数</a:t>
            </a:r>
            <a:r>
              <a:rPr lang="en-US" altLang="zh-CN" sz="2500" b="1" dirty="0">
                <a:ea typeface="楷体_GB2312"/>
              </a:rPr>
              <a:t>):</a:t>
            </a:r>
          </a:p>
          <a:p>
            <a:pPr>
              <a:lnSpc>
                <a:spcPct val="130000"/>
              </a:lnSpc>
              <a:defRPr/>
            </a:pPr>
            <a:r>
              <a:rPr lang="zh-CN" altLang="en-US" sz="2500" b="1" dirty="0">
                <a:ea typeface="楷体_GB2312"/>
                <a:sym typeface="Webdings" pitchFamily="18" charset="2"/>
              </a:rPr>
              <a:t>若</a:t>
            </a:r>
            <a:r>
              <a:rPr lang="zh-CN" altLang="en-US" sz="25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  <a:sym typeface="Webdings" pitchFamily="18" charset="2"/>
              </a:rPr>
              <a:t>只存在酸效应</a:t>
            </a:r>
            <a:r>
              <a:rPr lang="en-US" altLang="zh-CN" sz="2500" b="1" dirty="0">
                <a:ea typeface="楷体_GB2312"/>
                <a:sym typeface="Webdings" pitchFamily="18" charset="2"/>
              </a:rPr>
              <a:t>,</a:t>
            </a:r>
            <a:r>
              <a:rPr lang="zh-CN" altLang="en-US" sz="2500" b="1" dirty="0">
                <a:ea typeface="楷体_GB2312"/>
                <a:sym typeface="Webdings" pitchFamily="18" charset="2"/>
              </a:rPr>
              <a:t>则</a:t>
            </a:r>
            <a:r>
              <a:rPr lang="en-US" altLang="zh-CN" sz="2500" b="1" dirty="0">
                <a:ea typeface="楷体_GB2312"/>
                <a:sym typeface="Webdings" pitchFamily="18" charset="2"/>
              </a:rPr>
              <a:t>:</a:t>
            </a:r>
          </a:p>
        </p:txBody>
      </p:sp>
      <p:sp>
        <p:nvSpPr>
          <p:cNvPr id="43018" name="Rectangle 10"/>
          <p:cNvSpPr>
            <a:spLocks noChangeArrowheads="1"/>
          </p:cNvSpPr>
          <p:nvPr/>
        </p:nvSpPr>
        <p:spPr bwMode="auto">
          <a:xfrm>
            <a:off x="2187979" y="3823643"/>
            <a:ext cx="4280146" cy="564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u="sng" dirty="0" err="1">
                <a:solidFill>
                  <a:srgbClr val="FF0000"/>
                </a:solidFill>
                <a:ea typeface="楷体_GB2312" pitchFamily="49" charset="-122"/>
              </a:rPr>
              <a:t>lg</a:t>
            </a:r>
            <a:r>
              <a:rPr lang="en-US" altLang="zh-CN" sz="2800" b="1" i="1" u="sng" dirty="0" err="1">
                <a:solidFill>
                  <a:srgbClr val="FF0000"/>
                </a:solidFill>
                <a:ea typeface="楷体_GB2312" pitchFamily="49" charset="-122"/>
              </a:rPr>
              <a:t>K</a:t>
            </a:r>
            <a:r>
              <a:rPr lang="en-US" altLang="zh-CN" sz="2800" b="1" u="sng" baseline="100000" dirty="0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800" b="1" u="sng" dirty="0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’</a:t>
            </a:r>
            <a:r>
              <a:rPr lang="en-US" altLang="zh-CN" sz="2800" b="1" u="sng" baseline="-25000" dirty="0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MY</a:t>
            </a:r>
            <a:r>
              <a:rPr lang="en-US" altLang="zh-CN" sz="2800" b="1" u="sng" dirty="0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 = </a:t>
            </a:r>
            <a:r>
              <a:rPr lang="en-US" altLang="zh-CN" sz="2800" b="1" u="sng" dirty="0" err="1">
                <a:solidFill>
                  <a:srgbClr val="FF0000"/>
                </a:solidFill>
                <a:ea typeface="楷体_GB2312" pitchFamily="49" charset="-122"/>
              </a:rPr>
              <a:t>lg</a:t>
            </a:r>
            <a:r>
              <a:rPr lang="en-US" altLang="zh-CN" sz="2800" b="1" i="1" u="sng" dirty="0" err="1">
                <a:solidFill>
                  <a:srgbClr val="FF0000"/>
                </a:solidFill>
                <a:ea typeface="楷体_GB2312" pitchFamily="49" charset="-122"/>
              </a:rPr>
              <a:t>K</a:t>
            </a:r>
            <a:r>
              <a:rPr lang="en-US" altLang="zh-CN" sz="2800" b="1" u="sng" baseline="100000" dirty="0" err="1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800" b="1" u="sng" baseline="-25000" dirty="0" err="1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MY</a:t>
            </a:r>
            <a:r>
              <a:rPr lang="en-US" altLang="zh-CN" sz="2800" b="1" u="sng" dirty="0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 - </a:t>
            </a:r>
            <a:r>
              <a:rPr lang="en-US" altLang="zh-CN" sz="2800" b="1" u="sng" dirty="0" err="1">
                <a:solidFill>
                  <a:srgbClr val="FF0000"/>
                </a:solidFill>
                <a:ea typeface="楷体_GB2312" pitchFamily="49" charset="-122"/>
              </a:rPr>
              <a:t>lg</a:t>
            </a:r>
            <a:r>
              <a:rPr lang="en-US" altLang="zh-CN" sz="2800" b="1" i="1" u="sng" dirty="0" err="1">
                <a:solidFill>
                  <a:srgbClr val="FF0000"/>
                </a:solidFill>
                <a:ea typeface="楷体_GB2312" pitchFamily="49" charset="-122"/>
              </a:rPr>
              <a:t>α</a:t>
            </a:r>
            <a:r>
              <a:rPr lang="en-US" altLang="zh-CN" sz="2800" b="1" u="sng" baseline="-25000" dirty="0" err="1">
                <a:solidFill>
                  <a:srgbClr val="FF0000"/>
                </a:solidFill>
                <a:ea typeface="楷体_GB2312" pitchFamily="49" charset="-122"/>
              </a:rPr>
              <a:t>Y</a:t>
            </a:r>
            <a:r>
              <a:rPr lang="en-US" altLang="zh-CN" sz="2800" b="1" u="sng" baseline="-25000" dirty="0">
                <a:solidFill>
                  <a:srgbClr val="FF0000"/>
                </a:solidFill>
                <a:ea typeface="楷体_GB2312" pitchFamily="49" charset="-122"/>
              </a:rPr>
              <a:t>(H)</a:t>
            </a:r>
          </a:p>
        </p:txBody>
      </p:sp>
      <p:sp>
        <p:nvSpPr>
          <p:cNvPr id="19461" name="Rectangle 30"/>
          <p:cNvSpPr>
            <a:spLocks noGrp="1" noChangeArrowheads="1"/>
          </p:cNvSpPr>
          <p:nvPr>
            <p:ph type="title"/>
          </p:nvPr>
        </p:nvSpPr>
        <p:spPr>
          <a:xfrm>
            <a:off x="576263" y="168275"/>
            <a:ext cx="10369550" cy="431800"/>
          </a:xfrm>
          <a:noFill/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6.2.2</a:t>
            </a:r>
            <a:r>
              <a:rPr lang="zh-CN" altLang="en-US" smtClean="0">
                <a:ea typeface="黑体" pitchFamily="49" charset="-122"/>
              </a:rPr>
              <a:t>配合物的稳定性及影响配位平衡的主要因素</a:t>
            </a:r>
            <a:endParaRPr lang="zh-CN" altLang="en-US" sz="1200" b="0" smtClean="0">
              <a:solidFill>
                <a:srgbClr val="0000FF"/>
              </a:solidFill>
              <a:ea typeface="黑体" pitchFamily="49" charset="-122"/>
            </a:endParaRPr>
          </a:p>
        </p:txBody>
      </p:sp>
      <p:sp>
        <p:nvSpPr>
          <p:cNvPr id="43039" name="Text Box 31"/>
          <p:cNvSpPr txBox="1">
            <a:spLocks noChangeArrowheads="1"/>
          </p:cNvSpPr>
          <p:nvPr/>
        </p:nvSpPr>
        <p:spPr bwMode="auto">
          <a:xfrm>
            <a:off x="688939" y="5138514"/>
            <a:ext cx="1000125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 dirty="0" smtClean="0">
                <a:solidFill>
                  <a:schemeClr val="bg2"/>
                </a:solidFill>
                <a:ea typeface="楷体_GB2312" pitchFamily="49" charset="-122"/>
                <a:hlinkClick r:id="rId3" action="ppaction://hlinkpres?slideindex=14&amp;slidetitle=幻灯片 14"/>
              </a:rPr>
              <a:t>解</a:t>
            </a:r>
            <a:r>
              <a:rPr lang="en-US" altLang="zh-CN" sz="2500" b="1" dirty="0" smtClean="0">
                <a:solidFill>
                  <a:schemeClr val="bg2"/>
                </a:solidFill>
                <a:ea typeface="楷体_GB2312" pitchFamily="49" charset="-122"/>
              </a:rPr>
              <a:t>:</a:t>
            </a:r>
            <a:endParaRPr lang="en-US" altLang="zh-CN" sz="2500" b="1" dirty="0">
              <a:solidFill>
                <a:schemeClr val="bg2"/>
              </a:solidFill>
              <a:ea typeface="楷体_GB2312" pitchFamily="49" charset="-122"/>
            </a:endParaRPr>
          </a:p>
        </p:txBody>
      </p:sp>
      <p:sp>
        <p:nvSpPr>
          <p:cNvPr id="19466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80000"/>
            <a:ext cx="360363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Text Box 31"/>
          <p:cNvSpPr txBox="1">
            <a:spLocks noChangeArrowheads="1"/>
          </p:cNvSpPr>
          <p:nvPr/>
        </p:nvSpPr>
        <p:spPr bwMode="auto">
          <a:xfrm>
            <a:off x="663538" y="4616219"/>
            <a:ext cx="9240903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500" b="1" dirty="0">
                <a:latin typeface="+mn-lt"/>
                <a:ea typeface="楷体_GB2312" pitchFamily="49" charset="-122"/>
              </a:rPr>
              <a:t>例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8: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计算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pH = 2.0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和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pH = 5.0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时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ZnY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2-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的条件稳定常数</a:t>
            </a:r>
            <a:r>
              <a:rPr lang="en-US" altLang="zh-CN" sz="2500" b="1" dirty="0" err="1">
                <a:latin typeface="+mn-lt"/>
                <a:ea typeface="楷体_GB2312" pitchFamily="49" charset="-122"/>
              </a:rPr>
              <a:t>lg</a:t>
            </a:r>
            <a:r>
              <a:rPr lang="en-US" altLang="zh-CN" sz="2500" b="1" i="1" dirty="0" err="1">
                <a:latin typeface="+mn-lt"/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latin typeface="+mn-lt"/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dirty="0" err="1">
                <a:latin typeface="+mn-lt"/>
                <a:ea typeface="楷体_GB2312" pitchFamily="49" charset="-122"/>
                <a:sym typeface="Webdings" pitchFamily="18" charset="2"/>
              </a:rPr>
              <a:t>’</a:t>
            </a:r>
            <a:r>
              <a:rPr lang="en-US" altLang="zh-CN" sz="2500" b="1" baseline="-25000" dirty="0" err="1">
                <a:latin typeface="+mn-lt"/>
                <a:ea typeface="楷体_GB2312" pitchFamily="49" charset="-122"/>
                <a:sym typeface="Webdings" pitchFamily="18" charset="2"/>
              </a:rPr>
              <a:t>ZnY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.</a:t>
            </a:r>
          </a:p>
        </p:txBody>
      </p:sp>
      <p:sp>
        <p:nvSpPr>
          <p:cNvPr id="9" name="Rectangle 26"/>
          <p:cNvSpPr>
            <a:spLocks noChangeArrowheads="1"/>
          </p:cNvSpPr>
          <p:nvPr/>
        </p:nvSpPr>
        <p:spPr bwMode="auto">
          <a:xfrm>
            <a:off x="1689064" y="975630"/>
            <a:ext cx="1332481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i="1" dirty="0" smtClean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’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MY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 = </a:t>
            </a:r>
          </a:p>
        </p:txBody>
      </p:sp>
      <p:sp>
        <p:nvSpPr>
          <p:cNvPr id="10" name="Rectangle 20"/>
          <p:cNvSpPr>
            <a:spLocks noChangeArrowheads="1"/>
          </p:cNvSpPr>
          <p:nvPr/>
        </p:nvSpPr>
        <p:spPr bwMode="auto">
          <a:xfrm>
            <a:off x="3438065" y="720637"/>
            <a:ext cx="889987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smtClean="0">
                <a:ea typeface="楷体_GB2312" pitchFamily="49" charset="-122"/>
                <a:sym typeface="Webdings" pitchFamily="18" charset="2"/>
              </a:rPr>
              <a:t>MY</a:t>
            </a:r>
            <a:endParaRPr lang="en-US" altLang="zh-CN" sz="2500" b="1" dirty="0">
              <a:ea typeface="楷体_GB2312" pitchFamily="49" charset="-122"/>
              <a:sym typeface="Webdings" pitchFamily="18" charset="2"/>
            </a:endParaRPr>
          </a:p>
        </p:txBody>
      </p:sp>
      <p:sp>
        <p:nvSpPr>
          <p:cNvPr id="11" name="Line 24"/>
          <p:cNvSpPr>
            <a:spLocks noChangeShapeType="1"/>
          </p:cNvSpPr>
          <p:nvPr/>
        </p:nvSpPr>
        <p:spPr bwMode="auto">
          <a:xfrm>
            <a:off x="3194715" y="1265813"/>
            <a:ext cx="1471788" cy="1412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393618" y="1279935"/>
            <a:ext cx="5485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ea typeface="楷体_GB2312" pitchFamily="49" charset="-122"/>
              </a:rPr>
              <a:t>α</a:t>
            </a:r>
            <a:r>
              <a:rPr lang="en-US" altLang="zh-CN" sz="2400" b="1" baseline="-25000" dirty="0">
                <a:ea typeface="楷体_GB2312" pitchFamily="49" charset="-122"/>
              </a:rPr>
              <a:t>M</a:t>
            </a:r>
            <a:endParaRPr lang="zh-CN" altLang="en-US" sz="2400" dirty="0"/>
          </a:p>
        </p:txBody>
      </p:sp>
      <p:sp>
        <p:nvSpPr>
          <p:cNvPr id="15" name="矩形 14"/>
          <p:cNvSpPr/>
          <p:nvPr/>
        </p:nvSpPr>
        <p:spPr>
          <a:xfrm>
            <a:off x="3956753" y="1297777"/>
            <a:ext cx="5020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ea typeface="楷体_GB2312" pitchFamily="49" charset="-122"/>
              </a:rPr>
              <a:t>α</a:t>
            </a:r>
            <a:r>
              <a:rPr lang="en-US" altLang="zh-CN" sz="2400" b="1" baseline="-25000" dirty="0">
                <a:ea typeface="楷体_GB2312" pitchFamily="49" charset="-122"/>
              </a:rPr>
              <a:t>Y</a:t>
            </a:r>
            <a:endParaRPr lang="zh-CN" altLang="en-US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106" y="3725488"/>
            <a:ext cx="1458782" cy="84543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5258500" y="943625"/>
            <a:ext cx="19880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ea typeface="楷体_GB2312"/>
              </a:rPr>
              <a:t>两边取对数</a:t>
            </a:r>
            <a:endParaRPr lang="zh-CN" altLang="en-US" sz="2800" b="1" dirty="0">
              <a:ea typeface="楷体_GB231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44128" y="5213835"/>
            <a:ext cx="41520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ea typeface="楷体_GB2312"/>
              </a:rPr>
              <a:t>（</a:t>
            </a:r>
            <a:r>
              <a:rPr lang="zh-CN" altLang="en-US" sz="2800" b="1" dirty="0">
                <a:ea typeface="楷体_GB2312"/>
              </a:rPr>
              <a:t>有关参数请自行查表</a:t>
            </a:r>
            <a:r>
              <a:rPr lang="zh-CN" altLang="en-US" sz="2800" b="1" dirty="0" smtClean="0">
                <a:ea typeface="楷体_GB2312"/>
              </a:rPr>
              <a:t>）</a:t>
            </a:r>
            <a:endParaRPr lang="zh-CN" altLang="en-US" sz="2800" b="1" dirty="0">
              <a:ea typeface="楷体_GB2312"/>
            </a:endParaRPr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30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430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430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430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430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43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6" grpId="0" build="p" autoUpdateAnimBg="0"/>
      <p:bldP spid="43018" grpId="0" autoUpdateAnimBg="0"/>
      <p:bldP spid="43039" grpId="0" autoUpdateAnimBg="0"/>
      <p:bldP spid="13" grpId="0"/>
      <p:bldP spid="9" grpId="0" autoUpdateAnimBg="0"/>
      <p:bldP spid="10" grpId="0" autoUpdateAnimBg="0"/>
      <p:bldP spid="11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cfadb383da5ed4d31475c117c99555cab5f1cf9c"/>
</p:tagLst>
</file>

<file path=ppt/theme/theme1.xml><?xml version="1.0" encoding="utf-8"?>
<a:theme xmlns:a="http://schemas.openxmlformats.org/drawingml/2006/main" name="医学研究PPT模板">
  <a:themeElements>
    <a:clrScheme name="医学研究PPT模板 1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000000"/>
      </a:accent1>
      <a:accent2>
        <a:srgbClr val="FF00FF"/>
      </a:accent2>
      <a:accent3>
        <a:srgbClr val="FFFFFF"/>
      </a:accent3>
      <a:accent4>
        <a:srgbClr val="000000"/>
      </a:accent4>
      <a:accent5>
        <a:srgbClr val="AAAAAA"/>
      </a:accent5>
      <a:accent6>
        <a:srgbClr val="E700E7"/>
      </a:accent6>
      <a:hlink>
        <a:srgbClr val="FF9900"/>
      </a:hlink>
      <a:folHlink>
        <a:srgbClr val="6600FF"/>
      </a:folHlink>
    </a:clrScheme>
    <a:fontScheme name="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000000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6600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医学研究PPT模板">
  <a:themeElements>
    <a:clrScheme name="1_医学研究PPT模板 1">
      <a:dk1>
        <a:srgbClr val="200B5B"/>
      </a:dk1>
      <a:lt1>
        <a:srgbClr val="EAEAEA"/>
      </a:lt1>
      <a:dk2>
        <a:srgbClr val="6600FF"/>
      </a:dk2>
      <a:lt2>
        <a:srgbClr val="FFCC66"/>
      </a:lt2>
      <a:accent1>
        <a:srgbClr val="EEB00B"/>
      </a:accent1>
      <a:accent2>
        <a:srgbClr val="6600CC"/>
      </a:accent2>
      <a:accent3>
        <a:srgbClr val="B8AAFF"/>
      </a:accent3>
      <a:accent4>
        <a:srgbClr val="C8C8C8"/>
      </a:accent4>
      <a:accent5>
        <a:srgbClr val="F5D4AA"/>
      </a:accent5>
      <a:accent6>
        <a:srgbClr val="5C00B9"/>
      </a:accent6>
      <a:hlink>
        <a:srgbClr val="FF33CC"/>
      </a:hlink>
      <a:folHlink>
        <a:srgbClr val="CC99FF"/>
      </a:folHlink>
    </a:clrScheme>
    <a:fontScheme name="1_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7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8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9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AAAAAA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10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医学研究PPT模板</Template>
  <TotalTime>4865</TotalTime>
  <Pages>0</Pages>
  <Words>2002</Words>
  <Characters>0</Characters>
  <Application>Microsoft Office PowerPoint</Application>
  <DocSecurity>0</DocSecurity>
  <PresentationFormat>自定义</PresentationFormat>
  <Lines>0</Lines>
  <Paragraphs>297</Paragraphs>
  <Slides>23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8" baseType="lpstr">
      <vt:lpstr>Monotype Sorts</vt:lpstr>
      <vt:lpstr>仿宋_GB2312</vt:lpstr>
      <vt:lpstr>黑体</vt:lpstr>
      <vt:lpstr>华文新魏</vt:lpstr>
      <vt:lpstr>楷体_GB2312</vt:lpstr>
      <vt:lpstr>宋体</vt:lpstr>
      <vt:lpstr>Calibri</vt:lpstr>
      <vt:lpstr>Symbol</vt:lpstr>
      <vt:lpstr>Times New Roman</vt:lpstr>
      <vt:lpstr>Webdings</vt:lpstr>
      <vt:lpstr>Wingdings</vt:lpstr>
      <vt:lpstr>医学研究PPT模板</vt:lpstr>
      <vt:lpstr>1_医学研究PPT模板</vt:lpstr>
      <vt:lpstr>公式</vt:lpstr>
      <vt:lpstr>BMP 图象</vt:lpstr>
      <vt:lpstr>PowerPoint 演示文稿</vt:lpstr>
      <vt:lpstr>6.2 配位平衡及其影响因素</vt:lpstr>
      <vt:lpstr>6.2.1配位平衡及配合物的稳定常数</vt:lpstr>
      <vt:lpstr>6.2.1配位平衡及配合物的稳定常数</vt:lpstr>
      <vt:lpstr>6.2.1配位平衡及配合物的稳定常数</vt:lpstr>
      <vt:lpstr>6.2.1配位平衡及配合物的稳定常数</vt:lpstr>
      <vt:lpstr>6.2.1配位平衡及配合物的稳定常数</vt:lpstr>
      <vt:lpstr>PowerPoint 演示文稿</vt:lpstr>
      <vt:lpstr>6.2.1配位平衡及配合物的稳定常数</vt:lpstr>
      <vt:lpstr>6.2.1配位平衡及配合物的稳定常数</vt:lpstr>
      <vt:lpstr>6.2.1配位平衡及配合物的稳定常数</vt:lpstr>
      <vt:lpstr>6.2.1配位平衡及配合物的稳定常数</vt:lpstr>
      <vt:lpstr>6.2.2配合物的稳定性及影响配位平衡的主要因素</vt:lpstr>
      <vt:lpstr>6.2.2配合物的稳定性及影响配位平衡的主要因素</vt:lpstr>
      <vt:lpstr>6.2.2配合物的稳定性及影响配位平衡的主要因素</vt:lpstr>
      <vt:lpstr>6.2.2配合物的稳定性及影响配位平衡的主要因素</vt:lpstr>
      <vt:lpstr>6.2.2配合物的稳定性及影响配位平衡的主要因素</vt:lpstr>
      <vt:lpstr>6.2.2配合物的稳定性及影响配位平衡的主要因素</vt:lpstr>
      <vt:lpstr>6.2.2配合物的稳定性及影响配位平衡的主要因素</vt:lpstr>
      <vt:lpstr>6.2.2配合物的稳定性及影响配位平衡的主要因素</vt:lpstr>
      <vt:lpstr>6.2.2配合物的稳定性及影响配位平衡的主要因素</vt:lpstr>
      <vt:lpstr>6.2.2配合物的稳定性及影响配位平衡的主要因素</vt:lpstr>
      <vt:lpstr>6.2.2配合物的稳定性及影响配位平衡的主要因素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ch06-02</dc:title>
  <dc:creator>江南大学</dc:creator>
  <cp:lastModifiedBy>USER</cp:lastModifiedBy>
  <cp:revision>421</cp:revision>
  <cp:lastPrinted>1601-01-01T00:00:00Z</cp:lastPrinted>
  <dcterms:created xsi:type="dcterms:W3CDTF">2012-06-20T03:37:37Z</dcterms:created>
  <dcterms:modified xsi:type="dcterms:W3CDTF">2021-12-08T14:28:20Z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2052-8.1.0.3089</vt:lpwstr>
  </property>
</Properties>
</file>