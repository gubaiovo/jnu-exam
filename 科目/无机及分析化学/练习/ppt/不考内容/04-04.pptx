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16"/>
  </p:notesMasterIdLst>
  <p:sldIdLst>
    <p:sldId id="356" r:id="rId3"/>
    <p:sldId id="379" r:id="rId4"/>
    <p:sldId id="397" r:id="rId5"/>
    <p:sldId id="398" r:id="rId6"/>
    <p:sldId id="399" r:id="rId7"/>
    <p:sldId id="400" r:id="rId8"/>
    <p:sldId id="401" r:id="rId9"/>
    <p:sldId id="403" r:id="rId10"/>
    <p:sldId id="404" r:id="rId11"/>
    <p:sldId id="410" r:id="rId12"/>
    <p:sldId id="407" r:id="rId13"/>
    <p:sldId id="408" r:id="rId14"/>
    <p:sldId id="409" r:id="rId15"/>
  </p:sldIdLst>
  <p:sldSz cx="11522075" cy="6480175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00FF"/>
    <a:srgbClr val="FF0000"/>
    <a:srgbClr val="FFFFFF"/>
    <a:srgbClr val="F8F8F8"/>
    <a:srgbClr val="FF00FF"/>
    <a:srgbClr val="FF3300"/>
    <a:srgbClr val="EAEAE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 autoAdjust="0"/>
    <p:restoredTop sz="94619" autoAdjust="0"/>
  </p:normalViewPr>
  <p:slideViewPr>
    <p:cSldViewPr>
      <p:cViewPr varScale="1">
        <p:scale>
          <a:sx n="70" d="100"/>
          <a:sy n="70" d="100"/>
        </p:scale>
        <p:origin x="-306" y="-108"/>
      </p:cViewPr>
      <p:guideLst>
        <p:guide orient="horz" pos="1820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3726675" cy="7372667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noProof="1">
                <a:ea typeface="宋体" pitchFamily="2" charset="-122"/>
              </a:defRPr>
            </a:lvl1pPr>
          </a:lstStyle>
          <a:p>
            <a:pPr>
              <a:defRPr/>
            </a:pPr>
            <a:fld id="{03CE5783-8671-4096-A1E7-815812E2B285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3223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7079 w 5269"/>
                <a:gd name="T1" fmla="*/ 0 h 2977"/>
                <a:gd name="T2" fmla="*/ 0 w 5269"/>
                <a:gd name="T3" fmla="*/ 0 h 2977"/>
                <a:gd name="T4" fmla="*/ 0 w 5269"/>
                <a:gd name="T5" fmla="*/ 317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1029" name="Group 1042"/>
            <p:cNvGrpSpPr>
              <a:grpSpLocks/>
            </p:cNvGrpSpPr>
            <p:nvPr userDrawn="1"/>
          </p:nvGrpSpPr>
          <p:grpSpPr bwMode="auto">
            <a:xfrm rot="5400000">
              <a:off x="3576" y="-3112"/>
              <a:ext cx="68" cy="7141"/>
              <a:chOff x="336" y="1103"/>
              <a:chExt cx="97" cy="2785"/>
            </a:xfrm>
          </p:grpSpPr>
          <p:sp>
            <p:nvSpPr>
              <p:cNvPr id="2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3" name="Freeform 1044"/>
              <p:cNvSpPr>
                <a:spLocks noChangeArrowheads="1"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1" name="Freeform 1045"/>
              <p:cNvSpPr>
                <a:spLocks noChangeArrowheads="1"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0" name="Freeform 1028"/>
            <p:cNvSpPr>
              <a:spLocks/>
            </p:cNvSpPr>
            <p:nvPr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7079 w 5269"/>
                <a:gd name="T1" fmla="*/ 0 h 2977"/>
                <a:gd name="T2" fmla="*/ 7079 w 5269"/>
                <a:gd name="T3" fmla="*/ 3173 h 2977"/>
                <a:gd name="T4" fmla="*/ 0 w 5269"/>
                <a:gd name="T5" fmla="*/ 317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3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  <a:extLst>
              <a:ext uri="{909E8E84-426E-40DD-AFC4-6F175D3DCCD1}"/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smtClean="0">
                <a:ea typeface="楷体_GB2312" panose="02010609030101010101" pitchFamily="49" charset="-122"/>
              </a:endParaRPr>
            </a:p>
          </p:txBody>
        </p:sp>
        <p:grpSp>
          <p:nvGrpSpPr>
            <p:cNvPr id="1032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5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1036" name="Freeform 1040"/>
              <p:cNvSpPr>
                <a:spLocks noChangeArrowheads="1"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7" name="Freeform 1041"/>
              <p:cNvSpPr>
                <a:spLocks noChangeArrowheads="1"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8" name="矩形 3210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/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39" name="流程图: 可选过程 3214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/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40" name="矩形 3217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01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</p:grpSp>
      <p:sp>
        <p:nvSpPr>
          <p:cNvPr id="1027" name="标题 3220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4-02.pptx" TargetMode="External"/><Relationship Id="rId2" Type="http://schemas.openxmlformats.org/officeDocument/2006/relationships/hyperlink" Target="04-01.pptx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04-03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audio" Target="../media/audio1.wav"/><Relationship Id="rId4" Type="http://schemas.openxmlformats.org/officeDocument/2006/relationships/audio" Target="../media/audio4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../../03EXAMPLE/ch04/04-04-&#20363;&#39064;.pptx" TargetMode="Externa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../../03EXAMPLE/ch04/04-04-&#20363;&#39064;.ppt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../ch05/05-1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065226" y="1096947"/>
            <a:ext cx="541045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2" action="ppaction://hlinkpres?slideindex=1&amp;slidetitle="/>
              </a:rPr>
              <a:t>4.1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沉淀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—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溶解平衡及其影响因素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3" action="ppaction://hlinkpres?slideindex=1&amp;slidetitle="/>
              </a:rPr>
              <a:t>4.2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分步沉淀、沉淀的转化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4" action="ppaction://hlinkpres?slideindex=1&amp;slidetitle="/>
              </a:rPr>
              <a:t>4.3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沉淀的形成与纯度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4.4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沉淀分析法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动作按钮: 前进或下一项 73731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3094038" y="2251075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3075" name="动作按钮: 前进或下一项 73732">
            <a:hlinkClick r:id="rId2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3094038" y="3024188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3734" name="文本框 73733"/>
          <p:cNvSpPr txBox="1">
            <a:spLocks noChangeArrowheads="1"/>
          </p:cNvSpPr>
          <p:nvPr/>
        </p:nvSpPr>
        <p:spPr bwMode="auto">
          <a:xfrm>
            <a:off x="3525838" y="1905000"/>
            <a:ext cx="6235700" cy="162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80000"/>
              </a:lnSpc>
              <a:buFont typeface="Arial" charset="0"/>
              <a:buNone/>
            </a:pPr>
            <a:r>
              <a:rPr lang="en-US" altLang="en-US" sz="2800" b="1">
                <a:ea typeface="黑体" pitchFamily="49" charset="-122"/>
              </a:rPr>
              <a:t>4.4.1 称量分析法</a:t>
            </a:r>
          </a:p>
          <a:p>
            <a:pPr eaLnBrk="1" hangingPunct="1">
              <a:lnSpc>
                <a:spcPct val="180000"/>
              </a:lnSpc>
              <a:buFont typeface="Arial" charset="0"/>
              <a:buNone/>
            </a:pPr>
            <a:r>
              <a:rPr lang="en-US" altLang="en-US" sz="2800" b="1">
                <a:ea typeface="黑体" pitchFamily="49" charset="-122"/>
              </a:rPr>
              <a:t>4.4.2 沉淀滴定法</a:t>
            </a:r>
            <a:endParaRPr lang="zh-CN" altLang="en-US" sz="2800" b="1">
              <a:ea typeface="黑体" pitchFamily="49" charset="-122"/>
            </a:endParaRPr>
          </a:p>
        </p:txBody>
      </p:sp>
      <p:sp>
        <p:nvSpPr>
          <p:cNvPr id="3077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 沉淀分析法</a:t>
            </a:r>
          </a:p>
        </p:txBody>
      </p:sp>
      <p:sp>
        <p:nvSpPr>
          <p:cNvPr id="3078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3079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7" name="文本框 36876"/>
          <p:cNvSpPr txBox="1">
            <a:spLocks noChangeArrowheads="1"/>
          </p:cNvSpPr>
          <p:nvPr/>
        </p:nvSpPr>
        <p:spPr bwMode="auto">
          <a:xfrm>
            <a:off x="688975" y="1025525"/>
            <a:ext cx="58007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gravimetric analysis:</a:t>
            </a:r>
          </a:p>
        </p:txBody>
      </p:sp>
      <p:sp>
        <p:nvSpPr>
          <p:cNvPr id="36896" name="矩形 36895"/>
          <p:cNvSpPr>
            <a:spLocks noChangeArrowheads="1"/>
          </p:cNvSpPr>
          <p:nvPr/>
        </p:nvSpPr>
        <p:spPr bwMode="auto">
          <a:xfrm>
            <a:off x="1046163" y="2097088"/>
            <a:ext cx="116363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1.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分类</a:t>
            </a:r>
            <a:r>
              <a:rPr lang="en-US" altLang="zh-CN" sz="2500" b="1">
                <a:solidFill>
                  <a:schemeClr val="tx2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36915" name="矩形 36914"/>
          <p:cNvSpPr>
            <a:spLocks noChangeArrowheads="1"/>
          </p:cNvSpPr>
          <p:nvPr/>
        </p:nvSpPr>
        <p:spPr bwMode="auto">
          <a:xfrm>
            <a:off x="831850" y="1525588"/>
            <a:ext cx="104759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chemeClr val="bg2"/>
                </a:solidFill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通过称量操作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测定试样中待测组分的质量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以确定其含量的方法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en-US" altLang="zh-CN" sz="25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6916" name="矩形 36915"/>
          <p:cNvSpPr>
            <a:spLocks noChangeArrowheads="1"/>
          </p:cNvSpPr>
          <p:nvPr/>
        </p:nvSpPr>
        <p:spPr bwMode="auto">
          <a:xfrm>
            <a:off x="1147763" y="2676525"/>
            <a:ext cx="5678487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沉淀法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将待测组分转变为一定质量的沉淀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气化法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烘干前后物质质量的变化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电解法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电解前后电极质量的变化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6918" name="左大括号 36917"/>
          <p:cNvSpPr>
            <a:spLocks/>
          </p:cNvSpPr>
          <p:nvPr/>
        </p:nvSpPr>
        <p:spPr bwMode="auto">
          <a:xfrm>
            <a:off x="1046163" y="2846388"/>
            <a:ext cx="142875" cy="1800225"/>
          </a:xfrm>
          <a:prstGeom prst="leftBrace">
            <a:avLst>
              <a:gd name="adj1" fmla="val 1047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4103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104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105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3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36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36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36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36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1" dur="500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7" grpId="0"/>
      <p:bldP spid="36896" grpId="0"/>
      <p:bldP spid="36915" grpId="0"/>
      <p:bldP spid="3691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矩形 63489"/>
          <p:cNvSpPr>
            <a:spLocks noChangeArrowheads="1"/>
          </p:cNvSpPr>
          <p:nvPr/>
        </p:nvSpPr>
        <p:spPr bwMode="auto">
          <a:xfrm>
            <a:off x="979488" y="2806700"/>
            <a:ext cx="94964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                               </a:t>
            </a:r>
            <a:r>
              <a:rPr lang="zh-CN" altLang="en-US" sz="2500" b="1">
                <a:ea typeface="楷体_GB2312" pitchFamily="49" charset="-122"/>
              </a:rPr>
              <a:t>同样条件下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对物质重复进行干燥、加热或灼烧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直到两次质量差不超过规定值范围的操作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63493" name="文本框 63492"/>
          <p:cNvSpPr txBox="1"/>
          <p:nvPr/>
        </p:nvSpPr>
        <p:spPr>
          <a:xfrm>
            <a:off x="760413" y="882650"/>
            <a:ext cx="58007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2. </a:t>
            </a:r>
            <a:r>
              <a:rPr lang="zh-CN" altLang="en-US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沉淀法基本过程及特点</a:t>
            </a: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50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63509" name="矩形 63508"/>
          <p:cNvSpPr/>
          <p:nvPr/>
        </p:nvSpPr>
        <p:spPr>
          <a:xfrm>
            <a:off x="995363" y="4384675"/>
            <a:ext cx="925512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特点</a:t>
            </a: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50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63510" name="左大括号 63509"/>
          <p:cNvSpPr>
            <a:spLocks/>
          </p:cNvSpPr>
          <p:nvPr/>
        </p:nvSpPr>
        <p:spPr bwMode="auto">
          <a:xfrm>
            <a:off x="1981200" y="3905250"/>
            <a:ext cx="144463" cy="1295400"/>
          </a:xfrm>
          <a:prstGeom prst="leftBrace">
            <a:avLst>
              <a:gd name="adj1" fmla="val 746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63513" name="矩形 63512"/>
          <p:cNvSpPr/>
          <p:nvPr/>
        </p:nvSpPr>
        <p:spPr>
          <a:xfrm>
            <a:off x="979488" y="2806700"/>
            <a:ext cx="3265487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恒重</a:t>
            </a: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(</a:t>
            </a:r>
            <a:r>
              <a:rPr lang="en-US" altLang="zh-CN" sz="2500" b="1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</a:rPr>
              <a:t>constant weight</a:t>
            </a: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):</a:t>
            </a:r>
            <a:endParaRPr lang="en-US" altLang="zh-CN" sz="250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63514" name="矩形 63513"/>
          <p:cNvSpPr>
            <a:spLocks noChangeArrowheads="1"/>
          </p:cNvSpPr>
          <p:nvPr/>
        </p:nvSpPr>
        <p:spPr bwMode="auto">
          <a:xfrm>
            <a:off x="2117725" y="3740150"/>
            <a:ext cx="6669088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适用于常量组分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不需基准物或标准样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ea typeface="楷体_GB2312" pitchFamily="49" charset="-122"/>
              </a:rPr>
              <a:t>准确度高</a:t>
            </a:r>
            <a:r>
              <a:rPr lang="en-US" altLang="zh-CN" sz="2500" b="1" dirty="0">
                <a:ea typeface="楷体_GB2312" pitchFamily="49" charset="-122"/>
              </a:rPr>
              <a:t>, 0.1 ~ 0.2%;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④</a:t>
            </a:r>
            <a:r>
              <a:rPr lang="zh-CN" altLang="en-US" sz="2500" b="1" dirty="0">
                <a:ea typeface="楷体_GB2312" pitchFamily="49" charset="-122"/>
              </a:rPr>
              <a:t>慢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费时</a:t>
            </a:r>
            <a:r>
              <a:rPr lang="en-US" altLang="zh-CN" sz="2500" b="1" dirty="0">
                <a:ea typeface="楷体_GB2312" pitchFamily="49" charset="-122"/>
              </a:rPr>
              <a:t>.                                </a:t>
            </a:r>
            <a:r>
              <a:rPr lang="zh-CN" altLang="en-US" sz="2500" b="1" dirty="0">
                <a:ea typeface="楷体_GB2312" pitchFamily="49" charset="-122"/>
              </a:rPr>
              <a:t>如仲裁分析 </a:t>
            </a:r>
          </a:p>
        </p:txBody>
      </p:sp>
      <p:sp>
        <p:nvSpPr>
          <p:cNvPr id="63504" name="矩形 63503"/>
          <p:cNvSpPr/>
          <p:nvPr/>
        </p:nvSpPr>
        <p:spPr>
          <a:xfrm>
            <a:off x="7542213" y="1651000"/>
            <a:ext cx="1050925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rgbClr val="0000FF"/>
                </a:solidFill>
                <a:ea typeface="黑体" panose="02010609060101010101" pitchFamily="2" charset="-122"/>
                <a:cs typeface="+mn-ea"/>
              </a:rPr>
              <a:t>难溶物</a:t>
            </a:r>
            <a:endParaRPr lang="zh-CN" altLang="en-US" sz="2270" b="1" noProof="1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63511" name="矩形 63510"/>
          <p:cNvSpPr/>
          <p:nvPr/>
        </p:nvSpPr>
        <p:spPr>
          <a:xfrm>
            <a:off x="7643813" y="2025650"/>
            <a:ext cx="882650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Al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O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3</a:t>
            </a:r>
            <a:endParaRPr lang="en-US" altLang="zh-CN" sz="2270" b="1" noProof="1">
              <a:ea typeface="楷体_GB2312" panose="02010609030101010101" pitchFamily="49" charset="-122"/>
            </a:endParaRPr>
          </a:p>
        </p:txBody>
      </p:sp>
      <p:sp>
        <p:nvSpPr>
          <p:cNvPr id="63494" name="矩形 63493"/>
          <p:cNvSpPr/>
          <p:nvPr/>
        </p:nvSpPr>
        <p:spPr>
          <a:xfrm>
            <a:off x="1828800" y="1651000"/>
            <a:ext cx="170815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b="1" noProof="1">
                <a:solidFill>
                  <a:srgbClr val="0000FF"/>
                </a:solidFill>
                <a:ea typeface="黑体" panose="02010609060101010101" pitchFamily="2" charset="-122"/>
                <a:cs typeface="+mn-ea"/>
              </a:rPr>
              <a:t>试液</a:t>
            </a:r>
            <a:r>
              <a:rPr lang="en-US" altLang="zh-CN" sz="2200" b="1" noProof="1">
                <a:solidFill>
                  <a:srgbClr val="0000FF"/>
                </a:solidFill>
                <a:ea typeface="黑体" panose="02010609060101010101" pitchFamily="2" charset="-122"/>
                <a:cs typeface="+mn-ea"/>
              </a:rPr>
              <a:t>(Al</a:t>
            </a:r>
            <a:r>
              <a:rPr lang="en-US" altLang="zh-CN" sz="2200" b="1" baseline="30000" noProof="1">
                <a:solidFill>
                  <a:srgbClr val="0000FF"/>
                </a:solidFill>
                <a:ea typeface="黑体" panose="02010609060101010101" pitchFamily="2" charset="-122"/>
                <a:cs typeface="+mn-ea"/>
              </a:rPr>
              <a:t>3+</a:t>
            </a:r>
            <a:r>
              <a:rPr lang="en-US" altLang="zh-CN" sz="2200" b="1" noProof="1">
                <a:solidFill>
                  <a:srgbClr val="0000FF"/>
                </a:solidFill>
                <a:ea typeface="黑体" panose="02010609060101010101" pitchFamily="2" charset="-122"/>
                <a:cs typeface="+mn-ea"/>
              </a:rPr>
              <a:t>)</a:t>
            </a:r>
            <a:endParaRPr lang="en-US" altLang="zh-CN" sz="2200" b="1" noProof="1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63495" name="矩形 63494"/>
          <p:cNvSpPr/>
          <p:nvPr/>
        </p:nvSpPr>
        <p:spPr>
          <a:xfrm>
            <a:off x="3630613" y="1530350"/>
            <a:ext cx="908050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沉淀剂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3496" name="直接连接符 63495"/>
          <p:cNvSpPr>
            <a:spLocks noChangeShapeType="1"/>
          </p:cNvSpPr>
          <p:nvPr/>
        </p:nvSpPr>
        <p:spPr bwMode="auto">
          <a:xfrm>
            <a:off x="3529013" y="1924050"/>
            <a:ext cx="1223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01" name="矩形 63500"/>
          <p:cNvSpPr/>
          <p:nvPr/>
        </p:nvSpPr>
        <p:spPr>
          <a:xfrm>
            <a:off x="6554788" y="1530350"/>
            <a:ext cx="906462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或烘干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3498" name="矩形 63497"/>
          <p:cNvSpPr/>
          <p:nvPr/>
        </p:nvSpPr>
        <p:spPr>
          <a:xfrm>
            <a:off x="5775325" y="1530350"/>
            <a:ext cx="665163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过滤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3500" name="直接连接符 63499"/>
          <p:cNvSpPr>
            <a:spLocks noChangeShapeType="1"/>
          </p:cNvSpPr>
          <p:nvPr/>
        </p:nvSpPr>
        <p:spPr bwMode="auto">
          <a:xfrm>
            <a:off x="5705475" y="1924050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02" name="矩形 63501"/>
          <p:cNvSpPr/>
          <p:nvPr/>
        </p:nvSpPr>
        <p:spPr>
          <a:xfrm>
            <a:off x="5773738" y="1973263"/>
            <a:ext cx="665162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洗涤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3503" name="直接连接符 63502"/>
          <p:cNvSpPr>
            <a:spLocks noChangeShapeType="1"/>
          </p:cNvSpPr>
          <p:nvPr/>
        </p:nvSpPr>
        <p:spPr bwMode="auto">
          <a:xfrm>
            <a:off x="6691313" y="1924050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05" name="矩形 63504"/>
          <p:cNvSpPr/>
          <p:nvPr/>
        </p:nvSpPr>
        <p:spPr>
          <a:xfrm>
            <a:off x="6554788" y="1973263"/>
            <a:ext cx="906462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或灼烧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3506" name="矩形 63505"/>
          <p:cNvSpPr/>
          <p:nvPr/>
        </p:nvSpPr>
        <p:spPr>
          <a:xfrm>
            <a:off x="2236788" y="2127250"/>
            <a:ext cx="666750" cy="379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ea typeface="楷体_GB2312" panose="02010609030101010101" pitchFamily="49" charset="-122"/>
                <a:cs typeface="+mn-ea"/>
              </a:rPr>
              <a:t>称量</a:t>
            </a:r>
            <a:endParaRPr lang="zh-CN" altLang="en-US" sz="1890" b="1" noProof="1">
              <a:ea typeface="楷体_GB2312" panose="02010609030101010101" pitchFamily="49" charset="-122"/>
            </a:endParaRPr>
          </a:p>
        </p:txBody>
      </p:sp>
      <p:sp>
        <p:nvSpPr>
          <p:cNvPr id="63507" name="矩形 63506"/>
          <p:cNvSpPr/>
          <p:nvPr/>
        </p:nvSpPr>
        <p:spPr>
          <a:xfrm>
            <a:off x="3086100" y="2262188"/>
            <a:ext cx="7620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solidFill>
                  <a:srgbClr val="0000FF"/>
                </a:solidFill>
                <a:ea typeface="黑体" panose="02010609060101010101" pitchFamily="2" charset="-122"/>
                <a:cs typeface="+mn-ea"/>
              </a:rPr>
              <a:t>计算</a:t>
            </a:r>
            <a:endParaRPr lang="zh-CN" altLang="en-US" sz="2270" b="1" noProof="1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63508" name="矩形 63507"/>
          <p:cNvSpPr/>
          <p:nvPr/>
        </p:nvSpPr>
        <p:spPr>
          <a:xfrm>
            <a:off x="2236788" y="2535238"/>
            <a:ext cx="666750" cy="3794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189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恒重</a:t>
            </a:r>
            <a:endParaRPr lang="zh-CN" altLang="en-US" sz="189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  <a:cs typeface="+mn-ea"/>
            </a:endParaRPr>
          </a:p>
        </p:txBody>
      </p:sp>
      <p:sp>
        <p:nvSpPr>
          <p:cNvPr id="63512" name="直接连接符 63511"/>
          <p:cNvSpPr>
            <a:spLocks noChangeShapeType="1"/>
          </p:cNvSpPr>
          <p:nvPr/>
        </p:nvSpPr>
        <p:spPr bwMode="auto">
          <a:xfrm>
            <a:off x="1965325" y="2535238"/>
            <a:ext cx="11509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497" name="矩形 63496"/>
          <p:cNvSpPr/>
          <p:nvPr/>
        </p:nvSpPr>
        <p:spPr>
          <a:xfrm>
            <a:off x="4686300" y="1651000"/>
            <a:ext cx="1023938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00" b="1" noProof="1">
                <a:solidFill>
                  <a:srgbClr val="0000FF"/>
                </a:solidFill>
                <a:ea typeface="黑体" panose="02010609060101010101" pitchFamily="2" charset="-122"/>
                <a:cs typeface="+mn-ea"/>
              </a:rPr>
              <a:t>沉淀物</a:t>
            </a:r>
            <a:endParaRPr lang="zh-CN" altLang="en-US" sz="2200" b="1" noProof="1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  <p:sp>
        <p:nvSpPr>
          <p:cNvPr id="63499" name="矩形 63498"/>
          <p:cNvSpPr/>
          <p:nvPr/>
        </p:nvSpPr>
        <p:spPr>
          <a:xfrm>
            <a:off x="4618038" y="1311275"/>
            <a:ext cx="1243012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solidFill>
                  <a:schemeClr val="accent2"/>
                </a:solidFill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270" b="1" noProof="1">
                <a:solidFill>
                  <a:schemeClr val="accent2"/>
                </a:solidFill>
                <a:ea typeface="楷体_GB2312" panose="02010609030101010101" pitchFamily="49" charset="-122"/>
                <a:cs typeface="+mn-ea"/>
              </a:rPr>
              <a:t>沉淀形</a:t>
            </a:r>
            <a:r>
              <a:rPr lang="en-US" altLang="zh-CN" sz="2270" b="1" noProof="1">
                <a:solidFill>
                  <a:schemeClr val="accent2"/>
                </a:solidFill>
                <a:ea typeface="楷体_GB2312" panose="02010609030101010101" pitchFamily="49" charset="-122"/>
                <a:cs typeface="+mn-ea"/>
              </a:rPr>
              <a:t>)</a:t>
            </a:r>
            <a:endParaRPr lang="en-US" altLang="zh-CN" sz="227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63515" name="矩形 63514"/>
          <p:cNvSpPr/>
          <p:nvPr/>
        </p:nvSpPr>
        <p:spPr>
          <a:xfrm>
            <a:off x="4652963" y="2025650"/>
            <a:ext cx="1204912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Al(OH)</a:t>
            </a:r>
            <a:r>
              <a:rPr lang="en-US" altLang="zh-CN" sz="2270" b="1" baseline="-25000" noProof="1">
                <a:ea typeface="楷体_GB2312" panose="02010609030101010101" pitchFamily="49" charset="-122"/>
                <a:cs typeface="+mn-ea"/>
              </a:rPr>
              <a:t>3</a:t>
            </a:r>
            <a:endParaRPr lang="en-US" altLang="zh-CN" sz="2270" b="1" baseline="-25000" noProof="1">
              <a:ea typeface="楷体_GB2312" panose="02010609030101010101" pitchFamily="49" charset="-122"/>
            </a:endParaRPr>
          </a:p>
        </p:txBody>
      </p:sp>
      <p:sp>
        <p:nvSpPr>
          <p:cNvPr id="63516" name="矩形 63515"/>
          <p:cNvSpPr/>
          <p:nvPr/>
        </p:nvSpPr>
        <p:spPr>
          <a:xfrm>
            <a:off x="7507288" y="1311275"/>
            <a:ext cx="1243012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270" b="1" noProof="1">
                <a:solidFill>
                  <a:schemeClr val="accent2"/>
                </a:solidFill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270" b="1" noProof="1">
                <a:solidFill>
                  <a:schemeClr val="accent2"/>
                </a:solidFill>
                <a:ea typeface="楷体_GB2312" panose="02010609030101010101" pitchFamily="49" charset="-122"/>
                <a:cs typeface="+mn-ea"/>
              </a:rPr>
              <a:t>称量形</a:t>
            </a:r>
            <a:r>
              <a:rPr lang="en-US" altLang="zh-CN" sz="2270" b="1" noProof="1">
                <a:solidFill>
                  <a:schemeClr val="accent2"/>
                </a:solidFill>
                <a:ea typeface="楷体_GB2312" panose="02010609030101010101" pitchFamily="49" charset="-122"/>
                <a:cs typeface="+mn-ea"/>
              </a:rPr>
              <a:t>)</a:t>
            </a:r>
            <a:endParaRPr lang="en-US" altLang="zh-CN" sz="2270" b="1" noProof="1">
              <a:solidFill>
                <a:srgbClr val="FFFF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63525" name="矩形 63524"/>
          <p:cNvSpPr>
            <a:spLocks noChangeArrowheads="1"/>
          </p:cNvSpPr>
          <p:nvPr/>
        </p:nvSpPr>
        <p:spPr bwMode="auto">
          <a:xfrm>
            <a:off x="979488" y="1450975"/>
            <a:ext cx="9255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过程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14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14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150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63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9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4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8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635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1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5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9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3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8" dur="500"/>
                                        <p:tgtEl>
                                          <p:spTgt spid="63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3" dur="500"/>
                                        <p:tgtEl>
                                          <p:spTgt spid="6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7" dur="500"/>
                                        <p:tgtEl>
                                          <p:spTgt spid="6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1" dur="500"/>
                                        <p:tgtEl>
                                          <p:spTgt spid="635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5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0" dur="500"/>
                                        <p:tgtEl>
                                          <p:spTgt spid="6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5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0" dur="5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5" dur="500"/>
                                        <p:tgtEl>
                                          <p:spTgt spid="63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0" dur="500"/>
                                        <p:tgtEl>
                                          <p:spTgt spid="63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5" dur="500"/>
                                        <p:tgtEl>
                                          <p:spTgt spid="63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0" dur="500"/>
                                        <p:tgtEl>
                                          <p:spTgt spid="63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4" dur="500"/>
                                        <p:tgtEl>
                                          <p:spTgt spid="63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3" grpId="0"/>
      <p:bldP spid="63509" grpId="0"/>
      <p:bldP spid="63513" grpId="0"/>
      <p:bldP spid="63514" grpId="0" build="p"/>
      <p:bldP spid="63504" grpId="0"/>
      <p:bldP spid="63511" grpId="0"/>
      <p:bldP spid="63494" grpId="0"/>
      <p:bldP spid="63495" grpId="0"/>
      <p:bldP spid="63496" grpId="0" animBg="1"/>
      <p:bldP spid="63501" grpId="0"/>
      <p:bldP spid="63498" grpId="0"/>
      <p:bldP spid="63500" grpId="0" animBg="1"/>
      <p:bldP spid="63502" grpId="0"/>
      <p:bldP spid="63503" grpId="0" animBg="1"/>
      <p:bldP spid="63505" grpId="0"/>
      <p:bldP spid="63506" grpId="0"/>
      <p:bldP spid="63507" grpId="0"/>
      <p:bldP spid="63508" grpId="0"/>
      <p:bldP spid="63512" grpId="0" animBg="1"/>
      <p:bldP spid="63497" grpId="0"/>
      <p:bldP spid="63499" grpId="0"/>
      <p:bldP spid="63515" grpId="0"/>
      <p:bldP spid="63516" grpId="0"/>
      <p:bldP spid="635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3" name="文本框 41992"/>
          <p:cNvSpPr txBox="1"/>
          <p:nvPr/>
        </p:nvSpPr>
        <p:spPr>
          <a:xfrm>
            <a:off x="760413" y="954088"/>
            <a:ext cx="75279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3. </a:t>
            </a:r>
            <a:r>
              <a:rPr lang="zh-CN" altLang="en-US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对沉淀的要求以及称量形的获得</a:t>
            </a: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50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41994" name="矩形 41993"/>
          <p:cNvSpPr>
            <a:spLocks noChangeArrowheads="1"/>
          </p:cNvSpPr>
          <p:nvPr/>
        </p:nvSpPr>
        <p:spPr bwMode="auto">
          <a:xfrm>
            <a:off x="974725" y="1433513"/>
            <a:ext cx="76009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(1) </a:t>
            </a:r>
            <a:r>
              <a:rPr lang="zh-CN" altLang="en-US" sz="2500" b="1" u="sng">
                <a:solidFill>
                  <a:srgbClr val="FF0000"/>
                </a:solidFill>
                <a:ea typeface="楷体_GB2312" pitchFamily="49" charset="-122"/>
              </a:rPr>
              <a:t>要求</a:t>
            </a:r>
            <a:r>
              <a:rPr lang="en-US" altLang="zh-CN" sz="2500" b="1" u="sng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2001" name="矩形 42000"/>
          <p:cNvSpPr>
            <a:spLocks noChangeArrowheads="1"/>
          </p:cNvSpPr>
          <p:nvPr/>
        </p:nvSpPr>
        <p:spPr bwMode="auto">
          <a:xfrm>
            <a:off x="1117600" y="4311650"/>
            <a:ext cx="5643563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(2)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沉淀剂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precipitant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选择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选择性高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过量易灼烧除去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zh-CN" altLang="en-US" sz="2500" b="1" dirty="0">
              <a:ea typeface="楷体_GB2312" pitchFamily="49" charset="-122"/>
            </a:endParaRPr>
          </a:p>
        </p:txBody>
      </p:sp>
      <p:sp>
        <p:nvSpPr>
          <p:cNvPr id="42002" name="矩形 42001"/>
          <p:cNvSpPr>
            <a:spLocks noChangeArrowheads="1"/>
          </p:cNvSpPr>
          <p:nvPr/>
        </p:nvSpPr>
        <p:spPr bwMode="auto">
          <a:xfrm>
            <a:off x="2401888" y="1841500"/>
            <a:ext cx="2493962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溶解度小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沉淀纯净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易过滤、洗涤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42003" name="左大括号 42002"/>
          <p:cNvSpPr>
            <a:spLocks/>
          </p:cNvSpPr>
          <p:nvPr/>
        </p:nvSpPr>
        <p:spPr bwMode="auto">
          <a:xfrm>
            <a:off x="2232025" y="2009775"/>
            <a:ext cx="217488" cy="936625"/>
          </a:xfrm>
          <a:prstGeom prst="leftBrace">
            <a:avLst>
              <a:gd name="adj1" fmla="val 3580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42004" name="矩形 42003"/>
          <p:cNvSpPr>
            <a:spLocks noChangeArrowheads="1"/>
          </p:cNvSpPr>
          <p:nvPr/>
        </p:nvSpPr>
        <p:spPr bwMode="auto">
          <a:xfrm>
            <a:off x="974725" y="2214563"/>
            <a:ext cx="124460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沉淀形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2005" name="矩形 42004"/>
          <p:cNvSpPr>
            <a:spLocks noChangeArrowheads="1"/>
          </p:cNvSpPr>
          <p:nvPr/>
        </p:nvSpPr>
        <p:spPr bwMode="auto">
          <a:xfrm>
            <a:off x="974725" y="3405188"/>
            <a:ext cx="12446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称量形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2006" name="矩形 42005"/>
          <p:cNvSpPr>
            <a:spLocks noChangeArrowheads="1"/>
          </p:cNvSpPr>
          <p:nvPr/>
        </p:nvSpPr>
        <p:spPr bwMode="auto">
          <a:xfrm>
            <a:off x="2401888" y="3097213"/>
            <a:ext cx="2840037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组成符合化学式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化学稳定性好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摩尔质量大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42007" name="左大括号 42006"/>
          <p:cNvSpPr>
            <a:spLocks/>
          </p:cNvSpPr>
          <p:nvPr/>
        </p:nvSpPr>
        <p:spPr bwMode="auto">
          <a:xfrm>
            <a:off x="2232025" y="3268663"/>
            <a:ext cx="217488" cy="936625"/>
          </a:xfrm>
          <a:prstGeom prst="leftBrace">
            <a:avLst>
              <a:gd name="adj1" fmla="val 3580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6155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156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157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2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2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42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0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5" dur="500"/>
                                        <p:tgtEl>
                                          <p:spTgt spid="42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0" dur="500"/>
                                        <p:tgtEl>
                                          <p:spTgt spid="42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5" dur="500"/>
                                        <p:tgtEl>
                                          <p:spTgt spid="420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3" dur="500"/>
                                        <p:tgtEl>
                                          <p:spTgt spid="42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8" dur="500"/>
                                        <p:tgtEl>
                                          <p:spTgt spid="420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3" grpId="0"/>
      <p:bldP spid="41994" grpId="0"/>
      <p:bldP spid="42001" grpId="0" build="p"/>
      <p:bldP spid="42002" grpId="0" build="p"/>
      <p:bldP spid="42004" grpId="0"/>
      <p:bldP spid="42005" grpId="0"/>
      <p:bldP spid="4200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7" name="文本框 43016"/>
          <p:cNvSpPr txBox="1">
            <a:spLocks noChangeArrowheads="1"/>
          </p:cNvSpPr>
          <p:nvPr/>
        </p:nvSpPr>
        <p:spPr bwMode="auto">
          <a:xfrm>
            <a:off x="688975" y="954088"/>
            <a:ext cx="76723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称量形获得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43018" name="矩形 43017"/>
          <p:cNvSpPr>
            <a:spLocks noChangeArrowheads="1"/>
          </p:cNvSpPr>
          <p:nvPr/>
        </p:nvSpPr>
        <p:spPr bwMode="auto">
          <a:xfrm>
            <a:off x="831850" y="1577975"/>
            <a:ext cx="9715500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ea typeface="楷体_GB2312" pitchFamily="49" charset="-122"/>
              </a:rPr>
              <a:t>组成固定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低温下能除去水分</a:t>
            </a:r>
            <a:r>
              <a:rPr lang="en-US" altLang="zh-CN" sz="2500" b="1">
                <a:ea typeface="楷体_GB2312" pitchFamily="49" charset="-122"/>
              </a:rPr>
              <a:t>-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烘干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　    </a:t>
            </a:r>
            <a:r>
              <a:rPr lang="en-US" altLang="zh-CN" sz="2500" b="1">
                <a:ea typeface="楷体_GB2312" pitchFamily="49" charset="-122"/>
              </a:rPr>
              <a:t>AgCl:  110~120 ℃ </a:t>
            </a:r>
            <a:r>
              <a:rPr lang="zh-CN" altLang="en-US" sz="2500" b="1">
                <a:ea typeface="楷体_GB2312" pitchFamily="49" charset="-122"/>
              </a:rPr>
              <a:t>烘干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en-US" altLang="zh-CN" sz="2500" b="1">
              <a:ea typeface="楷体_GB2312" pitchFamily="49" charset="-122"/>
              <a:sym typeface="Monotype Sorts" pitchFamily="2" charset="2"/>
            </a:endParaRP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组成固定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但所包裹水分不能在低温下除去</a:t>
            </a:r>
            <a:r>
              <a:rPr lang="en-US" altLang="zh-CN" sz="2500" b="1">
                <a:ea typeface="楷体_GB2312" pitchFamily="49" charset="-122"/>
              </a:rPr>
              <a:t>-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灼烧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　    </a:t>
            </a:r>
            <a:r>
              <a:rPr lang="en-US" altLang="zh-CN" sz="2500" b="1">
                <a:ea typeface="楷体_GB2312" pitchFamily="49" charset="-122"/>
              </a:rPr>
              <a:t>BaSO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:  800 ℃ </a:t>
            </a:r>
            <a:r>
              <a:rPr lang="zh-CN" altLang="en-US" sz="2500" b="1">
                <a:ea typeface="楷体_GB2312" pitchFamily="49" charset="-122"/>
              </a:rPr>
              <a:t>灼烧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一些水合氧化物沉淀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: Fe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·</a:t>
            </a:r>
            <a:r>
              <a:rPr lang="en-US" altLang="zh-CN" sz="2500" b="1" i="1">
                <a:ea typeface="楷体_GB2312" pitchFamily="49" charset="-122"/>
              </a:rPr>
              <a:t>x</a:t>
            </a: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zh-CN" altLang="en-US" sz="2500" b="1">
                <a:ea typeface="楷体_GB2312" pitchFamily="49" charset="-122"/>
              </a:rPr>
              <a:t>也都得在高温下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灼烧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43033" name="左大括号 43032"/>
          <p:cNvSpPr>
            <a:spLocks/>
          </p:cNvSpPr>
          <p:nvPr/>
        </p:nvSpPr>
        <p:spPr bwMode="auto">
          <a:xfrm>
            <a:off x="760413" y="1679575"/>
            <a:ext cx="142875" cy="1703388"/>
          </a:xfrm>
          <a:prstGeom prst="leftBrace">
            <a:avLst>
              <a:gd name="adj1" fmla="val 2869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43034" name="矩形 43033"/>
          <p:cNvSpPr>
            <a:spLocks noChangeArrowheads="1"/>
          </p:cNvSpPr>
          <p:nvPr/>
        </p:nvSpPr>
        <p:spPr bwMode="auto">
          <a:xfrm>
            <a:off x="974725" y="3954463"/>
            <a:ext cx="727233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称量形与沉淀形可相同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也可不同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717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17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176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3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3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3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3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43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0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/>
      <p:bldP spid="43018" grpId="0" build="p"/>
      <p:bldP spid="430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1" name="文本框 44040"/>
          <p:cNvSpPr txBox="1">
            <a:spLocks noChangeArrowheads="1"/>
          </p:cNvSpPr>
          <p:nvPr/>
        </p:nvSpPr>
        <p:spPr bwMode="auto">
          <a:xfrm>
            <a:off x="1042988" y="811195"/>
            <a:ext cx="1120775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44042" name="矩形 44041"/>
          <p:cNvSpPr>
            <a:spLocks noChangeArrowheads="1"/>
          </p:cNvSpPr>
          <p:nvPr/>
        </p:nvSpPr>
        <p:spPr bwMode="auto">
          <a:xfrm>
            <a:off x="1042988" y="3097211"/>
            <a:ext cx="76723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4.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结果计算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4043" name="矩形 44042"/>
          <p:cNvSpPr/>
          <p:nvPr/>
        </p:nvSpPr>
        <p:spPr>
          <a:xfrm>
            <a:off x="5907088" y="2646345"/>
            <a:ext cx="2536825" cy="495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Mg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P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O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7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称量形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)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 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44044" name="矩形 44043"/>
          <p:cNvSpPr>
            <a:spLocks noChangeArrowheads="1"/>
          </p:cNvSpPr>
          <p:nvPr/>
        </p:nvSpPr>
        <p:spPr bwMode="auto">
          <a:xfrm>
            <a:off x="1042988" y="2205020"/>
            <a:ext cx="862012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Mg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</a:p>
        </p:txBody>
      </p:sp>
      <p:sp>
        <p:nvSpPr>
          <p:cNvPr id="44045" name="直接连接符 44044"/>
          <p:cNvSpPr>
            <a:spLocks noChangeShapeType="1"/>
          </p:cNvSpPr>
          <p:nvPr/>
        </p:nvSpPr>
        <p:spPr bwMode="auto">
          <a:xfrm>
            <a:off x="1892300" y="247807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46" name="矩形 44045"/>
          <p:cNvSpPr/>
          <p:nvPr/>
        </p:nvSpPr>
        <p:spPr>
          <a:xfrm>
            <a:off x="2403475" y="2205020"/>
            <a:ext cx="3760788" cy="4714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MgNH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PO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·6H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2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O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沉淀形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) </a:t>
            </a:r>
            <a:endParaRPr lang="en-US" altLang="zh-CN" sz="2270" b="1" noProof="1">
              <a:ea typeface="楷体_GB2312" panose="02010609030101010101" pitchFamily="49" charset="-122"/>
            </a:endParaRPr>
          </a:p>
        </p:txBody>
      </p:sp>
      <p:sp>
        <p:nvSpPr>
          <p:cNvPr id="44047" name="直接连接符 44046"/>
          <p:cNvSpPr>
            <a:spLocks noChangeShapeType="1"/>
          </p:cNvSpPr>
          <p:nvPr/>
        </p:nvSpPr>
        <p:spPr bwMode="auto">
          <a:xfrm rot="5400000">
            <a:off x="6891337" y="2609833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48" name="矩形 44047"/>
          <p:cNvSpPr/>
          <p:nvPr/>
        </p:nvSpPr>
        <p:spPr>
          <a:xfrm>
            <a:off x="1722438" y="2478070"/>
            <a:ext cx="762000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沉淀</a:t>
            </a:r>
            <a:endParaRPr lang="zh-CN" altLang="en-US" sz="2270" b="1" noProof="1">
              <a:ea typeface="楷体_GB2312" panose="02010609030101010101" pitchFamily="49" charset="-122"/>
            </a:endParaRPr>
          </a:p>
        </p:txBody>
      </p:sp>
      <p:sp>
        <p:nvSpPr>
          <p:cNvPr id="44049" name="矩形 44048"/>
          <p:cNvSpPr/>
          <p:nvPr/>
        </p:nvSpPr>
        <p:spPr>
          <a:xfrm>
            <a:off x="6245225" y="1966895"/>
            <a:ext cx="7620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灼烧</a:t>
            </a:r>
            <a:endParaRPr lang="zh-CN" altLang="en-US" sz="2270" b="1" noProof="1">
              <a:ea typeface="楷体_GB2312" panose="02010609030101010101" pitchFamily="49" charset="-122"/>
            </a:endParaRPr>
          </a:p>
        </p:txBody>
      </p:sp>
      <p:sp>
        <p:nvSpPr>
          <p:cNvPr id="44061" name="矩形 44060"/>
          <p:cNvSpPr/>
          <p:nvPr/>
        </p:nvSpPr>
        <p:spPr>
          <a:xfrm>
            <a:off x="2403475" y="1184257"/>
            <a:ext cx="2212975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BaSO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沉淀形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) </a:t>
            </a:r>
            <a:endParaRPr lang="en-US" altLang="zh-CN" sz="2270" b="1" noProof="1">
              <a:ea typeface="楷体_GB2312" panose="02010609030101010101" pitchFamily="49" charset="-122"/>
            </a:endParaRPr>
          </a:p>
        </p:txBody>
      </p:sp>
      <p:sp>
        <p:nvSpPr>
          <p:cNvPr id="44062" name="矩形 44061"/>
          <p:cNvSpPr>
            <a:spLocks noChangeArrowheads="1"/>
          </p:cNvSpPr>
          <p:nvPr/>
        </p:nvSpPr>
        <p:spPr bwMode="auto">
          <a:xfrm>
            <a:off x="1042988" y="1184257"/>
            <a:ext cx="8524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Ba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 </a:t>
            </a:r>
          </a:p>
        </p:txBody>
      </p:sp>
      <p:sp>
        <p:nvSpPr>
          <p:cNvPr id="44063" name="直接连接符 44062"/>
          <p:cNvSpPr>
            <a:spLocks noChangeShapeType="1"/>
          </p:cNvSpPr>
          <p:nvPr/>
        </p:nvSpPr>
        <p:spPr bwMode="auto">
          <a:xfrm>
            <a:off x="1892300" y="1422382"/>
            <a:ext cx="442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64" name="矩形 44063"/>
          <p:cNvSpPr/>
          <p:nvPr/>
        </p:nvSpPr>
        <p:spPr>
          <a:xfrm>
            <a:off x="1689100" y="1422382"/>
            <a:ext cx="762000" cy="438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沉淀</a:t>
            </a:r>
            <a:endParaRPr lang="zh-CN" altLang="en-US" sz="2270" b="1" noProof="1">
              <a:ea typeface="楷体_GB2312" panose="02010609030101010101" pitchFamily="49" charset="-122"/>
            </a:endParaRPr>
          </a:p>
        </p:txBody>
      </p:sp>
      <p:sp>
        <p:nvSpPr>
          <p:cNvPr id="44065" name="矩形 44064"/>
          <p:cNvSpPr/>
          <p:nvPr/>
        </p:nvSpPr>
        <p:spPr>
          <a:xfrm>
            <a:off x="4545013" y="912795"/>
            <a:ext cx="762000" cy="4365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灼烧</a:t>
            </a:r>
            <a:endParaRPr lang="zh-CN" altLang="en-US" sz="2270" b="1" noProof="1">
              <a:ea typeface="楷体_GB2312" panose="02010609030101010101" pitchFamily="49" charset="-122"/>
            </a:endParaRPr>
          </a:p>
        </p:txBody>
      </p:sp>
      <p:sp>
        <p:nvSpPr>
          <p:cNvPr id="44066" name="矩形 44065"/>
          <p:cNvSpPr/>
          <p:nvPr/>
        </p:nvSpPr>
        <p:spPr>
          <a:xfrm>
            <a:off x="5360988" y="1184257"/>
            <a:ext cx="2225675" cy="495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BaSO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4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270" b="1" noProof="1">
                <a:ea typeface="楷体_GB2312" panose="02010609030101010101" pitchFamily="49" charset="-122"/>
                <a:cs typeface="+mn-ea"/>
              </a:rPr>
              <a:t>称量形</a:t>
            </a:r>
            <a:r>
              <a:rPr lang="en-US" altLang="zh-CN" sz="2270" b="1" noProof="1">
                <a:ea typeface="楷体_GB2312" panose="02010609030101010101" pitchFamily="49" charset="-122"/>
                <a:cs typeface="+mn-ea"/>
              </a:rPr>
              <a:t>)</a:t>
            </a:r>
            <a:r>
              <a:rPr lang="en-US" altLang="zh-CN" sz="2645" b="1" noProof="1">
                <a:ea typeface="楷体_GB2312" panose="02010609030101010101" pitchFamily="49" charset="-122"/>
                <a:cs typeface="+mn-ea"/>
              </a:rPr>
              <a:t> </a:t>
            </a:r>
            <a:endParaRPr lang="en-US" altLang="zh-CN" sz="2645" b="1" noProof="1">
              <a:ea typeface="楷体_GB2312" panose="02010609030101010101" pitchFamily="49" charset="-122"/>
            </a:endParaRPr>
          </a:p>
        </p:txBody>
      </p:sp>
      <p:sp>
        <p:nvSpPr>
          <p:cNvPr id="44067" name="矩形 44066"/>
          <p:cNvSpPr>
            <a:spLocks noChangeArrowheads="1"/>
          </p:cNvSpPr>
          <p:nvPr/>
        </p:nvSpPr>
        <p:spPr bwMode="auto">
          <a:xfrm>
            <a:off x="1042988" y="1830370"/>
            <a:ext cx="9255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再如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44068" name="直接连接符 44067"/>
          <p:cNvSpPr>
            <a:spLocks noChangeShapeType="1"/>
          </p:cNvSpPr>
          <p:nvPr/>
        </p:nvSpPr>
        <p:spPr bwMode="auto">
          <a:xfrm>
            <a:off x="4681538" y="1422382"/>
            <a:ext cx="442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69" name="直接连接符 44068"/>
          <p:cNvSpPr>
            <a:spLocks noChangeShapeType="1"/>
          </p:cNvSpPr>
          <p:nvPr/>
        </p:nvSpPr>
        <p:spPr bwMode="auto">
          <a:xfrm>
            <a:off x="6245225" y="2478070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70" name="矩形 44069"/>
          <p:cNvSpPr>
            <a:spLocks noChangeArrowheads="1"/>
          </p:cNvSpPr>
          <p:nvPr/>
        </p:nvSpPr>
        <p:spPr bwMode="auto">
          <a:xfrm>
            <a:off x="1042988" y="3540124"/>
            <a:ext cx="607853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所得称量形与被测组分表示形式一致时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4071" name="矩形 44070"/>
          <p:cNvSpPr>
            <a:spLocks noChangeArrowheads="1"/>
          </p:cNvSpPr>
          <p:nvPr/>
        </p:nvSpPr>
        <p:spPr bwMode="auto">
          <a:xfrm>
            <a:off x="7283468" y="3568703"/>
            <a:ext cx="107791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 dirty="0">
                <a:ea typeface="楷体_GB2312" pitchFamily="49" charset="-122"/>
                <a:sym typeface="Symbol" pitchFamily="18" charset="2"/>
              </a:rPr>
              <a:t>w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(B) =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4072" name="矩形 44071"/>
          <p:cNvSpPr>
            <a:spLocks noChangeArrowheads="1"/>
          </p:cNvSpPr>
          <p:nvPr/>
        </p:nvSpPr>
        <p:spPr bwMode="auto">
          <a:xfrm>
            <a:off x="8815406" y="3800478"/>
            <a:ext cx="17843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试样质量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s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4073" name="矩形 44072"/>
          <p:cNvSpPr>
            <a:spLocks noChangeArrowheads="1"/>
          </p:cNvSpPr>
          <p:nvPr/>
        </p:nvSpPr>
        <p:spPr bwMode="auto">
          <a:xfrm>
            <a:off x="8202631" y="3290891"/>
            <a:ext cx="3084512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被测组分的质量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(B)</a:t>
            </a:r>
          </a:p>
        </p:txBody>
      </p:sp>
      <p:sp>
        <p:nvSpPr>
          <p:cNvPr id="44074" name="直接连接符 44073"/>
          <p:cNvSpPr>
            <a:spLocks noChangeShapeType="1"/>
          </p:cNvSpPr>
          <p:nvPr/>
        </p:nvSpPr>
        <p:spPr bwMode="auto">
          <a:xfrm>
            <a:off x="8475681" y="3835403"/>
            <a:ext cx="266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80" name="矩形 44079"/>
          <p:cNvSpPr>
            <a:spLocks noChangeArrowheads="1"/>
          </p:cNvSpPr>
          <p:nvPr/>
        </p:nvSpPr>
        <p:spPr bwMode="auto">
          <a:xfrm>
            <a:off x="1003362" y="5192729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ea typeface="楷体_GB2312" pitchFamily="49" charset="-122"/>
                <a:hlinkClick r:id="rId5" action="ppaction://hlinkpres?slideindex=1&amp;slidetitle=幻灯片 1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21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219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220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920756" y="4335469"/>
            <a:ext cx="10341007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测定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岩石中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SiO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的含量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称样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0.2000g,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通过反应得到硅胶沉淀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经一系列过程灼烧得到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SiO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0.1364g.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求试样中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SiO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质量分数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endParaRPr lang="en-US" altLang="zh-CN" sz="2500" b="1" dirty="0">
              <a:solidFill>
                <a:schemeClr val="accent2"/>
              </a:solidFill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9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8" dur="500"/>
                                        <p:tgtEl>
                                          <p:spTgt spid="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6" dur="5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5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3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7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2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6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0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4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4" dur="5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9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3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8" dur="500"/>
                                        <p:tgtEl>
                                          <p:spTgt spid="44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3" dur="500"/>
                                        <p:tgtEl>
                                          <p:spTgt spid="44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3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1" grpId="0"/>
      <p:bldP spid="44042" grpId="0"/>
      <p:bldP spid="44043" grpId="0"/>
      <p:bldP spid="44044" grpId="0"/>
      <p:bldP spid="44045" grpId="0" animBg="1"/>
      <p:bldP spid="44046" grpId="0"/>
      <p:bldP spid="44047" grpId="0" animBg="1"/>
      <p:bldP spid="44048" grpId="0"/>
      <p:bldP spid="44049" grpId="0"/>
      <p:bldP spid="44061" grpId="0"/>
      <p:bldP spid="44062" grpId="0"/>
      <p:bldP spid="44063" grpId="0" animBg="1"/>
      <p:bldP spid="44064" grpId="0"/>
      <p:bldP spid="44065" grpId="0"/>
      <p:bldP spid="44066" grpId="0"/>
      <p:bldP spid="44067" grpId="0"/>
      <p:bldP spid="44068" grpId="0" animBg="1"/>
      <p:bldP spid="44069" grpId="0" animBg="1"/>
      <p:bldP spid="44070" grpId="0"/>
      <p:bldP spid="44071" grpId="0"/>
      <p:bldP spid="44072" grpId="0"/>
      <p:bldP spid="44073" grpId="0"/>
      <p:bldP spid="44074" grpId="0" animBg="1"/>
      <p:bldP spid="44080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9" name="文本框 64518"/>
          <p:cNvSpPr txBox="1">
            <a:spLocks noChangeArrowheads="1"/>
          </p:cNvSpPr>
          <p:nvPr/>
        </p:nvSpPr>
        <p:spPr bwMode="auto">
          <a:xfrm>
            <a:off x="1189038" y="1025525"/>
            <a:ext cx="7672387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所得称量形与被测组分表示形式不同时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4520" name="矩形 64519"/>
          <p:cNvSpPr>
            <a:spLocks noChangeArrowheads="1"/>
          </p:cNvSpPr>
          <p:nvPr/>
        </p:nvSpPr>
        <p:spPr bwMode="auto">
          <a:xfrm>
            <a:off x="1357313" y="1670050"/>
            <a:ext cx="1079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w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(B) =</a:t>
            </a:r>
            <a:endParaRPr lang="en-US" altLang="zh-CN" sz="2500" b="1">
              <a:solidFill>
                <a:srgbClr val="FF3300"/>
              </a:solidFill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4521" name="矩形 64520"/>
          <p:cNvSpPr>
            <a:spLocks noChangeArrowheads="1"/>
          </p:cNvSpPr>
          <p:nvPr/>
        </p:nvSpPr>
        <p:spPr bwMode="auto">
          <a:xfrm>
            <a:off x="2378075" y="1433513"/>
            <a:ext cx="234315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称量形的质量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4522" name="直接连接符 64521"/>
          <p:cNvSpPr>
            <a:spLocks noChangeShapeType="1"/>
          </p:cNvSpPr>
          <p:nvPr/>
        </p:nvSpPr>
        <p:spPr bwMode="auto">
          <a:xfrm>
            <a:off x="2549525" y="1908175"/>
            <a:ext cx="544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23" name="矩形 64522"/>
          <p:cNvSpPr>
            <a:spLocks noChangeArrowheads="1"/>
          </p:cNvSpPr>
          <p:nvPr/>
        </p:nvSpPr>
        <p:spPr bwMode="auto">
          <a:xfrm>
            <a:off x="4351338" y="1908175"/>
            <a:ext cx="17843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试样质量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s</a:t>
            </a:r>
          </a:p>
        </p:txBody>
      </p:sp>
      <p:sp>
        <p:nvSpPr>
          <p:cNvPr id="64524" name="矩形 64523"/>
          <p:cNvSpPr/>
          <p:nvPr/>
        </p:nvSpPr>
        <p:spPr>
          <a:xfrm>
            <a:off x="4589463" y="1433513"/>
            <a:ext cx="3913187" cy="495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645" b="1" noProof="1">
                <a:ea typeface="楷体_GB2312" panose="02010609030101010101" pitchFamily="49" charset="-122"/>
                <a:cs typeface="+mn-ea"/>
                <a:sym typeface="Symbol" panose="05050102010706020507" pitchFamily="18" charset="2"/>
              </a:rPr>
              <a:t>×</a:t>
            </a:r>
            <a:r>
              <a:rPr lang="zh-CN" altLang="en-US" sz="2645" b="1" noProof="1">
                <a:ea typeface="楷体_GB2312" panose="02010609030101010101" pitchFamily="49" charset="-122"/>
                <a:cs typeface="+mn-ea"/>
                <a:sym typeface="Symbol" panose="05050102010706020507" pitchFamily="18" charset="2"/>
              </a:rPr>
              <a:t>被测组分的称量因子</a:t>
            </a:r>
            <a:r>
              <a:rPr lang="en-US" altLang="zh-CN" sz="2645" b="1" i="1" noProof="1">
                <a:ea typeface="楷体_GB2312" panose="02010609030101010101" pitchFamily="49" charset="-122"/>
                <a:cs typeface="+mn-ea"/>
                <a:sym typeface="Symbol" panose="05050102010706020507" pitchFamily="18" charset="2"/>
              </a:rPr>
              <a:t>F</a:t>
            </a:r>
            <a:endParaRPr lang="en-US" altLang="zh-CN" sz="2645" b="1" noProof="1"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4526" name="矩形 64525"/>
          <p:cNvSpPr>
            <a:spLocks noChangeArrowheads="1"/>
          </p:cNvSpPr>
          <p:nvPr/>
        </p:nvSpPr>
        <p:spPr bwMode="auto">
          <a:xfrm>
            <a:off x="4487863" y="2587625"/>
            <a:ext cx="6477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F =</a:t>
            </a:r>
          </a:p>
        </p:txBody>
      </p:sp>
      <p:sp>
        <p:nvSpPr>
          <p:cNvPr id="64525" name="矩形 64524"/>
          <p:cNvSpPr>
            <a:spLocks noChangeArrowheads="1"/>
          </p:cNvSpPr>
          <p:nvPr/>
        </p:nvSpPr>
        <p:spPr bwMode="auto">
          <a:xfrm>
            <a:off x="1189038" y="2622550"/>
            <a:ext cx="3279775" cy="85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称量因子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换算因数</a:t>
            </a:r>
            <a:r>
              <a:rPr lang="en-US" altLang="zh-CN" sz="2500" b="1">
                <a:ea typeface="楷体_GB2312" pitchFamily="49" charset="-122"/>
              </a:rPr>
              <a:t>):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gravimetric factor</a:t>
            </a:r>
            <a:r>
              <a:rPr lang="en-US" altLang="zh-CN" sz="2500" b="1">
                <a:ea typeface="楷体_GB2312" pitchFamily="49" charset="-122"/>
              </a:rPr>
              <a:t>)</a:t>
            </a:r>
          </a:p>
        </p:txBody>
      </p:sp>
      <p:sp>
        <p:nvSpPr>
          <p:cNvPr id="64527" name="直接连接符 64526"/>
          <p:cNvSpPr>
            <a:spLocks noChangeShapeType="1"/>
          </p:cNvSpPr>
          <p:nvPr/>
        </p:nvSpPr>
        <p:spPr bwMode="auto">
          <a:xfrm>
            <a:off x="5303838" y="2894013"/>
            <a:ext cx="1392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28" name="矩形 64527"/>
          <p:cNvSpPr>
            <a:spLocks noChangeArrowheads="1"/>
          </p:cNvSpPr>
          <p:nvPr/>
        </p:nvSpPr>
        <p:spPr bwMode="auto">
          <a:xfrm>
            <a:off x="5337175" y="2895600"/>
            <a:ext cx="1477963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n×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MA</a:t>
            </a:r>
            <a:r>
              <a:rPr lang="en-US" altLang="zh-CN" sz="2500" b="1" baseline="-40000">
                <a:ea typeface="楷体_GB2312" pitchFamily="49" charset="-122"/>
                <a:sym typeface="Symbol" pitchFamily="18" charset="2"/>
              </a:rPr>
              <a:t>m</a:t>
            </a:r>
            <a:endParaRPr lang="en-US" altLang="zh-CN" sz="2500" b="1" i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4529" name="矩形 64528"/>
          <p:cNvSpPr>
            <a:spLocks noChangeArrowheads="1"/>
          </p:cNvSpPr>
          <p:nvPr/>
        </p:nvSpPr>
        <p:spPr bwMode="auto">
          <a:xfrm>
            <a:off x="5303838" y="2351088"/>
            <a:ext cx="1450975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m×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500" b="1" baseline="-40000"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B</a:t>
            </a:r>
            <a:endParaRPr lang="en-US" altLang="zh-CN" sz="2500" b="1" i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4537" name="矩形 64536"/>
          <p:cNvSpPr/>
          <p:nvPr/>
        </p:nvSpPr>
        <p:spPr>
          <a:xfrm>
            <a:off x="4011613" y="1398588"/>
            <a:ext cx="2474912" cy="495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45" b="1" noProof="1">
                <a:ea typeface="楷体_GB2312" panose="02010609030101010101" pitchFamily="49" charset="-122"/>
                <a:cs typeface="+mn-ea"/>
                <a:sym typeface="Symbol" panose="05050102010706020507" pitchFamily="18" charset="2"/>
              </a:rPr>
              <a:t>被测组分质量</a:t>
            </a:r>
            <a:r>
              <a:rPr lang="en-US" altLang="zh-CN" sz="2645" b="1" i="1" noProof="1">
                <a:ea typeface="楷体_GB2312" panose="02010609030101010101" pitchFamily="49" charset="-122"/>
                <a:cs typeface="+mn-ea"/>
                <a:sym typeface="Symbol" panose="05050102010706020507" pitchFamily="18" charset="2"/>
              </a:rPr>
              <a:t>m</a:t>
            </a:r>
            <a:endParaRPr lang="en-US" altLang="zh-CN" sz="2645" b="1" baseline="-25000" noProof="1">
              <a:ea typeface="楷体_GB2312" panose="0201060903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64538" name="云形标注 64537"/>
          <p:cNvSpPr>
            <a:spLocks noChangeArrowheads="1"/>
          </p:cNvSpPr>
          <p:nvPr/>
        </p:nvSpPr>
        <p:spPr bwMode="auto">
          <a:xfrm>
            <a:off x="6053138" y="3506788"/>
            <a:ext cx="3209925" cy="1020762"/>
          </a:xfrm>
          <a:prstGeom prst="cloudCallout">
            <a:avLst>
              <a:gd name="adj1" fmla="val -36477"/>
              <a:gd name="adj2" fmla="val -120264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zh-CN" altLang="en-US" sz="2000" b="1">
                <a:solidFill>
                  <a:srgbClr val="0000FF"/>
                </a:solidFill>
                <a:ea typeface="黑体" pitchFamily="49" charset="-122"/>
              </a:rPr>
              <a:t>被测组分相对分子</a:t>
            </a:r>
            <a:r>
              <a:rPr lang="en-US" altLang="zh-CN" sz="2000" b="1">
                <a:solidFill>
                  <a:srgbClr val="0000FF"/>
                </a:solidFill>
                <a:ea typeface="黑体" pitchFamily="49" charset="-122"/>
              </a:rPr>
              <a:t>(</a:t>
            </a:r>
            <a:r>
              <a:rPr lang="zh-CN" altLang="en-US" sz="2000" b="1">
                <a:solidFill>
                  <a:srgbClr val="0000FF"/>
                </a:solidFill>
                <a:ea typeface="黑体" pitchFamily="49" charset="-122"/>
              </a:rPr>
              <a:t>或原子</a:t>
            </a:r>
            <a:r>
              <a:rPr lang="en-US" altLang="zh-CN" sz="2000" b="1">
                <a:solidFill>
                  <a:srgbClr val="0000FF"/>
                </a:solidFill>
                <a:ea typeface="黑体" pitchFamily="49" charset="-122"/>
              </a:rPr>
              <a:t>)</a:t>
            </a:r>
            <a:r>
              <a:rPr lang="zh-CN" altLang="en-US" sz="2000" b="1">
                <a:solidFill>
                  <a:srgbClr val="0000FF"/>
                </a:solidFill>
                <a:ea typeface="黑体" pitchFamily="49" charset="-122"/>
              </a:rPr>
              <a:t>质量</a:t>
            </a:r>
          </a:p>
        </p:txBody>
      </p:sp>
      <p:sp>
        <p:nvSpPr>
          <p:cNvPr id="64539" name="云形标注 64538"/>
          <p:cNvSpPr>
            <a:spLocks noChangeArrowheads="1"/>
          </p:cNvSpPr>
          <p:nvPr/>
        </p:nvSpPr>
        <p:spPr bwMode="auto">
          <a:xfrm>
            <a:off x="4284663" y="4254500"/>
            <a:ext cx="2295525" cy="1020763"/>
          </a:xfrm>
          <a:prstGeom prst="cloudCallout">
            <a:avLst>
              <a:gd name="adj1" fmla="val 32426"/>
              <a:gd name="adj2" fmla="val -139426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zh-CN" altLang="en-US" sz="2000" b="1">
                <a:solidFill>
                  <a:srgbClr val="0000FF"/>
                </a:solidFill>
                <a:ea typeface="黑体" pitchFamily="49" charset="-122"/>
              </a:rPr>
              <a:t>称量形相对分子质量</a:t>
            </a:r>
          </a:p>
        </p:txBody>
      </p:sp>
      <p:sp>
        <p:nvSpPr>
          <p:cNvPr id="64540" name="云形标注 64539"/>
          <p:cNvSpPr>
            <a:spLocks noChangeArrowheads="1"/>
          </p:cNvSpPr>
          <p:nvPr/>
        </p:nvSpPr>
        <p:spPr bwMode="auto">
          <a:xfrm>
            <a:off x="1155700" y="3516313"/>
            <a:ext cx="3400425" cy="1530350"/>
          </a:xfrm>
          <a:prstGeom prst="cloudCallout">
            <a:avLst>
              <a:gd name="adj1" fmla="val 74440"/>
              <a:gd name="adj2" fmla="val -85981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zh-CN" altLang="en-US" sz="2000" b="1">
                <a:solidFill>
                  <a:srgbClr val="0000FF"/>
                </a:solidFill>
                <a:ea typeface="黑体" pitchFamily="49" charset="-122"/>
              </a:rPr>
              <a:t>使分子分母中被测组分主要元素的原子数相等所乘系数</a:t>
            </a:r>
          </a:p>
        </p:txBody>
      </p:sp>
      <p:sp>
        <p:nvSpPr>
          <p:cNvPr id="64541" name="椭圆 64540"/>
          <p:cNvSpPr>
            <a:spLocks noChangeArrowheads="1"/>
          </p:cNvSpPr>
          <p:nvPr/>
        </p:nvSpPr>
        <p:spPr bwMode="auto">
          <a:xfrm>
            <a:off x="5268913" y="2384425"/>
            <a:ext cx="509587" cy="101917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500"/>
          </a:p>
        </p:txBody>
      </p:sp>
      <p:sp>
        <p:nvSpPr>
          <p:cNvPr id="923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23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236" name="文本框 68635"/>
          <p:cNvSpPr txBox="1">
            <a:spLocks noChangeArrowheads="1"/>
          </p:cNvSpPr>
          <p:nvPr/>
        </p:nvSpPr>
        <p:spPr bwMode="auto">
          <a:xfrm>
            <a:off x="2444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645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6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5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4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9" dur="5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45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4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4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9" grpId="0"/>
      <p:bldP spid="64520" grpId="0"/>
      <p:bldP spid="64521" grpId="0"/>
      <p:bldP spid="64522" grpId="0" animBg="1"/>
      <p:bldP spid="64523" grpId="0"/>
      <p:bldP spid="64524" grpId="0"/>
      <p:bldP spid="64526" grpId="0"/>
      <p:bldP spid="64525" grpId="0"/>
      <p:bldP spid="64527" grpId="0" animBg="1"/>
      <p:bldP spid="64528" grpId="0"/>
      <p:bldP spid="64529" grpId="0"/>
      <p:bldP spid="64537" grpId="0"/>
      <p:bldP spid="64538" grpId="0" bldLvl="0" animBg="1"/>
      <p:bldP spid="64539" grpId="0" bldLvl="0" animBg="1"/>
      <p:bldP spid="6454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9" name="文本框 46088"/>
          <p:cNvSpPr txBox="1">
            <a:spLocks noChangeArrowheads="1"/>
          </p:cNvSpPr>
          <p:nvPr/>
        </p:nvSpPr>
        <p:spPr bwMode="auto">
          <a:xfrm>
            <a:off x="546100" y="954088"/>
            <a:ext cx="1071562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某含磷样品经一系列步骤得到</a:t>
            </a:r>
            <a:r>
              <a:rPr lang="en-US" altLang="zh-CN" sz="2500" b="1">
                <a:ea typeface="楷体_GB2312" pitchFamily="49" charset="-122"/>
              </a:rPr>
              <a:t>Mg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P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7</a:t>
            </a:r>
            <a:r>
              <a:rPr lang="zh-CN" altLang="en-US" sz="2500" b="1">
                <a:ea typeface="楷体_GB2312" pitchFamily="49" charset="-122"/>
              </a:rPr>
              <a:t>称量形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当要求以</a:t>
            </a:r>
            <a:r>
              <a:rPr lang="en-US" altLang="zh-CN" sz="2500" b="1">
                <a:ea typeface="楷体_GB2312" pitchFamily="49" charset="-122"/>
              </a:rPr>
              <a:t>P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5</a:t>
            </a:r>
            <a:r>
              <a:rPr lang="zh-CN" altLang="en-US" sz="2500" b="1">
                <a:ea typeface="楷体_GB2312" pitchFamily="49" charset="-122"/>
              </a:rPr>
              <a:t>表示测定结果时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则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称量因子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46106" name="矩形 46105"/>
          <p:cNvSpPr>
            <a:spLocks noChangeArrowheads="1"/>
          </p:cNvSpPr>
          <p:nvPr/>
        </p:nvSpPr>
        <p:spPr bwMode="auto">
          <a:xfrm>
            <a:off x="1590675" y="1939925"/>
            <a:ext cx="6477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F =</a:t>
            </a:r>
          </a:p>
        </p:txBody>
      </p:sp>
      <p:sp>
        <p:nvSpPr>
          <p:cNvPr id="46107" name="矩形 46106"/>
          <p:cNvSpPr>
            <a:spLocks noChangeArrowheads="1"/>
          </p:cNvSpPr>
          <p:nvPr/>
        </p:nvSpPr>
        <p:spPr bwMode="auto">
          <a:xfrm>
            <a:off x="2643188" y="1668463"/>
            <a:ext cx="95885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M</a:t>
            </a:r>
            <a:r>
              <a:rPr lang="en-US" altLang="zh-CN" sz="2500" b="1" baseline="-25000">
                <a:ea typeface="楷体_GB2312" pitchFamily="49" charset="-122"/>
              </a:rPr>
              <a:t>P</a:t>
            </a:r>
            <a:r>
              <a:rPr lang="en-US" altLang="zh-CN" sz="2500" b="1" baseline="-40000">
                <a:ea typeface="楷体_GB2312" pitchFamily="49" charset="-122"/>
              </a:rPr>
              <a:t>2</a:t>
            </a:r>
            <a:r>
              <a:rPr lang="en-US" altLang="zh-CN" sz="2500" b="1" baseline="-25000">
                <a:ea typeface="楷体_GB2312" pitchFamily="49" charset="-122"/>
              </a:rPr>
              <a:t>O</a:t>
            </a:r>
            <a:r>
              <a:rPr lang="en-US" altLang="zh-CN" sz="2500" b="1" baseline="-40000">
                <a:ea typeface="楷体_GB2312" pitchFamily="49" charset="-122"/>
              </a:rPr>
              <a:t>5</a:t>
            </a:r>
            <a:endParaRPr lang="en-US" altLang="zh-CN" sz="2500" b="1" baseline="-25000">
              <a:ea typeface="楷体_GB2312" pitchFamily="49" charset="-122"/>
            </a:endParaRPr>
          </a:p>
        </p:txBody>
      </p:sp>
      <p:sp>
        <p:nvSpPr>
          <p:cNvPr id="46108" name="直接连接符 46107"/>
          <p:cNvSpPr>
            <a:spLocks noChangeShapeType="1"/>
          </p:cNvSpPr>
          <p:nvPr/>
        </p:nvSpPr>
        <p:spPr bwMode="auto">
          <a:xfrm>
            <a:off x="2406650" y="2178050"/>
            <a:ext cx="139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09" name="矩形 46108"/>
          <p:cNvSpPr>
            <a:spLocks noChangeArrowheads="1"/>
          </p:cNvSpPr>
          <p:nvPr/>
        </p:nvSpPr>
        <p:spPr bwMode="auto">
          <a:xfrm>
            <a:off x="2303463" y="2178050"/>
            <a:ext cx="136207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M</a:t>
            </a:r>
            <a:r>
              <a:rPr lang="en-US" altLang="zh-CN" sz="2500" b="1" baseline="-25000">
                <a:ea typeface="楷体_GB2312" pitchFamily="49" charset="-122"/>
              </a:rPr>
              <a:t>Mg</a:t>
            </a:r>
            <a:r>
              <a:rPr lang="en-US" altLang="zh-CN" sz="2500" b="1" baseline="-40000">
                <a:ea typeface="楷体_GB2312" pitchFamily="49" charset="-122"/>
              </a:rPr>
              <a:t>2</a:t>
            </a:r>
            <a:r>
              <a:rPr lang="en-US" altLang="zh-CN" sz="2500" b="1" baseline="-25000">
                <a:ea typeface="楷体_GB2312" pitchFamily="49" charset="-122"/>
              </a:rPr>
              <a:t>P</a:t>
            </a:r>
            <a:r>
              <a:rPr lang="en-US" altLang="zh-CN" sz="2500" b="1" baseline="-40000">
                <a:ea typeface="楷体_GB2312" pitchFamily="49" charset="-122"/>
              </a:rPr>
              <a:t>2</a:t>
            </a:r>
            <a:r>
              <a:rPr lang="en-US" altLang="zh-CN" sz="2500" b="1" baseline="-25000">
                <a:ea typeface="楷体_GB2312" pitchFamily="49" charset="-122"/>
              </a:rPr>
              <a:t>O</a:t>
            </a:r>
            <a:r>
              <a:rPr lang="en-US" altLang="zh-CN" sz="2500" b="1" baseline="-40000">
                <a:ea typeface="楷体_GB2312" pitchFamily="49" charset="-122"/>
              </a:rPr>
              <a:t>7</a:t>
            </a:r>
            <a:endParaRPr lang="en-US" altLang="zh-CN" sz="2500" b="1" baseline="-25000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6112" name="文本框 46111"/>
          <p:cNvSpPr txBox="1">
            <a:spLocks noChangeArrowheads="1"/>
          </p:cNvSpPr>
          <p:nvPr/>
        </p:nvSpPr>
        <p:spPr bwMode="auto">
          <a:xfrm>
            <a:off x="831850" y="2740025"/>
            <a:ext cx="9929813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某含镁样品经一系列步骤得到</a:t>
            </a:r>
            <a:r>
              <a:rPr lang="en-US" altLang="zh-CN" sz="2500" b="1">
                <a:ea typeface="楷体_GB2312" pitchFamily="49" charset="-122"/>
              </a:rPr>
              <a:t>Mg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P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</a:t>
            </a:r>
            <a:r>
              <a:rPr lang="en-US" altLang="zh-CN" sz="2500" b="1" baseline="-25000">
                <a:ea typeface="楷体_GB2312" pitchFamily="49" charset="-122"/>
              </a:rPr>
              <a:t>7</a:t>
            </a:r>
            <a:r>
              <a:rPr lang="zh-CN" altLang="en-US" sz="2500" b="1">
                <a:ea typeface="楷体_GB2312" pitchFamily="49" charset="-122"/>
              </a:rPr>
              <a:t>称量形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当要求以</a:t>
            </a:r>
            <a:r>
              <a:rPr lang="en-US" altLang="zh-CN" sz="2500" b="1">
                <a:ea typeface="楷体_GB2312" pitchFamily="49" charset="-122"/>
              </a:rPr>
              <a:t>Mg</a:t>
            </a:r>
            <a:r>
              <a:rPr lang="zh-CN" altLang="en-US" sz="2500" b="1">
                <a:ea typeface="楷体_GB2312" pitchFamily="49" charset="-122"/>
              </a:rPr>
              <a:t>表示测定结果时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则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称量因子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46113" name="矩形 46112"/>
          <p:cNvSpPr>
            <a:spLocks noChangeArrowheads="1"/>
          </p:cNvSpPr>
          <p:nvPr/>
        </p:nvSpPr>
        <p:spPr bwMode="auto">
          <a:xfrm>
            <a:off x="3833813" y="1939925"/>
            <a:ext cx="363537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=</a:t>
            </a:r>
          </a:p>
        </p:txBody>
      </p:sp>
      <p:sp>
        <p:nvSpPr>
          <p:cNvPr id="46114" name="直接连接符 46113"/>
          <p:cNvSpPr>
            <a:spLocks noChangeShapeType="1"/>
          </p:cNvSpPr>
          <p:nvPr/>
        </p:nvSpPr>
        <p:spPr bwMode="auto">
          <a:xfrm>
            <a:off x="4310063" y="2178050"/>
            <a:ext cx="139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15" name="矩形 46114"/>
          <p:cNvSpPr>
            <a:spLocks noChangeArrowheads="1"/>
          </p:cNvSpPr>
          <p:nvPr/>
        </p:nvSpPr>
        <p:spPr bwMode="auto">
          <a:xfrm>
            <a:off x="4481513" y="1668463"/>
            <a:ext cx="89693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141.9</a:t>
            </a:r>
          </a:p>
        </p:txBody>
      </p:sp>
      <p:sp>
        <p:nvSpPr>
          <p:cNvPr id="46116" name="矩形 46115"/>
          <p:cNvSpPr>
            <a:spLocks noChangeArrowheads="1"/>
          </p:cNvSpPr>
          <p:nvPr/>
        </p:nvSpPr>
        <p:spPr bwMode="auto">
          <a:xfrm>
            <a:off x="4481513" y="2178050"/>
            <a:ext cx="896937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222.6</a:t>
            </a:r>
          </a:p>
        </p:txBody>
      </p:sp>
      <p:sp>
        <p:nvSpPr>
          <p:cNvPr id="46117" name="矩形 46116"/>
          <p:cNvSpPr>
            <a:spLocks noChangeArrowheads="1"/>
          </p:cNvSpPr>
          <p:nvPr/>
        </p:nvSpPr>
        <p:spPr bwMode="auto">
          <a:xfrm>
            <a:off x="5705475" y="1939925"/>
            <a:ext cx="131603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0.6375</a:t>
            </a:r>
            <a:endParaRPr lang="en-US" altLang="zh-CN" sz="2500" b="1" i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6118" name="矩形 46117"/>
          <p:cNvSpPr>
            <a:spLocks noChangeArrowheads="1"/>
          </p:cNvSpPr>
          <p:nvPr/>
        </p:nvSpPr>
        <p:spPr bwMode="auto">
          <a:xfrm>
            <a:off x="1612900" y="3868738"/>
            <a:ext cx="6477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F =</a:t>
            </a:r>
          </a:p>
        </p:txBody>
      </p:sp>
      <p:sp>
        <p:nvSpPr>
          <p:cNvPr id="46119" name="矩形 46118"/>
          <p:cNvSpPr>
            <a:spLocks noChangeArrowheads="1"/>
          </p:cNvSpPr>
          <p:nvPr/>
        </p:nvSpPr>
        <p:spPr bwMode="auto">
          <a:xfrm>
            <a:off x="2938463" y="3597275"/>
            <a:ext cx="7635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M</a:t>
            </a:r>
            <a:r>
              <a:rPr lang="en-US" altLang="zh-CN" sz="2500" b="1" baseline="-25000">
                <a:ea typeface="楷体_GB2312" pitchFamily="49" charset="-122"/>
              </a:rPr>
              <a:t>Mg</a:t>
            </a:r>
          </a:p>
        </p:txBody>
      </p:sp>
      <p:sp>
        <p:nvSpPr>
          <p:cNvPr id="46120" name="矩形 46119"/>
          <p:cNvSpPr>
            <a:spLocks noChangeArrowheads="1"/>
          </p:cNvSpPr>
          <p:nvPr/>
        </p:nvSpPr>
        <p:spPr bwMode="auto">
          <a:xfrm>
            <a:off x="2325688" y="4108450"/>
            <a:ext cx="136207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M</a:t>
            </a:r>
            <a:r>
              <a:rPr lang="en-US" altLang="zh-CN" sz="2500" b="1" baseline="-25000">
                <a:ea typeface="楷体_GB2312" pitchFamily="49" charset="-122"/>
              </a:rPr>
              <a:t>Mg</a:t>
            </a:r>
            <a:r>
              <a:rPr lang="en-US" altLang="zh-CN" sz="2500" b="1" baseline="-40000">
                <a:ea typeface="楷体_GB2312" pitchFamily="49" charset="-122"/>
              </a:rPr>
              <a:t>2</a:t>
            </a:r>
            <a:r>
              <a:rPr lang="en-US" altLang="zh-CN" sz="2500" b="1" baseline="-25000">
                <a:ea typeface="楷体_GB2312" pitchFamily="49" charset="-122"/>
              </a:rPr>
              <a:t>P</a:t>
            </a:r>
            <a:r>
              <a:rPr lang="en-US" altLang="zh-CN" sz="2500" b="1" baseline="-40000">
                <a:ea typeface="楷体_GB2312" pitchFamily="49" charset="-122"/>
              </a:rPr>
              <a:t>2</a:t>
            </a:r>
            <a:r>
              <a:rPr lang="en-US" altLang="zh-CN" sz="2500" b="1" baseline="-25000">
                <a:ea typeface="楷体_GB2312" pitchFamily="49" charset="-122"/>
              </a:rPr>
              <a:t>O</a:t>
            </a:r>
            <a:r>
              <a:rPr lang="en-US" altLang="zh-CN" sz="2500" b="1" baseline="-40000">
                <a:ea typeface="楷体_GB2312" pitchFamily="49" charset="-122"/>
              </a:rPr>
              <a:t>7</a:t>
            </a:r>
          </a:p>
        </p:txBody>
      </p:sp>
      <p:sp>
        <p:nvSpPr>
          <p:cNvPr id="46121" name="直接连接符 46120"/>
          <p:cNvSpPr>
            <a:spLocks noChangeShapeType="1"/>
          </p:cNvSpPr>
          <p:nvPr/>
        </p:nvSpPr>
        <p:spPr bwMode="auto">
          <a:xfrm>
            <a:off x="2359025" y="4108450"/>
            <a:ext cx="139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22" name="直接连接符 46121"/>
          <p:cNvSpPr>
            <a:spLocks noChangeShapeType="1"/>
          </p:cNvSpPr>
          <p:nvPr/>
        </p:nvSpPr>
        <p:spPr bwMode="auto">
          <a:xfrm>
            <a:off x="4367213" y="4108450"/>
            <a:ext cx="1392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23" name="矩形 46122"/>
          <p:cNvSpPr>
            <a:spLocks noChangeArrowheads="1"/>
          </p:cNvSpPr>
          <p:nvPr/>
        </p:nvSpPr>
        <p:spPr bwMode="auto">
          <a:xfrm>
            <a:off x="3890963" y="3868738"/>
            <a:ext cx="36353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=</a:t>
            </a:r>
          </a:p>
        </p:txBody>
      </p:sp>
      <p:sp>
        <p:nvSpPr>
          <p:cNvPr id="46124" name="矩形 46123"/>
          <p:cNvSpPr>
            <a:spLocks noChangeArrowheads="1"/>
          </p:cNvSpPr>
          <p:nvPr/>
        </p:nvSpPr>
        <p:spPr bwMode="auto">
          <a:xfrm>
            <a:off x="4332288" y="3597275"/>
            <a:ext cx="13747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×</a:t>
            </a:r>
            <a:r>
              <a:rPr lang="en-US" altLang="zh-CN" sz="2500" b="1">
                <a:ea typeface="楷体_GB2312" pitchFamily="49" charset="-122"/>
              </a:rPr>
              <a:t>24.30</a:t>
            </a:r>
          </a:p>
        </p:txBody>
      </p:sp>
      <p:sp>
        <p:nvSpPr>
          <p:cNvPr id="46125" name="矩形 46124"/>
          <p:cNvSpPr>
            <a:spLocks noChangeArrowheads="1"/>
          </p:cNvSpPr>
          <p:nvPr/>
        </p:nvSpPr>
        <p:spPr bwMode="auto">
          <a:xfrm>
            <a:off x="4535488" y="4108450"/>
            <a:ext cx="8985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222.6</a:t>
            </a:r>
          </a:p>
        </p:txBody>
      </p:sp>
      <p:sp>
        <p:nvSpPr>
          <p:cNvPr id="46126" name="矩形 46125"/>
          <p:cNvSpPr>
            <a:spLocks noChangeArrowheads="1"/>
          </p:cNvSpPr>
          <p:nvPr/>
        </p:nvSpPr>
        <p:spPr bwMode="auto">
          <a:xfrm>
            <a:off x="5759450" y="3868738"/>
            <a:ext cx="13176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=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0.2183</a:t>
            </a:r>
            <a:endParaRPr lang="en-US" altLang="zh-CN" sz="2500" b="1" i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6127" name="矩形 46126"/>
          <p:cNvSpPr>
            <a:spLocks noChangeArrowheads="1"/>
          </p:cNvSpPr>
          <p:nvPr/>
        </p:nvSpPr>
        <p:spPr bwMode="auto">
          <a:xfrm>
            <a:off x="2428875" y="3597275"/>
            <a:ext cx="6604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2×</a:t>
            </a:r>
          </a:p>
        </p:txBody>
      </p:sp>
      <p:sp>
        <p:nvSpPr>
          <p:cNvPr id="1026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6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4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5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4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8" dur="500"/>
                                        <p:tgtEl>
                                          <p:spTgt spid="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0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5" dur="500"/>
                                        <p:tgtEl>
                                          <p:spTgt spid="46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0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5" dur="500"/>
                                        <p:tgtEl>
                                          <p:spTgt spid="46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0" dur="5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4" dur="500"/>
                                        <p:tgtEl>
                                          <p:spTgt spid="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8" dur="500"/>
                                        <p:tgtEl>
                                          <p:spTgt spid="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2" dur="500"/>
                                        <p:tgtEl>
                                          <p:spTgt spid="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97" dur="500"/>
                                        <p:tgtEl>
                                          <p:spTgt spid="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9" grpId="0"/>
      <p:bldP spid="46106" grpId="0"/>
      <p:bldP spid="46107" grpId="0"/>
      <p:bldP spid="46108" grpId="0" animBg="1"/>
      <p:bldP spid="46109" grpId="0"/>
      <p:bldP spid="46112" grpId="0"/>
      <p:bldP spid="46113" grpId="0"/>
      <p:bldP spid="46114" grpId="0" animBg="1"/>
      <p:bldP spid="46115" grpId="0"/>
      <p:bldP spid="46116" grpId="0"/>
      <p:bldP spid="46117" grpId="0"/>
      <p:bldP spid="46118" grpId="0"/>
      <p:bldP spid="46119" grpId="0"/>
      <p:bldP spid="46120" grpId="0"/>
      <p:bldP spid="46121" grpId="0" animBg="1"/>
      <p:bldP spid="46122" grpId="0" animBg="1"/>
      <p:bldP spid="46123" grpId="0"/>
      <p:bldP spid="46124" grpId="0"/>
      <p:bldP spid="46125" grpId="0"/>
      <p:bldP spid="46126" grpId="0"/>
      <p:bldP spid="461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28" name="矩形 46127"/>
          <p:cNvSpPr>
            <a:spLocks noChangeArrowheads="1"/>
          </p:cNvSpPr>
          <p:nvPr/>
        </p:nvSpPr>
        <p:spPr bwMode="auto">
          <a:xfrm>
            <a:off x="903253" y="3311525"/>
            <a:ext cx="1000132" cy="600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500" b="1" dirty="0" smtClean="0">
                <a:ea typeface="楷体_GB2312" pitchFamily="49" charset="-122"/>
                <a:hlinkClick r:id="rId2" action="ppaction://hlinkpres?slideindex=3&amp;slidetitle=幻灯片 3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026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266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4.4.1 称量分析法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31815" y="1811327"/>
            <a:ext cx="928694" cy="600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500" b="1" dirty="0" smtClean="0">
                <a:ea typeface="楷体_GB2312" pitchFamily="49" charset="-122"/>
                <a:hlinkClick r:id="rId2" action="ppaction://hlinkpres?slideindex=2&amp;slidetitle=幻灯片 2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831815" y="2454269"/>
            <a:ext cx="10429948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3.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测定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KHC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·H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可使之沉淀为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CaC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最后灼烧成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CaO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称重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若称取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0.5000g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纯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KHC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·H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问可得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CaO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多少克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</a:t>
            </a:r>
            <a:endParaRPr lang="en-US" altLang="zh-CN" sz="2500" b="1" dirty="0">
              <a:solidFill>
                <a:srgbClr val="0000FF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812787" y="949553"/>
            <a:ext cx="10448976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2.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以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重量法测定某试样中的铁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称样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0.1666g,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得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Fe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0.1370g.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求试样中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itchFamily="18" charset="2"/>
              </a:rPr>
              <a:t>w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(Fe)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、</a:t>
            </a:r>
            <a:r>
              <a:rPr lang="en-US" altLang="zh-CN" sz="2500" b="1" i="1" dirty="0">
                <a:latin typeface="+mn-lt"/>
                <a:ea typeface="楷体_GB2312" pitchFamily="49" charset="-122"/>
                <a:sym typeface="Symbol" pitchFamily="18" charset="2"/>
              </a:rPr>
              <a:t>w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(Fe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). </a:t>
            </a:r>
            <a:endParaRPr lang="en-US" altLang="zh-CN" sz="2500" b="1" dirty="0">
              <a:solidFill>
                <a:schemeClr val="accent2"/>
              </a:solidFill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28" grpId="0"/>
      <p:bldP spid="2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9" name="文本框 40968"/>
          <p:cNvSpPr txBox="1"/>
          <p:nvPr/>
        </p:nvSpPr>
        <p:spPr>
          <a:xfrm>
            <a:off x="903288" y="3203575"/>
            <a:ext cx="2992437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1.</a:t>
            </a:r>
            <a:r>
              <a:rPr lang="zh-CN" altLang="en-US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莫尔法基本原理</a:t>
            </a: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500" b="1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40981" name="矩形 40980"/>
          <p:cNvSpPr>
            <a:spLocks noChangeArrowheads="1"/>
          </p:cNvSpPr>
          <p:nvPr/>
        </p:nvSpPr>
        <p:spPr bwMode="auto">
          <a:xfrm>
            <a:off x="903288" y="1525588"/>
            <a:ext cx="9929812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银量法基本反应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Ag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X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latin typeface="MS UI Gothic" pitchFamily="34" charset="-128"/>
                <a:ea typeface="MS UI Gothic" pitchFamily="34" charset="-128"/>
              </a:rPr>
              <a:t>⇌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dirty="0" err="1">
                <a:ea typeface="楷体_GB2312" pitchFamily="49" charset="-122"/>
              </a:rPr>
              <a:t>AgX</a:t>
            </a:r>
            <a:r>
              <a:rPr lang="en-US" altLang="zh-CN" sz="2500" b="1" dirty="0">
                <a:ea typeface="楷体_GB2312" pitchFamily="49" charset="-122"/>
              </a:rPr>
              <a:t>(s),  X</a:t>
            </a:r>
            <a:r>
              <a:rPr lang="en-US" altLang="zh-CN" sz="2500" b="1" baseline="30000" dirty="0">
                <a:ea typeface="楷体_GB2312" pitchFamily="49" charset="-122"/>
              </a:rPr>
              <a:t>-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err="1">
                <a:ea typeface="楷体_GB2312" pitchFamily="49" charset="-122"/>
              </a:rPr>
              <a:t>Cl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, Br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, I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, SCN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zh-CN" altLang="en-US" sz="2500" b="1" dirty="0">
                <a:ea typeface="楷体_GB2312" pitchFamily="49" charset="-122"/>
              </a:rPr>
              <a:t>等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据所用指示剂不同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按创立者名字命名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分别有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莫尔法</a:t>
            </a:r>
            <a:r>
              <a:rPr lang="zh-CN" altLang="en-US" sz="2500" b="1" dirty="0">
                <a:ea typeface="楷体_GB2312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佛尔哈德法</a:t>
            </a:r>
            <a:r>
              <a:rPr lang="zh-CN" altLang="en-US" sz="2500" b="1" dirty="0">
                <a:ea typeface="楷体_GB2312" pitchFamily="49" charset="-122"/>
              </a:rPr>
              <a:t>以及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法扬司法</a:t>
            </a:r>
            <a:r>
              <a:rPr lang="zh-CN" altLang="en-US" sz="2500" b="1" dirty="0">
                <a:ea typeface="楷体_GB2312" pitchFamily="49" charset="-122"/>
              </a:rPr>
              <a:t>等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40982" name="矩形 40981"/>
          <p:cNvSpPr/>
          <p:nvPr/>
        </p:nvSpPr>
        <p:spPr>
          <a:xfrm>
            <a:off x="617538" y="954088"/>
            <a:ext cx="7959725" cy="471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        precipitation titration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最有实际意义的为</a:t>
            </a:r>
            <a:r>
              <a:rPr lang="zh-CN" altLang="en-US" sz="2500" b="1" noProof="1">
                <a:solidFill>
                  <a:srgbClr val="FF0066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</a:rPr>
              <a:t>银量法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.</a:t>
            </a:r>
            <a:endParaRPr lang="en-US" altLang="zh-CN" sz="2500" b="1" noProof="1">
              <a:ea typeface="楷体_GB2312" panose="02010609030101010101" pitchFamily="49" charset="-122"/>
            </a:endParaRPr>
          </a:p>
        </p:txBody>
      </p:sp>
      <p:sp>
        <p:nvSpPr>
          <p:cNvPr id="40983" name="矩形 40982"/>
          <p:cNvSpPr>
            <a:spLocks noChangeArrowheads="1"/>
          </p:cNvSpPr>
          <p:nvPr/>
        </p:nvSpPr>
        <p:spPr bwMode="auto">
          <a:xfrm>
            <a:off x="903288" y="3646488"/>
            <a:ext cx="10072687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K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CrO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zh-CN" altLang="en-US" sz="2500" b="1">
                <a:ea typeface="楷体_GB2312" pitchFamily="49" charset="-122"/>
              </a:rPr>
              <a:t>为指示剂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中性或弱碱性条件</a:t>
            </a:r>
            <a:r>
              <a:rPr lang="en-US" altLang="zh-CN" sz="2500" b="1">
                <a:ea typeface="楷体_GB2312" pitchFamily="49" charset="-122"/>
              </a:rPr>
              <a:t>, AgNO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zh-CN" altLang="en-US" sz="2500" b="1">
                <a:ea typeface="楷体_GB2312" pitchFamily="49" charset="-122"/>
              </a:rPr>
              <a:t>标准溶液滴定</a:t>
            </a:r>
            <a:r>
              <a:rPr lang="en-US" altLang="zh-CN" sz="2500" b="1">
                <a:ea typeface="楷体_GB2312" pitchFamily="49" charset="-122"/>
              </a:rPr>
              <a:t>Cl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zh-CN" altLang="en-US" sz="2500" b="1">
                <a:ea typeface="楷体_GB2312" pitchFamily="49" charset="-122"/>
              </a:rPr>
              <a:t>或</a:t>
            </a:r>
            <a:r>
              <a:rPr lang="en-US" altLang="zh-CN" sz="2500" b="1">
                <a:ea typeface="楷体_GB2312" pitchFamily="49" charset="-122"/>
              </a:rPr>
              <a:t>Br 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如测定</a:t>
            </a:r>
            <a:r>
              <a:rPr lang="en-US" altLang="zh-CN" sz="2500" b="1">
                <a:ea typeface="楷体_GB2312" pitchFamily="49" charset="-122"/>
              </a:rPr>
              <a:t>Cl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滴定反应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Ag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 + Cl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 </a:t>
            </a:r>
            <a:r>
              <a:rPr lang="en-US" altLang="zh-CN" sz="2500" b="1">
                <a:latin typeface="MS UI Gothic" pitchFamily="34" charset="-128"/>
                <a:ea typeface="MS UI Gothic" pitchFamily="34" charset="-128"/>
              </a:rPr>
              <a:t>⇌</a:t>
            </a:r>
            <a:r>
              <a:rPr lang="zh-CN" altLang="en-US" sz="2500" b="1"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</a:rPr>
              <a:t>AgCl(s) ,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(AgCl) =1.77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 10</a:t>
            </a:r>
            <a:r>
              <a:rPr lang="en-US" altLang="zh-CN" sz="2500" b="1" baseline="30000">
                <a:ea typeface="楷体_GB2312" pitchFamily="49" charset="-122"/>
                <a:sym typeface="Symbol" pitchFamily="18" charset="2"/>
              </a:rPr>
              <a:t>-10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1270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1271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1272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4.4.2 沉淀滴定法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0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0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0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9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9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09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9" grpId="0"/>
      <p:bldP spid="40981" grpId="0" build="p"/>
      <p:bldP spid="40982" grpId="0"/>
      <p:bldP spid="4098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文本框 65539"/>
          <p:cNvSpPr txBox="1">
            <a:spLocks noChangeArrowheads="1"/>
          </p:cNvSpPr>
          <p:nvPr/>
        </p:nvSpPr>
        <p:spPr bwMode="auto">
          <a:xfrm>
            <a:off x="974725" y="1025525"/>
            <a:ext cx="7672388" cy="85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指示剂反应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2Ag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CrO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latin typeface="MS UI Gothic" pitchFamily="34" charset="-128"/>
                <a:ea typeface="MS UI Gothic" pitchFamily="34" charset="-128"/>
              </a:rPr>
              <a:t>⇌</a:t>
            </a:r>
            <a:r>
              <a:rPr lang="zh-CN" altLang="en-US" sz="2500" b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Ag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CrO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(s),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1.12 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 10</a:t>
            </a:r>
            <a:r>
              <a:rPr lang="en-US" altLang="zh-CN" sz="2500" b="1" baseline="30000" dirty="0">
                <a:ea typeface="楷体_GB2312" pitchFamily="49" charset="-122"/>
                <a:sym typeface="Symbol" pitchFamily="18" charset="2"/>
              </a:rPr>
              <a:t>-12</a:t>
            </a:r>
          </a:p>
        </p:txBody>
      </p:sp>
      <p:sp>
        <p:nvSpPr>
          <p:cNvPr id="65541" name="矩形 65540"/>
          <p:cNvSpPr>
            <a:spLocks noChangeArrowheads="1"/>
          </p:cNvSpPr>
          <p:nvPr/>
        </p:nvSpPr>
        <p:spPr bwMode="auto">
          <a:xfrm>
            <a:off x="760413" y="1954213"/>
            <a:ext cx="1014412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据分步沉淀原理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先形成</a:t>
            </a:r>
            <a:r>
              <a:rPr lang="en-US" altLang="zh-CN" sz="2500" b="1">
                <a:ea typeface="楷体_GB2312" pitchFamily="49" charset="-122"/>
              </a:rPr>
              <a:t>AgCl</a:t>
            </a:r>
            <a:r>
              <a:rPr lang="zh-CN" altLang="en-US" sz="2500" b="1">
                <a:ea typeface="楷体_GB2312" pitchFamily="49" charset="-122"/>
              </a:rPr>
              <a:t>沉淀</a:t>
            </a:r>
            <a:r>
              <a:rPr lang="en-US" altLang="zh-CN" sz="2500" b="1">
                <a:ea typeface="楷体_GB2312" pitchFamily="49" charset="-122"/>
              </a:rPr>
              <a:t>; </a:t>
            </a:r>
            <a:r>
              <a:rPr lang="zh-CN" altLang="en-US" sz="2500" b="1">
                <a:ea typeface="楷体_GB2312" pitchFamily="49" charset="-122"/>
              </a:rPr>
              <a:t>当</a:t>
            </a:r>
            <a:r>
              <a:rPr lang="en-US" altLang="zh-CN" sz="2500" b="1">
                <a:ea typeface="楷体_GB2312" pitchFamily="49" charset="-122"/>
              </a:rPr>
              <a:t>Cl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zh-CN" altLang="en-US" sz="2500" b="1">
                <a:ea typeface="楷体_GB2312" pitchFamily="49" charset="-122"/>
              </a:rPr>
              <a:t>刚被作用完全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稍过量一点的滴定剂与</a:t>
            </a:r>
            <a:r>
              <a:rPr lang="en-US" altLang="zh-CN" sz="2500" b="1">
                <a:ea typeface="楷体_GB2312" pitchFamily="49" charset="-122"/>
              </a:rPr>
              <a:t>CrO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zh-CN" altLang="en-US" sz="2500" b="1">
                <a:ea typeface="楷体_GB2312" pitchFamily="49" charset="-122"/>
              </a:rPr>
              <a:t>形成砖红色沉淀指示终点到达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65542" name="矩形 65541"/>
          <p:cNvSpPr>
            <a:spLocks noChangeArrowheads="1"/>
          </p:cNvSpPr>
          <p:nvPr/>
        </p:nvSpPr>
        <p:spPr bwMode="auto">
          <a:xfrm>
            <a:off x="760413" y="3025775"/>
            <a:ext cx="28384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莫尔法测定条件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65546" name="矩形 65545"/>
          <p:cNvSpPr>
            <a:spLocks noChangeArrowheads="1"/>
          </p:cNvSpPr>
          <p:nvPr/>
        </p:nvSpPr>
        <p:spPr bwMode="auto">
          <a:xfrm>
            <a:off x="831850" y="3525838"/>
            <a:ext cx="3287713" cy="168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(1)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指示剂用量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　　应适量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过多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负误差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过少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正误差</a:t>
            </a:r>
            <a:r>
              <a:rPr lang="en-US" altLang="zh-CN" sz="2500" b="1">
                <a:ea typeface="楷体_GB2312" pitchFamily="49" charset="-122"/>
              </a:rPr>
              <a:t>.</a:t>
            </a: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</a:rPr>
              <a:t>　　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65547" name="矩形 65546"/>
          <p:cNvSpPr>
            <a:spLocks noChangeArrowheads="1"/>
          </p:cNvSpPr>
          <p:nvPr/>
        </p:nvSpPr>
        <p:spPr bwMode="auto">
          <a:xfrm>
            <a:off x="3760788" y="4740275"/>
            <a:ext cx="4697412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一般使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[CrO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2-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] = 5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 10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-3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solidFill>
                  <a:srgbClr val="FF0000"/>
                </a:solidFill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2295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2296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2297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4.4.2 沉淀滴定法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5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5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5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5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/>
      <p:bldP spid="65541" grpId="0"/>
      <p:bldP spid="65542" grpId="0"/>
      <p:bldP spid="65546" grpId="0" build="p"/>
      <p:bldP spid="655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3" name="文本框 47112"/>
          <p:cNvSpPr txBox="1">
            <a:spLocks noChangeArrowheads="1"/>
          </p:cNvSpPr>
          <p:nvPr/>
        </p:nvSpPr>
        <p:spPr bwMode="auto">
          <a:xfrm>
            <a:off x="903288" y="954088"/>
            <a:ext cx="270351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(2)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溶液酸度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47114" name="矩形 47113"/>
          <p:cNvSpPr>
            <a:spLocks noChangeArrowheads="1"/>
          </p:cNvSpPr>
          <p:nvPr/>
        </p:nvSpPr>
        <p:spPr bwMode="auto">
          <a:xfrm>
            <a:off x="974725" y="1454150"/>
            <a:ext cx="6086475" cy="288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酸度过高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终点出现过迟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甚至不出现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酸度过低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可能产生</a:t>
            </a:r>
            <a:r>
              <a:rPr lang="en-US" altLang="zh-CN" sz="2500" b="1">
                <a:ea typeface="楷体_GB2312" pitchFamily="49" charset="-122"/>
              </a:rPr>
              <a:t>Ag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>
                <a:solidFill>
                  <a:schemeClr val="accent2"/>
                </a:solidFill>
                <a:ea typeface="楷体_GB2312" pitchFamily="49" charset="-122"/>
              </a:rPr>
              <a:t>　　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pH = 6.5 ~ 10.5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　　若有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, pH</a:t>
            </a:r>
            <a:r>
              <a:rPr lang="zh-CN" altLang="en-US" sz="2500" b="1">
                <a:ea typeface="楷体_GB2312" pitchFamily="49" charset="-122"/>
              </a:rPr>
              <a:t>上限应降至</a:t>
            </a:r>
            <a:r>
              <a:rPr lang="en-US" altLang="zh-CN" sz="2500" b="1">
                <a:ea typeface="楷体_GB2312" pitchFamily="49" charset="-122"/>
              </a:rPr>
              <a:t>7.2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(3)</a:t>
            </a:r>
            <a:r>
              <a:rPr lang="zh-CN" altLang="en-US" sz="2500" b="1">
                <a:solidFill>
                  <a:srgbClr val="FF0000"/>
                </a:solidFill>
                <a:ea typeface="楷体_GB2312" pitchFamily="49" charset="-122"/>
              </a:rPr>
              <a:t>其它条件</a:t>
            </a:r>
            <a:r>
              <a:rPr lang="en-US" altLang="zh-CN" sz="2500" b="1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①</a:t>
            </a:r>
            <a:r>
              <a:rPr lang="zh-CN" altLang="en-US" sz="2500" b="1">
                <a:ea typeface="楷体_GB2312" pitchFamily="49" charset="-122"/>
              </a:rPr>
              <a:t>应剧烈摇动溶液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②</a:t>
            </a:r>
            <a:r>
              <a:rPr lang="zh-CN" altLang="en-US" sz="2500" b="1">
                <a:ea typeface="楷体_GB2312" pitchFamily="49" charset="-122"/>
              </a:rPr>
              <a:t>干扰离子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含有色离子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zh-CN" altLang="en-US" sz="2500" b="1">
                <a:ea typeface="楷体_GB2312" pitchFamily="49" charset="-122"/>
              </a:rPr>
              <a:t>事先除去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47125" name="左大括号 47124"/>
          <p:cNvSpPr>
            <a:spLocks/>
          </p:cNvSpPr>
          <p:nvPr/>
        </p:nvSpPr>
        <p:spPr bwMode="auto">
          <a:xfrm>
            <a:off x="974725" y="3640138"/>
            <a:ext cx="142875" cy="503237"/>
          </a:xfrm>
          <a:prstGeom prst="leftBrace">
            <a:avLst>
              <a:gd name="adj1" fmla="val 2928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1700"/>
          </a:p>
        </p:txBody>
      </p:sp>
      <p:sp>
        <p:nvSpPr>
          <p:cNvPr id="13317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3318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4.4.2 沉淀滴定法</a:t>
            </a:r>
          </a:p>
        </p:txBody>
      </p:sp>
      <p:sp>
        <p:nvSpPr>
          <p:cNvPr id="8" name="椭圆 62544" descr="图片1">
            <a:hlinkClick r:id="rId4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47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47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47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47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47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47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500"/>
                                        <p:tgtEl>
                                          <p:spTgt spid="47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6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3" grpId="0"/>
      <p:bldP spid="47114" grpId="0" build="p"/>
    </p:bldLst>
  </p:timing>
</p:sld>
</file>

<file path=ppt/theme/theme1.xml><?xml version="1.0" encoding="utf-8"?>
<a:theme xmlns:a="http://schemas.openxmlformats.org/drawingml/2006/main" name="医学研究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266</TotalTime>
  <Pages>0</Pages>
  <Words>894</Words>
  <Characters>0</Characters>
  <Application>Microsoft Office PowerPoint</Application>
  <DocSecurity>0</DocSecurity>
  <PresentationFormat>自定义</PresentationFormat>
  <Lines>0</Lines>
  <Paragraphs>150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医学研究PPT模板</vt:lpstr>
      <vt:lpstr>1_医学研究PPT模板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Manager/>
  <Company/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ch04-04</dc:title>
  <dc:subject/>
  <dc:creator>江南大学</dc:creator>
  <cp:keywords/>
  <dc:description/>
  <cp:lastModifiedBy>ASUS</cp:lastModifiedBy>
  <cp:revision>322</cp:revision>
  <dcterms:created xsi:type="dcterms:W3CDTF">2012-06-20T03:37:37Z</dcterms:created>
  <dcterms:modified xsi:type="dcterms:W3CDTF">2017-08-20T04:30:51Z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2052-10.1.0.6156</vt:lpwstr>
  </property>
</Properties>
</file>